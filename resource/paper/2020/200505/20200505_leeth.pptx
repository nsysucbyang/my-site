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3"/>
  </p:notesMasterIdLst>
  <p:sldIdLst>
    <p:sldId id="321" r:id="rId2"/>
    <p:sldId id="311" r:id="rId3"/>
    <p:sldId id="333" r:id="rId4"/>
    <p:sldId id="306" r:id="rId5"/>
    <p:sldId id="329" r:id="rId6"/>
    <p:sldId id="322" r:id="rId7"/>
    <p:sldId id="336" r:id="rId8"/>
    <p:sldId id="332" r:id="rId9"/>
    <p:sldId id="335" r:id="rId10"/>
    <p:sldId id="330" r:id="rId11"/>
    <p:sldId id="334"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豐仰 蔡" initials="豐仰" lastIdx="1" clrIdx="0">
    <p:extLst>
      <p:ext uri="{19B8F6BF-5375-455C-9EA6-DF929625EA0E}">
        <p15:presenceInfo xmlns:p15="http://schemas.microsoft.com/office/powerpoint/2012/main" userId="8fbda77307fba9f0"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0AFE"/>
    <a:srgbClr val="E9EB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無樣式、表格格線">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3971" autoAdjust="0"/>
  </p:normalViewPr>
  <p:slideViewPr>
    <p:cSldViewPr snapToGrid="0">
      <p:cViewPr varScale="1">
        <p:scale>
          <a:sx n="68" d="100"/>
          <a:sy n="68" d="100"/>
        </p:scale>
        <p:origin x="1464" y="54"/>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EB1F98-CDCA-4E1F-B89C-7712647B005A}" type="datetimeFigureOut">
              <a:rPr lang="zh-TW" altLang="en-US" smtClean="0"/>
              <a:t>2020/5/5</a:t>
            </a:fld>
            <a:endParaRPr lang="zh-TW" altLang="en-US"/>
          </a:p>
        </p:txBody>
      </p:sp>
      <p:sp>
        <p:nvSpPr>
          <p:cNvPr id="4" name="投影片影像版面配置區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7E0A4FA-366C-40B7-9E40-EFBC7A72D852}" type="slidenum">
              <a:rPr lang="zh-TW" altLang="en-US" smtClean="0"/>
              <a:t>‹#›</a:t>
            </a:fld>
            <a:endParaRPr lang="zh-TW" altLang="en-US"/>
          </a:p>
        </p:txBody>
      </p:sp>
    </p:spTree>
    <p:extLst>
      <p:ext uri="{BB962C8B-B14F-4D97-AF65-F5344CB8AC3E}">
        <p14:creationId xmlns:p14="http://schemas.microsoft.com/office/powerpoint/2010/main" val="6806619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sz="1200" b="0" i="0" kern="1200" dirty="0">
                <a:solidFill>
                  <a:schemeClr val="tx1"/>
                </a:solidFill>
                <a:effectLst/>
                <a:latin typeface="+mn-lt"/>
                <a:ea typeface="+mn-ea"/>
                <a:cs typeface="+mn-cs"/>
              </a:rPr>
              <a:t>各位老師同學學長大家好，我是今天的報告者李子旭，今天我要報告的主題是，作者是，他是維吉尼亞大學的生物化學和分子遺傳學的教授，在美國，他是以開發</a:t>
            </a:r>
            <a:r>
              <a:rPr lang="en-US" altLang="zh-TW" sz="1200" b="0" i="0" kern="1200" dirty="0">
                <a:solidFill>
                  <a:schemeClr val="tx1"/>
                </a:solidFill>
                <a:effectLst/>
                <a:latin typeface="+mn-lt"/>
                <a:ea typeface="+mn-ea"/>
                <a:cs typeface="+mn-cs"/>
              </a:rPr>
              <a:t>FASTA</a:t>
            </a:r>
            <a:r>
              <a:rPr lang="zh-TW" altLang="en-US" sz="1200" b="0" i="0" kern="1200" dirty="0">
                <a:solidFill>
                  <a:schemeClr val="tx1"/>
                </a:solidFill>
                <a:effectLst/>
                <a:latin typeface="+mn-lt"/>
                <a:ea typeface="+mn-ea"/>
                <a:cs typeface="+mn-cs"/>
              </a:rPr>
              <a:t>而聞名，那我先開始念一下摘要。</a:t>
            </a:r>
            <a:endParaRPr lang="en-US" altLang="zh-TW" sz="1200" b="0" i="0" kern="1200" dirty="0">
              <a:solidFill>
                <a:schemeClr val="tx1"/>
              </a:solidFill>
              <a:effectLst/>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a:t>
            </a:fld>
            <a:endParaRPr lang="zh-TW" altLang="en-US"/>
          </a:p>
        </p:txBody>
      </p:sp>
    </p:spTree>
    <p:extLst>
      <p:ext uri="{BB962C8B-B14F-4D97-AF65-F5344CB8AC3E}">
        <p14:creationId xmlns:p14="http://schemas.microsoft.com/office/powerpoint/2010/main" val="31141255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1371600" y="1143000"/>
            <a:ext cx="4114800" cy="3086100"/>
          </a:xfrm>
        </p:spPr>
      </p:sp>
      <p:sp>
        <p:nvSpPr>
          <p:cNvPr id="3" name="備忘稿版面配置區 2"/>
          <p:cNvSpPr>
            <a:spLocks noGrp="1"/>
          </p:cNvSpPr>
          <p:nvPr>
            <p:ph type="body" idx="1"/>
          </p:nvPr>
        </p:nvSpPr>
        <p:spPr/>
        <p:txBody>
          <a:bodyPr/>
          <a:lstStyle/>
          <a:p>
            <a:r>
              <a:rPr lang="zh-TW" altLang="en-US" dirty="0"/>
              <a:t>這篇主要在說生物的同源性，先從相似性推論到同源性，再從同源性推論到功能性，然後也說明怎樣能夠有效率的來識別是否為同源。</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2</a:t>
            </a:fld>
            <a:endParaRPr lang="zh-TW" altLang="en-US"/>
          </a:p>
        </p:txBody>
      </p:sp>
    </p:spTree>
    <p:extLst>
      <p:ext uri="{BB962C8B-B14F-4D97-AF65-F5344CB8AC3E}">
        <p14:creationId xmlns:p14="http://schemas.microsoft.com/office/powerpoint/2010/main" val="149187897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那我們就先來介紹甚麼是同源物，同源物就是如果有兩個或多個結構或基因具有相同的祖先就是同源，他還有分為演化意義上的同源就像下面這張圖一樣，哺乳類的前肢是由共同的祖先演化來的，另一個是教育意義上的同源，女性的卵巢與男性的睪丸就是同源，有一個很重要的觀念是，昆蟲、蝙蝠和鳥類的翅膀雖然都是翅膀但是他們不是同源，只是相似而已，同源跟相似是不一樣的。</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3</a:t>
            </a:fld>
            <a:endParaRPr lang="zh-TW" altLang="en-US"/>
          </a:p>
        </p:txBody>
      </p:sp>
    </p:spTree>
    <p:extLst>
      <p:ext uri="{BB962C8B-B14F-4D97-AF65-F5344CB8AC3E}">
        <p14:creationId xmlns:p14="http://schemas.microsoft.com/office/powerpoint/2010/main" val="1746490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接下來要說的是同源序列，一旦找到同源物之後，就能透過多序列的比對來獲得更深入搜索需要的資料 也能知道他們相似的表現特徵，還有他們演化的分析。</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4</a:t>
            </a:fld>
            <a:endParaRPr lang="zh-TW" altLang="en-US"/>
          </a:p>
        </p:txBody>
      </p:sp>
    </p:spTree>
    <p:extLst>
      <p:ext uri="{BB962C8B-B14F-4D97-AF65-F5344CB8AC3E}">
        <p14:creationId xmlns:p14="http://schemas.microsoft.com/office/powerpoint/2010/main" val="137041341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zh-TW" altLang="en-US" dirty="0"/>
              <a:t>那我們如果要找到同源物的話就會用到序列相似性的搜尋技術，序列間如果有共同的顯著相似性的話就可以推論出是否同源，並擁有相同的祖先。那我們常用的程式有以下這些，</a:t>
            </a:r>
            <a:r>
              <a:rPr lang="en-US" altLang="zh-TW" dirty="0"/>
              <a:t>blast</a:t>
            </a:r>
            <a:r>
              <a:rPr lang="zh-TW" altLang="en-US" dirty="0"/>
              <a:t>和</a:t>
            </a:r>
            <a:r>
              <a:rPr lang="en-US" altLang="zh-TW" dirty="0" err="1"/>
              <a:t>fasta</a:t>
            </a:r>
            <a:r>
              <a:rPr lang="zh-TW" altLang="en-US" dirty="0"/>
              <a:t>是比較有名的，他們都是用來比對生物序列的算法，在這些快速算法出現前，都是用動態規劃來作資料庫的序列搜尋，速度比較慢，</a:t>
            </a:r>
            <a:r>
              <a:rPr lang="en-US" altLang="zh-TW" dirty="0"/>
              <a:t>blast</a:t>
            </a:r>
            <a:r>
              <a:rPr lang="zh-TW" altLang="en-US" dirty="0"/>
              <a:t>和</a:t>
            </a:r>
            <a:r>
              <a:rPr lang="en-US" altLang="zh-TW" dirty="0" err="1"/>
              <a:t>fasta</a:t>
            </a:r>
            <a:r>
              <a:rPr lang="zh-TW" altLang="en-US" dirty="0"/>
              <a:t>用到超啟發的概念來找出相關的序列，比動態規劃快</a:t>
            </a:r>
            <a:r>
              <a:rPr lang="en-US" altLang="zh-TW" dirty="0"/>
              <a:t>50</a:t>
            </a:r>
            <a:r>
              <a:rPr lang="zh-TW" altLang="en-US" dirty="0"/>
              <a:t>倍左右，</a:t>
            </a:r>
            <a:r>
              <a:rPr lang="en-US" altLang="zh-TW" dirty="0"/>
              <a:t>blast</a:t>
            </a:r>
            <a:r>
              <a:rPr lang="zh-TW" altLang="en-US" dirty="0"/>
              <a:t>又比</a:t>
            </a:r>
            <a:r>
              <a:rPr lang="en-US" altLang="zh-TW" dirty="0" err="1"/>
              <a:t>fasta</a:t>
            </a:r>
            <a:r>
              <a:rPr lang="zh-TW" altLang="en-US" dirty="0"/>
              <a:t>快，</a:t>
            </a:r>
            <a:r>
              <a:rPr lang="zh-TW" altLang="en-US" sz="1200" b="0" i="0" kern="1200" dirty="0">
                <a:solidFill>
                  <a:schemeClr val="tx1"/>
                </a:solidFill>
                <a:effectLst/>
                <a:latin typeface="+mn-lt"/>
                <a:ea typeface="+mn-ea"/>
                <a:cs typeface="+mn-cs"/>
              </a:rPr>
              <a:t>因為</a:t>
            </a:r>
            <a:r>
              <a:rPr lang="en-US" altLang="zh-TW" sz="1200" b="0" i="0" kern="1200" dirty="0">
                <a:solidFill>
                  <a:schemeClr val="tx1"/>
                </a:solidFill>
                <a:effectLst/>
                <a:latin typeface="+mn-lt"/>
                <a:ea typeface="+mn-ea"/>
                <a:cs typeface="+mn-cs"/>
              </a:rPr>
              <a:t>BLAST</a:t>
            </a:r>
            <a:r>
              <a:rPr lang="zh-TW" altLang="en-US" sz="1200" b="0" i="0" kern="1200" dirty="0">
                <a:solidFill>
                  <a:schemeClr val="tx1"/>
                </a:solidFill>
                <a:effectLst/>
                <a:latin typeface="+mn-lt"/>
                <a:ea typeface="+mn-ea"/>
                <a:cs typeface="+mn-cs"/>
              </a:rPr>
              <a:t>只對比較少出現或是較重要的一些關鍵字作更進一步的分析，而</a:t>
            </a:r>
            <a:r>
              <a:rPr lang="en-US" altLang="zh-TW" sz="1200" b="0" i="0" kern="1200" dirty="0">
                <a:solidFill>
                  <a:schemeClr val="tx1"/>
                </a:solidFill>
                <a:effectLst/>
                <a:latin typeface="+mn-lt"/>
                <a:ea typeface="+mn-ea"/>
                <a:cs typeface="+mn-cs"/>
              </a:rPr>
              <a:t>FASTA</a:t>
            </a:r>
            <a:r>
              <a:rPr lang="zh-TW" altLang="en-US" sz="1200" b="0" i="0" kern="1200" dirty="0">
                <a:solidFill>
                  <a:schemeClr val="tx1"/>
                </a:solidFill>
                <a:effectLst/>
                <a:latin typeface="+mn-lt"/>
                <a:ea typeface="+mn-ea"/>
                <a:cs typeface="+mn-cs"/>
              </a:rPr>
              <a:t>是考慮所有共同出現在所要搜尋的序列和目標序列的字。大多數的相似性搜尋都有一個挑戰性的問題，就是是不是搜尋出來相關的序列就有相似的功能，因為這兩者的關係比較複雜所以不能直接說序列相關功能就能夠相關</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5</a:t>
            </a:fld>
            <a:endParaRPr lang="zh-TW" altLang="en-US"/>
          </a:p>
        </p:txBody>
      </p:sp>
    </p:spTree>
    <p:extLst>
      <p:ext uri="{BB962C8B-B14F-4D97-AF65-F5344CB8AC3E}">
        <p14:creationId xmlns:p14="http://schemas.microsoft.com/office/powerpoint/2010/main" val="55483780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TW" altLang="en-US" sz="1200" b="0" i="0" u="none" strike="noStrike" kern="1200" baseline="0" dirty="0">
                <a:solidFill>
                  <a:schemeClr val="tx1"/>
                </a:solidFill>
                <a:latin typeface="+mn-lt"/>
                <a:ea typeface="+mn-ea"/>
                <a:cs typeface="+mn-cs"/>
              </a:rPr>
              <a:t>所以我們就要從相似性來推論到同源物，當兩段序列或結構有過多的相似性，代表他們不是獨立出現的，那我們就可以說他們是來自共同的祖先。但是同源序列不一定都有顯著的相似性，所以如果透過相似性搜尋出來沒有顯著的配對不代表就不是同源，</a:t>
            </a:r>
            <a:r>
              <a:rPr lang="en-US" altLang="zh-TW" sz="1200" dirty="0" err="1">
                <a:latin typeface="Times New Roman" panose="02020603050405020304" pitchFamily="18" charset="0"/>
                <a:cs typeface="Times New Roman" panose="02020603050405020304" pitchFamily="18" charset="0"/>
              </a:rPr>
              <a:t>protein:protein</a:t>
            </a:r>
            <a:r>
              <a:rPr lang="zh-TW" altLang="en-US" sz="1200" dirty="0">
                <a:latin typeface="Times New Roman" panose="02020603050405020304" pitchFamily="18" charset="0"/>
                <a:cs typeface="Times New Roman" panose="02020603050405020304" pitchFamily="18" charset="0"/>
              </a:rPr>
              <a:t>或是</a:t>
            </a:r>
            <a:r>
              <a:rPr lang="en-US" altLang="zh-TW" sz="1200" dirty="0">
                <a:latin typeface="Times New Roman" panose="02020603050405020304" pitchFamily="18" charset="0"/>
                <a:cs typeface="Times New Roman" panose="02020603050405020304" pitchFamily="18" charset="0"/>
              </a:rPr>
              <a:t>Translated-DNA : protein </a:t>
            </a:r>
            <a:r>
              <a:rPr lang="zh-TW" altLang="en-US" sz="1200" dirty="0">
                <a:latin typeface="Times New Roman" panose="02020603050405020304" pitchFamily="18" charset="0"/>
                <a:cs typeface="Times New Roman" panose="02020603050405020304" pitchFamily="18" charset="0"/>
              </a:rPr>
              <a:t>會比</a:t>
            </a:r>
            <a:r>
              <a:rPr lang="en-US" altLang="zh-TW" sz="1200" dirty="0">
                <a:latin typeface="Times New Roman" panose="02020603050405020304" pitchFamily="18" charset="0"/>
                <a:cs typeface="Times New Roman" panose="02020603050405020304" pitchFamily="18" charset="0"/>
              </a:rPr>
              <a:t>DNA : DNA</a:t>
            </a:r>
            <a:r>
              <a:rPr lang="zh-TW" altLang="en-US" sz="1200" dirty="0">
                <a:latin typeface="Times New Roman" panose="02020603050405020304" pitchFamily="18" charset="0"/>
                <a:cs typeface="Times New Roman" panose="02020603050405020304" pitchFamily="18" charset="0"/>
              </a:rPr>
              <a:t>來得好，因為準確度比較高。</a:t>
            </a:r>
            <a:endParaRPr lang="en-US" altLang="zh-TW" sz="1200" b="0" i="0" u="none" strike="noStrike" kern="1200" baseline="0" dirty="0">
              <a:solidFill>
                <a:schemeClr val="tx1"/>
              </a:solidFill>
              <a:latin typeface="+mn-lt"/>
              <a:ea typeface="+mn-ea"/>
              <a:cs typeface="+mn-cs"/>
            </a:endParaRPr>
          </a:p>
          <a:p>
            <a:pPr marL="0" indent="0">
              <a:buNone/>
            </a:pPr>
            <a:endParaRPr lang="en-US" altLang="zh-TW" sz="1200" b="0" i="0" u="none" strike="noStrike" kern="1200" baseline="0" dirty="0">
              <a:solidFill>
                <a:schemeClr val="tx1"/>
              </a:solidFill>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6</a:t>
            </a:fld>
            <a:endParaRPr lang="zh-TW" altLang="en-US"/>
          </a:p>
        </p:txBody>
      </p:sp>
    </p:spTree>
    <p:extLst>
      <p:ext uri="{BB962C8B-B14F-4D97-AF65-F5344CB8AC3E}">
        <p14:creationId xmlns:p14="http://schemas.microsoft.com/office/powerpoint/2010/main" val="305623090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None/>
            </a:pPr>
            <a:endParaRPr lang="en-US" altLang="zh-TW" sz="1200" b="0" i="0" u="none" strike="noStrike" kern="1200" baseline="0" dirty="0">
              <a:solidFill>
                <a:schemeClr val="tx1"/>
              </a:solidFill>
              <a:latin typeface="+mn-lt"/>
              <a:ea typeface="+mn-ea"/>
              <a:cs typeface="+mn-cs"/>
            </a:endParaRP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7</a:t>
            </a:fld>
            <a:endParaRPr lang="zh-TW" altLang="en-US"/>
          </a:p>
        </p:txBody>
      </p:sp>
    </p:spTree>
    <p:extLst>
      <p:ext uri="{BB962C8B-B14F-4D97-AF65-F5344CB8AC3E}">
        <p14:creationId xmlns:p14="http://schemas.microsoft.com/office/powerpoint/2010/main" val="191730936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None/>
            </a:pPr>
            <a:r>
              <a:rPr lang="en-US" altLang="zh-TW" dirty="0"/>
              <a:t>E value</a:t>
            </a:r>
            <a:r>
              <a:rPr lang="zh-TW" altLang="en-US" dirty="0"/>
              <a:t>是期望值，表示在隨 機狀態下，可以得到相同</a:t>
            </a:r>
            <a:r>
              <a:rPr lang="en-US" altLang="zh-TW" dirty="0"/>
              <a:t>score</a:t>
            </a:r>
            <a:r>
              <a:rPr lang="zh-TW" altLang="en-US" dirty="0"/>
              <a:t>的同樣長度的序列的個數，所以</a:t>
            </a:r>
            <a:r>
              <a:rPr lang="en-US" altLang="zh-TW" dirty="0"/>
              <a:t>E</a:t>
            </a:r>
            <a:r>
              <a:rPr lang="zh-TW" altLang="en-US" dirty="0"/>
              <a:t>值越小，表示比對出來的相似度愈可能有生物意義。 </a:t>
            </a:r>
            <a:endParaRPr lang="en-US" altLang="zh-TW" dirty="0"/>
          </a:p>
          <a:p>
            <a:pPr marL="0" indent="0">
              <a:buNone/>
            </a:pPr>
            <a:r>
              <a:rPr lang="zh-CN" altLang="en-US" sz="1200" b="1" i="0" kern="1200" dirty="0">
                <a:solidFill>
                  <a:schemeClr val="tx1"/>
                </a:solidFill>
                <a:effectLst/>
                <a:latin typeface="+mn-lt"/>
                <a:ea typeface="+mn-ea"/>
                <a:cs typeface="+mn-cs"/>
              </a:rPr>
              <a:t>当目标序列过小时，</a:t>
            </a:r>
            <a:r>
              <a:rPr lang="en-US" altLang="zh-CN" sz="1200" b="1" i="0" kern="1200" dirty="0">
                <a:solidFill>
                  <a:schemeClr val="tx1"/>
                </a:solidFill>
                <a:effectLst/>
                <a:latin typeface="+mn-lt"/>
                <a:ea typeface="+mn-ea"/>
                <a:cs typeface="+mn-cs"/>
              </a:rPr>
              <a:t>E</a:t>
            </a:r>
            <a:r>
              <a:rPr lang="zh-CN" altLang="en-US" sz="1200" b="1" i="0" kern="1200" dirty="0">
                <a:solidFill>
                  <a:schemeClr val="tx1"/>
                </a:solidFill>
                <a:effectLst/>
                <a:latin typeface="+mn-lt"/>
                <a:ea typeface="+mn-ea"/>
                <a:cs typeface="+mn-cs"/>
              </a:rPr>
              <a:t>值会偏大，因为无法得到较高的</a:t>
            </a:r>
            <a:r>
              <a:rPr lang="en-US" altLang="zh-CN" sz="1200" b="1" i="0" kern="1200" dirty="0">
                <a:solidFill>
                  <a:schemeClr val="tx1"/>
                </a:solidFill>
                <a:effectLst/>
                <a:latin typeface="+mn-lt"/>
                <a:ea typeface="+mn-ea"/>
                <a:cs typeface="+mn-cs"/>
              </a:rPr>
              <a:t>S</a:t>
            </a:r>
            <a:r>
              <a:rPr lang="zh-CN" altLang="en-US" sz="1200" b="1" i="0" kern="1200" dirty="0">
                <a:solidFill>
                  <a:schemeClr val="tx1"/>
                </a:solidFill>
                <a:effectLst/>
                <a:latin typeface="+mn-lt"/>
                <a:ea typeface="+mn-ea"/>
                <a:cs typeface="+mn-cs"/>
              </a:rPr>
              <a:t>值。</a:t>
            </a:r>
            <a:endParaRPr lang="en-US" altLang="zh-CN" sz="1200" b="1" i="0" kern="1200" dirty="0">
              <a:solidFill>
                <a:schemeClr val="tx1"/>
              </a:solidFill>
              <a:effectLst/>
              <a:latin typeface="+mn-lt"/>
              <a:ea typeface="+mn-ea"/>
              <a:cs typeface="+mn-cs"/>
            </a:endParaRPr>
          </a:p>
          <a:p>
            <a:pPr marL="0" indent="0">
              <a:buNone/>
            </a:pPr>
            <a:r>
              <a:rPr lang="zh-CN" altLang="en-US" sz="1200" b="1" i="0" kern="1200" dirty="0">
                <a:solidFill>
                  <a:schemeClr val="tx1"/>
                </a:solidFill>
                <a:effectLst/>
                <a:latin typeface="+mn-lt"/>
                <a:ea typeface="+mn-ea"/>
                <a:cs typeface="+mn-cs"/>
              </a:rPr>
              <a:t>当两序列同源性虽然高，但有较大的</a:t>
            </a:r>
            <a:r>
              <a:rPr lang="en-US" altLang="zh-CN" sz="1200" b="1" i="0" kern="1200" dirty="0">
                <a:solidFill>
                  <a:schemeClr val="tx1"/>
                </a:solidFill>
                <a:effectLst/>
                <a:latin typeface="+mn-lt"/>
                <a:ea typeface="+mn-ea"/>
                <a:cs typeface="+mn-cs"/>
              </a:rPr>
              <a:t>gap</a:t>
            </a:r>
            <a:r>
              <a:rPr lang="zh-CN" altLang="en-US" sz="1200" b="1" i="0" kern="1200" dirty="0">
                <a:solidFill>
                  <a:schemeClr val="tx1"/>
                </a:solidFill>
                <a:effectLst/>
                <a:latin typeface="+mn-lt"/>
                <a:ea typeface="+mn-ea"/>
                <a:cs typeface="+mn-cs"/>
              </a:rPr>
              <a:t>（空隙）时，</a:t>
            </a:r>
            <a:r>
              <a:rPr lang="en-US" altLang="zh-CN" sz="1200" b="1" i="0" kern="1200" dirty="0">
                <a:solidFill>
                  <a:schemeClr val="tx1"/>
                </a:solidFill>
                <a:effectLst/>
                <a:latin typeface="+mn-lt"/>
                <a:ea typeface="+mn-ea"/>
                <a:cs typeface="+mn-cs"/>
              </a:rPr>
              <a:t>S</a:t>
            </a:r>
            <a:r>
              <a:rPr lang="zh-CN" altLang="en-US" sz="1200" b="1" i="0" kern="1200" dirty="0">
                <a:solidFill>
                  <a:schemeClr val="tx1"/>
                </a:solidFill>
                <a:effectLst/>
                <a:latin typeface="+mn-lt"/>
                <a:ea typeface="+mn-ea"/>
                <a:cs typeface="+mn-cs"/>
              </a:rPr>
              <a:t>值会下降。</a:t>
            </a:r>
            <a:endParaRPr lang="en-US" altLang="zh-CN" sz="1200" b="1" i="0" kern="1200" dirty="0">
              <a:solidFill>
                <a:schemeClr val="tx1"/>
              </a:solidFill>
              <a:effectLst/>
              <a:latin typeface="+mn-lt"/>
              <a:ea typeface="+mn-ea"/>
              <a:cs typeface="+mn-cs"/>
            </a:endParaRPr>
          </a:p>
          <a:p>
            <a:pPr marL="0" indent="0">
              <a:buNone/>
            </a:pPr>
            <a:r>
              <a:rPr lang="en-US" altLang="zh-CN" sz="1200" b="1" i="0" kern="1200" dirty="0">
                <a:solidFill>
                  <a:schemeClr val="tx1"/>
                </a:solidFill>
                <a:effectLst/>
                <a:latin typeface="+mn-lt"/>
                <a:ea typeface="+mn-ea"/>
                <a:cs typeface="+mn-cs"/>
              </a:rPr>
              <a:t>E</a:t>
            </a:r>
            <a:r>
              <a:rPr lang="zh-CN" altLang="en-US" sz="1200" b="1" i="0" kern="1200" dirty="0">
                <a:solidFill>
                  <a:schemeClr val="tx1"/>
                </a:solidFill>
                <a:effectLst/>
                <a:latin typeface="+mn-lt"/>
                <a:ea typeface="+mn-ea"/>
                <a:cs typeface="+mn-cs"/>
              </a:rPr>
              <a:t>值适合于有一定长度，而且复杂度不能太低的序列。</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8</a:t>
            </a:fld>
            <a:endParaRPr lang="zh-TW" altLang="en-US"/>
          </a:p>
        </p:txBody>
      </p:sp>
    </p:spTree>
    <p:extLst>
      <p:ext uri="{BB962C8B-B14F-4D97-AF65-F5344CB8AC3E}">
        <p14:creationId xmlns:p14="http://schemas.microsoft.com/office/powerpoint/2010/main" val="24586909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None/>
            </a:pPr>
            <a:r>
              <a:rPr lang="en-US" altLang="zh-TW" dirty="0"/>
              <a:t>Bits Score </a:t>
            </a:r>
            <a:r>
              <a:rPr lang="zh-TW" altLang="en-US" dirty="0"/>
              <a:t>是機率值，如果</a:t>
            </a:r>
            <a:r>
              <a:rPr lang="en-US" altLang="zh-TW" dirty="0"/>
              <a:t>Bits Score</a:t>
            </a:r>
            <a:r>
              <a:rPr lang="zh-TW" altLang="en-US" dirty="0"/>
              <a:t>為 </a:t>
            </a:r>
            <a:r>
              <a:rPr lang="en-US" altLang="zh-TW" dirty="0"/>
              <a:t>2597</a:t>
            </a:r>
            <a:r>
              <a:rPr lang="zh-TW" altLang="en-US" dirty="0"/>
              <a:t>，表 示至少要做 </a:t>
            </a:r>
            <a:r>
              <a:rPr lang="en-US" altLang="zh-TW" dirty="0"/>
              <a:t>2</a:t>
            </a:r>
            <a:r>
              <a:rPr lang="zh-TW" altLang="en-US" dirty="0"/>
              <a:t>的</a:t>
            </a:r>
            <a:r>
              <a:rPr lang="en-US" altLang="zh-TW" dirty="0"/>
              <a:t>22597</a:t>
            </a:r>
            <a:r>
              <a:rPr lang="zh-TW" altLang="en-US" dirty="0"/>
              <a:t>次比對才能得到如此高分的結果。</a:t>
            </a:r>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9</a:t>
            </a:fld>
            <a:endParaRPr lang="zh-TW" altLang="en-US"/>
          </a:p>
        </p:txBody>
      </p:sp>
    </p:spTree>
    <p:extLst>
      <p:ext uri="{BB962C8B-B14F-4D97-AF65-F5344CB8AC3E}">
        <p14:creationId xmlns:p14="http://schemas.microsoft.com/office/powerpoint/2010/main" val="141713991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None/>
            </a:pPr>
            <a:r>
              <a:rPr lang="zh-TW" altLang="en-US" sz="1200" b="0" i="0" kern="1200" dirty="0">
                <a:solidFill>
                  <a:schemeClr val="tx1"/>
                </a:solidFill>
                <a:effectLst/>
                <a:latin typeface="+mn-lt"/>
                <a:ea typeface="+mn-ea"/>
                <a:cs typeface="+mn-cs"/>
              </a:rPr>
              <a:t>通常有相似的結構就會有相似的功能，但是因為一個蛋白質可能會有多種功能，同源序列如果擁有</a:t>
            </a:r>
            <a:r>
              <a:rPr lang="en-US" altLang="zh-TW" sz="1200" b="0" i="0" kern="1200" dirty="0">
                <a:solidFill>
                  <a:schemeClr val="tx1"/>
                </a:solidFill>
                <a:effectLst/>
                <a:latin typeface="+mn-lt"/>
                <a:ea typeface="+mn-ea"/>
                <a:cs typeface="+mn-cs"/>
              </a:rPr>
              <a:t>40%</a:t>
            </a:r>
            <a:r>
              <a:rPr lang="zh-TW" altLang="en-US" sz="1200" b="0" i="0" kern="1200" dirty="0">
                <a:solidFill>
                  <a:schemeClr val="tx1"/>
                </a:solidFill>
                <a:effectLst/>
                <a:latin typeface="+mn-lt"/>
                <a:ea typeface="+mn-ea"/>
                <a:cs typeface="+mn-cs"/>
              </a:rPr>
              <a:t>以上的</a:t>
            </a:r>
            <a:r>
              <a:rPr lang="en-US" altLang="zh-TW" sz="1200" b="0" i="0" kern="1200" dirty="0">
                <a:solidFill>
                  <a:schemeClr val="tx1"/>
                </a:solidFill>
                <a:effectLst/>
                <a:latin typeface="+mn-lt"/>
                <a:ea typeface="+mn-ea"/>
                <a:cs typeface="+mn-cs"/>
              </a:rPr>
              <a:t>identity</a:t>
            </a:r>
            <a:r>
              <a:rPr lang="zh-TW" altLang="en-US" sz="1200" b="0" i="0" kern="1200" dirty="0">
                <a:solidFill>
                  <a:schemeClr val="tx1"/>
                </a:solidFill>
                <a:effectLst/>
                <a:latin typeface="+mn-lt"/>
                <a:ea typeface="+mn-ea"/>
                <a:cs typeface="+mn-cs"/>
              </a:rPr>
              <a:t>就非常有可能擁有相同的功能</a:t>
            </a:r>
            <a:endParaRPr lang="en-US" altLang="zh-TW" sz="1200" b="0" i="0" kern="1200" dirty="0">
              <a:solidFill>
                <a:schemeClr val="tx1"/>
              </a:solidFill>
              <a:effectLst/>
              <a:latin typeface="+mn-lt"/>
              <a:ea typeface="+mn-ea"/>
              <a:cs typeface="+mn-cs"/>
            </a:endParaRPr>
          </a:p>
          <a:p>
            <a:pPr marL="0" indent="0">
              <a:buNone/>
            </a:pPr>
            <a:r>
              <a:rPr lang="en-US" altLang="zh-TW" sz="1200" b="0" i="0" kern="1200" dirty="0">
                <a:solidFill>
                  <a:schemeClr val="tx1"/>
                </a:solidFill>
                <a:effectLst/>
                <a:latin typeface="+mn-lt"/>
                <a:ea typeface="+mn-ea"/>
                <a:cs typeface="+mn-cs"/>
              </a:rPr>
              <a:t>Orthologous (</a:t>
            </a:r>
            <a:r>
              <a:rPr lang="zh-TW" altLang="en-US" sz="1200" b="0" i="0" kern="1200" dirty="0">
                <a:solidFill>
                  <a:schemeClr val="tx1"/>
                </a:solidFill>
                <a:effectLst/>
                <a:latin typeface="+mn-lt"/>
                <a:ea typeface="+mn-ea"/>
                <a:cs typeface="+mn-cs"/>
              </a:rPr>
              <a:t>直系同源</a:t>
            </a:r>
            <a:r>
              <a:rPr lang="en-US" altLang="zh-TW" sz="1200" b="0" i="0" kern="1200" dirty="0">
                <a:solidFill>
                  <a:schemeClr val="tx1"/>
                </a:solidFill>
                <a:effectLst/>
                <a:latin typeface="+mn-lt"/>
                <a:ea typeface="+mn-ea"/>
                <a:cs typeface="+mn-cs"/>
              </a:rPr>
              <a:t>) : </a:t>
            </a:r>
            <a:r>
              <a:rPr lang="zh-TW" altLang="en-US" sz="1200" b="0" i="0" kern="1200" dirty="0">
                <a:solidFill>
                  <a:schemeClr val="tx1"/>
                </a:solidFill>
                <a:effectLst/>
                <a:latin typeface="+mn-lt"/>
                <a:ea typeface="+mn-ea"/>
                <a:cs typeface="+mn-cs"/>
              </a:rPr>
              <a:t>不同物種間負責相同功能的構造</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可以指基因、蛋白質或構造</a:t>
            </a:r>
            <a:r>
              <a:rPr lang="en-US" altLang="zh-TW" sz="1200" b="0" i="0" kern="1200" dirty="0">
                <a:solidFill>
                  <a:schemeClr val="tx1"/>
                </a:solidFill>
                <a:effectLst/>
                <a:latin typeface="+mn-lt"/>
                <a:ea typeface="+mn-ea"/>
                <a:cs typeface="+mn-cs"/>
              </a:rPr>
              <a:t>)</a:t>
            </a:r>
            <a:br>
              <a:rPr lang="zh-TW" altLang="en-US" dirty="0"/>
            </a:br>
            <a:r>
              <a:rPr lang="en-US" altLang="zh-TW" dirty="0" err="1"/>
              <a:t>P</a:t>
            </a:r>
            <a:r>
              <a:rPr lang="en-US" altLang="zh-TW" sz="1200" b="0" i="0" kern="1200" dirty="0" err="1">
                <a:solidFill>
                  <a:schemeClr val="tx1"/>
                </a:solidFill>
                <a:effectLst/>
                <a:latin typeface="+mn-lt"/>
                <a:ea typeface="+mn-ea"/>
                <a:cs typeface="+mn-cs"/>
              </a:rPr>
              <a:t>aralogus</a:t>
            </a:r>
            <a:r>
              <a:rPr lang="en-US" altLang="zh-TW" sz="1200" b="0" i="0" kern="1200" dirty="0">
                <a:solidFill>
                  <a:schemeClr val="tx1"/>
                </a:solidFill>
                <a:effectLst/>
                <a:latin typeface="+mn-lt"/>
                <a:ea typeface="+mn-ea"/>
                <a:cs typeface="+mn-cs"/>
              </a:rPr>
              <a:t> (</a:t>
            </a:r>
            <a:r>
              <a:rPr lang="zh-TW" altLang="en-US" sz="1200" b="0" i="0" kern="1200" dirty="0">
                <a:solidFill>
                  <a:schemeClr val="tx1"/>
                </a:solidFill>
                <a:effectLst/>
                <a:latin typeface="+mn-lt"/>
                <a:ea typeface="+mn-ea"/>
                <a:cs typeface="+mn-cs"/>
              </a:rPr>
              <a:t>旁系同源</a:t>
            </a:r>
            <a:r>
              <a:rPr lang="en-US" altLang="zh-TW" sz="1200" b="0" i="0" kern="1200" dirty="0">
                <a:solidFill>
                  <a:schemeClr val="tx1"/>
                </a:solidFill>
                <a:effectLst/>
                <a:latin typeface="+mn-lt"/>
                <a:ea typeface="+mn-ea"/>
                <a:cs typeface="+mn-cs"/>
              </a:rPr>
              <a:t>) : </a:t>
            </a:r>
            <a:r>
              <a:rPr lang="zh-TW" altLang="en-US" sz="1200" b="0" i="0" kern="1200" dirty="0">
                <a:solidFill>
                  <a:schemeClr val="tx1"/>
                </a:solidFill>
                <a:effectLst/>
                <a:latin typeface="+mn-lt"/>
                <a:ea typeface="+mn-ea"/>
                <a:cs typeface="+mn-cs"/>
              </a:rPr>
              <a:t>同一物種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或不同物種</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內負責類似功能的兩構造 </a:t>
            </a:r>
            <a:r>
              <a:rPr lang="en-US" altLang="zh-TW" sz="1200" b="0" i="0" kern="1200" dirty="0">
                <a:solidFill>
                  <a:schemeClr val="tx1"/>
                </a:solidFill>
                <a:effectLst/>
                <a:latin typeface="+mn-lt"/>
                <a:ea typeface="+mn-ea"/>
                <a:cs typeface="+mn-cs"/>
              </a:rPr>
              <a:t>(</a:t>
            </a:r>
            <a:r>
              <a:rPr lang="zh-TW" altLang="en-US" sz="1200" b="0" i="0" kern="1200" dirty="0">
                <a:solidFill>
                  <a:schemeClr val="tx1"/>
                </a:solidFill>
                <a:effectLst/>
                <a:latin typeface="+mn-lt"/>
                <a:ea typeface="+mn-ea"/>
                <a:cs typeface="+mn-cs"/>
              </a:rPr>
              <a:t>可以指基因、蛋白質或構造</a:t>
            </a:r>
            <a:r>
              <a:rPr lang="en-US" altLang="zh-TW" sz="1200" b="0" i="0" kern="1200" dirty="0">
                <a:solidFill>
                  <a:schemeClr val="tx1"/>
                </a:solidFill>
                <a:effectLst/>
                <a:latin typeface="+mn-lt"/>
                <a:ea typeface="+mn-ea"/>
                <a:cs typeface="+mn-cs"/>
              </a:rPr>
              <a:t>)</a:t>
            </a:r>
          </a:p>
          <a:p>
            <a:pPr marL="0" indent="0">
              <a:buNone/>
            </a:pPr>
            <a:r>
              <a:rPr lang="zh-TW" altLang="en-US" sz="1200" b="0" i="0" kern="1200" dirty="0">
                <a:solidFill>
                  <a:schemeClr val="tx1"/>
                </a:solidFill>
                <a:effectLst/>
                <a:latin typeface="+mn-lt"/>
                <a:ea typeface="+mn-ea"/>
                <a:cs typeface="+mn-cs"/>
              </a:rPr>
              <a:t>已知的四種血紅蛋白（血紅蛋白</a:t>
            </a:r>
            <a:r>
              <a:rPr lang="en-US" altLang="zh-TW" sz="1200" b="0" i="0" kern="1200" dirty="0">
                <a:solidFill>
                  <a:schemeClr val="tx1"/>
                </a:solidFill>
                <a:effectLst/>
                <a:latin typeface="+mn-lt"/>
                <a:ea typeface="+mn-ea"/>
                <a:cs typeface="+mn-cs"/>
              </a:rPr>
              <a:t>A</a:t>
            </a:r>
            <a:r>
              <a:rPr lang="zh-TW" altLang="en-US" sz="1200" b="0" i="0" kern="1200" dirty="0">
                <a:solidFill>
                  <a:schemeClr val="tx1"/>
                </a:solidFill>
                <a:effectLst/>
                <a:latin typeface="+mn-lt"/>
                <a:ea typeface="+mn-ea"/>
                <a:cs typeface="+mn-cs"/>
              </a:rPr>
              <a:t>，血紅蛋白</a:t>
            </a:r>
            <a:r>
              <a:rPr lang="en-US" altLang="zh-TW" sz="1200" b="0" i="0" kern="1200" dirty="0">
                <a:solidFill>
                  <a:schemeClr val="tx1"/>
                </a:solidFill>
                <a:effectLst/>
                <a:latin typeface="+mn-lt"/>
                <a:ea typeface="+mn-ea"/>
                <a:cs typeface="+mn-cs"/>
              </a:rPr>
              <a:t>A2</a:t>
            </a:r>
            <a:r>
              <a:rPr lang="zh-TW" altLang="en-US" sz="1200" b="0" i="0" kern="1200" dirty="0">
                <a:solidFill>
                  <a:schemeClr val="tx1"/>
                </a:solidFill>
                <a:effectLst/>
                <a:latin typeface="+mn-lt"/>
                <a:ea typeface="+mn-ea"/>
                <a:cs typeface="+mn-cs"/>
              </a:rPr>
              <a:t>，血紅蛋白</a:t>
            </a:r>
            <a:r>
              <a:rPr lang="en-US" altLang="zh-TW" sz="1200" b="0" i="0" kern="1200" dirty="0">
                <a:solidFill>
                  <a:schemeClr val="tx1"/>
                </a:solidFill>
                <a:effectLst/>
                <a:latin typeface="+mn-lt"/>
                <a:ea typeface="+mn-ea"/>
                <a:cs typeface="+mn-cs"/>
              </a:rPr>
              <a:t>S</a:t>
            </a:r>
            <a:r>
              <a:rPr lang="zh-TW" altLang="en-US" sz="1200" b="0" i="0" kern="1200" dirty="0">
                <a:solidFill>
                  <a:schemeClr val="tx1"/>
                </a:solidFill>
                <a:effectLst/>
                <a:latin typeface="+mn-lt"/>
                <a:ea typeface="+mn-ea"/>
                <a:cs typeface="+mn-cs"/>
              </a:rPr>
              <a:t>，和胎兒血紅蛋白）均互為旁系同源體。它們均能夠運輸氧氣，但在功能上又有細微的分化：胎兒血紅蛋白（血紅蛋白</a:t>
            </a:r>
            <a:r>
              <a:rPr lang="en-US" altLang="zh-TW" sz="1200" b="0" i="0" kern="1200" dirty="0">
                <a:solidFill>
                  <a:schemeClr val="tx1"/>
                </a:solidFill>
                <a:effectLst/>
                <a:latin typeface="+mn-lt"/>
                <a:ea typeface="+mn-ea"/>
                <a:cs typeface="+mn-cs"/>
              </a:rPr>
              <a:t>F</a:t>
            </a:r>
            <a:r>
              <a:rPr lang="zh-TW" altLang="en-US" sz="1200" b="0" i="0" kern="1200" dirty="0">
                <a:solidFill>
                  <a:schemeClr val="tx1"/>
                </a:solidFill>
                <a:effectLst/>
                <a:latin typeface="+mn-lt"/>
                <a:ea typeface="+mn-ea"/>
                <a:cs typeface="+mn-cs"/>
              </a:rPr>
              <a:t>）比成年血紅蛋白對氧氣有更高的親和力。</a:t>
            </a: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10</a:t>
            </a:fld>
            <a:endParaRPr lang="zh-TW" altLang="en-US"/>
          </a:p>
        </p:txBody>
      </p:sp>
    </p:spTree>
    <p:extLst>
      <p:ext uri="{BB962C8B-B14F-4D97-AF65-F5344CB8AC3E}">
        <p14:creationId xmlns:p14="http://schemas.microsoft.com/office/powerpoint/2010/main" val="20245703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pPr marL="0" indent="0">
              <a:buNone/>
            </a:pPr>
            <a:endParaRPr lang="zh-TW" altLang="en-US" dirty="0"/>
          </a:p>
        </p:txBody>
      </p:sp>
      <p:sp>
        <p:nvSpPr>
          <p:cNvPr id="4" name="投影片編號版面配置區 3"/>
          <p:cNvSpPr>
            <a:spLocks noGrp="1"/>
          </p:cNvSpPr>
          <p:nvPr>
            <p:ph type="sldNum" sz="quarter" idx="10"/>
          </p:nvPr>
        </p:nvSpPr>
        <p:spPr/>
        <p:txBody>
          <a:bodyPr/>
          <a:lstStyle/>
          <a:p>
            <a:fld id="{F7E0A4FA-366C-40B7-9E40-EFBC7A72D852}" type="slidenum">
              <a:rPr lang="zh-TW" altLang="en-US" smtClean="0"/>
              <a:t>11</a:t>
            </a:fld>
            <a:endParaRPr lang="zh-TW" altLang="en-US"/>
          </a:p>
        </p:txBody>
      </p:sp>
    </p:spTree>
    <p:extLst>
      <p:ext uri="{BB962C8B-B14F-4D97-AF65-F5344CB8AC3E}">
        <p14:creationId xmlns:p14="http://schemas.microsoft.com/office/powerpoint/2010/main" val="18671867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標題投影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zh-TW" altLang="en-US"/>
              <a:t>按一下以編輯母片標題樣式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按一下以編輯母片子標題樣式</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2020/5/5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4658464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2020/5/5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6779464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TW" altLang="en-US"/>
              <a:t>按一下以編輯母片標題樣式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FA6EFCFE-425C-4696-9D05-22E06C3112FC}" type="datetimeFigureOut">
              <a:rPr lang="zh-TW" altLang="en-US" smtClean="0"/>
              <a:t>2020/5/5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4434384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個內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FA6EFCFE-425C-4696-9D05-22E06C3112FC}" type="datetimeFigureOut">
              <a:rPr lang="zh-TW" altLang="en-US" smtClean="0"/>
              <a:t>2020/5/5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2106894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629842" y="2505075"/>
            <a:ext cx="3868340"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4629150" y="2505075"/>
            <a:ext cx="3887391" cy="3684588"/>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FA6EFCFE-425C-4696-9D05-22E06C3112FC}" type="datetimeFigureOut">
              <a:rPr lang="zh-TW" altLang="en-US" smtClean="0"/>
              <a:t>2020/5/5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5732404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FA6EFCFE-425C-4696-9D05-22E06C3112FC}" type="datetimeFigureOut">
              <a:rPr lang="zh-TW" altLang="en-US" smtClean="0"/>
              <a:t>2020/5/5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9265871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A6EFCFE-425C-4696-9D05-22E06C3112FC}" type="datetimeFigureOut">
              <a:rPr lang="zh-TW" altLang="en-US" smtClean="0"/>
              <a:t>2020/5/5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9961549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2020/5/5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270783487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FA6EFCFE-425C-4696-9D05-22E06C3112FC}" type="datetimeFigureOut">
              <a:rPr lang="zh-TW" altLang="en-US" smtClean="0"/>
              <a:t>2020/5/5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6848322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2020/5/5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424685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FA6EFCFE-425C-4696-9D05-22E06C3112FC}" type="datetimeFigureOut">
              <a:rPr lang="zh-TW" altLang="en-US" smtClean="0"/>
              <a:t>2020/5/5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30091451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6"/>
            <a:ext cx="7886700" cy="1325563"/>
          </a:xfrm>
          <a:prstGeom prst="rect">
            <a:avLst/>
          </a:prstGeom>
        </p:spPr>
        <p:txBody>
          <a:bodyPr vert="horz" lIns="91440" tIns="45720" rIns="91440" bIns="45720" rtlCol="0" anchor="ctr">
            <a:normAutofit/>
          </a:bodyPr>
          <a:lstStyle/>
          <a:p>
            <a:r>
              <a:rPr lang="zh-TW" altLang="en-US"/>
              <a:t>按一下以編輯母片標題樣式</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A6EFCFE-425C-4696-9D05-22E06C3112FC}" type="datetimeFigureOut">
              <a:rPr lang="zh-TW" altLang="en-US" smtClean="0"/>
              <a:t>2020/5/5</a:t>
            </a:fld>
            <a:endParaRPr lang="zh-TW"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72633CA-77E0-4863-94F8-E28139DFB2B4}" type="slidenum">
              <a:rPr lang="zh-TW" altLang="en-US" smtClean="0"/>
              <a:t>‹#›</a:t>
            </a:fld>
            <a:endParaRPr lang="zh-TW" altLang="en-US"/>
          </a:p>
        </p:txBody>
      </p:sp>
    </p:spTree>
    <p:extLst>
      <p:ext uri="{BB962C8B-B14F-4D97-AF65-F5344CB8AC3E}">
        <p14:creationId xmlns:p14="http://schemas.microsoft.com/office/powerpoint/2010/main" val="11086228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0.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BB447A32-0D96-4B57-86B2-82EC84E8995E}"/>
              </a:ext>
            </a:extLst>
          </p:cNvPr>
          <p:cNvSpPr>
            <a:spLocks noGrp="1"/>
          </p:cNvSpPr>
          <p:nvPr>
            <p:ph type="ctrTitle"/>
          </p:nvPr>
        </p:nvSpPr>
        <p:spPr>
          <a:xfrm>
            <a:off x="330148" y="1449321"/>
            <a:ext cx="8348184" cy="877881"/>
          </a:xfrm>
        </p:spPr>
        <p:txBody>
          <a:bodyPr>
            <a:noAutofit/>
          </a:bodyPr>
          <a:lstStyle/>
          <a:p>
            <a:r>
              <a:rPr lang="en-US" altLang="zh-TW" sz="4000" dirty="0">
                <a:latin typeface="Times New Roman" panose="02020603050405020304" pitchFamily="18" charset="0"/>
                <a:cs typeface="Times New Roman" panose="02020603050405020304" pitchFamily="18" charset="0"/>
              </a:rPr>
              <a:t>An Introduction to Sequence Similarity (“Homology”) Searching</a:t>
            </a:r>
          </a:p>
        </p:txBody>
      </p:sp>
      <p:sp>
        <p:nvSpPr>
          <p:cNvPr id="3" name="副標題 2">
            <a:extLst>
              <a:ext uri="{FF2B5EF4-FFF2-40B4-BE49-F238E27FC236}">
                <a16:creationId xmlns:a16="http://schemas.microsoft.com/office/drawing/2014/main" id="{61456E59-5D91-4093-B1A4-6F308EA967FD}"/>
              </a:ext>
            </a:extLst>
          </p:cNvPr>
          <p:cNvSpPr>
            <a:spLocks noGrp="1"/>
          </p:cNvSpPr>
          <p:nvPr>
            <p:ph type="subTitle" idx="1"/>
          </p:nvPr>
        </p:nvSpPr>
        <p:spPr>
          <a:xfrm>
            <a:off x="236116" y="2811283"/>
            <a:ext cx="8536249" cy="717223"/>
          </a:xfrm>
        </p:spPr>
        <p:txBody>
          <a:bodyPr>
            <a:noAutofit/>
          </a:bodyPr>
          <a:lstStyle/>
          <a:p>
            <a:r>
              <a:rPr lang="fr-FR" altLang="zh-TW" sz="2800" dirty="0">
                <a:latin typeface="Times New Roman" panose="02020603050405020304" pitchFamily="18" charset="0"/>
                <a:cs typeface="Times New Roman" panose="02020603050405020304" pitchFamily="18" charset="0"/>
              </a:rPr>
              <a:t>William R. Pearson</a:t>
            </a:r>
          </a:p>
        </p:txBody>
      </p:sp>
      <p:sp>
        <p:nvSpPr>
          <p:cNvPr id="4" name="副標題 2">
            <a:extLst>
              <a:ext uri="{FF2B5EF4-FFF2-40B4-BE49-F238E27FC236}">
                <a16:creationId xmlns:a16="http://schemas.microsoft.com/office/drawing/2014/main" id="{A64E0364-4674-4930-835E-A413D880DCDB}"/>
              </a:ext>
            </a:extLst>
          </p:cNvPr>
          <p:cNvSpPr txBox="1">
            <a:spLocks/>
          </p:cNvSpPr>
          <p:nvPr/>
        </p:nvSpPr>
        <p:spPr>
          <a:xfrm>
            <a:off x="4761182" y="5443584"/>
            <a:ext cx="3486173" cy="856478"/>
          </a:xfrm>
          <a:prstGeom prst="rect">
            <a:avLst/>
          </a:prstGeom>
        </p:spPr>
        <p:txBody>
          <a:bodyPr vert="horz" lIns="68580" tIns="34290" rIns="68580" bIns="3429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r"/>
            <a:r>
              <a:rPr lang="en-US" altLang="zh-TW" sz="1800" dirty="0">
                <a:latin typeface="Times New Roman" panose="02020603050405020304" pitchFamily="18" charset="0"/>
                <a:cs typeface="Times New Roman" panose="02020603050405020304" pitchFamily="18" charset="0"/>
              </a:rPr>
              <a:t>Presenter</a:t>
            </a:r>
            <a:r>
              <a:rPr lang="en-US" altLang="zh-TW" sz="1800" dirty="0"/>
              <a:t> </a:t>
            </a: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a:t>
            </a:r>
            <a:r>
              <a:rPr lang="en-US" altLang="zh-TW" sz="1800" dirty="0">
                <a:latin typeface="Times New Roman" panose="02020603050405020304" pitchFamily="18" charset="0"/>
                <a:cs typeface="Times New Roman" panose="02020603050405020304" pitchFamily="18" charset="0"/>
              </a:rPr>
              <a:t> </a:t>
            </a:r>
            <a:r>
              <a:rPr lang="en-US" altLang="zh-TW" sz="1800" dirty="0" err="1">
                <a:latin typeface="Times New Roman" panose="02020603050405020304" pitchFamily="18" charset="0"/>
                <a:cs typeface="Times New Roman" panose="02020603050405020304" pitchFamily="18" charset="0"/>
              </a:rPr>
              <a:t>Tz</a:t>
            </a:r>
            <a:r>
              <a:rPr lang="en-US" altLang="zh-TW" sz="1800" dirty="0">
                <a:latin typeface="Times New Roman" panose="02020603050405020304" pitchFamily="18" charset="0"/>
                <a:cs typeface="Times New Roman" panose="02020603050405020304" pitchFamily="18" charset="0"/>
              </a:rPr>
              <a:t>-Hsu Lee</a:t>
            </a:r>
          </a:p>
          <a:p>
            <a:pPr algn="r"/>
            <a:r>
              <a:rPr lang="en-US" altLang="zh-TW" sz="1800" dirty="0">
                <a:latin typeface="Times New Roman" panose="02020603050405020304" pitchFamily="18" charset="0"/>
                <a:ea typeface="標楷體" panose="03000509000000000000" pitchFamily="65" charset="-120"/>
                <a:cs typeface="Times New Roman" panose="02020603050405020304" pitchFamily="18" charset="0"/>
              </a:rPr>
              <a:t>Date : May 05, 2020.</a:t>
            </a:r>
            <a:endParaRPr lang="zh-TW" altLang="en-US" sz="1800" dirty="0">
              <a:latin typeface="Times New Roman" panose="02020603050405020304" pitchFamily="18" charset="0"/>
              <a:ea typeface="標楷體" panose="03000509000000000000" pitchFamily="65" charset="-120"/>
              <a:cs typeface="Times New Roman" panose="02020603050405020304" pitchFamily="18" charset="0"/>
            </a:endParaRPr>
          </a:p>
        </p:txBody>
      </p:sp>
      <p:sp>
        <p:nvSpPr>
          <p:cNvPr id="5" name="矩形 4"/>
          <p:cNvSpPr/>
          <p:nvPr/>
        </p:nvSpPr>
        <p:spPr>
          <a:xfrm>
            <a:off x="692795" y="3701215"/>
            <a:ext cx="7622889" cy="830997"/>
          </a:xfrm>
          <a:prstGeom prst="rect">
            <a:avLst/>
          </a:prstGeom>
        </p:spPr>
        <p:txBody>
          <a:bodyPr wrap="square">
            <a:spAutoFit/>
          </a:bodyPr>
          <a:lstStyle/>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 Current Protocols in Bioinformatics, June 2013, </a:t>
            </a:r>
          </a:p>
          <a:p>
            <a:pPr algn="ctr"/>
            <a:r>
              <a:rPr lang="en-US" altLang="zh-TW" sz="2400" dirty="0">
                <a:latin typeface="Times New Roman" panose="02020603050405020304" pitchFamily="18" charset="0"/>
                <a:ea typeface="Tahoma" panose="020B0604030504040204" pitchFamily="34" charset="0"/>
                <a:cs typeface="Times New Roman" panose="02020603050405020304" pitchFamily="18" charset="0"/>
              </a:rPr>
              <a:t>Vol. 42, No. 1</a:t>
            </a:r>
          </a:p>
        </p:txBody>
      </p:sp>
    </p:spTree>
    <p:extLst>
      <p:ext uri="{BB962C8B-B14F-4D97-AF65-F5344CB8AC3E}">
        <p14:creationId xmlns:p14="http://schemas.microsoft.com/office/powerpoint/2010/main" val="829859479"/>
      </p:ext>
    </p:extLst>
  </p:cSld>
  <p:clrMapOvr>
    <a:masterClrMapping/>
  </p:clrMapOvr>
  <mc:AlternateContent xmlns:mc="http://schemas.openxmlformats.org/markup-compatibility/2006" xmlns:p14="http://schemas.microsoft.com/office/powerpoint/2010/main">
    <mc:Choice Requires="p14">
      <p:transition spd="slow" p14:dur="2000" advTm="2519">
        <p:cut/>
      </p:transition>
    </mc:Choice>
    <mc:Fallback xmlns="">
      <p:transition spd="slow" advTm="2519">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139007" y="260700"/>
            <a:ext cx="7886700" cy="583367"/>
          </a:xfrm>
        </p:spPr>
        <p:txBody>
          <a:bodyPr>
            <a:normAutofit/>
          </a:bodyPr>
          <a:lstStyle/>
          <a:p>
            <a:r>
              <a:rPr lang="en-US" altLang="zh-TW" sz="3200" b="1" dirty="0">
                <a:latin typeface="Times New Roman" panose="02020603050405020304" pitchFamily="18" charset="0"/>
                <a:cs typeface="Times New Roman" panose="02020603050405020304" pitchFamily="18" charset="0"/>
              </a:rPr>
              <a:t>Abstract</a:t>
            </a:r>
            <a:endParaRPr lang="zh-TW" altLang="en-US" sz="3200" b="1" dirty="0">
              <a:latin typeface="Times New Roman" panose="02020603050405020304" pitchFamily="18" charset="0"/>
              <a:cs typeface="Times New Roman" panose="02020603050405020304" pitchFamily="18" charset="0"/>
            </a:endParaRPr>
          </a:p>
        </p:txBody>
      </p:sp>
      <p:sp>
        <p:nvSpPr>
          <p:cNvPr id="3" name="內容版面配置區 2">
            <a:extLst>
              <a:ext uri="{FF2B5EF4-FFF2-40B4-BE49-F238E27FC236}">
                <a16:creationId xmlns:a16="http://schemas.microsoft.com/office/drawing/2014/main" id="{5E26DCC3-1991-4383-BF81-99FF895536EE}"/>
              </a:ext>
            </a:extLst>
          </p:cNvPr>
          <p:cNvSpPr>
            <a:spLocks noGrp="1"/>
          </p:cNvSpPr>
          <p:nvPr>
            <p:ph idx="1"/>
          </p:nvPr>
        </p:nvSpPr>
        <p:spPr>
          <a:xfrm>
            <a:off x="139007" y="1057363"/>
            <a:ext cx="9004993" cy="5131633"/>
          </a:xfrm>
        </p:spPr>
        <p:txBody>
          <a:bodyPr>
            <a:noAutofit/>
          </a:bodyPr>
          <a:lstStyle/>
          <a:p>
            <a:pPr marL="0" indent="0">
              <a:lnSpc>
                <a:spcPts val="3200"/>
              </a:lnSpc>
              <a:buNone/>
            </a:pPr>
            <a:r>
              <a:rPr lang="en-US" altLang="zh-TW" dirty="0">
                <a:latin typeface="Times New Roman" panose="02020603050405020304" pitchFamily="18" charset="0"/>
                <a:cs typeface="Times New Roman" panose="02020603050405020304" pitchFamily="18" charset="0"/>
              </a:rPr>
              <a:t>Sequence similarity searching, typically with BLAST, is the most widely used, and most reliable, strategy for characterizing newly determined sequences. Sequence similarity searches can identify ”homologous” proteins or genes by detecting excess similarity – statistically significant similarity that reflects common ancestry. This unit provides an overview of the inference of homology from significant similarity, and introduces other units in this chapter that provide more details on effective strategies for identifying homologs.</a:t>
            </a:r>
          </a:p>
        </p:txBody>
      </p:sp>
    </p:spTree>
    <p:extLst>
      <p:ext uri="{BB962C8B-B14F-4D97-AF65-F5344CB8AC3E}">
        <p14:creationId xmlns:p14="http://schemas.microsoft.com/office/powerpoint/2010/main" val="39944839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Homology</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8" y="1376302"/>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Similarity due to shared ancestry between a pair of structures or genes in different taxa.</a:t>
            </a:r>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r>
              <a:rPr lang="en-US" altLang="zh-TW" sz="2400" dirty="0">
                <a:latin typeface="Times New Roman" panose="02020603050405020304" pitchFamily="18" charset="0"/>
                <a:cs typeface="Times New Roman" panose="02020603050405020304" pitchFamily="18" charset="0"/>
              </a:rPr>
              <a:t>   ex:</a:t>
            </a:r>
          </a:p>
          <a:p>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04EC68B5-A677-45B7-A226-886B656DF23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015589" y="2638654"/>
            <a:ext cx="5112820" cy="3666851"/>
          </a:xfrm>
          <a:prstGeom prst="rect">
            <a:avLst/>
          </a:prstGeom>
        </p:spPr>
      </p:pic>
    </p:spTree>
    <p:extLst>
      <p:ext uri="{BB962C8B-B14F-4D97-AF65-F5344CB8AC3E}">
        <p14:creationId xmlns:p14="http://schemas.microsoft.com/office/powerpoint/2010/main" val="21528538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Homologous sequences</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9" y="1569249"/>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Form the basis for more sensitive searches</a:t>
            </a:r>
          </a:p>
          <a:p>
            <a:endParaRPr lang="en-US" altLang="zh-TW" sz="2400" dirty="0">
              <a:solidFill>
                <a:srgbClr val="FF0000"/>
              </a:solidFill>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Phenotype prediction</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Evolutionary analysis</a:t>
            </a:r>
          </a:p>
          <a:p>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3081170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Sequence similarity searching</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9" y="1569249"/>
            <a:ext cx="7887821" cy="4354433"/>
          </a:xfrm>
        </p:spPr>
        <p:txBody>
          <a:bodyPr>
            <a:noAutofit/>
          </a:bodyPr>
          <a:lstStyle/>
          <a:p>
            <a:r>
              <a:rPr lang="en-US" altLang="zh-TW" sz="2400" dirty="0">
                <a:latin typeface="Times New Roman" panose="02020603050405020304" pitchFamily="18" charset="0"/>
                <a:cs typeface="Times New Roman" panose="02020603050405020304" pitchFamily="18" charset="0"/>
              </a:rPr>
              <a:t>Sequences that share significant similarity can be inferred to be homologous; they share a common ancestor.</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BLAST</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PSI-BLAST</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SSEARCH</a:t>
            </a:r>
            <a:r>
              <a:rPr lang="zh-TW" altLang="en-US" sz="2400" dirty="0">
                <a:latin typeface="Times New Roman" panose="02020603050405020304" pitchFamily="18" charset="0"/>
                <a:cs typeface="Times New Roman" panose="02020603050405020304" pitchFamily="18" charset="0"/>
              </a:rPr>
              <a:t>、</a:t>
            </a:r>
            <a:r>
              <a:rPr lang="en-US" altLang="zh-TW" sz="2400" dirty="0">
                <a:latin typeface="Times New Roman" panose="02020603050405020304" pitchFamily="18" charset="0"/>
                <a:cs typeface="Times New Roman" panose="02020603050405020304" pitchFamily="18" charset="0"/>
              </a:rPr>
              <a:t>FASTA and the HMMER3</a:t>
            </a:r>
          </a:p>
          <a:p>
            <a:pPr marL="0" indent="0">
              <a:buNone/>
            </a:pP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Is there a related sequence with a similar function?</a:t>
            </a:r>
          </a:p>
          <a:p>
            <a:pPr marL="0" indent="0">
              <a:buNone/>
            </a:pPr>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869964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Homology from similarity(1/2)</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9" y="1501784"/>
            <a:ext cx="7887821" cy="4524787"/>
          </a:xfrm>
        </p:spPr>
        <p:txBody>
          <a:bodyPr>
            <a:noAutofit/>
          </a:bodyPr>
          <a:lstStyle/>
          <a:p>
            <a:r>
              <a:rPr lang="en-US" altLang="zh-TW" sz="2400" dirty="0">
                <a:latin typeface="Times New Roman" panose="02020603050405020304" pitchFamily="18" charset="0"/>
                <a:cs typeface="Times New Roman" panose="02020603050405020304" pitchFamily="18" charset="0"/>
              </a:rPr>
              <a:t>Excess similarity implies common ancestry</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Translated-DNA : protein </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Bit scores</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E-values</a:t>
            </a:r>
          </a:p>
          <a:p>
            <a:pPr marL="0" indent="0">
              <a:buNone/>
            </a:pPr>
            <a:endParaRPr lang="en-US" altLang="zh-TW" sz="2400" dirty="0">
              <a:latin typeface="Times New Roman" panose="02020603050405020304" pitchFamily="18" charset="0"/>
              <a:cs typeface="Times New Roman" panose="02020603050405020304" pitchFamily="18" charset="0"/>
            </a:endParaRPr>
          </a:p>
          <a:p>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59142159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Homology from similarity(2/2)</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p:pic>
        <p:nvPicPr>
          <p:cNvPr id="3" name="圖片 2">
            <a:extLst>
              <a:ext uri="{FF2B5EF4-FFF2-40B4-BE49-F238E27FC236}">
                <a16:creationId xmlns:a16="http://schemas.microsoft.com/office/drawing/2014/main" id="{96CCD76B-BF3D-481B-8F1C-6FB268BFB5A3}"/>
              </a:ext>
            </a:extLst>
          </p:cNvPr>
          <p:cNvPicPr>
            <a:picLocks noChangeAspect="1"/>
          </p:cNvPicPr>
          <p:nvPr/>
        </p:nvPicPr>
        <p:blipFill>
          <a:blip r:embed="rId4"/>
          <a:stretch>
            <a:fillRect/>
          </a:stretch>
        </p:blipFill>
        <p:spPr>
          <a:xfrm>
            <a:off x="891914" y="1802881"/>
            <a:ext cx="7360172" cy="3927854"/>
          </a:xfrm>
          <a:prstGeom prst="rect">
            <a:avLst/>
          </a:prstGeom>
        </p:spPr>
      </p:pic>
    </p:spTree>
    <p:extLst>
      <p:ext uri="{BB962C8B-B14F-4D97-AF65-F5344CB8AC3E}">
        <p14:creationId xmlns:p14="http://schemas.microsoft.com/office/powerpoint/2010/main" val="407910321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E-values</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mc:AlternateContent xmlns:mc="http://schemas.openxmlformats.org/markup-compatibility/2006" xmlns:a14="http://schemas.microsoft.com/office/drawing/2010/main">
        <mc:Choice Requires="a14">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565336" y="2412069"/>
                <a:ext cx="7887821" cy="4524787"/>
              </a:xfrm>
            </p:spPr>
            <p:txBody>
              <a:bodyPr>
                <a:noAutofit/>
              </a:bodyPr>
              <a:lstStyle/>
              <a:p>
                <a:r>
                  <a:rPr lang="en-US" altLang="zh-TW" sz="2400" dirty="0">
                    <a:latin typeface="Times New Roman" panose="02020603050405020304" pitchFamily="18" charset="0"/>
                    <a:cs typeface="Times New Roman" panose="02020603050405020304" pitchFamily="18" charset="0"/>
                  </a:rPr>
                  <a:t>K</a:t>
                </a:r>
                <a:r>
                  <a:rPr lang="zh-TW" altLang="en-US" sz="2400" dirty="0">
                    <a:latin typeface="Times New Roman" panose="02020603050405020304" pitchFamily="18" charset="0"/>
                    <a:cs typeface="Times New Roman" panose="02020603050405020304" pitchFamily="18" charset="0"/>
                  </a:rPr>
                  <a:t>、</a:t>
                </a:r>
                <a14:m>
                  <m:oMath xmlns:m="http://schemas.openxmlformats.org/officeDocument/2006/math">
                    <m:r>
                      <a:rPr lang="en-US" altLang="zh-TW" sz="2400" i="1" dirty="0" smtClean="0">
                        <a:latin typeface="Cambria Math" panose="02040503050406030204" pitchFamily="18" charset="0"/>
                      </a:rPr>
                      <m:t>𝜆</m:t>
                    </m:r>
                  </m:oMath>
                </a14:m>
                <a:r>
                  <a:rPr lang="en-US" altLang="zh-TW" sz="2400" dirty="0">
                    <a:latin typeface="Times New Roman" panose="02020603050405020304" pitchFamily="18" charset="0"/>
                    <a:cs typeface="Times New Roman" panose="02020603050405020304" pitchFamily="18" charset="0"/>
                  </a:rPr>
                  <a:t> : constant</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m : the length of query sequence</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n : the lengths of the sequences in the database</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 : raw score</a:t>
                </a:r>
              </a:p>
              <a:p>
                <a:pPr marL="0" indent="0">
                  <a:buNone/>
                </a:pPr>
                <a:endParaRPr lang="en-US" altLang="zh-TW" sz="2400" dirty="0">
                  <a:latin typeface="Times New Roman" panose="02020603050405020304" pitchFamily="18" charset="0"/>
                  <a:cs typeface="Times New Roman" panose="02020603050405020304" pitchFamily="18" charset="0"/>
                </a:endParaRPr>
              </a:p>
              <a:p>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5" name="內容版面配置區 5">
                <a:extLst>
                  <a:ext uri="{FF2B5EF4-FFF2-40B4-BE49-F238E27FC236}">
                    <a16:creationId xmlns:a16="http://schemas.microsoft.com/office/drawing/2014/main" id="{3CA8D1D5-6B20-4285-BB0C-86AEE094246D}"/>
                  </a:ext>
                </a:extLst>
              </p:cNvPr>
              <p:cNvSpPr>
                <a:spLocks noGrp="1" noRot="1" noChangeAspect="1" noMove="1" noResize="1" noEditPoints="1" noAdjustHandles="1" noChangeArrowheads="1" noChangeShapeType="1" noTextEdit="1"/>
              </p:cNvSpPr>
              <p:nvPr>
                <p:ph idx="1"/>
              </p:nvPr>
            </p:nvSpPr>
            <p:spPr>
              <a:xfrm>
                <a:off x="565336" y="2412069"/>
                <a:ext cx="7887821" cy="4524787"/>
              </a:xfrm>
              <a:blipFill>
                <a:blip r:embed="rId4"/>
                <a:stretch>
                  <a:fillRect l="-1082" t="-1887"/>
                </a:stretch>
              </a:blipFill>
            </p:spPr>
            <p:txBody>
              <a:bodyPr/>
              <a:lstStyle/>
              <a:p>
                <a:r>
                  <a:rPr lang="zh-TW" altLang="en-US">
                    <a:noFill/>
                  </a:rPr>
                  <a:t> </a:t>
                </a:r>
              </a:p>
            </p:txBody>
          </p:sp>
        </mc:Fallback>
      </mc:AlternateContent>
      <p:pic>
        <p:nvPicPr>
          <p:cNvPr id="3" name="圖片 2">
            <a:extLst>
              <a:ext uri="{FF2B5EF4-FFF2-40B4-BE49-F238E27FC236}">
                <a16:creationId xmlns:a16="http://schemas.microsoft.com/office/drawing/2014/main" id="{58031821-4060-4AE8-AF62-61EF8895CD2F}"/>
              </a:ext>
            </a:extLst>
          </p:cNvPr>
          <p:cNvPicPr>
            <a:picLocks noChangeAspect="1"/>
          </p:cNvPicPr>
          <p:nvPr/>
        </p:nvPicPr>
        <p:blipFill>
          <a:blip r:embed="rId5"/>
          <a:stretch>
            <a:fillRect/>
          </a:stretch>
        </p:blipFill>
        <p:spPr>
          <a:xfrm>
            <a:off x="734957" y="1248647"/>
            <a:ext cx="1976070" cy="849093"/>
          </a:xfrm>
          <a:prstGeom prst="rect">
            <a:avLst/>
          </a:prstGeom>
        </p:spPr>
      </p:pic>
    </p:spTree>
    <p:extLst>
      <p:ext uri="{BB962C8B-B14F-4D97-AF65-F5344CB8AC3E}">
        <p14:creationId xmlns:p14="http://schemas.microsoft.com/office/powerpoint/2010/main" val="80997284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Bit score</a:t>
            </a:r>
            <a:endParaRPr lang="zh-TW" altLang="en-US" sz="3200" b="1" dirty="0">
              <a:latin typeface="Times New Roman" panose="02020603050405020304" pitchFamily="18" charset="0"/>
              <a:cs typeface="Times New Roman" panose="02020603050405020304" pitchFamily="18" charset="0"/>
            </a:endParaRPr>
          </a:p>
        </p:txBody>
      </p:sp>
      <p:pic>
        <p:nvPicPr>
          <p:cNvPr id="12" name="圖片 11"/>
          <p:cNvPicPr>
            <a:picLocks noChangeAspect="1"/>
          </p:cNvPicPr>
          <p:nvPr/>
        </p:nvPicPr>
        <p:blipFill>
          <a:blip r:embed="rId3"/>
          <a:stretch>
            <a:fillRect/>
          </a:stretch>
        </p:blipFill>
        <p:spPr>
          <a:xfrm>
            <a:off x="1953731" y="5537789"/>
            <a:ext cx="312390" cy="385893"/>
          </a:xfrm>
          <a:prstGeom prst="rect">
            <a:avLst/>
          </a:prstGeom>
        </p:spPr>
      </p:pic>
      <mc:AlternateContent xmlns:mc="http://schemas.openxmlformats.org/markup-compatibility/2006" xmlns:a14="http://schemas.microsoft.com/office/drawing/2010/main">
        <mc:Choice Requires="a14">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565336" y="2412069"/>
                <a:ext cx="7887821" cy="4524787"/>
              </a:xfrm>
            </p:spPr>
            <p:txBody>
              <a:bodyPr>
                <a:noAutofit/>
              </a:bodyPr>
              <a:lstStyle/>
              <a:p>
                <a:r>
                  <a:rPr lang="en-US" altLang="zh-TW" sz="2400" dirty="0">
                    <a:latin typeface="Times New Roman" panose="02020603050405020304" pitchFamily="18" charset="0"/>
                    <a:cs typeface="Times New Roman" panose="02020603050405020304" pitchFamily="18" charset="0"/>
                  </a:rPr>
                  <a:t>K</a:t>
                </a:r>
                <a:r>
                  <a:rPr lang="zh-TW" altLang="en-US" sz="2400" dirty="0">
                    <a:latin typeface="Times New Roman" panose="02020603050405020304" pitchFamily="18" charset="0"/>
                    <a:cs typeface="Times New Roman" panose="02020603050405020304" pitchFamily="18" charset="0"/>
                  </a:rPr>
                  <a:t>、</a:t>
                </a:r>
                <a14:m>
                  <m:oMath xmlns:m="http://schemas.openxmlformats.org/officeDocument/2006/math">
                    <m:r>
                      <a:rPr lang="en-US" altLang="zh-TW" sz="2400" i="1" dirty="0" smtClean="0">
                        <a:latin typeface="Cambria Math" panose="02040503050406030204" pitchFamily="18" charset="0"/>
                      </a:rPr>
                      <m:t>𝜆</m:t>
                    </m:r>
                  </m:oMath>
                </a14:m>
                <a:r>
                  <a:rPr lang="en-US" altLang="zh-TW" sz="2400" dirty="0">
                    <a:latin typeface="Times New Roman" panose="02020603050405020304" pitchFamily="18" charset="0"/>
                    <a:cs typeface="Times New Roman" panose="02020603050405020304" pitchFamily="18" charset="0"/>
                  </a:rPr>
                  <a:t> : constant</a:t>
                </a:r>
              </a:p>
              <a:p>
                <a:pPr marL="0" indent="0">
                  <a:buNone/>
                </a:pPr>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 : raw score</a:t>
                </a:r>
              </a:p>
              <a:p>
                <a:pPr marL="0" indent="0">
                  <a:buNone/>
                </a:pPr>
                <a:endParaRPr lang="en-US" altLang="zh-TW" sz="2400" dirty="0">
                  <a:latin typeface="Times New Roman" panose="02020603050405020304" pitchFamily="18" charset="0"/>
                  <a:cs typeface="Times New Roman" panose="02020603050405020304" pitchFamily="18" charset="0"/>
                </a:endParaRPr>
              </a:p>
              <a:p>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mc:Choice>
        <mc:Fallback xmlns="">
          <p:sp>
            <p:nvSpPr>
              <p:cNvPr id="5" name="內容版面配置區 5">
                <a:extLst>
                  <a:ext uri="{FF2B5EF4-FFF2-40B4-BE49-F238E27FC236}">
                    <a16:creationId xmlns:a16="http://schemas.microsoft.com/office/drawing/2014/main" id="{3CA8D1D5-6B20-4285-BB0C-86AEE094246D}"/>
                  </a:ext>
                </a:extLst>
              </p:cNvPr>
              <p:cNvSpPr>
                <a:spLocks noGrp="1" noRot="1" noChangeAspect="1" noMove="1" noResize="1" noEditPoints="1" noAdjustHandles="1" noChangeArrowheads="1" noChangeShapeType="1" noTextEdit="1"/>
              </p:cNvSpPr>
              <p:nvPr>
                <p:ph idx="1"/>
              </p:nvPr>
            </p:nvSpPr>
            <p:spPr>
              <a:xfrm>
                <a:off x="565336" y="2412069"/>
                <a:ext cx="7887821" cy="4524787"/>
              </a:xfrm>
              <a:blipFill>
                <a:blip r:embed="rId4"/>
                <a:stretch>
                  <a:fillRect l="-1082" t="-1887"/>
                </a:stretch>
              </a:blipFill>
            </p:spPr>
            <p:txBody>
              <a:bodyPr/>
              <a:lstStyle/>
              <a:p>
                <a:r>
                  <a:rPr lang="zh-TW" altLang="en-US">
                    <a:noFill/>
                  </a:rPr>
                  <a:t> </a:t>
                </a:r>
              </a:p>
            </p:txBody>
          </p:sp>
        </mc:Fallback>
      </mc:AlternateContent>
      <p:pic>
        <p:nvPicPr>
          <p:cNvPr id="6" name="圖片 5">
            <a:extLst>
              <a:ext uri="{FF2B5EF4-FFF2-40B4-BE49-F238E27FC236}">
                <a16:creationId xmlns:a16="http://schemas.microsoft.com/office/drawing/2014/main" id="{809D159C-9710-483D-A78D-890F96E6B251}"/>
              </a:ext>
            </a:extLst>
          </p:cNvPr>
          <p:cNvPicPr>
            <a:picLocks noChangeAspect="1"/>
          </p:cNvPicPr>
          <p:nvPr/>
        </p:nvPicPr>
        <p:blipFill>
          <a:blip r:embed="rId5"/>
          <a:stretch>
            <a:fillRect/>
          </a:stretch>
        </p:blipFill>
        <p:spPr>
          <a:xfrm>
            <a:off x="734957" y="1329330"/>
            <a:ext cx="2244033" cy="849093"/>
          </a:xfrm>
          <a:prstGeom prst="rect">
            <a:avLst/>
          </a:prstGeom>
        </p:spPr>
      </p:pic>
    </p:spTree>
    <p:extLst>
      <p:ext uri="{BB962C8B-B14F-4D97-AF65-F5344CB8AC3E}">
        <p14:creationId xmlns:p14="http://schemas.microsoft.com/office/powerpoint/2010/main" val="21273607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Function from homology</a:t>
            </a:r>
            <a:endParaRPr lang="zh-TW" altLang="en-US" sz="3200" b="1" dirty="0">
              <a:latin typeface="Times New Roman" panose="02020603050405020304" pitchFamily="18" charset="0"/>
              <a:cs typeface="Times New Roman" panose="02020603050405020304" pitchFamily="18" charset="0"/>
            </a:endParaRPr>
          </a:p>
        </p:txBody>
      </p:sp>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9" y="1501784"/>
            <a:ext cx="7887821" cy="4524787"/>
          </a:xfrm>
        </p:spPr>
        <p:txBody>
          <a:bodyPr>
            <a:noAutofit/>
          </a:bodyPr>
          <a:lstStyle/>
          <a:p>
            <a:r>
              <a:rPr lang="en-US" altLang="zh-TW" sz="2400" dirty="0" err="1">
                <a:latin typeface="Times New Roman" panose="02020603050405020304" pitchFamily="18" charset="0"/>
                <a:cs typeface="Times New Roman" panose="02020603050405020304" pitchFamily="18" charset="0"/>
              </a:rPr>
              <a:t>Orthology</a:t>
            </a:r>
            <a:endParaRPr lang="en-US" altLang="zh-TW" sz="2400" dirty="0">
              <a:latin typeface="Times New Roman" panose="02020603050405020304" pitchFamily="18" charset="0"/>
              <a:cs typeface="Times New Roman" panose="02020603050405020304" pitchFamily="18" charset="0"/>
            </a:endParaRPr>
          </a:p>
          <a:p>
            <a:endParaRPr lang="en-US" altLang="zh-TW" sz="2400" dirty="0">
              <a:latin typeface="Times New Roman" panose="02020603050405020304" pitchFamily="18" charset="0"/>
              <a:cs typeface="Times New Roman" panose="02020603050405020304" pitchFamily="18" charset="0"/>
            </a:endParaRPr>
          </a:p>
          <a:p>
            <a:r>
              <a:rPr lang="en-US" altLang="zh-TW" sz="2400" dirty="0" err="1">
                <a:latin typeface="Times New Roman" panose="02020603050405020304" pitchFamily="18" charset="0"/>
                <a:cs typeface="Times New Roman" panose="02020603050405020304" pitchFamily="18" charset="0"/>
              </a:rPr>
              <a:t>Paralogy</a:t>
            </a:r>
            <a:endParaRPr lang="en-US" altLang="zh-TW" sz="2400" dirty="0">
              <a:latin typeface="Times New Roman" panose="02020603050405020304" pitchFamily="18" charset="0"/>
              <a:cs typeface="Times New Roman" panose="02020603050405020304" pitchFamily="18" charset="0"/>
            </a:endParaRPr>
          </a:p>
          <a:p>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pic>
        <p:nvPicPr>
          <p:cNvPr id="4" name="圖片 3">
            <a:extLst>
              <a:ext uri="{FF2B5EF4-FFF2-40B4-BE49-F238E27FC236}">
                <a16:creationId xmlns:a16="http://schemas.microsoft.com/office/drawing/2014/main" id="{21329618-495F-4A1B-A9D3-FB37081C167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77780" y="2125084"/>
            <a:ext cx="5338130" cy="3650474"/>
          </a:xfrm>
          <a:prstGeom prst="rect">
            <a:avLst/>
          </a:prstGeom>
        </p:spPr>
      </p:pic>
    </p:spTree>
    <p:extLst>
      <p:ext uri="{BB962C8B-B14F-4D97-AF65-F5344CB8AC3E}">
        <p14:creationId xmlns:p14="http://schemas.microsoft.com/office/powerpoint/2010/main" val="296045691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4B01AB9-0651-4F6D-A93A-D571F0BAE9A7}"/>
              </a:ext>
            </a:extLst>
          </p:cNvPr>
          <p:cNvSpPr>
            <a:spLocks noGrp="1"/>
          </p:cNvSpPr>
          <p:nvPr>
            <p:ph type="title"/>
          </p:nvPr>
        </p:nvSpPr>
        <p:spPr>
          <a:xfrm>
            <a:off x="734957" y="350951"/>
            <a:ext cx="8491867" cy="583367"/>
          </a:xfrm>
        </p:spPr>
        <p:txBody>
          <a:bodyPr>
            <a:noAutofit/>
          </a:bodyPr>
          <a:lstStyle/>
          <a:p>
            <a:r>
              <a:rPr lang="en-US" altLang="zh-TW" sz="3200" b="1" dirty="0">
                <a:latin typeface="Times New Roman" panose="02020603050405020304" pitchFamily="18" charset="0"/>
                <a:cs typeface="Times New Roman" panose="02020603050405020304" pitchFamily="18" charset="0"/>
              </a:rPr>
              <a:t>Conclusion</a:t>
            </a:r>
            <a:endParaRPr lang="zh-TW" altLang="en-US" sz="3200" b="1" dirty="0">
              <a:latin typeface="Times New Roman" panose="02020603050405020304" pitchFamily="18" charset="0"/>
              <a:cs typeface="Times New Roman" panose="02020603050405020304" pitchFamily="18" charset="0"/>
            </a:endParaRPr>
          </a:p>
        </p:txBody>
      </p:sp>
      <p:sp>
        <p:nvSpPr>
          <p:cNvPr id="5" name="內容版面配置區 5">
            <a:extLst>
              <a:ext uri="{FF2B5EF4-FFF2-40B4-BE49-F238E27FC236}">
                <a16:creationId xmlns:a16="http://schemas.microsoft.com/office/drawing/2014/main" id="{3CA8D1D5-6B20-4285-BB0C-86AEE094246D}"/>
              </a:ext>
            </a:extLst>
          </p:cNvPr>
          <p:cNvSpPr>
            <a:spLocks noGrp="1"/>
          </p:cNvSpPr>
          <p:nvPr>
            <p:ph idx="1"/>
          </p:nvPr>
        </p:nvSpPr>
        <p:spPr>
          <a:xfrm>
            <a:off x="628089" y="1501784"/>
            <a:ext cx="7887821" cy="4524787"/>
          </a:xfrm>
        </p:spPr>
        <p:txBody>
          <a:bodyPr>
            <a:noAutofit/>
          </a:bodyPr>
          <a:lstStyle/>
          <a:p>
            <a:r>
              <a:rPr lang="en-US" altLang="zh-TW" sz="2400" dirty="0">
                <a:latin typeface="Times New Roman" panose="02020603050405020304" pitchFamily="18" charset="0"/>
                <a:cs typeface="Times New Roman" panose="02020603050405020304" pitchFamily="18" charset="0"/>
              </a:rPr>
              <a:t>Similarity searching programs produce accurate statistical estimates that can be used to reliably infer homology.</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Searches with protein or translated DNA sequences are preferred</a:t>
            </a:r>
          </a:p>
          <a:p>
            <a:endParaRPr lang="en-US" altLang="zh-TW" sz="2400" dirty="0">
              <a:latin typeface="Times New Roman" panose="02020603050405020304" pitchFamily="18" charset="0"/>
              <a:cs typeface="Times New Roman" panose="02020603050405020304" pitchFamily="18" charset="0"/>
            </a:endParaRPr>
          </a:p>
          <a:p>
            <a:r>
              <a:rPr lang="en-US" altLang="zh-TW" sz="2400" dirty="0">
                <a:latin typeface="Times New Roman" panose="02020603050405020304" pitchFamily="18" charset="0"/>
                <a:cs typeface="Times New Roman" panose="02020603050405020304" pitchFamily="18" charset="0"/>
              </a:rPr>
              <a:t>E()-values and bit scores (bits &gt; 50) are far more sensitive and reliable than percent identity for inferring homology.</a:t>
            </a:r>
          </a:p>
          <a:p>
            <a:endParaRPr lang="en-US" altLang="zh-TW" sz="2400" dirty="0">
              <a:solidFill>
                <a:srgbClr val="FF0000"/>
              </a:solidFill>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a:p>
            <a:pPr marL="0" indent="0">
              <a:buNone/>
            </a:pPr>
            <a:endParaRPr lang="en-US" altLang="zh-TW"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83736369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theme1.xml><?xml version="1.0" encoding="utf-8"?>
<a:theme xmlns:a="http://schemas.openxmlformats.org/drawingml/2006/main" name="Office 佈景主題">
  <a:themeElements>
    <a:clrScheme name="Office 佈景主題">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佈景主題">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佈景主題">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89464</TotalTime>
  <Words>1171</Words>
  <Application>Microsoft Office PowerPoint</Application>
  <PresentationFormat>如螢幕大小 (4:3)</PresentationFormat>
  <Paragraphs>106</Paragraphs>
  <Slides>11</Slides>
  <Notes>11</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11</vt:i4>
      </vt:variant>
    </vt:vector>
  </HeadingPairs>
  <TitlesOfParts>
    <vt:vector size="17" baseType="lpstr">
      <vt:lpstr>Arial</vt:lpstr>
      <vt:lpstr>Calibri</vt:lpstr>
      <vt:lpstr>Calibri Light</vt:lpstr>
      <vt:lpstr>Cambria Math</vt:lpstr>
      <vt:lpstr>Times New Roman</vt:lpstr>
      <vt:lpstr>Office 佈景主題</vt:lpstr>
      <vt:lpstr>An Introduction to Sequence Similarity (“Homology”) Searching</vt:lpstr>
      <vt:lpstr>Abstract</vt:lpstr>
      <vt:lpstr>Homology</vt:lpstr>
      <vt:lpstr>Homologous sequences</vt:lpstr>
      <vt:lpstr>Sequence similarity searching</vt:lpstr>
      <vt:lpstr>Homology from similarity(1/2)</vt:lpstr>
      <vt:lpstr>Homology from similarity(2/2)</vt:lpstr>
      <vt:lpstr>E-values</vt:lpstr>
      <vt:lpstr>Bit score</vt:lpstr>
      <vt:lpstr>Function from homology</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fast algorithm for computing a longest common increasing subsequence</dc:title>
  <dc:creator/>
  <cp:lastModifiedBy>pplab</cp:lastModifiedBy>
  <cp:revision>840</cp:revision>
  <dcterms:created xsi:type="dcterms:W3CDTF">2017-09-25T08:45:50Z</dcterms:created>
  <dcterms:modified xsi:type="dcterms:W3CDTF">2020-05-05T12:42:14Z</dcterms:modified>
</cp:coreProperties>
</file>