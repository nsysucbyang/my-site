
<file path=[Content_Types].xml><?xml version="1.0" encoding="utf-8"?>
<Types xmlns="http://schemas.openxmlformats.org/package/2006/content-types">
  <Default Extension="bin" ContentType="application/vnd.openxmlformats-officedocument.oleObject"/>
  <Default Extension="gif" ContentType="image/gif"/>
  <Default Extension="jpeg" ContentType="image/jpeg"/>
  <Default Extension="png" ContentType="image/png"/>
  <Default Extension="rels" ContentType="application/vnd.openxmlformats-package.relationships+xml"/>
  <Default Extension="vml" ContentType="application/vnd.openxmlformats-officedocument.vmlDrawing"/>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4"/>
  </p:notesMasterIdLst>
  <p:sldIdLst>
    <p:sldId id="257" r:id="rId2"/>
    <p:sldId id="258" r:id="rId3"/>
    <p:sldId id="259" r:id="rId4"/>
    <p:sldId id="260" r:id="rId5"/>
    <p:sldId id="261" r:id="rId6"/>
    <p:sldId id="262" r:id="rId7"/>
    <p:sldId id="263" r:id="rId8"/>
    <p:sldId id="264" r:id="rId9"/>
    <p:sldId id="265" r:id="rId10"/>
    <p:sldId id="271" r:id="rId11"/>
    <p:sldId id="267" r:id="rId12"/>
    <p:sldId id="266" r:id="rId13"/>
    <p:sldId id="268" r:id="rId14"/>
    <p:sldId id="269" r:id="rId15"/>
    <p:sldId id="270" r:id="rId16"/>
    <p:sldId id="272" r:id="rId17"/>
    <p:sldId id="273" r:id="rId18"/>
    <p:sldId id="275" r:id="rId19"/>
    <p:sldId id="276" r:id="rId20"/>
    <p:sldId id="277" r:id="rId21"/>
    <p:sldId id="278" r:id="rId22"/>
    <p:sldId id="279" r:id="rId23"/>
    <p:sldId id="280" r:id="rId24"/>
    <p:sldId id="281" r:id="rId25"/>
    <p:sldId id="282" r:id="rId26"/>
    <p:sldId id="283" r:id="rId27"/>
    <p:sldId id="284" r:id="rId28"/>
    <p:sldId id="285" r:id="rId29"/>
    <p:sldId id="286" r:id="rId30"/>
    <p:sldId id="287" r:id="rId31"/>
    <p:sldId id="288" r:id="rId32"/>
    <p:sldId id="289" r:id="rId33"/>
  </p:sldIdLst>
  <p:sldSz cx="9144000" cy="6858000" type="screen4x3"/>
  <p:notesSz cx="6858000" cy="9144000"/>
  <p:defaultText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68" d="100"/>
          <a:sy n="68" d="100"/>
        </p:scale>
        <p:origin x="1446" y="60"/>
      </p:cViewPr>
      <p:guideLst>
        <p:guide orient="horz" pos="2160"/>
        <p:guide pos="288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presProps" Target="presProps.xml"/><Relationship Id="rId8" Type="http://schemas.openxmlformats.org/officeDocument/2006/relationships/slide" Target="slides/slide7.xml"/><Relationship Id="rId3" Type="http://schemas.openxmlformats.org/officeDocument/2006/relationships/slide" Target="slides/slide2.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1.w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頁首版面配置區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zh-TW" altLang="en-US"/>
          </a:p>
        </p:txBody>
      </p:sp>
      <p:sp>
        <p:nvSpPr>
          <p:cNvPr id="3" name="日期版面配置區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48EC598C-8F50-4D8A-A257-9F9A3D6EE20F}" type="datetimeFigureOut">
              <a:rPr lang="zh-TW" altLang="en-US" smtClean="0"/>
              <a:pPr/>
              <a:t>2020/10/27</a:t>
            </a:fld>
            <a:endParaRPr lang="zh-TW" altLang="en-US"/>
          </a:p>
        </p:txBody>
      </p:sp>
      <p:sp>
        <p:nvSpPr>
          <p:cNvPr id="4" name="投影片圖像版面配置區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zh-TW" altLang="en-US"/>
          </a:p>
        </p:txBody>
      </p:sp>
      <p:sp>
        <p:nvSpPr>
          <p:cNvPr id="5" name="備忘稿版面配置區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6" name="頁尾版面配置區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zh-TW" altLang="en-US"/>
          </a:p>
        </p:txBody>
      </p:sp>
      <p:sp>
        <p:nvSpPr>
          <p:cNvPr id="7" name="投影片編號版面配置區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65A18BCC-D1EA-4D8A-929C-D092EA2B4393}" type="slidenum">
              <a:rPr lang="zh-TW" altLang="en-US" smtClean="0"/>
              <a:pPr/>
              <a:t>‹#›</a:t>
            </a:fld>
            <a:endParaRPr lang="zh-TW"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en-US" sz="1200" b="1" i="0" kern="1200" dirty="0">
                <a:solidFill>
                  <a:schemeClr val="tx1"/>
                </a:solidFill>
                <a:latin typeface="+mn-lt"/>
                <a:ea typeface="+mn-ea"/>
                <a:cs typeface="+mn-cs"/>
              </a:rPr>
              <a:t>ISTA: Information Science, Technology and Applications  --  </a:t>
            </a:r>
            <a:r>
              <a:rPr lang="en-US" altLang="zh-TW" dirty="0"/>
              <a:t>https://dl.acm.org/conference/ista</a:t>
            </a:r>
          </a:p>
          <a:p>
            <a:r>
              <a:rPr lang="en-US" sz="1200" dirty="0"/>
              <a:t>Kuwait </a:t>
            </a:r>
            <a:r>
              <a:rPr lang="en-US" sz="1200" dirty="0" err="1"/>
              <a:t>Kuwait</a:t>
            </a:r>
            <a:r>
              <a:rPr lang="en-US" sz="1200" dirty="0"/>
              <a:t> </a:t>
            </a:r>
            <a:r>
              <a:rPr lang="zh-TW" altLang="en-US" sz="1200" dirty="0"/>
              <a:t>科威特 的 科威特城</a:t>
            </a:r>
            <a:endParaRPr lang="zh-TW" altLang="en-US" dirty="0"/>
          </a:p>
        </p:txBody>
      </p:sp>
      <p:sp>
        <p:nvSpPr>
          <p:cNvPr id="4" name="投影片編號版面配置區 3"/>
          <p:cNvSpPr>
            <a:spLocks noGrp="1"/>
          </p:cNvSpPr>
          <p:nvPr>
            <p:ph type="sldNum" sz="quarter" idx="5"/>
          </p:nvPr>
        </p:nvSpPr>
        <p:spPr/>
        <p:txBody>
          <a:bodyPr/>
          <a:lstStyle/>
          <a:p>
            <a:fld id="{58745C38-81A3-45D4-9959-4EF52C41C41F}" type="slidenum">
              <a:rPr lang="zh-TW" altLang="en-US" smtClean="0"/>
              <a:pPr/>
              <a:t>1</a:t>
            </a:fld>
            <a:endParaRPr lang="zh-TW" altLang="en-US"/>
          </a:p>
        </p:txBody>
      </p:sp>
    </p:spTree>
    <p:extLst>
      <p:ext uri="{BB962C8B-B14F-4D97-AF65-F5344CB8AC3E}">
        <p14:creationId xmlns:p14="http://schemas.microsoft.com/office/powerpoint/2010/main" val="270381942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a:xfrm>
            <a:off x="1371600" y="1143000"/>
            <a:ext cx="4114800" cy="3086100"/>
          </a:xfrm>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10"/>
          </p:nvPr>
        </p:nvSpPr>
        <p:spPr/>
        <p:txBody>
          <a:bodyPr/>
          <a:lstStyle/>
          <a:p>
            <a:fld id="{F7E0A4FA-366C-40B7-9E40-EFBC7A72D852}" type="slidenum">
              <a:rPr lang="zh-TW" altLang="en-US" smtClean="0"/>
              <a:pPr/>
              <a:t>2</a:t>
            </a:fld>
            <a:endParaRPr lang="zh-TW" altLang="en-US"/>
          </a:p>
        </p:txBody>
      </p:sp>
    </p:spTree>
    <p:extLst>
      <p:ext uri="{BB962C8B-B14F-4D97-AF65-F5344CB8AC3E}">
        <p14:creationId xmlns:p14="http://schemas.microsoft.com/office/powerpoint/2010/main" val="149187897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a:xfrm>
            <a:off x="1371600" y="1143000"/>
            <a:ext cx="4114800" cy="3086100"/>
          </a:xfrm>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10"/>
          </p:nvPr>
        </p:nvSpPr>
        <p:spPr/>
        <p:txBody>
          <a:bodyPr/>
          <a:lstStyle/>
          <a:p>
            <a:fld id="{F7E0A4FA-366C-40B7-9E40-EFBC7A72D852}" type="slidenum">
              <a:rPr lang="zh-TW" altLang="en-US" smtClean="0"/>
              <a:pPr/>
              <a:t>3</a:t>
            </a:fld>
            <a:endParaRPr lang="zh-TW" altLang="en-US"/>
          </a:p>
        </p:txBody>
      </p:sp>
    </p:spTree>
    <p:extLst>
      <p:ext uri="{BB962C8B-B14F-4D97-AF65-F5344CB8AC3E}">
        <p14:creationId xmlns:p14="http://schemas.microsoft.com/office/powerpoint/2010/main" val="149187897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標題投影片">
    <p:spTree>
      <p:nvGrpSpPr>
        <p:cNvPr id="1" name=""/>
        <p:cNvGrpSpPr/>
        <p:nvPr/>
      </p:nvGrpSpPr>
      <p:grpSpPr>
        <a:xfrm>
          <a:off x="0" y="0"/>
          <a:ext cx="0" cy="0"/>
          <a:chOff x="0" y="0"/>
          <a:chExt cx="0" cy="0"/>
        </a:xfrm>
      </p:grpSpPr>
      <p:sp>
        <p:nvSpPr>
          <p:cNvPr id="2" name="標題 1"/>
          <p:cNvSpPr>
            <a:spLocks noGrp="1"/>
          </p:cNvSpPr>
          <p:nvPr>
            <p:ph type="ctrTitle"/>
          </p:nvPr>
        </p:nvSpPr>
        <p:spPr>
          <a:xfrm>
            <a:off x="685800" y="2130425"/>
            <a:ext cx="7772400" cy="1470025"/>
          </a:xfrm>
        </p:spPr>
        <p:txBody>
          <a:bodyPr/>
          <a:lstStyle/>
          <a:p>
            <a:r>
              <a:rPr lang="zh-TW" altLang="en-US"/>
              <a:t>按一下以編輯母片標題樣式</a:t>
            </a:r>
          </a:p>
        </p:txBody>
      </p:sp>
      <p:sp>
        <p:nvSpPr>
          <p:cNvPr id="3" name="副標題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TW" altLang="en-US"/>
              <a:t>按一下以編輯母片副標題樣式</a:t>
            </a:r>
          </a:p>
        </p:txBody>
      </p:sp>
      <p:sp>
        <p:nvSpPr>
          <p:cNvPr id="4" name="日期版面配置區 3"/>
          <p:cNvSpPr>
            <a:spLocks noGrp="1"/>
          </p:cNvSpPr>
          <p:nvPr>
            <p:ph type="dt" sz="half" idx="10"/>
          </p:nvPr>
        </p:nvSpPr>
        <p:spPr/>
        <p:txBody>
          <a:bodyPr/>
          <a:lstStyle/>
          <a:p>
            <a:fld id="{25BD1462-57C0-4459-9390-560953396E85}" type="datetimeFigureOut">
              <a:rPr lang="zh-TW" altLang="en-US" smtClean="0"/>
              <a:pPr/>
              <a:t>2020/10/27</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F689265B-D561-4CD1-972E-9E84754BEC82}" type="slidenum">
              <a:rPr lang="zh-TW" altLang="en-US" smtClean="0"/>
              <a:pPr/>
              <a:t>‹#›</a:t>
            </a:fld>
            <a:endParaRPr lang="zh-TW"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標題及物件">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a:t>按一下以編輯母片標題樣式</a:t>
            </a:r>
          </a:p>
        </p:txBody>
      </p:sp>
      <p:sp>
        <p:nvSpPr>
          <p:cNvPr id="3" name="內容版面配置區 2"/>
          <p:cNvSpPr>
            <a:spLocks noGrp="1"/>
          </p:cNvSpPr>
          <p:nvPr>
            <p:ph idx="1"/>
          </p:nvPr>
        </p:nvSpPr>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p:cNvSpPr>
            <a:spLocks noGrp="1"/>
          </p:cNvSpPr>
          <p:nvPr>
            <p:ph type="dt" sz="half" idx="10"/>
          </p:nvPr>
        </p:nvSpPr>
        <p:spPr/>
        <p:txBody>
          <a:bodyPr/>
          <a:lstStyle/>
          <a:p>
            <a:fld id="{25BD1462-57C0-4459-9390-560953396E85}" type="datetimeFigureOut">
              <a:rPr lang="zh-TW" altLang="en-US" smtClean="0"/>
              <a:pPr/>
              <a:t>2020/10/27</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F689265B-D561-4CD1-972E-9E84754BEC82}" type="slidenum">
              <a:rPr lang="zh-TW" altLang="en-US" smtClean="0"/>
              <a:pPr/>
              <a:t>‹#›</a:t>
            </a:fld>
            <a:endParaRPr lang="zh-TW"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區段標題">
    <p:spTree>
      <p:nvGrpSpPr>
        <p:cNvPr id="1" name=""/>
        <p:cNvGrpSpPr/>
        <p:nvPr/>
      </p:nvGrpSpPr>
      <p:grpSpPr>
        <a:xfrm>
          <a:off x="0" y="0"/>
          <a:ext cx="0" cy="0"/>
          <a:chOff x="0" y="0"/>
          <a:chExt cx="0" cy="0"/>
        </a:xfrm>
      </p:grpSpPr>
      <p:sp>
        <p:nvSpPr>
          <p:cNvPr id="2" name="標題 1"/>
          <p:cNvSpPr>
            <a:spLocks noGrp="1"/>
          </p:cNvSpPr>
          <p:nvPr>
            <p:ph type="title"/>
          </p:nvPr>
        </p:nvSpPr>
        <p:spPr>
          <a:xfrm>
            <a:off x="722313" y="4406900"/>
            <a:ext cx="7772400" cy="1362075"/>
          </a:xfrm>
        </p:spPr>
        <p:txBody>
          <a:bodyPr anchor="t"/>
          <a:lstStyle>
            <a:lvl1pPr algn="l">
              <a:defRPr sz="4000" b="1" cap="all"/>
            </a:lvl1pPr>
          </a:lstStyle>
          <a:p>
            <a:r>
              <a:rPr lang="zh-TW" altLang="en-US"/>
              <a:t>按一下以編輯母片標題樣式</a:t>
            </a:r>
          </a:p>
        </p:txBody>
      </p:sp>
      <p:sp>
        <p:nvSpPr>
          <p:cNvPr id="3" name="文字版面配置區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TW" altLang="en-US"/>
              <a:t>按一下以編輯母片文字樣式</a:t>
            </a:r>
          </a:p>
        </p:txBody>
      </p:sp>
      <p:sp>
        <p:nvSpPr>
          <p:cNvPr id="4" name="日期版面配置區 3"/>
          <p:cNvSpPr>
            <a:spLocks noGrp="1"/>
          </p:cNvSpPr>
          <p:nvPr>
            <p:ph type="dt" sz="half" idx="10"/>
          </p:nvPr>
        </p:nvSpPr>
        <p:spPr/>
        <p:txBody>
          <a:bodyPr/>
          <a:lstStyle/>
          <a:p>
            <a:fld id="{25BD1462-57C0-4459-9390-560953396E85}" type="datetimeFigureOut">
              <a:rPr lang="zh-TW" altLang="en-US" smtClean="0"/>
              <a:pPr/>
              <a:t>2020/10/27</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F689265B-D561-4CD1-972E-9E84754BEC82}" type="slidenum">
              <a:rPr lang="zh-TW" altLang="en-US" smtClean="0"/>
              <a:pPr/>
              <a:t>‹#›</a:t>
            </a:fld>
            <a:endParaRPr lang="zh-TW"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兩項物件">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a:t>按一下以編輯母片標題樣式</a:t>
            </a:r>
          </a:p>
        </p:txBody>
      </p:sp>
      <p:sp>
        <p:nvSpPr>
          <p:cNvPr id="3" name="內容版面配置區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內容版面配置區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5" name="日期版面配置區 4"/>
          <p:cNvSpPr>
            <a:spLocks noGrp="1"/>
          </p:cNvSpPr>
          <p:nvPr>
            <p:ph type="dt" sz="half" idx="10"/>
          </p:nvPr>
        </p:nvSpPr>
        <p:spPr/>
        <p:txBody>
          <a:bodyPr/>
          <a:lstStyle/>
          <a:p>
            <a:fld id="{25BD1462-57C0-4459-9390-560953396E85}" type="datetimeFigureOut">
              <a:rPr lang="zh-TW" altLang="en-US" smtClean="0"/>
              <a:pPr/>
              <a:t>2020/10/27</a:t>
            </a:fld>
            <a:endParaRPr lang="zh-TW" altLang="en-US"/>
          </a:p>
        </p:txBody>
      </p:sp>
      <p:sp>
        <p:nvSpPr>
          <p:cNvPr id="6" name="頁尾版面配置區 5"/>
          <p:cNvSpPr>
            <a:spLocks noGrp="1"/>
          </p:cNvSpPr>
          <p:nvPr>
            <p:ph type="ftr" sz="quarter" idx="11"/>
          </p:nvPr>
        </p:nvSpPr>
        <p:spPr/>
        <p:txBody>
          <a:bodyPr/>
          <a:lstStyle/>
          <a:p>
            <a:endParaRPr lang="zh-TW" altLang="en-US"/>
          </a:p>
        </p:txBody>
      </p:sp>
      <p:sp>
        <p:nvSpPr>
          <p:cNvPr id="7" name="投影片編號版面配置區 6"/>
          <p:cNvSpPr>
            <a:spLocks noGrp="1"/>
          </p:cNvSpPr>
          <p:nvPr>
            <p:ph type="sldNum" sz="quarter" idx="12"/>
          </p:nvPr>
        </p:nvSpPr>
        <p:spPr/>
        <p:txBody>
          <a:bodyPr/>
          <a:lstStyle/>
          <a:p>
            <a:fld id="{F689265B-D561-4CD1-972E-9E84754BEC82}" type="slidenum">
              <a:rPr lang="zh-TW" altLang="en-US" smtClean="0"/>
              <a:pPr/>
              <a:t>‹#›</a:t>
            </a:fld>
            <a:endParaRPr lang="zh-TW"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對">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lvl1pPr>
              <a:defRPr/>
            </a:lvl1pPr>
          </a:lstStyle>
          <a:p>
            <a:r>
              <a:rPr lang="zh-TW" altLang="en-US"/>
              <a:t>按一下以編輯母片標題樣式</a:t>
            </a:r>
          </a:p>
        </p:txBody>
      </p:sp>
      <p:sp>
        <p:nvSpPr>
          <p:cNvPr id="3" name="文字版面配置區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a:t>按一下以編輯母片文字樣式</a:t>
            </a:r>
          </a:p>
        </p:txBody>
      </p:sp>
      <p:sp>
        <p:nvSpPr>
          <p:cNvPr id="4" name="內容版面配置區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5" name="文字版面配置區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a:t>按一下以編輯母片文字樣式</a:t>
            </a:r>
          </a:p>
        </p:txBody>
      </p:sp>
      <p:sp>
        <p:nvSpPr>
          <p:cNvPr id="6" name="內容版面配置區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7" name="日期版面配置區 6"/>
          <p:cNvSpPr>
            <a:spLocks noGrp="1"/>
          </p:cNvSpPr>
          <p:nvPr>
            <p:ph type="dt" sz="half" idx="10"/>
          </p:nvPr>
        </p:nvSpPr>
        <p:spPr/>
        <p:txBody>
          <a:bodyPr/>
          <a:lstStyle/>
          <a:p>
            <a:fld id="{25BD1462-57C0-4459-9390-560953396E85}" type="datetimeFigureOut">
              <a:rPr lang="zh-TW" altLang="en-US" smtClean="0"/>
              <a:pPr/>
              <a:t>2020/10/27</a:t>
            </a:fld>
            <a:endParaRPr lang="zh-TW" altLang="en-US"/>
          </a:p>
        </p:txBody>
      </p:sp>
      <p:sp>
        <p:nvSpPr>
          <p:cNvPr id="8" name="頁尾版面配置區 7"/>
          <p:cNvSpPr>
            <a:spLocks noGrp="1"/>
          </p:cNvSpPr>
          <p:nvPr>
            <p:ph type="ftr" sz="quarter" idx="11"/>
          </p:nvPr>
        </p:nvSpPr>
        <p:spPr/>
        <p:txBody>
          <a:bodyPr/>
          <a:lstStyle/>
          <a:p>
            <a:endParaRPr lang="zh-TW" altLang="en-US"/>
          </a:p>
        </p:txBody>
      </p:sp>
      <p:sp>
        <p:nvSpPr>
          <p:cNvPr id="9" name="投影片編號版面配置區 8"/>
          <p:cNvSpPr>
            <a:spLocks noGrp="1"/>
          </p:cNvSpPr>
          <p:nvPr>
            <p:ph type="sldNum" sz="quarter" idx="12"/>
          </p:nvPr>
        </p:nvSpPr>
        <p:spPr/>
        <p:txBody>
          <a:bodyPr/>
          <a:lstStyle/>
          <a:p>
            <a:fld id="{F689265B-D561-4CD1-972E-9E84754BEC82}" type="slidenum">
              <a:rPr lang="zh-TW" altLang="en-US" smtClean="0"/>
              <a:pPr/>
              <a:t>‹#›</a:t>
            </a:fld>
            <a:endParaRPr lang="zh-TW"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只有標題">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a:t>按一下以編輯母片標題樣式</a:t>
            </a:r>
          </a:p>
        </p:txBody>
      </p:sp>
      <p:sp>
        <p:nvSpPr>
          <p:cNvPr id="3" name="日期版面配置區 2"/>
          <p:cNvSpPr>
            <a:spLocks noGrp="1"/>
          </p:cNvSpPr>
          <p:nvPr>
            <p:ph type="dt" sz="half" idx="10"/>
          </p:nvPr>
        </p:nvSpPr>
        <p:spPr/>
        <p:txBody>
          <a:bodyPr/>
          <a:lstStyle/>
          <a:p>
            <a:fld id="{25BD1462-57C0-4459-9390-560953396E85}" type="datetimeFigureOut">
              <a:rPr lang="zh-TW" altLang="en-US" smtClean="0"/>
              <a:pPr/>
              <a:t>2020/10/27</a:t>
            </a:fld>
            <a:endParaRPr lang="zh-TW" altLang="en-US"/>
          </a:p>
        </p:txBody>
      </p:sp>
      <p:sp>
        <p:nvSpPr>
          <p:cNvPr id="4" name="頁尾版面配置區 3"/>
          <p:cNvSpPr>
            <a:spLocks noGrp="1"/>
          </p:cNvSpPr>
          <p:nvPr>
            <p:ph type="ftr" sz="quarter" idx="11"/>
          </p:nvPr>
        </p:nvSpPr>
        <p:spPr/>
        <p:txBody>
          <a:bodyPr/>
          <a:lstStyle/>
          <a:p>
            <a:endParaRPr lang="zh-TW" altLang="en-US"/>
          </a:p>
        </p:txBody>
      </p:sp>
      <p:sp>
        <p:nvSpPr>
          <p:cNvPr id="5" name="投影片編號版面配置區 4"/>
          <p:cNvSpPr>
            <a:spLocks noGrp="1"/>
          </p:cNvSpPr>
          <p:nvPr>
            <p:ph type="sldNum" sz="quarter" idx="12"/>
          </p:nvPr>
        </p:nvSpPr>
        <p:spPr/>
        <p:txBody>
          <a:bodyPr/>
          <a:lstStyle/>
          <a:p>
            <a:fld id="{F689265B-D561-4CD1-972E-9E84754BEC82}" type="slidenum">
              <a:rPr lang="zh-TW" altLang="en-US" smtClean="0"/>
              <a:pPr/>
              <a:t>‹#›</a:t>
            </a:fld>
            <a:endParaRPr lang="zh-TW"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版面配置區 1"/>
          <p:cNvSpPr>
            <a:spLocks noGrp="1"/>
          </p:cNvSpPr>
          <p:nvPr>
            <p:ph type="dt" sz="half" idx="10"/>
          </p:nvPr>
        </p:nvSpPr>
        <p:spPr/>
        <p:txBody>
          <a:bodyPr/>
          <a:lstStyle/>
          <a:p>
            <a:fld id="{25BD1462-57C0-4459-9390-560953396E85}" type="datetimeFigureOut">
              <a:rPr lang="zh-TW" altLang="en-US" smtClean="0"/>
              <a:pPr/>
              <a:t>2020/10/27</a:t>
            </a:fld>
            <a:endParaRPr lang="zh-TW" altLang="en-US"/>
          </a:p>
        </p:txBody>
      </p:sp>
      <p:sp>
        <p:nvSpPr>
          <p:cNvPr id="3" name="頁尾版面配置區 2"/>
          <p:cNvSpPr>
            <a:spLocks noGrp="1"/>
          </p:cNvSpPr>
          <p:nvPr>
            <p:ph type="ftr" sz="quarter" idx="11"/>
          </p:nvPr>
        </p:nvSpPr>
        <p:spPr/>
        <p:txBody>
          <a:bodyPr/>
          <a:lstStyle/>
          <a:p>
            <a:endParaRPr lang="zh-TW" altLang="en-US"/>
          </a:p>
        </p:txBody>
      </p:sp>
      <p:sp>
        <p:nvSpPr>
          <p:cNvPr id="4" name="投影片編號版面配置區 3"/>
          <p:cNvSpPr>
            <a:spLocks noGrp="1"/>
          </p:cNvSpPr>
          <p:nvPr>
            <p:ph type="sldNum" sz="quarter" idx="12"/>
          </p:nvPr>
        </p:nvSpPr>
        <p:spPr/>
        <p:txBody>
          <a:bodyPr/>
          <a:lstStyle/>
          <a:p>
            <a:fld id="{F689265B-D561-4CD1-972E-9E84754BEC82}" type="slidenum">
              <a:rPr lang="zh-TW" altLang="en-US" smtClean="0"/>
              <a:pPr/>
              <a:t>‹#›</a:t>
            </a:fld>
            <a:endParaRPr lang="zh-TW"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含標題的內容">
    <p:spTree>
      <p:nvGrpSpPr>
        <p:cNvPr id="1" name=""/>
        <p:cNvGrpSpPr/>
        <p:nvPr/>
      </p:nvGrpSpPr>
      <p:grpSpPr>
        <a:xfrm>
          <a:off x="0" y="0"/>
          <a:ext cx="0" cy="0"/>
          <a:chOff x="0" y="0"/>
          <a:chExt cx="0" cy="0"/>
        </a:xfrm>
      </p:grpSpPr>
      <p:sp>
        <p:nvSpPr>
          <p:cNvPr id="2" name="標題 1"/>
          <p:cNvSpPr>
            <a:spLocks noGrp="1"/>
          </p:cNvSpPr>
          <p:nvPr>
            <p:ph type="title"/>
          </p:nvPr>
        </p:nvSpPr>
        <p:spPr>
          <a:xfrm>
            <a:off x="457200" y="273050"/>
            <a:ext cx="3008313" cy="1162050"/>
          </a:xfrm>
        </p:spPr>
        <p:txBody>
          <a:bodyPr anchor="b"/>
          <a:lstStyle>
            <a:lvl1pPr algn="l">
              <a:defRPr sz="2000" b="1"/>
            </a:lvl1pPr>
          </a:lstStyle>
          <a:p>
            <a:r>
              <a:rPr lang="zh-TW" altLang="en-US"/>
              <a:t>按一下以編輯母片標題樣式</a:t>
            </a:r>
          </a:p>
        </p:txBody>
      </p:sp>
      <p:sp>
        <p:nvSpPr>
          <p:cNvPr id="3" name="內容版面配置區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文字版面配置區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TW" altLang="en-US"/>
              <a:t>按一下以編輯母片文字樣式</a:t>
            </a:r>
          </a:p>
        </p:txBody>
      </p:sp>
      <p:sp>
        <p:nvSpPr>
          <p:cNvPr id="5" name="日期版面配置區 4"/>
          <p:cNvSpPr>
            <a:spLocks noGrp="1"/>
          </p:cNvSpPr>
          <p:nvPr>
            <p:ph type="dt" sz="half" idx="10"/>
          </p:nvPr>
        </p:nvSpPr>
        <p:spPr/>
        <p:txBody>
          <a:bodyPr/>
          <a:lstStyle/>
          <a:p>
            <a:fld id="{25BD1462-57C0-4459-9390-560953396E85}" type="datetimeFigureOut">
              <a:rPr lang="zh-TW" altLang="en-US" smtClean="0"/>
              <a:pPr/>
              <a:t>2020/10/27</a:t>
            </a:fld>
            <a:endParaRPr lang="zh-TW" altLang="en-US"/>
          </a:p>
        </p:txBody>
      </p:sp>
      <p:sp>
        <p:nvSpPr>
          <p:cNvPr id="6" name="頁尾版面配置區 5"/>
          <p:cNvSpPr>
            <a:spLocks noGrp="1"/>
          </p:cNvSpPr>
          <p:nvPr>
            <p:ph type="ftr" sz="quarter" idx="11"/>
          </p:nvPr>
        </p:nvSpPr>
        <p:spPr/>
        <p:txBody>
          <a:bodyPr/>
          <a:lstStyle/>
          <a:p>
            <a:endParaRPr lang="zh-TW" altLang="en-US"/>
          </a:p>
        </p:txBody>
      </p:sp>
      <p:sp>
        <p:nvSpPr>
          <p:cNvPr id="7" name="投影片編號版面配置區 6"/>
          <p:cNvSpPr>
            <a:spLocks noGrp="1"/>
          </p:cNvSpPr>
          <p:nvPr>
            <p:ph type="sldNum" sz="quarter" idx="12"/>
          </p:nvPr>
        </p:nvSpPr>
        <p:spPr/>
        <p:txBody>
          <a:bodyPr/>
          <a:lstStyle/>
          <a:p>
            <a:fld id="{F689265B-D561-4CD1-972E-9E84754BEC82}" type="slidenum">
              <a:rPr lang="zh-TW" altLang="en-US" smtClean="0"/>
              <a:pPr/>
              <a:t>‹#›</a:t>
            </a:fld>
            <a:endParaRPr lang="zh-TW"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含標題的圖片">
    <p:spTree>
      <p:nvGrpSpPr>
        <p:cNvPr id="1" name=""/>
        <p:cNvGrpSpPr/>
        <p:nvPr/>
      </p:nvGrpSpPr>
      <p:grpSpPr>
        <a:xfrm>
          <a:off x="0" y="0"/>
          <a:ext cx="0" cy="0"/>
          <a:chOff x="0" y="0"/>
          <a:chExt cx="0" cy="0"/>
        </a:xfrm>
      </p:grpSpPr>
      <p:sp>
        <p:nvSpPr>
          <p:cNvPr id="2" name="標題 1"/>
          <p:cNvSpPr>
            <a:spLocks noGrp="1"/>
          </p:cNvSpPr>
          <p:nvPr>
            <p:ph type="title"/>
          </p:nvPr>
        </p:nvSpPr>
        <p:spPr>
          <a:xfrm>
            <a:off x="1792288" y="4800600"/>
            <a:ext cx="5486400" cy="566738"/>
          </a:xfrm>
        </p:spPr>
        <p:txBody>
          <a:bodyPr anchor="b"/>
          <a:lstStyle>
            <a:lvl1pPr algn="l">
              <a:defRPr sz="2000" b="1"/>
            </a:lvl1pPr>
          </a:lstStyle>
          <a:p>
            <a:r>
              <a:rPr lang="zh-TW" altLang="en-US"/>
              <a:t>按一下以編輯母片標題樣式</a:t>
            </a:r>
          </a:p>
        </p:txBody>
      </p:sp>
      <p:sp>
        <p:nvSpPr>
          <p:cNvPr id="3" name="圖片版面配置區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TW" altLang="en-US"/>
          </a:p>
        </p:txBody>
      </p:sp>
      <p:sp>
        <p:nvSpPr>
          <p:cNvPr id="4" name="文字版面配置區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TW" altLang="en-US"/>
              <a:t>按一下以編輯母片文字樣式</a:t>
            </a:r>
          </a:p>
        </p:txBody>
      </p:sp>
      <p:sp>
        <p:nvSpPr>
          <p:cNvPr id="5" name="日期版面配置區 4"/>
          <p:cNvSpPr>
            <a:spLocks noGrp="1"/>
          </p:cNvSpPr>
          <p:nvPr>
            <p:ph type="dt" sz="half" idx="10"/>
          </p:nvPr>
        </p:nvSpPr>
        <p:spPr/>
        <p:txBody>
          <a:bodyPr/>
          <a:lstStyle/>
          <a:p>
            <a:fld id="{25BD1462-57C0-4459-9390-560953396E85}" type="datetimeFigureOut">
              <a:rPr lang="zh-TW" altLang="en-US" smtClean="0"/>
              <a:pPr/>
              <a:t>2020/10/27</a:t>
            </a:fld>
            <a:endParaRPr lang="zh-TW" altLang="en-US"/>
          </a:p>
        </p:txBody>
      </p:sp>
      <p:sp>
        <p:nvSpPr>
          <p:cNvPr id="6" name="頁尾版面配置區 5"/>
          <p:cNvSpPr>
            <a:spLocks noGrp="1"/>
          </p:cNvSpPr>
          <p:nvPr>
            <p:ph type="ftr" sz="quarter" idx="11"/>
          </p:nvPr>
        </p:nvSpPr>
        <p:spPr/>
        <p:txBody>
          <a:bodyPr/>
          <a:lstStyle/>
          <a:p>
            <a:endParaRPr lang="zh-TW" altLang="en-US"/>
          </a:p>
        </p:txBody>
      </p:sp>
      <p:sp>
        <p:nvSpPr>
          <p:cNvPr id="7" name="投影片編號版面配置區 6"/>
          <p:cNvSpPr>
            <a:spLocks noGrp="1"/>
          </p:cNvSpPr>
          <p:nvPr>
            <p:ph type="sldNum" sz="quarter" idx="12"/>
          </p:nvPr>
        </p:nvSpPr>
        <p:spPr/>
        <p:txBody>
          <a:bodyPr/>
          <a:lstStyle/>
          <a:p>
            <a:fld id="{F689265B-D561-4CD1-972E-9E84754BEC82}" type="slidenum">
              <a:rPr lang="zh-TW" altLang="en-US" smtClean="0"/>
              <a:pPr/>
              <a:t>‹#›</a:t>
            </a:fld>
            <a:endParaRPr lang="zh-TW"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標題及直排文字">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a:t>按一下以編輯母片標題樣式</a:t>
            </a:r>
          </a:p>
        </p:txBody>
      </p:sp>
      <p:sp>
        <p:nvSpPr>
          <p:cNvPr id="3" name="直排文字版面配置區 2"/>
          <p:cNvSpPr>
            <a:spLocks noGrp="1"/>
          </p:cNvSpPr>
          <p:nvPr>
            <p:ph type="body" orient="vert" idx="1"/>
          </p:nvPr>
        </p:nvSpPr>
        <p:spPr/>
        <p:txBody>
          <a:bodyPr vert="eaVert"/>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p:cNvSpPr>
            <a:spLocks noGrp="1"/>
          </p:cNvSpPr>
          <p:nvPr>
            <p:ph type="dt" sz="half" idx="10"/>
          </p:nvPr>
        </p:nvSpPr>
        <p:spPr/>
        <p:txBody>
          <a:bodyPr/>
          <a:lstStyle/>
          <a:p>
            <a:fld id="{25BD1462-57C0-4459-9390-560953396E85}" type="datetimeFigureOut">
              <a:rPr lang="zh-TW" altLang="en-US" smtClean="0"/>
              <a:pPr/>
              <a:t>2020/10/27</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F689265B-D561-4CD1-972E-9E84754BEC82}" type="slidenum">
              <a:rPr lang="zh-TW" altLang="en-US" smtClean="0"/>
              <a:pPr/>
              <a:t>‹#›</a:t>
            </a:fld>
            <a:endParaRPr lang="zh-TW"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直排標題及文字">
    <p:spTree>
      <p:nvGrpSpPr>
        <p:cNvPr id="1" name=""/>
        <p:cNvGrpSpPr/>
        <p:nvPr/>
      </p:nvGrpSpPr>
      <p:grpSpPr>
        <a:xfrm>
          <a:off x="0" y="0"/>
          <a:ext cx="0" cy="0"/>
          <a:chOff x="0" y="0"/>
          <a:chExt cx="0" cy="0"/>
        </a:xfrm>
      </p:grpSpPr>
      <p:sp>
        <p:nvSpPr>
          <p:cNvPr id="2" name="直排標題 1"/>
          <p:cNvSpPr>
            <a:spLocks noGrp="1"/>
          </p:cNvSpPr>
          <p:nvPr>
            <p:ph type="title" orient="vert"/>
          </p:nvPr>
        </p:nvSpPr>
        <p:spPr>
          <a:xfrm>
            <a:off x="6629400" y="274638"/>
            <a:ext cx="2057400" cy="5851525"/>
          </a:xfrm>
        </p:spPr>
        <p:txBody>
          <a:bodyPr vert="eaVert"/>
          <a:lstStyle/>
          <a:p>
            <a:r>
              <a:rPr lang="zh-TW" altLang="en-US"/>
              <a:t>按一下以編輯母片標題樣式</a:t>
            </a:r>
          </a:p>
        </p:txBody>
      </p:sp>
      <p:sp>
        <p:nvSpPr>
          <p:cNvPr id="3" name="直排文字版面配置區 2"/>
          <p:cNvSpPr>
            <a:spLocks noGrp="1"/>
          </p:cNvSpPr>
          <p:nvPr>
            <p:ph type="body" orient="vert" idx="1"/>
          </p:nvPr>
        </p:nvSpPr>
        <p:spPr>
          <a:xfrm>
            <a:off x="457200" y="274638"/>
            <a:ext cx="6019800" cy="5851525"/>
          </a:xfrm>
        </p:spPr>
        <p:txBody>
          <a:bodyPr vert="eaVert"/>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p:cNvSpPr>
            <a:spLocks noGrp="1"/>
          </p:cNvSpPr>
          <p:nvPr>
            <p:ph type="dt" sz="half" idx="10"/>
          </p:nvPr>
        </p:nvSpPr>
        <p:spPr/>
        <p:txBody>
          <a:bodyPr/>
          <a:lstStyle/>
          <a:p>
            <a:fld id="{25BD1462-57C0-4459-9390-560953396E85}" type="datetimeFigureOut">
              <a:rPr lang="zh-TW" altLang="en-US" smtClean="0"/>
              <a:pPr/>
              <a:t>2020/10/27</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F689265B-D561-4CD1-972E-9E84754BEC82}" type="slidenum">
              <a:rPr lang="zh-TW" altLang="en-US" smtClean="0"/>
              <a:pPr/>
              <a:t>‹#›</a:t>
            </a:fld>
            <a:endParaRPr lang="zh-TW" alt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標題版面配置區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zh-TW" altLang="en-US"/>
              <a:t>按一下以編輯母片標題樣式</a:t>
            </a:r>
          </a:p>
        </p:txBody>
      </p:sp>
      <p:sp>
        <p:nvSpPr>
          <p:cNvPr id="3" name="文字版面配置區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5BD1462-57C0-4459-9390-560953396E85}" type="datetimeFigureOut">
              <a:rPr lang="zh-TW" altLang="en-US" smtClean="0"/>
              <a:pPr/>
              <a:t>2020/10/27</a:t>
            </a:fld>
            <a:endParaRPr lang="zh-TW" altLang="en-US"/>
          </a:p>
        </p:txBody>
      </p:sp>
      <p:sp>
        <p:nvSpPr>
          <p:cNvPr id="5" name="頁尾版面配置區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TW" altLang="en-US"/>
          </a:p>
        </p:txBody>
      </p:sp>
      <p:sp>
        <p:nvSpPr>
          <p:cNvPr id="6" name="投影片編號版面配置區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689265B-D561-4CD1-972E-9E84754BEC82}" type="slidenum">
              <a:rPr lang="zh-TW" altLang="en-US" smtClean="0"/>
              <a:pPr/>
              <a:t>‹#›</a:t>
            </a:fld>
            <a:endParaRPr lang="zh-TW"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Layout" Target="../slideLayouts/slideLayout2.xml"/><Relationship Id="rId1" Type="http://schemas.openxmlformats.org/officeDocument/2006/relationships/vmlDrawing" Target="../drawings/vmlDrawing1.vml"/><Relationship Id="rId4" Type="http://schemas.openxmlformats.org/officeDocument/2006/relationships/image" Target="../media/image1.wmf"/></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gif"/><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40B6A882-00D3-47EF-9E00-5F5448FB3E79}"/>
              </a:ext>
            </a:extLst>
          </p:cNvPr>
          <p:cNvSpPr>
            <a:spLocks noGrp="1"/>
          </p:cNvSpPr>
          <p:nvPr>
            <p:ph type="ctrTitle"/>
          </p:nvPr>
        </p:nvSpPr>
        <p:spPr>
          <a:xfrm>
            <a:off x="654342" y="1715999"/>
            <a:ext cx="7890145" cy="649317"/>
          </a:xfrm>
        </p:spPr>
        <p:txBody>
          <a:bodyPr>
            <a:noAutofit/>
          </a:bodyPr>
          <a:lstStyle/>
          <a:p>
            <a:r>
              <a:rPr lang="en-US" altLang="zh-TW" sz="3200" dirty="0" err="1">
                <a:latin typeface="Times New Roman" pitchFamily="18" charset="0"/>
                <a:cs typeface="Times New Roman" pitchFamily="18" charset="0"/>
              </a:rPr>
              <a:t>Pairwise</a:t>
            </a:r>
            <a:r>
              <a:rPr lang="en-US" altLang="zh-TW" sz="3200" dirty="0">
                <a:latin typeface="Times New Roman" pitchFamily="18" charset="0"/>
                <a:cs typeface="Times New Roman" pitchFamily="18" charset="0"/>
              </a:rPr>
              <a:t> Sequence Alignment Algorithms – A Survey</a:t>
            </a:r>
          </a:p>
        </p:txBody>
      </p:sp>
      <p:sp>
        <p:nvSpPr>
          <p:cNvPr id="3" name="副標題 2">
            <a:extLst>
              <a:ext uri="{FF2B5EF4-FFF2-40B4-BE49-F238E27FC236}">
                <a16:creationId xmlns:a16="http://schemas.microsoft.com/office/drawing/2014/main" id="{7DA53B5D-3737-4D8B-A009-A9D02CAEE169}"/>
              </a:ext>
            </a:extLst>
          </p:cNvPr>
          <p:cNvSpPr>
            <a:spLocks noGrp="1"/>
          </p:cNvSpPr>
          <p:nvPr>
            <p:ph type="subTitle" idx="1"/>
          </p:nvPr>
        </p:nvSpPr>
        <p:spPr>
          <a:xfrm>
            <a:off x="323528" y="3003984"/>
            <a:ext cx="8640959" cy="425017"/>
          </a:xfrm>
        </p:spPr>
        <p:txBody>
          <a:bodyPr>
            <a:noAutofit/>
          </a:bodyPr>
          <a:lstStyle/>
          <a:p>
            <a:pPr fontAlgn="ctr"/>
            <a:r>
              <a:rPr lang="en-US" altLang="zh-TW" sz="2000" dirty="0" err="1">
                <a:solidFill>
                  <a:schemeClr val="tx1"/>
                </a:solidFill>
                <a:latin typeface="Times New Roman" pitchFamily="18" charset="0"/>
                <a:cs typeface="Times New Roman" pitchFamily="18" charset="0"/>
              </a:rPr>
              <a:t>Waqar</a:t>
            </a:r>
            <a:r>
              <a:rPr lang="en-US" altLang="zh-TW" sz="2000" dirty="0">
                <a:solidFill>
                  <a:schemeClr val="tx1"/>
                </a:solidFill>
                <a:latin typeface="Times New Roman" pitchFamily="18" charset="0"/>
                <a:cs typeface="Times New Roman" pitchFamily="18" charset="0"/>
              </a:rPr>
              <a:t> </a:t>
            </a:r>
            <a:r>
              <a:rPr lang="en-US" altLang="zh-TW" sz="2000" dirty="0" err="1">
                <a:solidFill>
                  <a:schemeClr val="tx1"/>
                </a:solidFill>
                <a:latin typeface="Times New Roman" pitchFamily="18" charset="0"/>
                <a:cs typeface="Times New Roman" pitchFamily="18" charset="0"/>
              </a:rPr>
              <a:t>Haque</a:t>
            </a:r>
            <a:r>
              <a:rPr lang="en-US" altLang="zh-TW" sz="2000" dirty="0">
                <a:solidFill>
                  <a:schemeClr val="tx1"/>
                </a:solidFill>
                <a:latin typeface="Times New Roman" pitchFamily="18" charset="0"/>
                <a:cs typeface="Times New Roman" pitchFamily="18" charset="0"/>
              </a:rPr>
              <a:t>, Alex </a:t>
            </a:r>
            <a:r>
              <a:rPr lang="en-US" altLang="zh-TW" sz="2000" dirty="0" err="1">
                <a:solidFill>
                  <a:schemeClr val="tx1"/>
                </a:solidFill>
                <a:latin typeface="Times New Roman" pitchFamily="18" charset="0"/>
                <a:cs typeface="Times New Roman" pitchFamily="18" charset="0"/>
              </a:rPr>
              <a:t>Aravind</a:t>
            </a:r>
            <a:r>
              <a:rPr lang="en-US" altLang="zh-TW" sz="2000" dirty="0">
                <a:solidFill>
                  <a:schemeClr val="tx1"/>
                </a:solidFill>
                <a:latin typeface="Times New Roman" pitchFamily="18" charset="0"/>
                <a:cs typeface="Times New Roman" pitchFamily="18" charset="0"/>
              </a:rPr>
              <a:t>, </a:t>
            </a:r>
            <a:r>
              <a:rPr lang="en-US" altLang="zh-TW" sz="2000" dirty="0" err="1">
                <a:solidFill>
                  <a:schemeClr val="tx1"/>
                </a:solidFill>
                <a:latin typeface="Times New Roman" pitchFamily="18" charset="0"/>
                <a:cs typeface="Times New Roman" pitchFamily="18" charset="0"/>
              </a:rPr>
              <a:t>Bharath</a:t>
            </a:r>
            <a:r>
              <a:rPr lang="en-US" altLang="zh-TW" sz="2000" dirty="0">
                <a:solidFill>
                  <a:schemeClr val="tx1"/>
                </a:solidFill>
                <a:latin typeface="Times New Roman" pitchFamily="18" charset="0"/>
                <a:cs typeface="Times New Roman" pitchFamily="18" charset="0"/>
              </a:rPr>
              <a:t> Reddy</a:t>
            </a:r>
          </a:p>
        </p:txBody>
      </p:sp>
      <p:sp>
        <p:nvSpPr>
          <p:cNvPr id="8" name="文字方塊 7">
            <a:extLst>
              <a:ext uri="{FF2B5EF4-FFF2-40B4-BE49-F238E27FC236}">
                <a16:creationId xmlns:a16="http://schemas.microsoft.com/office/drawing/2014/main" id="{8F2527E8-BB8F-41FB-8AF1-03DCC96BC069}"/>
              </a:ext>
            </a:extLst>
          </p:cNvPr>
          <p:cNvSpPr txBox="1"/>
          <p:nvPr/>
        </p:nvSpPr>
        <p:spPr>
          <a:xfrm>
            <a:off x="785786" y="3873343"/>
            <a:ext cx="7677999" cy="830997"/>
          </a:xfrm>
          <a:prstGeom prst="rect">
            <a:avLst/>
          </a:prstGeom>
          <a:noFill/>
        </p:spPr>
        <p:txBody>
          <a:bodyPr wrap="none" rtlCol="0">
            <a:spAutoFit/>
          </a:bodyPr>
          <a:lstStyle/>
          <a:p>
            <a:pPr algn="ctr"/>
            <a:r>
              <a:rPr lang="en-US" altLang="zh-TW" sz="2400" dirty="0">
                <a:latin typeface="Times New Roman" pitchFamily="18" charset="0"/>
                <a:cs typeface="Times New Roman" pitchFamily="18" charset="0"/>
              </a:rPr>
              <a:t>ISTA '09: Information Science, Technology and Applications</a:t>
            </a:r>
            <a:br>
              <a:rPr lang="en-US" altLang="zh-TW" sz="2400" dirty="0">
                <a:latin typeface="Times New Roman" pitchFamily="18" charset="0"/>
                <a:cs typeface="Times New Roman" pitchFamily="18" charset="0"/>
              </a:rPr>
            </a:br>
            <a:r>
              <a:rPr lang="en-US" sz="2400" dirty="0">
                <a:latin typeface="Times New Roman" pitchFamily="18" charset="0"/>
                <a:cs typeface="Times New Roman" pitchFamily="18" charset="0"/>
              </a:rPr>
              <a:t>Kuwait, Kuwait, March, 2009, Pages 96–103</a:t>
            </a:r>
            <a:endParaRPr lang="en-US" altLang="zh-TW" sz="2200" dirty="0">
              <a:latin typeface="Times New Roman" pitchFamily="18" charset="0"/>
              <a:cs typeface="Times New Roman" pitchFamily="18" charset="0"/>
            </a:endParaRPr>
          </a:p>
        </p:txBody>
      </p:sp>
      <p:sp>
        <p:nvSpPr>
          <p:cNvPr id="9" name="文字方塊 8">
            <a:extLst>
              <a:ext uri="{FF2B5EF4-FFF2-40B4-BE49-F238E27FC236}">
                <a16:creationId xmlns:a16="http://schemas.microsoft.com/office/drawing/2014/main" id="{6BC92671-3184-4146-A361-F82079153C2E}"/>
              </a:ext>
            </a:extLst>
          </p:cNvPr>
          <p:cNvSpPr txBox="1"/>
          <p:nvPr/>
        </p:nvSpPr>
        <p:spPr>
          <a:xfrm>
            <a:off x="5580112" y="5357171"/>
            <a:ext cx="3375796" cy="461665"/>
          </a:xfrm>
          <a:prstGeom prst="rect">
            <a:avLst/>
          </a:prstGeom>
          <a:noFill/>
        </p:spPr>
        <p:txBody>
          <a:bodyPr wrap="none" rtlCol="0">
            <a:spAutoFit/>
          </a:bodyPr>
          <a:lstStyle/>
          <a:p>
            <a:r>
              <a:rPr lang="en-US" altLang="zh-TW" sz="2400" dirty="0">
                <a:latin typeface="Times New Roman" panose="02020603050405020304" pitchFamily="18" charset="0"/>
                <a:cs typeface="Times New Roman" panose="02020603050405020304" pitchFamily="18" charset="0"/>
              </a:rPr>
              <a:t>Presenter: Yuan-Hsiu Tsai</a:t>
            </a:r>
            <a:endParaRPr lang="zh-TW" altLang="en-US" sz="2400" dirty="0">
              <a:latin typeface="Times New Roman" panose="02020603050405020304" pitchFamily="18" charset="0"/>
              <a:cs typeface="Times New Roman" panose="02020603050405020304" pitchFamily="18" charset="0"/>
            </a:endParaRPr>
          </a:p>
        </p:txBody>
      </p:sp>
      <p:sp>
        <p:nvSpPr>
          <p:cNvPr id="10" name="文字方塊 9">
            <a:extLst>
              <a:ext uri="{FF2B5EF4-FFF2-40B4-BE49-F238E27FC236}">
                <a16:creationId xmlns:a16="http://schemas.microsoft.com/office/drawing/2014/main" id="{52A0654C-2F84-4026-9FCF-04C8DF590D5F}"/>
              </a:ext>
            </a:extLst>
          </p:cNvPr>
          <p:cNvSpPr txBox="1"/>
          <p:nvPr/>
        </p:nvSpPr>
        <p:spPr>
          <a:xfrm>
            <a:off x="5652120" y="5824855"/>
            <a:ext cx="2601994" cy="461665"/>
          </a:xfrm>
          <a:prstGeom prst="rect">
            <a:avLst/>
          </a:prstGeom>
          <a:noFill/>
        </p:spPr>
        <p:txBody>
          <a:bodyPr wrap="none" rtlCol="0">
            <a:spAutoFit/>
          </a:bodyPr>
          <a:lstStyle>
            <a:defPPr>
              <a:defRPr lang="zh-TW"/>
            </a:defPPr>
            <a:lvl1pPr>
              <a:defRPr sz="2400">
                <a:latin typeface="Times New Roman" panose="02020603050405020304" pitchFamily="18" charset="0"/>
                <a:cs typeface="Times New Roman" panose="02020603050405020304" pitchFamily="18" charset="0"/>
              </a:defRPr>
            </a:lvl1pPr>
          </a:lstStyle>
          <a:p>
            <a:r>
              <a:rPr lang="en-US" altLang="zh-TW" dirty="0"/>
              <a:t>Date: Oct. 27, 2020</a:t>
            </a:r>
            <a:endParaRPr lang="zh-TW" altLang="en-US" dirty="0"/>
          </a:p>
        </p:txBody>
      </p:sp>
    </p:spTree>
    <p:extLst>
      <p:ext uri="{BB962C8B-B14F-4D97-AF65-F5344CB8AC3E}">
        <p14:creationId xmlns:p14="http://schemas.microsoft.com/office/powerpoint/2010/main" val="355704993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4B01AB9-0651-4F6D-A93A-D571F0BAE9A7}"/>
              </a:ext>
            </a:extLst>
          </p:cNvPr>
          <p:cNvSpPr>
            <a:spLocks noGrp="1"/>
          </p:cNvSpPr>
          <p:nvPr>
            <p:ph type="title"/>
          </p:nvPr>
        </p:nvSpPr>
        <p:spPr>
          <a:xfrm>
            <a:off x="139007" y="116632"/>
            <a:ext cx="7886700" cy="583367"/>
          </a:xfrm>
        </p:spPr>
        <p:txBody>
          <a:bodyPr>
            <a:normAutofit/>
          </a:bodyPr>
          <a:lstStyle/>
          <a:p>
            <a:r>
              <a:rPr lang="en-US" altLang="zh-TW" sz="3200" b="1" dirty="0">
                <a:latin typeface="Times New Roman" panose="02020603050405020304" pitchFamily="18" charset="0"/>
                <a:cs typeface="Times New Roman" panose="02020603050405020304" pitchFamily="18" charset="0"/>
              </a:rPr>
              <a:t>Abstract(1/2)</a:t>
            </a:r>
            <a:endParaRPr lang="zh-TW" altLang="en-US" sz="3200" b="1" dirty="0">
              <a:latin typeface="Times New Roman" panose="02020603050405020304" pitchFamily="18" charset="0"/>
              <a:cs typeface="Times New Roman" panose="02020603050405020304" pitchFamily="18" charset="0"/>
            </a:endParaRPr>
          </a:p>
        </p:txBody>
      </p:sp>
      <p:sp>
        <p:nvSpPr>
          <p:cNvPr id="3" name="內容版面配置區 2">
            <a:extLst>
              <a:ext uri="{FF2B5EF4-FFF2-40B4-BE49-F238E27FC236}">
                <a16:creationId xmlns:a16="http://schemas.microsoft.com/office/drawing/2014/main" id="{5E26DCC3-1991-4383-BF81-99FF895536EE}"/>
              </a:ext>
            </a:extLst>
          </p:cNvPr>
          <p:cNvSpPr>
            <a:spLocks noGrp="1"/>
          </p:cNvSpPr>
          <p:nvPr>
            <p:ph idx="1"/>
          </p:nvPr>
        </p:nvSpPr>
        <p:spPr>
          <a:xfrm>
            <a:off x="139007" y="1121324"/>
            <a:ext cx="9004993" cy="3879312"/>
          </a:xfrm>
        </p:spPr>
        <p:txBody>
          <a:bodyPr>
            <a:noAutofit/>
          </a:bodyPr>
          <a:lstStyle/>
          <a:p>
            <a:pPr marL="0" indent="0">
              <a:buNone/>
            </a:pPr>
            <a:r>
              <a:rPr lang="en-US" altLang="zh-TW" dirty="0" err="1">
                <a:latin typeface="Times New Roman" pitchFamily="18" charset="0"/>
                <a:cs typeface="Times New Roman" pitchFamily="18" charset="0"/>
              </a:rPr>
              <a:t>Pairwise</a:t>
            </a:r>
            <a:r>
              <a:rPr lang="en-US" altLang="zh-TW" dirty="0">
                <a:latin typeface="Times New Roman" pitchFamily="18" charset="0"/>
                <a:cs typeface="Times New Roman" pitchFamily="18" charset="0"/>
              </a:rPr>
              <a:t> sequence alignment is a fundamental compute-intensive problem in bioinformatics that has helped researchers </a:t>
            </a:r>
            <a:r>
              <a:rPr lang="en-US" altLang="zh-TW" dirty="0" err="1">
                <a:latin typeface="Times New Roman" pitchFamily="18" charset="0"/>
                <a:cs typeface="Times New Roman" pitchFamily="18" charset="0"/>
              </a:rPr>
              <a:t>analyse</a:t>
            </a:r>
            <a:r>
              <a:rPr lang="en-US" altLang="zh-TW" dirty="0">
                <a:latin typeface="Times New Roman" pitchFamily="18" charset="0"/>
                <a:cs typeface="Times New Roman" pitchFamily="18" charset="0"/>
              </a:rPr>
              <a:t> biological sequences. The analysis has helped biologists detect pathogens, develop drugs, and identify common genes. The biological sequence database has been growing rapidly due to new sequences being discovered. This has brought many new challenges including sequence database searching and aligning long sequences. </a:t>
            </a:r>
            <a:endParaRPr lang="fr-FR" altLang="zh-TW" dirty="0">
              <a:latin typeface="Times New Roman" pitchFamily="18" charset="0"/>
              <a:cs typeface="Times New Roman" pitchFamily="18" charset="0"/>
            </a:endParaRPr>
          </a:p>
        </p:txBody>
      </p:sp>
    </p:spTree>
    <p:extLst>
      <p:ext uri="{BB962C8B-B14F-4D97-AF65-F5344CB8AC3E}">
        <p14:creationId xmlns:p14="http://schemas.microsoft.com/office/powerpoint/2010/main" val="399448398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4B01AB9-0651-4F6D-A93A-D571F0BAE9A7}"/>
              </a:ext>
            </a:extLst>
          </p:cNvPr>
          <p:cNvSpPr>
            <a:spLocks noGrp="1"/>
          </p:cNvSpPr>
          <p:nvPr>
            <p:ph type="title"/>
          </p:nvPr>
        </p:nvSpPr>
        <p:spPr>
          <a:xfrm>
            <a:off x="139007" y="116632"/>
            <a:ext cx="7886700" cy="583367"/>
          </a:xfrm>
        </p:spPr>
        <p:txBody>
          <a:bodyPr>
            <a:normAutofit/>
          </a:bodyPr>
          <a:lstStyle/>
          <a:p>
            <a:r>
              <a:rPr lang="en-US" altLang="zh-TW" sz="3200" b="1" dirty="0">
                <a:latin typeface="Times New Roman" panose="02020603050405020304" pitchFamily="18" charset="0"/>
                <a:cs typeface="Times New Roman" panose="02020603050405020304" pitchFamily="18" charset="0"/>
              </a:rPr>
              <a:t>Abstract(2/2)</a:t>
            </a:r>
            <a:endParaRPr lang="zh-TW" altLang="en-US" sz="3200" b="1" dirty="0">
              <a:latin typeface="Times New Roman" panose="02020603050405020304" pitchFamily="18" charset="0"/>
              <a:cs typeface="Times New Roman" panose="02020603050405020304" pitchFamily="18" charset="0"/>
            </a:endParaRPr>
          </a:p>
        </p:txBody>
      </p:sp>
      <p:sp>
        <p:nvSpPr>
          <p:cNvPr id="3" name="內容版面配置區 2">
            <a:extLst>
              <a:ext uri="{FF2B5EF4-FFF2-40B4-BE49-F238E27FC236}">
                <a16:creationId xmlns:a16="http://schemas.microsoft.com/office/drawing/2014/main" id="{5E26DCC3-1991-4383-BF81-99FF895536EE}"/>
              </a:ext>
            </a:extLst>
          </p:cNvPr>
          <p:cNvSpPr>
            <a:spLocks noGrp="1"/>
          </p:cNvSpPr>
          <p:nvPr>
            <p:ph idx="1"/>
          </p:nvPr>
        </p:nvSpPr>
        <p:spPr>
          <a:xfrm>
            <a:off x="139007" y="1039725"/>
            <a:ext cx="9004993" cy="5246795"/>
          </a:xfrm>
        </p:spPr>
        <p:txBody>
          <a:bodyPr>
            <a:noAutofit/>
          </a:bodyPr>
          <a:lstStyle/>
          <a:p>
            <a:pPr marL="0" indent="0">
              <a:buNone/>
            </a:pPr>
            <a:r>
              <a:rPr lang="en-US" altLang="zh-TW" dirty="0">
                <a:latin typeface="Times New Roman" pitchFamily="18" charset="0"/>
                <a:cs typeface="Times New Roman" pitchFamily="18" charset="0"/>
              </a:rPr>
              <a:t>To solve these problems, many sequence alignment algorithms have been developed. These algorithms employ various techniques to efficiently find optimal or nearly-optimal alignments. In this paper, we present the popular past and recent work on both local and global </a:t>
            </a:r>
            <a:r>
              <a:rPr lang="en-US" altLang="zh-TW" dirty="0" err="1">
                <a:latin typeface="Times New Roman" pitchFamily="18" charset="0"/>
                <a:cs typeface="Times New Roman" pitchFamily="18" charset="0"/>
              </a:rPr>
              <a:t>pairwise</a:t>
            </a:r>
            <a:r>
              <a:rPr lang="en-US" altLang="zh-TW" dirty="0">
                <a:latin typeface="Times New Roman" pitchFamily="18" charset="0"/>
                <a:cs typeface="Times New Roman" pitchFamily="18" charset="0"/>
              </a:rPr>
              <a:t> sequence alignment algorithms. In addition to identifying the techniques used, the advantages and limitations of the algorithms are also presented.</a:t>
            </a:r>
            <a:endParaRPr lang="fr-FR" altLang="zh-TW" dirty="0">
              <a:latin typeface="Times New Roman" pitchFamily="18" charset="0"/>
              <a:cs typeface="Times New Roman" pitchFamily="18" charset="0"/>
            </a:endParaRPr>
          </a:p>
        </p:txBody>
      </p:sp>
    </p:spTree>
    <p:extLst>
      <p:ext uri="{BB962C8B-B14F-4D97-AF65-F5344CB8AC3E}">
        <p14:creationId xmlns:p14="http://schemas.microsoft.com/office/powerpoint/2010/main" val="399448398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pPr algn="l"/>
            <a:r>
              <a:rPr lang="en-US" altLang="zh-TW" dirty="0">
                <a:latin typeface="Times New Roman" pitchFamily="18" charset="0"/>
                <a:cs typeface="Times New Roman" pitchFamily="18" charset="0"/>
              </a:rPr>
              <a:t>Introduction</a:t>
            </a:r>
            <a:endParaRPr lang="zh-TW" altLang="en-US" dirty="0">
              <a:latin typeface="Times New Roman" pitchFamily="18" charset="0"/>
              <a:cs typeface="Times New Roman" pitchFamily="18" charset="0"/>
            </a:endParaRPr>
          </a:p>
        </p:txBody>
      </p:sp>
      <p:sp>
        <p:nvSpPr>
          <p:cNvPr id="3" name="內容版面配置區 2"/>
          <p:cNvSpPr>
            <a:spLocks noGrp="1"/>
          </p:cNvSpPr>
          <p:nvPr>
            <p:ph idx="1"/>
          </p:nvPr>
        </p:nvSpPr>
        <p:spPr/>
        <p:txBody>
          <a:bodyPr/>
          <a:lstStyle/>
          <a:p>
            <a:r>
              <a:rPr lang="en-US" altLang="zh-TW" dirty="0">
                <a:latin typeface="Times New Roman" pitchFamily="18" charset="0"/>
                <a:cs typeface="Times New Roman" pitchFamily="18" charset="0"/>
              </a:rPr>
              <a:t>DNA = {A,T,C,G}</a:t>
            </a:r>
          </a:p>
          <a:p>
            <a:endParaRPr lang="en-US" altLang="zh-TW" dirty="0">
              <a:latin typeface="Times New Roman" pitchFamily="18" charset="0"/>
              <a:cs typeface="Times New Roman" pitchFamily="18" charset="0"/>
            </a:endParaRPr>
          </a:p>
          <a:p>
            <a:r>
              <a:rPr lang="en-US" altLang="zh-TW" dirty="0">
                <a:latin typeface="Times New Roman" pitchFamily="18" charset="0"/>
                <a:cs typeface="Times New Roman" pitchFamily="18" charset="0"/>
              </a:rPr>
              <a:t>RNA = {A,U,C,G}</a:t>
            </a:r>
          </a:p>
          <a:p>
            <a:endParaRPr lang="en-US" altLang="zh-TW" dirty="0">
              <a:latin typeface="Times New Roman" pitchFamily="18" charset="0"/>
              <a:cs typeface="Times New Roman" pitchFamily="18" charset="0"/>
            </a:endParaRPr>
          </a:p>
          <a:p>
            <a:r>
              <a:rPr lang="en-US" altLang="zh-TW" dirty="0">
                <a:latin typeface="Times New Roman" pitchFamily="18" charset="0"/>
                <a:cs typeface="Times New Roman" pitchFamily="18" charset="0"/>
              </a:rPr>
              <a:t>Protein = {</a:t>
            </a:r>
            <a:r>
              <a:rPr lang="pt-BR" altLang="zh-TW" dirty="0">
                <a:latin typeface="Times New Roman" pitchFamily="18" charset="0"/>
                <a:cs typeface="Times New Roman" pitchFamily="18" charset="0"/>
              </a:rPr>
              <a:t>A,R,N,D,C,Q,E,G,H,I,L,K,M,F,P,S,T,W,Y,V,B,Z,X</a:t>
            </a:r>
            <a:r>
              <a:rPr lang="en-US" altLang="zh-TW" dirty="0">
                <a:latin typeface="Times New Roman" pitchFamily="18" charset="0"/>
                <a:cs typeface="Times New Roman" pitchFamily="18" charset="0"/>
              </a:rPr>
              <a:t>}</a:t>
            </a:r>
            <a:endParaRPr lang="zh-TW" altLang="en-US" dirty="0">
              <a:latin typeface="Times New Roman" pitchFamily="18" charset="0"/>
              <a:cs typeface="Times New Roman" pitchFamily="18" charset="0"/>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pPr algn="l"/>
            <a:r>
              <a:rPr lang="en-US" altLang="zh-TW" dirty="0">
                <a:latin typeface="Times New Roman" pitchFamily="18" charset="0"/>
                <a:cs typeface="Times New Roman" pitchFamily="18" charset="0"/>
              </a:rPr>
              <a:t>Introduction – DP</a:t>
            </a:r>
            <a:r>
              <a:rPr lang="zh-TW" altLang="en-US" dirty="0">
                <a:latin typeface="Times New Roman" pitchFamily="18" charset="0"/>
                <a:cs typeface="Times New Roman" pitchFamily="18" charset="0"/>
              </a:rPr>
              <a:t> </a:t>
            </a:r>
            <a:r>
              <a:rPr lang="en-US" altLang="zh-TW" dirty="0">
                <a:latin typeface="Times New Roman" pitchFamily="18" charset="0"/>
                <a:cs typeface="Times New Roman" pitchFamily="18" charset="0"/>
              </a:rPr>
              <a:t>formula </a:t>
            </a:r>
            <a:endParaRPr lang="zh-TW" altLang="en-US" dirty="0">
              <a:latin typeface="Times New Roman" pitchFamily="18" charset="0"/>
              <a:cs typeface="Times New Roman" pitchFamily="18" charset="0"/>
            </a:endParaRPr>
          </a:p>
        </p:txBody>
      </p:sp>
      <p:sp>
        <p:nvSpPr>
          <p:cNvPr id="3" name="內容版面配置區 2"/>
          <p:cNvSpPr>
            <a:spLocks noGrp="1"/>
          </p:cNvSpPr>
          <p:nvPr>
            <p:ph idx="1"/>
          </p:nvPr>
        </p:nvSpPr>
        <p:spPr/>
        <p:txBody>
          <a:bodyPr/>
          <a:lstStyle/>
          <a:p>
            <a:endParaRPr lang="en-US" altLang="zh-TW" dirty="0">
              <a:latin typeface="Times New Roman" pitchFamily="18" charset="0"/>
              <a:cs typeface="Times New Roman" pitchFamily="18" charset="0"/>
            </a:endParaRPr>
          </a:p>
          <a:p>
            <a:endParaRPr lang="en-US" altLang="zh-TW" dirty="0">
              <a:latin typeface="Times New Roman" pitchFamily="18" charset="0"/>
              <a:cs typeface="Times New Roman" pitchFamily="18" charset="0"/>
            </a:endParaRPr>
          </a:p>
          <a:p>
            <a:endParaRPr lang="en-US" altLang="zh-TW" dirty="0">
              <a:latin typeface="Times New Roman" pitchFamily="18" charset="0"/>
              <a:cs typeface="Times New Roman" pitchFamily="18" charset="0"/>
            </a:endParaRPr>
          </a:p>
          <a:p>
            <a:endParaRPr lang="en-US" altLang="zh-TW" dirty="0">
              <a:latin typeface="Times New Roman" pitchFamily="18" charset="0"/>
              <a:cs typeface="Times New Roman" pitchFamily="18" charset="0"/>
            </a:endParaRPr>
          </a:p>
          <a:p>
            <a:pPr>
              <a:buNone/>
            </a:pPr>
            <a:endParaRPr lang="en-US" altLang="zh-TW" dirty="0">
              <a:latin typeface="Times New Roman" pitchFamily="18" charset="0"/>
              <a:cs typeface="Times New Roman" pitchFamily="18" charset="0"/>
            </a:endParaRPr>
          </a:p>
          <a:p>
            <a:pPr>
              <a:buNone/>
            </a:pPr>
            <a:r>
              <a:rPr lang="en-US" altLang="zh-TW" dirty="0">
                <a:latin typeface="Times New Roman" pitchFamily="18" charset="0"/>
                <a:cs typeface="Times New Roman" pitchFamily="18" charset="0"/>
              </a:rPr>
              <a:t>	where Score is score matrix, g is gap penalty. </a:t>
            </a:r>
            <a:endParaRPr lang="zh-TW" altLang="en-US" dirty="0">
              <a:latin typeface="Times New Roman" pitchFamily="18" charset="0"/>
              <a:cs typeface="Times New Roman" pitchFamily="18" charset="0"/>
            </a:endParaRPr>
          </a:p>
        </p:txBody>
      </p:sp>
      <p:graphicFrame>
        <p:nvGraphicFramePr>
          <p:cNvPr id="4" name="物件 3"/>
          <p:cNvGraphicFramePr>
            <a:graphicFrameLocks noChangeAspect="1"/>
          </p:cNvGraphicFramePr>
          <p:nvPr/>
        </p:nvGraphicFramePr>
        <p:xfrm>
          <a:off x="857224" y="1921837"/>
          <a:ext cx="6584972" cy="2292981"/>
        </p:xfrm>
        <a:graphic>
          <a:graphicData uri="http://schemas.openxmlformats.org/presentationml/2006/ole">
            <mc:AlternateContent xmlns:mc="http://schemas.openxmlformats.org/markup-compatibility/2006">
              <mc:Choice xmlns:v="urn:schemas-microsoft-com:vml" Requires="v">
                <p:oleObj spid="_x0000_s1032" name="Equation" r:id="rId3" imgW="2844720" imgH="990360" progId="Equation.DSMT4">
                  <p:embed/>
                </p:oleObj>
              </mc:Choice>
              <mc:Fallback>
                <p:oleObj name="Equation" r:id="rId3" imgW="2844720" imgH="990360" progId="Equation.DSMT4">
                  <p:embed/>
                  <p:pic>
                    <p:nvPicPr>
                      <p:cNvPr id="0"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57224" y="1921837"/>
                        <a:ext cx="6584972" cy="2292981"/>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pPr algn="l"/>
            <a:r>
              <a:rPr lang="en-US" altLang="zh-TW" dirty="0">
                <a:latin typeface="Times New Roman" pitchFamily="18" charset="0"/>
                <a:cs typeface="Times New Roman" pitchFamily="18" charset="0"/>
              </a:rPr>
              <a:t>Introduction  - Algorithm</a:t>
            </a:r>
            <a:endParaRPr lang="zh-TW" altLang="en-US" dirty="0">
              <a:latin typeface="Times New Roman" pitchFamily="18" charset="0"/>
              <a:cs typeface="Times New Roman" pitchFamily="18" charset="0"/>
            </a:endParaRPr>
          </a:p>
        </p:txBody>
      </p:sp>
      <p:sp>
        <p:nvSpPr>
          <p:cNvPr id="3" name="內容版面配置區 2"/>
          <p:cNvSpPr>
            <a:spLocks noGrp="1"/>
          </p:cNvSpPr>
          <p:nvPr>
            <p:ph idx="1"/>
          </p:nvPr>
        </p:nvSpPr>
        <p:spPr>
          <a:xfrm>
            <a:off x="457200" y="1357298"/>
            <a:ext cx="8229600" cy="5500702"/>
          </a:xfrm>
        </p:spPr>
        <p:txBody>
          <a:bodyPr>
            <a:normAutofit fontScale="92500" lnSpcReduction="10000"/>
          </a:bodyPr>
          <a:lstStyle/>
          <a:p>
            <a:r>
              <a:rPr lang="en-US" altLang="zh-TW" dirty="0">
                <a:latin typeface="Times New Roman" pitchFamily="18" charset="0"/>
                <a:cs typeface="Times New Roman" pitchFamily="18" charset="0"/>
              </a:rPr>
              <a:t>Divide in two type</a:t>
            </a:r>
          </a:p>
          <a:p>
            <a:pPr lvl="1"/>
            <a:r>
              <a:rPr lang="en-US" altLang="zh-TW" dirty="0">
                <a:latin typeface="Times New Roman" pitchFamily="18" charset="0"/>
                <a:cs typeface="Times New Roman" pitchFamily="18" charset="0"/>
              </a:rPr>
              <a:t>Optimal alignment algorithm</a:t>
            </a:r>
          </a:p>
          <a:p>
            <a:pPr lvl="2"/>
            <a:r>
              <a:rPr lang="en-US" altLang="zh-TW" dirty="0">
                <a:latin typeface="Times New Roman" pitchFamily="18" charset="0"/>
                <a:cs typeface="Times New Roman" pitchFamily="18" charset="0"/>
              </a:rPr>
              <a:t>Needleman-</a:t>
            </a:r>
            <a:r>
              <a:rPr lang="en-US" altLang="zh-TW" dirty="0" err="1">
                <a:latin typeface="Times New Roman" pitchFamily="18" charset="0"/>
                <a:cs typeface="Times New Roman" pitchFamily="18" charset="0"/>
              </a:rPr>
              <a:t>Wunsch</a:t>
            </a:r>
            <a:r>
              <a:rPr lang="en-US" altLang="zh-TW" dirty="0">
                <a:latin typeface="Times New Roman" pitchFamily="18" charset="0"/>
                <a:cs typeface="Times New Roman" pitchFamily="18" charset="0"/>
              </a:rPr>
              <a:t> algorithm</a:t>
            </a:r>
          </a:p>
          <a:p>
            <a:pPr lvl="2"/>
            <a:r>
              <a:rPr lang="en-US" altLang="zh-TW" dirty="0">
                <a:latin typeface="Times New Roman" pitchFamily="18" charset="0"/>
                <a:cs typeface="Times New Roman" pitchFamily="18" charset="0"/>
              </a:rPr>
              <a:t>Smith-Waterman algorithm</a:t>
            </a:r>
            <a:br>
              <a:rPr lang="en-US" altLang="zh-TW" dirty="0">
                <a:latin typeface="Times New Roman" pitchFamily="18" charset="0"/>
                <a:cs typeface="Times New Roman" pitchFamily="18" charset="0"/>
              </a:rPr>
            </a:br>
            <a:endParaRPr lang="en-US" altLang="zh-TW" dirty="0">
              <a:latin typeface="Times New Roman" pitchFamily="18" charset="0"/>
              <a:cs typeface="Times New Roman" pitchFamily="18" charset="0"/>
            </a:endParaRPr>
          </a:p>
          <a:p>
            <a:pPr lvl="1"/>
            <a:r>
              <a:rPr lang="en-US" altLang="zh-TW" dirty="0">
                <a:latin typeface="Times New Roman" pitchFamily="18" charset="0"/>
                <a:cs typeface="Times New Roman" pitchFamily="18" charset="0"/>
              </a:rPr>
              <a:t>Heuristic alignment algorithm</a:t>
            </a:r>
          </a:p>
          <a:p>
            <a:pPr lvl="2"/>
            <a:r>
              <a:rPr lang="en-US" altLang="zh-TW" dirty="0">
                <a:latin typeface="Times New Roman" pitchFamily="18" charset="0"/>
                <a:cs typeface="Times New Roman" pitchFamily="18" charset="0"/>
              </a:rPr>
              <a:t>FASTA</a:t>
            </a:r>
          </a:p>
          <a:p>
            <a:pPr lvl="2"/>
            <a:r>
              <a:rPr lang="en-US" altLang="zh-TW" dirty="0">
                <a:latin typeface="Times New Roman" pitchFamily="18" charset="0"/>
                <a:cs typeface="Times New Roman" pitchFamily="18" charset="0"/>
              </a:rPr>
              <a:t>BLAST</a:t>
            </a:r>
            <a:r>
              <a:rPr lang="zh-TW" altLang="en-US" dirty="0">
                <a:latin typeface="Times New Roman" pitchFamily="18" charset="0"/>
                <a:cs typeface="Times New Roman" pitchFamily="18" charset="0"/>
              </a:rPr>
              <a:t> </a:t>
            </a:r>
            <a:r>
              <a:rPr lang="en-US" altLang="zh-TW" dirty="0">
                <a:latin typeface="Times New Roman" pitchFamily="18" charset="0"/>
                <a:cs typeface="Times New Roman" pitchFamily="18" charset="0"/>
              </a:rPr>
              <a:t>/</a:t>
            </a:r>
            <a:r>
              <a:rPr lang="zh-TW" altLang="en-US" dirty="0">
                <a:latin typeface="Times New Roman" pitchFamily="18" charset="0"/>
                <a:cs typeface="Times New Roman" pitchFamily="18" charset="0"/>
              </a:rPr>
              <a:t> </a:t>
            </a:r>
            <a:r>
              <a:rPr lang="en-US" altLang="zh-TW" dirty="0">
                <a:latin typeface="Times New Roman" pitchFamily="18" charset="0"/>
                <a:cs typeface="Times New Roman" pitchFamily="18" charset="0"/>
              </a:rPr>
              <a:t>BLAT</a:t>
            </a:r>
            <a:r>
              <a:rPr lang="zh-TW" altLang="en-US" dirty="0">
                <a:latin typeface="Times New Roman" pitchFamily="18" charset="0"/>
                <a:cs typeface="Times New Roman" pitchFamily="18" charset="0"/>
              </a:rPr>
              <a:t> </a:t>
            </a:r>
            <a:r>
              <a:rPr lang="en-US" altLang="zh-TW" dirty="0">
                <a:latin typeface="Times New Roman" pitchFamily="18" charset="0"/>
                <a:cs typeface="Times New Roman" pitchFamily="18" charset="0"/>
              </a:rPr>
              <a:t>/</a:t>
            </a:r>
            <a:r>
              <a:rPr lang="zh-TW" altLang="en-US" dirty="0">
                <a:latin typeface="Times New Roman" pitchFamily="18" charset="0"/>
                <a:cs typeface="Times New Roman" pitchFamily="18" charset="0"/>
              </a:rPr>
              <a:t> </a:t>
            </a:r>
            <a:r>
              <a:rPr lang="en-US" altLang="zh-TW" dirty="0">
                <a:latin typeface="Times New Roman" pitchFamily="18" charset="0"/>
                <a:cs typeface="Times New Roman" pitchFamily="18" charset="0"/>
              </a:rPr>
              <a:t>BLASTZ</a:t>
            </a:r>
          </a:p>
          <a:p>
            <a:pPr lvl="2"/>
            <a:r>
              <a:rPr lang="en-US" altLang="zh-TW" dirty="0" err="1">
                <a:latin typeface="Times New Roman" pitchFamily="18" charset="0"/>
                <a:cs typeface="Times New Roman" pitchFamily="18" charset="0"/>
              </a:rPr>
              <a:t>PatternHunter</a:t>
            </a:r>
            <a:endParaRPr lang="en-US" altLang="zh-TW" dirty="0">
              <a:latin typeface="Times New Roman" pitchFamily="18" charset="0"/>
              <a:cs typeface="Times New Roman" pitchFamily="18" charset="0"/>
            </a:endParaRPr>
          </a:p>
          <a:p>
            <a:pPr lvl="2"/>
            <a:r>
              <a:rPr lang="en-US" altLang="zh-TW" dirty="0">
                <a:latin typeface="Times New Roman" pitchFamily="18" charset="0"/>
                <a:cs typeface="Times New Roman" pitchFamily="18" charset="0"/>
              </a:rPr>
              <a:t>MASAA</a:t>
            </a:r>
          </a:p>
          <a:p>
            <a:pPr lvl="2"/>
            <a:r>
              <a:rPr lang="en-US" altLang="zh-TW" dirty="0" err="1">
                <a:latin typeface="Times New Roman" pitchFamily="18" charset="0"/>
                <a:cs typeface="Times New Roman" pitchFamily="18" charset="0"/>
              </a:rPr>
              <a:t>MUMmer</a:t>
            </a:r>
            <a:endParaRPr lang="en-US" altLang="zh-TW" dirty="0">
              <a:latin typeface="Times New Roman" pitchFamily="18" charset="0"/>
              <a:cs typeface="Times New Roman" pitchFamily="18" charset="0"/>
            </a:endParaRPr>
          </a:p>
          <a:p>
            <a:pPr lvl="2"/>
            <a:r>
              <a:rPr lang="en-US" altLang="zh-TW" dirty="0">
                <a:latin typeface="Times New Roman" pitchFamily="18" charset="0"/>
                <a:cs typeface="Times New Roman" pitchFamily="18" charset="0"/>
              </a:rPr>
              <a:t>GLASS</a:t>
            </a:r>
          </a:p>
          <a:p>
            <a:pPr lvl="2"/>
            <a:r>
              <a:rPr lang="en-US" altLang="zh-TW" dirty="0">
                <a:latin typeface="Times New Roman" pitchFamily="18" charset="0"/>
                <a:cs typeface="Times New Roman" pitchFamily="18" charset="0"/>
              </a:rPr>
              <a:t>AVID</a:t>
            </a:r>
          </a:p>
          <a:p>
            <a:pPr lvl="2"/>
            <a:r>
              <a:rPr lang="en-US" altLang="zh-TW" dirty="0">
                <a:latin typeface="Times New Roman" pitchFamily="18" charset="0"/>
                <a:cs typeface="Times New Roman" pitchFamily="18" charset="0"/>
              </a:rPr>
              <a:t>LAGAN</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pPr algn="l"/>
            <a:r>
              <a:rPr lang="en-US" altLang="zh-TW" dirty="0">
                <a:latin typeface="Times New Roman" pitchFamily="18" charset="0"/>
                <a:cs typeface="Times New Roman" pitchFamily="18" charset="0"/>
              </a:rPr>
              <a:t>Introduction – Optimal algorithm</a:t>
            </a:r>
            <a:endParaRPr lang="zh-TW" altLang="en-US" dirty="0">
              <a:latin typeface="Times New Roman" pitchFamily="18" charset="0"/>
              <a:cs typeface="Times New Roman" pitchFamily="18" charset="0"/>
            </a:endParaRPr>
          </a:p>
        </p:txBody>
      </p:sp>
      <p:pic>
        <p:nvPicPr>
          <p:cNvPr id="6" name="內容版面配置區 5" descr="Smith-Waterman-Algorithm-Example.gif"/>
          <p:cNvPicPr>
            <a:picLocks noGrp="1" noChangeAspect="1"/>
          </p:cNvPicPr>
          <p:nvPr>
            <p:ph idx="1"/>
          </p:nvPr>
        </p:nvPicPr>
        <p:blipFill>
          <a:blip r:embed="rId2" cstate="print"/>
          <a:stretch>
            <a:fillRect/>
          </a:stretch>
        </p:blipFill>
        <p:spPr>
          <a:xfrm>
            <a:off x="5500694" y="1600163"/>
            <a:ext cx="3286148" cy="5257837"/>
          </a:xfrm>
        </p:spPr>
      </p:pic>
      <p:pic>
        <p:nvPicPr>
          <p:cNvPr id="5" name="圖片 4" descr="Needleman-Wunsch_pairwise_sequence_alignment.png"/>
          <p:cNvPicPr>
            <a:picLocks noChangeAspect="1"/>
          </p:cNvPicPr>
          <p:nvPr/>
        </p:nvPicPr>
        <p:blipFill>
          <a:blip r:embed="rId3" cstate="print"/>
          <a:stretch>
            <a:fillRect/>
          </a:stretch>
        </p:blipFill>
        <p:spPr>
          <a:xfrm>
            <a:off x="0" y="1571612"/>
            <a:ext cx="5072075" cy="5072075"/>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pPr algn="l"/>
            <a:r>
              <a:rPr lang="en-US" altLang="zh-TW" dirty="0">
                <a:latin typeface="Times New Roman" pitchFamily="18" charset="0"/>
                <a:cs typeface="Times New Roman" pitchFamily="18" charset="0"/>
              </a:rPr>
              <a:t>Introduction – Heuristic algorithm</a:t>
            </a:r>
            <a:endParaRPr lang="zh-TW" altLang="en-US" dirty="0">
              <a:latin typeface="Times New Roman" pitchFamily="18" charset="0"/>
              <a:cs typeface="Times New Roman" pitchFamily="18" charset="0"/>
            </a:endParaRPr>
          </a:p>
        </p:txBody>
      </p:sp>
      <p:sp>
        <p:nvSpPr>
          <p:cNvPr id="3" name="內容版面配置區 2"/>
          <p:cNvSpPr>
            <a:spLocks noGrp="1"/>
          </p:cNvSpPr>
          <p:nvPr>
            <p:ph idx="1"/>
          </p:nvPr>
        </p:nvSpPr>
        <p:spPr>
          <a:xfrm>
            <a:off x="457200" y="1214422"/>
            <a:ext cx="8229600" cy="4525963"/>
          </a:xfrm>
        </p:spPr>
        <p:txBody>
          <a:bodyPr/>
          <a:lstStyle/>
          <a:p>
            <a:r>
              <a:rPr lang="en-US" altLang="zh-TW" dirty="0">
                <a:latin typeface="Times New Roman" pitchFamily="18" charset="0"/>
                <a:cs typeface="Times New Roman" pitchFamily="18" charset="0"/>
              </a:rPr>
              <a:t>Usually use tool</a:t>
            </a:r>
          </a:p>
          <a:p>
            <a:pPr lvl="1"/>
            <a:r>
              <a:rPr lang="en-US" altLang="zh-TW" dirty="0">
                <a:latin typeface="Times New Roman" pitchFamily="18" charset="0"/>
                <a:cs typeface="Times New Roman" pitchFamily="18" charset="0"/>
              </a:rPr>
              <a:t>Look-up table</a:t>
            </a:r>
            <a:br>
              <a:rPr lang="en-US" altLang="zh-TW" dirty="0">
                <a:latin typeface="Times New Roman" pitchFamily="18" charset="0"/>
                <a:cs typeface="Times New Roman" pitchFamily="18" charset="0"/>
              </a:rPr>
            </a:br>
            <a:r>
              <a:rPr lang="en-US" altLang="zh-TW" dirty="0">
                <a:latin typeface="Times New Roman" pitchFamily="18" charset="0"/>
                <a:cs typeface="Times New Roman" pitchFamily="18" charset="0"/>
              </a:rPr>
              <a:t>	</a:t>
            </a:r>
            <a:r>
              <a:rPr lang="en-US" altLang="zh-TW" dirty="0">
                <a:latin typeface="FangSong" pitchFamily="49" charset="-122"/>
                <a:ea typeface="FangSong" pitchFamily="49" charset="-122"/>
                <a:cs typeface="Times New Roman" pitchFamily="18" charset="0"/>
              </a:rPr>
              <a:t>   1234567  </a:t>
            </a:r>
            <a:br>
              <a:rPr lang="en-US" altLang="zh-TW" dirty="0">
                <a:latin typeface="FangSong" pitchFamily="49" charset="-122"/>
                <a:ea typeface="FangSong" pitchFamily="49" charset="-122"/>
                <a:cs typeface="Times New Roman" pitchFamily="18" charset="0"/>
              </a:rPr>
            </a:br>
            <a:r>
              <a:rPr lang="en-US" altLang="zh-TW" dirty="0">
                <a:latin typeface="FangSong" pitchFamily="49" charset="-122"/>
                <a:ea typeface="FangSong" pitchFamily="49" charset="-122"/>
                <a:cs typeface="Times New Roman" pitchFamily="18" charset="0"/>
              </a:rPr>
              <a:t>S1= ATATCGG</a:t>
            </a:r>
            <a:br>
              <a:rPr lang="en-US" altLang="zh-TW" dirty="0">
                <a:latin typeface="FangSong" pitchFamily="49" charset="-122"/>
                <a:ea typeface="FangSong" pitchFamily="49" charset="-122"/>
                <a:cs typeface="Times New Roman" pitchFamily="18" charset="0"/>
              </a:rPr>
            </a:br>
            <a:r>
              <a:rPr lang="en-US" altLang="zh-TW" dirty="0">
                <a:latin typeface="FangSong" pitchFamily="49" charset="-122"/>
                <a:ea typeface="FangSong" pitchFamily="49" charset="-122"/>
                <a:cs typeface="Times New Roman" pitchFamily="18" charset="0"/>
              </a:rPr>
              <a:t>=&gt; A:1,3; T:2,4; C:5; G:6,7</a:t>
            </a:r>
          </a:p>
          <a:p>
            <a:pPr lvl="1"/>
            <a:r>
              <a:rPr lang="en-US" altLang="zh-TW" dirty="0">
                <a:latin typeface="Times New Roman" pitchFamily="18" charset="0"/>
                <a:cs typeface="Times New Roman" pitchFamily="18" charset="0"/>
              </a:rPr>
              <a:t>Suffix tree</a:t>
            </a:r>
            <a:endParaRPr lang="zh-TW" altLang="en-US" dirty="0">
              <a:latin typeface="Times New Roman" pitchFamily="18" charset="0"/>
              <a:cs typeface="Times New Roman" pitchFamily="18" charset="0"/>
            </a:endParaRPr>
          </a:p>
        </p:txBody>
      </p:sp>
      <p:pic>
        <p:nvPicPr>
          <p:cNvPr id="7" name="圖片 6" descr="7.PNG"/>
          <p:cNvPicPr>
            <a:picLocks noChangeAspect="1"/>
          </p:cNvPicPr>
          <p:nvPr/>
        </p:nvPicPr>
        <p:blipFill>
          <a:blip r:embed="rId2" cstate="print"/>
          <a:stretch>
            <a:fillRect/>
          </a:stretch>
        </p:blipFill>
        <p:spPr>
          <a:xfrm>
            <a:off x="1714480" y="4071942"/>
            <a:ext cx="4651452" cy="2786058"/>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pPr algn="l"/>
            <a:r>
              <a:rPr lang="en-US" altLang="zh-TW" dirty="0">
                <a:latin typeface="Times New Roman" pitchFamily="18" charset="0"/>
                <a:cs typeface="Times New Roman" pitchFamily="18" charset="0"/>
              </a:rPr>
              <a:t>Introduction – Heuristic algorithm</a:t>
            </a:r>
            <a:endParaRPr lang="zh-TW" altLang="en-US" dirty="0">
              <a:latin typeface="Times New Roman" pitchFamily="18" charset="0"/>
              <a:cs typeface="Times New Roman" pitchFamily="18" charset="0"/>
            </a:endParaRPr>
          </a:p>
        </p:txBody>
      </p:sp>
      <p:sp>
        <p:nvSpPr>
          <p:cNvPr id="3" name="內容版面配置區 2"/>
          <p:cNvSpPr>
            <a:spLocks noGrp="1"/>
          </p:cNvSpPr>
          <p:nvPr>
            <p:ph idx="1"/>
          </p:nvPr>
        </p:nvSpPr>
        <p:spPr>
          <a:xfrm>
            <a:off x="457200" y="1214422"/>
            <a:ext cx="8229600" cy="5643578"/>
          </a:xfrm>
        </p:spPr>
        <p:txBody>
          <a:bodyPr>
            <a:normAutofit/>
          </a:bodyPr>
          <a:lstStyle/>
          <a:p>
            <a:r>
              <a:rPr lang="en-US" altLang="zh-TW" dirty="0">
                <a:latin typeface="Times New Roman" pitchFamily="18" charset="0"/>
                <a:cs typeface="Times New Roman" pitchFamily="18" charset="0"/>
              </a:rPr>
              <a:t>There are three basic steps</a:t>
            </a:r>
          </a:p>
          <a:p>
            <a:pPr lvl="1"/>
            <a:r>
              <a:rPr lang="en-US" altLang="zh-TW" dirty="0">
                <a:latin typeface="Times New Roman" pitchFamily="18" charset="0"/>
                <a:cs typeface="Times New Roman" pitchFamily="18" charset="0"/>
              </a:rPr>
              <a:t>Index</a:t>
            </a:r>
            <a:br>
              <a:rPr lang="en-US" altLang="zh-TW" dirty="0">
                <a:latin typeface="Times New Roman" pitchFamily="18" charset="0"/>
                <a:cs typeface="Times New Roman" pitchFamily="18" charset="0"/>
              </a:rPr>
            </a:br>
            <a:r>
              <a:rPr lang="en-US" altLang="zh-TW" dirty="0">
                <a:latin typeface="Times New Roman" pitchFamily="18" charset="0"/>
                <a:cs typeface="Times New Roman" pitchFamily="18" charset="0"/>
              </a:rPr>
              <a:t>ex: look-up table</a:t>
            </a:r>
          </a:p>
          <a:p>
            <a:pPr lvl="1"/>
            <a:r>
              <a:rPr lang="en-US" altLang="zh-TW" dirty="0">
                <a:latin typeface="Times New Roman" pitchFamily="18" charset="0"/>
                <a:cs typeface="Times New Roman" pitchFamily="18" charset="0"/>
              </a:rPr>
              <a:t>Identify seeds</a:t>
            </a:r>
            <a:br>
              <a:rPr lang="en-US" altLang="zh-TW" dirty="0">
                <a:latin typeface="Times New Roman" pitchFamily="18" charset="0"/>
                <a:cs typeface="Times New Roman" pitchFamily="18" charset="0"/>
              </a:rPr>
            </a:br>
            <a:r>
              <a:rPr lang="en-US" altLang="zh-TW" dirty="0">
                <a:latin typeface="Times New Roman" pitchFamily="18" charset="0"/>
                <a:cs typeface="Times New Roman" pitchFamily="18" charset="0"/>
              </a:rPr>
              <a:t>ex:</a:t>
            </a:r>
            <a:br>
              <a:rPr lang="en-US" altLang="zh-TW" dirty="0">
                <a:latin typeface="Times New Roman" pitchFamily="18" charset="0"/>
                <a:cs typeface="Times New Roman" pitchFamily="18" charset="0"/>
              </a:rPr>
            </a:br>
            <a:br>
              <a:rPr lang="en-US" altLang="zh-TW" dirty="0">
                <a:latin typeface="Times New Roman" pitchFamily="18" charset="0"/>
                <a:cs typeface="Times New Roman" pitchFamily="18" charset="0"/>
              </a:rPr>
            </a:br>
            <a:br>
              <a:rPr lang="en-US" altLang="zh-TW" dirty="0">
                <a:latin typeface="Times New Roman" pitchFamily="18" charset="0"/>
                <a:cs typeface="Times New Roman" pitchFamily="18" charset="0"/>
              </a:rPr>
            </a:br>
            <a:br>
              <a:rPr lang="en-US" altLang="zh-TW" dirty="0">
                <a:latin typeface="Times New Roman" pitchFamily="18" charset="0"/>
                <a:cs typeface="Times New Roman" pitchFamily="18" charset="0"/>
              </a:rPr>
            </a:br>
            <a:br>
              <a:rPr lang="en-US" altLang="zh-TW" dirty="0">
                <a:latin typeface="Times New Roman" pitchFamily="18" charset="0"/>
                <a:cs typeface="Times New Roman" pitchFamily="18" charset="0"/>
              </a:rPr>
            </a:br>
            <a:endParaRPr lang="en-US" altLang="zh-TW" dirty="0">
              <a:latin typeface="Times New Roman" pitchFamily="18" charset="0"/>
              <a:cs typeface="Times New Roman" pitchFamily="18" charset="0"/>
            </a:endParaRPr>
          </a:p>
          <a:p>
            <a:pPr lvl="1"/>
            <a:r>
              <a:rPr lang="en-US" altLang="zh-TW" dirty="0">
                <a:latin typeface="Times New Roman" pitchFamily="18" charset="0"/>
                <a:cs typeface="Times New Roman" pitchFamily="18" charset="0"/>
              </a:rPr>
              <a:t>Final compute / alignment</a:t>
            </a:r>
            <a:br>
              <a:rPr lang="en-US" altLang="zh-TW" dirty="0">
                <a:latin typeface="Times New Roman" pitchFamily="18" charset="0"/>
                <a:cs typeface="Times New Roman" pitchFamily="18" charset="0"/>
              </a:rPr>
            </a:br>
            <a:r>
              <a:rPr lang="en-US" altLang="zh-TW" dirty="0">
                <a:latin typeface="Times New Roman" pitchFamily="18" charset="0"/>
                <a:cs typeface="Times New Roman" pitchFamily="18" charset="0"/>
              </a:rPr>
              <a:t>ex: compute remain sequence score</a:t>
            </a:r>
          </a:p>
        </p:txBody>
      </p:sp>
      <p:pic>
        <p:nvPicPr>
          <p:cNvPr id="9" name="圖片 8" descr="3.PNG"/>
          <p:cNvPicPr>
            <a:picLocks noChangeAspect="1"/>
          </p:cNvPicPr>
          <p:nvPr/>
        </p:nvPicPr>
        <p:blipFill>
          <a:blip r:embed="rId2" cstate="print"/>
          <a:stretch>
            <a:fillRect/>
          </a:stretch>
        </p:blipFill>
        <p:spPr>
          <a:xfrm>
            <a:off x="1705434" y="3214686"/>
            <a:ext cx="4795392" cy="2214578"/>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pPr algn="l"/>
            <a:r>
              <a:rPr lang="en-US" altLang="zh-TW" dirty="0">
                <a:latin typeface="Times New Roman" pitchFamily="18" charset="0"/>
                <a:cs typeface="Times New Roman" pitchFamily="18" charset="0"/>
              </a:rPr>
              <a:t>Local alignment</a:t>
            </a:r>
            <a:endParaRPr lang="zh-TW" altLang="en-US" dirty="0">
              <a:latin typeface="Times New Roman" pitchFamily="18" charset="0"/>
              <a:cs typeface="Times New Roman" pitchFamily="18" charset="0"/>
            </a:endParaRPr>
          </a:p>
        </p:txBody>
      </p:sp>
      <p:sp>
        <p:nvSpPr>
          <p:cNvPr id="3" name="內容版面配置區 2"/>
          <p:cNvSpPr>
            <a:spLocks noGrp="1"/>
          </p:cNvSpPr>
          <p:nvPr>
            <p:ph idx="1"/>
          </p:nvPr>
        </p:nvSpPr>
        <p:spPr>
          <a:xfrm>
            <a:off x="457200" y="1357298"/>
            <a:ext cx="8229600" cy="5500702"/>
          </a:xfrm>
        </p:spPr>
        <p:txBody>
          <a:bodyPr>
            <a:normAutofit/>
          </a:bodyPr>
          <a:lstStyle/>
          <a:p>
            <a:r>
              <a:rPr lang="en-US" altLang="zh-TW" dirty="0">
                <a:latin typeface="Times New Roman" pitchFamily="18" charset="0"/>
                <a:cs typeface="Times New Roman" pitchFamily="18" charset="0"/>
              </a:rPr>
              <a:t>FASTA</a:t>
            </a:r>
          </a:p>
          <a:p>
            <a:endParaRPr lang="en-US" altLang="zh-TW" dirty="0">
              <a:latin typeface="Times New Roman" pitchFamily="18" charset="0"/>
              <a:cs typeface="Times New Roman" pitchFamily="18" charset="0"/>
            </a:endParaRPr>
          </a:p>
          <a:p>
            <a:r>
              <a:rPr lang="en-US" altLang="zh-TW" dirty="0">
                <a:latin typeface="Times New Roman" pitchFamily="18" charset="0"/>
                <a:cs typeface="Times New Roman" pitchFamily="18" charset="0"/>
              </a:rPr>
              <a:t>BLAST</a:t>
            </a:r>
            <a:r>
              <a:rPr lang="zh-TW" altLang="en-US" dirty="0">
                <a:latin typeface="Times New Roman" pitchFamily="18" charset="0"/>
                <a:cs typeface="Times New Roman" pitchFamily="18" charset="0"/>
              </a:rPr>
              <a:t> </a:t>
            </a:r>
            <a:r>
              <a:rPr lang="en-US" altLang="zh-TW" dirty="0">
                <a:latin typeface="Times New Roman" pitchFamily="18" charset="0"/>
                <a:cs typeface="Times New Roman" pitchFamily="18" charset="0"/>
              </a:rPr>
              <a:t>/</a:t>
            </a:r>
            <a:r>
              <a:rPr lang="zh-TW" altLang="en-US" dirty="0">
                <a:latin typeface="Times New Roman" pitchFamily="18" charset="0"/>
                <a:cs typeface="Times New Roman" pitchFamily="18" charset="0"/>
              </a:rPr>
              <a:t> </a:t>
            </a:r>
            <a:r>
              <a:rPr lang="en-US" altLang="zh-TW" dirty="0">
                <a:latin typeface="Times New Roman" pitchFamily="18" charset="0"/>
                <a:cs typeface="Times New Roman" pitchFamily="18" charset="0"/>
              </a:rPr>
              <a:t>BLAT</a:t>
            </a:r>
            <a:r>
              <a:rPr lang="zh-TW" altLang="en-US" dirty="0">
                <a:latin typeface="Times New Roman" pitchFamily="18" charset="0"/>
                <a:cs typeface="Times New Roman" pitchFamily="18" charset="0"/>
              </a:rPr>
              <a:t> </a:t>
            </a:r>
            <a:r>
              <a:rPr lang="en-US" altLang="zh-TW" dirty="0">
                <a:latin typeface="Times New Roman" pitchFamily="18" charset="0"/>
                <a:cs typeface="Times New Roman" pitchFamily="18" charset="0"/>
              </a:rPr>
              <a:t>/</a:t>
            </a:r>
            <a:r>
              <a:rPr lang="zh-TW" altLang="en-US" dirty="0">
                <a:latin typeface="Times New Roman" pitchFamily="18" charset="0"/>
                <a:cs typeface="Times New Roman" pitchFamily="18" charset="0"/>
              </a:rPr>
              <a:t> </a:t>
            </a:r>
            <a:r>
              <a:rPr lang="en-US" altLang="zh-TW" dirty="0">
                <a:latin typeface="Times New Roman" pitchFamily="18" charset="0"/>
                <a:cs typeface="Times New Roman" pitchFamily="18" charset="0"/>
              </a:rPr>
              <a:t>BLASTZ</a:t>
            </a:r>
          </a:p>
          <a:p>
            <a:endParaRPr lang="en-US" altLang="zh-TW" dirty="0">
              <a:latin typeface="Times New Roman" pitchFamily="18" charset="0"/>
              <a:cs typeface="Times New Roman" pitchFamily="18" charset="0"/>
            </a:endParaRPr>
          </a:p>
          <a:p>
            <a:r>
              <a:rPr lang="en-US" altLang="zh-TW" dirty="0" err="1">
                <a:latin typeface="Times New Roman" pitchFamily="18" charset="0"/>
                <a:cs typeface="Times New Roman" pitchFamily="18" charset="0"/>
              </a:rPr>
              <a:t>PatternHunter</a:t>
            </a:r>
            <a:endParaRPr lang="en-US" altLang="zh-TW" dirty="0">
              <a:latin typeface="Times New Roman" pitchFamily="18" charset="0"/>
              <a:cs typeface="Times New Roman" pitchFamily="18" charset="0"/>
            </a:endParaRPr>
          </a:p>
          <a:p>
            <a:endParaRPr lang="en-US" altLang="zh-TW" dirty="0">
              <a:latin typeface="Times New Roman" pitchFamily="18" charset="0"/>
              <a:cs typeface="Times New Roman" pitchFamily="18" charset="0"/>
            </a:endParaRPr>
          </a:p>
          <a:p>
            <a:r>
              <a:rPr lang="en-US" altLang="zh-TW" dirty="0">
                <a:latin typeface="Times New Roman" pitchFamily="18" charset="0"/>
                <a:cs typeface="Times New Roman" pitchFamily="18" charset="0"/>
              </a:rPr>
              <a:t>MASAA</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pPr algn="l"/>
            <a:r>
              <a:rPr lang="en-US" altLang="zh-TW" dirty="0">
                <a:latin typeface="Times New Roman" pitchFamily="18" charset="0"/>
                <a:cs typeface="Times New Roman" pitchFamily="18" charset="0"/>
              </a:rPr>
              <a:t>FASTA</a:t>
            </a:r>
            <a:endParaRPr lang="zh-TW" altLang="en-US" dirty="0">
              <a:latin typeface="Times New Roman" pitchFamily="18" charset="0"/>
              <a:cs typeface="Times New Roman" pitchFamily="18" charset="0"/>
            </a:endParaRPr>
          </a:p>
        </p:txBody>
      </p:sp>
      <p:sp>
        <p:nvSpPr>
          <p:cNvPr id="3" name="內容版面配置區 2"/>
          <p:cNvSpPr>
            <a:spLocks noGrp="1"/>
          </p:cNvSpPr>
          <p:nvPr>
            <p:ph idx="1"/>
          </p:nvPr>
        </p:nvSpPr>
        <p:spPr>
          <a:xfrm>
            <a:off x="457200" y="1214422"/>
            <a:ext cx="8229600" cy="5643578"/>
          </a:xfrm>
        </p:spPr>
        <p:txBody>
          <a:bodyPr/>
          <a:lstStyle/>
          <a:p>
            <a:r>
              <a:rPr lang="en-US" altLang="zh-TW" dirty="0">
                <a:latin typeface="Times New Roman" pitchFamily="18" charset="0"/>
                <a:cs typeface="Times New Roman" pitchFamily="18" charset="0"/>
              </a:rPr>
              <a:t>Index by look-up table</a:t>
            </a:r>
          </a:p>
          <a:p>
            <a:r>
              <a:rPr lang="en-US" altLang="zh-TW" dirty="0">
                <a:latin typeface="Times New Roman" pitchFamily="18" charset="0"/>
                <a:cs typeface="Times New Roman" pitchFamily="18" charset="0"/>
              </a:rPr>
              <a:t>Identify perfect match seeds of length “k”</a:t>
            </a:r>
          </a:p>
          <a:p>
            <a:pPr lvl="1"/>
            <a:r>
              <a:rPr lang="en-US" altLang="zh-TW" dirty="0">
                <a:latin typeface="Times New Roman" pitchFamily="18" charset="0"/>
                <a:cs typeface="Times New Roman" pitchFamily="18" charset="0"/>
              </a:rPr>
              <a:t>Use “diagonal” method to find all seeds.</a:t>
            </a:r>
          </a:p>
          <a:p>
            <a:pPr lvl="1"/>
            <a:r>
              <a:rPr lang="en-US" altLang="zh-TW" dirty="0">
                <a:latin typeface="Times New Roman" pitchFamily="18" charset="0"/>
                <a:cs typeface="Times New Roman" pitchFamily="18" charset="0"/>
              </a:rPr>
              <a:t>Save best 10 seeds.</a:t>
            </a:r>
          </a:p>
          <a:p>
            <a:pPr lvl="1"/>
            <a:r>
              <a:rPr lang="en-US" altLang="zh-TW" dirty="0">
                <a:latin typeface="Times New Roman" pitchFamily="18" charset="0"/>
                <a:cs typeface="Times New Roman" pitchFamily="18" charset="0"/>
              </a:rPr>
              <a:t>Find “init1” (best score without gap) and cut seed since it lower than threshold </a:t>
            </a:r>
          </a:p>
          <a:p>
            <a:pPr lvl="1"/>
            <a:r>
              <a:rPr lang="en-US" altLang="zh-TW" dirty="0">
                <a:latin typeface="Times New Roman" pitchFamily="18" charset="0"/>
                <a:cs typeface="Times New Roman" pitchFamily="18" charset="0"/>
              </a:rPr>
              <a:t>Combine seeds and find “</a:t>
            </a:r>
            <a:r>
              <a:rPr lang="en-US" altLang="zh-TW" dirty="0" err="1">
                <a:latin typeface="Times New Roman" pitchFamily="18" charset="0"/>
                <a:cs typeface="Times New Roman" pitchFamily="18" charset="0"/>
              </a:rPr>
              <a:t>initn</a:t>
            </a:r>
            <a:r>
              <a:rPr lang="en-US" altLang="zh-TW" dirty="0">
                <a:latin typeface="Times New Roman" pitchFamily="18" charset="0"/>
                <a:cs typeface="Times New Roman" pitchFamily="18" charset="0"/>
              </a:rPr>
              <a:t>”(best combine without gap)</a:t>
            </a:r>
          </a:p>
          <a:p>
            <a:r>
              <a:rPr lang="en-US" altLang="zh-TW" dirty="0">
                <a:latin typeface="Times New Roman" pitchFamily="18" charset="0"/>
                <a:cs typeface="Times New Roman" pitchFamily="18" charset="0"/>
              </a:rPr>
              <a:t>Compute score(use SW)with region which extend “</a:t>
            </a:r>
            <a:r>
              <a:rPr lang="en-US" altLang="zh-TW" dirty="0" err="1">
                <a:latin typeface="Times New Roman" pitchFamily="18" charset="0"/>
                <a:cs typeface="Times New Roman" pitchFamily="18" charset="0"/>
              </a:rPr>
              <a:t>initn</a:t>
            </a:r>
            <a:r>
              <a:rPr lang="en-US" altLang="zh-TW" dirty="0">
                <a:latin typeface="Times New Roman" pitchFamily="18" charset="0"/>
                <a:cs typeface="Times New Roman" pitchFamily="18" charset="0"/>
              </a:rPr>
              <a:t>” of k length</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pPr algn="l"/>
            <a:r>
              <a:rPr lang="en-US" altLang="zh-TW" dirty="0">
                <a:latin typeface="Times New Roman" pitchFamily="18" charset="0"/>
                <a:cs typeface="Times New Roman" pitchFamily="18" charset="0"/>
              </a:rPr>
              <a:t>FASTA - disadvantage</a:t>
            </a:r>
            <a:endParaRPr lang="zh-TW" altLang="en-US" dirty="0">
              <a:latin typeface="Times New Roman" pitchFamily="18" charset="0"/>
              <a:cs typeface="Times New Roman" pitchFamily="18" charset="0"/>
            </a:endParaRPr>
          </a:p>
        </p:txBody>
      </p:sp>
      <p:sp>
        <p:nvSpPr>
          <p:cNvPr id="3" name="內容版面配置區 2"/>
          <p:cNvSpPr>
            <a:spLocks noGrp="1"/>
          </p:cNvSpPr>
          <p:nvPr>
            <p:ph idx="1"/>
          </p:nvPr>
        </p:nvSpPr>
        <p:spPr>
          <a:xfrm>
            <a:off x="457200" y="1214422"/>
            <a:ext cx="8229600" cy="5643578"/>
          </a:xfrm>
        </p:spPr>
        <p:txBody>
          <a:bodyPr/>
          <a:lstStyle/>
          <a:p>
            <a:r>
              <a:rPr lang="en-US" altLang="zh-TW" dirty="0">
                <a:latin typeface="Times New Roman" pitchFamily="18" charset="0"/>
                <a:cs typeface="Times New Roman" pitchFamily="18" charset="0"/>
              </a:rPr>
              <a:t>If sequences have homology ,</a:t>
            </a:r>
            <a:br>
              <a:rPr lang="en-US" altLang="zh-TW" dirty="0">
                <a:latin typeface="Times New Roman" pitchFamily="18" charset="0"/>
                <a:cs typeface="Times New Roman" pitchFamily="18" charset="0"/>
              </a:rPr>
            </a:br>
            <a:r>
              <a:rPr lang="en-US" altLang="zh-TW" dirty="0">
                <a:latin typeface="Times New Roman" pitchFamily="18" charset="0"/>
                <a:cs typeface="Times New Roman" pitchFamily="18" charset="0"/>
              </a:rPr>
              <a:t>just find first region</a:t>
            </a:r>
          </a:p>
          <a:p>
            <a:endParaRPr lang="en-US" altLang="zh-TW" dirty="0">
              <a:latin typeface="Times New Roman" pitchFamily="18" charset="0"/>
              <a:cs typeface="Times New Roman" pitchFamily="18" charset="0"/>
            </a:endParaRPr>
          </a:p>
          <a:p>
            <a:r>
              <a:rPr lang="en-US" altLang="zh-TW" dirty="0">
                <a:latin typeface="Times New Roman" pitchFamily="18" charset="0"/>
                <a:cs typeface="Times New Roman" pitchFamily="18" charset="0"/>
              </a:rPr>
              <a:t>If the length of seed is less than “k”, it could be missed.</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pPr algn="l"/>
            <a:r>
              <a:rPr lang="en-US" altLang="zh-TW" dirty="0">
                <a:latin typeface="Times New Roman" pitchFamily="18" charset="0"/>
                <a:cs typeface="Times New Roman" pitchFamily="18" charset="0"/>
              </a:rPr>
              <a:t>BLAST</a:t>
            </a:r>
            <a:endParaRPr lang="zh-TW" altLang="en-US" dirty="0">
              <a:latin typeface="Times New Roman" pitchFamily="18" charset="0"/>
              <a:cs typeface="Times New Roman" pitchFamily="18" charset="0"/>
            </a:endParaRPr>
          </a:p>
        </p:txBody>
      </p:sp>
      <p:sp>
        <p:nvSpPr>
          <p:cNvPr id="3" name="內容版面配置區 2"/>
          <p:cNvSpPr>
            <a:spLocks noGrp="1"/>
          </p:cNvSpPr>
          <p:nvPr>
            <p:ph idx="1"/>
          </p:nvPr>
        </p:nvSpPr>
        <p:spPr>
          <a:xfrm>
            <a:off x="457200" y="1214422"/>
            <a:ext cx="8543956" cy="5643578"/>
          </a:xfrm>
        </p:spPr>
        <p:txBody>
          <a:bodyPr/>
          <a:lstStyle/>
          <a:p>
            <a:r>
              <a:rPr lang="en-US" altLang="zh-TW" dirty="0">
                <a:latin typeface="Times New Roman" pitchFamily="18" charset="0"/>
                <a:cs typeface="Times New Roman" pitchFamily="18" charset="0"/>
              </a:rPr>
              <a:t>Index by look-up table</a:t>
            </a:r>
          </a:p>
          <a:p>
            <a:r>
              <a:rPr lang="en-US" altLang="zh-TW" dirty="0">
                <a:latin typeface="Times New Roman" pitchFamily="18" charset="0"/>
                <a:cs typeface="Times New Roman" pitchFamily="18" charset="0"/>
              </a:rPr>
              <a:t>Identify perfect match seeds of length “k”</a:t>
            </a:r>
            <a:br>
              <a:rPr lang="en-US" altLang="zh-TW" dirty="0">
                <a:latin typeface="Times New Roman" pitchFamily="18" charset="0"/>
                <a:cs typeface="Times New Roman" pitchFamily="18" charset="0"/>
              </a:rPr>
            </a:br>
            <a:r>
              <a:rPr lang="en-US" altLang="zh-TW" dirty="0">
                <a:latin typeface="Times New Roman" pitchFamily="18" charset="0"/>
                <a:cs typeface="Times New Roman" pitchFamily="18" charset="0"/>
              </a:rPr>
              <a:t>(protein : 3, genome : 11 )</a:t>
            </a:r>
          </a:p>
          <a:p>
            <a:pPr lvl="1"/>
            <a:r>
              <a:rPr lang="en-US" altLang="zh-TW" dirty="0">
                <a:latin typeface="Times New Roman" pitchFamily="18" charset="0"/>
                <a:cs typeface="Times New Roman" pitchFamily="18" charset="0"/>
              </a:rPr>
              <a:t>Use threshold “t” to filter seeds (</a:t>
            </a:r>
            <a:r>
              <a:rPr lang="en-US" altLang="zh-TW" dirty="0" err="1">
                <a:latin typeface="Times New Roman" pitchFamily="18" charset="0"/>
                <a:cs typeface="Times New Roman" pitchFamily="18" charset="0"/>
              </a:rPr>
              <a:t>neighbourhood</a:t>
            </a:r>
            <a:r>
              <a:rPr lang="en-US" altLang="zh-TW" dirty="0">
                <a:latin typeface="Times New Roman" pitchFamily="18" charset="0"/>
                <a:cs typeface="Times New Roman" pitchFamily="18" charset="0"/>
              </a:rPr>
              <a:t>)</a:t>
            </a:r>
          </a:p>
          <a:p>
            <a:pPr lvl="1"/>
            <a:r>
              <a:rPr lang="en-US" altLang="zh-TW" dirty="0">
                <a:latin typeface="Times New Roman" pitchFamily="18" charset="0"/>
                <a:cs typeface="Times New Roman" pitchFamily="18" charset="0"/>
              </a:rPr>
              <a:t>Extend all seeds both direction without gap until score less than “t”.</a:t>
            </a:r>
            <a:br>
              <a:rPr lang="en-US" altLang="zh-TW" dirty="0">
                <a:latin typeface="Times New Roman" pitchFamily="18" charset="0"/>
                <a:cs typeface="Times New Roman" pitchFamily="18" charset="0"/>
              </a:rPr>
            </a:br>
            <a:r>
              <a:rPr lang="en-US" altLang="zh-TW" dirty="0">
                <a:latin typeface="Times New Roman" pitchFamily="18" charset="0"/>
                <a:cs typeface="Times New Roman" pitchFamily="18" charset="0"/>
              </a:rPr>
              <a:t>Then, the remain seeds call “high scoring pair(HSP)”</a:t>
            </a:r>
          </a:p>
          <a:p>
            <a:pPr lvl="1"/>
            <a:endParaRPr lang="en-US" altLang="zh-TW" dirty="0">
              <a:latin typeface="Times New Roman" pitchFamily="18" charset="0"/>
              <a:cs typeface="Times New Roman" pitchFamily="18" charset="0"/>
            </a:endParaRPr>
          </a:p>
          <a:p>
            <a:r>
              <a:rPr lang="en-US" altLang="zh-TW" dirty="0">
                <a:latin typeface="Times New Roman" pitchFamily="18" charset="0"/>
                <a:cs typeface="Times New Roman" pitchFamily="18" charset="0"/>
              </a:rPr>
              <a:t>Compute score(use SW) with all “HSP”</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pPr algn="l"/>
            <a:r>
              <a:rPr lang="en-US" altLang="zh-TW" dirty="0">
                <a:latin typeface="Times New Roman" pitchFamily="18" charset="0"/>
                <a:cs typeface="Times New Roman" pitchFamily="18" charset="0"/>
              </a:rPr>
              <a:t>BLAST - disadvantage</a:t>
            </a:r>
            <a:endParaRPr lang="zh-TW" altLang="en-US" dirty="0">
              <a:latin typeface="Times New Roman" pitchFamily="18" charset="0"/>
              <a:cs typeface="Times New Roman" pitchFamily="18" charset="0"/>
            </a:endParaRPr>
          </a:p>
        </p:txBody>
      </p:sp>
      <p:sp>
        <p:nvSpPr>
          <p:cNvPr id="3" name="內容版面配置區 2"/>
          <p:cNvSpPr>
            <a:spLocks noGrp="1"/>
          </p:cNvSpPr>
          <p:nvPr>
            <p:ph idx="1"/>
          </p:nvPr>
        </p:nvSpPr>
        <p:spPr>
          <a:xfrm>
            <a:off x="457200" y="1214422"/>
            <a:ext cx="8229600" cy="5643578"/>
          </a:xfrm>
        </p:spPr>
        <p:txBody>
          <a:bodyPr/>
          <a:lstStyle/>
          <a:p>
            <a:r>
              <a:rPr lang="en-US" altLang="zh-TW" dirty="0">
                <a:latin typeface="Times New Roman" pitchFamily="18" charset="0"/>
                <a:cs typeface="Times New Roman" pitchFamily="18" charset="0"/>
              </a:rPr>
              <a:t>If the length of seed is less than “k”, it could be missed.</a:t>
            </a:r>
          </a:p>
          <a:p>
            <a:r>
              <a:rPr lang="en-US" altLang="zh-TW" dirty="0">
                <a:latin typeface="Times New Roman" pitchFamily="18" charset="0"/>
                <a:cs typeface="Times New Roman" pitchFamily="18" charset="0"/>
              </a:rPr>
              <a:t>It finds too many seeds, thus it reduces speed and does not allow gap in sequence</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pPr algn="l"/>
            <a:r>
              <a:rPr lang="en-US" altLang="zh-TW" dirty="0">
                <a:latin typeface="Times New Roman" pitchFamily="18" charset="0"/>
                <a:cs typeface="Times New Roman" pitchFamily="18" charset="0"/>
              </a:rPr>
              <a:t>BLAT  (like FASTA + BLAST)</a:t>
            </a:r>
            <a:endParaRPr lang="zh-TW" altLang="en-US" dirty="0">
              <a:latin typeface="Times New Roman" pitchFamily="18" charset="0"/>
              <a:cs typeface="Times New Roman" pitchFamily="18" charset="0"/>
            </a:endParaRPr>
          </a:p>
        </p:txBody>
      </p:sp>
      <p:sp>
        <p:nvSpPr>
          <p:cNvPr id="3" name="內容版面配置區 2"/>
          <p:cNvSpPr>
            <a:spLocks noGrp="1"/>
          </p:cNvSpPr>
          <p:nvPr>
            <p:ph idx="1"/>
          </p:nvPr>
        </p:nvSpPr>
        <p:spPr>
          <a:xfrm>
            <a:off x="457200" y="1214422"/>
            <a:ext cx="8543956" cy="5643578"/>
          </a:xfrm>
        </p:spPr>
        <p:txBody>
          <a:bodyPr/>
          <a:lstStyle/>
          <a:p>
            <a:r>
              <a:rPr lang="en-US" altLang="zh-TW" dirty="0">
                <a:latin typeface="Times New Roman" pitchFamily="18" charset="0"/>
                <a:cs typeface="Times New Roman" pitchFamily="18" charset="0"/>
              </a:rPr>
              <a:t>Index by look-up table</a:t>
            </a:r>
          </a:p>
          <a:p>
            <a:r>
              <a:rPr lang="en-US" altLang="zh-TW" dirty="0">
                <a:latin typeface="Times New Roman" pitchFamily="18" charset="0"/>
                <a:cs typeface="Times New Roman" pitchFamily="18" charset="0"/>
              </a:rPr>
              <a:t>Identify perfect match seeds of length “k”</a:t>
            </a:r>
          </a:p>
          <a:p>
            <a:pPr lvl="1"/>
            <a:r>
              <a:rPr lang="en-US" altLang="zh-TW" dirty="0">
                <a:latin typeface="Times New Roman" pitchFamily="18" charset="0"/>
                <a:cs typeface="Times New Roman" pitchFamily="18" charset="0"/>
              </a:rPr>
              <a:t>Find seeds which are not overlapping</a:t>
            </a:r>
          </a:p>
          <a:p>
            <a:pPr lvl="1"/>
            <a:r>
              <a:rPr lang="en-US" altLang="zh-TW" dirty="0">
                <a:latin typeface="Times New Roman" pitchFamily="18" charset="0"/>
                <a:cs typeface="Times New Roman" pitchFamily="18" charset="0"/>
              </a:rPr>
              <a:t>If multiple seeds are in distance “d”, they can be extended to form a single seed</a:t>
            </a:r>
          </a:p>
          <a:p>
            <a:pPr lvl="1">
              <a:buNone/>
            </a:pPr>
            <a:r>
              <a:rPr lang="en-US" altLang="zh-TW" dirty="0">
                <a:latin typeface="Times New Roman" pitchFamily="18" charset="0"/>
                <a:cs typeface="Times New Roman" pitchFamily="18" charset="0"/>
              </a:rPr>
              <a:t>	The remaining seeds are called “HSP”</a:t>
            </a:r>
          </a:p>
          <a:p>
            <a:r>
              <a:rPr lang="en-US" altLang="zh-TW" dirty="0">
                <a:latin typeface="Times New Roman" pitchFamily="18" charset="0"/>
                <a:cs typeface="Times New Roman" pitchFamily="18" charset="0"/>
              </a:rPr>
              <a:t>Compute score(use SW) with all “HSP”</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pPr algn="l"/>
            <a:r>
              <a:rPr lang="en-US" altLang="zh-TW" dirty="0">
                <a:latin typeface="Times New Roman" pitchFamily="18" charset="0"/>
                <a:cs typeface="Times New Roman" pitchFamily="18" charset="0"/>
              </a:rPr>
              <a:t>BLAT - disadvantage</a:t>
            </a:r>
            <a:endParaRPr lang="zh-TW" altLang="en-US" dirty="0">
              <a:latin typeface="Times New Roman" pitchFamily="18" charset="0"/>
              <a:cs typeface="Times New Roman" pitchFamily="18" charset="0"/>
            </a:endParaRPr>
          </a:p>
        </p:txBody>
      </p:sp>
      <p:sp>
        <p:nvSpPr>
          <p:cNvPr id="3" name="內容版面配置區 2"/>
          <p:cNvSpPr>
            <a:spLocks noGrp="1"/>
          </p:cNvSpPr>
          <p:nvPr>
            <p:ph idx="1"/>
          </p:nvPr>
        </p:nvSpPr>
        <p:spPr>
          <a:xfrm>
            <a:off x="457200" y="1214422"/>
            <a:ext cx="8229600" cy="5643578"/>
          </a:xfrm>
        </p:spPr>
        <p:txBody>
          <a:bodyPr/>
          <a:lstStyle/>
          <a:p>
            <a:r>
              <a:rPr lang="en-US" altLang="zh-TW" dirty="0">
                <a:latin typeface="Times New Roman" pitchFamily="18" charset="0"/>
                <a:cs typeface="Times New Roman" pitchFamily="18" charset="0"/>
              </a:rPr>
              <a:t>If the length of seed is less than “k”, it could be missed.</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pPr algn="l"/>
            <a:r>
              <a:rPr lang="en-US" altLang="zh-TW" dirty="0">
                <a:latin typeface="Times New Roman" pitchFamily="18" charset="0"/>
                <a:cs typeface="Times New Roman" pitchFamily="18" charset="0"/>
              </a:rPr>
              <a:t>BLASTZ  (faster than BLAST) </a:t>
            </a:r>
            <a:endParaRPr lang="zh-TW" altLang="en-US" dirty="0">
              <a:latin typeface="Times New Roman" pitchFamily="18" charset="0"/>
              <a:cs typeface="Times New Roman" pitchFamily="18" charset="0"/>
            </a:endParaRPr>
          </a:p>
        </p:txBody>
      </p:sp>
      <p:sp>
        <p:nvSpPr>
          <p:cNvPr id="3" name="內容版面配置區 2"/>
          <p:cNvSpPr>
            <a:spLocks noGrp="1"/>
          </p:cNvSpPr>
          <p:nvPr>
            <p:ph idx="1"/>
          </p:nvPr>
        </p:nvSpPr>
        <p:spPr>
          <a:xfrm>
            <a:off x="457200" y="1214422"/>
            <a:ext cx="8543956" cy="5643578"/>
          </a:xfrm>
        </p:spPr>
        <p:txBody>
          <a:bodyPr>
            <a:normAutofit/>
          </a:bodyPr>
          <a:lstStyle/>
          <a:p>
            <a:r>
              <a:rPr lang="en-US" altLang="zh-TW" dirty="0">
                <a:latin typeface="Times New Roman" pitchFamily="18" charset="0"/>
                <a:cs typeface="Times New Roman" pitchFamily="18" charset="0"/>
              </a:rPr>
              <a:t>Index by look-up table</a:t>
            </a:r>
          </a:p>
          <a:p>
            <a:r>
              <a:rPr lang="en-US" altLang="zh-TW" dirty="0">
                <a:latin typeface="Times New Roman" pitchFamily="18" charset="0"/>
                <a:cs typeface="Times New Roman" pitchFamily="18" charset="0"/>
              </a:rPr>
              <a:t>Remove all repeats</a:t>
            </a:r>
          </a:p>
          <a:p>
            <a:r>
              <a:rPr lang="en-US" altLang="zh-TW" dirty="0">
                <a:latin typeface="Times New Roman" pitchFamily="18" charset="0"/>
                <a:cs typeface="Times New Roman" pitchFamily="18" charset="0"/>
              </a:rPr>
              <a:t>Identify match seeds of length “k” at most one transition</a:t>
            </a:r>
          </a:p>
          <a:p>
            <a:pPr lvl="1"/>
            <a:r>
              <a:rPr lang="en-US" altLang="zh-TW" dirty="0">
                <a:latin typeface="Times New Roman" pitchFamily="18" charset="0"/>
                <a:cs typeface="Times New Roman" pitchFamily="18" charset="0"/>
              </a:rPr>
              <a:t>Extend all seeds both direction without gap until score less than “X”. </a:t>
            </a:r>
          </a:p>
          <a:p>
            <a:pPr lvl="1"/>
            <a:r>
              <a:rPr lang="en-US" altLang="zh-TW" dirty="0">
                <a:latin typeface="Times New Roman" pitchFamily="18" charset="0"/>
                <a:cs typeface="Times New Roman" pitchFamily="18" charset="0"/>
              </a:rPr>
              <a:t>If multiple seed are in distance “d”, they extend to form a single seed</a:t>
            </a:r>
          </a:p>
          <a:p>
            <a:pPr lvl="1">
              <a:buNone/>
            </a:pPr>
            <a:r>
              <a:rPr lang="en-US" altLang="zh-TW" dirty="0">
                <a:latin typeface="Times New Roman" pitchFamily="18" charset="0"/>
                <a:cs typeface="Times New Roman" pitchFamily="18" charset="0"/>
              </a:rPr>
              <a:t>	The remain seed call “HSP”</a:t>
            </a:r>
          </a:p>
          <a:p>
            <a:r>
              <a:rPr lang="en-US" altLang="zh-TW" dirty="0">
                <a:latin typeface="Times New Roman" pitchFamily="18" charset="0"/>
                <a:cs typeface="Times New Roman" pitchFamily="18" charset="0"/>
              </a:rPr>
              <a:t>Compute score(use SW) with all “HSP”</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pPr algn="l"/>
            <a:r>
              <a:rPr lang="en-US" altLang="zh-TW" dirty="0">
                <a:latin typeface="Times New Roman" pitchFamily="18" charset="0"/>
                <a:cs typeface="Times New Roman" pitchFamily="18" charset="0"/>
              </a:rPr>
              <a:t>BLASTZ - disadvantage</a:t>
            </a:r>
            <a:endParaRPr lang="zh-TW" altLang="en-US" dirty="0">
              <a:latin typeface="Times New Roman" pitchFamily="18" charset="0"/>
              <a:cs typeface="Times New Roman" pitchFamily="18" charset="0"/>
            </a:endParaRPr>
          </a:p>
        </p:txBody>
      </p:sp>
      <p:sp>
        <p:nvSpPr>
          <p:cNvPr id="3" name="內容版面配置區 2"/>
          <p:cNvSpPr>
            <a:spLocks noGrp="1"/>
          </p:cNvSpPr>
          <p:nvPr>
            <p:ph idx="1"/>
          </p:nvPr>
        </p:nvSpPr>
        <p:spPr>
          <a:xfrm>
            <a:off x="457200" y="1214422"/>
            <a:ext cx="8229600" cy="5643578"/>
          </a:xfrm>
        </p:spPr>
        <p:txBody>
          <a:bodyPr/>
          <a:lstStyle/>
          <a:p>
            <a:r>
              <a:rPr lang="en-US" altLang="zh-TW" dirty="0">
                <a:latin typeface="Times New Roman" pitchFamily="18" charset="0"/>
                <a:cs typeface="Times New Roman" pitchFamily="18" charset="0"/>
              </a:rPr>
              <a:t>If the length of seed is less than “k”, it could be missed.</a:t>
            </a:r>
          </a:p>
          <a:p>
            <a:r>
              <a:rPr lang="en-US" altLang="zh-TW" dirty="0">
                <a:latin typeface="Times New Roman" pitchFamily="18" charset="0"/>
                <a:cs typeface="Times New Roman" pitchFamily="18" charset="0"/>
              </a:rPr>
              <a:t>It finds too many seeds, thus spend most time to calculating HSP.</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normAutofit fontScale="90000"/>
          </a:bodyPr>
          <a:lstStyle/>
          <a:p>
            <a:pPr algn="l"/>
            <a:r>
              <a:rPr lang="en-US" altLang="zh-TW" dirty="0" err="1">
                <a:latin typeface="Times New Roman" pitchFamily="18" charset="0"/>
                <a:cs typeface="Times New Roman" pitchFamily="18" charset="0"/>
              </a:rPr>
              <a:t>PatternHunter</a:t>
            </a:r>
            <a:r>
              <a:rPr lang="en-US" altLang="zh-TW" dirty="0">
                <a:latin typeface="Times New Roman" pitchFamily="18" charset="0"/>
                <a:cs typeface="Times New Roman" pitchFamily="18" charset="0"/>
              </a:rPr>
              <a:t>  (like BLAST &amp; BLAT)</a:t>
            </a:r>
            <a:endParaRPr lang="zh-TW" altLang="en-US" dirty="0">
              <a:latin typeface="Times New Roman" pitchFamily="18" charset="0"/>
              <a:cs typeface="Times New Roman" pitchFamily="18" charset="0"/>
            </a:endParaRPr>
          </a:p>
        </p:txBody>
      </p:sp>
      <p:sp>
        <p:nvSpPr>
          <p:cNvPr id="3" name="內容版面配置區 2"/>
          <p:cNvSpPr>
            <a:spLocks noGrp="1"/>
          </p:cNvSpPr>
          <p:nvPr>
            <p:ph idx="1"/>
          </p:nvPr>
        </p:nvSpPr>
        <p:spPr>
          <a:xfrm>
            <a:off x="457200" y="1214422"/>
            <a:ext cx="8543956" cy="5643578"/>
          </a:xfrm>
        </p:spPr>
        <p:txBody>
          <a:bodyPr>
            <a:normAutofit/>
          </a:bodyPr>
          <a:lstStyle/>
          <a:p>
            <a:r>
              <a:rPr lang="en-US" altLang="zh-TW" dirty="0">
                <a:latin typeface="Times New Roman" pitchFamily="18" charset="0"/>
                <a:cs typeface="Times New Roman" pitchFamily="18" charset="0"/>
              </a:rPr>
              <a:t>Structure to increase speed</a:t>
            </a:r>
          </a:p>
          <a:p>
            <a:pPr lvl="1"/>
            <a:r>
              <a:rPr lang="en-US" altLang="zh-TW" dirty="0">
                <a:latin typeface="Times New Roman" pitchFamily="18" charset="0"/>
                <a:cs typeface="Times New Roman" pitchFamily="18" charset="0"/>
              </a:rPr>
              <a:t>Priority queue, variation of red-black tree, hash table</a:t>
            </a:r>
          </a:p>
          <a:p>
            <a:r>
              <a:rPr lang="en-US" altLang="zh-TW" dirty="0">
                <a:latin typeface="Times New Roman" pitchFamily="18" charset="0"/>
                <a:cs typeface="Times New Roman" pitchFamily="18" charset="0"/>
              </a:rPr>
              <a:t>Indexing by look-up table</a:t>
            </a:r>
          </a:p>
          <a:p>
            <a:r>
              <a:rPr lang="en-US" altLang="zh-TW" dirty="0">
                <a:latin typeface="Times New Roman" pitchFamily="18" charset="0"/>
                <a:cs typeface="Times New Roman" pitchFamily="18" charset="0"/>
              </a:rPr>
              <a:t>Identity match seeds of length “k” at most one transition and save in “hit table”</a:t>
            </a:r>
          </a:p>
          <a:p>
            <a:pPr lvl="1"/>
            <a:r>
              <a:rPr lang="en-US" altLang="zh-TW" dirty="0">
                <a:latin typeface="Times New Roman" pitchFamily="18" charset="0"/>
                <a:cs typeface="Times New Roman" pitchFamily="18" charset="0"/>
              </a:rPr>
              <a:t>Extend all seeds both direction without gap until score less than threshold “t”.  (HSP)</a:t>
            </a:r>
          </a:p>
          <a:p>
            <a:pPr lvl="1"/>
            <a:r>
              <a:rPr lang="en-US" altLang="zh-TW" dirty="0">
                <a:latin typeface="Times New Roman" pitchFamily="18" charset="0"/>
                <a:cs typeface="Times New Roman" pitchFamily="18" charset="0"/>
              </a:rPr>
              <a:t>Sort HSP by red-black tree</a:t>
            </a:r>
          </a:p>
          <a:p>
            <a:r>
              <a:rPr lang="en-US" altLang="zh-TW" dirty="0">
                <a:latin typeface="Times New Roman" pitchFamily="18" charset="0"/>
                <a:cs typeface="Times New Roman" pitchFamily="18" charset="0"/>
              </a:rPr>
              <a:t>Connect  “HSP” to find best score</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pPr algn="l"/>
            <a:r>
              <a:rPr lang="en-US" altLang="zh-TW" dirty="0" err="1">
                <a:latin typeface="Times New Roman" pitchFamily="18" charset="0"/>
                <a:cs typeface="Times New Roman" pitchFamily="18" charset="0"/>
              </a:rPr>
              <a:t>PatternHunter</a:t>
            </a:r>
            <a:r>
              <a:rPr lang="en-US" altLang="zh-TW" dirty="0">
                <a:latin typeface="Times New Roman" pitchFamily="18" charset="0"/>
                <a:cs typeface="Times New Roman" pitchFamily="18" charset="0"/>
              </a:rPr>
              <a:t> - disadvantage</a:t>
            </a:r>
            <a:endParaRPr lang="zh-TW" altLang="en-US" dirty="0">
              <a:latin typeface="Times New Roman" pitchFamily="18" charset="0"/>
              <a:cs typeface="Times New Roman" pitchFamily="18" charset="0"/>
            </a:endParaRPr>
          </a:p>
        </p:txBody>
      </p:sp>
      <p:sp>
        <p:nvSpPr>
          <p:cNvPr id="3" name="內容版面配置區 2"/>
          <p:cNvSpPr>
            <a:spLocks noGrp="1"/>
          </p:cNvSpPr>
          <p:nvPr>
            <p:ph idx="1"/>
          </p:nvPr>
        </p:nvSpPr>
        <p:spPr>
          <a:xfrm>
            <a:off x="457200" y="1214422"/>
            <a:ext cx="8229600" cy="5643578"/>
          </a:xfrm>
        </p:spPr>
        <p:txBody>
          <a:bodyPr/>
          <a:lstStyle/>
          <a:p>
            <a:r>
              <a:rPr lang="en-US" altLang="zh-TW" dirty="0">
                <a:latin typeface="Times New Roman" pitchFamily="18" charset="0"/>
                <a:cs typeface="Times New Roman" pitchFamily="18" charset="0"/>
              </a:rPr>
              <a:t>Because it can increase sensitivity, but speed  is not better than BLAST</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normAutofit/>
          </a:bodyPr>
          <a:lstStyle/>
          <a:p>
            <a:pPr algn="l"/>
            <a:r>
              <a:rPr lang="en-US" altLang="zh-TW" dirty="0">
                <a:latin typeface="Times New Roman" pitchFamily="18" charset="0"/>
                <a:cs typeface="Times New Roman" pitchFamily="18" charset="0"/>
              </a:rPr>
              <a:t>MASAA</a:t>
            </a:r>
            <a:endParaRPr lang="zh-TW" altLang="en-US" dirty="0">
              <a:latin typeface="Times New Roman" pitchFamily="18" charset="0"/>
              <a:cs typeface="Times New Roman" pitchFamily="18" charset="0"/>
            </a:endParaRPr>
          </a:p>
        </p:txBody>
      </p:sp>
      <p:sp>
        <p:nvSpPr>
          <p:cNvPr id="3" name="內容版面配置區 2"/>
          <p:cNvSpPr>
            <a:spLocks noGrp="1"/>
          </p:cNvSpPr>
          <p:nvPr>
            <p:ph idx="1"/>
          </p:nvPr>
        </p:nvSpPr>
        <p:spPr>
          <a:xfrm>
            <a:off x="179512" y="1214422"/>
            <a:ext cx="8821644" cy="5643578"/>
          </a:xfrm>
        </p:spPr>
        <p:txBody>
          <a:bodyPr>
            <a:normAutofit/>
          </a:bodyPr>
          <a:lstStyle/>
          <a:p>
            <a:r>
              <a:rPr lang="en-US" altLang="zh-TW" dirty="0">
                <a:latin typeface="Times New Roman" pitchFamily="18" charset="0"/>
                <a:cs typeface="Times New Roman" pitchFamily="18" charset="0"/>
              </a:rPr>
              <a:t>Create suffix tree</a:t>
            </a:r>
          </a:p>
          <a:p>
            <a:r>
              <a:rPr lang="en-US" altLang="zh-TW" dirty="0">
                <a:latin typeface="Times New Roman" pitchFamily="18" charset="0"/>
                <a:cs typeface="Times New Roman" pitchFamily="18" charset="0"/>
              </a:rPr>
              <a:t>Find long common substrings to get perfect match seeds </a:t>
            </a:r>
          </a:p>
          <a:p>
            <a:pPr lvl="1"/>
            <a:r>
              <a:rPr lang="en-US" altLang="zh-TW" dirty="0">
                <a:latin typeface="Times New Roman" pitchFamily="18" charset="0"/>
                <a:cs typeface="Times New Roman" pitchFamily="18" charset="0"/>
              </a:rPr>
              <a:t>Since substrings are all non-overlapping</a:t>
            </a:r>
          </a:p>
          <a:p>
            <a:pPr lvl="1"/>
            <a:r>
              <a:rPr lang="en-US" altLang="zh-TW" dirty="0">
                <a:latin typeface="Times New Roman" pitchFamily="18" charset="0"/>
                <a:cs typeface="Times New Roman" pitchFamily="18" charset="0"/>
              </a:rPr>
              <a:t>Between two earlier long substring, find smaller seeds.</a:t>
            </a:r>
          </a:p>
          <a:p>
            <a:pPr lvl="1"/>
            <a:endParaRPr lang="en-US" altLang="zh-TW" dirty="0">
              <a:latin typeface="Times New Roman" pitchFamily="18" charset="0"/>
              <a:cs typeface="Times New Roman" pitchFamily="18" charset="0"/>
            </a:endParaRPr>
          </a:p>
          <a:p>
            <a:r>
              <a:rPr lang="en-US" altLang="zh-TW" dirty="0">
                <a:latin typeface="Times New Roman" pitchFamily="18" charset="0"/>
                <a:cs typeface="Times New Roman" pitchFamily="18" charset="0"/>
              </a:rPr>
              <a:t>Extend two substring if within a distance “d”</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pPr algn="l"/>
            <a:r>
              <a:rPr lang="en-US" altLang="zh-TW" dirty="0">
                <a:latin typeface="Times New Roman" pitchFamily="18" charset="0"/>
                <a:cs typeface="Times New Roman" pitchFamily="18" charset="0"/>
              </a:rPr>
              <a:t>MASAA - advantage</a:t>
            </a:r>
            <a:endParaRPr lang="zh-TW" altLang="en-US" dirty="0">
              <a:latin typeface="Times New Roman" pitchFamily="18" charset="0"/>
              <a:cs typeface="Times New Roman" pitchFamily="18" charset="0"/>
            </a:endParaRPr>
          </a:p>
        </p:txBody>
      </p:sp>
      <p:sp>
        <p:nvSpPr>
          <p:cNvPr id="3" name="內容版面配置區 2"/>
          <p:cNvSpPr>
            <a:spLocks noGrp="1"/>
          </p:cNvSpPr>
          <p:nvPr>
            <p:ph idx="1"/>
          </p:nvPr>
        </p:nvSpPr>
        <p:spPr>
          <a:xfrm>
            <a:off x="457200" y="1214422"/>
            <a:ext cx="8229600" cy="5643578"/>
          </a:xfrm>
        </p:spPr>
        <p:txBody>
          <a:bodyPr/>
          <a:lstStyle/>
          <a:p>
            <a:r>
              <a:rPr lang="en-US" altLang="zh-TW" dirty="0">
                <a:latin typeface="Times New Roman" pitchFamily="18" charset="0"/>
                <a:cs typeface="Times New Roman" pitchFamily="18" charset="0"/>
              </a:rPr>
              <a:t>When sequence is divergent, it outperform than BLASTZ.</a:t>
            </a:r>
          </a:p>
          <a:p>
            <a:pPr>
              <a:buNone/>
            </a:pPr>
            <a:endParaRPr lang="en-US" altLang="zh-TW" dirty="0">
              <a:latin typeface="Times New Roman" pitchFamily="18" charset="0"/>
              <a:cs typeface="Times New Roman" pitchFamily="18" charset="0"/>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pPr algn="l"/>
            <a:r>
              <a:rPr lang="en-US" altLang="zh-TW" dirty="0">
                <a:latin typeface="Times New Roman" pitchFamily="18" charset="0"/>
                <a:cs typeface="Times New Roman" pitchFamily="18" charset="0"/>
              </a:rPr>
              <a:t>Global alignment</a:t>
            </a:r>
            <a:endParaRPr lang="zh-TW" altLang="en-US" dirty="0">
              <a:latin typeface="Times New Roman" pitchFamily="18" charset="0"/>
              <a:cs typeface="Times New Roman" pitchFamily="18" charset="0"/>
            </a:endParaRPr>
          </a:p>
        </p:txBody>
      </p:sp>
      <p:sp>
        <p:nvSpPr>
          <p:cNvPr id="3" name="內容版面配置區 2"/>
          <p:cNvSpPr>
            <a:spLocks noGrp="1"/>
          </p:cNvSpPr>
          <p:nvPr>
            <p:ph idx="1"/>
          </p:nvPr>
        </p:nvSpPr>
        <p:spPr>
          <a:xfrm>
            <a:off x="457200" y="1357298"/>
            <a:ext cx="8229600" cy="5500702"/>
          </a:xfrm>
        </p:spPr>
        <p:txBody>
          <a:bodyPr>
            <a:normAutofit/>
          </a:bodyPr>
          <a:lstStyle/>
          <a:p>
            <a:r>
              <a:rPr lang="en-US" altLang="zh-TW" dirty="0" err="1">
                <a:latin typeface="Times New Roman" pitchFamily="18" charset="0"/>
                <a:cs typeface="Times New Roman" pitchFamily="18" charset="0"/>
              </a:rPr>
              <a:t>MUMmer</a:t>
            </a:r>
            <a:endParaRPr lang="en-US" altLang="zh-TW" dirty="0">
              <a:latin typeface="Times New Roman" pitchFamily="18" charset="0"/>
              <a:cs typeface="Times New Roman" pitchFamily="18" charset="0"/>
            </a:endParaRPr>
          </a:p>
          <a:p>
            <a:endParaRPr lang="en-US" altLang="zh-TW" dirty="0">
              <a:latin typeface="Times New Roman" pitchFamily="18" charset="0"/>
              <a:cs typeface="Times New Roman" pitchFamily="18" charset="0"/>
            </a:endParaRPr>
          </a:p>
          <a:p>
            <a:r>
              <a:rPr lang="en-US" altLang="zh-TW" dirty="0">
                <a:latin typeface="Times New Roman" pitchFamily="18" charset="0"/>
                <a:cs typeface="Times New Roman" pitchFamily="18" charset="0"/>
              </a:rPr>
              <a:t>GLASS</a:t>
            </a:r>
          </a:p>
          <a:p>
            <a:endParaRPr lang="en-US" altLang="zh-TW" dirty="0">
              <a:latin typeface="Times New Roman" pitchFamily="18" charset="0"/>
              <a:cs typeface="Times New Roman" pitchFamily="18" charset="0"/>
            </a:endParaRPr>
          </a:p>
          <a:p>
            <a:r>
              <a:rPr lang="en-US" altLang="zh-TW" dirty="0">
                <a:latin typeface="Times New Roman" pitchFamily="18" charset="0"/>
                <a:cs typeface="Times New Roman" pitchFamily="18" charset="0"/>
              </a:rPr>
              <a:t>AVID</a:t>
            </a:r>
          </a:p>
          <a:p>
            <a:endParaRPr lang="en-US" altLang="zh-TW" dirty="0">
              <a:latin typeface="Times New Roman" pitchFamily="18" charset="0"/>
              <a:cs typeface="Times New Roman" pitchFamily="18" charset="0"/>
            </a:endParaRPr>
          </a:p>
          <a:p>
            <a:r>
              <a:rPr lang="en-US" altLang="zh-TW" dirty="0">
                <a:latin typeface="Times New Roman" pitchFamily="18" charset="0"/>
                <a:cs typeface="Times New Roman" pitchFamily="18" charset="0"/>
              </a:rPr>
              <a:t>LAGAN</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normAutofit/>
          </a:bodyPr>
          <a:lstStyle/>
          <a:p>
            <a:pPr algn="l"/>
            <a:r>
              <a:rPr lang="en-US" altLang="zh-TW" dirty="0" err="1">
                <a:latin typeface="Times New Roman" pitchFamily="18" charset="0"/>
                <a:cs typeface="Times New Roman" pitchFamily="18" charset="0"/>
              </a:rPr>
              <a:t>MUMmer</a:t>
            </a:r>
            <a:endParaRPr lang="zh-TW" altLang="en-US" dirty="0">
              <a:latin typeface="Times New Roman" pitchFamily="18" charset="0"/>
              <a:cs typeface="Times New Roman" pitchFamily="18" charset="0"/>
            </a:endParaRPr>
          </a:p>
        </p:txBody>
      </p:sp>
      <p:sp>
        <p:nvSpPr>
          <p:cNvPr id="3" name="內容版面配置區 2"/>
          <p:cNvSpPr>
            <a:spLocks noGrp="1"/>
          </p:cNvSpPr>
          <p:nvPr>
            <p:ph idx="1"/>
          </p:nvPr>
        </p:nvSpPr>
        <p:spPr>
          <a:xfrm>
            <a:off x="0" y="1214422"/>
            <a:ext cx="9144000" cy="5643578"/>
          </a:xfrm>
        </p:spPr>
        <p:txBody>
          <a:bodyPr>
            <a:normAutofit fontScale="92500"/>
          </a:bodyPr>
          <a:lstStyle/>
          <a:p>
            <a:r>
              <a:rPr lang="en-US" altLang="zh-TW" dirty="0">
                <a:latin typeface="Times New Roman" pitchFamily="18" charset="0"/>
                <a:cs typeface="Times New Roman" pitchFamily="18" charset="0"/>
              </a:rPr>
              <a:t>Use suffix tree , LIS and SW alignment</a:t>
            </a:r>
          </a:p>
          <a:p>
            <a:r>
              <a:rPr lang="en-US" altLang="zh-TW" dirty="0">
                <a:latin typeface="Times New Roman" pitchFamily="18" charset="0"/>
                <a:cs typeface="Times New Roman" pitchFamily="18" charset="0"/>
              </a:rPr>
              <a:t>Five stages</a:t>
            </a:r>
          </a:p>
          <a:p>
            <a:pPr lvl="1"/>
            <a:r>
              <a:rPr lang="en-US" altLang="zh-TW" dirty="0">
                <a:latin typeface="Times New Roman" pitchFamily="18" charset="0"/>
                <a:cs typeface="Times New Roman" pitchFamily="18" charset="0"/>
              </a:rPr>
              <a:t>(1,2)Identify “SNP”(both sequence with only one difference)</a:t>
            </a:r>
          </a:p>
          <a:p>
            <a:pPr lvl="1"/>
            <a:r>
              <a:rPr lang="en-US" altLang="zh-TW" dirty="0">
                <a:latin typeface="Times New Roman" pitchFamily="18" charset="0"/>
                <a:cs typeface="Times New Roman" pitchFamily="18" charset="0"/>
              </a:rPr>
              <a:t>(3)Identity large segments which appear only in one genome</a:t>
            </a:r>
          </a:p>
          <a:p>
            <a:pPr lvl="1"/>
            <a:r>
              <a:rPr lang="en-US" altLang="zh-TW" dirty="0">
                <a:latin typeface="Times New Roman" pitchFamily="18" charset="0"/>
                <a:cs typeface="Times New Roman" pitchFamily="18" charset="0"/>
              </a:rPr>
              <a:t>(4,5)Identity repeats (repeats more than another)</a:t>
            </a:r>
          </a:p>
          <a:p>
            <a:r>
              <a:rPr lang="en-US" altLang="zh-TW" dirty="0">
                <a:latin typeface="Times New Roman" pitchFamily="18" charset="0"/>
                <a:cs typeface="Times New Roman" pitchFamily="18" charset="0"/>
              </a:rPr>
              <a:t>Create Suffix tree to get at least half of length of the longest maximal unique match(MUM)</a:t>
            </a:r>
          </a:p>
          <a:p>
            <a:pPr lvl="1"/>
            <a:r>
              <a:rPr lang="en-US" altLang="zh-TW" dirty="0">
                <a:latin typeface="Times New Roman" pitchFamily="18" charset="0"/>
                <a:cs typeface="Times New Roman" pitchFamily="18" charset="0"/>
              </a:rPr>
              <a:t>Sort match by LIS</a:t>
            </a:r>
          </a:p>
          <a:p>
            <a:r>
              <a:rPr lang="en-US" altLang="zh-TW" dirty="0">
                <a:latin typeface="Times New Roman" pitchFamily="18" charset="0"/>
                <a:cs typeface="Times New Roman" pitchFamily="18" charset="0"/>
              </a:rPr>
              <a:t>Use SW alignment between MUMs to get short MUMs</a:t>
            </a:r>
          </a:p>
          <a:p>
            <a:r>
              <a:rPr lang="en-US" altLang="zh-TW" dirty="0">
                <a:latin typeface="Times New Roman" pitchFamily="18" charset="0"/>
                <a:cs typeface="Times New Roman" pitchFamily="18" charset="0"/>
              </a:rPr>
              <a:t>Use NW alignment connect MUMs</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pPr algn="l"/>
            <a:r>
              <a:rPr lang="en-US" altLang="zh-TW" dirty="0" err="1">
                <a:latin typeface="Times New Roman" pitchFamily="18" charset="0"/>
                <a:cs typeface="Times New Roman" pitchFamily="18" charset="0"/>
              </a:rPr>
              <a:t>MUMmer</a:t>
            </a:r>
            <a:r>
              <a:rPr lang="en-US" altLang="zh-TW" dirty="0">
                <a:latin typeface="Times New Roman" pitchFamily="18" charset="0"/>
                <a:cs typeface="Times New Roman" pitchFamily="18" charset="0"/>
              </a:rPr>
              <a:t> - disadvantage</a:t>
            </a:r>
            <a:endParaRPr lang="zh-TW" altLang="en-US" dirty="0">
              <a:latin typeface="Times New Roman" pitchFamily="18" charset="0"/>
              <a:cs typeface="Times New Roman" pitchFamily="18" charset="0"/>
            </a:endParaRPr>
          </a:p>
        </p:txBody>
      </p:sp>
      <p:sp>
        <p:nvSpPr>
          <p:cNvPr id="3" name="內容版面配置區 2"/>
          <p:cNvSpPr>
            <a:spLocks noGrp="1"/>
          </p:cNvSpPr>
          <p:nvPr>
            <p:ph idx="1"/>
          </p:nvPr>
        </p:nvSpPr>
        <p:spPr>
          <a:xfrm>
            <a:off x="457200" y="1214422"/>
            <a:ext cx="8229600" cy="5643578"/>
          </a:xfrm>
        </p:spPr>
        <p:txBody>
          <a:bodyPr/>
          <a:lstStyle/>
          <a:p>
            <a:r>
              <a:rPr lang="en-US" altLang="zh-TW" dirty="0">
                <a:latin typeface="Times New Roman" pitchFamily="18" charset="0"/>
                <a:cs typeface="Times New Roman" pitchFamily="18" charset="0"/>
              </a:rPr>
              <a:t>If MUMs are few, algorithm perform poorly.</a:t>
            </a:r>
          </a:p>
          <a:p>
            <a:r>
              <a:rPr lang="en-US" altLang="zh-TW" dirty="0">
                <a:latin typeface="Times New Roman" pitchFamily="18" charset="0"/>
                <a:cs typeface="Times New Roman" pitchFamily="18" charset="0"/>
              </a:rPr>
              <a:t>If MUM are spread wide apart, the inter MUM would have to be aligned with SW, thus increasing the computation time.</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normAutofit/>
          </a:bodyPr>
          <a:lstStyle/>
          <a:p>
            <a:pPr algn="l"/>
            <a:r>
              <a:rPr lang="en-US" altLang="zh-TW" dirty="0">
                <a:latin typeface="Times New Roman" pitchFamily="18" charset="0"/>
                <a:cs typeface="Times New Roman" pitchFamily="18" charset="0"/>
              </a:rPr>
              <a:t>GLASS</a:t>
            </a:r>
            <a:endParaRPr lang="zh-TW" altLang="en-US" dirty="0">
              <a:latin typeface="Times New Roman" pitchFamily="18" charset="0"/>
              <a:cs typeface="Times New Roman" pitchFamily="18" charset="0"/>
            </a:endParaRPr>
          </a:p>
        </p:txBody>
      </p:sp>
      <p:sp>
        <p:nvSpPr>
          <p:cNvPr id="3" name="內容版面配置區 2"/>
          <p:cNvSpPr>
            <a:spLocks noGrp="1"/>
          </p:cNvSpPr>
          <p:nvPr>
            <p:ph idx="1"/>
          </p:nvPr>
        </p:nvSpPr>
        <p:spPr>
          <a:xfrm>
            <a:off x="0" y="1214422"/>
            <a:ext cx="9144000" cy="5643578"/>
          </a:xfrm>
        </p:spPr>
        <p:txBody>
          <a:bodyPr>
            <a:normAutofit/>
          </a:bodyPr>
          <a:lstStyle/>
          <a:p>
            <a:r>
              <a:rPr lang="en-US" altLang="zh-TW" dirty="0">
                <a:latin typeface="Times New Roman" pitchFamily="18" charset="0"/>
                <a:cs typeface="Times New Roman" pitchFamily="18" charset="0"/>
              </a:rPr>
              <a:t>Find all common k-</a:t>
            </a:r>
            <a:r>
              <a:rPr lang="en-US" altLang="zh-TW" dirty="0" err="1">
                <a:latin typeface="Times New Roman" pitchFamily="18" charset="0"/>
                <a:cs typeface="Times New Roman" pitchFamily="18" charset="0"/>
              </a:rPr>
              <a:t>mers</a:t>
            </a:r>
            <a:r>
              <a:rPr lang="en-US" altLang="zh-TW" dirty="0">
                <a:latin typeface="Times New Roman" pitchFamily="18" charset="0"/>
                <a:cs typeface="Times New Roman" pitchFamily="18" charset="0"/>
              </a:rPr>
              <a:t> in both sequence</a:t>
            </a:r>
          </a:p>
          <a:p>
            <a:pPr lvl="1"/>
            <a:r>
              <a:rPr lang="en-US" altLang="zh-TW" dirty="0" err="1">
                <a:latin typeface="Times New Roman" pitchFamily="18" charset="0"/>
                <a:cs typeface="Times New Roman" pitchFamily="18" charset="0"/>
              </a:rPr>
              <a:t>conver</a:t>
            </a:r>
            <a:r>
              <a:rPr lang="en-US" altLang="zh-TW" dirty="0">
                <a:latin typeface="Times New Roman" pitchFamily="18" charset="0"/>
                <a:cs typeface="Times New Roman" pitchFamily="18" charset="0"/>
              </a:rPr>
              <a:t> each matching k-</a:t>
            </a:r>
            <a:r>
              <a:rPr lang="en-US" altLang="zh-TW" dirty="0" err="1">
                <a:latin typeface="Times New Roman" pitchFamily="18" charset="0"/>
                <a:cs typeface="Times New Roman" pitchFamily="18" charset="0"/>
              </a:rPr>
              <a:t>mers</a:t>
            </a:r>
            <a:r>
              <a:rPr lang="en-US" altLang="zh-TW" dirty="0">
                <a:latin typeface="Times New Roman" pitchFamily="18" charset="0"/>
                <a:cs typeface="Times New Roman" pitchFamily="18" charset="0"/>
              </a:rPr>
              <a:t> to a unique character (jpg)</a:t>
            </a:r>
          </a:p>
          <a:p>
            <a:pPr lvl="1"/>
            <a:r>
              <a:rPr lang="en-US" altLang="zh-TW" dirty="0">
                <a:latin typeface="Times New Roman" pitchFamily="18" charset="0"/>
                <a:cs typeface="Times New Roman" pitchFamily="18" charset="0"/>
              </a:rPr>
              <a:t>Compute all k-</a:t>
            </a:r>
            <a:r>
              <a:rPr lang="en-US" altLang="zh-TW" dirty="0" err="1">
                <a:latin typeface="Times New Roman" pitchFamily="18" charset="0"/>
                <a:cs typeface="Times New Roman" pitchFamily="18" charset="0"/>
              </a:rPr>
              <a:t>mers</a:t>
            </a:r>
            <a:r>
              <a:rPr lang="en-US" altLang="zh-TW" dirty="0">
                <a:latin typeface="Times New Roman" pitchFamily="18" charset="0"/>
                <a:cs typeface="Times New Roman" pitchFamily="18" charset="0"/>
              </a:rPr>
              <a:t> score by SDP to select combination.</a:t>
            </a:r>
          </a:p>
          <a:p>
            <a:pPr lvl="1">
              <a:buNone/>
            </a:pPr>
            <a:r>
              <a:rPr lang="en-US" altLang="zh-TW" dirty="0">
                <a:latin typeface="Times New Roman" pitchFamily="18" charset="0"/>
                <a:cs typeface="Times New Roman" pitchFamily="18" charset="0"/>
              </a:rPr>
              <a:t>	(it will remove all overlapping and crossing seeds)</a:t>
            </a:r>
          </a:p>
          <a:p>
            <a:r>
              <a:rPr lang="en-US" altLang="zh-TW" dirty="0">
                <a:latin typeface="Times New Roman" pitchFamily="18" charset="0"/>
                <a:cs typeface="Times New Roman" pitchFamily="18" charset="0"/>
              </a:rPr>
              <a:t>Between k-</a:t>
            </a:r>
            <a:r>
              <a:rPr lang="en-US" altLang="zh-TW" dirty="0" err="1">
                <a:latin typeface="Times New Roman" pitchFamily="18" charset="0"/>
                <a:cs typeface="Times New Roman" pitchFamily="18" charset="0"/>
              </a:rPr>
              <a:t>mers</a:t>
            </a:r>
            <a:r>
              <a:rPr lang="en-US" altLang="zh-TW" dirty="0">
                <a:latin typeface="Times New Roman" pitchFamily="18" charset="0"/>
                <a:cs typeface="Times New Roman" pitchFamily="18" charset="0"/>
              </a:rPr>
              <a:t> </a:t>
            </a:r>
            <a:r>
              <a:rPr lang="en-US" altLang="zh-TW" dirty="0" err="1">
                <a:latin typeface="Times New Roman" pitchFamily="18" charset="0"/>
                <a:cs typeface="Times New Roman" pitchFamily="18" charset="0"/>
              </a:rPr>
              <a:t>matchs</a:t>
            </a:r>
            <a:r>
              <a:rPr lang="en-US" altLang="zh-TW" dirty="0">
                <a:latin typeface="Times New Roman" pitchFamily="18" charset="0"/>
                <a:cs typeface="Times New Roman" pitchFamily="18" charset="0"/>
              </a:rPr>
              <a:t>, use smaller k-</a:t>
            </a:r>
            <a:r>
              <a:rPr lang="en-US" altLang="zh-TW" dirty="0" err="1">
                <a:latin typeface="Times New Roman" pitchFamily="18" charset="0"/>
                <a:cs typeface="Times New Roman" pitchFamily="18" charset="0"/>
              </a:rPr>
              <a:t>mers</a:t>
            </a:r>
            <a:r>
              <a:rPr lang="en-US" altLang="zh-TW" dirty="0">
                <a:latin typeface="Times New Roman" pitchFamily="18" charset="0"/>
                <a:cs typeface="Times New Roman" pitchFamily="18" charset="0"/>
              </a:rPr>
              <a:t> to get short match</a:t>
            </a:r>
          </a:p>
          <a:p>
            <a:r>
              <a:rPr lang="en-US" altLang="zh-TW" dirty="0">
                <a:latin typeface="Times New Roman" pitchFamily="18" charset="0"/>
                <a:cs typeface="Times New Roman" pitchFamily="18" charset="0"/>
              </a:rPr>
              <a:t>Extend all match by SDP</a:t>
            </a:r>
          </a:p>
          <a:p>
            <a:r>
              <a:rPr lang="en-US" altLang="zh-TW" dirty="0">
                <a:latin typeface="Times New Roman" pitchFamily="18" charset="0"/>
                <a:cs typeface="Times New Roman" pitchFamily="18" charset="0"/>
              </a:rPr>
              <a:t>Use SDP to align remain </a:t>
            </a:r>
            <a:r>
              <a:rPr lang="en-US" altLang="zh-TW" dirty="0" err="1">
                <a:latin typeface="Times New Roman" pitchFamily="18" charset="0"/>
                <a:cs typeface="Times New Roman" pitchFamily="18" charset="0"/>
              </a:rPr>
              <a:t>unalign</a:t>
            </a:r>
            <a:r>
              <a:rPr lang="en-US" altLang="zh-TW" dirty="0">
                <a:latin typeface="Times New Roman" pitchFamily="18" charset="0"/>
                <a:cs typeface="Times New Roman" pitchFamily="18" charset="0"/>
              </a:rPr>
              <a:t> region.</a:t>
            </a:r>
          </a:p>
          <a:p>
            <a:endParaRPr lang="en-US" altLang="zh-TW" dirty="0">
              <a:latin typeface="Times New Roman" pitchFamily="18" charset="0"/>
              <a:cs typeface="Times New Roman" pitchFamily="18" charset="0"/>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endParaRPr lang="zh-TW" altLang="en-US"/>
          </a:p>
        </p:txBody>
      </p:sp>
      <p:pic>
        <p:nvPicPr>
          <p:cNvPr id="6" name="內容版面配置區 5" descr="9.PNG"/>
          <p:cNvPicPr>
            <a:picLocks noGrp="1" noChangeAspect="1"/>
          </p:cNvPicPr>
          <p:nvPr>
            <p:ph idx="1"/>
          </p:nvPr>
        </p:nvPicPr>
        <p:blipFill>
          <a:blip r:embed="rId2" cstate="print"/>
          <a:stretch>
            <a:fillRect/>
          </a:stretch>
        </p:blipFill>
        <p:spPr>
          <a:xfrm>
            <a:off x="467544" y="1484784"/>
            <a:ext cx="8229600" cy="3865662"/>
          </a:xfrm>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pPr algn="l"/>
            <a:r>
              <a:rPr lang="en-US" altLang="zh-TW" dirty="0">
                <a:latin typeface="Times New Roman" pitchFamily="18" charset="0"/>
                <a:cs typeface="Times New Roman" pitchFamily="18" charset="0"/>
              </a:rPr>
              <a:t>GLASS - disadvantage</a:t>
            </a:r>
            <a:endParaRPr lang="zh-TW" altLang="en-US" dirty="0">
              <a:latin typeface="Times New Roman" pitchFamily="18" charset="0"/>
              <a:cs typeface="Times New Roman" pitchFamily="18" charset="0"/>
            </a:endParaRPr>
          </a:p>
        </p:txBody>
      </p:sp>
      <p:sp>
        <p:nvSpPr>
          <p:cNvPr id="3" name="內容版面配置區 2"/>
          <p:cNvSpPr>
            <a:spLocks noGrp="1"/>
          </p:cNvSpPr>
          <p:nvPr>
            <p:ph idx="1"/>
          </p:nvPr>
        </p:nvSpPr>
        <p:spPr>
          <a:xfrm>
            <a:off x="457200" y="1214422"/>
            <a:ext cx="8229600" cy="5643578"/>
          </a:xfrm>
        </p:spPr>
        <p:txBody>
          <a:bodyPr/>
          <a:lstStyle/>
          <a:p>
            <a:r>
              <a:rPr lang="en-US" altLang="zh-TW" dirty="0">
                <a:latin typeface="Times New Roman" pitchFamily="18" charset="0"/>
                <a:cs typeface="Times New Roman" pitchFamily="18" charset="0"/>
              </a:rPr>
              <a:t>It slower than </a:t>
            </a:r>
            <a:r>
              <a:rPr lang="en-US" altLang="zh-TW" dirty="0" err="1">
                <a:latin typeface="Times New Roman" pitchFamily="18" charset="0"/>
                <a:cs typeface="Times New Roman" pitchFamily="18" charset="0"/>
              </a:rPr>
              <a:t>MUMmer</a:t>
            </a:r>
            <a:r>
              <a:rPr lang="en-US" altLang="zh-TW" dirty="0">
                <a:latin typeface="Times New Roman" pitchFamily="18" charset="0"/>
                <a:cs typeface="Times New Roman" pitchFamily="18" charset="0"/>
              </a:rPr>
              <a:t>, but it sensitive than </a:t>
            </a:r>
            <a:r>
              <a:rPr lang="en-US" altLang="zh-TW" dirty="0" err="1">
                <a:latin typeface="Times New Roman" pitchFamily="18" charset="0"/>
                <a:cs typeface="Times New Roman" pitchFamily="18" charset="0"/>
              </a:rPr>
              <a:t>MUMmer</a:t>
            </a:r>
            <a:endParaRPr lang="en-US" altLang="zh-TW" dirty="0">
              <a:latin typeface="Times New Roman" pitchFamily="18" charset="0"/>
              <a:cs typeface="Times New Roman" pitchFamily="18" charset="0"/>
            </a:endParaRPr>
          </a:p>
          <a:p>
            <a:endParaRPr lang="en-US" altLang="zh-TW" dirty="0">
              <a:latin typeface="Times New Roman" pitchFamily="18" charset="0"/>
              <a:cs typeface="Times New Roman" pitchFamily="18" charset="0"/>
            </a:endParaRPr>
          </a:p>
          <a:p>
            <a:endParaRPr lang="en-US" altLang="zh-TW" dirty="0">
              <a:latin typeface="Times New Roman" pitchFamily="18" charset="0"/>
              <a:cs typeface="Times New Roman" pitchFamily="18" charset="0"/>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normAutofit/>
          </a:bodyPr>
          <a:lstStyle/>
          <a:p>
            <a:pPr algn="l"/>
            <a:r>
              <a:rPr lang="en-US" altLang="zh-TW" dirty="0">
                <a:latin typeface="Times New Roman" pitchFamily="18" charset="0"/>
                <a:cs typeface="Times New Roman" pitchFamily="18" charset="0"/>
              </a:rPr>
              <a:t>AVID</a:t>
            </a:r>
            <a:endParaRPr lang="zh-TW" altLang="en-US" dirty="0">
              <a:latin typeface="Times New Roman" pitchFamily="18" charset="0"/>
              <a:cs typeface="Times New Roman" pitchFamily="18" charset="0"/>
            </a:endParaRPr>
          </a:p>
        </p:txBody>
      </p:sp>
      <p:sp>
        <p:nvSpPr>
          <p:cNvPr id="3" name="內容版面配置區 2"/>
          <p:cNvSpPr>
            <a:spLocks noGrp="1"/>
          </p:cNvSpPr>
          <p:nvPr>
            <p:ph idx="1"/>
          </p:nvPr>
        </p:nvSpPr>
        <p:spPr>
          <a:xfrm>
            <a:off x="0" y="1214422"/>
            <a:ext cx="9144000" cy="5643578"/>
          </a:xfrm>
        </p:spPr>
        <p:txBody>
          <a:bodyPr>
            <a:normAutofit/>
          </a:bodyPr>
          <a:lstStyle/>
          <a:p>
            <a:r>
              <a:rPr lang="en-US" altLang="zh-TW" dirty="0">
                <a:latin typeface="Times New Roman" pitchFamily="18" charset="0"/>
                <a:cs typeface="Times New Roman" pitchFamily="18" charset="0"/>
              </a:rPr>
              <a:t>Find </a:t>
            </a:r>
            <a:r>
              <a:rPr lang="en-US" altLang="zh-TW">
                <a:latin typeface="Times New Roman" pitchFamily="18" charset="0"/>
                <a:cs typeface="Times New Roman" pitchFamily="18" charset="0"/>
              </a:rPr>
              <a:t>all maximal </a:t>
            </a:r>
            <a:r>
              <a:rPr lang="en-US" altLang="zh-TW" dirty="0">
                <a:latin typeface="Times New Roman" pitchFamily="18" charset="0"/>
                <a:cs typeface="Times New Roman" pitchFamily="18" charset="0"/>
              </a:rPr>
              <a:t>repeat substrings</a:t>
            </a:r>
          </a:p>
          <a:p>
            <a:pPr lvl="1"/>
            <a:r>
              <a:rPr lang="en-US" altLang="zh-TW" dirty="0">
                <a:latin typeface="Times New Roman" pitchFamily="18" charset="0"/>
                <a:cs typeface="Times New Roman" pitchFamily="18" charset="0"/>
              </a:rPr>
              <a:t>Sort the </a:t>
            </a:r>
            <a:r>
              <a:rPr lang="en-US" altLang="zh-TW" dirty="0" err="1">
                <a:latin typeface="Times New Roman" pitchFamily="18" charset="0"/>
                <a:cs typeface="Times New Roman" pitchFamily="18" charset="0"/>
              </a:rPr>
              <a:t>matchs</a:t>
            </a:r>
            <a:r>
              <a:rPr lang="en-US" altLang="zh-TW" dirty="0">
                <a:latin typeface="Times New Roman" pitchFamily="18" charset="0"/>
                <a:cs typeface="Times New Roman" pitchFamily="18" charset="0"/>
              </a:rPr>
              <a:t> to non-</a:t>
            </a:r>
            <a:r>
              <a:rPr lang="en-US" altLang="zh-TW" dirty="0" err="1">
                <a:latin typeface="Times New Roman" pitchFamily="18" charset="0"/>
                <a:cs typeface="Times New Roman" pitchFamily="18" charset="0"/>
              </a:rPr>
              <a:t>criss</a:t>
            </a:r>
            <a:r>
              <a:rPr lang="en-US" altLang="zh-TW" dirty="0">
                <a:latin typeface="Times New Roman" pitchFamily="18" charset="0"/>
                <a:cs typeface="Times New Roman" pitchFamily="18" charset="0"/>
              </a:rPr>
              <a:t>-crossing and non-</a:t>
            </a:r>
            <a:r>
              <a:rPr lang="en-US" altLang="zh-TW" dirty="0" err="1">
                <a:latin typeface="Times New Roman" pitchFamily="18" charset="0"/>
                <a:cs typeface="Times New Roman" pitchFamily="18" charset="0"/>
              </a:rPr>
              <a:t>overlaping</a:t>
            </a:r>
            <a:endParaRPr lang="en-US" altLang="zh-TW" dirty="0">
              <a:latin typeface="Times New Roman" pitchFamily="18" charset="0"/>
              <a:cs typeface="Times New Roman" pitchFamily="18" charset="0"/>
            </a:endParaRPr>
          </a:p>
          <a:p>
            <a:r>
              <a:rPr lang="en-US" altLang="zh-TW" dirty="0">
                <a:latin typeface="Times New Roman" pitchFamily="18" charset="0"/>
                <a:cs typeface="Times New Roman" pitchFamily="18" charset="0"/>
              </a:rPr>
              <a:t>Compute the score (SW) of </a:t>
            </a:r>
            <a:r>
              <a:rPr lang="en-US" altLang="zh-TW" dirty="0" err="1">
                <a:latin typeface="Times New Roman" pitchFamily="18" charset="0"/>
                <a:cs typeface="Times New Roman" pitchFamily="18" charset="0"/>
              </a:rPr>
              <a:t>matchs</a:t>
            </a:r>
            <a:r>
              <a:rPr lang="en-US" altLang="zh-TW" dirty="0">
                <a:latin typeface="Times New Roman" pitchFamily="18" charset="0"/>
                <a:cs typeface="Times New Roman" pitchFamily="18" charset="0"/>
              </a:rPr>
              <a:t> with small extend while score above a threshold “t” to extend the </a:t>
            </a:r>
            <a:r>
              <a:rPr lang="en-US" altLang="zh-TW" dirty="0" err="1">
                <a:latin typeface="Times New Roman" pitchFamily="18" charset="0"/>
                <a:cs typeface="Times New Roman" pitchFamily="18" charset="0"/>
              </a:rPr>
              <a:t>matchs</a:t>
            </a:r>
            <a:r>
              <a:rPr lang="en-US" altLang="zh-TW" dirty="0">
                <a:latin typeface="Times New Roman" pitchFamily="18" charset="0"/>
                <a:cs typeface="Times New Roman" pitchFamily="18" charset="0"/>
              </a:rPr>
              <a:t> length</a:t>
            </a:r>
          </a:p>
          <a:p>
            <a:r>
              <a:rPr lang="en-US" altLang="zh-TW" dirty="0">
                <a:latin typeface="Times New Roman" pitchFamily="18" charset="0"/>
                <a:cs typeface="Times New Roman" pitchFamily="18" charset="0"/>
              </a:rPr>
              <a:t>Use NW to align remain region</a:t>
            </a:r>
          </a:p>
          <a:p>
            <a:endParaRPr lang="en-US" altLang="zh-TW" dirty="0">
              <a:latin typeface="Times New Roman" pitchFamily="18" charset="0"/>
              <a:cs typeface="Times New Roman" pitchFamily="18" charset="0"/>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pPr algn="l"/>
            <a:r>
              <a:rPr lang="en-US" altLang="zh-TW" dirty="0">
                <a:latin typeface="Times New Roman" pitchFamily="18" charset="0"/>
                <a:cs typeface="Times New Roman" pitchFamily="18" charset="0"/>
              </a:rPr>
              <a:t>AVID - disadvantage</a:t>
            </a:r>
            <a:endParaRPr lang="zh-TW" altLang="en-US" dirty="0">
              <a:latin typeface="Times New Roman" pitchFamily="18" charset="0"/>
              <a:cs typeface="Times New Roman" pitchFamily="18" charset="0"/>
            </a:endParaRPr>
          </a:p>
        </p:txBody>
      </p:sp>
      <p:sp>
        <p:nvSpPr>
          <p:cNvPr id="3" name="內容版面配置區 2"/>
          <p:cNvSpPr>
            <a:spLocks noGrp="1"/>
          </p:cNvSpPr>
          <p:nvPr>
            <p:ph idx="1"/>
          </p:nvPr>
        </p:nvSpPr>
        <p:spPr>
          <a:xfrm>
            <a:off x="457200" y="1214422"/>
            <a:ext cx="8229600" cy="5643578"/>
          </a:xfrm>
        </p:spPr>
        <p:txBody>
          <a:bodyPr/>
          <a:lstStyle/>
          <a:p>
            <a:r>
              <a:rPr lang="en-US" altLang="zh-TW" dirty="0">
                <a:latin typeface="Times New Roman" pitchFamily="18" charset="0"/>
                <a:cs typeface="Times New Roman" pitchFamily="18" charset="0"/>
              </a:rPr>
              <a:t>It is not sensitive when aligning distantly related sequences.</a:t>
            </a:r>
          </a:p>
          <a:p>
            <a:endParaRPr lang="en-US" altLang="zh-TW" dirty="0">
              <a:latin typeface="Times New Roman" pitchFamily="18" charset="0"/>
              <a:cs typeface="Times New Roman" pitchFamily="18" charset="0"/>
            </a:endParaRPr>
          </a:p>
          <a:p>
            <a:endParaRPr lang="en-US" altLang="zh-TW" dirty="0">
              <a:latin typeface="Times New Roman" pitchFamily="18" charset="0"/>
              <a:cs typeface="Times New Roman" pitchFamily="18" charset="0"/>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normAutofit/>
          </a:bodyPr>
          <a:lstStyle/>
          <a:p>
            <a:pPr algn="l"/>
            <a:r>
              <a:rPr lang="en-US" altLang="zh-TW" dirty="0">
                <a:latin typeface="Times New Roman" pitchFamily="18" charset="0"/>
                <a:cs typeface="Times New Roman" pitchFamily="18" charset="0"/>
              </a:rPr>
              <a:t>LAGAN</a:t>
            </a:r>
            <a:endParaRPr lang="zh-TW" altLang="en-US" dirty="0">
              <a:latin typeface="Times New Roman" pitchFamily="18" charset="0"/>
              <a:cs typeface="Times New Roman" pitchFamily="18" charset="0"/>
            </a:endParaRPr>
          </a:p>
        </p:txBody>
      </p:sp>
      <p:sp>
        <p:nvSpPr>
          <p:cNvPr id="3" name="內容版面配置區 2"/>
          <p:cNvSpPr>
            <a:spLocks noGrp="1"/>
          </p:cNvSpPr>
          <p:nvPr>
            <p:ph idx="1"/>
          </p:nvPr>
        </p:nvSpPr>
        <p:spPr>
          <a:xfrm>
            <a:off x="0" y="1214422"/>
            <a:ext cx="9144000" cy="5643578"/>
          </a:xfrm>
        </p:spPr>
        <p:txBody>
          <a:bodyPr>
            <a:normAutofit/>
          </a:bodyPr>
          <a:lstStyle/>
          <a:p>
            <a:r>
              <a:rPr lang="en-US" altLang="zh-TW" dirty="0">
                <a:latin typeface="Times New Roman" pitchFamily="18" charset="0"/>
                <a:cs typeface="Times New Roman" pitchFamily="18" charset="0"/>
              </a:rPr>
              <a:t>Using multiple short inexact to instead of the longer exact words to find seeds</a:t>
            </a:r>
          </a:p>
          <a:p>
            <a:r>
              <a:rPr lang="en-US" altLang="zh-TW" dirty="0">
                <a:latin typeface="Times New Roman" pitchFamily="18" charset="0"/>
                <a:cs typeface="Times New Roman" pitchFamily="18" charset="0"/>
              </a:rPr>
              <a:t>Combination seeds if they distance “d” </a:t>
            </a:r>
          </a:p>
          <a:p>
            <a:r>
              <a:rPr lang="en-US" altLang="zh-TW" dirty="0">
                <a:latin typeface="Times New Roman" pitchFamily="18" charset="0"/>
                <a:cs typeface="Times New Roman" pitchFamily="18" charset="0"/>
              </a:rPr>
              <a:t>Use sparse dynamic programming to construct best alignment</a:t>
            </a:r>
          </a:p>
          <a:p>
            <a:r>
              <a:rPr lang="en-US" altLang="zh-TW" dirty="0">
                <a:latin typeface="Times New Roman" pitchFamily="18" charset="0"/>
                <a:cs typeface="Times New Roman" pitchFamily="18" charset="0"/>
              </a:rPr>
              <a:t>Use NW algorithm to get final alignment</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pPr algn="l"/>
            <a:r>
              <a:rPr lang="en-US" altLang="zh-TW" dirty="0">
                <a:latin typeface="Times New Roman" pitchFamily="18" charset="0"/>
                <a:cs typeface="Times New Roman" pitchFamily="18" charset="0"/>
              </a:rPr>
              <a:t>LAGAN - disadvantage</a:t>
            </a:r>
            <a:endParaRPr lang="zh-TW" altLang="en-US" dirty="0">
              <a:latin typeface="Times New Roman" pitchFamily="18" charset="0"/>
              <a:cs typeface="Times New Roman" pitchFamily="18" charset="0"/>
            </a:endParaRPr>
          </a:p>
        </p:txBody>
      </p:sp>
      <p:sp>
        <p:nvSpPr>
          <p:cNvPr id="3" name="內容版面配置區 2"/>
          <p:cNvSpPr>
            <a:spLocks noGrp="1"/>
          </p:cNvSpPr>
          <p:nvPr>
            <p:ph idx="1"/>
          </p:nvPr>
        </p:nvSpPr>
        <p:spPr>
          <a:xfrm>
            <a:off x="457200" y="1214422"/>
            <a:ext cx="8229600" cy="5643578"/>
          </a:xfrm>
        </p:spPr>
        <p:txBody>
          <a:bodyPr/>
          <a:lstStyle/>
          <a:p>
            <a:r>
              <a:rPr lang="en-US" altLang="zh-TW" dirty="0">
                <a:latin typeface="Times New Roman" pitchFamily="18" charset="0"/>
                <a:cs typeface="Times New Roman" pitchFamily="18" charset="0"/>
              </a:rPr>
              <a:t>It spends most of time in chaining local alignments.</a:t>
            </a:r>
          </a:p>
          <a:p>
            <a:r>
              <a:rPr lang="en-US" altLang="zh-TW" dirty="0">
                <a:latin typeface="Times New Roman" pitchFamily="18" charset="0"/>
                <a:cs typeface="Times New Roman" pitchFamily="18" charset="0"/>
              </a:rPr>
              <a:t>Not faster than </a:t>
            </a:r>
            <a:r>
              <a:rPr lang="en-US" altLang="zh-TW" dirty="0" err="1">
                <a:latin typeface="Times New Roman" pitchFamily="18" charset="0"/>
                <a:cs typeface="Times New Roman" pitchFamily="18" charset="0"/>
              </a:rPr>
              <a:t>MUMmer</a:t>
            </a:r>
            <a:r>
              <a:rPr lang="en-US" altLang="zh-TW" dirty="0">
                <a:latin typeface="Times New Roman" pitchFamily="18" charset="0"/>
                <a:cs typeface="Times New Roman" pitchFamily="18" charset="0"/>
              </a:rPr>
              <a:t> and BLASTZ</a:t>
            </a:r>
          </a:p>
          <a:p>
            <a:r>
              <a:rPr lang="en-US" altLang="zh-TW" dirty="0">
                <a:latin typeface="Times New Roman" pitchFamily="18" charset="0"/>
                <a:cs typeface="Times New Roman" pitchFamily="18" charset="0"/>
              </a:rPr>
              <a:t>When detecting trans-position , its sensitive is not good because it not consider overlapping seeds.</a:t>
            </a:r>
          </a:p>
          <a:p>
            <a:endParaRPr lang="en-US" altLang="zh-TW" dirty="0">
              <a:latin typeface="Times New Roman" pitchFamily="18" charset="0"/>
              <a:cs typeface="Times New Roman" pitchFamily="18" charset="0"/>
            </a:endParaRPr>
          </a:p>
          <a:p>
            <a:endParaRPr lang="en-US" altLang="zh-TW" dirty="0">
              <a:latin typeface="Times New Roman" pitchFamily="18" charset="0"/>
              <a:cs typeface="Times New Roman" pitchFamily="18" charset="0"/>
            </a:endParaRPr>
          </a:p>
        </p:txBody>
      </p:sp>
    </p:spTree>
  </p:cSld>
  <p:clrMapOvr>
    <a:masterClrMapping/>
  </p:clrMapOvr>
</p:sld>
</file>

<file path=ppt/theme/theme1.xml><?xml version="1.0" encoding="utf-8"?>
<a:theme xmlns:a="http://schemas.openxmlformats.org/drawingml/2006/main" name="Office 佈景主題">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佈景主題">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2904</TotalTime>
  <Words>1297</Words>
  <Application>Microsoft Office PowerPoint</Application>
  <PresentationFormat>如螢幕大小 (4:3)</PresentationFormat>
  <Paragraphs>167</Paragraphs>
  <Slides>32</Slides>
  <Notes>3</Notes>
  <HiddenSlides>0</HiddenSlides>
  <MMClips>0</MMClips>
  <ScaleCrop>false</ScaleCrop>
  <HeadingPairs>
    <vt:vector size="8" baseType="variant">
      <vt:variant>
        <vt:lpstr>使用字型</vt:lpstr>
      </vt:variant>
      <vt:variant>
        <vt:i4>4</vt:i4>
      </vt:variant>
      <vt:variant>
        <vt:lpstr>佈景主題</vt:lpstr>
      </vt:variant>
      <vt:variant>
        <vt:i4>1</vt:i4>
      </vt:variant>
      <vt:variant>
        <vt:lpstr>內嵌 OLE 伺服程式</vt:lpstr>
      </vt:variant>
      <vt:variant>
        <vt:i4>1</vt:i4>
      </vt:variant>
      <vt:variant>
        <vt:lpstr>投影片標題</vt:lpstr>
      </vt:variant>
      <vt:variant>
        <vt:i4>32</vt:i4>
      </vt:variant>
    </vt:vector>
  </HeadingPairs>
  <TitlesOfParts>
    <vt:vector size="38" baseType="lpstr">
      <vt:lpstr>FangSong</vt:lpstr>
      <vt:lpstr>Arial</vt:lpstr>
      <vt:lpstr>Calibri</vt:lpstr>
      <vt:lpstr>Times New Roman</vt:lpstr>
      <vt:lpstr>Office 佈景主題</vt:lpstr>
      <vt:lpstr>Equation</vt:lpstr>
      <vt:lpstr>Pairwise Sequence Alignment Algorithms – A Survey</vt:lpstr>
      <vt:lpstr>Abstract(1/2)</vt:lpstr>
      <vt:lpstr>Abstract(2/2)</vt:lpstr>
      <vt:lpstr>Introduction</vt:lpstr>
      <vt:lpstr>Introduction – DP formula </vt:lpstr>
      <vt:lpstr>Introduction  - Algorithm</vt:lpstr>
      <vt:lpstr>Introduction – Optimal algorithm</vt:lpstr>
      <vt:lpstr>Introduction – Heuristic algorithm</vt:lpstr>
      <vt:lpstr>Introduction – Heuristic algorithm</vt:lpstr>
      <vt:lpstr>Local alignment</vt:lpstr>
      <vt:lpstr>FASTA</vt:lpstr>
      <vt:lpstr>FASTA - disadvantage</vt:lpstr>
      <vt:lpstr>BLAST</vt:lpstr>
      <vt:lpstr>BLAST - disadvantage</vt:lpstr>
      <vt:lpstr>BLAT  (like FASTA + BLAST)</vt:lpstr>
      <vt:lpstr>BLAT - disadvantage</vt:lpstr>
      <vt:lpstr>BLASTZ  (faster than BLAST) </vt:lpstr>
      <vt:lpstr>BLASTZ - disadvantage</vt:lpstr>
      <vt:lpstr>PatternHunter  (like BLAST &amp; BLAT)</vt:lpstr>
      <vt:lpstr>PatternHunter - disadvantage</vt:lpstr>
      <vt:lpstr>MASAA</vt:lpstr>
      <vt:lpstr>MASAA - advantage</vt:lpstr>
      <vt:lpstr>Global alignment</vt:lpstr>
      <vt:lpstr>MUMmer</vt:lpstr>
      <vt:lpstr>MUMmer - disadvantage</vt:lpstr>
      <vt:lpstr>GLASS</vt:lpstr>
      <vt:lpstr>PowerPoint 簡報</vt:lpstr>
      <vt:lpstr>GLASS - disadvantage</vt:lpstr>
      <vt:lpstr>AVID</vt:lpstr>
      <vt:lpstr>AVID - disadvantage</vt:lpstr>
      <vt:lpstr>LAGAN</vt:lpstr>
      <vt:lpstr>LAGAN - disadvantage</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Indexed Dynamic Programming to Boost Edit Distance and LCSS Computation</dc:title>
  <dc:creator>阿修</dc:creator>
  <cp:lastModifiedBy>pplab</cp:lastModifiedBy>
  <cp:revision>125</cp:revision>
  <dcterms:created xsi:type="dcterms:W3CDTF">2019-09-15T07:43:36Z</dcterms:created>
  <dcterms:modified xsi:type="dcterms:W3CDTF">2020-10-27T11:46:44Z</dcterms:modified>
</cp:coreProperties>
</file>