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4"/>
  </p:notesMasterIdLst>
  <p:sldIdLst>
    <p:sldId id="365" r:id="rId2"/>
    <p:sldId id="311" r:id="rId3"/>
    <p:sldId id="384" r:id="rId4"/>
    <p:sldId id="333" r:id="rId5"/>
    <p:sldId id="385" r:id="rId6"/>
    <p:sldId id="380" r:id="rId7"/>
    <p:sldId id="386" r:id="rId8"/>
    <p:sldId id="387" r:id="rId9"/>
    <p:sldId id="388" r:id="rId10"/>
    <p:sldId id="389" r:id="rId11"/>
    <p:sldId id="383" r:id="rId12"/>
    <p:sldId id="381"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豐仰 蔡" initials="豐仰" lastIdx="1" clrIdx="0">
    <p:extLst>
      <p:ext uri="{19B8F6BF-5375-455C-9EA6-DF929625EA0E}">
        <p15:presenceInfo xmlns:p15="http://schemas.microsoft.com/office/powerpoint/2012/main" userId="8fbda77307fba9f0" providerId="Windows Live"/>
      </p:ext>
    </p:extLst>
  </p:cmAuthor>
  <p:cmAuthor id="2" name="BBOBBOX" initials="B" lastIdx="1" clrIdx="1">
    <p:extLst>
      <p:ext uri="{19B8F6BF-5375-455C-9EA6-DF929625EA0E}">
        <p15:presenceInfo xmlns:p15="http://schemas.microsoft.com/office/powerpoint/2012/main" userId="BBOBBOX"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0AFE"/>
    <a:srgbClr val="E9EB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99" autoAdjust="0"/>
    <p:restoredTop sz="85948" autoAdjust="0"/>
  </p:normalViewPr>
  <p:slideViewPr>
    <p:cSldViewPr snapToGrid="0">
      <p:cViewPr varScale="1">
        <p:scale>
          <a:sx n="62" d="100"/>
          <a:sy n="62" d="100"/>
        </p:scale>
        <p:origin x="1644" y="60"/>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EB1F98-CDCA-4E1F-B89C-7712647B005A}" type="datetimeFigureOut">
              <a:rPr lang="zh-TW" altLang="en-US" smtClean="0"/>
              <a:t>2020/10/27</a:t>
            </a:fld>
            <a:endParaRPr lang="zh-TW" altLang="en-US"/>
          </a:p>
        </p:txBody>
      </p:sp>
      <p:sp>
        <p:nvSpPr>
          <p:cNvPr id="4" name="投影片影像版面配置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E0A4FA-366C-40B7-9E40-EFBC7A72D852}" type="slidenum">
              <a:rPr lang="zh-TW" altLang="en-US" smtClean="0"/>
              <a:t>‹#›</a:t>
            </a:fld>
            <a:endParaRPr lang="zh-TW" altLang="en-US"/>
          </a:p>
        </p:txBody>
      </p:sp>
    </p:spTree>
    <p:extLst>
      <p:ext uri="{BB962C8B-B14F-4D97-AF65-F5344CB8AC3E}">
        <p14:creationId xmlns:p14="http://schemas.microsoft.com/office/powerpoint/2010/main" val="680661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r>
              <a:rPr lang="en-US" altLang="zh-TW" dirty="0"/>
              <a:t>journal</a:t>
            </a:r>
            <a:endParaRPr lang="en-US" altLang="zh-TW" sz="1200" b="0" i="0" kern="1200" dirty="0">
              <a:solidFill>
                <a:schemeClr val="tx1"/>
              </a:solidFill>
              <a:effectLst/>
              <a:latin typeface="+mn-lt"/>
              <a:ea typeface="+mn-ea"/>
              <a:cs typeface="+mn-cs"/>
            </a:endParaRPr>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a:t>
            </a:fld>
            <a:endParaRPr lang="zh-TW" altLang="en-US"/>
          </a:p>
        </p:txBody>
      </p:sp>
    </p:spTree>
    <p:extLst>
      <p:ext uri="{BB962C8B-B14F-4D97-AF65-F5344CB8AC3E}">
        <p14:creationId xmlns:p14="http://schemas.microsoft.com/office/powerpoint/2010/main" val="23331752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r>
              <a:rPr lang="en-US" altLang="zh-TW" sz="1800" b="0" i="0" u="none" strike="noStrike" baseline="0" dirty="0">
                <a:latin typeface="GulliverRM"/>
              </a:rPr>
              <a:t>the least number of tuning parameters, low computational complexity, fast convergence, and high local optima avoidance</a:t>
            </a:r>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2</a:t>
            </a:fld>
            <a:endParaRPr lang="zh-TW" altLang="en-US"/>
          </a:p>
        </p:txBody>
      </p:sp>
    </p:spTree>
    <p:extLst>
      <p:ext uri="{BB962C8B-B14F-4D97-AF65-F5344CB8AC3E}">
        <p14:creationId xmlns:p14="http://schemas.microsoft.com/office/powerpoint/2010/main" val="14918789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r>
              <a:rPr lang="en-US" altLang="zh-TW" sz="1800" b="0" i="0" u="none" strike="noStrike" baseline="0" dirty="0">
                <a:latin typeface="GulliverRM"/>
              </a:rPr>
              <a:t>the least number of tuning parameters, low computational complexity, fast convergence, and high local optima avoidance</a:t>
            </a:r>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3</a:t>
            </a:fld>
            <a:endParaRPr lang="zh-TW" altLang="en-US"/>
          </a:p>
        </p:txBody>
      </p:sp>
    </p:spTree>
    <p:extLst>
      <p:ext uri="{BB962C8B-B14F-4D97-AF65-F5344CB8AC3E}">
        <p14:creationId xmlns:p14="http://schemas.microsoft.com/office/powerpoint/2010/main" val="6277739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4</a:t>
            </a:fld>
            <a:endParaRPr lang="zh-TW" altLang="en-US"/>
          </a:p>
        </p:txBody>
      </p:sp>
    </p:spTree>
    <p:extLst>
      <p:ext uri="{BB962C8B-B14F-4D97-AF65-F5344CB8AC3E}">
        <p14:creationId xmlns:p14="http://schemas.microsoft.com/office/powerpoint/2010/main" val="17464900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5</a:t>
            </a:fld>
            <a:endParaRPr lang="zh-TW" altLang="en-US"/>
          </a:p>
        </p:txBody>
      </p:sp>
    </p:spTree>
    <p:extLst>
      <p:ext uri="{BB962C8B-B14F-4D97-AF65-F5344CB8AC3E}">
        <p14:creationId xmlns:p14="http://schemas.microsoft.com/office/powerpoint/2010/main" val="21326242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6</a:t>
            </a:fld>
            <a:endParaRPr lang="zh-TW" altLang="en-US"/>
          </a:p>
        </p:txBody>
      </p:sp>
    </p:spTree>
    <p:extLst>
      <p:ext uri="{BB962C8B-B14F-4D97-AF65-F5344CB8AC3E}">
        <p14:creationId xmlns:p14="http://schemas.microsoft.com/office/powerpoint/2010/main" val="14939916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7</a:t>
            </a:fld>
            <a:endParaRPr lang="zh-TW" altLang="en-US"/>
          </a:p>
        </p:txBody>
      </p:sp>
    </p:spTree>
    <p:extLst>
      <p:ext uri="{BB962C8B-B14F-4D97-AF65-F5344CB8AC3E}">
        <p14:creationId xmlns:p14="http://schemas.microsoft.com/office/powerpoint/2010/main" val="10040482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8</a:t>
            </a:fld>
            <a:endParaRPr lang="zh-TW" altLang="en-US"/>
          </a:p>
        </p:txBody>
      </p:sp>
    </p:spTree>
    <p:extLst>
      <p:ext uri="{BB962C8B-B14F-4D97-AF65-F5344CB8AC3E}">
        <p14:creationId xmlns:p14="http://schemas.microsoft.com/office/powerpoint/2010/main" val="25194202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9</a:t>
            </a:fld>
            <a:endParaRPr lang="zh-TW" altLang="en-US"/>
          </a:p>
        </p:txBody>
      </p:sp>
    </p:spTree>
    <p:extLst>
      <p:ext uri="{BB962C8B-B14F-4D97-AF65-F5344CB8AC3E}">
        <p14:creationId xmlns:p14="http://schemas.microsoft.com/office/powerpoint/2010/main" val="35376698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10</a:t>
            </a:fld>
            <a:endParaRPr lang="zh-TW" altLang="en-US"/>
          </a:p>
        </p:txBody>
      </p:sp>
    </p:spTree>
    <p:extLst>
      <p:ext uri="{BB962C8B-B14F-4D97-AF65-F5344CB8AC3E}">
        <p14:creationId xmlns:p14="http://schemas.microsoft.com/office/powerpoint/2010/main" val="28239593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z="1800" b="0" i="0" u="none" strike="noStrike" baseline="0" dirty="0">
                <a:latin typeface="GulliverRM"/>
              </a:rPr>
              <a:t>population to 50 The </a:t>
            </a:r>
            <a:r>
              <a:rPr lang="en-US" altLang="zh-TW" sz="1800" b="0" i="0" u="none" strike="noStrike" baseline="0" dirty="0" err="1">
                <a:latin typeface="GulliverRM"/>
              </a:rPr>
              <a:t>maximumnumbers</a:t>
            </a:r>
            <a:r>
              <a:rPr lang="en-US" altLang="zh-TW" sz="1800" b="0" i="0" u="none" strike="noStrike" baseline="0" dirty="0">
                <a:latin typeface="GulliverRM"/>
              </a:rPr>
              <a:t> of iterations are also e1000 for </a:t>
            </a:r>
            <a:r>
              <a:rPr lang="en-US" altLang="zh-TW" sz="1800" b="0" i="0" u="none" strike="noStrike" baseline="0" dirty="0" err="1">
                <a:latin typeface="GulliverRM"/>
              </a:rPr>
              <a:t>IMO.qual</a:t>
            </a:r>
            <a:r>
              <a:rPr lang="en-US" altLang="zh-TW" sz="1800" b="0" i="0" u="none" strike="noStrike" baseline="0" dirty="0">
                <a:latin typeface="GulliverRM"/>
              </a:rPr>
              <a:t> to 10,000     1000 for IMO.</a:t>
            </a:r>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11</a:t>
            </a:fld>
            <a:endParaRPr lang="zh-TW" altLang="en-US"/>
          </a:p>
        </p:txBody>
      </p:sp>
    </p:spTree>
    <p:extLst>
      <p:ext uri="{BB962C8B-B14F-4D97-AF65-F5344CB8AC3E}">
        <p14:creationId xmlns:p14="http://schemas.microsoft.com/office/powerpoint/2010/main" val="37335908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z="1800" b="0" i="0" u="none" strike="noStrike" baseline="0" dirty="0">
                <a:latin typeface="GulliverRM"/>
              </a:rPr>
              <a:t>population to 50 The maximum numbers of iterations are also equal to 10,000     1000 for IMO.</a:t>
            </a:r>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12</a:t>
            </a:fld>
            <a:endParaRPr lang="zh-TW" altLang="en-US"/>
          </a:p>
        </p:txBody>
      </p:sp>
    </p:spTree>
    <p:extLst>
      <p:ext uri="{BB962C8B-B14F-4D97-AF65-F5344CB8AC3E}">
        <p14:creationId xmlns:p14="http://schemas.microsoft.com/office/powerpoint/2010/main" val="18498453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TW" altLang="en-US"/>
              <a:t>按一下以編輯母片標題樣式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2020/10/27</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4658464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2020/10/27</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677946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TW" altLang="en-US"/>
              <a:t>按一下以編輯母片標題樣式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fld id="{FA6EFCFE-425C-4696-9D05-22E06C3112FC}" type="datetimeFigureOut">
              <a:rPr lang="zh-TW" altLang="en-US" smtClean="0"/>
              <a:t>2020/10/27</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4434384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FA6EFCFE-425C-4696-9D05-22E06C3112FC}" type="datetimeFigureOut">
              <a:rPr lang="zh-TW" altLang="en-US" smtClean="0"/>
              <a:t>2020/10/27</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2106894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Content Placeholder 3"/>
          <p:cNvSpPr>
            <a:spLocks noGrp="1"/>
          </p:cNvSpPr>
          <p:nvPr>
            <p:ph sz="half" idx="2"/>
          </p:nvPr>
        </p:nvSpPr>
        <p:spPr>
          <a:xfrm>
            <a:off x="629842" y="2505075"/>
            <a:ext cx="3868340"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Content Placeholder 5"/>
          <p:cNvSpPr>
            <a:spLocks noGrp="1"/>
          </p:cNvSpPr>
          <p:nvPr>
            <p:ph sz="quarter" idx="4"/>
          </p:nvPr>
        </p:nvSpPr>
        <p:spPr>
          <a:xfrm>
            <a:off x="4629150" y="2505075"/>
            <a:ext cx="3887391"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FA6EFCFE-425C-4696-9D05-22E06C3112FC}" type="datetimeFigureOut">
              <a:rPr lang="zh-TW" altLang="en-US" smtClean="0"/>
              <a:t>2020/10/27</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573240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FA6EFCFE-425C-4696-9D05-22E06C3112FC}" type="datetimeFigureOut">
              <a:rPr lang="zh-TW" altLang="en-US" smtClean="0"/>
              <a:t>2020/10/27</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9265871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A6EFCFE-425C-4696-9D05-22E06C3112FC}" type="datetimeFigureOut">
              <a:rPr lang="zh-TW" altLang="en-US" smtClean="0"/>
              <a:t>2020/10/27</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9961549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FA6EFCFE-425C-4696-9D05-22E06C3112FC}" type="datetimeFigureOut">
              <a:rPr lang="zh-TW" altLang="en-US" smtClean="0"/>
              <a:t>2020/10/27</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7078348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FA6EFCFE-425C-4696-9D05-22E06C3112FC}" type="datetimeFigureOut">
              <a:rPr lang="zh-TW" altLang="en-US" smtClean="0"/>
              <a:t>2020/10/27</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6848322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2020/10/27</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4246856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2020/10/27</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0091451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6EFCFE-425C-4696-9D05-22E06C3112FC}" type="datetimeFigureOut">
              <a:rPr lang="zh-TW" altLang="en-US" smtClean="0"/>
              <a:t>2020/10/27</a:t>
            </a:fld>
            <a:endParaRPr lang="zh-TW"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1086228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447A32-0D96-4B57-86B2-82EC84E8995E}"/>
              </a:ext>
            </a:extLst>
          </p:cNvPr>
          <p:cNvSpPr>
            <a:spLocks noGrp="1"/>
          </p:cNvSpPr>
          <p:nvPr>
            <p:ph type="ctrTitle"/>
          </p:nvPr>
        </p:nvSpPr>
        <p:spPr>
          <a:xfrm>
            <a:off x="303868" y="1059873"/>
            <a:ext cx="8348184" cy="877881"/>
          </a:xfrm>
        </p:spPr>
        <p:txBody>
          <a:bodyPr>
            <a:noAutofit/>
          </a:bodyPr>
          <a:lstStyle/>
          <a:p>
            <a:r>
              <a:rPr lang="en-US" altLang="zh-TW" sz="3600" dirty="0">
                <a:latin typeface="Times New Roman" panose="02020603050405020304" pitchFamily="18" charset="0"/>
                <a:cs typeface="Times New Roman" panose="02020603050405020304" pitchFamily="18" charset="0"/>
              </a:rPr>
              <a:t>Pairwise Sequence Alignment Method Using Flower Pollination Algorithm</a:t>
            </a:r>
          </a:p>
        </p:txBody>
      </p:sp>
      <p:sp>
        <p:nvSpPr>
          <p:cNvPr id="3" name="副標題 2">
            <a:extLst>
              <a:ext uri="{FF2B5EF4-FFF2-40B4-BE49-F238E27FC236}">
                <a16:creationId xmlns:a16="http://schemas.microsoft.com/office/drawing/2014/main" id="{61456E59-5D91-4093-B1A4-6F308EA967FD}"/>
              </a:ext>
            </a:extLst>
          </p:cNvPr>
          <p:cNvSpPr>
            <a:spLocks noGrp="1"/>
          </p:cNvSpPr>
          <p:nvPr>
            <p:ph type="subTitle" idx="1"/>
          </p:nvPr>
        </p:nvSpPr>
        <p:spPr>
          <a:xfrm>
            <a:off x="303869" y="2802648"/>
            <a:ext cx="8536249" cy="717223"/>
          </a:xfrm>
        </p:spPr>
        <p:txBody>
          <a:bodyPr>
            <a:noAutofit/>
          </a:bodyPr>
          <a:lstStyle/>
          <a:p>
            <a:r>
              <a:rPr lang="en-US" altLang="zh-TW" sz="2800" dirty="0">
                <a:latin typeface="Times New Roman" panose="02020603050405020304" pitchFamily="18" charset="0"/>
                <a:cs typeface="Times New Roman" panose="02020603050405020304" pitchFamily="18" charset="0"/>
              </a:rPr>
              <a:t>Kaur</a:t>
            </a:r>
            <a:r>
              <a:rPr lang="zh-TW" altLang="en-US" sz="2800" dirty="0">
                <a:latin typeface="Times New Roman" panose="02020603050405020304" pitchFamily="18" charset="0"/>
                <a:cs typeface="Times New Roman" panose="02020603050405020304" pitchFamily="18" charset="0"/>
              </a:rPr>
              <a:t> </a:t>
            </a:r>
            <a:r>
              <a:rPr lang="en-US" altLang="zh-TW" sz="2800" dirty="0" err="1">
                <a:latin typeface="Times New Roman" panose="02020603050405020304" pitchFamily="18" charset="0"/>
                <a:cs typeface="Times New Roman" panose="02020603050405020304" pitchFamily="18" charset="0"/>
              </a:rPr>
              <a:t>Yadvir</a:t>
            </a:r>
            <a:r>
              <a:rPr lang="en-US" altLang="zh-TW" sz="2800" dirty="0">
                <a:latin typeface="Times New Roman" panose="02020603050405020304" pitchFamily="18" charset="0"/>
                <a:cs typeface="Times New Roman" panose="02020603050405020304" pitchFamily="18" charset="0"/>
              </a:rPr>
              <a:t>, and </a:t>
            </a:r>
            <a:r>
              <a:rPr lang="en-US" altLang="zh-TW" sz="2800" dirty="0" err="1">
                <a:latin typeface="Times New Roman" panose="02020603050405020304" pitchFamily="18" charset="0"/>
                <a:cs typeface="Times New Roman" panose="02020603050405020304" pitchFamily="18" charset="0"/>
              </a:rPr>
              <a:t>Neelofar</a:t>
            </a:r>
            <a:r>
              <a:rPr lang="en-US" altLang="zh-TW" sz="2800" dirty="0">
                <a:latin typeface="Times New Roman" panose="02020603050405020304" pitchFamily="18" charset="0"/>
                <a:cs typeface="Times New Roman" panose="02020603050405020304" pitchFamily="18" charset="0"/>
              </a:rPr>
              <a:t> </a:t>
            </a:r>
            <a:r>
              <a:rPr lang="en-US" altLang="zh-TW" sz="2800" dirty="0" err="1">
                <a:latin typeface="Times New Roman" panose="02020603050405020304" pitchFamily="18" charset="0"/>
                <a:cs typeface="Times New Roman" panose="02020603050405020304" pitchFamily="18" charset="0"/>
              </a:rPr>
              <a:t>Sohi</a:t>
            </a:r>
            <a:endParaRPr lang="fr-FR" altLang="zh-TW" sz="2800" dirty="0">
              <a:latin typeface="Times New Roman" panose="02020603050405020304" pitchFamily="18" charset="0"/>
              <a:cs typeface="Times New Roman" panose="02020603050405020304" pitchFamily="18" charset="0"/>
            </a:endParaRPr>
          </a:p>
        </p:txBody>
      </p:sp>
      <p:sp>
        <p:nvSpPr>
          <p:cNvPr id="4" name="副標題 2">
            <a:extLst>
              <a:ext uri="{FF2B5EF4-FFF2-40B4-BE49-F238E27FC236}">
                <a16:creationId xmlns:a16="http://schemas.microsoft.com/office/drawing/2014/main" id="{A64E0364-4674-4930-835E-A413D880DCDB}"/>
              </a:ext>
            </a:extLst>
          </p:cNvPr>
          <p:cNvSpPr txBox="1">
            <a:spLocks/>
          </p:cNvSpPr>
          <p:nvPr/>
        </p:nvSpPr>
        <p:spPr>
          <a:xfrm>
            <a:off x="4761182" y="5443584"/>
            <a:ext cx="3486173" cy="856478"/>
          </a:xfrm>
          <a:prstGeom prst="rect">
            <a:avLst/>
          </a:prstGeom>
        </p:spPr>
        <p:txBody>
          <a:bodyPr vert="horz" lIns="68580" tIns="34290" rIns="68580" bIns="3429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altLang="zh-TW" sz="1800" dirty="0">
                <a:latin typeface="Times New Roman" panose="02020603050405020304" pitchFamily="18" charset="0"/>
                <a:cs typeface="Times New Roman" panose="02020603050405020304" pitchFamily="18" charset="0"/>
              </a:rPr>
              <a:t>Presenter</a:t>
            </a:r>
            <a:r>
              <a:rPr lang="en-US" altLang="zh-TW" sz="1800" dirty="0"/>
              <a:t> </a:t>
            </a:r>
            <a:r>
              <a:rPr lang="en-US" altLang="zh-TW" sz="1800"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sz="1800" dirty="0">
                <a:latin typeface="Times New Roman" panose="02020603050405020304" pitchFamily="18" charset="0"/>
                <a:cs typeface="Times New Roman" panose="02020603050405020304" pitchFamily="18" charset="0"/>
              </a:rPr>
              <a:t> </a:t>
            </a:r>
            <a:r>
              <a:rPr lang="en-US" altLang="zh-TW" sz="1800" dirty="0" err="1">
                <a:latin typeface="Times New Roman" panose="02020603050405020304" pitchFamily="18" charset="0"/>
                <a:cs typeface="Times New Roman" panose="02020603050405020304" pitchFamily="18" charset="0"/>
              </a:rPr>
              <a:t>Tz</a:t>
            </a:r>
            <a:r>
              <a:rPr lang="en-US" altLang="zh-TW" sz="1800" dirty="0">
                <a:latin typeface="Times New Roman" panose="02020603050405020304" pitchFamily="18" charset="0"/>
                <a:cs typeface="Times New Roman" panose="02020603050405020304" pitchFamily="18" charset="0"/>
              </a:rPr>
              <a:t>-Hsu Lee</a:t>
            </a:r>
          </a:p>
          <a:p>
            <a:pPr algn="r"/>
            <a:r>
              <a:rPr lang="en-US" altLang="zh-TW" sz="1800" dirty="0">
                <a:latin typeface="Times New Roman" panose="02020603050405020304" pitchFamily="18" charset="0"/>
                <a:ea typeface="標楷體" panose="03000509000000000000" pitchFamily="65" charset="-120"/>
                <a:cs typeface="Times New Roman" panose="02020603050405020304" pitchFamily="18" charset="0"/>
              </a:rPr>
              <a:t>Date : Oct. 27, 2020.</a:t>
            </a:r>
            <a:endParaRPr lang="zh-TW" altLang="en-US" sz="18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6" name="矩形 5">
            <a:extLst>
              <a:ext uri="{FF2B5EF4-FFF2-40B4-BE49-F238E27FC236}">
                <a16:creationId xmlns:a16="http://schemas.microsoft.com/office/drawing/2014/main" id="{198F8570-D18F-4FAE-A5A6-644CF99DDEB2}"/>
              </a:ext>
            </a:extLst>
          </p:cNvPr>
          <p:cNvSpPr/>
          <p:nvPr/>
        </p:nvSpPr>
        <p:spPr>
          <a:xfrm>
            <a:off x="760548" y="4066229"/>
            <a:ext cx="7622889" cy="830997"/>
          </a:xfrm>
          <a:prstGeom prst="rect">
            <a:avLst/>
          </a:prstGeom>
        </p:spPr>
        <p:txBody>
          <a:bodyPr wrap="square">
            <a:spAutoFit/>
          </a:bodyPr>
          <a:lstStyle/>
          <a:p>
            <a:pPr algn="ctr"/>
            <a:r>
              <a:rPr lang="en-US" altLang="zh-TW" sz="2400" dirty="0">
                <a:latin typeface="Times New Roman" panose="02020603050405020304" pitchFamily="18" charset="0"/>
                <a:ea typeface="Tahoma" panose="020B0604030504040204" pitchFamily="34" charset="0"/>
                <a:cs typeface="Times New Roman" panose="02020603050405020304" pitchFamily="18" charset="0"/>
              </a:rPr>
              <a:t>4th International Conference on Signal Processing, Computing and Control (ISPCC). IEEE, 2017, pp. 408-413.</a:t>
            </a:r>
          </a:p>
        </p:txBody>
      </p:sp>
    </p:spTree>
    <p:extLst>
      <p:ext uri="{BB962C8B-B14F-4D97-AF65-F5344CB8AC3E}">
        <p14:creationId xmlns:p14="http://schemas.microsoft.com/office/powerpoint/2010/main" val="3772700387"/>
      </p:ext>
    </p:extLst>
  </p:cSld>
  <p:clrMapOvr>
    <a:masterClrMapping/>
  </p:clrMapOvr>
  <mc:AlternateContent xmlns:mc="http://schemas.openxmlformats.org/markup-compatibility/2006" xmlns:p14="http://schemas.microsoft.com/office/powerpoint/2010/main">
    <mc:Choice Requires="p14">
      <p:transition spd="slow" p14:dur="2000" advTm="2519">
        <p:cut/>
      </p:transition>
    </mc:Choice>
    <mc:Fallback xmlns="">
      <p:transition spd="slow" advTm="2519">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139007" y="279816"/>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Abstract(1/2)</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139007" y="863183"/>
            <a:ext cx="9004993" cy="5131633"/>
          </a:xfrm>
        </p:spPr>
        <p:txBody>
          <a:bodyPr>
            <a:noAutofit/>
          </a:bodyPr>
          <a:lstStyle/>
          <a:p>
            <a:pPr marL="0" indent="0">
              <a:lnSpc>
                <a:spcPts val="3200"/>
              </a:lnSpc>
              <a:buNone/>
            </a:pPr>
            <a:r>
              <a:rPr lang="en-US" altLang="zh-TW" dirty="0">
                <a:latin typeface="Times New Roman" panose="02020603050405020304" pitchFamily="18" charset="0"/>
                <a:cs typeface="Times New Roman" panose="02020603050405020304" pitchFamily="18" charset="0"/>
              </a:rPr>
              <a:t>Biomolecular sequence alignment is an important research area in bioinformatics. Based on Flower Pollination Algorithm (FPA), we have proposed a new sequence alignment algorithm, named Pairwise Sequence Alignment with Flower Pollination Algorithm (PSAFPA). PSAFPA helps in finding the optimal or near-optimal solution to sequence alignment problem. PSAFPA first finds the current best solution with the help of FPA and then divides this solution into various segments of nonmatching regions to find the better results. These segments are rearranged using FPA and finally the best identity value of each segment is added into the current best solution to get the final alignment identity value. Such segmentation helped to get better results. </a:t>
            </a:r>
          </a:p>
        </p:txBody>
      </p:sp>
    </p:spTree>
    <p:extLst>
      <p:ext uri="{BB962C8B-B14F-4D97-AF65-F5344CB8AC3E}">
        <p14:creationId xmlns:p14="http://schemas.microsoft.com/office/powerpoint/2010/main" val="399448398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139007" y="279816"/>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Abstract(2/2)</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139007" y="863183"/>
            <a:ext cx="9004993" cy="5131633"/>
          </a:xfrm>
        </p:spPr>
        <p:txBody>
          <a:bodyPr>
            <a:noAutofit/>
          </a:bodyPr>
          <a:lstStyle/>
          <a:p>
            <a:pPr marL="0" indent="0">
              <a:lnSpc>
                <a:spcPts val="3200"/>
              </a:lnSpc>
              <a:buNone/>
            </a:pPr>
            <a:r>
              <a:rPr lang="en-US" altLang="zh-TW" dirty="0">
                <a:latin typeface="Times New Roman" panose="02020603050405020304" pitchFamily="18" charset="0"/>
                <a:cs typeface="Times New Roman" panose="02020603050405020304" pitchFamily="18" charset="0"/>
              </a:rPr>
              <a:t>We have also done comparison of PSAFPA with the well-known methods using various DNA sequence pairs, which resulted in to better performance of PSAFPA for a majority of sequence pairs.</a:t>
            </a:r>
          </a:p>
        </p:txBody>
      </p:sp>
    </p:spTree>
    <p:extLst>
      <p:ext uri="{BB962C8B-B14F-4D97-AF65-F5344CB8AC3E}">
        <p14:creationId xmlns:p14="http://schemas.microsoft.com/office/powerpoint/2010/main" val="34652358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518088" y="35095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Flower Pollination Algorithm</a:t>
            </a:r>
            <a:r>
              <a:rPr lang="zh-TW" altLang="en-US" sz="3200" b="1" dirty="0">
                <a:latin typeface="Times New Roman" panose="02020603050405020304" pitchFamily="18" charset="0"/>
                <a:cs typeface="Times New Roman" panose="02020603050405020304" pitchFamily="18" charset="0"/>
              </a:rPr>
              <a:t> </a:t>
            </a:r>
            <a:r>
              <a:rPr lang="en-US" altLang="zh-TW" sz="3200" b="1" dirty="0">
                <a:latin typeface="Times New Roman" panose="02020603050405020304" pitchFamily="18" charset="0"/>
                <a:cs typeface="Times New Roman" panose="02020603050405020304" pitchFamily="18" charset="0"/>
              </a:rPr>
              <a:t>(FPA)(1/2)</a:t>
            </a:r>
            <a:endParaRPr lang="zh-TW" altLang="en-US" sz="3200" b="1" dirty="0">
              <a:latin typeface="Times New Roman" panose="02020603050405020304" pitchFamily="18" charset="0"/>
              <a:cs typeface="Times New Roman" panose="02020603050405020304" pitchFamily="18" charset="0"/>
            </a:endParaRPr>
          </a:p>
        </p:txBody>
      </p:sp>
      <p:pic>
        <p:nvPicPr>
          <p:cNvPr id="12" name="圖片 11"/>
          <p:cNvPicPr>
            <a:picLocks noChangeAspect="1"/>
          </p:cNvPicPr>
          <p:nvPr/>
        </p:nvPicPr>
        <p:blipFill>
          <a:blip r:embed="rId3"/>
          <a:stretch>
            <a:fillRect/>
          </a:stretch>
        </p:blipFill>
        <p:spPr>
          <a:xfrm>
            <a:off x="1953731" y="5537789"/>
            <a:ext cx="312390" cy="385893"/>
          </a:xfrm>
          <a:prstGeom prst="rect">
            <a:avLst/>
          </a:prstGeom>
        </p:spPr>
      </p:pic>
      <p:pic>
        <p:nvPicPr>
          <p:cNvPr id="3" name="圖片 2">
            <a:extLst>
              <a:ext uri="{FF2B5EF4-FFF2-40B4-BE49-F238E27FC236}">
                <a16:creationId xmlns:a16="http://schemas.microsoft.com/office/drawing/2014/main" id="{7FF608FC-8DC1-4B80-83B9-5A7B83D791BC}"/>
              </a:ext>
            </a:extLst>
          </p:cNvPr>
          <p:cNvPicPr>
            <a:picLocks noChangeAspect="1"/>
          </p:cNvPicPr>
          <p:nvPr/>
        </p:nvPicPr>
        <p:blipFill>
          <a:blip r:embed="rId4"/>
          <a:stretch>
            <a:fillRect/>
          </a:stretch>
        </p:blipFill>
        <p:spPr>
          <a:xfrm>
            <a:off x="486355" y="1232270"/>
            <a:ext cx="8171289" cy="4763111"/>
          </a:xfrm>
          <a:prstGeom prst="rect">
            <a:avLst/>
          </a:prstGeom>
        </p:spPr>
      </p:pic>
    </p:spTree>
    <p:extLst>
      <p:ext uri="{BB962C8B-B14F-4D97-AF65-F5344CB8AC3E}">
        <p14:creationId xmlns:p14="http://schemas.microsoft.com/office/powerpoint/2010/main" val="215285388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518088" y="35095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Flower Pollination Algorithm</a:t>
            </a:r>
            <a:r>
              <a:rPr lang="zh-TW" altLang="en-US" sz="3200" b="1" dirty="0">
                <a:latin typeface="Times New Roman" panose="02020603050405020304" pitchFamily="18" charset="0"/>
                <a:cs typeface="Times New Roman" panose="02020603050405020304" pitchFamily="18" charset="0"/>
              </a:rPr>
              <a:t> </a:t>
            </a:r>
            <a:r>
              <a:rPr lang="en-US" altLang="zh-TW" sz="3200" b="1" dirty="0">
                <a:latin typeface="Times New Roman" panose="02020603050405020304" pitchFamily="18" charset="0"/>
                <a:cs typeface="Times New Roman" panose="02020603050405020304" pitchFamily="18" charset="0"/>
              </a:rPr>
              <a:t>(FPA)(2/2)</a:t>
            </a:r>
            <a:endParaRPr lang="zh-TW" altLang="en-US" sz="3200" b="1" dirty="0">
              <a:latin typeface="Times New Roman" panose="02020603050405020304" pitchFamily="18" charset="0"/>
              <a:cs typeface="Times New Roman" panose="02020603050405020304" pitchFamily="18" charset="0"/>
            </a:endParaRPr>
          </a:p>
        </p:txBody>
      </p:sp>
      <p:pic>
        <p:nvPicPr>
          <p:cNvPr id="12" name="圖片 11"/>
          <p:cNvPicPr>
            <a:picLocks noChangeAspect="1"/>
          </p:cNvPicPr>
          <p:nvPr/>
        </p:nvPicPr>
        <p:blipFill>
          <a:blip r:embed="rId3"/>
          <a:stretch>
            <a:fillRect/>
          </a:stretch>
        </p:blipFill>
        <p:spPr>
          <a:xfrm>
            <a:off x="1816640" y="5693432"/>
            <a:ext cx="312390" cy="385893"/>
          </a:xfrm>
          <a:prstGeom prst="rect">
            <a:avLst/>
          </a:prstGeom>
        </p:spPr>
      </p:pic>
      <p:grpSp>
        <p:nvGrpSpPr>
          <p:cNvPr id="5" name="群組 4">
            <a:extLst>
              <a:ext uri="{FF2B5EF4-FFF2-40B4-BE49-F238E27FC236}">
                <a16:creationId xmlns:a16="http://schemas.microsoft.com/office/drawing/2014/main" id="{26636FB3-C6F2-4A9A-958E-2EDCEDC58408}"/>
              </a:ext>
            </a:extLst>
          </p:cNvPr>
          <p:cNvGrpSpPr/>
          <p:nvPr/>
        </p:nvGrpSpPr>
        <p:grpSpPr>
          <a:xfrm>
            <a:off x="380997" y="1685270"/>
            <a:ext cx="4042534" cy="4394055"/>
            <a:chOff x="2550733" y="1231973"/>
            <a:chExt cx="4042534" cy="4394055"/>
          </a:xfrm>
        </p:grpSpPr>
        <p:pic>
          <p:nvPicPr>
            <p:cNvPr id="6" name="Picture 2">
              <a:extLst>
                <a:ext uri="{FF2B5EF4-FFF2-40B4-BE49-F238E27FC236}">
                  <a16:creationId xmlns:a16="http://schemas.microsoft.com/office/drawing/2014/main" id="{DD402383-BEF0-47E2-AE5F-621254E70F2E}"/>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550733" y="1231973"/>
              <a:ext cx="4042534" cy="3932390"/>
            </a:xfrm>
            <a:prstGeom prst="rect">
              <a:avLst/>
            </a:prstGeom>
            <a:noFill/>
            <a:extLst>
              <a:ext uri="{909E8E84-426E-40DD-AFC4-6F175D3DCCD1}">
                <a14:hiddenFill xmlns:a14="http://schemas.microsoft.com/office/drawing/2010/main">
                  <a:solidFill>
                    <a:srgbClr val="FFFFFF"/>
                  </a:solidFill>
                </a14:hiddenFill>
              </a:ext>
            </a:extLst>
          </p:spPr>
        </p:pic>
        <p:sp>
          <p:nvSpPr>
            <p:cNvPr id="7" name="矩形 6">
              <a:extLst>
                <a:ext uri="{FF2B5EF4-FFF2-40B4-BE49-F238E27FC236}">
                  <a16:creationId xmlns:a16="http://schemas.microsoft.com/office/drawing/2014/main" id="{56F29741-B617-406E-811E-BE2F81278D7D}"/>
                </a:ext>
              </a:extLst>
            </p:cNvPr>
            <p:cNvSpPr/>
            <p:nvPr/>
          </p:nvSpPr>
          <p:spPr>
            <a:xfrm>
              <a:off x="3037765" y="5164363"/>
              <a:ext cx="3068469" cy="461665"/>
            </a:xfrm>
            <a:prstGeom prst="rect">
              <a:avLst/>
            </a:prstGeom>
          </p:spPr>
          <p:txBody>
            <a:bodyPr wrap="none">
              <a:spAutoFit/>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TW" sz="1200">
                  <a:solidFill>
                    <a:srgbClr val="222222"/>
                  </a:solidFill>
                  <a:latin typeface="Arial" panose="020B0604020202020204" pitchFamily="34" charset="0"/>
                </a:rPr>
                <a:t>Lévy flight in two dimensions</a:t>
              </a:r>
            </a:p>
            <a:p>
              <a:pPr algn="ctr"/>
              <a:r>
                <a:rPr lang="en-US" altLang="zh-TW" sz="1200"/>
                <a:t>step size is distributed according to a Lévy</a:t>
              </a:r>
              <a:endParaRPr lang="zh-TW" altLang="en-US" sz="1200"/>
            </a:p>
          </p:txBody>
        </p:sp>
        <p:sp>
          <p:nvSpPr>
            <p:cNvPr id="8" name="橢圓 7">
              <a:extLst>
                <a:ext uri="{FF2B5EF4-FFF2-40B4-BE49-F238E27FC236}">
                  <a16:creationId xmlns:a16="http://schemas.microsoft.com/office/drawing/2014/main" id="{79C8DC60-F8DE-402F-9441-CA42693FB0AF}"/>
                </a:ext>
              </a:extLst>
            </p:cNvPr>
            <p:cNvSpPr/>
            <p:nvPr/>
          </p:nvSpPr>
          <p:spPr>
            <a:xfrm rot="959473">
              <a:off x="3231208" y="2944612"/>
              <a:ext cx="2053485" cy="426770"/>
            </a:xfrm>
            <a:prstGeom prst="ellipse">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TW"/>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TW" altLang="en-US"/>
            </a:p>
          </p:txBody>
        </p:sp>
        <p:sp>
          <p:nvSpPr>
            <p:cNvPr id="9" name="橢圓 8">
              <a:extLst>
                <a:ext uri="{FF2B5EF4-FFF2-40B4-BE49-F238E27FC236}">
                  <a16:creationId xmlns:a16="http://schemas.microsoft.com/office/drawing/2014/main" id="{A8E982D2-A606-4905-870A-FAA8D6BF7F92}"/>
                </a:ext>
              </a:extLst>
            </p:cNvPr>
            <p:cNvSpPr/>
            <p:nvPr/>
          </p:nvSpPr>
          <p:spPr>
            <a:xfrm rot="959473">
              <a:off x="3361938" y="2165187"/>
              <a:ext cx="394160" cy="45942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TW"/>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TW" altLang="en-US">
                <a:solidFill>
                  <a:srgbClr val="00B050"/>
                </a:solidFill>
              </a:endParaRPr>
            </a:p>
          </p:txBody>
        </p:sp>
      </p:grpSp>
      <p:grpSp>
        <p:nvGrpSpPr>
          <p:cNvPr id="10" name="群組 9">
            <a:extLst>
              <a:ext uri="{FF2B5EF4-FFF2-40B4-BE49-F238E27FC236}">
                <a16:creationId xmlns:a16="http://schemas.microsoft.com/office/drawing/2014/main" id="{34367B2B-1321-40FB-BE97-AB88BEB3EF67}"/>
              </a:ext>
            </a:extLst>
          </p:cNvPr>
          <p:cNvGrpSpPr/>
          <p:nvPr/>
        </p:nvGrpSpPr>
        <p:grpSpPr>
          <a:xfrm>
            <a:off x="4517659" y="1685270"/>
            <a:ext cx="4626341" cy="4394055"/>
            <a:chOff x="2258830" y="1231973"/>
            <a:chExt cx="4626341" cy="4394055"/>
          </a:xfrm>
        </p:grpSpPr>
        <p:pic>
          <p:nvPicPr>
            <p:cNvPr id="11" name="Picture 4">
              <a:extLst>
                <a:ext uri="{FF2B5EF4-FFF2-40B4-BE49-F238E27FC236}">
                  <a16:creationId xmlns:a16="http://schemas.microsoft.com/office/drawing/2014/main" id="{695BF618-FC28-48E9-AEBA-FCBC081BB57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58830" y="1231973"/>
              <a:ext cx="4626341" cy="3932390"/>
            </a:xfrm>
            <a:prstGeom prst="rect">
              <a:avLst/>
            </a:prstGeom>
            <a:noFill/>
            <a:extLst>
              <a:ext uri="{909E8E84-426E-40DD-AFC4-6F175D3DCCD1}">
                <a14:hiddenFill xmlns:a14="http://schemas.microsoft.com/office/drawing/2010/main">
                  <a:solidFill>
                    <a:srgbClr val="FFFFFF"/>
                  </a:solidFill>
                </a14:hiddenFill>
              </a:ext>
            </a:extLst>
          </p:spPr>
        </p:pic>
        <p:sp>
          <p:nvSpPr>
            <p:cNvPr id="13" name="矩形 12">
              <a:extLst>
                <a:ext uri="{FF2B5EF4-FFF2-40B4-BE49-F238E27FC236}">
                  <a16:creationId xmlns:a16="http://schemas.microsoft.com/office/drawing/2014/main" id="{5C5CE1FB-E4F7-4C53-BF75-A3738591B416}"/>
                </a:ext>
              </a:extLst>
            </p:cNvPr>
            <p:cNvSpPr/>
            <p:nvPr/>
          </p:nvSpPr>
          <p:spPr>
            <a:xfrm>
              <a:off x="2374136" y="5164363"/>
              <a:ext cx="3996608" cy="461665"/>
            </a:xfrm>
            <a:prstGeom prst="rect">
              <a:avLst/>
            </a:prstGeom>
          </p:spPr>
          <p:txBody>
            <a:bodyPr wrap="none">
              <a:spAutoFit/>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TW" sz="1200">
                  <a:solidFill>
                    <a:srgbClr val="222222"/>
                  </a:solidFill>
                  <a:latin typeface="Arial" panose="020B0604020202020204" pitchFamily="34" charset="0"/>
                </a:rPr>
                <a:t>Brownian motion in two dimensions</a:t>
              </a:r>
            </a:p>
            <a:p>
              <a:pPr algn="ctr"/>
              <a:r>
                <a:rPr lang="en-US" altLang="zh-TW" sz="1200"/>
                <a:t>step size is distributed according to a normal distribution</a:t>
              </a:r>
              <a:endParaRPr lang="zh-TW" altLang="en-US" sz="1200"/>
            </a:p>
          </p:txBody>
        </p:sp>
        <p:sp>
          <p:nvSpPr>
            <p:cNvPr id="14" name="橢圓 13">
              <a:extLst>
                <a:ext uri="{FF2B5EF4-FFF2-40B4-BE49-F238E27FC236}">
                  <a16:creationId xmlns:a16="http://schemas.microsoft.com/office/drawing/2014/main" id="{939B4DFC-EA2E-4DBE-8E1B-25ECF8951996}"/>
                </a:ext>
              </a:extLst>
            </p:cNvPr>
            <p:cNvSpPr/>
            <p:nvPr/>
          </p:nvSpPr>
          <p:spPr>
            <a:xfrm rot="959473">
              <a:off x="3937006" y="2038839"/>
              <a:ext cx="449663" cy="44766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TW"/>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TW" altLang="en-US">
                <a:solidFill>
                  <a:srgbClr val="00B050"/>
                </a:solidFill>
              </a:endParaRPr>
            </a:p>
          </p:txBody>
        </p:sp>
        <p:sp>
          <p:nvSpPr>
            <p:cNvPr id="15" name="橢圓 14">
              <a:extLst>
                <a:ext uri="{FF2B5EF4-FFF2-40B4-BE49-F238E27FC236}">
                  <a16:creationId xmlns:a16="http://schemas.microsoft.com/office/drawing/2014/main" id="{B613ECBE-E84F-44CB-9FB6-7D8E01885A9D}"/>
                </a:ext>
              </a:extLst>
            </p:cNvPr>
            <p:cNvSpPr/>
            <p:nvPr/>
          </p:nvSpPr>
          <p:spPr>
            <a:xfrm rot="959473">
              <a:off x="4815547" y="3745883"/>
              <a:ext cx="449663" cy="447668"/>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TW"/>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TW" altLang="en-US">
                <a:solidFill>
                  <a:srgbClr val="00B050"/>
                </a:solidFill>
              </a:endParaRPr>
            </a:p>
          </p:txBody>
        </p:sp>
      </p:grpSp>
    </p:spTree>
    <p:extLst>
      <p:ext uri="{BB962C8B-B14F-4D97-AF65-F5344CB8AC3E}">
        <p14:creationId xmlns:p14="http://schemas.microsoft.com/office/powerpoint/2010/main" val="2818164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518088" y="35095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Pairwise Sequence Alignment with Flower</a:t>
            </a:r>
            <a:br>
              <a:rPr lang="en-US" altLang="zh-TW" sz="3200" b="1" dirty="0">
                <a:latin typeface="Times New Roman" panose="02020603050405020304" pitchFamily="18" charset="0"/>
                <a:cs typeface="Times New Roman" panose="02020603050405020304" pitchFamily="18" charset="0"/>
              </a:rPr>
            </a:br>
            <a:r>
              <a:rPr lang="en-US" altLang="zh-TW" sz="3200" b="1" dirty="0">
                <a:latin typeface="Times New Roman" panose="02020603050405020304" pitchFamily="18" charset="0"/>
                <a:cs typeface="Times New Roman" panose="02020603050405020304" pitchFamily="18" charset="0"/>
              </a:rPr>
              <a:t>Pollination Algorithm(PSAFPA)(1/5)</a:t>
            </a:r>
            <a:endParaRPr lang="zh-TW" altLang="en-US" sz="3200" b="1" dirty="0">
              <a:latin typeface="Times New Roman" panose="02020603050405020304" pitchFamily="18" charset="0"/>
              <a:cs typeface="Times New Roman" panose="02020603050405020304" pitchFamily="18" charset="0"/>
            </a:endParaRPr>
          </a:p>
        </p:txBody>
      </p:sp>
      <p:pic>
        <p:nvPicPr>
          <p:cNvPr id="12" name="圖片 11"/>
          <p:cNvPicPr>
            <a:picLocks noChangeAspect="1"/>
          </p:cNvPicPr>
          <p:nvPr/>
        </p:nvPicPr>
        <p:blipFill>
          <a:blip r:embed="rId3"/>
          <a:stretch>
            <a:fillRect/>
          </a:stretch>
        </p:blipFill>
        <p:spPr>
          <a:xfrm>
            <a:off x="1953731" y="5537789"/>
            <a:ext cx="312390" cy="385893"/>
          </a:xfrm>
          <a:prstGeom prst="rect">
            <a:avLst/>
          </a:prstGeom>
        </p:spPr>
      </p:pic>
      <p:sp>
        <p:nvSpPr>
          <p:cNvPr id="5" name="矩形 4">
            <a:extLst>
              <a:ext uri="{FF2B5EF4-FFF2-40B4-BE49-F238E27FC236}">
                <a16:creationId xmlns:a16="http://schemas.microsoft.com/office/drawing/2014/main" id="{6D788C14-77AA-4043-8DA6-E287782E3E4C}"/>
              </a:ext>
            </a:extLst>
          </p:cNvPr>
          <p:cNvSpPr/>
          <p:nvPr/>
        </p:nvSpPr>
        <p:spPr>
          <a:xfrm>
            <a:off x="501164" y="1268888"/>
            <a:ext cx="8642836" cy="2554545"/>
          </a:xfrm>
          <a:prstGeom prst="rect">
            <a:avLst/>
          </a:prstGeom>
        </p:spPr>
        <p:txBody>
          <a:bodyPr wrap="square">
            <a:spAutoFit/>
          </a:bodyPr>
          <a:lstStyle/>
          <a:p>
            <a:pPr marL="457200" indent="-457200">
              <a:buFont typeface="+mj-lt"/>
              <a:buAutoNum type="arabicPeriod"/>
            </a:pP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Input two sequences :</a:t>
            </a:r>
          </a:p>
          <a:p>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ex</a:t>
            </a:r>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a:t>
            </a:r>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a:t>
            </a:r>
          </a:p>
          <a:p>
            <a:pPr lvl="2"/>
            <a:r>
              <a:rPr lang="en-US" altLang="zh-TW" sz="2000" dirty="0">
                <a:latin typeface="Times New Roman" panose="02020603050405020304" pitchFamily="18" charset="0"/>
                <a:ea typeface="Tahoma" panose="020B0604030504040204" pitchFamily="34" charset="0"/>
                <a:cs typeface="Times New Roman" panose="02020603050405020304" pitchFamily="18" charset="0"/>
              </a:rPr>
              <a:t>S1</a:t>
            </a:r>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a:t>
            </a:r>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ACCAAGAAGTCAA</a:t>
            </a:r>
          </a:p>
          <a:p>
            <a:pPr lvl="2"/>
            <a:r>
              <a:rPr lang="en-US" altLang="zh-TW" sz="2000" dirty="0">
                <a:latin typeface="Times New Roman" panose="02020603050405020304" pitchFamily="18" charset="0"/>
                <a:ea typeface="Tahoma" panose="020B0604030504040204" pitchFamily="34" charset="0"/>
                <a:cs typeface="Times New Roman" panose="02020603050405020304" pitchFamily="18" charset="0"/>
              </a:rPr>
              <a:t>S2 : TACTACTGTGCCTGTGACCT</a:t>
            </a:r>
          </a:p>
          <a:p>
            <a:pPr lvl="2"/>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a:t>
            </a:r>
          </a:p>
          <a:p>
            <a:pPr lvl="2"/>
            <a:endParaRPr lang="en-US" altLang="zh-TW" sz="2000" dirty="0">
              <a:latin typeface="Times New Roman" panose="02020603050405020304" pitchFamily="18" charset="0"/>
              <a:ea typeface="Tahoma" panose="020B0604030504040204" pitchFamily="34" charset="0"/>
              <a:cs typeface="Times New Roman" panose="02020603050405020304" pitchFamily="18" charset="0"/>
            </a:endParaRPr>
          </a:p>
          <a:p>
            <a:pPr lvl="2"/>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endParaRPr lang="en-US" altLang="zh-TW" sz="2000" dirty="0">
              <a:latin typeface="Times New Roman" panose="02020603050405020304" pitchFamily="18" charset="0"/>
              <a:ea typeface="Tahoma" panose="020B0604030504040204" pitchFamily="34" charset="0"/>
              <a:cs typeface="Times New Roman" panose="02020603050405020304" pitchFamily="18" charset="0"/>
            </a:endParaRPr>
          </a:p>
          <a:p>
            <a:pPr lvl="2"/>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endParaRPr lang="en-US" altLang="zh-TW" sz="2000"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3" name="矩形 2">
            <a:extLst>
              <a:ext uri="{FF2B5EF4-FFF2-40B4-BE49-F238E27FC236}">
                <a16:creationId xmlns:a16="http://schemas.microsoft.com/office/drawing/2014/main" id="{4DBDD472-46FA-411E-8C4B-280C5D458508}"/>
              </a:ext>
            </a:extLst>
          </p:cNvPr>
          <p:cNvSpPr/>
          <p:nvPr/>
        </p:nvSpPr>
        <p:spPr>
          <a:xfrm>
            <a:off x="501164" y="2812344"/>
            <a:ext cx="8642836" cy="707886"/>
          </a:xfrm>
          <a:prstGeom prst="rect">
            <a:avLst/>
          </a:prstGeom>
        </p:spPr>
        <p:txBody>
          <a:bodyPr wrap="square">
            <a:spAutoFit/>
          </a:bodyPr>
          <a:lstStyle/>
          <a:p>
            <a:pPr marL="457200" indent="-457200">
              <a:buAutoNum type="arabicPeriod" startAt="2"/>
            </a:pP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Initialize population size and objective function :</a:t>
            </a:r>
          </a:p>
          <a:p>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objective function : </a:t>
            </a:r>
          </a:p>
        </p:txBody>
      </p:sp>
      <p:pic>
        <p:nvPicPr>
          <p:cNvPr id="6" name="圖片 5">
            <a:extLst>
              <a:ext uri="{FF2B5EF4-FFF2-40B4-BE49-F238E27FC236}">
                <a16:creationId xmlns:a16="http://schemas.microsoft.com/office/drawing/2014/main" id="{E0DE6517-CA59-4BDC-96D7-64CA823C5030}"/>
              </a:ext>
            </a:extLst>
          </p:cNvPr>
          <p:cNvPicPr>
            <a:picLocks noChangeAspect="1"/>
          </p:cNvPicPr>
          <p:nvPr/>
        </p:nvPicPr>
        <p:blipFill>
          <a:blip r:embed="rId4"/>
          <a:stretch>
            <a:fillRect/>
          </a:stretch>
        </p:blipFill>
        <p:spPr>
          <a:xfrm>
            <a:off x="2046345" y="3994333"/>
            <a:ext cx="5051310" cy="1543456"/>
          </a:xfrm>
          <a:prstGeom prst="rect">
            <a:avLst/>
          </a:prstGeom>
        </p:spPr>
      </p:pic>
    </p:spTree>
    <p:extLst>
      <p:ext uri="{BB962C8B-B14F-4D97-AF65-F5344CB8AC3E}">
        <p14:creationId xmlns:p14="http://schemas.microsoft.com/office/powerpoint/2010/main" val="273792164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518088" y="35095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Pairwise Sequence Alignment with Flower</a:t>
            </a:r>
            <a:br>
              <a:rPr lang="en-US" altLang="zh-TW" sz="3200" b="1" dirty="0">
                <a:latin typeface="Times New Roman" panose="02020603050405020304" pitchFamily="18" charset="0"/>
                <a:cs typeface="Times New Roman" panose="02020603050405020304" pitchFamily="18" charset="0"/>
              </a:rPr>
            </a:br>
            <a:r>
              <a:rPr lang="en-US" altLang="zh-TW" sz="3200" b="1" dirty="0">
                <a:latin typeface="Times New Roman" panose="02020603050405020304" pitchFamily="18" charset="0"/>
                <a:cs typeface="Times New Roman" panose="02020603050405020304" pitchFamily="18" charset="0"/>
              </a:rPr>
              <a:t>Pollination Algorithm(PSAFPA)(2/5)</a:t>
            </a:r>
            <a:endParaRPr lang="zh-TW" altLang="en-US" sz="3200" b="1" dirty="0">
              <a:latin typeface="Times New Roman" panose="02020603050405020304" pitchFamily="18" charset="0"/>
              <a:cs typeface="Times New Roman" panose="02020603050405020304" pitchFamily="18" charset="0"/>
            </a:endParaRPr>
          </a:p>
        </p:txBody>
      </p:sp>
      <p:pic>
        <p:nvPicPr>
          <p:cNvPr id="12" name="圖片 11"/>
          <p:cNvPicPr>
            <a:picLocks noChangeAspect="1"/>
          </p:cNvPicPr>
          <p:nvPr/>
        </p:nvPicPr>
        <p:blipFill>
          <a:blip r:embed="rId3"/>
          <a:stretch>
            <a:fillRect/>
          </a:stretch>
        </p:blipFill>
        <p:spPr>
          <a:xfrm>
            <a:off x="1953731" y="5537789"/>
            <a:ext cx="312390" cy="385893"/>
          </a:xfrm>
          <a:prstGeom prst="rect">
            <a:avLst/>
          </a:prstGeom>
        </p:spPr>
      </p:pic>
      <p:sp>
        <p:nvSpPr>
          <p:cNvPr id="5" name="矩形 4">
            <a:extLst>
              <a:ext uri="{FF2B5EF4-FFF2-40B4-BE49-F238E27FC236}">
                <a16:creationId xmlns:a16="http://schemas.microsoft.com/office/drawing/2014/main" id="{6D788C14-77AA-4043-8DA6-E287782E3E4C}"/>
              </a:ext>
            </a:extLst>
          </p:cNvPr>
          <p:cNvSpPr/>
          <p:nvPr/>
        </p:nvSpPr>
        <p:spPr>
          <a:xfrm>
            <a:off x="501164" y="1268888"/>
            <a:ext cx="8642836" cy="6863417"/>
          </a:xfrm>
          <a:prstGeom prst="rect">
            <a:avLst/>
          </a:prstGeom>
        </p:spPr>
        <p:txBody>
          <a:bodyPr wrap="square">
            <a:spAutoFit/>
          </a:bodyPr>
          <a:lstStyle/>
          <a:p>
            <a:r>
              <a:rPr lang="en-US" altLang="zh-TW" sz="2000" dirty="0">
                <a:latin typeface="Times New Roman" panose="02020603050405020304" pitchFamily="18" charset="0"/>
                <a:ea typeface="Tahoma" panose="020B0604030504040204" pitchFamily="34" charset="0"/>
                <a:cs typeface="Times New Roman" panose="02020603050405020304" pitchFamily="18" charset="0"/>
              </a:rPr>
              <a:t>3.    Generate initial population randomly :</a:t>
            </a:r>
          </a:p>
          <a:p>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Pair 1 : </a:t>
            </a:r>
          </a:p>
          <a:p>
            <a:pPr lvl="2"/>
            <a:r>
              <a:rPr lang="en-US" altLang="zh-TW" sz="2000" dirty="0">
                <a:latin typeface="Times New Roman" panose="02020603050405020304" pitchFamily="18" charset="0"/>
                <a:ea typeface="Tahoma" panose="020B0604030504040204" pitchFamily="34" charset="0"/>
                <a:cs typeface="Times New Roman" panose="02020603050405020304" pitchFamily="18" charset="0"/>
              </a:rPr>
              <a:t>S1</a:t>
            </a:r>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a:t>
            </a:r>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2000" dirty="0">
                <a:latin typeface="Courier New" panose="02070309020205020404" pitchFamily="49" charset="0"/>
                <a:ea typeface="Tahoma" panose="020B0604030504040204" pitchFamily="34" charset="0"/>
                <a:cs typeface="Courier New" panose="02070309020205020404" pitchFamily="49" charset="0"/>
              </a:rPr>
              <a:t>-A-C-CA-AGAAGT-CAA--</a:t>
            </a:r>
          </a:p>
          <a:p>
            <a:pPr lvl="2"/>
            <a:r>
              <a:rPr lang="en-US" altLang="zh-TW" sz="2000" dirty="0">
                <a:latin typeface="Times New Roman" panose="02020603050405020304" pitchFamily="18" charset="0"/>
                <a:ea typeface="Tahoma" panose="020B0604030504040204" pitchFamily="34" charset="0"/>
                <a:cs typeface="Times New Roman" panose="02020603050405020304" pitchFamily="18" charset="0"/>
              </a:rPr>
              <a:t>S2 : </a:t>
            </a:r>
            <a:r>
              <a:rPr lang="en-US" altLang="zh-TW" sz="2000" dirty="0">
                <a:latin typeface="Courier New" panose="02070309020205020404" pitchFamily="49" charset="0"/>
                <a:ea typeface="Tahoma" panose="020B0604030504040204" pitchFamily="34" charset="0"/>
                <a:cs typeface="Courier New" panose="02070309020205020404" pitchFamily="49" charset="0"/>
              </a:rPr>
              <a:t>TACTACTGTGCCTGTGACCT</a:t>
            </a:r>
          </a:p>
          <a:p>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Pair 2 : </a:t>
            </a:r>
          </a:p>
          <a:p>
            <a:pPr lvl="2"/>
            <a:r>
              <a:rPr lang="en-US" altLang="zh-TW" sz="2000" dirty="0">
                <a:latin typeface="Times New Roman" panose="02020603050405020304" pitchFamily="18" charset="0"/>
                <a:ea typeface="Tahoma" panose="020B0604030504040204" pitchFamily="34" charset="0"/>
                <a:cs typeface="Times New Roman" panose="02020603050405020304" pitchFamily="18" charset="0"/>
              </a:rPr>
              <a:t>S1</a:t>
            </a:r>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a:t>
            </a:r>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2000" dirty="0">
                <a:latin typeface="Courier New" panose="02070309020205020404" pitchFamily="49" charset="0"/>
                <a:ea typeface="Tahoma" panose="020B0604030504040204" pitchFamily="34" charset="0"/>
                <a:cs typeface="Courier New" panose="02070309020205020404" pitchFamily="49" charset="0"/>
              </a:rPr>
              <a:t>-A-C----CA-AGAAGTCAA</a:t>
            </a:r>
          </a:p>
          <a:p>
            <a:pPr lvl="2"/>
            <a:r>
              <a:rPr lang="en-US" altLang="zh-TW" sz="2000" dirty="0">
                <a:latin typeface="Times New Roman" panose="02020603050405020304" pitchFamily="18" charset="0"/>
                <a:ea typeface="Tahoma" panose="020B0604030504040204" pitchFamily="34" charset="0"/>
                <a:cs typeface="Times New Roman" panose="02020603050405020304" pitchFamily="18" charset="0"/>
              </a:rPr>
              <a:t>S2 : </a:t>
            </a:r>
            <a:r>
              <a:rPr lang="en-US" altLang="zh-TW" sz="2000" dirty="0">
                <a:latin typeface="Courier New" panose="02070309020205020404" pitchFamily="49" charset="0"/>
                <a:ea typeface="Tahoma" panose="020B0604030504040204" pitchFamily="34" charset="0"/>
                <a:cs typeface="Courier New" panose="02070309020205020404" pitchFamily="49" charset="0"/>
              </a:rPr>
              <a:t>TACTACTGTGCCTGTGACCT</a:t>
            </a:r>
          </a:p>
          <a:p>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Pair 3 : </a:t>
            </a:r>
          </a:p>
          <a:p>
            <a:pPr lvl="2"/>
            <a:r>
              <a:rPr lang="en-US" altLang="zh-TW" sz="2000" dirty="0">
                <a:latin typeface="Times New Roman" panose="02020603050405020304" pitchFamily="18" charset="0"/>
                <a:ea typeface="Tahoma" panose="020B0604030504040204" pitchFamily="34" charset="0"/>
                <a:cs typeface="Times New Roman" panose="02020603050405020304" pitchFamily="18" charset="0"/>
              </a:rPr>
              <a:t>S1</a:t>
            </a:r>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a:t>
            </a:r>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2000" dirty="0">
                <a:latin typeface="Courier New" panose="02070309020205020404" pitchFamily="49" charset="0"/>
                <a:ea typeface="Tahoma" panose="020B0604030504040204" pitchFamily="34" charset="0"/>
                <a:cs typeface="Courier New" panose="02070309020205020404" pitchFamily="49" charset="0"/>
              </a:rPr>
              <a:t>-A-CC--A-AG-AAG-TCAA</a:t>
            </a:r>
          </a:p>
          <a:p>
            <a:pPr lvl="2"/>
            <a:r>
              <a:rPr lang="en-US" altLang="zh-TW" sz="2000" dirty="0">
                <a:latin typeface="Times New Roman" panose="02020603050405020304" pitchFamily="18" charset="0"/>
                <a:ea typeface="Tahoma" panose="020B0604030504040204" pitchFamily="34" charset="0"/>
                <a:cs typeface="Times New Roman" panose="02020603050405020304" pitchFamily="18" charset="0"/>
              </a:rPr>
              <a:t>S2 : </a:t>
            </a:r>
            <a:r>
              <a:rPr lang="en-US" altLang="zh-TW" sz="2000" dirty="0">
                <a:latin typeface="Courier New" panose="02070309020205020404" pitchFamily="49" charset="0"/>
                <a:ea typeface="Tahoma" panose="020B0604030504040204" pitchFamily="34" charset="0"/>
                <a:cs typeface="Courier New" panose="02070309020205020404" pitchFamily="49" charset="0"/>
              </a:rPr>
              <a:t>TACTACTGTGCCTGTGACCT</a:t>
            </a:r>
          </a:p>
          <a:p>
            <a:pPr lvl="2"/>
            <a:endParaRPr lang="en-US" altLang="zh-TW" sz="2000" dirty="0">
              <a:latin typeface="Times New Roman" panose="02020603050405020304" pitchFamily="18" charset="0"/>
              <a:ea typeface="Tahoma" panose="020B0604030504040204" pitchFamily="34" charset="0"/>
              <a:cs typeface="Times New Roman" panose="02020603050405020304" pitchFamily="18" charset="0"/>
            </a:endParaRPr>
          </a:p>
          <a:p>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4.    Find the current best solution by objective function :</a:t>
            </a:r>
          </a:p>
          <a:p>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obj(P1) = 4, obj(P2) = 3, obj(P3) = 2</a:t>
            </a:r>
          </a:p>
          <a:p>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2000"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Pair 1</a:t>
            </a: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is the best.</a:t>
            </a:r>
          </a:p>
          <a:p>
            <a:endParaRPr lang="en-US" altLang="zh-TW" sz="2000" dirty="0">
              <a:latin typeface="Times New Roman" panose="02020603050405020304" pitchFamily="18" charset="0"/>
              <a:ea typeface="Tahoma" panose="020B0604030504040204" pitchFamily="34" charset="0"/>
              <a:cs typeface="Times New Roman" panose="02020603050405020304" pitchFamily="18" charset="0"/>
            </a:endParaRPr>
          </a:p>
          <a:p>
            <a:pPr lvl="2"/>
            <a:endParaRPr lang="en-US" altLang="zh-TW" sz="2000" dirty="0">
              <a:latin typeface="Times New Roman" panose="02020603050405020304" pitchFamily="18" charset="0"/>
              <a:ea typeface="Tahoma" panose="020B0604030504040204" pitchFamily="34" charset="0"/>
              <a:cs typeface="Times New Roman" panose="02020603050405020304" pitchFamily="18" charset="0"/>
            </a:endParaRPr>
          </a:p>
          <a:p>
            <a:pPr lvl="2"/>
            <a:endParaRPr lang="en-US" altLang="zh-TW" sz="2000" dirty="0">
              <a:latin typeface="Times New Roman" panose="02020603050405020304" pitchFamily="18" charset="0"/>
              <a:ea typeface="Tahoma" panose="020B0604030504040204" pitchFamily="34" charset="0"/>
              <a:cs typeface="Times New Roman" panose="02020603050405020304" pitchFamily="18" charset="0"/>
            </a:endParaRPr>
          </a:p>
          <a:p>
            <a:pPr lvl="2"/>
            <a:endParaRPr lang="en-US" altLang="zh-TW" sz="2000" dirty="0">
              <a:latin typeface="Times New Roman" panose="02020603050405020304" pitchFamily="18" charset="0"/>
              <a:ea typeface="Tahoma" panose="020B0604030504040204" pitchFamily="34" charset="0"/>
              <a:cs typeface="Times New Roman" panose="02020603050405020304" pitchFamily="18" charset="0"/>
            </a:endParaRPr>
          </a:p>
          <a:p>
            <a:pPr lvl="2"/>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a:t>
            </a:r>
          </a:p>
          <a:p>
            <a:pPr lvl="2"/>
            <a:endParaRPr lang="en-US" altLang="zh-TW" sz="2000" dirty="0">
              <a:latin typeface="Times New Roman" panose="02020603050405020304" pitchFamily="18" charset="0"/>
              <a:ea typeface="Tahoma" panose="020B0604030504040204" pitchFamily="34" charset="0"/>
              <a:cs typeface="Times New Roman" panose="02020603050405020304" pitchFamily="18" charset="0"/>
            </a:endParaRPr>
          </a:p>
          <a:p>
            <a:pPr lvl="2"/>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endParaRPr lang="en-US" altLang="zh-TW" sz="2000" dirty="0">
              <a:latin typeface="Times New Roman" panose="02020603050405020304" pitchFamily="18" charset="0"/>
              <a:ea typeface="Tahoma" panose="020B0604030504040204" pitchFamily="34" charset="0"/>
              <a:cs typeface="Times New Roman" panose="02020603050405020304" pitchFamily="18" charset="0"/>
            </a:endParaRPr>
          </a:p>
          <a:p>
            <a:pPr lvl="2"/>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endParaRPr lang="en-US" altLang="zh-TW" sz="2000" dirty="0">
              <a:latin typeface="Times New Roman" panose="02020603050405020304" pitchFamily="18" charset="0"/>
              <a:ea typeface="Tahom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114176897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518088" y="35095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Pairwise Sequence Alignment with Flower</a:t>
            </a:r>
            <a:br>
              <a:rPr lang="en-US" altLang="zh-TW" sz="3200" b="1" dirty="0">
                <a:latin typeface="Times New Roman" panose="02020603050405020304" pitchFamily="18" charset="0"/>
                <a:cs typeface="Times New Roman" panose="02020603050405020304" pitchFamily="18" charset="0"/>
              </a:rPr>
            </a:br>
            <a:r>
              <a:rPr lang="en-US" altLang="zh-TW" sz="3200" b="1" dirty="0">
                <a:latin typeface="Times New Roman" panose="02020603050405020304" pitchFamily="18" charset="0"/>
                <a:cs typeface="Times New Roman" panose="02020603050405020304" pitchFamily="18" charset="0"/>
              </a:rPr>
              <a:t>Pollination Algorithm(PSAFPA)(3/5)</a:t>
            </a:r>
            <a:endParaRPr lang="zh-TW" altLang="en-US" sz="3200" b="1" dirty="0">
              <a:latin typeface="Times New Roman" panose="02020603050405020304" pitchFamily="18" charset="0"/>
              <a:cs typeface="Times New Roman" panose="02020603050405020304" pitchFamily="18" charset="0"/>
            </a:endParaRPr>
          </a:p>
        </p:txBody>
      </p:sp>
      <p:pic>
        <p:nvPicPr>
          <p:cNvPr id="12" name="圖片 11"/>
          <p:cNvPicPr>
            <a:picLocks noChangeAspect="1"/>
          </p:cNvPicPr>
          <p:nvPr/>
        </p:nvPicPr>
        <p:blipFill>
          <a:blip r:embed="rId3"/>
          <a:stretch>
            <a:fillRect/>
          </a:stretch>
        </p:blipFill>
        <p:spPr>
          <a:xfrm>
            <a:off x="1953731" y="5537789"/>
            <a:ext cx="312390" cy="385893"/>
          </a:xfrm>
          <a:prstGeom prst="rect">
            <a:avLst/>
          </a:prstGeom>
        </p:spPr>
      </p:pic>
      <p:sp>
        <p:nvSpPr>
          <p:cNvPr id="5" name="矩形 4">
            <a:extLst>
              <a:ext uri="{FF2B5EF4-FFF2-40B4-BE49-F238E27FC236}">
                <a16:creationId xmlns:a16="http://schemas.microsoft.com/office/drawing/2014/main" id="{6D788C14-77AA-4043-8DA6-E287782E3E4C}"/>
              </a:ext>
            </a:extLst>
          </p:cNvPr>
          <p:cNvSpPr/>
          <p:nvPr/>
        </p:nvSpPr>
        <p:spPr>
          <a:xfrm>
            <a:off x="501164" y="1268888"/>
            <a:ext cx="8642836" cy="7478970"/>
          </a:xfrm>
          <a:prstGeom prst="rect">
            <a:avLst/>
          </a:prstGeom>
        </p:spPr>
        <p:txBody>
          <a:bodyPr wrap="square">
            <a:spAutoFit/>
          </a:bodyPr>
          <a:lstStyle/>
          <a:p>
            <a:r>
              <a:rPr lang="en-US" altLang="zh-TW" sz="2000" dirty="0">
                <a:latin typeface="Times New Roman" panose="02020603050405020304" pitchFamily="18" charset="0"/>
                <a:ea typeface="Tahoma" panose="020B0604030504040204" pitchFamily="34" charset="0"/>
                <a:cs typeface="Times New Roman" panose="02020603050405020304" pitchFamily="18" charset="0"/>
              </a:rPr>
              <a:t>5.    Apply FPA on both the sequences of the best solution and generate new one :</a:t>
            </a:r>
          </a:p>
          <a:p>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Pair 1 : </a:t>
            </a:r>
          </a:p>
          <a:p>
            <a:pPr lvl="2"/>
            <a:r>
              <a:rPr lang="en-US" altLang="zh-TW" sz="2000" dirty="0">
                <a:latin typeface="Times New Roman" panose="02020603050405020304" pitchFamily="18" charset="0"/>
                <a:ea typeface="Tahoma" panose="020B0604030504040204" pitchFamily="34" charset="0"/>
                <a:cs typeface="Times New Roman" panose="02020603050405020304" pitchFamily="18" charset="0"/>
              </a:rPr>
              <a:t>S1</a:t>
            </a:r>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a:t>
            </a:r>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2000" dirty="0">
                <a:latin typeface="Courier New" panose="02070309020205020404" pitchFamily="49" charset="0"/>
                <a:ea typeface="Tahoma" panose="020B0604030504040204" pitchFamily="34" charset="0"/>
                <a:cs typeface="Courier New" panose="02070309020205020404" pitchFamily="49" charset="0"/>
              </a:rPr>
              <a:t>-A-C-CA-AGAAGT-CAA---</a:t>
            </a:r>
          </a:p>
          <a:p>
            <a:pPr lvl="2"/>
            <a:r>
              <a:rPr lang="en-US" altLang="zh-TW" sz="2000" dirty="0">
                <a:latin typeface="Times New Roman" panose="02020603050405020304" pitchFamily="18" charset="0"/>
                <a:ea typeface="Tahoma" panose="020B0604030504040204" pitchFamily="34" charset="0"/>
                <a:cs typeface="Times New Roman" panose="02020603050405020304" pitchFamily="18" charset="0"/>
              </a:rPr>
              <a:t>S2 : </a:t>
            </a:r>
            <a:r>
              <a:rPr lang="en-US" altLang="zh-TW" sz="2000" dirty="0">
                <a:latin typeface="Courier New" panose="02070309020205020404" pitchFamily="49" charset="0"/>
                <a:ea typeface="Tahoma" panose="020B0604030504040204" pitchFamily="34" charset="0"/>
                <a:cs typeface="Courier New" panose="02070309020205020404" pitchFamily="49" charset="0"/>
              </a:rPr>
              <a:t>TA-CTACTGTGCCTGTGACCT</a:t>
            </a:r>
          </a:p>
          <a:p>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Pair 2 : </a:t>
            </a:r>
          </a:p>
          <a:p>
            <a:pPr lvl="2"/>
            <a:r>
              <a:rPr lang="en-US" altLang="zh-TW" sz="2000" dirty="0">
                <a:latin typeface="Times New Roman" panose="02020603050405020304" pitchFamily="18" charset="0"/>
                <a:ea typeface="Tahoma" panose="020B0604030504040204" pitchFamily="34" charset="0"/>
                <a:cs typeface="Times New Roman" panose="02020603050405020304" pitchFamily="18" charset="0"/>
              </a:rPr>
              <a:t>S1</a:t>
            </a:r>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a:t>
            </a:r>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2000" dirty="0">
                <a:latin typeface="Courier New" panose="02070309020205020404" pitchFamily="49" charset="0"/>
                <a:ea typeface="Tahoma" panose="020B0604030504040204" pitchFamily="34" charset="0"/>
                <a:cs typeface="Courier New" panose="02070309020205020404" pitchFamily="49" charset="0"/>
              </a:rPr>
              <a:t>-A-C-CA-A-GAAGT-CAA--</a:t>
            </a:r>
          </a:p>
          <a:p>
            <a:pPr lvl="2"/>
            <a:r>
              <a:rPr lang="en-US" altLang="zh-TW" sz="2000" dirty="0">
                <a:latin typeface="Times New Roman" panose="02020603050405020304" pitchFamily="18" charset="0"/>
                <a:ea typeface="Tahoma" panose="020B0604030504040204" pitchFamily="34" charset="0"/>
                <a:cs typeface="Times New Roman" panose="02020603050405020304" pitchFamily="18" charset="0"/>
              </a:rPr>
              <a:t>S2 : </a:t>
            </a:r>
            <a:r>
              <a:rPr lang="en-US" altLang="zh-TW" sz="2000" dirty="0">
                <a:latin typeface="Courier New" panose="02070309020205020404" pitchFamily="49" charset="0"/>
                <a:ea typeface="Tahoma" panose="020B0604030504040204" pitchFamily="34" charset="0"/>
                <a:cs typeface="Courier New" panose="02070309020205020404" pitchFamily="49" charset="0"/>
              </a:rPr>
              <a:t>TACTACTGTGCCTGT-GACCT</a:t>
            </a:r>
          </a:p>
          <a:p>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Pair 3 : </a:t>
            </a:r>
          </a:p>
          <a:p>
            <a:pPr lvl="2"/>
            <a:r>
              <a:rPr lang="en-US" altLang="zh-TW" sz="2000" dirty="0">
                <a:latin typeface="Times New Roman" panose="02020603050405020304" pitchFamily="18" charset="0"/>
                <a:ea typeface="Tahoma" panose="020B0604030504040204" pitchFamily="34" charset="0"/>
                <a:cs typeface="Times New Roman" panose="02020603050405020304" pitchFamily="18" charset="0"/>
              </a:rPr>
              <a:t>S1</a:t>
            </a:r>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a:t>
            </a:r>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2000" dirty="0">
                <a:latin typeface="Courier New" panose="02070309020205020404" pitchFamily="49" charset="0"/>
                <a:ea typeface="Tahoma" panose="020B0604030504040204" pitchFamily="34" charset="0"/>
                <a:cs typeface="Courier New" panose="02070309020205020404" pitchFamily="49" charset="0"/>
              </a:rPr>
              <a:t>-A--C-CA-AGAAGT-CAA--</a:t>
            </a:r>
          </a:p>
          <a:p>
            <a:pPr lvl="2"/>
            <a:r>
              <a:rPr lang="en-US" altLang="zh-TW" sz="2000" dirty="0">
                <a:latin typeface="Times New Roman" panose="02020603050405020304" pitchFamily="18" charset="0"/>
                <a:ea typeface="Tahoma" panose="020B0604030504040204" pitchFamily="34" charset="0"/>
                <a:cs typeface="Times New Roman" panose="02020603050405020304" pitchFamily="18" charset="0"/>
              </a:rPr>
              <a:t>S2 : </a:t>
            </a:r>
            <a:r>
              <a:rPr lang="en-US" altLang="zh-TW" sz="2000" dirty="0">
                <a:latin typeface="Courier New" panose="02070309020205020404" pitchFamily="49" charset="0"/>
                <a:ea typeface="Tahoma" panose="020B0604030504040204" pitchFamily="34" charset="0"/>
                <a:cs typeface="Courier New" panose="02070309020205020404" pitchFamily="49" charset="0"/>
              </a:rPr>
              <a:t>TACT-ACTGTGCCTGTGACCT</a:t>
            </a:r>
          </a:p>
          <a:p>
            <a:pPr lvl="2"/>
            <a:endParaRPr lang="en-US" altLang="zh-TW" sz="2000" dirty="0">
              <a:latin typeface="Times New Roman" panose="02020603050405020304" pitchFamily="18" charset="0"/>
              <a:ea typeface="Tahoma" panose="020B0604030504040204" pitchFamily="34" charset="0"/>
              <a:cs typeface="Times New Roman" panose="02020603050405020304" pitchFamily="18" charset="0"/>
            </a:endParaRPr>
          </a:p>
          <a:p>
            <a:r>
              <a:rPr lang="en-US" altLang="zh-TW" sz="2000" dirty="0">
                <a:latin typeface="Times New Roman" panose="02020603050405020304" pitchFamily="18" charset="0"/>
                <a:ea typeface="Tahoma" panose="020B0604030504040204" pitchFamily="34" charset="0"/>
                <a:cs typeface="Times New Roman" panose="02020603050405020304" pitchFamily="18" charset="0"/>
              </a:rPr>
              <a:t>6.    Find the new current best solution by objective function :</a:t>
            </a:r>
          </a:p>
          <a:p>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a:t>
            </a:r>
            <a:r>
              <a:rPr lang="en-US" altLang="zh-TW" sz="2000" dirty="0">
                <a:solidFill>
                  <a:srgbClr val="FF0000"/>
                </a:solidFill>
                <a:latin typeface="Times New Roman" panose="02020603050405020304" pitchFamily="18" charset="0"/>
                <a:ea typeface="Tahoma" panose="020B0604030504040204" pitchFamily="34" charset="0"/>
                <a:cs typeface="Times New Roman" panose="02020603050405020304" pitchFamily="18" charset="0"/>
              </a:rPr>
              <a:t>Pair 1</a:t>
            </a: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is the best.</a:t>
            </a:r>
          </a:p>
          <a:p>
            <a:endParaRPr lang="en-US" altLang="zh-TW" sz="2000" dirty="0">
              <a:latin typeface="Times New Roman" panose="02020603050405020304" pitchFamily="18" charset="0"/>
              <a:ea typeface="Tahoma" panose="020B0604030504040204" pitchFamily="34" charset="0"/>
              <a:cs typeface="Times New Roman" panose="02020603050405020304" pitchFamily="18" charset="0"/>
            </a:endParaRPr>
          </a:p>
          <a:p>
            <a:r>
              <a:rPr lang="en-US" altLang="zh-TW" sz="2000" dirty="0">
                <a:latin typeface="Times New Roman" panose="02020603050405020304" pitchFamily="18" charset="0"/>
                <a:ea typeface="Tahoma" panose="020B0604030504040204" pitchFamily="34" charset="0"/>
                <a:cs typeface="Times New Roman" panose="02020603050405020304" pitchFamily="18" charset="0"/>
              </a:rPr>
              <a:t>7.    Take the new current best solution and decompose it into segments of non-     	matching regions : </a:t>
            </a:r>
          </a:p>
          <a:p>
            <a:endParaRPr lang="en-US" altLang="zh-TW" sz="2000" dirty="0">
              <a:latin typeface="Times New Roman" panose="02020603050405020304" pitchFamily="18" charset="0"/>
              <a:ea typeface="Tahoma" panose="020B0604030504040204" pitchFamily="34" charset="0"/>
              <a:cs typeface="Times New Roman" panose="02020603050405020304" pitchFamily="18" charset="0"/>
            </a:endParaRPr>
          </a:p>
          <a:p>
            <a:pPr lvl="2"/>
            <a:endParaRPr lang="en-US" altLang="zh-TW" sz="2000" dirty="0">
              <a:latin typeface="Times New Roman" panose="02020603050405020304" pitchFamily="18" charset="0"/>
              <a:ea typeface="Tahoma" panose="020B0604030504040204" pitchFamily="34" charset="0"/>
              <a:cs typeface="Times New Roman" panose="02020603050405020304" pitchFamily="18" charset="0"/>
            </a:endParaRPr>
          </a:p>
          <a:p>
            <a:pPr lvl="2"/>
            <a:endParaRPr lang="en-US" altLang="zh-TW" sz="2000" dirty="0">
              <a:latin typeface="Times New Roman" panose="02020603050405020304" pitchFamily="18" charset="0"/>
              <a:ea typeface="Tahoma" panose="020B0604030504040204" pitchFamily="34" charset="0"/>
              <a:cs typeface="Times New Roman" panose="02020603050405020304" pitchFamily="18" charset="0"/>
            </a:endParaRPr>
          </a:p>
          <a:p>
            <a:pPr lvl="2"/>
            <a:endParaRPr lang="en-US" altLang="zh-TW" sz="2000" dirty="0">
              <a:latin typeface="Times New Roman" panose="02020603050405020304" pitchFamily="18" charset="0"/>
              <a:ea typeface="Tahoma" panose="020B0604030504040204" pitchFamily="34" charset="0"/>
              <a:cs typeface="Times New Roman" panose="02020603050405020304" pitchFamily="18" charset="0"/>
            </a:endParaRPr>
          </a:p>
          <a:p>
            <a:pPr lvl="2"/>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a:t>
            </a:r>
          </a:p>
          <a:p>
            <a:pPr lvl="2"/>
            <a:endParaRPr lang="en-US" altLang="zh-TW" sz="2000" dirty="0">
              <a:latin typeface="Times New Roman" panose="02020603050405020304" pitchFamily="18" charset="0"/>
              <a:ea typeface="Tahoma" panose="020B0604030504040204" pitchFamily="34" charset="0"/>
              <a:cs typeface="Times New Roman" panose="02020603050405020304" pitchFamily="18" charset="0"/>
            </a:endParaRPr>
          </a:p>
          <a:p>
            <a:pPr lvl="2"/>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endParaRPr lang="en-US" altLang="zh-TW" sz="2000" dirty="0">
              <a:latin typeface="Times New Roman" panose="02020603050405020304" pitchFamily="18" charset="0"/>
              <a:ea typeface="Tahoma" panose="020B0604030504040204" pitchFamily="34" charset="0"/>
              <a:cs typeface="Times New Roman" panose="02020603050405020304" pitchFamily="18" charset="0"/>
            </a:endParaRPr>
          </a:p>
          <a:p>
            <a:pPr lvl="2"/>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endParaRPr lang="en-US" altLang="zh-TW" sz="2000" dirty="0">
              <a:latin typeface="Times New Roman" panose="02020603050405020304" pitchFamily="18" charset="0"/>
              <a:ea typeface="Tahom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306965183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518088" y="35095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Pairwise Sequence Alignment with Flower</a:t>
            </a:r>
            <a:br>
              <a:rPr lang="en-US" altLang="zh-TW" sz="3200" b="1" dirty="0">
                <a:latin typeface="Times New Roman" panose="02020603050405020304" pitchFamily="18" charset="0"/>
                <a:cs typeface="Times New Roman" panose="02020603050405020304" pitchFamily="18" charset="0"/>
              </a:rPr>
            </a:br>
            <a:r>
              <a:rPr lang="en-US" altLang="zh-TW" sz="3200" b="1" dirty="0">
                <a:latin typeface="Times New Roman" panose="02020603050405020304" pitchFamily="18" charset="0"/>
                <a:cs typeface="Times New Roman" panose="02020603050405020304" pitchFamily="18" charset="0"/>
              </a:rPr>
              <a:t>Pollination Algorithm(PSAFPA)(4/5)</a:t>
            </a:r>
            <a:endParaRPr lang="zh-TW" altLang="en-US" sz="3200" b="1" dirty="0">
              <a:latin typeface="Times New Roman" panose="02020603050405020304" pitchFamily="18" charset="0"/>
              <a:cs typeface="Times New Roman" panose="02020603050405020304" pitchFamily="18" charset="0"/>
            </a:endParaRPr>
          </a:p>
        </p:txBody>
      </p:sp>
      <p:pic>
        <p:nvPicPr>
          <p:cNvPr id="12" name="圖片 11"/>
          <p:cNvPicPr>
            <a:picLocks noChangeAspect="1"/>
          </p:cNvPicPr>
          <p:nvPr/>
        </p:nvPicPr>
        <p:blipFill>
          <a:blip r:embed="rId3"/>
          <a:stretch>
            <a:fillRect/>
          </a:stretch>
        </p:blipFill>
        <p:spPr>
          <a:xfrm>
            <a:off x="1953731" y="5537789"/>
            <a:ext cx="312390" cy="385893"/>
          </a:xfrm>
          <a:prstGeom prst="rect">
            <a:avLst/>
          </a:prstGeom>
        </p:spPr>
      </p:pic>
      <p:pic>
        <p:nvPicPr>
          <p:cNvPr id="3" name="圖片 2">
            <a:extLst>
              <a:ext uri="{FF2B5EF4-FFF2-40B4-BE49-F238E27FC236}">
                <a16:creationId xmlns:a16="http://schemas.microsoft.com/office/drawing/2014/main" id="{D5FC5FDE-0592-427F-96C5-49594215690F}"/>
              </a:ext>
            </a:extLst>
          </p:cNvPr>
          <p:cNvPicPr>
            <a:picLocks noChangeAspect="1"/>
          </p:cNvPicPr>
          <p:nvPr/>
        </p:nvPicPr>
        <p:blipFill>
          <a:blip r:embed="rId4"/>
          <a:stretch>
            <a:fillRect/>
          </a:stretch>
        </p:blipFill>
        <p:spPr>
          <a:xfrm>
            <a:off x="786286" y="1160556"/>
            <a:ext cx="7571428" cy="5276190"/>
          </a:xfrm>
          <a:prstGeom prst="rect">
            <a:avLst/>
          </a:prstGeom>
        </p:spPr>
      </p:pic>
    </p:spTree>
    <p:extLst>
      <p:ext uri="{BB962C8B-B14F-4D97-AF65-F5344CB8AC3E}">
        <p14:creationId xmlns:p14="http://schemas.microsoft.com/office/powerpoint/2010/main" val="377449376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518088" y="35095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Pairwise Sequence Alignment with Flower</a:t>
            </a:r>
            <a:br>
              <a:rPr lang="en-US" altLang="zh-TW" sz="3200" b="1" dirty="0">
                <a:latin typeface="Times New Roman" panose="02020603050405020304" pitchFamily="18" charset="0"/>
                <a:cs typeface="Times New Roman" panose="02020603050405020304" pitchFamily="18" charset="0"/>
              </a:rPr>
            </a:br>
            <a:r>
              <a:rPr lang="en-US" altLang="zh-TW" sz="3200" b="1" dirty="0">
                <a:latin typeface="Times New Roman" panose="02020603050405020304" pitchFamily="18" charset="0"/>
                <a:cs typeface="Times New Roman" panose="02020603050405020304" pitchFamily="18" charset="0"/>
              </a:rPr>
              <a:t>Pollination Algorithm(PSAFPA)(5/5)</a:t>
            </a:r>
            <a:endParaRPr lang="zh-TW" altLang="en-US" sz="3200" b="1" dirty="0">
              <a:latin typeface="Times New Roman" panose="02020603050405020304" pitchFamily="18" charset="0"/>
              <a:cs typeface="Times New Roman" panose="02020603050405020304" pitchFamily="18" charset="0"/>
            </a:endParaRPr>
          </a:p>
        </p:txBody>
      </p:sp>
      <p:pic>
        <p:nvPicPr>
          <p:cNvPr id="12" name="圖片 11"/>
          <p:cNvPicPr>
            <a:picLocks noChangeAspect="1"/>
          </p:cNvPicPr>
          <p:nvPr/>
        </p:nvPicPr>
        <p:blipFill>
          <a:blip r:embed="rId3"/>
          <a:stretch>
            <a:fillRect/>
          </a:stretch>
        </p:blipFill>
        <p:spPr>
          <a:xfrm>
            <a:off x="1953731" y="5537789"/>
            <a:ext cx="312390" cy="385893"/>
          </a:xfrm>
          <a:prstGeom prst="rect">
            <a:avLst/>
          </a:prstGeom>
        </p:spPr>
      </p:pic>
      <p:sp>
        <p:nvSpPr>
          <p:cNvPr id="5" name="矩形 4">
            <a:extLst>
              <a:ext uri="{FF2B5EF4-FFF2-40B4-BE49-F238E27FC236}">
                <a16:creationId xmlns:a16="http://schemas.microsoft.com/office/drawing/2014/main" id="{6D788C14-77AA-4043-8DA6-E287782E3E4C}"/>
              </a:ext>
            </a:extLst>
          </p:cNvPr>
          <p:cNvSpPr/>
          <p:nvPr/>
        </p:nvSpPr>
        <p:spPr>
          <a:xfrm>
            <a:off x="501164" y="1268888"/>
            <a:ext cx="8642836" cy="3785652"/>
          </a:xfrm>
          <a:prstGeom prst="rect">
            <a:avLst/>
          </a:prstGeom>
        </p:spPr>
        <p:txBody>
          <a:bodyPr wrap="square">
            <a:spAutoFit/>
          </a:bodyPr>
          <a:lstStyle/>
          <a:p>
            <a:pPr marL="457200" indent="-457200">
              <a:buAutoNum type="arabicPeriod" startAt="8"/>
            </a:pP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Summation of the best solution of each segment to the current best solution,     	and get the final best solution.</a:t>
            </a:r>
          </a:p>
          <a:p>
            <a:pPr marL="457200" indent="-457200">
              <a:buAutoNum type="arabicPeriod" startAt="8"/>
            </a:pPr>
            <a:endParaRPr lang="en-US" altLang="zh-TW" sz="2000" dirty="0">
              <a:latin typeface="Times New Roman" panose="02020603050405020304" pitchFamily="18" charset="0"/>
              <a:ea typeface="Tahoma" panose="020B0604030504040204" pitchFamily="34" charset="0"/>
              <a:cs typeface="Times New Roman" panose="02020603050405020304" pitchFamily="18" charset="0"/>
            </a:endParaRPr>
          </a:p>
          <a:p>
            <a:pPr marL="457200" indent="-457200">
              <a:buAutoNum type="arabicPeriod" startAt="8"/>
            </a:pP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Loop </a:t>
            </a:r>
            <a:r>
              <a:rPr lang="en-US" altLang="zh-TW" sz="2000">
                <a:latin typeface="Times New Roman" panose="02020603050405020304" pitchFamily="18" charset="0"/>
                <a:ea typeface="Tahoma" panose="020B0604030504040204" pitchFamily="34" charset="0"/>
                <a:cs typeface="Times New Roman" panose="02020603050405020304" pitchFamily="18" charset="0"/>
              </a:rPr>
              <a:t>step 5 </a:t>
            </a: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step 8.</a:t>
            </a:r>
          </a:p>
          <a:p>
            <a:endParaRPr lang="en-US" altLang="zh-TW" sz="2000" dirty="0">
              <a:latin typeface="Times New Roman" panose="02020603050405020304" pitchFamily="18" charset="0"/>
              <a:ea typeface="Tahoma" panose="020B0604030504040204" pitchFamily="34" charset="0"/>
              <a:cs typeface="Times New Roman" panose="02020603050405020304" pitchFamily="18" charset="0"/>
            </a:endParaRPr>
          </a:p>
          <a:p>
            <a:pPr lvl="2"/>
            <a:endParaRPr lang="en-US" altLang="zh-TW" sz="2000" dirty="0">
              <a:latin typeface="Times New Roman" panose="02020603050405020304" pitchFamily="18" charset="0"/>
              <a:ea typeface="Tahoma" panose="020B0604030504040204" pitchFamily="34" charset="0"/>
              <a:cs typeface="Times New Roman" panose="02020603050405020304" pitchFamily="18" charset="0"/>
            </a:endParaRPr>
          </a:p>
          <a:p>
            <a:pPr lvl="2"/>
            <a:endParaRPr lang="en-US" altLang="zh-TW" sz="2000" dirty="0">
              <a:latin typeface="Times New Roman" panose="02020603050405020304" pitchFamily="18" charset="0"/>
              <a:ea typeface="Tahoma" panose="020B0604030504040204" pitchFamily="34" charset="0"/>
              <a:cs typeface="Times New Roman" panose="02020603050405020304" pitchFamily="18" charset="0"/>
            </a:endParaRPr>
          </a:p>
          <a:p>
            <a:pPr lvl="2"/>
            <a:endParaRPr lang="en-US" altLang="zh-TW" sz="2000" dirty="0">
              <a:latin typeface="Times New Roman" panose="02020603050405020304" pitchFamily="18" charset="0"/>
              <a:ea typeface="Tahoma" panose="020B0604030504040204" pitchFamily="34" charset="0"/>
              <a:cs typeface="Times New Roman" panose="02020603050405020304" pitchFamily="18" charset="0"/>
            </a:endParaRPr>
          </a:p>
          <a:p>
            <a:pPr lvl="2"/>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a:t>
            </a:r>
          </a:p>
          <a:p>
            <a:pPr lvl="2"/>
            <a:endParaRPr lang="en-US" altLang="zh-TW" sz="2000" dirty="0">
              <a:latin typeface="Times New Roman" panose="02020603050405020304" pitchFamily="18" charset="0"/>
              <a:ea typeface="Tahoma" panose="020B0604030504040204" pitchFamily="34" charset="0"/>
              <a:cs typeface="Times New Roman" panose="02020603050405020304" pitchFamily="18" charset="0"/>
            </a:endParaRPr>
          </a:p>
          <a:p>
            <a:pPr lvl="2"/>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endParaRPr lang="en-US" altLang="zh-TW" sz="2000" dirty="0">
              <a:latin typeface="Times New Roman" panose="02020603050405020304" pitchFamily="18" charset="0"/>
              <a:ea typeface="Tahoma" panose="020B0604030504040204" pitchFamily="34" charset="0"/>
              <a:cs typeface="Times New Roman" panose="02020603050405020304" pitchFamily="18" charset="0"/>
            </a:endParaRPr>
          </a:p>
          <a:p>
            <a:pPr lvl="2"/>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endParaRPr lang="en-US" altLang="zh-TW" sz="2000" dirty="0">
              <a:latin typeface="Times New Roman" panose="02020603050405020304" pitchFamily="18" charset="0"/>
              <a:ea typeface="Tahom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176599038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518088" y="35095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Results (1/2)</a:t>
            </a:r>
            <a:endParaRPr lang="zh-TW" altLang="en-US" sz="3200" b="1" dirty="0">
              <a:latin typeface="Times New Roman" panose="02020603050405020304" pitchFamily="18" charset="0"/>
              <a:cs typeface="Times New Roman" panose="02020603050405020304" pitchFamily="18" charset="0"/>
            </a:endParaRPr>
          </a:p>
        </p:txBody>
      </p:sp>
      <p:pic>
        <p:nvPicPr>
          <p:cNvPr id="12" name="圖片 11"/>
          <p:cNvPicPr>
            <a:picLocks noChangeAspect="1"/>
          </p:cNvPicPr>
          <p:nvPr/>
        </p:nvPicPr>
        <p:blipFill>
          <a:blip r:embed="rId3"/>
          <a:stretch>
            <a:fillRect/>
          </a:stretch>
        </p:blipFill>
        <p:spPr>
          <a:xfrm>
            <a:off x="1953731" y="5537789"/>
            <a:ext cx="312390" cy="385893"/>
          </a:xfrm>
          <a:prstGeom prst="rect">
            <a:avLst/>
          </a:prstGeom>
        </p:spPr>
      </p:pic>
      <p:pic>
        <p:nvPicPr>
          <p:cNvPr id="3" name="圖片 2">
            <a:extLst>
              <a:ext uri="{FF2B5EF4-FFF2-40B4-BE49-F238E27FC236}">
                <a16:creationId xmlns:a16="http://schemas.microsoft.com/office/drawing/2014/main" id="{5E54D254-3118-4508-A732-9A0EE546E432}"/>
              </a:ext>
            </a:extLst>
          </p:cNvPr>
          <p:cNvPicPr>
            <a:picLocks noChangeAspect="1"/>
          </p:cNvPicPr>
          <p:nvPr/>
        </p:nvPicPr>
        <p:blipFill>
          <a:blip r:embed="rId4"/>
          <a:stretch>
            <a:fillRect/>
          </a:stretch>
        </p:blipFill>
        <p:spPr>
          <a:xfrm>
            <a:off x="46239" y="1053778"/>
            <a:ext cx="4717782" cy="3294485"/>
          </a:xfrm>
          <a:prstGeom prst="rect">
            <a:avLst/>
          </a:prstGeom>
        </p:spPr>
      </p:pic>
      <p:pic>
        <p:nvPicPr>
          <p:cNvPr id="4" name="圖片 3">
            <a:extLst>
              <a:ext uri="{FF2B5EF4-FFF2-40B4-BE49-F238E27FC236}">
                <a16:creationId xmlns:a16="http://schemas.microsoft.com/office/drawing/2014/main" id="{E38872BA-9432-4608-97CD-8546564AB85A}"/>
              </a:ext>
            </a:extLst>
          </p:cNvPr>
          <p:cNvPicPr>
            <a:picLocks noChangeAspect="1"/>
          </p:cNvPicPr>
          <p:nvPr/>
        </p:nvPicPr>
        <p:blipFill>
          <a:blip r:embed="rId5"/>
          <a:stretch>
            <a:fillRect/>
          </a:stretch>
        </p:blipFill>
        <p:spPr>
          <a:xfrm>
            <a:off x="4628418" y="2837025"/>
            <a:ext cx="4199636" cy="3762173"/>
          </a:xfrm>
          <a:prstGeom prst="rect">
            <a:avLst/>
          </a:prstGeom>
        </p:spPr>
      </p:pic>
    </p:spTree>
    <p:extLst>
      <p:ext uri="{BB962C8B-B14F-4D97-AF65-F5344CB8AC3E}">
        <p14:creationId xmlns:p14="http://schemas.microsoft.com/office/powerpoint/2010/main" val="547086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518088" y="35095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Results (2/2)</a:t>
            </a:r>
            <a:endParaRPr lang="zh-TW" altLang="en-US" sz="3200" b="1" dirty="0">
              <a:latin typeface="Times New Roman" panose="02020603050405020304" pitchFamily="18" charset="0"/>
              <a:cs typeface="Times New Roman" panose="02020603050405020304" pitchFamily="18" charset="0"/>
            </a:endParaRPr>
          </a:p>
        </p:txBody>
      </p:sp>
      <p:pic>
        <p:nvPicPr>
          <p:cNvPr id="12" name="圖片 11"/>
          <p:cNvPicPr>
            <a:picLocks noChangeAspect="1"/>
          </p:cNvPicPr>
          <p:nvPr/>
        </p:nvPicPr>
        <p:blipFill>
          <a:blip r:embed="rId3"/>
          <a:stretch>
            <a:fillRect/>
          </a:stretch>
        </p:blipFill>
        <p:spPr>
          <a:xfrm>
            <a:off x="1953731" y="5537789"/>
            <a:ext cx="312390" cy="385893"/>
          </a:xfrm>
          <a:prstGeom prst="rect">
            <a:avLst/>
          </a:prstGeom>
        </p:spPr>
      </p:pic>
      <p:pic>
        <p:nvPicPr>
          <p:cNvPr id="5" name="圖片 4">
            <a:extLst>
              <a:ext uri="{FF2B5EF4-FFF2-40B4-BE49-F238E27FC236}">
                <a16:creationId xmlns:a16="http://schemas.microsoft.com/office/drawing/2014/main" id="{88DD0B42-84F6-4E38-9715-1DB2C35BF729}"/>
              </a:ext>
            </a:extLst>
          </p:cNvPr>
          <p:cNvPicPr>
            <a:picLocks noChangeAspect="1"/>
          </p:cNvPicPr>
          <p:nvPr/>
        </p:nvPicPr>
        <p:blipFill>
          <a:blip r:embed="rId4"/>
          <a:stretch>
            <a:fillRect/>
          </a:stretch>
        </p:blipFill>
        <p:spPr>
          <a:xfrm>
            <a:off x="110095" y="1082123"/>
            <a:ext cx="8923809" cy="5219048"/>
          </a:xfrm>
          <a:prstGeom prst="rect">
            <a:avLst/>
          </a:prstGeom>
        </p:spPr>
      </p:pic>
    </p:spTree>
    <p:extLst>
      <p:ext uri="{BB962C8B-B14F-4D97-AF65-F5344CB8AC3E}">
        <p14:creationId xmlns:p14="http://schemas.microsoft.com/office/powerpoint/2010/main" val="186036327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theme/theme1.xml><?xml version="1.0" encoding="utf-8"?>
<a:theme xmlns:a="http://schemas.openxmlformats.org/drawingml/2006/main" name="Office 佈景主題">
  <a:themeElements>
    <a:clrScheme name="Office 佈景主題">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佈景主題">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92556</TotalTime>
  <Words>655</Words>
  <Application>Microsoft Office PowerPoint</Application>
  <PresentationFormat>如螢幕大小 (4:3)</PresentationFormat>
  <Paragraphs>105</Paragraphs>
  <Slides>12</Slides>
  <Notes>12</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12</vt:i4>
      </vt:variant>
    </vt:vector>
  </HeadingPairs>
  <TitlesOfParts>
    <vt:vector size="19" baseType="lpstr">
      <vt:lpstr>GulliverRM</vt:lpstr>
      <vt:lpstr>Arial</vt:lpstr>
      <vt:lpstr>Calibri</vt:lpstr>
      <vt:lpstr>Calibri Light</vt:lpstr>
      <vt:lpstr>Courier New</vt:lpstr>
      <vt:lpstr>Times New Roman</vt:lpstr>
      <vt:lpstr>Office 佈景主題</vt:lpstr>
      <vt:lpstr>Pairwise Sequence Alignment Method Using Flower Pollination Algorithm</vt:lpstr>
      <vt:lpstr>Abstract(1/2)</vt:lpstr>
      <vt:lpstr>Abstract(2/2)</vt:lpstr>
      <vt:lpstr>Flower Pollination Algorithm (FPA)(1/2)</vt:lpstr>
      <vt:lpstr>Flower Pollination Algorithm (FPA)(2/2)</vt:lpstr>
      <vt:lpstr>Pairwise Sequence Alignment with Flower Pollination Algorithm(PSAFPA)(1/5)</vt:lpstr>
      <vt:lpstr>Pairwise Sequence Alignment with Flower Pollination Algorithm(PSAFPA)(2/5)</vt:lpstr>
      <vt:lpstr>Pairwise Sequence Alignment with Flower Pollination Algorithm(PSAFPA)(3/5)</vt:lpstr>
      <vt:lpstr>Pairwise Sequence Alignment with Flower Pollination Algorithm(PSAFPA)(4/5)</vt:lpstr>
      <vt:lpstr>Pairwise Sequence Alignment with Flower Pollination Algorithm(PSAFPA)(5/5)</vt:lpstr>
      <vt:lpstr>Results (1/2)</vt:lpstr>
      <vt:lpstr>Results (2/2)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fast algorithm for computing a longest common increasing subsequence</dc:title>
  <dc:creator/>
  <cp:lastModifiedBy>pplab</cp:lastModifiedBy>
  <cp:revision>963</cp:revision>
  <dcterms:created xsi:type="dcterms:W3CDTF">2017-09-25T08:45:50Z</dcterms:created>
  <dcterms:modified xsi:type="dcterms:W3CDTF">2020-10-27T12:58:33Z</dcterms:modified>
</cp:coreProperties>
</file>