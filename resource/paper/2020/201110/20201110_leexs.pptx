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56" r:id="rId4"/>
    <p:sldId id="357" r:id="rId5"/>
    <p:sldId id="358" r:id="rId6"/>
    <p:sldId id="359" r:id="rId7"/>
    <p:sldId id="360" r:id="rId8"/>
    <p:sldId id="361" r:id="rId9"/>
    <p:sldId id="368" r:id="rId10"/>
    <p:sldId id="369" r:id="rId11"/>
    <p:sldId id="367"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4AE13A-211E-4E47-A7EB-D84290B0D19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2FAB6A44-D0D2-4FC4-886D-4093BAA4CE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7EFCF60-553C-43AF-B7DA-A9B61B385BB1}"/>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5" name="頁尾版面配置區 4">
            <a:extLst>
              <a:ext uri="{FF2B5EF4-FFF2-40B4-BE49-F238E27FC236}">
                <a16:creationId xmlns:a16="http://schemas.microsoft.com/office/drawing/2014/main" id="{D53B7799-8CD9-445D-954E-234E6C9C641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7A1CAA5-96BB-4FFB-A324-661118EB7210}"/>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1016024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44A0997-A018-49EF-A427-B5981B6E156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257EA4B-BBF5-4EDD-9B9B-A7927764C464}"/>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2210C9C-73CF-45C5-83C9-8752D2600B42}"/>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5" name="頁尾版面配置區 4">
            <a:extLst>
              <a:ext uri="{FF2B5EF4-FFF2-40B4-BE49-F238E27FC236}">
                <a16:creationId xmlns:a16="http://schemas.microsoft.com/office/drawing/2014/main" id="{748429B1-5B0E-42C5-AAB2-7EFE1B2C991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26DF500-1716-4340-9E20-8174AE761D83}"/>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1785251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ABD9C-F72D-44F2-AC28-A579A0B7399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94AEE247-EB64-4752-877D-3E1D24B732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959682C2-5A83-4C31-B39E-EAD29DEFCECF}"/>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5" name="頁尾版面配置區 4">
            <a:extLst>
              <a:ext uri="{FF2B5EF4-FFF2-40B4-BE49-F238E27FC236}">
                <a16:creationId xmlns:a16="http://schemas.microsoft.com/office/drawing/2014/main" id="{08A27F55-9D16-445D-B04F-61F5C876A04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5A22C6C-39AF-40E8-9A72-DF7BA238C640}"/>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2365220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2ED3ED-7039-4C84-9CFC-3D825EB2BFF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766A8CD-A19F-4B60-9B0B-EE6DC86EFBF7}"/>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7F2D077-9E77-474B-955C-7AF7C14E014A}"/>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9F3EACD-88E3-4EE7-BE02-D13AF45CCFD6}"/>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6" name="頁尾版面配置區 5">
            <a:extLst>
              <a:ext uri="{FF2B5EF4-FFF2-40B4-BE49-F238E27FC236}">
                <a16:creationId xmlns:a16="http://schemas.microsoft.com/office/drawing/2014/main" id="{6E9BAE2F-8DF0-492E-98DE-EEB3B0F5D14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71D4D78-D597-4488-9542-F509B6EA2DFB}"/>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928928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5BBBDE-978E-49D1-B227-0135DF1C4AB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D40FF08-6F64-4C08-85C7-23549C0940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41B39FC2-F553-484C-B232-19FD4AF3F54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540D853A-5C23-4614-94E2-2D90D51390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9FB03D4-B95C-4D69-9DA6-8EBB1F8707C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5E090D0-2B85-4327-8FF2-390CD647F321}"/>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8" name="頁尾版面配置區 7">
            <a:extLst>
              <a:ext uri="{FF2B5EF4-FFF2-40B4-BE49-F238E27FC236}">
                <a16:creationId xmlns:a16="http://schemas.microsoft.com/office/drawing/2014/main" id="{EC299350-2D70-42C3-AF7B-7A46E3FC609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84ECAE2-7F4D-4529-B5AA-42D07D58034E}"/>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3779269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464906-8D85-4E21-8952-043F3DA9FBD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600D8B61-E67B-43C9-B296-67BBF9721D57}"/>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4" name="頁尾版面配置區 3">
            <a:extLst>
              <a:ext uri="{FF2B5EF4-FFF2-40B4-BE49-F238E27FC236}">
                <a16:creationId xmlns:a16="http://schemas.microsoft.com/office/drawing/2014/main" id="{C0D4106D-42C3-404F-8E23-43BBB45916E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314445A-EF34-4847-96AF-F2AB13F7293D}"/>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3765078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3635D05-B519-419A-A100-FAB1E30AA58F}"/>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3" name="頁尾版面配置區 2">
            <a:extLst>
              <a:ext uri="{FF2B5EF4-FFF2-40B4-BE49-F238E27FC236}">
                <a16:creationId xmlns:a16="http://schemas.microsoft.com/office/drawing/2014/main" id="{7B4A2448-800E-49A7-A89C-C13AF3148223}"/>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F8E8C12E-E8C2-46B1-9C1E-1998F3B24FE9}"/>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260789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35A3C9-F8C7-4462-83C2-2EA46CDC8E4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D85602C4-C424-4F50-9BAB-C95E07F672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F413281-DFB6-4E18-96FB-3C6ADF83D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A8469CB-314A-4738-BD5E-220A291E4D20}"/>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6" name="頁尾版面配置區 5">
            <a:extLst>
              <a:ext uri="{FF2B5EF4-FFF2-40B4-BE49-F238E27FC236}">
                <a16:creationId xmlns:a16="http://schemas.microsoft.com/office/drawing/2014/main" id="{C7470B56-A2AB-48B3-B756-FD3E8591631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5EF7813-B48B-49BB-84E8-39A55E3B651E}"/>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1311191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8771BC-80AF-405D-9D12-7FF0B6E9A9A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A7054D9-F8FA-4CB9-A4A0-E85F61D824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3B34CEA-F2B8-4527-9CB3-D026A3ACC5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4A331E5-FD9B-4BA2-974E-8AF2D61E4CD0}"/>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6" name="頁尾版面配置區 5">
            <a:extLst>
              <a:ext uri="{FF2B5EF4-FFF2-40B4-BE49-F238E27FC236}">
                <a16:creationId xmlns:a16="http://schemas.microsoft.com/office/drawing/2014/main" id="{2EB2D09E-55F8-4521-AB69-4744D46E808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EF683E8-7AB6-48F3-9B9A-89B6FDE98B68}"/>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2415608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EBC6D1-0AC9-4BA8-9021-7E2C30A7CC7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64075B5A-00C5-45BD-BE96-7CAFE9BA4E7E}"/>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35D2B63-F2A9-4870-AEAD-AE269335E60A}"/>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5" name="頁尾版面配置區 4">
            <a:extLst>
              <a:ext uri="{FF2B5EF4-FFF2-40B4-BE49-F238E27FC236}">
                <a16:creationId xmlns:a16="http://schemas.microsoft.com/office/drawing/2014/main" id="{E59D350B-8383-4595-887E-90F4EEDD738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31292BA-0B68-41FA-91C6-BA7136782609}"/>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471699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2B6726C-7923-425F-AEBF-9329576BDC1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BCDCF82E-AD6B-4488-8BC7-958C9DAD03DB}"/>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EFCC960-6526-45B7-90CF-7B656DCFD787}"/>
              </a:ext>
            </a:extLst>
          </p:cNvPr>
          <p:cNvSpPr>
            <a:spLocks noGrp="1"/>
          </p:cNvSpPr>
          <p:nvPr>
            <p:ph type="dt" sz="half" idx="10"/>
          </p:nvPr>
        </p:nvSpPr>
        <p:spPr/>
        <p:txBody>
          <a:bodyPr/>
          <a:lstStyle/>
          <a:p>
            <a:fld id="{85E3B7ED-0514-4986-B83F-DF0B54703016}" type="datetimeFigureOut">
              <a:rPr lang="zh-TW" altLang="en-US" smtClean="0"/>
              <a:t>2020/11/10</a:t>
            </a:fld>
            <a:endParaRPr lang="zh-TW" altLang="en-US"/>
          </a:p>
        </p:txBody>
      </p:sp>
      <p:sp>
        <p:nvSpPr>
          <p:cNvPr id="5" name="頁尾版面配置區 4">
            <a:extLst>
              <a:ext uri="{FF2B5EF4-FFF2-40B4-BE49-F238E27FC236}">
                <a16:creationId xmlns:a16="http://schemas.microsoft.com/office/drawing/2014/main" id="{8442E88D-71CC-4C83-88BC-79EB9C20E26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1FC8CCA-63E7-476B-9967-561E1A021017}"/>
              </a:ext>
            </a:extLst>
          </p:cNvPr>
          <p:cNvSpPr>
            <a:spLocks noGrp="1"/>
          </p:cNvSpPr>
          <p:nvPr>
            <p:ph type="sldNum" sz="quarter" idx="12"/>
          </p:nvPr>
        </p:nvSpPr>
        <p:spPr/>
        <p:txBody>
          <a:body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12843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1D4AEF9-B144-41BC-9F4C-0EFF4601D4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6312C39-FF59-4728-BA45-EDB47A9D77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7217ED9-1FA1-4E85-BEC1-6E608AFD0C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E3B7ED-0514-4986-B83F-DF0B54703016}" type="datetimeFigureOut">
              <a:rPr lang="zh-TW" altLang="en-US" smtClean="0"/>
              <a:t>2020/11/10</a:t>
            </a:fld>
            <a:endParaRPr lang="zh-TW" altLang="en-US"/>
          </a:p>
        </p:txBody>
      </p:sp>
      <p:sp>
        <p:nvSpPr>
          <p:cNvPr id="5" name="頁尾版面配置區 4">
            <a:extLst>
              <a:ext uri="{FF2B5EF4-FFF2-40B4-BE49-F238E27FC236}">
                <a16:creationId xmlns:a16="http://schemas.microsoft.com/office/drawing/2014/main" id="{11E64C88-2D43-463E-A7F7-69C37ACE90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2954046-F1C7-47ED-942D-F232CEC851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06104-0CE1-46CF-A62F-38EA20323E73}" type="slidenum">
              <a:rPr lang="zh-TW" altLang="en-US" smtClean="0"/>
              <a:t>‹#›</a:t>
            </a:fld>
            <a:endParaRPr lang="zh-TW" altLang="en-US"/>
          </a:p>
        </p:txBody>
      </p:sp>
    </p:spTree>
    <p:extLst>
      <p:ext uri="{BB962C8B-B14F-4D97-AF65-F5344CB8AC3E}">
        <p14:creationId xmlns:p14="http://schemas.microsoft.com/office/powerpoint/2010/main" val="2666449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1416424" y="1443066"/>
            <a:ext cx="9359152" cy="1766564"/>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sz="3600" dirty="0">
                <a:latin typeface="Times New Roman" panose="02020603050405020304" pitchFamily="18" charset="0"/>
                <a:ea typeface="Arial Unicode MS" pitchFamily="34" charset="-120"/>
                <a:cs typeface="Times New Roman" panose="02020603050405020304" pitchFamily="18" charset="0"/>
              </a:rPr>
              <a:t>Semi-local longest common subsequences in </a:t>
            </a:r>
            <a:r>
              <a:rPr lang="en-US" altLang="zh-TW" sz="3600" dirty="0" err="1">
                <a:latin typeface="Times New Roman" panose="02020603050405020304" pitchFamily="18" charset="0"/>
                <a:ea typeface="Arial Unicode MS" pitchFamily="34" charset="-120"/>
                <a:cs typeface="Times New Roman" panose="02020603050405020304" pitchFamily="18" charset="0"/>
              </a:rPr>
              <a:t>subquadratic</a:t>
            </a:r>
            <a:r>
              <a:rPr lang="en-US" altLang="zh-TW" sz="3600" dirty="0">
                <a:latin typeface="Times New Roman" panose="02020603050405020304" pitchFamily="18" charset="0"/>
                <a:ea typeface="Arial Unicode MS" pitchFamily="34" charset="-120"/>
                <a:cs typeface="Times New Roman" panose="02020603050405020304" pitchFamily="18" charset="0"/>
              </a:rPr>
              <a:t> time</a:t>
            </a:r>
            <a:endParaRPr lang="zh-TW" altLang="en-US" sz="3600" dirty="0">
              <a:latin typeface="Times New Roman" panose="02020603050405020304" pitchFamily="18" charset="0"/>
              <a:ea typeface="Arial Unicode MS" pitchFamily="34" charset="-120"/>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077294836"/>
              </p:ext>
            </p:extLst>
          </p:nvPr>
        </p:nvGraphicFramePr>
        <p:xfrm>
          <a:off x="3057150" y="3429000"/>
          <a:ext cx="6077700" cy="1500105"/>
        </p:xfrm>
        <a:graphic>
          <a:graphicData uri="http://schemas.openxmlformats.org/drawingml/2006/table">
            <a:tbl>
              <a:tblPr/>
              <a:tblGrid>
                <a:gridCol w="6077700">
                  <a:extLst>
                    <a:ext uri="{9D8B030D-6E8A-4147-A177-3AD203B41FA5}">
                      <a16:colId xmlns:a16="http://schemas.microsoft.com/office/drawing/2014/main" val="20000"/>
                    </a:ext>
                  </a:extLst>
                </a:gridCol>
              </a:tblGrid>
              <a:tr h="846860">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zh-TW" sz="1800" dirty="0">
                          <a:solidFill>
                            <a:schemeClr val="tx1"/>
                          </a:solidFill>
                          <a:latin typeface="Times New Roman" panose="02020603050405020304" pitchFamily="18" charset="0"/>
                          <a:cs typeface="Times New Roman" panose="02020603050405020304" pitchFamily="18" charset="0"/>
                        </a:rPr>
                        <a:t>Alexander </a:t>
                      </a:r>
                      <a:r>
                        <a:rPr lang="en-US" altLang="zh-TW" sz="1800" dirty="0" err="1">
                          <a:solidFill>
                            <a:schemeClr val="tx1"/>
                          </a:solidFill>
                          <a:latin typeface="Times New Roman" panose="02020603050405020304" pitchFamily="18" charset="0"/>
                          <a:cs typeface="Times New Roman" panose="02020603050405020304" pitchFamily="18" charset="0"/>
                        </a:rPr>
                        <a:t>Tiskin</a:t>
                      </a:r>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 Journal of Discrete Algorithms, </a:t>
                      </a:r>
                      <a:r>
                        <a:rPr lang="en-US" altLang="zh-TW" sz="1800" b="0" i="0" u="none" kern="1200" dirty="0">
                          <a:solidFill>
                            <a:schemeClr val="tx1"/>
                          </a:solidFill>
                          <a:effectLst/>
                          <a:latin typeface="Times New Roman" panose="02020603050405020304" pitchFamily="18" charset="0"/>
                          <a:ea typeface="+mn-ea"/>
                          <a:cs typeface="Times New Roman" panose="02020603050405020304" pitchFamily="18" charset="0"/>
                        </a:rPr>
                        <a:t>Volume</a:t>
                      </a:r>
                      <a:r>
                        <a:rPr lang="en-US" altLang="zh-TW" sz="1800" b="0" i="0" u="none" kern="1200" baseline="0" dirty="0">
                          <a:solidFill>
                            <a:schemeClr val="tx1"/>
                          </a:solidFill>
                          <a:effectLst/>
                          <a:latin typeface="Times New Roman" panose="02020603050405020304" pitchFamily="18" charset="0"/>
                          <a:ea typeface="+mn-ea"/>
                          <a:cs typeface="Times New Roman" panose="02020603050405020304" pitchFamily="18" charset="0"/>
                        </a:rPr>
                        <a:t> 6, Issue 4</a:t>
                      </a:r>
                      <a:r>
                        <a:rPr lang="en-US" altLang="zh-TW" sz="1800" b="0" i="0" u="none" kern="1200" dirty="0">
                          <a:solidFill>
                            <a:schemeClr val="tx1"/>
                          </a:solidFill>
                          <a:effectLst/>
                          <a:latin typeface="Times New Roman" panose="02020603050405020304" pitchFamily="18" charset="0"/>
                          <a:ea typeface="+mn-ea"/>
                          <a:cs typeface="Times New Roman" panose="02020603050405020304" pitchFamily="18" charset="0"/>
                        </a:rPr>
                        <a:t>, Pages </a:t>
                      </a:r>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570–581, 2008.</a:t>
                      </a:r>
                    </a:p>
                  </a:txBody>
                  <a:tcPr marL="95251" marR="9525" marT="9523" marB="9523">
                    <a:lnL>
                      <a:noFill/>
                    </a:lnL>
                    <a:lnR>
                      <a:noFill/>
                    </a:lnR>
                    <a:lnT>
                      <a:noFill/>
                    </a:lnT>
                    <a:lnB>
                      <a:noFill/>
                    </a:lnB>
                    <a:solidFill>
                      <a:srgbClr val="FFFFFF"/>
                    </a:solidFill>
                  </a:tcPr>
                </a:tc>
                <a:extLst>
                  <a:ext uri="{0D108BD9-81ED-4DB2-BD59-A6C34878D82A}">
                    <a16:rowId xmlns:a16="http://schemas.microsoft.com/office/drawing/2014/main" val="10000"/>
                  </a:ext>
                </a:extLst>
              </a:tr>
              <a:tr h="653245">
                <a:tc>
                  <a:txBody>
                    <a:bodyPr/>
                    <a:lstStyle/>
                    <a:p>
                      <a:pPr algn="ctr"/>
                      <a:endParaRPr lang="zh-TW" altLang="en-US" sz="1600" kern="1200" dirty="0">
                        <a:solidFill>
                          <a:schemeClr val="tx1"/>
                        </a:solidFill>
                        <a:effectLst/>
                        <a:latin typeface="Verdana" panose="020B0604030504040204" pitchFamily="34" charset="0"/>
                        <a:ea typeface="+mn-ea"/>
                        <a:cs typeface="+mn-cs"/>
                      </a:endParaRPr>
                    </a:p>
                  </a:txBody>
                  <a:tcPr marL="95251" marR="9525" marT="9523" marB="95225">
                    <a:lnL>
                      <a:noFill/>
                    </a:lnL>
                    <a:lnR>
                      <a:noFill/>
                    </a:lnR>
                    <a:lnT>
                      <a:noFill/>
                    </a:lnT>
                    <a:lnB>
                      <a:noFill/>
                    </a:lnB>
                    <a:solidFill>
                      <a:srgbClr val="FFFFFF"/>
                    </a:solidFill>
                  </a:tcPr>
                </a:tc>
                <a:extLst>
                  <a:ext uri="{0D108BD9-81ED-4DB2-BD59-A6C34878D82A}">
                    <a16:rowId xmlns:a16="http://schemas.microsoft.com/office/drawing/2014/main" val="10001"/>
                  </a:ext>
                </a:extLst>
              </a:tr>
            </a:tbl>
          </a:graphicData>
        </a:graphic>
      </p:graphicFrame>
      <p:sp>
        <p:nvSpPr>
          <p:cNvPr id="2" name="投影片編號版面配置區 1"/>
          <p:cNvSpPr>
            <a:spLocks noGrp="1"/>
          </p:cNvSpPr>
          <p:nvPr>
            <p:ph type="sldNum" sz="quarter" idx="12"/>
          </p:nvPr>
        </p:nvSpPr>
        <p:spPr/>
        <p:txBody>
          <a:bodyPr/>
          <a:lstStyle/>
          <a:p>
            <a:fld id="{0C029359-40AB-419B-8FBB-45C7471E1ED3}" type="slidenum">
              <a:rPr lang="zh-TW" altLang="en-US" smtClean="0"/>
              <a:t>1</a:t>
            </a:fld>
            <a:endParaRPr lang="zh-TW" altLang="en-US"/>
          </a:p>
        </p:txBody>
      </p:sp>
      <p:sp>
        <p:nvSpPr>
          <p:cNvPr id="3" name="矩形 2">
            <a:extLst>
              <a:ext uri="{FF2B5EF4-FFF2-40B4-BE49-F238E27FC236}">
                <a16:creationId xmlns:a16="http://schemas.microsoft.com/office/drawing/2014/main" id="{54F2CA43-A19C-4846-B33D-2238F4208FF7}"/>
              </a:ext>
            </a:extLst>
          </p:cNvPr>
          <p:cNvSpPr/>
          <p:nvPr/>
        </p:nvSpPr>
        <p:spPr>
          <a:xfrm>
            <a:off x="8251595" y="5367846"/>
            <a:ext cx="3560191" cy="830997"/>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Presenter: Shao-Xuan Lee</a:t>
            </a:r>
          </a:p>
          <a:p>
            <a:r>
              <a:rPr lang="en-US" altLang="zh-TW" sz="2400" dirty="0">
                <a:latin typeface="Times New Roman" panose="02020603050405020304" pitchFamily="18" charset="0"/>
                <a:cs typeface="Times New Roman" panose="02020603050405020304" pitchFamily="18" charset="0"/>
              </a:rPr>
              <a:t>Date: Nov. 10, 2020</a:t>
            </a:r>
          </a:p>
        </p:txBody>
      </p:sp>
    </p:spTree>
    <p:extLst>
      <p:ext uri="{BB962C8B-B14F-4D97-AF65-F5344CB8AC3E}">
        <p14:creationId xmlns:p14="http://schemas.microsoft.com/office/powerpoint/2010/main" val="14946692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59CA6C89-679E-4225-A72C-D1CE2A4B52B7}"/>
              </a:ext>
            </a:extLst>
          </p:cNvPr>
          <p:cNvSpPr txBox="1">
            <a:spLocks/>
          </p:cNvSpPr>
          <p:nvPr/>
        </p:nvSpPr>
        <p:spPr>
          <a:xfrm>
            <a:off x="197177" y="0"/>
            <a:ext cx="9399310" cy="9640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內容版面配置區 2">
                <a:extLst>
                  <a:ext uri="{FF2B5EF4-FFF2-40B4-BE49-F238E27FC236}">
                    <a16:creationId xmlns:a16="http://schemas.microsoft.com/office/drawing/2014/main" id="{7130134A-BAD6-41CF-AA4F-4A80E7C6FC52}"/>
                  </a:ext>
                </a:extLst>
              </p:cNvPr>
              <p:cNvSpPr txBox="1">
                <a:spLocks/>
              </p:cNvSpPr>
              <p:nvPr/>
            </p:nvSpPr>
            <p:spPr>
              <a:xfrm>
                <a:off x="300877" y="838548"/>
                <a:ext cx="11590245" cy="6099176"/>
              </a:xfrm>
              <a:prstGeom prst="rect">
                <a:avLst/>
              </a:prstGeom>
            </p:spPr>
            <p:txBody>
              <a:bodyPr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altLang="zh-TW" sz="2400" dirty="0">
                    <a:latin typeface="Times New Roman" panose="02020603050405020304" pitchFamily="18" charset="0"/>
                    <a:cs typeface="Times New Roman" panose="02020603050405020304" pitchFamily="18" charset="0"/>
                  </a:rPr>
                  <a:t>For two strings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𝑎</m:t>
                    </m:r>
                  </m:oMath>
                </a14:m>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𝑏</m:t>
                    </m:r>
                  </m:oMath>
                </a14:m>
                <a:r>
                  <a:rPr lang="en-US" altLang="zh-TW" sz="2400" dirty="0">
                    <a:latin typeface="Times New Roman" panose="02020603050405020304" pitchFamily="18" charset="0"/>
                    <a:cs typeface="Times New Roman" panose="02020603050405020304" pitchFamily="18" charset="0"/>
                  </a:rPr>
                  <a:t> of lengths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𝑚</m:t>
                    </m:r>
                  </m:oMath>
                </a14:m>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𝑛</m:t>
                    </m:r>
                  </m:oMath>
                </a14:m>
                <a:r>
                  <a:rPr lang="en-US" altLang="zh-TW" sz="2400" dirty="0">
                    <a:latin typeface="Times New Roman" panose="02020603050405020304" pitchFamily="18" charset="0"/>
                    <a:cs typeface="Times New Roman" panose="02020603050405020304" pitchFamily="18" charset="0"/>
                  </a:rPr>
                  <a:t>, respectively, the longest common subsequence(LCS) problem consists in comparing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𝑎</m:t>
                    </m:r>
                  </m:oMath>
                </a14:m>
                <a:r>
                  <a:rPr lang="en-US" altLang="zh-TW" sz="24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𝑏</m:t>
                    </m:r>
                  </m:oMath>
                </a14:m>
                <a:r>
                  <a:rPr lang="en-US" altLang="zh-TW" sz="2400" dirty="0">
                    <a:latin typeface="Times New Roman" panose="02020603050405020304" pitchFamily="18" charset="0"/>
                    <a:cs typeface="Times New Roman" panose="02020603050405020304" pitchFamily="18" charset="0"/>
                  </a:rPr>
                  <a:t> by computing the length of their LCS. In this paper, we define a </a:t>
                </a:r>
                <a:r>
                  <a:rPr lang="en-US" altLang="zh-TW" sz="2400" dirty="0" err="1">
                    <a:latin typeface="Times New Roman" panose="02020603050405020304" pitchFamily="18" charset="0"/>
                    <a:cs typeface="Times New Roman" panose="02020603050405020304" pitchFamily="18" charset="0"/>
                  </a:rPr>
                  <a:t>generalisation</a:t>
                </a:r>
                <a:r>
                  <a:rPr lang="en-US" altLang="zh-TW" sz="2400" dirty="0">
                    <a:latin typeface="Times New Roman" panose="02020603050405020304" pitchFamily="18" charset="0"/>
                    <a:cs typeface="Times New Roman" panose="02020603050405020304" pitchFamily="18" charset="0"/>
                  </a:rPr>
                  <a:t>, called “the all semi-local LCS problem”, where each string is compared against all substrings of the other string, and all prefixes of each string are compared against all suffixes of the other string. An explicit representation of the output lengths is of size </a:t>
                </a:r>
                <a14:m>
                  <m:oMath xmlns:m="http://schemas.openxmlformats.org/officeDocument/2006/math">
                    <m:r>
                      <m:rPr>
                        <m:sty m:val="p"/>
                      </m:rPr>
                      <a:rPr lang="el-GR" altLang="zh-TW" sz="2400" i="1" dirty="0">
                        <a:latin typeface="Cambria Math" panose="02040503050406030204" pitchFamily="18" charset="0"/>
                        <a:ea typeface="Cambria Math" panose="02040503050406030204" pitchFamily="18" charset="0"/>
                        <a:cs typeface="Times New Roman" panose="02020603050405020304" pitchFamily="18" charset="0"/>
                      </a:rPr>
                      <m:t>Θ</m:t>
                    </m:r>
                    <m:r>
                      <a:rPr lang="en-US" altLang="zh-TW" sz="2400" i="1" dirty="0">
                        <a:latin typeface="Cambria Math" panose="02040503050406030204" pitchFamily="18" charset="0"/>
                        <a:cs typeface="Times New Roman" panose="02020603050405020304" pitchFamily="18" charset="0"/>
                      </a:rPr>
                      <m:t>(</m:t>
                    </m:r>
                    <m:sSup>
                      <m:sSupPr>
                        <m:ctrlPr>
                          <a:rPr lang="en-US" altLang="zh-TW" sz="2400" i="1" dirty="0">
                            <a:latin typeface="Cambria Math" panose="02040503050406030204" pitchFamily="18" charset="0"/>
                            <a:cs typeface="Times New Roman" panose="02020603050405020304" pitchFamily="18" charset="0"/>
                          </a:rPr>
                        </m:ctrlPr>
                      </m:sSupPr>
                      <m:e>
                        <m:r>
                          <a:rPr lang="en-US" altLang="zh-TW" sz="2400" i="1" dirty="0">
                            <a:latin typeface="Cambria Math" panose="020405030504060302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𝑚</m:t>
                        </m:r>
                        <m:r>
                          <a:rPr lang="en-US" altLang="zh-TW" sz="2400" i="1" dirty="0">
                            <a:latin typeface="Cambria Math" panose="02040503050406030204" pitchFamily="18" charset="0"/>
                            <a:cs typeface="Times New Roman" panose="02020603050405020304" pitchFamily="18" charset="0"/>
                          </a:rPr>
                          <m:t>+</m:t>
                        </m:r>
                        <m:r>
                          <a:rPr lang="en-US" altLang="zh-TW" sz="2400" i="1" dirty="0">
                            <a:latin typeface="Cambria Math" panose="02040503050406030204" pitchFamily="18" charset="0"/>
                            <a:cs typeface="Times New Roman" panose="02020603050405020304" pitchFamily="18" charset="0"/>
                          </a:rPr>
                          <m:t>𝑛</m:t>
                        </m:r>
                        <m:r>
                          <a:rPr lang="en-US" altLang="zh-TW" sz="2400" i="1" dirty="0">
                            <a:latin typeface="Cambria Math" panose="02040503050406030204" pitchFamily="18" charset="0"/>
                            <a:cs typeface="Times New Roman" panose="02020603050405020304" pitchFamily="18" charset="0"/>
                          </a:rPr>
                          <m:t>)</m:t>
                        </m:r>
                      </m:e>
                      <m:sup>
                        <m:r>
                          <a:rPr lang="en-US" altLang="zh-TW" sz="2400" i="1" dirty="0">
                            <a:latin typeface="Cambria Math" panose="02040503050406030204" pitchFamily="18" charset="0"/>
                            <a:cs typeface="Times New Roman" panose="02020603050405020304" pitchFamily="18" charset="0"/>
                          </a:rPr>
                          <m:t>2</m:t>
                        </m:r>
                      </m:sup>
                    </m:sSup>
                    <m:r>
                      <a:rPr lang="en-US" altLang="zh-TW" sz="2400" i="1" dirty="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We show that the output can be represented implicitly by a geometric data structure of size </a:t>
                </a:r>
                <a14:m>
                  <m:oMath xmlns:m="http://schemas.openxmlformats.org/officeDocument/2006/math">
                    <m:r>
                      <a:rPr lang="en-US" altLang="zh-TW" sz="2400" i="1" dirty="0">
                        <a:latin typeface="Cambria Math" panose="02040503050406030204" pitchFamily="18" charset="0"/>
                        <a:cs typeface="Times New Roman" panose="02020603050405020304" pitchFamily="18" charset="0"/>
                      </a:rPr>
                      <m:t>𝑂</m:t>
                    </m:r>
                    <m:r>
                      <a:rPr lang="en-US" altLang="zh-TW" sz="2400" i="1" dirty="0">
                        <a:latin typeface="Cambria Math" panose="02040503050406030204" pitchFamily="18" charset="0"/>
                        <a:cs typeface="Times New Roman" panose="02020603050405020304" pitchFamily="18" charset="0"/>
                      </a:rPr>
                      <m:t>(</m:t>
                    </m:r>
                    <m:r>
                      <a:rPr lang="en-US" altLang="zh-TW" sz="2400" i="1" dirty="0" err="1">
                        <a:latin typeface="Cambria Math" panose="02040503050406030204" pitchFamily="18" charset="0"/>
                        <a:cs typeface="Times New Roman" panose="02020603050405020304" pitchFamily="18" charset="0"/>
                      </a:rPr>
                      <m:t>𝑚</m:t>
                    </m:r>
                    <m:r>
                      <a:rPr lang="en-US" altLang="zh-TW" sz="2400" i="1" dirty="0" err="1">
                        <a:latin typeface="Cambria Math" panose="02040503050406030204" pitchFamily="18" charset="0"/>
                        <a:cs typeface="Times New Roman" panose="02020603050405020304" pitchFamily="18" charset="0"/>
                      </a:rPr>
                      <m:t>+</m:t>
                    </m:r>
                    <m:r>
                      <a:rPr lang="en-US" altLang="zh-TW" sz="2400" i="1" dirty="0" err="1">
                        <a:latin typeface="Cambria Math" panose="02040503050406030204" pitchFamily="18" charset="0"/>
                        <a:cs typeface="Times New Roman" panose="02020603050405020304" pitchFamily="18" charset="0"/>
                      </a:rPr>
                      <m:t>𝑛</m:t>
                    </m:r>
                    <m:r>
                      <a:rPr lang="en-US" altLang="zh-TW" sz="2400" i="1" dirty="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allowing efficient queries of the individual output lengths. We also develop the first all semi-local LCS algorithm, running in time </a:t>
                </a:r>
                <a14:m>
                  <m:oMath xmlns:m="http://schemas.openxmlformats.org/officeDocument/2006/math">
                    <m:r>
                      <a:rPr lang="en-US" altLang="zh-TW" sz="2400" i="1" dirty="0">
                        <a:latin typeface="Cambria Math" panose="02040503050406030204" pitchFamily="18" charset="0"/>
                        <a:cs typeface="Times New Roman" panose="02020603050405020304" pitchFamily="18" charset="0"/>
                      </a:rPr>
                      <m:t>𝑜</m:t>
                    </m:r>
                    <m:r>
                      <a:rPr lang="en-US" altLang="zh-TW" sz="2400" i="1" dirty="0">
                        <a:latin typeface="Cambria Math" panose="02040503050406030204" pitchFamily="18" charset="0"/>
                        <a:cs typeface="Times New Roman" panose="02020603050405020304" pitchFamily="18" charset="0"/>
                      </a:rPr>
                      <m:t>(</m:t>
                    </m:r>
                    <m:r>
                      <a:rPr lang="en-US" altLang="zh-TW" sz="2400" i="1" dirty="0" err="1">
                        <a:latin typeface="Cambria Math" panose="02040503050406030204" pitchFamily="18" charset="0"/>
                        <a:cs typeface="Times New Roman" panose="02020603050405020304" pitchFamily="18" charset="0"/>
                      </a:rPr>
                      <m:t>𝑚𝑛</m:t>
                    </m:r>
                    <m:r>
                      <a:rPr lang="en-US" altLang="zh-TW" sz="2400" i="1" dirty="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where m and n are reasonably close. Compared to a number of previous results, our approach presents an improvement in algorithm functionality, output representation efficiency, and/or running time.</a:t>
                </a:r>
              </a:p>
              <a:p>
                <a:pPr marL="0" indent="0" algn="just">
                  <a:lnSpc>
                    <a:spcPct val="150000"/>
                  </a:lnSpc>
                  <a:buNone/>
                </a:pPr>
                <a:endParaRPr lang="en-US" altLang="zh-TW" sz="2400" dirty="0">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6" name="內容版面配置區 2">
                <a:extLst>
                  <a:ext uri="{FF2B5EF4-FFF2-40B4-BE49-F238E27FC236}">
                    <a16:creationId xmlns:a16="http://schemas.microsoft.com/office/drawing/2014/main" id="{7130134A-BAD6-41CF-AA4F-4A80E7C6FC52}"/>
                  </a:ext>
                </a:extLst>
              </p:cNvPr>
              <p:cNvSpPr txBox="1">
                <a:spLocks noRot="1" noChangeAspect="1" noMove="1" noResize="1" noEditPoints="1" noAdjustHandles="1" noChangeArrowheads="1" noChangeShapeType="1" noTextEdit="1"/>
              </p:cNvSpPr>
              <p:nvPr/>
            </p:nvSpPr>
            <p:spPr>
              <a:xfrm>
                <a:off x="300877" y="838548"/>
                <a:ext cx="11590245" cy="6099176"/>
              </a:xfrm>
              <a:prstGeom prst="rect">
                <a:avLst/>
              </a:prstGeom>
              <a:blipFill>
                <a:blip r:embed="rId2"/>
                <a:stretch>
                  <a:fillRect l="-789" r="-78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636966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81000" y="298908"/>
            <a:ext cx="9486900" cy="958850"/>
          </a:xfrm>
        </p:spPr>
        <p:txBody>
          <a:bodyPr>
            <a:normAutofit/>
          </a:bodyPr>
          <a:lstStyle/>
          <a:p>
            <a:r>
              <a:rPr lang="en-US" altLang="zh-TW" sz="3600" dirty="0">
                <a:latin typeface="Times New Roman" panose="02020603050405020304" pitchFamily="18" charset="0"/>
                <a:cs typeface="Times New Roman" panose="02020603050405020304" pitchFamily="18" charset="0"/>
              </a:rPr>
              <a:t>Semi-local LCS problem</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0C029359-40AB-419B-8FBB-45C7471E1ED3}" type="slidenum">
              <a:rPr lang="zh-TW" altLang="en-US" smtClean="0"/>
              <a:t>3</a:t>
            </a:fld>
            <a:endParaRPr lang="zh-TW" altLang="en-US"/>
          </a:p>
        </p:txBody>
      </p:sp>
      <p:pic>
        <p:nvPicPr>
          <p:cNvPr id="6" name="圖片 5">
            <a:extLst>
              <a:ext uri="{FF2B5EF4-FFF2-40B4-BE49-F238E27FC236}">
                <a16:creationId xmlns:a16="http://schemas.microsoft.com/office/drawing/2014/main" id="{79304A31-29A9-4CAD-ADEC-F20D4FAF8DFD}"/>
              </a:ext>
            </a:extLst>
          </p:cNvPr>
          <p:cNvPicPr>
            <a:picLocks noChangeAspect="1"/>
          </p:cNvPicPr>
          <p:nvPr/>
        </p:nvPicPr>
        <p:blipFill>
          <a:blip r:embed="rId2"/>
          <a:stretch>
            <a:fillRect/>
          </a:stretch>
        </p:blipFill>
        <p:spPr>
          <a:xfrm>
            <a:off x="593728" y="1368332"/>
            <a:ext cx="11004544" cy="882043"/>
          </a:xfrm>
          <a:prstGeom prst="rect">
            <a:avLst/>
          </a:prstGeom>
        </p:spPr>
      </p:pic>
      <p:pic>
        <p:nvPicPr>
          <p:cNvPr id="10" name="圖片 9">
            <a:extLst>
              <a:ext uri="{FF2B5EF4-FFF2-40B4-BE49-F238E27FC236}">
                <a16:creationId xmlns:a16="http://schemas.microsoft.com/office/drawing/2014/main" id="{5141E8AD-9F9E-468B-A882-FB3643DAF888}"/>
              </a:ext>
            </a:extLst>
          </p:cNvPr>
          <p:cNvPicPr>
            <a:picLocks noChangeAspect="1"/>
          </p:cNvPicPr>
          <p:nvPr/>
        </p:nvPicPr>
        <p:blipFill>
          <a:blip r:embed="rId3"/>
          <a:stretch>
            <a:fillRect/>
          </a:stretch>
        </p:blipFill>
        <p:spPr>
          <a:xfrm>
            <a:off x="2846640" y="2399500"/>
            <a:ext cx="5938140" cy="3758511"/>
          </a:xfrm>
          <a:prstGeom prst="rect">
            <a:avLst/>
          </a:prstGeom>
        </p:spPr>
      </p:pic>
      <p:sp>
        <p:nvSpPr>
          <p:cNvPr id="11" name="標題 1">
            <a:extLst>
              <a:ext uri="{FF2B5EF4-FFF2-40B4-BE49-F238E27FC236}">
                <a16:creationId xmlns:a16="http://schemas.microsoft.com/office/drawing/2014/main" id="{0742B02A-403A-4F5A-8541-E6C5665F58EE}"/>
              </a:ext>
            </a:extLst>
          </p:cNvPr>
          <p:cNvSpPr txBox="1">
            <a:spLocks/>
          </p:cNvSpPr>
          <p:nvPr/>
        </p:nvSpPr>
        <p:spPr>
          <a:xfrm>
            <a:off x="3781425" y="6307136"/>
            <a:ext cx="8410575" cy="4143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a:latin typeface="Times New Roman" panose="02020603050405020304" pitchFamily="18" charset="0"/>
                <a:cs typeface="Times New Roman" panose="02020603050405020304" pitchFamily="18" charset="0"/>
              </a:rPr>
              <a:t>Alignment Directed Acyclic Graph(DAG)</a:t>
            </a:r>
            <a:endParaRPr lang="zh-TW" altLang="en-US" sz="2000" dirty="0">
              <a:latin typeface="Times New Roman" panose="02020603050405020304" pitchFamily="18" charset="0"/>
              <a:cs typeface="Times New Roman" panose="02020603050405020304" pitchFamily="18" charset="0"/>
            </a:endParaRPr>
          </a:p>
        </p:txBody>
      </p:sp>
      <p:cxnSp>
        <p:nvCxnSpPr>
          <p:cNvPr id="13" name="直線接點 12">
            <a:extLst>
              <a:ext uri="{FF2B5EF4-FFF2-40B4-BE49-F238E27FC236}">
                <a16:creationId xmlns:a16="http://schemas.microsoft.com/office/drawing/2014/main" id="{C06288E3-0A9C-4F25-AE32-82FE77963557}"/>
              </a:ext>
            </a:extLst>
          </p:cNvPr>
          <p:cNvCxnSpPr/>
          <p:nvPr/>
        </p:nvCxnSpPr>
        <p:spPr>
          <a:xfrm>
            <a:off x="4975412" y="2823882"/>
            <a:ext cx="412376" cy="0"/>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15" name="直線接點 14">
            <a:extLst>
              <a:ext uri="{FF2B5EF4-FFF2-40B4-BE49-F238E27FC236}">
                <a16:creationId xmlns:a16="http://schemas.microsoft.com/office/drawing/2014/main" id="{68B080EB-D13D-48B8-8C67-1B10009AE364}"/>
              </a:ext>
            </a:extLst>
          </p:cNvPr>
          <p:cNvCxnSpPr/>
          <p:nvPr/>
        </p:nvCxnSpPr>
        <p:spPr>
          <a:xfrm>
            <a:off x="6526306" y="4778188"/>
            <a:ext cx="412376" cy="0"/>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16" name="直線接點 15">
            <a:extLst>
              <a:ext uri="{FF2B5EF4-FFF2-40B4-BE49-F238E27FC236}">
                <a16:creationId xmlns:a16="http://schemas.microsoft.com/office/drawing/2014/main" id="{B567CB53-B980-4C34-BF62-B1A86D102724}"/>
              </a:ext>
            </a:extLst>
          </p:cNvPr>
          <p:cNvCxnSpPr>
            <a:cxnSpLocks/>
          </p:cNvCxnSpPr>
          <p:nvPr/>
        </p:nvCxnSpPr>
        <p:spPr>
          <a:xfrm>
            <a:off x="5387788" y="2823882"/>
            <a:ext cx="0" cy="389965"/>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23" name="直線接點 22">
            <a:extLst>
              <a:ext uri="{FF2B5EF4-FFF2-40B4-BE49-F238E27FC236}">
                <a16:creationId xmlns:a16="http://schemas.microsoft.com/office/drawing/2014/main" id="{6B15B489-11F3-47B4-9200-78955ED173CC}"/>
              </a:ext>
            </a:extLst>
          </p:cNvPr>
          <p:cNvCxnSpPr>
            <a:cxnSpLocks/>
          </p:cNvCxnSpPr>
          <p:nvPr/>
        </p:nvCxnSpPr>
        <p:spPr>
          <a:xfrm>
            <a:off x="5773271" y="3576917"/>
            <a:ext cx="0" cy="389965"/>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24" name="直線接點 23">
            <a:extLst>
              <a:ext uri="{FF2B5EF4-FFF2-40B4-BE49-F238E27FC236}">
                <a16:creationId xmlns:a16="http://schemas.microsoft.com/office/drawing/2014/main" id="{D68A76CA-B506-4B45-97D9-FFD67DE0AF5A}"/>
              </a:ext>
            </a:extLst>
          </p:cNvPr>
          <p:cNvCxnSpPr>
            <a:cxnSpLocks/>
          </p:cNvCxnSpPr>
          <p:nvPr/>
        </p:nvCxnSpPr>
        <p:spPr>
          <a:xfrm>
            <a:off x="7342094" y="5163670"/>
            <a:ext cx="0" cy="389965"/>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25" name="直線接點 24">
            <a:extLst>
              <a:ext uri="{FF2B5EF4-FFF2-40B4-BE49-F238E27FC236}">
                <a16:creationId xmlns:a16="http://schemas.microsoft.com/office/drawing/2014/main" id="{41C263B6-8158-4FCE-9883-E3947068146E}"/>
              </a:ext>
            </a:extLst>
          </p:cNvPr>
          <p:cNvCxnSpPr>
            <a:cxnSpLocks/>
          </p:cNvCxnSpPr>
          <p:nvPr/>
        </p:nvCxnSpPr>
        <p:spPr>
          <a:xfrm>
            <a:off x="5387788" y="3213847"/>
            <a:ext cx="385483" cy="389965"/>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29" name="直線接點 28">
            <a:extLst>
              <a:ext uri="{FF2B5EF4-FFF2-40B4-BE49-F238E27FC236}">
                <a16:creationId xmlns:a16="http://schemas.microsoft.com/office/drawing/2014/main" id="{3DDE2D57-B686-414C-A11A-C68E560C7DDD}"/>
              </a:ext>
            </a:extLst>
          </p:cNvPr>
          <p:cNvCxnSpPr>
            <a:cxnSpLocks/>
          </p:cNvCxnSpPr>
          <p:nvPr/>
        </p:nvCxnSpPr>
        <p:spPr>
          <a:xfrm>
            <a:off x="5728447" y="3966882"/>
            <a:ext cx="427921" cy="424382"/>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30" name="直線接點 29">
            <a:extLst>
              <a:ext uri="{FF2B5EF4-FFF2-40B4-BE49-F238E27FC236}">
                <a16:creationId xmlns:a16="http://schemas.microsoft.com/office/drawing/2014/main" id="{8378B49F-5A72-476E-8007-25FC6773F114}"/>
              </a:ext>
            </a:extLst>
          </p:cNvPr>
          <p:cNvCxnSpPr>
            <a:cxnSpLocks/>
          </p:cNvCxnSpPr>
          <p:nvPr/>
        </p:nvCxnSpPr>
        <p:spPr>
          <a:xfrm>
            <a:off x="6156368" y="4415118"/>
            <a:ext cx="385483" cy="363070"/>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32" name="直線接點 31">
            <a:extLst>
              <a:ext uri="{FF2B5EF4-FFF2-40B4-BE49-F238E27FC236}">
                <a16:creationId xmlns:a16="http://schemas.microsoft.com/office/drawing/2014/main" id="{229DB5B5-8497-4864-AFD0-2E6BCA15D971}"/>
              </a:ext>
            </a:extLst>
          </p:cNvPr>
          <p:cNvCxnSpPr>
            <a:cxnSpLocks/>
          </p:cNvCxnSpPr>
          <p:nvPr/>
        </p:nvCxnSpPr>
        <p:spPr>
          <a:xfrm>
            <a:off x="6938682" y="4800600"/>
            <a:ext cx="385483" cy="363070"/>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33" name="直線接點 32">
            <a:extLst>
              <a:ext uri="{FF2B5EF4-FFF2-40B4-BE49-F238E27FC236}">
                <a16:creationId xmlns:a16="http://schemas.microsoft.com/office/drawing/2014/main" id="{EC58E07E-402B-464D-8B84-E49F847CB435}"/>
              </a:ext>
            </a:extLst>
          </p:cNvPr>
          <p:cNvCxnSpPr>
            <a:cxnSpLocks/>
          </p:cNvCxnSpPr>
          <p:nvPr/>
        </p:nvCxnSpPr>
        <p:spPr>
          <a:xfrm>
            <a:off x="7315200" y="5521225"/>
            <a:ext cx="421341" cy="449269"/>
          </a:xfrm>
          <a:prstGeom prst="line">
            <a:avLst/>
          </a:prstGeom>
          <a:ln w="76200">
            <a:solidFill>
              <a:schemeClr val="accent6"/>
            </a:solidFill>
          </a:ln>
        </p:spPr>
        <p:style>
          <a:lnRef idx="1">
            <a:schemeClr val="accent2"/>
          </a:lnRef>
          <a:fillRef idx="0">
            <a:schemeClr val="accent2"/>
          </a:fillRef>
          <a:effectRef idx="0">
            <a:schemeClr val="accent2"/>
          </a:effectRef>
          <a:fontRef idx="minor">
            <a:schemeClr val="tx1"/>
          </a:fontRef>
        </p:style>
      </p:cxnSp>
      <p:cxnSp>
        <p:nvCxnSpPr>
          <p:cNvPr id="36" name="直線接點 35">
            <a:extLst>
              <a:ext uri="{FF2B5EF4-FFF2-40B4-BE49-F238E27FC236}">
                <a16:creationId xmlns:a16="http://schemas.microsoft.com/office/drawing/2014/main" id="{34ED1B00-39AE-4FD8-8D48-744FAF4E151F}"/>
              </a:ext>
            </a:extLst>
          </p:cNvPr>
          <p:cNvCxnSpPr>
            <a:cxnSpLocks/>
          </p:cNvCxnSpPr>
          <p:nvPr/>
        </p:nvCxnSpPr>
        <p:spPr>
          <a:xfrm>
            <a:off x="3395942" y="3984090"/>
            <a:ext cx="385483" cy="389965"/>
          </a:xfrm>
          <a:prstGeom prst="line">
            <a:avLst/>
          </a:prstGeom>
          <a:ln w="762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37" name="直線接點 36">
            <a:extLst>
              <a:ext uri="{FF2B5EF4-FFF2-40B4-BE49-F238E27FC236}">
                <a16:creationId xmlns:a16="http://schemas.microsoft.com/office/drawing/2014/main" id="{55D42952-E3C0-4B45-ACD4-198D358D5E18}"/>
              </a:ext>
            </a:extLst>
          </p:cNvPr>
          <p:cNvCxnSpPr>
            <a:cxnSpLocks/>
          </p:cNvCxnSpPr>
          <p:nvPr/>
        </p:nvCxnSpPr>
        <p:spPr>
          <a:xfrm>
            <a:off x="4606178" y="4773705"/>
            <a:ext cx="385483" cy="389965"/>
          </a:xfrm>
          <a:prstGeom prst="line">
            <a:avLst/>
          </a:prstGeom>
          <a:ln w="762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38" name="直線接點 37">
            <a:extLst>
              <a:ext uri="{FF2B5EF4-FFF2-40B4-BE49-F238E27FC236}">
                <a16:creationId xmlns:a16="http://schemas.microsoft.com/office/drawing/2014/main" id="{B37D6A16-0BAA-4CB4-8808-09A8705CED5F}"/>
              </a:ext>
            </a:extLst>
          </p:cNvPr>
          <p:cNvCxnSpPr>
            <a:cxnSpLocks/>
          </p:cNvCxnSpPr>
          <p:nvPr/>
        </p:nvCxnSpPr>
        <p:spPr>
          <a:xfrm>
            <a:off x="4991659" y="5157433"/>
            <a:ext cx="385483" cy="389965"/>
          </a:xfrm>
          <a:prstGeom prst="line">
            <a:avLst/>
          </a:prstGeom>
          <a:ln w="762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39" name="直線接點 38">
            <a:extLst>
              <a:ext uri="{FF2B5EF4-FFF2-40B4-BE49-F238E27FC236}">
                <a16:creationId xmlns:a16="http://schemas.microsoft.com/office/drawing/2014/main" id="{49E5DE21-0A0B-4171-A9A5-FC7589B9E26E}"/>
              </a:ext>
            </a:extLst>
          </p:cNvPr>
          <p:cNvCxnSpPr>
            <a:cxnSpLocks/>
          </p:cNvCxnSpPr>
          <p:nvPr/>
        </p:nvCxnSpPr>
        <p:spPr>
          <a:xfrm>
            <a:off x="3781425" y="4374055"/>
            <a:ext cx="0" cy="426545"/>
          </a:xfrm>
          <a:prstGeom prst="line">
            <a:avLst/>
          </a:prstGeom>
          <a:ln w="762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41" name="直線接點 40">
            <a:extLst>
              <a:ext uri="{FF2B5EF4-FFF2-40B4-BE49-F238E27FC236}">
                <a16:creationId xmlns:a16="http://schemas.microsoft.com/office/drawing/2014/main" id="{A9029182-5802-4D45-BCD1-D19B0FC4F2A1}"/>
              </a:ext>
            </a:extLst>
          </p:cNvPr>
          <p:cNvCxnSpPr>
            <a:cxnSpLocks/>
          </p:cNvCxnSpPr>
          <p:nvPr/>
        </p:nvCxnSpPr>
        <p:spPr>
          <a:xfrm>
            <a:off x="5387788" y="5521225"/>
            <a:ext cx="0" cy="426545"/>
          </a:xfrm>
          <a:prstGeom prst="line">
            <a:avLst/>
          </a:prstGeom>
          <a:ln w="76200">
            <a:solidFill>
              <a:schemeClr val="accent4"/>
            </a:solidFill>
          </a:ln>
        </p:spPr>
        <p:style>
          <a:lnRef idx="1">
            <a:schemeClr val="accent6"/>
          </a:lnRef>
          <a:fillRef idx="0">
            <a:schemeClr val="accent6"/>
          </a:fillRef>
          <a:effectRef idx="0">
            <a:schemeClr val="accent6"/>
          </a:effectRef>
          <a:fontRef idx="minor">
            <a:schemeClr val="tx1"/>
          </a:fontRef>
        </p:style>
      </p:cxnSp>
      <p:cxnSp>
        <p:nvCxnSpPr>
          <p:cNvPr id="42" name="直線接點 41">
            <a:extLst>
              <a:ext uri="{FF2B5EF4-FFF2-40B4-BE49-F238E27FC236}">
                <a16:creationId xmlns:a16="http://schemas.microsoft.com/office/drawing/2014/main" id="{28CB714E-A65E-4B1F-ACC7-77B98520D59E}"/>
              </a:ext>
            </a:extLst>
          </p:cNvPr>
          <p:cNvCxnSpPr>
            <a:cxnSpLocks/>
          </p:cNvCxnSpPr>
          <p:nvPr/>
        </p:nvCxnSpPr>
        <p:spPr>
          <a:xfrm>
            <a:off x="3781425" y="4800600"/>
            <a:ext cx="824753" cy="0"/>
          </a:xfrm>
          <a:prstGeom prst="line">
            <a:avLst/>
          </a:prstGeom>
          <a:ln w="76200">
            <a:solidFill>
              <a:schemeClr val="accent4"/>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134058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DC22C902-669A-4D26-8DD0-A8641A8EEF50}"/>
              </a:ext>
            </a:extLst>
          </p:cNvPr>
          <p:cNvPicPr>
            <a:picLocks noChangeAspect="1"/>
          </p:cNvPicPr>
          <p:nvPr/>
        </p:nvPicPr>
        <p:blipFill>
          <a:blip r:embed="rId2"/>
          <a:stretch>
            <a:fillRect/>
          </a:stretch>
        </p:blipFill>
        <p:spPr>
          <a:xfrm>
            <a:off x="5640790" y="734086"/>
            <a:ext cx="6001638" cy="1880309"/>
          </a:xfrm>
          <a:prstGeom prst="rect">
            <a:avLst/>
          </a:prstGeom>
        </p:spPr>
      </p:pic>
      <p:graphicFrame>
        <p:nvGraphicFramePr>
          <p:cNvPr id="6" name="表格 6">
            <a:extLst>
              <a:ext uri="{FF2B5EF4-FFF2-40B4-BE49-F238E27FC236}">
                <a16:creationId xmlns:a16="http://schemas.microsoft.com/office/drawing/2014/main" id="{460546A2-E008-45C5-97B9-3F060A37C188}"/>
              </a:ext>
            </a:extLst>
          </p:cNvPr>
          <p:cNvGraphicFramePr>
            <a:graphicFrameLocks noGrp="1"/>
          </p:cNvGraphicFramePr>
          <p:nvPr>
            <p:extLst>
              <p:ext uri="{D42A27DB-BD31-4B8C-83A1-F6EECF244321}">
                <p14:modId xmlns:p14="http://schemas.microsoft.com/office/powerpoint/2010/main" val="1450765569"/>
              </p:ext>
            </p:extLst>
          </p:nvPr>
        </p:nvGraphicFramePr>
        <p:xfrm>
          <a:off x="1966693" y="3005409"/>
          <a:ext cx="7871010" cy="3330480"/>
        </p:xfrm>
        <a:graphic>
          <a:graphicData uri="http://schemas.openxmlformats.org/drawingml/2006/table">
            <a:tbl>
              <a:tblPr firstRow="1" bandRow="1">
                <a:tableStyleId>{5940675A-B579-460E-94D1-54222C63F5DA}</a:tableStyleId>
              </a:tblPr>
              <a:tblGrid>
                <a:gridCol w="787101">
                  <a:extLst>
                    <a:ext uri="{9D8B030D-6E8A-4147-A177-3AD203B41FA5}">
                      <a16:colId xmlns:a16="http://schemas.microsoft.com/office/drawing/2014/main" val="3582644406"/>
                    </a:ext>
                  </a:extLst>
                </a:gridCol>
                <a:gridCol w="787101">
                  <a:extLst>
                    <a:ext uri="{9D8B030D-6E8A-4147-A177-3AD203B41FA5}">
                      <a16:colId xmlns:a16="http://schemas.microsoft.com/office/drawing/2014/main" val="3432789961"/>
                    </a:ext>
                  </a:extLst>
                </a:gridCol>
                <a:gridCol w="787101">
                  <a:extLst>
                    <a:ext uri="{9D8B030D-6E8A-4147-A177-3AD203B41FA5}">
                      <a16:colId xmlns:a16="http://schemas.microsoft.com/office/drawing/2014/main" val="1175871002"/>
                    </a:ext>
                  </a:extLst>
                </a:gridCol>
                <a:gridCol w="787101">
                  <a:extLst>
                    <a:ext uri="{9D8B030D-6E8A-4147-A177-3AD203B41FA5}">
                      <a16:colId xmlns:a16="http://schemas.microsoft.com/office/drawing/2014/main" val="10503038"/>
                    </a:ext>
                  </a:extLst>
                </a:gridCol>
                <a:gridCol w="787101">
                  <a:extLst>
                    <a:ext uri="{9D8B030D-6E8A-4147-A177-3AD203B41FA5}">
                      <a16:colId xmlns:a16="http://schemas.microsoft.com/office/drawing/2014/main" val="1546427624"/>
                    </a:ext>
                  </a:extLst>
                </a:gridCol>
                <a:gridCol w="787101">
                  <a:extLst>
                    <a:ext uri="{9D8B030D-6E8A-4147-A177-3AD203B41FA5}">
                      <a16:colId xmlns:a16="http://schemas.microsoft.com/office/drawing/2014/main" val="1933916000"/>
                    </a:ext>
                  </a:extLst>
                </a:gridCol>
                <a:gridCol w="787101">
                  <a:extLst>
                    <a:ext uri="{9D8B030D-6E8A-4147-A177-3AD203B41FA5}">
                      <a16:colId xmlns:a16="http://schemas.microsoft.com/office/drawing/2014/main" val="2453387150"/>
                    </a:ext>
                  </a:extLst>
                </a:gridCol>
                <a:gridCol w="787101">
                  <a:extLst>
                    <a:ext uri="{9D8B030D-6E8A-4147-A177-3AD203B41FA5}">
                      <a16:colId xmlns:a16="http://schemas.microsoft.com/office/drawing/2014/main" val="3151185847"/>
                    </a:ext>
                  </a:extLst>
                </a:gridCol>
                <a:gridCol w="787101">
                  <a:extLst>
                    <a:ext uri="{9D8B030D-6E8A-4147-A177-3AD203B41FA5}">
                      <a16:colId xmlns:a16="http://schemas.microsoft.com/office/drawing/2014/main" val="4161002384"/>
                    </a:ext>
                  </a:extLst>
                </a:gridCol>
                <a:gridCol w="787101">
                  <a:extLst>
                    <a:ext uri="{9D8B030D-6E8A-4147-A177-3AD203B41FA5}">
                      <a16:colId xmlns:a16="http://schemas.microsoft.com/office/drawing/2014/main" val="2294325834"/>
                    </a:ext>
                  </a:extLst>
                </a:gridCol>
              </a:tblGrid>
              <a:tr h="555080">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316579863"/>
                  </a:ext>
                </a:extLst>
              </a:tr>
              <a:tr h="555080">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3334404971"/>
                  </a:ext>
                </a:extLst>
              </a:tr>
              <a:tr h="555080">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256436498"/>
                  </a:ext>
                </a:extLst>
              </a:tr>
              <a:tr h="555080">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796255170"/>
                  </a:ext>
                </a:extLst>
              </a:tr>
              <a:tr h="555080">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3422463479"/>
                  </a:ext>
                </a:extLst>
              </a:tr>
              <a:tr h="555080">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864631501"/>
                  </a:ext>
                </a:extLst>
              </a:tr>
            </a:tbl>
          </a:graphicData>
        </a:graphic>
      </p:graphicFrame>
      <p:sp>
        <p:nvSpPr>
          <p:cNvPr id="7" name="矩形 6">
            <a:extLst>
              <a:ext uri="{FF2B5EF4-FFF2-40B4-BE49-F238E27FC236}">
                <a16:creationId xmlns:a16="http://schemas.microsoft.com/office/drawing/2014/main" id="{1C4B919D-4BEB-4652-A54F-05AA5E837F91}"/>
              </a:ext>
            </a:extLst>
          </p:cNvPr>
          <p:cNvSpPr/>
          <p:nvPr/>
        </p:nvSpPr>
        <p:spPr>
          <a:xfrm>
            <a:off x="4298576" y="3005408"/>
            <a:ext cx="3151095" cy="333047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D50ECE49-CA20-4207-B6F3-5889FC2CD875}"/>
              </a:ext>
            </a:extLst>
          </p:cNvPr>
          <p:cNvSpPr txBox="1"/>
          <p:nvPr/>
        </p:nvSpPr>
        <p:spPr>
          <a:xfrm>
            <a:off x="797860" y="4390473"/>
            <a:ext cx="397866" cy="461665"/>
          </a:xfrm>
          <a:prstGeom prst="rect">
            <a:avLst/>
          </a:prstGeom>
          <a:noFill/>
        </p:spPr>
        <p:txBody>
          <a:bodyPr wrap="none" rtlCol="0">
            <a:spAutoFit/>
          </a:bodyPr>
          <a:lstStyle/>
          <a:p>
            <a:r>
              <a:rPr lang="en-US" altLang="zh-TW" sz="2400" dirty="0"/>
              <a:t>…</a:t>
            </a:r>
            <a:endParaRPr lang="zh-TW" altLang="en-US" sz="2400" dirty="0"/>
          </a:p>
        </p:txBody>
      </p:sp>
      <p:sp>
        <p:nvSpPr>
          <p:cNvPr id="10" name="文字方塊 9">
            <a:extLst>
              <a:ext uri="{FF2B5EF4-FFF2-40B4-BE49-F238E27FC236}">
                <a16:creationId xmlns:a16="http://schemas.microsoft.com/office/drawing/2014/main" id="{9CCF1801-82DB-432C-9B43-886F49590C46}"/>
              </a:ext>
            </a:extLst>
          </p:cNvPr>
          <p:cNvSpPr txBox="1"/>
          <p:nvPr/>
        </p:nvSpPr>
        <p:spPr>
          <a:xfrm>
            <a:off x="10479742" y="4390473"/>
            <a:ext cx="397866" cy="461665"/>
          </a:xfrm>
          <a:prstGeom prst="rect">
            <a:avLst/>
          </a:prstGeom>
          <a:noFill/>
        </p:spPr>
        <p:txBody>
          <a:bodyPr wrap="none" rtlCol="0">
            <a:spAutoFit/>
          </a:bodyPr>
          <a:lstStyle/>
          <a:p>
            <a:r>
              <a:rPr lang="en-US" altLang="zh-TW" sz="2400" dirty="0"/>
              <a:t>…</a:t>
            </a:r>
            <a:endParaRPr lang="zh-TW" altLang="en-US" sz="2400" dirty="0"/>
          </a:p>
        </p:txBody>
      </p:sp>
      <p:cxnSp>
        <p:nvCxnSpPr>
          <p:cNvPr id="12" name="直線接點 11">
            <a:extLst>
              <a:ext uri="{FF2B5EF4-FFF2-40B4-BE49-F238E27FC236}">
                <a16:creationId xmlns:a16="http://schemas.microsoft.com/office/drawing/2014/main" id="{A3DFB48D-518F-453F-9E2D-A7BE2FA4CDC7}"/>
              </a:ext>
            </a:extLst>
          </p:cNvPr>
          <p:cNvCxnSpPr>
            <a:cxnSpLocks/>
          </p:cNvCxnSpPr>
          <p:nvPr/>
        </p:nvCxnSpPr>
        <p:spPr>
          <a:xfrm>
            <a:off x="1966693" y="3005408"/>
            <a:ext cx="785472" cy="553580"/>
          </a:xfrm>
          <a:prstGeom prst="line">
            <a:avLst/>
          </a:prstGeom>
        </p:spPr>
        <p:style>
          <a:lnRef idx="1">
            <a:schemeClr val="dk1"/>
          </a:lnRef>
          <a:fillRef idx="0">
            <a:schemeClr val="dk1"/>
          </a:fillRef>
          <a:effectRef idx="0">
            <a:schemeClr val="dk1"/>
          </a:effectRef>
          <a:fontRef idx="minor">
            <a:schemeClr val="tx1"/>
          </a:fontRef>
        </p:style>
      </p:cxnSp>
      <p:cxnSp>
        <p:nvCxnSpPr>
          <p:cNvPr id="13" name="直線接點 12">
            <a:extLst>
              <a:ext uri="{FF2B5EF4-FFF2-40B4-BE49-F238E27FC236}">
                <a16:creationId xmlns:a16="http://schemas.microsoft.com/office/drawing/2014/main" id="{D283FDFB-CA77-49B2-A5E3-3323FC9E0DCF}"/>
              </a:ext>
            </a:extLst>
          </p:cNvPr>
          <p:cNvCxnSpPr>
            <a:cxnSpLocks/>
            <a:endCxn id="7" idx="1"/>
          </p:cNvCxnSpPr>
          <p:nvPr/>
        </p:nvCxnSpPr>
        <p:spPr>
          <a:xfrm>
            <a:off x="2746623" y="3558988"/>
            <a:ext cx="1551953" cy="1111660"/>
          </a:xfrm>
          <a:prstGeom prst="line">
            <a:avLst/>
          </a:prstGeom>
        </p:spPr>
        <p:style>
          <a:lnRef idx="1">
            <a:schemeClr val="dk1"/>
          </a:lnRef>
          <a:fillRef idx="0">
            <a:schemeClr val="dk1"/>
          </a:fillRef>
          <a:effectRef idx="0">
            <a:schemeClr val="dk1"/>
          </a:effectRef>
          <a:fontRef idx="minor">
            <a:schemeClr val="tx1"/>
          </a:fontRef>
        </p:style>
      </p:cxnSp>
      <p:cxnSp>
        <p:nvCxnSpPr>
          <p:cNvPr id="15" name="直線接點 14">
            <a:extLst>
              <a:ext uri="{FF2B5EF4-FFF2-40B4-BE49-F238E27FC236}">
                <a16:creationId xmlns:a16="http://schemas.microsoft.com/office/drawing/2014/main" id="{7B32D610-367D-43D2-9357-2986AF9495B1}"/>
              </a:ext>
            </a:extLst>
          </p:cNvPr>
          <p:cNvCxnSpPr>
            <a:cxnSpLocks/>
          </p:cNvCxnSpPr>
          <p:nvPr/>
        </p:nvCxnSpPr>
        <p:spPr>
          <a:xfrm>
            <a:off x="1963922" y="3561238"/>
            <a:ext cx="2334654" cy="1662989"/>
          </a:xfrm>
          <a:prstGeom prst="line">
            <a:avLst/>
          </a:prstGeom>
        </p:spPr>
        <p:style>
          <a:lnRef idx="1">
            <a:schemeClr val="dk1"/>
          </a:lnRef>
          <a:fillRef idx="0">
            <a:schemeClr val="dk1"/>
          </a:fillRef>
          <a:effectRef idx="0">
            <a:schemeClr val="dk1"/>
          </a:effectRef>
          <a:fontRef idx="minor">
            <a:schemeClr val="tx1"/>
          </a:fontRef>
        </p:style>
      </p:cxnSp>
      <p:cxnSp>
        <p:nvCxnSpPr>
          <p:cNvPr id="17" name="直線接點 16">
            <a:extLst>
              <a:ext uri="{FF2B5EF4-FFF2-40B4-BE49-F238E27FC236}">
                <a16:creationId xmlns:a16="http://schemas.microsoft.com/office/drawing/2014/main" id="{7957EB77-D3CB-4A8B-AFF8-F2C3A7992FEB}"/>
              </a:ext>
            </a:extLst>
          </p:cNvPr>
          <p:cNvCxnSpPr>
            <a:cxnSpLocks/>
          </p:cNvCxnSpPr>
          <p:nvPr/>
        </p:nvCxnSpPr>
        <p:spPr>
          <a:xfrm>
            <a:off x="1963922" y="4117067"/>
            <a:ext cx="2334654" cy="1662989"/>
          </a:xfrm>
          <a:prstGeom prst="line">
            <a:avLst/>
          </a:prstGeom>
        </p:spPr>
        <p:style>
          <a:lnRef idx="1">
            <a:schemeClr val="dk1"/>
          </a:lnRef>
          <a:fillRef idx="0">
            <a:schemeClr val="dk1"/>
          </a:fillRef>
          <a:effectRef idx="0">
            <a:schemeClr val="dk1"/>
          </a:effectRef>
          <a:fontRef idx="minor">
            <a:schemeClr val="tx1"/>
          </a:fontRef>
        </p:style>
      </p:cxnSp>
      <p:cxnSp>
        <p:nvCxnSpPr>
          <p:cNvPr id="18" name="直線接點 17">
            <a:extLst>
              <a:ext uri="{FF2B5EF4-FFF2-40B4-BE49-F238E27FC236}">
                <a16:creationId xmlns:a16="http://schemas.microsoft.com/office/drawing/2014/main" id="{0E70BF42-E397-4D72-B6BE-1A68A892CBE7}"/>
              </a:ext>
            </a:extLst>
          </p:cNvPr>
          <p:cNvCxnSpPr>
            <a:cxnSpLocks/>
          </p:cNvCxnSpPr>
          <p:nvPr/>
        </p:nvCxnSpPr>
        <p:spPr>
          <a:xfrm>
            <a:off x="7476360" y="3007658"/>
            <a:ext cx="2334654" cy="1662989"/>
          </a:xfrm>
          <a:prstGeom prst="line">
            <a:avLst/>
          </a:prstGeom>
        </p:spPr>
        <p:style>
          <a:lnRef idx="1">
            <a:schemeClr val="dk1"/>
          </a:lnRef>
          <a:fillRef idx="0">
            <a:schemeClr val="dk1"/>
          </a:fillRef>
          <a:effectRef idx="0">
            <a:schemeClr val="dk1"/>
          </a:effectRef>
          <a:fontRef idx="minor">
            <a:schemeClr val="tx1"/>
          </a:fontRef>
        </p:style>
      </p:cxnSp>
      <p:cxnSp>
        <p:nvCxnSpPr>
          <p:cNvPr id="19" name="直線接點 18">
            <a:extLst>
              <a:ext uri="{FF2B5EF4-FFF2-40B4-BE49-F238E27FC236}">
                <a16:creationId xmlns:a16="http://schemas.microsoft.com/office/drawing/2014/main" id="{17B4261E-550C-44F8-85C7-8654433EE6E8}"/>
              </a:ext>
            </a:extLst>
          </p:cNvPr>
          <p:cNvCxnSpPr>
            <a:cxnSpLocks/>
          </p:cNvCxnSpPr>
          <p:nvPr/>
        </p:nvCxnSpPr>
        <p:spPr>
          <a:xfrm>
            <a:off x="7476360" y="3561238"/>
            <a:ext cx="2359958" cy="1662989"/>
          </a:xfrm>
          <a:prstGeom prst="line">
            <a:avLst/>
          </a:prstGeom>
        </p:spPr>
        <p:style>
          <a:lnRef idx="1">
            <a:schemeClr val="dk1"/>
          </a:lnRef>
          <a:fillRef idx="0">
            <a:schemeClr val="dk1"/>
          </a:fillRef>
          <a:effectRef idx="0">
            <a:schemeClr val="dk1"/>
          </a:effectRef>
          <a:fontRef idx="minor">
            <a:schemeClr val="tx1"/>
          </a:fontRef>
        </p:style>
      </p:cxnSp>
      <p:cxnSp>
        <p:nvCxnSpPr>
          <p:cNvPr id="20" name="直線接點 19">
            <a:extLst>
              <a:ext uri="{FF2B5EF4-FFF2-40B4-BE49-F238E27FC236}">
                <a16:creationId xmlns:a16="http://schemas.microsoft.com/office/drawing/2014/main" id="{0B35B7CE-97CC-4AD9-9010-D7EF43CA68D2}"/>
              </a:ext>
            </a:extLst>
          </p:cNvPr>
          <p:cNvCxnSpPr>
            <a:cxnSpLocks/>
          </p:cNvCxnSpPr>
          <p:nvPr/>
        </p:nvCxnSpPr>
        <p:spPr>
          <a:xfrm>
            <a:off x="7449671" y="4105897"/>
            <a:ext cx="2386647" cy="1675286"/>
          </a:xfrm>
          <a:prstGeom prst="line">
            <a:avLst/>
          </a:prstGeom>
        </p:spPr>
        <p:style>
          <a:lnRef idx="1">
            <a:schemeClr val="dk1"/>
          </a:lnRef>
          <a:fillRef idx="0">
            <a:schemeClr val="dk1"/>
          </a:fillRef>
          <a:effectRef idx="0">
            <a:schemeClr val="dk1"/>
          </a:effectRef>
          <a:fontRef idx="minor">
            <a:schemeClr val="tx1"/>
          </a:fontRef>
        </p:style>
      </p:cxnSp>
      <p:cxnSp>
        <p:nvCxnSpPr>
          <p:cNvPr id="21" name="直線接點 20">
            <a:extLst>
              <a:ext uri="{FF2B5EF4-FFF2-40B4-BE49-F238E27FC236}">
                <a16:creationId xmlns:a16="http://schemas.microsoft.com/office/drawing/2014/main" id="{6A19D8EC-CDF9-43FD-AD9A-5EA43E6ACB04}"/>
              </a:ext>
            </a:extLst>
          </p:cNvPr>
          <p:cNvCxnSpPr>
            <a:cxnSpLocks/>
          </p:cNvCxnSpPr>
          <p:nvPr/>
        </p:nvCxnSpPr>
        <p:spPr>
          <a:xfrm>
            <a:off x="7446900" y="4665062"/>
            <a:ext cx="2389418" cy="1670825"/>
          </a:xfrm>
          <a:prstGeom prst="line">
            <a:avLst/>
          </a:prstGeom>
        </p:spPr>
        <p:style>
          <a:lnRef idx="1">
            <a:schemeClr val="dk1"/>
          </a:lnRef>
          <a:fillRef idx="0">
            <a:schemeClr val="dk1"/>
          </a:fillRef>
          <a:effectRef idx="0">
            <a:schemeClr val="dk1"/>
          </a:effectRef>
          <a:fontRef idx="minor">
            <a:schemeClr val="tx1"/>
          </a:fontRef>
        </p:style>
      </p:cxnSp>
      <p:cxnSp>
        <p:nvCxnSpPr>
          <p:cNvPr id="26" name="直線接點 25">
            <a:extLst>
              <a:ext uri="{FF2B5EF4-FFF2-40B4-BE49-F238E27FC236}">
                <a16:creationId xmlns:a16="http://schemas.microsoft.com/office/drawing/2014/main" id="{116CA295-D21F-443D-9168-36379CD84D49}"/>
              </a:ext>
            </a:extLst>
          </p:cNvPr>
          <p:cNvCxnSpPr>
            <a:cxnSpLocks/>
          </p:cNvCxnSpPr>
          <p:nvPr/>
        </p:nvCxnSpPr>
        <p:spPr>
          <a:xfrm>
            <a:off x="1969689" y="4682624"/>
            <a:ext cx="2334654" cy="1662989"/>
          </a:xfrm>
          <a:prstGeom prst="line">
            <a:avLst/>
          </a:prstGeom>
        </p:spPr>
        <p:style>
          <a:lnRef idx="1">
            <a:schemeClr val="dk1"/>
          </a:lnRef>
          <a:fillRef idx="0">
            <a:schemeClr val="dk1"/>
          </a:fillRef>
          <a:effectRef idx="0">
            <a:schemeClr val="dk1"/>
          </a:effectRef>
          <a:fontRef idx="minor">
            <a:schemeClr val="tx1"/>
          </a:fontRef>
        </p:style>
      </p:cxnSp>
      <p:cxnSp>
        <p:nvCxnSpPr>
          <p:cNvPr id="27" name="直線接點 26">
            <a:extLst>
              <a:ext uri="{FF2B5EF4-FFF2-40B4-BE49-F238E27FC236}">
                <a16:creationId xmlns:a16="http://schemas.microsoft.com/office/drawing/2014/main" id="{30C46DAC-C5CE-4CCD-8F38-A1508212E558}"/>
              </a:ext>
            </a:extLst>
          </p:cNvPr>
          <p:cNvCxnSpPr>
            <a:cxnSpLocks/>
          </p:cNvCxnSpPr>
          <p:nvPr/>
        </p:nvCxnSpPr>
        <p:spPr>
          <a:xfrm>
            <a:off x="2742137" y="2997645"/>
            <a:ext cx="1555054" cy="1108252"/>
          </a:xfrm>
          <a:prstGeom prst="line">
            <a:avLst/>
          </a:prstGeom>
        </p:spPr>
        <p:style>
          <a:lnRef idx="1">
            <a:schemeClr val="dk1"/>
          </a:lnRef>
          <a:fillRef idx="0">
            <a:schemeClr val="dk1"/>
          </a:fillRef>
          <a:effectRef idx="0">
            <a:schemeClr val="dk1"/>
          </a:effectRef>
          <a:fontRef idx="minor">
            <a:schemeClr val="tx1"/>
          </a:fontRef>
        </p:style>
      </p:cxnSp>
      <p:cxnSp>
        <p:nvCxnSpPr>
          <p:cNvPr id="29" name="直線接點 28">
            <a:extLst>
              <a:ext uri="{FF2B5EF4-FFF2-40B4-BE49-F238E27FC236}">
                <a16:creationId xmlns:a16="http://schemas.microsoft.com/office/drawing/2014/main" id="{5D6F5CD1-6EC7-445B-A65A-3397C40FCAFB}"/>
              </a:ext>
            </a:extLst>
          </p:cNvPr>
          <p:cNvCxnSpPr>
            <a:cxnSpLocks/>
          </p:cNvCxnSpPr>
          <p:nvPr/>
        </p:nvCxnSpPr>
        <p:spPr>
          <a:xfrm>
            <a:off x="1969689" y="5226477"/>
            <a:ext cx="1549975" cy="1109408"/>
          </a:xfrm>
          <a:prstGeom prst="line">
            <a:avLst/>
          </a:prstGeom>
        </p:spPr>
        <p:style>
          <a:lnRef idx="1">
            <a:schemeClr val="dk1"/>
          </a:lnRef>
          <a:fillRef idx="0">
            <a:schemeClr val="dk1"/>
          </a:fillRef>
          <a:effectRef idx="0">
            <a:schemeClr val="dk1"/>
          </a:effectRef>
          <a:fontRef idx="minor">
            <a:schemeClr val="tx1"/>
          </a:fontRef>
        </p:style>
      </p:cxnSp>
      <p:cxnSp>
        <p:nvCxnSpPr>
          <p:cNvPr id="31" name="直線接點 30">
            <a:extLst>
              <a:ext uri="{FF2B5EF4-FFF2-40B4-BE49-F238E27FC236}">
                <a16:creationId xmlns:a16="http://schemas.microsoft.com/office/drawing/2014/main" id="{C85CD7A0-6EFA-4A22-8C2E-65B16E3735A0}"/>
              </a:ext>
            </a:extLst>
          </p:cNvPr>
          <p:cNvCxnSpPr>
            <a:cxnSpLocks/>
          </p:cNvCxnSpPr>
          <p:nvPr/>
        </p:nvCxnSpPr>
        <p:spPr>
          <a:xfrm>
            <a:off x="8261039" y="3005410"/>
            <a:ext cx="1549975" cy="1109408"/>
          </a:xfrm>
          <a:prstGeom prst="line">
            <a:avLst/>
          </a:prstGeom>
        </p:spPr>
        <p:style>
          <a:lnRef idx="1">
            <a:schemeClr val="dk1"/>
          </a:lnRef>
          <a:fillRef idx="0">
            <a:schemeClr val="dk1"/>
          </a:fillRef>
          <a:effectRef idx="0">
            <a:schemeClr val="dk1"/>
          </a:effectRef>
          <a:fontRef idx="minor">
            <a:schemeClr val="tx1"/>
          </a:fontRef>
        </p:style>
      </p:cxnSp>
      <p:cxnSp>
        <p:nvCxnSpPr>
          <p:cNvPr id="32" name="直線接點 31">
            <a:extLst>
              <a:ext uri="{FF2B5EF4-FFF2-40B4-BE49-F238E27FC236}">
                <a16:creationId xmlns:a16="http://schemas.microsoft.com/office/drawing/2014/main" id="{F39F7F1F-5017-4617-98DF-0DD85E05DF67}"/>
              </a:ext>
            </a:extLst>
          </p:cNvPr>
          <p:cNvCxnSpPr>
            <a:cxnSpLocks/>
          </p:cNvCxnSpPr>
          <p:nvPr/>
        </p:nvCxnSpPr>
        <p:spPr>
          <a:xfrm>
            <a:off x="7486051" y="5213057"/>
            <a:ext cx="1549975" cy="1109408"/>
          </a:xfrm>
          <a:prstGeom prst="line">
            <a:avLst/>
          </a:prstGeom>
        </p:spPr>
        <p:style>
          <a:lnRef idx="1">
            <a:schemeClr val="dk1"/>
          </a:lnRef>
          <a:fillRef idx="0">
            <a:schemeClr val="dk1"/>
          </a:fillRef>
          <a:effectRef idx="0">
            <a:schemeClr val="dk1"/>
          </a:effectRef>
          <a:fontRef idx="minor">
            <a:schemeClr val="tx1"/>
          </a:fontRef>
        </p:style>
      </p:cxnSp>
      <p:cxnSp>
        <p:nvCxnSpPr>
          <p:cNvPr id="33" name="直線接點 32">
            <a:extLst>
              <a:ext uri="{FF2B5EF4-FFF2-40B4-BE49-F238E27FC236}">
                <a16:creationId xmlns:a16="http://schemas.microsoft.com/office/drawing/2014/main" id="{4E19D6C2-3A08-4AB7-B0F6-5C899142790F}"/>
              </a:ext>
            </a:extLst>
          </p:cNvPr>
          <p:cNvCxnSpPr>
            <a:cxnSpLocks/>
          </p:cNvCxnSpPr>
          <p:nvPr/>
        </p:nvCxnSpPr>
        <p:spPr>
          <a:xfrm>
            <a:off x="1968768" y="5781181"/>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35" name="直線接點 34">
            <a:extLst>
              <a:ext uri="{FF2B5EF4-FFF2-40B4-BE49-F238E27FC236}">
                <a16:creationId xmlns:a16="http://schemas.microsoft.com/office/drawing/2014/main" id="{5FCFBE3D-C3B0-4D65-85D9-1F91D444F48F}"/>
              </a:ext>
            </a:extLst>
          </p:cNvPr>
          <p:cNvCxnSpPr>
            <a:cxnSpLocks/>
          </p:cNvCxnSpPr>
          <p:nvPr/>
        </p:nvCxnSpPr>
        <p:spPr>
          <a:xfrm>
            <a:off x="3536844" y="3010432"/>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36" name="直線接點 35">
            <a:extLst>
              <a:ext uri="{FF2B5EF4-FFF2-40B4-BE49-F238E27FC236}">
                <a16:creationId xmlns:a16="http://schemas.microsoft.com/office/drawing/2014/main" id="{20ECA6AB-409D-40CA-BA05-64637AD7A7CC}"/>
              </a:ext>
            </a:extLst>
          </p:cNvPr>
          <p:cNvCxnSpPr>
            <a:cxnSpLocks/>
          </p:cNvCxnSpPr>
          <p:nvPr/>
        </p:nvCxnSpPr>
        <p:spPr>
          <a:xfrm>
            <a:off x="9058692" y="3010994"/>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37" name="直線接點 36">
            <a:extLst>
              <a:ext uri="{FF2B5EF4-FFF2-40B4-BE49-F238E27FC236}">
                <a16:creationId xmlns:a16="http://schemas.microsoft.com/office/drawing/2014/main" id="{27CE1330-46D8-4C16-8D36-BE31BF2F1B4C}"/>
              </a:ext>
            </a:extLst>
          </p:cNvPr>
          <p:cNvCxnSpPr>
            <a:cxnSpLocks/>
          </p:cNvCxnSpPr>
          <p:nvPr/>
        </p:nvCxnSpPr>
        <p:spPr>
          <a:xfrm>
            <a:off x="7463132" y="5774471"/>
            <a:ext cx="773369" cy="541284"/>
          </a:xfrm>
          <a:prstGeom prst="line">
            <a:avLst/>
          </a:prstGeom>
        </p:spPr>
        <p:style>
          <a:lnRef idx="1">
            <a:schemeClr val="dk1"/>
          </a:lnRef>
          <a:fillRef idx="0">
            <a:schemeClr val="dk1"/>
          </a:fillRef>
          <a:effectRef idx="0">
            <a:schemeClr val="dk1"/>
          </a:effectRef>
          <a:fontRef idx="minor">
            <a:schemeClr val="tx1"/>
          </a:fontRef>
        </p:style>
      </p:cxnSp>
      <p:sp>
        <p:nvSpPr>
          <p:cNvPr id="38" name="橢圓 37">
            <a:extLst>
              <a:ext uri="{FF2B5EF4-FFF2-40B4-BE49-F238E27FC236}">
                <a16:creationId xmlns:a16="http://schemas.microsoft.com/office/drawing/2014/main" id="{44CEA34E-217E-4CD7-BAC3-A334024DD4DF}"/>
              </a:ext>
            </a:extLst>
          </p:cNvPr>
          <p:cNvSpPr/>
          <p:nvPr/>
        </p:nvSpPr>
        <p:spPr>
          <a:xfrm>
            <a:off x="4204447" y="4010686"/>
            <a:ext cx="197224" cy="1882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41" name="橢圓 40">
            <a:extLst>
              <a:ext uri="{FF2B5EF4-FFF2-40B4-BE49-F238E27FC236}">
                <a16:creationId xmlns:a16="http://schemas.microsoft.com/office/drawing/2014/main" id="{9A0C99EA-D05A-4D24-8C67-C2BE5F70C972}"/>
              </a:ext>
            </a:extLst>
          </p:cNvPr>
          <p:cNvSpPr/>
          <p:nvPr/>
        </p:nvSpPr>
        <p:spPr>
          <a:xfrm>
            <a:off x="5786082" y="6228336"/>
            <a:ext cx="197224" cy="1882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47" name="橢圓 46">
            <a:extLst>
              <a:ext uri="{FF2B5EF4-FFF2-40B4-BE49-F238E27FC236}">
                <a16:creationId xmlns:a16="http://schemas.microsoft.com/office/drawing/2014/main" id="{C7B25DF2-7692-4BE4-AA60-0746AB9DF2FC}"/>
              </a:ext>
            </a:extLst>
          </p:cNvPr>
          <p:cNvSpPr/>
          <p:nvPr/>
        </p:nvSpPr>
        <p:spPr>
          <a:xfrm>
            <a:off x="7349674" y="4568684"/>
            <a:ext cx="197224" cy="18825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cxnSp>
        <p:nvCxnSpPr>
          <p:cNvPr id="48" name="直線接點 47">
            <a:extLst>
              <a:ext uri="{FF2B5EF4-FFF2-40B4-BE49-F238E27FC236}">
                <a16:creationId xmlns:a16="http://schemas.microsoft.com/office/drawing/2014/main" id="{7C5B9461-33B1-469B-B3B0-CE1413433C00}"/>
              </a:ext>
            </a:extLst>
          </p:cNvPr>
          <p:cNvCxnSpPr>
            <a:cxnSpLocks/>
          </p:cNvCxnSpPr>
          <p:nvPr/>
        </p:nvCxnSpPr>
        <p:spPr>
          <a:xfrm>
            <a:off x="3519552" y="2999983"/>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49" name="直線接點 48">
            <a:extLst>
              <a:ext uri="{FF2B5EF4-FFF2-40B4-BE49-F238E27FC236}">
                <a16:creationId xmlns:a16="http://schemas.microsoft.com/office/drawing/2014/main" id="{C77DD5C4-ECBC-4607-8858-94AFDE890007}"/>
              </a:ext>
            </a:extLst>
          </p:cNvPr>
          <p:cNvCxnSpPr>
            <a:cxnSpLocks/>
          </p:cNvCxnSpPr>
          <p:nvPr/>
        </p:nvCxnSpPr>
        <p:spPr>
          <a:xfrm>
            <a:off x="5111325" y="3573534"/>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50" name="直線接點 49">
            <a:extLst>
              <a:ext uri="{FF2B5EF4-FFF2-40B4-BE49-F238E27FC236}">
                <a16:creationId xmlns:a16="http://schemas.microsoft.com/office/drawing/2014/main" id="{586FB093-CD9A-4152-8832-EA6E731E117F}"/>
              </a:ext>
            </a:extLst>
          </p:cNvPr>
          <p:cNvCxnSpPr>
            <a:cxnSpLocks/>
          </p:cNvCxnSpPr>
          <p:nvPr/>
        </p:nvCxnSpPr>
        <p:spPr>
          <a:xfrm>
            <a:off x="6690849" y="3009871"/>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51" name="直線接點 50">
            <a:extLst>
              <a:ext uri="{FF2B5EF4-FFF2-40B4-BE49-F238E27FC236}">
                <a16:creationId xmlns:a16="http://schemas.microsoft.com/office/drawing/2014/main" id="{CC342338-9998-42AD-A84E-34C0C0F36729}"/>
              </a:ext>
            </a:extLst>
          </p:cNvPr>
          <p:cNvCxnSpPr>
            <a:cxnSpLocks/>
          </p:cNvCxnSpPr>
          <p:nvPr/>
        </p:nvCxnSpPr>
        <p:spPr>
          <a:xfrm>
            <a:off x="5133120" y="3027766"/>
            <a:ext cx="773369" cy="541284"/>
          </a:xfrm>
          <a:prstGeom prst="line">
            <a:avLst/>
          </a:prstGeom>
        </p:spPr>
        <p:style>
          <a:lnRef idx="1">
            <a:schemeClr val="dk1"/>
          </a:lnRef>
          <a:fillRef idx="0">
            <a:schemeClr val="dk1"/>
          </a:fillRef>
          <a:effectRef idx="0">
            <a:schemeClr val="dk1"/>
          </a:effectRef>
          <a:fontRef idx="minor">
            <a:schemeClr val="tx1"/>
          </a:fontRef>
        </p:style>
      </p:cxnSp>
      <p:sp>
        <p:nvSpPr>
          <p:cNvPr id="43" name="橢圓 42">
            <a:extLst>
              <a:ext uri="{FF2B5EF4-FFF2-40B4-BE49-F238E27FC236}">
                <a16:creationId xmlns:a16="http://schemas.microsoft.com/office/drawing/2014/main" id="{ECB66793-E480-4017-AB14-12E86756C869}"/>
              </a:ext>
            </a:extLst>
          </p:cNvPr>
          <p:cNvSpPr/>
          <p:nvPr/>
        </p:nvSpPr>
        <p:spPr>
          <a:xfrm>
            <a:off x="5012713" y="2911277"/>
            <a:ext cx="197224" cy="18825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cxnSp>
        <p:nvCxnSpPr>
          <p:cNvPr id="52" name="直線接點 51">
            <a:extLst>
              <a:ext uri="{FF2B5EF4-FFF2-40B4-BE49-F238E27FC236}">
                <a16:creationId xmlns:a16="http://schemas.microsoft.com/office/drawing/2014/main" id="{6DC7B39F-A42D-4F73-847C-4EAEE90E53CC}"/>
              </a:ext>
            </a:extLst>
          </p:cNvPr>
          <p:cNvCxnSpPr>
            <a:cxnSpLocks/>
          </p:cNvCxnSpPr>
          <p:nvPr/>
        </p:nvCxnSpPr>
        <p:spPr>
          <a:xfrm>
            <a:off x="5881163" y="4119831"/>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53" name="直線接點 52">
            <a:extLst>
              <a:ext uri="{FF2B5EF4-FFF2-40B4-BE49-F238E27FC236}">
                <a16:creationId xmlns:a16="http://schemas.microsoft.com/office/drawing/2014/main" id="{1251F9C2-3562-4188-BCA5-FBD626F94760}"/>
              </a:ext>
            </a:extLst>
          </p:cNvPr>
          <p:cNvCxnSpPr>
            <a:cxnSpLocks/>
          </p:cNvCxnSpPr>
          <p:nvPr/>
        </p:nvCxnSpPr>
        <p:spPr>
          <a:xfrm>
            <a:off x="5115661" y="4672898"/>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54" name="直線接點 53">
            <a:extLst>
              <a:ext uri="{FF2B5EF4-FFF2-40B4-BE49-F238E27FC236}">
                <a16:creationId xmlns:a16="http://schemas.microsoft.com/office/drawing/2014/main" id="{0E03E593-61D6-40DF-9D78-F935F5CEA930}"/>
              </a:ext>
            </a:extLst>
          </p:cNvPr>
          <p:cNvCxnSpPr>
            <a:cxnSpLocks/>
          </p:cNvCxnSpPr>
          <p:nvPr/>
        </p:nvCxnSpPr>
        <p:spPr>
          <a:xfrm>
            <a:off x="5884694" y="5781181"/>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55" name="直線接點 54">
            <a:extLst>
              <a:ext uri="{FF2B5EF4-FFF2-40B4-BE49-F238E27FC236}">
                <a16:creationId xmlns:a16="http://schemas.microsoft.com/office/drawing/2014/main" id="{00B5ACA2-D52C-4908-94D7-076A54C0CD8F}"/>
              </a:ext>
            </a:extLst>
          </p:cNvPr>
          <p:cNvCxnSpPr>
            <a:cxnSpLocks/>
          </p:cNvCxnSpPr>
          <p:nvPr/>
        </p:nvCxnSpPr>
        <p:spPr>
          <a:xfrm>
            <a:off x="6687868" y="4674992"/>
            <a:ext cx="773369" cy="541284"/>
          </a:xfrm>
          <a:prstGeom prst="line">
            <a:avLst/>
          </a:prstGeom>
        </p:spPr>
        <p:style>
          <a:lnRef idx="1">
            <a:schemeClr val="dk1"/>
          </a:lnRef>
          <a:fillRef idx="0">
            <a:schemeClr val="dk1"/>
          </a:fillRef>
          <a:effectRef idx="0">
            <a:schemeClr val="dk1"/>
          </a:effectRef>
          <a:fontRef idx="minor">
            <a:schemeClr val="tx1"/>
          </a:fontRef>
        </p:style>
      </p:cxnSp>
      <p:cxnSp>
        <p:nvCxnSpPr>
          <p:cNvPr id="57" name="直線接點 56">
            <a:extLst>
              <a:ext uri="{FF2B5EF4-FFF2-40B4-BE49-F238E27FC236}">
                <a16:creationId xmlns:a16="http://schemas.microsoft.com/office/drawing/2014/main" id="{75ABF08E-D033-4DC6-909A-043A56DE5CF0}"/>
              </a:ext>
            </a:extLst>
          </p:cNvPr>
          <p:cNvCxnSpPr>
            <a:cxnSpLocks/>
          </p:cNvCxnSpPr>
          <p:nvPr/>
        </p:nvCxnSpPr>
        <p:spPr>
          <a:xfrm>
            <a:off x="4325939" y="5229832"/>
            <a:ext cx="773369" cy="541284"/>
          </a:xfrm>
          <a:prstGeom prst="line">
            <a:avLst/>
          </a:prstGeom>
        </p:spPr>
        <p:style>
          <a:lnRef idx="1">
            <a:schemeClr val="dk1"/>
          </a:lnRef>
          <a:fillRef idx="0">
            <a:schemeClr val="dk1"/>
          </a:fillRef>
          <a:effectRef idx="0">
            <a:schemeClr val="dk1"/>
          </a:effectRef>
          <a:fontRef idx="minor">
            <a:schemeClr val="tx1"/>
          </a:fontRef>
        </p:style>
      </p:cxnSp>
      <p:sp>
        <p:nvSpPr>
          <p:cNvPr id="60" name="橢圓 59">
            <a:extLst>
              <a:ext uri="{FF2B5EF4-FFF2-40B4-BE49-F238E27FC236}">
                <a16:creationId xmlns:a16="http://schemas.microsoft.com/office/drawing/2014/main" id="{10DFF09B-8C13-42C6-A4E6-759F53DE0894}"/>
              </a:ext>
            </a:extLst>
          </p:cNvPr>
          <p:cNvSpPr/>
          <p:nvPr/>
        </p:nvSpPr>
        <p:spPr>
          <a:xfrm>
            <a:off x="2654246" y="2866028"/>
            <a:ext cx="197224" cy="18825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62" name="橢圓 61">
            <a:extLst>
              <a:ext uri="{FF2B5EF4-FFF2-40B4-BE49-F238E27FC236}">
                <a16:creationId xmlns:a16="http://schemas.microsoft.com/office/drawing/2014/main" id="{F3DD40A6-152D-4B05-B039-BBA8BDD93E53}"/>
              </a:ext>
            </a:extLst>
          </p:cNvPr>
          <p:cNvSpPr/>
          <p:nvPr/>
        </p:nvSpPr>
        <p:spPr>
          <a:xfrm>
            <a:off x="9721886" y="6221626"/>
            <a:ext cx="197224" cy="18825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9" name="標題 1">
            <a:extLst>
              <a:ext uri="{FF2B5EF4-FFF2-40B4-BE49-F238E27FC236}">
                <a16:creationId xmlns:a16="http://schemas.microsoft.com/office/drawing/2014/main" id="{E04030E6-A00A-4833-A39A-A0348C9D972E}"/>
              </a:ext>
            </a:extLst>
          </p:cNvPr>
          <p:cNvSpPr>
            <a:spLocks noGrp="1"/>
          </p:cNvSpPr>
          <p:nvPr>
            <p:ph type="title"/>
          </p:nvPr>
        </p:nvSpPr>
        <p:spPr>
          <a:xfrm>
            <a:off x="381000" y="298908"/>
            <a:ext cx="9486900" cy="958850"/>
          </a:xfrm>
        </p:spPr>
        <p:txBody>
          <a:bodyPr>
            <a:normAutofit/>
          </a:bodyPr>
          <a:lstStyle/>
          <a:p>
            <a:r>
              <a:rPr lang="en-US" altLang="zh-TW" sz="3600" dirty="0">
                <a:latin typeface="Times New Roman" panose="02020603050405020304" pitchFamily="18" charset="0"/>
                <a:cs typeface="Times New Roman" panose="02020603050405020304" pitchFamily="18" charset="0"/>
              </a:rPr>
              <a:t>Semi-local LCS problem</a:t>
            </a:r>
            <a:endParaRPr lang="zh-TW"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7981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85F19740-C718-4172-902E-4F9DB5E0F311}"/>
              </a:ext>
            </a:extLst>
          </p:cNvPr>
          <p:cNvSpPr txBox="1">
            <a:spLocks/>
          </p:cNvSpPr>
          <p:nvPr/>
        </p:nvSpPr>
        <p:spPr>
          <a:xfrm>
            <a:off x="449354" y="282204"/>
            <a:ext cx="7412691" cy="7196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A-critical point</a:t>
            </a:r>
            <a:endParaRPr lang="zh-TW" altLang="en-US" sz="36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A5214B57-2FA9-4F68-B103-98603AE61BF8}"/>
              </a:ext>
            </a:extLst>
          </p:cNvPr>
          <p:cNvPicPr>
            <a:picLocks noChangeAspect="1"/>
          </p:cNvPicPr>
          <p:nvPr/>
        </p:nvPicPr>
        <p:blipFill>
          <a:blip r:embed="rId2"/>
          <a:stretch>
            <a:fillRect/>
          </a:stretch>
        </p:blipFill>
        <p:spPr>
          <a:xfrm>
            <a:off x="2626659" y="1911456"/>
            <a:ext cx="6417554" cy="4721724"/>
          </a:xfrm>
          <a:prstGeom prst="rect">
            <a:avLst/>
          </a:prstGeom>
        </p:spPr>
      </p:pic>
      <p:pic>
        <p:nvPicPr>
          <p:cNvPr id="8" name="圖片 7">
            <a:extLst>
              <a:ext uri="{FF2B5EF4-FFF2-40B4-BE49-F238E27FC236}">
                <a16:creationId xmlns:a16="http://schemas.microsoft.com/office/drawing/2014/main" id="{0A0F8A65-0A44-476A-9E71-46AF0810B682}"/>
              </a:ext>
            </a:extLst>
          </p:cNvPr>
          <p:cNvPicPr>
            <a:picLocks noChangeAspect="1"/>
          </p:cNvPicPr>
          <p:nvPr/>
        </p:nvPicPr>
        <p:blipFill>
          <a:blip r:embed="rId3"/>
          <a:stretch>
            <a:fillRect/>
          </a:stretch>
        </p:blipFill>
        <p:spPr>
          <a:xfrm>
            <a:off x="350104" y="944425"/>
            <a:ext cx="9215237" cy="967031"/>
          </a:xfrm>
          <a:prstGeom prst="rect">
            <a:avLst/>
          </a:prstGeom>
        </p:spPr>
      </p:pic>
      <p:sp>
        <p:nvSpPr>
          <p:cNvPr id="10" name="橢圓 9">
            <a:extLst>
              <a:ext uri="{FF2B5EF4-FFF2-40B4-BE49-F238E27FC236}">
                <a16:creationId xmlns:a16="http://schemas.microsoft.com/office/drawing/2014/main" id="{FC3C66B7-2901-4295-8C35-00829DD0BF78}"/>
              </a:ext>
            </a:extLst>
          </p:cNvPr>
          <p:cNvSpPr/>
          <p:nvPr/>
        </p:nvSpPr>
        <p:spPr>
          <a:xfrm>
            <a:off x="5092562" y="1708131"/>
            <a:ext cx="197224" cy="1882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4DE4B357-6C0E-416A-9B94-E987687833D1}"/>
              </a:ext>
            </a:extLst>
          </p:cNvPr>
          <p:cNvSpPr/>
          <p:nvPr/>
        </p:nvSpPr>
        <p:spPr>
          <a:xfrm>
            <a:off x="5989034" y="5873406"/>
            <a:ext cx="197224" cy="1882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97699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85F19740-C718-4172-902E-4F9DB5E0F311}"/>
              </a:ext>
            </a:extLst>
          </p:cNvPr>
          <p:cNvSpPr txBox="1">
            <a:spLocks/>
          </p:cNvSpPr>
          <p:nvPr/>
        </p:nvSpPr>
        <p:spPr>
          <a:xfrm>
            <a:off x="449354" y="282204"/>
            <a:ext cx="7412691" cy="7196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A-critical point</a:t>
            </a:r>
            <a:endParaRPr lang="zh-TW" altLang="en-US" sz="36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A5214B57-2FA9-4F68-B103-98603AE61BF8}"/>
              </a:ext>
            </a:extLst>
          </p:cNvPr>
          <p:cNvPicPr>
            <a:picLocks noChangeAspect="1"/>
          </p:cNvPicPr>
          <p:nvPr/>
        </p:nvPicPr>
        <p:blipFill>
          <a:blip r:embed="rId2"/>
          <a:stretch>
            <a:fillRect/>
          </a:stretch>
        </p:blipFill>
        <p:spPr>
          <a:xfrm>
            <a:off x="2573703" y="2033366"/>
            <a:ext cx="6417554" cy="4721724"/>
          </a:xfrm>
          <a:prstGeom prst="rect">
            <a:avLst/>
          </a:prstGeom>
        </p:spPr>
      </p:pic>
      <p:pic>
        <p:nvPicPr>
          <p:cNvPr id="8" name="圖片 7">
            <a:extLst>
              <a:ext uri="{FF2B5EF4-FFF2-40B4-BE49-F238E27FC236}">
                <a16:creationId xmlns:a16="http://schemas.microsoft.com/office/drawing/2014/main" id="{0A0F8A65-0A44-476A-9E71-46AF0810B682}"/>
              </a:ext>
            </a:extLst>
          </p:cNvPr>
          <p:cNvPicPr>
            <a:picLocks noChangeAspect="1"/>
          </p:cNvPicPr>
          <p:nvPr/>
        </p:nvPicPr>
        <p:blipFill>
          <a:blip r:embed="rId3"/>
          <a:stretch>
            <a:fillRect/>
          </a:stretch>
        </p:blipFill>
        <p:spPr>
          <a:xfrm>
            <a:off x="343421" y="941296"/>
            <a:ext cx="9274876" cy="973289"/>
          </a:xfrm>
          <a:prstGeom prst="rect">
            <a:avLst/>
          </a:prstGeom>
        </p:spPr>
      </p:pic>
      <p:sp>
        <p:nvSpPr>
          <p:cNvPr id="10" name="橢圓 9">
            <a:extLst>
              <a:ext uri="{FF2B5EF4-FFF2-40B4-BE49-F238E27FC236}">
                <a16:creationId xmlns:a16="http://schemas.microsoft.com/office/drawing/2014/main" id="{FC3C66B7-2901-4295-8C35-00829DD0BF78}"/>
              </a:ext>
            </a:extLst>
          </p:cNvPr>
          <p:cNvSpPr/>
          <p:nvPr/>
        </p:nvSpPr>
        <p:spPr>
          <a:xfrm>
            <a:off x="4223817" y="1863226"/>
            <a:ext cx="197224" cy="188258"/>
          </a:xfrm>
          <a:prstGeom prst="ellipse">
            <a:avLst/>
          </a:prstGeom>
          <a:solidFill>
            <a:schemeClr val="accent6"/>
          </a:solidFill>
          <a:ln>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dirty="0"/>
          </a:p>
        </p:txBody>
      </p:sp>
      <p:sp>
        <p:nvSpPr>
          <p:cNvPr id="2" name="橢圓 1">
            <a:extLst>
              <a:ext uri="{FF2B5EF4-FFF2-40B4-BE49-F238E27FC236}">
                <a16:creationId xmlns:a16="http://schemas.microsoft.com/office/drawing/2014/main" id="{5F21C3D2-6F0A-4DA4-AEC1-1A84B0894122}"/>
              </a:ext>
            </a:extLst>
          </p:cNvPr>
          <p:cNvSpPr/>
          <p:nvPr/>
        </p:nvSpPr>
        <p:spPr>
          <a:xfrm>
            <a:off x="7548280" y="5937496"/>
            <a:ext cx="197224" cy="188258"/>
          </a:xfrm>
          <a:prstGeom prst="ellipse">
            <a:avLst/>
          </a:prstGeom>
          <a:solidFill>
            <a:schemeClr val="accent6"/>
          </a:solidFill>
          <a:ln>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01376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4481B027-0D11-4ABF-97F3-5D383E3BF50E}"/>
              </a:ext>
            </a:extLst>
          </p:cNvPr>
          <p:cNvPicPr>
            <a:picLocks noGrp="1" noChangeAspect="1"/>
          </p:cNvPicPr>
          <p:nvPr>
            <p:ph idx="1"/>
          </p:nvPr>
        </p:nvPicPr>
        <p:blipFill>
          <a:blip r:embed="rId2"/>
          <a:stretch>
            <a:fillRect/>
          </a:stretch>
        </p:blipFill>
        <p:spPr>
          <a:xfrm>
            <a:off x="449354" y="1088860"/>
            <a:ext cx="5135658" cy="812605"/>
          </a:xfrm>
        </p:spPr>
      </p:pic>
      <p:sp>
        <p:nvSpPr>
          <p:cNvPr id="7" name="標題 1">
            <a:extLst>
              <a:ext uri="{FF2B5EF4-FFF2-40B4-BE49-F238E27FC236}">
                <a16:creationId xmlns:a16="http://schemas.microsoft.com/office/drawing/2014/main" id="{F01BD8F0-C146-49BA-94BC-9BE3466B5345}"/>
              </a:ext>
            </a:extLst>
          </p:cNvPr>
          <p:cNvSpPr txBox="1">
            <a:spLocks/>
          </p:cNvSpPr>
          <p:nvPr/>
        </p:nvSpPr>
        <p:spPr>
          <a:xfrm>
            <a:off x="449354" y="282204"/>
            <a:ext cx="7412691" cy="7196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A-critical point</a:t>
            </a:r>
            <a:endParaRPr lang="zh-TW" altLang="en-US" sz="36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A401915B-E092-4A05-A805-CDA5A2032A7B}"/>
              </a:ext>
            </a:extLst>
          </p:cNvPr>
          <p:cNvPicPr>
            <a:picLocks noChangeAspect="1"/>
          </p:cNvPicPr>
          <p:nvPr/>
        </p:nvPicPr>
        <p:blipFill>
          <a:blip r:embed="rId3"/>
          <a:stretch>
            <a:fillRect/>
          </a:stretch>
        </p:blipFill>
        <p:spPr>
          <a:xfrm>
            <a:off x="1246927" y="1988517"/>
            <a:ext cx="6417554" cy="4721724"/>
          </a:xfrm>
          <a:prstGeom prst="rect">
            <a:avLst/>
          </a:prstGeom>
        </p:spPr>
      </p:pic>
      <p:cxnSp>
        <p:nvCxnSpPr>
          <p:cNvPr id="11" name="直線接點 10">
            <a:extLst>
              <a:ext uri="{FF2B5EF4-FFF2-40B4-BE49-F238E27FC236}">
                <a16:creationId xmlns:a16="http://schemas.microsoft.com/office/drawing/2014/main" id="{E16D4BAB-7F36-4467-AA7B-A936F8C93005}"/>
              </a:ext>
            </a:extLst>
          </p:cNvPr>
          <p:cNvCxnSpPr/>
          <p:nvPr/>
        </p:nvCxnSpPr>
        <p:spPr>
          <a:xfrm>
            <a:off x="3621741" y="2108202"/>
            <a:ext cx="0" cy="3872753"/>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1AC63718-0D2D-4B56-B92B-F87A2BB5C42E}"/>
              </a:ext>
            </a:extLst>
          </p:cNvPr>
          <p:cNvCxnSpPr/>
          <p:nvPr/>
        </p:nvCxnSpPr>
        <p:spPr>
          <a:xfrm>
            <a:off x="6571130" y="2179920"/>
            <a:ext cx="0" cy="3872753"/>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橢圓 13">
            <a:extLst>
              <a:ext uri="{FF2B5EF4-FFF2-40B4-BE49-F238E27FC236}">
                <a16:creationId xmlns:a16="http://schemas.microsoft.com/office/drawing/2014/main" id="{412EB97D-1155-4158-89AC-1662B7D0F9F8}"/>
              </a:ext>
            </a:extLst>
          </p:cNvPr>
          <p:cNvSpPr/>
          <p:nvPr/>
        </p:nvSpPr>
        <p:spPr>
          <a:xfrm>
            <a:off x="3729927" y="1850862"/>
            <a:ext cx="197224" cy="1882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id="{ED21C1D7-FA54-452B-916C-2B050184F0F7}"/>
              </a:ext>
            </a:extLst>
          </p:cNvPr>
          <p:cNvSpPr/>
          <p:nvPr/>
        </p:nvSpPr>
        <p:spPr>
          <a:xfrm>
            <a:off x="4608468" y="5886826"/>
            <a:ext cx="197224" cy="1882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082BF3AC-910F-4BD5-8874-2453D67D4BF3}"/>
              </a:ext>
            </a:extLst>
          </p:cNvPr>
          <p:cNvSpPr/>
          <p:nvPr/>
        </p:nvSpPr>
        <p:spPr>
          <a:xfrm>
            <a:off x="5002915" y="1850862"/>
            <a:ext cx="197224" cy="18825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A5888FDC-94A9-4861-B01A-56F89A093A70}"/>
              </a:ext>
            </a:extLst>
          </p:cNvPr>
          <p:cNvSpPr/>
          <p:nvPr/>
        </p:nvSpPr>
        <p:spPr>
          <a:xfrm>
            <a:off x="5826836" y="5886826"/>
            <a:ext cx="197224" cy="18825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C99F539B-2298-469C-99A9-E77CF6417683}"/>
              </a:ext>
            </a:extLst>
          </p:cNvPr>
          <p:cNvSpPr txBox="1"/>
          <p:nvPr/>
        </p:nvSpPr>
        <p:spPr>
          <a:xfrm>
            <a:off x="8246458" y="2108202"/>
            <a:ext cx="3144929" cy="1384995"/>
          </a:xfrm>
          <a:prstGeom prst="rect">
            <a:avLst/>
          </a:prstGeom>
          <a:noFill/>
        </p:spPr>
        <p:txBody>
          <a:bodyPr wrap="square" rtlCol="0">
            <a:spAutoFit/>
          </a:bodyPr>
          <a:lstStyle/>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11 – 4 – 2 = 5</a:t>
            </a:r>
          </a:p>
          <a:p>
            <a:pPr marL="457200" indent="-457200">
              <a:buFont typeface="Arial" panose="020B0604020202020204" pitchFamily="34" charset="0"/>
              <a:buChar char="•"/>
            </a:pPr>
            <a:endParaRPr lang="en-US" altLang="zh-TW"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LCS = a b c b a</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4903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4481B027-0D11-4ABF-97F3-5D383E3BF50E}"/>
              </a:ext>
            </a:extLst>
          </p:cNvPr>
          <p:cNvPicPr>
            <a:picLocks noGrp="1" noChangeAspect="1"/>
          </p:cNvPicPr>
          <p:nvPr>
            <p:ph idx="1"/>
          </p:nvPr>
        </p:nvPicPr>
        <p:blipFill>
          <a:blip r:embed="rId2"/>
          <a:stretch>
            <a:fillRect/>
          </a:stretch>
        </p:blipFill>
        <p:spPr>
          <a:xfrm>
            <a:off x="449354" y="1088860"/>
            <a:ext cx="5135658" cy="812605"/>
          </a:xfrm>
        </p:spPr>
      </p:pic>
      <p:sp>
        <p:nvSpPr>
          <p:cNvPr id="7" name="標題 1">
            <a:extLst>
              <a:ext uri="{FF2B5EF4-FFF2-40B4-BE49-F238E27FC236}">
                <a16:creationId xmlns:a16="http://schemas.microsoft.com/office/drawing/2014/main" id="{F01BD8F0-C146-49BA-94BC-9BE3466B5345}"/>
              </a:ext>
            </a:extLst>
          </p:cNvPr>
          <p:cNvSpPr txBox="1">
            <a:spLocks/>
          </p:cNvSpPr>
          <p:nvPr/>
        </p:nvSpPr>
        <p:spPr>
          <a:xfrm>
            <a:off x="449354" y="282204"/>
            <a:ext cx="7412691" cy="7196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A-critical point</a:t>
            </a:r>
            <a:endParaRPr lang="zh-TW" altLang="en-US" sz="3600"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A401915B-E092-4A05-A805-CDA5A2032A7B}"/>
              </a:ext>
            </a:extLst>
          </p:cNvPr>
          <p:cNvPicPr>
            <a:picLocks noChangeAspect="1"/>
          </p:cNvPicPr>
          <p:nvPr/>
        </p:nvPicPr>
        <p:blipFill>
          <a:blip r:embed="rId3"/>
          <a:stretch>
            <a:fillRect/>
          </a:stretch>
        </p:blipFill>
        <p:spPr>
          <a:xfrm>
            <a:off x="1246927" y="1988517"/>
            <a:ext cx="6417554" cy="4721724"/>
          </a:xfrm>
          <a:prstGeom prst="rect">
            <a:avLst/>
          </a:prstGeom>
        </p:spPr>
      </p:pic>
      <p:cxnSp>
        <p:nvCxnSpPr>
          <p:cNvPr id="11" name="直線接點 10">
            <a:extLst>
              <a:ext uri="{FF2B5EF4-FFF2-40B4-BE49-F238E27FC236}">
                <a16:creationId xmlns:a16="http://schemas.microsoft.com/office/drawing/2014/main" id="{E16D4BAB-7F36-4467-AA7B-A936F8C93005}"/>
              </a:ext>
            </a:extLst>
          </p:cNvPr>
          <p:cNvCxnSpPr/>
          <p:nvPr/>
        </p:nvCxnSpPr>
        <p:spPr>
          <a:xfrm>
            <a:off x="2788024" y="2202331"/>
            <a:ext cx="0" cy="3872753"/>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1AC63718-0D2D-4B56-B92B-F87A2BB5C42E}"/>
              </a:ext>
            </a:extLst>
          </p:cNvPr>
          <p:cNvCxnSpPr/>
          <p:nvPr/>
        </p:nvCxnSpPr>
        <p:spPr>
          <a:xfrm>
            <a:off x="6571130" y="2179920"/>
            <a:ext cx="0" cy="3872753"/>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橢圓 13">
            <a:extLst>
              <a:ext uri="{FF2B5EF4-FFF2-40B4-BE49-F238E27FC236}">
                <a16:creationId xmlns:a16="http://schemas.microsoft.com/office/drawing/2014/main" id="{412EB97D-1155-4158-89AC-1662B7D0F9F8}"/>
              </a:ext>
            </a:extLst>
          </p:cNvPr>
          <p:cNvSpPr/>
          <p:nvPr/>
        </p:nvSpPr>
        <p:spPr>
          <a:xfrm>
            <a:off x="3729927" y="1850862"/>
            <a:ext cx="197224" cy="1882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id="{ED21C1D7-FA54-452B-916C-2B050184F0F7}"/>
              </a:ext>
            </a:extLst>
          </p:cNvPr>
          <p:cNvSpPr/>
          <p:nvPr/>
        </p:nvSpPr>
        <p:spPr>
          <a:xfrm>
            <a:off x="4608468" y="5886826"/>
            <a:ext cx="197224" cy="1882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082BF3AC-910F-4BD5-8874-2453D67D4BF3}"/>
              </a:ext>
            </a:extLst>
          </p:cNvPr>
          <p:cNvSpPr/>
          <p:nvPr/>
        </p:nvSpPr>
        <p:spPr>
          <a:xfrm>
            <a:off x="5002915" y="1850862"/>
            <a:ext cx="197224" cy="18825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A5888FDC-94A9-4861-B01A-56F89A093A70}"/>
              </a:ext>
            </a:extLst>
          </p:cNvPr>
          <p:cNvSpPr/>
          <p:nvPr/>
        </p:nvSpPr>
        <p:spPr>
          <a:xfrm>
            <a:off x="5826836" y="5886826"/>
            <a:ext cx="197224" cy="18825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C99F539B-2298-469C-99A9-E77CF6417683}"/>
              </a:ext>
            </a:extLst>
          </p:cNvPr>
          <p:cNvSpPr txBox="1"/>
          <p:nvPr/>
        </p:nvSpPr>
        <p:spPr>
          <a:xfrm>
            <a:off x="8246458" y="2108202"/>
            <a:ext cx="3144929" cy="1815882"/>
          </a:xfrm>
          <a:prstGeom prst="rect">
            <a:avLst/>
          </a:prstGeom>
          <a:noFill/>
        </p:spPr>
        <p:txBody>
          <a:bodyPr wrap="square" rtlCol="0">
            <a:spAutoFit/>
          </a:bodyPr>
          <a:lstStyle/>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11 – 2 – 3 = 6</a:t>
            </a:r>
          </a:p>
          <a:p>
            <a:pPr marL="457200" indent="-457200">
              <a:buFont typeface="Arial" panose="020B0604020202020204" pitchFamily="34" charset="0"/>
              <a:buChar char="•"/>
            </a:pPr>
            <a:endParaRPr lang="en-US" altLang="zh-TW"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zh-TW" sz="2800" dirty="0">
                <a:latin typeface="Times New Roman" panose="02020603050405020304" pitchFamily="18" charset="0"/>
                <a:cs typeface="Times New Roman" panose="02020603050405020304" pitchFamily="18" charset="0"/>
              </a:rPr>
              <a:t>LCS = a </a:t>
            </a:r>
            <a:r>
              <a:rPr lang="en-US" altLang="zh-TW" sz="2800" dirty="0" err="1">
                <a:latin typeface="Times New Roman" panose="02020603050405020304" pitchFamily="18" charset="0"/>
                <a:cs typeface="Times New Roman" panose="02020603050405020304" pitchFamily="18" charset="0"/>
              </a:rPr>
              <a:t>a</a:t>
            </a:r>
            <a:r>
              <a:rPr lang="en-US" altLang="zh-TW" sz="2800" dirty="0">
                <a:latin typeface="Times New Roman" panose="02020603050405020304" pitchFamily="18" charset="0"/>
                <a:cs typeface="Times New Roman" panose="02020603050405020304" pitchFamily="18" charset="0"/>
              </a:rPr>
              <a:t> b c b a</a:t>
            </a:r>
          </a:p>
          <a:p>
            <a:pPr lvl="2"/>
            <a:r>
              <a:rPr lang="en-US" altLang="zh-TW" sz="2800" dirty="0">
                <a:latin typeface="Times New Roman" panose="02020603050405020304" pitchFamily="18" charset="0"/>
                <a:cs typeface="Times New Roman" panose="02020603050405020304" pitchFamily="18" charset="0"/>
              </a:rPr>
              <a:t>     (b a b c b a)</a:t>
            </a:r>
            <a:endParaRPr lang="zh-TW" altLang="en-US" sz="2800" dirty="0">
              <a:latin typeface="Times New Roman" panose="02020603050405020304" pitchFamily="18" charset="0"/>
              <a:cs typeface="Times New Roman" panose="02020603050405020304" pitchFamily="18" charset="0"/>
            </a:endParaRPr>
          </a:p>
        </p:txBody>
      </p:sp>
      <p:sp>
        <p:nvSpPr>
          <p:cNvPr id="2" name="橢圓 1">
            <a:extLst>
              <a:ext uri="{FF2B5EF4-FFF2-40B4-BE49-F238E27FC236}">
                <a16:creationId xmlns:a16="http://schemas.microsoft.com/office/drawing/2014/main" id="{236276C1-3C00-44C5-AEB8-D2C649786FE6}"/>
              </a:ext>
            </a:extLst>
          </p:cNvPr>
          <p:cNvSpPr/>
          <p:nvPr/>
        </p:nvSpPr>
        <p:spPr>
          <a:xfrm>
            <a:off x="2896209" y="1850862"/>
            <a:ext cx="197224" cy="18825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3" name="橢圓 2">
            <a:extLst>
              <a:ext uri="{FF2B5EF4-FFF2-40B4-BE49-F238E27FC236}">
                <a16:creationId xmlns:a16="http://schemas.microsoft.com/office/drawing/2014/main" id="{C5ED3732-8630-4B2C-AFBD-D517E05AB2C8}"/>
              </a:ext>
            </a:extLst>
          </p:cNvPr>
          <p:cNvSpPr/>
          <p:nvPr/>
        </p:nvSpPr>
        <p:spPr>
          <a:xfrm>
            <a:off x="6274899" y="5886826"/>
            <a:ext cx="197224" cy="18825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46784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77EFB9A-5EFD-4B9C-9A12-6CE427A2204C}"/>
              </a:ext>
            </a:extLst>
          </p:cNvPr>
          <p:cNvSpPr>
            <a:spLocks noGrp="1"/>
          </p:cNvSpPr>
          <p:nvPr>
            <p:ph idx="1"/>
          </p:nvPr>
        </p:nvSpPr>
        <p:spPr>
          <a:xfrm>
            <a:off x="838200" y="1515138"/>
            <a:ext cx="10515600" cy="758183"/>
          </a:xfrm>
        </p:spPr>
        <p:txBody>
          <a:bodyPr/>
          <a:lstStyle/>
          <a:p>
            <a:r>
              <a:rPr lang="en-US" altLang="zh-TW" dirty="0">
                <a:latin typeface="Times New Roman" panose="02020603050405020304" pitchFamily="18" charset="0"/>
                <a:cs typeface="Times New Roman" panose="02020603050405020304" pitchFamily="18" charset="0"/>
              </a:rPr>
              <a:t>Divide and conquer</a:t>
            </a:r>
          </a:p>
          <a:p>
            <a:endParaRPr lang="zh-TW" altLang="en-US" dirty="0"/>
          </a:p>
        </p:txBody>
      </p:sp>
      <p:sp>
        <p:nvSpPr>
          <p:cNvPr id="8" name="標題 1">
            <a:extLst>
              <a:ext uri="{FF2B5EF4-FFF2-40B4-BE49-F238E27FC236}">
                <a16:creationId xmlns:a16="http://schemas.microsoft.com/office/drawing/2014/main" id="{5035F079-B1FE-44C3-88ED-69F9775868CA}"/>
              </a:ext>
            </a:extLst>
          </p:cNvPr>
          <p:cNvSpPr txBox="1">
            <a:spLocks/>
          </p:cNvSpPr>
          <p:nvPr/>
        </p:nvSpPr>
        <p:spPr>
          <a:xfrm>
            <a:off x="357244" y="258953"/>
            <a:ext cx="4499427" cy="7581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Algorithm</a:t>
            </a:r>
            <a:endParaRPr lang="zh-TW" altLang="en-US" sz="3600" dirty="0">
              <a:latin typeface="Times New Roman" panose="02020603050405020304" pitchFamily="18" charset="0"/>
              <a:cs typeface="Times New Roman" panose="02020603050405020304" pitchFamily="18" charset="0"/>
            </a:endParaRPr>
          </a:p>
        </p:txBody>
      </p:sp>
      <p:graphicFrame>
        <p:nvGraphicFramePr>
          <p:cNvPr id="9" name="表格 9">
            <a:extLst>
              <a:ext uri="{FF2B5EF4-FFF2-40B4-BE49-F238E27FC236}">
                <a16:creationId xmlns:a16="http://schemas.microsoft.com/office/drawing/2014/main" id="{542E30B9-9FAB-44B7-B2BF-340A3C4F7E22}"/>
              </a:ext>
            </a:extLst>
          </p:cNvPr>
          <p:cNvGraphicFramePr>
            <a:graphicFrameLocks noGrp="1"/>
          </p:cNvGraphicFramePr>
          <p:nvPr>
            <p:extLst>
              <p:ext uri="{D42A27DB-BD31-4B8C-83A1-F6EECF244321}">
                <p14:modId xmlns:p14="http://schemas.microsoft.com/office/powerpoint/2010/main" val="371460866"/>
              </p:ext>
            </p:extLst>
          </p:nvPr>
        </p:nvGraphicFramePr>
        <p:xfrm>
          <a:off x="3281802" y="2903731"/>
          <a:ext cx="5119296" cy="2512368"/>
        </p:xfrm>
        <a:graphic>
          <a:graphicData uri="http://schemas.openxmlformats.org/drawingml/2006/table">
            <a:tbl>
              <a:tblPr firstRow="1" bandRow="1">
                <a:tableStyleId>{5940675A-B579-460E-94D1-54222C63F5DA}</a:tableStyleId>
              </a:tblPr>
              <a:tblGrid>
                <a:gridCol w="639912">
                  <a:extLst>
                    <a:ext uri="{9D8B030D-6E8A-4147-A177-3AD203B41FA5}">
                      <a16:colId xmlns:a16="http://schemas.microsoft.com/office/drawing/2014/main" val="532491015"/>
                    </a:ext>
                  </a:extLst>
                </a:gridCol>
                <a:gridCol w="639912">
                  <a:extLst>
                    <a:ext uri="{9D8B030D-6E8A-4147-A177-3AD203B41FA5}">
                      <a16:colId xmlns:a16="http://schemas.microsoft.com/office/drawing/2014/main" val="2347695846"/>
                    </a:ext>
                  </a:extLst>
                </a:gridCol>
                <a:gridCol w="639912">
                  <a:extLst>
                    <a:ext uri="{9D8B030D-6E8A-4147-A177-3AD203B41FA5}">
                      <a16:colId xmlns:a16="http://schemas.microsoft.com/office/drawing/2014/main" val="710887315"/>
                    </a:ext>
                  </a:extLst>
                </a:gridCol>
                <a:gridCol w="639912">
                  <a:extLst>
                    <a:ext uri="{9D8B030D-6E8A-4147-A177-3AD203B41FA5}">
                      <a16:colId xmlns:a16="http://schemas.microsoft.com/office/drawing/2014/main" val="2163809570"/>
                    </a:ext>
                  </a:extLst>
                </a:gridCol>
                <a:gridCol w="639912">
                  <a:extLst>
                    <a:ext uri="{9D8B030D-6E8A-4147-A177-3AD203B41FA5}">
                      <a16:colId xmlns:a16="http://schemas.microsoft.com/office/drawing/2014/main" val="3261850700"/>
                    </a:ext>
                  </a:extLst>
                </a:gridCol>
                <a:gridCol w="639912">
                  <a:extLst>
                    <a:ext uri="{9D8B030D-6E8A-4147-A177-3AD203B41FA5}">
                      <a16:colId xmlns:a16="http://schemas.microsoft.com/office/drawing/2014/main" val="1603555433"/>
                    </a:ext>
                  </a:extLst>
                </a:gridCol>
                <a:gridCol w="639912">
                  <a:extLst>
                    <a:ext uri="{9D8B030D-6E8A-4147-A177-3AD203B41FA5}">
                      <a16:colId xmlns:a16="http://schemas.microsoft.com/office/drawing/2014/main" val="2938047270"/>
                    </a:ext>
                  </a:extLst>
                </a:gridCol>
                <a:gridCol w="639912">
                  <a:extLst>
                    <a:ext uri="{9D8B030D-6E8A-4147-A177-3AD203B41FA5}">
                      <a16:colId xmlns:a16="http://schemas.microsoft.com/office/drawing/2014/main" val="3959950746"/>
                    </a:ext>
                  </a:extLst>
                </a:gridCol>
              </a:tblGrid>
              <a:tr h="418728">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646268751"/>
                  </a:ext>
                </a:extLst>
              </a:tr>
              <a:tr h="41872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3896132311"/>
                  </a:ext>
                </a:extLst>
              </a:tr>
              <a:tr h="41872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4185420537"/>
                  </a:ext>
                </a:extLst>
              </a:tr>
              <a:tr h="41872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46834992"/>
                  </a:ext>
                </a:extLst>
              </a:tr>
              <a:tr h="41872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4028632092"/>
                  </a:ext>
                </a:extLst>
              </a:tr>
              <a:tr h="418728">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502693965"/>
                  </a:ext>
                </a:extLst>
              </a:tr>
            </a:tbl>
          </a:graphicData>
        </a:graphic>
      </p:graphicFrame>
      <p:cxnSp>
        <p:nvCxnSpPr>
          <p:cNvPr id="16" name="直線接點 15">
            <a:extLst>
              <a:ext uri="{FF2B5EF4-FFF2-40B4-BE49-F238E27FC236}">
                <a16:creationId xmlns:a16="http://schemas.microsoft.com/office/drawing/2014/main" id="{5BCD8A51-27EA-4775-9795-C4B6530AEBD8}"/>
              </a:ext>
            </a:extLst>
          </p:cNvPr>
          <p:cNvCxnSpPr>
            <a:cxnSpLocks/>
          </p:cNvCxnSpPr>
          <p:nvPr/>
        </p:nvCxnSpPr>
        <p:spPr>
          <a:xfrm flipH="1">
            <a:off x="5839055" y="2670153"/>
            <a:ext cx="2395" cy="2907102"/>
          </a:xfrm>
          <a:prstGeom prst="line">
            <a:avLst/>
          </a:prstGeom>
          <a:ln w="57150"/>
        </p:spPr>
        <p:style>
          <a:lnRef idx="1">
            <a:schemeClr val="accent2"/>
          </a:lnRef>
          <a:fillRef idx="0">
            <a:schemeClr val="accent2"/>
          </a:fillRef>
          <a:effectRef idx="0">
            <a:schemeClr val="accent2"/>
          </a:effectRef>
          <a:fontRef idx="minor">
            <a:schemeClr val="tx1"/>
          </a:fontRef>
        </p:style>
      </p:cxnSp>
      <p:cxnSp>
        <p:nvCxnSpPr>
          <p:cNvPr id="20" name="直線接點 19">
            <a:extLst>
              <a:ext uri="{FF2B5EF4-FFF2-40B4-BE49-F238E27FC236}">
                <a16:creationId xmlns:a16="http://schemas.microsoft.com/office/drawing/2014/main" id="{FDC80068-1AFB-42AA-A8D3-138C93AE43A1}"/>
              </a:ext>
            </a:extLst>
          </p:cNvPr>
          <p:cNvCxnSpPr>
            <a:cxnSpLocks/>
          </p:cNvCxnSpPr>
          <p:nvPr/>
        </p:nvCxnSpPr>
        <p:spPr>
          <a:xfrm>
            <a:off x="4559231" y="2670153"/>
            <a:ext cx="0" cy="1489762"/>
          </a:xfrm>
          <a:prstGeom prst="line">
            <a:avLst/>
          </a:prstGeom>
          <a:ln w="57150"/>
        </p:spPr>
        <p:style>
          <a:lnRef idx="1">
            <a:schemeClr val="accent4"/>
          </a:lnRef>
          <a:fillRef idx="0">
            <a:schemeClr val="accent4"/>
          </a:fillRef>
          <a:effectRef idx="0">
            <a:schemeClr val="accent4"/>
          </a:effectRef>
          <a:fontRef idx="minor">
            <a:schemeClr val="tx1"/>
          </a:fontRef>
        </p:style>
      </p:cxnSp>
      <p:cxnSp>
        <p:nvCxnSpPr>
          <p:cNvPr id="23" name="直線接點 22">
            <a:extLst>
              <a:ext uri="{FF2B5EF4-FFF2-40B4-BE49-F238E27FC236}">
                <a16:creationId xmlns:a16="http://schemas.microsoft.com/office/drawing/2014/main" id="{CC0451B2-8863-4F7B-A849-78D750117426}"/>
              </a:ext>
            </a:extLst>
          </p:cNvPr>
          <p:cNvCxnSpPr>
            <a:cxnSpLocks/>
          </p:cNvCxnSpPr>
          <p:nvPr/>
        </p:nvCxnSpPr>
        <p:spPr>
          <a:xfrm flipH="1">
            <a:off x="3069976" y="4159915"/>
            <a:ext cx="2769079" cy="0"/>
          </a:xfrm>
          <a:prstGeom prst="line">
            <a:avLst/>
          </a:prstGeom>
          <a:ln w="57150">
            <a:solidFill>
              <a:schemeClr val="accent6"/>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48887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77EFB9A-5EFD-4B9C-9A12-6CE427A2204C}"/>
              </a:ext>
            </a:extLst>
          </p:cNvPr>
          <p:cNvSpPr>
            <a:spLocks noGrp="1"/>
          </p:cNvSpPr>
          <p:nvPr>
            <p:ph idx="1"/>
          </p:nvPr>
        </p:nvSpPr>
        <p:spPr>
          <a:xfrm>
            <a:off x="357244" y="1144140"/>
            <a:ext cx="10515600" cy="758183"/>
          </a:xfrm>
        </p:spPr>
        <p:txBody>
          <a:bodyPr/>
          <a:lstStyle/>
          <a:p>
            <a:r>
              <a:rPr lang="en-US" altLang="zh-TW" dirty="0">
                <a:latin typeface="Times New Roman" panose="02020603050405020304" pitchFamily="18" charset="0"/>
                <a:cs typeface="Times New Roman" panose="02020603050405020304" pitchFamily="18" charset="0"/>
              </a:rPr>
              <a:t>Divide and conquer</a:t>
            </a:r>
          </a:p>
          <a:p>
            <a:endParaRPr lang="zh-TW" altLang="en-US" dirty="0"/>
          </a:p>
        </p:txBody>
      </p:sp>
      <p:pic>
        <p:nvPicPr>
          <p:cNvPr id="5" name="圖片 4">
            <a:extLst>
              <a:ext uri="{FF2B5EF4-FFF2-40B4-BE49-F238E27FC236}">
                <a16:creationId xmlns:a16="http://schemas.microsoft.com/office/drawing/2014/main" id="{C0F57ECC-F799-4FB4-8A43-022C12976110}"/>
              </a:ext>
            </a:extLst>
          </p:cNvPr>
          <p:cNvPicPr>
            <a:picLocks noChangeAspect="1"/>
          </p:cNvPicPr>
          <p:nvPr/>
        </p:nvPicPr>
        <p:blipFill>
          <a:blip r:embed="rId2"/>
          <a:stretch>
            <a:fillRect/>
          </a:stretch>
        </p:blipFill>
        <p:spPr>
          <a:xfrm>
            <a:off x="2760895" y="1902323"/>
            <a:ext cx="6077413" cy="3278433"/>
          </a:xfrm>
          <a:prstGeom prst="rect">
            <a:avLst/>
          </a:prstGeom>
        </p:spPr>
      </p:pic>
      <mc:AlternateContent xmlns:mc="http://schemas.openxmlformats.org/markup-compatibility/2006">
        <mc:Choice xmlns:a14="http://schemas.microsoft.com/office/drawing/2010/main" Requires="a14">
          <p:sp>
            <p:nvSpPr>
              <p:cNvPr id="7" name="文字方塊 6">
                <a:extLst>
                  <a:ext uri="{FF2B5EF4-FFF2-40B4-BE49-F238E27FC236}">
                    <a16:creationId xmlns:a16="http://schemas.microsoft.com/office/drawing/2014/main" id="{5D6FF579-261A-4C46-8339-A9B5F32D5828}"/>
                  </a:ext>
                </a:extLst>
              </p:cNvPr>
              <p:cNvSpPr txBox="1"/>
              <p:nvPr/>
            </p:nvSpPr>
            <p:spPr>
              <a:xfrm>
                <a:off x="4446554" y="5832156"/>
                <a:ext cx="3298892" cy="376547"/>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Time  Complexity :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𝑂</m:t>
                    </m:r>
                    <m:d>
                      <m:dPr>
                        <m:ctrlPr>
                          <a:rPr lang="en-US" altLang="zh-TW" i="1" dirty="0" smtClean="0">
                            <a:latin typeface="Cambria Math" panose="02040503050406030204" pitchFamily="18" charset="0"/>
                            <a:cs typeface="Times New Roman" panose="02020603050405020304" pitchFamily="18" charset="0"/>
                          </a:rPr>
                        </m:ctrlPr>
                      </m:dPr>
                      <m:e>
                        <m:r>
                          <a:rPr lang="en-US" altLang="zh-TW" b="0" i="1" dirty="0" smtClean="0">
                            <a:latin typeface="Cambria Math" panose="02040503050406030204" pitchFamily="18" charset="0"/>
                            <a:cs typeface="Times New Roman" panose="02020603050405020304" pitchFamily="18" charset="0"/>
                          </a:rPr>
                          <m:t>𝑀</m:t>
                        </m:r>
                        <m:r>
                          <a:rPr lang="en-US" altLang="zh-TW" b="0" i="1" dirty="0" smtClean="0">
                            <a:latin typeface="Cambria Math" panose="02040503050406030204" pitchFamily="18" charset="0"/>
                            <a:cs typeface="Times New Roman" panose="02020603050405020304" pitchFamily="18" charset="0"/>
                          </a:rPr>
                          <m:t>+</m:t>
                        </m:r>
                        <m:sSup>
                          <m:sSupPr>
                            <m:ctrlPr>
                              <a:rPr lang="en-US" altLang="zh-TW" b="0" i="1" dirty="0" smtClean="0">
                                <a:latin typeface="Cambria Math" panose="02040503050406030204" pitchFamily="18" charset="0"/>
                                <a:cs typeface="Times New Roman" panose="02020603050405020304" pitchFamily="18" charset="0"/>
                              </a:rPr>
                            </m:ctrlPr>
                          </m:sSupPr>
                          <m:e>
                            <m:r>
                              <a:rPr lang="en-US" altLang="zh-TW" b="0" i="1" dirty="0" smtClean="0">
                                <a:latin typeface="Cambria Math" panose="02040503050406030204" pitchFamily="18" charset="0"/>
                                <a:cs typeface="Times New Roman" panose="02020603050405020304" pitchFamily="18" charset="0"/>
                              </a:rPr>
                              <m:t>𝑛</m:t>
                            </m:r>
                          </m:e>
                          <m:sup>
                            <m:r>
                              <a:rPr lang="en-US" altLang="zh-TW" b="0" i="1" dirty="0" smtClean="0">
                                <a:latin typeface="Cambria Math" panose="02040503050406030204" pitchFamily="18" charset="0"/>
                                <a:cs typeface="Times New Roman" panose="02020603050405020304" pitchFamily="18" charset="0"/>
                              </a:rPr>
                              <m:t>1.5</m:t>
                            </m:r>
                          </m:sup>
                        </m:sSup>
                      </m:e>
                    </m:d>
                  </m:oMath>
                </a14:m>
                <a:endParaRPr lang="zh-TW" altLang="en-US" dirty="0"/>
              </a:p>
            </p:txBody>
          </p:sp>
        </mc:Choice>
        <mc:Fallback>
          <p:sp>
            <p:nvSpPr>
              <p:cNvPr id="7" name="文字方塊 6">
                <a:extLst>
                  <a:ext uri="{FF2B5EF4-FFF2-40B4-BE49-F238E27FC236}">
                    <a16:creationId xmlns:a16="http://schemas.microsoft.com/office/drawing/2014/main" id="{5D6FF579-261A-4C46-8339-A9B5F32D5828}"/>
                  </a:ext>
                </a:extLst>
              </p:cNvPr>
              <p:cNvSpPr txBox="1">
                <a:spLocks noRot="1" noChangeAspect="1" noMove="1" noResize="1" noEditPoints="1" noAdjustHandles="1" noChangeArrowheads="1" noChangeShapeType="1" noTextEdit="1"/>
              </p:cNvSpPr>
              <p:nvPr/>
            </p:nvSpPr>
            <p:spPr>
              <a:xfrm>
                <a:off x="4446554" y="5832156"/>
                <a:ext cx="3298892" cy="376547"/>
              </a:xfrm>
              <a:prstGeom prst="rect">
                <a:avLst/>
              </a:prstGeom>
              <a:blipFill>
                <a:blip r:embed="rId3"/>
                <a:stretch>
                  <a:fillRect l="-1476" t="-9836" b="-24590"/>
                </a:stretch>
              </a:blipFill>
            </p:spPr>
            <p:txBody>
              <a:bodyPr/>
              <a:lstStyle/>
              <a:p>
                <a:r>
                  <a:rPr lang="zh-TW" altLang="en-US">
                    <a:noFill/>
                  </a:rPr>
                  <a:t> </a:t>
                </a:r>
              </a:p>
            </p:txBody>
          </p:sp>
        </mc:Fallback>
      </mc:AlternateContent>
      <p:sp>
        <p:nvSpPr>
          <p:cNvPr id="8" name="標題 1">
            <a:extLst>
              <a:ext uri="{FF2B5EF4-FFF2-40B4-BE49-F238E27FC236}">
                <a16:creationId xmlns:a16="http://schemas.microsoft.com/office/drawing/2014/main" id="{5035F079-B1FE-44C3-88ED-69F9775868CA}"/>
              </a:ext>
            </a:extLst>
          </p:cNvPr>
          <p:cNvSpPr txBox="1">
            <a:spLocks/>
          </p:cNvSpPr>
          <p:nvPr/>
        </p:nvSpPr>
        <p:spPr>
          <a:xfrm>
            <a:off x="357244" y="258953"/>
            <a:ext cx="4499427" cy="7581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Algorithm</a:t>
            </a:r>
            <a:endParaRPr lang="zh-TW"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93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Conclusions</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Time Complexity :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𝑂</m:t>
                    </m:r>
                    <m:d>
                      <m:dPr>
                        <m:ctrlPr>
                          <a:rPr lang="en-US" altLang="zh-TW" b="0" i="1" smtClean="0">
                            <a:latin typeface="Cambria Math" panose="02040503050406030204" pitchFamily="18" charset="0"/>
                            <a:cs typeface="Times New Roman" panose="02020603050405020304" pitchFamily="18" charset="0"/>
                          </a:rPr>
                        </m:ctrlPr>
                      </m:dPr>
                      <m:e>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𝑚𝑛</m:t>
                            </m:r>
                          </m:num>
                          <m:den>
                            <m:sSup>
                              <m:sSupPr>
                                <m:ctrlPr>
                                  <a:rPr lang="en-US" altLang="zh-TW" b="0" i="1" smtClean="0">
                                    <a:latin typeface="Cambria Math" panose="02040503050406030204" pitchFamily="18" charset="0"/>
                                    <a:cs typeface="Times New Roman" panose="02020603050405020304" pitchFamily="18" charset="0"/>
                                  </a:rPr>
                                </m:ctrlPr>
                              </m:sSupPr>
                              <m:e>
                                <m:func>
                                  <m:funcPr>
                                    <m:ctrlPr>
                                      <a:rPr lang="en-US" altLang="zh-TW" i="1">
                                        <a:latin typeface="Cambria Math" panose="02040503050406030204" pitchFamily="18" charset="0"/>
                                        <a:cs typeface="Times New Roman" panose="02020603050405020304" pitchFamily="18" charset="0"/>
                                      </a:rPr>
                                    </m:ctrlPr>
                                  </m:funcPr>
                                  <m:fName>
                                    <m:r>
                                      <a:rPr lang="en-US" altLang="zh-TW" b="0" i="0" smtClean="0">
                                        <a:latin typeface="Cambria Math" panose="02040503050406030204" pitchFamily="18" charset="0"/>
                                        <a:cs typeface="Times New Roman" panose="02020603050405020304" pitchFamily="18" charset="0"/>
                                      </a:rPr>
                                      <m:t>(</m:t>
                                    </m:r>
                                    <m:r>
                                      <m:rPr>
                                        <m:sty m:val="p"/>
                                      </m:rPr>
                                      <a:rPr lang="en-US" altLang="zh-TW">
                                        <a:latin typeface="Cambria Math" panose="02040503050406030204" pitchFamily="18" charset="0"/>
                                        <a:cs typeface="Times New Roman" panose="02020603050405020304" pitchFamily="18" charset="0"/>
                                      </a:rPr>
                                      <m:t>log</m:t>
                                    </m:r>
                                  </m:fName>
                                  <m:e>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𝑚</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𝑛</m:t>
                                        </m:r>
                                      </m:e>
                                    </m:d>
                                  </m:e>
                                </m:func>
                                <m:r>
                                  <a:rPr lang="en-US" altLang="zh-TW" b="0" i="1" smtClean="0">
                                    <a:latin typeface="Cambria Math" panose="02040503050406030204" pitchFamily="18" charset="0"/>
                                    <a:cs typeface="Times New Roman" panose="02020603050405020304" pitchFamily="18" charset="0"/>
                                  </a:rPr>
                                  <m:t>)</m:t>
                                </m:r>
                              </m:e>
                              <m:sup>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cs typeface="Times New Roman" panose="02020603050405020304" pitchFamily="18" charset="0"/>
                                      </a:rPr>
                                      <m:t>2</m:t>
                                    </m:r>
                                  </m:den>
                                </m:f>
                              </m:sup>
                            </m:sSup>
                          </m:den>
                        </m:f>
                      </m:e>
                    </m:d>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1043" t="-168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0C029359-40AB-419B-8FBB-45C7471E1ED3}" type="slidenum">
              <a:rPr lang="zh-TW" altLang="en-US" smtClean="0"/>
              <a:t>11</a:t>
            </a:fld>
            <a:endParaRPr lang="zh-TW" altLang="en-US" dirty="0"/>
          </a:p>
        </p:txBody>
      </p:sp>
    </p:spTree>
    <p:extLst>
      <p:ext uri="{BB962C8B-B14F-4D97-AF65-F5344CB8AC3E}">
        <p14:creationId xmlns:p14="http://schemas.microsoft.com/office/powerpoint/2010/main" val="346043075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300</Words>
  <Application>Microsoft Office PowerPoint</Application>
  <PresentationFormat>寬螢幕</PresentationFormat>
  <Paragraphs>32</Paragraphs>
  <Slides>11</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Arial</vt:lpstr>
      <vt:lpstr>Calibri</vt:lpstr>
      <vt:lpstr>Calibri Light</vt:lpstr>
      <vt:lpstr>Cambria Math</vt:lpstr>
      <vt:lpstr>Times New Roman</vt:lpstr>
      <vt:lpstr>Verdana</vt:lpstr>
      <vt:lpstr>Office 佈景主題</vt:lpstr>
      <vt:lpstr>PowerPoint 簡報</vt:lpstr>
      <vt:lpstr>PowerPoint 簡報</vt:lpstr>
      <vt:lpstr>Semi-local LCS problem</vt:lpstr>
      <vt:lpstr>Semi-local LCS problem</vt:lpstr>
      <vt:lpstr>PowerPoint 簡報</vt:lpstr>
      <vt:lpstr>PowerPoint 簡報</vt:lpstr>
      <vt:lpstr>PowerPoint 簡報</vt:lpstr>
      <vt:lpstr>PowerPoint 簡報</vt:lpstr>
      <vt:lpstr>PowerPoint 簡報</vt:lpstr>
      <vt:lpstr>PowerPoint 簡報</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Semi-local longest common subsequences in subquadratic time</dc:title>
  <dc:creator>M083040080</dc:creator>
  <cp:lastModifiedBy>M083040080</cp:lastModifiedBy>
  <cp:revision>16</cp:revision>
  <dcterms:created xsi:type="dcterms:W3CDTF">2020-11-10T01:25:12Z</dcterms:created>
  <dcterms:modified xsi:type="dcterms:W3CDTF">2020-11-10T10:08:46Z</dcterms:modified>
</cp:coreProperties>
</file>