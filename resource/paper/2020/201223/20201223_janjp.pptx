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58" r:id="rId3"/>
    <p:sldId id="317" r:id="rId4"/>
    <p:sldId id="260" r:id="rId5"/>
    <p:sldId id="357" r:id="rId6"/>
    <p:sldId id="319" r:id="rId7"/>
    <p:sldId id="320" r:id="rId8"/>
    <p:sldId id="356" r:id="rId9"/>
    <p:sldId id="321" r:id="rId10"/>
    <p:sldId id="332" r:id="rId11"/>
    <p:sldId id="323" r:id="rId12"/>
    <p:sldId id="324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22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8" r:id="rId3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300" autoAdjust="0"/>
  </p:normalViewPr>
  <p:slideViewPr>
    <p:cSldViewPr>
      <p:cViewPr varScale="1">
        <p:scale>
          <a:sx n="52" d="100"/>
          <a:sy n="52" d="100"/>
        </p:scale>
        <p:origin x="1926" y="78"/>
      </p:cViewPr>
      <p:guideLst>
        <p:guide orient="horz" pos="2160"/>
        <p:guide pos="288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Journal of Internet Technology </a:t>
            </a:r>
            <a:r>
              <a:rPr lang="zh-TW" altLang="en-US" dirty="0"/>
              <a:t>網際網路技術學刊 </a:t>
            </a:r>
            <a:r>
              <a:rPr lang="en-US" altLang="zh-TW" dirty="0"/>
              <a:t>2009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Ʃ = sigma</a:t>
            </a:r>
          </a:p>
          <a:p>
            <a:r>
              <a:rPr lang="el-GR" altLang="zh-TW" sz="12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 = epsilon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1200" dirty="0">
                    <a:latin typeface="Times New Roman" pitchFamily="18" charset="0"/>
                    <a:cs typeface="Times New Roman" pitchFamily="18" charset="0"/>
                  </a:rPr>
                  <a:t>Ʃ = sigma</a:t>
                </a:r>
              </a:p>
              <a:p>
                <a:r>
                  <a:rPr lang="el-GR" altLang="zh-TW" sz="1200" dirty="0">
                    <a:latin typeface="Times New Roman" pitchFamily="18" charset="0"/>
                    <a:cs typeface="Times New Roman" pitchFamily="18" charset="0"/>
                  </a:rPr>
                  <a:t>Ε</a:t>
                </a:r>
                <a:r>
                  <a:rPr lang="en-US" altLang="zh-TW" sz="1200" dirty="0">
                    <a:latin typeface="Times New Roman" pitchFamily="18" charset="0"/>
                    <a:cs typeface="Times New Roman" pitchFamily="18" charset="0"/>
                  </a:rPr>
                  <a:t> = epsilon</a:t>
                </a:r>
              </a:p>
              <a:p>
                <a14:m>
                  <m:oMath xmlns:m="http://schemas.openxmlformats.org/officeDocument/2006/math">
                    <m:rad>
                      <m:rad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cube root of x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1200" dirty="0">
                    <a:latin typeface="Times New Roman" pitchFamily="18" charset="0"/>
                    <a:cs typeface="Times New Roman" pitchFamily="18" charset="0"/>
                  </a:rPr>
                  <a:t>Ʃ = sigma</a:t>
                </a:r>
              </a:p>
              <a:p>
                <a:r>
                  <a:rPr lang="el-GR" altLang="zh-TW" sz="1200" dirty="0">
                    <a:latin typeface="Times New Roman" pitchFamily="18" charset="0"/>
                    <a:cs typeface="Times New Roman" pitchFamily="18" charset="0"/>
                  </a:rPr>
                  <a:t>Ε</a:t>
                </a:r>
                <a:r>
                  <a:rPr lang="en-US" altLang="zh-TW" sz="1200" dirty="0">
                    <a:latin typeface="Times New Roman" pitchFamily="18" charset="0"/>
                    <a:cs typeface="Times New Roman" pitchFamily="18" charset="0"/>
                  </a:rPr>
                  <a:t> = epsilon</a:t>
                </a:r>
              </a:p>
              <a:p>
                <a:r>
                  <a:rPr lang="zh-TW" altLang="en-US" i="0">
                    <a:latin typeface="Cambria Math" panose="02040503050406030204" pitchFamily="18" charset="0"/>
                  </a:rPr>
                  <a:t>√(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3&amp;𝑥</a:t>
                </a:r>
                <a:r>
                  <a:rPr lang="zh-TW" altLang="en-US" b="0" i="0">
                    <a:latin typeface="Cambria Math" panose="02040503050406030204" pitchFamily="18" charset="0"/>
                  </a:rPr>
                  <a:t>)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 cube root of x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673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817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052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990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8563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730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446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9290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910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427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871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186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828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7348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730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08530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018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Convolution(</a:t>
            </a:r>
            <a:r>
              <a:rPr lang="en-US" altLang="zh-TW" dirty="0" err="1"/>
              <a:t>T,P,a</a:t>
            </a:r>
            <a:r>
              <a:rPr lang="en-US" altLang="zh-TW" dirty="0"/>
              <a:t>):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64336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Convolution(</a:t>
            </a:r>
            <a:r>
              <a:rPr lang="en-US" altLang="zh-TW" dirty="0" err="1"/>
              <a:t>T,P,a</a:t>
            </a:r>
            <a:r>
              <a:rPr lang="en-US" altLang="zh-TW" dirty="0"/>
              <a:t>): </a:t>
            </a:r>
          </a:p>
          <a:p>
            <a:r>
              <a:rPr lang="en-US" altLang="zh-TW" dirty="0"/>
              <a:t>m</a:t>
            </a:r>
            <a:r>
              <a:rPr lang="zh-TW" altLang="en-US" dirty="0"/>
              <a:t>是</a:t>
            </a:r>
            <a:r>
              <a:rPr lang="en-US" altLang="zh-TW" dirty="0"/>
              <a:t>P</a:t>
            </a:r>
            <a:r>
              <a:rPr lang="zh-TW" altLang="en-US" dirty="0"/>
              <a:t>的長度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4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21584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748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96214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058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70824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4519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4933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9814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8277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3300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8947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|A| &lt;= 2k Cost(A) &lt;= b</a:t>
            </a:r>
          </a:p>
          <a:p>
            <a:endParaRPr lang="en-US" altLang="zh-TW" dirty="0"/>
          </a:p>
          <a:p>
            <a:r>
              <a:rPr lang="en-US" altLang="zh-TW" dirty="0"/>
              <a:t>M[</a:t>
            </a:r>
            <a:r>
              <a:rPr lang="en-US" altLang="zh-TW" dirty="0" err="1"/>
              <a:t>i</a:t>
            </a:r>
            <a:r>
              <a:rPr lang="en-US" altLang="zh-TW" dirty="0"/>
              <a:t>] =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-25000" dirty="0"/>
              <a:t> </a:t>
            </a:r>
            <a:r>
              <a:rPr lang="zh-TW" altLang="en-US" dirty="0"/>
              <a:t>中等於</a:t>
            </a:r>
            <a:r>
              <a:rPr lang="en-US" altLang="zh-TW" dirty="0" err="1"/>
              <a:t>P</a:t>
            </a:r>
            <a:r>
              <a:rPr lang="en-US" altLang="zh-TW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x⊆A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的個數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52150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Convolution(</a:t>
            </a:r>
            <a:r>
              <a:rPr lang="en-US" altLang="zh-TW" dirty="0" err="1"/>
              <a:t>T,P,a</a:t>
            </a:r>
            <a:r>
              <a:rPr lang="en-US" altLang="zh-TW" dirty="0"/>
              <a:t>):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4498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Distance No More Than K</a:t>
            </a:r>
            <a:r>
              <a:rPr lang="zh-TW" altLang="en-US" dirty="0"/>
              <a:t>是算出每個</a:t>
            </a:r>
            <a:r>
              <a:rPr lang="en-US" altLang="zh-TW" dirty="0"/>
              <a:t>ISLAND</a:t>
            </a:r>
            <a:r>
              <a:rPr lang="zh-TW" altLang="en-US" dirty="0"/>
              <a:t>中</a:t>
            </a:r>
            <a:r>
              <a:rPr lang="en-US" altLang="zh-TW" dirty="0"/>
              <a:t>mismatch</a:t>
            </a:r>
            <a:r>
              <a:rPr lang="zh-TW" altLang="en-US" dirty="0"/>
              <a:t>的個數總和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Kangaroo : LCA</a:t>
            </a:r>
            <a:r>
              <a:rPr lang="zh-TW" altLang="en-US" dirty="0"/>
              <a:t>能算出第一個</a:t>
            </a:r>
            <a:r>
              <a:rPr lang="en-US" altLang="zh-TW" dirty="0"/>
              <a:t>mismatch</a:t>
            </a:r>
            <a:r>
              <a:rPr lang="zh-TW" altLang="en-US" dirty="0"/>
              <a:t>的位置</a:t>
            </a:r>
            <a:endParaRPr lang="en-US" altLang="zh-TW" dirty="0"/>
          </a:p>
          <a:p>
            <a:r>
              <a:rPr lang="en-US" altLang="zh-TW" dirty="0"/>
              <a:t>LCA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Lowest common ancestor</a:t>
            </a:r>
          </a:p>
          <a:p>
            <a:r>
              <a:rPr lang="zh-TW" altLang="en-US" dirty="0"/>
              <a:t>這個例子只有一個</a:t>
            </a:r>
            <a:r>
              <a:rPr lang="en-US" altLang="zh-TW" dirty="0"/>
              <a:t>island</a:t>
            </a:r>
          </a:p>
          <a:p>
            <a:r>
              <a:rPr lang="zh-TW" altLang="en-US" dirty="0"/>
              <a:t>所以就是全部的 </a:t>
            </a:r>
            <a:r>
              <a:rPr lang="en-US" altLang="zh-TW" dirty="0"/>
              <a:t>P </a:t>
            </a:r>
            <a:r>
              <a:rPr lang="zh-TW" altLang="en-US" dirty="0"/>
              <a:t>跟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0" dirty="0"/>
              <a:t> </a:t>
            </a:r>
            <a:r>
              <a:rPr lang="zh-TW" altLang="en-US" dirty="0"/>
              <a:t>比，算出</a:t>
            </a:r>
            <a:r>
              <a:rPr lang="en-US" altLang="zh-TW" dirty="0"/>
              <a:t>mismatch</a:t>
            </a:r>
            <a:r>
              <a:rPr lang="zh-TW" altLang="en-US" dirty="0"/>
              <a:t>的個數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7477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Distance No More Than K</a:t>
            </a:r>
            <a:r>
              <a:rPr lang="zh-TW" altLang="en-US" dirty="0"/>
              <a:t>是算出每個</a:t>
            </a:r>
            <a:r>
              <a:rPr lang="en-US" altLang="zh-TW" dirty="0"/>
              <a:t>ISLAND</a:t>
            </a:r>
            <a:r>
              <a:rPr lang="zh-TW" altLang="en-US" dirty="0"/>
              <a:t>中</a:t>
            </a:r>
            <a:r>
              <a:rPr lang="en-US" altLang="zh-TW" dirty="0"/>
              <a:t>mismatch</a:t>
            </a:r>
            <a:r>
              <a:rPr lang="zh-TW" altLang="en-US" dirty="0"/>
              <a:t>的個數總和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Kangaroo : LCA</a:t>
            </a:r>
            <a:r>
              <a:rPr lang="zh-TW" altLang="en-US" dirty="0"/>
              <a:t>能算出第一個</a:t>
            </a:r>
            <a:r>
              <a:rPr lang="en-US" altLang="zh-TW" dirty="0"/>
              <a:t>mismatch</a:t>
            </a:r>
            <a:r>
              <a:rPr lang="zh-TW" altLang="en-US" dirty="0"/>
              <a:t>的位置</a:t>
            </a:r>
            <a:endParaRPr lang="en-US" altLang="zh-TW" dirty="0"/>
          </a:p>
          <a:p>
            <a:r>
              <a:rPr lang="en-US" altLang="zh-TW" dirty="0"/>
              <a:t>LCA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Lowest common ancestor</a:t>
            </a:r>
          </a:p>
          <a:p>
            <a:r>
              <a:rPr lang="zh-TW" altLang="en-US" dirty="0"/>
              <a:t>這個例子只有一個</a:t>
            </a:r>
            <a:r>
              <a:rPr lang="en-US" altLang="zh-TW" dirty="0"/>
              <a:t>island</a:t>
            </a:r>
          </a:p>
          <a:p>
            <a:r>
              <a:rPr lang="zh-TW" altLang="en-US" dirty="0"/>
              <a:t>所以就是全部的 </a:t>
            </a:r>
            <a:r>
              <a:rPr lang="en-US" altLang="zh-TW" dirty="0"/>
              <a:t>P </a:t>
            </a:r>
            <a:r>
              <a:rPr lang="zh-TW" altLang="en-US" dirty="0"/>
              <a:t>跟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0" dirty="0"/>
              <a:t> </a:t>
            </a:r>
            <a:r>
              <a:rPr lang="zh-TW" altLang="en-US" dirty="0"/>
              <a:t>比，算出</a:t>
            </a:r>
            <a:r>
              <a:rPr lang="en-US" altLang="zh-TW" dirty="0"/>
              <a:t>mismatch</a:t>
            </a:r>
            <a:r>
              <a:rPr lang="zh-TW" altLang="en-US" dirty="0"/>
              <a:t>的個數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0426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Distance No More Than K</a:t>
            </a:r>
            <a:r>
              <a:rPr lang="zh-TW" altLang="en-US" dirty="0"/>
              <a:t>是算出每個</a:t>
            </a:r>
            <a:r>
              <a:rPr lang="en-US" altLang="zh-TW" dirty="0"/>
              <a:t>ISLAND</a:t>
            </a:r>
            <a:r>
              <a:rPr lang="zh-TW" altLang="en-US" dirty="0"/>
              <a:t>中</a:t>
            </a:r>
            <a:r>
              <a:rPr lang="en-US" altLang="zh-TW" dirty="0"/>
              <a:t>mismatch</a:t>
            </a:r>
            <a:r>
              <a:rPr lang="zh-TW" altLang="en-US" dirty="0"/>
              <a:t>的個數總和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Kangaroo : LCA</a:t>
            </a:r>
            <a:r>
              <a:rPr lang="zh-TW" altLang="en-US" dirty="0"/>
              <a:t>能算出第一個</a:t>
            </a:r>
            <a:r>
              <a:rPr lang="en-US" altLang="zh-TW" dirty="0"/>
              <a:t>mismatch</a:t>
            </a:r>
            <a:r>
              <a:rPr lang="zh-TW" altLang="en-US" dirty="0"/>
              <a:t>的位置</a:t>
            </a:r>
            <a:endParaRPr lang="en-US" altLang="zh-TW" dirty="0"/>
          </a:p>
          <a:p>
            <a:r>
              <a:rPr lang="en-US" altLang="zh-TW" dirty="0"/>
              <a:t>LCA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Lowest common ancestor</a:t>
            </a:r>
          </a:p>
          <a:p>
            <a:r>
              <a:rPr lang="zh-TW" altLang="en-US" dirty="0"/>
              <a:t>這個例子只有一個</a:t>
            </a:r>
            <a:r>
              <a:rPr lang="en-US" altLang="zh-TW" dirty="0"/>
              <a:t>island</a:t>
            </a:r>
          </a:p>
          <a:p>
            <a:r>
              <a:rPr lang="zh-TW" altLang="en-US" dirty="0"/>
              <a:t>所以就是全部的 </a:t>
            </a:r>
            <a:r>
              <a:rPr lang="en-US" altLang="zh-TW" dirty="0"/>
              <a:t>P </a:t>
            </a:r>
            <a:r>
              <a:rPr lang="zh-TW" altLang="en-US" dirty="0"/>
              <a:t>跟 </a:t>
            </a:r>
            <a:r>
              <a:rPr lang="en-US" altLang="zh-TW" dirty="0" err="1"/>
              <a:t>T</a:t>
            </a:r>
            <a:r>
              <a:rPr lang="en-US" altLang="zh-TW" baseline="-25000" dirty="0" err="1"/>
              <a:t>i</a:t>
            </a:r>
            <a:r>
              <a:rPr lang="en-US" altLang="zh-TW" baseline="0" dirty="0"/>
              <a:t> </a:t>
            </a:r>
            <a:r>
              <a:rPr lang="zh-TW" altLang="en-US" dirty="0"/>
              <a:t>比，算出</a:t>
            </a:r>
            <a:r>
              <a:rPr lang="en-US" altLang="zh-TW" dirty="0"/>
              <a:t>mismatch</a:t>
            </a:r>
            <a:r>
              <a:rPr lang="zh-TW" altLang="en-US" dirty="0"/>
              <a:t>的個數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26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2020/12/23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2" y="1715999"/>
            <a:ext cx="7890145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On pattern matching with k mismatches and few don’t cares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003984"/>
            <a:ext cx="6858000" cy="425017"/>
          </a:xfrm>
        </p:spPr>
        <p:txBody>
          <a:bodyPr>
            <a:noAutofit/>
          </a:bodyPr>
          <a:lstStyle/>
          <a:p>
            <a:pPr fontAlgn="ctr"/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Marius Nicolae,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Sanguthevar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Rajasekaran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fontAlgn="ctr"/>
            <a:endParaRPr lang="en-US" altLang="zh-TW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582834" y="4005064"/>
            <a:ext cx="60331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+mj-lt"/>
                <a:cs typeface="Times New Roman" pitchFamily="18" charset="0"/>
              </a:rPr>
              <a:t>Information Processing Letters 118 (2017) P78~P82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652120" y="5377328"/>
            <a:ext cx="3158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Jing-Ping Jan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24855"/>
            <a:ext cx="2653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Date: Dec. 23, 2020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02" y="1052736"/>
                <a:ext cx="9004993" cy="534765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ts val="3200"/>
                  </a:lnSpc>
                  <a:buNone/>
                </a:pPr>
                <a:r>
                  <a:rPr lang="en-US" altLang="zh-TW" sz="2800" dirty="0">
                    <a:latin typeface="Times New Roman" pitchFamily="18" charset="0"/>
                    <a:cs typeface="Times New Roman" pitchFamily="18" charset="0"/>
                  </a:rPr>
                  <a:t>We consider the problem of pattern matching with k mismatches, where there can be don’t care or wild card characters in the pattern. Specifically, given a pattern P of length m and a text T of length n, we want to find all occurrences of P in T that have no more than k mismatches. The pattern can have don’t care characters, which match any character. Without don’t cares, the best known algorithm for pattern matching with k mismatches has a runtime of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  <m:func>
                          <m:func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e>
                        </m:func>
                      </m:e>
                    </m:rad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altLang="zh-TW" sz="2800" dirty="0">
                    <a:latin typeface="Times New Roman" pitchFamily="18" charset="0"/>
                    <a:cs typeface="Times New Roman" pitchFamily="18" charset="0"/>
                  </a:rPr>
                  <a:t>. With don’t cares in the pattern, the best deterministic algorithm has a runtime of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𝑛𝑘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𝑝𝑜𝑙𝑦𝑙𝑜𝑔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𝑚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altLang="zh-TW" sz="2800" dirty="0">
                    <a:latin typeface="Times New Roman" pitchFamily="18" charset="0"/>
                    <a:cs typeface="Times New Roman" pitchFamily="18" charset="0"/>
                  </a:rPr>
                  <a:t>. Therefore, there is an important gap between the versions with and without don’t cares.</a:t>
                </a:r>
                <a:endParaRPr lang="fr-FR" altLang="zh-TW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02" y="1052736"/>
                <a:ext cx="9004993" cy="5347657"/>
              </a:xfrm>
              <a:blipFill>
                <a:blip r:embed="rId3"/>
                <a:stretch>
                  <a:fillRect l="-1353" t="-15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02" y="1052736"/>
                <a:ext cx="9004993" cy="534765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ts val="3200"/>
                  </a:lnSpc>
                  <a:buNone/>
                </a:pPr>
                <a:r>
                  <a:rPr lang="en-US" altLang="zh-TW" sz="2800" dirty="0">
                    <a:latin typeface="Times New Roman" pitchFamily="18" charset="0"/>
                    <a:cs typeface="Times New Roman" pitchFamily="18" charset="0"/>
                  </a:rPr>
                  <a:t>In this paper we give an algorithm whose runtime increases with the number of don’t cares. We define an island to be a maximal length substring of P that does not contain don’t cares. Let q be the number of islands in P. We present an algorithm that runs in </a:t>
                </a:r>
              </a:p>
              <a:p>
                <a:pPr marL="0" indent="0">
                  <a:lnSpc>
                    <a:spcPts val="32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𝑂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(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rad>
                        <m:radPr>
                          <m:deg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𝑘</m:t>
                          </m:r>
                          <m:func>
                            <m:func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</m:func>
                        </m:e>
                      </m:rad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{</m:t>
                          </m:r>
                          <m:rad>
                            <m:ra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𝑞𝑘</m:t>
                              </m:r>
                              <m:func>
                                <m:func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800" b="0" i="0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log</m:t>
                                  </m:r>
                                  <m:r>
                                    <a:rPr lang="en-US" altLang="zh-TW" sz="2800" b="0" i="1" baseline="30000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fName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𝑚</m:t>
                                  </m:r>
                                </m:e>
                              </m:func>
                            </m:e>
                          </m:ra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,</m:t>
                          </m:r>
                          <m:rad>
                            <m:radPr>
                              <m:degHide m:val="on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𝑞</m:t>
                              </m:r>
                              <m:func>
                                <m:func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800" b="0" i="0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𝑚</m:t>
                                  </m:r>
                                </m:e>
                              </m:func>
                            </m:e>
                          </m:ra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}</m:t>
                          </m:r>
                        </m:e>
                      </m:func>
                      <m:r>
                        <a:rPr lang="en-US" altLang="zh-TW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lnSpc>
                    <a:spcPts val="3200"/>
                  </a:lnSpc>
                  <a:buNone/>
                </a:pPr>
                <a:r>
                  <a:rPr lang="en-US" altLang="zh-TW" sz="2800" dirty="0">
                    <a:latin typeface="Times New Roman" pitchFamily="18" charset="0"/>
                    <a:cs typeface="Times New Roman" pitchFamily="18" charset="0"/>
                  </a:rPr>
                  <a:t>time. If the number of islands q is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altLang="zh-TW" sz="2800" dirty="0">
                    <a:latin typeface="Times New Roman" pitchFamily="18" charset="0"/>
                    <a:cs typeface="Times New Roman" pitchFamily="18" charset="0"/>
                  </a:rPr>
                  <a:t>this runtime becomes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  <m:func>
                          <m:func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</m:func>
                      </m:e>
                    </m:rad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altLang="zh-TW" sz="2800" dirty="0">
                    <a:latin typeface="Times New Roman" pitchFamily="18" charset="0"/>
                    <a:cs typeface="Times New Roman" pitchFamily="18" charset="0"/>
                  </a:rPr>
                  <a:t>, which essentially matches the best known runtime for pattern matching with k mismatches without don’t cares. If the number of islands q is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altLang="zh-TW" sz="2800" dirty="0">
                    <a:latin typeface="Times New Roman" pitchFamily="18" charset="0"/>
                    <a:cs typeface="Times New Roman" pitchFamily="18" charset="0"/>
                  </a:rPr>
                  <a:t>, this algorithm is asymptotically faster than the previous best algorithm for pattern matching with k mismatches with don’t cares in the pattern.</a:t>
                </a:r>
                <a:endParaRPr lang="fr-FR" altLang="zh-TW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02" y="1052736"/>
                <a:ext cx="9004993" cy="5347657"/>
              </a:xfrm>
              <a:blipFill>
                <a:blip r:embed="rId3"/>
                <a:stretch>
                  <a:fillRect l="-1353" t="-1596" r="-744" b="-53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34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i+m-1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 with mismatches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EF9F8CEC-E347-49B1-966A-A4F6F86897BE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3212747"/>
          <a:ext cx="668353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23">
                  <a:extLst>
                    <a:ext uri="{9D8B030D-6E8A-4147-A177-3AD203B41FA5}">
                      <a16:colId xmlns:a16="http://schemas.microsoft.com/office/drawing/2014/main" val="246046252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68549938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05121405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67273994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51524407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26051929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5016963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65865179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93731103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5970658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891294946"/>
                    </a:ext>
                  </a:extLst>
                </a:gridCol>
                <a:gridCol w="1525380">
                  <a:extLst>
                    <a:ext uri="{9D8B030D-6E8A-4147-A177-3AD203B41FA5}">
                      <a16:colId xmlns:a16="http://schemas.microsoft.com/office/drawing/2014/main" val="332932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331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169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77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93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45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5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38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754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 with k mismatches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</a:t>
            </a:r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B1C7EA6B-A09A-4F0E-B68A-45341B7D7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439579"/>
              </p:ext>
            </p:extLst>
          </p:nvPr>
        </p:nvGraphicFramePr>
        <p:xfrm>
          <a:off x="1187624" y="3863181"/>
          <a:ext cx="668353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23">
                  <a:extLst>
                    <a:ext uri="{9D8B030D-6E8A-4147-A177-3AD203B41FA5}">
                      <a16:colId xmlns:a16="http://schemas.microsoft.com/office/drawing/2014/main" val="246046252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68549938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05121405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67273994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51524407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26051929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5016963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65865179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93731103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5970658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891294946"/>
                    </a:ext>
                  </a:extLst>
                </a:gridCol>
                <a:gridCol w="1525380">
                  <a:extLst>
                    <a:ext uri="{9D8B030D-6E8A-4147-A177-3AD203B41FA5}">
                      <a16:colId xmlns:a16="http://schemas.microsoft.com/office/drawing/2014/main" val="332932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331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169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38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338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BEE08974-F256-4DC6-A7D6-DCB4F9BEB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87" y="1322149"/>
            <a:ext cx="6829425" cy="5524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948F21E-022F-4B07-8E15-0285BAC7B99C}"/>
              </a:ext>
            </a:extLst>
          </p:cNvPr>
          <p:cNvSpPr/>
          <p:nvPr/>
        </p:nvSpPr>
        <p:spPr>
          <a:xfrm>
            <a:off x="1157287" y="2996952"/>
            <a:ext cx="6548231" cy="1656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921705-0686-4051-B997-558465799F78}"/>
              </a:ext>
            </a:extLst>
          </p:cNvPr>
          <p:cNvSpPr/>
          <p:nvPr/>
        </p:nvSpPr>
        <p:spPr>
          <a:xfrm>
            <a:off x="1122453" y="4797152"/>
            <a:ext cx="6583065" cy="1656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924332F2-BE90-4B47-AA13-8AFF6AB34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092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:r>
                  <a:rPr lang="zh-TW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tcctgtgcat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tac.g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= 2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Budget b =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</m:e>
                    </m:rad>
                    <m: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=8.36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{2,5,3}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D07F5DE2-22B9-4FB5-A85D-B6A5E30A96C0}"/>
              </a:ext>
            </a:extLst>
          </p:cNvPr>
          <p:cNvGraphicFramePr>
            <a:graphicFrameLocks noGrp="1"/>
          </p:cNvGraphicFramePr>
          <p:nvPr/>
        </p:nvGraphicFramePr>
        <p:xfrm>
          <a:off x="5710808" y="1196750"/>
          <a:ext cx="2975992" cy="2232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784">
                  <a:extLst>
                    <a:ext uri="{9D8B030D-6E8A-4147-A177-3AD203B41FA5}">
                      <a16:colId xmlns:a16="http://schemas.microsoft.com/office/drawing/2014/main" val="318762035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328300473"/>
                    </a:ext>
                  </a:extLst>
                </a:gridCol>
              </a:tblGrid>
              <a:tr h="4464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</a:t>
                      </a:r>
                      <a:r>
                        <a:rPr lang="en-US" altLang="zh-TW" baseline="-25000" dirty="0"/>
                        <a:t>i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502646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r>
                        <a:rPr lang="en-US" altLang="zh-TW" dirty="0"/>
                        <a:t>I = 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843840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 = 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434463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 = 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240621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 = 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524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9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660323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41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893139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90B5C1A4-A73C-4954-B291-9A6809076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653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309652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B1BD4660-35B7-495F-AD3F-5BE2D143E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B1AF8119-5144-4C82-84A2-B7C0AEB0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53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561829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41723BAC-3BD2-4C7F-9901-E492DEEC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9277D61D-1D6B-49E6-95D1-69AFBB8E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514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336164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41723BAC-3BD2-4C7F-9901-E492DEEC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F7F87AE5-AB31-4A83-8ABF-C3B1758B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056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051214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41723BAC-3BD2-4C7F-9901-E492DEEC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CB5AF751-1D11-4745-9AE3-12966981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52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606017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41723BAC-3BD2-4C7F-9901-E492DEEC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A828F8DA-0D34-4985-BCD3-2924DF89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812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189555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41723BAC-3BD2-4C7F-9901-E492DEEC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EC3BABAD-EEEA-4B34-8828-58F9AA7E8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879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933907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41723BAC-3BD2-4C7F-9901-E492DEEC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0" name="標題 1">
            <a:extLst>
              <a:ext uri="{FF2B5EF4-FFF2-40B4-BE49-F238E27FC236}">
                <a16:creationId xmlns:a16="http://schemas.microsoft.com/office/drawing/2014/main" id="{B0ECA288-5706-4F2A-9B2A-23C9D6A2D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41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464190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41723BAC-3BD2-4C7F-9901-E492DEEC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8DAD4E79-52F0-467E-85CE-02D13712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805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41723BAC-3BD2-4C7F-9901-E492DEEC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3ACAB768-1496-464D-8EBE-9E8BF41D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006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 =&gt;{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a,g,c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576678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AD301A3-7679-416E-A3BC-D41626DEB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428759"/>
              </p:ext>
            </p:extLst>
          </p:nvPr>
        </p:nvGraphicFramePr>
        <p:xfrm>
          <a:off x="1524000" y="538448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sp>
        <p:nvSpPr>
          <p:cNvPr id="9" name="箭號: 向下 8">
            <a:extLst>
              <a:ext uri="{FF2B5EF4-FFF2-40B4-BE49-F238E27FC236}">
                <a16:creationId xmlns:a16="http://schemas.microsoft.com/office/drawing/2014/main" id="{594A8DC5-EDAD-4A07-BEE5-86E91D56CB86}"/>
              </a:ext>
            </a:extLst>
          </p:cNvPr>
          <p:cNvSpPr/>
          <p:nvPr/>
        </p:nvSpPr>
        <p:spPr>
          <a:xfrm>
            <a:off x="4372726" y="4632383"/>
            <a:ext cx="360040" cy="7416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BA6EAEA-DFCD-41FD-9DB6-CAA8E703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01076"/>
            <a:ext cx="4462870" cy="1762913"/>
          </a:xfrm>
          <a:prstGeom prst="rect">
            <a:avLst/>
          </a:prstGeom>
        </p:spPr>
      </p:pic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806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tac.g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{2,5,3} =&gt;{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a,g,c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{1,6}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AD301A3-7679-416E-A3BC-D41626DEB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895908"/>
              </p:ext>
            </p:extLst>
          </p:nvPr>
        </p:nvGraphicFramePr>
        <p:xfrm>
          <a:off x="1524000" y="4615244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M’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14" name="圖片 13">
            <a:extLst>
              <a:ext uri="{FF2B5EF4-FFF2-40B4-BE49-F238E27FC236}">
                <a16:creationId xmlns:a16="http://schemas.microsoft.com/office/drawing/2014/main" id="{3BA6EAEA-DFCD-41FD-9DB6-CAA8E703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01076"/>
            <a:ext cx="4462870" cy="1762913"/>
          </a:xfrm>
          <a:prstGeom prst="rect">
            <a:avLst/>
          </a:prstGeom>
        </p:spPr>
      </p:pic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&lt;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647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:r>
                  <a:rPr lang="zh-TW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tcctgtgcat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acbg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= 2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Budget b =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6.91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{3,1,4,2}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D07F5DE2-22B9-4FB5-A85D-B6A5E30A9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579934"/>
              </p:ext>
            </p:extLst>
          </p:nvPr>
        </p:nvGraphicFramePr>
        <p:xfrm>
          <a:off x="5710808" y="1196750"/>
          <a:ext cx="2975992" cy="267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784">
                  <a:extLst>
                    <a:ext uri="{9D8B030D-6E8A-4147-A177-3AD203B41FA5}">
                      <a16:colId xmlns:a16="http://schemas.microsoft.com/office/drawing/2014/main" val="318762035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328300473"/>
                    </a:ext>
                  </a:extLst>
                </a:gridCol>
              </a:tblGrid>
              <a:tr h="4464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</a:t>
                      </a:r>
                      <a:r>
                        <a:rPr lang="en-US" altLang="zh-TW" baseline="-25000" dirty="0"/>
                        <a:t>i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502646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r>
                        <a:rPr lang="en-US" altLang="zh-TW" dirty="0"/>
                        <a:t>I = 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843840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 = 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434463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 = 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240621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 = 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524437"/>
                  </a:ext>
                </a:extLst>
              </a:tr>
              <a:tr h="446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 = 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6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171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95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31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574353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569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836882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404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834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591637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096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01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953120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86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402548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632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31260"/>
              </p:ext>
            </p:extLst>
          </p:nvPr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664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09BE39E-36DA-43D1-8AA0-26799CA7DC9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802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B23902BD-A92A-4AB6-8344-62645344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131526"/>
            <a:ext cx="6048375" cy="2657475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CBE95A2E-C853-4E27-BDD8-FCCE145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761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tcctgtgcat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615DD3E-1C70-4D39-9A17-48310C669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291" y="1501076"/>
            <a:ext cx="5438709" cy="1423868"/>
          </a:xfrm>
          <a:prstGeom prst="rect">
            <a:avLst/>
          </a:prstGeom>
        </p:spPr>
      </p:pic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57938F54-E14D-4C8C-884E-AC6DAB090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573662"/>
              </p:ext>
            </p:extLst>
          </p:nvPr>
        </p:nvGraphicFramePr>
        <p:xfrm>
          <a:off x="1524000" y="464763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696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Mark(T,P,A)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cctg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tgcat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{3,1,4,2}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{2}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K-Mismatches with Wild Cards - |A| = 2k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57938F54-E14D-4C8C-884E-AC6DAB090EAD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464763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37341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63298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5018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73617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16002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893090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75315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316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7228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811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2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3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4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5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6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7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</a:t>
                      </a:r>
                      <a:r>
                        <a:rPr lang="en-US" altLang="zh-TW" baseline="-25000" dirty="0"/>
                        <a:t>10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01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16208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D165A46F-BCA0-4652-AD84-DA22F4A03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600200"/>
            <a:ext cx="61626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26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func>
                          <m:func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func>
                      </m:e>
                    </m:rad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rad>
                          <m:ra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𝑞𝑘</m:t>
                            </m:r>
                            <m:func>
                              <m:func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8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  <m:r>
                                  <a:rPr lang="en-US" altLang="zh-TW" sz="2800" b="0" i="1" baseline="30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fName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func>
                          </m:e>
                        </m:rad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func>
                              <m:func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8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func>
                          </m:e>
                        </m:rad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</m:func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q is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runtime become: </a:t>
                </a:r>
                <a:b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func>
                          <m:func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func>
                      </m:e>
                    </m:rad>
                    <m:r>
                      <a:rPr lang="en-US" altLang="zh-TW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Conclusions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829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Kangaroo algorithm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B3AC4CA-C0BF-4FD6-B935-5746AADF2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85" y="1258366"/>
            <a:ext cx="8038429" cy="434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06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2818</Words>
  <Application>Microsoft Office PowerPoint</Application>
  <PresentationFormat>如螢幕大小 (4:3)</PresentationFormat>
  <Paragraphs>862</Paragraphs>
  <Slides>37</Slides>
  <Notes>37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42" baseType="lpstr">
      <vt:lpstr>Arial</vt:lpstr>
      <vt:lpstr>Calibri</vt:lpstr>
      <vt:lpstr>Cambria Math</vt:lpstr>
      <vt:lpstr>Times New Roman</vt:lpstr>
      <vt:lpstr>Office 佈景主題</vt:lpstr>
      <vt:lpstr>On pattern matching with k mismatches and few don’t cares</vt:lpstr>
      <vt:lpstr>Abstract</vt:lpstr>
      <vt:lpstr>Abstract</vt:lpstr>
      <vt:lpstr>Introduction</vt:lpstr>
      <vt:lpstr>Introduction</vt:lpstr>
      <vt:lpstr>Introduction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&lt;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K-Mismatches with Wild Cards - |A| = 2k</vt:lpstr>
      <vt:lpstr>Conclusions</vt:lpstr>
      <vt:lpstr>Kangaroo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faster algorithm for finding shortest substring matches of a regular expression</dc:title>
  <dc:creator>M093040098</dc:creator>
  <cp:lastModifiedBy>pplab</cp:lastModifiedBy>
  <cp:revision>44</cp:revision>
  <dcterms:created xsi:type="dcterms:W3CDTF">2020-10-30T08:30:28Z</dcterms:created>
  <dcterms:modified xsi:type="dcterms:W3CDTF">2020-12-23T10:45:28Z</dcterms:modified>
</cp:coreProperties>
</file>