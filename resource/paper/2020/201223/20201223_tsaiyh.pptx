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300" r:id="rId5"/>
    <p:sldId id="301" r:id="rId6"/>
    <p:sldId id="260" r:id="rId7"/>
    <p:sldId id="304" r:id="rId8"/>
    <p:sldId id="312" r:id="rId9"/>
    <p:sldId id="305" r:id="rId10"/>
    <p:sldId id="306" r:id="rId11"/>
    <p:sldId id="308" r:id="rId12"/>
    <p:sldId id="309" r:id="rId13"/>
    <p:sldId id="311" r:id="rId14"/>
    <p:sldId id="314" r:id="rId15"/>
    <p:sldId id="315" r:id="rId16"/>
    <p:sldId id="316"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6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2020/12/21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sz="1200" b="1" i="0" kern="1200" dirty="0" smtClean="0">
                <a:solidFill>
                  <a:schemeClr val="tx1"/>
                </a:solidFill>
                <a:latin typeface="+mn-lt"/>
                <a:ea typeface="+mn-ea"/>
                <a:cs typeface="+mn-cs"/>
              </a:rPr>
              <a:t>ISTA: Information Science, Technology and Applications  --  </a:t>
            </a:r>
            <a:r>
              <a:rPr lang="en-US" altLang="zh-TW" dirty="0" smtClean="0"/>
              <a:t>https://dl.acm.org/conference/ista</a:t>
            </a:r>
          </a:p>
          <a:p>
            <a:r>
              <a:rPr lang="en-US" sz="1200" dirty="0" smtClean="0"/>
              <a:t>Kuwait </a:t>
            </a:r>
            <a:r>
              <a:rPr lang="en-US" sz="1200" dirty="0" err="1" smtClean="0"/>
              <a:t>Kuwait</a:t>
            </a:r>
            <a:r>
              <a:rPr lang="en-US" sz="1200" dirty="0" smtClean="0"/>
              <a:t> </a:t>
            </a:r>
            <a:r>
              <a:rPr lang="zh-TW" altLang="en-US" sz="1200" dirty="0" smtClean="0"/>
              <a:t>科威特 的 科威特城</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4</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5</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2020/12/21</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A fast parallel algorithm for finding the longest common sequence of multiple </a:t>
            </a:r>
            <a:r>
              <a:rPr lang="en-US" altLang="zh-TW" sz="3200" dirty="0" err="1" smtClean="0">
                <a:latin typeface="Times New Roman" pitchFamily="18" charset="0"/>
                <a:cs typeface="Times New Roman" pitchFamily="18" charset="0"/>
              </a:rPr>
              <a:t>biosequences</a:t>
            </a:r>
            <a:endParaRPr lang="en-US" altLang="zh-TW" sz="3200" dirty="0" smtClean="0">
              <a:latin typeface="Times New Roman" pitchFamily="18" charset="0"/>
              <a:cs typeface="Times New Roman" pitchFamily="18" charset="0"/>
            </a:endParaRP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323528" y="3003984"/>
            <a:ext cx="8640959" cy="425017"/>
          </a:xfrm>
        </p:spPr>
        <p:txBody>
          <a:bodyPr>
            <a:noAutofit/>
          </a:bodyPr>
          <a:lstStyle/>
          <a:p>
            <a:pPr fontAlgn="ctr"/>
            <a:r>
              <a:rPr lang="en-US" altLang="zh-TW" sz="2000" dirty="0" err="1" smtClean="0">
                <a:solidFill>
                  <a:schemeClr val="tx1"/>
                </a:solidFill>
                <a:latin typeface="Times New Roman" pitchFamily="18" charset="0"/>
                <a:cs typeface="Times New Roman" pitchFamily="18" charset="0"/>
              </a:rPr>
              <a:t>Yixin</a:t>
            </a:r>
            <a:r>
              <a:rPr lang="en-US" altLang="zh-TW" sz="2000" dirty="0" smtClean="0">
                <a:solidFill>
                  <a:schemeClr val="tx1"/>
                </a:solidFill>
                <a:latin typeface="Times New Roman" pitchFamily="18" charset="0"/>
                <a:cs typeface="Times New Roman" pitchFamily="18" charset="0"/>
              </a:rPr>
              <a:t> Chen, Andrew Wan &amp; Wei Liu </a:t>
            </a:r>
          </a:p>
          <a:p>
            <a:pPr fontAlgn="ctr"/>
            <a:endParaRPr lang="en-US" altLang="zh-TW" sz="2000" dirty="0" smtClean="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1359928" y="3929066"/>
            <a:ext cx="6718506" cy="461665"/>
          </a:xfrm>
          <a:prstGeom prst="rect">
            <a:avLst/>
          </a:prstGeom>
          <a:noFill/>
        </p:spPr>
        <p:txBody>
          <a:bodyPr wrap="none" rtlCol="0">
            <a:spAutoFit/>
          </a:bodyPr>
          <a:lstStyle/>
          <a:p>
            <a:pPr algn="ctr"/>
            <a:r>
              <a:rPr lang="en-US" altLang="zh-TW" sz="2400" dirty="0" smtClean="0">
                <a:latin typeface="Times New Roman" pitchFamily="18" charset="0"/>
                <a:cs typeface="Times New Roman" pitchFamily="18" charset="0"/>
              </a:rPr>
              <a:t>BMC Bioinformatics, volume 7, Supplement 4, 2006</a:t>
            </a: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53290"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Dec. 23, 2020</a:t>
            </a:r>
            <a:endParaRPr lang="zh-TW" altLang="en-US" dirty="0"/>
          </a:p>
        </p:txBody>
      </p:sp>
    </p:spTree>
    <p:extLst>
      <p:ext uri="{BB962C8B-B14F-4D97-AF65-F5344CB8AC3E}">
        <p14:creationId xmlns="" xmlns:p14="http://schemas.microsoft.com/office/powerpoint/2010/main" val="35570499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Abstract(1/4)</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121324"/>
            <a:ext cx="9004993" cy="3879312"/>
          </a:xfrm>
        </p:spPr>
        <p:txBody>
          <a:bodyPr>
            <a:noAutofit/>
          </a:bodyPr>
          <a:lstStyle/>
          <a:p>
            <a:pPr marL="0" indent="0">
              <a:buNone/>
            </a:pPr>
            <a:r>
              <a:rPr lang="en-US" b="1" dirty="0" smtClean="0">
                <a:latin typeface="Times New Roman" pitchFamily="18" charset="0"/>
                <a:cs typeface="Times New Roman" pitchFamily="18" charset="0"/>
              </a:rPr>
              <a:t>Background</a:t>
            </a:r>
          </a:p>
          <a:p>
            <a:pPr marL="0" indent="0">
              <a:buNone/>
            </a:pPr>
            <a:r>
              <a:rPr lang="en-US" dirty="0" smtClean="0">
                <a:latin typeface="Times New Roman" pitchFamily="18" charset="0"/>
                <a:cs typeface="Times New Roman" pitchFamily="18" charset="0"/>
              </a:rPr>
              <a:t>Searching for the longest common sequence (LCS) of multiple </a:t>
            </a:r>
            <a:r>
              <a:rPr lang="en-US" dirty="0" err="1" smtClean="0">
                <a:latin typeface="Times New Roman" pitchFamily="18" charset="0"/>
                <a:cs typeface="Times New Roman" pitchFamily="18" charset="0"/>
              </a:rPr>
              <a:t>biosequences</a:t>
            </a:r>
            <a:r>
              <a:rPr lang="en-US" dirty="0" smtClean="0">
                <a:latin typeface="Times New Roman" pitchFamily="18" charset="0"/>
                <a:cs typeface="Times New Roman" pitchFamily="18" charset="0"/>
              </a:rPr>
              <a:t> is one of the most fundamental tasks in bioinformatics. In this paper, we present a parallel algorithm named FAST_LCS to speedup the computation for finding LCS.</a:t>
            </a: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Abstract(2/4)</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039725"/>
            <a:ext cx="9004993" cy="5246795"/>
          </a:xfrm>
        </p:spPr>
        <p:txBody>
          <a:bodyPr>
            <a:noAutofit/>
          </a:bodyPr>
          <a:lstStyle/>
          <a:p>
            <a:pPr marL="0" indent="0">
              <a:buNone/>
            </a:pPr>
            <a:r>
              <a:rPr lang="en-US" altLang="zh-TW" b="1" dirty="0" smtClean="0">
                <a:latin typeface="Times New Roman" pitchFamily="18" charset="0"/>
                <a:cs typeface="Times New Roman" pitchFamily="18" charset="0"/>
              </a:rPr>
              <a:t>Results</a:t>
            </a:r>
          </a:p>
          <a:p>
            <a:pPr marL="0" indent="0">
              <a:buNone/>
            </a:pPr>
            <a:r>
              <a:rPr lang="en-US" altLang="zh-TW" dirty="0" smtClean="0">
                <a:latin typeface="Times New Roman" pitchFamily="18" charset="0"/>
                <a:cs typeface="Times New Roman" pitchFamily="18" charset="0"/>
              </a:rPr>
              <a:t>A fast parallel algorithm for LCS is presented. The algorithm first constructs a novel successor table to obtain all the identical pairs and their levels. It then obtains the LCS by tracing back from the identical character pairs at the last level. Effective pruning techniques are developed to significantly reduce the computational complexity. Experimental results on gene sequences in the </a:t>
            </a:r>
            <a:r>
              <a:rPr lang="en-US" altLang="zh-TW" i="1" dirty="0" err="1" smtClean="0">
                <a:latin typeface="Times New Roman" pitchFamily="18" charset="0"/>
                <a:cs typeface="Times New Roman" pitchFamily="18" charset="0"/>
              </a:rPr>
              <a:t>tigr</a:t>
            </a:r>
            <a:r>
              <a:rPr lang="en-US" altLang="zh-TW" dirty="0" smtClean="0">
                <a:latin typeface="Times New Roman" pitchFamily="18" charset="0"/>
                <a:cs typeface="Times New Roman" pitchFamily="18" charset="0"/>
              </a:rPr>
              <a:t> database show that our algorithm is optimal and much more efficient than other leading LCS algorithms.</a:t>
            </a:r>
            <a:endParaRPr lang="fr-FR" altLang="zh-TW"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Abstract(3/4)</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039725"/>
            <a:ext cx="9004993" cy="5246795"/>
          </a:xfrm>
        </p:spPr>
        <p:txBody>
          <a:bodyPr>
            <a:noAutofit/>
          </a:bodyPr>
          <a:lstStyle/>
          <a:p>
            <a:pPr marL="0" indent="0">
              <a:buNone/>
            </a:pPr>
            <a:r>
              <a:rPr lang="en-US" altLang="zh-TW" b="1" dirty="0" smtClean="0">
                <a:latin typeface="Times New Roman" pitchFamily="18" charset="0"/>
                <a:cs typeface="Times New Roman" pitchFamily="18" charset="0"/>
              </a:rPr>
              <a:t>Conclusion</a:t>
            </a:r>
          </a:p>
          <a:p>
            <a:pPr marL="0" indent="0">
              <a:buNone/>
            </a:pPr>
            <a:r>
              <a:rPr lang="en-US" altLang="zh-TW" dirty="0" smtClean="0">
                <a:latin typeface="Times New Roman" pitchFamily="18" charset="0"/>
                <a:cs typeface="Times New Roman" pitchFamily="18" charset="0"/>
              </a:rPr>
              <a:t>We have developed one of the fastest parallel LCS algorithms on an MPP parallel computing model. For two sequences X and Y with lengths n and m, respectively, the memory required is max{4*(n+1)+4*(m+1), L}, where L is the number of identical character pairs. The time complexity is O(L) for sequential execution, and O(|LCS(X, Y)|) for parallel execution, where |LCS(X, Y)| is the length of the LCS of X and Y.</a:t>
            </a: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Abstract(4/4)</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1039725"/>
            <a:ext cx="9004993" cy="5246795"/>
          </a:xfrm>
        </p:spPr>
        <p:txBody>
          <a:bodyPr>
            <a:noAutofit/>
          </a:bodyPr>
          <a:lstStyle/>
          <a:p>
            <a:pPr marL="0" indent="0">
              <a:buNone/>
            </a:pPr>
            <a:r>
              <a:rPr lang="en-US" altLang="zh-TW" b="1" dirty="0" smtClean="0">
                <a:latin typeface="Times New Roman" pitchFamily="18" charset="0"/>
                <a:cs typeface="Times New Roman" pitchFamily="18" charset="0"/>
              </a:rPr>
              <a:t>Conclusion</a:t>
            </a:r>
          </a:p>
          <a:p>
            <a:pPr marL="0" indent="0">
              <a:buNone/>
            </a:pPr>
            <a:r>
              <a:rPr lang="en-US" altLang="zh-TW" dirty="0" smtClean="0"/>
              <a:t>For </a:t>
            </a:r>
            <a:r>
              <a:rPr lang="en-US" altLang="zh-TW" i="1" dirty="0" smtClean="0"/>
              <a:t>n</a:t>
            </a:r>
            <a:r>
              <a:rPr lang="en-US" altLang="zh-TW" dirty="0" smtClean="0"/>
              <a:t> sequences </a:t>
            </a:r>
            <a:r>
              <a:rPr lang="en-US" altLang="zh-TW" i="1" dirty="0" smtClean="0"/>
              <a:t>X</a:t>
            </a:r>
            <a:r>
              <a:rPr lang="en-US" altLang="zh-TW" baseline="-25000" dirty="0" smtClean="0"/>
              <a:t>1</a:t>
            </a:r>
            <a:r>
              <a:rPr lang="en-US" altLang="zh-TW" dirty="0" smtClean="0"/>
              <a:t>, </a:t>
            </a:r>
            <a:r>
              <a:rPr lang="en-US" altLang="zh-TW" i="1" dirty="0" smtClean="0"/>
              <a:t>X</a:t>
            </a:r>
            <a:r>
              <a:rPr lang="en-US" altLang="zh-TW" baseline="-25000" dirty="0" smtClean="0"/>
              <a:t>2</a:t>
            </a:r>
            <a:r>
              <a:rPr lang="en-US" altLang="zh-TW" dirty="0" smtClean="0"/>
              <a:t>, ..., </a:t>
            </a:r>
            <a:r>
              <a:rPr lang="en-US" altLang="zh-TW" i="1" dirty="0" smtClean="0"/>
              <a:t>X</a:t>
            </a:r>
            <a:r>
              <a:rPr lang="en-US" altLang="zh-TW" baseline="-25000" dirty="0" smtClean="0"/>
              <a:t> </a:t>
            </a:r>
            <a:r>
              <a:rPr lang="en-US" altLang="zh-TW" i="1" baseline="-25000" dirty="0" smtClean="0"/>
              <a:t>n</a:t>
            </a:r>
            <a:r>
              <a:rPr lang="en-US" altLang="zh-TW" baseline="-25000" dirty="0" smtClean="0"/>
              <a:t> </a:t>
            </a:r>
            <a:r>
              <a:rPr lang="en-US" altLang="zh-TW" dirty="0" smtClean="0"/>
              <a:t>, the time complexity is O(</a:t>
            </a:r>
            <a:r>
              <a:rPr lang="en-US" altLang="zh-TW" i="1" dirty="0" smtClean="0"/>
              <a:t>L</a:t>
            </a:r>
            <a:r>
              <a:rPr lang="en-US" altLang="zh-TW" dirty="0" smtClean="0"/>
              <a:t>) for sequential execution, and O(|LCS(</a:t>
            </a:r>
            <a:r>
              <a:rPr lang="en-US" altLang="zh-TW" i="1" dirty="0" smtClean="0"/>
              <a:t>X</a:t>
            </a:r>
            <a:r>
              <a:rPr lang="en-US" altLang="zh-TW" baseline="-25000" dirty="0" smtClean="0"/>
              <a:t>1</a:t>
            </a:r>
            <a:r>
              <a:rPr lang="en-US" altLang="zh-TW" dirty="0" smtClean="0"/>
              <a:t>, </a:t>
            </a:r>
            <a:r>
              <a:rPr lang="en-US" altLang="zh-TW" i="1" dirty="0" smtClean="0"/>
              <a:t>X</a:t>
            </a:r>
            <a:r>
              <a:rPr lang="en-US" altLang="zh-TW" baseline="-25000" dirty="0" smtClean="0"/>
              <a:t>2</a:t>
            </a:r>
            <a:r>
              <a:rPr lang="en-US" altLang="zh-TW" dirty="0" smtClean="0"/>
              <a:t>, ..., </a:t>
            </a:r>
            <a:r>
              <a:rPr lang="en-US" altLang="zh-TW" i="1" dirty="0" smtClean="0"/>
              <a:t>X</a:t>
            </a:r>
            <a:r>
              <a:rPr lang="en-US" altLang="zh-TW" baseline="-25000" dirty="0" smtClean="0"/>
              <a:t> </a:t>
            </a:r>
            <a:r>
              <a:rPr lang="en-US" altLang="zh-TW" i="1" baseline="-25000" dirty="0" smtClean="0"/>
              <a:t>n</a:t>
            </a:r>
            <a:r>
              <a:rPr lang="en-US" altLang="zh-TW" baseline="-25000" dirty="0" smtClean="0"/>
              <a:t> </a:t>
            </a:r>
            <a:r>
              <a:rPr lang="en-US" altLang="zh-TW" dirty="0" smtClean="0"/>
              <a:t>)|) for parallel execution. Experimental results support our analysis by showing significant improvement of the proposed method over other leading LCS algorithms.</a:t>
            </a:r>
            <a:endParaRPr lang="en-US" altLang="zh-TW" dirty="0" smtClean="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Successor table</a:t>
            </a:r>
          </a:p>
          <a:p>
            <a:pPr>
              <a:buNone/>
            </a:pPr>
            <a:r>
              <a:rPr lang="en-US" altLang="zh-TW" dirty="0" smtClean="0">
                <a:latin typeface="Times New Roman" pitchFamily="18" charset="0"/>
                <a:cs typeface="Times New Roman" pitchFamily="18" charset="0"/>
              </a:rPr>
              <a:t>S1 = ATCCCA</a:t>
            </a:r>
          </a:p>
          <a:p>
            <a:pPr>
              <a:buNone/>
            </a:pPr>
            <a:endParaRPr lang="en-US" altLang="zh-TW" dirty="0" smtClean="0">
              <a:latin typeface="Calibri" pitchFamily="34" charset="0"/>
              <a:cs typeface="Times New Roman" pitchFamily="18" charset="0"/>
            </a:endParaRPr>
          </a:p>
        </p:txBody>
      </p:sp>
      <p:graphicFrame>
        <p:nvGraphicFramePr>
          <p:cNvPr id="5" name="表格 4"/>
          <p:cNvGraphicFramePr>
            <a:graphicFrameLocks noGrp="1"/>
          </p:cNvGraphicFramePr>
          <p:nvPr/>
        </p:nvGraphicFramePr>
        <p:xfrm>
          <a:off x="539552" y="2852936"/>
          <a:ext cx="7272808" cy="3016344"/>
        </p:xfrm>
        <a:graphic>
          <a:graphicData uri="http://schemas.openxmlformats.org/drawingml/2006/table">
            <a:tbl>
              <a:tblPr firstRow="1" bandRow="1">
                <a:tableStyleId>{5C22544A-7EE6-4342-B048-85BDC9FD1C3A}</a:tableStyleId>
              </a:tblPr>
              <a:tblGrid>
                <a:gridCol w="909101"/>
                <a:gridCol w="909101"/>
                <a:gridCol w="909101"/>
                <a:gridCol w="909101"/>
                <a:gridCol w="909101"/>
                <a:gridCol w="909101"/>
                <a:gridCol w="909101"/>
                <a:gridCol w="909101"/>
              </a:tblGrid>
              <a:tr h="594066">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p>
                    <a:p>
                      <a:pPr algn="ctr"/>
                      <a:r>
                        <a:rPr lang="en-US" altLang="zh-TW" dirty="0" smtClean="0"/>
                        <a:t>0</a:t>
                      </a:r>
                      <a:endParaRPr lang="zh-TW" altLang="en-US" dirty="0"/>
                    </a:p>
                  </a:txBody>
                  <a:tcPr/>
                </a:tc>
                <a:tc>
                  <a:txBody>
                    <a:bodyPr/>
                    <a:lstStyle/>
                    <a:p>
                      <a:pPr algn="ctr"/>
                      <a:r>
                        <a:rPr lang="en-US" altLang="zh-TW" dirty="0" smtClean="0"/>
                        <a:t>T</a:t>
                      </a:r>
                    </a:p>
                    <a:p>
                      <a:pPr algn="ctr"/>
                      <a:r>
                        <a:rPr lang="en-US" altLang="zh-TW" dirty="0" smtClean="0"/>
                        <a:t>1</a:t>
                      </a:r>
                      <a:endParaRPr lang="zh-TW" altLang="en-US" dirty="0"/>
                    </a:p>
                  </a:txBody>
                  <a:tcPr/>
                </a:tc>
                <a:tc>
                  <a:txBody>
                    <a:bodyPr/>
                    <a:lstStyle/>
                    <a:p>
                      <a:pPr algn="ctr"/>
                      <a:r>
                        <a:rPr lang="en-US" altLang="zh-TW" dirty="0" smtClean="0"/>
                        <a:t>C</a:t>
                      </a:r>
                    </a:p>
                    <a:p>
                      <a:pPr algn="ctr"/>
                      <a:r>
                        <a:rPr lang="en-US" altLang="zh-TW" dirty="0" smtClean="0"/>
                        <a:t>2</a:t>
                      </a:r>
                      <a:endParaRPr lang="zh-TW" altLang="en-US" dirty="0"/>
                    </a:p>
                  </a:txBody>
                  <a:tcPr/>
                </a:tc>
                <a:tc>
                  <a:txBody>
                    <a:bodyPr/>
                    <a:lstStyle/>
                    <a:p>
                      <a:pPr algn="ctr"/>
                      <a:r>
                        <a:rPr lang="en-US" altLang="zh-TW" dirty="0" smtClean="0"/>
                        <a:t>C</a:t>
                      </a:r>
                    </a:p>
                    <a:p>
                      <a:pPr algn="ctr"/>
                      <a:r>
                        <a:rPr lang="en-US" altLang="zh-TW" dirty="0" smtClean="0"/>
                        <a:t>3</a:t>
                      </a:r>
                      <a:endParaRPr lang="zh-TW" altLang="en-US" dirty="0"/>
                    </a:p>
                  </a:txBody>
                  <a:tcPr/>
                </a:tc>
                <a:tc>
                  <a:txBody>
                    <a:bodyPr/>
                    <a:lstStyle/>
                    <a:p>
                      <a:pPr algn="ctr"/>
                      <a:r>
                        <a:rPr lang="en-US" altLang="zh-TW" dirty="0" smtClean="0"/>
                        <a:t>C</a:t>
                      </a:r>
                    </a:p>
                    <a:p>
                      <a:pPr algn="ctr"/>
                      <a:r>
                        <a:rPr lang="en-US" altLang="zh-TW" dirty="0" smtClean="0"/>
                        <a:t>4</a:t>
                      </a:r>
                      <a:endParaRPr lang="zh-TW" altLang="en-US" dirty="0"/>
                    </a:p>
                  </a:txBody>
                  <a:tcPr/>
                </a:tc>
                <a:tc>
                  <a:txBody>
                    <a:bodyPr/>
                    <a:lstStyle/>
                    <a:p>
                      <a:pPr algn="ctr"/>
                      <a:r>
                        <a:rPr lang="en-US" altLang="zh-TW" dirty="0" smtClean="0"/>
                        <a:t>A</a:t>
                      </a:r>
                    </a:p>
                    <a:p>
                      <a:pPr algn="ctr"/>
                      <a:r>
                        <a:rPr lang="en-US" altLang="zh-TW" dirty="0" smtClean="0"/>
                        <a:t>5</a:t>
                      </a:r>
                      <a:endParaRPr lang="zh-TW" altLang="en-US" dirty="0"/>
                    </a:p>
                  </a:txBody>
                  <a:tcPr/>
                </a:tc>
              </a:tr>
              <a:tr h="594066">
                <a:tc>
                  <a:txBody>
                    <a:bodyPr/>
                    <a:lstStyle/>
                    <a:p>
                      <a:pPr algn="ctr"/>
                      <a:r>
                        <a:rPr lang="en-US" altLang="zh-TW" dirty="0" smtClean="0"/>
                        <a:t>A</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a:t>
                      </a:r>
                      <a:endParaRPr lang="zh-TW" altLang="en-US" dirty="0"/>
                    </a:p>
                  </a:txBody>
                  <a:tcPr/>
                </a:tc>
              </a:tr>
              <a:tr h="594066">
                <a:tc>
                  <a:txBody>
                    <a:bodyPr/>
                    <a:lstStyle/>
                    <a:p>
                      <a:pPr algn="ctr"/>
                      <a:r>
                        <a:rPr lang="en-US" altLang="zh-TW" dirty="0" smtClean="0"/>
                        <a:t>T</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r>
              <a:tr h="594066">
                <a:tc>
                  <a:txBody>
                    <a:bodyPr/>
                    <a:lstStyle/>
                    <a:p>
                      <a:pPr algn="ctr"/>
                      <a:r>
                        <a:rPr lang="en-US" altLang="zh-TW" dirty="0" smtClean="0"/>
                        <a:t>C</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r>
              <a:tr h="594066">
                <a:tc>
                  <a:txBody>
                    <a:bodyPr/>
                    <a:lstStyle/>
                    <a:p>
                      <a:pPr algn="ctr"/>
                      <a:r>
                        <a:rPr lang="en-US" altLang="zh-TW" dirty="0" smtClean="0"/>
                        <a:t>G</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c>
                  <a:txBody>
                    <a:bodyPr/>
                    <a:lstStyle/>
                    <a:p>
                      <a:pPr algn="ctr"/>
                      <a:r>
                        <a:rPr lang="en-US" altLang="zh-TW" dirty="0" smtClean="0"/>
                        <a:t>--</a:t>
                      </a:r>
                      <a:endParaRPr lang="zh-TW" altLang="en-US" dirty="0"/>
                    </a:p>
                  </a:txBody>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853136"/>
          </a:xfrm>
        </p:spPr>
        <p:txBody>
          <a:bodyPr>
            <a:normAutofit/>
          </a:bodyPr>
          <a:lstStyle/>
          <a:p>
            <a:pPr>
              <a:buNone/>
            </a:pPr>
            <a:r>
              <a:rPr lang="en-US" altLang="zh-TW" dirty="0" smtClean="0">
                <a:latin typeface="Calibri" pitchFamily="34" charset="0"/>
                <a:cs typeface="Times New Roman" pitchFamily="18" charset="0"/>
              </a:rPr>
              <a:t>Give two sequence X, Y</a:t>
            </a:r>
          </a:p>
          <a:p>
            <a:pPr>
              <a:buNone/>
            </a:pPr>
            <a:endParaRPr lang="en-US" altLang="zh-TW" dirty="0" smtClean="0">
              <a:latin typeface="Calibri" pitchFamily="34" charset="0"/>
              <a:cs typeface="Times New Roman" pitchFamily="18" charset="0"/>
            </a:endParaRPr>
          </a:p>
          <a:p>
            <a:pPr>
              <a:buNone/>
            </a:pPr>
            <a:r>
              <a:rPr lang="en-US" altLang="zh-TW" dirty="0" smtClean="0">
                <a:latin typeface="Calibri" pitchFamily="34" charset="0"/>
                <a:cs typeface="Times New Roman" pitchFamily="18" charset="0"/>
              </a:rPr>
              <a:t>Step1: Create Successor of X, Y</a:t>
            </a:r>
          </a:p>
          <a:p>
            <a:pPr>
              <a:buNone/>
            </a:pPr>
            <a:endParaRPr lang="en-US" altLang="zh-TW" dirty="0" smtClean="0">
              <a:latin typeface="Calibri" pitchFamily="34" charset="0"/>
              <a:cs typeface="Times New Roman" pitchFamily="18" charset="0"/>
            </a:endParaRPr>
          </a:p>
          <a:p>
            <a:pPr>
              <a:buNone/>
            </a:pPr>
            <a:r>
              <a:rPr lang="en-US" altLang="zh-TW" dirty="0" smtClean="0">
                <a:latin typeface="Calibri" pitchFamily="34" charset="0"/>
                <a:cs typeface="Times New Roman" pitchFamily="18" charset="0"/>
              </a:rPr>
              <a:t>Step2: Find all match pairs</a:t>
            </a:r>
          </a:p>
          <a:p>
            <a:pPr>
              <a:buNone/>
            </a:pPr>
            <a:endParaRPr lang="en-US" altLang="zh-TW" dirty="0" smtClean="0">
              <a:latin typeface="Calibri" pitchFamily="34" charset="0"/>
              <a:cs typeface="Times New Roman" pitchFamily="18" charset="0"/>
            </a:endParaRPr>
          </a:p>
          <a:p>
            <a:pPr>
              <a:buNone/>
            </a:pPr>
            <a:r>
              <a:rPr lang="en-US" altLang="zh-TW" dirty="0" smtClean="0">
                <a:latin typeface="Calibri" pitchFamily="34" charset="0"/>
                <a:cs typeface="Times New Roman" pitchFamily="18" charset="0"/>
              </a:rPr>
              <a:t>Step3: Do parallel algorithm until find answer</a:t>
            </a:r>
            <a:endParaRPr lang="en-US" altLang="zh-TW"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pPr>
              <a:buNone/>
            </a:pPr>
            <a:r>
              <a:rPr lang="en-US" altLang="zh-TW" dirty="0" smtClean="0">
                <a:latin typeface="Times New Roman" pitchFamily="18" charset="0"/>
                <a:cs typeface="Times New Roman" pitchFamily="18" charset="0"/>
              </a:rPr>
              <a:t>S1 = ATCCCA</a:t>
            </a:r>
          </a:p>
          <a:p>
            <a:pPr>
              <a:buNone/>
            </a:pPr>
            <a:r>
              <a:rPr lang="en-US" altLang="zh-TW" dirty="0" smtClean="0">
                <a:latin typeface="Times New Roman" pitchFamily="18" charset="0"/>
                <a:cs typeface="Times New Roman" pitchFamily="18" charset="0"/>
              </a:rPr>
              <a:t>S2 = CAATTC</a:t>
            </a:r>
          </a:p>
          <a:p>
            <a:pPr>
              <a:buNone/>
            </a:pPr>
            <a:endParaRPr lang="en-US" altLang="zh-TW" dirty="0" smtClean="0">
              <a:latin typeface="Calibri" pitchFamily="34" charset="0"/>
              <a:cs typeface="Times New Roman" pitchFamily="18" charset="0"/>
            </a:endParaRPr>
          </a:p>
        </p:txBody>
      </p:sp>
      <p:sp>
        <p:nvSpPr>
          <p:cNvPr id="6" name="橢圓 5">
            <a:extLst>
              <a:ext uri="{FF2B5EF4-FFF2-40B4-BE49-F238E27FC236}">
                <a16:creationId xmlns:a16="http://schemas.microsoft.com/office/drawing/2014/main" xmlns="" id="{BAC0FFD4-9196-4B3F-A2F5-DCCE3476A74A}"/>
              </a:ext>
            </a:extLst>
          </p:cNvPr>
          <p:cNvSpPr/>
          <p:nvPr/>
        </p:nvSpPr>
        <p:spPr>
          <a:xfrm>
            <a:off x="912044" y="4215371"/>
            <a:ext cx="876692" cy="791851"/>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t>
            </a:r>
          </a:p>
          <a:p>
            <a:pPr algn="ctr"/>
            <a:r>
              <a:rPr lang="en-US" altLang="zh-TW" dirty="0" smtClean="0">
                <a:solidFill>
                  <a:schemeClr val="tx1"/>
                </a:solidFill>
              </a:rPr>
              <a:t>(0,0)</a:t>
            </a:r>
            <a:endParaRPr lang="zh-TW" altLang="en-US" dirty="0">
              <a:solidFill>
                <a:schemeClr val="tx1"/>
              </a:solidFill>
            </a:endParaRPr>
          </a:p>
        </p:txBody>
      </p:sp>
      <p:sp>
        <p:nvSpPr>
          <p:cNvPr id="8" name="橢圓 7">
            <a:extLst>
              <a:ext uri="{FF2B5EF4-FFF2-40B4-BE49-F238E27FC236}">
                <a16:creationId xmlns:a16="http://schemas.microsoft.com/office/drawing/2014/main" xmlns="" id="{BAC0FFD4-9196-4B3F-A2F5-DCCE3476A74A}"/>
              </a:ext>
            </a:extLst>
          </p:cNvPr>
          <p:cNvSpPr/>
          <p:nvPr/>
        </p:nvSpPr>
        <p:spPr>
          <a:xfrm>
            <a:off x="3432468" y="299718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(1,2)</a:t>
            </a:r>
            <a:endParaRPr lang="zh-TW" altLang="en-US" dirty="0">
              <a:solidFill>
                <a:schemeClr val="tx1"/>
              </a:solidFill>
            </a:endParaRPr>
          </a:p>
        </p:txBody>
      </p:sp>
      <p:sp>
        <p:nvSpPr>
          <p:cNvPr id="9" name="橢圓 8">
            <a:extLst>
              <a:ext uri="{FF2B5EF4-FFF2-40B4-BE49-F238E27FC236}">
                <a16:creationId xmlns:a16="http://schemas.microsoft.com/office/drawing/2014/main" xmlns="" id="{BAC0FFD4-9196-4B3F-A2F5-DCCE3476A74A}"/>
              </a:ext>
            </a:extLst>
          </p:cNvPr>
          <p:cNvSpPr/>
          <p:nvPr/>
        </p:nvSpPr>
        <p:spPr>
          <a:xfrm>
            <a:off x="3432468" y="3933293"/>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T</a:t>
            </a:r>
          </a:p>
          <a:p>
            <a:pPr algn="ctr"/>
            <a:r>
              <a:rPr lang="en-US" altLang="zh-TW" dirty="0" smtClean="0">
                <a:solidFill>
                  <a:schemeClr val="tx1"/>
                </a:solidFill>
              </a:rPr>
              <a:t>(2,4)</a:t>
            </a:r>
            <a:endParaRPr lang="zh-TW" altLang="en-US" dirty="0">
              <a:solidFill>
                <a:schemeClr val="tx1"/>
              </a:solidFill>
            </a:endParaRPr>
          </a:p>
        </p:txBody>
      </p:sp>
      <p:sp>
        <p:nvSpPr>
          <p:cNvPr id="10" name="橢圓 9">
            <a:extLst>
              <a:ext uri="{FF2B5EF4-FFF2-40B4-BE49-F238E27FC236}">
                <a16:creationId xmlns:a16="http://schemas.microsoft.com/office/drawing/2014/main" xmlns="" id="{BAC0FFD4-9196-4B3F-A2F5-DCCE3476A74A}"/>
              </a:ext>
            </a:extLst>
          </p:cNvPr>
          <p:cNvSpPr/>
          <p:nvPr/>
        </p:nvSpPr>
        <p:spPr>
          <a:xfrm>
            <a:off x="3432468" y="4869397"/>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C</a:t>
            </a:r>
          </a:p>
          <a:p>
            <a:pPr algn="ctr"/>
            <a:r>
              <a:rPr lang="en-US" altLang="zh-TW" dirty="0" smtClean="0">
                <a:solidFill>
                  <a:schemeClr val="tx1"/>
                </a:solidFill>
              </a:rPr>
              <a:t>(3,1)</a:t>
            </a:r>
            <a:endParaRPr lang="zh-TW" altLang="en-US" dirty="0">
              <a:solidFill>
                <a:schemeClr val="tx1"/>
              </a:solidFill>
            </a:endParaRPr>
          </a:p>
        </p:txBody>
      </p:sp>
      <p:sp>
        <p:nvSpPr>
          <p:cNvPr id="11" name="橢圓 10">
            <a:extLst>
              <a:ext uri="{FF2B5EF4-FFF2-40B4-BE49-F238E27FC236}">
                <a16:creationId xmlns:a16="http://schemas.microsoft.com/office/drawing/2014/main" xmlns="" id="{BAC0FFD4-9196-4B3F-A2F5-DCCE3476A74A}"/>
              </a:ext>
            </a:extLst>
          </p:cNvPr>
          <p:cNvSpPr/>
          <p:nvPr/>
        </p:nvSpPr>
        <p:spPr>
          <a:xfrm>
            <a:off x="3419872" y="587750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endParaRPr lang="zh-TW" altLang="en-US" dirty="0">
              <a:solidFill>
                <a:schemeClr val="tx1"/>
              </a:solidFill>
            </a:endParaRPr>
          </a:p>
        </p:txBody>
      </p:sp>
      <p:cxnSp>
        <p:nvCxnSpPr>
          <p:cNvPr id="13" name="直線單箭頭接點 12"/>
          <p:cNvCxnSpPr>
            <a:stCxn id="6" idx="6"/>
            <a:endCxn id="8" idx="2"/>
          </p:cNvCxnSpPr>
          <p:nvPr/>
        </p:nvCxnSpPr>
        <p:spPr>
          <a:xfrm flipV="1">
            <a:off x="1788736" y="3393115"/>
            <a:ext cx="1643732" cy="12181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6" idx="6"/>
            <a:endCxn id="9" idx="2"/>
          </p:cNvCxnSpPr>
          <p:nvPr/>
        </p:nvCxnSpPr>
        <p:spPr>
          <a:xfrm flipV="1">
            <a:off x="1788736" y="4329219"/>
            <a:ext cx="1643732" cy="28207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6" idx="6"/>
            <a:endCxn id="10" idx="2"/>
          </p:cNvCxnSpPr>
          <p:nvPr/>
        </p:nvCxnSpPr>
        <p:spPr>
          <a:xfrm>
            <a:off x="1788736" y="4611297"/>
            <a:ext cx="1643732" cy="6540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6" idx="6"/>
            <a:endCxn id="11" idx="2"/>
          </p:cNvCxnSpPr>
          <p:nvPr/>
        </p:nvCxnSpPr>
        <p:spPr>
          <a:xfrm>
            <a:off x="1788736" y="4611297"/>
            <a:ext cx="1631136" cy="166213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3491880" y="2348880"/>
            <a:ext cx="836896" cy="369332"/>
          </a:xfrm>
          <a:prstGeom prst="rect">
            <a:avLst/>
          </a:prstGeom>
          <a:noFill/>
        </p:spPr>
        <p:txBody>
          <a:bodyPr wrap="none" rtlCol="0">
            <a:spAutoFit/>
          </a:bodyPr>
          <a:lstStyle/>
          <a:p>
            <a:r>
              <a:rPr lang="en-US" altLang="zh-TW" dirty="0" smtClean="0"/>
              <a:t>Level 1</a:t>
            </a:r>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pPr>
              <a:buNone/>
            </a:pPr>
            <a:r>
              <a:rPr lang="en-US" altLang="zh-TW" dirty="0" smtClean="0">
                <a:latin typeface="Times New Roman" pitchFamily="18" charset="0"/>
                <a:cs typeface="Times New Roman" pitchFamily="18" charset="0"/>
              </a:rPr>
              <a:t>S1 = ATCCCA</a:t>
            </a:r>
          </a:p>
          <a:p>
            <a:pPr>
              <a:buNone/>
            </a:pPr>
            <a:r>
              <a:rPr lang="en-US" altLang="zh-TW" dirty="0" smtClean="0">
                <a:latin typeface="Times New Roman" pitchFamily="18" charset="0"/>
                <a:cs typeface="Times New Roman" pitchFamily="18" charset="0"/>
              </a:rPr>
              <a:t>S2 = CAATTC</a:t>
            </a:r>
          </a:p>
          <a:p>
            <a:pPr>
              <a:buNone/>
            </a:pPr>
            <a:endParaRPr lang="en-US" altLang="zh-TW" dirty="0" smtClean="0">
              <a:latin typeface="Calibri" pitchFamily="34" charset="0"/>
              <a:cs typeface="Times New Roman" pitchFamily="18" charset="0"/>
            </a:endParaRPr>
          </a:p>
        </p:txBody>
      </p:sp>
      <p:sp>
        <p:nvSpPr>
          <p:cNvPr id="6" name="橢圓 5">
            <a:extLst>
              <a:ext uri="{FF2B5EF4-FFF2-40B4-BE49-F238E27FC236}">
                <a16:creationId xmlns:a16="http://schemas.microsoft.com/office/drawing/2014/main" xmlns="" id="{BAC0FFD4-9196-4B3F-A2F5-DCCE3476A74A}"/>
              </a:ext>
            </a:extLst>
          </p:cNvPr>
          <p:cNvSpPr/>
          <p:nvPr/>
        </p:nvSpPr>
        <p:spPr>
          <a:xfrm>
            <a:off x="912044" y="4215371"/>
            <a:ext cx="876692" cy="791851"/>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t>
            </a:r>
          </a:p>
          <a:p>
            <a:pPr algn="ctr"/>
            <a:r>
              <a:rPr lang="en-US" altLang="zh-TW" dirty="0" smtClean="0">
                <a:solidFill>
                  <a:schemeClr val="tx1"/>
                </a:solidFill>
              </a:rPr>
              <a:t>(0,0)</a:t>
            </a:r>
            <a:endParaRPr lang="zh-TW" altLang="en-US" dirty="0">
              <a:solidFill>
                <a:schemeClr val="tx1"/>
              </a:solidFill>
            </a:endParaRPr>
          </a:p>
        </p:txBody>
      </p:sp>
      <p:sp>
        <p:nvSpPr>
          <p:cNvPr id="8" name="橢圓 7">
            <a:extLst>
              <a:ext uri="{FF2B5EF4-FFF2-40B4-BE49-F238E27FC236}">
                <a16:creationId xmlns:a16="http://schemas.microsoft.com/office/drawing/2014/main" xmlns="" id="{BAC0FFD4-9196-4B3F-A2F5-DCCE3476A74A}"/>
              </a:ext>
            </a:extLst>
          </p:cNvPr>
          <p:cNvSpPr/>
          <p:nvPr/>
        </p:nvSpPr>
        <p:spPr>
          <a:xfrm>
            <a:off x="3432468" y="299718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(1,2)</a:t>
            </a:r>
            <a:endParaRPr lang="zh-TW" altLang="en-US" dirty="0">
              <a:solidFill>
                <a:schemeClr val="tx1"/>
              </a:solidFill>
            </a:endParaRPr>
          </a:p>
        </p:txBody>
      </p:sp>
      <p:sp>
        <p:nvSpPr>
          <p:cNvPr id="9" name="橢圓 8">
            <a:extLst>
              <a:ext uri="{FF2B5EF4-FFF2-40B4-BE49-F238E27FC236}">
                <a16:creationId xmlns:a16="http://schemas.microsoft.com/office/drawing/2014/main" xmlns="" id="{BAC0FFD4-9196-4B3F-A2F5-DCCE3476A74A}"/>
              </a:ext>
            </a:extLst>
          </p:cNvPr>
          <p:cNvSpPr/>
          <p:nvPr/>
        </p:nvSpPr>
        <p:spPr>
          <a:xfrm>
            <a:off x="3432468" y="3933293"/>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T</a:t>
            </a:r>
          </a:p>
          <a:p>
            <a:pPr algn="ctr"/>
            <a:r>
              <a:rPr lang="en-US" altLang="zh-TW" dirty="0" smtClean="0">
                <a:solidFill>
                  <a:schemeClr val="tx1"/>
                </a:solidFill>
              </a:rPr>
              <a:t>(2,4)</a:t>
            </a:r>
            <a:endParaRPr lang="zh-TW" altLang="en-US" dirty="0">
              <a:solidFill>
                <a:schemeClr val="tx1"/>
              </a:solidFill>
            </a:endParaRPr>
          </a:p>
        </p:txBody>
      </p:sp>
      <p:sp>
        <p:nvSpPr>
          <p:cNvPr id="10" name="橢圓 9">
            <a:extLst>
              <a:ext uri="{FF2B5EF4-FFF2-40B4-BE49-F238E27FC236}">
                <a16:creationId xmlns:a16="http://schemas.microsoft.com/office/drawing/2014/main" xmlns="" id="{BAC0FFD4-9196-4B3F-A2F5-DCCE3476A74A}"/>
              </a:ext>
            </a:extLst>
          </p:cNvPr>
          <p:cNvSpPr/>
          <p:nvPr/>
        </p:nvSpPr>
        <p:spPr>
          <a:xfrm>
            <a:off x="3432468" y="4869397"/>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C</a:t>
            </a:r>
          </a:p>
          <a:p>
            <a:pPr algn="ctr"/>
            <a:r>
              <a:rPr lang="en-US" altLang="zh-TW" dirty="0" smtClean="0">
                <a:solidFill>
                  <a:schemeClr val="tx1"/>
                </a:solidFill>
              </a:rPr>
              <a:t>(3,1)</a:t>
            </a:r>
            <a:endParaRPr lang="zh-TW" altLang="en-US" dirty="0">
              <a:solidFill>
                <a:schemeClr val="tx1"/>
              </a:solidFill>
            </a:endParaRPr>
          </a:p>
        </p:txBody>
      </p:sp>
      <p:sp>
        <p:nvSpPr>
          <p:cNvPr id="11" name="橢圓 10">
            <a:extLst>
              <a:ext uri="{FF2B5EF4-FFF2-40B4-BE49-F238E27FC236}">
                <a16:creationId xmlns:a16="http://schemas.microsoft.com/office/drawing/2014/main" xmlns="" id="{BAC0FFD4-9196-4B3F-A2F5-DCCE3476A74A}"/>
              </a:ext>
            </a:extLst>
          </p:cNvPr>
          <p:cNvSpPr/>
          <p:nvPr/>
        </p:nvSpPr>
        <p:spPr>
          <a:xfrm>
            <a:off x="3419872" y="587750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endParaRPr lang="zh-TW" altLang="en-US" dirty="0">
              <a:solidFill>
                <a:schemeClr val="tx1"/>
              </a:solidFill>
            </a:endParaRPr>
          </a:p>
        </p:txBody>
      </p:sp>
      <p:cxnSp>
        <p:nvCxnSpPr>
          <p:cNvPr id="13" name="直線單箭頭接點 12"/>
          <p:cNvCxnSpPr>
            <a:stCxn id="6" idx="6"/>
            <a:endCxn id="8" idx="2"/>
          </p:cNvCxnSpPr>
          <p:nvPr/>
        </p:nvCxnSpPr>
        <p:spPr>
          <a:xfrm flipV="1">
            <a:off x="1788736" y="3393115"/>
            <a:ext cx="1643732" cy="12181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6" idx="6"/>
            <a:endCxn id="9" idx="2"/>
          </p:cNvCxnSpPr>
          <p:nvPr/>
        </p:nvCxnSpPr>
        <p:spPr>
          <a:xfrm flipV="1">
            <a:off x="1788736" y="4329219"/>
            <a:ext cx="1643732" cy="28207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6" idx="6"/>
            <a:endCxn id="10" idx="2"/>
          </p:cNvCxnSpPr>
          <p:nvPr/>
        </p:nvCxnSpPr>
        <p:spPr>
          <a:xfrm>
            <a:off x="1788736" y="4611297"/>
            <a:ext cx="1643732" cy="6540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6" idx="6"/>
            <a:endCxn id="11" idx="2"/>
          </p:cNvCxnSpPr>
          <p:nvPr/>
        </p:nvCxnSpPr>
        <p:spPr>
          <a:xfrm>
            <a:off x="1788736" y="4611297"/>
            <a:ext cx="1631136" cy="166213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3491880" y="2348880"/>
            <a:ext cx="836896" cy="369332"/>
          </a:xfrm>
          <a:prstGeom prst="rect">
            <a:avLst/>
          </a:prstGeom>
          <a:noFill/>
        </p:spPr>
        <p:txBody>
          <a:bodyPr wrap="none" rtlCol="0">
            <a:spAutoFit/>
          </a:bodyPr>
          <a:lstStyle/>
          <a:p>
            <a:r>
              <a:rPr lang="en-US" altLang="zh-TW" dirty="0" smtClean="0"/>
              <a:t>Level 1</a:t>
            </a:r>
            <a:endParaRPr lang="zh-TW" altLang="en-US" dirty="0"/>
          </a:p>
        </p:txBody>
      </p:sp>
      <p:sp>
        <p:nvSpPr>
          <p:cNvPr id="24" name="橢圓 23">
            <a:extLst>
              <a:ext uri="{FF2B5EF4-FFF2-40B4-BE49-F238E27FC236}">
                <a16:creationId xmlns:a16="http://schemas.microsoft.com/office/drawing/2014/main" xmlns="" id="{BAC0FFD4-9196-4B3F-A2F5-DCCE3476A74A}"/>
              </a:ext>
            </a:extLst>
          </p:cNvPr>
          <p:cNvSpPr/>
          <p:nvPr/>
        </p:nvSpPr>
        <p:spPr>
          <a:xfrm>
            <a:off x="5639524" y="773996"/>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(6,3)</a:t>
            </a:r>
            <a:endParaRPr lang="zh-TW" altLang="en-US" dirty="0">
              <a:solidFill>
                <a:schemeClr val="tx1"/>
              </a:solidFill>
            </a:endParaRPr>
          </a:p>
        </p:txBody>
      </p:sp>
      <p:sp>
        <p:nvSpPr>
          <p:cNvPr id="25" name="橢圓 24">
            <a:extLst>
              <a:ext uri="{FF2B5EF4-FFF2-40B4-BE49-F238E27FC236}">
                <a16:creationId xmlns:a16="http://schemas.microsoft.com/office/drawing/2014/main" xmlns="" id="{BAC0FFD4-9196-4B3F-A2F5-DCCE3476A74A}"/>
              </a:ext>
            </a:extLst>
          </p:cNvPr>
          <p:cNvSpPr/>
          <p:nvPr/>
        </p:nvSpPr>
        <p:spPr>
          <a:xfrm>
            <a:off x="5639524" y="1710100"/>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T</a:t>
            </a:r>
          </a:p>
          <a:p>
            <a:pPr algn="ctr"/>
            <a:r>
              <a:rPr lang="en-US" altLang="zh-TW" dirty="0" smtClean="0">
                <a:solidFill>
                  <a:schemeClr val="tx1"/>
                </a:solidFill>
              </a:rPr>
              <a:t>(2,4)</a:t>
            </a:r>
            <a:endParaRPr lang="zh-TW" altLang="en-US" dirty="0">
              <a:solidFill>
                <a:schemeClr val="tx1"/>
              </a:solidFill>
            </a:endParaRPr>
          </a:p>
        </p:txBody>
      </p:sp>
      <p:sp>
        <p:nvSpPr>
          <p:cNvPr id="26" name="橢圓 25">
            <a:extLst>
              <a:ext uri="{FF2B5EF4-FFF2-40B4-BE49-F238E27FC236}">
                <a16:creationId xmlns:a16="http://schemas.microsoft.com/office/drawing/2014/main" xmlns="" id="{BAC0FFD4-9196-4B3F-A2F5-DCCE3476A74A}"/>
              </a:ext>
            </a:extLst>
          </p:cNvPr>
          <p:cNvSpPr/>
          <p:nvPr/>
        </p:nvSpPr>
        <p:spPr>
          <a:xfrm>
            <a:off x="5639524" y="2646204"/>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C</a:t>
            </a:r>
          </a:p>
          <a:p>
            <a:pPr algn="ctr"/>
            <a:r>
              <a:rPr lang="en-US" altLang="zh-TW" dirty="0" smtClean="0">
                <a:solidFill>
                  <a:schemeClr val="tx1"/>
                </a:solidFill>
              </a:rPr>
              <a:t>(3,6)</a:t>
            </a:r>
            <a:endParaRPr lang="zh-TW" altLang="en-US" dirty="0">
              <a:solidFill>
                <a:schemeClr val="tx1"/>
              </a:solidFill>
            </a:endParaRPr>
          </a:p>
        </p:txBody>
      </p:sp>
      <p:sp>
        <p:nvSpPr>
          <p:cNvPr id="27" name="橢圓 26">
            <a:extLst>
              <a:ext uri="{FF2B5EF4-FFF2-40B4-BE49-F238E27FC236}">
                <a16:creationId xmlns:a16="http://schemas.microsoft.com/office/drawing/2014/main" xmlns="" id="{BAC0FFD4-9196-4B3F-A2F5-DCCE3476A74A}"/>
              </a:ext>
            </a:extLst>
          </p:cNvPr>
          <p:cNvSpPr/>
          <p:nvPr/>
        </p:nvSpPr>
        <p:spPr>
          <a:xfrm>
            <a:off x="5626928" y="3654316"/>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endParaRPr lang="zh-TW" altLang="en-US" dirty="0">
              <a:solidFill>
                <a:schemeClr val="tx1"/>
              </a:solidFill>
            </a:endParaRPr>
          </a:p>
        </p:txBody>
      </p:sp>
      <p:cxnSp>
        <p:nvCxnSpPr>
          <p:cNvPr id="20" name="直線單箭頭接點 19"/>
          <p:cNvCxnSpPr>
            <a:stCxn id="8" idx="6"/>
            <a:endCxn id="24" idx="2"/>
          </p:cNvCxnSpPr>
          <p:nvPr/>
        </p:nvCxnSpPr>
        <p:spPr>
          <a:xfrm flipV="1">
            <a:off x="4309160" y="1169922"/>
            <a:ext cx="1330364" cy="222319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a:stCxn id="8" idx="6"/>
            <a:endCxn id="25" idx="2"/>
          </p:cNvCxnSpPr>
          <p:nvPr/>
        </p:nvCxnSpPr>
        <p:spPr>
          <a:xfrm flipV="1">
            <a:off x="4309160" y="2106026"/>
            <a:ext cx="1330364" cy="128708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a:stCxn id="8" idx="6"/>
            <a:endCxn id="26" idx="2"/>
          </p:cNvCxnSpPr>
          <p:nvPr/>
        </p:nvCxnSpPr>
        <p:spPr>
          <a:xfrm flipV="1">
            <a:off x="4309160" y="3042130"/>
            <a:ext cx="1330364" cy="3509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a:stCxn id="8" idx="6"/>
            <a:endCxn id="27" idx="2"/>
          </p:cNvCxnSpPr>
          <p:nvPr/>
        </p:nvCxnSpPr>
        <p:spPr>
          <a:xfrm>
            <a:off x="4309160" y="3393115"/>
            <a:ext cx="1317768" cy="65712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38" name="文字方塊 37"/>
          <p:cNvSpPr txBox="1"/>
          <p:nvPr/>
        </p:nvSpPr>
        <p:spPr>
          <a:xfrm>
            <a:off x="5652120" y="332656"/>
            <a:ext cx="836896" cy="369332"/>
          </a:xfrm>
          <a:prstGeom prst="rect">
            <a:avLst/>
          </a:prstGeom>
          <a:noFill/>
        </p:spPr>
        <p:txBody>
          <a:bodyPr wrap="none" rtlCol="0">
            <a:spAutoFit/>
          </a:bodyPr>
          <a:lstStyle/>
          <a:p>
            <a:r>
              <a:rPr lang="en-US" altLang="zh-TW" dirty="0" smtClean="0"/>
              <a:t>Level 2</a:t>
            </a:r>
            <a:endParaRPr lang="zh-TW" altLang="en-US" dirty="0"/>
          </a:p>
        </p:txBody>
      </p:sp>
      <p:cxnSp>
        <p:nvCxnSpPr>
          <p:cNvPr id="40" name="直線單箭頭接點 39"/>
          <p:cNvCxnSpPr>
            <a:stCxn id="10" idx="6"/>
          </p:cNvCxnSpPr>
          <p:nvPr/>
        </p:nvCxnSpPr>
        <p:spPr>
          <a:xfrm>
            <a:off x="4309160" y="5265323"/>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10" idx="6"/>
          </p:cNvCxnSpPr>
          <p:nvPr/>
        </p:nvCxnSpPr>
        <p:spPr>
          <a:xfrm>
            <a:off x="4309160" y="5265323"/>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7" name="橢圓 46">
            <a:extLst>
              <a:ext uri="{FF2B5EF4-FFF2-40B4-BE49-F238E27FC236}">
                <a16:creationId xmlns:a16="http://schemas.microsoft.com/office/drawing/2014/main" xmlns="" id="{BAC0FFD4-9196-4B3F-A2F5-DCCE3476A74A}"/>
              </a:ext>
            </a:extLst>
          </p:cNvPr>
          <p:cNvSpPr/>
          <p:nvPr/>
        </p:nvSpPr>
        <p:spPr>
          <a:xfrm>
            <a:off x="5652120" y="6021525"/>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endParaRPr lang="zh-TW" altLang="en-US" dirty="0">
              <a:solidFill>
                <a:schemeClr val="tx1"/>
              </a:solidFill>
            </a:endParaRPr>
          </a:p>
        </p:txBody>
      </p:sp>
      <p:sp>
        <p:nvSpPr>
          <p:cNvPr id="49" name="文字方塊 48"/>
          <p:cNvSpPr txBox="1"/>
          <p:nvPr/>
        </p:nvSpPr>
        <p:spPr>
          <a:xfrm>
            <a:off x="5940152" y="4941168"/>
            <a:ext cx="253596" cy="1015663"/>
          </a:xfrm>
          <a:prstGeom prst="rect">
            <a:avLst/>
          </a:prstGeom>
          <a:noFill/>
        </p:spPr>
        <p:txBody>
          <a:bodyPr wrap="none" rtlCol="0">
            <a:spAutoFit/>
          </a:bodyPr>
          <a:lstStyle/>
          <a:p>
            <a:r>
              <a:rPr lang="en-US" altLang="zh-TW" sz="2000" b="1" dirty="0" smtClean="0"/>
              <a:t>.</a:t>
            </a:r>
          </a:p>
          <a:p>
            <a:r>
              <a:rPr lang="en-US" altLang="zh-TW" sz="2000" b="1" dirty="0" smtClean="0"/>
              <a:t>.</a:t>
            </a:r>
          </a:p>
          <a:p>
            <a:r>
              <a:rPr lang="en-US" altLang="zh-TW" sz="2000" b="1" dirty="0" smtClean="0"/>
              <a:t>.</a:t>
            </a:r>
            <a:endParaRPr lang="zh-TW" altLang="en-US" sz="2000" b="1" dirty="0"/>
          </a:p>
        </p:txBody>
      </p:sp>
      <p:cxnSp>
        <p:nvCxnSpPr>
          <p:cNvPr id="51" name="直線單箭頭接點 50"/>
          <p:cNvCxnSpPr>
            <a:stCxn id="10" idx="6"/>
          </p:cNvCxnSpPr>
          <p:nvPr/>
        </p:nvCxnSpPr>
        <p:spPr>
          <a:xfrm>
            <a:off x="4309160" y="5265323"/>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a:stCxn id="10" idx="6"/>
          </p:cNvCxnSpPr>
          <p:nvPr/>
        </p:nvCxnSpPr>
        <p:spPr>
          <a:xfrm flipV="1">
            <a:off x="4309160" y="5085184"/>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a:off x="6588224" y="1592915"/>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a:off x="6588224" y="1592915"/>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6588224" y="1592915"/>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6588224" y="1412776"/>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a:off x="6588224" y="2673035"/>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a:off x="6588224" y="2673035"/>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6588224" y="2673035"/>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flipV="1">
            <a:off x="6588224" y="2492896"/>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6660232" y="4185203"/>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p:nvPr/>
        </p:nvCxnSpPr>
        <p:spPr>
          <a:xfrm>
            <a:off x="6660232" y="4185203"/>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a:off x="6660232" y="4185203"/>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flipV="1">
            <a:off x="6660232" y="4005064"/>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0" name="直線單箭頭接點 69"/>
          <p:cNvCxnSpPr/>
          <p:nvPr/>
        </p:nvCxnSpPr>
        <p:spPr>
          <a:xfrm>
            <a:off x="6660232" y="5697371"/>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1" name="直線單箭頭接點 70"/>
          <p:cNvCxnSpPr/>
          <p:nvPr/>
        </p:nvCxnSpPr>
        <p:spPr>
          <a:xfrm>
            <a:off x="6660232" y="5697371"/>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2" name="直線單箭頭接點 71"/>
          <p:cNvCxnSpPr/>
          <p:nvPr/>
        </p:nvCxnSpPr>
        <p:spPr>
          <a:xfrm>
            <a:off x="6660232" y="5697371"/>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73" name="直線單箭頭接點 72"/>
          <p:cNvCxnSpPr/>
          <p:nvPr/>
        </p:nvCxnSpPr>
        <p:spPr>
          <a:xfrm flipV="1">
            <a:off x="6660232" y="5517232"/>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74" name="橢圓 73">
            <a:extLst>
              <a:ext uri="{FF2B5EF4-FFF2-40B4-BE49-F238E27FC236}">
                <a16:creationId xmlns:a16="http://schemas.microsoft.com/office/drawing/2014/main" xmlns="" id="{BAC0FFD4-9196-4B3F-A2F5-DCCE3476A74A}"/>
              </a:ext>
            </a:extLst>
          </p:cNvPr>
          <p:cNvSpPr/>
          <p:nvPr/>
        </p:nvSpPr>
        <p:spPr>
          <a:xfrm>
            <a:off x="8172400" y="764704"/>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a:t>
            </a:r>
            <a:r>
              <a:rPr lang="en-US" altLang="zh-TW" dirty="0" err="1" smtClean="0">
                <a:solidFill>
                  <a:schemeClr val="tx1"/>
                </a:solidFill>
              </a:rPr>
              <a:t>x,y</a:t>
            </a:r>
            <a:r>
              <a:rPr lang="en-US" altLang="zh-TW" dirty="0" smtClean="0">
                <a:solidFill>
                  <a:schemeClr val="tx1"/>
                </a:solidFill>
              </a:rPr>
              <a:t>)</a:t>
            </a:r>
            <a:endParaRPr lang="zh-TW" altLang="en-US" dirty="0">
              <a:solidFill>
                <a:schemeClr val="tx1"/>
              </a:solidFill>
            </a:endParaRPr>
          </a:p>
        </p:txBody>
      </p:sp>
      <p:sp>
        <p:nvSpPr>
          <p:cNvPr id="79" name="橢圓 78">
            <a:extLst>
              <a:ext uri="{FF2B5EF4-FFF2-40B4-BE49-F238E27FC236}">
                <a16:creationId xmlns:a16="http://schemas.microsoft.com/office/drawing/2014/main" xmlns="" id="{BAC0FFD4-9196-4B3F-A2F5-DCCE3476A74A}"/>
              </a:ext>
            </a:extLst>
          </p:cNvPr>
          <p:cNvSpPr/>
          <p:nvPr/>
        </p:nvSpPr>
        <p:spPr>
          <a:xfrm>
            <a:off x="8267308" y="5877272"/>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r>
              <a:rPr lang="en-US" altLang="zh-TW" dirty="0" err="1" smtClean="0">
                <a:solidFill>
                  <a:schemeClr val="tx1"/>
                </a:solidFill>
              </a:rPr>
              <a:t>x,y</a:t>
            </a:r>
            <a:r>
              <a:rPr lang="en-US" altLang="zh-TW" dirty="0" smtClean="0">
                <a:solidFill>
                  <a:schemeClr val="tx1"/>
                </a:solidFill>
              </a:rPr>
              <a:t>)</a:t>
            </a:r>
            <a:endParaRPr lang="zh-TW" altLang="en-US" dirty="0">
              <a:solidFill>
                <a:schemeClr val="tx1"/>
              </a:solidFill>
            </a:endParaRPr>
          </a:p>
        </p:txBody>
      </p:sp>
      <p:sp>
        <p:nvSpPr>
          <p:cNvPr id="80" name="文字方塊 79"/>
          <p:cNvSpPr txBox="1"/>
          <p:nvPr/>
        </p:nvSpPr>
        <p:spPr>
          <a:xfrm>
            <a:off x="8460432" y="1772816"/>
            <a:ext cx="253596" cy="1015663"/>
          </a:xfrm>
          <a:prstGeom prst="rect">
            <a:avLst/>
          </a:prstGeom>
          <a:noFill/>
        </p:spPr>
        <p:txBody>
          <a:bodyPr wrap="none" rtlCol="0">
            <a:spAutoFit/>
          </a:bodyPr>
          <a:lstStyle/>
          <a:p>
            <a:r>
              <a:rPr lang="en-US" altLang="zh-TW" sz="2000" b="1" dirty="0" smtClean="0"/>
              <a:t>.</a:t>
            </a:r>
          </a:p>
          <a:p>
            <a:r>
              <a:rPr lang="en-US" altLang="zh-TW" sz="2000" b="1" dirty="0" smtClean="0"/>
              <a:t>.</a:t>
            </a:r>
          </a:p>
          <a:p>
            <a:r>
              <a:rPr lang="en-US" altLang="zh-TW" sz="2000" b="1" dirty="0" smtClean="0"/>
              <a:t>.</a:t>
            </a:r>
            <a:endParaRPr lang="zh-TW" altLang="en-US" sz="2000" b="1" dirty="0"/>
          </a:p>
        </p:txBody>
      </p:sp>
      <p:sp>
        <p:nvSpPr>
          <p:cNvPr id="81" name="文字方塊 80"/>
          <p:cNvSpPr txBox="1"/>
          <p:nvPr/>
        </p:nvSpPr>
        <p:spPr>
          <a:xfrm>
            <a:off x="8460432" y="2996952"/>
            <a:ext cx="253596" cy="1015663"/>
          </a:xfrm>
          <a:prstGeom prst="rect">
            <a:avLst/>
          </a:prstGeom>
          <a:noFill/>
        </p:spPr>
        <p:txBody>
          <a:bodyPr wrap="none" rtlCol="0">
            <a:spAutoFit/>
          </a:bodyPr>
          <a:lstStyle/>
          <a:p>
            <a:r>
              <a:rPr lang="en-US" altLang="zh-TW" sz="2000" b="1" dirty="0" smtClean="0"/>
              <a:t>.</a:t>
            </a:r>
          </a:p>
          <a:p>
            <a:r>
              <a:rPr lang="en-US" altLang="zh-TW" sz="2000" b="1" dirty="0" smtClean="0"/>
              <a:t>.</a:t>
            </a:r>
          </a:p>
          <a:p>
            <a:r>
              <a:rPr lang="en-US" altLang="zh-TW" sz="2000" b="1" dirty="0" smtClean="0"/>
              <a:t>.</a:t>
            </a:r>
            <a:endParaRPr lang="zh-TW" altLang="en-US" sz="2000" b="1" dirty="0"/>
          </a:p>
        </p:txBody>
      </p:sp>
      <p:sp>
        <p:nvSpPr>
          <p:cNvPr id="82" name="文字方塊 81"/>
          <p:cNvSpPr txBox="1"/>
          <p:nvPr/>
        </p:nvSpPr>
        <p:spPr>
          <a:xfrm>
            <a:off x="8460432" y="4365104"/>
            <a:ext cx="253596" cy="1015663"/>
          </a:xfrm>
          <a:prstGeom prst="rect">
            <a:avLst/>
          </a:prstGeom>
          <a:noFill/>
        </p:spPr>
        <p:txBody>
          <a:bodyPr wrap="none" rtlCol="0">
            <a:spAutoFit/>
          </a:bodyPr>
          <a:lstStyle/>
          <a:p>
            <a:r>
              <a:rPr lang="en-US" altLang="zh-TW" sz="2000" b="1" dirty="0" smtClean="0"/>
              <a:t>.</a:t>
            </a:r>
          </a:p>
          <a:p>
            <a:r>
              <a:rPr lang="en-US" altLang="zh-TW" sz="2000" b="1" dirty="0" smtClean="0"/>
              <a:t>.</a:t>
            </a:r>
          </a:p>
          <a:p>
            <a:r>
              <a:rPr lang="en-US" altLang="zh-TW" sz="2000" b="1" dirty="0" smtClean="0"/>
              <a:t>.</a:t>
            </a:r>
            <a:endParaRPr lang="zh-TW" altLang="en-US" sz="2000" b="1" dirty="0"/>
          </a:p>
        </p:txBody>
      </p:sp>
      <p:sp>
        <p:nvSpPr>
          <p:cNvPr id="83" name="文字方塊 82"/>
          <p:cNvSpPr txBox="1"/>
          <p:nvPr/>
        </p:nvSpPr>
        <p:spPr>
          <a:xfrm>
            <a:off x="8172400" y="188640"/>
            <a:ext cx="836896" cy="369332"/>
          </a:xfrm>
          <a:prstGeom prst="rect">
            <a:avLst/>
          </a:prstGeom>
          <a:noFill/>
        </p:spPr>
        <p:txBody>
          <a:bodyPr wrap="none" rtlCol="0">
            <a:spAutoFit/>
          </a:bodyPr>
          <a:lstStyle/>
          <a:p>
            <a:r>
              <a:rPr lang="en-US" altLang="zh-TW" dirty="0" smtClean="0"/>
              <a:t>Level 3</a:t>
            </a:r>
            <a:endParaRPr lang="zh-TW" altLang="en-US" dirty="0"/>
          </a:p>
        </p:txBody>
      </p:sp>
      <p:cxnSp>
        <p:nvCxnSpPr>
          <p:cNvPr id="85" name="直線單箭頭接點 84"/>
          <p:cNvCxnSpPr>
            <a:stCxn id="9" idx="6"/>
          </p:cNvCxnSpPr>
          <p:nvPr/>
        </p:nvCxnSpPr>
        <p:spPr>
          <a:xfrm>
            <a:off x="4309160" y="4329219"/>
            <a:ext cx="1198944" cy="25190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7" name="直線單箭頭接點 86"/>
          <p:cNvCxnSpPr>
            <a:stCxn id="9" idx="6"/>
          </p:cNvCxnSpPr>
          <p:nvPr/>
        </p:nvCxnSpPr>
        <p:spPr>
          <a:xfrm>
            <a:off x="4309160" y="4329219"/>
            <a:ext cx="1126936" cy="46793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89" name="直線單箭頭接點 88"/>
          <p:cNvCxnSpPr>
            <a:stCxn id="9" idx="6"/>
          </p:cNvCxnSpPr>
          <p:nvPr/>
        </p:nvCxnSpPr>
        <p:spPr>
          <a:xfrm>
            <a:off x="4309160" y="4329219"/>
            <a:ext cx="1198944" cy="10789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91" name="直線單箭頭接點 90"/>
          <p:cNvCxnSpPr>
            <a:stCxn id="9" idx="6"/>
          </p:cNvCxnSpPr>
          <p:nvPr/>
        </p:nvCxnSpPr>
        <p:spPr>
          <a:xfrm flipV="1">
            <a:off x="4309160" y="4293096"/>
            <a:ext cx="1198944" cy="3612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smtClean="0">
                <a:latin typeface="Times New Roman" pitchFamily="18" charset="0"/>
                <a:cs typeface="Times New Roman" pitchFamily="18" charset="0"/>
              </a:rPr>
              <a:t>Pruning </a:t>
            </a:r>
            <a:endParaRPr lang="en-US" altLang="zh-TW" dirty="0" smtClean="0">
              <a:latin typeface="Calibri" pitchFamily="34" charset="0"/>
              <a:cs typeface="Times New Roman" pitchFamily="18" charset="0"/>
            </a:endParaRPr>
          </a:p>
        </p:txBody>
      </p:sp>
      <p:sp>
        <p:nvSpPr>
          <p:cNvPr id="6" name="橢圓 5">
            <a:extLst>
              <a:ext uri="{FF2B5EF4-FFF2-40B4-BE49-F238E27FC236}">
                <a16:creationId xmlns:a16="http://schemas.microsoft.com/office/drawing/2014/main" xmlns="" id="{BAC0FFD4-9196-4B3F-A2F5-DCCE3476A74A}"/>
              </a:ext>
            </a:extLst>
          </p:cNvPr>
          <p:cNvSpPr/>
          <p:nvPr/>
        </p:nvSpPr>
        <p:spPr>
          <a:xfrm>
            <a:off x="912044" y="4215371"/>
            <a:ext cx="876692" cy="791851"/>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t>
            </a:r>
          </a:p>
          <a:p>
            <a:pPr algn="ctr"/>
            <a:r>
              <a:rPr lang="en-US" altLang="zh-TW" dirty="0" smtClean="0">
                <a:solidFill>
                  <a:schemeClr val="tx1"/>
                </a:solidFill>
              </a:rPr>
              <a:t>(0,0)</a:t>
            </a:r>
            <a:endParaRPr lang="zh-TW" altLang="en-US" dirty="0">
              <a:solidFill>
                <a:schemeClr val="tx1"/>
              </a:solidFill>
            </a:endParaRPr>
          </a:p>
        </p:txBody>
      </p:sp>
      <p:sp>
        <p:nvSpPr>
          <p:cNvPr id="7" name="橢圓 6">
            <a:extLst>
              <a:ext uri="{FF2B5EF4-FFF2-40B4-BE49-F238E27FC236}">
                <a16:creationId xmlns:a16="http://schemas.microsoft.com/office/drawing/2014/main" xmlns="" id="{BAC0FFD4-9196-4B3F-A2F5-DCCE3476A74A}"/>
              </a:ext>
            </a:extLst>
          </p:cNvPr>
          <p:cNvSpPr/>
          <p:nvPr/>
        </p:nvSpPr>
        <p:spPr>
          <a:xfrm>
            <a:off x="3432468" y="299718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(1,2)</a:t>
            </a:r>
            <a:endParaRPr lang="zh-TW" altLang="en-US" dirty="0">
              <a:solidFill>
                <a:schemeClr val="tx1"/>
              </a:solidFill>
            </a:endParaRPr>
          </a:p>
        </p:txBody>
      </p:sp>
      <p:sp>
        <p:nvSpPr>
          <p:cNvPr id="8" name="橢圓 7">
            <a:extLst>
              <a:ext uri="{FF2B5EF4-FFF2-40B4-BE49-F238E27FC236}">
                <a16:creationId xmlns:a16="http://schemas.microsoft.com/office/drawing/2014/main" xmlns="" id="{BAC0FFD4-9196-4B3F-A2F5-DCCE3476A74A}"/>
              </a:ext>
            </a:extLst>
          </p:cNvPr>
          <p:cNvSpPr/>
          <p:nvPr/>
        </p:nvSpPr>
        <p:spPr>
          <a:xfrm>
            <a:off x="3432468" y="3933293"/>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T</a:t>
            </a:r>
          </a:p>
          <a:p>
            <a:pPr algn="ctr"/>
            <a:r>
              <a:rPr lang="en-US" altLang="zh-TW" dirty="0" smtClean="0">
                <a:solidFill>
                  <a:schemeClr val="tx1"/>
                </a:solidFill>
              </a:rPr>
              <a:t>(2,4)</a:t>
            </a:r>
            <a:endParaRPr lang="zh-TW" altLang="en-US" dirty="0">
              <a:solidFill>
                <a:schemeClr val="tx1"/>
              </a:solidFill>
            </a:endParaRPr>
          </a:p>
        </p:txBody>
      </p:sp>
      <p:sp>
        <p:nvSpPr>
          <p:cNvPr id="9" name="橢圓 8">
            <a:extLst>
              <a:ext uri="{FF2B5EF4-FFF2-40B4-BE49-F238E27FC236}">
                <a16:creationId xmlns:a16="http://schemas.microsoft.com/office/drawing/2014/main" xmlns="" id="{BAC0FFD4-9196-4B3F-A2F5-DCCE3476A74A}"/>
              </a:ext>
            </a:extLst>
          </p:cNvPr>
          <p:cNvSpPr/>
          <p:nvPr/>
        </p:nvSpPr>
        <p:spPr>
          <a:xfrm>
            <a:off x="3432468" y="4869397"/>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C</a:t>
            </a:r>
          </a:p>
          <a:p>
            <a:pPr algn="ctr"/>
            <a:r>
              <a:rPr lang="en-US" altLang="zh-TW" dirty="0" smtClean="0">
                <a:solidFill>
                  <a:schemeClr val="tx1"/>
                </a:solidFill>
              </a:rPr>
              <a:t>(3,1)</a:t>
            </a:r>
            <a:endParaRPr lang="zh-TW" altLang="en-US" dirty="0">
              <a:solidFill>
                <a:schemeClr val="tx1"/>
              </a:solidFill>
            </a:endParaRPr>
          </a:p>
        </p:txBody>
      </p:sp>
      <p:sp>
        <p:nvSpPr>
          <p:cNvPr id="10" name="橢圓 9">
            <a:extLst>
              <a:ext uri="{FF2B5EF4-FFF2-40B4-BE49-F238E27FC236}">
                <a16:creationId xmlns:a16="http://schemas.microsoft.com/office/drawing/2014/main" xmlns="" id="{BAC0FFD4-9196-4B3F-A2F5-DCCE3476A74A}"/>
              </a:ext>
            </a:extLst>
          </p:cNvPr>
          <p:cNvSpPr/>
          <p:nvPr/>
        </p:nvSpPr>
        <p:spPr>
          <a:xfrm>
            <a:off x="3419872" y="5877509"/>
            <a:ext cx="876692"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a:t>
            </a:r>
            <a:endParaRPr lang="zh-TW" altLang="en-US" dirty="0">
              <a:solidFill>
                <a:schemeClr val="tx1"/>
              </a:solidFill>
            </a:endParaRPr>
          </a:p>
        </p:txBody>
      </p:sp>
      <p:cxnSp>
        <p:nvCxnSpPr>
          <p:cNvPr id="11" name="直線單箭頭接點 10"/>
          <p:cNvCxnSpPr>
            <a:stCxn id="6" idx="6"/>
            <a:endCxn id="7" idx="2"/>
          </p:cNvCxnSpPr>
          <p:nvPr/>
        </p:nvCxnSpPr>
        <p:spPr>
          <a:xfrm flipV="1">
            <a:off x="1788736" y="3393115"/>
            <a:ext cx="1643732" cy="12181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2" name="直線單箭頭接點 11"/>
          <p:cNvCxnSpPr>
            <a:stCxn id="6" idx="6"/>
            <a:endCxn id="8" idx="2"/>
          </p:cNvCxnSpPr>
          <p:nvPr/>
        </p:nvCxnSpPr>
        <p:spPr>
          <a:xfrm flipV="1">
            <a:off x="1788736" y="4329219"/>
            <a:ext cx="1643732" cy="28207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6" idx="6"/>
            <a:endCxn id="9" idx="2"/>
          </p:cNvCxnSpPr>
          <p:nvPr/>
        </p:nvCxnSpPr>
        <p:spPr>
          <a:xfrm>
            <a:off x="1788736" y="4611297"/>
            <a:ext cx="1643732" cy="6540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stCxn id="6" idx="6"/>
            <a:endCxn id="10" idx="2"/>
          </p:cNvCxnSpPr>
          <p:nvPr/>
        </p:nvCxnSpPr>
        <p:spPr>
          <a:xfrm>
            <a:off x="1788736" y="4611297"/>
            <a:ext cx="1631136" cy="166213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a:off x="3491880" y="2348880"/>
            <a:ext cx="836896" cy="369332"/>
          </a:xfrm>
          <a:prstGeom prst="rect">
            <a:avLst/>
          </a:prstGeom>
          <a:noFill/>
        </p:spPr>
        <p:txBody>
          <a:bodyPr wrap="none" rtlCol="0">
            <a:spAutoFit/>
          </a:bodyPr>
          <a:lstStyle/>
          <a:p>
            <a:r>
              <a:rPr lang="en-US" altLang="zh-TW" dirty="0" smtClean="0"/>
              <a:t>Level 1</a:t>
            </a:r>
            <a:endParaRPr lang="zh-TW" altLang="en-US" dirty="0"/>
          </a:p>
        </p:txBody>
      </p:sp>
      <p:sp>
        <p:nvSpPr>
          <p:cNvPr id="16" name="乘號 15"/>
          <p:cNvSpPr/>
          <p:nvPr/>
        </p:nvSpPr>
        <p:spPr>
          <a:xfrm>
            <a:off x="2627784" y="4149080"/>
            <a:ext cx="576064" cy="50405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乘號 16"/>
          <p:cNvSpPr/>
          <p:nvPr/>
        </p:nvSpPr>
        <p:spPr>
          <a:xfrm>
            <a:off x="2555776" y="5445224"/>
            <a:ext cx="576064" cy="504056"/>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單箭頭接點 17"/>
          <p:cNvCxnSpPr/>
          <p:nvPr/>
        </p:nvCxnSpPr>
        <p:spPr>
          <a:xfrm>
            <a:off x="4355976" y="3393115"/>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a:off x="4355976" y="3393115"/>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a:off x="4355976" y="3393115"/>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p:nvPr/>
        </p:nvCxnSpPr>
        <p:spPr>
          <a:xfrm flipV="1">
            <a:off x="4355976" y="3212976"/>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4355976" y="5265323"/>
            <a:ext cx="1342960" cy="323917"/>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a:off x="4355976" y="5265323"/>
            <a:ext cx="1342960" cy="75596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4" name="直線單箭頭接點 23"/>
          <p:cNvCxnSpPr/>
          <p:nvPr/>
        </p:nvCxnSpPr>
        <p:spPr>
          <a:xfrm>
            <a:off x="4355976" y="5265323"/>
            <a:ext cx="1414968" cy="35885"/>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flipV="1">
            <a:off x="4355976" y="5085184"/>
            <a:ext cx="1342960" cy="18013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 – Multiple alignment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pPr>
              <a:buNone/>
            </a:pPr>
            <a:r>
              <a:rPr lang="en-US" altLang="zh-TW" dirty="0" smtClean="0">
                <a:latin typeface="Times New Roman" pitchFamily="18" charset="0"/>
                <a:cs typeface="Times New Roman" pitchFamily="18" charset="0"/>
              </a:rPr>
              <a:t>S1 = ATCCCA</a:t>
            </a:r>
          </a:p>
          <a:p>
            <a:pPr>
              <a:buNone/>
            </a:pPr>
            <a:r>
              <a:rPr lang="en-US" altLang="zh-TW" dirty="0" smtClean="0">
                <a:latin typeface="Times New Roman" pitchFamily="18" charset="0"/>
                <a:cs typeface="Times New Roman" pitchFamily="18" charset="0"/>
              </a:rPr>
              <a:t>S2 = CAATTC</a:t>
            </a:r>
          </a:p>
          <a:p>
            <a:pPr>
              <a:buNone/>
            </a:pPr>
            <a:r>
              <a:rPr lang="en-US" altLang="zh-TW" dirty="0" smtClean="0">
                <a:latin typeface="Times New Roman" pitchFamily="18" charset="0"/>
                <a:cs typeface="Times New Roman" pitchFamily="18" charset="0"/>
              </a:rPr>
              <a:t>S3 = ACTCTG</a:t>
            </a:r>
          </a:p>
          <a:p>
            <a:pPr>
              <a:buNone/>
            </a:pPr>
            <a:endParaRPr lang="en-US" altLang="zh-TW" dirty="0" smtClean="0">
              <a:latin typeface="Calibri" pitchFamily="34" charset="0"/>
              <a:cs typeface="Times New Roman" pitchFamily="18" charset="0"/>
            </a:endParaRPr>
          </a:p>
        </p:txBody>
      </p:sp>
      <p:sp>
        <p:nvSpPr>
          <p:cNvPr id="6" name="橢圓 5">
            <a:extLst>
              <a:ext uri="{FF2B5EF4-FFF2-40B4-BE49-F238E27FC236}">
                <a16:creationId xmlns:a16="http://schemas.microsoft.com/office/drawing/2014/main" xmlns="" id="{BAC0FFD4-9196-4B3F-A2F5-DCCE3476A74A}"/>
              </a:ext>
            </a:extLst>
          </p:cNvPr>
          <p:cNvSpPr/>
          <p:nvPr/>
        </p:nvSpPr>
        <p:spPr>
          <a:xfrm>
            <a:off x="539552" y="4215371"/>
            <a:ext cx="1249184" cy="791851"/>
          </a:xfrm>
          <a:prstGeom prst="ellipse">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t>
            </a:r>
          </a:p>
          <a:p>
            <a:pPr algn="ctr"/>
            <a:r>
              <a:rPr lang="en-US" altLang="zh-TW" dirty="0" smtClean="0">
                <a:solidFill>
                  <a:schemeClr val="tx1"/>
                </a:solidFill>
              </a:rPr>
              <a:t>(0,0,0)</a:t>
            </a:r>
            <a:endParaRPr lang="zh-TW" altLang="en-US" dirty="0">
              <a:solidFill>
                <a:schemeClr val="tx1"/>
              </a:solidFill>
            </a:endParaRPr>
          </a:p>
        </p:txBody>
      </p:sp>
      <p:sp>
        <p:nvSpPr>
          <p:cNvPr id="8" name="橢圓 7">
            <a:extLst>
              <a:ext uri="{FF2B5EF4-FFF2-40B4-BE49-F238E27FC236}">
                <a16:creationId xmlns:a16="http://schemas.microsoft.com/office/drawing/2014/main" xmlns="" id="{BAC0FFD4-9196-4B3F-A2F5-DCCE3476A74A}"/>
              </a:ext>
            </a:extLst>
          </p:cNvPr>
          <p:cNvSpPr/>
          <p:nvPr/>
        </p:nvSpPr>
        <p:spPr>
          <a:xfrm>
            <a:off x="3432468" y="2997189"/>
            <a:ext cx="1296144"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A</a:t>
            </a:r>
          </a:p>
          <a:p>
            <a:pPr algn="ctr"/>
            <a:r>
              <a:rPr lang="en-US" altLang="zh-TW" dirty="0" smtClean="0">
                <a:solidFill>
                  <a:schemeClr val="tx1"/>
                </a:solidFill>
              </a:rPr>
              <a:t>(1,2,1)</a:t>
            </a:r>
            <a:endParaRPr lang="zh-TW" altLang="en-US" dirty="0">
              <a:solidFill>
                <a:schemeClr val="tx1"/>
              </a:solidFill>
            </a:endParaRPr>
          </a:p>
        </p:txBody>
      </p:sp>
      <p:sp>
        <p:nvSpPr>
          <p:cNvPr id="9" name="橢圓 8">
            <a:extLst>
              <a:ext uri="{FF2B5EF4-FFF2-40B4-BE49-F238E27FC236}">
                <a16:creationId xmlns:a16="http://schemas.microsoft.com/office/drawing/2014/main" xmlns="" id="{BAC0FFD4-9196-4B3F-A2F5-DCCE3476A74A}"/>
              </a:ext>
            </a:extLst>
          </p:cNvPr>
          <p:cNvSpPr/>
          <p:nvPr/>
        </p:nvSpPr>
        <p:spPr>
          <a:xfrm>
            <a:off x="3432468" y="3933293"/>
            <a:ext cx="1296144"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T</a:t>
            </a:r>
          </a:p>
          <a:p>
            <a:pPr algn="ctr"/>
            <a:r>
              <a:rPr lang="en-US" altLang="zh-TW" dirty="0" smtClean="0">
                <a:solidFill>
                  <a:schemeClr val="tx1"/>
                </a:solidFill>
              </a:rPr>
              <a:t>(2,4,3)</a:t>
            </a:r>
            <a:endParaRPr lang="zh-TW" altLang="en-US" dirty="0">
              <a:solidFill>
                <a:schemeClr val="tx1"/>
              </a:solidFill>
            </a:endParaRPr>
          </a:p>
        </p:txBody>
      </p:sp>
      <p:sp>
        <p:nvSpPr>
          <p:cNvPr id="10" name="橢圓 9">
            <a:extLst>
              <a:ext uri="{FF2B5EF4-FFF2-40B4-BE49-F238E27FC236}">
                <a16:creationId xmlns:a16="http://schemas.microsoft.com/office/drawing/2014/main" xmlns="" id="{BAC0FFD4-9196-4B3F-A2F5-DCCE3476A74A}"/>
              </a:ext>
            </a:extLst>
          </p:cNvPr>
          <p:cNvSpPr/>
          <p:nvPr/>
        </p:nvSpPr>
        <p:spPr>
          <a:xfrm>
            <a:off x="3432468" y="4869397"/>
            <a:ext cx="1296144"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C</a:t>
            </a:r>
          </a:p>
          <a:p>
            <a:pPr algn="ctr"/>
            <a:r>
              <a:rPr lang="en-US" altLang="zh-TW" dirty="0" smtClean="0">
                <a:solidFill>
                  <a:schemeClr val="tx1"/>
                </a:solidFill>
              </a:rPr>
              <a:t>(3,1,4)</a:t>
            </a:r>
            <a:endParaRPr lang="zh-TW" altLang="en-US" dirty="0">
              <a:solidFill>
                <a:schemeClr val="tx1"/>
              </a:solidFill>
            </a:endParaRPr>
          </a:p>
        </p:txBody>
      </p:sp>
      <p:sp>
        <p:nvSpPr>
          <p:cNvPr id="11" name="橢圓 10">
            <a:extLst>
              <a:ext uri="{FF2B5EF4-FFF2-40B4-BE49-F238E27FC236}">
                <a16:creationId xmlns:a16="http://schemas.microsoft.com/office/drawing/2014/main" xmlns="" id="{BAC0FFD4-9196-4B3F-A2F5-DCCE3476A74A}"/>
              </a:ext>
            </a:extLst>
          </p:cNvPr>
          <p:cNvSpPr/>
          <p:nvPr/>
        </p:nvSpPr>
        <p:spPr>
          <a:xfrm>
            <a:off x="3419872" y="5877509"/>
            <a:ext cx="1296144" cy="791851"/>
          </a:xfrm>
          <a:prstGeom prst="ellipse">
            <a:avLst/>
          </a:prstGeom>
          <a:solidFill>
            <a:schemeClr val="accent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smtClean="0">
                <a:solidFill>
                  <a:schemeClr val="tx1"/>
                </a:solidFill>
              </a:rPr>
              <a:t>G</a:t>
            </a:r>
          </a:p>
          <a:p>
            <a:pPr algn="ctr"/>
            <a:r>
              <a:rPr lang="en-US" altLang="zh-TW" dirty="0" smtClean="0">
                <a:solidFill>
                  <a:schemeClr val="tx1"/>
                </a:solidFill>
              </a:rPr>
              <a:t>(--,--,6)</a:t>
            </a:r>
            <a:endParaRPr lang="zh-TW" altLang="en-US" dirty="0">
              <a:solidFill>
                <a:schemeClr val="tx1"/>
              </a:solidFill>
            </a:endParaRPr>
          </a:p>
        </p:txBody>
      </p:sp>
      <p:cxnSp>
        <p:nvCxnSpPr>
          <p:cNvPr id="13" name="直線單箭頭接點 12"/>
          <p:cNvCxnSpPr>
            <a:stCxn id="6" idx="6"/>
            <a:endCxn id="8" idx="2"/>
          </p:cNvCxnSpPr>
          <p:nvPr/>
        </p:nvCxnSpPr>
        <p:spPr>
          <a:xfrm flipV="1">
            <a:off x="1788736" y="3393115"/>
            <a:ext cx="1643732" cy="121818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stCxn id="6" idx="6"/>
            <a:endCxn id="9" idx="2"/>
          </p:cNvCxnSpPr>
          <p:nvPr/>
        </p:nvCxnSpPr>
        <p:spPr>
          <a:xfrm flipV="1">
            <a:off x="1788736" y="4329219"/>
            <a:ext cx="1643732" cy="28207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a:stCxn id="6" idx="6"/>
            <a:endCxn id="10" idx="2"/>
          </p:cNvCxnSpPr>
          <p:nvPr/>
        </p:nvCxnSpPr>
        <p:spPr>
          <a:xfrm>
            <a:off x="1788736" y="4611297"/>
            <a:ext cx="1643732" cy="6540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6" idx="6"/>
            <a:endCxn id="11" idx="2"/>
          </p:cNvCxnSpPr>
          <p:nvPr/>
        </p:nvCxnSpPr>
        <p:spPr>
          <a:xfrm>
            <a:off x="1788736" y="4611297"/>
            <a:ext cx="1631136" cy="166213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3" name="文字方塊 22"/>
          <p:cNvSpPr txBox="1"/>
          <p:nvPr/>
        </p:nvSpPr>
        <p:spPr>
          <a:xfrm>
            <a:off x="3491880" y="2348880"/>
            <a:ext cx="836896" cy="369332"/>
          </a:xfrm>
          <a:prstGeom prst="rect">
            <a:avLst/>
          </a:prstGeom>
          <a:noFill/>
        </p:spPr>
        <p:txBody>
          <a:bodyPr wrap="none" rtlCol="0">
            <a:spAutoFit/>
          </a:bodyPr>
          <a:lstStyle/>
          <a:p>
            <a:r>
              <a:rPr lang="en-US" altLang="zh-TW" dirty="0" smtClean="0"/>
              <a:t>Level 1</a:t>
            </a:r>
            <a:endParaRPr lang="zh-TW"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4" name="內容版面配置區 3" descr="3.PNG"/>
          <p:cNvPicPr>
            <a:picLocks noGrp="1" noChangeAspect="1"/>
          </p:cNvPicPr>
          <p:nvPr>
            <p:ph idx="1"/>
          </p:nvPr>
        </p:nvPicPr>
        <p:blipFill>
          <a:blip r:embed="rId2" cstate="print"/>
          <a:stretch>
            <a:fillRect/>
          </a:stretch>
        </p:blipFill>
        <p:spPr>
          <a:xfrm>
            <a:off x="107504" y="1772816"/>
            <a:ext cx="4578583" cy="4725144"/>
          </a:xfrm>
        </p:spPr>
      </p:pic>
      <p:pic>
        <p:nvPicPr>
          <p:cNvPr id="5" name="內容版面配置區 5" descr="4.PNG"/>
          <p:cNvPicPr>
            <a:picLocks noChangeAspect="1"/>
          </p:cNvPicPr>
          <p:nvPr/>
        </p:nvPicPr>
        <p:blipFill>
          <a:blip r:embed="rId3" cstate="print"/>
          <a:stretch>
            <a:fillRect/>
          </a:stretch>
        </p:blipFill>
        <p:spPr>
          <a:xfrm>
            <a:off x="4738402" y="2132856"/>
            <a:ext cx="4405598" cy="377728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5" name="內容版面配置區 4" descr="5.PNG"/>
          <p:cNvPicPr>
            <a:picLocks noGrp="1" noChangeAspect="1"/>
          </p:cNvPicPr>
          <p:nvPr>
            <p:ph idx="1"/>
          </p:nvPr>
        </p:nvPicPr>
        <p:blipFill>
          <a:blip r:embed="rId2" cstate="print"/>
          <a:stretch>
            <a:fillRect/>
          </a:stretch>
        </p:blipFill>
        <p:spPr>
          <a:xfrm>
            <a:off x="1475656" y="1268759"/>
            <a:ext cx="5904656" cy="5274555"/>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sp>
        <p:nvSpPr>
          <p:cNvPr id="4" name="內容版面配置區 3"/>
          <p:cNvSpPr>
            <a:spLocks noGrp="1"/>
          </p:cNvSpPr>
          <p:nvPr>
            <p:ph idx="1"/>
          </p:nvPr>
        </p:nvSpPr>
        <p:spPr/>
        <p:txBody>
          <a:bodyPr/>
          <a:lstStyle/>
          <a:p>
            <a:endParaRPr lang="zh-TW" altLang="en-US"/>
          </a:p>
        </p:txBody>
      </p:sp>
      <p:pic>
        <p:nvPicPr>
          <p:cNvPr id="6" name="內容版面配置區 3" descr="6.PNG"/>
          <p:cNvPicPr>
            <a:picLocks noChangeAspect="1"/>
          </p:cNvPicPr>
          <p:nvPr/>
        </p:nvPicPr>
        <p:blipFill>
          <a:blip r:embed="rId2" cstate="print"/>
          <a:stretch>
            <a:fillRect/>
          </a:stretch>
        </p:blipFill>
        <p:spPr>
          <a:xfrm>
            <a:off x="0" y="1700808"/>
            <a:ext cx="4644008" cy="4107692"/>
          </a:xfrm>
          <a:prstGeom prst="rect">
            <a:avLst/>
          </a:prstGeom>
        </p:spPr>
      </p:pic>
      <p:pic>
        <p:nvPicPr>
          <p:cNvPr id="8" name="內容版面配置區 7" descr="10.PNG"/>
          <p:cNvPicPr>
            <a:picLocks noChangeAspect="1"/>
          </p:cNvPicPr>
          <p:nvPr/>
        </p:nvPicPr>
        <p:blipFill>
          <a:blip r:embed="rId3" cstate="print"/>
          <a:stretch>
            <a:fillRect/>
          </a:stretch>
        </p:blipFill>
        <p:spPr>
          <a:xfrm>
            <a:off x="4572000" y="1772816"/>
            <a:ext cx="4552396" cy="3805883"/>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10" name="內容版面配置區 9" descr="7.PNG"/>
          <p:cNvPicPr>
            <a:picLocks noGrp="1" noChangeAspect="1"/>
          </p:cNvPicPr>
          <p:nvPr>
            <p:ph idx="1"/>
          </p:nvPr>
        </p:nvPicPr>
        <p:blipFill>
          <a:blip r:embed="rId2" cstate="print"/>
          <a:stretch>
            <a:fillRect/>
          </a:stretch>
        </p:blipFill>
        <p:spPr>
          <a:xfrm>
            <a:off x="-36512" y="1988840"/>
            <a:ext cx="4672509" cy="4021907"/>
          </a:xfrm>
        </p:spPr>
      </p:pic>
      <p:pic>
        <p:nvPicPr>
          <p:cNvPr id="11" name="圖片 10" descr="11.PNG"/>
          <p:cNvPicPr>
            <a:picLocks noChangeAspect="1"/>
          </p:cNvPicPr>
          <p:nvPr/>
        </p:nvPicPr>
        <p:blipFill>
          <a:blip r:embed="rId3" cstate="print"/>
          <a:stretch>
            <a:fillRect/>
          </a:stretch>
        </p:blipFill>
        <p:spPr>
          <a:xfrm>
            <a:off x="4499992" y="2106288"/>
            <a:ext cx="4698573" cy="3831779"/>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7" name="內容版面配置區 6" descr="12.PNG"/>
          <p:cNvPicPr>
            <a:picLocks noGrp="1" noChangeAspect="1"/>
          </p:cNvPicPr>
          <p:nvPr>
            <p:ph idx="1"/>
          </p:nvPr>
        </p:nvPicPr>
        <p:blipFill>
          <a:blip r:embed="rId2" cstate="print"/>
          <a:stretch>
            <a:fillRect/>
          </a:stretch>
        </p:blipFill>
        <p:spPr>
          <a:xfrm>
            <a:off x="1547664" y="1211670"/>
            <a:ext cx="5832648" cy="5313674"/>
          </a:xfr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5400">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3277</TotalTime>
  <Words>429</Words>
  <Application>Microsoft Office PowerPoint</Application>
  <PresentationFormat>如螢幕大小 (4:3)</PresentationFormat>
  <Paragraphs>168</Paragraphs>
  <Slides>16</Slides>
  <Notes>5</Notes>
  <HiddenSlides>0</HiddenSlides>
  <MMClips>0</MMClips>
  <ScaleCrop>false</ScaleCrop>
  <HeadingPairs>
    <vt:vector size="4" baseType="variant">
      <vt:variant>
        <vt:lpstr>佈景主題</vt:lpstr>
      </vt:variant>
      <vt:variant>
        <vt:i4>1</vt:i4>
      </vt:variant>
      <vt:variant>
        <vt:lpstr>投影片標題</vt:lpstr>
      </vt:variant>
      <vt:variant>
        <vt:i4>16</vt:i4>
      </vt:variant>
    </vt:vector>
  </HeadingPairs>
  <TitlesOfParts>
    <vt:vector size="17" baseType="lpstr">
      <vt:lpstr>Office 佈景主題</vt:lpstr>
      <vt:lpstr>A fast parallel algorithm for finding the longest common sequence of multiple biosequences</vt:lpstr>
      <vt:lpstr>Abstract(1/4)</vt:lpstr>
      <vt:lpstr>Abstract(2/4)</vt:lpstr>
      <vt:lpstr>Abstract(3/4)</vt:lpstr>
      <vt:lpstr>Abstract(4/4)</vt:lpstr>
      <vt:lpstr>Introduction</vt:lpstr>
      <vt:lpstr>Algorithm</vt:lpstr>
      <vt:lpstr>Algorithm</vt:lpstr>
      <vt:lpstr>Algorithm</vt:lpstr>
      <vt:lpstr>Algorithm</vt:lpstr>
      <vt:lpstr>Algorithm – Multiple alignment</vt:lpstr>
      <vt:lpstr>Experiment</vt:lpstr>
      <vt:lpstr>Experiment</vt:lpstr>
      <vt:lpstr>Experiment</vt:lpstr>
      <vt:lpstr>Experiment</vt:lpstr>
      <vt:lpstr>Experiment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185</cp:revision>
  <dcterms:created xsi:type="dcterms:W3CDTF">2019-09-15T07:43:36Z</dcterms:created>
  <dcterms:modified xsi:type="dcterms:W3CDTF">2020-12-21T06:22:26Z</dcterms:modified>
</cp:coreProperties>
</file>