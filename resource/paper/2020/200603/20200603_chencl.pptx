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8" r:id="rId3"/>
    <p:sldId id="279" r:id="rId4"/>
    <p:sldId id="282" r:id="rId5"/>
    <p:sldId id="283" r:id="rId6"/>
    <p:sldId id="284" r:id="rId7"/>
    <p:sldId id="281" r:id="rId8"/>
    <p:sldId id="287" r:id="rId9"/>
    <p:sldId id="288" r:id="rId10"/>
    <p:sldId id="289" r:id="rId11"/>
    <p:sldId id="291" r:id="rId12"/>
    <p:sldId id="292" r:id="rId13"/>
    <p:sldId id="293" r:id="rId14"/>
    <p:sldId id="294" r:id="rId15"/>
    <p:sldId id="295" r:id="rId16"/>
    <p:sldId id="290" r:id="rId17"/>
    <p:sldId id="286" r:id="rId18"/>
    <p:sldId id="296" r:id="rId19"/>
    <p:sldId id="299" r:id="rId20"/>
    <p:sldId id="300" r:id="rId21"/>
    <p:sldId id="297" r:id="rId22"/>
    <p:sldId id="301" r:id="rId23"/>
    <p:sldId id="280" r:id="rId24"/>
    <p:sldId id="260" r:id="rId25"/>
    <p:sldId id="298" r:id="rId26"/>
    <p:sldId id="267" r:id="rId2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8"/>
    <p:restoredTop sz="86964"/>
  </p:normalViewPr>
  <p:slideViewPr>
    <p:cSldViewPr snapToGrid="0" snapToObjects="1">
      <p:cViewPr varScale="1">
        <p:scale>
          <a:sx n="62" d="100"/>
          <a:sy n="62" d="100"/>
        </p:scale>
        <p:origin x="10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3B8289-430C-634B-956C-93A1DD092B20}" type="datetimeFigureOut">
              <a:rPr kumimoji="1" lang="zh-TW" altLang="en-US" smtClean="0"/>
              <a:t>2020/6/3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E94397-36E2-2E45-87E6-E091B69B03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73860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94397-36E2-2E45-87E6-E091B69B03A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5094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程偉元、高鶚</a:t>
            </a:r>
            <a:r>
              <a:rPr lang="en-US" altLang="zh-TW" dirty="0"/>
              <a:t>1791</a:t>
            </a:r>
            <a:r>
              <a:rPr lang="zh-TW" altLang="en-US" dirty="0"/>
              <a:t>、</a:t>
            </a:r>
            <a:r>
              <a:rPr lang="en-US" altLang="zh-TW" dirty="0"/>
              <a:t>1792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94397-36E2-2E45-87E6-E091B69B03A8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37324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94397-36E2-2E45-87E6-E091B69B03A8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16505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i="1" dirty="0"/>
              <a:t>趙岡是台灣人</a:t>
            </a:r>
            <a:r>
              <a:rPr kumimoji="1" lang="en-US" altLang="zh-CN" i="1" dirty="0"/>
              <a:t>—</a:t>
            </a:r>
            <a:r>
              <a:rPr kumimoji="1" lang="zh-CN" altLang="en-US" i="1" dirty="0"/>
              <a:t>中華經濟研究院工作過、</a:t>
            </a:r>
            <a:r>
              <a:rPr kumimoji="1" lang="en-US" altLang="zh-CN" i="1" dirty="0"/>
              <a:t>1980</a:t>
            </a:r>
            <a:r>
              <a:rPr kumimoji="1" lang="zh-CN" altLang="en-US" i="1" dirty="0"/>
              <a:t>年那本被收錄在維基百科</a:t>
            </a:r>
            <a:r>
              <a:rPr kumimoji="1" lang="en-US" altLang="zh-CN" i="1" dirty="0"/>
              <a:t>(</a:t>
            </a:r>
            <a:r>
              <a:rPr kumimoji="1" lang="zh-CN" altLang="en-US" i="1" dirty="0"/>
              <a:t>疑似是第一本數學統計於紅樓夢作者分析</a:t>
            </a:r>
            <a:r>
              <a:rPr kumimoji="1" lang="en-US" altLang="zh-CN" i="1" dirty="0"/>
              <a:t>)</a:t>
            </a:r>
          </a:p>
          <a:p>
            <a:r>
              <a:rPr kumimoji="1" lang="en-US" altLang="zh-CN" i="1" dirty="0"/>
              <a:t>The Federalist Paper</a:t>
            </a:r>
            <a:r>
              <a:rPr kumimoji="1" lang="zh-CN" altLang="en-US" i="1" dirty="0"/>
              <a:t>：</a:t>
            </a:r>
            <a:r>
              <a:rPr kumimoji="1" lang="en-US" altLang="zh-CN" i="1" dirty="0"/>
              <a:t>77</a:t>
            </a:r>
            <a:r>
              <a:rPr kumimoji="1" lang="zh-CN" altLang="en-US" i="1" dirty="0"/>
              <a:t>篇有</a:t>
            </a:r>
            <a:r>
              <a:rPr kumimoji="1" lang="en-US" altLang="zh-CN" i="1" dirty="0"/>
              <a:t>65</a:t>
            </a:r>
            <a:r>
              <a:rPr kumimoji="1" lang="zh-CN" altLang="en-US" i="1" dirty="0"/>
              <a:t>篇作者，但</a:t>
            </a:r>
            <a:r>
              <a:rPr kumimoji="1" lang="en-US" altLang="zh-CN" i="1" dirty="0"/>
              <a:t>12</a:t>
            </a:r>
            <a:r>
              <a:rPr kumimoji="1" lang="zh-CN" altLang="en-US" i="1" dirty="0"/>
              <a:t>篇未知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94397-36E2-2E45-87E6-E091B69B03A8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395053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94397-36E2-2E45-87E6-E091B69B03A8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547074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94397-36E2-2E45-87E6-E091B69B03A8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48844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94397-36E2-2E45-87E6-E091B69B03A8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996890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作者</a:t>
            </a:r>
            <a:r>
              <a:rPr kumimoji="1" lang="zh-CN" altLang="en-US" dirty="0"/>
              <a:t>說因為</a:t>
            </a:r>
            <a:r>
              <a:rPr kumimoji="1" lang="en-US" altLang="zh-CN" dirty="0"/>
              <a:t>”</a:t>
            </a:r>
            <a:r>
              <a:rPr kumimoji="1" lang="zh-CN" altLang="en-US" dirty="0"/>
              <a:t>兒“前</a:t>
            </a:r>
            <a:r>
              <a:rPr kumimoji="1" lang="en-US" altLang="zh-CN" dirty="0"/>
              <a:t>80</a:t>
            </a:r>
            <a:r>
              <a:rPr kumimoji="1" lang="zh-CN" altLang="en-US" dirty="0"/>
              <a:t>章與後</a:t>
            </a:r>
            <a:r>
              <a:rPr kumimoji="1" lang="en-US" altLang="zh-CN" dirty="0"/>
              <a:t>40</a:t>
            </a:r>
            <a:r>
              <a:rPr kumimoji="1" lang="zh-TW" altLang="en-US" dirty="0"/>
              <a:t>章</a:t>
            </a:r>
            <a:r>
              <a:rPr kumimoji="1" lang="zh-CN" altLang="en-US" dirty="0"/>
              <a:t>出現次數多，故可以簡便使用</a:t>
            </a:r>
            <a:r>
              <a:rPr kumimoji="1" lang="en-US" altLang="zh-CN" dirty="0"/>
              <a:t>z</a:t>
            </a:r>
            <a:r>
              <a:rPr kumimoji="1" lang="zh-CN" altLang="en-US" dirty="0"/>
              <a:t>檢定取代較難算的</a:t>
            </a:r>
            <a:r>
              <a:rPr kumimoji="1" lang="en-US" altLang="zh-CN" dirty="0"/>
              <a:t>t</a:t>
            </a:r>
            <a:r>
              <a:rPr kumimoji="1" lang="zh-CN" altLang="en-US" dirty="0"/>
              <a:t>檢定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z</a:t>
            </a:r>
            <a:r>
              <a:rPr kumimoji="1" lang="zh-CN" altLang="en-US" dirty="0"/>
              <a:t>檢定與轉</a:t>
            </a:r>
            <a:r>
              <a:rPr kumimoji="1" lang="en-US" altLang="zh-CN" dirty="0"/>
              <a:t>t</a:t>
            </a:r>
            <a:r>
              <a:rPr kumimoji="1" lang="zh-CN" altLang="en-US" dirty="0"/>
              <a:t>檢定</a:t>
            </a:r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94397-36E2-2E45-87E6-E091B69B03A8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14153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作者</a:t>
            </a:r>
            <a:r>
              <a:rPr kumimoji="1" lang="zh-CN" altLang="en-US" dirty="0"/>
              <a:t>說因為</a:t>
            </a:r>
            <a:r>
              <a:rPr kumimoji="1" lang="en-US" altLang="zh-CN" dirty="0"/>
              <a:t>”</a:t>
            </a:r>
            <a:r>
              <a:rPr kumimoji="1" lang="zh-CN" altLang="en-US" dirty="0"/>
              <a:t>兒“前</a:t>
            </a:r>
            <a:r>
              <a:rPr kumimoji="1" lang="en-US" altLang="zh-CN" dirty="0"/>
              <a:t>80</a:t>
            </a:r>
            <a:r>
              <a:rPr kumimoji="1" lang="zh-CN" altLang="en-US" dirty="0"/>
              <a:t>章與後</a:t>
            </a:r>
            <a:r>
              <a:rPr kumimoji="1" lang="en-US" altLang="zh-CN" dirty="0"/>
              <a:t>40</a:t>
            </a:r>
            <a:r>
              <a:rPr kumimoji="1" lang="zh-TW" altLang="en-US" dirty="0"/>
              <a:t>章</a:t>
            </a:r>
            <a:r>
              <a:rPr kumimoji="1" lang="zh-CN" altLang="en-US" dirty="0"/>
              <a:t>出現次數多，故可以簡便使用</a:t>
            </a:r>
            <a:r>
              <a:rPr kumimoji="1" lang="en-US" altLang="zh-CN" dirty="0"/>
              <a:t>z</a:t>
            </a:r>
            <a:r>
              <a:rPr kumimoji="1" lang="zh-CN" altLang="en-US" dirty="0"/>
              <a:t>檢定取代較難算的</a:t>
            </a:r>
            <a:r>
              <a:rPr kumimoji="1" lang="en-US" altLang="zh-CN" dirty="0"/>
              <a:t>t</a:t>
            </a:r>
            <a:r>
              <a:rPr kumimoji="1" lang="zh-CN" altLang="en-US" dirty="0"/>
              <a:t>檢定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z</a:t>
            </a:r>
            <a:r>
              <a:rPr kumimoji="1" lang="zh-CN" altLang="en-US" dirty="0"/>
              <a:t>檢定與轉</a:t>
            </a:r>
            <a:r>
              <a:rPr kumimoji="1" lang="en-US" altLang="zh-CN" dirty="0"/>
              <a:t>t</a:t>
            </a:r>
            <a:r>
              <a:rPr kumimoji="1" lang="zh-CN" altLang="en-US" dirty="0"/>
              <a:t>檢定</a:t>
            </a:r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94397-36E2-2E45-87E6-E091B69B03A8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785092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作者</a:t>
            </a:r>
            <a:r>
              <a:rPr kumimoji="1" lang="zh-CN" altLang="en-US" dirty="0"/>
              <a:t>說因為</a:t>
            </a:r>
            <a:r>
              <a:rPr kumimoji="1" lang="en-US" altLang="zh-CN" dirty="0"/>
              <a:t>”</a:t>
            </a:r>
            <a:r>
              <a:rPr kumimoji="1" lang="zh-CN" altLang="en-US" dirty="0"/>
              <a:t>兒“前</a:t>
            </a:r>
            <a:r>
              <a:rPr kumimoji="1" lang="en-US" altLang="zh-CN" dirty="0"/>
              <a:t>80</a:t>
            </a:r>
            <a:r>
              <a:rPr kumimoji="1" lang="zh-CN" altLang="en-US" dirty="0"/>
              <a:t>章與後</a:t>
            </a:r>
            <a:r>
              <a:rPr kumimoji="1" lang="en-US" altLang="zh-CN" dirty="0"/>
              <a:t>40</a:t>
            </a:r>
            <a:r>
              <a:rPr kumimoji="1" lang="zh-TW" altLang="en-US" dirty="0"/>
              <a:t>章</a:t>
            </a:r>
            <a:r>
              <a:rPr kumimoji="1" lang="zh-CN" altLang="en-US" dirty="0"/>
              <a:t>出現次數多，故可以簡便使用</a:t>
            </a:r>
            <a:r>
              <a:rPr kumimoji="1" lang="en-US" altLang="zh-CN" dirty="0"/>
              <a:t>z</a:t>
            </a:r>
            <a:r>
              <a:rPr kumimoji="1" lang="zh-CN" altLang="en-US" dirty="0"/>
              <a:t>檢定取代較難算的</a:t>
            </a:r>
            <a:r>
              <a:rPr kumimoji="1" lang="en-US" altLang="zh-CN" dirty="0"/>
              <a:t>t</a:t>
            </a:r>
            <a:r>
              <a:rPr kumimoji="1" lang="zh-CN" altLang="en-US" dirty="0"/>
              <a:t>檢定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z</a:t>
            </a:r>
            <a:r>
              <a:rPr kumimoji="1" lang="zh-CN" altLang="en-US" dirty="0"/>
              <a:t>檢定與轉</a:t>
            </a:r>
            <a:r>
              <a:rPr kumimoji="1" lang="en-US" altLang="zh-CN" dirty="0"/>
              <a:t>t</a:t>
            </a:r>
            <a:r>
              <a:rPr kumimoji="1" lang="zh-CN" altLang="en-US" dirty="0"/>
              <a:t>檢定</a:t>
            </a:r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94397-36E2-2E45-87E6-E091B69B03A8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38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作者</a:t>
            </a:r>
            <a:r>
              <a:rPr kumimoji="1" lang="zh-CN" altLang="en-US" dirty="0"/>
              <a:t>說因為</a:t>
            </a:r>
            <a:r>
              <a:rPr kumimoji="1" lang="en-US" altLang="zh-CN" dirty="0"/>
              <a:t>”</a:t>
            </a:r>
            <a:r>
              <a:rPr kumimoji="1" lang="zh-CN" altLang="en-US" dirty="0"/>
              <a:t>兒“前</a:t>
            </a:r>
            <a:r>
              <a:rPr kumimoji="1" lang="en-US" altLang="zh-CN" dirty="0"/>
              <a:t>80</a:t>
            </a:r>
            <a:r>
              <a:rPr kumimoji="1" lang="zh-CN" altLang="en-US" dirty="0"/>
              <a:t>章與後</a:t>
            </a:r>
            <a:r>
              <a:rPr kumimoji="1" lang="en-US" altLang="zh-CN" dirty="0"/>
              <a:t>40</a:t>
            </a:r>
            <a:r>
              <a:rPr kumimoji="1" lang="zh-TW" altLang="en-US" dirty="0"/>
              <a:t>章</a:t>
            </a:r>
            <a:r>
              <a:rPr kumimoji="1" lang="zh-CN" altLang="en-US" dirty="0"/>
              <a:t>出現次數多，故可以簡便使用</a:t>
            </a:r>
            <a:r>
              <a:rPr kumimoji="1" lang="en-US" altLang="zh-CN" dirty="0"/>
              <a:t>z</a:t>
            </a:r>
            <a:r>
              <a:rPr kumimoji="1" lang="zh-CN" altLang="en-US" dirty="0"/>
              <a:t>檢定取代較難算的</a:t>
            </a:r>
            <a:r>
              <a:rPr kumimoji="1" lang="en-US" altLang="zh-CN" dirty="0"/>
              <a:t>t</a:t>
            </a:r>
            <a:r>
              <a:rPr kumimoji="1" lang="zh-CN" altLang="en-US" dirty="0"/>
              <a:t>檢定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z</a:t>
            </a:r>
            <a:r>
              <a:rPr kumimoji="1" lang="zh-CN" altLang="en-US" dirty="0"/>
              <a:t>檢定與轉</a:t>
            </a:r>
            <a:r>
              <a:rPr kumimoji="1" lang="en-US" altLang="zh-CN" dirty="0"/>
              <a:t>t</a:t>
            </a:r>
            <a:r>
              <a:rPr kumimoji="1" lang="zh-CN" altLang="en-US" dirty="0"/>
              <a:t>檢定</a:t>
            </a:r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94397-36E2-2E45-87E6-E091B69B03A8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94979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94397-36E2-2E45-87E6-E091B69B03A8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86307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84393E-5897-C742-9642-D9A052990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C489EF9-A837-B54B-ACE9-C89FA3F85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925F08-ED4D-DE4A-83C5-B40BA9D8D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2020/6/3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5561CD-17B8-2540-BD15-C9AB75C5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7148B7-4B3B-F04F-94F3-3CAADFCC5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24764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61955D-0911-7F46-89A2-7B0AB9EEB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F87528-564D-1F4A-8902-02B0E2EB5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724E2D-8E8D-9644-8C9D-DB1D1C78A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2020/6/3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9D19FE-BC05-EE4D-AA8B-62522E6FB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C529EA-3208-654A-B77F-29C8F3F87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88517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6C73DE-6531-1248-9B32-37D78C629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1800AA4-3B62-BF4E-A750-7421D33FC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31AF15-5B94-4840-AAF4-8C88249C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2020/6/3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90CED8-7F54-174E-98C3-FD57308E9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04C7D3-D0B0-3D4A-ACCF-E2C5D65DE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39648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EB0910-0EB1-8D47-8A8A-C6DA98B9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EFAE1D-32F5-C744-BE03-A08D08208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703AFFD-DD14-2249-87EA-D4D0F4D8A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FA9D9CF-AC65-7547-937C-462CB4B87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2020/6/3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11A880-A8B0-8C45-9BBA-599FC839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6075468-71C7-564B-AD7A-5361E550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32437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C3852D-F421-7747-8DBB-0DB6DBC72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34D16B6-A3BC-F74C-95A3-90442D97E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0FA2C45-D986-F543-82AE-0CA924B6E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A14E94A-A453-F24C-9F3D-6509D772D2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2294A5F-C2BE-1E4A-A1B8-115A18F0B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F9AE945-0A1E-F844-9F27-0E69C6467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2020/6/3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85A71B7-7896-6444-BE7D-61E604E6B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04A0783-9D55-FE44-831C-3B9D3276C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9657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641A76-0788-DF4B-AA7D-78E4E40FB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4F88631-6170-E741-893F-034159CE7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2020/6/3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2996335-0723-1747-9227-55FEB623B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2CB33A-6712-FB46-9E30-E0CEB6960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28869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6D90877-E774-A949-BB52-79612810F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2020/6/3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EB10E54-D05D-AC49-9434-8CEBCA790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BDD14E-F21A-3942-85C4-674F30305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28851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D07E89-25A4-3F4A-88C3-2C9334834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6940F6-FE29-6648-A2BE-7504DBF6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B68625D-6DF6-D942-A625-2C47CAC2C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6FFD26C-D0BD-3741-A99D-EF6E615C6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2020/6/3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4063BE9-7877-2A4C-8EFD-CEA183E54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208AFB-457C-CC45-8298-46F2DA47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21687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157BA1-6B48-DE4F-9C0A-09422C6F7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5C9B1AF-140D-3845-B81F-42558E147D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7EB01ED-FD15-C34B-B1FC-2E35B2760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BCB2AB-9052-5D4E-A22E-DF5D21D44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2020/6/3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923C13-AB2A-9B43-850E-220EB442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E2BA8FE-CD93-F24F-870A-60F2CACA7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81418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1FBC41-076D-604D-9767-145047CFE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20D5BC6-792B-E749-B7E0-08A763B77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EF182E-7140-5D4D-88A7-840ED6890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2020/6/3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E41427-E252-3343-A75E-B1BA8D182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30D2C8-9823-1049-BDD9-711EE5734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8126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1840DD2-A5F5-7344-BB1C-BEBDBFDF77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F95D08A-70C7-7245-88A1-DED901775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B7C2F8-DA6F-284E-8686-4FBCAC5D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2020/6/3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DEFA0B-7671-7F4B-AC38-12B670365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EC7011-F710-9243-8FF5-1777A21D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89749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1D70FF8-812F-1849-95D4-3632E65D7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0DFF90-9F2B-6F45-AB9D-B9B660DFB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5609CE-15C5-6643-A5A9-FBB1F99B6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C24E8-FD77-674B-9940-5378D0BFF31E}" type="datetimeFigureOut">
              <a:rPr kumimoji="1" lang="zh-TW" altLang="en-US" smtClean="0"/>
              <a:t>2020/6/3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CB14FC-524A-6C4E-AA1D-1443A956A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0285D5-567D-A74A-BA02-000936A8A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50692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D67D7F-00E7-9344-8042-5D9F2C926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672420"/>
            <a:ext cx="11968742" cy="2387600"/>
          </a:xfrm>
        </p:spPr>
        <p:txBody>
          <a:bodyPr>
            <a:normAutofit/>
          </a:bodyPr>
          <a:lstStyle/>
          <a:p>
            <a:r>
              <a:rPr lang="zh-CN" altLang="en-US" dirty="0"/>
              <a:t>統計在紅樓夢上的應用</a:t>
            </a:r>
            <a:endParaRPr lang="en" altLang="zh-TW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43C5B20-21F7-DC41-814C-7D9F6199B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6628" y="3602038"/>
            <a:ext cx="9898743" cy="1655762"/>
          </a:xfrm>
        </p:spPr>
        <p:txBody>
          <a:bodyPr>
            <a:normAutofit/>
          </a:bodyPr>
          <a:lstStyle/>
          <a:p>
            <a:r>
              <a:rPr lang="en-US" altLang="zh-TW" sz="2800" dirty="0"/>
              <a:t>1998</a:t>
            </a:r>
            <a:endParaRPr lang="en" altLang="zh-TW" sz="2800" dirty="0"/>
          </a:p>
          <a:p>
            <a:r>
              <a:rPr lang="zh-CN" altLang="en-US" dirty="0"/>
              <a:t>政治大學統計系教授余清祥</a:t>
            </a:r>
            <a:endParaRPr lang="en" altLang="zh-TW" sz="28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EB66EE6-AF71-1643-8388-238FADD7E896}"/>
              </a:ext>
            </a:extLst>
          </p:cNvPr>
          <p:cNvSpPr txBox="1"/>
          <p:nvPr/>
        </p:nvSpPr>
        <p:spPr>
          <a:xfrm>
            <a:off x="9610725" y="6029325"/>
            <a:ext cx="2358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Present: Chia-Lin, Chen</a:t>
            </a:r>
          </a:p>
          <a:p>
            <a:r>
              <a:rPr kumimoji="1" lang="en-US" altLang="zh-TW" dirty="0"/>
              <a:t>Date: June 3</a:t>
            </a:r>
            <a:r>
              <a:rPr kumimoji="1" lang="en-US" altLang="zh-TW" baseline="30000" dirty="0"/>
              <a:t>rd</a:t>
            </a:r>
            <a:r>
              <a:rPr kumimoji="1" lang="en-US" altLang="zh-TW" dirty="0"/>
              <a:t> , 2020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7523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DC68A8-0E16-1C4B-B914-ACA13A583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摘要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1BC5A51-D5D2-5543-BC8E-27CAD4E54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TW" altLang="en-US" dirty="0">
                <a:latin typeface="+mn-ea"/>
              </a:rPr>
              <a:t>「紅樓夢」為近代文學的一大鉅著，堪稱古典小說的代表作品，然而作者 是誰，始終是未解的謎。在一般的認知中，紅樓夢是曹雪芹所作及高鶚編纂， 但專家對於本書之前八十回與後四十回是否為同一位作者仍無定論。本研究藉 由統計方法</a:t>
            </a:r>
            <a:r>
              <a:rPr lang="en-US" altLang="zh-TW" dirty="0">
                <a:latin typeface="+mn-ea"/>
              </a:rPr>
              <a:t>(</a:t>
            </a:r>
            <a:r>
              <a:rPr lang="zh-TW" altLang="en-US" dirty="0">
                <a:latin typeface="+mn-ea"/>
              </a:rPr>
              <a:t>包括變動點分析</a:t>
            </a:r>
            <a:r>
              <a:rPr lang="en-US" altLang="zh-TW" dirty="0">
                <a:latin typeface="+mn-ea"/>
              </a:rPr>
              <a:t>)</a:t>
            </a:r>
            <a:r>
              <a:rPr lang="zh-TW" altLang="en-US" dirty="0">
                <a:latin typeface="+mn-ea"/>
              </a:rPr>
              <a:t>，將「紅樓夢」中的文字敘述數量化，用以分 析作者的寫作風格，進而尋求解答「紅樓夢」作者的可能性。本文所採用之紅 樓夢版本，以「庚辰本」及「程甲本」為主要研究書目；而以「紅樓夢校註」 為輔</a:t>
            </a:r>
            <a:r>
              <a:rPr lang="en-US" altLang="zh-TW" dirty="0">
                <a:latin typeface="+mn-ea"/>
              </a:rPr>
              <a:t>(</a:t>
            </a:r>
            <a:r>
              <a:rPr lang="zh-TW" altLang="en-US" dirty="0">
                <a:latin typeface="+mn-ea"/>
              </a:rPr>
              <a:t>註</a:t>
            </a:r>
            <a:r>
              <a:rPr lang="en-US" altLang="zh-TW" dirty="0">
                <a:latin typeface="+mn-ea"/>
              </a:rPr>
              <a:t>1)</a:t>
            </a:r>
            <a:r>
              <a:rPr lang="zh-TW" altLang="en-US" dirty="0">
                <a:latin typeface="+mn-ea"/>
              </a:rPr>
              <a:t>。統計分析則以</a:t>
            </a:r>
            <a:r>
              <a:rPr lang="en" altLang="zh-TW" dirty="0">
                <a:latin typeface="+mn-ea"/>
              </a:rPr>
              <a:t>Minitab</a:t>
            </a:r>
            <a:r>
              <a:rPr lang="zh-TW" altLang="en" dirty="0">
                <a:latin typeface="+mn-ea"/>
              </a:rPr>
              <a:t>、</a:t>
            </a:r>
            <a:r>
              <a:rPr lang="en" altLang="zh-TW" dirty="0" err="1">
                <a:latin typeface="+mn-ea"/>
              </a:rPr>
              <a:t>SPlus</a:t>
            </a:r>
            <a:r>
              <a:rPr lang="zh-TW" altLang="en-US" dirty="0">
                <a:latin typeface="+mn-ea"/>
              </a:rPr>
              <a:t>等軟體為輔助工具。 </a:t>
            </a:r>
          </a:p>
        </p:txBody>
      </p:sp>
    </p:spTree>
    <p:extLst>
      <p:ext uri="{BB962C8B-B14F-4D97-AF65-F5344CB8AC3E}">
        <p14:creationId xmlns:p14="http://schemas.microsoft.com/office/powerpoint/2010/main" val="3506045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C8232C-51DB-C649-BF24-9E1172937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報告之順序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0901E14-4213-764C-AB7C-B4D6B3298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zh-TW" altLang="en-US" dirty="0">
                <a:latin typeface="+mn-ea"/>
              </a:rPr>
              <a:t>一、</a:t>
            </a:r>
            <a:r>
              <a:rPr kumimoji="1" lang="en-US" altLang="zh-TW" dirty="0">
                <a:latin typeface="+mn-ea"/>
              </a:rPr>
              <a:t>&lt;&lt;</a:t>
            </a:r>
            <a:r>
              <a:rPr kumimoji="1" lang="zh-CN" altLang="en-US" dirty="0">
                <a:latin typeface="+mn-ea"/>
              </a:rPr>
              <a:t>紅樓夢</a:t>
            </a:r>
            <a:r>
              <a:rPr kumimoji="1" lang="en-US" altLang="zh-CN" dirty="0">
                <a:latin typeface="+mn-ea"/>
              </a:rPr>
              <a:t>&gt;&gt;</a:t>
            </a:r>
            <a:r>
              <a:rPr kumimoji="1" lang="zh-TW" altLang="en-US" dirty="0">
                <a:latin typeface="+mn-ea"/>
              </a:rPr>
              <a:t>簡介</a:t>
            </a:r>
            <a:endParaRPr kumimoji="1" lang="en-US" altLang="zh-TW" dirty="0">
              <a:latin typeface="+mn-ea"/>
            </a:endParaRPr>
          </a:p>
          <a:p>
            <a:pPr marL="0" indent="0">
              <a:buNone/>
            </a:pPr>
            <a:r>
              <a:rPr kumimoji="1" lang="zh-TW" altLang="en-US" dirty="0">
                <a:latin typeface="+mn-ea"/>
              </a:rPr>
              <a:t>二、文獻探討</a:t>
            </a:r>
            <a:endParaRPr kumimoji="1" lang="en-US" altLang="zh-TW" dirty="0">
              <a:latin typeface="+mn-ea"/>
            </a:endParaRPr>
          </a:p>
          <a:p>
            <a:pPr marL="0" indent="0">
              <a:buNone/>
            </a:pPr>
            <a:r>
              <a:rPr kumimoji="1" lang="zh-TW" altLang="en-US" dirty="0">
                <a:latin typeface="+mn-ea"/>
              </a:rPr>
              <a:t>三、研究方法</a:t>
            </a:r>
            <a:endParaRPr kumimoji="1" lang="en-US" altLang="zh-TW" dirty="0">
              <a:latin typeface="+mn-ea"/>
            </a:endParaRPr>
          </a:p>
          <a:p>
            <a:pPr marL="0" indent="0">
              <a:buNone/>
            </a:pPr>
            <a:r>
              <a:rPr kumimoji="1" lang="zh-TW" altLang="en-US" dirty="0">
                <a:latin typeface="+mn-ea"/>
              </a:rPr>
              <a:t>四、結論</a:t>
            </a:r>
            <a:endParaRPr kumimoji="1" lang="en-US" altLang="zh-TW" dirty="0">
              <a:latin typeface="+mn-ea"/>
            </a:endParaRPr>
          </a:p>
          <a:p>
            <a:pPr marL="0" indent="0">
              <a:buNone/>
            </a:pPr>
            <a:r>
              <a:rPr kumimoji="1" lang="zh-TW" altLang="en-US" dirty="0">
                <a:latin typeface="+mn-ea"/>
              </a:rPr>
              <a:t>五、</a:t>
            </a:r>
            <a:r>
              <a:rPr kumimoji="1" lang="zh-CN" altLang="en-US" dirty="0">
                <a:latin typeface="+mn-ea"/>
              </a:rPr>
              <a:t>維基百科上解釋數理統計於紅樓夢之爭議處</a:t>
            </a:r>
            <a:endParaRPr kumimoji="1" lang="en-US" altLang="zh-TW" dirty="0">
              <a:latin typeface="+mn-ea"/>
            </a:endParaRPr>
          </a:p>
          <a:p>
            <a:pPr marL="0" indent="0">
              <a:buNone/>
            </a:pPr>
            <a:endParaRPr kumimoji="1" lang="en-US" altLang="zh-TW" dirty="0">
              <a:latin typeface="+mn-ea"/>
            </a:endParaRPr>
          </a:p>
          <a:p>
            <a:pPr marL="0" indent="0">
              <a:buNone/>
            </a:pPr>
            <a:endParaRPr kumimoji="1" lang="en-US" altLang="zh-TW" dirty="0">
              <a:latin typeface="+mn-ea"/>
            </a:endParaRPr>
          </a:p>
          <a:p>
            <a:endParaRPr kumimoji="1" lang="zh-TW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12014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113344-D4FF-C749-AF87-D879E8529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一、</a:t>
            </a:r>
            <a:r>
              <a:rPr kumimoji="1" lang="en-US" altLang="zh-TW" dirty="0"/>
              <a:t>&lt;&lt;</a:t>
            </a:r>
            <a:r>
              <a:rPr kumimoji="1" lang="zh-CN" altLang="en-US" dirty="0"/>
              <a:t>紅樓夢</a:t>
            </a:r>
            <a:r>
              <a:rPr kumimoji="1" lang="en-US" altLang="zh-CN" dirty="0"/>
              <a:t>&gt;&gt;</a:t>
            </a:r>
            <a:r>
              <a:rPr kumimoji="1" lang="zh-TW" altLang="en-US" dirty="0"/>
              <a:t>簡介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8BEDF7-4776-5544-BAF7-BE393A6E42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清朝、曹雪芹</a:t>
            </a:r>
            <a:endParaRPr kumimoji="1" lang="en-US" altLang="zh-TW" dirty="0"/>
          </a:p>
          <a:p>
            <a:r>
              <a:rPr kumimoji="1" lang="en-US" altLang="zh-TW" dirty="0"/>
              <a:t>79</a:t>
            </a:r>
            <a:r>
              <a:rPr kumimoji="1" lang="zh-TW" altLang="en-US" dirty="0"/>
              <a:t>萬字</a:t>
            </a:r>
            <a:r>
              <a:rPr kumimoji="1" lang="en-US" altLang="zh-TW" dirty="0"/>
              <a:t>(</a:t>
            </a:r>
            <a:r>
              <a:rPr kumimoji="1" lang="zh-TW" altLang="en-US" dirty="0"/>
              <a:t>康熙字典收錄</a:t>
            </a:r>
            <a:r>
              <a:rPr kumimoji="1" lang="zh-CN" altLang="en-US" dirty="0"/>
              <a:t>中文字</a:t>
            </a:r>
            <a:r>
              <a:rPr kumimoji="1" lang="zh-TW" altLang="en-US" dirty="0"/>
              <a:t>總</a:t>
            </a:r>
            <a:r>
              <a:rPr kumimoji="1" lang="zh-CN" altLang="en-US" dirty="0"/>
              <a:t>共</a:t>
            </a:r>
            <a:r>
              <a:rPr kumimoji="1" lang="en-US" altLang="zh-CN" dirty="0"/>
              <a:t>4.7</a:t>
            </a:r>
            <a:r>
              <a:rPr kumimoji="1" lang="zh-CN" altLang="en-US" dirty="0"/>
              <a:t>萬字</a:t>
            </a:r>
            <a:r>
              <a:rPr kumimoji="1" lang="en-US" altLang="zh-CN" dirty="0"/>
              <a:t>)</a:t>
            </a:r>
          </a:p>
          <a:p>
            <a:r>
              <a:rPr kumimoji="1" lang="zh-TW" altLang="en-US" dirty="0">
                <a:solidFill>
                  <a:srgbClr val="FF0000"/>
                </a:solidFill>
              </a:rPr>
              <a:t>脂本</a:t>
            </a:r>
            <a:r>
              <a:rPr kumimoji="1" lang="en-US" altLang="zh-TW" dirty="0"/>
              <a:t>V.S.</a:t>
            </a:r>
            <a:r>
              <a:rPr kumimoji="1" lang="zh-CN" altLang="en-US" dirty="0">
                <a:solidFill>
                  <a:srgbClr val="0070C0"/>
                </a:solidFill>
              </a:rPr>
              <a:t>非脂本</a:t>
            </a:r>
            <a:r>
              <a:rPr kumimoji="1" lang="en-US" altLang="zh-CN" dirty="0"/>
              <a:t>(</a:t>
            </a:r>
            <a:r>
              <a:rPr lang="zh-TW" altLang="en-US" dirty="0"/>
              <a:t>程偉元、高鶚</a:t>
            </a:r>
            <a:r>
              <a:rPr lang="en-US" altLang="zh-TW" dirty="0"/>
              <a:t>1791</a:t>
            </a:r>
            <a:r>
              <a:rPr lang="zh-TW" altLang="en-US" dirty="0"/>
              <a:t>、</a:t>
            </a:r>
            <a:r>
              <a:rPr lang="en-US" altLang="zh-TW" dirty="0"/>
              <a:t>1792</a:t>
            </a:r>
            <a:r>
              <a:rPr lang="zh-CN" altLang="en-US" dirty="0"/>
              <a:t>年作</a:t>
            </a:r>
            <a:r>
              <a:rPr lang="en-US" altLang="zh-TW" dirty="0"/>
              <a:t>)</a:t>
            </a:r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甲戌本</a:t>
            </a:r>
            <a:r>
              <a:rPr lang="en-US" altLang="zh-TW" dirty="0">
                <a:solidFill>
                  <a:srgbClr val="FF0000"/>
                </a:solidFill>
              </a:rPr>
              <a:t>(1754)</a:t>
            </a:r>
            <a:r>
              <a:rPr lang="zh-CN" altLang="en-US" dirty="0">
                <a:solidFill>
                  <a:srgbClr val="FF0000"/>
                </a:solidFill>
              </a:rPr>
              <a:t>、己卯本、</a:t>
            </a:r>
            <a:r>
              <a:rPr lang="zh-CN" altLang="en-US" b="1" u="sng" dirty="0">
                <a:solidFill>
                  <a:srgbClr val="FF0000"/>
                </a:solidFill>
              </a:rPr>
              <a:t>庚辰本</a:t>
            </a:r>
            <a:r>
              <a:rPr lang="en-US" altLang="zh-CN" b="1" u="sng" dirty="0">
                <a:solidFill>
                  <a:srgbClr val="FF0000"/>
                </a:solidFill>
              </a:rPr>
              <a:t>(1760)</a:t>
            </a:r>
            <a:r>
              <a:rPr lang="zh-CN" altLang="en-US" dirty="0">
                <a:solidFill>
                  <a:srgbClr val="FF0000"/>
                </a:solidFill>
              </a:rPr>
              <a:t>、甲辰本、</a:t>
            </a:r>
            <a:r>
              <a:rPr lang="zh-TW" altLang="en-US" dirty="0">
                <a:solidFill>
                  <a:srgbClr val="FF0000"/>
                </a:solidFill>
              </a:rPr>
              <a:t>戚本</a:t>
            </a:r>
            <a:r>
              <a:rPr lang="zh-TW" altLang="en-US" dirty="0"/>
              <a:t>。</a:t>
            </a:r>
            <a:r>
              <a:rPr lang="zh-CN" altLang="en-US" dirty="0">
                <a:solidFill>
                  <a:srgbClr val="0070C0"/>
                </a:solidFill>
              </a:rPr>
              <a:t>程甲本、程乙本</a:t>
            </a:r>
            <a:r>
              <a:rPr lang="zh-CN" altLang="en-US" dirty="0"/>
              <a:t>。</a:t>
            </a:r>
            <a:endParaRPr kumimoji="1" lang="en-US" altLang="zh-CN" dirty="0"/>
          </a:p>
          <a:p>
            <a:pPr marL="0" indent="0">
              <a:buNone/>
            </a:pPr>
            <a:r>
              <a:rPr kumimoji="1" lang="en-US" altLang="zh-TW" dirty="0"/>
              <a:t>         </a:t>
            </a:r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7666330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391D9E-9D68-8D40-BB9A-DB9F5C26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二、文獻探討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266F89-B8E1-CD4D-8BFC-6559824B91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中文：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1980</a:t>
            </a:r>
            <a:r>
              <a:rPr kumimoji="1" lang="zh-CN" altLang="en-US" dirty="0"/>
              <a:t>年趙岡用</a:t>
            </a:r>
            <a:r>
              <a:rPr kumimoji="1" lang="en-US" altLang="zh-CN" dirty="0"/>
              <a:t>『</a:t>
            </a:r>
            <a:r>
              <a:rPr kumimoji="1" lang="zh-CN" altLang="en-US" dirty="0"/>
              <a:t>兒</a:t>
            </a:r>
            <a:r>
              <a:rPr kumimoji="1" lang="en-US" altLang="zh-CN" dirty="0"/>
              <a:t>』</a:t>
            </a:r>
            <a:r>
              <a:rPr kumimoji="1" lang="zh-CN" altLang="en-US" dirty="0"/>
              <a:t>、</a:t>
            </a:r>
            <a:r>
              <a:rPr kumimoji="1" lang="en-US" altLang="zh-CN" dirty="0"/>
              <a:t> 『</a:t>
            </a:r>
            <a:r>
              <a:rPr kumimoji="1" lang="zh-CN" altLang="en-US" dirty="0"/>
              <a:t>在</a:t>
            </a:r>
            <a:r>
              <a:rPr kumimoji="1" lang="en-US" altLang="zh-CN" dirty="0"/>
              <a:t>』</a:t>
            </a:r>
            <a:r>
              <a:rPr kumimoji="1" lang="zh-CN" altLang="en-US" dirty="0"/>
              <a:t>、</a:t>
            </a:r>
            <a:r>
              <a:rPr kumimoji="1" lang="en-US" altLang="zh-CN" dirty="0"/>
              <a:t> 『</a:t>
            </a:r>
            <a:r>
              <a:rPr kumimoji="1" lang="zh-CN" altLang="en-US" dirty="0"/>
              <a:t>了</a:t>
            </a:r>
            <a:r>
              <a:rPr kumimoji="1" lang="en-US" altLang="zh-CN" dirty="0"/>
              <a:t>』</a:t>
            </a:r>
            <a:r>
              <a:rPr kumimoji="1" lang="zh-CN" altLang="en-US" dirty="0"/>
              <a:t>、</a:t>
            </a:r>
            <a:r>
              <a:rPr kumimoji="1" lang="en-US" altLang="zh-CN" dirty="0"/>
              <a:t> 『</a:t>
            </a:r>
            <a:r>
              <a:rPr kumimoji="1" lang="zh-CN" altLang="en-US" dirty="0"/>
              <a:t>的</a:t>
            </a:r>
            <a:r>
              <a:rPr kumimoji="1" lang="en-US" altLang="zh-CN" dirty="0"/>
              <a:t>』</a:t>
            </a:r>
            <a:r>
              <a:rPr kumimoji="1" lang="zh-CN" altLang="en-US" dirty="0"/>
              <a:t>、</a:t>
            </a:r>
            <a:r>
              <a:rPr kumimoji="1" lang="en-US" altLang="zh-CN" dirty="0"/>
              <a:t> 『</a:t>
            </a:r>
            <a:r>
              <a:rPr kumimoji="1" lang="zh-CN" altLang="en-US" dirty="0"/>
              <a:t>著</a:t>
            </a:r>
            <a:r>
              <a:rPr kumimoji="1" lang="en-US" altLang="zh-CN" dirty="0"/>
              <a:t>』</a:t>
            </a:r>
            <a:r>
              <a:rPr kumimoji="1" lang="zh-CN" altLang="en-US" dirty="0"/>
              <a:t>五個虛詞做比較，採</a:t>
            </a:r>
            <a:r>
              <a:rPr kumimoji="1" lang="en-US" altLang="zh-CN" dirty="0"/>
              <a:t>t</a:t>
            </a:r>
            <a:r>
              <a:rPr kumimoji="1" lang="zh-CN" altLang="en-US" dirty="0"/>
              <a:t>檢定。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  <a:p>
            <a:r>
              <a:rPr kumimoji="1" lang="zh-TW" altLang="en-US" dirty="0"/>
              <a:t>英</a:t>
            </a:r>
            <a:r>
              <a:rPr kumimoji="1" lang="zh-CN" altLang="en-US" dirty="0"/>
              <a:t>文：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1984</a:t>
            </a:r>
            <a:r>
              <a:rPr kumimoji="1" lang="zh-CN" altLang="en-US" dirty="0"/>
              <a:t>年</a:t>
            </a:r>
            <a:r>
              <a:rPr kumimoji="1" lang="en-US" altLang="zh-CN" dirty="0"/>
              <a:t>Frederick</a:t>
            </a:r>
            <a:r>
              <a:rPr kumimoji="1" lang="zh-CN" altLang="en-US" dirty="0"/>
              <a:t>採貝式分析技巧分析</a:t>
            </a:r>
            <a:r>
              <a:rPr kumimoji="1" lang="en-US" altLang="zh-CN" i="1" dirty="0"/>
              <a:t>&lt;&lt;The Federalist Paper&gt;&gt;</a:t>
            </a:r>
            <a:r>
              <a:rPr kumimoji="1" lang="zh-CN" altLang="en-US" dirty="0"/>
              <a:t>作者</a:t>
            </a:r>
            <a:endParaRPr kumimoji="1" lang="en-US" altLang="zh-TW" dirty="0"/>
          </a:p>
          <a:p>
            <a:pPr lvl="1"/>
            <a:r>
              <a:rPr kumimoji="1" lang="en-US" altLang="zh-CN" dirty="0"/>
              <a:t>1976</a:t>
            </a:r>
            <a:r>
              <a:rPr kumimoji="1" lang="zh-CN" altLang="en-US" dirty="0"/>
              <a:t>年</a:t>
            </a:r>
            <a:r>
              <a:rPr kumimoji="1" lang="en-US" altLang="zh-CN" dirty="0"/>
              <a:t>Bradley</a:t>
            </a:r>
            <a:r>
              <a:rPr kumimoji="1" lang="zh-CN" altLang="en-US" dirty="0"/>
              <a:t>針對詞頻研究</a:t>
            </a:r>
            <a:r>
              <a:rPr kumimoji="1" lang="en-US" altLang="zh-CN" dirty="0"/>
              <a:t>Shakespeare</a:t>
            </a:r>
            <a:r>
              <a:rPr kumimoji="1" lang="zh-CN" altLang="en-US" dirty="0"/>
              <a:t>詩集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257939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2B266B-FCB3-7C4E-B6BE-DBAA0163B5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645" y="1825625"/>
            <a:ext cx="11798710" cy="5995020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Attention is All You Need[2017] Google Brain</a:t>
            </a:r>
          </a:p>
          <a:p>
            <a:r>
              <a:rPr kumimoji="1" lang="en-US" altLang="zh-TW" dirty="0" err="1"/>
              <a:t>AnonyMine</a:t>
            </a:r>
            <a:r>
              <a:rPr kumimoji="1" lang="en-US" altLang="zh-TW" dirty="0"/>
              <a:t>: Mining anonymous social media posts[2016] </a:t>
            </a:r>
            <a:r>
              <a:rPr kumimoji="1" lang="en-US" altLang="zh-TW" dirty="0" err="1"/>
              <a:t>Arindan</a:t>
            </a:r>
            <a:r>
              <a:rPr kumimoji="1" lang="en-US" altLang="zh-TW" dirty="0"/>
              <a:t> Paul</a:t>
            </a:r>
          </a:p>
          <a:p>
            <a:r>
              <a:rPr kumimoji="1" lang="en-US" altLang="zh-TW" dirty="0"/>
              <a:t>Sequential Short-Text Classification with Recurrent and Convolutional Neural Network[2016] Ji Yang Lee</a:t>
            </a:r>
          </a:p>
          <a:p>
            <a:r>
              <a:rPr kumimoji="1" lang="en-US" altLang="zh-TW" dirty="0"/>
              <a:t>Using Millions of Emoji Occurrences to Learn[2017] Bjarke </a:t>
            </a:r>
            <a:r>
              <a:rPr kumimoji="1" lang="en-US" altLang="zh-TW" dirty="0" err="1"/>
              <a:t>Felbo</a:t>
            </a:r>
            <a:endParaRPr kumimoji="1" lang="en-US" altLang="zh-TW" dirty="0"/>
          </a:p>
          <a:p>
            <a:r>
              <a:rPr kumimoji="1" lang="en-US" altLang="zh-TW" dirty="0"/>
              <a:t>Short Text Classification Improved by Learning Multi-Granularity Topics[2011] </a:t>
            </a:r>
            <a:r>
              <a:rPr kumimoji="1" lang="en-US" altLang="zh-TW" dirty="0" err="1"/>
              <a:t>Mongen</a:t>
            </a:r>
            <a:r>
              <a:rPr kumimoji="1" lang="en-US" altLang="zh-TW" dirty="0"/>
              <a:t> Chen</a:t>
            </a:r>
          </a:p>
          <a:p>
            <a:r>
              <a:rPr kumimoji="1" lang="en-US" altLang="zh-TW" dirty="0"/>
              <a:t>Short Text Classification in Twitter to Improve Information </a:t>
            </a:r>
            <a:r>
              <a:rPr kumimoji="1" lang="en-US" altLang="zh-TW" dirty="0" err="1"/>
              <a:t>Filting</a:t>
            </a:r>
            <a:r>
              <a:rPr kumimoji="1" lang="en-US" altLang="zh-TW" dirty="0"/>
              <a:t>[2010] Bharath </a:t>
            </a:r>
            <a:r>
              <a:rPr kumimoji="1" lang="en-US" altLang="zh-TW" dirty="0" err="1"/>
              <a:t>Sriran</a:t>
            </a:r>
            <a:endParaRPr kumimoji="1" lang="en-US" altLang="zh-TW" dirty="0"/>
          </a:p>
          <a:p>
            <a:r>
              <a:rPr kumimoji="1" lang="en-US" altLang="zh-TW" dirty="0"/>
              <a:t>Recurrent Convolutional Neural Network for Text Classification[2015] </a:t>
            </a:r>
            <a:r>
              <a:rPr kumimoji="1" lang="en-US" altLang="zh-TW" dirty="0" err="1"/>
              <a:t>Siwei</a:t>
            </a:r>
            <a:r>
              <a:rPr kumimoji="1" lang="en-US" altLang="zh-TW" dirty="0"/>
              <a:t> Lai</a:t>
            </a:r>
          </a:p>
          <a:p>
            <a:endParaRPr kumimoji="1" lang="zh-TW" altLang="en-US" dirty="0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5F3106FF-602E-414E-BFF7-774C94062A99}"/>
              </a:ext>
            </a:extLst>
          </p:cNvPr>
          <p:cNvSpPr txBox="1">
            <a:spLocks/>
          </p:cNvSpPr>
          <p:nvPr/>
        </p:nvSpPr>
        <p:spPr>
          <a:xfrm>
            <a:off x="838200" y="50006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TW" altLang="en-US" dirty="0"/>
              <a:t>二、文獻探討（</a:t>
            </a:r>
            <a:r>
              <a:rPr kumimoji="1" lang="zh-CN" altLang="en-US" dirty="0"/>
              <a:t>我看過的論文</a:t>
            </a:r>
            <a:r>
              <a:rPr kumimoji="1" lang="zh-TW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930325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F0DAC1-4086-4240-9134-EAE690C8F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三、研究方法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087F42-0435-314E-82F2-0314F021C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457200" lvl="1" indent="0">
              <a:buNone/>
            </a:pPr>
            <a:endParaRPr kumimoji="1" lang="en-US" altLang="zh-TW" dirty="0"/>
          </a:p>
          <a:p>
            <a:r>
              <a:rPr kumimoji="1" lang="zh-TW" altLang="en-US" dirty="0"/>
              <a:t>研究方法：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法一：假定前八十回及後四十回來自兩個不同的主體，並採用兩個樣本的方法檢定。</a:t>
            </a:r>
            <a:endParaRPr kumimoji="1" lang="en-US" altLang="zh-TW" dirty="0"/>
          </a:p>
          <a:p>
            <a:pPr lvl="1"/>
            <a:r>
              <a:rPr kumimoji="1" lang="zh-CN" altLang="en-US" dirty="0"/>
              <a:t>結構研究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詩詞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虛詞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其他字詞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『</a:t>
            </a:r>
            <a:r>
              <a:rPr kumimoji="1" lang="zh-CN" altLang="en-US" dirty="0"/>
              <a:t>下回分解</a:t>
            </a:r>
            <a:r>
              <a:rPr kumimoji="1" lang="en-US" altLang="zh-CN" dirty="0"/>
              <a:t>』</a:t>
            </a:r>
          </a:p>
          <a:p>
            <a:pPr lvl="2"/>
            <a:r>
              <a:rPr kumimoji="1" lang="zh-CN" altLang="en-US" dirty="0"/>
              <a:t>綜合分析</a:t>
            </a:r>
            <a:endParaRPr kumimoji="1" lang="en-US" altLang="zh-CN" dirty="0"/>
          </a:p>
          <a:p>
            <a:pPr lvl="2"/>
            <a:endParaRPr kumimoji="1" lang="en-US" altLang="zh-TW" dirty="0"/>
          </a:p>
          <a:p>
            <a:pPr lvl="1"/>
            <a:r>
              <a:rPr kumimoji="1" lang="zh-TW" altLang="en-US" dirty="0"/>
              <a:t>法二：假設全書一百二十回來自同一主體，使用變動點問題方法檢定。</a:t>
            </a:r>
          </a:p>
        </p:txBody>
      </p:sp>
    </p:spTree>
    <p:extLst>
      <p:ext uri="{BB962C8B-B14F-4D97-AF65-F5344CB8AC3E}">
        <p14:creationId xmlns:p14="http://schemas.microsoft.com/office/powerpoint/2010/main" val="3656534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04B18552-8241-CA4C-B81F-388FBE812C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677534" y="1721321"/>
            <a:ext cx="2198673" cy="2516400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489E034C-E419-E948-B72E-D6D55C1D3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96" y="-164568"/>
            <a:ext cx="10515600" cy="1325563"/>
          </a:xfrm>
        </p:spPr>
        <p:txBody>
          <a:bodyPr/>
          <a:lstStyle/>
          <a:p>
            <a:r>
              <a:rPr kumimoji="1" lang="zh-TW" altLang="en-US" dirty="0"/>
              <a:t>三、研究方法</a:t>
            </a:r>
            <a:r>
              <a:rPr kumimoji="1" lang="en-US" altLang="zh-TW" dirty="0"/>
              <a:t>--</a:t>
            </a:r>
            <a:r>
              <a:rPr kumimoji="1" lang="zh-CN" altLang="en-US" dirty="0"/>
              <a:t>結構研究：詩詞與虛詞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3DC76D0-65D6-D74D-A6D7-7E1C54CEA3FD}"/>
              </a:ext>
            </a:extLst>
          </p:cNvPr>
          <p:cNvSpPr txBox="1"/>
          <p:nvPr/>
        </p:nvSpPr>
        <p:spPr>
          <a:xfrm>
            <a:off x="8316429" y="1256492"/>
            <a:ext cx="3038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1980</a:t>
            </a:r>
            <a:r>
              <a:rPr kumimoji="1" lang="zh-CN" altLang="en-US" dirty="0"/>
              <a:t>年趙岡</a:t>
            </a:r>
            <a:r>
              <a:rPr kumimoji="1" lang="en-US" altLang="zh-CN" dirty="0">
                <a:solidFill>
                  <a:srgbClr val="FF0000"/>
                </a:solidFill>
              </a:rPr>
              <a:t>t</a:t>
            </a:r>
            <a:r>
              <a:rPr kumimoji="1" lang="zh-CN" altLang="en-US" dirty="0">
                <a:solidFill>
                  <a:srgbClr val="FF0000"/>
                </a:solidFill>
              </a:rPr>
              <a:t>檢定</a:t>
            </a:r>
            <a:r>
              <a:rPr kumimoji="1" lang="zh-CN" altLang="en-US" dirty="0"/>
              <a:t>算五虛詞值</a:t>
            </a:r>
            <a:endParaRPr kumimoji="1" lang="zh-TW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B99A876-9884-4247-8CC8-57BD53A44959}"/>
              </a:ext>
            </a:extLst>
          </p:cNvPr>
          <p:cNvSpPr/>
          <p:nvPr/>
        </p:nvSpPr>
        <p:spPr>
          <a:xfrm>
            <a:off x="1315793" y="929988"/>
            <a:ext cx="443102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ARMingtiMBIG"/>
              </a:rPr>
              <a:t>詩詞佔比：</a:t>
            </a:r>
            <a:endParaRPr lang="en-US" altLang="zh-TW" dirty="0">
              <a:solidFill>
                <a:srgbClr val="FF0000"/>
              </a:solidFill>
              <a:latin typeface="ARMingtiMBIG"/>
            </a:endParaRPr>
          </a:p>
          <a:p>
            <a:r>
              <a:rPr lang="zh-TW" altLang="en-US" dirty="0">
                <a:latin typeface="ARMingtiMBIG"/>
              </a:rPr>
              <a:t>第</a:t>
            </a:r>
            <a:r>
              <a:rPr lang="en-US" altLang="zh-TW" dirty="0">
                <a:latin typeface="ARMingtiMBIG"/>
              </a:rPr>
              <a:t>5</a:t>
            </a:r>
            <a:r>
              <a:rPr lang="zh-TW" altLang="en-US" dirty="0">
                <a:latin typeface="ARMingtiMBIG"/>
              </a:rPr>
              <a:t>回出現 </a:t>
            </a:r>
            <a:r>
              <a:rPr lang="en-US" altLang="zh-TW" dirty="0">
                <a:latin typeface="TimesNewRoman"/>
              </a:rPr>
              <a:t>1853</a:t>
            </a:r>
            <a:r>
              <a:rPr lang="zh-TW" altLang="en-US" dirty="0">
                <a:latin typeface="ARMingtiMBIG"/>
              </a:rPr>
              <a:t>字，佔整回</a:t>
            </a:r>
            <a:r>
              <a:rPr lang="en-US" altLang="zh-TW" dirty="0">
                <a:latin typeface="TimesNewRoman"/>
              </a:rPr>
              <a:t>6321</a:t>
            </a:r>
            <a:r>
              <a:rPr lang="zh-TW" altLang="en-US" dirty="0">
                <a:latin typeface="ARMingtiMBIG"/>
              </a:rPr>
              <a:t>字</a:t>
            </a:r>
            <a:r>
              <a:rPr lang="en-US" altLang="zh-TW" dirty="0"/>
              <a:t>(</a:t>
            </a:r>
            <a:r>
              <a:rPr lang="en-US" altLang="zh-TW" dirty="0">
                <a:latin typeface="TimesNewRoman"/>
              </a:rPr>
              <a:t>29.3</a:t>
            </a:r>
            <a:r>
              <a:rPr lang="en-US" altLang="zh-TW" dirty="0"/>
              <a:t>%</a:t>
            </a:r>
            <a:r>
              <a:rPr lang="en-US" altLang="zh-TW" dirty="0">
                <a:latin typeface="TimesNewRoman"/>
              </a:rPr>
              <a:t>)</a:t>
            </a:r>
          </a:p>
          <a:p>
            <a:r>
              <a:rPr lang="zh-TW" altLang="en-US" dirty="0">
                <a:latin typeface="ARMingtiMBIG"/>
              </a:rPr>
              <a:t>第</a:t>
            </a:r>
            <a:r>
              <a:rPr lang="en-US" altLang="zh-TW" dirty="0">
                <a:latin typeface="ARMingtiMBIG"/>
              </a:rPr>
              <a:t>78</a:t>
            </a:r>
            <a:r>
              <a:rPr lang="zh-TW" altLang="en-US" dirty="0">
                <a:latin typeface="ARMingtiMBIG"/>
              </a:rPr>
              <a:t>回出現</a:t>
            </a:r>
            <a:r>
              <a:rPr lang="en-US" altLang="zh-TW" dirty="0"/>
              <a:t>1745</a:t>
            </a:r>
            <a:r>
              <a:rPr lang="zh-TW" altLang="en-US" dirty="0"/>
              <a:t>字，</a:t>
            </a:r>
            <a:r>
              <a:rPr lang="zh-TW" altLang="en-US" dirty="0">
                <a:latin typeface="ARMingtiMBIG"/>
              </a:rPr>
              <a:t>佔整回</a:t>
            </a:r>
            <a:r>
              <a:rPr lang="en-US" altLang="zh-TW" dirty="0"/>
              <a:t>9039</a:t>
            </a:r>
            <a:r>
              <a:rPr lang="zh-TW" altLang="en-US" dirty="0"/>
              <a:t>字</a:t>
            </a:r>
            <a:r>
              <a:rPr lang="en-US" altLang="zh-TW" dirty="0"/>
              <a:t>(19.3%) </a:t>
            </a:r>
            <a:endParaRPr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43D7620-BA34-EE4D-BC03-540186663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6232" y="1828617"/>
            <a:ext cx="3113428" cy="502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618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B4900DA1-52B6-2540-833A-87ACBA176E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3844" y="826264"/>
            <a:ext cx="9924311" cy="5205471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6C2824A0-5694-7742-BA1B-BDD29E306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7" y="-80992"/>
            <a:ext cx="10515600" cy="1325563"/>
          </a:xfrm>
        </p:spPr>
        <p:txBody>
          <a:bodyPr/>
          <a:lstStyle/>
          <a:p>
            <a:r>
              <a:rPr kumimoji="1" lang="zh-TW" altLang="en-US" dirty="0"/>
              <a:t>三、研究方法</a:t>
            </a:r>
            <a:r>
              <a:rPr kumimoji="1" lang="en-US" altLang="zh-TW" dirty="0"/>
              <a:t>--</a:t>
            </a:r>
            <a:r>
              <a:rPr kumimoji="1" lang="zh-CN" altLang="en-US" dirty="0"/>
              <a:t>結構研究：詩詞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B5E9D69-FDFC-CC40-B8C3-A77F6CEAD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355" y="5880100"/>
            <a:ext cx="8547100" cy="9779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3335543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B375E7BA-36E7-8947-ACB7-CBDCF7D84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7" y="-80992"/>
            <a:ext cx="10515600" cy="1325563"/>
          </a:xfrm>
        </p:spPr>
        <p:txBody>
          <a:bodyPr/>
          <a:lstStyle/>
          <a:p>
            <a:r>
              <a:rPr kumimoji="1" lang="zh-TW" altLang="en-US" dirty="0"/>
              <a:t>三、研究方法</a:t>
            </a:r>
            <a:r>
              <a:rPr kumimoji="1" lang="en-US" altLang="zh-TW" dirty="0"/>
              <a:t>--</a:t>
            </a:r>
            <a:r>
              <a:rPr kumimoji="1" lang="zh-CN" altLang="en-US" dirty="0"/>
              <a:t>結構研究：詩詞</a:t>
            </a:r>
            <a:endParaRPr kumimoji="1"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097313C-59F3-454C-AC68-4AACC7FBF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603" y="939800"/>
            <a:ext cx="8445500" cy="591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1426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B375E7BA-36E7-8947-ACB7-CBDCF7D84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7" y="-80992"/>
            <a:ext cx="10515600" cy="1325563"/>
          </a:xfrm>
        </p:spPr>
        <p:txBody>
          <a:bodyPr/>
          <a:lstStyle/>
          <a:p>
            <a:r>
              <a:rPr kumimoji="1" lang="zh-TW" altLang="en-US" dirty="0"/>
              <a:t>三、研究方法</a:t>
            </a:r>
            <a:r>
              <a:rPr kumimoji="1" lang="en-US" altLang="zh-TW" dirty="0"/>
              <a:t>--</a:t>
            </a:r>
            <a:r>
              <a:rPr kumimoji="1" lang="zh-CN" altLang="en-US" dirty="0"/>
              <a:t>結構研究：虛詞</a:t>
            </a:r>
            <a:endParaRPr kumimoji="1"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83A6E9B6-ED9D-A441-BA0A-4EED560D8D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8" y="1314450"/>
            <a:ext cx="7239000" cy="422910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73A1F17-3219-094C-BE93-E406C9E8F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189" y="1916210"/>
            <a:ext cx="2082800" cy="1917700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84F4D44-705B-2743-A57E-6A40229F2F62}"/>
              </a:ext>
            </a:extLst>
          </p:cNvPr>
          <p:cNvSpPr txBox="1"/>
          <p:nvPr/>
        </p:nvSpPr>
        <p:spPr>
          <a:xfrm>
            <a:off x="9153989" y="1731544"/>
            <a:ext cx="3038011" cy="369332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1980</a:t>
            </a:r>
            <a:r>
              <a:rPr kumimoji="1" lang="zh-CN" altLang="en-US" dirty="0"/>
              <a:t>年趙岡</a:t>
            </a:r>
            <a:r>
              <a:rPr kumimoji="1" lang="en-US" altLang="zh-CN" dirty="0"/>
              <a:t>t</a:t>
            </a:r>
            <a:r>
              <a:rPr kumimoji="1" lang="zh-CN" altLang="en-US" dirty="0"/>
              <a:t>檢定算五虛詞值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3048C10-6565-E045-8A40-10D71E9ED2DC}"/>
              </a:ext>
            </a:extLst>
          </p:cNvPr>
          <p:cNvSpPr txBox="1"/>
          <p:nvPr/>
        </p:nvSpPr>
        <p:spPr>
          <a:xfrm>
            <a:off x="6800813" y="1362212"/>
            <a:ext cx="3038011" cy="3693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1998</a:t>
            </a:r>
            <a:r>
              <a:rPr kumimoji="1" lang="zh-CN" altLang="en-US" dirty="0"/>
              <a:t>年作者</a:t>
            </a:r>
            <a:r>
              <a:rPr kumimoji="1" lang="en-US" altLang="zh-CN" dirty="0"/>
              <a:t>t</a:t>
            </a:r>
            <a:r>
              <a:rPr kumimoji="1" lang="zh-CN" altLang="en-US" dirty="0"/>
              <a:t>檢定算五虛詞值</a:t>
            </a:r>
            <a:endParaRPr kumimoji="1" lang="zh-TW" altLang="en-US" dirty="0"/>
          </a:p>
        </p:txBody>
      </p:sp>
      <p:pic>
        <p:nvPicPr>
          <p:cNvPr id="8" name="內容版面配置區 5">
            <a:extLst>
              <a:ext uri="{FF2B5EF4-FFF2-40B4-BE49-F238E27FC236}">
                <a16:creationId xmlns:a16="http://schemas.microsoft.com/office/drawing/2014/main" id="{A5F7FC36-917F-AC40-B9BA-A0AF566571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9716667" y="2100876"/>
            <a:ext cx="2198673" cy="2516400"/>
          </a:xfrm>
          <a:prstGeom prst="rect">
            <a:avLst/>
          </a:prstGeom>
          <a:ln w="38100">
            <a:solidFill>
              <a:srgbClr val="002060"/>
            </a:solidFill>
          </a:ln>
        </p:spPr>
      </p:pic>
    </p:spTree>
    <p:extLst>
      <p:ext uri="{BB962C8B-B14F-4D97-AF65-F5344CB8AC3E}">
        <p14:creationId xmlns:p14="http://schemas.microsoft.com/office/powerpoint/2010/main" val="36739794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F3231153-12E2-FB47-98E9-124F9D1EF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7" y="-80992"/>
            <a:ext cx="10515600" cy="1325563"/>
          </a:xfrm>
        </p:spPr>
        <p:txBody>
          <a:bodyPr/>
          <a:lstStyle/>
          <a:p>
            <a:r>
              <a:rPr kumimoji="1" lang="zh-TW" altLang="en-US" dirty="0"/>
              <a:t>三、研究方法</a:t>
            </a:r>
            <a:r>
              <a:rPr kumimoji="1" lang="en-US" altLang="zh-TW" dirty="0"/>
              <a:t>--</a:t>
            </a:r>
            <a:r>
              <a:rPr kumimoji="1" lang="zh-CN" altLang="en-US" dirty="0"/>
              <a:t>結構研究：其他字詞分析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3772BA9-49B9-094F-AF91-E8190BD9AD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27889" b="65089"/>
          <a:stretch/>
        </p:blipFill>
        <p:spPr>
          <a:xfrm>
            <a:off x="279087" y="1385302"/>
            <a:ext cx="5048701" cy="273890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B95D5DB-C15C-4A44-9F27-2F8A991C300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07" t="39989" r="17546"/>
          <a:stretch/>
        </p:blipFill>
        <p:spPr>
          <a:xfrm>
            <a:off x="5826415" y="1244571"/>
            <a:ext cx="6086498" cy="527133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E7AF79A4-37E4-964D-AB2C-2BCB411D06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90062"/>
            <a:ext cx="5606876" cy="186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713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F3231153-12E2-FB47-98E9-124F9D1EF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7" y="-80992"/>
            <a:ext cx="10515600" cy="1325563"/>
          </a:xfrm>
        </p:spPr>
        <p:txBody>
          <a:bodyPr/>
          <a:lstStyle/>
          <a:p>
            <a:r>
              <a:rPr kumimoji="1" lang="zh-TW" altLang="en-US" dirty="0"/>
              <a:t>三、研究方法</a:t>
            </a:r>
            <a:r>
              <a:rPr kumimoji="1" lang="en-US" altLang="zh-TW" dirty="0"/>
              <a:t>--</a:t>
            </a:r>
            <a:r>
              <a:rPr kumimoji="1" lang="zh-CN" altLang="en-US" dirty="0"/>
              <a:t>結構研究：其他字詞分析</a:t>
            </a:r>
            <a:endParaRPr kumimoji="1"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28A7302C-8DE0-6C40-9723-1FC3FA24B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5" y="1068416"/>
            <a:ext cx="6642100" cy="2159000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5535611F-9A98-3E48-B424-1288ED32C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415" y="3429000"/>
            <a:ext cx="6680200" cy="2120900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1DE5CADB-627C-324B-AE5C-59766962F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803" y="927100"/>
            <a:ext cx="5613400" cy="5930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2831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F3231153-12E2-FB47-98E9-124F9D1EF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6" y="-80992"/>
            <a:ext cx="11492687" cy="1325563"/>
          </a:xfrm>
        </p:spPr>
        <p:txBody>
          <a:bodyPr/>
          <a:lstStyle/>
          <a:p>
            <a:r>
              <a:rPr kumimoji="1" lang="zh-TW" altLang="en-US" dirty="0"/>
              <a:t>三、研究方法</a:t>
            </a:r>
            <a:r>
              <a:rPr kumimoji="1" lang="en-US" altLang="zh-TW" dirty="0"/>
              <a:t>--</a:t>
            </a:r>
            <a:r>
              <a:rPr kumimoji="1" lang="zh-CN" altLang="en-US" dirty="0"/>
              <a:t>結構研究：</a:t>
            </a:r>
            <a:r>
              <a:rPr kumimoji="1" lang="en-US" altLang="zh-TW" dirty="0"/>
              <a:t>『</a:t>
            </a:r>
            <a:r>
              <a:rPr kumimoji="1" lang="zh-TW" altLang="en-US" dirty="0"/>
              <a:t>下回分解</a:t>
            </a:r>
            <a:r>
              <a:rPr kumimoji="1" lang="en-US" altLang="zh-TW" dirty="0"/>
              <a:t>』</a:t>
            </a:r>
            <a:r>
              <a:rPr kumimoji="1" lang="zh-CN" altLang="en-US" dirty="0"/>
              <a:t>分析</a:t>
            </a:r>
            <a:endParaRPr kumimoji="1"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58E74119-3965-884D-88DB-799B41C50EC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702" b="32572"/>
          <a:stretch/>
        </p:blipFill>
        <p:spPr>
          <a:xfrm>
            <a:off x="180128" y="1116893"/>
            <a:ext cx="5944324" cy="516298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D07E8692-3E99-DA45-842C-1BF1612DF5C0}"/>
              </a:ext>
            </a:extLst>
          </p:cNvPr>
          <p:cNvSpPr/>
          <p:nvPr/>
        </p:nvSpPr>
        <p:spPr>
          <a:xfrm>
            <a:off x="6096000" y="4248554"/>
            <a:ext cx="6096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" altLang="zh-TW" dirty="0">
                <a:latin typeface="TimesNewRoman"/>
              </a:rPr>
              <a:t>P</a:t>
            </a:r>
            <a:r>
              <a:rPr lang="zh-TW" altLang="en-US" dirty="0">
                <a:latin typeface="ARMingtiMBIG"/>
              </a:rPr>
              <a:t>值幾乎為</a:t>
            </a:r>
            <a:r>
              <a:rPr lang="en-US" altLang="zh-TW" dirty="0">
                <a:latin typeface="TimesNewRoman"/>
              </a:rPr>
              <a:t>0</a:t>
            </a:r>
            <a:r>
              <a:rPr lang="zh-TW" altLang="en-US" dirty="0">
                <a:latin typeface="ARMingtiMBIG"/>
              </a:rPr>
              <a:t>，因此回末用語有顯著的差別。</a:t>
            </a:r>
            <a:endParaRPr lang="en-US" altLang="zh-TW" dirty="0">
              <a:latin typeface="ARMingtiMBIG"/>
            </a:endParaRPr>
          </a:p>
          <a:p>
            <a:r>
              <a:rPr lang="zh-TW" altLang="en-US" dirty="0">
                <a:latin typeface="ARMingtiMBIG"/>
              </a:rPr>
              <a:t>又因章回小說多以「下回分解」作 為回末結語，</a:t>
            </a:r>
            <a:endParaRPr lang="en-US" altLang="zh-TW" dirty="0">
              <a:latin typeface="ARMingtiMBIG"/>
            </a:endParaRPr>
          </a:p>
          <a:p>
            <a:r>
              <a:rPr lang="zh-TW" altLang="en-US" dirty="0">
                <a:latin typeface="ARMingtiMBIG"/>
              </a:rPr>
              <a:t>若以是否出現「下回分解」作為比較標準，可得前後半部各有</a:t>
            </a:r>
            <a:r>
              <a:rPr lang="en-US" altLang="zh-TW" dirty="0">
                <a:latin typeface="TimesNewRoman"/>
              </a:rPr>
              <a:t>40 </a:t>
            </a:r>
            <a:r>
              <a:rPr lang="zh-TW" altLang="en-US" dirty="0">
                <a:latin typeface="ARMingtiMBIG"/>
              </a:rPr>
              <a:t>及</a:t>
            </a:r>
            <a:r>
              <a:rPr lang="en-US" altLang="zh-TW" dirty="0">
                <a:latin typeface="TimesNewRoman"/>
              </a:rPr>
              <a:t>36</a:t>
            </a:r>
            <a:r>
              <a:rPr lang="zh-TW" altLang="en-US" dirty="0">
                <a:latin typeface="ARMingtiMBIG"/>
              </a:rPr>
              <a:t>次，以二項檢定測試，其檢定量為</a:t>
            </a:r>
            <a:r>
              <a:rPr lang="en-US" altLang="zh-TW" dirty="0">
                <a:latin typeface="TimesNewRoman"/>
              </a:rPr>
              <a:t>4.29</a:t>
            </a:r>
            <a:r>
              <a:rPr lang="zh-TW" altLang="en-US" dirty="0">
                <a:latin typeface="ARMingtiMBIG"/>
              </a:rPr>
              <a:t>，</a:t>
            </a:r>
            <a:r>
              <a:rPr lang="en" altLang="zh-TW" dirty="0">
                <a:latin typeface="TimesNewRoman"/>
              </a:rPr>
              <a:t>P</a:t>
            </a:r>
            <a:r>
              <a:rPr lang="zh-TW" altLang="en-US" dirty="0">
                <a:latin typeface="ARMingtiMBIG"/>
              </a:rPr>
              <a:t>值約為</a:t>
            </a:r>
            <a:r>
              <a:rPr lang="en-US" altLang="zh-TW" dirty="0">
                <a:latin typeface="TimesNewRoman"/>
              </a:rPr>
              <a:t>0.038</a:t>
            </a:r>
            <a:r>
              <a:rPr lang="zh-TW" altLang="en-US" dirty="0">
                <a:latin typeface="ARMingtiMBIG"/>
              </a:rPr>
              <a:t>，有相當強的證據支 持前八十回及後四十回有不同的使用「下回分解」習慣。單以回末用語作為考 慮，我們較支持</a:t>
            </a:r>
            <a:r>
              <a:rPr lang="en-US" altLang="zh-TW" dirty="0">
                <a:latin typeface="ARMingtiMBIG"/>
              </a:rPr>
              <a:t>『</a:t>
            </a:r>
            <a:r>
              <a:rPr lang="zh-TW" altLang="en-US" dirty="0">
                <a:latin typeface="ARMingtiMBIG"/>
              </a:rPr>
              <a:t>紅樓夢</a:t>
            </a:r>
            <a:r>
              <a:rPr lang="en-US" altLang="zh-TW" dirty="0">
                <a:latin typeface="ARMingtiMBIG"/>
              </a:rPr>
              <a:t>』</a:t>
            </a:r>
            <a:r>
              <a:rPr lang="zh-TW" altLang="en-US" dirty="0">
                <a:latin typeface="ARMingtiMBIG"/>
              </a:rPr>
              <a:t>的前後部半分屬不同作者。 </a:t>
            </a:r>
            <a:endParaRPr lang="zh-TW" altLang="en-US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A0F32D52-B347-2C46-A8D6-CB72C5E42660}"/>
              </a:ext>
            </a:extLst>
          </p:cNvPr>
          <p:cNvCxnSpPr>
            <a:cxnSpLocks/>
          </p:cNvCxnSpPr>
          <p:nvPr/>
        </p:nvCxnSpPr>
        <p:spPr>
          <a:xfrm>
            <a:off x="6228735" y="5368412"/>
            <a:ext cx="584146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C5A49C24-FABB-174F-AA51-CB098296D9AF}"/>
              </a:ext>
            </a:extLst>
          </p:cNvPr>
          <p:cNvCxnSpPr>
            <a:cxnSpLocks/>
          </p:cNvCxnSpPr>
          <p:nvPr/>
        </p:nvCxnSpPr>
        <p:spPr>
          <a:xfrm>
            <a:off x="6124452" y="4532671"/>
            <a:ext cx="425841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>
            <a:extLst>
              <a:ext uri="{FF2B5EF4-FFF2-40B4-BE49-F238E27FC236}">
                <a16:creationId xmlns:a16="http://schemas.microsoft.com/office/drawing/2014/main" id="{8DB4128E-3A9C-934F-9896-E68C67612B48}"/>
              </a:ext>
            </a:extLst>
          </p:cNvPr>
          <p:cNvCxnSpPr>
            <a:cxnSpLocks/>
          </p:cNvCxnSpPr>
          <p:nvPr/>
        </p:nvCxnSpPr>
        <p:spPr>
          <a:xfrm>
            <a:off x="6228735" y="4827638"/>
            <a:ext cx="45670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F4C1F9C4-5E66-F248-8E30-FC7623F4ECC5}"/>
              </a:ext>
            </a:extLst>
          </p:cNvPr>
          <p:cNvCxnSpPr>
            <a:cxnSpLocks/>
          </p:cNvCxnSpPr>
          <p:nvPr/>
        </p:nvCxnSpPr>
        <p:spPr>
          <a:xfrm>
            <a:off x="6124452" y="5624051"/>
            <a:ext cx="584146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FD7D0E35-95CF-D34B-95EF-78D11A0B9787}"/>
              </a:ext>
            </a:extLst>
          </p:cNvPr>
          <p:cNvCxnSpPr>
            <a:cxnSpLocks/>
          </p:cNvCxnSpPr>
          <p:nvPr/>
        </p:nvCxnSpPr>
        <p:spPr>
          <a:xfrm>
            <a:off x="6096000" y="5933767"/>
            <a:ext cx="290051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8336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1">
            <a:extLst>
              <a:ext uri="{FF2B5EF4-FFF2-40B4-BE49-F238E27FC236}">
                <a16:creationId xmlns:a16="http://schemas.microsoft.com/office/drawing/2014/main" id="{F3231153-12E2-FB47-98E9-124F9D1EF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7" y="-80992"/>
            <a:ext cx="10515600" cy="1325563"/>
          </a:xfrm>
        </p:spPr>
        <p:txBody>
          <a:bodyPr/>
          <a:lstStyle/>
          <a:p>
            <a:r>
              <a:rPr kumimoji="1" lang="zh-TW" altLang="en-US" dirty="0"/>
              <a:t>三、研究方法</a:t>
            </a:r>
            <a:r>
              <a:rPr kumimoji="1" lang="en-US" altLang="zh-TW" dirty="0"/>
              <a:t>--</a:t>
            </a:r>
            <a:r>
              <a:rPr kumimoji="1" lang="zh-CN" altLang="en-US" dirty="0"/>
              <a:t>結構研究：綜合分析</a:t>
            </a:r>
            <a:endParaRPr kumimoji="1"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3BB8B07A-814B-E44C-8EE3-7DE54D422D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6297" y="827809"/>
            <a:ext cx="8801100" cy="5867400"/>
          </a:xfrm>
          <a:prstGeom prst="rect">
            <a:avLst/>
          </a:prstGeom>
        </p:spPr>
      </p:pic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3A62AE5B-3156-2C47-AB32-DB691949142B}"/>
              </a:ext>
            </a:extLst>
          </p:cNvPr>
          <p:cNvCxnSpPr>
            <a:cxnSpLocks/>
          </p:cNvCxnSpPr>
          <p:nvPr/>
        </p:nvCxnSpPr>
        <p:spPr>
          <a:xfrm>
            <a:off x="3338051" y="6091083"/>
            <a:ext cx="716280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F82B48AC-8EA6-0941-8D0A-0ADE0821283B}"/>
              </a:ext>
            </a:extLst>
          </p:cNvPr>
          <p:cNvCxnSpPr>
            <a:cxnSpLocks/>
          </p:cNvCxnSpPr>
          <p:nvPr/>
        </p:nvCxnSpPr>
        <p:spPr>
          <a:xfrm>
            <a:off x="8573728" y="6563031"/>
            <a:ext cx="135193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466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53D2C778-351B-664D-A981-E4331AB4F41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7937" y="1401808"/>
            <a:ext cx="9593179" cy="4931207"/>
          </a:xfrm>
          <a:prstGeom prst="rect">
            <a:avLst/>
          </a:prstGeom>
        </p:spPr>
      </p:pic>
      <p:sp>
        <p:nvSpPr>
          <p:cNvPr id="4" name="標題 1">
            <a:extLst>
              <a:ext uri="{FF2B5EF4-FFF2-40B4-BE49-F238E27FC236}">
                <a16:creationId xmlns:a16="http://schemas.microsoft.com/office/drawing/2014/main" id="{B375E7BA-36E7-8947-ACB7-CBDCF7D84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797" y="-80992"/>
            <a:ext cx="10515600" cy="1325563"/>
          </a:xfrm>
        </p:spPr>
        <p:txBody>
          <a:bodyPr/>
          <a:lstStyle/>
          <a:p>
            <a:r>
              <a:rPr kumimoji="1" lang="zh-TW" altLang="en-US" dirty="0"/>
              <a:t>三、研究方法</a:t>
            </a:r>
            <a:r>
              <a:rPr kumimoji="1" lang="en-US" altLang="zh-TW" dirty="0"/>
              <a:t>--</a:t>
            </a:r>
            <a:r>
              <a:rPr kumimoji="1" lang="zh-CN" altLang="en-US" dirty="0"/>
              <a:t>結構研究：綜合分析</a:t>
            </a:r>
            <a:endParaRPr kumimoji="1" lang="zh-TW" altLang="en-US" dirty="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62A7D5E4-0913-3449-AA7C-EA32BEBA6039}"/>
              </a:ext>
            </a:extLst>
          </p:cNvPr>
          <p:cNvCxnSpPr>
            <a:cxnSpLocks/>
          </p:cNvCxnSpPr>
          <p:nvPr/>
        </p:nvCxnSpPr>
        <p:spPr>
          <a:xfrm>
            <a:off x="878635" y="1917289"/>
            <a:ext cx="802681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CE13386F-35AC-5040-9659-B4BFF5EC9EBC}"/>
              </a:ext>
            </a:extLst>
          </p:cNvPr>
          <p:cNvCxnSpPr>
            <a:cxnSpLocks/>
          </p:cNvCxnSpPr>
          <p:nvPr/>
        </p:nvCxnSpPr>
        <p:spPr>
          <a:xfrm>
            <a:off x="2836605" y="1917289"/>
            <a:ext cx="489155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BBED6E07-0BFA-3149-8DEF-276892A94785}"/>
              </a:ext>
            </a:extLst>
          </p:cNvPr>
          <p:cNvCxnSpPr>
            <a:cxnSpLocks/>
          </p:cNvCxnSpPr>
          <p:nvPr/>
        </p:nvCxnSpPr>
        <p:spPr>
          <a:xfrm>
            <a:off x="1681316" y="2448231"/>
            <a:ext cx="4414684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5498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70460730-179B-E846-8DB4-7DDC999AAB51}"/>
              </a:ext>
            </a:extLst>
          </p:cNvPr>
          <p:cNvSpPr txBox="1">
            <a:spLocks/>
          </p:cNvSpPr>
          <p:nvPr/>
        </p:nvSpPr>
        <p:spPr>
          <a:xfrm>
            <a:off x="276726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TW" altLang="en-US" dirty="0"/>
              <a:t>三、研究方法</a:t>
            </a:r>
            <a:r>
              <a:rPr kumimoji="1" lang="en-US" altLang="zh-TW" dirty="0"/>
              <a:t> -- (</a:t>
            </a:r>
            <a:r>
              <a:rPr kumimoji="1" lang="zh-CN" altLang="en-US" dirty="0"/>
              <a:t>法二</a:t>
            </a:r>
            <a:r>
              <a:rPr kumimoji="1" lang="en-US" altLang="zh-CN" dirty="0"/>
              <a:t>) </a:t>
            </a:r>
            <a:r>
              <a:rPr kumimoji="1" lang="zh-CN" altLang="en-US" dirty="0"/>
              <a:t>變動點分析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FDE1569-B8A1-3C44-917D-912231B73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98" y="1506127"/>
            <a:ext cx="11350827" cy="2451510"/>
          </a:xfrm>
          <a:prstGeom prst="rect">
            <a:avLst/>
          </a:prstGeom>
        </p:spPr>
      </p:pic>
      <p:cxnSp>
        <p:nvCxnSpPr>
          <p:cNvPr id="10" name="直線接點 9">
            <a:extLst>
              <a:ext uri="{FF2B5EF4-FFF2-40B4-BE49-F238E27FC236}">
                <a16:creationId xmlns:a16="http://schemas.microsoft.com/office/drawing/2014/main" id="{19AC030D-F91B-7840-AACF-CCBC26C2E8C6}"/>
              </a:ext>
            </a:extLst>
          </p:cNvPr>
          <p:cNvCxnSpPr>
            <a:cxnSpLocks/>
          </p:cNvCxnSpPr>
          <p:nvPr/>
        </p:nvCxnSpPr>
        <p:spPr>
          <a:xfrm>
            <a:off x="2807109" y="2005780"/>
            <a:ext cx="604192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219C6936-E324-B24F-822E-6D191557035D}"/>
              </a:ext>
            </a:extLst>
          </p:cNvPr>
          <p:cNvCxnSpPr>
            <a:cxnSpLocks/>
          </p:cNvCxnSpPr>
          <p:nvPr/>
        </p:nvCxnSpPr>
        <p:spPr>
          <a:xfrm>
            <a:off x="9561870" y="3274140"/>
            <a:ext cx="177964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14704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B21CE7-68C2-B64C-954C-AD842CC4B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70460730-179B-E846-8DB4-7DDC999AAB51}"/>
              </a:ext>
            </a:extLst>
          </p:cNvPr>
          <p:cNvSpPr txBox="1">
            <a:spLocks/>
          </p:cNvSpPr>
          <p:nvPr/>
        </p:nvSpPr>
        <p:spPr>
          <a:xfrm>
            <a:off x="276726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TW" altLang="en-US" dirty="0"/>
              <a:t>三、研究方法</a:t>
            </a:r>
            <a:r>
              <a:rPr kumimoji="1" lang="en-US" altLang="zh-TW" dirty="0"/>
              <a:t> -- (</a:t>
            </a:r>
            <a:r>
              <a:rPr kumimoji="1" lang="zh-CN" altLang="en-US" dirty="0"/>
              <a:t>法二</a:t>
            </a:r>
            <a:r>
              <a:rPr kumimoji="1" lang="en-US" altLang="zh-CN" dirty="0"/>
              <a:t>) </a:t>
            </a:r>
            <a:r>
              <a:rPr kumimoji="1" lang="zh-CN" altLang="en-US" dirty="0"/>
              <a:t>變動點分析</a:t>
            </a:r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8B0016A-EC84-E44A-A594-B715E36EE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65" y="1041066"/>
            <a:ext cx="8369300" cy="532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10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CA5FE954-6DE0-AF42-96A7-A7E033EF0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10" y="1061391"/>
            <a:ext cx="11329438" cy="5014943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E0EA30F4-5400-134A-BB9B-CCE17CF42820}"/>
              </a:ext>
            </a:extLst>
          </p:cNvPr>
          <p:cNvSpPr txBox="1">
            <a:spLocks/>
          </p:cNvSpPr>
          <p:nvPr/>
        </p:nvSpPr>
        <p:spPr>
          <a:xfrm>
            <a:off x="276726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TW" altLang="en-US" dirty="0"/>
              <a:t>三、研究方法</a:t>
            </a:r>
            <a:r>
              <a:rPr kumimoji="1" lang="en-US" altLang="zh-TW" dirty="0"/>
              <a:t> -- (</a:t>
            </a:r>
            <a:r>
              <a:rPr kumimoji="1" lang="zh-CN" altLang="en-US" dirty="0"/>
              <a:t>法二</a:t>
            </a:r>
            <a:r>
              <a:rPr kumimoji="1" lang="en-US" altLang="zh-CN" dirty="0"/>
              <a:t>) </a:t>
            </a:r>
            <a:r>
              <a:rPr kumimoji="1" lang="zh-CN" altLang="en-US" dirty="0"/>
              <a:t>變動點分析</a:t>
            </a:r>
            <a:endParaRPr kumimoji="1" lang="zh-TW" altLang="en-US" dirty="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2BA5D91C-B392-2143-992D-CED8526CF67B}"/>
              </a:ext>
            </a:extLst>
          </p:cNvPr>
          <p:cNvCxnSpPr>
            <a:cxnSpLocks/>
          </p:cNvCxnSpPr>
          <p:nvPr/>
        </p:nvCxnSpPr>
        <p:spPr>
          <a:xfrm>
            <a:off x="1017639" y="2241752"/>
            <a:ext cx="10264877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E7551A6A-7E35-2A4E-AC55-A0F6D7B167FE}"/>
              </a:ext>
            </a:extLst>
          </p:cNvPr>
          <p:cNvCxnSpPr>
            <a:cxnSpLocks/>
          </p:cNvCxnSpPr>
          <p:nvPr/>
        </p:nvCxnSpPr>
        <p:spPr>
          <a:xfrm>
            <a:off x="276726" y="5402823"/>
            <a:ext cx="1100579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6FAA002B-81C8-EC4A-855A-0A300AAF0D1D}"/>
              </a:ext>
            </a:extLst>
          </p:cNvPr>
          <p:cNvCxnSpPr>
            <a:cxnSpLocks/>
          </p:cNvCxnSpPr>
          <p:nvPr/>
        </p:nvCxnSpPr>
        <p:spPr>
          <a:xfrm>
            <a:off x="276726" y="6056667"/>
            <a:ext cx="560788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75615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0A5B7FE6-E453-AD4E-A2CD-782A6940C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25" y="1181520"/>
            <a:ext cx="11256513" cy="5102727"/>
          </a:xfrm>
          <a:prstGeom prst="rect">
            <a:avLst/>
          </a:prstGeom>
        </p:spPr>
      </p:pic>
      <p:sp>
        <p:nvSpPr>
          <p:cNvPr id="5" name="標題 1">
            <a:extLst>
              <a:ext uri="{FF2B5EF4-FFF2-40B4-BE49-F238E27FC236}">
                <a16:creationId xmlns:a16="http://schemas.microsoft.com/office/drawing/2014/main" id="{093A11EC-54D9-8349-8C52-6BEBAF78E774}"/>
              </a:ext>
            </a:extLst>
          </p:cNvPr>
          <p:cNvSpPr txBox="1">
            <a:spLocks/>
          </p:cNvSpPr>
          <p:nvPr/>
        </p:nvSpPr>
        <p:spPr>
          <a:xfrm>
            <a:off x="276726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TW" altLang="en-US" dirty="0"/>
              <a:t>三、研究方法</a:t>
            </a:r>
            <a:r>
              <a:rPr kumimoji="1" lang="en-US" altLang="zh-TW" dirty="0"/>
              <a:t> -- (</a:t>
            </a:r>
            <a:r>
              <a:rPr kumimoji="1" lang="zh-CN" altLang="en-US" dirty="0"/>
              <a:t>法二</a:t>
            </a:r>
            <a:r>
              <a:rPr kumimoji="1" lang="en-US" altLang="zh-CN" dirty="0"/>
              <a:t>) </a:t>
            </a:r>
            <a:r>
              <a:rPr kumimoji="1" lang="zh-CN" altLang="en-US" dirty="0"/>
              <a:t>變動點分析</a:t>
            </a:r>
            <a:endParaRPr kumimoji="1" lang="zh-TW" altLang="en-US" dirty="0"/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72FCCC4E-DABE-2E42-AB29-A74E0333F9B2}"/>
              </a:ext>
            </a:extLst>
          </p:cNvPr>
          <p:cNvCxnSpPr>
            <a:cxnSpLocks/>
          </p:cNvCxnSpPr>
          <p:nvPr/>
        </p:nvCxnSpPr>
        <p:spPr>
          <a:xfrm>
            <a:off x="909484" y="1789468"/>
            <a:ext cx="1100579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B237AD5F-3D86-8B48-8B94-D51AABA96FCD}"/>
              </a:ext>
            </a:extLst>
          </p:cNvPr>
          <p:cNvCxnSpPr>
            <a:cxnSpLocks/>
          </p:cNvCxnSpPr>
          <p:nvPr/>
        </p:nvCxnSpPr>
        <p:spPr>
          <a:xfrm>
            <a:off x="527448" y="3711675"/>
            <a:ext cx="1100579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A824EB41-52ED-B743-B9EC-F5ADFF7E00F8}"/>
              </a:ext>
            </a:extLst>
          </p:cNvPr>
          <p:cNvCxnSpPr>
            <a:cxnSpLocks/>
          </p:cNvCxnSpPr>
          <p:nvPr/>
        </p:nvCxnSpPr>
        <p:spPr>
          <a:xfrm>
            <a:off x="9974502" y="3052914"/>
            <a:ext cx="1635648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6CDC7866-69E5-544D-99BE-30B13DA73F44}"/>
              </a:ext>
            </a:extLst>
          </p:cNvPr>
          <p:cNvCxnSpPr>
            <a:cxnSpLocks/>
          </p:cNvCxnSpPr>
          <p:nvPr/>
        </p:nvCxnSpPr>
        <p:spPr>
          <a:xfrm>
            <a:off x="276725" y="4336023"/>
            <a:ext cx="11256513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>
            <a:extLst>
              <a:ext uri="{FF2B5EF4-FFF2-40B4-BE49-F238E27FC236}">
                <a16:creationId xmlns:a16="http://schemas.microsoft.com/office/drawing/2014/main" id="{AF902357-9644-094E-B9E0-8139B81321E2}"/>
              </a:ext>
            </a:extLst>
          </p:cNvPr>
          <p:cNvCxnSpPr>
            <a:cxnSpLocks/>
          </p:cNvCxnSpPr>
          <p:nvPr/>
        </p:nvCxnSpPr>
        <p:spPr>
          <a:xfrm>
            <a:off x="276725" y="5014449"/>
            <a:ext cx="11256513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6BB52C20-0A7A-F14F-9647-29B6F4D1E3BA}"/>
              </a:ext>
            </a:extLst>
          </p:cNvPr>
          <p:cNvCxnSpPr>
            <a:cxnSpLocks/>
          </p:cNvCxnSpPr>
          <p:nvPr/>
        </p:nvCxnSpPr>
        <p:spPr>
          <a:xfrm>
            <a:off x="276725" y="5648630"/>
            <a:ext cx="11256513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30ACFBEE-1A40-2A42-8586-6A6C84B830D9}"/>
              </a:ext>
            </a:extLst>
          </p:cNvPr>
          <p:cNvCxnSpPr>
            <a:cxnSpLocks/>
          </p:cNvCxnSpPr>
          <p:nvPr/>
        </p:nvCxnSpPr>
        <p:spPr>
          <a:xfrm>
            <a:off x="276725" y="6230167"/>
            <a:ext cx="3749585" cy="5408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11969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B21CE7-68C2-B64C-954C-AD842CC4B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70460730-179B-E846-8DB4-7DDC999AAB51}"/>
              </a:ext>
            </a:extLst>
          </p:cNvPr>
          <p:cNvSpPr txBox="1">
            <a:spLocks/>
          </p:cNvSpPr>
          <p:nvPr/>
        </p:nvSpPr>
        <p:spPr>
          <a:xfrm>
            <a:off x="276726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TW" altLang="en-US" dirty="0"/>
              <a:t>三、研究方法</a:t>
            </a:r>
            <a:r>
              <a:rPr kumimoji="1" lang="en-US" altLang="zh-TW" dirty="0"/>
              <a:t> -- (</a:t>
            </a:r>
            <a:r>
              <a:rPr kumimoji="1" lang="zh-CN" altLang="en-US" dirty="0"/>
              <a:t>法二</a:t>
            </a:r>
            <a:r>
              <a:rPr kumimoji="1" lang="en-US" altLang="zh-CN" dirty="0"/>
              <a:t>) </a:t>
            </a:r>
            <a:r>
              <a:rPr kumimoji="1" lang="zh-CN" altLang="en-US" dirty="0"/>
              <a:t>變動點分析</a:t>
            </a:r>
            <a:endParaRPr kumimoji="1"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F4B013D7-D5FA-3446-9755-CB261A939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7979" y="1227514"/>
            <a:ext cx="7411452" cy="554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158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5B21CE7-68C2-B64C-954C-AD842CC4B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70460730-179B-E846-8DB4-7DDC999AAB51}"/>
              </a:ext>
            </a:extLst>
          </p:cNvPr>
          <p:cNvSpPr txBox="1">
            <a:spLocks/>
          </p:cNvSpPr>
          <p:nvPr/>
        </p:nvSpPr>
        <p:spPr>
          <a:xfrm>
            <a:off x="276726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TW" altLang="en-US" dirty="0"/>
              <a:t>三、研究方法</a:t>
            </a:r>
            <a:r>
              <a:rPr kumimoji="1" lang="en-US" altLang="zh-TW" dirty="0"/>
              <a:t> -- (</a:t>
            </a:r>
            <a:r>
              <a:rPr kumimoji="1" lang="zh-CN" altLang="en-US" dirty="0"/>
              <a:t>法二</a:t>
            </a:r>
            <a:r>
              <a:rPr kumimoji="1" lang="en-US" altLang="zh-CN" dirty="0"/>
              <a:t>) </a:t>
            </a:r>
            <a:r>
              <a:rPr kumimoji="1" lang="zh-CN" altLang="en-US" dirty="0"/>
              <a:t>變動點分析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02A6A48-DE5F-CD44-BA82-1B4E46B2B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34008"/>
            <a:ext cx="10135672" cy="283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9382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6087F42-0435-314E-82F2-0314F021CD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7727" y="1097964"/>
            <a:ext cx="10515600" cy="4351338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我的實驗結果如右</a:t>
            </a:r>
            <a:endParaRPr kumimoji="1" lang="en-US" altLang="zh-TW" dirty="0"/>
          </a:p>
          <a:p>
            <a:r>
              <a:rPr kumimoji="1" lang="zh-TW" altLang="en-US" dirty="0"/>
              <a:t>此文作者</a:t>
            </a:r>
            <a:r>
              <a:rPr kumimoji="1" lang="en-US" altLang="zh-TW" dirty="0"/>
              <a:t>(</a:t>
            </a:r>
            <a:r>
              <a:rPr lang="zh-CN" altLang="en-US" dirty="0"/>
              <a:t>余清祥</a:t>
            </a:r>
            <a:r>
              <a:rPr lang="en-US" altLang="zh-CN" dirty="0"/>
              <a:t>)</a:t>
            </a:r>
            <a:r>
              <a:rPr lang="zh-CN" altLang="en-US" dirty="0"/>
              <a:t>的資料集</a:t>
            </a:r>
            <a:r>
              <a:rPr kumimoji="1" lang="zh-TW" altLang="en-US" dirty="0"/>
              <a:t>：庚辰本</a:t>
            </a:r>
            <a:r>
              <a:rPr kumimoji="1" lang="en-US" altLang="zh-TW" dirty="0"/>
              <a:t>(</a:t>
            </a:r>
            <a:r>
              <a:rPr kumimoji="1" lang="zh-CN" altLang="en-US" dirty="0"/>
              <a:t>前</a:t>
            </a:r>
            <a:r>
              <a:rPr kumimoji="1" lang="en-US" altLang="zh-CN" dirty="0"/>
              <a:t>80</a:t>
            </a:r>
            <a:r>
              <a:rPr kumimoji="1" lang="zh-TW" altLang="en-US" dirty="0"/>
              <a:t>回</a:t>
            </a:r>
            <a:r>
              <a:rPr kumimoji="1" lang="en-US" altLang="zh-CN" dirty="0"/>
              <a:t>)</a:t>
            </a:r>
            <a:r>
              <a:rPr kumimoji="1" lang="zh-TW" altLang="en-US" dirty="0"/>
              <a:t>＋程甲本</a:t>
            </a:r>
            <a:r>
              <a:rPr kumimoji="1" lang="en-US" altLang="zh-TW" dirty="0"/>
              <a:t>(</a:t>
            </a:r>
            <a:r>
              <a:rPr kumimoji="1" lang="zh-CN" altLang="en-US" dirty="0"/>
              <a:t>後</a:t>
            </a:r>
            <a:r>
              <a:rPr kumimoji="1" lang="en-US" altLang="zh-CN" dirty="0"/>
              <a:t>40</a:t>
            </a:r>
            <a:r>
              <a:rPr kumimoji="1" lang="zh-CN" altLang="en-US" dirty="0"/>
              <a:t>回</a:t>
            </a:r>
            <a:r>
              <a:rPr kumimoji="1" lang="en-US" altLang="zh-CN" dirty="0"/>
              <a:t>)</a:t>
            </a:r>
            <a:endParaRPr kumimoji="1" lang="en-US" altLang="zh-TW" dirty="0"/>
          </a:p>
          <a:p>
            <a:r>
              <a:rPr kumimoji="1" lang="zh-TW" altLang="en-US" dirty="0"/>
              <a:t>我的資料集：庚辰本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en-US" altLang="zh-CN" dirty="0"/>
          </a:p>
          <a:p>
            <a:r>
              <a:rPr kumimoji="1" lang="zh-CN" altLang="en-US" dirty="0"/>
              <a:t>我們資料集有不同、我可能算錯</a:t>
            </a:r>
            <a:endParaRPr kumimoji="1" lang="en-US" altLang="zh-CN" dirty="0"/>
          </a:p>
          <a:p>
            <a:r>
              <a:rPr kumimoji="1" lang="zh-CN" altLang="en-US" dirty="0"/>
              <a:t>希望能週四再跟老師報告</a:t>
            </a:r>
            <a:endParaRPr kumimoji="1" lang="en-US" altLang="zh-CN" dirty="0"/>
          </a:p>
          <a:p>
            <a:endParaRPr kumimoji="1" lang="en-US" altLang="zh-CN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AF23846C-0120-4C4D-B5BD-26B93820A4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4328" y="0"/>
            <a:ext cx="1478943" cy="6858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4C40FAB0-9A03-AB41-BD2D-653866A195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668" y="2195929"/>
            <a:ext cx="4219819" cy="4662071"/>
          </a:xfrm>
          <a:prstGeom prst="rect">
            <a:avLst/>
          </a:prstGeom>
        </p:spPr>
      </p:pic>
      <p:sp>
        <p:nvSpPr>
          <p:cNvPr id="12" name="標題 1">
            <a:extLst>
              <a:ext uri="{FF2B5EF4-FFF2-40B4-BE49-F238E27FC236}">
                <a16:creationId xmlns:a16="http://schemas.microsoft.com/office/drawing/2014/main" id="{76429FA9-D0A3-9C42-AC20-F5E1CF1DCEEC}"/>
              </a:ext>
            </a:extLst>
          </p:cNvPr>
          <p:cNvSpPr txBox="1">
            <a:spLocks/>
          </p:cNvSpPr>
          <p:nvPr/>
        </p:nvSpPr>
        <p:spPr>
          <a:xfrm>
            <a:off x="276726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TW" altLang="en-US" dirty="0"/>
              <a:t>三、研究方法</a:t>
            </a:r>
            <a:r>
              <a:rPr kumimoji="1" lang="en-US" altLang="zh-TW" dirty="0"/>
              <a:t> -- (</a:t>
            </a:r>
            <a:r>
              <a:rPr kumimoji="1" lang="zh-CN" altLang="en-US" dirty="0"/>
              <a:t>法二</a:t>
            </a:r>
            <a:r>
              <a:rPr kumimoji="1" lang="en-US" altLang="zh-CN" dirty="0"/>
              <a:t>) </a:t>
            </a:r>
            <a:r>
              <a:rPr kumimoji="1" lang="zh-CN" altLang="en-US" dirty="0"/>
              <a:t>變動點分析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1893650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97DD19-D6AD-E544-A66E-E6650810D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86" y="31048"/>
            <a:ext cx="4327716" cy="1108204"/>
          </a:xfrm>
        </p:spPr>
        <p:txBody>
          <a:bodyPr/>
          <a:lstStyle/>
          <a:p>
            <a:r>
              <a:rPr kumimoji="1" lang="zh-CN" altLang="en-US" dirty="0"/>
              <a:t>四、結論</a:t>
            </a:r>
            <a:endParaRPr kumimoji="1"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B5F1D5A-BBCB-384A-9E92-A3B99C95F7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2939" y="1139252"/>
            <a:ext cx="8458200" cy="18288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838F5DBE-3066-144B-B41D-AD6C8516C67C}"/>
              </a:ext>
            </a:extLst>
          </p:cNvPr>
          <p:cNvSpPr/>
          <p:nvPr/>
        </p:nvSpPr>
        <p:spPr>
          <a:xfrm>
            <a:off x="-273647" y="3866838"/>
            <a:ext cx="4004988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kumimoji="1" lang="zh-CN" altLang="en-US" dirty="0">
                <a:solidFill>
                  <a:srgbClr val="FF0000"/>
                </a:solidFill>
              </a:rPr>
              <a:t>結構研究</a:t>
            </a:r>
            <a:r>
              <a:rPr kumimoji="1" lang="en-US" altLang="zh-CN" dirty="0">
                <a:solidFill>
                  <a:srgbClr val="FF0000"/>
                </a:solidFill>
              </a:rPr>
              <a:t>(</a:t>
            </a:r>
            <a:r>
              <a:rPr kumimoji="1" lang="zh-CN" altLang="en-US" dirty="0">
                <a:solidFill>
                  <a:srgbClr val="FF0000"/>
                </a:solidFill>
              </a:rPr>
              <a:t>兩個樣本、線性分類</a:t>
            </a:r>
            <a:r>
              <a:rPr kumimoji="1" lang="en-US" altLang="zh-CN" dirty="0">
                <a:solidFill>
                  <a:srgbClr val="FF0000"/>
                </a:solidFill>
              </a:rPr>
              <a:t>)</a:t>
            </a:r>
          </a:p>
          <a:p>
            <a:pPr lvl="2"/>
            <a:r>
              <a:rPr kumimoji="1" lang="zh-CN" altLang="en-US" dirty="0"/>
              <a:t>詩詞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虛詞</a:t>
            </a:r>
            <a:endParaRPr kumimoji="1" lang="en-US" altLang="zh-CN" dirty="0"/>
          </a:p>
          <a:p>
            <a:pPr lvl="2"/>
            <a:r>
              <a:rPr kumimoji="1" lang="zh-CN" altLang="en-US" dirty="0"/>
              <a:t>其他字詞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『</a:t>
            </a:r>
            <a:r>
              <a:rPr kumimoji="1" lang="zh-CN" altLang="en-US" dirty="0"/>
              <a:t>下回分解</a:t>
            </a:r>
            <a:r>
              <a:rPr kumimoji="1" lang="en-US" altLang="zh-CN" dirty="0"/>
              <a:t>』</a:t>
            </a:r>
          </a:p>
          <a:p>
            <a:pPr lvl="2"/>
            <a:r>
              <a:rPr kumimoji="1" lang="zh-CN" altLang="en-US" dirty="0"/>
              <a:t>綜合分析</a:t>
            </a:r>
            <a:endParaRPr kumimoji="1" lang="en-US" altLang="zh-CN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85E22B7-325A-FB4F-862B-BB8DDFCEBDBF}"/>
              </a:ext>
            </a:extLst>
          </p:cNvPr>
          <p:cNvSpPr txBox="1"/>
          <p:nvPr/>
        </p:nvSpPr>
        <p:spPr>
          <a:xfrm>
            <a:off x="3451123" y="1637071"/>
            <a:ext cx="1017638" cy="41658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67C2431-E492-C448-9B1F-8EB0612F0D68}"/>
              </a:ext>
            </a:extLst>
          </p:cNvPr>
          <p:cNvSpPr txBox="1"/>
          <p:nvPr/>
        </p:nvSpPr>
        <p:spPr>
          <a:xfrm>
            <a:off x="8647471" y="1637070"/>
            <a:ext cx="1323667" cy="416581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FC1017C-0651-4240-9E14-44C9435802DA}"/>
              </a:ext>
            </a:extLst>
          </p:cNvPr>
          <p:cNvSpPr txBox="1"/>
          <p:nvPr/>
        </p:nvSpPr>
        <p:spPr>
          <a:xfrm>
            <a:off x="1512939" y="2124995"/>
            <a:ext cx="1323667" cy="416581"/>
          </a:xfrm>
          <a:prstGeom prst="rect">
            <a:avLst/>
          </a:prstGeom>
          <a:noFill/>
          <a:ln w="38100">
            <a:solidFill>
              <a:srgbClr val="002060"/>
            </a:solidFill>
          </a:ln>
        </p:spPr>
        <p:txBody>
          <a:bodyPr wrap="square" rtlCol="0">
            <a:spAutoFit/>
          </a:bodyPr>
          <a:lstStyle/>
          <a:p>
            <a:endParaRPr kumimoji="1"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D773BCE-95AF-EC49-AC62-2BE066E8C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1123" y="4236170"/>
            <a:ext cx="8623300" cy="2413000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61623939-2814-5E4D-8792-A728E639B2CC}"/>
              </a:ext>
            </a:extLst>
          </p:cNvPr>
          <p:cNvSpPr/>
          <p:nvPr/>
        </p:nvSpPr>
        <p:spPr>
          <a:xfrm>
            <a:off x="6385313" y="3866838"/>
            <a:ext cx="22621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zh-CN" altLang="en-US" dirty="0">
                <a:solidFill>
                  <a:srgbClr val="002060"/>
                </a:solidFill>
              </a:rPr>
              <a:t>漸進式的變異點分析</a:t>
            </a:r>
            <a:endParaRPr lang="zh-TW" altLang="en-US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06131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7D7667C7-DDF9-C741-9EC3-BA2D9EBCC8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93" y="110142"/>
            <a:ext cx="12014480" cy="6747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0197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0D893F-EB37-6D4E-9A98-47C41E298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8238"/>
            <a:ext cx="10515600" cy="2852737"/>
          </a:xfrm>
        </p:spPr>
        <p:txBody>
          <a:bodyPr/>
          <a:lstStyle/>
          <a:p>
            <a:pPr algn="ctr"/>
            <a:r>
              <a:rPr kumimoji="1" lang="en-US" altLang="zh-TW" dirty="0"/>
              <a:t>End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010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1751</TotalTime>
  <Words>1178</Words>
  <Application>Microsoft Office PowerPoint</Application>
  <PresentationFormat>寬螢幕</PresentationFormat>
  <Paragraphs>116</Paragraphs>
  <Slides>26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26</vt:i4>
      </vt:variant>
    </vt:vector>
  </HeadingPairs>
  <TitlesOfParts>
    <vt:vector size="34" baseType="lpstr">
      <vt:lpstr>ARMingtiMBIG</vt:lpstr>
      <vt:lpstr>等线</vt:lpstr>
      <vt:lpstr>TimesNewRoman</vt:lpstr>
      <vt:lpstr>新細明體</vt:lpstr>
      <vt:lpstr>Arial</vt:lpstr>
      <vt:lpstr>Calibri</vt:lpstr>
      <vt:lpstr>Calibri Light</vt:lpstr>
      <vt:lpstr>Office 佈景主題</vt:lpstr>
      <vt:lpstr>統計在紅樓夢上的應用</vt:lpstr>
      <vt:lpstr>摘要</vt:lpstr>
      <vt:lpstr>報告之順序</vt:lpstr>
      <vt:lpstr>一、&lt;&lt;紅樓夢&gt;&gt;簡介</vt:lpstr>
      <vt:lpstr>二、文獻探討</vt:lpstr>
      <vt:lpstr>PowerPoint 簡報</vt:lpstr>
      <vt:lpstr>三、研究方法</vt:lpstr>
      <vt:lpstr>三、研究方法--結構研究：詩詞與虛詞</vt:lpstr>
      <vt:lpstr>三、研究方法--結構研究：詩詞</vt:lpstr>
      <vt:lpstr>三、研究方法--結構研究：詩詞</vt:lpstr>
      <vt:lpstr>三、研究方法--結構研究：虛詞</vt:lpstr>
      <vt:lpstr>三、研究方法--結構研究：其他字詞分析</vt:lpstr>
      <vt:lpstr>三、研究方法--結構研究：其他字詞分析</vt:lpstr>
      <vt:lpstr>三、研究方法--結構研究：『下回分解』分析</vt:lpstr>
      <vt:lpstr>三、研究方法--結構研究：綜合分析</vt:lpstr>
      <vt:lpstr>三、研究方法--結構研究：綜合分析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四、結論</vt:lpstr>
      <vt:lpstr>PowerPoint 簡報</vt:lpstr>
      <vt:lpstr>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APPROXIMATE K-NEAREST NEIGHBOUR BASED SPATIAL CLUSTERING USING K-D TREE </dc:title>
  <dc:creator>M073040105</dc:creator>
  <cp:lastModifiedBy>pplab</cp:lastModifiedBy>
  <cp:revision>473</cp:revision>
  <dcterms:created xsi:type="dcterms:W3CDTF">2020-01-08T16:42:43Z</dcterms:created>
  <dcterms:modified xsi:type="dcterms:W3CDTF">2020-06-03T11:47:16Z</dcterms:modified>
</cp:coreProperties>
</file>