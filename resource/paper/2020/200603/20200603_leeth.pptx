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21" r:id="rId2"/>
    <p:sldId id="311" r:id="rId3"/>
    <p:sldId id="337" r:id="rId4"/>
    <p:sldId id="333" r:id="rId5"/>
    <p:sldId id="306" r:id="rId6"/>
    <p:sldId id="338" r:id="rId7"/>
    <p:sldId id="329" r:id="rId8"/>
    <p:sldId id="339" r:id="rId9"/>
    <p:sldId id="340" r:id="rId10"/>
    <p:sldId id="341" r:id="rId11"/>
    <p:sldId id="33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2272" autoAdjust="0"/>
  </p:normalViewPr>
  <p:slideViewPr>
    <p:cSldViewPr snapToGrid="0">
      <p:cViewPr varScale="1">
        <p:scale>
          <a:sx n="105" d="100"/>
          <a:sy n="105" d="100"/>
        </p:scale>
        <p:origin x="1824" y="10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2020/6/3</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美國國家科學院院刊</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dirty="0"/>
              <a:t>這篇主要在說生物的同源性，先從相似性推論到同源性，再從同源性推論到功能性，然後也說明怎樣能夠有效率的來識別是否為同源。</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dirty="0"/>
              <a:t>這篇主要在說生物的同源性，先從相似性推論到同源性，再從同源性推論到功能性，然後也說明怎樣能夠有效率的來識別是否為同源。</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20440997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sz="1200" b="0" i="0" u="none" strike="noStrike" kern="1200" baseline="0" dirty="0">
                <a:solidFill>
                  <a:schemeClr val="tx1"/>
                </a:solidFill>
                <a:latin typeface="+mn-lt"/>
                <a:ea typeface="+mn-ea"/>
                <a:cs typeface="+mn-cs"/>
              </a:rPr>
              <a:t>Pearson</a:t>
            </a:r>
            <a:r>
              <a:rPr lang="zh-TW" altLang="en-US" sz="1200" b="0" i="0" u="none" strike="noStrike" kern="1200" baseline="0" dirty="0">
                <a:solidFill>
                  <a:schemeClr val="tx1"/>
                </a:solidFill>
                <a:latin typeface="+mn-lt"/>
                <a:ea typeface="+mn-ea"/>
                <a:cs typeface="+mn-cs"/>
              </a:rPr>
              <a:t>的</a:t>
            </a:r>
            <a:r>
              <a:rPr lang="en-US" altLang="zh-TW" sz="1200" b="0" i="0" u="none" strike="noStrike" kern="1200" baseline="0" dirty="0">
                <a:solidFill>
                  <a:schemeClr val="tx1"/>
                </a:solidFill>
                <a:latin typeface="+mn-lt"/>
                <a:ea typeface="+mn-ea"/>
                <a:cs typeface="+mn-cs"/>
              </a:rPr>
              <a:t>database</a:t>
            </a:r>
            <a:r>
              <a:rPr lang="zh-TW" altLang="en-US" sz="1200" b="0" i="0" u="none" strike="noStrike" kern="1200" baseline="0" dirty="0">
                <a:solidFill>
                  <a:schemeClr val="tx1"/>
                </a:solidFill>
                <a:latin typeface="+mn-lt"/>
                <a:ea typeface="+mn-ea"/>
                <a:cs typeface="+mn-cs"/>
              </a:rPr>
              <a:t>是</a:t>
            </a:r>
            <a:r>
              <a:rPr lang="en-US" altLang="zh-TW" sz="1200" b="0" i="0" u="none" strike="noStrike" kern="1200" baseline="0" dirty="0">
                <a:solidFill>
                  <a:schemeClr val="tx1"/>
                </a:solidFill>
                <a:latin typeface="+mn-lt"/>
                <a:ea typeface="+mn-ea"/>
                <a:cs typeface="+mn-cs"/>
              </a:rPr>
              <a:t>PIR</a:t>
            </a:r>
          </a:p>
          <a:p>
            <a:r>
              <a:rPr lang="en-US" altLang="zh-TW" sz="1200" b="0" i="0" u="none" strike="noStrike" kern="1200" baseline="0" dirty="0" err="1">
                <a:solidFill>
                  <a:schemeClr val="tx1"/>
                </a:solidFill>
                <a:latin typeface="+mn-lt"/>
                <a:ea typeface="+mn-ea"/>
                <a:cs typeface="+mn-cs"/>
              </a:rPr>
              <a:t>Henikoff</a:t>
            </a:r>
            <a:r>
              <a:rPr lang="zh-TW" altLang="en-US" sz="1200" b="0" i="0" u="none" strike="noStrike" kern="1200" baseline="0" dirty="0">
                <a:solidFill>
                  <a:schemeClr val="tx1"/>
                </a:solidFill>
                <a:latin typeface="+mn-lt"/>
                <a:ea typeface="+mn-ea"/>
                <a:cs typeface="+mn-cs"/>
              </a:rPr>
              <a:t>是評價</a:t>
            </a:r>
            <a:r>
              <a:rPr lang="en-US" altLang="zh-TW" sz="1200" b="0" i="0" u="none" strike="noStrike" kern="1200" baseline="0" dirty="0">
                <a:solidFill>
                  <a:schemeClr val="tx1"/>
                </a:solidFill>
                <a:latin typeface="+mn-lt"/>
                <a:ea typeface="+mn-ea"/>
                <a:cs typeface="+mn-cs"/>
              </a:rPr>
              <a:t>BLAST</a:t>
            </a:r>
            <a:r>
              <a:rPr lang="zh-TW" altLang="en-US" sz="1200" b="0" i="0" u="none" strike="noStrike" kern="1200" baseline="0" dirty="0">
                <a:solidFill>
                  <a:schemeClr val="tx1"/>
                </a:solidFill>
                <a:latin typeface="+mn-lt"/>
                <a:ea typeface="+mn-ea"/>
                <a:cs typeface="+mn-cs"/>
              </a:rPr>
              <a:t>和</a:t>
            </a:r>
            <a:r>
              <a:rPr lang="en-US" altLang="zh-TW" sz="1200" b="0" i="0" u="none" strike="noStrike" kern="1200" baseline="0" dirty="0">
                <a:solidFill>
                  <a:schemeClr val="tx1"/>
                </a:solidFill>
                <a:latin typeface="+mn-lt"/>
                <a:ea typeface="+mn-ea"/>
                <a:cs typeface="+mn-cs"/>
              </a:rPr>
              <a:t>FASTA</a:t>
            </a:r>
            <a:r>
              <a:rPr lang="zh-TW" altLang="en-US" sz="1200" b="0" i="0" u="none" strike="noStrike" kern="1200" baseline="0" dirty="0">
                <a:solidFill>
                  <a:schemeClr val="tx1"/>
                </a:solidFill>
                <a:latin typeface="+mn-lt"/>
                <a:ea typeface="+mn-ea"/>
                <a:cs typeface="+mn-cs"/>
              </a:rPr>
              <a:t>的效能，用的是</a:t>
            </a:r>
            <a:r>
              <a:rPr lang="en-US" altLang="zh-TW" sz="1200" b="0" i="0" u="none" strike="noStrike" kern="1200" baseline="0" dirty="0">
                <a:solidFill>
                  <a:schemeClr val="tx1"/>
                </a:solidFill>
                <a:latin typeface="+mn-lt"/>
                <a:ea typeface="+mn-ea"/>
                <a:cs typeface="+mn-cs"/>
              </a:rPr>
              <a:t>SWISS-PROT database</a:t>
            </a:r>
          </a:p>
          <a:p>
            <a:r>
              <a:rPr lang="en-US" altLang="zh-TW" sz="1200" dirty="0">
                <a:latin typeface="Times New Roman" panose="02020603050405020304" pitchFamily="18" charset="0"/>
                <a:cs typeface="Times New Roman" panose="02020603050405020304" pitchFamily="18" charset="0"/>
              </a:rPr>
              <a:t>Sander and Schneider</a:t>
            </a:r>
            <a:r>
              <a:rPr lang="zh-TW" altLang="en-US" sz="1200" dirty="0">
                <a:latin typeface="Times New Roman" panose="02020603050405020304" pitchFamily="18" charset="0"/>
                <a:cs typeface="Times New Roman" panose="02020603050405020304" pitchFamily="18" charset="0"/>
              </a:rPr>
              <a:t>用蛋白質結構來評估</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sz="1200" kern="1200" dirty="0">
                <a:solidFill>
                  <a:schemeClr val="tx1"/>
                </a:solidFill>
                <a:latin typeface="+mn-lt"/>
                <a:ea typeface="+mn-ea"/>
                <a:cs typeface="+mn-cs"/>
              </a:rPr>
              <a:t>血紅蛋白和肌紅蛋白雖然序列並不相似，但他們是非常接近的，所以看結構和功能會比看序列來得好。</a:t>
            </a:r>
            <a:endParaRPr lang="en-US" altLang="zh-TW" sz="1200" kern="1200" dirty="0">
              <a:solidFill>
                <a:schemeClr val="tx1"/>
              </a:solidFill>
              <a:latin typeface="+mn-lt"/>
              <a:ea typeface="+mn-ea"/>
              <a:cs typeface="+mn-cs"/>
            </a:endParaRPr>
          </a:p>
          <a:p>
            <a:r>
              <a:rPr lang="zh-TW" altLang="en-US" sz="1200" b="0" i="0" kern="1200" dirty="0">
                <a:solidFill>
                  <a:schemeClr val="tx1"/>
                </a:solidFill>
                <a:effectLst/>
                <a:latin typeface="+mn-lt"/>
                <a:ea typeface="+mn-ea"/>
                <a:cs typeface="+mn-cs"/>
              </a:rPr>
              <a:t>蛋白質結構分類數據庫主要是根據蛋白質結構域的結構和氨基酸序列的相似性對蛋白質結構域進行手動分類。進行這種分類的動機是確定蛋白質之間的進化關係。具有相同形狀但幾乎沒有序列或功能相似性的蛋白質被置於不同的超家族中，並且被認為僅具有非常遙遠的共同祖先。</a:t>
            </a:r>
            <a:endParaRPr lang="en-US" altLang="zh-TW" sz="1200" b="0" i="0" kern="1200" dirty="0">
              <a:solidFill>
                <a:schemeClr val="tx1"/>
              </a:solidFill>
              <a:effectLst/>
              <a:latin typeface="+mn-lt"/>
              <a:ea typeface="+mn-ea"/>
              <a:cs typeface="+mn-cs"/>
            </a:endParaRPr>
          </a:p>
          <a:p>
            <a:r>
              <a:rPr lang="en-US" altLang="zh-TW" sz="1200" dirty="0">
                <a:latin typeface="Times New Roman" panose="02020603050405020304" pitchFamily="18" charset="0"/>
                <a:cs typeface="Times New Roman" panose="02020603050405020304" pitchFamily="18" charset="0"/>
              </a:rPr>
              <a:t>PDB40D-B</a:t>
            </a:r>
            <a:r>
              <a:rPr lang="zh-TW" altLang="en-US" sz="1200" dirty="0">
                <a:latin typeface="Times New Roman" panose="02020603050405020304" pitchFamily="18" charset="0"/>
                <a:cs typeface="Times New Roman" panose="02020603050405020304" pitchFamily="18" charset="0"/>
              </a:rPr>
              <a:t>有</a:t>
            </a:r>
            <a:r>
              <a:rPr lang="en-US" altLang="zh-TW" sz="1200" dirty="0">
                <a:latin typeface="Times New Roman" panose="02020603050405020304" pitchFamily="18" charset="0"/>
                <a:cs typeface="Times New Roman" panose="02020603050405020304" pitchFamily="18" charset="0"/>
              </a:rPr>
              <a:t>1323</a:t>
            </a:r>
            <a:r>
              <a:rPr lang="zh-TW" altLang="en-US" sz="1200" dirty="0">
                <a:latin typeface="Times New Roman" panose="02020603050405020304" pitchFamily="18" charset="0"/>
                <a:cs typeface="Times New Roman" panose="02020603050405020304" pitchFamily="18" charset="0"/>
              </a:rPr>
              <a:t>個</a:t>
            </a:r>
            <a:r>
              <a:rPr lang="en-US" altLang="zh-TW" sz="1200" dirty="0">
                <a:latin typeface="Times New Roman" panose="02020603050405020304" pitchFamily="18" charset="0"/>
                <a:cs typeface="Times New Roman" panose="02020603050405020304" pitchFamily="18" charset="0"/>
              </a:rPr>
              <a:t>domain</a:t>
            </a:r>
            <a:r>
              <a:rPr lang="zh-TW" altLang="en-US" sz="1200" dirty="0">
                <a:latin typeface="Times New Roman" panose="02020603050405020304" pitchFamily="18" charset="0"/>
                <a:cs typeface="Times New Roman" panose="02020603050405020304" pitchFamily="18" charset="0"/>
              </a:rPr>
              <a:t>，</a:t>
            </a:r>
            <a:r>
              <a:rPr lang="en-US" altLang="zh-TW" sz="1200" dirty="0">
                <a:latin typeface="Times New Roman" panose="02020603050405020304" pitchFamily="18" charset="0"/>
                <a:cs typeface="Times New Roman" panose="02020603050405020304" pitchFamily="18" charset="0"/>
              </a:rPr>
              <a:t>9044</a:t>
            </a:r>
            <a:r>
              <a:rPr lang="zh-TW" altLang="en-US" sz="1200" dirty="0">
                <a:latin typeface="Times New Roman" panose="02020603050405020304" pitchFamily="18" charset="0"/>
                <a:cs typeface="Times New Roman" panose="02020603050405020304" pitchFamily="18" charset="0"/>
              </a:rPr>
              <a:t>個有序的遠距離關係列</a:t>
            </a:r>
            <a:endParaRPr lang="en-US" altLang="zh-TW" sz="120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dirty="0">
                <a:latin typeface="Times New Roman" panose="02020603050405020304" pitchFamily="18" charset="0"/>
                <a:cs typeface="Times New Roman" panose="02020603050405020304" pitchFamily="18" charset="0"/>
              </a:rPr>
              <a:t>PDB90D-B</a:t>
            </a:r>
            <a:r>
              <a:rPr lang="zh-TW" altLang="en-US" sz="1200" dirty="0">
                <a:latin typeface="Times New Roman" panose="02020603050405020304" pitchFamily="18" charset="0"/>
                <a:cs typeface="Times New Roman" panose="02020603050405020304" pitchFamily="18" charset="0"/>
              </a:rPr>
              <a:t>有</a:t>
            </a:r>
            <a:r>
              <a:rPr lang="en-US" altLang="zh-TW" sz="1200" dirty="0">
                <a:latin typeface="Times New Roman" panose="02020603050405020304" pitchFamily="18" charset="0"/>
                <a:cs typeface="Times New Roman" panose="02020603050405020304" pitchFamily="18" charset="0"/>
              </a:rPr>
              <a:t>2079</a:t>
            </a:r>
            <a:r>
              <a:rPr lang="zh-TW" altLang="en-US" sz="1200" dirty="0">
                <a:latin typeface="Times New Roman" panose="02020603050405020304" pitchFamily="18" charset="0"/>
                <a:cs typeface="Times New Roman" panose="02020603050405020304" pitchFamily="18" charset="0"/>
              </a:rPr>
              <a:t>個</a:t>
            </a:r>
            <a:r>
              <a:rPr lang="en-US" altLang="zh-TW" sz="1200" dirty="0">
                <a:latin typeface="Times New Roman" panose="02020603050405020304" pitchFamily="18" charset="0"/>
                <a:cs typeface="Times New Roman" panose="02020603050405020304" pitchFamily="18" charset="0"/>
              </a:rPr>
              <a:t>domain</a:t>
            </a:r>
            <a:r>
              <a:rPr lang="zh-TW" altLang="en-US" sz="1200" dirty="0">
                <a:latin typeface="Times New Roman" panose="02020603050405020304" pitchFamily="18" charset="0"/>
                <a:cs typeface="Times New Roman" panose="02020603050405020304" pitchFamily="18" charset="0"/>
              </a:rPr>
              <a:t>，</a:t>
            </a:r>
            <a:r>
              <a:rPr lang="en-US" altLang="zh-TW" sz="1200" dirty="0">
                <a:latin typeface="Times New Roman" panose="02020603050405020304" pitchFamily="18" charset="0"/>
                <a:cs typeface="Times New Roman" panose="02020603050405020304" pitchFamily="18" charset="0"/>
              </a:rPr>
              <a:t>53988</a:t>
            </a:r>
            <a:r>
              <a:rPr lang="zh-TW" altLang="en-US" sz="1200" dirty="0">
                <a:latin typeface="Times New Roman" panose="02020603050405020304" pitchFamily="18" charset="0"/>
                <a:cs typeface="Times New Roman" panose="02020603050405020304" pitchFamily="18" charset="0"/>
              </a:rPr>
              <a:t>個有序的遠距離關係列</a:t>
            </a:r>
            <a:endParaRPr lang="zh-TW" altLang="en-US" b="1" dirty="0"/>
          </a:p>
          <a:p>
            <a:r>
              <a:rPr lang="zh-TW" altLang="en-US" b="0" dirty="0"/>
              <a:t>但是</a:t>
            </a:r>
            <a:r>
              <a:rPr lang="en-US" altLang="zh-TW" b="0" dirty="0"/>
              <a:t>PDB40D-B</a:t>
            </a:r>
            <a:r>
              <a:rPr lang="zh-TW" altLang="en-US" b="0" dirty="0"/>
              <a:t>著眼於遠距離相關的蛋白質，減少了少數家族在</a:t>
            </a:r>
            <a:r>
              <a:rPr lang="en-US" altLang="zh-TW" b="0" dirty="0"/>
              <a:t>PDB</a:t>
            </a:r>
            <a:r>
              <a:rPr lang="zh-TW" altLang="en-US" b="0" dirty="0"/>
              <a:t>中的過度表達，而</a:t>
            </a:r>
            <a:r>
              <a:rPr lang="en-US" altLang="zh-TW" b="0" dirty="0"/>
              <a:t>PDB90D-B</a:t>
            </a:r>
            <a:r>
              <a:rPr lang="zh-TW" altLang="en-US" b="0" dirty="0"/>
              <a:t>（具有更多的序列）改善了對統計數據的評估</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2.10</a:t>
            </a:r>
          </a:p>
          <a:p>
            <a:r>
              <a:rPr lang="en-US" altLang="zh-TW" dirty="0"/>
              <a:t>36</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01703923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EPQ:</a:t>
            </a:r>
            <a:r>
              <a:rPr lang="zh-TW" altLang="en-US" dirty="0"/>
              <a:t>超出閾值的非同源對的數量除以查詢數量</a:t>
            </a:r>
            <a:endParaRPr lang="en-US" altLang="zh-TW" dirty="0"/>
          </a:p>
          <a:p>
            <a:r>
              <a:rPr lang="en-US" altLang="zh-TW" dirty="0"/>
              <a:t> the x axis indicates the fraction of all homologs in the database (known from structure) which have been detected.</a:t>
            </a:r>
          </a:p>
          <a:p>
            <a:r>
              <a:rPr lang="en-US" altLang="zh-TW" dirty="0"/>
              <a:t>Percentage identity within alignment is the degree of identity within the aligned region of the proteins, without consideration of the alignment length.</a:t>
            </a:r>
          </a:p>
          <a:p>
            <a:r>
              <a:rPr lang="en-US" altLang="zh-TW" dirty="0"/>
              <a:t>Percentage identity within both is the number of identical residues in the aligned region as a percentage of the average length of the query and target proteins</a:t>
            </a:r>
          </a:p>
          <a:p>
            <a:r>
              <a:rPr lang="en-US" altLang="zh-TW" dirty="0"/>
              <a:t> The HSSP equation (17) is H 5 290.15*l</a:t>
            </a:r>
            <a:r>
              <a:rPr lang="zh-TW" altLang="en-US" dirty="0"/>
              <a:t>的</a:t>
            </a:r>
            <a:r>
              <a:rPr lang="en-US" altLang="zh-TW" dirty="0"/>
              <a:t>-0.562</a:t>
            </a:r>
            <a:r>
              <a:rPr lang="zh-TW" altLang="en-US" dirty="0"/>
              <a:t>次方</a:t>
            </a:r>
            <a:r>
              <a:rPr lang="en-US" altLang="zh-TW" dirty="0"/>
              <a:t> where l is length for 10 &lt; l &lt; 80; H &gt; 100 for l &lt; 10; H = 24.7 for l &gt; 80. The percentage identity HSSP-adjusted score is the percent identity within the alignment minus H.</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55483780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rtl="0"/>
            <a:r>
              <a:rPr lang="en-US" altLang="zh-TW" sz="1200" b="0" i="0" kern="1200" dirty="0">
                <a:solidFill>
                  <a:schemeClr val="tx1"/>
                </a:solidFill>
                <a:effectLst/>
                <a:latin typeface="+mn-lt"/>
                <a:ea typeface="+mn-ea"/>
                <a:cs typeface="+mn-cs"/>
              </a:rPr>
              <a:t>SSEARCH</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FASTA</a:t>
            </a:r>
            <a:r>
              <a:rPr lang="zh-TW" altLang="en-US" sz="1200" b="0" i="0" kern="1200" dirty="0">
                <a:solidFill>
                  <a:schemeClr val="tx1"/>
                </a:solidFill>
                <a:effectLst/>
                <a:latin typeface="+mn-lt"/>
                <a:ea typeface="+mn-ea"/>
                <a:cs typeface="+mn-cs"/>
              </a:rPr>
              <a:t>的</a:t>
            </a:r>
            <a:r>
              <a:rPr lang="en-US" altLang="zh-TW" sz="1200" b="0" i="0" kern="1200" dirty="0">
                <a:solidFill>
                  <a:schemeClr val="tx1"/>
                </a:solidFill>
                <a:effectLst/>
                <a:latin typeface="+mn-lt"/>
                <a:ea typeface="+mn-ea"/>
                <a:cs typeface="+mn-cs"/>
              </a:rPr>
              <a:t>E</a:t>
            </a:r>
            <a:r>
              <a:rPr lang="zh-TW" altLang="en-US" sz="1200" b="0" i="0" kern="1200" dirty="0">
                <a:solidFill>
                  <a:schemeClr val="tx1"/>
                </a:solidFill>
                <a:effectLst/>
                <a:latin typeface="+mn-lt"/>
                <a:ea typeface="+mn-ea"/>
                <a:cs typeface="+mn-cs"/>
              </a:rPr>
              <a:t>值與</a:t>
            </a:r>
            <a:r>
              <a:rPr lang="en-US" altLang="zh-TW" sz="1200" b="0" i="0" kern="1200" dirty="0">
                <a:solidFill>
                  <a:schemeClr val="tx1"/>
                </a:solidFill>
                <a:effectLst/>
                <a:latin typeface="+mn-lt"/>
                <a:ea typeface="+mn-ea"/>
                <a:cs typeface="+mn-cs"/>
              </a:rPr>
              <a:t>EPQ</a:t>
            </a:r>
            <a:r>
              <a:rPr lang="zh-TW" altLang="en-US" sz="1200" b="0" i="0" kern="1200" dirty="0">
                <a:solidFill>
                  <a:schemeClr val="tx1"/>
                </a:solidFill>
                <a:effectLst/>
                <a:latin typeface="+mn-lt"/>
                <a:ea typeface="+mn-ea"/>
                <a:cs typeface="+mn-cs"/>
              </a:rPr>
              <a:t>有很好的一致性，但其重要性略有低估。 </a:t>
            </a:r>
            <a:r>
              <a:rPr lang="en-US" altLang="zh-TW" sz="1200" b="0" i="0" kern="1200" dirty="0">
                <a:solidFill>
                  <a:schemeClr val="tx1"/>
                </a:solidFill>
                <a:effectLst/>
                <a:latin typeface="+mn-lt"/>
                <a:ea typeface="+mn-ea"/>
                <a:cs typeface="+mn-cs"/>
              </a:rPr>
              <a:t>BLAST</a:t>
            </a:r>
            <a:r>
              <a:rPr lang="zh-TW" altLang="en-US" sz="1200" b="0" i="0" kern="1200" dirty="0">
                <a:solidFill>
                  <a:schemeClr val="tx1"/>
                </a:solidFill>
                <a:effectLst/>
                <a:latin typeface="+mn-lt"/>
                <a:ea typeface="+mn-ea"/>
                <a:cs typeface="+mn-cs"/>
              </a:rPr>
              <a:t>和</a:t>
            </a:r>
            <a:r>
              <a:rPr lang="en-US" altLang="zh-TW" sz="1200" b="0" i="0" kern="1200" dirty="0">
                <a:solidFill>
                  <a:schemeClr val="tx1"/>
                </a:solidFill>
                <a:effectLst/>
                <a:latin typeface="+mn-lt"/>
                <a:ea typeface="+mn-ea"/>
                <a:cs typeface="+mn-cs"/>
              </a:rPr>
              <a:t>WU-BLAST2</a:t>
            </a:r>
            <a:r>
              <a:rPr lang="zh-TW" altLang="en-US" sz="1200" b="0" i="0" kern="1200" dirty="0">
                <a:solidFill>
                  <a:schemeClr val="tx1"/>
                </a:solidFill>
                <a:effectLst/>
                <a:latin typeface="+mn-lt"/>
                <a:ea typeface="+mn-ea"/>
                <a:cs typeface="+mn-cs"/>
              </a:rPr>
              <a:t>過於自信，誇張程度取決於得分。</a:t>
            </a:r>
          </a:p>
          <a:p>
            <a:endParaRPr lang="en-US" altLang="zh-TW"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15076976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TW" sz="1200" kern="1200" dirty="0" err="1">
                <a:solidFill>
                  <a:schemeClr val="tx1"/>
                </a:solidFill>
                <a:latin typeface="+mn-lt"/>
                <a:ea typeface="+mn-ea"/>
                <a:cs typeface="+mn-cs"/>
              </a:rPr>
              <a:t>ktup</a:t>
            </a:r>
            <a:r>
              <a:rPr lang="zh-TW" altLang="en-US" sz="1200" kern="1200" dirty="0">
                <a:solidFill>
                  <a:schemeClr val="tx1"/>
                </a:solidFill>
                <a:latin typeface="+mn-lt"/>
                <a:ea typeface="+mn-ea"/>
                <a:cs typeface="+mn-cs"/>
              </a:rPr>
              <a:t>參數由用戶指定，其整數值可以為</a:t>
            </a:r>
            <a:r>
              <a:rPr lang="en-US" altLang="zh-TW" sz="1200" kern="1200" dirty="0">
                <a:solidFill>
                  <a:schemeClr val="tx1"/>
                </a:solidFill>
                <a:latin typeface="+mn-lt"/>
                <a:ea typeface="+mn-ea"/>
                <a:cs typeface="+mn-cs"/>
              </a:rPr>
              <a:t>1-6</a:t>
            </a:r>
            <a:r>
              <a:rPr lang="zh-TW" altLang="en-US" sz="1200" kern="1200" dirty="0">
                <a:solidFill>
                  <a:schemeClr val="tx1"/>
                </a:solidFill>
                <a:latin typeface="+mn-lt"/>
                <a:ea typeface="+mn-ea"/>
                <a:cs typeface="+mn-cs"/>
              </a:rPr>
              <a:t>（包括</a:t>
            </a:r>
            <a:r>
              <a:rPr lang="en-US" altLang="zh-TW" sz="1200" kern="1200" dirty="0">
                <a:solidFill>
                  <a:schemeClr val="tx1"/>
                </a:solidFill>
                <a:latin typeface="+mn-lt"/>
                <a:ea typeface="+mn-ea"/>
                <a:cs typeface="+mn-cs"/>
              </a:rPr>
              <a:t>1-6</a:t>
            </a:r>
            <a:r>
              <a:rPr lang="zh-TW" altLang="en-US" sz="1200" kern="1200" dirty="0">
                <a:solidFill>
                  <a:schemeClr val="tx1"/>
                </a:solidFill>
                <a:latin typeface="+mn-lt"/>
                <a:ea typeface="+mn-ea"/>
                <a:cs typeface="+mn-cs"/>
              </a:rPr>
              <a:t>）（默認</a:t>
            </a:r>
            <a:r>
              <a:rPr lang="en-US" altLang="zh-TW" sz="1200" kern="1200" dirty="0">
                <a:solidFill>
                  <a:schemeClr val="tx1"/>
                </a:solidFill>
                <a:latin typeface="+mn-lt"/>
                <a:ea typeface="+mn-ea"/>
                <a:cs typeface="+mn-cs"/>
              </a:rPr>
              <a:t>= 2</a:t>
            </a:r>
            <a:r>
              <a:rPr lang="zh-TW" altLang="en-US" sz="1200" kern="1200" dirty="0">
                <a:solidFill>
                  <a:schemeClr val="tx1"/>
                </a:solidFill>
                <a:latin typeface="+mn-lt"/>
                <a:ea typeface="+mn-ea"/>
                <a:cs typeface="+mn-cs"/>
              </a:rPr>
              <a:t>）。 這確定了匹配需要多少個連續的相同殘基。 這對搜索的敏感性和選擇性有影響。增大</a:t>
            </a:r>
            <a:r>
              <a:rPr lang="en-US" altLang="zh-TW" sz="1200" kern="1200" dirty="0" err="1">
                <a:solidFill>
                  <a:schemeClr val="tx1"/>
                </a:solidFill>
                <a:latin typeface="+mn-lt"/>
                <a:ea typeface="+mn-ea"/>
                <a:cs typeface="+mn-cs"/>
              </a:rPr>
              <a:t>ktup</a:t>
            </a:r>
            <a:r>
              <a:rPr lang="zh-TW" altLang="en-US" sz="1200" kern="1200">
                <a:solidFill>
                  <a:schemeClr val="tx1"/>
                </a:solidFill>
                <a:latin typeface="+mn-lt"/>
                <a:ea typeface="+mn-ea"/>
                <a:cs typeface="+mn-cs"/>
              </a:rPr>
              <a:t>參數就會減少字串命中的數目，也就會減少所需要的最佳搜尋的數目和搜尋的速度。</a:t>
            </a:r>
          </a:p>
          <a:p>
            <a:endParaRPr lang="en-US" altLang="zh-TW"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6600260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t>Explain</a:t>
            </a:r>
            <a:r>
              <a:rPr lang="zh-TW" altLang="en-US" dirty="0"/>
              <a:t> </a:t>
            </a:r>
            <a:r>
              <a:rPr lang="en-US" altLang="zh-TW" dirty="0"/>
              <a:t>why</a:t>
            </a:r>
            <a:r>
              <a:rPr lang="zh-TW" altLang="en-US" dirty="0"/>
              <a:t> </a:t>
            </a:r>
            <a:r>
              <a:rPr lang="en-US" altLang="zh-TW" dirty="0"/>
              <a:t>most</a:t>
            </a:r>
            <a:r>
              <a:rPr lang="zh-TW" altLang="en-US" dirty="0"/>
              <a:t> </a:t>
            </a:r>
            <a:r>
              <a:rPr lang="en-US" altLang="zh-TW" dirty="0"/>
              <a:t>distant</a:t>
            </a:r>
            <a:r>
              <a:rPr lang="zh-TW" altLang="en-US" dirty="0"/>
              <a:t> </a:t>
            </a:r>
            <a:r>
              <a:rPr lang="en-US" altLang="zh-TW" dirty="0"/>
              <a:t>homologs</a:t>
            </a:r>
            <a:r>
              <a:rPr lang="zh-TW" altLang="en-US" dirty="0"/>
              <a:t> </a:t>
            </a:r>
            <a:r>
              <a:rPr lang="en-US" altLang="zh-TW" dirty="0"/>
              <a:t>cannot</a:t>
            </a:r>
            <a:r>
              <a:rPr lang="zh-TW" altLang="en-US" dirty="0"/>
              <a:t> </a:t>
            </a:r>
            <a:r>
              <a:rPr lang="en-US" altLang="zh-TW" dirty="0"/>
              <a:t>be found by sequence comparison</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322269324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en-US" altLang="zh-TW" sz="1200" b="0" i="0" u="none" strike="noStrike" kern="1200" baseline="0" dirty="0">
                <a:solidFill>
                  <a:schemeClr val="tx1"/>
                </a:solidFill>
                <a:latin typeface="+mn-lt"/>
                <a:ea typeface="+mn-ea"/>
                <a:cs typeface="+mn-cs"/>
              </a:rPr>
              <a:t>FASTA</a:t>
            </a:r>
            <a:r>
              <a:rPr lang="zh-TW" altLang="en-US" sz="1200" b="0" i="0" u="none" strike="noStrike" kern="1200" baseline="0" dirty="0">
                <a:solidFill>
                  <a:schemeClr val="tx1"/>
                </a:solidFill>
                <a:latin typeface="+mn-lt"/>
                <a:ea typeface="+mn-ea"/>
                <a:cs typeface="+mn-cs"/>
              </a:rPr>
              <a:t>和</a:t>
            </a:r>
            <a:r>
              <a:rPr lang="en-US" altLang="zh-TW" sz="1200" b="0" i="0" u="none" strike="noStrike" kern="1200" baseline="0" dirty="0">
                <a:solidFill>
                  <a:schemeClr val="tx1"/>
                </a:solidFill>
                <a:latin typeface="+mn-lt"/>
                <a:ea typeface="+mn-ea"/>
                <a:cs typeface="+mn-cs"/>
              </a:rPr>
              <a:t>SSEARCH</a:t>
            </a:r>
            <a:r>
              <a:rPr lang="zh-TW" altLang="en-US" sz="1200" b="0" i="0" u="none" strike="noStrike" kern="1200" baseline="0" dirty="0">
                <a:solidFill>
                  <a:schemeClr val="tx1"/>
                </a:solidFill>
                <a:latin typeface="+mn-lt"/>
                <a:ea typeface="+mn-ea"/>
                <a:cs typeface="+mn-cs"/>
              </a:rPr>
              <a:t>報告的</a:t>
            </a:r>
            <a:r>
              <a:rPr lang="en-US" altLang="zh-TW" sz="1200" b="0" i="0" u="none" strike="noStrike" kern="1200" baseline="0" dirty="0">
                <a:solidFill>
                  <a:schemeClr val="tx1"/>
                </a:solidFill>
                <a:latin typeface="+mn-lt"/>
                <a:ea typeface="+mn-ea"/>
                <a:cs typeface="+mn-cs"/>
              </a:rPr>
              <a:t>E</a:t>
            </a:r>
            <a:r>
              <a:rPr lang="zh-TW" altLang="en-US" sz="1200" b="0" i="0" u="none" strike="noStrike" kern="1200" baseline="0" dirty="0">
                <a:solidFill>
                  <a:schemeClr val="tx1"/>
                </a:solidFill>
                <a:latin typeface="+mn-lt"/>
                <a:ea typeface="+mn-ea"/>
                <a:cs typeface="+mn-cs"/>
              </a:rPr>
              <a:t>值對每個匹配的重要性給出了相當準確的估計，但是</a:t>
            </a:r>
            <a:r>
              <a:rPr lang="en-US" altLang="zh-TW" sz="1200" b="0" i="0" u="none" strike="noStrike" kern="1200" baseline="0" dirty="0">
                <a:solidFill>
                  <a:schemeClr val="tx1"/>
                </a:solidFill>
                <a:latin typeface="+mn-lt"/>
                <a:ea typeface="+mn-ea"/>
                <a:cs typeface="+mn-cs"/>
              </a:rPr>
              <a:t>BLAST</a:t>
            </a:r>
            <a:r>
              <a:rPr lang="zh-TW" altLang="en-US" sz="1200" b="0" i="0" u="none" strike="noStrike" kern="1200" baseline="0" dirty="0">
                <a:solidFill>
                  <a:schemeClr val="tx1"/>
                </a:solidFill>
                <a:latin typeface="+mn-lt"/>
                <a:ea typeface="+mn-ea"/>
                <a:cs typeface="+mn-cs"/>
              </a:rPr>
              <a:t>和</a:t>
            </a:r>
            <a:r>
              <a:rPr lang="en-US" altLang="zh-TW" sz="1200" b="0" i="0" u="none" strike="noStrike" kern="1200" baseline="0" dirty="0">
                <a:solidFill>
                  <a:schemeClr val="tx1"/>
                </a:solidFill>
                <a:latin typeface="+mn-lt"/>
                <a:ea typeface="+mn-ea"/>
                <a:cs typeface="+mn-cs"/>
              </a:rPr>
              <a:t>WU-BLAST2</a:t>
            </a:r>
            <a:r>
              <a:rPr lang="zh-TW" altLang="en-US" sz="1200" b="0" i="0" u="none" strike="noStrike" kern="1200" baseline="0" dirty="0">
                <a:solidFill>
                  <a:schemeClr val="tx1"/>
                </a:solidFill>
                <a:latin typeface="+mn-lt"/>
                <a:ea typeface="+mn-ea"/>
                <a:cs typeface="+mn-cs"/>
              </a:rPr>
              <a:t>提供的</a:t>
            </a:r>
            <a:r>
              <a:rPr lang="en-US" altLang="zh-TW" sz="1200" b="0" i="0" u="none" strike="noStrike" kern="1200" baseline="0" dirty="0">
                <a:solidFill>
                  <a:schemeClr val="tx1"/>
                </a:solidFill>
                <a:latin typeface="+mn-lt"/>
                <a:ea typeface="+mn-ea"/>
                <a:cs typeface="+mn-cs"/>
              </a:rPr>
              <a:t>P</a:t>
            </a:r>
            <a:r>
              <a:rPr lang="zh-TW" altLang="en-US" sz="1200" b="0" i="0" u="none" strike="noStrike" kern="1200" baseline="0" dirty="0">
                <a:solidFill>
                  <a:schemeClr val="tx1"/>
                </a:solidFill>
                <a:latin typeface="+mn-lt"/>
                <a:ea typeface="+mn-ea"/>
                <a:cs typeface="+mn-cs"/>
              </a:rPr>
              <a:t>值低估了錯誤的真實程度。</a:t>
            </a:r>
            <a:endParaRPr lang="en-US" altLang="zh-TW" sz="1200" b="0" i="0" u="none" strike="noStrike" kern="1200" baseline="0" dirty="0">
              <a:solidFill>
                <a:schemeClr val="tx1"/>
              </a:solidFill>
              <a:latin typeface="+mn-lt"/>
              <a:ea typeface="+mn-ea"/>
              <a:cs typeface="+mn-cs"/>
            </a:endParaRPr>
          </a:p>
          <a:p>
            <a:pPr marL="0" indent="0">
              <a:buNone/>
            </a:pPr>
            <a:r>
              <a:rPr lang="en-US" altLang="zh-TW" sz="1200" b="0" i="0" u="none" strike="noStrike" kern="1200" baseline="0" dirty="0">
                <a:solidFill>
                  <a:schemeClr val="tx1"/>
                </a:solidFill>
                <a:latin typeface="+mn-lt"/>
                <a:ea typeface="+mn-ea"/>
                <a:cs typeface="+mn-cs"/>
              </a:rPr>
              <a:t>SEARCH</a:t>
            </a:r>
            <a:r>
              <a:rPr lang="zh-TW" altLang="en-US" sz="1200" b="0" i="0" u="none" strike="noStrike" kern="1200" baseline="0" dirty="0">
                <a:solidFill>
                  <a:schemeClr val="tx1"/>
                </a:solidFill>
                <a:latin typeface="+mn-lt"/>
                <a:ea typeface="+mn-ea"/>
                <a:cs typeface="+mn-cs"/>
              </a:rPr>
              <a:t>，</a:t>
            </a:r>
            <a:r>
              <a:rPr lang="en-US" altLang="zh-TW" sz="1200" b="0" i="0" u="none" strike="noStrike" kern="1200" baseline="0" dirty="0">
                <a:solidFill>
                  <a:schemeClr val="tx1"/>
                </a:solidFill>
                <a:latin typeface="+mn-lt"/>
                <a:ea typeface="+mn-ea"/>
                <a:cs typeface="+mn-cs"/>
              </a:rPr>
              <a:t>EU-BLAST</a:t>
            </a:r>
            <a:r>
              <a:rPr lang="zh-TW" altLang="en-US" sz="1200" b="0" i="0" u="none" strike="noStrike" kern="1200" baseline="0" dirty="0">
                <a:solidFill>
                  <a:schemeClr val="tx1"/>
                </a:solidFill>
                <a:latin typeface="+mn-lt"/>
                <a:ea typeface="+mn-ea"/>
                <a:cs typeface="+mn-cs"/>
              </a:rPr>
              <a:t>和</a:t>
            </a:r>
            <a:r>
              <a:rPr lang="en-US" altLang="zh-TW" sz="1200" b="0" i="0" u="none" strike="noStrike" kern="1200" baseline="0" dirty="0">
                <a:solidFill>
                  <a:schemeClr val="tx1"/>
                </a:solidFill>
                <a:latin typeface="+mn-lt"/>
                <a:ea typeface="+mn-ea"/>
                <a:cs typeface="+mn-cs"/>
              </a:rPr>
              <a:t>FASTA </a:t>
            </a:r>
            <a:r>
              <a:rPr lang="en-US" altLang="zh-TW" sz="1200" b="0" i="0" u="none" strike="noStrike" kern="1200" baseline="0" dirty="0" err="1">
                <a:solidFill>
                  <a:schemeClr val="tx1"/>
                </a:solidFill>
                <a:latin typeface="+mn-lt"/>
                <a:ea typeface="+mn-ea"/>
                <a:cs typeface="+mn-cs"/>
              </a:rPr>
              <a:t>ktup</a:t>
            </a:r>
            <a:r>
              <a:rPr lang="en-US" altLang="zh-TW" sz="1200" b="0" i="0" u="none" strike="noStrike" kern="1200" baseline="0" dirty="0">
                <a:solidFill>
                  <a:schemeClr val="tx1"/>
                </a:solidFill>
                <a:latin typeface="+mn-lt"/>
                <a:ea typeface="+mn-ea"/>
                <a:cs typeface="+mn-cs"/>
              </a:rPr>
              <a:t> = 1</a:t>
            </a:r>
            <a:r>
              <a:rPr lang="zh-TW" altLang="en-US" sz="1200" b="0" i="0" u="none" strike="noStrike" kern="1200" baseline="0" dirty="0">
                <a:solidFill>
                  <a:schemeClr val="tx1"/>
                </a:solidFill>
                <a:latin typeface="+mn-lt"/>
                <a:ea typeface="+mn-ea"/>
                <a:cs typeface="+mn-cs"/>
              </a:rPr>
              <a:t>的效果最佳，儘管</a:t>
            </a:r>
            <a:r>
              <a:rPr lang="en-US" altLang="zh-TW" sz="1200" b="0" i="0" u="none" strike="noStrike" kern="1200" baseline="0" dirty="0">
                <a:solidFill>
                  <a:schemeClr val="tx1"/>
                </a:solidFill>
                <a:latin typeface="+mn-lt"/>
                <a:ea typeface="+mn-ea"/>
                <a:cs typeface="+mn-cs"/>
              </a:rPr>
              <a:t>BLAST</a:t>
            </a:r>
            <a:r>
              <a:rPr lang="zh-TW" altLang="en-US" sz="1200" b="0" i="0" u="none" strike="noStrike" kern="1200" baseline="0" dirty="0">
                <a:solidFill>
                  <a:schemeClr val="tx1"/>
                </a:solidFill>
                <a:latin typeface="+mn-lt"/>
                <a:ea typeface="+mn-ea"/>
                <a:cs typeface="+mn-cs"/>
              </a:rPr>
              <a:t>和</a:t>
            </a:r>
            <a:r>
              <a:rPr lang="en-US" altLang="zh-TW" sz="1200" b="0" i="0" u="none" strike="noStrike" kern="1200" baseline="0" dirty="0">
                <a:solidFill>
                  <a:schemeClr val="tx1"/>
                </a:solidFill>
                <a:latin typeface="+mn-lt"/>
                <a:ea typeface="+mn-ea"/>
                <a:cs typeface="+mn-cs"/>
              </a:rPr>
              <a:t>FASTA </a:t>
            </a:r>
            <a:r>
              <a:rPr lang="en-US" altLang="zh-TW" sz="1200" b="0" i="0" u="none" strike="noStrike" kern="1200" baseline="0" dirty="0" err="1">
                <a:solidFill>
                  <a:schemeClr val="tx1"/>
                </a:solidFill>
                <a:latin typeface="+mn-lt"/>
                <a:ea typeface="+mn-ea"/>
                <a:cs typeface="+mn-cs"/>
              </a:rPr>
              <a:t>ktup</a:t>
            </a:r>
            <a:r>
              <a:rPr lang="en-US" altLang="zh-TW" sz="1200" b="0" i="0" u="none" strike="noStrike" kern="1200" baseline="0" dirty="0">
                <a:solidFill>
                  <a:schemeClr val="tx1"/>
                </a:solidFill>
                <a:latin typeface="+mn-lt"/>
                <a:ea typeface="+mn-ea"/>
                <a:cs typeface="+mn-cs"/>
              </a:rPr>
              <a:t> = 2</a:t>
            </a:r>
            <a:r>
              <a:rPr lang="zh-TW" altLang="en-US" sz="1200" b="0" i="0" u="none" strike="noStrike" kern="1200" baseline="0" dirty="0">
                <a:solidFill>
                  <a:schemeClr val="tx1"/>
                </a:solidFill>
                <a:latin typeface="+mn-lt"/>
                <a:ea typeface="+mn-ea"/>
                <a:cs typeface="+mn-cs"/>
              </a:rPr>
              <a:t>可以檢測出通過最佳方法發現的大多數關係，並且適用於快速的初始搜索。</a:t>
            </a:r>
            <a:endParaRPr lang="en-US" altLang="zh-TW" sz="1200" b="0" i="0" u="none" strike="noStrike" kern="1200" baseline="0" dirty="0">
              <a:solidFill>
                <a:schemeClr val="tx1"/>
              </a:solidFill>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1917309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2020/6/3</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2020/6/3</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6" y="1635187"/>
            <a:ext cx="8348184" cy="877881"/>
          </a:xfrm>
        </p:spPr>
        <p:txBody>
          <a:bodyPr>
            <a:noAutofit/>
          </a:bodyPr>
          <a:lstStyle/>
          <a:p>
            <a:r>
              <a:rPr lang="en-US" altLang="zh-TW" sz="3600" dirty="0">
                <a:latin typeface="Times New Roman" panose="02020603050405020304" pitchFamily="18" charset="0"/>
                <a:cs typeface="Times New Roman" panose="02020603050405020304" pitchFamily="18" charset="0"/>
              </a:rPr>
              <a:t>Assessing Sequence Comparison</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Methods with Reliable Structurally Identified Distant Evolutionary</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Relationships</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0" y="3070388"/>
            <a:ext cx="8536249" cy="717223"/>
          </a:xfrm>
        </p:spPr>
        <p:txBody>
          <a:bodyPr>
            <a:noAutofit/>
          </a:bodyPr>
          <a:lstStyle/>
          <a:p>
            <a:r>
              <a:rPr lang="en-US" altLang="zh-TW" sz="2800" dirty="0">
                <a:latin typeface="Times New Roman" panose="02020603050405020304" pitchFamily="18" charset="0"/>
                <a:cs typeface="Times New Roman" panose="02020603050405020304" pitchFamily="18" charset="0"/>
              </a:rPr>
              <a:t>Steven E. Brenner, Cyrus </a:t>
            </a:r>
            <a:r>
              <a:rPr lang="en-US" altLang="zh-TW" sz="2800" dirty="0" err="1">
                <a:latin typeface="Times New Roman" panose="02020603050405020304" pitchFamily="18" charset="0"/>
                <a:cs typeface="Times New Roman" panose="02020603050405020304" pitchFamily="18" charset="0"/>
              </a:rPr>
              <a:t>Chothia</a:t>
            </a:r>
            <a:r>
              <a:rPr lang="en-US" altLang="zh-TW" sz="2800" dirty="0">
                <a:latin typeface="Times New Roman" panose="02020603050405020304" pitchFamily="18" charset="0"/>
                <a:cs typeface="Times New Roman" panose="02020603050405020304" pitchFamily="18" charset="0"/>
              </a:rPr>
              <a:t>, Tim J. P. Hubbard</a:t>
            </a:r>
            <a:endParaRPr lang="fr-FR" altLang="zh-TW"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Jun 03,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6" name="矩形 5">
            <a:extLst>
              <a:ext uri="{FF2B5EF4-FFF2-40B4-BE49-F238E27FC236}">
                <a16:creationId xmlns:a16="http://schemas.microsoft.com/office/drawing/2014/main" id="{198F8570-D18F-4FAE-A5A6-644CF99DDEB2}"/>
              </a:ext>
            </a:extLst>
          </p:cNvPr>
          <p:cNvSpPr/>
          <p:nvPr/>
        </p:nvSpPr>
        <p:spPr>
          <a:xfrm>
            <a:off x="692791" y="3997050"/>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Proceedings of the National Academy of Sciences, 1998, </a:t>
            </a:r>
          </a:p>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Vol. 95, No. 11, pp. 6073-6078.</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Abstract(1/2)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61795"/>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Pairwise sequence comparison methods have been assessed using proteins whose relationships are known reliably from their structures and functions, as described in the SCOP database. The evaluation tested the programs BLAST, WU-BLAST2, FASTA, and SSEARCH and their scoring schemes. The error rate of all algorithms is greatly reduced by using statistical scores to evaluate matches rather than percentage identity or raw scores. The E-value statistical scores of SSEARCH and FASTA are reliable: the number of false positives found in our tests agrees well with the scores reported. However, the P-values reported by BLAST and WU-BLAST2 exaggerate significance by orders of magnitude. </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Abstract(2/2)</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970760"/>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SSEARCH, FASTA </a:t>
            </a:r>
            <a:r>
              <a:rPr lang="en-US" altLang="zh-TW" dirty="0" err="1">
                <a:latin typeface="Times New Roman" panose="02020603050405020304" pitchFamily="18" charset="0"/>
                <a:cs typeface="Times New Roman" panose="02020603050405020304" pitchFamily="18" charset="0"/>
              </a:rPr>
              <a:t>ktup</a:t>
            </a:r>
            <a:r>
              <a:rPr lang="en-US" altLang="zh-TW" dirty="0">
                <a:latin typeface="Times New Roman" panose="02020603050405020304" pitchFamily="18" charset="0"/>
                <a:cs typeface="Times New Roman" panose="02020603050405020304" pitchFamily="18" charset="0"/>
              </a:rPr>
              <a:t> = 1, and WU-BLAST2 perform best, and they are capable of detecting almost all relationships between proteins whose sequence identities are &gt;30%. For more distantly related proteins, they do much less well; only one-half of the relationships between proteins with 20–30% identity are found. Because many homologs have low sequence similarity, most distant relationships cannot be detected by any pairwise comparison method; however, those which are identified may be used with confidence.</a:t>
            </a:r>
          </a:p>
        </p:txBody>
      </p:sp>
    </p:spTree>
    <p:extLst>
      <p:ext uri="{BB962C8B-B14F-4D97-AF65-F5344CB8AC3E}">
        <p14:creationId xmlns:p14="http://schemas.microsoft.com/office/powerpoint/2010/main" val="3211456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326064"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Previous assessments of sequence comparison</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8" y="137630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Pearson : the rigorous Smith–Waterman algorithm worked slightly better than FASTA, which was in turn more effective than BLAST.</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err="1">
                <a:latin typeface="Times New Roman" panose="02020603050405020304" pitchFamily="18" charset="0"/>
                <a:cs typeface="Times New Roman" panose="02020603050405020304" pitchFamily="18" charset="0"/>
              </a:rPr>
              <a:t>Henikoff</a:t>
            </a:r>
            <a:r>
              <a:rPr lang="en-US" altLang="zh-TW" sz="2400" dirty="0">
                <a:latin typeface="Times New Roman" panose="02020603050405020304" pitchFamily="18" charset="0"/>
                <a:cs typeface="Times New Roman" panose="02020603050405020304" pitchFamily="18" charset="0"/>
              </a:rPr>
              <a:t> : the BLOSUM62 matrix performed markedly better than the extrapolated PAM-series matrices, which previously had been popular.</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Sander and Schneider : proteins with 25% identity over 80 residues will have similar structures, whereas shorter alignments require higher identity. </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 database for testing homology detection</a:t>
            </a: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569249"/>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SCOP database</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PDB90D-B</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PDB40D-B</a:t>
            </a: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0811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Assessment Data and Procedure(1/5)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37630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BLAST, version 1.4.9MP, used BLOSUM62</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WUBLAST2, version 2.0a13MP, used BLOSUM62</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FASTA, version 3.0t76, used BLOSUM45</a:t>
            </a:r>
          </a:p>
          <a:p>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112054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Assessment Data and Procedure(2/5)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8" y="1376302"/>
            <a:ext cx="7887821" cy="4354433"/>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1. Using just a single sequence comparison algorithm at a time, and evaluated the effectiveness of different scoring schemes</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E7F085B0-02C9-4991-A287-0D3FBFDF5CCB}"/>
              </a:ext>
            </a:extLst>
          </p:cNvPr>
          <p:cNvPicPr>
            <a:picLocks noChangeAspect="1"/>
          </p:cNvPicPr>
          <p:nvPr/>
        </p:nvPicPr>
        <p:blipFill>
          <a:blip r:embed="rId4"/>
          <a:stretch>
            <a:fillRect/>
          </a:stretch>
        </p:blipFill>
        <p:spPr>
          <a:xfrm>
            <a:off x="85835" y="2662768"/>
            <a:ext cx="8844310" cy="3003037"/>
          </a:xfrm>
          <a:prstGeom prst="rect">
            <a:avLst/>
          </a:prstGeom>
        </p:spPr>
      </p:pic>
    </p:spTree>
    <p:extLst>
      <p:ext uri="{BB962C8B-B14F-4D97-AF65-F5344CB8AC3E}">
        <p14:creationId xmlns:p14="http://schemas.microsoft.com/office/powerpoint/2010/main" val="4118699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Assessment Data and Procedure(3/5)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376302"/>
            <a:ext cx="7887821" cy="4354433"/>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2. Assessing the reliability of scoring procedures, including an evaluation of the validity of statistical scoring</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B7C7AC6D-3076-408D-8390-8F6FE5869B48}"/>
              </a:ext>
            </a:extLst>
          </p:cNvPr>
          <p:cNvPicPr>
            <a:picLocks noChangeAspect="1"/>
          </p:cNvPicPr>
          <p:nvPr/>
        </p:nvPicPr>
        <p:blipFill>
          <a:blip r:embed="rId4"/>
          <a:stretch>
            <a:fillRect/>
          </a:stretch>
        </p:blipFill>
        <p:spPr>
          <a:xfrm>
            <a:off x="1974307" y="2317075"/>
            <a:ext cx="5195383" cy="3706116"/>
          </a:xfrm>
          <a:prstGeom prst="rect">
            <a:avLst/>
          </a:prstGeom>
        </p:spPr>
      </p:pic>
    </p:spTree>
    <p:extLst>
      <p:ext uri="{BB962C8B-B14F-4D97-AF65-F5344CB8AC3E}">
        <p14:creationId xmlns:p14="http://schemas.microsoft.com/office/powerpoint/2010/main" val="94655821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Assessment Data and Procedure(4/5)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521222" y="934318"/>
            <a:ext cx="7887821" cy="4354433"/>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3. Compared sequence comparison algorithms (using the optimal scoring scheme) to determine their relative performance</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6" name="圖片 5">
            <a:extLst>
              <a:ext uri="{FF2B5EF4-FFF2-40B4-BE49-F238E27FC236}">
                <a16:creationId xmlns:a16="http://schemas.microsoft.com/office/drawing/2014/main" id="{2D6A82D6-3B0D-48C0-9A5F-0C9CD4A65763}"/>
              </a:ext>
            </a:extLst>
          </p:cNvPr>
          <p:cNvPicPr>
            <a:picLocks noChangeAspect="1"/>
          </p:cNvPicPr>
          <p:nvPr/>
        </p:nvPicPr>
        <p:blipFill>
          <a:blip r:embed="rId4"/>
          <a:stretch>
            <a:fillRect/>
          </a:stretch>
        </p:blipFill>
        <p:spPr>
          <a:xfrm>
            <a:off x="0" y="1933655"/>
            <a:ext cx="8915400" cy="3085391"/>
          </a:xfrm>
          <a:prstGeom prst="rect">
            <a:avLst/>
          </a:prstGeom>
        </p:spPr>
      </p:pic>
      <p:pic>
        <p:nvPicPr>
          <p:cNvPr id="7" name="圖片 6">
            <a:extLst>
              <a:ext uri="{FF2B5EF4-FFF2-40B4-BE49-F238E27FC236}">
                <a16:creationId xmlns:a16="http://schemas.microsoft.com/office/drawing/2014/main" id="{CB234347-4230-4BE7-BF6A-B96FD6DA0067}"/>
              </a:ext>
            </a:extLst>
          </p:cNvPr>
          <p:cNvPicPr>
            <a:picLocks noChangeAspect="1"/>
          </p:cNvPicPr>
          <p:nvPr/>
        </p:nvPicPr>
        <p:blipFill>
          <a:blip r:embed="rId5"/>
          <a:stretch>
            <a:fillRect/>
          </a:stretch>
        </p:blipFill>
        <p:spPr>
          <a:xfrm>
            <a:off x="1203390" y="4952641"/>
            <a:ext cx="7011539" cy="1838954"/>
          </a:xfrm>
          <a:prstGeom prst="rect">
            <a:avLst/>
          </a:prstGeom>
        </p:spPr>
      </p:pic>
    </p:spTree>
    <p:extLst>
      <p:ext uri="{BB962C8B-B14F-4D97-AF65-F5344CB8AC3E}">
        <p14:creationId xmlns:p14="http://schemas.microsoft.com/office/powerpoint/2010/main" val="36120149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Assessment Data and Procedure(5/5)</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376302"/>
            <a:ext cx="7887821" cy="4354433"/>
          </a:xfrm>
        </p:spPr>
        <p:txBody>
          <a:bodyPr>
            <a:noAutofit/>
          </a:bodyPr>
          <a:lstStyle/>
          <a:p>
            <a:pPr marL="0" indent="0">
              <a:buNone/>
            </a:pPr>
            <a:r>
              <a:rPr lang="en-US" altLang="zh-TW" sz="2400" dirty="0">
                <a:latin typeface="Times New Roman" panose="02020603050405020304" pitchFamily="18" charset="0"/>
                <a:cs typeface="Times New Roman" panose="02020603050405020304" pitchFamily="18" charset="0"/>
              </a:rPr>
              <a:t>4. Examined the distribution of homologs and considered the power of pairwise sequence comparison to recognize them</a:t>
            </a: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3" name="圖片 2">
            <a:extLst>
              <a:ext uri="{FF2B5EF4-FFF2-40B4-BE49-F238E27FC236}">
                <a16:creationId xmlns:a16="http://schemas.microsoft.com/office/drawing/2014/main" id="{59DA08E8-A2B9-4C4E-A58D-F9906E1D79B8}"/>
              </a:ext>
            </a:extLst>
          </p:cNvPr>
          <p:cNvPicPr>
            <a:picLocks noChangeAspect="1"/>
          </p:cNvPicPr>
          <p:nvPr/>
        </p:nvPicPr>
        <p:blipFill>
          <a:blip r:embed="rId4"/>
          <a:stretch>
            <a:fillRect/>
          </a:stretch>
        </p:blipFill>
        <p:spPr>
          <a:xfrm>
            <a:off x="2005564" y="2398300"/>
            <a:ext cx="5132869" cy="3525382"/>
          </a:xfrm>
          <a:prstGeom prst="rect">
            <a:avLst/>
          </a:prstGeom>
        </p:spPr>
      </p:pic>
    </p:spTree>
    <p:extLst>
      <p:ext uri="{BB962C8B-B14F-4D97-AF65-F5344CB8AC3E}">
        <p14:creationId xmlns:p14="http://schemas.microsoft.com/office/powerpoint/2010/main" val="37817968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Conclusion</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4E92109D-9D8E-4349-BB49-7CDAC7405129}"/>
              </a:ext>
            </a:extLst>
          </p:cNvPr>
          <p:cNvSpPr>
            <a:spLocks noGrp="1"/>
          </p:cNvSpPr>
          <p:nvPr>
            <p:ph idx="1"/>
          </p:nvPr>
        </p:nvSpPr>
        <p:spPr>
          <a:xfrm>
            <a:off x="628089" y="137630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The E-values reported by FASTA and SSEARCH give fairly accurate estimates of the significance of each match, but the P-values provided by BLAST and WU-BLAST2 underestimate the true extent of errors.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SSEARCH, WU-BLAST2, and FASTA </a:t>
            </a:r>
            <a:r>
              <a:rPr lang="en-US" altLang="zh-TW" sz="2400" dirty="0" err="1">
                <a:latin typeface="Times New Roman" panose="02020603050405020304" pitchFamily="18" charset="0"/>
                <a:cs typeface="Times New Roman" panose="02020603050405020304" pitchFamily="18" charset="0"/>
              </a:rPr>
              <a:t>ktup</a:t>
            </a:r>
            <a:r>
              <a:rPr lang="en-US" altLang="zh-TW" sz="2400" dirty="0">
                <a:latin typeface="Times New Roman" panose="02020603050405020304" pitchFamily="18" charset="0"/>
                <a:cs typeface="Times New Roman" panose="02020603050405020304" pitchFamily="18" charset="0"/>
              </a:rPr>
              <a:t> = 1 perform best, though BLAST and FASTA </a:t>
            </a:r>
            <a:r>
              <a:rPr lang="en-US" altLang="zh-TW" sz="2400" dirty="0" err="1">
                <a:latin typeface="Times New Roman" panose="02020603050405020304" pitchFamily="18" charset="0"/>
                <a:cs typeface="Times New Roman" panose="02020603050405020304" pitchFamily="18" charset="0"/>
              </a:rPr>
              <a:t>ktup</a:t>
            </a:r>
            <a:r>
              <a:rPr lang="en-US" altLang="zh-TW" sz="2400" dirty="0">
                <a:latin typeface="Times New Roman" panose="02020603050405020304" pitchFamily="18" charset="0"/>
                <a:cs typeface="Times New Roman" panose="02020603050405020304" pitchFamily="18" charset="0"/>
              </a:rPr>
              <a:t> = 2 detect most of the relationships found by the best procedures and are appropriate for rapid initial searches. </a:t>
            </a:r>
          </a:p>
        </p:txBody>
      </p:sp>
    </p:spTree>
    <p:extLst>
      <p:ext uri="{BB962C8B-B14F-4D97-AF65-F5344CB8AC3E}">
        <p14:creationId xmlns:p14="http://schemas.microsoft.com/office/powerpoint/2010/main" val="40791032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90191</TotalTime>
  <Words>1183</Words>
  <Application>Microsoft Office PowerPoint</Application>
  <PresentationFormat>如螢幕大小 (4:3)</PresentationFormat>
  <Paragraphs>80</Paragraphs>
  <Slides>11</Slides>
  <Notes>11</Notes>
  <HiddenSlides>0</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11</vt:i4>
      </vt:variant>
    </vt:vector>
  </HeadingPairs>
  <TitlesOfParts>
    <vt:vector size="16" baseType="lpstr">
      <vt:lpstr>Arial</vt:lpstr>
      <vt:lpstr>Calibri</vt:lpstr>
      <vt:lpstr>Calibri Light</vt:lpstr>
      <vt:lpstr>Times New Roman</vt:lpstr>
      <vt:lpstr>Office 佈景主題</vt:lpstr>
      <vt:lpstr>Assessing Sequence Comparison Methods with Reliable Structurally Identified Distant Evolutionary Relationships</vt:lpstr>
      <vt:lpstr>Abstract(1/2)</vt:lpstr>
      <vt:lpstr>Abstract(2/2)</vt:lpstr>
      <vt:lpstr>Previous assessments of sequence comparison</vt:lpstr>
      <vt:lpstr>A database for testing homology detection</vt:lpstr>
      <vt:lpstr>Assessment Data and Procedure(1/5)</vt:lpstr>
      <vt:lpstr>Assessment Data and Procedure(2/5)</vt:lpstr>
      <vt:lpstr>Assessment Data and Procedure(3/5)</vt:lpstr>
      <vt:lpstr>Assessment Data and Procedure(4/5)</vt:lpstr>
      <vt:lpstr>Assessment Data and Procedure(5/5)</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M083040021</cp:lastModifiedBy>
  <cp:revision>860</cp:revision>
  <dcterms:created xsi:type="dcterms:W3CDTF">2017-09-25T08:45:50Z</dcterms:created>
  <dcterms:modified xsi:type="dcterms:W3CDTF">2020-06-03T10:27:36Z</dcterms:modified>
</cp:coreProperties>
</file>