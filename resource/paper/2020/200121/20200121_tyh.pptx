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png" ContentType="image/png"/>
  <Default Extension="bin" ContentType="application/vnd.openxmlformats-officedocument.oleObject"/>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3" r:id="rId5"/>
    <p:sldId id="267" r:id="rId6"/>
    <p:sldId id="278" r:id="rId7"/>
    <p:sldId id="279" r:id="rId8"/>
    <p:sldId id="282" r:id="rId9"/>
    <p:sldId id="283" r:id="rId10"/>
    <p:sldId id="288" r:id="rId11"/>
    <p:sldId id="284" r:id="rId12"/>
    <p:sldId id="285" r:id="rId13"/>
    <p:sldId id="286" r:id="rId14"/>
    <p:sldId id="289" r:id="rId15"/>
    <p:sldId id="290" r:id="rId16"/>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9" d="100"/>
          <a:sy n="109" d="100"/>
        </p:scale>
        <p:origin x="-1662" y="-7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 Id="rId4"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6.wmf"/><Relationship Id="rId4"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2020/1/21</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zh.wikipedia.org/wiki/%E4%BA%9E%E7%BE%8E%E5%B0%BC%E4%BA%9E"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zh.wikipedia.org/wiki/%E4%BA%9A%E7%BE%8E%E5%B0%BC%E4%BA%9A%E7%A7%8D%E6%97%8F%E5%A4%A7%E5%B1%A0%E6%9D%80" TargetMode="External"/><Relationship Id="rId4" Type="http://schemas.openxmlformats.org/officeDocument/2006/relationships/hyperlink" Target="https://zh.wikipedia.org/zh-tw/%E4%BA%9E%E7%BE%8E%E5%B0%BC%E4%BA%9E%E5%9C%8B%E5%AE%B6%E7%A7%91%E5%AD%B8%E9%99%A2"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hlinkClick r:id="rId3"/>
              </a:rPr>
              <a:t>亞美尼亞</a:t>
            </a:r>
            <a:r>
              <a:rPr lang="en-US" altLang="zh-TW" dirty="0" smtClean="0">
                <a:hlinkClick r:id="rId3"/>
              </a:rPr>
              <a:t>--https://zh.wikipedia.org/wiki/%E4%BA%9E%E7%BE%8E%E5%B0%BC%E4%BA%9E</a:t>
            </a:r>
            <a:endParaRPr lang="en-US" altLang="zh-TW" dirty="0" smtClean="0"/>
          </a:p>
          <a:p>
            <a:r>
              <a:rPr lang="zh-TW" altLang="en-US" dirty="0" smtClean="0">
                <a:hlinkClick r:id="rId4"/>
              </a:rPr>
              <a:t>亞美尼亞大屠殺</a:t>
            </a:r>
            <a:r>
              <a:rPr lang="en-US" altLang="zh-TW" dirty="0" smtClean="0"/>
              <a:t>--</a:t>
            </a:r>
            <a:r>
              <a:rPr lang="en-US" dirty="0" smtClean="0">
                <a:hlinkClick r:id="rId5"/>
              </a:rPr>
              <a:t>https://zh.wikipedia.org/wiki/%E4%BA%9A%E7%BE%8E%E5%B0%BC%E4%BA%9A%E7%A7%8D%E6%97%8F%E5%A4%A7%E5%B1%A0%E6%9D%80</a:t>
            </a:r>
            <a:endParaRPr lang="en-US" altLang="zh-TW" dirty="0" smtClean="0">
              <a:hlinkClick r:id="rId4"/>
            </a:endParaRPr>
          </a:p>
          <a:p>
            <a:r>
              <a:rPr lang="zh-TW" altLang="en-US" dirty="0" smtClean="0">
                <a:hlinkClick r:id="rId4"/>
              </a:rPr>
              <a:t>亞美尼亞</a:t>
            </a:r>
            <a:r>
              <a:rPr lang="zh-TW" altLang="en-US" dirty="0" smtClean="0">
                <a:hlinkClick r:id="rId4"/>
              </a:rPr>
              <a:t>國家科學院</a:t>
            </a:r>
            <a:r>
              <a:rPr lang="en-US" altLang="zh-TW" dirty="0" smtClean="0">
                <a:hlinkClick r:id="rId4"/>
              </a:rPr>
              <a:t>--https://zh.wikipedia.org/zh-tw/%</a:t>
            </a:r>
            <a:r>
              <a:rPr lang="en-US" altLang="zh-TW" dirty="0" smtClean="0">
                <a:hlinkClick r:id="rId4"/>
              </a:rPr>
              <a:t>E4%BA%9E%E7%BE%8E%E5%B0%BC%E4%BA%9E%E5%9C%8B%E5%AE%B6%E7%A7%91%E5%AD%B8%E9%99%A2</a:t>
            </a:r>
            <a:endParaRPr lang="en-US" altLang="zh-TW" dirty="0" smtClean="0"/>
          </a:p>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p14="http://schemas.microsoft.com/office/powerpoint/2010/main" xmlns=""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p14="http://schemas.microsoft.com/office/powerpoint/2010/main" xmlns=""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a:t>
            </a:fld>
            <a:endParaRPr lang="zh-TW" altLang="en-US"/>
          </a:p>
        </p:txBody>
      </p:sp>
    </p:spTree>
    <p:extLst>
      <p:ext uri="{BB962C8B-B14F-4D97-AF65-F5344CB8AC3E}">
        <p14:creationId xmlns:p14="http://schemas.microsoft.com/office/powerpoint/2010/main" xmlns="" val="1491878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err="1" smtClean="0"/>
              <a:t>Ik</a:t>
            </a:r>
            <a:r>
              <a:rPr lang="en-US" altLang="zh-TW" baseline="0" dirty="0" smtClean="0"/>
              <a:t> :  </a:t>
            </a:r>
            <a:r>
              <a:rPr lang="zh-TW" altLang="en-US" baseline="0" dirty="0" smtClean="0"/>
              <a:t>以</a:t>
            </a:r>
            <a:r>
              <a:rPr lang="en-US" altLang="zh-TW" baseline="0" dirty="0" smtClean="0"/>
              <a:t>A</a:t>
            </a:r>
            <a:r>
              <a:rPr lang="zh-TW" altLang="en-US" baseline="0" dirty="0" smtClean="0"/>
              <a:t>字串為主，先找出長度為</a:t>
            </a:r>
            <a:r>
              <a:rPr lang="en-US" altLang="zh-TW" baseline="0" dirty="0" smtClean="0"/>
              <a:t>k</a:t>
            </a:r>
            <a:r>
              <a:rPr lang="zh-TW" altLang="en-US" baseline="0" dirty="0" smtClean="0"/>
              <a:t>的 </a:t>
            </a:r>
            <a:r>
              <a:rPr lang="en-US" altLang="zh-TW" baseline="0" dirty="0" smtClean="0"/>
              <a:t>common sequence</a:t>
            </a:r>
            <a:r>
              <a:rPr lang="zh-TW" altLang="en-US" baseline="0" dirty="0" smtClean="0"/>
              <a:t> 且其</a:t>
            </a:r>
            <a:r>
              <a:rPr lang="en-US" altLang="zh-TW" baseline="0" dirty="0" smtClean="0"/>
              <a:t>range</a:t>
            </a:r>
            <a:r>
              <a:rPr lang="zh-TW" altLang="en-US" baseline="0" dirty="0" smtClean="0"/>
              <a:t>最少，但不考慮</a:t>
            </a:r>
            <a:r>
              <a:rPr lang="en-US" altLang="zh-TW" baseline="0" dirty="0" smtClean="0"/>
              <a:t>B</a:t>
            </a:r>
            <a:r>
              <a:rPr lang="zh-TW" altLang="en-US" baseline="0" dirty="0" smtClean="0"/>
              <a:t>所用</a:t>
            </a:r>
            <a:r>
              <a:rPr lang="en-US" altLang="zh-TW" baseline="0" dirty="0" smtClean="0"/>
              <a:t>range</a:t>
            </a:r>
          </a:p>
        </p:txBody>
      </p:sp>
      <p:sp>
        <p:nvSpPr>
          <p:cNvPr id="4" name="投影片編號版面配置區 3"/>
          <p:cNvSpPr>
            <a:spLocks noGrp="1"/>
          </p:cNvSpPr>
          <p:nvPr>
            <p:ph type="sldNum" sz="quarter" idx="10"/>
          </p:nvPr>
        </p:nvSpPr>
        <p:spPr/>
        <p:txBody>
          <a:bodyPr/>
          <a:lstStyle/>
          <a:p>
            <a:fld id="{65A18BCC-D1EA-4D8A-929C-D092EA2B4393}" type="slidenum">
              <a:rPr lang="zh-TW" altLang="en-US" smtClean="0"/>
              <a:pPr/>
              <a:t>7</a:t>
            </a:fld>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smtClean="0"/>
              <a:t>Theorem1 and 2</a:t>
            </a:r>
            <a:r>
              <a:rPr lang="en-US" altLang="zh-TW" baseline="0" dirty="0" smtClean="0"/>
              <a:t> :  </a:t>
            </a:r>
            <a:r>
              <a:rPr lang="zh-TW" altLang="en-US" baseline="0" dirty="0" smtClean="0"/>
              <a:t>如果</a:t>
            </a:r>
            <a:r>
              <a:rPr lang="en-US" altLang="zh-TW" baseline="0" dirty="0" smtClean="0"/>
              <a:t>x </a:t>
            </a:r>
            <a:r>
              <a:rPr lang="zh-TW" altLang="en-US" baseline="0" dirty="0" smtClean="0"/>
              <a:t>的字元在 </a:t>
            </a:r>
            <a:r>
              <a:rPr lang="en-US" altLang="zh-TW" baseline="0" dirty="0" smtClean="0"/>
              <a:t>j(k-1) ~ </a:t>
            </a:r>
            <a:r>
              <a:rPr lang="en-US" altLang="zh-TW" baseline="0" dirty="0" err="1" smtClean="0"/>
              <a:t>jk</a:t>
            </a:r>
            <a:r>
              <a:rPr lang="zh-TW" altLang="en-US" baseline="0" dirty="0" smtClean="0"/>
              <a:t>之間</a:t>
            </a:r>
            <a:r>
              <a:rPr lang="en-US" altLang="zh-TW" baseline="0" dirty="0" smtClean="0"/>
              <a:t>(</a:t>
            </a:r>
            <a:r>
              <a:rPr lang="zh-TW" altLang="en-US" baseline="0" dirty="0" smtClean="0"/>
              <a:t>即</a:t>
            </a:r>
            <a:r>
              <a:rPr lang="en-US" altLang="zh-TW" baseline="0" dirty="0" err="1" smtClean="0"/>
              <a:t>jk</a:t>
            </a:r>
            <a:r>
              <a:rPr lang="en-US" altLang="zh-TW" baseline="0" dirty="0" smtClean="0"/>
              <a:t>`)</a:t>
            </a:r>
            <a:r>
              <a:rPr lang="zh-TW" altLang="en-US" baseline="0" dirty="0" smtClean="0"/>
              <a:t>出現，則 </a:t>
            </a:r>
            <a:r>
              <a:rPr lang="en-US" altLang="zh-TW" baseline="0" dirty="0" err="1" smtClean="0"/>
              <a:t>jk</a:t>
            </a:r>
            <a:r>
              <a:rPr lang="zh-TW" altLang="en-US" baseline="0" dirty="0" smtClean="0"/>
              <a:t>替換成</a:t>
            </a:r>
            <a:r>
              <a:rPr lang="en-US" altLang="zh-TW" baseline="0" dirty="0" err="1" smtClean="0"/>
              <a:t>jk</a:t>
            </a:r>
            <a:r>
              <a:rPr lang="en-US" altLang="zh-TW" baseline="0" dirty="0" smtClean="0"/>
              <a:t>`</a:t>
            </a:r>
            <a:r>
              <a:rPr lang="zh-TW" altLang="en-US" baseline="0" dirty="0" smtClean="0"/>
              <a:t>，否則</a:t>
            </a:r>
            <a:r>
              <a:rPr lang="en-US" altLang="zh-TW" baseline="0" dirty="0" err="1" smtClean="0"/>
              <a:t>jk</a:t>
            </a:r>
            <a:r>
              <a:rPr lang="en-US" altLang="zh-TW" baseline="0" dirty="0" smtClean="0"/>
              <a:t>`=</a:t>
            </a:r>
            <a:r>
              <a:rPr lang="en-US" altLang="zh-TW" baseline="0" dirty="0" err="1" smtClean="0"/>
              <a:t>jk</a:t>
            </a:r>
            <a:endParaRPr lang="en-US" altLang="zh-TW" baseline="0" dirty="0" smtClean="0"/>
          </a:p>
          <a:p>
            <a:r>
              <a:rPr lang="zh-TW" altLang="en-US" baseline="0" dirty="0" smtClean="0"/>
              <a:t>如果 </a:t>
            </a:r>
            <a:r>
              <a:rPr lang="en-US" altLang="zh-TW" baseline="0" dirty="0" smtClean="0"/>
              <a:t>x</a:t>
            </a:r>
            <a:r>
              <a:rPr lang="zh-TW" altLang="en-US" baseline="0" dirty="0" smtClean="0"/>
              <a:t>字元在 </a:t>
            </a:r>
            <a:r>
              <a:rPr lang="en-US" altLang="zh-TW" baseline="0" dirty="0" smtClean="0"/>
              <a:t>j(L)</a:t>
            </a:r>
            <a:r>
              <a:rPr lang="zh-TW" altLang="en-US" baseline="0" dirty="0" smtClean="0"/>
              <a:t>之後出現，則</a:t>
            </a:r>
            <a:r>
              <a:rPr lang="en-US" altLang="zh-TW" baseline="0" dirty="0" smtClean="0"/>
              <a:t> L` = L+1</a:t>
            </a:r>
          </a:p>
        </p:txBody>
      </p:sp>
      <p:sp>
        <p:nvSpPr>
          <p:cNvPr id="4" name="投影片編號版面配置區 3"/>
          <p:cNvSpPr>
            <a:spLocks noGrp="1"/>
          </p:cNvSpPr>
          <p:nvPr>
            <p:ph type="sldNum" sz="quarter" idx="10"/>
          </p:nvPr>
        </p:nvSpPr>
        <p:spPr/>
        <p:txBody>
          <a:bodyPr/>
          <a:lstStyle/>
          <a:p>
            <a:fld id="{65A18BCC-D1EA-4D8A-929C-D092EA2B4393}" type="slidenum">
              <a:rPr lang="zh-TW" altLang="en-US" smtClean="0"/>
              <a:pPr/>
              <a:t>10</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2020/1/21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2020/1/21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2020/1/21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2020/1/21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2020/1/21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2020/1/21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2020/1/21</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6.png"/><Relationship Id="rId5" Type="http://schemas.openxmlformats.org/officeDocument/2006/relationships/oleObject" Target="../embeddings/oleObject6.bin"/><Relationship Id="rId4"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oleObject" Target="../embeddings/oleObject9.bin"/><Relationship Id="rId4" Type="http://schemas.openxmlformats.org/officeDocument/2006/relationships/oleObject" Target="../embeddings/oleObject8.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3.bin"/><Relationship Id="rId5" Type="http://schemas.openxmlformats.org/officeDocument/2006/relationships/oleObject" Target="../embeddings/oleObject12.bin"/><Relationship Id="rId4" Type="http://schemas.openxmlformats.org/officeDocument/2006/relationships/oleObject" Target="../embeddings/oleObject11.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7.bin"/><Relationship Id="rId5" Type="http://schemas.openxmlformats.org/officeDocument/2006/relationships/oleObject" Target="../embeddings/oleObject16.bin"/><Relationship Id="rId4" Type="http://schemas.openxmlformats.org/officeDocument/2006/relationships/oleObject" Target="../embeddings/oleObject15.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oleObject" Target="../embeddings/oleObject20.bin"/><Relationship Id="rId4" Type="http://schemas.openxmlformats.org/officeDocument/2006/relationships/oleObject" Target="../embeddings/oleObject19.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0B6A882-00D3-47EF-9E00-5F5448FB3E79}"/>
              </a:ext>
            </a:extLst>
          </p:cNvPr>
          <p:cNvSpPr>
            <a:spLocks noGrp="1"/>
          </p:cNvSpPr>
          <p:nvPr>
            <p:ph type="ctrTitle"/>
          </p:nvPr>
        </p:nvSpPr>
        <p:spPr>
          <a:xfrm>
            <a:off x="654342" y="1715999"/>
            <a:ext cx="7890145" cy="649317"/>
          </a:xfrm>
        </p:spPr>
        <p:txBody>
          <a:bodyPr>
            <a:noAutofit/>
          </a:bodyPr>
          <a:lstStyle/>
          <a:p>
            <a:r>
              <a:rPr lang="en-US" altLang="zh-TW" sz="3200" dirty="0" smtClean="0">
                <a:latin typeface="Times New Roman" pitchFamily="18" charset="0"/>
                <a:cs typeface="Times New Roman" pitchFamily="18" charset="0"/>
              </a:rPr>
              <a:t>LCS Algorithm with Vector-markers</a:t>
            </a:r>
            <a:endParaRPr lang="en-US" altLang="zh-TW" sz="3200" dirty="0">
              <a:latin typeface="Times New Roman" pitchFamily="18" charset="0"/>
              <a:cs typeface="Times New Roman" pitchFamily="18" charset="0"/>
            </a:endParaRPr>
          </a:p>
        </p:txBody>
      </p:sp>
      <p:sp>
        <p:nvSpPr>
          <p:cNvPr id="3" name="副標題 2">
            <a:extLst>
              <a:ext uri="{FF2B5EF4-FFF2-40B4-BE49-F238E27FC236}">
                <a16:creationId xmlns:a16="http://schemas.microsoft.com/office/drawing/2014/main" xmlns="" id="{7DA53B5D-3737-4D8B-A009-A9D02CAEE169}"/>
              </a:ext>
            </a:extLst>
          </p:cNvPr>
          <p:cNvSpPr>
            <a:spLocks noGrp="1"/>
          </p:cNvSpPr>
          <p:nvPr>
            <p:ph type="subTitle" idx="1"/>
          </p:nvPr>
        </p:nvSpPr>
        <p:spPr>
          <a:xfrm>
            <a:off x="1142999" y="3003984"/>
            <a:ext cx="6858000" cy="425017"/>
          </a:xfrm>
        </p:spPr>
        <p:txBody>
          <a:bodyPr>
            <a:noAutofit/>
          </a:bodyPr>
          <a:lstStyle/>
          <a:p>
            <a:pPr fontAlgn="ctr"/>
            <a:r>
              <a:rPr lang="en-US" altLang="zh-TW" sz="2000" dirty="0" err="1" smtClean="0">
                <a:solidFill>
                  <a:schemeClr val="tx1"/>
                </a:solidFill>
                <a:latin typeface="Times New Roman" pitchFamily="18" charset="0"/>
                <a:cs typeface="Times New Roman" pitchFamily="18" charset="0"/>
              </a:rPr>
              <a:t>Levon</a:t>
            </a:r>
            <a:r>
              <a:rPr lang="en-US" altLang="zh-TW" sz="2000" dirty="0" smtClean="0">
                <a:solidFill>
                  <a:schemeClr val="tx1"/>
                </a:solidFill>
                <a:latin typeface="Times New Roman" pitchFamily="18" charset="0"/>
                <a:cs typeface="Times New Roman" pitchFamily="18" charset="0"/>
              </a:rPr>
              <a:t> </a:t>
            </a:r>
            <a:r>
              <a:rPr lang="en-US" altLang="zh-TW" sz="2000" dirty="0" err="1" smtClean="0">
                <a:solidFill>
                  <a:schemeClr val="tx1"/>
                </a:solidFill>
                <a:latin typeface="Times New Roman" pitchFamily="18" charset="0"/>
                <a:cs typeface="Times New Roman" pitchFamily="18" charset="0"/>
              </a:rPr>
              <a:t>Aslanyan</a:t>
            </a:r>
            <a:endParaRPr lang="en-US" altLang="zh-TW" sz="2000" dirty="0" smtClean="0">
              <a:solidFill>
                <a:schemeClr val="tx1"/>
              </a:solidFill>
              <a:latin typeface="Times New Roman" pitchFamily="18" charset="0"/>
              <a:cs typeface="Times New Roman" pitchFamily="18" charset="0"/>
            </a:endParaRPr>
          </a:p>
        </p:txBody>
      </p:sp>
      <p:sp>
        <p:nvSpPr>
          <p:cNvPr id="8" name="文字方塊 7">
            <a:extLst>
              <a:ext uri="{FF2B5EF4-FFF2-40B4-BE49-F238E27FC236}">
                <a16:creationId xmlns:a16="http://schemas.microsoft.com/office/drawing/2014/main" xmlns="" id="{8F2527E8-BB8F-41FB-8AF1-03DCC96BC069}"/>
              </a:ext>
            </a:extLst>
          </p:cNvPr>
          <p:cNvSpPr txBox="1"/>
          <p:nvPr/>
        </p:nvSpPr>
        <p:spPr>
          <a:xfrm>
            <a:off x="1403648" y="3861048"/>
            <a:ext cx="6451324" cy="830997"/>
          </a:xfrm>
          <a:prstGeom prst="rect">
            <a:avLst/>
          </a:prstGeom>
          <a:noFill/>
        </p:spPr>
        <p:txBody>
          <a:bodyPr wrap="square" rtlCol="0">
            <a:spAutoFit/>
          </a:bodyPr>
          <a:lstStyle/>
          <a:p>
            <a:r>
              <a:rPr lang="en-US" altLang="zh-TW" sz="2400" i="1" dirty="0" smtClean="0"/>
              <a:t>Institute for Informatics and Automation Problems </a:t>
            </a:r>
          </a:p>
          <a:p>
            <a:r>
              <a:rPr lang="en-US" altLang="zh-TW" sz="2400" i="1" dirty="0" smtClean="0"/>
              <a:t>of the National Academy of Science of Armenia</a:t>
            </a:r>
          </a:p>
        </p:txBody>
      </p:sp>
      <p:sp>
        <p:nvSpPr>
          <p:cNvPr id="9" name="文字方塊 8">
            <a:extLst>
              <a:ext uri="{FF2B5EF4-FFF2-40B4-BE49-F238E27FC236}">
                <a16:creationId xmlns:a16="http://schemas.microsoft.com/office/drawing/2014/main" xmlns="" id="{6BC92671-3184-4146-A361-F82079153C2E}"/>
              </a:ext>
            </a:extLst>
          </p:cNvPr>
          <p:cNvSpPr txBox="1"/>
          <p:nvPr/>
        </p:nvSpPr>
        <p:spPr>
          <a:xfrm>
            <a:off x="5580112" y="5357171"/>
            <a:ext cx="3375796"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Yuan-Hsiu Tsai</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xmlns="" id="{52A0654C-2F84-4026-9FCF-04C8DF590D5F}"/>
              </a:ext>
            </a:extLst>
          </p:cNvPr>
          <p:cNvSpPr txBox="1"/>
          <p:nvPr/>
        </p:nvSpPr>
        <p:spPr>
          <a:xfrm>
            <a:off x="5652120" y="5824855"/>
            <a:ext cx="2568332" cy="461665"/>
          </a:xfrm>
          <a:prstGeom prst="rect">
            <a:avLst/>
          </a:prstGeom>
          <a:noFill/>
        </p:spPr>
        <p:txBody>
          <a:bodyPr wrap="none" rtlCol="0">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t>Date: </a:t>
            </a:r>
            <a:r>
              <a:rPr lang="en-US" altLang="zh-TW" dirty="0" smtClean="0"/>
              <a:t>Jan</a:t>
            </a:r>
            <a:r>
              <a:rPr lang="en-US" altLang="zh-TW" dirty="0" smtClean="0"/>
              <a:t>. </a:t>
            </a:r>
            <a:r>
              <a:rPr lang="en-US" altLang="zh-TW" dirty="0" smtClean="0"/>
              <a:t>21</a:t>
            </a:r>
            <a:r>
              <a:rPr lang="en-US" altLang="zh-TW" dirty="0" smtClean="0"/>
              <a:t>, 2020</a:t>
            </a:r>
            <a:endParaRPr lang="zh-TW" altLang="en-US" dirty="0"/>
          </a:p>
        </p:txBody>
      </p:sp>
    </p:spTree>
    <p:extLst>
      <p:ext uri="{BB962C8B-B14F-4D97-AF65-F5344CB8AC3E}">
        <p14:creationId xmlns:p14="http://schemas.microsoft.com/office/powerpoint/2010/main" xmlns="" val="3557049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xmlns="" id="{5E26DCC3-1991-4383-BF81-99FF895536EE}"/>
              </a:ext>
            </a:extLst>
          </p:cNvPr>
          <p:cNvSpPr>
            <a:spLocks noGrp="1"/>
          </p:cNvSpPr>
          <p:nvPr>
            <p:ph idx="1"/>
          </p:nvPr>
        </p:nvSpPr>
        <p:spPr>
          <a:xfrm>
            <a:off x="139007" y="817647"/>
            <a:ext cx="9004993" cy="5347657"/>
          </a:xfrm>
        </p:spPr>
        <p:txBody>
          <a:bodyPr>
            <a:noAutofit/>
          </a:bodyPr>
          <a:lstStyle/>
          <a:p>
            <a:pPr>
              <a:buNone/>
            </a:pPr>
            <a:r>
              <a:rPr lang="en-US" altLang="zh-TW" sz="2800" dirty="0" smtClean="0">
                <a:latin typeface="Times New Roman" pitchFamily="18" charset="0"/>
                <a:cs typeface="Times New Roman" pitchFamily="18" charset="0"/>
              </a:rPr>
              <a:t>The Multiple Longest Common Subsequence (MLCS) problem is aimed at constructing a maximum length subsequence, common to a given set of sequences, defined on some finite alphabet of symbols. The paper considers the particular case of two input sequences (LCS), which is simply extendable to the general MLCS problem. We consider the problem in an online manner, where symbols arrive one-by-one and the next acquired symbol is appending any one of the two input sequences.</a:t>
            </a:r>
            <a:endParaRPr lang="fr-FR" altLang="zh-TW" sz="2800" dirty="0">
              <a:latin typeface="Times New Roman" pitchFamily="18" charset="0"/>
              <a:cs typeface="Times New Roman" pitchFamily="18" charset="0"/>
            </a:endParaRPr>
          </a:p>
        </p:txBody>
      </p:sp>
    </p:spTree>
    <p:extLst>
      <p:ext uri="{BB962C8B-B14F-4D97-AF65-F5344CB8AC3E}">
        <p14:creationId xmlns:p14="http://schemas.microsoft.com/office/powerpoint/2010/main" xmlns="" val="3994483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xmlns="" id="{5E26DCC3-1991-4383-BF81-99FF895536EE}"/>
              </a:ext>
            </a:extLst>
          </p:cNvPr>
          <p:cNvSpPr>
            <a:spLocks noGrp="1"/>
          </p:cNvSpPr>
          <p:nvPr>
            <p:ph idx="1"/>
          </p:nvPr>
        </p:nvSpPr>
        <p:spPr>
          <a:xfrm>
            <a:off x="139007" y="774493"/>
            <a:ext cx="9004993" cy="5246795"/>
          </a:xfrm>
        </p:spPr>
        <p:txBody>
          <a:bodyPr>
            <a:noAutofit/>
          </a:bodyPr>
          <a:lstStyle/>
          <a:p>
            <a:pPr>
              <a:buNone/>
            </a:pPr>
            <a:r>
              <a:rPr lang="en-US" altLang="zh-TW" sz="2800" dirty="0" smtClean="0">
                <a:latin typeface="Times New Roman" pitchFamily="18" charset="0"/>
                <a:cs typeface="Times New Roman" pitchFamily="18" charset="0"/>
              </a:rPr>
              <a:t>The sought-for LCS algorithm acts by recursive handling of parts of sequences arrived so far, constructing and updating specific supportive structures of markers representing the interrelations of the longest common subsequences of the two input sequences. In paper we discuss a perfect online parallelization framework of the algorithm for the “simple” memory model, so that the parallel complexity becomes O(</a:t>
            </a:r>
            <a:r>
              <a:rPr lang="en-US" altLang="zh-TW" sz="2800" i="1" dirty="0" err="1" smtClean="0">
                <a:latin typeface="Times New Roman" pitchFamily="18" charset="0"/>
                <a:cs typeface="Times New Roman" pitchFamily="18" charset="0"/>
              </a:rPr>
              <a:t>mn</a:t>
            </a:r>
            <a:r>
              <a:rPr lang="en-US" altLang="zh-TW" sz="2800" dirty="0" smtClean="0">
                <a:latin typeface="Times New Roman" pitchFamily="18" charset="0"/>
                <a:cs typeface="Times New Roman" pitchFamily="18" charset="0"/>
              </a:rPr>
              <a:t> / </a:t>
            </a:r>
            <a:r>
              <a:rPr lang="en-US" altLang="zh-TW" sz="2800" i="1" dirty="0" smtClean="0">
                <a:latin typeface="Times New Roman" pitchFamily="18" charset="0"/>
                <a:cs typeface="Times New Roman" pitchFamily="18" charset="0"/>
              </a:rPr>
              <a:t>t</a:t>
            </a:r>
            <a:r>
              <a:rPr lang="en-US" altLang="zh-TW" sz="2800" dirty="0" smtClean="0">
                <a:latin typeface="Times New Roman" pitchFamily="18" charset="0"/>
                <a:cs typeface="Times New Roman" pitchFamily="18" charset="0"/>
              </a:rPr>
              <a:t>) for </a:t>
            </a:r>
            <a:r>
              <a:rPr lang="en-US" altLang="zh-TW" sz="2800" i="1" dirty="0" smtClean="0">
                <a:latin typeface="Times New Roman" pitchFamily="18" charset="0"/>
                <a:cs typeface="Times New Roman" pitchFamily="18" charset="0"/>
              </a:rPr>
              <a:t>t</a:t>
            </a:r>
            <a:r>
              <a:rPr lang="en-US" altLang="zh-TW" sz="2800" dirty="0" smtClean="0">
                <a:latin typeface="Times New Roman" pitchFamily="18" charset="0"/>
                <a:cs typeface="Times New Roman" pitchFamily="18" charset="0"/>
              </a:rPr>
              <a:t> parallel threads. The general outcome of paper is the use of vector markers instead of matrix markers or graphs, which helps in minimization of the memory, used by the algorithm.</a:t>
            </a:r>
            <a:endParaRPr lang="fr-FR" altLang="zh-TW" sz="2800" dirty="0">
              <a:latin typeface="Times New Roman" pitchFamily="18" charset="0"/>
              <a:cs typeface="Times New Roman" pitchFamily="18" charset="0"/>
            </a:endParaRPr>
          </a:p>
        </p:txBody>
      </p:sp>
    </p:spTree>
    <p:extLst>
      <p:ext uri="{BB962C8B-B14F-4D97-AF65-F5344CB8AC3E}">
        <p14:creationId xmlns:p14="http://schemas.microsoft.com/office/powerpoint/2010/main" xmlns="" val="3994483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smtClean="0">
                <a:latin typeface="Times New Roman" pitchFamily="18" charset="0"/>
                <a:cs typeface="Times New Roman" pitchFamily="18" charset="0"/>
              </a:rPr>
              <a:t>Introduction</a:t>
            </a:r>
            <a:r>
              <a:rPr lang="zh-TW" altLang="en-US" dirty="0" smtClean="0">
                <a:latin typeface="Times New Roman" pitchFamily="18" charset="0"/>
                <a:cs typeface="Times New Roman" pitchFamily="18" charset="0"/>
              </a:rPr>
              <a:t> </a:t>
            </a:r>
            <a:r>
              <a:rPr lang="en-US" altLang="zh-TW" dirty="0" smtClean="0">
                <a:latin typeface="Times New Roman" pitchFamily="18" charset="0"/>
                <a:cs typeface="Times New Roman" pitchFamily="18" charset="0"/>
              </a:rPr>
              <a:t>-</a:t>
            </a:r>
            <a:r>
              <a:rPr lang="zh-TW" altLang="en-US" dirty="0" smtClean="0">
                <a:latin typeface="Times New Roman" pitchFamily="18" charset="0"/>
                <a:cs typeface="Times New Roman" pitchFamily="18" charset="0"/>
              </a:rPr>
              <a:t> </a:t>
            </a:r>
            <a:r>
              <a:rPr lang="en-US" altLang="zh-TW" dirty="0" smtClean="0">
                <a:latin typeface="Times New Roman" pitchFamily="18" charset="0"/>
                <a:cs typeface="Times New Roman" pitchFamily="18" charset="0"/>
              </a:rPr>
              <a:t>LCS</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600200"/>
            <a:ext cx="8229600" cy="4757758"/>
          </a:xfrm>
        </p:spPr>
        <p:txBody>
          <a:bodyPr/>
          <a:lstStyle/>
          <a:p>
            <a:pPr marL="342900" lvl="1" indent="-342900">
              <a:buFont typeface="Arial" pitchFamily="34" charset="0"/>
              <a:buChar char="•"/>
            </a:pPr>
            <a:r>
              <a:rPr lang="en-US" altLang="zh-TW" dirty="0" smtClean="0">
                <a:latin typeface="Times New Roman" pitchFamily="18" charset="0"/>
                <a:ea typeface="標楷體" pitchFamily="65" charset="-120"/>
                <a:cs typeface="Times New Roman" pitchFamily="18" charset="0"/>
              </a:rPr>
              <a:t>General function – dynamic programming</a:t>
            </a:r>
          </a:p>
          <a:p>
            <a:pPr marL="342900" lvl="1" indent="-342900">
              <a:buFont typeface="Arial" pitchFamily="34" charset="0"/>
              <a:buChar char="•"/>
            </a:pPr>
            <a:r>
              <a:rPr lang="en-US" altLang="zh-TW" dirty="0" smtClean="0">
                <a:latin typeface="Times New Roman" pitchFamily="18" charset="0"/>
                <a:ea typeface="標楷體" pitchFamily="65" charset="-120"/>
                <a:cs typeface="Times New Roman" pitchFamily="18" charset="0"/>
              </a:rPr>
              <a:t>S = </a:t>
            </a:r>
            <a:r>
              <a:rPr lang="en-US" altLang="zh-TW" dirty="0" smtClean="0">
                <a:solidFill>
                  <a:srgbClr val="FF0000"/>
                </a:solidFill>
                <a:latin typeface="Times New Roman" pitchFamily="18" charset="0"/>
                <a:ea typeface="標楷體" pitchFamily="65" charset="-120"/>
                <a:cs typeface="Times New Roman" pitchFamily="18" charset="0"/>
              </a:rPr>
              <a:t>a</a:t>
            </a:r>
            <a:r>
              <a:rPr lang="zh-TW" altLang="en-US" dirty="0" smtClean="0">
                <a:latin typeface="Times New Roman" pitchFamily="18" charset="0"/>
                <a:ea typeface="標楷體" pitchFamily="65" charset="-120"/>
                <a:cs typeface="Times New Roman" pitchFamily="18" charset="0"/>
              </a:rPr>
              <a:t> </a:t>
            </a:r>
            <a:r>
              <a:rPr lang="en-US" altLang="zh-TW" dirty="0" smtClean="0">
                <a:latin typeface="Times New Roman" pitchFamily="18" charset="0"/>
                <a:ea typeface="標楷體" pitchFamily="65" charset="-120"/>
                <a:cs typeface="Times New Roman" pitchFamily="18" charset="0"/>
              </a:rPr>
              <a:t>a</a:t>
            </a:r>
            <a:r>
              <a:rPr lang="zh-TW" altLang="en-US" dirty="0" smtClean="0">
                <a:latin typeface="Times New Roman" pitchFamily="18" charset="0"/>
                <a:ea typeface="標楷體" pitchFamily="65" charset="-120"/>
                <a:cs typeface="Times New Roman" pitchFamily="18" charset="0"/>
              </a:rPr>
              <a:t> </a:t>
            </a:r>
            <a:r>
              <a:rPr lang="en-US" altLang="zh-TW" dirty="0" smtClean="0">
                <a:solidFill>
                  <a:srgbClr val="FF0000"/>
                </a:solidFill>
                <a:latin typeface="Times New Roman" pitchFamily="18" charset="0"/>
                <a:ea typeface="標楷體" pitchFamily="65" charset="-120"/>
                <a:cs typeface="Times New Roman" pitchFamily="18" charset="0"/>
              </a:rPr>
              <a:t>t</a:t>
            </a:r>
            <a:r>
              <a:rPr lang="zh-TW" altLang="en-US" dirty="0" smtClean="0">
                <a:solidFill>
                  <a:srgbClr val="FF0000"/>
                </a:solidFill>
                <a:latin typeface="Times New Roman" pitchFamily="18" charset="0"/>
                <a:ea typeface="標楷體" pitchFamily="65" charset="-120"/>
                <a:cs typeface="Times New Roman" pitchFamily="18" charset="0"/>
              </a:rPr>
              <a:t> </a:t>
            </a:r>
            <a:r>
              <a:rPr lang="en-US" altLang="zh-TW" dirty="0" smtClean="0">
                <a:solidFill>
                  <a:srgbClr val="FF0000"/>
                </a:solidFill>
                <a:latin typeface="Times New Roman" pitchFamily="18" charset="0"/>
                <a:ea typeface="標楷體" pitchFamily="65" charset="-120"/>
                <a:cs typeface="Times New Roman" pitchFamily="18" charset="0"/>
              </a:rPr>
              <a:t>t</a:t>
            </a:r>
            <a:r>
              <a:rPr lang="zh-TW" altLang="en-US" dirty="0" smtClean="0">
                <a:latin typeface="Times New Roman" pitchFamily="18" charset="0"/>
                <a:ea typeface="標楷體" pitchFamily="65" charset="-120"/>
                <a:cs typeface="Times New Roman" pitchFamily="18" charset="0"/>
              </a:rPr>
              <a:t> </a:t>
            </a:r>
            <a:r>
              <a:rPr lang="en-US" altLang="zh-TW" dirty="0" smtClean="0">
                <a:latin typeface="Times New Roman" pitchFamily="18" charset="0"/>
                <a:ea typeface="標楷體" pitchFamily="65" charset="-120"/>
                <a:cs typeface="Times New Roman" pitchFamily="18" charset="0"/>
              </a:rPr>
              <a:t>c</a:t>
            </a:r>
            <a:r>
              <a:rPr lang="zh-TW" altLang="en-US" dirty="0" smtClean="0">
                <a:latin typeface="Times New Roman" pitchFamily="18" charset="0"/>
                <a:ea typeface="標楷體" pitchFamily="65" charset="-120"/>
                <a:cs typeface="Times New Roman" pitchFamily="18" charset="0"/>
              </a:rPr>
              <a:t> </a:t>
            </a:r>
            <a:r>
              <a:rPr lang="en-US" altLang="zh-TW" dirty="0" smtClean="0">
                <a:latin typeface="Times New Roman" pitchFamily="18" charset="0"/>
                <a:ea typeface="標楷體" pitchFamily="65" charset="-120"/>
                <a:cs typeface="Times New Roman" pitchFamily="18" charset="0"/>
              </a:rPr>
              <a:t>c</a:t>
            </a:r>
          </a:p>
          <a:p>
            <a:pPr marL="342900" lvl="1" indent="-342900">
              <a:buFont typeface="Arial" pitchFamily="34" charset="0"/>
              <a:buChar char="•"/>
            </a:pPr>
            <a:r>
              <a:rPr lang="en-US" altLang="zh-TW" dirty="0" smtClean="0">
                <a:latin typeface="Times New Roman" pitchFamily="18" charset="0"/>
                <a:ea typeface="標楷體" pitchFamily="65" charset="-120"/>
                <a:cs typeface="Times New Roman" pitchFamily="18" charset="0"/>
              </a:rPr>
              <a:t>T = </a:t>
            </a:r>
            <a:r>
              <a:rPr lang="en-US" altLang="zh-TW" dirty="0" smtClean="0">
                <a:solidFill>
                  <a:srgbClr val="FF0000"/>
                </a:solidFill>
                <a:latin typeface="Times New Roman" pitchFamily="18" charset="0"/>
                <a:ea typeface="標楷體" pitchFamily="65" charset="-120"/>
                <a:cs typeface="Times New Roman" pitchFamily="18" charset="0"/>
              </a:rPr>
              <a:t>a</a:t>
            </a:r>
            <a:r>
              <a:rPr lang="zh-TW" altLang="en-US" dirty="0" smtClean="0">
                <a:solidFill>
                  <a:srgbClr val="FF0000"/>
                </a:solidFill>
                <a:latin typeface="Times New Roman" pitchFamily="18" charset="0"/>
                <a:ea typeface="標楷體" pitchFamily="65" charset="-120"/>
                <a:cs typeface="Times New Roman" pitchFamily="18" charset="0"/>
              </a:rPr>
              <a:t> </a:t>
            </a:r>
            <a:r>
              <a:rPr lang="en-US" altLang="zh-TW" dirty="0" smtClean="0">
                <a:solidFill>
                  <a:srgbClr val="FF0000"/>
                </a:solidFill>
                <a:latin typeface="Times New Roman" pitchFamily="18" charset="0"/>
                <a:ea typeface="標楷體" pitchFamily="65" charset="-120"/>
                <a:cs typeface="Times New Roman" pitchFamily="18" charset="0"/>
              </a:rPr>
              <a:t>t</a:t>
            </a:r>
            <a:r>
              <a:rPr lang="zh-TW" altLang="en-US" dirty="0" smtClean="0">
                <a:solidFill>
                  <a:srgbClr val="FF0000"/>
                </a:solidFill>
                <a:latin typeface="Times New Roman" pitchFamily="18" charset="0"/>
                <a:ea typeface="標楷體" pitchFamily="65" charset="-120"/>
                <a:cs typeface="Times New Roman" pitchFamily="18" charset="0"/>
              </a:rPr>
              <a:t> </a:t>
            </a:r>
            <a:r>
              <a:rPr lang="en-US" altLang="zh-TW" dirty="0" smtClean="0">
                <a:solidFill>
                  <a:srgbClr val="FF0000"/>
                </a:solidFill>
                <a:latin typeface="Times New Roman" pitchFamily="18" charset="0"/>
                <a:ea typeface="標楷體" pitchFamily="65" charset="-120"/>
                <a:cs typeface="Times New Roman" pitchFamily="18" charset="0"/>
              </a:rPr>
              <a:t>t</a:t>
            </a:r>
            <a:r>
              <a:rPr lang="zh-TW" altLang="en-US" dirty="0" smtClean="0">
                <a:solidFill>
                  <a:srgbClr val="FF0000"/>
                </a:solidFill>
                <a:latin typeface="Times New Roman" pitchFamily="18" charset="0"/>
                <a:ea typeface="標楷體" pitchFamily="65" charset="-120"/>
                <a:cs typeface="Times New Roman" pitchFamily="18" charset="0"/>
              </a:rPr>
              <a:t> </a:t>
            </a:r>
            <a:r>
              <a:rPr lang="en-US" altLang="zh-TW" dirty="0" smtClean="0">
                <a:latin typeface="Times New Roman" pitchFamily="18" charset="0"/>
                <a:ea typeface="標楷體" pitchFamily="65" charset="-120"/>
                <a:cs typeface="Times New Roman" pitchFamily="18" charset="0"/>
              </a:rPr>
              <a:t>a</a:t>
            </a:r>
            <a:r>
              <a:rPr lang="zh-TW" altLang="en-US" dirty="0" smtClean="0">
                <a:latin typeface="Times New Roman" pitchFamily="18" charset="0"/>
                <a:ea typeface="標楷體" pitchFamily="65" charset="-120"/>
                <a:cs typeface="Times New Roman" pitchFamily="18" charset="0"/>
              </a:rPr>
              <a:t> </a:t>
            </a:r>
            <a:r>
              <a:rPr lang="en-US" altLang="zh-TW" dirty="0" smtClean="0">
                <a:latin typeface="Times New Roman" pitchFamily="18" charset="0"/>
                <a:ea typeface="標楷體" pitchFamily="65" charset="-120"/>
                <a:cs typeface="Times New Roman" pitchFamily="18" charset="0"/>
              </a:rPr>
              <a:t>g</a:t>
            </a:r>
            <a:r>
              <a:rPr lang="zh-TW" altLang="en-US" dirty="0" smtClean="0">
                <a:latin typeface="Times New Roman" pitchFamily="18" charset="0"/>
                <a:ea typeface="標楷體" pitchFamily="65" charset="-120"/>
                <a:cs typeface="Times New Roman" pitchFamily="18" charset="0"/>
              </a:rPr>
              <a:t> </a:t>
            </a:r>
            <a:r>
              <a:rPr lang="en-US" altLang="zh-TW" dirty="0" smtClean="0">
                <a:latin typeface="Times New Roman" pitchFamily="18" charset="0"/>
                <a:ea typeface="標楷體" pitchFamily="65" charset="-120"/>
                <a:cs typeface="Times New Roman" pitchFamily="18" charset="0"/>
              </a:rPr>
              <a:t>g</a:t>
            </a:r>
          </a:p>
          <a:p>
            <a:pPr marL="342900" lvl="1" indent="-342900">
              <a:buFont typeface="Arial" pitchFamily="34" charset="0"/>
              <a:buChar char="•"/>
            </a:pPr>
            <a:r>
              <a:rPr lang="en-US" altLang="zh-TW" dirty="0" smtClean="0">
                <a:latin typeface="Times New Roman" pitchFamily="18" charset="0"/>
                <a:ea typeface="標楷體" pitchFamily="65" charset="-120"/>
                <a:cs typeface="Times New Roman" pitchFamily="18" charset="0"/>
              </a:rPr>
              <a:t>LCS= </a:t>
            </a:r>
            <a:r>
              <a:rPr lang="en-US" altLang="zh-TW" dirty="0" smtClean="0">
                <a:solidFill>
                  <a:srgbClr val="FF0000"/>
                </a:solidFill>
                <a:latin typeface="Times New Roman" pitchFamily="18" charset="0"/>
                <a:ea typeface="標楷體" pitchFamily="65" charset="-120"/>
                <a:cs typeface="Times New Roman" pitchFamily="18" charset="0"/>
              </a:rPr>
              <a:t>a</a:t>
            </a:r>
            <a:r>
              <a:rPr lang="zh-TW" altLang="en-US" dirty="0" smtClean="0">
                <a:solidFill>
                  <a:srgbClr val="FF0000"/>
                </a:solidFill>
                <a:latin typeface="Times New Roman" pitchFamily="18" charset="0"/>
                <a:ea typeface="標楷體" pitchFamily="65" charset="-120"/>
                <a:cs typeface="Times New Roman" pitchFamily="18" charset="0"/>
              </a:rPr>
              <a:t> </a:t>
            </a:r>
            <a:r>
              <a:rPr lang="en-US" altLang="zh-TW" dirty="0" smtClean="0">
                <a:solidFill>
                  <a:srgbClr val="FF0000"/>
                </a:solidFill>
                <a:latin typeface="Times New Roman" pitchFamily="18" charset="0"/>
                <a:ea typeface="標楷體" pitchFamily="65" charset="-120"/>
                <a:cs typeface="Times New Roman" pitchFamily="18" charset="0"/>
              </a:rPr>
              <a:t>t</a:t>
            </a:r>
            <a:r>
              <a:rPr lang="zh-TW" altLang="en-US" dirty="0" smtClean="0">
                <a:solidFill>
                  <a:srgbClr val="FF0000"/>
                </a:solidFill>
                <a:latin typeface="Times New Roman" pitchFamily="18" charset="0"/>
                <a:ea typeface="標楷體" pitchFamily="65" charset="-120"/>
                <a:cs typeface="Times New Roman" pitchFamily="18" charset="0"/>
              </a:rPr>
              <a:t> </a:t>
            </a:r>
            <a:r>
              <a:rPr lang="en-US" altLang="zh-TW" dirty="0" smtClean="0">
                <a:solidFill>
                  <a:srgbClr val="FF0000"/>
                </a:solidFill>
                <a:latin typeface="Times New Roman" pitchFamily="18" charset="0"/>
                <a:ea typeface="標楷體" pitchFamily="65" charset="-120"/>
                <a:cs typeface="Times New Roman" pitchFamily="18" charset="0"/>
              </a:rPr>
              <a:t>t</a:t>
            </a:r>
            <a:endParaRPr lang="zh-TW" altLang="en-US" dirty="0">
              <a:latin typeface="Times New Roman" pitchFamily="18" charset="0"/>
              <a:ea typeface="標楷體" pitchFamily="65" charset="-120"/>
              <a:cs typeface="Times New Roman" pitchFamily="18" charset="0"/>
            </a:endParaRPr>
          </a:p>
        </p:txBody>
      </p:sp>
      <p:graphicFrame>
        <p:nvGraphicFramePr>
          <p:cNvPr id="5" name="表格 4"/>
          <p:cNvGraphicFramePr>
            <a:graphicFrameLocks noGrp="1"/>
          </p:cNvGraphicFramePr>
          <p:nvPr/>
        </p:nvGraphicFramePr>
        <p:xfrm>
          <a:off x="3779912" y="3717032"/>
          <a:ext cx="4896544" cy="2966720"/>
        </p:xfrm>
        <a:graphic>
          <a:graphicData uri="http://schemas.openxmlformats.org/drawingml/2006/table">
            <a:tbl>
              <a:tblPr bandRow="1">
                <a:tableStyleId>{5C22544A-7EE6-4342-B048-85BDC9FD1C3A}</a:tableStyleId>
              </a:tblPr>
              <a:tblGrid>
                <a:gridCol w="612068"/>
                <a:gridCol w="612068"/>
                <a:gridCol w="612068"/>
                <a:gridCol w="612068"/>
                <a:gridCol w="612068"/>
                <a:gridCol w="612068"/>
                <a:gridCol w="612068"/>
                <a:gridCol w="612068"/>
              </a:tblGrid>
              <a:tr h="370840">
                <a:tc>
                  <a:txBody>
                    <a:bodyPr/>
                    <a:lstStyle/>
                    <a:p>
                      <a:pPr algn="ctr"/>
                      <a:r>
                        <a:rPr lang="en-US" altLang="zh-TW" dirty="0" smtClean="0"/>
                        <a:t>T\S</a:t>
                      </a:r>
                      <a:endParaRPr lang="zh-TW" altLang="en-US" dirty="0"/>
                    </a:p>
                  </a:txBody>
                  <a:tcPr/>
                </a:tc>
                <a:tc>
                  <a:txBody>
                    <a:bodyPr/>
                    <a:lstStyle/>
                    <a:p>
                      <a:pPr algn="ct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t</a:t>
                      </a:r>
                      <a:endParaRPr lang="zh-TW" altLang="en-US" dirty="0"/>
                    </a:p>
                  </a:txBody>
                  <a:tcPr/>
                </a:tc>
                <a:tc>
                  <a:txBody>
                    <a:bodyPr/>
                    <a:lstStyle/>
                    <a:p>
                      <a:pPr algn="ctr"/>
                      <a:r>
                        <a:rPr lang="en-US" altLang="zh-TW" dirty="0" smtClean="0"/>
                        <a:t>t</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c</a:t>
                      </a:r>
                      <a:endParaRPr lang="zh-TW" altLang="en-US" dirty="0"/>
                    </a:p>
                  </a:txBody>
                  <a:tcPr/>
                </a:tc>
              </a:tr>
              <a:tr h="370840">
                <a:tc>
                  <a:txBody>
                    <a:bodyPr/>
                    <a:lstStyle/>
                    <a:p>
                      <a:pPr algn="ct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r>
              <a:tr h="370840">
                <a:tc>
                  <a:txBody>
                    <a:bodyPr/>
                    <a:lstStyle/>
                    <a:p>
                      <a:pPr algn="ctr"/>
                      <a:r>
                        <a:rPr lang="en-US" altLang="zh-TW" dirty="0" smtClean="0"/>
                        <a:t>a</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r>
              <a:tr h="370840">
                <a:tc>
                  <a:txBody>
                    <a:bodyPr/>
                    <a:lstStyle/>
                    <a:p>
                      <a:pPr algn="ctr"/>
                      <a:r>
                        <a:rPr lang="en-US" altLang="zh-TW" dirty="0" smtClean="0"/>
                        <a:t>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r>
              <a:tr h="370840">
                <a:tc>
                  <a:txBody>
                    <a:bodyPr/>
                    <a:lstStyle/>
                    <a:p>
                      <a:pPr algn="ctr"/>
                      <a:r>
                        <a:rPr lang="en-US" altLang="zh-TW" dirty="0" smtClean="0"/>
                        <a:t>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solidFill>
                            <a:srgbClr val="FF0000"/>
                          </a:solidFill>
                        </a:rPr>
                        <a:t>3</a:t>
                      </a:r>
                      <a:endParaRPr lang="zh-TW" altLang="en-US" dirty="0">
                        <a:solidFill>
                          <a:srgbClr val="FF0000"/>
                        </a:solidFill>
                      </a:endParaRPr>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r h="370840">
                <a:tc>
                  <a:txBody>
                    <a:bodyPr/>
                    <a:lstStyle/>
                    <a:p>
                      <a:pPr algn="ctr"/>
                      <a:r>
                        <a:rPr lang="en-US" altLang="zh-TW" dirty="0" smtClean="0"/>
                        <a:t>a</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r h="370840">
                <a:tc>
                  <a:txBody>
                    <a:bodyPr/>
                    <a:lstStyle/>
                    <a:p>
                      <a:pPr algn="ctr"/>
                      <a:r>
                        <a:rPr lang="en-US" altLang="zh-TW" dirty="0" smtClean="0"/>
                        <a:t>g</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r h="370840">
                <a:tc>
                  <a:txBody>
                    <a:bodyPr/>
                    <a:lstStyle/>
                    <a:p>
                      <a:pPr algn="ctr"/>
                      <a:r>
                        <a:rPr lang="en-US" altLang="zh-TW" dirty="0" smtClean="0"/>
                        <a:t>g</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bl>
          </a:graphicData>
        </a:graphic>
      </p:graphicFrame>
      <p:pic>
        <p:nvPicPr>
          <p:cNvPr id="7" name="圖片 6" descr="1.PNG"/>
          <p:cNvPicPr>
            <a:picLocks noChangeAspect="1"/>
          </p:cNvPicPr>
          <p:nvPr/>
        </p:nvPicPr>
        <p:blipFill>
          <a:blip r:embed="rId2" cstate="print"/>
          <a:stretch>
            <a:fillRect/>
          </a:stretch>
        </p:blipFill>
        <p:spPr>
          <a:xfrm>
            <a:off x="2915816" y="2276872"/>
            <a:ext cx="6150683" cy="1255514"/>
          </a:xfrm>
          <a:prstGeom prst="rect">
            <a:avLst/>
          </a:prstGeom>
        </p:spPr>
      </p:pic>
      <p:cxnSp>
        <p:nvCxnSpPr>
          <p:cNvPr id="8" name="直線單箭頭接點 7"/>
          <p:cNvCxnSpPr/>
          <p:nvPr/>
        </p:nvCxnSpPr>
        <p:spPr>
          <a:xfrm rot="10800000">
            <a:off x="7929586" y="6500834"/>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直線單箭頭接點 8"/>
          <p:cNvCxnSpPr/>
          <p:nvPr/>
        </p:nvCxnSpPr>
        <p:spPr>
          <a:xfrm rot="10800000">
            <a:off x="7286644" y="6500834"/>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直線單箭頭接點 9"/>
          <p:cNvCxnSpPr/>
          <p:nvPr/>
        </p:nvCxnSpPr>
        <p:spPr>
          <a:xfrm rot="5400000" flipH="1" flipV="1">
            <a:off x="7216000" y="6285726"/>
            <a:ext cx="14287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rot="5400000" flipH="1" flipV="1">
            <a:off x="7216000" y="5928536"/>
            <a:ext cx="14287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p:nvPr/>
        </p:nvCxnSpPr>
        <p:spPr>
          <a:xfrm rot="5400000" flipH="1" flipV="1">
            <a:off x="7216000" y="5571346"/>
            <a:ext cx="14287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p:nvPr/>
        </p:nvCxnSpPr>
        <p:spPr>
          <a:xfrm rot="16200000" flipV="1">
            <a:off x="6715140" y="5072075"/>
            <a:ext cx="214314" cy="2143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rot="16200000" flipV="1">
            <a:off x="6143636" y="4714885"/>
            <a:ext cx="214314" cy="2143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rot="10800000" flipV="1">
            <a:off x="5500696" y="4643445"/>
            <a:ext cx="285751"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p:nvPr/>
        </p:nvCxnSpPr>
        <p:spPr>
          <a:xfrm rot="16200000" flipV="1">
            <a:off x="4929190" y="4357695"/>
            <a:ext cx="214314" cy="2143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smtClean="0">
                <a:latin typeface="Times New Roman" pitchFamily="18" charset="0"/>
                <a:cs typeface="Times New Roman" pitchFamily="18" charset="0"/>
              </a:rPr>
              <a:t>Introduction - dominant</a:t>
            </a:r>
            <a:endParaRPr lang="zh-TW" altLang="en-US" dirty="0">
              <a:latin typeface="Times New Roman" pitchFamily="18" charset="0"/>
              <a:cs typeface="Times New Roman" pitchFamily="18" charset="0"/>
            </a:endParaRPr>
          </a:p>
        </p:txBody>
      </p:sp>
      <p:graphicFrame>
        <p:nvGraphicFramePr>
          <p:cNvPr id="5" name="物件 4"/>
          <p:cNvGraphicFramePr>
            <a:graphicFrameLocks noChangeAspect="1"/>
          </p:cNvGraphicFramePr>
          <p:nvPr/>
        </p:nvGraphicFramePr>
        <p:xfrm>
          <a:off x="6553200" y="2862263"/>
          <a:ext cx="101600" cy="215900"/>
        </p:xfrm>
        <a:graphic>
          <a:graphicData uri="http://schemas.openxmlformats.org/presentationml/2006/ole">
            <p:oleObj spid="_x0000_s17424" name="Equation" r:id="rId3" imgW="2438400" imgH="5181600" progId="Equation.DSMT4">
              <p:embed/>
            </p:oleObj>
          </a:graphicData>
        </a:graphic>
      </p:graphicFrame>
      <p:graphicFrame>
        <p:nvGraphicFramePr>
          <p:cNvPr id="17425" name="Object 17"/>
          <p:cNvGraphicFramePr>
            <a:graphicFrameLocks noChangeAspect="1"/>
          </p:cNvGraphicFramePr>
          <p:nvPr/>
        </p:nvGraphicFramePr>
        <p:xfrm>
          <a:off x="971600" y="1412776"/>
          <a:ext cx="6912768" cy="809310"/>
        </p:xfrm>
        <a:graphic>
          <a:graphicData uri="http://schemas.openxmlformats.org/presentationml/2006/ole">
            <p:oleObj spid="_x0000_s17425" name="Equation" r:id="rId4" imgW="1600200" imgH="241200" progId="Equation.DSMT4">
              <p:embed/>
            </p:oleObj>
          </a:graphicData>
        </a:graphic>
      </p:graphicFrame>
      <p:graphicFrame>
        <p:nvGraphicFramePr>
          <p:cNvPr id="6" name="表格 5"/>
          <p:cNvGraphicFramePr>
            <a:graphicFrameLocks noGrp="1"/>
          </p:cNvGraphicFramePr>
          <p:nvPr/>
        </p:nvGraphicFramePr>
        <p:xfrm>
          <a:off x="1259632" y="2276872"/>
          <a:ext cx="6120680" cy="3686800"/>
        </p:xfrm>
        <a:graphic>
          <a:graphicData uri="http://schemas.openxmlformats.org/drawingml/2006/table">
            <a:tbl>
              <a:tblPr bandRow="1">
                <a:tableStyleId>{5C22544A-7EE6-4342-B048-85BDC9FD1C3A}</a:tableStyleId>
              </a:tblPr>
              <a:tblGrid>
                <a:gridCol w="765085"/>
                <a:gridCol w="765085"/>
                <a:gridCol w="765085"/>
                <a:gridCol w="765085"/>
                <a:gridCol w="765085"/>
                <a:gridCol w="765085"/>
                <a:gridCol w="765085"/>
                <a:gridCol w="765085"/>
              </a:tblGrid>
              <a:tr h="460850">
                <a:tc>
                  <a:txBody>
                    <a:bodyPr/>
                    <a:lstStyle/>
                    <a:p>
                      <a:pPr algn="ctr"/>
                      <a:r>
                        <a:rPr lang="en-US" altLang="zh-TW" dirty="0" smtClean="0"/>
                        <a:t>T\S</a:t>
                      </a:r>
                      <a:endParaRPr lang="zh-TW" altLang="en-US" dirty="0"/>
                    </a:p>
                  </a:txBody>
                  <a:tcPr/>
                </a:tc>
                <a:tc>
                  <a:txBody>
                    <a:bodyPr/>
                    <a:lstStyle/>
                    <a:p>
                      <a:pPr algn="ct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t</a:t>
                      </a:r>
                      <a:endParaRPr lang="zh-TW" altLang="en-US" dirty="0"/>
                    </a:p>
                  </a:txBody>
                  <a:tcPr/>
                </a:tc>
                <a:tc>
                  <a:txBody>
                    <a:bodyPr/>
                    <a:lstStyle/>
                    <a:p>
                      <a:pPr algn="ctr"/>
                      <a:r>
                        <a:rPr lang="en-US" altLang="zh-TW" dirty="0" smtClean="0"/>
                        <a:t>t</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c</a:t>
                      </a:r>
                      <a:endParaRPr lang="zh-TW" altLang="en-US" dirty="0"/>
                    </a:p>
                  </a:txBody>
                  <a:tcPr/>
                </a:tc>
              </a:tr>
              <a:tr h="460850">
                <a:tc>
                  <a:txBody>
                    <a:bodyPr/>
                    <a:lstStyle/>
                    <a:p>
                      <a:pPr algn="ct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r>
              <a:tr h="460850">
                <a:tc>
                  <a:txBody>
                    <a:bodyPr/>
                    <a:lstStyle/>
                    <a:p>
                      <a:pPr algn="ctr"/>
                      <a:r>
                        <a:rPr lang="en-US" altLang="zh-TW" dirty="0" smtClean="0"/>
                        <a:t>a</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b="1" dirty="0" smtClean="0">
                          <a:solidFill>
                            <a:srgbClr val="FF0000"/>
                          </a:solidFill>
                        </a:rPr>
                        <a:t>1</a:t>
                      </a:r>
                      <a:endParaRPr lang="zh-TW" altLang="en-US" b="1"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r>
              <a:tr h="460850">
                <a:tc>
                  <a:txBody>
                    <a:bodyPr/>
                    <a:lstStyle/>
                    <a:p>
                      <a:pPr algn="ctr"/>
                      <a:r>
                        <a:rPr lang="en-US" altLang="zh-TW" dirty="0" smtClean="0"/>
                        <a:t>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b="1" dirty="0" smtClean="0">
                          <a:solidFill>
                            <a:srgbClr val="FF0000"/>
                          </a:solidFill>
                        </a:rPr>
                        <a:t>2</a:t>
                      </a:r>
                      <a:endParaRPr lang="zh-TW" altLang="en-US" b="1"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r>
              <a:tr h="460850">
                <a:tc>
                  <a:txBody>
                    <a:bodyPr/>
                    <a:lstStyle/>
                    <a:p>
                      <a:pPr algn="ctr"/>
                      <a:r>
                        <a:rPr lang="en-US" altLang="zh-TW" dirty="0" smtClean="0"/>
                        <a:t>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b="1" dirty="0" smtClean="0">
                          <a:solidFill>
                            <a:srgbClr val="FF0000"/>
                          </a:solidFill>
                        </a:rPr>
                        <a:t>3</a:t>
                      </a:r>
                      <a:endParaRPr lang="zh-TW" altLang="en-US" b="1" dirty="0">
                        <a:solidFill>
                          <a:srgbClr val="FF0000"/>
                        </a:solidFill>
                      </a:endParaRPr>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r h="460850">
                <a:tc>
                  <a:txBody>
                    <a:bodyPr/>
                    <a:lstStyle/>
                    <a:p>
                      <a:pPr algn="ctr"/>
                      <a:r>
                        <a:rPr lang="en-US" altLang="zh-TW" dirty="0" smtClean="0"/>
                        <a:t>a</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b="1" dirty="0" smtClean="0">
                          <a:solidFill>
                            <a:srgbClr val="FF0000"/>
                          </a:solidFill>
                        </a:rPr>
                        <a:t>2</a:t>
                      </a:r>
                      <a:endParaRPr lang="zh-TW" altLang="en-US" b="1"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r h="460850">
                <a:tc>
                  <a:txBody>
                    <a:bodyPr/>
                    <a:lstStyle/>
                    <a:p>
                      <a:pPr algn="ctr"/>
                      <a:r>
                        <a:rPr lang="en-US" altLang="zh-TW" dirty="0" smtClean="0"/>
                        <a:t>g</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r h="460850">
                <a:tc>
                  <a:txBody>
                    <a:bodyPr/>
                    <a:lstStyle/>
                    <a:p>
                      <a:pPr algn="ctr"/>
                      <a:r>
                        <a:rPr lang="en-US" altLang="zh-TW" dirty="0" smtClean="0"/>
                        <a:t>g</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smtClean="0">
                <a:latin typeface="Times New Roman" pitchFamily="18" charset="0"/>
                <a:cs typeface="Times New Roman" pitchFamily="18" charset="0"/>
              </a:rPr>
              <a:t>Introduction - dominant</a:t>
            </a:r>
            <a:endParaRPr lang="zh-TW" altLang="en-US" dirty="0">
              <a:latin typeface="Times New Roman" pitchFamily="18" charset="0"/>
              <a:cs typeface="Times New Roman" pitchFamily="18" charset="0"/>
            </a:endParaRPr>
          </a:p>
        </p:txBody>
      </p:sp>
      <p:graphicFrame>
        <p:nvGraphicFramePr>
          <p:cNvPr id="5" name="物件 4"/>
          <p:cNvGraphicFramePr>
            <a:graphicFrameLocks noChangeAspect="1"/>
          </p:cNvGraphicFramePr>
          <p:nvPr/>
        </p:nvGraphicFramePr>
        <p:xfrm>
          <a:off x="6553200" y="2862263"/>
          <a:ext cx="101600" cy="215900"/>
        </p:xfrm>
        <a:graphic>
          <a:graphicData uri="http://schemas.openxmlformats.org/presentationml/2006/ole">
            <p:oleObj spid="_x0000_s44034" name="Equation" r:id="rId3" imgW="2438400" imgH="5181600" progId="Equation.DSMT4">
              <p:embed/>
            </p:oleObj>
          </a:graphicData>
        </a:graphic>
      </p:graphicFrame>
      <p:graphicFrame>
        <p:nvGraphicFramePr>
          <p:cNvPr id="17425" name="Object 17"/>
          <p:cNvGraphicFramePr>
            <a:graphicFrameLocks noChangeAspect="1"/>
          </p:cNvGraphicFramePr>
          <p:nvPr/>
        </p:nvGraphicFramePr>
        <p:xfrm>
          <a:off x="501650" y="1844675"/>
          <a:ext cx="7997825" cy="2386013"/>
        </p:xfrm>
        <a:graphic>
          <a:graphicData uri="http://schemas.openxmlformats.org/presentationml/2006/ole">
            <p:oleObj spid="_x0000_s44035" name="Equation" r:id="rId4" imgW="2616120" imgH="711000" progId="Equation.DSMT4">
              <p:embed/>
            </p:oleObj>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smtClean="0">
                <a:latin typeface="Times New Roman" pitchFamily="18" charset="0"/>
                <a:cs typeface="Times New Roman" pitchFamily="18" charset="0"/>
              </a:rPr>
              <a:t>Introduction - variation</a:t>
            </a:r>
            <a:endParaRPr lang="zh-TW" altLang="en-US" dirty="0">
              <a:latin typeface="Times New Roman" pitchFamily="18" charset="0"/>
              <a:cs typeface="Times New Roman" pitchFamily="18" charset="0"/>
            </a:endParaRPr>
          </a:p>
        </p:txBody>
      </p:sp>
      <p:graphicFrame>
        <p:nvGraphicFramePr>
          <p:cNvPr id="5" name="物件 4"/>
          <p:cNvGraphicFramePr>
            <a:graphicFrameLocks noChangeAspect="1"/>
          </p:cNvGraphicFramePr>
          <p:nvPr/>
        </p:nvGraphicFramePr>
        <p:xfrm>
          <a:off x="6553200" y="2862263"/>
          <a:ext cx="101600" cy="215900"/>
        </p:xfrm>
        <a:graphic>
          <a:graphicData uri="http://schemas.openxmlformats.org/presentationml/2006/ole">
            <p:oleObj spid="_x0000_s45058" name="Equation" r:id="rId4" imgW="2438400" imgH="5181600" progId="Equation.DSMT4">
              <p:embed/>
            </p:oleObj>
          </a:graphicData>
        </a:graphic>
      </p:graphicFrame>
      <p:graphicFrame>
        <p:nvGraphicFramePr>
          <p:cNvPr id="17425" name="Object 17"/>
          <p:cNvGraphicFramePr>
            <a:graphicFrameLocks noChangeAspect="1"/>
          </p:cNvGraphicFramePr>
          <p:nvPr/>
        </p:nvGraphicFramePr>
        <p:xfrm>
          <a:off x="1383184" y="1410146"/>
          <a:ext cx="5853112" cy="1874838"/>
        </p:xfrm>
        <a:graphic>
          <a:graphicData uri="http://schemas.openxmlformats.org/presentationml/2006/ole">
            <p:oleObj spid="_x0000_s45059" name="Equation" r:id="rId5" imgW="1930320" imgH="698400" progId="Equation.DSMT4">
              <p:embed/>
            </p:oleObj>
          </a:graphicData>
        </a:graphic>
      </p:graphicFrame>
      <p:pic>
        <p:nvPicPr>
          <p:cNvPr id="6" name="圖片 5" descr="3.PNG"/>
          <p:cNvPicPr>
            <a:picLocks noChangeAspect="1"/>
          </p:cNvPicPr>
          <p:nvPr/>
        </p:nvPicPr>
        <p:blipFill>
          <a:blip r:embed="rId6" cstate="print"/>
          <a:stretch>
            <a:fillRect/>
          </a:stretch>
        </p:blipFill>
        <p:spPr>
          <a:xfrm>
            <a:off x="1070484" y="3356992"/>
            <a:ext cx="6309828" cy="3312368"/>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Lemma</a:t>
            </a:r>
            <a:endParaRPr lang="zh-TW" altLang="en-US" dirty="0">
              <a:latin typeface="Times New Roman" pitchFamily="18" charset="0"/>
              <a:cs typeface="Times New Roman" pitchFamily="18" charset="0"/>
            </a:endParaRPr>
          </a:p>
        </p:txBody>
      </p:sp>
      <p:pic>
        <p:nvPicPr>
          <p:cNvPr id="4" name="圖片 3" descr="4.PNG"/>
          <p:cNvPicPr>
            <a:picLocks noChangeAspect="1"/>
          </p:cNvPicPr>
          <p:nvPr/>
        </p:nvPicPr>
        <p:blipFill>
          <a:blip r:embed="rId2" cstate="print"/>
          <a:stretch>
            <a:fillRect/>
          </a:stretch>
        </p:blipFill>
        <p:spPr>
          <a:xfrm>
            <a:off x="611561" y="1700808"/>
            <a:ext cx="7982468" cy="769822"/>
          </a:xfrm>
          <a:prstGeom prst="rect">
            <a:avLst/>
          </a:prstGeom>
        </p:spPr>
      </p:pic>
      <p:pic>
        <p:nvPicPr>
          <p:cNvPr id="5" name="圖片 4" descr="5.PNG"/>
          <p:cNvPicPr>
            <a:picLocks noChangeAspect="1"/>
          </p:cNvPicPr>
          <p:nvPr/>
        </p:nvPicPr>
        <p:blipFill>
          <a:blip r:embed="rId3" cstate="print"/>
          <a:stretch>
            <a:fillRect/>
          </a:stretch>
        </p:blipFill>
        <p:spPr>
          <a:xfrm>
            <a:off x="611560" y="2636912"/>
            <a:ext cx="7970625" cy="1373837"/>
          </a:xfrm>
          <a:prstGeom prst="rect">
            <a:avLst/>
          </a:prstGeom>
        </p:spPr>
      </p:pic>
      <p:pic>
        <p:nvPicPr>
          <p:cNvPr id="6" name="圖片 5" descr="6.PNG"/>
          <p:cNvPicPr>
            <a:picLocks noChangeAspect="1"/>
          </p:cNvPicPr>
          <p:nvPr/>
        </p:nvPicPr>
        <p:blipFill>
          <a:blip r:embed="rId4" cstate="print"/>
          <a:stretch>
            <a:fillRect/>
          </a:stretch>
        </p:blipFill>
        <p:spPr>
          <a:xfrm>
            <a:off x="611560" y="4077072"/>
            <a:ext cx="7970623" cy="1800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2.PNG"/>
          <p:cNvPicPr>
            <a:picLocks noGrp="1" noChangeAspect="1"/>
          </p:cNvPicPr>
          <p:nvPr>
            <p:ph idx="1"/>
          </p:nvPr>
        </p:nvPicPr>
        <p:blipFill>
          <a:blip r:embed="rId2" cstate="print"/>
          <a:stretch>
            <a:fillRect/>
          </a:stretch>
        </p:blipFill>
        <p:spPr>
          <a:xfrm>
            <a:off x="0" y="476672"/>
            <a:ext cx="9105230" cy="2644424"/>
          </a:xfrm>
        </p:spPr>
      </p:pic>
      <p:pic>
        <p:nvPicPr>
          <p:cNvPr id="7" name="圖片 6" descr="5.PNG"/>
          <p:cNvPicPr>
            <a:picLocks noChangeAspect="1"/>
          </p:cNvPicPr>
          <p:nvPr/>
        </p:nvPicPr>
        <p:blipFill>
          <a:blip r:embed="rId3" cstate="print"/>
          <a:stretch>
            <a:fillRect/>
          </a:stretch>
        </p:blipFill>
        <p:spPr>
          <a:xfrm>
            <a:off x="611560" y="3356992"/>
            <a:ext cx="7970625" cy="1373837"/>
          </a:xfrm>
          <a:prstGeom prst="rect">
            <a:avLst/>
          </a:prstGeom>
        </p:spPr>
      </p:pic>
      <p:pic>
        <p:nvPicPr>
          <p:cNvPr id="8" name="圖片 7" descr="6.PNG"/>
          <p:cNvPicPr>
            <a:picLocks noChangeAspect="1"/>
          </p:cNvPicPr>
          <p:nvPr/>
        </p:nvPicPr>
        <p:blipFill>
          <a:blip r:embed="rId4" cstate="print"/>
          <a:stretch>
            <a:fillRect/>
          </a:stretch>
        </p:blipFill>
        <p:spPr>
          <a:xfrm>
            <a:off x="611560" y="4797152"/>
            <a:ext cx="7970623" cy="1800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Theorem</a:t>
            </a:r>
            <a:endParaRPr lang="zh-TW" altLang="en-US" dirty="0">
              <a:latin typeface="Times New Roman" pitchFamily="18" charset="0"/>
              <a:cs typeface="Times New Roman" pitchFamily="18" charset="0"/>
            </a:endParaRPr>
          </a:p>
        </p:txBody>
      </p:sp>
      <p:pic>
        <p:nvPicPr>
          <p:cNvPr id="9" name="圖片 8" descr="7.PNG"/>
          <p:cNvPicPr>
            <a:picLocks noChangeAspect="1"/>
          </p:cNvPicPr>
          <p:nvPr/>
        </p:nvPicPr>
        <p:blipFill>
          <a:blip r:embed="rId3" cstate="print"/>
          <a:stretch>
            <a:fillRect/>
          </a:stretch>
        </p:blipFill>
        <p:spPr>
          <a:xfrm>
            <a:off x="0" y="1628800"/>
            <a:ext cx="9144000" cy="3907889"/>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graphicFrame>
        <p:nvGraphicFramePr>
          <p:cNvPr id="47108" name="Object 4"/>
          <p:cNvGraphicFramePr>
            <a:graphicFrameLocks noChangeAspect="1"/>
          </p:cNvGraphicFramePr>
          <p:nvPr/>
        </p:nvGraphicFramePr>
        <p:xfrm>
          <a:off x="3441700" y="44450"/>
          <a:ext cx="3218532" cy="1776413"/>
        </p:xfrm>
        <a:graphic>
          <a:graphicData uri="http://schemas.openxmlformats.org/presentationml/2006/ole">
            <p:oleObj spid="_x0000_s47108" name="Equation" r:id="rId3" imgW="799920" imgH="660240" progId="Equation.DSMT4">
              <p:embed/>
            </p:oleObj>
          </a:graphicData>
        </a:graphic>
      </p:graphicFrame>
      <p:graphicFrame>
        <p:nvGraphicFramePr>
          <p:cNvPr id="47116" name="Object 12"/>
          <p:cNvGraphicFramePr>
            <a:graphicFrameLocks noChangeAspect="1"/>
          </p:cNvGraphicFramePr>
          <p:nvPr/>
        </p:nvGraphicFramePr>
        <p:xfrm>
          <a:off x="5868144" y="2077615"/>
          <a:ext cx="2425700" cy="4303713"/>
        </p:xfrm>
        <a:graphic>
          <a:graphicData uri="http://schemas.openxmlformats.org/presentationml/2006/ole">
            <p:oleObj spid="_x0000_s47116" name="Equation" r:id="rId4" imgW="799920" imgH="1600200" progId="Equation.DSMT4">
              <p:embed/>
            </p:oleObj>
          </a:graphicData>
        </a:graphic>
      </p:graphicFrame>
      <p:graphicFrame>
        <p:nvGraphicFramePr>
          <p:cNvPr id="47117" name="Object 13"/>
          <p:cNvGraphicFramePr>
            <a:graphicFrameLocks noChangeAspect="1"/>
          </p:cNvGraphicFramePr>
          <p:nvPr/>
        </p:nvGraphicFramePr>
        <p:xfrm>
          <a:off x="1043608" y="2079203"/>
          <a:ext cx="3849688" cy="4302125"/>
        </p:xfrm>
        <a:graphic>
          <a:graphicData uri="http://schemas.openxmlformats.org/presentationml/2006/ole">
            <p:oleObj spid="_x0000_s47117" name="Equation" r:id="rId5" imgW="1269720" imgH="1600200" progId="Equation.DSMT4">
              <p:embed/>
            </p:oleObj>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graphicFrame>
        <p:nvGraphicFramePr>
          <p:cNvPr id="47107" name="Object 3"/>
          <p:cNvGraphicFramePr>
            <a:graphicFrameLocks noChangeAspect="1"/>
          </p:cNvGraphicFramePr>
          <p:nvPr/>
        </p:nvGraphicFramePr>
        <p:xfrm>
          <a:off x="395536" y="2132856"/>
          <a:ext cx="2117725" cy="1843088"/>
        </p:xfrm>
        <a:graphic>
          <a:graphicData uri="http://schemas.openxmlformats.org/presentationml/2006/ole">
            <p:oleObj spid="_x0000_s48130" name="Equation" r:id="rId3" imgW="698400" imgH="685800" progId="Equation.DSMT4">
              <p:embed/>
            </p:oleObj>
          </a:graphicData>
        </a:graphic>
      </p:graphicFrame>
      <p:graphicFrame>
        <p:nvGraphicFramePr>
          <p:cNvPr id="47108" name="Object 4"/>
          <p:cNvGraphicFramePr>
            <a:graphicFrameLocks noChangeAspect="1"/>
          </p:cNvGraphicFramePr>
          <p:nvPr/>
        </p:nvGraphicFramePr>
        <p:xfrm>
          <a:off x="3707904" y="404664"/>
          <a:ext cx="3744416" cy="1162050"/>
        </p:xfrm>
        <a:graphic>
          <a:graphicData uri="http://schemas.openxmlformats.org/presentationml/2006/ole">
            <p:oleObj spid="_x0000_s48131" name="Equation" r:id="rId4" imgW="698400" imgH="431640" progId="Equation.DSMT4">
              <p:embed/>
            </p:oleObj>
          </a:graphicData>
        </a:graphic>
      </p:graphicFrame>
      <p:graphicFrame>
        <p:nvGraphicFramePr>
          <p:cNvPr id="47109" name="Object 5"/>
          <p:cNvGraphicFramePr>
            <a:graphicFrameLocks noChangeAspect="1"/>
          </p:cNvGraphicFramePr>
          <p:nvPr/>
        </p:nvGraphicFramePr>
        <p:xfrm>
          <a:off x="2843808" y="2132856"/>
          <a:ext cx="2117725" cy="2457450"/>
        </p:xfrm>
        <a:graphic>
          <a:graphicData uri="http://schemas.openxmlformats.org/presentationml/2006/ole">
            <p:oleObj spid="_x0000_s48132" name="Equation" r:id="rId5" imgW="698400" imgH="914400" progId="Equation.DSMT4">
              <p:embed/>
            </p:oleObj>
          </a:graphicData>
        </a:graphic>
      </p:graphicFrame>
      <p:graphicFrame>
        <p:nvGraphicFramePr>
          <p:cNvPr id="47110" name="Object 6"/>
          <p:cNvGraphicFramePr>
            <a:graphicFrameLocks noChangeAspect="1"/>
          </p:cNvGraphicFramePr>
          <p:nvPr/>
        </p:nvGraphicFramePr>
        <p:xfrm>
          <a:off x="5292080" y="2204864"/>
          <a:ext cx="3695700" cy="3071812"/>
        </p:xfrm>
        <a:graphic>
          <a:graphicData uri="http://schemas.openxmlformats.org/presentationml/2006/ole">
            <p:oleObj spid="_x0000_s48133" name="Equation" r:id="rId6" imgW="1218960" imgH="1143000" progId="Equation.DSMT4">
              <p:embed/>
            </p:oleObj>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graphicFrame>
        <p:nvGraphicFramePr>
          <p:cNvPr id="47108" name="Object 4"/>
          <p:cNvGraphicFramePr>
            <a:graphicFrameLocks noChangeAspect="1"/>
          </p:cNvGraphicFramePr>
          <p:nvPr/>
        </p:nvGraphicFramePr>
        <p:xfrm>
          <a:off x="3707904" y="404664"/>
          <a:ext cx="3744416" cy="1162050"/>
        </p:xfrm>
        <a:graphic>
          <a:graphicData uri="http://schemas.openxmlformats.org/presentationml/2006/ole">
            <p:oleObj spid="_x0000_s52227" name="Equation" r:id="rId3" imgW="698400" imgH="431640" progId="Equation.DSMT4">
              <p:embed/>
            </p:oleObj>
          </a:graphicData>
        </a:graphic>
      </p:graphicFrame>
      <p:graphicFrame>
        <p:nvGraphicFramePr>
          <p:cNvPr id="47111" name="Object 7"/>
          <p:cNvGraphicFramePr>
            <a:graphicFrameLocks noChangeAspect="1"/>
          </p:cNvGraphicFramePr>
          <p:nvPr/>
        </p:nvGraphicFramePr>
        <p:xfrm>
          <a:off x="611560" y="2060848"/>
          <a:ext cx="2117725" cy="3071813"/>
        </p:xfrm>
        <a:graphic>
          <a:graphicData uri="http://schemas.openxmlformats.org/presentationml/2006/ole">
            <p:oleObj spid="_x0000_s52230" name="Equation" r:id="rId4" imgW="698400" imgH="1143000" progId="Equation.DSMT4">
              <p:embed/>
            </p:oleObj>
          </a:graphicData>
        </a:graphic>
      </p:graphicFrame>
      <p:graphicFrame>
        <p:nvGraphicFramePr>
          <p:cNvPr id="47112" name="Object 8"/>
          <p:cNvGraphicFramePr>
            <a:graphicFrameLocks noChangeAspect="1"/>
          </p:cNvGraphicFramePr>
          <p:nvPr/>
        </p:nvGraphicFramePr>
        <p:xfrm>
          <a:off x="3275856" y="2119089"/>
          <a:ext cx="2117725" cy="3686175"/>
        </p:xfrm>
        <a:graphic>
          <a:graphicData uri="http://schemas.openxmlformats.org/presentationml/2006/ole">
            <p:oleObj spid="_x0000_s52231" name="Equation" r:id="rId5" imgW="698400" imgH="1371600" progId="Equation.DSMT4">
              <p:embed/>
            </p:oleObj>
          </a:graphicData>
        </a:graphic>
      </p:graphicFrame>
      <p:graphicFrame>
        <p:nvGraphicFramePr>
          <p:cNvPr id="52233" name="Object 9"/>
          <p:cNvGraphicFramePr>
            <a:graphicFrameLocks noChangeAspect="1"/>
          </p:cNvGraphicFramePr>
          <p:nvPr/>
        </p:nvGraphicFramePr>
        <p:xfrm>
          <a:off x="5796359" y="2132856"/>
          <a:ext cx="2232025" cy="3686175"/>
        </p:xfrm>
        <a:graphic>
          <a:graphicData uri="http://schemas.openxmlformats.org/presentationml/2006/ole">
            <p:oleObj spid="_x0000_s52233" name="Equation" r:id="rId6" imgW="736560" imgH="1371600" progId="Equation.DSMT4">
              <p:embed/>
            </p:oleObj>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graphicFrame>
        <p:nvGraphicFramePr>
          <p:cNvPr id="47108" name="Object 4"/>
          <p:cNvGraphicFramePr>
            <a:graphicFrameLocks noChangeAspect="1"/>
          </p:cNvGraphicFramePr>
          <p:nvPr/>
        </p:nvGraphicFramePr>
        <p:xfrm>
          <a:off x="3741738" y="404813"/>
          <a:ext cx="3675062" cy="1162050"/>
        </p:xfrm>
        <a:graphic>
          <a:graphicData uri="http://schemas.openxmlformats.org/presentationml/2006/ole">
            <p:oleObj spid="_x0000_s54274" name="Equation" r:id="rId3" imgW="685800" imgH="431640" progId="Equation.DSMT4">
              <p:embed/>
            </p:oleObj>
          </a:graphicData>
        </a:graphic>
      </p:graphicFrame>
      <p:graphicFrame>
        <p:nvGraphicFramePr>
          <p:cNvPr id="47112" name="Object 8"/>
          <p:cNvGraphicFramePr>
            <a:graphicFrameLocks noChangeAspect="1"/>
          </p:cNvGraphicFramePr>
          <p:nvPr/>
        </p:nvGraphicFramePr>
        <p:xfrm>
          <a:off x="1782763" y="2119313"/>
          <a:ext cx="2079625" cy="3686175"/>
        </p:xfrm>
        <a:graphic>
          <a:graphicData uri="http://schemas.openxmlformats.org/presentationml/2006/ole">
            <p:oleObj spid="_x0000_s54276" name="Equation" r:id="rId4" imgW="685800" imgH="1371600" progId="Equation.DSMT4">
              <p:embed/>
            </p:oleObj>
          </a:graphicData>
        </a:graphic>
      </p:graphicFrame>
      <p:graphicFrame>
        <p:nvGraphicFramePr>
          <p:cNvPr id="52233" name="Object 9"/>
          <p:cNvGraphicFramePr>
            <a:graphicFrameLocks noChangeAspect="1"/>
          </p:cNvGraphicFramePr>
          <p:nvPr/>
        </p:nvGraphicFramePr>
        <p:xfrm>
          <a:off x="5003800" y="2132856"/>
          <a:ext cx="2232025" cy="4335463"/>
        </p:xfrm>
        <a:graphic>
          <a:graphicData uri="http://schemas.openxmlformats.org/presentationml/2006/ole">
            <p:oleObj spid="_x0000_s54277" name="Equation" r:id="rId5" imgW="736560" imgH="1612800" progId="Equation.DSMT4">
              <p:embed/>
            </p:oleObj>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Conclusion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smtClean="0"/>
              <a:t>1. it can be designed to online parallel version.</a:t>
            </a:r>
          </a:p>
          <a:p>
            <a:endParaRPr lang="en-US" altLang="zh-TW" dirty="0" smtClean="0"/>
          </a:p>
          <a:p>
            <a:endParaRPr lang="en-US" altLang="zh-TW" dirty="0" smtClean="0"/>
          </a:p>
          <a:p>
            <a:r>
              <a:rPr lang="en-US" altLang="zh-TW" dirty="0" smtClean="0"/>
              <a:t>2. many parallel algorithm is depend critically on the lengths of  input sequences and the number of processors.</a:t>
            </a:r>
            <a:endParaRPr lang="zh-TW" altLang="en-US" dirty="0"/>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657</TotalTime>
  <Words>525</Words>
  <Application>Microsoft Office PowerPoint</Application>
  <PresentationFormat>如螢幕大小 (4:3)</PresentationFormat>
  <Paragraphs>164</Paragraphs>
  <Slides>15</Slides>
  <Notes>5</Notes>
  <HiddenSlides>0</HiddenSlides>
  <MMClips>0</MMClips>
  <ScaleCrop>false</ScaleCrop>
  <HeadingPairs>
    <vt:vector size="6" baseType="variant">
      <vt:variant>
        <vt:lpstr>佈景主題</vt:lpstr>
      </vt:variant>
      <vt:variant>
        <vt:i4>1</vt:i4>
      </vt:variant>
      <vt:variant>
        <vt:lpstr>內嵌 OLE 伺服程式</vt:lpstr>
      </vt:variant>
      <vt:variant>
        <vt:i4>1</vt:i4>
      </vt:variant>
      <vt:variant>
        <vt:lpstr>投影片標題</vt:lpstr>
      </vt:variant>
      <vt:variant>
        <vt:i4>15</vt:i4>
      </vt:variant>
    </vt:vector>
  </HeadingPairs>
  <TitlesOfParts>
    <vt:vector size="17" baseType="lpstr">
      <vt:lpstr>Office 佈景主題</vt:lpstr>
      <vt:lpstr>Equation</vt:lpstr>
      <vt:lpstr>LCS Algorithm with Vector-markers</vt:lpstr>
      <vt:lpstr>Abstract(1/2)</vt:lpstr>
      <vt:lpstr>Abstract(2/2)</vt:lpstr>
      <vt:lpstr>Introduction - LCS</vt:lpstr>
      <vt:lpstr>Introduction - dominant</vt:lpstr>
      <vt:lpstr>Introduction - dominant</vt:lpstr>
      <vt:lpstr>Introduction - variation</vt:lpstr>
      <vt:lpstr>Lemma</vt:lpstr>
      <vt:lpstr>投影片 9</vt:lpstr>
      <vt:lpstr>Theorem</vt:lpstr>
      <vt:lpstr>Example</vt:lpstr>
      <vt:lpstr>Example</vt:lpstr>
      <vt:lpstr>Example</vt:lpstr>
      <vt:lpstr>Example</vt:lpstr>
      <vt:lpstr>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Indexed Dynamic Programming to Boost Edit Distance and LCSS Computation</dc:title>
  <dc:creator>阿修</dc:creator>
  <cp:lastModifiedBy>rshow</cp:lastModifiedBy>
  <cp:revision>81</cp:revision>
  <dcterms:created xsi:type="dcterms:W3CDTF">2019-09-15T07:43:36Z</dcterms:created>
  <dcterms:modified xsi:type="dcterms:W3CDTF">2020-01-21T07:06:11Z</dcterms:modified>
</cp:coreProperties>
</file>