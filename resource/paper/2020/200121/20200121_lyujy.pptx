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73" r:id="rId3"/>
    <p:sldId id="257" r:id="rId4"/>
    <p:sldId id="283" r:id="rId5"/>
    <p:sldId id="330" r:id="rId6"/>
    <p:sldId id="333" r:id="rId7"/>
    <p:sldId id="328" r:id="rId8"/>
    <p:sldId id="320" r:id="rId9"/>
    <p:sldId id="312" r:id="rId10"/>
    <p:sldId id="329"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initials="l" lastIdx="2" clrIdx="0">
    <p:extLst>
      <p:ext uri="{19B8F6BF-5375-455C-9EA6-DF929625EA0E}">
        <p15:presenceInfo xmlns:p15="http://schemas.microsoft.com/office/powerpoint/2012/main" userId="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4235" autoAdjust="0"/>
  </p:normalViewPr>
  <p:slideViewPr>
    <p:cSldViewPr snapToGrid="0">
      <p:cViewPr varScale="1">
        <p:scale>
          <a:sx n="100" d="100"/>
          <a:sy n="100" d="100"/>
        </p:scale>
        <p:origin x="84" y="2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F1585-2514-4ABD-9D02-307B86E5C09C}" type="datetimeFigureOut">
              <a:rPr lang="zh-TW" altLang="en-US" smtClean="0"/>
              <a:t>2020/1/21</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77D1C-3D7C-420B-BCA3-33BEDD3D5A80}" type="slidenum">
              <a:rPr lang="zh-TW" altLang="en-US" smtClean="0"/>
              <a:t>‹#›</a:t>
            </a:fld>
            <a:endParaRPr lang="zh-TW" altLang="en-US"/>
          </a:p>
        </p:txBody>
      </p:sp>
    </p:spTree>
    <p:extLst>
      <p:ext uri="{BB962C8B-B14F-4D97-AF65-F5344CB8AC3E}">
        <p14:creationId xmlns:p14="http://schemas.microsoft.com/office/powerpoint/2010/main" val="2838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1618691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 partial GO DAG. For the GO pair, GO:0006091 and GO:0016310, the dark yellow nodes (GO:0006119 and GO:000977) are their highest common descendants (HCDs). The yellow nodes (including light and dark yellow) belong to the intersection set of their descendants. All the yellow nodes and light blue nodes belong to the union set of their descendants.</a:t>
            </a:r>
            <a:endParaRPr lang="zh-TW" altLang="en-US" dirty="0"/>
          </a:p>
        </p:txBody>
      </p:sp>
      <p:sp>
        <p:nvSpPr>
          <p:cNvPr id="4" name="投影片編號版面配置區 3"/>
          <p:cNvSpPr>
            <a:spLocks noGrp="1"/>
          </p:cNvSpPr>
          <p:nvPr>
            <p:ph type="sldNum" sz="quarter" idx="5"/>
          </p:nvPr>
        </p:nvSpPr>
        <p:spPr/>
        <p:txBody>
          <a:bodyPr/>
          <a:lstStyle/>
          <a:p>
            <a:fld id="{0E677D1C-3D7C-420B-BCA3-33BEDD3D5A80}" type="slidenum">
              <a:rPr lang="zh-TW" altLang="en-US" smtClean="0"/>
              <a:t>6</a:t>
            </a:fld>
            <a:endParaRPr lang="zh-TW" altLang="en-US"/>
          </a:p>
        </p:txBody>
      </p:sp>
    </p:spTree>
    <p:extLst>
      <p:ext uri="{BB962C8B-B14F-4D97-AF65-F5344CB8AC3E}">
        <p14:creationId xmlns:p14="http://schemas.microsoft.com/office/powerpoint/2010/main" val="25373081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E677D1C-3D7C-420B-BCA3-33BEDD3D5A80}" type="slidenum">
              <a:rPr lang="zh-TW" altLang="en-US" smtClean="0"/>
              <a:t>8</a:t>
            </a:fld>
            <a:endParaRPr lang="zh-TW" altLang="en-US"/>
          </a:p>
        </p:txBody>
      </p:sp>
    </p:spTree>
    <p:extLst>
      <p:ext uri="{BB962C8B-B14F-4D97-AF65-F5344CB8AC3E}">
        <p14:creationId xmlns:p14="http://schemas.microsoft.com/office/powerpoint/2010/main" val="276789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4000792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3178352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FD9DDC-1562-41E3-9F1A-6464E55FA6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78DFE20D-93A5-46C2-A49A-F0C15C370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2E469C4C-F457-4167-B363-FB6DD59DC296}"/>
              </a:ext>
            </a:extLst>
          </p:cNvPr>
          <p:cNvSpPr>
            <a:spLocks noGrp="1"/>
          </p:cNvSpPr>
          <p:nvPr>
            <p:ph type="dt" sz="half" idx="10"/>
          </p:nvPr>
        </p:nvSpPr>
        <p:spPr/>
        <p:txBody>
          <a:bodyPr/>
          <a:lstStyle/>
          <a:p>
            <a:fld id="{289B6366-6E92-4855-9B33-10136FFB9F55}" type="datetimeFigureOut">
              <a:rPr lang="zh-TW" altLang="en-US" smtClean="0"/>
              <a:t>2020/1/21</a:t>
            </a:fld>
            <a:endParaRPr lang="zh-TW" altLang="en-US"/>
          </a:p>
        </p:txBody>
      </p:sp>
      <p:sp>
        <p:nvSpPr>
          <p:cNvPr id="5" name="頁尾版面配置區 4">
            <a:extLst>
              <a:ext uri="{FF2B5EF4-FFF2-40B4-BE49-F238E27FC236}">
                <a16:creationId xmlns:a16="http://schemas.microsoft.com/office/drawing/2014/main" id="{DFFC6E50-6AB9-4105-98EF-724B3C0041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950C054-D98D-4C90-938F-17BEFCE88E9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31187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533DA1-7165-4DF5-971F-78735A9CE4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9257B16-48F3-4742-8243-9C7ED79E7AB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88E6861-BAD9-4B1E-B7CC-ED4F8B71DB22}"/>
              </a:ext>
            </a:extLst>
          </p:cNvPr>
          <p:cNvSpPr>
            <a:spLocks noGrp="1"/>
          </p:cNvSpPr>
          <p:nvPr>
            <p:ph type="dt" sz="half" idx="10"/>
          </p:nvPr>
        </p:nvSpPr>
        <p:spPr/>
        <p:txBody>
          <a:bodyPr/>
          <a:lstStyle/>
          <a:p>
            <a:fld id="{289B6366-6E92-4855-9B33-10136FFB9F55}" type="datetimeFigureOut">
              <a:rPr lang="zh-TW" altLang="en-US" smtClean="0"/>
              <a:t>2020/1/21</a:t>
            </a:fld>
            <a:endParaRPr lang="zh-TW" altLang="en-US"/>
          </a:p>
        </p:txBody>
      </p:sp>
      <p:sp>
        <p:nvSpPr>
          <p:cNvPr id="5" name="頁尾版面配置區 4">
            <a:extLst>
              <a:ext uri="{FF2B5EF4-FFF2-40B4-BE49-F238E27FC236}">
                <a16:creationId xmlns:a16="http://schemas.microsoft.com/office/drawing/2014/main" id="{F706F4B5-A649-474C-8BFE-57517ED0EA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28F86C2-A14C-422A-8FC6-1D63EF61726C}"/>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6366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4346D0-9FE7-4F7E-985A-585F1F59E5C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A6063CD7-FE57-450D-939C-29084736A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DBCE3ACB-7971-48F1-9875-489AE8943338}"/>
              </a:ext>
            </a:extLst>
          </p:cNvPr>
          <p:cNvSpPr>
            <a:spLocks noGrp="1"/>
          </p:cNvSpPr>
          <p:nvPr>
            <p:ph type="dt" sz="half" idx="10"/>
          </p:nvPr>
        </p:nvSpPr>
        <p:spPr/>
        <p:txBody>
          <a:bodyPr/>
          <a:lstStyle/>
          <a:p>
            <a:fld id="{289B6366-6E92-4855-9B33-10136FFB9F55}" type="datetimeFigureOut">
              <a:rPr lang="zh-TW" altLang="en-US" smtClean="0"/>
              <a:t>2020/1/21</a:t>
            </a:fld>
            <a:endParaRPr lang="zh-TW" altLang="en-US"/>
          </a:p>
        </p:txBody>
      </p:sp>
      <p:sp>
        <p:nvSpPr>
          <p:cNvPr id="5" name="頁尾版面配置區 4">
            <a:extLst>
              <a:ext uri="{FF2B5EF4-FFF2-40B4-BE49-F238E27FC236}">
                <a16:creationId xmlns:a16="http://schemas.microsoft.com/office/drawing/2014/main" id="{35413690-EB95-4432-8BFC-09F929C3BB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4FA246-600E-4025-B715-2485B36E1332}"/>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28819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C1659F-69D8-4B85-B7A6-F42E1F3A37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BEBF960-4F47-46F0-89DB-C64F0F1E128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F16245D3-5283-415A-84E2-E6274B6E00A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62DDA930-81B0-4724-B815-F2EBD1DC4556}"/>
              </a:ext>
            </a:extLst>
          </p:cNvPr>
          <p:cNvSpPr>
            <a:spLocks noGrp="1"/>
          </p:cNvSpPr>
          <p:nvPr>
            <p:ph type="dt" sz="half" idx="10"/>
          </p:nvPr>
        </p:nvSpPr>
        <p:spPr/>
        <p:txBody>
          <a:bodyPr/>
          <a:lstStyle/>
          <a:p>
            <a:fld id="{289B6366-6E92-4855-9B33-10136FFB9F55}" type="datetimeFigureOut">
              <a:rPr lang="zh-TW" altLang="en-US" smtClean="0"/>
              <a:t>2020/1/21</a:t>
            </a:fld>
            <a:endParaRPr lang="zh-TW" altLang="en-US"/>
          </a:p>
        </p:txBody>
      </p:sp>
      <p:sp>
        <p:nvSpPr>
          <p:cNvPr id="6" name="頁尾版面配置區 5">
            <a:extLst>
              <a:ext uri="{FF2B5EF4-FFF2-40B4-BE49-F238E27FC236}">
                <a16:creationId xmlns:a16="http://schemas.microsoft.com/office/drawing/2014/main" id="{F39B2AB0-21DB-4DB7-82C3-46F676AEB0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97DCFC-9953-4E19-A454-CA08295F589E}"/>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22866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60DB38-9964-45C8-A1EF-D1F8C2A33AE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59A4D11-828E-4CB5-A6AE-5F8FA90F4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5DEDA618-7B28-4B92-955D-D9F57DA002F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1B7155B0-41F4-4173-8A9E-AC97385B04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E9D421D-015E-480B-A473-59B67431667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161ED9B-DFA5-480A-AD88-6DFF046FCB53}"/>
              </a:ext>
            </a:extLst>
          </p:cNvPr>
          <p:cNvSpPr>
            <a:spLocks noGrp="1"/>
          </p:cNvSpPr>
          <p:nvPr>
            <p:ph type="dt" sz="half" idx="10"/>
          </p:nvPr>
        </p:nvSpPr>
        <p:spPr/>
        <p:txBody>
          <a:bodyPr/>
          <a:lstStyle/>
          <a:p>
            <a:fld id="{289B6366-6E92-4855-9B33-10136FFB9F55}" type="datetimeFigureOut">
              <a:rPr lang="zh-TW" altLang="en-US" smtClean="0"/>
              <a:t>2020/1/21</a:t>
            </a:fld>
            <a:endParaRPr lang="zh-TW" altLang="en-US"/>
          </a:p>
        </p:txBody>
      </p:sp>
      <p:sp>
        <p:nvSpPr>
          <p:cNvPr id="8" name="頁尾版面配置區 7">
            <a:extLst>
              <a:ext uri="{FF2B5EF4-FFF2-40B4-BE49-F238E27FC236}">
                <a16:creationId xmlns:a16="http://schemas.microsoft.com/office/drawing/2014/main" id="{F3B77038-7B39-4853-9220-09E92BEB16F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127B11AF-87CE-457B-9D69-58137A50985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2151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3FC20B-A168-4787-91C9-454E6B2BC8C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D2DA7D75-DCEA-4D5F-817A-1F76017002B1}"/>
              </a:ext>
            </a:extLst>
          </p:cNvPr>
          <p:cNvSpPr>
            <a:spLocks noGrp="1"/>
          </p:cNvSpPr>
          <p:nvPr>
            <p:ph type="dt" sz="half" idx="10"/>
          </p:nvPr>
        </p:nvSpPr>
        <p:spPr/>
        <p:txBody>
          <a:bodyPr/>
          <a:lstStyle/>
          <a:p>
            <a:fld id="{289B6366-6E92-4855-9B33-10136FFB9F55}" type="datetimeFigureOut">
              <a:rPr lang="zh-TW" altLang="en-US" smtClean="0"/>
              <a:t>2020/1/21</a:t>
            </a:fld>
            <a:endParaRPr lang="zh-TW" altLang="en-US"/>
          </a:p>
        </p:txBody>
      </p:sp>
      <p:sp>
        <p:nvSpPr>
          <p:cNvPr id="4" name="頁尾版面配置區 3">
            <a:extLst>
              <a:ext uri="{FF2B5EF4-FFF2-40B4-BE49-F238E27FC236}">
                <a16:creationId xmlns:a16="http://schemas.microsoft.com/office/drawing/2014/main" id="{6E420462-1E6B-4811-A101-C24EE185E4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F5204FD-F249-467A-809E-2B53F765C671}"/>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17981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AA5AFE-F983-4BD0-A86F-D18589BB081B}"/>
              </a:ext>
            </a:extLst>
          </p:cNvPr>
          <p:cNvSpPr>
            <a:spLocks noGrp="1"/>
          </p:cNvSpPr>
          <p:nvPr>
            <p:ph type="dt" sz="half" idx="10"/>
          </p:nvPr>
        </p:nvSpPr>
        <p:spPr/>
        <p:txBody>
          <a:bodyPr/>
          <a:lstStyle/>
          <a:p>
            <a:fld id="{289B6366-6E92-4855-9B33-10136FFB9F55}" type="datetimeFigureOut">
              <a:rPr lang="zh-TW" altLang="en-US" smtClean="0"/>
              <a:t>2020/1/21</a:t>
            </a:fld>
            <a:endParaRPr lang="zh-TW" altLang="en-US"/>
          </a:p>
        </p:txBody>
      </p:sp>
      <p:sp>
        <p:nvSpPr>
          <p:cNvPr id="3" name="頁尾版面配置區 2">
            <a:extLst>
              <a:ext uri="{FF2B5EF4-FFF2-40B4-BE49-F238E27FC236}">
                <a16:creationId xmlns:a16="http://schemas.microsoft.com/office/drawing/2014/main" id="{8AE15BC6-0BDC-4D5E-B093-968EA5FDED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71BFC94-F3F4-4DC3-AAE4-BC932631BD0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7247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77FD33-544D-451E-8F35-6516C626BE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A37D552-228A-402E-AE3D-2AEAE23C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5E0435F-1CA3-499B-A972-EE4FA12CA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189A80C-0898-442B-A9DB-6CE747D9C7F0}"/>
              </a:ext>
            </a:extLst>
          </p:cNvPr>
          <p:cNvSpPr>
            <a:spLocks noGrp="1"/>
          </p:cNvSpPr>
          <p:nvPr>
            <p:ph type="dt" sz="half" idx="10"/>
          </p:nvPr>
        </p:nvSpPr>
        <p:spPr/>
        <p:txBody>
          <a:bodyPr/>
          <a:lstStyle/>
          <a:p>
            <a:fld id="{289B6366-6E92-4855-9B33-10136FFB9F55}" type="datetimeFigureOut">
              <a:rPr lang="zh-TW" altLang="en-US" smtClean="0"/>
              <a:t>2020/1/21</a:t>
            </a:fld>
            <a:endParaRPr lang="zh-TW" altLang="en-US"/>
          </a:p>
        </p:txBody>
      </p:sp>
      <p:sp>
        <p:nvSpPr>
          <p:cNvPr id="6" name="頁尾版面配置區 5">
            <a:extLst>
              <a:ext uri="{FF2B5EF4-FFF2-40B4-BE49-F238E27FC236}">
                <a16:creationId xmlns:a16="http://schemas.microsoft.com/office/drawing/2014/main" id="{DF1EF31A-4A67-484F-8573-1D1F63C18E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8DADBDA-C04D-4B1F-9E13-784372684EE0}"/>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9457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19C6B2-1FC1-4D82-AE09-8397138717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53A6602-82D6-4233-AD5A-DC4982831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AF7135F2-2932-4070-9CCA-6213EFE68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14D3864F-50D1-4DBD-A5B6-1645AA45EA59}"/>
              </a:ext>
            </a:extLst>
          </p:cNvPr>
          <p:cNvSpPr>
            <a:spLocks noGrp="1"/>
          </p:cNvSpPr>
          <p:nvPr>
            <p:ph type="dt" sz="half" idx="10"/>
          </p:nvPr>
        </p:nvSpPr>
        <p:spPr/>
        <p:txBody>
          <a:bodyPr/>
          <a:lstStyle/>
          <a:p>
            <a:fld id="{289B6366-6E92-4855-9B33-10136FFB9F55}" type="datetimeFigureOut">
              <a:rPr lang="zh-TW" altLang="en-US" smtClean="0"/>
              <a:t>2020/1/21</a:t>
            </a:fld>
            <a:endParaRPr lang="zh-TW" altLang="en-US"/>
          </a:p>
        </p:txBody>
      </p:sp>
      <p:sp>
        <p:nvSpPr>
          <p:cNvPr id="6" name="頁尾版面配置區 5">
            <a:extLst>
              <a:ext uri="{FF2B5EF4-FFF2-40B4-BE49-F238E27FC236}">
                <a16:creationId xmlns:a16="http://schemas.microsoft.com/office/drawing/2014/main" id="{D59F5A93-207A-45A5-9BEC-53C28FF8F1E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4103368-FB4E-41AE-811C-7BC7ADAFC7D3}"/>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55216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9C4861-2A8C-4410-8E4A-4441FC1320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1ED451D-7435-47B8-AA6C-87B8EEA207EC}"/>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1A2253F-98FC-4AD8-AB1E-608801808E4B}"/>
              </a:ext>
            </a:extLst>
          </p:cNvPr>
          <p:cNvSpPr>
            <a:spLocks noGrp="1"/>
          </p:cNvSpPr>
          <p:nvPr>
            <p:ph type="dt" sz="half" idx="10"/>
          </p:nvPr>
        </p:nvSpPr>
        <p:spPr/>
        <p:txBody>
          <a:bodyPr/>
          <a:lstStyle/>
          <a:p>
            <a:fld id="{289B6366-6E92-4855-9B33-10136FFB9F55}" type="datetimeFigureOut">
              <a:rPr lang="zh-TW" altLang="en-US" smtClean="0"/>
              <a:t>2020/1/21</a:t>
            </a:fld>
            <a:endParaRPr lang="zh-TW" altLang="en-US"/>
          </a:p>
        </p:txBody>
      </p:sp>
      <p:sp>
        <p:nvSpPr>
          <p:cNvPr id="5" name="頁尾版面配置區 4">
            <a:extLst>
              <a:ext uri="{FF2B5EF4-FFF2-40B4-BE49-F238E27FC236}">
                <a16:creationId xmlns:a16="http://schemas.microsoft.com/office/drawing/2014/main" id="{A12D5CBA-DDC5-46C6-9551-77D0E481A0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021B7B3-C52D-4681-8005-1EC96B7EE50D}"/>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55538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702BAFC-3D18-4325-B382-BF41484685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D2FEE02-A709-4FB0-9DDE-940FDB4B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1DB4D53-3EC7-453D-BD90-F21F29EA365F}"/>
              </a:ext>
            </a:extLst>
          </p:cNvPr>
          <p:cNvSpPr>
            <a:spLocks noGrp="1"/>
          </p:cNvSpPr>
          <p:nvPr>
            <p:ph type="dt" sz="half" idx="10"/>
          </p:nvPr>
        </p:nvSpPr>
        <p:spPr/>
        <p:txBody>
          <a:bodyPr/>
          <a:lstStyle/>
          <a:p>
            <a:fld id="{289B6366-6E92-4855-9B33-10136FFB9F55}" type="datetimeFigureOut">
              <a:rPr lang="zh-TW" altLang="en-US" smtClean="0"/>
              <a:t>2020/1/21</a:t>
            </a:fld>
            <a:endParaRPr lang="zh-TW" altLang="en-US"/>
          </a:p>
        </p:txBody>
      </p:sp>
      <p:sp>
        <p:nvSpPr>
          <p:cNvPr id="5" name="頁尾版面配置區 4">
            <a:extLst>
              <a:ext uri="{FF2B5EF4-FFF2-40B4-BE49-F238E27FC236}">
                <a16:creationId xmlns:a16="http://schemas.microsoft.com/office/drawing/2014/main" id="{324CA5CE-17CD-419F-8C13-16D273AFB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3B6B85C-8189-47A7-8D84-0B8FD90A869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658974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C2E46CB-D80A-4DE1-9C2C-DBEB59D1D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A01FB3C-2F61-41E2-A419-5D2378D7B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C1DBDDA-1C0E-4B2A-A31E-1956DBF2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6366-6E92-4855-9B33-10136FFB9F55}" type="datetimeFigureOut">
              <a:rPr lang="zh-TW" altLang="en-US" smtClean="0"/>
              <a:t>2020/1/21</a:t>
            </a:fld>
            <a:endParaRPr lang="zh-TW" altLang="en-US"/>
          </a:p>
        </p:txBody>
      </p:sp>
      <p:sp>
        <p:nvSpPr>
          <p:cNvPr id="5" name="頁尾版面配置區 4">
            <a:extLst>
              <a:ext uri="{FF2B5EF4-FFF2-40B4-BE49-F238E27FC236}">
                <a16:creationId xmlns:a16="http://schemas.microsoft.com/office/drawing/2014/main" id="{5420D0D2-BA69-4AB7-97C4-06213593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534B1C00-4FD7-4FEA-B3B1-0FC209581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84729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JPG"/><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ABD277-3DCF-4084-9E03-BF06B086F7E6}"/>
              </a:ext>
            </a:extLst>
          </p:cNvPr>
          <p:cNvSpPr>
            <a:spLocks noGrp="1"/>
          </p:cNvSpPr>
          <p:nvPr>
            <p:ph type="ctrTitle"/>
          </p:nvPr>
        </p:nvSpPr>
        <p:spPr>
          <a:xfrm>
            <a:off x="35859" y="500281"/>
            <a:ext cx="12120282" cy="1683521"/>
          </a:xfrm>
        </p:spPr>
        <p:txBody>
          <a:bodyPr>
            <a:normAutofit/>
          </a:bodyPr>
          <a:lstStyle/>
          <a:p>
            <a:r>
              <a:rPr lang="en-US" altLang="zh-TW" sz="3200" b="1" dirty="0" err="1">
                <a:latin typeface="Times New Roman" panose="02020603050405020304" pitchFamily="18" charset="0"/>
                <a:cs typeface="Times New Roman" panose="02020603050405020304" pitchFamily="18" charset="0"/>
              </a:rPr>
              <a:t>MiRGOFS</a:t>
            </a:r>
            <a:r>
              <a:rPr lang="en-US" altLang="zh-TW" sz="3200" b="1" dirty="0">
                <a:latin typeface="Times New Roman" panose="02020603050405020304" pitchFamily="18" charset="0"/>
                <a:cs typeface="Times New Roman" panose="02020603050405020304" pitchFamily="18" charset="0"/>
              </a:rPr>
              <a:t>: a GO-based functional similarity measurement for miRNAs, with applications to the prediction of miRNA subcellular localization and miRNA–disease association</a:t>
            </a:r>
            <a:endParaRPr lang="zh-TW" altLang="en-US" sz="32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2FF96485-B26C-4B59-B13D-880AA0BD68EA}"/>
              </a:ext>
            </a:extLst>
          </p:cNvPr>
          <p:cNvSpPr>
            <a:spLocks noGrp="1"/>
          </p:cNvSpPr>
          <p:nvPr>
            <p:ph type="subTitle" idx="1"/>
          </p:nvPr>
        </p:nvSpPr>
        <p:spPr>
          <a:xfrm>
            <a:off x="1317324" y="2290880"/>
            <a:ext cx="10193358" cy="1590037"/>
          </a:xfrm>
        </p:spPr>
        <p:txBody>
          <a:bodyPr>
            <a:normAutofit/>
          </a:bodyPr>
          <a:lstStyle/>
          <a:p>
            <a:endParaRPr lang="en-US" altLang="zh-TW" dirty="0"/>
          </a:p>
          <a:p>
            <a:r>
              <a:rPr lang="en-US" altLang="zh-TW" sz="2800" dirty="0"/>
              <a:t>Yang Yang, Xiao-feng Fu, Wen-</a:t>
            </a:r>
            <a:r>
              <a:rPr lang="en-US" altLang="zh-TW" sz="2800" dirty="0" err="1"/>
              <a:t>hao</a:t>
            </a:r>
            <a:r>
              <a:rPr lang="en-US" altLang="zh-TW" sz="2800" dirty="0"/>
              <a:t> Qu, Yi-</a:t>
            </a:r>
            <a:r>
              <a:rPr lang="en-US" altLang="zh-TW" sz="2800" dirty="0" err="1"/>
              <a:t>qun</a:t>
            </a:r>
            <a:r>
              <a:rPr lang="en-US" altLang="zh-TW" sz="2800" dirty="0"/>
              <a:t> Xiao, Hong-Bin Shen</a:t>
            </a:r>
            <a:endParaRPr lang="zh-TW" altLang="en-US"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64AE8193-1DE0-47D4-9DBB-4734B89CA666}"/>
              </a:ext>
            </a:extLst>
          </p:cNvPr>
          <p:cNvSpPr txBox="1">
            <a:spLocks/>
          </p:cNvSpPr>
          <p:nvPr/>
        </p:nvSpPr>
        <p:spPr>
          <a:xfrm>
            <a:off x="367552" y="3987993"/>
            <a:ext cx="11591366" cy="138186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Bioinformatics, Volume 34, Issue 20, Pages 3547–3556, 2018</a:t>
            </a:r>
          </a:p>
        </p:txBody>
      </p:sp>
      <p:sp>
        <p:nvSpPr>
          <p:cNvPr id="5" name="副標題 2">
            <a:extLst>
              <a:ext uri="{FF2B5EF4-FFF2-40B4-BE49-F238E27FC236}">
                <a16:creationId xmlns:a16="http://schemas.microsoft.com/office/drawing/2014/main" id="{83311FB5-1C7C-4049-9C63-3A86A28231CF}"/>
              </a:ext>
            </a:extLst>
          </p:cNvPr>
          <p:cNvSpPr txBox="1">
            <a:spLocks/>
          </p:cNvSpPr>
          <p:nvPr/>
        </p:nvSpPr>
        <p:spPr>
          <a:xfrm>
            <a:off x="8616875" y="5526721"/>
            <a:ext cx="2893807"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Jheng</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-Yan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Lyu</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Jan. </a:t>
            </a:r>
            <a:r>
              <a:rPr lang="en-US" altLang="zh-TW" sz="2000">
                <a:latin typeface="Times New Roman" panose="02020603050405020304" pitchFamily="18" charset="0"/>
                <a:ea typeface="標楷體" panose="03000509000000000000" pitchFamily="65" charset="-120"/>
                <a:cs typeface="Times New Roman" panose="02020603050405020304" pitchFamily="18" charset="0"/>
              </a:rPr>
              <a:t>21, </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2020</a:t>
            </a:r>
          </a:p>
        </p:txBody>
      </p:sp>
    </p:spTree>
    <p:extLst>
      <p:ext uri="{BB962C8B-B14F-4D97-AF65-F5344CB8AC3E}">
        <p14:creationId xmlns:p14="http://schemas.microsoft.com/office/powerpoint/2010/main" val="301494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80913" y="27469"/>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580913" y="613185"/>
            <a:ext cx="10875981" cy="6108289"/>
          </a:xfrm>
        </p:spPr>
        <p:txBody>
          <a:bodyPr>
            <a:noAutofit/>
          </a:bodyPr>
          <a:lstStyle/>
          <a:p>
            <a:pPr marL="0" indent="0" algn="just">
              <a:lnSpc>
                <a:spcPct val="150000"/>
              </a:lnSpc>
              <a:buNone/>
            </a:pPr>
            <a:r>
              <a:rPr lang="en-US" altLang="zh-TW" sz="2200" spc="-150" dirty="0">
                <a:latin typeface="Times New Roman" panose="02020603050405020304" pitchFamily="18" charset="0"/>
                <a:cs typeface="Times New Roman" panose="02020603050405020304" pitchFamily="18" charset="0"/>
              </a:rPr>
              <a:t>Motivation Benefiting from high-throughput experimental technologies, whole-genome analysis of microRNAs (miRNAs) has been more and more common to uncover important regulatory roles of miRNAs and identify miRNA biomarkers for disease diagnosis. As a complementary information to the high-throughput experimental data, domain knowledge like the Gene Ontology and KEGG pathway is usually used to guide gene function analysis. However, functional annotation for miRNAs is scarce in the public databases. Till now, only a few methods have been proposed for measuring the functional similarity between miRNAs based on public annotation data, and these methods cover a very limited number of miRNAs, which are not applicable to large-scale miRNA analysis. Results In this paper, we propose a new method to measure the functional similarity for miRNAs, called </a:t>
            </a:r>
            <a:r>
              <a:rPr lang="en-US" altLang="zh-TW" sz="2200" spc="-150" dirty="0" err="1">
                <a:latin typeface="Times New Roman" panose="02020603050405020304" pitchFamily="18" charset="0"/>
                <a:cs typeface="Times New Roman" panose="02020603050405020304" pitchFamily="18" charset="0"/>
              </a:rPr>
              <a:t>miRGOFS</a:t>
            </a:r>
            <a:r>
              <a:rPr lang="en-US" altLang="zh-TW" sz="2200" spc="-150" dirty="0">
                <a:latin typeface="Times New Roman" panose="02020603050405020304" pitchFamily="18" charset="0"/>
                <a:cs typeface="Times New Roman" panose="02020603050405020304" pitchFamily="18" charset="0"/>
              </a:rPr>
              <a:t>, which has two notable features: (</a:t>
            </a:r>
            <a:r>
              <a:rPr lang="en-US" altLang="zh-TW" sz="2200" spc="-150" dirty="0" err="1">
                <a:latin typeface="Times New Roman" panose="02020603050405020304" pitchFamily="18" charset="0"/>
                <a:cs typeface="Times New Roman" panose="02020603050405020304" pitchFamily="18" charset="0"/>
              </a:rPr>
              <a:t>i</a:t>
            </a:r>
            <a:r>
              <a:rPr lang="en-US" altLang="zh-TW" sz="2200" spc="-150" dirty="0">
                <a:latin typeface="Times New Roman" panose="02020603050405020304" pitchFamily="18" charset="0"/>
                <a:cs typeface="Times New Roman" panose="02020603050405020304" pitchFamily="18" charset="0"/>
              </a:rPr>
              <a:t>) it adopts a new GO semantic similarity metric which considers both common ancestors and descendants of GO terms; (</a:t>
            </a:r>
            <a:r>
              <a:rPr lang="en-US" altLang="zh-TW" sz="2200" spc="-150" dirty="0" err="1">
                <a:latin typeface="Times New Roman" panose="02020603050405020304" pitchFamily="18" charset="0"/>
                <a:cs typeface="Times New Roman" panose="02020603050405020304" pitchFamily="18" charset="0"/>
              </a:rPr>
              <a:t>i</a:t>
            </a:r>
            <a:r>
              <a:rPr lang="en-US" altLang="zh-TW" sz="2200" spc="-150" dirty="0">
                <a:latin typeface="Times New Roman" panose="02020603050405020304" pitchFamily="18" charset="0"/>
                <a:cs typeface="Times New Roman" panose="02020603050405020304" pitchFamily="18" charset="0"/>
              </a:rPr>
              <a:t>) it computes similarity between GO sets in an asymmetric manner, and weights each GO term by its statistical significance. </a:t>
            </a:r>
          </a:p>
        </p:txBody>
      </p:sp>
    </p:spTree>
    <p:extLst>
      <p:ext uri="{BB962C8B-B14F-4D97-AF65-F5344CB8AC3E}">
        <p14:creationId xmlns:p14="http://schemas.microsoft.com/office/powerpoint/2010/main" val="1595067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7271" y="14569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517271" y="888513"/>
            <a:ext cx="11455990" cy="5652136"/>
          </a:xfrm>
        </p:spPr>
        <p:txBody>
          <a:bodyPr vert="horz" lIns="91440" tIns="45720" rIns="91440" bIns="45720" rtlCol="0">
            <a:noAutofit/>
          </a:bodyPr>
          <a:lstStyle/>
          <a:p>
            <a:pPr marL="0" indent="0" algn="just">
              <a:lnSpc>
                <a:spcPct val="150000"/>
              </a:lnSpc>
              <a:buNone/>
            </a:pPr>
            <a:r>
              <a:rPr lang="en-US" altLang="zh-TW" sz="2200" spc="-150" dirty="0">
                <a:latin typeface="Times New Roman" panose="02020603050405020304" pitchFamily="18" charset="0"/>
                <a:cs typeface="Times New Roman" panose="02020603050405020304" pitchFamily="18" charset="0"/>
              </a:rPr>
              <a:t>The </a:t>
            </a:r>
            <a:r>
              <a:rPr lang="en-US" altLang="zh-TW" sz="2200" spc="-150" dirty="0" err="1">
                <a:latin typeface="Times New Roman" panose="02020603050405020304" pitchFamily="18" charset="0"/>
                <a:cs typeface="Times New Roman" panose="02020603050405020304" pitchFamily="18" charset="0"/>
              </a:rPr>
              <a:t>miRGOFS</a:t>
            </a:r>
            <a:r>
              <a:rPr lang="en-US" altLang="zh-TW" sz="2200" spc="-150" dirty="0">
                <a:latin typeface="Times New Roman" panose="02020603050405020304" pitchFamily="18" charset="0"/>
                <a:cs typeface="Times New Roman" panose="02020603050405020304" pitchFamily="18" charset="0"/>
              </a:rPr>
              <a:t>-based predictor achieves an F1 of 61.2% on a benchmark dataset of miRNA localization, and AUC values of 87.7% and 81.1% on two benchmark sets of miRNA–disease association, respectively. Compared with the existing functional similarity measurements of miRNAs, </a:t>
            </a:r>
            <a:r>
              <a:rPr lang="en-US" altLang="zh-TW" sz="2200" spc="-150" dirty="0" err="1">
                <a:latin typeface="Times New Roman" panose="02020603050405020304" pitchFamily="18" charset="0"/>
                <a:cs typeface="Times New Roman" panose="02020603050405020304" pitchFamily="18" charset="0"/>
              </a:rPr>
              <a:t>miRGOFS</a:t>
            </a:r>
            <a:r>
              <a:rPr lang="en-US" altLang="zh-TW" sz="2200" spc="-150" dirty="0">
                <a:latin typeface="Times New Roman" panose="02020603050405020304" pitchFamily="18" charset="0"/>
                <a:cs typeface="Times New Roman" panose="02020603050405020304" pitchFamily="18" charset="0"/>
              </a:rPr>
              <a:t> has the advantages of higher accuracy and larger coverage of human miRNAs (over 1000 miRNAs).</a:t>
            </a:r>
          </a:p>
        </p:txBody>
      </p:sp>
    </p:spTree>
    <p:extLst>
      <p:ext uri="{BB962C8B-B14F-4D97-AF65-F5344CB8AC3E}">
        <p14:creationId xmlns:p14="http://schemas.microsoft.com/office/powerpoint/2010/main" val="32047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a:bodyPr>
          <a:lstStyle/>
          <a:p>
            <a:r>
              <a:rPr lang="en-US" altLang="zh-TW" sz="3200" dirty="0">
                <a:latin typeface="Times New Roman" panose="02020603050405020304" pitchFamily="18" charset="0"/>
                <a:cs typeface="Times New Roman" panose="02020603050405020304" pitchFamily="18" charset="0"/>
              </a:rPr>
              <a:t>Semantic similarity between GO terms</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4</a:t>
            </a:fld>
            <a:endParaRPr lang="zh-TW" altLang="en-US"/>
          </a:p>
        </p:txBody>
      </p:sp>
      <mc:AlternateContent xmlns:mc="http://schemas.openxmlformats.org/markup-compatibility/2006" xmlns:a14="http://schemas.microsoft.com/office/drawing/2010/main">
        <mc:Choice Requires="a14">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838200" y="1161826"/>
                <a:ext cx="10633038" cy="4929076"/>
              </a:xfrm>
            </p:spPr>
            <p:txBody>
              <a:bodyPr/>
              <a:lstStyle/>
              <a:p>
                <a:r>
                  <a:rPr lang="en-US" altLang="zh-TW" dirty="0"/>
                  <a:t>IC(x) is information content (IC) of x.</a:t>
                </a:r>
              </a:p>
              <a:p>
                <a:r>
                  <a:rPr lang="en-US" altLang="zh-TW" dirty="0" err="1"/>
                  <a:t>G</a:t>
                </a:r>
                <a:r>
                  <a:rPr lang="en-US" altLang="zh-TW" baseline="-25000" dirty="0" err="1"/>
                  <a:t>x</a:t>
                </a:r>
                <a:r>
                  <a:rPr lang="en-US" altLang="zh-TW" dirty="0"/>
                  <a:t> is the set of genes that are associated with x.</a:t>
                </a:r>
              </a:p>
              <a:p>
                <a:r>
                  <a:rPr lang="en-US" altLang="zh-TW" dirty="0"/>
                  <a:t>G</a:t>
                </a:r>
                <a:r>
                  <a:rPr lang="en-US" altLang="zh-TW" baseline="-25000" dirty="0"/>
                  <a:t>root</a:t>
                </a:r>
                <a:r>
                  <a:rPr lang="en-US" altLang="zh-TW" dirty="0"/>
                  <a:t> is the set of genes that are associated with the root term.</a:t>
                </a:r>
              </a:p>
              <a:p>
                <a:r>
                  <a:rPr lang="en-US" altLang="zh-TW" dirty="0"/>
                  <a:t>D</a:t>
                </a:r>
                <a:r>
                  <a:rPr lang="en-US" altLang="zh-TW" baseline="-25000" dirty="0"/>
                  <a:t>x</a:t>
                </a:r>
                <a:r>
                  <a:rPr lang="en-US" altLang="zh-TW" dirty="0"/>
                  <a:t> denotes the descendant set of x.</a:t>
                </a:r>
              </a:p>
              <a:p>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𝐺</m:t>
                        </m:r>
                      </m:e>
                      <m:sub>
                        <m:r>
                          <a:rPr lang="en-US" altLang="zh-TW" b="0" i="1" smtClean="0">
                            <a:latin typeface="Cambria Math" panose="02040503050406030204" pitchFamily="18" charset="0"/>
                          </a:rPr>
                          <m:t>𝑥</m:t>
                        </m:r>
                      </m:sub>
                      <m:sup>
                        <m:r>
                          <a:rPr lang="en-US" altLang="zh-TW" b="0" i="1" smtClean="0">
                            <a:latin typeface="Cambria Math" panose="02040503050406030204" pitchFamily="18" charset="0"/>
                          </a:rPr>
                          <m:t>∗</m:t>
                        </m:r>
                      </m:sup>
                    </m:sSubSup>
                    <m:r>
                      <a:rPr lang="en-US" altLang="zh-TW" b="0" i="0" smtClean="0">
                        <a:latin typeface="Cambria Math" panose="02040503050406030204" pitchFamily="18" charset="0"/>
                      </a:rPr>
                      <m:t> </m:t>
                    </m:r>
                  </m:oMath>
                </a14:m>
                <a:r>
                  <a:rPr lang="en-US" altLang="zh-TW" dirty="0"/>
                  <a:t>is the set of genes that are directly annotated by x.</a:t>
                </a:r>
              </a:p>
              <a:p>
                <a:r>
                  <a:rPr lang="en-US" altLang="zh-TW" dirty="0"/>
                  <a:t>N is the full set of nodes in the DAG.</a:t>
                </a:r>
              </a:p>
            </p:txBody>
          </p:sp>
        </mc:Choice>
        <mc:Fallback xmlns="">
          <p:sp>
            <p:nvSpPr>
              <p:cNvPr id="17" name="內容版面配置區 16">
                <a:extLst>
                  <a:ext uri="{FF2B5EF4-FFF2-40B4-BE49-F238E27FC236}">
                    <a16:creationId xmlns:a16="http://schemas.microsoft.com/office/drawing/2014/main" id="{B3B369A4-994D-4FC9-B14F-FC14ACB6A342}"/>
                  </a:ext>
                </a:extLst>
              </p:cNvPr>
              <p:cNvSpPr>
                <a:spLocks noGrp="1" noRot="1" noChangeAspect="1" noMove="1" noResize="1" noEditPoints="1" noAdjustHandles="1" noChangeArrowheads="1" noChangeShapeType="1" noTextEdit="1"/>
              </p:cNvSpPr>
              <p:nvPr>
                <p:ph idx="1"/>
              </p:nvPr>
            </p:nvSpPr>
            <p:spPr>
              <a:xfrm>
                <a:off x="838200" y="1161826"/>
                <a:ext cx="10633038" cy="4929076"/>
              </a:xfrm>
              <a:blipFill>
                <a:blip r:embed="rId3"/>
                <a:stretch>
                  <a:fillRect l="-1032" t="-2104"/>
                </a:stretch>
              </a:blipFill>
            </p:spPr>
            <p:txBody>
              <a:bodyPr/>
              <a:lstStyle/>
              <a:p>
                <a:r>
                  <a:rPr lang="zh-TW" altLang="en-US">
                    <a:noFill/>
                  </a:rPr>
                  <a:t> </a:t>
                </a:r>
              </a:p>
            </p:txBody>
          </p:sp>
        </mc:Fallback>
      </mc:AlternateContent>
      <p:pic>
        <p:nvPicPr>
          <p:cNvPr id="5" name="圖片 4" descr="一張含有 畫畫 的圖片&#10;&#10;自動產生的描述">
            <a:extLst>
              <a:ext uri="{FF2B5EF4-FFF2-40B4-BE49-F238E27FC236}">
                <a16:creationId xmlns:a16="http://schemas.microsoft.com/office/drawing/2014/main" id="{F9CE0AFC-3386-4516-AFE4-05A6BF0CC1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3674" y="4506128"/>
            <a:ext cx="7083939" cy="981075"/>
          </a:xfrm>
          <a:prstGeom prst="rect">
            <a:avLst/>
          </a:prstGeom>
        </p:spPr>
      </p:pic>
      <p:pic>
        <p:nvPicPr>
          <p:cNvPr id="7" name="圖片 6">
            <a:extLst>
              <a:ext uri="{FF2B5EF4-FFF2-40B4-BE49-F238E27FC236}">
                <a16:creationId xmlns:a16="http://schemas.microsoft.com/office/drawing/2014/main" id="{ACACE28C-8216-456D-838F-40618CA9D9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3675" y="5487203"/>
            <a:ext cx="7083938" cy="1441987"/>
          </a:xfrm>
          <a:prstGeom prst="rect">
            <a:avLst/>
          </a:prstGeom>
        </p:spPr>
      </p:pic>
    </p:spTree>
    <p:extLst>
      <p:ext uri="{BB962C8B-B14F-4D97-AF65-F5344CB8AC3E}">
        <p14:creationId xmlns:p14="http://schemas.microsoft.com/office/powerpoint/2010/main" val="815446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a:bodyPr>
          <a:lstStyle/>
          <a:p>
            <a:r>
              <a:rPr lang="en-US" altLang="zh-TW" sz="3200" dirty="0">
                <a:latin typeface="Times New Roman" panose="02020603050405020304" pitchFamily="18" charset="0"/>
                <a:cs typeface="Times New Roman" panose="02020603050405020304" pitchFamily="18" charset="0"/>
              </a:rPr>
              <a:t>GO term similarity</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5</a:t>
            </a:fld>
            <a:endParaRPr lang="zh-TW" altLang="en-US"/>
          </a:p>
        </p:txBody>
      </p:sp>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838200" y="1161826"/>
            <a:ext cx="10633038" cy="4929076"/>
          </a:xfrm>
        </p:spPr>
        <p:txBody>
          <a:bodyPr/>
          <a:lstStyle/>
          <a:p>
            <a:r>
              <a:rPr lang="en-US" altLang="zh-TW" dirty="0"/>
              <a:t>L represents lowest common ancestors (LCAs)</a:t>
            </a:r>
          </a:p>
          <a:p>
            <a:r>
              <a:rPr lang="en-US" altLang="zh-TW" dirty="0"/>
              <a:t>H represents highest common descendants (HCDs)</a:t>
            </a:r>
            <a:endParaRPr lang="zh-TW" altLang="en-US" dirty="0"/>
          </a:p>
        </p:txBody>
      </p:sp>
      <p:pic>
        <p:nvPicPr>
          <p:cNvPr id="5" name="圖片 4" descr="一張含有 畫畫 的圖片&#10;&#10;自動產生的描述">
            <a:extLst>
              <a:ext uri="{FF2B5EF4-FFF2-40B4-BE49-F238E27FC236}">
                <a16:creationId xmlns:a16="http://schemas.microsoft.com/office/drawing/2014/main" id="{92F3449B-1FD4-4669-BC87-275F4AC1B0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685" y="2560371"/>
            <a:ext cx="5067300" cy="819150"/>
          </a:xfrm>
          <a:prstGeom prst="rect">
            <a:avLst/>
          </a:prstGeom>
        </p:spPr>
      </p:pic>
      <p:pic>
        <p:nvPicPr>
          <p:cNvPr id="7" name="圖片 6" descr="一張含有 畫畫 的圖片&#10;&#10;自動產生的描述">
            <a:extLst>
              <a:ext uri="{FF2B5EF4-FFF2-40B4-BE49-F238E27FC236}">
                <a16:creationId xmlns:a16="http://schemas.microsoft.com/office/drawing/2014/main" id="{4FA66287-CEEB-44A0-94D2-7E925A9ACD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26167" y="2394264"/>
            <a:ext cx="4857750" cy="942975"/>
          </a:xfrm>
          <a:prstGeom prst="rect">
            <a:avLst/>
          </a:prstGeom>
        </p:spPr>
      </p:pic>
      <p:pic>
        <p:nvPicPr>
          <p:cNvPr id="9" name="圖片 8">
            <a:extLst>
              <a:ext uri="{FF2B5EF4-FFF2-40B4-BE49-F238E27FC236}">
                <a16:creationId xmlns:a16="http://schemas.microsoft.com/office/drawing/2014/main" id="{E9757C41-DF4A-4777-9587-15387AFB56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3685" y="4490702"/>
            <a:ext cx="5372100" cy="933450"/>
          </a:xfrm>
          <a:prstGeom prst="rect">
            <a:avLst/>
          </a:prstGeom>
        </p:spPr>
      </p:pic>
      <p:pic>
        <p:nvPicPr>
          <p:cNvPr id="13" name="圖片 12">
            <a:extLst>
              <a:ext uri="{FF2B5EF4-FFF2-40B4-BE49-F238E27FC236}">
                <a16:creationId xmlns:a16="http://schemas.microsoft.com/office/drawing/2014/main" id="{32A55DD4-9D4F-4F13-9163-C40C0F7374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87942" y="4290677"/>
            <a:ext cx="5895975" cy="1133475"/>
          </a:xfrm>
          <a:prstGeom prst="rect">
            <a:avLst/>
          </a:prstGeom>
        </p:spPr>
      </p:pic>
    </p:spTree>
    <p:extLst>
      <p:ext uri="{BB962C8B-B14F-4D97-AF65-F5344CB8AC3E}">
        <p14:creationId xmlns:p14="http://schemas.microsoft.com/office/powerpoint/2010/main" val="1962186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descr="一張含有 文字, 地圖 的圖片&#10;&#10;自動產生的描述">
            <a:extLst>
              <a:ext uri="{FF2B5EF4-FFF2-40B4-BE49-F238E27FC236}">
                <a16:creationId xmlns:a16="http://schemas.microsoft.com/office/drawing/2014/main" id="{DEE324FC-74E8-4171-9634-80797CD279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305" y="0"/>
            <a:ext cx="10151390" cy="6899429"/>
          </a:xfrm>
          <a:prstGeom prst="rect">
            <a:avLst/>
          </a:prstGeom>
        </p:spPr>
      </p:pic>
      <p:pic>
        <p:nvPicPr>
          <p:cNvPr id="4" name="圖片 3" descr="一張含有 螢幕擷取畫面 的圖片&#10;&#10;自動產生的描述">
            <a:extLst>
              <a:ext uri="{FF2B5EF4-FFF2-40B4-BE49-F238E27FC236}">
                <a16:creationId xmlns:a16="http://schemas.microsoft.com/office/drawing/2014/main" id="{E3D6B818-107E-40F1-AE9E-AE6D4223F6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775" y="533400"/>
            <a:ext cx="2190750" cy="1314450"/>
          </a:xfrm>
          <a:prstGeom prst="rect">
            <a:avLst/>
          </a:prstGeom>
        </p:spPr>
      </p:pic>
    </p:spTree>
    <p:extLst>
      <p:ext uri="{BB962C8B-B14F-4D97-AF65-F5344CB8AC3E}">
        <p14:creationId xmlns:p14="http://schemas.microsoft.com/office/powerpoint/2010/main" val="354167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33355" y="408509"/>
            <a:ext cx="11098861" cy="839919"/>
          </a:xfrm>
        </p:spPr>
        <p:txBody>
          <a:bodyPr>
            <a:noAutofit/>
          </a:bodyPr>
          <a:lstStyle/>
          <a:p>
            <a:r>
              <a:rPr lang="en-US" altLang="zh-TW" sz="3200" dirty="0">
                <a:latin typeface="Times New Roman" panose="02020603050405020304" pitchFamily="18" charset="0"/>
                <a:cs typeface="Times New Roman" panose="02020603050405020304" pitchFamily="18" charset="0"/>
              </a:rPr>
              <a:t>Similarity between miRNAs</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7</a:t>
            </a:fld>
            <a:endParaRPr lang="zh-TW" altLang="en-US"/>
          </a:p>
        </p:txBody>
      </p:sp>
      <mc:AlternateContent xmlns:mc="http://schemas.openxmlformats.org/markup-compatibility/2006" xmlns:a14="http://schemas.microsoft.com/office/drawing/2010/main">
        <mc:Choice Requires="a14">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720762" y="1520414"/>
                <a:ext cx="10633038" cy="4929076"/>
              </a:xfrm>
            </p:spPr>
            <p:txBody>
              <a:bodyPr/>
              <a:lstStyle/>
              <a:p>
                <a:r>
                  <a:rPr lang="en-US" altLang="zh-TW" dirty="0"/>
                  <a:t>there are N genes annotated by some GO in the database, and M genes are annotated by the term x, while the miRNA has n target genes, and k of them are annotated by x, i.e. the term x occurs k times in the GO set corresponding to the miRNA.</a:t>
                </a:r>
              </a:p>
              <a:p>
                <a14:m>
                  <m:oMath xmlns:m="http://schemas.openxmlformats.org/officeDocument/2006/math">
                    <m:sSubSup>
                      <m:sSubSupPr>
                        <m:ctrlPr>
                          <a:rPr lang="en-US" altLang="zh-TW" i="1" dirty="0" smtClean="0">
                            <a:latin typeface="Cambria Math" panose="02040503050406030204" pitchFamily="18" charset="0"/>
                          </a:rPr>
                        </m:ctrlPr>
                      </m:sSubSupPr>
                      <m:e>
                        <m:r>
                          <a:rPr lang="en-US" altLang="zh-TW" b="0" i="1" dirty="0" smtClean="0">
                            <a:latin typeface="Cambria Math" panose="02040503050406030204" pitchFamily="18" charset="0"/>
                          </a:rPr>
                          <m:t>𝐶</m:t>
                        </m:r>
                      </m:e>
                      <m:sub>
                        <m:r>
                          <a:rPr lang="en-US" altLang="zh-TW" b="0" i="1" dirty="0" smtClean="0">
                            <a:latin typeface="Cambria Math" panose="02040503050406030204" pitchFamily="18" charset="0"/>
                          </a:rPr>
                          <m:t>𝑁</m:t>
                        </m:r>
                      </m:sub>
                      <m:sup>
                        <m:r>
                          <a:rPr lang="en-US" altLang="zh-TW" b="0" i="1" dirty="0" smtClean="0">
                            <a:latin typeface="Cambria Math" panose="02040503050406030204" pitchFamily="18" charset="0"/>
                          </a:rPr>
                          <m:t>𝑛</m:t>
                        </m:r>
                      </m:sup>
                    </m:sSubSup>
                  </m:oMath>
                </a14:m>
                <a:r>
                  <a:rPr lang="en-US" altLang="zh-TW" dirty="0"/>
                  <a:t> is the number of combinations of N items taken n at a time.</a:t>
                </a:r>
              </a:p>
              <a:p>
                <a:r>
                  <a:rPr lang="en-US" altLang="zh-TW" dirty="0"/>
                  <a:t>n is the number of GO terms of </a:t>
                </a:r>
                <a:r>
                  <a:rPr lang="en-US" altLang="zh-TW" dirty="0" err="1"/>
                  <a:t>m</a:t>
                </a:r>
                <a:r>
                  <a:rPr lang="en-US" altLang="zh-TW" baseline="-25000" dirty="0" err="1"/>
                  <a:t>q</a:t>
                </a:r>
                <a:r>
                  <a:rPr lang="en-US" altLang="zh-TW" dirty="0"/>
                  <a:t>, </a:t>
                </a:r>
                <a:r>
                  <a:rPr lang="el-GR" altLang="zh-TW" dirty="0"/>
                  <a:t>β</a:t>
                </a:r>
                <a:r>
                  <a:rPr lang="en-US" altLang="zh-TW" dirty="0"/>
                  <a:t> is the GO set of m</a:t>
                </a:r>
                <a:r>
                  <a:rPr lang="en-US" altLang="zh-TW" baseline="-25000" dirty="0"/>
                  <a:t>t</a:t>
                </a:r>
                <a:r>
                  <a:rPr lang="en-US" altLang="zh-TW" dirty="0"/>
                  <a:t>.</a:t>
                </a:r>
              </a:p>
              <a:p>
                <a:endParaRPr lang="zh-TW" altLang="en-US" dirty="0"/>
              </a:p>
            </p:txBody>
          </p:sp>
        </mc:Choice>
        <mc:Fallback xmlns="">
          <p:sp>
            <p:nvSpPr>
              <p:cNvPr id="17" name="內容版面配置區 16">
                <a:extLst>
                  <a:ext uri="{FF2B5EF4-FFF2-40B4-BE49-F238E27FC236}">
                    <a16:creationId xmlns:a16="http://schemas.microsoft.com/office/drawing/2014/main" id="{B3B369A4-994D-4FC9-B14F-FC14ACB6A342}"/>
                  </a:ext>
                </a:extLst>
              </p:cNvPr>
              <p:cNvSpPr>
                <a:spLocks noGrp="1" noRot="1" noChangeAspect="1" noMove="1" noResize="1" noEditPoints="1" noAdjustHandles="1" noChangeArrowheads="1" noChangeShapeType="1" noTextEdit="1"/>
              </p:cNvSpPr>
              <p:nvPr>
                <p:ph idx="1"/>
              </p:nvPr>
            </p:nvSpPr>
            <p:spPr>
              <a:xfrm>
                <a:off x="720762" y="1520414"/>
                <a:ext cx="10633038" cy="4929076"/>
              </a:xfrm>
              <a:blipFill>
                <a:blip r:embed="rId3"/>
                <a:stretch>
                  <a:fillRect l="-1032" t="-1978" r="-1089"/>
                </a:stretch>
              </a:blipFill>
            </p:spPr>
            <p:txBody>
              <a:bodyPr/>
              <a:lstStyle/>
              <a:p>
                <a:r>
                  <a:rPr lang="zh-TW" altLang="en-US">
                    <a:noFill/>
                  </a:rPr>
                  <a:t> </a:t>
                </a:r>
              </a:p>
            </p:txBody>
          </p:sp>
        </mc:Fallback>
      </mc:AlternateContent>
      <p:pic>
        <p:nvPicPr>
          <p:cNvPr id="5" name="圖片 4" descr="一張含有 時鐘 的圖片&#10;&#10;自動產生的描述">
            <a:extLst>
              <a:ext uri="{FF2B5EF4-FFF2-40B4-BE49-F238E27FC236}">
                <a16:creationId xmlns:a16="http://schemas.microsoft.com/office/drawing/2014/main" id="{41ECA018-8770-46C2-A829-96D515242B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1837" y="4242398"/>
            <a:ext cx="7568763" cy="1193687"/>
          </a:xfrm>
          <a:prstGeom prst="rect">
            <a:avLst/>
          </a:prstGeom>
        </p:spPr>
      </p:pic>
      <p:pic>
        <p:nvPicPr>
          <p:cNvPr id="7" name="圖片 6" descr="一張含有 刀 的圖片&#10;&#10;自動產生的描述">
            <a:extLst>
              <a:ext uri="{FF2B5EF4-FFF2-40B4-BE49-F238E27FC236}">
                <a16:creationId xmlns:a16="http://schemas.microsoft.com/office/drawing/2014/main" id="{3239DA9D-2EF3-4B19-813C-DA400160BE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1755" y="5404232"/>
            <a:ext cx="7272050" cy="1319583"/>
          </a:xfrm>
          <a:prstGeom prst="rect">
            <a:avLst/>
          </a:prstGeom>
        </p:spPr>
      </p:pic>
    </p:spTree>
    <p:extLst>
      <p:ext uri="{BB962C8B-B14F-4D97-AF65-F5344CB8AC3E}">
        <p14:creationId xmlns:p14="http://schemas.microsoft.com/office/powerpoint/2010/main" val="1831549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F843F6-EE57-48F9-BFE5-DDD702F8E535}"/>
              </a:ext>
            </a:extLst>
          </p:cNvPr>
          <p:cNvSpPr>
            <a:spLocks noGrp="1"/>
          </p:cNvSpPr>
          <p:nvPr>
            <p:ph type="title"/>
          </p:nvPr>
        </p:nvSpPr>
        <p:spPr>
          <a:xfrm>
            <a:off x="838200" y="365126"/>
            <a:ext cx="10690412" cy="1024404"/>
          </a:xfrm>
        </p:spPr>
        <p:txBody>
          <a:bodyPr>
            <a:normAutofit/>
          </a:bodyPr>
          <a:lstStyle/>
          <a:p>
            <a:r>
              <a:rPr lang="en-US" altLang="zh-TW" sz="3200" dirty="0">
                <a:latin typeface="Times New Roman" panose="02020603050405020304" pitchFamily="18" charset="0"/>
                <a:cs typeface="Times New Roman" panose="02020603050405020304" pitchFamily="18" charset="0"/>
              </a:rPr>
              <a:t>Benchmark datasets of miRNA–disease association</a:t>
            </a:r>
            <a:endParaRPr lang="zh-TW" altLang="en-US" sz="3200" dirty="0">
              <a:latin typeface="Times New Roman" panose="02020603050405020304" pitchFamily="18" charset="0"/>
              <a:cs typeface="Times New Roman" panose="02020603050405020304" pitchFamily="18" charset="0"/>
            </a:endParaRPr>
          </a:p>
        </p:txBody>
      </p:sp>
      <p:sp>
        <p:nvSpPr>
          <p:cNvPr id="9" name="內容版面配置區 8">
            <a:extLst>
              <a:ext uri="{FF2B5EF4-FFF2-40B4-BE49-F238E27FC236}">
                <a16:creationId xmlns:a16="http://schemas.microsoft.com/office/drawing/2014/main" id="{3036FC36-076A-4378-BF87-F8B3D7BF7873}"/>
              </a:ext>
            </a:extLst>
          </p:cNvPr>
          <p:cNvSpPr>
            <a:spLocks noGrp="1"/>
          </p:cNvSpPr>
          <p:nvPr>
            <p:ph idx="1"/>
          </p:nvPr>
        </p:nvSpPr>
        <p:spPr>
          <a:xfrm>
            <a:off x="838200" y="1389530"/>
            <a:ext cx="10515600" cy="4787433"/>
          </a:xfrm>
        </p:spPr>
        <p:txBody>
          <a:bodyPr/>
          <a:lstStyle/>
          <a:p>
            <a:r>
              <a:rPr lang="en-US" altLang="zh-TW" dirty="0"/>
              <a:t>Data1 contains all the records in HMDD database (released on September 2009), includes 1388 associations, 267 miRNAs and 137 diseases.</a:t>
            </a:r>
          </a:p>
          <a:p>
            <a:r>
              <a:rPr lang="en-US" altLang="zh-TW" dirty="0"/>
              <a:t>Data2 was initially collected from HMDD and miR2Disease, includes  242 miRNA–disease associations, 99 miRNAs and 51 diseases.</a:t>
            </a:r>
            <a:endParaRPr lang="zh-TW" altLang="en-US" dirty="0"/>
          </a:p>
        </p:txBody>
      </p:sp>
    </p:spTree>
    <p:extLst>
      <p:ext uri="{BB962C8B-B14F-4D97-AF65-F5344CB8AC3E}">
        <p14:creationId xmlns:p14="http://schemas.microsoft.com/office/powerpoint/2010/main" val="2048204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200" dirty="0">
                <a:latin typeface="Times New Roman" panose="02020603050405020304" pitchFamily="18" charset="0"/>
                <a:cs typeface="Times New Roman" panose="02020603050405020304" pitchFamily="18" charset="0"/>
              </a:rPr>
              <a:t>Results</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9</a:t>
            </a:fld>
            <a:endParaRPr lang="zh-TW" altLang="en-US"/>
          </a:p>
        </p:txBody>
      </p:sp>
      <p:sp>
        <p:nvSpPr>
          <p:cNvPr id="9" name="內容版面配置區 8">
            <a:extLst>
              <a:ext uri="{FF2B5EF4-FFF2-40B4-BE49-F238E27FC236}">
                <a16:creationId xmlns:a16="http://schemas.microsoft.com/office/drawing/2014/main" id="{0BF04033-7B1C-4DF5-9D44-CB2D092D0793}"/>
              </a:ext>
            </a:extLst>
          </p:cNvPr>
          <p:cNvSpPr>
            <a:spLocks noGrp="1"/>
          </p:cNvSpPr>
          <p:nvPr>
            <p:ph idx="1"/>
          </p:nvPr>
        </p:nvSpPr>
        <p:spPr>
          <a:xfrm>
            <a:off x="838200" y="1394847"/>
            <a:ext cx="10515600" cy="4782116"/>
          </a:xfrm>
        </p:spPr>
        <p:txBody>
          <a:bodyPr/>
          <a:lstStyle/>
          <a:p>
            <a:r>
              <a:rPr lang="en-US" altLang="zh-TW" dirty="0"/>
              <a:t>Comparison of disease-related miRNA prediction methods</a:t>
            </a:r>
            <a:endParaRPr lang="zh-TW" altLang="en-US" dirty="0"/>
          </a:p>
        </p:txBody>
      </p:sp>
      <p:pic>
        <p:nvPicPr>
          <p:cNvPr id="12" name="圖片 11" descr="一張含有 螢幕擷取畫面 的圖片&#10;&#10;自動產生的描述">
            <a:extLst>
              <a:ext uri="{FF2B5EF4-FFF2-40B4-BE49-F238E27FC236}">
                <a16:creationId xmlns:a16="http://schemas.microsoft.com/office/drawing/2014/main" id="{CC9365EF-4DB2-4D9D-B833-88DC31A98D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0799" y="2119878"/>
            <a:ext cx="8211519" cy="4560511"/>
          </a:xfrm>
          <a:prstGeom prst="rect">
            <a:avLst/>
          </a:prstGeom>
        </p:spPr>
      </p:pic>
    </p:spTree>
    <p:extLst>
      <p:ext uri="{BB962C8B-B14F-4D97-AF65-F5344CB8AC3E}">
        <p14:creationId xmlns:p14="http://schemas.microsoft.com/office/powerpoint/2010/main" val="4221497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200" dirty="0">
                <a:latin typeface="Times New Roman" panose="02020603050405020304" pitchFamily="18" charset="0"/>
                <a:cs typeface="Times New Roman" panose="02020603050405020304" pitchFamily="18" charset="0"/>
              </a:rPr>
              <a:t>Results</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10</a:t>
            </a:fld>
            <a:endParaRPr lang="zh-TW" altLang="en-US"/>
          </a:p>
        </p:txBody>
      </p:sp>
      <p:sp>
        <p:nvSpPr>
          <p:cNvPr id="8" name="內容版面配置區 7">
            <a:extLst>
              <a:ext uri="{FF2B5EF4-FFF2-40B4-BE49-F238E27FC236}">
                <a16:creationId xmlns:a16="http://schemas.microsoft.com/office/drawing/2014/main" id="{8CA016C4-AE55-485B-9BD9-EBC3E46967D6}"/>
              </a:ext>
            </a:extLst>
          </p:cNvPr>
          <p:cNvSpPr>
            <a:spLocks noGrp="1"/>
          </p:cNvSpPr>
          <p:nvPr>
            <p:ph idx="1"/>
          </p:nvPr>
        </p:nvSpPr>
        <p:spPr>
          <a:xfrm>
            <a:off x="838200" y="1265572"/>
            <a:ext cx="10515600" cy="4911391"/>
          </a:xfrm>
        </p:spPr>
        <p:txBody>
          <a:bodyPr/>
          <a:lstStyle/>
          <a:p>
            <a:r>
              <a:rPr lang="en-US" altLang="zh-TW" dirty="0"/>
              <a:t>Comparison of different types of miRNA functional similarity</a:t>
            </a:r>
            <a:endParaRPr lang="zh-TW" altLang="en-US" dirty="0"/>
          </a:p>
        </p:txBody>
      </p:sp>
      <p:pic>
        <p:nvPicPr>
          <p:cNvPr id="10" name="圖片 9" descr="一張含有 螢幕擷取畫面 的圖片&#10;&#10;自動產生的描述">
            <a:extLst>
              <a:ext uri="{FF2B5EF4-FFF2-40B4-BE49-F238E27FC236}">
                <a16:creationId xmlns:a16="http://schemas.microsoft.com/office/drawing/2014/main" id="{4C1984D9-7590-4D98-8695-6D93E74666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625" y="2094859"/>
            <a:ext cx="9736797" cy="4444053"/>
          </a:xfrm>
          <a:prstGeom prst="rect">
            <a:avLst/>
          </a:prstGeom>
        </p:spPr>
      </p:pic>
    </p:spTree>
    <p:extLst>
      <p:ext uri="{BB962C8B-B14F-4D97-AF65-F5344CB8AC3E}">
        <p14:creationId xmlns:p14="http://schemas.microsoft.com/office/powerpoint/2010/main" val="57630962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8329</TotalTime>
  <Words>676</Words>
  <Application>Microsoft Office PowerPoint</Application>
  <PresentationFormat>寬螢幕</PresentationFormat>
  <Paragraphs>48</Paragraphs>
  <Slides>10</Slides>
  <Notes>9</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10</vt:i4>
      </vt:variant>
    </vt:vector>
  </HeadingPairs>
  <TitlesOfParts>
    <vt:vector size="16" baseType="lpstr">
      <vt:lpstr>Arial</vt:lpstr>
      <vt:lpstr>Calibri</vt:lpstr>
      <vt:lpstr>Calibri Light</vt:lpstr>
      <vt:lpstr>Cambria Math</vt:lpstr>
      <vt:lpstr>Times New Roman</vt:lpstr>
      <vt:lpstr>Office 佈景主題</vt:lpstr>
      <vt:lpstr>MiRGOFS: a GO-based functional similarity measurement for miRNAs, with applications to the prediction of miRNA subcellular localization and miRNA–disease association</vt:lpstr>
      <vt:lpstr>Abstract (1/2)</vt:lpstr>
      <vt:lpstr>Abstract (2/2)</vt:lpstr>
      <vt:lpstr>Semantic similarity between GO terms</vt:lpstr>
      <vt:lpstr>GO term similarity</vt:lpstr>
      <vt:lpstr>PowerPoint 簡報</vt:lpstr>
      <vt:lpstr>Similarity between miRNAs</vt:lpstr>
      <vt:lpstr>Benchmark datasets of miRNA–disease association</vt:lpstr>
      <vt:lpstr>Results</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Accurate Template Averaging for Time Series Classification</dc:title>
  <dc:creator>lu</dc:creator>
  <cp:lastModifiedBy>M073040026</cp:lastModifiedBy>
  <cp:revision>1672</cp:revision>
  <dcterms:created xsi:type="dcterms:W3CDTF">2018-10-30T09:09:31Z</dcterms:created>
  <dcterms:modified xsi:type="dcterms:W3CDTF">2020-01-21T07:06:24Z</dcterms:modified>
</cp:coreProperties>
</file>