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9" r:id="rId3"/>
    <p:sldId id="261" r:id="rId4"/>
    <p:sldId id="257" r:id="rId5"/>
    <p:sldId id="262" r:id="rId6"/>
    <p:sldId id="263" r:id="rId7"/>
    <p:sldId id="264" r:id="rId8"/>
    <p:sldId id="273" r:id="rId9"/>
    <p:sldId id="265" r:id="rId10"/>
    <p:sldId id="266" r:id="rId11"/>
    <p:sldId id="267" r:id="rId12"/>
    <p:sldId id="268" r:id="rId13"/>
    <p:sldId id="258" r:id="rId14"/>
    <p:sldId id="269" r:id="rId15"/>
    <p:sldId id="271" r:id="rId16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0887AB-3319-4371-9A5A-4C9AB1EE2E53}" type="datetimeFigureOut">
              <a:rPr lang="zh-TW" altLang="en-US" smtClean="0"/>
              <a:t>2020/1/21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908AFA-FB35-4E85-BF28-22530B0BA9A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81116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.tw/maps/place/%E7%A7%98%E9%AD%AF%E5%88%A9%E9%A6%AC/@-12.0266034,-77.1278665,11z/data=!3m1!4b1!4m5!3m4!1s0x9105c5f619ee3ec7:0x14206cb9cc452e4a!8m2!3d-12.0463731!4d-77.042754?hl=zh-TW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dirty="0">
                <a:hlinkClick r:id="rId3"/>
              </a:rPr>
              <a:t>https://www.google.com.tw/maps/place/%E7%A7%98%E9%AD%AF%E5%88%A9%E9%A6%AC/@-12.0266034,-77.1278665,11z/data=!3m1!4b1!4m5!3m4!1s0x9105c5f619ee3ec7:0x14206cb9cc452e4a!8m2!3d-12.0463731!4d-77.042754?hl=zh-TW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908AFA-FB35-4E85-BF28-22530B0BA9A4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95157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0CBDA29-4942-4B2A-87DD-2F17CBA83B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BE9D4F45-013E-4FFF-9AEE-4E2D572F51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0E2C829-E5A4-44CD-A8AF-0A31D45A97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E4065-1B99-4797-9318-26145B4376CC}" type="datetimeFigureOut">
              <a:rPr lang="zh-TW" altLang="en-US" smtClean="0"/>
              <a:t>2020/1/21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9CF26A0-CD06-4FC5-BE28-4D54E766F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55A94A2-E8C2-49EE-A2EC-B76974BB53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4EA61-2910-4FBF-B468-DA15EA67BD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02603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FD05EC5-36C9-45F9-BD28-6A36BB185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6EFE8A1-A7B1-4DF7-9440-32EC4D8E27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13220B5-75E0-4535-83A9-E504C608C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E4065-1B99-4797-9318-26145B4376CC}" type="datetimeFigureOut">
              <a:rPr lang="zh-TW" altLang="en-US" smtClean="0"/>
              <a:t>2020/1/21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C3FFA1CF-6BC4-4142-B8CC-1ED5A94CA5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FFE3AAF-AF5C-48B7-9580-49C15155FB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4EA61-2910-4FBF-B468-DA15EA67BD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5742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E24C88-147C-4F0F-A5A6-74DD433839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E96C53B-F6B9-4828-855B-CB0D02F9FA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A343039-6E45-4666-813D-F67005DE1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E4065-1B99-4797-9318-26145B4376CC}" type="datetimeFigureOut">
              <a:rPr lang="zh-TW" altLang="en-US" smtClean="0"/>
              <a:t>2020/1/21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F93A899-39C6-442C-87FD-433494E3B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E53B9DF-BBC4-4B91-88DE-29A101D68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4EA61-2910-4FBF-B468-DA15EA67BD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912175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4937269-B368-46E2-A00B-64F8A4572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9944FC8-D3A8-40DA-88D1-9818DBBDCF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51416C8-CAA5-496D-A61F-B5A4882ECD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8E62AC8-084A-4902-AFE2-DB8BD2310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E4065-1B99-4797-9318-26145B4376CC}" type="datetimeFigureOut">
              <a:rPr lang="zh-TW" altLang="en-US" smtClean="0"/>
              <a:t>2020/1/21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7C0A9AF-1784-4E7F-9B67-D9B748DB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A132353-479E-4B3E-B0AF-9DD9438B02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4EA61-2910-4FBF-B468-DA15EA67BD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883590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E6C4124-8041-49D1-9946-0714549DA1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0C8F569-5AA2-4C45-AE42-0F80139D5D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71F6A7C-7C34-4341-BB20-9DBA0419A3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CE8E550D-058F-476A-A012-41716D26A2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43D840C-D3AA-4B67-BC9E-65E229E004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0B1D5137-0316-46DC-9D36-50B8B3A9CF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E4065-1B99-4797-9318-26145B4376CC}" type="datetimeFigureOut">
              <a:rPr lang="zh-TW" altLang="en-US" smtClean="0"/>
              <a:t>2020/1/21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D6D65B8-F2A2-4C8B-A921-AA32C84D0C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E98CE693-7016-449B-ADD1-1FB301F19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4EA61-2910-4FBF-B468-DA15EA67BD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025923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A419AA-5174-4FF3-BC2C-C4EEC0AF6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A577AF7-65F4-453B-8990-FAABBD16CA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E4065-1B99-4797-9318-26145B4376CC}" type="datetimeFigureOut">
              <a:rPr lang="zh-TW" altLang="en-US" smtClean="0"/>
              <a:t>2020/1/21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E8738529-FFD5-4994-931E-0B877D5F7C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521089F-24C1-4137-8617-8515DAB2E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4EA61-2910-4FBF-B468-DA15EA67BD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09167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083AD0F-9429-4C3D-AB51-CA4A33316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E4065-1B99-4797-9318-26145B4376CC}" type="datetimeFigureOut">
              <a:rPr lang="zh-TW" altLang="en-US" smtClean="0"/>
              <a:t>2020/1/21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F3AC55C2-E143-473D-B810-5DDE9B9FD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62376B7-6DC5-4888-81EF-8634C7B015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4EA61-2910-4FBF-B468-DA15EA67BD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956837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F6BE24-9810-4284-BFF4-9C9C390052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86598BF-CF9F-444A-B135-8F43E05F42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0BAC660-5A4F-4D9E-8F10-A4E2178223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FD6D49F-0397-46ED-A511-EDC4568D38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E4065-1B99-4797-9318-26145B4376CC}" type="datetimeFigureOut">
              <a:rPr lang="zh-TW" altLang="en-US" smtClean="0"/>
              <a:t>2020/1/21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4735652D-1C45-49A2-8FD0-9CA0F8CF2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FA2DA39-B7F1-450A-AEA4-C29507D9F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4EA61-2910-4FBF-B468-DA15EA67BD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72270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2B93E8-D012-4D55-B039-31D572511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F986DAB-9E31-4D92-8F13-8D4D3A9213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FFDEA662-C437-498F-A796-02099B33C7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B4C4672-F058-4CC7-8FE2-84F6C27FFD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E4065-1B99-4797-9318-26145B4376CC}" type="datetimeFigureOut">
              <a:rPr lang="zh-TW" altLang="en-US" smtClean="0"/>
              <a:t>2020/1/21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43C7E3B-FAE3-41CC-BB8B-D84E73D74A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460DBA3-4B5C-402E-9DD7-81BE17707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4EA61-2910-4FBF-B468-DA15EA67BD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37943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C5336C3-D782-43C0-9186-10037ED18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4C1ED06-4341-428F-A572-0AB5B64597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23A66B9-D1EF-472C-8340-C01A93428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E4065-1B99-4797-9318-26145B4376CC}" type="datetimeFigureOut">
              <a:rPr lang="zh-TW" altLang="en-US" smtClean="0"/>
              <a:t>2020/1/21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ED0CFA5-E59C-4F2D-8F66-AD830F2CA6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E384BCD-BC6E-4EAA-8EE7-8C68284BB7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4EA61-2910-4FBF-B468-DA15EA67BD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795178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D88E390-FF73-42AE-BF7C-B6280FD92C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A7B57AF7-8295-49F8-8AFA-44DBCDBC8D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A5758C0-F600-4A01-B585-DB5D54190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EE4065-1B99-4797-9318-26145B4376CC}" type="datetimeFigureOut">
              <a:rPr lang="zh-TW" altLang="en-US" smtClean="0"/>
              <a:t>2020/1/21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89A4C2F-9DCE-495D-A07B-AB803CD32D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4B2FB78-8541-47E6-A562-41DF65F8C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54EA61-2910-4FBF-B468-DA15EA67BD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17173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A6CFA78B-84B8-4D5C-BDCE-DDE0993B13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3924FEC-92D1-4CA6-AC1D-1D46BC4963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7375E7C-D915-4522-A949-6B85148BEC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EE4065-1B99-4797-9318-26145B4376CC}" type="datetimeFigureOut">
              <a:rPr lang="zh-TW" altLang="en-US" smtClean="0"/>
              <a:t>2020/1/21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85BFAB0-6FF3-4894-8C2B-7EEB6E1ED1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75ABE45-9C76-4A3B-95C3-16AF0E551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54EA61-2910-4FBF-B468-DA15EA67BD51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13375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094C69-E7D2-411B-A393-7D66849FE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85740" y="937850"/>
            <a:ext cx="9420520" cy="795043"/>
          </a:xfrm>
        </p:spPr>
        <p:txBody>
          <a:bodyPr>
            <a:norm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Property-Preserved Common Factor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780A883A-86B4-4EB9-8C40-58879CE237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52673" y="2670641"/>
            <a:ext cx="9086653" cy="1724107"/>
          </a:xfrm>
        </p:spPr>
        <p:txBody>
          <a:bodyPr>
            <a:normAutofit fontScale="92500" lnSpcReduction="10000"/>
          </a:bodyPr>
          <a:lstStyle/>
          <a:p>
            <a:r>
              <a:rPr lang="it-IT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Lorraine A.K Ayad1, Giulia Bernardini2, Roberto Grossi3, Costas S. Iliopoulos4, Nadia Pisanti5, Solon P. Pissis6, and Giovanna Rosone7</a:t>
            </a:r>
          </a:p>
          <a:p>
            <a:endParaRPr lang="it-IT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fr-F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25th International Symposium, </a:t>
            </a:r>
            <a:r>
              <a:rPr lang="fr-FR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 Processing and Information Retrieval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2018, Lima, Peru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86D9162B-7E24-42BA-964A-470A857B9654}"/>
              </a:ext>
            </a:extLst>
          </p:cNvPr>
          <p:cNvSpPr/>
          <p:nvPr/>
        </p:nvSpPr>
        <p:spPr>
          <a:xfrm>
            <a:off x="8421277" y="5522627"/>
            <a:ext cx="3619893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Presenter: Shao-Xuan Lee</a:t>
            </a:r>
          </a:p>
          <a:p>
            <a:r>
              <a:rPr lang="en-US" altLang="zh-TW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</a:t>
            </a:r>
            <a:r>
              <a:rPr lang="en-US" altLang="zh-TW" sz="2400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Jan. 21, 2020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08788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7BA31A8-FF0F-45BA-93F5-0DD765458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8262" y="377071"/>
            <a:ext cx="2084109" cy="596409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8C44504-CCE9-4038-8F5D-21EDA640A2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2597" y="1293668"/>
            <a:ext cx="11086806" cy="5790578"/>
          </a:xfrm>
        </p:spPr>
        <p:txBody>
          <a:bodyPr>
            <a:noAutofit/>
          </a:bodyPr>
          <a:lstStyle/>
          <a:p>
            <a:pPr marL="0" indent="0">
              <a:spcBef>
                <a:spcPts val="2400"/>
              </a:spcBef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paper we introduce a new family of string processing problems. We are given two or more strings and we are asked to compute a factor common to all strings that preserves a speciﬁc property and has maximal length. Here we consider three fundamental string properties: square-free factors, periodic factors, and palindromic factors under three diﬀerent settings, one per property. In the ﬁrst setting, we are given a string x and we are asked to construct a data structure over x answering the following type of on-line queries: given string y, ﬁnd a longest square-free factor common to x and y. In the second setting, we are given k strings and an integer 1 &lt; k’≤ k and we are asked to ﬁnd a longest periodic factor common to at least k’ strings. In the third setting, we are given two strings and we are asked to ﬁnd a longest palindromic factor common to the two strings. We present linear-time solutions for all settings.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75761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CB802E-97BC-41F0-A417-0B00B8F9C2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12259"/>
            <a:ext cx="10515600" cy="1325563"/>
          </a:xfrm>
        </p:spPr>
        <p:txBody>
          <a:bodyPr/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Square-Free-Preserved Matching Statistics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752DA89-3BFA-4507-AF2A-1BE9080819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37822"/>
            <a:ext cx="10515600" cy="4314186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string </a:t>
            </a:r>
            <a:r>
              <a:rPr lang="en-US" altLang="zh-TW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uu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is called a square.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square-free string 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string that does not contain a square as a factor. </a:t>
            </a:r>
          </a:p>
          <a:p>
            <a:pPr marL="0" indent="0">
              <a:buNone/>
            </a:pPr>
            <a:endParaRPr lang="en-US" altLang="zh-TW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 :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a b a b        (square)         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B = a b a a        (square)</a:t>
            </a:r>
          </a:p>
          <a:p>
            <a:pPr marL="0" indent="0">
              <a:buNone/>
            </a:pP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= a b a           (square-free)</a:t>
            </a:r>
          </a:p>
        </p:txBody>
      </p:sp>
    </p:spTree>
    <p:extLst>
      <p:ext uri="{BB962C8B-B14F-4D97-AF65-F5344CB8AC3E}">
        <p14:creationId xmlns:p14="http://schemas.microsoft.com/office/powerpoint/2010/main" val="6023715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55FC20F2-3372-41C9-A793-9B12CC159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62" y="2248549"/>
            <a:ext cx="10993225" cy="353138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B43CB0C-8844-41A4-9512-FC5F8577D89C}"/>
              </a:ext>
            </a:extLst>
          </p:cNvPr>
          <p:cNvSpPr/>
          <p:nvPr/>
        </p:nvSpPr>
        <p:spPr>
          <a:xfrm>
            <a:off x="702689" y="704902"/>
            <a:ext cx="1091309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zh-TW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aababaababb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zh-TW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babababbaaab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length of a longest common square-free factor is </a:t>
            </a:r>
            <a:r>
              <a:rPr lang="zh-TW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 factors are </a:t>
            </a:r>
            <a:r>
              <a:rPr lang="zh-TW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zh-TW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272DCD8F-725F-44A9-A91B-021EFD10E8ED}"/>
              </a:ext>
            </a:extLst>
          </p:cNvPr>
          <p:cNvCxnSpPr/>
          <p:nvPr/>
        </p:nvCxnSpPr>
        <p:spPr>
          <a:xfrm>
            <a:off x="2422689" y="3101419"/>
            <a:ext cx="3318235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0667F115-58C4-42DF-BF0F-BDFB60D3E322}"/>
              </a:ext>
            </a:extLst>
          </p:cNvPr>
          <p:cNvSpPr/>
          <p:nvPr/>
        </p:nvSpPr>
        <p:spPr>
          <a:xfrm>
            <a:off x="2092751" y="3186260"/>
            <a:ext cx="329938" cy="16968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5A32E1E3-84F1-4417-9208-3131699695A8}"/>
              </a:ext>
            </a:extLst>
          </p:cNvPr>
          <p:cNvSpPr/>
          <p:nvPr/>
        </p:nvSpPr>
        <p:spPr>
          <a:xfrm>
            <a:off x="3110845" y="2898725"/>
            <a:ext cx="2705493" cy="150829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06025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55FC20F2-3372-41C9-A793-9B12CC159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62" y="2248549"/>
            <a:ext cx="10993225" cy="353138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B43CB0C-8844-41A4-9512-FC5F8577D89C}"/>
              </a:ext>
            </a:extLst>
          </p:cNvPr>
          <p:cNvSpPr/>
          <p:nvPr/>
        </p:nvSpPr>
        <p:spPr>
          <a:xfrm>
            <a:off x="702689" y="704902"/>
            <a:ext cx="1091309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zh-TW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aababaababb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zh-TW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babababbaaab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length of a longest common square-free factor is </a:t>
            </a:r>
            <a:r>
              <a:rPr lang="zh-TW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 factors are </a:t>
            </a:r>
            <a:r>
              <a:rPr lang="zh-TW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zh-TW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7" name="箭號: 向右 6">
            <a:extLst>
              <a:ext uri="{FF2B5EF4-FFF2-40B4-BE49-F238E27FC236}">
                <a16:creationId xmlns:a16="http://schemas.microsoft.com/office/drawing/2014/main" id="{6357160E-173D-4DCE-BFC1-B194F736D3AB}"/>
              </a:ext>
            </a:extLst>
          </p:cNvPr>
          <p:cNvSpPr/>
          <p:nvPr/>
        </p:nvSpPr>
        <p:spPr>
          <a:xfrm>
            <a:off x="3676454" y="3202757"/>
            <a:ext cx="329938" cy="14140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" name="直線接點 7">
            <a:extLst>
              <a:ext uri="{FF2B5EF4-FFF2-40B4-BE49-F238E27FC236}">
                <a16:creationId xmlns:a16="http://schemas.microsoft.com/office/drawing/2014/main" id="{B7A5FA8A-D5BE-44AD-AA42-3E37A14D4F12}"/>
              </a:ext>
            </a:extLst>
          </p:cNvPr>
          <p:cNvCxnSpPr>
            <a:cxnSpLocks/>
          </p:cNvCxnSpPr>
          <p:nvPr/>
        </p:nvCxnSpPr>
        <p:spPr>
          <a:xfrm>
            <a:off x="3930977" y="3082564"/>
            <a:ext cx="3431357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9" name="矩形 8">
            <a:extLst>
              <a:ext uri="{FF2B5EF4-FFF2-40B4-BE49-F238E27FC236}">
                <a16:creationId xmlns:a16="http://schemas.microsoft.com/office/drawing/2014/main" id="{E4D641C8-039F-415A-B9F1-CE0249F7B9BC}"/>
              </a:ext>
            </a:extLst>
          </p:cNvPr>
          <p:cNvSpPr/>
          <p:nvPr/>
        </p:nvSpPr>
        <p:spPr>
          <a:xfrm>
            <a:off x="6249971" y="2903469"/>
            <a:ext cx="1112364" cy="13196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3676579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55FC20F2-3372-41C9-A793-9B12CC159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62" y="2248549"/>
            <a:ext cx="10993225" cy="353138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B43CB0C-8844-41A4-9512-FC5F8577D89C}"/>
              </a:ext>
            </a:extLst>
          </p:cNvPr>
          <p:cNvSpPr/>
          <p:nvPr/>
        </p:nvSpPr>
        <p:spPr>
          <a:xfrm>
            <a:off x="702689" y="704902"/>
            <a:ext cx="1091309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zh-TW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aababaababb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zh-TW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babababbaaab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length of a longest common square-free factor is </a:t>
            </a:r>
            <a:r>
              <a:rPr lang="zh-TW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 factors are </a:t>
            </a:r>
            <a:r>
              <a:rPr lang="zh-TW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zh-TW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箭號: 向右 5">
            <a:extLst>
              <a:ext uri="{FF2B5EF4-FFF2-40B4-BE49-F238E27FC236}">
                <a16:creationId xmlns:a16="http://schemas.microsoft.com/office/drawing/2014/main" id="{D52F3F65-2B08-4AC5-A969-3852BD8C5F72}"/>
              </a:ext>
            </a:extLst>
          </p:cNvPr>
          <p:cNvSpPr/>
          <p:nvPr/>
        </p:nvSpPr>
        <p:spPr>
          <a:xfrm>
            <a:off x="2111604" y="3544478"/>
            <a:ext cx="329938" cy="14140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2469D29-1FBC-434C-8138-90F4BCCA0946}"/>
              </a:ext>
            </a:extLst>
          </p:cNvPr>
          <p:cNvSpPr/>
          <p:nvPr/>
        </p:nvSpPr>
        <p:spPr>
          <a:xfrm>
            <a:off x="2370840" y="2912896"/>
            <a:ext cx="1112364" cy="131960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08520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55FC20F2-3372-41C9-A793-9B12CC159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62" y="2248549"/>
            <a:ext cx="10993225" cy="353138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B43CB0C-8844-41A4-9512-FC5F8577D89C}"/>
              </a:ext>
            </a:extLst>
          </p:cNvPr>
          <p:cNvSpPr/>
          <p:nvPr/>
        </p:nvSpPr>
        <p:spPr>
          <a:xfrm>
            <a:off x="702689" y="704902"/>
            <a:ext cx="1091309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zh-TW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aababaababb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zh-TW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babababbaaab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length of a longest common square-free factor is </a:t>
            </a:r>
            <a:r>
              <a:rPr lang="zh-TW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 factors are </a:t>
            </a:r>
            <a:r>
              <a:rPr lang="zh-TW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zh-TW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箭號: 向右 5">
            <a:extLst>
              <a:ext uri="{FF2B5EF4-FFF2-40B4-BE49-F238E27FC236}">
                <a16:creationId xmlns:a16="http://schemas.microsoft.com/office/drawing/2014/main" id="{7735FE99-565D-415E-B2A0-E0C000B923C7}"/>
              </a:ext>
            </a:extLst>
          </p:cNvPr>
          <p:cNvSpPr/>
          <p:nvPr/>
        </p:nvSpPr>
        <p:spPr>
          <a:xfrm>
            <a:off x="4355183" y="3572758"/>
            <a:ext cx="329938" cy="14140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C51F3F62-5C3D-48D5-90B6-7F1AE539399C}"/>
              </a:ext>
            </a:extLst>
          </p:cNvPr>
          <p:cNvSpPr/>
          <p:nvPr/>
        </p:nvSpPr>
        <p:spPr>
          <a:xfrm>
            <a:off x="4769961" y="2912896"/>
            <a:ext cx="4053527" cy="131885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49100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55FC20F2-3372-41C9-A793-9B12CC159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851" y="2267402"/>
            <a:ext cx="10993225" cy="353138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B43CB0C-8844-41A4-9512-FC5F8577D89C}"/>
              </a:ext>
            </a:extLst>
          </p:cNvPr>
          <p:cNvSpPr/>
          <p:nvPr/>
        </p:nvSpPr>
        <p:spPr>
          <a:xfrm>
            <a:off x="702689" y="704902"/>
            <a:ext cx="1091309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zh-TW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aababaababb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zh-TW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babababbaaab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length of a longest common square-free factor is </a:t>
            </a:r>
            <a:r>
              <a:rPr lang="zh-TW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 factors are </a:t>
            </a:r>
            <a:r>
              <a:rPr lang="zh-TW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zh-TW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11" name="箭號: 向右 10">
            <a:extLst>
              <a:ext uri="{FF2B5EF4-FFF2-40B4-BE49-F238E27FC236}">
                <a16:creationId xmlns:a16="http://schemas.microsoft.com/office/drawing/2014/main" id="{CEC2E1E7-E434-4032-B45C-3DD1F9E2A596}"/>
              </a:ext>
            </a:extLst>
          </p:cNvPr>
          <p:cNvSpPr/>
          <p:nvPr/>
        </p:nvSpPr>
        <p:spPr>
          <a:xfrm>
            <a:off x="2092554" y="3891694"/>
            <a:ext cx="329938" cy="14140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15707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55FC20F2-3372-41C9-A793-9B12CC159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562" y="2239122"/>
            <a:ext cx="10993225" cy="353138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B43CB0C-8844-41A4-9512-FC5F8577D89C}"/>
              </a:ext>
            </a:extLst>
          </p:cNvPr>
          <p:cNvSpPr/>
          <p:nvPr/>
        </p:nvSpPr>
        <p:spPr>
          <a:xfrm>
            <a:off x="702689" y="704902"/>
            <a:ext cx="1091309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zh-TW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aababaababb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zh-TW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babababbaaab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length of a longest common square-free factor is </a:t>
            </a:r>
            <a:r>
              <a:rPr lang="zh-TW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 factors are </a:t>
            </a:r>
            <a:r>
              <a:rPr lang="zh-TW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zh-TW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箭號: 向右 5">
            <a:extLst>
              <a:ext uri="{FF2B5EF4-FFF2-40B4-BE49-F238E27FC236}">
                <a16:creationId xmlns:a16="http://schemas.microsoft.com/office/drawing/2014/main" id="{549547C8-C025-46ED-A2F6-E145D1478DBF}"/>
              </a:ext>
            </a:extLst>
          </p:cNvPr>
          <p:cNvSpPr/>
          <p:nvPr/>
        </p:nvSpPr>
        <p:spPr>
          <a:xfrm>
            <a:off x="1913641" y="4949072"/>
            <a:ext cx="329938" cy="14140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34CD483-A445-44DF-A50E-8350364326B2}"/>
              </a:ext>
            </a:extLst>
          </p:cNvPr>
          <p:cNvSpPr/>
          <p:nvPr/>
        </p:nvSpPr>
        <p:spPr>
          <a:xfrm>
            <a:off x="2441541" y="4609708"/>
            <a:ext cx="2545239" cy="141326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91C0543-3327-45FF-AE65-3C785EFCA2C3}"/>
              </a:ext>
            </a:extLst>
          </p:cNvPr>
          <p:cNvSpPr/>
          <p:nvPr/>
        </p:nvSpPr>
        <p:spPr>
          <a:xfrm>
            <a:off x="3949831" y="2884602"/>
            <a:ext cx="2545240" cy="141325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27D4A5B6-04A8-4433-B279-5E0D7F3D384A}"/>
              </a:ext>
            </a:extLst>
          </p:cNvPr>
          <p:cNvSpPr/>
          <p:nvPr/>
        </p:nvSpPr>
        <p:spPr>
          <a:xfrm>
            <a:off x="3949830" y="2432192"/>
            <a:ext cx="292231" cy="339365"/>
          </a:xfrm>
          <a:prstGeom prst="ellipse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97776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55FC20F2-3372-41C9-A793-9B12CC159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851" y="2267402"/>
            <a:ext cx="10993225" cy="353138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B43CB0C-8844-41A4-9512-FC5F8577D89C}"/>
              </a:ext>
            </a:extLst>
          </p:cNvPr>
          <p:cNvSpPr/>
          <p:nvPr/>
        </p:nvSpPr>
        <p:spPr>
          <a:xfrm>
            <a:off x="702689" y="704902"/>
            <a:ext cx="1091309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zh-TW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aababaababb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zh-TW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babababbaaab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length of a longest common square-free factor is </a:t>
            </a:r>
            <a:r>
              <a:rPr lang="zh-TW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 factors are </a:t>
            </a:r>
            <a:r>
              <a:rPr lang="zh-TW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zh-TW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8" name="箭號: 向右 7">
            <a:extLst>
              <a:ext uri="{FF2B5EF4-FFF2-40B4-BE49-F238E27FC236}">
                <a16:creationId xmlns:a16="http://schemas.microsoft.com/office/drawing/2014/main" id="{77D48978-3872-4401-B39C-7B030874D974}"/>
              </a:ext>
            </a:extLst>
          </p:cNvPr>
          <p:cNvSpPr/>
          <p:nvPr/>
        </p:nvSpPr>
        <p:spPr>
          <a:xfrm>
            <a:off x="2799760" y="4958497"/>
            <a:ext cx="292231" cy="14140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6E4D9E81-3BAC-4CA6-9644-2B058FFC05E9}"/>
              </a:ext>
            </a:extLst>
          </p:cNvPr>
          <p:cNvSpPr/>
          <p:nvPr/>
        </p:nvSpPr>
        <p:spPr>
          <a:xfrm>
            <a:off x="3216110" y="4630133"/>
            <a:ext cx="3297812" cy="130403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301EAD0-7E75-43F6-A0A2-BFFB2CAAFE73}"/>
              </a:ext>
            </a:extLst>
          </p:cNvPr>
          <p:cNvSpPr/>
          <p:nvPr/>
        </p:nvSpPr>
        <p:spPr>
          <a:xfrm>
            <a:off x="3216110" y="2897172"/>
            <a:ext cx="3297812" cy="130403"/>
          </a:xfrm>
          <a:prstGeom prst="rect">
            <a:avLst/>
          </a:prstGeom>
          <a:solidFill>
            <a:schemeClr val="accent4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8814F353-5CBD-4261-9F2B-912E8522687A}"/>
              </a:ext>
            </a:extLst>
          </p:cNvPr>
          <p:cNvSpPr/>
          <p:nvPr/>
        </p:nvSpPr>
        <p:spPr>
          <a:xfrm>
            <a:off x="3091991" y="2469899"/>
            <a:ext cx="292231" cy="339365"/>
          </a:xfrm>
          <a:prstGeom prst="ellipse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54410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55FC20F2-3372-41C9-A793-9B12CC159E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5851" y="2267402"/>
            <a:ext cx="10993225" cy="3531389"/>
          </a:xfrm>
          <a:prstGeom prst="rect">
            <a:avLst/>
          </a:prstGeom>
        </p:spPr>
      </p:pic>
      <p:sp>
        <p:nvSpPr>
          <p:cNvPr id="5" name="矩形 4">
            <a:extLst>
              <a:ext uri="{FF2B5EF4-FFF2-40B4-BE49-F238E27FC236}">
                <a16:creationId xmlns:a16="http://schemas.microsoft.com/office/drawing/2014/main" id="{4B43CB0C-8844-41A4-9512-FC5F8577D89C}"/>
              </a:ext>
            </a:extLst>
          </p:cNvPr>
          <p:cNvSpPr/>
          <p:nvPr/>
        </p:nvSpPr>
        <p:spPr>
          <a:xfrm>
            <a:off x="702689" y="704902"/>
            <a:ext cx="1091309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</a:t>
            </a:r>
            <a:r>
              <a:rPr lang="zh-TW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aababaababb 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zh-TW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babababbaaab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altLang="zh-TW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length of a longest common square-free factor is </a:t>
            </a:r>
            <a:r>
              <a:rPr lang="zh-TW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 factors are </a:t>
            </a:r>
            <a:r>
              <a:rPr lang="zh-TW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zh-TW" alt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r>
              <a:rPr lang="zh-TW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箭號: 向右 5">
            <a:extLst>
              <a:ext uri="{FF2B5EF4-FFF2-40B4-BE49-F238E27FC236}">
                <a16:creationId xmlns:a16="http://schemas.microsoft.com/office/drawing/2014/main" id="{5CCAC8C3-E62F-4FDB-97B5-51C31D4B1115}"/>
              </a:ext>
            </a:extLst>
          </p:cNvPr>
          <p:cNvSpPr/>
          <p:nvPr/>
        </p:nvSpPr>
        <p:spPr>
          <a:xfrm>
            <a:off x="2083323" y="5326143"/>
            <a:ext cx="292231" cy="141403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2AD90414-EA00-4922-9168-79C1F2A42629}"/>
              </a:ext>
            </a:extLst>
          </p:cNvPr>
          <p:cNvSpPr/>
          <p:nvPr/>
        </p:nvSpPr>
        <p:spPr>
          <a:xfrm>
            <a:off x="3949830" y="2432192"/>
            <a:ext cx="292231" cy="339365"/>
          </a:xfrm>
          <a:prstGeom prst="ellipse">
            <a:avLst/>
          </a:prstGeom>
          <a:noFill/>
          <a:ln w="3810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4BB0384A-6B2A-4B63-9082-70934ABA2758}"/>
              </a:ext>
            </a:extLst>
          </p:cNvPr>
          <p:cNvSpPr/>
          <p:nvPr/>
        </p:nvSpPr>
        <p:spPr>
          <a:xfrm>
            <a:off x="3949829" y="3815481"/>
            <a:ext cx="292231" cy="339365"/>
          </a:xfrm>
          <a:prstGeom prst="ellipse">
            <a:avLst/>
          </a:prstGeom>
          <a:noFill/>
          <a:ln w="381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97FEE75E-E360-4B18-BEB6-9D98E18E8802}"/>
              </a:ext>
            </a:extLst>
          </p:cNvPr>
          <p:cNvSpPr/>
          <p:nvPr/>
        </p:nvSpPr>
        <p:spPr>
          <a:xfrm>
            <a:off x="2229438" y="4891708"/>
            <a:ext cx="292231" cy="339365"/>
          </a:xfrm>
          <a:prstGeom prst="ellipse">
            <a:avLst/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61179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91C0250-53B8-4611-B536-23471B055D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4188" y="770478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Longest Periodic-Preserved Common Factor</a:t>
            </a:r>
            <a:b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zh-TW" alt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C4623856-CB04-429E-85AC-B748633EB13E}"/>
              </a:ext>
            </a:extLst>
          </p:cNvPr>
          <p:cNvSpPr/>
          <p:nvPr/>
        </p:nvSpPr>
        <p:spPr>
          <a:xfrm>
            <a:off x="1256906" y="2196613"/>
            <a:ext cx="7821106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A= a b a b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b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</a:p>
          <a:p>
            <a:pPr>
              <a:buNone/>
            </a:pPr>
            <a:endParaRPr lang="en-US" altLang="zh-TW" sz="28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runs of A</a:t>
            </a:r>
            <a:r>
              <a:rPr lang="zh-TW" altLang="en-US" sz="28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A[0,3] = </a:t>
            </a:r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b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b</a:t>
            </a:r>
          </a:p>
          <a:p>
            <a:pPr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A[1,8] = </a:t>
            </a:r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a b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b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</a:t>
            </a:r>
          </a:p>
          <a:p>
            <a:pPr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A[3,4] = </a:t>
            </a:r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A[6,7] = </a:t>
            </a:r>
            <a:r>
              <a:rPr lang="en-US" altLang="zh-TW" sz="28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67248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C18374A-A08A-4B85-99EA-C7FDE8FB49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74D45E92-BF46-422A-B2EF-C11EB9610E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987" y="790575"/>
            <a:ext cx="11630025" cy="5276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5889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A574D0-9656-44E7-98FA-E9C7F7D8A1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384" y="213985"/>
            <a:ext cx="10515600" cy="1325563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Longest Palindromic-Preserved Common Factor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E794DB8-62BA-4B6F-B6A5-60862F6F4666}"/>
              </a:ext>
            </a:extLst>
          </p:cNvPr>
          <p:cNvSpPr/>
          <p:nvPr/>
        </p:nvSpPr>
        <p:spPr>
          <a:xfrm>
            <a:off x="838200" y="1841205"/>
            <a:ext cx="9408736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a b a b a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Palindromic factor of A</a:t>
            </a:r>
            <a:r>
              <a:rPr lang="zh-TW" alt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A[0,0] = a</a:t>
            </a:r>
          </a:p>
          <a:p>
            <a:pPr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A[1,2] = b a</a:t>
            </a:r>
          </a:p>
          <a:p>
            <a:pPr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A[2,4] = a b a</a:t>
            </a:r>
          </a:p>
          <a:p>
            <a:pPr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A[3,4] = a b</a:t>
            </a:r>
          </a:p>
          <a:p>
            <a:pPr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A[4,4] = a </a:t>
            </a:r>
          </a:p>
          <a:p>
            <a:pPr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A[5,5] = a</a:t>
            </a:r>
          </a:p>
        </p:txBody>
      </p:sp>
    </p:spTree>
    <p:extLst>
      <p:ext uri="{BB962C8B-B14F-4D97-AF65-F5344CB8AC3E}">
        <p14:creationId xmlns:p14="http://schemas.microsoft.com/office/powerpoint/2010/main" val="264283056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CAD296D-0208-4EDD-AB69-63D2FBF300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7237" y="5277387"/>
            <a:ext cx="8777140" cy="934877"/>
          </a:xfrm>
        </p:spPr>
        <p:txBody>
          <a:bodyPr/>
          <a:lstStyle/>
          <a:p>
            <a:pPr marL="0" indent="0">
              <a:buNone/>
            </a:pPr>
            <a:r>
              <a:rPr lang="en-US" altLang="zh-TW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aba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zh-TW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bab</a:t>
            </a:r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the longest palindromic-preserved common factors of odd length. </a:t>
            </a:r>
          </a:p>
          <a:p>
            <a:endParaRPr lang="zh-TW" altLang="en-US" dirty="0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EE11DE5-CF62-405E-B724-4F1C861AB619}"/>
              </a:ext>
            </a:extLst>
          </p:cNvPr>
          <p:cNvSpPr/>
          <p:nvPr/>
        </p:nvSpPr>
        <p:spPr>
          <a:xfrm>
            <a:off x="1464297" y="1488002"/>
            <a:ext cx="2862606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= a b a b a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x[0..0] = a</a:t>
            </a:r>
          </a:p>
          <a:p>
            <a:pPr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x[1..2] = b a</a:t>
            </a:r>
          </a:p>
          <a:p>
            <a:pPr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x[2..4] = a b a</a:t>
            </a:r>
          </a:p>
          <a:p>
            <a:pPr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x[3..4] = b a</a:t>
            </a:r>
          </a:p>
          <a:p>
            <a:pPr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x[4..4] = a</a:t>
            </a:r>
          </a:p>
          <a:p>
            <a:pPr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x[5..5] = a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C897D3D4-9F9D-4736-B5C2-95F3C0505E5C}"/>
              </a:ext>
            </a:extLst>
          </p:cNvPr>
          <p:cNvSpPr/>
          <p:nvPr/>
        </p:nvSpPr>
        <p:spPr>
          <a:xfrm>
            <a:off x="5734641" y="1488002"/>
            <a:ext cx="6096000" cy="3108543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 = b a b a b </a:t>
            </a:r>
            <a:r>
              <a:rPr lang="en-US" altLang="zh-TW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endParaRPr lang="en-US" altLang="zh-TW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y[0..0] = b</a:t>
            </a:r>
          </a:p>
          <a:p>
            <a:pPr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y[1..2] = a b</a:t>
            </a:r>
          </a:p>
          <a:p>
            <a:pPr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y[2..4] = b a b</a:t>
            </a:r>
          </a:p>
          <a:p>
            <a:pPr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y[3..4] = a b</a:t>
            </a:r>
          </a:p>
          <a:p>
            <a:pPr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y[4..4] = b</a:t>
            </a:r>
          </a:p>
          <a:p>
            <a:pPr>
              <a:buNone/>
            </a:pPr>
            <a:r>
              <a:rPr lang="en-US" altLang="zh-TW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y[5..5] = b</a:t>
            </a: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FE7452BF-A32D-437D-AA0D-70E42118846A}"/>
              </a:ext>
            </a:extLst>
          </p:cNvPr>
          <p:cNvSpPr/>
          <p:nvPr/>
        </p:nvSpPr>
        <p:spPr>
          <a:xfrm>
            <a:off x="790307" y="645736"/>
            <a:ext cx="1643399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</p:txBody>
      </p:sp>
    </p:spTree>
    <p:extLst>
      <p:ext uri="{BB962C8B-B14F-4D97-AF65-F5344CB8AC3E}">
        <p14:creationId xmlns:p14="http://schemas.microsoft.com/office/powerpoint/2010/main" val="952015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</TotalTime>
  <Words>862</Words>
  <Application>Microsoft Office PowerPoint</Application>
  <PresentationFormat>寬螢幕</PresentationFormat>
  <Paragraphs>68</Paragraphs>
  <Slides>15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15</vt:i4>
      </vt:variant>
    </vt:vector>
  </HeadingPairs>
  <TitlesOfParts>
    <vt:vector size="20" baseType="lpstr">
      <vt:lpstr>Arial</vt:lpstr>
      <vt:lpstr>Calibri</vt:lpstr>
      <vt:lpstr>Calibri Light</vt:lpstr>
      <vt:lpstr>Times New Roman</vt:lpstr>
      <vt:lpstr>Office 佈景主題</vt:lpstr>
      <vt:lpstr>Longest Property-Preserved Common Factor</vt:lpstr>
      <vt:lpstr>Abstract</vt:lpstr>
      <vt:lpstr>Square-Free-Preserved Matching Statistics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 Longest Periodic-Preserved Common Factor  </vt:lpstr>
      <vt:lpstr>PowerPoint 簡報</vt:lpstr>
      <vt:lpstr>Longest Palindromic-Preserved Common Factor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Longest Property-Preserved Common Factor</dc:title>
  <dc:creator>M083040080</dc:creator>
  <cp:lastModifiedBy>M083040080</cp:lastModifiedBy>
  <cp:revision>17</cp:revision>
  <dcterms:created xsi:type="dcterms:W3CDTF">2020-01-19T13:28:25Z</dcterms:created>
  <dcterms:modified xsi:type="dcterms:W3CDTF">2020-01-21T04:00:25Z</dcterms:modified>
</cp:coreProperties>
</file>