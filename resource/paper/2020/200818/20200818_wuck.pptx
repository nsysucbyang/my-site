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321" r:id="rId2"/>
    <p:sldId id="311" r:id="rId3"/>
    <p:sldId id="337" r:id="rId4"/>
    <p:sldId id="341" r:id="rId5"/>
    <p:sldId id="352" r:id="rId6"/>
    <p:sldId id="353" r:id="rId7"/>
    <p:sldId id="354" r:id="rId8"/>
    <p:sldId id="355" r:id="rId9"/>
    <p:sldId id="356" r:id="rId10"/>
    <p:sldId id="360" r:id="rId11"/>
    <p:sldId id="357" r:id="rId12"/>
    <p:sldId id="358" r:id="rId13"/>
    <p:sldId id="359"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3971" autoAdjust="0"/>
  </p:normalViewPr>
  <p:slideViewPr>
    <p:cSldViewPr snapToGrid="0">
      <p:cViewPr varScale="1">
        <p:scale>
          <a:sx n="68" d="100"/>
          <a:sy n="68" d="100"/>
        </p:scale>
        <p:origin x="774" y="5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2020/8/18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聖胡安是美國自治領地波多黎各的首府和最大城市</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547399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354895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244993" y="639192"/>
            <a:ext cx="8433339" cy="1335682"/>
          </a:xfrm>
        </p:spPr>
        <p:txBody>
          <a:bodyPr>
            <a:noAutofit/>
          </a:bodyPr>
          <a:lstStyle/>
          <a:p>
            <a:r>
              <a:rPr lang="en-US" altLang="zh-TW" sz="3600" dirty="0">
                <a:latin typeface="Times New Roman" panose="02020603050405020304" pitchFamily="18" charset="0"/>
                <a:cs typeface="Times New Roman" panose="02020603050405020304" pitchFamily="18" charset="0"/>
              </a:rPr>
              <a:t>Scheduling for Heterogeneous Systems Using Constrained Critical Paths</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44993" y="2819042"/>
            <a:ext cx="8536249" cy="927245"/>
          </a:xfrm>
        </p:spPr>
        <p:txBody>
          <a:bodyPr>
            <a:noAutofit/>
          </a:bodyPr>
          <a:lstStyle/>
          <a:p>
            <a:r>
              <a:rPr lang="it-IT" altLang="zh-TW" dirty="0">
                <a:latin typeface="Times New Roman" panose="02020603050405020304" pitchFamily="18" charset="0"/>
                <a:cs typeface="Times New Roman" panose="02020603050405020304" pitchFamily="18" charset="0"/>
              </a:rPr>
              <a:t>Minhaj Ahmad Khan</a:t>
            </a: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192159" y="5487972"/>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Chih</a:t>
            </a:r>
            <a:r>
              <a:rPr lang="en-US" altLang="zh-TW" sz="1800" dirty="0">
                <a:latin typeface="Times New Roman" panose="02020603050405020304" pitchFamily="18" charset="0"/>
                <a:cs typeface="Times New Roman" panose="02020603050405020304" pitchFamily="18" charset="0"/>
              </a:rPr>
              <a:t>-Kai Wu</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Aug.</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18, 2020.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724277" y="4003914"/>
            <a:ext cx="8224415"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Parallel Computing, Volume 38, Issues 4-5, April-May 2012, Pages 175-193</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r>
              <a:rPr lang="zh-TW" altLang="en-US" sz="3200" b="1" dirty="0">
                <a:latin typeface="Times New Roman" panose="02020603050405020304" pitchFamily="18" charset="0"/>
                <a:cs typeface="Times New Roman" panose="02020603050405020304" pitchFamily="18" charset="0"/>
              </a:rPr>
              <a:t> </a:t>
            </a:r>
            <a:r>
              <a:rPr lang="en-US" altLang="zh-TW" sz="3200" b="1" dirty="0">
                <a:latin typeface="Times New Roman" panose="02020603050405020304" pitchFamily="18" charset="0"/>
                <a:cs typeface="Times New Roman" panose="02020603050405020304" pitchFamily="18" charset="0"/>
              </a:rPr>
              <a: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986110"/>
            <a:ext cx="9004993" cy="5131633"/>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A complex computing problem may be efficiently solved on a system with multiple processing elements by dividing its implementation code into several tasks or modules that execute in parallel. The modules may then be assigned to and scheduled on the processing elements so that the total execution time is minimum. Finding an optimal schedule for parallel programs is a non-trivial task and is considered to be NP-</a:t>
            </a:r>
            <a:r>
              <a:rPr lang="en-US" altLang="zh-TW" sz="2400" dirty="0" err="1">
                <a:latin typeface="Times New Roman" panose="02020603050405020304" pitchFamily="18" charset="0"/>
                <a:cs typeface="Times New Roman" panose="02020603050405020304" pitchFamily="18" charset="0"/>
              </a:rPr>
              <a:t>complete.For</a:t>
            </a:r>
            <a:r>
              <a:rPr lang="en-US" altLang="zh-TW" sz="2400" dirty="0">
                <a:latin typeface="Times New Roman" panose="02020603050405020304" pitchFamily="18" charset="0"/>
                <a:cs typeface="Times New Roman" panose="02020603050405020304" pitchFamily="18" charset="0"/>
              </a:rPr>
              <a:t> heterogeneous systems having processors with different characteristics, most of the scheduling algorithms use greedy approach to assign processors to the modules. </a:t>
            </a: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r>
              <a:rPr lang="zh-TW" altLang="en-US" sz="3200" b="1" dirty="0">
                <a:latin typeface="Times New Roman" panose="02020603050405020304" pitchFamily="18" charset="0"/>
                <a:cs typeface="Times New Roman" panose="02020603050405020304" pitchFamily="18" charset="0"/>
              </a:rPr>
              <a:t> </a:t>
            </a:r>
            <a:r>
              <a:rPr lang="en-US" altLang="zh-TW" sz="3200" b="1" dirty="0">
                <a:latin typeface="Times New Roman" panose="02020603050405020304" pitchFamily="18" charset="0"/>
                <a:cs typeface="Times New Roman" panose="02020603050405020304" pitchFamily="18" charset="0"/>
              </a:rPr>
              <a: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03865"/>
            <a:ext cx="9004993" cy="5131633"/>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This paper suggests a novel approach called constrained earliest finish time (CEFT) to provide better schedules for heterogeneous systems using the concept of the constrained critical paths (CCPs). In contrast to other approaches used for heterogeneous systems, the CEFT strategy takes into account a broader view of the input task graph. Furthermore, the statically generated CCPs may be efficiently scheduled in comparison with other </a:t>
            </a:r>
            <a:r>
              <a:rPr lang="en-US" altLang="zh-TW" sz="2400" dirty="0" err="1">
                <a:latin typeface="Times New Roman" panose="02020603050405020304" pitchFamily="18" charset="0"/>
                <a:cs typeface="Times New Roman" panose="02020603050405020304" pitchFamily="18" charset="0"/>
              </a:rPr>
              <a:t>approaches.The</a:t>
            </a:r>
            <a:r>
              <a:rPr lang="en-US" altLang="zh-TW" sz="2400" dirty="0">
                <a:latin typeface="Times New Roman" panose="02020603050405020304" pitchFamily="18" charset="0"/>
                <a:cs typeface="Times New Roman" panose="02020603050405020304" pitchFamily="18" charset="0"/>
              </a:rPr>
              <a:t> experimentation results show that the CEFT scheduling strategy outperforms the well-known HEFT, DLS and LMT strategies by producing shorter schedules for a diverse collection of task graphs.</a:t>
            </a:r>
          </a:p>
        </p:txBody>
      </p:sp>
    </p:spTree>
    <p:extLst>
      <p:ext uri="{BB962C8B-B14F-4D97-AF65-F5344CB8AC3E}">
        <p14:creationId xmlns:p14="http://schemas.microsoft.com/office/powerpoint/2010/main" val="1666808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內容版面配置區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12752" y="1000002"/>
            <a:ext cx="4338968" cy="5168194"/>
          </a:xfrm>
        </p:spPr>
      </p:pic>
      <p:cxnSp>
        <p:nvCxnSpPr>
          <p:cNvPr id="10" name="直線單箭頭接點 9"/>
          <p:cNvCxnSpPr/>
          <p:nvPr/>
        </p:nvCxnSpPr>
        <p:spPr>
          <a:xfrm>
            <a:off x="3547219" y="1569646"/>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a:off x="2375644" y="2445946"/>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3367219" y="4446196"/>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954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687" y="857823"/>
            <a:ext cx="3462889" cy="4371402"/>
          </a:xfrm>
        </p:spPr>
      </p:pic>
      <p:cxnSp>
        <p:nvCxnSpPr>
          <p:cNvPr id="5" name="直線單箭頭接點 4"/>
          <p:cNvCxnSpPr/>
          <p:nvPr/>
        </p:nvCxnSpPr>
        <p:spPr>
          <a:xfrm rot="5400000">
            <a:off x="3557120" y="1826821"/>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rot="5400000">
            <a:off x="3526576" y="3348023"/>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6183" y="1381125"/>
            <a:ext cx="2909673" cy="3736021"/>
          </a:xfrm>
          <a:prstGeom prst="rect">
            <a:avLst/>
          </a:prstGeom>
        </p:spPr>
      </p:pic>
      <p:cxnSp>
        <p:nvCxnSpPr>
          <p:cNvPr id="8" name="直線單箭頭接點 7"/>
          <p:cNvCxnSpPr/>
          <p:nvPr/>
        </p:nvCxnSpPr>
        <p:spPr>
          <a:xfrm>
            <a:off x="5114758" y="2093521"/>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527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14151" y="1772301"/>
            <a:ext cx="4829849" cy="2038635"/>
          </a:xfrm>
        </p:spPr>
      </p:pic>
      <p:pic>
        <p:nvPicPr>
          <p:cNvPr id="5"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52377"/>
            <a:ext cx="4338968" cy="5168194"/>
          </a:xfrm>
          <a:prstGeom prst="rect">
            <a:avLst/>
          </a:prstGeom>
        </p:spPr>
      </p:pic>
    </p:spTree>
    <p:extLst>
      <p:ext uri="{BB962C8B-B14F-4D97-AF65-F5344CB8AC3E}">
        <p14:creationId xmlns:p14="http://schemas.microsoft.com/office/powerpoint/2010/main" val="1862689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0679" y="615949"/>
            <a:ext cx="4308695" cy="5777169"/>
          </a:xfrm>
        </p:spPr>
      </p:pic>
      <p:cxnSp>
        <p:nvCxnSpPr>
          <p:cNvPr id="6" name="直線單箭頭接點 5"/>
          <p:cNvCxnSpPr/>
          <p:nvPr/>
        </p:nvCxnSpPr>
        <p:spPr>
          <a:xfrm>
            <a:off x="3690094" y="1131496"/>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a:off x="3137644" y="1931596"/>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p:cNvCxnSpPr/>
          <p:nvPr/>
        </p:nvCxnSpPr>
        <p:spPr>
          <a:xfrm>
            <a:off x="2216904" y="2874571"/>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a:off x="2970113" y="3893746"/>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3627338" y="4846246"/>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6427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rotWithShape="1">
          <a:blip r:embed="rId2">
            <a:extLst>
              <a:ext uri="{28A0092B-C50C-407E-A947-70E740481C1C}">
                <a14:useLocalDpi xmlns:a14="http://schemas.microsoft.com/office/drawing/2010/main" val="0"/>
              </a:ext>
            </a:extLst>
          </a:blip>
          <a:srcRect l="10527" t="4526" r="1056" b="-1562"/>
          <a:stretch/>
        </p:blipFill>
        <p:spPr>
          <a:xfrm>
            <a:off x="147142" y="673100"/>
            <a:ext cx="3190874" cy="5718175"/>
          </a:xfrm>
        </p:spPr>
      </p:pic>
      <p:cxnSp>
        <p:nvCxnSpPr>
          <p:cNvPr id="8" name="直線單箭頭接點 7"/>
          <p:cNvCxnSpPr/>
          <p:nvPr/>
        </p:nvCxnSpPr>
        <p:spPr>
          <a:xfrm>
            <a:off x="969129" y="1426771"/>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a:off x="1054854" y="2854767"/>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969129" y="4373197"/>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圖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4606" y="1273395"/>
            <a:ext cx="2718997" cy="4725353"/>
          </a:xfrm>
          <a:prstGeom prst="rect">
            <a:avLst/>
          </a:prstGeom>
        </p:spPr>
      </p:pic>
      <p:cxnSp>
        <p:nvCxnSpPr>
          <p:cNvPr id="12" name="直線單箭頭接點 11"/>
          <p:cNvCxnSpPr/>
          <p:nvPr/>
        </p:nvCxnSpPr>
        <p:spPr>
          <a:xfrm>
            <a:off x="3371849" y="2918709"/>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 name="圖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3106" y="1606963"/>
            <a:ext cx="1876687" cy="4058216"/>
          </a:xfrm>
          <a:prstGeom prst="rect">
            <a:avLst/>
          </a:prstGeom>
        </p:spPr>
      </p:pic>
      <p:cxnSp>
        <p:nvCxnSpPr>
          <p:cNvPr id="14" name="直線單箭頭接點 13"/>
          <p:cNvCxnSpPr/>
          <p:nvPr/>
        </p:nvCxnSpPr>
        <p:spPr>
          <a:xfrm>
            <a:off x="6920772" y="3098709"/>
            <a:ext cx="360000" cy="360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3296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76175" y="4468097"/>
            <a:ext cx="5216647" cy="2326928"/>
          </a:xfrm>
        </p:spPr>
      </p:pic>
      <p:pic>
        <p:nvPicPr>
          <p:cNvPr id="7" name="圖片 6"/>
          <p:cNvPicPr>
            <a:picLocks noChangeAspect="1"/>
          </p:cNvPicPr>
          <p:nvPr/>
        </p:nvPicPr>
        <p:blipFill rotWithShape="1">
          <a:blip r:embed="rId3">
            <a:extLst>
              <a:ext uri="{28A0092B-C50C-407E-A947-70E740481C1C}">
                <a14:useLocalDpi xmlns:a14="http://schemas.microsoft.com/office/drawing/2010/main" val="0"/>
              </a:ext>
            </a:extLst>
          </a:blip>
          <a:srcRect l="3135" r="3228" b="162"/>
          <a:stretch/>
        </p:blipFill>
        <p:spPr>
          <a:xfrm>
            <a:off x="-73496" y="457201"/>
            <a:ext cx="3826347" cy="5800724"/>
          </a:xfrm>
          <a:prstGeom prst="rect">
            <a:avLst/>
          </a:prstGeom>
        </p:spPr>
      </p:pic>
      <p:graphicFrame>
        <p:nvGraphicFramePr>
          <p:cNvPr id="8" name="表格 7"/>
          <p:cNvGraphicFramePr>
            <a:graphicFrameLocks noGrp="1"/>
          </p:cNvGraphicFramePr>
          <p:nvPr>
            <p:extLst>
              <p:ext uri="{D42A27DB-BD31-4B8C-83A1-F6EECF244321}">
                <p14:modId xmlns:p14="http://schemas.microsoft.com/office/powerpoint/2010/main" val="3317395376"/>
              </p:ext>
            </p:extLst>
          </p:nvPr>
        </p:nvGraphicFramePr>
        <p:xfrm>
          <a:off x="3838576" y="260063"/>
          <a:ext cx="5153344" cy="4128135"/>
        </p:xfrm>
        <a:graphic>
          <a:graphicData uri="http://schemas.openxmlformats.org/drawingml/2006/table">
            <a:tbl>
              <a:tblPr firstRow="1" bandRow="1">
                <a:tableStyleId>{5C22544A-7EE6-4342-B048-85BDC9FD1C3A}</a:tableStyleId>
              </a:tblPr>
              <a:tblGrid>
                <a:gridCol w="908873">
                  <a:extLst>
                    <a:ext uri="{9D8B030D-6E8A-4147-A177-3AD203B41FA5}">
                      <a16:colId xmlns:a16="http://schemas.microsoft.com/office/drawing/2014/main" val="3480965090"/>
                    </a:ext>
                  </a:extLst>
                </a:gridCol>
                <a:gridCol w="1327993">
                  <a:extLst>
                    <a:ext uri="{9D8B030D-6E8A-4147-A177-3AD203B41FA5}">
                      <a16:colId xmlns:a16="http://schemas.microsoft.com/office/drawing/2014/main" val="2761654148"/>
                    </a:ext>
                  </a:extLst>
                </a:gridCol>
                <a:gridCol w="1432121">
                  <a:extLst>
                    <a:ext uri="{9D8B030D-6E8A-4147-A177-3AD203B41FA5}">
                      <a16:colId xmlns:a16="http://schemas.microsoft.com/office/drawing/2014/main" val="2363646842"/>
                    </a:ext>
                  </a:extLst>
                </a:gridCol>
                <a:gridCol w="1484357">
                  <a:extLst>
                    <a:ext uri="{9D8B030D-6E8A-4147-A177-3AD203B41FA5}">
                      <a16:colId xmlns:a16="http://schemas.microsoft.com/office/drawing/2014/main" val="156268977"/>
                    </a:ext>
                  </a:extLst>
                </a:gridCol>
              </a:tblGrid>
              <a:tr h="286294">
                <a:tc>
                  <a:txBody>
                    <a:bodyPr/>
                    <a:lstStyle/>
                    <a:p>
                      <a:r>
                        <a:rPr lang="en-US" altLang="zh-TW" sz="1400" dirty="0"/>
                        <a:t>CCP</a:t>
                      </a:r>
                      <a:endParaRPr lang="zh-TW" altLang="en-US" sz="1400" dirty="0"/>
                    </a:p>
                  </a:txBody>
                  <a:tcPr/>
                </a:tc>
                <a:tc>
                  <a:txBody>
                    <a:bodyPr/>
                    <a:lstStyle/>
                    <a:p>
                      <a:r>
                        <a:rPr lang="en-US" altLang="zh-TW" sz="1400" dirty="0"/>
                        <a:t>P1</a:t>
                      </a:r>
                      <a:endParaRPr lang="zh-TW" altLang="en-US" sz="1400" dirty="0"/>
                    </a:p>
                  </a:txBody>
                  <a:tcPr/>
                </a:tc>
                <a:tc>
                  <a:txBody>
                    <a:bodyPr/>
                    <a:lstStyle/>
                    <a:p>
                      <a:r>
                        <a:rPr lang="en-US" altLang="zh-TW" sz="1400" dirty="0"/>
                        <a:t>P2</a:t>
                      </a:r>
                      <a:endParaRPr lang="zh-TW" altLang="en-US" sz="1400" dirty="0"/>
                    </a:p>
                  </a:txBody>
                  <a:tcPr/>
                </a:tc>
                <a:tc>
                  <a:txBody>
                    <a:bodyPr/>
                    <a:lstStyle/>
                    <a:p>
                      <a:r>
                        <a:rPr lang="en-US" altLang="zh-TW" sz="1400" dirty="0"/>
                        <a:t>P3</a:t>
                      </a:r>
                      <a:endParaRPr lang="zh-TW" altLang="en-US" sz="1400" dirty="0"/>
                    </a:p>
                  </a:txBody>
                  <a:tcPr/>
                </a:tc>
                <a:extLst>
                  <a:ext uri="{0D108BD9-81ED-4DB2-BD59-A6C34878D82A}">
                    <a16:rowId xmlns:a16="http://schemas.microsoft.com/office/drawing/2014/main" val="922702407"/>
                  </a:ext>
                </a:extLst>
              </a:tr>
              <a:tr h="286294">
                <a:tc>
                  <a:txBody>
                    <a:bodyPr/>
                    <a:lstStyle/>
                    <a:p>
                      <a:r>
                        <a:rPr lang="en-US" altLang="zh-TW" sz="1400" b="1" i="1" dirty="0"/>
                        <a:t>A-B-D</a:t>
                      </a:r>
                      <a:endParaRPr lang="zh-TW" altLang="en-US" sz="1400" b="1" i="1" dirty="0"/>
                    </a:p>
                  </a:txBody>
                  <a:tcPr/>
                </a:tc>
                <a:tc>
                  <a:txBody>
                    <a:bodyPr/>
                    <a:lstStyle/>
                    <a:p>
                      <a:r>
                        <a:rPr lang="en-US" altLang="zh-TW" sz="1400" dirty="0">
                          <a:solidFill>
                            <a:srgbClr val="FF0000"/>
                          </a:solidFill>
                        </a:rPr>
                        <a:t>28</a:t>
                      </a:r>
                      <a:endParaRPr lang="zh-TW" altLang="en-US" sz="1400" dirty="0"/>
                    </a:p>
                  </a:txBody>
                  <a:tcPr/>
                </a:tc>
                <a:tc>
                  <a:txBody>
                    <a:bodyPr/>
                    <a:lstStyle/>
                    <a:p>
                      <a:r>
                        <a:rPr lang="en-US" altLang="zh-TW" sz="1400" dirty="0"/>
                        <a:t>30</a:t>
                      </a:r>
                      <a:endParaRPr lang="zh-TW" altLang="en-US" sz="1400" dirty="0"/>
                    </a:p>
                  </a:txBody>
                  <a:tcPr/>
                </a:tc>
                <a:tc>
                  <a:txBody>
                    <a:bodyPr/>
                    <a:lstStyle/>
                    <a:p>
                      <a:r>
                        <a:rPr lang="en-US" altLang="zh-TW" sz="1400" dirty="0"/>
                        <a:t>38</a:t>
                      </a:r>
                      <a:endParaRPr lang="zh-TW" altLang="en-US" sz="1400" dirty="0"/>
                    </a:p>
                  </a:txBody>
                  <a:tcPr/>
                </a:tc>
                <a:extLst>
                  <a:ext uri="{0D108BD9-81ED-4DB2-BD59-A6C34878D82A}">
                    <a16:rowId xmlns:a16="http://schemas.microsoft.com/office/drawing/2014/main" val="966194095"/>
                  </a:ext>
                </a:extLst>
              </a:tr>
              <a:tr h="501015">
                <a:tc>
                  <a:txBody>
                    <a:bodyPr/>
                    <a:lstStyle/>
                    <a:p>
                      <a:r>
                        <a:rPr lang="en-US" altLang="zh-TW" sz="1400" b="1" i="1" dirty="0"/>
                        <a:t>C-G</a:t>
                      </a:r>
                      <a:endParaRPr lang="zh-TW" altLang="en-US" sz="1400" b="1" i="1" dirty="0"/>
                    </a:p>
                  </a:txBody>
                  <a:tcPr/>
                </a:tc>
                <a:tc>
                  <a:txBody>
                    <a:bodyPr/>
                    <a:lstStyle/>
                    <a:p>
                      <a:r>
                        <a:rPr lang="en-US" altLang="zh-TW" sz="1400" dirty="0"/>
                        <a:t>28+12+6=46</a:t>
                      </a:r>
                      <a:endParaRPr lang="zh-TW" altLang="en-US" sz="1400" dirty="0"/>
                    </a:p>
                  </a:txBody>
                  <a:tcPr/>
                </a:tc>
                <a:tc>
                  <a:txBody>
                    <a:bodyPr/>
                    <a:lstStyle/>
                    <a:p>
                      <a:r>
                        <a:rPr lang="en-US" altLang="zh-TW" sz="1400" dirty="0">
                          <a:solidFill>
                            <a:srgbClr val="FF0000"/>
                          </a:solidFill>
                        </a:rPr>
                        <a:t>7+5+15+8=35(12~35)</a:t>
                      </a:r>
                      <a:endParaRPr lang="zh-TW" altLang="en-US" sz="1400" dirty="0">
                        <a:solidFill>
                          <a:srgbClr val="FF0000"/>
                        </a:solidFill>
                      </a:endParaRPr>
                    </a:p>
                  </a:txBody>
                  <a:tcPr/>
                </a:tc>
                <a:tc>
                  <a:txBody>
                    <a:bodyPr/>
                    <a:lstStyle/>
                    <a:p>
                      <a:r>
                        <a:rPr lang="en-US" altLang="zh-TW" sz="1400" dirty="0"/>
                        <a:t>7+5+18+7=37</a:t>
                      </a:r>
                      <a:endParaRPr lang="zh-TW" altLang="en-US" sz="1400" dirty="0"/>
                    </a:p>
                  </a:txBody>
                  <a:tcPr/>
                </a:tc>
                <a:extLst>
                  <a:ext uri="{0D108BD9-81ED-4DB2-BD59-A6C34878D82A}">
                    <a16:rowId xmlns:a16="http://schemas.microsoft.com/office/drawing/2014/main" val="8351598"/>
                  </a:ext>
                </a:extLst>
              </a:tr>
              <a:tr h="501015">
                <a:tc>
                  <a:txBody>
                    <a:bodyPr/>
                    <a:lstStyle/>
                    <a:p>
                      <a:r>
                        <a:rPr lang="en-US" altLang="zh-TW" sz="1400" b="1" i="1" dirty="0"/>
                        <a:t>F</a:t>
                      </a:r>
                      <a:endParaRPr lang="zh-TW" altLang="en-US" sz="1400" b="1" i="1" dirty="0"/>
                    </a:p>
                  </a:txBody>
                  <a:tcPr/>
                </a:tc>
                <a:tc>
                  <a:txBody>
                    <a:bodyPr/>
                    <a:lstStyle/>
                    <a:p>
                      <a:r>
                        <a:rPr lang="en-US" altLang="zh-TW" sz="1400" dirty="0"/>
                        <a:t>27+8+9=</a:t>
                      </a:r>
                    </a:p>
                    <a:p>
                      <a:r>
                        <a:rPr lang="en-US" altLang="zh-TW" sz="1400" dirty="0"/>
                        <a:t>44</a:t>
                      </a:r>
                      <a:endParaRPr lang="zh-TW" altLang="en-US" sz="1400" dirty="0"/>
                    </a:p>
                  </a:txBody>
                  <a:tcPr/>
                </a:tc>
                <a:tc>
                  <a:txBody>
                    <a:bodyPr/>
                    <a:lstStyle/>
                    <a:p>
                      <a:r>
                        <a:rPr lang="en-US" altLang="zh-TW" sz="1400" dirty="0"/>
                        <a:t>35+7=42</a:t>
                      </a:r>
                      <a:endParaRPr lang="zh-TW" altLang="en-US" sz="1400" dirty="0"/>
                    </a:p>
                  </a:txBody>
                  <a:tcPr/>
                </a:tc>
                <a:tc>
                  <a:txBody>
                    <a:bodyPr/>
                    <a:lstStyle/>
                    <a:p>
                      <a:r>
                        <a:rPr lang="en-US" altLang="zh-TW" sz="1400" dirty="0">
                          <a:solidFill>
                            <a:srgbClr val="FF0000"/>
                          </a:solidFill>
                        </a:rPr>
                        <a:t>27+8+5=</a:t>
                      </a:r>
                    </a:p>
                    <a:p>
                      <a:r>
                        <a:rPr lang="en-US" altLang="zh-TW" sz="1400" dirty="0">
                          <a:solidFill>
                            <a:srgbClr val="FF0000"/>
                          </a:solidFill>
                        </a:rPr>
                        <a:t>40</a:t>
                      </a:r>
                      <a:r>
                        <a:rPr lang="en-US" altLang="zh-TW" sz="1400" baseline="0" dirty="0">
                          <a:solidFill>
                            <a:srgbClr val="FF0000"/>
                          </a:solidFill>
                        </a:rPr>
                        <a:t>(35~40)</a:t>
                      </a:r>
                      <a:endParaRPr lang="zh-TW" altLang="en-US" sz="1400" dirty="0">
                        <a:solidFill>
                          <a:srgbClr val="FF0000"/>
                        </a:solidFill>
                      </a:endParaRPr>
                    </a:p>
                  </a:txBody>
                  <a:tcPr/>
                </a:tc>
                <a:extLst>
                  <a:ext uri="{0D108BD9-81ED-4DB2-BD59-A6C34878D82A}">
                    <a16:rowId xmlns:a16="http://schemas.microsoft.com/office/drawing/2014/main" val="1298547701"/>
                  </a:ext>
                </a:extLst>
              </a:tr>
              <a:tr h="715736">
                <a:tc>
                  <a:txBody>
                    <a:bodyPr/>
                    <a:lstStyle/>
                    <a:p>
                      <a:r>
                        <a:rPr lang="en-US" altLang="zh-TW" sz="1400" b="1" i="1" dirty="0"/>
                        <a:t>E</a:t>
                      </a:r>
                      <a:endParaRPr lang="zh-TW" altLang="en-US" sz="1400" b="1" i="1" dirty="0"/>
                    </a:p>
                  </a:txBody>
                  <a:tcPr/>
                </a:tc>
                <a:tc>
                  <a:txBody>
                    <a:bodyPr/>
                    <a:lstStyle/>
                    <a:p>
                      <a:r>
                        <a:rPr lang="en-US" altLang="zh-TW" sz="1400" dirty="0"/>
                        <a:t>28+5=33</a:t>
                      </a:r>
                      <a:endParaRPr lang="zh-TW" altLang="en-US" sz="1400" dirty="0"/>
                    </a:p>
                  </a:txBody>
                  <a:tcPr/>
                </a:tc>
                <a:tc>
                  <a:txBody>
                    <a:bodyPr/>
                    <a:lstStyle/>
                    <a:p>
                      <a:r>
                        <a:rPr lang="en-US" altLang="zh-TW" sz="1400" strike="sngStrike" dirty="0"/>
                        <a:t>18+7+7=27</a:t>
                      </a:r>
                      <a:endParaRPr lang="en-US" altLang="zh-TW" sz="1400" strike="noStrike" dirty="0"/>
                    </a:p>
                    <a:p>
                      <a:r>
                        <a:rPr lang="en-US" altLang="zh-TW" sz="1400" strike="noStrike" dirty="0"/>
                        <a:t>(20~27)</a:t>
                      </a:r>
                    </a:p>
                    <a:p>
                      <a:r>
                        <a:rPr lang="en-US" altLang="zh-TW" sz="1400" dirty="0"/>
                        <a:t>35+7=42</a:t>
                      </a:r>
                      <a:endParaRPr lang="zh-TW" altLang="en-US" sz="1400" dirty="0"/>
                    </a:p>
                  </a:txBody>
                  <a:tcPr/>
                </a:tc>
                <a:tc>
                  <a:txBody>
                    <a:bodyPr/>
                    <a:lstStyle/>
                    <a:p>
                      <a:r>
                        <a:rPr lang="en-US" altLang="zh-TW" sz="1400" dirty="0">
                          <a:solidFill>
                            <a:srgbClr val="FF0000"/>
                          </a:solidFill>
                        </a:rPr>
                        <a:t>18+7+6=31</a:t>
                      </a:r>
                    </a:p>
                    <a:p>
                      <a:r>
                        <a:rPr lang="en-US" altLang="zh-TW" sz="1400" dirty="0">
                          <a:solidFill>
                            <a:srgbClr val="FF0000"/>
                          </a:solidFill>
                        </a:rPr>
                        <a:t>(25~31)</a:t>
                      </a:r>
                      <a:endParaRPr lang="zh-TW" altLang="en-US" sz="1400" dirty="0">
                        <a:solidFill>
                          <a:srgbClr val="FF0000"/>
                        </a:solidFill>
                      </a:endParaRPr>
                    </a:p>
                  </a:txBody>
                  <a:tcPr/>
                </a:tc>
                <a:extLst>
                  <a:ext uri="{0D108BD9-81ED-4DB2-BD59-A6C34878D82A}">
                    <a16:rowId xmlns:a16="http://schemas.microsoft.com/office/drawing/2014/main" val="3846320558"/>
                  </a:ext>
                </a:extLst>
              </a:tr>
              <a:tr h="501015">
                <a:tc>
                  <a:txBody>
                    <a:bodyPr/>
                    <a:lstStyle/>
                    <a:p>
                      <a:r>
                        <a:rPr lang="en-US" altLang="zh-TW" sz="1400" b="1" i="1" dirty="0"/>
                        <a:t>H</a:t>
                      </a:r>
                      <a:endParaRPr lang="zh-TW" altLang="en-US" sz="1400" b="1" i="1" dirty="0"/>
                    </a:p>
                  </a:txBody>
                  <a:tcPr/>
                </a:tc>
                <a:tc>
                  <a:txBody>
                    <a:bodyPr/>
                    <a:lstStyle/>
                    <a:p>
                      <a:r>
                        <a:rPr lang="en-US" altLang="zh-TW" sz="1400" dirty="0"/>
                        <a:t>31+15+14=60</a:t>
                      </a:r>
                      <a:endParaRPr lang="zh-TW" altLang="en-US" sz="1400" dirty="0"/>
                    </a:p>
                  </a:txBody>
                  <a:tcPr/>
                </a:tc>
                <a:tc>
                  <a:txBody>
                    <a:bodyPr/>
                    <a:lstStyle/>
                    <a:p>
                      <a:r>
                        <a:rPr lang="en-US" altLang="zh-TW" sz="1400" dirty="0"/>
                        <a:t>31+15+12=58</a:t>
                      </a:r>
                      <a:endParaRPr lang="zh-TW" altLang="en-US" sz="1400" dirty="0"/>
                    </a:p>
                  </a:txBody>
                  <a:tcPr/>
                </a:tc>
                <a:tc>
                  <a:txBody>
                    <a:bodyPr/>
                    <a:lstStyle/>
                    <a:p>
                      <a:r>
                        <a:rPr lang="en-US" altLang="zh-TW" sz="1400" dirty="0">
                          <a:solidFill>
                            <a:srgbClr val="FF0000"/>
                          </a:solidFill>
                        </a:rPr>
                        <a:t>28+14+10=52(42~52)</a:t>
                      </a:r>
                      <a:endParaRPr lang="zh-TW" altLang="en-US" sz="1400" dirty="0">
                        <a:solidFill>
                          <a:srgbClr val="FF0000"/>
                        </a:solidFill>
                      </a:endParaRPr>
                    </a:p>
                  </a:txBody>
                  <a:tcPr/>
                </a:tc>
                <a:extLst>
                  <a:ext uri="{0D108BD9-81ED-4DB2-BD59-A6C34878D82A}">
                    <a16:rowId xmlns:a16="http://schemas.microsoft.com/office/drawing/2014/main" val="3252498840"/>
                  </a:ext>
                </a:extLst>
              </a:tr>
              <a:tr h="715736">
                <a:tc>
                  <a:txBody>
                    <a:bodyPr/>
                    <a:lstStyle/>
                    <a:p>
                      <a:r>
                        <a:rPr lang="en-US" altLang="zh-TW" sz="1400" b="1" i="1" dirty="0"/>
                        <a:t>I</a:t>
                      </a:r>
                      <a:endParaRPr lang="zh-TW" altLang="en-US" sz="1400" b="1" i="1" dirty="0"/>
                    </a:p>
                  </a:txBody>
                  <a:tcPr/>
                </a:tc>
                <a:tc>
                  <a:txBody>
                    <a:bodyPr/>
                    <a:lstStyle/>
                    <a:p>
                      <a:r>
                        <a:rPr lang="en-US" altLang="zh-TW" sz="1400" dirty="0"/>
                        <a:t>40+16+10=66</a:t>
                      </a:r>
                      <a:endParaRPr lang="zh-TW" altLang="en-US" sz="1400" dirty="0"/>
                    </a:p>
                  </a:txBody>
                  <a:tcPr/>
                </a:tc>
                <a:tc>
                  <a:txBody>
                    <a:bodyPr/>
                    <a:lstStyle/>
                    <a:p>
                      <a:r>
                        <a:rPr lang="en-US" altLang="zh-TW" sz="1400" dirty="0"/>
                        <a:t>40+16+8=</a:t>
                      </a:r>
                    </a:p>
                    <a:p>
                      <a:r>
                        <a:rPr lang="en-US" altLang="zh-TW" sz="1400" dirty="0"/>
                        <a:t>64</a:t>
                      </a:r>
                      <a:endParaRPr lang="zh-TW" altLang="en-US" sz="1400" dirty="0"/>
                    </a:p>
                  </a:txBody>
                  <a:tcPr/>
                </a:tc>
                <a:tc>
                  <a:txBody>
                    <a:bodyPr/>
                    <a:lstStyle/>
                    <a:p>
                      <a:r>
                        <a:rPr lang="en-US" altLang="zh-TW" sz="1400" strike="sngStrike" dirty="0"/>
                        <a:t>35+14+6=55</a:t>
                      </a:r>
                      <a:r>
                        <a:rPr lang="en-US" altLang="zh-TW" sz="1400" dirty="0"/>
                        <a:t>(49~55)</a:t>
                      </a:r>
                    </a:p>
                    <a:p>
                      <a:r>
                        <a:rPr lang="en-US" altLang="zh-TW" sz="1400" dirty="0">
                          <a:solidFill>
                            <a:srgbClr val="FF0000"/>
                          </a:solidFill>
                        </a:rPr>
                        <a:t>52+6=58</a:t>
                      </a:r>
                      <a:endParaRPr lang="zh-TW" altLang="en-US" sz="1400" dirty="0">
                        <a:solidFill>
                          <a:srgbClr val="FF0000"/>
                        </a:solidFill>
                      </a:endParaRPr>
                    </a:p>
                  </a:txBody>
                  <a:tcPr/>
                </a:tc>
                <a:extLst>
                  <a:ext uri="{0D108BD9-81ED-4DB2-BD59-A6C34878D82A}">
                    <a16:rowId xmlns:a16="http://schemas.microsoft.com/office/drawing/2014/main" val="2368940703"/>
                  </a:ext>
                </a:extLst>
              </a:tr>
              <a:tr h="501015">
                <a:tc>
                  <a:txBody>
                    <a:bodyPr/>
                    <a:lstStyle/>
                    <a:p>
                      <a:r>
                        <a:rPr lang="en-US" altLang="zh-TW" sz="1400" b="1" i="1" dirty="0"/>
                        <a:t>J</a:t>
                      </a:r>
                      <a:endParaRPr lang="zh-TW" altLang="en-US" sz="1400" b="1" i="1" dirty="0"/>
                    </a:p>
                  </a:txBody>
                  <a:tcPr/>
                </a:tc>
                <a:tc>
                  <a:txBody>
                    <a:bodyPr/>
                    <a:lstStyle/>
                    <a:p>
                      <a:r>
                        <a:rPr lang="en-US" altLang="zh-TW" sz="1400" dirty="0"/>
                        <a:t>58+17+11=86</a:t>
                      </a:r>
                      <a:endParaRPr lang="zh-TW" altLang="en-US" sz="1400" dirty="0"/>
                    </a:p>
                  </a:txBody>
                  <a:tcPr/>
                </a:tc>
                <a:tc>
                  <a:txBody>
                    <a:bodyPr/>
                    <a:lstStyle/>
                    <a:p>
                      <a:r>
                        <a:rPr lang="en-US" altLang="zh-TW" sz="1400" dirty="0"/>
                        <a:t>58+17+13=88</a:t>
                      </a:r>
                      <a:endParaRPr lang="zh-TW" altLang="en-US" sz="1400" dirty="0"/>
                    </a:p>
                  </a:txBody>
                  <a:tcPr/>
                </a:tc>
                <a:tc>
                  <a:txBody>
                    <a:bodyPr/>
                    <a:lstStyle/>
                    <a:p>
                      <a:r>
                        <a:rPr lang="en-US" altLang="zh-TW" sz="1400" dirty="0"/>
                        <a:t>58+15=73</a:t>
                      </a:r>
                      <a:endParaRPr lang="zh-TW" altLang="en-US" sz="1400" dirty="0"/>
                    </a:p>
                  </a:txBody>
                  <a:tcPr/>
                </a:tc>
                <a:extLst>
                  <a:ext uri="{0D108BD9-81ED-4DB2-BD59-A6C34878D82A}">
                    <a16:rowId xmlns:a16="http://schemas.microsoft.com/office/drawing/2014/main" val="2887150955"/>
                  </a:ext>
                </a:extLst>
              </a:tr>
            </a:tbl>
          </a:graphicData>
        </a:graphic>
      </p:graphicFrame>
    </p:spTree>
    <p:extLst>
      <p:ext uri="{BB962C8B-B14F-4D97-AF65-F5344CB8AC3E}">
        <p14:creationId xmlns:p14="http://schemas.microsoft.com/office/powerpoint/2010/main" val="648206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86607" y="816746"/>
                <a:ext cx="7886700" cy="5573281"/>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Levelized-Min Time Algorithm(LMT)</a:t>
                </a:r>
              </a:p>
              <a:p>
                <a:pPr marL="0" indent="0">
                  <a:buNone/>
                </a:pPr>
                <a14:m>
                  <m:oMathPara xmlns:m="http://schemas.openxmlformats.org/officeDocument/2006/math">
                    <m:oMathParaPr>
                      <m:jc m:val="left"/>
                    </m:oMathParaPr>
                    <m:oMath xmlns:m="http://schemas.openxmlformats.org/officeDocument/2006/math">
                      <m:r>
                        <a:rPr lang="en-US" altLang="zh-TW" sz="2400" i="1" dirty="0">
                          <a:latin typeface="Cambria Math" panose="02040503050406030204" pitchFamily="18" charset="0"/>
                          <a:cs typeface="Times New Roman" panose="02020603050405020304" pitchFamily="18" charset="0"/>
                        </a:rPr>
                        <m:t>𝑂</m:t>
                      </m:r>
                      <m:r>
                        <a:rPr lang="en-US" altLang="zh-TW" sz="2400" i="1" dirty="0">
                          <a:latin typeface="Cambria Math" panose="02040503050406030204" pitchFamily="18" charset="0"/>
                          <a:cs typeface="Times New Roman" panose="02020603050405020304" pitchFamily="18" charset="0"/>
                        </a:rPr>
                        <m:t>(</m:t>
                      </m:r>
                      <m:sSup>
                        <m:sSupPr>
                          <m:ctrlPr>
                            <a:rPr lang="en-US" altLang="zh-TW" sz="2400" i="1" dirty="0">
                              <a:latin typeface="Cambria Math" panose="02040503050406030204" pitchFamily="18" charset="0"/>
                              <a:cs typeface="Times New Roman" panose="02020603050405020304" pitchFamily="18" charset="0"/>
                            </a:rPr>
                          </m:ctrlPr>
                        </m:sSupPr>
                        <m:e>
                          <m:r>
                            <a:rPr lang="en-US" altLang="zh-TW" sz="2400" i="1" dirty="0">
                              <a:latin typeface="Cambria Math" panose="02040503050406030204" pitchFamily="18" charset="0"/>
                              <a:cs typeface="Times New Roman" panose="02020603050405020304" pitchFamily="18" charset="0"/>
                            </a:rPr>
                            <m:t>𝑛</m:t>
                          </m:r>
                        </m:e>
                        <m:sup>
                          <m:r>
                            <a:rPr lang="en-US" altLang="zh-TW" sz="2400" i="1" dirty="0">
                              <a:latin typeface="Cambria Math" panose="02040503050406030204" pitchFamily="18" charset="0"/>
                              <a:cs typeface="Times New Roman" panose="02020603050405020304" pitchFamily="18" charset="0"/>
                            </a:rPr>
                            <m:t>2</m:t>
                          </m:r>
                        </m:sup>
                      </m:sSup>
                      <m:r>
                        <a:rPr lang="en-US" altLang="zh-TW" sz="2400" i="1" dirty="0">
                          <a:latin typeface="Cambria Math" panose="02040503050406030204" pitchFamily="18" charset="0"/>
                          <a:cs typeface="Times New Roman" panose="02020603050405020304" pitchFamily="18" charset="0"/>
                        </a:rPr>
                        <m:t>∗</m:t>
                      </m:r>
                      <m:sSup>
                        <m:sSupPr>
                          <m:ctrlPr>
                            <a:rPr lang="en-US" altLang="zh-TW" sz="2400" i="1" dirty="0">
                              <a:latin typeface="Cambria Math" panose="02040503050406030204" pitchFamily="18" charset="0"/>
                              <a:cs typeface="Times New Roman" panose="02020603050405020304" pitchFamily="18" charset="0"/>
                            </a:rPr>
                          </m:ctrlPr>
                        </m:sSupPr>
                        <m:e>
                          <m:r>
                            <a:rPr lang="en-US" altLang="zh-TW" sz="2400" i="1" dirty="0">
                              <a:latin typeface="Cambria Math" panose="02040503050406030204" pitchFamily="18" charset="0"/>
                              <a:cs typeface="Times New Roman" panose="02020603050405020304" pitchFamily="18" charset="0"/>
                            </a:rPr>
                            <m:t>𝑝</m:t>
                          </m:r>
                        </m:e>
                        <m:sup>
                          <m:r>
                            <a:rPr lang="en-US" altLang="zh-TW" sz="2400" i="1" dirty="0">
                              <a:latin typeface="Cambria Math" panose="02040503050406030204" pitchFamily="18" charset="0"/>
                              <a:cs typeface="Times New Roman" panose="02020603050405020304" pitchFamily="18" charset="0"/>
                            </a:rPr>
                            <m:t>2</m:t>
                          </m:r>
                        </m:sup>
                      </m:sSup>
                      <m:r>
                        <a:rPr lang="en-US" altLang="zh-TW" sz="2400" i="1" dirty="0">
                          <a:latin typeface="Cambria Math" panose="02040503050406030204" pitchFamily="18" charset="0"/>
                          <a:cs typeface="Times New Roman" panose="020206030504050203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Dynamic level scheduling (DLS)</a:t>
                </a:r>
              </a:p>
              <a:p>
                <a:pPr marL="0" indent="0">
                  <a:buNone/>
                </a:pPr>
                <a:r>
                  <a:rPr lang="zh-TW" altLang="en-US" sz="2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TW" sz="2400" i="1" dirty="0" smtClean="0">
                            <a:latin typeface="Cambria Math" panose="02040503050406030204" pitchFamily="18" charset="0"/>
                            <a:cs typeface="Times New Roman" panose="02020603050405020304" pitchFamily="18" charset="0"/>
                          </a:rPr>
                        </m:ctrlPr>
                      </m:sSupPr>
                      <m:e>
                        <m:r>
                          <a:rPr lang="en-US" altLang="zh-TW" sz="2400" b="0" i="1" dirty="0" smtClean="0">
                            <a:latin typeface="Cambria Math" panose="02040503050406030204" pitchFamily="18" charset="0"/>
                            <a:cs typeface="Times New Roman" panose="02020603050405020304" pitchFamily="18" charset="0"/>
                          </a:rPr>
                          <m:t>𝑂</m:t>
                        </m:r>
                        <m:r>
                          <a:rPr lang="en-US" altLang="zh-TW" sz="2400" b="0" i="1" dirty="0" smtClean="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𝑛</m:t>
                        </m:r>
                      </m:e>
                      <m:sup>
                        <m:r>
                          <a:rPr lang="en-US" altLang="zh-TW" sz="2400" b="0" i="1" dirty="0" smtClean="0">
                            <a:latin typeface="Cambria Math" panose="02040503050406030204" pitchFamily="18" charset="0"/>
                            <a:cs typeface="Times New Roman" panose="02020603050405020304" pitchFamily="18" charset="0"/>
                          </a:rPr>
                          <m:t>3</m:t>
                        </m:r>
                      </m:sup>
                    </m:sSup>
                    <m:r>
                      <a:rPr lang="en-US" altLang="zh-TW" sz="2400" b="0" i="1" dirty="0" smtClean="0">
                        <a:latin typeface="Cambria Math" panose="02040503050406030204" pitchFamily="18" charset="0"/>
                        <a:cs typeface="Times New Roman" panose="02020603050405020304" pitchFamily="18" charset="0"/>
                      </a:rPr>
                      <m:t>+</m:t>
                    </m:r>
                    <m:sSup>
                      <m:sSupPr>
                        <m:ctrlPr>
                          <a:rPr lang="en-US" altLang="zh-TW" sz="2400" i="1" dirty="0">
                            <a:latin typeface="Cambria Math" panose="02040503050406030204" pitchFamily="18" charset="0"/>
                            <a:cs typeface="Times New Roman" panose="02020603050405020304" pitchFamily="18" charset="0"/>
                          </a:rPr>
                        </m:ctrlPr>
                      </m:sSupPr>
                      <m:e>
                        <m:r>
                          <a:rPr lang="en-US" altLang="zh-TW" sz="2400" i="1" dirty="0">
                            <a:latin typeface="Cambria Math" panose="02040503050406030204" pitchFamily="18" charset="0"/>
                            <a:cs typeface="Times New Roman" panose="02020603050405020304" pitchFamily="18" charset="0"/>
                          </a:rPr>
                          <m:t>𝑛</m:t>
                        </m:r>
                      </m:e>
                      <m:sup>
                        <m:r>
                          <a:rPr lang="en-US" altLang="zh-TW" sz="2400" b="0" i="1" dirty="0" smtClean="0">
                            <a:latin typeface="Cambria Math" panose="02040503050406030204" pitchFamily="18" charset="0"/>
                            <a:cs typeface="Times New Roman" panose="02020603050405020304" pitchFamily="18" charset="0"/>
                          </a:rPr>
                          <m:t>2</m:t>
                        </m:r>
                      </m:sup>
                    </m:sSup>
                    <m:r>
                      <a:rPr lang="en-US" altLang="zh-TW" sz="2400" b="0" i="1" dirty="0" smtClean="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𝑝</m:t>
                    </m:r>
                    <m:r>
                      <a:rPr lang="en-US" altLang="zh-TW" sz="2400" b="0" i="1" dirty="0" smtClean="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𝑓</m:t>
                    </m:r>
                    <m:d>
                      <m:dPr>
                        <m:ctrlPr>
                          <a:rPr lang="en-US" altLang="zh-TW" sz="2400" b="0" i="1" dirty="0" smtClean="0">
                            <a:latin typeface="Cambria Math" panose="02040503050406030204" pitchFamily="18" charset="0"/>
                            <a:cs typeface="Times New Roman" panose="02020603050405020304" pitchFamily="18" charset="0"/>
                          </a:rPr>
                        </m:ctrlPr>
                      </m:dPr>
                      <m:e>
                        <m:r>
                          <a:rPr lang="en-US" altLang="zh-TW" sz="2400" b="0" i="1" dirty="0" smtClean="0">
                            <a:latin typeface="Cambria Math" panose="02040503050406030204" pitchFamily="18" charset="0"/>
                            <a:cs typeface="Times New Roman" panose="02020603050405020304" pitchFamily="18" charset="0"/>
                          </a:rPr>
                          <m:t>𝑝</m:t>
                        </m:r>
                      </m:e>
                    </m:d>
                    <m:r>
                      <a:rPr lang="en-US" altLang="zh-TW" sz="2400" b="0" i="1" dirty="0" smtClean="0">
                        <a:latin typeface="Cambria Math" panose="02040503050406030204" pitchFamily="18" charset="0"/>
                        <a:cs typeface="Times New Roman" panose="02020603050405020304" pitchFamily="18" charset="0"/>
                      </a:rPr>
                      <m:t>)</m:t>
                    </m:r>
                  </m:oMath>
                </a14:m>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Heterogeneous Earliest Finish Time (HEFT)</a:t>
                </a:r>
              </a:p>
              <a:p>
                <a:pPr marL="0" indent="0">
                  <a:buNone/>
                </a:pPr>
                <a14:m>
                  <m:oMathPara xmlns:m="http://schemas.openxmlformats.org/officeDocument/2006/math">
                    <m:oMathParaPr>
                      <m:jc m:val="left"/>
                    </m:oMathParaPr>
                    <m:oMath xmlns:m="http://schemas.openxmlformats.org/officeDocument/2006/math">
                      <m:r>
                        <a:rPr lang="en-US" altLang="zh-TW" sz="2400" i="1" dirty="0">
                          <a:latin typeface="Cambria Math" panose="02040503050406030204" pitchFamily="18" charset="0"/>
                          <a:cs typeface="Times New Roman" panose="02020603050405020304" pitchFamily="18" charset="0"/>
                        </a:rPr>
                        <m:t>𝑂</m:t>
                      </m:r>
                      <m:r>
                        <a:rPr lang="en-US" altLang="zh-TW" sz="2400" i="1" dirty="0">
                          <a:latin typeface="Cambria Math" panose="02040503050406030204" pitchFamily="18" charset="0"/>
                          <a:cs typeface="Times New Roman" panose="02020603050405020304" pitchFamily="18" charset="0"/>
                        </a:rPr>
                        <m:t>(</m:t>
                      </m:r>
                      <m:sSup>
                        <m:sSupPr>
                          <m:ctrlPr>
                            <a:rPr lang="en-US" altLang="zh-TW" sz="2400" i="1" dirty="0">
                              <a:latin typeface="Cambria Math" panose="02040503050406030204" pitchFamily="18" charset="0"/>
                              <a:cs typeface="Times New Roman" panose="02020603050405020304" pitchFamily="18" charset="0"/>
                            </a:rPr>
                          </m:ctrlPr>
                        </m:sSupPr>
                        <m:e>
                          <m:r>
                            <a:rPr lang="en-US" altLang="zh-TW" sz="2400" i="1" dirty="0">
                              <a:latin typeface="Cambria Math" panose="02040503050406030204" pitchFamily="18" charset="0"/>
                              <a:cs typeface="Times New Roman" panose="02020603050405020304" pitchFamily="18" charset="0"/>
                            </a:rPr>
                            <m:t>𝑛</m:t>
                          </m:r>
                        </m:e>
                        <m:sup>
                          <m:r>
                            <a:rPr lang="en-US" altLang="zh-TW" sz="2400" i="1" dirty="0">
                              <a:latin typeface="Cambria Math" panose="02040503050406030204" pitchFamily="18" charset="0"/>
                              <a:cs typeface="Times New Roman" panose="02020603050405020304" pitchFamily="18" charset="0"/>
                            </a:rPr>
                            <m:t>2</m:t>
                          </m:r>
                        </m:sup>
                      </m:sSup>
                      <m:r>
                        <a:rPr lang="en-US" altLang="zh-TW" sz="2400" i="1" dirty="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𝑝</m:t>
                      </m:r>
                      <m:r>
                        <a:rPr lang="en-US" altLang="zh-TW" sz="2400" i="1" dirty="0">
                          <a:latin typeface="Cambria Math" panose="02040503050406030204" pitchFamily="18" charset="0"/>
                          <a:cs typeface="Times New Roman" panose="020206030504050203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Constrained Earliest Finish Time (CEFT)</a:t>
                </a:r>
              </a:p>
              <a:p>
                <a:pPr marL="0" indent="0">
                  <a:buNone/>
                </a:pPr>
                <a14:m>
                  <m:oMathPara xmlns:m="http://schemas.openxmlformats.org/officeDocument/2006/math">
                    <m:oMathParaPr>
                      <m:jc m:val="left"/>
                    </m:oMathParaPr>
                    <m:oMath xmlns:m="http://schemas.openxmlformats.org/officeDocument/2006/math">
                      <m:r>
                        <a:rPr lang="en-US" altLang="zh-TW" sz="2400" i="1" dirty="0">
                          <a:latin typeface="Cambria Math" panose="02040503050406030204" pitchFamily="18" charset="0"/>
                          <a:cs typeface="Times New Roman" panose="02020603050405020304" pitchFamily="18" charset="0"/>
                        </a:rPr>
                        <m:t>𝑂</m:t>
                      </m:r>
                      <m:r>
                        <a:rPr lang="en-US" altLang="zh-TW" sz="2400" i="1" dirty="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𝑛</m:t>
                      </m:r>
                      <m:r>
                        <a:rPr lang="en-US" altLang="zh-TW" sz="2400" i="1" dirty="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𝑝</m:t>
                      </m:r>
                      <m:r>
                        <a:rPr lang="en-US" altLang="zh-TW" sz="2400" b="0" i="1" dirty="0" smtClean="0">
                          <a:latin typeface="Cambria Math" panose="02040503050406030204" pitchFamily="18" charset="0"/>
                          <a:cs typeface="Times New Roman" panose="02020603050405020304" pitchFamily="18" charset="0"/>
                        </a:rPr>
                        <m:t>∗ (</m:t>
                      </m:r>
                      <m:r>
                        <a:rPr lang="en-US" altLang="zh-TW" sz="2400" b="0" i="1" dirty="0" smtClean="0">
                          <a:latin typeface="Cambria Math" panose="02040503050406030204" pitchFamily="18" charset="0"/>
                          <a:cs typeface="Times New Roman" panose="02020603050405020304" pitchFamily="18" charset="0"/>
                        </a:rPr>
                        <m:t>𝑛</m:t>
                      </m:r>
                      <m:r>
                        <a:rPr lang="en-US" altLang="zh-TW" sz="2400" b="0" i="1" dirty="0" smtClean="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𝑚</m:t>
                      </m:r>
                      <m:r>
                        <a:rPr lang="en-US" altLang="zh-TW" sz="2400" b="0" i="1" dirty="0" smtClean="0">
                          <a:latin typeface="Cambria Math" panose="02040503050406030204" pitchFamily="18" charset="0"/>
                          <a:cs typeface="Times New Roman" panose="02020603050405020304" pitchFamily="18" charset="0"/>
                        </a:rPr>
                        <m:t>+</m:t>
                      </m:r>
                      <m:sSub>
                        <m:sSubPr>
                          <m:ctrlPr>
                            <a:rPr lang="en-US" altLang="zh-TW" sz="2400" b="0" i="1" dirty="0" smtClean="0">
                              <a:latin typeface="Cambria Math" panose="02040503050406030204" pitchFamily="18" charset="0"/>
                              <a:cs typeface="Times New Roman" panose="02020603050405020304" pitchFamily="18" charset="0"/>
                            </a:rPr>
                          </m:ctrlPr>
                        </m:sSubPr>
                        <m:e>
                          <m:r>
                            <a:rPr lang="en-US" altLang="zh-TW" sz="2400" b="0" i="1" dirty="0" smtClean="0">
                              <a:latin typeface="Cambria Math" panose="02040503050406030204" pitchFamily="18" charset="0"/>
                              <a:cs typeface="Times New Roman" panose="02020603050405020304" pitchFamily="18" charset="0"/>
                            </a:rPr>
                            <m:t>𝑑𝑒𝑔</m:t>
                          </m:r>
                        </m:e>
                        <m:sub>
                          <m:r>
                            <a:rPr lang="en-US" altLang="zh-TW" sz="2400" b="0" i="1" dirty="0" smtClean="0">
                              <a:latin typeface="Cambria Math" panose="02040503050406030204" pitchFamily="18" charset="0"/>
                              <a:cs typeface="Times New Roman" panose="02020603050405020304" pitchFamily="18" charset="0"/>
                            </a:rPr>
                            <m:t>𝑖𝑛</m:t>
                          </m:r>
                        </m:sub>
                      </m:sSub>
                      <m:r>
                        <a:rPr lang="en-US" altLang="zh-TW" sz="2400" b="0" i="1" dirty="0" smtClean="0">
                          <a:latin typeface="Cambria Math" panose="02040503050406030204" pitchFamily="18" charset="0"/>
                          <a:cs typeface="Times New Roman" panose="02020603050405020304" pitchFamily="18" charset="0"/>
                        </a:rPr>
                        <m:t>)</m:t>
                      </m:r>
                      <m:r>
                        <a:rPr lang="en-US" altLang="zh-TW" sz="2400" i="1" dirty="0">
                          <a:latin typeface="Cambria Math" panose="02040503050406030204" pitchFamily="18" charset="0"/>
                          <a:cs typeface="Times New Roman" panose="020206030504050203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p>
                <a:pPr marL="0" indent="0">
                  <a:buNone/>
                </a:pP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86607" y="816746"/>
                <a:ext cx="7886700" cy="5573281"/>
              </a:xfrm>
              <a:blipFill>
                <a:blip r:embed="rId2"/>
                <a:stretch>
                  <a:fillRect l="-1236" t="-15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72096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6325" y="1894681"/>
            <a:ext cx="6619260" cy="3277393"/>
          </a:xfrm>
        </p:spPr>
      </p:pic>
    </p:spTree>
    <p:extLst>
      <p:ext uri="{BB962C8B-B14F-4D97-AF65-F5344CB8AC3E}">
        <p14:creationId xmlns:p14="http://schemas.microsoft.com/office/powerpoint/2010/main" val="1626742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065" y="1835150"/>
            <a:ext cx="6685327" cy="3298825"/>
          </a:xfrm>
          <a:prstGeom prst="rect">
            <a:avLst/>
          </a:prstGeom>
        </p:spPr>
      </p:pic>
    </p:spTree>
    <p:extLst>
      <p:ext uri="{BB962C8B-B14F-4D97-AF65-F5344CB8AC3E}">
        <p14:creationId xmlns:p14="http://schemas.microsoft.com/office/powerpoint/2010/main" val="2056283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498" y="1700003"/>
            <a:ext cx="6791633" cy="3433972"/>
          </a:xfrm>
          <a:prstGeom prst="rect">
            <a:avLst/>
          </a:prstGeom>
        </p:spPr>
      </p:pic>
    </p:spTree>
    <p:extLst>
      <p:ext uri="{BB962C8B-B14F-4D97-AF65-F5344CB8AC3E}">
        <p14:creationId xmlns:p14="http://schemas.microsoft.com/office/powerpoint/2010/main" val="249643322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90026</TotalTime>
  <Words>370</Words>
  <Application>Microsoft Office PowerPoint</Application>
  <PresentationFormat>如螢幕大小 (4:3)</PresentationFormat>
  <Paragraphs>64</Paragraphs>
  <Slides>13</Slides>
  <Notes>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13</vt:i4>
      </vt:variant>
    </vt:vector>
  </HeadingPairs>
  <TitlesOfParts>
    <vt:vector size="19" baseType="lpstr">
      <vt:lpstr>Arial</vt:lpstr>
      <vt:lpstr>Calibri</vt:lpstr>
      <vt:lpstr>Calibri Light</vt:lpstr>
      <vt:lpstr>Cambria Math</vt:lpstr>
      <vt:lpstr>Times New Roman</vt:lpstr>
      <vt:lpstr>Office 佈景主題</vt:lpstr>
      <vt:lpstr>Scheduling for Heterogeneous Systems Using Constrained Critical Paths</vt:lpstr>
      <vt:lpstr>Abstract (1/2)</vt:lpstr>
      <vt:lpstr>Abstract (2/2)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838</cp:revision>
  <dcterms:created xsi:type="dcterms:W3CDTF">2017-09-25T08:45:50Z</dcterms:created>
  <dcterms:modified xsi:type="dcterms:W3CDTF">2020-08-18T07:52:55Z</dcterms:modified>
</cp:coreProperties>
</file>