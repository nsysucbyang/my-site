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5" r:id="rId9"/>
    <p:sldId id="266" r:id="rId10"/>
    <p:sldId id="267" r:id="rId11"/>
    <p:sldId id="270" r:id="rId12"/>
    <p:sldId id="262" r:id="rId13"/>
    <p:sldId id="268" r:id="rId14"/>
    <p:sldId id="269"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6186186C-64BA-44FD-9B78-555D693B99E1}">
          <p14:sldIdLst>
            <p14:sldId id="256"/>
            <p14:sldId id="257"/>
            <p14:sldId id="258"/>
            <p14:sldId id="259"/>
            <p14:sldId id="260"/>
            <p14:sldId id="261"/>
            <p14:sldId id="263"/>
            <p14:sldId id="265"/>
            <p14:sldId id="266"/>
            <p14:sldId id="267"/>
            <p14:sldId id="270"/>
            <p14:sldId id="262"/>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81D9"/>
    <a:srgbClr val="934B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89059" autoAdjust="0"/>
  </p:normalViewPr>
  <p:slideViewPr>
    <p:cSldViewPr snapToGrid="0">
      <p:cViewPr varScale="1">
        <p:scale>
          <a:sx n="101" d="100"/>
          <a:sy n="101" d="100"/>
        </p:scale>
        <p:origin x="828" y="114"/>
      </p:cViewPr>
      <p:guideLst/>
    </p:cSldViewPr>
  </p:slideViewPr>
  <p:outlineViewPr>
    <p:cViewPr>
      <p:scale>
        <a:sx n="33" d="100"/>
        <a:sy n="33" d="100"/>
      </p:scale>
      <p:origin x="0" y="-95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033D0-5A25-41C7-969A-EF5F7C649CD4}" type="datetimeFigureOut">
              <a:rPr lang="zh-TW" altLang="en-US" smtClean="0"/>
              <a:t>2020/8/18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9F1D4-CE95-410B-B0BC-C775142743A3}" type="slidenum">
              <a:rPr lang="zh-TW" altLang="en-US" smtClean="0"/>
              <a:t>‹#›</a:t>
            </a:fld>
            <a:endParaRPr lang="zh-TW" altLang="en-US"/>
          </a:p>
        </p:txBody>
      </p:sp>
    </p:spTree>
    <p:extLst>
      <p:ext uri="{BB962C8B-B14F-4D97-AF65-F5344CB8AC3E}">
        <p14:creationId xmlns:p14="http://schemas.microsoft.com/office/powerpoint/2010/main" val="393386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400" b="0" i="0" u="sng" dirty="0">
                <a:solidFill>
                  <a:srgbClr val="777777"/>
                </a:solidFill>
                <a:effectLst/>
                <a:latin typeface="Roboto"/>
              </a:rPr>
              <a:t>Zurich </a:t>
            </a:r>
            <a:r>
              <a:rPr lang="zh-TW" altLang="en-US" sz="1400" b="0" i="0" u="sng" dirty="0">
                <a:solidFill>
                  <a:srgbClr val="777777"/>
                </a:solidFill>
                <a:effectLst/>
                <a:latin typeface="Roboto"/>
              </a:rPr>
              <a:t>蘇黎世</a:t>
            </a:r>
            <a:r>
              <a:rPr lang="en-US" altLang="zh-TW" sz="1400" b="0" i="0" u="sng" dirty="0">
                <a:solidFill>
                  <a:srgbClr val="777777"/>
                </a:solidFill>
                <a:effectLst/>
                <a:latin typeface="Roboto"/>
              </a:rPr>
              <a:t>(</a:t>
            </a:r>
            <a:r>
              <a:rPr lang="zh-TW" altLang="en-US" sz="1400" b="0" i="0" u="sng" dirty="0">
                <a:solidFill>
                  <a:srgbClr val="777777"/>
                </a:solidFill>
                <a:effectLst/>
                <a:latin typeface="Roboto"/>
              </a:rPr>
              <a:t>瑞士</a:t>
            </a:r>
            <a:r>
              <a:rPr lang="en-US" altLang="zh-TW" sz="1400" b="0" i="0" u="sng" dirty="0">
                <a:solidFill>
                  <a:srgbClr val="777777"/>
                </a:solidFill>
                <a:effectLst/>
                <a:latin typeface="Roboto"/>
              </a:rPr>
              <a:t>)</a:t>
            </a:r>
          </a:p>
          <a:p>
            <a:r>
              <a:rPr lang="en-US" altLang="zh-TW" sz="1400" b="0" i="0" u="sng" dirty="0">
                <a:solidFill>
                  <a:srgbClr val="777777"/>
                </a:solidFill>
                <a:effectLst/>
                <a:latin typeface="Roboto"/>
              </a:rPr>
              <a:t>WABI</a:t>
            </a:r>
            <a:r>
              <a:rPr lang="zh-TW" altLang="en-US" sz="1400" b="0" i="0" u="sng" dirty="0">
                <a:solidFill>
                  <a:srgbClr val="777777"/>
                </a:solidFill>
                <a:effectLst/>
                <a:latin typeface="Roboto"/>
              </a:rPr>
              <a:t> </a:t>
            </a:r>
            <a:r>
              <a:rPr lang="en-US" altLang="zh-TW" sz="1400" b="0" i="0" u="sng" dirty="0">
                <a:solidFill>
                  <a:srgbClr val="777777"/>
                </a:solidFill>
                <a:effectLst/>
                <a:latin typeface="Roboto"/>
              </a:rPr>
              <a:t>:</a:t>
            </a:r>
            <a:r>
              <a:rPr lang="zh-TW" altLang="en-US" sz="1400" b="0" i="0" u="sng" dirty="0">
                <a:solidFill>
                  <a:srgbClr val="777777"/>
                </a:solidFill>
                <a:effectLst/>
                <a:latin typeface="Roboto"/>
              </a:rPr>
              <a:t> </a:t>
            </a:r>
            <a:r>
              <a:rPr lang="en-US" altLang="zh-TW" sz="1400" b="0" i="0" u="sng" dirty="0">
                <a:solidFill>
                  <a:srgbClr val="777777"/>
                </a:solidFill>
                <a:effectLst/>
                <a:latin typeface="Roboto"/>
              </a:rPr>
              <a:t>Workshop on Algorithm in Bioinformatics</a:t>
            </a:r>
          </a:p>
          <a:p>
            <a:r>
              <a:rPr lang="en-US" altLang="zh-TW" sz="1400" b="0" i="0" u="sng" dirty="0">
                <a:solidFill>
                  <a:srgbClr val="777777"/>
                </a:solidFill>
                <a:effectLst/>
                <a:latin typeface="Roboto"/>
              </a:rPr>
              <a:t>1. </a:t>
            </a:r>
            <a:r>
              <a:rPr lang="zh-TW" altLang="en-US" sz="2000" b="0" i="0" dirty="0">
                <a:solidFill>
                  <a:srgbClr val="4D5156"/>
                </a:solidFill>
                <a:effectLst/>
                <a:latin typeface="arial" panose="020B0604020202020204" pitchFamily="34" charset="0"/>
              </a:rPr>
              <a:t>聖保羅大學的數學與統計研究所 </a:t>
            </a:r>
            <a:r>
              <a:rPr lang="en-US" altLang="zh-TW" sz="2000" b="0" i="0" dirty="0">
                <a:solidFill>
                  <a:srgbClr val="4D5156"/>
                </a:solidFill>
                <a:effectLst/>
                <a:latin typeface="arial" panose="020B0604020202020204" pitchFamily="34" charset="0"/>
              </a:rPr>
              <a:t>(</a:t>
            </a:r>
            <a:r>
              <a:rPr lang="zh-TW" altLang="en-US" sz="2000" b="0" i="0" dirty="0">
                <a:solidFill>
                  <a:srgbClr val="4D5156"/>
                </a:solidFill>
                <a:effectLst/>
                <a:latin typeface="arial" panose="020B0604020202020204" pitchFamily="34" charset="0"/>
              </a:rPr>
              <a:t>巴西</a:t>
            </a:r>
            <a:r>
              <a:rPr lang="en-US" altLang="zh-TW" sz="2000" b="0" i="0" dirty="0">
                <a:solidFill>
                  <a:srgbClr val="4D5156"/>
                </a:solidFill>
                <a:effectLst/>
                <a:latin typeface="arial" panose="020B0604020202020204" pitchFamily="34" charset="0"/>
              </a:rPr>
              <a:t>)</a:t>
            </a:r>
          </a:p>
          <a:p>
            <a:r>
              <a:rPr lang="en-US" altLang="zh-TW" sz="2000" b="0" i="0" u="sng" dirty="0">
                <a:solidFill>
                  <a:srgbClr val="4D5156"/>
                </a:solidFill>
                <a:effectLst/>
                <a:latin typeface="arial" panose="020B0604020202020204" pitchFamily="34" charset="0"/>
              </a:rPr>
              <a:t>2</a:t>
            </a:r>
            <a:r>
              <a:rPr lang="zh-TW" altLang="en-US" sz="2000" b="0" i="0" u="sng" dirty="0">
                <a:solidFill>
                  <a:srgbClr val="4D5156"/>
                </a:solidFill>
                <a:effectLst/>
                <a:latin typeface="arial" panose="020B0604020202020204" pitchFamily="34" charset="0"/>
              </a:rPr>
              <a:t> </a:t>
            </a:r>
            <a:r>
              <a:rPr lang="en-US" altLang="zh-TW" sz="2000" b="0" i="0" u="sng" dirty="0">
                <a:solidFill>
                  <a:srgbClr val="4D5156"/>
                </a:solidFill>
                <a:effectLst/>
                <a:latin typeface="arial" panose="020B0604020202020204" pitchFamily="34" charset="0"/>
              </a:rPr>
              <a:t>.</a:t>
            </a:r>
            <a:r>
              <a:rPr lang="zh-TW" altLang="en-US" sz="2000" b="0" i="0" dirty="0">
                <a:solidFill>
                  <a:srgbClr val="4D5156"/>
                </a:solidFill>
                <a:effectLst/>
                <a:latin typeface="arial" panose="020B0604020202020204" pitchFamily="34" charset="0"/>
              </a:rPr>
              <a:t>聖保羅猶大塔德大學</a:t>
            </a:r>
            <a:endParaRPr lang="en-US" altLang="zh-TW" sz="2000" b="0" i="0" dirty="0">
              <a:solidFill>
                <a:srgbClr val="4D5156"/>
              </a:solidFill>
              <a:effectLst/>
              <a:latin typeface="arial" panose="020B0604020202020204" pitchFamily="34" charset="0"/>
            </a:endParaRPr>
          </a:p>
          <a:p>
            <a:r>
              <a:rPr lang="en-US" altLang="zh-TW" sz="2000" b="0" i="0" u="sng" dirty="0">
                <a:solidFill>
                  <a:srgbClr val="4D5156"/>
                </a:solidFill>
                <a:effectLst/>
                <a:latin typeface="arial" panose="020B0604020202020204" pitchFamily="34" charset="0"/>
              </a:rPr>
              <a:t>3.</a:t>
            </a:r>
            <a:r>
              <a:rPr lang="zh-TW" altLang="en-US" sz="2000" b="0" i="0" u="sng" dirty="0">
                <a:solidFill>
                  <a:srgbClr val="4D5156"/>
                </a:solidFill>
                <a:effectLst/>
                <a:latin typeface="arial" panose="020B0604020202020204" pitchFamily="34" charset="0"/>
              </a:rPr>
              <a:t> 同</a:t>
            </a:r>
            <a:r>
              <a:rPr lang="en-US" altLang="zh-TW" sz="2000" b="0" i="0" u="sng" dirty="0">
                <a:solidFill>
                  <a:srgbClr val="4D5156"/>
                </a:solidFill>
                <a:effectLst/>
                <a:latin typeface="arial" panose="020B0604020202020204" pitchFamily="34" charset="0"/>
              </a:rPr>
              <a:t>1</a:t>
            </a: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a:t>
            </a:fld>
            <a:endParaRPr lang="zh-TW" altLang="en-US"/>
          </a:p>
        </p:txBody>
      </p:sp>
    </p:spTree>
    <p:extLst>
      <p:ext uri="{BB962C8B-B14F-4D97-AF65-F5344CB8AC3E}">
        <p14:creationId xmlns:p14="http://schemas.microsoft.com/office/powerpoint/2010/main" val="139247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err="1">
                <a:latin typeface="Times New Roman" panose="02020603050405020304" pitchFamily="18" charset="0"/>
                <a:cs typeface="Times New Roman" panose="02020603050405020304" pitchFamily="18" charset="0"/>
              </a:rPr>
              <a:t>Schöniger</a:t>
            </a:r>
            <a:r>
              <a:rPr lang="en-US" altLang="zh-TW" sz="1200" dirty="0">
                <a:latin typeface="Times New Roman" panose="02020603050405020304" pitchFamily="18" charset="0"/>
                <a:cs typeface="Times New Roman" panose="02020603050405020304" pitchFamily="18" charset="0"/>
              </a:rPr>
              <a:t>(</a:t>
            </a:r>
            <a:r>
              <a:rPr lang="en-US" altLang="zh-TW" sz="1200" dirty="0" err="1">
                <a:latin typeface="Times New Roman" panose="02020603050405020304" pitchFamily="18" charset="0"/>
                <a:cs typeface="Times New Roman" panose="02020603050405020304" pitchFamily="18" charset="0"/>
              </a:rPr>
              <a:t>shu</a:t>
            </a:r>
            <a:r>
              <a:rPr lang="en-US" altLang="zh-TW" sz="1200" dirty="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ni</a:t>
            </a:r>
            <a:r>
              <a:rPr lang="en-US" altLang="zh-TW" sz="1200" dirty="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ga</a:t>
            </a:r>
            <a:r>
              <a:rPr lang="en-US" altLang="zh-TW" sz="1200" dirty="0">
                <a:latin typeface="Times New Roman" panose="02020603050405020304" pitchFamily="18" charset="0"/>
                <a:cs typeface="Times New Roman" panose="02020603050405020304" pitchFamily="18" charset="0"/>
              </a:rPr>
              <a:t>) </a:t>
            </a:r>
            <a:r>
              <a:rPr lang="zh-TW" altLang="en-US" sz="1200" dirty="0">
                <a:latin typeface="Times New Roman" panose="02020603050405020304" pitchFamily="18" charset="0"/>
                <a:cs typeface="Times New Roman" panose="02020603050405020304" pitchFamily="18" charset="0"/>
              </a:rPr>
              <a:t>德文</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a:t>
            </a:fld>
            <a:endParaRPr lang="zh-TW" altLang="en-US"/>
          </a:p>
        </p:txBody>
      </p:sp>
    </p:spTree>
    <p:extLst>
      <p:ext uri="{BB962C8B-B14F-4D97-AF65-F5344CB8AC3E}">
        <p14:creationId xmlns:p14="http://schemas.microsoft.com/office/powerpoint/2010/main" val="237397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cs typeface="Times New Roman" panose="02020603050405020304" pitchFamily="18" charset="0"/>
              </a:rPr>
              <a:t>Scherer ( like share )</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a:t>
            </a:fld>
            <a:endParaRPr lang="zh-TW" altLang="en-US"/>
          </a:p>
        </p:txBody>
      </p:sp>
    </p:spTree>
    <p:extLst>
      <p:ext uri="{BB962C8B-B14F-4D97-AF65-F5344CB8AC3E}">
        <p14:creationId xmlns:p14="http://schemas.microsoft.com/office/powerpoint/2010/main" val="79760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ea typeface="標楷體" panose="03000509000000000000" pitchFamily="65" charset="-120"/>
              </a:rPr>
              <a:t>2016/2/23 </a:t>
            </a:r>
            <a:r>
              <a:rPr lang="zh-TW" altLang="en-US" sz="1200" dirty="0">
                <a:latin typeface="Times New Roman" panose="02020603050405020304" pitchFamily="18" charset="0"/>
                <a:ea typeface="標楷體" panose="03000509000000000000" pitchFamily="65" charset="-120"/>
              </a:rPr>
              <a:t>林必祥</a:t>
            </a:r>
            <a:endParaRPr lang="en-US" altLang="zh-TW" sz="1200" dirty="0">
              <a:latin typeface="Times New Roman" panose="02020603050405020304" pitchFamily="18" charset="0"/>
              <a:ea typeface="標楷體" panose="03000509000000000000" pitchFamily="65" charset="-120"/>
            </a:endParaRPr>
          </a:p>
          <a:p>
            <a:r>
              <a:rPr lang="en-US" altLang="zh-TW" sz="1200" dirty="0">
                <a:latin typeface="Times New Roman" panose="02020603050405020304" pitchFamily="18" charset="0"/>
                <a:ea typeface="標楷體" panose="03000509000000000000" pitchFamily="65" charset="-120"/>
              </a:rPr>
              <a:t>2020/4/21</a:t>
            </a:r>
            <a:r>
              <a:rPr lang="zh-TW" altLang="en-US" sz="1200" dirty="0">
                <a:latin typeface="Times New Roman" panose="02020603050405020304" pitchFamily="18" charset="0"/>
                <a:ea typeface="標楷體" panose="03000509000000000000" pitchFamily="65" charset="-120"/>
              </a:rPr>
              <a:t> 李紹</a:t>
            </a:r>
            <a:r>
              <a:rPr lang="zh-TW" altLang="en-US" sz="1200" b="0" i="0" dirty="0">
                <a:solidFill>
                  <a:srgbClr val="000000"/>
                </a:solidFill>
                <a:effectLst/>
                <a:latin typeface="標楷體" panose="03000509000000000000" pitchFamily="65" charset="-120"/>
                <a:ea typeface="標楷體" panose="03000509000000000000" pitchFamily="65" charset="-120"/>
              </a:rPr>
              <a:t>瑄</a:t>
            </a:r>
            <a:endParaRPr lang="en-US" altLang="zh-TW" sz="1200" b="0" i="0" dirty="0">
              <a:solidFill>
                <a:srgbClr val="000000"/>
              </a:solidFill>
              <a:effectLst/>
              <a:latin typeface="標楷體" panose="03000509000000000000" pitchFamily="65" charset="-120"/>
              <a:ea typeface="標楷體" panose="03000509000000000000" pitchFamily="65" charset="-120"/>
            </a:endParaRPr>
          </a:p>
          <a:p>
            <a:r>
              <a:rPr lang="zh-TW" altLang="en-US" dirty="0"/>
              <a:t>詳情請見該兩位學長姊的</a:t>
            </a:r>
            <a:r>
              <a:rPr lang="en-US" altLang="zh-TW" dirty="0"/>
              <a:t>meeting</a:t>
            </a:r>
            <a:r>
              <a:rPr lang="zh-TW" altLang="en-US" dirty="0"/>
              <a:t>報告</a:t>
            </a: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8</a:t>
            </a:fld>
            <a:endParaRPr lang="zh-TW" altLang="en-US"/>
          </a:p>
        </p:txBody>
      </p:sp>
    </p:spTree>
    <p:extLst>
      <p:ext uri="{BB962C8B-B14F-4D97-AF65-F5344CB8AC3E}">
        <p14:creationId xmlns:p14="http://schemas.microsoft.com/office/powerpoint/2010/main" val="2344334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ea typeface="標楷體" panose="03000509000000000000" pitchFamily="65" charset="-120"/>
              </a:rPr>
              <a:t>2016/2/23 </a:t>
            </a:r>
            <a:r>
              <a:rPr lang="zh-TW" altLang="en-US" sz="1200" dirty="0">
                <a:latin typeface="Times New Roman" panose="02020603050405020304" pitchFamily="18" charset="0"/>
                <a:ea typeface="標楷體" panose="03000509000000000000" pitchFamily="65" charset="-120"/>
              </a:rPr>
              <a:t>林必祥</a:t>
            </a:r>
            <a:endParaRPr lang="en-US" altLang="zh-TW" sz="1200" dirty="0">
              <a:latin typeface="Times New Roman" panose="02020603050405020304" pitchFamily="18" charset="0"/>
              <a:ea typeface="標楷體" panose="03000509000000000000" pitchFamily="65" charset="-120"/>
            </a:endParaRPr>
          </a:p>
          <a:p>
            <a:r>
              <a:rPr lang="en-US" altLang="zh-TW" sz="1200" dirty="0">
                <a:latin typeface="Times New Roman" panose="02020603050405020304" pitchFamily="18" charset="0"/>
                <a:ea typeface="標楷體" panose="03000509000000000000" pitchFamily="65" charset="-120"/>
              </a:rPr>
              <a:t>2020/4/21</a:t>
            </a:r>
            <a:r>
              <a:rPr lang="zh-TW" altLang="en-US" sz="1200" dirty="0">
                <a:latin typeface="Times New Roman" panose="02020603050405020304" pitchFamily="18" charset="0"/>
                <a:ea typeface="標楷體" panose="03000509000000000000" pitchFamily="65" charset="-120"/>
              </a:rPr>
              <a:t> 李紹</a:t>
            </a:r>
            <a:r>
              <a:rPr lang="zh-TW" altLang="en-US" sz="1200" b="0" i="0" dirty="0">
                <a:solidFill>
                  <a:srgbClr val="000000"/>
                </a:solidFill>
                <a:effectLst/>
                <a:latin typeface="標楷體" panose="03000509000000000000" pitchFamily="65" charset="-120"/>
                <a:ea typeface="標楷體" panose="03000509000000000000" pitchFamily="65" charset="-120"/>
              </a:rPr>
              <a:t>瑄</a:t>
            </a:r>
            <a:endParaRPr lang="en-US" altLang="zh-TW" sz="1200" b="0" i="0" dirty="0">
              <a:solidFill>
                <a:srgbClr val="000000"/>
              </a:solidFill>
              <a:effectLst/>
              <a:latin typeface="標楷體" panose="03000509000000000000" pitchFamily="65" charset="-120"/>
              <a:ea typeface="標楷體" panose="03000509000000000000" pitchFamily="65" charset="-120"/>
            </a:endParaRPr>
          </a:p>
          <a:p>
            <a:r>
              <a:rPr lang="zh-TW" altLang="en-US" dirty="0"/>
              <a:t>詳情請見該兩位學長姊的</a:t>
            </a:r>
            <a:r>
              <a:rPr lang="en-US" altLang="zh-TW" dirty="0"/>
              <a:t>meeting</a:t>
            </a:r>
            <a:r>
              <a:rPr lang="zh-TW" altLang="en-US" dirty="0"/>
              <a:t>報告</a:t>
            </a:r>
          </a:p>
          <a:p>
            <a:endParaRPr lang="zh-TW" altLang="en-US" dirty="0"/>
          </a:p>
        </p:txBody>
      </p:sp>
      <p:sp>
        <p:nvSpPr>
          <p:cNvPr id="4" name="投影片編號版面配置區 3"/>
          <p:cNvSpPr>
            <a:spLocks noGrp="1"/>
          </p:cNvSpPr>
          <p:nvPr>
            <p:ph type="sldNum" sz="quarter" idx="5"/>
          </p:nvPr>
        </p:nvSpPr>
        <p:spPr/>
        <p:txBody>
          <a:bodyPr/>
          <a:lstStyle/>
          <a:p>
            <a:fld id="{ED3FA484-080D-46E8-9734-669FB6BCD201}" type="slidenum">
              <a:rPr lang="zh-TW" altLang="en-US" smtClean="0"/>
              <a:t>9</a:t>
            </a:fld>
            <a:endParaRPr lang="zh-TW" altLang="en-US"/>
          </a:p>
        </p:txBody>
      </p:sp>
    </p:spTree>
    <p:extLst>
      <p:ext uri="{BB962C8B-B14F-4D97-AF65-F5344CB8AC3E}">
        <p14:creationId xmlns:p14="http://schemas.microsoft.com/office/powerpoint/2010/main" val="268851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6350-B6ED-41FC-9D7E-7F401D1D3B8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0C62AA-5FAB-4981-A45A-1A8517CA6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0ED99-A302-4A55-B3DF-54415272259F}"/>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5" name="頁尾版面配置區 4">
            <a:extLst>
              <a:ext uri="{FF2B5EF4-FFF2-40B4-BE49-F238E27FC236}">
                <a16:creationId xmlns:a16="http://schemas.microsoft.com/office/drawing/2014/main" id="{9E377494-B569-42CD-88D2-0988ED58F5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7DF940-0364-4C9B-9D2E-F53DCBCFE38B}"/>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60464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292AC1-9699-4F08-B315-69E76AA049C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A8B8D7B-403B-4E87-82BF-F03CE715613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24561-057D-4469-9AB5-4C6597D38B9F}"/>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5" name="頁尾版面配置區 4">
            <a:extLst>
              <a:ext uri="{FF2B5EF4-FFF2-40B4-BE49-F238E27FC236}">
                <a16:creationId xmlns:a16="http://schemas.microsoft.com/office/drawing/2014/main" id="{C1CA6533-3974-4E64-AB88-349851F808A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1307E2-178E-4165-A305-28B315270CB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24283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4F4D4-9F65-4A3C-90CA-5E6012D4A6B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605989C-B6AE-485E-B909-2AACC4420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7F143C1-A721-46A9-8DA4-CBAF6D76DA12}"/>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5" name="頁尾版面配置區 4">
            <a:extLst>
              <a:ext uri="{FF2B5EF4-FFF2-40B4-BE49-F238E27FC236}">
                <a16:creationId xmlns:a16="http://schemas.microsoft.com/office/drawing/2014/main" id="{58B4BB70-EBF3-4E15-B0D9-362EC6358D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2C94A2-8B8A-4F73-8AB7-9086E29781D9}"/>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83669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F601E-8FD2-4C96-84ED-A1535992AB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58968-2AA4-47D9-8EE7-25EB5B574F3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CB8EEDE-671F-4288-8102-60AF3949E2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C4633D-0EA1-483A-BCAE-A2C11947C28E}"/>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6" name="頁尾版面配置區 5">
            <a:extLst>
              <a:ext uri="{FF2B5EF4-FFF2-40B4-BE49-F238E27FC236}">
                <a16:creationId xmlns:a16="http://schemas.microsoft.com/office/drawing/2014/main" id="{B89957CD-A76F-4E8A-A600-37A8E89B3A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0CD5A3C-70C9-4468-805A-3216FAD54C92}"/>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7692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8B42B-89C1-47C8-B9DF-997A8833F1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3EC08FF-5F84-4CC0-B4E9-D623E4AC3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A51DA6E-7A90-4DB0-9126-5CC8C4B0601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D7BB7-2FC8-4BE2-A1A4-57D098F58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64E82F7-2C0E-4490-AD80-0749C7C5B1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137E754-7BA1-463B-94AE-949313510271}"/>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8" name="頁尾版面配置區 7">
            <a:extLst>
              <a:ext uri="{FF2B5EF4-FFF2-40B4-BE49-F238E27FC236}">
                <a16:creationId xmlns:a16="http://schemas.microsoft.com/office/drawing/2014/main" id="{8380C5EB-E691-4156-928C-26330C64B11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1A806DF-D52B-4FB1-971E-F10E0C2DF23D}"/>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70463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3BD06-DAE3-4E3E-B6B3-64819162963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7A04491-282C-4221-A3EF-28A94F786F36}"/>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4" name="頁尾版面配置區 3">
            <a:extLst>
              <a:ext uri="{FF2B5EF4-FFF2-40B4-BE49-F238E27FC236}">
                <a16:creationId xmlns:a16="http://schemas.microsoft.com/office/drawing/2014/main" id="{271379CA-0E38-42B7-BE99-6B584783AB9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4B7507D-DFF5-48B7-9C10-7C05EE3825B4}"/>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95372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1D52D3-FF08-4F05-AE9A-D07E40E7AE69}"/>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3" name="頁尾版面配置區 2">
            <a:extLst>
              <a:ext uri="{FF2B5EF4-FFF2-40B4-BE49-F238E27FC236}">
                <a16:creationId xmlns:a16="http://schemas.microsoft.com/office/drawing/2014/main" id="{E2090C79-D9CF-4D2A-85D5-EBCD12C0C9A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EFD9B8-B153-43FE-B1B0-FDFA19393B4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3263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17D1F5-4F45-434A-9699-03158D529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64CFA46-9726-4680-8164-F1258B0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8E2037-0EFD-4F48-A629-1F43D084A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9FA2B0E-7569-4EE9-B847-3B3B3E00C7EE}"/>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6" name="頁尾版面配置區 5">
            <a:extLst>
              <a:ext uri="{FF2B5EF4-FFF2-40B4-BE49-F238E27FC236}">
                <a16:creationId xmlns:a16="http://schemas.microsoft.com/office/drawing/2014/main" id="{A2A74A09-DF0D-4516-9B6E-A1BA4FA5099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E58F68-574D-4991-AB67-979AE7EC2E00}"/>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9267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A608B-EB2D-43E3-806D-315F7F6C6E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17BB9D9-6CF8-47E2-9613-CFC9E5CFB4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DAE305B-85A6-42D3-BDFE-E012EAD5A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33906F-B54E-487C-A495-4EE49A687E1E}"/>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6" name="頁尾版面配置區 5">
            <a:extLst>
              <a:ext uri="{FF2B5EF4-FFF2-40B4-BE49-F238E27FC236}">
                <a16:creationId xmlns:a16="http://schemas.microsoft.com/office/drawing/2014/main" id="{0AFDA8D6-DFC2-44AD-AB91-CCEF457996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815D7-84B9-4D45-8E5A-58AFEF382EA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8608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763308-F782-4AC8-A223-E354635B38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3B59CF-1B41-495A-93CF-6101A5CE7C0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B80BB1-A83C-4652-BAC8-2B3F681B2890}"/>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5" name="頁尾版面配置區 4">
            <a:extLst>
              <a:ext uri="{FF2B5EF4-FFF2-40B4-BE49-F238E27FC236}">
                <a16:creationId xmlns:a16="http://schemas.microsoft.com/office/drawing/2014/main" id="{1707E1EE-E900-4925-B1A8-EE7DD6AF46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1F960C-8C3A-496F-B3A0-26297D927F1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901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0B6D235-6449-4393-9C71-2079D2809C5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2B0F98-2672-4DE5-827E-1F7351B7F94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3C27C8-C683-4B57-A443-2B79354B9887}"/>
              </a:ext>
            </a:extLst>
          </p:cNvPr>
          <p:cNvSpPr>
            <a:spLocks noGrp="1"/>
          </p:cNvSpPr>
          <p:nvPr>
            <p:ph type="dt" sz="half" idx="10"/>
          </p:nvPr>
        </p:nvSpPr>
        <p:spPr/>
        <p:txBody>
          <a:bodyPr/>
          <a:lstStyle/>
          <a:p>
            <a:fld id="{B409E770-9C80-4ED4-983E-8A15F27ADAA7}" type="datetimeFigureOut">
              <a:rPr lang="zh-TW" altLang="en-US" smtClean="0"/>
              <a:t>2020/8/18</a:t>
            </a:fld>
            <a:endParaRPr lang="zh-TW" altLang="en-US"/>
          </a:p>
        </p:txBody>
      </p:sp>
      <p:sp>
        <p:nvSpPr>
          <p:cNvPr id="5" name="頁尾版面配置區 4">
            <a:extLst>
              <a:ext uri="{FF2B5EF4-FFF2-40B4-BE49-F238E27FC236}">
                <a16:creationId xmlns:a16="http://schemas.microsoft.com/office/drawing/2014/main" id="{8424A34C-43DD-4DF5-84E9-8562F9B9B40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7B5B2-0E14-4C16-8BB2-353A2AA0BADE}"/>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43011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7F35C-0173-40E0-88F5-5C85ABA0C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18B1AB-6AFD-4952-BDFB-11797FAB9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8BCFE33-872D-4C90-867C-8B41F7A90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9E770-9C80-4ED4-983E-8A15F27ADAA7}" type="datetimeFigureOut">
              <a:rPr lang="zh-TW" altLang="en-US" smtClean="0"/>
              <a:t>2020/8/18</a:t>
            </a:fld>
            <a:endParaRPr lang="zh-TW" altLang="en-US"/>
          </a:p>
        </p:txBody>
      </p:sp>
      <p:sp>
        <p:nvSpPr>
          <p:cNvPr id="5" name="頁尾版面配置區 4">
            <a:extLst>
              <a:ext uri="{FF2B5EF4-FFF2-40B4-BE49-F238E27FC236}">
                <a16:creationId xmlns:a16="http://schemas.microsoft.com/office/drawing/2014/main" id="{010F5102-CD48-4F14-B5B2-F49CC9C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21C4BF-8ADC-4392-A585-48B57FAF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940820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604685"/>
            <a:ext cx="9829014" cy="871815"/>
          </a:xfrm>
        </p:spPr>
        <p:txBody>
          <a:bodyPr>
            <a:normAutofit fontScale="90000"/>
          </a:bodyPr>
          <a:lstStyle/>
          <a:p>
            <a:r>
              <a:rPr lang="en-US" altLang="zh-TW" sz="4400" dirty="0">
                <a:latin typeface="Times New Roman" panose="02020603050405020304" pitchFamily="18" charset="0"/>
                <a:cs typeface="Times New Roman" panose="02020603050405020304" pitchFamily="18" charset="0"/>
              </a:rPr>
              <a:t>Alignment with Non-overlapping Inversions in</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O(</a:t>
            </a:r>
            <a:r>
              <a:rPr lang="en-US" altLang="zh-TW" sz="4400" i="1" dirty="0">
                <a:latin typeface="Times New Roman" panose="02020603050405020304" pitchFamily="18" charset="0"/>
                <a:cs typeface="Times New Roman" panose="02020603050405020304" pitchFamily="18" charset="0"/>
              </a:rPr>
              <a:t>n</a:t>
            </a:r>
            <a:r>
              <a:rPr lang="en-US" altLang="zh-TW" sz="4400" baseline="30000" dirty="0">
                <a:latin typeface="Times New Roman" panose="02020603050405020304" pitchFamily="18" charset="0"/>
                <a:cs typeface="Times New Roman" panose="02020603050405020304" pitchFamily="18" charset="0"/>
              </a:rPr>
              <a:t>3</a:t>
            </a:r>
            <a:r>
              <a:rPr lang="en-US" altLang="zh-TW" sz="4400" dirty="0">
                <a:latin typeface="Times New Roman" panose="02020603050405020304" pitchFamily="18" charset="0"/>
                <a:cs typeface="Times New Roman" panose="02020603050405020304" pitchFamily="18" charset="0"/>
              </a:rPr>
              <a:t>)-Time</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609600" y="3656415"/>
            <a:ext cx="11163299" cy="1655762"/>
          </a:xfrm>
        </p:spPr>
        <p:txBody>
          <a:bodyPr>
            <a:noAutofit/>
          </a:bodyPr>
          <a:lstStyle/>
          <a:p>
            <a:r>
              <a:rPr lang="pt-BR" altLang="zh-TW" dirty="0">
                <a:latin typeface="Times New Roman" panose="02020603050405020304" pitchFamily="18" charset="0"/>
                <a:cs typeface="Times New Roman" panose="02020603050405020304" pitchFamily="18" charset="0"/>
              </a:rPr>
              <a:t>Augusto F. Vellozo, Carlos E.R. Alves, and Alair Pereira do Lago</a:t>
            </a:r>
          </a:p>
          <a:p>
            <a:endParaRPr lang="de-DE"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Algorithms in Bioinformatics: 6th International Workshop, WABI 2006, Zurich, Switzerland, September 11-13, 2006. Proceedings (pp.186-196)</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EAEC4D25-9ABF-4EA3-BD8D-ACD84E94CF46}"/>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Aug. 18,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 (1/2)</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p:txBody>
          <a:bodyPr>
            <a:noAutofit/>
          </a:bodyPr>
          <a:lstStyle/>
          <a:p>
            <a:pPr marL="0" indent="0">
              <a:lnSpc>
                <a:spcPts val="3100"/>
              </a:lnSpc>
              <a:spcBef>
                <a:spcPts val="1800"/>
              </a:spcBef>
              <a:buNone/>
            </a:pPr>
            <a:r>
              <a:rPr lang="en-US" altLang="zh-TW" sz="2400" dirty="0">
                <a:latin typeface="Times New Roman" panose="02020603050405020304" pitchFamily="18" charset="0"/>
                <a:cs typeface="Times New Roman" panose="02020603050405020304" pitchFamily="18" charset="0"/>
              </a:rPr>
              <a:t>Alignments of sequences are widely used for biological sequence comparisons. Only biological events like mutations, insertions and deletions are usually modeled and other biological events like inversions are not automatically detected by the usual alignment algorithms. </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Alignment with inversions does not have a known polynomial algorithm and a simplification to the problem that considers only non-overlapping inversions were proposed by </a:t>
            </a:r>
            <a:r>
              <a:rPr lang="en-US" altLang="zh-TW" sz="2400" dirty="0" err="1">
                <a:latin typeface="Times New Roman" panose="02020603050405020304" pitchFamily="18" charset="0"/>
                <a:cs typeface="Times New Roman" panose="02020603050405020304" pitchFamily="18" charset="0"/>
              </a:rPr>
              <a:t>Schöniger</a:t>
            </a:r>
            <a:r>
              <a:rPr lang="en-US" altLang="zh-TW" sz="2400" dirty="0">
                <a:latin typeface="Times New Roman" panose="02020603050405020304" pitchFamily="18" charset="0"/>
                <a:cs typeface="Times New Roman" panose="02020603050405020304" pitchFamily="18" charset="0"/>
              </a:rPr>
              <a:t> and Waterman [20] in 1992 as well as a corresponding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6</a:t>
            </a:r>
            <a:r>
              <a:rPr lang="en-US" altLang="zh-TW" sz="2400" dirty="0">
                <a:latin typeface="Times New Roman" panose="02020603050405020304" pitchFamily="18" charset="0"/>
                <a:cs typeface="Times New Roman" panose="02020603050405020304" pitchFamily="18" charset="0"/>
              </a:rPr>
              <a:t>) solution. An improvement to an algorithm with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log</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)-time complexity was announced in an extended abstract [1] and, in this present paper, we give an algorithm that solves this simplified problem in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)-time and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)-space in the more general framework of an edit graph.</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80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p:txBody>
          <a:bodyPr>
            <a:noAutofit/>
          </a:bodyPr>
          <a:lstStyle/>
          <a:p>
            <a:pPr marL="0" indent="0">
              <a:lnSpc>
                <a:spcPts val="3100"/>
              </a:lnSpc>
              <a:buNone/>
            </a:pPr>
            <a:r>
              <a:rPr lang="en-US" altLang="zh-TW" sz="2400" dirty="0">
                <a:latin typeface="Times New Roman" panose="02020603050405020304" pitchFamily="18" charset="0"/>
                <a:cs typeface="Times New Roman" panose="02020603050405020304" pitchFamily="18" charset="0"/>
              </a:rPr>
              <a:t>Inversions have recently [4,7,13,17] been discovered to be very important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in Comparative Genomics and Scherer et al. in 2005 [11] experimentally</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verified inversions that were found to be polymorphic in the human</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genome. Moreover, 10% of the 1,576 putative inversions reported overlap</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RefSeq</a:t>
            </a:r>
            <a:r>
              <a:rPr lang="en-US" altLang="zh-TW" sz="2400" dirty="0">
                <a:latin typeface="Times New Roman" panose="02020603050405020304" pitchFamily="18" charset="0"/>
                <a:cs typeface="Times New Roman" panose="02020603050405020304" pitchFamily="18" charset="0"/>
              </a:rPr>
              <a:t> genes in the human genome. We believe our new algorithms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may open the possibility to more detailed studies of inversions on DNA</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sequences using exact optimization algorithms and we hope this may be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particularly interesting if applied to regions around known rearrangements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boundaries. Scherer report 29 such cases and prioritize them as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candidates for biological and evolutionary studies.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828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Alignments with non-overlapping inversions</a:t>
            </a:r>
            <a:endParaRPr lang="zh-TW" altLang="en-US" sz="36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F81D82EF-9396-426D-9DCA-32D664BB786F}"/>
              </a:ext>
            </a:extLst>
          </p:cNvPr>
          <p:cNvSpPr txBox="1"/>
          <p:nvPr/>
        </p:nvSpPr>
        <p:spPr>
          <a:xfrm>
            <a:off x="981075" y="2085975"/>
            <a:ext cx="10953750" cy="4154984"/>
          </a:xfrm>
          <a:prstGeom prst="rect">
            <a:avLst/>
          </a:prstGeom>
          <a:noFill/>
        </p:spPr>
        <p:txBody>
          <a:bodyPr wrap="square" rtlCol="0">
            <a:spAutoFit/>
          </a:bodyPr>
          <a:lstStyle/>
          <a:p>
            <a:r>
              <a:rPr lang="en-US" altLang="zh-TW" sz="2400" dirty="0">
                <a:latin typeface="Courier New" panose="02070309020205020404" pitchFamily="49" charset="0"/>
                <a:cs typeface="Courier New" panose="02070309020205020404" pitchFamily="49" charset="0"/>
              </a:rPr>
              <a:t>A  = ACTTACCATGCACT</a:t>
            </a:r>
          </a:p>
          <a:p>
            <a:r>
              <a:rPr lang="en-US" altLang="zh-TW" sz="2400" dirty="0">
                <a:latin typeface="Courier New" panose="02070309020205020404" pitchFamily="49" charset="0"/>
                <a:cs typeface="Courier New" panose="02070309020205020404" pitchFamily="49" charset="0"/>
              </a:rPr>
              <a:t>B  = ATC</a:t>
            </a:r>
            <a:r>
              <a:rPr lang="en-US" altLang="zh-TW" sz="2400" dirty="0">
                <a:solidFill>
                  <a:srgbClr val="FF0000"/>
                </a:solidFill>
                <a:latin typeface="Courier New" panose="02070309020205020404" pitchFamily="49" charset="0"/>
                <a:cs typeface="Courier New" panose="02070309020205020404" pitchFamily="49" charset="0"/>
              </a:rPr>
              <a:t>GCATGGT</a:t>
            </a:r>
            <a:r>
              <a:rPr lang="en-US" altLang="zh-TW" sz="2400" dirty="0">
                <a:latin typeface="Courier New" panose="02070309020205020404" pitchFamily="49" charset="0"/>
                <a:cs typeface="Courier New" panose="02070309020205020404" pitchFamily="49" charset="0"/>
              </a:rPr>
              <a:t>ACT</a:t>
            </a:r>
          </a:p>
          <a:p>
            <a:r>
              <a:rPr lang="en-US" altLang="zh-TW" sz="2400" dirty="0">
                <a:latin typeface="Courier New" panose="02070309020205020404" pitchFamily="49" charset="0"/>
                <a:cs typeface="Courier New" panose="02070309020205020404" pitchFamily="49" charset="0"/>
              </a:rPr>
              <a:t>B’ = A</a:t>
            </a:r>
            <a:r>
              <a:rPr lang="en-US" altLang="zh-TW" sz="2400" dirty="0">
                <a:solidFill>
                  <a:srgbClr val="00B0F0"/>
                </a:solidFill>
                <a:latin typeface="Courier New" panose="02070309020205020404" pitchFamily="49" charset="0"/>
                <a:cs typeface="Courier New" panose="02070309020205020404" pitchFamily="49" charset="0"/>
              </a:rPr>
              <a:t>_</a:t>
            </a:r>
            <a:r>
              <a:rPr lang="en-US" altLang="zh-TW" sz="2400" dirty="0">
                <a:latin typeface="Courier New" panose="02070309020205020404" pitchFamily="49" charset="0"/>
                <a:cs typeface="Courier New" panose="02070309020205020404" pitchFamily="49" charset="0"/>
              </a:rPr>
              <a:t>T</a:t>
            </a:r>
            <a:r>
              <a:rPr lang="en-US" altLang="zh-TW" sz="2400" dirty="0">
                <a:solidFill>
                  <a:srgbClr val="00B0F0"/>
                </a:solidFill>
                <a:latin typeface="Courier New" panose="02070309020205020404" pitchFamily="49" charset="0"/>
                <a:cs typeface="Courier New" panose="02070309020205020404" pitchFamily="49" charset="0"/>
              </a:rPr>
              <a:t>CG_</a:t>
            </a:r>
            <a:r>
              <a:rPr lang="en-US" altLang="zh-TW" sz="2400" dirty="0">
                <a:latin typeface="Courier New" panose="02070309020205020404" pitchFamily="49" charset="0"/>
                <a:cs typeface="Courier New" panose="02070309020205020404" pitchFamily="49" charset="0"/>
              </a:rPr>
              <a:t>CATG</a:t>
            </a:r>
            <a:r>
              <a:rPr lang="en-US" altLang="zh-TW" sz="2400" dirty="0">
                <a:solidFill>
                  <a:srgbClr val="00B0F0"/>
                </a:solidFill>
                <a:latin typeface="Courier New" panose="02070309020205020404" pitchFamily="49" charset="0"/>
                <a:cs typeface="Courier New" panose="02070309020205020404" pitchFamily="49" charset="0"/>
              </a:rPr>
              <a:t>GT</a:t>
            </a:r>
            <a:r>
              <a:rPr lang="en-US" altLang="zh-TW" sz="2400" dirty="0">
                <a:latin typeface="Courier New" panose="02070309020205020404" pitchFamily="49" charset="0"/>
                <a:cs typeface="Courier New" panose="02070309020205020404" pitchFamily="49" charset="0"/>
              </a:rPr>
              <a:t>ACT</a:t>
            </a:r>
          </a:p>
          <a:p>
            <a:endParaRPr lang="en-US" altLang="zh-TW" sz="2400" dirty="0">
              <a:latin typeface="Courier New" panose="02070309020205020404" pitchFamily="49" charset="0"/>
              <a:cs typeface="Courier New" panose="02070309020205020404" pitchFamily="49" charset="0"/>
            </a:endParaRPr>
          </a:p>
          <a:p>
            <a:r>
              <a:rPr lang="en-US" altLang="zh-TW" sz="2400" dirty="0">
                <a:latin typeface="Times New Roman" panose="02020603050405020304" pitchFamily="18" charset="0"/>
                <a:cs typeface="Times New Roman" panose="02020603050405020304" pitchFamily="18" charset="0"/>
              </a:rPr>
              <a:t>Inversion of string </a:t>
            </a:r>
            <a:r>
              <a:rPr lang="en-US" altLang="zh-TW" sz="2400" dirty="0">
                <a:latin typeface="+mj-lt"/>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GCATGGT</a:t>
            </a:r>
            <a:r>
              <a:rPr lang="en-US" altLang="zh-TW" sz="2400" dirty="0">
                <a:latin typeface="+mj-lt"/>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=&gt; ACCATGC</a:t>
            </a:r>
          </a:p>
          <a:p>
            <a:r>
              <a:rPr lang="en-US" altLang="zh-TW" sz="2400" dirty="0">
                <a:latin typeface="Times New Roman" panose="02020603050405020304" pitchFamily="18" charset="0"/>
                <a:cs typeface="Times New Roman" panose="02020603050405020304" pitchFamily="18" charset="0"/>
              </a:rPr>
              <a:t>Inversion = </a:t>
            </a:r>
            <a:r>
              <a:rPr lang="en-US" altLang="zh-TW" sz="2400" dirty="0">
                <a:solidFill>
                  <a:schemeClr val="bg1">
                    <a:lumMod val="75000"/>
                  </a:schemeClr>
                </a:solidFill>
                <a:latin typeface="Times New Roman" panose="02020603050405020304" pitchFamily="18" charset="0"/>
                <a:cs typeface="Times New Roman" panose="02020603050405020304" pitchFamily="18" charset="0"/>
              </a:rPr>
              <a:t>removed,</a:t>
            </a:r>
            <a:r>
              <a:rPr lang="en-US" altLang="zh-TW" sz="2400" dirty="0">
                <a:latin typeface="Times New Roman" panose="02020603050405020304" pitchFamily="18" charset="0"/>
                <a:cs typeface="Times New Roman" panose="02020603050405020304" pitchFamily="18" charset="0"/>
              </a:rPr>
              <a:t> reverted, complemented </a:t>
            </a:r>
            <a:r>
              <a:rPr lang="en-US" altLang="zh-TW" sz="2400" dirty="0">
                <a:solidFill>
                  <a:schemeClr val="bg1">
                    <a:lumMod val="75000"/>
                  </a:schemeClr>
                </a:solidFill>
                <a:latin typeface="Times New Roman" panose="02020603050405020304" pitchFamily="18" charset="0"/>
                <a:cs typeface="Times New Roman" panose="02020603050405020304" pitchFamily="18" charset="0"/>
              </a:rPr>
              <a:t>and inserted back</a:t>
            </a:r>
          </a:p>
          <a:p>
            <a:endParaRPr lang="en-US" altLang="zh-TW" sz="2400" dirty="0">
              <a:solidFill>
                <a:schemeClr val="bg1">
                  <a:lumMod val="75000"/>
                </a:schemeClr>
              </a:solidFill>
              <a:latin typeface="Times New Roman" panose="02020603050405020304" pitchFamily="18" charset="0"/>
              <a:cs typeface="Times New Roman" panose="02020603050405020304" pitchFamily="18" charset="0"/>
            </a:endParaRPr>
          </a:p>
          <a:p>
            <a:r>
              <a:rPr lang="en-US" altLang="zh-TW" sz="2400" dirty="0">
                <a:latin typeface="Courier New" panose="02070309020205020404" pitchFamily="49" charset="0"/>
                <a:cs typeface="Courier New" panose="02070309020205020404" pitchFamily="49" charset="0"/>
              </a:rPr>
              <a:t>A  = ACTT</a:t>
            </a:r>
            <a:r>
              <a:rPr lang="en-US" altLang="zh-TW" sz="2400" dirty="0">
                <a:solidFill>
                  <a:srgbClr val="FF0000"/>
                </a:solidFill>
                <a:latin typeface="Courier New" panose="02070309020205020404" pitchFamily="49" charset="0"/>
                <a:cs typeface="Courier New" panose="02070309020205020404" pitchFamily="49" charset="0"/>
              </a:rPr>
              <a:t>ACCATGC</a:t>
            </a:r>
            <a:r>
              <a:rPr lang="en-US" altLang="zh-TW" sz="2400" dirty="0">
                <a:latin typeface="Courier New" panose="02070309020205020404" pitchFamily="49" charset="0"/>
                <a:cs typeface="Courier New" panose="02070309020205020404" pitchFamily="49" charset="0"/>
              </a:rPr>
              <a:t>ACT</a:t>
            </a:r>
          </a:p>
          <a:p>
            <a:r>
              <a:rPr lang="en-US" altLang="zh-TW" sz="2400" dirty="0">
                <a:latin typeface="Courier New" panose="02070309020205020404" pitchFamily="49" charset="0"/>
                <a:cs typeface="Courier New" panose="02070309020205020404" pitchFamily="49" charset="0"/>
              </a:rPr>
              <a:t>B’ = A</a:t>
            </a:r>
            <a:r>
              <a:rPr lang="en-US" altLang="zh-TW" sz="2400" dirty="0">
                <a:solidFill>
                  <a:srgbClr val="00B0F0"/>
                </a:solidFill>
                <a:latin typeface="Courier New" panose="02070309020205020404" pitchFamily="49" charset="0"/>
                <a:cs typeface="Courier New" panose="02070309020205020404" pitchFamily="49" charset="0"/>
              </a:rPr>
              <a:t>_</a:t>
            </a:r>
            <a:r>
              <a:rPr lang="en-US" altLang="zh-TW" sz="2400" dirty="0">
                <a:latin typeface="Courier New" panose="02070309020205020404" pitchFamily="49" charset="0"/>
                <a:cs typeface="Courier New" panose="02070309020205020404" pitchFamily="49" charset="0"/>
              </a:rPr>
              <a:t>T</a:t>
            </a:r>
            <a:r>
              <a:rPr lang="en-US" altLang="zh-TW" sz="2400" dirty="0">
                <a:solidFill>
                  <a:srgbClr val="00B0F0"/>
                </a:solidFill>
                <a:latin typeface="Courier New" panose="02070309020205020404" pitchFamily="49" charset="0"/>
                <a:cs typeface="Courier New" panose="02070309020205020404" pitchFamily="49" charset="0"/>
              </a:rPr>
              <a:t>T</a:t>
            </a:r>
            <a:r>
              <a:rPr lang="en-US" altLang="zh-TW" sz="2400" dirty="0">
                <a:solidFill>
                  <a:srgbClr val="FF0000"/>
                </a:solidFill>
                <a:latin typeface="Courier New" panose="02070309020205020404" pitchFamily="49" charset="0"/>
                <a:cs typeface="Courier New" panose="02070309020205020404" pitchFamily="49" charset="0"/>
              </a:rPr>
              <a:t>ACCATGC</a:t>
            </a:r>
            <a:r>
              <a:rPr lang="en-US" altLang="zh-TW" sz="2400" dirty="0">
                <a:latin typeface="Courier New" panose="02070309020205020404" pitchFamily="49" charset="0"/>
                <a:cs typeface="Courier New" panose="02070309020205020404" pitchFamily="49" charset="0"/>
              </a:rPr>
              <a:t>ACT</a:t>
            </a:r>
          </a:p>
          <a:p>
            <a:endParaRPr lang="en-US" altLang="zh-TW" sz="2400" dirty="0">
              <a:latin typeface="Courier New" panose="02070309020205020404" pitchFamily="49" charset="0"/>
              <a:cs typeface="Courier New" panose="02070309020205020404" pitchFamily="49" charset="0"/>
            </a:endParaRPr>
          </a:p>
          <a:p>
            <a:r>
              <a:rPr lang="zh-TW" altLang="en-US" sz="2400" dirty="0">
                <a:latin typeface="Times New Roman" panose="02020603050405020304" pitchFamily="18" charset="0"/>
                <a:ea typeface="標楷體" panose="03000509000000000000" pitchFamily="65" charset="-120"/>
                <a:cs typeface="Courier New" panose="02070309020205020404" pitchFamily="49" charset="0"/>
              </a:rPr>
              <a:t>原本要 </a:t>
            </a:r>
            <a:r>
              <a:rPr lang="en-US" altLang="zh-TW" sz="2400" dirty="0">
                <a:latin typeface="Times New Roman" panose="02020603050405020304" pitchFamily="18" charset="0"/>
                <a:ea typeface="標楷體" panose="03000509000000000000" pitchFamily="65" charset="-120"/>
                <a:cs typeface="Courier New" panose="02070309020205020404" pitchFamily="49" charset="0"/>
              </a:rPr>
              <a:t>6</a:t>
            </a:r>
            <a:r>
              <a:rPr lang="zh-TW" altLang="en-US" sz="2400" dirty="0">
                <a:latin typeface="Times New Roman" panose="02020603050405020304" pitchFamily="18" charset="0"/>
                <a:ea typeface="標楷體" panose="03000509000000000000" pitchFamily="65" charset="-120"/>
                <a:cs typeface="Courier New" panose="02070309020205020404" pitchFamily="49" charset="0"/>
              </a:rPr>
              <a:t> </a:t>
            </a:r>
            <a:r>
              <a:rPr lang="en-US" altLang="zh-TW" sz="2400" dirty="0">
                <a:latin typeface="Times New Roman" panose="02020603050405020304" pitchFamily="18" charset="0"/>
                <a:ea typeface="標楷體" panose="03000509000000000000" pitchFamily="65" charset="-120"/>
                <a:cs typeface="Courier New" panose="02070309020205020404" pitchFamily="49" charset="0"/>
              </a:rPr>
              <a:t>steps (</a:t>
            </a:r>
            <a:r>
              <a:rPr lang="zh-TW" altLang="en-US" sz="2400" dirty="0">
                <a:latin typeface="Times New Roman" panose="02020603050405020304" pitchFamily="18" charset="0"/>
                <a:ea typeface="標楷體" panose="03000509000000000000" pitchFamily="65" charset="-120"/>
                <a:cs typeface="Courier New" panose="02070309020205020404" pitchFamily="49" charset="0"/>
              </a:rPr>
              <a:t>刪除、插入、替換</a:t>
            </a:r>
            <a:r>
              <a:rPr lang="en-US" altLang="zh-TW" sz="2400" dirty="0">
                <a:latin typeface="Times New Roman" panose="02020603050405020304" pitchFamily="18" charset="0"/>
                <a:ea typeface="標楷體" panose="03000509000000000000" pitchFamily="65" charset="-120"/>
                <a:cs typeface="Courier New" panose="02070309020205020404" pitchFamily="49" charset="0"/>
              </a:rPr>
              <a:t>)</a:t>
            </a:r>
            <a:r>
              <a:rPr lang="zh-TW" altLang="en-US" sz="2400" dirty="0">
                <a:latin typeface="Times New Roman" panose="02020603050405020304" pitchFamily="18" charset="0"/>
                <a:ea typeface="標楷體" panose="03000509000000000000" pitchFamily="65" charset="-120"/>
                <a:cs typeface="Courier New" panose="02070309020205020404" pitchFamily="49" charset="0"/>
              </a:rPr>
              <a:t>，加入 </a:t>
            </a:r>
            <a:r>
              <a:rPr lang="en-US" altLang="zh-TW" sz="2400" dirty="0">
                <a:latin typeface="Times New Roman" panose="02020603050405020304" pitchFamily="18" charset="0"/>
                <a:ea typeface="標楷體" panose="03000509000000000000" pitchFamily="65" charset="-120"/>
                <a:cs typeface="Courier New" panose="02070309020205020404" pitchFamily="49" charset="0"/>
              </a:rPr>
              <a:t>inversion</a:t>
            </a:r>
            <a:r>
              <a:rPr lang="zh-TW" altLang="en-US" sz="2400" dirty="0">
                <a:latin typeface="Times New Roman" panose="02020603050405020304" pitchFamily="18" charset="0"/>
                <a:ea typeface="標楷體" panose="03000509000000000000" pitchFamily="65" charset="-120"/>
                <a:cs typeface="Courier New" panose="02070309020205020404" pitchFamily="49" charset="0"/>
              </a:rPr>
              <a:t> 後只要 </a:t>
            </a:r>
            <a:r>
              <a:rPr lang="en-US" altLang="zh-TW" sz="2400" dirty="0">
                <a:latin typeface="Times New Roman" panose="02020603050405020304" pitchFamily="18" charset="0"/>
                <a:ea typeface="標楷體" panose="03000509000000000000" pitchFamily="65" charset="-120"/>
                <a:cs typeface="Courier New" panose="02070309020205020404" pitchFamily="49" charset="0"/>
              </a:rPr>
              <a:t>3</a:t>
            </a:r>
            <a:r>
              <a:rPr lang="zh-TW" altLang="en-US" sz="2400" dirty="0">
                <a:latin typeface="Times New Roman" panose="02020603050405020304" pitchFamily="18" charset="0"/>
                <a:ea typeface="標楷體" panose="03000509000000000000" pitchFamily="65" charset="-120"/>
                <a:cs typeface="Courier New" panose="02070309020205020404" pitchFamily="49" charset="0"/>
              </a:rPr>
              <a:t> </a:t>
            </a:r>
            <a:r>
              <a:rPr lang="en-US" altLang="zh-TW" sz="2400" dirty="0">
                <a:latin typeface="Times New Roman" panose="02020603050405020304" pitchFamily="18" charset="0"/>
                <a:ea typeface="標楷體" panose="03000509000000000000" pitchFamily="65" charset="-120"/>
                <a:cs typeface="Courier New" panose="02070309020205020404" pitchFamily="49" charset="0"/>
              </a:rPr>
              <a:t>steps</a:t>
            </a:r>
          </a:p>
        </p:txBody>
      </p:sp>
    </p:spTree>
    <p:extLst>
      <p:ext uri="{BB962C8B-B14F-4D97-AF65-F5344CB8AC3E}">
        <p14:creationId xmlns:p14="http://schemas.microsoft.com/office/powerpoint/2010/main" val="2122677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Edit graph &amp; Extended edit graph</a:t>
            </a:r>
            <a:endParaRPr lang="zh-TW" altLang="en-US" sz="36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FA5086D-9C69-4F43-A0AB-A9117608BB1A}"/>
              </a:ext>
            </a:extLst>
          </p:cNvPr>
          <p:cNvPicPr>
            <a:picLocks noChangeAspect="1"/>
          </p:cNvPicPr>
          <p:nvPr/>
        </p:nvPicPr>
        <p:blipFill>
          <a:blip r:embed="rId2"/>
          <a:stretch>
            <a:fillRect/>
          </a:stretch>
        </p:blipFill>
        <p:spPr>
          <a:xfrm>
            <a:off x="4190747" y="2219172"/>
            <a:ext cx="6458459" cy="3262955"/>
          </a:xfrm>
          <a:prstGeom prst="rect">
            <a:avLst/>
          </a:prstGeom>
        </p:spPr>
      </p:pic>
      <p:pic>
        <p:nvPicPr>
          <p:cNvPr id="5" name="圖片 4">
            <a:extLst>
              <a:ext uri="{FF2B5EF4-FFF2-40B4-BE49-F238E27FC236}">
                <a16:creationId xmlns:a16="http://schemas.microsoft.com/office/drawing/2014/main" id="{233F8006-8CCA-4D4A-A45E-9AC245CB48A3}"/>
              </a:ext>
            </a:extLst>
          </p:cNvPr>
          <p:cNvPicPr>
            <a:picLocks noChangeAspect="1"/>
          </p:cNvPicPr>
          <p:nvPr/>
        </p:nvPicPr>
        <p:blipFill>
          <a:blip r:embed="rId3"/>
          <a:stretch>
            <a:fillRect/>
          </a:stretch>
        </p:blipFill>
        <p:spPr>
          <a:xfrm>
            <a:off x="903352" y="2228696"/>
            <a:ext cx="2983273" cy="3262955"/>
          </a:xfrm>
          <a:prstGeom prst="rect">
            <a:avLst/>
          </a:prstGeom>
        </p:spPr>
      </p:pic>
      <p:sp>
        <p:nvSpPr>
          <p:cNvPr id="6" name="文字方塊 5">
            <a:extLst>
              <a:ext uri="{FF2B5EF4-FFF2-40B4-BE49-F238E27FC236}">
                <a16:creationId xmlns:a16="http://schemas.microsoft.com/office/drawing/2014/main" id="{4A286ACD-0010-488C-AA09-A3E8B95C7060}"/>
              </a:ext>
            </a:extLst>
          </p:cNvPr>
          <p:cNvSpPr txBox="1"/>
          <p:nvPr/>
        </p:nvSpPr>
        <p:spPr>
          <a:xfrm>
            <a:off x="5173473" y="1767031"/>
            <a:ext cx="40957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A342BCDB-D5CB-4952-8487-02F8CEFDD163}"/>
              </a:ext>
            </a:extLst>
          </p:cNvPr>
          <p:cNvSpPr txBox="1"/>
          <p:nvPr/>
        </p:nvSpPr>
        <p:spPr>
          <a:xfrm>
            <a:off x="1207474" y="1821728"/>
            <a:ext cx="261992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a:t>
            </a:r>
            <a:r>
              <a:rPr lang="en-US" altLang="zh-TW" sz="2400" dirty="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Inversion of G</a:t>
            </a:r>
            <a:r>
              <a:rPr lang="en-US" altLang="zh-TW" sz="2400" dirty="0">
                <a:cs typeface="Times New Roman" panose="02020603050405020304" pitchFamily="18" charset="0"/>
              </a:rPr>
              <a:t>) </a:t>
            </a:r>
            <a:endParaRPr lang="zh-TW" altLang="en-US" sz="2400" dirty="0">
              <a:cs typeface="Times New Roman" panose="02020603050405020304" pitchFamily="18" charset="0"/>
            </a:endParaRPr>
          </a:p>
        </p:txBody>
      </p:sp>
      <p:sp>
        <p:nvSpPr>
          <p:cNvPr id="10" name="文字方塊 9">
            <a:extLst>
              <a:ext uri="{FF2B5EF4-FFF2-40B4-BE49-F238E27FC236}">
                <a16:creationId xmlns:a16="http://schemas.microsoft.com/office/drawing/2014/main" id="{B4CCFEB1-0018-4795-8560-E121B573D814}"/>
              </a:ext>
            </a:extLst>
          </p:cNvPr>
          <p:cNvSpPr txBox="1"/>
          <p:nvPr/>
        </p:nvSpPr>
        <p:spPr>
          <a:xfrm>
            <a:off x="8566321" y="1774097"/>
            <a:ext cx="40957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D217F681-7E4C-4C14-9DA1-2882DFA195D7}"/>
              </a:ext>
            </a:extLst>
          </p:cNvPr>
          <p:cNvSpPr/>
          <p:nvPr/>
        </p:nvSpPr>
        <p:spPr>
          <a:xfrm>
            <a:off x="969091" y="2381250"/>
            <a:ext cx="2106550" cy="1238250"/>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單箭頭接點 14">
            <a:extLst>
              <a:ext uri="{FF2B5EF4-FFF2-40B4-BE49-F238E27FC236}">
                <a16:creationId xmlns:a16="http://schemas.microsoft.com/office/drawing/2014/main" id="{CCC995F4-24E5-49FD-88A5-AF246838510D}"/>
              </a:ext>
            </a:extLst>
          </p:cNvPr>
          <p:cNvCxnSpPr>
            <a:cxnSpLocks/>
            <a:stCxn id="13" idx="3"/>
          </p:cNvCxnSpPr>
          <p:nvPr/>
        </p:nvCxnSpPr>
        <p:spPr>
          <a:xfrm flipV="1">
            <a:off x="3075641" y="2821401"/>
            <a:ext cx="5229736" cy="178974"/>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1D4BAA2A-8C3B-4CF0-B529-C30D7E84D293}"/>
              </a:ext>
            </a:extLst>
          </p:cNvPr>
          <p:cNvSpPr txBox="1"/>
          <p:nvPr/>
        </p:nvSpPr>
        <p:spPr>
          <a:xfrm>
            <a:off x="3856437" y="2483246"/>
            <a:ext cx="1387584" cy="2677656"/>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A</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solidFill>
                  <a:srgbClr val="FF0000"/>
                </a:solidFill>
                <a:latin typeface="Times New Roman" panose="02020603050405020304" pitchFamily="18" charset="0"/>
                <a:cs typeface="Times New Roman" panose="02020603050405020304" pitchFamily="18" charset="0"/>
              </a:rPr>
              <a:t>A</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solidFill>
                  <a:srgbClr val="FF0000"/>
                </a:solidFill>
                <a:latin typeface="Times New Roman" panose="02020603050405020304" pitchFamily="18" charset="0"/>
                <a:cs typeface="Times New Roman" panose="02020603050405020304" pitchFamily="18" charset="0"/>
              </a:rPr>
              <a:t>T</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solidFill>
                  <a:srgbClr val="FF0000"/>
                </a:solidFill>
                <a:latin typeface="Times New Roman" panose="02020603050405020304" pitchFamily="18" charset="0"/>
                <a:cs typeface="Times New Roman" panose="02020603050405020304" pitchFamily="18" charset="0"/>
              </a:rPr>
              <a:t>G</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2DDF4E6C-9B7A-4BE8-BBAD-40FACE6375EF}"/>
              </a:ext>
            </a:extLst>
          </p:cNvPr>
          <p:cNvSpPr txBox="1"/>
          <p:nvPr/>
        </p:nvSpPr>
        <p:spPr>
          <a:xfrm>
            <a:off x="389337" y="2521345"/>
            <a:ext cx="1387584" cy="2677656"/>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C</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solidFill>
                  <a:srgbClr val="FF0000"/>
                </a:solidFill>
                <a:latin typeface="Times New Roman" panose="02020603050405020304" pitchFamily="18" charset="0"/>
                <a:cs typeface="Times New Roman" panose="02020603050405020304" pitchFamily="18" charset="0"/>
              </a:rPr>
              <a:t>A</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solidFill>
                  <a:srgbClr val="FF0000"/>
                </a:solidFill>
                <a:latin typeface="Times New Roman" panose="02020603050405020304" pitchFamily="18" charset="0"/>
                <a:cs typeface="Times New Roman" panose="02020603050405020304" pitchFamily="18" charset="0"/>
              </a:rPr>
              <a:t>T</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solidFill>
                  <a:srgbClr val="FF0000"/>
                </a:solidFill>
                <a:latin typeface="Times New Roman" panose="02020603050405020304" pitchFamily="18" charset="0"/>
                <a:cs typeface="Times New Roman" panose="02020603050405020304" pitchFamily="18" charset="0"/>
              </a:rPr>
              <a:t>T</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
        <p:nvSpPr>
          <p:cNvPr id="20" name="橢圓 19">
            <a:extLst>
              <a:ext uri="{FF2B5EF4-FFF2-40B4-BE49-F238E27FC236}">
                <a16:creationId xmlns:a16="http://schemas.microsoft.com/office/drawing/2014/main" id="{0F784B19-321C-4785-9651-B3F5D041C2D2}"/>
              </a:ext>
            </a:extLst>
          </p:cNvPr>
          <p:cNvSpPr/>
          <p:nvPr/>
        </p:nvSpPr>
        <p:spPr>
          <a:xfrm>
            <a:off x="1197949" y="2600324"/>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5C67AAF4-C355-440E-B703-ADE0735ADE5D}"/>
              </a:ext>
            </a:extLst>
          </p:cNvPr>
          <p:cNvSpPr/>
          <p:nvPr/>
        </p:nvSpPr>
        <p:spPr>
          <a:xfrm>
            <a:off x="2734104" y="3365475"/>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2541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Algorithm</a:t>
            </a:r>
            <a:endParaRPr lang="zh-TW" altLang="en-US" sz="36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9486E57A-0053-4950-8BD0-54A16F7F41C0}"/>
              </a:ext>
            </a:extLst>
          </p:cNvPr>
          <p:cNvPicPr>
            <a:picLocks noChangeAspect="1"/>
          </p:cNvPicPr>
          <p:nvPr/>
        </p:nvPicPr>
        <p:blipFill>
          <a:blip r:embed="rId2"/>
          <a:stretch>
            <a:fillRect/>
          </a:stretch>
        </p:blipFill>
        <p:spPr>
          <a:xfrm>
            <a:off x="2078472" y="1419887"/>
            <a:ext cx="8035056" cy="5225388"/>
          </a:xfrm>
          <a:prstGeom prst="rect">
            <a:avLst/>
          </a:prstGeom>
        </p:spPr>
      </p:pic>
      <p:sp>
        <p:nvSpPr>
          <p:cNvPr id="3" name="矩形 2">
            <a:extLst>
              <a:ext uri="{FF2B5EF4-FFF2-40B4-BE49-F238E27FC236}">
                <a16:creationId xmlns:a16="http://schemas.microsoft.com/office/drawing/2014/main" id="{534E1257-EE6C-4844-AE27-E33D71C5784D}"/>
              </a:ext>
            </a:extLst>
          </p:cNvPr>
          <p:cNvSpPr/>
          <p:nvPr/>
        </p:nvSpPr>
        <p:spPr>
          <a:xfrm>
            <a:off x="3400424" y="5019675"/>
            <a:ext cx="6610349" cy="125730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02FB00BF-ED63-4572-B7D0-526E21621047}"/>
              </a:ext>
            </a:extLst>
          </p:cNvPr>
          <p:cNvSpPr txBox="1"/>
          <p:nvPr/>
        </p:nvSpPr>
        <p:spPr>
          <a:xfrm>
            <a:off x="9998543" y="5451342"/>
            <a:ext cx="122872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mn</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659E9D19-1B56-4B8A-A53E-5AB8FF60C47B}"/>
              </a:ext>
            </a:extLst>
          </p:cNvPr>
          <p:cNvSpPr txBox="1"/>
          <p:nvPr/>
        </p:nvSpPr>
        <p:spPr>
          <a:xfrm>
            <a:off x="5900737" y="767077"/>
            <a:ext cx="211931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 = </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 |t| = </a:t>
            </a:r>
            <a:r>
              <a:rPr lang="en-US" altLang="zh-TW" sz="2400" i="1" dirty="0">
                <a:latin typeface="Times New Roman" panose="02020603050405020304" pitchFamily="18" charset="0"/>
                <a:cs typeface="Times New Roman" panose="02020603050405020304" pitchFamily="18" charset="0"/>
              </a:rPr>
              <a:t>m</a:t>
            </a:r>
            <a:endParaRPr lang="zh-TW" altLang="en-US" sz="2400" i="1" dirty="0">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6E096FF0-C1AB-4081-8684-127BD5EDD573}"/>
              </a:ext>
            </a:extLst>
          </p:cNvPr>
          <p:cNvSpPr/>
          <p:nvPr/>
        </p:nvSpPr>
        <p:spPr>
          <a:xfrm>
            <a:off x="3400425" y="3502967"/>
            <a:ext cx="6610350" cy="1325563"/>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67B02077-1032-4128-B17C-3429C41D16B0}"/>
              </a:ext>
            </a:extLst>
          </p:cNvPr>
          <p:cNvSpPr txBox="1"/>
          <p:nvPr/>
        </p:nvSpPr>
        <p:spPr>
          <a:xfrm>
            <a:off x="10010775" y="3934915"/>
            <a:ext cx="122872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DF9A024F-7B4B-43E0-9253-3D1BF44F1854}"/>
              </a:ext>
            </a:extLst>
          </p:cNvPr>
          <p:cNvSpPr/>
          <p:nvPr/>
        </p:nvSpPr>
        <p:spPr>
          <a:xfrm>
            <a:off x="2495548" y="2210890"/>
            <a:ext cx="8420101" cy="4281985"/>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4F1BFC4C-6324-48EF-AFD1-9A61A865AF15}"/>
              </a:ext>
            </a:extLst>
          </p:cNvPr>
          <p:cNvSpPr txBox="1"/>
          <p:nvPr/>
        </p:nvSpPr>
        <p:spPr>
          <a:xfrm>
            <a:off x="9335869" y="2272853"/>
            <a:ext cx="2578535"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 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 </a:t>
            </a:r>
            <a:r>
              <a:rPr lang="en-US" altLang="zh-TW" sz="2400" i="1" dirty="0" err="1">
                <a:latin typeface="Times New Roman" panose="02020603050405020304" pitchFamily="18" charset="0"/>
                <a:cs typeface="Times New Roman" panose="02020603050405020304" pitchFamily="18" charset="0"/>
              </a:rPr>
              <a:t>mn</a:t>
            </a:r>
            <a:r>
              <a:rPr lang="en-US" altLang="zh-TW" sz="24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 O(</a:t>
            </a:r>
            <a:r>
              <a:rPr lang="en-US" altLang="zh-TW" sz="2400" i="1" dirty="0">
                <a:latin typeface="Times New Roman" panose="02020603050405020304" pitchFamily="18" charset="0"/>
                <a:cs typeface="Times New Roman" panose="02020603050405020304" pitchFamily="18" charset="0"/>
              </a:rPr>
              <a:t>n</a:t>
            </a:r>
            <a:r>
              <a:rPr lang="en-US" altLang="zh-TW" sz="2400" baseline="30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cxnSp>
        <p:nvCxnSpPr>
          <p:cNvPr id="18" name="直線單箭頭接點 17">
            <a:extLst>
              <a:ext uri="{FF2B5EF4-FFF2-40B4-BE49-F238E27FC236}">
                <a16:creationId xmlns:a16="http://schemas.microsoft.com/office/drawing/2014/main" id="{D5BBD1AA-129E-4DB4-926F-A4B8C6400BD5}"/>
              </a:ext>
            </a:extLst>
          </p:cNvPr>
          <p:cNvCxnSpPr/>
          <p:nvPr/>
        </p:nvCxnSpPr>
        <p:spPr>
          <a:xfrm flipH="1">
            <a:off x="7102943" y="5384667"/>
            <a:ext cx="60007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48B38DEC-BBA2-424C-9BB0-6C32D999EC05}"/>
              </a:ext>
            </a:extLst>
          </p:cNvPr>
          <p:cNvSpPr txBox="1"/>
          <p:nvPr/>
        </p:nvSpPr>
        <p:spPr>
          <a:xfrm>
            <a:off x="7703018" y="5136949"/>
            <a:ext cx="122872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cxnSp>
        <p:nvCxnSpPr>
          <p:cNvPr id="21" name="直線單箭頭接點 20">
            <a:extLst>
              <a:ext uri="{FF2B5EF4-FFF2-40B4-BE49-F238E27FC236}">
                <a16:creationId xmlns:a16="http://schemas.microsoft.com/office/drawing/2014/main" id="{DCA26EE1-9094-4708-9737-DD32EEE40B09}"/>
              </a:ext>
            </a:extLst>
          </p:cNvPr>
          <p:cNvCxnSpPr/>
          <p:nvPr/>
        </p:nvCxnSpPr>
        <p:spPr>
          <a:xfrm flipH="1">
            <a:off x="7867652" y="5669345"/>
            <a:ext cx="60007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9204B960-DA6D-4E53-AC8B-629B8D89BEEC}"/>
              </a:ext>
            </a:extLst>
          </p:cNvPr>
          <p:cNvSpPr txBox="1"/>
          <p:nvPr/>
        </p:nvSpPr>
        <p:spPr>
          <a:xfrm>
            <a:off x="8467727" y="5421627"/>
            <a:ext cx="122872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cxnSp>
        <p:nvCxnSpPr>
          <p:cNvPr id="23" name="直線單箭頭接點 22">
            <a:extLst>
              <a:ext uri="{FF2B5EF4-FFF2-40B4-BE49-F238E27FC236}">
                <a16:creationId xmlns:a16="http://schemas.microsoft.com/office/drawing/2014/main" id="{9D80EB41-800D-4873-8971-3C34ED35E455}"/>
              </a:ext>
            </a:extLst>
          </p:cNvPr>
          <p:cNvCxnSpPr/>
          <p:nvPr/>
        </p:nvCxnSpPr>
        <p:spPr>
          <a:xfrm flipH="1">
            <a:off x="6430389" y="5918965"/>
            <a:ext cx="60007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3C374B72-B89A-416E-B80F-F765BC4B3CC2}"/>
              </a:ext>
            </a:extLst>
          </p:cNvPr>
          <p:cNvSpPr txBox="1"/>
          <p:nvPr/>
        </p:nvSpPr>
        <p:spPr>
          <a:xfrm>
            <a:off x="7030464" y="5671247"/>
            <a:ext cx="122872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238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Algorithm</a:t>
            </a:r>
            <a:endParaRPr lang="zh-TW" altLang="en-US" sz="3600" dirty="0">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2ABB0B35-651E-482F-8F95-0A07A542D1E6}"/>
              </a:ext>
            </a:extLst>
          </p:cNvPr>
          <p:cNvSpPr txBox="1"/>
          <p:nvPr/>
        </p:nvSpPr>
        <p:spPr>
          <a:xfrm>
            <a:off x="838200" y="1556947"/>
            <a:ext cx="11249025" cy="2308324"/>
          </a:xfrm>
          <a:prstGeom prst="rect">
            <a:avLst/>
          </a:prstGeom>
          <a:noFill/>
        </p:spPr>
        <p:txBody>
          <a:bodyPr wrap="square">
            <a:spAutoFit/>
          </a:bodyPr>
          <a:lstStyle/>
          <a:p>
            <a:pPr marL="457200" indent="-457200" algn="l">
              <a:buFont typeface="+mj-lt"/>
              <a:buAutoNum type="arabicPeriod"/>
            </a:pPr>
            <a:r>
              <a:rPr lang="en-US" altLang="zh-TW" sz="2400" dirty="0">
                <a:latin typeface="Times New Roman" panose="02020603050405020304" pitchFamily="18" charset="0"/>
                <a:cs typeface="Times New Roman" panose="02020603050405020304" pitchFamily="18" charset="0"/>
              </a:rPr>
              <a:t>JEANETTE P. SCHMIDT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All Highest Scoring Paths in Weighted Grid Graphs and Their Application to Finding All Approximate Repeats in Strings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SIAM Journal on Computing Vol. 27, No. 4, pp. 972-992, August 1998</a:t>
            </a:r>
          </a:p>
          <a:p>
            <a:pPr marL="457200" indent="-457200" algn="l">
              <a:buFont typeface="+mj-lt"/>
              <a:buAutoNum type="arabicPeriod"/>
            </a:pPr>
            <a:endParaRPr lang="en-US" altLang="zh-TW" sz="2400"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altLang="zh-TW" sz="2400" dirty="0">
                <a:latin typeface="Times New Roman" panose="02020603050405020304" pitchFamily="18" charset="0"/>
                <a:cs typeface="Times New Roman" panose="02020603050405020304" pitchFamily="18" charset="0"/>
              </a:rPr>
              <a:t>Gad M. Landau and Michal </a:t>
            </a:r>
            <a:r>
              <a:rPr lang="en-US" altLang="zh-TW" sz="2400" dirty="0" err="1">
                <a:latin typeface="Times New Roman" panose="02020603050405020304" pitchFamily="18" charset="0"/>
                <a:cs typeface="Times New Roman" panose="02020603050405020304" pitchFamily="18" charset="0"/>
              </a:rPr>
              <a:t>Ziv-Ukelson</a:t>
            </a:r>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On the Common Substring Alignment Problem</a:t>
            </a:r>
            <a:r>
              <a:rPr lang="zh-TW" altLang="en-US" sz="2400" dirty="0">
                <a:latin typeface="Times New Roman" panose="02020603050405020304" pitchFamily="18" charset="0"/>
                <a:cs typeface="Times New Roman" panose="02020603050405020304" pitchFamily="18" charset="0"/>
              </a:rPr>
              <a:t> － </a:t>
            </a:r>
            <a:r>
              <a:rPr lang="en-US" altLang="zh-TW" sz="2400" dirty="0">
                <a:latin typeface="Times New Roman" panose="02020603050405020304" pitchFamily="18" charset="0"/>
                <a:cs typeface="Times New Roman" panose="02020603050405020304" pitchFamily="18" charset="0"/>
              </a:rPr>
              <a:t>Journal of Algorithms 41, 338–359 (2001)</a:t>
            </a:r>
          </a:p>
        </p:txBody>
      </p:sp>
      <p:pic>
        <p:nvPicPr>
          <p:cNvPr id="11" name="圖片 10">
            <a:extLst>
              <a:ext uri="{FF2B5EF4-FFF2-40B4-BE49-F238E27FC236}">
                <a16:creationId xmlns:a16="http://schemas.microsoft.com/office/drawing/2014/main" id="{DD81EB80-652D-46C7-989F-CA1197D930B0}"/>
              </a:ext>
            </a:extLst>
          </p:cNvPr>
          <p:cNvPicPr>
            <a:picLocks noChangeAspect="1"/>
          </p:cNvPicPr>
          <p:nvPr/>
        </p:nvPicPr>
        <p:blipFill>
          <a:blip r:embed="rId2"/>
          <a:stretch>
            <a:fillRect/>
          </a:stretch>
        </p:blipFill>
        <p:spPr>
          <a:xfrm>
            <a:off x="1777683" y="4505325"/>
            <a:ext cx="5321934" cy="1438361"/>
          </a:xfrm>
          <a:prstGeom prst="rect">
            <a:avLst/>
          </a:prstGeom>
        </p:spPr>
      </p:pic>
      <p:cxnSp>
        <p:nvCxnSpPr>
          <p:cNvPr id="26" name="直線單箭頭接點 25">
            <a:extLst>
              <a:ext uri="{FF2B5EF4-FFF2-40B4-BE49-F238E27FC236}">
                <a16:creationId xmlns:a16="http://schemas.microsoft.com/office/drawing/2014/main" id="{DAFF0A04-E20D-42BD-AE7D-B551A81CD107}"/>
              </a:ext>
            </a:extLst>
          </p:cNvPr>
          <p:cNvCxnSpPr>
            <a:cxnSpLocks/>
          </p:cNvCxnSpPr>
          <p:nvPr/>
        </p:nvCxnSpPr>
        <p:spPr>
          <a:xfrm flipH="1">
            <a:off x="5391151" y="5070342"/>
            <a:ext cx="125729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32B4CFA3-6FF7-4806-B977-5A3AC1C5EF76}"/>
              </a:ext>
            </a:extLst>
          </p:cNvPr>
          <p:cNvCxnSpPr/>
          <p:nvPr/>
        </p:nvCxnSpPr>
        <p:spPr>
          <a:xfrm flipH="1">
            <a:off x="6048375" y="5337042"/>
            <a:ext cx="60007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47266048-1BC4-48E1-9837-5ECB31D8666B}"/>
              </a:ext>
            </a:extLst>
          </p:cNvPr>
          <p:cNvSpPr txBox="1"/>
          <p:nvPr/>
        </p:nvSpPr>
        <p:spPr>
          <a:xfrm>
            <a:off x="6648449" y="4762840"/>
            <a:ext cx="4064635" cy="461665"/>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Based </a:t>
            </a:r>
            <a:r>
              <a:rPr lang="en-US" altLang="zh-TW" sz="2400">
                <a:latin typeface="Times New Roman" panose="02020603050405020304" pitchFamily="18" charset="0"/>
                <a:ea typeface="標楷體" panose="03000509000000000000" pitchFamily="65" charset="-120"/>
                <a:cs typeface="Times New Roman" panose="02020603050405020304" pitchFamily="18" charset="0"/>
              </a:rPr>
              <a:t>on section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6 [1]</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文字方塊 30">
            <a:extLst>
              <a:ext uri="{FF2B5EF4-FFF2-40B4-BE49-F238E27FC236}">
                <a16:creationId xmlns:a16="http://schemas.microsoft.com/office/drawing/2014/main" id="{ECC1E146-CC77-4854-9C73-AA3D8AA5B083}"/>
              </a:ext>
            </a:extLst>
          </p:cNvPr>
          <p:cNvSpPr txBox="1"/>
          <p:nvPr/>
        </p:nvSpPr>
        <p:spPr>
          <a:xfrm>
            <a:off x="6648449" y="5106209"/>
            <a:ext cx="4064635" cy="461665"/>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Based on subsection 6.2 [2]</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258317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err="1">
                <a:latin typeface="Times New Roman" panose="02020603050405020304" pitchFamily="18" charset="0"/>
                <a:cs typeface="Times New Roman" panose="02020603050405020304" pitchFamily="18" charset="0"/>
              </a:rPr>
              <a:t>maxOut</a:t>
            </a:r>
            <a:endParaRPr lang="zh-TW" altLang="en-US" sz="36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AFFB6FA9-5AE4-44E8-8C2B-7D6BFECCED26}"/>
              </a:ext>
            </a:extLst>
          </p:cNvPr>
          <p:cNvPicPr>
            <a:picLocks noChangeAspect="1"/>
          </p:cNvPicPr>
          <p:nvPr/>
        </p:nvPicPr>
        <p:blipFill>
          <a:blip r:embed="rId3"/>
          <a:stretch>
            <a:fillRect/>
          </a:stretch>
        </p:blipFill>
        <p:spPr>
          <a:xfrm>
            <a:off x="7050117" y="0"/>
            <a:ext cx="5141883" cy="6105525"/>
          </a:xfrm>
          <a:prstGeom prst="rect">
            <a:avLst/>
          </a:prstGeom>
        </p:spPr>
      </p:pic>
      <p:sp>
        <p:nvSpPr>
          <p:cNvPr id="7" name="文字方塊 6">
            <a:extLst>
              <a:ext uri="{FF2B5EF4-FFF2-40B4-BE49-F238E27FC236}">
                <a16:creationId xmlns:a16="http://schemas.microsoft.com/office/drawing/2014/main" id="{87A5B162-9655-4BD1-8F1A-795EB5564150}"/>
              </a:ext>
            </a:extLst>
          </p:cNvPr>
          <p:cNvSpPr txBox="1"/>
          <p:nvPr/>
        </p:nvSpPr>
        <p:spPr>
          <a:xfrm>
            <a:off x="838200" y="1543063"/>
            <a:ext cx="5715022" cy="830997"/>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只要有 </a:t>
            </a:r>
            <a:r>
              <a:rPr lang="en-US" altLang="zh-TW" sz="2400" dirty="0">
                <a:latin typeface="Times New Roman" panose="02020603050405020304" pitchFamily="18" charset="0"/>
                <a:ea typeface="標楷體" panose="03000509000000000000" pitchFamily="65" charset="-120"/>
              </a:rPr>
              <a:t>Input row </a:t>
            </a:r>
            <a:r>
              <a:rPr lang="zh-TW" altLang="en-US" sz="2400" dirty="0">
                <a:latin typeface="Times New Roman" panose="02020603050405020304" pitchFamily="18" charset="0"/>
                <a:ea typeface="標楷體" panose="03000509000000000000" pitchFamily="65" charset="-120"/>
              </a:rPr>
              <a:t>跟 </a:t>
            </a:r>
            <a:r>
              <a:rPr lang="en-US" altLang="zh-TW" sz="2400" dirty="0">
                <a:latin typeface="Times New Roman" panose="02020603050405020304" pitchFamily="18" charset="0"/>
                <a:ea typeface="標楷體" panose="03000509000000000000" pitchFamily="65" charset="-120"/>
              </a:rPr>
              <a:t>BLH</a:t>
            </a:r>
          </a:p>
          <a:p>
            <a:r>
              <a:rPr lang="zh-TW" altLang="en-US" sz="2400" dirty="0">
                <a:latin typeface="Times New Roman" panose="02020603050405020304" pitchFamily="18" charset="0"/>
                <a:ea typeface="標楷體" panose="03000509000000000000" pitchFamily="65" charset="-120"/>
              </a:rPr>
              <a:t>就能用</a:t>
            </a:r>
            <a:r>
              <a:rPr lang="en-US" altLang="zh-TW" sz="2400" dirty="0">
                <a:latin typeface="Times New Roman" panose="02020603050405020304" pitchFamily="18" charset="0"/>
                <a:ea typeface="標楷體" panose="03000509000000000000" pitchFamily="65" charset="-120"/>
              </a:rPr>
              <a:t>O(</a:t>
            </a:r>
            <a:r>
              <a:rPr lang="en-US" altLang="zh-TW" sz="2400" i="1" dirty="0">
                <a:latin typeface="Times New Roman" panose="02020603050405020304" pitchFamily="18" charset="0"/>
                <a:ea typeface="標楷體" panose="03000509000000000000" pitchFamily="65" charset="-120"/>
              </a:rPr>
              <a:t>n</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求出 </a:t>
            </a:r>
            <a:r>
              <a:rPr lang="en-US" altLang="zh-TW" sz="2400" dirty="0">
                <a:latin typeface="Times New Roman" panose="02020603050405020304" pitchFamily="18" charset="0"/>
                <a:ea typeface="標楷體" panose="03000509000000000000" pitchFamily="65" charset="-120"/>
              </a:rPr>
              <a:t>Output row</a:t>
            </a:r>
          </a:p>
        </p:txBody>
      </p:sp>
      <p:sp>
        <p:nvSpPr>
          <p:cNvPr id="11" name="矩形 10">
            <a:extLst>
              <a:ext uri="{FF2B5EF4-FFF2-40B4-BE49-F238E27FC236}">
                <a16:creationId xmlns:a16="http://schemas.microsoft.com/office/drawing/2014/main" id="{DDE682AB-5753-44DA-B34D-860594F3B2EA}"/>
              </a:ext>
            </a:extLst>
          </p:cNvPr>
          <p:cNvSpPr/>
          <p:nvPr/>
        </p:nvSpPr>
        <p:spPr>
          <a:xfrm>
            <a:off x="7048501" y="4838700"/>
            <a:ext cx="4305299" cy="57150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745A94CA-7157-46EC-B9AC-1696FBE54B80}"/>
              </a:ext>
            </a:extLst>
          </p:cNvPr>
          <p:cNvSpPr txBox="1"/>
          <p:nvPr/>
        </p:nvSpPr>
        <p:spPr>
          <a:xfrm>
            <a:off x="0" y="6222353"/>
            <a:ext cx="12192000" cy="646331"/>
          </a:xfrm>
          <a:prstGeom prst="rect">
            <a:avLst/>
          </a:prstGeom>
          <a:noFill/>
        </p:spPr>
        <p:txBody>
          <a:bodyPr wrap="square">
            <a:spAutoFit/>
          </a:bodyPr>
          <a:lstStyle/>
          <a:p>
            <a:pPr algn="l"/>
            <a:r>
              <a:rPr lang="en-US" altLang="zh-TW" sz="1800" dirty="0">
                <a:latin typeface="Times New Roman" panose="02020603050405020304" pitchFamily="18" charset="0"/>
                <a:cs typeface="Times New Roman" panose="02020603050405020304" pitchFamily="18" charset="0"/>
              </a:rPr>
              <a:t>Gad M. Landau and Michal </a:t>
            </a:r>
            <a:r>
              <a:rPr lang="en-US" altLang="zh-TW" sz="1800" dirty="0" err="1">
                <a:latin typeface="Times New Roman" panose="02020603050405020304" pitchFamily="18" charset="0"/>
                <a:cs typeface="Times New Roman" panose="02020603050405020304" pitchFamily="18" charset="0"/>
              </a:rPr>
              <a:t>Ziv-Ukelson</a:t>
            </a:r>
            <a:r>
              <a:rPr lang="en-US" altLang="zh-TW" sz="1800" dirty="0">
                <a:latin typeface="Times New Roman" panose="02020603050405020304" pitchFamily="18" charset="0"/>
                <a:cs typeface="Times New Roman" panose="02020603050405020304" pitchFamily="18" charset="0"/>
              </a:rPr>
              <a:t> </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On the Common Substring Alignment Problem</a:t>
            </a:r>
            <a:br>
              <a:rPr lang="en-US" altLang="zh-TW" sz="1800" dirty="0">
                <a:latin typeface="Times New Roman" panose="02020603050405020304" pitchFamily="18" charset="0"/>
                <a:cs typeface="Times New Roman" panose="02020603050405020304" pitchFamily="18" charset="0"/>
              </a:rPr>
            </a:br>
            <a:r>
              <a:rPr lang="en-US" altLang="zh-TW" sz="1800" dirty="0">
                <a:latin typeface="Times New Roman" panose="02020603050405020304" pitchFamily="18" charset="0"/>
                <a:cs typeface="Times New Roman" panose="02020603050405020304" pitchFamily="18" charset="0"/>
              </a:rPr>
              <a:t>Journal of Algorithms 41, 338–359 (2001)</a:t>
            </a:r>
          </a:p>
        </p:txBody>
      </p:sp>
      <p:grpSp>
        <p:nvGrpSpPr>
          <p:cNvPr id="18" name="群組 17">
            <a:extLst>
              <a:ext uri="{FF2B5EF4-FFF2-40B4-BE49-F238E27FC236}">
                <a16:creationId xmlns:a16="http://schemas.microsoft.com/office/drawing/2014/main" id="{96330D1F-2487-4844-8A26-C77B2C4386C4}"/>
              </a:ext>
            </a:extLst>
          </p:cNvPr>
          <p:cNvGrpSpPr/>
          <p:nvPr/>
        </p:nvGrpSpPr>
        <p:grpSpPr>
          <a:xfrm>
            <a:off x="838200" y="3006973"/>
            <a:ext cx="5715022" cy="2532008"/>
            <a:chOff x="838200" y="3186213"/>
            <a:chExt cx="5715022" cy="2532008"/>
          </a:xfrm>
        </p:grpSpPr>
        <p:pic>
          <p:nvPicPr>
            <p:cNvPr id="15" name="圖片 14">
              <a:extLst>
                <a:ext uri="{FF2B5EF4-FFF2-40B4-BE49-F238E27FC236}">
                  <a16:creationId xmlns:a16="http://schemas.microsoft.com/office/drawing/2014/main" id="{5F21A7CA-3304-4B8B-B34C-26AC70D17D41}"/>
                </a:ext>
              </a:extLst>
            </p:cNvPr>
            <p:cNvPicPr>
              <a:picLocks noChangeAspect="1"/>
            </p:cNvPicPr>
            <p:nvPr/>
          </p:nvPicPr>
          <p:blipFill>
            <a:blip r:embed="rId4"/>
            <a:stretch>
              <a:fillRect/>
            </a:stretch>
          </p:blipFill>
          <p:spPr>
            <a:xfrm>
              <a:off x="838200" y="3186213"/>
              <a:ext cx="5715022" cy="1731360"/>
            </a:xfrm>
            <a:prstGeom prst="rect">
              <a:avLst/>
            </a:prstGeom>
          </p:spPr>
        </p:pic>
        <p:pic>
          <p:nvPicPr>
            <p:cNvPr id="17" name="圖片 16">
              <a:extLst>
                <a:ext uri="{FF2B5EF4-FFF2-40B4-BE49-F238E27FC236}">
                  <a16:creationId xmlns:a16="http://schemas.microsoft.com/office/drawing/2014/main" id="{C4951B15-D7C6-456B-90D2-48775ACCAB47}"/>
                </a:ext>
              </a:extLst>
            </p:cNvPr>
            <p:cNvPicPr>
              <a:picLocks noChangeAspect="1"/>
            </p:cNvPicPr>
            <p:nvPr/>
          </p:nvPicPr>
          <p:blipFill>
            <a:blip r:embed="rId5"/>
            <a:stretch>
              <a:fillRect/>
            </a:stretch>
          </p:blipFill>
          <p:spPr>
            <a:xfrm>
              <a:off x="838200" y="4838700"/>
              <a:ext cx="4810125" cy="879521"/>
            </a:xfrm>
            <a:prstGeom prst="rect">
              <a:avLst/>
            </a:prstGeom>
          </p:spPr>
        </p:pic>
      </p:grpSp>
    </p:spTree>
    <p:extLst>
      <p:ext uri="{BB962C8B-B14F-4D97-AF65-F5344CB8AC3E}">
        <p14:creationId xmlns:p14="http://schemas.microsoft.com/office/powerpoint/2010/main" val="237764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8">
            <a:extLst>
              <a:ext uri="{FF2B5EF4-FFF2-40B4-BE49-F238E27FC236}">
                <a16:creationId xmlns:a16="http://schemas.microsoft.com/office/drawing/2014/main" id="{78355948-4046-4426-A7DA-8AFCFA0C120C}"/>
              </a:ext>
            </a:extLst>
          </p:cNvPr>
          <p:cNvGraphicFramePr>
            <a:graphicFrameLocks noGrp="1"/>
          </p:cNvGraphicFramePr>
          <p:nvPr>
            <p:extLst>
              <p:ext uri="{D42A27DB-BD31-4B8C-83A1-F6EECF244321}">
                <p14:modId xmlns:p14="http://schemas.microsoft.com/office/powerpoint/2010/main" val="678282341"/>
              </p:ext>
            </p:extLst>
          </p:nvPr>
        </p:nvGraphicFramePr>
        <p:xfrm>
          <a:off x="1965960" y="836200"/>
          <a:ext cx="8412480" cy="5124550"/>
        </p:xfrm>
        <a:graphic>
          <a:graphicData uri="http://schemas.openxmlformats.org/drawingml/2006/table">
            <a:tbl>
              <a:tblPr firstRow="1" bandRow="1">
                <a:tableStyleId>{5940675A-B579-460E-94D1-54222C63F5DA}</a:tableStyleId>
              </a:tblPr>
              <a:tblGrid>
                <a:gridCol w="844262">
                  <a:extLst>
                    <a:ext uri="{9D8B030D-6E8A-4147-A177-3AD203B41FA5}">
                      <a16:colId xmlns:a16="http://schemas.microsoft.com/office/drawing/2014/main" val="3114868097"/>
                    </a:ext>
                  </a:extLst>
                </a:gridCol>
                <a:gridCol w="838234">
                  <a:extLst>
                    <a:ext uri="{9D8B030D-6E8A-4147-A177-3AD203B41FA5}">
                      <a16:colId xmlns:a16="http://schemas.microsoft.com/office/drawing/2014/main" val="558042575"/>
                    </a:ext>
                  </a:extLst>
                </a:gridCol>
                <a:gridCol w="841248">
                  <a:extLst>
                    <a:ext uri="{9D8B030D-6E8A-4147-A177-3AD203B41FA5}">
                      <a16:colId xmlns:a16="http://schemas.microsoft.com/office/drawing/2014/main" val="3827621224"/>
                    </a:ext>
                  </a:extLst>
                </a:gridCol>
                <a:gridCol w="841248">
                  <a:extLst>
                    <a:ext uri="{9D8B030D-6E8A-4147-A177-3AD203B41FA5}">
                      <a16:colId xmlns:a16="http://schemas.microsoft.com/office/drawing/2014/main" val="2494568065"/>
                    </a:ext>
                  </a:extLst>
                </a:gridCol>
                <a:gridCol w="841248">
                  <a:extLst>
                    <a:ext uri="{9D8B030D-6E8A-4147-A177-3AD203B41FA5}">
                      <a16:colId xmlns:a16="http://schemas.microsoft.com/office/drawing/2014/main" val="2316757242"/>
                    </a:ext>
                  </a:extLst>
                </a:gridCol>
                <a:gridCol w="841248">
                  <a:extLst>
                    <a:ext uri="{9D8B030D-6E8A-4147-A177-3AD203B41FA5}">
                      <a16:colId xmlns:a16="http://schemas.microsoft.com/office/drawing/2014/main" val="427908461"/>
                    </a:ext>
                  </a:extLst>
                </a:gridCol>
                <a:gridCol w="841248">
                  <a:extLst>
                    <a:ext uri="{9D8B030D-6E8A-4147-A177-3AD203B41FA5}">
                      <a16:colId xmlns:a16="http://schemas.microsoft.com/office/drawing/2014/main" val="3065060317"/>
                    </a:ext>
                  </a:extLst>
                </a:gridCol>
                <a:gridCol w="841248">
                  <a:extLst>
                    <a:ext uri="{9D8B030D-6E8A-4147-A177-3AD203B41FA5}">
                      <a16:colId xmlns:a16="http://schemas.microsoft.com/office/drawing/2014/main" val="604423268"/>
                    </a:ext>
                  </a:extLst>
                </a:gridCol>
                <a:gridCol w="841248">
                  <a:extLst>
                    <a:ext uri="{9D8B030D-6E8A-4147-A177-3AD203B41FA5}">
                      <a16:colId xmlns:a16="http://schemas.microsoft.com/office/drawing/2014/main" val="584951323"/>
                    </a:ext>
                  </a:extLst>
                </a:gridCol>
                <a:gridCol w="841248">
                  <a:extLst>
                    <a:ext uri="{9D8B030D-6E8A-4147-A177-3AD203B41FA5}">
                      <a16:colId xmlns:a16="http://schemas.microsoft.com/office/drawing/2014/main" val="1976034345"/>
                    </a:ext>
                  </a:extLst>
                </a:gridCol>
              </a:tblGrid>
              <a:tr h="512455">
                <a:tc>
                  <a:txBody>
                    <a:bodyPr/>
                    <a:lstStyle/>
                    <a:p>
                      <a:endParaRPr lang="zh-TW" altLang="en-US" dirty="0"/>
                    </a:p>
                  </a:txBody>
                  <a:tcPr/>
                </a:tc>
                <a:tc>
                  <a:txBody>
                    <a:bodyPr/>
                    <a:lstStyle/>
                    <a:p>
                      <a:pPr algn="ctr"/>
                      <a:r>
                        <a:rPr lang="en-US" altLang="zh-TW" sz="2400" b="1" dirty="0"/>
                        <a:t>0</a:t>
                      </a:r>
                      <a:endParaRPr lang="zh-TW" altLang="en-US" sz="2400" b="1" dirty="0"/>
                    </a:p>
                  </a:txBody>
                  <a:tcPr/>
                </a:tc>
                <a:tc>
                  <a:txBody>
                    <a:bodyPr/>
                    <a:lstStyle/>
                    <a:p>
                      <a:pPr algn="ctr"/>
                      <a:r>
                        <a:rPr lang="en-US" altLang="zh-TW" sz="2400" b="1" dirty="0"/>
                        <a:t>1</a:t>
                      </a:r>
                      <a:endParaRPr lang="zh-TW" altLang="en-US" sz="2400" b="1" dirty="0"/>
                    </a:p>
                  </a:txBody>
                  <a:tcPr/>
                </a:tc>
                <a:tc>
                  <a:txBody>
                    <a:bodyPr/>
                    <a:lstStyle/>
                    <a:p>
                      <a:pPr algn="ctr"/>
                      <a:r>
                        <a:rPr lang="en-US" altLang="zh-TW" sz="2400" b="1" dirty="0"/>
                        <a:t>2</a:t>
                      </a:r>
                      <a:endParaRPr lang="zh-TW" altLang="en-US" sz="2400" b="1" dirty="0"/>
                    </a:p>
                  </a:txBody>
                  <a:tcPr/>
                </a:tc>
                <a:tc>
                  <a:txBody>
                    <a:bodyPr/>
                    <a:lstStyle/>
                    <a:p>
                      <a:pPr algn="ctr"/>
                      <a:r>
                        <a:rPr lang="en-US" altLang="zh-TW" sz="2400" b="1" dirty="0"/>
                        <a:t>3</a:t>
                      </a:r>
                      <a:endParaRPr lang="zh-TW" altLang="en-US" sz="2400" b="1" dirty="0"/>
                    </a:p>
                  </a:txBody>
                  <a:tcPr/>
                </a:tc>
                <a:tc>
                  <a:txBody>
                    <a:bodyPr/>
                    <a:lstStyle/>
                    <a:p>
                      <a:pPr algn="ctr"/>
                      <a:r>
                        <a:rPr lang="en-US" altLang="zh-TW" sz="2400" b="1" dirty="0"/>
                        <a:t>4</a:t>
                      </a:r>
                      <a:endParaRPr lang="zh-TW" altLang="en-US" sz="2400" b="1" dirty="0"/>
                    </a:p>
                  </a:txBody>
                  <a:tcPr/>
                </a:tc>
                <a:tc>
                  <a:txBody>
                    <a:bodyPr/>
                    <a:lstStyle/>
                    <a:p>
                      <a:pPr algn="ctr"/>
                      <a:r>
                        <a:rPr lang="en-US" altLang="zh-TW" sz="2400" b="1" dirty="0"/>
                        <a:t>5</a:t>
                      </a:r>
                      <a:endParaRPr lang="zh-TW" altLang="en-US" sz="2400" b="1" dirty="0"/>
                    </a:p>
                  </a:txBody>
                  <a:tcPr/>
                </a:tc>
                <a:tc>
                  <a:txBody>
                    <a:bodyPr/>
                    <a:lstStyle/>
                    <a:p>
                      <a:pPr algn="ctr"/>
                      <a:r>
                        <a:rPr lang="en-US" altLang="zh-TW" sz="2400" b="1" dirty="0"/>
                        <a:t>6</a:t>
                      </a:r>
                      <a:endParaRPr lang="zh-TW" altLang="en-US" sz="2400" b="1" dirty="0"/>
                    </a:p>
                  </a:txBody>
                  <a:tcPr/>
                </a:tc>
                <a:tc>
                  <a:txBody>
                    <a:bodyPr/>
                    <a:lstStyle/>
                    <a:p>
                      <a:pPr algn="ctr"/>
                      <a:r>
                        <a:rPr lang="en-US" altLang="zh-TW" sz="2400" b="1" dirty="0"/>
                        <a:t>7</a:t>
                      </a:r>
                      <a:endParaRPr lang="zh-TW" altLang="en-US" sz="2400" b="1" dirty="0"/>
                    </a:p>
                  </a:txBody>
                  <a:tcPr/>
                </a:tc>
                <a:tc>
                  <a:txBody>
                    <a:bodyPr/>
                    <a:lstStyle/>
                    <a:p>
                      <a:pPr algn="ctr"/>
                      <a:r>
                        <a:rPr lang="en-US" altLang="zh-TW" sz="2400" b="1" dirty="0"/>
                        <a:t>8</a:t>
                      </a:r>
                      <a:endParaRPr lang="zh-TW" altLang="en-US" sz="2400" b="1" dirty="0"/>
                    </a:p>
                  </a:txBody>
                  <a:tcPr/>
                </a:tc>
                <a:extLst>
                  <a:ext uri="{0D108BD9-81ED-4DB2-BD59-A6C34878D82A}">
                    <a16:rowId xmlns:a16="http://schemas.microsoft.com/office/drawing/2014/main" val="3511922078"/>
                  </a:ext>
                </a:extLst>
              </a:tr>
              <a:tr h="512455">
                <a:tc>
                  <a:txBody>
                    <a:bodyPr/>
                    <a:lstStyle/>
                    <a:p>
                      <a:pPr algn="ctr"/>
                      <a:r>
                        <a:rPr lang="en-US" altLang="zh-TW" sz="2400" b="1" dirty="0"/>
                        <a:t>0</a:t>
                      </a:r>
                      <a:endParaRPr lang="zh-TW" altLang="en-US" sz="2400" b="1" dirty="0"/>
                    </a:p>
                  </a:txBody>
                  <a:tcPr/>
                </a:tc>
                <a:tc>
                  <a:txBody>
                    <a:bodyPr/>
                    <a:lstStyle/>
                    <a:p>
                      <a:pPr algn="ctr"/>
                      <a:r>
                        <a:rPr lang="en-US" altLang="zh-TW" sz="2400" dirty="0"/>
                        <a:t>7</a:t>
                      </a:r>
                      <a:endParaRPr lang="zh-TW" altLang="en-US" sz="2400" dirty="0"/>
                    </a:p>
                  </a:txBody>
                  <a:tcPr>
                    <a:solidFill>
                      <a:schemeClr val="accent6">
                        <a:lumMod val="20000"/>
                        <a:lumOff val="80000"/>
                      </a:schemeClr>
                    </a:solidFill>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5</a:t>
                      </a:r>
                      <a:endParaRPr lang="zh-TW" altLang="en-US" sz="2400" dirty="0"/>
                    </a:p>
                  </a:txBody>
                  <a:tcPr/>
                </a:tc>
                <a:tc>
                  <a:txBody>
                    <a:bodyPr/>
                    <a:lstStyle/>
                    <a:p>
                      <a:pPr algn="ctr"/>
                      <a:r>
                        <a:rPr lang="en-US" altLang="zh-TW" sz="2400" dirty="0"/>
                        <a:t>4</a:t>
                      </a:r>
                      <a:endParaRPr lang="zh-TW" altLang="en-US" sz="2400" dirty="0"/>
                    </a:p>
                  </a:txBody>
                  <a:tcPr/>
                </a:tc>
                <a:tc>
                  <a:txBody>
                    <a:bodyPr/>
                    <a:lstStyle/>
                    <a:p>
                      <a:pPr algn="ctr"/>
                      <a:r>
                        <a:rPr lang="en-US" altLang="zh-TW" sz="2400" dirty="0"/>
                        <a:t>4</a:t>
                      </a:r>
                      <a:endParaRPr lang="zh-TW" altLang="en-US" sz="2400" dirty="0"/>
                    </a:p>
                  </a:txBody>
                  <a:tcPr/>
                </a:tc>
                <a:tc>
                  <a:txBody>
                    <a:bodyPr/>
                    <a:lstStyle/>
                    <a:p>
                      <a:pPr algn="ctr"/>
                      <a:r>
                        <a:rPr lang="en-US" altLang="zh-TW" sz="2400" dirty="0"/>
                        <a:t>4</a:t>
                      </a:r>
                      <a:endParaRPr lang="zh-TW" altLang="en-US" sz="2400" dirty="0"/>
                    </a:p>
                  </a:txBody>
                  <a:tcPr/>
                </a:tc>
                <a:tc>
                  <a:txBody>
                    <a:bodyPr/>
                    <a:lstStyle/>
                    <a:p>
                      <a:pPr algn="ctr"/>
                      <a:r>
                        <a:rPr lang="en-US" altLang="zh-TW" sz="2400" dirty="0"/>
                        <a:t>5</a:t>
                      </a:r>
                      <a:endParaRPr lang="zh-TW" altLang="en-US" sz="2400" dirty="0"/>
                    </a:p>
                  </a:txBody>
                  <a:tcPr/>
                </a:tc>
                <a:tc>
                  <a:txBody>
                    <a:bodyPr/>
                    <a:lstStyle/>
                    <a:p>
                      <a:pPr algn="ctr"/>
                      <a:r>
                        <a:rPr lang="en-US" altLang="zh-TW" sz="2400" dirty="0"/>
                        <a:t>6</a:t>
                      </a:r>
                      <a:endParaRPr lang="zh-TW" altLang="en-US" sz="2400" dirty="0"/>
                    </a:p>
                  </a:txBody>
                  <a:tcPr/>
                </a:tc>
                <a:tc>
                  <a:txBody>
                    <a:bodyPr/>
                    <a:lstStyle/>
                    <a:p>
                      <a:pPr algn="ctr"/>
                      <a:r>
                        <a:rPr lang="en-US" altLang="zh-TW" sz="2400" dirty="0"/>
                        <a:t>7</a:t>
                      </a:r>
                      <a:endParaRPr lang="zh-TW" altLang="en-US" sz="2400" dirty="0"/>
                    </a:p>
                  </a:txBody>
                  <a:tcPr/>
                </a:tc>
                <a:extLst>
                  <a:ext uri="{0D108BD9-81ED-4DB2-BD59-A6C34878D82A}">
                    <a16:rowId xmlns:a16="http://schemas.microsoft.com/office/drawing/2014/main" val="1260665683"/>
                  </a:ext>
                </a:extLst>
              </a:tr>
              <a:tr h="512455">
                <a:tc>
                  <a:txBody>
                    <a:bodyPr/>
                    <a:lstStyle/>
                    <a:p>
                      <a:pPr algn="ctr"/>
                      <a:r>
                        <a:rPr lang="en-US" altLang="zh-TW" sz="2400" b="1" dirty="0"/>
                        <a:t>1</a:t>
                      </a:r>
                      <a:endParaRPr lang="zh-TW" altLang="en-US" sz="2400" b="1" dirty="0"/>
                    </a:p>
                  </a:txBody>
                  <a:tcPr/>
                </a:tc>
                <a:tc>
                  <a:txBody>
                    <a:bodyPr/>
                    <a:lstStyle/>
                    <a:p>
                      <a:pPr algn="ctr"/>
                      <a:endParaRPr lang="zh-TW" altLang="en-US" sz="2400" dirty="0"/>
                    </a:p>
                  </a:txBody>
                  <a:tcPr/>
                </a:tc>
                <a:tc>
                  <a:txBody>
                    <a:bodyPr/>
                    <a:lstStyle/>
                    <a:p>
                      <a:pPr algn="ctr"/>
                      <a:r>
                        <a:rPr lang="en-US" altLang="zh-TW" sz="2400" dirty="0"/>
                        <a:t>7</a:t>
                      </a:r>
                      <a:endParaRPr lang="zh-TW" altLang="en-US" sz="2400" dirty="0"/>
                    </a:p>
                  </a:txBody>
                  <a:tcPr>
                    <a:solidFill>
                      <a:schemeClr val="accent6">
                        <a:lumMod val="20000"/>
                        <a:lumOff val="80000"/>
                      </a:schemeClr>
                    </a:solidFill>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5</a:t>
                      </a:r>
                      <a:endParaRPr lang="zh-TW" altLang="en-US" sz="2400" dirty="0"/>
                    </a:p>
                  </a:txBody>
                  <a:tcPr/>
                </a:tc>
                <a:tc>
                  <a:txBody>
                    <a:bodyPr/>
                    <a:lstStyle/>
                    <a:p>
                      <a:pPr algn="ctr"/>
                      <a:r>
                        <a:rPr lang="en-US" altLang="zh-TW" sz="2400" dirty="0"/>
                        <a:t>5</a:t>
                      </a:r>
                      <a:endParaRPr lang="zh-TW" altLang="en-US" sz="2400" dirty="0"/>
                    </a:p>
                  </a:txBody>
                  <a:tcPr/>
                </a:tc>
                <a:tc>
                  <a:txBody>
                    <a:bodyPr/>
                    <a:lstStyle/>
                    <a:p>
                      <a:pPr algn="ctr"/>
                      <a:r>
                        <a:rPr lang="en-US" altLang="zh-TW" sz="2400" dirty="0"/>
                        <a:t>5</a:t>
                      </a:r>
                      <a:endParaRPr lang="zh-TW" altLang="en-US" sz="2400" dirty="0"/>
                    </a:p>
                  </a:txBody>
                  <a:tcPr/>
                </a:tc>
                <a:tc>
                  <a:txBody>
                    <a:bodyPr/>
                    <a:lstStyle/>
                    <a:p>
                      <a:pPr algn="ctr"/>
                      <a:r>
                        <a:rPr lang="en-US" altLang="zh-TW" sz="2400" dirty="0"/>
                        <a:t>6</a:t>
                      </a:r>
                      <a:endParaRPr lang="zh-TW" altLang="en-US" sz="2400" dirty="0"/>
                    </a:p>
                  </a:txBody>
                  <a:tcPr/>
                </a:tc>
                <a:tc>
                  <a:txBody>
                    <a:bodyPr/>
                    <a:lstStyle/>
                    <a:p>
                      <a:pPr algn="ctr"/>
                      <a:r>
                        <a:rPr lang="en-US" altLang="zh-TW" sz="2400" dirty="0"/>
                        <a:t>7</a:t>
                      </a:r>
                      <a:endParaRPr lang="zh-TW" altLang="en-US" sz="2400" dirty="0"/>
                    </a:p>
                  </a:txBody>
                  <a:tcPr/>
                </a:tc>
                <a:tc>
                  <a:txBody>
                    <a:bodyPr/>
                    <a:lstStyle/>
                    <a:p>
                      <a:pPr algn="ctr"/>
                      <a:r>
                        <a:rPr lang="en-US" altLang="zh-TW" sz="2400" dirty="0"/>
                        <a:t>8</a:t>
                      </a:r>
                      <a:endParaRPr lang="zh-TW" altLang="en-US" sz="2400" dirty="0"/>
                    </a:p>
                  </a:txBody>
                  <a:tcPr/>
                </a:tc>
                <a:extLst>
                  <a:ext uri="{0D108BD9-81ED-4DB2-BD59-A6C34878D82A}">
                    <a16:rowId xmlns:a16="http://schemas.microsoft.com/office/drawing/2014/main" val="3012229109"/>
                  </a:ext>
                </a:extLst>
              </a:tr>
              <a:tr h="512455">
                <a:tc>
                  <a:txBody>
                    <a:bodyPr/>
                    <a:lstStyle/>
                    <a:p>
                      <a:pPr algn="ctr"/>
                      <a:r>
                        <a:rPr lang="en-US" altLang="zh-TW" sz="2400" b="1" dirty="0"/>
                        <a:t>2</a:t>
                      </a:r>
                      <a:endParaRPr lang="zh-TW" altLang="en-US" sz="2400" b="1" dirty="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r>
                        <a:rPr lang="en-US" altLang="zh-TW" sz="2400" dirty="0"/>
                        <a:t>7</a:t>
                      </a:r>
                      <a:endParaRPr lang="zh-TW" altLang="en-US" sz="2400" dirty="0"/>
                    </a:p>
                  </a:txBody>
                  <a:tcPr>
                    <a:solidFill>
                      <a:schemeClr val="accent6">
                        <a:lumMod val="20000"/>
                        <a:lumOff val="80000"/>
                      </a:schemeClr>
                    </a:solidFill>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6</a:t>
                      </a:r>
                      <a:endParaRPr lang="zh-TW" altLang="en-US" sz="2400" dirty="0"/>
                    </a:p>
                  </a:txBody>
                  <a:tcPr/>
                </a:tc>
                <a:tc>
                  <a:txBody>
                    <a:bodyPr/>
                    <a:lstStyle/>
                    <a:p>
                      <a:pPr algn="ctr"/>
                      <a:r>
                        <a:rPr lang="en-US" altLang="zh-TW" sz="2400" dirty="0"/>
                        <a:t>6</a:t>
                      </a:r>
                      <a:endParaRPr lang="zh-TW" altLang="en-US" sz="2400" dirty="0"/>
                    </a:p>
                  </a:txBody>
                  <a:tcPr/>
                </a:tc>
                <a:tc>
                  <a:txBody>
                    <a:bodyPr/>
                    <a:lstStyle/>
                    <a:p>
                      <a:pPr algn="ctr"/>
                      <a:r>
                        <a:rPr lang="en-US" altLang="zh-TW" sz="2400" dirty="0"/>
                        <a:t>7</a:t>
                      </a:r>
                      <a:endParaRPr lang="zh-TW" altLang="en-US" sz="2400" dirty="0"/>
                    </a:p>
                  </a:txBody>
                  <a:tcPr/>
                </a:tc>
                <a:tc>
                  <a:txBody>
                    <a:bodyPr/>
                    <a:lstStyle/>
                    <a:p>
                      <a:pPr algn="ctr"/>
                      <a:r>
                        <a:rPr lang="en-US" altLang="zh-TW" sz="2400" dirty="0"/>
                        <a:t>6</a:t>
                      </a:r>
                      <a:endParaRPr lang="zh-TW" altLang="en-US" sz="2400" dirty="0"/>
                    </a:p>
                  </a:txBody>
                  <a:tcPr/>
                </a:tc>
                <a:tc>
                  <a:txBody>
                    <a:bodyPr/>
                    <a:lstStyle/>
                    <a:p>
                      <a:pPr algn="ctr"/>
                      <a:r>
                        <a:rPr lang="en-US" altLang="zh-TW" sz="2400" dirty="0"/>
                        <a:t>7</a:t>
                      </a:r>
                      <a:endParaRPr lang="zh-TW" altLang="en-US" sz="2400" dirty="0"/>
                    </a:p>
                  </a:txBody>
                  <a:tcPr/>
                </a:tc>
                <a:extLst>
                  <a:ext uri="{0D108BD9-81ED-4DB2-BD59-A6C34878D82A}">
                    <a16:rowId xmlns:a16="http://schemas.microsoft.com/office/drawing/2014/main" val="3989909525"/>
                  </a:ext>
                </a:extLst>
              </a:tr>
              <a:tr h="512455">
                <a:tc>
                  <a:txBody>
                    <a:bodyPr/>
                    <a:lstStyle/>
                    <a:p>
                      <a:pPr algn="ctr"/>
                      <a:r>
                        <a:rPr lang="en-US" altLang="zh-TW" sz="2400" b="1" dirty="0"/>
                        <a:t>3</a:t>
                      </a:r>
                      <a:endParaRPr lang="zh-TW" altLang="en-US" sz="2400" b="1" dirty="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5</a:t>
                      </a:r>
                      <a:endParaRPr lang="zh-TW" altLang="en-US" sz="2400" dirty="0"/>
                    </a:p>
                  </a:txBody>
                  <a:tcPr/>
                </a:tc>
                <a:tc>
                  <a:txBody>
                    <a:bodyPr/>
                    <a:lstStyle/>
                    <a:p>
                      <a:pPr algn="ctr"/>
                      <a:r>
                        <a:rPr lang="en-US" altLang="zh-TW" sz="2400" dirty="0"/>
                        <a:t>5</a:t>
                      </a:r>
                      <a:endParaRPr lang="zh-TW" altLang="en-US" sz="2400" dirty="0"/>
                    </a:p>
                  </a:txBody>
                  <a:tcPr/>
                </a:tc>
                <a:tc>
                  <a:txBody>
                    <a:bodyPr/>
                    <a:lstStyle/>
                    <a:p>
                      <a:pPr algn="ctr"/>
                      <a:r>
                        <a:rPr lang="en-US" altLang="zh-TW" sz="2400" dirty="0"/>
                        <a:t>4</a:t>
                      </a:r>
                      <a:endParaRPr lang="zh-TW" altLang="en-US" sz="2400" dirty="0"/>
                    </a:p>
                  </a:txBody>
                  <a:tcPr/>
                </a:tc>
                <a:tc>
                  <a:txBody>
                    <a:bodyPr/>
                    <a:lstStyle/>
                    <a:p>
                      <a:pPr algn="ctr"/>
                      <a:r>
                        <a:rPr lang="en-US" altLang="zh-TW" sz="2400" dirty="0"/>
                        <a:t>5</a:t>
                      </a:r>
                      <a:endParaRPr lang="zh-TW" altLang="en-US" sz="2400" dirty="0"/>
                    </a:p>
                  </a:txBody>
                  <a:tcPr/>
                </a:tc>
                <a:extLst>
                  <a:ext uri="{0D108BD9-81ED-4DB2-BD59-A6C34878D82A}">
                    <a16:rowId xmlns:a16="http://schemas.microsoft.com/office/drawing/2014/main" val="726476487"/>
                  </a:ext>
                </a:extLst>
              </a:tr>
              <a:tr h="512455">
                <a:tc>
                  <a:txBody>
                    <a:bodyPr/>
                    <a:lstStyle/>
                    <a:p>
                      <a:pPr algn="ctr"/>
                      <a:r>
                        <a:rPr lang="en-US" altLang="zh-TW" sz="2400" b="1" dirty="0"/>
                        <a:t>4</a:t>
                      </a:r>
                      <a:endParaRPr lang="zh-TW" altLang="en-US" sz="2400" b="1" dirty="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r>
                        <a:rPr lang="en-US" altLang="zh-TW" sz="2400" dirty="0"/>
                        <a:t>5</a:t>
                      </a:r>
                      <a:endParaRPr lang="zh-TW" altLang="en-US" sz="2400" dirty="0"/>
                    </a:p>
                  </a:txBody>
                  <a:tcPr>
                    <a:solidFill>
                      <a:schemeClr val="accent6">
                        <a:lumMod val="20000"/>
                        <a:lumOff val="80000"/>
                      </a:schemeClr>
                    </a:solidFill>
                  </a:tcPr>
                </a:tc>
                <a:tc>
                  <a:txBody>
                    <a:bodyPr/>
                    <a:lstStyle/>
                    <a:p>
                      <a:pPr algn="ctr"/>
                      <a:r>
                        <a:rPr lang="en-US" altLang="zh-TW" sz="2400" dirty="0"/>
                        <a:t>4</a:t>
                      </a:r>
                      <a:endParaRPr lang="zh-TW" altLang="en-US" sz="2400" dirty="0"/>
                    </a:p>
                  </a:txBody>
                  <a:tcPr>
                    <a:solidFill>
                      <a:schemeClr val="accent6">
                        <a:lumMod val="20000"/>
                        <a:lumOff val="80000"/>
                      </a:schemeClr>
                    </a:solidFill>
                  </a:tcPr>
                </a:tc>
                <a:tc>
                  <a:txBody>
                    <a:bodyPr/>
                    <a:lstStyle/>
                    <a:p>
                      <a:pPr algn="ctr"/>
                      <a:r>
                        <a:rPr lang="en-US" altLang="zh-TW" sz="2400" dirty="0"/>
                        <a:t>3</a:t>
                      </a:r>
                      <a:endParaRPr lang="zh-TW" altLang="en-US" sz="2400" dirty="0"/>
                    </a:p>
                  </a:txBody>
                  <a:tcPr/>
                </a:tc>
                <a:tc>
                  <a:txBody>
                    <a:bodyPr/>
                    <a:lstStyle/>
                    <a:p>
                      <a:pPr algn="ctr"/>
                      <a:r>
                        <a:rPr lang="en-US" altLang="zh-TW" sz="2400" dirty="0"/>
                        <a:t>2</a:t>
                      </a:r>
                      <a:endParaRPr lang="zh-TW" altLang="en-US" sz="2400" dirty="0"/>
                    </a:p>
                  </a:txBody>
                  <a:tcPr/>
                </a:tc>
                <a:tc>
                  <a:txBody>
                    <a:bodyPr/>
                    <a:lstStyle/>
                    <a:p>
                      <a:pPr algn="ctr"/>
                      <a:r>
                        <a:rPr lang="en-US" altLang="zh-TW" sz="2400" dirty="0"/>
                        <a:t>3</a:t>
                      </a:r>
                      <a:endParaRPr lang="zh-TW" altLang="en-US" sz="2400" dirty="0"/>
                    </a:p>
                  </a:txBody>
                  <a:tcPr/>
                </a:tc>
                <a:extLst>
                  <a:ext uri="{0D108BD9-81ED-4DB2-BD59-A6C34878D82A}">
                    <a16:rowId xmlns:a16="http://schemas.microsoft.com/office/drawing/2014/main" val="3803557451"/>
                  </a:ext>
                </a:extLst>
              </a:tr>
              <a:tr h="512455">
                <a:tc>
                  <a:txBody>
                    <a:bodyPr/>
                    <a:lstStyle/>
                    <a:p>
                      <a:pPr algn="ctr"/>
                      <a:r>
                        <a:rPr lang="en-US" altLang="zh-TW" sz="2400" b="1" dirty="0"/>
                        <a:t>5</a:t>
                      </a:r>
                      <a:endParaRPr lang="zh-TW" altLang="en-US" sz="2400" b="1" dirty="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5</a:t>
                      </a:r>
                      <a:endParaRPr lang="zh-TW" altLang="en-US" sz="2400" dirty="0"/>
                    </a:p>
                  </a:txBody>
                  <a:tcPr>
                    <a:solidFill>
                      <a:schemeClr val="accent6">
                        <a:lumMod val="20000"/>
                        <a:lumOff val="80000"/>
                      </a:schemeClr>
                    </a:solidFill>
                  </a:tcPr>
                </a:tc>
                <a:tc>
                  <a:txBody>
                    <a:bodyPr/>
                    <a:lstStyle/>
                    <a:p>
                      <a:pPr algn="ctr"/>
                      <a:r>
                        <a:rPr lang="en-US" altLang="zh-TW" sz="2400" dirty="0"/>
                        <a:t>4</a:t>
                      </a:r>
                      <a:endParaRPr lang="zh-TW" altLang="en-US" sz="2400" dirty="0"/>
                    </a:p>
                  </a:txBody>
                  <a:tcPr/>
                </a:tc>
                <a:tc>
                  <a:txBody>
                    <a:bodyPr/>
                    <a:lstStyle/>
                    <a:p>
                      <a:pPr algn="ctr"/>
                      <a:r>
                        <a:rPr lang="en-US" altLang="zh-TW" sz="2400" dirty="0"/>
                        <a:t>5</a:t>
                      </a:r>
                      <a:endParaRPr lang="zh-TW" altLang="en-US" sz="2400" dirty="0"/>
                    </a:p>
                  </a:txBody>
                  <a:tcPr/>
                </a:tc>
                <a:extLst>
                  <a:ext uri="{0D108BD9-81ED-4DB2-BD59-A6C34878D82A}">
                    <a16:rowId xmlns:a16="http://schemas.microsoft.com/office/drawing/2014/main" val="2977391123"/>
                  </a:ext>
                </a:extLst>
              </a:tr>
              <a:tr h="512455">
                <a:tc>
                  <a:txBody>
                    <a:bodyPr/>
                    <a:lstStyle/>
                    <a:p>
                      <a:pPr algn="ctr"/>
                      <a:r>
                        <a:rPr lang="en-US" altLang="zh-TW" sz="2400" b="1" dirty="0"/>
                        <a:t>6</a:t>
                      </a:r>
                      <a:endParaRPr lang="zh-TW" altLang="en-US" sz="2400" b="1" dirty="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endParaRPr lang="zh-TW" altLang="en-US" sz="2400"/>
                    </a:p>
                  </a:txBody>
                  <a:tcPr/>
                </a:tc>
                <a:tc>
                  <a:txBody>
                    <a:bodyPr/>
                    <a:lstStyle/>
                    <a:p>
                      <a:pPr algn="ctr"/>
                      <a:r>
                        <a:rPr lang="en-US" altLang="zh-TW" sz="2400" dirty="0"/>
                        <a:t>7</a:t>
                      </a:r>
                      <a:endParaRPr lang="zh-TW" altLang="en-US" sz="2400" dirty="0"/>
                    </a:p>
                  </a:txBody>
                  <a:tcPr>
                    <a:solidFill>
                      <a:schemeClr val="accent6">
                        <a:lumMod val="20000"/>
                        <a:lumOff val="80000"/>
                      </a:schemeClr>
                    </a:solidFill>
                  </a:tcPr>
                </a:tc>
                <a:tc>
                  <a:txBody>
                    <a:bodyPr/>
                    <a:lstStyle/>
                    <a:p>
                      <a:pPr algn="ctr"/>
                      <a:r>
                        <a:rPr lang="en-US" altLang="zh-TW" sz="2400" dirty="0"/>
                        <a:t>6</a:t>
                      </a:r>
                      <a:endParaRPr lang="zh-TW" altLang="en-US" sz="2400" dirty="0"/>
                    </a:p>
                  </a:txBody>
                  <a:tcPr>
                    <a:solidFill>
                      <a:schemeClr val="accent6">
                        <a:lumMod val="20000"/>
                        <a:lumOff val="80000"/>
                      </a:schemeClr>
                    </a:solidFill>
                  </a:tcPr>
                </a:tc>
                <a:tc>
                  <a:txBody>
                    <a:bodyPr/>
                    <a:lstStyle/>
                    <a:p>
                      <a:pPr algn="ctr"/>
                      <a:r>
                        <a:rPr lang="en-US" altLang="zh-TW" sz="2400" dirty="0"/>
                        <a:t>5</a:t>
                      </a:r>
                      <a:endParaRPr lang="zh-TW" altLang="en-US" sz="2400" dirty="0"/>
                    </a:p>
                  </a:txBody>
                  <a:tcPr/>
                </a:tc>
                <a:extLst>
                  <a:ext uri="{0D108BD9-81ED-4DB2-BD59-A6C34878D82A}">
                    <a16:rowId xmlns:a16="http://schemas.microsoft.com/office/drawing/2014/main" val="3709277083"/>
                  </a:ext>
                </a:extLst>
              </a:tr>
              <a:tr h="512455">
                <a:tc>
                  <a:txBody>
                    <a:bodyPr/>
                    <a:lstStyle/>
                    <a:p>
                      <a:pPr algn="ctr"/>
                      <a:r>
                        <a:rPr lang="en-US" altLang="zh-TW" sz="2400" b="1" dirty="0"/>
                        <a:t>7</a:t>
                      </a:r>
                      <a:endParaRPr lang="zh-TW" altLang="en-US" sz="2400" b="1" dirty="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endParaRPr lang="zh-TW" altLang="en-US" sz="2400" dirty="0"/>
                    </a:p>
                  </a:txBody>
                  <a:tcPr/>
                </a:tc>
                <a:tc>
                  <a:txBody>
                    <a:bodyPr/>
                    <a:lstStyle/>
                    <a:p>
                      <a:pPr algn="ctr"/>
                      <a:r>
                        <a:rPr lang="en-US" altLang="zh-TW" sz="2400" dirty="0"/>
                        <a:t>8</a:t>
                      </a:r>
                      <a:endParaRPr lang="zh-TW" altLang="en-US" sz="2400" dirty="0"/>
                    </a:p>
                  </a:txBody>
                  <a:tcPr>
                    <a:solidFill>
                      <a:schemeClr val="accent6">
                        <a:lumMod val="20000"/>
                        <a:lumOff val="80000"/>
                      </a:schemeClr>
                    </a:solidFill>
                  </a:tcPr>
                </a:tc>
                <a:tc>
                  <a:txBody>
                    <a:bodyPr/>
                    <a:lstStyle/>
                    <a:p>
                      <a:pPr algn="ctr"/>
                      <a:r>
                        <a:rPr lang="en-US" altLang="zh-TW" sz="2400" dirty="0"/>
                        <a:t>7</a:t>
                      </a:r>
                      <a:endParaRPr lang="zh-TW" altLang="en-US" sz="2400" dirty="0"/>
                    </a:p>
                  </a:txBody>
                  <a:tcPr>
                    <a:solidFill>
                      <a:schemeClr val="accent6">
                        <a:lumMod val="20000"/>
                        <a:lumOff val="80000"/>
                      </a:schemeClr>
                    </a:solidFill>
                  </a:tcPr>
                </a:tc>
                <a:extLst>
                  <a:ext uri="{0D108BD9-81ED-4DB2-BD59-A6C34878D82A}">
                    <a16:rowId xmlns:a16="http://schemas.microsoft.com/office/drawing/2014/main" val="1712140883"/>
                  </a:ext>
                </a:extLst>
              </a:tr>
              <a:tr h="512455">
                <a:tc>
                  <a:txBody>
                    <a:bodyPr/>
                    <a:lstStyle/>
                    <a:p>
                      <a:pPr algn="ctr"/>
                      <a:r>
                        <a:rPr lang="en-US" altLang="zh-TW" sz="2400" b="1" dirty="0"/>
                        <a:t>8</a:t>
                      </a:r>
                      <a:endParaRPr lang="zh-TW" altLang="en-US" sz="2400" b="1"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endParaRPr lang="zh-TW" altLang="en-US" sz="2400" dirty="0"/>
                    </a:p>
                  </a:txBody>
                  <a:tcPr/>
                </a:tc>
                <a:tc>
                  <a:txBody>
                    <a:bodyPr/>
                    <a:lstStyle/>
                    <a:p>
                      <a:pPr algn="ctr"/>
                      <a:endParaRPr lang="zh-TW" altLang="en-US" sz="2400"/>
                    </a:p>
                  </a:txBody>
                  <a:tcPr/>
                </a:tc>
                <a:tc>
                  <a:txBody>
                    <a:bodyPr/>
                    <a:lstStyle/>
                    <a:p>
                      <a:pPr algn="ctr"/>
                      <a:endParaRPr lang="zh-TW" altLang="en-US" sz="2400" dirty="0"/>
                    </a:p>
                  </a:txBody>
                  <a:tcPr/>
                </a:tc>
                <a:tc>
                  <a:txBody>
                    <a:bodyPr/>
                    <a:lstStyle/>
                    <a:p>
                      <a:pPr algn="ctr"/>
                      <a:r>
                        <a:rPr lang="en-US" altLang="zh-TW" sz="2400" dirty="0"/>
                        <a:t>9</a:t>
                      </a:r>
                      <a:endParaRPr lang="zh-TW" altLang="en-US" sz="2400" dirty="0"/>
                    </a:p>
                  </a:txBody>
                  <a:tcPr>
                    <a:solidFill>
                      <a:schemeClr val="accent6">
                        <a:lumMod val="20000"/>
                        <a:lumOff val="80000"/>
                      </a:schemeClr>
                    </a:solidFill>
                  </a:tcPr>
                </a:tc>
                <a:extLst>
                  <a:ext uri="{0D108BD9-81ED-4DB2-BD59-A6C34878D82A}">
                    <a16:rowId xmlns:a16="http://schemas.microsoft.com/office/drawing/2014/main" val="75852277"/>
                  </a:ext>
                </a:extLst>
              </a:tr>
            </a:tbl>
          </a:graphicData>
        </a:graphic>
      </p:graphicFrame>
      <p:pic>
        <p:nvPicPr>
          <p:cNvPr id="11" name="圖片 10">
            <a:extLst>
              <a:ext uri="{FF2B5EF4-FFF2-40B4-BE49-F238E27FC236}">
                <a16:creationId xmlns:a16="http://schemas.microsoft.com/office/drawing/2014/main" id="{3ABF9016-5A03-41A5-9447-63698FAB7D0F}"/>
              </a:ext>
            </a:extLst>
          </p:cNvPr>
          <p:cNvPicPr>
            <a:picLocks noChangeAspect="1"/>
          </p:cNvPicPr>
          <p:nvPr/>
        </p:nvPicPr>
        <p:blipFill>
          <a:blip r:embed="rId3"/>
          <a:stretch>
            <a:fillRect/>
          </a:stretch>
        </p:blipFill>
        <p:spPr>
          <a:xfrm>
            <a:off x="6589262" y="5960750"/>
            <a:ext cx="5067565" cy="897250"/>
          </a:xfrm>
          <a:prstGeom prst="rect">
            <a:avLst/>
          </a:prstGeom>
        </p:spPr>
      </p:pic>
      <p:sp>
        <p:nvSpPr>
          <p:cNvPr id="12" name="矩形 11">
            <a:extLst>
              <a:ext uri="{FF2B5EF4-FFF2-40B4-BE49-F238E27FC236}">
                <a16:creationId xmlns:a16="http://schemas.microsoft.com/office/drawing/2014/main" id="{9C9DCC9D-D386-4F75-9A84-39979325122B}"/>
              </a:ext>
            </a:extLst>
          </p:cNvPr>
          <p:cNvSpPr/>
          <p:nvPr/>
        </p:nvSpPr>
        <p:spPr>
          <a:xfrm>
            <a:off x="7005320" y="2814275"/>
            <a:ext cx="843280" cy="132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B7177089-FFD0-45F5-BA3C-219C6EE0DD22}"/>
              </a:ext>
            </a:extLst>
          </p:cNvPr>
          <p:cNvSpPr/>
          <p:nvPr/>
        </p:nvSpPr>
        <p:spPr>
          <a:xfrm>
            <a:off x="7848600" y="2814275"/>
            <a:ext cx="843280" cy="132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93D17A04-D554-4E47-812B-BD62CBA13742}"/>
              </a:ext>
            </a:extLst>
          </p:cNvPr>
          <p:cNvSpPr/>
          <p:nvPr/>
        </p:nvSpPr>
        <p:spPr>
          <a:xfrm>
            <a:off x="7848600" y="3332435"/>
            <a:ext cx="843280" cy="132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D802717E-6284-4B2A-B700-9977CC289ED2}"/>
              </a:ext>
            </a:extLst>
          </p:cNvPr>
          <p:cNvSpPr/>
          <p:nvPr/>
        </p:nvSpPr>
        <p:spPr>
          <a:xfrm>
            <a:off x="8691880" y="2225924"/>
            <a:ext cx="843280" cy="86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65A42839-2854-4B6B-A05F-18B6F7117F31}"/>
              </a:ext>
            </a:extLst>
          </p:cNvPr>
          <p:cNvSpPr/>
          <p:nvPr/>
        </p:nvSpPr>
        <p:spPr>
          <a:xfrm>
            <a:off x="8691880" y="2349562"/>
            <a:ext cx="843280" cy="86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C4AC054A-33B8-4FB4-8370-6EF9A7AB613E}"/>
              </a:ext>
            </a:extLst>
          </p:cNvPr>
          <p:cNvSpPr/>
          <p:nvPr/>
        </p:nvSpPr>
        <p:spPr>
          <a:xfrm>
            <a:off x="9535160" y="4302614"/>
            <a:ext cx="843280" cy="86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C23B3E52-4AA9-4009-976C-7103BFECDF5B}"/>
              </a:ext>
            </a:extLst>
          </p:cNvPr>
          <p:cNvSpPr/>
          <p:nvPr/>
        </p:nvSpPr>
        <p:spPr>
          <a:xfrm>
            <a:off x="9535160" y="4424622"/>
            <a:ext cx="843280" cy="86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2BC2E448-48AD-4040-A7AF-E8B66D4C33A0}"/>
              </a:ext>
            </a:extLst>
          </p:cNvPr>
          <p:cNvSpPr txBox="1"/>
          <p:nvPr/>
        </p:nvSpPr>
        <p:spPr>
          <a:xfrm>
            <a:off x="0" y="6211669"/>
            <a:ext cx="12192000" cy="646331"/>
          </a:xfrm>
          <a:prstGeom prst="rect">
            <a:avLst/>
          </a:prstGeom>
          <a:noFill/>
        </p:spPr>
        <p:txBody>
          <a:bodyPr wrap="square">
            <a:spAutoFit/>
          </a:bodyPr>
          <a:lstStyle/>
          <a:p>
            <a:pPr algn="l"/>
            <a:r>
              <a:rPr lang="en-US" altLang="zh-TW" sz="1800" dirty="0">
                <a:latin typeface="Times New Roman" panose="02020603050405020304" pitchFamily="18" charset="0"/>
                <a:cs typeface="Times New Roman" panose="02020603050405020304" pitchFamily="18" charset="0"/>
              </a:rPr>
              <a:t>2016/2/23 </a:t>
            </a:r>
            <a:r>
              <a:rPr lang="zh-TW" altLang="en-US" sz="1800" dirty="0">
                <a:latin typeface="標楷體" panose="03000509000000000000" pitchFamily="65" charset="-120"/>
                <a:ea typeface="標楷體" panose="03000509000000000000" pitchFamily="65" charset="-120"/>
                <a:cs typeface="Times New Roman" panose="02020603050405020304" pitchFamily="18" charset="0"/>
              </a:rPr>
              <a:t>林必祥</a:t>
            </a:r>
            <a:endParaRPr lang="en-US" altLang="zh-TW" sz="1800" dirty="0">
              <a:latin typeface="標楷體" panose="03000509000000000000" pitchFamily="65" charset="-120"/>
              <a:ea typeface="標楷體" panose="03000509000000000000" pitchFamily="65" charset="-120"/>
              <a:cs typeface="Times New Roman" panose="02020603050405020304" pitchFamily="18" charset="0"/>
            </a:endParaRPr>
          </a:p>
          <a:p>
            <a:pPr algn="l"/>
            <a:r>
              <a:rPr lang="en-US" altLang="zh-TW" sz="1800" dirty="0">
                <a:latin typeface="Times New Roman" panose="02020603050405020304" pitchFamily="18" charset="0"/>
                <a:cs typeface="Times New Roman" panose="02020603050405020304" pitchFamily="18" charset="0"/>
              </a:rPr>
              <a:t>2020/4/21</a:t>
            </a:r>
            <a:r>
              <a:rPr lang="zh-TW" altLang="en-US" sz="1800" dirty="0">
                <a:latin typeface="Times New Roman" panose="02020603050405020304" pitchFamily="18" charset="0"/>
                <a:cs typeface="Times New Roman" panose="02020603050405020304" pitchFamily="18" charset="0"/>
              </a:rPr>
              <a:t> </a:t>
            </a:r>
            <a:r>
              <a:rPr lang="zh-TW" altLang="en-US" sz="1800" dirty="0">
                <a:latin typeface="標楷體" panose="03000509000000000000" pitchFamily="65" charset="-120"/>
                <a:ea typeface="標楷體" panose="03000509000000000000" pitchFamily="65" charset="-120"/>
                <a:cs typeface="Times New Roman" panose="02020603050405020304" pitchFamily="18" charset="0"/>
              </a:rPr>
              <a:t>李紹瑄 </a:t>
            </a:r>
            <a:r>
              <a:rPr lang="en-US" altLang="zh-TW" sz="1800" dirty="0">
                <a:latin typeface="標楷體" panose="03000509000000000000" pitchFamily="65" charset="-120"/>
                <a:ea typeface="標楷體" panose="03000509000000000000" pitchFamily="65" charset="-120"/>
                <a:cs typeface="Times New Roman" panose="02020603050405020304" pitchFamily="18" charset="0"/>
              </a:rPr>
              <a:t>p.12 ~ 29</a:t>
            </a:r>
          </a:p>
        </p:txBody>
      </p:sp>
      <p:sp>
        <p:nvSpPr>
          <p:cNvPr id="19" name="標題 1">
            <a:extLst>
              <a:ext uri="{FF2B5EF4-FFF2-40B4-BE49-F238E27FC236}">
                <a16:creationId xmlns:a16="http://schemas.microsoft.com/office/drawing/2014/main" id="{7884F3AC-BBAE-4566-8A0B-55466BDE40B9}"/>
              </a:ext>
            </a:extLst>
          </p:cNvPr>
          <p:cNvSpPr>
            <a:spLocks noGrp="1"/>
          </p:cNvSpPr>
          <p:nvPr>
            <p:ph type="title"/>
          </p:nvPr>
        </p:nvSpPr>
        <p:spPr>
          <a:xfrm>
            <a:off x="838200" y="195309"/>
            <a:ext cx="10515600" cy="532125"/>
          </a:xfrm>
        </p:spPr>
        <p:txBody>
          <a:bodyPr>
            <a:normAutofit fontScale="90000"/>
          </a:bodyPr>
          <a:lstStyle/>
          <a:p>
            <a:r>
              <a:rPr lang="en-US" altLang="zh-TW" sz="3600" dirty="0" err="1">
                <a:latin typeface="Times New Roman" panose="02020603050405020304" pitchFamily="18" charset="0"/>
                <a:cs typeface="Times New Roman" panose="02020603050405020304" pitchFamily="18" charset="0"/>
              </a:rPr>
              <a:t>maxOut</a:t>
            </a:r>
            <a:r>
              <a:rPr lang="en-US" altLang="zh-TW" sz="3600" dirty="0">
                <a:latin typeface="Times New Roman" panose="02020603050405020304" pitchFamily="18" charset="0"/>
                <a:cs typeface="Times New Roman" panose="02020603050405020304" pitchFamily="18" charset="0"/>
              </a:rPr>
              <a:t> (SMAWK Algorithm</a:t>
            </a:r>
            <a:r>
              <a:rPr lang="zh-TW" altLang="en-US" sz="3600" dirty="0">
                <a:latin typeface="Times New Roman" panose="02020603050405020304" pitchFamily="18" charset="0"/>
                <a:cs typeface="Times New Roman" panose="02020603050405020304" pitchFamily="18" charset="0"/>
              </a:rPr>
              <a:t> </a:t>
            </a:r>
            <a:r>
              <a:rPr lang="zh-TW" altLang="en-US" sz="3600" dirty="0">
                <a:latin typeface="標楷體" panose="03000509000000000000" pitchFamily="65" charset="-120"/>
                <a:ea typeface="標楷體" panose="03000509000000000000" pitchFamily="65" charset="-120"/>
                <a:cs typeface="Times New Roman" panose="02020603050405020304" pitchFamily="18" charset="0"/>
              </a:rPr>
              <a:t>的衍伸</a:t>
            </a:r>
            <a:r>
              <a:rPr lang="en-US" altLang="zh-TW" sz="3600" dirty="0">
                <a:latin typeface="Times New Roman" panose="02020603050405020304" pitchFamily="18" charset="0"/>
                <a:cs typeface="Times New Roman" panose="02020603050405020304" pitchFamily="18" charset="0"/>
              </a:rPr>
              <a:t>)</a:t>
            </a:r>
            <a:endParaRPr lang="zh-TW"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243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err="1">
                <a:latin typeface="Times New Roman" panose="02020603050405020304" pitchFamily="18" charset="0"/>
                <a:cs typeface="Times New Roman" panose="02020603050405020304" pitchFamily="18" charset="0"/>
              </a:rPr>
              <a:t>buildBLH</a:t>
            </a:r>
            <a:endParaRPr lang="zh-TW" altLang="en-US" sz="36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F557894A-6F32-4080-A67B-206BEC9C4EBD}"/>
              </a:ext>
            </a:extLst>
          </p:cNvPr>
          <p:cNvSpPr txBox="1"/>
          <p:nvPr/>
        </p:nvSpPr>
        <p:spPr>
          <a:xfrm>
            <a:off x="838200" y="1556947"/>
            <a:ext cx="11249025" cy="1200329"/>
          </a:xfrm>
          <a:prstGeom prst="rect">
            <a:avLst/>
          </a:prstGeom>
          <a:noFill/>
        </p:spPr>
        <p:txBody>
          <a:bodyPr wrap="square">
            <a:spAutoFit/>
          </a:bodyPr>
          <a:lstStyle/>
          <a:p>
            <a:pPr algn="l"/>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此時 </a:t>
            </a:r>
            <a:r>
              <a:rPr lang="en-US" altLang="zh-TW" sz="2400" i="1" dirty="0">
                <a:latin typeface="Times New Roman" panose="02020603050405020304" pitchFamily="18" charset="0"/>
                <a:ea typeface="標楷體" panose="03000509000000000000" pitchFamily="65" charset="-120"/>
                <a:cs typeface="Times New Roman" panose="02020603050405020304" pitchFamily="18" charset="0"/>
              </a:rPr>
              <a:t>l</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 |Y| = 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|Y|+1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，則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DIST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只需要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i="1" dirty="0" err="1">
                <a:latin typeface="Times New Roman" panose="02020603050405020304" pitchFamily="18" charset="0"/>
                <a:ea typeface="標楷體" panose="03000509000000000000" pitchFamily="65" charset="-120"/>
                <a:cs typeface="Times New Roman" panose="02020603050405020304" pitchFamily="18" charset="0"/>
              </a:rPr>
              <a:t>nl</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時間就能更新完畢</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algn="l"/>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因此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BLH</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也可以在同樣的時間下更新完畢</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algn="l"/>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同樣的，若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|Y|-1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，也可在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i="1" dirty="0" err="1">
                <a:latin typeface="Times New Roman" panose="02020603050405020304" pitchFamily="18" charset="0"/>
                <a:ea typeface="標楷體" panose="03000509000000000000" pitchFamily="65" charset="-120"/>
                <a:cs typeface="Times New Roman" panose="02020603050405020304" pitchFamily="18" charset="0"/>
              </a:rPr>
              <a:t>nl</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的時間內更新完畢</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5" name="圖片 4">
            <a:extLst>
              <a:ext uri="{FF2B5EF4-FFF2-40B4-BE49-F238E27FC236}">
                <a16:creationId xmlns:a16="http://schemas.microsoft.com/office/drawing/2014/main" id="{5B137261-AEE9-4C87-BB48-3000DE9302BC}"/>
              </a:ext>
            </a:extLst>
          </p:cNvPr>
          <p:cNvPicPr>
            <a:picLocks noChangeAspect="1"/>
          </p:cNvPicPr>
          <p:nvPr/>
        </p:nvPicPr>
        <p:blipFill>
          <a:blip r:embed="rId2"/>
          <a:stretch>
            <a:fillRect/>
          </a:stretch>
        </p:blipFill>
        <p:spPr>
          <a:xfrm>
            <a:off x="1570968" y="2888258"/>
            <a:ext cx="4706007" cy="2819794"/>
          </a:xfrm>
          <a:prstGeom prst="rect">
            <a:avLst/>
          </a:prstGeom>
        </p:spPr>
      </p:pic>
      <p:cxnSp>
        <p:nvCxnSpPr>
          <p:cNvPr id="6" name="直線單箭頭接點 5">
            <a:extLst>
              <a:ext uri="{FF2B5EF4-FFF2-40B4-BE49-F238E27FC236}">
                <a16:creationId xmlns:a16="http://schemas.microsoft.com/office/drawing/2014/main" id="{84BD5D52-6AC5-4C69-B47C-8511DD60975B}"/>
              </a:ext>
            </a:extLst>
          </p:cNvPr>
          <p:cNvCxnSpPr>
            <a:cxnSpLocks/>
          </p:cNvCxnSpPr>
          <p:nvPr/>
        </p:nvCxnSpPr>
        <p:spPr>
          <a:xfrm>
            <a:off x="6562725" y="4313603"/>
            <a:ext cx="138112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7E69C6B-C397-474D-AAC6-551935741006}"/>
              </a:ext>
            </a:extLst>
          </p:cNvPr>
          <p:cNvSpPr txBox="1"/>
          <p:nvPr/>
        </p:nvSpPr>
        <p:spPr>
          <a:xfrm>
            <a:off x="8420100" y="3898105"/>
            <a:ext cx="14478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DIST</a:t>
            </a:r>
            <a:r>
              <a:rPr lang="en-US" altLang="zh-TW" sz="2400" i="1" baseline="-25000" dirty="0">
                <a:latin typeface="Times New Roman" panose="02020603050405020304" pitchFamily="18" charset="0"/>
                <a:cs typeface="Times New Roman" panose="02020603050405020304" pitchFamily="18" charset="0"/>
              </a:rPr>
              <a:t>l</a:t>
            </a:r>
            <a:r>
              <a:rPr lang="en-US" altLang="zh-TW" sz="2400" baseline="-25000" dirty="0">
                <a:latin typeface="Times New Roman" panose="02020603050405020304" pitchFamily="18" charset="0"/>
                <a:cs typeface="Times New Roman" panose="02020603050405020304" pitchFamily="18" charset="0"/>
              </a:rPr>
              <a:t>+1</a:t>
            </a:r>
          </a:p>
          <a:p>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1DCC48C-FDC5-4F3B-BAAB-1CD50711EC0E}"/>
              </a:ext>
            </a:extLst>
          </p:cNvPr>
          <p:cNvSpPr txBox="1"/>
          <p:nvPr/>
        </p:nvSpPr>
        <p:spPr>
          <a:xfrm>
            <a:off x="0" y="6222353"/>
            <a:ext cx="12192000" cy="646331"/>
          </a:xfrm>
          <a:prstGeom prst="rect">
            <a:avLst/>
          </a:prstGeom>
          <a:noFill/>
        </p:spPr>
        <p:txBody>
          <a:bodyPr wrap="square">
            <a:spAutoFit/>
          </a:bodyPr>
          <a:lstStyle/>
          <a:p>
            <a:pPr algn="l"/>
            <a:r>
              <a:rPr lang="en-US" altLang="zh-TW" sz="1800" dirty="0">
                <a:latin typeface="Times New Roman" panose="02020603050405020304" pitchFamily="18" charset="0"/>
                <a:cs typeface="Times New Roman" panose="02020603050405020304" pitchFamily="18" charset="0"/>
              </a:rPr>
              <a:t>JEANETTE P. SCHMIDT </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All Highest Scoring Paths in Weighted Grid Graphs and Their Application to Finding All Approximate Repeats in Strings </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SIAM Journal on Computing Vol. 27, No. 4, pp. 972-992, August 1998</a:t>
            </a:r>
          </a:p>
        </p:txBody>
      </p:sp>
    </p:spTree>
    <p:extLst>
      <p:ext uri="{BB962C8B-B14F-4D97-AF65-F5344CB8AC3E}">
        <p14:creationId xmlns:p14="http://schemas.microsoft.com/office/powerpoint/2010/main" val="1971731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err="1">
                <a:latin typeface="Times New Roman" panose="02020603050405020304" pitchFamily="18" charset="0"/>
                <a:cs typeface="Times New Roman" panose="02020603050405020304" pitchFamily="18" charset="0"/>
              </a:rPr>
              <a:t>buildBLH</a:t>
            </a:r>
            <a:endParaRPr lang="zh-TW" altLang="en-US" sz="36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F557894A-6F32-4080-A67B-206BEC9C4EBD}"/>
              </a:ext>
            </a:extLst>
          </p:cNvPr>
          <p:cNvSpPr txBox="1"/>
          <p:nvPr/>
        </p:nvSpPr>
        <p:spPr>
          <a:xfrm>
            <a:off x="838200" y="1556947"/>
            <a:ext cx="11249025" cy="830997"/>
          </a:xfrm>
          <a:prstGeom prst="rect">
            <a:avLst/>
          </a:prstGeom>
          <a:noFill/>
        </p:spPr>
        <p:txBody>
          <a:bodyPr wrap="square">
            <a:spAutoFit/>
          </a:bodyPr>
          <a:lstStyle/>
          <a:p>
            <a:pPr algn="l"/>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此時 </a:t>
            </a:r>
            <a:r>
              <a:rPr lang="en-US" altLang="zh-TW" sz="2400" i="1" dirty="0">
                <a:latin typeface="Times New Roman" panose="02020603050405020304" pitchFamily="18" charset="0"/>
                <a:ea typeface="標楷體" panose="03000509000000000000" pitchFamily="65" charset="-120"/>
                <a:cs typeface="Times New Roman" panose="02020603050405020304" pitchFamily="18" charset="0"/>
              </a:rPr>
              <a:t>l</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 |Y| = 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|Y|+1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，則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DIST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只需要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i="1" dirty="0" err="1">
                <a:latin typeface="Times New Roman" panose="02020603050405020304" pitchFamily="18" charset="0"/>
                <a:ea typeface="標楷體" panose="03000509000000000000" pitchFamily="65" charset="-120"/>
                <a:cs typeface="Times New Roman" panose="02020603050405020304" pitchFamily="18" charset="0"/>
              </a:rPr>
              <a:t>nl</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時間就能更新完畢</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algn="l"/>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文字方塊 11">
            <a:extLst>
              <a:ext uri="{FF2B5EF4-FFF2-40B4-BE49-F238E27FC236}">
                <a16:creationId xmlns:a16="http://schemas.microsoft.com/office/drawing/2014/main" id="{41DCC48C-FDC5-4F3B-BAAB-1CD50711EC0E}"/>
              </a:ext>
            </a:extLst>
          </p:cNvPr>
          <p:cNvSpPr txBox="1"/>
          <p:nvPr/>
        </p:nvSpPr>
        <p:spPr>
          <a:xfrm>
            <a:off x="0" y="6222353"/>
            <a:ext cx="12192000" cy="646331"/>
          </a:xfrm>
          <a:prstGeom prst="rect">
            <a:avLst/>
          </a:prstGeom>
          <a:noFill/>
        </p:spPr>
        <p:txBody>
          <a:bodyPr wrap="square">
            <a:spAutoFit/>
          </a:bodyPr>
          <a:lstStyle/>
          <a:p>
            <a:pPr algn="l"/>
            <a:r>
              <a:rPr lang="en-US" altLang="zh-TW" sz="1800" dirty="0">
                <a:latin typeface="Times New Roman" panose="02020603050405020304" pitchFamily="18" charset="0"/>
                <a:cs typeface="Times New Roman" panose="02020603050405020304" pitchFamily="18" charset="0"/>
              </a:rPr>
              <a:t>JEANETTE P. SCHMIDT </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All Highest Scoring Paths in Weighted Grid Graphs and Their Application to Finding All Approximate Repeats in Strings </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SIAM Journal on Computing Vol. 27, No. 4, pp. 972-992, August 1998</a:t>
            </a:r>
          </a:p>
        </p:txBody>
      </p:sp>
      <p:pic>
        <p:nvPicPr>
          <p:cNvPr id="7" name="圖片 6">
            <a:extLst>
              <a:ext uri="{FF2B5EF4-FFF2-40B4-BE49-F238E27FC236}">
                <a16:creationId xmlns:a16="http://schemas.microsoft.com/office/drawing/2014/main" id="{653CBF79-DCD5-4036-8EE0-FA390F6CF464}"/>
              </a:ext>
            </a:extLst>
          </p:cNvPr>
          <p:cNvPicPr>
            <a:picLocks noChangeAspect="1"/>
          </p:cNvPicPr>
          <p:nvPr/>
        </p:nvPicPr>
        <p:blipFill>
          <a:blip r:embed="rId2"/>
          <a:stretch>
            <a:fillRect/>
          </a:stretch>
        </p:blipFill>
        <p:spPr>
          <a:xfrm>
            <a:off x="3566759" y="2880749"/>
            <a:ext cx="5058481" cy="1886213"/>
          </a:xfrm>
          <a:prstGeom prst="rect">
            <a:avLst/>
          </a:prstGeom>
        </p:spPr>
      </p:pic>
      <p:cxnSp>
        <p:nvCxnSpPr>
          <p:cNvPr id="14" name="直線單箭頭接點 13">
            <a:extLst>
              <a:ext uri="{FF2B5EF4-FFF2-40B4-BE49-F238E27FC236}">
                <a16:creationId xmlns:a16="http://schemas.microsoft.com/office/drawing/2014/main" id="{A1682740-6CD6-4541-8CBA-81A16394076C}"/>
              </a:ext>
            </a:extLst>
          </p:cNvPr>
          <p:cNvCxnSpPr/>
          <p:nvPr/>
        </p:nvCxnSpPr>
        <p:spPr>
          <a:xfrm>
            <a:off x="4324350" y="4668972"/>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2B4E9FA2-FF0F-4A62-BF4A-89682A586744}"/>
              </a:ext>
            </a:extLst>
          </p:cNvPr>
          <p:cNvCxnSpPr/>
          <p:nvPr/>
        </p:nvCxnSpPr>
        <p:spPr>
          <a:xfrm>
            <a:off x="4676775" y="4668972"/>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0D154F4A-520D-4BC5-99B2-CD3970D699CA}"/>
              </a:ext>
            </a:extLst>
          </p:cNvPr>
          <p:cNvCxnSpPr/>
          <p:nvPr/>
        </p:nvCxnSpPr>
        <p:spPr>
          <a:xfrm>
            <a:off x="5048250" y="4692782"/>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7A5ECB0B-D0CD-4067-A388-499424DAD515}"/>
              </a:ext>
            </a:extLst>
          </p:cNvPr>
          <p:cNvCxnSpPr/>
          <p:nvPr/>
        </p:nvCxnSpPr>
        <p:spPr>
          <a:xfrm>
            <a:off x="5372100" y="4692784"/>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C9ACF25E-DEDA-42E0-AB94-9870FB4BD253}"/>
              </a:ext>
            </a:extLst>
          </p:cNvPr>
          <p:cNvCxnSpPr/>
          <p:nvPr/>
        </p:nvCxnSpPr>
        <p:spPr>
          <a:xfrm>
            <a:off x="5734050" y="4692784"/>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8B0AFB88-0C2B-4C6B-98E5-C731AA1C8D33}"/>
              </a:ext>
            </a:extLst>
          </p:cNvPr>
          <p:cNvCxnSpPr/>
          <p:nvPr/>
        </p:nvCxnSpPr>
        <p:spPr>
          <a:xfrm>
            <a:off x="6067424" y="4692784"/>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D52AC081-FC7C-4A86-895C-0A281A28992F}"/>
              </a:ext>
            </a:extLst>
          </p:cNvPr>
          <p:cNvCxnSpPr/>
          <p:nvPr/>
        </p:nvCxnSpPr>
        <p:spPr>
          <a:xfrm>
            <a:off x="6372225" y="4692784"/>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BDAE39C5-6CBA-4480-AC6C-6D2F9307A1D3}"/>
              </a:ext>
            </a:extLst>
          </p:cNvPr>
          <p:cNvCxnSpPr/>
          <p:nvPr/>
        </p:nvCxnSpPr>
        <p:spPr>
          <a:xfrm>
            <a:off x="6772275" y="4692783"/>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B9357B15-DDCB-4CDF-9202-6E9C655A5D7E}"/>
              </a:ext>
            </a:extLst>
          </p:cNvPr>
          <p:cNvCxnSpPr/>
          <p:nvPr/>
        </p:nvCxnSpPr>
        <p:spPr>
          <a:xfrm>
            <a:off x="7067550" y="4692782"/>
            <a:ext cx="0" cy="3143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A16AAE10-1637-4283-AB44-771BD8D5C3DC}"/>
              </a:ext>
            </a:extLst>
          </p:cNvPr>
          <p:cNvCxnSpPr>
            <a:cxnSpLocks/>
          </p:cNvCxnSpPr>
          <p:nvPr/>
        </p:nvCxnSpPr>
        <p:spPr>
          <a:xfrm>
            <a:off x="4338638" y="498329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3E1C01DB-0B0B-438E-83F2-60D42D8B952A}"/>
              </a:ext>
            </a:extLst>
          </p:cNvPr>
          <p:cNvCxnSpPr>
            <a:cxnSpLocks/>
          </p:cNvCxnSpPr>
          <p:nvPr/>
        </p:nvCxnSpPr>
        <p:spPr>
          <a:xfrm>
            <a:off x="4710113" y="498329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6C4B6627-C677-4397-97CC-575C655CFB3E}"/>
              </a:ext>
            </a:extLst>
          </p:cNvPr>
          <p:cNvCxnSpPr>
            <a:cxnSpLocks/>
          </p:cNvCxnSpPr>
          <p:nvPr/>
        </p:nvCxnSpPr>
        <p:spPr>
          <a:xfrm>
            <a:off x="5048250" y="498329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C3AAD28B-F35D-4B3B-99D7-016FC38B161A}"/>
              </a:ext>
            </a:extLst>
          </p:cNvPr>
          <p:cNvCxnSpPr>
            <a:cxnSpLocks/>
          </p:cNvCxnSpPr>
          <p:nvPr/>
        </p:nvCxnSpPr>
        <p:spPr>
          <a:xfrm>
            <a:off x="6034088" y="502615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5F1E6825-D097-47EE-A599-C93281C7223D}"/>
              </a:ext>
            </a:extLst>
          </p:cNvPr>
          <p:cNvCxnSpPr>
            <a:cxnSpLocks/>
          </p:cNvCxnSpPr>
          <p:nvPr/>
        </p:nvCxnSpPr>
        <p:spPr>
          <a:xfrm>
            <a:off x="5395913" y="500710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BE66282F-4498-4E0A-A98D-4E3A967A2AD8}"/>
              </a:ext>
            </a:extLst>
          </p:cNvPr>
          <p:cNvCxnSpPr>
            <a:cxnSpLocks/>
          </p:cNvCxnSpPr>
          <p:nvPr/>
        </p:nvCxnSpPr>
        <p:spPr>
          <a:xfrm>
            <a:off x="5729287" y="502615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6FCCBF59-8EDF-4353-8CE5-A3CF78365D20}"/>
              </a:ext>
            </a:extLst>
          </p:cNvPr>
          <p:cNvCxnSpPr>
            <a:cxnSpLocks/>
          </p:cNvCxnSpPr>
          <p:nvPr/>
        </p:nvCxnSpPr>
        <p:spPr>
          <a:xfrm>
            <a:off x="6372225" y="500710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E956F31-7663-4DB1-A8AB-B4ACFB18EF7E}"/>
              </a:ext>
            </a:extLst>
          </p:cNvPr>
          <p:cNvCxnSpPr>
            <a:cxnSpLocks/>
          </p:cNvCxnSpPr>
          <p:nvPr/>
        </p:nvCxnSpPr>
        <p:spPr>
          <a:xfrm>
            <a:off x="6772275" y="5026157"/>
            <a:ext cx="3381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46DAD1E0-E80D-44D7-AC6C-3E76890DDCAC}"/>
              </a:ext>
            </a:extLst>
          </p:cNvPr>
          <p:cNvCxnSpPr>
            <a:cxnSpLocks/>
          </p:cNvCxnSpPr>
          <p:nvPr/>
        </p:nvCxnSpPr>
        <p:spPr>
          <a:xfrm>
            <a:off x="4379119" y="4697547"/>
            <a:ext cx="297656" cy="2857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AD836F79-6CC0-45D2-8FF6-40BB62B4CB7C}"/>
              </a:ext>
            </a:extLst>
          </p:cNvPr>
          <p:cNvCxnSpPr>
            <a:cxnSpLocks/>
          </p:cNvCxnSpPr>
          <p:nvPr/>
        </p:nvCxnSpPr>
        <p:spPr>
          <a:xfrm>
            <a:off x="4710113" y="4692782"/>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3E419F7C-F415-441E-BAB5-93BFBD5746D0}"/>
              </a:ext>
            </a:extLst>
          </p:cNvPr>
          <p:cNvCxnSpPr>
            <a:cxnSpLocks/>
          </p:cNvCxnSpPr>
          <p:nvPr/>
        </p:nvCxnSpPr>
        <p:spPr>
          <a:xfrm>
            <a:off x="5033963" y="4659834"/>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705D96AD-BBE2-49E3-937D-004D005B9572}"/>
              </a:ext>
            </a:extLst>
          </p:cNvPr>
          <p:cNvCxnSpPr>
            <a:cxnSpLocks/>
          </p:cNvCxnSpPr>
          <p:nvPr/>
        </p:nvCxnSpPr>
        <p:spPr>
          <a:xfrm>
            <a:off x="5348287" y="4664207"/>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6B355234-D5E0-40FA-A555-845569CABE50}"/>
              </a:ext>
            </a:extLst>
          </p:cNvPr>
          <p:cNvCxnSpPr>
            <a:cxnSpLocks/>
          </p:cNvCxnSpPr>
          <p:nvPr/>
        </p:nvCxnSpPr>
        <p:spPr>
          <a:xfrm>
            <a:off x="5710237" y="4674089"/>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83D35C7E-4268-4D85-9009-8D1F2C364B95}"/>
              </a:ext>
            </a:extLst>
          </p:cNvPr>
          <p:cNvCxnSpPr>
            <a:cxnSpLocks/>
          </p:cNvCxnSpPr>
          <p:nvPr/>
        </p:nvCxnSpPr>
        <p:spPr>
          <a:xfrm>
            <a:off x="6043611" y="4680876"/>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F7013190-83E0-4CFB-AEA9-DD94FDAB196D}"/>
              </a:ext>
            </a:extLst>
          </p:cNvPr>
          <p:cNvCxnSpPr>
            <a:cxnSpLocks/>
          </p:cNvCxnSpPr>
          <p:nvPr/>
        </p:nvCxnSpPr>
        <p:spPr>
          <a:xfrm>
            <a:off x="6391272" y="4684880"/>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2A529566-98DF-4A33-9336-DBD2265711A4}"/>
              </a:ext>
            </a:extLst>
          </p:cNvPr>
          <p:cNvCxnSpPr>
            <a:cxnSpLocks/>
          </p:cNvCxnSpPr>
          <p:nvPr/>
        </p:nvCxnSpPr>
        <p:spPr>
          <a:xfrm>
            <a:off x="6772274" y="4741777"/>
            <a:ext cx="338137" cy="290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257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Execution of algorithm</a:t>
            </a:r>
            <a:endParaRPr lang="zh-TW" altLang="en-US" sz="36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AE33F64D-E629-4FAA-8D02-DA2B2504842C}"/>
              </a:ext>
            </a:extLst>
          </p:cNvPr>
          <p:cNvPicPr>
            <a:picLocks noChangeAspect="1"/>
          </p:cNvPicPr>
          <p:nvPr/>
        </p:nvPicPr>
        <p:blipFill>
          <a:blip r:embed="rId2"/>
          <a:stretch>
            <a:fillRect/>
          </a:stretch>
        </p:blipFill>
        <p:spPr>
          <a:xfrm>
            <a:off x="6029331" y="3514073"/>
            <a:ext cx="6043993" cy="3343927"/>
          </a:xfrm>
          <a:prstGeom prst="rect">
            <a:avLst/>
          </a:prstGeom>
        </p:spPr>
      </p:pic>
      <p:sp>
        <p:nvSpPr>
          <p:cNvPr id="15" name="文字方塊 14">
            <a:extLst>
              <a:ext uri="{FF2B5EF4-FFF2-40B4-BE49-F238E27FC236}">
                <a16:creationId xmlns:a16="http://schemas.microsoft.com/office/drawing/2014/main" id="{15DFBAB1-4653-4171-A38F-4463A353D026}"/>
              </a:ext>
            </a:extLst>
          </p:cNvPr>
          <p:cNvSpPr txBox="1"/>
          <p:nvPr/>
        </p:nvSpPr>
        <p:spPr>
          <a:xfrm>
            <a:off x="285750" y="4284017"/>
            <a:ext cx="5048250" cy="461665"/>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在 </a:t>
            </a:r>
            <a:r>
              <a:rPr lang="en-US" altLang="zh-TW" sz="2400" dirty="0">
                <a:latin typeface="Times New Roman" panose="02020603050405020304" pitchFamily="18" charset="0"/>
                <a:ea typeface="標楷體" panose="03000509000000000000" pitchFamily="65" charset="-120"/>
              </a:rPr>
              <a:t>Edit Graph </a:t>
            </a:r>
            <a:r>
              <a:rPr lang="zh-TW" altLang="en-US" sz="2400" dirty="0">
                <a:latin typeface="Times New Roman" panose="02020603050405020304" pitchFamily="18" charset="0"/>
                <a:ea typeface="標楷體" panose="03000509000000000000" pitchFamily="65" charset="-120"/>
              </a:rPr>
              <a:t>中，從 </a:t>
            </a:r>
            <a:r>
              <a:rPr lang="en-US" altLang="zh-TW" sz="2400" dirty="0">
                <a:latin typeface="Times New Roman" panose="02020603050405020304" pitchFamily="18" charset="0"/>
                <a:ea typeface="標楷體" panose="03000509000000000000" pitchFamily="65" charset="-120"/>
              </a:rPr>
              <a:t>(0,0) </a:t>
            </a:r>
            <a:r>
              <a:rPr lang="zh-TW" altLang="en-US" sz="2400" dirty="0">
                <a:latin typeface="Times New Roman" panose="02020603050405020304" pitchFamily="18" charset="0"/>
                <a:ea typeface="標楷體" panose="03000509000000000000" pitchFamily="65" charset="-120"/>
              </a:rPr>
              <a:t>走到 </a:t>
            </a:r>
            <a:r>
              <a:rPr lang="en-US" altLang="zh-TW" sz="2400" dirty="0">
                <a:latin typeface="Times New Roman" panose="02020603050405020304" pitchFamily="18" charset="0"/>
                <a:ea typeface="標楷體" panose="03000509000000000000" pitchFamily="65" charset="-120"/>
              </a:rPr>
              <a:t>(</a:t>
            </a:r>
            <a:r>
              <a:rPr lang="en-US" altLang="zh-TW" sz="2400" i="1" dirty="0" err="1">
                <a:latin typeface="Times New Roman" panose="02020603050405020304" pitchFamily="18" charset="0"/>
                <a:ea typeface="標楷體" panose="03000509000000000000" pitchFamily="65" charset="-120"/>
              </a:rPr>
              <a:t>i</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 </a:t>
            </a:r>
            <a:r>
              <a:rPr lang="en-US" altLang="zh-TW" sz="2400" i="1" dirty="0">
                <a:latin typeface="Times New Roman" panose="02020603050405020304" pitchFamily="18" charset="0"/>
                <a:ea typeface="標楷體" panose="03000509000000000000" pitchFamily="65" charset="-120"/>
              </a:rPr>
              <a:t>j</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p>
        </p:txBody>
      </p:sp>
      <p:cxnSp>
        <p:nvCxnSpPr>
          <p:cNvPr id="19" name="直線單箭頭接點 18">
            <a:extLst>
              <a:ext uri="{FF2B5EF4-FFF2-40B4-BE49-F238E27FC236}">
                <a16:creationId xmlns:a16="http://schemas.microsoft.com/office/drawing/2014/main" id="{42899B46-D57A-4F8E-8FA9-DDEC45F4F8C5}"/>
              </a:ext>
            </a:extLst>
          </p:cNvPr>
          <p:cNvCxnSpPr>
            <a:cxnSpLocks/>
          </p:cNvCxnSpPr>
          <p:nvPr/>
        </p:nvCxnSpPr>
        <p:spPr>
          <a:xfrm>
            <a:off x="5334000" y="4514850"/>
            <a:ext cx="170497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E7695B69-4F92-4165-B084-A4BFCC25D6C9}"/>
              </a:ext>
            </a:extLst>
          </p:cNvPr>
          <p:cNvSpPr txBox="1"/>
          <p:nvPr/>
        </p:nvSpPr>
        <p:spPr>
          <a:xfrm>
            <a:off x="285750" y="5515628"/>
            <a:ext cx="5048250" cy="830997"/>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在 </a:t>
            </a:r>
            <a:r>
              <a:rPr lang="en-US" altLang="zh-TW" sz="2400" dirty="0">
                <a:latin typeface="Times New Roman" panose="02020603050405020304" pitchFamily="18" charset="0"/>
                <a:ea typeface="標楷體" panose="03000509000000000000" pitchFamily="65" charset="-120"/>
              </a:rPr>
              <a:t>Edit Graph </a:t>
            </a:r>
            <a:r>
              <a:rPr lang="zh-TW" altLang="en-US" sz="2400" dirty="0">
                <a:latin typeface="Times New Roman" panose="02020603050405020304" pitchFamily="18" charset="0"/>
                <a:ea typeface="標楷體" panose="03000509000000000000" pitchFamily="65" charset="-120"/>
              </a:rPr>
              <a:t>中，從 </a:t>
            </a:r>
            <a:r>
              <a:rPr lang="en-US" altLang="zh-TW" sz="2400" dirty="0">
                <a:latin typeface="Times New Roman" panose="02020603050405020304" pitchFamily="18" charset="0"/>
                <a:ea typeface="標楷體" panose="03000509000000000000" pitchFamily="65" charset="-120"/>
              </a:rPr>
              <a:t>(</a:t>
            </a:r>
            <a:r>
              <a:rPr lang="en-US" altLang="zh-TW" sz="2400" i="1" dirty="0" err="1">
                <a:latin typeface="Times New Roman" panose="02020603050405020304" pitchFamily="18" charset="0"/>
                <a:ea typeface="標楷體" panose="03000509000000000000" pitchFamily="65" charset="-120"/>
              </a:rPr>
              <a:t>i</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a:t>
            </a:r>
            <a:r>
              <a:rPr lang="en-US" altLang="zh-TW" sz="2400" i="1" dirty="0">
                <a:latin typeface="Times New Roman" panose="02020603050405020304" pitchFamily="18" charset="0"/>
                <a:ea typeface="標楷體" panose="03000509000000000000" pitchFamily="65" charset="-120"/>
              </a:rPr>
              <a:t>j</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 </a:t>
            </a:r>
            <a:r>
              <a:rPr lang="zh-TW" altLang="en-US" sz="2400" dirty="0">
                <a:latin typeface="Times New Roman" panose="02020603050405020304" pitchFamily="18" charset="0"/>
                <a:ea typeface="標楷體" panose="03000509000000000000" pitchFamily="65" charset="-120"/>
              </a:rPr>
              <a:t>走到 </a:t>
            </a:r>
            <a:r>
              <a:rPr lang="en-US" altLang="zh-TW" sz="2400" dirty="0">
                <a:latin typeface="Times New Roman" panose="02020603050405020304" pitchFamily="18" charset="0"/>
                <a:ea typeface="標楷體" panose="03000509000000000000" pitchFamily="65" charset="-120"/>
              </a:rPr>
              <a:t>(</a:t>
            </a:r>
            <a:r>
              <a:rPr lang="en-US" altLang="zh-TW" sz="2400" i="1" dirty="0" err="1">
                <a:latin typeface="Times New Roman" panose="02020603050405020304" pitchFamily="18" charset="0"/>
                <a:ea typeface="標楷體" panose="03000509000000000000" pitchFamily="65" charset="-120"/>
              </a:rPr>
              <a:t>i</a:t>
            </a:r>
            <a:r>
              <a:rPr lang="en-US" altLang="zh-TW" sz="2400" dirty="0">
                <a:latin typeface="Times New Roman" panose="02020603050405020304" pitchFamily="18" charset="0"/>
                <a:ea typeface="標楷體" panose="03000509000000000000" pitchFamily="65" charset="-120"/>
              </a:rPr>
              <a:t>, </a:t>
            </a:r>
            <a:r>
              <a:rPr lang="en-US" altLang="zh-TW" sz="2400" i="1" dirty="0">
                <a:latin typeface="Times New Roman" panose="02020603050405020304" pitchFamily="18" charset="0"/>
                <a:ea typeface="標楷體" panose="03000509000000000000" pitchFamily="65" charset="-120"/>
              </a:rPr>
              <a:t>j</a:t>
            </a:r>
            <a:r>
              <a:rPr lang="en-US" altLang="zh-TW" sz="2400" dirty="0">
                <a:latin typeface="Times New Roman" panose="02020603050405020304" pitchFamily="18" charset="0"/>
                <a:ea typeface="標楷體" panose="03000509000000000000" pitchFamily="65" charset="-120"/>
              </a:rPr>
              <a:t>)</a:t>
            </a:r>
          </a:p>
          <a:p>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走 </a:t>
            </a:r>
            <a:r>
              <a:rPr lang="en-US" altLang="zh-TW" sz="2400" dirty="0">
                <a:latin typeface="Times New Roman" panose="02020603050405020304" pitchFamily="18" charset="0"/>
                <a:ea typeface="標楷體" panose="03000509000000000000" pitchFamily="65" charset="-120"/>
              </a:rPr>
              <a:t>Extended Path)</a:t>
            </a:r>
            <a:r>
              <a:rPr lang="zh-TW" altLang="en-US" sz="2400" dirty="0">
                <a:latin typeface="Times New Roman" panose="02020603050405020304" pitchFamily="18" charset="0"/>
                <a:ea typeface="標楷體" panose="03000509000000000000" pitchFamily="65" charset="-120"/>
              </a:rPr>
              <a:t>  </a:t>
            </a:r>
          </a:p>
        </p:txBody>
      </p:sp>
      <p:cxnSp>
        <p:nvCxnSpPr>
          <p:cNvPr id="32" name="直線單箭頭接點 31">
            <a:extLst>
              <a:ext uri="{FF2B5EF4-FFF2-40B4-BE49-F238E27FC236}">
                <a16:creationId xmlns:a16="http://schemas.microsoft.com/office/drawing/2014/main" id="{7F0F0CA6-7C6A-4BB9-B9F0-F27C5F22EEBA}"/>
              </a:ext>
            </a:extLst>
          </p:cNvPr>
          <p:cNvCxnSpPr>
            <a:cxnSpLocks/>
          </p:cNvCxnSpPr>
          <p:nvPr/>
        </p:nvCxnSpPr>
        <p:spPr>
          <a:xfrm>
            <a:off x="5334000" y="5831874"/>
            <a:ext cx="296227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AD85A376-8A0F-4641-905A-2260D9D3756B}"/>
              </a:ext>
            </a:extLst>
          </p:cNvPr>
          <p:cNvSpPr txBox="1"/>
          <p:nvPr/>
        </p:nvSpPr>
        <p:spPr>
          <a:xfrm>
            <a:off x="838200" y="1877351"/>
            <a:ext cx="9458326" cy="830997"/>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由於從 </a:t>
            </a:r>
            <a:r>
              <a:rPr lang="en-US" altLang="zh-TW" sz="2400" dirty="0">
                <a:latin typeface="Times New Roman" panose="02020603050405020304" pitchFamily="18" charset="0"/>
                <a:ea typeface="標楷體" panose="03000509000000000000" pitchFamily="65" charset="-120"/>
              </a:rPr>
              <a:t>(0,0) </a:t>
            </a:r>
            <a:r>
              <a:rPr lang="zh-TW" altLang="en-US" sz="2400" dirty="0">
                <a:latin typeface="Times New Roman" panose="02020603050405020304" pitchFamily="18" charset="0"/>
                <a:ea typeface="標楷體" panose="03000509000000000000" pitchFamily="65" charset="-120"/>
              </a:rPr>
              <a:t>走到 </a:t>
            </a:r>
            <a:r>
              <a:rPr lang="en-US" altLang="zh-TW" sz="2400" dirty="0">
                <a:latin typeface="Times New Roman" panose="02020603050405020304" pitchFamily="18" charset="0"/>
                <a:ea typeface="標楷體" panose="03000509000000000000" pitchFamily="65" charset="-120"/>
              </a:rPr>
              <a:t>(</a:t>
            </a:r>
            <a:r>
              <a:rPr lang="en-US" altLang="zh-TW" sz="2400" i="1" dirty="0" err="1">
                <a:latin typeface="Times New Roman" panose="02020603050405020304" pitchFamily="18" charset="0"/>
                <a:ea typeface="標楷體" panose="03000509000000000000" pitchFamily="65" charset="-120"/>
              </a:rPr>
              <a:t>i</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 </a:t>
            </a:r>
            <a:r>
              <a:rPr lang="en-US" altLang="zh-TW" sz="2400" i="1" dirty="0">
                <a:latin typeface="Times New Roman" panose="02020603050405020304" pitchFamily="18" charset="0"/>
                <a:ea typeface="標楷體" panose="03000509000000000000" pitchFamily="65" charset="-120"/>
              </a:rPr>
              <a:t>j</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及從 </a:t>
            </a:r>
            <a:r>
              <a:rPr lang="en-US" altLang="zh-TW" sz="2400" dirty="0">
                <a:latin typeface="Times New Roman" panose="02020603050405020304" pitchFamily="18" charset="0"/>
                <a:ea typeface="標楷體" panose="03000509000000000000" pitchFamily="65" charset="-120"/>
              </a:rPr>
              <a:t>(</a:t>
            </a:r>
            <a:r>
              <a:rPr lang="en-US" altLang="zh-TW" sz="2400" i="1" dirty="0" err="1">
                <a:latin typeface="Times New Roman" panose="02020603050405020304" pitchFamily="18" charset="0"/>
                <a:ea typeface="標楷體" panose="03000509000000000000" pitchFamily="65" charset="-120"/>
              </a:rPr>
              <a:t>i</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a:t>
            </a:r>
            <a:r>
              <a:rPr lang="en-US" altLang="zh-TW" sz="2400" i="1" dirty="0">
                <a:latin typeface="Times New Roman" panose="02020603050405020304" pitchFamily="18" charset="0"/>
                <a:ea typeface="標楷體" panose="03000509000000000000" pitchFamily="65" charset="-120"/>
              </a:rPr>
              <a:t>j</a:t>
            </a:r>
            <a:r>
              <a:rPr lang="en-US" altLang="zh-TW" sz="2400" dirty="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 </a:t>
            </a:r>
            <a:r>
              <a:rPr lang="zh-TW" altLang="en-US" sz="2400" dirty="0">
                <a:latin typeface="Times New Roman" panose="02020603050405020304" pitchFamily="18" charset="0"/>
                <a:ea typeface="標楷體" panose="03000509000000000000" pitchFamily="65" charset="-120"/>
              </a:rPr>
              <a:t>走到 </a:t>
            </a:r>
            <a:r>
              <a:rPr lang="en-US" altLang="zh-TW" sz="2400" dirty="0">
                <a:latin typeface="Times New Roman" panose="02020603050405020304" pitchFamily="18" charset="0"/>
                <a:ea typeface="標楷體" panose="03000509000000000000" pitchFamily="65" charset="-120"/>
              </a:rPr>
              <a:t>(</a:t>
            </a:r>
            <a:r>
              <a:rPr lang="en-US" altLang="zh-TW" sz="2400" i="1" dirty="0" err="1">
                <a:latin typeface="Times New Roman" panose="02020603050405020304" pitchFamily="18" charset="0"/>
                <a:ea typeface="標楷體" panose="03000509000000000000" pitchFamily="65" charset="-120"/>
              </a:rPr>
              <a:t>i</a:t>
            </a:r>
            <a:r>
              <a:rPr lang="en-US" altLang="zh-TW" sz="2400" dirty="0">
                <a:latin typeface="Times New Roman" panose="02020603050405020304" pitchFamily="18" charset="0"/>
                <a:ea typeface="標楷體" panose="03000509000000000000" pitchFamily="65" charset="-120"/>
              </a:rPr>
              <a:t>, </a:t>
            </a:r>
            <a:r>
              <a:rPr lang="en-US" altLang="zh-TW" sz="2400" i="1" dirty="0">
                <a:latin typeface="Times New Roman" panose="02020603050405020304" pitchFamily="18" charset="0"/>
                <a:ea typeface="標楷體" panose="03000509000000000000" pitchFamily="65" charset="-120"/>
              </a:rPr>
              <a:t>j</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是不同字串</a:t>
            </a:r>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才需要使用到提及 </a:t>
            </a:r>
            <a:r>
              <a:rPr lang="en-US" altLang="zh-TW" sz="2400" dirty="0" err="1">
                <a:latin typeface="Times New Roman" panose="02020603050405020304" pitchFamily="18" charset="0"/>
                <a:ea typeface="標楷體" panose="03000509000000000000" pitchFamily="65" charset="-120"/>
              </a:rPr>
              <a:t>maxOut</a:t>
            </a:r>
            <a:r>
              <a:rPr lang="zh-TW" altLang="en-US" sz="2400" dirty="0">
                <a:latin typeface="Times New Roman" panose="02020603050405020304" pitchFamily="18" charset="0"/>
                <a:ea typeface="標楷體" panose="03000509000000000000" pitchFamily="65" charset="-120"/>
              </a:rPr>
              <a:t>  的那篇論文來連接，並保持最佳的</a:t>
            </a:r>
            <a:r>
              <a:rPr lang="en-US" altLang="zh-TW" sz="2400" dirty="0">
                <a:latin typeface="Times New Roman" panose="02020603050405020304" pitchFamily="18" charset="0"/>
                <a:ea typeface="標楷體" panose="03000509000000000000" pitchFamily="65" charset="-120"/>
              </a:rPr>
              <a:t>weight</a:t>
            </a:r>
            <a:endParaRPr lang="zh-TW" altLang="en-US" sz="2400"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3635215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Experiment</a:t>
            </a:r>
            <a:endParaRPr lang="zh-TW" altLang="en-US" sz="36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66AD6B7B-15B2-433D-A96F-5367C74B5330}"/>
              </a:ext>
            </a:extLst>
          </p:cNvPr>
          <p:cNvPicPr>
            <a:picLocks noChangeAspect="1"/>
          </p:cNvPicPr>
          <p:nvPr/>
        </p:nvPicPr>
        <p:blipFill>
          <a:blip r:embed="rId2"/>
          <a:stretch>
            <a:fillRect/>
          </a:stretch>
        </p:blipFill>
        <p:spPr>
          <a:xfrm>
            <a:off x="5477873" y="0"/>
            <a:ext cx="6714127" cy="6851337"/>
          </a:xfrm>
          <a:prstGeom prst="rect">
            <a:avLst/>
          </a:prstGeom>
        </p:spPr>
      </p:pic>
      <p:sp>
        <p:nvSpPr>
          <p:cNvPr id="3" name="文字方塊 2">
            <a:extLst>
              <a:ext uri="{FF2B5EF4-FFF2-40B4-BE49-F238E27FC236}">
                <a16:creationId xmlns:a16="http://schemas.microsoft.com/office/drawing/2014/main" id="{3E0219E7-1AC1-497C-BFCE-47A5FB3FC4CC}"/>
              </a:ext>
            </a:extLst>
          </p:cNvPr>
          <p:cNvSpPr txBox="1"/>
          <p:nvPr/>
        </p:nvSpPr>
        <p:spPr>
          <a:xfrm>
            <a:off x="333375" y="2222798"/>
            <a:ext cx="5048250" cy="2677656"/>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比對人類與黑猩猩的基因</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若不考慮 </a:t>
            </a:r>
            <a:r>
              <a:rPr lang="en-US" altLang="zh-TW" sz="2400" dirty="0">
                <a:latin typeface="Times New Roman" panose="02020603050405020304" pitchFamily="18" charset="0"/>
                <a:ea typeface="標楷體" panose="03000509000000000000" pitchFamily="65" charset="-120"/>
              </a:rPr>
              <a:t>threshold </a:t>
            </a:r>
            <a:r>
              <a:rPr lang="zh-TW" altLang="en-US" sz="2400" dirty="0">
                <a:latin typeface="Times New Roman" panose="02020603050405020304" pitchFamily="18" charset="0"/>
                <a:ea typeface="標楷體" panose="03000509000000000000" pitchFamily="65" charset="-120"/>
              </a:rPr>
              <a:t>則有 </a:t>
            </a:r>
            <a:r>
              <a:rPr lang="en-US" altLang="zh-TW" sz="2400" dirty="0">
                <a:latin typeface="Times New Roman" panose="02020603050405020304" pitchFamily="18" charset="0"/>
                <a:ea typeface="標楷體" panose="03000509000000000000" pitchFamily="65" charset="-120"/>
              </a:rPr>
              <a:t>98.6%</a:t>
            </a:r>
            <a:r>
              <a:rPr lang="zh-TW" altLang="en-US" sz="2400" dirty="0">
                <a:latin typeface="Times New Roman" panose="02020603050405020304" pitchFamily="18" charset="0"/>
                <a:ea typeface="標楷體" panose="03000509000000000000" pitchFamily="65" charset="-120"/>
              </a:rPr>
              <a:t> 基因可成功配對</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若考慮 </a:t>
            </a:r>
            <a:r>
              <a:rPr lang="en-US" altLang="zh-TW" sz="2400" dirty="0">
                <a:latin typeface="Times New Roman" panose="02020603050405020304" pitchFamily="18" charset="0"/>
                <a:ea typeface="標楷體" panose="03000509000000000000" pitchFamily="65" charset="-120"/>
              </a:rPr>
              <a:t>threshold</a:t>
            </a:r>
            <a:r>
              <a:rPr lang="zh-TW" altLang="en-US" sz="2400" dirty="0">
                <a:latin typeface="Times New Roman" panose="02020603050405020304" pitchFamily="18" charset="0"/>
                <a:ea typeface="標楷體" panose="03000509000000000000" pitchFamily="65" charset="-120"/>
              </a:rPr>
              <a:t> 則有 </a:t>
            </a:r>
            <a:r>
              <a:rPr lang="en-US" altLang="zh-TW" sz="2400" dirty="0">
                <a:latin typeface="Times New Roman" panose="02020603050405020304" pitchFamily="18" charset="0"/>
                <a:ea typeface="標楷體" panose="03000509000000000000" pitchFamily="65" charset="-120"/>
              </a:rPr>
              <a:t>94.8%</a:t>
            </a:r>
            <a:r>
              <a:rPr lang="zh-TW" altLang="en-US" sz="2400" dirty="0">
                <a:latin typeface="Times New Roman" panose="02020603050405020304" pitchFamily="18" charset="0"/>
                <a:ea typeface="標楷體" panose="03000509000000000000" pitchFamily="65" charset="-120"/>
              </a:rPr>
              <a:t> 基因可成功配對</a:t>
            </a:r>
          </a:p>
        </p:txBody>
      </p:sp>
      <p:sp>
        <p:nvSpPr>
          <p:cNvPr id="6" name="文字方塊 5">
            <a:extLst>
              <a:ext uri="{FF2B5EF4-FFF2-40B4-BE49-F238E27FC236}">
                <a16:creationId xmlns:a16="http://schemas.microsoft.com/office/drawing/2014/main" id="{3CE4503A-7E8C-41F4-9C50-1151C81686EA}"/>
              </a:ext>
            </a:extLst>
          </p:cNvPr>
          <p:cNvSpPr txBox="1"/>
          <p:nvPr/>
        </p:nvSpPr>
        <p:spPr>
          <a:xfrm>
            <a:off x="2981325" y="6308209"/>
            <a:ext cx="2581275" cy="369332"/>
          </a:xfrm>
          <a:prstGeom prst="rect">
            <a:avLst/>
          </a:prstGeom>
          <a:noFill/>
        </p:spPr>
        <p:txBody>
          <a:bodyPr wrap="square" rtlCol="0">
            <a:spAutoFit/>
          </a:bodyPr>
          <a:lstStyle/>
          <a:p>
            <a:r>
              <a:rPr lang="zh-TW" altLang="en-US" dirty="0">
                <a:latin typeface="Times New Roman" panose="02020603050405020304" pitchFamily="18" charset="0"/>
                <a:ea typeface="標楷體" panose="03000509000000000000" pitchFamily="65" charset="-120"/>
              </a:rPr>
              <a:t>此圖為有考慮 </a:t>
            </a:r>
            <a:r>
              <a:rPr lang="en-US" altLang="zh-TW" dirty="0">
                <a:latin typeface="Times New Roman" panose="02020603050405020304" pitchFamily="18" charset="0"/>
                <a:ea typeface="標楷體" panose="03000509000000000000" pitchFamily="65" charset="-120"/>
              </a:rPr>
              <a:t>threshold</a:t>
            </a:r>
            <a:endParaRPr lang="zh-TW" altLang="en-US" dirty="0">
              <a:latin typeface="Times New Roman" panose="02020603050405020304" pitchFamily="18" charset="0"/>
              <a:ea typeface="標楷體" panose="03000509000000000000" pitchFamily="65" charset="-120"/>
            </a:endParaRPr>
          </a:p>
        </p:txBody>
      </p:sp>
      <p:sp>
        <p:nvSpPr>
          <p:cNvPr id="7" name="矩形 6">
            <a:extLst>
              <a:ext uri="{FF2B5EF4-FFF2-40B4-BE49-F238E27FC236}">
                <a16:creationId xmlns:a16="http://schemas.microsoft.com/office/drawing/2014/main" id="{21C4D79E-E02A-4930-9E92-C14A891FB2C6}"/>
              </a:ext>
            </a:extLst>
          </p:cNvPr>
          <p:cNvSpPr/>
          <p:nvPr/>
        </p:nvSpPr>
        <p:spPr>
          <a:xfrm>
            <a:off x="9267825" y="92074"/>
            <a:ext cx="723900" cy="193675"/>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Tree>
    <p:extLst>
      <p:ext uri="{BB962C8B-B14F-4D97-AF65-F5344CB8AC3E}">
        <p14:creationId xmlns:p14="http://schemas.microsoft.com/office/powerpoint/2010/main" val="4176885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4EA574-3B95-4984-9C04-9D877333A38D}"/>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Experiment</a:t>
            </a:r>
            <a:endParaRPr lang="zh-TW" altLang="en-US" sz="36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3E0219E7-1AC1-497C-BFCE-47A5FB3FC4CC}"/>
              </a:ext>
            </a:extLst>
          </p:cNvPr>
          <p:cNvSpPr txBox="1"/>
          <p:nvPr/>
        </p:nvSpPr>
        <p:spPr>
          <a:xfrm>
            <a:off x="838199" y="2022773"/>
            <a:ext cx="10906125" cy="2308324"/>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rPr>
              <a:t>If the sequences to be aligned were DNA sequences then Algorithm 1 was faster than</a:t>
            </a:r>
          </a:p>
          <a:p>
            <a:r>
              <a:rPr lang="en-US" altLang="zh-TW" sz="2400" dirty="0">
                <a:latin typeface="Times New Roman" panose="02020603050405020304" pitchFamily="18" charset="0"/>
                <a:ea typeface="標楷體" panose="03000509000000000000" pitchFamily="65" charset="-120"/>
              </a:rPr>
              <a:t>sparse algorithm, but if the sequences to be aligned were sequences of DNA fragments, where the number of </a:t>
            </a:r>
            <a:r>
              <a:rPr lang="en-US" altLang="zh-TW" sz="2400" dirty="0">
                <a:solidFill>
                  <a:srgbClr val="FF0000"/>
                </a:solidFill>
                <a:latin typeface="Times New Roman" panose="02020603050405020304" pitchFamily="18" charset="0"/>
                <a:ea typeface="標楷體" panose="03000509000000000000" pitchFamily="65" charset="-120"/>
              </a:rPr>
              <a:t>matches is small</a:t>
            </a:r>
            <a:r>
              <a:rPr lang="en-US" altLang="zh-TW" sz="2400" dirty="0">
                <a:latin typeface="Times New Roman" panose="02020603050405020304" pitchFamily="18" charset="0"/>
                <a:ea typeface="標楷體" panose="03000509000000000000" pitchFamily="65" charset="-120"/>
              </a:rPr>
              <a:t>, then the sparse algorithm was faster than the Algorithm 1</a:t>
            </a:r>
          </a:p>
          <a:p>
            <a:endParaRPr lang="en-US" altLang="zh-TW" sz="2400" dirty="0">
              <a:latin typeface="Times New Roman" panose="02020603050405020304" pitchFamily="18" charset="0"/>
              <a:ea typeface="標楷體" panose="03000509000000000000" pitchFamily="65" charset="-120"/>
            </a:endParaRPr>
          </a:p>
          <a:p>
            <a:r>
              <a:rPr lang="en-US" altLang="zh-TW" sz="2400" dirty="0">
                <a:latin typeface="Times New Roman" panose="02020603050405020304" pitchFamily="18" charset="0"/>
                <a:ea typeface="標楷體" panose="03000509000000000000" pitchFamily="65" charset="-120"/>
              </a:rPr>
              <a:t>O(</a:t>
            </a:r>
            <a:r>
              <a:rPr lang="en-US" altLang="zh-TW" sz="2400" i="1" dirty="0">
                <a:latin typeface="Times New Roman" panose="02020603050405020304" pitchFamily="18" charset="0"/>
                <a:ea typeface="標楷體" panose="03000509000000000000" pitchFamily="65" charset="-120"/>
              </a:rPr>
              <a:t>n</a:t>
            </a:r>
            <a:r>
              <a:rPr lang="en-US" altLang="zh-TW" sz="2400" baseline="30000" dirty="0">
                <a:latin typeface="Times New Roman" panose="02020603050405020304" pitchFamily="18" charset="0"/>
                <a:ea typeface="標楷體" panose="03000509000000000000" pitchFamily="65" charset="-120"/>
              </a:rPr>
              <a:t>3</a:t>
            </a:r>
            <a:r>
              <a:rPr lang="en-US" altLang="zh-TW" sz="2400" dirty="0">
                <a:latin typeface="Times New Roman" panose="02020603050405020304" pitchFamily="18" charset="0"/>
                <a:ea typeface="標楷體" panose="03000509000000000000" pitchFamily="65" charset="-120"/>
              </a:rPr>
              <a:t>)  ?  O(</a:t>
            </a:r>
            <a:r>
              <a:rPr lang="en-US" altLang="zh-TW" sz="2400" i="1" dirty="0">
                <a:latin typeface="Times New Roman" panose="02020603050405020304" pitchFamily="18" charset="0"/>
                <a:ea typeface="標楷體" panose="03000509000000000000" pitchFamily="65" charset="-120"/>
              </a:rPr>
              <a:t>r</a:t>
            </a:r>
            <a:r>
              <a:rPr lang="en-US" altLang="zh-TW" sz="2400" baseline="30000" dirty="0">
                <a:latin typeface="Times New Roman" panose="02020603050405020304" pitchFamily="18" charset="0"/>
                <a:ea typeface="標楷體" panose="03000509000000000000" pitchFamily="65" charset="-120"/>
              </a:rPr>
              <a:t>2</a:t>
            </a:r>
            <a:r>
              <a:rPr lang="en-US" altLang="zh-TW" sz="2400" dirty="0">
                <a:latin typeface="Times New Roman" panose="02020603050405020304" pitchFamily="18" charset="0"/>
                <a:ea typeface="標楷體" panose="03000509000000000000" pitchFamily="65" charset="-120"/>
              </a:rPr>
              <a:t>log</a:t>
            </a:r>
            <a:r>
              <a:rPr lang="en-US" altLang="zh-TW" sz="2400" baseline="30000" dirty="0">
                <a:latin typeface="Times New Roman" panose="02020603050405020304" pitchFamily="18" charset="0"/>
                <a:ea typeface="標楷體" panose="03000509000000000000" pitchFamily="65" charset="-120"/>
              </a:rPr>
              <a:t>2</a:t>
            </a:r>
            <a:r>
              <a:rPr lang="en-US" altLang="zh-TW" sz="2400" i="1" dirty="0">
                <a:latin typeface="Times New Roman" panose="02020603050405020304" pitchFamily="18" charset="0"/>
                <a:ea typeface="標楷體" panose="03000509000000000000" pitchFamily="65" charset="-120"/>
              </a:rPr>
              <a:t>r</a:t>
            </a:r>
            <a:r>
              <a:rPr lang="en-US" altLang="zh-TW" sz="2400" dirty="0">
                <a:latin typeface="Times New Roman" panose="02020603050405020304" pitchFamily="18" charset="0"/>
                <a:ea typeface="標楷體" panose="03000509000000000000" pitchFamily="65" charset="-120"/>
              </a:rPr>
              <a:t>), </a:t>
            </a:r>
            <a:r>
              <a:rPr lang="en-US" altLang="zh-TW" sz="2400" i="1" dirty="0">
                <a:latin typeface="Times New Roman" panose="02020603050405020304" pitchFamily="18" charset="0"/>
                <a:ea typeface="標楷體" panose="03000509000000000000" pitchFamily="65" charset="-120"/>
              </a:rPr>
              <a:t>r</a:t>
            </a:r>
            <a:r>
              <a:rPr lang="en-US" altLang="zh-TW" sz="2400" dirty="0">
                <a:latin typeface="Times New Roman" panose="02020603050405020304" pitchFamily="18" charset="0"/>
                <a:ea typeface="標楷體" panose="03000509000000000000" pitchFamily="65" charset="-120"/>
              </a:rPr>
              <a:t> = the number of matches</a:t>
            </a:r>
            <a:endParaRPr lang="zh-TW" altLang="en-US" sz="2400"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144946334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3078</TotalTime>
  <Words>1114</Words>
  <Application>Microsoft Office PowerPoint</Application>
  <PresentationFormat>寬螢幕</PresentationFormat>
  <Paragraphs>171</Paragraphs>
  <Slides>14</Slides>
  <Notes>5</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14</vt:i4>
      </vt:variant>
    </vt:vector>
  </HeadingPairs>
  <TitlesOfParts>
    <vt:vector size="23" baseType="lpstr">
      <vt:lpstr>Roboto</vt:lpstr>
      <vt:lpstr>標楷體</vt:lpstr>
      <vt:lpstr>Arial</vt:lpstr>
      <vt:lpstr>Arial</vt:lpstr>
      <vt:lpstr>Calibri</vt:lpstr>
      <vt:lpstr>Calibri Light</vt:lpstr>
      <vt:lpstr>Courier New</vt:lpstr>
      <vt:lpstr>Times New Roman</vt:lpstr>
      <vt:lpstr>Office 佈景主題</vt:lpstr>
      <vt:lpstr>Alignment with Non-overlapping Inversions in O(n3)-Time</vt:lpstr>
      <vt:lpstr>Abstract (1/2)</vt:lpstr>
      <vt:lpstr>Abstract (2/2)</vt:lpstr>
      <vt:lpstr>Alignments with non-overlapping inversions</vt:lpstr>
      <vt:lpstr>Edit graph &amp; Extended edit graph</vt:lpstr>
      <vt:lpstr>Algorithm</vt:lpstr>
      <vt:lpstr>Algorithm</vt:lpstr>
      <vt:lpstr>maxOut</vt:lpstr>
      <vt:lpstr>maxOut (SMAWK Algorithm 的衍伸)</vt:lpstr>
      <vt:lpstr>buildBLH</vt:lpstr>
      <vt:lpstr>buildBLH</vt:lpstr>
      <vt:lpstr>Execution of algorithm</vt:lpstr>
      <vt:lpstr>Experiment</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String Matching Algorithm Based on Logical Indexing</dc:title>
  <dc:creator>育誠 張</dc:creator>
  <cp:lastModifiedBy>育誠 張</cp:lastModifiedBy>
  <cp:revision>937</cp:revision>
  <dcterms:created xsi:type="dcterms:W3CDTF">2020-01-13T05:19:55Z</dcterms:created>
  <dcterms:modified xsi:type="dcterms:W3CDTF">2020-08-18T05:43:40Z</dcterms:modified>
</cp:coreProperties>
</file>