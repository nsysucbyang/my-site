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321" r:id="rId2"/>
    <p:sldId id="311" r:id="rId3"/>
    <p:sldId id="352" r:id="rId4"/>
    <p:sldId id="333" r:id="rId5"/>
    <p:sldId id="306" r:id="rId6"/>
    <p:sldId id="353" r:id="rId7"/>
    <p:sldId id="354" r:id="rId8"/>
    <p:sldId id="355" r:id="rId9"/>
    <p:sldId id="356" r:id="rId10"/>
    <p:sldId id="357" r:id="rId11"/>
    <p:sldId id="358" r:id="rId12"/>
    <p:sldId id="359" r:id="rId13"/>
    <p:sldId id="360" r:id="rId14"/>
    <p:sldId id="361" r:id="rId15"/>
    <p:sldId id="362" r:id="rId16"/>
    <p:sldId id="363" r:id="rId17"/>
    <p:sldId id="364"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 id="2" name="BBOBBOX" initials="B" lastIdx="1" clrIdx="1">
    <p:extLst>
      <p:ext uri="{19B8F6BF-5375-455C-9EA6-DF929625EA0E}">
        <p15:presenceInfo xmlns:p15="http://schemas.microsoft.com/office/powerpoint/2012/main" userId="BBOBBOX"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5948" autoAdjust="0"/>
  </p:normalViewPr>
  <p:slideViewPr>
    <p:cSldViewPr snapToGrid="0">
      <p:cViewPr varScale="1">
        <p:scale>
          <a:sx n="62" d="100"/>
          <a:sy n="62" d="100"/>
        </p:scale>
        <p:origin x="1644"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2020/8/18</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662194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746490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dirty="0"/>
              <a:t>r2 : [0,2</a:t>
            </a:r>
            <a:r>
              <a:rPr lang="zh-TW" altLang="en-US" b="0" dirty="0"/>
              <a:t>拍</a:t>
            </a:r>
            <a:r>
              <a:rPr lang="en-US" altLang="zh-TW" b="0" dirty="0"/>
              <a:t>]</a:t>
            </a:r>
          </a:p>
          <a:p>
            <a:r>
              <a:rPr lang="en-US" altLang="zh-TW" b="0" dirty="0"/>
              <a:t>r4 : [0,1]</a:t>
            </a:r>
            <a:endParaRPr lang="zh-TW" altLang="en-US" b="0"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370413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dirty="0"/>
              <a:t>Explore : (1,2] [-2,-1)</a:t>
            </a:r>
          </a:p>
          <a:p>
            <a:r>
              <a:rPr lang="en-US" altLang="zh-TW" b="0" dirty="0" err="1"/>
              <a:t>Expoit</a:t>
            </a:r>
            <a:r>
              <a:rPr lang="en-US" altLang="zh-TW" b="0" dirty="0"/>
              <a:t> : [-1,1]</a:t>
            </a:r>
            <a:endParaRPr lang="zh-TW" altLang="en-US" b="0"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4255081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dirty="0"/>
              <a:t>SCA</a:t>
            </a:r>
            <a:r>
              <a:rPr lang="zh-TW" altLang="en-US" b="0" dirty="0"/>
              <a:t> </a:t>
            </a:r>
            <a:r>
              <a:rPr lang="en-US" altLang="zh-TW" b="0" dirty="0"/>
              <a:t>:</a:t>
            </a:r>
            <a:r>
              <a:rPr lang="zh-TW" altLang="en-US" b="0" dirty="0"/>
              <a:t> </a:t>
            </a:r>
            <a:r>
              <a:rPr lang="en-US" altLang="zh-TW" sz="1800" b="0" i="0" u="none" strike="noStrike" baseline="0" dirty="0">
                <a:latin typeface="Gulliver"/>
              </a:rPr>
              <a:t>slow convergence and the tendency to become trapped in local optima solutions</a:t>
            </a:r>
          </a:p>
          <a:p>
            <a:r>
              <a:rPr lang="en-US" altLang="zh-TW" sz="1800" b="0" i="0" u="none" strike="noStrike" baseline="0" dirty="0">
                <a:latin typeface="Gulliver"/>
              </a:rPr>
              <a:t>the bottom layer focuses on exploring the search space</a:t>
            </a:r>
          </a:p>
          <a:p>
            <a:r>
              <a:rPr lang="en-US" altLang="zh-TW" sz="1800" b="0" i="0" u="none" strike="noStrike" baseline="0" dirty="0">
                <a:latin typeface="Gulliver"/>
              </a:rPr>
              <a:t>the top layer focuses on exploiting the best solutions found by the bottom layer.</a:t>
            </a:r>
          </a:p>
          <a:p>
            <a:r>
              <a:rPr lang="en-US" altLang="zh-TW" sz="1800" b="0" i="1" u="none" strike="noStrike" baseline="0" dirty="0">
                <a:latin typeface="Gulliver-Italic"/>
              </a:rPr>
              <a:t>y </a:t>
            </a:r>
            <a:r>
              <a:rPr lang="en-US" altLang="zh-TW" sz="1800" b="0" i="1" u="none" strike="noStrike" baseline="0" dirty="0" err="1">
                <a:latin typeface="Gulliver-Italic"/>
              </a:rPr>
              <a:t>i</a:t>
            </a:r>
            <a:r>
              <a:rPr lang="en-US" altLang="zh-TW" sz="1800" b="0" i="1" u="none" strike="noStrike" baseline="0" dirty="0">
                <a:latin typeface="Gulliver-Italic"/>
              </a:rPr>
              <a:t> </a:t>
            </a:r>
            <a:r>
              <a:rPr lang="en-US" altLang="zh-TW" sz="1800" b="0" i="0" u="none" strike="noStrike" baseline="0" dirty="0">
                <a:latin typeface="Gulliver"/>
              </a:rPr>
              <a:t>also represents the best solution found by each </a:t>
            </a:r>
            <a:r>
              <a:rPr lang="en-US" altLang="zh-TW" sz="1800" b="0" i="1" u="none" strike="noStrike" baseline="0" dirty="0" err="1">
                <a:latin typeface="Gulliver-Italic"/>
              </a:rPr>
              <a:t>i</a:t>
            </a:r>
            <a:r>
              <a:rPr lang="en-US" altLang="zh-TW" sz="1800" b="0" i="1" u="none" strike="noStrike" baseline="0" dirty="0">
                <a:latin typeface="Gulliver-Italic"/>
              </a:rPr>
              <a:t> </a:t>
            </a:r>
            <a:r>
              <a:rPr lang="en-US" altLang="zh-TW" sz="1800" b="0" i="0" u="none" strike="noStrike" baseline="0" dirty="0">
                <a:latin typeface="Gulliver"/>
              </a:rPr>
              <a:t>group in the bottom layer.</a:t>
            </a:r>
          </a:p>
          <a:p>
            <a:r>
              <a:rPr lang="en-US" altLang="zh-TW" sz="1800" b="0" i="0" u="none" strike="noStrike" baseline="0" dirty="0">
                <a:latin typeface="Gulliver"/>
              </a:rPr>
              <a:t>( </a:t>
            </a:r>
            <a:r>
              <a:rPr lang="en-US" altLang="zh-TW" sz="1800" b="0" i="1" u="none" strike="noStrike" baseline="0" dirty="0">
                <a:latin typeface="Gulliver-Italic"/>
              </a:rPr>
              <a:t>y </a:t>
            </a:r>
            <a:r>
              <a:rPr lang="en-US" altLang="zh-TW" sz="1800" b="0" i="1" u="none" strike="noStrike" baseline="0" dirty="0" err="1">
                <a:latin typeface="Gulliver-Italic"/>
              </a:rPr>
              <a:t>i</a:t>
            </a:r>
            <a:r>
              <a:rPr lang="en-US" altLang="zh-TW" sz="1800" b="0" i="1" u="none" strike="noStrike" baseline="0" dirty="0">
                <a:latin typeface="Gulliver-Italic"/>
              </a:rPr>
              <a:t> </a:t>
            </a:r>
            <a:r>
              <a:rPr lang="en-US" altLang="zh-TW" sz="1800" b="0" i="0" u="none" strike="noStrike" baseline="0" dirty="0" err="1">
                <a:latin typeface="Gulliver"/>
              </a:rPr>
              <a:t>pbest</a:t>
            </a:r>
            <a:r>
              <a:rPr lang="en-US" altLang="zh-TW" sz="1800" b="0" i="0" u="none" strike="noStrike" baseline="0" dirty="0">
                <a:latin typeface="Gulliver"/>
              </a:rPr>
              <a:t> ) represents the best single solution for </a:t>
            </a:r>
            <a:r>
              <a:rPr lang="en-US" altLang="zh-TW" sz="1800" b="0" i="1" u="none" strike="noStrike" baseline="0" dirty="0">
                <a:latin typeface="Gulliver-Italic"/>
              </a:rPr>
              <a:t>y </a:t>
            </a:r>
            <a:r>
              <a:rPr lang="en-US" altLang="zh-TW" sz="1800" b="0" i="1" u="none" strike="noStrike" baseline="0" dirty="0" err="1">
                <a:latin typeface="Gulliver-Italic"/>
              </a:rPr>
              <a:t>i</a:t>
            </a:r>
            <a:r>
              <a:rPr lang="en-US" altLang="zh-TW" sz="1800" b="0" i="1" u="none" strike="noStrike" baseline="0" dirty="0">
                <a:latin typeface="Gulliver-Italic"/>
              </a:rPr>
              <a:t> </a:t>
            </a:r>
            <a:r>
              <a:rPr lang="en-US" altLang="zh-TW" sz="1800" b="0" i="0" u="none" strike="noStrike" baseline="0" dirty="0">
                <a:latin typeface="Gulliver"/>
              </a:rPr>
              <a:t>over all previous iterations.</a:t>
            </a:r>
          </a:p>
          <a:p>
            <a:r>
              <a:rPr lang="en-US" altLang="zh-TW" sz="1800" b="0" i="1" u="none" strike="noStrike" baseline="0" dirty="0">
                <a:latin typeface="Gulliver-Italic"/>
              </a:rPr>
              <a:t>y </a:t>
            </a:r>
            <a:r>
              <a:rPr lang="en-US" altLang="zh-TW" sz="1800" b="0" i="0" u="none" strike="noStrike" baseline="0" dirty="0" err="1">
                <a:latin typeface="Gulliver"/>
              </a:rPr>
              <a:t>gbest</a:t>
            </a:r>
            <a:r>
              <a:rPr lang="en-US" altLang="zh-TW" sz="1800" b="0" i="0" u="none" strike="noStrike" baseline="0" dirty="0">
                <a:latin typeface="Gulliver"/>
              </a:rPr>
              <a:t> is the best global solution for all individuals and is determined as the best solution in the top layer</a:t>
            </a:r>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2480592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0" dirty="0"/>
              <a:t>SCA</a:t>
            </a:r>
            <a:r>
              <a:rPr lang="zh-TW" altLang="en-US" b="0" dirty="0"/>
              <a:t> </a:t>
            </a:r>
            <a:r>
              <a:rPr lang="en-US" altLang="zh-TW" b="0" dirty="0"/>
              <a:t>:</a:t>
            </a:r>
            <a:r>
              <a:rPr lang="zh-TW" altLang="en-US" b="0" dirty="0"/>
              <a:t> </a:t>
            </a:r>
            <a:r>
              <a:rPr lang="en-US" altLang="zh-TW" sz="1800" b="0" i="0" u="none" strike="noStrike" baseline="0" dirty="0">
                <a:latin typeface="Gulliver"/>
              </a:rPr>
              <a:t>slow convergence and the tendency to become trapped in local optima solutions</a:t>
            </a:r>
          </a:p>
          <a:p>
            <a:r>
              <a:rPr lang="en-US" altLang="zh-TW" sz="1800" b="0" i="0" u="none" strike="noStrike" baseline="0" dirty="0">
                <a:latin typeface="Gulliver"/>
              </a:rPr>
              <a:t>the bottom layer focuses on exploring the search space</a:t>
            </a:r>
          </a:p>
          <a:p>
            <a:r>
              <a:rPr lang="en-US" altLang="zh-TW" sz="1800" b="0" i="0" u="none" strike="noStrike" baseline="0" dirty="0">
                <a:latin typeface="Gulliver"/>
              </a:rPr>
              <a:t>the top layer focuses on exploiting the best solutions found by the bottom layer.</a:t>
            </a:r>
          </a:p>
          <a:p>
            <a:r>
              <a:rPr lang="en-US" altLang="zh-TW" sz="1800" b="0" i="1" u="none" strike="noStrike" baseline="0" dirty="0">
                <a:latin typeface="Gulliver-Italic"/>
              </a:rPr>
              <a:t>y </a:t>
            </a:r>
            <a:r>
              <a:rPr lang="en-US" altLang="zh-TW" sz="1800" b="0" i="1" u="none" strike="noStrike" baseline="0" dirty="0" err="1">
                <a:latin typeface="Gulliver-Italic"/>
              </a:rPr>
              <a:t>i</a:t>
            </a:r>
            <a:r>
              <a:rPr lang="en-US" altLang="zh-TW" sz="1800" b="0" i="1" u="none" strike="noStrike" baseline="0" dirty="0">
                <a:latin typeface="Gulliver-Italic"/>
              </a:rPr>
              <a:t> </a:t>
            </a:r>
            <a:r>
              <a:rPr lang="en-US" altLang="zh-TW" sz="1800" b="0" i="0" u="none" strike="noStrike" baseline="0" dirty="0">
                <a:latin typeface="Gulliver"/>
              </a:rPr>
              <a:t>also represents the best solution found by each </a:t>
            </a:r>
            <a:r>
              <a:rPr lang="en-US" altLang="zh-TW" sz="1800" b="0" i="1" u="none" strike="noStrike" baseline="0" dirty="0" err="1">
                <a:latin typeface="Gulliver-Italic"/>
              </a:rPr>
              <a:t>i</a:t>
            </a:r>
            <a:r>
              <a:rPr lang="en-US" altLang="zh-TW" sz="1800" b="0" i="1" u="none" strike="noStrike" baseline="0" dirty="0">
                <a:latin typeface="Gulliver-Italic"/>
              </a:rPr>
              <a:t> </a:t>
            </a:r>
            <a:r>
              <a:rPr lang="en-US" altLang="zh-TW" sz="1800" b="0" i="0" u="none" strike="noStrike" baseline="0" dirty="0">
                <a:latin typeface="Gulliver"/>
              </a:rPr>
              <a:t>group in the bottom layer.</a:t>
            </a:r>
          </a:p>
          <a:p>
            <a:r>
              <a:rPr lang="en-US" altLang="zh-TW" sz="1800" b="0" i="0" u="none" strike="noStrike" baseline="0" dirty="0">
                <a:latin typeface="Gulliver"/>
              </a:rPr>
              <a:t>( </a:t>
            </a:r>
            <a:r>
              <a:rPr lang="en-US" altLang="zh-TW" sz="1800" b="0" i="1" u="none" strike="noStrike" baseline="0" dirty="0">
                <a:latin typeface="Gulliver-Italic"/>
              </a:rPr>
              <a:t>y </a:t>
            </a:r>
            <a:r>
              <a:rPr lang="en-US" altLang="zh-TW" sz="1800" b="0" i="1" u="none" strike="noStrike" baseline="0" dirty="0" err="1">
                <a:latin typeface="Gulliver-Italic"/>
              </a:rPr>
              <a:t>i</a:t>
            </a:r>
            <a:r>
              <a:rPr lang="en-US" altLang="zh-TW" sz="1800" b="0" i="1" u="none" strike="noStrike" baseline="0" dirty="0">
                <a:latin typeface="Gulliver-Italic"/>
              </a:rPr>
              <a:t> </a:t>
            </a:r>
            <a:r>
              <a:rPr lang="en-US" altLang="zh-TW" sz="1800" b="0" i="0" u="none" strike="noStrike" baseline="0" dirty="0" err="1">
                <a:latin typeface="Gulliver"/>
              </a:rPr>
              <a:t>pbest</a:t>
            </a:r>
            <a:r>
              <a:rPr lang="en-US" altLang="zh-TW" sz="1800" b="0" i="0" u="none" strike="noStrike" baseline="0" dirty="0">
                <a:latin typeface="Gulliver"/>
              </a:rPr>
              <a:t> ) represents the best single solution for </a:t>
            </a:r>
            <a:r>
              <a:rPr lang="en-US" altLang="zh-TW" sz="1800" b="0" i="1" u="none" strike="noStrike" baseline="0" dirty="0">
                <a:latin typeface="Gulliver-Italic"/>
              </a:rPr>
              <a:t>y </a:t>
            </a:r>
            <a:r>
              <a:rPr lang="en-US" altLang="zh-TW" sz="1800" b="0" i="1" u="none" strike="noStrike" baseline="0" dirty="0" err="1">
                <a:latin typeface="Gulliver-Italic"/>
              </a:rPr>
              <a:t>i</a:t>
            </a:r>
            <a:r>
              <a:rPr lang="en-US" altLang="zh-TW" sz="1800" b="0" i="1" u="none" strike="noStrike" baseline="0" dirty="0">
                <a:latin typeface="Gulliver-Italic"/>
              </a:rPr>
              <a:t> </a:t>
            </a:r>
            <a:r>
              <a:rPr lang="en-US" altLang="zh-TW" sz="1800" b="0" i="0" u="none" strike="noStrike" baseline="0" dirty="0">
                <a:latin typeface="Gulliver"/>
              </a:rPr>
              <a:t>over all previous iterations.</a:t>
            </a:r>
          </a:p>
          <a:p>
            <a:r>
              <a:rPr lang="en-US" altLang="zh-TW" sz="1800" b="0" i="1" u="none" strike="noStrike" baseline="0" dirty="0">
                <a:latin typeface="Gulliver-Italic"/>
              </a:rPr>
              <a:t>y </a:t>
            </a:r>
            <a:r>
              <a:rPr lang="en-US" altLang="zh-TW" sz="1800" b="0" i="0" u="none" strike="noStrike" baseline="0" dirty="0" err="1">
                <a:latin typeface="Gulliver"/>
              </a:rPr>
              <a:t>gbest</a:t>
            </a:r>
            <a:r>
              <a:rPr lang="en-US" altLang="zh-TW" sz="1800" b="0" i="0" u="none" strike="noStrike" baseline="0" dirty="0">
                <a:latin typeface="Gulliver"/>
              </a:rPr>
              <a:t> is the best global solution for all individuals and is determined as the best solution in the top layer</a:t>
            </a:r>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502360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1864166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1098609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3689677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2087618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544433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13157165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1132289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16</a:t>
            </a:fld>
            <a:endParaRPr lang="zh-TW" altLang="en-US"/>
          </a:p>
        </p:txBody>
      </p:sp>
    </p:spTree>
    <p:extLst>
      <p:ext uri="{BB962C8B-B14F-4D97-AF65-F5344CB8AC3E}">
        <p14:creationId xmlns:p14="http://schemas.microsoft.com/office/powerpoint/2010/main" val="21212310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17</a:t>
            </a:fld>
            <a:endParaRPr lang="zh-TW" altLang="en-US"/>
          </a:p>
        </p:txBody>
      </p:sp>
    </p:spTree>
    <p:extLst>
      <p:ext uri="{BB962C8B-B14F-4D97-AF65-F5344CB8AC3E}">
        <p14:creationId xmlns:p14="http://schemas.microsoft.com/office/powerpoint/2010/main" val="3178908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2020/8/18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2020/8/18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97908" y="1884738"/>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ASCA-PSO :</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Adaptive Sine Cosine Optimization Algorithm Integrated with Particle Swarm for Pairwise Local</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Sequence Alignment</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03874" y="3174788"/>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Mohamed Issa, </a:t>
            </a:r>
            <a:r>
              <a:rPr lang="en-US" altLang="zh-TW" sz="2800" dirty="0" err="1">
                <a:latin typeface="Times New Roman" panose="02020603050405020304" pitchFamily="18" charset="0"/>
                <a:cs typeface="Times New Roman" panose="02020603050405020304" pitchFamily="18" charset="0"/>
              </a:rPr>
              <a:t>Aboul</a:t>
            </a:r>
            <a:r>
              <a:rPr lang="en-US" altLang="zh-TW" sz="2800" dirty="0">
                <a:latin typeface="Times New Roman" panose="02020603050405020304" pitchFamily="18" charset="0"/>
                <a:cs typeface="Times New Roman" panose="02020603050405020304" pitchFamily="18" charset="0"/>
              </a:rPr>
              <a:t> Ella </a:t>
            </a:r>
            <a:r>
              <a:rPr lang="en-US" altLang="zh-TW" sz="2800" dirty="0" err="1">
                <a:latin typeface="Times New Roman" panose="02020603050405020304" pitchFamily="18" charset="0"/>
                <a:cs typeface="Times New Roman" panose="02020603050405020304" pitchFamily="18" charset="0"/>
              </a:rPr>
              <a:t>Hassanien</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en-US" altLang="zh-TW" sz="2800" dirty="0">
                <a:latin typeface="Times New Roman" panose="02020603050405020304" pitchFamily="18" charset="0"/>
                <a:cs typeface="Times New Roman" panose="02020603050405020304" pitchFamily="18" charset="0"/>
              </a:rPr>
              <a:t>Diego Oliva, Ahmed Helmi, Ibrahim </a:t>
            </a:r>
            <a:r>
              <a:rPr lang="en-US" altLang="zh-TW" sz="2800" dirty="0" err="1">
                <a:latin typeface="Times New Roman" panose="02020603050405020304" pitchFamily="18" charset="0"/>
                <a:cs typeface="Times New Roman" panose="02020603050405020304" pitchFamily="18" charset="0"/>
              </a:rPr>
              <a:t>Ziedan</a:t>
            </a:r>
            <a:r>
              <a:rPr lang="en-US" altLang="zh-TW" sz="2800" dirty="0">
                <a:latin typeface="Times New Roman" panose="02020603050405020304" pitchFamily="18" charset="0"/>
                <a:cs typeface="Times New Roman" panose="02020603050405020304" pitchFamily="18" charset="0"/>
              </a:rPr>
              <a:t> and Ahmed </a:t>
            </a:r>
            <a:r>
              <a:rPr lang="en-US" altLang="zh-TW" sz="2800" dirty="0" err="1">
                <a:latin typeface="Times New Roman" panose="02020603050405020304" pitchFamily="18" charset="0"/>
                <a:cs typeface="Times New Roman" panose="02020603050405020304" pitchFamily="18" charset="0"/>
              </a:rPr>
              <a:t>Alzohairy</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Aug. 18,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760553" y="4436965"/>
            <a:ext cx="7622889" cy="461665"/>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Expert Systems with Applications, 2018, Vol. 99, pp.56-70. </a:t>
            </a: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The sine cosine algorithm (SCA), a recently proposed population-based optimization algorithm, is based on the use of sine and cosine trigonometric functions as operators to update the movements of the search agents. To optimize performance, different parameters on the SCA must be appropriately tuned. Setting such parameters is challenging because they permit the algorithm to escape from local optima and avoid premature convergence. The main drawback of the SCA is that the parameter setting only affects the exploitation of the prominent regions. However, the SCA has good exploration capabilities. This article presents an enhanced version of the SCA by merging it with particle swarm optimization (PSO). solutions in terms of accuracy and computational time.</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961795"/>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PSO exploits the search space better than the operators of the standard SCA. The proposed algorithm, called ASCA-PSO, has been tested over several unimodal and multimodal benchmark functions, which show its superiority over the SCA and other recent and standard meta-heuristic algorithms. Moreover, to verify the capabilities of the SCA, the SCA has been used to solve the real-world problem of a pairwise </a:t>
            </a:r>
            <a:r>
              <a:rPr lang="en-US" altLang="zh-TW">
                <a:latin typeface="Times New Roman" panose="02020603050405020304" pitchFamily="18" charset="0"/>
                <a:cs typeface="Times New Roman" panose="02020603050405020304" pitchFamily="18" charset="0"/>
              </a:rPr>
              <a:t>local alignment </a:t>
            </a:r>
            <a:r>
              <a:rPr lang="en-US" altLang="zh-TW" dirty="0">
                <a:latin typeface="Times New Roman" panose="02020603050405020304" pitchFamily="18" charset="0"/>
                <a:cs typeface="Times New Roman" panose="02020603050405020304" pitchFamily="18" charset="0"/>
              </a:rPr>
              <a:t>algorithm that tends to find the longest consecutive substrings between two biological sequences. Experimental results provide evidence of the good performance of the ASCA-PSO solutions in terms of accuracy and computational time.</a:t>
            </a:r>
          </a:p>
        </p:txBody>
      </p:sp>
    </p:spTree>
    <p:extLst>
      <p:ext uri="{BB962C8B-B14F-4D97-AF65-F5344CB8AC3E}">
        <p14:creationId xmlns:p14="http://schemas.microsoft.com/office/powerpoint/2010/main" val="111982675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Particle Swarm Optimization (PSO)</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4" name="圖片 3">
            <a:extLst>
              <a:ext uri="{FF2B5EF4-FFF2-40B4-BE49-F238E27FC236}">
                <a16:creationId xmlns:a16="http://schemas.microsoft.com/office/drawing/2014/main" id="{F5AF350D-319A-4B75-9F3D-C419B8337EF3}"/>
              </a:ext>
            </a:extLst>
          </p:cNvPr>
          <p:cNvPicPr>
            <a:picLocks noChangeAspect="1"/>
          </p:cNvPicPr>
          <p:nvPr/>
        </p:nvPicPr>
        <p:blipFill>
          <a:blip r:embed="rId4"/>
          <a:stretch>
            <a:fillRect/>
          </a:stretch>
        </p:blipFill>
        <p:spPr>
          <a:xfrm>
            <a:off x="630844" y="1077194"/>
            <a:ext cx="7590476" cy="3142857"/>
          </a:xfrm>
          <a:prstGeom prst="rect">
            <a:avLst/>
          </a:prstGeom>
        </p:spPr>
      </p:pic>
      <p:pic>
        <p:nvPicPr>
          <p:cNvPr id="6" name="圖片 5">
            <a:extLst>
              <a:ext uri="{FF2B5EF4-FFF2-40B4-BE49-F238E27FC236}">
                <a16:creationId xmlns:a16="http://schemas.microsoft.com/office/drawing/2014/main" id="{A86835EB-C16A-408A-9701-0BC679ED497E}"/>
              </a:ext>
            </a:extLst>
          </p:cNvPr>
          <p:cNvPicPr>
            <a:picLocks noChangeAspect="1"/>
          </p:cNvPicPr>
          <p:nvPr/>
        </p:nvPicPr>
        <p:blipFill>
          <a:blip r:embed="rId5"/>
          <a:stretch>
            <a:fillRect/>
          </a:stretch>
        </p:blipFill>
        <p:spPr>
          <a:xfrm>
            <a:off x="630844" y="4362927"/>
            <a:ext cx="7105218" cy="1563871"/>
          </a:xfrm>
          <a:prstGeom prst="rect">
            <a:avLst/>
          </a:prstGeom>
        </p:spPr>
      </p:pic>
    </p:spTree>
    <p:extLst>
      <p:ext uri="{BB962C8B-B14F-4D97-AF65-F5344CB8AC3E}">
        <p14:creationId xmlns:p14="http://schemas.microsoft.com/office/powerpoint/2010/main" val="21528538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6" y="402395"/>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Sine-cosine Optimization Algorithm (SCA)(1/2)</a:t>
            </a: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3" name="圖片 2">
            <a:extLst>
              <a:ext uri="{FF2B5EF4-FFF2-40B4-BE49-F238E27FC236}">
                <a16:creationId xmlns:a16="http://schemas.microsoft.com/office/drawing/2014/main" id="{11C07E11-2A4D-4C68-8280-6F2E53B12031}"/>
              </a:ext>
            </a:extLst>
          </p:cNvPr>
          <p:cNvPicPr>
            <a:picLocks noChangeAspect="1"/>
          </p:cNvPicPr>
          <p:nvPr/>
        </p:nvPicPr>
        <p:blipFill>
          <a:blip r:embed="rId4"/>
          <a:stretch>
            <a:fillRect/>
          </a:stretch>
        </p:blipFill>
        <p:spPr>
          <a:xfrm>
            <a:off x="786286" y="1139151"/>
            <a:ext cx="7571428" cy="3276190"/>
          </a:xfrm>
          <a:prstGeom prst="rect">
            <a:avLst/>
          </a:prstGeom>
        </p:spPr>
      </p:pic>
      <p:pic>
        <p:nvPicPr>
          <p:cNvPr id="4" name="圖片 3">
            <a:extLst>
              <a:ext uri="{FF2B5EF4-FFF2-40B4-BE49-F238E27FC236}">
                <a16:creationId xmlns:a16="http://schemas.microsoft.com/office/drawing/2014/main" id="{9E9EDF1A-DF0E-4900-BBFC-F02CBE376584}"/>
              </a:ext>
            </a:extLst>
          </p:cNvPr>
          <p:cNvPicPr>
            <a:picLocks noChangeAspect="1"/>
          </p:cNvPicPr>
          <p:nvPr/>
        </p:nvPicPr>
        <p:blipFill>
          <a:blip r:embed="rId5"/>
          <a:stretch>
            <a:fillRect/>
          </a:stretch>
        </p:blipFill>
        <p:spPr>
          <a:xfrm>
            <a:off x="786286" y="4491278"/>
            <a:ext cx="6324633" cy="970573"/>
          </a:xfrm>
          <a:prstGeom prst="rect">
            <a:avLst/>
          </a:prstGeom>
        </p:spPr>
      </p:pic>
      <p:pic>
        <p:nvPicPr>
          <p:cNvPr id="5" name="圖片 4">
            <a:extLst>
              <a:ext uri="{FF2B5EF4-FFF2-40B4-BE49-F238E27FC236}">
                <a16:creationId xmlns:a16="http://schemas.microsoft.com/office/drawing/2014/main" id="{005255A3-CF53-4499-9708-2C5483D27B7E}"/>
              </a:ext>
            </a:extLst>
          </p:cNvPr>
          <p:cNvPicPr>
            <a:picLocks noChangeAspect="1"/>
          </p:cNvPicPr>
          <p:nvPr/>
        </p:nvPicPr>
        <p:blipFill>
          <a:blip r:embed="rId6"/>
          <a:stretch>
            <a:fillRect/>
          </a:stretch>
        </p:blipFill>
        <p:spPr>
          <a:xfrm>
            <a:off x="786286" y="5615240"/>
            <a:ext cx="5860396" cy="616884"/>
          </a:xfrm>
          <a:prstGeom prst="rect">
            <a:avLst/>
          </a:prstGeom>
        </p:spPr>
      </p:pic>
    </p:spTree>
    <p:extLst>
      <p:ext uri="{BB962C8B-B14F-4D97-AF65-F5344CB8AC3E}">
        <p14:creationId xmlns:p14="http://schemas.microsoft.com/office/powerpoint/2010/main" val="11308117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2"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Sine-cosine Optimization Algorithm (SCA)(2/2)</a:t>
            </a: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6" name="圖片 5">
            <a:extLst>
              <a:ext uri="{FF2B5EF4-FFF2-40B4-BE49-F238E27FC236}">
                <a16:creationId xmlns:a16="http://schemas.microsoft.com/office/drawing/2014/main" id="{F5E803DF-A338-472B-BC1B-84EA7A39E2F2}"/>
              </a:ext>
            </a:extLst>
          </p:cNvPr>
          <p:cNvPicPr>
            <a:picLocks noChangeAspect="1"/>
          </p:cNvPicPr>
          <p:nvPr/>
        </p:nvPicPr>
        <p:blipFill>
          <a:blip r:embed="rId4"/>
          <a:stretch>
            <a:fillRect/>
          </a:stretch>
        </p:blipFill>
        <p:spPr>
          <a:xfrm>
            <a:off x="600859" y="934318"/>
            <a:ext cx="7942274" cy="3288317"/>
          </a:xfrm>
          <a:prstGeom prst="rect">
            <a:avLst/>
          </a:prstGeom>
        </p:spPr>
      </p:pic>
      <p:pic>
        <p:nvPicPr>
          <p:cNvPr id="7" name="圖片 6">
            <a:extLst>
              <a:ext uri="{FF2B5EF4-FFF2-40B4-BE49-F238E27FC236}">
                <a16:creationId xmlns:a16="http://schemas.microsoft.com/office/drawing/2014/main" id="{F12D4D10-74FE-415F-BB0C-36D3F289CE96}"/>
              </a:ext>
            </a:extLst>
          </p:cNvPr>
          <p:cNvPicPr>
            <a:picLocks noChangeAspect="1"/>
          </p:cNvPicPr>
          <p:nvPr/>
        </p:nvPicPr>
        <p:blipFill>
          <a:blip r:embed="rId5"/>
          <a:stretch>
            <a:fillRect/>
          </a:stretch>
        </p:blipFill>
        <p:spPr>
          <a:xfrm>
            <a:off x="1496956" y="4314255"/>
            <a:ext cx="6150081" cy="2447068"/>
          </a:xfrm>
          <a:prstGeom prst="rect">
            <a:avLst/>
          </a:prstGeom>
        </p:spPr>
      </p:pic>
    </p:spTree>
    <p:extLst>
      <p:ext uri="{BB962C8B-B14F-4D97-AF65-F5344CB8AC3E}">
        <p14:creationId xmlns:p14="http://schemas.microsoft.com/office/powerpoint/2010/main" val="33987889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6" y="402395"/>
            <a:ext cx="8491867" cy="583367"/>
          </a:xfrm>
        </p:spPr>
        <p:txBody>
          <a:bodyPr>
            <a:noAutofit/>
          </a:bodyPr>
          <a:lstStyle/>
          <a:p>
            <a:r>
              <a:rPr lang="en-US" altLang="zh-TW" sz="2800" b="1" dirty="0">
                <a:latin typeface="Times New Roman" panose="02020603050405020304" pitchFamily="18" charset="0"/>
                <a:cs typeface="Times New Roman" panose="02020603050405020304" pitchFamily="18" charset="0"/>
              </a:rPr>
              <a:t>Adaptive Sine Cosine Integrated with Particle Swarm (ASCA-PSO)(1/2)</a:t>
            </a:r>
          </a:p>
        </p:txBody>
      </p:sp>
      <p:pic>
        <p:nvPicPr>
          <p:cNvPr id="6" name="圖片 5">
            <a:extLst>
              <a:ext uri="{FF2B5EF4-FFF2-40B4-BE49-F238E27FC236}">
                <a16:creationId xmlns:a16="http://schemas.microsoft.com/office/drawing/2014/main" id="{2B085A5F-DF52-4B0C-ACB7-E4870449E801}"/>
              </a:ext>
            </a:extLst>
          </p:cNvPr>
          <p:cNvPicPr>
            <a:picLocks noChangeAspect="1"/>
          </p:cNvPicPr>
          <p:nvPr/>
        </p:nvPicPr>
        <p:blipFill>
          <a:blip r:embed="rId3"/>
          <a:stretch>
            <a:fillRect/>
          </a:stretch>
        </p:blipFill>
        <p:spPr>
          <a:xfrm>
            <a:off x="1264594" y="1224478"/>
            <a:ext cx="6614809" cy="2659355"/>
          </a:xfrm>
          <a:prstGeom prst="rect">
            <a:avLst/>
          </a:prstGeom>
        </p:spPr>
      </p:pic>
      <p:pic>
        <p:nvPicPr>
          <p:cNvPr id="7" name="圖片 6">
            <a:extLst>
              <a:ext uri="{FF2B5EF4-FFF2-40B4-BE49-F238E27FC236}">
                <a16:creationId xmlns:a16="http://schemas.microsoft.com/office/drawing/2014/main" id="{B0C1879D-1AFB-4D59-BD33-68A6DA65026E}"/>
              </a:ext>
            </a:extLst>
          </p:cNvPr>
          <p:cNvPicPr>
            <a:picLocks noChangeAspect="1"/>
          </p:cNvPicPr>
          <p:nvPr/>
        </p:nvPicPr>
        <p:blipFill>
          <a:blip r:embed="rId4"/>
          <a:stretch>
            <a:fillRect/>
          </a:stretch>
        </p:blipFill>
        <p:spPr>
          <a:xfrm>
            <a:off x="838406" y="4122549"/>
            <a:ext cx="6116872" cy="882755"/>
          </a:xfrm>
          <a:prstGeom prst="rect">
            <a:avLst/>
          </a:prstGeom>
        </p:spPr>
      </p:pic>
      <p:pic>
        <p:nvPicPr>
          <p:cNvPr id="8" name="圖片 7">
            <a:extLst>
              <a:ext uri="{FF2B5EF4-FFF2-40B4-BE49-F238E27FC236}">
                <a16:creationId xmlns:a16="http://schemas.microsoft.com/office/drawing/2014/main" id="{CC1D60B8-9EE0-462A-B173-F40C2FF4820E}"/>
              </a:ext>
            </a:extLst>
          </p:cNvPr>
          <p:cNvPicPr>
            <a:picLocks noChangeAspect="1"/>
          </p:cNvPicPr>
          <p:nvPr/>
        </p:nvPicPr>
        <p:blipFill>
          <a:blip r:embed="rId5"/>
          <a:stretch>
            <a:fillRect/>
          </a:stretch>
        </p:blipFill>
        <p:spPr>
          <a:xfrm>
            <a:off x="838407" y="5244021"/>
            <a:ext cx="6116872" cy="1370252"/>
          </a:xfrm>
          <a:prstGeom prst="rect">
            <a:avLst/>
          </a:prstGeom>
        </p:spPr>
      </p:pic>
      <p:cxnSp>
        <p:nvCxnSpPr>
          <p:cNvPr id="13" name="直線單箭頭接點 12">
            <a:extLst>
              <a:ext uri="{FF2B5EF4-FFF2-40B4-BE49-F238E27FC236}">
                <a16:creationId xmlns:a16="http://schemas.microsoft.com/office/drawing/2014/main" id="{310ADAF1-56F7-4DAF-AF64-C16920172F93}"/>
              </a:ext>
            </a:extLst>
          </p:cNvPr>
          <p:cNvCxnSpPr>
            <a:cxnSpLocks/>
            <a:stCxn id="7" idx="0"/>
            <a:endCxn id="6" idx="2"/>
          </p:cNvCxnSpPr>
          <p:nvPr/>
        </p:nvCxnSpPr>
        <p:spPr>
          <a:xfrm flipV="1">
            <a:off x="3896842" y="3883833"/>
            <a:ext cx="675157" cy="23871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5" name="接點: 肘形 14">
            <a:extLst>
              <a:ext uri="{FF2B5EF4-FFF2-40B4-BE49-F238E27FC236}">
                <a16:creationId xmlns:a16="http://schemas.microsoft.com/office/drawing/2014/main" id="{F4042028-9B99-4578-8C1E-D10A2B7EE896}"/>
              </a:ext>
            </a:extLst>
          </p:cNvPr>
          <p:cNvCxnSpPr>
            <a:cxnSpLocks/>
            <a:stCxn id="8" idx="3"/>
            <a:endCxn id="6" idx="0"/>
          </p:cNvCxnSpPr>
          <p:nvPr/>
        </p:nvCxnSpPr>
        <p:spPr>
          <a:xfrm flipH="1" flipV="1">
            <a:off x="4571999" y="1224478"/>
            <a:ext cx="2383280" cy="4704669"/>
          </a:xfrm>
          <a:prstGeom prst="bentConnector4">
            <a:avLst>
              <a:gd name="adj1" fmla="val -48367"/>
              <a:gd name="adj2" fmla="val 104859"/>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041722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6" y="402395"/>
            <a:ext cx="8491867" cy="583367"/>
          </a:xfrm>
        </p:spPr>
        <p:txBody>
          <a:bodyPr>
            <a:noAutofit/>
          </a:bodyPr>
          <a:lstStyle/>
          <a:p>
            <a:r>
              <a:rPr lang="en-US" altLang="zh-TW" sz="2800" b="1" dirty="0">
                <a:latin typeface="Times New Roman" panose="02020603050405020304" pitchFamily="18" charset="0"/>
                <a:cs typeface="Times New Roman" panose="02020603050405020304" pitchFamily="18" charset="0"/>
              </a:rPr>
              <a:t>Adaptive Sine Cosine Integrated with Particle Swarm (ASCA-PSO)(2/2)</a:t>
            </a:r>
          </a:p>
        </p:txBody>
      </p:sp>
      <p:pic>
        <p:nvPicPr>
          <p:cNvPr id="3" name="圖片 2">
            <a:extLst>
              <a:ext uri="{FF2B5EF4-FFF2-40B4-BE49-F238E27FC236}">
                <a16:creationId xmlns:a16="http://schemas.microsoft.com/office/drawing/2014/main" id="{1F90EBF0-7548-407E-A25C-63BF3D5A7218}"/>
              </a:ext>
            </a:extLst>
          </p:cNvPr>
          <p:cNvPicPr>
            <a:picLocks noChangeAspect="1"/>
          </p:cNvPicPr>
          <p:nvPr/>
        </p:nvPicPr>
        <p:blipFill>
          <a:blip r:embed="rId3"/>
          <a:stretch>
            <a:fillRect/>
          </a:stretch>
        </p:blipFill>
        <p:spPr>
          <a:xfrm>
            <a:off x="1329142" y="1250623"/>
            <a:ext cx="6485714" cy="5057143"/>
          </a:xfrm>
          <a:prstGeom prst="rect">
            <a:avLst/>
          </a:prstGeom>
        </p:spPr>
      </p:pic>
    </p:spTree>
    <p:extLst>
      <p:ext uri="{BB962C8B-B14F-4D97-AF65-F5344CB8AC3E}">
        <p14:creationId xmlns:p14="http://schemas.microsoft.com/office/powerpoint/2010/main" val="316373065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6" y="402395"/>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Experimental Results and Discussion(1/3)</a:t>
            </a:r>
          </a:p>
        </p:txBody>
      </p:sp>
      <p:pic>
        <p:nvPicPr>
          <p:cNvPr id="5" name="圖片 4">
            <a:extLst>
              <a:ext uri="{FF2B5EF4-FFF2-40B4-BE49-F238E27FC236}">
                <a16:creationId xmlns:a16="http://schemas.microsoft.com/office/drawing/2014/main" id="{73ADCEB6-3A8D-4613-9944-06545C6D7142}"/>
              </a:ext>
            </a:extLst>
          </p:cNvPr>
          <p:cNvPicPr>
            <a:picLocks noChangeAspect="1"/>
          </p:cNvPicPr>
          <p:nvPr/>
        </p:nvPicPr>
        <p:blipFill>
          <a:blip r:embed="rId3"/>
          <a:stretch>
            <a:fillRect/>
          </a:stretch>
        </p:blipFill>
        <p:spPr>
          <a:xfrm>
            <a:off x="650703" y="1107513"/>
            <a:ext cx="7842592" cy="5050095"/>
          </a:xfrm>
          <a:prstGeom prst="rect">
            <a:avLst/>
          </a:prstGeom>
        </p:spPr>
      </p:pic>
    </p:spTree>
    <p:extLst>
      <p:ext uri="{BB962C8B-B14F-4D97-AF65-F5344CB8AC3E}">
        <p14:creationId xmlns:p14="http://schemas.microsoft.com/office/powerpoint/2010/main" val="31586969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6" y="402395"/>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Experimental Results and Discussion(2/3)</a:t>
            </a:r>
          </a:p>
        </p:txBody>
      </p:sp>
      <p:pic>
        <p:nvPicPr>
          <p:cNvPr id="4" name="圖片 3">
            <a:extLst>
              <a:ext uri="{FF2B5EF4-FFF2-40B4-BE49-F238E27FC236}">
                <a16:creationId xmlns:a16="http://schemas.microsoft.com/office/drawing/2014/main" id="{88ECECC0-7BA6-4D1B-AC88-A9378067FB57}"/>
              </a:ext>
            </a:extLst>
          </p:cNvPr>
          <p:cNvPicPr>
            <a:picLocks noChangeAspect="1"/>
          </p:cNvPicPr>
          <p:nvPr/>
        </p:nvPicPr>
        <p:blipFill>
          <a:blip r:embed="rId3"/>
          <a:stretch>
            <a:fillRect/>
          </a:stretch>
        </p:blipFill>
        <p:spPr>
          <a:xfrm>
            <a:off x="425717" y="1951014"/>
            <a:ext cx="8292564" cy="3732153"/>
          </a:xfrm>
          <a:prstGeom prst="rect">
            <a:avLst/>
          </a:prstGeom>
        </p:spPr>
      </p:pic>
      <p:sp>
        <p:nvSpPr>
          <p:cNvPr id="8" name="矩形 7">
            <a:extLst>
              <a:ext uri="{FF2B5EF4-FFF2-40B4-BE49-F238E27FC236}">
                <a16:creationId xmlns:a16="http://schemas.microsoft.com/office/drawing/2014/main" id="{33488D9C-98DF-4844-BC6D-DD74BF52A1C1}"/>
              </a:ext>
            </a:extLst>
          </p:cNvPr>
          <p:cNvSpPr/>
          <p:nvPr/>
        </p:nvSpPr>
        <p:spPr>
          <a:xfrm>
            <a:off x="326066" y="1174833"/>
            <a:ext cx="7622889" cy="461665"/>
          </a:xfrm>
          <a:prstGeom prst="rect">
            <a:avLst/>
          </a:prstGeom>
        </p:spPr>
        <p:txBody>
          <a:bodyPr wrap="square">
            <a:spAutoFit/>
          </a:bodyPr>
          <a:lstStyle/>
          <a:p>
            <a:pPr marL="342900" indent="-342900" algn="ctr">
              <a:buFont typeface="Arial" panose="020B0604020202020204" pitchFamily="34" charset="0"/>
              <a:buChar char="•"/>
            </a:pP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Standard deviation of testing functions for all algorithms</a:t>
            </a:r>
          </a:p>
        </p:txBody>
      </p:sp>
    </p:spTree>
    <p:extLst>
      <p:ext uri="{BB962C8B-B14F-4D97-AF65-F5344CB8AC3E}">
        <p14:creationId xmlns:p14="http://schemas.microsoft.com/office/powerpoint/2010/main" val="185509335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6" y="402395"/>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Experimental Results and Discussion(3/3)</a:t>
            </a:r>
          </a:p>
        </p:txBody>
      </p:sp>
      <p:pic>
        <p:nvPicPr>
          <p:cNvPr id="3" name="圖片 2">
            <a:extLst>
              <a:ext uri="{FF2B5EF4-FFF2-40B4-BE49-F238E27FC236}">
                <a16:creationId xmlns:a16="http://schemas.microsoft.com/office/drawing/2014/main" id="{AC453737-4795-4DD0-8101-9395A6825FA2}"/>
              </a:ext>
            </a:extLst>
          </p:cNvPr>
          <p:cNvPicPr>
            <a:picLocks noChangeAspect="1"/>
          </p:cNvPicPr>
          <p:nvPr/>
        </p:nvPicPr>
        <p:blipFill>
          <a:blip r:embed="rId3"/>
          <a:stretch>
            <a:fillRect/>
          </a:stretch>
        </p:blipFill>
        <p:spPr>
          <a:xfrm>
            <a:off x="1331567" y="1935562"/>
            <a:ext cx="6480863" cy="4212561"/>
          </a:xfrm>
          <a:prstGeom prst="rect">
            <a:avLst/>
          </a:prstGeom>
        </p:spPr>
      </p:pic>
      <p:sp>
        <p:nvSpPr>
          <p:cNvPr id="6" name="矩形 5">
            <a:extLst>
              <a:ext uri="{FF2B5EF4-FFF2-40B4-BE49-F238E27FC236}">
                <a16:creationId xmlns:a16="http://schemas.microsoft.com/office/drawing/2014/main" id="{6ECD07DB-5666-4431-9AC6-9E98F66E2F3F}"/>
              </a:ext>
            </a:extLst>
          </p:cNvPr>
          <p:cNvSpPr/>
          <p:nvPr/>
        </p:nvSpPr>
        <p:spPr>
          <a:xfrm>
            <a:off x="326066" y="1174833"/>
            <a:ext cx="7942445" cy="461665"/>
          </a:xfrm>
          <a:prstGeom prst="rect">
            <a:avLst/>
          </a:prstGeom>
        </p:spPr>
        <p:txBody>
          <a:bodyPr wrap="square">
            <a:spAutoFit/>
          </a:bodyPr>
          <a:lstStyle/>
          <a:p>
            <a:pPr marL="342900" indent="-342900">
              <a:buFont typeface="Arial" panose="020B0604020202020204" pitchFamily="34" charset="0"/>
              <a:buChar char="•"/>
            </a:pP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The elapsed time of computing functions for all</a:t>
            </a:r>
            <a:r>
              <a:rPr lang="zh-TW" altLang="en-US" sz="24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algorithms</a:t>
            </a:r>
          </a:p>
        </p:txBody>
      </p:sp>
    </p:spTree>
    <p:extLst>
      <p:ext uri="{BB962C8B-B14F-4D97-AF65-F5344CB8AC3E}">
        <p14:creationId xmlns:p14="http://schemas.microsoft.com/office/powerpoint/2010/main" val="13723590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6" y="292402"/>
            <a:ext cx="9092837" cy="583367"/>
          </a:xfrm>
        </p:spPr>
        <p:txBody>
          <a:bodyPr>
            <a:noAutofit/>
          </a:bodyPr>
          <a:lstStyle/>
          <a:p>
            <a:r>
              <a:rPr lang="en-US" altLang="zh-TW" sz="2600" b="1" dirty="0">
                <a:latin typeface="Times New Roman" panose="02020603050405020304" pitchFamily="18" charset="0"/>
                <a:cs typeface="Times New Roman" panose="02020603050405020304" pitchFamily="18" charset="0"/>
              </a:rPr>
              <a:t>The Fragmentation Local Alignment Proposed</a:t>
            </a:r>
            <a:r>
              <a:rPr lang="zh-TW" altLang="en-US" sz="2600" b="1" dirty="0">
                <a:latin typeface="Times New Roman" panose="02020603050405020304" pitchFamily="18" charset="0"/>
                <a:cs typeface="Times New Roman" panose="02020603050405020304" pitchFamily="18" charset="0"/>
              </a:rPr>
              <a:t> </a:t>
            </a:r>
            <a:r>
              <a:rPr lang="en-US" altLang="zh-TW" sz="2600" b="1" dirty="0">
                <a:latin typeface="Times New Roman" panose="02020603050405020304" pitchFamily="18" charset="0"/>
                <a:cs typeface="Times New Roman" panose="02020603050405020304" pitchFamily="18" charset="0"/>
              </a:rPr>
              <a:t>Method (1/2)</a:t>
            </a:r>
          </a:p>
        </p:txBody>
      </p:sp>
      <p:pic>
        <p:nvPicPr>
          <p:cNvPr id="4" name="圖片 3">
            <a:extLst>
              <a:ext uri="{FF2B5EF4-FFF2-40B4-BE49-F238E27FC236}">
                <a16:creationId xmlns:a16="http://schemas.microsoft.com/office/drawing/2014/main" id="{7461EAC4-E50B-4CF7-8418-3CB459B00D24}"/>
              </a:ext>
            </a:extLst>
          </p:cNvPr>
          <p:cNvPicPr>
            <a:picLocks noChangeAspect="1"/>
          </p:cNvPicPr>
          <p:nvPr/>
        </p:nvPicPr>
        <p:blipFill>
          <a:blip r:embed="rId3"/>
          <a:stretch>
            <a:fillRect/>
          </a:stretch>
        </p:blipFill>
        <p:spPr>
          <a:xfrm>
            <a:off x="1399764" y="875769"/>
            <a:ext cx="6344472" cy="3107685"/>
          </a:xfrm>
          <a:prstGeom prst="rect">
            <a:avLst/>
          </a:prstGeom>
        </p:spPr>
      </p:pic>
      <p:pic>
        <p:nvPicPr>
          <p:cNvPr id="5" name="圖片 4">
            <a:extLst>
              <a:ext uri="{FF2B5EF4-FFF2-40B4-BE49-F238E27FC236}">
                <a16:creationId xmlns:a16="http://schemas.microsoft.com/office/drawing/2014/main" id="{7F9DB12E-9CE1-4B51-B45A-4728C704C300}"/>
              </a:ext>
            </a:extLst>
          </p:cNvPr>
          <p:cNvPicPr>
            <a:picLocks noChangeAspect="1"/>
          </p:cNvPicPr>
          <p:nvPr/>
        </p:nvPicPr>
        <p:blipFill>
          <a:blip r:embed="rId4"/>
          <a:stretch>
            <a:fillRect/>
          </a:stretch>
        </p:blipFill>
        <p:spPr>
          <a:xfrm>
            <a:off x="1586012" y="4144470"/>
            <a:ext cx="5971976" cy="2548160"/>
          </a:xfrm>
          <a:prstGeom prst="rect">
            <a:avLst/>
          </a:prstGeom>
        </p:spPr>
      </p:pic>
    </p:spTree>
    <p:extLst>
      <p:ext uri="{BB962C8B-B14F-4D97-AF65-F5344CB8AC3E}">
        <p14:creationId xmlns:p14="http://schemas.microsoft.com/office/powerpoint/2010/main" val="325287941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6" y="292402"/>
            <a:ext cx="9092837" cy="583367"/>
          </a:xfrm>
        </p:spPr>
        <p:txBody>
          <a:bodyPr>
            <a:noAutofit/>
          </a:bodyPr>
          <a:lstStyle/>
          <a:p>
            <a:r>
              <a:rPr lang="en-US" altLang="zh-TW" sz="2600" b="1" dirty="0">
                <a:latin typeface="Times New Roman" panose="02020603050405020304" pitchFamily="18" charset="0"/>
                <a:cs typeface="Times New Roman" panose="02020603050405020304" pitchFamily="18" charset="0"/>
              </a:rPr>
              <a:t>The Fragmentation Local Alignment Proposed</a:t>
            </a:r>
            <a:r>
              <a:rPr lang="zh-TW" altLang="en-US" sz="2600" b="1" dirty="0">
                <a:latin typeface="Times New Roman" panose="02020603050405020304" pitchFamily="18" charset="0"/>
                <a:cs typeface="Times New Roman" panose="02020603050405020304" pitchFamily="18" charset="0"/>
              </a:rPr>
              <a:t> </a:t>
            </a:r>
            <a:r>
              <a:rPr lang="en-US" altLang="zh-TW" sz="2600" b="1" dirty="0">
                <a:latin typeface="Times New Roman" panose="02020603050405020304" pitchFamily="18" charset="0"/>
                <a:cs typeface="Times New Roman" panose="02020603050405020304" pitchFamily="18" charset="0"/>
              </a:rPr>
              <a:t>Method (2/2)</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58F9FB23-C8B4-4B75-98B1-263A54D2CA49}"/>
                  </a:ext>
                </a:extLst>
              </p:cNvPr>
              <p:cNvSpPr/>
              <p:nvPr/>
            </p:nvSpPr>
            <p:spPr>
              <a:xfrm>
                <a:off x="551066" y="1026195"/>
                <a:ext cx="8642836" cy="4187044"/>
              </a:xfrm>
              <a:prstGeom prst="rect">
                <a:avLst/>
              </a:prstGeom>
            </p:spPr>
            <p:txBody>
              <a:bodyPr wrap="square">
                <a:spAutoFit/>
              </a:bodyPr>
              <a:lstStyle/>
              <a:p>
                <a:r>
                  <a:rPr lang="en-US" altLang="zh-TW" sz="2400" dirty="0">
                    <a:latin typeface="Times New Roman" panose="02020603050405020304" pitchFamily="18" charset="0"/>
                    <a:ea typeface="Tahoma" panose="020B0604030504040204" pitchFamily="34" charset="0"/>
                    <a:cs typeface="Times New Roman" panose="02020603050405020304" pitchFamily="18" charset="0"/>
                  </a:rPr>
                  <a:t>Step 1: Initialize N search agents (</a:t>
                </a:r>
                <a14:m>
                  <m:oMath xmlns:m="http://schemas.openxmlformats.org/officeDocument/2006/math">
                    <m:sSub>
                      <m:sSubPr>
                        <m:ctrlPr>
                          <a:rPr lang="en-US" altLang="zh-TW" sz="2400" i="1" smtClean="0">
                            <a:latin typeface="Cambria Math" panose="02040503050406030204" pitchFamily="18" charset="0"/>
                          </a:rPr>
                        </m:ctrlPr>
                      </m:sSubPr>
                      <m:e>
                        <m:r>
                          <a:rPr lang="en-US" altLang="zh-TW" sz="2400" i="1" smtClean="0">
                            <a:latin typeface="Cambria Math" panose="02040503050406030204" pitchFamily="18" charset="0"/>
                          </a:rPr>
                          <m:t>𝑃</m:t>
                        </m:r>
                      </m:e>
                      <m:sub>
                        <m:r>
                          <a:rPr lang="en-US" altLang="zh-TW" sz="2400" i="1" smtClean="0">
                            <a:latin typeface="Cambria Math" panose="02040503050406030204" pitchFamily="18" charset="0"/>
                          </a:rPr>
                          <m:t>𝑖</m:t>
                        </m:r>
                      </m:sub>
                    </m:sSub>
                  </m:oMath>
                </a14:m>
                <a:r>
                  <a:rPr lang="en-US" altLang="zh-TW" sz="2400" dirty="0">
                    <a:latin typeface="Times New Roman" panose="02020603050405020304" pitchFamily="18" charset="0"/>
                    <a:ea typeface="Tahoma" panose="020B0604030504040204" pitchFamily="34" charset="0"/>
                    <a:cs typeface="Times New Roman" panose="02020603050405020304" pitchFamily="18" charset="0"/>
                  </a:rPr>
                  <a:t> , </a:t>
                </a:r>
                <a:r>
                  <a:rPr lang="en-US" altLang="zh-TW" sz="2400" dirty="0" err="1">
                    <a:latin typeface="Times New Roman" panose="02020603050405020304" pitchFamily="18" charset="0"/>
                    <a:ea typeface="Tahoma" panose="020B0604030504040204" pitchFamily="34" charset="0"/>
                    <a:cs typeface="Times New Roman" panose="02020603050405020304" pitchFamily="18" charset="0"/>
                  </a:rPr>
                  <a:t>i</a:t>
                </a: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 = 1, 2, 3 ,…, N ) with random positions in the range from 1 to length ((Seq A or Seq B ) </a:t>
                </a:r>
              </a:p>
              <a:p>
                <a:r>
                  <a:rPr lang="en-US" altLang="zh-TW" sz="2400" dirty="0">
                    <a:latin typeface="Times New Roman" panose="02020603050405020304" pitchFamily="18" charset="0"/>
                    <a:ea typeface="Tahoma" panose="020B0604030504040204" pitchFamily="34" charset="0"/>
                    <a:cs typeface="Times New Roman" panose="02020603050405020304" pitchFamily="18" charset="0"/>
                  </a:rPr>
                  <a:t>– </a:t>
                </a:r>
                <a14:m>
                  <m:oMath xmlns:m="http://schemas.openxmlformats.org/officeDocument/2006/math">
                    <m:sSub>
                      <m:sSubPr>
                        <m:ctrlPr>
                          <a:rPr lang="en-US" altLang="zh-TW" sz="2400" i="1" smtClean="0">
                            <a:latin typeface="Cambria Math" panose="02040503050406030204" pitchFamily="18" charset="0"/>
                          </a:rPr>
                        </m:ctrlPr>
                      </m:sSubPr>
                      <m:e>
                        <m:r>
                          <a:rPr lang="en-US" altLang="zh-TW" sz="2400" i="1" smtClean="0">
                            <a:latin typeface="Cambria Math" panose="02040503050406030204" pitchFamily="18" charset="0"/>
                          </a:rPr>
                          <m:t>𝐿</m:t>
                        </m:r>
                      </m:e>
                      <m:sub>
                        <m:r>
                          <a:rPr lang="en-US" altLang="zh-TW" sz="2400" i="1" smtClean="0">
                            <a:latin typeface="Cambria Math" panose="02040503050406030204" pitchFamily="18" charset="0"/>
                          </a:rPr>
                          <m:t>𝐹</m:t>
                        </m:r>
                      </m:sub>
                    </m:sSub>
                  </m:oMath>
                </a14:m>
                <a:r>
                  <a:rPr lang="en-US" altLang="zh-TW" sz="2400" dirty="0">
                    <a:latin typeface="Times New Roman" panose="02020603050405020304" pitchFamily="18" charset="0"/>
                    <a:ea typeface="Tahoma" panose="020B0604030504040204" pitchFamily="34" charset="0"/>
                    <a:cs typeface="Times New Roman" panose="02020603050405020304" pitchFamily="18" charset="0"/>
                  </a:rPr>
                  <a:t>).</a:t>
                </a:r>
              </a:p>
              <a:p>
                <a:r>
                  <a:rPr lang="en-US" altLang="zh-TW" sz="2400" dirty="0">
                    <a:latin typeface="Times New Roman" panose="02020603050405020304" pitchFamily="18" charset="0"/>
                    <a:ea typeface="Tahoma" panose="020B0604030504040204" pitchFamily="34" charset="0"/>
                    <a:cs typeface="Times New Roman" panose="02020603050405020304" pitchFamily="18" charset="0"/>
                  </a:rPr>
                  <a:t>Step 2: Cut the fragments with length </a:t>
                </a:r>
                <a14:m>
                  <m:oMath xmlns:m="http://schemas.openxmlformats.org/officeDocument/2006/math">
                    <m:sSub>
                      <m:sSubPr>
                        <m:ctrlPr>
                          <a:rPr lang="en-US" altLang="zh-TW" sz="2400" i="1" smtClean="0">
                            <a:latin typeface="Cambria Math" panose="02040503050406030204" pitchFamily="18" charset="0"/>
                          </a:rPr>
                        </m:ctrlPr>
                      </m:sSubPr>
                      <m:e>
                        <m:r>
                          <a:rPr lang="en-US" altLang="zh-TW" sz="2400" i="1" smtClean="0">
                            <a:latin typeface="Cambria Math" panose="02040503050406030204" pitchFamily="18" charset="0"/>
                          </a:rPr>
                          <m:t>𝐿</m:t>
                        </m:r>
                      </m:e>
                      <m:sub>
                        <m:r>
                          <a:rPr lang="en-US" altLang="zh-TW" sz="2400" i="1" smtClean="0">
                            <a:latin typeface="Cambria Math" panose="02040503050406030204" pitchFamily="18" charset="0"/>
                          </a:rPr>
                          <m:t>𝐹</m:t>
                        </m:r>
                      </m:sub>
                    </m:sSub>
                    <m:r>
                      <a:rPr lang="en-US" altLang="zh-TW" sz="2400" i="1" smtClean="0">
                        <a:latin typeface="Cambria Math" panose="02040503050406030204" pitchFamily="18" charset="0"/>
                      </a:rPr>
                      <m:t> </m:t>
                    </m:r>
                  </m:oMath>
                </a14:m>
                <a:r>
                  <a:rPr lang="en-US" altLang="zh-TW" sz="2400" dirty="0">
                    <a:latin typeface="Times New Roman" panose="02020603050405020304" pitchFamily="18" charset="0"/>
                    <a:ea typeface="Tahoma" panose="020B0604030504040204" pitchFamily="34" charset="0"/>
                    <a:cs typeface="Times New Roman" panose="02020603050405020304" pitchFamily="18" charset="0"/>
                  </a:rPr>
                  <a:t>in each sequence according to one of the three methods.</a:t>
                </a:r>
              </a:p>
              <a:p>
                <a:r>
                  <a:rPr lang="en-US" altLang="zh-TW" sz="2400" dirty="0">
                    <a:latin typeface="Times New Roman" panose="02020603050405020304" pitchFamily="18" charset="0"/>
                    <a:ea typeface="Tahoma" panose="020B0604030504040204" pitchFamily="34" charset="0"/>
                    <a:cs typeface="Times New Roman" panose="02020603050405020304" pitchFamily="18" charset="0"/>
                  </a:rPr>
                  <a:t>Step 3: Each corresponding fragment determined by each search agent is aligned using the SW alignment algorithm, and the alignment score is computed using the objective function.</a:t>
                </a:r>
              </a:p>
              <a:p>
                <a:r>
                  <a:rPr lang="en-US" altLang="zh-TW" sz="2400" dirty="0">
                    <a:latin typeface="Times New Roman" panose="02020603050405020304" pitchFamily="18" charset="0"/>
                    <a:ea typeface="Tahoma" panose="020B0604030504040204" pitchFamily="34" charset="0"/>
                    <a:cs typeface="Times New Roman" panose="02020603050405020304" pitchFamily="18" charset="0"/>
                  </a:rPr>
                  <a:t>Step 4: Update the global optimum search agents (</a:t>
                </a:r>
                <a14:m>
                  <m:oMath xmlns:m="http://schemas.openxmlformats.org/officeDocument/2006/math">
                    <m:sSup>
                      <m:sSupPr>
                        <m:ctrlPr>
                          <a:rPr lang="en-US" altLang="zh-TW" sz="2400" i="1" smtClean="0">
                            <a:latin typeface="Cambria Math" panose="02040503050406030204" pitchFamily="18" charset="0"/>
                          </a:rPr>
                        </m:ctrlPr>
                      </m:sSupPr>
                      <m:e>
                        <m:r>
                          <a:rPr lang="en-US" altLang="zh-TW" sz="2400" i="1" smtClean="0">
                            <a:latin typeface="Cambria Math" panose="02040503050406030204" pitchFamily="18" charset="0"/>
                          </a:rPr>
                          <m:t>𝑃</m:t>
                        </m:r>
                      </m:e>
                      <m:sup>
                        <m:r>
                          <m:rPr>
                            <m:sty m:val="p"/>
                          </m:rPr>
                          <a:rPr lang="en-US" altLang="zh-TW" sz="2400" b="0" i="0" smtClean="0">
                            <a:latin typeface="Cambria Math" panose="02040503050406030204" pitchFamily="18" charset="0"/>
                          </a:rPr>
                          <m:t>gbest</m:t>
                        </m:r>
                      </m:sup>
                    </m:sSup>
                  </m:oMath>
                </a14:m>
                <a:r>
                  <a:rPr lang="en-US" altLang="zh-TW" sz="2400" dirty="0">
                    <a:latin typeface="Times New Roman" panose="02020603050405020304" pitchFamily="18" charset="0"/>
                    <a:ea typeface="Tahoma" panose="020B0604030504040204" pitchFamily="34" charset="0"/>
                    <a:cs typeface="Times New Roman" panose="02020603050405020304" pitchFamily="18" charset="0"/>
                  </a:rPr>
                  <a:t>).</a:t>
                </a:r>
              </a:p>
              <a:p>
                <a:r>
                  <a:rPr lang="en-US" altLang="zh-TW" sz="2400" dirty="0">
                    <a:latin typeface="Times New Roman" panose="02020603050405020304" pitchFamily="18" charset="0"/>
                    <a:ea typeface="Tahoma" panose="020B0604030504040204" pitchFamily="34" charset="0"/>
                    <a:cs typeface="Times New Roman" panose="02020603050405020304" pitchFamily="18" charset="0"/>
                  </a:rPr>
                  <a:t>Step 5: Each search agent updates its position toward </a:t>
                </a:r>
                <a14:m>
                  <m:oMath xmlns:m="http://schemas.openxmlformats.org/officeDocument/2006/math">
                    <m:sSup>
                      <m:sSupPr>
                        <m:ctrlPr>
                          <a:rPr lang="en-US" altLang="zh-TW" sz="2400" i="1" smtClean="0">
                            <a:latin typeface="Cambria Math" panose="02040503050406030204" pitchFamily="18" charset="0"/>
                          </a:rPr>
                        </m:ctrlPr>
                      </m:sSupPr>
                      <m:e>
                        <m:r>
                          <a:rPr lang="en-US" altLang="zh-TW" sz="2400" i="1" smtClean="0">
                            <a:latin typeface="Cambria Math" panose="02040503050406030204" pitchFamily="18" charset="0"/>
                          </a:rPr>
                          <m:t>𝑃</m:t>
                        </m:r>
                      </m:e>
                      <m:sup>
                        <m:r>
                          <m:rPr>
                            <m:sty m:val="p"/>
                          </m:rPr>
                          <a:rPr lang="en-US" altLang="zh-TW" sz="2400" b="0" i="0" smtClean="0">
                            <a:latin typeface="Cambria Math" panose="02040503050406030204" pitchFamily="18" charset="0"/>
                          </a:rPr>
                          <m:t>gbest</m:t>
                        </m:r>
                      </m:sup>
                    </m:sSup>
                    <m:r>
                      <a:rPr lang="en-US" altLang="zh-TW" sz="2400" b="0" i="1" smtClean="0">
                        <a:latin typeface="Cambria Math" panose="02040503050406030204" pitchFamily="18" charset="0"/>
                      </a:rPr>
                      <m:t> </m:t>
                    </m:r>
                  </m:oMath>
                </a14:m>
                <a:endParaRPr lang="en-US" altLang="zh-TW" sz="2400" b="0" dirty="0">
                  <a:latin typeface="Times New Roman" panose="02020603050405020304" pitchFamily="18" charset="0"/>
                </a:endParaRPr>
              </a:p>
              <a:p>
                <a:r>
                  <a:rPr lang="en-US" altLang="zh-TW" sz="2400" dirty="0">
                    <a:latin typeface="Times New Roman" panose="02020603050405020304" pitchFamily="18" charset="0"/>
                    <a:ea typeface="Tahoma" panose="020B0604030504040204" pitchFamily="34" charset="0"/>
                    <a:cs typeface="Times New Roman" panose="02020603050405020304" pitchFamily="18" charset="0"/>
                  </a:rPr>
                  <a:t>Step 6: Repeat steps 2–5 for a number of iterations ( T ).</a:t>
                </a:r>
              </a:p>
            </p:txBody>
          </p:sp>
        </mc:Choice>
        <mc:Fallback xmlns="">
          <p:sp>
            <p:nvSpPr>
              <p:cNvPr id="3" name="矩形 2">
                <a:extLst>
                  <a:ext uri="{FF2B5EF4-FFF2-40B4-BE49-F238E27FC236}">
                    <a16:creationId xmlns:a16="http://schemas.microsoft.com/office/drawing/2014/main" id="{58F9FB23-C8B4-4B75-98B1-263A54D2CA49}"/>
                  </a:ext>
                </a:extLst>
              </p:cNvPr>
              <p:cNvSpPr>
                <a:spLocks noRot="1" noChangeAspect="1" noMove="1" noResize="1" noEditPoints="1" noAdjustHandles="1" noChangeArrowheads="1" noChangeShapeType="1" noTextEdit="1"/>
              </p:cNvSpPr>
              <p:nvPr/>
            </p:nvSpPr>
            <p:spPr>
              <a:xfrm>
                <a:off x="551066" y="1026195"/>
                <a:ext cx="8642836" cy="4187044"/>
              </a:xfrm>
              <a:prstGeom prst="rect">
                <a:avLst/>
              </a:prstGeom>
              <a:blipFill>
                <a:blip r:embed="rId3"/>
                <a:stretch>
                  <a:fillRect l="-1058" t="-1164" r="-987" b="-2329"/>
                </a:stretch>
              </a:blipFill>
            </p:spPr>
            <p:txBody>
              <a:bodyPr/>
              <a:lstStyle/>
              <a:p>
                <a:r>
                  <a:rPr lang="zh-TW" altLang="en-US">
                    <a:noFill/>
                  </a:rPr>
                  <a:t> </a:t>
                </a:r>
              </a:p>
            </p:txBody>
          </p:sp>
        </mc:Fallback>
      </mc:AlternateContent>
      <p:pic>
        <p:nvPicPr>
          <p:cNvPr id="7" name="圖片 6">
            <a:extLst>
              <a:ext uri="{FF2B5EF4-FFF2-40B4-BE49-F238E27FC236}">
                <a16:creationId xmlns:a16="http://schemas.microsoft.com/office/drawing/2014/main" id="{AFAD6537-BC32-4666-AAEA-A5CA2C65BE6F}"/>
              </a:ext>
            </a:extLst>
          </p:cNvPr>
          <p:cNvPicPr>
            <a:picLocks noChangeAspect="1"/>
          </p:cNvPicPr>
          <p:nvPr/>
        </p:nvPicPr>
        <p:blipFill>
          <a:blip r:embed="rId4"/>
          <a:stretch>
            <a:fillRect/>
          </a:stretch>
        </p:blipFill>
        <p:spPr>
          <a:xfrm>
            <a:off x="3349191" y="5514432"/>
            <a:ext cx="4643697" cy="645587"/>
          </a:xfrm>
          <a:prstGeom prst="rect">
            <a:avLst/>
          </a:prstGeom>
        </p:spPr>
      </p:pic>
      <p:sp>
        <p:nvSpPr>
          <p:cNvPr id="9" name="矩形 8">
            <a:extLst>
              <a:ext uri="{FF2B5EF4-FFF2-40B4-BE49-F238E27FC236}">
                <a16:creationId xmlns:a16="http://schemas.microsoft.com/office/drawing/2014/main" id="{5538A24D-C959-4CF9-A2D6-C626C1E7D7EB}"/>
              </a:ext>
            </a:extLst>
          </p:cNvPr>
          <p:cNvSpPr/>
          <p:nvPr/>
        </p:nvSpPr>
        <p:spPr>
          <a:xfrm>
            <a:off x="326066" y="5553028"/>
            <a:ext cx="8642836" cy="461665"/>
          </a:xfrm>
          <a:prstGeom prst="rect">
            <a:avLst/>
          </a:prstGeom>
        </p:spPr>
        <p:txBody>
          <a:bodyPr wrap="square">
            <a:spAutoFit/>
          </a:bodyPr>
          <a:lstStyle/>
          <a:p>
            <a:pPr marL="342900" indent="-342900">
              <a:buFont typeface="Arial" panose="020B0604020202020204" pitchFamily="34" charset="0"/>
              <a:buChar char="•"/>
            </a:pP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Objective function : </a:t>
            </a:r>
          </a:p>
        </p:txBody>
      </p:sp>
    </p:spTree>
    <p:extLst>
      <p:ext uri="{BB962C8B-B14F-4D97-AF65-F5344CB8AC3E}">
        <p14:creationId xmlns:p14="http://schemas.microsoft.com/office/powerpoint/2010/main" val="196773111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6" y="292402"/>
            <a:ext cx="909283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The experimental results(1/3)</a:t>
            </a:r>
          </a:p>
        </p:txBody>
      </p:sp>
      <p:pic>
        <p:nvPicPr>
          <p:cNvPr id="6" name="圖片 5">
            <a:extLst>
              <a:ext uri="{FF2B5EF4-FFF2-40B4-BE49-F238E27FC236}">
                <a16:creationId xmlns:a16="http://schemas.microsoft.com/office/drawing/2014/main" id="{474DA5A5-2850-4751-BBCF-1E3875C6D7DB}"/>
              </a:ext>
            </a:extLst>
          </p:cNvPr>
          <p:cNvPicPr>
            <a:picLocks noChangeAspect="1"/>
          </p:cNvPicPr>
          <p:nvPr/>
        </p:nvPicPr>
        <p:blipFill>
          <a:blip r:embed="rId3"/>
          <a:stretch>
            <a:fillRect/>
          </a:stretch>
        </p:blipFill>
        <p:spPr>
          <a:xfrm>
            <a:off x="1233905" y="1380492"/>
            <a:ext cx="6676190" cy="4466667"/>
          </a:xfrm>
          <a:prstGeom prst="rect">
            <a:avLst/>
          </a:prstGeom>
        </p:spPr>
      </p:pic>
    </p:spTree>
    <p:extLst>
      <p:ext uri="{BB962C8B-B14F-4D97-AF65-F5344CB8AC3E}">
        <p14:creationId xmlns:p14="http://schemas.microsoft.com/office/powerpoint/2010/main" val="273905663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6" y="151851"/>
            <a:ext cx="909283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The experimental results(2/3)</a:t>
            </a:r>
          </a:p>
        </p:txBody>
      </p:sp>
      <p:pic>
        <p:nvPicPr>
          <p:cNvPr id="7" name="圖片 6">
            <a:extLst>
              <a:ext uri="{FF2B5EF4-FFF2-40B4-BE49-F238E27FC236}">
                <a16:creationId xmlns:a16="http://schemas.microsoft.com/office/drawing/2014/main" id="{37A66687-1768-453B-A0C2-D1E5925AACA4}"/>
              </a:ext>
            </a:extLst>
          </p:cNvPr>
          <p:cNvPicPr>
            <a:picLocks noChangeAspect="1"/>
          </p:cNvPicPr>
          <p:nvPr/>
        </p:nvPicPr>
        <p:blipFill>
          <a:blip r:embed="rId3"/>
          <a:stretch>
            <a:fillRect/>
          </a:stretch>
        </p:blipFill>
        <p:spPr>
          <a:xfrm>
            <a:off x="1960826" y="668553"/>
            <a:ext cx="5222347" cy="6189447"/>
          </a:xfrm>
          <a:prstGeom prst="rect">
            <a:avLst/>
          </a:prstGeom>
        </p:spPr>
      </p:pic>
    </p:spTree>
    <p:extLst>
      <p:ext uri="{BB962C8B-B14F-4D97-AF65-F5344CB8AC3E}">
        <p14:creationId xmlns:p14="http://schemas.microsoft.com/office/powerpoint/2010/main" val="112467763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6" y="292402"/>
            <a:ext cx="909283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The experimental results(3/3)</a:t>
            </a:r>
          </a:p>
        </p:txBody>
      </p:sp>
      <p:pic>
        <p:nvPicPr>
          <p:cNvPr id="3" name="圖片 2">
            <a:extLst>
              <a:ext uri="{FF2B5EF4-FFF2-40B4-BE49-F238E27FC236}">
                <a16:creationId xmlns:a16="http://schemas.microsoft.com/office/drawing/2014/main" id="{39096FF8-F725-4711-854A-05E83E77041C}"/>
              </a:ext>
            </a:extLst>
          </p:cNvPr>
          <p:cNvPicPr>
            <a:picLocks noChangeAspect="1"/>
          </p:cNvPicPr>
          <p:nvPr/>
        </p:nvPicPr>
        <p:blipFill>
          <a:blip r:embed="rId3"/>
          <a:stretch>
            <a:fillRect/>
          </a:stretch>
        </p:blipFill>
        <p:spPr>
          <a:xfrm>
            <a:off x="2192611" y="1357025"/>
            <a:ext cx="4758777" cy="4143949"/>
          </a:xfrm>
          <a:prstGeom prst="rect">
            <a:avLst/>
          </a:prstGeom>
        </p:spPr>
      </p:pic>
    </p:spTree>
    <p:extLst>
      <p:ext uri="{BB962C8B-B14F-4D97-AF65-F5344CB8AC3E}">
        <p14:creationId xmlns:p14="http://schemas.microsoft.com/office/powerpoint/2010/main" val="115894657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03887" y="263219"/>
            <a:ext cx="909283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Conclusions</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852D7DEB-FBBA-46A4-B5BE-736EC5730127}"/>
                  </a:ext>
                </a:extLst>
              </p:cNvPr>
              <p:cNvSpPr/>
              <p:nvPr/>
            </p:nvSpPr>
            <p:spPr>
              <a:xfrm>
                <a:off x="551066" y="1235410"/>
                <a:ext cx="8642836" cy="2554545"/>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Time Complexity :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fr-FR" altLang="zh-TW" sz="2000" dirty="0">
                    <a:latin typeface="Times New Roman" panose="02020603050405020304" pitchFamily="18" charset="0"/>
                    <a:ea typeface="Tahoma" panose="020B0604030504040204" pitchFamily="34" charset="0"/>
                    <a:cs typeface="Times New Roman" panose="02020603050405020304" pitchFamily="18" charset="0"/>
                  </a:rPr>
                  <a:t>	Fragmentation Pairwise Local Alignment : O(TN</a:t>
                </a:r>
                <a14:m>
                  <m:oMath xmlns:m="http://schemas.openxmlformats.org/officeDocument/2006/math">
                    <m:sSup>
                      <m:sSupPr>
                        <m:ctrlPr>
                          <a:rPr lang="fr-FR" altLang="zh-TW" sz="2000" i="1" dirty="0" smtClean="0">
                            <a:latin typeface="Cambria Math" panose="02040503050406030204" pitchFamily="18" charset="0"/>
                          </a:rPr>
                        </m:ctrlPr>
                      </m:sSupPr>
                      <m:e>
                        <m:d>
                          <m:dPr>
                            <m:ctrlPr>
                              <a:rPr lang="fr-FR" altLang="zh-TW" sz="2000" i="1" dirty="0" smtClean="0">
                                <a:latin typeface="Cambria Math" panose="02040503050406030204" pitchFamily="18" charset="0"/>
                              </a:rPr>
                            </m:ctrlPr>
                          </m:dPr>
                          <m:e>
                            <m:sSub>
                              <m:sSubPr>
                                <m:ctrlPr>
                                  <a:rPr lang="fr-FR" altLang="zh-TW" sz="2000" i="1" dirty="0" smtClean="0">
                                    <a:latin typeface="Cambria Math" panose="02040503050406030204" pitchFamily="18" charset="0"/>
                                  </a:rPr>
                                </m:ctrlPr>
                              </m:sSubPr>
                              <m:e>
                                <m:r>
                                  <a:rPr lang="fr-FR" altLang="zh-TW" sz="2000" i="1" dirty="0" smtClean="0">
                                    <a:latin typeface="Cambria Math" panose="02040503050406030204" pitchFamily="18" charset="0"/>
                                  </a:rPr>
                                  <m:t>𝐿</m:t>
                                </m:r>
                              </m:e>
                              <m:sub>
                                <m:r>
                                  <a:rPr lang="fr-FR" altLang="zh-TW" sz="2000" i="1" dirty="0" smtClean="0">
                                    <a:latin typeface="Cambria Math" panose="02040503050406030204" pitchFamily="18" charset="0"/>
                                  </a:rPr>
                                  <m:t>𝐹</m:t>
                                </m:r>
                              </m:sub>
                            </m:sSub>
                          </m:e>
                        </m:d>
                      </m:e>
                      <m:sup>
                        <m:r>
                          <a:rPr lang="fr-FR" altLang="zh-TW" sz="2000" i="0" dirty="0" smtClean="0">
                            <a:latin typeface="Cambria Math" panose="02040503050406030204" pitchFamily="18" charset="0"/>
                          </a:rPr>
                          <m:t>2</m:t>
                        </m:r>
                      </m:sup>
                    </m:sSup>
                  </m:oMath>
                </a14:m>
                <a:r>
                  <a:rPr lang="fr-FR" altLang="zh-TW" sz="2000" dirty="0">
                    <a:latin typeface="Times New Roman" panose="02020603050405020304" pitchFamily="18" charset="0"/>
                    <a:ea typeface="Tahoma" panose="020B0604030504040204" pitchFamily="34" charset="0"/>
                    <a:cs typeface="Times New Roman" panose="02020603050405020304" pitchFamily="18" charset="0"/>
                  </a:rPr>
                  <a:t>)</a:t>
                </a:r>
              </a:p>
              <a:p>
                <a:endParaRPr lang="fr-FR"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fr-FR" altLang="zh-TW" sz="2000" dirty="0">
                    <a:latin typeface="Times New Roman" panose="02020603050405020304" pitchFamily="18" charset="0"/>
                    <a:ea typeface="Tahoma" panose="020B0604030504040204" pitchFamily="34" charset="0"/>
                    <a:cs typeface="Times New Roman" panose="02020603050405020304" pitchFamily="18" charset="0"/>
                  </a:rPr>
                  <a:t>	SW Alignment Algorithm : O(</a:t>
                </a:r>
                <a14:m>
                  <m:oMath xmlns:m="http://schemas.openxmlformats.org/officeDocument/2006/math">
                    <m:sSup>
                      <m:sSupPr>
                        <m:ctrlPr>
                          <a:rPr lang="fr-FR" altLang="zh-TW" sz="2000" i="1" smtClean="0">
                            <a:latin typeface="Cambria Math" panose="02040503050406030204" pitchFamily="18" charset="0"/>
                          </a:rPr>
                        </m:ctrlPr>
                      </m:sSupPr>
                      <m:e>
                        <m:r>
                          <a:rPr lang="fr-FR" altLang="zh-TW" sz="2000" i="1" smtClean="0">
                            <a:latin typeface="Cambria Math" panose="02040503050406030204" pitchFamily="18" charset="0"/>
                          </a:rPr>
                          <m:t>𝑛</m:t>
                        </m:r>
                      </m:e>
                      <m:sup>
                        <m:r>
                          <a:rPr lang="fr-FR" altLang="zh-TW" sz="2000" i="0" smtClean="0">
                            <a:latin typeface="Cambria Math" panose="02040503050406030204" pitchFamily="18" charset="0"/>
                          </a:rPr>
                          <m:t>3</m:t>
                        </m:r>
                      </m:sup>
                    </m:sSup>
                  </m:oMath>
                </a14:m>
                <a:r>
                  <a:rPr lang="fr-FR" altLang="zh-TW" sz="2000" dirty="0">
                    <a:latin typeface="Times New Roman" panose="02020603050405020304" pitchFamily="18" charset="0"/>
                    <a:ea typeface="Tahoma" panose="020B0604030504040204" pitchFamily="34" charset="0"/>
                    <a:cs typeface="Times New Roman" panose="02020603050405020304" pitchFamily="18" charset="0"/>
                  </a:rPr>
                  <a:t>)</a:t>
                </a:r>
              </a:p>
              <a:p>
                <a:endParaRPr lang="fr-FR"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ASCA-PSO spend less time than SW, but cannot find all longest consecutive substrings obtained by SW.</a:t>
                </a:r>
              </a:p>
            </p:txBody>
          </p:sp>
        </mc:Choice>
        <mc:Fallback xmlns="">
          <p:sp>
            <p:nvSpPr>
              <p:cNvPr id="3" name="矩形 2">
                <a:extLst>
                  <a:ext uri="{FF2B5EF4-FFF2-40B4-BE49-F238E27FC236}">
                    <a16:creationId xmlns:a16="http://schemas.microsoft.com/office/drawing/2014/main" id="{852D7DEB-FBBA-46A4-B5BE-736EC5730127}"/>
                  </a:ext>
                </a:extLst>
              </p:cNvPr>
              <p:cNvSpPr>
                <a:spLocks noRot="1" noChangeAspect="1" noMove="1" noResize="1" noEditPoints="1" noAdjustHandles="1" noChangeArrowheads="1" noChangeShapeType="1" noTextEdit="1"/>
              </p:cNvSpPr>
              <p:nvPr/>
            </p:nvSpPr>
            <p:spPr>
              <a:xfrm>
                <a:off x="551066" y="1235410"/>
                <a:ext cx="8642836" cy="2554545"/>
              </a:xfrm>
              <a:prstGeom prst="rect">
                <a:avLst/>
              </a:prstGeom>
              <a:blipFill>
                <a:blip r:embed="rId3"/>
                <a:stretch>
                  <a:fillRect l="-635" t="-1432" b="-33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0958253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91223</TotalTime>
  <Words>825</Words>
  <Application>Microsoft Office PowerPoint</Application>
  <PresentationFormat>如螢幕大小 (4:3)</PresentationFormat>
  <Paragraphs>73</Paragraphs>
  <Slides>17</Slides>
  <Notes>17</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17</vt:i4>
      </vt:variant>
    </vt:vector>
  </HeadingPairs>
  <TitlesOfParts>
    <vt:vector size="25" baseType="lpstr">
      <vt:lpstr>Gulliver</vt:lpstr>
      <vt:lpstr>Gulliver-Italic</vt:lpstr>
      <vt:lpstr>Arial</vt:lpstr>
      <vt:lpstr>Calibri</vt:lpstr>
      <vt:lpstr>Calibri Light</vt:lpstr>
      <vt:lpstr>Cambria Math</vt:lpstr>
      <vt:lpstr>Times New Roman</vt:lpstr>
      <vt:lpstr>Office 佈景主題</vt:lpstr>
      <vt:lpstr>ASCA-PSO : Adaptive Sine Cosine Optimization Algorithm Integrated with Particle Swarm for Pairwise Local Sequence Alignment</vt:lpstr>
      <vt:lpstr>Abstract(1/2)</vt:lpstr>
      <vt:lpstr>Abstract(2/2)</vt:lpstr>
      <vt:lpstr>Particle Swarm Optimization (PSO)</vt:lpstr>
      <vt:lpstr>Sine-cosine Optimization Algorithm (SCA)(1/2)</vt:lpstr>
      <vt:lpstr>Sine-cosine Optimization Algorithm (SCA)(2/2)</vt:lpstr>
      <vt:lpstr>Adaptive Sine Cosine Integrated with Particle Swarm (ASCA-PSO)(1/2)</vt:lpstr>
      <vt:lpstr>Adaptive Sine Cosine Integrated with Particle Swarm (ASCA-PSO)(2/2)</vt:lpstr>
      <vt:lpstr>Experimental Results and Discussion(1/3)</vt:lpstr>
      <vt:lpstr>Experimental Results and Discussion(2/3)</vt:lpstr>
      <vt:lpstr>Experimental Results and Discussion(3/3)</vt:lpstr>
      <vt:lpstr>The Fragmentation Local Alignment Proposed Method (1/2)</vt:lpstr>
      <vt:lpstr>The Fragmentation Local Alignment Proposed Method (2/2)</vt:lpstr>
      <vt:lpstr>The experimental results(1/3)</vt:lpstr>
      <vt:lpstr>The experimental results(2/3)</vt:lpstr>
      <vt:lpstr>The experimental results(3/3)</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pplab</cp:lastModifiedBy>
  <cp:revision>908</cp:revision>
  <dcterms:created xsi:type="dcterms:W3CDTF">2017-09-25T08:45:50Z</dcterms:created>
  <dcterms:modified xsi:type="dcterms:W3CDTF">2020-08-18T09:10:33Z</dcterms:modified>
</cp:coreProperties>
</file>