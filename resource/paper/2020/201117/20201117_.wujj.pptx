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8" r:id="rId3"/>
    <p:sldId id="259" r:id="rId4"/>
    <p:sldId id="275" r:id="rId5"/>
    <p:sldId id="286" r:id="rId6"/>
    <p:sldId id="280" r:id="rId7"/>
    <p:sldId id="281" r:id="rId8"/>
    <p:sldId id="282" r:id="rId9"/>
    <p:sldId id="283" r:id="rId10"/>
    <p:sldId id="284" r:id="rId11"/>
    <p:sldId id="285" r:id="rId12"/>
    <p:sldId id="291" r:id="rId13"/>
    <p:sldId id="292" r:id="rId14"/>
    <p:sldId id="293" r:id="rId15"/>
    <p:sldId id="294" r:id="rId16"/>
    <p:sldId id="262" r:id="rId17"/>
    <p:sldId id="268" r:id="rId18"/>
    <p:sldId id="264" r:id="rId19"/>
    <p:sldId id="269" r:id="rId20"/>
    <p:sldId id="270" r:id="rId21"/>
    <p:sldId id="266" r:id="rId2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73212" autoAdjust="0"/>
  </p:normalViewPr>
  <p:slideViewPr>
    <p:cSldViewPr snapToGrid="0">
      <p:cViewPr varScale="1">
        <p:scale>
          <a:sx n="52" d="100"/>
          <a:sy n="52" d="100"/>
        </p:scale>
        <p:origin x="1422" y="78"/>
      </p:cViewPr>
      <p:guideLst/>
    </p:cSldViewPr>
  </p:slideViewPr>
  <p:notesTextViewPr>
    <p:cViewPr>
      <p:scale>
        <a:sx n="1" d="1"/>
        <a:sy n="1" d="1"/>
      </p:scale>
      <p:origin x="0" y="0"/>
    </p:cViewPr>
  </p:notesTextViewPr>
  <p:sorterViewPr>
    <p:cViewPr>
      <p:scale>
        <a:sx n="100" d="100"/>
        <a:sy n="100" d="100"/>
      </p:scale>
      <p:origin x="0" y="-1104"/>
    </p:cViewPr>
  </p:sorterViewPr>
  <p:notesViewPr>
    <p:cSldViewPr snapToGrid="0">
      <p:cViewPr varScale="1">
        <p:scale>
          <a:sx n="78" d="100"/>
          <a:sy n="78" d="100"/>
        </p:scale>
        <p:origin x="258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CA517F5-F09D-4FD1-8508-B3E5F71B00C4}" type="datetimeFigureOut">
              <a:rPr lang="zh-TW" altLang="en-US" smtClean="0"/>
              <a:t>2020/11/17</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B7E0CC-A510-4C30-8743-219E0B083C04}" type="slidenum">
              <a:rPr lang="zh-TW" altLang="en-US" smtClean="0"/>
              <a:t>‹#›</a:t>
            </a:fld>
            <a:endParaRPr lang="zh-TW" altLang="en-US"/>
          </a:p>
        </p:txBody>
      </p:sp>
    </p:spTree>
    <p:extLst>
      <p:ext uri="{BB962C8B-B14F-4D97-AF65-F5344CB8AC3E}">
        <p14:creationId xmlns:p14="http://schemas.microsoft.com/office/powerpoint/2010/main" val="20319682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1960</a:t>
            </a:r>
            <a:r>
              <a:rPr lang="zh-TW" altLang="en-US" dirty="0"/>
              <a:t>年代</a:t>
            </a:r>
            <a:r>
              <a:rPr lang="en-US" altLang="zh-TW" dirty="0"/>
              <a:t>John Von Neumann</a:t>
            </a:r>
            <a:r>
              <a:rPr lang="zh-TW" altLang="en-US" dirty="0"/>
              <a:t>提出一個「自我複製」</a:t>
            </a:r>
            <a:r>
              <a:rPr lang="en-US" altLang="zh-TW" dirty="0"/>
              <a:t>(Self-reproducing)</a:t>
            </a:r>
            <a:r>
              <a:rPr lang="zh-TW" altLang="en-US" dirty="0"/>
              <a:t>的理論，奠定了基因演算法的基礎。</a:t>
            </a:r>
            <a:endParaRPr lang="en-US" altLang="zh-TW" dirty="0"/>
          </a:p>
          <a:p>
            <a:r>
              <a:rPr lang="zh-TW" altLang="en-US" dirty="0"/>
              <a:t>而完整的基因演算法的概念則是到</a:t>
            </a:r>
            <a:r>
              <a:rPr lang="en-US" altLang="zh-TW" dirty="0"/>
              <a:t>1975</a:t>
            </a:r>
            <a:r>
              <a:rPr lang="zh-TW" altLang="en-US" dirty="0"/>
              <a:t>年</a:t>
            </a:r>
            <a:r>
              <a:rPr lang="en-US" altLang="zh-TW" dirty="0"/>
              <a:t>John Holland</a:t>
            </a:r>
            <a:r>
              <a:rPr lang="zh-TW" altLang="en-US" dirty="0"/>
              <a:t>與其學生共同提出來的。</a:t>
            </a:r>
            <a:endParaRPr lang="en-US" altLang="zh-TW" dirty="0"/>
          </a:p>
          <a:p>
            <a:r>
              <a:rPr lang="zh-TW" altLang="en-US" b="0" i="0" dirty="0">
                <a:solidFill>
                  <a:srgbClr val="303233"/>
                </a:solidFill>
                <a:effectLst/>
                <a:latin typeface="標楷體" panose="03000509000000000000" pitchFamily="65" charset="-120"/>
                <a:ea typeface="標楷體" panose="03000509000000000000" pitchFamily="65" charset="-120"/>
              </a:rPr>
              <a:t>在這裏不會僅挑選適應程度最高的原因是這樣的做法可能導致局部最佳解，而非整體最佳解。</a:t>
            </a:r>
            <a:endParaRPr lang="en-US" altLang="zh-TW" b="0" i="0" dirty="0">
              <a:solidFill>
                <a:srgbClr val="303233"/>
              </a:solidFill>
              <a:effectLst/>
              <a:latin typeface="標楷體" panose="03000509000000000000" pitchFamily="65" charset="-120"/>
              <a:ea typeface="標楷體" panose="03000509000000000000" pitchFamily="65" charset="-120"/>
            </a:endParaRPr>
          </a:p>
          <a:p>
            <a:r>
              <a:rPr lang="en-US" altLang="zh-TW" b="0" i="0" dirty="0">
                <a:solidFill>
                  <a:srgbClr val="303233"/>
                </a:solidFill>
                <a:effectLst/>
                <a:latin typeface="標楷體" panose="03000509000000000000" pitchFamily="65" charset="-120"/>
                <a:ea typeface="標楷體" panose="03000509000000000000" pitchFamily="65" charset="-120"/>
              </a:rPr>
              <a:t>GA</a:t>
            </a:r>
            <a:r>
              <a:rPr lang="zh-TW" altLang="en-US" b="0" i="0" dirty="0">
                <a:solidFill>
                  <a:srgbClr val="303233"/>
                </a:solidFill>
                <a:effectLst/>
                <a:latin typeface="標楷體" panose="03000509000000000000" pitchFamily="65" charset="-120"/>
                <a:ea typeface="標楷體" panose="03000509000000000000" pitchFamily="65" charset="-120"/>
              </a:rPr>
              <a:t>已被廣泛應用在求解最佳化的問題、資料搜尋、人工智慧及機器學習等領域上。</a:t>
            </a:r>
            <a:endParaRPr lang="zh-TW" altLang="en-US" dirty="0">
              <a:latin typeface="標楷體" panose="03000509000000000000" pitchFamily="65" charset="-120"/>
              <a:ea typeface="標楷體" panose="03000509000000000000" pitchFamily="65" charset="-120"/>
            </a:endParaRPr>
          </a:p>
          <a:p>
            <a:endParaRPr lang="zh-TW" altLang="en-US" dirty="0"/>
          </a:p>
        </p:txBody>
      </p:sp>
      <p:sp>
        <p:nvSpPr>
          <p:cNvPr id="4" name="投影片編號版面配置區 3"/>
          <p:cNvSpPr>
            <a:spLocks noGrp="1"/>
          </p:cNvSpPr>
          <p:nvPr>
            <p:ph type="sldNum" sz="quarter" idx="5"/>
          </p:nvPr>
        </p:nvSpPr>
        <p:spPr/>
        <p:txBody>
          <a:bodyPr/>
          <a:lstStyle/>
          <a:p>
            <a:fld id="{9AB7E0CC-A510-4C30-8743-219E0B083C04}" type="slidenum">
              <a:rPr lang="zh-TW" altLang="en-US" smtClean="0"/>
              <a:t>3</a:t>
            </a:fld>
            <a:endParaRPr lang="zh-TW" altLang="en-US"/>
          </a:p>
        </p:txBody>
      </p:sp>
    </p:spTree>
    <p:extLst>
      <p:ext uri="{BB962C8B-B14F-4D97-AF65-F5344CB8AC3E}">
        <p14:creationId xmlns:p14="http://schemas.microsoft.com/office/powerpoint/2010/main" val="40404801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ct val="0"/>
              </a:spcAft>
              <a:buClrTx/>
              <a:buSzTx/>
              <a:buNone/>
              <a:tabLst/>
            </a:pPr>
            <a:r>
              <a:rPr lang="zh-TW" altLang="en-US" sz="1200" i="0" dirty="0">
                <a:solidFill>
                  <a:srgbClr val="303233"/>
                </a:solidFill>
                <a:effectLst/>
                <a:latin typeface="+mj-ea"/>
                <a:ea typeface="+mj-ea"/>
              </a:rPr>
              <a:t>普遍的 突變率設定在</a:t>
            </a:r>
            <a:r>
              <a:rPr lang="en-US" altLang="zh-TW" sz="1200" i="0" dirty="0">
                <a:solidFill>
                  <a:srgbClr val="303233"/>
                </a:solidFill>
                <a:effectLst/>
                <a:latin typeface="+mj-ea"/>
                <a:ea typeface="+mj-ea"/>
              </a:rPr>
              <a:t>0.001~0.05</a:t>
            </a:r>
            <a:r>
              <a:rPr lang="zh-TW" altLang="en-US" sz="1200" i="0" dirty="0">
                <a:solidFill>
                  <a:srgbClr val="303233"/>
                </a:solidFill>
                <a:effectLst/>
                <a:latin typeface="+mj-ea"/>
                <a:ea typeface="+mj-ea"/>
              </a:rPr>
              <a:t>之間</a:t>
            </a:r>
            <a:endParaRPr lang="en-US" altLang="zh-TW" sz="1200" i="0" dirty="0">
              <a:solidFill>
                <a:srgbClr val="303233"/>
              </a:solidFill>
              <a:effectLst/>
              <a:latin typeface="+mj-ea"/>
              <a:ea typeface="+mj-ea"/>
            </a:endParaRPr>
          </a:p>
          <a:p>
            <a:pPr marL="0" marR="0" lvl="0" indent="0" algn="l" defTabSz="914400" rtl="0" eaLnBrk="0" fontAlgn="base" latinLnBrk="0" hangingPunct="0">
              <a:lnSpc>
                <a:spcPct val="100000"/>
              </a:lnSpc>
              <a:spcBef>
                <a:spcPct val="0"/>
              </a:spcBef>
              <a:spcAft>
                <a:spcPct val="0"/>
              </a:spcAft>
              <a:buClrTx/>
              <a:buSzTx/>
              <a:buNone/>
              <a:tabLst/>
            </a:pPr>
            <a:r>
              <a:rPr lang="zh-TW" altLang="en-US" sz="1200" b="0" i="0" dirty="0">
                <a:solidFill>
                  <a:srgbClr val="303233"/>
                </a:solidFill>
                <a:effectLst/>
                <a:latin typeface="+mj-ea"/>
                <a:ea typeface="+mj-ea"/>
              </a:rPr>
              <a:t>由於每一個基因都有機會發生突變</a:t>
            </a:r>
            <a:br>
              <a:rPr lang="zh-TW" altLang="en-US" sz="1200" dirty="0">
                <a:latin typeface="+mj-ea"/>
                <a:ea typeface="+mj-ea"/>
              </a:rPr>
            </a:br>
            <a:r>
              <a:rPr lang="zh-TW" altLang="en-US" sz="1200" b="0" i="0" dirty="0">
                <a:solidFill>
                  <a:srgbClr val="303233"/>
                </a:solidFill>
                <a:effectLst/>
                <a:latin typeface="+mj-ea"/>
                <a:ea typeface="+mj-ea"/>
              </a:rPr>
              <a:t>所以會使得整體的搜尋更加的零散</a:t>
            </a:r>
            <a:br>
              <a:rPr lang="zh-TW" altLang="en-US" sz="1200" dirty="0">
                <a:latin typeface="+mj-ea"/>
                <a:ea typeface="+mj-ea"/>
              </a:rPr>
            </a:br>
            <a:r>
              <a:rPr lang="zh-TW" altLang="en-US" sz="1200" b="0" i="0" dirty="0">
                <a:solidFill>
                  <a:srgbClr val="303233"/>
                </a:solidFill>
                <a:effectLst/>
                <a:latin typeface="+mj-ea"/>
                <a:ea typeface="+mj-ea"/>
              </a:rPr>
              <a:t>突變的過程可以防止在運算過程中過早收斂</a:t>
            </a:r>
            <a:br>
              <a:rPr lang="zh-TW" altLang="en-US" sz="1200" dirty="0">
                <a:latin typeface="+mj-ea"/>
                <a:ea typeface="+mj-ea"/>
              </a:rPr>
            </a:br>
            <a:r>
              <a:rPr lang="zh-TW" altLang="en-US" sz="1200" b="0" i="0" dirty="0">
                <a:solidFill>
                  <a:srgbClr val="303233"/>
                </a:solidFill>
                <a:effectLst/>
                <a:latin typeface="+mj-ea"/>
                <a:ea typeface="+mj-ea"/>
              </a:rPr>
              <a:t>導致結果只有局部最佳值而無法得到全域最佳解</a:t>
            </a:r>
            <a:endParaRPr kumimoji="0" lang="zh-TW" altLang="zh-TW" sz="1200" i="0" u="none" strike="noStrike" cap="none" normalizeH="0" baseline="0" dirty="0">
              <a:ln>
                <a:noFill/>
              </a:ln>
              <a:solidFill>
                <a:schemeClr val="tx1"/>
              </a:solidFill>
              <a:effectLst/>
              <a:latin typeface="+mj-ea"/>
              <a:ea typeface="+mj-ea"/>
            </a:endParaRPr>
          </a:p>
          <a:p>
            <a:endParaRPr lang="zh-TW" altLang="en-US" dirty="0"/>
          </a:p>
        </p:txBody>
      </p:sp>
      <p:sp>
        <p:nvSpPr>
          <p:cNvPr id="4" name="投影片編號版面配置區 3"/>
          <p:cNvSpPr>
            <a:spLocks noGrp="1"/>
          </p:cNvSpPr>
          <p:nvPr>
            <p:ph type="sldNum" sz="quarter" idx="5"/>
          </p:nvPr>
        </p:nvSpPr>
        <p:spPr/>
        <p:txBody>
          <a:bodyPr/>
          <a:lstStyle/>
          <a:p>
            <a:fld id="{9AB7E0CC-A510-4C30-8743-219E0B083C04}" type="slidenum">
              <a:rPr lang="zh-TW" altLang="en-US" smtClean="0"/>
              <a:t>11</a:t>
            </a:fld>
            <a:endParaRPr lang="zh-TW" altLang="en-US"/>
          </a:p>
        </p:txBody>
      </p:sp>
    </p:spTree>
    <p:extLst>
      <p:ext uri="{BB962C8B-B14F-4D97-AF65-F5344CB8AC3E}">
        <p14:creationId xmlns:p14="http://schemas.microsoft.com/office/powerpoint/2010/main" val="20118123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effectLst/>
              </a:rPr>
              <a:t>在投資組合中，在數據挖掘中，節點表示關聯規則和網絡挖掘中，節點表示網頁。</a:t>
            </a:r>
            <a:endParaRPr lang="en-US" altLang="zh-TW" dirty="0">
              <a:effectLst/>
            </a:endParaRPr>
          </a:p>
          <a:p>
            <a:r>
              <a:rPr lang="zh-TW" altLang="en-US" dirty="0">
                <a:effectLst/>
              </a:rPr>
              <a:t>強度是在節點之間定義的，</a:t>
            </a:r>
            <a:r>
              <a:rPr lang="en-US" altLang="zh-TW" dirty="0">
                <a:effectLst/>
              </a:rPr>
              <a:t>fitness</a:t>
            </a:r>
            <a:r>
              <a:rPr lang="zh-TW" altLang="en-US" dirty="0">
                <a:effectLst/>
              </a:rPr>
              <a:t> </a:t>
            </a:r>
            <a:r>
              <a:rPr lang="en-US" altLang="zh-TW" dirty="0">
                <a:effectLst/>
              </a:rPr>
              <a:t>function </a:t>
            </a:r>
            <a:r>
              <a:rPr lang="zh-TW" altLang="en-US" dirty="0">
                <a:effectLst/>
              </a:rPr>
              <a:t>定義</a:t>
            </a:r>
            <a:endParaRPr lang="zh-TW" altLang="en-US" dirty="0"/>
          </a:p>
          <a:p>
            <a:r>
              <a:rPr lang="en-US" altLang="zh-TW" dirty="0">
                <a:effectLst/>
              </a:rPr>
              <a:t>•</a:t>
            </a:r>
            <a:r>
              <a:rPr lang="zh-TW" altLang="en-US" dirty="0">
                <a:effectLst/>
              </a:rPr>
              <a:t>人口中的所有個體具有相同數量的</a:t>
            </a:r>
          </a:p>
          <a:p>
            <a:r>
              <a:rPr lang="zh-TW" altLang="en-US" dirty="0">
                <a:effectLst/>
              </a:rPr>
              <a:t>節點。</a:t>
            </a:r>
          </a:p>
          <a:p>
            <a:r>
              <a:rPr lang="en-US" altLang="zh-TW" dirty="0">
                <a:effectLst/>
              </a:rPr>
              <a:t>•GRA</a:t>
            </a:r>
            <a:r>
              <a:rPr lang="zh-TW" altLang="en-US" dirty="0">
                <a:effectLst/>
              </a:rPr>
              <a:t>可以進化以優化適應性由強度</a:t>
            </a:r>
            <a:r>
              <a:rPr lang="en-US" altLang="zh-TW" dirty="0" err="1">
                <a:effectLst/>
              </a:rPr>
              <a:t>Sij</a:t>
            </a:r>
            <a:r>
              <a:rPr lang="zh-TW" altLang="en-US" dirty="0">
                <a:effectLst/>
              </a:rPr>
              <a:t>定義的函數，換句話說，事件和它們之間的關係可以通過使用強度</a:t>
            </a:r>
            <a:r>
              <a:rPr lang="en-US" altLang="zh-TW" dirty="0" err="1">
                <a:effectLst/>
              </a:rPr>
              <a:t>Sij</a:t>
            </a:r>
            <a:r>
              <a:rPr lang="zh-TW" altLang="en-US" dirty="0">
                <a:effectLst/>
              </a:rPr>
              <a:t>。</a:t>
            </a:r>
          </a:p>
          <a:p>
            <a:r>
              <a:rPr lang="en-US" altLang="zh-TW" dirty="0">
                <a:effectLst/>
              </a:rPr>
              <a:t>•GRA</a:t>
            </a:r>
            <a:r>
              <a:rPr lang="zh-TW" altLang="en-US" dirty="0">
                <a:effectLst/>
              </a:rPr>
              <a:t>的重點是節點不必定義，但是連接本身可以進化。</a:t>
            </a:r>
            <a:endParaRPr lang="zh-TW" altLang="en-US" dirty="0"/>
          </a:p>
        </p:txBody>
      </p:sp>
      <p:sp>
        <p:nvSpPr>
          <p:cNvPr id="4" name="投影片編號版面配置區 3"/>
          <p:cNvSpPr>
            <a:spLocks noGrp="1"/>
          </p:cNvSpPr>
          <p:nvPr>
            <p:ph type="sldNum" sz="quarter" idx="5"/>
          </p:nvPr>
        </p:nvSpPr>
        <p:spPr/>
        <p:txBody>
          <a:bodyPr/>
          <a:lstStyle/>
          <a:p>
            <a:fld id="{9AB7E0CC-A510-4C30-8743-219E0B083C04}" type="slidenum">
              <a:rPr lang="zh-TW" altLang="en-US" smtClean="0"/>
              <a:t>12</a:t>
            </a:fld>
            <a:endParaRPr lang="zh-TW" altLang="en-US"/>
          </a:p>
        </p:txBody>
      </p:sp>
    </p:spTree>
    <p:extLst>
      <p:ext uri="{BB962C8B-B14F-4D97-AF65-F5344CB8AC3E}">
        <p14:creationId xmlns:p14="http://schemas.microsoft.com/office/powerpoint/2010/main" val="18163906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effectLst/>
              </a:rPr>
              <a:t>網頁是包含許多的</a:t>
            </a:r>
            <a:r>
              <a:rPr lang="en-US" altLang="zh-TW" dirty="0">
                <a:effectLst/>
              </a:rPr>
              <a:t>hyperlinks</a:t>
            </a:r>
            <a:r>
              <a:rPr lang="zh-TW" altLang="en-US" dirty="0">
                <a:effectLst/>
              </a:rPr>
              <a:t>  典型的</a:t>
            </a:r>
            <a:r>
              <a:rPr lang="en-US" altLang="zh-TW" dirty="0">
                <a:effectLst/>
              </a:rPr>
              <a:t>WWW</a:t>
            </a:r>
            <a:r>
              <a:rPr lang="zh-TW" altLang="en-US" dirty="0">
                <a:effectLst/>
              </a:rPr>
              <a:t>上 走訪信息的策略是</a:t>
            </a:r>
            <a:r>
              <a:rPr lang="en-US" altLang="zh-TW" dirty="0" err="1">
                <a:effectLst/>
              </a:rPr>
              <a:t>hperlink</a:t>
            </a:r>
            <a:r>
              <a:rPr lang="zh-TW" altLang="en-US" dirty="0">
                <a:effectLst/>
              </a:rPr>
              <a:t>交叉文檔，檢索輸入的信息。</a:t>
            </a:r>
            <a:endParaRPr lang="en-US" altLang="zh-TW" dirty="0">
              <a:effectLst/>
            </a:endParaRPr>
          </a:p>
          <a:p>
            <a:r>
              <a:rPr lang="en-US" altLang="zh-TW" dirty="0">
                <a:effectLst/>
              </a:rPr>
              <a:t>GRA</a:t>
            </a:r>
            <a:r>
              <a:rPr lang="zh-TW" altLang="en-US" dirty="0">
                <a:effectLst/>
              </a:rPr>
              <a:t>個人代表一個</a:t>
            </a:r>
            <a:r>
              <a:rPr lang="en-US" altLang="zh-TW" dirty="0">
                <a:effectLst/>
              </a:rPr>
              <a:t>Web</a:t>
            </a:r>
            <a:r>
              <a:rPr lang="zh-TW" altLang="en-US" dirty="0">
                <a:effectLst/>
              </a:rPr>
              <a:t>頁面，它的節點代表網頁中存在的超鏈接。</a:t>
            </a:r>
            <a:endParaRPr lang="en-US" altLang="zh-TW"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endParaRPr>
          </a:p>
          <a:p>
            <a:r>
              <a:rPr lang="en-US" altLang="zh-TW" b="0" i="0" dirty="0" err="1">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P,population</a:t>
            </a:r>
            <a:r>
              <a:rPr lang="en-US" altLang="zh-TW"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 size</a:t>
            </a:r>
            <a:r>
              <a:rPr lang="zh-TW" altLang="en-US"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）：即種群中染色體個體的數目</a:t>
            </a:r>
            <a:endParaRPr lang="en-US" altLang="zh-TW"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l, string length</a:t>
            </a:r>
            <a:r>
              <a:rPr lang="zh-TW" altLang="en-US"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）：個體中染色體的長度。</a:t>
            </a:r>
          </a:p>
          <a:p>
            <a:r>
              <a:rPr lang="zh-TW" altLang="en-US"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交配概率（</a:t>
            </a:r>
            <a:r>
              <a:rPr lang="en-US" altLang="zh-TW"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pc, probability of performing crossover</a:t>
            </a:r>
            <a:r>
              <a:rPr lang="zh-TW" altLang="en-US"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交配操作可以加快收斂，但交配概率太高也可能導致過早收斂，則稱為早熟。</a:t>
            </a:r>
            <a:endParaRPr lang="en-US" altLang="zh-TW"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突變概率（</a:t>
            </a:r>
            <a:r>
              <a:rPr lang="en-US" altLang="zh-TW"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pm, probability of mutation</a:t>
            </a:r>
            <a:r>
              <a:rPr lang="zh-TW" altLang="en-US" b="0" i="0" dirty="0">
                <a:solidFill>
                  <a:srgbClr val="202122"/>
                </a:solidFill>
                <a:effectLst/>
                <a:latin typeface="Times New Roman" panose="02020603050405020304" pitchFamily="18" charset="0"/>
                <a:ea typeface="標楷體" panose="03000509000000000000" pitchFamily="65" charset="-120"/>
                <a:cs typeface="Times New Roman" panose="02020603050405020304" pitchFamily="18" charset="0"/>
              </a:rPr>
              <a:t>）：控制著突變算子的使用頻率。</a:t>
            </a:r>
          </a:p>
          <a:p>
            <a:endParaRPr lang="zh-TW" altLang="en-US" dirty="0"/>
          </a:p>
        </p:txBody>
      </p:sp>
      <p:sp>
        <p:nvSpPr>
          <p:cNvPr id="4" name="投影片編號版面配置區 3"/>
          <p:cNvSpPr>
            <a:spLocks noGrp="1"/>
          </p:cNvSpPr>
          <p:nvPr>
            <p:ph type="sldNum" sz="quarter" idx="5"/>
          </p:nvPr>
        </p:nvSpPr>
        <p:spPr/>
        <p:txBody>
          <a:bodyPr/>
          <a:lstStyle/>
          <a:p>
            <a:fld id="{9AB7E0CC-A510-4C30-8743-219E0B083C04}" type="slidenum">
              <a:rPr lang="zh-TW" altLang="en-US" smtClean="0"/>
              <a:t>13</a:t>
            </a:fld>
            <a:endParaRPr lang="zh-TW" altLang="en-US"/>
          </a:p>
        </p:txBody>
      </p:sp>
    </p:spTree>
    <p:extLst>
      <p:ext uri="{BB962C8B-B14F-4D97-AF65-F5344CB8AC3E}">
        <p14:creationId xmlns:p14="http://schemas.microsoft.com/office/powerpoint/2010/main" val="280688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effectLst/>
              </a:rPr>
              <a:t>Fitness</a:t>
            </a:r>
            <a:r>
              <a:rPr lang="zh-TW" altLang="en-US" dirty="0">
                <a:effectLst/>
              </a:rPr>
              <a:t> </a:t>
            </a:r>
            <a:r>
              <a:rPr lang="en-US" altLang="zh-TW" dirty="0">
                <a:effectLst/>
              </a:rPr>
              <a:t>function</a:t>
            </a:r>
            <a:r>
              <a:rPr lang="zh-TW" altLang="en-US" dirty="0">
                <a:effectLst/>
              </a:rPr>
              <a:t> 評估</a:t>
            </a:r>
            <a:r>
              <a:rPr lang="en-US" altLang="zh-TW" dirty="0">
                <a:effectLst/>
              </a:rPr>
              <a:t>GRA</a:t>
            </a:r>
            <a:r>
              <a:rPr lang="zh-TW" altLang="en-US" dirty="0">
                <a:effectLst/>
              </a:rPr>
              <a:t>個體，以便超鏈接之間的</a:t>
            </a:r>
            <a:r>
              <a:rPr lang="en-US" altLang="zh-TW" dirty="0" err="1">
                <a:effectLst/>
              </a:rPr>
              <a:t>simmilarity</a:t>
            </a:r>
            <a:r>
              <a:rPr lang="zh-TW" altLang="en-US" dirty="0">
                <a:effectLst/>
              </a:rPr>
              <a:t>被最大化。</a:t>
            </a:r>
          </a:p>
          <a:p>
            <a:r>
              <a:rPr lang="zh-TW" altLang="en-US" dirty="0">
                <a:effectLst/>
              </a:rPr>
              <a:t>用戶生成查詢請求開始，然後，使用標準搜索引擎（例如</a:t>
            </a:r>
            <a:r>
              <a:rPr lang="en-US" altLang="zh-TW" dirty="0">
                <a:effectLst/>
              </a:rPr>
              <a:t>Google)</a:t>
            </a:r>
            <a:r>
              <a:rPr lang="zh-TW" altLang="en-US" dirty="0">
                <a:effectLst/>
              </a:rPr>
              <a:t>，創建了</a:t>
            </a:r>
            <a:r>
              <a:rPr lang="en-US" altLang="zh-TW" dirty="0">
                <a:effectLst/>
              </a:rPr>
              <a:t>GRA</a:t>
            </a:r>
            <a:r>
              <a:rPr lang="zh-TW" altLang="en-US" dirty="0">
                <a:effectLst/>
              </a:rPr>
              <a:t>個人的初始群體</a:t>
            </a:r>
          </a:p>
          <a:p>
            <a:r>
              <a:rPr lang="en-US" altLang="zh-TW" dirty="0">
                <a:effectLst/>
              </a:rPr>
              <a:t>GRA</a:t>
            </a:r>
            <a:r>
              <a:rPr lang="zh-TW" altLang="en-US" dirty="0">
                <a:effectLst/>
              </a:rPr>
              <a:t>節點對由任何節點生成的超鏈接進行編碼標準搜索引擎。</a:t>
            </a:r>
          </a:p>
          <a:p>
            <a:r>
              <a:rPr lang="zh-TW" altLang="en-US" dirty="0">
                <a:effectLst/>
              </a:rPr>
              <a:t>然後，以適合度評估</a:t>
            </a:r>
            <a:r>
              <a:rPr lang="en-US" altLang="zh-TW" dirty="0">
                <a:effectLst/>
              </a:rPr>
              <a:t>GRA</a:t>
            </a:r>
            <a:r>
              <a:rPr lang="zh-TW" altLang="en-US" dirty="0">
                <a:effectLst/>
              </a:rPr>
              <a:t>個人</a:t>
            </a:r>
          </a:p>
          <a:p>
            <a:r>
              <a:rPr lang="zh-TW" altLang="en-US" dirty="0">
                <a:effectLst/>
              </a:rPr>
              <a:t>功能和基因操作（精英選擇，錦標賽選擇，交叉和變異）。 最後，最終的精英個人就是提供給用戶的輸出。</a:t>
            </a:r>
            <a:endParaRPr lang="zh-TW" altLang="en-US" dirty="0"/>
          </a:p>
        </p:txBody>
      </p:sp>
      <p:sp>
        <p:nvSpPr>
          <p:cNvPr id="4" name="投影片編號版面配置區 3"/>
          <p:cNvSpPr>
            <a:spLocks noGrp="1"/>
          </p:cNvSpPr>
          <p:nvPr>
            <p:ph type="sldNum" sz="quarter" idx="5"/>
          </p:nvPr>
        </p:nvSpPr>
        <p:spPr/>
        <p:txBody>
          <a:bodyPr/>
          <a:lstStyle/>
          <a:p>
            <a:fld id="{9AB7E0CC-A510-4C30-8743-219E0B083C04}" type="slidenum">
              <a:rPr lang="zh-TW" altLang="en-US" smtClean="0"/>
              <a:t>14</a:t>
            </a:fld>
            <a:endParaRPr lang="zh-TW" altLang="en-US"/>
          </a:p>
        </p:txBody>
      </p:sp>
    </p:spTree>
    <p:extLst>
      <p:ext uri="{BB962C8B-B14F-4D97-AF65-F5344CB8AC3E}">
        <p14:creationId xmlns:p14="http://schemas.microsoft.com/office/powerpoint/2010/main" val="41868241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Let N be the set of hyperlinks.  </a:t>
            </a:r>
          </a:p>
          <a:p>
            <a:r>
              <a:rPr lang="en-US" altLang="zh-TW" dirty="0"/>
              <a:t>Let </a:t>
            </a:r>
            <a:r>
              <a:rPr lang="en-US" altLang="zh-TW" dirty="0" err="1"/>
              <a:t>Dq</a:t>
            </a:r>
            <a:r>
              <a:rPr lang="en-US" altLang="zh-TW" dirty="0"/>
              <a:t> be the set of actual relevant hyperlinks of query q in N.</a:t>
            </a:r>
          </a:p>
          <a:p>
            <a:r>
              <a:rPr lang="en-US" altLang="zh-TW" dirty="0"/>
              <a:t>The evaluation of the final elite individual(</a:t>
            </a:r>
            <a:r>
              <a:rPr lang="zh-TW" altLang="en-US" dirty="0"/>
              <a:t>精英選擇</a:t>
            </a:r>
            <a:r>
              <a:rPr lang="en-US" altLang="zh-TW" dirty="0"/>
              <a:t>) is realized using the conventional evaluation measures, </a:t>
            </a:r>
          </a:p>
          <a:p>
            <a:pPr marL="285750" indent="-285750">
              <a:buAutoNum type="romanLcPeriod"/>
            </a:pPr>
            <a:r>
              <a:rPr lang="en-US" altLang="zh-TW" dirty="0"/>
              <a:t>e. , precision, recall and F-score[8] for all nodes as follows:</a:t>
            </a:r>
          </a:p>
          <a:p>
            <a:pPr marL="0" indent="0">
              <a:buNone/>
            </a:pPr>
            <a:endParaRPr lang="zh-TW" altLang="en-US" dirty="0"/>
          </a:p>
        </p:txBody>
      </p:sp>
      <p:sp>
        <p:nvSpPr>
          <p:cNvPr id="4" name="投影片編號版面配置區 3"/>
          <p:cNvSpPr>
            <a:spLocks noGrp="1"/>
          </p:cNvSpPr>
          <p:nvPr>
            <p:ph type="sldNum" sz="quarter" idx="5"/>
          </p:nvPr>
        </p:nvSpPr>
        <p:spPr/>
        <p:txBody>
          <a:bodyPr/>
          <a:lstStyle/>
          <a:p>
            <a:fld id="{9AB7E0CC-A510-4C30-8743-219E0B083C04}" type="slidenum">
              <a:rPr lang="zh-TW" altLang="en-US" smtClean="0"/>
              <a:t>15</a:t>
            </a:fld>
            <a:endParaRPr lang="zh-TW" altLang="en-US"/>
          </a:p>
        </p:txBody>
      </p:sp>
    </p:spTree>
    <p:extLst>
      <p:ext uri="{BB962C8B-B14F-4D97-AF65-F5344CB8AC3E}">
        <p14:creationId xmlns:p14="http://schemas.microsoft.com/office/powerpoint/2010/main" val="77980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平均</a:t>
            </a:r>
            <a:r>
              <a:rPr lang="en-US" altLang="zh-TW" dirty="0"/>
              <a:t>GRA</a:t>
            </a:r>
            <a:r>
              <a:rPr lang="zh-TW" altLang="en-US" dirty="0"/>
              <a:t>  優於傳統 </a:t>
            </a:r>
            <a:r>
              <a:rPr lang="en-US" altLang="zh-TW" dirty="0"/>
              <a:t>4/5</a:t>
            </a:r>
          </a:p>
          <a:p>
            <a:r>
              <a:rPr lang="en-US" altLang="zh-TW" dirty="0"/>
              <a:t>F-score values</a:t>
            </a:r>
            <a:r>
              <a:rPr lang="zh-TW" altLang="en-US" dirty="0"/>
              <a:t> 會優於傳統</a:t>
            </a:r>
          </a:p>
        </p:txBody>
      </p:sp>
      <p:sp>
        <p:nvSpPr>
          <p:cNvPr id="4" name="投影片編號版面配置區 3"/>
          <p:cNvSpPr>
            <a:spLocks noGrp="1"/>
          </p:cNvSpPr>
          <p:nvPr>
            <p:ph type="sldNum" sz="quarter" idx="5"/>
          </p:nvPr>
        </p:nvSpPr>
        <p:spPr/>
        <p:txBody>
          <a:bodyPr/>
          <a:lstStyle/>
          <a:p>
            <a:fld id="{9AB7E0CC-A510-4C30-8743-219E0B083C04}" type="slidenum">
              <a:rPr lang="zh-TW" altLang="en-US" smtClean="0"/>
              <a:t>17</a:t>
            </a:fld>
            <a:endParaRPr lang="zh-TW" altLang="en-US"/>
          </a:p>
        </p:txBody>
      </p:sp>
    </p:spTree>
    <p:extLst>
      <p:ext uri="{BB962C8B-B14F-4D97-AF65-F5344CB8AC3E}">
        <p14:creationId xmlns:p14="http://schemas.microsoft.com/office/powerpoint/2010/main" val="14189656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使用</a:t>
            </a:r>
            <a:r>
              <a:rPr lang="en-US" altLang="zh-TW" dirty="0"/>
              <a:t>5</a:t>
            </a:r>
            <a:r>
              <a:rPr lang="zh-TW" altLang="en-US" dirty="0"/>
              <a:t>個</a:t>
            </a:r>
            <a:r>
              <a:rPr lang="en-US" altLang="zh-TW" dirty="0"/>
              <a:t>query </a:t>
            </a:r>
            <a:r>
              <a:rPr lang="zh-TW" altLang="en-US" dirty="0"/>
              <a:t>查詢來完成仿真不同的域和關鍵字。 </a:t>
            </a:r>
            <a:endParaRPr lang="en-US" altLang="zh-TW" dirty="0"/>
          </a:p>
          <a:p>
            <a:r>
              <a:rPr lang="zh-TW" altLang="en-US" dirty="0"/>
              <a:t>在實驗中，每進行</a:t>
            </a:r>
            <a:r>
              <a:rPr lang="en-US" altLang="zh-TW" dirty="0"/>
              <a:t>10</a:t>
            </a:r>
            <a:r>
              <a:rPr lang="zh-TW" altLang="en-US" dirty="0"/>
              <a:t>次</a:t>
            </a:r>
            <a:r>
              <a:rPr lang="en-US" altLang="zh-TW" dirty="0"/>
              <a:t>GRA</a:t>
            </a:r>
            <a:r>
              <a:rPr lang="zh-TW" altLang="en-US" dirty="0"/>
              <a:t>查詢，並將結果作為平均值。</a:t>
            </a:r>
          </a:p>
          <a:p>
            <a:r>
              <a:rPr lang="zh-TW" altLang="en-US" dirty="0"/>
              <a:t>對於每個查詢，由傳統的搜索引擎（</a:t>
            </a:r>
            <a:r>
              <a:rPr lang="en-US" altLang="zh-TW" dirty="0"/>
              <a:t>SE</a:t>
            </a:r>
            <a:r>
              <a:rPr lang="zh-TW" altLang="en-US" dirty="0"/>
              <a:t>）用於創建初始，</a:t>
            </a:r>
            <a:r>
              <a:rPr lang="en-US" altLang="zh-TW" dirty="0"/>
              <a:t>GRA</a:t>
            </a:r>
            <a:r>
              <a:rPr lang="zh-TW" altLang="en-US" dirty="0"/>
              <a:t>個體的總數（</a:t>
            </a:r>
            <a:r>
              <a:rPr lang="en-US" altLang="zh-TW" dirty="0"/>
              <a:t>| N | = 400</a:t>
            </a:r>
            <a:r>
              <a:rPr lang="zh-TW" alt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effectLst/>
              </a:rPr>
              <a:t>即使在低召回值下，所提出的方法也可以獲得高精度值</a:t>
            </a:r>
            <a:endParaRPr lang="en-US" altLang="zh-TW" dirty="0">
              <a:effectLst/>
            </a:endParaRPr>
          </a:p>
          <a:p>
            <a:r>
              <a:rPr lang="en-US" altLang="zh-TW" dirty="0">
                <a:effectLst/>
              </a:rPr>
              <a:t>GRA</a:t>
            </a:r>
            <a:r>
              <a:rPr lang="zh-TW" altLang="en-US" dirty="0">
                <a:effectLst/>
              </a:rPr>
              <a:t>提供了便捷的方法並通過檢索更準確的信息 優化網絡搜索用戶的查詢以及使用網絡搜索收集的信息</a:t>
            </a:r>
            <a:endParaRPr lang="en-US" altLang="zh-TW" b="0" i="0" dirty="0">
              <a:solidFill>
                <a:srgbClr val="4D4D4D"/>
              </a:solidFill>
              <a:effectLst/>
              <a:latin typeface="-apple-system"/>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b="0" i="0" dirty="0">
              <a:solidFill>
                <a:srgbClr val="4D4D4D"/>
              </a:solidFill>
              <a:effectLst/>
              <a:latin typeface="-apple-system"/>
            </a:endParaRPr>
          </a:p>
          <a:p>
            <a:r>
              <a:rPr lang="zh-TW" altLang="en-US" b="0" i="0" dirty="0">
                <a:solidFill>
                  <a:srgbClr val="4D4D4D"/>
                </a:solidFill>
                <a:effectLst/>
                <a:latin typeface="-apple-system"/>
              </a:rPr>
              <a:t>評價一個模型的好壞，不能僅靠精確率或者召回率，最好構建多組精確率和召回率，繪製出模型的</a:t>
            </a:r>
            <a:r>
              <a:rPr lang="en-US" altLang="zh-TW" b="0" i="0" dirty="0">
                <a:solidFill>
                  <a:srgbClr val="4D4D4D"/>
                </a:solidFill>
                <a:effectLst/>
                <a:latin typeface="-apple-system"/>
              </a:rPr>
              <a:t>P-R</a:t>
            </a:r>
            <a:r>
              <a:rPr lang="zh-TW" altLang="en-US" b="0" i="0" dirty="0">
                <a:solidFill>
                  <a:srgbClr val="4D4D4D"/>
                </a:solidFill>
                <a:effectLst/>
                <a:latin typeface="-apple-system"/>
              </a:rPr>
              <a:t>曲線。</a:t>
            </a:r>
            <a:br>
              <a:rPr lang="zh-TW" altLang="en-US" dirty="0"/>
            </a:br>
            <a:endParaRPr lang="zh-TW" altLang="en-US" dirty="0">
              <a:effectLst/>
            </a:endParaRPr>
          </a:p>
        </p:txBody>
      </p:sp>
      <p:sp>
        <p:nvSpPr>
          <p:cNvPr id="4" name="投影片編號版面配置區 3"/>
          <p:cNvSpPr>
            <a:spLocks noGrp="1"/>
          </p:cNvSpPr>
          <p:nvPr>
            <p:ph type="sldNum" sz="quarter" idx="5"/>
          </p:nvPr>
        </p:nvSpPr>
        <p:spPr/>
        <p:txBody>
          <a:bodyPr/>
          <a:lstStyle/>
          <a:p>
            <a:fld id="{9AB7E0CC-A510-4C30-8743-219E0B083C04}" type="slidenum">
              <a:rPr lang="zh-TW" altLang="en-US" smtClean="0"/>
              <a:t>18</a:t>
            </a:fld>
            <a:endParaRPr lang="zh-TW" altLang="en-US"/>
          </a:p>
        </p:txBody>
      </p:sp>
    </p:spTree>
    <p:extLst>
      <p:ext uri="{BB962C8B-B14F-4D97-AF65-F5344CB8AC3E}">
        <p14:creationId xmlns:p14="http://schemas.microsoft.com/office/powerpoint/2010/main" val="12318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初始母體的數量與數值之外，基因操作的狀況多少也會影響結果。</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另外，算法仰賴適性函數評估好壞程度，所以適性函數設定不好的情況下，同樣會影響收斂的結果只達到區域最佳解，而非全域最佳解。</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所以基因演算法往往能快速找到不錯的解法，即使是一個較複雜的問題。因此基因演算法並不一定總是有最佳解法的特性，在不同的應用中卻不失為一個實用的演算法。</a:t>
            </a:r>
          </a:p>
          <a:p>
            <a:endParaRPr lang="zh-TW" altLang="en-US" dirty="0"/>
          </a:p>
        </p:txBody>
      </p:sp>
      <p:sp>
        <p:nvSpPr>
          <p:cNvPr id="4" name="投影片編號版面配置區 3"/>
          <p:cNvSpPr>
            <a:spLocks noGrp="1"/>
          </p:cNvSpPr>
          <p:nvPr>
            <p:ph type="sldNum" sz="quarter" idx="5"/>
          </p:nvPr>
        </p:nvSpPr>
        <p:spPr/>
        <p:txBody>
          <a:bodyPr/>
          <a:lstStyle/>
          <a:p>
            <a:fld id="{9AB7E0CC-A510-4C30-8743-219E0B083C04}" type="slidenum">
              <a:rPr lang="zh-TW" altLang="en-US" smtClean="0"/>
              <a:t>19</a:t>
            </a:fld>
            <a:endParaRPr lang="zh-TW" altLang="en-US"/>
          </a:p>
        </p:txBody>
      </p:sp>
    </p:spTree>
    <p:extLst>
      <p:ext uri="{BB962C8B-B14F-4D97-AF65-F5344CB8AC3E}">
        <p14:creationId xmlns:p14="http://schemas.microsoft.com/office/powerpoint/2010/main" val="39792597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A82E45-5096-4C3B-B9BA-C9EC418D769B}"/>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15969988-7B33-494E-A8E1-A631366BD43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DBC8225-B87F-4ED6-B516-0C30FF7780C3}"/>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5" name="頁尾版面配置區 4">
            <a:extLst>
              <a:ext uri="{FF2B5EF4-FFF2-40B4-BE49-F238E27FC236}">
                <a16:creationId xmlns:a16="http://schemas.microsoft.com/office/drawing/2014/main" id="{2070ED2F-0FF6-4796-A755-474887E22963}"/>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7DC3142-4649-4117-B53E-916E9209F818}"/>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1256548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B1BA3B-1582-4233-8E5C-325B91320D3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E4140A70-6AED-4F9E-B3AE-47A6C7E9EE03}"/>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5435A77-F2D9-4D0E-A270-5A65F9336024}"/>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5" name="頁尾版面配置區 4">
            <a:extLst>
              <a:ext uri="{FF2B5EF4-FFF2-40B4-BE49-F238E27FC236}">
                <a16:creationId xmlns:a16="http://schemas.microsoft.com/office/drawing/2014/main" id="{976FF737-8EEF-4D5C-B388-419ABA5CD9A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F5B662B-FF43-45A0-8ECE-BA1F3F653D9B}"/>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4221166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CE5CC71-DE13-4F90-97B8-6A3178AD0AA0}"/>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193B6314-17AC-44BA-A12B-44AD97DD394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B5B4A858-BE56-4D48-A9FC-3EC721332DBB}"/>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5" name="頁尾版面配置區 4">
            <a:extLst>
              <a:ext uri="{FF2B5EF4-FFF2-40B4-BE49-F238E27FC236}">
                <a16:creationId xmlns:a16="http://schemas.microsoft.com/office/drawing/2014/main" id="{DD701EB6-EFDA-47DC-A1A5-8E67A9DC21B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DF46AB2-344D-4B20-AAC2-5C9767756147}"/>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1438530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5E0EFA-8F5E-47C9-873D-23CFFC2BCB2C}"/>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3CDA9E89-7107-4576-8865-75A88B8CCB6A}"/>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CF67038B-D97C-44BC-B496-89807A65004A}"/>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1D7D847-FCB1-412B-ADAF-5BAA5980CF4C}"/>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6" name="頁尾版面配置區 5">
            <a:extLst>
              <a:ext uri="{FF2B5EF4-FFF2-40B4-BE49-F238E27FC236}">
                <a16:creationId xmlns:a16="http://schemas.microsoft.com/office/drawing/2014/main" id="{8DBBD040-2109-443D-9965-AF8DAE03D7F6}"/>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F3C1DC59-F37E-4857-9E14-DD438450D4E9}"/>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5435458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B0A009-8825-451D-AE70-A059DEDC533A}"/>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8169C0-37A4-4347-B95A-78C758A5B9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5977A1C5-BBAF-407C-BB62-F161A7B75CBA}"/>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5FCC091-149C-453D-B083-E040329D4B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2DC393D3-DE71-461C-98B5-5AED1AC377E5}"/>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04F54619-D24E-4B50-BD28-A6C593FF024F}"/>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8" name="頁尾版面配置區 7">
            <a:extLst>
              <a:ext uri="{FF2B5EF4-FFF2-40B4-BE49-F238E27FC236}">
                <a16:creationId xmlns:a16="http://schemas.microsoft.com/office/drawing/2014/main" id="{63BAE980-195F-45BE-938E-DDCE1B1C414F}"/>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4B0E2B1D-9886-4011-94C7-76B92F862439}"/>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2446781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697C14D-9273-4041-8476-ED7AA6008DF0}"/>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8B710F71-3700-4F6A-A9E5-B29C80F0EB2F}"/>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4" name="頁尾版面配置區 3">
            <a:extLst>
              <a:ext uri="{FF2B5EF4-FFF2-40B4-BE49-F238E27FC236}">
                <a16:creationId xmlns:a16="http://schemas.microsoft.com/office/drawing/2014/main" id="{B9F34B2E-8650-4F35-AC37-06B14857B160}"/>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552CBEAA-C6AB-4192-8E0B-80C0BDC0A71F}"/>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2217481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D0EE0526-1E9D-4AC1-93A2-50268BB323CF}"/>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3" name="頁尾版面配置區 2">
            <a:extLst>
              <a:ext uri="{FF2B5EF4-FFF2-40B4-BE49-F238E27FC236}">
                <a16:creationId xmlns:a16="http://schemas.microsoft.com/office/drawing/2014/main" id="{C2AFB242-DC7E-4AC3-8596-496563710AE5}"/>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C119767F-3479-426D-87D0-328E784DC04B}"/>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8120615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DCE2FC1-BCBA-4150-8B37-80E8B979636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E26AEEBB-3ADC-4F03-A5C7-12E227B650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0CB1FE32-D791-4B2F-8C70-7715C4BBCC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CAA1AD04-2B92-488F-8494-290130552639}"/>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6" name="頁尾版面配置區 5">
            <a:extLst>
              <a:ext uri="{FF2B5EF4-FFF2-40B4-BE49-F238E27FC236}">
                <a16:creationId xmlns:a16="http://schemas.microsoft.com/office/drawing/2014/main" id="{7D5663AC-4714-4D2C-800D-E37EC17A492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66C96237-7FCC-44E2-BBB7-DC0D626F0438}"/>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3309469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26C1EB-7C4B-4D4A-BA7B-7FA3B515930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3AD67B39-80CD-4539-AC74-7580C73C50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598389EE-AD06-4378-932A-B615F70CFD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B1505A94-1503-49B7-A52E-8EBCFAFFF4B3}"/>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6" name="頁尾版面配置區 5">
            <a:extLst>
              <a:ext uri="{FF2B5EF4-FFF2-40B4-BE49-F238E27FC236}">
                <a16:creationId xmlns:a16="http://schemas.microsoft.com/office/drawing/2014/main" id="{5316890B-9364-4287-A816-B0D5837C26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D849C50-9A6B-47B6-8CCF-EF452BB75E3E}"/>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1858808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D4AFEC-D363-466B-BF2B-9FAFE5467D0D}"/>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3F2B949B-05FE-45AC-B46D-69D9B6497DF1}"/>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F51329F-2CE3-4C68-B3AE-1DCDD003E2C8}"/>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5" name="頁尾版面配置區 4">
            <a:extLst>
              <a:ext uri="{FF2B5EF4-FFF2-40B4-BE49-F238E27FC236}">
                <a16:creationId xmlns:a16="http://schemas.microsoft.com/office/drawing/2014/main" id="{89359E5B-ADC9-41DD-A365-D7E15A2844C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FDF75CB8-61A8-4E32-AAD7-8C51BF48E792}"/>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4097320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4D79C0C6-553B-4AB9-8159-46A764C5881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D6AADB91-5522-46A4-963F-8AD852CFF902}"/>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805BFB5-F9B8-4C16-9ACF-E566E27A4BEF}"/>
              </a:ext>
            </a:extLst>
          </p:cNvPr>
          <p:cNvSpPr>
            <a:spLocks noGrp="1"/>
          </p:cNvSpPr>
          <p:nvPr>
            <p:ph type="dt" sz="half" idx="10"/>
          </p:nvPr>
        </p:nvSpPr>
        <p:spPr/>
        <p:txBody>
          <a:bodyPr/>
          <a:lstStyle/>
          <a:p>
            <a:fld id="{DBC4E8E0-F7CE-4EFB-BE7A-48B0BC0D38B5}" type="datetimeFigureOut">
              <a:rPr lang="zh-TW" altLang="en-US" smtClean="0"/>
              <a:t>2020/11/17</a:t>
            </a:fld>
            <a:endParaRPr lang="zh-TW" altLang="en-US"/>
          </a:p>
        </p:txBody>
      </p:sp>
      <p:sp>
        <p:nvSpPr>
          <p:cNvPr id="5" name="頁尾版面配置區 4">
            <a:extLst>
              <a:ext uri="{FF2B5EF4-FFF2-40B4-BE49-F238E27FC236}">
                <a16:creationId xmlns:a16="http://schemas.microsoft.com/office/drawing/2014/main" id="{5E987508-CFB0-482F-984C-86D5D2107099}"/>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3D9ACBE-79A9-4360-883E-62115E3E46CF}"/>
              </a:ext>
            </a:extLst>
          </p:cNvPr>
          <p:cNvSpPr>
            <a:spLocks noGrp="1"/>
          </p:cNvSpPr>
          <p:nvPr>
            <p:ph type="sldNum" sz="quarter" idx="12"/>
          </p:nvPr>
        </p:nvSpPr>
        <p:spPr/>
        <p:txBody>
          <a:body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2122784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EDE888D7-7DE3-486A-B903-94A557DFE0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CCCBCBE-2813-4735-BEFF-28282C74AB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393F5B37-EFC0-486B-8DC2-0E301C1B96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C4E8E0-F7CE-4EFB-BE7A-48B0BC0D38B5}" type="datetimeFigureOut">
              <a:rPr lang="zh-TW" altLang="en-US" smtClean="0"/>
              <a:t>2020/11/17</a:t>
            </a:fld>
            <a:endParaRPr lang="zh-TW" altLang="en-US"/>
          </a:p>
        </p:txBody>
      </p:sp>
      <p:sp>
        <p:nvSpPr>
          <p:cNvPr id="5" name="頁尾版面配置區 4">
            <a:extLst>
              <a:ext uri="{FF2B5EF4-FFF2-40B4-BE49-F238E27FC236}">
                <a16:creationId xmlns:a16="http://schemas.microsoft.com/office/drawing/2014/main" id="{B903E5B5-FB3A-4A7D-9ABE-A8094B97C6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D02159AE-91A0-4D0A-B048-8AEDD31D16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537BC4-C115-4B9B-86C8-43DEEFC41711}" type="slidenum">
              <a:rPr lang="zh-TW" altLang="en-US" smtClean="0"/>
              <a:t>‹#›</a:t>
            </a:fld>
            <a:endParaRPr lang="zh-TW" altLang="en-US"/>
          </a:p>
        </p:txBody>
      </p:sp>
    </p:spTree>
    <p:extLst>
      <p:ext uri="{BB962C8B-B14F-4D97-AF65-F5344CB8AC3E}">
        <p14:creationId xmlns:p14="http://schemas.microsoft.com/office/powerpoint/2010/main" val="1008892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724D82E-739F-46AB-8563-4B214C2A6F89}"/>
              </a:ext>
            </a:extLst>
          </p:cNvPr>
          <p:cNvSpPr>
            <a:spLocks noGrp="1"/>
          </p:cNvSpPr>
          <p:nvPr>
            <p:ph type="ctrTitle"/>
          </p:nvPr>
        </p:nvSpPr>
        <p:spPr>
          <a:xfrm>
            <a:off x="703277" y="226299"/>
            <a:ext cx="10785446" cy="1404326"/>
          </a:xfrm>
        </p:spPr>
        <p:txBody>
          <a:bodyPr>
            <a:normAutofit/>
          </a:bodyPr>
          <a:lstStyle/>
          <a:p>
            <a:r>
              <a:rPr lang="en-US" altLang="zh-TW" sz="4000" dirty="0">
                <a:latin typeface="Times New Roman" panose="02020603050405020304" pitchFamily="18" charset="0"/>
                <a:cs typeface="Times New Roman" panose="02020603050405020304" pitchFamily="18" charset="0"/>
              </a:rPr>
              <a:t>Web Mining Using Genetic Relation Algorithm</a:t>
            </a:r>
            <a:endParaRPr lang="zh-TW" altLang="en-US" sz="4000"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B3F1A086-1D2A-4A9A-AACD-A63E93FD1FEC}"/>
              </a:ext>
            </a:extLst>
          </p:cNvPr>
          <p:cNvSpPr>
            <a:spLocks noGrp="1"/>
          </p:cNvSpPr>
          <p:nvPr>
            <p:ph type="subTitle" idx="1"/>
          </p:nvPr>
        </p:nvSpPr>
        <p:spPr>
          <a:xfrm>
            <a:off x="1393854" y="2015987"/>
            <a:ext cx="9144000" cy="1655762"/>
          </a:xfrm>
        </p:spPr>
        <p:txBody>
          <a:bodyPr/>
          <a:lstStyle/>
          <a:p>
            <a:r>
              <a:rPr lang="en-US" altLang="zh-TW" dirty="0"/>
              <a:t>Eloy Gonzales, Shingo </a:t>
            </a:r>
            <a:r>
              <a:rPr lang="en-US" altLang="zh-TW" dirty="0" err="1"/>
              <a:t>Mabu</a:t>
            </a:r>
            <a:r>
              <a:rPr lang="en-US" altLang="zh-TW"/>
              <a:t>, Karla Taboada </a:t>
            </a:r>
            <a:r>
              <a:rPr lang="en-US" altLang="zh-TW" dirty="0"/>
              <a:t>and </a:t>
            </a:r>
            <a:r>
              <a:rPr lang="en-US" altLang="zh-TW"/>
              <a:t>Kotaro Hirasawa</a:t>
            </a:r>
            <a:endParaRPr lang="zh-TW" altLang="en-US" dirty="0"/>
          </a:p>
        </p:txBody>
      </p:sp>
      <p:sp>
        <p:nvSpPr>
          <p:cNvPr id="6" name="文字方塊 5">
            <a:extLst>
              <a:ext uri="{FF2B5EF4-FFF2-40B4-BE49-F238E27FC236}">
                <a16:creationId xmlns:a16="http://schemas.microsoft.com/office/drawing/2014/main" id="{89D7C151-0B1E-407C-82F3-9CA7D2DA77AD}"/>
              </a:ext>
            </a:extLst>
          </p:cNvPr>
          <p:cNvSpPr txBox="1"/>
          <p:nvPr/>
        </p:nvSpPr>
        <p:spPr>
          <a:xfrm>
            <a:off x="1132514" y="2843868"/>
            <a:ext cx="9076888" cy="1200329"/>
          </a:xfrm>
          <a:prstGeom prst="rect">
            <a:avLst/>
          </a:prstGeom>
          <a:noFill/>
        </p:spPr>
        <p:txBody>
          <a:bodyPr wrap="square" rtlCol="0">
            <a:spAutoFit/>
          </a:bodyPr>
          <a:lstStyle/>
          <a:p>
            <a:pPr algn="ctr"/>
            <a:r>
              <a:rPr lang="en-US" altLang="zh-TW" sz="3600" dirty="0">
                <a:latin typeface="Times New Roman" panose="02020603050405020304" pitchFamily="18" charset="0"/>
                <a:cs typeface="Times New Roman" panose="02020603050405020304" pitchFamily="18" charset="0"/>
              </a:rPr>
              <a:t>SICE Annual Conference 2010 August 18-21, 2010, The Grand Hotel, Taipei, Taiwan </a:t>
            </a:r>
            <a:endParaRPr lang="zh-TW" altLang="en-US" sz="3600" dirty="0">
              <a:latin typeface="Times New Roman" panose="02020603050405020304" pitchFamily="18" charset="0"/>
              <a:cs typeface="Times New Roman" panose="02020603050405020304" pitchFamily="18" charset="0"/>
            </a:endParaRPr>
          </a:p>
        </p:txBody>
      </p:sp>
      <p:sp>
        <p:nvSpPr>
          <p:cNvPr id="7" name="文字方塊 6">
            <a:extLst>
              <a:ext uri="{FF2B5EF4-FFF2-40B4-BE49-F238E27FC236}">
                <a16:creationId xmlns:a16="http://schemas.microsoft.com/office/drawing/2014/main" id="{6A07D781-739E-4AD3-82E8-12F40E826AB7}"/>
              </a:ext>
            </a:extLst>
          </p:cNvPr>
          <p:cNvSpPr txBox="1"/>
          <p:nvPr/>
        </p:nvSpPr>
        <p:spPr>
          <a:xfrm>
            <a:off x="8241601" y="5402510"/>
            <a:ext cx="3439486" cy="923330"/>
          </a:xfrm>
          <a:prstGeom prst="rect">
            <a:avLst/>
          </a:prstGeom>
          <a:noFill/>
        </p:spPr>
        <p:txBody>
          <a:bodyPr wrap="square" rtlCol="0">
            <a:spAutoFit/>
          </a:bodyPr>
          <a:lstStyle/>
          <a:p>
            <a:r>
              <a:rPr lang="en-US" altLang="zh-TW" dirty="0" err="1"/>
              <a:t>Persenter:Jue</a:t>
            </a:r>
            <a:r>
              <a:rPr lang="en-US" altLang="zh-TW" dirty="0"/>
              <a:t> – Jun Wu</a:t>
            </a:r>
          </a:p>
          <a:p>
            <a:endParaRPr lang="en-US" altLang="zh-TW" dirty="0"/>
          </a:p>
          <a:p>
            <a:r>
              <a:rPr lang="en-US" altLang="zh-TW" dirty="0"/>
              <a:t>Date :  Nov. 17</a:t>
            </a:r>
            <a:r>
              <a:rPr lang="en-US" altLang="zh-TW" baseline="30000" dirty="0"/>
              <a:t>th</a:t>
            </a:r>
            <a:r>
              <a:rPr lang="en-US" altLang="zh-TW" dirty="0"/>
              <a:t> , 2020</a:t>
            </a:r>
            <a:endParaRPr lang="zh-TW" altLang="en-US" dirty="0"/>
          </a:p>
        </p:txBody>
      </p:sp>
    </p:spTree>
    <p:extLst>
      <p:ext uri="{BB962C8B-B14F-4D97-AF65-F5344CB8AC3E}">
        <p14:creationId xmlns:p14="http://schemas.microsoft.com/office/powerpoint/2010/main" val="236409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4D261A59-6337-4631-B0F9-3654F1640E6D}"/>
              </a:ext>
            </a:extLst>
          </p:cNvPr>
          <p:cNvSpPr>
            <a:spLocks noGrp="1"/>
          </p:cNvSpPr>
          <p:nvPr>
            <p:ph idx="1"/>
          </p:nvPr>
        </p:nvSpPr>
        <p:spPr>
          <a:xfrm>
            <a:off x="152400" y="613568"/>
            <a:ext cx="10922000" cy="5630863"/>
          </a:xfrm>
        </p:spPr>
        <p:txBody>
          <a:bodyPr>
            <a:normAutofit lnSpcReduction="10000"/>
          </a:bodyPr>
          <a:lstStyle/>
          <a:p>
            <a:pPr marL="457200" lvl="1" indent="0">
              <a:buNone/>
            </a:pPr>
            <a:r>
              <a:rPr lang="en-US" altLang="zh-TW" sz="2800" dirty="0">
                <a:latin typeface="Times New Roman" panose="02020603050405020304" pitchFamily="18" charset="0"/>
                <a:cs typeface="Times New Roman" panose="02020603050405020304" pitchFamily="18" charset="0"/>
              </a:rPr>
              <a:t>      Abstract—Web searching is one of the most universal and influential applications on the Internet and it is becoming increasingly a dominant information seeking method. The World Wide Web (WWW) contains a huge amount of information available on-line and it is continuously growing in size in such a way that searching tools are becoming more valuable, especially to improve the relative coverage of web search engines. In this paper, a framework for web mining has been proposed using an evolutionary algorithm named Genetic Relation Algorithm (GRA) that performs additional searching for documents according to user’s interests. GRA can optimize the important relationships between web hyperlinks in web pages by evolution. Querying the standard search engine performs the creation of the GRA individuals. The proposed evolutionary method leads to pages of qualities that are significantly better than those of the standard search engines.</a:t>
            </a:r>
            <a:endParaRPr lang="zh-TW" alt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8334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3C811-65A4-4B78-B431-D6758B42C6EE}"/>
              </a:ext>
            </a:extLst>
          </p:cNvPr>
          <p:cNvSpPr>
            <a:spLocks noGrp="1"/>
          </p:cNvSpPr>
          <p:nvPr>
            <p:ph type="title"/>
          </p:nvPr>
        </p:nvSpPr>
        <p:spPr/>
        <p:txBody>
          <a:bodyPr>
            <a:normAutofit/>
          </a:bodyPr>
          <a:lstStyle/>
          <a:p>
            <a:r>
              <a:rPr lang="zh-TW" altLang="en-US" i="0" dirty="0">
                <a:solidFill>
                  <a:srgbClr val="202122"/>
                </a:solidFill>
                <a:effectLst/>
                <a:latin typeface="Times New Roman" panose="02020603050405020304" pitchFamily="18" charset="0"/>
                <a:cs typeface="Times New Roman" panose="02020603050405020304" pitchFamily="18" charset="0"/>
              </a:rPr>
              <a:t>基因演算法</a:t>
            </a:r>
            <a:r>
              <a:rPr lang="en-US" altLang="zh-TW" dirty="0">
                <a:solidFill>
                  <a:srgbClr val="202122"/>
                </a:solidFill>
                <a:latin typeface="Times New Roman" panose="02020603050405020304" pitchFamily="18" charset="0"/>
                <a:cs typeface="Times New Roman" panose="02020603050405020304" pitchFamily="18" charset="0"/>
              </a:rPr>
              <a:t>(</a:t>
            </a:r>
            <a:r>
              <a:rPr lang="en-US" altLang="zh-TW" i="0" dirty="0">
                <a:solidFill>
                  <a:srgbClr val="202122"/>
                </a:solidFill>
                <a:effectLst/>
                <a:latin typeface="Times New Roman" panose="02020603050405020304" pitchFamily="18" charset="0"/>
                <a:cs typeface="Times New Roman" panose="02020603050405020304" pitchFamily="18" charset="0"/>
              </a:rPr>
              <a:t>genetic algorithm (GA))</a:t>
            </a:r>
            <a:br>
              <a:rPr lang="zh-TW" altLang="en-US" i="0" dirty="0">
                <a:solidFill>
                  <a:srgbClr val="202122"/>
                </a:solidFill>
                <a:effectLst/>
                <a:latin typeface="Times New Roman" panose="02020603050405020304" pitchFamily="18" charset="0"/>
                <a:cs typeface="Times New Roman" panose="02020603050405020304" pitchFamily="18" charset="0"/>
              </a:rPr>
            </a:b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5F3D1DB6-BE49-47F4-AF86-2B819BDC073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27382" y="1615870"/>
            <a:ext cx="7696201" cy="4663731"/>
          </a:xfrm>
        </p:spPr>
      </p:pic>
    </p:spTree>
    <p:extLst>
      <p:ext uri="{BB962C8B-B14F-4D97-AF65-F5344CB8AC3E}">
        <p14:creationId xmlns:p14="http://schemas.microsoft.com/office/powerpoint/2010/main" val="12213804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003893-C466-4DE9-927C-F5F0A40A3F31}"/>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40922675-F9A5-46FC-A00C-286419571EB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12607"/>
            <a:ext cx="8794219" cy="4920996"/>
          </a:xfrm>
        </p:spPr>
      </p:pic>
    </p:spTree>
    <p:extLst>
      <p:ext uri="{BB962C8B-B14F-4D97-AF65-F5344CB8AC3E}">
        <p14:creationId xmlns:p14="http://schemas.microsoft.com/office/powerpoint/2010/main" val="2330315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E7DE2CE-54BF-4B75-BA6D-3B8BB057D876}"/>
              </a:ext>
            </a:extLst>
          </p:cNvPr>
          <p:cNvSpPr>
            <a:spLocks noGrp="1"/>
          </p:cNvSpPr>
          <p:nvPr>
            <p:ph type="title"/>
          </p:nvPr>
        </p:nvSpPr>
        <p:spPr>
          <a:xfrm>
            <a:off x="838200" y="1"/>
            <a:ext cx="10515600" cy="1052098"/>
          </a:xfrm>
        </p:spPr>
        <p:txBody>
          <a:bodyPr>
            <a:normAutofit/>
          </a:bodyPr>
          <a:lstStyle/>
          <a:p>
            <a:r>
              <a:rPr lang="en-US" altLang="zh-TW" sz="4000" dirty="0">
                <a:solidFill>
                  <a:srgbClr val="303233"/>
                </a:solidFill>
                <a:latin typeface="Times New Roman" panose="02020603050405020304" pitchFamily="18" charset="0"/>
                <a:cs typeface="Times New Roman" panose="02020603050405020304" pitchFamily="18" charset="0"/>
              </a:rPr>
              <a:t>Split </a:t>
            </a:r>
            <a:r>
              <a:rPr lang="en-US" altLang="zh-TW" sz="4000" dirty="0" err="1">
                <a:solidFill>
                  <a:srgbClr val="303233"/>
                </a:solidFill>
                <a:latin typeface="Times New Roman" panose="02020603050405020304" pitchFamily="18" charset="0"/>
                <a:cs typeface="Times New Roman" panose="02020603050405020304" pitchFamily="18" charset="0"/>
              </a:rPr>
              <a:t>selsction</a:t>
            </a:r>
            <a:endParaRPr lang="zh-TW" altLang="en-US" sz="4000"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4448627-6AB0-4615-B4A2-89D4D1796061}"/>
              </a:ext>
            </a:extLst>
          </p:cNvPr>
          <p:cNvSpPr>
            <a:spLocks noGrp="1"/>
          </p:cNvSpPr>
          <p:nvPr>
            <p:ph idx="1"/>
          </p:nvPr>
        </p:nvSpPr>
        <p:spPr>
          <a:xfrm>
            <a:off x="0" y="919577"/>
            <a:ext cx="12192000" cy="5805900"/>
          </a:xfrm>
        </p:spPr>
        <p:txBody>
          <a:bodyPr>
            <a:normAutofit/>
          </a:bodyPr>
          <a:lstStyle/>
          <a:p>
            <a:r>
              <a:rPr lang="zh-TW" altLang="en-US" sz="2600" i="0" dirty="0">
                <a:solidFill>
                  <a:srgbClr val="303233"/>
                </a:solidFill>
                <a:effectLst/>
                <a:latin typeface="標楷體" panose="03000509000000000000" pitchFamily="65" charset="-120"/>
                <a:ea typeface="標楷體" panose="03000509000000000000" pitchFamily="65" charset="-120"/>
              </a:rPr>
              <a:t>分裂選擇就是選擇適應程度最好跟適應程度最差的兩端的結果</a:t>
            </a:r>
            <a:endParaRPr lang="en-US" altLang="zh-TW" sz="2600" i="0" dirty="0">
              <a:solidFill>
                <a:srgbClr val="303233"/>
              </a:solidFill>
              <a:effectLst/>
              <a:latin typeface="標楷體" panose="03000509000000000000" pitchFamily="65" charset="-120"/>
              <a:ea typeface="標楷體" panose="03000509000000000000" pitchFamily="65" charset="-120"/>
            </a:endParaRPr>
          </a:p>
          <a:p>
            <a:r>
              <a:rPr lang="zh-TW" altLang="en-US" sz="2600" i="0" dirty="0">
                <a:solidFill>
                  <a:srgbClr val="303233"/>
                </a:solidFill>
                <a:effectLst/>
                <a:latin typeface="標楷體" panose="03000509000000000000" pitchFamily="65" charset="-120"/>
                <a:ea typeface="標楷體" panose="03000509000000000000" pitchFamily="65" charset="-120"/>
              </a:rPr>
              <a:t>對於適應程度普通的染色體</a:t>
            </a:r>
            <a:r>
              <a:rPr lang="en-US" altLang="zh-TW" sz="2600" i="0" dirty="0">
                <a:solidFill>
                  <a:srgbClr val="303233"/>
                </a:solidFill>
                <a:effectLst/>
                <a:latin typeface="標楷體" panose="03000509000000000000" pitchFamily="65" charset="-120"/>
                <a:ea typeface="標楷體" panose="03000509000000000000" pitchFamily="65" charset="-120"/>
              </a:rPr>
              <a:t>(chromosome)</a:t>
            </a:r>
            <a:r>
              <a:rPr lang="zh-TW" altLang="en-US" sz="2600" i="0" dirty="0">
                <a:solidFill>
                  <a:srgbClr val="303233"/>
                </a:solidFill>
                <a:effectLst/>
                <a:latin typeface="標楷體" panose="03000509000000000000" pitchFamily="65" charset="-120"/>
                <a:ea typeface="標楷體" panose="03000509000000000000" pitchFamily="65" charset="-120"/>
              </a:rPr>
              <a:t>來說非常不利淘汰掉平凡的個體</a:t>
            </a:r>
            <a:endParaRPr lang="en-US" altLang="zh-TW" sz="2600" i="0" dirty="0">
              <a:solidFill>
                <a:srgbClr val="303233"/>
              </a:solidFill>
              <a:effectLst/>
              <a:latin typeface="標楷體" panose="03000509000000000000" pitchFamily="65" charset="-120"/>
              <a:ea typeface="標楷體" panose="03000509000000000000" pitchFamily="65" charset="-120"/>
            </a:endParaRPr>
          </a:p>
          <a:p>
            <a:pPr marL="0" indent="0">
              <a:buNone/>
            </a:pPr>
            <a:r>
              <a:rPr lang="zh-TW" altLang="en-US" sz="2600" i="0" dirty="0">
                <a:solidFill>
                  <a:srgbClr val="303233"/>
                </a:solidFill>
                <a:effectLst/>
                <a:latin typeface="標楷體" panose="03000509000000000000" pitchFamily="65" charset="-120"/>
                <a:ea typeface="標楷體" panose="03000509000000000000" pitchFamily="65" charset="-120"/>
              </a:rPr>
              <a:t>（染色體）</a:t>
            </a:r>
            <a:endParaRPr lang="en-US" altLang="zh-TW" sz="2600" i="0" dirty="0">
              <a:solidFill>
                <a:srgbClr val="303233"/>
              </a:solidFill>
              <a:effectLst/>
              <a:latin typeface="標楷體" panose="03000509000000000000" pitchFamily="65" charset="-120"/>
              <a:ea typeface="標楷體" panose="03000509000000000000" pitchFamily="65" charset="-120"/>
            </a:endParaRPr>
          </a:p>
          <a:p>
            <a:r>
              <a:rPr lang="zh-TW" altLang="en-US" sz="2600" i="0" dirty="0">
                <a:solidFill>
                  <a:srgbClr val="303233"/>
                </a:solidFill>
                <a:effectLst/>
                <a:latin typeface="標楷體" panose="03000509000000000000" pitchFamily="65" charset="-120"/>
                <a:ea typeface="標楷體" panose="03000509000000000000" pitchFamily="65" charset="-120"/>
              </a:rPr>
              <a:t>分裂選擇是屬於新達爾文主義中演化過程的其中一種，分成下面三類</a:t>
            </a:r>
            <a:br>
              <a:rPr lang="zh-TW" altLang="en-US" sz="2600" dirty="0">
                <a:latin typeface="標楷體" panose="03000509000000000000" pitchFamily="65" charset="-120"/>
                <a:ea typeface="標楷體" panose="03000509000000000000" pitchFamily="65" charset="-120"/>
              </a:rPr>
            </a:br>
            <a:endParaRPr lang="en-US" altLang="zh-TW" sz="2600" dirty="0">
              <a:latin typeface="標楷體" panose="03000509000000000000" pitchFamily="65" charset="-120"/>
              <a:ea typeface="標楷體" panose="03000509000000000000" pitchFamily="65" charset="-120"/>
            </a:endParaRPr>
          </a:p>
          <a:p>
            <a:pPr marL="0" indent="0">
              <a:buNone/>
            </a:pPr>
            <a:r>
              <a:rPr lang="en-US" altLang="zh-TW" sz="2600" i="0" dirty="0">
                <a:solidFill>
                  <a:srgbClr val="303233"/>
                </a:solidFill>
                <a:effectLst/>
                <a:latin typeface="標楷體" panose="03000509000000000000" pitchFamily="65" charset="-120"/>
                <a:ea typeface="標楷體" panose="03000509000000000000" pitchFamily="65" charset="-120"/>
              </a:rPr>
              <a:t>1.</a:t>
            </a:r>
            <a:r>
              <a:rPr lang="zh-TW" altLang="en-US" sz="2600" i="0" dirty="0">
                <a:solidFill>
                  <a:srgbClr val="303233"/>
                </a:solidFill>
                <a:effectLst/>
                <a:latin typeface="標楷體" panose="03000509000000000000" pitchFamily="65" charset="-120"/>
                <a:ea typeface="標楷體" panose="03000509000000000000" pitchFamily="65" charset="-120"/>
              </a:rPr>
              <a:t>方向性選擇</a:t>
            </a:r>
            <a:r>
              <a:rPr lang="en-US" altLang="zh-TW" sz="2600" i="0" dirty="0">
                <a:solidFill>
                  <a:srgbClr val="303233"/>
                </a:solidFill>
                <a:effectLst/>
                <a:latin typeface="標楷體" panose="03000509000000000000" pitchFamily="65" charset="-120"/>
                <a:ea typeface="標楷體" panose="03000509000000000000" pitchFamily="65" charset="-120"/>
              </a:rPr>
              <a:t>(directional selection):</a:t>
            </a:r>
            <a:r>
              <a:rPr lang="zh-TW" altLang="en-US" sz="2600" i="0" dirty="0">
                <a:solidFill>
                  <a:srgbClr val="303233"/>
                </a:solidFill>
                <a:effectLst/>
                <a:latin typeface="標楷體" panose="03000509000000000000" pitchFamily="65" charset="-120"/>
                <a:ea typeface="標楷體" panose="03000509000000000000" pitchFamily="65" charset="-120"/>
              </a:rPr>
              <a:t>朝著一個固定的方向去選擇使得結果偏向</a:t>
            </a:r>
            <a:endParaRPr lang="en-US" altLang="zh-TW" sz="2600" i="0" dirty="0">
              <a:solidFill>
                <a:srgbClr val="303233"/>
              </a:solidFill>
              <a:effectLst/>
              <a:latin typeface="標楷體" panose="03000509000000000000" pitchFamily="65" charset="-120"/>
              <a:ea typeface="標楷體" panose="03000509000000000000" pitchFamily="65" charset="-120"/>
            </a:endParaRPr>
          </a:p>
          <a:p>
            <a:pPr marL="0" indent="0">
              <a:buNone/>
            </a:pPr>
            <a:r>
              <a:rPr lang="zh-TW" altLang="en-US" sz="2600" i="0" dirty="0">
                <a:solidFill>
                  <a:srgbClr val="303233"/>
                </a:solidFill>
                <a:effectLst/>
                <a:latin typeface="標楷體" panose="03000509000000000000" pitchFamily="65" charset="-120"/>
                <a:ea typeface="標楷體" panose="03000509000000000000" pitchFamily="65" charset="-120"/>
              </a:rPr>
              <a:t>   某一邊，會透過物種的適應程度去辨別，會以越適合物種生存的面向去選擇</a:t>
            </a:r>
            <a:endParaRPr lang="en-US" altLang="zh-TW" sz="2600" dirty="0">
              <a:solidFill>
                <a:srgbClr val="303233"/>
              </a:solidFill>
              <a:latin typeface="標楷體" panose="03000509000000000000" pitchFamily="65" charset="-120"/>
              <a:ea typeface="標楷體" panose="03000509000000000000" pitchFamily="65" charset="-120"/>
            </a:endParaRPr>
          </a:p>
          <a:p>
            <a:pPr marL="0" indent="0">
              <a:buNone/>
            </a:pPr>
            <a:r>
              <a:rPr lang="en-US" altLang="zh-TW" sz="2600" dirty="0">
                <a:solidFill>
                  <a:srgbClr val="303233"/>
                </a:solidFill>
                <a:latin typeface="標楷體" panose="03000509000000000000" pitchFamily="65" charset="-120"/>
                <a:ea typeface="標楷體" panose="03000509000000000000" pitchFamily="65" charset="-120"/>
              </a:rPr>
              <a:t>2.</a:t>
            </a:r>
            <a:r>
              <a:rPr lang="zh-TW" altLang="en-US" sz="2600" i="0" dirty="0">
                <a:solidFill>
                  <a:srgbClr val="303233"/>
                </a:solidFill>
                <a:effectLst/>
                <a:latin typeface="標楷體" panose="03000509000000000000" pitchFamily="65" charset="-120"/>
                <a:ea typeface="標楷體" panose="03000509000000000000" pitchFamily="65" charset="-120"/>
              </a:rPr>
              <a:t>分裂性選擇</a:t>
            </a:r>
            <a:r>
              <a:rPr lang="en-US" altLang="zh-TW" sz="2600" i="0" dirty="0">
                <a:solidFill>
                  <a:srgbClr val="303233"/>
                </a:solidFill>
                <a:effectLst/>
                <a:latin typeface="標楷體" panose="03000509000000000000" pitchFamily="65" charset="-120"/>
                <a:ea typeface="標楷體" panose="03000509000000000000" pitchFamily="65" charset="-120"/>
              </a:rPr>
              <a:t>(disruptive selection)</a:t>
            </a:r>
            <a:r>
              <a:rPr lang="zh-TW" altLang="en-US" sz="2600" i="0" dirty="0">
                <a:solidFill>
                  <a:srgbClr val="303233"/>
                </a:solidFill>
                <a:effectLst/>
                <a:latin typeface="標楷體" panose="03000509000000000000" pitchFamily="65" charset="-120"/>
                <a:ea typeface="標楷體" panose="03000509000000000000" pitchFamily="65" charset="-120"/>
              </a:rPr>
              <a:t>，將族群分成兩部份，選擇了最好與最差的兩端</a:t>
            </a:r>
            <a:endParaRPr lang="en-US" altLang="zh-TW" sz="2600" i="0" dirty="0">
              <a:solidFill>
                <a:srgbClr val="303233"/>
              </a:solidFill>
              <a:effectLst/>
              <a:latin typeface="標楷體" panose="03000509000000000000" pitchFamily="65" charset="-120"/>
              <a:ea typeface="標楷體" panose="03000509000000000000" pitchFamily="65" charset="-120"/>
            </a:endParaRPr>
          </a:p>
          <a:p>
            <a:pPr marL="0" indent="0">
              <a:buNone/>
            </a:pPr>
            <a:r>
              <a:rPr lang="en-US" altLang="zh-TW" sz="2600" i="0" dirty="0">
                <a:solidFill>
                  <a:srgbClr val="303233"/>
                </a:solidFill>
                <a:effectLst/>
                <a:latin typeface="標楷體" panose="03000509000000000000" pitchFamily="65" charset="-120"/>
                <a:ea typeface="標楷體" panose="03000509000000000000" pitchFamily="65" charset="-120"/>
              </a:rPr>
              <a:t>3.</a:t>
            </a:r>
            <a:r>
              <a:rPr lang="zh-TW" altLang="en-US" sz="2600" i="0" dirty="0">
                <a:solidFill>
                  <a:srgbClr val="303233"/>
                </a:solidFill>
                <a:effectLst/>
                <a:latin typeface="標楷體" panose="03000509000000000000" pitchFamily="65" charset="-120"/>
                <a:ea typeface="標楷體" panose="03000509000000000000" pitchFamily="65" charset="-120"/>
              </a:rPr>
              <a:t>平衡性選擇</a:t>
            </a:r>
            <a:r>
              <a:rPr lang="en-US" altLang="zh-TW" sz="2600" i="0" dirty="0">
                <a:solidFill>
                  <a:srgbClr val="303233"/>
                </a:solidFill>
                <a:effectLst/>
                <a:latin typeface="標楷體" panose="03000509000000000000" pitchFamily="65" charset="-120"/>
                <a:ea typeface="標楷體" panose="03000509000000000000" pitchFamily="65" charset="-120"/>
              </a:rPr>
              <a:t>(stabilizing selection)</a:t>
            </a:r>
            <a:r>
              <a:rPr lang="zh-TW" altLang="en-US" sz="2600" i="0" dirty="0">
                <a:solidFill>
                  <a:srgbClr val="303233"/>
                </a:solidFill>
                <a:effectLst/>
                <a:latin typeface="標楷體" panose="03000509000000000000" pitchFamily="65" charset="-120"/>
                <a:ea typeface="標楷體" panose="03000509000000000000" pitchFamily="65" charset="-120"/>
              </a:rPr>
              <a:t>平衡性選擇就和分裂性選擇恰好相反</a:t>
            </a:r>
            <a:br>
              <a:rPr lang="zh-TW" altLang="en-US" sz="2600" dirty="0">
                <a:latin typeface="標楷體" panose="03000509000000000000" pitchFamily="65" charset="-120"/>
                <a:ea typeface="標楷體" panose="03000509000000000000" pitchFamily="65" charset="-120"/>
              </a:rPr>
            </a:br>
            <a:r>
              <a:rPr lang="zh-TW" altLang="en-US" sz="2600" i="0" dirty="0">
                <a:solidFill>
                  <a:srgbClr val="303233"/>
                </a:solidFill>
                <a:effectLst/>
                <a:latin typeface="標楷體" panose="03000509000000000000" pitchFamily="65" charset="-120"/>
                <a:ea typeface="標楷體" panose="03000509000000000000" pitchFamily="65" charset="-120"/>
              </a:rPr>
              <a:t>淘汰掉急湍的個體而使得整個群體朝向普通正常化的方式去發展</a:t>
            </a:r>
            <a:endParaRPr lang="en-US" altLang="zh-TW" sz="2600" i="0" dirty="0">
              <a:solidFill>
                <a:srgbClr val="303233"/>
              </a:solidFill>
              <a:effectLst/>
              <a:latin typeface="標楷體" panose="03000509000000000000" pitchFamily="65" charset="-120"/>
              <a:ea typeface="標楷體" panose="03000509000000000000" pitchFamily="65" charset="-120"/>
            </a:endParaRPr>
          </a:p>
          <a:p>
            <a:pPr marL="0" indent="0">
              <a:buNone/>
            </a:pPr>
            <a:endParaRPr lang="zh-TW" altLang="en-US" dirty="0">
              <a:latin typeface="標楷體" panose="03000509000000000000" pitchFamily="65" charset="-120"/>
              <a:ea typeface="標楷體" panose="03000509000000000000" pitchFamily="65" charset="-120"/>
            </a:endParaRPr>
          </a:p>
        </p:txBody>
      </p:sp>
      <p:pic>
        <p:nvPicPr>
          <p:cNvPr id="5" name="圖片 4" descr="一張含有 桌 的圖片&#10;&#10;自動產生的描述">
            <a:extLst>
              <a:ext uri="{FF2B5EF4-FFF2-40B4-BE49-F238E27FC236}">
                <a16:creationId xmlns:a16="http://schemas.microsoft.com/office/drawing/2014/main" id="{12934938-D1E5-4935-984D-E6A20E2B8D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085" y="1189999"/>
            <a:ext cx="8050511" cy="5265056"/>
          </a:xfrm>
          <a:prstGeom prst="rect">
            <a:avLst/>
          </a:prstGeom>
        </p:spPr>
      </p:pic>
    </p:spTree>
    <p:extLst>
      <p:ext uri="{BB962C8B-B14F-4D97-AF65-F5344CB8AC3E}">
        <p14:creationId xmlns:p14="http://schemas.microsoft.com/office/powerpoint/2010/main" val="1215463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F00E4A-5ACF-4037-BEF6-C1C1C4D1555C}"/>
              </a:ext>
            </a:extLst>
          </p:cNvPr>
          <p:cNvSpPr>
            <a:spLocks noGrp="1"/>
          </p:cNvSpPr>
          <p:nvPr>
            <p:ph type="title"/>
          </p:nvPr>
        </p:nvSpPr>
        <p:spPr/>
        <p:txBody>
          <a:bodyPr/>
          <a:lstStyle/>
          <a:p>
            <a:r>
              <a:rPr lang="en-US" altLang="zh-TW" i="0" dirty="0">
                <a:solidFill>
                  <a:srgbClr val="303233"/>
                </a:solidFill>
                <a:effectLst/>
                <a:latin typeface="Lato"/>
              </a:rPr>
              <a:t>1. Roulette Wheel Selection</a:t>
            </a:r>
            <a:endParaRPr lang="zh-TW" altLang="en-US" dirty="0"/>
          </a:p>
        </p:txBody>
      </p:sp>
      <p:sp>
        <p:nvSpPr>
          <p:cNvPr id="3" name="內容版面配置區 2">
            <a:extLst>
              <a:ext uri="{FF2B5EF4-FFF2-40B4-BE49-F238E27FC236}">
                <a16:creationId xmlns:a16="http://schemas.microsoft.com/office/drawing/2014/main" id="{A9313B54-BBBA-4E07-BB4F-31EACCC54B35}"/>
              </a:ext>
            </a:extLst>
          </p:cNvPr>
          <p:cNvSpPr>
            <a:spLocks noGrp="1"/>
          </p:cNvSpPr>
          <p:nvPr>
            <p:ph idx="1"/>
          </p:nvPr>
        </p:nvSpPr>
        <p:spPr/>
        <p:txBody>
          <a:bodyPr/>
          <a:lstStyle/>
          <a:p>
            <a:r>
              <a:rPr lang="zh-TW" altLang="en-US" b="0" i="0" dirty="0">
                <a:solidFill>
                  <a:srgbClr val="303233"/>
                </a:solidFill>
                <a:effectLst/>
                <a:latin typeface="標楷體" panose="03000509000000000000" pitchFamily="65" charset="-120"/>
                <a:ea typeface="標楷體" panose="03000509000000000000" pitchFamily="65" charset="-120"/>
              </a:rPr>
              <a:t>該輪盤個別的大小是會按照適應程度去規劃的</a:t>
            </a:r>
            <a:endParaRPr lang="en-US" altLang="zh-TW" b="0" i="0" dirty="0">
              <a:solidFill>
                <a:srgbClr val="303233"/>
              </a:solidFill>
              <a:effectLst/>
              <a:latin typeface="標楷體" panose="03000509000000000000" pitchFamily="65" charset="-120"/>
              <a:ea typeface="標楷體" panose="03000509000000000000" pitchFamily="65" charset="-120"/>
            </a:endParaRPr>
          </a:p>
          <a:p>
            <a:r>
              <a:rPr lang="zh-TW" altLang="en-US" b="0" i="0" dirty="0">
                <a:solidFill>
                  <a:srgbClr val="303233"/>
                </a:solidFill>
                <a:effectLst/>
                <a:latin typeface="標楷體" panose="03000509000000000000" pitchFamily="65" charset="-120"/>
                <a:ea typeface="標楷體" panose="03000509000000000000" pitchFamily="65" charset="-120"/>
              </a:rPr>
              <a:t>適應程度越好，所佔有的面積就越大</a:t>
            </a:r>
            <a:br>
              <a:rPr lang="zh-TW" altLang="en-US" dirty="0">
                <a:latin typeface="標楷體" panose="03000509000000000000" pitchFamily="65" charset="-120"/>
                <a:ea typeface="標楷體" panose="03000509000000000000" pitchFamily="65" charset="-120"/>
              </a:rPr>
            </a:br>
            <a:r>
              <a:rPr lang="zh-TW" altLang="en-US" b="0" i="0" dirty="0">
                <a:solidFill>
                  <a:srgbClr val="303233"/>
                </a:solidFill>
                <a:effectLst/>
                <a:latin typeface="標楷體" panose="03000509000000000000" pitchFamily="65" charset="-120"/>
                <a:ea typeface="標楷體" panose="03000509000000000000" pitchFamily="65" charset="-120"/>
              </a:rPr>
              <a:t>適應程度越差，所佔有的面積就越小</a:t>
            </a:r>
            <a:endParaRPr lang="zh-TW" altLang="en-US" dirty="0">
              <a:latin typeface="標楷體" panose="03000509000000000000" pitchFamily="65" charset="-120"/>
              <a:ea typeface="標楷體" panose="03000509000000000000" pitchFamily="65" charset="-120"/>
            </a:endParaRPr>
          </a:p>
        </p:txBody>
      </p:sp>
      <p:pic>
        <p:nvPicPr>
          <p:cNvPr id="5" name="圖片 4">
            <a:extLst>
              <a:ext uri="{FF2B5EF4-FFF2-40B4-BE49-F238E27FC236}">
                <a16:creationId xmlns:a16="http://schemas.microsoft.com/office/drawing/2014/main" id="{5395BD85-873B-4AF0-8C0F-125824D56C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8207" y="2453737"/>
            <a:ext cx="4191585" cy="3858163"/>
          </a:xfrm>
          <a:prstGeom prst="rect">
            <a:avLst/>
          </a:prstGeom>
        </p:spPr>
      </p:pic>
    </p:spTree>
    <p:extLst>
      <p:ext uri="{BB962C8B-B14F-4D97-AF65-F5344CB8AC3E}">
        <p14:creationId xmlns:p14="http://schemas.microsoft.com/office/powerpoint/2010/main" val="16061175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E538D35-2FAD-4BCE-AF04-84820A0CA4E7}"/>
              </a:ext>
            </a:extLst>
          </p:cNvPr>
          <p:cNvSpPr>
            <a:spLocks noGrp="1"/>
          </p:cNvSpPr>
          <p:nvPr>
            <p:ph type="title"/>
          </p:nvPr>
        </p:nvSpPr>
        <p:spPr/>
        <p:txBody>
          <a:bodyPr/>
          <a:lstStyle/>
          <a:p>
            <a:r>
              <a:rPr lang="en-US" altLang="zh-TW" b="0" i="0" dirty="0">
                <a:solidFill>
                  <a:srgbClr val="303233"/>
                </a:solidFill>
                <a:effectLst/>
                <a:latin typeface="Lato"/>
              </a:rPr>
              <a:t>2. Tournament Selection</a:t>
            </a:r>
            <a:endParaRPr lang="zh-TW" altLang="en-US" dirty="0"/>
          </a:p>
        </p:txBody>
      </p:sp>
      <p:sp>
        <p:nvSpPr>
          <p:cNvPr id="3" name="內容版面配置區 2">
            <a:extLst>
              <a:ext uri="{FF2B5EF4-FFF2-40B4-BE49-F238E27FC236}">
                <a16:creationId xmlns:a16="http://schemas.microsoft.com/office/drawing/2014/main" id="{F39C7593-2CE4-4D2D-AAEF-C21B8AE9B6ED}"/>
              </a:ext>
            </a:extLst>
          </p:cNvPr>
          <p:cNvSpPr>
            <a:spLocks noGrp="1"/>
          </p:cNvSpPr>
          <p:nvPr>
            <p:ph idx="1"/>
          </p:nvPr>
        </p:nvSpPr>
        <p:spPr>
          <a:xfrm>
            <a:off x="279400" y="1253331"/>
            <a:ext cx="10515600" cy="4351338"/>
          </a:xfrm>
        </p:spPr>
        <p:txBody>
          <a:bodyPr/>
          <a:lstStyle/>
          <a:p>
            <a:pPr marL="0" indent="0">
              <a:buNone/>
            </a:pPr>
            <a:br>
              <a:rPr lang="zh-TW" altLang="en-US" dirty="0"/>
            </a:br>
            <a:br>
              <a:rPr lang="zh-TW" altLang="en-US" dirty="0"/>
            </a:br>
            <a:r>
              <a:rPr lang="zh-TW" altLang="en-US" b="0" i="0" dirty="0">
                <a:solidFill>
                  <a:srgbClr val="303233"/>
                </a:solidFill>
                <a:effectLst/>
                <a:latin typeface="標楷體" panose="03000509000000000000" pitchFamily="65" charset="-120"/>
                <a:ea typeface="標楷體" panose="03000509000000000000" pitchFamily="65" charset="-120"/>
              </a:rPr>
              <a:t>會隨機選取兩個物種，比較其適應程度，適應程度較好的保留，適應程度較差的淘汰</a:t>
            </a:r>
            <a:br>
              <a:rPr lang="zh-TW" altLang="en-US" dirty="0">
                <a:latin typeface="標楷體" panose="03000509000000000000" pitchFamily="65" charset="-120"/>
                <a:ea typeface="標楷體" panose="03000509000000000000" pitchFamily="65" charset="-120"/>
              </a:rPr>
            </a:br>
            <a:r>
              <a:rPr lang="zh-TW" altLang="en-US" b="0" i="0" dirty="0">
                <a:solidFill>
                  <a:srgbClr val="303233"/>
                </a:solidFill>
                <a:effectLst/>
                <a:latin typeface="標楷體" panose="03000509000000000000" pitchFamily="65" charset="-120"/>
                <a:ea typeface="標楷體" panose="03000509000000000000" pitchFamily="65" charset="-120"/>
              </a:rPr>
              <a:t>適應程度比較好的就會保留到下一階段的交配</a:t>
            </a:r>
            <a:r>
              <a:rPr lang="en-US" altLang="zh-TW" b="0" i="0" dirty="0">
                <a:solidFill>
                  <a:srgbClr val="303233"/>
                </a:solidFill>
                <a:effectLst/>
                <a:latin typeface="標楷體" panose="03000509000000000000" pitchFamily="65" charset="-120"/>
                <a:ea typeface="標楷體" panose="03000509000000000000" pitchFamily="65" charset="-120"/>
              </a:rPr>
              <a:t>Crossover</a:t>
            </a:r>
            <a:r>
              <a:rPr lang="zh-TW" altLang="en-US" b="0" i="0" dirty="0">
                <a:solidFill>
                  <a:srgbClr val="303233"/>
                </a:solidFill>
                <a:effectLst/>
                <a:latin typeface="標楷體" panose="03000509000000000000" pitchFamily="65" charset="-120"/>
                <a:ea typeface="標楷體" panose="03000509000000000000" pitchFamily="65" charset="-120"/>
              </a:rPr>
              <a:t>了～</a:t>
            </a:r>
            <a:br>
              <a:rPr lang="zh-TW" altLang="en-US" dirty="0">
                <a:latin typeface="標楷體" panose="03000509000000000000" pitchFamily="65" charset="-120"/>
                <a:ea typeface="標楷體" panose="03000509000000000000" pitchFamily="65" charset="-120"/>
              </a:rPr>
            </a:br>
            <a:r>
              <a:rPr lang="zh-TW" altLang="en-US" b="0" i="0" dirty="0">
                <a:solidFill>
                  <a:srgbClr val="303233"/>
                </a:solidFill>
                <a:effectLst/>
                <a:latin typeface="標楷體" panose="03000509000000000000" pitchFamily="65" charset="-120"/>
                <a:ea typeface="標楷體" panose="03000509000000000000" pitchFamily="65" charset="-120"/>
              </a:rPr>
              <a:t>在這邊就可以發現到在選擇時就是物競天擇，當你在環境的適應程度較差時，就會被其他物種所取代</a:t>
            </a:r>
            <a:endParaRPr lang="zh-TW" altLang="en-US" dirty="0">
              <a:latin typeface="標楷體" panose="03000509000000000000" pitchFamily="65" charset="-120"/>
              <a:ea typeface="標楷體" panose="03000509000000000000" pitchFamily="65" charset="-120"/>
            </a:endParaRPr>
          </a:p>
        </p:txBody>
      </p:sp>
      <p:pic>
        <p:nvPicPr>
          <p:cNvPr id="5" name="圖片 4">
            <a:extLst>
              <a:ext uri="{FF2B5EF4-FFF2-40B4-BE49-F238E27FC236}">
                <a16:creationId xmlns:a16="http://schemas.microsoft.com/office/drawing/2014/main" id="{846DC8B2-10BE-4D02-B3C7-0B7ECC6180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26284" y="3628243"/>
            <a:ext cx="4996199" cy="3102757"/>
          </a:xfrm>
          <a:prstGeom prst="rect">
            <a:avLst/>
          </a:prstGeom>
        </p:spPr>
      </p:pic>
    </p:spTree>
    <p:extLst>
      <p:ext uri="{BB962C8B-B14F-4D97-AF65-F5344CB8AC3E}">
        <p14:creationId xmlns:p14="http://schemas.microsoft.com/office/powerpoint/2010/main" val="2455701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D80342-AA09-4BDA-A180-ABD66D89A937}"/>
              </a:ext>
            </a:extLst>
          </p:cNvPr>
          <p:cNvSpPr>
            <a:spLocks noGrp="1"/>
          </p:cNvSpPr>
          <p:nvPr>
            <p:ph type="title"/>
          </p:nvPr>
        </p:nvSpPr>
        <p:spPr/>
        <p:txBody>
          <a:bodyPr>
            <a:normAutofit/>
          </a:bodyPr>
          <a:lstStyle/>
          <a:p>
            <a:r>
              <a:rPr lang="en-US" altLang="zh-TW" sz="3600" i="0" dirty="0">
                <a:solidFill>
                  <a:srgbClr val="303233"/>
                </a:solidFill>
                <a:effectLst/>
                <a:latin typeface="Lato"/>
              </a:rPr>
              <a:t>3.Rank Based Wheel Selection</a:t>
            </a:r>
            <a:endParaRPr lang="zh-TW" altLang="en-US" sz="3600" dirty="0"/>
          </a:p>
        </p:txBody>
      </p:sp>
      <p:sp>
        <p:nvSpPr>
          <p:cNvPr id="3" name="內容版面配置區 2">
            <a:extLst>
              <a:ext uri="{FF2B5EF4-FFF2-40B4-BE49-F238E27FC236}">
                <a16:creationId xmlns:a16="http://schemas.microsoft.com/office/drawing/2014/main" id="{07919E09-329F-42FE-851D-E117EC553D0C}"/>
              </a:ext>
            </a:extLst>
          </p:cNvPr>
          <p:cNvSpPr>
            <a:spLocks noGrp="1"/>
          </p:cNvSpPr>
          <p:nvPr>
            <p:ph idx="1"/>
          </p:nvPr>
        </p:nvSpPr>
        <p:spPr>
          <a:xfrm>
            <a:off x="203200" y="1690688"/>
            <a:ext cx="10515600" cy="4351338"/>
          </a:xfrm>
        </p:spPr>
        <p:txBody>
          <a:bodyPr/>
          <a:lstStyle/>
          <a:p>
            <a:r>
              <a:rPr lang="zh-TW" altLang="en-US" b="0" i="0" dirty="0">
                <a:solidFill>
                  <a:srgbClr val="303233"/>
                </a:solidFill>
                <a:effectLst/>
                <a:latin typeface="標楷體" panose="03000509000000000000" pitchFamily="65" charset="-120"/>
                <a:ea typeface="標楷體" panose="03000509000000000000" pitchFamily="65" charset="-120"/>
              </a:rPr>
              <a:t>會先根據適應程度的大小進行排序，每一個染色體都會按照適應值程度進行排序有算出輪盤式和等級輪盤式之間在面積上所佔比例的差異。</a:t>
            </a:r>
            <a:br>
              <a:rPr lang="zh-TW" altLang="en-US" dirty="0">
                <a:latin typeface="標楷體" panose="03000509000000000000" pitchFamily="65" charset="-120"/>
                <a:ea typeface="標楷體" panose="03000509000000000000" pitchFamily="65" charset="-120"/>
              </a:rPr>
            </a:br>
            <a:r>
              <a:rPr lang="zh-TW" altLang="en-US" b="0" i="0" dirty="0">
                <a:solidFill>
                  <a:srgbClr val="303233"/>
                </a:solidFill>
                <a:effectLst/>
                <a:latin typeface="標楷體" panose="03000509000000000000" pitchFamily="65" charset="-120"/>
                <a:ea typeface="標楷體" panose="03000509000000000000" pitchFamily="65" charset="-120"/>
              </a:rPr>
              <a:t>可以看到，等級輪盤式會根據他的排名依序遞減他所佔面積的比</a:t>
            </a:r>
            <a:endParaRPr lang="en-US" altLang="zh-TW" b="0" i="0" dirty="0">
              <a:solidFill>
                <a:srgbClr val="303233"/>
              </a:solidFill>
              <a:effectLst/>
              <a:latin typeface="標楷體" panose="03000509000000000000" pitchFamily="65" charset="-120"/>
              <a:ea typeface="標楷體" panose="03000509000000000000" pitchFamily="65" charset="-120"/>
            </a:endParaRPr>
          </a:p>
          <a:p>
            <a:r>
              <a:rPr lang="zh-TW" altLang="en-US" b="0" i="0" dirty="0">
                <a:solidFill>
                  <a:srgbClr val="303233"/>
                </a:solidFill>
                <a:effectLst/>
                <a:latin typeface="標楷體" panose="03000509000000000000" pitchFamily="65" charset="-120"/>
                <a:ea typeface="標楷體" panose="03000509000000000000" pitchFamily="65" charset="-120"/>
              </a:rPr>
              <a:t>為了避免收斂速度過快</a:t>
            </a:r>
            <a:endParaRPr lang="en-US" altLang="zh-TW" b="0" i="0" dirty="0">
              <a:solidFill>
                <a:srgbClr val="303233"/>
              </a:solidFill>
              <a:effectLst/>
              <a:latin typeface="標楷體" panose="03000509000000000000" pitchFamily="65" charset="-120"/>
              <a:ea typeface="標楷體" panose="03000509000000000000" pitchFamily="65" charset="-120"/>
            </a:endParaRPr>
          </a:p>
          <a:p>
            <a:pPr marL="0" indent="0">
              <a:buNone/>
            </a:pPr>
            <a:r>
              <a:rPr lang="zh-TW" altLang="en-US" b="0" i="0" dirty="0">
                <a:solidFill>
                  <a:srgbClr val="303233"/>
                </a:solidFill>
                <a:effectLst/>
                <a:latin typeface="標楷體" panose="03000509000000000000" pitchFamily="65" charset="-120"/>
                <a:ea typeface="標楷體" panose="03000509000000000000" pitchFamily="65" charset="-120"/>
              </a:rPr>
              <a:t>等級輪盤式選擇克服了停滯</a:t>
            </a:r>
            <a:endParaRPr lang="en-US" altLang="zh-TW" b="0" i="0" dirty="0">
              <a:solidFill>
                <a:srgbClr val="303233"/>
              </a:solidFill>
              <a:effectLst/>
              <a:latin typeface="標楷體" panose="03000509000000000000" pitchFamily="65" charset="-120"/>
              <a:ea typeface="標楷體" panose="03000509000000000000" pitchFamily="65" charset="-120"/>
            </a:endParaRPr>
          </a:p>
          <a:p>
            <a:pPr marL="0" indent="0">
              <a:buNone/>
            </a:pPr>
            <a:r>
              <a:rPr lang="zh-TW" altLang="en-US" b="0" i="0" dirty="0">
                <a:solidFill>
                  <a:srgbClr val="303233"/>
                </a:solidFill>
                <a:effectLst/>
                <a:latin typeface="標楷體" panose="03000509000000000000" pitchFamily="65" charset="-120"/>
                <a:ea typeface="標楷體" panose="03000509000000000000" pitchFamily="65" charset="-120"/>
              </a:rPr>
              <a:t>或是過早收斂的問題</a:t>
            </a:r>
            <a:br>
              <a:rPr lang="zh-TW" altLang="en-US" dirty="0">
                <a:latin typeface="標楷體" panose="03000509000000000000" pitchFamily="65" charset="-120"/>
                <a:ea typeface="標楷體" panose="03000509000000000000" pitchFamily="65" charset="-120"/>
              </a:rPr>
            </a:br>
            <a:r>
              <a:rPr lang="zh-TW" altLang="en-US" b="0" i="0" dirty="0">
                <a:solidFill>
                  <a:srgbClr val="303233"/>
                </a:solidFill>
                <a:effectLst/>
                <a:latin typeface="標楷體" panose="03000509000000000000" pitchFamily="65" charset="-120"/>
                <a:ea typeface="標楷體" panose="03000509000000000000" pitchFamily="65" charset="-120"/>
              </a:rPr>
              <a:t>相較其他的選擇方式</a:t>
            </a:r>
            <a:endParaRPr lang="en-US" altLang="zh-TW" b="0" i="0" dirty="0">
              <a:solidFill>
                <a:srgbClr val="303233"/>
              </a:solidFill>
              <a:effectLst/>
              <a:latin typeface="標楷體" panose="03000509000000000000" pitchFamily="65" charset="-120"/>
              <a:ea typeface="標楷體" panose="03000509000000000000" pitchFamily="65" charset="-120"/>
            </a:endParaRPr>
          </a:p>
          <a:p>
            <a:pPr marL="0" indent="0">
              <a:buNone/>
            </a:pPr>
            <a:r>
              <a:rPr lang="zh-TW" altLang="en-US" b="0" i="0" dirty="0">
                <a:solidFill>
                  <a:srgbClr val="303233"/>
                </a:solidFill>
                <a:effectLst/>
                <a:latin typeface="標楷體" panose="03000509000000000000" pitchFamily="65" charset="-120"/>
                <a:ea typeface="標楷體" panose="03000509000000000000" pitchFamily="65" charset="-120"/>
              </a:rPr>
              <a:t>也比較穩定</a:t>
            </a:r>
            <a:endParaRPr lang="zh-TW" altLang="en-US" dirty="0">
              <a:latin typeface="標楷體" panose="03000509000000000000" pitchFamily="65" charset="-120"/>
              <a:ea typeface="標楷體" panose="03000509000000000000" pitchFamily="65" charset="-120"/>
            </a:endParaRPr>
          </a:p>
        </p:txBody>
      </p:sp>
      <p:pic>
        <p:nvPicPr>
          <p:cNvPr id="5" name="圖片 4" descr="一張含有 桌 的圖片&#10;&#10;自動產生的描述">
            <a:extLst>
              <a:ext uri="{FF2B5EF4-FFF2-40B4-BE49-F238E27FC236}">
                <a16:creationId xmlns:a16="http://schemas.microsoft.com/office/drawing/2014/main" id="{3A5BEF09-A1CB-4BD8-B35C-5B5002E09D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8952" y="3282502"/>
            <a:ext cx="6906589" cy="3210373"/>
          </a:xfrm>
          <a:prstGeom prst="rect">
            <a:avLst/>
          </a:prstGeom>
        </p:spPr>
      </p:pic>
    </p:spTree>
    <p:extLst>
      <p:ext uri="{BB962C8B-B14F-4D97-AF65-F5344CB8AC3E}">
        <p14:creationId xmlns:p14="http://schemas.microsoft.com/office/powerpoint/2010/main" val="1962201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54A21C6-19FA-4E90-A4E5-D05DCCA02D59}"/>
              </a:ext>
            </a:extLst>
          </p:cNvPr>
          <p:cNvSpPr>
            <a:spLocks noGrp="1"/>
          </p:cNvSpPr>
          <p:nvPr>
            <p:ph type="title"/>
          </p:nvPr>
        </p:nvSpPr>
        <p:spPr>
          <a:xfrm>
            <a:off x="596900" y="238125"/>
            <a:ext cx="10515600" cy="1325563"/>
          </a:xfrm>
        </p:spPr>
        <p:txBody>
          <a:bodyPr>
            <a:normAutofit fontScale="90000"/>
          </a:bodyPr>
          <a:lstStyle/>
          <a:p>
            <a:br>
              <a:rPr lang="en-US" altLang="zh-TW" dirty="0">
                <a:latin typeface="Times New Roman" panose="02020603050405020304" pitchFamily="18" charset="0"/>
                <a:cs typeface="Times New Roman" panose="02020603050405020304" pitchFamily="18" charset="0"/>
              </a:rPr>
            </a:br>
            <a:r>
              <a:rPr lang="en-US" altLang="zh-TW" i="0" dirty="0">
                <a:solidFill>
                  <a:srgbClr val="202124"/>
                </a:solidFill>
                <a:effectLst/>
                <a:latin typeface="Times New Roman" panose="02020603050405020304" pitchFamily="18" charset="0"/>
                <a:cs typeface="Times New Roman" panose="02020603050405020304" pitchFamily="18" charset="0"/>
              </a:rPr>
              <a:t>Elite selection</a:t>
            </a:r>
            <a:br>
              <a:rPr lang="zh-TW" altLang="en-US" i="0" dirty="0">
                <a:solidFill>
                  <a:srgbClr val="303233"/>
                </a:solidFill>
                <a:effectLst/>
                <a:latin typeface="Lato"/>
              </a:rPr>
            </a:br>
            <a:endParaRPr lang="zh-TW" altLang="en-US" dirty="0"/>
          </a:p>
        </p:txBody>
      </p:sp>
      <p:sp>
        <p:nvSpPr>
          <p:cNvPr id="3" name="內容版面配置區 2">
            <a:extLst>
              <a:ext uri="{FF2B5EF4-FFF2-40B4-BE49-F238E27FC236}">
                <a16:creationId xmlns:a16="http://schemas.microsoft.com/office/drawing/2014/main" id="{402783AB-D158-487D-88BC-1342D07223FB}"/>
              </a:ext>
            </a:extLst>
          </p:cNvPr>
          <p:cNvSpPr>
            <a:spLocks noGrp="1"/>
          </p:cNvSpPr>
          <p:nvPr>
            <p:ph idx="1"/>
          </p:nvPr>
        </p:nvSpPr>
        <p:spPr>
          <a:xfrm>
            <a:off x="495300" y="1253331"/>
            <a:ext cx="10515600" cy="4351338"/>
          </a:xfrm>
        </p:spPr>
        <p:txBody>
          <a:bodyPr>
            <a:normAutofit/>
          </a:bodyPr>
          <a:lstStyle/>
          <a:p>
            <a:r>
              <a:rPr lang="zh-TW" altLang="en-US" dirty="0">
                <a:solidFill>
                  <a:srgbClr val="303233"/>
                </a:solidFill>
                <a:latin typeface="標楷體" panose="03000509000000000000" pitchFamily="65" charset="-120"/>
                <a:ea typeface="標楷體" panose="03000509000000000000" pitchFamily="65" charset="-120"/>
              </a:rPr>
              <a:t>從前面一系列方式得知，</a:t>
            </a:r>
            <a:r>
              <a:rPr lang="zh-TW" altLang="en-US" b="0" i="0" dirty="0">
                <a:solidFill>
                  <a:srgbClr val="303233"/>
                </a:solidFill>
                <a:effectLst/>
                <a:latin typeface="標楷體" panose="03000509000000000000" pitchFamily="65" charset="-120"/>
                <a:ea typeface="標楷體" panose="03000509000000000000" pitchFamily="65" charset="-120"/>
              </a:rPr>
              <a:t>較好的不一定會被保留，較差的也不一定被淘汰。假設前面我使用「競爭式選擇」，當我的</a:t>
            </a:r>
            <a:r>
              <a:rPr lang="en-US" altLang="zh-TW" b="0" i="0" dirty="0">
                <a:solidFill>
                  <a:srgbClr val="303233"/>
                </a:solidFill>
                <a:effectLst/>
                <a:latin typeface="標楷體" panose="03000509000000000000" pitchFamily="65" charset="-120"/>
                <a:ea typeface="標楷體" panose="03000509000000000000" pitchFamily="65" charset="-120"/>
              </a:rPr>
              <a:t>No.1</a:t>
            </a:r>
            <a:r>
              <a:rPr lang="zh-TW" altLang="en-US" b="0" i="0" dirty="0">
                <a:solidFill>
                  <a:srgbClr val="303233"/>
                </a:solidFill>
                <a:effectLst/>
                <a:latin typeface="標楷體" panose="03000509000000000000" pitchFamily="65" charset="-120"/>
                <a:ea typeface="標楷體" panose="03000509000000000000" pitchFamily="65" charset="-120"/>
              </a:rPr>
              <a:t>和</a:t>
            </a:r>
            <a:r>
              <a:rPr lang="en-US" altLang="zh-TW" b="0" i="0" dirty="0">
                <a:solidFill>
                  <a:srgbClr val="303233"/>
                </a:solidFill>
                <a:effectLst/>
                <a:latin typeface="標楷體" panose="03000509000000000000" pitchFamily="65" charset="-120"/>
                <a:ea typeface="標楷體" panose="03000509000000000000" pitchFamily="65" charset="-120"/>
              </a:rPr>
              <a:t>No.2</a:t>
            </a:r>
            <a:r>
              <a:rPr lang="zh-TW" altLang="en-US" b="0" i="0" dirty="0">
                <a:solidFill>
                  <a:srgbClr val="303233"/>
                </a:solidFill>
                <a:effectLst/>
                <a:latin typeface="標楷體" panose="03000509000000000000" pitchFamily="65" charset="-120"/>
                <a:ea typeface="標楷體" panose="03000509000000000000" pitchFamily="65" charset="-120"/>
              </a:rPr>
              <a:t>比較，</a:t>
            </a:r>
            <a:r>
              <a:rPr lang="en-US" altLang="zh-TW" b="0" i="0" dirty="0">
                <a:solidFill>
                  <a:srgbClr val="303233"/>
                </a:solidFill>
                <a:effectLst/>
                <a:latin typeface="標楷體" panose="03000509000000000000" pitchFamily="65" charset="-120"/>
                <a:ea typeface="標楷體" panose="03000509000000000000" pitchFamily="65" charset="-120"/>
              </a:rPr>
              <a:t>No.2</a:t>
            </a:r>
            <a:r>
              <a:rPr lang="zh-TW" altLang="en-US" b="0" i="0" dirty="0">
                <a:solidFill>
                  <a:srgbClr val="303233"/>
                </a:solidFill>
                <a:effectLst/>
                <a:latin typeface="標楷體" panose="03000509000000000000" pitchFamily="65" charset="-120"/>
                <a:ea typeface="標楷體" panose="03000509000000000000" pitchFamily="65" charset="-120"/>
              </a:rPr>
              <a:t>就會被淘汰，而</a:t>
            </a:r>
            <a:r>
              <a:rPr lang="en-US" altLang="zh-TW" b="0" i="0" dirty="0">
                <a:solidFill>
                  <a:srgbClr val="303233"/>
                </a:solidFill>
                <a:effectLst/>
                <a:latin typeface="標楷體" panose="03000509000000000000" pitchFamily="65" charset="-120"/>
                <a:ea typeface="標楷體" panose="03000509000000000000" pitchFamily="65" charset="-120"/>
              </a:rPr>
              <a:t>No.3</a:t>
            </a:r>
            <a:r>
              <a:rPr lang="zh-TW" altLang="en-US" b="0" i="0" dirty="0">
                <a:solidFill>
                  <a:srgbClr val="303233"/>
                </a:solidFill>
                <a:effectLst/>
                <a:latin typeface="標楷體" panose="03000509000000000000" pitchFamily="65" charset="-120"/>
                <a:ea typeface="標楷體" panose="03000509000000000000" pitchFamily="65" charset="-120"/>
              </a:rPr>
              <a:t>和</a:t>
            </a:r>
            <a:r>
              <a:rPr lang="en-US" altLang="zh-TW" b="0" i="0" dirty="0">
                <a:solidFill>
                  <a:srgbClr val="303233"/>
                </a:solidFill>
                <a:effectLst/>
                <a:latin typeface="標楷體" panose="03000509000000000000" pitchFamily="65" charset="-120"/>
                <a:ea typeface="標楷體" panose="03000509000000000000" pitchFamily="65" charset="-120"/>
              </a:rPr>
              <a:t>No.10</a:t>
            </a:r>
            <a:r>
              <a:rPr lang="zh-TW" altLang="en-US" b="0" i="0" dirty="0">
                <a:solidFill>
                  <a:srgbClr val="303233"/>
                </a:solidFill>
                <a:effectLst/>
                <a:latin typeface="標楷體" panose="03000509000000000000" pitchFamily="65" charset="-120"/>
                <a:ea typeface="標楷體" panose="03000509000000000000" pitchFamily="65" charset="-120"/>
              </a:rPr>
              <a:t>比較，</a:t>
            </a:r>
            <a:r>
              <a:rPr lang="en-US" altLang="zh-TW" b="0" i="0" dirty="0">
                <a:solidFill>
                  <a:srgbClr val="303233"/>
                </a:solidFill>
                <a:effectLst/>
                <a:latin typeface="標楷體" panose="03000509000000000000" pitchFamily="65" charset="-120"/>
                <a:ea typeface="標楷體" panose="03000509000000000000" pitchFamily="65" charset="-120"/>
              </a:rPr>
              <a:t>No.3</a:t>
            </a:r>
            <a:r>
              <a:rPr lang="zh-TW" altLang="en-US" b="0" i="0" dirty="0">
                <a:solidFill>
                  <a:srgbClr val="303233"/>
                </a:solidFill>
                <a:effectLst/>
                <a:latin typeface="標楷體" panose="03000509000000000000" pitchFamily="65" charset="-120"/>
                <a:ea typeface="標楷體" panose="03000509000000000000" pitchFamily="65" charset="-120"/>
              </a:rPr>
              <a:t>被保留</a:t>
            </a:r>
            <a:endParaRPr lang="en-US" altLang="zh-TW" b="0" i="0" dirty="0">
              <a:solidFill>
                <a:srgbClr val="303233"/>
              </a:solidFill>
              <a:effectLst/>
              <a:latin typeface="標楷體" panose="03000509000000000000" pitchFamily="65" charset="-120"/>
              <a:ea typeface="標楷體" panose="03000509000000000000" pitchFamily="65" charset="-120"/>
            </a:endParaRPr>
          </a:p>
          <a:p>
            <a:endParaRPr lang="en-US" altLang="zh-TW" dirty="0">
              <a:solidFill>
                <a:srgbClr val="303233"/>
              </a:solidFill>
              <a:latin typeface="標楷體" panose="03000509000000000000" pitchFamily="65" charset="-120"/>
              <a:ea typeface="標楷體" panose="03000509000000000000" pitchFamily="65" charset="-120"/>
            </a:endParaRPr>
          </a:p>
          <a:p>
            <a:r>
              <a:rPr lang="zh-TW" altLang="en-US" b="0" i="0" dirty="0">
                <a:solidFill>
                  <a:srgbClr val="303233"/>
                </a:solidFill>
                <a:effectLst/>
                <a:latin typeface="標楷體" panose="03000509000000000000" pitchFamily="65" charset="-120"/>
                <a:ea typeface="標楷體" panose="03000509000000000000" pitchFamily="65" charset="-120"/>
              </a:rPr>
              <a:t>這種菁英選擇就是可以去假定我們要保留在這個世代中最好的幾個</a:t>
            </a:r>
            <a:br>
              <a:rPr lang="zh-TW" altLang="en-US" dirty="0">
                <a:latin typeface="標楷體" panose="03000509000000000000" pitchFamily="65" charset="-120"/>
                <a:ea typeface="標楷體" panose="03000509000000000000" pitchFamily="65" charset="-120"/>
              </a:rPr>
            </a:br>
            <a:r>
              <a:rPr lang="zh-TW" altLang="en-US" b="0" i="0" dirty="0">
                <a:solidFill>
                  <a:srgbClr val="303233"/>
                </a:solidFill>
                <a:effectLst/>
                <a:latin typeface="標楷體" panose="03000509000000000000" pitchFamily="65" charset="-120"/>
                <a:ea typeface="標楷體" panose="03000509000000000000" pitchFamily="65" charset="-120"/>
              </a:rPr>
              <a:t>這個世代有</a:t>
            </a:r>
            <a:r>
              <a:rPr lang="en-US" altLang="zh-TW" b="0" i="0" dirty="0">
                <a:solidFill>
                  <a:srgbClr val="303233"/>
                </a:solidFill>
                <a:effectLst/>
                <a:latin typeface="標楷體" panose="03000509000000000000" pitchFamily="65" charset="-120"/>
                <a:ea typeface="標楷體" panose="03000509000000000000" pitchFamily="65" charset="-120"/>
              </a:rPr>
              <a:t>100</a:t>
            </a:r>
            <a:r>
              <a:rPr lang="zh-TW" altLang="en-US" b="0" i="0" dirty="0">
                <a:solidFill>
                  <a:srgbClr val="303233"/>
                </a:solidFill>
                <a:effectLst/>
                <a:latin typeface="標楷體" panose="03000509000000000000" pitchFamily="65" charset="-120"/>
                <a:ea typeface="標楷體" panose="03000509000000000000" pitchFamily="65" charset="-120"/>
              </a:rPr>
              <a:t>個，我要保留最好的</a:t>
            </a:r>
            <a:r>
              <a:rPr lang="en-US" altLang="zh-TW" b="0" i="0" dirty="0">
                <a:solidFill>
                  <a:srgbClr val="303233"/>
                </a:solidFill>
                <a:effectLst/>
                <a:latin typeface="標楷體" panose="03000509000000000000" pitchFamily="65" charset="-120"/>
                <a:ea typeface="標楷體" panose="03000509000000000000" pitchFamily="65" charset="-120"/>
              </a:rPr>
              <a:t>5</a:t>
            </a:r>
            <a:r>
              <a:rPr lang="zh-TW" altLang="en-US" b="0" i="0" dirty="0">
                <a:solidFill>
                  <a:srgbClr val="303233"/>
                </a:solidFill>
                <a:effectLst/>
                <a:latin typeface="標楷體" panose="03000509000000000000" pitchFamily="65" charset="-120"/>
                <a:ea typeface="標楷體" panose="03000509000000000000" pitchFamily="65" charset="-120"/>
              </a:rPr>
              <a:t>個，我就可以確保最好的這</a:t>
            </a:r>
            <a:r>
              <a:rPr lang="en-US" altLang="zh-TW" b="0" i="0" dirty="0">
                <a:solidFill>
                  <a:srgbClr val="303233"/>
                </a:solidFill>
                <a:effectLst/>
                <a:latin typeface="標楷體" panose="03000509000000000000" pitchFamily="65" charset="-120"/>
                <a:ea typeface="標楷體" panose="03000509000000000000" pitchFamily="65" charset="-120"/>
              </a:rPr>
              <a:t>5</a:t>
            </a:r>
            <a:r>
              <a:rPr lang="zh-TW" altLang="en-US" b="0" i="0" dirty="0">
                <a:solidFill>
                  <a:srgbClr val="303233"/>
                </a:solidFill>
                <a:effectLst/>
                <a:latin typeface="標楷體" panose="03000509000000000000" pitchFamily="65" charset="-120"/>
                <a:ea typeface="標楷體" panose="03000509000000000000" pitchFamily="65" charset="-120"/>
              </a:rPr>
              <a:t>個染色體被保留下來</a:t>
            </a:r>
            <a:br>
              <a:rPr lang="zh-TW" altLang="en-US" dirty="0">
                <a:latin typeface="標楷體" panose="03000509000000000000" pitchFamily="65" charset="-120"/>
                <a:ea typeface="標楷體" panose="03000509000000000000" pitchFamily="65" charset="-120"/>
              </a:rPr>
            </a:br>
            <a:r>
              <a:rPr lang="zh-TW" altLang="en-US" b="0" i="0" dirty="0">
                <a:solidFill>
                  <a:srgbClr val="303233"/>
                </a:solidFill>
                <a:effectLst/>
                <a:latin typeface="標楷體" panose="03000509000000000000" pitchFamily="65" charset="-120"/>
                <a:ea typeface="標楷體" panose="03000509000000000000" pitchFamily="65" charset="-120"/>
              </a:rPr>
              <a:t>就不會發生前面舉例的</a:t>
            </a:r>
            <a:r>
              <a:rPr lang="en-US" altLang="zh-TW" b="0" i="0" dirty="0">
                <a:solidFill>
                  <a:srgbClr val="303233"/>
                </a:solidFill>
                <a:effectLst/>
                <a:latin typeface="標楷體" panose="03000509000000000000" pitchFamily="65" charset="-120"/>
                <a:ea typeface="標楷體" panose="03000509000000000000" pitchFamily="65" charset="-120"/>
              </a:rPr>
              <a:t>No.2</a:t>
            </a:r>
            <a:r>
              <a:rPr lang="zh-TW" altLang="en-US" b="0" i="0" dirty="0">
                <a:solidFill>
                  <a:srgbClr val="303233"/>
                </a:solidFill>
                <a:effectLst/>
                <a:latin typeface="標楷體" panose="03000509000000000000" pitchFamily="65" charset="-120"/>
                <a:ea typeface="標楷體" panose="03000509000000000000" pitchFamily="65" charset="-120"/>
              </a:rPr>
              <a:t>被淘汰</a:t>
            </a:r>
            <a:br>
              <a:rPr lang="zh-TW" altLang="en-US" dirty="0">
                <a:latin typeface="標楷體" panose="03000509000000000000" pitchFamily="65" charset="-120"/>
                <a:ea typeface="標楷體" panose="03000509000000000000" pitchFamily="65" charset="-120"/>
              </a:rPr>
            </a:br>
            <a:endParaRPr lang="zh-TW" altLang="en-US"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1186719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2E3A98F-6E2E-4652-8B6D-69A5EBDB4C8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Crossover</a:t>
            </a:r>
            <a:endParaRPr lang="zh-TW" altLang="en-US" dirty="0">
              <a:latin typeface="Times New Roman" panose="02020603050405020304" pitchFamily="18" charset="0"/>
              <a:cs typeface="Times New Roman" panose="02020603050405020304" pitchFamily="18" charset="0"/>
            </a:endParaRPr>
          </a:p>
        </p:txBody>
      </p:sp>
      <p:pic>
        <p:nvPicPr>
          <p:cNvPr id="6" name="內容版面配置區 5">
            <a:extLst>
              <a:ext uri="{FF2B5EF4-FFF2-40B4-BE49-F238E27FC236}">
                <a16:creationId xmlns:a16="http://schemas.microsoft.com/office/drawing/2014/main" id="{6156254B-8B37-4715-B870-3E155449A8E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40238" y="133735"/>
            <a:ext cx="4551762" cy="2791175"/>
          </a:xfrm>
        </p:spPr>
      </p:pic>
      <p:pic>
        <p:nvPicPr>
          <p:cNvPr id="8" name="圖片 7">
            <a:extLst>
              <a:ext uri="{FF2B5EF4-FFF2-40B4-BE49-F238E27FC236}">
                <a16:creationId xmlns:a16="http://schemas.microsoft.com/office/drawing/2014/main" id="{8BCE218B-C14C-460E-8A4B-3BE8A0107D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8593" y="2386290"/>
            <a:ext cx="7106642" cy="4048690"/>
          </a:xfrm>
          <a:prstGeom prst="rect">
            <a:avLst/>
          </a:prstGeom>
        </p:spPr>
      </p:pic>
      <p:sp>
        <p:nvSpPr>
          <p:cNvPr id="9" name="文字方塊 8">
            <a:extLst>
              <a:ext uri="{FF2B5EF4-FFF2-40B4-BE49-F238E27FC236}">
                <a16:creationId xmlns:a16="http://schemas.microsoft.com/office/drawing/2014/main" id="{960B6E80-C2FC-4CCE-B67F-DA66DA76DD18}"/>
              </a:ext>
            </a:extLst>
          </p:cNvPr>
          <p:cNvSpPr txBox="1"/>
          <p:nvPr/>
        </p:nvSpPr>
        <p:spPr>
          <a:xfrm>
            <a:off x="7640238" y="4013200"/>
            <a:ext cx="4323162" cy="369332"/>
          </a:xfrm>
          <a:prstGeom prst="rect">
            <a:avLst/>
          </a:prstGeom>
          <a:noFill/>
        </p:spPr>
        <p:txBody>
          <a:bodyPr wrap="square" rtlCol="0">
            <a:spAutoFit/>
          </a:bodyPr>
          <a:lstStyle/>
          <a:p>
            <a:r>
              <a:rPr lang="en-US" altLang="zh-TW" dirty="0"/>
              <a:t>Sequence1:110110</a:t>
            </a:r>
            <a:endParaRPr lang="zh-TW" altLang="en-US" dirty="0"/>
          </a:p>
        </p:txBody>
      </p:sp>
      <p:graphicFrame>
        <p:nvGraphicFramePr>
          <p:cNvPr id="10" name="表格 10">
            <a:extLst>
              <a:ext uri="{FF2B5EF4-FFF2-40B4-BE49-F238E27FC236}">
                <a16:creationId xmlns:a16="http://schemas.microsoft.com/office/drawing/2014/main" id="{1FA0243B-9C47-4586-8190-C8FB7A44B4D4}"/>
              </a:ext>
            </a:extLst>
          </p:cNvPr>
          <p:cNvGraphicFramePr>
            <a:graphicFrameLocks noGrp="1"/>
          </p:cNvGraphicFramePr>
          <p:nvPr>
            <p:extLst>
              <p:ext uri="{D42A27DB-BD31-4B8C-83A1-F6EECF244321}">
                <p14:modId xmlns:p14="http://schemas.microsoft.com/office/powerpoint/2010/main" val="3950801512"/>
              </p:ext>
            </p:extLst>
          </p:nvPr>
        </p:nvGraphicFramePr>
        <p:xfrm>
          <a:off x="8059421" y="4729142"/>
          <a:ext cx="3840479" cy="741680"/>
        </p:xfrm>
        <a:graphic>
          <a:graphicData uri="http://schemas.openxmlformats.org/drawingml/2006/table">
            <a:tbl>
              <a:tblPr firstRow="1" bandRow="1">
                <a:tableStyleId>{073A0DAA-6AF3-43AB-8588-CEC1D06C72B9}</a:tableStyleId>
              </a:tblPr>
              <a:tblGrid>
                <a:gridCol w="568161">
                  <a:extLst>
                    <a:ext uri="{9D8B030D-6E8A-4147-A177-3AD203B41FA5}">
                      <a16:colId xmlns:a16="http://schemas.microsoft.com/office/drawing/2014/main" val="2274656089"/>
                    </a:ext>
                  </a:extLst>
                </a:gridCol>
                <a:gridCol w="431515">
                  <a:extLst>
                    <a:ext uri="{9D8B030D-6E8A-4147-A177-3AD203B41FA5}">
                      <a16:colId xmlns:a16="http://schemas.microsoft.com/office/drawing/2014/main" val="4045553612"/>
                    </a:ext>
                  </a:extLst>
                </a:gridCol>
                <a:gridCol w="563366">
                  <a:extLst>
                    <a:ext uri="{9D8B030D-6E8A-4147-A177-3AD203B41FA5}">
                      <a16:colId xmlns:a16="http://schemas.microsoft.com/office/drawing/2014/main" val="2280337460"/>
                    </a:ext>
                  </a:extLst>
                </a:gridCol>
                <a:gridCol w="537537">
                  <a:extLst>
                    <a:ext uri="{9D8B030D-6E8A-4147-A177-3AD203B41FA5}">
                      <a16:colId xmlns:a16="http://schemas.microsoft.com/office/drawing/2014/main" val="1637668776"/>
                    </a:ext>
                  </a:extLst>
                </a:gridCol>
                <a:gridCol w="457200">
                  <a:extLst>
                    <a:ext uri="{9D8B030D-6E8A-4147-A177-3AD203B41FA5}">
                      <a16:colId xmlns:a16="http://schemas.microsoft.com/office/drawing/2014/main" val="2323405049"/>
                    </a:ext>
                  </a:extLst>
                </a:gridCol>
                <a:gridCol w="444500">
                  <a:extLst>
                    <a:ext uri="{9D8B030D-6E8A-4147-A177-3AD203B41FA5}">
                      <a16:colId xmlns:a16="http://schemas.microsoft.com/office/drawing/2014/main" val="1085598324"/>
                    </a:ext>
                  </a:extLst>
                </a:gridCol>
                <a:gridCol w="406400">
                  <a:extLst>
                    <a:ext uri="{9D8B030D-6E8A-4147-A177-3AD203B41FA5}">
                      <a16:colId xmlns:a16="http://schemas.microsoft.com/office/drawing/2014/main" val="2125330660"/>
                    </a:ext>
                  </a:extLst>
                </a:gridCol>
                <a:gridCol w="431800">
                  <a:extLst>
                    <a:ext uri="{9D8B030D-6E8A-4147-A177-3AD203B41FA5}">
                      <a16:colId xmlns:a16="http://schemas.microsoft.com/office/drawing/2014/main" val="1263665434"/>
                    </a:ext>
                  </a:extLst>
                </a:gridCol>
              </a:tblGrid>
              <a:tr h="370840">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111554430"/>
                  </a:ext>
                </a:extLst>
              </a:tr>
              <a:tr h="370840">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0</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altLang="zh-TW" dirty="0">
                          <a:solidFill>
                            <a:schemeClr val="tx1"/>
                          </a:solidFill>
                        </a:rPr>
                        <a:t>1</a:t>
                      </a:r>
                      <a:endParaRPr lang="zh-TW" altLang="en-US"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98138201"/>
                  </a:ext>
                </a:extLst>
              </a:tr>
            </a:tbl>
          </a:graphicData>
        </a:graphic>
      </p:graphicFrame>
    </p:spTree>
    <p:extLst>
      <p:ext uri="{BB962C8B-B14F-4D97-AF65-F5344CB8AC3E}">
        <p14:creationId xmlns:p14="http://schemas.microsoft.com/office/powerpoint/2010/main" val="4074385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C96D6C1D-BDF9-49C7-AB9D-ACBD83D3B7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8516" y="14133"/>
            <a:ext cx="5282592" cy="3353109"/>
          </a:xfrm>
          <a:prstGeom prst="rect">
            <a:avLst/>
          </a:prstGeom>
        </p:spPr>
      </p:pic>
      <p:sp>
        <p:nvSpPr>
          <p:cNvPr id="2" name="標題 1">
            <a:extLst>
              <a:ext uri="{FF2B5EF4-FFF2-40B4-BE49-F238E27FC236}">
                <a16:creationId xmlns:a16="http://schemas.microsoft.com/office/drawing/2014/main" id="{547F56FC-C088-4C78-9C9D-E5E2D2C34638}"/>
              </a:ext>
            </a:extLst>
          </p:cNvPr>
          <p:cNvSpPr>
            <a:spLocks noGrp="1"/>
          </p:cNvSpPr>
          <p:nvPr>
            <p:ph type="title"/>
          </p:nvPr>
        </p:nvSpPr>
        <p:spPr/>
        <p:txBody>
          <a:bodyPr/>
          <a:lstStyle/>
          <a:p>
            <a:r>
              <a:rPr lang="en-US" altLang="zh-TW" dirty="0"/>
              <a:t>Mutation(</a:t>
            </a:r>
            <a:r>
              <a:rPr lang="zh-TW" altLang="en-US" dirty="0"/>
              <a:t>突變</a:t>
            </a:r>
            <a:r>
              <a:rPr lang="en-US" altLang="zh-TW" dirty="0"/>
              <a:t>)</a:t>
            </a:r>
            <a:endParaRPr lang="zh-TW" altLang="en-US" dirty="0"/>
          </a:p>
        </p:txBody>
      </p:sp>
      <p:sp>
        <p:nvSpPr>
          <p:cNvPr id="7" name="Rectangle 2">
            <a:extLst>
              <a:ext uri="{FF2B5EF4-FFF2-40B4-BE49-F238E27FC236}">
                <a16:creationId xmlns:a16="http://schemas.microsoft.com/office/drawing/2014/main" id="{39FD7A27-164D-46A4-9F32-72DB91E112E1}"/>
              </a:ext>
            </a:extLst>
          </p:cNvPr>
          <p:cNvSpPr>
            <a:spLocks noGrp="1" noChangeArrowheads="1"/>
          </p:cNvSpPr>
          <p:nvPr>
            <p:ph idx="1"/>
          </p:nvPr>
        </p:nvSpPr>
        <p:spPr bwMode="auto">
          <a:xfrm>
            <a:off x="260892" y="2614017"/>
            <a:ext cx="782778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zh-TW" altLang="zh-TW" sz="2400" b="0" i="0" u="none" strike="noStrike" cap="none" normalizeH="0" baseline="0" dirty="0">
                <a:ln>
                  <a:noFill/>
                </a:ln>
                <a:solidFill>
                  <a:srgbClr val="303233"/>
                </a:solidFill>
                <a:effectLst/>
                <a:latin typeface="標楷體" panose="03000509000000000000" pitchFamily="65" charset="-120"/>
                <a:ea typeface="標楷體" panose="03000509000000000000" pitchFamily="65" charset="-120"/>
              </a:rPr>
              <a:t>突變機制有兩個目的</a:t>
            </a:r>
            <a:endParaRPr kumimoji="0" lang="zh-TW" altLang="zh-TW" sz="2400"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zh-TW" altLang="zh-TW" sz="2400"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rPr>
              <a:t>開發新的搜尋區域，讓尋求解的時候產生更多的可能性</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zh-TW" altLang="zh-TW" sz="2400"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rPr>
              <a:t>重新發現新的搜尋區域</a:t>
            </a:r>
            <a:endParaRPr kumimoji="0" lang="en-US" altLang="zh-TW" sz="2400" b="0" i="0" u="none" strike="noStrike" cap="none" normalizeH="0" baseline="0" dirty="0">
              <a:ln>
                <a:noFill/>
              </a:ln>
              <a:solidFill>
                <a:schemeClr val="tx1"/>
              </a:solidFill>
              <a:effectLst/>
              <a:latin typeface="標楷體" panose="03000509000000000000" pitchFamily="65" charset="-120"/>
              <a:ea typeface="標楷體" panose="03000509000000000000" pitchFamily="65" charset="-12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lang="en-US" altLang="zh-TW" sz="24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zh-TW" altLang="zh-TW" sz="1800" b="0" i="0" u="none" strike="noStrike" cap="none" normalizeH="0" baseline="0" dirty="0">
              <a:ln>
                <a:noFill/>
              </a:ln>
              <a:solidFill>
                <a:schemeClr val="tx1"/>
              </a:solidFill>
              <a:effectLst/>
              <a:latin typeface="Arial" panose="020B0604020202020204" pitchFamily="34" charset="0"/>
            </a:endParaRPr>
          </a:p>
        </p:txBody>
      </p:sp>
      <p:pic>
        <p:nvPicPr>
          <p:cNvPr id="11" name="圖片 10" descr="一張含有 文字 的圖片&#10;&#10;自動產生的描述">
            <a:extLst>
              <a:ext uri="{FF2B5EF4-FFF2-40B4-BE49-F238E27FC236}">
                <a16:creationId xmlns:a16="http://schemas.microsoft.com/office/drawing/2014/main" id="{B42434BE-DD86-44DD-AA0E-5FACB7EB4B7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058" y="3905088"/>
            <a:ext cx="6687483" cy="2324424"/>
          </a:xfrm>
          <a:prstGeom prst="rect">
            <a:avLst/>
          </a:prstGeom>
        </p:spPr>
      </p:pic>
      <p:pic>
        <p:nvPicPr>
          <p:cNvPr id="13" name="圖片 12" descr="一張含有 文字 的圖片&#10;&#10;自動產生的描述">
            <a:extLst>
              <a:ext uri="{FF2B5EF4-FFF2-40B4-BE49-F238E27FC236}">
                <a16:creationId xmlns:a16="http://schemas.microsoft.com/office/drawing/2014/main" id="{C3F9E7E1-D97D-4D02-ADF0-65BED6EBB9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8825" y="3718234"/>
            <a:ext cx="6725589" cy="3010320"/>
          </a:xfrm>
          <a:prstGeom prst="rect">
            <a:avLst/>
          </a:prstGeom>
        </p:spPr>
      </p:pic>
    </p:spTree>
    <p:extLst>
      <p:ext uri="{BB962C8B-B14F-4D97-AF65-F5344CB8AC3E}">
        <p14:creationId xmlns:p14="http://schemas.microsoft.com/office/powerpoint/2010/main" val="72739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470B142-9558-4C56-8C9E-AFBACD74D060}"/>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 Two kinds of GRA</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D84BC014-E05A-44D9-9C41-6D5776D551E3}"/>
              </a:ext>
            </a:extLst>
          </p:cNvPr>
          <p:cNvSpPr>
            <a:spLocks noGrp="1"/>
          </p:cNvSpPr>
          <p:nvPr>
            <p:ph idx="1"/>
          </p:nvPr>
        </p:nvSpPr>
        <p:spPr>
          <a:xfrm>
            <a:off x="344557" y="1825625"/>
            <a:ext cx="11009243" cy="4351338"/>
          </a:xfrm>
        </p:spPr>
        <p:txBody>
          <a:bodyPr>
            <a:normAutofit/>
          </a:bodyPr>
          <a:lstStyle/>
          <a:p>
            <a:r>
              <a:rPr lang="en-US" altLang="zh-TW" dirty="0">
                <a:latin typeface="Times New Roman" panose="02020603050405020304" pitchFamily="18" charset="0"/>
                <a:cs typeface="Times New Roman" panose="02020603050405020304" pitchFamily="18" charset="0"/>
              </a:rPr>
              <a:t>GRA with directed branches : A directed branch and the strength is defined depending on the direction of the edge.</a:t>
            </a:r>
          </a:p>
          <a:p>
            <a:r>
              <a:rPr lang="en-US" altLang="zh-TW" dirty="0">
                <a:latin typeface="Times New Roman" panose="02020603050405020304" pitchFamily="18" charset="0"/>
                <a:cs typeface="Times New Roman" panose="02020603050405020304" pitchFamily="18" charset="0"/>
              </a:rPr>
              <a:t>GRA with </a:t>
            </a:r>
            <a:r>
              <a:rPr lang="en-US" altLang="zh-TW" dirty="0" err="1">
                <a:latin typeface="Times New Roman" panose="02020603050405020304" pitchFamily="18" charset="0"/>
                <a:cs typeface="Times New Roman" panose="02020603050405020304" pitchFamily="18" charset="0"/>
              </a:rPr>
              <a:t>indirected</a:t>
            </a:r>
            <a:r>
              <a:rPr lang="en-US" altLang="zh-TW" dirty="0">
                <a:latin typeface="Times New Roman" panose="02020603050405020304" pitchFamily="18" charset="0"/>
                <a:cs typeface="Times New Roman" panose="02020603050405020304" pitchFamily="18" charset="0"/>
              </a:rPr>
              <a:t> branches: The connection is represented by an </a:t>
            </a:r>
            <a:r>
              <a:rPr lang="en-US" altLang="zh-TW" dirty="0" err="1">
                <a:latin typeface="Times New Roman" panose="02020603050405020304" pitchFamily="18" charset="0"/>
                <a:cs typeface="Times New Roman" panose="02020603050405020304" pitchFamily="18" charset="0"/>
              </a:rPr>
              <a:t>indirected</a:t>
            </a:r>
            <a:r>
              <a:rPr lang="en-US" altLang="zh-TW" dirty="0">
                <a:latin typeface="Times New Roman" panose="02020603050405020304" pitchFamily="18" charset="0"/>
                <a:cs typeface="Times New Roman" panose="02020603050405020304" pitchFamily="18" charset="0"/>
              </a:rPr>
              <a:t> branch and the strength is defined without considering the direction.</a:t>
            </a:r>
          </a:p>
          <a:p>
            <a:pPr marL="0" indent="0">
              <a:buNone/>
            </a:pPr>
            <a:endParaRPr lang="en-US" altLang="zh-TW"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(In this </a:t>
            </a:r>
            <a:r>
              <a:rPr lang="en-US" altLang="zh-TW" dirty="0" err="1">
                <a:latin typeface="Times New Roman" panose="02020603050405020304" pitchFamily="18" charset="0"/>
                <a:cs typeface="Times New Roman" panose="02020603050405020304" pitchFamily="18" charset="0"/>
              </a:rPr>
              <a:t>paper,it</a:t>
            </a:r>
            <a:r>
              <a:rPr lang="en-US" altLang="zh-TW" dirty="0">
                <a:latin typeface="Times New Roman" panose="02020603050405020304" pitchFamily="18" charset="0"/>
                <a:cs typeface="Times New Roman" panose="02020603050405020304" pitchFamily="18" charset="0"/>
              </a:rPr>
              <a:t> used </a:t>
            </a:r>
            <a:r>
              <a:rPr lang="en-US" altLang="zh-TW" dirty="0" err="1">
                <a:latin typeface="Times New Roman" panose="02020603050405020304" pitchFamily="18" charset="0"/>
                <a:cs typeface="Times New Roman" panose="02020603050405020304" pitchFamily="18" charset="0"/>
              </a:rPr>
              <a:t>ingirected</a:t>
            </a:r>
            <a:r>
              <a:rPr lang="en-US" altLang="zh-TW" dirty="0">
                <a:latin typeface="Times New Roman" panose="02020603050405020304" pitchFamily="18" charset="0"/>
                <a:cs typeface="Times New Roman" panose="02020603050405020304" pitchFamily="18" charset="0"/>
              </a:rPr>
              <a:t> branches, because the strength in the relation between nodes is based on their similarity.)</a:t>
            </a:r>
            <a:endParaRPr lang="zh-TW" altLang="en-US" dirty="0">
              <a:latin typeface="Times New Roman" panose="02020603050405020304" pitchFamily="18" charset="0"/>
              <a:cs typeface="Times New Roman" panose="02020603050405020304" pitchFamily="18" charset="0"/>
            </a:endParaRPr>
          </a:p>
        </p:txBody>
      </p:sp>
      <p:pic>
        <p:nvPicPr>
          <p:cNvPr id="5" name="圖片 4" descr="一張含有 時鐘 的圖片&#10;&#10;自動產生的描述">
            <a:extLst>
              <a:ext uri="{FF2B5EF4-FFF2-40B4-BE49-F238E27FC236}">
                <a16:creationId xmlns:a16="http://schemas.microsoft.com/office/drawing/2014/main" id="{BB26699C-F7C9-4FF3-B474-69C3CC1BAA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09490" y="139941"/>
            <a:ext cx="3349988" cy="1618215"/>
          </a:xfrm>
          <a:prstGeom prst="rect">
            <a:avLst/>
          </a:prstGeom>
        </p:spPr>
      </p:pic>
    </p:spTree>
    <p:extLst>
      <p:ext uri="{BB962C8B-B14F-4D97-AF65-F5344CB8AC3E}">
        <p14:creationId xmlns:p14="http://schemas.microsoft.com/office/powerpoint/2010/main" val="156279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ircle(in)">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descr="一張含有 文字, 白板 的圖片&#10;&#10;自動產生的描述">
            <a:extLst>
              <a:ext uri="{FF2B5EF4-FFF2-40B4-BE49-F238E27FC236}">
                <a16:creationId xmlns:a16="http://schemas.microsoft.com/office/drawing/2014/main" id="{FF16B546-0564-4731-818F-459881986F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088464"/>
            <a:ext cx="4036800" cy="1153371"/>
          </a:xfrm>
          <a:prstGeom prst="rect">
            <a:avLst/>
          </a:prstGeom>
        </p:spPr>
      </p:pic>
      <p:pic>
        <p:nvPicPr>
          <p:cNvPr id="15" name="圖片 14">
            <a:extLst>
              <a:ext uri="{FF2B5EF4-FFF2-40B4-BE49-F238E27FC236}">
                <a16:creationId xmlns:a16="http://schemas.microsoft.com/office/drawing/2014/main" id="{D0CFCA0B-121B-449A-BE61-E8F36854BE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15209" y="3463580"/>
            <a:ext cx="2031633" cy="870701"/>
          </a:xfrm>
          <a:prstGeom prst="rect">
            <a:avLst/>
          </a:prstGeom>
        </p:spPr>
      </p:pic>
      <p:pic>
        <p:nvPicPr>
          <p:cNvPr id="5" name="圖片 4">
            <a:extLst>
              <a:ext uri="{FF2B5EF4-FFF2-40B4-BE49-F238E27FC236}">
                <a16:creationId xmlns:a16="http://schemas.microsoft.com/office/drawing/2014/main" id="{DEA4E136-40D6-422F-8F37-75B79FBEB0D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03190" y="90745"/>
            <a:ext cx="3980357" cy="2395057"/>
          </a:xfrm>
          <a:prstGeom prst="rect">
            <a:avLst/>
          </a:prstGeom>
        </p:spPr>
      </p:pic>
      <p:sp>
        <p:nvSpPr>
          <p:cNvPr id="2" name="標題 1">
            <a:extLst>
              <a:ext uri="{FF2B5EF4-FFF2-40B4-BE49-F238E27FC236}">
                <a16:creationId xmlns:a16="http://schemas.microsoft.com/office/drawing/2014/main" id="{516E3FDC-6FB2-493F-AC13-356A428E7495}"/>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GRA parameter</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966C6DE3-8C57-47B5-BDE6-CDCF7688EF5D}"/>
              </a:ext>
            </a:extLst>
          </p:cNvPr>
          <p:cNvSpPr>
            <a:spLocks noGrp="1"/>
          </p:cNvSpPr>
          <p:nvPr>
            <p:ph idx="1"/>
          </p:nvPr>
        </p:nvSpPr>
        <p:spPr>
          <a:xfrm>
            <a:off x="53548" y="1518496"/>
            <a:ext cx="11645347" cy="4351338"/>
          </a:xfrm>
        </p:spPr>
        <p:txBody>
          <a:bodyPr/>
          <a:lstStyle/>
          <a:p>
            <a:endParaRPr lang="en-US" altLang="zh-TW" dirty="0">
              <a:latin typeface="Times New Roman" panose="02020603050405020304" pitchFamily="18" charset="0"/>
              <a:cs typeface="Times New Roman" panose="02020603050405020304" pitchFamily="18" charset="0"/>
            </a:endParaRPr>
          </a:p>
          <a:p>
            <a:r>
              <a:rPr lang="it-IT" altLang="zh-TW" dirty="0">
                <a:latin typeface="Times New Roman" panose="02020603050405020304" pitchFamily="18" charset="0"/>
                <a:cs typeface="Times New Roman" panose="02020603050405020304" pitchFamily="18" charset="0"/>
              </a:rPr>
              <a:t>node i </a:t>
            </a:r>
            <a:r>
              <a:rPr lang="en-US" altLang="zh-TW" dirty="0"/>
              <a:t>s represented as a term vector</a:t>
            </a:r>
            <a:r>
              <a:rPr lang="it-IT" altLang="zh-TW" dirty="0">
                <a:latin typeface="Times New Roman" panose="02020603050405020304" pitchFamily="18" charset="0"/>
                <a:cs typeface="Times New Roman" panose="02020603050405020304" pitchFamily="18" charset="0"/>
              </a:rPr>
              <a:t>= (di1, di2,...,dil,...,di|L|)</a:t>
            </a:r>
          </a:p>
          <a:p>
            <a:pPr marL="0" indent="0">
              <a:buNone/>
            </a:pPr>
            <a:r>
              <a:rPr lang="it-IT" altLang="zh-TW" dirty="0">
                <a:latin typeface="Times New Roman" panose="02020603050405020304" pitchFamily="18" charset="0"/>
                <a:cs typeface="Times New Roman" panose="02020603050405020304" pitchFamily="18" charset="0"/>
              </a:rPr>
              <a:t>	</a:t>
            </a:r>
            <a:r>
              <a:rPr lang="en-US" altLang="zh-TW" dirty="0"/>
              <a:t> L is the set of suffixes of input keywords in query</a:t>
            </a:r>
            <a:endParaRPr lang="en-US" altLang="zh-TW" dirty="0">
              <a:latin typeface="Times New Roman" panose="02020603050405020304" pitchFamily="18" charset="0"/>
              <a:cs typeface="Times New Roman" panose="02020603050405020304" pitchFamily="18" charset="0"/>
            </a:endParaRPr>
          </a:p>
          <a:p>
            <a:r>
              <a:rPr lang="en-US" altLang="zh-TW" dirty="0" err="1">
                <a:latin typeface="Times New Roman" panose="02020603050405020304" pitchFamily="18" charset="0"/>
                <a:cs typeface="Times New Roman" panose="02020603050405020304" pitchFamily="18" charset="0"/>
              </a:rPr>
              <a:t>dil</a:t>
            </a:r>
            <a:r>
              <a:rPr lang="en-US" altLang="zh-TW" dirty="0">
                <a:latin typeface="Times New Roman" panose="02020603050405020304" pitchFamily="18" charset="0"/>
                <a:cs typeface="Times New Roman" panose="02020603050405020304" pitchFamily="18" charset="0"/>
              </a:rPr>
              <a:t> represents the occurrence of term l in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(0</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or 1)</a:t>
            </a:r>
          </a:p>
          <a:p>
            <a:pPr marL="0" indent="0">
              <a:buNone/>
            </a:pPr>
            <a:r>
              <a:rPr lang="en-US" altLang="zh-TW" dirty="0">
                <a:latin typeface="Times New Roman" panose="02020603050405020304" pitchFamily="18" charset="0"/>
                <a:cs typeface="Times New Roman" panose="02020603050405020304" pitchFamily="18" charset="0"/>
              </a:rPr>
              <a:t>	quality of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cosine similarity (0~1) between nodes is used as the strength </a:t>
            </a:r>
            <a:endParaRPr lang="zh-TW" altLang="en-US" dirty="0">
              <a:latin typeface="Times New Roman" panose="02020603050405020304" pitchFamily="18" charset="0"/>
              <a:cs typeface="Times New Roman" panose="02020603050405020304" pitchFamily="18" charset="0"/>
            </a:endParaRPr>
          </a:p>
          <a:p>
            <a:pPr marL="0" indent="0">
              <a:buNone/>
            </a:pPr>
            <a:r>
              <a:rPr lang="en-US" altLang="zh-TW" dirty="0">
                <a:latin typeface="Times New Roman" panose="02020603050405020304" pitchFamily="18" charset="0"/>
                <a:cs typeface="Times New Roman" panose="02020603050405020304" pitchFamily="18" charset="0"/>
              </a:rPr>
              <a:t>                                        , fil is the frequency of keyword l in node I</a:t>
            </a:r>
          </a:p>
        </p:txBody>
      </p:sp>
      <p:pic>
        <p:nvPicPr>
          <p:cNvPr id="7" name="圖片 6" descr="一張含有 桌 的圖片&#10;&#10;自動產生的描述">
            <a:extLst>
              <a:ext uri="{FF2B5EF4-FFF2-40B4-BE49-F238E27FC236}">
                <a16:creationId xmlns:a16="http://schemas.microsoft.com/office/drawing/2014/main" id="{FF454C72-A613-4C26-ABB8-CABC5291EE6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8587" y="5795670"/>
            <a:ext cx="3950402" cy="971585"/>
          </a:xfrm>
          <a:prstGeom prst="rect">
            <a:avLst/>
          </a:prstGeom>
        </p:spPr>
      </p:pic>
    </p:spTree>
    <p:extLst>
      <p:ext uri="{BB962C8B-B14F-4D97-AF65-F5344CB8AC3E}">
        <p14:creationId xmlns:p14="http://schemas.microsoft.com/office/powerpoint/2010/main" val="29955035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DA57E06-B182-40D7-BBDE-C29FD8A1F474}"/>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A. Fitness of GRA</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E08B178-6F2C-408B-9A49-C39B9C796BE7}"/>
              </a:ext>
            </a:extLst>
          </p:cNvPr>
          <p:cNvSpPr>
            <a:spLocks noGrp="1"/>
          </p:cNvSpPr>
          <p:nvPr>
            <p:ph idx="1"/>
          </p:nvPr>
        </p:nvSpPr>
        <p:spPr>
          <a:xfrm>
            <a:off x="238539" y="1825625"/>
            <a:ext cx="11834191" cy="4351338"/>
          </a:xfrm>
        </p:spPr>
        <p:txBody>
          <a:bodyPr/>
          <a:lstStyle/>
          <a:p>
            <a:r>
              <a:rPr lang="en-US" altLang="zh-TW" dirty="0">
                <a:latin typeface="Times New Roman" panose="02020603050405020304" pitchFamily="18" charset="0"/>
                <a:cs typeface="Times New Roman" panose="02020603050405020304" pitchFamily="18" charset="0"/>
              </a:rPr>
              <a:t>D(</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j): cosine similarity between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and node j described in the previous section.</a:t>
            </a:r>
          </a:p>
          <a:p>
            <a:r>
              <a:rPr lang="en-US" altLang="zh-TW" dirty="0">
                <a:latin typeface="Times New Roman" panose="02020603050405020304" pitchFamily="18" charset="0"/>
                <a:cs typeface="Times New Roman" panose="02020603050405020304" pitchFamily="18" charset="0"/>
              </a:rPr>
              <a:t>F(</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quality of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p>
          <a:p>
            <a:r>
              <a:rPr lang="en-US" altLang="zh-TW" dirty="0">
                <a:latin typeface="Times New Roman" panose="02020603050405020304" pitchFamily="18" charset="0"/>
                <a:cs typeface="Times New Roman" panose="02020603050405020304" pitchFamily="18" charset="0"/>
              </a:rPr>
              <a:t>R: set of suffixes of nodes (hyperlinks) in GRA.</a:t>
            </a:r>
          </a:p>
          <a:p>
            <a:r>
              <a:rPr lang="en-US" altLang="zh-TW" dirty="0">
                <a:latin typeface="Times New Roman" panose="02020603050405020304" pitchFamily="18" charset="0"/>
                <a:cs typeface="Times New Roman" panose="02020603050405020304" pitchFamily="18" charset="0"/>
              </a:rPr>
              <a:t>R(</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set of suffixes of nodes whose similarity is defined between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in GRA.</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61FAB288-EA8E-48E5-B316-14B9F7D8FD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4610815"/>
            <a:ext cx="5125330" cy="928209"/>
          </a:xfrm>
          <a:prstGeom prst="rect">
            <a:avLst/>
          </a:prstGeom>
        </p:spPr>
      </p:pic>
      <p:pic>
        <p:nvPicPr>
          <p:cNvPr id="7" name="圖片 6">
            <a:extLst>
              <a:ext uri="{FF2B5EF4-FFF2-40B4-BE49-F238E27FC236}">
                <a16:creationId xmlns:a16="http://schemas.microsoft.com/office/drawing/2014/main" id="{07A539E2-5C36-4E57-B3CF-C35C8E8826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5588552"/>
            <a:ext cx="4664341" cy="723348"/>
          </a:xfrm>
          <a:prstGeom prst="rect">
            <a:avLst/>
          </a:prstGeom>
        </p:spPr>
      </p:pic>
    </p:spTree>
    <p:extLst>
      <p:ext uri="{BB962C8B-B14F-4D97-AF65-F5344CB8AC3E}">
        <p14:creationId xmlns:p14="http://schemas.microsoft.com/office/powerpoint/2010/main" val="1828477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ECCE37F-9E87-4CE8-BB77-CCAB48CED971}"/>
              </a:ext>
            </a:extLst>
          </p:cNvPr>
          <p:cNvSpPr>
            <a:spLocks noGrp="1"/>
          </p:cNvSpPr>
          <p:nvPr>
            <p:ph type="title"/>
          </p:nvPr>
        </p:nvSpPr>
        <p:spPr/>
        <p:txBody>
          <a:bodyPr/>
          <a:lstStyle/>
          <a:p>
            <a:r>
              <a:rPr lang="en-US" altLang="zh-TW" dirty="0"/>
              <a:t>B. Evaluation Measures</a:t>
            </a:r>
            <a:endParaRPr lang="zh-TW" altLang="en-US" dirty="0"/>
          </a:p>
        </p:txBody>
      </p:sp>
      <p:sp>
        <p:nvSpPr>
          <p:cNvPr id="3" name="內容版面配置區 2">
            <a:extLst>
              <a:ext uri="{FF2B5EF4-FFF2-40B4-BE49-F238E27FC236}">
                <a16:creationId xmlns:a16="http://schemas.microsoft.com/office/drawing/2014/main" id="{05CC1EB6-84E1-43CC-9CCD-7CF683B6ED8E}"/>
              </a:ext>
            </a:extLst>
          </p:cNvPr>
          <p:cNvSpPr>
            <a:spLocks noGrp="1"/>
          </p:cNvSpPr>
          <p:nvPr>
            <p:ph idx="1"/>
          </p:nvPr>
        </p:nvSpPr>
        <p:spPr>
          <a:xfrm>
            <a:off x="106017" y="1825625"/>
            <a:ext cx="12085983" cy="4351338"/>
          </a:xfrm>
        </p:spPr>
        <p:txBody>
          <a:bodyPr>
            <a:normAutofit fontScale="92500" lnSpcReduction="10000"/>
          </a:bodyPr>
          <a:lstStyle/>
          <a:p>
            <a:r>
              <a:rPr lang="en-US" altLang="zh-TW" dirty="0">
                <a:latin typeface="Times New Roman" panose="02020603050405020304" pitchFamily="18" charset="0"/>
                <a:cs typeface="Times New Roman" panose="02020603050405020304" pitchFamily="18" charset="0"/>
              </a:rPr>
              <a:t>Recall of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p>
          <a:p>
            <a:pPr marL="0" indent="0">
              <a:buNone/>
            </a:pP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si</a:t>
            </a:r>
            <a:r>
              <a:rPr lang="en-US" altLang="zh-TW" dirty="0">
                <a:latin typeface="Times New Roman" panose="02020603050405020304" pitchFamily="18" charset="0"/>
                <a:cs typeface="Times New Roman" panose="02020603050405020304" pitchFamily="18" charset="0"/>
              </a:rPr>
              <a:t> is the number of relevant hyperlinks from node 1 to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si</a:t>
            </a:r>
            <a:r>
              <a:rPr lang="en-US" altLang="zh-TW" dirty="0">
                <a:latin typeface="Times New Roman" panose="02020603050405020304" pitchFamily="18" charset="0"/>
                <a:cs typeface="Times New Roman" panose="02020603050405020304" pitchFamily="18" charset="0"/>
              </a:rPr>
              <a:t> ≤ |</a:t>
            </a:r>
            <a:r>
              <a:rPr lang="en-US" altLang="zh-TW" dirty="0" err="1">
                <a:latin typeface="Times New Roman" panose="02020603050405020304" pitchFamily="18" charset="0"/>
                <a:cs typeface="Times New Roman" panose="02020603050405020304" pitchFamily="18" charset="0"/>
              </a:rPr>
              <a:t>Dq</a:t>
            </a:r>
            <a:r>
              <a:rPr lang="en-US" altLang="zh-TW" dirty="0">
                <a:latin typeface="Times New Roman" panose="02020603050405020304" pitchFamily="18" charset="0"/>
                <a:cs typeface="Times New Roman" panose="02020603050405020304" pitchFamily="18" charset="0"/>
              </a:rPr>
              <a:t>|</a:t>
            </a: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Precision of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p>
          <a:p>
            <a:pPr marL="0" indent="0">
              <a:buNone/>
            </a:pPr>
            <a:r>
              <a:rPr lang="en-US" altLang="zh-TW" dirty="0">
                <a:latin typeface="Times New Roman" panose="02020603050405020304" pitchFamily="18" charset="0"/>
                <a:cs typeface="Times New Roman" panose="02020603050405020304" pitchFamily="18" charset="0"/>
              </a:rPr>
              <a:t>	 pos(</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is the position of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referred as ranked node number. </a:t>
            </a:r>
          </a:p>
          <a:p>
            <a:pPr marL="0" indent="0">
              <a:buNone/>
            </a:pPr>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Average precision is computed based on the precision of each node which contains a relevant document as follows:</a:t>
            </a:r>
            <a:r>
              <a:rPr lang="zh-TW" altLang="en-US" dirty="0">
                <a:latin typeface="Times New Roman" panose="02020603050405020304" pitchFamily="18" charset="0"/>
                <a:cs typeface="Times New Roman" panose="02020603050405020304" pitchFamily="18" charset="0"/>
              </a:rPr>
              <a:t> </a:t>
            </a: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F-score of node </a:t>
            </a:r>
            <a:r>
              <a:rPr lang="en-US" altLang="zh-TW" dirty="0" err="1">
                <a:latin typeface="Times New Roman" panose="02020603050405020304" pitchFamily="18" charset="0"/>
                <a:cs typeface="Times New Roman" panose="02020603050405020304" pitchFamily="18" charset="0"/>
              </a:rPr>
              <a:t>i</a:t>
            </a:r>
            <a:r>
              <a:rPr lang="en-US" altLang="zh-TW" dirty="0">
                <a:latin typeface="Times New Roman" panose="02020603050405020304" pitchFamily="18" charset="0"/>
                <a:cs typeface="Times New Roman" panose="02020603050405020304" pitchFamily="18" charset="0"/>
              </a:rPr>
              <a:t> :</a:t>
            </a:r>
            <a:endParaRPr lang="zh-TW" altLang="en-US" dirty="0">
              <a:latin typeface="Times New Roman" panose="02020603050405020304" pitchFamily="18" charset="0"/>
              <a:cs typeface="Times New Roman" panose="02020603050405020304" pitchFamily="18" charset="0"/>
            </a:endParaRPr>
          </a:p>
        </p:txBody>
      </p:sp>
      <p:pic>
        <p:nvPicPr>
          <p:cNvPr id="5" name="圖片 4">
            <a:extLst>
              <a:ext uri="{FF2B5EF4-FFF2-40B4-BE49-F238E27FC236}">
                <a16:creationId xmlns:a16="http://schemas.microsoft.com/office/drawing/2014/main" id="{4ED916AA-575A-4CC9-8770-C66620F749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56826" y="1409856"/>
            <a:ext cx="1463174" cy="880954"/>
          </a:xfrm>
          <a:prstGeom prst="rect">
            <a:avLst/>
          </a:prstGeom>
        </p:spPr>
      </p:pic>
      <p:pic>
        <p:nvPicPr>
          <p:cNvPr id="7" name="圖片 6">
            <a:extLst>
              <a:ext uri="{FF2B5EF4-FFF2-40B4-BE49-F238E27FC236}">
                <a16:creationId xmlns:a16="http://schemas.microsoft.com/office/drawing/2014/main" id="{EAA6A86C-CCC4-44D5-B34A-2342B68208E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72528" y="2949493"/>
            <a:ext cx="1954792" cy="686819"/>
          </a:xfrm>
          <a:prstGeom prst="rect">
            <a:avLst/>
          </a:prstGeom>
        </p:spPr>
      </p:pic>
      <p:pic>
        <p:nvPicPr>
          <p:cNvPr id="9" name="圖片 8">
            <a:extLst>
              <a:ext uri="{FF2B5EF4-FFF2-40B4-BE49-F238E27FC236}">
                <a16:creationId xmlns:a16="http://schemas.microsoft.com/office/drawing/2014/main" id="{9664F329-DD7B-4EB1-9C0D-8EA3A36644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32394" y="4904317"/>
            <a:ext cx="2002006" cy="686819"/>
          </a:xfrm>
          <a:prstGeom prst="rect">
            <a:avLst/>
          </a:prstGeom>
        </p:spPr>
      </p:pic>
      <p:pic>
        <p:nvPicPr>
          <p:cNvPr id="11" name="圖片 10">
            <a:extLst>
              <a:ext uri="{FF2B5EF4-FFF2-40B4-BE49-F238E27FC236}">
                <a16:creationId xmlns:a16="http://schemas.microsoft.com/office/drawing/2014/main" id="{284256A0-029E-4ED0-B730-3A320020CC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74794" y="5426534"/>
            <a:ext cx="2234610" cy="750429"/>
          </a:xfrm>
          <a:prstGeom prst="rect">
            <a:avLst/>
          </a:prstGeom>
        </p:spPr>
      </p:pic>
    </p:spTree>
    <p:extLst>
      <p:ext uri="{BB962C8B-B14F-4D97-AF65-F5344CB8AC3E}">
        <p14:creationId xmlns:p14="http://schemas.microsoft.com/office/powerpoint/2010/main" val="24530451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圖片 4" descr="一張含有 桌 的圖片&#10;&#10;自動產生的描述">
            <a:extLst>
              <a:ext uri="{FF2B5EF4-FFF2-40B4-BE49-F238E27FC236}">
                <a16:creationId xmlns:a16="http://schemas.microsoft.com/office/drawing/2014/main" id="{1538D877-2097-4242-AA12-938F655654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38395" y="457028"/>
            <a:ext cx="5973009" cy="2467319"/>
          </a:xfrm>
          <a:prstGeom prst="rect">
            <a:avLst/>
          </a:prstGeom>
        </p:spPr>
      </p:pic>
      <p:sp>
        <p:nvSpPr>
          <p:cNvPr id="2" name="標題 1">
            <a:extLst>
              <a:ext uri="{FF2B5EF4-FFF2-40B4-BE49-F238E27FC236}">
                <a16:creationId xmlns:a16="http://schemas.microsoft.com/office/drawing/2014/main" id="{302743CB-E407-4EA6-9051-7FCED0A892D9}"/>
              </a:ext>
            </a:extLst>
          </p:cNvPr>
          <p:cNvSpPr>
            <a:spLocks noGrp="1"/>
          </p:cNvSpPr>
          <p:nvPr>
            <p:ph type="title"/>
          </p:nvPr>
        </p:nvSpPr>
        <p:spPr/>
        <p:txBody>
          <a:bodyPr/>
          <a:lstStyle/>
          <a:p>
            <a:endParaRPr lang="zh-TW" altLang="en-US" dirty="0"/>
          </a:p>
        </p:txBody>
      </p:sp>
      <p:sp>
        <p:nvSpPr>
          <p:cNvPr id="3" name="內容版面配置區 2">
            <a:extLst>
              <a:ext uri="{FF2B5EF4-FFF2-40B4-BE49-F238E27FC236}">
                <a16:creationId xmlns:a16="http://schemas.microsoft.com/office/drawing/2014/main" id="{8EBAEFCC-D7D0-4224-98E1-BCFBB315DFC8}"/>
              </a:ext>
            </a:extLst>
          </p:cNvPr>
          <p:cNvSpPr>
            <a:spLocks noGrp="1"/>
          </p:cNvSpPr>
          <p:nvPr>
            <p:ph idx="1"/>
          </p:nvPr>
        </p:nvSpPr>
        <p:spPr>
          <a:xfrm>
            <a:off x="711200" y="2667000"/>
            <a:ext cx="10515600" cy="4856163"/>
          </a:xfrm>
        </p:spPr>
        <p:txBody>
          <a:bodyPr>
            <a:normAutofit/>
          </a:bodyPr>
          <a:lstStyle/>
          <a:p>
            <a:r>
              <a:rPr lang="en-US" altLang="zh-TW" b="0" i="0" dirty="0">
                <a:effectLst/>
                <a:latin typeface="Times New Roman" panose="02020603050405020304" pitchFamily="18" charset="0"/>
                <a:cs typeface="Times New Roman" panose="02020603050405020304" pitchFamily="18" charset="0"/>
              </a:rPr>
              <a:t>Precision = =</a:t>
            </a:r>
            <a:r>
              <a:rPr lang="en-US" altLang="zh-TW" b="0" i="1" dirty="0">
                <a:effectLst/>
                <a:latin typeface="Times New Roman" panose="02020603050405020304" pitchFamily="18" charset="0"/>
                <a:cs typeface="Times New Roman" panose="02020603050405020304" pitchFamily="18" charset="0"/>
              </a:rPr>
              <a:t>TP </a:t>
            </a:r>
            <a:r>
              <a:rPr lang="en-US" altLang="zh-TW" dirty="0">
                <a:latin typeface="Times New Roman" panose="02020603050405020304" pitchFamily="18" charset="0"/>
                <a:cs typeface="Times New Roman" panose="02020603050405020304" pitchFamily="18" charset="0"/>
              </a:rPr>
              <a:t>/ (</a:t>
            </a:r>
            <a:r>
              <a:rPr lang="en-US" altLang="zh-TW" b="0" i="1" dirty="0">
                <a:effectLst/>
                <a:latin typeface="Times New Roman" panose="02020603050405020304" pitchFamily="18" charset="0"/>
                <a:cs typeface="Times New Roman" panose="02020603050405020304" pitchFamily="18" charset="0"/>
              </a:rPr>
              <a:t>FP+TP)</a:t>
            </a:r>
            <a:r>
              <a:rPr lang="zh-TW" altLang="en-US" b="0" i="0" dirty="0">
                <a:effectLst/>
                <a:latin typeface="Times New Roman" panose="02020603050405020304" pitchFamily="18" charset="0"/>
                <a:cs typeface="Times New Roman" panose="02020603050405020304" pitchFamily="18" charset="0"/>
              </a:rPr>
              <a:t>。</a:t>
            </a:r>
            <a:endParaRPr lang="en-US" altLang="zh-TW" b="0" i="1" dirty="0">
              <a:effectLst/>
              <a:latin typeface="Times New Roman" panose="02020603050405020304" pitchFamily="18" charset="0"/>
              <a:cs typeface="Times New Roman" panose="02020603050405020304" pitchFamily="18" charset="0"/>
            </a:endParaRPr>
          </a:p>
          <a:p>
            <a:r>
              <a:rPr lang="en-US" altLang="zh-TW" b="0" i="1" dirty="0">
                <a:effectLst/>
                <a:latin typeface="Times New Roman" panose="02020603050405020304" pitchFamily="18" charset="0"/>
                <a:cs typeface="Times New Roman" panose="02020603050405020304" pitchFamily="18" charset="0"/>
              </a:rPr>
              <a:t>Accuracy</a:t>
            </a:r>
            <a:r>
              <a:rPr lang="en-US" altLang="zh-TW" b="0" i="0" dirty="0">
                <a:effectLst/>
                <a:latin typeface="Times New Roman" panose="02020603050405020304" pitchFamily="18" charset="0"/>
                <a:cs typeface="Times New Roman" panose="02020603050405020304" pitchFamily="18" charset="0"/>
              </a:rPr>
              <a:t>=</a:t>
            </a:r>
            <a:r>
              <a:rPr lang="en-US" altLang="zh-TW" b="0" i="1" dirty="0">
                <a:effectLst/>
                <a:latin typeface="Times New Roman" panose="02020603050405020304" pitchFamily="18" charset="0"/>
                <a:cs typeface="Times New Roman" panose="02020603050405020304" pitchFamily="18" charset="0"/>
              </a:rPr>
              <a:t>TP</a:t>
            </a:r>
            <a:r>
              <a:rPr lang="en-US" altLang="zh-TW" b="0" i="0" dirty="0">
                <a:effectLst/>
                <a:latin typeface="Times New Roman" panose="02020603050405020304" pitchFamily="18" charset="0"/>
                <a:cs typeface="Times New Roman" panose="02020603050405020304" pitchFamily="18" charset="0"/>
              </a:rPr>
              <a:t>+</a:t>
            </a:r>
            <a:r>
              <a:rPr lang="en-US" altLang="zh-TW" b="0" i="1" dirty="0">
                <a:effectLst/>
                <a:latin typeface="Times New Roman" panose="02020603050405020304" pitchFamily="18" charset="0"/>
                <a:cs typeface="Times New Roman" panose="02020603050405020304" pitchFamily="18" charset="0"/>
              </a:rPr>
              <a:t>TN</a:t>
            </a:r>
            <a:r>
              <a:rPr lang="en-US" altLang="zh-TW" dirty="0">
                <a:latin typeface="Times New Roman" panose="02020603050405020304" pitchFamily="18" charset="0"/>
                <a:cs typeface="Times New Roman" panose="02020603050405020304" pitchFamily="18" charset="0"/>
              </a:rPr>
              <a:t> </a:t>
            </a:r>
            <a:r>
              <a:rPr lang="en-US" altLang="zh-TW" b="0" i="0" dirty="0">
                <a:effectLst/>
                <a:latin typeface="Times New Roman" panose="02020603050405020304" pitchFamily="18" charset="0"/>
                <a:cs typeface="Times New Roman" panose="02020603050405020304" pitchFamily="18" charset="0"/>
              </a:rPr>
              <a:t>/ (</a:t>
            </a:r>
            <a:r>
              <a:rPr lang="en-US" altLang="zh-TW" b="0" i="1" dirty="0">
                <a:effectLst/>
                <a:latin typeface="Times New Roman" panose="02020603050405020304" pitchFamily="18" charset="0"/>
                <a:cs typeface="Times New Roman" panose="02020603050405020304" pitchFamily="18" charset="0"/>
              </a:rPr>
              <a:t>FP</a:t>
            </a:r>
            <a:r>
              <a:rPr lang="en-US" altLang="zh-TW" b="0" i="0" dirty="0">
                <a:effectLst/>
                <a:latin typeface="Times New Roman" panose="02020603050405020304" pitchFamily="18" charset="0"/>
                <a:cs typeface="Times New Roman" panose="02020603050405020304" pitchFamily="18" charset="0"/>
              </a:rPr>
              <a:t>+</a:t>
            </a:r>
            <a:r>
              <a:rPr lang="en-US" altLang="zh-TW" b="0" i="1" dirty="0">
                <a:effectLst/>
                <a:latin typeface="Times New Roman" panose="02020603050405020304" pitchFamily="18" charset="0"/>
                <a:cs typeface="Times New Roman" panose="02020603050405020304" pitchFamily="18" charset="0"/>
              </a:rPr>
              <a:t>FN+TP</a:t>
            </a:r>
            <a:r>
              <a:rPr lang="en-US" altLang="zh-TW" b="0" i="0" dirty="0">
                <a:effectLst/>
                <a:latin typeface="Times New Roman" panose="02020603050405020304" pitchFamily="18" charset="0"/>
                <a:cs typeface="Times New Roman" panose="02020603050405020304" pitchFamily="18" charset="0"/>
              </a:rPr>
              <a:t>+</a:t>
            </a:r>
            <a:r>
              <a:rPr lang="en-US" altLang="zh-TW" b="0" i="1" dirty="0">
                <a:effectLst/>
                <a:latin typeface="Times New Roman" panose="02020603050405020304" pitchFamily="18" charset="0"/>
                <a:cs typeface="Times New Roman" panose="02020603050405020304" pitchFamily="18" charset="0"/>
              </a:rPr>
              <a:t>TN)</a:t>
            </a:r>
            <a:r>
              <a:rPr lang="zh-TW" altLang="en-US" b="0" i="0" dirty="0">
                <a:effectLst/>
                <a:latin typeface="Times New Roman" panose="02020603050405020304" pitchFamily="18" charset="0"/>
                <a:cs typeface="Times New Roman" panose="02020603050405020304" pitchFamily="18" charset="0"/>
              </a:rPr>
              <a:t>。</a:t>
            </a:r>
            <a:endParaRPr lang="en-US" altLang="zh-TW" b="0" i="0" dirty="0">
              <a:effectLst/>
              <a:latin typeface="Times New Roman" panose="02020603050405020304" pitchFamily="18" charset="0"/>
              <a:cs typeface="Times New Roman" panose="02020603050405020304" pitchFamily="18" charset="0"/>
            </a:endParaRPr>
          </a:p>
          <a:p>
            <a:r>
              <a:rPr lang="en-US" altLang="zh-TW" dirty="0">
                <a:latin typeface="Times New Roman" panose="02020603050405020304" pitchFamily="18" charset="0"/>
                <a:cs typeface="Times New Roman" panose="02020603050405020304" pitchFamily="18" charset="0"/>
              </a:rPr>
              <a:t>Recall = TP</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(TP+FN)</a:t>
            </a:r>
          </a:p>
          <a:p>
            <a:r>
              <a:rPr lang="en-US" altLang="zh-TW" b="0" i="0" dirty="0">
                <a:effectLst/>
                <a:latin typeface="Times New Roman" panose="02020603050405020304" pitchFamily="18" charset="0"/>
                <a:cs typeface="Times New Roman" panose="02020603050405020304" pitchFamily="18" charset="0"/>
              </a:rPr>
              <a:t>F1-score = 2 * precision * recall / (precision + recall)</a:t>
            </a:r>
          </a:p>
          <a:p>
            <a:pPr marL="0" indent="0">
              <a:buNone/>
            </a:pPr>
            <a:br>
              <a:rPr lang="en-US" altLang="zh-TW" dirty="0"/>
            </a:br>
            <a:endParaRPr lang="zh-TW" altLang="en-US" dirty="0"/>
          </a:p>
        </p:txBody>
      </p:sp>
      <p:cxnSp>
        <p:nvCxnSpPr>
          <p:cNvPr id="7" name="直線接點 6">
            <a:extLst>
              <a:ext uri="{FF2B5EF4-FFF2-40B4-BE49-F238E27FC236}">
                <a16:creationId xmlns:a16="http://schemas.microsoft.com/office/drawing/2014/main" id="{891FED72-5093-4FF2-9678-1030325A0EEF}"/>
              </a:ext>
            </a:extLst>
          </p:cNvPr>
          <p:cNvCxnSpPr>
            <a:cxnSpLocks/>
          </p:cNvCxnSpPr>
          <p:nvPr/>
        </p:nvCxnSpPr>
        <p:spPr>
          <a:xfrm>
            <a:off x="5738395" y="1143000"/>
            <a:ext cx="5488405" cy="0"/>
          </a:xfrm>
          <a:prstGeom prst="line">
            <a:avLst/>
          </a:prstGeom>
        </p:spPr>
        <p:style>
          <a:lnRef idx="1">
            <a:schemeClr val="dk1"/>
          </a:lnRef>
          <a:fillRef idx="0">
            <a:schemeClr val="dk1"/>
          </a:fillRef>
          <a:effectRef idx="0">
            <a:schemeClr val="dk1"/>
          </a:effectRef>
          <a:fontRef idx="minor">
            <a:schemeClr val="tx1"/>
          </a:fontRef>
        </p:style>
      </p:cxnSp>
      <p:cxnSp>
        <p:nvCxnSpPr>
          <p:cNvPr id="10" name="直線接點 9">
            <a:extLst>
              <a:ext uri="{FF2B5EF4-FFF2-40B4-BE49-F238E27FC236}">
                <a16:creationId xmlns:a16="http://schemas.microsoft.com/office/drawing/2014/main" id="{B7F4DF6A-2A6F-418A-9E2E-7B5C6E093FA8}"/>
              </a:ext>
            </a:extLst>
          </p:cNvPr>
          <p:cNvCxnSpPr/>
          <p:nvPr/>
        </p:nvCxnSpPr>
        <p:spPr>
          <a:xfrm>
            <a:off x="6654800" y="365125"/>
            <a:ext cx="0" cy="2390775"/>
          </a:xfrm>
          <a:prstGeom prst="line">
            <a:avLst/>
          </a:prstGeom>
        </p:spPr>
        <p:style>
          <a:lnRef idx="1">
            <a:schemeClr val="dk1"/>
          </a:lnRef>
          <a:fillRef idx="0">
            <a:schemeClr val="dk1"/>
          </a:fillRef>
          <a:effectRef idx="0">
            <a:schemeClr val="dk1"/>
          </a:effectRef>
          <a:fontRef idx="minor">
            <a:schemeClr val="tx1"/>
          </a:fontRef>
        </p:style>
      </p:cxnSp>
      <p:cxnSp>
        <p:nvCxnSpPr>
          <p:cNvPr id="12" name="直線接點 11">
            <a:extLst>
              <a:ext uri="{FF2B5EF4-FFF2-40B4-BE49-F238E27FC236}">
                <a16:creationId xmlns:a16="http://schemas.microsoft.com/office/drawing/2014/main" id="{8AF56AEA-8FDA-4BCE-9228-56BC1C9DC62C}"/>
              </a:ext>
            </a:extLst>
          </p:cNvPr>
          <p:cNvCxnSpPr>
            <a:cxnSpLocks/>
          </p:cNvCxnSpPr>
          <p:nvPr/>
        </p:nvCxnSpPr>
        <p:spPr>
          <a:xfrm>
            <a:off x="8267700" y="365125"/>
            <a:ext cx="0" cy="2390775"/>
          </a:xfrm>
          <a:prstGeom prst="line">
            <a:avLst/>
          </a:prstGeom>
        </p:spPr>
        <p:style>
          <a:lnRef idx="1">
            <a:schemeClr val="dk1"/>
          </a:lnRef>
          <a:fillRef idx="0">
            <a:schemeClr val="dk1"/>
          </a:fillRef>
          <a:effectRef idx="0">
            <a:schemeClr val="dk1"/>
          </a:effectRef>
          <a:fontRef idx="minor">
            <a:schemeClr val="tx1"/>
          </a:fontRef>
        </p:style>
      </p:cxnSp>
      <p:cxnSp>
        <p:nvCxnSpPr>
          <p:cNvPr id="15" name="直線接點 14">
            <a:extLst>
              <a:ext uri="{FF2B5EF4-FFF2-40B4-BE49-F238E27FC236}">
                <a16:creationId xmlns:a16="http://schemas.microsoft.com/office/drawing/2014/main" id="{0EA82773-3955-489C-930F-A2EC436B0D2A}"/>
              </a:ext>
            </a:extLst>
          </p:cNvPr>
          <p:cNvCxnSpPr/>
          <p:nvPr/>
        </p:nvCxnSpPr>
        <p:spPr>
          <a:xfrm>
            <a:off x="9982200" y="365125"/>
            <a:ext cx="0" cy="2390775"/>
          </a:xfrm>
          <a:prstGeom prst="line">
            <a:avLst/>
          </a:prstGeom>
        </p:spPr>
        <p:style>
          <a:lnRef idx="1">
            <a:schemeClr val="dk1"/>
          </a:lnRef>
          <a:fillRef idx="0">
            <a:schemeClr val="dk1"/>
          </a:fillRef>
          <a:effectRef idx="0">
            <a:schemeClr val="dk1"/>
          </a:effectRef>
          <a:fontRef idx="minor">
            <a:schemeClr val="tx1"/>
          </a:fontRef>
        </p:style>
      </p:cxnSp>
      <p:cxnSp>
        <p:nvCxnSpPr>
          <p:cNvPr id="17" name="直線接點 16">
            <a:extLst>
              <a:ext uri="{FF2B5EF4-FFF2-40B4-BE49-F238E27FC236}">
                <a16:creationId xmlns:a16="http://schemas.microsoft.com/office/drawing/2014/main" id="{831D3EE2-5C86-456D-ACAA-F9DF3B926FDD}"/>
              </a:ext>
            </a:extLst>
          </p:cNvPr>
          <p:cNvCxnSpPr/>
          <p:nvPr/>
        </p:nvCxnSpPr>
        <p:spPr>
          <a:xfrm>
            <a:off x="5829300" y="1690687"/>
            <a:ext cx="5524500" cy="0"/>
          </a:xfrm>
          <a:prstGeom prst="line">
            <a:avLst/>
          </a:prstGeom>
        </p:spPr>
        <p:style>
          <a:lnRef idx="1">
            <a:schemeClr val="dk1"/>
          </a:lnRef>
          <a:fillRef idx="0">
            <a:schemeClr val="dk1"/>
          </a:fillRef>
          <a:effectRef idx="0">
            <a:schemeClr val="dk1"/>
          </a:effectRef>
          <a:fontRef idx="minor">
            <a:schemeClr val="tx1"/>
          </a:fontRef>
        </p:style>
      </p:cxnSp>
      <p:cxnSp>
        <p:nvCxnSpPr>
          <p:cNvPr id="19" name="直線接點 18">
            <a:extLst>
              <a:ext uri="{FF2B5EF4-FFF2-40B4-BE49-F238E27FC236}">
                <a16:creationId xmlns:a16="http://schemas.microsoft.com/office/drawing/2014/main" id="{2C729706-C1FA-4B07-81D6-1D2B6C80BCE4}"/>
              </a:ext>
            </a:extLst>
          </p:cNvPr>
          <p:cNvCxnSpPr>
            <a:cxnSpLocks/>
          </p:cNvCxnSpPr>
          <p:nvPr/>
        </p:nvCxnSpPr>
        <p:spPr>
          <a:xfrm>
            <a:off x="5790197" y="2273300"/>
            <a:ext cx="5563603"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826923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9723FC-6A61-4A4B-A699-284630177DA9}"/>
              </a:ext>
            </a:extLst>
          </p:cNvPr>
          <p:cNvSpPr>
            <a:spLocks noGrp="1"/>
          </p:cNvSpPr>
          <p:nvPr>
            <p:ph type="title"/>
          </p:nvPr>
        </p:nvSpPr>
        <p:spPr/>
        <p:txBody>
          <a:bodyPr>
            <a:normAutofit/>
          </a:bodyPr>
          <a:lstStyle/>
          <a:p>
            <a:r>
              <a:rPr lang="en-US" altLang="zh-TW" sz="2800" b="0" i="0" u="none" strike="noStrike" baseline="0" dirty="0">
                <a:latin typeface="Times-Roman"/>
              </a:rPr>
              <a:t>The number of relevant hyperlinks is obtained from Yahoo</a:t>
            </a:r>
            <a:br>
              <a:rPr lang="en-US" altLang="zh-TW" sz="2800" b="0" i="0" u="none" strike="noStrike" baseline="0" dirty="0">
                <a:latin typeface="Times-Roman"/>
              </a:rPr>
            </a:br>
            <a:r>
              <a:rPr lang="en-US" altLang="zh-TW" sz="2800" b="0" i="0" u="none" strike="noStrike" baseline="0" dirty="0">
                <a:latin typeface="Times-Roman"/>
              </a:rPr>
              <a:t>directory [11] for every query.</a:t>
            </a:r>
            <a:endParaRPr lang="zh-TW" altLang="en-US" sz="6000" dirty="0"/>
          </a:p>
        </p:txBody>
      </p:sp>
      <p:pic>
        <p:nvPicPr>
          <p:cNvPr id="5" name="內容版面配置區 4" descr="一張含有 桌 的圖片&#10;&#10;自動產生的描述">
            <a:extLst>
              <a:ext uri="{FF2B5EF4-FFF2-40B4-BE49-F238E27FC236}">
                <a16:creationId xmlns:a16="http://schemas.microsoft.com/office/drawing/2014/main" id="{DC36941F-B607-4838-8EA4-3A30AFF7F2F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42596" y="1355837"/>
            <a:ext cx="9346754" cy="3205300"/>
          </a:xfrm>
        </p:spPr>
      </p:pic>
      <p:pic>
        <p:nvPicPr>
          <p:cNvPr id="7" name="圖片 6" descr="一張含有 桌 的圖片&#10;&#10;自動產生的描述">
            <a:extLst>
              <a:ext uri="{FF2B5EF4-FFF2-40B4-BE49-F238E27FC236}">
                <a16:creationId xmlns:a16="http://schemas.microsoft.com/office/drawing/2014/main" id="{DA6018D4-7582-4F1D-AD4C-61AB081850CF}"/>
              </a:ext>
            </a:extLst>
          </p:cNvPr>
          <p:cNvPicPr>
            <a:picLocks noChangeAspect="1"/>
          </p:cNvPicPr>
          <p:nvPr/>
        </p:nvPicPr>
        <p:blipFill rotWithShape="1">
          <a:blip r:embed="rId4">
            <a:extLst>
              <a:ext uri="{28A0092B-C50C-407E-A947-70E740481C1C}">
                <a14:useLocalDpi xmlns:a14="http://schemas.microsoft.com/office/drawing/2010/main" val="0"/>
              </a:ext>
            </a:extLst>
          </a:blip>
          <a:srcRect l="5927" t="17029" r="6351"/>
          <a:stretch/>
        </p:blipFill>
        <p:spPr>
          <a:xfrm>
            <a:off x="7209453" y="4222119"/>
            <a:ext cx="4982547" cy="2659459"/>
          </a:xfrm>
          <a:prstGeom prst="rect">
            <a:avLst/>
          </a:prstGeom>
        </p:spPr>
      </p:pic>
    </p:spTree>
    <p:extLst>
      <p:ext uri="{BB962C8B-B14F-4D97-AF65-F5344CB8AC3E}">
        <p14:creationId xmlns:p14="http://schemas.microsoft.com/office/powerpoint/2010/main" val="3084194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D13AB944-70F7-439F-A7FE-5C6A7AB4E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59021" y="1027906"/>
            <a:ext cx="6485061" cy="4116494"/>
          </a:xfrm>
          <a:prstGeom prst="rect">
            <a:avLst/>
          </a:prstGeom>
        </p:spPr>
      </p:pic>
      <p:sp>
        <p:nvSpPr>
          <p:cNvPr id="2" name="標題 1">
            <a:extLst>
              <a:ext uri="{FF2B5EF4-FFF2-40B4-BE49-F238E27FC236}">
                <a16:creationId xmlns:a16="http://schemas.microsoft.com/office/drawing/2014/main" id="{62FE17E9-1175-47A2-A7F3-CC77FED287E6}"/>
              </a:ext>
            </a:extLst>
          </p:cNvPr>
          <p:cNvSpPr>
            <a:spLocks noGrp="1"/>
          </p:cNvSpPr>
          <p:nvPr>
            <p:ph type="title"/>
          </p:nvPr>
        </p:nvSpPr>
        <p:spPr/>
        <p:txBody>
          <a:bodyPr/>
          <a:lstStyle/>
          <a:p>
            <a:endParaRPr lang="zh-TW" altLang="en-US"/>
          </a:p>
        </p:txBody>
      </p:sp>
      <p:pic>
        <p:nvPicPr>
          <p:cNvPr id="5" name="內容版面配置區 4">
            <a:extLst>
              <a:ext uri="{FF2B5EF4-FFF2-40B4-BE49-F238E27FC236}">
                <a16:creationId xmlns:a16="http://schemas.microsoft.com/office/drawing/2014/main" id="{5308FCD3-7B0F-4209-9EBC-23D77482FFDB}"/>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0" y="1135559"/>
            <a:ext cx="6485060" cy="4102533"/>
          </a:xfrm>
        </p:spPr>
      </p:pic>
      <p:pic>
        <p:nvPicPr>
          <p:cNvPr id="7" name="圖片 6">
            <a:extLst>
              <a:ext uri="{FF2B5EF4-FFF2-40B4-BE49-F238E27FC236}">
                <a16:creationId xmlns:a16="http://schemas.microsoft.com/office/drawing/2014/main" id="{74C71371-2EE5-449C-B0C3-A53A57EA92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9179" y="785598"/>
            <a:ext cx="7565710" cy="4802453"/>
          </a:xfrm>
          <a:prstGeom prst="rect">
            <a:avLst/>
          </a:prstGeom>
        </p:spPr>
      </p:pic>
    </p:spTree>
    <p:extLst>
      <p:ext uri="{BB962C8B-B14F-4D97-AF65-F5344CB8AC3E}">
        <p14:creationId xmlns:p14="http://schemas.microsoft.com/office/powerpoint/2010/main" val="300793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heel(1)">
                                      <p:cBhvr>
                                        <p:cTn id="7"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A9A817F-C5BA-4D4A-9938-367A0F7C37BE}"/>
              </a:ext>
            </a:extLst>
          </p:cNvPr>
          <p:cNvSpPr>
            <a:spLocks noGrp="1"/>
          </p:cNvSpPr>
          <p:nvPr>
            <p:ph type="title"/>
          </p:nvPr>
        </p:nvSpPr>
        <p:spPr/>
        <p:txBody>
          <a:bodyPr/>
          <a:lstStyle/>
          <a:p>
            <a:r>
              <a:rPr lang="en-US" altLang="zh-TW" dirty="0">
                <a:latin typeface="Times New Roman" panose="02020603050405020304" pitchFamily="18" charset="0"/>
                <a:cs typeface="Times New Roman" panose="02020603050405020304" pitchFamily="18" charset="0"/>
              </a:rPr>
              <a:t>GRA</a:t>
            </a:r>
            <a:r>
              <a:rPr lang="zh-TW" altLang="en-US" dirty="0">
                <a:latin typeface="Times New Roman" panose="02020603050405020304" pitchFamily="18" charset="0"/>
                <a:cs typeface="Times New Roman" panose="02020603050405020304" pitchFamily="18" charset="0"/>
              </a:rPr>
              <a:t> </a:t>
            </a:r>
          </a:p>
        </p:txBody>
      </p:sp>
      <p:sp>
        <p:nvSpPr>
          <p:cNvPr id="3" name="內容版面配置區 2">
            <a:extLst>
              <a:ext uri="{FF2B5EF4-FFF2-40B4-BE49-F238E27FC236}">
                <a16:creationId xmlns:a16="http://schemas.microsoft.com/office/drawing/2014/main" id="{F539A222-E140-46DB-9F0B-80F54B7EC065}"/>
              </a:ext>
            </a:extLst>
          </p:cNvPr>
          <p:cNvSpPr>
            <a:spLocks noGrp="1"/>
          </p:cNvSpPr>
          <p:nvPr>
            <p:ph idx="1"/>
          </p:nvPr>
        </p:nvSpPr>
        <p:spPr>
          <a:xfrm>
            <a:off x="355600" y="1511300"/>
            <a:ext cx="10998200" cy="4665663"/>
          </a:xfrm>
        </p:spPr>
        <p:txBody>
          <a:bodyPr/>
          <a:lstStyle/>
          <a:p>
            <a:r>
              <a:rPr lang="en-US" altLang="zh-TW" dirty="0">
                <a:latin typeface="Times New Roman" panose="02020603050405020304" pitchFamily="18" charset="0"/>
                <a:cs typeface="Times New Roman" panose="02020603050405020304" pitchFamily="18" charset="0"/>
              </a:rPr>
              <a:t>The reduced number of interesting hyperlinks is obtained via genetic selection using GRA from the results of a</a:t>
            </a:r>
            <a:r>
              <a:rPr lang="zh-TW" altLang="en-US" dirty="0">
                <a:latin typeface="Times New Roman" panose="02020603050405020304" pitchFamily="18" charset="0"/>
                <a:cs typeface="Times New Roman" panose="02020603050405020304" pitchFamily="18" charset="0"/>
              </a:rPr>
              <a:t> </a:t>
            </a:r>
            <a:r>
              <a:rPr lang="en-US" altLang="zh-TW" dirty="0">
                <a:latin typeface="Times New Roman" panose="02020603050405020304" pitchFamily="18" charset="0"/>
                <a:cs typeface="Times New Roman" panose="02020603050405020304" pitchFamily="18" charset="0"/>
              </a:rPr>
              <a:t>web search engine and therefore, improve the user’s web searching for real and complex queries. </a:t>
            </a:r>
          </a:p>
          <a:p>
            <a:pPr marL="0" indent="0">
              <a:buNone/>
            </a:pPr>
            <a:r>
              <a:rPr lang="en-US" altLang="zh-TW" dirty="0">
                <a:latin typeface="Times New Roman" panose="02020603050405020304" pitchFamily="18" charset="0"/>
                <a:cs typeface="Times New Roman" panose="02020603050405020304" pitchFamily="18" charset="0"/>
              </a:rPr>
              <a:t>• GRA method can effectively provide a search strategy with minimal user’s intervention. </a:t>
            </a:r>
          </a:p>
          <a:p>
            <a:pPr marL="0" indent="0">
              <a:buNone/>
            </a:pPr>
            <a:r>
              <a:rPr lang="en-US" altLang="zh-TW" dirty="0">
                <a:latin typeface="Times New Roman" panose="02020603050405020304" pitchFamily="18" charset="0"/>
                <a:cs typeface="Times New Roman" panose="02020603050405020304" pitchFamily="18" charset="0"/>
              </a:rPr>
              <a:t>• GRA selects the hyperlinks considering their similarity and quality. GRA    provides the most similar hyperlinks with respect to the query.</a:t>
            </a:r>
          </a:p>
          <a:p>
            <a:pPr marL="0" indent="0">
              <a:buNone/>
            </a:pPr>
            <a:r>
              <a:rPr lang="en-US" altLang="zh-TW" dirty="0">
                <a:latin typeface="Times New Roman" panose="02020603050405020304" pitchFamily="18" charset="0"/>
                <a:cs typeface="Times New Roman" panose="02020603050405020304" pitchFamily="18" charset="0"/>
              </a:rPr>
              <a:t> • The quality of the resultant pages is improved, when GRA is used, compared to the standard search engines.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2777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C10A4E-3B57-4151-A75E-4EEBB44E28B4}"/>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86321BB7-BB47-422A-B980-316E26340729}"/>
              </a:ext>
            </a:extLst>
          </p:cNvPr>
          <p:cNvSpPr>
            <a:spLocks noGrp="1"/>
          </p:cNvSpPr>
          <p:nvPr>
            <p:ph idx="1"/>
          </p:nvPr>
        </p:nvSpPr>
        <p:spPr>
          <a:xfrm>
            <a:off x="2684106" y="3058302"/>
            <a:ext cx="10515600" cy="4351338"/>
          </a:xfrm>
        </p:spPr>
        <p:txBody>
          <a:bodyPr>
            <a:normAutofit/>
          </a:bodyPr>
          <a:lstStyle/>
          <a:p>
            <a:pPr marL="0" indent="0">
              <a:buNone/>
            </a:pPr>
            <a:r>
              <a:rPr lang="en-US" altLang="zh-TW" sz="4800" dirty="0"/>
              <a:t>Thanks for listening.</a:t>
            </a:r>
            <a:endParaRPr lang="zh-TW" altLang="en-US" sz="4800" dirty="0"/>
          </a:p>
        </p:txBody>
      </p:sp>
    </p:spTree>
    <p:extLst>
      <p:ext uri="{BB962C8B-B14F-4D97-AF65-F5344CB8AC3E}">
        <p14:creationId xmlns:p14="http://schemas.microsoft.com/office/powerpoint/2010/main" val="2045317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EA5DA80-A476-4CE5-A85D-B1E432B417ED}"/>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563A1AE6-45A7-4DB2-943C-1D9D3348A89C}"/>
              </a:ext>
            </a:extLst>
          </p:cNvPr>
          <p:cNvSpPr>
            <a:spLocks noGrp="1"/>
          </p:cNvSpPr>
          <p:nvPr>
            <p:ph idx="1"/>
          </p:nvPr>
        </p:nvSpPr>
        <p:spPr/>
        <p:txBody>
          <a:bodyPr/>
          <a:lstStyle/>
          <a:p>
            <a:endParaRPr lang="zh-TW" altLang="en-US"/>
          </a:p>
        </p:txBody>
      </p:sp>
    </p:spTree>
    <p:extLst>
      <p:ext uri="{BB962C8B-B14F-4D97-AF65-F5344CB8AC3E}">
        <p14:creationId xmlns:p14="http://schemas.microsoft.com/office/powerpoint/2010/main" val="341901938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4065</TotalTime>
  <Words>1994</Words>
  <Application>Microsoft Office PowerPoint</Application>
  <PresentationFormat>寬螢幕</PresentationFormat>
  <Paragraphs>144</Paragraphs>
  <Slides>21</Slides>
  <Notes>9</Notes>
  <HiddenSlides>0</HiddenSlides>
  <MMClips>0</MMClips>
  <ScaleCrop>false</ScaleCrop>
  <HeadingPairs>
    <vt:vector size="6" baseType="variant">
      <vt:variant>
        <vt:lpstr>使用字型</vt:lpstr>
      </vt:variant>
      <vt:variant>
        <vt:i4>9</vt:i4>
      </vt:variant>
      <vt:variant>
        <vt:lpstr>佈景主題</vt:lpstr>
      </vt:variant>
      <vt:variant>
        <vt:i4>1</vt:i4>
      </vt:variant>
      <vt:variant>
        <vt:lpstr>投影片標題</vt:lpstr>
      </vt:variant>
      <vt:variant>
        <vt:i4>21</vt:i4>
      </vt:variant>
    </vt:vector>
  </HeadingPairs>
  <TitlesOfParts>
    <vt:vector size="31" baseType="lpstr">
      <vt:lpstr>-apple-system</vt:lpstr>
      <vt:lpstr>Lato</vt:lpstr>
      <vt:lpstr>Times-Roman</vt:lpstr>
      <vt:lpstr>新細明體</vt:lpstr>
      <vt:lpstr>標楷體</vt:lpstr>
      <vt:lpstr>Arial</vt:lpstr>
      <vt:lpstr>Calibri</vt:lpstr>
      <vt:lpstr>Calibri Light</vt:lpstr>
      <vt:lpstr>Times New Roman</vt:lpstr>
      <vt:lpstr>Office 佈景主題</vt:lpstr>
      <vt:lpstr>Web Mining Using Genetic Relation Algorithm</vt:lpstr>
      <vt:lpstr>PowerPoint 簡報</vt:lpstr>
      <vt:lpstr>基因演算法(genetic algorithm (GA)) </vt:lpstr>
      <vt:lpstr>PowerPoint 簡報</vt:lpstr>
      <vt:lpstr>Split selsction</vt:lpstr>
      <vt:lpstr>1. Roulette Wheel Selection</vt:lpstr>
      <vt:lpstr>2. Tournament Selection</vt:lpstr>
      <vt:lpstr>3.Rank Based Wheel Selection</vt:lpstr>
      <vt:lpstr> Elite selection </vt:lpstr>
      <vt:lpstr>Crossover</vt:lpstr>
      <vt:lpstr>Mutation(突變)</vt:lpstr>
      <vt:lpstr> Two kinds of GRA</vt:lpstr>
      <vt:lpstr>GRA parameter</vt:lpstr>
      <vt:lpstr>A. Fitness of GRA</vt:lpstr>
      <vt:lpstr>B. Evaluation Measures</vt:lpstr>
      <vt:lpstr>PowerPoint 簡報</vt:lpstr>
      <vt:lpstr>The number of relevant hyperlinks is obtained from Yahoo directory [11] for every query.</vt:lpstr>
      <vt:lpstr>PowerPoint 簡報</vt:lpstr>
      <vt:lpstr>GRA </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Mining using Genetic Relation Algorithm</dc:title>
  <dc:creator>wujj</dc:creator>
  <cp:lastModifiedBy>pplab</cp:lastModifiedBy>
  <cp:revision>46</cp:revision>
  <dcterms:created xsi:type="dcterms:W3CDTF">2020-11-14T16:04:35Z</dcterms:created>
  <dcterms:modified xsi:type="dcterms:W3CDTF">2020-11-17T12:41:38Z</dcterms:modified>
</cp:coreProperties>
</file>