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83" r:id="rId15"/>
    <p:sldId id="275" r:id="rId16"/>
    <p:sldId id="278" r:id="rId17"/>
    <p:sldId id="277" r:id="rId18"/>
    <p:sldId id="287" r:id="rId19"/>
    <p:sldId id="279" r:id="rId20"/>
    <p:sldId id="284" r:id="rId21"/>
    <p:sldId id="285" r:id="rId22"/>
    <p:sldId id="286" r:id="rId23"/>
    <p:sldId id="289" r:id="rId24"/>
    <p:sldId id="292" r:id="rId25"/>
    <p:sldId id="297" r:id="rId26"/>
    <p:sldId id="298" r:id="rId27"/>
    <p:sldId id="299" r:id="rId28"/>
    <p:sldId id="293" r:id="rId29"/>
    <p:sldId id="294" r:id="rId30"/>
    <p:sldId id="295" r:id="rId3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186186C-64BA-44FD-9B78-555D693B99E1}">
          <p14:sldIdLst>
            <p14:sldId id="256"/>
            <p14:sldId id="257"/>
            <p14:sldId id="258"/>
            <p14:sldId id="259"/>
            <p14:sldId id="260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83"/>
            <p14:sldId id="275"/>
            <p14:sldId id="278"/>
            <p14:sldId id="277"/>
            <p14:sldId id="287"/>
            <p14:sldId id="279"/>
            <p14:sldId id="284"/>
            <p14:sldId id="285"/>
            <p14:sldId id="286"/>
            <p14:sldId id="289"/>
            <p14:sldId id="292"/>
            <p14:sldId id="297"/>
            <p14:sldId id="298"/>
            <p14:sldId id="299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381D9"/>
    <a:srgbClr val="00FFFF"/>
    <a:srgbClr val="934BC9"/>
    <a:srgbClr val="FCEB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6353" autoAdjust="0"/>
  </p:normalViewPr>
  <p:slideViewPr>
    <p:cSldViewPr snapToGrid="0">
      <p:cViewPr varScale="1">
        <p:scale>
          <a:sx n="110" d="100"/>
          <a:sy n="110" d="100"/>
        </p:scale>
        <p:origin x="46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3,3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02-44C8-A614-7A19D69C01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8C-42A3-84CB-0E53ABD36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1-2,1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CE-46F6-958F-CA247075741E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1-3,3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CE-46F6-958F-CA247075741E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1-5,4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2CE-46F6-958F-CA247075741E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1-6,10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工作表1!$E$2:$E$11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2CE-46F6-958F-CA247075741E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1-9,11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工作表1!$F$2:$F$11</c:f>
              <c:numCache>
                <c:formatCode>General</c:formatCode>
                <c:ptCount val="10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2CE-46F6-958F-CA247075741E}"/>
            </c:ext>
          </c:extLst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2-3,3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工作表1!$G$2:$G$11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2CE-46F6-958F-CA247075741E}"/>
            </c:ext>
          </c:extLst>
        </c:ser>
        <c:ser>
          <c:idx val="6"/>
          <c:order val="6"/>
          <c:tx>
            <c:strRef>
              <c:f>工作表1!$H$1</c:f>
              <c:strCache>
                <c:ptCount val="1"/>
                <c:pt idx="0">
                  <c:v>2-5,4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工作表1!$H$2:$H$11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2CE-46F6-958F-CA247075741E}"/>
            </c:ext>
          </c:extLst>
        </c:ser>
        <c:ser>
          <c:idx val="7"/>
          <c:order val="7"/>
          <c:tx>
            <c:strRef>
              <c:f>工作表1!$I$1</c:f>
              <c:strCache>
                <c:ptCount val="1"/>
                <c:pt idx="0">
                  <c:v>2-6,10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工作表1!$I$2:$I$11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2CE-46F6-958F-CA247075741E}"/>
            </c:ext>
          </c:extLst>
        </c:ser>
        <c:ser>
          <c:idx val="8"/>
          <c:order val="8"/>
          <c:tx>
            <c:strRef>
              <c:f>工作表1!$J$1</c:f>
              <c:strCache>
                <c:ptCount val="1"/>
                <c:pt idx="0">
                  <c:v>2-9,11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工作表1!$J$2:$J$11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2CE-46F6-958F-CA247075741E}"/>
            </c:ext>
          </c:extLst>
        </c:ser>
        <c:ser>
          <c:idx val="9"/>
          <c:order val="9"/>
          <c:tx>
            <c:strRef>
              <c:f>工作表1!$K$1</c:f>
              <c:strCache>
                <c:ptCount val="1"/>
                <c:pt idx="0">
                  <c:v>3-5,4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工作表1!$K$2:$K$11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2CE-46F6-958F-CA247075741E}"/>
            </c:ext>
          </c:extLst>
        </c:ser>
        <c:ser>
          <c:idx val="10"/>
          <c:order val="10"/>
          <c:tx>
            <c:strRef>
              <c:f>工作表1!$L$1</c:f>
              <c:strCache>
                <c:ptCount val="1"/>
                <c:pt idx="0">
                  <c:v>3-6,10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工作表1!$L$2:$L$11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22CE-46F6-958F-CA247075741E}"/>
            </c:ext>
          </c:extLst>
        </c:ser>
        <c:ser>
          <c:idx val="11"/>
          <c:order val="11"/>
          <c:tx>
            <c:strRef>
              <c:f>工作表1!$M$1</c:f>
              <c:strCache>
                <c:ptCount val="1"/>
                <c:pt idx="0">
                  <c:v>3-9,11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工作表1!$M$2:$M$11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2CE-46F6-958F-CA247075741E}"/>
            </c:ext>
          </c:extLst>
        </c:ser>
        <c:ser>
          <c:idx val="12"/>
          <c:order val="12"/>
          <c:tx>
            <c:strRef>
              <c:f>工作表1!$N$1</c:f>
              <c:strCache>
                <c:ptCount val="1"/>
                <c:pt idx="0">
                  <c:v>4-6,10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工作表1!$N$2:$N$11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2CE-46F6-958F-CA2470757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3,3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02-44C8-A614-7A19D69C01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8C-42A3-84CB-0E53ABD36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1-2,1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CE-46F6-958F-CA247075741E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1-3,3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CE-46F6-958F-CA247075741E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1-5,4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2CE-46F6-958F-CA247075741E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1-6,10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工作表1!$E$2:$E$11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2CE-46F6-958F-CA247075741E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1-9,11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工作表1!$F$2:$F$11</c:f>
              <c:numCache>
                <c:formatCode>General</c:formatCode>
                <c:ptCount val="10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2CE-46F6-958F-CA247075741E}"/>
            </c:ext>
          </c:extLst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2-3,3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工作表1!$G$2:$G$11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2CE-46F6-958F-CA247075741E}"/>
            </c:ext>
          </c:extLst>
        </c:ser>
        <c:ser>
          <c:idx val="6"/>
          <c:order val="6"/>
          <c:tx>
            <c:strRef>
              <c:f>工作表1!$H$1</c:f>
              <c:strCache>
                <c:ptCount val="1"/>
                <c:pt idx="0">
                  <c:v>2-5,4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工作表1!$H$2:$H$11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2CE-46F6-958F-CA247075741E}"/>
            </c:ext>
          </c:extLst>
        </c:ser>
        <c:ser>
          <c:idx val="7"/>
          <c:order val="7"/>
          <c:tx>
            <c:strRef>
              <c:f>工作表1!$I$1</c:f>
              <c:strCache>
                <c:ptCount val="1"/>
                <c:pt idx="0">
                  <c:v>2-6,10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工作表1!$I$2:$I$11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2CE-46F6-958F-CA247075741E}"/>
            </c:ext>
          </c:extLst>
        </c:ser>
        <c:ser>
          <c:idx val="8"/>
          <c:order val="8"/>
          <c:tx>
            <c:strRef>
              <c:f>工作表1!$J$1</c:f>
              <c:strCache>
                <c:ptCount val="1"/>
                <c:pt idx="0">
                  <c:v>2-9,11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工作表1!$J$2:$J$11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2CE-46F6-958F-CA247075741E}"/>
            </c:ext>
          </c:extLst>
        </c:ser>
        <c:ser>
          <c:idx val="9"/>
          <c:order val="9"/>
          <c:tx>
            <c:strRef>
              <c:f>工作表1!$K$1</c:f>
              <c:strCache>
                <c:ptCount val="1"/>
                <c:pt idx="0">
                  <c:v>3-5,4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工作表1!$K$2:$K$11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2CE-46F6-958F-CA247075741E}"/>
            </c:ext>
          </c:extLst>
        </c:ser>
        <c:ser>
          <c:idx val="10"/>
          <c:order val="10"/>
          <c:tx>
            <c:strRef>
              <c:f>工作表1!$L$1</c:f>
              <c:strCache>
                <c:ptCount val="1"/>
                <c:pt idx="0">
                  <c:v>3-6,10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工作表1!$L$2:$L$11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22CE-46F6-958F-CA247075741E}"/>
            </c:ext>
          </c:extLst>
        </c:ser>
        <c:ser>
          <c:idx val="11"/>
          <c:order val="11"/>
          <c:tx>
            <c:strRef>
              <c:f>工作表1!$M$1</c:f>
              <c:strCache>
                <c:ptCount val="1"/>
                <c:pt idx="0">
                  <c:v>3-9,11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工作表1!$M$2:$M$11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2CE-46F6-958F-CA247075741E}"/>
            </c:ext>
          </c:extLst>
        </c:ser>
        <c:ser>
          <c:idx val="12"/>
          <c:order val="12"/>
          <c:tx>
            <c:strRef>
              <c:f>工作表1!$N$1</c:f>
              <c:strCache>
                <c:ptCount val="1"/>
                <c:pt idx="0">
                  <c:v>4-6,10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工作表1!$N$2:$N$11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2CE-46F6-958F-CA2470757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3,3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02-44C8-A614-7A19D69C01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8C-42A3-84CB-0E53ABD36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1-2,1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CE-46F6-958F-CA247075741E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1-3,3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CE-46F6-958F-CA247075741E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1-5,4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2CE-46F6-958F-CA247075741E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1-6,10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工作表1!$E$2:$E$11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2CE-46F6-958F-CA247075741E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1-9,11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工作表1!$F$2:$F$11</c:f>
              <c:numCache>
                <c:formatCode>General</c:formatCode>
                <c:ptCount val="10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2CE-46F6-958F-CA247075741E}"/>
            </c:ext>
          </c:extLst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2-3,3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工作表1!$G$2:$G$11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2CE-46F6-958F-CA247075741E}"/>
            </c:ext>
          </c:extLst>
        </c:ser>
        <c:ser>
          <c:idx val="6"/>
          <c:order val="6"/>
          <c:tx>
            <c:strRef>
              <c:f>工作表1!$H$1</c:f>
              <c:strCache>
                <c:ptCount val="1"/>
                <c:pt idx="0">
                  <c:v>2-5,4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工作表1!$H$2:$H$11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2CE-46F6-958F-CA247075741E}"/>
            </c:ext>
          </c:extLst>
        </c:ser>
        <c:ser>
          <c:idx val="7"/>
          <c:order val="7"/>
          <c:tx>
            <c:strRef>
              <c:f>工作表1!$I$1</c:f>
              <c:strCache>
                <c:ptCount val="1"/>
                <c:pt idx="0">
                  <c:v>2-6,10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工作表1!$I$2:$I$11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2CE-46F6-958F-CA247075741E}"/>
            </c:ext>
          </c:extLst>
        </c:ser>
        <c:ser>
          <c:idx val="8"/>
          <c:order val="8"/>
          <c:tx>
            <c:strRef>
              <c:f>工作表1!$J$1</c:f>
              <c:strCache>
                <c:ptCount val="1"/>
                <c:pt idx="0">
                  <c:v>2-9,11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工作表1!$J$2:$J$11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2CE-46F6-958F-CA247075741E}"/>
            </c:ext>
          </c:extLst>
        </c:ser>
        <c:ser>
          <c:idx val="9"/>
          <c:order val="9"/>
          <c:tx>
            <c:strRef>
              <c:f>工作表1!$K$1</c:f>
              <c:strCache>
                <c:ptCount val="1"/>
                <c:pt idx="0">
                  <c:v>3-5,4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工作表1!$K$2:$K$11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2CE-46F6-958F-CA247075741E}"/>
            </c:ext>
          </c:extLst>
        </c:ser>
        <c:ser>
          <c:idx val="10"/>
          <c:order val="10"/>
          <c:tx>
            <c:strRef>
              <c:f>工作表1!$L$1</c:f>
              <c:strCache>
                <c:ptCount val="1"/>
                <c:pt idx="0">
                  <c:v>3-6,10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工作表1!$L$2:$L$11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22CE-46F6-958F-CA247075741E}"/>
            </c:ext>
          </c:extLst>
        </c:ser>
        <c:ser>
          <c:idx val="11"/>
          <c:order val="11"/>
          <c:tx>
            <c:strRef>
              <c:f>工作表1!$M$1</c:f>
              <c:strCache>
                <c:ptCount val="1"/>
                <c:pt idx="0">
                  <c:v>3-9,11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工作表1!$M$2:$M$11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2CE-46F6-958F-CA247075741E}"/>
            </c:ext>
          </c:extLst>
        </c:ser>
        <c:ser>
          <c:idx val="12"/>
          <c:order val="12"/>
          <c:tx>
            <c:strRef>
              <c:f>工作表1!$N$1</c:f>
              <c:strCache>
                <c:ptCount val="1"/>
                <c:pt idx="0">
                  <c:v>4-6,10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工作表1!$N$2:$N$11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2CE-46F6-958F-CA2470757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3,3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02-44C8-A614-7A19D69C01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8C-42A3-84CB-0E53ABD36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1-2,1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CE-46F6-958F-CA247075741E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1-3,3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CE-46F6-958F-CA247075741E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1-5,4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工作表1!$D$2:$D$11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2CE-46F6-958F-CA247075741E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1-6,10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工作表1!$E$2:$E$11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2CE-46F6-958F-CA247075741E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1-9,11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工作表1!$F$2:$F$11</c:f>
              <c:numCache>
                <c:formatCode>General</c:formatCode>
                <c:ptCount val="10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2CE-46F6-958F-CA247075741E}"/>
            </c:ext>
          </c:extLst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2-3,3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工作表1!$G$2:$G$11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2CE-46F6-958F-CA247075741E}"/>
            </c:ext>
          </c:extLst>
        </c:ser>
        <c:ser>
          <c:idx val="6"/>
          <c:order val="6"/>
          <c:tx>
            <c:strRef>
              <c:f>工作表1!$H$1</c:f>
              <c:strCache>
                <c:ptCount val="1"/>
                <c:pt idx="0">
                  <c:v>2-5,4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工作表1!$H$2:$H$11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2CE-46F6-958F-CA247075741E}"/>
            </c:ext>
          </c:extLst>
        </c:ser>
        <c:ser>
          <c:idx val="7"/>
          <c:order val="7"/>
          <c:tx>
            <c:strRef>
              <c:f>工作表1!$I$1</c:f>
              <c:strCache>
                <c:ptCount val="1"/>
                <c:pt idx="0">
                  <c:v>2-6,10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工作表1!$I$2:$I$11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2CE-46F6-958F-CA247075741E}"/>
            </c:ext>
          </c:extLst>
        </c:ser>
        <c:ser>
          <c:idx val="8"/>
          <c:order val="8"/>
          <c:tx>
            <c:strRef>
              <c:f>工作表1!$J$1</c:f>
              <c:strCache>
                <c:ptCount val="1"/>
                <c:pt idx="0">
                  <c:v>2-9,11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工作表1!$J$2:$J$11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2CE-46F6-958F-CA247075741E}"/>
            </c:ext>
          </c:extLst>
        </c:ser>
        <c:ser>
          <c:idx val="9"/>
          <c:order val="9"/>
          <c:tx>
            <c:strRef>
              <c:f>工作表1!$K$1</c:f>
              <c:strCache>
                <c:ptCount val="1"/>
                <c:pt idx="0">
                  <c:v>3-5,4</c:v>
                </c:pt>
              </c:strCache>
            </c:strRef>
          </c:tx>
          <c:spPr>
            <a:ln w="2857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工作表1!$K$2:$K$11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2CE-46F6-958F-CA247075741E}"/>
            </c:ext>
          </c:extLst>
        </c:ser>
        <c:ser>
          <c:idx val="10"/>
          <c:order val="10"/>
          <c:tx>
            <c:strRef>
              <c:f>工作表1!$L$1</c:f>
              <c:strCache>
                <c:ptCount val="1"/>
                <c:pt idx="0">
                  <c:v>3-6,10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工作表1!$L$2:$L$11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22CE-46F6-958F-CA247075741E}"/>
            </c:ext>
          </c:extLst>
        </c:ser>
        <c:ser>
          <c:idx val="11"/>
          <c:order val="11"/>
          <c:tx>
            <c:strRef>
              <c:f>工作表1!$M$1</c:f>
              <c:strCache>
                <c:ptCount val="1"/>
                <c:pt idx="0">
                  <c:v>3-9,11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工作表1!$M$2:$M$11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2CE-46F6-958F-CA247075741E}"/>
            </c:ext>
          </c:extLst>
        </c:ser>
        <c:ser>
          <c:idx val="12"/>
          <c:order val="12"/>
          <c:tx>
            <c:strRef>
              <c:f>工作表1!$N$1</c:f>
              <c:strCache>
                <c:ptCount val="1"/>
                <c:pt idx="0">
                  <c:v>4-6,10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工作表1!$N$2:$N$11</c:f>
              <c:numCache>
                <c:formatCode>General</c:formatCode>
                <c:ptCount val="10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2CE-46F6-958F-CA24707574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3,3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02-44C8-A614-7A19D69C01BA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2,1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56-4E93-99F4-6394272BC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8C-42A3-84CB-0E53ABD36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8E-4785-8521-316FE4E2F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3,3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97-4D51-9337-3C5D7810B004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2,1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97-4D51-9337-3C5D7810B004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5,4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工作表1!$D$2:$D$11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3A-426E-B9B7-D21C5A2DDE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欄1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2A-40F9-8938-4F927E369850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6B-47A2-A518-879F1CE0C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6,10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54-404A-93A8-5D64D7BD78E0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2-6,10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numCache>
            </c:numRef>
          </c:cat>
          <c:val>
            <c:numRef>
              <c:f>工作表1!$C$2:$C$11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3B-4674-829F-128E221A81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41045400"/>
        <c:axId val="741047368"/>
      </c:lineChart>
      <c:catAx>
        <c:axId val="741045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7368"/>
        <c:crosses val="autoZero"/>
        <c:auto val="1"/>
        <c:lblAlgn val="ctr"/>
        <c:lblOffset val="100"/>
        <c:noMultiLvlLbl val="0"/>
      </c:catAx>
      <c:valAx>
        <c:axId val="741047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41045400"/>
        <c:crossesAt val="1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2000" b="0" i="0" u="sng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47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97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111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990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383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568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069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871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3486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116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1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5257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057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928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909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5003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538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8417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610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0692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162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86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hart" Target="../charts/chart1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4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hart" Target="../charts/chart7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hart" Target="../charts/chart10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chart" Target="../charts/chart13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chart" Target="../charts/char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1604685"/>
            <a:ext cx="9829014" cy="1348065"/>
          </a:xfrm>
        </p:spPr>
        <p:txBody>
          <a:bodyPr anchor="ctr"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Algorithms for Computing Longest Common Increasing Subsequences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56415"/>
            <a:ext cx="11163299" cy="1655762"/>
          </a:xfrm>
        </p:spPr>
        <p:txBody>
          <a:bodyPr>
            <a:noAutofit/>
          </a:bodyPr>
          <a:lstStyle/>
          <a:p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Kutz, Gerth Stølting Brodal, Kanela Kaligosi, Irit Katriel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Algorithms 9 (2011) 314–325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Nov. 17,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99"/>
            <a:ext cx="10515600" cy="5337175"/>
          </a:xfrm>
        </p:spPr>
        <p:txBody>
          <a:bodyPr>
            <a:noAutofit/>
          </a:bodyPr>
          <a:lstStyle/>
          <a:p>
            <a:pPr marL="0" indent="0" algn="just">
              <a:lnSpc>
                <a:spcPts val="3100"/>
              </a:lnSpc>
              <a:spcBef>
                <a:spcPts val="1800"/>
              </a:spcBef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algorithms for finding a longest common increasing subsequence of two or more input sequences. For two sequences of lengths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present an algorithm with an output-dependent expected running time of O((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)loglog σ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Sort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space, where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length of an LCIS, σ is the size of the alphabet, 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time to sort each input sequence. For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length-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sequences we present an algorithm which improves the previous best bound by more than a factor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many inputs. In both cases, our algorithms are conceptually quite simple but rely on existing sophisticated data structures. Finally, we introduce the problem of longest common weakly-increasing (or non-decreasing) subsequences (LCWIS), for which we present an O(min{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})-time algorithm for the 3-letter alphabet case. For the extensively studied longest common subsequence problem, comparable speedups have not been achieved for small alphabets.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519C7-E15E-490D-8739-4D87FD79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Increasing Subsequence (LCIS)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756BE9-519A-4827-80A5-6227B0254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A = {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</a:rPr>
              <a:t>, 5,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</a:rPr>
              <a:t>, 7, 2, 5,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</a:rPr>
              <a:t>, 4, 2}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B = {4, 5,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</a:rPr>
              <a:t>, 2}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</a:rPr>
              <a:t>LCIS(A,B) = {1,4,8}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DE14AFB8-F567-49A2-8FBB-2E14710C2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608219"/>
              </p:ext>
            </p:extLst>
          </p:nvPr>
        </p:nvGraphicFramePr>
        <p:xfrm>
          <a:off x="2203450" y="3563937"/>
          <a:ext cx="81280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9550">
                  <a:extLst>
                    <a:ext uri="{9D8B030D-6E8A-4147-A177-3AD203B41FA5}">
                      <a16:colId xmlns:a16="http://schemas.microsoft.com/office/drawing/2014/main" val="2658243965"/>
                    </a:ext>
                  </a:extLst>
                </a:gridCol>
                <a:gridCol w="5378450">
                  <a:extLst>
                    <a:ext uri="{9D8B030D-6E8A-4147-A177-3AD203B41FA5}">
                      <a16:colId xmlns:a16="http://schemas.microsoft.com/office/drawing/2014/main" val="1222939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Yang et al. [1]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</a:rPr>
                        <a:t>mn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) 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23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 et al. [2]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O(min{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 err="1">
                          <a:latin typeface="Times New Roman" panose="02020603050405020304" pitchFamily="18" charset="0"/>
                        </a:rPr>
                        <a:t>log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loglog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+ 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)loglog σ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+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Sort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m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179359"/>
                  </a:ext>
                </a:extLst>
              </a:tr>
            </a:tbl>
          </a:graphicData>
        </a:graphic>
      </p:graphicFrame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A241D31-EE75-49EC-8492-E71FCBCDA85B}"/>
              </a:ext>
            </a:extLst>
          </p:cNvPr>
          <p:cNvSpPr txBox="1">
            <a:spLocks/>
          </p:cNvSpPr>
          <p:nvPr/>
        </p:nvSpPr>
        <p:spPr>
          <a:xfrm>
            <a:off x="0" y="5600700"/>
            <a:ext cx="12192000" cy="1258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</a:rPr>
              <a:t>[1] I.-H. Yang, C.-P. Huang, K.-M. Chao, A fast algorithm for computing a longest common increasing subsequence, Information</a:t>
            </a:r>
            <a:br>
              <a:rPr lang="en-US" altLang="zh-TW" sz="1800" dirty="0">
                <a:latin typeface="Times New Roman" panose="02020603050405020304" pitchFamily="18" charset="0"/>
              </a:rPr>
            </a:br>
            <a:r>
              <a:rPr lang="en-US" altLang="zh-TW" sz="1800" dirty="0">
                <a:latin typeface="Times New Roman" panose="02020603050405020304" pitchFamily="18" charset="0"/>
              </a:rPr>
              <a:t>      Processing Letters 93 (5) (2005) 249–253.</a:t>
            </a:r>
          </a:p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</a:rPr>
              <a:t>[2] W.-T. Chan, Y. Zhang, S.P.Y. Fung, D. Ye, H. Zhu, Efficient algorithms for finding a longest common increasing subsequence, </a:t>
            </a:r>
            <a:br>
              <a:rPr lang="en-US" altLang="zh-TW" sz="1800" dirty="0">
                <a:latin typeface="Times New Roman" panose="02020603050405020304" pitchFamily="18" charset="0"/>
              </a:rPr>
            </a:br>
            <a:r>
              <a:rPr lang="en-US" altLang="zh-TW" sz="1800" dirty="0">
                <a:latin typeface="Times New Roman" panose="02020603050405020304" pitchFamily="18" charset="0"/>
              </a:rPr>
              <a:t>      Journal of Combinatorial Optimization 13 (3) (2007) 277–288.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81CB98-4363-424B-96ED-F56790492F5C}"/>
              </a:ext>
            </a:extLst>
          </p:cNvPr>
          <p:cNvSpPr txBox="1"/>
          <p:nvPr/>
        </p:nvSpPr>
        <p:spPr>
          <a:xfrm>
            <a:off x="9503153" y="3102272"/>
            <a:ext cx="970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1843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686EC-6E39-48A0-A8F4-DE193331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Bounded Heap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1A6F50B-4781-4DCB-93B4-DE0FD5E81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6902" y="1419911"/>
            <a:ext cx="7668695" cy="154326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818946AB-1F33-414B-A979-84AFB694CE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576" y="3096527"/>
                <a:ext cx="11320849" cy="35661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chemeClr val="tx1"/>
                  </a:buClr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Insert(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 into the BH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key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priority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associated data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buClr>
                    <a:schemeClr val="tx1"/>
                  </a:buClr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DecreasePriority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BH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does not already contain the key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perform Insert(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Otherwise, set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key’s priority to min{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}, where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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its previous priority.</a:t>
                </a:r>
              </a:p>
              <a:p>
                <a:pPr>
                  <a:buClr>
                    <a:schemeClr val="tx1"/>
                  </a:buClr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ounded</a:t>
                </a:r>
                <a:r>
                  <a:rPr lang="en-US" altLang="zh-TW" sz="24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𝓗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the item that has minimum priority among all items in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key smaller than s. If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does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contain any items with key smaller than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return “invalid”.</a:t>
                </a:r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818946AB-1F33-414B-A979-84AFB694C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76" y="3096527"/>
                <a:ext cx="11320849" cy="3566130"/>
              </a:xfrm>
              <a:prstGeom prst="rect">
                <a:avLst/>
              </a:prstGeom>
              <a:blipFill>
                <a:blip r:embed="rId4"/>
                <a:stretch>
                  <a:fillRect l="-700" t="-2393" r="-1023" b="-39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797471A-AFF0-46D8-BD24-96E6B98902A1}"/>
              </a:ext>
            </a:extLst>
          </p:cNvPr>
          <p:cNvCxnSpPr>
            <a:cxnSpLocks/>
          </p:cNvCxnSpPr>
          <p:nvPr/>
        </p:nvCxnSpPr>
        <p:spPr>
          <a:xfrm flipH="1">
            <a:off x="2200275" y="1619250"/>
            <a:ext cx="246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61B308E-0105-409F-B421-02A1E8FFE46F}"/>
              </a:ext>
            </a:extLst>
          </p:cNvPr>
          <p:cNvSpPr txBox="1"/>
          <p:nvPr/>
        </p:nvSpPr>
        <p:spPr>
          <a:xfrm>
            <a:off x="1314450" y="1419911"/>
            <a:ext cx="88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10651FB-7E05-4838-975F-603733B82099}"/>
              </a:ext>
            </a:extLst>
          </p:cNvPr>
          <p:cNvSpPr txBox="1"/>
          <p:nvPr/>
        </p:nvSpPr>
        <p:spPr>
          <a:xfrm>
            <a:off x="1314450" y="1690688"/>
            <a:ext cx="88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DA6A15C4-92A2-4388-8CA0-0B599BE592F4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2200275" y="1875354"/>
            <a:ext cx="2465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74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AFEBAC-A1A2-4118-B4C2-CBE5C088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Increasing Subsequence (LCIS)</a:t>
            </a:r>
            <a:endParaRPr lang="zh-TW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5E7899-A6BF-4595-8F50-574E745A3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942" y="2736039"/>
            <a:ext cx="2266950" cy="53340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6A143DB-E466-41E0-A4EB-2C4BBF5CD6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64679"/>
              </p:ext>
            </p:extLst>
          </p:nvPr>
        </p:nvGraphicFramePr>
        <p:xfrm>
          <a:off x="838200" y="1690688"/>
          <a:ext cx="326407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5E092AC-57FC-4A59-B595-A5508B8554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724254"/>
              </p:ext>
            </p:extLst>
          </p:nvPr>
        </p:nvGraphicFramePr>
        <p:xfrm>
          <a:off x="5470800" y="1714550"/>
          <a:ext cx="48924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3873365684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7F0BB66-1CFC-4E40-A9BE-BAB8A3EB9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683669"/>
              </p:ext>
            </p:extLst>
          </p:nvPr>
        </p:nvGraphicFramePr>
        <p:xfrm>
          <a:off x="837684" y="3734570"/>
          <a:ext cx="326407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0E44BF2-6DAE-455D-86B2-93445A9D0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914033"/>
              </p:ext>
            </p:extLst>
          </p:nvPr>
        </p:nvGraphicFramePr>
        <p:xfrm>
          <a:off x="5470800" y="3734570"/>
          <a:ext cx="38052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3873365684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B05B48D-7E62-4308-8517-BBA97A4C8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233916"/>
              </p:ext>
            </p:extLst>
          </p:nvPr>
        </p:nvGraphicFramePr>
        <p:xfrm>
          <a:off x="837684" y="5183141"/>
          <a:ext cx="3264072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428930"/>
                  </a:ext>
                </a:extLst>
              </a:tr>
            </a:tbl>
          </a:graphicData>
        </a:graphic>
      </p:graphicFrame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EC9CECB-C5E4-4629-838F-8FE3E5C64320}"/>
              </a:ext>
            </a:extLst>
          </p:cNvPr>
          <p:cNvCxnSpPr>
            <a:cxnSpLocks/>
          </p:cNvCxnSpPr>
          <p:nvPr/>
        </p:nvCxnSpPr>
        <p:spPr>
          <a:xfrm>
            <a:off x="4689492" y="2626182"/>
            <a:ext cx="0" cy="7170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956CDA8-11B4-4E7F-B82F-3F4C94EB8ECE}"/>
              </a:ext>
            </a:extLst>
          </p:cNvPr>
          <p:cNvSpPr txBox="1"/>
          <p:nvPr/>
        </p:nvSpPr>
        <p:spPr>
          <a:xfrm>
            <a:off x="5470800" y="4969760"/>
            <a:ext cx="47627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[j] = k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LCIS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長度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 :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endParaRPr lang="en-US" altLang="zh-TW" sz="2400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 :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，最小的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index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BC0F103F-083B-4528-9277-7B171827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806938"/>
              </p:ext>
            </p:extLst>
          </p:nvPr>
        </p:nvGraphicFramePr>
        <p:xfrm>
          <a:off x="7917000" y="5183141"/>
          <a:ext cx="32616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3873365684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51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59BAB-537B-4EF3-891B-963D7111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84D18-91AF-4CAF-AD83-DFA8915C0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815019"/>
              </p:ext>
            </p:extLst>
          </p:nvPr>
        </p:nvGraphicFramePr>
        <p:xfrm>
          <a:off x="3057009" y="356528"/>
          <a:ext cx="326407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D3764C9-AFDF-4828-A652-444B13780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884541"/>
              </p:ext>
            </p:extLst>
          </p:nvPr>
        </p:nvGraphicFramePr>
        <p:xfrm>
          <a:off x="7270491" y="355600"/>
          <a:ext cx="38052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3873365684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4135109-5D7B-4D18-91E3-F4E0B1A17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865137"/>
              </p:ext>
            </p:extLst>
          </p:nvPr>
        </p:nvGraphicFramePr>
        <p:xfrm>
          <a:off x="3195378" y="1985434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內容版面配置區 2">
                <a:extLst>
                  <a:ext uri="{FF2B5EF4-FFF2-40B4-BE49-F238E27FC236}">
                    <a16:creationId xmlns:a16="http://schemas.microsoft.com/office/drawing/2014/main" id="{554BFE51-0E5A-42FE-B697-A07985DB1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6778" y="1935995"/>
                <a:ext cx="708600" cy="53340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ℋ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內容版面配置區 2">
                <a:extLst>
                  <a:ext uri="{FF2B5EF4-FFF2-40B4-BE49-F238E27FC236}">
                    <a16:creationId xmlns:a16="http://schemas.microsoft.com/office/drawing/2014/main" id="{554BFE51-0E5A-42FE-B697-A07985DB1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6778" y="1935995"/>
                <a:ext cx="708600" cy="5334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8AEA13AC-2042-48DD-929A-09CCA4778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462377"/>
              </p:ext>
            </p:extLst>
          </p:nvPr>
        </p:nvGraphicFramePr>
        <p:xfrm>
          <a:off x="384927" y="1897442"/>
          <a:ext cx="1320048" cy="2930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4115956431"/>
                    </a:ext>
                  </a:extLst>
                </a:gridCol>
                <a:gridCol w="660024">
                  <a:extLst>
                    <a:ext uri="{9D8B030D-6E8A-4147-A177-3AD203B41FA5}">
                      <a16:colId xmlns:a16="http://schemas.microsoft.com/office/drawing/2014/main" val="2266751164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631862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17515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637248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2247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839123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292605"/>
                  </a:ext>
                </a:extLst>
              </a:tr>
            </a:tbl>
          </a:graphicData>
        </a:graphic>
      </p:graphicFrame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0F524B8B-19E3-4102-B081-011989B0A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849240"/>
              </p:ext>
            </p:extLst>
          </p:nvPr>
        </p:nvGraphicFramePr>
        <p:xfrm>
          <a:off x="10191750" y="1946881"/>
          <a:ext cx="1320048" cy="2930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4115956431"/>
                    </a:ext>
                  </a:extLst>
                </a:gridCol>
                <a:gridCol w="660024">
                  <a:extLst>
                    <a:ext uri="{9D8B030D-6E8A-4147-A177-3AD203B41FA5}">
                      <a16:colId xmlns:a16="http://schemas.microsoft.com/office/drawing/2014/main" val="2266751164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631862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4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17515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4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637248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2247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839123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29260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AEE9AFC-A78F-460C-8241-EEBB3C78E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28277"/>
              </p:ext>
            </p:extLst>
          </p:nvPr>
        </p:nvGraphicFramePr>
        <p:xfrm>
          <a:off x="3195378" y="2949273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5B7784C-78A6-412B-82C7-7FAAF873A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88097"/>
              </p:ext>
            </p:extLst>
          </p:nvPr>
        </p:nvGraphicFramePr>
        <p:xfrm>
          <a:off x="3195378" y="3913112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4FD70F8-C4DA-403B-A7D0-859A4463C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28174"/>
              </p:ext>
            </p:extLst>
          </p:nvPr>
        </p:nvGraphicFramePr>
        <p:xfrm>
          <a:off x="3195378" y="4876951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EF6A129-007B-48B9-B20B-75698E433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712674"/>
              </p:ext>
            </p:extLst>
          </p:nvPr>
        </p:nvGraphicFramePr>
        <p:xfrm>
          <a:off x="3195378" y="5840790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58F59CE-9B4B-4173-B311-EC7D4CCB7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341805"/>
              </p:ext>
            </p:extLst>
          </p:nvPr>
        </p:nvGraphicFramePr>
        <p:xfrm>
          <a:off x="8629134" y="5520477"/>
          <a:ext cx="3264072" cy="1234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428930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048F58D3-3550-446B-88D7-5DC855FDC52F}"/>
              </a:ext>
            </a:extLst>
          </p:cNvPr>
          <p:cNvSpPr txBox="1"/>
          <p:nvPr/>
        </p:nvSpPr>
        <p:spPr>
          <a:xfrm>
            <a:off x="6890244" y="2450346"/>
            <a:ext cx="380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CD66BD-DF2C-4411-B577-205A3AD04E55}"/>
              </a:ext>
            </a:extLst>
          </p:cNvPr>
          <p:cNvSpPr/>
          <p:nvPr/>
        </p:nvSpPr>
        <p:spPr>
          <a:xfrm>
            <a:off x="4038600" y="1946881"/>
            <a:ext cx="2581275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D2FA060-E3B0-4588-9A58-51522DF26FC7}"/>
                  </a:ext>
                </a:extLst>
              </p:cNvPr>
              <p:cNvSpPr txBox="1"/>
              <p:nvPr/>
            </p:nvSpPr>
            <p:spPr>
              <a:xfrm>
                <a:off x="3977445" y="1464841"/>
                <a:ext cx="27416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BoundedMin(</a:t>
                </a:r>
                <a14:m>
                  <m:oMath xmlns:m="http://schemas.openxmlformats.org/officeDocument/2006/math">
                    <m:r>
                      <a:rPr lang="en-US" altLang="zh-TW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D2FA060-E3B0-4588-9A58-51522DF26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445" y="1464841"/>
                <a:ext cx="2741686" cy="461665"/>
              </a:xfrm>
              <a:prstGeom prst="rect">
                <a:avLst/>
              </a:prstGeom>
              <a:blipFill>
                <a:blip r:embed="rId4"/>
                <a:stretch>
                  <a:fillRect l="-3333" t="-11842" b="-27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A01B0F9-E4D8-4D31-9A44-735F94FC29F2}"/>
                  </a:ext>
                </a:extLst>
              </p:cNvPr>
              <p:cNvSpPr txBox="1"/>
              <p:nvPr/>
            </p:nvSpPr>
            <p:spPr>
              <a:xfrm>
                <a:off x="7549033" y="1454155"/>
                <a:ext cx="44413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DecreasePriority(</a:t>
                </a:r>
                <a14:m>
                  <m:oMath xmlns:m="http://schemas.openxmlformats.org/officeDocument/2006/math">
                    <m:r>
                      <a:rPr lang="en-US" altLang="zh-TW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</a:t>
                </a:r>
                <a:r>
                  <a:rPr lang="en-US" altLang="zh-TW" sz="2400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[j], d)</a:t>
                </a:r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A01B0F9-E4D8-4D31-9A44-735F94FC2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033" y="1454155"/>
                <a:ext cx="4441313" cy="461665"/>
              </a:xfrm>
              <a:prstGeom prst="rect">
                <a:avLst/>
              </a:prstGeom>
              <a:blipFill>
                <a:blip r:embed="rId5"/>
                <a:stretch>
                  <a:fillRect l="-2058" t="-12000" b="-29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7B715099-D047-4F21-A83B-7AC555A3F555}"/>
              </a:ext>
            </a:extLst>
          </p:cNvPr>
          <p:cNvCxnSpPr>
            <a:cxnSpLocks/>
          </p:cNvCxnSpPr>
          <p:nvPr/>
        </p:nvCxnSpPr>
        <p:spPr>
          <a:xfrm flipV="1">
            <a:off x="7270491" y="1837686"/>
            <a:ext cx="278542" cy="77728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7B745FA-FB64-4D8F-9C7D-D043B5679E4B}"/>
              </a:ext>
            </a:extLst>
          </p:cNvPr>
          <p:cNvSpPr/>
          <p:nvPr/>
        </p:nvSpPr>
        <p:spPr>
          <a:xfrm>
            <a:off x="4045537" y="5804029"/>
            <a:ext cx="3431588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B35CA23C-6E0E-4283-9581-A2D9DD2CB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783049"/>
              </p:ext>
            </p:extLst>
          </p:nvPr>
        </p:nvGraphicFramePr>
        <p:xfrm>
          <a:off x="10851774" y="3415998"/>
          <a:ext cx="660024" cy="488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2463922522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7989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E274E9E7-D255-4518-9457-7946584C2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748844"/>
              </p:ext>
            </p:extLst>
          </p:nvPr>
        </p:nvGraphicFramePr>
        <p:xfrm>
          <a:off x="10851774" y="3901017"/>
          <a:ext cx="660024" cy="488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2463922522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7989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DE2E266C-A135-410E-B669-D0B2E84D4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333904"/>
              </p:ext>
            </p:extLst>
          </p:nvPr>
        </p:nvGraphicFramePr>
        <p:xfrm>
          <a:off x="10851774" y="4389362"/>
          <a:ext cx="660024" cy="488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2463922522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7989"/>
                  </a:ext>
                </a:extLst>
              </a:tr>
            </a:tbl>
          </a:graphicData>
        </a:graphic>
      </p:graphicFrame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D9599C47-564E-493D-AF63-D3453152F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02974"/>
              </p:ext>
            </p:extLst>
          </p:nvPr>
        </p:nvGraphicFramePr>
        <p:xfrm>
          <a:off x="4909301" y="4370302"/>
          <a:ext cx="85892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914272766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69324"/>
                  </a:ext>
                </a:extLst>
              </a:tr>
            </a:tbl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BA386F99-7160-4391-BF56-3F21443F82D7}"/>
              </a:ext>
            </a:extLst>
          </p:cNvPr>
          <p:cNvSpPr/>
          <p:nvPr/>
        </p:nvSpPr>
        <p:spPr>
          <a:xfrm>
            <a:off x="4045537" y="4850344"/>
            <a:ext cx="1745663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1C9F69-AB1C-4016-A0BF-FAD53690172E}"/>
              </a:ext>
            </a:extLst>
          </p:cNvPr>
          <p:cNvSpPr/>
          <p:nvPr/>
        </p:nvSpPr>
        <p:spPr>
          <a:xfrm>
            <a:off x="4070594" y="3873198"/>
            <a:ext cx="853832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05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17" grpId="0"/>
      <p:bldP spid="18" grpId="0"/>
      <p:bldP spid="24" grpId="0" animBg="1"/>
      <p:bldP spid="23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59BAB-537B-4EF3-891B-963D7111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D184D18-91AF-4CAF-AD83-DFA8915C02AC}"/>
              </a:ext>
            </a:extLst>
          </p:cNvPr>
          <p:cNvGraphicFramePr>
            <a:graphicFrameLocks noGrp="1"/>
          </p:cNvGraphicFramePr>
          <p:nvPr/>
        </p:nvGraphicFramePr>
        <p:xfrm>
          <a:off x="3057009" y="356528"/>
          <a:ext cx="3264072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D3764C9-AFDF-4828-A652-444B13780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843027"/>
              </p:ext>
            </p:extLst>
          </p:nvPr>
        </p:nvGraphicFramePr>
        <p:xfrm>
          <a:off x="7270491" y="355600"/>
          <a:ext cx="38052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3873365684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TW" sz="240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6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4135109-5D7B-4D18-91E3-F4E0B1A17307}"/>
              </a:ext>
            </a:extLst>
          </p:cNvPr>
          <p:cNvGraphicFramePr>
            <a:graphicFrameLocks noGrp="1"/>
          </p:cNvGraphicFramePr>
          <p:nvPr/>
        </p:nvGraphicFramePr>
        <p:xfrm>
          <a:off x="3195378" y="1985434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內容版面配置區 2">
                <a:extLst>
                  <a:ext uri="{FF2B5EF4-FFF2-40B4-BE49-F238E27FC236}">
                    <a16:creationId xmlns:a16="http://schemas.microsoft.com/office/drawing/2014/main" id="{554BFE51-0E5A-42FE-B697-A07985DB15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86778" y="1935995"/>
                <a:ext cx="708600" cy="53340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ℋ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內容版面配置區 2">
                <a:extLst>
                  <a:ext uri="{FF2B5EF4-FFF2-40B4-BE49-F238E27FC236}">
                    <a16:creationId xmlns:a16="http://schemas.microsoft.com/office/drawing/2014/main" id="{554BFE51-0E5A-42FE-B697-A07985DB15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86778" y="1935995"/>
                <a:ext cx="708600" cy="5334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8AEA13AC-2042-48DD-929A-09CCA4778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177353"/>
              </p:ext>
            </p:extLst>
          </p:nvPr>
        </p:nvGraphicFramePr>
        <p:xfrm>
          <a:off x="384927" y="1897442"/>
          <a:ext cx="1320048" cy="2930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4115956431"/>
                    </a:ext>
                  </a:extLst>
                </a:gridCol>
                <a:gridCol w="660024">
                  <a:extLst>
                    <a:ext uri="{9D8B030D-6E8A-4147-A177-3AD203B41FA5}">
                      <a16:colId xmlns:a16="http://schemas.microsoft.com/office/drawing/2014/main" val="2266751164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631862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4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17515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4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637248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2247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839123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292605"/>
                  </a:ext>
                </a:extLst>
              </a:tr>
            </a:tbl>
          </a:graphicData>
        </a:graphic>
      </p:graphicFrame>
      <p:graphicFrame>
        <p:nvGraphicFramePr>
          <p:cNvPr id="6" name="表格 3">
            <a:extLst>
              <a:ext uri="{FF2B5EF4-FFF2-40B4-BE49-F238E27FC236}">
                <a16:creationId xmlns:a16="http://schemas.microsoft.com/office/drawing/2014/main" id="{0F524B8B-19E3-4102-B081-011989B0A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669938"/>
              </p:ext>
            </p:extLst>
          </p:nvPr>
        </p:nvGraphicFramePr>
        <p:xfrm>
          <a:off x="10191750" y="1946881"/>
          <a:ext cx="1320048" cy="2930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4115956431"/>
                    </a:ext>
                  </a:extLst>
                </a:gridCol>
                <a:gridCol w="660024">
                  <a:extLst>
                    <a:ext uri="{9D8B030D-6E8A-4147-A177-3AD203B41FA5}">
                      <a16:colId xmlns:a16="http://schemas.microsoft.com/office/drawing/2014/main" val="2266751164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631862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4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017515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lang="zh-TW" altLang="en-US" sz="2400" b="0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637248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12247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839123"/>
                  </a:ext>
                </a:extLst>
              </a:tr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TW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29260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AEE9AFC-A78F-460C-8241-EEBB3C78E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698690"/>
              </p:ext>
            </p:extLst>
          </p:nvPr>
        </p:nvGraphicFramePr>
        <p:xfrm>
          <a:off x="3195378" y="2949273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5B7784C-78A6-412B-82C7-7FAAF873A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490585"/>
              </p:ext>
            </p:extLst>
          </p:nvPr>
        </p:nvGraphicFramePr>
        <p:xfrm>
          <a:off x="3195378" y="3913112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4FD70F8-C4DA-403B-A7D0-859A4463C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4741"/>
              </p:ext>
            </p:extLst>
          </p:nvPr>
        </p:nvGraphicFramePr>
        <p:xfrm>
          <a:off x="3195378" y="4876951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EF6A129-007B-48B9-B20B-75698E433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196044"/>
              </p:ext>
            </p:extLst>
          </p:nvPr>
        </p:nvGraphicFramePr>
        <p:xfrm>
          <a:off x="3195378" y="5840790"/>
          <a:ext cx="5153544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TW" sz="2400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CEB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CCCD66BD-DF2C-4411-B577-205A3AD04E55}"/>
              </a:ext>
            </a:extLst>
          </p:cNvPr>
          <p:cNvSpPr/>
          <p:nvPr/>
        </p:nvSpPr>
        <p:spPr>
          <a:xfrm>
            <a:off x="4038600" y="1946881"/>
            <a:ext cx="2581275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1C9F69-AB1C-4016-A0BF-FAD53690172E}"/>
              </a:ext>
            </a:extLst>
          </p:cNvPr>
          <p:cNvSpPr/>
          <p:nvPr/>
        </p:nvSpPr>
        <p:spPr>
          <a:xfrm>
            <a:off x="4070594" y="3873198"/>
            <a:ext cx="853832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386F99-7160-4391-BF56-3F21443F82D7}"/>
              </a:ext>
            </a:extLst>
          </p:cNvPr>
          <p:cNvSpPr/>
          <p:nvPr/>
        </p:nvSpPr>
        <p:spPr>
          <a:xfrm>
            <a:off x="4045537" y="4850344"/>
            <a:ext cx="1745663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B745FA-FB64-4D8F-9C7D-D043B5679E4B}"/>
              </a:ext>
            </a:extLst>
          </p:cNvPr>
          <p:cNvSpPr/>
          <p:nvPr/>
        </p:nvSpPr>
        <p:spPr>
          <a:xfrm>
            <a:off x="4045537" y="5804029"/>
            <a:ext cx="3431588" cy="533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DE2E266C-A135-410E-B669-D0B2E84D4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750756"/>
              </p:ext>
            </p:extLst>
          </p:nvPr>
        </p:nvGraphicFramePr>
        <p:xfrm>
          <a:off x="10851774" y="4387549"/>
          <a:ext cx="660024" cy="488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0024">
                  <a:extLst>
                    <a:ext uri="{9D8B030D-6E8A-4147-A177-3AD203B41FA5}">
                      <a16:colId xmlns:a16="http://schemas.microsoft.com/office/drawing/2014/main" val="2463922522"/>
                    </a:ext>
                  </a:extLst>
                </a:gridCol>
              </a:tblGrid>
              <a:tr h="488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7989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80DAFFA-9C86-46D0-971B-7C8F2D971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924670"/>
              </p:ext>
            </p:extLst>
          </p:nvPr>
        </p:nvGraphicFramePr>
        <p:xfrm>
          <a:off x="8629134" y="5520477"/>
          <a:ext cx="3264072" cy="1234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42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99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DF248-4987-4EF5-ACF8-039652F42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9475" y="682625"/>
            <a:ext cx="2124075" cy="479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70DF933-A936-47ED-9FFB-C6EE88B6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LCIS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A2ED91-9452-45A2-9EE5-CBC6FE9F6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371" y="94784"/>
            <a:ext cx="5401429" cy="666843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1F0B06B-1755-44D9-B736-7DC0FC8A1897}"/>
              </a:ext>
            </a:extLst>
          </p:cNvPr>
          <p:cNvSpPr/>
          <p:nvPr/>
        </p:nvSpPr>
        <p:spPr>
          <a:xfrm>
            <a:off x="6219825" y="365125"/>
            <a:ext cx="4057650" cy="196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4EBE8A0-67EF-4436-AFD7-34177585D88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457825" y="463550"/>
            <a:ext cx="762000" cy="3175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661AD41-82B6-43C4-AACC-B2EF9172A97B}"/>
              </a:ext>
            </a:extLst>
          </p:cNvPr>
          <p:cNvSpPr/>
          <p:nvPr/>
        </p:nvSpPr>
        <p:spPr>
          <a:xfrm>
            <a:off x="6219824" y="1327150"/>
            <a:ext cx="5133975" cy="353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1CCF4199-5188-4937-BB1E-7FB9C66DD610}"/>
              </a:ext>
            </a:extLst>
          </p:cNvPr>
          <p:cNvSpPr txBox="1">
            <a:spLocks/>
          </p:cNvSpPr>
          <p:nvPr/>
        </p:nvSpPr>
        <p:spPr>
          <a:xfrm>
            <a:off x="3204407" y="2216150"/>
            <a:ext cx="2124075" cy="47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57B6CE9-817B-4749-8006-C9B1598C043E}"/>
              </a:ext>
            </a:extLst>
          </p:cNvPr>
          <p:cNvCxnSpPr>
            <a:cxnSpLocks/>
          </p:cNvCxnSpPr>
          <p:nvPr/>
        </p:nvCxnSpPr>
        <p:spPr>
          <a:xfrm flipH="1" flipV="1">
            <a:off x="5324098" y="2455863"/>
            <a:ext cx="895725" cy="285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6B37CA7C-F0B4-4644-AC5E-61325FF46559}"/>
              </a:ext>
            </a:extLst>
          </p:cNvPr>
          <p:cNvSpPr/>
          <p:nvPr/>
        </p:nvSpPr>
        <p:spPr>
          <a:xfrm>
            <a:off x="6219823" y="4886324"/>
            <a:ext cx="5133975" cy="1606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A21A2912-C363-4631-9CC4-6EC59DB30651}"/>
              </a:ext>
            </a:extLst>
          </p:cNvPr>
          <p:cNvSpPr txBox="1">
            <a:spLocks/>
          </p:cNvSpPr>
          <p:nvPr/>
        </p:nvSpPr>
        <p:spPr>
          <a:xfrm>
            <a:off x="3163738" y="5354638"/>
            <a:ext cx="2124075" cy="47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7DF2B0C-58C0-4DCD-83D8-741C2A01663C}"/>
              </a:ext>
            </a:extLst>
          </p:cNvPr>
          <p:cNvCxnSpPr>
            <a:cxnSpLocks/>
          </p:cNvCxnSpPr>
          <p:nvPr/>
        </p:nvCxnSpPr>
        <p:spPr>
          <a:xfrm flipH="1" flipV="1">
            <a:off x="5299908" y="5594351"/>
            <a:ext cx="895725" cy="285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5AE45818-17FF-4384-A138-E26086EA81C5}"/>
              </a:ext>
            </a:extLst>
          </p:cNvPr>
          <p:cNvSpPr/>
          <p:nvPr/>
        </p:nvSpPr>
        <p:spPr>
          <a:xfrm>
            <a:off x="6630153" y="2933697"/>
            <a:ext cx="3009148" cy="23653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593AE0AD-F474-43D5-8390-91622580E005}"/>
              </a:ext>
            </a:extLst>
          </p:cNvPr>
          <p:cNvCxnSpPr>
            <a:cxnSpLocks/>
          </p:cNvCxnSpPr>
          <p:nvPr/>
        </p:nvCxnSpPr>
        <p:spPr>
          <a:xfrm flipH="1">
            <a:off x="5532868" y="3054582"/>
            <a:ext cx="1057489" cy="61730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F24ACA87-8695-40AF-B641-16750C95F5C2}"/>
              </a:ext>
            </a:extLst>
          </p:cNvPr>
          <p:cNvSpPr txBox="1">
            <a:spLocks/>
          </p:cNvSpPr>
          <p:nvPr/>
        </p:nvSpPr>
        <p:spPr>
          <a:xfrm>
            <a:off x="3457576" y="3345423"/>
            <a:ext cx="2638424" cy="951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Naïve: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y-fast: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6D3B493-08D5-4C9F-A263-169281866C3C}"/>
              </a:ext>
            </a:extLst>
          </p:cNvPr>
          <p:cNvSpPr txBox="1"/>
          <p:nvPr/>
        </p:nvSpPr>
        <p:spPr>
          <a:xfrm>
            <a:off x="369093" y="4653429"/>
            <a:ext cx="4221958" cy="1938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+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)loglog σ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Sort</a:t>
            </a:r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endParaRPr lang="en-US" altLang="zh-TW" sz="2400" i="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Space complexity:</a:t>
            </a:r>
          </a:p>
          <a:p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with Hirschberg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EB3685B-456A-4201-A899-F931B0830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40"/>
              </p:ext>
            </p:extLst>
          </p:nvPr>
        </p:nvGraphicFramePr>
        <p:xfrm>
          <a:off x="153708" y="3240402"/>
          <a:ext cx="3264072" cy="12347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4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</a:t>
                      </a:r>
                      <a:endParaRPr lang="zh-TW" altLang="en-US" sz="16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7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42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87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AFEBAC-A1A2-4118-B4C2-CBE5C088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Weakly-increasing Subsequence (LCWIS)</a:t>
            </a:r>
            <a:endParaRPr lang="zh-TW" altLang="en-US" sz="40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3987AB7-F21E-4DCF-9124-E4F9784F1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A = {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b,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c,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d, a }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B = { d, c,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b, c,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a }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LCWIS(A,B) = { a, a, a, b, b }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use the LCIS algorithm: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+ 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)loglog σ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Sort</a:t>
            </a:r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TW" sz="2400" i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two special cases of LCWIS: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2-letter: O(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3-letter: O(min{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m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+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})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4430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3C4EDE-FF87-4F33-BBC3-1FAFADFD9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Alphabet 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Σ = {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α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γ</a:t>
            </a:r>
            <a:r>
              <a:rPr lang="el-GR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}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&lt;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&lt;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γ</a:t>
            </a:r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l-GR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α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l-GR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l-GR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γ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：到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以前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含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有幾個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γ</a:t>
            </a:r>
            <a:endParaRPr lang="en-US" altLang="zh-TW" sz="2400" baseline="-25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l-GR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α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l-GR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… ,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,</a:t>
            </a:r>
            <a:r>
              <a:rPr lang="el-GR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γ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：第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個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,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γ</a:t>
            </a:r>
            <a:r>
              <a:rPr lang="zh-TW" altLang="en-US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出現的位置</a:t>
            </a:r>
            <a:endParaRPr lang="en-US" altLang="zh-TW" sz="2400" baseline="-25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2400" i="1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D8C91834-48B1-4CFA-8E82-A1E98763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802608"/>
              </p:ext>
            </p:extLst>
          </p:nvPr>
        </p:nvGraphicFramePr>
        <p:xfrm>
          <a:off x="838199" y="3474267"/>
          <a:ext cx="99865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7685">
                  <a:extLst>
                    <a:ext uri="{9D8B030D-6E8A-4147-A177-3AD203B41FA5}">
                      <a16:colId xmlns:a16="http://schemas.microsoft.com/office/drawing/2014/main" val="2250155663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255360993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142763975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457040405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280587139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995120631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808080786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697215396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3442055767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2919223528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839096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32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38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γ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77098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F7CF719-5717-4DFF-AED8-8F501BFB5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559423"/>
              </p:ext>
            </p:extLst>
          </p:nvPr>
        </p:nvGraphicFramePr>
        <p:xfrm>
          <a:off x="838199" y="5029291"/>
          <a:ext cx="9986545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7685">
                  <a:extLst>
                    <a:ext uri="{9D8B030D-6E8A-4147-A177-3AD203B41FA5}">
                      <a16:colId xmlns:a16="http://schemas.microsoft.com/office/drawing/2014/main" val="2706728568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580840477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908978760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276948263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2072613239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3892245098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3750061136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2291408835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988147055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626964800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2928285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Num</a:t>
                      </a:r>
                      <a:r>
                        <a:rPr lang="en-US" altLang="zh-TW" sz="2400" i="1" baseline="-250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el-GR" altLang="zh-TW" sz="2400" i="1" baseline="-25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α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66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Pos</a:t>
                      </a:r>
                      <a:r>
                        <a:rPr lang="en-US" altLang="zh-TW" sz="2400" i="1" baseline="-250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</a:t>
                      </a:r>
                      <a:r>
                        <a:rPr lang="en-US" altLang="zh-TW" sz="2400" baseline="-25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el-GR" altLang="zh-TW" sz="2400" i="1" baseline="-2500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α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096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936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2-letter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D8C91834-48B1-4CFA-8E82-A1E98763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257951"/>
              </p:ext>
            </p:extLst>
          </p:nvPr>
        </p:nvGraphicFramePr>
        <p:xfrm>
          <a:off x="838200" y="2116183"/>
          <a:ext cx="99865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7685">
                  <a:extLst>
                    <a:ext uri="{9D8B030D-6E8A-4147-A177-3AD203B41FA5}">
                      <a16:colId xmlns:a16="http://schemas.microsoft.com/office/drawing/2014/main" val="2250155663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255360993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142763975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457040405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280587139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1995120631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808080786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697215396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3442055767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2919223528"/>
                    </a:ext>
                  </a:extLst>
                </a:gridCol>
                <a:gridCol w="890886">
                  <a:extLst>
                    <a:ext uri="{9D8B030D-6E8A-4147-A177-3AD203B41FA5}">
                      <a16:colId xmlns:a16="http://schemas.microsoft.com/office/drawing/2014/main" val="839096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328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8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β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zh-TW" altLang="en-US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770987"/>
                  </a:ext>
                </a:extLst>
              </a:tr>
            </a:tbl>
          </a:graphicData>
        </a:graphic>
      </p:graphicFrame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8732AAF-6CC0-4EAB-8351-564951F7D56F}"/>
              </a:ext>
            </a:extLst>
          </p:cNvPr>
          <p:cNvSpPr txBox="1">
            <a:spLocks/>
          </p:cNvSpPr>
          <p:nvPr/>
        </p:nvSpPr>
        <p:spPr>
          <a:xfrm>
            <a:off x="838200" y="3840480"/>
            <a:ext cx="10515600" cy="26523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α</a:t>
            </a:r>
            <a:r>
              <a:rPr lang="en-US" altLang="zh-TW" sz="2400" baseline="30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i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en-US" altLang="zh-TW" sz="2400" i="1" baseline="30000" dirty="0">
                <a:latin typeface="Times New Roman" panose="02020603050405020304" pitchFamily="18" charset="0"/>
                <a:ea typeface="標楷體" panose="03000509000000000000" pitchFamily="65" charset="-120"/>
              </a:rPr>
              <a:t>*</a:t>
            </a:r>
            <a:r>
              <a:rPr lang="zh-TW" altLang="en-US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只要知道 </a:t>
            </a:r>
            <a:r>
              <a:rPr lang="el-GR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α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就能得到對應的 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數量：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min(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-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]] ,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-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]])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min(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– 1 , 5 – 0) = 4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l-GR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ββββ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min( 5 – 1 , 5 – 1) = 4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l-GR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αα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ββββ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BC209D8-C2C1-4406-BCDB-C88465790BC4}"/>
              </a:ext>
            </a:extLst>
          </p:cNvPr>
          <p:cNvCxnSpPr/>
          <p:nvPr/>
        </p:nvCxnSpPr>
        <p:spPr>
          <a:xfrm>
            <a:off x="2029097" y="1560060"/>
            <a:ext cx="849085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646017F-90C2-429A-A266-02BB434594D0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2029097" y="1885407"/>
            <a:ext cx="236655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42F2C297-850D-475D-A060-1DA30C817CA2}"/>
              </a:ext>
            </a:extLst>
          </p:cNvPr>
          <p:cNvSpPr txBox="1">
            <a:spLocks/>
          </p:cNvSpPr>
          <p:nvPr/>
        </p:nvSpPr>
        <p:spPr>
          <a:xfrm>
            <a:off x="10519954" y="1294178"/>
            <a:ext cx="1456509" cy="469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3B14D400-B073-4379-86A1-9D9F6861EF46}"/>
              </a:ext>
            </a:extLst>
          </p:cNvPr>
          <p:cNvSpPr txBox="1">
            <a:spLocks/>
          </p:cNvSpPr>
          <p:nvPr/>
        </p:nvSpPr>
        <p:spPr>
          <a:xfrm>
            <a:off x="4395652" y="1650752"/>
            <a:ext cx="2566851" cy="469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2]]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47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11AE82-4E98-4635-A14F-D3A330E66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3" y="1368610"/>
            <a:ext cx="5388725" cy="22868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1707D7C5-B347-42F2-BE47-908A14B31E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20404"/>
                <a:ext cx="5083629" cy="13255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l-GR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α</a:t>
                </a:r>
                <a:r>
                  <a:rPr lang="en-US" altLang="zh-TW" sz="2400" baseline="30000" dirty="0" err="1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i</a:t>
                </a:r>
                <a:r>
                  <a:rPr lang="el-GR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β</a:t>
                </a:r>
                <a:r>
                  <a:rPr lang="en-US" altLang="zh-TW" sz="2400" i="1" baseline="30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*</a:t>
                </a:r>
                <a:r>
                  <a:rPr lang="el-GR" altLang="zh-TW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γ</a:t>
                </a:r>
                <a:r>
                  <a:rPr lang="en-US" altLang="zh-TW" sz="2400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j</a:t>
                </a:r>
                <a:r>
                  <a:rPr lang="zh-TW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透過 </a:t>
                </a:r>
                <a:r>
                  <a:rPr lang="el-GR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α</a:t>
                </a:r>
                <a:r>
                  <a:rPr lang="zh-TW" altLang="en-US" sz="2400" i="1" baseline="300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el-GR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β</a:t>
                </a:r>
                <a:r>
                  <a:rPr lang="zh-TW" altLang="en-US" sz="2400" i="1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 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可以得到關係圖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zh-TW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並根據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𝑓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𝑡</m:t>
                        </m:r>
                      </m:sup>
                    </m:sSubSup>
                    <m:r>
                      <a:rPr lang="zh-TW" altLang="en-US" sz="240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與</m:t>
                    </m:r>
                  </m:oMath>
                </a14:m>
                <a:r>
                  <a:rPr lang="zh-TW" alt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l-GR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γ</a:t>
                </a:r>
                <a:r>
                  <a:rPr lang="en-US" altLang="zh-TW" sz="2400" baseline="30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j</a:t>
                </a:r>
                <a:r>
                  <a:rPr lang="zh-TW" altLang="en-US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得到答案</a:t>
                </a:r>
                <a:endParaRPr lang="zh-TW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1707D7C5-B347-42F2-BE47-908A14B31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20404"/>
                <a:ext cx="5083629" cy="1325563"/>
              </a:xfrm>
              <a:prstGeom prst="rect">
                <a:avLst/>
              </a:prstGeom>
              <a:blipFill>
                <a:blip r:embed="rId3"/>
                <a:stretch>
                  <a:fillRect l="-1921" t="-6422" b="-68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1D8ABC94-61D5-47E8-ACAA-ED0E307C4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419" y="4061497"/>
            <a:ext cx="5481479" cy="2550080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0AF727BB-8A17-4D80-A984-9C97B6F8C80C}"/>
              </a:ext>
            </a:extLst>
          </p:cNvPr>
          <p:cNvSpPr txBox="1">
            <a:spLocks/>
          </p:cNvSpPr>
          <p:nvPr/>
        </p:nvSpPr>
        <p:spPr>
          <a:xfrm>
            <a:off x="838200" y="4197992"/>
            <a:ext cx="5083629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 = |x – y|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Split point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後面多了幾個 </a:t>
            </a:r>
            <a:r>
              <a:rPr lang="el-GR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β</a:t>
            </a:r>
            <a:r>
              <a:rPr lang="zh-TW" altLang="en-US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可以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給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prefix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使用</a:t>
            </a: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A1DCB6D-66D0-4684-9999-DF04B9B612D1}"/>
              </a:ext>
            </a:extLst>
          </p:cNvPr>
          <p:cNvSpPr txBox="1">
            <a:spLocks/>
          </p:cNvSpPr>
          <p:nvPr/>
        </p:nvSpPr>
        <p:spPr>
          <a:xfrm>
            <a:off x="8631433" y="6163196"/>
            <a:ext cx="333102" cy="421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6C8CE88B-A0BF-4344-9153-3E6A5B2F1310}"/>
              </a:ext>
            </a:extLst>
          </p:cNvPr>
          <p:cNvSpPr txBox="1">
            <a:spLocks/>
          </p:cNvSpPr>
          <p:nvPr/>
        </p:nvSpPr>
        <p:spPr>
          <a:xfrm>
            <a:off x="11325796" y="6163196"/>
            <a:ext cx="333102" cy="421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38579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CD40CBD0-185D-4E67-8616-C4C37A8316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6906430"/>
              </p:ext>
            </p:extLst>
          </p:nvPr>
        </p:nvGraphicFramePr>
        <p:xfrm>
          <a:off x="7957568" y="28654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8" name="群組 57">
            <a:extLst>
              <a:ext uri="{FF2B5EF4-FFF2-40B4-BE49-F238E27FC236}">
                <a16:creationId xmlns:a16="http://schemas.microsoft.com/office/drawing/2014/main" id="{FE42BEC2-B368-44CE-B7D2-3C89013E99FE}"/>
              </a:ext>
            </a:extLst>
          </p:cNvPr>
          <p:cNvGrpSpPr/>
          <p:nvPr/>
        </p:nvGrpSpPr>
        <p:grpSpPr>
          <a:xfrm>
            <a:off x="7148915" y="2453901"/>
            <a:ext cx="4013919" cy="2262540"/>
            <a:chOff x="6654593" y="3277034"/>
            <a:chExt cx="4013919" cy="2262540"/>
          </a:xfrm>
        </p:grpSpPr>
        <p:graphicFrame>
          <p:nvGraphicFramePr>
            <p:cNvPr id="8" name="圖表 7">
              <a:extLst>
                <a:ext uri="{FF2B5EF4-FFF2-40B4-BE49-F238E27FC236}">
                  <a16:creationId xmlns:a16="http://schemas.microsoft.com/office/drawing/2014/main" id="{C2E15949-074D-4EC6-B0A4-C5EBCAF1B72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04945601"/>
                </p:ext>
              </p:extLst>
            </p:nvPr>
          </p:nvGraphicFramePr>
          <p:xfrm>
            <a:off x="7463246" y="3277034"/>
            <a:ext cx="3205266" cy="18723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B658896C-9F66-4DE7-979A-6DE2662015AE}"/>
                </a:ext>
              </a:extLst>
            </p:cNvPr>
            <p:cNvSpPr txBox="1"/>
            <p:nvPr/>
          </p:nvSpPr>
          <p:spPr>
            <a:xfrm>
              <a:off x="6654593" y="399009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7DAAC40-E970-4BF8-9809-92CA1D3C89BB}"/>
                </a:ext>
              </a:extLst>
            </p:cNvPr>
            <p:cNvSpPr txBox="1"/>
            <p:nvPr/>
          </p:nvSpPr>
          <p:spPr>
            <a:xfrm>
              <a:off x="6654593" y="346792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q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25C81D68-2F68-461E-9234-8C0908EE4A9E}"/>
                </a:ext>
              </a:extLst>
            </p:cNvPr>
            <p:cNvSpPr txBox="1"/>
            <p:nvPr/>
          </p:nvSpPr>
          <p:spPr>
            <a:xfrm>
              <a:off x="8161433" y="5077909"/>
              <a:ext cx="965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</a:t>
              </a:r>
              <a:r>
                <a: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－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1" name="圖表 60">
            <a:extLst>
              <a:ext uri="{FF2B5EF4-FFF2-40B4-BE49-F238E27FC236}">
                <a16:creationId xmlns:a16="http://schemas.microsoft.com/office/drawing/2014/main" id="{3CD36C2F-135D-4D61-902B-699DC315A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3655177"/>
              </p:ext>
            </p:extLst>
          </p:nvPr>
        </p:nvGraphicFramePr>
        <p:xfrm>
          <a:off x="7957567" y="4726025"/>
          <a:ext cx="3204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1AA1D08-CA9C-4CB2-9D6A-671DDBFD0FE3}"/>
              </a:ext>
            </a:extLst>
          </p:cNvPr>
          <p:cNvCxnSpPr>
            <a:cxnSpLocks/>
          </p:cNvCxnSpPr>
          <p:nvPr/>
        </p:nvCxnSpPr>
        <p:spPr>
          <a:xfrm flipV="1">
            <a:off x="5603208" y="3988699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3A227B0-630C-41C2-9ADC-73A530DA7345}"/>
              </a:ext>
            </a:extLst>
          </p:cNvPr>
          <p:cNvCxnSpPr>
            <a:cxnSpLocks/>
          </p:cNvCxnSpPr>
          <p:nvPr/>
        </p:nvCxnSpPr>
        <p:spPr>
          <a:xfrm flipV="1">
            <a:off x="5692919" y="1644313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03B9216F-4B5C-4237-8A07-8F8ED24EEAF1}"/>
              </a:ext>
            </a:extLst>
          </p:cNvPr>
          <p:cNvSpPr txBox="1"/>
          <p:nvPr/>
        </p:nvSpPr>
        <p:spPr>
          <a:xfrm>
            <a:off x="2290352" y="3623788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37DABE6-2F87-41E2-BFA0-879CD0A04A69}"/>
              </a:ext>
            </a:extLst>
          </p:cNvPr>
          <p:cNvSpPr txBox="1"/>
          <p:nvPr/>
        </p:nvSpPr>
        <p:spPr>
          <a:xfrm>
            <a:off x="2285809" y="6145452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AC93B9E9-C3CC-4042-8A80-863F6894BFD6}"/>
              </a:ext>
            </a:extLst>
          </p:cNvPr>
          <p:cNvCxnSpPr/>
          <p:nvPr/>
        </p:nvCxnSpPr>
        <p:spPr>
          <a:xfrm>
            <a:off x="522514" y="2653504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5A7FC36-B1B5-4775-B874-9EE78F1A3E94}"/>
              </a:ext>
            </a:extLst>
          </p:cNvPr>
          <p:cNvCxnSpPr/>
          <p:nvPr/>
        </p:nvCxnSpPr>
        <p:spPr>
          <a:xfrm>
            <a:off x="522513" y="3697360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08A905BC-5443-483E-89ED-2CE459976D64}"/>
              </a:ext>
            </a:extLst>
          </p:cNvPr>
          <p:cNvCxnSpPr/>
          <p:nvPr/>
        </p:nvCxnSpPr>
        <p:spPr>
          <a:xfrm>
            <a:off x="522513" y="4218807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47861D50-3487-4A0F-B605-F41002BFCA53}"/>
              </a:ext>
            </a:extLst>
          </p:cNvPr>
          <p:cNvCxnSpPr/>
          <p:nvPr/>
        </p:nvCxnSpPr>
        <p:spPr>
          <a:xfrm>
            <a:off x="484359" y="6235909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8">
                <a:extLst>
                  <a:ext uri="{FF2B5EF4-FFF2-40B4-BE49-F238E27FC236}">
                    <a16:creationId xmlns:a16="http://schemas.microsoft.com/office/drawing/2014/main" id="{4542F354-593F-40E8-855A-AE78868EB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4518332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8">
                <a:extLst>
                  <a:ext uri="{FF2B5EF4-FFF2-40B4-BE49-F238E27FC236}">
                    <a16:creationId xmlns:a16="http://schemas.microsoft.com/office/drawing/2014/main" id="{4542F354-593F-40E8-855A-AE78868EB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4518332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90000" t="-8197" r="-302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14286" t="-8197" r="-2081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8197" r="-104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05801A8E-73F5-481C-8CE2-E47451CEAC0F}"/>
              </a:ext>
            </a:extLst>
          </p:cNvPr>
          <p:cNvCxnSpPr>
            <a:cxnSpLocks/>
          </p:cNvCxnSpPr>
          <p:nvPr/>
        </p:nvCxnSpPr>
        <p:spPr>
          <a:xfrm>
            <a:off x="2107266" y="1395708"/>
            <a:ext cx="0" cy="129726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8">
                <a:extLst>
                  <a:ext uri="{FF2B5EF4-FFF2-40B4-BE49-F238E27FC236}">
                    <a16:creationId xmlns:a16="http://schemas.microsoft.com/office/drawing/2014/main" id="{509A3541-C929-420C-BD2D-859B096CB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402863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8">
                <a:extLst>
                  <a:ext uri="{FF2B5EF4-FFF2-40B4-BE49-F238E27FC236}">
                    <a16:creationId xmlns:a16="http://schemas.microsoft.com/office/drawing/2014/main" id="{509A3541-C929-420C-BD2D-859B096CB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402863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90000" t="-8197" r="-302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14286" t="-8197" r="-208163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8197" r="-104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2000" t="-108197" r="-500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108197" r="-104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16327" t="-108197" r="-612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287CCDBB-4EA5-43FE-B778-F70681A96D89}"/>
              </a:ext>
            </a:extLst>
          </p:cNvPr>
          <p:cNvCxnSpPr>
            <a:cxnSpLocks/>
          </p:cNvCxnSpPr>
          <p:nvPr/>
        </p:nvCxnSpPr>
        <p:spPr>
          <a:xfrm>
            <a:off x="2697685" y="2487990"/>
            <a:ext cx="1" cy="71325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4A94AB46-30E6-4BDB-AFA4-CE8F741FC09F}"/>
              </a:ext>
            </a:extLst>
          </p:cNvPr>
          <p:cNvCxnSpPr>
            <a:cxnSpLocks/>
          </p:cNvCxnSpPr>
          <p:nvPr/>
        </p:nvCxnSpPr>
        <p:spPr>
          <a:xfrm>
            <a:off x="2419009" y="3140737"/>
            <a:ext cx="0" cy="58275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B6127FDD-0D63-41B3-A981-4CC7B8E03339}"/>
              </a:ext>
            </a:extLst>
          </p:cNvPr>
          <p:cNvCxnSpPr>
            <a:cxnSpLocks/>
          </p:cNvCxnSpPr>
          <p:nvPr/>
        </p:nvCxnSpPr>
        <p:spPr>
          <a:xfrm>
            <a:off x="2384173" y="3176971"/>
            <a:ext cx="31351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8">
                <a:extLst>
                  <a:ext uri="{FF2B5EF4-FFF2-40B4-BE49-F238E27FC236}">
                    <a16:creationId xmlns:a16="http://schemas.microsoft.com/office/drawing/2014/main" id="{9DA3A792-B540-4020-A682-082003D6A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747229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8">
                <a:extLst>
                  <a:ext uri="{FF2B5EF4-FFF2-40B4-BE49-F238E27FC236}">
                    <a16:creationId xmlns:a16="http://schemas.microsoft.com/office/drawing/2014/main" id="{9DA3A792-B540-4020-A682-082003D6AD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9747229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90000" t="-6452" r="-302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14286" t="-6452" r="-208163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6452" r="-104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9" name="群組 58">
            <a:extLst>
              <a:ext uri="{FF2B5EF4-FFF2-40B4-BE49-F238E27FC236}">
                <a16:creationId xmlns:a16="http://schemas.microsoft.com/office/drawing/2014/main" id="{47BAC3BC-C47C-4B40-899E-304911B95098}"/>
              </a:ext>
            </a:extLst>
          </p:cNvPr>
          <p:cNvGrpSpPr/>
          <p:nvPr/>
        </p:nvGrpSpPr>
        <p:grpSpPr>
          <a:xfrm>
            <a:off x="1219008" y="4262301"/>
            <a:ext cx="4212167" cy="1930115"/>
            <a:chOff x="1471746" y="3248361"/>
            <a:chExt cx="4212167" cy="1930115"/>
          </a:xfrm>
        </p:grpSpPr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5C195128-E7A3-43F7-83A9-D3437B1E2DCE}"/>
                </a:ext>
              </a:extLst>
            </p:cNvPr>
            <p:cNvCxnSpPr>
              <a:cxnSpLocks/>
            </p:cNvCxnSpPr>
            <p:nvPr/>
          </p:nvCxnSpPr>
          <p:spPr>
            <a:xfrm>
              <a:off x="1785257" y="3736152"/>
              <a:ext cx="612718" cy="1274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82FEDBC1-FF14-4133-913B-F696E980D783}"/>
                </a:ext>
              </a:extLst>
            </p:cNvPr>
            <p:cNvCxnSpPr>
              <a:cxnSpLocks/>
            </p:cNvCxnSpPr>
            <p:nvPr/>
          </p:nvCxnSpPr>
          <p:spPr>
            <a:xfrm>
              <a:off x="3322298" y="3736152"/>
              <a:ext cx="144148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D4969874-07DF-4717-8CF7-E31CFAA49B63}"/>
                </a:ext>
              </a:extLst>
            </p:cNvPr>
            <p:cNvCxnSpPr>
              <a:cxnSpLocks/>
            </p:cNvCxnSpPr>
            <p:nvPr/>
          </p:nvCxnSpPr>
          <p:spPr>
            <a:xfrm>
              <a:off x="4782930" y="3736152"/>
              <a:ext cx="487487" cy="3921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5566C70A-84D9-481F-93D8-E2499B275D4A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46" y="4716386"/>
              <a:ext cx="905274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ABE8D03E-1D7A-4970-8DC2-F46146782786}"/>
                </a:ext>
              </a:extLst>
            </p:cNvPr>
            <p:cNvCxnSpPr>
              <a:cxnSpLocks/>
            </p:cNvCxnSpPr>
            <p:nvPr/>
          </p:nvCxnSpPr>
          <p:spPr>
            <a:xfrm>
              <a:off x="2377020" y="4716386"/>
              <a:ext cx="212095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>
              <a:extLst>
                <a:ext uri="{FF2B5EF4-FFF2-40B4-BE49-F238E27FC236}">
                  <a16:creationId xmlns:a16="http://schemas.microsoft.com/office/drawing/2014/main" id="{84407DA5-7788-4DD0-933E-30D6403008C2}"/>
                </a:ext>
              </a:extLst>
            </p:cNvPr>
            <p:cNvCxnSpPr>
              <a:cxnSpLocks/>
            </p:cNvCxnSpPr>
            <p:nvPr/>
          </p:nvCxnSpPr>
          <p:spPr>
            <a:xfrm>
              <a:off x="4537355" y="4716386"/>
              <a:ext cx="539932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AE871EB3-001F-48D9-93AD-DF11C8560487}"/>
                </a:ext>
              </a:extLst>
            </p:cNvPr>
            <p:cNvCxnSpPr>
              <a:cxnSpLocks/>
            </p:cNvCxnSpPr>
            <p:nvPr/>
          </p:nvCxnSpPr>
          <p:spPr>
            <a:xfrm>
              <a:off x="5077287" y="4716386"/>
              <a:ext cx="60662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74426FFE-AF4A-495D-9D63-49D7FAEFAA07}"/>
                </a:ext>
              </a:extLst>
            </p:cNvPr>
            <p:cNvSpPr txBox="1"/>
            <p:nvPr/>
          </p:nvSpPr>
          <p:spPr>
            <a:xfrm>
              <a:off x="1906753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E6B60A6B-F3A3-4092-ACA5-4A7CC3BCBFC5}"/>
                </a:ext>
              </a:extLst>
            </p:cNvPr>
            <p:cNvSpPr txBox="1"/>
            <p:nvPr/>
          </p:nvSpPr>
          <p:spPr>
            <a:xfrm>
              <a:off x="1767628" y="471681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01F97C11-96AE-412B-A96A-F5D651AEFE94}"/>
                </a:ext>
              </a:extLst>
            </p:cNvPr>
            <p:cNvSpPr txBox="1"/>
            <p:nvPr/>
          </p:nvSpPr>
          <p:spPr>
            <a:xfrm>
              <a:off x="2642088" y="3253832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A619DC65-F9A0-4F13-A65A-F62DC87EDC44}"/>
                </a:ext>
              </a:extLst>
            </p:cNvPr>
            <p:cNvSpPr txBox="1"/>
            <p:nvPr/>
          </p:nvSpPr>
          <p:spPr>
            <a:xfrm>
              <a:off x="3229197" y="466984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8846C806-E86D-48A8-8BB7-ACC86470992B}"/>
                </a:ext>
              </a:extLst>
            </p:cNvPr>
            <p:cNvSpPr txBox="1"/>
            <p:nvPr/>
          </p:nvSpPr>
          <p:spPr>
            <a:xfrm>
              <a:off x="3678124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002BAF04-169B-48F1-A857-D82200C9920E}"/>
                </a:ext>
              </a:extLst>
            </p:cNvPr>
            <p:cNvSpPr txBox="1"/>
            <p:nvPr/>
          </p:nvSpPr>
          <p:spPr>
            <a:xfrm>
              <a:off x="4637311" y="469195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9C9C304D-9657-4E72-8CE2-AEDC0ACB2C7E}"/>
                </a:ext>
              </a:extLst>
            </p:cNvPr>
            <p:cNvSpPr txBox="1"/>
            <p:nvPr/>
          </p:nvSpPr>
          <p:spPr>
            <a:xfrm>
              <a:off x="4896082" y="324836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59C6398C-5ECB-4F7B-9A2A-B43C797E5BBF}"/>
                </a:ext>
              </a:extLst>
            </p:cNvPr>
            <p:cNvSpPr txBox="1"/>
            <p:nvPr/>
          </p:nvSpPr>
          <p:spPr>
            <a:xfrm>
              <a:off x="5250042" y="468812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B63C2047-AB00-41A3-9157-3D595DB10765}"/>
              </a:ext>
            </a:extLst>
          </p:cNvPr>
          <p:cNvCxnSpPr>
            <a:cxnSpLocks/>
          </p:cNvCxnSpPr>
          <p:nvPr/>
        </p:nvCxnSpPr>
        <p:spPr>
          <a:xfrm>
            <a:off x="3026038" y="4326243"/>
            <a:ext cx="0" cy="89362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7F965799-52D4-4763-B89C-8BAA24B12C58}"/>
              </a:ext>
            </a:extLst>
          </p:cNvPr>
          <p:cNvCxnSpPr>
            <a:cxnSpLocks/>
          </p:cNvCxnSpPr>
          <p:nvPr/>
        </p:nvCxnSpPr>
        <p:spPr>
          <a:xfrm>
            <a:off x="4245238" y="5215018"/>
            <a:ext cx="0" cy="9168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CD4C5FB9-6C6C-4330-9DBA-A179985A75E0}"/>
              </a:ext>
            </a:extLst>
          </p:cNvPr>
          <p:cNvCxnSpPr>
            <a:cxnSpLocks/>
          </p:cNvCxnSpPr>
          <p:nvPr/>
        </p:nvCxnSpPr>
        <p:spPr>
          <a:xfrm>
            <a:off x="3026038" y="5219869"/>
            <a:ext cx="12192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C7927388-F3C7-4071-8A6B-E62F5F008A71}"/>
              </a:ext>
            </a:extLst>
          </p:cNvPr>
          <p:cNvSpPr txBox="1"/>
          <p:nvPr/>
        </p:nvSpPr>
        <p:spPr>
          <a:xfrm>
            <a:off x="11242766" y="5683787"/>
            <a:ext cx="77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52CDE77C-FE50-45C9-8BEA-D7761AA8F94B}"/>
              </a:ext>
            </a:extLst>
          </p:cNvPr>
          <p:cNvCxnSpPr>
            <a:cxnSpLocks/>
          </p:cNvCxnSpPr>
          <p:nvPr/>
        </p:nvCxnSpPr>
        <p:spPr>
          <a:xfrm flipV="1">
            <a:off x="2124282" y="4750092"/>
            <a:ext cx="901756" cy="254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45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CD40CBD0-185D-4E67-8616-C4C37A8316F6}"/>
              </a:ext>
            </a:extLst>
          </p:cNvPr>
          <p:cNvGraphicFramePr/>
          <p:nvPr/>
        </p:nvGraphicFramePr>
        <p:xfrm>
          <a:off x="7957568" y="28654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8" name="群組 57">
            <a:extLst>
              <a:ext uri="{FF2B5EF4-FFF2-40B4-BE49-F238E27FC236}">
                <a16:creationId xmlns:a16="http://schemas.microsoft.com/office/drawing/2014/main" id="{FE42BEC2-B368-44CE-B7D2-3C89013E99FE}"/>
              </a:ext>
            </a:extLst>
          </p:cNvPr>
          <p:cNvGrpSpPr/>
          <p:nvPr/>
        </p:nvGrpSpPr>
        <p:grpSpPr>
          <a:xfrm>
            <a:off x="7148915" y="2453901"/>
            <a:ext cx="4013919" cy="2262540"/>
            <a:chOff x="6654593" y="3277034"/>
            <a:chExt cx="4013919" cy="2262540"/>
          </a:xfrm>
        </p:grpSpPr>
        <p:graphicFrame>
          <p:nvGraphicFramePr>
            <p:cNvPr id="8" name="圖表 7">
              <a:extLst>
                <a:ext uri="{FF2B5EF4-FFF2-40B4-BE49-F238E27FC236}">
                  <a16:creationId xmlns:a16="http://schemas.microsoft.com/office/drawing/2014/main" id="{C2E15949-074D-4EC6-B0A4-C5EBCAF1B721}"/>
                </a:ext>
              </a:extLst>
            </p:cNvPr>
            <p:cNvGraphicFramePr/>
            <p:nvPr/>
          </p:nvGraphicFramePr>
          <p:xfrm>
            <a:off x="7463246" y="3277034"/>
            <a:ext cx="3205266" cy="18723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B658896C-9F66-4DE7-979A-6DE2662015AE}"/>
                </a:ext>
              </a:extLst>
            </p:cNvPr>
            <p:cNvSpPr txBox="1"/>
            <p:nvPr/>
          </p:nvSpPr>
          <p:spPr>
            <a:xfrm>
              <a:off x="6654593" y="399009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7DAAC40-E970-4BF8-9809-92CA1D3C89BB}"/>
                </a:ext>
              </a:extLst>
            </p:cNvPr>
            <p:cNvSpPr txBox="1"/>
            <p:nvPr/>
          </p:nvSpPr>
          <p:spPr>
            <a:xfrm>
              <a:off x="6654593" y="346792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q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25C81D68-2F68-461E-9234-8C0908EE4A9E}"/>
                </a:ext>
              </a:extLst>
            </p:cNvPr>
            <p:cNvSpPr txBox="1"/>
            <p:nvPr/>
          </p:nvSpPr>
          <p:spPr>
            <a:xfrm>
              <a:off x="8161433" y="5077909"/>
              <a:ext cx="965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</a:t>
              </a:r>
              <a:r>
                <a: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－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1" name="圖表 60">
            <a:extLst>
              <a:ext uri="{FF2B5EF4-FFF2-40B4-BE49-F238E27FC236}">
                <a16:creationId xmlns:a16="http://schemas.microsoft.com/office/drawing/2014/main" id="{3CD36C2F-135D-4D61-902B-699DC315A5DC}"/>
              </a:ext>
            </a:extLst>
          </p:cNvPr>
          <p:cNvGraphicFramePr/>
          <p:nvPr/>
        </p:nvGraphicFramePr>
        <p:xfrm>
          <a:off x="7957567" y="4726025"/>
          <a:ext cx="3204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1AA1D08-CA9C-4CB2-9D6A-671DDBFD0FE3}"/>
              </a:ext>
            </a:extLst>
          </p:cNvPr>
          <p:cNvCxnSpPr>
            <a:cxnSpLocks/>
          </p:cNvCxnSpPr>
          <p:nvPr/>
        </p:nvCxnSpPr>
        <p:spPr>
          <a:xfrm flipV="1">
            <a:off x="5603208" y="3988699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3A227B0-630C-41C2-9ADC-73A530DA7345}"/>
              </a:ext>
            </a:extLst>
          </p:cNvPr>
          <p:cNvCxnSpPr>
            <a:cxnSpLocks/>
          </p:cNvCxnSpPr>
          <p:nvPr/>
        </p:nvCxnSpPr>
        <p:spPr>
          <a:xfrm flipV="1">
            <a:off x="5692919" y="1644313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D845C90-C683-493F-94F1-73AFA677611D}"/>
              </a:ext>
            </a:extLst>
          </p:cNvPr>
          <p:cNvSpPr txBox="1"/>
          <p:nvPr/>
        </p:nvSpPr>
        <p:spPr>
          <a:xfrm>
            <a:off x="2290352" y="3623788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E0041B3C-8AC0-44F9-9BAA-C589885C3F31}"/>
              </a:ext>
            </a:extLst>
          </p:cNvPr>
          <p:cNvSpPr txBox="1"/>
          <p:nvPr/>
        </p:nvSpPr>
        <p:spPr>
          <a:xfrm>
            <a:off x="2285809" y="6145452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C776FBD5-F695-4BC7-ADEB-D0CD723F95EF}"/>
              </a:ext>
            </a:extLst>
          </p:cNvPr>
          <p:cNvCxnSpPr/>
          <p:nvPr/>
        </p:nvCxnSpPr>
        <p:spPr>
          <a:xfrm>
            <a:off x="522514" y="2653504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9EA14171-9B3A-4DBA-812F-5CB7240EF2DA}"/>
              </a:ext>
            </a:extLst>
          </p:cNvPr>
          <p:cNvCxnSpPr/>
          <p:nvPr/>
        </p:nvCxnSpPr>
        <p:spPr>
          <a:xfrm>
            <a:off x="522513" y="3697360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2D81B58A-1990-440A-B180-41B22748899D}"/>
              </a:ext>
            </a:extLst>
          </p:cNvPr>
          <p:cNvCxnSpPr/>
          <p:nvPr/>
        </p:nvCxnSpPr>
        <p:spPr>
          <a:xfrm>
            <a:off x="522513" y="4218807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A2CFBAFB-13AE-46DB-B339-C4F933B36F4B}"/>
              </a:ext>
            </a:extLst>
          </p:cNvPr>
          <p:cNvCxnSpPr/>
          <p:nvPr/>
        </p:nvCxnSpPr>
        <p:spPr>
          <a:xfrm>
            <a:off x="484359" y="6235909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5" name="表格 8">
                <a:extLst>
                  <a:ext uri="{FF2B5EF4-FFF2-40B4-BE49-F238E27FC236}">
                    <a16:creationId xmlns:a16="http://schemas.microsoft.com/office/drawing/2014/main" id="{79A9D43E-7856-45DF-9186-226F1DB221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917454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5" name="表格 8">
                <a:extLst>
                  <a:ext uri="{FF2B5EF4-FFF2-40B4-BE49-F238E27FC236}">
                    <a16:creationId xmlns:a16="http://schemas.microsoft.com/office/drawing/2014/main" id="{79A9D43E-7856-45DF-9186-226F1DB221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917454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90000" t="-8197" r="-302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14286" t="-8197" r="-2081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8197" r="-104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5CA4EFCF-6AB1-436D-B05A-C42C1C69C692}"/>
              </a:ext>
            </a:extLst>
          </p:cNvPr>
          <p:cNvCxnSpPr>
            <a:cxnSpLocks/>
          </p:cNvCxnSpPr>
          <p:nvPr/>
        </p:nvCxnSpPr>
        <p:spPr>
          <a:xfrm>
            <a:off x="2107266" y="1395708"/>
            <a:ext cx="0" cy="129726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8" name="表格 8">
                <a:extLst>
                  <a:ext uri="{FF2B5EF4-FFF2-40B4-BE49-F238E27FC236}">
                    <a16:creationId xmlns:a16="http://schemas.microsoft.com/office/drawing/2014/main" id="{E37B50F8-DF99-43BF-ACAA-ED57E1F610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3520321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8" name="表格 8">
                <a:extLst>
                  <a:ext uri="{FF2B5EF4-FFF2-40B4-BE49-F238E27FC236}">
                    <a16:creationId xmlns:a16="http://schemas.microsoft.com/office/drawing/2014/main" id="{E37B50F8-DF99-43BF-ACAA-ED57E1F610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3520321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90000" t="-8197" r="-302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14286" t="-8197" r="-208163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8197" r="-104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2000" t="-108197" r="-500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108197" r="-104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16327" t="-108197" r="-612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EA9705DC-6D15-4838-9631-107798EB0C68}"/>
              </a:ext>
            </a:extLst>
          </p:cNvPr>
          <p:cNvCxnSpPr>
            <a:cxnSpLocks/>
          </p:cNvCxnSpPr>
          <p:nvPr/>
        </p:nvCxnSpPr>
        <p:spPr>
          <a:xfrm>
            <a:off x="2697685" y="2487990"/>
            <a:ext cx="1" cy="71325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F9D10765-2573-4C9B-952E-EF0D7C23C79E}"/>
              </a:ext>
            </a:extLst>
          </p:cNvPr>
          <p:cNvCxnSpPr>
            <a:cxnSpLocks/>
          </p:cNvCxnSpPr>
          <p:nvPr/>
        </p:nvCxnSpPr>
        <p:spPr>
          <a:xfrm>
            <a:off x="2419009" y="3140737"/>
            <a:ext cx="0" cy="58275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822C37B9-4DAB-468F-B638-823BDA16245B}"/>
              </a:ext>
            </a:extLst>
          </p:cNvPr>
          <p:cNvCxnSpPr>
            <a:cxnSpLocks/>
          </p:cNvCxnSpPr>
          <p:nvPr/>
        </p:nvCxnSpPr>
        <p:spPr>
          <a:xfrm>
            <a:off x="2384173" y="3176971"/>
            <a:ext cx="31351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3" name="表格 8">
                <a:extLst>
                  <a:ext uri="{FF2B5EF4-FFF2-40B4-BE49-F238E27FC236}">
                    <a16:creationId xmlns:a16="http://schemas.microsoft.com/office/drawing/2014/main" id="{AF7C87E0-7D5A-40F0-B737-A5820B745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9001889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3" name="表格 8">
                <a:extLst>
                  <a:ext uri="{FF2B5EF4-FFF2-40B4-BE49-F238E27FC236}">
                    <a16:creationId xmlns:a16="http://schemas.microsoft.com/office/drawing/2014/main" id="{AF7C87E0-7D5A-40F0-B737-A5820B745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9001889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90000" t="-6452" r="-302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14286" t="-6452" r="-208163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6452" r="-104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F23D8DF6-69B8-4E05-9D85-0E33665EB442}"/>
              </a:ext>
            </a:extLst>
          </p:cNvPr>
          <p:cNvGrpSpPr/>
          <p:nvPr/>
        </p:nvGrpSpPr>
        <p:grpSpPr>
          <a:xfrm>
            <a:off x="1219008" y="4262301"/>
            <a:ext cx="4212167" cy="1930115"/>
            <a:chOff x="1471746" y="3248361"/>
            <a:chExt cx="4212167" cy="1930115"/>
          </a:xfrm>
        </p:grpSpPr>
        <p:cxnSp>
          <p:nvCxnSpPr>
            <p:cNvPr id="75" name="直線單箭頭接點 74">
              <a:extLst>
                <a:ext uri="{FF2B5EF4-FFF2-40B4-BE49-F238E27FC236}">
                  <a16:creationId xmlns:a16="http://schemas.microsoft.com/office/drawing/2014/main" id="{980B1CFB-1CE6-47A8-8558-0C5F3416AD43}"/>
                </a:ext>
              </a:extLst>
            </p:cNvPr>
            <p:cNvCxnSpPr>
              <a:cxnSpLocks/>
            </p:cNvCxnSpPr>
            <p:nvPr/>
          </p:nvCxnSpPr>
          <p:spPr>
            <a:xfrm>
              <a:off x="1785257" y="3736152"/>
              <a:ext cx="612718" cy="1274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單箭頭接點 76">
              <a:extLst>
                <a:ext uri="{FF2B5EF4-FFF2-40B4-BE49-F238E27FC236}">
                  <a16:creationId xmlns:a16="http://schemas.microsoft.com/office/drawing/2014/main" id="{A068A70D-4708-4D8C-8FEC-6CD8F0322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020" y="3736152"/>
              <a:ext cx="901756" cy="2547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>
              <a:extLst>
                <a:ext uri="{FF2B5EF4-FFF2-40B4-BE49-F238E27FC236}">
                  <a16:creationId xmlns:a16="http://schemas.microsoft.com/office/drawing/2014/main" id="{998E28C6-5C8B-420D-858F-7EFDCA5EE18A}"/>
                </a:ext>
              </a:extLst>
            </p:cNvPr>
            <p:cNvCxnSpPr>
              <a:cxnSpLocks/>
            </p:cNvCxnSpPr>
            <p:nvPr/>
          </p:nvCxnSpPr>
          <p:spPr>
            <a:xfrm>
              <a:off x="3322298" y="3736152"/>
              <a:ext cx="144148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id="{81316B86-B48C-45D8-839F-674BD53CE12C}"/>
                </a:ext>
              </a:extLst>
            </p:cNvPr>
            <p:cNvCxnSpPr>
              <a:cxnSpLocks/>
            </p:cNvCxnSpPr>
            <p:nvPr/>
          </p:nvCxnSpPr>
          <p:spPr>
            <a:xfrm>
              <a:off x="4782930" y="3736152"/>
              <a:ext cx="487487" cy="3921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6930AD85-511B-4D3B-B93A-19BF095CD441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46" y="4716386"/>
              <a:ext cx="905274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id="{B6D551E8-0820-4355-B898-1856E9357ED8}"/>
                </a:ext>
              </a:extLst>
            </p:cNvPr>
            <p:cNvCxnSpPr>
              <a:cxnSpLocks/>
            </p:cNvCxnSpPr>
            <p:nvPr/>
          </p:nvCxnSpPr>
          <p:spPr>
            <a:xfrm>
              <a:off x="2377020" y="4716386"/>
              <a:ext cx="212095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>
              <a:extLst>
                <a:ext uri="{FF2B5EF4-FFF2-40B4-BE49-F238E27FC236}">
                  <a16:creationId xmlns:a16="http://schemas.microsoft.com/office/drawing/2014/main" id="{A63DE9A9-F24C-4C0D-A360-D6D788F0F816}"/>
                </a:ext>
              </a:extLst>
            </p:cNvPr>
            <p:cNvCxnSpPr>
              <a:cxnSpLocks/>
            </p:cNvCxnSpPr>
            <p:nvPr/>
          </p:nvCxnSpPr>
          <p:spPr>
            <a:xfrm>
              <a:off x="4537355" y="4716386"/>
              <a:ext cx="539932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FFB5DC51-FB40-4963-86AE-E4D880A6699F}"/>
                </a:ext>
              </a:extLst>
            </p:cNvPr>
            <p:cNvCxnSpPr>
              <a:cxnSpLocks/>
            </p:cNvCxnSpPr>
            <p:nvPr/>
          </p:nvCxnSpPr>
          <p:spPr>
            <a:xfrm>
              <a:off x="5077287" y="4716386"/>
              <a:ext cx="60662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4798CB65-007B-4504-82FE-9186AC38B136}"/>
                </a:ext>
              </a:extLst>
            </p:cNvPr>
            <p:cNvSpPr txBox="1"/>
            <p:nvPr/>
          </p:nvSpPr>
          <p:spPr>
            <a:xfrm>
              <a:off x="1906753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CA58F3CC-0DF1-410D-B7C8-CD6F3EE66BBC}"/>
                </a:ext>
              </a:extLst>
            </p:cNvPr>
            <p:cNvSpPr txBox="1"/>
            <p:nvPr/>
          </p:nvSpPr>
          <p:spPr>
            <a:xfrm>
              <a:off x="1767628" y="471681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E106A5E5-E172-40E8-A215-2F6046CA37A3}"/>
                </a:ext>
              </a:extLst>
            </p:cNvPr>
            <p:cNvSpPr txBox="1"/>
            <p:nvPr/>
          </p:nvSpPr>
          <p:spPr>
            <a:xfrm>
              <a:off x="3678124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DC10C85B-DF2F-46EC-A232-ABEF144F1B61}"/>
                </a:ext>
              </a:extLst>
            </p:cNvPr>
            <p:cNvSpPr txBox="1"/>
            <p:nvPr/>
          </p:nvSpPr>
          <p:spPr>
            <a:xfrm>
              <a:off x="4637311" y="469195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3C708113-5DAE-410E-A8F2-2F65D6596914}"/>
                </a:ext>
              </a:extLst>
            </p:cNvPr>
            <p:cNvSpPr txBox="1"/>
            <p:nvPr/>
          </p:nvSpPr>
          <p:spPr>
            <a:xfrm>
              <a:off x="4896082" y="324836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A0599291-CD5D-47C6-84AA-1B2D14D9F311}"/>
                </a:ext>
              </a:extLst>
            </p:cNvPr>
            <p:cNvSpPr txBox="1"/>
            <p:nvPr/>
          </p:nvSpPr>
          <p:spPr>
            <a:xfrm>
              <a:off x="5250042" y="468812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C95098A5-AC65-45E8-A245-56CCF662B890}"/>
              </a:ext>
            </a:extLst>
          </p:cNvPr>
          <p:cNvCxnSpPr>
            <a:cxnSpLocks/>
          </p:cNvCxnSpPr>
          <p:nvPr/>
        </p:nvCxnSpPr>
        <p:spPr>
          <a:xfrm>
            <a:off x="3026038" y="4326243"/>
            <a:ext cx="0" cy="89362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8ED73CA9-18CD-4487-B6A4-3855C19D1AB2}"/>
              </a:ext>
            </a:extLst>
          </p:cNvPr>
          <p:cNvCxnSpPr>
            <a:cxnSpLocks/>
          </p:cNvCxnSpPr>
          <p:nvPr/>
        </p:nvCxnSpPr>
        <p:spPr>
          <a:xfrm>
            <a:off x="4245238" y="5215018"/>
            <a:ext cx="0" cy="9168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45AE5BEA-7D33-4C53-BCFC-724463C4F181}"/>
              </a:ext>
            </a:extLst>
          </p:cNvPr>
          <p:cNvCxnSpPr>
            <a:cxnSpLocks/>
          </p:cNvCxnSpPr>
          <p:nvPr/>
        </p:nvCxnSpPr>
        <p:spPr>
          <a:xfrm>
            <a:off x="3026038" y="5219869"/>
            <a:ext cx="12192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619C1C0D-4723-4638-B5F4-F21E2A9E4FC5}"/>
              </a:ext>
            </a:extLst>
          </p:cNvPr>
          <p:cNvSpPr txBox="1"/>
          <p:nvPr/>
        </p:nvSpPr>
        <p:spPr>
          <a:xfrm>
            <a:off x="2389350" y="4267772"/>
            <a:ext cx="313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EB4330F-B230-440A-9984-272C310901DA}"/>
              </a:ext>
            </a:extLst>
          </p:cNvPr>
          <p:cNvSpPr txBox="1"/>
          <p:nvPr/>
        </p:nvSpPr>
        <p:spPr>
          <a:xfrm>
            <a:off x="2976459" y="5683787"/>
            <a:ext cx="313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2ADEB2A-5F40-4902-8262-CCEA22604754}"/>
              </a:ext>
            </a:extLst>
          </p:cNvPr>
          <p:cNvSpPr txBox="1"/>
          <p:nvPr/>
        </p:nvSpPr>
        <p:spPr>
          <a:xfrm>
            <a:off x="11242766" y="5683787"/>
            <a:ext cx="77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74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CD40CBD0-185D-4E67-8616-C4C37A8316F6}"/>
              </a:ext>
            </a:extLst>
          </p:cNvPr>
          <p:cNvGraphicFramePr/>
          <p:nvPr/>
        </p:nvGraphicFramePr>
        <p:xfrm>
          <a:off x="7957568" y="28654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8" name="群組 57">
            <a:extLst>
              <a:ext uri="{FF2B5EF4-FFF2-40B4-BE49-F238E27FC236}">
                <a16:creationId xmlns:a16="http://schemas.microsoft.com/office/drawing/2014/main" id="{FE42BEC2-B368-44CE-B7D2-3C89013E99FE}"/>
              </a:ext>
            </a:extLst>
          </p:cNvPr>
          <p:cNvGrpSpPr/>
          <p:nvPr/>
        </p:nvGrpSpPr>
        <p:grpSpPr>
          <a:xfrm>
            <a:off x="7148915" y="2453901"/>
            <a:ext cx="4013919" cy="2262540"/>
            <a:chOff x="6654593" y="3277034"/>
            <a:chExt cx="4013919" cy="2262540"/>
          </a:xfrm>
        </p:grpSpPr>
        <p:graphicFrame>
          <p:nvGraphicFramePr>
            <p:cNvPr id="8" name="圖表 7">
              <a:extLst>
                <a:ext uri="{FF2B5EF4-FFF2-40B4-BE49-F238E27FC236}">
                  <a16:creationId xmlns:a16="http://schemas.microsoft.com/office/drawing/2014/main" id="{C2E15949-074D-4EC6-B0A4-C5EBCAF1B721}"/>
                </a:ext>
              </a:extLst>
            </p:cNvPr>
            <p:cNvGraphicFramePr/>
            <p:nvPr/>
          </p:nvGraphicFramePr>
          <p:xfrm>
            <a:off x="7463246" y="3277034"/>
            <a:ext cx="3205266" cy="18723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B658896C-9F66-4DE7-979A-6DE2662015AE}"/>
                </a:ext>
              </a:extLst>
            </p:cNvPr>
            <p:cNvSpPr txBox="1"/>
            <p:nvPr/>
          </p:nvSpPr>
          <p:spPr>
            <a:xfrm>
              <a:off x="6654593" y="399009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7DAAC40-E970-4BF8-9809-92CA1D3C89BB}"/>
                </a:ext>
              </a:extLst>
            </p:cNvPr>
            <p:cNvSpPr txBox="1"/>
            <p:nvPr/>
          </p:nvSpPr>
          <p:spPr>
            <a:xfrm>
              <a:off x="6654593" y="346792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q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25C81D68-2F68-461E-9234-8C0908EE4A9E}"/>
                </a:ext>
              </a:extLst>
            </p:cNvPr>
            <p:cNvSpPr txBox="1"/>
            <p:nvPr/>
          </p:nvSpPr>
          <p:spPr>
            <a:xfrm>
              <a:off x="8161433" y="5077909"/>
              <a:ext cx="965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</a:t>
              </a:r>
              <a:r>
                <a: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－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1" name="圖表 60">
            <a:extLst>
              <a:ext uri="{FF2B5EF4-FFF2-40B4-BE49-F238E27FC236}">
                <a16:creationId xmlns:a16="http://schemas.microsoft.com/office/drawing/2014/main" id="{3CD36C2F-135D-4D61-902B-699DC315A5DC}"/>
              </a:ext>
            </a:extLst>
          </p:cNvPr>
          <p:cNvGraphicFramePr/>
          <p:nvPr/>
        </p:nvGraphicFramePr>
        <p:xfrm>
          <a:off x="7957567" y="4726025"/>
          <a:ext cx="3204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1AA1D08-CA9C-4CB2-9D6A-671DDBFD0FE3}"/>
              </a:ext>
            </a:extLst>
          </p:cNvPr>
          <p:cNvCxnSpPr>
            <a:cxnSpLocks/>
          </p:cNvCxnSpPr>
          <p:nvPr/>
        </p:nvCxnSpPr>
        <p:spPr>
          <a:xfrm flipV="1">
            <a:off x="5603208" y="3988699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3A227B0-630C-41C2-9ADC-73A530DA7345}"/>
              </a:ext>
            </a:extLst>
          </p:cNvPr>
          <p:cNvCxnSpPr>
            <a:cxnSpLocks/>
          </p:cNvCxnSpPr>
          <p:nvPr/>
        </p:nvCxnSpPr>
        <p:spPr>
          <a:xfrm flipV="1">
            <a:off x="5692919" y="1644313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95E2CCEA-F0D5-4305-896D-C29F00133825}"/>
              </a:ext>
            </a:extLst>
          </p:cNvPr>
          <p:cNvCxnSpPr>
            <a:cxnSpLocks/>
          </p:cNvCxnSpPr>
          <p:nvPr/>
        </p:nvCxnSpPr>
        <p:spPr>
          <a:xfrm flipV="1">
            <a:off x="8847909" y="3106460"/>
            <a:ext cx="0" cy="858291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BC8E1C7-9388-4D65-89C6-9619A17C1623}"/>
              </a:ext>
            </a:extLst>
          </p:cNvPr>
          <p:cNvSpPr txBox="1"/>
          <p:nvPr/>
        </p:nvSpPr>
        <p:spPr>
          <a:xfrm>
            <a:off x="2290352" y="3623788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E5840B8-0626-46B1-A3B3-D0F2DEAD160D}"/>
              </a:ext>
            </a:extLst>
          </p:cNvPr>
          <p:cNvSpPr txBox="1"/>
          <p:nvPr/>
        </p:nvSpPr>
        <p:spPr>
          <a:xfrm>
            <a:off x="2285809" y="6145452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57DF8FB4-8E71-4BAC-BFD3-B3986A92BFC7}"/>
              </a:ext>
            </a:extLst>
          </p:cNvPr>
          <p:cNvCxnSpPr/>
          <p:nvPr/>
        </p:nvCxnSpPr>
        <p:spPr>
          <a:xfrm>
            <a:off x="522514" y="2653504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685BD73B-D988-4566-8BAB-CCCFC18CB6C8}"/>
              </a:ext>
            </a:extLst>
          </p:cNvPr>
          <p:cNvCxnSpPr/>
          <p:nvPr/>
        </p:nvCxnSpPr>
        <p:spPr>
          <a:xfrm>
            <a:off x="522513" y="3697360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6B108EEA-CC1A-4B07-B7EB-32E8D42B4D16}"/>
              </a:ext>
            </a:extLst>
          </p:cNvPr>
          <p:cNvCxnSpPr/>
          <p:nvPr/>
        </p:nvCxnSpPr>
        <p:spPr>
          <a:xfrm>
            <a:off x="522513" y="4218807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B1FAB055-25E7-4128-B8FF-22AE7C8C75F1}"/>
              </a:ext>
            </a:extLst>
          </p:cNvPr>
          <p:cNvCxnSpPr/>
          <p:nvPr/>
        </p:nvCxnSpPr>
        <p:spPr>
          <a:xfrm>
            <a:off x="484359" y="6235909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表格 8">
                <a:extLst>
                  <a:ext uri="{FF2B5EF4-FFF2-40B4-BE49-F238E27FC236}">
                    <a16:creationId xmlns:a16="http://schemas.microsoft.com/office/drawing/2014/main" id="{47497628-D151-4668-803F-5E64882229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917454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表格 8">
                <a:extLst>
                  <a:ext uri="{FF2B5EF4-FFF2-40B4-BE49-F238E27FC236}">
                    <a16:creationId xmlns:a16="http://schemas.microsoft.com/office/drawing/2014/main" id="{47497628-D151-4668-803F-5E64882229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0917454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90000" t="-8197" r="-302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14286" t="-8197" r="-2081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8197" r="-104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3A2A669F-2F4F-4C6A-8188-32DD80BAF92E}"/>
              </a:ext>
            </a:extLst>
          </p:cNvPr>
          <p:cNvCxnSpPr>
            <a:cxnSpLocks/>
          </p:cNvCxnSpPr>
          <p:nvPr/>
        </p:nvCxnSpPr>
        <p:spPr>
          <a:xfrm>
            <a:off x="2107266" y="1395708"/>
            <a:ext cx="0" cy="129726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9" name="表格 8">
                <a:extLst>
                  <a:ext uri="{FF2B5EF4-FFF2-40B4-BE49-F238E27FC236}">
                    <a16:creationId xmlns:a16="http://schemas.microsoft.com/office/drawing/2014/main" id="{8573231F-19BF-4727-99DC-DF32196A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3520321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9" name="表格 8">
                <a:extLst>
                  <a:ext uri="{FF2B5EF4-FFF2-40B4-BE49-F238E27FC236}">
                    <a16:creationId xmlns:a16="http://schemas.microsoft.com/office/drawing/2014/main" id="{8573231F-19BF-4727-99DC-DF32196A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3520321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90000" t="-8197" r="-302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14286" t="-8197" r="-208163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8197" r="-104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2000" t="-108197" r="-500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108197" r="-104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16327" t="-108197" r="-612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CC132296-FA17-4200-95FE-BB87177340D3}"/>
              </a:ext>
            </a:extLst>
          </p:cNvPr>
          <p:cNvCxnSpPr>
            <a:cxnSpLocks/>
          </p:cNvCxnSpPr>
          <p:nvPr/>
        </p:nvCxnSpPr>
        <p:spPr>
          <a:xfrm>
            <a:off x="2697685" y="2487990"/>
            <a:ext cx="1" cy="71325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F096C95C-1078-4192-8BEC-8B57C2BC62A8}"/>
              </a:ext>
            </a:extLst>
          </p:cNvPr>
          <p:cNvCxnSpPr>
            <a:cxnSpLocks/>
          </p:cNvCxnSpPr>
          <p:nvPr/>
        </p:nvCxnSpPr>
        <p:spPr>
          <a:xfrm>
            <a:off x="2419009" y="3140737"/>
            <a:ext cx="0" cy="58275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F803FB70-AC15-4507-83B4-AC1417480A9A}"/>
              </a:ext>
            </a:extLst>
          </p:cNvPr>
          <p:cNvCxnSpPr>
            <a:cxnSpLocks/>
          </p:cNvCxnSpPr>
          <p:nvPr/>
        </p:nvCxnSpPr>
        <p:spPr>
          <a:xfrm>
            <a:off x="2384173" y="3176971"/>
            <a:ext cx="31351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4" name="表格 8">
                <a:extLst>
                  <a:ext uri="{FF2B5EF4-FFF2-40B4-BE49-F238E27FC236}">
                    <a16:creationId xmlns:a16="http://schemas.microsoft.com/office/drawing/2014/main" id="{407A23B4-43D9-4B0A-BC0D-48E93AB931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596267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4" name="表格 8">
                <a:extLst>
                  <a:ext uri="{FF2B5EF4-FFF2-40B4-BE49-F238E27FC236}">
                    <a16:creationId xmlns:a16="http://schemas.microsoft.com/office/drawing/2014/main" id="{407A23B4-43D9-4B0A-BC0D-48E93AB931E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8596267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90000" t="-6452" r="-302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14286" t="-6452" r="-208163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6452" r="-104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5" name="群組 74">
            <a:extLst>
              <a:ext uri="{FF2B5EF4-FFF2-40B4-BE49-F238E27FC236}">
                <a16:creationId xmlns:a16="http://schemas.microsoft.com/office/drawing/2014/main" id="{FE0DC6EF-26EF-4593-80F5-5A7B9E047E25}"/>
              </a:ext>
            </a:extLst>
          </p:cNvPr>
          <p:cNvGrpSpPr/>
          <p:nvPr/>
        </p:nvGrpSpPr>
        <p:grpSpPr>
          <a:xfrm>
            <a:off x="1219008" y="4262301"/>
            <a:ext cx="4212167" cy="1930115"/>
            <a:chOff x="1471746" y="3248361"/>
            <a:chExt cx="4212167" cy="1930115"/>
          </a:xfrm>
        </p:grpSpPr>
        <p:cxnSp>
          <p:nvCxnSpPr>
            <p:cNvPr id="77" name="直線單箭頭接點 76">
              <a:extLst>
                <a:ext uri="{FF2B5EF4-FFF2-40B4-BE49-F238E27FC236}">
                  <a16:creationId xmlns:a16="http://schemas.microsoft.com/office/drawing/2014/main" id="{D0B36137-EA05-4BD1-ADF8-29C0703C0CAB}"/>
                </a:ext>
              </a:extLst>
            </p:cNvPr>
            <p:cNvCxnSpPr>
              <a:cxnSpLocks/>
            </p:cNvCxnSpPr>
            <p:nvPr/>
          </p:nvCxnSpPr>
          <p:spPr>
            <a:xfrm>
              <a:off x="1785257" y="3736152"/>
              <a:ext cx="612718" cy="1274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id="{A0D12A9A-B4BB-422F-BD2C-E27401136988}"/>
                </a:ext>
              </a:extLst>
            </p:cNvPr>
            <p:cNvCxnSpPr>
              <a:cxnSpLocks/>
            </p:cNvCxnSpPr>
            <p:nvPr/>
          </p:nvCxnSpPr>
          <p:spPr>
            <a:xfrm>
              <a:off x="3322298" y="3736152"/>
              <a:ext cx="144148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D2753C0B-57F8-4B41-8813-64DA758B1A2D}"/>
                </a:ext>
              </a:extLst>
            </p:cNvPr>
            <p:cNvCxnSpPr>
              <a:cxnSpLocks/>
            </p:cNvCxnSpPr>
            <p:nvPr/>
          </p:nvCxnSpPr>
          <p:spPr>
            <a:xfrm>
              <a:off x="4782930" y="3736152"/>
              <a:ext cx="487487" cy="3921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id="{8B458C23-5C97-4896-87A4-57C55E9EE3FE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46" y="4716386"/>
              <a:ext cx="905274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B1C249DA-FCDC-431E-A590-2D93F9F3C76A}"/>
                </a:ext>
              </a:extLst>
            </p:cNvPr>
            <p:cNvCxnSpPr>
              <a:cxnSpLocks/>
            </p:cNvCxnSpPr>
            <p:nvPr/>
          </p:nvCxnSpPr>
          <p:spPr>
            <a:xfrm>
              <a:off x="4537355" y="4716386"/>
              <a:ext cx="539932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>
              <a:extLst>
                <a:ext uri="{FF2B5EF4-FFF2-40B4-BE49-F238E27FC236}">
                  <a16:creationId xmlns:a16="http://schemas.microsoft.com/office/drawing/2014/main" id="{F7E4E3E8-48DC-4CBA-A63B-1CBF7356459D}"/>
                </a:ext>
              </a:extLst>
            </p:cNvPr>
            <p:cNvCxnSpPr>
              <a:cxnSpLocks/>
            </p:cNvCxnSpPr>
            <p:nvPr/>
          </p:nvCxnSpPr>
          <p:spPr>
            <a:xfrm>
              <a:off x="5077287" y="4716386"/>
              <a:ext cx="60662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03FD1E13-545A-42DE-83B0-0D2D4EA9B77F}"/>
                </a:ext>
              </a:extLst>
            </p:cNvPr>
            <p:cNvSpPr txBox="1"/>
            <p:nvPr/>
          </p:nvSpPr>
          <p:spPr>
            <a:xfrm>
              <a:off x="1906753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D02CCEF7-8C35-4452-A177-7C84E675CE75}"/>
                </a:ext>
              </a:extLst>
            </p:cNvPr>
            <p:cNvSpPr txBox="1"/>
            <p:nvPr/>
          </p:nvSpPr>
          <p:spPr>
            <a:xfrm>
              <a:off x="1767628" y="471681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558DD494-352F-4012-9CFB-4224C273A531}"/>
                </a:ext>
              </a:extLst>
            </p:cNvPr>
            <p:cNvSpPr txBox="1"/>
            <p:nvPr/>
          </p:nvSpPr>
          <p:spPr>
            <a:xfrm>
              <a:off x="3678124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C7381E89-83AC-498D-948E-BEBD1318A336}"/>
                </a:ext>
              </a:extLst>
            </p:cNvPr>
            <p:cNvSpPr txBox="1"/>
            <p:nvPr/>
          </p:nvSpPr>
          <p:spPr>
            <a:xfrm>
              <a:off x="4637311" y="469195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F99E19B3-9561-4975-986B-42639BF9D401}"/>
                </a:ext>
              </a:extLst>
            </p:cNvPr>
            <p:cNvSpPr txBox="1"/>
            <p:nvPr/>
          </p:nvSpPr>
          <p:spPr>
            <a:xfrm>
              <a:off x="4896082" y="324836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D253E142-0402-49AE-879A-43176BF449E8}"/>
                </a:ext>
              </a:extLst>
            </p:cNvPr>
            <p:cNvSpPr txBox="1"/>
            <p:nvPr/>
          </p:nvSpPr>
          <p:spPr>
            <a:xfrm>
              <a:off x="5250042" y="468812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B23543E6-5CD5-4DC4-A1D5-F60249EAC69F}"/>
              </a:ext>
            </a:extLst>
          </p:cNvPr>
          <p:cNvCxnSpPr>
            <a:cxnSpLocks/>
          </p:cNvCxnSpPr>
          <p:nvPr/>
        </p:nvCxnSpPr>
        <p:spPr>
          <a:xfrm>
            <a:off x="3026038" y="4326243"/>
            <a:ext cx="0" cy="89362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21CB7B83-7DF5-4C4C-83F6-F8170FAF0495}"/>
              </a:ext>
            </a:extLst>
          </p:cNvPr>
          <p:cNvCxnSpPr>
            <a:cxnSpLocks/>
          </p:cNvCxnSpPr>
          <p:nvPr/>
        </p:nvCxnSpPr>
        <p:spPr>
          <a:xfrm>
            <a:off x="4245238" y="5215018"/>
            <a:ext cx="0" cy="9168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AA83BB85-117E-4F74-B84F-799185E170E6}"/>
              </a:ext>
            </a:extLst>
          </p:cNvPr>
          <p:cNvCxnSpPr>
            <a:cxnSpLocks/>
          </p:cNvCxnSpPr>
          <p:nvPr/>
        </p:nvCxnSpPr>
        <p:spPr>
          <a:xfrm>
            <a:off x="3026038" y="5219869"/>
            <a:ext cx="12192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18CC50EB-83FA-4FB1-A662-9253FD30255B}"/>
              </a:ext>
            </a:extLst>
          </p:cNvPr>
          <p:cNvSpPr txBox="1"/>
          <p:nvPr/>
        </p:nvSpPr>
        <p:spPr>
          <a:xfrm>
            <a:off x="2389350" y="4267772"/>
            <a:ext cx="313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線單箭頭接點 103">
            <a:extLst>
              <a:ext uri="{FF2B5EF4-FFF2-40B4-BE49-F238E27FC236}">
                <a16:creationId xmlns:a16="http://schemas.microsoft.com/office/drawing/2014/main" id="{A95CAF81-D7EB-44F4-9CB4-B2A1D29DD91E}"/>
              </a:ext>
            </a:extLst>
          </p:cNvPr>
          <p:cNvCxnSpPr>
            <a:cxnSpLocks/>
          </p:cNvCxnSpPr>
          <p:nvPr/>
        </p:nvCxnSpPr>
        <p:spPr>
          <a:xfrm>
            <a:off x="2124282" y="5730326"/>
            <a:ext cx="2120956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DC39B5D2-5FB9-43CD-9CED-B4361DB41166}"/>
              </a:ext>
            </a:extLst>
          </p:cNvPr>
          <p:cNvSpPr txBox="1"/>
          <p:nvPr/>
        </p:nvSpPr>
        <p:spPr>
          <a:xfrm>
            <a:off x="2976459" y="5683787"/>
            <a:ext cx="313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2C7B02B-824A-4642-BAE6-F64C6C65993D}"/>
              </a:ext>
            </a:extLst>
          </p:cNvPr>
          <p:cNvSpPr txBox="1"/>
          <p:nvPr/>
        </p:nvSpPr>
        <p:spPr>
          <a:xfrm>
            <a:off x="11242766" y="5683787"/>
            <a:ext cx="77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D26DB129-D893-4028-A5BE-878CA366C673}"/>
              </a:ext>
            </a:extLst>
          </p:cNvPr>
          <p:cNvCxnSpPr>
            <a:cxnSpLocks/>
          </p:cNvCxnSpPr>
          <p:nvPr/>
        </p:nvCxnSpPr>
        <p:spPr>
          <a:xfrm flipV="1">
            <a:off x="2124282" y="4750092"/>
            <a:ext cx="901756" cy="254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001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CD40CBD0-185D-4E67-8616-C4C37A8316F6}"/>
              </a:ext>
            </a:extLst>
          </p:cNvPr>
          <p:cNvGraphicFramePr/>
          <p:nvPr/>
        </p:nvGraphicFramePr>
        <p:xfrm>
          <a:off x="7957568" y="28654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8" name="群組 57">
            <a:extLst>
              <a:ext uri="{FF2B5EF4-FFF2-40B4-BE49-F238E27FC236}">
                <a16:creationId xmlns:a16="http://schemas.microsoft.com/office/drawing/2014/main" id="{FE42BEC2-B368-44CE-B7D2-3C89013E99FE}"/>
              </a:ext>
            </a:extLst>
          </p:cNvPr>
          <p:cNvGrpSpPr/>
          <p:nvPr/>
        </p:nvGrpSpPr>
        <p:grpSpPr>
          <a:xfrm>
            <a:off x="7148915" y="2453901"/>
            <a:ext cx="4013919" cy="2262540"/>
            <a:chOff x="6654593" y="3277034"/>
            <a:chExt cx="4013919" cy="2262540"/>
          </a:xfrm>
        </p:grpSpPr>
        <p:graphicFrame>
          <p:nvGraphicFramePr>
            <p:cNvPr id="8" name="圖表 7">
              <a:extLst>
                <a:ext uri="{FF2B5EF4-FFF2-40B4-BE49-F238E27FC236}">
                  <a16:creationId xmlns:a16="http://schemas.microsoft.com/office/drawing/2014/main" id="{C2E15949-074D-4EC6-B0A4-C5EBCAF1B721}"/>
                </a:ext>
              </a:extLst>
            </p:cNvPr>
            <p:cNvGraphicFramePr/>
            <p:nvPr/>
          </p:nvGraphicFramePr>
          <p:xfrm>
            <a:off x="7463246" y="3277034"/>
            <a:ext cx="3205266" cy="18723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B658896C-9F66-4DE7-979A-6DE2662015AE}"/>
                </a:ext>
              </a:extLst>
            </p:cNvPr>
            <p:cNvSpPr txBox="1"/>
            <p:nvPr/>
          </p:nvSpPr>
          <p:spPr>
            <a:xfrm>
              <a:off x="6654593" y="399009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7DAAC40-E970-4BF8-9809-92CA1D3C89BB}"/>
                </a:ext>
              </a:extLst>
            </p:cNvPr>
            <p:cNvSpPr txBox="1"/>
            <p:nvPr/>
          </p:nvSpPr>
          <p:spPr>
            <a:xfrm>
              <a:off x="6654593" y="3467928"/>
              <a:ext cx="8086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+ q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25C81D68-2F68-461E-9234-8C0908EE4A9E}"/>
                </a:ext>
              </a:extLst>
            </p:cNvPr>
            <p:cNvSpPr txBox="1"/>
            <p:nvPr/>
          </p:nvSpPr>
          <p:spPr>
            <a:xfrm>
              <a:off x="8161433" y="5077909"/>
              <a:ext cx="9651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 </a:t>
              </a:r>
              <a:r>
                <a: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－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1" name="圖表 60">
            <a:extLst>
              <a:ext uri="{FF2B5EF4-FFF2-40B4-BE49-F238E27FC236}">
                <a16:creationId xmlns:a16="http://schemas.microsoft.com/office/drawing/2014/main" id="{3CD36C2F-135D-4D61-902B-699DC315A5DC}"/>
              </a:ext>
            </a:extLst>
          </p:cNvPr>
          <p:cNvGraphicFramePr/>
          <p:nvPr/>
        </p:nvGraphicFramePr>
        <p:xfrm>
          <a:off x="7957567" y="4726025"/>
          <a:ext cx="3204000" cy="18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1AA1D08-CA9C-4CB2-9D6A-671DDBFD0FE3}"/>
              </a:ext>
            </a:extLst>
          </p:cNvPr>
          <p:cNvCxnSpPr>
            <a:cxnSpLocks/>
          </p:cNvCxnSpPr>
          <p:nvPr/>
        </p:nvCxnSpPr>
        <p:spPr>
          <a:xfrm flipV="1">
            <a:off x="5603208" y="3988699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3A227B0-630C-41C2-9ADC-73A530DA7345}"/>
              </a:ext>
            </a:extLst>
          </p:cNvPr>
          <p:cNvCxnSpPr>
            <a:cxnSpLocks/>
          </p:cNvCxnSpPr>
          <p:nvPr/>
        </p:nvCxnSpPr>
        <p:spPr>
          <a:xfrm flipV="1">
            <a:off x="5692919" y="1644313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95E2CCEA-F0D5-4305-896D-C29F00133825}"/>
              </a:ext>
            </a:extLst>
          </p:cNvPr>
          <p:cNvCxnSpPr>
            <a:cxnSpLocks/>
          </p:cNvCxnSpPr>
          <p:nvPr/>
        </p:nvCxnSpPr>
        <p:spPr>
          <a:xfrm flipV="1">
            <a:off x="8847909" y="3106460"/>
            <a:ext cx="0" cy="858291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DA9F2D0-7228-4398-83A5-C76C297BDF05}"/>
              </a:ext>
            </a:extLst>
          </p:cNvPr>
          <p:cNvSpPr txBox="1"/>
          <p:nvPr/>
        </p:nvSpPr>
        <p:spPr>
          <a:xfrm>
            <a:off x="2290352" y="3623788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CF349E5-B18E-4CA1-922B-3F4B935C839E}"/>
              </a:ext>
            </a:extLst>
          </p:cNvPr>
          <p:cNvSpPr txBox="1"/>
          <p:nvPr/>
        </p:nvSpPr>
        <p:spPr>
          <a:xfrm>
            <a:off x="2285809" y="6145452"/>
            <a:ext cx="1471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CA27945B-09F2-491E-877F-7810806247DA}"/>
              </a:ext>
            </a:extLst>
          </p:cNvPr>
          <p:cNvCxnSpPr/>
          <p:nvPr/>
        </p:nvCxnSpPr>
        <p:spPr>
          <a:xfrm>
            <a:off x="522514" y="2653504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E95948C-338F-49DB-9205-BB4155154F65}"/>
              </a:ext>
            </a:extLst>
          </p:cNvPr>
          <p:cNvCxnSpPr/>
          <p:nvPr/>
        </p:nvCxnSpPr>
        <p:spPr>
          <a:xfrm>
            <a:off x="522513" y="3697360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6A0D6C3F-DC1E-49D6-AC3B-640025B98F48}"/>
              </a:ext>
            </a:extLst>
          </p:cNvPr>
          <p:cNvCxnSpPr/>
          <p:nvPr/>
        </p:nvCxnSpPr>
        <p:spPr>
          <a:xfrm>
            <a:off x="522513" y="4218807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3FF27985-0855-4381-A843-9927F5D6866F}"/>
              </a:ext>
            </a:extLst>
          </p:cNvPr>
          <p:cNvCxnSpPr/>
          <p:nvPr/>
        </p:nvCxnSpPr>
        <p:spPr>
          <a:xfrm>
            <a:off x="484359" y="6235909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表格 8">
                <a:extLst>
                  <a:ext uri="{FF2B5EF4-FFF2-40B4-BE49-F238E27FC236}">
                    <a16:creationId xmlns:a16="http://schemas.microsoft.com/office/drawing/2014/main" id="{08117901-8A46-4504-953E-C2E35B4F8F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613743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表格 8">
                <a:extLst>
                  <a:ext uri="{FF2B5EF4-FFF2-40B4-BE49-F238E27FC236}">
                    <a16:creationId xmlns:a16="http://schemas.microsoft.com/office/drawing/2014/main" id="{08117901-8A46-4504-953E-C2E35B4F8F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613743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90000" t="-8197" r="-302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14286" t="-8197" r="-2081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8197" r="-104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DB52BCCD-3AB8-4829-948A-62B628505858}"/>
              </a:ext>
            </a:extLst>
          </p:cNvPr>
          <p:cNvCxnSpPr>
            <a:cxnSpLocks/>
          </p:cNvCxnSpPr>
          <p:nvPr/>
        </p:nvCxnSpPr>
        <p:spPr>
          <a:xfrm>
            <a:off x="2107266" y="1395708"/>
            <a:ext cx="0" cy="129726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9" name="表格 8">
                <a:extLst>
                  <a:ext uri="{FF2B5EF4-FFF2-40B4-BE49-F238E27FC236}">
                    <a16:creationId xmlns:a16="http://schemas.microsoft.com/office/drawing/2014/main" id="{1B1BFFEF-AE84-4266-8E35-1F64B1E84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9600540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9" name="表格 8">
                <a:extLst>
                  <a:ext uri="{FF2B5EF4-FFF2-40B4-BE49-F238E27FC236}">
                    <a16:creationId xmlns:a16="http://schemas.microsoft.com/office/drawing/2014/main" id="{1B1BFFEF-AE84-4266-8E35-1F64B1E84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9600540"/>
                  </p:ext>
                </p:extLst>
              </p:nvPr>
            </p:nvGraphicFramePr>
            <p:xfrm>
              <a:off x="914330" y="2799704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90000" t="-8197" r="-302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14286" t="-8197" r="-208163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8197" r="-104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2000" t="-108197" r="-500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108197" r="-104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16327" t="-108197" r="-612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7624A86A-710F-4F1A-AF46-F8ED10C0E339}"/>
              </a:ext>
            </a:extLst>
          </p:cNvPr>
          <p:cNvCxnSpPr>
            <a:cxnSpLocks/>
          </p:cNvCxnSpPr>
          <p:nvPr/>
        </p:nvCxnSpPr>
        <p:spPr>
          <a:xfrm>
            <a:off x="2697685" y="2487990"/>
            <a:ext cx="1" cy="71325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0814C91D-5EE1-4392-AE9C-91562A94EBD8}"/>
              </a:ext>
            </a:extLst>
          </p:cNvPr>
          <p:cNvCxnSpPr>
            <a:cxnSpLocks/>
          </p:cNvCxnSpPr>
          <p:nvPr/>
        </p:nvCxnSpPr>
        <p:spPr>
          <a:xfrm>
            <a:off x="2419009" y="3140737"/>
            <a:ext cx="0" cy="58275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65616B8E-13BD-453E-9EE6-39B055E9D08A}"/>
              </a:ext>
            </a:extLst>
          </p:cNvPr>
          <p:cNvCxnSpPr>
            <a:cxnSpLocks/>
          </p:cNvCxnSpPr>
          <p:nvPr/>
        </p:nvCxnSpPr>
        <p:spPr>
          <a:xfrm>
            <a:off x="2384173" y="3176971"/>
            <a:ext cx="31351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4" name="表格 8">
                <a:extLst>
                  <a:ext uri="{FF2B5EF4-FFF2-40B4-BE49-F238E27FC236}">
                    <a16:creationId xmlns:a16="http://schemas.microsoft.com/office/drawing/2014/main" id="{95DCAEFB-A642-4461-8461-D02E10657A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379669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4" name="表格 8">
                <a:extLst>
                  <a:ext uri="{FF2B5EF4-FFF2-40B4-BE49-F238E27FC236}">
                    <a16:creationId xmlns:a16="http://schemas.microsoft.com/office/drawing/2014/main" id="{95DCAEFB-A642-4461-8461-D02E10657A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379669"/>
                  </p:ext>
                </p:extLst>
              </p:nvPr>
            </p:nvGraphicFramePr>
            <p:xfrm>
              <a:off x="914330" y="48441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90000" t="-6452" r="-302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14286" t="-6452" r="-208163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6452" r="-104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381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5" name="群組 74">
            <a:extLst>
              <a:ext uri="{FF2B5EF4-FFF2-40B4-BE49-F238E27FC236}">
                <a16:creationId xmlns:a16="http://schemas.microsoft.com/office/drawing/2014/main" id="{08C618DC-2A72-4C09-9CBA-A77F15E35D84}"/>
              </a:ext>
            </a:extLst>
          </p:cNvPr>
          <p:cNvGrpSpPr/>
          <p:nvPr/>
        </p:nvGrpSpPr>
        <p:grpSpPr>
          <a:xfrm>
            <a:off x="1219008" y="4262301"/>
            <a:ext cx="4212167" cy="1930115"/>
            <a:chOff x="1471746" y="3248361"/>
            <a:chExt cx="4212167" cy="1930115"/>
          </a:xfrm>
        </p:grpSpPr>
        <p:cxnSp>
          <p:nvCxnSpPr>
            <p:cNvPr id="77" name="直線單箭頭接點 76">
              <a:extLst>
                <a:ext uri="{FF2B5EF4-FFF2-40B4-BE49-F238E27FC236}">
                  <a16:creationId xmlns:a16="http://schemas.microsoft.com/office/drawing/2014/main" id="{0E2F0C2A-0F93-4D5D-A5A7-CA59A01002EE}"/>
                </a:ext>
              </a:extLst>
            </p:cNvPr>
            <p:cNvCxnSpPr>
              <a:cxnSpLocks/>
            </p:cNvCxnSpPr>
            <p:nvPr/>
          </p:nvCxnSpPr>
          <p:spPr>
            <a:xfrm>
              <a:off x="1785257" y="3736152"/>
              <a:ext cx="612718" cy="1274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單箭頭接點 79">
              <a:extLst>
                <a:ext uri="{FF2B5EF4-FFF2-40B4-BE49-F238E27FC236}">
                  <a16:creationId xmlns:a16="http://schemas.microsoft.com/office/drawing/2014/main" id="{3FEE59F1-7A79-42B7-BAB4-333CBED4DF55}"/>
                </a:ext>
              </a:extLst>
            </p:cNvPr>
            <p:cNvCxnSpPr>
              <a:cxnSpLocks/>
            </p:cNvCxnSpPr>
            <p:nvPr/>
          </p:nvCxnSpPr>
          <p:spPr>
            <a:xfrm>
              <a:off x="3322298" y="3736152"/>
              <a:ext cx="1441480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0">
              <a:extLst>
                <a:ext uri="{FF2B5EF4-FFF2-40B4-BE49-F238E27FC236}">
                  <a16:creationId xmlns:a16="http://schemas.microsoft.com/office/drawing/2014/main" id="{F13C40AD-909D-44AC-9F98-C45653FF412E}"/>
                </a:ext>
              </a:extLst>
            </p:cNvPr>
            <p:cNvCxnSpPr>
              <a:cxnSpLocks/>
            </p:cNvCxnSpPr>
            <p:nvPr/>
          </p:nvCxnSpPr>
          <p:spPr>
            <a:xfrm>
              <a:off x="4782930" y="3736152"/>
              <a:ext cx="487487" cy="3921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單箭頭接點 81">
              <a:extLst>
                <a:ext uri="{FF2B5EF4-FFF2-40B4-BE49-F238E27FC236}">
                  <a16:creationId xmlns:a16="http://schemas.microsoft.com/office/drawing/2014/main" id="{B8F79E95-2985-4010-83B4-308699ACA8F9}"/>
                </a:ext>
              </a:extLst>
            </p:cNvPr>
            <p:cNvCxnSpPr>
              <a:cxnSpLocks/>
            </p:cNvCxnSpPr>
            <p:nvPr/>
          </p:nvCxnSpPr>
          <p:spPr>
            <a:xfrm>
              <a:off x="1471746" y="4716386"/>
              <a:ext cx="905274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單箭頭接點 82">
              <a:extLst>
                <a:ext uri="{FF2B5EF4-FFF2-40B4-BE49-F238E27FC236}">
                  <a16:creationId xmlns:a16="http://schemas.microsoft.com/office/drawing/2014/main" id="{B4FB3952-03EE-4E12-8F13-CA7A09659EB8}"/>
                </a:ext>
              </a:extLst>
            </p:cNvPr>
            <p:cNvCxnSpPr>
              <a:cxnSpLocks/>
            </p:cNvCxnSpPr>
            <p:nvPr/>
          </p:nvCxnSpPr>
          <p:spPr>
            <a:xfrm>
              <a:off x="2377020" y="4716386"/>
              <a:ext cx="212095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單箭頭接點 83">
              <a:extLst>
                <a:ext uri="{FF2B5EF4-FFF2-40B4-BE49-F238E27FC236}">
                  <a16:creationId xmlns:a16="http://schemas.microsoft.com/office/drawing/2014/main" id="{F946DC0D-F8A0-42D6-94EA-D7B648180DD1}"/>
                </a:ext>
              </a:extLst>
            </p:cNvPr>
            <p:cNvCxnSpPr>
              <a:cxnSpLocks/>
            </p:cNvCxnSpPr>
            <p:nvPr/>
          </p:nvCxnSpPr>
          <p:spPr>
            <a:xfrm>
              <a:off x="4537355" y="4716386"/>
              <a:ext cx="539932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單箭頭接點 85">
              <a:extLst>
                <a:ext uri="{FF2B5EF4-FFF2-40B4-BE49-F238E27FC236}">
                  <a16:creationId xmlns:a16="http://schemas.microsoft.com/office/drawing/2014/main" id="{A199E08B-7E4B-426D-9F54-AA622DBD0EA7}"/>
                </a:ext>
              </a:extLst>
            </p:cNvPr>
            <p:cNvCxnSpPr>
              <a:cxnSpLocks/>
            </p:cNvCxnSpPr>
            <p:nvPr/>
          </p:nvCxnSpPr>
          <p:spPr>
            <a:xfrm>
              <a:off x="5077287" y="4716386"/>
              <a:ext cx="606626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ACF43E60-5838-4BB7-9544-287C5DC703A6}"/>
                </a:ext>
              </a:extLst>
            </p:cNvPr>
            <p:cNvSpPr txBox="1"/>
            <p:nvPr/>
          </p:nvSpPr>
          <p:spPr>
            <a:xfrm>
              <a:off x="1906753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19408C65-ABA0-411F-ABD4-DF14B304747D}"/>
                </a:ext>
              </a:extLst>
            </p:cNvPr>
            <p:cNvSpPr txBox="1"/>
            <p:nvPr/>
          </p:nvSpPr>
          <p:spPr>
            <a:xfrm>
              <a:off x="1767628" y="471681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8338FCB4-7CF2-49D2-8489-9904F4F7683C}"/>
                </a:ext>
              </a:extLst>
            </p:cNvPr>
            <p:cNvSpPr txBox="1"/>
            <p:nvPr/>
          </p:nvSpPr>
          <p:spPr>
            <a:xfrm>
              <a:off x="3678124" y="3277034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A637EE3E-A770-413B-96B0-B05E72C54BE6}"/>
                </a:ext>
              </a:extLst>
            </p:cNvPr>
            <p:cNvSpPr txBox="1"/>
            <p:nvPr/>
          </p:nvSpPr>
          <p:spPr>
            <a:xfrm>
              <a:off x="4637311" y="469195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8323AE1A-E1A9-4CBD-9B64-7923B738792E}"/>
                </a:ext>
              </a:extLst>
            </p:cNvPr>
            <p:cNvSpPr txBox="1"/>
            <p:nvPr/>
          </p:nvSpPr>
          <p:spPr>
            <a:xfrm>
              <a:off x="4896082" y="3248361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1A59DDCA-01EB-46E1-A290-4B4F74A0F7C1}"/>
                </a:ext>
              </a:extLst>
            </p:cNvPr>
            <p:cNvSpPr txBox="1"/>
            <p:nvPr/>
          </p:nvSpPr>
          <p:spPr>
            <a:xfrm>
              <a:off x="5250042" y="4688127"/>
              <a:ext cx="3135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35498501-C581-454E-82BB-E01912CD31A5}"/>
              </a:ext>
            </a:extLst>
          </p:cNvPr>
          <p:cNvCxnSpPr>
            <a:cxnSpLocks/>
          </p:cNvCxnSpPr>
          <p:nvPr/>
        </p:nvCxnSpPr>
        <p:spPr>
          <a:xfrm>
            <a:off x="3026038" y="4326243"/>
            <a:ext cx="0" cy="893626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D6964A1A-B106-47D6-89CB-5ECC97BC1ABD}"/>
              </a:ext>
            </a:extLst>
          </p:cNvPr>
          <p:cNvCxnSpPr>
            <a:cxnSpLocks/>
          </p:cNvCxnSpPr>
          <p:nvPr/>
        </p:nvCxnSpPr>
        <p:spPr>
          <a:xfrm>
            <a:off x="4245238" y="5215018"/>
            <a:ext cx="0" cy="91680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07449DFC-832B-4F18-B6CA-BA0AB4BD9336}"/>
              </a:ext>
            </a:extLst>
          </p:cNvPr>
          <p:cNvCxnSpPr>
            <a:cxnSpLocks/>
          </p:cNvCxnSpPr>
          <p:nvPr/>
        </p:nvCxnSpPr>
        <p:spPr>
          <a:xfrm>
            <a:off x="3026038" y="5219869"/>
            <a:ext cx="12192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361B40-F908-4A3A-948A-FA696A8AEADB}"/>
              </a:ext>
            </a:extLst>
          </p:cNvPr>
          <p:cNvSpPr txBox="1"/>
          <p:nvPr/>
        </p:nvSpPr>
        <p:spPr>
          <a:xfrm>
            <a:off x="2389350" y="4267772"/>
            <a:ext cx="313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6D7A046-BBE8-41F8-A796-C2A419BC8088}"/>
              </a:ext>
            </a:extLst>
          </p:cNvPr>
          <p:cNvSpPr txBox="1"/>
          <p:nvPr/>
        </p:nvSpPr>
        <p:spPr>
          <a:xfrm>
            <a:off x="2976459" y="5683787"/>
            <a:ext cx="313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4E24637-D785-4254-913B-0A0B12F2E6E5}"/>
              </a:ext>
            </a:extLst>
          </p:cNvPr>
          <p:cNvSpPr txBox="1"/>
          <p:nvPr/>
        </p:nvSpPr>
        <p:spPr>
          <a:xfrm>
            <a:off x="11242766" y="5683787"/>
            <a:ext cx="77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750FE900-9C54-462C-A2BA-930D2B32D90C}"/>
              </a:ext>
            </a:extLst>
          </p:cNvPr>
          <p:cNvCxnSpPr>
            <a:cxnSpLocks/>
          </p:cNvCxnSpPr>
          <p:nvPr/>
        </p:nvCxnSpPr>
        <p:spPr>
          <a:xfrm flipV="1">
            <a:off x="2124282" y="4750092"/>
            <a:ext cx="901756" cy="254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665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2A76428-B335-4EE3-A7C3-F46DEC766B9C}"/>
              </a:ext>
            </a:extLst>
          </p:cNvPr>
          <p:cNvSpPr txBox="1">
            <a:spLocks/>
          </p:cNvSpPr>
          <p:nvPr/>
        </p:nvSpPr>
        <p:spPr>
          <a:xfrm>
            <a:off x="838199" y="1720404"/>
            <a:ext cx="10953207" cy="3335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Naïve time complexity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 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key observation behind our O(</a:t>
            </a:r>
            <a:r>
              <a:rPr lang="en-US" altLang="zh-TW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)-time algorithm is that the naive approach stores multiple copies of the same information in different split diagrams.</a:t>
            </a:r>
          </a:p>
          <a:p>
            <a:pPr marL="0" indent="0">
              <a:buNone/>
            </a:pPr>
            <a:endParaRPr lang="en-US" altLang="zh-TW" sz="24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Hierarchy of splits</a:t>
            </a:r>
            <a:r>
              <a:rPr lang="zh-TW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O(</a:t>
            </a:r>
            <a:r>
              <a:rPr lang="en-US" altLang="zh-TW" sz="2400" i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736229C-50FB-48BF-BAE8-BDCFB98E0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534578"/>
              </p:ext>
            </p:extLst>
          </p:nvPr>
        </p:nvGraphicFramePr>
        <p:xfrm>
          <a:off x="6830818" y="4419529"/>
          <a:ext cx="4246485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520">
                  <a:extLst>
                    <a:ext uri="{9D8B030D-6E8A-4147-A177-3AD203B41FA5}">
                      <a16:colId xmlns:a16="http://schemas.microsoft.com/office/drawing/2014/main" val="444471142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2431129755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1053946806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605079744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774889325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3782931823"/>
                    </a:ext>
                  </a:extLst>
                </a:gridCol>
              </a:tblGrid>
              <a:tr h="318036">
                <a:tc>
                  <a:txBody>
                    <a:bodyPr/>
                    <a:lstStyle/>
                    <a:p>
                      <a:pPr algn="ctr"/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endParaRPr lang="en-US" altLang="zh-TW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420695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510040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40153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185240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807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8">
                <a:extLst>
                  <a:ext uri="{FF2B5EF4-FFF2-40B4-BE49-F238E27FC236}">
                    <a16:creationId xmlns:a16="http://schemas.microsoft.com/office/drawing/2014/main" id="{BF982367-2770-476F-96A8-E85EF7D4D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376032"/>
                  </p:ext>
                </p:extLst>
              </p:nvPr>
            </p:nvGraphicFramePr>
            <p:xfrm>
              <a:off x="1184296" y="5085476"/>
              <a:ext cx="4911705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7447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24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8">
                <a:extLst>
                  <a:ext uri="{FF2B5EF4-FFF2-40B4-BE49-F238E27FC236}">
                    <a16:creationId xmlns:a16="http://schemas.microsoft.com/office/drawing/2014/main" id="{BF982367-2770-476F-96A8-E85EF7D4D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376032"/>
                  </p:ext>
                </p:extLst>
              </p:nvPr>
            </p:nvGraphicFramePr>
            <p:xfrm>
              <a:off x="1184296" y="5085476"/>
              <a:ext cx="4911705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7447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27447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8148" t="-10526" r="-301852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20755" t="-10526" r="-207547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96296" t="-10526" r="-103704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8148" t="-112000" r="-501852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96296" t="-112000" r="-103704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96296" t="-112000" r="-3704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07090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52360D-11E3-4209-885D-4D0786A5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Hierarchy of splits</a:t>
            </a:r>
            <a:endParaRPr lang="zh-TW" altLang="en-US" sz="4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3CDBDE6-0161-4778-9D74-17FD8E06F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024890"/>
              </p:ext>
            </p:extLst>
          </p:nvPr>
        </p:nvGraphicFramePr>
        <p:xfrm>
          <a:off x="838200" y="1690688"/>
          <a:ext cx="10515599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389">
                  <a:extLst>
                    <a:ext uri="{9D8B030D-6E8A-4147-A177-3AD203B41FA5}">
                      <a16:colId xmlns:a16="http://schemas.microsoft.com/office/drawing/2014/main" val="444471142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2431129755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1053946806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605079744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774889325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3782931823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3439486605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886598328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393394950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3253244873"/>
                    </a:ext>
                  </a:extLst>
                </a:gridCol>
                <a:gridCol w="963821">
                  <a:extLst>
                    <a:ext uri="{9D8B030D-6E8A-4147-A177-3AD203B41FA5}">
                      <a16:colId xmlns:a16="http://schemas.microsoft.com/office/drawing/2014/main" val="2386172617"/>
                    </a:ext>
                  </a:extLst>
                </a:gridCol>
              </a:tblGrid>
              <a:tr h="318036">
                <a:tc>
                  <a:txBody>
                    <a:bodyPr/>
                    <a:lstStyle/>
                    <a:p>
                      <a:pPr algn="ctr"/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0001</a:t>
                      </a:r>
                      <a:endParaRPr lang="en-US" altLang="zh-TW" sz="24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420695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510040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240153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24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185240"/>
                  </a:ext>
                </a:extLst>
              </a:tr>
              <a:tr h="318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  <a:endParaRPr lang="zh-TW" altLang="en-US" sz="24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8071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495D32F9-E508-450A-83F2-7110043FF3C8}"/>
              </a:ext>
            </a:extLst>
          </p:cNvPr>
          <p:cNvSpPr txBox="1"/>
          <p:nvPr/>
        </p:nvSpPr>
        <p:spPr>
          <a:xfrm>
            <a:off x="838200" y="4180004"/>
            <a:ext cx="105155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scheme has the nice property that between any two splits on the same level there lies another split on a higher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algorithm will use this property to ensure that for any LCWIS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there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 at least one split diagram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which we insert 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from which we read off 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464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CD40CBD0-185D-4E67-8616-C4C37A8316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411741"/>
              </p:ext>
            </p:extLst>
          </p:nvPr>
        </p:nvGraphicFramePr>
        <p:xfrm>
          <a:off x="7957568" y="28654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C2E15949-074D-4EC6-B0A4-C5EBCAF1B7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252341"/>
              </p:ext>
            </p:extLst>
          </p:nvPr>
        </p:nvGraphicFramePr>
        <p:xfrm>
          <a:off x="7957568" y="238553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1AA1D08-CA9C-4CB2-9D6A-671DDBFD0FE3}"/>
              </a:ext>
            </a:extLst>
          </p:cNvPr>
          <p:cNvCxnSpPr>
            <a:cxnSpLocks/>
          </p:cNvCxnSpPr>
          <p:nvPr/>
        </p:nvCxnSpPr>
        <p:spPr>
          <a:xfrm>
            <a:off x="5692916" y="4254776"/>
            <a:ext cx="1818421" cy="10302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3A227B0-630C-41C2-9ADC-73A530DA7345}"/>
              </a:ext>
            </a:extLst>
          </p:cNvPr>
          <p:cNvCxnSpPr>
            <a:cxnSpLocks/>
          </p:cNvCxnSpPr>
          <p:nvPr/>
        </p:nvCxnSpPr>
        <p:spPr>
          <a:xfrm>
            <a:off x="5692919" y="2229663"/>
            <a:ext cx="1869549" cy="9166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AC93B9E9-C3CC-4042-8A80-863F6894BFD6}"/>
              </a:ext>
            </a:extLst>
          </p:cNvPr>
          <p:cNvCxnSpPr/>
          <p:nvPr/>
        </p:nvCxnSpPr>
        <p:spPr>
          <a:xfrm>
            <a:off x="522514" y="2653504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5A7FC36-B1B5-4775-B874-9EE78F1A3E94}"/>
              </a:ext>
            </a:extLst>
          </p:cNvPr>
          <p:cNvCxnSpPr/>
          <p:nvPr/>
        </p:nvCxnSpPr>
        <p:spPr>
          <a:xfrm>
            <a:off x="522513" y="3697360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4722A4F3-0E8D-4BB4-B856-07431F5CA0E1}"/>
              </a:ext>
            </a:extLst>
          </p:cNvPr>
          <p:cNvCxnSpPr/>
          <p:nvPr/>
        </p:nvCxnSpPr>
        <p:spPr>
          <a:xfrm>
            <a:off x="594827" y="4746005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84D005C-E06A-4975-9ADD-6ED074CD5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520537"/>
              </p:ext>
            </p:extLst>
          </p:nvPr>
        </p:nvGraphicFramePr>
        <p:xfrm>
          <a:off x="910511" y="4917963"/>
          <a:ext cx="424648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520">
                  <a:extLst>
                    <a:ext uri="{9D8B030D-6E8A-4147-A177-3AD203B41FA5}">
                      <a16:colId xmlns:a16="http://schemas.microsoft.com/office/drawing/2014/main" val="444471142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2431129755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1053946806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605079744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774889325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3782931823"/>
                    </a:ext>
                  </a:extLst>
                </a:gridCol>
              </a:tblGrid>
              <a:tr h="2886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510040"/>
                  </a:ext>
                </a:extLst>
              </a:tr>
              <a:tr h="2886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TW" alt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40153"/>
                  </a:ext>
                </a:extLst>
              </a:tr>
              <a:tr h="2886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185240"/>
                  </a:ext>
                </a:extLst>
              </a:tr>
              <a:tr h="2886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807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8">
                <a:extLst>
                  <a:ext uri="{FF2B5EF4-FFF2-40B4-BE49-F238E27FC236}">
                    <a16:creationId xmlns:a16="http://schemas.microsoft.com/office/drawing/2014/main" id="{DEB779AD-7813-4BD3-9727-C4D8E3DFD7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7550567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8">
                <a:extLst>
                  <a:ext uri="{FF2B5EF4-FFF2-40B4-BE49-F238E27FC236}">
                    <a16:creationId xmlns:a16="http://schemas.microsoft.com/office/drawing/2014/main" id="{DEB779AD-7813-4BD3-9727-C4D8E3DFD7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7550567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90000" t="-8197" r="-302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214286" t="-8197" r="-2081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288000" t="-8197" r="-104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8">
                <a:extLst>
                  <a:ext uri="{FF2B5EF4-FFF2-40B4-BE49-F238E27FC236}">
                    <a16:creationId xmlns:a16="http://schemas.microsoft.com/office/drawing/2014/main" id="{59C8992D-7529-4F3A-B02C-3DE1EB6C56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7699213"/>
                  </p:ext>
                </p:extLst>
              </p:nvPr>
            </p:nvGraphicFramePr>
            <p:xfrm>
              <a:off x="910512" y="27754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8">
                <a:extLst>
                  <a:ext uri="{FF2B5EF4-FFF2-40B4-BE49-F238E27FC236}">
                    <a16:creationId xmlns:a16="http://schemas.microsoft.com/office/drawing/2014/main" id="{59C8992D-7529-4F3A-B02C-3DE1EB6C56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7699213"/>
                  </p:ext>
                </p:extLst>
              </p:nvPr>
            </p:nvGraphicFramePr>
            <p:xfrm>
              <a:off x="910512" y="27754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90000" t="-8197" r="-300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14286" t="-8197" r="-20612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8197" r="-102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892000" t="-108197" r="-498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88000" t="-108197" r="-102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416327" t="-108197" r="-408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B843A2CA-245E-4564-9BD7-117395F97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140914"/>
                  </p:ext>
                </p:extLst>
              </p:nvPr>
            </p:nvGraphicFramePr>
            <p:xfrm>
              <a:off x="910511" y="3857627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B843A2CA-245E-4564-9BD7-117395F97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140914"/>
                  </p:ext>
                </p:extLst>
              </p:nvPr>
            </p:nvGraphicFramePr>
            <p:xfrm>
              <a:off x="910511" y="3857627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90000" t="-6452" r="-300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14286" t="-6452" r="-206122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6452" r="-102000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92000" t="-108197" r="-498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8000" t="-108197" r="-102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16327" t="-108197" r="-408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8" name="圖表 27">
            <a:extLst>
              <a:ext uri="{FF2B5EF4-FFF2-40B4-BE49-F238E27FC236}">
                <a16:creationId xmlns:a16="http://schemas.microsoft.com/office/drawing/2014/main" id="{98E24CEF-B23E-4F68-83E6-42F0246ADF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182018"/>
              </p:ext>
            </p:extLst>
          </p:nvPr>
        </p:nvGraphicFramePr>
        <p:xfrm>
          <a:off x="7957568" y="4485608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DD2319-C38D-4C7B-8A4A-313DD586E92D}"/>
              </a:ext>
            </a:extLst>
          </p:cNvPr>
          <p:cNvSpPr txBox="1"/>
          <p:nvPr/>
        </p:nvSpPr>
        <p:spPr>
          <a:xfrm>
            <a:off x="10783750" y="137390"/>
            <a:ext cx="96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08C91A4-A653-43D2-9C7B-B441EF1D1B28}"/>
              </a:ext>
            </a:extLst>
          </p:cNvPr>
          <p:cNvSpPr txBox="1"/>
          <p:nvPr/>
        </p:nvSpPr>
        <p:spPr>
          <a:xfrm>
            <a:off x="10783750" y="2312112"/>
            <a:ext cx="96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B046D49-81DA-434D-B326-02DF6086EC52}"/>
              </a:ext>
            </a:extLst>
          </p:cNvPr>
          <p:cNvSpPr txBox="1"/>
          <p:nvPr/>
        </p:nvSpPr>
        <p:spPr>
          <a:xfrm>
            <a:off x="10783750" y="4368474"/>
            <a:ext cx="96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ADEF053F-D0B4-4F5E-B1D2-E213B4DFDA2A}"/>
              </a:ext>
            </a:extLst>
          </p:cNvPr>
          <p:cNvCxnSpPr>
            <a:cxnSpLocks/>
          </p:cNvCxnSpPr>
          <p:nvPr/>
        </p:nvCxnSpPr>
        <p:spPr>
          <a:xfrm flipV="1">
            <a:off x="5765230" y="1318339"/>
            <a:ext cx="2058982" cy="18279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208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81AA1D08-CA9C-4CB2-9D6A-671DDBFD0FE3}"/>
              </a:ext>
            </a:extLst>
          </p:cNvPr>
          <p:cNvCxnSpPr>
            <a:cxnSpLocks/>
          </p:cNvCxnSpPr>
          <p:nvPr/>
        </p:nvCxnSpPr>
        <p:spPr>
          <a:xfrm>
            <a:off x="5692917" y="3238854"/>
            <a:ext cx="1999091" cy="18730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3A227B0-630C-41C2-9ADC-73A530DA7345}"/>
              </a:ext>
            </a:extLst>
          </p:cNvPr>
          <p:cNvCxnSpPr>
            <a:cxnSpLocks/>
          </p:cNvCxnSpPr>
          <p:nvPr/>
        </p:nvCxnSpPr>
        <p:spPr>
          <a:xfrm flipV="1">
            <a:off x="5692919" y="1644313"/>
            <a:ext cx="1818418" cy="5853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AC93B9E9-C3CC-4042-8A80-863F6894BFD6}"/>
              </a:ext>
            </a:extLst>
          </p:cNvPr>
          <p:cNvCxnSpPr/>
          <p:nvPr/>
        </p:nvCxnSpPr>
        <p:spPr>
          <a:xfrm>
            <a:off x="522514" y="2653504"/>
            <a:ext cx="5170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84D005C-E06A-4975-9ADD-6ED074CD5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450771"/>
              </p:ext>
            </p:extLst>
          </p:nvPr>
        </p:nvGraphicFramePr>
        <p:xfrm>
          <a:off x="910512" y="4888958"/>
          <a:ext cx="424648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8520">
                  <a:extLst>
                    <a:ext uri="{9D8B030D-6E8A-4147-A177-3AD203B41FA5}">
                      <a16:colId xmlns:a16="http://schemas.microsoft.com/office/drawing/2014/main" val="444471142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2431129755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1053946806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605079744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774889325"/>
                    </a:ext>
                  </a:extLst>
                </a:gridCol>
                <a:gridCol w="663593">
                  <a:extLst>
                    <a:ext uri="{9D8B030D-6E8A-4147-A177-3AD203B41FA5}">
                      <a16:colId xmlns:a16="http://schemas.microsoft.com/office/drawing/2014/main" val="3782931823"/>
                    </a:ext>
                  </a:extLst>
                </a:gridCol>
              </a:tblGrid>
              <a:tr h="2886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510040"/>
                  </a:ext>
                </a:extLst>
              </a:tr>
              <a:tr h="28863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zh-TW" alt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240153"/>
                  </a:ext>
                </a:extLst>
              </a:tr>
              <a:tr h="2886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zh-TW" alt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185240"/>
                  </a:ext>
                </a:extLst>
              </a:tr>
              <a:tr h="2329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5807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8">
                <a:extLst>
                  <a:ext uri="{FF2B5EF4-FFF2-40B4-BE49-F238E27FC236}">
                    <a16:creationId xmlns:a16="http://schemas.microsoft.com/office/drawing/2014/main" id="{E76BE523-FADE-478A-B3EB-DCFA1BAC2F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6076066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8">
                <a:extLst>
                  <a:ext uri="{FF2B5EF4-FFF2-40B4-BE49-F238E27FC236}">
                    <a16:creationId xmlns:a16="http://schemas.microsoft.com/office/drawing/2014/main" id="{E76BE523-FADE-478A-B3EB-DCFA1BAC2F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6076066"/>
                  </p:ext>
                </p:extLst>
              </p:nvPr>
            </p:nvGraphicFramePr>
            <p:xfrm>
              <a:off x="914330" y="172658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90000" t="-8197" r="-302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14286" t="-8197" r="-20816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8000" t="-8197" r="-104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92000" t="-108197" r="-5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88000" t="-108197" r="-104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6327" t="-108197" r="-6122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5C28F120-1734-41F3-A397-3FA2DC089D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4768325"/>
                  </p:ext>
                </p:extLst>
              </p:nvPr>
            </p:nvGraphicFramePr>
            <p:xfrm>
              <a:off x="910512" y="27754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TW" sz="1800" b="0" i="1" dirty="0" smtClean="0">
                                    <a:solidFill>
                                      <a:schemeClr val="tx1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</m:oMath>
                            </m:oMathPara>
                          </a14:m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5C28F120-1734-41F3-A397-3FA2DC089D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4768325"/>
                  </p:ext>
                </p:extLst>
              </p:nvPr>
            </p:nvGraphicFramePr>
            <p:xfrm>
              <a:off x="910512" y="2775478"/>
              <a:ext cx="4516845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1123">
                      <a:extLst>
                        <a:ext uri="{9D8B030D-6E8A-4147-A177-3AD203B41FA5}">
                          <a16:colId xmlns:a16="http://schemas.microsoft.com/office/drawing/2014/main" val="141857543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52576923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40461505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485667650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535682942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721663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24466538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20235863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996835995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58519423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738543644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2177424591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819335467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3110502838"/>
                        </a:ext>
                      </a:extLst>
                    </a:gridCol>
                    <a:gridCol w="301123">
                      <a:extLst>
                        <a:ext uri="{9D8B030D-6E8A-4147-A177-3AD203B41FA5}">
                          <a16:colId xmlns:a16="http://schemas.microsoft.com/office/drawing/2014/main" val="10907049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90000" t="-8197" r="-300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14286" t="-8197" r="-20612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88000" t="-8197" r="-102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49554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892000" t="-108197" r="-498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α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β</a:t>
                          </a:r>
                          <a:endParaRPr lang="zh-TW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88000" t="-108197" r="-102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416327" t="-108197" r="-408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971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382BE15D-644E-4DCB-A36F-A29009C1EE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976475"/>
              </p:ext>
            </p:extLst>
          </p:nvPr>
        </p:nvGraphicFramePr>
        <p:xfrm>
          <a:off x="7957568" y="28654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6222F22F-925B-42C7-B7FE-3B2A91491B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207948"/>
              </p:ext>
            </p:extLst>
          </p:nvPr>
        </p:nvGraphicFramePr>
        <p:xfrm>
          <a:off x="7957568" y="2385531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E391A7EC-6AB8-47A3-AE15-73953C143D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0750706"/>
              </p:ext>
            </p:extLst>
          </p:nvPr>
        </p:nvGraphicFramePr>
        <p:xfrm>
          <a:off x="7957568" y="4485608"/>
          <a:ext cx="3205266" cy="1872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A7E61F56-C55A-454F-88B4-6FEAF5AE6E4F}"/>
              </a:ext>
            </a:extLst>
          </p:cNvPr>
          <p:cNvSpPr txBox="1"/>
          <p:nvPr/>
        </p:nvSpPr>
        <p:spPr>
          <a:xfrm>
            <a:off x="10783750" y="137390"/>
            <a:ext cx="96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3BC49A4-B455-48FB-87AC-2D314892E26E}"/>
              </a:ext>
            </a:extLst>
          </p:cNvPr>
          <p:cNvSpPr txBox="1"/>
          <p:nvPr/>
        </p:nvSpPr>
        <p:spPr>
          <a:xfrm>
            <a:off x="10783750" y="2312112"/>
            <a:ext cx="96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B9B433F-673D-48D6-9AD1-94DE755A7EB7}"/>
              </a:ext>
            </a:extLst>
          </p:cNvPr>
          <p:cNvSpPr txBox="1"/>
          <p:nvPr/>
        </p:nvSpPr>
        <p:spPr>
          <a:xfrm>
            <a:off x="10822472" y="4366820"/>
            <a:ext cx="96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62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6F8EB7-DC63-47D0-AF6F-D79DFF276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B98F35B-B4AD-4E8E-A89E-56D522C20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000" y="906272"/>
            <a:ext cx="4680000" cy="586118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9C8AAC0-E080-4722-8F54-B51F1C7FE7DD}"/>
              </a:ext>
            </a:extLst>
          </p:cNvPr>
          <p:cNvSpPr/>
          <p:nvPr/>
        </p:nvSpPr>
        <p:spPr>
          <a:xfrm>
            <a:off x="7750629" y="2095473"/>
            <a:ext cx="4014651" cy="21336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E7C7B0-3A20-44F2-9BEF-A0E5A4FCA4D5}"/>
              </a:ext>
            </a:extLst>
          </p:cNvPr>
          <p:cNvSpPr/>
          <p:nvPr/>
        </p:nvSpPr>
        <p:spPr>
          <a:xfrm>
            <a:off x="7750628" y="4229073"/>
            <a:ext cx="4014651" cy="21336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182759A-C362-483A-9B48-A4EB78760B23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6096000" y="2757488"/>
            <a:ext cx="1654629" cy="40478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5A2E308-5A3F-4D64-A68B-93C332FFC92F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096000" y="5155055"/>
            <a:ext cx="1654628" cy="14081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48C2B3A-2AA2-49D3-BCB4-848FF1A98702}"/>
              </a:ext>
            </a:extLst>
          </p:cNvPr>
          <p:cNvSpPr txBox="1"/>
          <p:nvPr/>
        </p:nvSpPr>
        <p:spPr>
          <a:xfrm>
            <a:off x="832638" y="1649426"/>
            <a:ext cx="4854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建立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diagrams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B46F1CB-EE9B-4876-87AC-1A2A669F0C66}"/>
                  </a:ext>
                </a:extLst>
              </p:cNvPr>
              <p:cNvSpPr txBox="1"/>
              <p:nvPr/>
            </p:nvSpPr>
            <p:spPr>
              <a:xfrm>
                <a:off x="838200" y="4501803"/>
                <a:ext cx="3325158" cy="582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sz="2800" dirty="0">
                    <a:ea typeface="標楷體" panose="03000509000000000000" pitchFamily="65" charset="-120"/>
                  </a:rPr>
                  <a:t>用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sSub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𝑓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𝑖</m:t>
                        </m:r>
                      </m:sub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𝑠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𝑡</m:t>
                        </m:r>
                      </m:sup>
                    </m:sSubSup>
                    <m:r>
                      <a:rPr lang="zh-TW" altLang="en-US" sz="280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與</m:t>
                    </m:r>
                  </m:oMath>
                </a14:m>
                <a:r>
                  <a:rPr lang="zh-TW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l-GR" altLang="zh-TW" sz="28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γ</a:t>
                </a:r>
                <a:r>
                  <a:rPr lang="en-US" altLang="zh-TW" sz="2800" baseline="30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j</a:t>
                </a:r>
                <a:r>
                  <a:rPr lang="zh-TW" altLang="en-US" sz="28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8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得到答案</a:t>
                </a:r>
                <a:endParaRPr lang="zh-TW" altLang="en-US" sz="28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B46F1CB-EE9B-4876-87AC-1A2A669F0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01803"/>
                <a:ext cx="3325158" cy="582532"/>
              </a:xfrm>
              <a:prstGeom prst="rect">
                <a:avLst/>
              </a:prstGeom>
              <a:blipFill>
                <a:blip r:embed="rId4"/>
                <a:stretch>
                  <a:fillRect l="-3853" t="-4167" r="-1101" b="-239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4A96344-BA73-4CE6-A791-774997F7A548}"/>
                  </a:ext>
                </a:extLst>
              </p:cNvPr>
              <p:cNvSpPr txBox="1"/>
              <p:nvPr/>
            </p:nvSpPr>
            <p:spPr>
              <a:xfrm>
                <a:off x="832638" y="5084335"/>
                <a:ext cx="4854719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</a:t>
                </a:r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α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800" i="1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β</a:t>
                </a:r>
                <a:r>
                  <a:rPr lang="en-US" altLang="zh-TW" sz="2800" i="1" dirty="0">
                    <a:solidFill>
                      <a:srgbClr val="934BC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r>
                  <a:rPr lang="en-US" altLang="zh-TW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β </a:t>
                </a:r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α β β β</a:t>
                </a:r>
                <a:r>
                  <a:rPr lang="en-US" altLang="zh-TW" sz="2800" i="1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14:m>
                  <m:oMath xmlns:m="http://schemas.openxmlformats.org/officeDocument/2006/math">
                    <m:r>
                      <a:rPr lang="en-US" altLang="zh-TW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800" i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zh-TW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α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altLang="zh-TW" sz="2800" i="1" dirty="0">
                    <a:solidFill>
                      <a:srgbClr val="FFC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8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4A96344-BA73-4CE6-A791-774997F7A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638" y="5084335"/>
                <a:ext cx="4854719" cy="954107"/>
              </a:xfrm>
              <a:prstGeom prst="rect">
                <a:avLst/>
              </a:prstGeom>
              <a:blipFill>
                <a:blip r:embed="rId5"/>
                <a:stretch>
                  <a:fillRect l="-2638" t="-7006" b="-159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2E99E7BD-FC51-476C-B3B4-AF486F36220C}"/>
              </a:ext>
            </a:extLst>
          </p:cNvPr>
          <p:cNvCxnSpPr>
            <a:cxnSpLocks/>
          </p:cNvCxnSpPr>
          <p:nvPr/>
        </p:nvCxnSpPr>
        <p:spPr>
          <a:xfrm>
            <a:off x="487473" y="4229073"/>
            <a:ext cx="5545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091FE3-79C8-438E-90D3-B2C3DB393092}"/>
              </a:ext>
            </a:extLst>
          </p:cNvPr>
          <p:cNvSpPr txBox="1"/>
          <p:nvPr/>
        </p:nvSpPr>
        <p:spPr>
          <a:xfrm>
            <a:off x="832638" y="2190160"/>
            <a:ext cx="18190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+mj-lt"/>
                <a:cs typeface="Times New Roman" panose="02020603050405020304" pitchFamily="18" charset="0"/>
              </a:rPr>
              <a:t>’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dirty="0" err="1">
                <a:latin typeface="+mj-lt"/>
                <a:cs typeface="Times New Roman" panose="02020603050405020304" pitchFamily="18" charset="0"/>
              </a:rPr>
              <a:t>’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762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24CDF67-B340-4525-BA3A-A2D7C09294D9}"/>
              </a:ext>
            </a:extLst>
          </p:cNvPr>
          <p:cNvSpPr txBox="1"/>
          <p:nvPr/>
        </p:nvSpPr>
        <p:spPr>
          <a:xfrm>
            <a:off x="838200" y="1690688"/>
            <a:ext cx="10439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is based on a new approach to the 2-letter case. In particular, we show how to solve </a:t>
            </a:r>
            <a:r>
              <a:rPr lang="en-US" altLang="zh-TW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2-letter case in an online manner</a:t>
            </a:r>
            <a:r>
              <a:rPr lang="en-US" altLang="zh-TW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one symbol of a sequence is revealed at a time.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A57B28E-18B2-4162-A869-9184B91E760A}"/>
              </a:ext>
            </a:extLst>
          </p:cNvPr>
          <p:cNvSpPr txBox="1"/>
          <p:nvPr/>
        </p:nvSpPr>
        <p:spPr>
          <a:xfrm>
            <a:off x="838203" y="3274486"/>
            <a:ext cx="485471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</a:p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{}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52E07D-EAC4-4D3B-A82C-E23FED800A5C}"/>
              </a:ext>
            </a:extLst>
          </p:cNvPr>
          <p:cNvSpPr txBox="1"/>
          <p:nvPr/>
        </p:nvSpPr>
        <p:spPr>
          <a:xfrm>
            <a:off x="838203" y="3274486"/>
            <a:ext cx="485471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</a:p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280AC8B-C941-491F-AAA3-0F541A13393B}"/>
              </a:ext>
            </a:extLst>
          </p:cNvPr>
          <p:cNvSpPr txBox="1"/>
          <p:nvPr/>
        </p:nvSpPr>
        <p:spPr>
          <a:xfrm>
            <a:off x="838202" y="3274486"/>
            <a:ext cx="485471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zh-TW" sz="2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β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BED95AE-B8F4-412E-9B58-AE752F00C358}"/>
              </a:ext>
            </a:extLst>
          </p:cNvPr>
          <p:cNvSpPr txBox="1"/>
          <p:nvPr/>
        </p:nvSpPr>
        <p:spPr>
          <a:xfrm>
            <a:off x="838201" y="3274486"/>
            <a:ext cx="485471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</a:p>
          <a:p>
            <a:r>
              <a:rPr lang="en-US" altLang="zh-TW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αβ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TW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7AAFD11F-6E9F-4AD1-B137-EBCF75A84594}"/>
              </a:ext>
            </a:extLst>
          </p:cNvPr>
          <p:cNvSpPr txBox="1"/>
          <p:nvPr/>
        </p:nvSpPr>
        <p:spPr>
          <a:xfrm>
            <a:off x="838201" y="3274486"/>
            <a:ext cx="485471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α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β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endParaRPr lang="en-US" altLang="zh-TW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αβ, </a:t>
            </a:r>
            <a:r>
              <a:rPr lang="en-US" altLang="zh-TW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αα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C25EEBF-5BBC-45C1-A538-D42EC4979843}"/>
                  </a:ext>
                </a:extLst>
              </p:cNvPr>
              <p:cNvSpPr txBox="1"/>
              <p:nvPr/>
            </p:nvSpPr>
            <p:spPr>
              <a:xfrm>
                <a:off x="838200" y="3274486"/>
                <a:ext cx="6864535" cy="138499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 α α β α α β β α β</a:t>
                </a:r>
                <a:r>
                  <a:rPr lang="en-US" altLang="zh-TW" sz="28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β α α β β β β</a:t>
                </a:r>
                <a14:m>
                  <m:oMath xmlns:m="http://schemas.openxmlformats.org/officeDocument/2006/math"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α β</a:t>
                </a:r>
                <a:r>
                  <a:rPr lang="en-US" altLang="zh-TW" sz="28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r>
                  <a:rPr lang="en-US" altLang="zh-TW" sz="28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8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γ</m:t>
                    </m:r>
                  </m:oMath>
                </a14:m>
                <a:endParaRPr lang="en-US" altLang="zh-TW" sz="2800" i="1" dirty="0">
                  <a:cs typeface="Times New Roman" panose="02020603050405020304" pitchFamily="18" charset="0"/>
                </a:endParaRPr>
              </a:p>
              <a:p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TW" altLang="en-US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αββββ, ααββββ,</a:t>
                </a:r>
                <a:r>
                  <a:rPr lang="en-US" altLang="zh-TW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αααβββ, ααααβ, αααααβ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C25EEBF-5BBC-45C1-A538-D42EC4979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74486"/>
                <a:ext cx="6864535" cy="1384995"/>
              </a:xfrm>
              <a:prstGeom prst="rect">
                <a:avLst/>
              </a:prstGeom>
              <a:blipFill>
                <a:blip r:embed="rId3"/>
                <a:stretch>
                  <a:fillRect l="-1865" t="-4846" r="-3020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BB57D4D6-60B0-4351-ACAC-BCE8FFF8B872}"/>
              </a:ext>
            </a:extLst>
          </p:cNvPr>
          <p:cNvSpPr txBox="1"/>
          <p:nvPr/>
        </p:nvSpPr>
        <p:spPr>
          <a:xfrm>
            <a:off x="838200" y="4936479"/>
            <a:ext cx="10439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: each time we consider a </a:t>
            </a:r>
            <a:r>
              <a:rPr lang="en-US" altLang="zh-TW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may spend </a:t>
            </a:r>
            <a:r>
              <a:rPr lang="en-US" altLang="zh-TW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altLang="zh-TW" sz="2400" b="0" i="1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8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0" grpId="0" animBg="1"/>
      <p:bldP spid="32" grpId="0" animBg="1"/>
      <p:bldP spid="33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– 2-letter procedure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24CDF67-B340-4525-BA3A-A2D7C09294D9}"/>
              </a:ext>
            </a:extLst>
          </p:cNvPr>
          <p:cNvSpPr txBox="1"/>
          <p:nvPr/>
        </p:nvSpPr>
        <p:spPr>
          <a:xfrm>
            <a:off x="838200" y="1690688"/>
            <a:ext cx="10439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altLang="zh-TW" sz="2400" b="0" i="1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α</a:t>
            </a:r>
            <a:r>
              <a:rPr lang="el-GR" altLang="zh-TW" sz="2400" b="0" i="0" u="none" strike="noStrike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∗</a:t>
            </a:r>
            <a:r>
              <a:rPr lang="el-GR" altLang="zh-TW" sz="2400" b="0" i="1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l-GR" altLang="zh-TW" sz="2400" b="0" i="0" u="none" strike="noStrike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∗</a:t>
            </a:r>
            <a:r>
              <a:rPr lang="el-GR" altLang="zh-TW" sz="2400" b="0" i="1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γ</a:t>
            </a:r>
            <a:r>
              <a:rPr lang="en-US" altLang="zh-TW" sz="2400" b="0" i="0" u="none" strike="noStrike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 </a:t>
            </a:r>
          </a:p>
          <a:p>
            <a:pPr algn="l"/>
            <a:r>
              <a:rPr lang="zh-TW" altLang="en-US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 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b="0" i="1" u="none" strike="noStrike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="0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  <a:r>
              <a:rPr lang="zh-TW" altLang="en-US" sz="2400" b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b="0" i="1" u="none" strike="noStrike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="0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  <a:r>
              <a:rPr lang="zh-TW" altLang="en-US" sz="2400" b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</a:t>
            </a:r>
            <a:r>
              <a:rPr lang="en-US" altLang="zh-TW" sz="2400" b="0" i="1" u="none" strike="noStrike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="0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  <a:r>
              <a:rPr lang="zh-TW" altLang="en-US" sz="2400" b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endParaRPr lang="en-US" altLang="zh-TW" sz="2400" i="1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一邊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insert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delete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決定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LCWIS </a:t>
            </a:r>
          </a:p>
          <a:p>
            <a:pPr algn="l"/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]]</a:t>
            </a:r>
          </a:p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]]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，主要看誰的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A7E2DC55-7F51-4A44-8FBE-3951C8BEAE33}"/>
              </a:ext>
            </a:extLst>
          </p:cNvPr>
          <p:cNvGrpSpPr/>
          <p:nvPr/>
        </p:nvGrpSpPr>
        <p:grpSpPr>
          <a:xfrm>
            <a:off x="3085008" y="4055050"/>
            <a:ext cx="6764386" cy="2653190"/>
            <a:chOff x="3111134" y="3840534"/>
            <a:chExt cx="6764386" cy="2653190"/>
          </a:xfrm>
        </p:grpSpPr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568522BC-FFB6-4AC5-9A8E-4D6FAF987B99}"/>
                </a:ext>
              </a:extLst>
            </p:cNvPr>
            <p:cNvSpPr txBox="1"/>
            <p:nvPr/>
          </p:nvSpPr>
          <p:spPr>
            <a:xfrm>
              <a:off x="3111134" y="4436210"/>
              <a:ext cx="5499465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 β α β β β α α β α β α β β β</a:t>
              </a:r>
            </a:p>
            <a:p>
              <a:endPara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 α β β α β β β α α β α α α β β</a:t>
              </a:r>
              <a:endPara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008272E5-5014-4695-B574-C6FA2FAA5FF8}"/>
                </a:ext>
              </a:extLst>
            </p:cNvPr>
            <p:cNvCxnSpPr>
              <a:cxnSpLocks/>
            </p:cNvCxnSpPr>
            <p:nvPr/>
          </p:nvCxnSpPr>
          <p:spPr>
            <a:xfrm>
              <a:off x="3897313" y="4938974"/>
              <a:ext cx="289339" cy="4584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567728CC-0057-4E9A-AA9A-B63025888102}"/>
                </a:ext>
              </a:extLst>
            </p:cNvPr>
            <p:cNvCxnSpPr>
              <a:cxnSpLocks/>
            </p:cNvCxnSpPr>
            <p:nvPr/>
          </p:nvCxnSpPr>
          <p:spPr>
            <a:xfrm>
              <a:off x="4463143" y="4955243"/>
              <a:ext cx="481152" cy="41794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B4C7F9B3-41F3-472C-A79C-A07C5220489D}"/>
                </a:ext>
              </a:extLst>
            </p:cNvPr>
            <p:cNvCxnSpPr>
              <a:cxnSpLocks/>
            </p:cNvCxnSpPr>
            <p:nvPr/>
          </p:nvCxnSpPr>
          <p:spPr>
            <a:xfrm>
              <a:off x="5505998" y="4932764"/>
              <a:ext cx="468082" cy="44042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8A01F753-F60D-44A3-B304-562E6957240D}"/>
                </a:ext>
              </a:extLst>
            </p:cNvPr>
            <p:cNvCxnSpPr>
              <a:cxnSpLocks/>
            </p:cNvCxnSpPr>
            <p:nvPr/>
          </p:nvCxnSpPr>
          <p:spPr>
            <a:xfrm>
              <a:off x="5806432" y="4932764"/>
              <a:ext cx="468096" cy="44042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C38ABCB2-FD7F-41C6-AA15-3BB8CFEEB301}"/>
                </a:ext>
              </a:extLst>
            </p:cNvPr>
            <p:cNvCxnSpPr>
              <a:cxnSpLocks/>
            </p:cNvCxnSpPr>
            <p:nvPr/>
          </p:nvCxnSpPr>
          <p:spPr>
            <a:xfrm>
              <a:off x="6136916" y="4957034"/>
              <a:ext cx="422378" cy="44042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8671FD3D-E173-4F9D-8377-984BCC77A678}"/>
                </a:ext>
              </a:extLst>
            </p:cNvPr>
            <p:cNvCxnSpPr>
              <a:cxnSpLocks/>
            </p:cNvCxnSpPr>
            <p:nvPr/>
          </p:nvCxnSpPr>
          <p:spPr>
            <a:xfrm>
              <a:off x="6631820" y="4955243"/>
              <a:ext cx="1066810" cy="46469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CAE2819A-1F58-4D62-BE69-A247549E8051}"/>
                </a:ext>
              </a:extLst>
            </p:cNvPr>
            <p:cNvCxnSpPr>
              <a:cxnSpLocks/>
            </p:cNvCxnSpPr>
            <p:nvPr/>
          </p:nvCxnSpPr>
          <p:spPr>
            <a:xfrm>
              <a:off x="7165225" y="4955243"/>
              <a:ext cx="784049" cy="442216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9AA8EAE0-6B30-49DD-9B21-E4F849C62DC9}"/>
                </a:ext>
              </a:extLst>
            </p:cNvPr>
            <p:cNvSpPr txBox="1"/>
            <p:nvPr/>
          </p:nvSpPr>
          <p:spPr>
            <a:xfrm>
              <a:off x="4463143" y="6032059"/>
              <a:ext cx="54123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–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[4]] = 3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直線單箭頭接點 55">
              <a:extLst>
                <a:ext uri="{FF2B5EF4-FFF2-40B4-BE49-F238E27FC236}">
                  <a16:creationId xmlns:a16="http://schemas.microsoft.com/office/drawing/2014/main" id="{C59A974A-0873-451A-9F56-E01950565E91}"/>
                </a:ext>
              </a:extLst>
            </p:cNvPr>
            <p:cNvCxnSpPr/>
            <p:nvPr/>
          </p:nvCxnSpPr>
          <p:spPr>
            <a:xfrm>
              <a:off x="6478722" y="5899583"/>
              <a:ext cx="1530969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E662AAED-DAF1-46F9-9311-125612FE998A}"/>
                </a:ext>
              </a:extLst>
            </p:cNvPr>
            <p:cNvCxnSpPr>
              <a:cxnSpLocks/>
            </p:cNvCxnSpPr>
            <p:nvPr/>
          </p:nvCxnSpPr>
          <p:spPr>
            <a:xfrm>
              <a:off x="5974080" y="4436210"/>
              <a:ext cx="1270126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06899C8F-C220-48B6-BE9F-F2CA7FDA9CFB}"/>
                </a:ext>
              </a:extLst>
            </p:cNvPr>
            <p:cNvSpPr txBox="1"/>
            <p:nvPr/>
          </p:nvSpPr>
          <p:spPr>
            <a:xfrm>
              <a:off x="7119031" y="3840534"/>
              <a:ext cx="24190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(4) = 2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BF000746-EA5F-4413-8290-8AD18283C116}"/>
              </a:ext>
            </a:extLst>
          </p:cNvPr>
          <p:cNvSpPr txBox="1"/>
          <p:nvPr/>
        </p:nvSpPr>
        <p:spPr>
          <a:xfrm>
            <a:off x="1680528" y="4055050"/>
            <a:ext cx="541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[4]] 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0FAB9C52-9227-4165-908B-E0387E204008}"/>
              </a:ext>
            </a:extLst>
          </p:cNvPr>
          <p:cNvCxnSpPr>
            <a:cxnSpLocks/>
          </p:cNvCxnSpPr>
          <p:nvPr/>
        </p:nvCxnSpPr>
        <p:spPr>
          <a:xfrm>
            <a:off x="7218080" y="4650726"/>
            <a:ext cx="547970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445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– 2-letter procedure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24CDF67-B340-4525-BA3A-A2D7C09294D9}"/>
              </a:ext>
            </a:extLst>
          </p:cNvPr>
          <p:cNvSpPr txBox="1"/>
          <p:nvPr/>
        </p:nvSpPr>
        <p:spPr>
          <a:xfrm>
            <a:off x="838200" y="1690688"/>
            <a:ext cx="10439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i="1" baseline="-25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maximum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priority queue keeps CWISs with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baseline="-25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&gt; 0, whose elements </a:t>
            </a:r>
            <a:b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are (key, data) pairs.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Priority(value)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 -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]]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=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+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– m </a:t>
            </a:r>
          </a:p>
          <a:p>
            <a:pPr algn="l"/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i="1" baseline="-25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minimum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priority queue keeps the same CWISs in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baseline="-25000" dirty="0">
                <a:solidFill>
                  <a:srgbClr val="00B0F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but with</a:t>
            </a:r>
            <a:b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        priority their excess.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Priority(value)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i="1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532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– 2-letter procedure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050B52DC-FABE-4135-8CC8-3248DCEC6D1A}"/>
              </a:ext>
            </a:extLst>
          </p:cNvPr>
          <p:cNvGrpSpPr/>
          <p:nvPr/>
        </p:nvGrpSpPr>
        <p:grpSpPr>
          <a:xfrm>
            <a:off x="3085008" y="4068307"/>
            <a:ext cx="6764386" cy="2639933"/>
            <a:chOff x="3111134" y="3853791"/>
            <a:chExt cx="6764386" cy="2639933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C17E8780-D90A-4A0F-A91D-96A1BA1FAA6E}"/>
                </a:ext>
              </a:extLst>
            </p:cNvPr>
            <p:cNvSpPr txBox="1"/>
            <p:nvPr/>
          </p:nvSpPr>
          <p:spPr>
            <a:xfrm>
              <a:off x="3111134" y="4436210"/>
              <a:ext cx="6050283" cy="13849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 β α β β β α α β α β α β β β </a:t>
              </a:r>
            </a:p>
            <a:p>
              <a:endPara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 α β β α β β β α α β α α α β β</a:t>
              </a:r>
              <a:endPara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C5183BB7-84FE-4AFD-B257-78F687F873B1}"/>
                </a:ext>
              </a:extLst>
            </p:cNvPr>
            <p:cNvCxnSpPr>
              <a:cxnSpLocks/>
            </p:cNvCxnSpPr>
            <p:nvPr/>
          </p:nvCxnSpPr>
          <p:spPr>
            <a:xfrm>
              <a:off x="3897313" y="4938974"/>
              <a:ext cx="289339" cy="4584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9969176C-A9FA-4F80-A626-6696892D2C85}"/>
                </a:ext>
              </a:extLst>
            </p:cNvPr>
            <p:cNvSpPr txBox="1"/>
            <p:nvPr/>
          </p:nvSpPr>
          <p:spPr>
            <a:xfrm>
              <a:off x="4463143" y="6032059"/>
              <a:ext cx="54123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–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[1]] =</a:t>
              </a:r>
              <a:r>
                <a: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 – 1 = 8  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BBAA393E-8F57-4AFC-A12C-DF1B555EDC8D}"/>
                </a:ext>
              </a:extLst>
            </p:cNvPr>
            <p:cNvCxnSpPr>
              <a:cxnSpLocks/>
            </p:cNvCxnSpPr>
            <p:nvPr/>
          </p:nvCxnSpPr>
          <p:spPr>
            <a:xfrm>
              <a:off x="4331426" y="5900265"/>
              <a:ext cx="3670300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01A63723-67DC-4574-8520-CFA354253DDD}"/>
                </a:ext>
              </a:extLst>
            </p:cNvPr>
            <p:cNvSpPr txBox="1"/>
            <p:nvPr/>
          </p:nvSpPr>
          <p:spPr>
            <a:xfrm>
              <a:off x="7162624" y="3853791"/>
              <a:ext cx="24190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 = 1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2A562C18-BCCB-42E8-AC40-3AF196CFC19B}"/>
              </a:ext>
            </a:extLst>
          </p:cNvPr>
          <p:cNvCxnSpPr>
            <a:cxnSpLocks/>
          </p:cNvCxnSpPr>
          <p:nvPr/>
        </p:nvCxnSpPr>
        <p:spPr>
          <a:xfrm>
            <a:off x="7567749" y="4694907"/>
            <a:ext cx="191588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A61D7CB3-C052-4B1F-83E8-673211C1D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82586"/>
              </p:ext>
            </p:extLst>
          </p:nvPr>
        </p:nvGraphicFramePr>
        <p:xfrm>
          <a:off x="1714083" y="1848949"/>
          <a:ext cx="822377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4755">
                  <a:extLst>
                    <a:ext uri="{9D8B030D-6E8A-4147-A177-3AD203B41FA5}">
                      <a16:colId xmlns:a16="http://schemas.microsoft.com/office/drawing/2014/main" val="2592851889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712799400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617897157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567136752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898695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49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7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4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769520"/>
                  </a:ext>
                </a:extLst>
              </a:tr>
            </a:tbl>
          </a:graphicData>
        </a:graphic>
      </p:graphicFrame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D129C2E-02A7-436E-A317-73C17CB7F69F}"/>
              </a:ext>
            </a:extLst>
          </p:cNvPr>
          <p:cNvCxnSpPr>
            <a:cxnSpLocks/>
          </p:cNvCxnSpPr>
          <p:nvPr/>
        </p:nvCxnSpPr>
        <p:spPr>
          <a:xfrm>
            <a:off x="4147678" y="5136121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561EE28-DA30-414D-B2F6-E800029AD8D1}"/>
              </a:ext>
            </a:extLst>
          </p:cNvPr>
          <p:cNvCxnSpPr>
            <a:cxnSpLocks/>
          </p:cNvCxnSpPr>
          <p:nvPr/>
        </p:nvCxnSpPr>
        <p:spPr>
          <a:xfrm>
            <a:off x="4702189" y="5136120"/>
            <a:ext cx="0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0C5D4E8-0EB5-4A14-ABBD-09302F98564C}"/>
              </a:ext>
            </a:extLst>
          </p:cNvPr>
          <p:cNvCxnSpPr>
            <a:cxnSpLocks/>
          </p:cNvCxnSpPr>
          <p:nvPr/>
        </p:nvCxnSpPr>
        <p:spPr>
          <a:xfrm>
            <a:off x="4946705" y="5136119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D220374-A7C6-46FE-9D5B-29E3BA43FA20}"/>
              </a:ext>
            </a:extLst>
          </p:cNvPr>
          <p:cNvCxnSpPr>
            <a:cxnSpLocks/>
          </p:cNvCxnSpPr>
          <p:nvPr/>
        </p:nvCxnSpPr>
        <p:spPr>
          <a:xfrm>
            <a:off x="5211878" y="5136118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AA875DC-14FD-49F6-9387-AEB7ED976D64}"/>
              </a:ext>
            </a:extLst>
          </p:cNvPr>
          <p:cNvCxnSpPr>
            <a:cxnSpLocks/>
          </p:cNvCxnSpPr>
          <p:nvPr/>
        </p:nvCxnSpPr>
        <p:spPr>
          <a:xfrm flipH="1">
            <a:off x="5832893" y="5136117"/>
            <a:ext cx="172902" cy="45848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EBE739E6-1BFD-4FAD-8C27-86FC9F7210AB}"/>
              </a:ext>
            </a:extLst>
          </p:cNvPr>
          <p:cNvCxnSpPr>
            <a:cxnSpLocks/>
          </p:cNvCxnSpPr>
          <p:nvPr/>
        </p:nvCxnSpPr>
        <p:spPr>
          <a:xfrm>
            <a:off x="6608710" y="5153490"/>
            <a:ext cx="0" cy="41256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A288C652-59EB-47C8-9FF0-5A346B059450}"/>
              </a:ext>
            </a:extLst>
          </p:cNvPr>
          <p:cNvCxnSpPr>
            <a:cxnSpLocks/>
          </p:cNvCxnSpPr>
          <p:nvPr/>
        </p:nvCxnSpPr>
        <p:spPr>
          <a:xfrm>
            <a:off x="7136498" y="5144058"/>
            <a:ext cx="527045" cy="4220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5859ED05-5A4A-4433-BF65-4EBA7E2E65CB}"/>
              </a:ext>
            </a:extLst>
          </p:cNvPr>
          <p:cNvCxnSpPr>
            <a:cxnSpLocks/>
          </p:cNvCxnSpPr>
          <p:nvPr/>
        </p:nvCxnSpPr>
        <p:spPr>
          <a:xfrm>
            <a:off x="7409316" y="5144057"/>
            <a:ext cx="508453" cy="42200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2BDE25-EDA4-421B-BC99-9037189CD8DB}"/>
              </a:ext>
            </a:extLst>
          </p:cNvPr>
          <p:cNvSpPr txBox="1"/>
          <p:nvPr/>
        </p:nvSpPr>
        <p:spPr>
          <a:xfrm>
            <a:off x="997580" y="4030800"/>
            <a:ext cx="541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[1]] 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7EDE1A88-68CB-4851-817C-8236303687C0}"/>
              </a:ext>
            </a:extLst>
          </p:cNvPr>
          <p:cNvCxnSpPr>
            <a:cxnSpLocks/>
          </p:cNvCxnSpPr>
          <p:nvPr/>
        </p:nvCxnSpPr>
        <p:spPr>
          <a:xfrm>
            <a:off x="4084194" y="4694907"/>
            <a:ext cx="3483555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351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– 2-letter procedure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050B52DC-FABE-4135-8CC8-3248DCEC6D1A}"/>
              </a:ext>
            </a:extLst>
          </p:cNvPr>
          <p:cNvGrpSpPr/>
          <p:nvPr/>
        </p:nvGrpSpPr>
        <p:grpSpPr>
          <a:xfrm>
            <a:off x="3085008" y="4068307"/>
            <a:ext cx="6764386" cy="2639933"/>
            <a:chOff x="3111134" y="3853791"/>
            <a:chExt cx="6764386" cy="2639933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C17E8780-D90A-4A0F-A91D-96A1BA1FAA6E}"/>
                </a:ext>
              </a:extLst>
            </p:cNvPr>
            <p:cNvSpPr txBox="1"/>
            <p:nvPr/>
          </p:nvSpPr>
          <p:spPr>
            <a:xfrm>
              <a:off x="3111134" y="4436210"/>
              <a:ext cx="6050283" cy="13849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 β α β β β α α β α β α β β β </a:t>
              </a:r>
            </a:p>
            <a:p>
              <a:endPara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 α β β α β β β α α β α α α β β </a:t>
              </a:r>
              <a:r>
                <a:rPr lang="en-US" altLang="zh-TW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endPara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C5183BB7-84FE-4AFD-B257-78F687F873B1}"/>
                </a:ext>
              </a:extLst>
            </p:cNvPr>
            <p:cNvCxnSpPr>
              <a:cxnSpLocks/>
            </p:cNvCxnSpPr>
            <p:nvPr/>
          </p:nvCxnSpPr>
          <p:spPr>
            <a:xfrm>
              <a:off x="3897313" y="4938974"/>
              <a:ext cx="289339" cy="4584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9969176C-A9FA-4F80-A626-6696892D2C85}"/>
                </a:ext>
              </a:extLst>
            </p:cNvPr>
            <p:cNvSpPr txBox="1"/>
            <p:nvPr/>
          </p:nvSpPr>
          <p:spPr>
            <a:xfrm>
              <a:off x="4463143" y="6032059"/>
              <a:ext cx="54123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–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[1]] =</a:t>
              </a:r>
              <a:r>
                <a: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 </a:t>
              </a:r>
              <a:r>
                <a: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+ 1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9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BBAA393E-8F57-4AFC-A12C-DF1B555EDC8D}"/>
                </a:ext>
              </a:extLst>
            </p:cNvPr>
            <p:cNvCxnSpPr>
              <a:cxnSpLocks/>
            </p:cNvCxnSpPr>
            <p:nvPr/>
          </p:nvCxnSpPr>
          <p:spPr>
            <a:xfrm>
              <a:off x="4331426" y="5900265"/>
              <a:ext cx="3752850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01A63723-67DC-4574-8520-CFA354253DDD}"/>
                </a:ext>
              </a:extLst>
            </p:cNvPr>
            <p:cNvSpPr txBox="1"/>
            <p:nvPr/>
          </p:nvSpPr>
          <p:spPr>
            <a:xfrm>
              <a:off x="7162624" y="3853791"/>
              <a:ext cx="24190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 = 1 </a:t>
              </a:r>
              <a:r>
                <a: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1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D129C2E-02A7-436E-A317-73C17CB7F69F}"/>
              </a:ext>
            </a:extLst>
          </p:cNvPr>
          <p:cNvCxnSpPr>
            <a:cxnSpLocks/>
          </p:cNvCxnSpPr>
          <p:nvPr/>
        </p:nvCxnSpPr>
        <p:spPr>
          <a:xfrm>
            <a:off x="4147678" y="5136121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561EE28-DA30-414D-B2F6-E800029AD8D1}"/>
              </a:ext>
            </a:extLst>
          </p:cNvPr>
          <p:cNvCxnSpPr>
            <a:cxnSpLocks/>
          </p:cNvCxnSpPr>
          <p:nvPr/>
        </p:nvCxnSpPr>
        <p:spPr>
          <a:xfrm>
            <a:off x="4702189" y="5136120"/>
            <a:ext cx="0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0C5D4E8-0EB5-4A14-ABBD-09302F98564C}"/>
              </a:ext>
            </a:extLst>
          </p:cNvPr>
          <p:cNvCxnSpPr>
            <a:cxnSpLocks/>
          </p:cNvCxnSpPr>
          <p:nvPr/>
        </p:nvCxnSpPr>
        <p:spPr>
          <a:xfrm>
            <a:off x="4946705" y="5136119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D220374-A7C6-46FE-9D5B-29E3BA43FA20}"/>
              </a:ext>
            </a:extLst>
          </p:cNvPr>
          <p:cNvCxnSpPr>
            <a:cxnSpLocks/>
          </p:cNvCxnSpPr>
          <p:nvPr/>
        </p:nvCxnSpPr>
        <p:spPr>
          <a:xfrm>
            <a:off x="5211878" y="5136118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AA875DC-14FD-49F6-9387-AEB7ED976D64}"/>
              </a:ext>
            </a:extLst>
          </p:cNvPr>
          <p:cNvCxnSpPr>
            <a:cxnSpLocks/>
          </p:cNvCxnSpPr>
          <p:nvPr/>
        </p:nvCxnSpPr>
        <p:spPr>
          <a:xfrm flipH="1">
            <a:off x="5832893" y="5136117"/>
            <a:ext cx="172902" cy="45848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EBE739E6-1BFD-4FAD-8C27-86FC9F7210AB}"/>
              </a:ext>
            </a:extLst>
          </p:cNvPr>
          <p:cNvCxnSpPr>
            <a:cxnSpLocks/>
          </p:cNvCxnSpPr>
          <p:nvPr/>
        </p:nvCxnSpPr>
        <p:spPr>
          <a:xfrm>
            <a:off x="6608710" y="5153490"/>
            <a:ext cx="0" cy="41256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A288C652-59EB-47C8-9FF0-5A346B059450}"/>
              </a:ext>
            </a:extLst>
          </p:cNvPr>
          <p:cNvCxnSpPr>
            <a:cxnSpLocks/>
          </p:cNvCxnSpPr>
          <p:nvPr/>
        </p:nvCxnSpPr>
        <p:spPr>
          <a:xfrm>
            <a:off x="7136498" y="5144058"/>
            <a:ext cx="527045" cy="4220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5859ED05-5A4A-4433-BF65-4EBA7E2E65CB}"/>
              </a:ext>
            </a:extLst>
          </p:cNvPr>
          <p:cNvCxnSpPr>
            <a:cxnSpLocks/>
          </p:cNvCxnSpPr>
          <p:nvPr/>
        </p:nvCxnSpPr>
        <p:spPr>
          <a:xfrm>
            <a:off x="7409316" y="5144057"/>
            <a:ext cx="508453" cy="42200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2BDE25-EDA4-421B-BC99-9037189CD8DB}"/>
              </a:ext>
            </a:extLst>
          </p:cNvPr>
          <p:cNvSpPr txBox="1"/>
          <p:nvPr/>
        </p:nvSpPr>
        <p:spPr>
          <a:xfrm>
            <a:off x="997580" y="4030800"/>
            <a:ext cx="541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[1]] 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7EDE1A88-68CB-4851-817C-8236303687C0}"/>
              </a:ext>
            </a:extLst>
          </p:cNvPr>
          <p:cNvCxnSpPr>
            <a:cxnSpLocks/>
          </p:cNvCxnSpPr>
          <p:nvPr/>
        </p:nvCxnSpPr>
        <p:spPr>
          <a:xfrm>
            <a:off x="4084194" y="4694907"/>
            <a:ext cx="3643991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0953029-C41F-4C67-8B72-BB9131C4CDB3}"/>
              </a:ext>
            </a:extLst>
          </p:cNvPr>
          <p:cNvCxnSpPr>
            <a:cxnSpLocks/>
          </p:cNvCxnSpPr>
          <p:nvPr/>
        </p:nvCxnSpPr>
        <p:spPr>
          <a:xfrm>
            <a:off x="7728185" y="5113980"/>
            <a:ext cx="462402" cy="4520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FB12D4DA-48AD-47BC-95A0-AA9658069B7B}"/>
              </a:ext>
            </a:extLst>
          </p:cNvPr>
          <p:cNvCxnSpPr>
            <a:cxnSpLocks/>
          </p:cNvCxnSpPr>
          <p:nvPr/>
        </p:nvCxnSpPr>
        <p:spPr>
          <a:xfrm>
            <a:off x="8058150" y="6114781"/>
            <a:ext cx="261097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9F496307-B710-4C86-9577-CBCBB0BE1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525060"/>
              </p:ext>
            </p:extLst>
          </p:nvPr>
        </p:nvGraphicFramePr>
        <p:xfrm>
          <a:off x="1714083" y="1848949"/>
          <a:ext cx="822377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4755">
                  <a:extLst>
                    <a:ext uri="{9D8B030D-6E8A-4147-A177-3AD203B41FA5}">
                      <a16:colId xmlns:a16="http://schemas.microsoft.com/office/drawing/2014/main" val="2592851889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712799400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617897157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567136752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898695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49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7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4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76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440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– 2-letter procedure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050B52DC-FABE-4135-8CC8-3248DCEC6D1A}"/>
              </a:ext>
            </a:extLst>
          </p:cNvPr>
          <p:cNvGrpSpPr/>
          <p:nvPr/>
        </p:nvGrpSpPr>
        <p:grpSpPr>
          <a:xfrm>
            <a:off x="3085008" y="4068307"/>
            <a:ext cx="6963867" cy="2639933"/>
            <a:chOff x="3111134" y="3853791"/>
            <a:chExt cx="6963867" cy="2639933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C17E8780-D90A-4A0F-A91D-96A1BA1FAA6E}"/>
                </a:ext>
              </a:extLst>
            </p:cNvPr>
            <p:cNvSpPr txBox="1"/>
            <p:nvPr/>
          </p:nvSpPr>
          <p:spPr>
            <a:xfrm>
              <a:off x="3111134" y="4436210"/>
              <a:ext cx="6050283" cy="13849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 β α β β β α α β α β α β β β </a:t>
              </a:r>
            </a:p>
            <a:p>
              <a:endPara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 = </a:t>
              </a:r>
              <a:r>
                <a:rPr lang="en-US" altLang="zh-TW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 α β β α β β β α α β α α α β β β</a:t>
              </a:r>
              <a:r>
                <a:rPr lang="en-US" altLang="zh-TW" sz="28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β</a:t>
              </a:r>
              <a:endPara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C5183BB7-84FE-4AFD-B257-78F687F873B1}"/>
                </a:ext>
              </a:extLst>
            </p:cNvPr>
            <p:cNvCxnSpPr>
              <a:cxnSpLocks/>
            </p:cNvCxnSpPr>
            <p:nvPr/>
          </p:nvCxnSpPr>
          <p:spPr>
            <a:xfrm>
              <a:off x="3897313" y="4938974"/>
              <a:ext cx="289339" cy="458485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9969176C-A9FA-4F80-A626-6696892D2C85}"/>
                </a:ext>
              </a:extLst>
            </p:cNvPr>
            <p:cNvSpPr txBox="1"/>
            <p:nvPr/>
          </p:nvSpPr>
          <p:spPr>
            <a:xfrm>
              <a:off x="4463143" y="6032059"/>
              <a:ext cx="56118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– 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β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TW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TW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TW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α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[1]] =</a:t>
              </a:r>
              <a:r>
                <a: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 </a:t>
              </a:r>
              <a:r>
                <a: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+ 1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10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BBAA393E-8F57-4AFC-A12C-DF1B555EDC8D}"/>
                </a:ext>
              </a:extLst>
            </p:cNvPr>
            <p:cNvCxnSpPr>
              <a:cxnSpLocks/>
            </p:cNvCxnSpPr>
            <p:nvPr/>
          </p:nvCxnSpPr>
          <p:spPr>
            <a:xfrm>
              <a:off x="4331426" y="5900265"/>
              <a:ext cx="4076700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01A63723-67DC-4574-8520-CFA354253DDD}"/>
                </a:ext>
              </a:extLst>
            </p:cNvPr>
            <p:cNvSpPr txBox="1"/>
            <p:nvPr/>
          </p:nvSpPr>
          <p:spPr>
            <a:xfrm>
              <a:off x="7162624" y="3853791"/>
              <a:ext cx="2712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</a:t>
              </a:r>
              <a:r>
                <a:rPr lang="en-US" altLang="zh-TW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 = 0 </a:t>
              </a:r>
              <a:r>
                <a: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 1</a:t>
              </a:r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-1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BD129C2E-02A7-436E-A317-73C17CB7F69F}"/>
              </a:ext>
            </a:extLst>
          </p:cNvPr>
          <p:cNvCxnSpPr>
            <a:cxnSpLocks/>
          </p:cNvCxnSpPr>
          <p:nvPr/>
        </p:nvCxnSpPr>
        <p:spPr>
          <a:xfrm>
            <a:off x="4147678" y="5136121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561EE28-DA30-414D-B2F6-E800029AD8D1}"/>
              </a:ext>
            </a:extLst>
          </p:cNvPr>
          <p:cNvCxnSpPr>
            <a:cxnSpLocks/>
          </p:cNvCxnSpPr>
          <p:nvPr/>
        </p:nvCxnSpPr>
        <p:spPr>
          <a:xfrm>
            <a:off x="4702189" y="5136120"/>
            <a:ext cx="0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30C5D4E8-0EB5-4A14-ABBD-09302F98564C}"/>
              </a:ext>
            </a:extLst>
          </p:cNvPr>
          <p:cNvCxnSpPr>
            <a:cxnSpLocks/>
          </p:cNvCxnSpPr>
          <p:nvPr/>
        </p:nvCxnSpPr>
        <p:spPr>
          <a:xfrm>
            <a:off x="4946705" y="5136119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D220374-A7C6-46FE-9D5B-29E3BA43FA20}"/>
              </a:ext>
            </a:extLst>
          </p:cNvPr>
          <p:cNvCxnSpPr>
            <a:cxnSpLocks/>
          </p:cNvCxnSpPr>
          <p:nvPr/>
        </p:nvCxnSpPr>
        <p:spPr>
          <a:xfrm>
            <a:off x="5211878" y="5136118"/>
            <a:ext cx="289339" cy="4584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AA875DC-14FD-49F6-9387-AEB7ED976D64}"/>
              </a:ext>
            </a:extLst>
          </p:cNvPr>
          <p:cNvCxnSpPr>
            <a:cxnSpLocks/>
          </p:cNvCxnSpPr>
          <p:nvPr/>
        </p:nvCxnSpPr>
        <p:spPr>
          <a:xfrm flipH="1">
            <a:off x="5832893" y="5136117"/>
            <a:ext cx="172902" cy="45848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EBE739E6-1BFD-4FAD-8C27-86FC9F7210AB}"/>
              </a:ext>
            </a:extLst>
          </p:cNvPr>
          <p:cNvCxnSpPr>
            <a:cxnSpLocks/>
          </p:cNvCxnSpPr>
          <p:nvPr/>
        </p:nvCxnSpPr>
        <p:spPr>
          <a:xfrm>
            <a:off x="6608710" y="5153490"/>
            <a:ext cx="0" cy="41256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A288C652-59EB-47C8-9FF0-5A346B059450}"/>
              </a:ext>
            </a:extLst>
          </p:cNvPr>
          <p:cNvCxnSpPr>
            <a:cxnSpLocks/>
          </p:cNvCxnSpPr>
          <p:nvPr/>
        </p:nvCxnSpPr>
        <p:spPr>
          <a:xfrm>
            <a:off x="7136498" y="5144058"/>
            <a:ext cx="527045" cy="42200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5859ED05-5A4A-4433-BF65-4EBA7E2E65CB}"/>
              </a:ext>
            </a:extLst>
          </p:cNvPr>
          <p:cNvCxnSpPr>
            <a:cxnSpLocks/>
          </p:cNvCxnSpPr>
          <p:nvPr/>
        </p:nvCxnSpPr>
        <p:spPr>
          <a:xfrm>
            <a:off x="7409316" y="5144057"/>
            <a:ext cx="508453" cy="42200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2BDE25-EDA4-421B-BC99-9037189CD8DB}"/>
              </a:ext>
            </a:extLst>
          </p:cNvPr>
          <p:cNvSpPr txBox="1"/>
          <p:nvPr/>
        </p:nvSpPr>
        <p:spPr>
          <a:xfrm>
            <a:off x="997580" y="4030800"/>
            <a:ext cx="541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–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[1]] 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  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7EDE1A88-68CB-4851-817C-8236303687C0}"/>
              </a:ext>
            </a:extLst>
          </p:cNvPr>
          <p:cNvCxnSpPr>
            <a:cxnSpLocks/>
          </p:cNvCxnSpPr>
          <p:nvPr/>
        </p:nvCxnSpPr>
        <p:spPr>
          <a:xfrm>
            <a:off x="4084194" y="4694907"/>
            <a:ext cx="3643991" cy="0"/>
          </a:xfrm>
          <a:prstGeom prst="straightConnector1">
            <a:avLst/>
          </a:prstGeom>
          <a:ln w="28575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0953029-C41F-4C67-8B72-BB9131C4CDB3}"/>
              </a:ext>
            </a:extLst>
          </p:cNvPr>
          <p:cNvCxnSpPr>
            <a:cxnSpLocks/>
          </p:cNvCxnSpPr>
          <p:nvPr/>
        </p:nvCxnSpPr>
        <p:spPr>
          <a:xfrm>
            <a:off x="7728185" y="5113980"/>
            <a:ext cx="462402" cy="45207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FB12D4DA-48AD-47BC-95A0-AA9658069B7B}"/>
              </a:ext>
            </a:extLst>
          </p:cNvPr>
          <p:cNvCxnSpPr>
            <a:cxnSpLocks/>
          </p:cNvCxnSpPr>
          <p:nvPr/>
        </p:nvCxnSpPr>
        <p:spPr>
          <a:xfrm>
            <a:off x="8382000" y="6114781"/>
            <a:ext cx="261097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F7B1CD6-EE85-4EF0-81E5-BCD40F608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307510"/>
              </p:ext>
            </p:extLst>
          </p:nvPr>
        </p:nvGraphicFramePr>
        <p:xfrm>
          <a:off x="1714083" y="1848949"/>
          <a:ext cx="822377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4755">
                  <a:extLst>
                    <a:ext uri="{9D8B030D-6E8A-4147-A177-3AD203B41FA5}">
                      <a16:colId xmlns:a16="http://schemas.microsoft.com/office/drawing/2014/main" val="2592851889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712799400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617897157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567136752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898695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49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(-1)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7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4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76952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9F5F206-1FFB-4026-B8E6-6ADC8DF27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581094"/>
              </p:ext>
            </p:extLst>
          </p:nvPr>
        </p:nvGraphicFramePr>
        <p:xfrm>
          <a:off x="1714082" y="1848293"/>
          <a:ext cx="822377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4755">
                  <a:extLst>
                    <a:ext uri="{9D8B030D-6E8A-4147-A177-3AD203B41FA5}">
                      <a16:colId xmlns:a16="http://schemas.microsoft.com/office/drawing/2014/main" val="2592851889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712799400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617897157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567136752"/>
                    </a:ext>
                  </a:extLst>
                </a:gridCol>
                <a:gridCol w="1644755">
                  <a:extLst>
                    <a:ext uri="{9D8B030D-6E8A-4147-A177-3AD203B41FA5}">
                      <a16:colId xmlns:a16="http://schemas.microsoft.com/office/drawing/2014/main" val="1898695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49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(-1)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αααα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7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94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</a:t>
                      </a:r>
                      <a:r>
                        <a:rPr lang="en-US" altLang="zh-TW" sz="2400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 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769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94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LCWIS 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3-letter (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4B4907-4C31-4FCF-BC45-E3E7E93F9C6B}"/>
              </a:ext>
            </a:extLst>
          </p:cNvPr>
          <p:cNvSpPr txBox="1"/>
          <p:nvPr/>
        </p:nvSpPr>
        <p:spPr>
          <a:xfrm>
            <a:off x="838200" y="1690688"/>
            <a:ext cx="10439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l-GR" altLang="zh-TW" sz="2400" b="0" i="1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α</a:t>
            </a:r>
            <a:r>
              <a:rPr lang="el-GR" altLang="zh-TW" sz="2400" b="0" i="0" u="none" strike="noStrike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∗</a:t>
            </a:r>
            <a:r>
              <a:rPr lang="el-GR" altLang="zh-TW" sz="2400" b="0" i="1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l-GR" altLang="zh-TW" sz="2400" b="0" i="0" u="none" strike="noStrike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∗</a:t>
            </a:r>
            <a:r>
              <a:rPr lang="el-GR" altLang="zh-TW" sz="2400" b="0" i="1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γ</a:t>
            </a:r>
            <a:r>
              <a:rPr lang="en-US" altLang="zh-TW" sz="2400" b="0" i="0" u="none" strike="noStrike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: </a:t>
            </a:r>
          </a:p>
          <a:p>
            <a:pPr algn="l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preprocessing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US" altLang="zh-TW" sz="2400" b="0" i="0" u="none" strike="noStrik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00" b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b="0" i="1" u="none" strike="noStrike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="0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  <a:r>
              <a:rPr lang="zh-TW" altLang="en-US" sz="2400" b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Num</a:t>
            </a:r>
            <a:r>
              <a:rPr lang="en-US" altLang="zh-TW" sz="2400" b="0" i="1" u="none" strike="noStrike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="0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  <a:r>
              <a:rPr lang="zh-TW" altLang="en-US" sz="2400" b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u="none" strike="noStrike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</a:t>
            </a:r>
            <a:r>
              <a:rPr lang="en-US" altLang="zh-TW" sz="2400" b="0" i="1" u="none" strike="noStrike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400" b="0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  <a:r>
              <a:rPr lang="zh-TW" altLang="en-US" sz="2400" b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Pos</a:t>
            </a:r>
            <a:r>
              <a:rPr lang="en-US" altLang="zh-TW" sz="2400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,*</a:t>
            </a:r>
          </a:p>
          <a:p>
            <a:pPr algn="ctr"/>
            <a:endParaRPr lang="en-US" altLang="zh-TW" sz="2400" b="0" i="0" u="none" strike="noStrik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2-letter procedure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b="0" i="0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</a:t>
            </a:r>
            <a:r>
              <a:rPr lang="en-US" altLang="zh-TW" sz="2400" b="0" i="1" u="none" strike="noStrike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b="0" i="1" u="none" strike="noStrik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</a:p>
          <a:p>
            <a:pPr algn="ctr"/>
            <a:endParaRPr lang="en-US" altLang="zh-TW" sz="2400" b="0" i="1" u="none" strike="noStrik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endParaRPr lang="en-US" altLang="zh-TW" sz="2400" i="1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Total time complexity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33355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5AE50C-3279-4D3C-AAF3-875EA882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LCIS (MLCIS)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5A6B788-7436-4C54-A7BC-8807A0654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697976"/>
              </p:ext>
            </p:extLst>
          </p:nvPr>
        </p:nvGraphicFramePr>
        <p:xfrm>
          <a:off x="2246993" y="1600200"/>
          <a:ext cx="812800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9550">
                  <a:extLst>
                    <a:ext uri="{9D8B030D-6E8A-4147-A177-3AD203B41FA5}">
                      <a16:colId xmlns:a16="http://schemas.microsoft.com/office/drawing/2014/main" val="2658243965"/>
                    </a:ext>
                  </a:extLst>
                </a:gridCol>
                <a:gridCol w="5378450">
                  <a:extLst>
                    <a:ext uri="{9D8B030D-6E8A-4147-A177-3AD203B41FA5}">
                      <a16:colId xmlns:a16="http://schemas.microsoft.com/office/drawing/2014/main" val="1222939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 et al. [1]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O(min(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</a:rPr>
                        <a:t>kr</a:t>
                      </a:r>
                      <a:r>
                        <a:rPr lang="en-US" altLang="zh-TW" sz="2400" baseline="30000" dirty="0"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baseline="0" dirty="0"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altLang="zh-TW" sz="2400" i="1" baseline="0" dirty="0" err="1">
                          <a:latin typeface="Times New Roman" panose="02020603050405020304" pitchFamily="18" charset="0"/>
                        </a:rPr>
                        <a:t>kr</a:t>
                      </a:r>
                      <a:r>
                        <a:rPr lang="en-US" altLang="zh-TW" sz="2400" i="1" baseline="0" dirty="0"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aseline="0" dirty="0" err="1">
                          <a:latin typeface="Times New Roman" panose="02020603050405020304" pitchFamily="18" charset="0"/>
                        </a:rPr>
                        <a:t>log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baseline="0" dirty="0">
                          <a:latin typeface="Times New Roman" panose="02020603050405020304" pitchFamily="18" charset="0"/>
                        </a:rPr>
                        <a:t>log</a:t>
                      </a:r>
                      <a:r>
                        <a:rPr lang="en-US" altLang="zh-TW" sz="2400" i="1" baseline="30000" dirty="0">
                          <a:latin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baseline="30000" dirty="0">
                          <a:latin typeface="Times New Roman" panose="02020603050405020304" pitchFamily="18" charset="0"/>
                        </a:rPr>
                        <a:t>-1</a:t>
                      </a:r>
                      <a:r>
                        <a:rPr lang="en-US" altLang="zh-TW" sz="2400" i="1" baseline="0" dirty="0">
                          <a:latin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baseline="0" dirty="0">
                          <a:latin typeface="Times New Roman" panose="02020603050405020304" pitchFamily="18" charset="0"/>
                        </a:rPr>
                        <a:t>) + </a:t>
                      </a:r>
                      <a:r>
                        <a:rPr lang="en-US" altLang="zh-TW" sz="2400" i="1" baseline="0" dirty="0" err="1">
                          <a:latin typeface="Times New Roman" panose="02020603050405020304" pitchFamily="18" charset="0"/>
                        </a:rPr>
                        <a:t>kSort</a:t>
                      </a:r>
                      <a:r>
                        <a:rPr lang="en-US" altLang="zh-TW" sz="2400" baseline="0" dirty="0">
                          <a:latin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i="1" baseline="0" dirty="0"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400" baseline="0" dirty="0">
                          <a:latin typeface="Times New Roman" panose="02020603050405020304" pitchFamily="18" charset="0"/>
                        </a:rPr>
                        <a:t>))</a:t>
                      </a:r>
                      <a:endParaRPr lang="zh-TW" altLang="en-US" sz="2400" baseline="300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sz="2400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loglog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179359"/>
                  </a:ext>
                </a:extLst>
              </a:tr>
            </a:tbl>
          </a:graphicData>
        </a:graphic>
      </p:graphicFrame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72E522F-7820-488A-90AA-FBABB2280CFB}"/>
              </a:ext>
            </a:extLst>
          </p:cNvPr>
          <p:cNvSpPr txBox="1">
            <a:spLocks/>
          </p:cNvSpPr>
          <p:nvPr/>
        </p:nvSpPr>
        <p:spPr>
          <a:xfrm>
            <a:off x="0" y="5625737"/>
            <a:ext cx="12192000" cy="1233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</a:rPr>
              <a:t>[1] W.-T. Chan, Y. Zhang, S.P.Y. Fung, D. Ye, H. Zhu, Efficient algorithms for finding a longest common increasing subsequence, </a:t>
            </a:r>
            <a:br>
              <a:rPr lang="en-US" altLang="zh-TW" sz="1800" dirty="0">
                <a:latin typeface="Times New Roman" panose="02020603050405020304" pitchFamily="18" charset="0"/>
              </a:rPr>
            </a:br>
            <a:r>
              <a:rPr lang="en-US" altLang="zh-TW" sz="1800" dirty="0">
                <a:latin typeface="Times New Roman" panose="02020603050405020304" pitchFamily="18" charset="0"/>
              </a:rPr>
              <a:t>      Journal of Combinatorial Optimization 13 (3) (2007) 277–288.</a:t>
            </a:r>
          </a:p>
          <a:p>
            <a:pPr marL="0" indent="0">
              <a:buNone/>
            </a:pPr>
            <a:r>
              <a:rPr lang="en-US" altLang="zh-TW" sz="1800" dirty="0">
                <a:latin typeface="Times New Roman" panose="02020603050405020304" pitchFamily="18" charset="0"/>
              </a:rPr>
              <a:t>[2] H.N. </a:t>
            </a:r>
            <a:r>
              <a:rPr lang="en-US" altLang="zh-TW" sz="1800" dirty="0" err="1">
                <a:latin typeface="Times New Roman" panose="02020603050405020304" pitchFamily="18" charset="0"/>
              </a:rPr>
              <a:t>Gabow</a:t>
            </a:r>
            <a:r>
              <a:rPr lang="en-US" altLang="zh-TW" sz="1800" dirty="0">
                <a:latin typeface="Times New Roman" panose="02020603050405020304" pitchFamily="18" charset="0"/>
              </a:rPr>
              <a:t>, J.L. Bentley, R.E. </a:t>
            </a:r>
            <a:r>
              <a:rPr lang="en-US" altLang="zh-TW" sz="1800" dirty="0" err="1">
                <a:latin typeface="Times New Roman" panose="02020603050405020304" pitchFamily="18" charset="0"/>
              </a:rPr>
              <a:t>Tarjan</a:t>
            </a:r>
            <a:r>
              <a:rPr lang="en-US" altLang="zh-TW" sz="1800" dirty="0">
                <a:latin typeface="Times New Roman" panose="02020603050405020304" pitchFamily="18" charset="0"/>
              </a:rPr>
              <a:t>, Scaling and related techniques for geometry problems, in: Proceedings of the Sixteenth </a:t>
            </a:r>
            <a:br>
              <a:rPr lang="en-US" altLang="zh-TW" sz="1800" dirty="0">
                <a:latin typeface="Times New Roman" panose="02020603050405020304" pitchFamily="18" charset="0"/>
              </a:rPr>
            </a:br>
            <a:r>
              <a:rPr lang="en-US" altLang="zh-TW" sz="1800" dirty="0">
                <a:latin typeface="Times New Roman" panose="02020603050405020304" pitchFamily="18" charset="0"/>
              </a:rPr>
              <a:t>      Annual ACM Symposium on Theory of Computing (STOC ’84), ACM Press, 1984, pp. 135–143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6FFA37-6EA3-4B3B-ACFE-C87B2377502C}"/>
              </a:ext>
            </a:extLst>
          </p:cNvPr>
          <p:cNvSpPr txBox="1"/>
          <p:nvPr/>
        </p:nvSpPr>
        <p:spPr>
          <a:xfrm>
            <a:off x="838200" y="3402522"/>
            <a:ext cx="10439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400" b="0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use a data structure by </a:t>
            </a:r>
            <a:r>
              <a:rPr lang="en-US" altLang="zh-TW" sz="2400" b="0" u="none" strike="noStrike" baseline="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Gabow</a:t>
            </a:r>
            <a:r>
              <a:rPr lang="en-US" altLang="zh-TW" sz="2400" b="0" u="none" strike="noStrike" baseline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et al. [2]</a:t>
            </a:r>
          </a:p>
          <a:p>
            <a:pPr algn="l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query takes O(log</a:t>
            </a:r>
            <a:r>
              <a:rPr lang="en-US" altLang="zh-TW" sz="2400" i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−1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time and the total time for at most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activations is O(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en-US" altLang="zh-TW" sz="2400" i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−1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). The data structure requires O(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en-US" altLang="zh-TW" sz="2400" i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sz="2400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−1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preprocessing time and space.</a:t>
            </a:r>
          </a:p>
        </p:txBody>
      </p:sp>
    </p:spTree>
    <p:extLst>
      <p:ext uri="{BB962C8B-B14F-4D97-AF65-F5344CB8AC3E}">
        <p14:creationId xmlns:p14="http://schemas.microsoft.com/office/powerpoint/2010/main" val="311953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47795-8BF8-4166-88B5-A9F42CD37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6F49AB-392E-4B97-8E7E-13244E394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LCIS is bounded by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is not clear how this fact should carry over to LCWIS, where the output size need not relate to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all.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4E3310C-DA60-4BBD-9579-B235C86B5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05795"/>
              </p:ext>
            </p:extLst>
          </p:nvPr>
        </p:nvGraphicFramePr>
        <p:xfrm>
          <a:off x="1524181" y="1831159"/>
          <a:ext cx="81280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9550">
                  <a:extLst>
                    <a:ext uri="{9D8B030D-6E8A-4147-A177-3AD203B41FA5}">
                      <a16:colId xmlns:a16="http://schemas.microsoft.com/office/drawing/2014/main" val="2658243965"/>
                    </a:ext>
                  </a:extLst>
                </a:gridCol>
                <a:gridCol w="5378450">
                  <a:extLst>
                    <a:ext uri="{9D8B030D-6E8A-4147-A177-3AD203B41FA5}">
                      <a16:colId xmlns:a16="http://schemas.microsoft.com/office/drawing/2014/main" val="1222939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complexity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LCIS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+ 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)loglog σ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+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Sort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m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235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LCWIS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+ 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)loglog σ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+ 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Sort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m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LCWIS (2-letter)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72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LCWIS (3-letter)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O(min{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 + 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400" dirty="0" err="1">
                          <a:latin typeface="Times New Roman" panose="02020603050405020304" pitchFamily="18" charset="0"/>
                        </a:rPr>
                        <a:t>log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 , 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400" dirty="0" err="1">
                          <a:latin typeface="Times New Roman" panose="02020603050405020304" pitchFamily="18" charset="0"/>
                        </a:rPr>
                        <a:t>loglog</a:t>
                      </a:r>
                      <a:r>
                        <a:rPr lang="en-US" altLang="zh-TW" sz="2400" i="1" dirty="0" err="1">
                          <a:latin typeface="Times New Roman" panose="02020603050405020304" pitchFamily="18" charset="0"/>
                        </a:rPr>
                        <a:t>m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</a:rPr>
                        <a:t>})</a:t>
                      </a:r>
                      <a:endParaRPr lang="zh-TW" altLang="en-US" sz="24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754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MLCS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sz="2400" i="1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zh-TW" sz="2400" baseline="30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loglog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179359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C8496854-CE7D-4A64-8442-C598B52FF5CD}"/>
              </a:ext>
            </a:extLst>
          </p:cNvPr>
          <p:cNvSpPr txBox="1"/>
          <p:nvPr/>
        </p:nvSpPr>
        <p:spPr>
          <a:xfrm>
            <a:off x="8820726" y="1363960"/>
            <a:ext cx="970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8160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4501</TotalTime>
  <Words>3792</Words>
  <Application>Microsoft Office PowerPoint</Application>
  <PresentationFormat>寬螢幕</PresentationFormat>
  <Paragraphs>1390</Paragraphs>
  <Slides>30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8" baseType="lpstr">
      <vt:lpstr>標楷體</vt:lpstr>
      <vt:lpstr>Arial</vt:lpstr>
      <vt:lpstr>Arial</vt:lpstr>
      <vt:lpstr>Calibri</vt:lpstr>
      <vt:lpstr>Calibri Light</vt:lpstr>
      <vt:lpstr>Cambria Math</vt:lpstr>
      <vt:lpstr>Times New Roman</vt:lpstr>
      <vt:lpstr>Office 佈景主題</vt:lpstr>
      <vt:lpstr>Faster Algorithms for Computing Longest Common Increasing Subsequences</vt:lpstr>
      <vt:lpstr>Abstract</vt:lpstr>
      <vt:lpstr>Longest Common Increasing Subsequence (LCIS)</vt:lpstr>
      <vt:lpstr>Bounded Heap</vt:lpstr>
      <vt:lpstr>Longest Common Increasing Subsequence (LCIS)</vt:lpstr>
      <vt:lpstr>LCIS</vt:lpstr>
      <vt:lpstr>LCIS</vt:lpstr>
      <vt:lpstr>LCIS</vt:lpstr>
      <vt:lpstr>Longest Common Weakly-increasing Subsequence (LCWIS)</vt:lpstr>
      <vt:lpstr>LCWIS － Preprocessing O(m)</vt:lpstr>
      <vt:lpstr>LCWIS － 2-letter</vt:lpstr>
      <vt:lpstr>LCWIS － 3-letter (m + nlogn)</vt:lpstr>
      <vt:lpstr>LCWIS － 3-letter (m + nlogn)</vt:lpstr>
      <vt:lpstr>LCWIS － 3-letter (m + nlogn)</vt:lpstr>
      <vt:lpstr>LCWIS － 3-letter (m + nlogn)</vt:lpstr>
      <vt:lpstr>LCWIS － 3-letter (m + nlogn)</vt:lpstr>
      <vt:lpstr>LCWIS － 3-letter (m + nlogn)</vt:lpstr>
      <vt:lpstr>Hierarchy of splits</vt:lpstr>
      <vt:lpstr>LCWIS － 3-letter (m + nlogn)</vt:lpstr>
      <vt:lpstr>LCWIS － 3-letter (m + nlogn)</vt:lpstr>
      <vt:lpstr>LCWIS － 3-letter (m + nlogn)</vt:lpstr>
      <vt:lpstr>LCWIS － 3-letter (mloglogm)</vt:lpstr>
      <vt:lpstr>LCWIS － 3-letter – 2-letter procedure</vt:lpstr>
      <vt:lpstr>LCWIS － 3-letter – 2-letter procedure</vt:lpstr>
      <vt:lpstr>LCWIS － 3-letter – 2-letter procedure</vt:lpstr>
      <vt:lpstr>LCWIS － 3-letter – 2-letter procedure</vt:lpstr>
      <vt:lpstr>LCWIS － 3-letter – 2-letter procedure</vt:lpstr>
      <vt:lpstr>LCWIS － 3-letter (mloglogm)</vt:lpstr>
      <vt:lpstr>Multiple LCIS (MLCIS)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育誠 張</cp:lastModifiedBy>
  <cp:revision>1473</cp:revision>
  <dcterms:created xsi:type="dcterms:W3CDTF">2020-01-13T05:19:55Z</dcterms:created>
  <dcterms:modified xsi:type="dcterms:W3CDTF">2020-11-17T11:13:31Z</dcterms:modified>
</cp:coreProperties>
</file>