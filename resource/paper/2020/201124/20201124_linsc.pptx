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noRot="1" noChangeAspect="1"/>
          </p:cNvSpPr>
          <p:nvPr>
            <p:ph type="sldImg"/>
          </p:nvPr>
        </p:nvSpPr>
        <p:spPr>
          <a:xfrm>
            <a:off x="1143000" y="685800"/>
            <a:ext cx="4571640" cy="3428640"/>
          </a:xfrm>
          <a:prstGeom prst="rect">
            <a:avLst/>
          </a:prstGeom>
        </p:spPr>
      </p:sp>
      <p:sp>
        <p:nvSpPr>
          <p:cNvPr id="117" name="PlaceHolder 2"/>
          <p:cNvSpPr>
            <a:spLocks noGrp="1"/>
          </p:cNvSpPr>
          <p:nvPr>
            <p:ph type="body"/>
          </p:nvPr>
        </p:nvSpPr>
        <p:spPr>
          <a:xfrm>
            <a:off x="685800" y="4343400"/>
            <a:ext cx="5486040" cy="4114440"/>
          </a:xfrm>
          <a:prstGeom prst="rect">
            <a:avLst/>
          </a:prstGeom>
        </p:spPr>
        <p:txBody>
          <a:bodyPr>
            <a:normAutofit/>
          </a:bodyPr>
          <a:lstStyle/>
          <a:p>
            <a:endParaRPr lang="en-US" sz="2000" b="0" strike="noStrike" spc="-1">
              <a:latin typeface="Arial"/>
            </a:endParaRPr>
          </a:p>
        </p:txBody>
      </p:sp>
      <p:sp>
        <p:nvSpPr>
          <p:cNvPr id="118" name="TextShape 3"/>
          <p:cNvSpPr txBox="1"/>
          <p:nvPr/>
        </p:nvSpPr>
        <p:spPr>
          <a:xfrm>
            <a:off x="3884760" y="8685360"/>
            <a:ext cx="2971440" cy="456840"/>
          </a:xfrm>
          <a:prstGeom prst="rect">
            <a:avLst/>
          </a:prstGeom>
          <a:noFill/>
          <a:ln>
            <a:noFill/>
          </a:ln>
        </p:spPr>
        <p:txBody>
          <a:bodyPr anchor="b">
            <a:noAutofit/>
          </a:bodyPr>
          <a:lstStyle/>
          <a:p>
            <a:pPr algn="r">
              <a:lnSpc>
                <a:spcPct val="100000"/>
              </a:lnSpc>
            </a:pPr>
            <a:fld id="{10A4C2DF-B64F-4127-8B70-7F858612E55E}" type="slidenum">
              <a:rPr lang="en-US" sz="1200" b="0" strike="noStrike" spc="-1">
                <a:solidFill>
                  <a:srgbClr val="000000"/>
                </a:solidFill>
                <a:latin typeface="+mn-lt"/>
                <a:ea typeface="+mn-ea"/>
              </a:rPr>
              <a:t>3</a:t>
            </a:fld>
            <a:endParaRPr lang="en-U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noRot="1" noChangeAspect="1"/>
          </p:cNvSpPr>
          <p:nvPr>
            <p:ph type="sldImg"/>
          </p:nvPr>
        </p:nvSpPr>
        <p:spPr>
          <a:xfrm>
            <a:off x="1143000" y="685800"/>
            <a:ext cx="4571640" cy="3428640"/>
          </a:xfrm>
          <a:prstGeom prst="rect">
            <a:avLst/>
          </a:prstGeom>
        </p:spPr>
      </p:sp>
      <p:sp>
        <p:nvSpPr>
          <p:cNvPr id="120" name="PlaceHolder 2"/>
          <p:cNvSpPr>
            <a:spLocks noGrp="1"/>
          </p:cNvSpPr>
          <p:nvPr>
            <p:ph type="body"/>
          </p:nvPr>
        </p:nvSpPr>
        <p:spPr>
          <a:xfrm>
            <a:off x="685800" y="4343400"/>
            <a:ext cx="5486040" cy="4114440"/>
          </a:xfrm>
          <a:prstGeom prst="rect">
            <a:avLst/>
          </a:prstGeom>
        </p:spPr>
        <p:txBody>
          <a:bodyPr>
            <a:normAutofit/>
          </a:bodyPr>
          <a:lstStyle/>
          <a:p>
            <a:endParaRPr lang="en-US" sz="2000" b="0" strike="noStrike" spc="-1">
              <a:latin typeface="Arial"/>
            </a:endParaRPr>
          </a:p>
        </p:txBody>
      </p:sp>
      <p:sp>
        <p:nvSpPr>
          <p:cNvPr id="121" name="TextShape 3"/>
          <p:cNvSpPr txBox="1"/>
          <p:nvPr/>
        </p:nvSpPr>
        <p:spPr>
          <a:xfrm>
            <a:off x="3884760" y="8685360"/>
            <a:ext cx="2971440" cy="456840"/>
          </a:xfrm>
          <a:prstGeom prst="rect">
            <a:avLst/>
          </a:prstGeom>
          <a:noFill/>
          <a:ln>
            <a:noFill/>
          </a:ln>
        </p:spPr>
        <p:txBody>
          <a:bodyPr anchor="b">
            <a:noAutofit/>
          </a:bodyPr>
          <a:lstStyle/>
          <a:p>
            <a:pPr algn="r">
              <a:lnSpc>
                <a:spcPct val="100000"/>
              </a:lnSpc>
            </a:pPr>
            <a:fld id="{D8FBA13E-D1BE-4AEC-8AA5-565EFBA91666}" type="slidenum">
              <a:rPr lang="en-US" sz="1200" b="0" strike="noStrike" spc="-1">
                <a:solidFill>
                  <a:srgbClr val="000000"/>
                </a:solidFill>
                <a:latin typeface="+mn-lt"/>
                <a:ea typeface="+mn-ea"/>
              </a:rPr>
              <a:t>4</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t>11/24/2020</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a:solidFill>
                  <a:srgbClr val="000000"/>
                </a:solidFill>
                <a:latin typeface="Calibri"/>
              </a:rPr>
              <a:t>第二個大綱層次</a:t>
            </a:r>
            <a:endParaRPr lang="en-US" sz="24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a:solidFill>
                  <a:srgbClr val="000000"/>
                </a:solidFill>
                <a:latin typeface="Calibri"/>
              </a:rPr>
              <a:t>第三個大綱層次</a:t>
            </a:r>
            <a:endParaRPr lang="en-US" sz="20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t>11/24/2020</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lnSpc>
                <a:spcPct val="100000"/>
              </a:lnSpc>
            </a:pPr>
            <a:r>
              <a:rPr lang="en-US" sz="3200" b="0" strike="noStrike" spc="-1">
                <a:solidFill>
                  <a:srgbClr val="000000"/>
                </a:solidFill>
                <a:latin typeface="Times New Roman"/>
              </a:rPr>
              <a:t>An Efficient Parallel Algorithm for Longest Common Subsequence Problem on GPUs</a:t>
            </a:r>
            <a:endParaRPr lang="en-US" sz="3200" b="0" strike="noStrike" spc="-1">
              <a:solidFill>
                <a:srgbClr val="000000"/>
              </a:solidFill>
              <a:latin typeface="Calibri"/>
            </a:endParaRPr>
          </a:p>
        </p:txBody>
      </p:sp>
      <p:sp>
        <p:nvSpPr>
          <p:cNvPr id="89" name="TextShape 2"/>
          <p:cNvSpPr txBox="1"/>
          <p:nvPr/>
        </p:nvSpPr>
        <p:spPr>
          <a:xfrm>
            <a:off x="1214280" y="3357720"/>
            <a:ext cx="6786360" cy="2071440"/>
          </a:xfrm>
          <a:prstGeom prst="rect">
            <a:avLst/>
          </a:prstGeom>
          <a:noFill/>
          <a:ln>
            <a:noFill/>
          </a:ln>
        </p:spPr>
        <p:txBody>
          <a:bodyPr>
            <a:normAutofit/>
          </a:bodyPr>
          <a:lstStyle/>
          <a:p>
            <a:pPr algn="ctr">
              <a:lnSpc>
                <a:spcPct val="100000"/>
              </a:lnSpc>
              <a:spcBef>
                <a:spcPts val="479"/>
              </a:spcBef>
              <a:tabLst>
                <a:tab pos="0" algn="l"/>
              </a:tabLst>
            </a:pPr>
            <a:r>
              <a:rPr lang="en-US" sz="2400" b="0" strike="noStrike" spc="-1">
                <a:solidFill>
                  <a:srgbClr val="000000"/>
                </a:solidFill>
                <a:latin typeface="Times New Roman"/>
              </a:rPr>
              <a:t>Jiaoyun Yang, Yun Xu, Yi Shang</a:t>
            </a:r>
            <a:endParaRPr lang="en-US" sz="2400" b="0" strike="noStrike" spc="-1">
              <a:latin typeface="Arial"/>
            </a:endParaRPr>
          </a:p>
          <a:p>
            <a:pPr algn="ctr">
              <a:lnSpc>
                <a:spcPct val="100000"/>
              </a:lnSpc>
              <a:spcBef>
                <a:spcPts val="360"/>
              </a:spcBef>
              <a:tabLst>
                <a:tab pos="0" algn="l"/>
              </a:tabLst>
            </a:pPr>
            <a:endParaRPr lang="en-US" sz="2400" b="0" strike="noStrike" spc="-1">
              <a:latin typeface="Arial"/>
            </a:endParaRPr>
          </a:p>
          <a:p>
            <a:pPr algn="ctr">
              <a:lnSpc>
                <a:spcPct val="100000"/>
              </a:lnSpc>
              <a:spcBef>
                <a:spcPts val="400"/>
              </a:spcBef>
              <a:tabLst>
                <a:tab pos="0" algn="l"/>
              </a:tabLst>
            </a:pPr>
            <a:r>
              <a:rPr lang="en-US" sz="2000" b="0" strike="noStrike" spc="-1">
                <a:solidFill>
                  <a:srgbClr val="000000"/>
                </a:solidFill>
                <a:latin typeface="Times New Roman"/>
              </a:rPr>
              <a:t>Proceedings of the World Congress on Engineering 2010 Vol  I WCE 2010, June 30 - July 2, 2010, London, U.K. </a:t>
            </a:r>
            <a:endParaRPr lang="en-US" sz="2000" b="0" strike="noStrike" spc="-1">
              <a:latin typeface="Arial"/>
            </a:endParaRP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a:solidFill>
                  <a:srgbClr val="000000"/>
                </a:solidFill>
                <a:latin typeface="Times New Roman"/>
              </a:rPr>
              <a:t>Presenter: Shin-Cheng Lin</a:t>
            </a:r>
            <a:endParaRPr lang="en-US" sz="2000" b="0" strike="noStrike" spc="-1">
              <a:latin typeface="Arial"/>
            </a:endParaRPr>
          </a:p>
          <a:p>
            <a:pPr>
              <a:lnSpc>
                <a:spcPct val="100000"/>
              </a:lnSpc>
              <a:spcBef>
                <a:spcPts val="400"/>
              </a:spcBef>
              <a:tabLst>
                <a:tab pos="0" algn="l"/>
              </a:tabLst>
            </a:pPr>
            <a:r>
              <a:rPr lang="en-US" sz="2000" b="0" strike="noStrike" spc="-1">
                <a:solidFill>
                  <a:srgbClr val="000000"/>
                </a:solidFill>
                <a:latin typeface="Times New Roman"/>
              </a:rPr>
              <a:t>Date: Nov. 24, 2020</a:t>
            </a:r>
            <a:endParaRPr lang="en-US" sz="2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a:solidFill>
                  <a:srgbClr val="000000"/>
                </a:solidFill>
                <a:latin typeface="Times New Roman"/>
              </a:rPr>
              <a:t>Abstract(1/3)</a:t>
            </a:r>
            <a:endParaRPr lang="en-US" sz="4400" b="0" strike="noStrike" spc="-1">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b="0" strike="noStrike" spc="-1">
                <a:solidFill>
                  <a:srgbClr val="000000"/>
                </a:solidFill>
                <a:latin typeface="Times New Roman"/>
              </a:rPr>
              <a:t>Sequence alignment is an important problem in computational biology and finding the longest common subsequence (LCS) of multiple biological sequences is an essential and effective technique in sequence alignment. A major computational approach for solving the LCS problem is dynamic programming.</a:t>
            </a:r>
            <a:endParaRPr lang="en-US" sz="2800" b="0" strike="noStrike" spc="-1">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a:solidFill>
                  <a:srgbClr val="000000"/>
                </a:solidFill>
                <a:latin typeface="Times New Roman"/>
              </a:rPr>
              <a:t>Abstract(2/3)</a:t>
            </a:r>
            <a:endParaRPr lang="en-US" sz="4400" b="0" strike="noStrike" spc="-1">
              <a:solidFill>
                <a:srgbClr val="000000"/>
              </a:solidFill>
              <a:latin typeface="Calibri"/>
            </a:endParaRPr>
          </a:p>
        </p:txBody>
      </p:sp>
      <p:sp>
        <p:nvSpPr>
          <p:cNvPr id="94" name="TextShape 2"/>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561"/>
              </a:spcBef>
              <a:buClr>
                <a:srgbClr val="000000"/>
              </a:buClr>
              <a:buFont typeface="Arial"/>
              <a:buChar char="•"/>
            </a:pPr>
            <a:r>
              <a:rPr lang="en-US" sz="2800" b="0" strike="noStrike" spc="-1">
                <a:solidFill>
                  <a:srgbClr val="000000"/>
                </a:solidFill>
                <a:latin typeface="Times New Roman"/>
              </a:rPr>
              <a:t>Several dynamic programming methods have been proposed to have reduced time and space complexity. As databases of biological sequences become larger, parallel algorithms become increasingly important to tackle large size problems. In the meantime, general-purpose computing on graphics processing units (GPGPU) has emerged as a promising technology for cost-effective high performance computing.</a:t>
            </a:r>
            <a:endParaRPr lang="en-US" sz="2800" b="0" strike="noStrike" spc="-1">
              <a:solidFill>
                <a:srgbClr val="000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a:solidFill>
                  <a:srgbClr val="000000"/>
                </a:solidFill>
                <a:latin typeface="Times New Roman"/>
              </a:rPr>
              <a:t>Abstract(3/3)</a:t>
            </a:r>
            <a:endParaRPr lang="en-US" sz="4400" b="0" strike="noStrike" spc="-1">
              <a:solidFill>
                <a:srgbClr val="000000"/>
              </a:solidFill>
              <a:latin typeface="Calibri"/>
            </a:endParaRPr>
          </a:p>
        </p:txBody>
      </p:sp>
      <p:sp>
        <p:nvSpPr>
          <p:cNvPr id="96" name="TextShape 2"/>
          <p:cNvSpPr txBox="1"/>
          <p:nvPr/>
        </p:nvSpPr>
        <p:spPr>
          <a:xfrm>
            <a:off x="457200" y="1600200"/>
            <a:ext cx="8229240" cy="4900320"/>
          </a:xfrm>
          <a:prstGeom prst="rect">
            <a:avLst/>
          </a:prstGeom>
          <a:noFill/>
          <a:ln>
            <a:noFill/>
          </a:ln>
        </p:spPr>
        <p:txBody>
          <a:bodyPr>
            <a:norm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In this paper, we develop an efficient parallel algorithm on GPUs for the LCS problem. We propose a new technique that changes the data dependency in the score table used by dynamic programming algorithms to enable higher degrees of parallelism. The algorithm takes advantage of the large number of processing units and the unique memory-accessing properties of GPUs to achieve high performance. </a:t>
            </a:r>
            <a:endParaRPr lang="en-US" sz="3200" b="0" strike="noStrike" spc="-1">
              <a:solidFill>
                <a:srgbClr val="0000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Shape 1"/>
          <p:cNvSpPr txBox="1"/>
          <p:nvPr/>
        </p:nvSpPr>
        <p:spPr>
          <a:xfrm>
            <a:off x="457200" y="714240"/>
            <a:ext cx="8229240" cy="541152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Times New Roman"/>
              </a:rPr>
              <a:t>Based on Smith-Waterman algorithm</a:t>
            </a:r>
            <a:endParaRPr lang="en-US" sz="3200" b="0" strike="noStrike" spc="-1" dirty="0">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dirty="0">
                <a:solidFill>
                  <a:srgbClr val="000000"/>
                </a:solidFill>
                <a:latin typeface="Times New Roman"/>
              </a:rPr>
              <a:t>Change the data dependence for parallelization</a:t>
            </a:r>
            <a:endParaRPr lang="en-US" sz="3200" b="0" strike="noStrike" spc="-1" dirty="0">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4000320" y="2714760"/>
            <a:ext cx="1285560" cy="1356840"/>
          </a:xfrm>
          <a:prstGeom prst="rightArrow">
            <a:avLst>
              <a:gd name="adj1" fmla="val 50000"/>
              <a:gd name="adj2" fmla="val 50000"/>
            </a:avLst>
          </a:prstGeom>
          <a:ln>
            <a:round/>
          </a:ln>
        </p:spPr>
        <p:style>
          <a:lnRef idx="2">
            <a:schemeClr val="accent1">
              <a:shade val="50000"/>
            </a:schemeClr>
          </a:lnRef>
          <a:fillRef idx="1">
            <a:schemeClr val="accent1"/>
          </a:fillRef>
          <a:effectRef idx="0">
            <a:schemeClr val="accent1"/>
          </a:effectRef>
          <a:fontRef idx="minor"/>
        </p:style>
      </p:sp>
      <p:pic>
        <p:nvPicPr>
          <p:cNvPr id="99" name="Picture 7" descr="https://upload.wikimedia.org/wikipedia/commons/9/90/Smith-Waterman-Algorithm-Scoring-2.png"/>
          <p:cNvPicPr/>
          <p:nvPr/>
        </p:nvPicPr>
        <p:blipFill>
          <a:blip r:embed="rId2"/>
          <a:stretch/>
        </p:blipFill>
        <p:spPr>
          <a:xfrm>
            <a:off x="214200" y="1571760"/>
            <a:ext cx="3500280" cy="3500280"/>
          </a:xfrm>
          <a:prstGeom prst="rect">
            <a:avLst/>
          </a:prstGeom>
          <a:ln>
            <a:noFill/>
          </a:ln>
        </p:spPr>
      </p:pic>
      <p:pic>
        <p:nvPicPr>
          <p:cNvPr id="100" name="Picture 9"/>
          <p:cNvPicPr/>
          <p:nvPr/>
        </p:nvPicPr>
        <p:blipFill>
          <a:blip r:embed="rId3"/>
          <a:stretch/>
        </p:blipFill>
        <p:spPr>
          <a:xfrm>
            <a:off x="5429160" y="1611720"/>
            <a:ext cx="3357360" cy="3388320"/>
          </a:xfrm>
          <a:prstGeom prst="rect">
            <a:avLst/>
          </a:prstGeom>
          <a:ln w="936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CustomShape 1"/>
          <p:cNvSpPr/>
          <p:nvPr/>
        </p:nvSpPr>
        <p:spPr>
          <a:xfrm>
            <a:off x="3500280" y="2714760"/>
            <a:ext cx="1785600" cy="1213920"/>
          </a:xfrm>
          <a:prstGeom prst="downArrow">
            <a:avLst>
              <a:gd name="adj1" fmla="val 50000"/>
              <a:gd name="adj2" fmla="val 50000"/>
            </a:avLst>
          </a:prstGeom>
          <a:ln>
            <a:round/>
          </a:ln>
        </p:spPr>
        <p:style>
          <a:lnRef idx="2">
            <a:schemeClr val="accent1">
              <a:shade val="50000"/>
            </a:schemeClr>
          </a:lnRef>
          <a:fillRef idx="1">
            <a:schemeClr val="accent1"/>
          </a:fillRef>
          <a:effectRef idx="0">
            <a:schemeClr val="accent1"/>
          </a:effectRef>
          <a:fontRef idx="minor"/>
        </p:style>
      </p:sp>
      <p:pic>
        <p:nvPicPr>
          <p:cNvPr id="102" name="Picture 4"/>
          <p:cNvPicPr/>
          <p:nvPr/>
        </p:nvPicPr>
        <p:blipFill>
          <a:blip r:embed="rId2"/>
          <a:stretch/>
        </p:blipFill>
        <p:spPr>
          <a:xfrm>
            <a:off x="357120" y="714240"/>
            <a:ext cx="8396280" cy="1642680"/>
          </a:xfrm>
          <a:prstGeom prst="rect">
            <a:avLst/>
          </a:prstGeom>
          <a:ln w="9360">
            <a:noFill/>
          </a:ln>
        </p:spPr>
      </p:pic>
      <p:pic>
        <p:nvPicPr>
          <p:cNvPr id="103" name="Picture 5"/>
          <p:cNvPicPr/>
          <p:nvPr/>
        </p:nvPicPr>
        <p:blipFill>
          <a:blip r:embed="rId3"/>
          <a:stretch/>
        </p:blipFill>
        <p:spPr>
          <a:xfrm>
            <a:off x="357120" y="4000680"/>
            <a:ext cx="8519400" cy="2428560"/>
          </a:xfrm>
          <a:prstGeom prst="rect">
            <a:avLst/>
          </a:prstGeom>
          <a:ln w="936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2" descr="Data Structure] LCSs——最长公共子序列和最长公共子串- Poll的笔记- 博客园"/>
          <p:cNvPicPr/>
          <p:nvPr/>
        </p:nvPicPr>
        <p:blipFill>
          <a:blip r:embed="rId2"/>
          <a:stretch/>
        </p:blipFill>
        <p:spPr>
          <a:xfrm>
            <a:off x="785880" y="642960"/>
            <a:ext cx="7357680" cy="5618520"/>
          </a:xfrm>
          <a:prstGeom prst="rect">
            <a:avLst/>
          </a:prstGeom>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57200" y="642960"/>
            <a:ext cx="8229240" cy="548280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A table P of size  </a:t>
            </a:r>
            <a:r>
              <a:rPr lang="en-US" sz="3200" b="0" i="1" strike="noStrike" spc="-1">
                <a:solidFill>
                  <a:srgbClr val="000000"/>
                </a:solidFill>
                <a:latin typeface="Times New Roman"/>
              </a:rPr>
              <a:t>l*(m + 1)</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i="1" strike="noStrike" spc="-1">
                <a:solidFill>
                  <a:srgbClr val="000000"/>
                </a:solidFill>
                <a:latin typeface="Times New Roman"/>
              </a:rPr>
              <a:t>l</a:t>
            </a:r>
            <a:r>
              <a:rPr lang="en-US" sz="3200" b="0" strike="noStrike" spc="-1">
                <a:solidFill>
                  <a:srgbClr val="000000"/>
                </a:solidFill>
                <a:latin typeface="Times New Roman"/>
              </a:rPr>
              <a:t> is the size of the finite alphabet</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i="1" strike="noStrike" spc="-1">
                <a:solidFill>
                  <a:srgbClr val="000000"/>
                </a:solidFill>
                <a:latin typeface="Times New Roman"/>
              </a:rPr>
              <a:t>m</a:t>
            </a:r>
            <a:r>
              <a:rPr lang="en-US" sz="3200" b="0" strike="noStrike" spc="-1">
                <a:solidFill>
                  <a:srgbClr val="000000"/>
                </a:solidFill>
                <a:latin typeface="Times New Roman"/>
              </a:rPr>
              <a:t> is the length of sequence B</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C[</a:t>
            </a:r>
            <a:r>
              <a:rPr lang="en-US" sz="3200" b="0" i="1" strike="noStrike" spc="-1">
                <a:solidFill>
                  <a:srgbClr val="000000"/>
                </a:solidFill>
                <a:latin typeface="Times New Roman"/>
              </a:rPr>
              <a:t>1</a:t>
            </a:r>
            <a:r>
              <a:rPr lang="en-US" sz="3200" b="0" strike="noStrike" spc="-1">
                <a:solidFill>
                  <a:srgbClr val="000000"/>
                </a:solidFill>
                <a:latin typeface="Times New Roman"/>
              </a:rPr>
              <a:t> … </a:t>
            </a:r>
            <a:r>
              <a:rPr lang="en-US" sz="3200" b="0" i="1" strike="noStrike" spc="-1">
                <a:solidFill>
                  <a:srgbClr val="000000"/>
                </a:solidFill>
                <a:latin typeface="Times New Roman"/>
              </a:rPr>
              <a:t>l</a:t>
            </a:r>
            <a:r>
              <a:rPr lang="en-US" sz="3200" b="0" strike="noStrike" spc="-1">
                <a:solidFill>
                  <a:srgbClr val="000000"/>
                </a:solidFill>
                <a:latin typeface="Times New Roman"/>
              </a:rPr>
              <a:t>] :the finite alphabet</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P[</a:t>
            </a:r>
            <a:r>
              <a:rPr lang="en-US" sz="3200" b="0" i="1" strike="noStrike" spc="-1">
                <a:solidFill>
                  <a:srgbClr val="000000"/>
                </a:solidFill>
                <a:latin typeface="Times New Roman"/>
              </a:rPr>
              <a:t>i</a:t>
            </a:r>
            <a:r>
              <a:rPr lang="en-US" sz="3200" b="0" strike="noStrike" spc="-1">
                <a:solidFill>
                  <a:srgbClr val="000000"/>
                </a:solidFill>
                <a:latin typeface="Times New Roman"/>
              </a:rPr>
              <a:t>, </a:t>
            </a:r>
            <a:r>
              <a:rPr lang="en-US" sz="3200" b="0" i="1" strike="noStrike" spc="-1">
                <a:solidFill>
                  <a:srgbClr val="000000"/>
                </a:solidFill>
                <a:latin typeface="Times New Roman"/>
              </a:rPr>
              <a:t>j</a:t>
            </a:r>
            <a:r>
              <a:rPr lang="en-US" sz="3200" b="0" strike="noStrike" spc="-1">
                <a:solidFill>
                  <a:srgbClr val="000000"/>
                </a:solidFill>
                <a:latin typeface="Times New Roman"/>
              </a:rPr>
              <a:t>] :the maximum number before j that makes </a:t>
            </a:r>
            <a:r>
              <a:rPr lang="en-US" sz="3200" b="0" i="1" strike="noStrike" spc="-1">
                <a:solidFill>
                  <a:srgbClr val="000000"/>
                </a:solidFill>
                <a:latin typeface="Times New Roman"/>
              </a:rPr>
              <a:t>b</a:t>
            </a:r>
            <a:r>
              <a:rPr lang="en-US" sz="3200" b="0" strike="noStrike" spc="-1" baseline="-25000">
                <a:solidFill>
                  <a:srgbClr val="000000"/>
                </a:solidFill>
                <a:latin typeface="Times New Roman"/>
              </a:rPr>
              <a:t>p[i;j]</a:t>
            </a:r>
            <a:r>
              <a:rPr lang="en-US" sz="3200" b="0" strike="noStrike" spc="-1">
                <a:solidFill>
                  <a:srgbClr val="000000"/>
                </a:solidFill>
                <a:latin typeface="Times New Roman"/>
              </a:rPr>
              <a:t> = C[</a:t>
            </a:r>
            <a:r>
              <a:rPr lang="en-US" sz="3200" b="0" i="1" strike="noStrike" spc="-1">
                <a:solidFill>
                  <a:srgbClr val="000000"/>
                </a:solidFill>
                <a:latin typeface="Times New Roman"/>
              </a:rPr>
              <a:t>i</a:t>
            </a:r>
            <a:r>
              <a:rPr lang="en-US" sz="3200" b="0" strike="noStrike" spc="-1">
                <a:solidFill>
                  <a:srgbClr val="000000"/>
                </a:solidFill>
                <a:latin typeface="Times New Roman"/>
              </a:rPr>
              <a:t>].</a:t>
            </a:r>
            <a:endParaRPr lang="en-US" sz="3200" b="0" strike="noStrike" spc="-1">
              <a:solidFill>
                <a:srgbClr val="000000"/>
              </a:solidFill>
              <a:latin typeface="Calibri"/>
            </a:endParaRPr>
          </a:p>
        </p:txBody>
      </p:sp>
      <p:pic>
        <p:nvPicPr>
          <p:cNvPr id="106" name="Picture 1"/>
          <p:cNvPicPr/>
          <p:nvPr/>
        </p:nvPicPr>
        <p:blipFill>
          <a:blip r:embed="rId2"/>
          <a:stretch/>
        </p:blipFill>
        <p:spPr>
          <a:xfrm>
            <a:off x="857160" y="4500720"/>
            <a:ext cx="6731280" cy="1785600"/>
          </a:xfrm>
          <a:prstGeom prst="rect">
            <a:avLst/>
          </a:prstGeom>
          <a:ln w="936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Shape 1"/>
          <p:cNvSpPr txBox="1"/>
          <p:nvPr/>
        </p:nvSpPr>
        <p:spPr>
          <a:xfrm>
            <a:off x="457200" y="500040"/>
            <a:ext cx="8229240" cy="562572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Replace </a:t>
            </a:r>
            <a:r>
              <a:rPr lang="en-US" sz="3200" b="0" i="1" strike="noStrike" spc="-1">
                <a:solidFill>
                  <a:srgbClr val="000000"/>
                </a:solidFill>
                <a:latin typeface="Times New Roman"/>
              </a:rPr>
              <a:t>j - k</a:t>
            </a:r>
            <a:r>
              <a:rPr lang="en-US" sz="3200" b="0" strike="noStrike" spc="-1">
                <a:solidFill>
                  <a:srgbClr val="000000"/>
                </a:solidFill>
                <a:latin typeface="Times New Roman"/>
              </a:rPr>
              <a:t> with P[</a:t>
            </a:r>
            <a:r>
              <a:rPr lang="en-US" sz="3200" b="0" i="1" strike="noStrike" spc="-1">
                <a:solidFill>
                  <a:srgbClr val="000000"/>
                </a:solidFill>
                <a:latin typeface="Times New Roman"/>
              </a:rPr>
              <a:t>c</a:t>
            </a:r>
            <a:r>
              <a:rPr lang="en-US" sz="3200" b="0" strike="noStrike" spc="-1">
                <a:solidFill>
                  <a:srgbClr val="000000"/>
                </a:solidFill>
                <a:latin typeface="Times New Roman"/>
              </a:rPr>
              <a:t>: </a:t>
            </a:r>
            <a:r>
              <a:rPr lang="en-US" sz="3200" b="0" i="1" strike="noStrike" spc="-1">
                <a:solidFill>
                  <a:srgbClr val="000000"/>
                </a:solidFill>
                <a:latin typeface="Times New Roman"/>
              </a:rPr>
              <a:t>j</a:t>
            </a:r>
            <a:r>
              <a:rPr lang="en-US" sz="3200" b="0" strike="noStrike" spc="-1">
                <a:solidFill>
                  <a:srgbClr val="000000"/>
                </a:solidFill>
                <a:latin typeface="Times New Roman"/>
              </a:rPr>
              <a:t>]</a:t>
            </a:r>
            <a:endParaRPr lang="en-US" sz="3200" b="0" strike="noStrike" spc="-1">
              <a:solidFill>
                <a:srgbClr val="000000"/>
              </a:solidFill>
              <a:latin typeface="Calibri"/>
            </a:endParaRPr>
          </a:p>
          <a:p>
            <a:pPr>
              <a:lnSpc>
                <a:spcPct val="100000"/>
              </a:lnSpc>
              <a:spcBef>
                <a:spcPts val="641"/>
              </a:spcBef>
            </a:pPr>
            <a:endParaRPr lang="en-US" sz="3200" b="0" strike="noStrike" spc="-1">
              <a:solidFill>
                <a:srgbClr val="000000"/>
              </a:solidFill>
              <a:latin typeface="Calibri"/>
            </a:endParaRPr>
          </a:p>
        </p:txBody>
      </p:sp>
      <p:pic>
        <p:nvPicPr>
          <p:cNvPr id="108" name="Picture 5"/>
          <p:cNvPicPr/>
          <p:nvPr/>
        </p:nvPicPr>
        <p:blipFill>
          <a:blip r:embed="rId2"/>
          <a:stretch/>
        </p:blipFill>
        <p:spPr>
          <a:xfrm>
            <a:off x="714240" y="1203840"/>
            <a:ext cx="7804800" cy="2224800"/>
          </a:xfrm>
          <a:prstGeom prst="rect">
            <a:avLst/>
          </a:prstGeom>
          <a:ln w="9360">
            <a:noFill/>
          </a:ln>
        </p:spPr>
      </p:pic>
      <p:pic>
        <p:nvPicPr>
          <p:cNvPr id="109" name="Picture 2"/>
          <p:cNvPicPr/>
          <p:nvPr/>
        </p:nvPicPr>
        <p:blipFill>
          <a:blip r:embed="rId3"/>
          <a:stretch/>
        </p:blipFill>
        <p:spPr>
          <a:xfrm>
            <a:off x="690840" y="4286160"/>
            <a:ext cx="7595640" cy="2214360"/>
          </a:xfrm>
          <a:prstGeom prst="rect">
            <a:avLst/>
          </a:prstGeom>
          <a:ln w="9360">
            <a:noFill/>
          </a:ln>
        </p:spPr>
      </p:pic>
      <p:sp>
        <p:nvSpPr>
          <p:cNvPr id="110" name="CustomShape 2"/>
          <p:cNvSpPr/>
          <p:nvPr/>
        </p:nvSpPr>
        <p:spPr>
          <a:xfrm>
            <a:off x="3929040" y="3571920"/>
            <a:ext cx="928440" cy="785520"/>
          </a:xfrm>
          <a:prstGeom prst="downArrow">
            <a:avLst>
              <a:gd name="adj1" fmla="val 50000"/>
              <a:gd name="adj2" fmla="val 50000"/>
            </a:avLst>
          </a:prstGeom>
          <a:ln>
            <a:round/>
          </a:ln>
        </p:spPr>
        <p:style>
          <a:lnRef idx="2">
            <a:schemeClr val="accent1">
              <a:shade val="50000"/>
            </a:schemeClr>
          </a:lnRef>
          <a:fillRef idx="1">
            <a:schemeClr val="accent1"/>
          </a:fillRef>
          <a:effectRef idx="0">
            <a:schemeClr val="accent1"/>
          </a:effectRef>
          <a:fontRef idx="minor"/>
        </p:style>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Shape 1"/>
          <p:cNvSpPr txBox="1"/>
          <p:nvPr/>
        </p:nvSpPr>
        <p:spPr>
          <a:xfrm>
            <a:off x="314280" y="857160"/>
            <a:ext cx="4471560" cy="5357520"/>
          </a:xfrm>
          <a:prstGeom prst="rect">
            <a:avLst/>
          </a:prstGeom>
          <a:noFill/>
          <a:ln>
            <a:noFill/>
          </a:ln>
        </p:spPr>
        <p:txBody>
          <a:bodyPr>
            <a:normAutofit lnSpcReduction="10000"/>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Times New Roman"/>
              </a:rPr>
              <a:t>in step 1, </a:t>
            </a:r>
            <a:r>
              <a:rPr lang="en-US" sz="3200" b="0" i="1" strike="noStrike" spc="-1" dirty="0">
                <a:solidFill>
                  <a:srgbClr val="000000"/>
                </a:solidFill>
                <a:latin typeface="Times New Roman"/>
              </a:rPr>
              <a:t>l</a:t>
            </a:r>
            <a:r>
              <a:rPr lang="en-US" sz="3200" b="0" strike="noStrike" spc="-1" dirty="0">
                <a:solidFill>
                  <a:srgbClr val="000000"/>
                </a:solidFill>
                <a:latin typeface="Times New Roman"/>
              </a:rPr>
              <a:t> is the size of the alphabet and is usually smaller than the length of the sequences.</a:t>
            </a:r>
            <a:endParaRPr lang="en-US" sz="3200" b="0" strike="noStrike" spc="-1" dirty="0">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dirty="0">
                <a:solidFill>
                  <a:srgbClr val="000000"/>
                </a:solidFill>
                <a:latin typeface="Times New Roman"/>
              </a:rPr>
              <a:t>Step 1 takes O(</a:t>
            </a:r>
            <a:r>
              <a:rPr lang="en-US" sz="3200" b="0" i="1" strike="noStrike" spc="-1" dirty="0">
                <a:solidFill>
                  <a:srgbClr val="000000"/>
                </a:solidFill>
                <a:latin typeface="Times New Roman"/>
              </a:rPr>
              <a:t>m</a:t>
            </a:r>
            <a:r>
              <a:rPr lang="en-US" sz="3200" b="0" strike="noStrike" spc="-1" dirty="0">
                <a:solidFill>
                  <a:srgbClr val="000000"/>
                </a:solidFill>
                <a:latin typeface="Times New Roman"/>
              </a:rPr>
              <a:t>) time using </a:t>
            </a:r>
            <a:r>
              <a:rPr lang="en-US" sz="3200" b="0" i="1" strike="noStrike" spc="-1" dirty="0">
                <a:solidFill>
                  <a:srgbClr val="000000"/>
                </a:solidFill>
                <a:latin typeface="Times New Roman"/>
              </a:rPr>
              <a:t>l</a:t>
            </a:r>
            <a:r>
              <a:rPr lang="en-US" sz="3200" b="0" strike="noStrike" spc="-1" dirty="0">
                <a:solidFill>
                  <a:srgbClr val="000000"/>
                </a:solidFill>
                <a:latin typeface="Times New Roman"/>
              </a:rPr>
              <a:t> processors</a:t>
            </a:r>
            <a:endParaRPr lang="en-US" sz="3200" b="0" strike="noStrike" spc="-1" dirty="0">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dirty="0">
                <a:solidFill>
                  <a:srgbClr val="000000"/>
                </a:solidFill>
                <a:latin typeface="Times New Roman"/>
              </a:rPr>
              <a:t>Step 2 takes O(</a:t>
            </a:r>
            <a:r>
              <a:rPr lang="en-US" sz="3200" b="0" i="1" strike="noStrike" spc="-1" dirty="0">
                <a:solidFill>
                  <a:srgbClr val="000000"/>
                </a:solidFill>
                <a:latin typeface="Times New Roman"/>
              </a:rPr>
              <a:t>n</a:t>
            </a:r>
            <a:r>
              <a:rPr lang="en-US" sz="3200" b="0" strike="noStrike" spc="-1" dirty="0">
                <a:solidFill>
                  <a:srgbClr val="000000"/>
                </a:solidFill>
                <a:latin typeface="Times New Roman"/>
              </a:rPr>
              <a:t>) time using </a:t>
            </a:r>
            <a:r>
              <a:rPr lang="en-US" sz="3200" b="0" i="1" strike="noStrike" spc="-1" dirty="0">
                <a:solidFill>
                  <a:srgbClr val="000000"/>
                </a:solidFill>
                <a:latin typeface="Times New Roman"/>
              </a:rPr>
              <a:t>m</a:t>
            </a:r>
            <a:r>
              <a:rPr lang="en-US" sz="3200" b="0" strike="noStrike" spc="-1" dirty="0">
                <a:solidFill>
                  <a:srgbClr val="000000"/>
                </a:solidFill>
                <a:latin typeface="Times New Roman"/>
              </a:rPr>
              <a:t> processors</a:t>
            </a:r>
            <a:endParaRPr lang="en-US" sz="3200" b="0" strike="noStrike" spc="-1" dirty="0">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dirty="0">
                <a:solidFill>
                  <a:srgbClr val="000000"/>
                </a:solidFill>
                <a:latin typeface="Times New Roman"/>
              </a:rPr>
              <a:t>time complexity is O(max(</a:t>
            </a:r>
            <a:r>
              <a:rPr lang="en-US" sz="3200" b="0" i="1" strike="noStrike" spc="-1" dirty="0" err="1">
                <a:solidFill>
                  <a:srgbClr val="000000"/>
                </a:solidFill>
                <a:latin typeface="Times New Roman"/>
              </a:rPr>
              <a:t>m</a:t>
            </a:r>
            <a:r>
              <a:rPr lang="en-US" sz="3200" b="0" strike="noStrike" spc="-1" dirty="0" err="1">
                <a:solidFill>
                  <a:srgbClr val="000000"/>
                </a:solidFill>
                <a:latin typeface="Times New Roman"/>
              </a:rPr>
              <a:t>,</a:t>
            </a:r>
            <a:r>
              <a:rPr lang="en-US" sz="3200" b="0" i="1" strike="noStrike" spc="-1" dirty="0" err="1">
                <a:solidFill>
                  <a:srgbClr val="000000"/>
                </a:solidFill>
                <a:latin typeface="Times New Roman"/>
              </a:rPr>
              <a:t>n</a:t>
            </a:r>
            <a:r>
              <a:rPr lang="en-US" sz="3200" b="0" strike="noStrike" spc="-1" dirty="0">
                <a:solidFill>
                  <a:srgbClr val="000000"/>
                </a:solidFill>
                <a:latin typeface="Times New Roman"/>
              </a:rPr>
              <a:t>))</a:t>
            </a:r>
            <a:r>
              <a:rPr lang="en-US" sz="3200" b="0" i="1" strike="noStrike" spc="-1" dirty="0">
                <a:solidFill>
                  <a:srgbClr val="000000"/>
                </a:solidFill>
                <a:latin typeface="Times New Roman"/>
              </a:rPr>
              <a:t> </a:t>
            </a:r>
            <a:r>
              <a:rPr lang="en-US" sz="3200" b="0" strike="noStrike" spc="-1" dirty="0">
                <a:solidFill>
                  <a:srgbClr val="000000"/>
                </a:solidFill>
                <a:latin typeface="Times New Roman"/>
              </a:rPr>
              <a:t>using max(</a:t>
            </a:r>
            <a:r>
              <a:rPr lang="en-US" sz="3200" b="0" i="1" strike="noStrike" spc="-1" dirty="0" err="1">
                <a:solidFill>
                  <a:srgbClr val="000000"/>
                </a:solidFill>
                <a:latin typeface="Times New Roman"/>
              </a:rPr>
              <a:t>m</a:t>
            </a:r>
            <a:r>
              <a:rPr lang="en-US" sz="3200" b="0" strike="noStrike" spc="-1" dirty="0" err="1">
                <a:solidFill>
                  <a:srgbClr val="000000"/>
                </a:solidFill>
                <a:latin typeface="Times New Roman"/>
              </a:rPr>
              <a:t>,</a:t>
            </a:r>
            <a:r>
              <a:rPr lang="en-US" sz="3200" b="0" i="1" strike="noStrike" spc="-1" dirty="0" err="1">
                <a:solidFill>
                  <a:srgbClr val="000000"/>
                </a:solidFill>
                <a:latin typeface="Times New Roman"/>
              </a:rPr>
              <a:t>n</a:t>
            </a:r>
            <a:r>
              <a:rPr lang="en-US" sz="3200" b="0" strike="noStrike" spc="-1" dirty="0">
                <a:solidFill>
                  <a:srgbClr val="000000"/>
                </a:solidFill>
                <a:latin typeface="Times New Roman"/>
              </a:rPr>
              <a:t>)</a:t>
            </a:r>
            <a:r>
              <a:rPr lang="en-US" sz="3200" b="0" i="1" strike="noStrike" spc="-1" dirty="0">
                <a:solidFill>
                  <a:srgbClr val="000000"/>
                </a:solidFill>
                <a:latin typeface="Times New Roman"/>
              </a:rPr>
              <a:t> </a:t>
            </a:r>
            <a:r>
              <a:rPr lang="en-US" sz="3200" b="0" strike="noStrike" spc="-1" dirty="0">
                <a:solidFill>
                  <a:srgbClr val="000000"/>
                </a:solidFill>
                <a:latin typeface="Times New Roman"/>
              </a:rPr>
              <a:t>processors.</a:t>
            </a:r>
            <a:endParaRPr lang="en-US" sz="3200" b="0" strike="noStrike" spc="-1" dirty="0">
              <a:solidFill>
                <a:srgbClr val="000000"/>
              </a:solidFill>
              <a:latin typeface="Calibri"/>
            </a:endParaRPr>
          </a:p>
        </p:txBody>
      </p:sp>
      <p:pic>
        <p:nvPicPr>
          <p:cNvPr id="112" name="Picture 2"/>
          <p:cNvPicPr/>
          <p:nvPr/>
        </p:nvPicPr>
        <p:blipFill>
          <a:blip r:embed="rId2"/>
          <a:stretch/>
        </p:blipFill>
        <p:spPr>
          <a:xfrm>
            <a:off x="4786200" y="1071720"/>
            <a:ext cx="3857400" cy="2332440"/>
          </a:xfrm>
          <a:prstGeom prst="rect">
            <a:avLst/>
          </a:prstGeom>
          <a:ln w="9360">
            <a:noFill/>
          </a:ln>
        </p:spPr>
      </p:pic>
      <p:pic>
        <p:nvPicPr>
          <p:cNvPr id="113" name="Picture 4"/>
          <p:cNvPicPr/>
          <p:nvPr/>
        </p:nvPicPr>
        <p:blipFill>
          <a:blip r:embed="rId3"/>
          <a:stretch/>
        </p:blipFill>
        <p:spPr>
          <a:xfrm>
            <a:off x="4876920" y="3786120"/>
            <a:ext cx="4123800" cy="2028600"/>
          </a:xfrm>
          <a:prstGeom prst="rect">
            <a:avLst/>
          </a:prstGeom>
          <a:ln w="936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Picture 2"/>
          <p:cNvPicPr/>
          <p:nvPr/>
        </p:nvPicPr>
        <p:blipFill>
          <a:blip r:embed="rId2"/>
          <a:stretch/>
        </p:blipFill>
        <p:spPr>
          <a:xfrm>
            <a:off x="1314360" y="714240"/>
            <a:ext cx="6514920" cy="4885920"/>
          </a:xfrm>
          <a:prstGeom prst="rect">
            <a:avLst/>
          </a:prstGeom>
          <a:ln w="9360">
            <a:noFill/>
          </a:ln>
        </p:spPr>
      </p:pic>
      <p:sp>
        <p:nvSpPr>
          <p:cNvPr id="115" name="TextShape 1"/>
          <p:cNvSpPr txBox="1"/>
          <p:nvPr/>
        </p:nvSpPr>
        <p:spPr>
          <a:xfrm>
            <a:off x="428760" y="5643720"/>
            <a:ext cx="8229240" cy="999720"/>
          </a:xfrm>
          <a:prstGeom prst="rect">
            <a:avLst/>
          </a:prstGeom>
          <a:noFill/>
          <a:ln>
            <a:noFill/>
          </a:ln>
        </p:spPr>
        <p:txBody>
          <a:bodyPr>
            <a:norm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random gene sequences (alphabet size 4) of lengths from 5120 to 10240.</a:t>
            </a:r>
            <a:endParaRPr lang="en-US" sz="3200" b="0" strike="noStrike" spc="-1">
              <a:solidFill>
                <a:srgbClr val="0000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4189</TotalTime>
  <Words>402</Words>
  <Application>Microsoft Office PowerPoint</Application>
  <PresentationFormat>如螢幕大小 (4:3)</PresentationFormat>
  <Paragraphs>27</Paragraphs>
  <Slides>12</Slides>
  <Notes>2</Notes>
  <HiddenSlides>0</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12</vt:i4>
      </vt:variant>
    </vt:vector>
  </HeadingPairs>
  <TitlesOfParts>
    <vt:vector size="19" baseType="lpstr">
      <vt:lpstr>Arial</vt:lpstr>
      <vt:lpstr>Calibri</vt:lpstr>
      <vt:lpstr>Symbol</vt:lpstr>
      <vt:lpstr>Times New Roman</vt:lpstr>
      <vt:lpstr>Wingdings</vt:lpstr>
      <vt:lpstr>Office Theme</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pplab</cp:lastModifiedBy>
  <cp:revision>656</cp:revision>
  <dcterms:created xsi:type="dcterms:W3CDTF">2020-09-11T11:13:53Z</dcterms:created>
  <dcterms:modified xsi:type="dcterms:W3CDTF">2020-11-24T12:32:52Z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