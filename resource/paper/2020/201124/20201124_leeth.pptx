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365" r:id="rId2"/>
    <p:sldId id="311" r:id="rId3"/>
    <p:sldId id="391" r:id="rId4"/>
    <p:sldId id="333" r:id="rId5"/>
    <p:sldId id="385" r:id="rId6"/>
    <p:sldId id="380" r:id="rId7"/>
    <p:sldId id="392" r:id="rId8"/>
    <p:sldId id="383" r:id="rId9"/>
    <p:sldId id="393" r:id="rId10"/>
    <p:sldId id="394" r:id="rId11"/>
    <p:sldId id="39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 id="2" name="BBOBBOX" initials="B" lastIdx="1" clrIdx="1">
    <p:extLst>
      <p:ext uri="{19B8F6BF-5375-455C-9EA6-DF929625EA0E}">
        <p15:presenceInfo xmlns:p15="http://schemas.microsoft.com/office/powerpoint/2012/main" userId="BBOBBOX"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85948" autoAdjust="0"/>
  </p:normalViewPr>
  <p:slideViewPr>
    <p:cSldViewPr snapToGrid="0">
      <p:cViewPr varScale="1">
        <p:scale>
          <a:sx n="62" d="100"/>
          <a:sy n="62" d="100"/>
        </p:scale>
        <p:origin x="1644" y="6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2020/11/24</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2333175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1352283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1746490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21326242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14939916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1917610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37335908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3460816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19090851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32982458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2020/11/24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2020/11/24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2020/11/24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2020/11/24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2020/11/24</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2020/11/24</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2020/11/24</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2020/11/24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2020/11/24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2020/11/24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2020/11/24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2020/11/24</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03869" y="1651588"/>
            <a:ext cx="8348184" cy="877881"/>
          </a:xfrm>
        </p:spPr>
        <p:txBody>
          <a:bodyPr>
            <a:noAutofit/>
          </a:bodyPr>
          <a:lstStyle/>
          <a:p>
            <a:r>
              <a:rPr lang="en-US" altLang="zh-TW" sz="3600" dirty="0">
                <a:latin typeface="Times New Roman" panose="02020603050405020304" pitchFamily="18" charset="0"/>
                <a:cs typeface="Times New Roman" panose="02020603050405020304" pitchFamily="18" charset="0"/>
              </a:rPr>
              <a:t>Moth-Flame Optimization Algorithm :</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A Novel Nature-inspired Heuristic</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Paradigm</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03869" y="2939237"/>
            <a:ext cx="8536249" cy="717223"/>
          </a:xfrm>
        </p:spPr>
        <p:txBody>
          <a:bodyPr>
            <a:noAutofit/>
          </a:bodyPr>
          <a:lstStyle/>
          <a:p>
            <a:r>
              <a:rPr lang="en-US" altLang="zh-TW" sz="2800" dirty="0" err="1">
                <a:latin typeface="Times New Roman" panose="02020603050405020304" pitchFamily="18" charset="0"/>
                <a:cs typeface="Times New Roman" panose="02020603050405020304" pitchFamily="18" charset="0"/>
              </a:rPr>
              <a:t>Seyedali</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Mirjalili</a:t>
            </a:r>
            <a:endParaRPr lang="fr-FR" altLang="zh-TW"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Tz</a:t>
            </a:r>
            <a:r>
              <a:rPr lang="en-US" altLang="zh-TW" sz="1800" dirty="0">
                <a:latin typeface="Times New Roman" panose="02020603050405020304" pitchFamily="18" charset="0"/>
                <a:cs typeface="Times New Roman" panose="02020603050405020304" pitchFamily="18" charset="0"/>
              </a:rPr>
              <a:t>-Hsu Lee</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 Nov. </a:t>
            </a:r>
            <a:r>
              <a:rPr lang="en-US" altLang="zh-TW" sz="1800">
                <a:latin typeface="Times New Roman" panose="02020603050405020304" pitchFamily="18" charset="0"/>
                <a:ea typeface="標楷體" panose="03000509000000000000" pitchFamily="65" charset="-120"/>
                <a:cs typeface="Times New Roman" panose="02020603050405020304" pitchFamily="18" charset="0"/>
              </a:rPr>
              <a:t>24,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198F8570-D18F-4FAE-A5A6-644CF99DDEB2}"/>
              </a:ext>
            </a:extLst>
          </p:cNvPr>
          <p:cNvSpPr/>
          <p:nvPr/>
        </p:nvSpPr>
        <p:spPr>
          <a:xfrm>
            <a:off x="760548" y="4066229"/>
            <a:ext cx="7622889" cy="461665"/>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Knowledge-based System, 2015, Vol. 89, pp. 228-249.</a:t>
            </a:r>
          </a:p>
        </p:txBody>
      </p:sp>
    </p:spTree>
    <p:extLst>
      <p:ext uri="{BB962C8B-B14F-4D97-AF65-F5344CB8AC3E}">
        <p14:creationId xmlns:p14="http://schemas.microsoft.com/office/powerpoint/2010/main" val="3772700387"/>
      </p:ext>
    </p:extLst>
  </p:cSld>
  <p:clrMapOvr>
    <a:masterClrMapping/>
  </p:clrMapOvr>
  <mc:AlternateContent xmlns:mc="http://schemas.openxmlformats.org/markup-compatibility/2006" xmlns:p14="http://schemas.microsoft.com/office/powerpoint/2010/main">
    <mc:Choice Requires="p14">
      <p:transition spd="slow" p14:dur="2000" advTm="2519">
        <p:cut/>
      </p:transition>
    </mc:Choice>
    <mc:Fallback xmlns="">
      <p:transition spd="slow" advTm="2519">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79816"/>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6318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In this paper a novel nature-inspired optimization paradigm is proposed called Moth-Flame Optimization (MFO) algorithm. The main inspiration of this optimizer is the navigation method of moths in nature called transverse orientation. Moths fly in night by maintaining a fixed angle with respect to the moon, a very effective mechanism for travelling in a straight line for long distances. However, these fancy insects are trapped in a useless/deadly spiral path around artificial lights. This paper mathematically models this </a:t>
            </a:r>
            <a:r>
              <a:rPr lang="en-US" altLang="zh-TW" dirty="0" err="1">
                <a:latin typeface="Times New Roman" panose="02020603050405020304" pitchFamily="18" charset="0"/>
                <a:cs typeface="Times New Roman" panose="02020603050405020304" pitchFamily="18" charset="0"/>
              </a:rPr>
              <a:t>behaviour</a:t>
            </a:r>
            <a:r>
              <a:rPr lang="en-US" altLang="zh-TW" dirty="0">
                <a:latin typeface="Times New Roman" panose="02020603050405020304" pitchFamily="18" charset="0"/>
                <a:cs typeface="Times New Roman" panose="02020603050405020304" pitchFamily="18" charset="0"/>
              </a:rPr>
              <a:t> to perform optimization. The MFO algorithm is compared with other well-known nature-inspired algorithms on 29 benchmark and 7 real engineering problems. The statistical results on the benchmark functions show that this algorithm is able to provide very promising and competitive results. </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79816"/>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6318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Additionally, the results of the real problems demonstrate the merits of this algorithm in solving challenging problems with constrained and unknown search spaces. The paper also considers the application of the proposed algorithm in the field of marine propeller design to further investigate its effectiveness in practice.</a:t>
            </a:r>
          </a:p>
        </p:txBody>
      </p:sp>
    </p:spTree>
    <p:extLst>
      <p:ext uri="{BB962C8B-B14F-4D97-AF65-F5344CB8AC3E}">
        <p14:creationId xmlns:p14="http://schemas.microsoft.com/office/powerpoint/2010/main" val="64766422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459722" y="438500"/>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Inspiration</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5" name="圖片 4">
            <a:extLst>
              <a:ext uri="{FF2B5EF4-FFF2-40B4-BE49-F238E27FC236}">
                <a16:creationId xmlns:a16="http://schemas.microsoft.com/office/drawing/2014/main" id="{F1F38C75-7F9F-47AB-95DE-D55A3B7C62CD}"/>
              </a:ext>
            </a:extLst>
          </p:cNvPr>
          <p:cNvPicPr>
            <a:picLocks noChangeAspect="1"/>
          </p:cNvPicPr>
          <p:nvPr/>
        </p:nvPicPr>
        <p:blipFill>
          <a:blip r:embed="rId4"/>
          <a:stretch>
            <a:fillRect/>
          </a:stretch>
        </p:blipFill>
        <p:spPr>
          <a:xfrm>
            <a:off x="1052315" y="1571856"/>
            <a:ext cx="3342857" cy="3714286"/>
          </a:xfrm>
          <a:prstGeom prst="rect">
            <a:avLst/>
          </a:prstGeom>
        </p:spPr>
      </p:pic>
      <p:pic>
        <p:nvPicPr>
          <p:cNvPr id="7" name="圖片 6">
            <a:extLst>
              <a:ext uri="{FF2B5EF4-FFF2-40B4-BE49-F238E27FC236}">
                <a16:creationId xmlns:a16="http://schemas.microsoft.com/office/drawing/2014/main" id="{F54CC309-D761-4847-A3F2-0B85D286F55C}"/>
              </a:ext>
            </a:extLst>
          </p:cNvPr>
          <p:cNvPicPr>
            <a:picLocks noChangeAspect="1"/>
          </p:cNvPicPr>
          <p:nvPr/>
        </p:nvPicPr>
        <p:blipFill>
          <a:blip r:embed="rId5"/>
          <a:stretch>
            <a:fillRect/>
          </a:stretch>
        </p:blipFill>
        <p:spPr>
          <a:xfrm>
            <a:off x="5168137" y="2062332"/>
            <a:ext cx="3390476" cy="2733333"/>
          </a:xfrm>
          <a:prstGeom prst="rect">
            <a:avLst/>
          </a:prstGeom>
        </p:spPr>
      </p:pic>
    </p:spTree>
    <p:extLst>
      <p:ext uri="{BB962C8B-B14F-4D97-AF65-F5344CB8AC3E}">
        <p14:creationId xmlns:p14="http://schemas.microsoft.com/office/powerpoint/2010/main" val="21528538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27816" y="356704"/>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Flame</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816640" y="5693432"/>
            <a:ext cx="312390" cy="385893"/>
          </a:xfrm>
          <a:prstGeom prst="rect">
            <a:avLst/>
          </a:prstGeom>
        </p:spPr>
      </p:pic>
      <p:pic>
        <p:nvPicPr>
          <p:cNvPr id="17" name="圖片 16">
            <a:extLst>
              <a:ext uri="{FF2B5EF4-FFF2-40B4-BE49-F238E27FC236}">
                <a16:creationId xmlns:a16="http://schemas.microsoft.com/office/drawing/2014/main" id="{B5B7CA97-7E06-428C-BC3F-D33CC5878B0F}"/>
              </a:ext>
            </a:extLst>
          </p:cNvPr>
          <p:cNvPicPr>
            <a:picLocks noChangeAspect="1"/>
          </p:cNvPicPr>
          <p:nvPr/>
        </p:nvPicPr>
        <p:blipFill>
          <a:blip r:embed="rId4"/>
          <a:stretch>
            <a:fillRect/>
          </a:stretch>
        </p:blipFill>
        <p:spPr>
          <a:xfrm>
            <a:off x="527816" y="5589112"/>
            <a:ext cx="4026822" cy="625790"/>
          </a:xfrm>
          <a:prstGeom prst="rect">
            <a:avLst/>
          </a:prstGeom>
        </p:spPr>
      </p:pic>
      <p:sp>
        <p:nvSpPr>
          <p:cNvPr id="23" name="矩形 22">
            <a:extLst>
              <a:ext uri="{FF2B5EF4-FFF2-40B4-BE49-F238E27FC236}">
                <a16:creationId xmlns:a16="http://schemas.microsoft.com/office/drawing/2014/main" id="{1CCA6FD5-3BAA-4E04-BCC6-54D0C3700106}"/>
              </a:ext>
            </a:extLst>
          </p:cNvPr>
          <p:cNvSpPr/>
          <p:nvPr/>
        </p:nvSpPr>
        <p:spPr>
          <a:xfrm>
            <a:off x="501164" y="1268888"/>
            <a:ext cx="8642836" cy="1323439"/>
          </a:xfrm>
          <a:prstGeom prst="rect">
            <a:avLst/>
          </a:prstGeom>
        </p:spPr>
        <p:txBody>
          <a:bodyPr wrap="square">
            <a:spAutoFit/>
          </a:bodyPr>
          <a:lstStyle/>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Flame = Sort(moth)	</a:t>
            </a:r>
          </a:p>
          <a:p>
            <a:pPr lvl="2"/>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25" name="圖片 24">
            <a:extLst>
              <a:ext uri="{FF2B5EF4-FFF2-40B4-BE49-F238E27FC236}">
                <a16:creationId xmlns:a16="http://schemas.microsoft.com/office/drawing/2014/main" id="{8B5A4365-AB72-439F-B947-8E235A2165B7}"/>
              </a:ext>
            </a:extLst>
          </p:cNvPr>
          <p:cNvPicPr>
            <a:picLocks noChangeAspect="1"/>
          </p:cNvPicPr>
          <p:nvPr/>
        </p:nvPicPr>
        <p:blipFill>
          <a:blip r:embed="rId5"/>
          <a:stretch>
            <a:fillRect/>
          </a:stretch>
        </p:blipFill>
        <p:spPr>
          <a:xfrm>
            <a:off x="2180651" y="2024775"/>
            <a:ext cx="4782697" cy="3393532"/>
          </a:xfrm>
          <a:prstGeom prst="rect">
            <a:avLst/>
          </a:prstGeom>
        </p:spPr>
      </p:pic>
    </p:spTree>
    <p:extLst>
      <p:ext uri="{BB962C8B-B14F-4D97-AF65-F5344CB8AC3E}">
        <p14:creationId xmlns:p14="http://schemas.microsoft.com/office/powerpoint/2010/main" val="2818164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Move (1/2)</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4" name="矩形 3">
            <a:extLst>
              <a:ext uri="{FF2B5EF4-FFF2-40B4-BE49-F238E27FC236}">
                <a16:creationId xmlns:a16="http://schemas.microsoft.com/office/drawing/2014/main" id="{D4170CD4-CA83-45A5-9A9F-8C0B0C24F914}"/>
              </a:ext>
            </a:extLst>
          </p:cNvPr>
          <p:cNvSpPr/>
          <p:nvPr/>
        </p:nvSpPr>
        <p:spPr>
          <a:xfrm>
            <a:off x="501164" y="1113246"/>
            <a:ext cx="8642836" cy="1323439"/>
          </a:xfrm>
          <a:prstGeom prst="rect">
            <a:avLst/>
          </a:prstGeom>
        </p:spPr>
        <p:txBody>
          <a:bodyPr wrap="square">
            <a:spAutoFit/>
          </a:bodyPr>
          <a:lstStyle/>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Moth move to the Flame.	</a:t>
            </a:r>
          </a:p>
          <a:p>
            <a:pPr lvl="2"/>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lvl="2"/>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9" name="圖片 8">
            <a:extLst>
              <a:ext uri="{FF2B5EF4-FFF2-40B4-BE49-F238E27FC236}">
                <a16:creationId xmlns:a16="http://schemas.microsoft.com/office/drawing/2014/main" id="{37EBDCE8-E64C-4C71-971E-2DEB728607F8}"/>
              </a:ext>
            </a:extLst>
          </p:cNvPr>
          <p:cNvPicPr>
            <a:picLocks noChangeAspect="1"/>
          </p:cNvPicPr>
          <p:nvPr/>
        </p:nvPicPr>
        <p:blipFill>
          <a:blip r:embed="rId4"/>
          <a:stretch>
            <a:fillRect/>
          </a:stretch>
        </p:blipFill>
        <p:spPr>
          <a:xfrm>
            <a:off x="2266121" y="1582843"/>
            <a:ext cx="5419429" cy="4808789"/>
          </a:xfrm>
          <a:prstGeom prst="rect">
            <a:avLst/>
          </a:prstGeom>
        </p:spPr>
      </p:pic>
    </p:spTree>
    <p:extLst>
      <p:ext uri="{BB962C8B-B14F-4D97-AF65-F5344CB8AC3E}">
        <p14:creationId xmlns:p14="http://schemas.microsoft.com/office/powerpoint/2010/main" val="27379216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01164" y="491236"/>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Move (2/2)</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4" name="矩形 3">
            <a:extLst>
              <a:ext uri="{FF2B5EF4-FFF2-40B4-BE49-F238E27FC236}">
                <a16:creationId xmlns:a16="http://schemas.microsoft.com/office/drawing/2014/main" id="{D4170CD4-CA83-45A5-9A9F-8C0B0C24F914}"/>
              </a:ext>
            </a:extLst>
          </p:cNvPr>
          <p:cNvSpPr/>
          <p:nvPr/>
        </p:nvSpPr>
        <p:spPr>
          <a:xfrm>
            <a:off x="501164" y="1275469"/>
            <a:ext cx="8642836" cy="2246769"/>
          </a:xfrm>
          <a:prstGeom prst="rect">
            <a:avLst/>
          </a:prstGeom>
        </p:spPr>
        <p:txBody>
          <a:bodyPr wrap="square">
            <a:spAutoFit/>
          </a:bodyPr>
          <a:lstStyle/>
          <a:p>
            <a:pPr marL="342900" indent="-342900">
              <a:buFont typeface="Arial" panose="020B0604020202020204" pitchFamily="34" charset="0"/>
              <a:buChar char="•"/>
            </a:pPr>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a:t>
            </a:r>
          </a:p>
          <a:p>
            <a:pPr marL="342900" indent="-342900">
              <a:buFont typeface="Arial" panose="020B0604020202020204" pitchFamily="34" charset="0"/>
              <a:buChar char="•"/>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buFont typeface="Arial" panose="020B0604020202020204" pitchFamily="34" charset="0"/>
              <a:buChar char="•"/>
            </a:pP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b : constant</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t : random number in [r, 1]</a:t>
            </a:r>
          </a:p>
          <a:p>
            <a:r>
              <a:rPr lang="en-US" altLang="zh-TW" sz="2000" dirty="0">
                <a:latin typeface="Times New Roman" panose="02020603050405020304" pitchFamily="18" charset="0"/>
                <a:ea typeface="Tahoma" panose="020B0604030504040204" pitchFamily="34" charset="0"/>
                <a:cs typeface="Times New Roman" panose="02020603050405020304" pitchFamily="18" charset="0"/>
              </a:rPr>
              <a:t>      r : [-1, -2]</a:t>
            </a:r>
          </a:p>
          <a:p>
            <a:pPr lvl="2"/>
            <a:r>
              <a:rPr lang="zh-TW" altLang="en-US" sz="2000" dirty="0">
                <a:latin typeface="Times New Roman" panose="02020603050405020304" pitchFamily="18" charset="0"/>
                <a:ea typeface="Tahoma" panose="020B0604030504040204" pitchFamily="34" charset="0"/>
                <a:cs typeface="Times New Roman" panose="02020603050405020304" pitchFamily="18" charset="0"/>
              </a:rPr>
              <a:t> </a:t>
            </a:r>
            <a:endParaRPr lang="en-US" altLang="zh-TW" sz="2000" dirty="0">
              <a:latin typeface="Times New Roman" panose="02020603050405020304" pitchFamily="18" charset="0"/>
              <a:ea typeface="Tahoma" panose="020B0604030504040204" pitchFamily="34" charset="0"/>
              <a:cs typeface="Times New Roman" panose="02020603050405020304" pitchFamily="18" charset="0"/>
            </a:endParaRPr>
          </a:p>
        </p:txBody>
      </p:sp>
      <p:pic>
        <p:nvPicPr>
          <p:cNvPr id="5" name="圖片 4">
            <a:extLst>
              <a:ext uri="{FF2B5EF4-FFF2-40B4-BE49-F238E27FC236}">
                <a16:creationId xmlns:a16="http://schemas.microsoft.com/office/drawing/2014/main" id="{5CEB30BC-DD95-4E39-803A-0C0E0F8C5708}"/>
              </a:ext>
            </a:extLst>
          </p:cNvPr>
          <p:cNvPicPr>
            <a:picLocks noChangeAspect="1"/>
          </p:cNvPicPr>
          <p:nvPr/>
        </p:nvPicPr>
        <p:blipFill>
          <a:blip r:embed="rId4"/>
          <a:stretch>
            <a:fillRect/>
          </a:stretch>
        </p:blipFill>
        <p:spPr>
          <a:xfrm>
            <a:off x="916922" y="1288340"/>
            <a:ext cx="4123809" cy="400000"/>
          </a:xfrm>
          <a:prstGeom prst="rect">
            <a:avLst/>
          </a:prstGeom>
        </p:spPr>
      </p:pic>
      <p:pic>
        <p:nvPicPr>
          <p:cNvPr id="7" name="圖片 6">
            <a:extLst>
              <a:ext uri="{FF2B5EF4-FFF2-40B4-BE49-F238E27FC236}">
                <a16:creationId xmlns:a16="http://schemas.microsoft.com/office/drawing/2014/main" id="{B231B2C1-9A26-434D-84E5-D6AAED079758}"/>
              </a:ext>
            </a:extLst>
          </p:cNvPr>
          <p:cNvPicPr>
            <a:picLocks noChangeAspect="1"/>
          </p:cNvPicPr>
          <p:nvPr/>
        </p:nvPicPr>
        <p:blipFill>
          <a:blip r:embed="rId5"/>
          <a:stretch>
            <a:fillRect/>
          </a:stretch>
        </p:blipFill>
        <p:spPr>
          <a:xfrm>
            <a:off x="851795" y="1727262"/>
            <a:ext cx="1876190" cy="542857"/>
          </a:xfrm>
          <a:prstGeom prst="rect">
            <a:avLst/>
          </a:prstGeom>
        </p:spPr>
      </p:pic>
      <p:pic>
        <p:nvPicPr>
          <p:cNvPr id="10" name="圖片 9">
            <a:extLst>
              <a:ext uri="{FF2B5EF4-FFF2-40B4-BE49-F238E27FC236}">
                <a16:creationId xmlns:a16="http://schemas.microsoft.com/office/drawing/2014/main" id="{0D6FED0A-4EA2-4D46-8286-7D7E6222A42B}"/>
              </a:ext>
            </a:extLst>
          </p:cNvPr>
          <p:cNvPicPr>
            <a:picLocks noChangeAspect="1"/>
          </p:cNvPicPr>
          <p:nvPr/>
        </p:nvPicPr>
        <p:blipFill>
          <a:blip r:embed="rId6"/>
          <a:stretch>
            <a:fillRect/>
          </a:stretch>
        </p:blipFill>
        <p:spPr>
          <a:xfrm>
            <a:off x="236529" y="3302010"/>
            <a:ext cx="4059184" cy="3170786"/>
          </a:xfrm>
          <a:prstGeom prst="rect">
            <a:avLst/>
          </a:prstGeom>
        </p:spPr>
      </p:pic>
      <p:pic>
        <p:nvPicPr>
          <p:cNvPr id="13" name="圖片 12">
            <a:extLst>
              <a:ext uri="{FF2B5EF4-FFF2-40B4-BE49-F238E27FC236}">
                <a16:creationId xmlns:a16="http://schemas.microsoft.com/office/drawing/2014/main" id="{22947AB1-DEFF-40D3-A627-E20519ED4F08}"/>
              </a:ext>
            </a:extLst>
          </p:cNvPr>
          <p:cNvPicPr>
            <a:picLocks noChangeAspect="1"/>
          </p:cNvPicPr>
          <p:nvPr/>
        </p:nvPicPr>
        <p:blipFill>
          <a:blip r:embed="rId7"/>
          <a:stretch>
            <a:fillRect/>
          </a:stretch>
        </p:blipFill>
        <p:spPr>
          <a:xfrm>
            <a:off x="4295713" y="3201449"/>
            <a:ext cx="4809065" cy="3592137"/>
          </a:xfrm>
          <a:prstGeom prst="rect">
            <a:avLst/>
          </a:prstGeom>
        </p:spPr>
      </p:pic>
    </p:spTree>
    <p:extLst>
      <p:ext uri="{BB962C8B-B14F-4D97-AF65-F5344CB8AC3E}">
        <p14:creationId xmlns:p14="http://schemas.microsoft.com/office/powerpoint/2010/main" val="41538333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Results (1/4)</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6" name="圖片 5">
            <a:extLst>
              <a:ext uri="{FF2B5EF4-FFF2-40B4-BE49-F238E27FC236}">
                <a16:creationId xmlns:a16="http://schemas.microsoft.com/office/drawing/2014/main" id="{5D8A6504-889B-4544-9DE0-B84D33501CC6}"/>
              </a:ext>
            </a:extLst>
          </p:cNvPr>
          <p:cNvPicPr>
            <a:picLocks noChangeAspect="1"/>
          </p:cNvPicPr>
          <p:nvPr/>
        </p:nvPicPr>
        <p:blipFill>
          <a:blip r:embed="rId4"/>
          <a:stretch>
            <a:fillRect/>
          </a:stretch>
        </p:blipFill>
        <p:spPr>
          <a:xfrm>
            <a:off x="0" y="904582"/>
            <a:ext cx="9144000" cy="2373256"/>
          </a:xfrm>
          <a:prstGeom prst="rect">
            <a:avLst/>
          </a:prstGeom>
        </p:spPr>
      </p:pic>
      <p:pic>
        <p:nvPicPr>
          <p:cNvPr id="8" name="圖片 7">
            <a:extLst>
              <a:ext uri="{FF2B5EF4-FFF2-40B4-BE49-F238E27FC236}">
                <a16:creationId xmlns:a16="http://schemas.microsoft.com/office/drawing/2014/main" id="{8E26FE49-9935-4405-9320-5965046E8509}"/>
              </a:ext>
            </a:extLst>
          </p:cNvPr>
          <p:cNvPicPr>
            <a:picLocks noChangeAspect="1"/>
          </p:cNvPicPr>
          <p:nvPr/>
        </p:nvPicPr>
        <p:blipFill>
          <a:blip r:embed="rId5"/>
          <a:stretch>
            <a:fillRect/>
          </a:stretch>
        </p:blipFill>
        <p:spPr>
          <a:xfrm>
            <a:off x="0" y="3151762"/>
            <a:ext cx="9144000" cy="3774332"/>
          </a:xfrm>
          <a:prstGeom prst="rect">
            <a:avLst/>
          </a:prstGeom>
        </p:spPr>
      </p:pic>
    </p:spTree>
    <p:extLst>
      <p:ext uri="{BB962C8B-B14F-4D97-AF65-F5344CB8AC3E}">
        <p14:creationId xmlns:p14="http://schemas.microsoft.com/office/powerpoint/2010/main" val="54708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08360" y="19560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Results (2/4)</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4" name="圖片 3">
            <a:extLst>
              <a:ext uri="{FF2B5EF4-FFF2-40B4-BE49-F238E27FC236}">
                <a16:creationId xmlns:a16="http://schemas.microsoft.com/office/drawing/2014/main" id="{DC79DFDD-26A6-4F36-B121-FA2521242ABD}"/>
              </a:ext>
            </a:extLst>
          </p:cNvPr>
          <p:cNvPicPr>
            <a:picLocks noChangeAspect="1"/>
          </p:cNvPicPr>
          <p:nvPr/>
        </p:nvPicPr>
        <p:blipFill>
          <a:blip r:embed="rId4"/>
          <a:stretch>
            <a:fillRect/>
          </a:stretch>
        </p:blipFill>
        <p:spPr>
          <a:xfrm>
            <a:off x="652952" y="677048"/>
            <a:ext cx="7838095" cy="6180952"/>
          </a:xfrm>
          <a:prstGeom prst="rect">
            <a:avLst/>
          </a:prstGeom>
        </p:spPr>
      </p:pic>
    </p:spTree>
    <p:extLst>
      <p:ext uri="{BB962C8B-B14F-4D97-AF65-F5344CB8AC3E}">
        <p14:creationId xmlns:p14="http://schemas.microsoft.com/office/powerpoint/2010/main" val="401331218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08360" y="19560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Results (3/4)</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5" name="圖片 4">
            <a:extLst>
              <a:ext uri="{FF2B5EF4-FFF2-40B4-BE49-F238E27FC236}">
                <a16:creationId xmlns:a16="http://schemas.microsoft.com/office/drawing/2014/main" id="{A8C47F46-6BE4-4F58-805C-683C86E8ADA5}"/>
              </a:ext>
            </a:extLst>
          </p:cNvPr>
          <p:cNvPicPr>
            <a:picLocks noChangeAspect="1"/>
          </p:cNvPicPr>
          <p:nvPr/>
        </p:nvPicPr>
        <p:blipFill>
          <a:blip r:embed="rId4"/>
          <a:stretch>
            <a:fillRect/>
          </a:stretch>
        </p:blipFill>
        <p:spPr>
          <a:xfrm>
            <a:off x="1395809" y="696645"/>
            <a:ext cx="6352381" cy="3285714"/>
          </a:xfrm>
          <a:prstGeom prst="rect">
            <a:avLst/>
          </a:prstGeom>
        </p:spPr>
      </p:pic>
      <p:pic>
        <p:nvPicPr>
          <p:cNvPr id="7" name="圖片 6">
            <a:extLst>
              <a:ext uri="{FF2B5EF4-FFF2-40B4-BE49-F238E27FC236}">
                <a16:creationId xmlns:a16="http://schemas.microsoft.com/office/drawing/2014/main" id="{87703404-96DE-46E5-B396-6F7B53CC8992}"/>
              </a:ext>
            </a:extLst>
          </p:cNvPr>
          <p:cNvPicPr>
            <a:picLocks noChangeAspect="1"/>
          </p:cNvPicPr>
          <p:nvPr/>
        </p:nvPicPr>
        <p:blipFill>
          <a:blip r:embed="rId5"/>
          <a:stretch>
            <a:fillRect/>
          </a:stretch>
        </p:blipFill>
        <p:spPr>
          <a:xfrm>
            <a:off x="1352951" y="3908346"/>
            <a:ext cx="6438095" cy="2904762"/>
          </a:xfrm>
          <a:prstGeom prst="rect">
            <a:avLst/>
          </a:prstGeom>
        </p:spPr>
      </p:pic>
    </p:spTree>
    <p:extLst>
      <p:ext uri="{BB962C8B-B14F-4D97-AF65-F5344CB8AC3E}">
        <p14:creationId xmlns:p14="http://schemas.microsoft.com/office/powerpoint/2010/main" val="295795838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08360" y="19560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Results (4/4)</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4" name="圖片 3">
            <a:extLst>
              <a:ext uri="{FF2B5EF4-FFF2-40B4-BE49-F238E27FC236}">
                <a16:creationId xmlns:a16="http://schemas.microsoft.com/office/drawing/2014/main" id="{35F7E397-3738-4B00-8D3C-5DCFF2CB1F8A}"/>
              </a:ext>
            </a:extLst>
          </p:cNvPr>
          <p:cNvPicPr>
            <a:picLocks noChangeAspect="1"/>
          </p:cNvPicPr>
          <p:nvPr/>
        </p:nvPicPr>
        <p:blipFill>
          <a:blip r:embed="rId4"/>
          <a:stretch>
            <a:fillRect/>
          </a:stretch>
        </p:blipFill>
        <p:spPr>
          <a:xfrm>
            <a:off x="1362476" y="1981381"/>
            <a:ext cx="6419048" cy="2895238"/>
          </a:xfrm>
          <a:prstGeom prst="rect">
            <a:avLst/>
          </a:prstGeom>
        </p:spPr>
      </p:pic>
    </p:spTree>
    <p:extLst>
      <p:ext uri="{BB962C8B-B14F-4D97-AF65-F5344CB8AC3E}">
        <p14:creationId xmlns:p14="http://schemas.microsoft.com/office/powerpoint/2010/main" val="378817430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92624</TotalTime>
  <Words>309</Words>
  <Application>Microsoft Office PowerPoint</Application>
  <PresentationFormat>如螢幕大小 (4:3)</PresentationFormat>
  <Paragraphs>43</Paragraphs>
  <Slides>11</Slides>
  <Notes>11</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11</vt:i4>
      </vt:variant>
    </vt:vector>
  </HeadingPairs>
  <TitlesOfParts>
    <vt:vector size="16" baseType="lpstr">
      <vt:lpstr>Arial</vt:lpstr>
      <vt:lpstr>Calibri</vt:lpstr>
      <vt:lpstr>Calibri Light</vt:lpstr>
      <vt:lpstr>Times New Roman</vt:lpstr>
      <vt:lpstr>Office 佈景主題</vt:lpstr>
      <vt:lpstr>Moth-Flame Optimization Algorithm : A Novel Nature-inspired Heuristic Paradigm</vt:lpstr>
      <vt:lpstr>Abstract(1/2)</vt:lpstr>
      <vt:lpstr>Abstract(1/2)</vt:lpstr>
      <vt:lpstr>Inspiration</vt:lpstr>
      <vt:lpstr>Flame</vt:lpstr>
      <vt:lpstr>Move (1/2)</vt:lpstr>
      <vt:lpstr>Move (2/2)</vt:lpstr>
      <vt:lpstr>Results (1/4)</vt:lpstr>
      <vt:lpstr>Results (2/4)</vt:lpstr>
      <vt:lpstr>Results (3/4)</vt:lpstr>
      <vt:lpstr>Results (4/4)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pplab</cp:lastModifiedBy>
  <cp:revision>972</cp:revision>
  <dcterms:created xsi:type="dcterms:W3CDTF">2017-09-25T08:45:50Z</dcterms:created>
  <dcterms:modified xsi:type="dcterms:W3CDTF">2020-11-24T13:09:30Z</dcterms:modified>
</cp:coreProperties>
</file>