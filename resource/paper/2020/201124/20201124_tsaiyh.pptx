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wmf" ContentType="image/x-wmf"/>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notesSlides/notesSlide9.xml" ContentType="application/vnd.openxmlformats-officedocument.presentationml.notesSlide+xml"/>
  <Override PartName="/ppt/notesSlides/notesSlide12.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Default Extension="doc" ContentType="application/msword"/>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Default Extension="bin" ContentType="application/vnd.openxmlformats-officedocument.oleObject"/>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2.xml" ContentType="application/vnd.openxmlformats-officedocument.presentationml.slideLayout+xml"/>
  <Override PartName="/ppt/notesSlides/notesSlide13.xml" ContentType="application/vnd.openxmlformats-officedocument.presentationml.notesSlide+xml"/>
  <Override PartName="/ppt/slideLayouts/slideLayout10.xml" ContentType="application/vnd.openxmlformats-officedocument.presentationml.slideLayout+xml"/>
  <Default Extension="vml" ContentType="application/vnd.openxmlformats-officedocument.vmlDrawing"/>
  <Default Extension="gif" ContentType="image/gif"/>
  <Override PartName="/ppt/notesSlides/notesSlide8.xml" ContentType="application/vnd.openxmlformats-officedocument.presentationml.notesSlide+xml"/>
  <Override PartName="/ppt/notesSlides/notesSlide11.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2"/>
  </p:notesMasterIdLst>
  <p:sldIdLst>
    <p:sldId id="257" r:id="rId2"/>
    <p:sldId id="258" r:id="rId3"/>
    <p:sldId id="259" r:id="rId4"/>
    <p:sldId id="260" r:id="rId5"/>
    <p:sldId id="261" r:id="rId6"/>
    <p:sldId id="263" r:id="rId7"/>
    <p:sldId id="264" r:id="rId8"/>
    <p:sldId id="265" r:id="rId9"/>
    <p:sldId id="266" r:id="rId10"/>
    <p:sldId id="267" r:id="rId11"/>
    <p:sldId id="268" r:id="rId12"/>
    <p:sldId id="269" r:id="rId13"/>
    <p:sldId id="270" r:id="rId14"/>
    <p:sldId id="271" r:id="rId15"/>
    <p:sldId id="272" r:id="rId16"/>
    <p:sldId id="273" r:id="rId17"/>
    <p:sldId id="274" r:id="rId18"/>
    <p:sldId id="275" r:id="rId19"/>
    <p:sldId id="276" r:id="rId20"/>
    <p:sldId id="277" r:id="rId21"/>
    <p:sldId id="278" r:id="rId22"/>
    <p:sldId id="279" r:id="rId23"/>
    <p:sldId id="280" r:id="rId24"/>
    <p:sldId id="281" r:id="rId25"/>
    <p:sldId id="298" r:id="rId26"/>
    <p:sldId id="299" r:id="rId27"/>
    <p:sldId id="283" r:id="rId28"/>
    <p:sldId id="285" r:id="rId29"/>
    <p:sldId id="286" r:id="rId30"/>
    <p:sldId id="287" r:id="rId31"/>
    <p:sldId id="288" r:id="rId32"/>
    <p:sldId id="289" r:id="rId33"/>
    <p:sldId id="290" r:id="rId34"/>
    <p:sldId id="291" r:id="rId35"/>
    <p:sldId id="292" r:id="rId36"/>
    <p:sldId id="293" r:id="rId37"/>
    <p:sldId id="294" r:id="rId38"/>
    <p:sldId id="295" r:id="rId39"/>
    <p:sldId id="296" r:id="rId40"/>
    <p:sldId id="297" r:id="rId41"/>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109" d="100"/>
          <a:sy n="109" d="100"/>
        </p:scale>
        <p:origin x="-1662" y="-72"/>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0.png"/></Relationships>
</file>

<file path=ppt/drawings/_rels/vmlDrawing3.v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2.wmf"/><Relationship Id="rId1" Type="http://schemas.openxmlformats.org/officeDocument/2006/relationships/image" Target="../media/image11.png"/></Relationships>
</file>

<file path=ppt/drawings/_rels/vmlDrawing4.v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4.wmf"/><Relationship Id="rId1" Type="http://schemas.openxmlformats.org/officeDocument/2006/relationships/image" Target="../media/image13.png"/></Relationships>
</file>

<file path=ppt/drawings/_rels/vmlDrawing5.v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6.wmf"/><Relationship Id="rId1" Type="http://schemas.openxmlformats.org/officeDocument/2006/relationships/image" Target="../media/image15.png"/></Relationships>
</file>

<file path=ppt/drawings/_rels/vmlDrawing6.v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8.png"/><Relationship Id="rId1" Type="http://schemas.openxmlformats.org/officeDocument/2006/relationships/image" Target="../media/image17.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0.png"/><Relationship Id="rId1" Type="http://schemas.openxmlformats.org/officeDocument/2006/relationships/image" Target="../media/image19.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image" Target="../media/image22.wmf"/><Relationship Id="rId1" Type="http://schemas.openxmlformats.org/officeDocument/2006/relationships/image" Target="../media/image21.png"/><Relationship Id="rId4" Type="http://schemas.openxmlformats.org/officeDocument/2006/relationships/image" Target="../media/image10.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8EC598C-8F50-4D8A-A257-9F9A3D6EE20F}" type="datetimeFigureOut">
              <a:rPr lang="zh-TW" altLang="en-US" smtClean="0"/>
              <a:pPr/>
              <a:t>2020/11/24</a:t>
            </a:fld>
            <a:endParaRPr lang="zh-TW" altLang="en-US"/>
          </a:p>
        </p:txBody>
      </p:sp>
      <p:sp>
        <p:nvSpPr>
          <p:cNvPr id="4" name="投影片圖像版面配置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5A18BCC-D1EA-4D8A-929C-D092EA2B4393}" type="slidenum">
              <a:rPr lang="zh-TW" altLang="en-US" smtClean="0"/>
              <a:pPr/>
              <a:t>‹#›</a:t>
            </a:fld>
            <a:endParaRPr lang="zh-TW"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sz="1200" b="1" i="0" kern="1200" dirty="0" smtClean="0">
                <a:solidFill>
                  <a:schemeClr val="tx1"/>
                </a:solidFill>
                <a:latin typeface="+mn-lt"/>
                <a:ea typeface="+mn-ea"/>
                <a:cs typeface="+mn-cs"/>
              </a:rPr>
              <a:t>ISTA: Information Science, Technology and Applications  --  </a:t>
            </a:r>
            <a:r>
              <a:rPr lang="en-US" altLang="zh-TW" dirty="0" smtClean="0"/>
              <a:t>https://dl.acm.org/conference/ista</a:t>
            </a:r>
          </a:p>
          <a:p>
            <a:r>
              <a:rPr lang="en-US" sz="1200" dirty="0" smtClean="0"/>
              <a:t>Kuwait </a:t>
            </a:r>
            <a:r>
              <a:rPr lang="en-US" sz="1200" dirty="0" err="1" smtClean="0"/>
              <a:t>Kuwait</a:t>
            </a:r>
            <a:r>
              <a:rPr lang="en-US" sz="1200" dirty="0" smtClean="0"/>
              <a:t> </a:t>
            </a:r>
            <a:r>
              <a:rPr lang="zh-TW" altLang="en-US" sz="1200" dirty="0" smtClean="0"/>
              <a:t>科威特 的 科威特城</a:t>
            </a:r>
            <a:endParaRPr lang="zh-TW" altLang="en-US" dirty="0"/>
          </a:p>
        </p:txBody>
      </p:sp>
      <p:sp>
        <p:nvSpPr>
          <p:cNvPr id="4" name="投影片編號版面配置區 3"/>
          <p:cNvSpPr>
            <a:spLocks noGrp="1"/>
          </p:cNvSpPr>
          <p:nvPr>
            <p:ph type="sldNum" sz="quarter" idx="5"/>
          </p:nvPr>
        </p:nvSpPr>
        <p:spPr/>
        <p:txBody>
          <a:bodyPr/>
          <a:lstStyle/>
          <a:p>
            <a:fld id="{58745C38-81A3-45D4-9959-4EF52C41C41F}" type="slidenum">
              <a:rPr lang="zh-TW" altLang="en-US" smtClean="0"/>
              <a:pPr/>
              <a:t>1</a:t>
            </a:fld>
            <a:endParaRPr lang="zh-TW" altLang="en-US"/>
          </a:p>
        </p:txBody>
      </p:sp>
    </p:spTree>
    <p:extLst>
      <p:ext uri="{BB962C8B-B14F-4D97-AF65-F5344CB8AC3E}">
        <p14:creationId xmlns="" xmlns:p14="http://schemas.microsoft.com/office/powerpoint/2010/main" val="27038194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pPr/>
              <a:t>2</a:t>
            </a:fld>
            <a:endParaRPr lang="zh-TW" altLang="en-US"/>
          </a:p>
        </p:txBody>
      </p:sp>
    </p:spTree>
    <p:extLst>
      <p:ext uri="{BB962C8B-B14F-4D97-AF65-F5344CB8AC3E}">
        <p14:creationId xmlns="" xmlns:p14="http://schemas.microsoft.com/office/powerpoint/2010/main" val="14918789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pPr/>
              <a:t>3</a:t>
            </a:fld>
            <a:endParaRPr lang="zh-TW" altLang="en-US"/>
          </a:p>
        </p:txBody>
      </p:sp>
    </p:spTree>
    <p:extLst>
      <p:ext uri="{BB962C8B-B14F-4D97-AF65-F5344CB8AC3E}">
        <p14:creationId xmlns="" xmlns:p14="http://schemas.microsoft.com/office/powerpoint/2010/main" val="14918789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sz="1200" b="0" i="0" kern="1200" dirty="0" smtClean="0">
                <a:solidFill>
                  <a:schemeClr val="tx1"/>
                </a:solidFill>
                <a:latin typeface="+mn-lt"/>
                <a:ea typeface="+mn-ea"/>
                <a:cs typeface="+mn-cs"/>
              </a:rPr>
              <a:t>貝塞斯達</a:t>
            </a:r>
            <a:r>
              <a:rPr lang="en-US" altLang="zh-TW" sz="1200" b="0" i="0" kern="1200" dirty="0" smtClean="0">
                <a:solidFill>
                  <a:schemeClr val="tx1"/>
                </a:solidFill>
                <a:latin typeface="+mn-lt"/>
                <a:ea typeface="+mn-ea"/>
                <a:cs typeface="+mn-cs"/>
              </a:rPr>
              <a:t>(</a:t>
            </a:r>
            <a:r>
              <a:rPr lang="en-US" altLang="zh-TW" sz="1200" dirty="0" smtClean="0">
                <a:latin typeface="Times New Roman" pitchFamily="18" charset="0"/>
                <a:cs typeface="Times New Roman" pitchFamily="18" charset="0"/>
              </a:rPr>
              <a:t>Bethesda</a:t>
            </a:r>
            <a:r>
              <a:rPr lang="en-US" altLang="zh-TW" sz="1200" b="0" i="0" kern="1200" dirty="0" smtClean="0">
                <a:solidFill>
                  <a:schemeClr val="tx1"/>
                </a:solidFill>
                <a:latin typeface="+mn-lt"/>
                <a:ea typeface="+mn-ea"/>
                <a:cs typeface="+mn-cs"/>
              </a:rPr>
              <a:t>)</a:t>
            </a:r>
            <a:r>
              <a:rPr lang="zh-TW" altLang="en-US" sz="1200" b="0" i="0" kern="1200" dirty="0" smtClean="0">
                <a:solidFill>
                  <a:schemeClr val="tx1"/>
                </a:solidFill>
                <a:latin typeface="+mn-lt"/>
                <a:ea typeface="+mn-ea"/>
                <a:cs typeface="+mn-cs"/>
              </a:rPr>
              <a:t>是位於美國馬里蘭州蒙哥馬利縣</a:t>
            </a:r>
            <a:r>
              <a:rPr lang="en-US" altLang="zh-TW" sz="1200" b="0" i="0" kern="1200" dirty="0" smtClean="0">
                <a:solidFill>
                  <a:schemeClr val="tx1"/>
                </a:solidFill>
                <a:latin typeface="+mn-lt"/>
                <a:ea typeface="+mn-ea"/>
                <a:cs typeface="+mn-cs"/>
              </a:rPr>
              <a:t>(</a:t>
            </a:r>
            <a:r>
              <a:rPr lang="en-US" altLang="zh-TW" sz="1200" dirty="0" smtClean="0">
                <a:latin typeface="Times New Roman" pitchFamily="18" charset="0"/>
                <a:cs typeface="Times New Roman" pitchFamily="18" charset="0"/>
              </a:rPr>
              <a:t>MD</a:t>
            </a:r>
            <a:r>
              <a:rPr lang="en-US" altLang="zh-TW" sz="1200" b="0" i="0" kern="1200" dirty="0" smtClean="0">
                <a:solidFill>
                  <a:schemeClr val="tx1"/>
                </a:solidFill>
                <a:latin typeface="+mn-lt"/>
                <a:ea typeface="+mn-ea"/>
                <a:cs typeface="+mn-cs"/>
              </a:rPr>
              <a:t>)</a:t>
            </a:r>
            <a:r>
              <a:rPr lang="zh-TW" altLang="en-US" sz="1200" b="0" i="0" kern="1200" dirty="0" smtClean="0">
                <a:solidFill>
                  <a:schemeClr val="tx1"/>
                </a:solidFill>
                <a:latin typeface="+mn-lt"/>
                <a:ea typeface="+mn-ea"/>
                <a:cs typeface="+mn-cs"/>
              </a:rPr>
              <a:t>的一個未成建制的自然聚居區</a:t>
            </a:r>
            <a:endParaRPr lang="zh-TW" altLang="en-US" dirty="0"/>
          </a:p>
        </p:txBody>
      </p:sp>
      <p:sp>
        <p:nvSpPr>
          <p:cNvPr id="4" name="投影片編號版面配置區 3"/>
          <p:cNvSpPr>
            <a:spLocks noGrp="1"/>
          </p:cNvSpPr>
          <p:nvPr>
            <p:ph type="sldNum" sz="quarter" idx="5"/>
          </p:nvPr>
        </p:nvSpPr>
        <p:spPr/>
        <p:txBody>
          <a:bodyPr/>
          <a:lstStyle/>
          <a:p>
            <a:fld id="{58745C38-81A3-45D4-9959-4EF52C41C41F}" type="slidenum">
              <a:rPr lang="zh-TW" altLang="en-US" smtClean="0"/>
              <a:pPr/>
              <a:t>20</a:t>
            </a:fld>
            <a:endParaRPr lang="zh-TW" altLang="en-US"/>
          </a:p>
        </p:txBody>
      </p:sp>
    </p:spTree>
    <p:extLst>
      <p:ext uri="{BB962C8B-B14F-4D97-AF65-F5344CB8AC3E}">
        <p14:creationId xmlns="" xmlns:p14="http://schemas.microsoft.com/office/powerpoint/2010/main" val="27038194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pPr/>
              <a:t>21</a:t>
            </a:fld>
            <a:endParaRPr lang="zh-TW" altLang="en-US"/>
          </a:p>
        </p:txBody>
      </p:sp>
    </p:spTree>
    <p:extLst>
      <p:ext uri="{BB962C8B-B14F-4D97-AF65-F5344CB8AC3E}">
        <p14:creationId xmlns="" xmlns:p14="http://schemas.microsoft.com/office/powerpoint/2010/main" val="14918789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pPr/>
              <a:t>22</a:t>
            </a:fld>
            <a:endParaRPr lang="zh-TW" altLang="en-US"/>
          </a:p>
        </p:txBody>
      </p:sp>
    </p:spTree>
    <p:extLst>
      <p:ext uri="{BB962C8B-B14F-4D97-AF65-F5344CB8AC3E}">
        <p14:creationId xmlns="" xmlns:p14="http://schemas.microsoft.com/office/powerpoint/2010/main" val="14918789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4C80CE0-19CC-4844-9BB6-24087567DA8E}" type="slidenum">
              <a:rPr lang="en-US" altLang="zh-TW"/>
              <a:pPr/>
              <a:t>28</a:t>
            </a:fld>
            <a:endParaRPr lang="en-US" altLang="zh-TW"/>
          </a:p>
        </p:txBody>
      </p:sp>
      <p:sp>
        <p:nvSpPr>
          <p:cNvPr id="99330" name="Rectangle 2"/>
          <p:cNvSpPr>
            <a:spLocks noGrp="1" noRot="1" noChangeAspect="1" noChangeArrowheads="1" noTextEdit="1"/>
          </p:cNvSpPr>
          <p:nvPr>
            <p:ph type="sldImg"/>
          </p:nvPr>
        </p:nvSpPr>
        <p:spPr>
          <a:ln/>
        </p:spPr>
      </p:sp>
      <p:sp>
        <p:nvSpPr>
          <p:cNvPr id="99331" name="Rectangle 3"/>
          <p:cNvSpPr>
            <a:spLocks noGrp="1" noChangeArrowheads="1"/>
          </p:cNvSpPr>
          <p:nvPr>
            <p:ph type="body" idx="1"/>
          </p:nvPr>
        </p:nvSpPr>
        <p:spPr/>
        <p:txBody>
          <a:bodyPr/>
          <a:lstStyle/>
          <a:p>
            <a:endParaRPr lang="zh-TW" altLang="zh-TW"/>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110CF82-28CC-4289-9665-59A7A3C8D133}" type="slidenum">
              <a:rPr lang="en-US" altLang="zh-TW"/>
              <a:pPr/>
              <a:t>29</a:t>
            </a:fld>
            <a:endParaRPr lang="en-US" altLang="zh-TW"/>
          </a:p>
        </p:txBody>
      </p:sp>
      <p:sp>
        <p:nvSpPr>
          <p:cNvPr id="100354" name="Rectangle 2"/>
          <p:cNvSpPr>
            <a:spLocks noGrp="1" noRot="1" noChangeAspect="1" noChangeArrowheads="1" noTextEdit="1"/>
          </p:cNvSpPr>
          <p:nvPr>
            <p:ph type="sldImg"/>
          </p:nvPr>
        </p:nvSpPr>
        <p:spPr>
          <a:ln/>
        </p:spPr>
      </p:sp>
      <p:sp>
        <p:nvSpPr>
          <p:cNvPr id="100355" name="Rectangle 3"/>
          <p:cNvSpPr>
            <a:spLocks noGrp="1" noChangeArrowheads="1"/>
          </p:cNvSpPr>
          <p:nvPr>
            <p:ph type="body" idx="1"/>
          </p:nvPr>
        </p:nvSpPr>
        <p:spPr/>
        <p:txBody>
          <a:bodyPr/>
          <a:lstStyle/>
          <a:p>
            <a:endParaRPr lang="zh-TW" altLang="zh-TW"/>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64608BF-5F4A-47FC-81D5-55F100120B40}" type="slidenum">
              <a:rPr lang="en-US" altLang="zh-TW"/>
              <a:pPr/>
              <a:t>30</a:t>
            </a:fld>
            <a:endParaRPr lang="en-US" altLang="zh-TW"/>
          </a:p>
        </p:txBody>
      </p:sp>
      <p:sp>
        <p:nvSpPr>
          <p:cNvPr id="101378" name="Rectangle 2"/>
          <p:cNvSpPr>
            <a:spLocks noGrp="1" noRot="1" noChangeAspect="1" noChangeArrowheads="1" noTextEdit="1"/>
          </p:cNvSpPr>
          <p:nvPr>
            <p:ph type="sldImg"/>
          </p:nvPr>
        </p:nvSpPr>
        <p:spPr>
          <a:ln/>
        </p:spPr>
      </p:sp>
      <p:sp>
        <p:nvSpPr>
          <p:cNvPr id="101379" name="Rectangle 3"/>
          <p:cNvSpPr>
            <a:spLocks noGrp="1" noChangeArrowheads="1"/>
          </p:cNvSpPr>
          <p:nvPr>
            <p:ph type="body" idx="1"/>
          </p:nvPr>
        </p:nvSpPr>
        <p:spPr/>
        <p:txBody>
          <a:bodyPr/>
          <a:lstStyle/>
          <a:p>
            <a:endParaRPr lang="zh-TW" altLang="zh-TW"/>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E2A04C6-4AB0-4040-8A69-6F1277E12407}" type="slidenum">
              <a:rPr lang="en-US" altLang="zh-TW"/>
              <a:pPr/>
              <a:t>31</a:t>
            </a:fld>
            <a:endParaRPr lang="en-US" altLang="zh-TW"/>
          </a:p>
        </p:txBody>
      </p:sp>
      <p:sp>
        <p:nvSpPr>
          <p:cNvPr id="102402" name="Rectangle 2"/>
          <p:cNvSpPr>
            <a:spLocks noGrp="1" noRot="1" noChangeAspect="1" noChangeArrowheads="1" noTextEdit="1"/>
          </p:cNvSpPr>
          <p:nvPr>
            <p:ph type="sldImg"/>
          </p:nvPr>
        </p:nvSpPr>
        <p:spPr>
          <a:ln/>
        </p:spPr>
      </p:sp>
      <p:sp>
        <p:nvSpPr>
          <p:cNvPr id="102403" name="Rectangle 3"/>
          <p:cNvSpPr>
            <a:spLocks noGrp="1" noChangeArrowheads="1"/>
          </p:cNvSpPr>
          <p:nvPr>
            <p:ph type="body" idx="1"/>
          </p:nvPr>
        </p:nvSpPr>
        <p:spPr/>
        <p:txBody>
          <a:bodyPr/>
          <a:lstStyle/>
          <a:p>
            <a:endParaRPr lang="zh-TW" altLang="zh-TW"/>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498F7A4-238E-4065-8B2E-75EF9A4BE124}" type="slidenum">
              <a:rPr lang="en-US" altLang="zh-TW"/>
              <a:pPr/>
              <a:t>32</a:t>
            </a:fld>
            <a:endParaRPr lang="en-US" altLang="zh-TW"/>
          </a:p>
        </p:txBody>
      </p:sp>
      <p:sp>
        <p:nvSpPr>
          <p:cNvPr id="103426" name="Rectangle 2"/>
          <p:cNvSpPr>
            <a:spLocks noGrp="1" noRot="1" noChangeAspect="1" noChangeArrowheads="1" noTextEdit="1"/>
          </p:cNvSpPr>
          <p:nvPr>
            <p:ph type="sldImg"/>
          </p:nvPr>
        </p:nvSpPr>
        <p:spPr>
          <a:ln/>
        </p:spPr>
      </p:sp>
      <p:sp>
        <p:nvSpPr>
          <p:cNvPr id="103427" name="Rectangle 3"/>
          <p:cNvSpPr>
            <a:spLocks noGrp="1" noChangeArrowheads="1"/>
          </p:cNvSpPr>
          <p:nvPr>
            <p:ph type="body" idx="1"/>
          </p:nvPr>
        </p:nvSpPr>
        <p:spPr/>
        <p:txBody>
          <a:bodyPr/>
          <a:lstStyle/>
          <a:p>
            <a:endParaRPr lang="zh-TW" altLang="zh-TW"/>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39CCF98-C6B5-4895-A5C7-A208389E6E65}" type="slidenum">
              <a:rPr lang="en-US" altLang="zh-TW"/>
              <a:pPr/>
              <a:t>33</a:t>
            </a:fld>
            <a:endParaRPr lang="en-US" altLang="zh-TW"/>
          </a:p>
        </p:txBody>
      </p:sp>
      <p:sp>
        <p:nvSpPr>
          <p:cNvPr id="104450" name="Rectangle 2"/>
          <p:cNvSpPr>
            <a:spLocks noGrp="1" noRot="1" noChangeAspect="1" noChangeArrowheads="1" noTextEdit="1"/>
          </p:cNvSpPr>
          <p:nvPr>
            <p:ph type="sldImg"/>
          </p:nvPr>
        </p:nvSpPr>
        <p:spPr>
          <a:ln/>
        </p:spPr>
      </p:sp>
      <p:sp>
        <p:nvSpPr>
          <p:cNvPr id="104451" name="Rectangle 3"/>
          <p:cNvSpPr>
            <a:spLocks noGrp="1" noChangeArrowheads="1"/>
          </p:cNvSpPr>
          <p:nvPr>
            <p:ph type="body" idx="1"/>
          </p:nvPr>
        </p:nvSpPr>
        <p:spPr/>
        <p:txBody>
          <a:bodyPr/>
          <a:lstStyle/>
          <a:p>
            <a:endParaRPr lang="zh-TW" altLang="zh-TW"/>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052030C-C9EA-4259-9B77-7B4D616A80AA}" type="slidenum">
              <a:rPr lang="en-US" altLang="zh-TW"/>
              <a:pPr/>
              <a:t>34</a:t>
            </a:fld>
            <a:endParaRPr lang="en-US" altLang="zh-TW"/>
          </a:p>
        </p:txBody>
      </p:sp>
      <p:sp>
        <p:nvSpPr>
          <p:cNvPr id="105474" name="Rectangle 2"/>
          <p:cNvSpPr>
            <a:spLocks noGrp="1" noRot="1" noChangeAspect="1" noChangeArrowheads="1" noTextEdit="1"/>
          </p:cNvSpPr>
          <p:nvPr>
            <p:ph type="sldImg"/>
          </p:nvPr>
        </p:nvSpPr>
        <p:spPr>
          <a:ln/>
        </p:spPr>
      </p:sp>
      <p:sp>
        <p:nvSpPr>
          <p:cNvPr id="105475" name="Rectangle 3"/>
          <p:cNvSpPr>
            <a:spLocks noGrp="1" noChangeArrowheads="1"/>
          </p:cNvSpPr>
          <p:nvPr>
            <p:ph type="body" idx="1"/>
          </p:nvPr>
        </p:nvSpPr>
        <p:spPr/>
        <p:txBody>
          <a:bodyPr/>
          <a:lstStyle/>
          <a:p>
            <a:endParaRPr lang="zh-TW" altLang="zh-TW"/>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a:t>按一下以編輯母片標題樣式</a:t>
            </a:r>
          </a:p>
        </p:txBody>
      </p:sp>
      <p:sp>
        <p:nvSpPr>
          <p:cNvPr id="3" name="副標題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a:t>按一下以編輯母片副標題樣式</a:t>
            </a:r>
          </a:p>
        </p:txBody>
      </p:sp>
      <p:sp>
        <p:nvSpPr>
          <p:cNvPr id="4" name="日期版面配置區 3"/>
          <p:cNvSpPr>
            <a:spLocks noGrp="1"/>
          </p:cNvSpPr>
          <p:nvPr>
            <p:ph type="dt" sz="half" idx="10"/>
          </p:nvPr>
        </p:nvSpPr>
        <p:spPr/>
        <p:txBody>
          <a:bodyPr/>
          <a:lstStyle/>
          <a:p>
            <a:fld id="{25BD1462-57C0-4459-9390-560953396E85}" type="datetimeFigureOut">
              <a:rPr lang="zh-TW" altLang="en-US" smtClean="0"/>
              <a:pPr/>
              <a:t>2020/11/24</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25BD1462-57C0-4459-9390-560953396E85}" type="datetimeFigureOut">
              <a:rPr lang="zh-TW" altLang="en-US" smtClean="0"/>
              <a:pPr/>
              <a:t>2020/11/24</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a:t>按一下以編輯母片標題樣式</a:t>
            </a:r>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a:t>按一下以編輯母片文字樣式</a:t>
            </a:r>
          </a:p>
        </p:txBody>
      </p:sp>
      <p:sp>
        <p:nvSpPr>
          <p:cNvPr id="4" name="日期版面配置區 3"/>
          <p:cNvSpPr>
            <a:spLocks noGrp="1"/>
          </p:cNvSpPr>
          <p:nvPr>
            <p:ph type="dt" sz="half" idx="10"/>
          </p:nvPr>
        </p:nvSpPr>
        <p:spPr/>
        <p:txBody>
          <a:bodyPr/>
          <a:lstStyle/>
          <a:p>
            <a:fld id="{25BD1462-57C0-4459-9390-560953396E85}" type="datetimeFigureOut">
              <a:rPr lang="zh-TW" altLang="en-US" smtClean="0"/>
              <a:pPr/>
              <a:t>2020/11/24</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p:cNvSpPr>
            <a:spLocks noGrp="1"/>
          </p:cNvSpPr>
          <p:nvPr>
            <p:ph type="dt" sz="half" idx="10"/>
          </p:nvPr>
        </p:nvSpPr>
        <p:spPr/>
        <p:txBody>
          <a:bodyPr/>
          <a:lstStyle/>
          <a:p>
            <a:fld id="{25BD1462-57C0-4459-9390-560953396E85}" type="datetimeFigureOut">
              <a:rPr lang="zh-TW" altLang="en-US" smtClean="0"/>
              <a:pPr/>
              <a:t>2020/11/24</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a:t>按一下以編輯母片標題樣式</a:t>
            </a:r>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p:cNvSpPr>
            <a:spLocks noGrp="1"/>
          </p:cNvSpPr>
          <p:nvPr>
            <p:ph type="dt" sz="half" idx="10"/>
          </p:nvPr>
        </p:nvSpPr>
        <p:spPr/>
        <p:txBody>
          <a:bodyPr/>
          <a:lstStyle/>
          <a:p>
            <a:fld id="{25BD1462-57C0-4459-9390-560953396E85}" type="datetimeFigureOut">
              <a:rPr lang="zh-TW" altLang="en-US" smtClean="0"/>
              <a:pPr/>
              <a:t>2020/11/24</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日期版面配置區 2"/>
          <p:cNvSpPr>
            <a:spLocks noGrp="1"/>
          </p:cNvSpPr>
          <p:nvPr>
            <p:ph type="dt" sz="half" idx="10"/>
          </p:nvPr>
        </p:nvSpPr>
        <p:spPr/>
        <p:txBody>
          <a:bodyPr/>
          <a:lstStyle/>
          <a:p>
            <a:fld id="{25BD1462-57C0-4459-9390-560953396E85}" type="datetimeFigureOut">
              <a:rPr lang="zh-TW" altLang="en-US" smtClean="0"/>
              <a:pPr/>
              <a:t>2020/11/24</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25BD1462-57C0-4459-9390-560953396E85}" type="datetimeFigureOut">
              <a:rPr lang="zh-TW" altLang="en-US" smtClean="0"/>
              <a:pPr/>
              <a:t>2020/11/24</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a:t>按一下以編輯母片標題樣式</a:t>
            </a:r>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日期版面配置區 4"/>
          <p:cNvSpPr>
            <a:spLocks noGrp="1"/>
          </p:cNvSpPr>
          <p:nvPr>
            <p:ph type="dt" sz="half" idx="10"/>
          </p:nvPr>
        </p:nvSpPr>
        <p:spPr/>
        <p:txBody>
          <a:bodyPr/>
          <a:lstStyle/>
          <a:p>
            <a:fld id="{25BD1462-57C0-4459-9390-560953396E85}" type="datetimeFigureOut">
              <a:rPr lang="zh-TW" altLang="en-US" smtClean="0"/>
              <a:pPr/>
              <a:t>2020/11/24</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a:t>按一下以編輯母片標題樣式</a:t>
            </a:r>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日期版面配置區 4"/>
          <p:cNvSpPr>
            <a:spLocks noGrp="1"/>
          </p:cNvSpPr>
          <p:nvPr>
            <p:ph type="dt" sz="half" idx="10"/>
          </p:nvPr>
        </p:nvSpPr>
        <p:spPr/>
        <p:txBody>
          <a:bodyPr/>
          <a:lstStyle/>
          <a:p>
            <a:fld id="{25BD1462-57C0-4459-9390-560953396E85}" type="datetimeFigureOut">
              <a:rPr lang="zh-TW" altLang="en-US" smtClean="0"/>
              <a:pPr/>
              <a:t>2020/11/24</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25BD1462-57C0-4459-9390-560953396E85}" type="datetimeFigureOut">
              <a:rPr lang="zh-TW" altLang="en-US" smtClean="0"/>
              <a:pPr/>
              <a:t>2020/11/24</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25BD1462-57C0-4459-9390-560953396E85}" type="datetimeFigureOut">
              <a:rPr lang="zh-TW" altLang="en-US" smtClean="0"/>
              <a:pPr/>
              <a:t>2020/11/24</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標題，文字及物件">
    <p:spTree>
      <p:nvGrpSpPr>
        <p:cNvPr id="1" name=""/>
        <p:cNvGrpSpPr/>
        <p:nvPr/>
      </p:nvGrpSpPr>
      <p:grpSpPr>
        <a:xfrm>
          <a:off x="0" y="0"/>
          <a:ext cx="0" cy="0"/>
          <a:chOff x="0" y="0"/>
          <a:chExt cx="0" cy="0"/>
        </a:xfrm>
      </p:grpSpPr>
      <p:sp>
        <p:nvSpPr>
          <p:cNvPr id="2" name="標題 1"/>
          <p:cNvSpPr>
            <a:spLocks noGrp="1"/>
          </p:cNvSpPr>
          <p:nvPr>
            <p:ph type="title"/>
          </p:nvPr>
        </p:nvSpPr>
        <p:spPr>
          <a:xfrm>
            <a:off x="762000" y="457200"/>
            <a:ext cx="7793038" cy="838200"/>
          </a:xfrm>
        </p:spPr>
        <p:txBody>
          <a:bodyPr/>
          <a:lstStyle/>
          <a:p>
            <a:r>
              <a:rPr lang="zh-TW" altLang="en-US" smtClean="0"/>
              <a:t>按一下以編輯母片標題樣式</a:t>
            </a:r>
            <a:endParaRPr lang="zh-TW" altLang="en-US"/>
          </a:p>
        </p:txBody>
      </p:sp>
      <p:sp>
        <p:nvSpPr>
          <p:cNvPr id="3" name="文字版面配置區 2"/>
          <p:cNvSpPr>
            <a:spLocks noGrp="1"/>
          </p:cNvSpPr>
          <p:nvPr>
            <p:ph type="body" sz="half" idx="1"/>
          </p:nvPr>
        </p:nvSpPr>
        <p:spPr>
          <a:xfrm>
            <a:off x="762000" y="1524000"/>
            <a:ext cx="3810000" cy="4648200"/>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724400" y="1524000"/>
            <a:ext cx="3810000" cy="4648200"/>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日期版面配置區 4"/>
          <p:cNvSpPr>
            <a:spLocks noGrp="1"/>
          </p:cNvSpPr>
          <p:nvPr>
            <p:ph type="dt" sz="half" idx="10"/>
          </p:nvPr>
        </p:nvSpPr>
        <p:spPr>
          <a:xfrm>
            <a:off x="914400" y="6324600"/>
            <a:ext cx="1905000" cy="457200"/>
          </a:xfrm>
        </p:spPr>
        <p:txBody>
          <a:bodyPr/>
          <a:lstStyle>
            <a:lvl1pPr>
              <a:defRPr/>
            </a:lvl1pPr>
          </a:lstStyle>
          <a:p>
            <a:fld id="{035E3D39-3352-4395-B52E-32859137AE4A}" type="datetime1">
              <a:rPr lang="zh-TW" altLang="en-US"/>
              <a:pPr/>
              <a:t>2020/11/24</a:t>
            </a:fld>
            <a:endParaRPr lang="en-US" altLang="zh-TW"/>
          </a:p>
        </p:txBody>
      </p:sp>
      <p:sp>
        <p:nvSpPr>
          <p:cNvPr id="6" name="頁尾版面配置區 5"/>
          <p:cNvSpPr>
            <a:spLocks noGrp="1"/>
          </p:cNvSpPr>
          <p:nvPr>
            <p:ph type="ftr" sz="quarter" idx="11"/>
          </p:nvPr>
        </p:nvSpPr>
        <p:spPr>
          <a:xfrm>
            <a:off x="2209800" y="6324600"/>
            <a:ext cx="5029200" cy="457200"/>
          </a:xfrm>
        </p:spPr>
        <p:txBody>
          <a:bodyPr/>
          <a:lstStyle>
            <a:lvl1pPr>
              <a:defRPr/>
            </a:lvl1pPr>
          </a:lstStyle>
          <a:p>
            <a:endParaRPr lang="zh-TW" altLang="zh-TW"/>
          </a:p>
        </p:txBody>
      </p:sp>
      <p:sp>
        <p:nvSpPr>
          <p:cNvPr id="7" name="投影片編號版面配置區 6"/>
          <p:cNvSpPr>
            <a:spLocks noGrp="1"/>
          </p:cNvSpPr>
          <p:nvPr>
            <p:ph type="sldNum" sz="quarter" idx="12"/>
          </p:nvPr>
        </p:nvSpPr>
        <p:spPr>
          <a:xfrm>
            <a:off x="6781800" y="6324600"/>
            <a:ext cx="1905000" cy="457200"/>
          </a:xfrm>
        </p:spPr>
        <p:txBody>
          <a:bodyPr/>
          <a:lstStyle>
            <a:lvl1pPr>
              <a:defRPr/>
            </a:lvl1pPr>
          </a:lstStyle>
          <a:p>
            <a:r>
              <a:rPr lang="en-US" altLang="zh-TW"/>
              <a:t>5-</a:t>
            </a:r>
            <a:fld id="{896B8205-D366-4002-BEE3-72A805502DEF}" type="slidenum">
              <a:rPr lang="en-US" altLang="zh-TW"/>
              <a:pPr/>
              <a:t>‹#›</a:t>
            </a:fld>
            <a:endParaRPr lang="en-US" altLang="zh-TW"/>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5BD1462-57C0-4459-9390-560953396E85}" type="datetimeFigureOut">
              <a:rPr lang="zh-TW" altLang="en-US" smtClean="0"/>
              <a:pPr/>
              <a:t>2020/11/24</a:t>
            </a:fld>
            <a:endParaRPr lang="zh-TW" altLang="en-US"/>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689265B-D561-4CD1-972E-9E84754BEC82}" type="slidenum">
              <a:rPr lang="zh-TW" altLang="en-US" smtClean="0"/>
              <a:pPr/>
              <a:t>‹#›</a:t>
            </a:fld>
            <a:endParaRPr lang="zh-TW"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2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oleObject" Target="../embeddings/oleObject2.bin"/></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oleObject" Target="../embeddings/oleObject4.bin"/><Relationship Id="rId5" Type="http://schemas.openxmlformats.org/officeDocument/2006/relationships/oleObject" Target="../embeddings/Microsoft_Office_Word_97_-_2003___1.doc"/><Relationship Id="rId4" Type="http://schemas.openxmlformats.org/officeDocument/2006/relationships/oleObject" Target="../embeddings/oleObject3.bin"/></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oleObject" Target="../embeddings/oleObject6.bin"/><Relationship Id="rId5" Type="http://schemas.openxmlformats.org/officeDocument/2006/relationships/oleObject" Target="../embeddings/Microsoft_Office_Word_97_-_2003___2.doc"/><Relationship Id="rId4" Type="http://schemas.openxmlformats.org/officeDocument/2006/relationships/oleObject" Target="../embeddings/oleObject5.bin"/></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2.xml"/><Relationship Id="rId1" Type="http://schemas.openxmlformats.org/officeDocument/2006/relationships/vmlDrawing" Target="../drawings/vmlDrawing5.vml"/><Relationship Id="rId6" Type="http://schemas.openxmlformats.org/officeDocument/2006/relationships/oleObject" Target="../embeddings/oleObject8.bin"/><Relationship Id="rId5" Type="http://schemas.openxmlformats.org/officeDocument/2006/relationships/oleObject" Target="../embeddings/Microsoft_Office_Word_97_-_2003___3.doc"/><Relationship Id="rId4" Type="http://schemas.openxmlformats.org/officeDocument/2006/relationships/oleObject" Target="../embeddings/oleObject7.bin"/></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2.xml"/><Relationship Id="rId1" Type="http://schemas.openxmlformats.org/officeDocument/2006/relationships/vmlDrawing" Target="../drawings/vmlDrawing6.vml"/><Relationship Id="rId6" Type="http://schemas.openxmlformats.org/officeDocument/2006/relationships/oleObject" Target="../embeddings/oleObject10.bin"/><Relationship Id="rId5" Type="http://schemas.openxmlformats.org/officeDocument/2006/relationships/oleObject" Target="../embeddings/oleObject9.bin"/><Relationship Id="rId4" Type="http://schemas.openxmlformats.org/officeDocument/2006/relationships/oleObject" Target="../embeddings/Microsoft_Office_Word_97_-_2003___4.doc"/></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2.xml"/><Relationship Id="rId1" Type="http://schemas.openxmlformats.org/officeDocument/2006/relationships/vmlDrawing" Target="../drawings/vmlDrawing7.vml"/><Relationship Id="rId6" Type="http://schemas.openxmlformats.org/officeDocument/2006/relationships/oleObject" Target="../embeddings/oleObject12.bin"/><Relationship Id="rId5" Type="http://schemas.openxmlformats.org/officeDocument/2006/relationships/oleObject" Target="../embeddings/oleObject11.bin"/><Relationship Id="rId4" Type="http://schemas.openxmlformats.org/officeDocument/2006/relationships/oleObject" Target="../embeddings/Microsoft_Office_Word_97_-_2003___5.doc"/></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13.xml"/><Relationship Id="rId7" Type="http://schemas.openxmlformats.org/officeDocument/2006/relationships/oleObject" Target="../embeddings/oleObject14.bin"/><Relationship Id="rId2" Type="http://schemas.openxmlformats.org/officeDocument/2006/relationships/slideLayout" Target="../slideLayouts/slideLayout12.xml"/><Relationship Id="rId1" Type="http://schemas.openxmlformats.org/officeDocument/2006/relationships/vmlDrawing" Target="../drawings/vmlDrawing8.vml"/><Relationship Id="rId6" Type="http://schemas.openxmlformats.org/officeDocument/2006/relationships/oleObject" Target="../embeddings/Microsoft_Office_Word_97_-_2003___7.doc"/><Relationship Id="rId5" Type="http://schemas.openxmlformats.org/officeDocument/2006/relationships/oleObject" Target="../embeddings/Microsoft_Office_Word_97_-_2003___6.doc"/><Relationship Id="rId4" Type="http://schemas.openxmlformats.org/officeDocument/2006/relationships/oleObject" Target="../embeddings/oleObject13.bin"/></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4.gif"/><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5.gif"/><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6.gif"/><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7.gif"/><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9.gif"/><Relationship Id="rId2" Type="http://schemas.openxmlformats.org/officeDocument/2006/relationships/image" Target="../media/image28.gif"/><Relationship Id="rId1" Type="http://schemas.openxmlformats.org/officeDocument/2006/relationships/slideLayout" Target="../slideLayouts/slideLayout2.xml"/><Relationship Id="rId4" Type="http://schemas.openxmlformats.org/officeDocument/2006/relationships/image" Target="../media/image30.gi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 xmlns:a16="http://schemas.microsoft.com/office/drawing/2014/main" id="{40B6A882-00D3-47EF-9E00-5F5448FB3E79}"/>
              </a:ext>
            </a:extLst>
          </p:cNvPr>
          <p:cNvSpPr>
            <a:spLocks noGrp="1"/>
          </p:cNvSpPr>
          <p:nvPr>
            <p:ph type="ctrTitle"/>
          </p:nvPr>
        </p:nvSpPr>
        <p:spPr>
          <a:xfrm>
            <a:off x="654342" y="1715999"/>
            <a:ext cx="7890145" cy="649317"/>
          </a:xfrm>
        </p:spPr>
        <p:txBody>
          <a:bodyPr>
            <a:noAutofit/>
          </a:bodyPr>
          <a:lstStyle/>
          <a:p>
            <a:r>
              <a:rPr lang="en-US" altLang="zh-TW" sz="3200" dirty="0" smtClean="0">
                <a:latin typeface="Times New Roman" pitchFamily="18" charset="0"/>
                <a:cs typeface="Times New Roman" pitchFamily="18" charset="0"/>
              </a:rPr>
              <a:t>Fast Optimal Alignment</a:t>
            </a:r>
          </a:p>
        </p:txBody>
      </p:sp>
      <p:sp>
        <p:nvSpPr>
          <p:cNvPr id="3" name="副標題 2">
            <a:extLst>
              <a:ext uri="{FF2B5EF4-FFF2-40B4-BE49-F238E27FC236}">
                <a16:creationId xmlns="" xmlns:a16="http://schemas.microsoft.com/office/drawing/2014/main" id="{7DA53B5D-3737-4D8B-A009-A9D02CAEE169}"/>
              </a:ext>
            </a:extLst>
          </p:cNvPr>
          <p:cNvSpPr>
            <a:spLocks noGrp="1"/>
          </p:cNvSpPr>
          <p:nvPr>
            <p:ph type="subTitle" idx="1"/>
          </p:nvPr>
        </p:nvSpPr>
        <p:spPr>
          <a:xfrm>
            <a:off x="323528" y="3003984"/>
            <a:ext cx="8640959" cy="425017"/>
          </a:xfrm>
        </p:spPr>
        <p:txBody>
          <a:bodyPr>
            <a:noAutofit/>
          </a:bodyPr>
          <a:lstStyle/>
          <a:p>
            <a:pPr fontAlgn="ctr"/>
            <a:r>
              <a:rPr lang="en-US" altLang="zh-TW" sz="2000" dirty="0" smtClean="0">
                <a:solidFill>
                  <a:schemeClr val="tx1"/>
                </a:solidFill>
                <a:latin typeface="Times New Roman" pitchFamily="18" charset="0"/>
                <a:cs typeface="Times New Roman" pitchFamily="18" charset="0"/>
              </a:rPr>
              <a:t>James </a:t>
            </a:r>
            <a:r>
              <a:rPr lang="en-US" altLang="zh-TW" sz="2000" dirty="0" err="1" smtClean="0">
                <a:solidFill>
                  <a:schemeClr val="tx1"/>
                </a:solidFill>
                <a:latin typeface="Times New Roman" pitchFamily="18" charset="0"/>
                <a:cs typeface="Times New Roman" pitchFamily="18" charset="0"/>
              </a:rPr>
              <a:t>W.Fickett</a:t>
            </a:r>
            <a:endParaRPr lang="en-US" altLang="zh-TW" sz="2000" dirty="0" smtClean="0">
              <a:solidFill>
                <a:schemeClr val="tx1"/>
              </a:solidFill>
              <a:latin typeface="Times New Roman" pitchFamily="18" charset="0"/>
              <a:cs typeface="Times New Roman" pitchFamily="18" charset="0"/>
            </a:endParaRPr>
          </a:p>
        </p:txBody>
      </p:sp>
      <p:sp>
        <p:nvSpPr>
          <p:cNvPr id="8" name="文字方塊 7">
            <a:extLst>
              <a:ext uri="{FF2B5EF4-FFF2-40B4-BE49-F238E27FC236}">
                <a16:creationId xmlns="" xmlns:a16="http://schemas.microsoft.com/office/drawing/2014/main" id="{8F2527E8-BB8F-41FB-8AF1-03DCC96BC069}"/>
              </a:ext>
            </a:extLst>
          </p:cNvPr>
          <p:cNvSpPr txBox="1"/>
          <p:nvPr/>
        </p:nvSpPr>
        <p:spPr>
          <a:xfrm>
            <a:off x="1428728" y="3929066"/>
            <a:ext cx="6580904" cy="830997"/>
          </a:xfrm>
          <a:prstGeom prst="rect">
            <a:avLst/>
          </a:prstGeom>
          <a:noFill/>
        </p:spPr>
        <p:txBody>
          <a:bodyPr wrap="none" rtlCol="0">
            <a:spAutoFit/>
          </a:bodyPr>
          <a:lstStyle/>
          <a:p>
            <a:pPr algn="ctr"/>
            <a:r>
              <a:rPr lang="en-US" altLang="zh-TW" sz="2400" dirty="0" smtClean="0">
                <a:latin typeface="Times New Roman" pitchFamily="18" charset="0"/>
                <a:cs typeface="Times New Roman" pitchFamily="18" charset="0"/>
              </a:rPr>
              <a:t>Nucleic Acids Research, Volume 12, Issue 1, Part 1,</a:t>
            </a:r>
          </a:p>
          <a:p>
            <a:pPr algn="ctr"/>
            <a:r>
              <a:rPr lang="en-US" altLang="zh-TW" sz="2400" dirty="0" smtClean="0">
                <a:latin typeface="Times New Roman" pitchFamily="18" charset="0"/>
                <a:cs typeface="Times New Roman" pitchFamily="18" charset="0"/>
              </a:rPr>
              <a:t>11 January 1984, Pages 175–179 </a:t>
            </a:r>
            <a:endParaRPr lang="en-US" altLang="zh-TW" sz="2200" dirty="0">
              <a:latin typeface="Times New Roman" pitchFamily="18" charset="0"/>
              <a:cs typeface="Times New Roman" pitchFamily="18" charset="0"/>
            </a:endParaRPr>
          </a:p>
        </p:txBody>
      </p:sp>
      <p:sp>
        <p:nvSpPr>
          <p:cNvPr id="9" name="文字方塊 8">
            <a:extLst>
              <a:ext uri="{FF2B5EF4-FFF2-40B4-BE49-F238E27FC236}">
                <a16:creationId xmlns="" xmlns:a16="http://schemas.microsoft.com/office/drawing/2014/main" id="{6BC92671-3184-4146-A361-F82079153C2E}"/>
              </a:ext>
            </a:extLst>
          </p:cNvPr>
          <p:cNvSpPr txBox="1"/>
          <p:nvPr/>
        </p:nvSpPr>
        <p:spPr>
          <a:xfrm>
            <a:off x="5580112" y="5357171"/>
            <a:ext cx="3375796"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Presenter: Yuan-Hsiu Tsai</a:t>
            </a:r>
            <a:endParaRPr lang="zh-TW" altLang="en-US" sz="2400" dirty="0">
              <a:latin typeface="Times New Roman" panose="02020603050405020304" pitchFamily="18" charset="0"/>
              <a:cs typeface="Times New Roman" panose="02020603050405020304" pitchFamily="18" charset="0"/>
            </a:endParaRPr>
          </a:p>
        </p:txBody>
      </p:sp>
      <p:sp>
        <p:nvSpPr>
          <p:cNvPr id="10" name="文字方塊 9">
            <a:extLst>
              <a:ext uri="{FF2B5EF4-FFF2-40B4-BE49-F238E27FC236}">
                <a16:creationId xmlns="" xmlns:a16="http://schemas.microsoft.com/office/drawing/2014/main" id="{52A0654C-2F84-4026-9FCF-04C8DF590D5F}"/>
              </a:ext>
            </a:extLst>
          </p:cNvPr>
          <p:cNvSpPr txBox="1"/>
          <p:nvPr/>
        </p:nvSpPr>
        <p:spPr>
          <a:xfrm>
            <a:off x="5652120" y="5824855"/>
            <a:ext cx="2668551" cy="461665"/>
          </a:xfrm>
          <a:prstGeom prst="rect">
            <a:avLst/>
          </a:prstGeom>
          <a:noFill/>
        </p:spPr>
        <p:txBody>
          <a:bodyPr wrap="none" rtlCol="0">
            <a:spAutoFit/>
          </a:bodyPr>
          <a:lstStyle>
            <a:defPPr>
              <a:defRPr lang="zh-TW"/>
            </a:defPPr>
            <a:lvl1pPr>
              <a:defRPr sz="2400">
                <a:latin typeface="Times New Roman" panose="02020603050405020304" pitchFamily="18" charset="0"/>
                <a:cs typeface="Times New Roman" panose="02020603050405020304" pitchFamily="18" charset="0"/>
              </a:defRPr>
            </a:lvl1pPr>
          </a:lstStyle>
          <a:p>
            <a:r>
              <a:rPr lang="en-US" altLang="zh-TW" dirty="0"/>
              <a:t>Date: </a:t>
            </a:r>
            <a:r>
              <a:rPr lang="en-US" altLang="zh-TW" dirty="0" smtClean="0"/>
              <a:t>Nov. 24, 2020</a:t>
            </a:r>
            <a:endParaRPr lang="zh-TW" altLang="en-US" dirty="0"/>
          </a:p>
        </p:txBody>
      </p:sp>
    </p:spTree>
    <p:extLst>
      <p:ext uri="{BB962C8B-B14F-4D97-AF65-F5344CB8AC3E}">
        <p14:creationId xmlns="" xmlns:p14="http://schemas.microsoft.com/office/powerpoint/2010/main" val="355704993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 xmlns:a16="http://schemas.microsoft.com/office/drawing/2014/main" id="{94B01AB9-0651-4F6D-A93A-D571F0BAE9A7}"/>
              </a:ext>
            </a:extLst>
          </p:cNvPr>
          <p:cNvSpPr>
            <a:spLocks noGrp="1"/>
          </p:cNvSpPr>
          <p:nvPr>
            <p:ph type="title"/>
          </p:nvPr>
        </p:nvSpPr>
        <p:spPr>
          <a:xfrm>
            <a:off x="139007" y="116632"/>
            <a:ext cx="7886700" cy="583367"/>
          </a:xfrm>
        </p:spPr>
        <p:txBody>
          <a:bodyPr>
            <a:normAutofit/>
          </a:bodyPr>
          <a:lstStyle/>
          <a:p>
            <a:r>
              <a:rPr lang="en-US" altLang="zh-TW" sz="3200" b="1" dirty="0">
                <a:latin typeface="Times New Roman" panose="02020603050405020304" pitchFamily="18" charset="0"/>
                <a:cs typeface="Times New Roman" panose="02020603050405020304" pitchFamily="18" charset="0"/>
              </a:rPr>
              <a:t>Abstract(1/2)</a:t>
            </a:r>
            <a:endParaRPr lang="zh-TW" altLang="en-US" sz="3200"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 xmlns:a16="http://schemas.microsoft.com/office/drawing/2014/main" id="{5E26DCC3-1991-4383-BF81-99FF895536EE}"/>
              </a:ext>
            </a:extLst>
          </p:cNvPr>
          <p:cNvSpPr>
            <a:spLocks noGrp="1"/>
          </p:cNvSpPr>
          <p:nvPr>
            <p:ph idx="1"/>
          </p:nvPr>
        </p:nvSpPr>
        <p:spPr>
          <a:xfrm>
            <a:off x="139007" y="1121324"/>
            <a:ext cx="9004993" cy="3879312"/>
          </a:xfrm>
        </p:spPr>
        <p:txBody>
          <a:bodyPr>
            <a:noAutofit/>
          </a:bodyPr>
          <a:lstStyle/>
          <a:p>
            <a:pPr marL="0" indent="0">
              <a:buNone/>
            </a:pPr>
            <a:r>
              <a:rPr lang="en-US" dirty="0" smtClean="0">
                <a:latin typeface="Times New Roman" pitchFamily="18" charset="0"/>
                <a:cs typeface="Times New Roman" pitchFamily="18" charset="0"/>
              </a:rPr>
              <a:t>We show how to speed up sequence alignment algorithms of the type Introduced by Needleman and </a:t>
            </a:r>
            <a:r>
              <a:rPr lang="en-US" dirty="0" err="1" smtClean="0">
                <a:latin typeface="Times New Roman" pitchFamily="18" charset="0"/>
                <a:cs typeface="Times New Roman" pitchFamily="18" charset="0"/>
              </a:rPr>
              <a:t>Wunsch</a:t>
            </a:r>
            <a:r>
              <a:rPr lang="en-US" dirty="0" smtClean="0">
                <a:latin typeface="Times New Roman" pitchFamily="18" charset="0"/>
                <a:cs typeface="Times New Roman" pitchFamily="18" charset="0"/>
              </a:rPr>
              <a:t> (and generalized by Sellers and research-articles). Faster alignment algorithms have been introduced, but always at the cost of possibly getting sub-optimal alignments. Our modification results in the optimal alignment still being found, often In 1/10 the usual time. </a:t>
            </a:r>
            <a:endParaRPr lang="fr-FR" altLang="zh-TW" dirty="0">
              <a:latin typeface="Times New Roman" pitchFamily="18" charset="0"/>
              <a:cs typeface="Times New Roman" pitchFamily="18" charset="0"/>
            </a:endParaRPr>
          </a:p>
        </p:txBody>
      </p:sp>
    </p:spTree>
    <p:extLst>
      <p:ext uri="{BB962C8B-B14F-4D97-AF65-F5344CB8AC3E}">
        <p14:creationId xmlns="" xmlns:p14="http://schemas.microsoft.com/office/powerpoint/2010/main" val="399448398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 xmlns:a16="http://schemas.microsoft.com/office/drawing/2014/main" id="{94B01AB9-0651-4F6D-A93A-D571F0BAE9A7}"/>
              </a:ext>
            </a:extLst>
          </p:cNvPr>
          <p:cNvSpPr>
            <a:spLocks noGrp="1"/>
          </p:cNvSpPr>
          <p:nvPr>
            <p:ph type="title"/>
          </p:nvPr>
        </p:nvSpPr>
        <p:spPr>
          <a:xfrm>
            <a:off x="139007" y="116632"/>
            <a:ext cx="7886700" cy="583367"/>
          </a:xfrm>
        </p:spPr>
        <p:txBody>
          <a:bodyPr>
            <a:normAutofit/>
          </a:bodyPr>
          <a:lstStyle/>
          <a:p>
            <a:r>
              <a:rPr lang="en-US" altLang="zh-TW" sz="3200" b="1" dirty="0">
                <a:latin typeface="Times New Roman" panose="02020603050405020304" pitchFamily="18" charset="0"/>
                <a:cs typeface="Times New Roman" panose="02020603050405020304" pitchFamily="18" charset="0"/>
              </a:rPr>
              <a:t>Abstract(2/2)</a:t>
            </a:r>
            <a:endParaRPr lang="zh-TW" altLang="en-US" sz="3200"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 xmlns:a16="http://schemas.microsoft.com/office/drawing/2014/main" id="{5E26DCC3-1991-4383-BF81-99FF895536EE}"/>
              </a:ext>
            </a:extLst>
          </p:cNvPr>
          <p:cNvSpPr>
            <a:spLocks noGrp="1"/>
          </p:cNvSpPr>
          <p:nvPr>
            <p:ph idx="1"/>
          </p:nvPr>
        </p:nvSpPr>
        <p:spPr>
          <a:xfrm>
            <a:off x="139007" y="1039725"/>
            <a:ext cx="9004993" cy="5246795"/>
          </a:xfrm>
        </p:spPr>
        <p:txBody>
          <a:bodyPr>
            <a:noAutofit/>
          </a:bodyPr>
          <a:lstStyle/>
          <a:p>
            <a:pPr marL="0" indent="0">
              <a:buNone/>
            </a:pPr>
            <a:r>
              <a:rPr lang="en-US" altLang="zh-TW" dirty="0" smtClean="0">
                <a:latin typeface="Times New Roman" pitchFamily="18" charset="0"/>
                <a:cs typeface="Times New Roman" pitchFamily="18" charset="0"/>
              </a:rPr>
              <a:t>What we do is reorder the computation of the usual alignment matrix so that the optimal alignment is ordinarily found when only a small fraction of the matrix is filled. The number of matrix elements which have to be computed is related to the distance between the sequences being aligned; the better the optimal alignment, the faster the algorithm runs.</a:t>
            </a:r>
            <a:endParaRPr lang="fr-FR" altLang="zh-TW" dirty="0">
              <a:latin typeface="Times New Roman" pitchFamily="18" charset="0"/>
              <a:cs typeface="Times New Roman" pitchFamily="18" charset="0"/>
            </a:endParaRPr>
          </a:p>
        </p:txBody>
      </p:sp>
    </p:spTree>
    <p:extLst>
      <p:ext uri="{BB962C8B-B14F-4D97-AF65-F5344CB8AC3E}">
        <p14:creationId xmlns="" xmlns:p14="http://schemas.microsoft.com/office/powerpoint/2010/main" val="399448398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altLang="zh-TW" dirty="0" smtClean="0">
                <a:latin typeface="Times New Roman" pitchFamily="18" charset="0"/>
                <a:cs typeface="Times New Roman" pitchFamily="18" charset="0"/>
              </a:rPr>
              <a:t>Introduction</a:t>
            </a:r>
            <a:endParaRPr lang="zh-TW" altLang="en-US" dirty="0">
              <a:latin typeface="Times New Roman" pitchFamily="18" charset="0"/>
              <a:cs typeface="Times New Roman" pitchFamily="18" charset="0"/>
            </a:endParaRPr>
          </a:p>
        </p:txBody>
      </p:sp>
      <p:sp>
        <p:nvSpPr>
          <p:cNvPr id="3" name="內容版面配置區 2"/>
          <p:cNvSpPr>
            <a:spLocks noGrp="1"/>
          </p:cNvSpPr>
          <p:nvPr>
            <p:ph idx="1"/>
          </p:nvPr>
        </p:nvSpPr>
        <p:spPr/>
        <p:txBody>
          <a:bodyPr/>
          <a:lstStyle/>
          <a:p>
            <a:r>
              <a:rPr lang="en-US" altLang="zh-TW" dirty="0" smtClean="0">
                <a:latin typeface="Times New Roman" pitchFamily="18" charset="0"/>
                <a:cs typeface="Times New Roman" pitchFamily="18" charset="0"/>
              </a:rPr>
              <a:t>DNA = {A,T,C,G}</a:t>
            </a:r>
          </a:p>
          <a:p>
            <a:endParaRPr lang="en-US" altLang="zh-TW" dirty="0" smtClean="0">
              <a:latin typeface="Times New Roman" pitchFamily="18" charset="0"/>
              <a:cs typeface="Times New Roman" pitchFamily="18" charset="0"/>
            </a:endParaRPr>
          </a:p>
          <a:p>
            <a:r>
              <a:rPr lang="en-US" altLang="zh-TW" dirty="0" smtClean="0">
                <a:latin typeface="Times New Roman" pitchFamily="18" charset="0"/>
                <a:cs typeface="Times New Roman" pitchFamily="18" charset="0"/>
              </a:rPr>
              <a:t>RNA = {A,U,C,G}</a:t>
            </a:r>
          </a:p>
          <a:p>
            <a:endParaRPr lang="en-US" altLang="zh-TW" dirty="0" smtClean="0">
              <a:latin typeface="Times New Roman" pitchFamily="18" charset="0"/>
              <a:cs typeface="Times New Roman" pitchFamily="18" charset="0"/>
            </a:endParaRPr>
          </a:p>
          <a:p>
            <a:r>
              <a:rPr lang="en-US" altLang="zh-TW" dirty="0" smtClean="0">
                <a:latin typeface="Times New Roman" pitchFamily="18" charset="0"/>
                <a:cs typeface="Times New Roman" pitchFamily="18" charset="0"/>
              </a:rPr>
              <a:t>Protein = {</a:t>
            </a:r>
            <a:r>
              <a:rPr lang="pt-BR" altLang="zh-TW" dirty="0" smtClean="0">
                <a:latin typeface="Times New Roman" pitchFamily="18" charset="0"/>
                <a:cs typeface="Times New Roman" pitchFamily="18" charset="0"/>
              </a:rPr>
              <a:t>A,R,N,D,C,Q,E,G,H,I,L,K,M,F,P,S,T,W,Y,V,B,Z,X</a:t>
            </a:r>
            <a:r>
              <a:rPr lang="en-US" altLang="zh-TW" dirty="0" smtClean="0">
                <a:latin typeface="Times New Roman" pitchFamily="18" charset="0"/>
                <a:cs typeface="Times New Roman" pitchFamily="18" charset="0"/>
              </a:rPr>
              <a:t>}</a:t>
            </a:r>
            <a:endParaRPr lang="zh-TW" altLang="en-US"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altLang="zh-TW" dirty="0" smtClean="0">
                <a:latin typeface="Times New Roman" pitchFamily="18" charset="0"/>
                <a:cs typeface="Times New Roman" pitchFamily="18" charset="0"/>
              </a:rPr>
              <a:t>Introduction – DP</a:t>
            </a:r>
            <a:r>
              <a:rPr lang="zh-TW" altLang="en-US" dirty="0" smtClean="0">
                <a:latin typeface="Times New Roman" pitchFamily="18" charset="0"/>
                <a:cs typeface="Times New Roman" pitchFamily="18" charset="0"/>
              </a:rPr>
              <a:t> </a:t>
            </a:r>
            <a:r>
              <a:rPr lang="en-US" altLang="zh-TW" dirty="0" smtClean="0">
                <a:latin typeface="Times New Roman" pitchFamily="18" charset="0"/>
                <a:cs typeface="Times New Roman" pitchFamily="18" charset="0"/>
              </a:rPr>
              <a:t>formula </a:t>
            </a:r>
            <a:endParaRPr lang="zh-TW" altLang="en-US" dirty="0">
              <a:latin typeface="Times New Roman" pitchFamily="18" charset="0"/>
              <a:cs typeface="Times New Roman" pitchFamily="18" charset="0"/>
            </a:endParaRPr>
          </a:p>
        </p:txBody>
      </p:sp>
      <p:sp>
        <p:nvSpPr>
          <p:cNvPr id="3" name="內容版面配置區 2"/>
          <p:cNvSpPr>
            <a:spLocks noGrp="1"/>
          </p:cNvSpPr>
          <p:nvPr>
            <p:ph idx="1"/>
          </p:nvPr>
        </p:nvSpPr>
        <p:spPr/>
        <p:txBody>
          <a:bodyPr/>
          <a:lstStyle/>
          <a:p>
            <a:endParaRPr lang="en-US" altLang="zh-TW" dirty="0" smtClean="0">
              <a:latin typeface="Times New Roman" pitchFamily="18" charset="0"/>
              <a:cs typeface="Times New Roman" pitchFamily="18" charset="0"/>
            </a:endParaRPr>
          </a:p>
          <a:p>
            <a:endParaRPr lang="en-US" altLang="zh-TW" dirty="0" smtClean="0">
              <a:latin typeface="Times New Roman" pitchFamily="18" charset="0"/>
              <a:cs typeface="Times New Roman" pitchFamily="18" charset="0"/>
            </a:endParaRPr>
          </a:p>
          <a:p>
            <a:endParaRPr lang="en-US" altLang="zh-TW" dirty="0" smtClean="0">
              <a:latin typeface="Times New Roman" pitchFamily="18" charset="0"/>
              <a:cs typeface="Times New Roman" pitchFamily="18" charset="0"/>
            </a:endParaRPr>
          </a:p>
          <a:p>
            <a:endParaRPr lang="en-US" altLang="zh-TW" dirty="0" smtClean="0">
              <a:latin typeface="Times New Roman" pitchFamily="18" charset="0"/>
              <a:cs typeface="Times New Roman" pitchFamily="18" charset="0"/>
            </a:endParaRPr>
          </a:p>
          <a:p>
            <a:pPr>
              <a:buNone/>
            </a:pPr>
            <a:endParaRPr lang="en-US" altLang="zh-TW" dirty="0" smtClean="0">
              <a:latin typeface="Times New Roman" pitchFamily="18" charset="0"/>
              <a:cs typeface="Times New Roman" pitchFamily="18" charset="0"/>
            </a:endParaRPr>
          </a:p>
          <a:p>
            <a:pPr>
              <a:buNone/>
            </a:pPr>
            <a:r>
              <a:rPr lang="en-US" altLang="zh-TW" dirty="0" smtClean="0">
                <a:latin typeface="Times New Roman" pitchFamily="18" charset="0"/>
                <a:cs typeface="Times New Roman" pitchFamily="18" charset="0"/>
              </a:rPr>
              <a:t>	where Score is score matrix, g is gap penalty. </a:t>
            </a:r>
            <a:endParaRPr lang="zh-TW" altLang="en-US" dirty="0">
              <a:latin typeface="Times New Roman" pitchFamily="18" charset="0"/>
              <a:cs typeface="Times New Roman" pitchFamily="18" charset="0"/>
            </a:endParaRPr>
          </a:p>
        </p:txBody>
      </p:sp>
      <p:graphicFrame>
        <p:nvGraphicFramePr>
          <p:cNvPr id="4" name="物件 3"/>
          <p:cNvGraphicFramePr>
            <a:graphicFrameLocks noChangeAspect="1"/>
          </p:cNvGraphicFramePr>
          <p:nvPr/>
        </p:nvGraphicFramePr>
        <p:xfrm>
          <a:off x="857224" y="1921837"/>
          <a:ext cx="6584972" cy="2292981"/>
        </p:xfrm>
        <a:graphic>
          <a:graphicData uri="http://schemas.openxmlformats.org/presentationml/2006/ole">
            <p:oleObj spid="_x0000_s1026" name="Equation" r:id="rId3" imgW="2844720" imgH="990360" progId="Equation.DSMT4">
              <p:embed/>
            </p:oleObj>
          </a:graphicData>
        </a:graphic>
      </p:graphicFrame>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altLang="zh-TW" dirty="0" smtClean="0">
                <a:latin typeface="Times New Roman" pitchFamily="18" charset="0"/>
                <a:cs typeface="Times New Roman" pitchFamily="18" charset="0"/>
              </a:rPr>
              <a:t>Introduction – Optimal algorithm</a:t>
            </a:r>
            <a:endParaRPr lang="zh-TW" altLang="en-US" dirty="0">
              <a:latin typeface="Times New Roman" pitchFamily="18" charset="0"/>
              <a:cs typeface="Times New Roman" pitchFamily="18" charset="0"/>
            </a:endParaRPr>
          </a:p>
        </p:txBody>
      </p:sp>
      <p:pic>
        <p:nvPicPr>
          <p:cNvPr id="6" name="內容版面配置區 5" descr="Smith-Waterman-Algorithm-Example.gif"/>
          <p:cNvPicPr>
            <a:picLocks noGrp="1" noChangeAspect="1"/>
          </p:cNvPicPr>
          <p:nvPr>
            <p:ph idx="1"/>
          </p:nvPr>
        </p:nvPicPr>
        <p:blipFill>
          <a:blip r:embed="rId2" cstate="print"/>
          <a:stretch>
            <a:fillRect/>
          </a:stretch>
        </p:blipFill>
        <p:spPr>
          <a:xfrm>
            <a:off x="5500694" y="1600163"/>
            <a:ext cx="3286148" cy="5257837"/>
          </a:xfrm>
        </p:spPr>
      </p:pic>
      <p:pic>
        <p:nvPicPr>
          <p:cNvPr id="5" name="圖片 4" descr="Needleman-Wunsch_pairwise_sequence_alignment.png"/>
          <p:cNvPicPr>
            <a:picLocks noChangeAspect="1"/>
          </p:cNvPicPr>
          <p:nvPr/>
        </p:nvPicPr>
        <p:blipFill>
          <a:blip r:embed="rId3" cstate="print"/>
          <a:stretch>
            <a:fillRect/>
          </a:stretch>
        </p:blipFill>
        <p:spPr>
          <a:xfrm>
            <a:off x="0" y="1571612"/>
            <a:ext cx="5072075" cy="5072075"/>
          </a:xfrm>
          <a:prstGeom prst="rect">
            <a:avLst/>
          </a:prstGeom>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4"/>
            <a:ext cx="8229600" cy="1143000"/>
          </a:xfrm>
        </p:spPr>
        <p:txBody>
          <a:bodyPr/>
          <a:lstStyle/>
          <a:p>
            <a:pPr algn="l"/>
            <a:r>
              <a:rPr lang="en-US" altLang="zh-TW" dirty="0" smtClean="0">
                <a:latin typeface="Times New Roman" pitchFamily="18" charset="0"/>
                <a:cs typeface="Times New Roman" pitchFamily="18" charset="0"/>
              </a:rPr>
              <a:t>Algorithm </a:t>
            </a:r>
            <a:endParaRPr lang="zh-TW" altLang="en-US" dirty="0">
              <a:latin typeface="Times New Roman" pitchFamily="18" charset="0"/>
              <a:cs typeface="Times New Roman" pitchFamily="18" charset="0"/>
            </a:endParaRPr>
          </a:p>
        </p:txBody>
      </p:sp>
      <p:sp>
        <p:nvSpPr>
          <p:cNvPr id="6" name="文字方塊 5"/>
          <p:cNvSpPr txBox="1"/>
          <p:nvPr/>
        </p:nvSpPr>
        <p:spPr>
          <a:xfrm>
            <a:off x="3929058" y="285728"/>
            <a:ext cx="3000396" cy="1200329"/>
          </a:xfrm>
          <a:prstGeom prst="rect">
            <a:avLst/>
          </a:prstGeom>
          <a:noFill/>
        </p:spPr>
        <p:txBody>
          <a:bodyPr wrap="square" rtlCol="0">
            <a:spAutoFit/>
          </a:bodyPr>
          <a:lstStyle/>
          <a:p>
            <a:r>
              <a:rPr lang="en-US" altLang="zh-TW" sz="2400" dirty="0" smtClean="0">
                <a:latin typeface="Times New Roman" pitchFamily="18" charset="0"/>
                <a:cs typeface="Times New Roman" pitchFamily="18" charset="0"/>
              </a:rPr>
              <a:t>Match	       : 0</a:t>
            </a:r>
          </a:p>
          <a:p>
            <a:r>
              <a:rPr lang="en-US" altLang="zh-TW" sz="2400" dirty="0" smtClean="0">
                <a:latin typeface="Times New Roman" pitchFamily="18" charset="0"/>
                <a:cs typeface="Times New Roman" pitchFamily="18" charset="0"/>
              </a:rPr>
              <a:t>Mismatch   : 1</a:t>
            </a:r>
          </a:p>
          <a:p>
            <a:r>
              <a:rPr lang="en-US" altLang="zh-TW" sz="2400" dirty="0" smtClean="0">
                <a:latin typeface="Times New Roman" pitchFamily="18" charset="0"/>
                <a:cs typeface="Times New Roman" pitchFamily="18" charset="0"/>
              </a:rPr>
              <a:t>Gap	       : 2</a:t>
            </a:r>
            <a:endParaRPr lang="zh-TW" altLang="en-US" sz="2400" dirty="0">
              <a:latin typeface="Times New Roman" pitchFamily="18" charset="0"/>
              <a:cs typeface="Times New Roman" pitchFamily="18" charset="0"/>
            </a:endParaRPr>
          </a:p>
        </p:txBody>
      </p:sp>
      <p:graphicFrame>
        <p:nvGraphicFramePr>
          <p:cNvPr id="7" name="表格 6"/>
          <p:cNvGraphicFramePr>
            <a:graphicFrameLocks noGrp="1"/>
          </p:cNvGraphicFramePr>
          <p:nvPr/>
        </p:nvGraphicFramePr>
        <p:xfrm>
          <a:off x="642910" y="1785926"/>
          <a:ext cx="8001056" cy="4096078"/>
        </p:xfrm>
        <a:graphic>
          <a:graphicData uri="http://schemas.openxmlformats.org/drawingml/2006/table">
            <a:tbl>
              <a:tblPr firstRow="1" firstCol="1" bandRow="1">
                <a:tableStyleId>{5C22544A-7EE6-4342-B048-85BDC9FD1C3A}</a:tableStyleId>
              </a:tblPr>
              <a:tblGrid>
                <a:gridCol w="1143008"/>
                <a:gridCol w="1143008"/>
                <a:gridCol w="1143008"/>
                <a:gridCol w="1143008"/>
                <a:gridCol w="1143008"/>
                <a:gridCol w="1143008"/>
                <a:gridCol w="1143008"/>
              </a:tblGrid>
              <a:tr h="585154">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smtClean="0"/>
                        <a:t>A</a:t>
                      </a:r>
                      <a:endParaRPr lang="zh-TW" altLang="en-US" dirty="0"/>
                    </a:p>
                  </a:txBody>
                  <a:tcPr/>
                </a:tc>
                <a:tc>
                  <a:txBody>
                    <a:bodyPr/>
                    <a:lstStyle/>
                    <a:p>
                      <a:pPr algn="ctr"/>
                      <a:r>
                        <a:rPr lang="en-US" altLang="zh-TW" dirty="0" smtClean="0"/>
                        <a:t>C</a:t>
                      </a:r>
                      <a:endParaRPr lang="zh-TW" altLang="en-US" dirty="0"/>
                    </a:p>
                  </a:txBody>
                  <a:tcPr/>
                </a:tc>
                <a:tc>
                  <a:txBody>
                    <a:bodyPr/>
                    <a:lstStyle/>
                    <a:p>
                      <a:pPr algn="ctr"/>
                      <a:r>
                        <a:rPr lang="en-US" altLang="zh-TW" dirty="0" smtClean="0"/>
                        <a:t>G</a:t>
                      </a:r>
                      <a:endParaRPr lang="zh-TW" altLang="en-US" dirty="0"/>
                    </a:p>
                  </a:txBody>
                  <a:tcPr/>
                </a:tc>
                <a:tc>
                  <a:txBody>
                    <a:bodyPr/>
                    <a:lstStyle/>
                    <a:p>
                      <a:pPr algn="ctr"/>
                      <a:r>
                        <a:rPr lang="en-US" altLang="zh-TW" dirty="0" smtClean="0"/>
                        <a:t>A</a:t>
                      </a:r>
                      <a:endParaRPr lang="zh-TW" altLang="en-US" dirty="0"/>
                    </a:p>
                  </a:txBody>
                  <a:tcPr/>
                </a:tc>
                <a:tc>
                  <a:txBody>
                    <a:bodyPr/>
                    <a:lstStyle/>
                    <a:p>
                      <a:pPr algn="ctr"/>
                      <a:r>
                        <a:rPr lang="en-US" altLang="zh-TW" dirty="0" smtClean="0"/>
                        <a:t>C</a:t>
                      </a:r>
                      <a:endParaRPr lang="zh-TW" altLang="en-US" dirty="0"/>
                    </a:p>
                  </a:txBody>
                  <a:tcPr/>
                </a:tc>
              </a:tr>
              <a:tr h="585154">
                <a:tc>
                  <a:txBody>
                    <a:bodyPr/>
                    <a:lstStyle/>
                    <a:p>
                      <a:pPr algn="ctr"/>
                      <a:endParaRPr lang="zh-TW" altLang="en-US" dirty="0"/>
                    </a:p>
                  </a:txBody>
                  <a:tcPr/>
                </a:tc>
                <a:tc>
                  <a:txBody>
                    <a:bodyPr/>
                    <a:lstStyle/>
                    <a:p>
                      <a:pPr algn="ctr"/>
                      <a:r>
                        <a:rPr lang="en-US" altLang="zh-TW" sz="2400" dirty="0" smtClean="0"/>
                        <a:t>0</a:t>
                      </a:r>
                      <a:endParaRPr lang="zh-TW" altLang="en-US" sz="2400" dirty="0"/>
                    </a:p>
                  </a:txBody>
                  <a:tcPr/>
                </a:tc>
                <a:tc>
                  <a:txBody>
                    <a:bodyPr/>
                    <a:lstStyle/>
                    <a:p>
                      <a:pPr algn="ctr"/>
                      <a:r>
                        <a:rPr lang="en-US" altLang="zh-TW" sz="2400" dirty="0" smtClean="0"/>
                        <a:t>2</a:t>
                      </a:r>
                      <a:endParaRPr lang="zh-TW" altLang="en-US" sz="2400" dirty="0"/>
                    </a:p>
                  </a:txBody>
                  <a:tcPr/>
                </a:tc>
                <a:tc>
                  <a:txBody>
                    <a:bodyPr/>
                    <a:lstStyle/>
                    <a:p>
                      <a:pPr algn="ctr"/>
                      <a:r>
                        <a:rPr lang="en-US" altLang="zh-TW" sz="2400" dirty="0" smtClean="0"/>
                        <a:t>4</a:t>
                      </a:r>
                      <a:endParaRPr lang="zh-TW" altLang="en-US" sz="2400" dirty="0"/>
                    </a:p>
                  </a:txBody>
                  <a:tcPr/>
                </a:tc>
                <a:tc>
                  <a:txBody>
                    <a:bodyPr/>
                    <a:lstStyle/>
                    <a:p>
                      <a:pPr algn="ctr"/>
                      <a:r>
                        <a:rPr lang="en-US" altLang="zh-TW" sz="2400" dirty="0" smtClean="0"/>
                        <a:t>6</a:t>
                      </a:r>
                      <a:endParaRPr lang="zh-TW" altLang="en-US" sz="2400" dirty="0"/>
                    </a:p>
                  </a:txBody>
                  <a:tcPr/>
                </a:tc>
                <a:tc>
                  <a:txBody>
                    <a:bodyPr/>
                    <a:lstStyle/>
                    <a:p>
                      <a:pPr algn="ctr"/>
                      <a:r>
                        <a:rPr lang="en-US" altLang="zh-TW" sz="2400" dirty="0" smtClean="0"/>
                        <a:t>8</a:t>
                      </a:r>
                      <a:endParaRPr lang="zh-TW" altLang="en-US" sz="2400" dirty="0"/>
                    </a:p>
                  </a:txBody>
                  <a:tcPr/>
                </a:tc>
                <a:tc>
                  <a:txBody>
                    <a:bodyPr/>
                    <a:lstStyle/>
                    <a:p>
                      <a:pPr algn="ctr"/>
                      <a:r>
                        <a:rPr lang="en-US" altLang="zh-TW" sz="2400" dirty="0" smtClean="0"/>
                        <a:t>10</a:t>
                      </a:r>
                      <a:endParaRPr lang="zh-TW" altLang="en-US" sz="2400" dirty="0"/>
                    </a:p>
                  </a:txBody>
                  <a:tcPr/>
                </a:tc>
              </a:tr>
              <a:tr h="585154">
                <a:tc>
                  <a:txBody>
                    <a:bodyPr/>
                    <a:lstStyle/>
                    <a:p>
                      <a:pPr algn="ctr"/>
                      <a:r>
                        <a:rPr lang="en-US" altLang="zh-TW" dirty="0" smtClean="0"/>
                        <a:t>A</a:t>
                      </a:r>
                      <a:endParaRPr lang="zh-TW" altLang="en-US" dirty="0"/>
                    </a:p>
                  </a:txBody>
                  <a:tcPr/>
                </a:tc>
                <a:tc>
                  <a:txBody>
                    <a:bodyPr/>
                    <a:lstStyle/>
                    <a:p>
                      <a:pPr algn="ctr"/>
                      <a:r>
                        <a:rPr lang="en-US" altLang="zh-TW" sz="2400" dirty="0" smtClean="0"/>
                        <a:t>2</a:t>
                      </a:r>
                      <a:endParaRPr lang="zh-TW" altLang="en-US" sz="2400" dirty="0"/>
                    </a:p>
                  </a:txBody>
                  <a:tcPr/>
                </a:tc>
                <a:tc>
                  <a:txBody>
                    <a:bodyPr/>
                    <a:lstStyle/>
                    <a:p>
                      <a:pPr algn="ctr"/>
                      <a:r>
                        <a:rPr lang="en-US" altLang="zh-TW" sz="2400" dirty="0" smtClean="0"/>
                        <a:t>0</a:t>
                      </a:r>
                      <a:endParaRPr lang="zh-TW" altLang="en-US" sz="2400" dirty="0"/>
                    </a:p>
                  </a:txBody>
                  <a:tcPr/>
                </a:tc>
                <a:tc>
                  <a:txBody>
                    <a:bodyPr/>
                    <a:lstStyle/>
                    <a:p>
                      <a:pPr algn="ctr"/>
                      <a:r>
                        <a:rPr lang="en-US" altLang="zh-TW" sz="2400" dirty="0" smtClean="0"/>
                        <a:t>2</a:t>
                      </a:r>
                      <a:endParaRPr lang="zh-TW" altLang="en-US" sz="2400" dirty="0"/>
                    </a:p>
                  </a:txBody>
                  <a:tcPr/>
                </a:tc>
                <a:tc>
                  <a:txBody>
                    <a:bodyPr/>
                    <a:lstStyle/>
                    <a:p>
                      <a:pPr algn="ctr"/>
                      <a:r>
                        <a:rPr lang="en-US" altLang="zh-TW" sz="2400" dirty="0" smtClean="0"/>
                        <a:t>4</a:t>
                      </a:r>
                      <a:endParaRPr lang="zh-TW" altLang="en-US" sz="2400" dirty="0"/>
                    </a:p>
                  </a:txBody>
                  <a:tcPr/>
                </a:tc>
                <a:tc>
                  <a:txBody>
                    <a:bodyPr/>
                    <a:lstStyle/>
                    <a:p>
                      <a:pPr algn="ctr"/>
                      <a:r>
                        <a:rPr lang="en-US" altLang="zh-TW" sz="2400" dirty="0" smtClean="0"/>
                        <a:t>6</a:t>
                      </a:r>
                      <a:endParaRPr lang="zh-TW" altLang="en-US" sz="2400" dirty="0"/>
                    </a:p>
                  </a:txBody>
                  <a:tcPr/>
                </a:tc>
                <a:tc>
                  <a:txBody>
                    <a:bodyPr/>
                    <a:lstStyle/>
                    <a:p>
                      <a:pPr algn="ctr"/>
                      <a:r>
                        <a:rPr lang="en-US" altLang="zh-TW" sz="2400" dirty="0" smtClean="0"/>
                        <a:t>8</a:t>
                      </a:r>
                      <a:endParaRPr lang="zh-TW" altLang="en-US" sz="2400" dirty="0"/>
                    </a:p>
                  </a:txBody>
                  <a:tcPr/>
                </a:tc>
              </a:tr>
              <a:tr h="585154">
                <a:tc>
                  <a:txBody>
                    <a:bodyPr/>
                    <a:lstStyle/>
                    <a:p>
                      <a:pPr algn="ctr"/>
                      <a:r>
                        <a:rPr lang="en-US" altLang="zh-TW" dirty="0" smtClean="0"/>
                        <a:t>C</a:t>
                      </a:r>
                      <a:endParaRPr lang="zh-TW" altLang="en-US" dirty="0"/>
                    </a:p>
                  </a:txBody>
                  <a:tcPr/>
                </a:tc>
                <a:tc>
                  <a:txBody>
                    <a:bodyPr/>
                    <a:lstStyle/>
                    <a:p>
                      <a:pPr algn="ctr"/>
                      <a:r>
                        <a:rPr lang="en-US" altLang="zh-TW" sz="2400" dirty="0" smtClean="0"/>
                        <a:t>4</a:t>
                      </a:r>
                      <a:endParaRPr lang="zh-TW" altLang="en-US" sz="2400" dirty="0"/>
                    </a:p>
                  </a:txBody>
                  <a:tcPr/>
                </a:tc>
                <a:tc>
                  <a:txBody>
                    <a:bodyPr/>
                    <a:lstStyle/>
                    <a:p>
                      <a:pPr algn="ctr"/>
                      <a:r>
                        <a:rPr lang="en-US" altLang="zh-TW" sz="2400" dirty="0" smtClean="0"/>
                        <a:t>2</a:t>
                      </a:r>
                      <a:endParaRPr lang="zh-TW" altLang="en-US" sz="2400" dirty="0"/>
                    </a:p>
                  </a:txBody>
                  <a:tcPr/>
                </a:tc>
                <a:tc>
                  <a:txBody>
                    <a:bodyPr/>
                    <a:lstStyle/>
                    <a:p>
                      <a:pPr algn="ctr"/>
                      <a:r>
                        <a:rPr lang="en-US" altLang="zh-TW" sz="2400" dirty="0" smtClean="0"/>
                        <a:t>0</a:t>
                      </a:r>
                      <a:endParaRPr lang="zh-TW" altLang="en-US" sz="2400" dirty="0"/>
                    </a:p>
                  </a:txBody>
                  <a:tcPr/>
                </a:tc>
                <a:tc>
                  <a:txBody>
                    <a:bodyPr/>
                    <a:lstStyle/>
                    <a:p>
                      <a:pPr algn="ctr"/>
                      <a:r>
                        <a:rPr lang="en-US" altLang="zh-TW" sz="2400" dirty="0" smtClean="0"/>
                        <a:t>2</a:t>
                      </a:r>
                      <a:endParaRPr lang="zh-TW" altLang="en-US" sz="2400" dirty="0"/>
                    </a:p>
                  </a:txBody>
                  <a:tcPr/>
                </a:tc>
                <a:tc>
                  <a:txBody>
                    <a:bodyPr/>
                    <a:lstStyle/>
                    <a:p>
                      <a:pPr algn="ctr"/>
                      <a:r>
                        <a:rPr lang="en-US" altLang="zh-TW" sz="2400" dirty="0" smtClean="0"/>
                        <a:t>4</a:t>
                      </a:r>
                      <a:endParaRPr lang="zh-TW" altLang="en-US" sz="2400" dirty="0"/>
                    </a:p>
                  </a:txBody>
                  <a:tcPr/>
                </a:tc>
                <a:tc>
                  <a:txBody>
                    <a:bodyPr/>
                    <a:lstStyle/>
                    <a:p>
                      <a:pPr algn="ctr"/>
                      <a:r>
                        <a:rPr lang="en-US" altLang="zh-TW" sz="2400" dirty="0" smtClean="0"/>
                        <a:t>6</a:t>
                      </a:r>
                      <a:endParaRPr lang="zh-TW" altLang="en-US" sz="2400" dirty="0"/>
                    </a:p>
                  </a:txBody>
                  <a:tcPr/>
                </a:tc>
              </a:tr>
              <a:tr h="585154">
                <a:tc>
                  <a:txBody>
                    <a:bodyPr/>
                    <a:lstStyle/>
                    <a:p>
                      <a:pPr algn="ctr"/>
                      <a:r>
                        <a:rPr lang="en-US" altLang="zh-TW" dirty="0" smtClean="0"/>
                        <a:t>A</a:t>
                      </a:r>
                      <a:endParaRPr lang="zh-TW" altLang="en-US" dirty="0"/>
                    </a:p>
                  </a:txBody>
                  <a:tcPr/>
                </a:tc>
                <a:tc>
                  <a:txBody>
                    <a:bodyPr/>
                    <a:lstStyle/>
                    <a:p>
                      <a:pPr algn="ctr"/>
                      <a:r>
                        <a:rPr lang="en-US" altLang="zh-TW" sz="2400" dirty="0" smtClean="0"/>
                        <a:t>6</a:t>
                      </a:r>
                      <a:endParaRPr lang="zh-TW" altLang="en-US" sz="2400" dirty="0"/>
                    </a:p>
                  </a:txBody>
                  <a:tcPr/>
                </a:tc>
                <a:tc>
                  <a:txBody>
                    <a:bodyPr/>
                    <a:lstStyle/>
                    <a:p>
                      <a:pPr algn="ctr"/>
                      <a:r>
                        <a:rPr lang="en-US" altLang="zh-TW" sz="2400" dirty="0" smtClean="0"/>
                        <a:t>4</a:t>
                      </a:r>
                      <a:endParaRPr lang="zh-TW" altLang="en-US" sz="2400" dirty="0"/>
                    </a:p>
                  </a:txBody>
                  <a:tcPr/>
                </a:tc>
                <a:tc>
                  <a:txBody>
                    <a:bodyPr/>
                    <a:lstStyle/>
                    <a:p>
                      <a:pPr algn="ctr"/>
                      <a:r>
                        <a:rPr lang="en-US" altLang="zh-TW" sz="2400" dirty="0" smtClean="0"/>
                        <a:t>2</a:t>
                      </a:r>
                      <a:endParaRPr lang="zh-TW" altLang="en-US" sz="2400" dirty="0"/>
                    </a:p>
                  </a:txBody>
                  <a:tcPr/>
                </a:tc>
                <a:tc>
                  <a:txBody>
                    <a:bodyPr/>
                    <a:lstStyle/>
                    <a:p>
                      <a:pPr algn="ctr"/>
                      <a:r>
                        <a:rPr lang="en-US" altLang="zh-TW" sz="2400" dirty="0" smtClean="0"/>
                        <a:t>1</a:t>
                      </a:r>
                      <a:endParaRPr lang="zh-TW" altLang="en-US" sz="2400" dirty="0"/>
                    </a:p>
                  </a:txBody>
                  <a:tcPr/>
                </a:tc>
                <a:tc>
                  <a:txBody>
                    <a:bodyPr/>
                    <a:lstStyle/>
                    <a:p>
                      <a:pPr algn="ctr"/>
                      <a:r>
                        <a:rPr lang="en-US" altLang="zh-TW" sz="2400" dirty="0" smtClean="0"/>
                        <a:t>2</a:t>
                      </a:r>
                      <a:endParaRPr lang="zh-TW" altLang="en-US" sz="2400" dirty="0"/>
                    </a:p>
                  </a:txBody>
                  <a:tcPr/>
                </a:tc>
                <a:tc>
                  <a:txBody>
                    <a:bodyPr/>
                    <a:lstStyle/>
                    <a:p>
                      <a:pPr algn="ctr"/>
                      <a:r>
                        <a:rPr lang="en-US" altLang="zh-TW" sz="2400" dirty="0" smtClean="0"/>
                        <a:t>4</a:t>
                      </a:r>
                      <a:endParaRPr lang="zh-TW" altLang="en-US" sz="2400" dirty="0"/>
                    </a:p>
                  </a:txBody>
                  <a:tcPr/>
                </a:tc>
              </a:tr>
              <a:tr h="585154">
                <a:tc>
                  <a:txBody>
                    <a:bodyPr/>
                    <a:lstStyle/>
                    <a:p>
                      <a:pPr algn="ctr"/>
                      <a:r>
                        <a:rPr lang="en-US" altLang="zh-TW" dirty="0" smtClean="0"/>
                        <a:t>G</a:t>
                      </a:r>
                      <a:endParaRPr lang="zh-TW" altLang="en-US" dirty="0"/>
                    </a:p>
                  </a:txBody>
                  <a:tcPr/>
                </a:tc>
                <a:tc>
                  <a:txBody>
                    <a:bodyPr/>
                    <a:lstStyle/>
                    <a:p>
                      <a:pPr algn="ctr"/>
                      <a:r>
                        <a:rPr lang="en-US" altLang="zh-TW" sz="2400" dirty="0" smtClean="0"/>
                        <a:t>8</a:t>
                      </a:r>
                      <a:endParaRPr lang="zh-TW" altLang="en-US" sz="2400" dirty="0"/>
                    </a:p>
                  </a:txBody>
                  <a:tcPr/>
                </a:tc>
                <a:tc>
                  <a:txBody>
                    <a:bodyPr/>
                    <a:lstStyle/>
                    <a:p>
                      <a:pPr algn="ctr"/>
                      <a:r>
                        <a:rPr lang="en-US" altLang="zh-TW" sz="2400" dirty="0" smtClean="0"/>
                        <a:t>6</a:t>
                      </a:r>
                      <a:endParaRPr lang="zh-TW" altLang="en-US" sz="2400" dirty="0"/>
                    </a:p>
                  </a:txBody>
                  <a:tcPr/>
                </a:tc>
                <a:tc>
                  <a:txBody>
                    <a:bodyPr/>
                    <a:lstStyle/>
                    <a:p>
                      <a:pPr algn="ctr"/>
                      <a:r>
                        <a:rPr lang="en-US" altLang="zh-TW" sz="2400" dirty="0" smtClean="0"/>
                        <a:t>4</a:t>
                      </a:r>
                      <a:endParaRPr lang="zh-TW" altLang="en-US" sz="2400" dirty="0"/>
                    </a:p>
                  </a:txBody>
                  <a:tcPr/>
                </a:tc>
                <a:tc>
                  <a:txBody>
                    <a:bodyPr/>
                    <a:lstStyle/>
                    <a:p>
                      <a:pPr algn="ctr"/>
                      <a:r>
                        <a:rPr lang="en-US" altLang="zh-TW" sz="2400" dirty="0" smtClean="0"/>
                        <a:t>2</a:t>
                      </a:r>
                      <a:endParaRPr lang="zh-TW" altLang="en-US" sz="2400" dirty="0"/>
                    </a:p>
                  </a:txBody>
                  <a:tcPr/>
                </a:tc>
                <a:tc>
                  <a:txBody>
                    <a:bodyPr/>
                    <a:lstStyle/>
                    <a:p>
                      <a:pPr algn="ctr"/>
                      <a:r>
                        <a:rPr lang="en-US" altLang="zh-TW" sz="2400" dirty="0" smtClean="0"/>
                        <a:t>2</a:t>
                      </a:r>
                      <a:endParaRPr lang="zh-TW" altLang="en-US" sz="2400" dirty="0"/>
                    </a:p>
                  </a:txBody>
                  <a:tcPr/>
                </a:tc>
                <a:tc>
                  <a:txBody>
                    <a:bodyPr/>
                    <a:lstStyle/>
                    <a:p>
                      <a:pPr algn="ctr"/>
                      <a:r>
                        <a:rPr lang="en-US" altLang="zh-TW" sz="2400" dirty="0" smtClean="0"/>
                        <a:t>3</a:t>
                      </a:r>
                      <a:endParaRPr lang="zh-TW" altLang="en-US" sz="2400" dirty="0"/>
                    </a:p>
                  </a:txBody>
                  <a:tcPr/>
                </a:tc>
              </a:tr>
              <a:tr h="585154">
                <a:tc>
                  <a:txBody>
                    <a:bodyPr/>
                    <a:lstStyle/>
                    <a:p>
                      <a:pPr algn="ctr"/>
                      <a:r>
                        <a:rPr lang="en-US" altLang="zh-TW" dirty="0" smtClean="0"/>
                        <a:t>C</a:t>
                      </a:r>
                      <a:endParaRPr lang="zh-TW" altLang="en-US" dirty="0"/>
                    </a:p>
                  </a:txBody>
                  <a:tcPr/>
                </a:tc>
                <a:tc>
                  <a:txBody>
                    <a:bodyPr/>
                    <a:lstStyle/>
                    <a:p>
                      <a:pPr algn="ctr"/>
                      <a:r>
                        <a:rPr lang="en-US" altLang="zh-TW" sz="2400" dirty="0" smtClean="0"/>
                        <a:t>10</a:t>
                      </a:r>
                      <a:endParaRPr lang="zh-TW" altLang="en-US" sz="2400" dirty="0"/>
                    </a:p>
                  </a:txBody>
                  <a:tcPr/>
                </a:tc>
                <a:tc>
                  <a:txBody>
                    <a:bodyPr/>
                    <a:lstStyle/>
                    <a:p>
                      <a:pPr algn="ctr"/>
                      <a:r>
                        <a:rPr lang="en-US" altLang="zh-TW" sz="2400" dirty="0" smtClean="0"/>
                        <a:t>8</a:t>
                      </a:r>
                      <a:endParaRPr lang="zh-TW" altLang="en-US" sz="2400" dirty="0"/>
                    </a:p>
                  </a:txBody>
                  <a:tcPr/>
                </a:tc>
                <a:tc>
                  <a:txBody>
                    <a:bodyPr/>
                    <a:lstStyle/>
                    <a:p>
                      <a:pPr algn="ctr"/>
                      <a:r>
                        <a:rPr lang="en-US" altLang="zh-TW" sz="2400" dirty="0" smtClean="0"/>
                        <a:t>6</a:t>
                      </a:r>
                      <a:endParaRPr lang="zh-TW" altLang="en-US" sz="2400" dirty="0"/>
                    </a:p>
                  </a:txBody>
                  <a:tcPr/>
                </a:tc>
                <a:tc>
                  <a:txBody>
                    <a:bodyPr/>
                    <a:lstStyle/>
                    <a:p>
                      <a:pPr algn="ctr"/>
                      <a:r>
                        <a:rPr lang="en-US" altLang="zh-TW" sz="2400" dirty="0" smtClean="0"/>
                        <a:t>4</a:t>
                      </a:r>
                      <a:endParaRPr lang="zh-TW" altLang="en-US" sz="2400" dirty="0"/>
                    </a:p>
                  </a:txBody>
                  <a:tcPr/>
                </a:tc>
                <a:tc>
                  <a:txBody>
                    <a:bodyPr/>
                    <a:lstStyle/>
                    <a:p>
                      <a:pPr algn="ctr"/>
                      <a:r>
                        <a:rPr lang="en-US" altLang="zh-TW" sz="2400" dirty="0" smtClean="0"/>
                        <a:t>3</a:t>
                      </a:r>
                      <a:endParaRPr lang="zh-TW" altLang="en-US" sz="2400" dirty="0"/>
                    </a:p>
                  </a:txBody>
                  <a:tcPr/>
                </a:tc>
                <a:tc>
                  <a:txBody>
                    <a:bodyPr/>
                    <a:lstStyle/>
                    <a:p>
                      <a:pPr algn="ctr"/>
                      <a:r>
                        <a:rPr lang="en-US" altLang="zh-TW" sz="2400" dirty="0" smtClean="0"/>
                        <a:t>2</a:t>
                      </a:r>
                      <a:endParaRPr lang="zh-TW" altLang="en-US" sz="2400" dirty="0"/>
                    </a:p>
                  </a:txBody>
                  <a:tcPr/>
                </a:tc>
              </a:tr>
            </a:tbl>
          </a:graphicData>
        </a:graphic>
      </p:graphicFrame>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4"/>
            <a:ext cx="8229600" cy="1143000"/>
          </a:xfrm>
        </p:spPr>
        <p:txBody>
          <a:bodyPr/>
          <a:lstStyle/>
          <a:p>
            <a:pPr algn="l"/>
            <a:r>
              <a:rPr lang="en-US" altLang="zh-TW" dirty="0" smtClean="0">
                <a:latin typeface="Times New Roman" pitchFamily="18" charset="0"/>
                <a:cs typeface="Times New Roman" pitchFamily="18" charset="0"/>
              </a:rPr>
              <a:t>Algorithm </a:t>
            </a:r>
            <a:endParaRPr lang="zh-TW" altLang="en-US" dirty="0">
              <a:latin typeface="Times New Roman" pitchFamily="18" charset="0"/>
              <a:cs typeface="Times New Roman" pitchFamily="18" charset="0"/>
            </a:endParaRPr>
          </a:p>
        </p:txBody>
      </p:sp>
      <p:sp>
        <p:nvSpPr>
          <p:cNvPr id="6" name="文字方塊 5"/>
          <p:cNvSpPr txBox="1"/>
          <p:nvPr/>
        </p:nvSpPr>
        <p:spPr>
          <a:xfrm>
            <a:off x="3929058" y="285728"/>
            <a:ext cx="3000396" cy="1200329"/>
          </a:xfrm>
          <a:prstGeom prst="rect">
            <a:avLst/>
          </a:prstGeom>
          <a:noFill/>
        </p:spPr>
        <p:txBody>
          <a:bodyPr wrap="square" rtlCol="0">
            <a:spAutoFit/>
          </a:bodyPr>
          <a:lstStyle/>
          <a:p>
            <a:r>
              <a:rPr lang="en-US" altLang="zh-TW" sz="2400" dirty="0" smtClean="0">
                <a:latin typeface="Times New Roman" pitchFamily="18" charset="0"/>
                <a:cs typeface="Times New Roman" pitchFamily="18" charset="0"/>
              </a:rPr>
              <a:t>Match	       : 0</a:t>
            </a:r>
          </a:p>
          <a:p>
            <a:r>
              <a:rPr lang="en-US" altLang="zh-TW" sz="2400" dirty="0" smtClean="0">
                <a:latin typeface="Times New Roman" pitchFamily="18" charset="0"/>
                <a:cs typeface="Times New Roman" pitchFamily="18" charset="0"/>
              </a:rPr>
              <a:t>Mismatch   : 1</a:t>
            </a:r>
          </a:p>
          <a:p>
            <a:r>
              <a:rPr lang="en-US" altLang="zh-TW" sz="2400" dirty="0" smtClean="0">
                <a:latin typeface="Times New Roman" pitchFamily="18" charset="0"/>
                <a:cs typeface="Times New Roman" pitchFamily="18" charset="0"/>
              </a:rPr>
              <a:t>Gap	       : 2</a:t>
            </a:r>
            <a:endParaRPr lang="zh-TW" altLang="en-US" sz="2400" dirty="0">
              <a:latin typeface="Times New Roman" pitchFamily="18" charset="0"/>
              <a:cs typeface="Times New Roman" pitchFamily="18" charset="0"/>
            </a:endParaRPr>
          </a:p>
        </p:txBody>
      </p:sp>
      <p:graphicFrame>
        <p:nvGraphicFramePr>
          <p:cNvPr id="7" name="表格 6"/>
          <p:cNvGraphicFramePr>
            <a:graphicFrameLocks noGrp="1"/>
          </p:cNvGraphicFramePr>
          <p:nvPr/>
        </p:nvGraphicFramePr>
        <p:xfrm>
          <a:off x="642910" y="1785926"/>
          <a:ext cx="8001056" cy="4096078"/>
        </p:xfrm>
        <a:graphic>
          <a:graphicData uri="http://schemas.openxmlformats.org/drawingml/2006/table">
            <a:tbl>
              <a:tblPr firstRow="1" firstCol="1" bandRow="1">
                <a:tableStyleId>{5C22544A-7EE6-4342-B048-85BDC9FD1C3A}</a:tableStyleId>
              </a:tblPr>
              <a:tblGrid>
                <a:gridCol w="1143008"/>
                <a:gridCol w="1143008"/>
                <a:gridCol w="1143008"/>
                <a:gridCol w="1143008"/>
                <a:gridCol w="1143008"/>
                <a:gridCol w="1143008"/>
                <a:gridCol w="1143008"/>
              </a:tblGrid>
              <a:tr h="585154">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smtClean="0"/>
                        <a:t>A</a:t>
                      </a:r>
                      <a:endParaRPr lang="zh-TW" altLang="en-US" dirty="0"/>
                    </a:p>
                  </a:txBody>
                  <a:tcPr/>
                </a:tc>
                <a:tc>
                  <a:txBody>
                    <a:bodyPr/>
                    <a:lstStyle/>
                    <a:p>
                      <a:pPr algn="ctr"/>
                      <a:r>
                        <a:rPr lang="en-US" altLang="zh-TW" dirty="0" smtClean="0"/>
                        <a:t>C</a:t>
                      </a:r>
                      <a:endParaRPr lang="zh-TW" altLang="en-US" dirty="0"/>
                    </a:p>
                  </a:txBody>
                  <a:tcPr/>
                </a:tc>
                <a:tc>
                  <a:txBody>
                    <a:bodyPr/>
                    <a:lstStyle/>
                    <a:p>
                      <a:pPr algn="ctr"/>
                      <a:r>
                        <a:rPr lang="en-US" altLang="zh-TW" dirty="0" smtClean="0"/>
                        <a:t>G</a:t>
                      </a:r>
                      <a:endParaRPr lang="zh-TW" altLang="en-US" dirty="0"/>
                    </a:p>
                  </a:txBody>
                  <a:tcPr/>
                </a:tc>
                <a:tc>
                  <a:txBody>
                    <a:bodyPr/>
                    <a:lstStyle/>
                    <a:p>
                      <a:pPr algn="ctr"/>
                      <a:r>
                        <a:rPr lang="en-US" altLang="zh-TW" dirty="0" smtClean="0"/>
                        <a:t>A</a:t>
                      </a:r>
                      <a:endParaRPr lang="zh-TW" altLang="en-US" dirty="0"/>
                    </a:p>
                  </a:txBody>
                  <a:tcPr/>
                </a:tc>
                <a:tc>
                  <a:txBody>
                    <a:bodyPr/>
                    <a:lstStyle/>
                    <a:p>
                      <a:pPr algn="ctr"/>
                      <a:r>
                        <a:rPr lang="en-US" altLang="zh-TW" dirty="0" smtClean="0"/>
                        <a:t>C</a:t>
                      </a:r>
                      <a:endParaRPr lang="zh-TW" altLang="en-US" dirty="0"/>
                    </a:p>
                  </a:txBody>
                  <a:tcPr/>
                </a:tc>
              </a:tr>
              <a:tr h="585154">
                <a:tc>
                  <a:txBody>
                    <a:bodyPr/>
                    <a:lstStyle/>
                    <a:p>
                      <a:pPr algn="ctr"/>
                      <a:endParaRPr lang="zh-TW" altLang="en-US" dirty="0"/>
                    </a:p>
                  </a:txBody>
                  <a:tcPr/>
                </a:tc>
                <a:tc>
                  <a:txBody>
                    <a:bodyPr/>
                    <a:lstStyle/>
                    <a:p>
                      <a:pPr algn="ctr"/>
                      <a:r>
                        <a:rPr lang="en-US" altLang="zh-TW" sz="2400" dirty="0" smtClean="0">
                          <a:solidFill>
                            <a:srgbClr val="FF0000"/>
                          </a:solidFill>
                        </a:rPr>
                        <a:t>0</a:t>
                      </a:r>
                      <a:endParaRPr lang="zh-TW" altLang="en-US" sz="2400" dirty="0">
                        <a:solidFill>
                          <a:srgbClr val="FF0000"/>
                        </a:solidFill>
                      </a:endParaRPr>
                    </a:p>
                  </a:txBody>
                  <a:tcPr/>
                </a:tc>
                <a:tc>
                  <a:txBody>
                    <a:bodyPr/>
                    <a:lstStyle/>
                    <a:p>
                      <a:pPr algn="ctr"/>
                      <a:endParaRPr lang="zh-TW" altLang="en-US" sz="2400" dirty="0"/>
                    </a:p>
                  </a:txBody>
                  <a:tcPr/>
                </a:tc>
                <a:tc>
                  <a:txBody>
                    <a:bodyPr/>
                    <a:lstStyle/>
                    <a:p>
                      <a:pPr algn="ctr"/>
                      <a:endParaRPr lang="zh-TW" altLang="en-US" sz="2400" dirty="0"/>
                    </a:p>
                  </a:txBody>
                  <a:tcPr/>
                </a:tc>
                <a:tc>
                  <a:txBody>
                    <a:bodyPr/>
                    <a:lstStyle/>
                    <a:p>
                      <a:pPr algn="ctr"/>
                      <a:endParaRPr lang="zh-TW" altLang="en-US" sz="2400" dirty="0"/>
                    </a:p>
                  </a:txBody>
                  <a:tcPr/>
                </a:tc>
                <a:tc>
                  <a:txBody>
                    <a:bodyPr/>
                    <a:lstStyle/>
                    <a:p>
                      <a:pPr algn="ctr"/>
                      <a:endParaRPr lang="zh-TW" altLang="en-US" sz="2400" dirty="0"/>
                    </a:p>
                  </a:txBody>
                  <a:tcPr/>
                </a:tc>
                <a:tc>
                  <a:txBody>
                    <a:bodyPr/>
                    <a:lstStyle/>
                    <a:p>
                      <a:pPr algn="ctr"/>
                      <a:endParaRPr lang="zh-TW" altLang="en-US" sz="2400" dirty="0"/>
                    </a:p>
                  </a:txBody>
                  <a:tcPr/>
                </a:tc>
              </a:tr>
              <a:tr h="585154">
                <a:tc>
                  <a:txBody>
                    <a:bodyPr/>
                    <a:lstStyle/>
                    <a:p>
                      <a:pPr algn="ctr"/>
                      <a:r>
                        <a:rPr lang="en-US" altLang="zh-TW" dirty="0" smtClean="0"/>
                        <a:t>A</a:t>
                      </a:r>
                      <a:endParaRPr lang="zh-TW" altLang="en-US" dirty="0"/>
                    </a:p>
                  </a:txBody>
                  <a:tcPr/>
                </a:tc>
                <a:tc>
                  <a:txBody>
                    <a:bodyPr/>
                    <a:lstStyle/>
                    <a:p>
                      <a:pPr algn="ctr"/>
                      <a:endParaRPr lang="zh-TW" altLang="en-US" sz="2400" dirty="0"/>
                    </a:p>
                  </a:txBody>
                  <a:tcPr/>
                </a:tc>
                <a:tc>
                  <a:txBody>
                    <a:bodyPr/>
                    <a:lstStyle/>
                    <a:p>
                      <a:pPr algn="ctr"/>
                      <a:endParaRPr lang="zh-TW" altLang="en-US" sz="2400" dirty="0"/>
                    </a:p>
                  </a:txBody>
                  <a:tcPr/>
                </a:tc>
                <a:tc>
                  <a:txBody>
                    <a:bodyPr/>
                    <a:lstStyle/>
                    <a:p>
                      <a:pPr algn="ctr"/>
                      <a:endParaRPr lang="zh-TW" altLang="en-US" sz="2400" dirty="0"/>
                    </a:p>
                  </a:txBody>
                  <a:tcPr/>
                </a:tc>
                <a:tc>
                  <a:txBody>
                    <a:bodyPr/>
                    <a:lstStyle/>
                    <a:p>
                      <a:pPr algn="ctr"/>
                      <a:endParaRPr lang="zh-TW" altLang="en-US" sz="2400" dirty="0"/>
                    </a:p>
                  </a:txBody>
                  <a:tcPr/>
                </a:tc>
                <a:tc>
                  <a:txBody>
                    <a:bodyPr/>
                    <a:lstStyle/>
                    <a:p>
                      <a:pPr algn="ctr"/>
                      <a:endParaRPr lang="zh-TW" altLang="en-US" sz="2400" dirty="0"/>
                    </a:p>
                  </a:txBody>
                  <a:tcPr/>
                </a:tc>
                <a:tc>
                  <a:txBody>
                    <a:bodyPr/>
                    <a:lstStyle/>
                    <a:p>
                      <a:pPr algn="ctr"/>
                      <a:endParaRPr lang="zh-TW" altLang="en-US" sz="2400" dirty="0"/>
                    </a:p>
                  </a:txBody>
                  <a:tcPr/>
                </a:tc>
              </a:tr>
              <a:tr h="585154">
                <a:tc>
                  <a:txBody>
                    <a:bodyPr/>
                    <a:lstStyle/>
                    <a:p>
                      <a:pPr algn="ctr"/>
                      <a:r>
                        <a:rPr lang="en-US" altLang="zh-TW" dirty="0" smtClean="0"/>
                        <a:t>C</a:t>
                      </a:r>
                      <a:endParaRPr lang="zh-TW" altLang="en-US" dirty="0"/>
                    </a:p>
                  </a:txBody>
                  <a:tcPr/>
                </a:tc>
                <a:tc>
                  <a:txBody>
                    <a:bodyPr/>
                    <a:lstStyle/>
                    <a:p>
                      <a:pPr algn="ctr"/>
                      <a:endParaRPr lang="zh-TW" altLang="en-US" sz="2400" dirty="0"/>
                    </a:p>
                  </a:txBody>
                  <a:tcPr/>
                </a:tc>
                <a:tc>
                  <a:txBody>
                    <a:bodyPr/>
                    <a:lstStyle/>
                    <a:p>
                      <a:pPr algn="ctr"/>
                      <a:endParaRPr lang="zh-TW" altLang="en-US" sz="2400" dirty="0"/>
                    </a:p>
                  </a:txBody>
                  <a:tcPr/>
                </a:tc>
                <a:tc>
                  <a:txBody>
                    <a:bodyPr/>
                    <a:lstStyle/>
                    <a:p>
                      <a:pPr algn="ctr"/>
                      <a:endParaRPr lang="zh-TW" altLang="en-US" sz="2400" dirty="0"/>
                    </a:p>
                  </a:txBody>
                  <a:tcPr/>
                </a:tc>
                <a:tc>
                  <a:txBody>
                    <a:bodyPr/>
                    <a:lstStyle/>
                    <a:p>
                      <a:pPr algn="ctr"/>
                      <a:endParaRPr lang="zh-TW" altLang="en-US" sz="2400" dirty="0"/>
                    </a:p>
                  </a:txBody>
                  <a:tcPr/>
                </a:tc>
                <a:tc>
                  <a:txBody>
                    <a:bodyPr/>
                    <a:lstStyle/>
                    <a:p>
                      <a:pPr algn="ctr"/>
                      <a:endParaRPr lang="zh-TW" altLang="en-US" sz="2400" dirty="0"/>
                    </a:p>
                  </a:txBody>
                  <a:tcPr/>
                </a:tc>
                <a:tc>
                  <a:txBody>
                    <a:bodyPr/>
                    <a:lstStyle/>
                    <a:p>
                      <a:pPr algn="ctr"/>
                      <a:endParaRPr lang="zh-TW" altLang="en-US" sz="2400" dirty="0"/>
                    </a:p>
                  </a:txBody>
                  <a:tcPr/>
                </a:tc>
              </a:tr>
              <a:tr h="585154">
                <a:tc>
                  <a:txBody>
                    <a:bodyPr/>
                    <a:lstStyle/>
                    <a:p>
                      <a:pPr algn="ctr"/>
                      <a:r>
                        <a:rPr lang="en-US" altLang="zh-TW" dirty="0" smtClean="0"/>
                        <a:t>A</a:t>
                      </a:r>
                      <a:endParaRPr lang="zh-TW" altLang="en-US" dirty="0"/>
                    </a:p>
                  </a:txBody>
                  <a:tcPr/>
                </a:tc>
                <a:tc>
                  <a:txBody>
                    <a:bodyPr/>
                    <a:lstStyle/>
                    <a:p>
                      <a:pPr algn="ctr"/>
                      <a:endParaRPr lang="zh-TW" altLang="en-US" sz="2400" dirty="0"/>
                    </a:p>
                  </a:txBody>
                  <a:tcPr/>
                </a:tc>
                <a:tc>
                  <a:txBody>
                    <a:bodyPr/>
                    <a:lstStyle/>
                    <a:p>
                      <a:pPr algn="ctr"/>
                      <a:endParaRPr lang="zh-TW" altLang="en-US" sz="2400" dirty="0"/>
                    </a:p>
                  </a:txBody>
                  <a:tcPr/>
                </a:tc>
                <a:tc>
                  <a:txBody>
                    <a:bodyPr/>
                    <a:lstStyle/>
                    <a:p>
                      <a:pPr algn="ctr"/>
                      <a:endParaRPr lang="zh-TW" altLang="en-US" sz="2400" dirty="0"/>
                    </a:p>
                  </a:txBody>
                  <a:tcPr/>
                </a:tc>
                <a:tc>
                  <a:txBody>
                    <a:bodyPr/>
                    <a:lstStyle/>
                    <a:p>
                      <a:pPr algn="ctr"/>
                      <a:endParaRPr lang="zh-TW" altLang="en-US" sz="2400" dirty="0"/>
                    </a:p>
                  </a:txBody>
                  <a:tcPr/>
                </a:tc>
                <a:tc>
                  <a:txBody>
                    <a:bodyPr/>
                    <a:lstStyle/>
                    <a:p>
                      <a:pPr algn="ctr"/>
                      <a:endParaRPr lang="zh-TW" altLang="en-US" sz="2400" dirty="0"/>
                    </a:p>
                  </a:txBody>
                  <a:tcPr/>
                </a:tc>
                <a:tc>
                  <a:txBody>
                    <a:bodyPr/>
                    <a:lstStyle/>
                    <a:p>
                      <a:pPr algn="ctr"/>
                      <a:endParaRPr lang="zh-TW" altLang="en-US" sz="2400" dirty="0"/>
                    </a:p>
                  </a:txBody>
                  <a:tcPr/>
                </a:tc>
              </a:tr>
              <a:tr h="585154">
                <a:tc>
                  <a:txBody>
                    <a:bodyPr/>
                    <a:lstStyle/>
                    <a:p>
                      <a:pPr algn="ctr"/>
                      <a:r>
                        <a:rPr lang="en-US" altLang="zh-TW" dirty="0" smtClean="0"/>
                        <a:t>G</a:t>
                      </a:r>
                      <a:endParaRPr lang="zh-TW" altLang="en-US" dirty="0"/>
                    </a:p>
                  </a:txBody>
                  <a:tcPr/>
                </a:tc>
                <a:tc>
                  <a:txBody>
                    <a:bodyPr/>
                    <a:lstStyle/>
                    <a:p>
                      <a:pPr algn="ctr"/>
                      <a:endParaRPr lang="zh-TW" altLang="en-US" sz="2400" dirty="0"/>
                    </a:p>
                  </a:txBody>
                  <a:tcPr/>
                </a:tc>
                <a:tc>
                  <a:txBody>
                    <a:bodyPr/>
                    <a:lstStyle/>
                    <a:p>
                      <a:pPr algn="ctr"/>
                      <a:endParaRPr lang="zh-TW" altLang="en-US" sz="2400" dirty="0"/>
                    </a:p>
                  </a:txBody>
                  <a:tcPr/>
                </a:tc>
                <a:tc>
                  <a:txBody>
                    <a:bodyPr/>
                    <a:lstStyle/>
                    <a:p>
                      <a:pPr algn="ctr"/>
                      <a:endParaRPr lang="zh-TW" altLang="en-US" sz="2400" dirty="0"/>
                    </a:p>
                  </a:txBody>
                  <a:tcPr/>
                </a:tc>
                <a:tc>
                  <a:txBody>
                    <a:bodyPr/>
                    <a:lstStyle/>
                    <a:p>
                      <a:pPr algn="ctr"/>
                      <a:endParaRPr lang="zh-TW" altLang="en-US" sz="2400" dirty="0"/>
                    </a:p>
                  </a:txBody>
                  <a:tcPr/>
                </a:tc>
                <a:tc>
                  <a:txBody>
                    <a:bodyPr/>
                    <a:lstStyle/>
                    <a:p>
                      <a:pPr algn="ctr"/>
                      <a:endParaRPr lang="zh-TW" altLang="en-US" sz="2400" dirty="0"/>
                    </a:p>
                  </a:txBody>
                  <a:tcPr/>
                </a:tc>
                <a:tc>
                  <a:txBody>
                    <a:bodyPr/>
                    <a:lstStyle/>
                    <a:p>
                      <a:pPr algn="ctr"/>
                      <a:endParaRPr lang="zh-TW" altLang="en-US" sz="2400" dirty="0"/>
                    </a:p>
                  </a:txBody>
                  <a:tcPr/>
                </a:tc>
              </a:tr>
              <a:tr h="585154">
                <a:tc>
                  <a:txBody>
                    <a:bodyPr/>
                    <a:lstStyle/>
                    <a:p>
                      <a:pPr algn="ctr"/>
                      <a:r>
                        <a:rPr lang="en-US" altLang="zh-TW" dirty="0" smtClean="0"/>
                        <a:t>C</a:t>
                      </a:r>
                      <a:endParaRPr lang="zh-TW" altLang="en-US" dirty="0"/>
                    </a:p>
                  </a:txBody>
                  <a:tcPr/>
                </a:tc>
                <a:tc>
                  <a:txBody>
                    <a:bodyPr/>
                    <a:lstStyle/>
                    <a:p>
                      <a:pPr algn="ctr"/>
                      <a:endParaRPr lang="zh-TW" altLang="en-US" sz="2400" dirty="0"/>
                    </a:p>
                  </a:txBody>
                  <a:tcPr/>
                </a:tc>
                <a:tc>
                  <a:txBody>
                    <a:bodyPr/>
                    <a:lstStyle/>
                    <a:p>
                      <a:pPr algn="ctr"/>
                      <a:endParaRPr lang="zh-TW" altLang="en-US" sz="2400" dirty="0"/>
                    </a:p>
                  </a:txBody>
                  <a:tcPr/>
                </a:tc>
                <a:tc>
                  <a:txBody>
                    <a:bodyPr/>
                    <a:lstStyle/>
                    <a:p>
                      <a:pPr algn="ctr"/>
                      <a:endParaRPr lang="zh-TW" altLang="en-US" sz="2400" dirty="0"/>
                    </a:p>
                  </a:txBody>
                  <a:tcPr/>
                </a:tc>
                <a:tc>
                  <a:txBody>
                    <a:bodyPr/>
                    <a:lstStyle/>
                    <a:p>
                      <a:pPr algn="ctr"/>
                      <a:endParaRPr lang="zh-TW" altLang="en-US" sz="2400" dirty="0"/>
                    </a:p>
                  </a:txBody>
                  <a:tcPr/>
                </a:tc>
                <a:tc>
                  <a:txBody>
                    <a:bodyPr/>
                    <a:lstStyle/>
                    <a:p>
                      <a:pPr algn="ctr"/>
                      <a:endParaRPr lang="zh-TW" altLang="en-US" sz="2400" dirty="0"/>
                    </a:p>
                  </a:txBody>
                  <a:tcPr/>
                </a:tc>
                <a:tc>
                  <a:txBody>
                    <a:bodyPr/>
                    <a:lstStyle/>
                    <a:p>
                      <a:pPr algn="ctr"/>
                      <a:endParaRPr lang="zh-TW" altLang="en-US" sz="2400" dirty="0"/>
                    </a:p>
                  </a:txBody>
                  <a:tcPr/>
                </a:tc>
              </a:tr>
            </a:tbl>
          </a:graphicData>
        </a:graphic>
      </p:graphicFrame>
      <p:sp>
        <p:nvSpPr>
          <p:cNvPr id="5" name="文字方塊 4"/>
          <p:cNvSpPr txBox="1"/>
          <p:nvPr/>
        </p:nvSpPr>
        <p:spPr>
          <a:xfrm>
            <a:off x="785786" y="1285860"/>
            <a:ext cx="821059" cy="461665"/>
          </a:xfrm>
          <a:prstGeom prst="rect">
            <a:avLst/>
          </a:prstGeom>
          <a:noFill/>
        </p:spPr>
        <p:txBody>
          <a:bodyPr wrap="none" rtlCol="0">
            <a:spAutoFit/>
          </a:bodyPr>
          <a:lstStyle/>
          <a:p>
            <a:r>
              <a:rPr lang="en-US" altLang="zh-TW" sz="2400" dirty="0" smtClean="0">
                <a:solidFill>
                  <a:srgbClr val="FF0000"/>
                </a:solidFill>
              </a:rPr>
              <a:t>D = 0</a:t>
            </a:r>
            <a:endParaRPr lang="zh-TW" altLang="en-US" sz="2400" dirty="0">
              <a:solidFill>
                <a:srgbClr val="FF0000"/>
              </a:solidFill>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4"/>
            <a:ext cx="8229600" cy="1143000"/>
          </a:xfrm>
        </p:spPr>
        <p:txBody>
          <a:bodyPr/>
          <a:lstStyle/>
          <a:p>
            <a:pPr algn="l"/>
            <a:r>
              <a:rPr lang="en-US" altLang="zh-TW" dirty="0" smtClean="0">
                <a:latin typeface="Times New Roman" pitchFamily="18" charset="0"/>
                <a:cs typeface="Times New Roman" pitchFamily="18" charset="0"/>
              </a:rPr>
              <a:t>Algorithm </a:t>
            </a:r>
            <a:endParaRPr lang="zh-TW" altLang="en-US" dirty="0">
              <a:latin typeface="Times New Roman" pitchFamily="18" charset="0"/>
              <a:cs typeface="Times New Roman" pitchFamily="18" charset="0"/>
            </a:endParaRPr>
          </a:p>
        </p:txBody>
      </p:sp>
      <p:sp>
        <p:nvSpPr>
          <p:cNvPr id="6" name="文字方塊 5"/>
          <p:cNvSpPr txBox="1"/>
          <p:nvPr/>
        </p:nvSpPr>
        <p:spPr>
          <a:xfrm>
            <a:off x="3929058" y="285728"/>
            <a:ext cx="3000396" cy="1200329"/>
          </a:xfrm>
          <a:prstGeom prst="rect">
            <a:avLst/>
          </a:prstGeom>
          <a:noFill/>
        </p:spPr>
        <p:txBody>
          <a:bodyPr wrap="square" rtlCol="0">
            <a:spAutoFit/>
          </a:bodyPr>
          <a:lstStyle/>
          <a:p>
            <a:r>
              <a:rPr lang="en-US" altLang="zh-TW" sz="2400" dirty="0" smtClean="0">
                <a:latin typeface="Times New Roman" pitchFamily="18" charset="0"/>
                <a:cs typeface="Times New Roman" pitchFamily="18" charset="0"/>
              </a:rPr>
              <a:t>Match	       : 0</a:t>
            </a:r>
          </a:p>
          <a:p>
            <a:r>
              <a:rPr lang="en-US" altLang="zh-TW" sz="2400" dirty="0" smtClean="0">
                <a:latin typeface="Times New Roman" pitchFamily="18" charset="0"/>
                <a:cs typeface="Times New Roman" pitchFamily="18" charset="0"/>
              </a:rPr>
              <a:t>Mismatch   : 1</a:t>
            </a:r>
          </a:p>
          <a:p>
            <a:r>
              <a:rPr lang="en-US" altLang="zh-TW" sz="2400" dirty="0" smtClean="0">
                <a:latin typeface="Times New Roman" pitchFamily="18" charset="0"/>
                <a:cs typeface="Times New Roman" pitchFamily="18" charset="0"/>
              </a:rPr>
              <a:t>Gap	       : 2</a:t>
            </a:r>
            <a:endParaRPr lang="zh-TW" altLang="en-US" sz="2400" dirty="0">
              <a:latin typeface="Times New Roman" pitchFamily="18" charset="0"/>
              <a:cs typeface="Times New Roman" pitchFamily="18" charset="0"/>
            </a:endParaRPr>
          </a:p>
        </p:txBody>
      </p:sp>
      <p:graphicFrame>
        <p:nvGraphicFramePr>
          <p:cNvPr id="7" name="表格 6"/>
          <p:cNvGraphicFramePr>
            <a:graphicFrameLocks noGrp="1"/>
          </p:cNvGraphicFramePr>
          <p:nvPr/>
        </p:nvGraphicFramePr>
        <p:xfrm>
          <a:off x="642910" y="1785926"/>
          <a:ext cx="8001056" cy="4096078"/>
        </p:xfrm>
        <a:graphic>
          <a:graphicData uri="http://schemas.openxmlformats.org/drawingml/2006/table">
            <a:tbl>
              <a:tblPr firstRow="1" firstCol="1" bandRow="1">
                <a:tableStyleId>{5C22544A-7EE6-4342-B048-85BDC9FD1C3A}</a:tableStyleId>
              </a:tblPr>
              <a:tblGrid>
                <a:gridCol w="1143008"/>
                <a:gridCol w="1143008"/>
                <a:gridCol w="1143008"/>
                <a:gridCol w="1143008"/>
                <a:gridCol w="1143008"/>
                <a:gridCol w="1143008"/>
                <a:gridCol w="1143008"/>
              </a:tblGrid>
              <a:tr h="585154">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smtClean="0"/>
                        <a:t>A</a:t>
                      </a:r>
                      <a:endParaRPr lang="zh-TW" altLang="en-US" dirty="0"/>
                    </a:p>
                  </a:txBody>
                  <a:tcPr/>
                </a:tc>
                <a:tc>
                  <a:txBody>
                    <a:bodyPr/>
                    <a:lstStyle/>
                    <a:p>
                      <a:pPr algn="ctr"/>
                      <a:r>
                        <a:rPr lang="en-US" altLang="zh-TW" dirty="0" smtClean="0"/>
                        <a:t>C</a:t>
                      </a:r>
                      <a:endParaRPr lang="zh-TW" altLang="en-US" dirty="0"/>
                    </a:p>
                  </a:txBody>
                  <a:tcPr/>
                </a:tc>
                <a:tc>
                  <a:txBody>
                    <a:bodyPr/>
                    <a:lstStyle/>
                    <a:p>
                      <a:pPr algn="ctr"/>
                      <a:r>
                        <a:rPr lang="en-US" altLang="zh-TW" dirty="0" smtClean="0"/>
                        <a:t>G</a:t>
                      </a:r>
                      <a:endParaRPr lang="zh-TW" altLang="en-US" dirty="0"/>
                    </a:p>
                  </a:txBody>
                  <a:tcPr/>
                </a:tc>
                <a:tc>
                  <a:txBody>
                    <a:bodyPr/>
                    <a:lstStyle/>
                    <a:p>
                      <a:pPr algn="ctr"/>
                      <a:r>
                        <a:rPr lang="en-US" altLang="zh-TW" dirty="0" smtClean="0"/>
                        <a:t>A</a:t>
                      </a:r>
                      <a:endParaRPr lang="zh-TW" altLang="en-US" dirty="0"/>
                    </a:p>
                  </a:txBody>
                  <a:tcPr/>
                </a:tc>
                <a:tc>
                  <a:txBody>
                    <a:bodyPr/>
                    <a:lstStyle/>
                    <a:p>
                      <a:pPr algn="ctr"/>
                      <a:r>
                        <a:rPr lang="en-US" altLang="zh-TW" dirty="0" smtClean="0"/>
                        <a:t>C</a:t>
                      </a:r>
                      <a:endParaRPr lang="zh-TW" altLang="en-US" dirty="0"/>
                    </a:p>
                  </a:txBody>
                  <a:tcPr/>
                </a:tc>
              </a:tr>
              <a:tr h="585154">
                <a:tc>
                  <a:txBody>
                    <a:bodyPr/>
                    <a:lstStyle/>
                    <a:p>
                      <a:pPr algn="ctr"/>
                      <a:endParaRPr lang="zh-TW" altLang="en-US" dirty="0"/>
                    </a:p>
                  </a:txBody>
                  <a:tcPr/>
                </a:tc>
                <a:tc>
                  <a:txBody>
                    <a:bodyPr/>
                    <a:lstStyle/>
                    <a:p>
                      <a:pPr algn="ctr"/>
                      <a:r>
                        <a:rPr lang="en-US" altLang="zh-TW" sz="2400" dirty="0" smtClean="0"/>
                        <a:t>0</a:t>
                      </a:r>
                      <a:endParaRPr lang="zh-TW" altLang="en-US" sz="2400" dirty="0"/>
                    </a:p>
                  </a:txBody>
                  <a:tcPr/>
                </a:tc>
                <a:tc>
                  <a:txBody>
                    <a:bodyPr/>
                    <a:lstStyle/>
                    <a:p>
                      <a:pPr algn="ctr"/>
                      <a:r>
                        <a:rPr lang="en-US" altLang="zh-TW" sz="2400" dirty="0" smtClean="0"/>
                        <a:t>2</a:t>
                      </a:r>
                      <a:endParaRPr lang="zh-TW" altLang="en-US" sz="2400" dirty="0"/>
                    </a:p>
                  </a:txBody>
                  <a:tcPr/>
                </a:tc>
                <a:tc>
                  <a:txBody>
                    <a:bodyPr/>
                    <a:lstStyle/>
                    <a:p>
                      <a:pPr algn="ctr"/>
                      <a:endParaRPr lang="zh-TW" altLang="en-US" sz="2400" dirty="0"/>
                    </a:p>
                  </a:txBody>
                  <a:tcPr/>
                </a:tc>
                <a:tc>
                  <a:txBody>
                    <a:bodyPr/>
                    <a:lstStyle/>
                    <a:p>
                      <a:pPr algn="ctr"/>
                      <a:endParaRPr lang="zh-TW" altLang="en-US" sz="2400" dirty="0"/>
                    </a:p>
                  </a:txBody>
                  <a:tcPr/>
                </a:tc>
                <a:tc>
                  <a:txBody>
                    <a:bodyPr/>
                    <a:lstStyle/>
                    <a:p>
                      <a:pPr algn="ctr"/>
                      <a:endParaRPr lang="zh-TW" altLang="en-US" sz="2400" dirty="0"/>
                    </a:p>
                  </a:txBody>
                  <a:tcPr/>
                </a:tc>
                <a:tc>
                  <a:txBody>
                    <a:bodyPr/>
                    <a:lstStyle/>
                    <a:p>
                      <a:pPr algn="ctr"/>
                      <a:endParaRPr lang="zh-TW" altLang="en-US" sz="2400" dirty="0"/>
                    </a:p>
                  </a:txBody>
                  <a:tcPr/>
                </a:tc>
              </a:tr>
              <a:tr h="585154">
                <a:tc>
                  <a:txBody>
                    <a:bodyPr/>
                    <a:lstStyle/>
                    <a:p>
                      <a:pPr algn="ctr"/>
                      <a:r>
                        <a:rPr lang="en-US" altLang="zh-TW" dirty="0" smtClean="0"/>
                        <a:t>A</a:t>
                      </a:r>
                      <a:endParaRPr lang="zh-TW" altLang="en-US" dirty="0"/>
                    </a:p>
                  </a:txBody>
                  <a:tcPr/>
                </a:tc>
                <a:tc>
                  <a:txBody>
                    <a:bodyPr/>
                    <a:lstStyle/>
                    <a:p>
                      <a:pPr algn="ctr"/>
                      <a:r>
                        <a:rPr lang="en-US" altLang="zh-TW" sz="2400" dirty="0" smtClean="0"/>
                        <a:t>2</a:t>
                      </a:r>
                      <a:endParaRPr lang="zh-TW" altLang="en-US" sz="2400" dirty="0"/>
                    </a:p>
                  </a:txBody>
                  <a:tcPr/>
                </a:tc>
                <a:tc>
                  <a:txBody>
                    <a:bodyPr/>
                    <a:lstStyle/>
                    <a:p>
                      <a:pPr algn="ctr"/>
                      <a:r>
                        <a:rPr lang="en-US" altLang="zh-TW" sz="2400" dirty="0" smtClean="0">
                          <a:solidFill>
                            <a:srgbClr val="FF0000"/>
                          </a:solidFill>
                        </a:rPr>
                        <a:t>0</a:t>
                      </a:r>
                      <a:endParaRPr lang="zh-TW" altLang="en-US" sz="2400" dirty="0">
                        <a:solidFill>
                          <a:srgbClr val="FF0000"/>
                        </a:solidFill>
                      </a:endParaRPr>
                    </a:p>
                  </a:txBody>
                  <a:tcPr/>
                </a:tc>
                <a:tc>
                  <a:txBody>
                    <a:bodyPr/>
                    <a:lstStyle/>
                    <a:p>
                      <a:pPr algn="ctr"/>
                      <a:endParaRPr lang="zh-TW" altLang="en-US" sz="2400" dirty="0"/>
                    </a:p>
                  </a:txBody>
                  <a:tcPr/>
                </a:tc>
                <a:tc>
                  <a:txBody>
                    <a:bodyPr/>
                    <a:lstStyle/>
                    <a:p>
                      <a:pPr algn="ctr"/>
                      <a:endParaRPr lang="zh-TW" altLang="en-US" sz="2400" dirty="0"/>
                    </a:p>
                  </a:txBody>
                  <a:tcPr/>
                </a:tc>
                <a:tc>
                  <a:txBody>
                    <a:bodyPr/>
                    <a:lstStyle/>
                    <a:p>
                      <a:pPr algn="ctr"/>
                      <a:endParaRPr lang="zh-TW" altLang="en-US" sz="2400" dirty="0"/>
                    </a:p>
                  </a:txBody>
                  <a:tcPr/>
                </a:tc>
                <a:tc>
                  <a:txBody>
                    <a:bodyPr/>
                    <a:lstStyle/>
                    <a:p>
                      <a:pPr algn="ctr"/>
                      <a:endParaRPr lang="zh-TW" altLang="en-US" sz="2400" dirty="0"/>
                    </a:p>
                  </a:txBody>
                  <a:tcPr/>
                </a:tc>
              </a:tr>
              <a:tr h="585154">
                <a:tc>
                  <a:txBody>
                    <a:bodyPr/>
                    <a:lstStyle/>
                    <a:p>
                      <a:pPr algn="ctr"/>
                      <a:r>
                        <a:rPr lang="en-US" altLang="zh-TW" dirty="0" smtClean="0"/>
                        <a:t>C</a:t>
                      </a:r>
                      <a:endParaRPr lang="zh-TW" altLang="en-US" dirty="0"/>
                    </a:p>
                  </a:txBody>
                  <a:tcPr/>
                </a:tc>
                <a:tc>
                  <a:txBody>
                    <a:bodyPr/>
                    <a:lstStyle/>
                    <a:p>
                      <a:pPr algn="ctr"/>
                      <a:endParaRPr lang="zh-TW" altLang="en-US" sz="2400" dirty="0"/>
                    </a:p>
                  </a:txBody>
                  <a:tcPr/>
                </a:tc>
                <a:tc>
                  <a:txBody>
                    <a:bodyPr/>
                    <a:lstStyle/>
                    <a:p>
                      <a:pPr algn="ctr"/>
                      <a:endParaRPr lang="zh-TW" altLang="en-US" sz="2400" dirty="0"/>
                    </a:p>
                  </a:txBody>
                  <a:tcPr/>
                </a:tc>
                <a:tc>
                  <a:txBody>
                    <a:bodyPr/>
                    <a:lstStyle/>
                    <a:p>
                      <a:pPr algn="ctr"/>
                      <a:endParaRPr lang="zh-TW" altLang="en-US" sz="2400" dirty="0"/>
                    </a:p>
                  </a:txBody>
                  <a:tcPr/>
                </a:tc>
                <a:tc>
                  <a:txBody>
                    <a:bodyPr/>
                    <a:lstStyle/>
                    <a:p>
                      <a:pPr algn="ctr"/>
                      <a:endParaRPr lang="zh-TW" altLang="en-US" sz="2400" dirty="0"/>
                    </a:p>
                  </a:txBody>
                  <a:tcPr/>
                </a:tc>
                <a:tc>
                  <a:txBody>
                    <a:bodyPr/>
                    <a:lstStyle/>
                    <a:p>
                      <a:pPr algn="ctr"/>
                      <a:endParaRPr lang="zh-TW" altLang="en-US" sz="2400" dirty="0"/>
                    </a:p>
                  </a:txBody>
                  <a:tcPr/>
                </a:tc>
                <a:tc>
                  <a:txBody>
                    <a:bodyPr/>
                    <a:lstStyle/>
                    <a:p>
                      <a:pPr algn="ctr"/>
                      <a:endParaRPr lang="zh-TW" altLang="en-US" sz="2400" dirty="0"/>
                    </a:p>
                  </a:txBody>
                  <a:tcPr/>
                </a:tc>
              </a:tr>
              <a:tr h="585154">
                <a:tc>
                  <a:txBody>
                    <a:bodyPr/>
                    <a:lstStyle/>
                    <a:p>
                      <a:pPr algn="ctr"/>
                      <a:r>
                        <a:rPr lang="en-US" altLang="zh-TW" dirty="0" smtClean="0"/>
                        <a:t>A</a:t>
                      </a:r>
                      <a:endParaRPr lang="zh-TW" altLang="en-US" dirty="0"/>
                    </a:p>
                  </a:txBody>
                  <a:tcPr/>
                </a:tc>
                <a:tc>
                  <a:txBody>
                    <a:bodyPr/>
                    <a:lstStyle/>
                    <a:p>
                      <a:pPr algn="ctr"/>
                      <a:endParaRPr lang="zh-TW" altLang="en-US" sz="2400" dirty="0"/>
                    </a:p>
                  </a:txBody>
                  <a:tcPr/>
                </a:tc>
                <a:tc>
                  <a:txBody>
                    <a:bodyPr/>
                    <a:lstStyle/>
                    <a:p>
                      <a:pPr algn="ctr"/>
                      <a:endParaRPr lang="zh-TW" altLang="en-US" sz="2400" dirty="0"/>
                    </a:p>
                  </a:txBody>
                  <a:tcPr/>
                </a:tc>
                <a:tc>
                  <a:txBody>
                    <a:bodyPr/>
                    <a:lstStyle/>
                    <a:p>
                      <a:pPr algn="ctr"/>
                      <a:endParaRPr lang="zh-TW" altLang="en-US" sz="2400" dirty="0"/>
                    </a:p>
                  </a:txBody>
                  <a:tcPr/>
                </a:tc>
                <a:tc>
                  <a:txBody>
                    <a:bodyPr/>
                    <a:lstStyle/>
                    <a:p>
                      <a:pPr algn="ctr"/>
                      <a:endParaRPr lang="zh-TW" altLang="en-US" sz="2400" dirty="0"/>
                    </a:p>
                  </a:txBody>
                  <a:tcPr/>
                </a:tc>
                <a:tc>
                  <a:txBody>
                    <a:bodyPr/>
                    <a:lstStyle/>
                    <a:p>
                      <a:pPr algn="ctr"/>
                      <a:endParaRPr lang="zh-TW" altLang="en-US" sz="2400" dirty="0"/>
                    </a:p>
                  </a:txBody>
                  <a:tcPr/>
                </a:tc>
                <a:tc>
                  <a:txBody>
                    <a:bodyPr/>
                    <a:lstStyle/>
                    <a:p>
                      <a:pPr algn="ctr"/>
                      <a:endParaRPr lang="zh-TW" altLang="en-US" sz="2400" dirty="0"/>
                    </a:p>
                  </a:txBody>
                  <a:tcPr/>
                </a:tc>
              </a:tr>
              <a:tr h="585154">
                <a:tc>
                  <a:txBody>
                    <a:bodyPr/>
                    <a:lstStyle/>
                    <a:p>
                      <a:pPr algn="ctr"/>
                      <a:r>
                        <a:rPr lang="en-US" altLang="zh-TW" dirty="0" smtClean="0"/>
                        <a:t>G</a:t>
                      </a:r>
                      <a:endParaRPr lang="zh-TW" altLang="en-US" dirty="0"/>
                    </a:p>
                  </a:txBody>
                  <a:tcPr/>
                </a:tc>
                <a:tc>
                  <a:txBody>
                    <a:bodyPr/>
                    <a:lstStyle/>
                    <a:p>
                      <a:pPr algn="ctr"/>
                      <a:endParaRPr lang="zh-TW" altLang="en-US" sz="2400" dirty="0"/>
                    </a:p>
                  </a:txBody>
                  <a:tcPr/>
                </a:tc>
                <a:tc>
                  <a:txBody>
                    <a:bodyPr/>
                    <a:lstStyle/>
                    <a:p>
                      <a:pPr algn="ctr"/>
                      <a:endParaRPr lang="zh-TW" altLang="en-US" sz="2400" dirty="0"/>
                    </a:p>
                  </a:txBody>
                  <a:tcPr/>
                </a:tc>
                <a:tc>
                  <a:txBody>
                    <a:bodyPr/>
                    <a:lstStyle/>
                    <a:p>
                      <a:pPr algn="ctr"/>
                      <a:endParaRPr lang="zh-TW" altLang="en-US" sz="2400" dirty="0"/>
                    </a:p>
                  </a:txBody>
                  <a:tcPr/>
                </a:tc>
                <a:tc>
                  <a:txBody>
                    <a:bodyPr/>
                    <a:lstStyle/>
                    <a:p>
                      <a:pPr algn="ctr"/>
                      <a:endParaRPr lang="zh-TW" altLang="en-US" sz="2400" dirty="0"/>
                    </a:p>
                  </a:txBody>
                  <a:tcPr/>
                </a:tc>
                <a:tc>
                  <a:txBody>
                    <a:bodyPr/>
                    <a:lstStyle/>
                    <a:p>
                      <a:pPr algn="ctr"/>
                      <a:endParaRPr lang="zh-TW" altLang="en-US" sz="2400" dirty="0"/>
                    </a:p>
                  </a:txBody>
                  <a:tcPr/>
                </a:tc>
                <a:tc>
                  <a:txBody>
                    <a:bodyPr/>
                    <a:lstStyle/>
                    <a:p>
                      <a:pPr algn="ctr"/>
                      <a:endParaRPr lang="zh-TW" altLang="en-US" sz="2400" dirty="0"/>
                    </a:p>
                  </a:txBody>
                  <a:tcPr/>
                </a:tc>
              </a:tr>
              <a:tr h="585154">
                <a:tc>
                  <a:txBody>
                    <a:bodyPr/>
                    <a:lstStyle/>
                    <a:p>
                      <a:pPr algn="ctr"/>
                      <a:r>
                        <a:rPr lang="en-US" altLang="zh-TW" dirty="0" smtClean="0"/>
                        <a:t>C</a:t>
                      </a:r>
                      <a:endParaRPr lang="zh-TW" altLang="en-US" dirty="0"/>
                    </a:p>
                  </a:txBody>
                  <a:tcPr/>
                </a:tc>
                <a:tc>
                  <a:txBody>
                    <a:bodyPr/>
                    <a:lstStyle/>
                    <a:p>
                      <a:pPr algn="ctr"/>
                      <a:endParaRPr lang="zh-TW" altLang="en-US" sz="2400" dirty="0"/>
                    </a:p>
                  </a:txBody>
                  <a:tcPr/>
                </a:tc>
                <a:tc>
                  <a:txBody>
                    <a:bodyPr/>
                    <a:lstStyle/>
                    <a:p>
                      <a:pPr algn="ctr"/>
                      <a:endParaRPr lang="zh-TW" altLang="en-US" sz="2400" dirty="0"/>
                    </a:p>
                  </a:txBody>
                  <a:tcPr/>
                </a:tc>
                <a:tc>
                  <a:txBody>
                    <a:bodyPr/>
                    <a:lstStyle/>
                    <a:p>
                      <a:pPr algn="ctr"/>
                      <a:endParaRPr lang="zh-TW" altLang="en-US" sz="2400" dirty="0"/>
                    </a:p>
                  </a:txBody>
                  <a:tcPr/>
                </a:tc>
                <a:tc>
                  <a:txBody>
                    <a:bodyPr/>
                    <a:lstStyle/>
                    <a:p>
                      <a:pPr algn="ctr"/>
                      <a:endParaRPr lang="zh-TW" altLang="en-US" sz="2400" dirty="0"/>
                    </a:p>
                  </a:txBody>
                  <a:tcPr/>
                </a:tc>
                <a:tc>
                  <a:txBody>
                    <a:bodyPr/>
                    <a:lstStyle/>
                    <a:p>
                      <a:pPr algn="ctr"/>
                      <a:endParaRPr lang="zh-TW" altLang="en-US" sz="2400" dirty="0"/>
                    </a:p>
                  </a:txBody>
                  <a:tcPr/>
                </a:tc>
                <a:tc>
                  <a:txBody>
                    <a:bodyPr/>
                    <a:lstStyle/>
                    <a:p>
                      <a:pPr algn="ctr"/>
                      <a:endParaRPr lang="zh-TW" altLang="en-US" sz="2400" dirty="0"/>
                    </a:p>
                  </a:txBody>
                  <a:tcPr/>
                </a:tc>
              </a:tr>
            </a:tbl>
          </a:graphicData>
        </a:graphic>
      </p:graphicFrame>
      <p:sp>
        <p:nvSpPr>
          <p:cNvPr id="9" name="文字方塊 8"/>
          <p:cNvSpPr txBox="1"/>
          <p:nvPr/>
        </p:nvSpPr>
        <p:spPr>
          <a:xfrm>
            <a:off x="785786" y="1285860"/>
            <a:ext cx="821059" cy="461665"/>
          </a:xfrm>
          <a:prstGeom prst="rect">
            <a:avLst/>
          </a:prstGeom>
          <a:noFill/>
        </p:spPr>
        <p:txBody>
          <a:bodyPr wrap="none" rtlCol="0">
            <a:spAutoFit/>
          </a:bodyPr>
          <a:lstStyle/>
          <a:p>
            <a:r>
              <a:rPr lang="en-US" altLang="zh-TW" sz="2400" dirty="0" smtClean="0">
                <a:solidFill>
                  <a:srgbClr val="FF0000"/>
                </a:solidFill>
              </a:rPr>
              <a:t>D = 0</a:t>
            </a:r>
            <a:endParaRPr lang="zh-TW" altLang="en-US" sz="2400" dirty="0">
              <a:solidFill>
                <a:srgbClr val="FF0000"/>
              </a:solidFill>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4"/>
            <a:ext cx="8229600" cy="1143000"/>
          </a:xfrm>
        </p:spPr>
        <p:txBody>
          <a:bodyPr/>
          <a:lstStyle/>
          <a:p>
            <a:pPr algn="l"/>
            <a:r>
              <a:rPr lang="en-US" altLang="zh-TW" dirty="0" smtClean="0">
                <a:latin typeface="Times New Roman" pitchFamily="18" charset="0"/>
                <a:cs typeface="Times New Roman" pitchFamily="18" charset="0"/>
              </a:rPr>
              <a:t>Algorithm </a:t>
            </a:r>
            <a:endParaRPr lang="zh-TW" altLang="en-US" dirty="0">
              <a:latin typeface="Times New Roman" pitchFamily="18" charset="0"/>
              <a:cs typeface="Times New Roman" pitchFamily="18" charset="0"/>
            </a:endParaRPr>
          </a:p>
        </p:txBody>
      </p:sp>
      <p:sp>
        <p:nvSpPr>
          <p:cNvPr id="6" name="文字方塊 5"/>
          <p:cNvSpPr txBox="1"/>
          <p:nvPr/>
        </p:nvSpPr>
        <p:spPr>
          <a:xfrm>
            <a:off x="3929058" y="285728"/>
            <a:ext cx="3000396" cy="1200329"/>
          </a:xfrm>
          <a:prstGeom prst="rect">
            <a:avLst/>
          </a:prstGeom>
          <a:noFill/>
        </p:spPr>
        <p:txBody>
          <a:bodyPr wrap="square" rtlCol="0">
            <a:spAutoFit/>
          </a:bodyPr>
          <a:lstStyle/>
          <a:p>
            <a:r>
              <a:rPr lang="en-US" altLang="zh-TW" sz="2400" dirty="0" smtClean="0">
                <a:latin typeface="Times New Roman" pitchFamily="18" charset="0"/>
                <a:cs typeface="Times New Roman" pitchFamily="18" charset="0"/>
              </a:rPr>
              <a:t>Match	       : 0</a:t>
            </a:r>
          </a:p>
          <a:p>
            <a:r>
              <a:rPr lang="en-US" altLang="zh-TW" sz="2400" dirty="0" smtClean="0">
                <a:latin typeface="Times New Roman" pitchFamily="18" charset="0"/>
                <a:cs typeface="Times New Roman" pitchFamily="18" charset="0"/>
              </a:rPr>
              <a:t>Mismatch   : 1</a:t>
            </a:r>
          </a:p>
          <a:p>
            <a:r>
              <a:rPr lang="en-US" altLang="zh-TW" sz="2400" dirty="0" smtClean="0">
                <a:latin typeface="Times New Roman" pitchFamily="18" charset="0"/>
                <a:cs typeface="Times New Roman" pitchFamily="18" charset="0"/>
              </a:rPr>
              <a:t>Gap	       : 2</a:t>
            </a:r>
            <a:endParaRPr lang="zh-TW" altLang="en-US" sz="2400" dirty="0">
              <a:latin typeface="Times New Roman" pitchFamily="18" charset="0"/>
              <a:cs typeface="Times New Roman" pitchFamily="18" charset="0"/>
            </a:endParaRPr>
          </a:p>
        </p:txBody>
      </p:sp>
      <p:graphicFrame>
        <p:nvGraphicFramePr>
          <p:cNvPr id="7" name="表格 6"/>
          <p:cNvGraphicFramePr>
            <a:graphicFrameLocks noGrp="1"/>
          </p:cNvGraphicFramePr>
          <p:nvPr/>
        </p:nvGraphicFramePr>
        <p:xfrm>
          <a:off x="642910" y="1785926"/>
          <a:ext cx="8001056" cy="4096078"/>
        </p:xfrm>
        <a:graphic>
          <a:graphicData uri="http://schemas.openxmlformats.org/drawingml/2006/table">
            <a:tbl>
              <a:tblPr firstRow="1" firstCol="1" bandRow="1">
                <a:tableStyleId>{5C22544A-7EE6-4342-B048-85BDC9FD1C3A}</a:tableStyleId>
              </a:tblPr>
              <a:tblGrid>
                <a:gridCol w="1143008"/>
                <a:gridCol w="1143008"/>
                <a:gridCol w="1143008"/>
                <a:gridCol w="1143008"/>
                <a:gridCol w="1143008"/>
                <a:gridCol w="1143008"/>
                <a:gridCol w="1143008"/>
              </a:tblGrid>
              <a:tr h="585154">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smtClean="0"/>
                        <a:t>A</a:t>
                      </a:r>
                      <a:endParaRPr lang="zh-TW" altLang="en-US" dirty="0"/>
                    </a:p>
                  </a:txBody>
                  <a:tcPr/>
                </a:tc>
                <a:tc>
                  <a:txBody>
                    <a:bodyPr/>
                    <a:lstStyle/>
                    <a:p>
                      <a:pPr algn="ctr"/>
                      <a:r>
                        <a:rPr lang="en-US" altLang="zh-TW" dirty="0" smtClean="0"/>
                        <a:t>C</a:t>
                      </a:r>
                      <a:endParaRPr lang="zh-TW" altLang="en-US" dirty="0"/>
                    </a:p>
                  </a:txBody>
                  <a:tcPr/>
                </a:tc>
                <a:tc>
                  <a:txBody>
                    <a:bodyPr/>
                    <a:lstStyle/>
                    <a:p>
                      <a:pPr algn="ctr"/>
                      <a:r>
                        <a:rPr lang="en-US" altLang="zh-TW" dirty="0" smtClean="0"/>
                        <a:t>G</a:t>
                      </a:r>
                      <a:endParaRPr lang="zh-TW" altLang="en-US" dirty="0"/>
                    </a:p>
                  </a:txBody>
                  <a:tcPr/>
                </a:tc>
                <a:tc>
                  <a:txBody>
                    <a:bodyPr/>
                    <a:lstStyle/>
                    <a:p>
                      <a:pPr algn="ctr"/>
                      <a:r>
                        <a:rPr lang="en-US" altLang="zh-TW" dirty="0" smtClean="0"/>
                        <a:t>A</a:t>
                      </a:r>
                      <a:endParaRPr lang="zh-TW" altLang="en-US" dirty="0"/>
                    </a:p>
                  </a:txBody>
                  <a:tcPr/>
                </a:tc>
                <a:tc>
                  <a:txBody>
                    <a:bodyPr/>
                    <a:lstStyle/>
                    <a:p>
                      <a:pPr algn="ctr"/>
                      <a:r>
                        <a:rPr lang="en-US" altLang="zh-TW" dirty="0" smtClean="0"/>
                        <a:t>C</a:t>
                      </a:r>
                      <a:endParaRPr lang="zh-TW" altLang="en-US" dirty="0"/>
                    </a:p>
                  </a:txBody>
                  <a:tcPr/>
                </a:tc>
              </a:tr>
              <a:tr h="585154">
                <a:tc>
                  <a:txBody>
                    <a:bodyPr/>
                    <a:lstStyle/>
                    <a:p>
                      <a:pPr algn="ctr"/>
                      <a:endParaRPr lang="zh-TW" altLang="en-US" dirty="0"/>
                    </a:p>
                  </a:txBody>
                  <a:tcPr/>
                </a:tc>
                <a:tc>
                  <a:txBody>
                    <a:bodyPr/>
                    <a:lstStyle/>
                    <a:p>
                      <a:pPr algn="ctr"/>
                      <a:r>
                        <a:rPr lang="en-US" altLang="zh-TW" sz="2400" dirty="0" smtClean="0"/>
                        <a:t>0</a:t>
                      </a:r>
                      <a:endParaRPr lang="zh-TW" altLang="en-US" sz="2400" dirty="0"/>
                    </a:p>
                  </a:txBody>
                  <a:tcPr/>
                </a:tc>
                <a:tc>
                  <a:txBody>
                    <a:bodyPr/>
                    <a:lstStyle/>
                    <a:p>
                      <a:pPr algn="ctr"/>
                      <a:r>
                        <a:rPr lang="en-US" altLang="zh-TW" sz="2400" dirty="0" smtClean="0"/>
                        <a:t>2</a:t>
                      </a:r>
                      <a:endParaRPr lang="zh-TW" altLang="en-US" sz="2400" dirty="0"/>
                    </a:p>
                  </a:txBody>
                  <a:tcPr/>
                </a:tc>
                <a:tc>
                  <a:txBody>
                    <a:bodyPr/>
                    <a:lstStyle/>
                    <a:p>
                      <a:pPr algn="ctr"/>
                      <a:endParaRPr lang="zh-TW" altLang="en-US" sz="2400" dirty="0"/>
                    </a:p>
                  </a:txBody>
                  <a:tcPr/>
                </a:tc>
                <a:tc>
                  <a:txBody>
                    <a:bodyPr/>
                    <a:lstStyle/>
                    <a:p>
                      <a:pPr algn="ctr"/>
                      <a:endParaRPr lang="zh-TW" altLang="en-US" sz="2400" dirty="0"/>
                    </a:p>
                  </a:txBody>
                  <a:tcPr/>
                </a:tc>
                <a:tc>
                  <a:txBody>
                    <a:bodyPr/>
                    <a:lstStyle/>
                    <a:p>
                      <a:pPr algn="ctr"/>
                      <a:endParaRPr lang="zh-TW" altLang="en-US" sz="2400" dirty="0"/>
                    </a:p>
                  </a:txBody>
                  <a:tcPr/>
                </a:tc>
                <a:tc>
                  <a:txBody>
                    <a:bodyPr/>
                    <a:lstStyle/>
                    <a:p>
                      <a:pPr algn="ctr"/>
                      <a:endParaRPr lang="zh-TW" altLang="en-US" sz="2400" dirty="0"/>
                    </a:p>
                  </a:txBody>
                  <a:tcPr/>
                </a:tc>
              </a:tr>
              <a:tr h="585154">
                <a:tc>
                  <a:txBody>
                    <a:bodyPr/>
                    <a:lstStyle/>
                    <a:p>
                      <a:pPr algn="ctr"/>
                      <a:r>
                        <a:rPr lang="en-US" altLang="zh-TW" dirty="0" smtClean="0"/>
                        <a:t>A</a:t>
                      </a:r>
                      <a:endParaRPr lang="zh-TW" altLang="en-US" dirty="0"/>
                    </a:p>
                  </a:txBody>
                  <a:tcPr/>
                </a:tc>
                <a:tc>
                  <a:txBody>
                    <a:bodyPr/>
                    <a:lstStyle/>
                    <a:p>
                      <a:pPr algn="ctr"/>
                      <a:r>
                        <a:rPr lang="en-US" altLang="zh-TW" sz="2400" dirty="0" smtClean="0"/>
                        <a:t>2</a:t>
                      </a:r>
                      <a:endParaRPr lang="zh-TW" altLang="en-US" sz="2400" dirty="0"/>
                    </a:p>
                  </a:txBody>
                  <a:tcPr/>
                </a:tc>
                <a:tc>
                  <a:txBody>
                    <a:bodyPr/>
                    <a:lstStyle/>
                    <a:p>
                      <a:pPr algn="ctr"/>
                      <a:r>
                        <a:rPr lang="en-US" altLang="zh-TW" sz="2400" dirty="0" smtClean="0"/>
                        <a:t>0</a:t>
                      </a:r>
                      <a:endParaRPr lang="zh-TW" altLang="en-US" sz="2400" dirty="0"/>
                    </a:p>
                  </a:txBody>
                  <a:tcPr/>
                </a:tc>
                <a:tc>
                  <a:txBody>
                    <a:bodyPr/>
                    <a:lstStyle/>
                    <a:p>
                      <a:pPr algn="ctr"/>
                      <a:r>
                        <a:rPr lang="en-US" altLang="zh-TW" sz="2400" dirty="0" smtClean="0"/>
                        <a:t>2</a:t>
                      </a:r>
                      <a:endParaRPr lang="zh-TW" altLang="en-US" sz="2400" dirty="0"/>
                    </a:p>
                  </a:txBody>
                  <a:tcPr/>
                </a:tc>
                <a:tc>
                  <a:txBody>
                    <a:bodyPr/>
                    <a:lstStyle/>
                    <a:p>
                      <a:pPr algn="ctr"/>
                      <a:endParaRPr lang="zh-TW" altLang="en-US" sz="2400" dirty="0"/>
                    </a:p>
                  </a:txBody>
                  <a:tcPr/>
                </a:tc>
                <a:tc>
                  <a:txBody>
                    <a:bodyPr/>
                    <a:lstStyle/>
                    <a:p>
                      <a:pPr algn="ctr"/>
                      <a:endParaRPr lang="zh-TW" altLang="en-US" sz="2400" dirty="0"/>
                    </a:p>
                  </a:txBody>
                  <a:tcPr/>
                </a:tc>
                <a:tc>
                  <a:txBody>
                    <a:bodyPr/>
                    <a:lstStyle/>
                    <a:p>
                      <a:pPr algn="ctr"/>
                      <a:endParaRPr lang="zh-TW" altLang="en-US" sz="2400" dirty="0"/>
                    </a:p>
                  </a:txBody>
                  <a:tcPr/>
                </a:tc>
              </a:tr>
              <a:tr h="585154">
                <a:tc>
                  <a:txBody>
                    <a:bodyPr/>
                    <a:lstStyle/>
                    <a:p>
                      <a:pPr algn="ctr"/>
                      <a:r>
                        <a:rPr lang="en-US" altLang="zh-TW" dirty="0" smtClean="0"/>
                        <a:t>C</a:t>
                      </a:r>
                      <a:endParaRPr lang="zh-TW" altLang="en-US" dirty="0"/>
                    </a:p>
                  </a:txBody>
                  <a:tcPr/>
                </a:tc>
                <a:tc>
                  <a:txBody>
                    <a:bodyPr/>
                    <a:lstStyle/>
                    <a:p>
                      <a:pPr algn="ctr"/>
                      <a:endParaRPr lang="zh-TW" altLang="en-US" sz="2400" dirty="0"/>
                    </a:p>
                  </a:txBody>
                  <a:tcPr/>
                </a:tc>
                <a:tc>
                  <a:txBody>
                    <a:bodyPr/>
                    <a:lstStyle/>
                    <a:p>
                      <a:pPr algn="ctr"/>
                      <a:r>
                        <a:rPr lang="en-US" altLang="zh-TW" sz="2400" dirty="0" smtClean="0"/>
                        <a:t>2</a:t>
                      </a:r>
                      <a:endParaRPr lang="zh-TW" altLang="en-US" sz="2400" dirty="0"/>
                    </a:p>
                  </a:txBody>
                  <a:tcPr/>
                </a:tc>
                <a:tc>
                  <a:txBody>
                    <a:bodyPr/>
                    <a:lstStyle/>
                    <a:p>
                      <a:pPr algn="ctr"/>
                      <a:r>
                        <a:rPr lang="en-US" altLang="zh-TW" sz="2400" dirty="0" smtClean="0">
                          <a:solidFill>
                            <a:srgbClr val="FF0000"/>
                          </a:solidFill>
                        </a:rPr>
                        <a:t>0</a:t>
                      </a:r>
                      <a:endParaRPr lang="zh-TW" altLang="en-US" sz="2400" dirty="0">
                        <a:solidFill>
                          <a:srgbClr val="FF0000"/>
                        </a:solidFill>
                      </a:endParaRPr>
                    </a:p>
                  </a:txBody>
                  <a:tcPr/>
                </a:tc>
                <a:tc>
                  <a:txBody>
                    <a:bodyPr/>
                    <a:lstStyle/>
                    <a:p>
                      <a:pPr algn="ctr"/>
                      <a:endParaRPr lang="zh-TW" altLang="en-US" sz="2400" dirty="0"/>
                    </a:p>
                  </a:txBody>
                  <a:tcPr/>
                </a:tc>
                <a:tc>
                  <a:txBody>
                    <a:bodyPr/>
                    <a:lstStyle/>
                    <a:p>
                      <a:pPr algn="ctr"/>
                      <a:endParaRPr lang="zh-TW" altLang="en-US" sz="2400" dirty="0"/>
                    </a:p>
                  </a:txBody>
                  <a:tcPr/>
                </a:tc>
                <a:tc>
                  <a:txBody>
                    <a:bodyPr/>
                    <a:lstStyle/>
                    <a:p>
                      <a:pPr algn="ctr"/>
                      <a:endParaRPr lang="zh-TW" altLang="en-US" sz="2400" dirty="0"/>
                    </a:p>
                  </a:txBody>
                  <a:tcPr/>
                </a:tc>
              </a:tr>
              <a:tr h="585154">
                <a:tc>
                  <a:txBody>
                    <a:bodyPr/>
                    <a:lstStyle/>
                    <a:p>
                      <a:pPr algn="ctr"/>
                      <a:r>
                        <a:rPr lang="en-US" altLang="zh-TW" dirty="0" smtClean="0"/>
                        <a:t>A</a:t>
                      </a:r>
                      <a:endParaRPr lang="zh-TW" altLang="en-US" dirty="0"/>
                    </a:p>
                  </a:txBody>
                  <a:tcPr/>
                </a:tc>
                <a:tc>
                  <a:txBody>
                    <a:bodyPr/>
                    <a:lstStyle/>
                    <a:p>
                      <a:pPr algn="ctr"/>
                      <a:endParaRPr lang="zh-TW" altLang="en-US" sz="2400" dirty="0"/>
                    </a:p>
                  </a:txBody>
                  <a:tcPr/>
                </a:tc>
                <a:tc>
                  <a:txBody>
                    <a:bodyPr/>
                    <a:lstStyle/>
                    <a:p>
                      <a:pPr algn="ctr"/>
                      <a:endParaRPr lang="zh-TW" altLang="en-US" sz="2400" dirty="0"/>
                    </a:p>
                  </a:txBody>
                  <a:tcPr/>
                </a:tc>
                <a:tc>
                  <a:txBody>
                    <a:bodyPr/>
                    <a:lstStyle/>
                    <a:p>
                      <a:pPr algn="ctr"/>
                      <a:endParaRPr lang="zh-TW" altLang="en-US" sz="2400" dirty="0"/>
                    </a:p>
                  </a:txBody>
                  <a:tcPr/>
                </a:tc>
                <a:tc>
                  <a:txBody>
                    <a:bodyPr/>
                    <a:lstStyle/>
                    <a:p>
                      <a:pPr algn="ctr"/>
                      <a:endParaRPr lang="zh-TW" altLang="en-US" sz="2400" dirty="0"/>
                    </a:p>
                  </a:txBody>
                  <a:tcPr/>
                </a:tc>
                <a:tc>
                  <a:txBody>
                    <a:bodyPr/>
                    <a:lstStyle/>
                    <a:p>
                      <a:pPr algn="ctr"/>
                      <a:endParaRPr lang="zh-TW" altLang="en-US" sz="2400" dirty="0"/>
                    </a:p>
                  </a:txBody>
                  <a:tcPr/>
                </a:tc>
                <a:tc>
                  <a:txBody>
                    <a:bodyPr/>
                    <a:lstStyle/>
                    <a:p>
                      <a:pPr algn="ctr"/>
                      <a:endParaRPr lang="zh-TW" altLang="en-US" sz="2400" dirty="0"/>
                    </a:p>
                  </a:txBody>
                  <a:tcPr/>
                </a:tc>
              </a:tr>
              <a:tr h="585154">
                <a:tc>
                  <a:txBody>
                    <a:bodyPr/>
                    <a:lstStyle/>
                    <a:p>
                      <a:pPr algn="ctr"/>
                      <a:r>
                        <a:rPr lang="en-US" altLang="zh-TW" dirty="0" smtClean="0"/>
                        <a:t>G</a:t>
                      </a:r>
                      <a:endParaRPr lang="zh-TW" altLang="en-US" dirty="0"/>
                    </a:p>
                  </a:txBody>
                  <a:tcPr/>
                </a:tc>
                <a:tc>
                  <a:txBody>
                    <a:bodyPr/>
                    <a:lstStyle/>
                    <a:p>
                      <a:pPr algn="ctr"/>
                      <a:endParaRPr lang="zh-TW" altLang="en-US" sz="2400" dirty="0"/>
                    </a:p>
                  </a:txBody>
                  <a:tcPr/>
                </a:tc>
                <a:tc>
                  <a:txBody>
                    <a:bodyPr/>
                    <a:lstStyle/>
                    <a:p>
                      <a:pPr algn="ctr"/>
                      <a:endParaRPr lang="zh-TW" altLang="en-US" sz="2400" dirty="0"/>
                    </a:p>
                  </a:txBody>
                  <a:tcPr/>
                </a:tc>
                <a:tc>
                  <a:txBody>
                    <a:bodyPr/>
                    <a:lstStyle/>
                    <a:p>
                      <a:pPr algn="ctr"/>
                      <a:endParaRPr lang="zh-TW" altLang="en-US" sz="2400" dirty="0"/>
                    </a:p>
                  </a:txBody>
                  <a:tcPr/>
                </a:tc>
                <a:tc>
                  <a:txBody>
                    <a:bodyPr/>
                    <a:lstStyle/>
                    <a:p>
                      <a:pPr algn="ctr"/>
                      <a:endParaRPr lang="zh-TW" altLang="en-US" sz="2400" dirty="0"/>
                    </a:p>
                  </a:txBody>
                  <a:tcPr/>
                </a:tc>
                <a:tc>
                  <a:txBody>
                    <a:bodyPr/>
                    <a:lstStyle/>
                    <a:p>
                      <a:pPr algn="ctr"/>
                      <a:endParaRPr lang="zh-TW" altLang="en-US" sz="2400" dirty="0"/>
                    </a:p>
                  </a:txBody>
                  <a:tcPr/>
                </a:tc>
                <a:tc>
                  <a:txBody>
                    <a:bodyPr/>
                    <a:lstStyle/>
                    <a:p>
                      <a:pPr algn="ctr"/>
                      <a:endParaRPr lang="zh-TW" altLang="en-US" sz="2400" dirty="0"/>
                    </a:p>
                  </a:txBody>
                  <a:tcPr/>
                </a:tc>
              </a:tr>
              <a:tr h="585154">
                <a:tc>
                  <a:txBody>
                    <a:bodyPr/>
                    <a:lstStyle/>
                    <a:p>
                      <a:pPr algn="ctr"/>
                      <a:r>
                        <a:rPr lang="en-US" altLang="zh-TW" dirty="0" smtClean="0"/>
                        <a:t>C</a:t>
                      </a:r>
                      <a:endParaRPr lang="zh-TW" altLang="en-US" dirty="0"/>
                    </a:p>
                  </a:txBody>
                  <a:tcPr/>
                </a:tc>
                <a:tc>
                  <a:txBody>
                    <a:bodyPr/>
                    <a:lstStyle/>
                    <a:p>
                      <a:pPr algn="ctr"/>
                      <a:endParaRPr lang="zh-TW" altLang="en-US" sz="2400" dirty="0"/>
                    </a:p>
                  </a:txBody>
                  <a:tcPr/>
                </a:tc>
                <a:tc>
                  <a:txBody>
                    <a:bodyPr/>
                    <a:lstStyle/>
                    <a:p>
                      <a:pPr algn="ctr"/>
                      <a:endParaRPr lang="zh-TW" altLang="en-US" sz="2400" dirty="0"/>
                    </a:p>
                  </a:txBody>
                  <a:tcPr/>
                </a:tc>
                <a:tc>
                  <a:txBody>
                    <a:bodyPr/>
                    <a:lstStyle/>
                    <a:p>
                      <a:pPr algn="ctr"/>
                      <a:endParaRPr lang="zh-TW" altLang="en-US" sz="2400" dirty="0"/>
                    </a:p>
                  </a:txBody>
                  <a:tcPr/>
                </a:tc>
                <a:tc>
                  <a:txBody>
                    <a:bodyPr/>
                    <a:lstStyle/>
                    <a:p>
                      <a:pPr algn="ctr"/>
                      <a:endParaRPr lang="zh-TW" altLang="en-US" sz="2400" dirty="0"/>
                    </a:p>
                  </a:txBody>
                  <a:tcPr/>
                </a:tc>
                <a:tc>
                  <a:txBody>
                    <a:bodyPr/>
                    <a:lstStyle/>
                    <a:p>
                      <a:pPr algn="ctr"/>
                      <a:endParaRPr lang="zh-TW" altLang="en-US" sz="2400" dirty="0"/>
                    </a:p>
                  </a:txBody>
                  <a:tcPr/>
                </a:tc>
                <a:tc>
                  <a:txBody>
                    <a:bodyPr/>
                    <a:lstStyle/>
                    <a:p>
                      <a:pPr algn="ctr"/>
                      <a:endParaRPr lang="zh-TW" altLang="en-US" sz="2400" dirty="0"/>
                    </a:p>
                  </a:txBody>
                  <a:tcPr/>
                </a:tc>
              </a:tr>
            </a:tbl>
          </a:graphicData>
        </a:graphic>
      </p:graphicFrame>
      <p:sp>
        <p:nvSpPr>
          <p:cNvPr id="8" name="文字方塊 7"/>
          <p:cNvSpPr txBox="1"/>
          <p:nvPr/>
        </p:nvSpPr>
        <p:spPr>
          <a:xfrm>
            <a:off x="785786" y="1285860"/>
            <a:ext cx="821059" cy="461665"/>
          </a:xfrm>
          <a:prstGeom prst="rect">
            <a:avLst/>
          </a:prstGeom>
          <a:noFill/>
        </p:spPr>
        <p:txBody>
          <a:bodyPr wrap="none" rtlCol="0">
            <a:spAutoFit/>
          </a:bodyPr>
          <a:lstStyle/>
          <a:p>
            <a:r>
              <a:rPr lang="en-US" altLang="zh-TW" sz="2400" dirty="0" smtClean="0">
                <a:solidFill>
                  <a:srgbClr val="FF0000"/>
                </a:solidFill>
              </a:rPr>
              <a:t>D = 0</a:t>
            </a:r>
            <a:endParaRPr lang="zh-TW" altLang="en-US" sz="2400" dirty="0">
              <a:solidFill>
                <a:srgbClr val="FF0000"/>
              </a:solidFill>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4"/>
            <a:ext cx="8229600" cy="1143000"/>
          </a:xfrm>
        </p:spPr>
        <p:txBody>
          <a:bodyPr/>
          <a:lstStyle/>
          <a:p>
            <a:pPr algn="l"/>
            <a:r>
              <a:rPr lang="en-US" altLang="zh-TW" dirty="0" smtClean="0">
                <a:latin typeface="Times New Roman" pitchFamily="18" charset="0"/>
                <a:cs typeface="Times New Roman" pitchFamily="18" charset="0"/>
              </a:rPr>
              <a:t>Algorithm </a:t>
            </a:r>
            <a:endParaRPr lang="zh-TW" altLang="en-US" dirty="0">
              <a:latin typeface="Times New Roman" pitchFamily="18" charset="0"/>
              <a:cs typeface="Times New Roman" pitchFamily="18" charset="0"/>
            </a:endParaRPr>
          </a:p>
        </p:txBody>
      </p:sp>
      <p:sp>
        <p:nvSpPr>
          <p:cNvPr id="6" name="文字方塊 5"/>
          <p:cNvSpPr txBox="1"/>
          <p:nvPr/>
        </p:nvSpPr>
        <p:spPr>
          <a:xfrm>
            <a:off x="3929058" y="285728"/>
            <a:ext cx="3000396" cy="1200329"/>
          </a:xfrm>
          <a:prstGeom prst="rect">
            <a:avLst/>
          </a:prstGeom>
          <a:noFill/>
        </p:spPr>
        <p:txBody>
          <a:bodyPr wrap="square" rtlCol="0">
            <a:spAutoFit/>
          </a:bodyPr>
          <a:lstStyle/>
          <a:p>
            <a:r>
              <a:rPr lang="en-US" altLang="zh-TW" sz="2400" dirty="0" smtClean="0">
                <a:latin typeface="Times New Roman" pitchFamily="18" charset="0"/>
                <a:cs typeface="Times New Roman" pitchFamily="18" charset="0"/>
              </a:rPr>
              <a:t>Match	       : 0</a:t>
            </a:r>
          </a:p>
          <a:p>
            <a:r>
              <a:rPr lang="en-US" altLang="zh-TW" sz="2400" dirty="0" smtClean="0">
                <a:latin typeface="Times New Roman" pitchFamily="18" charset="0"/>
                <a:cs typeface="Times New Roman" pitchFamily="18" charset="0"/>
              </a:rPr>
              <a:t>Mismatch   : 1</a:t>
            </a:r>
          </a:p>
          <a:p>
            <a:r>
              <a:rPr lang="en-US" altLang="zh-TW" sz="2400" dirty="0" smtClean="0">
                <a:latin typeface="Times New Roman" pitchFamily="18" charset="0"/>
                <a:cs typeface="Times New Roman" pitchFamily="18" charset="0"/>
              </a:rPr>
              <a:t>Gap	       : 2</a:t>
            </a:r>
            <a:endParaRPr lang="zh-TW" altLang="en-US" sz="2400" dirty="0">
              <a:latin typeface="Times New Roman" pitchFamily="18" charset="0"/>
              <a:cs typeface="Times New Roman" pitchFamily="18" charset="0"/>
            </a:endParaRPr>
          </a:p>
        </p:txBody>
      </p:sp>
      <p:graphicFrame>
        <p:nvGraphicFramePr>
          <p:cNvPr id="7" name="表格 6"/>
          <p:cNvGraphicFramePr>
            <a:graphicFrameLocks noGrp="1"/>
          </p:cNvGraphicFramePr>
          <p:nvPr/>
        </p:nvGraphicFramePr>
        <p:xfrm>
          <a:off x="642910" y="1785926"/>
          <a:ext cx="8001056" cy="4096078"/>
        </p:xfrm>
        <a:graphic>
          <a:graphicData uri="http://schemas.openxmlformats.org/drawingml/2006/table">
            <a:tbl>
              <a:tblPr firstRow="1" firstCol="1" bandRow="1">
                <a:tableStyleId>{5C22544A-7EE6-4342-B048-85BDC9FD1C3A}</a:tableStyleId>
              </a:tblPr>
              <a:tblGrid>
                <a:gridCol w="1143008"/>
                <a:gridCol w="1143008"/>
                <a:gridCol w="1143008"/>
                <a:gridCol w="1143008"/>
                <a:gridCol w="1143008"/>
                <a:gridCol w="1143008"/>
                <a:gridCol w="1143008"/>
              </a:tblGrid>
              <a:tr h="585154">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smtClean="0"/>
                        <a:t>A</a:t>
                      </a:r>
                      <a:endParaRPr lang="zh-TW" altLang="en-US" dirty="0"/>
                    </a:p>
                  </a:txBody>
                  <a:tcPr/>
                </a:tc>
                <a:tc>
                  <a:txBody>
                    <a:bodyPr/>
                    <a:lstStyle/>
                    <a:p>
                      <a:pPr algn="ctr"/>
                      <a:r>
                        <a:rPr lang="en-US" altLang="zh-TW" dirty="0" smtClean="0"/>
                        <a:t>C</a:t>
                      </a:r>
                      <a:endParaRPr lang="zh-TW" altLang="en-US" dirty="0"/>
                    </a:p>
                  </a:txBody>
                  <a:tcPr/>
                </a:tc>
                <a:tc>
                  <a:txBody>
                    <a:bodyPr/>
                    <a:lstStyle/>
                    <a:p>
                      <a:pPr algn="ctr"/>
                      <a:r>
                        <a:rPr lang="en-US" altLang="zh-TW" dirty="0" smtClean="0"/>
                        <a:t>G</a:t>
                      </a:r>
                      <a:endParaRPr lang="zh-TW" altLang="en-US" dirty="0"/>
                    </a:p>
                  </a:txBody>
                  <a:tcPr/>
                </a:tc>
                <a:tc>
                  <a:txBody>
                    <a:bodyPr/>
                    <a:lstStyle/>
                    <a:p>
                      <a:pPr algn="ctr"/>
                      <a:r>
                        <a:rPr lang="en-US" altLang="zh-TW" dirty="0" smtClean="0"/>
                        <a:t>A</a:t>
                      </a:r>
                      <a:endParaRPr lang="zh-TW" altLang="en-US" dirty="0"/>
                    </a:p>
                  </a:txBody>
                  <a:tcPr/>
                </a:tc>
                <a:tc>
                  <a:txBody>
                    <a:bodyPr/>
                    <a:lstStyle/>
                    <a:p>
                      <a:pPr algn="ctr"/>
                      <a:r>
                        <a:rPr lang="en-US" altLang="zh-TW" dirty="0" smtClean="0"/>
                        <a:t>C</a:t>
                      </a:r>
                      <a:endParaRPr lang="zh-TW" altLang="en-US" dirty="0"/>
                    </a:p>
                  </a:txBody>
                  <a:tcPr/>
                </a:tc>
              </a:tr>
              <a:tr h="585154">
                <a:tc>
                  <a:txBody>
                    <a:bodyPr/>
                    <a:lstStyle/>
                    <a:p>
                      <a:pPr algn="ctr"/>
                      <a:endParaRPr lang="zh-TW" altLang="en-US" dirty="0"/>
                    </a:p>
                  </a:txBody>
                  <a:tcPr/>
                </a:tc>
                <a:tc>
                  <a:txBody>
                    <a:bodyPr/>
                    <a:lstStyle/>
                    <a:p>
                      <a:pPr algn="ctr"/>
                      <a:r>
                        <a:rPr lang="en-US" altLang="zh-TW" sz="2400" dirty="0" smtClean="0"/>
                        <a:t>0</a:t>
                      </a:r>
                      <a:endParaRPr lang="zh-TW" altLang="en-US" sz="2400" dirty="0"/>
                    </a:p>
                  </a:txBody>
                  <a:tcPr/>
                </a:tc>
                <a:tc>
                  <a:txBody>
                    <a:bodyPr/>
                    <a:lstStyle/>
                    <a:p>
                      <a:pPr algn="ctr"/>
                      <a:r>
                        <a:rPr lang="en-US" altLang="zh-TW" sz="2400" dirty="0" smtClean="0"/>
                        <a:t>2</a:t>
                      </a:r>
                      <a:endParaRPr lang="zh-TW" altLang="en-US" sz="2400" dirty="0"/>
                    </a:p>
                  </a:txBody>
                  <a:tcPr/>
                </a:tc>
                <a:tc>
                  <a:txBody>
                    <a:bodyPr/>
                    <a:lstStyle/>
                    <a:p>
                      <a:pPr algn="ctr"/>
                      <a:endParaRPr lang="zh-TW" altLang="en-US" sz="2400" dirty="0"/>
                    </a:p>
                  </a:txBody>
                  <a:tcPr/>
                </a:tc>
                <a:tc>
                  <a:txBody>
                    <a:bodyPr/>
                    <a:lstStyle/>
                    <a:p>
                      <a:pPr algn="ctr"/>
                      <a:endParaRPr lang="zh-TW" altLang="en-US" sz="2400" dirty="0"/>
                    </a:p>
                  </a:txBody>
                  <a:tcPr/>
                </a:tc>
                <a:tc>
                  <a:txBody>
                    <a:bodyPr/>
                    <a:lstStyle/>
                    <a:p>
                      <a:pPr algn="ctr"/>
                      <a:endParaRPr lang="zh-TW" altLang="en-US" sz="2400" dirty="0"/>
                    </a:p>
                  </a:txBody>
                  <a:tcPr/>
                </a:tc>
                <a:tc>
                  <a:txBody>
                    <a:bodyPr/>
                    <a:lstStyle/>
                    <a:p>
                      <a:pPr algn="ctr"/>
                      <a:endParaRPr lang="zh-TW" altLang="en-US" sz="2400" dirty="0"/>
                    </a:p>
                  </a:txBody>
                  <a:tcPr/>
                </a:tc>
              </a:tr>
              <a:tr h="585154">
                <a:tc>
                  <a:txBody>
                    <a:bodyPr/>
                    <a:lstStyle/>
                    <a:p>
                      <a:pPr algn="ctr"/>
                      <a:r>
                        <a:rPr lang="en-US" altLang="zh-TW" dirty="0" smtClean="0"/>
                        <a:t>A</a:t>
                      </a:r>
                      <a:endParaRPr lang="zh-TW" altLang="en-US" dirty="0"/>
                    </a:p>
                  </a:txBody>
                  <a:tcPr/>
                </a:tc>
                <a:tc>
                  <a:txBody>
                    <a:bodyPr/>
                    <a:lstStyle/>
                    <a:p>
                      <a:pPr algn="ctr"/>
                      <a:r>
                        <a:rPr lang="en-US" altLang="zh-TW" sz="2400" dirty="0" smtClean="0"/>
                        <a:t>2</a:t>
                      </a:r>
                      <a:endParaRPr lang="zh-TW" altLang="en-US" sz="2400" dirty="0"/>
                    </a:p>
                  </a:txBody>
                  <a:tcPr/>
                </a:tc>
                <a:tc>
                  <a:txBody>
                    <a:bodyPr/>
                    <a:lstStyle/>
                    <a:p>
                      <a:pPr algn="ctr"/>
                      <a:r>
                        <a:rPr lang="en-US" altLang="zh-TW" sz="2400" dirty="0" smtClean="0"/>
                        <a:t>0</a:t>
                      </a:r>
                      <a:endParaRPr lang="zh-TW" altLang="en-US" sz="2400" dirty="0"/>
                    </a:p>
                  </a:txBody>
                  <a:tcPr/>
                </a:tc>
                <a:tc>
                  <a:txBody>
                    <a:bodyPr/>
                    <a:lstStyle/>
                    <a:p>
                      <a:pPr algn="ctr"/>
                      <a:r>
                        <a:rPr lang="en-US" altLang="zh-TW" sz="2400" dirty="0" smtClean="0"/>
                        <a:t>2</a:t>
                      </a:r>
                      <a:endParaRPr lang="zh-TW" altLang="en-US" sz="2400" dirty="0"/>
                    </a:p>
                  </a:txBody>
                  <a:tcPr/>
                </a:tc>
                <a:tc>
                  <a:txBody>
                    <a:bodyPr/>
                    <a:lstStyle/>
                    <a:p>
                      <a:pPr algn="ctr"/>
                      <a:endParaRPr lang="zh-TW" altLang="en-US" sz="2400" dirty="0"/>
                    </a:p>
                  </a:txBody>
                  <a:tcPr/>
                </a:tc>
                <a:tc>
                  <a:txBody>
                    <a:bodyPr/>
                    <a:lstStyle/>
                    <a:p>
                      <a:pPr algn="ctr"/>
                      <a:endParaRPr lang="zh-TW" altLang="en-US" sz="2400" dirty="0"/>
                    </a:p>
                  </a:txBody>
                  <a:tcPr/>
                </a:tc>
                <a:tc>
                  <a:txBody>
                    <a:bodyPr/>
                    <a:lstStyle/>
                    <a:p>
                      <a:pPr algn="ctr"/>
                      <a:endParaRPr lang="zh-TW" altLang="en-US" sz="2400" dirty="0"/>
                    </a:p>
                  </a:txBody>
                  <a:tcPr/>
                </a:tc>
              </a:tr>
              <a:tr h="585154">
                <a:tc>
                  <a:txBody>
                    <a:bodyPr/>
                    <a:lstStyle/>
                    <a:p>
                      <a:pPr algn="ctr"/>
                      <a:r>
                        <a:rPr lang="en-US" altLang="zh-TW" dirty="0" smtClean="0"/>
                        <a:t>C</a:t>
                      </a:r>
                      <a:endParaRPr lang="zh-TW" altLang="en-US" dirty="0"/>
                    </a:p>
                  </a:txBody>
                  <a:tcPr/>
                </a:tc>
                <a:tc>
                  <a:txBody>
                    <a:bodyPr/>
                    <a:lstStyle/>
                    <a:p>
                      <a:pPr algn="ctr"/>
                      <a:endParaRPr lang="zh-TW" altLang="en-US" sz="2400" dirty="0"/>
                    </a:p>
                  </a:txBody>
                  <a:tcPr/>
                </a:tc>
                <a:tc>
                  <a:txBody>
                    <a:bodyPr/>
                    <a:lstStyle/>
                    <a:p>
                      <a:pPr algn="ctr"/>
                      <a:r>
                        <a:rPr lang="en-US" altLang="zh-TW" sz="2400" dirty="0" smtClean="0"/>
                        <a:t>2</a:t>
                      </a:r>
                      <a:endParaRPr lang="zh-TW" altLang="en-US" sz="2400" dirty="0"/>
                    </a:p>
                  </a:txBody>
                  <a:tcPr/>
                </a:tc>
                <a:tc>
                  <a:txBody>
                    <a:bodyPr/>
                    <a:lstStyle/>
                    <a:p>
                      <a:pPr algn="ctr"/>
                      <a:r>
                        <a:rPr lang="en-US" altLang="zh-TW" sz="2400" dirty="0" smtClean="0"/>
                        <a:t>0</a:t>
                      </a:r>
                      <a:endParaRPr lang="zh-TW" altLang="en-US" sz="2400" dirty="0"/>
                    </a:p>
                  </a:txBody>
                  <a:tcPr/>
                </a:tc>
                <a:tc>
                  <a:txBody>
                    <a:bodyPr/>
                    <a:lstStyle/>
                    <a:p>
                      <a:pPr algn="ctr"/>
                      <a:r>
                        <a:rPr lang="en-US" altLang="zh-TW" sz="2400" dirty="0" smtClean="0"/>
                        <a:t>2</a:t>
                      </a:r>
                      <a:endParaRPr lang="zh-TW" altLang="en-US" sz="2400" dirty="0"/>
                    </a:p>
                  </a:txBody>
                  <a:tcPr/>
                </a:tc>
                <a:tc>
                  <a:txBody>
                    <a:bodyPr/>
                    <a:lstStyle/>
                    <a:p>
                      <a:pPr algn="ctr"/>
                      <a:endParaRPr lang="zh-TW" altLang="en-US" sz="2400" dirty="0"/>
                    </a:p>
                  </a:txBody>
                  <a:tcPr/>
                </a:tc>
                <a:tc>
                  <a:txBody>
                    <a:bodyPr/>
                    <a:lstStyle/>
                    <a:p>
                      <a:pPr algn="ctr"/>
                      <a:endParaRPr lang="zh-TW" altLang="en-US" sz="2400" dirty="0"/>
                    </a:p>
                  </a:txBody>
                  <a:tcPr/>
                </a:tc>
              </a:tr>
              <a:tr h="585154">
                <a:tc>
                  <a:txBody>
                    <a:bodyPr/>
                    <a:lstStyle/>
                    <a:p>
                      <a:pPr algn="ctr"/>
                      <a:r>
                        <a:rPr lang="en-US" altLang="zh-TW" dirty="0" smtClean="0"/>
                        <a:t>A</a:t>
                      </a:r>
                      <a:endParaRPr lang="zh-TW" altLang="en-US" dirty="0"/>
                    </a:p>
                  </a:txBody>
                  <a:tcPr/>
                </a:tc>
                <a:tc>
                  <a:txBody>
                    <a:bodyPr/>
                    <a:lstStyle/>
                    <a:p>
                      <a:pPr algn="ctr"/>
                      <a:endParaRPr lang="zh-TW" altLang="en-US" sz="2400" dirty="0"/>
                    </a:p>
                  </a:txBody>
                  <a:tcPr/>
                </a:tc>
                <a:tc>
                  <a:txBody>
                    <a:bodyPr/>
                    <a:lstStyle/>
                    <a:p>
                      <a:pPr algn="ctr"/>
                      <a:endParaRPr lang="zh-TW" altLang="en-US" sz="2400" dirty="0"/>
                    </a:p>
                  </a:txBody>
                  <a:tcPr/>
                </a:tc>
                <a:tc>
                  <a:txBody>
                    <a:bodyPr/>
                    <a:lstStyle/>
                    <a:p>
                      <a:pPr algn="ctr"/>
                      <a:r>
                        <a:rPr lang="en-US" altLang="zh-TW" sz="2400" dirty="0" smtClean="0"/>
                        <a:t>2</a:t>
                      </a:r>
                      <a:endParaRPr lang="zh-TW" altLang="en-US" sz="2400" dirty="0"/>
                    </a:p>
                  </a:txBody>
                  <a:tcPr/>
                </a:tc>
                <a:tc>
                  <a:txBody>
                    <a:bodyPr/>
                    <a:lstStyle/>
                    <a:p>
                      <a:pPr algn="ctr"/>
                      <a:r>
                        <a:rPr lang="en-US" altLang="zh-TW" sz="2400" dirty="0" smtClean="0"/>
                        <a:t>1</a:t>
                      </a:r>
                      <a:endParaRPr lang="zh-TW" altLang="en-US" sz="2400" dirty="0"/>
                    </a:p>
                  </a:txBody>
                  <a:tcPr/>
                </a:tc>
                <a:tc>
                  <a:txBody>
                    <a:bodyPr/>
                    <a:lstStyle/>
                    <a:p>
                      <a:pPr algn="ctr"/>
                      <a:endParaRPr lang="zh-TW" altLang="en-US" sz="2400" dirty="0"/>
                    </a:p>
                  </a:txBody>
                  <a:tcPr/>
                </a:tc>
                <a:tc>
                  <a:txBody>
                    <a:bodyPr/>
                    <a:lstStyle/>
                    <a:p>
                      <a:pPr algn="ctr"/>
                      <a:endParaRPr lang="zh-TW" altLang="en-US" sz="2400" dirty="0"/>
                    </a:p>
                  </a:txBody>
                  <a:tcPr/>
                </a:tc>
              </a:tr>
              <a:tr h="585154">
                <a:tc>
                  <a:txBody>
                    <a:bodyPr/>
                    <a:lstStyle/>
                    <a:p>
                      <a:pPr algn="ctr"/>
                      <a:r>
                        <a:rPr lang="en-US" altLang="zh-TW" dirty="0" smtClean="0"/>
                        <a:t>G</a:t>
                      </a:r>
                      <a:endParaRPr lang="zh-TW" altLang="en-US" dirty="0"/>
                    </a:p>
                  </a:txBody>
                  <a:tcPr/>
                </a:tc>
                <a:tc>
                  <a:txBody>
                    <a:bodyPr/>
                    <a:lstStyle/>
                    <a:p>
                      <a:pPr algn="ctr"/>
                      <a:endParaRPr lang="zh-TW" altLang="en-US" sz="2400" dirty="0"/>
                    </a:p>
                  </a:txBody>
                  <a:tcPr/>
                </a:tc>
                <a:tc>
                  <a:txBody>
                    <a:bodyPr/>
                    <a:lstStyle/>
                    <a:p>
                      <a:pPr algn="ctr"/>
                      <a:endParaRPr lang="zh-TW" altLang="en-US" sz="2400" dirty="0"/>
                    </a:p>
                  </a:txBody>
                  <a:tcPr/>
                </a:tc>
                <a:tc>
                  <a:txBody>
                    <a:bodyPr/>
                    <a:lstStyle/>
                    <a:p>
                      <a:pPr algn="ctr"/>
                      <a:endParaRPr lang="zh-TW" altLang="en-US" sz="2400" dirty="0"/>
                    </a:p>
                  </a:txBody>
                  <a:tcPr/>
                </a:tc>
                <a:tc>
                  <a:txBody>
                    <a:bodyPr/>
                    <a:lstStyle/>
                    <a:p>
                      <a:pPr algn="ctr"/>
                      <a:endParaRPr lang="zh-TW" altLang="en-US" sz="2400" dirty="0"/>
                    </a:p>
                  </a:txBody>
                  <a:tcPr/>
                </a:tc>
                <a:tc>
                  <a:txBody>
                    <a:bodyPr/>
                    <a:lstStyle/>
                    <a:p>
                      <a:pPr algn="ctr"/>
                      <a:endParaRPr lang="zh-TW" altLang="en-US" sz="2400" dirty="0"/>
                    </a:p>
                  </a:txBody>
                  <a:tcPr/>
                </a:tc>
                <a:tc>
                  <a:txBody>
                    <a:bodyPr/>
                    <a:lstStyle/>
                    <a:p>
                      <a:pPr algn="ctr"/>
                      <a:endParaRPr lang="zh-TW" altLang="en-US" sz="2400" dirty="0"/>
                    </a:p>
                  </a:txBody>
                  <a:tcPr/>
                </a:tc>
              </a:tr>
              <a:tr h="585154">
                <a:tc>
                  <a:txBody>
                    <a:bodyPr/>
                    <a:lstStyle/>
                    <a:p>
                      <a:pPr algn="ctr"/>
                      <a:r>
                        <a:rPr lang="en-US" altLang="zh-TW" dirty="0" smtClean="0"/>
                        <a:t>C</a:t>
                      </a:r>
                      <a:endParaRPr lang="zh-TW" altLang="en-US" dirty="0"/>
                    </a:p>
                  </a:txBody>
                  <a:tcPr/>
                </a:tc>
                <a:tc>
                  <a:txBody>
                    <a:bodyPr/>
                    <a:lstStyle/>
                    <a:p>
                      <a:pPr algn="ctr"/>
                      <a:endParaRPr lang="zh-TW" altLang="en-US" sz="2400" dirty="0"/>
                    </a:p>
                  </a:txBody>
                  <a:tcPr/>
                </a:tc>
                <a:tc>
                  <a:txBody>
                    <a:bodyPr/>
                    <a:lstStyle/>
                    <a:p>
                      <a:pPr algn="ctr"/>
                      <a:endParaRPr lang="zh-TW" altLang="en-US" sz="2400" dirty="0"/>
                    </a:p>
                  </a:txBody>
                  <a:tcPr/>
                </a:tc>
                <a:tc>
                  <a:txBody>
                    <a:bodyPr/>
                    <a:lstStyle/>
                    <a:p>
                      <a:pPr algn="ctr"/>
                      <a:endParaRPr lang="zh-TW" altLang="en-US" sz="2400" dirty="0"/>
                    </a:p>
                  </a:txBody>
                  <a:tcPr/>
                </a:tc>
                <a:tc>
                  <a:txBody>
                    <a:bodyPr/>
                    <a:lstStyle/>
                    <a:p>
                      <a:pPr algn="ctr"/>
                      <a:endParaRPr lang="zh-TW" altLang="en-US" sz="2400" dirty="0"/>
                    </a:p>
                  </a:txBody>
                  <a:tcPr/>
                </a:tc>
                <a:tc>
                  <a:txBody>
                    <a:bodyPr/>
                    <a:lstStyle/>
                    <a:p>
                      <a:pPr algn="ctr"/>
                      <a:endParaRPr lang="zh-TW" altLang="en-US" sz="2400" dirty="0"/>
                    </a:p>
                  </a:txBody>
                  <a:tcPr/>
                </a:tc>
                <a:tc>
                  <a:txBody>
                    <a:bodyPr/>
                    <a:lstStyle/>
                    <a:p>
                      <a:pPr algn="ctr"/>
                      <a:endParaRPr lang="zh-TW" altLang="en-US" sz="2400" dirty="0"/>
                    </a:p>
                  </a:txBody>
                  <a:tcPr/>
                </a:tc>
              </a:tr>
            </a:tbl>
          </a:graphicData>
        </a:graphic>
      </p:graphicFrame>
      <p:sp>
        <p:nvSpPr>
          <p:cNvPr id="8" name="文字方塊 7"/>
          <p:cNvSpPr txBox="1"/>
          <p:nvPr/>
        </p:nvSpPr>
        <p:spPr>
          <a:xfrm>
            <a:off x="785786" y="1285860"/>
            <a:ext cx="821059" cy="461665"/>
          </a:xfrm>
          <a:prstGeom prst="rect">
            <a:avLst/>
          </a:prstGeom>
          <a:noFill/>
        </p:spPr>
        <p:txBody>
          <a:bodyPr wrap="none" rtlCol="0">
            <a:spAutoFit/>
          </a:bodyPr>
          <a:lstStyle/>
          <a:p>
            <a:r>
              <a:rPr lang="en-US" altLang="zh-TW" sz="2400" dirty="0" smtClean="0">
                <a:solidFill>
                  <a:srgbClr val="FF0000"/>
                </a:solidFill>
              </a:rPr>
              <a:t>D = 0</a:t>
            </a:r>
            <a:endParaRPr lang="zh-TW" altLang="en-US" sz="2400" dirty="0">
              <a:solidFill>
                <a:srgbClr val="FF0000"/>
              </a:solidFill>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4"/>
            <a:ext cx="8229600" cy="1143000"/>
          </a:xfrm>
        </p:spPr>
        <p:txBody>
          <a:bodyPr/>
          <a:lstStyle/>
          <a:p>
            <a:pPr algn="l"/>
            <a:r>
              <a:rPr lang="en-US" altLang="zh-TW" dirty="0" smtClean="0">
                <a:latin typeface="Times New Roman" pitchFamily="18" charset="0"/>
                <a:cs typeface="Times New Roman" pitchFamily="18" charset="0"/>
              </a:rPr>
              <a:t>Algorithm </a:t>
            </a:r>
            <a:endParaRPr lang="zh-TW" altLang="en-US" dirty="0">
              <a:latin typeface="Times New Roman" pitchFamily="18" charset="0"/>
              <a:cs typeface="Times New Roman" pitchFamily="18" charset="0"/>
            </a:endParaRPr>
          </a:p>
        </p:txBody>
      </p:sp>
      <p:sp>
        <p:nvSpPr>
          <p:cNvPr id="6" name="文字方塊 5"/>
          <p:cNvSpPr txBox="1"/>
          <p:nvPr/>
        </p:nvSpPr>
        <p:spPr>
          <a:xfrm>
            <a:off x="3929058" y="285728"/>
            <a:ext cx="3000396" cy="1200329"/>
          </a:xfrm>
          <a:prstGeom prst="rect">
            <a:avLst/>
          </a:prstGeom>
          <a:noFill/>
        </p:spPr>
        <p:txBody>
          <a:bodyPr wrap="square" rtlCol="0">
            <a:spAutoFit/>
          </a:bodyPr>
          <a:lstStyle/>
          <a:p>
            <a:r>
              <a:rPr lang="en-US" altLang="zh-TW" sz="2400" dirty="0" smtClean="0">
                <a:latin typeface="Times New Roman" pitchFamily="18" charset="0"/>
                <a:cs typeface="Times New Roman" pitchFamily="18" charset="0"/>
              </a:rPr>
              <a:t>Match	       : 0</a:t>
            </a:r>
          </a:p>
          <a:p>
            <a:r>
              <a:rPr lang="en-US" altLang="zh-TW" sz="2400" dirty="0" smtClean="0">
                <a:latin typeface="Times New Roman" pitchFamily="18" charset="0"/>
                <a:cs typeface="Times New Roman" pitchFamily="18" charset="0"/>
              </a:rPr>
              <a:t>Mismatch   : 1</a:t>
            </a:r>
          </a:p>
          <a:p>
            <a:r>
              <a:rPr lang="en-US" altLang="zh-TW" sz="2400" dirty="0" smtClean="0">
                <a:latin typeface="Times New Roman" pitchFamily="18" charset="0"/>
                <a:cs typeface="Times New Roman" pitchFamily="18" charset="0"/>
              </a:rPr>
              <a:t>Gap	       : 2</a:t>
            </a:r>
            <a:endParaRPr lang="zh-TW" altLang="en-US" sz="2400" dirty="0">
              <a:latin typeface="Times New Roman" pitchFamily="18" charset="0"/>
              <a:cs typeface="Times New Roman" pitchFamily="18" charset="0"/>
            </a:endParaRPr>
          </a:p>
        </p:txBody>
      </p:sp>
      <p:graphicFrame>
        <p:nvGraphicFramePr>
          <p:cNvPr id="7" name="表格 6"/>
          <p:cNvGraphicFramePr>
            <a:graphicFrameLocks noGrp="1"/>
          </p:cNvGraphicFramePr>
          <p:nvPr/>
        </p:nvGraphicFramePr>
        <p:xfrm>
          <a:off x="642910" y="1785926"/>
          <a:ext cx="8001056" cy="4096078"/>
        </p:xfrm>
        <a:graphic>
          <a:graphicData uri="http://schemas.openxmlformats.org/drawingml/2006/table">
            <a:tbl>
              <a:tblPr firstRow="1" firstCol="1" bandRow="1">
                <a:tableStyleId>{5C22544A-7EE6-4342-B048-85BDC9FD1C3A}</a:tableStyleId>
              </a:tblPr>
              <a:tblGrid>
                <a:gridCol w="1143008"/>
                <a:gridCol w="1143008"/>
                <a:gridCol w="1143008"/>
                <a:gridCol w="1143008"/>
                <a:gridCol w="1143008"/>
                <a:gridCol w="1143008"/>
                <a:gridCol w="1143008"/>
              </a:tblGrid>
              <a:tr h="585154">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smtClean="0"/>
                        <a:t>A</a:t>
                      </a:r>
                      <a:endParaRPr lang="zh-TW" altLang="en-US" dirty="0"/>
                    </a:p>
                  </a:txBody>
                  <a:tcPr/>
                </a:tc>
                <a:tc>
                  <a:txBody>
                    <a:bodyPr/>
                    <a:lstStyle/>
                    <a:p>
                      <a:pPr algn="ctr"/>
                      <a:r>
                        <a:rPr lang="en-US" altLang="zh-TW" dirty="0" smtClean="0"/>
                        <a:t>C</a:t>
                      </a:r>
                      <a:endParaRPr lang="zh-TW" altLang="en-US" dirty="0"/>
                    </a:p>
                  </a:txBody>
                  <a:tcPr/>
                </a:tc>
                <a:tc>
                  <a:txBody>
                    <a:bodyPr/>
                    <a:lstStyle/>
                    <a:p>
                      <a:pPr algn="ctr"/>
                      <a:r>
                        <a:rPr lang="en-US" altLang="zh-TW" dirty="0" smtClean="0"/>
                        <a:t>G</a:t>
                      </a:r>
                      <a:endParaRPr lang="zh-TW" altLang="en-US" dirty="0"/>
                    </a:p>
                  </a:txBody>
                  <a:tcPr/>
                </a:tc>
                <a:tc>
                  <a:txBody>
                    <a:bodyPr/>
                    <a:lstStyle/>
                    <a:p>
                      <a:pPr algn="ctr"/>
                      <a:r>
                        <a:rPr lang="en-US" altLang="zh-TW" dirty="0" smtClean="0"/>
                        <a:t>A</a:t>
                      </a:r>
                      <a:endParaRPr lang="zh-TW" altLang="en-US" dirty="0"/>
                    </a:p>
                  </a:txBody>
                  <a:tcPr/>
                </a:tc>
                <a:tc>
                  <a:txBody>
                    <a:bodyPr/>
                    <a:lstStyle/>
                    <a:p>
                      <a:pPr algn="ctr"/>
                      <a:r>
                        <a:rPr lang="en-US" altLang="zh-TW" dirty="0" smtClean="0"/>
                        <a:t>C</a:t>
                      </a:r>
                      <a:endParaRPr lang="zh-TW" altLang="en-US" dirty="0"/>
                    </a:p>
                  </a:txBody>
                  <a:tcPr/>
                </a:tc>
              </a:tr>
              <a:tr h="585154">
                <a:tc>
                  <a:txBody>
                    <a:bodyPr/>
                    <a:lstStyle/>
                    <a:p>
                      <a:pPr algn="ctr"/>
                      <a:endParaRPr lang="zh-TW" altLang="en-US" dirty="0"/>
                    </a:p>
                  </a:txBody>
                  <a:tcPr/>
                </a:tc>
                <a:tc>
                  <a:txBody>
                    <a:bodyPr/>
                    <a:lstStyle/>
                    <a:p>
                      <a:pPr algn="ctr"/>
                      <a:r>
                        <a:rPr lang="en-US" altLang="zh-TW" sz="2400" dirty="0" smtClean="0"/>
                        <a:t>0</a:t>
                      </a:r>
                      <a:endParaRPr lang="zh-TW" altLang="en-US" sz="2400" dirty="0"/>
                    </a:p>
                  </a:txBody>
                  <a:tcPr/>
                </a:tc>
                <a:tc>
                  <a:txBody>
                    <a:bodyPr/>
                    <a:lstStyle/>
                    <a:p>
                      <a:pPr algn="ctr"/>
                      <a:r>
                        <a:rPr lang="en-US" altLang="zh-TW" sz="2400" dirty="0" smtClean="0"/>
                        <a:t>2</a:t>
                      </a:r>
                      <a:endParaRPr lang="zh-TW" altLang="en-US" sz="2400" dirty="0"/>
                    </a:p>
                  </a:txBody>
                  <a:tcPr/>
                </a:tc>
                <a:tc>
                  <a:txBody>
                    <a:bodyPr/>
                    <a:lstStyle/>
                    <a:p>
                      <a:pPr algn="ctr"/>
                      <a:endParaRPr lang="zh-TW" altLang="en-US" sz="2400" dirty="0"/>
                    </a:p>
                  </a:txBody>
                  <a:tcPr/>
                </a:tc>
                <a:tc>
                  <a:txBody>
                    <a:bodyPr/>
                    <a:lstStyle/>
                    <a:p>
                      <a:pPr algn="ctr"/>
                      <a:endParaRPr lang="zh-TW" altLang="en-US" sz="2400" dirty="0"/>
                    </a:p>
                  </a:txBody>
                  <a:tcPr/>
                </a:tc>
                <a:tc>
                  <a:txBody>
                    <a:bodyPr/>
                    <a:lstStyle/>
                    <a:p>
                      <a:pPr algn="ctr"/>
                      <a:endParaRPr lang="zh-TW" altLang="en-US" sz="2400" dirty="0"/>
                    </a:p>
                  </a:txBody>
                  <a:tcPr/>
                </a:tc>
                <a:tc>
                  <a:txBody>
                    <a:bodyPr/>
                    <a:lstStyle/>
                    <a:p>
                      <a:pPr algn="ctr"/>
                      <a:endParaRPr lang="zh-TW" altLang="en-US" sz="2400" dirty="0"/>
                    </a:p>
                  </a:txBody>
                  <a:tcPr/>
                </a:tc>
              </a:tr>
              <a:tr h="585154">
                <a:tc>
                  <a:txBody>
                    <a:bodyPr/>
                    <a:lstStyle/>
                    <a:p>
                      <a:pPr algn="ctr"/>
                      <a:r>
                        <a:rPr lang="en-US" altLang="zh-TW" dirty="0" smtClean="0"/>
                        <a:t>A</a:t>
                      </a:r>
                      <a:endParaRPr lang="zh-TW" altLang="en-US" dirty="0"/>
                    </a:p>
                  </a:txBody>
                  <a:tcPr/>
                </a:tc>
                <a:tc>
                  <a:txBody>
                    <a:bodyPr/>
                    <a:lstStyle/>
                    <a:p>
                      <a:pPr algn="ctr"/>
                      <a:r>
                        <a:rPr lang="en-US" altLang="zh-TW" sz="2400" dirty="0" smtClean="0"/>
                        <a:t>2</a:t>
                      </a:r>
                      <a:endParaRPr lang="zh-TW" altLang="en-US" sz="2400" dirty="0"/>
                    </a:p>
                  </a:txBody>
                  <a:tcPr/>
                </a:tc>
                <a:tc>
                  <a:txBody>
                    <a:bodyPr/>
                    <a:lstStyle/>
                    <a:p>
                      <a:pPr algn="ctr"/>
                      <a:r>
                        <a:rPr lang="en-US" altLang="zh-TW" sz="2400" dirty="0" smtClean="0"/>
                        <a:t>0</a:t>
                      </a:r>
                      <a:endParaRPr lang="zh-TW" altLang="en-US" sz="2400" dirty="0"/>
                    </a:p>
                  </a:txBody>
                  <a:tcPr/>
                </a:tc>
                <a:tc>
                  <a:txBody>
                    <a:bodyPr/>
                    <a:lstStyle/>
                    <a:p>
                      <a:pPr algn="ctr"/>
                      <a:r>
                        <a:rPr lang="en-US" altLang="zh-TW" sz="2400" dirty="0" smtClean="0"/>
                        <a:t>2</a:t>
                      </a:r>
                      <a:endParaRPr lang="zh-TW" altLang="en-US" sz="2400" dirty="0"/>
                    </a:p>
                  </a:txBody>
                  <a:tcPr/>
                </a:tc>
                <a:tc>
                  <a:txBody>
                    <a:bodyPr/>
                    <a:lstStyle/>
                    <a:p>
                      <a:pPr algn="ctr"/>
                      <a:endParaRPr lang="zh-TW" altLang="en-US" sz="2400" dirty="0"/>
                    </a:p>
                  </a:txBody>
                  <a:tcPr/>
                </a:tc>
                <a:tc>
                  <a:txBody>
                    <a:bodyPr/>
                    <a:lstStyle/>
                    <a:p>
                      <a:pPr algn="ctr"/>
                      <a:endParaRPr lang="zh-TW" altLang="en-US" sz="2400" dirty="0"/>
                    </a:p>
                  </a:txBody>
                  <a:tcPr/>
                </a:tc>
                <a:tc>
                  <a:txBody>
                    <a:bodyPr/>
                    <a:lstStyle/>
                    <a:p>
                      <a:pPr algn="ctr"/>
                      <a:endParaRPr lang="zh-TW" altLang="en-US" sz="2400" dirty="0"/>
                    </a:p>
                  </a:txBody>
                  <a:tcPr/>
                </a:tc>
              </a:tr>
              <a:tr h="585154">
                <a:tc>
                  <a:txBody>
                    <a:bodyPr/>
                    <a:lstStyle/>
                    <a:p>
                      <a:pPr algn="ctr"/>
                      <a:r>
                        <a:rPr lang="en-US" altLang="zh-TW" dirty="0" smtClean="0"/>
                        <a:t>C</a:t>
                      </a:r>
                      <a:endParaRPr lang="zh-TW" altLang="en-US" dirty="0"/>
                    </a:p>
                  </a:txBody>
                  <a:tcPr/>
                </a:tc>
                <a:tc>
                  <a:txBody>
                    <a:bodyPr/>
                    <a:lstStyle/>
                    <a:p>
                      <a:pPr algn="ctr"/>
                      <a:endParaRPr lang="zh-TW" altLang="en-US" sz="2400" dirty="0"/>
                    </a:p>
                  </a:txBody>
                  <a:tcPr/>
                </a:tc>
                <a:tc>
                  <a:txBody>
                    <a:bodyPr/>
                    <a:lstStyle/>
                    <a:p>
                      <a:pPr algn="ctr"/>
                      <a:r>
                        <a:rPr lang="en-US" altLang="zh-TW" sz="2400" dirty="0" smtClean="0"/>
                        <a:t>2</a:t>
                      </a:r>
                      <a:endParaRPr lang="zh-TW" altLang="en-US" sz="2400" dirty="0"/>
                    </a:p>
                  </a:txBody>
                  <a:tcPr/>
                </a:tc>
                <a:tc>
                  <a:txBody>
                    <a:bodyPr/>
                    <a:lstStyle/>
                    <a:p>
                      <a:pPr algn="ctr"/>
                      <a:r>
                        <a:rPr lang="en-US" altLang="zh-TW" sz="2400" dirty="0" smtClean="0"/>
                        <a:t>0</a:t>
                      </a:r>
                      <a:endParaRPr lang="zh-TW" altLang="en-US" sz="2400" dirty="0"/>
                    </a:p>
                  </a:txBody>
                  <a:tcPr/>
                </a:tc>
                <a:tc>
                  <a:txBody>
                    <a:bodyPr/>
                    <a:lstStyle/>
                    <a:p>
                      <a:pPr algn="ctr"/>
                      <a:r>
                        <a:rPr lang="en-US" altLang="zh-TW" sz="2400" dirty="0" smtClean="0"/>
                        <a:t>2</a:t>
                      </a:r>
                      <a:endParaRPr lang="zh-TW" altLang="en-US" sz="2400" dirty="0"/>
                    </a:p>
                  </a:txBody>
                  <a:tcPr/>
                </a:tc>
                <a:tc>
                  <a:txBody>
                    <a:bodyPr/>
                    <a:lstStyle/>
                    <a:p>
                      <a:pPr algn="ctr"/>
                      <a:endParaRPr lang="zh-TW" altLang="en-US" sz="2400" dirty="0"/>
                    </a:p>
                  </a:txBody>
                  <a:tcPr/>
                </a:tc>
                <a:tc>
                  <a:txBody>
                    <a:bodyPr/>
                    <a:lstStyle/>
                    <a:p>
                      <a:pPr algn="ctr"/>
                      <a:endParaRPr lang="zh-TW" altLang="en-US" sz="2400" dirty="0"/>
                    </a:p>
                  </a:txBody>
                  <a:tcPr/>
                </a:tc>
              </a:tr>
              <a:tr h="585154">
                <a:tc>
                  <a:txBody>
                    <a:bodyPr/>
                    <a:lstStyle/>
                    <a:p>
                      <a:pPr algn="ctr"/>
                      <a:r>
                        <a:rPr lang="en-US" altLang="zh-TW" dirty="0" smtClean="0"/>
                        <a:t>A</a:t>
                      </a:r>
                      <a:endParaRPr lang="zh-TW" altLang="en-US" dirty="0"/>
                    </a:p>
                  </a:txBody>
                  <a:tcPr/>
                </a:tc>
                <a:tc>
                  <a:txBody>
                    <a:bodyPr/>
                    <a:lstStyle/>
                    <a:p>
                      <a:pPr algn="ctr"/>
                      <a:endParaRPr lang="zh-TW" altLang="en-US" sz="2400" dirty="0"/>
                    </a:p>
                  </a:txBody>
                  <a:tcPr/>
                </a:tc>
                <a:tc>
                  <a:txBody>
                    <a:bodyPr/>
                    <a:lstStyle/>
                    <a:p>
                      <a:pPr algn="ctr"/>
                      <a:endParaRPr lang="zh-TW" altLang="en-US" sz="2400" dirty="0"/>
                    </a:p>
                  </a:txBody>
                  <a:tcPr/>
                </a:tc>
                <a:tc>
                  <a:txBody>
                    <a:bodyPr/>
                    <a:lstStyle/>
                    <a:p>
                      <a:pPr algn="ctr"/>
                      <a:r>
                        <a:rPr lang="en-US" altLang="zh-TW" sz="2400" dirty="0" smtClean="0"/>
                        <a:t>2</a:t>
                      </a:r>
                      <a:endParaRPr lang="zh-TW" altLang="en-US" sz="2400" dirty="0"/>
                    </a:p>
                  </a:txBody>
                  <a:tcPr/>
                </a:tc>
                <a:tc>
                  <a:txBody>
                    <a:bodyPr/>
                    <a:lstStyle/>
                    <a:p>
                      <a:pPr algn="ctr"/>
                      <a:r>
                        <a:rPr lang="en-US" altLang="zh-TW" sz="2400" dirty="0" smtClean="0"/>
                        <a:t>1</a:t>
                      </a:r>
                      <a:endParaRPr lang="zh-TW" altLang="en-US" sz="2400" dirty="0"/>
                    </a:p>
                  </a:txBody>
                  <a:tcPr/>
                </a:tc>
                <a:tc>
                  <a:txBody>
                    <a:bodyPr/>
                    <a:lstStyle/>
                    <a:p>
                      <a:pPr algn="ctr"/>
                      <a:endParaRPr lang="zh-TW" altLang="en-US" sz="2400" dirty="0"/>
                    </a:p>
                  </a:txBody>
                  <a:tcPr/>
                </a:tc>
                <a:tc>
                  <a:txBody>
                    <a:bodyPr/>
                    <a:lstStyle/>
                    <a:p>
                      <a:pPr algn="ctr"/>
                      <a:endParaRPr lang="zh-TW" altLang="en-US" sz="2400" dirty="0"/>
                    </a:p>
                  </a:txBody>
                  <a:tcPr/>
                </a:tc>
              </a:tr>
              <a:tr h="585154">
                <a:tc>
                  <a:txBody>
                    <a:bodyPr/>
                    <a:lstStyle/>
                    <a:p>
                      <a:pPr algn="ctr"/>
                      <a:r>
                        <a:rPr lang="en-US" altLang="zh-TW" dirty="0" smtClean="0"/>
                        <a:t>G</a:t>
                      </a:r>
                      <a:endParaRPr lang="zh-TW" altLang="en-US" dirty="0"/>
                    </a:p>
                  </a:txBody>
                  <a:tcPr/>
                </a:tc>
                <a:tc>
                  <a:txBody>
                    <a:bodyPr/>
                    <a:lstStyle/>
                    <a:p>
                      <a:pPr algn="ctr"/>
                      <a:endParaRPr lang="zh-TW" altLang="en-US" sz="2400" dirty="0"/>
                    </a:p>
                  </a:txBody>
                  <a:tcPr/>
                </a:tc>
                <a:tc>
                  <a:txBody>
                    <a:bodyPr/>
                    <a:lstStyle/>
                    <a:p>
                      <a:pPr algn="ctr"/>
                      <a:endParaRPr lang="zh-TW" altLang="en-US" sz="2400" dirty="0"/>
                    </a:p>
                  </a:txBody>
                  <a:tcPr/>
                </a:tc>
                <a:tc>
                  <a:txBody>
                    <a:bodyPr/>
                    <a:lstStyle/>
                    <a:p>
                      <a:pPr algn="ctr"/>
                      <a:endParaRPr lang="zh-TW" altLang="en-US" sz="2400" dirty="0"/>
                    </a:p>
                  </a:txBody>
                  <a:tcPr/>
                </a:tc>
                <a:tc>
                  <a:txBody>
                    <a:bodyPr/>
                    <a:lstStyle/>
                    <a:p>
                      <a:pPr algn="ctr"/>
                      <a:endParaRPr lang="zh-TW" altLang="en-US" sz="2400" dirty="0"/>
                    </a:p>
                  </a:txBody>
                  <a:tcPr/>
                </a:tc>
                <a:tc>
                  <a:txBody>
                    <a:bodyPr/>
                    <a:lstStyle/>
                    <a:p>
                      <a:pPr algn="ctr"/>
                      <a:endParaRPr lang="zh-TW" altLang="en-US" sz="2400" dirty="0"/>
                    </a:p>
                  </a:txBody>
                  <a:tcPr/>
                </a:tc>
                <a:tc>
                  <a:txBody>
                    <a:bodyPr/>
                    <a:lstStyle/>
                    <a:p>
                      <a:pPr algn="ctr"/>
                      <a:endParaRPr lang="zh-TW" altLang="en-US" sz="2400" dirty="0"/>
                    </a:p>
                  </a:txBody>
                  <a:tcPr/>
                </a:tc>
              </a:tr>
              <a:tr h="585154">
                <a:tc>
                  <a:txBody>
                    <a:bodyPr/>
                    <a:lstStyle/>
                    <a:p>
                      <a:pPr algn="ctr"/>
                      <a:r>
                        <a:rPr lang="en-US" altLang="zh-TW" dirty="0" smtClean="0"/>
                        <a:t>C</a:t>
                      </a:r>
                      <a:endParaRPr lang="zh-TW" altLang="en-US" dirty="0"/>
                    </a:p>
                  </a:txBody>
                  <a:tcPr/>
                </a:tc>
                <a:tc>
                  <a:txBody>
                    <a:bodyPr/>
                    <a:lstStyle/>
                    <a:p>
                      <a:pPr algn="ctr"/>
                      <a:endParaRPr lang="zh-TW" altLang="en-US" sz="2400" dirty="0"/>
                    </a:p>
                  </a:txBody>
                  <a:tcPr/>
                </a:tc>
                <a:tc>
                  <a:txBody>
                    <a:bodyPr/>
                    <a:lstStyle/>
                    <a:p>
                      <a:pPr algn="ctr"/>
                      <a:endParaRPr lang="zh-TW" altLang="en-US" sz="2400" dirty="0"/>
                    </a:p>
                  </a:txBody>
                  <a:tcPr/>
                </a:tc>
                <a:tc>
                  <a:txBody>
                    <a:bodyPr/>
                    <a:lstStyle/>
                    <a:p>
                      <a:pPr algn="ctr"/>
                      <a:endParaRPr lang="zh-TW" altLang="en-US" sz="2400" dirty="0"/>
                    </a:p>
                  </a:txBody>
                  <a:tcPr/>
                </a:tc>
                <a:tc>
                  <a:txBody>
                    <a:bodyPr/>
                    <a:lstStyle/>
                    <a:p>
                      <a:pPr algn="ctr"/>
                      <a:endParaRPr lang="zh-TW" altLang="en-US" sz="2400" dirty="0"/>
                    </a:p>
                  </a:txBody>
                  <a:tcPr/>
                </a:tc>
                <a:tc>
                  <a:txBody>
                    <a:bodyPr/>
                    <a:lstStyle/>
                    <a:p>
                      <a:pPr algn="ctr"/>
                      <a:endParaRPr lang="zh-TW" altLang="en-US" sz="2400" dirty="0"/>
                    </a:p>
                  </a:txBody>
                  <a:tcPr/>
                </a:tc>
                <a:tc>
                  <a:txBody>
                    <a:bodyPr/>
                    <a:lstStyle/>
                    <a:p>
                      <a:pPr algn="ctr"/>
                      <a:endParaRPr lang="zh-TW" altLang="en-US" sz="2400" dirty="0"/>
                    </a:p>
                  </a:txBody>
                  <a:tcPr/>
                </a:tc>
              </a:tr>
            </a:tbl>
          </a:graphicData>
        </a:graphic>
      </p:graphicFrame>
      <p:sp>
        <p:nvSpPr>
          <p:cNvPr id="8" name="文字方塊 7"/>
          <p:cNvSpPr txBox="1"/>
          <p:nvPr/>
        </p:nvSpPr>
        <p:spPr>
          <a:xfrm>
            <a:off x="785786" y="1285860"/>
            <a:ext cx="1560042" cy="461665"/>
          </a:xfrm>
          <a:prstGeom prst="rect">
            <a:avLst/>
          </a:prstGeom>
          <a:noFill/>
        </p:spPr>
        <p:txBody>
          <a:bodyPr wrap="none" rtlCol="0">
            <a:spAutoFit/>
          </a:bodyPr>
          <a:lstStyle/>
          <a:p>
            <a:r>
              <a:rPr lang="en-US" altLang="zh-TW" sz="2400" dirty="0" smtClean="0">
                <a:solidFill>
                  <a:srgbClr val="FF0000"/>
                </a:solidFill>
              </a:rPr>
              <a:t>D = 0 → 1  </a:t>
            </a:r>
            <a:endParaRPr lang="zh-TW" altLang="en-US" sz="2400" dirty="0">
              <a:solidFill>
                <a:srgbClr val="FF0000"/>
              </a:solidFill>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4"/>
            <a:ext cx="8229600" cy="1143000"/>
          </a:xfrm>
        </p:spPr>
        <p:txBody>
          <a:bodyPr/>
          <a:lstStyle/>
          <a:p>
            <a:pPr algn="l"/>
            <a:r>
              <a:rPr lang="en-US" altLang="zh-TW" dirty="0" smtClean="0">
                <a:latin typeface="Times New Roman" pitchFamily="18" charset="0"/>
                <a:cs typeface="Times New Roman" pitchFamily="18" charset="0"/>
              </a:rPr>
              <a:t>Algorithm </a:t>
            </a:r>
            <a:endParaRPr lang="zh-TW" altLang="en-US" dirty="0">
              <a:latin typeface="Times New Roman" pitchFamily="18" charset="0"/>
              <a:cs typeface="Times New Roman" pitchFamily="18" charset="0"/>
            </a:endParaRPr>
          </a:p>
        </p:txBody>
      </p:sp>
      <p:sp>
        <p:nvSpPr>
          <p:cNvPr id="6" name="文字方塊 5"/>
          <p:cNvSpPr txBox="1"/>
          <p:nvPr/>
        </p:nvSpPr>
        <p:spPr>
          <a:xfrm>
            <a:off x="3929058" y="285728"/>
            <a:ext cx="3000396" cy="1200329"/>
          </a:xfrm>
          <a:prstGeom prst="rect">
            <a:avLst/>
          </a:prstGeom>
          <a:noFill/>
        </p:spPr>
        <p:txBody>
          <a:bodyPr wrap="square" rtlCol="0">
            <a:spAutoFit/>
          </a:bodyPr>
          <a:lstStyle/>
          <a:p>
            <a:r>
              <a:rPr lang="en-US" altLang="zh-TW" sz="2400" dirty="0" smtClean="0">
                <a:latin typeface="Times New Roman" pitchFamily="18" charset="0"/>
                <a:cs typeface="Times New Roman" pitchFamily="18" charset="0"/>
              </a:rPr>
              <a:t>Match	       : 0</a:t>
            </a:r>
          </a:p>
          <a:p>
            <a:r>
              <a:rPr lang="en-US" altLang="zh-TW" sz="2400" dirty="0" smtClean="0">
                <a:latin typeface="Times New Roman" pitchFamily="18" charset="0"/>
                <a:cs typeface="Times New Roman" pitchFamily="18" charset="0"/>
              </a:rPr>
              <a:t>Mismatch   : 1</a:t>
            </a:r>
          </a:p>
          <a:p>
            <a:r>
              <a:rPr lang="en-US" altLang="zh-TW" sz="2400" dirty="0" smtClean="0">
                <a:latin typeface="Times New Roman" pitchFamily="18" charset="0"/>
                <a:cs typeface="Times New Roman" pitchFamily="18" charset="0"/>
              </a:rPr>
              <a:t>Gap	       : 2</a:t>
            </a:r>
            <a:endParaRPr lang="zh-TW" altLang="en-US" sz="2400" dirty="0">
              <a:latin typeface="Times New Roman" pitchFamily="18" charset="0"/>
              <a:cs typeface="Times New Roman" pitchFamily="18" charset="0"/>
            </a:endParaRPr>
          </a:p>
        </p:txBody>
      </p:sp>
      <p:graphicFrame>
        <p:nvGraphicFramePr>
          <p:cNvPr id="7" name="表格 6"/>
          <p:cNvGraphicFramePr>
            <a:graphicFrameLocks noGrp="1"/>
          </p:cNvGraphicFramePr>
          <p:nvPr/>
        </p:nvGraphicFramePr>
        <p:xfrm>
          <a:off x="642910" y="1785926"/>
          <a:ext cx="8001056" cy="4096078"/>
        </p:xfrm>
        <a:graphic>
          <a:graphicData uri="http://schemas.openxmlformats.org/drawingml/2006/table">
            <a:tbl>
              <a:tblPr firstRow="1" firstCol="1" bandRow="1">
                <a:tableStyleId>{5C22544A-7EE6-4342-B048-85BDC9FD1C3A}</a:tableStyleId>
              </a:tblPr>
              <a:tblGrid>
                <a:gridCol w="1143008"/>
                <a:gridCol w="1143008"/>
                <a:gridCol w="1143008"/>
                <a:gridCol w="1143008"/>
                <a:gridCol w="1143008"/>
                <a:gridCol w="1143008"/>
                <a:gridCol w="1143008"/>
              </a:tblGrid>
              <a:tr h="585154">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smtClean="0"/>
                        <a:t>A</a:t>
                      </a:r>
                      <a:endParaRPr lang="zh-TW" altLang="en-US" dirty="0"/>
                    </a:p>
                  </a:txBody>
                  <a:tcPr/>
                </a:tc>
                <a:tc>
                  <a:txBody>
                    <a:bodyPr/>
                    <a:lstStyle/>
                    <a:p>
                      <a:pPr algn="ctr"/>
                      <a:r>
                        <a:rPr lang="en-US" altLang="zh-TW" dirty="0" smtClean="0"/>
                        <a:t>C</a:t>
                      </a:r>
                      <a:endParaRPr lang="zh-TW" altLang="en-US" dirty="0"/>
                    </a:p>
                  </a:txBody>
                  <a:tcPr/>
                </a:tc>
                <a:tc>
                  <a:txBody>
                    <a:bodyPr/>
                    <a:lstStyle/>
                    <a:p>
                      <a:pPr algn="ctr"/>
                      <a:r>
                        <a:rPr lang="en-US" altLang="zh-TW" dirty="0" smtClean="0"/>
                        <a:t>G</a:t>
                      </a:r>
                      <a:endParaRPr lang="zh-TW" altLang="en-US" dirty="0"/>
                    </a:p>
                  </a:txBody>
                  <a:tcPr/>
                </a:tc>
                <a:tc>
                  <a:txBody>
                    <a:bodyPr/>
                    <a:lstStyle/>
                    <a:p>
                      <a:pPr algn="ctr"/>
                      <a:r>
                        <a:rPr lang="en-US" altLang="zh-TW" dirty="0" smtClean="0"/>
                        <a:t>A</a:t>
                      </a:r>
                      <a:endParaRPr lang="zh-TW" altLang="en-US" dirty="0"/>
                    </a:p>
                  </a:txBody>
                  <a:tcPr/>
                </a:tc>
                <a:tc>
                  <a:txBody>
                    <a:bodyPr/>
                    <a:lstStyle/>
                    <a:p>
                      <a:pPr algn="ctr"/>
                      <a:r>
                        <a:rPr lang="en-US" altLang="zh-TW" dirty="0" smtClean="0"/>
                        <a:t>C</a:t>
                      </a:r>
                      <a:endParaRPr lang="zh-TW" altLang="en-US" dirty="0"/>
                    </a:p>
                  </a:txBody>
                  <a:tcPr/>
                </a:tc>
              </a:tr>
              <a:tr h="585154">
                <a:tc>
                  <a:txBody>
                    <a:bodyPr/>
                    <a:lstStyle/>
                    <a:p>
                      <a:pPr algn="ctr"/>
                      <a:endParaRPr lang="zh-TW" altLang="en-US" dirty="0"/>
                    </a:p>
                  </a:txBody>
                  <a:tcPr/>
                </a:tc>
                <a:tc>
                  <a:txBody>
                    <a:bodyPr/>
                    <a:lstStyle/>
                    <a:p>
                      <a:pPr algn="ctr"/>
                      <a:r>
                        <a:rPr lang="en-US" altLang="zh-TW" sz="2400" dirty="0" smtClean="0"/>
                        <a:t>0</a:t>
                      </a:r>
                      <a:endParaRPr lang="zh-TW" altLang="en-US" sz="2400" dirty="0"/>
                    </a:p>
                  </a:txBody>
                  <a:tcPr/>
                </a:tc>
                <a:tc>
                  <a:txBody>
                    <a:bodyPr/>
                    <a:lstStyle/>
                    <a:p>
                      <a:pPr algn="ctr"/>
                      <a:r>
                        <a:rPr lang="en-US" altLang="zh-TW" sz="2400" dirty="0" smtClean="0"/>
                        <a:t>2</a:t>
                      </a:r>
                      <a:endParaRPr lang="zh-TW" altLang="en-US" sz="2400" dirty="0"/>
                    </a:p>
                  </a:txBody>
                  <a:tcPr/>
                </a:tc>
                <a:tc>
                  <a:txBody>
                    <a:bodyPr/>
                    <a:lstStyle/>
                    <a:p>
                      <a:pPr algn="ctr"/>
                      <a:endParaRPr lang="zh-TW" altLang="en-US" sz="2400" dirty="0"/>
                    </a:p>
                  </a:txBody>
                  <a:tcPr/>
                </a:tc>
                <a:tc>
                  <a:txBody>
                    <a:bodyPr/>
                    <a:lstStyle/>
                    <a:p>
                      <a:pPr algn="ctr"/>
                      <a:endParaRPr lang="zh-TW" altLang="en-US" sz="2400" dirty="0"/>
                    </a:p>
                  </a:txBody>
                  <a:tcPr/>
                </a:tc>
                <a:tc>
                  <a:txBody>
                    <a:bodyPr/>
                    <a:lstStyle/>
                    <a:p>
                      <a:pPr algn="ctr"/>
                      <a:endParaRPr lang="zh-TW" altLang="en-US" sz="2400" dirty="0"/>
                    </a:p>
                  </a:txBody>
                  <a:tcPr/>
                </a:tc>
                <a:tc>
                  <a:txBody>
                    <a:bodyPr/>
                    <a:lstStyle/>
                    <a:p>
                      <a:pPr algn="ctr"/>
                      <a:endParaRPr lang="zh-TW" altLang="en-US" sz="2400" dirty="0"/>
                    </a:p>
                  </a:txBody>
                  <a:tcPr/>
                </a:tc>
              </a:tr>
              <a:tr h="585154">
                <a:tc>
                  <a:txBody>
                    <a:bodyPr/>
                    <a:lstStyle/>
                    <a:p>
                      <a:pPr algn="ctr"/>
                      <a:r>
                        <a:rPr lang="en-US" altLang="zh-TW" dirty="0" smtClean="0"/>
                        <a:t>A</a:t>
                      </a:r>
                      <a:endParaRPr lang="zh-TW" altLang="en-US" dirty="0"/>
                    </a:p>
                  </a:txBody>
                  <a:tcPr/>
                </a:tc>
                <a:tc>
                  <a:txBody>
                    <a:bodyPr/>
                    <a:lstStyle/>
                    <a:p>
                      <a:pPr algn="ctr"/>
                      <a:r>
                        <a:rPr lang="en-US" altLang="zh-TW" sz="2400" dirty="0" smtClean="0"/>
                        <a:t>2</a:t>
                      </a:r>
                      <a:endParaRPr lang="zh-TW" altLang="en-US" sz="2400" dirty="0"/>
                    </a:p>
                  </a:txBody>
                  <a:tcPr/>
                </a:tc>
                <a:tc>
                  <a:txBody>
                    <a:bodyPr/>
                    <a:lstStyle/>
                    <a:p>
                      <a:pPr algn="ctr"/>
                      <a:r>
                        <a:rPr lang="en-US" altLang="zh-TW" sz="2400" dirty="0" smtClean="0"/>
                        <a:t>0</a:t>
                      </a:r>
                      <a:endParaRPr lang="zh-TW" altLang="en-US" sz="2400" dirty="0"/>
                    </a:p>
                  </a:txBody>
                  <a:tcPr/>
                </a:tc>
                <a:tc>
                  <a:txBody>
                    <a:bodyPr/>
                    <a:lstStyle/>
                    <a:p>
                      <a:pPr algn="ctr"/>
                      <a:r>
                        <a:rPr lang="en-US" altLang="zh-TW" sz="2400" dirty="0" smtClean="0"/>
                        <a:t>2</a:t>
                      </a:r>
                      <a:endParaRPr lang="zh-TW" altLang="en-US" sz="2400" dirty="0"/>
                    </a:p>
                  </a:txBody>
                  <a:tcPr/>
                </a:tc>
                <a:tc>
                  <a:txBody>
                    <a:bodyPr/>
                    <a:lstStyle/>
                    <a:p>
                      <a:pPr algn="ctr"/>
                      <a:endParaRPr lang="zh-TW" altLang="en-US" sz="2400" dirty="0"/>
                    </a:p>
                  </a:txBody>
                  <a:tcPr/>
                </a:tc>
                <a:tc>
                  <a:txBody>
                    <a:bodyPr/>
                    <a:lstStyle/>
                    <a:p>
                      <a:pPr algn="ctr"/>
                      <a:endParaRPr lang="zh-TW" altLang="en-US" sz="2400" dirty="0"/>
                    </a:p>
                  </a:txBody>
                  <a:tcPr/>
                </a:tc>
                <a:tc>
                  <a:txBody>
                    <a:bodyPr/>
                    <a:lstStyle/>
                    <a:p>
                      <a:pPr algn="ctr"/>
                      <a:endParaRPr lang="zh-TW" altLang="en-US" sz="2400" dirty="0"/>
                    </a:p>
                  </a:txBody>
                  <a:tcPr/>
                </a:tc>
              </a:tr>
              <a:tr h="585154">
                <a:tc>
                  <a:txBody>
                    <a:bodyPr/>
                    <a:lstStyle/>
                    <a:p>
                      <a:pPr algn="ctr"/>
                      <a:r>
                        <a:rPr lang="en-US" altLang="zh-TW" dirty="0" smtClean="0"/>
                        <a:t>C</a:t>
                      </a:r>
                      <a:endParaRPr lang="zh-TW" altLang="en-US" dirty="0"/>
                    </a:p>
                  </a:txBody>
                  <a:tcPr/>
                </a:tc>
                <a:tc>
                  <a:txBody>
                    <a:bodyPr/>
                    <a:lstStyle/>
                    <a:p>
                      <a:pPr algn="ctr"/>
                      <a:endParaRPr lang="zh-TW" altLang="en-US" sz="2400" dirty="0"/>
                    </a:p>
                  </a:txBody>
                  <a:tcPr/>
                </a:tc>
                <a:tc>
                  <a:txBody>
                    <a:bodyPr/>
                    <a:lstStyle/>
                    <a:p>
                      <a:pPr algn="ctr"/>
                      <a:r>
                        <a:rPr lang="en-US" altLang="zh-TW" sz="2400" dirty="0" smtClean="0"/>
                        <a:t>2</a:t>
                      </a:r>
                      <a:endParaRPr lang="zh-TW" altLang="en-US" sz="2400" dirty="0"/>
                    </a:p>
                  </a:txBody>
                  <a:tcPr/>
                </a:tc>
                <a:tc>
                  <a:txBody>
                    <a:bodyPr/>
                    <a:lstStyle/>
                    <a:p>
                      <a:pPr algn="ctr"/>
                      <a:r>
                        <a:rPr lang="en-US" altLang="zh-TW" sz="2400" dirty="0" smtClean="0"/>
                        <a:t>0</a:t>
                      </a:r>
                      <a:endParaRPr lang="zh-TW" altLang="en-US" sz="2400" dirty="0"/>
                    </a:p>
                  </a:txBody>
                  <a:tcPr/>
                </a:tc>
                <a:tc>
                  <a:txBody>
                    <a:bodyPr/>
                    <a:lstStyle/>
                    <a:p>
                      <a:pPr algn="ctr"/>
                      <a:r>
                        <a:rPr lang="en-US" altLang="zh-TW" sz="2400" dirty="0" smtClean="0"/>
                        <a:t>2</a:t>
                      </a:r>
                      <a:endParaRPr lang="zh-TW" altLang="en-US" sz="2400" dirty="0"/>
                    </a:p>
                  </a:txBody>
                  <a:tcPr/>
                </a:tc>
                <a:tc>
                  <a:txBody>
                    <a:bodyPr/>
                    <a:lstStyle/>
                    <a:p>
                      <a:pPr algn="ctr"/>
                      <a:endParaRPr lang="zh-TW" altLang="en-US" sz="2400" dirty="0"/>
                    </a:p>
                  </a:txBody>
                  <a:tcPr/>
                </a:tc>
                <a:tc>
                  <a:txBody>
                    <a:bodyPr/>
                    <a:lstStyle/>
                    <a:p>
                      <a:pPr algn="ctr"/>
                      <a:endParaRPr lang="zh-TW" altLang="en-US" sz="2400" dirty="0"/>
                    </a:p>
                  </a:txBody>
                  <a:tcPr/>
                </a:tc>
              </a:tr>
              <a:tr h="585154">
                <a:tc>
                  <a:txBody>
                    <a:bodyPr/>
                    <a:lstStyle/>
                    <a:p>
                      <a:pPr algn="ctr"/>
                      <a:r>
                        <a:rPr lang="en-US" altLang="zh-TW" dirty="0" smtClean="0"/>
                        <a:t>A</a:t>
                      </a:r>
                      <a:endParaRPr lang="zh-TW" altLang="en-US" dirty="0"/>
                    </a:p>
                  </a:txBody>
                  <a:tcPr/>
                </a:tc>
                <a:tc>
                  <a:txBody>
                    <a:bodyPr/>
                    <a:lstStyle/>
                    <a:p>
                      <a:pPr algn="ctr"/>
                      <a:endParaRPr lang="zh-TW" altLang="en-US" sz="2400" dirty="0"/>
                    </a:p>
                  </a:txBody>
                  <a:tcPr/>
                </a:tc>
                <a:tc>
                  <a:txBody>
                    <a:bodyPr/>
                    <a:lstStyle/>
                    <a:p>
                      <a:pPr algn="ctr"/>
                      <a:endParaRPr lang="zh-TW" altLang="en-US" sz="2400" dirty="0"/>
                    </a:p>
                  </a:txBody>
                  <a:tcPr/>
                </a:tc>
                <a:tc>
                  <a:txBody>
                    <a:bodyPr/>
                    <a:lstStyle/>
                    <a:p>
                      <a:pPr algn="ctr"/>
                      <a:r>
                        <a:rPr lang="en-US" altLang="zh-TW" sz="2400" dirty="0" smtClean="0"/>
                        <a:t>2</a:t>
                      </a:r>
                      <a:endParaRPr lang="zh-TW" altLang="en-US" sz="2400" dirty="0"/>
                    </a:p>
                  </a:txBody>
                  <a:tcPr/>
                </a:tc>
                <a:tc>
                  <a:txBody>
                    <a:bodyPr/>
                    <a:lstStyle/>
                    <a:p>
                      <a:pPr algn="ctr"/>
                      <a:r>
                        <a:rPr lang="en-US" altLang="zh-TW" sz="2400" dirty="0" smtClean="0">
                          <a:solidFill>
                            <a:srgbClr val="FF0000"/>
                          </a:solidFill>
                        </a:rPr>
                        <a:t>1</a:t>
                      </a:r>
                      <a:endParaRPr lang="zh-TW" altLang="en-US" sz="2400" dirty="0">
                        <a:solidFill>
                          <a:srgbClr val="FF0000"/>
                        </a:solidFill>
                      </a:endParaRPr>
                    </a:p>
                  </a:txBody>
                  <a:tcPr/>
                </a:tc>
                <a:tc>
                  <a:txBody>
                    <a:bodyPr/>
                    <a:lstStyle/>
                    <a:p>
                      <a:pPr algn="ctr"/>
                      <a:r>
                        <a:rPr lang="en-US" altLang="zh-TW" sz="2400" dirty="0" smtClean="0"/>
                        <a:t>3</a:t>
                      </a:r>
                      <a:endParaRPr lang="zh-TW" altLang="en-US" sz="2400" dirty="0"/>
                    </a:p>
                  </a:txBody>
                  <a:tcPr/>
                </a:tc>
                <a:tc>
                  <a:txBody>
                    <a:bodyPr/>
                    <a:lstStyle/>
                    <a:p>
                      <a:pPr algn="ctr"/>
                      <a:endParaRPr lang="zh-TW" altLang="en-US" sz="2400" dirty="0"/>
                    </a:p>
                  </a:txBody>
                  <a:tcPr/>
                </a:tc>
              </a:tr>
              <a:tr h="585154">
                <a:tc>
                  <a:txBody>
                    <a:bodyPr/>
                    <a:lstStyle/>
                    <a:p>
                      <a:pPr algn="ctr"/>
                      <a:r>
                        <a:rPr lang="en-US" altLang="zh-TW" dirty="0" smtClean="0"/>
                        <a:t>G</a:t>
                      </a:r>
                      <a:endParaRPr lang="zh-TW" altLang="en-US" dirty="0"/>
                    </a:p>
                  </a:txBody>
                  <a:tcPr/>
                </a:tc>
                <a:tc>
                  <a:txBody>
                    <a:bodyPr/>
                    <a:lstStyle/>
                    <a:p>
                      <a:pPr algn="ctr"/>
                      <a:endParaRPr lang="zh-TW" altLang="en-US" sz="2400" dirty="0"/>
                    </a:p>
                  </a:txBody>
                  <a:tcPr/>
                </a:tc>
                <a:tc>
                  <a:txBody>
                    <a:bodyPr/>
                    <a:lstStyle/>
                    <a:p>
                      <a:pPr algn="ctr"/>
                      <a:endParaRPr lang="zh-TW" altLang="en-US" sz="2400" dirty="0"/>
                    </a:p>
                  </a:txBody>
                  <a:tcPr/>
                </a:tc>
                <a:tc>
                  <a:txBody>
                    <a:bodyPr/>
                    <a:lstStyle/>
                    <a:p>
                      <a:pPr algn="ctr"/>
                      <a:endParaRPr lang="zh-TW" altLang="en-US" sz="2400" dirty="0"/>
                    </a:p>
                  </a:txBody>
                  <a:tcPr/>
                </a:tc>
                <a:tc>
                  <a:txBody>
                    <a:bodyPr/>
                    <a:lstStyle/>
                    <a:p>
                      <a:pPr algn="ctr"/>
                      <a:r>
                        <a:rPr lang="en-US" altLang="zh-TW" sz="2400" dirty="0" smtClean="0"/>
                        <a:t>3</a:t>
                      </a:r>
                      <a:endParaRPr lang="zh-TW" altLang="en-US" sz="2400" dirty="0"/>
                    </a:p>
                  </a:txBody>
                  <a:tcPr/>
                </a:tc>
                <a:tc>
                  <a:txBody>
                    <a:bodyPr/>
                    <a:lstStyle/>
                    <a:p>
                      <a:pPr algn="ctr"/>
                      <a:r>
                        <a:rPr lang="en-US" altLang="zh-TW" sz="2400" dirty="0" smtClean="0"/>
                        <a:t>2</a:t>
                      </a:r>
                      <a:endParaRPr lang="zh-TW" altLang="en-US" sz="2400" dirty="0"/>
                    </a:p>
                  </a:txBody>
                  <a:tcPr/>
                </a:tc>
                <a:tc>
                  <a:txBody>
                    <a:bodyPr/>
                    <a:lstStyle/>
                    <a:p>
                      <a:pPr algn="ctr"/>
                      <a:endParaRPr lang="zh-TW" altLang="en-US" sz="2400" dirty="0"/>
                    </a:p>
                  </a:txBody>
                  <a:tcPr/>
                </a:tc>
              </a:tr>
              <a:tr h="585154">
                <a:tc>
                  <a:txBody>
                    <a:bodyPr/>
                    <a:lstStyle/>
                    <a:p>
                      <a:pPr algn="ctr"/>
                      <a:r>
                        <a:rPr lang="en-US" altLang="zh-TW" dirty="0" smtClean="0"/>
                        <a:t>C</a:t>
                      </a:r>
                      <a:endParaRPr lang="zh-TW" altLang="en-US" dirty="0"/>
                    </a:p>
                  </a:txBody>
                  <a:tcPr/>
                </a:tc>
                <a:tc>
                  <a:txBody>
                    <a:bodyPr/>
                    <a:lstStyle/>
                    <a:p>
                      <a:pPr algn="ctr"/>
                      <a:endParaRPr lang="zh-TW" altLang="en-US" sz="2400" dirty="0"/>
                    </a:p>
                  </a:txBody>
                  <a:tcPr/>
                </a:tc>
                <a:tc>
                  <a:txBody>
                    <a:bodyPr/>
                    <a:lstStyle/>
                    <a:p>
                      <a:pPr algn="ctr"/>
                      <a:endParaRPr lang="zh-TW" altLang="en-US" sz="2400" dirty="0"/>
                    </a:p>
                  </a:txBody>
                  <a:tcPr/>
                </a:tc>
                <a:tc>
                  <a:txBody>
                    <a:bodyPr/>
                    <a:lstStyle/>
                    <a:p>
                      <a:pPr algn="ctr"/>
                      <a:endParaRPr lang="zh-TW" altLang="en-US" sz="2400" dirty="0"/>
                    </a:p>
                  </a:txBody>
                  <a:tcPr/>
                </a:tc>
                <a:tc>
                  <a:txBody>
                    <a:bodyPr/>
                    <a:lstStyle/>
                    <a:p>
                      <a:pPr algn="ctr"/>
                      <a:endParaRPr lang="zh-TW" altLang="en-US" sz="2400" dirty="0"/>
                    </a:p>
                  </a:txBody>
                  <a:tcPr/>
                </a:tc>
                <a:tc>
                  <a:txBody>
                    <a:bodyPr/>
                    <a:lstStyle/>
                    <a:p>
                      <a:pPr algn="ctr"/>
                      <a:endParaRPr lang="zh-TW" altLang="en-US" sz="2400" dirty="0"/>
                    </a:p>
                  </a:txBody>
                  <a:tcPr/>
                </a:tc>
                <a:tc>
                  <a:txBody>
                    <a:bodyPr/>
                    <a:lstStyle/>
                    <a:p>
                      <a:pPr algn="ctr"/>
                      <a:endParaRPr lang="zh-TW" altLang="en-US" sz="2400" dirty="0"/>
                    </a:p>
                  </a:txBody>
                  <a:tcPr/>
                </a:tc>
              </a:tr>
            </a:tbl>
          </a:graphicData>
        </a:graphic>
      </p:graphicFrame>
      <p:sp>
        <p:nvSpPr>
          <p:cNvPr id="8" name="文字方塊 7"/>
          <p:cNvSpPr txBox="1"/>
          <p:nvPr/>
        </p:nvSpPr>
        <p:spPr>
          <a:xfrm>
            <a:off x="785786" y="1285860"/>
            <a:ext cx="821059" cy="461665"/>
          </a:xfrm>
          <a:prstGeom prst="rect">
            <a:avLst/>
          </a:prstGeom>
          <a:noFill/>
        </p:spPr>
        <p:txBody>
          <a:bodyPr wrap="none" rtlCol="0">
            <a:spAutoFit/>
          </a:bodyPr>
          <a:lstStyle/>
          <a:p>
            <a:r>
              <a:rPr lang="en-US" altLang="zh-TW" sz="2400" dirty="0" smtClean="0">
                <a:solidFill>
                  <a:srgbClr val="FF0000"/>
                </a:solidFill>
              </a:rPr>
              <a:t>D = 1</a:t>
            </a:r>
            <a:endParaRPr lang="zh-TW" altLang="en-US" sz="2400" dirty="0">
              <a:solidFill>
                <a:srgbClr val="FF0000"/>
              </a:solidFill>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4"/>
            <a:ext cx="8229600" cy="1143000"/>
          </a:xfrm>
        </p:spPr>
        <p:txBody>
          <a:bodyPr/>
          <a:lstStyle/>
          <a:p>
            <a:pPr algn="l"/>
            <a:r>
              <a:rPr lang="en-US" altLang="zh-TW" dirty="0" smtClean="0">
                <a:latin typeface="Times New Roman" pitchFamily="18" charset="0"/>
                <a:cs typeface="Times New Roman" pitchFamily="18" charset="0"/>
              </a:rPr>
              <a:t>Algorithm </a:t>
            </a:r>
            <a:endParaRPr lang="zh-TW" altLang="en-US" dirty="0">
              <a:latin typeface="Times New Roman" pitchFamily="18" charset="0"/>
              <a:cs typeface="Times New Roman" pitchFamily="18" charset="0"/>
            </a:endParaRPr>
          </a:p>
        </p:txBody>
      </p:sp>
      <p:sp>
        <p:nvSpPr>
          <p:cNvPr id="6" name="文字方塊 5"/>
          <p:cNvSpPr txBox="1"/>
          <p:nvPr/>
        </p:nvSpPr>
        <p:spPr>
          <a:xfrm>
            <a:off x="3929058" y="285728"/>
            <a:ext cx="3000396" cy="1200329"/>
          </a:xfrm>
          <a:prstGeom prst="rect">
            <a:avLst/>
          </a:prstGeom>
          <a:noFill/>
        </p:spPr>
        <p:txBody>
          <a:bodyPr wrap="square" rtlCol="0">
            <a:spAutoFit/>
          </a:bodyPr>
          <a:lstStyle/>
          <a:p>
            <a:r>
              <a:rPr lang="en-US" altLang="zh-TW" sz="2400" dirty="0" smtClean="0">
                <a:latin typeface="Times New Roman" pitchFamily="18" charset="0"/>
                <a:cs typeface="Times New Roman" pitchFamily="18" charset="0"/>
              </a:rPr>
              <a:t>Match	       : 0</a:t>
            </a:r>
          </a:p>
          <a:p>
            <a:r>
              <a:rPr lang="en-US" altLang="zh-TW" sz="2400" dirty="0" smtClean="0">
                <a:latin typeface="Times New Roman" pitchFamily="18" charset="0"/>
                <a:cs typeface="Times New Roman" pitchFamily="18" charset="0"/>
              </a:rPr>
              <a:t>Mismatch   : 1</a:t>
            </a:r>
          </a:p>
          <a:p>
            <a:r>
              <a:rPr lang="en-US" altLang="zh-TW" sz="2400" dirty="0" smtClean="0">
                <a:latin typeface="Times New Roman" pitchFamily="18" charset="0"/>
                <a:cs typeface="Times New Roman" pitchFamily="18" charset="0"/>
              </a:rPr>
              <a:t>Gap	       : 2</a:t>
            </a:r>
            <a:endParaRPr lang="zh-TW" altLang="en-US" sz="2400" dirty="0">
              <a:latin typeface="Times New Roman" pitchFamily="18" charset="0"/>
              <a:cs typeface="Times New Roman" pitchFamily="18" charset="0"/>
            </a:endParaRPr>
          </a:p>
        </p:txBody>
      </p:sp>
      <p:graphicFrame>
        <p:nvGraphicFramePr>
          <p:cNvPr id="7" name="表格 6"/>
          <p:cNvGraphicFramePr>
            <a:graphicFrameLocks noGrp="1"/>
          </p:cNvGraphicFramePr>
          <p:nvPr/>
        </p:nvGraphicFramePr>
        <p:xfrm>
          <a:off x="642910" y="1785926"/>
          <a:ext cx="8001056" cy="4096078"/>
        </p:xfrm>
        <a:graphic>
          <a:graphicData uri="http://schemas.openxmlformats.org/drawingml/2006/table">
            <a:tbl>
              <a:tblPr firstRow="1" firstCol="1" bandRow="1">
                <a:tableStyleId>{5C22544A-7EE6-4342-B048-85BDC9FD1C3A}</a:tableStyleId>
              </a:tblPr>
              <a:tblGrid>
                <a:gridCol w="1143008"/>
                <a:gridCol w="1143008"/>
                <a:gridCol w="1143008"/>
                <a:gridCol w="1143008"/>
                <a:gridCol w="1143008"/>
                <a:gridCol w="1143008"/>
                <a:gridCol w="1143008"/>
              </a:tblGrid>
              <a:tr h="585154">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smtClean="0"/>
                        <a:t>A</a:t>
                      </a:r>
                      <a:endParaRPr lang="zh-TW" altLang="en-US" dirty="0"/>
                    </a:p>
                  </a:txBody>
                  <a:tcPr/>
                </a:tc>
                <a:tc>
                  <a:txBody>
                    <a:bodyPr/>
                    <a:lstStyle/>
                    <a:p>
                      <a:pPr algn="ctr"/>
                      <a:r>
                        <a:rPr lang="en-US" altLang="zh-TW" dirty="0" smtClean="0"/>
                        <a:t>C</a:t>
                      </a:r>
                      <a:endParaRPr lang="zh-TW" altLang="en-US" dirty="0"/>
                    </a:p>
                  </a:txBody>
                  <a:tcPr/>
                </a:tc>
                <a:tc>
                  <a:txBody>
                    <a:bodyPr/>
                    <a:lstStyle/>
                    <a:p>
                      <a:pPr algn="ctr"/>
                      <a:r>
                        <a:rPr lang="en-US" altLang="zh-TW" dirty="0" smtClean="0"/>
                        <a:t>G</a:t>
                      </a:r>
                      <a:endParaRPr lang="zh-TW" altLang="en-US" dirty="0"/>
                    </a:p>
                  </a:txBody>
                  <a:tcPr/>
                </a:tc>
                <a:tc>
                  <a:txBody>
                    <a:bodyPr/>
                    <a:lstStyle/>
                    <a:p>
                      <a:pPr algn="ctr"/>
                      <a:r>
                        <a:rPr lang="en-US" altLang="zh-TW" dirty="0" smtClean="0"/>
                        <a:t>A</a:t>
                      </a:r>
                      <a:endParaRPr lang="zh-TW" altLang="en-US" dirty="0"/>
                    </a:p>
                  </a:txBody>
                  <a:tcPr/>
                </a:tc>
                <a:tc>
                  <a:txBody>
                    <a:bodyPr/>
                    <a:lstStyle/>
                    <a:p>
                      <a:pPr algn="ctr"/>
                      <a:r>
                        <a:rPr lang="en-US" altLang="zh-TW" dirty="0" smtClean="0"/>
                        <a:t>C</a:t>
                      </a:r>
                      <a:endParaRPr lang="zh-TW" altLang="en-US" dirty="0"/>
                    </a:p>
                  </a:txBody>
                  <a:tcPr/>
                </a:tc>
              </a:tr>
              <a:tr h="585154">
                <a:tc>
                  <a:txBody>
                    <a:bodyPr/>
                    <a:lstStyle/>
                    <a:p>
                      <a:pPr algn="ctr"/>
                      <a:endParaRPr lang="zh-TW" altLang="en-US" dirty="0"/>
                    </a:p>
                  </a:txBody>
                  <a:tcPr/>
                </a:tc>
                <a:tc>
                  <a:txBody>
                    <a:bodyPr/>
                    <a:lstStyle/>
                    <a:p>
                      <a:pPr algn="ctr"/>
                      <a:r>
                        <a:rPr lang="en-US" altLang="zh-TW" sz="2400" dirty="0" smtClean="0"/>
                        <a:t>0</a:t>
                      </a:r>
                      <a:endParaRPr lang="zh-TW" altLang="en-US" sz="2400" dirty="0"/>
                    </a:p>
                  </a:txBody>
                  <a:tcPr/>
                </a:tc>
                <a:tc>
                  <a:txBody>
                    <a:bodyPr/>
                    <a:lstStyle/>
                    <a:p>
                      <a:pPr algn="ctr"/>
                      <a:r>
                        <a:rPr lang="en-US" altLang="zh-TW" sz="2400" dirty="0" smtClean="0"/>
                        <a:t>2</a:t>
                      </a:r>
                      <a:endParaRPr lang="zh-TW" altLang="en-US" sz="2400" dirty="0"/>
                    </a:p>
                  </a:txBody>
                  <a:tcPr/>
                </a:tc>
                <a:tc>
                  <a:txBody>
                    <a:bodyPr/>
                    <a:lstStyle/>
                    <a:p>
                      <a:pPr algn="ctr"/>
                      <a:endParaRPr lang="zh-TW" altLang="en-US" sz="2400" dirty="0"/>
                    </a:p>
                  </a:txBody>
                  <a:tcPr/>
                </a:tc>
                <a:tc>
                  <a:txBody>
                    <a:bodyPr/>
                    <a:lstStyle/>
                    <a:p>
                      <a:pPr algn="ctr"/>
                      <a:endParaRPr lang="zh-TW" altLang="en-US" sz="2400" dirty="0"/>
                    </a:p>
                  </a:txBody>
                  <a:tcPr/>
                </a:tc>
                <a:tc>
                  <a:txBody>
                    <a:bodyPr/>
                    <a:lstStyle/>
                    <a:p>
                      <a:pPr algn="ctr"/>
                      <a:endParaRPr lang="zh-TW" altLang="en-US" sz="2400" dirty="0"/>
                    </a:p>
                  </a:txBody>
                  <a:tcPr/>
                </a:tc>
                <a:tc>
                  <a:txBody>
                    <a:bodyPr/>
                    <a:lstStyle/>
                    <a:p>
                      <a:pPr algn="ctr"/>
                      <a:endParaRPr lang="zh-TW" altLang="en-US" sz="2400" dirty="0"/>
                    </a:p>
                  </a:txBody>
                  <a:tcPr/>
                </a:tc>
              </a:tr>
              <a:tr h="585154">
                <a:tc>
                  <a:txBody>
                    <a:bodyPr/>
                    <a:lstStyle/>
                    <a:p>
                      <a:pPr algn="ctr"/>
                      <a:r>
                        <a:rPr lang="en-US" altLang="zh-TW" dirty="0" smtClean="0"/>
                        <a:t>A</a:t>
                      </a:r>
                      <a:endParaRPr lang="zh-TW" altLang="en-US" dirty="0"/>
                    </a:p>
                  </a:txBody>
                  <a:tcPr/>
                </a:tc>
                <a:tc>
                  <a:txBody>
                    <a:bodyPr/>
                    <a:lstStyle/>
                    <a:p>
                      <a:pPr algn="ctr"/>
                      <a:r>
                        <a:rPr lang="en-US" altLang="zh-TW" sz="2400" dirty="0" smtClean="0"/>
                        <a:t>2</a:t>
                      </a:r>
                      <a:endParaRPr lang="zh-TW" altLang="en-US" sz="2400" dirty="0"/>
                    </a:p>
                  </a:txBody>
                  <a:tcPr/>
                </a:tc>
                <a:tc>
                  <a:txBody>
                    <a:bodyPr/>
                    <a:lstStyle/>
                    <a:p>
                      <a:pPr algn="ctr"/>
                      <a:r>
                        <a:rPr lang="en-US" altLang="zh-TW" sz="2400" dirty="0" smtClean="0"/>
                        <a:t>0</a:t>
                      </a:r>
                      <a:endParaRPr lang="zh-TW" altLang="en-US" sz="2400" dirty="0"/>
                    </a:p>
                  </a:txBody>
                  <a:tcPr/>
                </a:tc>
                <a:tc>
                  <a:txBody>
                    <a:bodyPr/>
                    <a:lstStyle/>
                    <a:p>
                      <a:pPr algn="ctr"/>
                      <a:r>
                        <a:rPr lang="en-US" altLang="zh-TW" sz="2400" dirty="0" smtClean="0"/>
                        <a:t>2</a:t>
                      </a:r>
                      <a:endParaRPr lang="zh-TW" altLang="en-US" sz="2400" dirty="0"/>
                    </a:p>
                  </a:txBody>
                  <a:tcPr/>
                </a:tc>
                <a:tc>
                  <a:txBody>
                    <a:bodyPr/>
                    <a:lstStyle/>
                    <a:p>
                      <a:pPr algn="ctr"/>
                      <a:endParaRPr lang="zh-TW" altLang="en-US" sz="2400" dirty="0"/>
                    </a:p>
                  </a:txBody>
                  <a:tcPr/>
                </a:tc>
                <a:tc>
                  <a:txBody>
                    <a:bodyPr/>
                    <a:lstStyle/>
                    <a:p>
                      <a:pPr algn="ctr"/>
                      <a:endParaRPr lang="zh-TW" altLang="en-US" sz="2400" dirty="0"/>
                    </a:p>
                  </a:txBody>
                  <a:tcPr/>
                </a:tc>
                <a:tc>
                  <a:txBody>
                    <a:bodyPr/>
                    <a:lstStyle/>
                    <a:p>
                      <a:pPr algn="ctr"/>
                      <a:endParaRPr lang="zh-TW" altLang="en-US" sz="2400" dirty="0"/>
                    </a:p>
                  </a:txBody>
                  <a:tcPr/>
                </a:tc>
              </a:tr>
              <a:tr h="585154">
                <a:tc>
                  <a:txBody>
                    <a:bodyPr/>
                    <a:lstStyle/>
                    <a:p>
                      <a:pPr algn="ctr"/>
                      <a:r>
                        <a:rPr lang="en-US" altLang="zh-TW" dirty="0" smtClean="0"/>
                        <a:t>C</a:t>
                      </a:r>
                      <a:endParaRPr lang="zh-TW" altLang="en-US" dirty="0"/>
                    </a:p>
                  </a:txBody>
                  <a:tcPr/>
                </a:tc>
                <a:tc>
                  <a:txBody>
                    <a:bodyPr/>
                    <a:lstStyle/>
                    <a:p>
                      <a:pPr algn="ctr"/>
                      <a:endParaRPr lang="zh-TW" altLang="en-US" sz="2400" dirty="0"/>
                    </a:p>
                  </a:txBody>
                  <a:tcPr/>
                </a:tc>
                <a:tc>
                  <a:txBody>
                    <a:bodyPr/>
                    <a:lstStyle/>
                    <a:p>
                      <a:pPr algn="ctr"/>
                      <a:r>
                        <a:rPr lang="en-US" altLang="zh-TW" sz="2400" dirty="0" smtClean="0"/>
                        <a:t>2</a:t>
                      </a:r>
                      <a:endParaRPr lang="zh-TW" altLang="en-US" sz="2400" dirty="0"/>
                    </a:p>
                  </a:txBody>
                  <a:tcPr/>
                </a:tc>
                <a:tc>
                  <a:txBody>
                    <a:bodyPr/>
                    <a:lstStyle/>
                    <a:p>
                      <a:pPr algn="ctr"/>
                      <a:r>
                        <a:rPr lang="en-US" altLang="zh-TW" sz="2400" dirty="0" smtClean="0"/>
                        <a:t>0</a:t>
                      </a:r>
                      <a:endParaRPr lang="zh-TW" altLang="en-US" sz="2400" dirty="0"/>
                    </a:p>
                  </a:txBody>
                  <a:tcPr/>
                </a:tc>
                <a:tc>
                  <a:txBody>
                    <a:bodyPr/>
                    <a:lstStyle/>
                    <a:p>
                      <a:pPr algn="ctr"/>
                      <a:r>
                        <a:rPr lang="en-US" altLang="zh-TW" sz="2400" dirty="0" smtClean="0"/>
                        <a:t>2</a:t>
                      </a:r>
                      <a:endParaRPr lang="zh-TW" altLang="en-US" sz="2400" dirty="0"/>
                    </a:p>
                  </a:txBody>
                  <a:tcPr/>
                </a:tc>
                <a:tc>
                  <a:txBody>
                    <a:bodyPr/>
                    <a:lstStyle/>
                    <a:p>
                      <a:pPr algn="ctr"/>
                      <a:endParaRPr lang="zh-TW" altLang="en-US" sz="2400" dirty="0"/>
                    </a:p>
                  </a:txBody>
                  <a:tcPr/>
                </a:tc>
                <a:tc>
                  <a:txBody>
                    <a:bodyPr/>
                    <a:lstStyle/>
                    <a:p>
                      <a:pPr algn="ctr"/>
                      <a:endParaRPr lang="zh-TW" altLang="en-US" sz="2400" dirty="0"/>
                    </a:p>
                  </a:txBody>
                  <a:tcPr/>
                </a:tc>
              </a:tr>
              <a:tr h="585154">
                <a:tc>
                  <a:txBody>
                    <a:bodyPr/>
                    <a:lstStyle/>
                    <a:p>
                      <a:pPr algn="ctr"/>
                      <a:r>
                        <a:rPr lang="en-US" altLang="zh-TW" dirty="0" smtClean="0"/>
                        <a:t>A</a:t>
                      </a:r>
                      <a:endParaRPr lang="zh-TW" altLang="en-US" dirty="0"/>
                    </a:p>
                  </a:txBody>
                  <a:tcPr/>
                </a:tc>
                <a:tc>
                  <a:txBody>
                    <a:bodyPr/>
                    <a:lstStyle/>
                    <a:p>
                      <a:pPr algn="ctr"/>
                      <a:endParaRPr lang="zh-TW" altLang="en-US" sz="2400" dirty="0"/>
                    </a:p>
                  </a:txBody>
                  <a:tcPr/>
                </a:tc>
                <a:tc>
                  <a:txBody>
                    <a:bodyPr/>
                    <a:lstStyle/>
                    <a:p>
                      <a:pPr algn="ctr"/>
                      <a:endParaRPr lang="zh-TW" altLang="en-US" sz="2400" dirty="0"/>
                    </a:p>
                  </a:txBody>
                  <a:tcPr/>
                </a:tc>
                <a:tc>
                  <a:txBody>
                    <a:bodyPr/>
                    <a:lstStyle/>
                    <a:p>
                      <a:pPr algn="ctr"/>
                      <a:r>
                        <a:rPr lang="en-US" altLang="zh-TW" sz="2400" dirty="0" smtClean="0"/>
                        <a:t>2</a:t>
                      </a:r>
                      <a:endParaRPr lang="zh-TW" altLang="en-US" sz="2400" dirty="0"/>
                    </a:p>
                  </a:txBody>
                  <a:tcPr/>
                </a:tc>
                <a:tc>
                  <a:txBody>
                    <a:bodyPr/>
                    <a:lstStyle/>
                    <a:p>
                      <a:pPr algn="ctr"/>
                      <a:r>
                        <a:rPr lang="en-US" altLang="zh-TW" sz="2400" dirty="0" smtClean="0">
                          <a:solidFill>
                            <a:schemeClr val="tx1"/>
                          </a:solidFill>
                        </a:rPr>
                        <a:t>1</a:t>
                      </a:r>
                      <a:endParaRPr lang="zh-TW" altLang="en-US" sz="2400" dirty="0">
                        <a:solidFill>
                          <a:schemeClr val="tx1"/>
                        </a:solidFill>
                      </a:endParaRPr>
                    </a:p>
                  </a:txBody>
                  <a:tcPr/>
                </a:tc>
                <a:tc>
                  <a:txBody>
                    <a:bodyPr/>
                    <a:lstStyle/>
                    <a:p>
                      <a:pPr algn="ctr"/>
                      <a:r>
                        <a:rPr lang="en-US" altLang="zh-TW" sz="2400" dirty="0" smtClean="0"/>
                        <a:t>3</a:t>
                      </a:r>
                      <a:endParaRPr lang="zh-TW" altLang="en-US" sz="2400" dirty="0"/>
                    </a:p>
                  </a:txBody>
                  <a:tcPr/>
                </a:tc>
                <a:tc>
                  <a:txBody>
                    <a:bodyPr/>
                    <a:lstStyle/>
                    <a:p>
                      <a:pPr algn="ctr"/>
                      <a:endParaRPr lang="zh-TW" altLang="en-US" sz="2400" dirty="0"/>
                    </a:p>
                  </a:txBody>
                  <a:tcPr/>
                </a:tc>
              </a:tr>
              <a:tr h="585154">
                <a:tc>
                  <a:txBody>
                    <a:bodyPr/>
                    <a:lstStyle/>
                    <a:p>
                      <a:pPr algn="ctr"/>
                      <a:r>
                        <a:rPr lang="en-US" altLang="zh-TW" dirty="0" smtClean="0"/>
                        <a:t>G</a:t>
                      </a:r>
                      <a:endParaRPr lang="zh-TW" altLang="en-US" dirty="0"/>
                    </a:p>
                  </a:txBody>
                  <a:tcPr/>
                </a:tc>
                <a:tc>
                  <a:txBody>
                    <a:bodyPr/>
                    <a:lstStyle/>
                    <a:p>
                      <a:pPr algn="ctr"/>
                      <a:endParaRPr lang="zh-TW" altLang="en-US" sz="2400" dirty="0"/>
                    </a:p>
                  </a:txBody>
                  <a:tcPr/>
                </a:tc>
                <a:tc>
                  <a:txBody>
                    <a:bodyPr/>
                    <a:lstStyle/>
                    <a:p>
                      <a:pPr algn="ctr"/>
                      <a:endParaRPr lang="zh-TW" altLang="en-US" sz="2400" dirty="0"/>
                    </a:p>
                  </a:txBody>
                  <a:tcPr/>
                </a:tc>
                <a:tc>
                  <a:txBody>
                    <a:bodyPr/>
                    <a:lstStyle/>
                    <a:p>
                      <a:pPr algn="ctr"/>
                      <a:endParaRPr lang="zh-TW" altLang="en-US" sz="2400" dirty="0"/>
                    </a:p>
                  </a:txBody>
                  <a:tcPr/>
                </a:tc>
                <a:tc>
                  <a:txBody>
                    <a:bodyPr/>
                    <a:lstStyle/>
                    <a:p>
                      <a:pPr algn="ctr"/>
                      <a:r>
                        <a:rPr lang="en-US" altLang="zh-TW" sz="2400" dirty="0" smtClean="0"/>
                        <a:t>3</a:t>
                      </a:r>
                      <a:endParaRPr lang="zh-TW" altLang="en-US" sz="2400" dirty="0"/>
                    </a:p>
                  </a:txBody>
                  <a:tcPr/>
                </a:tc>
                <a:tc>
                  <a:txBody>
                    <a:bodyPr/>
                    <a:lstStyle/>
                    <a:p>
                      <a:pPr algn="ctr"/>
                      <a:r>
                        <a:rPr lang="en-US" altLang="zh-TW" sz="2400" dirty="0" smtClean="0"/>
                        <a:t>2</a:t>
                      </a:r>
                      <a:endParaRPr lang="zh-TW" altLang="en-US" sz="2400" dirty="0"/>
                    </a:p>
                  </a:txBody>
                  <a:tcPr/>
                </a:tc>
                <a:tc>
                  <a:txBody>
                    <a:bodyPr/>
                    <a:lstStyle/>
                    <a:p>
                      <a:pPr algn="ctr"/>
                      <a:endParaRPr lang="zh-TW" altLang="en-US" sz="2400" dirty="0"/>
                    </a:p>
                  </a:txBody>
                  <a:tcPr/>
                </a:tc>
              </a:tr>
              <a:tr h="585154">
                <a:tc>
                  <a:txBody>
                    <a:bodyPr/>
                    <a:lstStyle/>
                    <a:p>
                      <a:pPr algn="ctr"/>
                      <a:r>
                        <a:rPr lang="en-US" altLang="zh-TW" dirty="0" smtClean="0"/>
                        <a:t>C</a:t>
                      </a:r>
                      <a:endParaRPr lang="zh-TW" altLang="en-US" dirty="0"/>
                    </a:p>
                  </a:txBody>
                  <a:tcPr/>
                </a:tc>
                <a:tc>
                  <a:txBody>
                    <a:bodyPr/>
                    <a:lstStyle/>
                    <a:p>
                      <a:pPr algn="ctr"/>
                      <a:endParaRPr lang="zh-TW" altLang="en-US" sz="2400" dirty="0"/>
                    </a:p>
                  </a:txBody>
                  <a:tcPr/>
                </a:tc>
                <a:tc>
                  <a:txBody>
                    <a:bodyPr/>
                    <a:lstStyle/>
                    <a:p>
                      <a:pPr algn="ctr"/>
                      <a:endParaRPr lang="zh-TW" altLang="en-US" sz="2400" dirty="0"/>
                    </a:p>
                  </a:txBody>
                  <a:tcPr/>
                </a:tc>
                <a:tc>
                  <a:txBody>
                    <a:bodyPr/>
                    <a:lstStyle/>
                    <a:p>
                      <a:pPr algn="ctr"/>
                      <a:endParaRPr lang="zh-TW" altLang="en-US" sz="2400" dirty="0"/>
                    </a:p>
                  </a:txBody>
                  <a:tcPr/>
                </a:tc>
                <a:tc>
                  <a:txBody>
                    <a:bodyPr/>
                    <a:lstStyle/>
                    <a:p>
                      <a:pPr algn="ctr"/>
                      <a:endParaRPr lang="zh-TW" altLang="en-US" sz="2400" dirty="0"/>
                    </a:p>
                  </a:txBody>
                  <a:tcPr/>
                </a:tc>
                <a:tc>
                  <a:txBody>
                    <a:bodyPr/>
                    <a:lstStyle/>
                    <a:p>
                      <a:pPr algn="ctr"/>
                      <a:endParaRPr lang="zh-TW" altLang="en-US" sz="2400" dirty="0"/>
                    </a:p>
                  </a:txBody>
                  <a:tcPr/>
                </a:tc>
                <a:tc>
                  <a:txBody>
                    <a:bodyPr/>
                    <a:lstStyle/>
                    <a:p>
                      <a:pPr algn="ctr"/>
                      <a:endParaRPr lang="zh-TW" altLang="en-US" sz="2400" dirty="0"/>
                    </a:p>
                  </a:txBody>
                  <a:tcPr/>
                </a:tc>
              </a:tr>
            </a:tbl>
          </a:graphicData>
        </a:graphic>
      </p:graphicFrame>
      <p:sp>
        <p:nvSpPr>
          <p:cNvPr id="8" name="文字方塊 7"/>
          <p:cNvSpPr txBox="1"/>
          <p:nvPr/>
        </p:nvSpPr>
        <p:spPr>
          <a:xfrm>
            <a:off x="785786" y="1285860"/>
            <a:ext cx="1393330" cy="461665"/>
          </a:xfrm>
          <a:prstGeom prst="rect">
            <a:avLst/>
          </a:prstGeom>
          <a:noFill/>
        </p:spPr>
        <p:txBody>
          <a:bodyPr wrap="none" rtlCol="0">
            <a:spAutoFit/>
          </a:bodyPr>
          <a:lstStyle/>
          <a:p>
            <a:r>
              <a:rPr lang="en-US" altLang="zh-TW" sz="2400" dirty="0" smtClean="0">
                <a:solidFill>
                  <a:srgbClr val="FF0000"/>
                </a:solidFill>
              </a:rPr>
              <a:t>D = 1 → 2</a:t>
            </a:r>
            <a:endParaRPr lang="zh-TW" altLang="en-US" sz="2400" dirty="0">
              <a:solidFill>
                <a:srgbClr val="FF0000"/>
              </a:solidFill>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4"/>
            <a:ext cx="8229600" cy="1143000"/>
          </a:xfrm>
        </p:spPr>
        <p:txBody>
          <a:bodyPr/>
          <a:lstStyle/>
          <a:p>
            <a:pPr algn="l"/>
            <a:r>
              <a:rPr lang="en-US" altLang="zh-TW" dirty="0" smtClean="0">
                <a:latin typeface="Times New Roman" pitchFamily="18" charset="0"/>
                <a:cs typeface="Times New Roman" pitchFamily="18" charset="0"/>
              </a:rPr>
              <a:t>Algorithm </a:t>
            </a:r>
            <a:endParaRPr lang="zh-TW" altLang="en-US" dirty="0">
              <a:latin typeface="Times New Roman" pitchFamily="18" charset="0"/>
              <a:cs typeface="Times New Roman" pitchFamily="18" charset="0"/>
            </a:endParaRPr>
          </a:p>
        </p:txBody>
      </p:sp>
      <p:sp>
        <p:nvSpPr>
          <p:cNvPr id="6" name="文字方塊 5"/>
          <p:cNvSpPr txBox="1"/>
          <p:nvPr/>
        </p:nvSpPr>
        <p:spPr>
          <a:xfrm>
            <a:off x="3929058" y="285728"/>
            <a:ext cx="3000396" cy="1200329"/>
          </a:xfrm>
          <a:prstGeom prst="rect">
            <a:avLst/>
          </a:prstGeom>
          <a:noFill/>
        </p:spPr>
        <p:txBody>
          <a:bodyPr wrap="square" rtlCol="0">
            <a:spAutoFit/>
          </a:bodyPr>
          <a:lstStyle/>
          <a:p>
            <a:r>
              <a:rPr lang="en-US" altLang="zh-TW" sz="2400" dirty="0" smtClean="0">
                <a:latin typeface="Times New Roman" pitchFamily="18" charset="0"/>
                <a:cs typeface="Times New Roman" pitchFamily="18" charset="0"/>
              </a:rPr>
              <a:t>Match	       : 0</a:t>
            </a:r>
          </a:p>
          <a:p>
            <a:r>
              <a:rPr lang="en-US" altLang="zh-TW" sz="2400" dirty="0" smtClean="0">
                <a:latin typeface="Times New Roman" pitchFamily="18" charset="0"/>
                <a:cs typeface="Times New Roman" pitchFamily="18" charset="0"/>
              </a:rPr>
              <a:t>Mismatch   : 1</a:t>
            </a:r>
          </a:p>
          <a:p>
            <a:r>
              <a:rPr lang="en-US" altLang="zh-TW" sz="2400" dirty="0" smtClean="0">
                <a:latin typeface="Times New Roman" pitchFamily="18" charset="0"/>
                <a:cs typeface="Times New Roman" pitchFamily="18" charset="0"/>
              </a:rPr>
              <a:t>Gap	       : 2</a:t>
            </a:r>
            <a:endParaRPr lang="zh-TW" altLang="en-US" sz="2400" dirty="0">
              <a:latin typeface="Times New Roman" pitchFamily="18" charset="0"/>
              <a:cs typeface="Times New Roman" pitchFamily="18" charset="0"/>
            </a:endParaRPr>
          </a:p>
        </p:txBody>
      </p:sp>
      <p:graphicFrame>
        <p:nvGraphicFramePr>
          <p:cNvPr id="7" name="表格 6"/>
          <p:cNvGraphicFramePr>
            <a:graphicFrameLocks noGrp="1"/>
          </p:cNvGraphicFramePr>
          <p:nvPr/>
        </p:nvGraphicFramePr>
        <p:xfrm>
          <a:off x="642910" y="1785926"/>
          <a:ext cx="8001056" cy="4096078"/>
        </p:xfrm>
        <a:graphic>
          <a:graphicData uri="http://schemas.openxmlformats.org/drawingml/2006/table">
            <a:tbl>
              <a:tblPr firstRow="1" firstCol="1" bandRow="1">
                <a:tableStyleId>{5C22544A-7EE6-4342-B048-85BDC9FD1C3A}</a:tableStyleId>
              </a:tblPr>
              <a:tblGrid>
                <a:gridCol w="1143008"/>
                <a:gridCol w="1143008"/>
                <a:gridCol w="1143008"/>
                <a:gridCol w="1143008"/>
                <a:gridCol w="1143008"/>
                <a:gridCol w="1143008"/>
                <a:gridCol w="1143008"/>
              </a:tblGrid>
              <a:tr h="585154">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smtClean="0"/>
                        <a:t>A</a:t>
                      </a:r>
                      <a:endParaRPr lang="zh-TW" altLang="en-US" dirty="0"/>
                    </a:p>
                  </a:txBody>
                  <a:tcPr/>
                </a:tc>
                <a:tc>
                  <a:txBody>
                    <a:bodyPr/>
                    <a:lstStyle/>
                    <a:p>
                      <a:pPr algn="ctr"/>
                      <a:r>
                        <a:rPr lang="en-US" altLang="zh-TW" dirty="0" smtClean="0"/>
                        <a:t>C</a:t>
                      </a:r>
                      <a:endParaRPr lang="zh-TW" altLang="en-US" dirty="0"/>
                    </a:p>
                  </a:txBody>
                  <a:tcPr/>
                </a:tc>
                <a:tc>
                  <a:txBody>
                    <a:bodyPr/>
                    <a:lstStyle/>
                    <a:p>
                      <a:pPr algn="ctr"/>
                      <a:r>
                        <a:rPr lang="en-US" altLang="zh-TW" dirty="0" smtClean="0"/>
                        <a:t>G</a:t>
                      </a:r>
                      <a:endParaRPr lang="zh-TW" altLang="en-US" dirty="0"/>
                    </a:p>
                  </a:txBody>
                  <a:tcPr/>
                </a:tc>
                <a:tc>
                  <a:txBody>
                    <a:bodyPr/>
                    <a:lstStyle/>
                    <a:p>
                      <a:pPr algn="ctr"/>
                      <a:r>
                        <a:rPr lang="en-US" altLang="zh-TW" dirty="0" smtClean="0"/>
                        <a:t>A</a:t>
                      </a:r>
                      <a:endParaRPr lang="zh-TW" altLang="en-US" dirty="0"/>
                    </a:p>
                  </a:txBody>
                  <a:tcPr/>
                </a:tc>
                <a:tc>
                  <a:txBody>
                    <a:bodyPr/>
                    <a:lstStyle/>
                    <a:p>
                      <a:pPr algn="ctr"/>
                      <a:r>
                        <a:rPr lang="en-US" altLang="zh-TW" dirty="0" smtClean="0"/>
                        <a:t>C</a:t>
                      </a:r>
                      <a:endParaRPr lang="zh-TW" altLang="en-US" dirty="0"/>
                    </a:p>
                  </a:txBody>
                  <a:tcPr/>
                </a:tc>
              </a:tr>
              <a:tr h="585154">
                <a:tc>
                  <a:txBody>
                    <a:bodyPr/>
                    <a:lstStyle/>
                    <a:p>
                      <a:pPr algn="ctr"/>
                      <a:endParaRPr lang="zh-TW" altLang="en-US" dirty="0"/>
                    </a:p>
                  </a:txBody>
                  <a:tcPr/>
                </a:tc>
                <a:tc>
                  <a:txBody>
                    <a:bodyPr/>
                    <a:lstStyle/>
                    <a:p>
                      <a:pPr algn="ctr"/>
                      <a:r>
                        <a:rPr lang="en-US" altLang="zh-TW" sz="2400" dirty="0" smtClean="0"/>
                        <a:t>0</a:t>
                      </a:r>
                      <a:endParaRPr lang="zh-TW" altLang="en-US" sz="2400" dirty="0"/>
                    </a:p>
                  </a:txBody>
                  <a:tcPr/>
                </a:tc>
                <a:tc>
                  <a:txBody>
                    <a:bodyPr/>
                    <a:lstStyle/>
                    <a:p>
                      <a:pPr algn="ctr"/>
                      <a:r>
                        <a:rPr lang="en-US" altLang="zh-TW" sz="2400" dirty="0" smtClean="0">
                          <a:solidFill>
                            <a:srgbClr val="FF0000"/>
                          </a:solidFill>
                        </a:rPr>
                        <a:t>2</a:t>
                      </a:r>
                      <a:endParaRPr lang="zh-TW" altLang="en-US" sz="2400" dirty="0">
                        <a:solidFill>
                          <a:srgbClr val="FF0000"/>
                        </a:solidFill>
                      </a:endParaRPr>
                    </a:p>
                  </a:txBody>
                  <a:tcPr/>
                </a:tc>
                <a:tc>
                  <a:txBody>
                    <a:bodyPr/>
                    <a:lstStyle/>
                    <a:p>
                      <a:pPr algn="ctr"/>
                      <a:endParaRPr lang="zh-TW" altLang="en-US" sz="2400" dirty="0"/>
                    </a:p>
                  </a:txBody>
                  <a:tcPr/>
                </a:tc>
                <a:tc>
                  <a:txBody>
                    <a:bodyPr/>
                    <a:lstStyle/>
                    <a:p>
                      <a:pPr algn="ctr"/>
                      <a:endParaRPr lang="zh-TW" altLang="en-US" sz="2400" dirty="0"/>
                    </a:p>
                  </a:txBody>
                  <a:tcPr/>
                </a:tc>
                <a:tc>
                  <a:txBody>
                    <a:bodyPr/>
                    <a:lstStyle/>
                    <a:p>
                      <a:pPr algn="ctr"/>
                      <a:endParaRPr lang="zh-TW" altLang="en-US" sz="2400" dirty="0"/>
                    </a:p>
                  </a:txBody>
                  <a:tcPr/>
                </a:tc>
                <a:tc>
                  <a:txBody>
                    <a:bodyPr/>
                    <a:lstStyle/>
                    <a:p>
                      <a:pPr algn="ctr"/>
                      <a:endParaRPr lang="zh-TW" altLang="en-US" sz="2400" dirty="0"/>
                    </a:p>
                  </a:txBody>
                  <a:tcPr/>
                </a:tc>
              </a:tr>
              <a:tr h="585154">
                <a:tc>
                  <a:txBody>
                    <a:bodyPr/>
                    <a:lstStyle/>
                    <a:p>
                      <a:pPr algn="ctr"/>
                      <a:r>
                        <a:rPr lang="en-US" altLang="zh-TW" dirty="0" smtClean="0"/>
                        <a:t>A</a:t>
                      </a:r>
                      <a:endParaRPr lang="zh-TW" altLang="en-US" dirty="0"/>
                    </a:p>
                  </a:txBody>
                  <a:tcPr/>
                </a:tc>
                <a:tc>
                  <a:txBody>
                    <a:bodyPr/>
                    <a:lstStyle/>
                    <a:p>
                      <a:pPr algn="ctr"/>
                      <a:r>
                        <a:rPr lang="en-US" altLang="zh-TW" sz="2400" dirty="0" smtClean="0">
                          <a:solidFill>
                            <a:srgbClr val="FF0000"/>
                          </a:solidFill>
                        </a:rPr>
                        <a:t>2</a:t>
                      </a:r>
                      <a:endParaRPr lang="zh-TW" altLang="en-US" sz="2400" dirty="0">
                        <a:solidFill>
                          <a:srgbClr val="FF0000"/>
                        </a:solidFill>
                      </a:endParaRPr>
                    </a:p>
                  </a:txBody>
                  <a:tcPr/>
                </a:tc>
                <a:tc>
                  <a:txBody>
                    <a:bodyPr/>
                    <a:lstStyle/>
                    <a:p>
                      <a:pPr algn="ctr"/>
                      <a:r>
                        <a:rPr lang="en-US" altLang="zh-TW" sz="2400" dirty="0" smtClean="0"/>
                        <a:t>0</a:t>
                      </a:r>
                      <a:endParaRPr lang="zh-TW" altLang="en-US" sz="2400" dirty="0"/>
                    </a:p>
                  </a:txBody>
                  <a:tcPr/>
                </a:tc>
                <a:tc>
                  <a:txBody>
                    <a:bodyPr/>
                    <a:lstStyle/>
                    <a:p>
                      <a:pPr algn="ctr"/>
                      <a:r>
                        <a:rPr lang="en-US" altLang="zh-TW" sz="2400" dirty="0" smtClean="0">
                          <a:solidFill>
                            <a:srgbClr val="FF0000"/>
                          </a:solidFill>
                        </a:rPr>
                        <a:t>2</a:t>
                      </a:r>
                      <a:endParaRPr lang="zh-TW" altLang="en-US" sz="2400" dirty="0">
                        <a:solidFill>
                          <a:srgbClr val="FF0000"/>
                        </a:solidFill>
                      </a:endParaRPr>
                    </a:p>
                  </a:txBody>
                  <a:tcPr/>
                </a:tc>
                <a:tc>
                  <a:txBody>
                    <a:bodyPr/>
                    <a:lstStyle/>
                    <a:p>
                      <a:pPr algn="ctr"/>
                      <a:endParaRPr lang="zh-TW" altLang="en-US" sz="2400" dirty="0"/>
                    </a:p>
                  </a:txBody>
                  <a:tcPr/>
                </a:tc>
                <a:tc>
                  <a:txBody>
                    <a:bodyPr/>
                    <a:lstStyle/>
                    <a:p>
                      <a:pPr algn="ctr"/>
                      <a:endParaRPr lang="zh-TW" altLang="en-US" sz="2400" dirty="0"/>
                    </a:p>
                  </a:txBody>
                  <a:tcPr/>
                </a:tc>
                <a:tc>
                  <a:txBody>
                    <a:bodyPr/>
                    <a:lstStyle/>
                    <a:p>
                      <a:pPr algn="ctr"/>
                      <a:endParaRPr lang="zh-TW" altLang="en-US" sz="2400" dirty="0"/>
                    </a:p>
                  </a:txBody>
                  <a:tcPr/>
                </a:tc>
              </a:tr>
              <a:tr h="585154">
                <a:tc>
                  <a:txBody>
                    <a:bodyPr/>
                    <a:lstStyle/>
                    <a:p>
                      <a:pPr algn="ctr"/>
                      <a:r>
                        <a:rPr lang="en-US" altLang="zh-TW" dirty="0" smtClean="0"/>
                        <a:t>C</a:t>
                      </a:r>
                      <a:endParaRPr lang="zh-TW" altLang="en-US" dirty="0"/>
                    </a:p>
                  </a:txBody>
                  <a:tcPr/>
                </a:tc>
                <a:tc>
                  <a:txBody>
                    <a:bodyPr/>
                    <a:lstStyle/>
                    <a:p>
                      <a:pPr algn="ctr"/>
                      <a:endParaRPr lang="zh-TW" altLang="en-US" sz="2400" dirty="0"/>
                    </a:p>
                  </a:txBody>
                  <a:tcPr/>
                </a:tc>
                <a:tc>
                  <a:txBody>
                    <a:bodyPr/>
                    <a:lstStyle/>
                    <a:p>
                      <a:pPr algn="ctr"/>
                      <a:r>
                        <a:rPr lang="en-US" altLang="zh-TW" sz="2400" dirty="0" smtClean="0">
                          <a:solidFill>
                            <a:srgbClr val="FF0000"/>
                          </a:solidFill>
                        </a:rPr>
                        <a:t>2</a:t>
                      </a:r>
                      <a:endParaRPr lang="zh-TW" altLang="en-US" sz="2400" dirty="0">
                        <a:solidFill>
                          <a:srgbClr val="FF0000"/>
                        </a:solidFill>
                      </a:endParaRPr>
                    </a:p>
                  </a:txBody>
                  <a:tcPr/>
                </a:tc>
                <a:tc>
                  <a:txBody>
                    <a:bodyPr/>
                    <a:lstStyle/>
                    <a:p>
                      <a:pPr algn="ctr"/>
                      <a:r>
                        <a:rPr lang="en-US" altLang="zh-TW" sz="2400" dirty="0" smtClean="0"/>
                        <a:t>0</a:t>
                      </a:r>
                      <a:endParaRPr lang="zh-TW" altLang="en-US" sz="2400" dirty="0"/>
                    </a:p>
                  </a:txBody>
                  <a:tcPr/>
                </a:tc>
                <a:tc>
                  <a:txBody>
                    <a:bodyPr/>
                    <a:lstStyle/>
                    <a:p>
                      <a:pPr algn="ctr"/>
                      <a:r>
                        <a:rPr lang="en-US" altLang="zh-TW" sz="2400" dirty="0" smtClean="0">
                          <a:solidFill>
                            <a:srgbClr val="FF0000"/>
                          </a:solidFill>
                        </a:rPr>
                        <a:t>2</a:t>
                      </a:r>
                      <a:endParaRPr lang="zh-TW" altLang="en-US" sz="2400" dirty="0">
                        <a:solidFill>
                          <a:srgbClr val="FF0000"/>
                        </a:solidFill>
                      </a:endParaRPr>
                    </a:p>
                  </a:txBody>
                  <a:tcPr/>
                </a:tc>
                <a:tc>
                  <a:txBody>
                    <a:bodyPr/>
                    <a:lstStyle/>
                    <a:p>
                      <a:pPr algn="ctr"/>
                      <a:endParaRPr lang="zh-TW" altLang="en-US" sz="2400" dirty="0"/>
                    </a:p>
                  </a:txBody>
                  <a:tcPr/>
                </a:tc>
                <a:tc>
                  <a:txBody>
                    <a:bodyPr/>
                    <a:lstStyle/>
                    <a:p>
                      <a:pPr algn="ctr"/>
                      <a:endParaRPr lang="zh-TW" altLang="en-US" sz="2400" dirty="0"/>
                    </a:p>
                  </a:txBody>
                  <a:tcPr/>
                </a:tc>
              </a:tr>
              <a:tr h="585154">
                <a:tc>
                  <a:txBody>
                    <a:bodyPr/>
                    <a:lstStyle/>
                    <a:p>
                      <a:pPr algn="ctr"/>
                      <a:r>
                        <a:rPr lang="en-US" altLang="zh-TW" dirty="0" smtClean="0"/>
                        <a:t>A</a:t>
                      </a:r>
                      <a:endParaRPr lang="zh-TW" altLang="en-US" dirty="0"/>
                    </a:p>
                  </a:txBody>
                  <a:tcPr/>
                </a:tc>
                <a:tc>
                  <a:txBody>
                    <a:bodyPr/>
                    <a:lstStyle/>
                    <a:p>
                      <a:pPr algn="ctr"/>
                      <a:endParaRPr lang="zh-TW" altLang="en-US" sz="2400" dirty="0"/>
                    </a:p>
                  </a:txBody>
                  <a:tcPr/>
                </a:tc>
                <a:tc>
                  <a:txBody>
                    <a:bodyPr/>
                    <a:lstStyle/>
                    <a:p>
                      <a:pPr algn="ctr"/>
                      <a:endParaRPr lang="zh-TW" altLang="en-US" sz="2400" dirty="0"/>
                    </a:p>
                  </a:txBody>
                  <a:tcPr/>
                </a:tc>
                <a:tc>
                  <a:txBody>
                    <a:bodyPr/>
                    <a:lstStyle/>
                    <a:p>
                      <a:pPr algn="ctr"/>
                      <a:r>
                        <a:rPr lang="en-US" altLang="zh-TW" sz="2400" dirty="0" smtClean="0">
                          <a:solidFill>
                            <a:srgbClr val="FF0000"/>
                          </a:solidFill>
                        </a:rPr>
                        <a:t>2</a:t>
                      </a:r>
                      <a:endParaRPr lang="zh-TW" altLang="en-US" sz="2400" dirty="0">
                        <a:solidFill>
                          <a:srgbClr val="FF0000"/>
                        </a:solidFill>
                      </a:endParaRPr>
                    </a:p>
                  </a:txBody>
                  <a:tcPr/>
                </a:tc>
                <a:tc>
                  <a:txBody>
                    <a:bodyPr/>
                    <a:lstStyle/>
                    <a:p>
                      <a:pPr algn="ctr"/>
                      <a:r>
                        <a:rPr lang="en-US" altLang="zh-TW" sz="2400" dirty="0" smtClean="0">
                          <a:solidFill>
                            <a:schemeClr val="tx1"/>
                          </a:solidFill>
                        </a:rPr>
                        <a:t>1</a:t>
                      </a:r>
                      <a:endParaRPr lang="zh-TW" altLang="en-US" sz="2400" dirty="0">
                        <a:solidFill>
                          <a:schemeClr val="tx1"/>
                        </a:solidFill>
                      </a:endParaRPr>
                    </a:p>
                  </a:txBody>
                  <a:tcPr/>
                </a:tc>
                <a:tc>
                  <a:txBody>
                    <a:bodyPr/>
                    <a:lstStyle/>
                    <a:p>
                      <a:pPr algn="ctr"/>
                      <a:r>
                        <a:rPr lang="en-US" altLang="zh-TW" sz="2400" dirty="0" smtClean="0"/>
                        <a:t>3</a:t>
                      </a:r>
                      <a:endParaRPr lang="zh-TW" altLang="en-US" sz="2400" dirty="0"/>
                    </a:p>
                  </a:txBody>
                  <a:tcPr/>
                </a:tc>
                <a:tc>
                  <a:txBody>
                    <a:bodyPr/>
                    <a:lstStyle/>
                    <a:p>
                      <a:pPr algn="ctr"/>
                      <a:endParaRPr lang="zh-TW" altLang="en-US" sz="2400" dirty="0"/>
                    </a:p>
                  </a:txBody>
                  <a:tcPr/>
                </a:tc>
              </a:tr>
              <a:tr h="585154">
                <a:tc>
                  <a:txBody>
                    <a:bodyPr/>
                    <a:lstStyle/>
                    <a:p>
                      <a:pPr algn="ctr"/>
                      <a:r>
                        <a:rPr lang="en-US" altLang="zh-TW" dirty="0" smtClean="0"/>
                        <a:t>G</a:t>
                      </a:r>
                      <a:endParaRPr lang="zh-TW" altLang="en-US" dirty="0"/>
                    </a:p>
                  </a:txBody>
                  <a:tcPr/>
                </a:tc>
                <a:tc>
                  <a:txBody>
                    <a:bodyPr/>
                    <a:lstStyle/>
                    <a:p>
                      <a:pPr algn="ctr"/>
                      <a:endParaRPr lang="zh-TW" altLang="en-US" sz="2400" dirty="0"/>
                    </a:p>
                  </a:txBody>
                  <a:tcPr/>
                </a:tc>
                <a:tc>
                  <a:txBody>
                    <a:bodyPr/>
                    <a:lstStyle/>
                    <a:p>
                      <a:pPr algn="ctr"/>
                      <a:endParaRPr lang="zh-TW" altLang="en-US" sz="2400" dirty="0"/>
                    </a:p>
                  </a:txBody>
                  <a:tcPr/>
                </a:tc>
                <a:tc>
                  <a:txBody>
                    <a:bodyPr/>
                    <a:lstStyle/>
                    <a:p>
                      <a:pPr algn="ctr"/>
                      <a:endParaRPr lang="zh-TW" altLang="en-US" sz="2400" dirty="0"/>
                    </a:p>
                  </a:txBody>
                  <a:tcPr/>
                </a:tc>
                <a:tc>
                  <a:txBody>
                    <a:bodyPr/>
                    <a:lstStyle/>
                    <a:p>
                      <a:pPr algn="ctr"/>
                      <a:r>
                        <a:rPr lang="en-US" altLang="zh-TW" sz="2400" dirty="0" smtClean="0"/>
                        <a:t>3</a:t>
                      </a:r>
                      <a:endParaRPr lang="zh-TW" altLang="en-US" sz="2400" dirty="0"/>
                    </a:p>
                  </a:txBody>
                  <a:tcPr/>
                </a:tc>
                <a:tc>
                  <a:txBody>
                    <a:bodyPr/>
                    <a:lstStyle/>
                    <a:p>
                      <a:pPr algn="ctr"/>
                      <a:r>
                        <a:rPr lang="en-US" altLang="zh-TW" sz="2400" dirty="0" smtClean="0">
                          <a:solidFill>
                            <a:srgbClr val="FF0000"/>
                          </a:solidFill>
                        </a:rPr>
                        <a:t>2</a:t>
                      </a:r>
                      <a:endParaRPr lang="zh-TW" altLang="en-US" sz="2400" dirty="0">
                        <a:solidFill>
                          <a:srgbClr val="FF0000"/>
                        </a:solidFill>
                      </a:endParaRPr>
                    </a:p>
                  </a:txBody>
                  <a:tcPr/>
                </a:tc>
                <a:tc>
                  <a:txBody>
                    <a:bodyPr/>
                    <a:lstStyle/>
                    <a:p>
                      <a:pPr algn="ctr"/>
                      <a:endParaRPr lang="zh-TW" altLang="en-US" sz="2400" dirty="0"/>
                    </a:p>
                  </a:txBody>
                  <a:tcPr/>
                </a:tc>
              </a:tr>
              <a:tr h="585154">
                <a:tc>
                  <a:txBody>
                    <a:bodyPr/>
                    <a:lstStyle/>
                    <a:p>
                      <a:pPr algn="ctr"/>
                      <a:r>
                        <a:rPr lang="en-US" altLang="zh-TW" dirty="0" smtClean="0"/>
                        <a:t>C</a:t>
                      </a:r>
                      <a:endParaRPr lang="zh-TW" altLang="en-US" dirty="0"/>
                    </a:p>
                  </a:txBody>
                  <a:tcPr/>
                </a:tc>
                <a:tc>
                  <a:txBody>
                    <a:bodyPr/>
                    <a:lstStyle/>
                    <a:p>
                      <a:pPr algn="ctr"/>
                      <a:endParaRPr lang="zh-TW" altLang="en-US" sz="2400" dirty="0"/>
                    </a:p>
                  </a:txBody>
                  <a:tcPr/>
                </a:tc>
                <a:tc>
                  <a:txBody>
                    <a:bodyPr/>
                    <a:lstStyle/>
                    <a:p>
                      <a:pPr algn="ctr"/>
                      <a:endParaRPr lang="zh-TW" altLang="en-US" sz="2400" dirty="0"/>
                    </a:p>
                  </a:txBody>
                  <a:tcPr/>
                </a:tc>
                <a:tc>
                  <a:txBody>
                    <a:bodyPr/>
                    <a:lstStyle/>
                    <a:p>
                      <a:pPr algn="ctr"/>
                      <a:endParaRPr lang="zh-TW" altLang="en-US" sz="2400" dirty="0"/>
                    </a:p>
                  </a:txBody>
                  <a:tcPr/>
                </a:tc>
                <a:tc>
                  <a:txBody>
                    <a:bodyPr/>
                    <a:lstStyle/>
                    <a:p>
                      <a:pPr algn="ctr"/>
                      <a:endParaRPr lang="zh-TW" altLang="en-US" sz="2400" dirty="0"/>
                    </a:p>
                  </a:txBody>
                  <a:tcPr/>
                </a:tc>
                <a:tc>
                  <a:txBody>
                    <a:bodyPr/>
                    <a:lstStyle/>
                    <a:p>
                      <a:pPr algn="ctr"/>
                      <a:endParaRPr lang="zh-TW" altLang="en-US" sz="2400" dirty="0"/>
                    </a:p>
                  </a:txBody>
                  <a:tcPr/>
                </a:tc>
                <a:tc>
                  <a:txBody>
                    <a:bodyPr/>
                    <a:lstStyle/>
                    <a:p>
                      <a:pPr algn="ctr"/>
                      <a:endParaRPr lang="zh-TW" altLang="en-US" sz="2400" dirty="0"/>
                    </a:p>
                  </a:txBody>
                  <a:tcPr/>
                </a:tc>
              </a:tr>
            </a:tbl>
          </a:graphicData>
        </a:graphic>
      </p:graphicFrame>
      <p:sp>
        <p:nvSpPr>
          <p:cNvPr id="8" name="文字方塊 7"/>
          <p:cNvSpPr txBox="1"/>
          <p:nvPr/>
        </p:nvSpPr>
        <p:spPr>
          <a:xfrm>
            <a:off x="785786" y="1285860"/>
            <a:ext cx="889987" cy="461665"/>
          </a:xfrm>
          <a:prstGeom prst="rect">
            <a:avLst/>
          </a:prstGeom>
          <a:noFill/>
        </p:spPr>
        <p:txBody>
          <a:bodyPr wrap="none" rtlCol="0">
            <a:spAutoFit/>
          </a:bodyPr>
          <a:lstStyle/>
          <a:p>
            <a:r>
              <a:rPr lang="en-US" altLang="zh-TW" sz="2400" dirty="0" smtClean="0">
                <a:solidFill>
                  <a:srgbClr val="FF0000"/>
                </a:solidFill>
              </a:rPr>
              <a:t>D = 2 </a:t>
            </a:r>
            <a:endParaRPr lang="zh-TW" altLang="en-US" sz="2400" dirty="0">
              <a:solidFill>
                <a:srgbClr val="FF0000"/>
              </a:solidFill>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4"/>
            <a:ext cx="8229600" cy="1143000"/>
          </a:xfrm>
        </p:spPr>
        <p:txBody>
          <a:bodyPr/>
          <a:lstStyle/>
          <a:p>
            <a:pPr algn="l"/>
            <a:r>
              <a:rPr lang="en-US" altLang="zh-TW" dirty="0" smtClean="0">
                <a:latin typeface="Times New Roman" pitchFamily="18" charset="0"/>
                <a:cs typeface="Times New Roman" pitchFamily="18" charset="0"/>
              </a:rPr>
              <a:t>Algorithm </a:t>
            </a:r>
            <a:endParaRPr lang="zh-TW" altLang="en-US" dirty="0">
              <a:latin typeface="Times New Roman" pitchFamily="18" charset="0"/>
              <a:cs typeface="Times New Roman" pitchFamily="18" charset="0"/>
            </a:endParaRPr>
          </a:p>
        </p:txBody>
      </p:sp>
      <p:sp>
        <p:nvSpPr>
          <p:cNvPr id="6" name="文字方塊 5"/>
          <p:cNvSpPr txBox="1"/>
          <p:nvPr/>
        </p:nvSpPr>
        <p:spPr>
          <a:xfrm>
            <a:off x="3929058" y="285728"/>
            <a:ext cx="3000396" cy="1200329"/>
          </a:xfrm>
          <a:prstGeom prst="rect">
            <a:avLst/>
          </a:prstGeom>
          <a:noFill/>
        </p:spPr>
        <p:txBody>
          <a:bodyPr wrap="square" rtlCol="0">
            <a:spAutoFit/>
          </a:bodyPr>
          <a:lstStyle/>
          <a:p>
            <a:r>
              <a:rPr lang="en-US" altLang="zh-TW" sz="2400" dirty="0" smtClean="0">
                <a:latin typeface="Times New Roman" pitchFamily="18" charset="0"/>
                <a:cs typeface="Times New Roman" pitchFamily="18" charset="0"/>
              </a:rPr>
              <a:t>Match	       : 0</a:t>
            </a:r>
          </a:p>
          <a:p>
            <a:r>
              <a:rPr lang="en-US" altLang="zh-TW" sz="2400" dirty="0" smtClean="0">
                <a:latin typeface="Times New Roman" pitchFamily="18" charset="0"/>
                <a:cs typeface="Times New Roman" pitchFamily="18" charset="0"/>
              </a:rPr>
              <a:t>Mismatch   : 1</a:t>
            </a:r>
          </a:p>
          <a:p>
            <a:r>
              <a:rPr lang="en-US" altLang="zh-TW" sz="2400" dirty="0" smtClean="0">
                <a:latin typeface="Times New Roman" pitchFamily="18" charset="0"/>
                <a:cs typeface="Times New Roman" pitchFamily="18" charset="0"/>
              </a:rPr>
              <a:t>Gap	       : 2</a:t>
            </a:r>
            <a:endParaRPr lang="zh-TW" altLang="en-US" sz="2400" dirty="0">
              <a:latin typeface="Times New Roman" pitchFamily="18" charset="0"/>
              <a:cs typeface="Times New Roman" pitchFamily="18" charset="0"/>
            </a:endParaRPr>
          </a:p>
        </p:txBody>
      </p:sp>
      <p:graphicFrame>
        <p:nvGraphicFramePr>
          <p:cNvPr id="7" name="表格 6"/>
          <p:cNvGraphicFramePr>
            <a:graphicFrameLocks noGrp="1"/>
          </p:cNvGraphicFramePr>
          <p:nvPr/>
        </p:nvGraphicFramePr>
        <p:xfrm>
          <a:off x="642910" y="1785926"/>
          <a:ext cx="8001056" cy="4096078"/>
        </p:xfrm>
        <a:graphic>
          <a:graphicData uri="http://schemas.openxmlformats.org/drawingml/2006/table">
            <a:tbl>
              <a:tblPr firstRow="1" firstCol="1" bandRow="1">
                <a:tableStyleId>{5C22544A-7EE6-4342-B048-85BDC9FD1C3A}</a:tableStyleId>
              </a:tblPr>
              <a:tblGrid>
                <a:gridCol w="1143008"/>
                <a:gridCol w="1143008"/>
                <a:gridCol w="1143008"/>
                <a:gridCol w="1143008"/>
                <a:gridCol w="1143008"/>
                <a:gridCol w="1143008"/>
                <a:gridCol w="1143008"/>
              </a:tblGrid>
              <a:tr h="585154">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smtClean="0"/>
                        <a:t>A</a:t>
                      </a:r>
                      <a:endParaRPr lang="zh-TW" altLang="en-US" dirty="0"/>
                    </a:p>
                  </a:txBody>
                  <a:tcPr/>
                </a:tc>
                <a:tc>
                  <a:txBody>
                    <a:bodyPr/>
                    <a:lstStyle/>
                    <a:p>
                      <a:pPr algn="ctr"/>
                      <a:r>
                        <a:rPr lang="en-US" altLang="zh-TW" dirty="0" smtClean="0"/>
                        <a:t>C</a:t>
                      </a:r>
                      <a:endParaRPr lang="zh-TW" altLang="en-US" dirty="0"/>
                    </a:p>
                  </a:txBody>
                  <a:tcPr/>
                </a:tc>
                <a:tc>
                  <a:txBody>
                    <a:bodyPr/>
                    <a:lstStyle/>
                    <a:p>
                      <a:pPr algn="ctr"/>
                      <a:r>
                        <a:rPr lang="en-US" altLang="zh-TW" dirty="0" smtClean="0"/>
                        <a:t>G</a:t>
                      </a:r>
                      <a:endParaRPr lang="zh-TW" altLang="en-US" dirty="0"/>
                    </a:p>
                  </a:txBody>
                  <a:tcPr/>
                </a:tc>
                <a:tc>
                  <a:txBody>
                    <a:bodyPr/>
                    <a:lstStyle/>
                    <a:p>
                      <a:pPr algn="ctr"/>
                      <a:r>
                        <a:rPr lang="en-US" altLang="zh-TW" dirty="0" smtClean="0"/>
                        <a:t>A</a:t>
                      </a:r>
                      <a:endParaRPr lang="zh-TW" altLang="en-US" dirty="0"/>
                    </a:p>
                  </a:txBody>
                  <a:tcPr/>
                </a:tc>
                <a:tc>
                  <a:txBody>
                    <a:bodyPr/>
                    <a:lstStyle/>
                    <a:p>
                      <a:pPr algn="ctr"/>
                      <a:r>
                        <a:rPr lang="en-US" altLang="zh-TW" dirty="0" smtClean="0"/>
                        <a:t>C</a:t>
                      </a:r>
                      <a:endParaRPr lang="zh-TW" altLang="en-US" dirty="0"/>
                    </a:p>
                  </a:txBody>
                  <a:tcPr/>
                </a:tc>
              </a:tr>
              <a:tr h="585154">
                <a:tc>
                  <a:txBody>
                    <a:bodyPr/>
                    <a:lstStyle/>
                    <a:p>
                      <a:pPr algn="ctr"/>
                      <a:endParaRPr lang="zh-TW" altLang="en-US" dirty="0"/>
                    </a:p>
                  </a:txBody>
                  <a:tcPr/>
                </a:tc>
                <a:tc>
                  <a:txBody>
                    <a:bodyPr/>
                    <a:lstStyle/>
                    <a:p>
                      <a:pPr algn="ctr"/>
                      <a:r>
                        <a:rPr lang="en-US" altLang="zh-TW" sz="2400" dirty="0" smtClean="0"/>
                        <a:t>0</a:t>
                      </a:r>
                      <a:endParaRPr lang="zh-TW" altLang="en-US" sz="2400" dirty="0"/>
                    </a:p>
                  </a:txBody>
                  <a:tcPr/>
                </a:tc>
                <a:tc>
                  <a:txBody>
                    <a:bodyPr/>
                    <a:lstStyle/>
                    <a:p>
                      <a:pPr algn="ctr"/>
                      <a:r>
                        <a:rPr lang="en-US" altLang="zh-TW" sz="2400" dirty="0" smtClean="0"/>
                        <a:t>2</a:t>
                      </a:r>
                      <a:endParaRPr lang="zh-TW" altLang="en-US" sz="2400" dirty="0"/>
                    </a:p>
                  </a:txBody>
                  <a:tcPr/>
                </a:tc>
                <a:tc>
                  <a:txBody>
                    <a:bodyPr/>
                    <a:lstStyle/>
                    <a:p>
                      <a:pPr algn="ctr"/>
                      <a:r>
                        <a:rPr lang="en-US" altLang="zh-TW" sz="2400" dirty="0" smtClean="0"/>
                        <a:t>4</a:t>
                      </a:r>
                      <a:endParaRPr lang="zh-TW" altLang="en-US" sz="2400" dirty="0"/>
                    </a:p>
                  </a:txBody>
                  <a:tcPr/>
                </a:tc>
                <a:tc>
                  <a:txBody>
                    <a:bodyPr/>
                    <a:lstStyle/>
                    <a:p>
                      <a:pPr algn="ctr"/>
                      <a:endParaRPr lang="zh-TW" altLang="en-US" sz="2400" dirty="0"/>
                    </a:p>
                  </a:txBody>
                  <a:tcPr/>
                </a:tc>
                <a:tc>
                  <a:txBody>
                    <a:bodyPr/>
                    <a:lstStyle/>
                    <a:p>
                      <a:pPr algn="ctr"/>
                      <a:endParaRPr lang="zh-TW" altLang="en-US" sz="2400" dirty="0"/>
                    </a:p>
                  </a:txBody>
                  <a:tcPr/>
                </a:tc>
                <a:tc>
                  <a:txBody>
                    <a:bodyPr/>
                    <a:lstStyle/>
                    <a:p>
                      <a:pPr algn="ctr"/>
                      <a:endParaRPr lang="zh-TW" altLang="en-US" sz="2400" dirty="0"/>
                    </a:p>
                  </a:txBody>
                  <a:tcPr/>
                </a:tc>
              </a:tr>
              <a:tr h="585154">
                <a:tc>
                  <a:txBody>
                    <a:bodyPr/>
                    <a:lstStyle/>
                    <a:p>
                      <a:pPr algn="ctr"/>
                      <a:r>
                        <a:rPr lang="en-US" altLang="zh-TW" dirty="0" smtClean="0"/>
                        <a:t>A</a:t>
                      </a:r>
                      <a:endParaRPr lang="zh-TW" altLang="en-US" dirty="0"/>
                    </a:p>
                  </a:txBody>
                  <a:tcPr/>
                </a:tc>
                <a:tc>
                  <a:txBody>
                    <a:bodyPr/>
                    <a:lstStyle/>
                    <a:p>
                      <a:pPr algn="ctr"/>
                      <a:r>
                        <a:rPr lang="en-US" altLang="zh-TW" sz="2400" dirty="0" smtClean="0"/>
                        <a:t>2</a:t>
                      </a:r>
                      <a:endParaRPr lang="zh-TW" altLang="en-US" sz="2400" dirty="0"/>
                    </a:p>
                  </a:txBody>
                  <a:tcPr/>
                </a:tc>
                <a:tc>
                  <a:txBody>
                    <a:bodyPr/>
                    <a:lstStyle/>
                    <a:p>
                      <a:pPr algn="ctr"/>
                      <a:r>
                        <a:rPr lang="en-US" altLang="zh-TW" sz="2400" dirty="0" smtClean="0"/>
                        <a:t>0</a:t>
                      </a:r>
                      <a:endParaRPr lang="zh-TW" altLang="en-US" sz="2400" dirty="0"/>
                    </a:p>
                  </a:txBody>
                  <a:tcPr/>
                </a:tc>
                <a:tc>
                  <a:txBody>
                    <a:bodyPr/>
                    <a:lstStyle/>
                    <a:p>
                      <a:pPr algn="ctr"/>
                      <a:r>
                        <a:rPr lang="en-US" altLang="zh-TW" sz="2400" dirty="0" smtClean="0"/>
                        <a:t>2</a:t>
                      </a:r>
                      <a:endParaRPr lang="zh-TW" altLang="en-US" sz="2400" dirty="0"/>
                    </a:p>
                  </a:txBody>
                  <a:tcPr/>
                </a:tc>
                <a:tc>
                  <a:txBody>
                    <a:bodyPr/>
                    <a:lstStyle/>
                    <a:p>
                      <a:pPr algn="ctr"/>
                      <a:r>
                        <a:rPr lang="en-US" altLang="zh-TW" sz="2400" dirty="0" smtClean="0"/>
                        <a:t>4</a:t>
                      </a:r>
                      <a:endParaRPr lang="zh-TW" altLang="en-US" sz="2400" dirty="0"/>
                    </a:p>
                  </a:txBody>
                  <a:tcPr/>
                </a:tc>
                <a:tc>
                  <a:txBody>
                    <a:bodyPr/>
                    <a:lstStyle/>
                    <a:p>
                      <a:pPr algn="ctr"/>
                      <a:endParaRPr lang="zh-TW" altLang="en-US" sz="2400" dirty="0"/>
                    </a:p>
                  </a:txBody>
                  <a:tcPr/>
                </a:tc>
                <a:tc>
                  <a:txBody>
                    <a:bodyPr/>
                    <a:lstStyle/>
                    <a:p>
                      <a:pPr algn="ctr"/>
                      <a:endParaRPr lang="zh-TW" altLang="en-US" sz="2400" dirty="0"/>
                    </a:p>
                  </a:txBody>
                  <a:tcPr/>
                </a:tc>
              </a:tr>
              <a:tr h="585154">
                <a:tc>
                  <a:txBody>
                    <a:bodyPr/>
                    <a:lstStyle/>
                    <a:p>
                      <a:pPr algn="ctr"/>
                      <a:r>
                        <a:rPr lang="en-US" altLang="zh-TW" dirty="0" smtClean="0"/>
                        <a:t>C</a:t>
                      </a:r>
                      <a:endParaRPr lang="zh-TW" altLang="en-US" dirty="0"/>
                    </a:p>
                  </a:txBody>
                  <a:tcPr/>
                </a:tc>
                <a:tc>
                  <a:txBody>
                    <a:bodyPr/>
                    <a:lstStyle/>
                    <a:p>
                      <a:pPr algn="ctr"/>
                      <a:r>
                        <a:rPr lang="en-US" altLang="zh-TW" sz="2400" dirty="0" smtClean="0"/>
                        <a:t>4</a:t>
                      </a:r>
                      <a:endParaRPr lang="zh-TW" altLang="en-US" sz="2400" dirty="0"/>
                    </a:p>
                  </a:txBody>
                  <a:tcPr/>
                </a:tc>
                <a:tc>
                  <a:txBody>
                    <a:bodyPr/>
                    <a:lstStyle/>
                    <a:p>
                      <a:pPr algn="ctr"/>
                      <a:r>
                        <a:rPr lang="en-US" altLang="zh-TW" sz="2400" dirty="0" smtClean="0"/>
                        <a:t>2</a:t>
                      </a:r>
                      <a:endParaRPr lang="zh-TW" altLang="en-US" sz="2400" dirty="0"/>
                    </a:p>
                  </a:txBody>
                  <a:tcPr/>
                </a:tc>
                <a:tc>
                  <a:txBody>
                    <a:bodyPr/>
                    <a:lstStyle/>
                    <a:p>
                      <a:pPr algn="ctr"/>
                      <a:r>
                        <a:rPr lang="en-US" altLang="zh-TW" sz="2400" dirty="0" smtClean="0"/>
                        <a:t>0</a:t>
                      </a:r>
                      <a:endParaRPr lang="zh-TW" altLang="en-US" sz="2400" dirty="0"/>
                    </a:p>
                  </a:txBody>
                  <a:tcPr/>
                </a:tc>
                <a:tc>
                  <a:txBody>
                    <a:bodyPr/>
                    <a:lstStyle/>
                    <a:p>
                      <a:pPr algn="ctr"/>
                      <a:r>
                        <a:rPr lang="en-US" altLang="zh-TW" sz="2400" dirty="0" smtClean="0"/>
                        <a:t>2</a:t>
                      </a:r>
                      <a:endParaRPr lang="zh-TW" altLang="en-US" sz="2400" dirty="0"/>
                    </a:p>
                  </a:txBody>
                  <a:tcPr/>
                </a:tc>
                <a:tc>
                  <a:txBody>
                    <a:bodyPr/>
                    <a:lstStyle/>
                    <a:p>
                      <a:pPr algn="ctr"/>
                      <a:r>
                        <a:rPr lang="en-US" altLang="zh-TW" sz="2400" dirty="0" smtClean="0"/>
                        <a:t>4</a:t>
                      </a:r>
                      <a:endParaRPr lang="zh-TW" altLang="en-US" sz="2400" dirty="0"/>
                    </a:p>
                  </a:txBody>
                  <a:tcPr/>
                </a:tc>
                <a:tc>
                  <a:txBody>
                    <a:bodyPr/>
                    <a:lstStyle/>
                    <a:p>
                      <a:pPr algn="ctr"/>
                      <a:endParaRPr lang="zh-TW" altLang="en-US" sz="2400" dirty="0"/>
                    </a:p>
                  </a:txBody>
                  <a:tcPr/>
                </a:tc>
              </a:tr>
              <a:tr h="585154">
                <a:tc>
                  <a:txBody>
                    <a:bodyPr/>
                    <a:lstStyle/>
                    <a:p>
                      <a:pPr algn="ctr"/>
                      <a:r>
                        <a:rPr lang="en-US" altLang="zh-TW" dirty="0" smtClean="0"/>
                        <a:t>A</a:t>
                      </a:r>
                      <a:endParaRPr lang="zh-TW" altLang="en-US" dirty="0"/>
                    </a:p>
                  </a:txBody>
                  <a:tcPr/>
                </a:tc>
                <a:tc>
                  <a:txBody>
                    <a:bodyPr/>
                    <a:lstStyle/>
                    <a:p>
                      <a:pPr algn="ctr"/>
                      <a:endParaRPr lang="zh-TW" altLang="en-US" sz="2400" dirty="0"/>
                    </a:p>
                  </a:txBody>
                  <a:tcPr/>
                </a:tc>
                <a:tc>
                  <a:txBody>
                    <a:bodyPr/>
                    <a:lstStyle/>
                    <a:p>
                      <a:pPr algn="ctr"/>
                      <a:r>
                        <a:rPr lang="en-US" altLang="zh-TW" sz="2400" dirty="0" smtClean="0"/>
                        <a:t>4</a:t>
                      </a:r>
                      <a:endParaRPr lang="zh-TW" altLang="en-US" sz="2400" dirty="0"/>
                    </a:p>
                  </a:txBody>
                  <a:tcPr/>
                </a:tc>
                <a:tc>
                  <a:txBody>
                    <a:bodyPr/>
                    <a:lstStyle/>
                    <a:p>
                      <a:pPr algn="ctr"/>
                      <a:r>
                        <a:rPr lang="en-US" altLang="zh-TW" sz="2400" dirty="0" smtClean="0"/>
                        <a:t>2</a:t>
                      </a:r>
                      <a:endParaRPr lang="zh-TW" altLang="en-US" sz="2400" dirty="0"/>
                    </a:p>
                  </a:txBody>
                  <a:tcPr/>
                </a:tc>
                <a:tc>
                  <a:txBody>
                    <a:bodyPr/>
                    <a:lstStyle/>
                    <a:p>
                      <a:pPr algn="ctr"/>
                      <a:r>
                        <a:rPr lang="en-US" altLang="zh-TW" sz="2400" dirty="0" smtClean="0">
                          <a:solidFill>
                            <a:schemeClr val="tx1"/>
                          </a:solidFill>
                        </a:rPr>
                        <a:t>1</a:t>
                      </a:r>
                      <a:endParaRPr lang="zh-TW" altLang="en-US" sz="2400" dirty="0">
                        <a:solidFill>
                          <a:schemeClr val="tx1"/>
                        </a:solidFill>
                      </a:endParaRPr>
                    </a:p>
                  </a:txBody>
                  <a:tcPr/>
                </a:tc>
                <a:tc>
                  <a:txBody>
                    <a:bodyPr/>
                    <a:lstStyle/>
                    <a:p>
                      <a:pPr algn="ctr"/>
                      <a:r>
                        <a:rPr lang="en-US" altLang="zh-TW" sz="2400" dirty="0" smtClean="0">
                          <a:solidFill>
                            <a:srgbClr val="00B050"/>
                          </a:solidFill>
                        </a:rPr>
                        <a:t>2</a:t>
                      </a:r>
                      <a:endParaRPr lang="zh-TW" altLang="en-US" sz="2400" dirty="0">
                        <a:solidFill>
                          <a:srgbClr val="00B050"/>
                        </a:solidFill>
                      </a:endParaRPr>
                    </a:p>
                  </a:txBody>
                  <a:tcPr/>
                </a:tc>
                <a:tc>
                  <a:txBody>
                    <a:bodyPr/>
                    <a:lstStyle/>
                    <a:p>
                      <a:pPr algn="ctr"/>
                      <a:endParaRPr lang="zh-TW" altLang="en-US" sz="2400" dirty="0"/>
                    </a:p>
                  </a:txBody>
                  <a:tcPr/>
                </a:tc>
              </a:tr>
              <a:tr h="585154">
                <a:tc>
                  <a:txBody>
                    <a:bodyPr/>
                    <a:lstStyle/>
                    <a:p>
                      <a:pPr algn="ctr"/>
                      <a:r>
                        <a:rPr lang="en-US" altLang="zh-TW" dirty="0" smtClean="0"/>
                        <a:t>G</a:t>
                      </a:r>
                      <a:endParaRPr lang="zh-TW" altLang="en-US" dirty="0"/>
                    </a:p>
                  </a:txBody>
                  <a:tcPr/>
                </a:tc>
                <a:tc>
                  <a:txBody>
                    <a:bodyPr/>
                    <a:lstStyle/>
                    <a:p>
                      <a:pPr algn="ctr"/>
                      <a:endParaRPr lang="zh-TW" altLang="en-US" sz="2400" dirty="0"/>
                    </a:p>
                  </a:txBody>
                  <a:tcPr/>
                </a:tc>
                <a:tc>
                  <a:txBody>
                    <a:bodyPr/>
                    <a:lstStyle/>
                    <a:p>
                      <a:pPr algn="ctr"/>
                      <a:endParaRPr lang="zh-TW" altLang="en-US" sz="2400" dirty="0"/>
                    </a:p>
                  </a:txBody>
                  <a:tcPr/>
                </a:tc>
                <a:tc>
                  <a:txBody>
                    <a:bodyPr/>
                    <a:lstStyle/>
                    <a:p>
                      <a:pPr algn="ctr"/>
                      <a:r>
                        <a:rPr lang="en-US" altLang="zh-TW" sz="2400" dirty="0" smtClean="0"/>
                        <a:t>4</a:t>
                      </a:r>
                      <a:endParaRPr lang="zh-TW" altLang="en-US" sz="2400" dirty="0"/>
                    </a:p>
                  </a:txBody>
                  <a:tcPr/>
                </a:tc>
                <a:tc>
                  <a:txBody>
                    <a:bodyPr/>
                    <a:lstStyle/>
                    <a:p>
                      <a:pPr algn="ctr"/>
                      <a:r>
                        <a:rPr lang="en-US" altLang="zh-TW" sz="2400" dirty="0" smtClean="0">
                          <a:solidFill>
                            <a:srgbClr val="00B050"/>
                          </a:solidFill>
                        </a:rPr>
                        <a:t>2</a:t>
                      </a:r>
                      <a:endParaRPr lang="zh-TW" altLang="en-US" sz="2400" dirty="0">
                        <a:solidFill>
                          <a:srgbClr val="00B050"/>
                        </a:solidFill>
                      </a:endParaRPr>
                    </a:p>
                  </a:txBody>
                  <a:tcPr/>
                </a:tc>
                <a:tc>
                  <a:txBody>
                    <a:bodyPr/>
                    <a:lstStyle/>
                    <a:p>
                      <a:pPr algn="ctr"/>
                      <a:r>
                        <a:rPr lang="en-US" altLang="zh-TW" sz="2400" dirty="0" smtClean="0"/>
                        <a:t>2</a:t>
                      </a:r>
                      <a:endParaRPr lang="zh-TW" altLang="en-US" sz="2400" dirty="0"/>
                    </a:p>
                  </a:txBody>
                  <a:tcPr/>
                </a:tc>
                <a:tc>
                  <a:txBody>
                    <a:bodyPr/>
                    <a:lstStyle/>
                    <a:p>
                      <a:pPr algn="ctr"/>
                      <a:r>
                        <a:rPr lang="en-US" altLang="zh-TW" sz="2400" dirty="0" smtClean="0"/>
                        <a:t>4</a:t>
                      </a:r>
                      <a:endParaRPr lang="zh-TW" altLang="en-US" sz="2400" dirty="0"/>
                    </a:p>
                  </a:txBody>
                  <a:tcPr/>
                </a:tc>
              </a:tr>
              <a:tr h="585154">
                <a:tc>
                  <a:txBody>
                    <a:bodyPr/>
                    <a:lstStyle/>
                    <a:p>
                      <a:pPr algn="ctr"/>
                      <a:r>
                        <a:rPr lang="en-US" altLang="zh-TW" dirty="0" smtClean="0"/>
                        <a:t>C</a:t>
                      </a:r>
                      <a:endParaRPr lang="zh-TW" altLang="en-US" dirty="0"/>
                    </a:p>
                  </a:txBody>
                  <a:tcPr/>
                </a:tc>
                <a:tc>
                  <a:txBody>
                    <a:bodyPr/>
                    <a:lstStyle/>
                    <a:p>
                      <a:pPr algn="ctr"/>
                      <a:endParaRPr lang="zh-TW" altLang="en-US" sz="2400" dirty="0"/>
                    </a:p>
                  </a:txBody>
                  <a:tcPr/>
                </a:tc>
                <a:tc>
                  <a:txBody>
                    <a:bodyPr/>
                    <a:lstStyle/>
                    <a:p>
                      <a:pPr algn="ctr"/>
                      <a:endParaRPr lang="zh-TW" altLang="en-US" sz="2400" dirty="0"/>
                    </a:p>
                  </a:txBody>
                  <a:tcPr/>
                </a:tc>
                <a:tc>
                  <a:txBody>
                    <a:bodyPr/>
                    <a:lstStyle/>
                    <a:p>
                      <a:pPr algn="ctr"/>
                      <a:endParaRPr lang="zh-TW" altLang="en-US" sz="2400" dirty="0"/>
                    </a:p>
                  </a:txBody>
                  <a:tcPr/>
                </a:tc>
                <a:tc>
                  <a:txBody>
                    <a:bodyPr/>
                    <a:lstStyle/>
                    <a:p>
                      <a:pPr algn="ctr"/>
                      <a:endParaRPr lang="zh-TW" altLang="en-US" sz="2400" dirty="0"/>
                    </a:p>
                  </a:txBody>
                  <a:tcPr/>
                </a:tc>
                <a:tc>
                  <a:txBody>
                    <a:bodyPr/>
                    <a:lstStyle/>
                    <a:p>
                      <a:pPr algn="ctr"/>
                      <a:r>
                        <a:rPr lang="en-US" altLang="zh-TW" sz="2400" dirty="0" smtClean="0"/>
                        <a:t>4</a:t>
                      </a:r>
                      <a:endParaRPr lang="zh-TW" altLang="en-US" sz="2400" dirty="0"/>
                    </a:p>
                  </a:txBody>
                  <a:tcPr/>
                </a:tc>
                <a:tc>
                  <a:txBody>
                    <a:bodyPr/>
                    <a:lstStyle/>
                    <a:p>
                      <a:pPr algn="ctr"/>
                      <a:r>
                        <a:rPr lang="en-US" altLang="zh-TW" sz="2400" dirty="0" smtClean="0"/>
                        <a:t>2</a:t>
                      </a:r>
                      <a:endParaRPr lang="zh-TW" altLang="en-US" sz="2400" dirty="0"/>
                    </a:p>
                  </a:txBody>
                  <a:tcPr/>
                </a:tc>
              </a:tr>
            </a:tbl>
          </a:graphicData>
        </a:graphic>
      </p:graphicFrame>
      <p:sp>
        <p:nvSpPr>
          <p:cNvPr id="8" name="文字方塊 7"/>
          <p:cNvSpPr txBox="1"/>
          <p:nvPr/>
        </p:nvSpPr>
        <p:spPr>
          <a:xfrm>
            <a:off x="785786" y="1285860"/>
            <a:ext cx="821059" cy="461665"/>
          </a:xfrm>
          <a:prstGeom prst="rect">
            <a:avLst/>
          </a:prstGeom>
          <a:noFill/>
        </p:spPr>
        <p:txBody>
          <a:bodyPr wrap="none" rtlCol="0">
            <a:spAutoFit/>
          </a:bodyPr>
          <a:lstStyle/>
          <a:p>
            <a:r>
              <a:rPr lang="en-US" altLang="zh-TW" sz="2400" dirty="0" smtClean="0">
                <a:solidFill>
                  <a:srgbClr val="FF0000"/>
                </a:solidFill>
              </a:rPr>
              <a:t>D = 2</a:t>
            </a:r>
            <a:endParaRPr lang="zh-TW" altLang="en-US" sz="2400" dirty="0">
              <a:solidFill>
                <a:srgbClr val="FF0000"/>
              </a:solidFill>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4"/>
            <a:ext cx="8229600" cy="1143000"/>
          </a:xfrm>
        </p:spPr>
        <p:txBody>
          <a:bodyPr/>
          <a:lstStyle/>
          <a:p>
            <a:pPr algn="l"/>
            <a:r>
              <a:rPr lang="en-US" altLang="zh-TW" dirty="0" smtClean="0">
                <a:latin typeface="Times New Roman" pitchFamily="18" charset="0"/>
                <a:cs typeface="Times New Roman" pitchFamily="18" charset="0"/>
              </a:rPr>
              <a:t>Algorithm </a:t>
            </a:r>
            <a:endParaRPr lang="zh-TW" altLang="en-US" dirty="0">
              <a:latin typeface="Times New Roman" pitchFamily="18" charset="0"/>
              <a:cs typeface="Times New Roman" pitchFamily="18" charset="0"/>
            </a:endParaRPr>
          </a:p>
        </p:txBody>
      </p:sp>
      <p:sp>
        <p:nvSpPr>
          <p:cNvPr id="6" name="文字方塊 5"/>
          <p:cNvSpPr txBox="1"/>
          <p:nvPr/>
        </p:nvSpPr>
        <p:spPr>
          <a:xfrm>
            <a:off x="3929058" y="285728"/>
            <a:ext cx="3000396" cy="1200329"/>
          </a:xfrm>
          <a:prstGeom prst="rect">
            <a:avLst/>
          </a:prstGeom>
          <a:noFill/>
        </p:spPr>
        <p:txBody>
          <a:bodyPr wrap="square" rtlCol="0">
            <a:spAutoFit/>
          </a:bodyPr>
          <a:lstStyle/>
          <a:p>
            <a:r>
              <a:rPr lang="en-US" altLang="zh-TW" sz="2400" dirty="0" smtClean="0">
                <a:latin typeface="Times New Roman" pitchFamily="18" charset="0"/>
                <a:cs typeface="Times New Roman" pitchFamily="18" charset="0"/>
              </a:rPr>
              <a:t>Match	       : 0</a:t>
            </a:r>
          </a:p>
          <a:p>
            <a:r>
              <a:rPr lang="en-US" altLang="zh-TW" sz="2400" dirty="0" smtClean="0">
                <a:latin typeface="Times New Roman" pitchFamily="18" charset="0"/>
                <a:cs typeface="Times New Roman" pitchFamily="18" charset="0"/>
              </a:rPr>
              <a:t>Mismatch   : 1</a:t>
            </a:r>
          </a:p>
          <a:p>
            <a:r>
              <a:rPr lang="en-US" altLang="zh-TW" sz="2400" dirty="0" smtClean="0">
                <a:latin typeface="Times New Roman" pitchFamily="18" charset="0"/>
                <a:cs typeface="Times New Roman" pitchFamily="18" charset="0"/>
              </a:rPr>
              <a:t>Gap	       : 2</a:t>
            </a:r>
            <a:endParaRPr lang="zh-TW" altLang="en-US" sz="2400" dirty="0">
              <a:latin typeface="Times New Roman" pitchFamily="18" charset="0"/>
              <a:cs typeface="Times New Roman" pitchFamily="18" charset="0"/>
            </a:endParaRPr>
          </a:p>
        </p:txBody>
      </p:sp>
      <p:graphicFrame>
        <p:nvGraphicFramePr>
          <p:cNvPr id="7" name="表格 6"/>
          <p:cNvGraphicFramePr>
            <a:graphicFrameLocks noGrp="1"/>
          </p:cNvGraphicFramePr>
          <p:nvPr/>
        </p:nvGraphicFramePr>
        <p:xfrm>
          <a:off x="642910" y="1785926"/>
          <a:ext cx="8001056" cy="4096078"/>
        </p:xfrm>
        <a:graphic>
          <a:graphicData uri="http://schemas.openxmlformats.org/drawingml/2006/table">
            <a:tbl>
              <a:tblPr firstRow="1" firstCol="1" bandRow="1">
                <a:tableStyleId>{5C22544A-7EE6-4342-B048-85BDC9FD1C3A}</a:tableStyleId>
              </a:tblPr>
              <a:tblGrid>
                <a:gridCol w="1143008"/>
                <a:gridCol w="1143008"/>
                <a:gridCol w="1143008"/>
                <a:gridCol w="1143008"/>
                <a:gridCol w="1143008"/>
                <a:gridCol w="1143008"/>
                <a:gridCol w="1143008"/>
              </a:tblGrid>
              <a:tr h="585154">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smtClean="0"/>
                        <a:t>A</a:t>
                      </a:r>
                      <a:endParaRPr lang="zh-TW" altLang="en-US" dirty="0"/>
                    </a:p>
                  </a:txBody>
                  <a:tcPr/>
                </a:tc>
                <a:tc>
                  <a:txBody>
                    <a:bodyPr/>
                    <a:lstStyle/>
                    <a:p>
                      <a:pPr algn="ctr"/>
                      <a:r>
                        <a:rPr lang="en-US" altLang="zh-TW" dirty="0" smtClean="0"/>
                        <a:t>C</a:t>
                      </a:r>
                      <a:endParaRPr lang="zh-TW" altLang="en-US" dirty="0"/>
                    </a:p>
                  </a:txBody>
                  <a:tcPr/>
                </a:tc>
                <a:tc>
                  <a:txBody>
                    <a:bodyPr/>
                    <a:lstStyle/>
                    <a:p>
                      <a:pPr algn="ctr"/>
                      <a:r>
                        <a:rPr lang="en-US" altLang="zh-TW" dirty="0" smtClean="0"/>
                        <a:t>G</a:t>
                      </a:r>
                      <a:endParaRPr lang="zh-TW" altLang="en-US" dirty="0"/>
                    </a:p>
                  </a:txBody>
                  <a:tcPr/>
                </a:tc>
                <a:tc>
                  <a:txBody>
                    <a:bodyPr/>
                    <a:lstStyle/>
                    <a:p>
                      <a:pPr algn="ctr"/>
                      <a:r>
                        <a:rPr lang="en-US" altLang="zh-TW" dirty="0" smtClean="0"/>
                        <a:t>A</a:t>
                      </a:r>
                      <a:endParaRPr lang="zh-TW" altLang="en-US" dirty="0"/>
                    </a:p>
                  </a:txBody>
                  <a:tcPr/>
                </a:tc>
                <a:tc>
                  <a:txBody>
                    <a:bodyPr/>
                    <a:lstStyle/>
                    <a:p>
                      <a:pPr algn="ctr"/>
                      <a:r>
                        <a:rPr lang="en-US" altLang="zh-TW" dirty="0" smtClean="0"/>
                        <a:t>C</a:t>
                      </a:r>
                      <a:endParaRPr lang="zh-TW" altLang="en-US" dirty="0"/>
                    </a:p>
                  </a:txBody>
                  <a:tcPr/>
                </a:tc>
              </a:tr>
              <a:tr h="585154">
                <a:tc>
                  <a:txBody>
                    <a:bodyPr/>
                    <a:lstStyle/>
                    <a:p>
                      <a:pPr algn="ctr"/>
                      <a:endParaRPr lang="zh-TW" altLang="en-US" dirty="0"/>
                    </a:p>
                  </a:txBody>
                  <a:tcPr/>
                </a:tc>
                <a:tc>
                  <a:txBody>
                    <a:bodyPr/>
                    <a:lstStyle/>
                    <a:p>
                      <a:pPr algn="ctr"/>
                      <a:r>
                        <a:rPr lang="en-US" altLang="zh-TW" sz="2400" dirty="0" smtClean="0"/>
                        <a:t>0</a:t>
                      </a:r>
                      <a:endParaRPr lang="zh-TW" altLang="en-US" sz="2400" dirty="0"/>
                    </a:p>
                  </a:txBody>
                  <a:tcPr/>
                </a:tc>
                <a:tc>
                  <a:txBody>
                    <a:bodyPr/>
                    <a:lstStyle/>
                    <a:p>
                      <a:pPr algn="ctr"/>
                      <a:r>
                        <a:rPr lang="en-US" altLang="zh-TW" sz="2400" dirty="0" smtClean="0"/>
                        <a:t>2</a:t>
                      </a:r>
                      <a:endParaRPr lang="zh-TW" altLang="en-US" sz="2400" dirty="0"/>
                    </a:p>
                  </a:txBody>
                  <a:tcPr/>
                </a:tc>
                <a:tc>
                  <a:txBody>
                    <a:bodyPr/>
                    <a:lstStyle/>
                    <a:p>
                      <a:pPr algn="ctr"/>
                      <a:r>
                        <a:rPr lang="en-US" altLang="zh-TW" sz="2400" dirty="0" smtClean="0"/>
                        <a:t>4</a:t>
                      </a:r>
                      <a:endParaRPr lang="zh-TW" altLang="en-US" sz="2400" dirty="0"/>
                    </a:p>
                  </a:txBody>
                  <a:tcPr/>
                </a:tc>
                <a:tc>
                  <a:txBody>
                    <a:bodyPr/>
                    <a:lstStyle/>
                    <a:p>
                      <a:pPr algn="ctr"/>
                      <a:endParaRPr lang="zh-TW" altLang="en-US" sz="2400" dirty="0"/>
                    </a:p>
                  </a:txBody>
                  <a:tcPr/>
                </a:tc>
                <a:tc>
                  <a:txBody>
                    <a:bodyPr/>
                    <a:lstStyle/>
                    <a:p>
                      <a:pPr algn="ctr"/>
                      <a:endParaRPr lang="zh-TW" altLang="en-US" sz="2400" dirty="0"/>
                    </a:p>
                  </a:txBody>
                  <a:tcPr/>
                </a:tc>
                <a:tc>
                  <a:txBody>
                    <a:bodyPr/>
                    <a:lstStyle/>
                    <a:p>
                      <a:pPr algn="ctr"/>
                      <a:endParaRPr lang="zh-TW" altLang="en-US" sz="2400" dirty="0"/>
                    </a:p>
                  </a:txBody>
                  <a:tcPr/>
                </a:tc>
              </a:tr>
              <a:tr h="585154">
                <a:tc>
                  <a:txBody>
                    <a:bodyPr/>
                    <a:lstStyle/>
                    <a:p>
                      <a:pPr algn="ctr"/>
                      <a:r>
                        <a:rPr lang="en-US" altLang="zh-TW" dirty="0" smtClean="0"/>
                        <a:t>A</a:t>
                      </a:r>
                      <a:endParaRPr lang="zh-TW" altLang="en-US" dirty="0"/>
                    </a:p>
                  </a:txBody>
                  <a:tcPr/>
                </a:tc>
                <a:tc>
                  <a:txBody>
                    <a:bodyPr/>
                    <a:lstStyle/>
                    <a:p>
                      <a:pPr algn="ctr"/>
                      <a:r>
                        <a:rPr lang="en-US" altLang="zh-TW" sz="2400" dirty="0" smtClean="0"/>
                        <a:t>2</a:t>
                      </a:r>
                      <a:endParaRPr lang="zh-TW" altLang="en-US" sz="2400" dirty="0"/>
                    </a:p>
                  </a:txBody>
                  <a:tcPr/>
                </a:tc>
                <a:tc>
                  <a:txBody>
                    <a:bodyPr/>
                    <a:lstStyle/>
                    <a:p>
                      <a:pPr algn="ctr"/>
                      <a:r>
                        <a:rPr lang="en-US" altLang="zh-TW" sz="2400" dirty="0" smtClean="0"/>
                        <a:t>0</a:t>
                      </a:r>
                      <a:endParaRPr lang="zh-TW" altLang="en-US" sz="2400" dirty="0"/>
                    </a:p>
                  </a:txBody>
                  <a:tcPr/>
                </a:tc>
                <a:tc>
                  <a:txBody>
                    <a:bodyPr/>
                    <a:lstStyle/>
                    <a:p>
                      <a:pPr algn="ctr"/>
                      <a:r>
                        <a:rPr lang="en-US" altLang="zh-TW" sz="2400" dirty="0" smtClean="0"/>
                        <a:t>2</a:t>
                      </a:r>
                      <a:endParaRPr lang="zh-TW" altLang="en-US" sz="2400" dirty="0"/>
                    </a:p>
                  </a:txBody>
                  <a:tcPr/>
                </a:tc>
                <a:tc>
                  <a:txBody>
                    <a:bodyPr/>
                    <a:lstStyle/>
                    <a:p>
                      <a:pPr algn="ctr"/>
                      <a:r>
                        <a:rPr lang="en-US" altLang="zh-TW" sz="2400" dirty="0" smtClean="0"/>
                        <a:t>4</a:t>
                      </a:r>
                      <a:endParaRPr lang="zh-TW" altLang="en-US" sz="2400" dirty="0"/>
                    </a:p>
                  </a:txBody>
                  <a:tcPr/>
                </a:tc>
                <a:tc>
                  <a:txBody>
                    <a:bodyPr/>
                    <a:lstStyle/>
                    <a:p>
                      <a:pPr algn="ctr"/>
                      <a:endParaRPr lang="zh-TW" altLang="en-US" sz="2400" dirty="0"/>
                    </a:p>
                  </a:txBody>
                  <a:tcPr/>
                </a:tc>
                <a:tc>
                  <a:txBody>
                    <a:bodyPr/>
                    <a:lstStyle/>
                    <a:p>
                      <a:pPr algn="ctr"/>
                      <a:endParaRPr lang="zh-TW" altLang="en-US" sz="2400" dirty="0"/>
                    </a:p>
                  </a:txBody>
                  <a:tcPr/>
                </a:tc>
              </a:tr>
              <a:tr h="585154">
                <a:tc>
                  <a:txBody>
                    <a:bodyPr/>
                    <a:lstStyle/>
                    <a:p>
                      <a:pPr algn="ctr"/>
                      <a:r>
                        <a:rPr lang="en-US" altLang="zh-TW" dirty="0" smtClean="0"/>
                        <a:t>C</a:t>
                      </a:r>
                      <a:endParaRPr lang="zh-TW" altLang="en-US" dirty="0"/>
                    </a:p>
                  </a:txBody>
                  <a:tcPr/>
                </a:tc>
                <a:tc>
                  <a:txBody>
                    <a:bodyPr/>
                    <a:lstStyle/>
                    <a:p>
                      <a:pPr algn="ctr"/>
                      <a:r>
                        <a:rPr lang="en-US" altLang="zh-TW" sz="2400" dirty="0" smtClean="0"/>
                        <a:t>4</a:t>
                      </a:r>
                      <a:endParaRPr lang="zh-TW" altLang="en-US" sz="2400" dirty="0"/>
                    </a:p>
                  </a:txBody>
                  <a:tcPr/>
                </a:tc>
                <a:tc>
                  <a:txBody>
                    <a:bodyPr/>
                    <a:lstStyle/>
                    <a:p>
                      <a:pPr algn="ctr"/>
                      <a:r>
                        <a:rPr lang="en-US" altLang="zh-TW" sz="2400" dirty="0" smtClean="0"/>
                        <a:t>2</a:t>
                      </a:r>
                      <a:endParaRPr lang="zh-TW" altLang="en-US" sz="2400" dirty="0"/>
                    </a:p>
                  </a:txBody>
                  <a:tcPr/>
                </a:tc>
                <a:tc>
                  <a:txBody>
                    <a:bodyPr/>
                    <a:lstStyle/>
                    <a:p>
                      <a:pPr algn="ctr"/>
                      <a:r>
                        <a:rPr lang="en-US" altLang="zh-TW" sz="2400" dirty="0" smtClean="0"/>
                        <a:t>0</a:t>
                      </a:r>
                      <a:endParaRPr lang="zh-TW" altLang="en-US" sz="2400" dirty="0"/>
                    </a:p>
                  </a:txBody>
                  <a:tcPr/>
                </a:tc>
                <a:tc>
                  <a:txBody>
                    <a:bodyPr/>
                    <a:lstStyle/>
                    <a:p>
                      <a:pPr algn="ctr"/>
                      <a:r>
                        <a:rPr lang="en-US" altLang="zh-TW" sz="2400" dirty="0" smtClean="0"/>
                        <a:t>2</a:t>
                      </a:r>
                      <a:endParaRPr lang="zh-TW" altLang="en-US" sz="2400" dirty="0"/>
                    </a:p>
                  </a:txBody>
                  <a:tcPr/>
                </a:tc>
                <a:tc>
                  <a:txBody>
                    <a:bodyPr/>
                    <a:lstStyle/>
                    <a:p>
                      <a:pPr algn="ctr"/>
                      <a:r>
                        <a:rPr lang="en-US" altLang="zh-TW" sz="2400" dirty="0" smtClean="0"/>
                        <a:t>4</a:t>
                      </a:r>
                      <a:endParaRPr lang="zh-TW" altLang="en-US" sz="2400" dirty="0"/>
                    </a:p>
                  </a:txBody>
                  <a:tcPr/>
                </a:tc>
                <a:tc>
                  <a:txBody>
                    <a:bodyPr/>
                    <a:lstStyle/>
                    <a:p>
                      <a:pPr algn="ctr"/>
                      <a:endParaRPr lang="zh-TW" altLang="en-US" sz="2400" dirty="0"/>
                    </a:p>
                  </a:txBody>
                  <a:tcPr/>
                </a:tc>
              </a:tr>
              <a:tr h="585154">
                <a:tc>
                  <a:txBody>
                    <a:bodyPr/>
                    <a:lstStyle/>
                    <a:p>
                      <a:pPr algn="ctr"/>
                      <a:r>
                        <a:rPr lang="en-US" altLang="zh-TW" dirty="0" smtClean="0"/>
                        <a:t>A</a:t>
                      </a:r>
                      <a:endParaRPr lang="zh-TW" altLang="en-US" dirty="0"/>
                    </a:p>
                  </a:txBody>
                  <a:tcPr/>
                </a:tc>
                <a:tc>
                  <a:txBody>
                    <a:bodyPr/>
                    <a:lstStyle/>
                    <a:p>
                      <a:pPr algn="ctr"/>
                      <a:endParaRPr lang="zh-TW" altLang="en-US" sz="2400" dirty="0"/>
                    </a:p>
                  </a:txBody>
                  <a:tcPr/>
                </a:tc>
                <a:tc>
                  <a:txBody>
                    <a:bodyPr/>
                    <a:lstStyle/>
                    <a:p>
                      <a:pPr algn="ctr"/>
                      <a:r>
                        <a:rPr lang="en-US" altLang="zh-TW" sz="2400" dirty="0" smtClean="0"/>
                        <a:t>4</a:t>
                      </a:r>
                      <a:endParaRPr lang="zh-TW" altLang="en-US" sz="2400" dirty="0"/>
                    </a:p>
                  </a:txBody>
                  <a:tcPr/>
                </a:tc>
                <a:tc>
                  <a:txBody>
                    <a:bodyPr/>
                    <a:lstStyle/>
                    <a:p>
                      <a:pPr algn="ctr"/>
                      <a:r>
                        <a:rPr lang="en-US" altLang="zh-TW" sz="2400" dirty="0" smtClean="0"/>
                        <a:t>2</a:t>
                      </a:r>
                      <a:endParaRPr lang="zh-TW" altLang="en-US" sz="2400" dirty="0"/>
                    </a:p>
                  </a:txBody>
                  <a:tcPr/>
                </a:tc>
                <a:tc>
                  <a:txBody>
                    <a:bodyPr/>
                    <a:lstStyle/>
                    <a:p>
                      <a:pPr algn="ctr"/>
                      <a:r>
                        <a:rPr lang="en-US" altLang="zh-TW" sz="2400" dirty="0" smtClean="0">
                          <a:solidFill>
                            <a:schemeClr val="tx1"/>
                          </a:solidFill>
                        </a:rPr>
                        <a:t>1</a:t>
                      </a:r>
                      <a:endParaRPr lang="zh-TW" altLang="en-US" sz="2400" dirty="0">
                        <a:solidFill>
                          <a:schemeClr val="tx1"/>
                        </a:solidFill>
                      </a:endParaRPr>
                    </a:p>
                  </a:txBody>
                  <a:tcPr/>
                </a:tc>
                <a:tc>
                  <a:txBody>
                    <a:bodyPr/>
                    <a:lstStyle/>
                    <a:p>
                      <a:pPr algn="ctr"/>
                      <a:r>
                        <a:rPr lang="en-US" altLang="zh-TW" sz="2400" dirty="0" smtClean="0">
                          <a:solidFill>
                            <a:srgbClr val="FF0000"/>
                          </a:solidFill>
                        </a:rPr>
                        <a:t>2</a:t>
                      </a:r>
                      <a:endParaRPr lang="zh-TW" altLang="en-US" sz="2400" dirty="0">
                        <a:solidFill>
                          <a:srgbClr val="FF0000"/>
                        </a:solidFill>
                      </a:endParaRPr>
                    </a:p>
                  </a:txBody>
                  <a:tcPr/>
                </a:tc>
                <a:tc>
                  <a:txBody>
                    <a:bodyPr/>
                    <a:lstStyle/>
                    <a:p>
                      <a:pPr algn="ctr"/>
                      <a:endParaRPr lang="zh-TW" altLang="en-US" sz="2400" dirty="0"/>
                    </a:p>
                  </a:txBody>
                  <a:tcPr/>
                </a:tc>
              </a:tr>
              <a:tr h="585154">
                <a:tc>
                  <a:txBody>
                    <a:bodyPr/>
                    <a:lstStyle/>
                    <a:p>
                      <a:pPr algn="ctr"/>
                      <a:r>
                        <a:rPr lang="en-US" altLang="zh-TW" dirty="0" smtClean="0"/>
                        <a:t>G</a:t>
                      </a:r>
                      <a:endParaRPr lang="zh-TW" altLang="en-US" dirty="0"/>
                    </a:p>
                  </a:txBody>
                  <a:tcPr/>
                </a:tc>
                <a:tc>
                  <a:txBody>
                    <a:bodyPr/>
                    <a:lstStyle/>
                    <a:p>
                      <a:pPr algn="ctr"/>
                      <a:endParaRPr lang="zh-TW" altLang="en-US" sz="2400" dirty="0"/>
                    </a:p>
                  </a:txBody>
                  <a:tcPr/>
                </a:tc>
                <a:tc>
                  <a:txBody>
                    <a:bodyPr/>
                    <a:lstStyle/>
                    <a:p>
                      <a:pPr algn="ctr"/>
                      <a:endParaRPr lang="zh-TW" altLang="en-US" sz="2400" dirty="0"/>
                    </a:p>
                  </a:txBody>
                  <a:tcPr/>
                </a:tc>
                <a:tc>
                  <a:txBody>
                    <a:bodyPr/>
                    <a:lstStyle/>
                    <a:p>
                      <a:pPr algn="ctr"/>
                      <a:r>
                        <a:rPr lang="en-US" altLang="zh-TW" sz="2400" dirty="0" smtClean="0"/>
                        <a:t>4</a:t>
                      </a:r>
                      <a:endParaRPr lang="zh-TW" altLang="en-US" sz="2400" dirty="0"/>
                    </a:p>
                  </a:txBody>
                  <a:tcPr/>
                </a:tc>
                <a:tc>
                  <a:txBody>
                    <a:bodyPr/>
                    <a:lstStyle/>
                    <a:p>
                      <a:pPr algn="ctr"/>
                      <a:r>
                        <a:rPr lang="en-US" altLang="zh-TW" sz="2400" dirty="0" smtClean="0">
                          <a:solidFill>
                            <a:srgbClr val="FF0000"/>
                          </a:solidFill>
                        </a:rPr>
                        <a:t>2</a:t>
                      </a:r>
                      <a:endParaRPr lang="zh-TW" altLang="en-US" sz="2400" dirty="0">
                        <a:solidFill>
                          <a:srgbClr val="FF0000"/>
                        </a:solidFill>
                      </a:endParaRPr>
                    </a:p>
                  </a:txBody>
                  <a:tcPr/>
                </a:tc>
                <a:tc>
                  <a:txBody>
                    <a:bodyPr/>
                    <a:lstStyle/>
                    <a:p>
                      <a:pPr algn="ctr"/>
                      <a:r>
                        <a:rPr lang="en-US" altLang="zh-TW" sz="2400" dirty="0" smtClean="0"/>
                        <a:t>2</a:t>
                      </a:r>
                      <a:endParaRPr lang="zh-TW" altLang="en-US" sz="2400" dirty="0"/>
                    </a:p>
                  </a:txBody>
                  <a:tcPr/>
                </a:tc>
                <a:tc>
                  <a:txBody>
                    <a:bodyPr/>
                    <a:lstStyle/>
                    <a:p>
                      <a:pPr algn="ctr"/>
                      <a:r>
                        <a:rPr lang="en-US" altLang="zh-TW" sz="2400" dirty="0" smtClean="0"/>
                        <a:t>3</a:t>
                      </a:r>
                      <a:endParaRPr lang="zh-TW" altLang="en-US" sz="2400" dirty="0"/>
                    </a:p>
                  </a:txBody>
                  <a:tcPr/>
                </a:tc>
              </a:tr>
              <a:tr h="585154">
                <a:tc>
                  <a:txBody>
                    <a:bodyPr/>
                    <a:lstStyle/>
                    <a:p>
                      <a:pPr algn="ctr"/>
                      <a:r>
                        <a:rPr lang="en-US" altLang="zh-TW" dirty="0" smtClean="0"/>
                        <a:t>C</a:t>
                      </a:r>
                      <a:endParaRPr lang="zh-TW" altLang="en-US" dirty="0"/>
                    </a:p>
                  </a:txBody>
                  <a:tcPr/>
                </a:tc>
                <a:tc>
                  <a:txBody>
                    <a:bodyPr/>
                    <a:lstStyle/>
                    <a:p>
                      <a:pPr algn="ctr"/>
                      <a:endParaRPr lang="zh-TW" altLang="en-US" sz="2400" dirty="0"/>
                    </a:p>
                  </a:txBody>
                  <a:tcPr/>
                </a:tc>
                <a:tc>
                  <a:txBody>
                    <a:bodyPr/>
                    <a:lstStyle/>
                    <a:p>
                      <a:pPr algn="ctr"/>
                      <a:endParaRPr lang="zh-TW" altLang="en-US" sz="2400" dirty="0"/>
                    </a:p>
                  </a:txBody>
                  <a:tcPr/>
                </a:tc>
                <a:tc>
                  <a:txBody>
                    <a:bodyPr/>
                    <a:lstStyle/>
                    <a:p>
                      <a:pPr algn="ctr"/>
                      <a:endParaRPr lang="zh-TW" altLang="en-US" sz="2400" dirty="0"/>
                    </a:p>
                  </a:txBody>
                  <a:tcPr/>
                </a:tc>
                <a:tc>
                  <a:txBody>
                    <a:bodyPr/>
                    <a:lstStyle/>
                    <a:p>
                      <a:pPr algn="ctr"/>
                      <a:endParaRPr lang="zh-TW" altLang="en-US" sz="2400" dirty="0"/>
                    </a:p>
                  </a:txBody>
                  <a:tcPr/>
                </a:tc>
                <a:tc>
                  <a:txBody>
                    <a:bodyPr/>
                    <a:lstStyle/>
                    <a:p>
                      <a:pPr algn="ctr"/>
                      <a:r>
                        <a:rPr lang="en-US" altLang="zh-TW" sz="2400" dirty="0" smtClean="0"/>
                        <a:t>4</a:t>
                      </a:r>
                      <a:endParaRPr lang="zh-TW" altLang="en-US" sz="2400" dirty="0"/>
                    </a:p>
                  </a:txBody>
                  <a:tcPr/>
                </a:tc>
                <a:tc>
                  <a:txBody>
                    <a:bodyPr/>
                    <a:lstStyle/>
                    <a:p>
                      <a:pPr algn="ctr"/>
                      <a:r>
                        <a:rPr lang="en-US" altLang="zh-TW" sz="2400" dirty="0" smtClean="0">
                          <a:solidFill>
                            <a:srgbClr val="FF0000"/>
                          </a:solidFill>
                        </a:rPr>
                        <a:t>2</a:t>
                      </a:r>
                      <a:endParaRPr lang="zh-TW" altLang="en-US" sz="2400" dirty="0">
                        <a:solidFill>
                          <a:srgbClr val="FF0000"/>
                        </a:solidFill>
                      </a:endParaRPr>
                    </a:p>
                  </a:txBody>
                  <a:tcPr/>
                </a:tc>
              </a:tr>
            </a:tbl>
          </a:graphicData>
        </a:graphic>
      </p:graphicFrame>
      <p:sp>
        <p:nvSpPr>
          <p:cNvPr id="8" name="文字方塊 7"/>
          <p:cNvSpPr txBox="1"/>
          <p:nvPr/>
        </p:nvSpPr>
        <p:spPr>
          <a:xfrm>
            <a:off x="785786" y="1285860"/>
            <a:ext cx="821059" cy="461665"/>
          </a:xfrm>
          <a:prstGeom prst="rect">
            <a:avLst/>
          </a:prstGeom>
          <a:noFill/>
        </p:spPr>
        <p:txBody>
          <a:bodyPr wrap="none" rtlCol="0">
            <a:spAutoFit/>
          </a:bodyPr>
          <a:lstStyle/>
          <a:p>
            <a:r>
              <a:rPr lang="en-US" altLang="zh-TW" sz="2400" dirty="0" smtClean="0">
                <a:solidFill>
                  <a:srgbClr val="FF0000"/>
                </a:solidFill>
              </a:rPr>
              <a:t>D = 2</a:t>
            </a:r>
            <a:endParaRPr lang="zh-TW" altLang="en-US" sz="2400" dirty="0">
              <a:solidFill>
                <a:srgbClr val="FF0000"/>
              </a:solidFill>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4"/>
            <a:ext cx="8229600" cy="1143000"/>
          </a:xfrm>
        </p:spPr>
        <p:txBody>
          <a:bodyPr/>
          <a:lstStyle/>
          <a:p>
            <a:pPr algn="l"/>
            <a:r>
              <a:rPr lang="en-US" altLang="zh-TW" dirty="0" smtClean="0">
                <a:latin typeface="Times New Roman" pitchFamily="18" charset="0"/>
                <a:cs typeface="Times New Roman" pitchFamily="18" charset="0"/>
              </a:rPr>
              <a:t>Algorithm </a:t>
            </a:r>
            <a:endParaRPr lang="zh-TW" altLang="en-US" dirty="0">
              <a:latin typeface="Times New Roman" pitchFamily="18" charset="0"/>
              <a:cs typeface="Times New Roman" pitchFamily="18" charset="0"/>
            </a:endParaRPr>
          </a:p>
        </p:txBody>
      </p:sp>
      <p:sp>
        <p:nvSpPr>
          <p:cNvPr id="6" name="文字方塊 5"/>
          <p:cNvSpPr txBox="1"/>
          <p:nvPr/>
        </p:nvSpPr>
        <p:spPr>
          <a:xfrm>
            <a:off x="3929058" y="285728"/>
            <a:ext cx="3000396" cy="1200329"/>
          </a:xfrm>
          <a:prstGeom prst="rect">
            <a:avLst/>
          </a:prstGeom>
          <a:noFill/>
        </p:spPr>
        <p:txBody>
          <a:bodyPr wrap="square" rtlCol="0">
            <a:spAutoFit/>
          </a:bodyPr>
          <a:lstStyle/>
          <a:p>
            <a:r>
              <a:rPr lang="en-US" altLang="zh-TW" sz="2400" dirty="0" smtClean="0">
                <a:latin typeface="Times New Roman" pitchFamily="18" charset="0"/>
                <a:cs typeface="Times New Roman" pitchFamily="18" charset="0"/>
              </a:rPr>
              <a:t>Match	       : 0</a:t>
            </a:r>
          </a:p>
          <a:p>
            <a:r>
              <a:rPr lang="en-US" altLang="zh-TW" sz="2400" dirty="0" smtClean="0">
                <a:latin typeface="Times New Roman" pitchFamily="18" charset="0"/>
                <a:cs typeface="Times New Roman" pitchFamily="18" charset="0"/>
              </a:rPr>
              <a:t>Mismatch   : 1</a:t>
            </a:r>
          </a:p>
          <a:p>
            <a:r>
              <a:rPr lang="en-US" altLang="zh-TW" sz="2400" dirty="0" smtClean="0">
                <a:latin typeface="Times New Roman" pitchFamily="18" charset="0"/>
                <a:cs typeface="Times New Roman" pitchFamily="18" charset="0"/>
              </a:rPr>
              <a:t>Gap	       : 2</a:t>
            </a:r>
            <a:endParaRPr lang="zh-TW" altLang="en-US" sz="2400" dirty="0">
              <a:latin typeface="Times New Roman" pitchFamily="18" charset="0"/>
              <a:cs typeface="Times New Roman" pitchFamily="18" charset="0"/>
            </a:endParaRPr>
          </a:p>
        </p:txBody>
      </p:sp>
      <p:graphicFrame>
        <p:nvGraphicFramePr>
          <p:cNvPr id="7" name="表格 6"/>
          <p:cNvGraphicFramePr>
            <a:graphicFrameLocks noGrp="1"/>
          </p:cNvGraphicFramePr>
          <p:nvPr/>
        </p:nvGraphicFramePr>
        <p:xfrm>
          <a:off x="642910" y="1785926"/>
          <a:ext cx="8001056" cy="4096078"/>
        </p:xfrm>
        <a:graphic>
          <a:graphicData uri="http://schemas.openxmlformats.org/drawingml/2006/table">
            <a:tbl>
              <a:tblPr firstRow="1" firstCol="1" bandRow="1">
                <a:tableStyleId>{5C22544A-7EE6-4342-B048-85BDC9FD1C3A}</a:tableStyleId>
              </a:tblPr>
              <a:tblGrid>
                <a:gridCol w="1143008"/>
                <a:gridCol w="1143008"/>
                <a:gridCol w="1143008"/>
                <a:gridCol w="1143008"/>
                <a:gridCol w="1143008"/>
                <a:gridCol w="1143008"/>
                <a:gridCol w="1143008"/>
              </a:tblGrid>
              <a:tr h="585154">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smtClean="0"/>
                        <a:t>A</a:t>
                      </a:r>
                      <a:endParaRPr lang="zh-TW" altLang="en-US" dirty="0"/>
                    </a:p>
                  </a:txBody>
                  <a:tcPr/>
                </a:tc>
                <a:tc>
                  <a:txBody>
                    <a:bodyPr/>
                    <a:lstStyle/>
                    <a:p>
                      <a:pPr algn="ctr"/>
                      <a:r>
                        <a:rPr lang="en-US" altLang="zh-TW" dirty="0" smtClean="0"/>
                        <a:t>C</a:t>
                      </a:r>
                      <a:endParaRPr lang="zh-TW" altLang="en-US" dirty="0"/>
                    </a:p>
                  </a:txBody>
                  <a:tcPr/>
                </a:tc>
                <a:tc>
                  <a:txBody>
                    <a:bodyPr/>
                    <a:lstStyle/>
                    <a:p>
                      <a:pPr algn="ctr"/>
                      <a:r>
                        <a:rPr lang="en-US" altLang="zh-TW" dirty="0" smtClean="0"/>
                        <a:t>G</a:t>
                      </a:r>
                      <a:endParaRPr lang="zh-TW" altLang="en-US" dirty="0"/>
                    </a:p>
                  </a:txBody>
                  <a:tcPr/>
                </a:tc>
                <a:tc>
                  <a:txBody>
                    <a:bodyPr/>
                    <a:lstStyle/>
                    <a:p>
                      <a:pPr algn="ctr"/>
                      <a:r>
                        <a:rPr lang="en-US" altLang="zh-TW" dirty="0" smtClean="0"/>
                        <a:t>A</a:t>
                      </a:r>
                      <a:endParaRPr lang="zh-TW" altLang="en-US" dirty="0"/>
                    </a:p>
                  </a:txBody>
                  <a:tcPr/>
                </a:tc>
                <a:tc>
                  <a:txBody>
                    <a:bodyPr/>
                    <a:lstStyle/>
                    <a:p>
                      <a:pPr algn="ctr"/>
                      <a:r>
                        <a:rPr lang="en-US" altLang="zh-TW" dirty="0" smtClean="0"/>
                        <a:t>C</a:t>
                      </a:r>
                      <a:endParaRPr lang="zh-TW" altLang="en-US" dirty="0"/>
                    </a:p>
                  </a:txBody>
                  <a:tcPr/>
                </a:tc>
              </a:tr>
              <a:tr h="585154">
                <a:tc>
                  <a:txBody>
                    <a:bodyPr/>
                    <a:lstStyle/>
                    <a:p>
                      <a:pPr algn="ctr"/>
                      <a:endParaRPr lang="zh-TW" altLang="en-US" dirty="0"/>
                    </a:p>
                  </a:txBody>
                  <a:tcPr/>
                </a:tc>
                <a:tc>
                  <a:txBody>
                    <a:bodyPr/>
                    <a:lstStyle/>
                    <a:p>
                      <a:pPr algn="ctr"/>
                      <a:r>
                        <a:rPr lang="en-US" altLang="zh-TW" sz="2400" dirty="0" smtClean="0"/>
                        <a:t>0</a:t>
                      </a:r>
                      <a:endParaRPr lang="zh-TW" altLang="en-US" sz="2400" dirty="0"/>
                    </a:p>
                  </a:txBody>
                  <a:tcPr/>
                </a:tc>
                <a:tc>
                  <a:txBody>
                    <a:bodyPr/>
                    <a:lstStyle/>
                    <a:p>
                      <a:pPr algn="ctr"/>
                      <a:r>
                        <a:rPr lang="en-US" altLang="zh-TW" sz="2400" dirty="0" smtClean="0"/>
                        <a:t>2</a:t>
                      </a:r>
                      <a:endParaRPr lang="zh-TW" altLang="en-US" sz="2400" dirty="0"/>
                    </a:p>
                  </a:txBody>
                  <a:tcPr/>
                </a:tc>
                <a:tc>
                  <a:txBody>
                    <a:bodyPr/>
                    <a:lstStyle/>
                    <a:p>
                      <a:pPr algn="ctr"/>
                      <a:r>
                        <a:rPr lang="en-US" altLang="zh-TW" sz="2400" dirty="0" smtClean="0"/>
                        <a:t>4</a:t>
                      </a:r>
                      <a:endParaRPr lang="zh-TW" altLang="en-US" sz="2400" dirty="0"/>
                    </a:p>
                  </a:txBody>
                  <a:tcPr/>
                </a:tc>
                <a:tc>
                  <a:txBody>
                    <a:bodyPr/>
                    <a:lstStyle/>
                    <a:p>
                      <a:pPr algn="ctr"/>
                      <a:endParaRPr lang="zh-TW" altLang="en-US" sz="2400" dirty="0"/>
                    </a:p>
                  </a:txBody>
                  <a:tcPr/>
                </a:tc>
                <a:tc>
                  <a:txBody>
                    <a:bodyPr/>
                    <a:lstStyle/>
                    <a:p>
                      <a:pPr algn="ctr"/>
                      <a:endParaRPr lang="zh-TW" altLang="en-US" sz="2400" dirty="0"/>
                    </a:p>
                  </a:txBody>
                  <a:tcPr/>
                </a:tc>
                <a:tc>
                  <a:txBody>
                    <a:bodyPr/>
                    <a:lstStyle/>
                    <a:p>
                      <a:pPr algn="ctr"/>
                      <a:endParaRPr lang="zh-TW" altLang="en-US" sz="2400" dirty="0"/>
                    </a:p>
                  </a:txBody>
                  <a:tcPr/>
                </a:tc>
              </a:tr>
              <a:tr h="585154">
                <a:tc>
                  <a:txBody>
                    <a:bodyPr/>
                    <a:lstStyle/>
                    <a:p>
                      <a:pPr algn="ctr"/>
                      <a:r>
                        <a:rPr lang="en-US" altLang="zh-TW" dirty="0" smtClean="0"/>
                        <a:t>A</a:t>
                      </a:r>
                      <a:endParaRPr lang="zh-TW" altLang="en-US" dirty="0"/>
                    </a:p>
                  </a:txBody>
                  <a:tcPr/>
                </a:tc>
                <a:tc>
                  <a:txBody>
                    <a:bodyPr/>
                    <a:lstStyle/>
                    <a:p>
                      <a:pPr algn="ctr"/>
                      <a:r>
                        <a:rPr lang="en-US" altLang="zh-TW" sz="2400" dirty="0" smtClean="0"/>
                        <a:t>2</a:t>
                      </a:r>
                      <a:endParaRPr lang="zh-TW" altLang="en-US" sz="2400" dirty="0"/>
                    </a:p>
                  </a:txBody>
                  <a:tcPr/>
                </a:tc>
                <a:tc>
                  <a:txBody>
                    <a:bodyPr/>
                    <a:lstStyle/>
                    <a:p>
                      <a:pPr algn="ctr"/>
                      <a:r>
                        <a:rPr lang="en-US" altLang="zh-TW" sz="2400" dirty="0" smtClean="0"/>
                        <a:t>0</a:t>
                      </a:r>
                      <a:endParaRPr lang="zh-TW" altLang="en-US" sz="2400" dirty="0"/>
                    </a:p>
                  </a:txBody>
                  <a:tcPr/>
                </a:tc>
                <a:tc>
                  <a:txBody>
                    <a:bodyPr/>
                    <a:lstStyle/>
                    <a:p>
                      <a:pPr algn="ctr"/>
                      <a:r>
                        <a:rPr lang="en-US" altLang="zh-TW" sz="2400" dirty="0" smtClean="0"/>
                        <a:t>2</a:t>
                      </a:r>
                      <a:endParaRPr lang="zh-TW" altLang="en-US" sz="2400" dirty="0"/>
                    </a:p>
                  </a:txBody>
                  <a:tcPr/>
                </a:tc>
                <a:tc>
                  <a:txBody>
                    <a:bodyPr/>
                    <a:lstStyle/>
                    <a:p>
                      <a:pPr algn="ctr"/>
                      <a:r>
                        <a:rPr lang="en-US" altLang="zh-TW" sz="2400" dirty="0" smtClean="0"/>
                        <a:t>4</a:t>
                      </a:r>
                      <a:endParaRPr lang="zh-TW" altLang="en-US" sz="2400" dirty="0"/>
                    </a:p>
                  </a:txBody>
                  <a:tcPr/>
                </a:tc>
                <a:tc>
                  <a:txBody>
                    <a:bodyPr/>
                    <a:lstStyle/>
                    <a:p>
                      <a:pPr algn="ctr"/>
                      <a:endParaRPr lang="zh-TW" altLang="en-US" sz="2400" dirty="0"/>
                    </a:p>
                  </a:txBody>
                  <a:tcPr/>
                </a:tc>
                <a:tc>
                  <a:txBody>
                    <a:bodyPr/>
                    <a:lstStyle/>
                    <a:p>
                      <a:pPr algn="ctr"/>
                      <a:endParaRPr lang="zh-TW" altLang="en-US" sz="2400" dirty="0"/>
                    </a:p>
                  </a:txBody>
                  <a:tcPr/>
                </a:tc>
              </a:tr>
              <a:tr h="585154">
                <a:tc>
                  <a:txBody>
                    <a:bodyPr/>
                    <a:lstStyle/>
                    <a:p>
                      <a:pPr algn="ctr"/>
                      <a:r>
                        <a:rPr lang="en-US" altLang="zh-TW" dirty="0" smtClean="0"/>
                        <a:t>C</a:t>
                      </a:r>
                      <a:endParaRPr lang="zh-TW" altLang="en-US" dirty="0"/>
                    </a:p>
                  </a:txBody>
                  <a:tcPr/>
                </a:tc>
                <a:tc>
                  <a:txBody>
                    <a:bodyPr/>
                    <a:lstStyle/>
                    <a:p>
                      <a:pPr algn="ctr"/>
                      <a:r>
                        <a:rPr lang="en-US" altLang="zh-TW" sz="2400" dirty="0" smtClean="0"/>
                        <a:t>4</a:t>
                      </a:r>
                      <a:endParaRPr lang="zh-TW" altLang="en-US" sz="2400" dirty="0"/>
                    </a:p>
                  </a:txBody>
                  <a:tcPr/>
                </a:tc>
                <a:tc>
                  <a:txBody>
                    <a:bodyPr/>
                    <a:lstStyle/>
                    <a:p>
                      <a:pPr algn="ctr"/>
                      <a:r>
                        <a:rPr lang="en-US" altLang="zh-TW" sz="2400" dirty="0" smtClean="0"/>
                        <a:t>2</a:t>
                      </a:r>
                      <a:endParaRPr lang="zh-TW" altLang="en-US" sz="2400" dirty="0"/>
                    </a:p>
                  </a:txBody>
                  <a:tcPr/>
                </a:tc>
                <a:tc>
                  <a:txBody>
                    <a:bodyPr/>
                    <a:lstStyle/>
                    <a:p>
                      <a:pPr algn="ctr"/>
                      <a:r>
                        <a:rPr lang="en-US" altLang="zh-TW" sz="2400" dirty="0" smtClean="0"/>
                        <a:t>0</a:t>
                      </a:r>
                      <a:endParaRPr lang="zh-TW" altLang="en-US" sz="2400" dirty="0"/>
                    </a:p>
                  </a:txBody>
                  <a:tcPr/>
                </a:tc>
                <a:tc>
                  <a:txBody>
                    <a:bodyPr/>
                    <a:lstStyle/>
                    <a:p>
                      <a:pPr algn="ctr"/>
                      <a:r>
                        <a:rPr lang="en-US" altLang="zh-TW" sz="2400" dirty="0" smtClean="0"/>
                        <a:t>2</a:t>
                      </a:r>
                      <a:endParaRPr lang="zh-TW" altLang="en-US" sz="2400" dirty="0"/>
                    </a:p>
                  </a:txBody>
                  <a:tcPr/>
                </a:tc>
                <a:tc>
                  <a:txBody>
                    <a:bodyPr/>
                    <a:lstStyle/>
                    <a:p>
                      <a:pPr algn="ctr"/>
                      <a:r>
                        <a:rPr lang="en-US" altLang="zh-TW" sz="2400" dirty="0" smtClean="0"/>
                        <a:t>4</a:t>
                      </a:r>
                      <a:endParaRPr lang="zh-TW" altLang="en-US" sz="2400" dirty="0"/>
                    </a:p>
                  </a:txBody>
                  <a:tcPr/>
                </a:tc>
                <a:tc>
                  <a:txBody>
                    <a:bodyPr/>
                    <a:lstStyle/>
                    <a:p>
                      <a:pPr algn="ctr"/>
                      <a:endParaRPr lang="zh-TW" altLang="en-US" sz="2400" dirty="0"/>
                    </a:p>
                  </a:txBody>
                  <a:tcPr/>
                </a:tc>
              </a:tr>
              <a:tr h="585154">
                <a:tc>
                  <a:txBody>
                    <a:bodyPr/>
                    <a:lstStyle/>
                    <a:p>
                      <a:pPr algn="ctr"/>
                      <a:r>
                        <a:rPr lang="en-US" altLang="zh-TW" dirty="0" smtClean="0"/>
                        <a:t>A</a:t>
                      </a:r>
                      <a:endParaRPr lang="zh-TW" altLang="en-US" dirty="0"/>
                    </a:p>
                  </a:txBody>
                  <a:tcPr/>
                </a:tc>
                <a:tc>
                  <a:txBody>
                    <a:bodyPr/>
                    <a:lstStyle/>
                    <a:p>
                      <a:pPr algn="ctr"/>
                      <a:endParaRPr lang="zh-TW" altLang="en-US" sz="2400" dirty="0"/>
                    </a:p>
                  </a:txBody>
                  <a:tcPr/>
                </a:tc>
                <a:tc>
                  <a:txBody>
                    <a:bodyPr/>
                    <a:lstStyle/>
                    <a:p>
                      <a:pPr algn="ctr"/>
                      <a:r>
                        <a:rPr lang="en-US" altLang="zh-TW" sz="2400" dirty="0" smtClean="0"/>
                        <a:t>4</a:t>
                      </a:r>
                      <a:endParaRPr lang="zh-TW" altLang="en-US" sz="2400" dirty="0"/>
                    </a:p>
                  </a:txBody>
                  <a:tcPr/>
                </a:tc>
                <a:tc>
                  <a:txBody>
                    <a:bodyPr/>
                    <a:lstStyle/>
                    <a:p>
                      <a:pPr algn="ctr"/>
                      <a:r>
                        <a:rPr lang="en-US" altLang="zh-TW" sz="2400" dirty="0" smtClean="0"/>
                        <a:t>2</a:t>
                      </a:r>
                      <a:endParaRPr lang="zh-TW" altLang="en-US" sz="2400" dirty="0"/>
                    </a:p>
                  </a:txBody>
                  <a:tcPr/>
                </a:tc>
                <a:tc>
                  <a:txBody>
                    <a:bodyPr/>
                    <a:lstStyle/>
                    <a:p>
                      <a:pPr algn="ctr"/>
                      <a:r>
                        <a:rPr lang="en-US" altLang="zh-TW" sz="2400" dirty="0" smtClean="0">
                          <a:solidFill>
                            <a:schemeClr val="tx1"/>
                          </a:solidFill>
                        </a:rPr>
                        <a:t>1</a:t>
                      </a:r>
                      <a:endParaRPr lang="zh-TW" altLang="en-US" sz="2400" dirty="0">
                        <a:solidFill>
                          <a:schemeClr val="tx1"/>
                        </a:solidFill>
                      </a:endParaRPr>
                    </a:p>
                  </a:txBody>
                  <a:tcPr/>
                </a:tc>
                <a:tc>
                  <a:txBody>
                    <a:bodyPr/>
                    <a:lstStyle/>
                    <a:p>
                      <a:pPr algn="ctr"/>
                      <a:r>
                        <a:rPr lang="en-US" altLang="zh-TW" sz="2400" dirty="0" smtClean="0"/>
                        <a:t>2</a:t>
                      </a:r>
                      <a:endParaRPr lang="zh-TW" altLang="en-US" sz="2400" dirty="0"/>
                    </a:p>
                  </a:txBody>
                  <a:tcPr/>
                </a:tc>
                <a:tc>
                  <a:txBody>
                    <a:bodyPr/>
                    <a:lstStyle/>
                    <a:p>
                      <a:pPr algn="ctr"/>
                      <a:r>
                        <a:rPr lang="en-US" altLang="zh-TW" sz="2400" dirty="0" smtClean="0"/>
                        <a:t>4</a:t>
                      </a:r>
                      <a:endParaRPr lang="zh-TW" altLang="en-US" sz="2400" dirty="0"/>
                    </a:p>
                  </a:txBody>
                  <a:tcPr/>
                </a:tc>
              </a:tr>
              <a:tr h="585154">
                <a:tc>
                  <a:txBody>
                    <a:bodyPr/>
                    <a:lstStyle/>
                    <a:p>
                      <a:pPr algn="ctr"/>
                      <a:r>
                        <a:rPr lang="en-US" altLang="zh-TW" dirty="0" smtClean="0"/>
                        <a:t>G</a:t>
                      </a:r>
                      <a:endParaRPr lang="zh-TW" altLang="en-US" dirty="0"/>
                    </a:p>
                  </a:txBody>
                  <a:tcPr/>
                </a:tc>
                <a:tc>
                  <a:txBody>
                    <a:bodyPr/>
                    <a:lstStyle/>
                    <a:p>
                      <a:pPr algn="ctr"/>
                      <a:endParaRPr lang="zh-TW" altLang="en-US" sz="2400" dirty="0"/>
                    </a:p>
                  </a:txBody>
                  <a:tcPr/>
                </a:tc>
                <a:tc>
                  <a:txBody>
                    <a:bodyPr/>
                    <a:lstStyle/>
                    <a:p>
                      <a:pPr algn="ctr"/>
                      <a:endParaRPr lang="zh-TW" altLang="en-US" sz="2400" dirty="0"/>
                    </a:p>
                  </a:txBody>
                  <a:tcPr/>
                </a:tc>
                <a:tc>
                  <a:txBody>
                    <a:bodyPr/>
                    <a:lstStyle/>
                    <a:p>
                      <a:pPr algn="ctr"/>
                      <a:r>
                        <a:rPr lang="en-US" altLang="zh-TW" sz="2400" dirty="0" smtClean="0"/>
                        <a:t>4</a:t>
                      </a:r>
                      <a:endParaRPr lang="zh-TW" altLang="en-US" sz="2400" dirty="0"/>
                    </a:p>
                  </a:txBody>
                  <a:tcPr/>
                </a:tc>
                <a:tc>
                  <a:txBody>
                    <a:bodyPr/>
                    <a:lstStyle/>
                    <a:p>
                      <a:pPr algn="ctr"/>
                      <a:r>
                        <a:rPr lang="en-US" altLang="zh-TW" sz="2400" dirty="0" smtClean="0">
                          <a:solidFill>
                            <a:schemeClr val="tx1"/>
                          </a:solidFill>
                        </a:rPr>
                        <a:t>2</a:t>
                      </a:r>
                      <a:endParaRPr lang="zh-TW" altLang="en-US" sz="2400" dirty="0">
                        <a:solidFill>
                          <a:schemeClr val="tx1"/>
                        </a:solidFill>
                      </a:endParaRPr>
                    </a:p>
                  </a:txBody>
                  <a:tcPr/>
                </a:tc>
                <a:tc>
                  <a:txBody>
                    <a:bodyPr/>
                    <a:lstStyle/>
                    <a:p>
                      <a:pPr algn="ctr"/>
                      <a:r>
                        <a:rPr lang="en-US" altLang="zh-TW" sz="2400" dirty="0" smtClean="0"/>
                        <a:t>2</a:t>
                      </a:r>
                      <a:endParaRPr lang="zh-TW" altLang="en-US" sz="2400" dirty="0"/>
                    </a:p>
                  </a:txBody>
                  <a:tcPr/>
                </a:tc>
                <a:tc>
                  <a:txBody>
                    <a:bodyPr/>
                    <a:lstStyle/>
                    <a:p>
                      <a:pPr algn="ctr"/>
                      <a:r>
                        <a:rPr lang="en-US" altLang="zh-TW" sz="2400" dirty="0" smtClean="0">
                          <a:solidFill>
                            <a:srgbClr val="00B050"/>
                          </a:solidFill>
                        </a:rPr>
                        <a:t>3</a:t>
                      </a:r>
                      <a:endParaRPr lang="zh-TW" altLang="en-US" sz="2400" dirty="0">
                        <a:solidFill>
                          <a:srgbClr val="00B050"/>
                        </a:solidFill>
                      </a:endParaRPr>
                    </a:p>
                  </a:txBody>
                  <a:tcPr/>
                </a:tc>
              </a:tr>
              <a:tr h="585154">
                <a:tc>
                  <a:txBody>
                    <a:bodyPr/>
                    <a:lstStyle/>
                    <a:p>
                      <a:pPr algn="ctr"/>
                      <a:r>
                        <a:rPr lang="en-US" altLang="zh-TW" dirty="0" smtClean="0"/>
                        <a:t>C</a:t>
                      </a:r>
                      <a:endParaRPr lang="zh-TW" altLang="en-US" dirty="0"/>
                    </a:p>
                  </a:txBody>
                  <a:tcPr/>
                </a:tc>
                <a:tc>
                  <a:txBody>
                    <a:bodyPr/>
                    <a:lstStyle/>
                    <a:p>
                      <a:pPr algn="ctr"/>
                      <a:endParaRPr lang="zh-TW" altLang="en-US" sz="2400" dirty="0"/>
                    </a:p>
                  </a:txBody>
                  <a:tcPr/>
                </a:tc>
                <a:tc>
                  <a:txBody>
                    <a:bodyPr/>
                    <a:lstStyle/>
                    <a:p>
                      <a:pPr algn="ctr"/>
                      <a:endParaRPr lang="zh-TW" altLang="en-US" sz="2400" dirty="0"/>
                    </a:p>
                  </a:txBody>
                  <a:tcPr/>
                </a:tc>
                <a:tc>
                  <a:txBody>
                    <a:bodyPr/>
                    <a:lstStyle/>
                    <a:p>
                      <a:pPr algn="ctr"/>
                      <a:endParaRPr lang="zh-TW" altLang="en-US" sz="2400" dirty="0"/>
                    </a:p>
                  </a:txBody>
                  <a:tcPr/>
                </a:tc>
                <a:tc>
                  <a:txBody>
                    <a:bodyPr/>
                    <a:lstStyle/>
                    <a:p>
                      <a:pPr algn="ctr"/>
                      <a:r>
                        <a:rPr lang="en-US" altLang="zh-TW" sz="2400" dirty="0" smtClean="0"/>
                        <a:t>4</a:t>
                      </a:r>
                      <a:endParaRPr lang="zh-TW" altLang="en-US" sz="2400" dirty="0"/>
                    </a:p>
                  </a:txBody>
                  <a:tcPr/>
                </a:tc>
                <a:tc>
                  <a:txBody>
                    <a:bodyPr/>
                    <a:lstStyle/>
                    <a:p>
                      <a:pPr algn="ctr"/>
                      <a:r>
                        <a:rPr lang="en-US" altLang="zh-TW" sz="2400" dirty="0" smtClean="0">
                          <a:solidFill>
                            <a:srgbClr val="00B050"/>
                          </a:solidFill>
                        </a:rPr>
                        <a:t>3</a:t>
                      </a:r>
                      <a:endParaRPr lang="zh-TW" altLang="en-US" sz="2400" dirty="0">
                        <a:solidFill>
                          <a:srgbClr val="00B050"/>
                        </a:solidFill>
                      </a:endParaRPr>
                    </a:p>
                  </a:txBody>
                  <a:tcPr/>
                </a:tc>
                <a:tc>
                  <a:txBody>
                    <a:bodyPr/>
                    <a:lstStyle/>
                    <a:p>
                      <a:pPr algn="ctr"/>
                      <a:r>
                        <a:rPr lang="en-US" altLang="zh-TW" sz="2400" dirty="0" smtClean="0">
                          <a:solidFill>
                            <a:schemeClr val="tx1"/>
                          </a:solidFill>
                        </a:rPr>
                        <a:t>2</a:t>
                      </a:r>
                      <a:endParaRPr lang="zh-TW" altLang="en-US" sz="2400" dirty="0">
                        <a:solidFill>
                          <a:schemeClr val="tx1"/>
                        </a:solidFill>
                      </a:endParaRPr>
                    </a:p>
                  </a:txBody>
                  <a:tcPr/>
                </a:tc>
              </a:tr>
            </a:tbl>
          </a:graphicData>
        </a:graphic>
      </p:graphicFrame>
      <p:sp>
        <p:nvSpPr>
          <p:cNvPr id="8" name="文字方塊 7"/>
          <p:cNvSpPr txBox="1"/>
          <p:nvPr/>
        </p:nvSpPr>
        <p:spPr>
          <a:xfrm>
            <a:off x="785786" y="1285860"/>
            <a:ext cx="821059" cy="461665"/>
          </a:xfrm>
          <a:prstGeom prst="rect">
            <a:avLst/>
          </a:prstGeom>
          <a:noFill/>
        </p:spPr>
        <p:txBody>
          <a:bodyPr wrap="none" rtlCol="0">
            <a:spAutoFit/>
          </a:bodyPr>
          <a:lstStyle/>
          <a:p>
            <a:r>
              <a:rPr lang="en-US" altLang="zh-TW" sz="2400" dirty="0" smtClean="0">
                <a:solidFill>
                  <a:srgbClr val="FF0000"/>
                </a:solidFill>
              </a:rPr>
              <a:t>D = 2</a:t>
            </a:r>
            <a:endParaRPr lang="zh-TW" altLang="en-US" sz="2400" dirty="0">
              <a:solidFill>
                <a:srgbClr val="FF0000"/>
              </a:solidFill>
            </a:endParaRPr>
          </a:p>
        </p:txBody>
      </p:sp>
      <p:sp>
        <p:nvSpPr>
          <p:cNvPr id="9" name="文字方塊 8"/>
          <p:cNvSpPr txBox="1"/>
          <p:nvPr/>
        </p:nvSpPr>
        <p:spPr>
          <a:xfrm>
            <a:off x="6643702" y="6143644"/>
            <a:ext cx="2109745" cy="646331"/>
          </a:xfrm>
          <a:prstGeom prst="rect">
            <a:avLst/>
          </a:prstGeom>
          <a:noFill/>
        </p:spPr>
        <p:txBody>
          <a:bodyPr wrap="none" rtlCol="0">
            <a:spAutoFit/>
          </a:bodyPr>
          <a:lstStyle/>
          <a:p>
            <a:r>
              <a:rPr lang="en-US" altLang="zh-TW" dirty="0" smtClean="0"/>
              <a:t>Since final score  = D</a:t>
            </a:r>
          </a:p>
          <a:p>
            <a:r>
              <a:rPr lang="en-US" altLang="zh-TW" dirty="0" smtClean="0"/>
              <a:t>So , stop.</a:t>
            </a:r>
            <a:endParaRPr lang="zh-TW" altLang="en-US" dirty="0"/>
          </a:p>
        </p:txBody>
      </p:sp>
      <p:sp>
        <p:nvSpPr>
          <p:cNvPr id="10" name="向下箭號 9"/>
          <p:cNvSpPr/>
          <p:nvPr/>
        </p:nvSpPr>
        <p:spPr>
          <a:xfrm>
            <a:off x="8001024" y="5786454"/>
            <a:ext cx="142876" cy="35719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altLang="zh-TW" dirty="0" smtClean="0">
                <a:latin typeface="Times New Roman" pitchFamily="18" charset="0"/>
                <a:cs typeface="Times New Roman" pitchFamily="18" charset="0"/>
              </a:rPr>
              <a:t>Conclusion</a:t>
            </a:r>
            <a:endParaRPr lang="zh-TW" altLang="en-US" dirty="0">
              <a:latin typeface="Times New Roman" pitchFamily="18" charset="0"/>
              <a:cs typeface="Times New Roman" pitchFamily="18" charset="0"/>
            </a:endParaRPr>
          </a:p>
        </p:txBody>
      </p:sp>
      <p:sp>
        <p:nvSpPr>
          <p:cNvPr id="3" name="內容版面配置區 2"/>
          <p:cNvSpPr>
            <a:spLocks noGrp="1"/>
          </p:cNvSpPr>
          <p:nvPr>
            <p:ph idx="1"/>
          </p:nvPr>
        </p:nvSpPr>
        <p:spPr/>
        <p:txBody>
          <a:bodyPr/>
          <a:lstStyle/>
          <a:p>
            <a:r>
              <a:rPr lang="en-US" altLang="zh-TW" dirty="0" smtClean="0">
                <a:latin typeface="Times New Roman" pitchFamily="18" charset="0"/>
                <a:cs typeface="Times New Roman" pitchFamily="18" charset="0"/>
              </a:rPr>
              <a:t>If the similarity is more than 95%, the space used is less than 1/10.</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 xmlns:a16="http://schemas.microsoft.com/office/drawing/2014/main" id="{40B6A882-00D3-47EF-9E00-5F5448FB3E79}"/>
              </a:ext>
            </a:extLst>
          </p:cNvPr>
          <p:cNvSpPr>
            <a:spLocks noGrp="1"/>
          </p:cNvSpPr>
          <p:nvPr>
            <p:ph type="ctrTitle"/>
          </p:nvPr>
        </p:nvSpPr>
        <p:spPr>
          <a:xfrm>
            <a:off x="654342" y="1715999"/>
            <a:ext cx="7890145" cy="649317"/>
          </a:xfrm>
        </p:spPr>
        <p:txBody>
          <a:bodyPr>
            <a:noAutofit/>
          </a:bodyPr>
          <a:lstStyle/>
          <a:p>
            <a:r>
              <a:rPr lang="en-US" altLang="zh-TW" sz="3200" dirty="0" smtClean="0">
                <a:latin typeface="Times New Roman" pitchFamily="18" charset="0"/>
                <a:cs typeface="Times New Roman" pitchFamily="18" charset="0"/>
              </a:rPr>
              <a:t>A Fast Pruning Algorithm for Optimal Sequence Alignment</a:t>
            </a:r>
          </a:p>
        </p:txBody>
      </p:sp>
      <p:sp>
        <p:nvSpPr>
          <p:cNvPr id="3" name="副標題 2">
            <a:extLst>
              <a:ext uri="{FF2B5EF4-FFF2-40B4-BE49-F238E27FC236}">
                <a16:creationId xmlns="" xmlns:a16="http://schemas.microsoft.com/office/drawing/2014/main" id="{7DA53B5D-3737-4D8B-A009-A9D02CAEE169}"/>
              </a:ext>
            </a:extLst>
          </p:cNvPr>
          <p:cNvSpPr>
            <a:spLocks noGrp="1"/>
          </p:cNvSpPr>
          <p:nvPr>
            <p:ph type="subTitle" idx="1"/>
          </p:nvPr>
        </p:nvSpPr>
        <p:spPr>
          <a:xfrm>
            <a:off x="323528" y="3003984"/>
            <a:ext cx="8640959" cy="425017"/>
          </a:xfrm>
        </p:spPr>
        <p:txBody>
          <a:bodyPr>
            <a:noAutofit/>
          </a:bodyPr>
          <a:lstStyle/>
          <a:p>
            <a:pPr fontAlgn="ctr"/>
            <a:r>
              <a:rPr lang="en-US" altLang="zh-TW" sz="2000" dirty="0" smtClean="0">
                <a:solidFill>
                  <a:schemeClr val="tx1"/>
                </a:solidFill>
                <a:latin typeface="Times New Roman" pitchFamily="18" charset="0"/>
                <a:cs typeface="Times New Roman" pitchFamily="18" charset="0"/>
              </a:rPr>
              <a:t>Aaron Davidson</a:t>
            </a:r>
          </a:p>
        </p:txBody>
      </p:sp>
      <p:sp>
        <p:nvSpPr>
          <p:cNvPr id="8" name="文字方塊 7">
            <a:extLst>
              <a:ext uri="{FF2B5EF4-FFF2-40B4-BE49-F238E27FC236}">
                <a16:creationId xmlns="" xmlns:a16="http://schemas.microsoft.com/office/drawing/2014/main" id="{8F2527E8-BB8F-41FB-8AF1-03DCC96BC069}"/>
              </a:ext>
            </a:extLst>
          </p:cNvPr>
          <p:cNvSpPr txBox="1"/>
          <p:nvPr/>
        </p:nvSpPr>
        <p:spPr>
          <a:xfrm>
            <a:off x="1142976" y="3929066"/>
            <a:ext cx="7204856" cy="1200329"/>
          </a:xfrm>
          <a:prstGeom prst="rect">
            <a:avLst/>
          </a:prstGeom>
          <a:noFill/>
        </p:spPr>
        <p:txBody>
          <a:bodyPr wrap="none" rtlCol="0">
            <a:spAutoFit/>
          </a:bodyPr>
          <a:lstStyle/>
          <a:p>
            <a:pPr algn="ctr"/>
            <a:r>
              <a:rPr lang="en-US" altLang="zh-TW" sz="2400" dirty="0" smtClean="0">
                <a:latin typeface="Times New Roman" pitchFamily="18" charset="0"/>
                <a:cs typeface="Times New Roman" pitchFamily="18" charset="0"/>
              </a:rPr>
              <a:t>Proceedings 2nd Annual IEEE International Symposium </a:t>
            </a:r>
          </a:p>
          <a:p>
            <a:pPr algn="ctr"/>
            <a:r>
              <a:rPr lang="en-US" altLang="zh-TW" sz="2400" dirty="0" smtClean="0">
                <a:latin typeface="Times New Roman" pitchFamily="18" charset="0"/>
                <a:cs typeface="Times New Roman" pitchFamily="18" charset="0"/>
              </a:rPr>
              <a:t>on Bioinformatics and Bioengineering</a:t>
            </a:r>
          </a:p>
          <a:p>
            <a:pPr algn="ctr"/>
            <a:r>
              <a:rPr lang="en-US" altLang="zh-TW" sz="2200" dirty="0" smtClean="0">
                <a:latin typeface="Times New Roman" pitchFamily="18" charset="0"/>
                <a:cs typeface="Times New Roman" pitchFamily="18" charset="0"/>
              </a:rPr>
              <a:t>4-6 Nov. 2001, Bethesda, MD, USA, USA</a:t>
            </a:r>
            <a:endParaRPr lang="en-US" altLang="zh-TW" sz="2200" dirty="0">
              <a:latin typeface="Times New Roman" pitchFamily="18" charset="0"/>
              <a:cs typeface="Times New Roman" pitchFamily="18" charset="0"/>
            </a:endParaRPr>
          </a:p>
        </p:txBody>
      </p:sp>
      <p:sp>
        <p:nvSpPr>
          <p:cNvPr id="9" name="文字方塊 8">
            <a:extLst>
              <a:ext uri="{FF2B5EF4-FFF2-40B4-BE49-F238E27FC236}">
                <a16:creationId xmlns="" xmlns:a16="http://schemas.microsoft.com/office/drawing/2014/main" id="{6BC92671-3184-4146-A361-F82079153C2E}"/>
              </a:ext>
            </a:extLst>
          </p:cNvPr>
          <p:cNvSpPr txBox="1"/>
          <p:nvPr/>
        </p:nvSpPr>
        <p:spPr>
          <a:xfrm>
            <a:off x="5580112" y="5357171"/>
            <a:ext cx="3375796"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Presenter: Yuan-Hsiu Tsai</a:t>
            </a:r>
            <a:endParaRPr lang="zh-TW" altLang="en-US" sz="2400" dirty="0">
              <a:latin typeface="Times New Roman" panose="02020603050405020304" pitchFamily="18" charset="0"/>
              <a:cs typeface="Times New Roman" panose="02020603050405020304" pitchFamily="18" charset="0"/>
            </a:endParaRPr>
          </a:p>
        </p:txBody>
      </p:sp>
      <p:sp>
        <p:nvSpPr>
          <p:cNvPr id="10" name="文字方塊 9">
            <a:extLst>
              <a:ext uri="{FF2B5EF4-FFF2-40B4-BE49-F238E27FC236}">
                <a16:creationId xmlns="" xmlns:a16="http://schemas.microsoft.com/office/drawing/2014/main" id="{52A0654C-2F84-4026-9FCF-04C8DF590D5F}"/>
              </a:ext>
            </a:extLst>
          </p:cNvPr>
          <p:cNvSpPr txBox="1"/>
          <p:nvPr/>
        </p:nvSpPr>
        <p:spPr>
          <a:xfrm>
            <a:off x="5652120" y="5824855"/>
            <a:ext cx="2668551" cy="461665"/>
          </a:xfrm>
          <a:prstGeom prst="rect">
            <a:avLst/>
          </a:prstGeom>
          <a:noFill/>
        </p:spPr>
        <p:txBody>
          <a:bodyPr wrap="none" rtlCol="0">
            <a:spAutoFit/>
          </a:bodyPr>
          <a:lstStyle>
            <a:defPPr>
              <a:defRPr lang="zh-TW"/>
            </a:defPPr>
            <a:lvl1pPr>
              <a:defRPr sz="2400">
                <a:latin typeface="Times New Roman" panose="02020603050405020304" pitchFamily="18" charset="0"/>
                <a:cs typeface="Times New Roman" panose="02020603050405020304" pitchFamily="18" charset="0"/>
              </a:defRPr>
            </a:lvl1pPr>
          </a:lstStyle>
          <a:p>
            <a:r>
              <a:rPr lang="en-US" altLang="zh-TW" dirty="0"/>
              <a:t>Date: </a:t>
            </a:r>
            <a:r>
              <a:rPr lang="en-US" altLang="zh-TW" dirty="0" smtClean="0"/>
              <a:t>Nov. 24, 2020</a:t>
            </a:r>
            <a:endParaRPr lang="zh-TW" altLang="en-US" dirty="0"/>
          </a:p>
        </p:txBody>
      </p:sp>
    </p:spTree>
    <p:extLst>
      <p:ext uri="{BB962C8B-B14F-4D97-AF65-F5344CB8AC3E}">
        <p14:creationId xmlns="" xmlns:p14="http://schemas.microsoft.com/office/powerpoint/2010/main" val="355704993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 xmlns:a16="http://schemas.microsoft.com/office/drawing/2014/main" id="{94B01AB9-0651-4F6D-A93A-D571F0BAE9A7}"/>
              </a:ext>
            </a:extLst>
          </p:cNvPr>
          <p:cNvSpPr>
            <a:spLocks noGrp="1"/>
          </p:cNvSpPr>
          <p:nvPr>
            <p:ph type="title"/>
          </p:nvPr>
        </p:nvSpPr>
        <p:spPr>
          <a:xfrm>
            <a:off x="139007" y="116632"/>
            <a:ext cx="7886700" cy="583367"/>
          </a:xfrm>
        </p:spPr>
        <p:txBody>
          <a:bodyPr>
            <a:normAutofit/>
          </a:bodyPr>
          <a:lstStyle/>
          <a:p>
            <a:r>
              <a:rPr lang="en-US" altLang="zh-TW" sz="3200" b="1" dirty="0">
                <a:latin typeface="Times New Roman" panose="02020603050405020304" pitchFamily="18" charset="0"/>
                <a:cs typeface="Times New Roman" panose="02020603050405020304" pitchFamily="18" charset="0"/>
              </a:rPr>
              <a:t>Abstract(1/2)</a:t>
            </a:r>
            <a:endParaRPr lang="zh-TW" altLang="en-US" sz="3200"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 xmlns:a16="http://schemas.microsoft.com/office/drawing/2014/main" id="{5E26DCC3-1991-4383-BF81-99FF895536EE}"/>
              </a:ext>
            </a:extLst>
          </p:cNvPr>
          <p:cNvSpPr>
            <a:spLocks noGrp="1"/>
          </p:cNvSpPr>
          <p:nvPr>
            <p:ph idx="1"/>
          </p:nvPr>
        </p:nvSpPr>
        <p:spPr>
          <a:xfrm>
            <a:off x="139007" y="1000108"/>
            <a:ext cx="9004993" cy="3879312"/>
          </a:xfrm>
        </p:spPr>
        <p:txBody>
          <a:bodyPr>
            <a:noAutofit/>
          </a:bodyPr>
          <a:lstStyle/>
          <a:p>
            <a:pPr marL="0" indent="0">
              <a:buNone/>
            </a:pPr>
            <a:r>
              <a:rPr lang="en-US" sz="2800" dirty="0" smtClean="0">
                <a:latin typeface="Times New Roman" pitchFamily="18" charset="0"/>
                <a:cs typeface="Times New Roman" pitchFamily="18" charset="0"/>
              </a:rPr>
              <a:t>Sequence alignment is an important operation in computational biology. Both dynamic programming and A* heuristic search algorithms for optimal sequence alignment are discussed and evaluated Presented here are two new algorithms for optimal </a:t>
            </a:r>
            <a:r>
              <a:rPr lang="en-US" sz="2800" dirty="0" err="1" smtClean="0">
                <a:latin typeface="Times New Roman" pitchFamily="18" charset="0"/>
                <a:cs typeface="Times New Roman" pitchFamily="18" charset="0"/>
              </a:rPr>
              <a:t>pairwise</a:t>
            </a:r>
            <a:r>
              <a:rPr lang="en-US" sz="2800" dirty="0" smtClean="0">
                <a:latin typeface="Times New Roman" pitchFamily="18" charset="0"/>
                <a:cs typeface="Times New Roman" pitchFamily="18" charset="0"/>
              </a:rPr>
              <a:t> sequence alignment which outperform traditional methods on very large problem instances (hundreds of thousands of characters, for example). The technique combines the benefits of dynamic programming and A* heuristic search, with a minimal amount of additional overhead. </a:t>
            </a:r>
            <a:endParaRPr lang="fr-FR" altLang="zh-TW" sz="2800" dirty="0">
              <a:latin typeface="Times New Roman" pitchFamily="18" charset="0"/>
              <a:cs typeface="Times New Roman" pitchFamily="18" charset="0"/>
            </a:endParaRPr>
          </a:p>
        </p:txBody>
      </p:sp>
    </p:spTree>
    <p:extLst>
      <p:ext uri="{BB962C8B-B14F-4D97-AF65-F5344CB8AC3E}">
        <p14:creationId xmlns="" xmlns:p14="http://schemas.microsoft.com/office/powerpoint/2010/main" val="399448398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 xmlns:a16="http://schemas.microsoft.com/office/drawing/2014/main" id="{94B01AB9-0651-4F6D-A93A-D571F0BAE9A7}"/>
              </a:ext>
            </a:extLst>
          </p:cNvPr>
          <p:cNvSpPr>
            <a:spLocks noGrp="1"/>
          </p:cNvSpPr>
          <p:nvPr>
            <p:ph type="title"/>
          </p:nvPr>
        </p:nvSpPr>
        <p:spPr>
          <a:xfrm>
            <a:off x="139007" y="116632"/>
            <a:ext cx="7886700" cy="583367"/>
          </a:xfrm>
        </p:spPr>
        <p:txBody>
          <a:bodyPr>
            <a:normAutofit/>
          </a:bodyPr>
          <a:lstStyle/>
          <a:p>
            <a:r>
              <a:rPr lang="en-US" altLang="zh-TW" sz="3200" b="1" dirty="0">
                <a:latin typeface="Times New Roman" panose="02020603050405020304" pitchFamily="18" charset="0"/>
                <a:cs typeface="Times New Roman" panose="02020603050405020304" pitchFamily="18" charset="0"/>
              </a:rPr>
              <a:t>Abstract(2/2)</a:t>
            </a:r>
            <a:endParaRPr lang="zh-TW" altLang="en-US" sz="3200"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 xmlns:a16="http://schemas.microsoft.com/office/drawing/2014/main" id="{5E26DCC3-1991-4383-BF81-99FF895536EE}"/>
              </a:ext>
            </a:extLst>
          </p:cNvPr>
          <p:cNvSpPr>
            <a:spLocks noGrp="1"/>
          </p:cNvSpPr>
          <p:nvPr>
            <p:ph idx="1"/>
          </p:nvPr>
        </p:nvSpPr>
        <p:spPr>
          <a:xfrm>
            <a:off x="139007" y="968287"/>
            <a:ext cx="9004993" cy="5246795"/>
          </a:xfrm>
        </p:spPr>
        <p:txBody>
          <a:bodyPr>
            <a:noAutofit/>
          </a:bodyPr>
          <a:lstStyle/>
          <a:p>
            <a:pPr marL="0" indent="0">
              <a:buNone/>
            </a:pPr>
            <a:r>
              <a:rPr lang="en-US" altLang="zh-TW" sz="2800" dirty="0" smtClean="0">
                <a:latin typeface="Times New Roman" pitchFamily="18" charset="0"/>
                <a:cs typeface="Times New Roman" pitchFamily="18" charset="0"/>
              </a:rPr>
              <a:t>The dynamic programming matrix is traversed along </a:t>
            </a:r>
            <a:r>
              <a:rPr lang="en-US" altLang="zh-TW" sz="2800" dirty="0" err="1" smtClean="0">
                <a:latin typeface="Times New Roman" pitchFamily="18" charset="0"/>
                <a:cs typeface="Times New Roman" pitchFamily="18" charset="0"/>
              </a:rPr>
              <a:t>antidiagonals</a:t>
            </a:r>
            <a:r>
              <a:rPr lang="en-US" altLang="zh-TW" sz="2800" dirty="0" smtClean="0">
                <a:latin typeface="Times New Roman" pitchFamily="18" charset="0"/>
                <a:cs typeface="Times New Roman" pitchFamily="18" charset="0"/>
              </a:rPr>
              <a:t>, bounding the computation to exclude portions of the matrix that cannot contain optimal paths. An admissible heuristic assists in pruning away unnecessary areas of the matrix, while preserving optimal solutions for any given scoring function. Since memory requirements are a major concern for large sequence alignment problems, it is shown how the standard algorithm (requiring quadratic space) can be reformulated as a divide and conquer algorithm (requiring only linear space, at the cost of some  </a:t>
            </a:r>
            <a:r>
              <a:rPr lang="en-US" altLang="zh-TW" sz="2800" dirty="0" err="1" smtClean="0">
                <a:latin typeface="Times New Roman" pitchFamily="18" charset="0"/>
                <a:cs typeface="Times New Roman" pitchFamily="18" charset="0"/>
              </a:rPr>
              <a:t>recomputation</a:t>
            </a:r>
            <a:r>
              <a:rPr lang="en-US" altLang="zh-TW" sz="2800" dirty="0" smtClean="0">
                <a:latin typeface="Times New Roman" pitchFamily="18" charset="0"/>
                <a:cs typeface="Times New Roman" pitchFamily="18" charset="0"/>
              </a:rPr>
              <a:t>).</a:t>
            </a:r>
            <a:endParaRPr lang="fr-FR" altLang="zh-TW" sz="2800" dirty="0">
              <a:latin typeface="Times New Roman" pitchFamily="18" charset="0"/>
              <a:cs typeface="Times New Roman" pitchFamily="18" charset="0"/>
            </a:endParaRPr>
          </a:p>
        </p:txBody>
      </p:sp>
    </p:spTree>
    <p:extLst>
      <p:ext uri="{BB962C8B-B14F-4D97-AF65-F5344CB8AC3E}">
        <p14:creationId xmlns="" xmlns:p14="http://schemas.microsoft.com/office/powerpoint/2010/main" val="399448398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altLang="zh-TW" dirty="0" smtClean="0">
                <a:latin typeface="Times New Roman" pitchFamily="18" charset="0"/>
                <a:cs typeface="Times New Roman" pitchFamily="18" charset="0"/>
              </a:rPr>
              <a:t>Introduction</a:t>
            </a:r>
            <a:endParaRPr lang="zh-TW" altLang="en-US" dirty="0">
              <a:latin typeface="Times New Roman" pitchFamily="18" charset="0"/>
              <a:cs typeface="Times New Roman" pitchFamily="18" charset="0"/>
            </a:endParaRPr>
          </a:p>
        </p:txBody>
      </p:sp>
      <p:sp>
        <p:nvSpPr>
          <p:cNvPr id="3" name="內容版面配置區 2"/>
          <p:cNvSpPr>
            <a:spLocks noGrp="1"/>
          </p:cNvSpPr>
          <p:nvPr>
            <p:ph idx="1"/>
          </p:nvPr>
        </p:nvSpPr>
        <p:spPr>
          <a:xfrm>
            <a:off x="457200" y="1600200"/>
            <a:ext cx="8229600" cy="5114948"/>
          </a:xfrm>
        </p:spPr>
        <p:txBody>
          <a:bodyPr/>
          <a:lstStyle/>
          <a:p>
            <a:r>
              <a:rPr lang="en-US" altLang="zh-TW" dirty="0" smtClean="0">
                <a:latin typeface="Times New Roman" pitchFamily="18" charset="0"/>
                <a:cs typeface="Times New Roman" pitchFamily="18" charset="0"/>
              </a:rPr>
              <a:t>Optimal alignment algorithm</a:t>
            </a:r>
          </a:p>
          <a:p>
            <a:pPr lvl="1"/>
            <a:r>
              <a:rPr lang="en-US" altLang="zh-TW" dirty="0" smtClean="0">
                <a:latin typeface="Times New Roman" pitchFamily="18" charset="0"/>
                <a:cs typeface="Times New Roman" pitchFamily="18" charset="0"/>
              </a:rPr>
              <a:t>Dynamic programming</a:t>
            </a:r>
          </a:p>
          <a:p>
            <a:pPr lvl="1"/>
            <a:r>
              <a:rPr lang="en-US" altLang="zh-TW" dirty="0" smtClean="0">
                <a:latin typeface="Times New Roman" pitchFamily="18" charset="0"/>
                <a:cs typeface="Times New Roman" pitchFamily="18" charset="0"/>
              </a:rPr>
              <a:t>Hirschberg`s algorithm</a:t>
            </a:r>
            <a:endParaRPr lang="en-US" altLang="zh-TW" dirty="0">
              <a:latin typeface="Times New Roman" pitchFamily="18" charset="0"/>
              <a:cs typeface="Times New Roman" pitchFamily="18" charset="0"/>
            </a:endParaRPr>
          </a:p>
          <a:p>
            <a:endParaRPr lang="en-US" altLang="zh-TW" dirty="0" smtClean="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altLang="zh-TW" dirty="0" smtClean="0">
                <a:latin typeface="Times New Roman" pitchFamily="18" charset="0"/>
                <a:cs typeface="Times New Roman" pitchFamily="18" charset="0"/>
              </a:rPr>
              <a:t>Introduction – Hirschberg </a:t>
            </a:r>
            <a:endParaRPr lang="zh-TW" altLang="en-US" dirty="0">
              <a:latin typeface="Times New Roman" pitchFamily="18" charset="0"/>
              <a:cs typeface="Times New Roman" pitchFamily="18" charset="0"/>
            </a:endParaRPr>
          </a:p>
        </p:txBody>
      </p:sp>
      <p:pic>
        <p:nvPicPr>
          <p:cNvPr id="5" name="內容版面配置區 4" descr="3.PNG"/>
          <p:cNvPicPr>
            <a:picLocks noGrp="1" noChangeAspect="1"/>
          </p:cNvPicPr>
          <p:nvPr>
            <p:ph idx="1"/>
          </p:nvPr>
        </p:nvPicPr>
        <p:blipFill>
          <a:blip r:embed="rId2"/>
          <a:stretch>
            <a:fillRect/>
          </a:stretch>
        </p:blipFill>
        <p:spPr>
          <a:xfrm>
            <a:off x="1571604" y="1340170"/>
            <a:ext cx="5429288" cy="5446416"/>
          </a:xfrm>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dirty="0" smtClean="0">
                <a:latin typeface="Times New Roman" pitchFamily="18" charset="0"/>
                <a:cs typeface="Times New Roman" pitchFamily="18" charset="0"/>
              </a:rPr>
              <a:t>Hirschberg algorithm</a:t>
            </a:r>
            <a:endParaRPr lang="zh-TW" altLang="en-US" dirty="0">
              <a:latin typeface="Times New Roman" pitchFamily="18" charset="0"/>
              <a:cs typeface="Times New Roman" pitchFamily="18" charset="0"/>
            </a:endParaRPr>
          </a:p>
        </p:txBody>
      </p:sp>
      <p:pic>
        <p:nvPicPr>
          <p:cNvPr id="8" name="內容版面配置區 7" descr="9.PNG"/>
          <p:cNvPicPr>
            <a:picLocks noGrp="1" noChangeAspect="1"/>
          </p:cNvPicPr>
          <p:nvPr>
            <p:ph idx="1"/>
          </p:nvPr>
        </p:nvPicPr>
        <p:blipFill>
          <a:blip r:embed="rId2"/>
          <a:stretch>
            <a:fillRect/>
          </a:stretch>
        </p:blipFill>
        <p:spPr>
          <a:xfrm>
            <a:off x="214282" y="2214554"/>
            <a:ext cx="4639323" cy="3410426"/>
          </a:xfrm>
        </p:spPr>
      </p:pic>
      <p:pic>
        <p:nvPicPr>
          <p:cNvPr id="9" name="圖片 8" descr="10.PNG"/>
          <p:cNvPicPr>
            <a:picLocks noChangeAspect="1"/>
          </p:cNvPicPr>
          <p:nvPr/>
        </p:nvPicPr>
        <p:blipFill>
          <a:blip r:embed="rId3"/>
          <a:stretch>
            <a:fillRect/>
          </a:stretch>
        </p:blipFill>
        <p:spPr>
          <a:xfrm>
            <a:off x="4929190" y="1643050"/>
            <a:ext cx="4134427" cy="2152951"/>
          </a:xfrm>
          <a:prstGeom prst="rect">
            <a:avLst/>
          </a:prstGeom>
        </p:spPr>
      </p:pic>
      <p:pic>
        <p:nvPicPr>
          <p:cNvPr id="10" name="圖片 9" descr="11.PNG"/>
          <p:cNvPicPr>
            <a:picLocks noChangeAspect="1"/>
          </p:cNvPicPr>
          <p:nvPr/>
        </p:nvPicPr>
        <p:blipFill>
          <a:blip r:embed="rId4"/>
          <a:stretch>
            <a:fillRect/>
          </a:stretch>
        </p:blipFill>
        <p:spPr>
          <a:xfrm>
            <a:off x="5004870" y="4476479"/>
            <a:ext cx="3924848" cy="2095793"/>
          </a:xfrm>
          <a:prstGeom prst="rect">
            <a:avLst/>
          </a:prstGeom>
        </p:spPr>
      </p:pic>
      <p:sp>
        <p:nvSpPr>
          <p:cNvPr id="11" name="向右箭號 10"/>
          <p:cNvSpPr/>
          <p:nvPr/>
        </p:nvSpPr>
        <p:spPr>
          <a:xfrm>
            <a:off x="4429124" y="3714752"/>
            <a:ext cx="500066" cy="57150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文字方塊 11"/>
          <p:cNvSpPr txBox="1"/>
          <p:nvPr/>
        </p:nvSpPr>
        <p:spPr>
          <a:xfrm>
            <a:off x="6572264" y="4286256"/>
            <a:ext cx="1800493" cy="276999"/>
          </a:xfrm>
          <a:prstGeom prst="rect">
            <a:avLst/>
          </a:prstGeom>
          <a:noFill/>
        </p:spPr>
        <p:txBody>
          <a:bodyPr wrap="none" rtlCol="0">
            <a:spAutoFit/>
          </a:bodyPr>
          <a:lstStyle/>
          <a:p>
            <a:r>
              <a:rPr lang="zh-TW" altLang="en-US" sz="1200" dirty="0" smtClean="0">
                <a:latin typeface="標楷體" pitchFamily="65" charset="-120"/>
                <a:ea typeface="標楷體" pitchFamily="65" charset="-120"/>
              </a:rPr>
              <a:t>這個序列是</a:t>
            </a:r>
            <a:r>
              <a:rPr lang="en-US" altLang="zh-TW" sz="1200" dirty="0" smtClean="0">
                <a:latin typeface="標楷體" pitchFamily="65" charset="-120"/>
                <a:ea typeface="標楷體" pitchFamily="65" charset="-120"/>
              </a:rPr>
              <a:t>inversion</a:t>
            </a:r>
            <a:r>
              <a:rPr lang="zh-TW" altLang="en-US" sz="1200" dirty="0" smtClean="0">
                <a:latin typeface="標楷體" pitchFamily="65" charset="-120"/>
                <a:ea typeface="標楷體" pitchFamily="65" charset="-120"/>
              </a:rPr>
              <a:t>的</a:t>
            </a:r>
            <a:endParaRPr lang="zh-TW" altLang="en-US" sz="1200" dirty="0">
              <a:latin typeface="標楷體" pitchFamily="65" charset="-120"/>
              <a:ea typeface="標楷體" pitchFamily="65" charset="-120"/>
            </a:endParaRPr>
          </a:p>
        </p:txBody>
      </p:sp>
      <p:cxnSp>
        <p:nvCxnSpPr>
          <p:cNvPr id="14" name="直線接點 13"/>
          <p:cNvCxnSpPr/>
          <p:nvPr/>
        </p:nvCxnSpPr>
        <p:spPr>
          <a:xfrm>
            <a:off x="8429652" y="4429132"/>
            <a:ext cx="414085"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直線接點 15"/>
          <p:cNvCxnSpPr/>
          <p:nvPr/>
        </p:nvCxnSpPr>
        <p:spPr>
          <a:xfrm rot="5400000">
            <a:off x="8700861" y="4572008"/>
            <a:ext cx="285752"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直線單箭頭接點 17"/>
          <p:cNvCxnSpPr/>
          <p:nvPr/>
        </p:nvCxnSpPr>
        <p:spPr>
          <a:xfrm rot="10800000">
            <a:off x="8629423" y="4714884"/>
            <a:ext cx="214314"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dirty="0" smtClean="0">
                <a:latin typeface="Times New Roman" pitchFamily="18" charset="0"/>
                <a:cs typeface="Times New Roman" pitchFamily="18" charset="0"/>
              </a:rPr>
              <a:t>Hirschberg algorithm</a:t>
            </a:r>
            <a:endParaRPr lang="zh-TW" altLang="en-US" dirty="0">
              <a:latin typeface="Times New Roman" pitchFamily="18" charset="0"/>
              <a:cs typeface="Times New Roman" pitchFamily="18" charset="0"/>
            </a:endParaRPr>
          </a:p>
        </p:txBody>
      </p:sp>
      <p:pic>
        <p:nvPicPr>
          <p:cNvPr id="13" name="圖片 12" descr="11.PNG"/>
          <p:cNvPicPr>
            <a:picLocks noChangeAspect="1"/>
          </p:cNvPicPr>
          <p:nvPr/>
        </p:nvPicPr>
        <p:blipFill>
          <a:blip r:embed="rId2"/>
          <a:stretch>
            <a:fillRect/>
          </a:stretch>
        </p:blipFill>
        <p:spPr>
          <a:xfrm>
            <a:off x="0" y="1714488"/>
            <a:ext cx="3924848" cy="2095793"/>
          </a:xfrm>
          <a:prstGeom prst="rect">
            <a:avLst/>
          </a:prstGeom>
        </p:spPr>
      </p:pic>
      <p:pic>
        <p:nvPicPr>
          <p:cNvPr id="14" name="圖片 13" descr="12.PNG"/>
          <p:cNvPicPr>
            <a:picLocks noChangeAspect="1"/>
          </p:cNvPicPr>
          <p:nvPr/>
        </p:nvPicPr>
        <p:blipFill>
          <a:blip r:embed="rId3"/>
          <a:stretch>
            <a:fillRect/>
          </a:stretch>
        </p:blipFill>
        <p:spPr>
          <a:xfrm>
            <a:off x="3728304" y="2285992"/>
            <a:ext cx="5487166" cy="1124107"/>
          </a:xfrm>
          <a:prstGeom prst="rect">
            <a:avLst/>
          </a:prstGeom>
        </p:spPr>
      </p:pic>
      <p:pic>
        <p:nvPicPr>
          <p:cNvPr id="15" name="圖片 14" descr="13.PNG"/>
          <p:cNvPicPr>
            <a:picLocks noChangeAspect="1"/>
          </p:cNvPicPr>
          <p:nvPr/>
        </p:nvPicPr>
        <p:blipFill>
          <a:blip r:embed="rId4"/>
          <a:stretch>
            <a:fillRect/>
          </a:stretch>
        </p:blipFill>
        <p:spPr>
          <a:xfrm>
            <a:off x="2713727" y="4438312"/>
            <a:ext cx="6430273" cy="2419688"/>
          </a:xfrm>
          <a:prstGeom prst="rect">
            <a:avLst/>
          </a:prstGeom>
        </p:spPr>
      </p:pic>
      <p:sp>
        <p:nvSpPr>
          <p:cNvPr id="16" name="向下箭號 15"/>
          <p:cNvSpPr/>
          <p:nvPr/>
        </p:nvSpPr>
        <p:spPr>
          <a:xfrm>
            <a:off x="5429256" y="3571876"/>
            <a:ext cx="571504" cy="71438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7" name="文字方塊 16"/>
          <p:cNvSpPr txBox="1"/>
          <p:nvPr/>
        </p:nvSpPr>
        <p:spPr>
          <a:xfrm>
            <a:off x="6072198" y="3571876"/>
            <a:ext cx="2000264" cy="646331"/>
          </a:xfrm>
          <a:prstGeom prst="rect">
            <a:avLst/>
          </a:prstGeom>
          <a:noFill/>
        </p:spPr>
        <p:txBody>
          <a:bodyPr wrap="square" rtlCol="0">
            <a:spAutoFit/>
          </a:bodyPr>
          <a:lstStyle/>
          <a:p>
            <a:r>
              <a:rPr lang="zh-TW" altLang="en-US" dirty="0" smtClean="0">
                <a:latin typeface="標楷體" pitchFamily="65" charset="-120"/>
                <a:ea typeface="標楷體" pitchFamily="65" charset="-120"/>
              </a:rPr>
              <a:t>得出切點在第</a:t>
            </a:r>
            <a:r>
              <a:rPr lang="en-US" altLang="zh-TW" dirty="0" smtClean="0">
                <a:latin typeface="標楷體" pitchFamily="65" charset="-120"/>
                <a:ea typeface="標楷體" pitchFamily="65" charset="-120"/>
              </a:rPr>
              <a:t>2</a:t>
            </a:r>
            <a:r>
              <a:rPr lang="zh-TW" altLang="en-US" dirty="0" smtClean="0">
                <a:latin typeface="標楷體" pitchFamily="65" charset="-120"/>
                <a:ea typeface="標楷體" pitchFamily="65" charset="-120"/>
              </a:rPr>
              <a:t>個字母位置</a:t>
            </a:r>
            <a:endParaRPr lang="zh-TW" altLang="en-US" dirty="0">
              <a:latin typeface="標楷體" pitchFamily="65" charset="-120"/>
              <a:ea typeface="標楷體" pitchFamily="65" charset="-120"/>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altLang="zh-TW" dirty="0" smtClean="0">
                <a:latin typeface="Times New Roman" pitchFamily="18" charset="0"/>
                <a:cs typeface="Times New Roman" pitchFamily="18" charset="0"/>
              </a:rPr>
              <a:t>Introduction</a:t>
            </a:r>
            <a:endParaRPr lang="zh-TW" altLang="en-US" dirty="0">
              <a:latin typeface="Times New Roman" pitchFamily="18" charset="0"/>
              <a:cs typeface="Times New Roman" pitchFamily="18" charset="0"/>
            </a:endParaRPr>
          </a:p>
        </p:txBody>
      </p:sp>
      <p:sp>
        <p:nvSpPr>
          <p:cNvPr id="3" name="內容版面配置區 2"/>
          <p:cNvSpPr>
            <a:spLocks noGrp="1"/>
          </p:cNvSpPr>
          <p:nvPr>
            <p:ph idx="1"/>
          </p:nvPr>
        </p:nvSpPr>
        <p:spPr>
          <a:xfrm>
            <a:off x="457200" y="1600200"/>
            <a:ext cx="8229600" cy="5114948"/>
          </a:xfrm>
        </p:spPr>
        <p:txBody>
          <a:bodyPr/>
          <a:lstStyle/>
          <a:p>
            <a:r>
              <a:rPr lang="en-US" altLang="zh-TW" dirty="0" smtClean="0">
                <a:latin typeface="Times New Roman" pitchFamily="18" charset="0"/>
                <a:cs typeface="Times New Roman" pitchFamily="18" charset="0"/>
              </a:rPr>
              <a:t>Heuristic algorithm</a:t>
            </a:r>
          </a:p>
          <a:p>
            <a:pPr lvl="1"/>
            <a:r>
              <a:rPr lang="en-US" altLang="zh-TW" dirty="0" smtClean="0">
                <a:latin typeface="Times New Roman" pitchFamily="18" charset="0"/>
                <a:cs typeface="Times New Roman" pitchFamily="18" charset="0"/>
              </a:rPr>
              <a:t>A*</a:t>
            </a:r>
          </a:p>
          <a:p>
            <a:pPr lvl="1"/>
            <a:r>
              <a:rPr lang="en-US" altLang="zh-TW" dirty="0" smtClean="0">
                <a:latin typeface="Times New Roman" pitchFamily="18" charset="0"/>
                <a:cs typeface="Times New Roman" pitchFamily="18" charset="0"/>
              </a:rPr>
              <a:t>IDA* (Iterative Deepening A*)</a:t>
            </a:r>
          </a:p>
          <a:p>
            <a:pPr lvl="1"/>
            <a:r>
              <a:rPr lang="en-US" altLang="zh-TW" dirty="0" smtClean="0">
                <a:latin typeface="Times New Roman" pitchFamily="18" charset="0"/>
                <a:cs typeface="Times New Roman" pitchFamily="18" charset="0"/>
              </a:rPr>
              <a:t>DCFA (Divide and Conquer Frontier A*)</a:t>
            </a: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685800" y="381000"/>
            <a:ext cx="7793038" cy="838200"/>
          </a:xfrm>
        </p:spPr>
        <p:txBody>
          <a:bodyPr/>
          <a:lstStyle/>
          <a:p>
            <a:r>
              <a:rPr lang="en-US" altLang="zh-TW"/>
              <a:t>An example for A</a:t>
            </a:r>
            <a:r>
              <a:rPr lang="en-US" altLang="zh-TW" baseline="30000"/>
              <a:t>*</a:t>
            </a:r>
            <a:r>
              <a:rPr lang="en-US" altLang="zh-TW"/>
              <a:t> algorithm</a:t>
            </a:r>
          </a:p>
        </p:txBody>
      </p:sp>
      <p:sp>
        <p:nvSpPr>
          <p:cNvPr id="40963" name="Rectangle 3"/>
          <p:cNvSpPr>
            <a:spLocks noGrp="1" noChangeArrowheads="1"/>
          </p:cNvSpPr>
          <p:nvPr>
            <p:ph type="body" idx="1"/>
          </p:nvPr>
        </p:nvSpPr>
        <p:spPr>
          <a:xfrm>
            <a:off x="762000" y="1524000"/>
            <a:ext cx="7772400" cy="4611688"/>
          </a:xfrm>
        </p:spPr>
        <p:txBody>
          <a:bodyPr>
            <a:normAutofit lnSpcReduction="10000"/>
          </a:bodyPr>
          <a:lstStyle/>
          <a:p>
            <a:pPr algn="just">
              <a:lnSpc>
                <a:spcPct val="90000"/>
              </a:lnSpc>
            </a:pPr>
            <a:r>
              <a:rPr lang="en-US" altLang="zh-TW" sz="2800"/>
              <a:t>Find the </a:t>
            </a:r>
            <a:r>
              <a:rPr lang="en-US" altLang="zh-TW" sz="2800" u="sng">
                <a:solidFill>
                  <a:schemeClr val="hlink"/>
                </a:solidFill>
              </a:rPr>
              <a:t>shortest path</a:t>
            </a:r>
            <a:r>
              <a:rPr lang="en-US" altLang="zh-TW" sz="2800"/>
              <a:t> with A</a:t>
            </a:r>
            <a:r>
              <a:rPr lang="en-US" altLang="zh-TW" sz="2800" baseline="30000"/>
              <a:t>*</a:t>
            </a:r>
            <a:r>
              <a:rPr lang="en-US" altLang="zh-TW" sz="2800"/>
              <a:t> algorithm.</a:t>
            </a:r>
          </a:p>
          <a:p>
            <a:pPr algn="just">
              <a:lnSpc>
                <a:spcPct val="90000"/>
              </a:lnSpc>
            </a:pPr>
            <a:endParaRPr lang="en-US" altLang="zh-TW" sz="2800"/>
          </a:p>
          <a:p>
            <a:pPr algn="just">
              <a:lnSpc>
                <a:spcPct val="90000"/>
              </a:lnSpc>
            </a:pPr>
            <a:endParaRPr lang="en-US" altLang="zh-TW" sz="2800"/>
          </a:p>
          <a:p>
            <a:pPr algn="just">
              <a:lnSpc>
                <a:spcPct val="90000"/>
              </a:lnSpc>
            </a:pPr>
            <a:endParaRPr lang="en-US" altLang="zh-TW" sz="2800"/>
          </a:p>
          <a:p>
            <a:pPr algn="just">
              <a:lnSpc>
                <a:spcPct val="90000"/>
              </a:lnSpc>
            </a:pPr>
            <a:endParaRPr lang="en-US" altLang="zh-TW" sz="2800"/>
          </a:p>
          <a:p>
            <a:pPr algn="just">
              <a:lnSpc>
                <a:spcPct val="90000"/>
              </a:lnSpc>
            </a:pPr>
            <a:endParaRPr lang="en-US" altLang="zh-TW" sz="2800"/>
          </a:p>
          <a:p>
            <a:pPr algn="just">
              <a:lnSpc>
                <a:spcPct val="90000"/>
              </a:lnSpc>
            </a:pPr>
            <a:endParaRPr lang="en-US" altLang="zh-TW" sz="2800">
              <a:solidFill>
                <a:schemeClr val="hlink"/>
              </a:solidFill>
              <a:effectLst>
                <a:outerShdw blurRad="38100" dist="38100" dir="2700000" algn="tl">
                  <a:srgbClr val="C0C0C0"/>
                </a:outerShdw>
              </a:effectLst>
            </a:endParaRPr>
          </a:p>
          <a:p>
            <a:pPr algn="just">
              <a:lnSpc>
                <a:spcPct val="90000"/>
              </a:lnSpc>
            </a:pPr>
            <a:endParaRPr lang="en-US" altLang="zh-TW" sz="2800">
              <a:solidFill>
                <a:schemeClr val="hlink"/>
              </a:solidFill>
              <a:effectLst>
                <a:outerShdw blurRad="38100" dist="38100" dir="2700000" algn="tl">
                  <a:srgbClr val="C0C0C0"/>
                </a:outerShdw>
              </a:effectLst>
            </a:endParaRPr>
          </a:p>
          <a:p>
            <a:pPr algn="just">
              <a:lnSpc>
                <a:spcPct val="90000"/>
              </a:lnSpc>
            </a:pPr>
            <a:endParaRPr lang="en-US" altLang="zh-TW" sz="2800" u="sng">
              <a:solidFill>
                <a:schemeClr val="hlink"/>
              </a:solidFill>
            </a:endParaRPr>
          </a:p>
          <a:p>
            <a:pPr algn="just">
              <a:lnSpc>
                <a:spcPct val="90000"/>
              </a:lnSpc>
            </a:pPr>
            <a:r>
              <a:rPr lang="en-US" altLang="zh-TW" sz="2800" u="sng">
                <a:solidFill>
                  <a:schemeClr val="hlink"/>
                </a:solidFill>
              </a:rPr>
              <a:t>Stop iff the selected node is also a goal node.</a:t>
            </a:r>
            <a:endParaRPr lang="en-US" altLang="zh-TW" sz="2000"/>
          </a:p>
          <a:p>
            <a:pPr algn="just">
              <a:lnSpc>
                <a:spcPct val="90000"/>
              </a:lnSpc>
            </a:pPr>
            <a:endParaRPr lang="en-US" altLang="zh-TW" sz="2000"/>
          </a:p>
        </p:txBody>
      </p:sp>
      <p:sp>
        <p:nvSpPr>
          <p:cNvPr id="40965" name="Rectangle 5"/>
          <p:cNvSpPr>
            <a:spLocks noChangeArrowheads="1"/>
          </p:cNvSpPr>
          <p:nvPr/>
        </p:nvSpPr>
        <p:spPr bwMode="auto">
          <a:xfrm>
            <a:off x="2162175" y="2133600"/>
            <a:ext cx="9144000" cy="0"/>
          </a:xfrm>
          <a:prstGeom prst="rect">
            <a:avLst/>
          </a:prstGeom>
          <a:noFill/>
          <a:ln w="9525">
            <a:noFill/>
            <a:miter lim="800000"/>
            <a:headEnd/>
            <a:tailEnd/>
          </a:ln>
          <a:effectLst/>
        </p:spPr>
        <p:txBody>
          <a:bodyPr>
            <a:spAutoFit/>
          </a:bodyPr>
          <a:lstStyle/>
          <a:p>
            <a:endParaRPr lang="zh-TW" altLang="en-US"/>
          </a:p>
        </p:txBody>
      </p:sp>
      <p:graphicFrame>
        <p:nvGraphicFramePr>
          <p:cNvPr id="40964" name="Object 4"/>
          <p:cNvGraphicFramePr>
            <a:graphicFrameLocks noChangeAspect="1"/>
          </p:cNvGraphicFramePr>
          <p:nvPr/>
        </p:nvGraphicFramePr>
        <p:xfrm>
          <a:off x="1447800" y="2057400"/>
          <a:ext cx="6248400" cy="3357563"/>
        </p:xfrm>
        <a:graphic>
          <a:graphicData uri="http://schemas.openxmlformats.org/presentationml/2006/ole">
            <p:oleObj spid="_x0000_s22530" r:id="rId4" imgW="4822857" imgH="2590476" progId="">
              <p:embed/>
            </p:oleObj>
          </a:graphicData>
        </a:graphic>
      </p:graphicFrame>
      <p:sp>
        <p:nvSpPr>
          <p:cNvPr id="8" name="文字方塊 7"/>
          <p:cNvSpPr txBox="1"/>
          <p:nvPr/>
        </p:nvSpPr>
        <p:spPr>
          <a:xfrm>
            <a:off x="1285852" y="6488692"/>
            <a:ext cx="5955476" cy="369332"/>
          </a:xfrm>
          <a:prstGeom prst="rect">
            <a:avLst/>
          </a:prstGeom>
          <a:noFill/>
        </p:spPr>
        <p:txBody>
          <a:bodyPr wrap="none" rtlCol="0">
            <a:spAutoFit/>
          </a:bodyPr>
          <a:lstStyle/>
          <a:p>
            <a:r>
              <a:rPr lang="zh-TW" altLang="en-US" dirty="0" smtClean="0">
                <a:latin typeface="標楷體" pitchFamily="65" charset="-120"/>
                <a:ea typeface="標楷體" pitchFamily="65" charset="-120"/>
              </a:rPr>
              <a:t>引用</a:t>
            </a:r>
            <a:r>
              <a:rPr lang="zh-TW" altLang="en-US" dirty="0" smtClean="0">
                <a:latin typeface="標楷體" pitchFamily="65" charset="-120"/>
                <a:ea typeface="標楷體" pitchFamily="65" charset="-120"/>
              </a:rPr>
              <a:t>自 </a:t>
            </a:r>
            <a:r>
              <a:rPr lang="zh-TW" altLang="en-US" dirty="0" smtClean="0">
                <a:latin typeface="標楷體" pitchFamily="65" charset="-120"/>
                <a:ea typeface="標楷體" pitchFamily="65" charset="-120"/>
              </a:rPr>
              <a:t>楊昌彪老師 演算法設計與分析 第五章 </a:t>
            </a:r>
            <a:r>
              <a:rPr lang="en-US" altLang="zh-TW" dirty="0" smtClean="0">
                <a:latin typeface="標楷體" pitchFamily="65" charset="-120"/>
                <a:ea typeface="標楷體" pitchFamily="65" charset="-120"/>
              </a:rPr>
              <a:t>pp.35-41</a:t>
            </a:r>
            <a:endParaRPr lang="zh-TW" altLang="en-US" dirty="0">
              <a:latin typeface="標楷體" pitchFamily="65" charset="-120"/>
              <a:ea typeface="標楷體" pitchFamily="65" charset="-120"/>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7" name="Rectangle 3"/>
          <p:cNvSpPr>
            <a:spLocks noGrp="1" noChangeArrowheads="1"/>
          </p:cNvSpPr>
          <p:nvPr>
            <p:ph type="body" idx="1"/>
          </p:nvPr>
        </p:nvSpPr>
        <p:spPr/>
        <p:txBody>
          <a:bodyPr/>
          <a:lstStyle/>
          <a:p>
            <a:pPr algn="just"/>
            <a:r>
              <a:rPr lang="en-US" altLang="zh-TW" sz="2800"/>
              <a:t>Step 1:</a:t>
            </a:r>
          </a:p>
          <a:p>
            <a:pPr algn="just"/>
            <a:endParaRPr lang="en-US" altLang="zh-TW" sz="2800"/>
          </a:p>
          <a:p>
            <a:pPr algn="just"/>
            <a:endParaRPr lang="en-US" altLang="zh-TW" sz="2400" b="1"/>
          </a:p>
          <a:p>
            <a:pPr algn="just"/>
            <a:endParaRPr lang="en-US" altLang="zh-TW" sz="2400" b="1"/>
          </a:p>
          <a:p>
            <a:pPr algn="just"/>
            <a:endParaRPr lang="en-US" altLang="zh-TW" sz="2400" b="1"/>
          </a:p>
          <a:p>
            <a:pPr algn="just"/>
            <a:endParaRPr lang="en-US" altLang="zh-TW" sz="2400" b="1"/>
          </a:p>
          <a:p>
            <a:pPr algn="just"/>
            <a:endParaRPr lang="en-US" altLang="zh-TW" sz="2400"/>
          </a:p>
          <a:p>
            <a:endParaRPr lang="en-US" altLang="zh-TW" sz="2400"/>
          </a:p>
        </p:txBody>
      </p:sp>
      <p:sp>
        <p:nvSpPr>
          <p:cNvPr id="41989" name="Rectangle 5"/>
          <p:cNvSpPr>
            <a:spLocks noChangeArrowheads="1"/>
          </p:cNvSpPr>
          <p:nvPr/>
        </p:nvSpPr>
        <p:spPr bwMode="auto">
          <a:xfrm>
            <a:off x="2871788" y="2576513"/>
            <a:ext cx="9144000" cy="0"/>
          </a:xfrm>
          <a:prstGeom prst="rect">
            <a:avLst/>
          </a:prstGeom>
          <a:noFill/>
          <a:ln w="9525">
            <a:noFill/>
            <a:miter lim="800000"/>
            <a:headEnd/>
            <a:tailEnd/>
          </a:ln>
          <a:effectLst/>
        </p:spPr>
        <p:txBody>
          <a:bodyPr>
            <a:spAutoFit/>
          </a:bodyPr>
          <a:lstStyle/>
          <a:p>
            <a:endParaRPr lang="zh-TW" altLang="en-US"/>
          </a:p>
        </p:txBody>
      </p:sp>
      <p:graphicFrame>
        <p:nvGraphicFramePr>
          <p:cNvPr id="41988" name="Object 4"/>
          <p:cNvGraphicFramePr>
            <a:graphicFrameLocks noChangeAspect="1"/>
          </p:cNvGraphicFramePr>
          <p:nvPr/>
        </p:nvGraphicFramePr>
        <p:xfrm>
          <a:off x="1143000" y="2209800"/>
          <a:ext cx="4953000" cy="2482850"/>
        </p:xfrm>
        <a:graphic>
          <a:graphicData uri="http://schemas.openxmlformats.org/presentationml/2006/ole">
            <p:oleObj spid="_x0000_s23554" r:id="rId4" imgW="3398095" imgH="1706667" progId="">
              <p:embed/>
            </p:oleObj>
          </a:graphicData>
        </a:graphic>
      </p:graphicFrame>
      <p:graphicFrame>
        <p:nvGraphicFramePr>
          <p:cNvPr id="41990" name="Object 6"/>
          <p:cNvGraphicFramePr>
            <a:graphicFrameLocks noChangeAspect="1"/>
          </p:cNvGraphicFramePr>
          <p:nvPr/>
        </p:nvGraphicFramePr>
        <p:xfrm>
          <a:off x="1066800" y="4724400"/>
          <a:ext cx="7772400" cy="1349375"/>
        </p:xfrm>
        <a:graphic>
          <a:graphicData uri="http://schemas.openxmlformats.org/presentationml/2006/ole">
            <p:oleObj spid="_x0000_s23555" name="文件" r:id="rId5" imgW="5196960" imgH="1127880" progId="Word.Document.8">
              <p:embed/>
            </p:oleObj>
          </a:graphicData>
        </a:graphic>
      </p:graphicFrame>
      <p:graphicFrame>
        <p:nvGraphicFramePr>
          <p:cNvPr id="41992" name="Object 8"/>
          <p:cNvGraphicFramePr>
            <a:graphicFrameLocks noChangeAspect="1"/>
          </p:cNvGraphicFramePr>
          <p:nvPr/>
        </p:nvGraphicFramePr>
        <p:xfrm>
          <a:off x="4724400" y="685800"/>
          <a:ext cx="4419600" cy="2374900"/>
        </p:xfrm>
        <a:graphic>
          <a:graphicData uri="http://schemas.openxmlformats.org/presentationml/2006/ole">
            <p:oleObj spid="_x0000_s23556" r:id="rId6" imgW="4822857" imgH="2590476" progId="">
              <p:embed/>
            </p:oleObj>
          </a:graphicData>
        </a:graphic>
      </p:graphicFrame>
      <p:sp>
        <p:nvSpPr>
          <p:cNvPr id="9" name="文字方塊 8"/>
          <p:cNvSpPr txBox="1"/>
          <p:nvPr/>
        </p:nvSpPr>
        <p:spPr>
          <a:xfrm>
            <a:off x="1285852" y="6500834"/>
            <a:ext cx="5955476" cy="369332"/>
          </a:xfrm>
          <a:prstGeom prst="rect">
            <a:avLst/>
          </a:prstGeom>
          <a:noFill/>
        </p:spPr>
        <p:txBody>
          <a:bodyPr wrap="none" rtlCol="0">
            <a:spAutoFit/>
          </a:bodyPr>
          <a:lstStyle/>
          <a:p>
            <a:r>
              <a:rPr lang="zh-TW" altLang="en-US" dirty="0" smtClean="0">
                <a:latin typeface="標楷體" pitchFamily="65" charset="-120"/>
                <a:ea typeface="標楷體" pitchFamily="65" charset="-120"/>
              </a:rPr>
              <a:t>引用自 </a:t>
            </a:r>
            <a:r>
              <a:rPr lang="zh-TW" altLang="en-US" dirty="0" smtClean="0">
                <a:latin typeface="標楷體" pitchFamily="65" charset="-120"/>
                <a:ea typeface="標楷體" pitchFamily="65" charset="-120"/>
              </a:rPr>
              <a:t>楊昌彪老師 演算法設計與分析 第五章 </a:t>
            </a:r>
            <a:r>
              <a:rPr lang="en-US" altLang="zh-TW" dirty="0" smtClean="0">
                <a:latin typeface="標楷體" pitchFamily="65" charset="-120"/>
                <a:ea typeface="標楷體" pitchFamily="65" charset="-120"/>
              </a:rPr>
              <a:t>pp.35-41</a:t>
            </a:r>
            <a:endParaRPr lang="zh-TW" altLang="en-US" dirty="0">
              <a:latin typeface="標楷體" pitchFamily="65" charset="-120"/>
              <a:ea typeface="標楷體" pitchFamily="65" charset="-120"/>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Rectangle 3"/>
          <p:cNvSpPr>
            <a:spLocks noGrp="1" noChangeArrowheads="1"/>
          </p:cNvSpPr>
          <p:nvPr>
            <p:ph type="body" idx="1"/>
          </p:nvPr>
        </p:nvSpPr>
        <p:spPr>
          <a:xfrm>
            <a:off x="381000" y="914400"/>
            <a:ext cx="7772400" cy="4611688"/>
          </a:xfrm>
        </p:spPr>
        <p:txBody>
          <a:bodyPr/>
          <a:lstStyle/>
          <a:p>
            <a:pPr algn="just"/>
            <a:r>
              <a:rPr lang="en-US" altLang="zh-TW" sz="2800"/>
              <a:t>Step 2: Expand node A.</a:t>
            </a:r>
          </a:p>
          <a:p>
            <a:pPr algn="just"/>
            <a:endParaRPr lang="en-US" altLang="zh-TW" sz="2800"/>
          </a:p>
          <a:p>
            <a:pPr algn="just"/>
            <a:endParaRPr lang="en-US" altLang="zh-TW" sz="2400" b="1"/>
          </a:p>
          <a:p>
            <a:pPr algn="just"/>
            <a:endParaRPr lang="en-US" altLang="zh-TW" sz="2400" b="1"/>
          </a:p>
          <a:p>
            <a:pPr algn="just"/>
            <a:endParaRPr lang="en-US" altLang="zh-TW" sz="2400" b="1"/>
          </a:p>
          <a:p>
            <a:pPr algn="just"/>
            <a:endParaRPr lang="en-US" altLang="zh-TW" sz="2400" b="1"/>
          </a:p>
          <a:p>
            <a:pPr algn="just"/>
            <a:endParaRPr lang="en-US" altLang="zh-TW" sz="2400" b="1"/>
          </a:p>
          <a:p>
            <a:pPr algn="just"/>
            <a:endParaRPr lang="en-US" altLang="zh-TW" sz="2400" b="1"/>
          </a:p>
          <a:p>
            <a:pPr algn="just"/>
            <a:endParaRPr lang="en-US" altLang="zh-TW" sz="2400"/>
          </a:p>
          <a:p>
            <a:endParaRPr lang="en-US" altLang="zh-TW" sz="2400"/>
          </a:p>
        </p:txBody>
      </p:sp>
      <p:sp>
        <p:nvSpPr>
          <p:cNvPr id="43013" name="Rectangle 5"/>
          <p:cNvSpPr>
            <a:spLocks noChangeArrowheads="1"/>
          </p:cNvSpPr>
          <p:nvPr/>
        </p:nvSpPr>
        <p:spPr bwMode="auto">
          <a:xfrm>
            <a:off x="2571750" y="2128838"/>
            <a:ext cx="9144000" cy="0"/>
          </a:xfrm>
          <a:prstGeom prst="rect">
            <a:avLst/>
          </a:prstGeom>
          <a:noFill/>
          <a:ln w="9525">
            <a:noFill/>
            <a:miter lim="800000"/>
            <a:headEnd/>
            <a:tailEnd/>
          </a:ln>
          <a:effectLst/>
        </p:spPr>
        <p:txBody>
          <a:bodyPr>
            <a:spAutoFit/>
          </a:bodyPr>
          <a:lstStyle/>
          <a:p>
            <a:endParaRPr lang="zh-TW" altLang="en-US"/>
          </a:p>
        </p:txBody>
      </p:sp>
      <p:graphicFrame>
        <p:nvGraphicFramePr>
          <p:cNvPr id="43012" name="Object 4"/>
          <p:cNvGraphicFramePr>
            <a:graphicFrameLocks noChangeAspect="1"/>
          </p:cNvGraphicFramePr>
          <p:nvPr/>
        </p:nvGraphicFramePr>
        <p:xfrm>
          <a:off x="533400" y="1676400"/>
          <a:ext cx="4800600" cy="3121025"/>
        </p:xfrm>
        <a:graphic>
          <a:graphicData uri="http://schemas.openxmlformats.org/presentationml/2006/ole">
            <p:oleObj spid="_x0000_s24578" r:id="rId4" imgW="4000000" imgH="2598095" progId="">
              <p:embed/>
            </p:oleObj>
          </a:graphicData>
        </a:graphic>
      </p:graphicFrame>
      <p:graphicFrame>
        <p:nvGraphicFramePr>
          <p:cNvPr id="43014" name="Object 6"/>
          <p:cNvGraphicFramePr>
            <a:graphicFrameLocks noChangeAspect="1"/>
          </p:cNvGraphicFramePr>
          <p:nvPr/>
        </p:nvGraphicFramePr>
        <p:xfrm>
          <a:off x="685800" y="4876800"/>
          <a:ext cx="8458200" cy="942975"/>
        </p:xfrm>
        <a:graphic>
          <a:graphicData uri="http://schemas.openxmlformats.org/presentationml/2006/ole">
            <p:oleObj spid="_x0000_s24579" name="文件" r:id="rId5" imgW="5504760" imgH="777240" progId="Word.Document.8">
              <p:embed/>
            </p:oleObj>
          </a:graphicData>
        </a:graphic>
      </p:graphicFrame>
      <p:graphicFrame>
        <p:nvGraphicFramePr>
          <p:cNvPr id="43016" name="Object 8"/>
          <p:cNvGraphicFramePr>
            <a:graphicFrameLocks noChangeAspect="1"/>
          </p:cNvGraphicFramePr>
          <p:nvPr/>
        </p:nvGraphicFramePr>
        <p:xfrm>
          <a:off x="4724400" y="381000"/>
          <a:ext cx="4419600" cy="2374900"/>
        </p:xfrm>
        <a:graphic>
          <a:graphicData uri="http://schemas.openxmlformats.org/presentationml/2006/ole">
            <p:oleObj spid="_x0000_s24580" r:id="rId6" imgW="4822857" imgH="2590476" progId="">
              <p:embed/>
            </p:oleObj>
          </a:graphicData>
        </a:graphic>
      </p:graphicFrame>
      <p:sp>
        <p:nvSpPr>
          <p:cNvPr id="43017" name="Text Box 9"/>
          <p:cNvSpPr txBox="1">
            <a:spLocks noChangeArrowheads="1"/>
          </p:cNvSpPr>
          <p:nvPr/>
        </p:nvSpPr>
        <p:spPr bwMode="auto">
          <a:xfrm>
            <a:off x="4787900" y="3357563"/>
            <a:ext cx="287338" cy="396875"/>
          </a:xfrm>
          <a:prstGeom prst="rect">
            <a:avLst/>
          </a:prstGeom>
          <a:noFill/>
          <a:ln w="9525">
            <a:noFill/>
            <a:miter lim="800000"/>
            <a:headEnd/>
            <a:tailEnd/>
          </a:ln>
          <a:effectLst/>
        </p:spPr>
        <p:txBody>
          <a:bodyPr>
            <a:spAutoFit/>
          </a:bodyPr>
          <a:lstStyle/>
          <a:p>
            <a:pPr>
              <a:spcBef>
                <a:spcPct val="50000"/>
              </a:spcBef>
            </a:pPr>
            <a:r>
              <a:rPr lang="en-US" altLang="zh-TW" sz="2000">
                <a:latin typeface="Times New Roman" pitchFamily="18" charset="0"/>
              </a:rPr>
              <a:t>5</a:t>
            </a:r>
          </a:p>
        </p:txBody>
      </p:sp>
      <p:sp>
        <p:nvSpPr>
          <p:cNvPr id="10" name="文字方塊 9"/>
          <p:cNvSpPr txBox="1"/>
          <p:nvPr/>
        </p:nvSpPr>
        <p:spPr>
          <a:xfrm>
            <a:off x="1285852" y="6488692"/>
            <a:ext cx="5955476" cy="369332"/>
          </a:xfrm>
          <a:prstGeom prst="rect">
            <a:avLst/>
          </a:prstGeom>
          <a:noFill/>
        </p:spPr>
        <p:txBody>
          <a:bodyPr wrap="none" rtlCol="0">
            <a:spAutoFit/>
          </a:bodyPr>
          <a:lstStyle/>
          <a:p>
            <a:r>
              <a:rPr lang="zh-TW" altLang="en-US" dirty="0" smtClean="0">
                <a:latin typeface="標楷體" pitchFamily="65" charset="-120"/>
                <a:ea typeface="標楷體" pitchFamily="65" charset="-120"/>
              </a:rPr>
              <a:t>引用自 </a:t>
            </a:r>
            <a:r>
              <a:rPr lang="zh-TW" altLang="en-US" dirty="0" smtClean="0">
                <a:latin typeface="標楷體" pitchFamily="65" charset="-120"/>
                <a:ea typeface="標楷體" pitchFamily="65" charset="-120"/>
              </a:rPr>
              <a:t>楊昌彪老師 演算法設計與分析 第五章 </a:t>
            </a:r>
            <a:r>
              <a:rPr lang="en-US" altLang="zh-TW" dirty="0" smtClean="0">
                <a:latin typeface="標楷體" pitchFamily="65" charset="-120"/>
                <a:ea typeface="標楷體" pitchFamily="65" charset="-120"/>
              </a:rPr>
              <a:t>pp.35-41</a:t>
            </a:r>
            <a:endParaRPr lang="zh-TW" altLang="en-US" dirty="0">
              <a:latin typeface="標楷體" pitchFamily="65" charset="-120"/>
              <a:ea typeface="標楷體" pitchFamily="65" charset="-120"/>
            </a:endParaRP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47" name="Rectangle 15"/>
          <p:cNvSpPr>
            <a:spLocks noGrp="1" noChangeArrowheads="1"/>
          </p:cNvSpPr>
          <p:nvPr>
            <p:ph type="title"/>
          </p:nvPr>
        </p:nvSpPr>
        <p:spPr/>
        <p:txBody>
          <a:bodyPr/>
          <a:lstStyle/>
          <a:p>
            <a:endParaRPr lang="zh-TW" altLang="zh-TW"/>
          </a:p>
        </p:txBody>
      </p:sp>
      <p:sp>
        <p:nvSpPr>
          <p:cNvPr id="44035" name="Rectangle 3"/>
          <p:cNvSpPr>
            <a:spLocks noGrp="1" noChangeArrowheads="1"/>
          </p:cNvSpPr>
          <p:nvPr>
            <p:ph type="body" sz="half" idx="1"/>
          </p:nvPr>
        </p:nvSpPr>
        <p:spPr>
          <a:xfrm>
            <a:off x="762000" y="1268413"/>
            <a:ext cx="4314825" cy="4903787"/>
          </a:xfrm>
        </p:spPr>
        <p:txBody>
          <a:bodyPr/>
          <a:lstStyle/>
          <a:p>
            <a:r>
              <a:rPr lang="en-US" altLang="zh-TW" sz="2800"/>
              <a:t>Step 3: Expand node C.</a:t>
            </a:r>
            <a:r>
              <a:rPr lang="en-US" altLang="zh-TW" sz="2000"/>
              <a:t> </a:t>
            </a:r>
          </a:p>
          <a:p>
            <a:endParaRPr lang="en-US" altLang="zh-TW" sz="2000"/>
          </a:p>
          <a:p>
            <a:endParaRPr lang="en-US" altLang="zh-TW" sz="2000"/>
          </a:p>
          <a:p>
            <a:endParaRPr lang="en-US" altLang="zh-TW" sz="2000"/>
          </a:p>
          <a:p>
            <a:endParaRPr lang="en-US" altLang="zh-TW" sz="2000"/>
          </a:p>
          <a:p>
            <a:endParaRPr lang="en-US" altLang="zh-TW" sz="2000"/>
          </a:p>
          <a:p>
            <a:endParaRPr lang="en-US" altLang="zh-TW" sz="2000"/>
          </a:p>
          <a:p>
            <a:endParaRPr lang="en-US" altLang="zh-TW" sz="2000"/>
          </a:p>
          <a:p>
            <a:endParaRPr lang="en-US" altLang="zh-TW" sz="2000"/>
          </a:p>
          <a:p>
            <a:endParaRPr lang="en-US" altLang="zh-TW" sz="2000"/>
          </a:p>
        </p:txBody>
      </p:sp>
      <p:sp>
        <p:nvSpPr>
          <p:cNvPr id="44037" name="Rectangle 5"/>
          <p:cNvSpPr>
            <a:spLocks noChangeArrowheads="1"/>
          </p:cNvSpPr>
          <p:nvPr/>
        </p:nvSpPr>
        <p:spPr bwMode="auto">
          <a:xfrm>
            <a:off x="2381250" y="2076450"/>
            <a:ext cx="9144000" cy="0"/>
          </a:xfrm>
          <a:prstGeom prst="rect">
            <a:avLst/>
          </a:prstGeom>
          <a:noFill/>
          <a:ln w="9525">
            <a:noFill/>
            <a:miter lim="800000"/>
            <a:headEnd/>
            <a:tailEnd/>
          </a:ln>
          <a:effectLst/>
        </p:spPr>
        <p:txBody>
          <a:bodyPr>
            <a:spAutoFit/>
          </a:bodyPr>
          <a:lstStyle/>
          <a:p>
            <a:endParaRPr lang="zh-TW" altLang="en-US"/>
          </a:p>
        </p:txBody>
      </p:sp>
      <p:graphicFrame>
        <p:nvGraphicFramePr>
          <p:cNvPr id="44036" name="Object 4"/>
          <p:cNvGraphicFramePr>
            <a:graphicFrameLocks noChangeAspect="1"/>
          </p:cNvGraphicFramePr>
          <p:nvPr/>
        </p:nvGraphicFramePr>
        <p:xfrm>
          <a:off x="1295400" y="1828800"/>
          <a:ext cx="5334000" cy="3292475"/>
        </p:xfrm>
        <a:graphic>
          <a:graphicData uri="http://schemas.openxmlformats.org/presentationml/2006/ole">
            <p:oleObj spid="_x0000_s25602" r:id="rId4" imgW="4380952" imgH="2704762" progId="">
              <p:embed/>
            </p:oleObj>
          </a:graphicData>
        </a:graphic>
      </p:graphicFrame>
      <p:graphicFrame>
        <p:nvGraphicFramePr>
          <p:cNvPr id="44038" name="Object 6"/>
          <p:cNvGraphicFramePr>
            <a:graphicFrameLocks noChangeAspect="1"/>
          </p:cNvGraphicFramePr>
          <p:nvPr/>
        </p:nvGraphicFramePr>
        <p:xfrm>
          <a:off x="609600" y="5257800"/>
          <a:ext cx="8534400" cy="990600"/>
        </p:xfrm>
        <a:graphic>
          <a:graphicData uri="http://schemas.openxmlformats.org/presentationml/2006/ole">
            <p:oleObj spid="_x0000_s25603" name="文件" r:id="rId5" imgW="5536800" imgH="777240" progId="Word.Document.8">
              <p:embed/>
            </p:oleObj>
          </a:graphicData>
        </a:graphic>
      </p:graphicFrame>
      <p:graphicFrame>
        <p:nvGraphicFramePr>
          <p:cNvPr id="44046" name="Object 14"/>
          <p:cNvGraphicFramePr>
            <a:graphicFrameLocks noChangeAspect="1"/>
          </p:cNvGraphicFramePr>
          <p:nvPr>
            <p:ph sz="half" idx="2"/>
          </p:nvPr>
        </p:nvGraphicFramePr>
        <p:xfrm>
          <a:off x="5334000" y="549275"/>
          <a:ext cx="3810000" cy="2046288"/>
        </p:xfrm>
        <a:graphic>
          <a:graphicData uri="http://schemas.openxmlformats.org/presentationml/2006/ole">
            <p:oleObj spid="_x0000_s25604" r:id="rId6" imgW="4822857" imgH="2590476" progId="">
              <p:embed/>
            </p:oleObj>
          </a:graphicData>
        </a:graphic>
      </p:graphicFrame>
      <p:sp>
        <p:nvSpPr>
          <p:cNvPr id="10" name="文字方塊 9"/>
          <p:cNvSpPr txBox="1"/>
          <p:nvPr/>
        </p:nvSpPr>
        <p:spPr>
          <a:xfrm>
            <a:off x="1285852" y="6488692"/>
            <a:ext cx="5955476" cy="369332"/>
          </a:xfrm>
          <a:prstGeom prst="rect">
            <a:avLst/>
          </a:prstGeom>
          <a:noFill/>
        </p:spPr>
        <p:txBody>
          <a:bodyPr wrap="none" rtlCol="0">
            <a:spAutoFit/>
          </a:bodyPr>
          <a:lstStyle/>
          <a:p>
            <a:r>
              <a:rPr lang="zh-TW" altLang="en-US" dirty="0" smtClean="0">
                <a:latin typeface="標楷體" pitchFamily="65" charset="-120"/>
                <a:ea typeface="標楷體" pitchFamily="65" charset="-120"/>
              </a:rPr>
              <a:t>引用自 </a:t>
            </a:r>
            <a:r>
              <a:rPr lang="zh-TW" altLang="en-US" dirty="0" smtClean="0">
                <a:latin typeface="標楷體" pitchFamily="65" charset="-120"/>
                <a:ea typeface="標楷體" pitchFamily="65" charset="-120"/>
              </a:rPr>
              <a:t>楊昌彪老師 演算法設計與分析 第五章 </a:t>
            </a:r>
            <a:r>
              <a:rPr lang="en-US" altLang="zh-TW" dirty="0" smtClean="0">
                <a:latin typeface="標楷體" pitchFamily="65" charset="-120"/>
                <a:ea typeface="標楷體" pitchFamily="65" charset="-120"/>
              </a:rPr>
              <a:t>pp.35-41</a:t>
            </a:r>
            <a:endParaRPr lang="zh-TW" altLang="en-US" dirty="0">
              <a:latin typeface="標楷體" pitchFamily="65" charset="-120"/>
              <a:ea typeface="標楷體" pitchFamily="65" charset="-120"/>
            </a:endParaRP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87" name="Rectangle 31"/>
          <p:cNvSpPr>
            <a:spLocks noGrp="1" noChangeArrowheads="1"/>
          </p:cNvSpPr>
          <p:nvPr>
            <p:ph type="title"/>
          </p:nvPr>
        </p:nvSpPr>
        <p:spPr/>
        <p:txBody>
          <a:bodyPr/>
          <a:lstStyle/>
          <a:p>
            <a:endParaRPr lang="zh-TW" altLang="zh-TW"/>
          </a:p>
        </p:txBody>
      </p:sp>
      <p:sp>
        <p:nvSpPr>
          <p:cNvPr id="45059" name="Rectangle 3"/>
          <p:cNvSpPr>
            <a:spLocks noGrp="1" noChangeArrowheads="1"/>
          </p:cNvSpPr>
          <p:nvPr>
            <p:ph type="body" sz="half" idx="1"/>
          </p:nvPr>
        </p:nvSpPr>
        <p:spPr>
          <a:xfrm>
            <a:off x="762000" y="765175"/>
            <a:ext cx="4170363" cy="5407025"/>
          </a:xfrm>
        </p:spPr>
        <p:txBody>
          <a:bodyPr/>
          <a:lstStyle/>
          <a:p>
            <a:r>
              <a:rPr lang="en-US" altLang="zh-TW" sz="2800"/>
              <a:t>Step 4: Expand node D.</a:t>
            </a:r>
            <a:r>
              <a:rPr lang="en-US" altLang="zh-TW" sz="2000"/>
              <a:t> </a:t>
            </a:r>
          </a:p>
        </p:txBody>
      </p:sp>
      <p:sp>
        <p:nvSpPr>
          <p:cNvPr id="45061" name="Rectangle 5"/>
          <p:cNvSpPr>
            <a:spLocks noChangeArrowheads="1"/>
          </p:cNvSpPr>
          <p:nvPr/>
        </p:nvSpPr>
        <p:spPr bwMode="auto">
          <a:xfrm>
            <a:off x="2219325" y="1609725"/>
            <a:ext cx="9144000" cy="0"/>
          </a:xfrm>
          <a:prstGeom prst="rect">
            <a:avLst/>
          </a:prstGeom>
          <a:noFill/>
          <a:ln w="9525">
            <a:noFill/>
            <a:miter lim="800000"/>
            <a:headEnd/>
            <a:tailEnd/>
          </a:ln>
          <a:effectLst/>
        </p:spPr>
        <p:txBody>
          <a:bodyPr>
            <a:spAutoFit/>
          </a:bodyPr>
          <a:lstStyle/>
          <a:p>
            <a:endParaRPr lang="zh-TW" altLang="en-US"/>
          </a:p>
        </p:txBody>
      </p:sp>
      <p:graphicFrame>
        <p:nvGraphicFramePr>
          <p:cNvPr id="45083" name="Object 27"/>
          <p:cNvGraphicFramePr>
            <a:graphicFrameLocks noChangeAspect="1"/>
          </p:cNvGraphicFramePr>
          <p:nvPr/>
        </p:nvGraphicFramePr>
        <p:xfrm>
          <a:off x="609600" y="5257800"/>
          <a:ext cx="8534400" cy="960438"/>
        </p:xfrm>
        <a:graphic>
          <a:graphicData uri="http://schemas.openxmlformats.org/presentationml/2006/ole">
            <p:oleObj spid="_x0000_s26626" name="文件" r:id="rId4" imgW="5139000" imgH="777240" progId="Word.Document.8">
              <p:embed/>
            </p:oleObj>
          </a:graphicData>
        </a:graphic>
      </p:graphicFrame>
      <p:graphicFrame>
        <p:nvGraphicFramePr>
          <p:cNvPr id="45085" name="Object 29"/>
          <p:cNvGraphicFramePr>
            <a:graphicFrameLocks noChangeAspect="1"/>
          </p:cNvGraphicFramePr>
          <p:nvPr/>
        </p:nvGraphicFramePr>
        <p:xfrm>
          <a:off x="1828800" y="1447800"/>
          <a:ext cx="4868863" cy="3605213"/>
        </p:xfrm>
        <a:graphic>
          <a:graphicData uri="http://schemas.openxmlformats.org/presentationml/2006/ole">
            <p:oleObj spid="_x0000_s26627" name="點陣圖影像" r:id="rId5" imgW="4869602" imgH="3604572" progId="PBrush">
              <p:embed/>
            </p:oleObj>
          </a:graphicData>
        </a:graphic>
      </p:graphicFrame>
      <p:graphicFrame>
        <p:nvGraphicFramePr>
          <p:cNvPr id="45086" name="Object 30"/>
          <p:cNvGraphicFramePr>
            <a:graphicFrameLocks noChangeAspect="1"/>
          </p:cNvGraphicFramePr>
          <p:nvPr>
            <p:ph sz="half" idx="2"/>
          </p:nvPr>
        </p:nvGraphicFramePr>
        <p:xfrm>
          <a:off x="5334000" y="0"/>
          <a:ext cx="3810000" cy="2046288"/>
        </p:xfrm>
        <a:graphic>
          <a:graphicData uri="http://schemas.openxmlformats.org/presentationml/2006/ole">
            <p:oleObj spid="_x0000_s26628" r:id="rId6" imgW="4822857" imgH="2590476" progId="">
              <p:embed/>
            </p:oleObj>
          </a:graphicData>
        </a:graphic>
      </p:graphicFrame>
      <p:sp>
        <p:nvSpPr>
          <p:cNvPr id="10" name="文字方塊 9"/>
          <p:cNvSpPr txBox="1"/>
          <p:nvPr/>
        </p:nvSpPr>
        <p:spPr>
          <a:xfrm>
            <a:off x="1285852" y="6488692"/>
            <a:ext cx="5955476" cy="369332"/>
          </a:xfrm>
          <a:prstGeom prst="rect">
            <a:avLst/>
          </a:prstGeom>
          <a:noFill/>
        </p:spPr>
        <p:txBody>
          <a:bodyPr wrap="none" rtlCol="0">
            <a:spAutoFit/>
          </a:bodyPr>
          <a:lstStyle/>
          <a:p>
            <a:r>
              <a:rPr lang="zh-TW" altLang="en-US" dirty="0" smtClean="0">
                <a:latin typeface="標楷體" pitchFamily="65" charset="-120"/>
                <a:ea typeface="標楷體" pitchFamily="65" charset="-120"/>
              </a:rPr>
              <a:t>引用自 </a:t>
            </a:r>
            <a:r>
              <a:rPr lang="zh-TW" altLang="en-US" dirty="0" smtClean="0">
                <a:latin typeface="標楷體" pitchFamily="65" charset="-120"/>
                <a:ea typeface="標楷體" pitchFamily="65" charset="-120"/>
              </a:rPr>
              <a:t>楊昌彪老師 演算法設計與分析 第五章 </a:t>
            </a:r>
            <a:r>
              <a:rPr lang="en-US" altLang="zh-TW" dirty="0" smtClean="0">
                <a:latin typeface="標楷體" pitchFamily="65" charset="-120"/>
                <a:ea typeface="標楷體" pitchFamily="65" charset="-120"/>
              </a:rPr>
              <a:t>pp.35-41</a:t>
            </a:r>
            <a:endParaRPr lang="zh-TW" altLang="en-US" dirty="0">
              <a:latin typeface="標楷體" pitchFamily="65" charset="-120"/>
              <a:ea typeface="標楷體" pitchFamily="65" charset="-120"/>
            </a:endParaRP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90" name="Rectangle 10"/>
          <p:cNvSpPr>
            <a:spLocks noGrp="1" noChangeArrowheads="1"/>
          </p:cNvSpPr>
          <p:nvPr>
            <p:ph type="title"/>
          </p:nvPr>
        </p:nvSpPr>
        <p:spPr/>
        <p:txBody>
          <a:bodyPr/>
          <a:lstStyle/>
          <a:p>
            <a:endParaRPr lang="zh-TW" altLang="zh-TW"/>
          </a:p>
        </p:txBody>
      </p:sp>
      <p:sp>
        <p:nvSpPr>
          <p:cNvPr id="46083" name="Rectangle 3"/>
          <p:cNvSpPr>
            <a:spLocks noGrp="1" noChangeArrowheads="1"/>
          </p:cNvSpPr>
          <p:nvPr>
            <p:ph type="body" sz="half" idx="1"/>
          </p:nvPr>
        </p:nvSpPr>
        <p:spPr>
          <a:xfrm>
            <a:off x="762000" y="1125538"/>
            <a:ext cx="4170363" cy="5046662"/>
          </a:xfrm>
        </p:spPr>
        <p:txBody>
          <a:bodyPr/>
          <a:lstStyle/>
          <a:p>
            <a:r>
              <a:rPr lang="en-US" altLang="zh-TW" sz="2800"/>
              <a:t>Step 5: Expand node B.</a:t>
            </a:r>
            <a:r>
              <a:rPr lang="en-US" altLang="zh-TW" sz="2000"/>
              <a:t> </a:t>
            </a:r>
          </a:p>
        </p:txBody>
      </p:sp>
      <p:sp>
        <p:nvSpPr>
          <p:cNvPr id="46085" name="Rectangle 5"/>
          <p:cNvSpPr>
            <a:spLocks noChangeArrowheads="1"/>
          </p:cNvSpPr>
          <p:nvPr/>
        </p:nvSpPr>
        <p:spPr bwMode="auto">
          <a:xfrm>
            <a:off x="2138363" y="1614488"/>
            <a:ext cx="9144000" cy="0"/>
          </a:xfrm>
          <a:prstGeom prst="rect">
            <a:avLst/>
          </a:prstGeom>
          <a:noFill/>
          <a:ln w="9525">
            <a:noFill/>
            <a:miter lim="800000"/>
            <a:headEnd/>
            <a:tailEnd/>
          </a:ln>
          <a:effectLst/>
        </p:spPr>
        <p:txBody>
          <a:bodyPr>
            <a:spAutoFit/>
          </a:bodyPr>
          <a:lstStyle/>
          <a:p>
            <a:endParaRPr lang="zh-TW" altLang="en-US"/>
          </a:p>
        </p:txBody>
      </p:sp>
      <p:graphicFrame>
        <p:nvGraphicFramePr>
          <p:cNvPr id="122880" name="Object 0"/>
          <p:cNvGraphicFramePr>
            <a:graphicFrameLocks noChangeAspect="1"/>
          </p:cNvGraphicFramePr>
          <p:nvPr/>
        </p:nvGraphicFramePr>
        <p:xfrm>
          <a:off x="609600" y="5410200"/>
          <a:ext cx="8305800" cy="596900"/>
        </p:xfrm>
        <a:graphic>
          <a:graphicData uri="http://schemas.openxmlformats.org/presentationml/2006/ole">
            <p:oleObj spid="_x0000_s27650" name="文件" r:id="rId4" imgW="5059800" imgH="502920" progId="Word.Document.8">
              <p:embed/>
            </p:oleObj>
          </a:graphicData>
        </a:graphic>
      </p:graphicFrame>
      <p:graphicFrame>
        <p:nvGraphicFramePr>
          <p:cNvPr id="122881" name="Object 1"/>
          <p:cNvGraphicFramePr>
            <a:graphicFrameLocks noChangeAspect="1"/>
          </p:cNvGraphicFramePr>
          <p:nvPr/>
        </p:nvGraphicFramePr>
        <p:xfrm>
          <a:off x="755650" y="1916113"/>
          <a:ext cx="4876800" cy="3398837"/>
        </p:xfrm>
        <a:graphic>
          <a:graphicData uri="http://schemas.openxmlformats.org/presentationml/2006/ole">
            <p:oleObj spid="_x0000_s27651" name="點陣圖影像" r:id="rId5" imgW="4877223" imgH="3398095" progId="PBrush">
              <p:embed/>
            </p:oleObj>
          </a:graphicData>
        </a:graphic>
      </p:graphicFrame>
      <p:graphicFrame>
        <p:nvGraphicFramePr>
          <p:cNvPr id="122882" name="Object 2"/>
          <p:cNvGraphicFramePr>
            <a:graphicFrameLocks noChangeAspect="1"/>
          </p:cNvGraphicFramePr>
          <p:nvPr>
            <p:ph sz="half" idx="2"/>
          </p:nvPr>
        </p:nvGraphicFramePr>
        <p:xfrm>
          <a:off x="5334000" y="333375"/>
          <a:ext cx="3810000" cy="2046288"/>
        </p:xfrm>
        <a:graphic>
          <a:graphicData uri="http://schemas.openxmlformats.org/presentationml/2006/ole">
            <p:oleObj spid="_x0000_s27652" r:id="rId6" imgW="4822857" imgH="2590476" progId="">
              <p:embed/>
            </p:oleObj>
          </a:graphicData>
        </a:graphic>
      </p:graphicFrame>
      <p:sp>
        <p:nvSpPr>
          <p:cNvPr id="10" name="文字方塊 9"/>
          <p:cNvSpPr txBox="1"/>
          <p:nvPr/>
        </p:nvSpPr>
        <p:spPr>
          <a:xfrm>
            <a:off x="1285852" y="6488692"/>
            <a:ext cx="5955476" cy="369332"/>
          </a:xfrm>
          <a:prstGeom prst="rect">
            <a:avLst/>
          </a:prstGeom>
          <a:noFill/>
        </p:spPr>
        <p:txBody>
          <a:bodyPr wrap="none" rtlCol="0">
            <a:spAutoFit/>
          </a:bodyPr>
          <a:lstStyle/>
          <a:p>
            <a:r>
              <a:rPr lang="zh-TW" altLang="en-US" dirty="0" smtClean="0">
                <a:latin typeface="標楷體" pitchFamily="65" charset="-120"/>
                <a:ea typeface="標楷體" pitchFamily="65" charset="-120"/>
              </a:rPr>
              <a:t>引用自 </a:t>
            </a:r>
            <a:r>
              <a:rPr lang="zh-TW" altLang="en-US" dirty="0" smtClean="0">
                <a:latin typeface="標楷體" pitchFamily="65" charset="-120"/>
                <a:ea typeface="標楷體" pitchFamily="65" charset="-120"/>
              </a:rPr>
              <a:t>楊昌彪老師 演算法設計與分析 第五章 </a:t>
            </a:r>
            <a:r>
              <a:rPr lang="en-US" altLang="zh-TW" dirty="0" smtClean="0">
                <a:latin typeface="標楷體" pitchFamily="65" charset="-120"/>
                <a:ea typeface="標楷體" pitchFamily="65" charset="-120"/>
              </a:rPr>
              <a:t>pp.35-41</a:t>
            </a:r>
            <a:endParaRPr lang="zh-TW" altLang="en-US" dirty="0">
              <a:latin typeface="標楷體" pitchFamily="65" charset="-120"/>
              <a:ea typeface="標楷體" pitchFamily="65" charset="-120"/>
            </a:endParaRP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37" name="Rectangle 33"/>
          <p:cNvSpPr>
            <a:spLocks noGrp="1" noChangeArrowheads="1"/>
          </p:cNvSpPr>
          <p:nvPr>
            <p:ph type="title"/>
          </p:nvPr>
        </p:nvSpPr>
        <p:spPr/>
        <p:txBody>
          <a:bodyPr/>
          <a:lstStyle/>
          <a:p>
            <a:endParaRPr lang="zh-TW" altLang="zh-TW"/>
          </a:p>
        </p:txBody>
      </p:sp>
      <p:sp>
        <p:nvSpPr>
          <p:cNvPr id="47107" name="Rectangle 3"/>
          <p:cNvSpPr>
            <a:spLocks noGrp="1" noChangeArrowheads="1"/>
          </p:cNvSpPr>
          <p:nvPr>
            <p:ph type="body" sz="half" idx="1"/>
          </p:nvPr>
        </p:nvSpPr>
        <p:spPr>
          <a:xfrm>
            <a:off x="762000" y="765175"/>
            <a:ext cx="4241800" cy="5407025"/>
          </a:xfrm>
        </p:spPr>
        <p:txBody>
          <a:bodyPr/>
          <a:lstStyle/>
          <a:p>
            <a:pPr algn="just"/>
            <a:r>
              <a:rPr lang="en-US" altLang="zh-TW" sz="2800"/>
              <a:t>Step 6: Expand node F.</a:t>
            </a:r>
          </a:p>
          <a:p>
            <a:endParaRPr lang="en-US" altLang="zh-TW" sz="2000"/>
          </a:p>
        </p:txBody>
      </p:sp>
      <p:sp>
        <p:nvSpPr>
          <p:cNvPr id="47109" name="Rectangle 5"/>
          <p:cNvSpPr>
            <a:spLocks noChangeArrowheads="1"/>
          </p:cNvSpPr>
          <p:nvPr/>
        </p:nvSpPr>
        <p:spPr bwMode="auto">
          <a:xfrm>
            <a:off x="2152650" y="1819275"/>
            <a:ext cx="9144000" cy="0"/>
          </a:xfrm>
          <a:prstGeom prst="rect">
            <a:avLst/>
          </a:prstGeom>
          <a:noFill/>
          <a:ln w="9525">
            <a:noFill/>
            <a:miter lim="800000"/>
            <a:headEnd/>
            <a:tailEnd/>
          </a:ln>
          <a:effectLst/>
        </p:spPr>
        <p:txBody>
          <a:bodyPr>
            <a:spAutoFit/>
          </a:bodyPr>
          <a:lstStyle/>
          <a:p>
            <a:endParaRPr lang="zh-TW" altLang="en-US"/>
          </a:p>
        </p:txBody>
      </p:sp>
      <p:graphicFrame>
        <p:nvGraphicFramePr>
          <p:cNvPr id="47108" name="Object 4"/>
          <p:cNvGraphicFramePr>
            <a:graphicFrameLocks noChangeAspect="1"/>
          </p:cNvGraphicFramePr>
          <p:nvPr/>
        </p:nvGraphicFramePr>
        <p:xfrm>
          <a:off x="611188" y="1268413"/>
          <a:ext cx="5257800" cy="3498850"/>
        </p:xfrm>
        <a:graphic>
          <a:graphicData uri="http://schemas.openxmlformats.org/presentationml/2006/ole">
            <p:oleObj spid="_x0000_s28674" r:id="rId4" imgW="4838095" imgH="3749365" progId="">
              <p:embed/>
            </p:oleObj>
          </a:graphicData>
        </a:graphic>
      </p:graphicFrame>
      <p:graphicFrame>
        <p:nvGraphicFramePr>
          <p:cNvPr id="47131" name="Object 27"/>
          <p:cNvGraphicFramePr>
            <a:graphicFrameLocks noChangeAspect="1"/>
          </p:cNvGraphicFramePr>
          <p:nvPr/>
        </p:nvGraphicFramePr>
        <p:xfrm>
          <a:off x="381000" y="4724400"/>
          <a:ext cx="8763000" cy="952500"/>
        </p:xfrm>
        <a:graphic>
          <a:graphicData uri="http://schemas.openxmlformats.org/presentationml/2006/ole">
            <p:oleObj spid="_x0000_s28675" name="文件" r:id="rId5" imgW="4916520" imgH="777240" progId="Word.Document.8">
              <p:embed/>
            </p:oleObj>
          </a:graphicData>
        </a:graphic>
      </p:graphicFrame>
      <p:graphicFrame>
        <p:nvGraphicFramePr>
          <p:cNvPr id="47132" name="Object 28"/>
          <p:cNvGraphicFramePr>
            <a:graphicFrameLocks noChangeAspect="1"/>
          </p:cNvGraphicFramePr>
          <p:nvPr/>
        </p:nvGraphicFramePr>
        <p:xfrm>
          <a:off x="6227763" y="2492375"/>
          <a:ext cx="1897062" cy="1092200"/>
        </p:xfrm>
        <a:graphic>
          <a:graphicData uri="http://schemas.openxmlformats.org/presentationml/2006/ole">
            <p:oleObj spid="_x0000_s28676" name="文件" r:id="rId6" imgW="1139760" imgH="657720" progId="Word.Document.8">
              <p:embed/>
            </p:oleObj>
          </a:graphicData>
        </a:graphic>
      </p:graphicFrame>
      <p:sp>
        <p:nvSpPr>
          <p:cNvPr id="47135" name="Text Box 31"/>
          <p:cNvSpPr txBox="1">
            <a:spLocks noChangeArrowheads="1"/>
          </p:cNvSpPr>
          <p:nvPr/>
        </p:nvSpPr>
        <p:spPr bwMode="auto">
          <a:xfrm>
            <a:off x="609600" y="5638800"/>
            <a:ext cx="6172200" cy="946150"/>
          </a:xfrm>
          <a:prstGeom prst="rect">
            <a:avLst/>
          </a:prstGeom>
          <a:noFill/>
          <a:ln w="9525">
            <a:noFill/>
            <a:miter lim="800000"/>
            <a:headEnd/>
            <a:tailEnd/>
          </a:ln>
          <a:effectLst/>
        </p:spPr>
        <p:txBody>
          <a:bodyPr>
            <a:spAutoFit/>
          </a:bodyPr>
          <a:lstStyle/>
          <a:p>
            <a:pPr>
              <a:spcBef>
                <a:spcPct val="50000"/>
              </a:spcBef>
            </a:pPr>
            <a:r>
              <a:rPr lang="en-US" altLang="zh-TW" u="sng">
                <a:solidFill>
                  <a:schemeClr val="hlink"/>
                </a:solidFill>
              </a:rPr>
              <a:t>Node I is a goal node</a:t>
            </a:r>
            <a:r>
              <a:rPr lang="en-US" altLang="zh-TW"/>
              <a:t>. Thus, the final solution has been obtained. </a:t>
            </a:r>
          </a:p>
        </p:txBody>
      </p:sp>
      <p:graphicFrame>
        <p:nvGraphicFramePr>
          <p:cNvPr id="47136" name="Object 32"/>
          <p:cNvGraphicFramePr>
            <a:graphicFrameLocks noChangeAspect="1"/>
          </p:cNvGraphicFramePr>
          <p:nvPr>
            <p:ph sz="half" idx="2"/>
          </p:nvPr>
        </p:nvGraphicFramePr>
        <p:xfrm>
          <a:off x="5334000" y="0"/>
          <a:ext cx="3810000" cy="2046288"/>
        </p:xfrm>
        <a:graphic>
          <a:graphicData uri="http://schemas.openxmlformats.org/presentationml/2006/ole">
            <p:oleObj spid="_x0000_s28677" r:id="rId7" imgW="4822857" imgH="2590476" progId="">
              <p:embed/>
            </p:oleObj>
          </a:graphicData>
        </a:graphic>
      </p:graphicFrame>
      <p:sp>
        <p:nvSpPr>
          <p:cNvPr id="12" name="文字方塊 11"/>
          <p:cNvSpPr txBox="1"/>
          <p:nvPr/>
        </p:nvSpPr>
        <p:spPr>
          <a:xfrm>
            <a:off x="1285852" y="6488692"/>
            <a:ext cx="5955476" cy="369332"/>
          </a:xfrm>
          <a:prstGeom prst="rect">
            <a:avLst/>
          </a:prstGeom>
          <a:noFill/>
        </p:spPr>
        <p:txBody>
          <a:bodyPr wrap="none" rtlCol="0">
            <a:spAutoFit/>
          </a:bodyPr>
          <a:lstStyle/>
          <a:p>
            <a:r>
              <a:rPr lang="zh-TW" altLang="en-US" dirty="0" smtClean="0">
                <a:latin typeface="標楷體" pitchFamily="65" charset="-120"/>
                <a:ea typeface="標楷體" pitchFamily="65" charset="-120"/>
              </a:rPr>
              <a:t>引用自 </a:t>
            </a:r>
            <a:r>
              <a:rPr lang="zh-TW" altLang="en-US" dirty="0" smtClean="0">
                <a:latin typeface="標楷體" pitchFamily="65" charset="-120"/>
                <a:ea typeface="標楷體" pitchFamily="65" charset="-120"/>
              </a:rPr>
              <a:t>楊昌彪老師 演算法設計與分析 第五章 </a:t>
            </a:r>
            <a:r>
              <a:rPr lang="en-US" altLang="zh-TW" dirty="0" smtClean="0">
                <a:latin typeface="標楷體" pitchFamily="65" charset="-120"/>
                <a:ea typeface="標楷體" pitchFamily="65" charset="-120"/>
              </a:rPr>
              <a:t>pp.35-41</a:t>
            </a:r>
            <a:endParaRPr lang="zh-TW" altLang="en-US" dirty="0">
              <a:latin typeface="標楷體" pitchFamily="65" charset="-120"/>
              <a:ea typeface="標楷體" pitchFamily="65" charset="-12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altLang="zh-TW" dirty="0" smtClean="0">
                <a:latin typeface="Times New Roman" pitchFamily="18" charset="0"/>
                <a:cs typeface="Times New Roman" pitchFamily="18" charset="0"/>
              </a:rPr>
              <a:t>Introduction</a:t>
            </a:r>
            <a:endParaRPr lang="zh-TW" altLang="en-US" dirty="0">
              <a:latin typeface="Times New Roman" pitchFamily="18" charset="0"/>
              <a:cs typeface="Times New Roman" pitchFamily="18" charset="0"/>
            </a:endParaRPr>
          </a:p>
        </p:txBody>
      </p:sp>
      <p:sp>
        <p:nvSpPr>
          <p:cNvPr id="3" name="內容版面配置區 2"/>
          <p:cNvSpPr>
            <a:spLocks noGrp="1"/>
          </p:cNvSpPr>
          <p:nvPr>
            <p:ph idx="1"/>
          </p:nvPr>
        </p:nvSpPr>
        <p:spPr>
          <a:xfrm>
            <a:off x="457200" y="1600200"/>
            <a:ext cx="8229600" cy="5114948"/>
          </a:xfrm>
        </p:spPr>
        <p:txBody>
          <a:bodyPr/>
          <a:lstStyle/>
          <a:p>
            <a:r>
              <a:rPr lang="en-US" altLang="zh-TW" dirty="0" smtClean="0">
                <a:latin typeface="Times New Roman" pitchFamily="18" charset="0"/>
                <a:cs typeface="Times New Roman" pitchFamily="18" charset="0"/>
              </a:rPr>
              <a:t>Heuristic algorithm</a:t>
            </a:r>
          </a:p>
          <a:p>
            <a:pPr lvl="1"/>
            <a:r>
              <a:rPr lang="en-US" altLang="zh-TW" dirty="0" smtClean="0">
                <a:latin typeface="Times New Roman" pitchFamily="18" charset="0"/>
                <a:cs typeface="Times New Roman" pitchFamily="18" charset="0"/>
              </a:rPr>
              <a:t>A*</a:t>
            </a:r>
          </a:p>
          <a:p>
            <a:pPr lvl="1"/>
            <a:r>
              <a:rPr lang="en-US" altLang="zh-TW" dirty="0" smtClean="0">
                <a:latin typeface="Times New Roman" pitchFamily="18" charset="0"/>
                <a:cs typeface="Times New Roman" pitchFamily="18" charset="0"/>
              </a:rPr>
              <a:t>IDA* (Iterative Deepening A*)</a:t>
            </a:r>
          </a:p>
          <a:p>
            <a:pPr lvl="1"/>
            <a:r>
              <a:rPr lang="en-US" altLang="zh-TW" dirty="0" smtClean="0">
                <a:latin typeface="Times New Roman" pitchFamily="18" charset="0"/>
                <a:cs typeface="Times New Roman" pitchFamily="18" charset="0"/>
              </a:rPr>
              <a:t>DCFA (Divide and Conquer Frontier A*)</a:t>
            </a: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altLang="zh-TW" dirty="0" smtClean="0">
                <a:latin typeface="Times New Roman" pitchFamily="18" charset="0"/>
                <a:cs typeface="Times New Roman" pitchFamily="18" charset="0"/>
              </a:rPr>
              <a:t>Introduction </a:t>
            </a:r>
            <a:endParaRPr lang="zh-TW" altLang="en-US" dirty="0">
              <a:latin typeface="Times New Roman" pitchFamily="18" charset="0"/>
              <a:cs typeface="Times New Roman" pitchFamily="18" charset="0"/>
            </a:endParaRPr>
          </a:p>
        </p:txBody>
      </p:sp>
      <p:sp>
        <p:nvSpPr>
          <p:cNvPr id="3" name="內容版面配置區 2"/>
          <p:cNvSpPr>
            <a:spLocks noGrp="1"/>
          </p:cNvSpPr>
          <p:nvPr>
            <p:ph idx="1"/>
          </p:nvPr>
        </p:nvSpPr>
        <p:spPr>
          <a:xfrm>
            <a:off x="457200" y="1571612"/>
            <a:ext cx="8229600" cy="5114948"/>
          </a:xfrm>
        </p:spPr>
        <p:txBody>
          <a:bodyPr/>
          <a:lstStyle/>
          <a:p>
            <a:r>
              <a:rPr lang="en-US" altLang="zh-TW" dirty="0" smtClean="0">
                <a:latin typeface="Times New Roman" pitchFamily="18" charset="0"/>
                <a:cs typeface="Times New Roman" pitchFamily="18" charset="0"/>
              </a:rPr>
              <a:t>Linear Bounded Diagonal Alignment </a:t>
            </a:r>
          </a:p>
          <a:p>
            <a:pPr>
              <a:buNone/>
            </a:pPr>
            <a:r>
              <a:rPr lang="en-US" altLang="zh-TW" dirty="0" smtClean="0">
                <a:latin typeface="Times New Roman" pitchFamily="18" charset="0"/>
                <a:cs typeface="Times New Roman" pitchFamily="18" charset="0"/>
              </a:rPr>
              <a:t>	(LBD-Align)</a:t>
            </a:r>
          </a:p>
        </p:txBody>
      </p:sp>
      <p:pic>
        <p:nvPicPr>
          <p:cNvPr id="4" name="圖片 3" descr="1.gif"/>
          <p:cNvPicPr>
            <a:picLocks noChangeAspect="1"/>
          </p:cNvPicPr>
          <p:nvPr/>
        </p:nvPicPr>
        <p:blipFill>
          <a:blip r:embed="rId2"/>
          <a:stretch>
            <a:fillRect/>
          </a:stretch>
        </p:blipFill>
        <p:spPr>
          <a:xfrm>
            <a:off x="785786" y="3000372"/>
            <a:ext cx="7810500" cy="3390900"/>
          </a:xfrm>
          <a:prstGeom prst="rect">
            <a:avLst/>
          </a:prstGeom>
        </p:spPr>
      </p:pic>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altLang="zh-TW" dirty="0" smtClean="0">
                <a:latin typeface="Times New Roman" pitchFamily="18" charset="0"/>
                <a:cs typeface="Times New Roman" pitchFamily="18" charset="0"/>
              </a:rPr>
              <a:t>Algorithm </a:t>
            </a:r>
            <a:endParaRPr lang="zh-TW" altLang="en-US" dirty="0">
              <a:latin typeface="Times New Roman" pitchFamily="18" charset="0"/>
              <a:cs typeface="Times New Roman" pitchFamily="18" charset="0"/>
            </a:endParaRPr>
          </a:p>
        </p:txBody>
      </p:sp>
      <p:sp>
        <p:nvSpPr>
          <p:cNvPr id="3" name="內容版面配置區 2"/>
          <p:cNvSpPr>
            <a:spLocks noGrp="1"/>
          </p:cNvSpPr>
          <p:nvPr>
            <p:ph idx="1"/>
          </p:nvPr>
        </p:nvSpPr>
        <p:spPr>
          <a:xfrm>
            <a:off x="457200" y="1600200"/>
            <a:ext cx="8229600" cy="5114948"/>
          </a:xfrm>
        </p:spPr>
        <p:txBody>
          <a:bodyPr/>
          <a:lstStyle/>
          <a:p>
            <a:r>
              <a:rPr lang="en-US" altLang="zh-TW" dirty="0" smtClean="0">
                <a:latin typeface="Times New Roman" pitchFamily="18" charset="0"/>
                <a:cs typeface="Times New Roman" pitchFamily="18" charset="0"/>
              </a:rPr>
              <a:t>How to compute bound (heuristic)</a:t>
            </a:r>
          </a:p>
          <a:p>
            <a:pPr lvl="1"/>
            <a:r>
              <a:rPr lang="en-US" altLang="zh-TW" dirty="0" smtClean="0">
                <a:latin typeface="Times New Roman" pitchFamily="18" charset="0"/>
                <a:cs typeface="Times New Roman" pitchFamily="18" charset="0"/>
              </a:rPr>
              <a:t>Lower bound</a:t>
            </a:r>
          </a:p>
          <a:p>
            <a:pPr lvl="2"/>
            <a:r>
              <a:rPr lang="en-US" altLang="zh-TW" dirty="0" smtClean="0">
                <a:latin typeface="Times New Roman" pitchFamily="18" charset="0"/>
                <a:cs typeface="Times New Roman" pitchFamily="18" charset="0"/>
              </a:rPr>
              <a:t>Diagonal heuristic</a:t>
            </a:r>
          </a:p>
          <a:p>
            <a:pPr lvl="2"/>
            <a:r>
              <a:rPr lang="en-US" altLang="zh-TW" dirty="0" smtClean="0">
                <a:latin typeface="Times New Roman" pitchFamily="18" charset="0"/>
                <a:cs typeface="Times New Roman" pitchFamily="18" charset="0"/>
              </a:rPr>
              <a:t>Greedy headlight</a:t>
            </a:r>
          </a:p>
          <a:p>
            <a:pPr lvl="1"/>
            <a:r>
              <a:rPr lang="en-US" altLang="zh-TW" dirty="0" smtClean="0">
                <a:latin typeface="Times New Roman" pitchFamily="18" charset="0"/>
                <a:cs typeface="Times New Roman" pitchFamily="18" charset="0"/>
              </a:rPr>
              <a:t>Upper bound</a:t>
            </a:r>
          </a:p>
          <a:p>
            <a:pPr lvl="2"/>
            <a:r>
              <a:rPr lang="en-US" altLang="zh-TW" dirty="0" smtClean="0">
                <a:latin typeface="Times New Roman" pitchFamily="18" charset="0"/>
                <a:cs typeface="Times New Roman" pitchFamily="18" charset="0"/>
              </a:rPr>
              <a:t>Compute the best score </a:t>
            </a:r>
            <a:br>
              <a:rPr lang="en-US" altLang="zh-TW" dirty="0" smtClean="0">
                <a:latin typeface="Times New Roman" pitchFamily="18" charset="0"/>
                <a:cs typeface="Times New Roman" pitchFamily="18" charset="0"/>
              </a:rPr>
            </a:br>
            <a:r>
              <a:rPr lang="en-US" altLang="zh-TW" dirty="0" smtClean="0">
                <a:latin typeface="Times New Roman" pitchFamily="18" charset="0"/>
                <a:cs typeface="Times New Roman" pitchFamily="18" charset="0"/>
              </a:rPr>
              <a:t>of </a:t>
            </a:r>
            <a:r>
              <a:rPr lang="en-US" altLang="zh-TW" dirty="0" smtClean="0">
                <a:latin typeface="Times New Roman" pitchFamily="18" charset="0"/>
                <a:cs typeface="Times New Roman" pitchFamily="18" charset="0"/>
              </a:rPr>
              <a:t>remaining </a:t>
            </a:r>
            <a:r>
              <a:rPr lang="en-US" altLang="zh-TW" dirty="0" smtClean="0">
                <a:latin typeface="Times New Roman" pitchFamily="18" charset="0"/>
                <a:cs typeface="Times New Roman" pitchFamily="18" charset="0"/>
              </a:rPr>
              <a:t>characters </a:t>
            </a:r>
          </a:p>
          <a:p>
            <a:pPr lvl="1"/>
            <a:endParaRPr lang="en-US" altLang="zh-TW" dirty="0" smtClean="0">
              <a:latin typeface="Times New Roman" pitchFamily="18" charset="0"/>
              <a:cs typeface="Times New Roman" pitchFamily="18" charset="0"/>
            </a:endParaRPr>
          </a:p>
        </p:txBody>
      </p:sp>
      <p:pic>
        <p:nvPicPr>
          <p:cNvPr id="4" name="圖片 3" descr="6.gif"/>
          <p:cNvPicPr>
            <a:picLocks noChangeAspect="1"/>
          </p:cNvPicPr>
          <p:nvPr/>
        </p:nvPicPr>
        <p:blipFill>
          <a:blip r:embed="rId2"/>
          <a:stretch>
            <a:fillRect/>
          </a:stretch>
        </p:blipFill>
        <p:spPr>
          <a:xfrm>
            <a:off x="4938739" y="2857496"/>
            <a:ext cx="3633789" cy="3492081"/>
          </a:xfrm>
          <a:prstGeom prst="rect">
            <a:avLst/>
          </a:prstGeom>
        </p:spPr>
      </p:pic>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altLang="zh-TW" dirty="0" smtClean="0">
                <a:latin typeface="Times New Roman" pitchFamily="18" charset="0"/>
                <a:cs typeface="Times New Roman" pitchFamily="18" charset="0"/>
              </a:rPr>
              <a:t>Algorithm – DCLBD-Align </a:t>
            </a:r>
            <a:endParaRPr lang="zh-TW" altLang="en-US" dirty="0">
              <a:latin typeface="Times New Roman" pitchFamily="18" charset="0"/>
              <a:cs typeface="Times New Roman" pitchFamily="18" charset="0"/>
            </a:endParaRPr>
          </a:p>
        </p:txBody>
      </p:sp>
      <p:sp>
        <p:nvSpPr>
          <p:cNvPr id="3" name="內容版面配置區 2"/>
          <p:cNvSpPr>
            <a:spLocks noGrp="1"/>
          </p:cNvSpPr>
          <p:nvPr>
            <p:ph idx="1"/>
          </p:nvPr>
        </p:nvSpPr>
        <p:spPr>
          <a:xfrm>
            <a:off x="457200" y="1600200"/>
            <a:ext cx="8229600" cy="5114948"/>
          </a:xfrm>
        </p:spPr>
        <p:txBody>
          <a:bodyPr/>
          <a:lstStyle/>
          <a:p>
            <a:r>
              <a:rPr lang="en-US" altLang="zh-TW" dirty="0" smtClean="0">
                <a:latin typeface="Times New Roman" pitchFamily="18" charset="0"/>
                <a:cs typeface="Times New Roman" pitchFamily="18" charset="0"/>
              </a:rPr>
              <a:t>Divide and Conquer Linear Bounded Diagonal Alignment</a:t>
            </a:r>
          </a:p>
        </p:txBody>
      </p:sp>
      <p:pic>
        <p:nvPicPr>
          <p:cNvPr id="5" name="圖片 4" descr="2.gif"/>
          <p:cNvPicPr>
            <a:picLocks noChangeAspect="1"/>
          </p:cNvPicPr>
          <p:nvPr/>
        </p:nvPicPr>
        <p:blipFill>
          <a:blip r:embed="rId2"/>
          <a:stretch>
            <a:fillRect/>
          </a:stretch>
        </p:blipFill>
        <p:spPr>
          <a:xfrm>
            <a:off x="642910" y="3143248"/>
            <a:ext cx="7810500" cy="2952750"/>
          </a:xfrm>
          <a:prstGeom prst="rect">
            <a:avLst/>
          </a:prstGeom>
        </p:spPr>
      </p:pic>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altLang="zh-TW" dirty="0" smtClean="0">
                <a:latin typeface="Times New Roman" pitchFamily="18" charset="0"/>
                <a:cs typeface="Times New Roman" pitchFamily="18" charset="0"/>
              </a:rPr>
              <a:t>Experiments</a:t>
            </a:r>
            <a:endParaRPr lang="zh-TW" altLang="en-US" dirty="0">
              <a:latin typeface="Times New Roman" pitchFamily="18" charset="0"/>
              <a:cs typeface="Times New Roman" pitchFamily="18" charset="0"/>
            </a:endParaRPr>
          </a:p>
        </p:txBody>
      </p:sp>
      <p:pic>
        <p:nvPicPr>
          <p:cNvPr id="6" name="內容版面配置區 5" descr="3.gif"/>
          <p:cNvPicPr>
            <a:picLocks noGrp="1" noChangeAspect="1"/>
          </p:cNvPicPr>
          <p:nvPr>
            <p:ph idx="1"/>
          </p:nvPr>
        </p:nvPicPr>
        <p:blipFill>
          <a:blip r:embed="rId2"/>
          <a:stretch>
            <a:fillRect/>
          </a:stretch>
        </p:blipFill>
        <p:spPr>
          <a:xfrm>
            <a:off x="919422" y="2000240"/>
            <a:ext cx="7438792" cy="3286148"/>
          </a:xfrm>
        </p:spPr>
      </p:pic>
      <p:sp>
        <p:nvSpPr>
          <p:cNvPr id="8" name="橢圓 7"/>
          <p:cNvSpPr/>
          <p:nvPr/>
        </p:nvSpPr>
        <p:spPr>
          <a:xfrm>
            <a:off x="2214546" y="3786190"/>
            <a:ext cx="1285884" cy="428628"/>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橢圓 8"/>
          <p:cNvSpPr/>
          <p:nvPr/>
        </p:nvSpPr>
        <p:spPr>
          <a:xfrm>
            <a:off x="3428992" y="3786190"/>
            <a:ext cx="1285884" cy="428628"/>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 name="橢圓 9"/>
          <p:cNvSpPr/>
          <p:nvPr/>
        </p:nvSpPr>
        <p:spPr>
          <a:xfrm>
            <a:off x="7143768" y="3071810"/>
            <a:ext cx="1285884" cy="428628"/>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altLang="zh-TW" dirty="0" smtClean="0">
                <a:latin typeface="Times New Roman" pitchFamily="18" charset="0"/>
                <a:cs typeface="Times New Roman" pitchFamily="18" charset="0"/>
              </a:rPr>
              <a:t>Experiments</a:t>
            </a:r>
            <a:endParaRPr lang="zh-TW" altLang="en-US" dirty="0">
              <a:latin typeface="Times New Roman" pitchFamily="18" charset="0"/>
              <a:cs typeface="Times New Roman" pitchFamily="18" charset="0"/>
            </a:endParaRPr>
          </a:p>
        </p:txBody>
      </p:sp>
      <p:pic>
        <p:nvPicPr>
          <p:cNvPr id="9" name="內容版面配置區 8" descr="4.gif"/>
          <p:cNvPicPr>
            <a:picLocks noGrp="1" noChangeAspect="1"/>
          </p:cNvPicPr>
          <p:nvPr>
            <p:ph idx="1"/>
          </p:nvPr>
        </p:nvPicPr>
        <p:blipFill>
          <a:blip r:embed="rId2"/>
          <a:stretch>
            <a:fillRect/>
          </a:stretch>
        </p:blipFill>
        <p:spPr>
          <a:xfrm>
            <a:off x="5214942" y="357166"/>
            <a:ext cx="3356267" cy="3311517"/>
          </a:xfrm>
        </p:spPr>
      </p:pic>
      <p:pic>
        <p:nvPicPr>
          <p:cNvPr id="8" name="圖片 7" descr="7.gif"/>
          <p:cNvPicPr>
            <a:picLocks noChangeAspect="1"/>
          </p:cNvPicPr>
          <p:nvPr/>
        </p:nvPicPr>
        <p:blipFill>
          <a:blip r:embed="rId3"/>
          <a:stretch>
            <a:fillRect/>
          </a:stretch>
        </p:blipFill>
        <p:spPr>
          <a:xfrm>
            <a:off x="785786" y="1357298"/>
            <a:ext cx="4214810" cy="1469383"/>
          </a:xfrm>
          <a:prstGeom prst="rect">
            <a:avLst/>
          </a:prstGeom>
        </p:spPr>
      </p:pic>
      <p:pic>
        <p:nvPicPr>
          <p:cNvPr id="11" name="圖片 10" descr="5.gif"/>
          <p:cNvPicPr>
            <a:picLocks noChangeAspect="1"/>
          </p:cNvPicPr>
          <p:nvPr/>
        </p:nvPicPr>
        <p:blipFill>
          <a:blip r:embed="rId4"/>
          <a:stretch>
            <a:fillRect/>
          </a:stretch>
        </p:blipFill>
        <p:spPr>
          <a:xfrm>
            <a:off x="2928926" y="3969740"/>
            <a:ext cx="6119828" cy="2888260"/>
          </a:xfrm>
          <a:prstGeom prst="rect">
            <a:avLst/>
          </a:prstGeom>
        </p:spPr>
      </p:pic>
      <p:sp>
        <p:nvSpPr>
          <p:cNvPr id="12" name="文字方塊 11"/>
          <p:cNvSpPr txBox="1"/>
          <p:nvPr/>
        </p:nvSpPr>
        <p:spPr>
          <a:xfrm>
            <a:off x="214282" y="4929198"/>
            <a:ext cx="2635530" cy="646331"/>
          </a:xfrm>
          <a:prstGeom prst="rect">
            <a:avLst/>
          </a:prstGeom>
          <a:noFill/>
        </p:spPr>
        <p:txBody>
          <a:bodyPr wrap="none" rtlCol="0">
            <a:spAutoFit/>
          </a:bodyPr>
          <a:lstStyle/>
          <a:p>
            <a:r>
              <a:rPr lang="en-US" altLang="zh-TW" dirty="0" smtClean="0"/>
              <a:t>Left : no gap extension</a:t>
            </a:r>
          </a:p>
          <a:p>
            <a:r>
              <a:rPr lang="en-US" altLang="zh-TW" dirty="0" smtClean="0"/>
              <a:t>Right :</a:t>
            </a:r>
            <a:r>
              <a:rPr lang="zh-TW" altLang="en-US" dirty="0" smtClean="0"/>
              <a:t> </a:t>
            </a:r>
            <a:r>
              <a:rPr lang="en-US" altLang="zh-TW" dirty="0" smtClean="0"/>
              <a:t>have gap extension</a:t>
            </a:r>
            <a:endParaRPr lang="zh-TW" altLang="en-US" dirty="0"/>
          </a:p>
        </p:txBody>
      </p:sp>
      <p:sp>
        <p:nvSpPr>
          <p:cNvPr id="13" name="文字方塊 12"/>
          <p:cNvSpPr txBox="1"/>
          <p:nvPr/>
        </p:nvSpPr>
        <p:spPr>
          <a:xfrm flipH="1">
            <a:off x="831505" y="2928934"/>
            <a:ext cx="4169123" cy="646331"/>
          </a:xfrm>
          <a:prstGeom prst="rect">
            <a:avLst/>
          </a:prstGeom>
          <a:noFill/>
        </p:spPr>
        <p:txBody>
          <a:bodyPr wrap="square" rtlCol="0">
            <a:spAutoFit/>
          </a:bodyPr>
          <a:lstStyle/>
          <a:p>
            <a:r>
              <a:rPr lang="en-US" altLang="zh-TW" dirty="0" smtClean="0"/>
              <a:t>Black : optimal lower bound search region</a:t>
            </a:r>
          </a:p>
          <a:p>
            <a:r>
              <a:rPr lang="en-US" altLang="zh-TW" dirty="0" smtClean="0"/>
              <a:t>Gray : diagonal lower bound search region</a:t>
            </a:r>
            <a:endParaRPr lang="zh-TW" altLang="en-US"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3181</TotalTime>
  <Words>1150</Words>
  <Application>Microsoft Office PowerPoint</Application>
  <PresentationFormat>如螢幕大小 (4:3)</PresentationFormat>
  <Paragraphs>491</Paragraphs>
  <Slides>40</Slides>
  <Notes>13</Notes>
  <HiddenSlides>0</HiddenSlides>
  <MMClips>0</MMClips>
  <ScaleCrop>false</ScaleCrop>
  <HeadingPairs>
    <vt:vector size="6" baseType="variant">
      <vt:variant>
        <vt:lpstr>佈景主題</vt:lpstr>
      </vt:variant>
      <vt:variant>
        <vt:i4>1</vt:i4>
      </vt:variant>
      <vt:variant>
        <vt:lpstr>內嵌 OLE 伺服程式</vt:lpstr>
      </vt:variant>
      <vt:variant>
        <vt:i4>3</vt:i4>
      </vt:variant>
      <vt:variant>
        <vt:lpstr>投影片標題</vt:lpstr>
      </vt:variant>
      <vt:variant>
        <vt:i4>40</vt:i4>
      </vt:variant>
    </vt:vector>
  </HeadingPairs>
  <TitlesOfParts>
    <vt:vector size="44" baseType="lpstr">
      <vt:lpstr>Office 佈景主題</vt:lpstr>
      <vt:lpstr>Equation</vt:lpstr>
      <vt:lpstr>文件</vt:lpstr>
      <vt:lpstr>點陣圖影像</vt:lpstr>
      <vt:lpstr>Fast Optimal Alignment</vt:lpstr>
      <vt:lpstr>Abstract(1/2)</vt:lpstr>
      <vt:lpstr>Abstract(2/2)</vt:lpstr>
      <vt:lpstr>Introduction</vt:lpstr>
      <vt:lpstr>Introduction – DP formula </vt:lpstr>
      <vt:lpstr>Introduction – Optimal algorithm</vt:lpstr>
      <vt:lpstr>Algorithm </vt:lpstr>
      <vt:lpstr>Algorithm </vt:lpstr>
      <vt:lpstr>Algorithm </vt:lpstr>
      <vt:lpstr>Algorithm </vt:lpstr>
      <vt:lpstr>Algorithm </vt:lpstr>
      <vt:lpstr>Algorithm </vt:lpstr>
      <vt:lpstr>Algorithm </vt:lpstr>
      <vt:lpstr>Algorithm </vt:lpstr>
      <vt:lpstr>Algorithm </vt:lpstr>
      <vt:lpstr>Algorithm </vt:lpstr>
      <vt:lpstr>Algorithm </vt:lpstr>
      <vt:lpstr>Algorithm </vt:lpstr>
      <vt:lpstr>Conclusion</vt:lpstr>
      <vt:lpstr>A Fast Pruning Algorithm for Optimal Sequence Alignment</vt:lpstr>
      <vt:lpstr>Abstract(1/2)</vt:lpstr>
      <vt:lpstr>Abstract(2/2)</vt:lpstr>
      <vt:lpstr>Introduction</vt:lpstr>
      <vt:lpstr>Introduction – Hirschberg </vt:lpstr>
      <vt:lpstr>Hirschberg algorithm</vt:lpstr>
      <vt:lpstr>Hirschberg algorithm</vt:lpstr>
      <vt:lpstr>Introduction</vt:lpstr>
      <vt:lpstr>An example for A* algorithm</vt:lpstr>
      <vt:lpstr>投影片 29</vt:lpstr>
      <vt:lpstr>投影片 30</vt:lpstr>
      <vt:lpstr>投影片 31</vt:lpstr>
      <vt:lpstr>投影片 32</vt:lpstr>
      <vt:lpstr>投影片 33</vt:lpstr>
      <vt:lpstr>投影片 34</vt:lpstr>
      <vt:lpstr>Introduction</vt:lpstr>
      <vt:lpstr>Introduction </vt:lpstr>
      <vt:lpstr>Algorithm </vt:lpstr>
      <vt:lpstr>Algorithm – DCLBD-Align </vt:lpstr>
      <vt:lpstr>Experiments</vt:lpstr>
      <vt:lpstr>Experiments</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Indexed Dynamic Programming to Boost Edit Distance and LCSS Computation</dc:title>
  <dc:creator>阿修</dc:creator>
  <cp:lastModifiedBy>rshow</cp:lastModifiedBy>
  <cp:revision>166</cp:revision>
  <dcterms:created xsi:type="dcterms:W3CDTF">2019-09-15T07:43:36Z</dcterms:created>
  <dcterms:modified xsi:type="dcterms:W3CDTF">2020-11-24T07:36:47Z</dcterms:modified>
</cp:coreProperties>
</file>