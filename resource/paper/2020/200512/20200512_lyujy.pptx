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3" r:id="rId3"/>
    <p:sldId id="257" r:id="rId4"/>
    <p:sldId id="341" r:id="rId5"/>
    <p:sldId id="338" r:id="rId6"/>
    <p:sldId id="339" r:id="rId7"/>
    <p:sldId id="283" r:id="rId8"/>
    <p:sldId id="31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" initials="l" lastIdx="2" clrIdx="0">
    <p:extLst>
      <p:ext uri="{19B8F6BF-5375-455C-9EA6-DF929625EA0E}">
        <p15:presenceInfo xmlns:p15="http://schemas.microsoft.com/office/powerpoint/2012/main" userId="l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235" autoAdjust="0"/>
  </p:normalViewPr>
  <p:slideViewPr>
    <p:cSldViewPr snapToGrid="0">
      <p:cViewPr varScale="1">
        <p:scale>
          <a:sx n="68" d="100"/>
          <a:sy n="68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F1585-2514-4ABD-9D02-307B86E5C09C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77D1C-3D7C-420B-BCA3-33BEDD3D5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945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921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542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0397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827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283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792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FD9DDC-1562-41E3-9F1A-6464E55FA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DFE20D-93A5-46C2-A49A-F0C15C370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469C4C-F457-4167-B363-FB6DD59D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FC6E50-6AB9-4105-98EF-724B3C00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50C054-D98D-4C90-938F-17BEFCE8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87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533DA1-7165-4DF5-971F-78735A9CE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257B16-48F3-4742-8243-9C7ED79E7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8E6861-BAD9-4B1E-B7CC-ED4F8B71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06F4B5-A649-474C-8BFE-57517ED0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8F86C2-A14C-422A-8FC6-1D63EF61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614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4346D0-9FE7-4F7E-985A-585F1F59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063CD7-FE57-450D-939C-29084736A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CE3ACB-7971-48F1-9875-489AE894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413690-EB95-4432-8BFC-09F929C3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4FA246-600E-4025-B715-2485B36E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19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C1659F-69D8-4B85-B7A6-F42E1F3A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EBF960-4F47-46F0-89DB-C64F0F1E1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16245D3-5283-415A-84E2-E6274B6E0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2DDA930-81B0-4724-B815-F2EBD1DC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39B2AB0-21DB-4DB7-82C3-46F676AE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97DCFC-9953-4E19-A454-CA08295F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866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60DB38-9964-45C8-A1EF-D1F8C2A33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9A4D11-828E-4CB5-A6AE-5F8FA90F4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DEDA618-7B28-4B92-955D-D9F57DA00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B7155B0-41F4-4173-8A9E-AC97385B0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E9D421D-015E-480B-A473-59B674316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161ED9B-DFA5-480A-AD88-6DFF046F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3B77038-7B39-4853-9220-09E92BEB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27B11AF-87CE-457B-9D69-58137A50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18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3FC20B-A168-4787-91C9-454E6B2B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2DA7D75-DCEA-4D5F-817A-1F7601700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E420462-1E6B-4811-A101-C24EE185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5204FD-F249-467A-809E-2B53F765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81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0AA5AFE-F983-4BD0-A86F-D18589BB0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AE15BC6-0BDC-4D5E-B093-968EA5FD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1BFC94-F3F4-4DC3-AAE4-BC932631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472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77FD33-544D-451E-8F35-6516C626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37D552-228A-402E-AE3D-2AEAE23C9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5E0435F-1CA3-499B-A972-EE4FA12CA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189A80C-0898-442B-A9DB-6CE747D9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1EF31A-4A67-484F-8573-1D1F63C1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DADBDA-C04D-4B1F-9E13-78437268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76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19C6B2-1FC1-4D82-AE09-83971387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53A6602-82D6-4233-AD5A-DC49828316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F7135F2-2932-4070-9CCA-6213EFE68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D3864F-50D1-4DBD-A5B6-1645AA45E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59F5A93-207A-45A5-9BEC-53C28FF8F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103368-FB4E-41AE-811C-7BC7ADAFC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169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9C4861-2A8C-4410-8E4A-4441FC13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1ED451D-7435-47B8-AA6C-87B8EEA20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A2253F-98FC-4AD8-AB1E-608801808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D5CBA-DDC5-46C6-9551-77D0E481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21B7B3-C52D-4681-8005-1EC96B7E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538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702BAFC-3D18-4325-B382-BF4148468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D2FEE02-A709-4FB0-9DDE-940FDB4B6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DB4D53-3EC7-453D-BD90-F21F29EA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4CA5CE-17CD-419F-8C13-16D273AF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B6B85C-8189-47A7-8D84-0B8FD90A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8974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C2E46CB-D80A-4DE1-9C2C-DBEB59D1D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01FB3C-2F61-41E2-A419-5D2378D7B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1DBDDA-1C0E-4B2A-A31E-1956DBF26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B6366-6E92-4855-9B33-10136FFB9F55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20D0D2-BA69-4AB7-97C4-062135932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4B1C00-4FD7-4FEA-B3B1-0FC209581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51D2F-49B7-459E-9DAE-281F9066C6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729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BD277-3DCF-4084-9E03-BF06B086F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552" y="357189"/>
            <a:ext cx="10979804" cy="1826615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Disease Frequency-based Measure for Finding Candidate Target Genes from the Biomedical Literature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FF96485-B26C-4B59-B13D-880AA0BD6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878" y="2183804"/>
            <a:ext cx="10979804" cy="1697113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r>
              <a:rPr lang="en-US" altLang="zh-TW" sz="2800" dirty="0" err="1"/>
              <a:t>Yeondae</a:t>
            </a:r>
            <a:r>
              <a:rPr lang="en-US" altLang="zh-TW" sz="2800" dirty="0"/>
              <a:t> Kwon, Hideaki Sugawara, Shogo Shimizu, Satoru Miyazaki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64AE8193-1DE0-47D4-9DBB-4734B89CA666}"/>
              </a:ext>
            </a:extLst>
          </p:cNvPr>
          <p:cNvSpPr txBox="1">
            <a:spLocks/>
          </p:cNvSpPr>
          <p:nvPr/>
        </p:nvSpPr>
        <p:spPr>
          <a:xfrm>
            <a:off x="367552" y="3987993"/>
            <a:ext cx="11591366" cy="1381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2011 International Conference on Complex, Intelligent, and Software Intensive Systems, 2011, Pages 524 - 529, Seoul, South Korea</a:t>
            </a: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83311FB5-1C7C-4049-9C63-3A86A28231CF}"/>
              </a:ext>
            </a:extLst>
          </p:cNvPr>
          <p:cNvSpPr txBox="1">
            <a:spLocks/>
          </p:cNvSpPr>
          <p:nvPr/>
        </p:nvSpPr>
        <p:spPr>
          <a:xfrm>
            <a:off x="8616875" y="5526721"/>
            <a:ext cx="2893807" cy="83099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Speaker: Jheng-Yan Lyu</a:t>
            </a:r>
          </a:p>
          <a:p>
            <a:pPr algn="r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May 12, 2020</a:t>
            </a:r>
          </a:p>
        </p:txBody>
      </p:sp>
    </p:spTree>
    <p:extLst>
      <p:ext uri="{BB962C8B-B14F-4D97-AF65-F5344CB8AC3E}">
        <p14:creationId xmlns:p14="http://schemas.microsoft.com/office/powerpoint/2010/main" val="301494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913" y="27469"/>
            <a:ext cx="7886700" cy="74281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878CA31B-C758-4215-B281-353CA02EC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460" y="584551"/>
            <a:ext cx="11370610" cy="613692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identification of the side-effects of chemicals is the serious and costly stage in the drug development. Most side-effects are caused by their toxicity and also their correlation with other diseases than target diseases. We present a novel measure that identifies disease-associated genes from the biomedical literature in terms of causing less side-effects. This enables the identification of specific disease-associated genes, the decreased expression of which would result in a lower probability of side-effects, thus contributing to efficient drug development. Our method evaluates the specificity of a gene to a particular disease based on the number of associated diseases with the gene. In addition, we consider transitive gene-disease associations, that is, indirect gene-disease associations via intermediate genes. </a:t>
            </a:r>
          </a:p>
        </p:txBody>
      </p:sp>
    </p:spTree>
    <p:extLst>
      <p:ext uri="{BB962C8B-B14F-4D97-AF65-F5344CB8AC3E}">
        <p14:creationId xmlns:p14="http://schemas.microsoft.com/office/powerpoint/2010/main" val="159506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71" y="145695"/>
            <a:ext cx="7886700" cy="74281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(2/2)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878CA31B-C758-4215-B281-353CA02EC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71" y="888513"/>
            <a:ext cx="11455990" cy="565213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Gene-disease associations are extracted from the PubMed abstracts based on term co-occurrences. Also, we discuss the ranking results for Alzheimer disease and various cancers to verify the effectiveness of our measure.</a:t>
            </a:r>
            <a:endParaRPr lang="en-US" altLang="zh-TW" sz="2600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7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552"/>
            <a:ext cx="10844604" cy="729274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Dictionaries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B3B369A4-994D-4FC9-B14F-FC14ACB6A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1826"/>
            <a:ext cx="10633038" cy="4929076"/>
          </a:xfrm>
        </p:spPr>
        <p:txBody>
          <a:bodyPr/>
          <a:lstStyle/>
          <a:p>
            <a:r>
              <a:rPr lang="en-US" altLang="zh-TW" dirty="0"/>
              <a:t>Gene dictionary</a:t>
            </a:r>
          </a:p>
          <a:p>
            <a:r>
              <a:rPr lang="en-US" altLang="zh-TW" dirty="0"/>
              <a:t>Disease dictionary</a:t>
            </a:r>
          </a:p>
          <a:p>
            <a:r>
              <a:rPr lang="en-US" altLang="zh-TW" dirty="0"/>
              <a:t>APP(Amyloid Precursor Protein)(</a:t>
            </a:r>
            <a:r>
              <a:rPr lang="zh-TW" altLang="en-US" dirty="0"/>
              <a:t>前類澱粉蛋白質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6" name="圖片 5" descr="一張含有 螢幕擷取畫面, 房間 的圖片&#10;&#10;自動產生的描述">
            <a:extLst>
              <a:ext uri="{FF2B5EF4-FFF2-40B4-BE49-F238E27FC236}">
                <a16:creationId xmlns:a16="http://schemas.microsoft.com/office/drawing/2014/main" id="{5FA58515-5AE9-435D-AB98-5A656970A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367" y="2997871"/>
            <a:ext cx="9544270" cy="342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7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552"/>
            <a:ext cx="10844604" cy="729274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Dictionaries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3AB20B9-2272-4D21-B43C-DFBF548B8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IMPACT (imprinted and ancient gene protein homolog)</a:t>
            </a:r>
          </a:p>
          <a:p>
            <a:r>
              <a:rPr lang="en-US" altLang="zh-TW" dirty="0"/>
              <a:t>LARGE (like-acetylglucosaminyltransferase)</a:t>
            </a:r>
            <a:endParaRPr lang="zh-TW" altLang="en-US" dirty="0"/>
          </a:p>
        </p:txBody>
      </p:sp>
      <p:pic>
        <p:nvPicPr>
          <p:cNvPr id="7" name="圖片 6" descr="一張含有 個人, 螢幕擷取畫面, 相片 的圖片&#10;&#10;自動產生的描述">
            <a:extLst>
              <a:ext uri="{FF2B5EF4-FFF2-40B4-BE49-F238E27FC236}">
                <a16:creationId xmlns:a16="http://schemas.microsoft.com/office/drawing/2014/main" id="{962CD856-E39B-419E-B7D4-83335AF45A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16" y="2754863"/>
            <a:ext cx="8415372" cy="414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27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552"/>
            <a:ext cx="10844604" cy="729274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Associations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B3B369A4-994D-4FC9-B14F-FC14ACB6A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3" y="1471744"/>
            <a:ext cx="7100887" cy="5143369"/>
          </a:xfrm>
        </p:spPr>
        <p:txBody>
          <a:bodyPr/>
          <a:lstStyle/>
          <a:p>
            <a:r>
              <a:rPr lang="en-US" altLang="zh-TW" dirty="0"/>
              <a:t> n(</a:t>
            </a:r>
            <a:r>
              <a:rPr lang="en-US" altLang="zh-TW" i="1" dirty="0"/>
              <a:t>d</a:t>
            </a:r>
            <a:r>
              <a:rPr lang="en-US" altLang="zh-TW" dirty="0"/>
              <a:t>, </a:t>
            </a:r>
            <a:r>
              <a:rPr lang="en-US" altLang="zh-TW" i="1" dirty="0"/>
              <a:t>g</a:t>
            </a:r>
            <a:r>
              <a:rPr lang="en-US" altLang="zh-TW" dirty="0"/>
              <a:t>) denotes the number of documents in which d and g co-occur</a:t>
            </a:r>
          </a:p>
          <a:p>
            <a:r>
              <a:rPr lang="en-US" altLang="zh-TW" i="1" dirty="0"/>
              <a:t>ad</a:t>
            </a:r>
            <a:r>
              <a:rPr lang="en-US" altLang="zh-TW" dirty="0"/>
              <a:t>(g) be the number of diseases sufficiently associated with gene g.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576AE50-23EC-469B-886B-FDD286223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645" y="3397936"/>
            <a:ext cx="4461397" cy="1531304"/>
          </a:xfrm>
          <a:prstGeom prst="rect">
            <a:avLst/>
          </a:prstGeom>
        </p:spPr>
      </p:pic>
      <p:pic>
        <p:nvPicPr>
          <p:cNvPr id="8" name="圖片 7" descr="一張含有 桌 的圖片&#10;&#10;自動產生的描述">
            <a:extLst>
              <a:ext uri="{FF2B5EF4-FFF2-40B4-BE49-F238E27FC236}">
                <a16:creationId xmlns:a16="http://schemas.microsoft.com/office/drawing/2014/main" id="{BCD88B1D-7D1A-4C1D-8E09-BCE097A2FB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970" y="5239159"/>
            <a:ext cx="5305925" cy="1222232"/>
          </a:xfrm>
          <a:prstGeom prst="rect">
            <a:avLst/>
          </a:prstGeom>
        </p:spPr>
      </p:pic>
      <p:pic>
        <p:nvPicPr>
          <p:cNvPr id="10" name="圖片 9" descr="一張含有 物件, 紅色, 時鐘, 標誌 的圖片&#10;&#10;自動產生的描述">
            <a:extLst>
              <a:ext uri="{FF2B5EF4-FFF2-40B4-BE49-F238E27FC236}">
                <a16:creationId xmlns:a16="http://schemas.microsoft.com/office/drawing/2014/main" id="{DFB9B532-0C55-4E56-BCB3-64AA5F2B64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352" y="1471744"/>
            <a:ext cx="4853690" cy="153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9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552"/>
            <a:ext cx="10844604" cy="729274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Associations via Intermediate Genes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BD5FDB03-2FA6-47BC-B653-65FCD33CC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992" y="1367964"/>
            <a:ext cx="6917209" cy="1110651"/>
          </a:xfrm>
        </p:spPr>
      </p:pic>
      <p:pic>
        <p:nvPicPr>
          <p:cNvPr id="11" name="圖片 10" descr="一張含有 時鐘 的圖片&#10;&#10;自動產生的描述">
            <a:extLst>
              <a:ext uri="{FF2B5EF4-FFF2-40B4-BE49-F238E27FC236}">
                <a16:creationId xmlns:a16="http://schemas.microsoft.com/office/drawing/2014/main" id="{F3E0BCE2-402E-41FD-A66C-8AD2CAED5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1" y="1073559"/>
            <a:ext cx="5608611" cy="1405056"/>
          </a:xfrm>
          <a:prstGeom prst="rect">
            <a:avLst/>
          </a:prstGeom>
        </p:spPr>
      </p:pic>
      <p:pic>
        <p:nvPicPr>
          <p:cNvPr id="9" name="圖片 8" descr="一張含有 文字 的圖片&#10;&#10;自動產生的描述">
            <a:extLst>
              <a:ext uri="{FF2B5EF4-FFF2-40B4-BE49-F238E27FC236}">
                <a16:creationId xmlns:a16="http://schemas.microsoft.com/office/drawing/2014/main" id="{FCDE26DF-74DB-433F-A435-A3325C35A6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494" y="2428876"/>
            <a:ext cx="7421011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446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552"/>
            <a:ext cx="9188988" cy="833020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CEFDD42-C38A-415E-865C-0736322A3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489" y="79385"/>
            <a:ext cx="7208261" cy="6699230"/>
          </a:xfrm>
        </p:spPr>
      </p:pic>
    </p:spTree>
    <p:extLst>
      <p:ext uri="{BB962C8B-B14F-4D97-AF65-F5344CB8AC3E}">
        <p14:creationId xmlns:p14="http://schemas.microsoft.com/office/powerpoint/2010/main" val="4221497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8922</TotalTime>
  <Words>315</Words>
  <Application>Microsoft Office PowerPoint</Application>
  <PresentationFormat>寬螢幕</PresentationFormat>
  <Paragraphs>36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佈景主題</vt:lpstr>
      <vt:lpstr>Associated Disease Frequency-based Measure for Finding Candidate Target Genes from the Biomedical Literature</vt:lpstr>
      <vt:lpstr>Abstract (1/2)</vt:lpstr>
      <vt:lpstr>Abstract (2/2)</vt:lpstr>
      <vt:lpstr>Term Dictionaries</vt:lpstr>
      <vt:lpstr>Term Dictionaries</vt:lpstr>
      <vt:lpstr>Measuring Associations</vt:lpstr>
      <vt:lpstr>Indirect Associations via Intermediate Genes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and Accurate Template Averaging for Time Series Classification</dc:title>
  <dc:creator>lu</dc:creator>
  <cp:lastModifiedBy>pplab</cp:lastModifiedBy>
  <cp:revision>1866</cp:revision>
  <dcterms:created xsi:type="dcterms:W3CDTF">2018-10-30T09:09:31Z</dcterms:created>
  <dcterms:modified xsi:type="dcterms:W3CDTF">2020-05-12T10:36:30Z</dcterms:modified>
</cp:coreProperties>
</file>