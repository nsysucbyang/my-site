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8" r:id="rId3"/>
    <p:sldId id="285" r:id="rId4"/>
    <p:sldId id="280" r:id="rId5"/>
    <p:sldId id="281" r:id="rId6"/>
    <p:sldId id="284" r:id="rId7"/>
    <p:sldId id="286" r:id="rId8"/>
    <p:sldId id="283" r:id="rId9"/>
    <p:sldId id="279" r:id="rId10"/>
    <p:sldId id="287" r:id="rId11"/>
    <p:sldId id="288" r:id="rId12"/>
    <p:sldId id="260" r:id="rId13"/>
    <p:sldId id="278" r:id="rId14"/>
    <p:sldId id="263" r:id="rId15"/>
    <p:sldId id="267"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78"/>
    <p:restoredTop sz="84991"/>
  </p:normalViewPr>
  <p:slideViewPr>
    <p:cSldViewPr snapToGrid="0" snapToObjects="1">
      <p:cViewPr varScale="1">
        <p:scale>
          <a:sx n="81" d="100"/>
          <a:sy n="81" d="100"/>
        </p:scale>
        <p:origin x="126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3B8289-430C-634B-956C-93A1DD092B20}" type="datetimeFigureOut">
              <a:rPr kumimoji="1" lang="zh-TW" altLang="en-US" smtClean="0"/>
              <a:t>2020/5/12</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E94397-36E2-2E45-87E6-E091B69B03A8}" type="slidenum">
              <a:rPr kumimoji="1" lang="zh-TW" altLang="en-US" smtClean="0"/>
              <a:t>‹#›</a:t>
            </a:fld>
            <a:endParaRPr kumimoji="1" lang="zh-TW" altLang="en-US"/>
          </a:p>
        </p:txBody>
      </p:sp>
    </p:spTree>
    <p:extLst>
      <p:ext uri="{BB962C8B-B14F-4D97-AF65-F5344CB8AC3E}">
        <p14:creationId xmlns:p14="http://schemas.microsoft.com/office/powerpoint/2010/main" val="3173860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TW" altLang="en-US" dirty="0"/>
              <a:t>第一二位作者來自</a:t>
            </a:r>
            <a:r>
              <a:rPr kumimoji="1" lang="en-US" altLang="zh-TW" dirty="0"/>
              <a:t>MIT</a:t>
            </a:r>
            <a:r>
              <a:rPr kumimoji="1" lang="zh-CN" altLang="en-US" dirty="0"/>
              <a:t>和</a:t>
            </a:r>
            <a:r>
              <a:rPr kumimoji="1" lang="en-US" altLang="zh-CN" dirty="0"/>
              <a:t>Northeastern</a:t>
            </a:r>
            <a:r>
              <a:rPr kumimoji="1" lang="zh-CN" altLang="en-US" dirty="0"/>
              <a:t>大學，相差一條河</a:t>
            </a:r>
            <a:r>
              <a:rPr kumimoji="1" lang="en-US" altLang="zh-CN" dirty="0"/>
              <a:t>(</a:t>
            </a:r>
            <a:r>
              <a:rPr kumimoji="1" lang="zh-CN" altLang="en-US" dirty="0"/>
              <a:t>開車七分鐘</a:t>
            </a:r>
            <a:r>
              <a:rPr kumimoji="1" lang="en-US" altLang="zh-CN"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第三四位作者來自丹麥的哥本哈根大學與丹麥技術大學</a:t>
            </a:r>
            <a:endParaRPr kumimoji="1" lang="en-US" altLang="zh-CN" dirty="0"/>
          </a:p>
        </p:txBody>
      </p:sp>
      <p:sp>
        <p:nvSpPr>
          <p:cNvPr id="4" name="投影片編號版面配置區 3"/>
          <p:cNvSpPr>
            <a:spLocks noGrp="1"/>
          </p:cNvSpPr>
          <p:nvPr>
            <p:ph type="sldNum" sz="quarter" idx="5"/>
          </p:nvPr>
        </p:nvSpPr>
        <p:spPr/>
        <p:txBody>
          <a:bodyPr/>
          <a:lstStyle/>
          <a:p>
            <a:fld id="{7EE94397-36E2-2E45-87E6-E091B69B03A8}" type="slidenum">
              <a:rPr kumimoji="1" lang="zh-TW" altLang="en-US" smtClean="0"/>
              <a:t>1</a:t>
            </a:fld>
            <a:endParaRPr kumimoji="1" lang="zh-TW" altLang="en-US"/>
          </a:p>
        </p:txBody>
      </p:sp>
    </p:spTree>
    <p:extLst>
      <p:ext uri="{BB962C8B-B14F-4D97-AF65-F5344CB8AC3E}">
        <p14:creationId xmlns:p14="http://schemas.microsoft.com/office/powerpoint/2010/main" val="1225094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CN" altLang="en-US" dirty="0"/>
              <a:t>資料集來自</a:t>
            </a:r>
            <a:r>
              <a:rPr kumimoji="1" lang="en-US" altLang="zh-TW" dirty="0"/>
              <a:t>2013/1/1</a:t>
            </a:r>
            <a:r>
              <a:rPr kumimoji="1" lang="zh-CN" altLang="en-US" dirty="0"/>
              <a:t>到</a:t>
            </a:r>
            <a:r>
              <a:rPr kumimoji="1" lang="en-US" altLang="zh-CN" dirty="0"/>
              <a:t>2017/1/1</a:t>
            </a:r>
            <a:r>
              <a:rPr kumimoji="1" lang="zh-CN" altLang="en-US" dirty="0"/>
              <a:t>的推特文章</a:t>
            </a:r>
            <a:endParaRPr kumimoji="1" lang="zh-TW" altLang="en-US" dirty="0"/>
          </a:p>
        </p:txBody>
      </p:sp>
      <p:sp>
        <p:nvSpPr>
          <p:cNvPr id="4" name="投影片編號版面配置區 3"/>
          <p:cNvSpPr>
            <a:spLocks noGrp="1"/>
          </p:cNvSpPr>
          <p:nvPr>
            <p:ph type="sldNum" sz="quarter" idx="5"/>
          </p:nvPr>
        </p:nvSpPr>
        <p:spPr/>
        <p:txBody>
          <a:bodyPr/>
          <a:lstStyle/>
          <a:p>
            <a:fld id="{7EE94397-36E2-2E45-87E6-E091B69B03A8}" type="slidenum">
              <a:rPr kumimoji="1" lang="zh-TW" altLang="en-US" smtClean="0"/>
              <a:t>4</a:t>
            </a:fld>
            <a:endParaRPr kumimoji="1" lang="zh-TW" altLang="en-US"/>
          </a:p>
        </p:txBody>
      </p:sp>
    </p:spTree>
    <p:extLst>
      <p:ext uri="{BB962C8B-B14F-4D97-AF65-F5344CB8AC3E}">
        <p14:creationId xmlns:p14="http://schemas.microsoft.com/office/powerpoint/2010/main" val="2384932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Attention</a:t>
            </a:r>
            <a:r>
              <a:rPr kumimoji="1" lang="zh-CN" altLang="en-US" dirty="0"/>
              <a:t>管字在句子的重要度，但沒有詞序性</a:t>
            </a:r>
            <a:r>
              <a:rPr kumimoji="1" lang="en-US" altLang="zh-CN" dirty="0"/>
              <a:t>(</a:t>
            </a:r>
            <a:r>
              <a:rPr kumimoji="1" lang="zh-CN" altLang="en-US" dirty="0"/>
              <a:t>可以同時做</a:t>
            </a:r>
            <a:r>
              <a:rPr kumimoji="1" lang="en-US" altLang="zh-CN" dirty="0"/>
              <a:t>)</a:t>
            </a:r>
            <a:br>
              <a:rPr kumimoji="1" lang="en-US" altLang="zh-CN" dirty="0"/>
            </a:br>
            <a:r>
              <a:rPr kumimoji="1" lang="en-US" altLang="zh-CN" dirty="0"/>
              <a:t>LSTM(RNN</a:t>
            </a:r>
            <a:r>
              <a:rPr kumimoji="1" lang="zh-CN" altLang="en-US" dirty="0"/>
              <a:t>特例</a:t>
            </a:r>
            <a:r>
              <a:rPr kumimoji="1" lang="en-US" altLang="zh-CN" dirty="0"/>
              <a:t>)</a:t>
            </a:r>
            <a:r>
              <a:rPr kumimoji="1" lang="zh-CN" altLang="en-US" dirty="0"/>
              <a:t>不管字在句子的重要性，但有詞序性</a:t>
            </a:r>
            <a:r>
              <a:rPr kumimoji="1" lang="en-US" altLang="zh-CN" dirty="0"/>
              <a:t>(</a:t>
            </a:r>
            <a:r>
              <a:rPr kumimoji="1" lang="zh-CN" altLang="en-US" dirty="0"/>
              <a:t>缺點耗時</a:t>
            </a:r>
            <a:r>
              <a:rPr kumimoji="1" lang="en-US" altLang="zh-CN" dirty="0"/>
              <a:t>:</a:t>
            </a:r>
            <a:r>
              <a:rPr kumimoji="1" lang="zh-TW" altLang="en-US" dirty="0"/>
              <a:t>得等前面算完才能</a:t>
            </a:r>
            <a:r>
              <a:rPr kumimoji="1" lang="zh-CN" altLang="en-US" dirty="0"/>
              <a:t>算</a:t>
            </a:r>
            <a:r>
              <a:rPr kumimoji="1" lang="zh-TW" altLang="en-US" dirty="0"/>
              <a:t>後面</a:t>
            </a:r>
            <a:r>
              <a:rPr kumimoji="1" lang="en-US" altLang="zh-TW" dirty="0"/>
              <a:t>)</a:t>
            </a:r>
            <a:endParaRPr kumimoji="1" lang="en-US" altLang="zh-CN" dirty="0"/>
          </a:p>
        </p:txBody>
      </p:sp>
      <p:sp>
        <p:nvSpPr>
          <p:cNvPr id="4" name="投影片編號版面配置區 3"/>
          <p:cNvSpPr>
            <a:spLocks noGrp="1"/>
          </p:cNvSpPr>
          <p:nvPr>
            <p:ph type="sldNum" sz="quarter" idx="5"/>
          </p:nvPr>
        </p:nvSpPr>
        <p:spPr/>
        <p:txBody>
          <a:bodyPr/>
          <a:lstStyle/>
          <a:p>
            <a:fld id="{7EE94397-36E2-2E45-87E6-E091B69B03A8}" type="slidenum">
              <a:rPr kumimoji="1" lang="zh-TW" altLang="en-US" smtClean="0"/>
              <a:t>9</a:t>
            </a:fld>
            <a:endParaRPr kumimoji="1" lang="zh-TW" altLang="en-US"/>
          </a:p>
        </p:txBody>
      </p:sp>
    </p:spTree>
    <p:extLst>
      <p:ext uri="{BB962C8B-B14F-4D97-AF65-F5344CB8AC3E}">
        <p14:creationId xmlns:p14="http://schemas.microsoft.com/office/powerpoint/2010/main" val="3934316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err="1"/>
              <a:t>Query,Key,Value</a:t>
            </a:r>
            <a:r>
              <a:rPr kumimoji="1" lang="zh-CN" altLang="en-US" dirty="0"/>
              <a:t>都是等長的向量，才能相加</a:t>
            </a:r>
            <a:endParaRPr kumimoji="1" lang="en-US" altLang="zh-CN" dirty="0"/>
          </a:p>
          <a:p>
            <a:r>
              <a:rPr kumimoji="1" lang="zh-CN" altLang="en-US" dirty="0"/>
              <a:t>對應到前一頁</a:t>
            </a:r>
            <a:r>
              <a:rPr kumimoji="1" lang="en-US" altLang="zh-CN" dirty="0"/>
              <a:t>(</a:t>
            </a:r>
            <a:r>
              <a:rPr kumimoji="1" lang="zh-CN" altLang="en-US" dirty="0"/>
              <a:t>向量長度為</a:t>
            </a:r>
            <a:r>
              <a:rPr kumimoji="1" lang="en-US" altLang="zh-CN" dirty="0"/>
              <a:t>T)</a:t>
            </a:r>
            <a:r>
              <a:rPr kumimoji="1" lang="zh-CN" altLang="en-US" dirty="0"/>
              <a:t>，假設取某字為</a:t>
            </a:r>
            <a:r>
              <a:rPr kumimoji="1" lang="en-US" altLang="zh-CN" dirty="0"/>
              <a:t>Query</a:t>
            </a:r>
            <a:r>
              <a:rPr kumimoji="1" lang="zh-CN" altLang="en-US" dirty="0"/>
              <a:t>，取出前後各二字，</a:t>
            </a:r>
            <a:endParaRPr kumimoji="1" lang="en-US" altLang="zh-CN" dirty="0"/>
          </a:p>
          <a:p>
            <a:r>
              <a:rPr kumimoji="1" lang="zh-CN" altLang="en-US" dirty="0"/>
              <a:t>與之</a:t>
            </a:r>
            <a:r>
              <a:rPr kumimoji="1" lang="en-US" altLang="zh-CN" dirty="0"/>
              <a:t>Similarity</a:t>
            </a:r>
            <a:r>
              <a:rPr kumimoji="1" lang="zh-CN" altLang="en-US" dirty="0"/>
              <a:t>為</a:t>
            </a:r>
            <a:r>
              <a:rPr kumimoji="1" lang="en-US" altLang="zh-CN" dirty="0"/>
              <a:t>Embedding</a:t>
            </a:r>
            <a:r>
              <a:rPr kumimoji="1" lang="zh-CN" altLang="en-US" dirty="0"/>
              <a:t>和</a:t>
            </a:r>
            <a:r>
              <a:rPr kumimoji="1" lang="en-US" altLang="zh-CN" dirty="0" err="1"/>
              <a:t>BiLSTM</a:t>
            </a:r>
            <a:r>
              <a:rPr kumimoji="1" lang="zh-CN" altLang="en-US" dirty="0"/>
              <a:t>的相似度。</a:t>
            </a:r>
            <a:endParaRPr kumimoji="1" lang="en-US" altLang="zh-CN" dirty="0"/>
          </a:p>
          <a:p>
            <a:r>
              <a:rPr kumimoji="1" lang="zh-CN" altLang="en-US" dirty="0"/>
              <a:t>再與第二層的</a:t>
            </a:r>
            <a:r>
              <a:rPr kumimoji="1" lang="en-US" altLang="zh-CN" dirty="0" err="1"/>
              <a:t>BiLSTM</a:t>
            </a:r>
            <a:r>
              <a:rPr kumimoji="1" lang="zh-CN" altLang="en-US" dirty="0"/>
              <a:t>的</a:t>
            </a:r>
            <a:r>
              <a:rPr kumimoji="1" lang="en-US" altLang="zh-CN" dirty="0"/>
              <a:t>Value</a:t>
            </a:r>
            <a:r>
              <a:rPr kumimoji="1" lang="zh-CN" altLang="en-US" dirty="0"/>
              <a:t>向量相加，得到此</a:t>
            </a:r>
            <a:r>
              <a:rPr kumimoji="1" lang="en-US" altLang="zh-CN" dirty="0"/>
              <a:t>Query</a:t>
            </a:r>
            <a:r>
              <a:rPr kumimoji="1" lang="zh-CN" altLang="en-US" dirty="0"/>
              <a:t>的</a:t>
            </a:r>
            <a:r>
              <a:rPr kumimoji="1" lang="en-US" altLang="zh-CN" dirty="0"/>
              <a:t>Attention Value</a:t>
            </a:r>
            <a:endParaRPr kumimoji="1" lang="zh-TW" altLang="en-US" dirty="0"/>
          </a:p>
        </p:txBody>
      </p:sp>
      <p:sp>
        <p:nvSpPr>
          <p:cNvPr id="4" name="投影片編號版面配置區 3"/>
          <p:cNvSpPr>
            <a:spLocks noGrp="1"/>
          </p:cNvSpPr>
          <p:nvPr>
            <p:ph type="sldNum" sz="quarter" idx="5"/>
          </p:nvPr>
        </p:nvSpPr>
        <p:spPr/>
        <p:txBody>
          <a:bodyPr/>
          <a:lstStyle/>
          <a:p>
            <a:fld id="{7EE94397-36E2-2E45-87E6-E091B69B03A8}" type="slidenum">
              <a:rPr kumimoji="1" lang="zh-TW" altLang="en-US" smtClean="0"/>
              <a:t>10</a:t>
            </a:fld>
            <a:endParaRPr kumimoji="1" lang="zh-TW" altLang="en-US"/>
          </a:p>
        </p:txBody>
      </p:sp>
    </p:spTree>
    <p:extLst>
      <p:ext uri="{BB962C8B-B14F-4D97-AF65-F5344CB8AC3E}">
        <p14:creationId xmlns:p14="http://schemas.microsoft.com/office/powerpoint/2010/main" val="31470573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TW" altLang="en-US" dirty="0"/>
          </a:p>
        </p:txBody>
      </p:sp>
      <p:sp>
        <p:nvSpPr>
          <p:cNvPr id="4" name="投影片編號版面配置區 3"/>
          <p:cNvSpPr>
            <a:spLocks noGrp="1"/>
          </p:cNvSpPr>
          <p:nvPr>
            <p:ph type="sldNum" sz="quarter" idx="5"/>
          </p:nvPr>
        </p:nvSpPr>
        <p:spPr/>
        <p:txBody>
          <a:bodyPr/>
          <a:lstStyle/>
          <a:p>
            <a:fld id="{7EE94397-36E2-2E45-87E6-E091B69B03A8}" type="slidenum">
              <a:rPr kumimoji="1" lang="zh-TW" altLang="en-US" smtClean="0"/>
              <a:t>12</a:t>
            </a:fld>
            <a:endParaRPr kumimoji="1" lang="zh-TW" altLang="en-US"/>
          </a:p>
        </p:txBody>
      </p:sp>
    </p:spTree>
    <p:extLst>
      <p:ext uri="{BB962C8B-B14F-4D97-AF65-F5344CB8AC3E}">
        <p14:creationId xmlns:p14="http://schemas.microsoft.com/office/powerpoint/2010/main" val="4286307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94397-36E2-2E45-87E6-E091B69B03A8}" type="slidenum">
              <a:rPr kumimoji="1" lang="zh-TW" altLang="en-US" smtClean="0"/>
              <a:t>14</a:t>
            </a:fld>
            <a:endParaRPr kumimoji="1" lang="zh-TW" altLang="en-US"/>
          </a:p>
        </p:txBody>
      </p:sp>
    </p:spTree>
    <p:extLst>
      <p:ext uri="{BB962C8B-B14F-4D97-AF65-F5344CB8AC3E}">
        <p14:creationId xmlns:p14="http://schemas.microsoft.com/office/powerpoint/2010/main" val="3545046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B84393E-5897-C742-9642-D9A052990A56}"/>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DC489EF9-A837-B54B-ACE9-C89FA3F852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DD925F08-ED4D-DE4A-83C5-B40BA9D8D487}"/>
              </a:ext>
            </a:extLst>
          </p:cNvPr>
          <p:cNvSpPr>
            <a:spLocks noGrp="1"/>
          </p:cNvSpPr>
          <p:nvPr>
            <p:ph type="dt" sz="half" idx="10"/>
          </p:nvPr>
        </p:nvSpPr>
        <p:spPr/>
        <p:txBody>
          <a:bodyPr/>
          <a:lstStyle/>
          <a:p>
            <a:fld id="{1F9C24E8-FD77-674B-9940-5378D0BFF31E}" type="datetimeFigureOut">
              <a:rPr kumimoji="1" lang="zh-TW" altLang="en-US" smtClean="0"/>
              <a:t>2020/5/12</a:t>
            </a:fld>
            <a:endParaRPr kumimoji="1" lang="zh-TW" altLang="en-US"/>
          </a:p>
        </p:txBody>
      </p:sp>
      <p:sp>
        <p:nvSpPr>
          <p:cNvPr id="5" name="頁尾版面配置區 4">
            <a:extLst>
              <a:ext uri="{FF2B5EF4-FFF2-40B4-BE49-F238E27FC236}">
                <a16:creationId xmlns:a16="http://schemas.microsoft.com/office/drawing/2014/main" id="{775561CD-17B8-2540-BD15-C9AB75C5A3FB}"/>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7D7148B7-4B3B-F04F-94F3-3CAADFCC5896}"/>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3024764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61955D-0911-7F46-89A2-7B0AB9EEB645}"/>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82F87528-564D-1F4A-8902-02B0E2EB540F}"/>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25724E2D-8E8D-9644-8C9D-DB1D1C78ABA2}"/>
              </a:ext>
            </a:extLst>
          </p:cNvPr>
          <p:cNvSpPr>
            <a:spLocks noGrp="1"/>
          </p:cNvSpPr>
          <p:nvPr>
            <p:ph type="dt" sz="half" idx="10"/>
          </p:nvPr>
        </p:nvSpPr>
        <p:spPr/>
        <p:txBody>
          <a:bodyPr/>
          <a:lstStyle/>
          <a:p>
            <a:fld id="{1F9C24E8-FD77-674B-9940-5378D0BFF31E}" type="datetimeFigureOut">
              <a:rPr kumimoji="1" lang="zh-TW" altLang="en-US" smtClean="0"/>
              <a:t>2020/5/12</a:t>
            </a:fld>
            <a:endParaRPr kumimoji="1" lang="zh-TW" altLang="en-US"/>
          </a:p>
        </p:txBody>
      </p:sp>
      <p:sp>
        <p:nvSpPr>
          <p:cNvPr id="5" name="頁尾版面配置區 4">
            <a:extLst>
              <a:ext uri="{FF2B5EF4-FFF2-40B4-BE49-F238E27FC236}">
                <a16:creationId xmlns:a16="http://schemas.microsoft.com/office/drawing/2014/main" id="{E49D19FE-BC05-EE4D-AA8B-62522E6FB1E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0C529EA-3208-654A-B77F-29C8F3F87F52}"/>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2288517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6C73DE-6531-1248-9B32-37D78C629DB2}"/>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41800AA4-3B62-BF4E-A750-7421D33FC2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8531AF15-5B94-4840-AAF4-8C88249C39F4}"/>
              </a:ext>
            </a:extLst>
          </p:cNvPr>
          <p:cNvSpPr>
            <a:spLocks noGrp="1"/>
          </p:cNvSpPr>
          <p:nvPr>
            <p:ph type="dt" sz="half" idx="10"/>
          </p:nvPr>
        </p:nvSpPr>
        <p:spPr/>
        <p:txBody>
          <a:bodyPr/>
          <a:lstStyle/>
          <a:p>
            <a:fld id="{1F9C24E8-FD77-674B-9940-5378D0BFF31E}" type="datetimeFigureOut">
              <a:rPr kumimoji="1" lang="zh-TW" altLang="en-US" smtClean="0"/>
              <a:t>2020/5/12</a:t>
            </a:fld>
            <a:endParaRPr kumimoji="1" lang="zh-TW" altLang="en-US"/>
          </a:p>
        </p:txBody>
      </p:sp>
      <p:sp>
        <p:nvSpPr>
          <p:cNvPr id="5" name="頁尾版面配置區 4">
            <a:extLst>
              <a:ext uri="{FF2B5EF4-FFF2-40B4-BE49-F238E27FC236}">
                <a16:creationId xmlns:a16="http://schemas.microsoft.com/office/drawing/2014/main" id="{F490CED8-7F54-174E-98C3-FD57308E9BCB}"/>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D704C7D3-D0B0-3D4A-ACCF-E2C5D65DEDE3}"/>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439648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5EB0910-0EB1-8D47-8A8A-C6DA98B9C46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A4EFAE1D-32F5-C744-BE03-A08D08208FC3}"/>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C703AFFD-DD14-2249-87EA-D4D0F4D8A5C6}"/>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FFA9D9CF-AC65-7547-937C-462CB4B87E5E}"/>
              </a:ext>
            </a:extLst>
          </p:cNvPr>
          <p:cNvSpPr>
            <a:spLocks noGrp="1"/>
          </p:cNvSpPr>
          <p:nvPr>
            <p:ph type="dt" sz="half" idx="10"/>
          </p:nvPr>
        </p:nvSpPr>
        <p:spPr/>
        <p:txBody>
          <a:bodyPr/>
          <a:lstStyle/>
          <a:p>
            <a:fld id="{1F9C24E8-FD77-674B-9940-5378D0BFF31E}" type="datetimeFigureOut">
              <a:rPr kumimoji="1" lang="zh-TW" altLang="en-US" smtClean="0"/>
              <a:t>2020/5/12</a:t>
            </a:fld>
            <a:endParaRPr kumimoji="1" lang="zh-TW" altLang="en-US"/>
          </a:p>
        </p:txBody>
      </p:sp>
      <p:sp>
        <p:nvSpPr>
          <p:cNvPr id="6" name="頁尾版面配置區 5">
            <a:extLst>
              <a:ext uri="{FF2B5EF4-FFF2-40B4-BE49-F238E27FC236}">
                <a16:creationId xmlns:a16="http://schemas.microsoft.com/office/drawing/2014/main" id="{AD11A880-A8B0-8C45-9BBA-599FC8395F0E}"/>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6075468-71C7-564B-AD7A-5361E550A918}"/>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432437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5C3852D-F421-7747-8DBB-0DB6DBC725DF}"/>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B34D16B6-A3BC-F74C-95A3-90442D97E7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40FA2C45-D986-F543-82AE-0CA924B6E49E}"/>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1A14E94A-A453-F24C-9F3D-6509D772D2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72294A5F-C2BE-1E4A-A1B8-115A18F0B1EC}"/>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FF9AE945-0A1E-F844-9F27-0E69C6467A7F}"/>
              </a:ext>
            </a:extLst>
          </p:cNvPr>
          <p:cNvSpPr>
            <a:spLocks noGrp="1"/>
          </p:cNvSpPr>
          <p:nvPr>
            <p:ph type="dt" sz="half" idx="10"/>
          </p:nvPr>
        </p:nvSpPr>
        <p:spPr/>
        <p:txBody>
          <a:bodyPr/>
          <a:lstStyle/>
          <a:p>
            <a:fld id="{1F9C24E8-FD77-674B-9940-5378D0BFF31E}" type="datetimeFigureOut">
              <a:rPr kumimoji="1" lang="zh-TW" altLang="en-US" smtClean="0"/>
              <a:t>2020/5/12</a:t>
            </a:fld>
            <a:endParaRPr kumimoji="1" lang="zh-TW" altLang="en-US"/>
          </a:p>
        </p:txBody>
      </p:sp>
      <p:sp>
        <p:nvSpPr>
          <p:cNvPr id="8" name="頁尾版面配置區 7">
            <a:extLst>
              <a:ext uri="{FF2B5EF4-FFF2-40B4-BE49-F238E27FC236}">
                <a16:creationId xmlns:a16="http://schemas.microsoft.com/office/drawing/2014/main" id="{A85A71B7-7896-6444-BE7D-61E604E6BBBA}"/>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704A0783-9D55-FE44-831C-3B9D3276CC25}"/>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119657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641A76-0788-DF4B-AA7D-78E4E40FBBAC}"/>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C4F88631-6170-E741-893F-034159CE7432}"/>
              </a:ext>
            </a:extLst>
          </p:cNvPr>
          <p:cNvSpPr>
            <a:spLocks noGrp="1"/>
          </p:cNvSpPr>
          <p:nvPr>
            <p:ph type="dt" sz="half" idx="10"/>
          </p:nvPr>
        </p:nvSpPr>
        <p:spPr/>
        <p:txBody>
          <a:bodyPr/>
          <a:lstStyle/>
          <a:p>
            <a:fld id="{1F9C24E8-FD77-674B-9940-5378D0BFF31E}" type="datetimeFigureOut">
              <a:rPr kumimoji="1" lang="zh-TW" altLang="en-US" smtClean="0"/>
              <a:t>2020/5/12</a:t>
            </a:fld>
            <a:endParaRPr kumimoji="1" lang="zh-TW" altLang="en-US"/>
          </a:p>
        </p:txBody>
      </p:sp>
      <p:sp>
        <p:nvSpPr>
          <p:cNvPr id="4" name="頁尾版面配置區 3">
            <a:extLst>
              <a:ext uri="{FF2B5EF4-FFF2-40B4-BE49-F238E27FC236}">
                <a16:creationId xmlns:a16="http://schemas.microsoft.com/office/drawing/2014/main" id="{62996335-0723-1747-9227-55FEB623B5CB}"/>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F42CB33A-6712-FB46-9E30-E0CEB6960B8D}"/>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2728869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F6D90877-E774-A949-BB52-79612810FC4B}"/>
              </a:ext>
            </a:extLst>
          </p:cNvPr>
          <p:cNvSpPr>
            <a:spLocks noGrp="1"/>
          </p:cNvSpPr>
          <p:nvPr>
            <p:ph type="dt" sz="half" idx="10"/>
          </p:nvPr>
        </p:nvSpPr>
        <p:spPr/>
        <p:txBody>
          <a:bodyPr/>
          <a:lstStyle/>
          <a:p>
            <a:fld id="{1F9C24E8-FD77-674B-9940-5378D0BFF31E}" type="datetimeFigureOut">
              <a:rPr kumimoji="1" lang="zh-TW" altLang="en-US" smtClean="0"/>
              <a:t>2020/5/12</a:t>
            </a:fld>
            <a:endParaRPr kumimoji="1" lang="zh-TW" altLang="en-US"/>
          </a:p>
        </p:txBody>
      </p:sp>
      <p:sp>
        <p:nvSpPr>
          <p:cNvPr id="3" name="頁尾版面配置區 2">
            <a:extLst>
              <a:ext uri="{FF2B5EF4-FFF2-40B4-BE49-F238E27FC236}">
                <a16:creationId xmlns:a16="http://schemas.microsoft.com/office/drawing/2014/main" id="{9EB10E54-D05D-AC49-9434-8CEBCA790731}"/>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26BDD14E-F21A-3942-85C4-674F303053F6}"/>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3928851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D07E89-25A4-3F4A-88C3-2C9334834536}"/>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B6940F6-FE29-6648-A2BE-7504DBF6B4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7B68625D-6DF6-D942-A625-2C47CAC2C1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F6FFD26C-D0BD-3741-A99D-EF6E615C6900}"/>
              </a:ext>
            </a:extLst>
          </p:cNvPr>
          <p:cNvSpPr>
            <a:spLocks noGrp="1"/>
          </p:cNvSpPr>
          <p:nvPr>
            <p:ph type="dt" sz="half" idx="10"/>
          </p:nvPr>
        </p:nvSpPr>
        <p:spPr/>
        <p:txBody>
          <a:bodyPr/>
          <a:lstStyle/>
          <a:p>
            <a:fld id="{1F9C24E8-FD77-674B-9940-5378D0BFF31E}" type="datetimeFigureOut">
              <a:rPr kumimoji="1" lang="zh-TW" altLang="en-US" smtClean="0"/>
              <a:t>2020/5/12</a:t>
            </a:fld>
            <a:endParaRPr kumimoji="1" lang="zh-TW" altLang="en-US"/>
          </a:p>
        </p:txBody>
      </p:sp>
      <p:sp>
        <p:nvSpPr>
          <p:cNvPr id="6" name="頁尾版面配置區 5">
            <a:extLst>
              <a:ext uri="{FF2B5EF4-FFF2-40B4-BE49-F238E27FC236}">
                <a16:creationId xmlns:a16="http://schemas.microsoft.com/office/drawing/2014/main" id="{B4063BE9-7877-2A4C-8EFD-CEA183E5445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7F208AFB-457C-CC45-8298-46F2DA47E54E}"/>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1521687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157BA1-6B48-DE4F-9C0A-09422C6F7A6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05C9B1AF-140D-3845-B81F-42558E147D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57EB01ED-FD15-C34B-B1FC-2E35B27602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2CBCB2AB-9052-5D4E-A22E-DF5D21D4487A}"/>
              </a:ext>
            </a:extLst>
          </p:cNvPr>
          <p:cNvSpPr>
            <a:spLocks noGrp="1"/>
          </p:cNvSpPr>
          <p:nvPr>
            <p:ph type="dt" sz="half" idx="10"/>
          </p:nvPr>
        </p:nvSpPr>
        <p:spPr/>
        <p:txBody>
          <a:bodyPr/>
          <a:lstStyle/>
          <a:p>
            <a:fld id="{1F9C24E8-FD77-674B-9940-5378D0BFF31E}" type="datetimeFigureOut">
              <a:rPr kumimoji="1" lang="zh-TW" altLang="en-US" smtClean="0"/>
              <a:t>2020/5/12</a:t>
            </a:fld>
            <a:endParaRPr kumimoji="1" lang="zh-TW" altLang="en-US"/>
          </a:p>
        </p:txBody>
      </p:sp>
      <p:sp>
        <p:nvSpPr>
          <p:cNvPr id="6" name="頁尾版面配置區 5">
            <a:extLst>
              <a:ext uri="{FF2B5EF4-FFF2-40B4-BE49-F238E27FC236}">
                <a16:creationId xmlns:a16="http://schemas.microsoft.com/office/drawing/2014/main" id="{D4923C13-AB2A-9B43-850E-220EB4422525}"/>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6E2BA8FE-CD93-F24F-870A-60F2CACA7AB4}"/>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4181418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1FBC41-076D-604D-9767-145047CFE6A8}"/>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220D5BC6-792B-E749-B7E0-08A763B7750F}"/>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A2EF182E-7140-5D4D-88A7-840ED6890780}"/>
              </a:ext>
            </a:extLst>
          </p:cNvPr>
          <p:cNvSpPr>
            <a:spLocks noGrp="1"/>
          </p:cNvSpPr>
          <p:nvPr>
            <p:ph type="dt" sz="half" idx="10"/>
          </p:nvPr>
        </p:nvSpPr>
        <p:spPr/>
        <p:txBody>
          <a:bodyPr/>
          <a:lstStyle/>
          <a:p>
            <a:fld id="{1F9C24E8-FD77-674B-9940-5378D0BFF31E}" type="datetimeFigureOut">
              <a:rPr kumimoji="1" lang="zh-TW" altLang="en-US" smtClean="0"/>
              <a:t>2020/5/12</a:t>
            </a:fld>
            <a:endParaRPr kumimoji="1" lang="zh-TW" altLang="en-US"/>
          </a:p>
        </p:txBody>
      </p:sp>
      <p:sp>
        <p:nvSpPr>
          <p:cNvPr id="5" name="頁尾版面配置區 4">
            <a:extLst>
              <a:ext uri="{FF2B5EF4-FFF2-40B4-BE49-F238E27FC236}">
                <a16:creationId xmlns:a16="http://schemas.microsoft.com/office/drawing/2014/main" id="{46E41427-E252-3343-A75E-B1BA8D182EAB}"/>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2930D2C8-9823-1049-BDD9-711EE5734A16}"/>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168126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1840DD2-A5F5-7344-BB1C-BEBDBFDF7758}"/>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4F95D08A-70C7-7245-88A1-DED901775BED}"/>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C7B7C2F8-DA6F-284E-8686-4FBCAC5D4792}"/>
              </a:ext>
            </a:extLst>
          </p:cNvPr>
          <p:cNvSpPr>
            <a:spLocks noGrp="1"/>
          </p:cNvSpPr>
          <p:nvPr>
            <p:ph type="dt" sz="half" idx="10"/>
          </p:nvPr>
        </p:nvSpPr>
        <p:spPr/>
        <p:txBody>
          <a:bodyPr/>
          <a:lstStyle/>
          <a:p>
            <a:fld id="{1F9C24E8-FD77-674B-9940-5378D0BFF31E}" type="datetimeFigureOut">
              <a:rPr kumimoji="1" lang="zh-TW" altLang="en-US" smtClean="0"/>
              <a:t>2020/5/12</a:t>
            </a:fld>
            <a:endParaRPr kumimoji="1" lang="zh-TW" altLang="en-US"/>
          </a:p>
        </p:txBody>
      </p:sp>
      <p:sp>
        <p:nvSpPr>
          <p:cNvPr id="5" name="頁尾版面配置區 4">
            <a:extLst>
              <a:ext uri="{FF2B5EF4-FFF2-40B4-BE49-F238E27FC236}">
                <a16:creationId xmlns:a16="http://schemas.microsoft.com/office/drawing/2014/main" id="{D7DEFA0B-7671-7F4B-AC38-12B670365EC0}"/>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4EC7011-F710-9243-8FF5-1777A21D66BC}"/>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2389749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1D70FF8-812F-1849-95D4-3632E65D7A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490DFF90-9F2B-6F45-AB9D-B9B660DFB2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295609CE-15C5-6643-A5A9-FBB1F99B63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9C24E8-FD77-674B-9940-5378D0BFF31E}" type="datetimeFigureOut">
              <a:rPr kumimoji="1" lang="zh-TW" altLang="en-US" smtClean="0"/>
              <a:t>2020/5/12</a:t>
            </a:fld>
            <a:endParaRPr kumimoji="1" lang="zh-TW" altLang="en-US"/>
          </a:p>
        </p:txBody>
      </p:sp>
      <p:sp>
        <p:nvSpPr>
          <p:cNvPr id="5" name="頁尾版面配置區 4">
            <a:extLst>
              <a:ext uri="{FF2B5EF4-FFF2-40B4-BE49-F238E27FC236}">
                <a16:creationId xmlns:a16="http://schemas.microsoft.com/office/drawing/2014/main" id="{44CB14FC-524A-6C4E-AA1D-1443A956A2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ED0285D5-567D-A74A-BA02-000936A8A1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1950692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D67D7F-00E7-9344-8042-5D9F2C926FAD}"/>
              </a:ext>
            </a:extLst>
          </p:cNvPr>
          <p:cNvSpPr>
            <a:spLocks noGrp="1"/>
          </p:cNvSpPr>
          <p:nvPr>
            <p:ph type="ctrTitle"/>
          </p:nvPr>
        </p:nvSpPr>
        <p:spPr>
          <a:xfrm>
            <a:off x="1" y="672420"/>
            <a:ext cx="11968742" cy="2387600"/>
          </a:xfrm>
        </p:spPr>
        <p:txBody>
          <a:bodyPr>
            <a:normAutofit fontScale="90000"/>
          </a:bodyPr>
          <a:lstStyle/>
          <a:p>
            <a:r>
              <a:rPr lang="en" altLang="zh-TW" dirty="0"/>
              <a:t>Using millions of emoji occurrences to learn any-domain representations for detecting sentiment, emotion and sarcasm</a:t>
            </a:r>
          </a:p>
        </p:txBody>
      </p:sp>
      <p:sp>
        <p:nvSpPr>
          <p:cNvPr id="3" name="副標題 2">
            <a:extLst>
              <a:ext uri="{FF2B5EF4-FFF2-40B4-BE49-F238E27FC236}">
                <a16:creationId xmlns:a16="http://schemas.microsoft.com/office/drawing/2014/main" id="{943C5B20-21F7-DC41-814C-7D9F6199BDA6}"/>
              </a:ext>
            </a:extLst>
          </p:cNvPr>
          <p:cNvSpPr>
            <a:spLocks noGrp="1"/>
          </p:cNvSpPr>
          <p:nvPr>
            <p:ph type="subTitle" idx="1"/>
          </p:nvPr>
        </p:nvSpPr>
        <p:spPr>
          <a:xfrm>
            <a:off x="1146628" y="3602038"/>
            <a:ext cx="9898743" cy="1655762"/>
          </a:xfrm>
        </p:spPr>
        <p:txBody>
          <a:bodyPr>
            <a:normAutofit fontScale="77500" lnSpcReduction="20000"/>
          </a:bodyPr>
          <a:lstStyle/>
          <a:p>
            <a:r>
              <a:rPr lang="en" altLang="zh-TW" sz="2800" dirty="0"/>
              <a:t>Proceedings of the 2017 Conference on Empirical Methods in Natural Language Processing, pp. 1615–1625</a:t>
            </a:r>
          </a:p>
          <a:p>
            <a:r>
              <a:rPr lang="en" altLang="zh-TW" sz="2800" dirty="0"/>
              <a:t>Copenhagen, Denmark, September 7–11, 2017</a:t>
            </a:r>
          </a:p>
          <a:p>
            <a:endParaRPr lang="en" altLang="zh-TW" sz="2800" dirty="0"/>
          </a:p>
          <a:p>
            <a:r>
              <a:rPr lang="en" altLang="zh-TW" dirty="0"/>
              <a:t>Bjarke </a:t>
            </a:r>
            <a:r>
              <a:rPr lang="en" altLang="zh-TW" dirty="0" err="1"/>
              <a:t>Felbo</a:t>
            </a:r>
            <a:r>
              <a:rPr lang="en" altLang="zh-TW" dirty="0"/>
              <a:t>, Alan </a:t>
            </a:r>
            <a:r>
              <a:rPr lang="en" altLang="zh-TW" dirty="0" err="1"/>
              <a:t>Mislove</a:t>
            </a:r>
            <a:r>
              <a:rPr lang="en" altLang="zh-TW" dirty="0"/>
              <a:t>, Anders </a:t>
            </a:r>
            <a:r>
              <a:rPr lang="en" altLang="zh-TW" dirty="0" err="1"/>
              <a:t>Søgaard</a:t>
            </a:r>
            <a:r>
              <a:rPr lang="en" altLang="zh-TW" dirty="0"/>
              <a:t>, Iyad </a:t>
            </a:r>
            <a:r>
              <a:rPr lang="en" altLang="zh-TW" dirty="0" err="1"/>
              <a:t>Rahwan</a:t>
            </a:r>
            <a:r>
              <a:rPr lang="en" altLang="zh-TW" dirty="0"/>
              <a:t>, </a:t>
            </a:r>
            <a:r>
              <a:rPr lang="en" altLang="zh-TW" dirty="0" err="1"/>
              <a:t>Sune</a:t>
            </a:r>
            <a:r>
              <a:rPr lang="en" altLang="zh-TW" dirty="0"/>
              <a:t> Lehmann</a:t>
            </a:r>
            <a:endParaRPr lang="en" altLang="zh-TW" sz="2800" dirty="0"/>
          </a:p>
        </p:txBody>
      </p:sp>
      <p:sp>
        <p:nvSpPr>
          <p:cNvPr id="5" name="文字方塊 4">
            <a:extLst>
              <a:ext uri="{FF2B5EF4-FFF2-40B4-BE49-F238E27FC236}">
                <a16:creationId xmlns:a16="http://schemas.microsoft.com/office/drawing/2014/main" id="{EEB66EE6-AF71-1643-8388-238FADD7E896}"/>
              </a:ext>
            </a:extLst>
          </p:cNvPr>
          <p:cNvSpPr txBox="1"/>
          <p:nvPr/>
        </p:nvSpPr>
        <p:spPr>
          <a:xfrm>
            <a:off x="9610725" y="6029325"/>
            <a:ext cx="2358018" cy="646331"/>
          </a:xfrm>
          <a:prstGeom prst="rect">
            <a:avLst/>
          </a:prstGeom>
          <a:noFill/>
        </p:spPr>
        <p:txBody>
          <a:bodyPr wrap="none" rtlCol="0">
            <a:spAutoFit/>
          </a:bodyPr>
          <a:lstStyle/>
          <a:p>
            <a:r>
              <a:rPr kumimoji="1" lang="en-US" altLang="zh-TW" dirty="0"/>
              <a:t>Present: Chia-Lin, Chen</a:t>
            </a:r>
          </a:p>
          <a:p>
            <a:r>
              <a:rPr kumimoji="1" lang="en-US" altLang="zh-TW" dirty="0"/>
              <a:t>Date: May. 12</a:t>
            </a:r>
            <a:r>
              <a:rPr kumimoji="1" lang="en-US" altLang="zh-TW" baseline="30000" dirty="0"/>
              <a:t>th</a:t>
            </a:r>
            <a:r>
              <a:rPr kumimoji="1" lang="en-US" altLang="zh-TW" dirty="0"/>
              <a:t> , 2020</a:t>
            </a:r>
            <a:endParaRPr kumimoji="1" lang="zh-TW" altLang="en-US" dirty="0"/>
          </a:p>
        </p:txBody>
      </p:sp>
    </p:spTree>
    <p:extLst>
      <p:ext uri="{BB962C8B-B14F-4D97-AF65-F5344CB8AC3E}">
        <p14:creationId xmlns:p14="http://schemas.microsoft.com/office/powerpoint/2010/main" val="3527523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DC68A8-0E16-1C4B-B914-ACA13A583E79}"/>
              </a:ext>
            </a:extLst>
          </p:cNvPr>
          <p:cNvSpPr>
            <a:spLocks noGrp="1"/>
          </p:cNvSpPr>
          <p:nvPr>
            <p:ph type="title"/>
          </p:nvPr>
        </p:nvSpPr>
        <p:spPr/>
        <p:txBody>
          <a:bodyPr/>
          <a:lstStyle/>
          <a:p>
            <a:r>
              <a:rPr kumimoji="1" lang="en-US" altLang="zh-TW" dirty="0"/>
              <a:t>Abstract</a:t>
            </a:r>
            <a:endParaRPr kumimoji="1" lang="zh-TW" altLang="en-US" dirty="0"/>
          </a:p>
        </p:txBody>
      </p:sp>
      <p:sp>
        <p:nvSpPr>
          <p:cNvPr id="5" name="內容版面配置區 4">
            <a:extLst>
              <a:ext uri="{FF2B5EF4-FFF2-40B4-BE49-F238E27FC236}">
                <a16:creationId xmlns:a16="http://schemas.microsoft.com/office/drawing/2014/main" id="{21BC5A51-D5D2-5543-BC8E-27CAD4E5419E}"/>
              </a:ext>
            </a:extLst>
          </p:cNvPr>
          <p:cNvSpPr>
            <a:spLocks noGrp="1"/>
          </p:cNvSpPr>
          <p:nvPr>
            <p:ph idx="1"/>
          </p:nvPr>
        </p:nvSpPr>
        <p:spPr>
          <a:xfrm>
            <a:off x="838200" y="1690688"/>
            <a:ext cx="10515600" cy="4351338"/>
          </a:xfrm>
        </p:spPr>
        <p:txBody>
          <a:bodyPr>
            <a:normAutofit lnSpcReduction="10000"/>
          </a:bodyPr>
          <a:lstStyle/>
          <a:p>
            <a:pPr marL="0" indent="0">
              <a:buNone/>
            </a:pPr>
            <a:r>
              <a:rPr lang="en" altLang="zh-TW" dirty="0"/>
              <a:t>NLP tasks are often limited by scarcity of manually annotated data. In social media sentiment analysis and related tasks, researchers have therefore used binarized emoticons and specific hashtags as forms of distant supervision. Our paper shows that by extending the distant supervision to a more diverse set of noisy labels, the models can learn richer representations. Through emoji prediction on a dataset of 1246 million tweets containing one of 64 common emojis we obtain state-of-the-art performance on 8 benchmark datasets within emotion, sentiment and sarcasm detection using a single pretrained model. Our analyses confirm that the diversity of our emotional labels yield a performance improvement over previous distant supervision approaches. </a:t>
            </a:r>
            <a:endParaRPr lang="en" altLang="zh-TW" sz="3200" dirty="0"/>
          </a:p>
          <a:p>
            <a:pPr marL="0" indent="0">
              <a:buNone/>
            </a:pPr>
            <a:endParaRPr lang="en" altLang="zh-TW" sz="3200" dirty="0"/>
          </a:p>
        </p:txBody>
      </p:sp>
    </p:spTree>
    <p:extLst>
      <p:ext uri="{BB962C8B-B14F-4D97-AF65-F5344CB8AC3E}">
        <p14:creationId xmlns:p14="http://schemas.microsoft.com/office/powerpoint/2010/main" val="3506045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A22B687A-F843-3245-B055-A9CABEE240A9}"/>
              </a:ext>
            </a:extLst>
          </p:cNvPr>
          <p:cNvPicPr>
            <a:picLocks noChangeAspect="1"/>
          </p:cNvPicPr>
          <p:nvPr/>
        </p:nvPicPr>
        <p:blipFill>
          <a:blip r:embed="rId2"/>
          <a:stretch>
            <a:fillRect/>
          </a:stretch>
        </p:blipFill>
        <p:spPr>
          <a:xfrm>
            <a:off x="1040476" y="365149"/>
            <a:ext cx="10347959" cy="6016255"/>
          </a:xfrm>
          <a:prstGeom prst="rect">
            <a:avLst/>
          </a:prstGeom>
        </p:spPr>
      </p:pic>
    </p:spTree>
    <p:extLst>
      <p:ext uri="{BB962C8B-B14F-4D97-AF65-F5344CB8AC3E}">
        <p14:creationId xmlns:p14="http://schemas.microsoft.com/office/powerpoint/2010/main" val="2437005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4E508FF1-6134-E448-AF16-81568814FA09}"/>
              </a:ext>
            </a:extLst>
          </p:cNvPr>
          <p:cNvPicPr>
            <a:picLocks noChangeAspect="1"/>
          </p:cNvPicPr>
          <p:nvPr/>
        </p:nvPicPr>
        <p:blipFill>
          <a:blip r:embed="rId3"/>
          <a:stretch>
            <a:fillRect/>
          </a:stretch>
        </p:blipFill>
        <p:spPr>
          <a:xfrm>
            <a:off x="1959726" y="77000"/>
            <a:ext cx="8530936" cy="6781000"/>
          </a:xfrm>
          <a:prstGeom prst="rect">
            <a:avLst/>
          </a:prstGeom>
        </p:spPr>
      </p:pic>
    </p:spTree>
    <p:extLst>
      <p:ext uri="{BB962C8B-B14F-4D97-AF65-F5344CB8AC3E}">
        <p14:creationId xmlns:p14="http://schemas.microsoft.com/office/powerpoint/2010/main" val="3544582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9AC8DDA1-DC2A-FD49-A001-35895F847337}"/>
              </a:ext>
            </a:extLst>
          </p:cNvPr>
          <p:cNvPicPr>
            <a:picLocks noChangeAspect="1"/>
          </p:cNvPicPr>
          <p:nvPr/>
        </p:nvPicPr>
        <p:blipFill>
          <a:blip r:embed="rId2"/>
          <a:stretch>
            <a:fillRect/>
          </a:stretch>
        </p:blipFill>
        <p:spPr>
          <a:xfrm>
            <a:off x="87832" y="682409"/>
            <a:ext cx="12016336" cy="5493181"/>
          </a:xfrm>
          <a:prstGeom prst="rect">
            <a:avLst/>
          </a:prstGeom>
        </p:spPr>
      </p:pic>
    </p:spTree>
    <p:extLst>
      <p:ext uri="{BB962C8B-B14F-4D97-AF65-F5344CB8AC3E}">
        <p14:creationId xmlns:p14="http://schemas.microsoft.com/office/powerpoint/2010/main" val="2318258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3FA2FD80-8EDD-9440-BB38-C0AFFA3DDDFF}"/>
              </a:ext>
            </a:extLst>
          </p:cNvPr>
          <p:cNvPicPr>
            <a:picLocks noChangeAspect="1"/>
          </p:cNvPicPr>
          <p:nvPr/>
        </p:nvPicPr>
        <p:blipFill>
          <a:blip r:embed="rId2"/>
          <a:stretch>
            <a:fillRect/>
          </a:stretch>
        </p:blipFill>
        <p:spPr>
          <a:xfrm>
            <a:off x="0" y="402700"/>
            <a:ext cx="12192000" cy="6562266"/>
          </a:xfrm>
          <a:prstGeom prst="rect">
            <a:avLst/>
          </a:prstGeom>
        </p:spPr>
      </p:pic>
    </p:spTree>
    <p:extLst>
      <p:ext uri="{BB962C8B-B14F-4D97-AF65-F5344CB8AC3E}">
        <p14:creationId xmlns:p14="http://schemas.microsoft.com/office/powerpoint/2010/main" val="2067794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ADCBAB38-8689-424F-BA27-58A654335DE2}"/>
              </a:ext>
            </a:extLst>
          </p:cNvPr>
          <p:cNvPicPr>
            <a:picLocks noChangeAspect="1"/>
          </p:cNvPicPr>
          <p:nvPr/>
        </p:nvPicPr>
        <p:blipFill>
          <a:blip r:embed="rId2"/>
          <a:stretch>
            <a:fillRect/>
          </a:stretch>
        </p:blipFill>
        <p:spPr>
          <a:xfrm>
            <a:off x="1196605" y="2080542"/>
            <a:ext cx="10263809" cy="2696916"/>
          </a:xfrm>
          <a:prstGeom prst="rect">
            <a:avLst/>
          </a:prstGeom>
        </p:spPr>
      </p:pic>
    </p:spTree>
    <p:extLst>
      <p:ext uri="{BB962C8B-B14F-4D97-AF65-F5344CB8AC3E}">
        <p14:creationId xmlns:p14="http://schemas.microsoft.com/office/powerpoint/2010/main" val="1289639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A7FDD12A-8A82-5D44-9862-5D848A9AF358}"/>
              </a:ext>
            </a:extLst>
          </p:cNvPr>
          <p:cNvPicPr>
            <a:picLocks noChangeAspect="1"/>
          </p:cNvPicPr>
          <p:nvPr/>
        </p:nvPicPr>
        <p:blipFill>
          <a:blip r:embed="rId2"/>
          <a:stretch>
            <a:fillRect/>
          </a:stretch>
        </p:blipFill>
        <p:spPr>
          <a:xfrm>
            <a:off x="1679943" y="439092"/>
            <a:ext cx="8832113" cy="5979816"/>
          </a:xfrm>
          <a:prstGeom prst="rect">
            <a:avLst/>
          </a:prstGeom>
        </p:spPr>
      </p:pic>
    </p:spTree>
    <p:extLst>
      <p:ext uri="{BB962C8B-B14F-4D97-AF65-F5344CB8AC3E}">
        <p14:creationId xmlns:p14="http://schemas.microsoft.com/office/powerpoint/2010/main" val="3830390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a:extLst>
              <a:ext uri="{FF2B5EF4-FFF2-40B4-BE49-F238E27FC236}">
                <a16:creationId xmlns:a16="http://schemas.microsoft.com/office/drawing/2014/main" id="{4F4E4493-435C-1E46-8F76-A23DC61F1295}"/>
              </a:ext>
            </a:extLst>
          </p:cNvPr>
          <p:cNvPicPr>
            <a:picLocks noGrp="1" noChangeAspect="1"/>
          </p:cNvPicPr>
          <p:nvPr>
            <p:ph idx="1"/>
          </p:nvPr>
        </p:nvPicPr>
        <p:blipFill>
          <a:blip r:embed="rId3"/>
          <a:stretch>
            <a:fillRect/>
          </a:stretch>
        </p:blipFill>
        <p:spPr>
          <a:xfrm>
            <a:off x="342337" y="887226"/>
            <a:ext cx="5426695" cy="5322336"/>
          </a:xfrm>
          <a:prstGeom prst="rect">
            <a:avLst/>
          </a:prstGeom>
        </p:spPr>
      </p:pic>
      <p:pic>
        <p:nvPicPr>
          <p:cNvPr id="5" name="圖片 4">
            <a:extLst>
              <a:ext uri="{FF2B5EF4-FFF2-40B4-BE49-F238E27FC236}">
                <a16:creationId xmlns:a16="http://schemas.microsoft.com/office/drawing/2014/main" id="{76369DD9-41B0-5D41-8813-2D32E69A761E}"/>
              </a:ext>
            </a:extLst>
          </p:cNvPr>
          <p:cNvPicPr>
            <a:picLocks noChangeAspect="1"/>
          </p:cNvPicPr>
          <p:nvPr/>
        </p:nvPicPr>
        <p:blipFill>
          <a:blip r:embed="rId4"/>
          <a:stretch>
            <a:fillRect/>
          </a:stretch>
        </p:blipFill>
        <p:spPr>
          <a:xfrm>
            <a:off x="6133191" y="887227"/>
            <a:ext cx="5501737" cy="5274392"/>
          </a:xfrm>
          <a:prstGeom prst="rect">
            <a:avLst/>
          </a:prstGeom>
        </p:spPr>
      </p:pic>
    </p:spTree>
    <p:extLst>
      <p:ext uri="{BB962C8B-B14F-4D97-AF65-F5344CB8AC3E}">
        <p14:creationId xmlns:p14="http://schemas.microsoft.com/office/powerpoint/2010/main" val="1384585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6380DE00-D1CA-9345-8966-AA6916B7A1A7}"/>
              </a:ext>
            </a:extLst>
          </p:cNvPr>
          <p:cNvPicPr>
            <a:picLocks noChangeAspect="1"/>
          </p:cNvPicPr>
          <p:nvPr/>
        </p:nvPicPr>
        <p:blipFill>
          <a:blip r:embed="rId3"/>
          <a:stretch>
            <a:fillRect/>
          </a:stretch>
        </p:blipFill>
        <p:spPr>
          <a:xfrm>
            <a:off x="4420535" y="152400"/>
            <a:ext cx="7137400" cy="6553200"/>
          </a:xfrm>
          <a:prstGeom prst="rect">
            <a:avLst/>
          </a:prstGeom>
        </p:spPr>
      </p:pic>
      <p:pic>
        <p:nvPicPr>
          <p:cNvPr id="5" name="圖片 4">
            <a:extLst>
              <a:ext uri="{FF2B5EF4-FFF2-40B4-BE49-F238E27FC236}">
                <a16:creationId xmlns:a16="http://schemas.microsoft.com/office/drawing/2014/main" id="{FFC2B216-5022-E944-BDFF-8C77DE2CADCB}"/>
              </a:ext>
            </a:extLst>
          </p:cNvPr>
          <p:cNvPicPr>
            <a:picLocks noChangeAspect="1"/>
          </p:cNvPicPr>
          <p:nvPr/>
        </p:nvPicPr>
        <p:blipFill>
          <a:blip r:embed="rId4"/>
          <a:stretch>
            <a:fillRect/>
          </a:stretch>
        </p:blipFill>
        <p:spPr>
          <a:xfrm>
            <a:off x="0" y="152399"/>
            <a:ext cx="4472241" cy="477187"/>
          </a:xfrm>
          <a:prstGeom prst="rect">
            <a:avLst/>
          </a:prstGeom>
        </p:spPr>
      </p:pic>
      <p:pic>
        <p:nvPicPr>
          <p:cNvPr id="6" name="內容版面配置區 3">
            <a:extLst>
              <a:ext uri="{FF2B5EF4-FFF2-40B4-BE49-F238E27FC236}">
                <a16:creationId xmlns:a16="http://schemas.microsoft.com/office/drawing/2014/main" id="{31585DFF-F04F-0041-90E1-6A606035193E}"/>
              </a:ext>
            </a:extLst>
          </p:cNvPr>
          <p:cNvPicPr>
            <a:picLocks noGrp="1" noChangeAspect="1"/>
          </p:cNvPicPr>
          <p:nvPr>
            <p:ph idx="1"/>
          </p:nvPr>
        </p:nvPicPr>
        <p:blipFill>
          <a:blip r:embed="rId5"/>
          <a:stretch>
            <a:fillRect/>
          </a:stretch>
        </p:blipFill>
        <p:spPr>
          <a:xfrm>
            <a:off x="289377" y="997586"/>
            <a:ext cx="3841781" cy="3767901"/>
          </a:xfrm>
          <a:prstGeom prst="rect">
            <a:avLst/>
          </a:prstGeom>
        </p:spPr>
      </p:pic>
    </p:spTree>
    <p:extLst>
      <p:ext uri="{BB962C8B-B14F-4D97-AF65-F5344CB8AC3E}">
        <p14:creationId xmlns:p14="http://schemas.microsoft.com/office/powerpoint/2010/main" val="3543487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33CDC7-61D3-8847-8B0E-DC55A4ED5FFA}"/>
              </a:ext>
            </a:extLst>
          </p:cNvPr>
          <p:cNvSpPr>
            <a:spLocks noGrp="1"/>
          </p:cNvSpPr>
          <p:nvPr>
            <p:ph type="title"/>
          </p:nvPr>
        </p:nvSpPr>
        <p:spPr/>
        <p:txBody>
          <a:bodyPr/>
          <a:lstStyle/>
          <a:p>
            <a:r>
              <a:rPr kumimoji="1" lang="en-US" altLang="zh-TW" dirty="0"/>
              <a:t>LSTM</a:t>
            </a:r>
            <a:endParaRPr kumimoji="1" lang="zh-TW" altLang="en-US" dirty="0"/>
          </a:p>
        </p:txBody>
      </p:sp>
      <p:pic>
        <p:nvPicPr>
          <p:cNvPr id="4" name="圖片 3">
            <a:extLst>
              <a:ext uri="{FF2B5EF4-FFF2-40B4-BE49-F238E27FC236}">
                <a16:creationId xmlns:a16="http://schemas.microsoft.com/office/drawing/2014/main" id="{F3ED250F-ED93-6F4F-A88E-B6731FF35676}"/>
              </a:ext>
            </a:extLst>
          </p:cNvPr>
          <p:cNvPicPr>
            <a:picLocks noChangeAspect="1"/>
          </p:cNvPicPr>
          <p:nvPr/>
        </p:nvPicPr>
        <p:blipFill>
          <a:blip r:embed="rId2"/>
          <a:stretch>
            <a:fillRect/>
          </a:stretch>
        </p:blipFill>
        <p:spPr>
          <a:xfrm>
            <a:off x="3547241" y="165834"/>
            <a:ext cx="5360276" cy="6221364"/>
          </a:xfrm>
          <a:prstGeom prst="rect">
            <a:avLst/>
          </a:prstGeom>
        </p:spPr>
      </p:pic>
    </p:spTree>
    <p:extLst>
      <p:ext uri="{BB962C8B-B14F-4D97-AF65-F5344CB8AC3E}">
        <p14:creationId xmlns:p14="http://schemas.microsoft.com/office/powerpoint/2010/main" val="2430258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97DD19-D6AD-E544-A66E-E6650810D553}"/>
              </a:ext>
            </a:extLst>
          </p:cNvPr>
          <p:cNvSpPr>
            <a:spLocks noGrp="1"/>
          </p:cNvSpPr>
          <p:nvPr>
            <p:ph type="title"/>
          </p:nvPr>
        </p:nvSpPr>
        <p:spPr>
          <a:xfrm>
            <a:off x="394186" y="31048"/>
            <a:ext cx="4327716" cy="1108204"/>
          </a:xfrm>
        </p:spPr>
        <p:txBody>
          <a:bodyPr/>
          <a:lstStyle/>
          <a:p>
            <a:r>
              <a:rPr kumimoji="1" lang="en-US" altLang="zh-TW" dirty="0"/>
              <a:t>Experiment(1/3)</a:t>
            </a:r>
            <a:endParaRPr kumimoji="1" lang="zh-TW" altLang="en-US" dirty="0"/>
          </a:p>
        </p:txBody>
      </p:sp>
      <p:pic>
        <p:nvPicPr>
          <p:cNvPr id="4" name="圖片 3">
            <a:extLst>
              <a:ext uri="{FF2B5EF4-FFF2-40B4-BE49-F238E27FC236}">
                <a16:creationId xmlns:a16="http://schemas.microsoft.com/office/drawing/2014/main" id="{F38E190F-A2DE-6543-AE90-3D58829DB669}"/>
              </a:ext>
            </a:extLst>
          </p:cNvPr>
          <p:cNvPicPr>
            <a:picLocks noChangeAspect="1"/>
          </p:cNvPicPr>
          <p:nvPr/>
        </p:nvPicPr>
        <p:blipFill>
          <a:blip r:embed="rId3"/>
          <a:stretch>
            <a:fillRect/>
          </a:stretch>
        </p:blipFill>
        <p:spPr>
          <a:xfrm>
            <a:off x="1197033" y="1495125"/>
            <a:ext cx="8744989" cy="4397197"/>
          </a:xfrm>
          <a:prstGeom prst="rect">
            <a:avLst/>
          </a:prstGeom>
        </p:spPr>
      </p:pic>
    </p:spTree>
    <p:extLst>
      <p:ext uri="{BB962C8B-B14F-4D97-AF65-F5344CB8AC3E}">
        <p14:creationId xmlns:p14="http://schemas.microsoft.com/office/powerpoint/2010/main" val="1110613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a:extLst>
              <a:ext uri="{FF2B5EF4-FFF2-40B4-BE49-F238E27FC236}">
                <a16:creationId xmlns:a16="http://schemas.microsoft.com/office/drawing/2014/main" id="{E573A73E-6C21-AB4D-9AE7-33EE8EA7210F}"/>
              </a:ext>
            </a:extLst>
          </p:cNvPr>
          <p:cNvSpPr>
            <a:spLocks noGrp="1"/>
          </p:cNvSpPr>
          <p:nvPr>
            <p:ph type="title"/>
          </p:nvPr>
        </p:nvSpPr>
        <p:spPr>
          <a:xfrm>
            <a:off x="391617" y="293959"/>
            <a:ext cx="8197747" cy="1031604"/>
          </a:xfrm>
        </p:spPr>
        <p:txBody>
          <a:bodyPr/>
          <a:lstStyle/>
          <a:p>
            <a:r>
              <a:rPr kumimoji="1" lang="en-US" altLang="zh-TW" dirty="0"/>
              <a:t>Experiment(2/3)</a:t>
            </a:r>
            <a:endParaRPr kumimoji="1" lang="zh-TW" altLang="en-US" dirty="0"/>
          </a:p>
        </p:txBody>
      </p:sp>
      <p:pic>
        <p:nvPicPr>
          <p:cNvPr id="3" name="圖片 2">
            <a:extLst>
              <a:ext uri="{FF2B5EF4-FFF2-40B4-BE49-F238E27FC236}">
                <a16:creationId xmlns:a16="http://schemas.microsoft.com/office/drawing/2014/main" id="{66005DAB-9735-7C42-991A-B760978085A3}"/>
              </a:ext>
            </a:extLst>
          </p:cNvPr>
          <p:cNvPicPr>
            <a:picLocks noChangeAspect="1"/>
          </p:cNvPicPr>
          <p:nvPr/>
        </p:nvPicPr>
        <p:blipFill>
          <a:blip r:embed="rId2"/>
          <a:stretch>
            <a:fillRect/>
          </a:stretch>
        </p:blipFill>
        <p:spPr>
          <a:xfrm>
            <a:off x="31605" y="1793399"/>
            <a:ext cx="12160395" cy="4025510"/>
          </a:xfrm>
          <a:prstGeom prst="rect">
            <a:avLst/>
          </a:prstGeom>
        </p:spPr>
      </p:pic>
    </p:spTree>
    <p:extLst>
      <p:ext uri="{BB962C8B-B14F-4D97-AF65-F5344CB8AC3E}">
        <p14:creationId xmlns:p14="http://schemas.microsoft.com/office/powerpoint/2010/main" val="3574112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97DD19-D6AD-E544-A66E-E6650810D553}"/>
              </a:ext>
            </a:extLst>
          </p:cNvPr>
          <p:cNvSpPr>
            <a:spLocks noGrp="1"/>
          </p:cNvSpPr>
          <p:nvPr>
            <p:ph type="title"/>
          </p:nvPr>
        </p:nvSpPr>
        <p:spPr/>
        <p:txBody>
          <a:bodyPr/>
          <a:lstStyle/>
          <a:p>
            <a:r>
              <a:rPr kumimoji="1" lang="en-US" altLang="zh-TW" dirty="0"/>
              <a:t>Experiment(3/3)</a:t>
            </a:r>
            <a:endParaRPr kumimoji="1" lang="zh-TW" altLang="en-US" dirty="0"/>
          </a:p>
        </p:txBody>
      </p:sp>
      <p:pic>
        <p:nvPicPr>
          <p:cNvPr id="3" name="圖片 2">
            <a:extLst>
              <a:ext uri="{FF2B5EF4-FFF2-40B4-BE49-F238E27FC236}">
                <a16:creationId xmlns:a16="http://schemas.microsoft.com/office/drawing/2014/main" id="{53743B66-910C-2240-91D0-2AC0D1BA8D8C}"/>
              </a:ext>
            </a:extLst>
          </p:cNvPr>
          <p:cNvPicPr>
            <a:picLocks noChangeAspect="1"/>
          </p:cNvPicPr>
          <p:nvPr/>
        </p:nvPicPr>
        <p:blipFill>
          <a:blip r:embed="rId3"/>
          <a:stretch>
            <a:fillRect/>
          </a:stretch>
        </p:blipFill>
        <p:spPr>
          <a:xfrm>
            <a:off x="130183" y="1690688"/>
            <a:ext cx="11931634" cy="4257761"/>
          </a:xfrm>
          <a:prstGeom prst="rect">
            <a:avLst/>
          </a:prstGeom>
        </p:spPr>
      </p:pic>
    </p:spTree>
    <p:extLst>
      <p:ext uri="{BB962C8B-B14F-4D97-AF65-F5344CB8AC3E}">
        <p14:creationId xmlns:p14="http://schemas.microsoft.com/office/powerpoint/2010/main" val="3785904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0D893F-EB37-6D4E-9A98-47C41E2985D4}"/>
              </a:ext>
            </a:extLst>
          </p:cNvPr>
          <p:cNvSpPr>
            <a:spLocks noGrp="1"/>
          </p:cNvSpPr>
          <p:nvPr>
            <p:ph type="title"/>
          </p:nvPr>
        </p:nvSpPr>
        <p:spPr>
          <a:xfrm>
            <a:off x="838200" y="1138238"/>
            <a:ext cx="10515600" cy="2852737"/>
          </a:xfrm>
        </p:spPr>
        <p:txBody>
          <a:bodyPr/>
          <a:lstStyle/>
          <a:p>
            <a:pPr algn="ctr"/>
            <a:r>
              <a:rPr kumimoji="1" lang="en-US" altLang="zh-TW" dirty="0"/>
              <a:t>Thank you!</a:t>
            </a:r>
            <a:endParaRPr kumimoji="1" lang="zh-TW" altLang="en-US" dirty="0"/>
          </a:p>
        </p:txBody>
      </p:sp>
    </p:spTree>
    <p:extLst>
      <p:ext uri="{BB962C8B-B14F-4D97-AF65-F5344CB8AC3E}">
        <p14:creationId xmlns:p14="http://schemas.microsoft.com/office/powerpoint/2010/main" val="35401045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1329</TotalTime>
  <Words>366</Words>
  <Application>Microsoft Macintosh PowerPoint</Application>
  <PresentationFormat>寬螢幕</PresentationFormat>
  <Paragraphs>28</Paragraphs>
  <Slides>15</Slides>
  <Notes>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Arial</vt:lpstr>
      <vt:lpstr>Calibri</vt:lpstr>
      <vt:lpstr>Calibri Light</vt:lpstr>
      <vt:lpstr>Office 佈景主題</vt:lpstr>
      <vt:lpstr>Using millions of emoji occurrences to learn any-domain representations for detecting sentiment, emotion and sarcasm</vt:lpstr>
      <vt:lpstr>Abstract</vt:lpstr>
      <vt:lpstr>PowerPoint 簡報</vt:lpstr>
      <vt:lpstr>PowerPoint 簡報</vt:lpstr>
      <vt:lpstr>PowerPoint 簡報</vt:lpstr>
      <vt:lpstr>PowerPoint 簡報</vt:lpstr>
      <vt:lpstr>PowerPoint 簡報</vt:lpstr>
      <vt:lpstr>PowerPoint 簡報</vt:lpstr>
      <vt:lpstr>PowerPoint 簡報</vt:lpstr>
      <vt:lpstr>PowerPoint 簡報</vt:lpstr>
      <vt:lpstr>LSTM</vt:lpstr>
      <vt:lpstr>Experiment(1/3)</vt:lpstr>
      <vt:lpstr>Experiment(2/3)</vt:lpstr>
      <vt:lpstr>Experiment(3/3)</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APPROXIMATE K-NEAREST NEIGHBOUR BASED SPATIAL CLUSTERING USING K-D TREE </dc:title>
  <dc:creator>M073040105</dc:creator>
  <cp:lastModifiedBy>M073040105</cp:lastModifiedBy>
  <cp:revision>308</cp:revision>
  <dcterms:created xsi:type="dcterms:W3CDTF">2020-01-08T16:42:43Z</dcterms:created>
  <dcterms:modified xsi:type="dcterms:W3CDTF">2020-05-12T10:17:35Z</dcterms:modified>
</cp:coreProperties>
</file>