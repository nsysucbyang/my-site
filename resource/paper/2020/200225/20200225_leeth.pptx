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321" r:id="rId2"/>
    <p:sldId id="311" r:id="rId3"/>
    <p:sldId id="306" r:id="rId4"/>
    <p:sldId id="322" r:id="rId5"/>
    <p:sldId id="323" r:id="rId6"/>
    <p:sldId id="324" r:id="rId7"/>
    <p:sldId id="325" r:id="rId8"/>
    <p:sldId id="326" r:id="rId9"/>
    <p:sldId id="327"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3971" autoAdjust="0"/>
  </p:normalViewPr>
  <p:slideViewPr>
    <p:cSldViewPr snapToGrid="0">
      <p:cViewPr varScale="1">
        <p:scale>
          <a:sx n="68" d="100"/>
          <a:sy n="68" d="100"/>
        </p:scale>
        <p:origin x="1464" y="5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2020/2/25</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雄死ㄍㄟ </a:t>
            </a:r>
            <a:r>
              <a:rPr lang="en-US" altLang="zh-TW" sz="1200" b="0" i="0" kern="1200" dirty="0" err="1">
                <a:solidFill>
                  <a:schemeClr val="tx1"/>
                </a:solidFill>
                <a:effectLst/>
                <a:latin typeface="+mn-lt"/>
                <a:ea typeface="+mn-ea"/>
                <a:cs typeface="+mn-cs"/>
              </a:rPr>
              <a:t>nen</a:t>
            </a:r>
            <a:r>
              <a:rPr lang="en-US" altLang="zh-TW" sz="1200" b="0" i="0" kern="1200" dirty="0">
                <a:solidFill>
                  <a:schemeClr val="tx1"/>
                </a:solidFill>
                <a:effectLst/>
                <a:latin typeface="+mn-lt"/>
                <a:ea typeface="+mn-ea"/>
                <a:cs typeface="+mn-cs"/>
              </a:rPr>
              <a:t> </a:t>
            </a:r>
            <a:r>
              <a:rPr lang="en-US" altLang="zh-TW" sz="1200" b="0" i="0" kern="1200" dirty="0" err="1">
                <a:solidFill>
                  <a:schemeClr val="tx1"/>
                </a:solidFill>
                <a:effectLst/>
                <a:latin typeface="+mn-lt"/>
                <a:ea typeface="+mn-ea"/>
                <a:cs typeface="+mn-cs"/>
              </a:rPr>
              <a:t>na</a:t>
            </a:r>
            <a:r>
              <a:rPr lang="en-US" altLang="zh-TW" sz="1200" b="0" i="0" kern="1200" dirty="0">
                <a:solidFill>
                  <a:schemeClr val="tx1"/>
                </a:solidFill>
                <a:effectLst/>
                <a:latin typeface="+mn-lt"/>
                <a:ea typeface="+mn-ea"/>
                <a:cs typeface="+mn-cs"/>
              </a:rPr>
              <a:t> </a:t>
            </a:r>
            <a:r>
              <a:rPr lang="en-US" altLang="zh-TW" sz="1200" b="0" i="0" kern="1200" dirty="0" err="1">
                <a:solidFill>
                  <a:schemeClr val="tx1"/>
                </a:solidFill>
                <a:effectLst/>
                <a:latin typeface="+mn-lt"/>
                <a:ea typeface="+mn-ea"/>
                <a:cs typeface="+mn-cs"/>
              </a:rPr>
              <a:t>ga</a:t>
            </a:r>
            <a:r>
              <a:rPr lang="en-US" altLang="zh-TW" sz="1200" b="0" i="0" kern="1200" dirty="0">
                <a:solidFill>
                  <a:schemeClr val="tx1"/>
                </a:solidFill>
                <a:effectLst/>
                <a:latin typeface="+mn-lt"/>
                <a:ea typeface="+mn-ea"/>
                <a:cs typeface="+mn-cs"/>
              </a:rPr>
              <a:t> </a:t>
            </a:r>
            <a:r>
              <a:rPr lang="zh-TW" altLang="en-US" sz="1200" b="0" i="0" kern="1200" dirty="0">
                <a:solidFill>
                  <a:schemeClr val="tx1"/>
                </a:solidFill>
                <a:effectLst/>
                <a:latin typeface="+mn-lt"/>
                <a:ea typeface="+mn-ea"/>
                <a:cs typeface="+mn-cs"/>
              </a:rPr>
              <a:t>  黑給 虎摟</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3114125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zh-TW" altLang="en-US" dirty="0"/>
              <a:t>敲乎李 </a:t>
            </a:r>
            <a:r>
              <a:rPr lang="en-US" altLang="zh-TW" dirty="0"/>
              <a:t>ate </a:t>
            </a:r>
            <a:r>
              <a:rPr lang="zh-TW" altLang="en-US" dirty="0"/>
              <a:t>敖</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Aligning distance matrices for structural alignment</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13704134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Aligning distance matrices for structural alignment</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34974969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Aligning distance matrices for structural alignment</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865787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Aligning distance matrices for structural alignment</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15187577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Aligning distance matrices for structural alignment</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10694182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Aligning distance matrices for structural alignment</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14670968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Aligning distance matrices for structural alignment</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1506328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2020/2/25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2020/2/25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2020/2/25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2020/2/25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2020/2/25</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2020/2/25</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2020/2/25</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2020/2/25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2020/2/25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2020/2/25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2020/2/25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2020/2/25</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330148" y="1449321"/>
            <a:ext cx="8348184" cy="877881"/>
          </a:xfrm>
        </p:spPr>
        <p:txBody>
          <a:bodyPr>
            <a:noAutofit/>
          </a:bodyPr>
          <a:lstStyle/>
          <a:p>
            <a:r>
              <a:rPr lang="en-US" altLang="zh-TW" sz="4000" dirty="0">
                <a:latin typeface="Times New Roman" panose="02020603050405020304" pitchFamily="18" charset="0"/>
                <a:cs typeface="Times New Roman" panose="02020603050405020304" pitchFamily="18" charset="0"/>
              </a:rPr>
              <a:t>A Revised Algorithm to Find Longest Common</a:t>
            </a:r>
            <a:r>
              <a:rPr lang="zh-TW" altLang="en-US" sz="4000" dirty="0">
                <a:latin typeface="Times New Roman" panose="02020603050405020304" pitchFamily="18" charset="0"/>
                <a:cs typeface="Times New Roman" panose="02020603050405020304" pitchFamily="18" charset="0"/>
              </a:rPr>
              <a:t> </a:t>
            </a:r>
            <a:r>
              <a:rPr lang="en-US" altLang="zh-TW" sz="4000" dirty="0">
                <a:latin typeface="Times New Roman" panose="02020603050405020304" pitchFamily="18" charset="0"/>
                <a:cs typeface="Times New Roman" panose="02020603050405020304" pitchFamily="18" charset="0"/>
              </a:rPr>
              <a:t>Subsequence</a:t>
            </a: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236116" y="2811283"/>
            <a:ext cx="8536249" cy="717223"/>
          </a:xfrm>
        </p:spPr>
        <p:txBody>
          <a:bodyPr>
            <a:noAutofit/>
          </a:bodyPr>
          <a:lstStyle/>
          <a:p>
            <a:r>
              <a:rPr lang="fr-FR" altLang="zh-TW" sz="2800" dirty="0">
                <a:latin typeface="Times New Roman" panose="02020603050405020304" pitchFamily="18" charset="0"/>
                <a:cs typeface="Times New Roman" panose="02020603050405020304" pitchFamily="18" charset="0"/>
              </a:rPr>
              <a:t>Deena Nath, Jitendra Kurmi, Deveki Nandan Shukla</a:t>
            </a: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761182" y="5443584"/>
            <a:ext cx="3486173"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 </a:t>
            </a:r>
            <a:r>
              <a:rPr lang="en-US" altLang="zh-TW" sz="1800" dirty="0" err="1">
                <a:latin typeface="Times New Roman" panose="02020603050405020304" pitchFamily="18" charset="0"/>
                <a:cs typeface="Times New Roman" panose="02020603050405020304" pitchFamily="18" charset="0"/>
              </a:rPr>
              <a:t>Tz</a:t>
            </a:r>
            <a:r>
              <a:rPr lang="en-US" altLang="zh-TW" sz="1800" dirty="0">
                <a:latin typeface="Times New Roman" panose="02020603050405020304" pitchFamily="18" charset="0"/>
                <a:cs typeface="Times New Roman" panose="02020603050405020304" pitchFamily="18" charset="0"/>
              </a:rPr>
              <a:t>-Hsu Lee</a:t>
            </a: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 : Feb. 25, 2020.</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p:cNvSpPr/>
          <p:nvPr/>
        </p:nvSpPr>
        <p:spPr>
          <a:xfrm>
            <a:off x="692795" y="3701215"/>
            <a:ext cx="7622889" cy="1569660"/>
          </a:xfrm>
          <a:prstGeom prst="rect">
            <a:avLst/>
          </a:prstGeom>
        </p:spPr>
        <p:txBody>
          <a:bodyPr wrap="square">
            <a:spAutoFit/>
          </a:bodyPr>
          <a:lstStyle/>
          <a:p>
            <a:pPr algn="ct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International Journal for Research in Applied Science &amp; Engineering Technology (IJRASET)</a:t>
            </a:r>
          </a:p>
          <a:p>
            <a:pPr algn="ct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 ISSN: 2321-9653; IC Value: 45.98; SJ Impact Factor: 6.887</a:t>
            </a:r>
          </a:p>
          <a:p>
            <a:pPr algn="ct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Volume 6 Issue IV</a:t>
            </a:r>
            <a:endParaRPr lang="zh-TW"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9859479"/>
      </p:ext>
    </p:extLst>
  </p:cSld>
  <p:clrMapOvr>
    <a:masterClrMapping/>
  </p:clrMapOvr>
  <mc:AlternateContent xmlns:mc="http://schemas.openxmlformats.org/markup-compatibility/2006" xmlns:p14="http://schemas.microsoft.com/office/powerpoint/2010/main">
    <mc:Choice Requires="p14">
      <p:transition spd="slow" p14:dur="2000" advTm="2519">
        <p:cut/>
      </p:transition>
    </mc:Choice>
    <mc:Fallback xmlns="">
      <p:transition spd="slow" advTm="2519">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1057363"/>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The aim of this paper is to make a revised algorithm in order to fetch the longest common subsequence from the given two strings ‘X’ and ‘Y’ for DNA matching in molecular biology etc. The revised algorithm prominence on the running time optimization and reduces the space and time complexity. The analysis of comparison between revised and current dynamic LCS has also performed. Moreover, the anticipated significance of this algorithm is to apply this algorithm in multiple sequences.</a:t>
            </a:r>
          </a:p>
        </p:txBody>
      </p:sp>
    </p:spTree>
    <p:extLst>
      <p:ext uri="{BB962C8B-B14F-4D97-AF65-F5344CB8AC3E}">
        <p14:creationId xmlns:p14="http://schemas.microsoft.com/office/powerpoint/2010/main" val="39944839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Example(1/5)</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5" name="內容版面配置區 5">
            <a:extLst>
              <a:ext uri="{FF2B5EF4-FFF2-40B4-BE49-F238E27FC236}">
                <a16:creationId xmlns:a16="http://schemas.microsoft.com/office/drawing/2014/main" id="{3CA8D1D5-6B20-4285-BB0C-86AEE094246D}"/>
              </a:ext>
            </a:extLst>
          </p:cNvPr>
          <p:cNvSpPr>
            <a:spLocks noGrp="1"/>
          </p:cNvSpPr>
          <p:nvPr>
            <p:ph idx="1"/>
          </p:nvPr>
        </p:nvSpPr>
        <p:spPr>
          <a:xfrm>
            <a:off x="628089" y="1569249"/>
            <a:ext cx="7887821" cy="4354433"/>
          </a:xfrm>
        </p:spPr>
        <p:txBody>
          <a:bodyPr>
            <a:noAutofit/>
          </a:bodyPr>
          <a:lstStyle/>
          <a:p>
            <a:r>
              <a:rPr lang="en-US" altLang="zh-TW" sz="2400" dirty="0">
                <a:latin typeface="Times New Roman" panose="02020603050405020304" pitchFamily="18" charset="0"/>
                <a:cs typeface="Times New Roman" panose="02020603050405020304" pitchFamily="18" charset="0"/>
              </a:rPr>
              <a:t>X = </a:t>
            </a:r>
            <a:r>
              <a:rPr lang="en-US" altLang="zh-TW" sz="2400" dirty="0">
                <a:solidFill>
                  <a:srgbClr val="FF0000"/>
                </a:solidFill>
                <a:latin typeface="Times New Roman" panose="02020603050405020304" pitchFamily="18" charset="0"/>
                <a:cs typeface="Times New Roman" panose="02020603050405020304" pitchFamily="18" charset="0"/>
              </a:rPr>
              <a:t>B</a:t>
            </a:r>
            <a:r>
              <a:rPr lang="en-US" altLang="zh-TW" sz="2400" dirty="0">
                <a:latin typeface="Times New Roman" panose="02020603050405020304" pitchFamily="18" charset="0"/>
                <a:cs typeface="Times New Roman" panose="02020603050405020304" pitchFamily="18" charset="0"/>
              </a:rPr>
              <a:t>C</a:t>
            </a:r>
            <a:r>
              <a:rPr lang="en-US" altLang="zh-TW" sz="2400" dirty="0">
                <a:solidFill>
                  <a:srgbClr val="FF0000"/>
                </a:solidFill>
                <a:latin typeface="Times New Roman" panose="02020603050405020304" pitchFamily="18" charset="0"/>
                <a:cs typeface="Times New Roman" panose="02020603050405020304" pitchFamily="18" charset="0"/>
              </a:rPr>
              <a:t>D</a:t>
            </a:r>
            <a:r>
              <a:rPr lang="en-US" altLang="zh-TW" sz="2400" dirty="0">
                <a:latin typeface="Times New Roman" panose="02020603050405020304" pitchFamily="18" charset="0"/>
                <a:cs typeface="Times New Roman" panose="02020603050405020304" pitchFamily="18" charset="0"/>
              </a:rPr>
              <a:t>A</a:t>
            </a:r>
            <a:r>
              <a:rPr lang="en-US" altLang="zh-TW" sz="2400" dirty="0">
                <a:solidFill>
                  <a:srgbClr val="FF0000"/>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B</a:t>
            </a:r>
            <a:r>
              <a:rPr lang="en-US" altLang="zh-TW" sz="2400" dirty="0">
                <a:solidFill>
                  <a:srgbClr val="FF0000"/>
                </a:solidFill>
                <a:latin typeface="Times New Roman" panose="02020603050405020304" pitchFamily="18" charset="0"/>
                <a:cs typeface="Times New Roman" panose="02020603050405020304" pitchFamily="18" charset="0"/>
              </a:rPr>
              <a:t>A</a:t>
            </a:r>
          </a:p>
          <a:p>
            <a:pPr marL="0" indent="0">
              <a:buNone/>
            </a:pPr>
            <a:endParaRPr lang="en-US" altLang="zh-TW" sz="2400" dirty="0">
              <a:solidFill>
                <a:srgbClr val="FF0000"/>
              </a:solidFill>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Y = A</a:t>
            </a:r>
            <a:r>
              <a:rPr lang="en-US" altLang="zh-TW" sz="2400" dirty="0">
                <a:solidFill>
                  <a:srgbClr val="FF0000"/>
                </a:solidFill>
                <a:latin typeface="Times New Roman" panose="02020603050405020304" pitchFamily="18" charset="0"/>
                <a:cs typeface="Times New Roman" panose="02020603050405020304" pitchFamily="18" charset="0"/>
              </a:rPr>
              <a:t>BD</a:t>
            </a:r>
            <a:r>
              <a:rPr lang="en-US" altLang="zh-TW" sz="2400" dirty="0">
                <a:latin typeface="Times New Roman" panose="02020603050405020304" pitchFamily="18" charset="0"/>
                <a:cs typeface="Times New Roman" panose="02020603050405020304" pitchFamily="18" charset="0"/>
              </a:rPr>
              <a:t>B</a:t>
            </a:r>
            <a:r>
              <a:rPr lang="en-US" altLang="zh-TW" sz="2400" dirty="0">
                <a:solidFill>
                  <a:srgbClr val="FF0000"/>
                </a:solidFill>
                <a:latin typeface="Times New Roman" panose="02020603050405020304" pitchFamily="18" charset="0"/>
                <a:cs typeface="Times New Roman" panose="02020603050405020304" pitchFamily="18" charset="0"/>
              </a:rPr>
              <a:t>CA</a:t>
            </a:r>
          </a:p>
          <a:p>
            <a:endParaRPr lang="en-US" altLang="zh-TW" sz="2400" dirty="0">
              <a:solidFill>
                <a:srgbClr val="FF0000"/>
              </a:solidFill>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LCS(X,Y) = BDCA</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Matrix C [m x n] (m = 7, n = 6)</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081170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Example(2/5)</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5" name="內容版面配置區 5">
            <a:extLst>
              <a:ext uri="{FF2B5EF4-FFF2-40B4-BE49-F238E27FC236}">
                <a16:creationId xmlns:a16="http://schemas.microsoft.com/office/drawing/2014/main" id="{3CA8D1D5-6B20-4285-BB0C-86AEE094246D}"/>
              </a:ext>
            </a:extLst>
          </p:cNvPr>
          <p:cNvSpPr>
            <a:spLocks noGrp="1"/>
          </p:cNvSpPr>
          <p:nvPr>
            <p:ph idx="1"/>
          </p:nvPr>
        </p:nvSpPr>
        <p:spPr>
          <a:xfrm>
            <a:off x="734957" y="1251783"/>
            <a:ext cx="7887821" cy="4354433"/>
          </a:xfrm>
        </p:spPr>
        <p:txBody>
          <a:bodyPr>
            <a:noAutofit/>
          </a:bodyPr>
          <a:lstStyle/>
          <a:p>
            <a:r>
              <a:rPr lang="en-US" altLang="zh-TW" sz="2400" dirty="0">
                <a:latin typeface="Times New Roman" panose="02020603050405020304" pitchFamily="18" charset="0"/>
                <a:cs typeface="Times New Roman" panose="02020603050405020304" pitchFamily="18" charset="0"/>
              </a:rPr>
              <a:t>X = </a:t>
            </a:r>
            <a:r>
              <a:rPr lang="en-US" altLang="zh-TW" sz="2400" dirty="0">
                <a:solidFill>
                  <a:srgbClr val="FF0000"/>
                </a:solidFill>
                <a:latin typeface="Times New Roman" panose="02020603050405020304" pitchFamily="18" charset="0"/>
                <a:cs typeface="Times New Roman" panose="02020603050405020304" pitchFamily="18" charset="0"/>
              </a:rPr>
              <a:t>B</a:t>
            </a:r>
            <a:r>
              <a:rPr lang="en-US" altLang="zh-TW" sz="2400" dirty="0">
                <a:latin typeface="Times New Roman" panose="02020603050405020304" pitchFamily="18" charset="0"/>
                <a:cs typeface="Times New Roman" panose="02020603050405020304" pitchFamily="18" charset="0"/>
              </a:rPr>
              <a:t>C</a:t>
            </a:r>
            <a:r>
              <a:rPr lang="en-US" altLang="zh-TW" sz="2400" dirty="0">
                <a:solidFill>
                  <a:srgbClr val="FF0000"/>
                </a:solidFill>
                <a:latin typeface="Times New Roman" panose="02020603050405020304" pitchFamily="18" charset="0"/>
                <a:cs typeface="Times New Roman" panose="02020603050405020304" pitchFamily="18" charset="0"/>
              </a:rPr>
              <a:t>D</a:t>
            </a:r>
            <a:r>
              <a:rPr lang="en-US" altLang="zh-TW" sz="2400" dirty="0">
                <a:latin typeface="Times New Roman" panose="02020603050405020304" pitchFamily="18" charset="0"/>
                <a:cs typeface="Times New Roman" panose="02020603050405020304" pitchFamily="18" charset="0"/>
              </a:rPr>
              <a:t>A</a:t>
            </a:r>
            <a:r>
              <a:rPr lang="en-US" altLang="zh-TW" sz="2400" dirty="0">
                <a:solidFill>
                  <a:srgbClr val="FF0000"/>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B</a:t>
            </a:r>
            <a:r>
              <a:rPr lang="en-US" altLang="zh-TW" sz="2400" dirty="0">
                <a:solidFill>
                  <a:srgbClr val="FF0000"/>
                </a:solidFill>
                <a:latin typeface="Times New Roman" panose="02020603050405020304" pitchFamily="18" charset="0"/>
                <a:cs typeface="Times New Roman" panose="02020603050405020304" pitchFamily="18" charset="0"/>
              </a:rPr>
              <a:t>A</a:t>
            </a:r>
          </a:p>
          <a:p>
            <a:pPr marL="0" indent="0">
              <a:buNone/>
            </a:pPr>
            <a:endParaRPr lang="en-US" altLang="zh-TW" sz="2400" dirty="0">
              <a:solidFill>
                <a:srgbClr val="FF0000"/>
              </a:solidFill>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Y = A</a:t>
            </a:r>
            <a:r>
              <a:rPr lang="en-US" altLang="zh-TW" sz="2400" dirty="0">
                <a:solidFill>
                  <a:srgbClr val="FF0000"/>
                </a:solidFill>
                <a:latin typeface="Times New Roman" panose="02020603050405020304" pitchFamily="18" charset="0"/>
                <a:cs typeface="Times New Roman" panose="02020603050405020304" pitchFamily="18" charset="0"/>
              </a:rPr>
              <a:t>BD</a:t>
            </a:r>
            <a:r>
              <a:rPr lang="en-US" altLang="zh-TW" sz="2400" dirty="0">
                <a:latin typeface="Times New Roman" panose="02020603050405020304" pitchFamily="18" charset="0"/>
                <a:cs typeface="Times New Roman" panose="02020603050405020304" pitchFamily="18" charset="0"/>
              </a:rPr>
              <a:t>B</a:t>
            </a:r>
            <a:r>
              <a:rPr lang="en-US" altLang="zh-TW" sz="2400" dirty="0">
                <a:solidFill>
                  <a:srgbClr val="FF0000"/>
                </a:solidFill>
                <a:latin typeface="Times New Roman" panose="02020603050405020304" pitchFamily="18" charset="0"/>
                <a:cs typeface="Times New Roman" panose="02020603050405020304" pitchFamily="18" charset="0"/>
              </a:rPr>
              <a:t>CA</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	C[0][0] = 0  			 C[0][0] = 0  </a:t>
            </a:r>
          </a:p>
          <a:p>
            <a:pPr marL="0" indent="0">
              <a:buNone/>
            </a:pPr>
            <a:r>
              <a:rPr lang="en-US" altLang="zh-TW" sz="2400" dirty="0">
                <a:latin typeface="Times New Roman" panose="02020603050405020304" pitchFamily="18" charset="0"/>
                <a:cs typeface="Times New Roman" panose="02020603050405020304" pitchFamily="18" charset="0"/>
              </a:rPr>
              <a:t>	C[0][1] = 1			 C[1][0] = 0 </a:t>
            </a:r>
          </a:p>
          <a:p>
            <a:pPr marL="0" indent="0">
              <a:buNone/>
            </a:pPr>
            <a:r>
              <a:rPr lang="en-US" altLang="zh-TW" sz="2400" dirty="0">
                <a:latin typeface="Times New Roman" panose="02020603050405020304" pitchFamily="18" charset="0"/>
                <a:cs typeface="Times New Roman" panose="02020603050405020304" pitchFamily="18" charset="0"/>
              </a:rPr>
              <a:t>	C[0][2] = 0			 C[2][0] = 1 </a:t>
            </a:r>
          </a:p>
          <a:p>
            <a:pPr marL="0" indent="0">
              <a:buNone/>
            </a:pPr>
            <a:r>
              <a:rPr lang="en-US" altLang="zh-TW" sz="2400" dirty="0">
                <a:latin typeface="Times New Roman" panose="02020603050405020304" pitchFamily="18" charset="0"/>
                <a:cs typeface="Times New Roman" panose="02020603050405020304" pitchFamily="18" charset="0"/>
              </a:rPr>
              <a:t>	C[0][3] = 1			 C[3][0] = 0 </a:t>
            </a:r>
          </a:p>
          <a:p>
            <a:pPr marL="0" indent="0">
              <a:buNone/>
            </a:pPr>
            <a:r>
              <a:rPr lang="en-US" altLang="zh-TW" sz="2400" dirty="0">
                <a:latin typeface="Times New Roman" panose="02020603050405020304" pitchFamily="18" charset="0"/>
                <a:cs typeface="Times New Roman" panose="02020603050405020304" pitchFamily="18" charset="0"/>
              </a:rPr>
              <a:t>	C[0][4] = 0			 C[4][0] = 0 </a:t>
            </a:r>
          </a:p>
          <a:p>
            <a:pPr marL="0" indent="0">
              <a:buNone/>
            </a:pPr>
            <a:r>
              <a:rPr lang="en-US" altLang="zh-TW" sz="2400" dirty="0">
                <a:latin typeface="Times New Roman" panose="02020603050405020304" pitchFamily="18" charset="0"/>
                <a:cs typeface="Times New Roman" panose="02020603050405020304" pitchFamily="18" charset="0"/>
              </a:rPr>
              <a:t>	C[0][5] = 0			 C[5][0] = 1 </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848543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Example(3/5)</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3" name="圖片 2">
            <a:extLst>
              <a:ext uri="{FF2B5EF4-FFF2-40B4-BE49-F238E27FC236}">
                <a16:creationId xmlns:a16="http://schemas.microsoft.com/office/drawing/2014/main" id="{85A262D4-8CA0-470E-B0E5-CA0D35C78ABA}"/>
              </a:ext>
            </a:extLst>
          </p:cNvPr>
          <p:cNvPicPr>
            <a:picLocks noChangeAspect="1"/>
          </p:cNvPicPr>
          <p:nvPr/>
        </p:nvPicPr>
        <p:blipFill>
          <a:blip r:embed="rId4"/>
          <a:stretch>
            <a:fillRect/>
          </a:stretch>
        </p:blipFill>
        <p:spPr>
          <a:xfrm>
            <a:off x="1002624" y="934318"/>
            <a:ext cx="7138752" cy="8315470"/>
          </a:xfrm>
          <a:prstGeom prst="rect">
            <a:avLst/>
          </a:prstGeom>
        </p:spPr>
      </p:pic>
    </p:spTree>
    <p:extLst>
      <p:ext uri="{BB962C8B-B14F-4D97-AF65-F5344CB8AC3E}">
        <p14:creationId xmlns:p14="http://schemas.microsoft.com/office/powerpoint/2010/main" val="134691270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Example(4/5)</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2519523" y="5672259"/>
            <a:ext cx="312390" cy="385893"/>
          </a:xfrm>
          <a:prstGeom prst="rect">
            <a:avLst/>
          </a:prstGeom>
        </p:spPr>
      </p:pic>
      <p:pic>
        <p:nvPicPr>
          <p:cNvPr id="6" name="圖片 5">
            <a:extLst>
              <a:ext uri="{FF2B5EF4-FFF2-40B4-BE49-F238E27FC236}">
                <a16:creationId xmlns:a16="http://schemas.microsoft.com/office/drawing/2014/main" id="{B92264B0-BB55-4AF9-B098-8C9CA047FA3D}"/>
              </a:ext>
            </a:extLst>
          </p:cNvPr>
          <p:cNvPicPr>
            <a:picLocks noChangeAspect="1"/>
          </p:cNvPicPr>
          <p:nvPr/>
        </p:nvPicPr>
        <p:blipFill>
          <a:blip r:embed="rId4"/>
          <a:stretch>
            <a:fillRect/>
          </a:stretch>
        </p:blipFill>
        <p:spPr>
          <a:xfrm>
            <a:off x="1300749" y="1150391"/>
            <a:ext cx="3271251" cy="4826157"/>
          </a:xfrm>
          <a:prstGeom prst="rect">
            <a:avLst/>
          </a:prstGeom>
        </p:spPr>
      </p:pic>
      <p:pic>
        <p:nvPicPr>
          <p:cNvPr id="7" name="圖片 6">
            <a:extLst>
              <a:ext uri="{FF2B5EF4-FFF2-40B4-BE49-F238E27FC236}">
                <a16:creationId xmlns:a16="http://schemas.microsoft.com/office/drawing/2014/main" id="{ACDCC4D0-6EEA-4D39-B363-70678CDCAAE7}"/>
              </a:ext>
            </a:extLst>
          </p:cNvPr>
          <p:cNvPicPr>
            <a:picLocks noChangeAspect="1"/>
          </p:cNvPicPr>
          <p:nvPr/>
        </p:nvPicPr>
        <p:blipFill>
          <a:blip r:embed="rId5"/>
          <a:stretch>
            <a:fillRect/>
          </a:stretch>
        </p:blipFill>
        <p:spPr>
          <a:xfrm>
            <a:off x="1273855" y="5976548"/>
            <a:ext cx="1066667" cy="466667"/>
          </a:xfrm>
          <a:prstGeom prst="rect">
            <a:avLst/>
          </a:prstGeom>
        </p:spPr>
      </p:pic>
    </p:spTree>
    <p:extLst>
      <p:ext uri="{BB962C8B-B14F-4D97-AF65-F5344CB8AC3E}">
        <p14:creationId xmlns:p14="http://schemas.microsoft.com/office/powerpoint/2010/main" val="411658295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Example(5/5)</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2519523" y="5672259"/>
            <a:ext cx="312390" cy="385893"/>
          </a:xfrm>
          <a:prstGeom prst="rect">
            <a:avLst/>
          </a:prstGeom>
        </p:spPr>
      </p:pic>
      <p:pic>
        <p:nvPicPr>
          <p:cNvPr id="3" name="圖片 2">
            <a:extLst>
              <a:ext uri="{FF2B5EF4-FFF2-40B4-BE49-F238E27FC236}">
                <a16:creationId xmlns:a16="http://schemas.microsoft.com/office/drawing/2014/main" id="{B1E713FC-117A-463C-80B6-7D73CE88FA2C}"/>
              </a:ext>
            </a:extLst>
          </p:cNvPr>
          <p:cNvPicPr>
            <a:picLocks noChangeAspect="1"/>
          </p:cNvPicPr>
          <p:nvPr/>
        </p:nvPicPr>
        <p:blipFill>
          <a:blip r:embed="rId4"/>
          <a:stretch>
            <a:fillRect/>
          </a:stretch>
        </p:blipFill>
        <p:spPr>
          <a:xfrm>
            <a:off x="1176762" y="1048628"/>
            <a:ext cx="6790476" cy="5009524"/>
          </a:xfrm>
          <a:prstGeom prst="rect">
            <a:avLst/>
          </a:prstGeom>
        </p:spPr>
      </p:pic>
    </p:spTree>
    <p:extLst>
      <p:ext uri="{BB962C8B-B14F-4D97-AF65-F5344CB8AC3E}">
        <p14:creationId xmlns:p14="http://schemas.microsoft.com/office/powerpoint/2010/main" val="25045039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Algorithm</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71660" y="5743977"/>
            <a:ext cx="312390" cy="385893"/>
          </a:xfrm>
          <a:prstGeom prst="rect">
            <a:avLst/>
          </a:prstGeom>
        </p:spPr>
      </p:pic>
      <p:pic>
        <p:nvPicPr>
          <p:cNvPr id="6" name="圖片 5">
            <a:extLst>
              <a:ext uri="{FF2B5EF4-FFF2-40B4-BE49-F238E27FC236}">
                <a16:creationId xmlns:a16="http://schemas.microsoft.com/office/drawing/2014/main" id="{408E2945-06C2-4E7B-AAE4-93719B6D3CE5}"/>
              </a:ext>
            </a:extLst>
          </p:cNvPr>
          <p:cNvPicPr>
            <a:picLocks noChangeAspect="1"/>
          </p:cNvPicPr>
          <p:nvPr/>
        </p:nvPicPr>
        <p:blipFill>
          <a:blip r:embed="rId4"/>
          <a:stretch>
            <a:fillRect/>
          </a:stretch>
        </p:blipFill>
        <p:spPr>
          <a:xfrm>
            <a:off x="1017383" y="1140506"/>
            <a:ext cx="2533333" cy="3219048"/>
          </a:xfrm>
          <a:prstGeom prst="rect">
            <a:avLst/>
          </a:prstGeom>
        </p:spPr>
      </p:pic>
      <p:pic>
        <p:nvPicPr>
          <p:cNvPr id="7" name="圖片 6">
            <a:extLst>
              <a:ext uri="{FF2B5EF4-FFF2-40B4-BE49-F238E27FC236}">
                <a16:creationId xmlns:a16="http://schemas.microsoft.com/office/drawing/2014/main" id="{F4694C08-936F-4BCE-B883-2D38BA2EA886}"/>
              </a:ext>
            </a:extLst>
          </p:cNvPr>
          <p:cNvPicPr>
            <a:picLocks noChangeAspect="1"/>
          </p:cNvPicPr>
          <p:nvPr/>
        </p:nvPicPr>
        <p:blipFill>
          <a:blip r:embed="rId5"/>
          <a:stretch>
            <a:fillRect/>
          </a:stretch>
        </p:blipFill>
        <p:spPr>
          <a:xfrm>
            <a:off x="1017383" y="4359554"/>
            <a:ext cx="1838095" cy="1238095"/>
          </a:xfrm>
          <a:prstGeom prst="rect">
            <a:avLst/>
          </a:prstGeom>
        </p:spPr>
      </p:pic>
    </p:spTree>
    <p:extLst>
      <p:ext uri="{BB962C8B-B14F-4D97-AF65-F5344CB8AC3E}">
        <p14:creationId xmlns:p14="http://schemas.microsoft.com/office/powerpoint/2010/main" val="305380603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Result and  Analysis</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6" name="圖片 5">
            <a:extLst>
              <a:ext uri="{FF2B5EF4-FFF2-40B4-BE49-F238E27FC236}">
                <a16:creationId xmlns:a16="http://schemas.microsoft.com/office/drawing/2014/main" id="{88FDEA08-8DCB-4D20-A81E-6A3BDE1DCA1B}"/>
              </a:ext>
            </a:extLst>
          </p:cNvPr>
          <p:cNvPicPr>
            <a:picLocks noChangeAspect="1"/>
          </p:cNvPicPr>
          <p:nvPr/>
        </p:nvPicPr>
        <p:blipFill>
          <a:blip r:embed="rId4"/>
          <a:stretch>
            <a:fillRect/>
          </a:stretch>
        </p:blipFill>
        <p:spPr>
          <a:xfrm>
            <a:off x="1598053" y="1015001"/>
            <a:ext cx="5947894" cy="5572731"/>
          </a:xfrm>
          <a:prstGeom prst="rect">
            <a:avLst/>
          </a:prstGeom>
        </p:spPr>
      </p:pic>
    </p:spTree>
    <p:extLst>
      <p:ext uri="{BB962C8B-B14F-4D97-AF65-F5344CB8AC3E}">
        <p14:creationId xmlns:p14="http://schemas.microsoft.com/office/powerpoint/2010/main" val="207062302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88693</TotalTime>
  <Words>402</Words>
  <Application>Microsoft Office PowerPoint</Application>
  <PresentationFormat>如螢幕大小 (4:3)</PresentationFormat>
  <Paragraphs>54</Paragraphs>
  <Slides>9</Slides>
  <Notes>9</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9</vt:i4>
      </vt:variant>
    </vt:vector>
  </HeadingPairs>
  <TitlesOfParts>
    <vt:vector size="14" baseType="lpstr">
      <vt:lpstr>Arial</vt:lpstr>
      <vt:lpstr>Calibri</vt:lpstr>
      <vt:lpstr>Calibri Light</vt:lpstr>
      <vt:lpstr>Times New Roman</vt:lpstr>
      <vt:lpstr>Office 佈景主題</vt:lpstr>
      <vt:lpstr>A Revised Algorithm to Find Longest Common Subsequence</vt:lpstr>
      <vt:lpstr>Abstract</vt:lpstr>
      <vt:lpstr>Example(1/5)</vt:lpstr>
      <vt:lpstr>Example(2/5)</vt:lpstr>
      <vt:lpstr>Example(3/5)</vt:lpstr>
      <vt:lpstr>Example(4/5)</vt:lpstr>
      <vt:lpstr>Example(5/5)</vt:lpstr>
      <vt:lpstr>Algorithm</vt:lpstr>
      <vt:lpstr>Result and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pplab</cp:lastModifiedBy>
  <cp:revision>799</cp:revision>
  <dcterms:created xsi:type="dcterms:W3CDTF">2017-09-25T08:45:50Z</dcterms:created>
  <dcterms:modified xsi:type="dcterms:W3CDTF">2020-02-25T08:46:31Z</dcterms:modified>
</cp:coreProperties>
</file>