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1" r:id="rId7"/>
    <p:sldId id="267" r:id="rId8"/>
    <p:sldId id="266" r:id="rId9"/>
    <p:sldId id="263" r:id="rId10"/>
    <p:sldId id="265" r:id="rId11"/>
    <p:sldId id="268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97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006162135610294"/>
          <c:y val="6.3267467989221782E-2"/>
          <c:w val="0.85785275731522392"/>
          <c:h val="0.736470672726996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≦39</c:v>
                </c:pt>
                <c:pt idx="1">
                  <c:v>40-49</c:v>
                </c:pt>
                <c:pt idx="2">
                  <c:v>50-59</c:v>
                </c:pt>
                <c:pt idx="3">
                  <c:v>60-69</c:v>
                </c:pt>
                <c:pt idx="4">
                  <c:v>≧70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10</c:v>
                </c:pt>
                <c:pt idx="1">
                  <c:v>22</c:v>
                </c:pt>
                <c:pt idx="2">
                  <c:v>30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8-4C92-9797-B3D31CC3F8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1009328"/>
        <c:axId val="531010968"/>
      </c:barChart>
      <c:catAx>
        <c:axId val="531009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年齡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31010968"/>
        <c:crosses val="autoZero"/>
        <c:auto val="1"/>
        <c:lblAlgn val="ctr"/>
        <c:lblOffset val="100"/>
        <c:noMultiLvlLbl val="0"/>
      </c:catAx>
      <c:valAx>
        <c:axId val="5310109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人數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31009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工作表1!$A$2:$A$3</c:f>
              <c:strCache>
                <c:ptCount val="2"/>
                <c:pt idx="0">
                  <c:v>是</c:v>
                </c:pt>
                <c:pt idx="1">
                  <c:v>否</c:v>
                </c:pt>
              </c:strCache>
            </c:strRef>
          </c:cat>
          <c:val>
            <c:numRef>
              <c:f>工作表1!$B$2:$B$3</c:f>
              <c:numCache>
                <c:formatCode>General</c:formatCode>
                <c:ptCount val="2"/>
                <c:pt idx="0">
                  <c:v>27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8E-4875-8A40-B121E371CB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61179168"/>
        <c:axId val="661174576"/>
      </c:barChart>
      <c:catAx>
        <c:axId val="66117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61174576"/>
        <c:crosses val="autoZero"/>
        <c:auto val="1"/>
        <c:lblAlgn val="ctr"/>
        <c:lblOffset val="100"/>
        <c:noMultiLvlLbl val="0"/>
      </c:catAx>
      <c:valAx>
        <c:axId val="6611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6117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工作表1!$A$2:$A$3</c:f>
              <c:strCache>
                <c:ptCount val="2"/>
                <c:pt idx="0">
                  <c:v>是</c:v>
                </c:pt>
                <c:pt idx="1">
                  <c:v>否</c:v>
                </c:pt>
              </c:strCache>
            </c:strRef>
          </c:cat>
          <c:val>
            <c:numRef>
              <c:f>工作表1!$B$2:$B$3</c:f>
              <c:numCache>
                <c:formatCode>General</c:formatCode>
                <c:ptCount val="2"/>
                <c:pt idx="0">
                  <c:v>49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74-4601-8C06-7C4A645876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61179168"/>
        <c:axId val="661174576"/>
      </c:barChart>
      <c:catAx>
        <c:axId val="66117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61174576"/>
        <c:crosses val="autoZero"/>
        <c:auto val="1"/>
        <c:lblAlgn val="ctr"/>
        <c:lblOffset val="100"/>
        <c:tickMarkSkip val="2"/>
        <c:noMultiLvlLbl val="0"/>
      </c:catAx>
      <c:valAx>
        <c:axId val="661174576"/>
        <c:scaling>
          <c:orientation val="minMax"/>
          <c:max val="50"/>
          <c:min val="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6117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41人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發燒</c:v>
                </c:pt>
                <c:pt idx="1">
                  <c:v>咳嗽</c:v>
                </c:pt>
                <c:pt idx="2">
                  <c:v>肌肉疼痛
疲勞</c:v>
                </c:pt>
                <c:pt idx="3">
                  <c:v>頭痛</c:v>
                </c:pt>
                <c:pt idx="4">
                  <c:v>腹瀉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40</c:v>
                </c:pt>
                <c:pt idx="1">
                  <c:v>31</c:v>
                </c:pt>
                <c:pt idx="2">
                  <c:v>18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A-4199-B1A0-DB2D46A8999F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99人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發燒</c:v>
                </c:pt>
                <c:pt idx="1">
                  <c:v>咳嗽</c:v>
                </c:pt>
                <c:pt idx="2">
                  <c:v>肌肉疼痛
疲勞</c:v>
                </c:pt>
                <c:pt idx="3">
                  <c:v>頭痛</c:v>
                </c:pt>
                <c:pt idx="4">
                  <c:v>腹瀉</c:v>
                </c:pt>
              </c:strCache>
            </c:str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82</c:v>
                </c:pt>
                <c:pt idx="1">
                  <c:v>81</c:v>
                </c:pt>
                <c:pt idx="2">
                  <c:v>11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6A-4199-B1A0-DB2D46A899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26102768"/>
        <c:axId val="526104080"/>
      </c:barChart>
      <c:catAx>
        <c:axId val="52610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526104080"/>
        <c:crosses val="autoZero"/>
        <c:auto val="1"/>
        <c:lblAlgn val="ctr"/>
        <c:lblOffset val="100"/>
        <c:noMultiLvlLbl val="0"/>
      </c:catAx>
      <c:valAx>
        <c:axId val="52610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2610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300" baseline="0"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41人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痰</c:v>
                </c:pt>
                <c:pt idx="1">
                  <c:v>咳血</c:v>
                </c:pt>
                <c:pt idx="2">
                  <c:v>呼吸困難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11</c:v>
                </c:pt>
                <c:pt idx="1">
                  <c:v>2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97-4D5B-B956-B97BF01D4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3499992"/>
        <c:axId val="533503272"/>
      </c:barChart>
      <c:catAx>
        <c:axId val="533499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533503272"/>
        <c:crosses val="autoZero"/>
        <c:auto val="1"/>
        <c:lblAlgn val="ctr"/>
        <c:lblOffset val="100"/>
        <c:noMultiLvlLbl val="0"/>
      </c:catAx>
      <c:valAx>
        <c:axId val="533503272"/>
        <c:scaling>
          <c:orientation val="minMax"/>
          <c:max val="3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33499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99人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焦慮</c:v>
                </c:pt>
                <c:pt idx="1">
                  <c:v>喉嚨痛</c:v>
                </c:pt>
                <c:pt idx="2">
                  <c:v>呼吸急促</c:v>
                </c:pt>
                <c:pt idx="3">
                  <c:v>鼻漏</c:v>
                </c:pt>
                <c:pt idx="4">
                  <c:v>胸痛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9</c:v>
                </c:pt>
                <c:pt idx="1">
                  <c:v>5</c:v>
                </c:pt>
                <c:pt idx="2">
                  <c:v>31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97-4607-9F9E-ED5DAB0FE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3499992"/>
        <c:axId val="533503272"/>
      </c:barChart>
      <c:catAx>
        <c:axId val="533499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533503272"/>
        <c:crosses val="autoZero"/>
        <c:auto val="1"/>
        <c:lblAlgn val="ctr"/>
        <c:lblOffset val="100"/>
        <c:noMultiLvlLbl val="0"/>
      </c:catAx>
      <c:valAx>
        <c:axId val="533503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33499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41人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工作表1!$A$2:$A$10</c:f>
              <c:strCache>
                <c:ptCount val="9"/>
                <c:pt idx="0">
                  <c:v>呼吸窘迫症候群
ARDS</c:v>
                </c:pt>
                <c:pt idx="1">
                  <c:v>急性腎損傷</c:v>
                </c:pt>
                <c:pt idx="2">
                  <c:v>急性心臟損傷</c:v>
                </c:pt>
                <c:pt idx="3">
                  <c:v>急性呼吸道損傷</c:v>
                </c:pt>
                <c:pt idx="4">
                  <c:v>敗血性休克</c:v>
                </c:pt>
                <c:pt idx="5">
                  <c:v>休克</c:v>
                </c:pt>
                <c:pt idx="6">
                  <c:v>呼吸器相關肺炎</c:v>
                </c:pt>
                <c:pt idx="7">
                  <c:v>二度感染</c:v>
                </c:pt>
                <c:pt idx="8">
                  <c:v>RNAaemia</c:v>
                </c:pt>
              </c:strCache>
            </c:strRef>
          </c:cat>
          <c:val>
            <c:numRef>
              <c:f>工作表1!$B$2:$B$10</c:f>
              <c:numCache>
                <c:formatCode>General</c:formatCode>
                <c:ptCount val="9"/>
                <c:pt idx="0">
                  <c:v>12</c:v>
                </c:pt>
                <c:pt idx="1">
                  <c:v>3</c:v>
                </c:pt>
                <c:pt idx="2">
                  <c:v>5</c:v>
                </c:pt>
                <c:pt idx="5">
                  <c:v>3</c:v>
                </c:pt>
                <c:pt idx="7">
                  <c:v>4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F-46B2-A065-1E458785A758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99人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工作表1!$A$2:$A$10</c:f>
              <c:strCache>
                <c:ptCount val="9"/>
                <c:pt idx="0">
                  <c:v>呼吸窘迫症候群
ARDS</c:v>
                </c:pt>
                <c:pt idx="1">
                  <c:v>急性腎損傷</c:v>
                </c:pt>
                <c:pt idx="2">
                  <c:v>急性心臟損傷</c:v>
                </c:pt>
                <c:pt idx="3">
                  <c:v>急性呼吸道損傷</c:v>
                </c:pt>
                <c:pt idx="4">
                  <c:v>敗血性休克</c:v>
                </c:pt>
                <c:pt idx="5">
                  <c:v>休克</c:v>
                </c:pt>
                <c:pt idx="6">
                  <c:v>呼吸器相關肺炎</c:v>
                </c:pt>
                <c:pt idx="7">
                  <c:v>二度感染</c:v>
                </c:pt>
                <c:pt idx="8">
                  <c:v>RNAaemia</c:v>
                </c:pt>
              </c:strCache>
            </c:strRef>
          </c:cat>
          <c:val>
            <c:numRef>
              <c:f>工作表1!$C$2:$C$10</c:f>
              <c:numCache>
                <c:formatCode>General</c:formatCode>
                <c:ptCount val="9"/>
                <c:pt idx="0">
                  <c:v>17</c:v>
                </c:pt>
                <c:pt idx="1">
                  <c:v>3</c:v>
                </c:pt>
                <c:pt idx="3">
                  <c:v>8</c:v>
                </c:pt>
                <c:pt idx="4">
                  <c:v>4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4F-46B2-A065-1E458785A7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26102768"/>
        <c:axId val="526104080"/>
      </c:barChart>
      <c:catAx>
        <c:axId val="52610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526104080"/>
        <c:crosses val="autoZero"/>
        <c:auto val="1"/>
        <c:lblAlgn val="ctr"/>
        <c:lblOffset val="100"/>
        <c:noMultiLvlLbl val="0"/>
      </c:catAx>
      <c:valAx>
        <c:axId val="52610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2610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單側肺炎</c:v>
                </c:pt>
                <c:pt idx="1">
                  <c:v>雙側肺炎</c:v>
                </c:pt>
                <c:pt idx="2">
                  <c:v>毛玻璃病變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25</c:v>
                </c:pt>
                <c:pt idx="1">
                  <c:v>74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4-4A8D-A69E-FB175D4C8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055856"/>
        <c:axId val="699056512"/>
      </c:barChart>
      <c:catAx>
        <c:axId val="69905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99056512"/>
        <c:crosses val="autoZero"/>
        <c:auto val="1"/>
        <c:lblAlgn val="ctr"/>
        <c:lblOffset val="100"/>
        <c:noMultiLvlLbl val="0"/>
      </c:catAx>
      <c:valAx>
        <c:axId val="69905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99055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41人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未出院</c:v>
                </c:pt>
                <c:pt idx="1">
                  <c:v>已出院</c:v>
                </c:pt>
                <c:pt idx="2">
                  <c:v>已死亡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7</c:v>
                </c:pt>
                <c:pt idx="1">
                  <c:v>28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2-4B89-A7F0-C260479FD1A2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99人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未出院</c:v>
                </c:pt>
                <c:pt idx="1">
                  <c:v>已出院</c:v>
                </c:pt>
                <c:pt idx="2">
                  <c:v>已死亡</c:v>
                </c:pt>
              </c:strCache>
            </c:strRef>
          </c:cat>
          <c:val>
            <c:numRef>
              <c:f>工作表1!$C$2:$C$4</c:f>
              <c:numCache>
                <c:formatCode>General</c:formatCode>
                <c:ptCount val="3"/>
                <c:pt idx="0">
                  <c:v>57</c:v>
                </c:pt>
                <c:pt idx="1">
                  <c:v>31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B2-4B89-A7F0-C260479FD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422816"/>
        <c:axId val="691423144"/>
      </c:barChart>
      <c:catAx>
        <c:axId val="691422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91423144"/>
        <c:crosses val="autoZero"/>
        <c:auto val="1"/>
        <c:lblAlgn val="ctr"/>
        <c:lblOffset val="100"/>
        <c:noMultiLvlLbl val="0"/>
      </c:catAx>
      <c:valAx>
        <c:axId val="691423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91422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欄1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≦39</c:v>
                </c:pt>
                <c:pt idx="1">
                  <c:v>40-49</c:v>
                </c:pt>
                <c:pt idx="2">
                  <c:v>50-59</c:v>
                </c:pt>
                <c:pt idx="3">
                  <c:v>60-69</c:v>
                </c:pt>
                <c:pt idx="4">
                  <c:v>≧70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11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4A-4856-9C35-10AEF17C4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5872888"/>
        <c:axId val="515866984"/>
      </c:barChart>
      <c:catAx>
        <c:axId val="5158728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600" baseline="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年齡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5866984"/>
        <c:crosses val="autoZero"/>
        <c:auto val="1"/>
        <c:lblAlgn val="ctr"/>
        <c:lblOffset val="100"/>
        <c:noMultiLvlLbl val="0"/>
      </c:catAx>
      <c:valAx>
        <c:axId val="5158669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z="1600" baseline="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案例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515872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標楷體" panose="03000509000000000000" pitchFamily="65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男</c:v>
                </c:pt>
                <c:pt idx="1">
                  <c:v>女</c:v>
                </c:pt>
                <c:pt idx="2">
                  <c:v>未知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12</c:v>
                </c:pt>
                <c:pt idx="1">
                  <c:v>16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3C-478A-8C7E-9D1428D00A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7565632"/>
        <c:axId val="627572192"/>
      </c:barChart>
      <c:catAx>
        <c:axId val="627565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標楷體" panose="03000509000000000000" pitchFamily="65" charset="-120"/>
                    <a:cs typeface="+mn-cs"/>
                  </a:defRPr>
                </a:pPr>
                <a:r>
                  <a:rPr lang="zh-TW" altLang="en-US" dirty="0"/>
                  <a:t>性別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標楷體" panose="03000509000000000000" pitchFamily="65" charset="-120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72192"/>
        <c:crosses val="autoZero"/>
        <c:auto val="1"/>
        <c:lblAlgn val="ctr"/>
        <c:lblOffset val="100"/>
        <c:noMultiLvlLbl val="0"/>
      </c:catAx>
      <c:valAx>
        <c:axId val="627572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標楷體" panose="03000509000000000000" pitchFamily="65" charset="-120"/>
                    <a:cs typeface="+mn-cs"/>
                  </a:defRPr>
                </a:pPr>
                <a:r>
                  <a:rPr lang="zh-TW" altLang="en-US" dirty="0"/>
                  <a:t>案例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標楷體" panose="03000509000000000000" pitchFamily="65" charset="-120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6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aseline="0">
          <a:ea typeface="標楷體" panose="03000509000000000000" pitchFamily="65" charset="-120"/>
        </a:defRPr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880085578275316E-2"/>
          <c:y val="0.10017711462005761"/>
          <c:w val="0.88832762950313937"/>
          <c:h val="0.73519249142562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標楷體" panose="03000509000000000000" pitchFamily="65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已康復</c:v>
                </c:pt>
                <c:pt idx="1">
                  <c:v>未康復</c:v>
                </c:pt>
                <c:pt idx="2">
                  <c:v>死亡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5</c:v>
                </c:pt>
                <c:pt idx="1">
                  <c:v>24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FC-4B1A-89FB-152498489A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7565632"/>
        <c:axId val="627572192"/>
      </c:barChart>
      <c:catAx>
        <c:axId val="627565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72192"/>
        <c:crosses val="autoZero"/>
        <c:auto val="1"/>
        <c:lblAlgn val="ctr"/>
        <c:lblOffset val="100"/>
        <c:noMultiLvlLbl val="0"/>
      </c:catAx>
      <c:valAx>
        <c:axId val="627572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6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aseline="0">
          <a:ea typeface="標楷體" panose="03000509000000000000" pitchFamily="65" charset="-120"/>
        </a:defRPr>
      </a:pPr>
      <a:endParaRPr lang="zh-TW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880085578275316E-2"/>
          <c:y val="0.10017711462005761"/>
          <c:w val="0.88832762950313937"/>
          <c:h val="0.73519249142562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標楷體" panose="03000509000000000000" pitchFamily="65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境外感染</c:v>
                </c:pt>
                <c:pt idx="1">
                  <c:v>境內感染
(家庭感染)</c:v>
                </c:pt>
                <c:pt idx="2">
                  <c:v>未知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16</c:v>
                </c:pt>
                <c:pt idx="1">
                  <c:v>13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C-4495-89E5-CE13C1EA2E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7565632"/>
        <c:axId val="627572192"/>
      </c:barChart>
      <c:catAx>
        <c:axId val="627565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72192"/>
        <c:crosses val="autoZero"/>
        <c:auto val="1"/>
        <c:lblAlgn val="ctr"/>
        <c:lblOffset val="100"/>
        <c:noMultiLvlLbl val="0"/>
      </c:catAx>
      <c:valAx>
        <c:axId val="627572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標楷體" panose="03000509000000000000" pitchFamily="65" charset="-120"/>
                <a:cs typeface="+mn-cs"/>
              </a:defRPr>
            </a:pPr>
            <a:endParaRPr lang="zh-TW"/>
          </a:p>
        </c:txPr>
        <c:crossAx val="62756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aseline="0">
          <a:ea typeface="標楷體" panose="03000509000000000000" pitchFamily="65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dn.com/news/story/120936/429996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SARS</a:t>
            </a:r>
            <a:r>
              <a:rPr lang="zh-TW" altLang="en-US" dirty="0"/>
              <a:t> 與 </a:t>
            </a:r>
            <a:r>
              <a:rPr lang="en-US" altLang="zh-TW" dirty="0"/>
              <a:t>MERS</a:t>
            </a:r>
            <a:r>
              <a:rPr lang="zh-TW" altLang="en-US" dirty="0"/>
              <a:t>也是男生</a:t>
            </a:r>
            <a:r>
              <a:rPr lang="en-US" altLang="zh-TW" dirty="0"/>
              <a:t>&gt;</a:t>
            </a:r>
            <a:r>
              <a:rPr lang="zh-TW" altLang="en-US" dirty="0"/>
              <a:t>女性，推測是</a:t>
            </a:r>
            <a:r>
              <a:rPr lang="en-US" altLang="zh-TW" dirty="0"/>
              <a:t>X</a:t>
            </a:r>
            <a:r>
              <a:rPr lang="zh-TW" altLang="en-US" dirty="0"/>
              <a:t>染色體及女性荷爾蒙導致的先天性免疫或適應性免疫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095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由此可見，是否有去過魚市場並非感染的主因，所以一開始傳言由魚市場傳出即是謠言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756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https://udn.com/news/story/120936/4299961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431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2" y="867838"/>
            <a:ext cx="9829014" cy="1414833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 of patients infected with 2019 novel coronavirus in Wuhan, China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52" y="2919568"/>
            <a:ext cx="10162093" cy="1655762"/>
          </a:xfrm>
        </p:spPr>
        <p:txBody>
          <a:bodyPr>
            <a:no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Chaolin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Yeming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Xingwang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Lili Ren,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Jianping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Zhao, Yi Hu,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Zhang,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Guohui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Jiuyang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Xiaoying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Zhenshun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Cheng, Ting Yu,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Xia, Yuan Wei,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Wenjuan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Xuelei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Wen Yin, Hui Li, Min Liu,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 Xiao, Hong Gao, Li Guo,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Jungang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Guangfa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Rongmeng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Zhancheng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Gao, Qi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Jianwei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Bin Cao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Lancet 2020; 395: 497–506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Feb. 25,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792948"/>
            <a:ext cx="9829014" cy="238760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Epidemiological and clinical characteristics of 99 cases of 2019 novel coronavirus pneumonia in Wuhan, China: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descriptive study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54" y="3677452"/>
            <a:ext cx="10162093" cy="1655762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Nanshan Chen, Min Zhou, Xuan Dong,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Jieming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Qu, Fengyun Gong, Yang Han, Yang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Jingli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Ying Liu, Yuan Wei,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Jia’an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Xia, Ting Yu,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Xinxin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Li Zhang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Lancet 2020; 395: 507–513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Feb.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25, 2020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5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4399C-3C85-4614-ABF5-65548477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感染統計</a:t>
            </a: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6585ADE1-E5AF-41EA-996A-0BF2A79DC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420492"/>
              </p:ext>
            </p:extLst>
          </p:nvPr>
        </p:nvGraphicFramePr>
        <p:xfrm>
          <a:off x="6218051" y="2873000"/>
          <a:ext cx="5541423" cy="3620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16F37BFA-B72D-4E84-BF0B-0322D7E62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6" y="2956654"/>
            <a:ext cx="5560687" cy="319374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4595D66-E6A9-4174-9EC4-1BC62060584F}"/>
              </a:ext>
            </a:extLst>
          </p:cNvPr>
          <p:cNvSpPr txBox="1"/>
          <p:nvPr/>
        </p:nvSpPr>
        <p:spPr>
          <a:xfrm>
            <a:off x="7383388" y="1551585"/>
            <a:ext cx="3425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2020/1/1~20</a:t>
            </a:r>
          </a:p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男性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67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人、女性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32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人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51B6C73-B6A4-407F-8B2D-D8117472A66D}"/>
              </a:ext>
            </a:extLst>
          </p:cNvPr>
          <p:cNvSpPr txBox="1"/>
          <p:nvPr/>
        </p:nvSpPr>
        <p:spPr>
          <a:xfrm>
            <a:off x="1583103" y="1551585"/>
            <a:ext cx="3225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2020/1/2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以前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男性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人、女性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人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9671EB1-ECD8-4493-BA91-73C970210B06}"/>
              </a:ext>
            </a:extLst>
          </p:cNvPr>
          <p:cNvSpPr txBox="1"/>
          <p:nvPr/>
        </p:nvSpPr>
        <p:spPr>
          <a:xfrm>
            <a:off x="2430897" y="5306415"/>
            <a:ext cx="178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8D2D32B-3D51-4FF4-A8BC-05BA8638B978}"/>
              </a:ext>
            </a:extLst>
          </p:cNvPr>
          <p:cNvSpPr txBox="1"/>
          <p:nvPr/>
        </p:nvSpPr>
        <p:spPr>
          <a:xfrm>
            <a:off x="3399179" y="2802765"/>
            <a:ext cx="372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46D6BE5-BBA2-473C-8FE6-2A51417DAFFC}"/>
              </a:ext>
            </a:extLst>
          </p:cNvPr>
          <p:cNvSpPr txBox="1"/>
          <p:nvPr/>
        </p:nvSpPr>
        <p:spPr>
          <a:xfrm>
            <a:off x="4435648" y="3603235"/>
            <a:ext cx="372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FE968E-30C4-49FD-82C1-7404FFDF6C3A}"/>
              </a:ext>
            </a:extLst>
          </p:cNvPr>
          <p:cNvSpPr txBox="1"/>
          <p:nvPr/>
        </p:nvSpPr>
        <p:spPr>
          <a:xfrm>
            <a:off x="5477522" y="4683132"/>
            <a:ext cx="337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97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8B145-551F-4EE9-B5BD-A248661A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是否去過魚市場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32C00E84-E9F7-4127-A454-A573513EB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55357"/>
              </p:ext>
            </p:extLst>
          </p:nvPr>
        </p:nvGraphicFramePr>
        <p:xfrm>
          <a:off x="838200" y="2556769"/>
          <a:ext cx="4239827" cy="3620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內容版面配置區 5">
            <a:extLst>
              <a:ext uri="{FF2B5EF4-FFF2-40B4-BE49-F238E27FC236}">
                <a16:creationId xmlns:a16="http://schemas.microsoft.com/office/drawing/2014/main" id="{E4AC9E79-7CDA-46F8-BD02-B7479F8FE0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414522"/>
              </p:ext>
            </p:extLst>
          </p:nvPr>
        </p:nvGraphicFramePr>
        <p:xfrm>
          <a:off x="6276513" y="2556769"/>
          <a:ext cx="4839810" cy="3620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E1126077-7CDA-4967-8429-615005021878}"/>
              </a:ext>
            </a:extLst>
          </p:cNvPr>
          <p:cNvSpPr txBox="1"/>
          <p:nvPr/>
        </p:nvSpPr>
        <p:spPr>
          <a:xfrm>
            <a:off x="1583102" y="1551585"/>
            <a:ext cx="322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2020/1/2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以前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438645D-5C2A-4889-9858-B5A5D474FABE}"/>
              </a:ext>
            </a:extLst>
          </p:cNvPr>
          <p:cNvSpPr txBox="1"/>
          <p:nvPr/>
        </p:nvSpPr>
        <p:spPr>
          <a:xfrm>
            <a:off x="7383388" y="1551585"/>
            <a:ext cx="3425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2020/1/1~20</a:t>
            </a:r>
          </a:p>
        </p:txBody>
      </p:sp>
    </p:spTree>
    <p:extLst>
      <p:ext uri="{BB962C8B-B14F-4D97-AF65-F5344CB8AC3E}">
        <p14:creationId xmlns:p14="http://schemas.microsoft.com/office/powerpoint/2010/main" val="370487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F06AE3-46F9-42E1-B5F0-A3025233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症狀</a:t>
            </a:r>
          </a:p>
        </p:txBody>
      </p:sp>
      <p:graphicFrame>
        <p:nvGraphicFramePr>
          <p:cNvPr id="5" name="內容版面配置區 5">
            <a:extLst>
              <a:ext uri="{FF2B5EF4-FFF2-40B4-BE49-F238E27FC236}">
                <a16:creationId xmlns:a16="http://schemas.microsoft.com/office/drawing/2014/main" id="{A3280E29-C3A7-4AD2-AE42-E2CCE2236A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445381"/>
              </p:ext>
            </p:extLst>
          </p:nvPr>
        </p:nvGraphicFramePr>
        <p:xfrm>
          <a:off x="901638" y="1571344"/>
          <a:ext cx="10388723" cy="2810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13B73249-FE8B-4E97-AF9E-82239A3D5E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282835"/>
              </p:ext>
            </p:extLst>
          </p:nvPr>
        </p:nvGraphicFramePr>
        <p:xfrm>
          <a:off x="1043681" y="4262555"/>
          <a:ext cx="4590742" cy="238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6F5C2BC2-5632-40D7-8992-552891326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129183"/>
              </p:ext>
            </p:extLst>
          </p:nvPr>
        </p:nvGraphicFramePr>
        <p:xfrm>
          <a:off x="6699622" y="4253678"/>
          <a:ext cx="4590742" cy="238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4437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35188-472D-468F-885E-314158124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併發症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9C867D33-3F4A-4872-9F94-5D9FB5B88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534503"/>
              </p:ext>
            </p:extLst>
          </p:nvPr>
        </p:nvGraphicFramePr>
        <p:xfrm>
          <a:off x="636603" y="1834502"/>
          <a:ext cx="10918794" cy="4752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816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3A870-3EA0-4DBA-A71C-72C2D690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感染情況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7595BF16-A198-48DC-A7BC-0BB15FF58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467432"/>
              </p:ext>
            </p:extLst>
          </p:nvPr>
        </p:nvGraphicFramePr>
        <p:xfrm>
          <a:off x="6866138" y="80846"/>
          <a:ext cx="4071151" cy="1894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2" name="群組 11">
            <a:extLst>
              <a:ext uri="{FF2B5EF4-FFF2-40B4-BE49-F238E27FC236}">
                <a16:creationId xmlns:a16="http://schemas.microsoft.com/office/drawing/2014/main" id="{A916D1A8-0E24-4C77-AE24-C49E8F658FFD}"/>
              </a:ext>
            </a:extLst>
          </p:cNvPr>
          <p:cNvGrpSpPr/>
          <p:nvPr/>
        </p:nvGrpSpPr>
        <p:grpSpPr>
          <a:xfrm>
            <a:off x="4367260" y="1974965"/>
            <a:ext cx="6848750" cy="4520967"/>
            <a:chOff x="2671625" y="1971908"/>
            <a:chExt cx="6848750" cy="4520967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D0EF6DA-8590-4645-B070-96853020C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1625" y="1971908"/>
              <a:ext cx="6848750" cy="45209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F86E2A3-E40B-4D20-A310-0B23D7DD06E6}"/>
                </a:ext>
              </a:extLst>
            </p:cNvPr>
            <p:cNvSpPr/>
            <p:nvPr/>
          </p:nvSpPr>
          <p:spPr>
            <a:xfrm>
              <a:off x="6471821" y="5459767"/>
              <a:ext cx="577049" cy="550416"/>
            </a:xfrm>
            <a:prstGeom prst="rect">
              <a:avLst/>
            </a:prstGeom>
            <a:noFill/>
            <a:ln w="571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14AEEC0-384A-4EED-B1B0-3F2BEF2F7924}"/>
                </a:ext>
              </a:extLst>
            </p:cNvPr>
            <p:cNvSpPr/>
            <p:nvPr/>
          </p:nvSpPr>
          <p:spPr>
            <a:xfrm>
              <a:off x="8613188" y="2602637"/>
              <a:ext cx="577049" cy="550416"/>
            </a:xfrm>
            <a:prstGeom prst="rect">
              <a:avLst/>
            </a:prstGeom>
            <a:noFill/>
            <a:ln w="571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70FD3D2-45A5-4B3C-8267-E3D1049C4079}"/>
                </a:ext>
              </a:extLst>
            </p:cNvPr>
            <p:cNvSpPr/>
            <p:nvPr/>
          </p:nvSpPr>
          <p:spPr>
            <a:xfrm>
              <a:off x="5177161" y="2602637"/>
              <a:ext cx="577049" cy="550416"/>
            </a:xfrm>
            <a:prstGeom prst="rect">
              <a:avLst/>
            </a:prstGeom>
            <a:noFill/>
            <a:ln w="571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026" name="Picture 2" descr="「胸腔CT」的圖片搜尋結果">
            <a:extLst>
              <a:ext uri="{FF2B5EF4-FFF2-40B4-BE49-F238E27FC236}">
                <a16:creationId xmlns:a16="http://schemas.microsoft.com/office/drawing/2014/main" id="{A1212381-6FEB-46ED-9485-EF7448A8F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6" y="2880902"/>
            <a:ext cx="2981548" cy="223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783230D-B99A-4CC8-9AC3-92FF2D332856}"/>
              </a:ext>
            </a:extLst>
          </p:cNvPr>
          <p:cNvSpPr txBox="1"/>
          <p:nvPr/>
        </p:nvSpPr>
        <p:spPr>
          <a:xfrm>
            <a:off x="975990" y="2113251"/>
            <a:ext cx="26366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正常的胸腔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CT</a:t>
            </a: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</a:p>
        </p:txBody>
      </p:sp>
    </p:spTree>
    <p:extLst>
      <p:ext uri="{BB962C8B-B14F-4D97-AF65-F5344CB8AC3E}">
        <p14:creationId xmlns:p14="http://schemas.microsoft.com/office/powerpoint/2010/main" val="92488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0F3355-37A8-4C91-8A76-EBE297CF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歷程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2B786A-4D6B-4B12-904F-B5A57D9A9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854" y="2139519"/>
            <a:ext cx="6878292" cy="457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99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EC745-4B4A-4E3B-BE69-547CEAEB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治療結果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E5990F2C-BB7A-480E-92B1-B5A8EEAD8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6357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965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FD7AC-CEA4-425E-A7CB-F47D32B6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結論、推測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A67922-AEE0-40C4-89FC-01735FD03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較容易感染男性、年長者、抵抗力低者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可能主要作用於淋巴細胞，尤其是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細胞，與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SARS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病毒可能主要居於下呼吸道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服用抗發炎藥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皮質類固醇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不會降低死亡率，僅會減慢清除病毒的速度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991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C7802-B9E3-47BB-B16A-A85665F1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補充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台灣確診案例</a:t>
            </a:r>
            <a:r>
              <a:rPr lang="en-US" altLang="zh-TW" sz="3800" dirty="0">
                <a:latin typeface="標楷體" panose="03000509000000000000" pitchFamily="65" charset="-120"/>
                <a:ea typeface="標楷體" panose="03000509000000000000" pitchFamily="65" charset="-120"/>
              </a:rPr>
              <a:t>~2020/2/24)</a:t>
            </a:r>
            <a:endParaRPr lang="zh-TW" altLang="en-US" sz="3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3F672438-4CF9-4860-BAD3-D0C11BD94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936475"/>
              </p:ext>
            </p:extLst>
          </p:nvPr>
        </p:nvGraphicFramePr>
        <p:xfrm>
          <a:off x="656948" y="1504735"/>
          <a:ext cx="4944613" cy="2650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ADAE7C88-6B95-4082-BBD6-A76D9FDA7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476370"/>
              </p:ext>
            </p:extLst>
          </p:nvPr>
        </p:nvGraphicFramePr>
        <p:xfrm>
          <a:off x="5716232" y="1690688"/>
          <a:ext cx="5522897" cy="2505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C9CBC9A1-D878-4D06-A845-4607918324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8539454"/>
              </p:ext>
            </p:extLst>
          </p:nvPr>
        </p:nvGraphicFramePr>
        <p:xfrm>
          <a:off x="1067544" y="4048172"/>
          <a:ext cx="4534017" cy="249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E456F0DB-B101-4903-967B-7A4C7BCCAF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60797"/>
              </p:ext>
            </p:extLst>
          </p:nvPr>
        </p:nvGraphicFramePr>
        <p:xfrm>
          <a:off x="6210672" y="4000500"/>
          <a:ext cx="4534017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70198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369</Words>
  <Application>Microsoft Office PowerPoint</Application>
  <PresentationFormat>寬螢幕</PresentationFormat>
  <Paragraphs>49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標楷體</vt:lpstr>
      <vt:lpstr>Arial</vt:lpstr>
      <vt:lpstr>Calibri</vt:lpstr>
      <vt:lpstr>Calibri Light</vt:lpstr>
      <vt:lpstr>Times New Roman</vt:lpstr>
      <vt:lpstr>Office 佈景主題</vt:lpstr>
      <vt:lpstr>Clinical features of patients infected with 2019 novel coronavirus in Wuhan, China</vt:lpstr>
      <vt:lpstr>Epidemiological and clinical characteristics of 99 cases of 2019 novel coronavirus pneumonia in Wuhan, China: a descriptive study</vt:lpstr>
      <vt:lpstr>感染統計</vt:lpstr>
      <vt:lpstr>是否去過魚市場</vt:lpstr>
      <vt:lpstr>症狀</vt:lpstr>
      <vt:lpstr>併發症</vt:lpstr>
      <vt:lpstr>感染情況</vt:lpstr>
      <vt:lpstr>歷程</vt:lpstr>
      <vt:lpstr>治療結果</vt:lpstr>
      <vt:lpstr>結論、推測</vt:lpstr>
      <vt:lpstr>補充(台灣確診案例~2020/2/24)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育誠 張</cp:lastModifiedBy>
  <cp:revision>290</cp:revision>
  <dcterms:created xsi:type="dcterms:W3CDTF">2020-01-13T05:19:55Z</dcterms:created>
  <dcterms:modified xsi:type="dcterms:W3CDTF">2020-02-24T16:51:05Z</dcterms:modified>
</cp:coreProperties>
</file>