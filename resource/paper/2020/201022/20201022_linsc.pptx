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4"/>
  </p:notesMasterIdLst>
  <p:sldIdLst>
    <p:sldId id="256" r:id="rId3"/>
    <p:sldId id="257" r:id="rId4"/>
    <p:sldId id="258" r:id="rId5"/>
    <p:sldId id="259" r:id="rId6"/>
    <p:sldId id="260" r:id="rId7"/>
    <p:sldId id="261" r:id="rId8"/>
    <p:sldId id="262" r:id="rId9"/>
    <p:sldId id="263" r:id="rId10"/>
    <p:sldId id="264" r:id="rId11"/>
    <p:sldId id="265" r:id="rId12"/>
    <p:sldId id="266" r:id="rId13"/>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44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r>
              <a:rPr lang="zh-TW" sz="1800" b="0" strike="noStrike" spc="-1">
                <a:solidFill>
                  <a:srgbClr val="000000"/>
                </a:solidFill>
                <a:latin typeface="Calibri"/>
              </a:rPr>
              <a:t>請按這裡移動投影片</a:t>
            </a:r>
            <a:endParaRPr lang="en-US" sz="1800" b="0" strike="noStrike" spc="-1">
              <a:solidFill>
                <a:srgbClr val="000000"/>
              </a:solidFill>
              <a:latin typeface="Calibri"/>
            </a:endParaRPr>
          </a:p>
        </p:txBody>
      </p:sp>
      <p:sp>
        <p:nvSpPr>
          <p:cNvPr id="83" name="PlaceHolder 2"/>
          <p:cNvSpPr>
            <a:spLocks noGrp="1"/>
          </p:cNvSpPr>
          <p:nvPr>
            <p:ph type="body"/>
          </p:nvPr>
        </p:nvSpPr>
        <p:spPr>
          <a:xfrm>
            <a:off x="756000" y="5078520"/>
            <a:ext cx="6047640" cy="4811040"/>
          </a:xfrm>
          <a:prstGeom prst="rect">
            <a:avLst/>
          </a:prstGeom>
        </p:spPr>
        <p:txBody>
          <a:bodyPr lIns="0" tIns="0" rIns="0" bIns="0">
            <a:noAutofit/>
          </a:bodyPr>
          <a:lstStyle/>
          <a:p>
            <a:r>
              <a:rPr lang="zh-TW" sz="2000" b="0" strike="noStrike" spc="-1">
                <a:latin typeface="Arial"/>
              </a:rPr>
              <a:t>請按這裡編輯備註格式</a:t>
            </a:r>
            <a:endParaRPr lang="en-US" sz="2000" b="0" strike="noStrike" spc="-1">
              <a:latin typeface="Arial"/>
            </a:endParaRPr>
          </a:p>
        </p:txBody>
      </p:sp>
      <p:sp>
        <p:nvSpPr>
          <p:cNvPr id="84" name="PlaceHolder 3"/>
          <p:cNvSpPr>
            <a:spLocks noGrp="1"/>
          </p:cNvSpPr>
          <p:nvPr>
            <p:ph type="hdr"/>
          </p:nvPr>
        </p:nvSpPr>
        <p:spPr>
          <a:xfrm>
            <a:off x="0" y="0"/>
            <a:ext cx="3280680" cy="534240"/>
          </a:xfrm>
          <a:prstGeom prst="rect">
            <a:avLst/>
          </a:prstGeom>
        </p:spPr>
        <p:txBody>
          <a:bodyPr lIns="0" tIns="0" rIns="0" bIns="0">
            <a:noAutofit/>
          </a:bodyPr>
          <a:lstStyle/>
          <a:p>
            <a:r>
              <a:rPr lang="en-US" sz="1400" b="0" strike="noStrike" spc="-1">
                <a:latin typeface="Times New Roman"/>
              </a:rPr>
              <a:t>&lt;頁首&gt;</a:t>
            </a:r>
          </a:p>
        </p:txBody>
      </p:sp>
      <p:sp>
        <p:nvSpPr>
          <p:cNvPr id="85"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n-US" sz="1400" b="0" strike="noStrike" spc="-1">
                <a:latin typeface="Times New Roman"/>
              </a:rPr>
              <a:t>&lt;日期/時間&gt;</a:t>
            </a:r>
          </a:p>
        </p:txBody>
      </p:sp>
      <p:sp>
        <p:nvSpPr>
          <p:cNvPr id="86"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n-US" sz="1400" b="0" strike="noStrike" spc="-1">
                <a:latin typeface="Times New Roman"/>
              </a:rPr>
              <a:t>&lt;頁尾&gt;</a:t>
            </a:r>
          </a:p>
        </p:txBody>
      </p:sp>
      <p:sp>
        <p:nvSpPr>
          <p:cNvPr id="87"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DBF2386E-3608-45A9-86F6-676438C4DF84}"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1"/>
          <p:cNvSpPr>
            <a:spLocks noGrp="1" noRot="1" noChangeAspect="1"/>
          </p:cNvSpPr>
          <p:nvPr>
            <p:ph type="sldImg"/>
          </p:nvPr>
        </p:nvSpPr>
        <p:spPr>
          <a:xfrm>
            <a:off x="1143000" y="685800"/>
            <a:ext cx="4571640" cy="3428640"/>
          </a:xfrm>
          <a:prstGeom prst="rect">
            <a:avLst/>
          </a:prstGeom>
        </p:spPr>
      </p:sp>
      <p:sp>
        <p:nvSpPr>
          <p:cNvPr id="110" name="PlaceHolder 2"/>
          <p:cNvSpPr>
            <a:spLocks noGrp="1"/>
          </p:cNvSpPr>
          <p:nvPr>
            <p:ph type="body"/>
          </p:nvPr>
        </p:nvSpPr>
        <p:spPr>
          <a:xfrm>
            <a:off x="685800" y="4343400"/>
            <a:ext cx="5486040" cy="4114440"/>
          </a:xfrm>
          <a:prstGeom prst="rect">
            <a:avLst/>
          </a:prstGeom>
        </p:spPr>
        <p:txBody>
          <a:bodyPr>
            <a:normAutofit/>
          </a:bodyPr>
          <a:lstStyle/>
          <a:p>
            <a:endParaRPr lang="en-US" sz="2000" b="0" strike="noStrike" spc="-1">
              <a:latin typeface="Arial"/>
            </a:endParaRPr>
          </a:p>
        </p:txBody>
      </p:sp>
      <p:sp>
        <p:nvSpPr>
          <p:cNvPr id="111" name="TextShape 3"/>
          <p:cNvSpPr txBox="1"/>
          <p:nvPr/>
        </p:nvSpPr>
        <p:spPr>
          <a:xfrm>
            <a:off x="3884760" y="8685360"/>
            <a:ext cx="2971440" cy="456840"/>
          </a:xfrm>
          <a:prstGeom prst="rect">
            <a:avLst/>
          </a:prstGeom>
          <a:noFill/>
          <a:ln>
            <a:noFill/>
          </a:ln>
        </p:spPr>
        <p:txBody>
          <a:bodyPr anchor="b">
            <a:noAutofit/>
          </a:bodyPr>
          <a:lstStyle/>
          <a:p>
            <a:pPr algn="r">
              <a:lnSpc>
                <a:spcPct val="100000"/>
              </a:lnSpc>
            </a:pPr>
            <a:fld id="{EAB4D322-FA74-4B29-B4FC-746AD9B37C88}" type="slidenum">
              <a:rPr lang="en-US" sz="1200" b="0" strike="noStrike" spc="-1">
                <a:solidFill>
                  <a:srgbClr val="000000"/>
                </a:solidFill>
                <a:latin typeface="+mn-lt"/>
                <a:ea typeface="+mn-ea"/>
              </a:rPr>
              <a:t>3</a:t>
            </a:fld>
            <a:endParaRPr lang="en-US"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1"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5"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6"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7"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0"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1"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4"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5"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8"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3"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5"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7"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8"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6" name="PlaceHolder 2"/>
          <p:cNvSpPr>
            <a:spLocks noGrp="1"/>
          </p:cNvSpPr>
          <p:nvPr>
            <p:ph type="dt"/>
          </p:nvPr>
        </p:nvSpPr>
        <p:spPr>
          <a:xfrm>
            <a:off x="457200" y="6356520"/>
            <a:ext cx="2133360" cy="364680"/>
          </a:xfrm>
          <a:prstGeom prst="rect">
            <a:avLst/>
          </a:prstGeom>
        </p:spPr>
        <p:txBody>
          <a:bodyPr anchor="ctr">
            <a:noAutofit/>
          </a:bodyPr>
          <a:lstStyle/>
          <a:p>
            <a:pPr>
              <a:lnSpc>
                <a:spcPct val="100000"/>
              </a:lnSpc>
            </a:pPr>
            <a:fld id="{404917CB-1A9B-490B-85AF-945778644808}" type="datetime">
              <a:rPr lang="en-US" sz="1200" b="0" strike="noStrike" spc="-1">
                <a:solidFill>
                  <a:srgbClr val="8B8B8B"/>
                </a:solidFill>
                <a:latin typeface="Calibri"/>
              </a:rPr>
              <a:t>10/22/2020</a:t>
            </a:fld>
            <a:endParaRPr lang="en-US" sz="1200" b="0" strike="noStrike" spc="-1">
              <a:latin typeface="Times New Roman"/>
            </a:endParaRPr>
          </a:p>
        </p:txBody>
      </p:sp>
      <p:sp>
        <p:nvSpPr>
          <p:cNvPr id="2" name="PlaceHolder 3"/>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3" name="PlaceHolder 4"/>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09510A2B-1DCF-49F9-BF9F-69E06592E0AA}" type="slidenum">
              <a:rPr lang="en-US" sz="1200" b="0" strike="noStrike" spc="-1">
                <a:solidFill>
                  <a:srgbClr val="8B8B8B"/>
                </a:solidFill>
                <a:latin typeface="Calibri"/>
              </a:rPr>
              <a:t>‹#›</a:t>
            </a:fld>
            <a:endParaRPr lang="en-US" sz="1200" b="0" strike="noStrike" spc="-1">
              <a:latin typeface="Times New Roman"/>
            </a:endParaRPr>
          </a:p>
        </p:txBody>
      </p:sp>
      <p:sp>
        <p:nvSpPr>
          <p:cNvPr id="4" name="PlaceHolder 5"/>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400" b="0" strike="noStrike" spc="-1">
                <a:solidFill>
                  <a:srgbClr val="000000"/>
                </a:solidFill>
                <a:latin typeface="Calibri"/>
              </a:rPr>
              <a:t>第二個大綱層次</a:t>
            </a:r>
            <a:endParaRPr lang="en-US" sz="24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000" b="0" strike="noStrike" spc="-1">
                <a:solidFill>
                  <a:srgbClr val="000000"/>
                </a:solidFill>
                <a:latin typeface="Calibri"/>
              </a:rPr>
              <a:t>第三個大綱層次</a:t>
            </a:r>
            <a:endParaRPr lang="en-US" sz="20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49095328-6953-4830-ADC9-E703AE174DDB}" type="datetime">
              <a:rPr lang="en-US" sz="1200" b="0" strike="noStrike" spc="-1">
                <a:solidFill>
                  <a:srgbClr val="8B8B8B"/>
                </a:solidFill>
                <a:latin typeface="Calibri"/>
              </a:rPr>
              <a:t>10/22/2020</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F2A463DD-9952-458C-A903-42A2E66AA4D5}" type="slidenum">
              <a:rPr lang="en-US" sz="1200" b="0" strike="noStrike" spc="-1">
                <a:solidFill>
                  <a:srgbClr val="8B8B8B"/>
                </a:solidFill>
                <a:latin typeface="Calibri"/>
              </a:r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Shape 1"/>
          <p:cNvSpPr txBox="1"/>
          <p:nvPr/>
        </p:nvSpPr>
        <p:spPr>
          <a:xfrm>
            <a:off x="714240" y="1285920"/>
            <a:ext cx="7772040" cy="1469520"/>
          </a:xfrm>
          <a:prstGeom prst="rect">
            <a:avLst/>
          </a:prstGeom>
          <a:noFill/>
          <a:ln>
            <a:noFill/>
          </a:ln>
        </p:spPr>
        <p:txBody>
          <a:bodyPr anchor="ctr">
            <a:noAutofit/>
          </a:bodyPr>
          <a:lstStyle/>
          <a:p>
            <a:pPr algn="ctr">
              <a:lnSpc>
                <a:spcPct val="100000"/>
              </a:lnSpc>
            </a:pPr>
            <a:r>
              <a:rPr lang="en-US" sz="3200" b="0" strike="noStrike" spc="-1">
                <a:solidFill>
                  <a:srgbClr val="000000"/>
                </a:solidFill>
                <a:latin typeface="Times New Roman"/>
              </a:rPr>
              <a:t>A New Algorithm for Best Subsequence Alignments</a:t>
            </a:r>
            <a:br/>
            <a:r>
              <a:rPr lang="en-US" sz="3200" b="0" strike="noStrike" spc="-1">
                <a:solidFill>
                  <a:srgbClr val="000000"/>
                </a:solidFill>
                <a:latin typeface="Times New Roman"/>
              </a:rPr>
              <a:t>with Application to tRNA-rRNA Comparisons</a:t>
            </a:r>
            <a:endParaRPr lang="en-US" sz="3200" b="0" strike="noStrike" spc="-1">
              <a:solidFill>
                <a:srgbClr val="000000"/>
              </a:solidFill>
              <a:latin typeface="Calibri"/>
            </a:endParaRPr>
          </a:p>
        </p:txBody>
      </p:sp>
      <p:sp>
        <p:nvSpPr>
          <p:cNvPr id="89" name="TextShape 2"/>
          <p:cNvSpPr txBox="1"/>
          <p:nvPr/>
        </p:nvSpPr>
        <p:spPr>
          <a:xfrm>
            <a:off x="1357200" y="3357720"/>
            <a:ext cx="6400440" cy="2071440"/>
          </a:xfrm>
          <a:prstGeom prst="rect">
            <a:avLst/>
          </a:prstGeom>
          <a:noFill/>
          <a:ln>
            <a:noFill/>
          </a:ln>
        </p:spPr>
        <p:txBody>
          <a:bodyPr>
            <a:normAutofit/>
          </a:bodyPr>
          <a:lstStyle/>
          <a:p>
            <a:pPr algn="ctr">
              <a:lnSpc>
                <a:spcPct val="100000"/>
              </a:lnSpc>
              <a:spcBef>
                <a:spcPts val="479"/>
              </a:spcBef>
              <a:tabLst>
                <a:tab pos="0" algn="l"/>
              </a:tabLst>
            </a:pPr>
            <a:r>
              <a:rPr lang="en-US" sz="2400" b="0" strike="noStrike" spc="-1">
                <a:solidFill>
                  <a:srgbClr val="000000"/>
                </a:solidFill>
                <a:latin typeface="Times New Roman"/>
              </a:rPr>
              <a:t>Michael S.Waterman, Mark Eggert</a:t>
            </a:r>
            <a:endParaRPr lang="en-US" sz="2400" b="0" strike="noStrike" spc="-1">
              <a:latin typeface="Arial"/>
            </a:endParaRPr>
          </a:p>
          <a:p>
            <a:pPr algn="ctr">
              <a:lnSpc>
                <a:spcPct val="100000"/>
              </a:lnSpc>
              <a:spcBef>
                <a:spcPts val="360"/>
              </a:spcBef>
              <a:tabLst>
                <a:tab pos="0" algn="l"/>
              </a:tabLst>
            </a:pPr>
            <a:endParaRPr lang="en-US" sz="2400" b="0" strike="noStrike" spc="-1">
              <a:latin typeface="Arial"/>
            </a:endParaRPr>
          </a:p>
          <a:p>
            <a:pPr algn="ctr">
              <a:lnSpc>
                <a:spcPct val="100000"/>
              </a:lnSpc>
              <a:spcBef>
                <a:spcPts val="400"/>
              </a:spcBef>
              <a:tabLst>
                <a:tab pos="0" algn="l"/>
              </a:tabLst>
            </a:pPr>
            <a:r>
              <a:rPr lang="fr-FR" sz="2000" b="0" strike="noStrike" spc="-1">
                <a:solidFill>
                  <a:srgbClr val="000000"/>
                </a:solidFill>
                <a:latin typeface="Times New Roman"/>
              </a:rPr>
              <a:t>Journal of  Molecular Biology, VOL. 4, Issue 4, 20 October 1987, pp. 723-728</a:t>
            </a:r>
            <a:endParaRPr lang="en-US" sz="2000" b="0" strike="noStrike" spc="-1">
              <a:latin typeface="Arial"/>
            </a:endParaRPr>
          </a:p>
        </p:txBody>
      </p:sp>
      <p:sp>
        <p:nvSpPr>
          <p:cNvPr id="90" name="CustomShape 3"/>
          <p:cNvSpPr/>
          <p:nvPr/>
        </p:nvSpPr>
        <p:spPr>
          <a:xfrm>
            <a:off x="5786280" y="5643720"/>
            <a:ext cx="3114360" cy="1037880"/>
          </a:xfrm>
          <a:prstGeom prst="rect">
            <a:avLst/>
          </a:prstGeom>
          <a:noFill/>
          <a:ln>
            <a:noFill/>
          </a:ln>
        </p:spPr>
        <p:style>
          <a:lnRef idx="0">
            <a:scrgbClr r="0" g="0" b="0"/>
          </a:lnRef>
          <a:fillRef idx="0">
            <a:scrgbClr r="0" g="0" b="0"/>
          </a:fillRef>
          <a:effectRef idx="0">
            <a:scrgbClr r="0" g="0" b="0"/>
          </a:effectRef>
          <a:fontRef idx="minor"/>
        </p:style>
        <p:txBody>
          <a:bodyPr>
            <a:normAutofit/>
          </a:bodyPr>
          <a:lstStyle/>
          <a:p>
            <a:pPr>
              <a:lnSpc>
                <a:spcPct val="100000"/>
              </a:lnSpc>
              <a:spcBef>
                <a:spcPts val="400"/>
              </a:spcBef>
              <a:tabLst>
                <a:tab pos="0" algn="l"/>
              </a:tabLst>
            </a:pPr>
            <a:r>
              <a:rPr lang="en-US" sz="2000" b="0" strike="noStrike" spc="-1" dirty="0">
                <a:solidFill>
                  <a:srgbClr val="000000"/>
                </a:solidFill>
                <a:latin typeface="Times New Roman"/>
              </a:rPr>
              <a:t>Presenter: Shin-</a:t>
            </a:r>
            <a:r>
              <a:rPr lang="en-US" sz="2000" spc="-1" dirty="0">
                <a:solidFill>
                  <a:srgbClr val="000000"/>
                </a:solidFill>
                <a:latin typeface="Times New Roman"/>
              </a:rPr>
              <a:t>C</a:t>
            </a:r>
            <a:r>
              <a:rPr lang="en-US" sz="2000" b="0" strike="noStrike" spc="-1" dirty="0">
                <a:solidFill>
                  <a:srgbClr val="000000"/>
                </a:solidFill>
                <a:latin typeface="Times New Roman"/>
              </a:rPr>
              <a:t>heng Lin</a:t>
            </a:r>
            <a:endParaRPr lang="en-US" sz="2000" b="0" strike="noStrike" spc="-1" dirty="0">
              <a:latin typeface="Arial"/>
            </a:endParaRPr>
          </a:p>
          <a:p>
            <a:pPr>
              <a:lnSpc>
                <a:spcPct val="100000"/>
              </a:lnSpc>
              <a:spcBef>
                <a:spcPts val="400"/>
              </a:spcBef>
              <a:tabLst>
                <a:tab pos="0" algn="l"/>
              </a:tabLst>
            </a:pPr>
            <a:r>
              <a:rPr lang="en-US" sz="2000" b="0" strike="noStrike" spc="-1" dirty="0">
                <a:solidFill>
                  <a:srgbClr val="000000"/>
                </a:solidFill>
                <a:latin typeface="Times New Roman"/>
              </a:rPr>
              <a:t>Date: Oct. 22, 2020</a:t>
            </a:r>
            <a:endParaRPr lang="en-US" sz="2000" b="0" strike="noStrike" spc="-1" dirty="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a:solidFill>
                  <a:srgbClr val="000000"/>
                </a:solidFill>
                <a:latin typeface="Times New Roman"/>
              </a:rPr>
              <a:t>Abstract(1/2)</a:t>
            </a:r>
            <a:endParaRPr lang="en-US" sz="4400" b="0" strike="noStrike" spc="-1">
              <a:solidFill>
                <a:srgbClr val="000000"/>
              </a:solidFill>
              <a:latin typeface="Calibri"/>
            </a:endParaRPr>
          </a:p>
        </p:txBody>
      </p:sp>
      <p:sp>
        <p:nvSpPr>
          <p:cNvPr id="92" name="TextShape 2"/>
          <p:cNvSpPr txBox="1"/>
          <p:nvPr/>
        </p:nvSpPr>
        <p:spPr>
          <a:xfrm>
            <a:off x="457200" y="1600200"/>
            <a:ext cx="8229240" cy="5114520"/>
          </a:xfrm>
          <a:prstGeom prst="rect">
            <a:avLst/>
          </a:prstGeom>
          <a:noFill/>
          <a:ln>
            <a:noFill/>
          </a:ln>
        </p:spPr>
        <p:txBody>
          <a:bodyPr>
            <a:noAutofit/>
          </a:bodyPr>
          <a:lstStyle/>
          <a:p>
            <a:pPr marL="343080" indent="-342720">
              <a:lnSpc>
                <a:spcPct val="100000"/>
              </a:lnSpc>
              <a:spcBef>
                <a:spcPts val="561"/>
              </a:spcBef>
              <a:buClr>
                <a:srgbClr val="000000"/>
              </a:buClr>
              <a:buFont typeface="Arial"/>
              <a:buChar char="•"/>
            </a:pPr>
            <a:r>
              <a:rPr lang="en-US" sz="2800" b="0" strike="noStrike" spc="-1">
                <a:solidFill>
                  <a:srgbClr val="000000"/>
                </a:solidFill>
                <a:latin typeface="Times New Roman"/>
              </a:rPr>
              <a:t>The algorithm of Smith &amp; Waterman for identification of maximally similar subsequences is extended to allow identification of all non-intersecting similar subsequences with similarity score at or above some preset level. The resulting alignments are found in order of score, with the highest scoring alignment first. In the case of single gaps or multiple gaps weighted linear with gap length, the algorithm is extremely efficient, taking very little time beyond that of the initial calculation of the matrix. </a:t>
            </a:r>
            <a:endParaRPr lang="en-US" sz="2800" b="0" strike="noStrike" spc="-1">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a:solidFill>
                  <a:srgbClr val="000000"/>
                </a:solidFill>
                <a:latin typeface="Times New Roman"/>
              </a:rPr>
              <a:t>Abstract(2/2)</a:t>
            </a:r>
            <a:endParaRPr lang="en-US" sz="4400" b="0" strike="noStrike" spc="-1">
              <a:solidFill>
                <a:srgbClr val="000000"/>
              </a:solidFill>
              <a:latin typeface="Calibri"/>
            </a:endParaRPr>
          </a:p>
        </p:txBody>
      </p:sp>
      <p:sp>
        <p:nvSpPr>
          <p:cNvPr id="94" name="TextShape 2"/>
          <p:cNvSpPr txBox="1"/>
          <p:nvPr/>
        </p:nvSpPr>
        <p:spPr>
          <a:xfrm>
            <a:off x="457200" y="1600200"/>
            <a:ext cx="8229240" cy="4525560"/>
          </a:xfrm>
          <a:prstGeom prst="rect">
            <a:avLst/>
          </a:prstGeom>
          <a:noFill/>
          <a:ln>
            <a:noFill/>
          </a:ln>
        </p:spPr>
        <p:txBody>
          <a:bodyPr>
            <a:normAutofit/>
          </a:bodyPr>
          <a:lstStyle/>
          <a:p>
            <a:pPr marL="343080" indent="-342720">
              <a:lnSpc>
                <a:spcPct val="100000"/>
              </a:lnSpc>
              <a:spcBef>
                <a:spcPts val="561"/>
              </a:spcBef>
              <a:buClr>
                <a:srgbClr val="000000"/>
              </a:buClr>
              <a:buFont typeface="Arial"/>
              <a:buChar char="•"/>
            </a:pPr>
            <a:r>
              <a:rPr lang="en-US" sz="2800" b="0" strike="noStrike" spc="-1">
                <a:solidFill>
                  <a:srgbClr val="000000"/>
                </a:solidFill>
                <a:latin typeface="Times New Roman"/>
              </a:rPr>
              <a:t>The algorithm is applied to comparisons of tRNA-rRNA sequences from Escherichia coli. A statistical analysis is important for proper evaluation of the results, which differ substantially from the results of an earlier analysis of the same sequences by Bloch and colleagues.</a:t>
            </a:r>
            <a:endParaRPr lang="en-US" sz="2800" b="0" strike="noStrike" spc="-1">
              <a:solidFill>
                <a:srgbClr val="000000"/>
              </a:solidFill>
              <a:latin typeface="Calibri"/>
            </a:endParaRPr>
          </a:p>
          <a:p>
            <a:pPr>
              <a:lnSpc>
                <a:spcPct val="100000"/>
              </a:lnSpc>
              <a:spcBef>
                <a:spcPts val="641"/>
              </a:spcBef>
            </a:pPr>
            <a:endParaRPr lang="en-US" sz="2800" b="0" strike="noStrike" spc="-1">
              <a:solidFill>
                <a:srgbClr val="000000"/>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TextShape 1"/>
          <p:cNvSpPr txBox="1"/>
          <p:nvPr/>
        </p:nvSpPr>
        <p:spPr>
          <a:xfrm>
            <a:off x="457200" y="1143000"/>
            <a:ext cx="8229240" cy="4982760"/>
          </a:xfrm>
          <a:prstGeom prst="rect">
            <a:avLst/>
          </a:prstGeom>
          <a:noFill/>
          <a:ln>
            <a:noFill/>
          </a:ln>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Compute the matrix of Smith &amp; Waterman for the best alignment</a:t>
            </a:r>
            <a:endParaRPr lang="en-US" sz="3200" b="0" strike="noStrike" spc="-1">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Set the elements of the best alignment to 0</a:t>
            </a:r>
            <a:endParaRPr lang="en-US" sz="3200" b="0" strike="noStrike" spc="-1">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Recompute the matrix to produce               non-intersecting subsequent alignments.</a:t>
            </a:r>
            <a:endParaRPr lang="en-US" sz="3200" b="0" strike="noStrike" spc="-1">
              <a:solidFill>
                <a:srgbClr val="000000"/>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457200" y="500040"/>
            <a:ext cx="8229240" cy="6071760"/>
          </a:xfrm>
          <a:prstGeom prst="rect">
            <a:avLst/>
          </a:prstGeom>
          <a:noFill/>
          <a:ln>
            <a:noFill/>
          </a:ln>
        </p:spPr>
        <p:txBody>
          <a:bodyPr>
            <a:norm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H : score matrix</a:t>
            </a:r>
            <a:endParaRPr lang="en-US" sz="3200" b="0" strike="noStrike" spc="-1">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H</a:t>
            </a:r>
            <a:r>
              <a:rPr lang="en-US" sz="3200" b="0" strike="noStrike" spc="-1" baseline="-25000">
                <a:solidFill>
                  <a:srgbClr val="000000"/>
                </a:solidFill>
                <a:latin typeface="Times New Roman"/>
              </a:rPr>
              <a:t>i,0</a:t>
            </a:r>
            <a:r>
              <a:rPr lang="en-US" sz="3200" b="0" strike="noStrike" spc="-1">
                <a:solidFill>
                  <a:srgbClr val="000000"/>
                </a:solidFill>
                <a:latin typeface="Times New Roman"/>
              </a:rPr>
              <a:t>=H</a:t>
            </a:r>
            <a:r>
              <a:rPr lang="en-US" sz="3200" b="0" strike="noStrike" spc="-1" baseline="-25000">
                <a:solidFill>
                  <a:srgbClr val="000000"/>
                </a:solidFill>
                <a:latin typeface="Times New Roman"/>
              </a:rPr>
              <a:t>0,j</a:t>
            </a:r>
            <a:r>
              <a:rPr lang="en-US" sz="3200" b="0" strike="noStrike" spc="-1">
                <a:solidFill>
                  <a:srgbClr val="000000"/>
                </a:solidFill>
                <a:latin typeface="Times New Roman"/>
              </a:rPr>
              <a:t>=0</a:t>
            </a:r>
            <a:endParaRPr lang="en-US" sz="3200" b="0" strike="noStrike" spc="-1">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H</a:t>
            </a:r>
            <a:r>
              <a:rPr lang="en-US" sz="3200" b="0" strike="noStrike" spc="-1" baseline="-25000">
                <a:solidFill>
                  <a:srgbClr val="000000"/>
                </a:solidFill>
                <a:latin typeface="Times New Roman"/>
              </a:rPr>
              <a:t>i,j</a:t>
            </a:r>
            <a:r>
              <a:rPr lang="en-US" sz="3200" b="0" strike="noStrike" spc="-1">
                <a:solidFill>
                  <a:srgbClr val="000000"/>
                </a:solidFill>
                <a:latin typeface="Times New Roman"/>
              </a:rPr>
              <a:t>= max{0, H</a:t>
            </a:r>
            <a:r>
              <a:rPr lang="en-US" sz="3200" b="0" strike="noStrike" spc="-1" baseline="-25000">
                <a:solidFill>
                  <a:srgbClr val="000000"/>
                </a:solidFill>
                <a:latin typeface="Times New Roman"/>
              </a:rPr>
              <a:t>i-1,j-1</a:t>
            </a:r>
            <a:r>
              <a:rPr lang="zh-TW" sz="3200" b="0" strike="noStrike" spc="-1">
                <a:solidFill>
                  <a:srgbClr val="000000"/>
                </a:solidFill>
                <a:latin typeface="Times New Roman"/>
              </a:rPr>
              <a:t>＋</a:t>
            </a:r>
            <a:r>
              <a:rPr lang="en-US" sz="3200" b="0" strike="noStrike" spc="-1">
                <a:solidFill>
                  <a:srgbClr val="000000"/>
                </a:solidFill>
                <a:latin typeface="Times New Roman"/>
              </a:rPr>
              <a:t>s(a</a:t>
            </a:r>
            <a:r>
              <a:rPr lang="en-US" sz="3200" b="0" strike="noStrike" spc="-1" baseline="-25000">
                <a:solidFill>
                  <a:srgbClr val="000000"/>
                </a:solidFill>
                <a:latin typeface="Times New Roman"/>
              </a:rPr>
              <a:t>i,</a:t>
            </a:r>
            <a:r>
              <a:rPr lang="en-US" sz="3200" b="0" strike="noStrike" spc="-1">
                <a:solidFill>
                  <a:srgbClr val="000000"/>
                </a:solidFill>
                <a:latin typeface="Times New Roman"/>
              </a:rPr>
              <a:t> b</a:t>
            </a:r>
            <a:r>
              <a:rPr lang="en-US" sz="3200" b="0" strike="noStrike" spc="-1" baseline="-25000">
                <a:solidFill>
                  <a:srgbClr val="000000"/>
                </a:solidFill>
                <a:latin typeface="Times New Roman"/>
              </a:rPr>
              <a:t>j</a:t>
            </a:r>
            <a:r>
              <a:rPr lang="en-US" sz="3200" b="0" strike="noStrike" spc="-1">
                <a:solidFill>
                  <a:srgbClr val="000000"/>
                </a:solidFill>
                <a:latin typeface="Times New Roman"/>
              </a:rPr>
              <a:t>), E</a:t>
            </a:r>
            <a:r>
              <a:rPr lang="en-US" sz="3200" b="0" strike="noStrike" spc="-1" baseline="-25000">
                <a:solidFill>
                  <a:srgbClr val="000000"/>
                </a:solidFill>
                <a:latin typeface="Times New Roman"/>
              </a:rPr>
              <a:t>i,j,</a:t>
            </a:r>
            <a:r>
              <a:rPr lang="en-US" sz="3200" b="0" strike="noStrike" spc="-1">
                <a:solidFill>
                  <a:srgbClr val="000000"/>
                </a:solidFill>
                <a:latin typeface="Times New Roman"/>
              </a:rPr>
              <a:t> F</a:t>
            </a:r>
            <a:r>
              <a:rPr lang="en-US" sz="3200" b="0" strike="noStrike" spc="-1" baseline="-25000">
                <a:solidFill>
                  <a:srgbClr val="000000"/>
                </a:solidFill>
                <a:latin typeface="Times New Roman"/>
              </a:rPr>
              <a:t>i,j</a:t>
            </a:r>
            <a:r>
              <a:rPr lang="en-US" sz="3200" b="0" strike="noStrike" spc="-1">
                <a:solidFill>
                  <a:srgbClr val="000000"/>
                </a:solidFill>
                <a:latin typeface="Times New Roman"/>
              </a:rPr>
              <a:t>}</a:t>
            </a:r>
            <a:endParaRPr lang="en-US" sz="3200" b="0" strike="noStrike" spc="-1">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E</a:t>
            </a:r>
            <a:r>
              <a:rPr lang="en-US" sz="3200" b="0" strike="noStrike" spc="-1" baseline="-25000">
                <a:solidFill>
                  <a:srgbClr val="000000"/>
                </a:solidFill>
                <a:latin typeface="Times New Roman"/>
              </a:rPr>
              <a:t>i,j</a:t>
            </a:r>
            <a:r>
              <a:rPr lang="en-US" sz="3200" b="0" strike="noStrike" spc="-1">
                <a:solidFill>
                  <a:srgbClr val="000000"/>
                </a:solidFill>
                <a:latin typeface="Times New Roman"/>
              </a:rPr>
              <a:t> = max</a:t>
            </a:r>
            <a:r>
              <a:rPr lang="en-US" sz="3200" b="0" strike="noStrike" spc="-1" baseline="-25000">
                <a:solidFill>
                  <a:srgbClr val="000000"/>
                </a:solidFill>
                <a:latin typeface="Times New Roman"/>
              </a:rPr>
              <a:t>1 ≦k ≦j</a:t>
            </a:r>
            <a:r>
              <a:rPr lang="en-US" sz="3200" b="0" strike="noStrike" spc="-1">
                <a:solidFill>
                  <a:srgbClr val="000000"/>
                </a:solidFill>
                <a:latin typeface="Times New Roman"/>
              </a:rPr>
              <a:t>{H</a:t>
            </a:r>
            <a:r>
              <a:rPr lang="en-US" sz="3200" b="0" strike="noStrike" spc="-1" baseline="-25000">
                <a:solidFill>
                  <a:srgbClr val="000000"/>
                </a:solidFill>
                <a:latin typeface="Times New Roman"/>
              </a:rPr>
              <a:t>i,j-k</a:t>
            </a:r>
            <a:r>
              <a:rPr lang="en-US" sz="3200" b="0" strike="noStrike" spc="-1">
                <a:solidFill>
                  <a:srgbClr val="000000"/>
                </a:solidFill>
                <a:latin typeface="Times New Roman"/>
              </a:rPr>
              <a:t>-w(k)}</a:t>
            </a:r>
            <a:endParaRPr lang="en-US" sz="3200" b="0" strike="noStrike" spc="-1">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F</a:t>
            </a:r>
            <a:r>
              <a:rPr lang="en-US" sz="3200" b="0" strike="noStrike" spc="-1" baseline="-25000">
                <a:solidFill>
                  <a:srgbClr val="000000"/>
                </a:solidFill>
                <a:latin typeface="Times New Roman"/>
              </a:rPr>
              <a:t>i,j  </a:t>
            </a:r>
            <a:r>
              <a:rPr lang="en-US" sz="3200" b="0" strike="noStrike" spc="-1">
                <a:solidFill>
                  <a:srgbClr val="000000"/>
                </a:solidFill>
                <a:latin typeface="Times New Roman"/>
              </a:rPr>
              <a:t>= max</a:t>
            </a:r>
            <a:r>
              <a:rPr lang="en-US" sz="3200" b="0" strike="noStrike" spc="-1" baseline="-25000">
                <a:solidFill>
                  <a:srgbClr val="000000"/>
                </a:solidFill>
                <a:latin typeface="Times New Roman"/>
              </a:rPr>
              <a:t>1 ≦k ≦i</a:t>
            </a:r>
            <a:r>
              <a:rPr lang="en-US" sz="3200" b="0" strike="noStrike" spc="-1">
                <a:solidFill>
                  <a:srgbClr val="000000"/>
                </a:solidFill>
                <a:latin typeface="Times New Roman"/>
              </a:rPr>
              <a:t>{H</a:t>
            </a:r>
            <a:r>
              <a:rPr lang="en-US" sz="3200" b="0" strike="noStrike" spc="-1" baseline="-25000">
                <a:solidFill>
                  <a:srgbClr val="000000"/>
                </a:solidFill>
                <a:latin typeface="Times New Roman"/>
              </a:rPr>
              <a:t>i-k,j</a:t>
            </a:r>
            <a:r>
              <a:rPr lang="en-US" sz="3200" b="0" strike="noStrike" spc="-1">
                <a:solidFill>
                  <a:srgbClr val="000000"/>
                </a:solidFill>
                <a:latin typeface="Times New Roman"/>
              </a:rPr>
              <a:t>-w(k)}</a:t>
            </a:r>
            <a:endParaRPr lang="en-US" sz="3200" b="0" strike="noStrike" spc="-1">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w(k) : gap penalty with k gap</a:t>
            </a:r>
            <a:endParaRPr lang="en-US" sz="3200" b="0" strike="noStrike" spc="-1">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s(a</a:t>
            </a:r>
            <a:r>
              <a:rPr lang="en-US" sz="3200" b="0" strike="noStrike" spc="-1" baseline="-25000">
                <a:solidFill>
                  <a:srgbClr val="000000"/>
                </a:solidFill>
                <a:latin typeface="Times New Roman"/>
              </a:rPr>
              <a:t>i,</a:t>
            </a:r>
            <a:r>
              <a:rPr lang="en-US" sz="3200" b="0" strike="noStrike" spc="-1">
                <a:solidFill>
                  <a:srgbClr val="000000"/>
                </a:solidFill>
                <a:latin typeface="Times New Roman"/>
              </a:rPr>
              <a:t> b</a:t>
            </a:r>
            <a:r>
              <a:rPr lang="en-US" sz="3200" b="0" strike="noStrike" spc="-1" baseline="-25000">
                <a:solidFill>
                  <a:srgbClr val="000000"/>
                </a:solidFill>
                <a:latin typeface="Times New Roman"/>
              </a:rPr>
              <a:t>j</a:t>
            </a:r>
            <a:r>
              <a:rPr lang="en-US" sz="3200" b="0" strike="noStrike" spc="-1">
                <a:solidFill>
                  <a:srgbClr val="000000"/>
                </a:solidFill>
                <a:latin typeface="Times New Roman"/>
              </a:rPr>
              <a:t>) &gt; 0 if a</a:t>
            </a:r>
            <a:r>
              <a:rPr lang="en-US" sz="3200" b="0" strike="noStrike" spc="-1" baseline="-25000">
                <a:solidFill>
                  <a:srgbClr val="000000"/>
                </a:solidFill>
                <a:latin typeface="Times New Roman"/>
              </a:rPr>
              <a:t>i</a:t>
            </a:r>
            <a:r>
              <a:rPr lang="en-US" sz="3200" b="0" strike="noStrike" spc="-1">
                <a:solidFill>
                  <a:srgbClr val="000000"/>
                </a:solidFill>
                <a:latin typeface="Times New Roman"/>
              </a:rPr>
              <a:t> </a:t>
            </a:r>
            <a:r>
              <a:rPr lang="zh-TW" sz="3200" b="0" strike="noStrike" spc="-1">
                <a:solidFill>
                  <a:srgbClr val="000000"/>
                </a:solidFill>
                <a:latin typeface="Times New Roman"/>
              </a:rPr>
              <a:t>＝ </a:t>
            </a:r>
            <a:r>
              <a:rPr lang="en-US" sz="3200" b="0" strike="noStrike" spc="-1">
                <a:solidFill>
                  <a:srgbClr val="000000"/>
                </a:solidFill>
                <a:latin typeface="Times New Roman"/>
              </a:rPr>
              <a:t>b</a:t>
            </a:r>
            <a:r>
              <a:rPr lang="en-US" sz="3200" b="0" strike="noStrike" spc="-1" baseline="-25000">
                <a:solidFill>
                  <a:srgbClr val="000000"/>
                </a:solidFill>
                <a:latin typeface="Times New Roman"/>
              </a:rPr>
              <a:t>j</a:t>
            </a:r>
            <a:endParaRPr lang="en-US" sz="3200" b="0" strike="noStrike" spc="-1">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s(a</a:t>
            </a:r>
            <a:r>
              <a:rPr lang="en-US" sz="3200" b="0" strike="noStrike" spc="-1" baseline="-25000">
                <a:solidFill>
                  <a:srgbClr val="000000"/>
                </a:solidFill>
                <a:latin typeface="Times New Roman"/>
              </a:rPr>
              <a:t>i,</a:t>
            </a:r>
            <a:r>
              <a:rPr lang="en-US" sz="3200" b="0" strike="noStrike" spc="-1">
                <a:solidFill>
                  <a:srgbClr val="000000"/>
                </a:solidFill>
                <a:latin typeface="Times New Roman"/>
              </a:rPr>
              <a:t> b</a:t>
            </a:r>
            <a:r>
              <a:rPr lang="en-US" sz="3200" b="0" strike="noStrike" spc="-1" baseline="-25000">
                <a:solidFill>
                  <a:srgbClr val="000000"/>
                </a:solidFill>
                <a:latin typeface="Times New Roman"/>
              </a:rPr>
              <a:t>j</a:t>
            </a:r>
            <a:r>
              <a:rPr lang="en-US" sz="3200" b="0" strike="noStrike" spc="-1">
                <a:solidFill>
                  <a:srgbClr val="000000"/>
                </a:solidFill>
                <a:latin typeface="Times New Roman"/>
              </a:rPr>
              <a:t>) &lt; 0 if a</a:t>
            </a:r>
            <a:r>
              <a:rPr lang="en-US" sz="3200" b="0" strike="noStrike" spc="-1" baseline="-25000">
                <a:solidFill>
                  <a:srgbClr val="000000"/>
                </a:solidFill>
                <a:latin typeface="Times New Roman"/>
              </a:rPr>
              <a:t>i</a:t>
            </a:r>
            <a:r>
              <a:rPr lang="en-US" sz="3200" b="0" strike="noStrike" spc="-1">
                <a:solidFill>
                  <a:srgbClr val="000000"/>
                </a:solidFill>
                <a:latin typeface="Times New Roman"/>
              </a:rPr>
              <a:t> ≠ b</a:t>
            </a:r>
            <a:r>
              <a:rPr lang="en-US" sz="3200" b="0" strike="noStrike" spc="-1" baseline="-25000">
                <a:solidFill>
                  <a:srgbClr val="000000"/>
                </a:solidFill>
                <a:latin typeface="Times New Roman"/>
              </a:rPr>
              <a:t>j</a:t>
            </a:r>
            <a:endParaRPr lang="en-US" sz="3200" b="0" strike="noStrike" spc="-1">
              <a:solidFill>
                <a:srgbClr val="000000"/>
              </a:solidFill>
              <a:latin typeface="Calibri"/>
            </a:endParaRPr>
          </a:p>
          <a:p>
            <a:pPr>
              <a:lnSpc>
                <a:spcPct val="100000"/>
              </a:lnSpc>
              <a:spcBef>
                <a:spcPts val="641"/>
              </a:spcBef>
            </a:pPr>
            <a:endParaRPr lang="en-US" sz="3200" b="0" strike="noStrike" spc="-1">
              <a:solidFill>
                <a:srgbClr val="000000"/>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Shape 1"/>
          <p:cNvSpPr txBox="1"/>
          <p:nvPr/>
        </p:nvSpPr>
        <p:spPr>
          <a:xfrm>
            <a:off x="428760" y="785880"/>
            <a:ext cx="8429400" cy="5643360"/>
          </a:xfrm>
          <a:prstGeom prst="rect">
            <a:avLst/>
          </a:prstGeom>
          <a:noFill/>
          <a:ln>
            <a:noFill/>
          </a:ln>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When w</a:t>
            </a:r>
            <a:r>
              <a:rPr lang="en-US" sz="3200" b="0" strike="noStrike" spc="-1" baseline="-25000">
                <a:solidFill>
                  <a:srgbClr val="000000"/>
                </a:solidFill>
                <a:latin typeface="Times New Roman"/>
              </a:rPr>
              <a:t>k</a:t>
            </a:r>
            <a:r>
              <a:rPr lang="en-US" sz="3200" b="0" strike="noStrike" spc="-1">
                <a:solidFill>
                  <a:srgbClr val="000000"/>
                </a:solidFill>
                <a:latin typeface="Times New Roman"/>
              </a:rPr>
              <a:t> =vk</a:t>
            </a:r>
            <a:endParaRPr lang="en-US" sz="3200" b="0" strike="noStrike" spc="-1">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H</a:t>
            </a:r>
            <a:r>
              <a:rPr lang="en-US" sz="3200" b="0" strike="noStrike" spc="-1" baseline="-25000">
                <a:solidFill>
                  <a:srgbClr val="000000"/>
                </a:solidFill>
                <a:latin typeface="Times New Roman"/>
              </a:rPr>
              <a:t>i,j</a:t>
            </a:r>
            <a:r>
              <a:rPr lang="en-US" sz="3200" b="0" strike="noStrike" spc="-1">
                <a:solidFill>
                  <a:srgbClr val="000000"/>
                </a:solidFill>
                <a:latin typeface="Times New Roman"/>
              </a:rPr>
              <a:t>= max{0, H</a:t>
            </a:r>
            <a:r>
              <a:rPr lang="en-US" sz="3200" b="0" strike="noStrike" spc="-1" baseline="-25000">
                <a:solidFill>
                  <a:srgbClr val="000000"/>
                </a:solidFill>
                <a:latin typeface="Times New Roman"/>
              </a:rPr>
              <a:t>i-1,j-1</a:t>
            </a:r>
            <a:r>
              <a:rPr lang="zh-TW" sz="3200" b="0" strike="noStrike" spc="-1">
                <a:solidFill>
                  <a:srgbClr val="000000"/>
                </a:solidFill>
                <a:latin typeface="Times New Roman"/>
              </a:rPr>
              <a:t>＋</a:t>
            </a:r>
            <a:r>
              <a:rPr lang="en-US" sz="3200" b="0" strike="noStrike" spc="-1">
                <a:solidFill>
                  <a:srgbClr val="000000"/>
                </a:solidFill>
                <a:latin typeface="Times New Roman"/>
              </a:rPr>
              <a:t>s(a</a:t>
            </a:r>
            <a:r>
              <a:rPr lang="en-US" sz="3200" b="0" strike="noStrike" spc="-1" baseline="-25000">
                <a:solidFill>
                  <a:srgbClr val="000000"/>
                </a:solidFill>
                <a:latin typeface="Times New Roman"/>
              </a:rPr>
              <a:t>i,</a:t>
            </a:r>
            <a:r>
              <a:rPr lang="en-US" sz="3200" b="0" strike="noStrike" spc="-1">
                <a:solidFill>
                  <a:srgbClr val="000000"/>
                </a:solidFill>
                <a:latin typeface="Times New Roman"/>
              </a:rPr>
              <a:t> b</a:t>
            </a:r>
            <a:r>
              <a:rPr lang="en-US" sz="3200" b="0" strike="noStrike" spc="-1" baseline="-25000">
                <a:solidFill>
                  <a:srgbClr val="000000"/>
                </a:solidFill>
                <a:latin typeface="Times New Roman"/>
              </a:rPr>
              <a:t>j</a:t>
            </a:r>
            <a:r>
              <a:rPr lang="en-US" sz="3200" b="0" strike="noStrike" spc="-1">
                <a:solidFill>
                  <a:srgbClr val="000000"/>
                </a:solidFill>
                <a:latin typeface="Times New Roman"/>
              </a:rPr>
              <a:t>), H</a:t>
            </a:r>
            <a:r>
              <a:rPr lang="en-US" sz="3200" b="0" strike="noStrike" spc="-1" baseline="-25000">
                <a:solidFill>
                  <a:srgbClr val="000000"/>
                </a:solidFill>
                <a:latin typeface="Times New Roman"/>
              </a:rPr>
              <a:t>i-1,j</a:t>
            </a:r>
            <a:r>
              <a:rPr lang="en-US" sz="3200" b="0" strike="noStrike" spc="-1">
                <a:solidFill>
                  <a:srgbClr val="000000"/>
                </a:solidFill>
                <a:latin typeface="Times New Roman"/>
              </a:rPr>
              <a:t>-v</a:t>
            </a:r>
            <a:r>
              <a:rPr lang="en-US" sz="3200" b="0" strike="noStrike" spc="-1" baseline="-25000">
                <a:solidFill>
                  <a:srgbClr val="000000"/>
                </a:solidFill>
                <a:latin typeface="Times New Roman"/>
              </a:rPr>
              <a:t>,</a:t>
            </a:r>
            <a:r>
              <a:rPr lang="en-US" sz="3200" b="0" strike="noStrike" spc="-1">
                <a:solidFill>
                  <a:srgbClr val="000000"/>
                </a:solidFill>
                <a:latin typeface="Times New Roman"/>
              </a:rPr>
              <a:t> H</a:t>
            </a:r>
            <a:r>
              <a:rPr lang="en-US" sz="3200" b="0" strike="noStrike" spc="-1" baseline="-25000">
                <a:solidFill>
                  <a:srgbClr val="000000"/>
                </a:solidFill>
                <a:latin typeface="Times New Roman"/>
              </a:rPr>
              <a:t>i,j-1</a:t>
            </a:r>
            <a:r>
              <a:rPr lang="en-US" sz="3200" b="0" strike="noStrike" spc="-1">
                <a:solidFill>
                  <a:srgbClr val="000000"/>
                </a:solidFill>
                <a:latin typeface="Times New Roman"/>
              </a:rPr>
              <a:t>-v}</a:t>
            </a:r>
            <a:endParaRPr lang="en-US" sz="3200" b="0" strike="noStrike" spc="-1">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H*</a:t>
            </a:r>
            <a:r>
              <a:rPr lang="en-US" sz="3200" b="0" strike="noStrike" spc="-1" baseline="-25000">
                <a:solidFill>
                  <a:srgbClr val="000000"/>
                </a:solidFill>
                <a:latin typeface="Times New Roman"/>
              </a:rPr>
              <a:t>i,j</a:t>
            </a:r>
            <a:r>
              <a:rPr lang="en-US" sz="3200" b="0" strike="noStrike" spc="-1">
                <a:solidFill>
                  <a:srgbClr val="000000"/>
                </a:solidFill>
                <a:latin typeface="Times New Roman"/>
              </a:rPr>
              <a:t>= max{0, H</a:t>
            </a:r>
            <a:r>
              <a:rPr lang="en-US" sz="3200" b="0" strike="noStrike" spc="-1" baseline="-25000">
                <a:solidFill>
                  <a:srgbClr val="000000"/>
                </a:solidFill>
                <a:latin typeface="Times New Roman"/>
              </a:rPr>
              <a:t>i-1,j</a:t>
            </a:r>
            <a:r>
              <a:rPr lang="en-US" sz="3200" b="0" strike="noStrike" spc="-1">
                <a:solidFill>
                  <a:srgbClr val="000000"/>
                </a:solidFill>
                <a:latin typeface="Times New Roman"/>
              </a:rPr>
              <a:t>-v</a:t>
            </a:r>
            <a:r>
              <a:rPr lang="en-US" sz="3200" b="0" strike="noStrike" spc="-1" baseline="-25000">
                <a:solidFill>
                  <a:srgbClr val="000000"/>
                </a:solidFill>
                <a:latin typeface="Times New Roman"/>
              </a:rPr>
              <a:t>,</a:t>
            </a:r>
            <a:r>
              <a:rPr lang="en-US" sz="3200" b="0" strike="noStrike" spc="-1">
                <a:solidFill>
                  <a:srgbClr val="000000"/>
                </a:solidFill>
                <a:latin typeface="Times New Roman"/>
              </a:rPr>
              <a:t> H</a:t>
            </a:r>
            <a:r>
              <a:rPr lang="en-US" sz="3200" b="0" strike="noStrike" spc="-1" baseline="-25000">
                <a:solidFill>
                  <a:srgbClr val="000000"/>
                </a:solidFill>
                <a:latin typeface="Times New Roman"/>
              </a:rPr>
              <a:t>i,j-1</a:t>
            </a:r>
            <a:r>
              <a:rPr lang="en-US" sz="3200" b="0" strike="noStrike" spc="-1">
                <a:solidFill>
                  <a:srgbClr val="000000"/>
                </a:solidFill>
                <a:latin typeface="Times New Roman"/>
              </a:rPr>
              <a:t>-v}</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a:solidFill>
                  <a:srgbClr val="000000"/>
                </a:solidFill>
                <a:latin typeface="Times New Roman"/>
              </a:rPr>
              <a:t>in alignment element</a:t>
            </a:r>
            <a:endParaRPr lang="en-US" sz="2800" b="0" strike="noStrike" spc="-1">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From the upper leftmost alignment position Hi,j</a:t>
            </a:r>
            <a:endParaRPr lang="en-US" sz="3200" b="0" strike="noStrike" spc="-1">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Compute H*</a:t>
            </a:r>
            <a:r>
              <a:rPr lang="en-US" sz="3200" b="0" strike="noStrike" spc="-1" baseline="-25000">
                <a:solidFill>
                  <a:srgbClr val="000000"/>
                </a:solidFill>
                <a:latin typeface="Times New Roman"/>
              </a:rPr>
              <a:t>k,j </a:t>
            </a:r>
            <a:r>
              <a:rPr lang="en-US" sz="3200" b="0" strike="noStrike" spc="-1">
                <a:solidFill>
                  <a:srgbClr val="000000"/>
                </a:solidFill>
                <a:latin typeface="Times New Roman"/>
              </a:rPr>
              <a:t> where k&gt;i until H*</a:t>
            </a:r>
            <a:r>
              <a:rPr lang="en-US" sz="3200" b="0" strike="noStrike" spc="-1" baseline="-25000">
                <a:solidFill>
                  <a:srgbClr val="000000"/>
                </a:solidFill>
                <a:latin typeface="Times New Roman"/>
              </a:rPr>
              <a:t>k,j </a:t>
            </a:r>
            <a:r>
              <a:rPr lang="en-US" sz="3200" b="0" strike="noStrike" spc="-1">
                <a:solidFill>
                  <a:srgbClr val="000000"/>
                </a:solidFill>
                <a:latin typeface="Times New Roman"/>
              </a:rPr>
              <a:t> = H</a:t>
            </a:r>
            <a:r>
              <a:rPr lang="en-US" sz="3200" b="0" strike="noStrike" spc="-1" baseline="-25000">
                <a:solidFill>
                  <a:srgbClr val="000000"/>
                </a:solidFill>
                <a:latin typeface="Times New Roman"/>
              </a:rPr>
              <a:t>k,j</a:t>
            </a:r>
            <a:r>
              <a:rPr lang="en-US" sz="3200" b="0" strike="noStrike" spc="-1">
                <a:solidFill>
                  <a:srgbClr val="000000"/>
                </a:solidFill>
                <a:latin typeface="Times New Roman"/>
              </a:rPr>
              <a:t>  </a:t>
            </a:r>
            <a:endParaRPr lang="en-US" sz="3200" b="0" strike="noStrike" spc="-1">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Compute H*</a:t>
            </a:r>
            <a:r>
              <a:rPr lang="en-US" sz="3200" b="0" strike="noStrike" spc="-1" baseline="-25000">
                <a:solidFill>
                  <a:srgbClr val="000000"/>
                </a:solidFill>
                <a:latin typeface="Times New Roman"/>
              </a:rPr>
              <a:t>i,k </a:t>
            </a:r>
            <a:r>
              <a:rPr lang="en-US" sz="3200" b="0" strike="noStrike" spc="-1">
                <a:solidFill>
                  <a:srgbClr val="000000"/>
                </a:solidFill>
                <a:latin typeface="Times New Roman"/>
              </a:rPr>
              <a:t> where k&gt;j until H*</a:t>
            </a:r>
            <a:r>
              <a:rPr lang="en-US" sz="3200" b="0" strike="noStrike" spc="-1" baseline="-25000">
                <a:solidFill>
                  <a:srgbClr val="000000"/>
                </a:solidFill>
                <a:latin typeface="Times New Roman"/>
              </a:rPr>
              <a:t>i,k </a:t>
            </a:r>
            <a:r>
              <a:rPr lang="en-US" sz="3200" b="0" strike="noStrike" spc="-1">
                <a:solidFill>
                  <a:srgbClr val="000000"/>
                </a:solidFill>
                <a:latin typeface="Times New Roman"/>
              </a:rPr>
              <a:t> = H</a:t>
            </a:r>
            <a:r>
              <a:rPr lang="en-US" sz="3200" b="0" strike="noStrike" spc="-1" baseline="-25000">
                <a:solidFill>
                  <a:srgbClr val="000000"/>
                </a:solidFill>
                <a:latin typeface="Times New Roman"/>
              </a:rPr>
              <a:t>i,k</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a:solidFill>
                  <a:srgbClr val="000000"/>
                </a:solidFill>
                <a:latin typeface="Times New Roman"/>
              </a:rPr>
              <a:t>Using H</a:t>
            </a:r>
            <a:r>
              <a:rPr lang="en-US" sz="2800" b="0" strike="noStrike" spc="-1" baseline="-25000">
                <a:solidFill>
                  <a:srgbClr val="000000"/>
                </a:solidFill>
                <a:latin typeface="Times New Roman"/>
              </a:rPr>
              <a:t>i,j</a:t>
            </a:r>
            <a:r>
              <a:rPr lang="en-US" sz="2800" b="0" strike="noStrike" spc="-1">
                <a:solidFill>
                  <a:srgbClr val="000000"/>
                </a:solidFill>
                <a:latin typeface="Times New Roman"/>
              </a:rPr>
              <a:t>= max{0, H</a:t>
            </a:r>
            <a:r>
              <a:rPr lang="en-US" sz="2800" b="0" strike="noStrike" spc="-1" baseline="-25000">
                <a:solidFill>
                  <a:srgbClr val="000000"/>
                </a:solidFill>
                <a:latin typeface="Times New Roman"/>
              </a:rPr>
              <a:t>i-1,j-1</a:t>
            </a:r>
            <a:r>
              <a:rPr lang="zh-TW" sz="2800" b="0" strike="noStrike" spc="-1">
                <a:solidFill>
                  <a:srgbClr val="000000"/>
                </a:solidFill>
                <a:latin typeface="Times New Roman"/>
              </a:rPr>
              <a:t>＋</a:t>
            </a:r>
            <a:r>
              <a:rPr lang="en-US" sz="2800" b="0" strike="noStrike" spc="-1">
                <a:solidFill>
                  <a:srgbClr val="000000"/>
                </a:solidFill>
                <a:latin typeface="Times New Roman"/>
              </a:rPr>
              <a:t>s(a</a:t>
            </a:r>
            <a:r>
              <a:rPr lang="en-US" sz="2800" b="0" strike="noStrike" spc="-1" baseline="-25000">
                <a:solidFill>
                  <a:srgbClr val="000000"/>
                </a:solidFill>
                <a:latin typeface="Times New Roman"/>
              </a:rPr>
              <a:t>i,</a:t>
            </a:r>
            <a:r>
              <a:rPr lang="en-US" sz="2800" b="0" strike="noStrike" spc="-1">
                <a:solidFill>
                  <a:srgbClr val="000000"/>
                </a:solidFill>
                <a:latin typeface="Times New Roman"/>
              </a:rPr>
              <a:t> b</a:t>
            </a:r>
            <a:r>
              <a:rPr lang="en-US" sz="2800" b="0" strike="noStrike" spc="-1" baseline="-25000">
                <a:solidFill>
                  <a:srgbClr val="000000"/>
                </a:solidFill>
                <a:latin typeface="Times New Roman"/>
              </a:rPr>
              <a:t>j</a:t>
            </a:r>
            <a:r>
              <a:rPr lang="en-US" sz="2800" b="0" strike="noStrike" spc="-1">
                <a:solidFill>
                  <a:srgbClr val="000000"/>
                </a:solidFill>
                <a:latin typeface="Times New Roman"/>
              </a:rPr>
              <a:t>), H</a:t>
            </a:r>
            <a:r>
              <a:rPr lang="en-US" sz="2800" b="0" strike="noStrike" spc="-1" baseline="-25000">
                <a:solidFill>
                  <a:srgbClr val="000000"/>
                </a:solidFill>
                <a:latin typeface="Times New Roman"/>
              </a:rPr>
              <a:t>i-1,j</a:t>
            </a:r>
            <a:r>
              <a:rPr lang="en-US" sz="2800" b="0" strike="noStrike" spc="-1">
                <a:solidFill>
                  <a:srgbClr val="000000"/>
                </a:solidFill>
                <a:latin typeface="Times New Roman"/>
              </a:rPr>
              <a:t>-v</a:t>
            </a:r>
            <a:r>
              <a:rPr lang="en-US" sz="2800" b="0" strike="noStrike" spc="-1" baseline="-25000">
                <a:solidFill>
                  <a:srgbClr val="000000"/>
                </a:solidFill>
                <a:latin typeface="Times New Roman"/>
              </a:rPr>
              <a:t>,</a:t>
            </a:r>
            <a:r>
              <a:rPr lang="en-US" sz="2800" b="0" strike="noStrike" spc="-1">
                <a:solidFill>
                  <a:srgbClr val="000000"/>
                </a:solidFill>
                <a:latin typeface="Times New Roman"/>
              </a:rPr>
              <a:t> H</a:t>
            </a:r>
            <a:r>
              <a:rPr lang="en-US" sz="2800" b="0" strike="noStrike" spc="-1" baseline="-25000">
                <a:solidFill>
                  <a:srgbClr val="000000"/>
                </a:solidFill>
                <a:latin typeface="Times New Roman"/>
              </a:rPr>
              <a:t>i,j-1</a:t>
            </a:r>
            <a:r>
              <a:rPr lang="en-US" sz="2800" b="0" strike="noStrike" spc="-1">
                <a:solidFill>
                  <a:srgbClr val="000000"/>
                </a:solidFill>
                <a:latin typeface="Times New Roman"/>
              </a:rPr>
              <a:t>-v}</a:t>
            </a:r>
            <a:endParaRPr lang="en-US" sz="2800" b="0" strike="noStrike" spc="-1">
              <a:solidFill>
                <a:srgbClr val="000000"/>
              </a:solidFill>
              <a:latin typeface="Calibri"/>
            </a:endParaRPr>
          </a:p>
          <a:p>
            <a:pPr marL="743040" indent="-285480">
              <a:lnSpc>
                <a:spcPct val="100000"/>
              </a:lnSpc>
              <a:spcBef>
                <a:spcPts val="561"/>
              </a:spcBef>
              <a:tabLst>
                <a:tab pos="0" algn="l"/>
              </a:tabLst>
            </a:pPr>
            <a:endParaRPr lang="en-US" sz="2800" b="0" strike="noStrike" spc="-1">
              <a:solidFill>
                <a:srgbClr val="000000"/>
              </a:solidFill>
              <a:latin typeface="Calibri"/>
            </a:endParaRPr>
          </a:p>
          <a:p>
            <a:pPr>
              <a:lnSpc>
                <a:spcPct val="100000"/>
              </a:lnSpc>
              <a:spcBef>
                <a:spcPts val="641"/>
              </a:spcBef>
              <a:tabLst>
                <a:tab pos="0" algn="l"/>
              </a:tabLst>
            </a:pPr>
            <a:endParaRPr lang="en-US" sz="2800" b="0" strike="noStrike" spc="-1">
              <a:solidFill>
                <a:srgbClr val="000000"/>
              </a:solidFill>
              <a:latin typeface="Calibri"/>
            </a:endParaRPr>
          </a:p>
          <a:p>
            <a:pPr>
              <a:lnSpc>
                <a:spcPct val="100000"/>
              </a:lnSpc>
              <a:spcBef>
                <a:spcPts val="641"/>
              </a:spcBef>
              <a:tabLst>
                <a:tab pos="0" algn="l"/>
              </a:tabLst>
            </a:pPr>
            <a:endParaRPr lang="en-US" sz="2800" b="0" strike="noStrike" spc="-1">
              <a:solidFill>
                <a:srgbClr val="000000"/>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extShape 1"/>
          <p:cNvSpPr txBox="1"/>
          <p:nvPr/>
        </p:nvSpPr>
        <p:spPr>
          <a:xfrm>
            <a:off x="428760" y="785880"/>
            <a:ext cx="8229240" cy="5339880"/>
          </a:xfrm>
          <a:prstGeom prst="rect">
            <a:avLst/>
          </a:prstGeom>
          <a:noFill/>
          <a:ln>
            <a:noFill/>
          </a:ln>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When w</a:t>
            </a:r>
            <a:r>
              <a:rPr lang="en-US" sz="3200" b="0" strike="noStrike" spc="-1" baseline="-25000">
                <a:solidFill>
                  <a:srgbClr val="000000"/>
                </a:solidFill>
                <a:latin typeface="Times New Roman"/>
              </a:rPr>
              <a:t>k</a:t>
            </a:r>
            <a:r>
              <a:rPr lang="en-US" sz="3200" b="0" strike="noStrike" spc="-1">
                <a:solidFill>
                  <a:srgbClr val="000000"/>
                </a:solidFill>
                <a:latin typeface="Times New Roman"/>
              </a:rPr>
              <a:t> =u+vk</a:t>
            </a:r>
            <a:endParaRPr lang="en-US" sz="3200" b="0" strike="noStrike" spc="-1">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E</a:t>
            </a:r>
            <a:r>
              <a:rPr lang="en-US" sz="3200" b="0" strike="noStrike" spc="-1" baseline="-25000">
                <a:solidFill>
                  <a:srgbClr val="000000"/>
                </a:solidFill>
                <a:latin typeface="Times New Roman"/>
              </a:rPr>
              <a:t>i,j</a:t>
            </a:r>
            <a:r>
              <a:rPr lang="en-US" sz="3200" b="0" strike="noStrike" spc="-1">
                <a:solidFill>
                  <a:srgbClr val="000000"/>
                </a:solidFill>
                <a:latin typeface="Times New Roman"/>
              </a:rPr>
              <a:t> = max{H</a:t>
            </a:r>
            <a:r>
              <a:rPr lang="en-US" sz="3200" b="0" strike="noStrike" spc="-1" baseline="-25000">
                <a:solidFill>
                  <a:srgbClr val="000000"/>
                </a:solidFill>
                <a:latin typeface="Times New Roman"/>
              </a:rPr>
              <a:t>i,j-1</a:t>
            </a:r>
            <a:r>
              <a:rPr lang="en-US" sz="3200" b="0" strike="noStrike" spc="-1">
                <a:solidFill>
                  <a:srgbClr val="000000"/>
                </a:solidFill>
                <a:latin typeface="Times New Roman"/>
              </a:rPr>
              <a:t>-(u+v), E</a:t>
            </a:r>
            <a:r>
              <a:rPr lang="en-US" sz="3200" b="0" strike="noStrike" spc="-1" baseline="-25000">
                <a:solidFill>
                  <a:srgbClr val="000000"/>
                </a:solidFill>
                <a:latin typeface="Times New Roman"/>
              </a:rPr>
              <a:t>i,j-1</a:t>
            </a:r>
            <a:r>
              <a:rPr lang="en-US" sz="3200" b="0" strike="noStrike" spc="-1">
                <a:solidFill>
                  <a:srgbClr val="000000"/>
                </a:solidFill>
                <a:latin typeface="Times New Roman"/>
              </a:rPr>
              <a:t> -v}</a:t>
            </a:r>
            <a:endParaRPr lang="en-US" sz="3200" b="0" strike="noStrike" spc="-1">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F</a:t>
            </a:r>
            <a:r>
              <a:rPr lang="en-US" sz="3200" b="0" strike="noStrike" spc="-1" baseline="-25000">
                <a:solidFill>
                  <a:srgbClr val="000000"/>
                </a:solidFill>
                <a:latin typeface="Times New Roman"/>
              </a:rPr>
              <a:t>i,j  </a:t>
            </a:r>
            <a:r>
              <a:rPr lang="en-US" sz="3200" b="0" strike="noStrike" spc="-1">
                <a:solidFill>
                  <a:srgbClr val="000000"/>
                </a:solidFill>
                <a:latin typeface="Times New Roman"/>
              </a:rPr>
              <a:t>= max{H</a:t>
            </a:r>
            <a:r>
              <a:rPr lang="en-US" sz="3200" b="0" strike="noStrike" spc="-1" baseline="-25000">
                <a:solidFill>
                  <a:srgbClr val="000000"/>
                </a:solidFill>
                <a:latin typeface="Times New Roman"/>
              </a:rPr>
              <a:t>i-1,j</a:t>
            </a:r>
            <a:r>
              <a:rPr lang="en-US" sz="3200" b="0" strike="noStrike" spc="-1">
                <a:solidFill>
                  <a:srgbClr val="000000"/>
                </a:solidFill>
                <a:latin typeface="Times New Roman"/>
              </a:rPr>
              <a:t>-(u+v), E</a:t>
            </a:r>
            <a:r>
              <a:rPr lang="en-US" sz="3200" b="0" strike="noStrike" spc="-1" baseline="-25000">
                <a:solidFill>
                  <a:srgbClr val="000000"/>
                </a:solidFill>
                <a:latin typeface="Times New Roman"/>
              </a:rPr>
              <a:t>i-1,j</a:t>
            </a:r>
            <a:r>
              <a:rPr lang="en-US" sz="3200" b="0" strike="noStrike" spc="-1">
                <a:solidFill>
                  <a:srgbClr val="000000"/>
                </a:solidFill>
                <a:latin typeface="Times New Roman"/>
              </a:rPr>
              <a:t> -v}</a:t>
            </a:r>
            <a:endParaRPr lang="en-US" sz="3200" b="0" strike="noStrike" spc="-1">
              <a:solidFill>
                <a:srgbClr val="000000"/>
              </a:solidFill>
              <a:latin typeface="Calibri"/>
            </a:endParaRPr>
          </a:p>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Terminate where </a:t>
            </a:r>
            <a:endParaRPr lang="en-US" sz="3200" b="0" strike="noStrike" spc="-1">
              <a:solidFill>
                <a:srgbClr val="000000"/>
              </a:solidFill>
              <a:latin typeface="Calibri"/>
            </a:endParaRPr>
          </a:p>
          <a:p>
            <a:pPr marL="343080" indent="-342720">
              <a:lnSpc>
                <a:spcPct val="100000"/>
              </a:lnSpc>
              <a:spcBef>
                <a:spcPts val="641"/>
              </a:spcBef>
              <a:tabLst>
                <a:tab pos="0" algn="l"/>
              </a:tabLst>
            </a:pPr>
            <a:r>
              <a:rPr lang="en-US" sz="3200" b="0" strike="noStrike" spc="-1">
                <a:solidFill>
                  <a:srgbClr val="000000"/>
                </a:solidFill>
                <a:latin typeface="Times New Roman"/>
              </a:rPr>
              <a:t>    H</a:t>
            </a:r>
            <a:r>
              <a:rPr lang="en-US" sz="3200" b="0" strike="noStrike" spc="-1" baseline="-25000">
                <a:solidFill>
                  <a:srgbClr val="000000"/>
                </a:solidFill>
                <a:latin typeface="Times New Roman"/>
              </a:rPr>
              <a:t>i,j </a:t>
            </a:r>
            <a:r>
              <a:rPr lang="en-US" sz="3200" b="0" strike="noStrike" spc="-1">
                <a:solidFill>
                  <a:srgbClr val="000000"/>
                </a:solidFill>
                <a:latin typeface="Times New Roman"/>
              </a:rPr>
              <a:t>= H*</a:t>
            </a:r>
            <a:r>
              <a:rPr lang="en-US" sz="3200" b="0" strike="noStrike" spc="-1" baseline="-25000">
                <a:solidFill>
                  <a:srgbClr val="000000"/>
                </a:solidFill>
                <a:latin typeface="Times New Roman"/>
              </a:rPr>
              <a:t>i,j</a:t>
            </a:r>
            <a:r>
              <a:rPr lang="en-US" sz="3200" b="0" strike="noStrike" spc="-1">
                <a:solidFill>
                  <a:srgbClr val="000000"/>
                </a:solidFill>
                <a:latin typeface="Times New Roman"/>
              </a:rPr>
              <a:t> , E</a:t>
            </a:r>
            <a:r>
              <a:rPr lang="en-US" sz="3200" b="0" strike="noStrike" spc="-1" baseline="-25000">
                <a:solidFill>
                  <a:srgbClr val="000000"/>
                </a:solidFill>
                <a:latin typeface="Times New Roman"/>
              </a:rPr>
              <a:t>i,j </a:t>
            </a:r>
            <a:r>
              <a:rPr lang="en-US" sz="3200" b="0" strike="noStrike" spc="-1">
                <a:solidFill>
                  <a:srgbClr val="000000"/>
                </a:solidFill>
                <a:latin typeface="Times New Roman"/>
              </a:rPr>
              <a:t>= E*</a:t>
            </a:r>
            <a:r>
              <a:rPr lang="en-US" sz="3200" b="0" strike="noStrike" spc="-1" baseline="-25000">
                <a:solidFill>
                  <a:srgbClr val="000000"/>
                </a:solidFill>
                <a:latin typeface="Times New Roman"/>
              </a:rPr>
              <a:t>i,j,</a:t>
            </a:r>
            <a:r>
              <a:rPr lang="en-US" sz="3200" b="0" strike="noStrike" spc="-1">
                <a:solidFill>
                  <a:srgbClr val="000000"/>
                </a:solidFill>
                <a:latin typeface="Times New Roman"/>
              </a:rPr>
              <a:t> F</a:t>
            </a:r>
            <a:r>
              <a:rPr lang="en-US" sz="3200" b="0" strike="noStrike" spc="-1" baseline="-25000">
                <a:solidFill>
                  <a:srgbClr val="000000"/>
                </a:solidFill>
                <a:latin typeface="Times New Roman"/>
              </a:rPr>
              <a:t>i,j </a:t>
            </a:r>
            <a:r>
              <a:rPr lang="en-US" sz="3200" b="0" strike="noStrike" spc="-1">
                <a:solidFill>
                  <a:srgbClr val="000000"/>
                </a:solidFill>
                <a:latin typeface="Times New Roman"/>
              </a:rPr>
              <a:t>= F*</a:t>
            </a:r>
            <a:r>
              <a:rPr lang="en-US" sz="3200" b="0" strike="noStrike" spc="-1" baseline="-25000">
                <a:solidFill>
                  <a:srgbClr val="000000"/>
                </a:solidFill>
                <a:latin typeface="Times New Roman"/>
              </a:rPr>
              <a:t>i,j</a:t>
            </a:r>
            <a:endParaRPr lang="en-US" sz="3200" b="0" strike="noStrike" spc="-1">
              <a:solidFill>
                <a:srgbClr val="000000"/>
              </a:solidFill>
              <a:latin typeface="Calibri"/>
            </a:endParaRPr>
          </a:p>
          <a:p>
            <a:pPr>
              <a:lnSpc>
                <a:spcPct val="100000"/>
              </a:lnSpc>
              <a:spcBef>
                <a:spcPts val="641"/>
              </a:spcBef>
              <a:tabLst>
                <a:tab pos="0" algn="l"/>
              </a:tabLst>
            </a:pPr>
            <a:endParaRPr lang="en-US" sz="3200" b="0" strike="noStrike" spc="-1">
              <a:solidFill>
                <a:srgbClr val="000000"/>
              </a:solidFill>
              <a:latin typeface="Calibri"/>
            </a:endParaRPr>
          </a:p>
          <a:p>
            <a:pPr>
              <a:lnSpc>
                <a:spcPct val="100000"/>
              </a:lnSpc>
              <a:spcBef>
                <a:spcPts val="641"/>
              </a:spcBef>
              <a:tabLst>
                <a:tab pos="0" algn="l"/>
              </a:tabLst>
            </a:pPr>
            <a:endParaRPr lang="en-US" sz="3200" b="0" strike="noStrike" spc="-1">
              <a:solidFill>
                <a:srgbClr val="000000"/>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TextShape 1"/>
          <p:cNvSpPr txBox="1"/>
          <p:nvPr/>
        </p:nvSpPr>
        <p:spPr>
          <a:xfrm>
            <a:off x="457200" y="428760"/>
            <a:ext cx="8329320" cy="5697360"/>
          </a:xfrm>
          <a:prstGeom prst="rect">
            <a:avLst/>
          </a:prstGeom>
          <a:noFill/>
          <a:ln>
            <a:noFill/>
          </a:ln>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H s(a,a)=1 s(a,b)=-0.9 w</a:t>
            </a:r>
            <a:r>
              <a:rPr lang="en-US" sz="3200" b="0" strike="noStrike" spc="-1" baseline="-25000">
                <a:solidFill>
                  <a:srgbClr val="000000"/>
                </a:solidFill>
                <a:latin typeface="Times New Roman"/>
              </a:rPr>
              <a:t>k</a:t>
            </a:r>
            <a:r>
              <a:rPr lang="en-US" sz="3200" b="0" strike="noStrike" spc="-1">
                <a:solidFill>
                  <a:srgbClr val="000000"/>
                </a:solidFill>
                <a:latin typeface="Times New Roman"/>
              </a:rPr>
              <a:t> =-2k multiplied by 10</a:t>
            </a:r>
            <a:endParaRPr lang="en-US" sz="3200" b="0" strike="noStrike" spc="-1">
              <a:solidFill>
                <a:srgbClr val="000000"/>
              </a:solidFill>
              <a:latin typeface="Calibri"/>
            </a:endParaRPr>
          </a:p>
        </p:txBody>
      </p:sp>
      <p:pic>
        <p:nvPicPr>
          <p:cNvPr id="100" name="Picture 2"/>
          <p:cNvPicPr/>
          <p:nvPr/>
        </p:nvPicPr>
        <p:blipFill>
          <a:blip r:embed="rId2"/>
          <a:stretch/>
        </p:blipFill>
        <p:spPr>
          <a:xfrm>
            <a:off x="785880" y="1143000"/>
            <a:ext cx="7929360" cy="5378040"/>
          </a:xfrm>
          <a:prstGeom prst="rect">
            <a:avLst/>
          </a:prstGeom>
          <a:ln w="9360">
            <a:noFill/>
          </a:ln>
        </p:spPr>
      </p:pic>
      <p:pic>
        <p:nvPicPr>
          <p:cNvPr id="101" name="Picture 5"/>
          <p:cNvPicPr/>
          <p:nvPr/>
        </p:nvPicPr>
        <p:blipFill>
          <a:blip r:embed="rId3"/>
          <a:stretch/>
        </p:blipFill>
        <p:spPr>
          <a:xfrm>
            <a:off x="428760" y="1428840"/>
            <a:ext cx="356760" cy="5071680"/>
          </a:xfrm>
          <a:prstGeom prst="rect">
            <a:avLst/>
          </a:prstGeom>
          <a:ln w="936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extShape 1"/>
          <p:cNvSpPr txBox="1"/>
          <p:nvPr/>
        </p:nvSpPr>
        <p:spPr>
          <a:xfrm>
            <a:off x="457200" y="500040"/>
            <a:ext cx="8229240" cy="5625720"/>
          </a:xfrm>
          <a:prstGeom prst="rect">
            <a:avLst/>
          </a:prstGeom>
          <a:noFill/>
          <a:ln>
            <a:noFill/>
          </a:ln>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H*</a:t>
            </a:r>
            <a:endParaRPr lang="en-US" sz="3200" b="0" strike="noStrike" spc="-1">
              <a:solidFill>
                <a:srgbClr val="000000"/>
              </a:solidFill>
              <a:latin typeface="Calibri"/>
            </a:endParaRPr>
          </a:p>
        </p:txBody>
      </p:sp>
      <p:pic>
        <p:nvPicPr>
          <p:cNvPr id="103" name="Picture 2"/>
          <p:cNvPicPr/>
          <p:nvPr/>
        </p:nvPicPr>
        <p:blipFill>
          <a:blip r:embed="rId2"/>
          <a:stretch/>
        </p:blipFill>
        <p:spPr>
          <a:xfrm>
            <a:off x="927000" y="1143000"/>
            <a:ext cx="7931160" cy="5272920"/>
          </a:xfrm>
          <a:prstGeom prst="rect">
            <a:avLst/>
          </a:prstGeom>
          <a:ln w="9360">
            <a:noFill/>
          </a:ln>
        </p:spPr>
      </p:pic>
      <p:pic>
        <p:nvPicPr>
          <p:cNvPr id="104" name="Picture 4"/>
          <p:cNvPicPr/>
          <p:nvPr/>
        </p:nvPicPr>
        <p:blipFill>
          <a:blip r:embed="rId3"/>
          <a:stretch/>
        </p:blipFill>
        <p:spPr>
          <a:xfrm>
            <a:off x="500040" y="1500120"/>
            <a:ext cx="356760" cy="5000400"/>
          </a:xfrm>
          <a:prstGeom prst="rect">
            <a:avLst/>
          </a:prstGeom>
          <a:ln w="936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Shape 1"/>
          <p:cNvSpPr txBox="1"/>
          <p:nvPr/>
        </p:nvSpPr>
        <p:spPr>
          <a:xfrm>
            <a:off x="457200" y="571320"/>
            <a:ext cx="8229240" cy="5554440"/>
          </a:xfrm>
          <a:prstGeom prst="rect">
            <a:avLst/>
          </a:prstGeom>
          <a:noFill/>
          <a:ln>
            <a:noFill/>
          </a:ln>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H</a:t>
            </a:r>
            <a:endParaRPr lang="en-US" sz="3200" b="0" strike="noStrike" spc="-1">
              <a:solidFill>
                <a:srgbClr val="000000"/>
              </a:solidFill>
              <a:latin typeface="Calibri"/>
            </a:endParaRPr>
          </a:p>
        </p:txBody>
      </p:sp>
      <p:pic>
        <p:nvPicPr>
          <p:cNvPr id="106" name="Picture 3"/>
          <p:cNvPicPr/>
          <p:nvPr/>
        </p:nvPicPr>
        <p:blipFill>
          <a:blip r:embed="rId2"/>
          <a:stretch/>
        </p:blipFill>
        <p:spPr>
          <a:xfrm>
            <a:off x="271440" y="1143000"/>
            <a:ext cx="8658000" cy="5000400"/>
          </a:xfrm>
          <a:prstGeom prst="rect">
            <a:avLst/>
          </a:prstGeom>
          <a:ln w="936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extShape 1"/>
          <p:cNvSpPr txBox="1"/>
          <p:nvPr/>
        </p:nvSpPr>
        <p:spPr>
          <a:xfrm>
            <a:off x="457200" y="571320"/>
            <a:ext cx="8229240" cy="5554440"/>
          </a:xfrm>
          <a:prstGeom prst="rect">
            <a:avLst/>
          </a:prstGeom>
          <a:noFill/>
          <a:ln>
            <a:noFill/>
          </a:ln>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Times New Roman"/>
              </a:rPr>
              <a:t>H*</a:t>
            </a:r>
            <a:endParaRPr lang="en-US" sz="3200" b="0" strike="noStrike" spc="-1">
              <a:solidFill>
                <a:srgbClr val="000000"/>
              </a:solidFill>
              <a:latin typeface="Calibri"/>
            </a:endParaRPr>
          </a:p>
        </p:txBody>
      </p:sp>
      <p:pic>
        <p:nvPicPr>
          <p:cNvPr id="108" name="Picture 2"/>
          <p:cNvPicPr/>
          <p:nvPr/>
        </p:nvPicPr>
        <p:blipFill>
          <a:blip r:embed="rId2"/>
          <a:stretch/>
        </p:blipFill>
        <p:spPr>
          <a:xfrm>
            <a:off x="71280" y="1214280"/>
            <a:ext cx="8922960" cy="5000400"/>
          </a:xfrm>
          <a:prstGeom prst="rect">
            <a:avLst/>
          </a:prstGeom>
          <a:ln w="9360">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4064</TotalTime>
  <Words>552</Words>
  <Application>Microsoft Office PowerPoint</Application>
  <PresentationFormat>如螢幕大小 (4:3)</PresentationFormat>
  <Paragraphs>40</Paragraphs>
  <Slides>11</Slides>
  <Notes>1</Notes>
  <HiddenSlides>0</HiddenSlides>
  <MMClips>0</MMClips>
  <ScaleCrop>false</ScaleCrop>
  <HeadingPairs>
    <vt:vector size="6" baseType="variant">
      <vt:variant>
        <vt:lpstr>使用字型</vt:lpstr>
      </vt:variant>
      <vt:variant>
        <vt:i4>5</vt:i4>
      </vt:variant>
      <vt:variant>
        <vt:lpstr>佈景主題</vt:lpstr>
      </vt:variant>
      <vt:variant>
        <vt:i4>2</vt:i4>
      </vt:variant>
      <vt:variant>
        <vt:lpstr>投影片標題</vt:lpstr>
      </vt:variant>
      <vt:variant>
        <vt:i4>11</vt:i4>
      </vt:variant>
    </vt:vector>
  </HeadingPairs>
  <TitlesOfParts>
    <vt:vector size="18" baseType="lpstr">
      <vt:lpstr>Arial</vt:lpstr>
      <vt:lpstr>Calibri</vt:lpstr>
      <vt:lpstr>Symbol</vt:lpstr>
      <vt:lpstr>Times New Roman</vt:lpstr>
      <vt:lpstr>Wingdings</vt:lpstr>
      <vt:lpstr>Office Theme</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Parallel Pairwise Local Sequence Alignment Algorithm</dc:title>
  <dc:subject/>
  <dc:creator>super</dc:creator>
  <dc:description/>
  <cp:lastModifiedBy>pplab</cp:lastModifiedBy>
  <cp:revision>591</cp:revision>
  <dcterms:created xsi:type="dcterms:W3CDTF">2020-09-11T11:13:53Z</dcterms:created>
  <dcterms:modified xsi:type="dcterms:W3CDTF">2020-10-22T12:27:01Z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1</vt:i4>
  </property>
  <property fmtid="{D5CDD505-2E9C-101B-9397-08002B2CF9AE}" pid="8" name="PresentationFormat">
    <vt:lpwstr>如螢幕大小 (4:3)</vt:lpwstr>
  </property>
  <property fmtid="{D5CDD505-2E9C-101B-9397-08002B2CF9AE}" pid="9" name="ScaleCrop">
    <vt:bool>false</vt:bool>
  </property>
  <property fmtid="{D5CDD505-2E9C-101B-9397-08002B2CF9AE}" pid="10" name="ShareDoc">
    <vt:bool>false</vt:bool>
  </property>
  <property fmtid="{D5CDD505-2E9C-101B-9397-08002B2CF9AE}" pid="11" name="Slides">
    <vt:i4>11</vt:i4>
  </property>
</Properties>
</file>