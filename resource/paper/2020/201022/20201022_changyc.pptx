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79" r:id="rId11"/>
    <p:sldId id="265" r:id="rId12"/>
    <p:sldId id="266" r:id="rId13"/>
    <p:sldId id="267" r:id="rId14"/>
    <p:sldId id="268" r:id="rId15"/>
    <p:sldId id="269" r:id="rId16"/>
    <p:sldId id="271" r:id="rId17"/>
    <p:sldId id="278" r:id="rId18"/>
    <p:sldId id="270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186186C-64BA-44FD-9B78-555D693B99E1}">
          <p14:sldIdLst>
            <p14:sldId id="256"/>
            <p14:sldId id="257"/>
            <p14:sldId id="258"/>
            <p14:sldId id="259"/>
            <p14:sldId id="261"/>
            <p14:sldId id="262"/>
            <p14:sldId id="263"/>
            <p14:sldId id="260"/>
            <p14:sldId id="264"/>
            <p14:sldId id="279"/>
            <p14:sldId id="265"/>
            <p14:sldId id="266"/>
            <p14:sldId id="267"/>
            <p14:sldId id="268"/>
            <p14:sldId id="269"/>
            <p14:sldId id="271"/>
            <p14:sldId id="278"/>
            <p14:sldId id="270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FF"/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9059" autoAdjust="0"/>
  </p:normalViewPr>
  <p:slideViewPr>
    <p:cSldViewPr snapToGrid="0">
      <p:cViewPr varScale="1">
        <p:scale>
          <a:sx n="101" d="100"/>
          <a:sy n="101" d="100"/>
        </p:scale>
        <p:origin x="828" y="114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2000" b="0" i="0" u="sng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47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7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4121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4418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862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1027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374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992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148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524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41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348065"/>
          </a:xfrm>
        </p:spPr>
        <p:txBody>
          <a:bodyPr anchor="ctr"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LCA Problem Revisited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56415"/>
            <a:ext cx="11163299" cy="1655762"/>
          </a:xfrm>
        </p:spPr>
        <p:txBody>
          <a:bodyPr>
            <a:noAutofit/>
          </a:bodyPr>
          <a:lstStyle/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A. Bender, Martín Farach-Colton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LATIN Proceedings of the 4th Latin American Symposium on Theoretical Informatics,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88-94 (2000)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Oct. 22,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very simple algorithm for the Least Common Ancestor problem. We thus dispel the frequently held notion that an optimal LCA computation is unwieldy and unimplementable. Interestingly, this algorithm is a sequentialization of a previously known PRAM algorithm of Berkman,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Breslauer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Galil,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Schieber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Vishkin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AAECA-638C-481A-8B03-97906711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Common Ancestor (LCA)</a:t>
            </a:r>
            <a:endParaRPr lang="zh-TW" altLang="en-US" dirty="0"/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F4B5F7A1-FCEA-471B-9B40-99CE1115F985}"/>
              </a:ext>
            </a:extLst>
          </p:cNvPr>
          <p:cNvGrpSpPr>
            <a:grpSpLocks noChangeAspect="1"/>
          </p:cNvGrpSpPr>
          <p:nvPr/>
        </p:nvGrpSpPr>
        <p:grpSpPr>
          <a:xfrm>
            <a:off x="4916940" y="2234339"/>
            <a:ext cx="6549119" cy="3597759"/>
            <a:chOff x="3174749" y="1725950"/>
            <a:chExt cx="5239302" cy="2878207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AB973BCA-2754-4186-B9F0-9B912FF73424}"/>
                </a:ext>
              </a:extLst>
            </p:cNvPr>
            <p:cNvSpPr/>
            <p:nvPr/>
          </p:nvSpPr>
          <p:spPr>
            <a:xfrm>
              <a:off x="5003783" y="1725950"/>
              <a:ext cx="576001" cy="576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ECBF7794-327E-48B6-ABBF-0B28823F2D3C}"/>
                </a:ext>
              </a:extLst>
            </p:cNvPr>
            <p:cNvSpPr/>
            <p:nvPr/>
          </p:nvSpPr>
          <p:spPr>
            <a:xfrm>
              <a:off x="3714749" y="2289844"/>
              <a:ext cx="576001" cy="576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608D6CDD-A2D4-4029-8552-4EAF008A3168}"/>
                </a:ext>
              </a:extLst>
            </p:cNvPr>
            <p:cNvSpPr/>
            <p:nvPr/>
          </p:nvSpPr>
          <p:spPr>
            <a:xfrm>
              <a:off x="3174749" y="3167564"/>
              <a:ext cx="576001" cy="5760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F0065F8B-A100-40A5-AECB-44CF16314949}"/>
                </a:ext>
              </a:extLst>
            </p:cNvPr>
            <p:cNvSpPr/>
            <p:nvPr/>
          </p:nvSpPr>
          <p:spPr>
            <a:xfrm>
              <a:off x="4254750" y="3159000"/>
              <a:ext cx="540000" cy="576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02D8BE62-4A96-4ADE-B7DE-D5592CD878AA}"/>
                </a:ext>
              </a:extLst>
            </p:cNvPr>
            <p:cNvSpPr/>
            <p:nvPr/>
          </p:nvSpPr>
          <p:spPr>
            <a:xfrm>
              <a:off x="6520013" y="2289844"/>
              <a:ext cx="576001" cy="5760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137AC11-A73D-421A-92F6-4629E199397B}"/>
                </a:ext>
              </a:extLst>
            </p:cNvPr>
            <p:cNvSpPr/>
            <p:nvPr/>
          </p:nvSpPr>
          <p:spPr>
            <a:xfrm>
              <a:off x="5536437" y="3159000"/>
              <a:ext cx="576001" cy="5760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545F680-B47A-4D37-BF11-FFFA06FE3374}"/>
                </a:ext>
              </a:extLst>
            </p:cNvPr>
            <p:cNvSpPr/>
            <p:nvPr/>
          </p:nvSpPr>
          <p:spPr>
            <a:xfrm>
              <a:off x="6897529" y="3167564"/>
              <a:ext cx="576001" cy="576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8547EE1E-4137-4318-92C7-99FB24649841}"/>
                </a:ext>
              </a:extLst>
            </p:cNvPr>
            <p:cNvSpPr/>
            <p:nvPr/>
          </p:nvSpPr>
          <p:spPr>
            <a:xfrm>
              <a:off x="6520013" y="4028157"/>
              <a:ext cx="576001" cy="5760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70AABF51-2025-451C-A11F-DCF154C40715}"/>
                </a:ext>
              </a:extLst>
            </p:cNvPr>
            <p:cNvSpPr/>
            <p:nvPr/>
          </p:nvSpPr>
          <p:spPr>
            <a:xfrm>
              <a:off x="7838050" y="3167564"/>
              <a:ext cx="576001" cy="5760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5171EAB3-C65D-4E00-BF55-388E1F7CA43C}"/>
                </a:ext>
              </a:extLst>
            </p:cNvPr>
            <p:cNvCxnSpPr>
              <a:stCxn id="6" idx="0"/>
              <a:endCxn id="4" idx="2"/>
            </p:cNvCxnSpPr>
            <p:nvPr/>
          </p:nvCxnSpPr>
          <p:spPr>
            <a:xfrm flipV="1">
              <a:off x="4002749" y="2013950"/>
              <a:ext cx="1001034" cy="2758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5188BC36-CA4E-46C5-8B60-2B6EFB57E237}"/>
                </a:ext>
              </a:extLst>
            </p:cNvPr>
            <p:cNvCxnSpPr>
              <a:cxnSpLocks/>
              <a:stCxn id="8" idx="0"/>
              <a:endCxn id="6" idx="3"/>
            </p:cNvCxnSpPr>
            <p:nvPr/>
          </p:nvCxnSpPr>
          <p:spPr>
            <a:xfrm flipV="1">
              <a:off x="3462749" y="2781490"/>
              <a:ext cx="336353" cy="386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4766C9F0-7086-48AC-9F9D-98CAB1E7F0C4}"/>
                </a:ext>
              </a:extLst>
            </p:cNvPr>
            <p:cNvCxnSpPr>
              <a:cxnSpLocks/>
              <a:stCxn id="10" idx="0"/>
              <a:endCxn id="6" idx="5"/>
            </p:cNvCxnSpPr>
            <p:nvPr/>
          </p:nvCxnSpPr>
          <p:spPr>
            <a:xfrm flipH="1" flipV="1">
              <a:off x="4206396" y="2781490"/>
              <a:ext cx="318354" cy="3775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823E1881-3861-4B96-877F-00B3358E40CF}"/>
                </a:ext>
              </a:extLst>
            </p:cNvPr>
            <p:cNvCxnSpPr>
              <a:cxnSpLocks/>
              <a:stCxn id="4" idx="6"/>
              <a:endCxn id="12" idx="1"/>
            </p:cNvCxnSpPr>
            <p:nvPr/>
          </p:nvCxnSpPr>
          <p:spPr>
            <a:xfrm>
              <a:off x="5579784" y="2013950"/>
              <a:ext cx="1024583" cy="3602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4BAF30C1-5CEB-4817-9171-A2F5AFF0B981}"/>
                </a:ext>
              </a:extLst>
            </p:cNvPr>
            <p:cNvCxnSpPr>
              <a:cxnSpLocks/>
              <a:stCxn id="14" idx="0"/>
              <a:endCxn id="12" idx="3"/>
            </p:cNvCxnSpPr>
            <p:nvPr/>
          </p:nvCxnSpPr>
          <p:spPr>
            <a:xfrm flipV="1">
              <a:off x="5824437" y="2781490"/>
              <a:ext cx="779930" cy="3775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CABA1F80-122D-4224-8FA2-9B2C530D127F}"/>
                </a:ext>
              </a:extLst>
            </p:cNvPr>
            <p:cNvCxnSpPr>
              <a:cxnSpLocks/>
              <a:stCxn id="12" idx="5"/>
              <a:endCxn id="20" idx="0"/>
            </p:cNvCxnSpPr>
            <p:nvPr/>
          </p:nvCxnSpPr>
          <p:spPr>
            <a:xfrm>
              <a:off x="7011660" y="2781490"/>
              <a:ext cx="1114390" cy="386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36E4B660-9B1A-463A-8B86-96760672E5E8}"/>
                </a:ext>
              </a:extLst>
            </p:cNvPr>
            <p:cNvCxnSpPr>
              <a:cxnSpLocks/>
              <a:stCxn id="16" idx="0"/>
              <a:endCxn id="12" idx="4"/>
            </p:cNvCxnSpPr>
            <p:nvPr/>
          </p:nvCxnSpPr>
          <p:spPr>
            <a:xfrm flipH="1" flipV="1">
              <a:off x="6808014" y="2865844"/>
              <a:ext cx="377516" cy="301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BB89BE1B-402C-4470-91E2-79DF8F2B027E}"/>
                </a:ext>
              </a:extLst>
            </p:cNvPr>
            <p:cNvCxnSpPr>
              <a:cxnSpLocks/>
              <a:stCxn id="18" idx="0"/>
              <a:endCxn id="16" idx="4"/>
            </p:cNvCxnSpPr>
            <p:nvPr/>
          </p:nvCxnSpPr>
          <p:spPr>
            <a:xfrm flipV="1">
              <a:off x="6808014" y="3743564"/>
              <a:ext cx="377516" cy="284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DD3743D7-08AD-4171-A7F0-CEA7CE95B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ts val="3100"/>
              </a:lnSpc>
              <a:spcBef>
                <a:spcPts val="18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LCA(2,9) = 1</a:t>
            </a:r>
          </a:p>
          <a:p>
            <a:pPr marL="0" indent="0">
              <a:lnSpc>
                <a:spcPts val="3100"/>
              </a:lnSpc>
              <a:spcBef>
                <a:spcPts val="18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LCA(6,7) = 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67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AAECA-638C-481A-8B03-97906711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Search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DD3743D7-08AD-4171-A7F0-CEA7CE95B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Harel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Tarjan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Fast algorithms for finding nearest common ancestors. SIAM J.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13(2):338–355, 1984</a:t>
            </a:r>
          </a:p>
          <a:p>
            <a:pPr lvl="1">
              <a:spcBef>
                <a:spcPts val="180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LCA queries can be answered in constant time after only linear preprocessing</a:t>
            </a:r>
          </a:p>
          <a:p>
            <a:pPr lvl="1">
              <a:spcBef>
                <a:spcPts val="180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complicated to implement effectively</a:t>
            </a:r>
          </a:p>
          <a:p>
            <a:pPr marL="457200" lvl="1" indent="0">
              <a:spcBef>
                <a:spcPts val="1800"/>
              </a:spcBef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Schieber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Vishkin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 finding lowest common ancestors: Simplification and parallelization. SIAM J.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17:1253–1262, 1988.</a:t>
            </a:r>
          </a:p>
          <a:p>
            <a:pPr lvl="1">
              <a:spcBef>
                <a:spcPts val="180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PRAM algorithm</a:t>
            </a:r>
          </a:p>
          <a:p>
            <a:pPr lvl="1">
              <a:spcBef>
                <a:spcPts val="180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and answers queries in O(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preprocesses in linear work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38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AAECA-638C-481A-8B03-97906711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Minimum Query (RMQ)</a:t>
            </a:r>
            <a:endParaRPr lang="zh-TW" alt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46E1B908-7979-4ACB-A1E4-2AAE62869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689060"/>
              </p:ext>
            </p:extLst>
          </p:nvPr>
        </p:nvGraphicFramePr>
        <p:xfrm>
          <a:off x="838200" y="3155157"/>
          <a:ext cx="95596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964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234141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</a:tbl>
          </a:graphicData>
        </a:graphic>
      </p:graphicFrame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B0E4960-E759-4287-92D2-DC4D72305632}"/>
              </a:ext>
            </a:extLst>
          </p:cNvPr>
          <p:cNvSpPr txBox="1">
            <a:spLocks/>
          </p:cNvSpPr>
          <p:nvPr/>
        </p:nvSpPr>
        <p:spPr>
          <a:xfrm>
            <a:off x="3362325" y="4676774"/>
            <a:ext cx="2395539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RMQ(2,5) = 4 </a:t>
            </a:r>
          </a:p>
        </p:txBody>
      </p:sp>
      <p:sp>
        <p:nvSpPr>
          <p:cNvPr id="13" name="左大括弧 12">
            <a:extLst>
              <a:ext uri="{FF2B5EF4-FFF2-40B4-BE49-F238E27FC236}">
                <a16:creationId xmlns:a16="http://schemas.microsoft.com/office/drawing/2014/main" id="{15EDFDE9-F594-4D87-BAFD-89F5C53F7DC5}"/>
              </a:ext>
            </a:extLst>
          </p:cNvPr>
          <p:cNvSpPr/>
          <p:nvPr/>
        </p:nvSpPr>
        <p:spPr>
          <a:xfrm rot="16200000">
            <a:off x="4493421" y="2942035"/>
            <a:ext cx="342900" cy="2862262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左大括弧 16">
            <a:extLst>
              <a:ext uri="{FF2B5EF4-FFF2-40B4-BE49-F238E27FC236}">
                <a16:creationId xmlns:a16="http://schemas.microsoft.com/office/drawing/2014/main" id="{17F2B657-5162-47CC-AA16-CBF695773C86}"/>
              </a:ext>
            </a:extLst>
          </p:cNvPr>
          <p:cNvSpPr/>
          <p:nvPr/>
        </p:nvSpPr>
        <p:spPr>
          <a:xfrm rot="5400000">
            <a:off x="7829550" y="870944"/>
            <a:ext cx="342900" cy="381000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FD2E5EA7-440D-4046-863A-4E536AC80D0D}"/>
              </a:ext>
            </a:extLst>
          </p:cNvPr>
          <p:cNvSpPr txBox="1">
            <a:spLocks/>
          </p:cNvSpPr>
          <p:nvPr/>
        </p:nvSpPr>
        <p:spPr>
          <a:xfrm>
            <a:off x="6803230" y="1957985"/>
            <a:ext cx="2395539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RMQ(5,9) = 7 </a:t>
            </a:r>
          </a:p>
        </p:txBody>
      </p:sp>
    </p:spTree>
    <p:extLst>
      <p:ext uri="{BB962C8B-B14F-4D97-AF65-F5344CB8AC3E}">
        <p14:creationId xmlns:p14="http://schemas.microsoft.com/office/powerpoint/2010/main" val="1810919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AAECA-638C-481A-8B03-97906711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LCA to RMQ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5732768-8812-4EBC-928D-96297630AF10}"/>
              </a:ext>
            </a:extLst>
          </p:cNvPr>
          <p:cNvGrpSpPr>
            <a:grpSpLocks noChangeAspect="1"/>
          </p:cNvGrpSpPr>
          <p:nvPr/>
        </p:nvGrpSpPr>
        <p:grpSpPr>
          <a:xfrm>
            <a:off x="838200" y="1348294"/>
            <a:ext cx="3678461" cy="2525842"/>
            <a:chOff x="4211758" y="1793015"/>
            <a:chExt cx="2942773" cy="2020673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8A466F3C-CA8E-4107-9D60-83B2F6B43DBA}"/>
                </a:ext>
              </a:extLst>
            </p:cNvPr>
            <p:cNvSpPr/>
            <p:nvPr/>
          </p:nvSpPr>
          <p:spPr>
            <a:xfrm>
              <a:off x="5255243" y="1793015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737EF8D5-313F-40AA-86E9-A37222922EB9}"/>
                </a:ext>
              </a:extLst>
            </p:cNvPr>
            <p:cNvSpPr/>
            <p:nvPr/>
          </p:nvSpPr>
          <p:spPr>
            <a:xfrm>
              <a:off x="4571781" y="2147529"/>
              <a:ext cx="432001" cy="43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4AB96B91-0FCF-4E8C-90EB-69ED0C0A4CDA}"/>
                </a:ext>
              </a:extLst>
            </p:cNvPr>
            <p:cNvSpPr/>
            <p:nvPr/>
          </p:nvSpPr>
          <p:spPr>
            <a:xfrm>
              <a:off x="4211758" y="2798450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07AB6DDA-95F1-4017-ABC4-6285524AF126}"/>
                </a:ext>
              </a:extLst>
            </p:cNvPr>
            <p:cNvSpPr/>
            <p:nvPr/>
          </p:nvSpPr>
          <p:spPr>
            <a:xfrm>
              <a:off x="4728127" y="2798450"/>
              <a:ext cx="432001" cy="43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B1E34CB-CBF4-424F-A224-F328F93ED580}"/>
                </a:ext>
              </a:extLst>
            </p:cNvPr>
            <p:cNvSpPr/>
            <p:nvPr/>
          </p:nvSpPr>
          <p:spPr>
            <a:xfrm>
              <a:off x="6074484" y="2120359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E42ECBF3-C8D5-4653-A5BD-462BAC6DF17A}"/>
                </a:ext>
              </a:extLst>
            </p:cNvPr>
            <p:cNvSpPr/>
            <p:nvPr/>
          </p:nvSpPr>
          <p:spPr>
            <a:xfrm>
              <a:off x="5434777" y="2810580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E233D2F5-3F62-4F11-9DB2-C7BD62EA5725}"/>
                </a:ext>
              </a:extLst>
            </p:cNvPr>
            <p:cNvSpPr/>
            <p:nvPr/>
          </p:nvSpPr>
          <p:spPr>
            <a:xfrm>
              <a:off x="6082778" y="2798450"/>
              <a:ext cx="432001" cy="43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BF0815A-420E-427D-9A68-AAD6667BDA30}"/>
                </a:ext>
              </a:extLst>
            </p:cNvPr>
            <p:cNvSpPr/>
            <p:nvPr/>
          </p:nvSpPr>
          <p:spPr>
            <a:xfrm>
              <a:off x="6290484" y="3381688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7E0C6B72-1AB8-4DE3-AAA3-DEF71B4A1B9B}"/>
                </a:ext>
              </a:extLst>
            </p:cNvPr>
            <p:cNvSpPr/>
            <p:nvPr/>
          </p:nvSpPr>
          <p:spPr>
            <a:xfrm>
              <a:off x="6722530" y="2798450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81ED2F88-0FEE-43B6-A58D-50CB3CFC7AF9}"/>
                </a:ext>
              </a:extLst>
            </p:cNvPr>
            <p:cNvCxnSpPr>
              <a:stCxn id="12" idx="0"/>
              <a:endCxn id="11" idx="2"/>
            </p:cNvCxnSpPr>
            <p:nvPr/>
          </p:nvCxnSpPr>
          <p:spPr>
            <a:xfrm flipV="1">
              <a:off x="4787781" y="2009015"/>
              <a:ext cx="467461" cy="138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BA9C9BF4-EB16-4F80-A002-819180BD79EA}"/>
                </a:ext>
              </a:extLst>
            </p:cNvPr>
            <p:cNvCxnSpPr>
              <a:cxnSpLocks/>
              <a:stCxn id="14" idx="0"/>
              <a:endCxn id="12" idx="3"/>
            </p:cNvCxnSpPr>
            <p:nvPr/>
          </p:nvCxnSpPr>
          <p:spPr>
            <a:xfrm flipV="1">
              <a:off x="4427759" y="2516264"/>
              <a:ext cx="207287" cy="282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1CE30ED8-B5FE-42AB-9ACB-58F68A0EEBAC}"/>
                </a:ext>
              </a:extLst>
            </p:cNvPr>
            <p:cNvCxnSpPr>
              <a:cxnSpLocks/>
              <a:stCxn id="15" idx="0"/>
              <a:endCxn id="12" idx="5"/>
            </p:cNvCxnSpPr>
            <p:nvPr/>
          </p:nvCxnSpPr>
          <p:spPr>
            <a:xfrm flipH="1" flipV="1">
              <a:off x="4940518" y="2516264"/>
              <a:ext cx="3610" cy="282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03CF6D50-E5D9-434C-9008-9406301F49C2}"/>
                </a:ext>
              </a:extLst>
            </p:cNvPr>
            <p:cNvCxnSpPr>
              <a:cxnSpLocks/>
              <a:stCxn id="11" idx="6"/>
              <a:endCxn id="16" idx="1"/>
            </p:cNvCxnSpPr>
            <p:nvPr/>
          </p:nvCxnSpPr>
          <p:spPr>
            <a:xfrm>
              <a:off x="5687243" y="2009015"/>
              <a:ext cx="450505" cy="1746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296FD3D-27DB-48CD-94EB-D2972084EB3A}"/>
                </a:ext>
              </a:extLst>
            </p:cNvPr>
            <p:cNvCxnSpPr>
              <a:cxnSpLocks/>
              <a:stCxn id="18" idx="0"/>
              <a:endCxn id="16" idx="3"/>
            </p:cNvCxnSpPr>
            <p:nvPr/>
          </p:nvCxnSpPr>
          <p:spPr>
            <a:xfrm flipV="1">
              <a:off x="5650778" y="2489094"/>
              <a:ext cx="486971" cy="321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CFAB58FB-4198-4E8D-933F-611935C6BA18}"/>
                </a:ext>
              </a:extLst>
            </p:cNvPr>
            <p:cNvCxnSpPr>
              <a:cxnSpLocks/>
              <a:stCxn id="16" idx="5"/>
              <a:endCxn id="22" idx="0"/>
            </p:cNvCxnSpPr>
            <p:nvPr/>
          </p:nvCxnSpPr>
          <p:spPr>
            <a:xfrm>
              <a:off x="6443220" y="2489094"/>
              <a:ext cx="495310" cy="309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BB47431A-C3DC-4C27-8FD9-31D43B85FA5F}"/>
                </a:ext>
              </a:extLst>
            </p:cNvPr>
            <p:cNvCxnSpPr>
              <a:cxnSpLocks/>
              <a:stCxn id="20" idx="0"/>
              <a:endCxn id="16" idx="4"/>
            </p:cNvCxnSpPr>
            <p:nvPr/>
          </p:nvCxnSpPr>
          <p:spPr>
            <a:xfrm flipH="1" flipV="1">
              <a:off x="6290484" y="2552359"/>
              <a:ext cx="8294" cy="246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85AF965B-5757-442E-A0E1-525969814371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6298779" y="3230450"/>
              <a:ext cx="207706" cy="1512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5D9493AC-A1BF-4751-9A9F-F430B1B83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804969"/>
              </p:ext>
            </p:extLst>
          </p:nvPr>
        </p:nvGraphicFramePr>
        <p:xfrm>
          <a:off x="890597" y="3939137"/>
          <a:ext cx="994937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659821732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8854910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6170340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337998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56247319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27136841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0009373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204841914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5A22415C-0B18-4011-AD66-0EB8C059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904695"/>
              </p:ext>
            </p:extLst>
          </p:nvPr>
        </p:nvGraphicFramePr>
        <p:xfrm>
          <a:off x="890597" y="4918538"/>
          <a:ext cx="994937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659821732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8854910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6170340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337998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56247319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27136841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0009373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204841914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8D9F38FE-1FBD-4818-B095-D726AB8EB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51242"/>
              </p:ext>
            </p:extLst>
          </p:nvPr>
        </p:nvGraphicFramePr>
        <p:xfrm>
          <a:off x="890597" y="5897939"/>
          <a:ext cx="552743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4477C8BC-D50A-480A-82AC-711DBCAB9D97}"/>
              </a:ext>
            </a:extLst>
          </p:cNvPr>
          <p:cNvCxnSpPr>
            <a:cxnSpLocks/>
          </p:cNvCxnSpPr>
          <p:nvPr/>
        </p:nvCxnSpPr>
        <p:spPr>
          <a:xfrm flipH="1">
            <a:off x="1558229" y="1537977"/>
            <a:ext cx="465431" cy="1527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A6710663-EFC6-44C5-915B-43D803DFDA28}"/>
              </a:ext>
            </a:extLst>
          </p:cNvPr>
          <p:cNvCxnSpPr>
            <a:cxnSpLocks/>
          </p:cNvCxnSpPr>
          <p:nvPr/>
        </p:nvCxnSpPr>
        <p:spPr>
          <a:xfrm flipH="1">
            <a:off x="965127" y="2181092"/>
            <a:ext cx="302955" cy="4236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81FB052D-FEC4-43E7-80D1-7FD7B74B9ABB}"/>
              </a:ext>
            </a:extLst>
          </p:cNvPr>
          <p:cNvCxnSpPr>
            <a:cxnSpLocks/>
          </p:cNvCxnSpPr>
          <p:nvPr/>
        </p:nvCxnSpPr>
        <p:spPr>
          <a:xfrm flipV="1">
            <a:off x="1169334" y="2297474"/>
            <a:ext cx="302955" cy="4236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F5EB3782-6C8E-4F3A-9778-B28DEC01C3D3}"/>
              </a:ext>
            </a:extLst>
          </p:cNvPr>
          <p:cNvCxnSpPr>
            <a:cxnSpLocks/>
          </p:cNvCxnSpPr>
          <p:nvPr/>
        </p:nvCxnSpPr>
        <p:spPr>
          <a:xfrm flipH="1">
            <a:off x="1667944" y="2269467"/>
            <a:ext cx="1" cy="3972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1B7AD62C-5979-4742-8027-5FF2C44F3FFD}"/>
              </a:ext>
            </a:extLst>
          </p:cNvPr>
          <p:cNvCxnSpPr>
            <a:cxnSpLocks/>
          </p:cNvCxnSpPr>
          <p:nvPr/>
        </p:nvCxnSpPr>
        <p:spPr>
          <a:xfrm flipH="1" flipV="1">
            <a:off x="1835109" y="2266398"/>
            <a:ext cx="1" cy="3972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6009798A-8A1B-4FE1-BCB3-AA16D1032E7A}"/>
              </a:ext>
            </a:extLst>
          </p:cNvPr>
          <p:cNvCxnSpPr>
            <a:cxnSpLocks/>
          </p:cNvCxnSpPr>
          <p:nvPr/>
        </p:nvCxnSpPr>
        <p:spPr>
          <a:xfrm flipV="1">
            <a:off x="1714406" y="1716662"/>
            <a:ext cx="465431" cy="1527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內容版面配置區 2">
            <a:extLst>
              <a:ext uri="{FF2B5EF4-FFF2-40B4-BE49-F238E27FC236}">
                <a16:creationId xmlns:a16="http://schemas.microsoft.com/office/drawing/2014/main" id="{9D328B3C-431D-470A-A4FA-59314C689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752" y="1510824"/>
            <a:ext cx="3752850" cy="1728788"/>
          </a:xfrm>
        </p:spPr>
        <p:txBody>
          <a:bodyPr>
            <a:noAutofit/>
          </a:bodyPr>
          <a:lstStyle/>
          <a:p>
            <a:pPr marL="0" indent="0">
              <a:lnSpc>
                <a:spcPts val="3100"/>
              </a:lnSpc>
              <a:spcBef>
                <a:spcPts val="18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LCA(</a:t>
            </a:r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2,9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E[RMQ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3,9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b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E[7]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A78C918D-27A2-40EF-BBA2-8F599E708A0B}"/>
              </a:ext>
            </a:extLst>
          </p:cNvPr>
          <p:cNvCxnSpPr>
            <a:cxnSpLocks/>
          </p:cNvCxnSpPr>
          <p:nvPr/>
        </p:nvCxnSpPr>
        <p:spPr>
          <a:xfrm flipV="1">
            <a:off x="2412554" y="5375739"/>
            <a:ext cx="270000" cy="10854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81BD3764-28D8-4F62-B474-5FDD308018AA}"/>
              </a:ext>
            </a:extLst>
          </p:cNvPr>
          <p:cNvCxnSpPr>
            <a:cxnSpLocks/>
          </p:cNvCxnSpPr>
          <p:nvPr/>
        </p:nvCxnSpPr>
        <p:spPr>
          <a:xfrm flipV="1">
            <a:off x="6311995" y="5290455"/>
            <a:ext cx="0" cy="11865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456F873D-9873-45DE-8DFB-09E62989B383}"/>
              </a:ext>
            </a:extLst>
          </p:cNvPr>
          <p:cNvCxnSpPr>
            <a:cxnSpLocks/>
          </p:cNvCxnSpPr>
          <p:nvPr/>
        </p:nvCxnSpPr>
        <p:spPr>
          <a:xfrm flipV="1">
            <a:off x="5235670" y="4267200"/>
            <a:ext cx="0" cy="9430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4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AAECA-638C-481A-8B03-97906711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LCA to RMQ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DD3743D7-08AD-4171-A7F0-CEA7CE95B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)〉-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means preprocessing time,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means query time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-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+ O(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-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+ O(1)〉-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56751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09DE2D6-1FF7-47CE-B0E8-E998217D2E1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18453054"/>
                  </p:ext>
                </p:extLst>
              </p:nvPr>
            </p:nvGraphicFramePr>
            <p:xfrm>
              <a:off x="838200" y="1825625"/>
              <a:ext cx="10515600" cy="3489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7175">
                      <a:extLst>
                        <a:ext uri="{9D8B030D-6E8A-4147-A177-3AD203B41FA5}">
                          <a16:colId xmlns:a16="http://schemas.microsoft.com/office/drawing/2014/main" val="1374086685"/>
                        </a:ext>
                      </a:extLst>
                    </a:gridCol>
                    <a:gridCol w="6448425">
                      <a:extLst>
                        <a:ext uri="{9D8B030D-6E8A-4147-A177-3AD203B41FA5}">
                          <a16:colId xmlns:a16="http://schemas.microsoft.com/office/drawing/2014/main" val="1211888919"/>
                        </a:ext>
                      </a:extLst>
                    </a:gridCol>
                  </a:tblGrid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Naïve brute force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i="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9746823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Improved brute force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i="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4644986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Buckets algorithm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TW" sz="2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6456815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 algorithm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i="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</a:t>
                          </a:r>
                          <a:r>
                            <a:rPr lang="en-US" altLang="zh-TW" sz="28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2155005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± 1 RMQ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8297047"/>
                      </a:ext>
                    </a:extLst>
                  </a:tr>
                  <a:tr h="58166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 </a:t>
                          </a:r>
                          <a:r>
                            <a:rPr lang="zh-TW" altLang="en-US" sz="28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該論文沒有提到，但是有相關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255027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09DE2D6-1FF7-47CE-B0E8-E998217D2E1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18453054"/>
                  </p:ext>
                </p:extLst>
              </p:nvPr>
            </p:nvGraphicFramePr>
            <p:xfrm>
              <a:off x="838200" y="1825625"/>
              <a:ext cx="10515600" cy="3489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7175">
                      <a:extLst>
                        <a:ext uri="{9D8B030D-6E8A-4147-A177-3AD203B41FA5}">
                          <a16:colId xmlns:a16="http://schemas.microsoft.com/office/drawing/2014/main" val="1374086685"/>
                        </a:ext>
                      </a:extLst>
                    </a:gridCol>
                    <a:gridCol w="6448425">
                      <a:extLst>
                        <a:ext uri="{9D8B030D-6E8A-4147-A177-3AD203B41FA5}">
                          <a16:colId xmlns:a16="http://schemas.microsoft.com/office/drawing/2014/main" val="1211888919"/>
                        </a:ext>
                      </a:extLst>
                    </a:gridCol>
                  </a:tblGrid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Naïve brute force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i="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9746823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Improved brute force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i="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4644986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Buckets algorithm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233" t="-204167" r="-189" b="-3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6456815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 algorithm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i="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</a:t>
                          </a:r>
                          <a:r>
                            <a:rPr lang="en-US" altLang="zh-TW" sz="28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2155005"/>
                      </a:ext>
                    </a:extLst>
                  </a:tr>
                  <a:tr h="58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± 1 RMQ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〈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, </a:t>
                          </a:r>
                          <a:r>
                            <a:rPr lang="en-US" altLang="zh-TW" sz="28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〉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8297047"/>
                      </a:ext>
                    </a:extLst>
                  </a:tr>
                  <a:tr h="58166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* </a:t>
                          </a:r>
                          <a:r>
                            <a:rPr lang="zh-TW" altLang="en-US" sz="28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該論文沒有提到，但是有相關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255027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817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 – Brute Force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4706DAE-A246-42B9-BFDD-B698F6201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Naïve brute force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〈</a:t>
            </a:r>
            <a:r>
              <a:rPr lang="en-US" altLang="zh-TW" sz="2800" i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800" i="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, </a:t>
            </a:r>
            <a:r>
              <a:rPr lang="en-US" altLang="zh-TW" sz="2800" i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O(1)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〉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，選起點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終點，暴力找最小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Improved brute force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：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〈</a:t>
            </a:r>
            <a:r>
              <a:rPr lang="en-US" altLang="zh-TW" sz="2800" i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80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, </a:t>
            </a:r>
            <a:r>
              <a:rPr lang="en-US" altLang="zh-TW" sz="2800" i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O(1)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〉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，使用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DP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AF236A0B-299B-4E85-8C21-C2418E6E6B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5564305"/>
              </p:ext>
            </p:extLst>
          </p:nvPr>
        </p:nvGraphicFramePr>
        <p:xfrm>
          <a:off x="838200" y="3943350"/>
          <a:ext cx="95596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964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234141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064314CC-5082-4DA7-9569-3BC78DBC01E6}"/>
              </a:ext>
            </a:extLst>
          </p:cNvPr>
          <p:cNvSpPr/>
          <p:nvPr/>
        </p:nvSpPr>
        <p:spPr>
          <a:xfrm>
            <a:off x="2714625" y="3762375"/>
            <a:ext cx="2990850" cy="1295400"/>
          </a:xfrm>
          <a:prstGeom prst="rect">
            <a:avLst/>
          </a:prstGeom>
          <a:noFill/>
          <a:ln w="57150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5C6134-6C2B-4603-B316-0D1BB560C962}"/>
              </a:ext>
            </a:extLst>
          </p:cNvPr>
          <p:cNvSpPr/>
          <p:nvPr/>
        </p:nvSpPr>
        <p:spPr>
          <a:xfrm>
            <a:off x="2627169" y="3667125"/>
            <a:ext cx="4011755" cy="1489074"/>
          </a:xfrm>
          <a:prstGeom prst="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386C57-E667-481B-BC22-802BBF2744EF}"/>
              </a:ext>
            </a:extLst>
          </p:cNvPr>
          <p:cNvSpPr/>
          <p:nvPr/>
        </p:nvSpPr>
        <p:spPr>
          <a:xfrm>
            <a:off x="2519800" y="3533775"/>
            <a:ext cx="5071625" cy="1743072"/>
          </a:xfrm>
          <a:prstGeom prst="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538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 – Buckets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B4706DAE-A246-42B9-BFDD-B698F62013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90925"/>
                <a:ext cx="10515600" cy="303371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分割成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塊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buckets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完全被在範圍內，最多有</a:t>
                </a: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所屬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buckets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沒有完全包住的</a:t>
                </a:r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元素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，最多有</a:t>
                </a: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</a:t>
                </a:r>
                <a:endParaRPr lang="en-US" altLang="zh-TW" sz="2800" i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TW" altLang="en-US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:r>
                  <a:rPr lang="zh-TW" altLang="en-US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Buckets algorithm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, </a:t>
                </a:r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zh-TW" altLang="en-US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i="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〉-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time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B4706DAE-A246-42B9-BFDD-B698F6201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90925"/>
                <a:ext cx="10515600" cy="3033713"/>
              </a:xfrm>
              <a:blipFill>
                <a:blip r:embed="rId3"/>
                <a:stretch>
                  <a:fillRect l="-1043" t="-5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AF236A0B-299B-4E85-8C21-C2418E6E6B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3685662"/>
              </p:ext>
            </p:extLst>
          </p:nvPr>
        </p:nvGraphicFramePr>
        <p:xfrm>
          <a:off x="838200" y="1690688"/>
          <a:ext cx="955964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964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234141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RMQ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694747"/>
                  </a:ext>
                </a:extLst>
              </a:tr>
            </a:tbl>
          </a:graphicData>
        </a:graphic>
      </p:graphicFrame>
      <p:sp>
        <p:nvSpPr>
          <p:cNvPr id="3" name="拱形 2">
            <a:extLst>
              <a:ext uri="{FF2B5EF4-FFF2-40B4-BE49-F238E27FC236}">
                <a16:creationId xmlns:a16="http://schemas.microsoft.com/office/drawing/2014/main" id="{48950438-B6F2-4A43-9D16-A7B139E1D024}"/>
              </a:ext>
            </a:extLst>
          </p:cNvPr>
          <p:cNvSpPr/>
          <p:nvPr/>
        </p:nvSpPr>
        <p:spPr>
          <a:xfrm>
            <a:off x="7989745" y="1286194"/>
            <a:ext cx="1924050" cy="808988"/>
          </a:xfrm>
          <a:prstGeom prst="blockArc">
            <a:avLst>
              <a:gd name="adj1" fmla="val 10800000"/>
              <a:gd name="adj2" fmla="val 21476598"/>
              <a:gd name="adj3" fmla="val 723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內容版面配置區 4">
                <a:extLst>
                  <a:ext uri="{FF2B5EF4-FFF2-40B4-BE49-F238E27FC236}">
                    <a16:creationId xmlns:a16="http://schemas.microsoft.com/office/drawing/2014/main" id="{99ACCB08-CE28-43A3-8F96-9C1D85EA19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22280" y="812166"/>
                <a:ext cx="858980" cy="45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rad>
                      <m:r>
                        <a:rPr lang="zh-TW" altLang="en-US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內容版面配置區 4">
                <a:extLst>
                  <a:ext uri="{FF2B5EF4-FFF2-40B4-BE49-F238E27FC236}">
                    <a16:creationId xmlns:a16="http://schemas.microsoft.com/office/drawing/2014/main" id="{99ACCB08-CE28-43A3-8F96-9C1D85EA1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280" y="812166"/>
                <a:ext cx="85898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拱形 3">
            <a:extLst>
              <a:ext uri="{FF2B5EF4-FFF2-40B4-BE49-F238E27FC236}">
                <a16:creationId xmlns:a16="http://schemas.microsoft.com/office/drawing/2014/main" id="{A4871AB5-BF10-4C5D-A0CC-124CF23D4DF5}"/>
              </a:ext>
            </a:extLst>
          </p:cNvPr>
          <p:cNvSpPr/>
          <p:nvPr/>
        </p:nvSpPr>
        <p:spPr>
          <a:xfrm flipV="1">
            <a:off x="3657600" y="2657793"/>
            <a:ext cx="4876800" cy="808989"/>
          </a:xfrm>
          <a:prstGeom prst="blockArc">
            <a:avLst>
              <a:gd name="adj1" fmla="val 10800000"/>
              <a:gd name="adj2" fmla="val 21575852"/>
              <a:gd name="adj3" fmla="val 6459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內容版面配置區 4">
                <a:extLst>
                  <a:ext uri="{FF2B5EF4-FFF2-40B4-BE49-F238E27FC236}">
                    <a16:creationId xmlns:a16="http://schemas.microsoft.com/office/drawing/2014/main" id="{C5A5D38B-B1FF-42A8-B18E-C7B8F4D189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9330" y="3338513"/>
                <a:ext cx="858980" cy="45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rad>
                      <m:r>
                        <a:rPr lang="zh-TW" altLang="en-US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內容版面配置區 4">
                <a:extLst>
                  <a:ext uri="{FF2B5EF4-FFF2-40B4-BE49-F238E27FC236}">
                    <a16:creationId xmlns:a16="http://schemas.microsoft.com/office/drawing/2014/main" id="{C5A5D38B-B1FF-42A8-B18E-C7B8F4D18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330" y="3338513"/>
                <a:ext cx="85898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109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 – ST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7C7920C0-05A6-49B1-BC09-7204B67313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3125709"/>
              </p:ext>
            </p:extLst>
          </p:nvPr>
        </p:nvGraphicFramePr>
        <p:xfrm>
          <a:off x="333375" y="5215576"/>
          <a:ext cx="620314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6741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</a:tbl>
          </a:graphicData>
        </a:graphic>
      </p:graphicFrame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37AF9270-3F66-4DC9-91A7-656A38BB0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987377"/>
              </p:ext>
            </p:extLst>
          </p:nvPr>
        </p:nvGraphicFramePr>
        <p:xfrm>
          <a:off x="8591550" y="431480"/>
          <a:ext cx="3076575" cy="57061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15">
                  <a:extLst>
                    <a:ext uri="{9D8B030D-6E8A-4147-A177-3AD203B41FA5}">
                      <a16:colId xmlns:a16="http://schemas.microsoft.com/office/drawing/2014/main" val="3048237819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3158652436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3736089367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1865927965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1806591455"/>
                    </a:ext>
                  </a:extLst>
                </a:gridCol>
              </a:tblGrid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412074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245888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572892"/>
                  </a:ext>
                </a:extLst>
              </a:tr>
              <a:tr h="68716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816734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107142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325058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51118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030456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626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內容版面配置區 4">
                <a:extLst>
                  <a:ext uri="{FF2B5EF4-FFF2-40B4-BE49-F238E27FC236}">
                    <a16:creationId xmlns:a16="http://schemas.microsoft.com/office/drawing/2014/main" id="{DCDF1386-5858-4CB1-94AF-FA0A1DE4B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72225" cy="29178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−1]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−1]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[5,2] 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Index of min( A[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[5,1]] , A[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[7,1]] 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= Index of min( A[6] , A[8] 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= Index of min( 7 , 1 )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= 8</a:t>
                </a:r>
              </a:p>
            </p:txBody>
          </p:sp>
        </mc:Choice>
        <mc:Fallback xmlns="">
          <p:sp>
            <p:nvSpPr>
              <p:cNvPr id="13" name="內容版面配置區 4">
                <a:extLst>
                  <a:ext uri="{FF2B5EF4-FFF2-40B4-BE49-F238E27FC236}">
                    <a16:creationId xmlns:a16="http://schemas.microsoft.com/office/drawing/2014/main" id="{DCDF1386-5858-4CB1-94AF-FA0A1DE4B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72225" cy="2917825"/>
              </a:xfrm>
              <a:blipFill>
                <a:blip r:embed="rId3"/>
                <a:stretch>
                  <a:fillRect l="-15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拱形 38">
            <a:extLst>
              <a:ext uri="{FF2B5EF4-FFF2-40B4-BE49-F238E27FC236}">
                <a16:creationId xmlns:a16="http://schemas.microsoft.com/office/drawing/2014/main" id="{DBA87EE0-2A9B-42EC-A63A-48C6D9C5B2D8}"/>
              </a:ext>
            </a:extLst>
          </p:cNvPr>
          <p:cNvSpPr/>
          <p:nvPr/>
        </p:nvSpPr>
        <p:spPr>
          <a:xfrm flipV="1">
            <a:off x="4295775" y="5802950"/>
            <a:ext cx="1924050" cy="808988"/>
          </a:xfrm>
          <a:prstGeom prst="blockArc">
            <a:avLst>
              <a:gd name="adj1" fmla="val 10800000"/>
              <a:gd name="adj2" fmla="val 21476598"/>
              <a:gd name="adj3" fmla="val 7233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07C817F8-0839-4888-B230-D2F17D98B761}"/>
              </a:ext>
            </a:extLst>
          </p:cNvPr>
          <p:cNvSpPr txBox="1">
            <a:spLocks/>
          </p:cNvSpPr>
          <p:nvPr/>
        </p:nvSpPr>
        <p:spPr>
          <a:xfrm>
            <a:off x="205975" y="4743450"/>
            <a:ext cx="502451" cy="371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9665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 – ST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7C7920C0-05A6-49B1-BC09-7204B67313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0663183"/>
              </p:ext>
            </p:extLst>
          </p:nvPr>
        </p:nvGraphicFramePr>
        <p:xfrm>
          <a:off x="333375" y="5215576"/>
          <a:ext cx="620314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6741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</a:tbl>
          </a:graphicData>
        </a:graphic>
      </p:graphicFrame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37AF9270-3F66-4DC9-91A7-656A38BB0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659357"/>
              </p:ext>
            </p:extLst>
          </p:nvPr>
        </p:nvGraphicFramePr>
        <p:xfrm>
          <a:off x="8591550" y="431480"/>
          <a:ext cx="3076575" cy="57061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315">
                  <a:extLst>
                    <a:ext uri="{9D8B030D-6E8A-4147-A177-3AD203B41FA5}">
                      <a16:colId xmlns:a16="http://schemas.microsoft.com/office/drawing/2014/main" val="3048237819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3158652436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3736089367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1865927965"/>
                    </a:ext>
                  </a:extLst>
                </a:gridCol>
                <a:gridCol w="615315">
                  <a:extLst>
                    <a:ext uri="{9D8B030D-6E8A-4147-A177-3AD203B41FA5}">
                      <a16:colId xmlns:a16="http://schemas.microsoft.com/office/drawing/2014/main" val="1806591455"/>
                    </a:ext>
                  </a:extLst>
                </a:gridCol>
              </a:tblGrid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412074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245888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572892"/>
                  </a:ext>
                </a:extLst>
              </a:tr>
              <a:tr h="68716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816734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107142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325058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51118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030456"/>
                  </a:ext>
                </a:extLst>
              </a:tr>
              <a:tr h="6273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626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內容版面配置區 4">
                <a:extLst>
                  <a:ext uri="{FF2B5EF4-FFF2-40B4-BE49-F238E27FC236}">
                    <a16:creationId xmlns:a16="http://schemas.microsoft.com/office/drawing/2014/main" id="{DCDF1386-5858-4CB1-94AF-FA0A1DE4B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72225" cy="29178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RMQ(3,8)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Range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⁡(8−3)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min(A[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[3,</a:t>
                </a:r>
                <a:r>
                  <a:rPr lang="en-US" altLang="zh-TW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]] , A[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[8 – 2</a:t>
                </a:r>
                <a:r>
                  <a:rPr lang="en-US" altLang="zh-TW" sz="2400" baseline="300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1,</a:t>
                </a:r>
                <a:r>
                  <a:rPr lang="en-US" altLang="zh-TW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]] 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min(A[4],A[8])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8</a:t>
                </a:r>
              </a:p>
            </p:txBody>
          </p:sp>
        </mc:Choice>
        <mc:Fallback xmlns="">
          <p:sp>
            <p:nvSpPr>
              <p:cNvPr id="13" name="內容版面配置區 4">
                <a:extLst>
                  <a:ext uri="{FF2B5EF4-FFF2-40B4-BE49-F238E27FC236}">
                    <a16:creationId xmlns:a16="http://schemas.microsoft.com/office/drawing/2014/main" id="{DCDF1386-5858-4CB1-94AF-FA0A1DE4B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72225" cy="2917825"/>
              </a:xfrm>
              <a:blipFill>
                <a:blip r:embed="rId3"/>
                <a:stretch>
                  <a:fillRect l="-1531" t="-2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07C817F8-0839-4888-B230-D2F17D98B761}"/>
              </a:ext>
            </a:extLst>
          </p:cNvPr>
          <p:cNvSpPr txBox="1">
            <a:spLocks/>
          </p:cNvSpPr>
          <p:nvPr/>
        </p:nvSpPr>
        <p:spPr>
          <a:xfrm>
            <a:off x="205975" y="4743450"/>
            <a:ext cx="502451" cy="371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" name="拱形 2">
            <a:extLst>
              <a:ext uri="{FF2B5EF4-FFF2-40B4-BE49-F238E27FC236}">
                <a16:creationId xmlns:a16="http://schemas.microsoft.com/office/drawing/2014/main" id="{D463D541-CD6B-4E14-A312-AB5C766B24C6}"/>
              </a:ext>
            </a:extLst>
          </p:cNvPr>
          <p:cNvSpPr/>
          <p:nvPr/>
        </p:nvSpPr>
        <p:spPr>
          <a:xfrm>
            <a:off x="3062287" y="4710431"/>
            <a:ext cx="1924050" cy="808988"/>
          </a:xfrm>
          <a:prstGeom prst="blockArc">
            <a:avLst>
              <a:gd name="adj1" fmla="val 10800000"/>
              <a:gd name="adj2" fmla="val 21476598"/>
              <a:gd name="adj3" fmla="val 7233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拱形 3">
            <a:extLst>
              <a:ext uri="{FF2B5EF4-FFF2-40B4-BE49-F238E27FC236}">
                <a16:creationId xmlns:a16="http://schemas.microsoft.com/office/drawing/2014/main" id="{A9F6096F-0E4F-4F1C-9B87-269585DEC446}"/>
              </a:ext>
            </a:extLst>
          </p:cNvPr>
          <p:cNvSpPr/>
          <p:nvPr/>
        </p:nvSpPr>
        <p:spPr>
          <a:xfrm>
            <a:off x="4313639" y="4696462"/>
            <a:ext cx="1924050" cy="808988"/>
          </a:xfrm>
          <a:prstGeom prst="blockArc">
            <a:avLst>
              <a:gd name="adj1" fmla="val 10800000"/>
              <a:gd name="adj2" fmla="val 21476598"/>
              <a:gd name="adj3" fmla="val 723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78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RMQ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8430179-C79D-40B4-BB76-3EFF7821F8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981601"/>
              </p:ext>
            </p:extLst>
          </p:nvPr>
        </p:nvGraphicFramePr>
        <p:xfrm>
          <a:off x="266700" y="1862138"/>
          <a:ext cx="545067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39CC9B4-A8DE-433A-84C8-906FAC0809BF}"/>
              </a:ext>
            </a:extLst>
          </p:cNvPr>
          <p:cNvCxnSpPr>
            <a:cxnSpLocks/>
          </p:cNvCxnSpPr>
          <p:nvPr/>
        </p:nvCxnSpPr>
        <p:spPr>
          <a:xfrm>
            <a:off x="3283738" y="3089282"/>
            <a:ext cx="0" cy="7985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D1E79B1-ECEF-4184-BEAF-52F21E612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357612"/>
              </p:ext>
            </p:extLst>
          </p:nvPr>
        </p:nvGraphicFramePr>
        <p:xfrm>
          <a:off x="800100" y="4110037"/>
          <a:ext cx="121126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393830047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67643618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91187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54730791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E758A35-3C24-49B5-9D93-1E680A7CC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782355"/>
              </p:ext>
            </p:extLst>
          </p:nvPr>
        </p:nvGraphicFramePr>
        <p:xfrm>
          <a:off x="2133600" y="4110037"/>
          <a:ext cx="121126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4045301050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178935909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265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9731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43426CB-993A-436E-A587-7050FC8BD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70973"/>
              </p:ext>
            </p:extLst>
          </p:nvPr>
        </p:nvGraphicFramePr>
        <p:xfrm>
          <a:off x="3467100" y="4110037"/>
          <a:ext cx="121126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366743397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218412354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2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385471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768AF5E7-4C00-4647-BA36-3D372391A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171876"/>
              </p:ext>
            </p:extLst>
          </p:nvPr>
        </p:nvGraphicFramePr>
        <p:xfrm>
          <a:off x="4800600" y="4110037"/>
          <a:ext cx="121126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429344365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46429543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6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663227"/>
                  </a:ext>
                </a:extLst>
              </a:tr>
            </a:tbl>
          </a:graphicData>
        </a:graphic>
      </p:graphicFrame>
      <p:sp>
        <p:nvSpPr>
          <p:cNvPr id="23" name="左大括弧 22">
            <a:extLst>
              <a:ext uri="{FF2B5EF4-FFF2-40B4-BE49-F238E27FC236}">
                <a16:creationId xmlns:a16="http://schemas.microsoft.com/office/drawing/2014/main" id="{45D239F3-3D96-461B-AE4A-94D6EC0993CD}"/>
              </a:ext>
            </a:extLst>
          </p:cNvPr>
          <p:cNvSpPr/>
          <p:nvPr/>
        </p:nvSpPr>
        <p:spPr>
          <a:xfrm rot="5400000">
            <a:off x="1296192" y="3594894"/>
            <a:ext cx="219075" cy="80486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689D904-17B1-4CB0-8ECF-66E0CD63CAE1}"/>
                  </a:ext>
                </a:extLst>
              </p:cNvPr>
              <p:cNvSpPr txBox="1"/>
              <p:nvPr/>
            </p:nvSpPr>
            <p:spPr>
              <a:xfrm>
                <a:off x="558602" y="3227394"/>
                <a:ext cx="1694253" cy="62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689D904-17B1-4CB0-8ECF-66E0CD63C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02" y="3227394"/>
                <a:ext cx="1694253" cy="622286"/>
              </a:xfrm>
              <a:prstGeom prst="rect">
                <a:avLst/>
              </a:prstGeom>
              <a:blipFill>
                <a:blip r:embed="rId3"/>
                <a:stretch>
                  <a:fillRect l="-5755" b="-7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左大括弧 25">
            <a:extLst>
              <a:ext uri="{FF2B5EF4-FFF2-40B4-BE49-F238E27FC236}">
                <a16:creationId xmlns:a16="http://schemas.microsoft.com/office/drawing/2014/main" id="{720260FF-AB47-4129-86BF-3CA1CB825794}"/>
              </a:ext>
            </a:extLst>
          </p:cNvPr>
          <p:cNvSpPr/>
          <p:nvPr/>
        </p:nvSpPr>
        <p:spPr>
          <a:xfrm rot="16200000" flipV="1">
            <a:off x="3298030" y="3115474"/>
            <a:ext cx="109537" cy="422910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46E9BDA-DD08-4457-86DE-D4EEE812AEA4}"/>
                  </a:ext>
                </a:extLst>
              </p:cNvPr>
              <p:cNvSpPr txBox="1"/>
              <p:nvPr/>
            </p:nvSpPr>
            <p:spPr>
              <a:xfrm>
                <a:off x="2376786" y="5435611"/>
                <a:ext cx="2180627" cy="658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den>
                    </m:f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46E9BDA-DD08-4457-86DE-D4EEE812A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786" y="5435611"/>
                <a:ext cx="2180627" cy="658770"/>
              </a:xfrm>
              <a:prstGeom prst="rect">
                <a:avLst/>
              </a:prstGeom>
              <a:blipFill>
                <a:blip r:embed="rId4"/>
                <a:stretch>
                  <a:fillRect l="-4469" b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5C5ADD36-7C98-4E57-B0BC-70CFDB3EA8C6}"/>
              </a:ext>
            </a:extLst>
          </p:cNvPr>
          <p:cNvCxnSpPr>
            <a:cxnSpLocks/>
          </p:cNvCxnSpPr>
          <p:nvPr/>
        </p:nvCxnSpPr>
        <p:spPr>
          <a:xfrm>
            <a:off x="6312688" y="4595824"/>
            <a:ext cx="1409715" cy="5794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690997A0-45E3-4CD7-B64D-45A85992B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234300"/>
              </p:ext>
            </p:extLst>
          </p:nvPr>
        </p:nvGraphicFramePr>
        <p:xfrm>
          <a:off x="7925602" y="4581525"/>
          <a:ext cx="302815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30004761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676946107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34585784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890174327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619674349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sz="24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54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7074"/>
                  </a:ext>
                </a:extLst>
              </a:tr>
            </a:tbl>
          </a:graphicData>
        </a:graphic>
      </p:graphicFrame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7311CEA3-0FF3-408A-9AAC-A8C2F3D5A3B9}"/>
              </a:ext>
            </a:extLst>
          </p:cNvPr>
          <p:cNvCxnSpPr>
            <a:cxnSpLocks/>
          </p:cNvCxnSpPr>
          <p:nvPr/>
        </p:nvCxnSpPr>
        <p:spPr>
          <a:xfrm flipV="1">
            <a:off x="6312688" y="3609975"/>
            <a:ext cx="1409715" cy="9858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E5D1EB5-8C7A-4FD7-8433-E412C5C4C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15698"/>
              </p:ext>
            </p:extLst>
          </p:nvPr>
        </p:nvGraphicFramePr>
        <p:xfrm>
          <a:off x="7925602" y="3031335"/>
          <a:ext cx="302815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2913619498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173676154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229694242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55705348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462407107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1640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35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19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RMQ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內容版面配置區 4">
                <a:extLst>
                  <a:ext uri="{FF2B5EF4-FFF2-40B4-BE49-F238E27FC236}">
                    <a16:creationId xmlns:a16="http://schemas.microsoft.com/office/drawing/2014/main" id="{FC545DDC-1673-4C4E-91B1-3FAAC30206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53650" cy="36131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 algorithm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Size of A</a:t>
                </a:r>
                <a:r>
                  <a:rPr lang="en-US" altLang="zh-TW" dirty="0">
                    <a:latin typeface="+mj-lt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’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den>
                    </m:f>
                  </m:oMath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ST(A</a:t>
                </a:r>
                <a:r>
                  <a:rPr lang="en-US" altLang="zh-TW" dirty="0">
                    <a:latin typeface="+mj-lt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’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O(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den>
                    </m:f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log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𝑙𝑜𝑔𝑛</m:t>
                        </m:r>
                      </m:den>
                    </m:f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O(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ST(A</a:t>
                </a:r>
                <a:r>
                  <a:rPr lang="en-US" altLang="zh-TW" dirty="0">
                    <a:latin typeface="+mj-lt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’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8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, </a:t>
                </a:r>
                <a:r>
                  <a:rPr lang="en-US" altLang="zh-TW" sz="28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O(1)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〉- time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內容版面配置區 4">
                <a:extLst>
                  <a:ext uri="{FF2B5EF4-FFF2-40B4-BE49-F238E27FC236}">
                    <a16:creationId xmlns:a16="http://schemas.microsoft.com/office/drawing/2014/main" id="{FC545DDC-1673-4C4E-91B1-3FAAC3020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53650" cy="3613150"/>
              </a:xfrm>
              <a:blipFill>
                <a:blip r:embed="rId3"/>
                <a:stretch>
                  <a:fillRect l="-1261" t="-2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00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RMQ – Query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8430179-C79D-40B4-BB76-3EFF7821F8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0510380"/>
              </p:ext>
            </p:extLst>
          </p:nvPr>
        </p:nvGraphicFramePr>
        <p:xfrm>
          <a:off x="266700" y="1862138"/>
          <a:ext cx="545067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1153817772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12322249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259044621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04202092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222747438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597416457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178622929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464621742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282668575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986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511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690997A0-45E3-4CD7-B64D-45A85992B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987890"/>
              </p:ext>
            </p:extLst>
          </p:nvPr>
        </p:nvGraphicFramePr>
        <p:xfrm>
          <a:off x="5845572" y="1862138"/>
          <a:ext cx="302815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30004761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676946107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345857841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890174327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1619674349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sz="24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54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7074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E5D1EB5-8C7A-4FD7-8433-E412C5C4C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70660"/>
              </p:ext>
            </p:extLst>
          </p:nvPr>
        </p:nvGraphicFramePr>
        <p:xfrm>
          <a:off x="9001925" y="1862138"/>
          <a:ext cx="302815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30">
                  <a:extLst>
                    <a:ext uri="{9D8B030D-6E8A-4147-A177-3AD203B41FA5}">
                      <a16:colId xmlns:a16="http://schemas.microsoft.com/office/drawing/2014/main" val="2913619498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173676154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4229694242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557053483"/>
                    </a:ext>
                  </a:extLst>
                </a:gridCol>
                <a:gridCol w="605630">
                  <a:extLst>
                    <a:ext uri="{9D8B030D-6E8A-4147-A177-3AD203B41FA5}">
                      <a16:colId xmlns:a16="http://schemas.microsoft.com/office/drawing/2014/main" val="3462407107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1640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35415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內容版面配置區 4">
                <a:extLst>
                  <a:ext uri="{FF2B5EF4-FFF2-40B4-BE49-F238E27FC236}">
                    <a16:creationId xmlns:a16="http://schemas.microsoft.com/office/drawing/2014/main" id="{178E1898-CFCD-4A43-AD0E-72FA7DCCC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47988"/>
                <a:ext cx="10153650" cy="36131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RMQ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[2,7] = min( </a:t>
                </a:r>
                <a:r>
                  <a:rPr lang="en-US" altLang="zh-TW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A[2]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RMQ</a:t>
                </a:r>
                <a:r>
                  <a:rPr lang="en-US" altLang="zh-TW" sz="28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800" baseline="-25000" dirty="0">
                    <a:solidFill>
                      <a:srgbClr val="00B050"/>
                    </a:solidFill>
                    <a:latin typeface="+mj-lt"/>
                    <a:cs typeface="Times New Roman" panose="02020603050405020304" pitchFamily="18" charset="0"/>
                  </a:rPr>
                  <a:t>’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2,3]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A[7]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)</a:t>
                </a:r>
              </a:p>
              <a:p>
                <a:pPr marL="0" indent="0">
                  <a:buNone/>
                </a:pPr>
                <a:endParaRPr lang="en-US" altLang="zh-TW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如果將每一塊都用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algorithm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前處理：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𝑙𝑜𝑔𝑛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𝑙𝑜𝑔𝑛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𝑙𝑜𝑔𝑛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O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𝑛𝑙𝑜𝑔𝑙𝑜𝑔𝑛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內容版面配置區 4">
                <a:extLst>
                  <a:ext uri="{FF2B5EF4-FFF2-40B4-BE49-F238E27FC236}">
                    <a16:creationId xmlns:a16="http://schemas.microsoft.com/office/drawing/2014/main" id="{178E1898-CFCD-4A43-AD0E-72FA7DCCC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47988"/>
                <a:ext cx="10153650" cy="3613150"/>
              </a:xfrm>
              <a:blipFill>
                <a:blip r:embed="rId3"/>
                <a:stretch>
                  <a:fillRect l="-1261" t="-30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93B3C23-40EB-4995-A4FC-8C071EB1924F}"/>
              </a:ext>
            </a:extLst>
          </p:cNvPr>
          <p:cNvCxnSpPr>
            <a:cxnSpLocks/>
          </p:cNvCxnSpPr>
          <p:nvPr/>
        </p:nvCxnSpPr>
        <p:spPr>
          <a:xfrm flipV="1">
            <a:off x="5457825" y="3429001"/>
            <a:ext cx="0" cy="47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19368A9D-BF9C-4E63-BC21-4F8A4014D62D}"/>
              </a:ext>
            </a:extLst>
          </p:cNvPr>
          <p:cNvSpPr txBox="1">
            <a:spLocks/>
          </p:cNvSpPr>
          <p:nvPr/>
        </p:nvSpPr>
        <p:spPr>
          <a:xfrm>
            <a:off x="5035947" y="4006850"/>
            <a:ext cx="904875" cy="3984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O(1)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1BFAF32-53DA-4549-AF6B-22792F258E13}"/>
              </a:ext>
            </a:extLst>
          </p:cNvPr>
          <p:cNvCxnSpPr>
            <a:cxnSpLocks/>
          </p:cNvCxnSpPr>
          <p:nvPr/>
        </p:nvCxnSpPr>
        <p:spPr>
          <a:xfrm flipV="1">
            <a:off x="4057650" y="3429001"/>
            <a:ext cx="0" cy="47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0CBA3C0-9863-4EBB-98FA-032F72D93EDD}"/>
              </a:ext>
            </a:extLst>
          </p:cNvPr>
          <p:cNvSpPr txBox="1">
            <a:spLocks/>
          </p:cNvSpPr>
          <p:nvPr/>
        </p:nvSpPr>
        <p:spPr>
          <a:xfrm>
            <a:off x="3865761" y="3994150"/>
            <a:ext cx="383778" cy="3984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5BF7A095-3EC3-4DD0-ABF6-47A8F084F4F4}"/>
              </a:ext>
            </a:extLst>
          </p:cNvPr>
          <p:cNvCxnSpPr>
            <a:cxnSpLocks/>
          </p:cNvCxnSpPr>
          <p:nvPr/>
        </p:nvCxnSpPr>
        <p:spPr>
          <a:xfrm flipV="1">
            <a:off x="6919119" y="3468689"/>
            <a:ext cx="0" cy="47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內容版面配置區 4">
            <a:extLst>
              <a:ext uri="{FF2B5EF4-FFF2-40B4-BE49-F238E27FC236}">
                <a16:creationId xmlns:a16="http://schemas.microsoft.com/office/drawing/2014/main" id="{77772164-A8EB-4918-B406-47254B701501}"/>
              </a:ext>
            </a:extLst>
          </p:cNvPr>
          <p:cNvSpPr txBox="1">
            <a:spLocks/>
          </p:cNvSpPr>
          <p:nvPr/>
        </p:nvSpPr>
        <p:spPr>
          <a:xfrm>
            <a:off x="6727230" y="4033838"/>
            <a:ext cx="383778" cy="3984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358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AAECA-638C-481A-8B03-97906711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 1 RMQ 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5732768-8812-4EBC-928D-96297630AF10}"/>
              </a:ext>
            </a:extLst>
          </p:cNvPr>
          <p:cNvGrpSpPr>
            <a:grpSpLocks noChangeAspect="1"/>
          </p:cNvGrpSpPr>
          <p:nvPr/>
        </p:nvGrpSpPr>
        <p:grpSpPr>
          <a:xfrm>
            <a:off x="838200" y="1348294"/>
            <a:ext cx="3678461" cy="2525842"/>
            <a:chOff x="4211758" y="1793015"/>
            <a:chExt cx="2942773" cy="2020673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8A466F3C-CA8E-4107-9D60-83B2F6B43DBA}"/>
                </a:ext>
              </a:extLst>
            </p:cNvPr>
            <p:cNvSpPr/>
            <p:nvPr/>
          </p:nvSpPr>
          <p:spPr>
            <a:xfrm>
              <a:off x="5255243" y="1793015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737EF8D5-313F-40AA-86E9-A37222922EB9}"/>
                </a:ext>
              </a:extLst>
            </p:cNvPr>
            <p:cNvSpPr/>
            <p:nvPr/>
          </p:nvSpPr>
          <p:spPr>
            <a:xfrm>
              <a:off x="4571781" y="2147529"/>
              <a:ext cx="432001" cy="43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4AB96B91-0FCF-4E8C-90EB-69ED0C0A4CDA}"/>
                </a:ext>
              </a:extLst>
            </p:cNvPr>
            <p:cNvSpPr/>
            <p:nvPr/>
          </p:nvSpPr>
          <p:spPr>
            <a:xfrm>
              <a:off x="4211758" y="2798450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07AB6DDA-95F1-4017-ABC4-6285524AF126}"/>
                </a:ext>
              </a:extLst>
            </p:cNvPr>
            <p:cNvSpPr/>
            <p:nvPr/>
          </p:nvSpPr>
          <p:spPr>
            <a:xfrm>
              <a:off x="4728127" y="2798450"/>
              <a:ext cx="432001" cy="43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B1E34CB-CBF4-424F-A224-F328F93ED580}"/>
                </a:ext>
              </a:extLst>
            </p:cNvPr>
            <p:cNvSpPr/>
            <p:nvPr/>
          </p:nvSpPr>
          <p:spPr>
            <a:xfrm>
              <a:off x="6074484" y="2120359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E42ECBF3-C8D5-4653-A5BD-462BAC6DF17A}"/>
                </a:ext>
              </a:extLst>
            </p:cNvPr>
            <p:cNvSpPr/>
            <p:nvPr/>
          </p:nvSpPr>
          <p:spPr>
            <a:xfrm>
              <a:off x="5434777" y="2810580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E233D2F5-3F62-4F11-9DB2-C7BD62EA5725}"/>
                </a:ext>
              </a:extLst>
            </p:cNvPr>
            <p:cNvSpPr/>
            <p:nvPr/>
          </p:nvSpPr>
          <p:spPr>
            <a:xfrm>
              <a:off x="6082778" y="2798450"/>
              <a:ext cx="432001" cy="43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BF0815A-420E-427D-9A68-AAD6667BDA30}"/>
                </a:ext>
              </a:extLst>
            </p:cNvPr>
            <p:cNvSpPr/>
            <p:nvPr/>
          </p:nvSpPr>
          <p:spPr>
            <a:xfrm>
              <a:off x="6290484" y="3381688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7E0C6B72-1AB8-4DE3-AAA3-DEF71B4A1B9B}"/>
                </a:ext>
              </a:extLst>
            </p:cNvPr>
            <p:cNvSpPr/>
            <p:nvPr/>
          </p:nvSpPr>
          <p:spPr>
            <a:xfrm>
              <a:off x="6722530" y="2798450"/>
              <a:ext cx="432001" cy="432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81ED2F88-0FEE-43B6-A58D-50CB3CFC7AF9}"/>
                </a:ext>
              </a:extLst>
            </p:cNvPr>
            <p:cNvCxnSpPr>
              <a:stCxn id="12" idx="0"/>
              <a:endCxn id="11" idx="2"/>
            </p:cNvCxnSpPr>
            <p:nvPr/>
          </p:nvCxnSpPr>
          <p:spPr>
            <a:xfrm flipV="1">
              <a:off x="4787781" y="2009015"/>
              <a:ext cx="467461" cy="138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BA9C9BF4-EB16-4F80-A002-819180BD79EA}"/>
                </a:ext>
              </a:extLst>
            </p:cNvPr>
            <p:cNvCxnSpPr>
              <a:cxnSpLocks/>
              <a:stCxn id="14" idx="0"/>
              <a:endCxn id="12" idx="3"/>
            </p:cNvCxnSpPr>
            <p:nvPr/>
          </p:nvCxnSpPr>
          <p:spPr>
            <a:xfrm flipV="1">
              <a:off x="4427759" y="2516264"/>
              <a:ext cx="207287" cy="282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1CE30ED8-B5FE-42AB-9ACB-58F68A0EEBAC}"/>
                </a:ext>
              </a:extLst>
            </p:cNvPr>
            <p:cNvCxnSpPr>
              <a:cxnSpLocks/>
              <a:stCxn id="15" idx="0"/>
              <a:endCxn id="12" idx="5"/>
            </p:cNvCxnSpPr>
            <p:nvPr/>
          </p:nvCxnSpPr>
          <p:spPr>
            <a:xfrm flipH="1" flipV="1">
              <a:off x="4940518" y="2516264"/>
              <a:ext cx="3610" cy="282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03CF6D50-E5D9-434C-9008-9406301F49C2}"/>
                </a:ext>
              </a:extLst>
            </p:cNvPr>
            <p:cNvCxnSpPr>
              <a:cxnSpLocks/>
              <a:stCxn id="11" idx="6"/>
              <a:endCxn id="16" idx="1"/>
            </p:cNvCxnSpPr>
            <p:nvPr/>
          </p:nvCxnSpPr>
          <p:spPr>
            <a:xfrm>
              <a:off x="5687243" y="2009015"/>
              <a:ext cx="450505" cy="1746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296FD3D-27DB-48CD-94EB-D2972084EB3A}"/>
                </a:ext>
              </a:extLst>
            </p:cNvPr>
            <p:cNvCxnSpPr>
              <a:cxnSpLocks/>
              <a:stCxn id="18" idx="0"/>
              <a:endCxn id="16" idx="3"/>
            </p:cNvCxnSpPr>
            <p:nvPr/>
          </p:nvCxnSpPr>
          <p:spPr>
            <a:xfrm flipV="1">
              <a:off x="5650778" y="2489094"/>
              <a:ext cx="486971" cy="3214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CFAB58FB-4198-4E8D-933F-611935C6BA18}"/>
                </a:ext>
              </a:extLst>
            </p:cNvPr>
            <p:cNvCxnSpPr>
              <a:cxnSpLocks/>
              <a:stCxn id="16" idx="5"/>
              <a:endCxn id="22" idx="0"/>
            </p:cNvCxnSpPr>
            <p:nvPr/>
          </p:nvCxnSpPr>
          <p:spPr>
            <a:xfrm>
              <a:off x="6443220" y="2489094"/>
              <a:ext cx="495310" cy="309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BB47431A-C3DC-4C27-8FD9-31D43B85FA5F}"/>
                </a:ext>
              </a:extLst>
            </p:cNvPr>
            <p:cNvCxnSpPr>
              <a:cxnSpLocks/>
              <a:stCxn id="20" idx="0"/>
              <a:endCxn id="16" idx="4"/>
            </p:cNvCxnSpPr>
            <p:nvPr/>
          </p:nvCxnSpPr>
          <p:spPr>
            <a:xfrm flipH="1" flipV="1">
              <a:off x="6290484" y="2552359"/>
              <a:ext cx="8294" cy="246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85AF965B-5757-442E-A0E1-525969814371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6298779" y="3230450"/>
              <a:ext cx="207706" cy="1512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5D9493AC-A1BF-4751-9A9F-F430B1B83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77313"/>
              </p:ext>
            </p:extLst>
          </p:nvPr>
        </p:nvGraphicFramePr>
        <p:xfrm>
          <a:off x="890597" y="3939137"/>
          <a:ext cx="994937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659821732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8854910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6170340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337998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56247319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27136841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0009373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204841914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5A22415C-0B18-4011-AD66-0EB8C059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81021"/>
              </p:ext>
            </p:extLst>
          </p:nvPr>
        </p:nvGraphicFramePr>
        <p:xfrm>
          <a:off x="890597" y="4918538"/>
          <a:ext cx="994937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659821732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8854910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6170340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337998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56247319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27136841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0009373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204841914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8D9F38FE-1FBD-4818-B095-D726AB8EB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993180"/>
              </p:ext>
            </p:extLst>
          </p:nvPr>
        </p:nvGraphicFramePr>
        <p:xfrm>
          <a:off x="890597" y="5897939"/>
          <a:ext cx="552743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6718B56-6712-4C16-8B16-F90A3075F4DD}"/>
              </a:ext>
            </a:extLst>
          </p:cNvPr>
          <p:cNvSpPr/>
          <p:nvPr/>
        </p:nvSpPr>
        <p:spPr>
          <a:xfrm>
            <a:off x="771525" y="4853537"/>
            <a:ext cx="10220325" cy="10444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807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 1 RMQ – Observation 5 &amp; Lemma 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92D0C36-ECD5-4AD5-937B-55179EC3D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54306"/>
              </p:ext>
            </p:extLst>
          </p:nvPr>
        </p:nvGraphicFramePr>
        <p:xfrm>
          <a:off x="6561405" y="1669489"/>
          <a:ext cx="49746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D915C30-B903-4022-8C0F-C11CA613C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262829"/>
              </p:ext>
            </p:extLst>
          </p:nvPr>
        </p:nvGraphicFramePr>
        <p:xfrm>
          <a:off x="6561405" y="3623982"/>
          <a:ext cx="49746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093E06E2-0EB9-4BB7-B948-FDC66BB36082}"/>
              </a:ext>
            </a:extLst>
          </p:cNvPr>
          <p:cNvSpPr txBox="1"/>
          <p:nvPr/>
        </p:nvSpPr>
        <p:spPr>
          <a:xfrm>
            <a:off x="7191374" y="2828644"/>
            <a:ext cx="4086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B[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C,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8D9854F-1E89-47DF-86BE-D02F36AA4853}"/>
              </a:ext>
            </a:extLst>
          </p:cNvPr>
          <p:cNvCxnSpPr>
            <a:cxnSpLocks/>
          </p:cNvCxnSpPr>
          <p:nvPr/>
        </p:nvCxnSpPr>
        <p:spPr>
          <a:xfrm>
            <a:off x="10963274" y="2699123"/>
            <a:ext cx="0" cy="809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7B9A3D-2AAF-4037-958E-79894597C315}"/>
              </a:ext>
            </a:extLst>
          </p:cNvPr>
          <p:cNvSpPr txBox="1"/>
          <p:nvPr/>
        </p:nvSpPr>
        <p:spPr>
          <a:xfrm>
            <a:off x="11087099" y="2828644"/>
            <a:ext cx="590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CFF1CD7-F741-49EE-8F98-29CE706C2746}"/>
              </a:ext>
            </a:extLst>
          </p:cNvPr>
          <p:cNvSpPr txBox="1"/>
          <p:nvPr/>
        </p:nvSpPr>
        <p:spPr>
          <a:xfrm>
            <a:off x="655908" y="2610672"/>
            <a:ext cx="5295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RMQ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只要建表，就可重複利用，減少對零碎片段進行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RMQ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的時間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4076D75D-552D-4831-AE3D-AD8FACC6A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853227"/>
              </p:ext>
            </p:extLst>
          </p:nvPr>
        </p:nvGraphicFramePr>
        <p:xfrm>
          <a:off x="6561405" y="5578475"/>
          <a:ext cx="497468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480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56B37-D155-4209-B2BF-3D57EEB5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 1 RMQ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92D0C36-ECD5-4AD5-937B-55179EC3D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745911"/>
              </p:ext>
            </p:extLst>
          </p:nvPr>
        </p:nvGraphicFramePr>
        <p:xfrm>
          <a:off x="838200" y="1519238"/>
          <a:ext cx="994937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2743">
                  <a:extLst>
                    <a:ext uri="{9D8B030D-6E8A-4147-A177-3AD203B41FA5}">
                      <a16:colId xmlns:a16="http://schemas.microsoft.com/office/drawing/2014/main" val="182628301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42802066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2870360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4722287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745481764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45287292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9720992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33261149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54005870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1939127323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659821732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88549109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617034025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40337998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562473197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271368418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2100093731"/>
                    </a:ext>
                  </a:extLst>
                </a:gridCol>
                <a:gridCol w="552743">
                  <a:extLst>
                    <a:ext uri="{9D8B030D-6E8A-4147-A177-3AD203B41FA5}">
                      <a16:colId xmlns:a16="http://schemas.microsoft.com/office/drawing/2014/main" val="3204841914"/>
                    </a:ext>
                  </a:extLst>
                </a:gridCol>
              </a:tblGrid>
              <a:tr h="270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2567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89674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57315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4">
                <a:extLst>
                  <a:ext uri="{FF2B5EF4-FFF2-40B4-BE49-F238E27FC236}">
                    <a16:creationId xmlns:a16="http://schemas.microsoft.com/office/drawing/2014/main" id="{CD5A88E1-3F67-4A88-BBF4-F997CB4FD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09926"/>
                <a:ext cx="7705725" cy="3429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種組合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暴力法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baseline="30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𝑙𝑜𝑔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1 RMQ 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8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, </a:t>
                </a:r>
                <a:r>
                  <a:rPr lang="en-US" altLang="zh-TW" sz="28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O(1)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〉- time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內容版面配置區 4">
                <a:extLst>
                  <a:ext uri="{FF2B5EF4-FFF2-40B4-BE49-F238E27FC236}">
                    <a16:creationId xmlns:a16="http://schemas.microsoft.com/office/drawing/2014/main" id="{CD5A88E1-3F67-4A88-BBF4-F997CB4FD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09926"/>
                <a:ext cx="7705725" cy="3429000"/>
              </a:xfrm>
              <a:blipFill>
                <a:blip r:embed="rId3"/>
                <a:stretch>
                  <a:fillRect l="-1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7F73608-67E2-4960-ACD5-7B91EF7E7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225554"/>
              </p:ext>
            </p:extLst>
          </p:nvPr>
        </p:nvGraphicFramePr>
        <p:xfrm>
          <a:off x="8677419" y="3359151"/>
          <a:ext cx="211015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3385">
                  <a:extLst>
                    <a:ext uri="{9D8B030D-6E8A-4147-A177-3AD203B41FA5}">
                      <a16:colId xmlns:a16="http://schemas.microsoft.com/office/drawing/2014/main" val="2120836749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3937116119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592004252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761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9721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5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256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AA4D-6D13-4E84-8706-0BD5978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RMQ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B216D2-D187-4F0D-BA6D-1754F39F2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Reduce RMQ to LCA (through Cartesian tree)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Reduce LCA to ± 1 RMQ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so…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LCA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en-US" altLang="zh-TW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〉- time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RMQ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：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〈</a:t>
            </a:r>
            <a:r>
              <a:rPr lang="en-US" altLang="zh-TW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〉- time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9365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AA4D-6D13-4E84-8706-0BD5978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笛卡爾樹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C43C851-B94B-476C-B960-C94ACB51F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24907"/>
              </p:ext>
            </p:extLst>
          </p:nvPr>
        </p:nvGraphicFramePr>
        <p:xfrm>
          <a:off x="3552796" y="1787525"/>
          <a:ext cx="508640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801">
                  <a:extLst>
                    <a:ext uri="{9D8B030D-6E8A-4147-A177-3AD203B41FA5}">
                      <a16:colId xmlns:a16="http://schemas.microsoft.com/office/drawing/2014/main" val="174743000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75924637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6146287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944551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98446673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05477198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88793064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67313230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9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8392"/>
                  </a:ext>
                </a:extLst>
              </a:tr>
            </a:tbl>
          </a:graphicData>
        </a:graphic>
      </p:graphicFrame>
      <p:sp>
        <p:nvSpPr>
          <p:cNvPr id="7" name="橢圓 6">
            <a:extLst>
              <a:ext uri="{FF2B5EF4-FFF2-40B4-BE49-F238E27FC236}">
                <a16:creationId xmlns:a16="http://schemas.microsoft.com/office/drawing/2014/main" id="{27A3E086-1155-4C6B-A389-62BD0FCEF186}"/>
              </a:ext>
            </a:extLst>
          </p:cNvPr>
          <p:cNvSpPr/>
          <p:nvPr/>
        </p:nvSpPr>
        <p:spPr>
          <a:xfrm>
            <a:off x="3676621" y="3159000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59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AA4D-6D13-4E84-8706-0BD5978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笛卡爾樹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C43C851-B94B-476C-B960-C94ACB51F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70274"/>
              </p:ext>
            </p:extLst>
          </p:nvPr>
        </p:nvGraphicFramePr>
        <p:xfrm>
          <a:off x="3552796" y="1787525"/>
          <a:ext cx="508640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801">
                  <a:extLst>
                    <a:ext uri="{9D8B030D-6E8A-4147-A177-3AD203B41FA5}">
                      <a16:colId xmlns:a16="http://schemas.microsoft.com/office/drawing/2014/main" val="174743000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75924637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6146287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944551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98446673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05477198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88793064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67313230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9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8392"/>
                  </a:ext>
                </a:extLst>
              </a:tr>
            </a:tbl>
          </a:graphicData>
        </a:graphic>
      </p:graphicFrame>
      <p:sp>
        <p:nvSpPr>
          <p:cNvPr id="10" name="橢圓 9">
            <a:extLst>
              <a:ext uri="{FF2B5EF4-FFF2-40B4-BE49-F238E27FC236}">
                <a16:creationId xmlns:a16="http://schemas.microsoft.com/office/drawing/2014/main" id="{B8E06EA1-DE5E-4F92-A0B6-F63E04142011}"/>
              </a:ext>
            </a:extLst>
          </p:cNvPr>
          <p:cNvSpPr/>
          <p:nvPr/>
        </p:nvSpPr>
        <p:spPr>
          <a:xfrm>
            <a:off x="3676621" y="3159000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C80853D-A5E2-4493-ACD9-969DD1F547BF}"/>
              </a:ext>
            </a:extLst>
          </p:cNvPr>
          <p:cNvSpPr/>
          <p:nvPr/>
        </p:nvSpPr>
        <p:spPr>
          <a:xfrm>
            <a:off x="4216621" y="3699000"/>
            <a:ext cx="540000" cy="511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7E6E58A-3002-43C8-B5C8-B660C7ABE698}"/>
              </a:ext>
            </a:extLst>
          </p:cNvPr>
          <p:cNvCxnSpPr>
            <a:cxnSpLocks/>
            <a:stCxn id="10" idx="5"/>
            <a:endCxn id="11" idx="1"/>
          </p:cNvCxnSpPr>
          <p:nvPr/>
        </p:nvCxnSpPr>
        <p:spPr>
          <a:xfrm>
            <a:off x="4137540" y="3619919"/>
            <a:ext cx="158162" cy="15392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452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AA4D-6D13-4E84-8706-0BD5978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笛卡爾樹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C43C851-B94B-476C-B960-C94ACB51F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97363"/>
              </p:ext>
            </p:extLst>
          </p:nvPr>
        </p:nvGraphicFramePr>
        <p:xfrm>
          <a:off x="3552796" y="1787525"/>
          <a:ext cx="508640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801">
                  <a:extLst>
                    <a:ext uri="{9D8B030D-6E8A-4147-A177-3AD203B41FA5}">
                      <a16:colId xmlns:a16="http://schemas.microsoft.com/office/drawing/2014/main" val="174743000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75924637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6146287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944551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98446673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05477198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88793064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67313230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9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8392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id="{50E34D17-424A-4D7A-B862-159449A901A2}"/>
              </a:ext>
            </a:extLst>
          </p:cNvPr>
          <p:cNvSpPr/>
          <p:nvPr/>
        </p:nvSpPr>
        <p:spPr>
          <a:xfrm>
            <a:off x="3676621" y="3159000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9E041F3-7082-4689-B52A-E1B19EBDA0EE}"/>
              </a:ext>
            </a:extLst>
          </p:cNvPr>
          <p:cNvSpPr/>
          <p:nvPr/>
        </p:nvSpPr>
        <p:spPr>
          <a:xfrm>
            <a:off x="4835746" y="3751702"/>
            <a:ext cx="540000" cy="511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9027BFA2-AC6E-456E-892B-C91C4BA549D2}"/>
              </a:ext>
            </a:extLst>
          </p:cNvPr>
          <p:cNvSpPr/>
          <p:nvPr/>
        </p:nvSpPr>
        <p:spPr>
          <a:xfrm>
            <a:off x="4216621" y="4474538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FAF1DD6-1564-406D-82AA-22D641BB9D70}"/>
              </a:ext>
            </a:extLst>
          </p:cNvPr>
          <p:cNvCxnSpPr>
            <a:cxnSpLocks/>
            <a:stCxn id="7" idx="3"/>
            <a:endCxn id="9" idx="7"/>
          </p:cNvCxnSpPr>
          <p:nvPr/>
        </p:nvCxnSpPr>
        <p:spPr>
          <a:xfrm flipH="1">
            <a:off x="4677540" y="4187910"/>
            <a:ext cx="237287" cy="36570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361CB6B-4459-4256-811C-98FF08DD2764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4216621" y="3429000"/>
            <a:ext cx="698206" cy="39754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013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AA4D-6D13-4E84-8706-0BD5978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笛卡爾樹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C43C851-B94B-476C-B960-C94ACB51F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099719"/>
              </p:ext>
            </p:extLst>
          </p:nvPr>
        </p:nvGraphicFramePr>
        <p:xfrm>
          <a:off x="3552796" y="1787525"/>
          <a:ext cx="508640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801">
                  <a:extLst>
                    <a:ext uri="{9D8B030D-6E8A-4147-A177-3AD203B41FA5}">
                      <a16:colId xmlns:a16="http://schemas.microsoft.com/office/drawing/2014/main" val="174743000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75924637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6146287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944551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98446673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05477198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88793064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67313230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9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8392"/>
                  </a:ext>
                </a:extLst>
              </a:tr>
            </a:tbl>
          </a:graphicData>
        </a:graphic>
      </p:graphicFrame>
      <p:sp>
        <p:nvSpPr>
          <p:cNvPr id="11" name="橢圓 10">
            <a:extLst>
              <a:ext uri="{FF2B5EF4-FFF2-40B4-BE49-F238E27FC236}">
                <a16:creationId xmlns:a16="http://schemas.microsoft.com/office/drawing/2014/main" id="{AD7631C5-A2EC-4F9C-87A2-136A2DB85112}"/>
              </a:ext>
            </a:extLst>
          </p:cNvPr>
          <p:cNvSpPr/>
          <p:nvPr/>
        </p:nvSpPr>
        <p:spPr>
          <a:xfrm>
            <a:off x="5553046" y="3076076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CE4BCD6-169C-43C7-8896-CAD624C8D461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3946621" y="3346076"/>
            <a:ext cx="1606425" cy="41299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E6A3A04F-E433-4CE4-90FF-8FB8000EA58A}"/>
              </a:ext>
            </a:extLst>
          </p:cNvPr>
          <p:cNvSpPr/>
          <p:nvPr/>
        </p:nvSpPr>
        <p:spPr>
          <a:xfrm>
            <a:off x="3676621" y="3759075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25EBF3F-C647-4A05-9952-EC2F882E26F3}"/>
              </a:ext>
            </a:extLst>
          </p:cNvPr>
          <p:cNvSpPr/>
          <p:nvPr/>
        </p:nvSpPr>
        <p:spPr>
          <a:xfrm>
            <a:off x="4835746" y="4351777"/>
            <a:ext cx="540000" cy="511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6A05401-D334-40BF-9C85-0E2D1CD81FA2}"/>
              </a:ext>
            </a:extLst>
          </p:cNvPr>
          <p:cNvSpPr/>
          <p:nvPr/>
        </p:nvSpPr>
        <p:spPr>
          <a:xfrm>
            <a:off x="4216621" y="5074613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10B6AEE-75AC-49A1-A7ED-27025F03835E}"/>
              </a:ext>
            </a:extLst>
          </p:cNvPr>
          <p:cNvCxnSpPr>
            <a:cxnSpLocks/>
            <a:stCxn id="21" idx="3"/>
            <a:endCxn id="22" idx="7"/>
          </p:cNvCxnSpPr>
          <p:nvPr/>
        </p:nvCxnSpPr>
        <p:spPr>
          <a:xfrm flipH="1">
            <a:off x="4677540" y="4787985"/>
            <a:ext cx="237287" cy="36570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68779C8-C3AB-4F80-B8D0-998663E1AA45}"/>
              </a:ext>
            </a:extLst>
          </p:cNvPr>
          <p:cNvCxnSpPr>
            <a:cxnSpLocks/>
            <a:stCxn id="20" idx="6"/>
            <a:endCxn id="21" idx="1"/>
          </p:cNvCxnSpPr>
          <p:nvPr/>
        </p:nvCxnSpPr>
        <p:spPr>
          <a:xfrm>
            <a:off x="4216621" y="4029075"/>
            <a:ext cx="698206" cy="39754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782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AA4D-6D13-4E84-8706-0BD5978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笛卡爾樹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C43C851-B94B-476C-B960-C94ACB51F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7841"/>
              </p:ext>
            </p:extLst>
          </p:nvPr>
        </p:nvGraphicFramePr>
        <p:xfrm>
          <a:off x="5821238" y="1787525"/>
          <a:ext cx="508640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801">
                  <a:extLst>
                    <a:ext uri="{9D8B030D-6E8A-4147-A177-3AD203B41FA5}">
                      <a16:colId xmlns:a16="http://schemas.microsoft.com/office/drawing/2014/main" val="174743000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75924637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61462871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38944551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984466738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054771987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2887930645"/>
                    </a:ext>
                  </a:extLst>
                </a:gridCol>
                <a:gridCol w="635801">
                  <a:extLst>
                    <a:ext uri="{9D8B030D-6E8A-4147-A177-3AD203B41FA5}">
                      <a16:colId xmlns:a16="http://schemas.microsoft.com/office/drawing/2014/main" val="1673132306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9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8392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13DDDA7B-BD2A-4FCE-8C18-1E60F5E1FF18}"/>
              </a:ext>
            </a:extLst>
          </p:cNvPr>
          <p:cNvSpPr/>
          <p:nvPr/>
        </p:nvSpPr>
        <p:spPr>
          <a:xfrm>
            <a:off x="8532261" y="5870326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4CF271E-3B0E-4873-88FD-D06123E12069}"/>
              </a:ext>
            </a:extLst>
          </p:cNvPr>
          <p:cNvSpPr/>
          <p:nvPr/>
        </p:nvSpPr>
        <p:spPr>
          <a:xfrm>
            <a:off x="9083669" y="5118540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31C4755A-170A-4E70-B730-5163C2DD0757}"/>
              </a:ext>
            </a:extLst>
          </p:cNvPr>
          <p:cNvSpPr/>
          <p:nvPr/>
        </p:nvSpPr>
        <p:spPr>
          <a:xfrm>
            <a:off x="9691342" y="4471581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DE000A5-6929-425B-9396-5A98FE1591CF}"/>
              </a:ext>
            </a:extLst>
          </p:cNvPr>
          <p:cNvSpPr/>
          <p:nvPr/>
        </p:nvSpPr>
        <p:spPr>
          <a:xfrm>
            <a:off x="10367646" y="3182813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7AEC0C6-1415-4C03-9B99-DDD53DF8C35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364442" y="4203701"/>
            <a:ext cx="1596900" cy="26788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4159D115-3401-4B43-BB8C-0B2ED5819884}"/>
              </a:ext>
            </a:extLst>
          </p:cNvPr>
          <p:cNvCxnSpPr>
            <a:cxnSpLocks/>
            <a:stCxn id="13" idx="3"/>
            <a:endCxn id="6" idx="0"/>
          </p:cNvCxnSpPr>
          <p:nvPr/>
        </p:nvCxnSpPr>
        <p:spPr>
          <a:xfrm flipH="1">
            <a:off x="9353669" y="4932500"/>
            <a:ext cx="416754" cy="18604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9EC300B0-FF62-40EB-AB27-1FE878644557}"/>
              </a:ext>
            </a:extLst>
          </p:cNvPr>
          <p:cNvCxnSpPr>
            <a:cxnSpLocks/>
            <a:stCxn id="6" idx="3"/>
            <a:endCxn id="5" idx="7"/>
          </p:cNvCxnSpPr>
          <p:nvPr/>
        </p:nvCxnSpPr>
        <p:spPr>
          <a:xfrm flipH="1">
            <a:off x="8993180" y="5579459"/>
            <a:ext cx="169570" cy="369948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66325F53-D407-48FE-AFFE-AB8947079B85}"/>
              </a:ext>
            </a:extLst>
          </p:cNvPr>
          <p:cNvCxnSpPr>
            <a:cxnSpLocks/>
            <a:stCxn id="15" idx="2"/>
            <a:endCxn id="41" idx="0"/>
          </p:cNvCxnSpPr>
          <p:nvPr/>
        </p:nvCxnSpPr>
        <p:spPr>
          <a:xfrm flipH="1">
            <a:off x="8089680" y="3452813"/>
            <a:ext cx="2277966" cy="418976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>
            <a:extLst>
              <a:ext uri="{FF2B5EF4-FFF2-40B4-BE49-F238E27FC236}">
                <a16:creationId xmlns:a16="http://schemas.microsoft.com/office/drawing/2014/main" id="{8D82D006-139E-4A4C-B84C-0D1BA27D7453}"/>
              </a:ext>
            </a:extLst>
          </p:cNvPr>
          <p:cNvSpPr/>
          <p:nvPr/>
        </p:nvSpPr>
        <p:spPr>
          <a:xfrm>
            <a:off x="7819680" y="3871789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E4C1BA05-FF5F-4426-906A-FB86BD45D2C4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 flipH="1">
            <a:off x="6213255" y="4141789"/>
            <a:ext cx="1606425" cy="41299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>
            <a:extLst>
              <a:ext uri="{FF2B5EF4-FFF2-40B4-BE49-F238E27FC236}">
                <a16:creationId xmlns:a16="http://schemas.microsoft.com/office/drawing/2014/main" id="{D5FD4490-CE18-432E-AFE1-1CA7F0F136AE}"/>
              </a:ext>
            </a:extLst>
          </p:cNvPr>
          <p:cNvSpPr/>
          <p:nvPr/>
        </p:nvSpPr>
        <p:spPr>
          <a:xfrm>
            <a:off x="5943255" y="4554788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4C31EFCE-AF1D-414D-B741-3D71431E1F2C}"/>
              </a:ext>
            </a:extLst>
          </p:cNvPr>
          <p:cNvSpPr/>
          <p:nvPr/>
        </p:nvSpPr>
        <p:spPr>
          <a:xfrm>
            <a:off x="7102380" y="5147490"/>
            <a:ext cx="540000" cy="5110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468AE793-4CA6-4EC1-97EF-32B2441ABFCB}"/>
              </a:ext>
            </a:extLst>
          </p:cNvPr>
          <p:cNvSpPr/>
          <p:nvPr/>
        </p:nvSpPr>
        <p:spPr>
          <a:xfrm>
            <a:off x="6483255" y="5870326"/>
            <a:ext cx="540000" cy="5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B13159F8-F2D3-45CE-A3B0-119CC29619A9}"/>
              </a:ext>
            </a:extLst>
          </p:cNvPr>
          <p:cNvCxnSpPr>
            <a:cxnSpLocks/>
            <a:stCxn id="44" idx="3"/>
            <a:endCxn id="45" idx="7"/>
          </p:cNvCxnSpPr>
          <p:nvPr/>
        </p:nvCxnSpPr>
        <p:spPr>
          <a:xfrm flipH="1">
            <a:off x="6944174" y="5583698"/>
            <a:ext cx="237287" cy="365709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767DE3ED-73C7-4201-B287-D7F6E498B930}"/>
              </a:ext>
            </a:extLst>
          </p:cNvPr>
          <p:cNvCxnSpPr>
            <a:cxnSpLocks/>
            <a:stCxn id="43" idx="6"/>
            <a:endCxn id="44" idx="1"/>
          </p:cNvCxnSpPr>
          <p:nvPr/>
        </p:nvCxnSpPr>
        <p:spPr>
          <a:xfrm>
            <a:off x="6483255" y="4824788"/>
            <a:ext cx="698206" cy="39754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4FF3E18-41D8-4308-803F-27366FDE6ADB}"/>
              </a:ext>
            </a:extLst>
          </p:cNvPr>
          <p:cNvSpPr txBox="1"/>
          <p:nvPr/>
        </p:nvSpPr>
        <p:spPr>
          <a:xfrm>
            <a:off x="782355" y="3394181"/>
            <a:ext cx="4533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Cartesian tree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LCA(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35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3639</TotalTime>
  <Words>1625</Words>
  <Application>Microsoft Office PowerPoint</Application>
  <PresentationFormat>寬螢幕</PresentationFormat>
  <Paragraphs>817</Paragraphs>
  <Slides>24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2" baseType="lpstr"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佈景主題</vt:lpstr>
      <vt:lpstr>The LCA Problem Revisited</vt:lpstr>
      <vt:lpstr>Abstract</vt:lpstr>
      <vt:lpstr>Least Common Ancestor (LCA)</vt:lpstr>
      <vt:lpstr>Previous Search</vt:lpstr>
      <vt:lpstr>Range Minimum Query (RMQ)</vt:lpstr>
      <vt:lpstr>Reduce LCA to RMQ</vt:lpstr>
      <vt:lpstr>Reduce LCA to RMQ</vt:lpstr>
      <vt:lpstr>RMQ</vt:lpstr>
      <vt:lpstr>RMQ – Brute Force</vt:lpstr>
      <vt:lpstr>*RMQ – Buckets</vt:lpstr>
      <vt:lpstr>RMQ – ST</vt:lpstr>
      <vt:lpstr>RMQ – ST</vt:lpstr>
      <vt:lpstr>Faster RMQ </vt:lpstr>
      <vt:lpstr>Faster RMQ </vt:lpstr>
      <vt:lpstr>Faster RMQ – Query </vt:lpstr>
      <vt:lpstr>± 1 RMQ </vt:lpstr>
      <vt:lpstr>± 1 RMQ – Observation 5 &amp; Lemma 6</vt:lpstr>
      <vt:lpstr>± 1 RMQ </vt:lpstr>
      <vt:lpstr>General RMQ</vt:lpstr>
      <vt:lpstr>Cartesian tree (笛卡爾樹)</vt:lpstr>
      <vt:lpstr>Cartesian tree (笛卡爾樹)</vt:lpstr>
      <vt:lpstr>Cartesian tree (笛卡爾樹)</vt:lpstr>
      <vt:lpstr>Cartesian tree (笛卡爾樹)</vt:lpstr>
      <vt:lpstr>Cartesian tree (笛卡爾樹)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育誠 張</cp:lastModifiedBy>
  <cp:revision>1176</cp:revision>
  <dcterms:created xsi:type="dcterms:W3CDTF">2020-01-13T05:19:55Z</dcterms:created>
  <dcterms:modified xsi:type="dcterms:W3CDTF">2020-10-22T10:21:27Z</dcterms:modified>
</cp:coreProperties>
</file>