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321" r:id="rId2"/>
    <p:sldId id="311" r:id="rId3"/>
    <p:sldId id="342" r:id="rId4"/>
    <p:sldId id="333" r:id="rId5"/>
    <p:sldId id="306" r:id="rId6"/>
    <p:sldId id="343" r:id="rId7"/>
    <p:sldId id="338" r:id="rId8"/>
    <p:sldId id="344" r:id="rId9"/>
    <p:sldId id="345" r:id="rId10"/>
    <p:sldId id="329" r:id="rId11"/>
    <p:sldId id="34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85948" autoAdjust="0"/>
  </p:normalViewPr>
  <p:slideViewPr>
    <p:cSldViewPr snapToGrid="0">
      <p:cViewPr varScale="1">
        <p:scale>
          <a:sx n="98" d="100"/>
          <a:sy n="98" d="100"/>
        </p:scale>
        <p:origin x="2004" y="9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2020/7/21</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3114125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10424347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1746490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if the objective values of solutions of two different regions are the same, their potentials may still be different because one region may have been searched for many more times than the other region.</a:t>
            </a:r>
          </a:p>
          <a:p>
            <a:endParaRPr lang="zh-TW" altLang="en-US" b="0"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1370413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b="0"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11144311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3017039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36745943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21208091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GA1 : the number of chromosomes is set equal to 8; the crossover rate to 0.8; and the mutation rate to 0.1.</a:t>
            </a:r>
          </a:p>
          <a:p>
            <a:r>
              <a:rPr lang="en-US" altLang="zh-TW" dirty="0"/>
              <a:t>GA2 : the number of chromosomes is set equal to 20; the crossover rate to 0.8; and the mutation rate to 0.2.</a:t>
            </a:r>
          </a:p>
          <a:p>
            <a:r>
              <a:rPr lang="en-US" altLang="zh-TW" dirty="0"/>
              <a:t>SE:  The number of searchers n is set equal to 4; the population size h to 4; the number of possible goods (the number of samples of each region) w to 2; t a j = 1; and t b j = 1 initially</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5548378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2020/7/21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2020/7/21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2020/7/21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2020/7/21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2020/7/21</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2020/7/21</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2020/7/21</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2020/7/21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2020/7/21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2020/7/21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2020/7/21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2020/7/21</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397908" y="1095691"/>
            <a:ext cx="8348184" cy="877881"/>
          </a:xfrm>
        </p:spPr>
        <p:txBody>
          <a:bodyPr>
            <a:noAutofit/>
          </a:bodyPr>
          <a:lstStyle/>
          <a:p>
            <a:r>
              <a:rPr lang="en-US" altLang="zh-TW" sz="3600" dirty="0">
                <a:latin typeface="Times New Roman" panose="02020603050405020304" pitchFamily="18" charset="0"/>
                <a:cs typeface="Times New Roman" panose="02020603050405020304" pitchFamily="18" charset="0"/>
              </a:rPr>
              <a:t>Search Economics: A Solution Space and</a:t>
            </a:r>
            <a:br>
              <a:rPr lang="en-US" altLang="zh-TW" sz="3600" dirty="0">
                <a:latin typeface="Times New Roman" panose="02020603050405020304" pitchFamily="18" charset="0"/>
                <a:cs typeface="Times New Roman" panose="02020603050405020304" pitchFamily="18" charset="0"/>
              </a:rPr>
            </a:br>
            <a:r>
              <a:rPr lang="en-US" altLang="zh-TW" sz="3600" dirty="0">
                <a:latin typeface="Times New Roman" panose="02020603050405020304" pitchFamily="18" charset="0"/>
                <a:cs typeface="Times New Roman" panose="02020603050405020304" pitchFamily="18" charset="0"/>
              </a:rPr>
              <a:t>Computing Resource Aware Search Method</a:t>
            </a: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236110" y="3070388"/>
            <a:ext cx="8536249" cy="717223"/>
          </a:xfrm>
        </p:spPr>
        <p:txBody>
          <a:bodyPr>
            <a:noAutofit/>
          </a:bodyPr>
          <a:lstStyle/>
          <a:p>
            <a:r>
              <a:rPr lang="en-US" altLang="zh-TW" sz="2800" dirty="0">
                <a:latin typeface="Times New Roman" panose="02020603050405020304" pitchFamily="18" charset="0"/>
                <a:cs typeface="Times New Roman" panose="02020603050405020304" pitchFamily="18" charset="0"/>
              </a:rPr>
              <a:t>Chun-Wei Tsai</a:t>
            </a:r>
            <a:endParaRPr lang="fr-FR" altLang="zh-TW"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 </a:t>
            </a:r>
            <a:r>
              <a:rPr lang="en-US" altLang="zh-TW" sz="1800" dirty="0" err="1">
                <a:latin typeface="Times New Roman" panose="02020603050405020304" pitchFamily="18" charset="0"/>
                <a:cs typeface="Times New Roman" panose="02020603050405020304" pitchFamily="18" charset="0"/>
              </a:rPr>
              <a:t>Tz</a:t>
            </a:r>
            <a:r>
              <a:rPr lang="en-US" altLang="zh-TW" sz="1800" dirty="0">
                <a:latin typeface="Times New Roman" panose="02020603050405020304" pitchFamily="18" charset="0"/>
                <a:cs typeface="Times New Roman" panose="02020603050405020304" pitchFamily="18" charset="0"/>
              </a:rPr>
              <a:t>-Hsu Lee</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 Jul 21, 2020.</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矩形 5">
            <a:extLst>
              <a:ext uri="{FF2B5EF4-FFF2-40B4-BE49-F238E27FC236}">
                <a16:creationId xmlns:a16="http://schemas.microsoft.com/office/drawing/2014/main" id="{198F8570-D18F-4FAE-A5A6-644CF99DDEB2}"/>
              </a:ext>
            </a:extLst>
          </p:cNvPr>
          <p:cNvSpPr/>
          <p:nvPr/>
        </p:nvSpPr>
        <p:spPr>
          <a:xfrm>
            <a:off x="692791" y="3997050"/>
            <a:ext cx="7622889" cy="830997"/>
          </a:xfrm>
          <a:prstGeom prst="rect">
            <a:avLst/>
          </a:prstGeom>
        </p:spPr>
        <p:txBody>
          <a:bodyPr wrap="square">
            <a:spAutoFit/>
          </a:bodyPr>
          <a:lstStyle/>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2015 IEEE International Conference on Systems, Man, and Cybernetics. IEEE, 2015. p. 2555-2560.</a:t>
            </a:r>
          </a:p>
        </p:txBody>
      </p:sp>
    </p:spTree>
    <p:extLst>
      <p:ext uri="{BB962C8B-B14F-4D97-AF65-F5344CB8AC3E}">
        <p14:creationId xmlns:p14="http://schemas.microsoft.com/office/powerpoint/2010/main" val="829859479"/>
      </p:ext>
    </p:extLst>
  </p:cSld>
  <p:clrMapOvr>
    <a:masterClrMapping/>
  </p:clrMapOvr>
  <mc:AlternateContent xmlns:mc="http://schemas.openxmlformats.org/markup-compatibility/2006" xmlns:p14="http://schemas.microsoft.com/office/powerpoint/2010/main">
    <mc:Choice Requires="p14">
      <p:transition spd="slow" p14:dur="2000" advTm="2519">
        <p:cut/>
      </p:transition>
    </mc:Choice>
    <mc:Fallback xmlns="">
      <p:transition spd="slow" advTm="2519">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961795"/>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Although most metaheuristic algorithms claimed that they have a chance to find the optimal solution if given sufficient computation time. In fact, a metaheuristic algorithm may search the same region or particular solutions for a long time when the search process is approaching the convergence state. The question that arises now is, how to invest the limited computing resource to search for the “solutions on the right region” instead of wasting time to search for the irrelevant solutions. This paper introduces a new metaheuristic algorithm, called search economics (SE), for solving optimization problems. </a:t>
            </a:r>
          </a:p>
        </p:txBody>
      </p:sp>
    </p:spTree>
    <p:extLst>
      <p:ext uri="{BB962C8B-B14F-4D97-AF65-F5344CB8AC3E}">
        <p14:creationId xmlns:p14="http://schemas.microsoft.com/office/powerpoint/2010/main" val="39944839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961795"/>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The basic idea of the SE is to depict the solution space based on the solutions that have been checked by the search algorithm and use the “information of solution space” to search for the solution on the convergence process. Based on these concepts, the investment of a search process will be more meaningful and thus not easy to fall into local optimum at the early iterations. The experimental results show that the proposed algorithm can provide a result that is significantly better than those provided by state-of-the-art metaheuristic algorithms in terms of the quality.</a:t>
            </a:r>
          </a:p>
        </p:txBody>
      </p:sp>
    </p:spTree>
    <p:extLst>
      <p:ext uri="{BB962C8B-B14F-4D97-AF65-F5344CB8AC3E}">
        <p14:creationId xmlns:p14="http://schemas.microsoft.com/office/powerpoint/2010/main" val="294658127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Metaheuristic Algorithm</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628086" y="4313675"/>
            <a:ext cx="7887821" cy="1302889"/>
          </a:xfrm>
        </p:spPr>
        <p:txBody>
          <a:bodyPr>
            <a:noAutofit/>
          </a:bodyPr>
          <a:lstStyle/>
          <a:p>
            <a:r>
              <a:rPr lang="en-US" altLang="zh-TW" sz="2400" dirty="0">
                <a:latin typeface="Times New Roman" panose="02020603050405020304" pitchFamily="18" charset="0"/>
                <a:cs typeface="Times New Roman" panose="02020603050405020304" pitchFamily="18" charset="0"/>
              </a:rPr>
              <a:t> Search the same region or particular solutions for a long time.</a:t>
            </a:r>
          </a:p>
          <a:p>
            <a:r>
              <a:rPr lang="en-US" altLang="zh-TW" sz="2400" dirty="0">
                <a:latin typeface="Times New Roman" panose="02020603050405020304" pitchFamily="18" charset="0"/>
                <a:cs typeface="Times New Roman" panose="02020603050405020304" pitchFamily="18" charset="0"/>
              </a:rPr>
              <a:t>No way to exit the local optimum.</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pic>
        <p:nvPicPr>
          <p:cNvPr id="3" name="圖片 2">
            <a:extLst>
              <a:ext uri="{FF2B5EF4-FFF2-40B4-BE49-F238E27FC236}">
                <a16:creationId xmlns:a16="http://schemas.microsoft.com/office/drawing/2014/main" id="{F7CEDBF1-C057-447B-9172-A5C64717B8A6}"/>
              </a:ext>
            </a:extLst>
          </p:cNvPr>
          <p:cNvPicPr>
            <a:picLocks noChangeAspect="1"/>
          </p:cNvPicPr>
          <p:nvPr/>
        </p:nvPicPr>
        <p:blipFill>
          <a:blip r:embed="rId4"/>
          <a:stretch>
            <a:fillRect/>
          </a:stretch>
        </p:blipFill>
        <p:spPr>
          <a:xfrm>
            <a:off x="1582662" y="1271089"/>
            <a:ext cx="5978668" cy="2430529"/>
          </a:xfrm>
          <a:prstGeom prst="rect">
            <a:avLst/>
          </a:prstGeom>
        </p:spPr>
      </p:pic>
    </p:spTree>
    <p:extLst>
      <p:ext uri="{BB962C8B-B14F-4D97-AF65-F5344CB8AC3E}">
        <p14:creationId xmlns:p14="http://schemas.microsoft.com/office/powerpoint/2010/main" val="215285388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Search Economics(1/2)</a:t>
            </a: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734957" y="3553518"/>
            <a:ext cx="7887821" cy="4354433"/>
          </a:xfrm>
        </p:spPr>
        <p:txBody>
          <a:bodyPr>
            <a:noAutofit/>
          </a:bodyPr>
          <a:lstStyle/>
          <a:p>
            <a:r>
              <a:rPr lang="en-US" altLang="zh-TW" sz="2400" dirty="0">
                <a:latin typeface="Times New Roman" panose="02020603050405020304" pitchFamily="18" charset="0"/>
                <a:cs typeface="Times New Roman" panose="02020603050405020304" pitchFamily="18" charset="0"/>
              </a:rPr>
              <a:t>The solution space is regarded as an investment.</a:t>
            </a:r>
          </a:p>
          <a:p>
            <a:r>
              <a:rPr lang="en-US" altLang="zh-TW" sz="2400" dirty="0">
                <a:latin typeface="Times New Roman" panose="02020603050405020304" pitchFamily="18" charset="0"/>
                <a:cs typeface="Times New Roman" panose="02020603050405020304" pitchFamily="18" charset="0"/>
              </a:rPr>
              <a:t>Reduce the number of redundant searches in the search process.</a:t>
            </a:r>
            <a:endParaRPr lang="en-US" altLang="zh-TW" sz="2400" dirty="0">
              <a:solidFill>
                <a:srgbClr val="FF0000"/>
              </a:solidFill>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The number of times a region is searched.</a:t>
            </a:r>
          </a:p>
          <a:p>
            <a:r>
              <a:rPr lang="en-US" altLang="zh-TW" sz="2400" dirty="0">
                <a:latin typeface="Times New Roman" panose="02020603050405020304" pitchFamily="18" charset="0"/>
                <a:cs typeface="Times New Roman" panose="02020603050405020304" pitchFamily="18" charset="0"/>
              </a:rPr>
              <a:t>The region which has not been searched for a long time will have a higher chance to find better solutions than the other regions which have been searched frequently.</a:t>
            </a:r>
          </a:p>
          <a:p>
            <a:endParaRPr lang="en-US" altLang="zh-TW" sz="24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95528922-FFCA-4070-8851-80DACE8BDC79}"/>
              </a:ext>
            </a:extLst>
          </p:cNvPr>
          <p:cNvPicPr>
            <a:picLocks noChangeAspect="1"/>
          </p:cNvPicPr>
          <p:nvPr/>
        </p:nvPicPr>
        <p:blipFill>
          <a:blip r:embed="rId4"/>
          <a:stretch>
            <a:fillRect/>
          </a:stretch>
        </p:blipFill>
        <p:spPr>
          <a:xfrm>
            <a:off x="1795380" y="1143558"/>
            <a:ext cx="5553240" cy="2194002"/>
          </a:xfrm>
          <a:prstGeom prst="rect">
            <a:avLst/>
          </a:prstGeom>
        </p:spPr>
      </p:pic>
    </p:spTree>
    <p:extLst>
      <p:ext uri="{BB962C8B-B14F-4D97-AF65-F5344CB8AC3E}">
        <p14:creationId xmlns:p14="http://schemas.microsoft.com/office/powerpoint/2010/main" val="113081170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Search Economics(2/2)</a:t>
            </a: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3" name="圖片 2">
            <a:extLst>
              <a:ext uri="{FF2B5EF4-FFF2-40B4-BE49-F238E27FC236}">
                <a16:creationId xmlns:a16="http://schemas.microsoft.com/office/drawing/2014/main" id="{CD0D90DF-6AF7-4E8C-822B-95692BAD0B1E}"/>
              </a:ext>
            </a:extLst>
          </p:cNvPr>
          <p:cNvPicPr>
            <a:picLocks noChangeAspect="1"/>
          </p:cNvPicPr>
          <p:nvPr/>
        </p:nvPicPr>
        <p:blipFill>
          <a:blip r:embed="rId4"/>
          <a:stretch>
            <a:fillRect/>
          </a:stretch>
        </p:blipFill>
        <p:spPr>
          <a:xfrm>
            <a:off x="1662426" y="1189523"/>
            <a:ext cx="5819148" cy="2371538"/>
          </a:xfrm>
          <a:prstGeom prst="rect">
            <a:avLst/>
          </a:prstGeom>
        </p:spPr>
      </p:pic>
      <p:sp>
        <p:nvSpPr>
          <p:cNvPr id="9" name="內容版面配置區 5">
            <a:extLst>
              <a:ext uri="{FF2B5EF4-FFF2-40B4-BE49-F238E27FC236}">
                <a16:creationId xmlns:a16="http://schemas.microsoft.com/office/drawing/2014/main" id="{D550756A-BA51-484E-94EB-DC360CF54CA7}"/>
              </a:ext>
            </a:extLst>
          </p:cNvPr>
          <p:cNvSpPr>
            <a:spLocks noGrp="1"/>
          </p:cNvSpPr>
          <p:nvPr>
            <p:ph idx="1"/>
          </p:nvPr>
        </p:nvSpPr>
        <p:spPr>
          <a:xfrm>
            <a:off x="734957" y="3939411"/>
            <a:ext cx="7887821" cy="1984271"/>
          </a:xfrm>
        </p:spPr>
        <p:txBody>
          <a:bodyPr>
            <a:noAutofit/>
          </a:bodyPr>
          <a:lstStyle/>
          <a:p>
            <a:r>
              <a:rPr lang="en-US" altLang="zh-TW" sz="2400" dirty="0">
                <a:latin typeface="Times New Roman" panose="02020603050405020304" pitchFamily="18" charset="0"/>
                <a:cs typeface="Times New Roman" panose="02020603050405020304" pitchFamily="18" charset="0"/>
              </a:rPr>
              <a:t>The Resource Arrangement : assign the searchers to the regions of the market.</a:t>
            </a:r>
            <a:endParaRPr lang="en-US" altLang="zh-TW" sz="2400" dirty="0">
              <a:solidFill>
                <a:srgbClr val="FF0000"/>
              </a:solidFill>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The Vision Search : the role of searching.</a:t>
            </a:r>
          </a:p>
          <a:p>
            <a:r>
              <a:rPr lang="en-US" altLang="zh-TW" sz="2400" dirty="0">
                <a:latin typeface="Times New Roman" panose="02020603050405020304" pitchFamily="18" charset="0"/>
                <a:cs typeface="Times New Roman" panose="02020603050405020304" pitchFamily="18" charset="0"/>
              </a:rPr>
              <a:t>The Marketing Research : keep track of information of each region for the search operators.</a:t>
            </a:r>
          </a:p>
          <a:p>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endParaRPr lang="en-US" altLang="zh-TW" sz="24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099406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Resource Arrangement</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mc:AlternateContent xmlns:mc="http://schemas.openxmlformats.org/markup-compatibility/2006">
        <mc:Choice xmlns:a14="http://schemas.microsoft.com/office/drawing/2010/main" Requires="a14">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628087" y="3746465"/>
                <a:ext cx="7887821" cy="4354433"/>
              </a:xfrm>
            </p:spPr>
            <p:txBody>
              <a:bodyPr>
                <a:noAutofit/>
              </a:bodyPr>
              <a:lstStyle/>
              <a:p>
                <a:pPr marL="457200" indent="-457200">
                  <a:buAutoNum type="arabicPeriod"/>
                </a:pPr>
                <a:r>
                  <a:rPr lang="en-US" altLang="zh-TW" sz="2400" dirty="0">
                    <a:latin typeface="Times New Roman" panose="02020603050405020304" pitchFamily="18" charset="0"/>
                    <a:cs typeface="Times New Roman" panose="02020603050405020304" pitchFamily="18" charset="0"/>
                  </a:rPr>
                  <a:t>Divide the market (the solution space) into h regions.</a:t>
                </a:r>
              </a:p>
              <a:p>
                <a:pPr marL="457200" indent="-457200">
                  <a:buAutoNum type="arabicPeriod"/>
                </a:pPr>
                <a:r>
                  <a:rPr lang="en-US" altLang="zh-TW" sz="2400" dirty="0">
                    <a:latin typeface="Times New Roman" panose="02020603050405020304" pitchFamily="18" charset="0"/>
                    <a:cs typeface="Times New Roman" panose="02020603050405020304" pitchFamily="18" charset="0"/>
                  </a:rPr>
                  <a:t>Create w possible goods (candidate solutions) for each region </a:t>
                </a:r>
                <a14:m>
                  <m:oMath xmlns:m="http://schemas.openxmlformats.org/officeDocument/2006/math">
                    <m:sSub>
                      <m:sSubPr>
                        <m:ctrlPr>
                          <a:rPr lang="en-US" altLang="zh-TW" sz="2400" smtClean="0">
                            <a:latin typeface="Cambria Math" panose="02040503050406030204" pitchFamily="18" charset="0"/>
                          </a:rPr>
                        </m:ctrlPr>
                      </m:sSubPr>
                      <m:e>
                        <m:r>
                          <a:rPr lang="en-US" altLang="zh-TW" sz="2400" i="1" smtClean="0">
                            <a:latin typeface="Cambria Math" panose="02040503050406030204" pitchFamily="18" charset="0"/>
                          </a:rPr>
                          <m:t>𝑟</m:t>
                        </m:r>
                      </m:e>
                      <m:sub>
                        <m:r>
                          <a:rPr lang="en-US" altLang="zh-TW" sz="2400" i="1" smtClean="0">
                            <a:latin typeface="Cambria Math" panose="02040503050406030204" pitchFamily="18" charset="0"/>
                          </a:rPr>
                          <m:t>𝑗</m:t>
                        </m:r>
                      </m:sub>
                    </m:sSub>
                  </m:oMath>
                </a14:m>
                <a:r>
                  <a:rPr lang="en-US" altLang="zh-TW" sz="2400" dirty="0">
                    <a:latin typeface="Times New Roman" panose="02020603050405020304" pitchFamily="18" charset="0"/>
                    <a:cs typeface="Times New Roman" panose="02020603050405020304" pitchFamily="18" charset="0"/>
                  </a:rPr>
                  <a:t> , all randomly.</a:t>
                </a:r>
              </a:p>
              <a:p>
                <a:pPr marL="457200" indent="-457200">
                  <a:buAutoNum type="arabicPeriod"/>
                </a:pPr>
                <a:r>
                  <a:rPr lang="en-US" altLang="zh-TW" sz="2400" dirty="0">
                    <a:latin typeface="Times New Roman" panose="02020603050405020304" pitchFamily="18" charset="0"/>
                    <a:cs typeface="Times New Roman" panose="02020603050405020304" pitchFamily="18" charset="0"/>
                  </a:rPr>
                  <a:t>Find the best good </a:t>
                </a:r>
                <a14:m>
                  <m:oMath xmlns:m="http://schemas.openxmlformats.org/officeDocument/2006/math">
                    <m:sSubSup>
                      <m:sSubSupPr>
                        <m:ctrlPr>
                          <a:rPr lang="en-US" altLang="zh-TW" sz="2400" dirty="0" smtClean="0">
                            <a:latin typeface="Cambria Math" panose="02040503050406030204" pitchFamily="18" charset="0"/>
                          </a:rPr>
                        </m:ctrlPr>
                      </m:sSubSupPr>
                      <m:e>
                        <m:r>
                          <a:rPr lang="en-US" altLang="zh-TW" sz="2400" i="1" dirty="0">
                            <a:latin typeface="Cambria Math" panose="02040503050406030204" pitchFamily="18" charset="0"/>
                          </a:rPr>
                          <m:t>𝑟</m:t>
                        </m:r>
                      </m:e>
                      <m:sub>
                        <m:r>
                          <a:rPr lang="en-US" altLang="zh-TW" sz="2400" i="1" dirty="0">
                            <a:latin typeface="Cambria Math" panose="02040503050406030204" pitchFamily="18" charset="0"/>
                          </a:rPr>
                          <m:t>𝑗</m:t>
                        </m:r>
                      </m:sub>
                      <m:sup>
                        <m:r>
                          <a:rPr lang="en-US" altLang="zh-TW" sz="2400" i="1" dirty="0">
                            <a:latin typeface="Cambria Math" panose="02040503050406030204" pitchFamily="18" charset="0"/>
                          </a:rPr>
                          <m:t>𝑏</m:t>
                        </m:r>
                      </m:sup>
                    </m:sSubSup>
                  </m:oMath>
                </a14:m>
                <a:r>
                  <a:rPr lang="en-US" altLang="zh-TW" sz="2400" dirty="0">
                    <a:latin typeface="Times New Roman" panose="02020603050405020304" pitchFamily="18" charset="0"/>
                    <a:cs typeface="Times New Roman" panose="02020603050405020304" pitchFamily="18" charset="0"/>
                  </a:rPr>
                  <a:t>of each region </a:t>
                </a:r>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𝑟</m:t>
                        </m:r>
                      </m:e>
                      <m:sub>
                        <m:r>
                          <a:rPr lang="en-US" altLang="zh-TW" sz="2400" i="1">
                            <a:latin typeface="Cambria Math" panose="02040503050406030204" pitchFamily="18" charset="0"/>
                          </a:rPr>
                          <m:t>𝑗</m:t>
                        </m:r>
                      </m:sub>
                    </m:sSub>
                  </m:oMath>
                </a14:m>
                <a:r>
                  <a:rPr lang="en-US" altLang="zh-TW" sz="2400" dirty="0">
                    <a:latin typeface="Times New Roman" panose="02020603050405020304" pitchFamily="18" charset="0"/>
                    <a:cs typeface="Times New Roman" panose="02020603050405020304" pitchFamily="18" charset="0"/>
                  </a:rPr>
                  <a:t> .</a:t>
                </a:r>
              </a:p>
              <a:p>
                <a:pPr marL="457200" indent="-457200">
                  <a:buAutoNum type="arabicPeriod"/>
                </a:pPr>
                <a:r>
                  <a:rPr lang="en-US" altLang="zh-TW" sz="2400" dirty="0">
                    <a:latin typeface="Times New Roman" panose="02020603050405020304" pitchFamily="18" charset="0"/>
                    <a:cs typeface="Times New Roman" panose="02020603050405020304" pitchFamily="18" charset="0"/>
                  </a:rPr>
                  <a:t>The </a:t>
                </a:r>
                <a:r>
                  <a:rPr lang="en-US" altLang="zh-TW" sz="2400" dirty="0" err="1">
                    <a:latin typeface="Times New Roman" panose="02020603050405020304" pitchFamily="18" charset="0"/>
                    <a:cs typeface="Times New Roman" panose="02020603050405020304" pitchFamily="18" charset="0"/>
                  </a:rPr>
                  <a:t>i-th</a:t>
                </a:r>
                <a:r>
                  <a:rPr lang="en-US" altLang="zh-TW" sz="2400" dirty="0">
                    <a:latin typeface="Times New Roman" panose="02020603050405020304" pitchFamily="18" charset="0"/>
                    <a:cs typeface="Times New Roman" panose="02020603050405020304" pitchFamily="18" charset="0"/>
                  </a:rPr>
                  <a:t> searcher will randomly choose a good in the </a:t>
                </a:r>
                <a:r>
                  <a:rPr lang="en-US" altLang="zh-TW" sz="2400" dirty="0" err="1">
                    <a:latin typeface="Times New Roman" panose="02020603050405020304" pitchFamily="18" charset="0"/>
                    <a:cs typeface="Times New Roman" panose="02020603050405020304" pitchFamily="18" charset="0"/>
                  </a:rPr>
                  <a:t>i-th</a:t>
                </a:r>
                <a:r>
                  <a:rPr lang="en-US" altLang="zh-TW" sz="2400" dirty="0">
                    <a:latin typeface="Times New Roman" panose="02020603050405020304" pitchFamily="18" charset="0"/>
                    <a:cs typeface="Times New Roman" panose="02020603050405020304" pitchFamily="18" charset="0"/>
                  </a:rPr>
                  <a:t> region to invest.</a:t>
                </a:r>
              </a:p>
              <a:p>
                <a:pPr marL="457200" indent="-457200">
                  <a:buAutoNum type="arabicPeriod"/>
                </a:pPr>
                <a:endParaRPr lang="en-US" altLang="zh-TW" sz="2400" dirty="0">
                  <a:latin typeface="Times New Roman" panose="02020603050405020304" pitchFamily="18" charset="0"/>
                  <a:cs typeface="Times New Roman" panose="02020603050405020304" pitchFamily="18" charset="0"/>
                </a:endParaRPr>
              </a:p>
              <a:p>
                <a:pPr marL="457200" indent="-457200">
                  <a:buAutoNum type="arabicPeriod"/>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mc:Choice>
        <mc:Fallback>
          <p:sp>
            <p:nvSpPr>
              <p:cNvPr id="5" name="內容版面配置區 5">
                <a:extLst>
                  <a:ext uri="{FF2B5EF4-FFF2-40B4-BE49-F238E27FC236}">
                    <a16:creationId xmlns:a16="http://schemas.microsoft.com/office/drawing/2014/main" id="{3CA8D1D5-6B20-4285-BB0C-86AEE094246D}"/>
                  </a:ext>
                </a:extLst>
              </p:cNvPr>
              <p:cNvSpPr>
                <a:spLocks noGrp="1" noRot="1" noChangeAspect="1" noMove="1" noResize="1" noEditPoints="1" noAdjustHandles="1" noChangeArrowheads="1" noChangeShapeType="1" noTextEdit="1"/>
              </p:cNvSpPr>
              <p:nvPr>
                <p:ph idx="1"/>
              </p:nvPr>
            </p:nvSpPr>
            <p:spPr>
              <a:xfrm>
                <a:off x="628087" y="3746465"/>
                <a:ext cx="7887821" cy="4354433"/>
              </a:xfrm>
              <a:blipFill>
                <a:blip r:embed="rId4"/>
                <a:stretch>
                  <a:fillRect l="-1005" t="-1961"/>
                </a:stretch>
              </a:blipFill>
            </p:spPr>
            <p:txBody>
              <a:bodyPr/>
              <a:lstStyle/>
              <a:p>
                <a:r>
                  <a:rPr lang="zh-TW" altLang="en-US">
                    <a:noFill/>
                  </a:rPr>
                  <a:t> </a:t>
                </a:r>
              </a:p>
            </p:txBody>
          </p:sp>
        </mc:Fallback>
      </mc:AlternateContent>
      <p:pic>
        <p:nvPicPr>
          <p:cNvPr id="3" name="圖片 2">
            <a:extLst>
              <a:ext uri="{FF2B5EF4-FFF2-40B4-BE49-F238E27FC236}">
                <a16:creationId xmlns:a16="http://schemas.microsoft.com/office/drawing/2014/main" id="{46D3F677-7F39-4E40-B752-E3E961EAF719}"/>
              </a:ext>
            </a:extLst>
          </p:cNvPr>
          <p:cNvPicPr>
            <a:picLocks noChangeAspect="1"/>
          </p:cNvPicPr>
          <p:nvPr/>
        </p:nvPicPr>
        <p:blipFill>
          <a:blip r:embed="rId5"/>
          <a:stretch>
            <a:fillRect/>
          </a:stretch>
        </p:blipFill>
        <p:spPr>
          <a:xfrm>
            <a:off x="2187483" y="1126691"/>
            <a:ext cx="4769027" cy="2427400"/>
          </a:xfrm>
          <a:prstGeom prst="rect">
            <a:avLst/>
          </a:prstGeom>
        </p:spPr>
      </p:pic>
    </p:spTree>
    <p:extLst>
      <p:ext uri="{BB962C8B-B14F-4D97-AF65-F5344CB8AC3E}">
        <p14:creationId xmlns:p14="http://schemas.microsoft.com/office/powerpoint/2010/main" val="361120548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Vision Search</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6058997"/>
            <a:ext cx="312390" cy="385893"/>
          </a:xfrm>
          <a:prstGeom prst="rect">
            <a:avLst/>
          </a:prstGeom>
        </p:spPr>
      </p:pic>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628086" y="3299354"/>
            <a:ext cx="7887821" cy="4354433"/>
          </a:xfrm>
        </p:spPr>
        <p:txBody>
          <a:bodyPr>
            <a:noAutofit/>
          </a:bodyPr>
          <a:lstStyle/>
          <a:p>
            <a:r>
              <a:rPr lang="en-US" altLang="zh-TW" sz="2400" dirty="0">
                <a:latin typeface="Times New Roman" panose="02020603050405020304" pitchFamily="18" charset="0"/>
                <a:cs typeface="Times New Roman" panose="02020603050405020304" pitchFamily="18" charset="0"/>
              </a:rPr>
              <a:t>Transition : genetic algorithm(crossover and mutation).</a:t>
            </a:r>
          </a:p>
          <a:p>
            <a:r>
              <a:rPr lang="en-US" altLang="zh-TW" sz="2400" dirty="0">
                <a:latin typeface="Times New Roman" panose="02020603050405020304" pitchFamily="18" charset="0"/>
                <a:cs typeface="Times New Roman" panose="02020603050405020304" pitchFamily="18" charset="0"/>
              </a:rPr>
              <a:t>Expected Value : </a:t>
            </a:r>
          </a:p>
          <a:p>
            <a:endParaRPr lang="en-US" altLang="zh-TW" sz="2400" dirty="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Determination :  choose the better one to be the investment of the </a:t>
            </a:r>
            <a:r>
              <a:rPr lang="en-US" altLang="zh-TW" sz="2400" dirty="0" err="1">
                <a:latin typeface="Times New Roman" panose="02020603050405020304" pitchFamily="18" charset="0"/>
                <a:cs typeface="Times New Roman" panose="02020603050405020304" pitchFamily="18" charset="0"/>
              </a:rPr>
              <a:t>i-th</a:t>
            </a:r>
            <a:r>
              <a:rPr lang="en-US" altLang="zh-TW" sz="2400" dirty="0">
                <a:latin typeface="Times New Roman" panose="02020603050405020304" pitchFamily="18" charset="0"/>
                <a:cs typeface="Times New Roman" panose="02020603050405020304" pitchFamily="18" charset="0"/>
              </a:rPr>
              <a:t> searcher.</a:t>
            </a:r>
          </a:p>
          <a:p>
            <a:pPr marL="457200" indent="-457200">
              <a:buAutoNum type="arabicPeriod"/>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E0F0FE5F-237A-430D-8756-0A01FE7E001B}"/>
              </a:ext>
            </a:extLst>
          </p:cNvPr>
          <p:cNvPicPr>
            <a:picLocks noChangeAspect="1"/>
          </p:cNvPicPr>
          <p:nvPr/>
        </p:nvPicPr>
        <p:blipFill>
          <a:blip r:embed="rId4"/>
          <a:stretch>
            <a:fillRect/>
          </a:stretch>
        </p:blipFill>
        <p:spPr>
          <a:xfrm>
            <a:off x="1623033" y="1366124"/>
            <a:ext cx="5897933" cy="1556546"/>
          </a:xfrm>
          <a:prstGeom prst="rect">
            <a:avLst/>
          </a:prstGeom>
        </p:spPr>
      </p:pic>
      <p:pic>
        <p:nvPicPr>
          <p:cNvPr id="6" name="圖片 5">
            <a:extLst>
              <a:ext uri="{FF2B5EF4-FFF2-40B4-BE49-F238E27FC236}">
                <a16:creationId xmlns:a16="http://schemas.microsoft.com/office/drawing/2014/main" id="{000B7C25-63DB-40B3-A138-683730924E7D}"/>
              </a:ext>
            </a:extLst>
          </p:cNvPr>
          <p:cNvPicPr>
            <a:picLocks noChangeAspect="1"/>
          </p:cNvPicPr>
          <p:nvPr/>
        </p:nvPicPr>
        <p:blipFill>
          <a:blip r:embed="rId5"/>
          <a:stretch>
            <a:fillRect/>
          </a:stretch>
        </p:blipFill>
        <p:spPr>
          <a:xfrm>
            <a:off x="3149885" y="3731160"/>
            <a:ext cx="2533333" cy="438095"/>
          </a:xfrm>
          <a:prstGeom prst="rect">
            <a:avLst/>
          </a:prstGeom>
        </p:spPr>
      </p:pic>
      <p:pic>
        <p:nvPicPr>
          <p:cNvPr id="7" name="圖片 6">
            <a:extLst>
              <a:ext uri="{FF2B5EF4-FFF2-40B4-BE49-F238E27FC236}">
                <a16:creationId xmlns:a16="http://schemas.microsoft.com/office/drawing/2014/main" id="{1B3577C1-EA50-4FD4-9929-BFCC1A138571}"/>
              </a:ext>
            </a:extLst>
          </p:cNvPr>
          <p:cNvPicPr>
            <a:picLocks noChangeAspect="1"/>
          </p:cNvPicPr>
          <p:nvPr/>
        </p:nvPicPr>
        <p:blipFill>
          <a:blip r:embed="rId6"/>
          <a:stretch>
            <a:fillRect/>
          </a:stretch>
        </p:blipFill>
        <p:spPr>
          <a:xfrm>
            <a:off x="751835" y="4253081"/>
            <a:ext cx="1514286" cy="704762"/>
          </a:xfrm>
          <a:prstGeom prst="rect">
            <a:avLst/>
          </a:prstGeom>
        </p:spPr>
      </p:pic>
      <p:pic>
        <p:nvPicPr>
          <p:cNvPr id="8" name="圖片 7">
            <a:extLst>
              <a:ext uri="{FF2B5EF4-FFF2-40B4-BE49-F238E27FC236}">
                <a16:creationId xmlns:a16="http://schemas.microsoft.com/office/drawing/2014/main" id="{30287AFA-0C5E-4A0E-A6B7-50F93F7D4942}"/>
              </a:ext>
            </a:extLst>
          </p:cNvPr>
          <p:cNvPicPr>
            <a:picLocks noChangeAspect="1"/>
          </p:cNvPicPr>
          <p:nvPr/>
        </p:nvPicPr>
        <p:blipFill>
          <a:blip r:embed="rId7"/>
          <a:stretch>
            <a:fillRect/>
          </a:stretch>
        </p:blipFill>
        <p:spPr>
          <a:xfrm>
            <a:off x="2193901" y="4302220"/>
            <a:ext cx="2314286" cy="619048"/>
          </a:xfrm>
          <a:prstGeom prst="rect">
            <a:avLst/>
          </a:prstGeom>
        </p:spPr>
      </p:pic>
      <p:pic>
        <p:nvPicPr>
          <p:cNvPr id="9" name="圖片 8">
            <a:extLst>
              <a:ext uri="{FF2B5EF4-FFF2-40B4-BE49-F238E27FC236}">
                <a16:creationId xmlns:a16="http://schemas.microsoft.com/office/drawing/2014/main" id="{362B0EDF-E230-407F-B4A8-E88DD414B526}"/>
              </a:ext>
            </a:extLst>
          </p:cNvPr>
          <p:cNvPicPr>
            <a:picLocks noChangeAspect="1"/>
          </p:cNvPicPr>
          <p:nvPr/>
        </p:nvPicPr>
        <p:blipFill>
          <a:blip r:embed="rId8"/>
          <a:stretch>
            <a:fillRect/>
          </a:stretch>
        </p:blipFill>
        <p:spPr>
          <a:xfrm>
            <a:off x="4508187" y="4187934"/>
            <a:ext cx="2209524" cy="847619"/>
          </a:xfrm>
          <a:prstGeom prst="rect">
            <a:avLst/>
          </a:prstGeom>
        </p:spPr>
      </p:pic>
    </p:spTree>
    <p:extLst>
      <p:ext uri="{BB962C8B-B14F-4D97-AF65-F5344CB8AC3E}">
        <p14:creationId xmlns:p14="http://schemas.microsoft.com/office/powerpoint/2010/main" val="78496521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Marketing Research</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628086" y="3104439"/>
            <a:ext cx="7887821" cy="4354433"/>
          </a:xfrm>
        </p:spPr>
        <p:txBody>
          <a:bodyPr>
            <a:noAutofit/>
          </a:bodyPr>
          <a:lstStyle/>
          <a:p>
            <a:endParaRPr lang="en-US" altLang="zh-TW" sz="2400" dirty="0">
              <a:latin typeface="Times New Roman" panose="02020603050405020304" pitchFamily="18" charset="0"/>
              <a:cs typeface="Times New Roman" panose="02020603050405020304" pitchFamily="18" charset="0"/>
            </a:endParaRPr>
          </a:p>
          <a:p>
            <a:pPr marL="457200" indent="-457200">
              <a:buAutoNum type="arabicPeriod"/>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06A5A2D5-D21F-48ED-8E17-75BF647B6114}"/>
              </a:ext>
            </a:extLst>
          </p:cNvPr>
          <p:cNvPicPr>
            <a:picLocks noChangeAspect="1"/>
          </p:cNvPicPr>
          <p:nvPr/>
        </p:nvPicPr>
        <p:blipFill>
          <a:blip r:embed="rId4"/>
          <a:stretch>
            <a:fillRect/>
          </a:stretch>
        </p:blipFill>
        <p:spPr>
          <a:xfrm>
            <a:off x="1556338" y="1305829"/>
            <a:ext cx="6031313" cy="1670544"/>
          </a:xfrm>
          <a:prstGeom prst="rect">
            <a:avLst/>
          </a:prstGeom>
        </p:spPr>
      </p:pic>
      <mc:AlternateContent xmlns:mc="http://schemas.openxmlformats.org/markup-compatibility/2006">
        <mc:Choice xmlns:a14="http://schemas.microsoft.com/office/drawing/2010/main" Requires="a14">
          <p:sp>
            <p:nvSpPr>
              <p:cNvPr id="7" name="內容版面配置區 5">
                <a:extLst>
                  <a:ext uri="{FF2B5EF4-FFF2-40B4-BE49-F238E27FC236}">
                    <a16:creationId xmlns:a16="http://schemas.microsoft.com/office/drawing/2014/main" id="{8F9CAE4F-B4F9-4A4C-BA75-006A357F441E}"/>
                  </a:ext>
                </a:extLst>
              </p:cNvPr>
              <p:cNvSpPr txBox="1">
                <a:spLocks/>
              </p:cNvSpPr>
              <p:nvPr/>
            </p:nvSpPr>
            <p:spPr>
              <a:xfrm>
                <a:off x="628085" y="3360572"/>
                <a:ext cx="7887821" cy="435443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400" dirty="0">
                    <a:latin typeface="Times New Roman" panose="02020603050405020304" pitchFamily="18" charset="0"/>
                    <a:cs typeface="Times New Roman" panose="02020603050405020304" pitchFamily="18" charset="0"/>
                  </a:rPr>
                  <a:t>Update : When finding a better good (</a:t>
                </a:r>
                <a14:m>
                  <m:oMath xmlns:m="http://schemas.openxmlformats.org/officeDocument/2006/math">
                    <m:sSubSup>
                      <m:sSubSupPr>
                        <m:ctrlPr>
                          <a:rPr lang="en-US" altLang="zh-TW" sz="2400" dirty="0" smtClean="0">
                            <a:latin typeface="Cambria Math" panose="02040503050406030204" pitchFamily="18" charset="0"/>
                          </a:rPr>
                        </m:ctrlPr>
                      </m:sSubSupPr>
                      <m:e>
                        <m:r>
                          <a:rPr lang="en-US" altLang="zh-TW" sz="2400" i="1" dirty="0" err="1" smtClean="0">
                            <a:latin typeface="Cambria Math" panose="02040503050406030204" pitchFamily="18" charset="0"/>
                          </a:rPr>
                          <m:t>𝑣</m:t>
                        </m:r>
                      </m:e>
                      <m:sub>
                        <m:r>
                          <a:rPr lang="en-US" altLang="zh-TW" sz="2400" i="1" dirty="0" err="1" smtClean="0">
                            <a:latin typeface="Cambria Math" panose="02040503050406030204" pitchFamily="18" charset="0"/>
                          </a:rPr>
                          <m:t>𝑗𝑘</m:t>
                        </m:r>
                      </m:sub>
                      <m:sup>
                        <m:r>
                          <a:rPr lang="en-US" altLang="zh-TW" sz="2400" i="1" dirty="0" err="1" smtClean="0">
                            <a:latin typeface="Cambria Math" panose="02040503050406030204" pitchFamily="18" charset="0"/>
                          </a:rPr>
                          <m:t>𝑖</m:t>
                        </m:r>
                      </m:sup>
                    </m:sSubSup>
                  </m:oMath>
                </a14:m>
                <a:r>
                  <a:rPr lang="en-US" altLang="zh-TW" sz="2400" dirty="0">
                    <a:latin typeface="Times New Roman" panose="02020603050405020304" pitchFamily="18" charset="0"/>
                    <a:cs typeface="Times New Roman" panose="02020603050405020304" pitchFamily="18" charset="0"/>
                  </a:rPr>
                  <a:t> &gt; </a:t>
                </a:r>
                <a14:m>
                  <m:oMath xmlns:m="http://schemas.openxmlformats.org/officeDocument/2006/math">
                    <m:sSubSup>
                      <m:sSubSupPr>
                        <m:ctrlPr>
                          <a:rPr lang="en-US" altLang="zh-TW" sz="2400" dirty="0" smtClean="0">
                            <a:latin typeface="Cambria Math" panose="02040503050406030204" pitchFamily="18" charset="0"/>
                          </a:rPr>
                        </m:ctrlPr>
                      </m:sSubSupPr>
                      <m:e>
                        <m:r>
                          <a:rPr lang="en-US" altLang="zh-TW" sz="2400" i="1" dirty="0" err="1" smtClean="0">
                            <a:latin typeface="Cambria Math" panose="02040503050406030204" pitchFamily="18" charset="0"/>
                          </a:rPr>
                          <m:t>𝑟</m:t>
                        </m:r>
                      </m:e>
                      <m:sub>
                        <m:r>
                          <a:rPr lang="en-US" altLang="zh-TW" sz="2400" i="1" dirty="0" err="1" smtClean="0">
                            <a:latin typeface="Cambria Math" panose="02040503050406030204" pitchFamily="18" charset="0"/>
                          </a:rPr>
                          <m:t>𝑗</m:t>
                        </m:r>
                      </m:sub>
                      <m:sup>
                        <m:r>
                          <a:rPr lang="en-US" altLang="zh-TW" sz="2400" i="1" dirty="0" err="1" smtClean="0">
                            <a:latin typeface="Cambria Math" panose="02040503050406030204" pitchFamily="18" charset="0"/>
                          </a:rPr>
                          <m:t>𝑏</m:t>
                        </m:r>
                      </m:sup>
                    </m:sSubSup>
                  </m:oMath>
                </a14:m>
                <a:r>
                  <a:rPr lang="en-US" altLang="zh-TW" sz="2400" dirty="0">
                    <a:latin typeface="Times New Roman" panose="02020603050405020304" pitchFamily="18" charset="0"/>
                    <a:cs typeface="Times New Roman" panose="02020603050405020304" pitchFamily="18" charset="0"/>
                  </a:rPr>
                  <a:t>) in region </a:t>
                </a:r>
                <a14:m>
                  <m:oMath xmlns:m="http://schemas.openxmlformats.org/officeDocument/2006/math">
                    <m:sSub>
                      <m:sSubPr>
                        <m:ctrlPr>
                          <a:rPr lang="en-US" altLang="zh-TW" sz="2400" dirty="0" smtClean="0">
                            <a:latin typeface="Cambria Math" panose="02040503050406030204" pitchFamily="18" charset="0"/>
                          </a:rPr>
                        </m:ctrlPr>
                      </m:sSubPr>
                      <m:e>
                        <m:r>
                          <a:rPr lang="en-US" altLang="zh-TW" sz="2400" i="1" dirty="0" err="1" smtClean="0">
                            <a:latin typeface="Cambria Math" panose="02040503050406030204" pitchFamily="18" charset="0"/>
                          </a:rPr>
                          <m:t>𝑟</m:t>
                        </m:r>
                      </m:e>
                      <m:sub>
                        <m:r>
                          <a:rPr lang="en-US" altLang="zh-TW" sz="2400" i="1" dirty="0" err="1" smtClean="0">
                            <a:latin typeface="Cambria Math" panose="02040503050406030204" pitchFamily="18" charset="0"/>
                          </a:rPr>
                          <m:t>𝑗</m:t>
                        </m:r>
                      </m:sub>
                    </m:sSub>
                  </m:oMath>
                </a14:m>
                <a:r>
                  <a:rPr lang="en-US" altLang="zh-TW" sz="2400" dirty="0">
                    <a:latin typeface="Times New Roman" panose="02020603050405020304" pitchFamily="18" charset="0"/>
                    <a:cs typeface="Times New Roman" panose="02020603050405020304" pitchFamily="18" charset="0"/>
                  </a:rPr>
                  <a:t> , the update operator will use this good to replace one of the current goods in the same region.</a:t>
                </a:r>
              </a:p>
              <a:p>
                <a:r>
                  <a:rPr lang="en-US" altLang="zh-TW" sz="2400" dirty="0">
                    <a:latin typeface="Times New Roman" panose="02020603050405020304" pitchFamily="18" charset="0"/>
                    <a:cs typeface="Times New Roman" panose="02020603050405020304" pitchFamily="18" charset="0"/>
                  </a:rPr>
                  <a:t>Accumulate : if a searcher invests the j-</a:t>
                </a:r>
                <a:r>
                  <a:rPr lang="en-US" altLang="zh-TW" sz="2400" dirty="0" err="1">
                    <a:latin typeface="Times New Roman" panose="02020603050405020304" pitchFamily="18" charset="0"/>
                    <a:cs typeface="Times New Roman" panose="02020603050405020304" pitchFamily="18" charset="0"/>
                  </a:rPr>
                  <a:t>th</a:t>
                </a:r>
                <a:r>
                  <a:rPr lang="en-US" altLang="zh-TW" sz="2400" dirty="0">
                    <a:latin typeface="Times New Roman" panose="02020603050405020304" pitchFamily="18" charset="0"/>
                    <a:cs typeface="Times New Roman" panose="02020603050405020304" pitchFamily="18" charset="0"/>
                  </a:rPr>
                  <a:t> region, then </a:t>
                </a:r>
                <a14:m>
                  <m:oMath xmlns:m="http://schemas.openxmlformats.org/officeDocument/2006/math">
                    <m:sSubSup>
                      <m:sSubSupPr>
                        <m:ctrlPr>
                          <a:rPr lang="en-US" altLang="zh-TW" sz="2400" dirty="0" smtClean="0">
                            <a:latin typeface="Cambria Math" panose="02040503050406030204" pitchFamily="18" charset="0"/>
                          </a:rPr>
                        </m:ctrlPr>
                      </m:sSubSupPr>
                      <m:e>
                        <m:r>
                          <a:rPr lang="en-US" altLang="zh-TW" sz="2400" i="1" dirty="0" err="1" smtClean="0">
                            <a:latin typeface="Cambria Math" panose="02040503050406030204" pitchFamily="18" charset="0"/>
                          </a:rPr>
                          <m:t>𝑡</m:t>
                        </m:r>
                      </m:e>
                      <m:sub>
                        <m:r>
                          <a:rPr lang="en-US" altLang="zh-TW" sz="2400" i="1" dirty="0" err="1" smtClean="0">
                            <a:latin typeface="Cambria Math" panose="02040503050406030204" pitchFamily="18" charset="0"/>
                          </a:rPr>
                          <m:t>𝑗</m:t>
                        </m:r>
                      </m:sub>
                      <m:sup>
                        <m:r>
                          <a:rPr lang="en-US" altLang="zh-TW" sz="2400" i="1" dirty="0" err="1" smtClean="0">
                            <a:latin typeface="Cambria Math" panose="02040503050406030204" pitchFamily="18" charset="0"/>
                          </a:rPr>
                          <m:t>𝑏</m:t>
                        </m:r>
                      </m:sup>
                    </m:sSubSup>
                  </m:oMath>
                </a14:m>
                <a:r>
                  <a:rPr lang="en-US" altLang="zh-TW" sz="2400" dirty="0">
                    <a:latin typeface="Times New Roman" panose="02020603050405020304" pitchFamily="18" charset="0"/>
                    <a:cs typeface="Times New Roman" panose="02020603050405020304" pitchFamily="18" charset="0"/>
                  </a:rPr>
                  <a:t> will be set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to 1 and </a:t>
                </a:r>
                <a14:m>
                  <m:oMath xmlns:m="http://schemas.openxmlformats.org/officeDocument/2006/math">
                    <m:sSubSup>
                      <m:sSubSupPr>
                        <m:ctrlPr>
                          <a:rPr lang="en-US" altLang="zh-TW" sz="2400" i="1" dirty="0">
                            <a:latin typeface="Cambria Math" panose="02040503050406030204" pitchFamily="18" charset="0"/>
                          </a:rPr>
                        </m:ctrlPr>
                      </m:sSubSupPr>
                      <m:e>
                        <m:r>
                          <a:rPr lang="en-US" altLang="zh-TW" sz="2400" i="1" dirty="0" err="1">
                            <a:latin typeface="Cambria Math" panose="02040503050406030204" pitchFamily="18" charset="0"/>
                          </a:rPr>
                          <m:t>𝑡</m:t>
                        </m:r>
                      </m:e>
                      <m:sub>
                        <m:r>
                          <a:rPr lang="en-US" altLang="zh-TW" sz="2400" i="1" dirty="0" err="1">
                            <a:latin typeface="Cambria Math" panose="02040503050406030204" pitchFamily="18" charset="0"/>
                          </a:rPr>
                          <m:t>𝑗</m:t>
                        </m:r>
                      </m:sub>
                      <m:sup>
                        <m:r>
                          <a:rPr lang="en-US" altLang="zh-TW" sz="2400" b="0" i="1" dirty="0" smtClean="0">
                            <a:latin typeface="Cambria Math" panose="02040503050406030204" pitchFamily="18" charset="0"/>
                          </a:rPr>
                          <m:t>𝑎</m:t>
                        </m:r>
                      </m:sup>
                    </m:sSubSup>
                  </m:oMath>
                </a14:m>
                <a:r>
                  <a:rPr lang="en-US" altLang="zh-TW" sz="2400"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sz="2400" i="1" dirty="0">
                            <a:latin typeface="Cambria Math" panose="02040503050406030204" pitchFamily="18" charset="0"/>
                          </a:rPr>
                        </m:ctrlPr>
                      </m:sSubSupPr>
                      <m:e>
                        <m:r>
                          <a:rPr lang="en-US" altLang="zh-TW" sz="2400" i="1" dirty="0" err="1">
                            <a:latin typeface="Cambria Math" panose="02040503050406030204" pitchFamily="18" charset="0"/>
                          </a:rPr>
                          <m:t>𝑡</m:t>
                        </m:r>
                      </m:e>
                      <m:sub>
                        <m:r>
                          <a:rPr lang="en-US" altLang="zh-TW" sz="2400" i="1" dirty="0" err="1">
                            <a:latin typeface="Cambria Math" panose="02040503050406030204" pitchFamily="18" charset="0"/>
                          </a:rPr>
                          <m:t>𝑗</m:t>
                        </m:r>
                      </m:sub>
                      <m:sup>
                        <m:r>
                          <a:rPr lang="en-US" altLang="zh-TW" sz="2400" b="0" i="1" dirty="0" smtClean="0">
                            <a:latin typeface="Cambria Math" panose="02040503050406030204" pitchFamily="18" charset="0"/>
                          </a:rPr>
                          <m:t>𝑎</m:t>
                        </m:r>
                      </m:sup>
                    </m:sSubSup>
                  </m:oMath>
                </a14:m>
                <a:r>
                  <a:rPr lang="en-US" altLang="zh-TW" sz="2400" dirty="0">
                    <a:latin typeface="Times New Roman" panose="02020603050405020304" pitchFamily="18" charset="0"/>
                    <a:cs typeface="Times New Roman" panose="02020603050405020304" pitchFamily="18" charset="0"/>
                  </a:rPr>
                  <a:t> + 1. </a:t>
                </a:r>
                <a:endParaRPr lang="en-US" altLang="zh-TW" sz="2400" dirty="0">
                  <a:solidFill>
                    <a:srgbClr val="FF0000"/>
                  </a:solidFill>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altLang="zh-TW" sz="2400" dirty="0">
                  <a:latin typeface="Times New Roman" panose="02020603050405020304" pitchFamily="18" charset="0"/>
                  <a:cs typeface="Times New Roman" panose="02020603050405020304" pitchFamily="18" charset="0"/>
                </a:endParaRPr>
              </a:p>
            </p:txBody>
          </p:sp>
        </mc:Choice>
        <mc:Fallback>
          <p:sp>
            <p:nvSpPr>
              <p:cNvPr id="7" name="內容版面配置區 5">
                <a:extLst>
                  <a:ext uri="{FF2B5EF4-FFF2-40B4-BE49-F238E27FC236}">
                    <a16:creationId xmlns:a16="http://schemas.microsoft.com/office/drawing/2014/main" id="{8F9CAE4F-B4F9-4A4C-BA75-006A357F441E}"/>
                  </a:ext>
                </a:extLst>
              </p:cNvPr>
              <p:cNvSpPr txBox="1">
                <a:spLocks noRot="1" noChangeAspect="1" noMove="1" noResize="1" noEditPoints="1" noAdjustHandles="1" noChangeArrowheads="1" noChangeShapeType="1" noTextEdit="1"/>
              </p:cNvSpPr>
              <p:nvPr/>
            </p:nvSpPr>
            <p:spPr>
              <a:xfrm>
                <a:off x="628085" y="3360572"/>
                <a:ext cx="7887821" cy="4354433"/>
              </a:xfrm>
              <a:prstGeom prst="rect">
                <a:avLst/>
              </a:prstGeom>
              <a:blipFill>
                <a:blip r:embed="rId5"/>
                <a:stretch>
                  <a:fillRect l="-1005" t="-1119" r="-92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3609332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Experimental Results</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7" name="圖片 6">
            <a:extLst>
              <a:ext uri="{FF2B5EF4-FFF2-40B4-BE49-F238E27FC236}">
                <a16:creationId xmlns:a16="http://schemas.microsoft.com/office/drawing/2014/main" id="{A92E8EF3-5C23-489D-89C8-E5A8CCAB3CF4}"/>
              </a:ext>
            </a:extLst>
          </p:cNvPr>
          <p:cNvPicPr>
            <a:picLocks noChangeAspect="1"/>
          </p:cNvPicPr>
          <p:nvPr/>
        </p:nvPicPr>
        <p:blipFill>
          <a:blip r:embed="rId4"/>
          <a:stretch>
            <a:fillRect/>
          </a:stretch>
        </p:blipFill>
        <p:spPr>
          <a:xfrm>
            <a:off x="1829310" y="1126342"/>
            <a:ext cx="5485380" cy="1953036"/>
          </a:xfrm>
          <a:prstGeom prst="rect">
            <a:avLst/>
          </a:prstGeom>
        </p:spPr>
      </p:pic>
      <p:pic>
        <p:nvPicPr>
          <p:cNvPr id="8" name="圖片 7">
            <a:extLst>
              <a:ext uri="{FF2B5EF4-FFF2-40B4-BE49-F238E27FC236}">
                <a16:creationId xmlns:a16="http://schemas.microsoft.com/office/drawing/2014/main" id="{C2324767-8A0E-45F8-B816-2013CA44CC89}"/>
              </a:ext>
            </a:extLst>
          </p:cNvPr>
          <p:cNvPicPr>
            <a:picLocks noChangeAspect="1"/>
          </p:cNvPicPr>
          <p:nvPr/>
        </p:nvPicPr>
        <p:blipFill>
          <a:blip r:embed="rId5"/>
          <a:stretch>
            <a:fillRect/>
          </a:stretch>
        </p:blipFill>
        <p:spPr>
          <a:xfrm>
            <a:off x="1426250" y="3271402"/>
            <a:ext cx="5888440" cy="3256085"/>
          </a:xfrm>
          <a:prstGeom prst="rect">
            <a:avLst/>
          </a:prstGeom>
        </p:spPr>
      </p:pic>
    </p:spTree>
    <p:extLst>
      <p:ext uri="{BB962C8B-B14F-4D97-AF65-F5344CB8AC3E}">
        <p14:creationId xmlns:p14="http://schemas.microsoft.com/office/powerpoint/2010/main" val="411869964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E6C968FB-A00D-42F0-8A10-BCB2A4BA899B}"/>
              </a:ext>
            </a:extLst>
          </p:cNvPr>
          <p:cNvSpPr>
            <a:spLocks noGrp="1"/>
          </p:cNvSpPr>
          <p:nvPr>
            <p:ph idx="1"/>
          </p:nvPr>
        </p:nvSpPr>
        <p:spPr>
          <a:xfrm>
            <a:off x="628650" y="525294"/>
            <a:ext cx="7886700" cy="5651669"/>
          </a:xfrm>
        </p:spPr>
        <p:txBody>
          <a:bodyPr/>
          <a:lstStyle/>
          <a:p>
            <a:r>
              <a:rPr lang="zh-TW" altLang="en-US" dirty="0"/>
              <a:t>結合搜尋經濟切割解空間以及估算期望值的方法來使結果不限於區域最佳解。</a:t>
            </a:r>
            <a:endParaRPr lang="en-US" altLang="zh-TW" dirty="0"/>
          </a:p>
          <a:p>
            <a:r>
              <a:rPr lang="en-US" altLang="zh-TW" sz="2800" dirty="0">
                <a:latin typeface="Times New Roman" panose="02020603050405020304" pitchFamily="18" charset="0"/>
                <a:cs typeface="Times New Roman" panose="02020603050405020304" pitchFamily="18" charset="0"/>
              </a:rPr>
              <a:t>Transition</a:t>
            </a:r>
            <a:r>
              <a:rPr lang="zh-TW" altLang="en-US" sz="2800" dirty="0">
                <a:latin typeface="Times New Roman" panose="02020603050405020304" pitchFamily="18" charset="0"/>
                <a:cs typeface="Times New Roman" panose="02020603050405020304" pitchFamily="18" charset="0"/>
              </a:rPr>
              <a:t>的部分可以不只使用</a:t>
            </a:r>
            <a:r>
              <a:rPr lang="en-US" altLang="zh-TW" sz="2800" dirty="0">
                <a:latin typeface="Times New Roman" panose="02020603050405020304" pitchFamily="18" charset="0"/>
                <a:cs typeface="Times New Roman" panose="02020603050405020304" pitchFamily="18" charset="0"/>
              </a:rPr>
              <a:t>GA</a:t>
            </a:r>
            <a:r>
              <a:rPr lang="zh-TW" altLang="en-US" sz="2800"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可改用其他演算法的移動方式或是結合其他演算法</a:t>
            </a:r>
            <a:endParaRPr lang="en-US" altLang="zh-TW" dirty="0">
              <a:latin typeface="Times New Roman" panose="02020603050405020304" pitchFamily="18" charset="0"/>
              <a:cs typeface="Times New Roman" panose="02020603050405020304" pitchFamily="18" charset="0"/>
            </a:endParaRPr>
          </a:p>
          <a:p>
            <a:r>
              <a:rPr lang="en-US" altLang="zh-TW" sz="2800" dirty="0">
                <a:latin typeface="Times New Roman" panose="02020603050405020304" pitchFamily="18" charset="0"/>
                <a:cs typeface="Times New Roman" panose="02020603050405020304" pitchFamily="18" charset="0"/>
              </a:rPr>
              <a:t>Expected Value</a:t>
            </a:r>
            <a:r>
              <a:rPr lang="zh-TW" altLang="en-US" sz="2800" dirty="0">
                <a:latin typeface="Times New Roman" panose="02020603050405020304" pitchFamily="18" charset="0"/>
                <a:cs typeface="Times New Roman" panose="02020603050405020304" pitchFamily="18" charset="0"/>
              </a:rPr>
              <a:t>根據計算</a:t>
            </a:r>
            <a:r>
              <a:rPr lang="en-US" altLang="zh-TW" sz="2800" dirty="0">
                <a:latin typeface="Times New Roman" panose="02020603050405020304" pitchFamily="18" charset="0"/>
                <a:cs typeface="Times New Roman" panose="02020603050405020304" pitchFamily="18" charset="0"/>
              </a:rPr>
              <a:t>scoring matrix</a:t>
            </a:r>
            <a:r>
              <a:rPr lang="zh-TW" altLang="en-US" sz="2800" dirty="0">
                <a:latin typeface="Times New Roman" panose="02020603050405020304" pitchFamily="18" charset="0"/>
                <a:cs typeface="Times New Roman" panose="02020603050405020304" pitchFamily="18" charset="0"/>
              </a:rPr>
              <a:t>的方式</a:t>
            </a:r>
            <a:r>
              <a:rPr lang="zh-TW" altLang="en-US" dirty="0">
                <a:latin typeface="Times New Roman" panose="02020603050405020304" pitchFamily="18" charset="0"/>
                <a:cs typeface="Times New Roman" panose="02020603050405020304" pitchFamily="18" charset="0"/>
              </a:rPr>
              <a:t>可以更改計算方法</a:t>
            </a:r>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1977373"/>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90355</TotalTime>
  <Words>735</Words>
  <Application>Microsoft Office PowerPoint</Application>
  <PresentationFormat>如螢幕大小 (4:3)</PresentationFormat>
  <Paragraphs>67</Paragraphs>
  <Slides>11</Slides>
  <Notes>10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11</vt:i4>
      </vt:variant>
    </vt:vector>
  </HeadingPairs>
  <TitlesOfParts>
    <vt:vector size="17" baseType="lpstr">
      <vt:lpstr>Arial</vt:lpstr>
      <vt:lpstr>Calibri</vt:lpstr>
      <vt:lpstr>Calibri Light</vt:lpstr>
      <vt:lpstr>Cambria Math</vt:lpstr>
      <vt:lpstr>Times New Roman</vt:lpstr>
      <vt:lpstr>Office 佈景主題</vt:lpstr>
      <vt:lpstr>Search Economics: A Solution Space and Computing Resource Aware Search Method</vt:lpstr>
      <vt:lpstr>Abstract(1/2)</vt:lpstr>
      <vt:lpstr>Abstract(2/2)</vt:lpstr>
      <vt:lpstr>Metaheuristic Algorithm</vt:lpstr>
      <vt:lpstr>Search Economics(1/2)</vt:lpstr>
      <vt:lpstr>Search Economics(2/2)</vt:lpstr>
      <vt:lpstr>Resource Arrangement</vt:lpstr>
      <vt:lpstr>Vision Search</vt:lpstr>
      <vt:lpstr>Marketing Research</vt:lpstr>
      <vt:lpstr>Experimental Results</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BBOBBOX</cp:lastModifiedBy>
  <cp:revision>874</cp:revision>
  <dcterms:created xsi:type="dcterms:W3CDTF">2017-09-25T08:45:50Z</dcterms:created>
  <dcterms:modified xsi:type="dcterms:W3CDTF">2020-07-21T05:07:34Z</dcterms:modified>
</cp:coreProperties>
</file>