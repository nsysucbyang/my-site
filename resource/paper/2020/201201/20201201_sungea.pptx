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0" r:id="rId5"/>
    <p:sldId id="262" r:id="rId6"/>
    <p:sldId id="263" r:id="rId7"/>
    <p:sldId id="264" r:id="rId8"/>
    <p:sldId id="265" r:id="rId9"/>
    <p:sldId id="266" r:id="rId10"/>
    <p:sldId id="267" r:id="rId11"/>
    <p:sldId id="268" r:id="rId12"/>
    <p:sldId id="269" r:id="rId13"/>
    <p:sldId id="277" r:id="rId14"/>
    <p:sldId id="278" r:id="rId15"/>
    <p:sldId id="270" r:id="rId16"/>
    <p:sldId id="271" r:id="rId17"/>
    <p:sldId id="272" r:id="rId18"/>
    <p:sldId id="273" r:id="rId19"/>
    <p:sldId id="274" r:id="rId20"/>
    <p:sldId id="275" r:id="rId21"/>
    <p:sldId id="276" r:id="rId22"/>
    <p:sldId id="280" r:id="rId23"/>
    <p:sldId id="281"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91" autoAdjust="0"/>
    <p:restoredTop sz="96429" autoAdjust="0"/>
  </p:normalViewPr>
  <p:slideViewPr>
    <p:cSldViewPr snapToGrid="0">
      <p:cViewPr>
        <p:scale>
          <a:sx n="50" d="100"/>
          <a:sy n="50" d="100"/>
        </p:scale>
        <p:origin x="1836"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55308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822609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2244818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220536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3321552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40874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184895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414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720608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3307927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61461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71A06-372D-4D1E-A36C-4FE3814EEEB1}" type="datetimeFigureOut">
              <a:rPr lang="zh-TW" altLang="en-US" smtClean="0"/>
              <a:t>2020/12/1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76F47-8B1A-4823-96BE-C72B8ADD80B6}" type="slidenum">
              <a:rPr lang="zh-TW" altLang="en-US" smtClean="0"/>
              <a:t>‹#›</a:t>
            </a:fld>
            <a:endParaRPr lang="zh-TW" altLang="en-US"/>
          </a:p>
        </p:txBody>
      </p:sp>
    </p:spTree>
    <p:extLst>
      <p:ext uri="{BB962C8B-B14F-4D97-AF65-F5344CB8AC3E}">
        <p14:creationId xmlns:p14="http://schemas.microsoft.com/office/powerpoint/2010/main" val="1827224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4800" dirty="0">
                <a:latin typeface="Times New Roman" panose="02020603050405020304" pitchFamily="18" charset="0"/>
                <a:cs typeface="Times New Roman" panose="02020603050405020304" pitchFamily="18" charset="0"/>
              </a:rPr>
              <a:t>An A∗ search algorithm for the constrained longest common subsequence problem</a:t>
            </a:r>
            <a:endParaRPr lang="zh-TW" altLang="en-US" sz="4800" dirty="0">
              <a:latin typeface="Times New Roman" panose="02020603050405020304" pitchFamily="18" charset="0"/>
              <a:cs typeface="Times New Roman" panose="02020603050405020304" pitchFamily="18" charset="0"/>
            </a:endParaRPr>
          </a:p>
        </p:txBody>
      </p:sp>
      <p:sp>
        <p:nvSpPr>
          <p:cNvPr id="4" name="副標題 2"/>
          <p:cNvSpPr>
            <a:spLocks noGrp="1"/>
          </p:cNvSpPr>
          <p:nvPr>
            <p:ph type="subTitle" idx="1"/>
          </p:nvPr>
        </p:nvSpPr>
        <p:spPr>
          <a:xfrm>
            <a:off x="1524000" y="3602038"/>
            <a:ext cx="9144000" cy="1655762"/>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Marko </a:t>
            </a:r>
            <a:r>
              <a:rPr lang="en-US" altLang="zh-TW" dirty="0" err="1">
                <a:latin typeface="Times New Roman" panose="02020603050405020304" pitchFamily="18" charset="0"/>
                <a:cs typeface="Times New Roman" panose="02020603050405020304" pitchFamily="18" charset="0"/>
              </a:rPr>
              <a:t>Djukanovic</a:t>
            </a:r>
            <a:r>
              <a:rPr lang="en-US" altLang="zh-TW" dirty="0">
                <a:latin typeface="Times New Roman" panose="02020603050405020304" pitchFamily="18" charset="0"/>
                <a:cs typeface="Times New Roman" panose="02020603050405020304" pitchFamily="18" charset="0"/>
              </a:rPr>
              <a:t> , Christoph Berger, </a:t>
            </a:r>
            <a:r>
              <a:rPr lang="en-US" altLang="zh-TW" dirty="0" err="1">
                <a:latin typeface="Times New Roman" panose="02020603050405020304" pitchFamily="18" charset="0"/>
                <a:cs typeface="Times New Roman" panose="02020603050405020304" pitchFamily="18" charset="0"/>
              </a:rPr>
              <a:t>Günther</a:t>
            </a:r>
            <a:r>
              <a:rPr lang="en-US" altLang="zh-TW" dirty="0">
                <a:latin typeface="Times New Roman" panose="02020603050405020304" pitchFamily="18" charset="0"/>
                <a:cs typeface="Times New Roman" panose="02020603050405020304" pitchFamily="18" charset="0"/>
              </a:rPr>
              <a:t> R. </a:t>
            </a:r>
            <a:r>
              <a:rPr lang="en-US" altLang="zh-TW" dirty="0" err="1">
                <a:latin typeface="Times New Roman" panose="02020603050405020304" pitchFamily="18" charset="0"/>
                <a:cs typeface="Times New Roman" panose="02020603050405020304" pitchFamily="18" charset="0"/>
              </a:rPr>
              <a:t>Raidl</a:t>
            </a:r>
            <a:r>
              <a:rPr lang="en-US" altLang="zh-TW" dirty="0">
                <a:latin typeface="Times New Roman" panose="02020603050405020304" pitchFamily="18" charset="0"/>
                <a:cs typeface="Times New Roman" panose="02020603050405020304" pitchFamily="18" charset="0"/>
              </a:rPr>
              <a:t> , Christian Blum </a:t>
            </a:r>
          </a:p>
          <a:p>
            <a:r>
              <a:rPr lang="en-US" altLang="zh-TW" dirty="0">
                <a:latin typeface="Times New Roman" panose="02020603050405020304" pitchFamily="18" charset="0"/>
                <a:cs typeface="Times New Roman" panose="02020603050405020304" pitchFamily="18" charset="0"/>
              </a:rPr>
              <a:t>Information Processing Letters</a:t>
            </a:r>
          </a:p>
          <a:p>
            <a:r>
              <a:rPr lang="en-US" altLang="zh-TW" dirty="0">
                <a:latin typeface="Times New Roman" panose="02020603050405020304" pitchFamily="18" charset="0"/>
                <a:cs typeface="Times New Roman" panose="02020603050405020304" pitchFamily="18" charset="0"/>
              </a:rPr>
              <a:t>(3 June 2020 ) </a:t>
            </a:r>
            <a:endParaRPr lang="zh-TW" altLang="en-US" dirty="0">
              <a:latin typeface="Times New Roman" panose="02020603050405020304" pitchFamily="18" charset="0"/>
              <a:cs typeface="Times New Roman" panose="02020603050405020304" pitchFamily="18" charset="0"/>
            </a:endParaRPr>
          </a:p>
        </p:txBody>
      </p:sp>
      <p:sp>
        <p:nvSpPr>
          <p:cNvPr id="5" name="矩形 1"/>
          <p:cNvSpPr>
            <a:spLocks noChangeArrowheads="1"/>
          </p:cNvSpPr>
          <p:nvPr/>
        </p:nvSpPr>
        <p:spPr bwMode="auto">
          <a:xfrm>
            <a:off x="8883004" y="5876925"/>
            <a:ext cx="26463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Presenter: </a:t>
            </a:r>
            <a:r>
              <a:rPr lang="en-US" altLang="zh-TW" sz="1800" dirty="0" err="1">
                <a:latin typeface="Times New Roman" panose="02020603050405020304" pitchFamily="18" charset="0"/>
                <a:cs typeface="Times New Roman" panose="02020603050405020304" pitchFamily="18" charset="0"/>
              </a:rPr>
              <a:t>En</a:t>
            </a:r>
            <a:r>
              <a:rPr lang="en-US" altLang="zh-TW" sz="1800" dirty="0">
                <a:latin typeface="Times New Roman" panose="02020603050405020304" pitchFamily="18" charset="0"/>
                <a:cs typeface="Times New Roman" panose="02020603050405020304" pitchFamily="18" charset="0"/>
              </a:rPr>
              <a:t>-An Sung</a:t>
            </a:r>
          </a:p>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Date: Dec. 1, 2020</a:t>
            </a:r>
          </a:p>
        </p:txBody>
      </p:sp>
    </p:spTree>
    <p:extLst>
      <p:ext uri="{BB962C8B-B14F-4D97-AF65-F5344CB8AC3E}">
        <p14:creationId xmlns:p14="http://schemas.microsoft.com/office/powerpoint/2010/main" val="1817698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The constrained longest common subsequence (CLCS) problem was introduced as a specific measure of similarity between molecules. It is a special case of the constrained sequence alignment problem and of the longest common subsequence (LCS) problem, which are both well-studied problems in the scientific literature. Finding similarities between sequences plays an important role in the fields of molecular biology, gene recognition, pattern matching, text analysis, and voice recognition, among others. The CLCS problem in particular represents an interesting measure of similarity for molecules that have a putative structure in common.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1176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This paper proposes an exact A</a:t>
            </a:r>
            <a:r>
              <a:rPr lang="en-US" altLang="zh-TW" baseline="30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search algorithm for effectively solving the CLCS problem. This A</a:t>
            </a:r>
            <a:r>
              <a:rPr lang="en-US" altLang="zh-TW" baseline="30000"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search is guided by a tight upper bound calculation for the cost-to-go for the LCS problem. Our computational study shows that on various artificial and real benchmark sets this algorithm scales better with growing instance size and requires significantly less computation time to prove optimality than earlier state-of-the-art approaches from the literature.</a:t>
            </a:r>
            <a:endParaRPr lang="zh-TW" altLang="en-US"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683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Constrained Longest Common Subsequence Problem</a:t>
            </a:r>
            <a:endParaRPr lang="zh-TW" altLang="en-US" sz="3600"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X = </a:t>
            </a:r>
            <a:r>
              <a:rPr lang="en-US" altLang="zh-TW"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dirty="0">
              <a:latin typeface="Times New Roman" panose="02020603050405020304" pitchFamily="18" charset="0"/>
              <a:ea typeface="Cambria" panose="020405030504060302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Y = </a:t>
            </a:r>
            <a:r>
              <a:rPr lang="en-US" altLang="zh-TW" dirty="0" err="1">
                <a:latin typeface="Times New Roman" panose="02020603050405020304" pitchFamily="18" charset="0"/>
                <a:cs typeface="Times New Roman" panose="02020603050405020304" pitchFamily="18" charset="0"/>
              </a:rPr>
              <a:t>cbccadcbbd</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 = </a:t>
            </a:r>
            <a:r>
              <a:rPr lang="en-US" altLang="zh-TW" dirty="0" err="1">
                <a:latin typeface="Times New Roman" panose="02020603050405020304" pitchFamily="18" charset="0"/>
                <a:cs typeface="Times New Roman" panose="02020603050405020304" pitchFamily="18" charset="0"/>
              </a:rPr>
              <a:t>cbb</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CLCS(X,Y) = </a:t>
            </a:r>
            <a:r>
              <a:rPr lang="en-US" altLang="zh-TW" dirty="0" err="1">
                <a:latin typeface="Times New Roman" panose="02020603050405020304" pitchFamily="18" charset="0"/>
                <a:cs typeface="Times New Roman" panose="02020603050405020304" pitchFamily="18" charset="0"/>
              </a:rPr>
              <a:t>b</a:t>
            </a:r>
            <a:r>
              <a:rPr lang="en-US" altLang="zh-TW" dirty="0" err="1">
                <a:solidFill>
                  <a:srgbClr val="FF0000"/>
                </a:solidFill>
                <a:latin typeface="Times New Roman" panose="02020603050405020304" pitchFamily="18" charset="0"/>
                <a:cs typeface="Times New Roman" panose="02020603050405020304" pitchFamily="18" charset="0"/>
              </a:rPr>
              <a:t>c</a:t>
            </a:r>
            <a:r>
              <a:rPr lang="en-US" altLang="zh-TW" dirty="0" err="1">
                <a:latin typeface="Times New Roman" panose="02020603050405020304" pitchFamily="18" charset="0"/>
                <a:cs typeface="Times New Roman" panose="02020603050405020304" pitchFamily="18" charset="0"/>
              </a:rPr>
              <a:t>ac</a:t>
            </a:r>
            <a:r>
              <a:rPr lang="en-US" altLang="zh-TW" dirty="0" err="1">
                <a:solidFill>
                  <a:srgbClr val="FF0000"/>
                </a:solidFill>
                <a:latin typeface="Times New Roman" panose="02020603050405020304" pitchFamily="18" charset="0"/>
                <a:cs typeface="Times New Roman" panose="02020603050405020304" pitchFamily="18" charset="0"/>
              </a:rPr>
              <a:t>bb</a:t>
            </a:r>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359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內容版面配置區 2"/>
          <p:cNvSpPr txBox="1">
            <a:spLocks/>
          </p:cNvSpPr>
          <p:nvPr/>
        </p:nvSpPr>
        <p:spPr>
          <a:xfrm>
            <a:off x="3709083" y="11121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cbcc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a:t>
            </a:r>
          </a:p>
          <a:p>
            <a:endParaRPr lang="zh-TW" altLang="en-US" dirty="0"/>
          </a:p>
        </p:txBody>
      </p:sp>
      <p:sp>
        <p:nvSpPr>
          <p:cNvPr id="6" name="矩形 5"/>
          <p:cNvSpPr/>
          <p:nvPr/>
        </p:nvSpPr>
        <p:spPr>
          <a:xfrm>
            <a:off x="3709083" y="11121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內容版面配置區 2"/>
          <p:cNvSpPr txBox="1">
            <a:spLocks/>
          </p:cNvSpPr>
          <p:nvPr/>
        </p:nvSpPr>
        <p:spPr>
          <a:xfrm>
            <a:off x="3709083" y="54385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bcaacb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cbcca</a:t>
            </a:r>
            <a:r>
              <a:rPr lang="en-US" altLang="zh-TW" sz="2400" strike="sngStrike" dirty="0" err="1">
                <a:solidFill>
                  <a:srgbClr val="FF0000"/>
                </a:solidFill>
                <a:latin typeface="Times New Roman" panose="02020603050405020304" pitchFamily="18" charset="0"/>
                <a:cs typeface="Times New Roman" panose="02020603050405020304" pitchFamily="18" charset="0"/>
              </a:rPr>
              <a:t>d</a:t>
            </a:r>
            <a:r>
              <a:rPr lang="en-US" altLang="zh-TW" sz="2400" dirty="0" err="1">
                <a:latin typeface="Times New Roman" panose="02020603050405020304" pitchFamily="18" charset="0"/>
                <a:cs typeface="Times New Roman" panose="02020603050405020304" pitchFamily="18" charset="0"/>
              </a:rPr>
              <a:t>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‘d’</a:t>
            </a:r>
          </a:p>
          <a:p>
            <a:endParaRPr lang="zh-TW" altLang="en-US" dirty="0"/>
          </a:p>
        </p:txBody>
      </p:sp>
      <p:sp>
        <p:nvSpPr>
          <p:cNvPr id="12" name="矩形 11"/>
          <p:cNvSpPr/>
          <p:nvPr/>
        </p:nvSpPr>
        <p:spPr>
          <a:xfrm>
            <a:off x="3709083" y="54385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3" idx="3"/>
            <a:endCxn id="5" idx="1"/>
          </p:cNvCxnSpPr>
          <p:nvPr/>
        </p:nvCxnSpPr>
        <p:spPr>
          <a:xfrm flipV="1">
            <a:off x="2685534" y="790833"/>
            <a:ext cx="1023549" cy="26319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3" idx="3"/>
            <a:endCxn id="12" idx="1"/>
          </p:cNvCxnSpPr>
          <p:nvPr/>
        </p:nvCxnSpPr>
        <p:spPr>
          <a:xfrm>
            <a:off x="2685534" y="3422822"/>
            <a:ext cx="1023549" cy="26953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58766157-9E27-45C7-9B96-AE9210B8C586}"/>
              </a:ext>
            </a:extLst>
          </p:cNvPr>
          <p:cNvSpPr txBox="1"/>
          <p:nvPr/>
        </p:nvSpPr>
        <p:spPr>
          <a:xfrm>
            <a:off x="2821752" y="1702315"/>
            <a:ext cx="250371"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26" name="文字方塊 25">
            <a:extLst>
              <a:ext uri="{FF2B5EF4-FFF2-40B4-BE49-F238E27FC236}">
                <a16:creationId xmlns:a16="http://schemas.microsoft.com/office/drawing/2014/main" id="{DA117721-428A-44DE-8A97-DD77C4E9B5BC}"/>
              </a:ext>
            </a:extLst>
          </p:cNvPr>
          <p:cNvSpPr txBox="1"/>
          <p:nvPr/>
        </p:nvSpPr>
        <p:spPr>
          <a:xfrm>
            <a:off x="3145057" y="2470653"/>
            <a:ext cx="354874"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27" name="文字方塊 26">
            <a:extLst>
              <a:ext uri="{FF2B5EF4-FFF2-40B4-BE49-F238E27FC236}">
                <a16:creationId xmlns:a16="http://schemas.microsoft.com/office/drawing/2014/main" id="{D78D3866-7574-422F-B4E4-7076735FAF08}"/>
              </a:ext>
            </a:extLst>
          </p:cNvPr>
          <p:cNvSpPr txBox="1"/>
          <p:nvPr/>
        </p:nvSpPr>
        <p:spPr>
          <a:xfrm>
            <a:off x="3145057" y="3588926"/>
            <a:ext cx="354874"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28" name="文字方塊 27">
            <a:extLst>
              <a:ext uri="{FF2B5EF4-FFF2-40B4-BE49-F238E27FC236}">
                <a16:creationId xmlns:a16="http://schemas.microsoft.com/office/drawing/2014/main" id="{5458A00D-A531-4E74-8540-C0536B684730}"/>
              </a:ext>
            </a:extLst>
          </p:cNvPr>
          <p:cNvSpPr txBox="1"/>
          <p:nvPr/>
        </p:nvSpPr>
        <p:spPr>
          <a:xfrm>
            <a:off x="2894686" y="5013926"/>
            <a:ext cx="354874"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d</a:t>
            </a:r>
            <a:endParaRPr lang="zh-TW" altLang="en-US" dirty="0"/>
          </a:p>
        </p:txBody>
      </p:sp>
    </p:spTree>
    <p:extLst>
      <p:ext uri="{BB962C8B-B14F-4D97-AF65-F5344CB8AC3E}">
        <p14:creationId xmlns:p14="http://schemas.microsoft.com/office/powerpoint/2010/main" val="1792237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a:latin typeface="Times New Roman" panose="02020603050405020304" pitchFamily="18" charset="0"/>
                <a:cs typeface="Times New Roman" panose="02020603050405020304" pitchFamily="18" charset="0"/>
              </a:rPr>
              <a:t>X = </a:t>
            </a:r>
            <a:r>
              <a:rPr lang="en-US" altLang="zh-TW" sz="2400" strike="sngStrike">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a:latin typeface="Times New Roman" panose="02020603050405020304" pitchFamily="18" charset="0"/>
                <a:ea typeface="Cambria" panose="02040503050406030204" pitchFamily="18" charset="0"/>
                <a:cs typeface="Times New Roman" panose="02020603050405020304" pitchFamily="18" charset="0"/>
              </a:rPr>
              <a:t>caacbdba</a:t>
            </a:r>
          </a:p>
          <a:p>
            <a:pPr marL="0" indent="0">
              <a:buFont typeface="Arial" panose="020B0604020202020204" pitchFamily="34" charset="0"/>
              <a:buNone/>
            </a:pPr>
            <a:r>
              <a:rPr lang="en-US" altLang="zh-TW" sz="2400">
                <a:latin typeface="Times New Roman" panose="02020603050405020304" pitchFamily="18" charset="0"/>
                <a:cs typeface="Times New Roman" panose="02020603050405020304" pitchFamily="18" charset="0"/>
              </a:rPr>
              <a:t>Y = </a:t>
            </a:r>
            <a:r>
              <a:rPr lang="en-US" altLang="zh-TW" sz="2400" strike="sngStrike">
                <a:latin typeface="Times New Roman" panose="02020603050405020304" pitchFamily="18" charset="0"/>
                <a:cs typeface="Times New Roman" panose="02020603050405020304" pitchFamily="18" charset="0"/>
              </a:rPr>
              <a:t>c</a:t>
            </a:r>
            <a:r>
              <a:rPr lang="en-US" altLang="zh-TW" sz="2400" strike="sngStrike">
                <a:solidFill>
                  <a:srgbClr val="FF0000"/>
                </a:solidFill>
                <a:latin typeface="Times New Roman" panose="02020603050405020304" pitchFamily="18" charset="0"/>
                <a:cs typeface="Times New Roman" panose="02020603050405020304" pitchFamily="18" charset="0"/>
              </a:rPr>
              <a:t>b</a:t>
            </a:r>
            <a:r>
              <a:rPr lang="en-US" altLang="zh-TW" sz="2400">
                <a:latin typeface="Times New Roman" panose="02020603050405020304" pitchFamily="18" charset="0"/>
                <a:cs typeface="Times New Roman" panose="02020603050405020304" pitchFamily="18" charset="0"/>
              </a:rPr>
              <a:t>ccadcbbd</a:t>
            </a:r>
          </a:p>
          <a:p>
            <a:pPr marL="0" indent="0">
              <a:buFont typeface="Arial" panose="020B0604020202020204" pitchFamily="34" charset="0"/>
              <a:buNone/>
            </a:pPr>
            <a:r>
              <a:rPr lang="en-US" altLang="zh-TW" sz="240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a:latin typeface="標楷體" panose="03000509000000000000" pitchFamily="65" charset="-120"/>
                <a:ea typeface="標楷體" panose="03000509000000000000" pitchFamily="65" charset="-120"/>
              </a:rPr>
              <a:t> </a:t>
            </a:r>
            <a:r>
              <a:rPr lang="en-US" altLang="zh-TW" sz="2400"/>
              <a:t>= </a:t>
            </a:r>
            <a:r>
              <a:rPr lang="en-US" altLang="zh-TW" sz="240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文字方塊 1"/>
          <p:cNvSpPr txBox="1"/>
          <p:nvPr/>
        </p:nvSpPr>
        <p:spPr>
          <a:xfrm>
            <a:off x="7715250" y="3246224"/>
            <a:ext cx="3171825" cy="646331"/>
          </a:xfrm>
          <a:prstGeom prst="rect">
            <a:avLst/>
          </a:prstGeom>
          <a:noFill/>
        </p:spPr>
        <p:txBody>
          <a:bodyPr wrap="square" rtlCol="0">
            <a:sp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由</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a:t>
            </a:r>
            <a:r>
              <a:rPr lang="en-US" altLang="zh-TW" baseline="300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algorithn</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決定該由哪一個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node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繼續做延伸。</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677A249A-FECB-40B7-A5DE-4DB688F1260B}"/>
              </a:ext>
            </a:extLst>
          </p:cNvPr>
          <p:cNvSpPr txBox="1"/>
          <p:nvPr/>
        </p:nvSpPr>
        <p:spPr>
          <a:xfrm>
            <a:off x="2944760" y="2529013"/>
            <a:ext cx="50509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15" name="文字方塊 14">
            <a:extLst>
              <a:ext uri="{FF2B5EF4-FFF2-40B4-BE49-F238E27FC236}">
                <a16:creationId xmlns:a16="http://schemas.microsoft.com/office/drawing/2014/main" id="{22F532EB-4940-40D6-9800-4623C6B915CA}"/>
              </a:ext>
            </a:extLst>
          </p:cNvPr>
          <p:cNvSpPr txBox="1"/>
          <p:nvPr/>
        </p:nvSpPr>
        <p:spPr>
          <a:xfrm>
            <a:off x="2944759" y="3917777"/>
            <a:ext cx="50509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Tree>
    <p:extLst>
      <p:ext uri="{BB962C8B-B14F-4D97-AF65-F5344CB8AC3E}">
        <p14:creationId xmlns:p14="http://schemas.microsoft.com/office/powerpoint/2010/main" val="411675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 </a:t>
            </a:r>
            <a:r>
              <a:rPr lang="en-US" altLang="zh-TW" dirty="0" err="1">
                <a:latin typeface="Times New Roman" panose="02020603050405020304" pitchFamily="18" charset="0"/>
                <a:cs typeface="Times New Roman" panose="02020603050405020304" pitchFamily="18" charset="0"/>
              </a:rPr>
              <a:t>algortithm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f(v) = g(v) + h(v)</a:t>
            </a:r>
          </a:p>
          <a:p>
            <a:r>
              <a:rPr lang="en-US" altLang="zh-TW" dirty="0">
                <a:latin typeface="Times New Roman" panose="02020603050405020304" pitchFamily="18" charset="0"/>
                <a:cs typeface="Times New Roman" panose="02020603050405020304" pitchFamily="18" charset="0"/>
              </a:rPr>
              <a:t>g(v) : |S|</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h(v) : min{UB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(v),UB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(v)}</a:t>
            </a:r>
          </a:p>
          <a:p>
            <a:endParaRPr lang="en-US" altLang="zh-TW" dirty="0">
              <a:latin typeface="Times New Roman" panose="02020603050405020304" pitchFamily="18" charset="0"/>
              <a:cs typeface="Times New Roman" panose="02020603050405020304" pitchFamily="18" charset="0"/>
            </a:endParaRPr>
          </a:p>
        </p:txBody>
      </p:sp>
      <p:sp>
        <p:nvSpPr>
          <p:cNvPr id="4" name="內容版面配置區 2"/>
          <p:cNvSpPr txBox="1">
            <a:spLocks/>
          </p:cNvSpPr>
          <p:nvPr/>
        </p:nvSpPr>
        <p:spPr>
          <a:xfrm>
            <a:off x="7023783" y="2188820"/>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5" name="矩形 4"/>
          <p:cNvSpPr/>
          <p:nvPr/>
        </p:nvSpPr>
        <p:spPr>
          <a:xfrm>
            <a:off x="7023783" y="218882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9351271" y="3178731"/>
            <a:ext cx="930063"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g(v) = 1</a:t>
            </a:r>
            <a:endParaRPr lang="zh-TW" altLang="en-US" dirty="0"/>
          </a:p>
        </p:txBody>
      </p:sp>
    </p:spTree>
    <p:extLst>
      <p:ext uri="{BB962C8B-B14F-4D97-AF65-F5344CB8AC3E}">
        <p14:creationId xmlns:p14="http://schemas.microsoft.com/office/powerpoint/2010/main" val="1858330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UB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(v) &amp; UB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(v)</a:t>
            </a:r>
            <a:r>
              <a:rPr lang="zh-TW" altLang="en-US" dirty="0">
                <a:latin typeface="Times New Roman" panose="02020603050405020304" pitchFamily="18" charset="0"/>
                <a:cs typeface="Times New Roman" panose="02020603050405020304" pitchFamily="18" charset="0"/>
              </a:rPr>
              <a:t> </a:t>
            </a:r>
            <a:r>
              <a:rPr lang="en-US" altLang="zh-TW">
                <a:latin typeface="Times New Roman" panose="02020603050405020304" pitchFamily="18" charset="0"/>
                <a:cs typeface="Times New Roman" panose="02020603050405020304" pitchFamily="18" charset="0"/>
              </a:rPr>
              <a:t>(?????)</a:t>
            </a:r>
            <a:endParaRPr lang="zh-TW" altLang="en-US" baseline="-25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X = </a:t>
            </a:r>
            <a:r>
              <a:rPr lang="en-US" altLang="zh-TW"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Y = </a:t>
            </a:r>
            <a:r>
              <a:rPr lang="en-US" altLang="zh-TW" strike="sngStrike" dirty="0" err="1">
                <a:latin typeface="Times New Roman" panose="02020603050405020304" pitchFamily="18" charset="0"/>
                <a:cs typeface="Times New Roman" panose="02020603050405020304" pitchFamily="18" charset="0"/>
              </a:rPr>
              <a:t>c</a:t>
            </a:r>
            <a:r>
              <a:rPr lang="en-US" altLang="zh-TW" strike="sngStrike" dirty="0" err="1">
                <a:solidFill>
                  <a:srgbClr val="FF0000"/>
                </a:solidFill>
                <a:latin typeface="Times New Roman" panose="02020603050405020304" pitchFamily="18" charset="0"/>
                <a:cs typeface="Times New Roman" panose="02020603050405020304" pitchFamily="18" charset="0"/>
              </a:rPr>
              <a:t>b</a:t>
            </a:r>
            <a:r>
              <a:rPr lang="en-US" altLang="zh-TW" dirty="0" err="1">
                <a:latin typeface="Times New Roman" panose="02020603050405020304" pitchFamily="18" charset="0"/>
                <a:cs typeface="Times New Roman" panose="02020603050405020304" pitchFamily="18" charset="0"/>
              </a:rPr>
              <a:t>ccadcbbd</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dirty="0">
                <a:latin typeface="標楷體" panose="03000509000000000000" pitchFamily="65" charset="-120"/>
                <a:ea typeface="標楷體" panose="03000509000000000000" pitchFamily="65" charset="-120"/>
              </a:rPr>
              <a:t> </a:t>
            </a:r>
            <a:r>
              <a:rPr lang="en-US" altLang="zh-TW" dirty="0"/>
              <a:t>= </a:t>
            </a:r>
            <a:r>
              <a:rPr lang="en-US" altLang="zh-TW" dirty="0">
                <a:latin typeface="Times New Roman" panose="02020603050405020304" pitchFamily="18" charset="0"/>
                <a:cs typeface="Times New Roman" panose="02020603050405020304" pitchFamily="18" charset="0"/>
              </a:rPr>
              <a:t>‘b’</a:t>
            </a:r>
          </a:p>
          <a:p>
            <a:endParaRPr lang="en-US" altLang="zh-TW" dirty="0"/>
          </a:p>
          <a:p>
            <a:r>
              <a:rPr lang="en-US" altLang="zh-TW" dirty="0">
                <a:latin typeface="Times New Roman" panose="02020603050405020304" pitchFamily="18" charset="0"/>
                <a:cs typeface="Times New Roman" panose="02020603050405020304" pitchFamily="18" charset="0"/>
              </a:rPr>
              <a:t>UB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 1 + 1 + 2 + 1 = 5</a:t>
            </a:r>
          </a:p>
          <a:p>
            <a:r>
              <a:rPr lang="en-US" altLang="zh-TW" dirty="0">
                <a:latin typeface="Times New Roman" panose="02020603050405020304" pitchFamily="18" charset="0"/>
                <a:cs typeface="Times New Roman" panose="02020603050405020304" pitchFamily="18" charset="0"/>
              </a:rPr>
              <a:t>UB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 |LCS(</a:t>
            </a:r>
            <a:r>
              <a:rPr lang="en-US" altLang="zh-TW" dirty="0" err="1">
                <a:latin typeface="Times New Roman" panose="02020603050405020304" pitchFamily="18" charset="0"/>
                <a:cs typeface="Times New Roman" panose="02020603050405020304" pitchFamily="18" charset="0"/>
              </a:rPr>
              <a:t>caacbda</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ccadcbbd</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cacbd</a:t>
            </a:r>
            <a:r>
              <a:rPr lang="en-US" altLang="zh-TW" dirty="0">
                <a:latin typeface="Times New Roman" panose="02020603050405020304" pitchFamily="18" charset="0"/>
                <a:cs typeface="Times New Roman" panose="02020603050405020304" pitchFamily="18" charset="0"/>
              </a:rPr>
              <a:t>| = 5</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1845307217"/>
              </p:ext>
            </p:extLst>
          </p:nvPr>
        </p:nvGraphicFramePr>
        <p:xfrm>
          <a:off x="5489575" y="1825625"/>
          <a:ext cx="4073525" cy="1498599"/>
        </p:xfrm>
        <a:graphic>
          <a:graphicData uri="http://schemas.openxmlformats.org/drawingml/2006/table">
            <a:tbl>
              <a:tblPr firstRow="1" bandRow="1">
                <a:tableStyleId>{5C22544A-7EE6-4342-B048-85BDC9FD1C3A}</a:tableStyleId>
              </a:tblPr>
              <a:tblGrid>
                <a:gridCol w="814705">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814705">
                  <a:extLst>
                    <a:ext uri="{9D8B030D-6E8A-4147-A177-3AD203B41FA5}">
                      <a16:colId xmlns:a16="http://schemas.microsoft.com/office/drawing/2014/main" val="20002"/>
                    </a:ext>
                  </a:extLst>
                </a:gridCol>
                <a:gridCol w="814705">
                  <a:extLst>
                    <a:ext uri="{9D8B030D-6E8A-4147-A177-3AD203B41FA5}">
                      <a16:colId xmlns:a16="http://schemas.microsoft.com/office/drawing/2014/main" val="20003"/>
                    </a:ext>
                  </a:extLst>
                </a:gridCol>
                <a:gridCol w="814705">
                  <a:extLst>
                    <a:ext uri="{9D8B030D-6E8A-4147-A177-3AD203B41FA5}">
                      <a16:colId xmlns:a16="http://schemas.microsoft.com/office/drawing/2014/main" val="20004"/>
                    </a:ext>
                  </a:extLst>
                </a:gridCol>
              </a:tblGrid>
              <a:tr h="499533">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d</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99533">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X</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99533">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Y</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3</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2</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4216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3938198" y="3238155"/>
            <a:ext cx="1864843"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1+5 (better) </a:t>
            </a:r>
            <a:endParaRPr lang="zh-TW" altLang="en-US" dirty="0">
              <a:latin typeface="Times New Roman" panose="02020603050405020304" pitchFamily="18" charset="0"/>
              <a:cs typeface="Times New Roman" panose="02020603050405020304" pitchFamily="18" charset="0"/>
            </a:endParaRPr>
          </a:p>
        </p:txBody>
      </p:sp>
      <p:sp>
        <p:nvSpPr>
          <p:cNvPr id="13" name="文字方塊 12"/>
          <p:cNvSpPr txBox="1"/>
          <p:nvPr/>
        </p:nvSpPr>
        <p:spPr>
          <a:xfrm>
            <a:off x="4247760" y="5077258"/>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2E54C45C-ECB0-47D7-B9EC-1D14741C40F5}"/>
              </a:ext>
            </a:extLst>
          </p:cNvPr>
          <p:cNvSpPr txBox="1"/>
          <p:nvPr/>
        </p:nvSpPr>
        <p:spPr>
          <a:xfrm>
            <a:off x="2969623" y="2558534"/>
            <a:ext cx="6096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15" name="文字方塊 14">
            <a:extLst>
              <a:ext uri="{FF2B5EF4-FFF2-40B4-BE49-F238E27FC236}">
                <a16:creationId xmlns:a16="http://schemas.microsoft.com/office/drawing/2014/main" id="{231DAB84-D70E-49C3-A183-D9C71A9F4ED6}"/>
              </a:ext>
            </a:extLst>
          </p:cNvPr>
          <p:cNvSpPr txBox="1"/>
          <p:nvPr/>
        </p:nvSpPr>
        <p:spPr>
          <a:xfrm>
            <a:off x="2969623" y="4000673"/>
            <a:ext cx="6096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Tree>
    <p:extLst>
      <p:ext uri="{BB962C8B-B14F-4D97-AF65-F5344CB8AC3E}">
        <p14:creationId xmlns:p14="http://schemas.microsoft.com/office/powerpoint/2010/main" val="1353618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7190600" y="1534264"/>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2+4</a:t>
            </a:r>
            <a:endParaRPr lang="zh-TW" altLang="en-US"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D63B1BDF-2252-4D4D-B981-B56FFB92295E}"/>
              </a:ext>
            </a:extLst>
          </p:cNvPr>
          <p:cNvSpPr txBox="1"/>
          <p:nvPr/>
        </p:nvSpPr>
        <p:spPr>
          <a:xfrm>
            <a:off x="2969623" y="2558534"/>
            <a:ext cx="6096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17" name="文字方塊 16">
            <a:extLst>
              <a:ext uri="{FF2B5EF4-FFF2-40B4-BE49-F238E27FC236}">
                <a16:creationId xmlns:a16="http://schemas.microsoft.com/office/drawing/2014/main" id="{E36412F0-0DBD-4ED1-A1B7-43069819B7EE}"/>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21" name="文字方塊 20">
            <a:extLst>
              <a:ext uri="{FF2B5EF4-FFF2-40B4-BE49-F238E27FC236}">
                <a16:creationId xmlns:a16="http://schemas.microsoft.com/office/drawing/2014/main" id="{FF5008F1-AC7E-43AF-890C-A8E20BEBAEB8}"/>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Tree>
    <p:extLst>
      <p:ext uri="{BB962C8B-B14F-4D97-AF65-F5344CB8AC3E}">
        <p14:creationId xmlns:p14="http://schemas.microsoft.com/office/powerpoint/2010/main" val="285611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17" name="矩形 16"/>
          <p:cNvSpPr/>
          <p:nvPr/>
        </p:nvSpPr>
        <p:spPr>
          <a:xfrm>
            <a:off x="975621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內容版面配置區 2"/>
          <p:cNvSpPr txBox="1">
            <a:spLocks/>
          </p:cNvSpPr>
          <p:nvPr/>
        </p:nvSpPr>
        <p:spPr>
          <a:xfrm>
            <a:off x="975621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10225900" y="0"/>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3+2</a:t>
            </a:r>
            <a:endParaRPr lang="zh-TW" altLang="en-US" dirty="0">
              <a:latin typeface="Times New Roman" panose="02020603050405020304" pitchFamily="18" charset="0"/>
              <a:cs typeface="Times New Roman" panose="02020603050405020304" pitchFamily="18" charset="0"/>
            </a:endParaRPr>
          </a:p>
        </p:txBody>
      </p:sp>
      <p:sp>
        <p:nvSpPr>
          <p:cNvPr id="25" name="文字方塊 24"/>
          <p:cNvSpPr txBox="1"/>
          <p:nvPr/>
        </p:nvSpPr>
        <p:spPr>
          <a:xfrm>
            <a:off x="10225900" y="204538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3+3</a:t>
            </a:r>
            <a:endParaRPr lang="zh-TW" altLang="en-US"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CAED1352-7F1A-43B8-A066-9C319DD89FE3}"/>
              </a:ext>
            </a:extLst>
          </p:cNvPr>
          <p:cNvSpPr txBox="1"/>
          <p:nvPr/>
        </p:nvSpPr>
        <p:spPr>
          <a:xfrm>
            <a:off x="2969623" y="2558534"/>
            <a:ext cx="6096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26" name="文字方塊 25">
            <a:extLst>
              <a:ext uri="{FF2B5EF4-FFF2-40B4-BE49-F238E27FC236}">
                <a16:creationId xmlns:a16="http://schemas.microsoft.com/office/drawing/2014/main" id="{F08589B0-5C45-4BB1-9182-72E03AFA1214}"/>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27" name="文字方塊 26">
            <a:extLst>
              <a:ext uri="{FF2B5EF4-FFF2-40B4-BE49-F238E27FC236}">
                <a16:creationId xmlns:a16="http://schemas.microsoft.com/office/drawing/2014/main" id="{006FB4E2-C2FF-4A0C-9F70-1BAC63613EC4}"/>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28" name="文字方塊 27">
            <a:extLst>
              <a:ext uri="{FF2B5EF4-FFF2-40B4-BE49-F238E27FC236}">
                <a16:creationId xmlns:a16="http://schemas.microsoft.com/office/drawing/2014/main" id="{6F89EA36-DD58-4564-A280-9DCCE7415EC1}"/>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29" name="文字方塊 28">
            <a:extLst>
              <a:ext uri="{FF2B5EF4-FFF2-40B4-BE49-F238E27FC236}">
                <a16:creationId xmlns:a16="http://schemas.microsoft.com/office/drawing/2014/main" id="{4A0D45F9-4E20-4676-BB41-CF7510E66A0D}"/>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Tree>
    <p:extLst>
      <p:ext uri="{BB962C8B-B14F-4D97-AF65-F5344CB8AC3E}">
        <p14:creationId xmlns:p14="http://schemas.microsoft.com/office/powerpoint/2010/main" val="1733847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21" name="內容版面配置區 2"/>
          <p:cNvSpPr txBox="1">
            <a:spLocks/>
          </p:cNvSpPr>
          <p:nvPr/>
        </p:nvSpPr>
        <p:spPr>
          <a:xfrm>
            <a:off x="975621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10225900" y="0"/>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3+2</a:t>
            </a:r>
            <a:endParaRPr lang="zh-TW" altLang="en-US" dirty="0">
              <a:latin typeface="Times New Roman" panose="02020603050405020304" pitchFamily="18" charset="0"/>
              <a:cs typeface="Times New Roman" panose="02020603050405020304" pitchFamily="18" charset="0"/>
            </a:endParaRPr>
          </a:p>
        </p:txBody>
      </p: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8244644" y="1886981"/>
            <a:ext cx="1136850"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f(v) = 6+0</a:t>
            </a:r>
            <a:endParaRPr lang="zh-TW" altLang="en-US"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3592EB52-63D5-448A-995D-8E9C37054ADB}"/>
              </a:ext>
            </a:extLst>
          </p:cNvPr>
          <p:cNvSpPr txBox="1"/>
          <p:nvPr/>
        </p:nvSpPr>
        <p:spPr>
          <a:xfrm>
            <a:off x="2969623" y="2558534"/>
            <a:ext cx="4720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1" name="文字方塊 30">
            <a:extLst>
              <a:ext uri="{FF2B5EF4-FFF2-40B4-BE49-F238E27FC236}">
                <a16:creationId xmlns:a16="http://schemas.microsoft.com/office/drawing/2014/main" id="{F4A17A1A-8958-4A2B-982B-67B70FF84C37}"/>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2" name="文字方塊 31">
            <a:extLst>
              <a:ext uri="{FF2B5EF4-FFF2-40B4-BE49-F238E27FC236}">
                <a16:creationId xmlns:a16="http://schemas.microsoft.com/office/drawing/2014/main" id="{C4FF189B-367A-4D35-BB95-334BD61C0619}"/>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3" name="文字方塊 32">
            <a:extLst>
              <a:ext uri="{FF2B5EF4-FFF2-40B4-BE49-F238E27FC236}">
                <a16:creationId xmlns:a16="http://schemas.microsoft.com/office/drawing/2014/main" id="{E4DFA43A-BD8C-4AB3-84DA-54D74B0C3A19}"/>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5" name="文字方塊 34">
            <a:extLst>
              <a:ext uri="{FF2B5EF4-FFF2-40B4-BE49-F238E27FC236}">
                <a16:creationId xmlns:a16="http://schemas.microsoft.com/office/drawing/2014/main" id="{21A8AAAD-375B-4D69-9AFB-0505EC6E12D3}"/>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36" name="文字方塊 35">
            <a:extLst>
              <a:ext uri="{FF2B5EF4-FFF2-40B4-BE49-F238E27FC236}">
                <a16:creationId xmlns:a16="http://schemas.microsoft.com/office/drawing/2014/main" id="{63C535B5-883A-4ADC-9BF5-18CF3425813B}"/>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7" name="文字方塊 36">
            <a:extLst>
              <a:ext uri="{FF2B5EF4-FFF2-40B4-BE49-F238E27FC236}">
                <a16:creationId xmlns:a16="http://schemas.microsoft.com/office/drawing/2014/main" id="{F07C8CFA-62B8-4FF8-9736-D2372B93AADA}"/>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8" name="文字方塊 37">
            <a:extLst>
              <a:ext uri="{FF2B5EF4-FFF2-40B4-BE49-F238E27FC236}">
                <a16:creationId xmlns:a16="http://schemas.microsoft.com/office/drawing/2014/main" id="{776C05D0-76D4-4BFA-9D7A-4C1ED976D197}"/>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2969213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Examples that do not need to be extended</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Cannot lead to feasible solutions</a:t>
            </a:r>
          </a:p>
          <a:p>
            <a:r>
              <a:rPr lang="en-US" altLang="zh-TW" dirty="0">
                <a:latin typeface="Times New Roman" panose="02020603050405020304" pitchFamily="18" charset="0"/>
                <a:cs typeface="Times New Roman" panose="02020603050405020304" pitchFamily="18" charset="0"/>
              </a:rPr>
              <a:t>Cannot lead to a better solution when taking the letter</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972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a:ln w="38100">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21" name="內容版面配置區 2"/>
          <p:cNvSpPr txBox="1">
            <a:spLocks/>
          </p:cNvSpPr>
          <p:nvPr/>
        </p:nvSpPr>
        <p:spPr>
          <a:xfrm>
            <a:off x="975621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18244644" y="1886981"/>
            <a:ext cx="1136850"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f(v) = 6+0</a:t>
            </a:r>
            <a:endParaRPr lang="zh-TW" altLang="en-US"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36D5CC83-60A3-4ECD-BB93-CE79A9626B95}"/>
              </a:ext>
            </a:extLst>
          </p:cNvPr>
          <p:cNvSpPr txBox="1"/>
          <p:nvPr/>
        </p:nvSpPr>
        <p:spPr>
          <a:xfrm>
            <a:off x="2969623" y="255853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1" name="文字方塊 30">
            <a:extLst>
              <a:ext uri="{FF2B5EF4-FFF2-40B4-BE49-F238E27FC236}">
                <a16:creationId xmlns:a16="http://schemas.microsoft.com/office/drawing/2014/main" id="{AB9A6C66-46B9-49D5-85A6-FC948114884D}"/>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2" name="文字方塊 31">
            <a:extLst>
              <a:ext uri="{FF2B5EF4-FFF2-40B4-BE49-F238E27FC236}">
                <a16:creationId xmlns:a16="http://schemas.microsoft.com/office/drawing/2014/main" id="{75DBFB6E-0CC9-46FD-903A-3A61FE5247B9}"/>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3" name="文字方塊 32">
            <a:extLst>
              <a:ext uri="{FF2B5EF4-FFF2-40B4-BE49-F238E27FC236}">
                <a16:creationId xmlns:a16="http://schemas.microsoft.com/office/drawing/2014/main" id="{BEB5E4CD-99DB-47C7-8E76-010EE2A1FE32}"/>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5" name="文字方塊 34">
            <a:extLst>
              <a:ext uri="{FF2B5EF4-FFF2-40B4-BE49-F238E27FC236}">
                <a16:creationId xmlns:a16="http://schemas.microsoft.com/office/drawing/2014/main" id="{BFAC4C3E-701B-4F7D-887D-4F670772BCDC}"/>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36" name="文字方塊 35">
            <a:extLst>
              <a:ext uri="{FF2B5EF4-FFF2-40B4-BE49-F238E27FC236}">
                <a16:creationId xmlns:a16="http://schemas.microsoft.com/office/drawing/2014/main" id="{0AB0DF44-26A0-4A0C-B188-E62B31479315}"/>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7" name="文字方塊 36">
            <a:extLst>
              <a:ext uri="{FF2B5EF4-FFF2-40B4-BE49-F238E27FC236}">
                <a16:creationId xmlns:a16="http://schemas.microsoft.com/office/drawing/2014/main" id="{29F4DB98-9028-403B-9F01-88204CEC8DDE}"/>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8" name="文字方塊 37">
            <a:extLst>
              <a:ext uri="{FF2B5EF4-FFF2-40B4-BE49-F238E27FC236}">
                <a16:creationId xmlns:a16="http://schemas.microsoft.com/office/drawing/2014/main" id="{9E7A8996-A321-4500-AC5E-ACB4DD0A3D84}"/>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806747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p:txBody>
      </p:sp>
      <p:sp>
        <p:nvSpPr>
          <p:cNvPr id="16" name="矩形 15"/>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cs typeface="Times New Roman" panose="02020603050405020304" pitchFamily="18" charset="0"/>
              </a:rPr>
              <a:t>d</a:t>
            </a:r>
            <a:r>
              <a:rPr lang="en-US" altLang="zh-TW" sz="2400" dirty="0" err="1">
                <a:latin typeface="Times New Roman" panose="02020603050405020304" pitchFamily="18" charset="0"/>
                <a:cs typeface="Times New Roman" panose="02020603050405020304" pitchFamily="18" charset="0"/>
              </a:rPr>
              <a:t>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cd</a:t>
            </a:r>
            <a:r>
              <a:rPr lang="en-US" altLang="zh-TW" sz="2400" dirty="0">
                <a:latin typeface="Times New Roman" panose="02020603050405020304" pitchFamily="18" charset="0"/>
                <a:cs typeface="Times New Roman" panose="02020603050405020304" pitchFamily="18" charset="0"/>
              </a:rPr>
              <a:t>’</a:t>
            </a:r>
          </a:p>
        </p:txBody>
      </p:sp>
      <p:sp>
        <p:nvSpPr>
          <p:cNvPr id="18" name="矩形 1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p>
        </p:txBody>
      </p:sp>
      <p:sp>
        <p:nvSpPr>
          <p:cNvPr id="20" name="矩形 1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p:cNvCxnSpPr>
            <a:stCxn id="16" idx="3"/>
            <a:endCxn id="1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6" idx="3"/>
            <a:endCxn id="1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6030097" y="1886981"/>
            <a:ext cx="3855308" cy="1200329"/>
          </a:xfrm>
          <a:prstGeom prst="rect">
            <a:avLst/>
          </a:prstGeom>
          <a:noFill/>
        </p:spPr>
        <p:txBody>
          <a:bodyPr wrap="square" rtlCol="0">
            <a:sp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LCS(</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ba,cbbd</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中沒有</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bb</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∴不符合</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sequence </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中要包含</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cbb</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的條件，不需要加入此</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node</a:t>
            </a:r>
          </a:p>
        </p:txBody>
      </p:sp>
      <p:sp>
        <p:nvSpPr>
          <p:cNvPr id="25" name="標題 1"/>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Cannot lead to feasible solutions</a:t>
            </a:r>
          </a:p>
        </p:txBody>
      </p:sp>
      <p:sp>
        <p:nvSpPr>
          <p:cNvPr id="13" name="文字方塊 12">
            <a:extLst>
              <a:ext uri="{FF2B5EF4-FFF2-40B4-BE49-F238E27FC236}">
                <a16:creationId xmlns:a16="http://schemas.microsoft.com/office/drawing/2014/main" id="{CF153BE3-C747-44C7-A13B-75D59F1D20D4}"/>
              </a:ext>
            </a:extLst>
          </p:cNvPr>
          <p:cNvSpPr txBox="1"/>
          <p:nvPr/>
        </p:nvSpPr>
        <p:spPr>
          <a:xfrm>
            <a:off x="3006808" y="2625381"/>
            <a:ext cx="381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d</a:t>
            </a:r>
            <a:endParaRPr lang="zh-TW" altLang="en-US" dirty="0"/>
          </a:p>
        </p:txBody>
      </p:sp>
      <p:sp>
        <p:nvSpPr>
          <p:cNvPr id="14" name="文字方塊 13">
            <a:extLst>
              <a:ext uri="{FF2B5EF4-FFF2-40B4-BE49-F238E27FC236}">
                <a16:creationId xmlns:a16="http://schemas.microsoft.com/office/drawing/2014/main" id="{4F54D863-B3C7-45B1-B7F6-94A4737BD69D}"/>
              </a:ext>
            </a:extLst>
          </p:cNvPr>
          <p:cNvSpPr txBox="1"/>
          <p:nvPr/>
        </p:nvSpPr>
        <p:spPr>
          <a:xfrm>
            <a:off x="3006808" y="3978191"/>
            <a:ext cx="38100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101849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17" name="矩形 16"/>
          <p:cNvSpPr/>
          <p:nvPr/>
        </p:nvSpPr>
        <p:spPr>
          <a:xfrm>
            <a:off x="975621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內容版面配置區 2"/>
          <p:cNvSpPr txBox="1">
            <a:spLocks/>
          </p:cNvSpPr>
          <p:nvPr/>
        </p:nvSpPr>
        <p:spPr>
          <a:xfrm>
            <a:off x="975621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12880670" y="-9645"/>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4+1</a:t>
            </a:r>
            <a:endParaRPr lang="zh-TW" altLang="en-US" dirty="0">
              <a:latin typeface="Times New Roman" panose="02020603050405020304" pitchFamily="18" charset="0"/>
              <a:cs typeface="Times New Roman" panose="02020603050405020304" pitchFamily="18" charset="0"/>
            </a:endParaRPr>
          </a:p>
        </p:txBody>
      </p: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內容版面配置區 2"/>
          <p:cNvSpPr txBox="1">
            <a:spLocks/>
          </p:cNvSpPr>
          <p:nvPr/>
        </p:nvSpPr>
        <p:spPr>
          <a:xfrm>
            <a:off x="1241098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p>
        </p:txBody>
      </p:sp>
      <p:sp>
        <p:nvSpPr>
          <p:cNvPr id="31" name="矩形 30"/>
          <p:cNvSpPr/>
          <p:nvPr/>
        </p:nvSpPr>
        <p:spPr>
          <a:xfrm>
            <a:off x="1241098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17" idx="3"/>
            <a:endCxn id="31" idx="1"/>
          </p:cNvCxnSpPr>
          <p:nvPr/>
        </p:nvCxnSpPr>
        <p:spPr>
          <a:xfrm>
            <a:off x="1194130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文字方塊 31">
            <a:extLst>
              <a:ext uri="{FF2B5EF4-FFF2-40B4-BE49-F238E27FC236}">
                <a16:creationId xmlns:a16="http://schemas.microsoft.com/office/drawing/2014/main" id="{9A5B2BD8-A65C-4CE4-901C-E64B0F24F2FC}"/>
              </a:ext>
            </a:extLst>
          </p:cNvPr>
          <p:cNvSpPr txBox="1"/>
          <p:nvPr/>
        </p:nvSpPr>
        <p:spPr>
          <a:xfrm>
            <a:off x="2969623" y="2558534"/>
            <a:ext cx="4720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3" name="文字方塊 32">
            <a:extLst>
              <a:ext uri="{FF2B5EF4-FFF2-40B4-BE49-F238E27FC236}">
                <a16:creationId xmlns:a16="http://schemas.microsoft.com/office/drawing/2014/main" id="{3E7D095A-6D3F-401E-94C3-1DBB1BBCE225}"/>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5" name="文字方塊 34">
            <a:extLst>
              <a:ext uri="{FF2B5EF4-FFF2-40B4-BE49-F238E27FC236}">
                <a16:creationId xmlns:a16="http://schemas.microsoft.com/office/drawing/2014/main" id="{36761F4D-E5F0-4D83-B9EC-00D091257CBA}"/>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6" name="文字方塊 35">
            <a:extLst>
              <a:ext uri="{FF2B5EF4-FFF2-40B4-BE49-F238E27FC236}">
                <a16:creationId xmlns:a16="http://schemas.microsoft.com/office/drawing/2014/main" id="{626635AA-2BF9-4C2B-9E02-86CC1E7C34F9}"/>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7" name="文字方塊 36">
            <a:extLst>
              <a:ext uri="{FF2B5EF4-FFF2-40B4-BE49-F238E27FC236}">
                <a16:creationId xmlns:a16="http://schemas.microsoft.com/office/drawing/2014/main" id="{AE9EBE20-2B88-4BB9-9174-6A384324F87C}"/>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38" name="文字方塊 37">
            <a:extLst>
              <a:ext uri="{FF2B5EF4-FFF2-40B4-BE49-F238E27FC236}">
                <a16:creationId xmlns:a16="http://schemas.microsoft.com/office/drawing/2014/main" id="{F5E75CA5-D850-416E-92C6-86AD1F8FE2C0}"/>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9" name="文字方塊 38">
            <a:extLst>
              <a:ext uri="{FF2B5EF4-FFF2-40B4-BE49-F238E27FC236}">
                <a16:creationId xmlns:a16="http://schemas.microsoft.com/office/drawing/2014/main" id="{DC8353BE-ACC5-4C82-B52C-674F04102F74}"/>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40" name="文字方塊 39">
            <a:extLst>
              <a:ext uri="{FF2B5EF4-FFF2-40B4-BE49-F238E27FC236}">
                <a16:creationId xmlns:a16="http://schemas.microsoft.com/office/drawing/2014/main" id="{92436D05-950B-42D0-AB22-0EFD56232312}"/>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42" name="文字方塊 41">
            <a:extLst>
              <a:ext uri="{FF2B5EF4-FFF2-40B4-BE49-F238E27FC236}">
                <a16:creationId xmlns:a16="http://schemas.microsoft.com/office/drawing/2014/main" id="{1A939069-2308-4EAC-998F-0376674D176E}"/>
              </a:ext>
            </a:extLst>
          </p:cNvPr>
          <p:cNvSpPr txBox="1"/>
          <p:nvPr/>
        </p:nvSpPr>
        <p:spPr>
          <a:xfrm>
            <a:off x="12012446" y="-543147"/>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2335998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4178767" y="5077257"/>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1+4</a:t>
            </a:r>
            <a:endParaRPr lang="zh-TW" altLang="en-US" dirty="0">
              <a:latin typeface="Times New Roman" panose="02020603050405020304" pitchFamily="18" charset="0"/>
              <a:cs typeface="Times New Roman" panose="02020603050405020304" pitchFamily="18" charset="0"/>
            </a:endParaRPr>
          </a:p>
        </p:txBody>
      </p: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17" name="矩形 16"/>
          <p:cNvSpPr/>
          <p:nvPr/>
        </p:nvSpPr>
        <p:spPr>
          <a:xfrm>
            <a:off x="975621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內容版面配置區 2"/>
          <p:cNvSpPr txBox="1">
            <a:spLocks/>
          </p:cNvSpPr>
          <p:nvPr/>
        </p:nvSpPr>
        <p:spPr>
          <a:xfrm>
            <a:off x="975621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內容版面配置區 2"/>
          <p:cNvSpPr txBox="1">
            <a:spLocks/>
          </p:cNvSpPr>
          <p:nvPr/>
        </p:nvSpPr>
        <p:spPr>
          <a:xfrm>
            <a:off x="12410986" y="-1359243"/>
            <a:ext cx="2185086" cy="1359243"/>
          </a:xfrm>
          <a:prstGeom prst="rect">
            <a:avLst/>
          </a:prstGeom>
          <a:ln>
            <a:solidFill>
              <a:schemeClr val="accent4"/>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p>
        </p:txBody>
      </p:sp>
      <p:sp>
        <p:nvSpPr>
          <p:cNvPr id="31" name="矩形 30"/>
          <p:cNvSpPr/>
          <p:nvPr/>
        </p:nvSpPr>
        <p:spPr>
          <a:xfrm>
            <a:off x="1241098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17" idx="3"/>
            <a:endCxn id="31" idx="1"/>
          </p:cNvCxnSpPr>
          <p:nvPr/>
        </p:nvCxnSpPr>
        <p:spPr>
          <a:xfrm>
            <a:off x="1194130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內容版面配置區 2"/>
          <p:cNvSpPr txBox="1">
            <a:spLocks/>
          </p:cNvSpPr>
          <p:nvPr/>
        </p:nvSpPr>
        <p:spPr>
          <a:xfrm>
            <a:off x="1506575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p:txBody>
      </p:sp>
      <p:sp>
        <p:nvSpPr>
          <p:cNvPr id="33" name="矩形 32"/>
          <p:cNvSpPr/>
          <p:nvPr/>
        </p:nvSpPr>
        <p:spPr>
          <a:xfrm>
            <a:off x="1506575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單箭頭接點 24"/>
          <p:cNvCxnSpPr>
            <a:stCxn id="31" idx="3"/>
            <a:endCxn id="32" idx="1"/>
          </p:cNvCxnSpPr>
          <p:nvPr/>
        </p:nvCxnSpPr>
        <p:spPr>
          <a:xfrm>
            <a:off x="1459607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A12E8A9B-F404-432B-B427-FE7DEB2FAA4A}"/>
              </a:ext>
            </a:extLst>
          </p:cNvPr>
          <p:cNvSpPr txBox="1"/>
          <p:nvPr/>
        </p:nvSpPr>
        <p:spPr>
          <a:xfrm>
            <a:off x="2969623" y="2558534"/>
            <a:ext cx="4720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36" name="文字方塊 35">
            <a:extLst>
              <a:ext uri="{FF2B5EF4-FFF2-40B4-BE49-F238E27FC236}">
                <a16:creationId xmlns:a16="http://schemas.microsoft.com/office/drawing/2014/main" id="{DDBBA75A-17C1-4084-8ABD-9F87CDC7BED2}"/>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7" name="文字方塊 36">
            <a:extLst>
              <a:ext uri="{FF2B5EF4-FFF2-40B4-BE49-F238E27FC236}">
                <a16:creationId xmlns:a16="http://schemas.microsoft.com/office/drawing/2014/main" id="{13C92905-E904-4BE5-807F-73584B3290FA}"/>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8" name="文字方塊 37">
            <a:extLst>
              <a:ext uri="{FF2B5EF4-FFF2-40B4-BE49-F238E27FC236}">
                <a16:creationId xmlns:a16="http://schemas.microsoft.com/office/drawing/2014/main" id="{53821475-CB07-4E68-888F-904B7C0303A7}"/>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39" name="文字方塊 38">
            <a:extLst>
              <a:ext uri="{FF2B5EF4-FFF2-40B4-BE49-F238E27FC236}">
                <a16:creationId xmlns:a16="http://schemas.microsoft.com/office/drawing/2014/main" id="{20F5BED0-9195-41D0-ADBA-D12680E3F8B7}"/>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40" name="文字方塊 39">
            <a:extLst>
              <a:ext uri="{FF2B5EF4-FFF2-40B4-BE49-F238E27FC236}">
                <a16:creationId xmlns:a16="http://schemas.microsoft.com/office/drawing/2014/main" id="{31F74FC5-847C-4000-96F0-602129690AD3}"/>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42" name="文字方塊 41">
            <a:extLst>
              <a:ext uri="{FF2B5EF4-FFF2-40B4-BE49-F238E27FC236}">
                <a16:creationId xmlns:a16="http://schemas.microsoft.com/office/drawing/2014/main" id="{C0D6702A-6D80-4785-ABAB-0307BA563AD7}"/>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44" name="文字方塊 43">
            <a:extLst>
              <a:ext uri="{FF2B5EF4-FFF2-40B4-BE49-F238E27FC236}">
                <a16:creationId xmlns:a16="http://schemas.microsoft.com/office/drawing/2014/main" id="{742B8111-D571-4F11-A054-F0F9ED0B3FB5}"/>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45" name="文字方塊 44">
            <a:extLst>
              <a:ext uri="{FF2B5EF4-FFF2-40B4-BE49-F238E27FC236}">
                <a16:creationId xmlns:a16="http://schemas.microsoft.com/office/drawing/2014/main" id="{82487CE6-DAC2-4805-BF2D-385782433C77}"/>
              </a:ext>
            </a:extLst>
          </p:cNvPr>
          <p:cNvSpPr txBox="1"/>
          <p:nvPr/>
        </p:nvSpPr>
        <p:spPr>
          <a:xfrm>
            <a:off x="12012446" y="-543147"/>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4" name="文字方塊 63">
            <a:extLst>
              <a:ext uri="{FF2B5EF4-FFF2-40B4-BE49-F238E27FC236}">
                <a16:creationId xmlns:a16="http://schemas.microsoft.com/office/drawing/2014/main" id="{5BF5F629-163E-4B9C-9118-577CAB18785F}"/>
              </a:ext>
            </a:extLst>
          </p:cNvPr>
          <p:cNvSpPr txBox="1"/>
          <p:nvPr/>
        </p:nvSpPr>
        <p:spPr>
          <a:xfrm>
            <a:off x="14669625" y="-521214"/>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63838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17" name="矩形 16"/>
          <p:cNvSpPr/>
          <p:nvPr/>
        </p:nvSpPr>
        <p:spPr>
          <a:xfrm>
            <a:off x="975621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內容版面配置區 2"/>
          <p:cNvSpPr txBox="1">
            <a:spLocks/>
          </p:cNvSpPr>
          <p:nvPr/>
        </p:nvSpPr>
        <p:spPr>
          <a:xfrm>
            <a:off x="9756216" y="527738"/>
            <a:ext cx="2185086" cy="1359243"/>
          </a:xfrm>
          <a:prstGeom prst="rect">
            <a:avLst/>
          </a:prstGeom>
          <a:ln w="38100">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內容版面配置區 2"/>
          <p:cNvSpPr txBox="1">
            <a:spLocks/>
          </p:cNvSpPr>
          <p:nvPr/>
        </p:nvSpPr>
        <p:spPr>
          <a:xfrm>
            <a:off x="12410986" y="-1359243"/>
            <a:ext cx="2185086" cy="1359243"/>
          </a:xfrm>
          <a:prstGeom prst="rect">
            <a:avLst/>
          </a:prstGeom>
          <a:ln>
            <a:solidFill>
              <a:schemeClr val="accent4"/>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p>
        </p:txBody>
      </p:sp>
      <p:sp>
        <p:nvSpPr>
          <p:cNvPr id="31" name="矩形 30"/>
          <p:cNvSpPr/>
          <p:nvPr/>
        </p:nvSpPr>
        <p:spPr>
          <a:xfrm>
            <a:off x="1241098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17" idx="3"/>
            <a:endCxn id="31" idx="1"/>
          </p:cNvCxnSpPr>
          <p:nvPr/>
        </p:nvCxnSpPr>
        <p:spPr>
          <a:xfrm>
            <a:off x="1194130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內容版面配置區 2"/>
          <p:cNvSpPr txBox="1">
            <a:spLocks/>
          </p:cNvSpPr>
          <p:nvPr/>
        </p:nvSpPr>
        <p:spPr>
          <a:xfrm>
            <a:off x="1506575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p:txBody>
      </p:sp>
      <p:sp>
        <p:nvSpPr>
          <p:cNvPr id="33" name="矩形 32"/>
          <p:cNvSpPr/>
          <p:nvPr/>
        </p:nvSpPr>
        <p:spPr>
          <a:xfrm>
            <a:off x="1506575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單箭頭接點 24"/>
          <p:cNvCxnSpPr>
            <a:stCxn id="31" idx="3"/>
            <a:endCxn id="32" idx="1"/>
          </p:cNvCxnSpPr>
          <p:nvPr/>
        </p:nvCxnSpPr>
        <p:spPr>
          <a:xfrm>
            <a:off x="1459607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內容版面配置區 2"/>
          <p:cNvSpPr txBox="1">
            <a:spLocks/>
          </p:cNvSpPr>
          <p:nvPr/>
        </p:nvSpPr>
        <p:spPr>
          <a:xfrm>
            <a:off x="6720916" y="2618432"/>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strike="sngStrike" dirty="0" err="1">
                <a:latin typeface="Times New Roman" panose="02020603050405020304" pitchFamily="18" charset="0"/>
                <a:cs typeface="Times New Roman" panose="02020603050405020304" pitchFamily="18" charset="0"/>
              </a:rPr>
              <a:t>bcc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a:t>
            </a:r>
          </a:p>
          <a:p>
            <a:endParaRPr lang="zh-TW" altLang="en-US" dirty="0"/>
          </a:p>
        </p:txBody>
      </p:sp>
      <p:sp>
        <p:nvSpPr>
          <p:cNvPr id="39" name="矩形 38"/>
          <p:cNvSpPr/>
          <p:nvPr/>
        </p:nvSpPr>
        <p:spPr>
          <a:xfrm>
            <a:off x="6720916" y="2618432"/>
            <a:ext cx="2185086" cy="13592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內容版面配置區 2"/>
          <p:cNvSpPr txBox="1">
            <a:spLocks/>
          </p:cNvSpPr>
          <p:nvPr/>
        </p:nvSpPr>
        <p:spPr>
          <a:xfrm>
            <a:off x="6720916" y="445753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solidFill>
                  <a:schemeClr val="accent4"/>
                </a:solidFill>
                <a:latin typeface="Times New Roman" panose="02020603050405020304" pitchFamily="18" charset="0"/>
                <a:cs typeface="Times New Roman" panose="02020603050405020304" pitchFamily="18" charset="0"/>
              </a:rPr>
              <a:t>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4" name="矩形 43"/>
          <p:cNvSpPr/>
          <p:nvPr/>
        </p:nvSpPr>
        <p:spPr>
          <a:xfrm>
            <a:off x="6720916" y="445753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內容版面配置區 2"/>
          <p:cNvSpPr txBox="1">
            <a:spLocks/>
          </p:cNvSpPr>
          <p:nvPr/>
        </p:nvSpPr>
        <p:spPr>
          <a:xfrm>
            <a:off x="6720916" y="6296634"/>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strike="sngStrike" dirty="0" err="1">
                <a:latin typeface="Times New Roman" panose="020206030504050203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47" name="矩形 46"/>
          <p:cNvSpPr/>
          <p:nvPr/>
        </p:nvSpPr>
        <p:spPr>
          <a:xfrm>
            <a:off x="6720916" y="6296634"/>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p:cNvCxnSpPr>
            <a:stCxn id="10" idx="3"/>
            <a:endCxn id="38" idx="1"/>
          </p:cNvCxnSpPr>
          <p:nvPr/>
        </p:nvCxnSpPr>
        <p:spPr>
          <a:xfrm flipV="1">
            <a:off x="5894169" y="3298054"/>
            <a:ext cx="826747" cy="10443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0" idx="3"/>
            <a:endCxn id="42" idx="1"/>
          </p:cNvCxnSpPr>
          <p:nvPr/>
        </p:nvCxnSpPr>
        <p:spPr>
          <a:xfrm>
            <a:off x="5894169" y="4342373"/>
            <a:ext cx="826747" cy="794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9" idx="3"/>
            <a:endCxn id="46" idx="1"/>
          </p:cNvCxnSpPr>
          <p:nvPr/>
        </p:nvCxnSpPr>
        <p:spPr>
          <a:xfrm>
            <a:off x="5894169" y="4342373"/>
            <a:ext cx="826747" cy="26338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文字方塊 51"/>
          <p:cNvSpPr txBox="1"/>
          <p:nvPr/>
        </p:nvSpPr>
        <p:spPr>
          <a:xfrm>
            <a:off x="7190600" y="3975358"/>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2+3</a:t>
            </a:r>
            <a:endParaRPr lang="zh-TW" altLang="en-US" dirty="0">
              <a:latin typeface="Times New Roman" panose="02020603050405020304" pitchFamily="18" charset="0"/>
              <a:cs typeface="Times New Roman" panose="02020603050405020304" pitchFamily="18" charset="0"/>
            </a:endParaRPr>
          </a:p>
        </p:txBody>
      </p:sp>
      <p:sp>
        <p:nvSpPr>
          <p:cNvPr id="53" name="文字方塊 52"/>
          <p:cNvSpPr txBox="1"/>
          <p:nvPr/>
        </p:nvSpPr>
        <p:spPr>
          <a:xfrm>
            <a:off x="7190600" y="5867153"/>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2+2</a:t>
            </a:r>
            <a:endParaRPr lang="zh-TW" altLang="en-US" dirty="0">
              <a:latin typeface="Times New Roman" panose="02020603050405020304" pitchFamily="18" charset="0"/>
              <a:cs typeface="Times New Roman" panose="02020603050405020304" pitchFamily="18" charset="0"/>
            </a:endParaRPr>
          </a:p>
        </p:txBody>
      </p:sp>
      <p:sp>
        <p:nvSpPr>
          <p:cNvPr id="54" name="文字方塊 53"/>
          <p:cNvSpPr txBox="1"/>
          <p:nvPr/>
        </p:nvSpPr>
        <p:spPr>
          <a:xfrm>
            <a:off x="7190600" y="7656109"/>
            <a:ext cx="124571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f(v) = 2+2</a:t>
            </a:r>
            <a:endParaRPr lang="zh-TW" altLang="en-US" dirty="0">
              <a:latin typeface="Times New Roman" panose="02020603050405020304" pitchFamily="18" charset="0"/>
              <a:cs typeface="Times New Roman" panose="02020603050405020304" pitchFamily="18" charset="0"/>
            </a:endParaRPr>
          </a:p>
        </p:txBody>
      </p:sp>
      <p:sp>
        <p:nvSpPr>
          <p:cNvPr id="55" name="矩形 54"/>
          <p:cNvSpPr/>
          <p:nvPr/>
        </p:nvSpPr>
        <p:spPr>
          <a:xfrm>
            <a:off x="8906002" y="3247252"/>
            <a:ext cx="4110421" cy="830997"/>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Cannot lead to a better solution </a:t>
            </a:r>
          </a:p>
          <a:p>
            <a:pPr algn="ctr"/>
            <a:r>
              <a:rPr lang="en-US" altLang="zh-TW" sz="2400" dirty="0">
                <a:latin typeface="Times New Roman" panose="02020603050405020304" pitchFamily="18" charset="0"/>
                <a:cs typeface="Times New Roman" panose="02020603050405020304" pitchFamily="18" charset="0"/>
              </a:rPr>
              <a:t>when taking the letter</a:t>
            </a:r>
            <a:endParaRPr lang="zh-TW" altLang="en-US" sz="2400" dirty="0"/>
          </a:p>
        </p:txBody>
      </p:sp>
      <p:sp>
        <p:nvSpPr>
          <p:cNvPr id="48" name="文字方塊 47">
            <a:extLst>
              <a:ext uri="{FF2B5EF4-FFF2-40B4-BE49-F238E27FC236}">
                <a16:creationId xmlns:a16="http://schemas.microsoft.com/office/drawing/2014/main" id="{1B4CF753-982C-466D-83F5-1D97D94F8810}"/>
              </a:ext>
            </a:extLst>
          </p:cNvPr>
          <p:cNvSpPr txBox="1"/>
          <p:nvPr/>
        </p:nvSpPr>
        <p:spPr>
          <a:xfrm>
            <a:off x="2969623" y="2558534"/>
            <a:ext cx="4720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50" name="文字方塊 49">
            <a:extLst>
              <a:ext uri="{FF2B5EF4-FFF2-40B4-BE49-F238E27FC236}">
                <a16:creationId xmlns:a16="http://schemas.microsoft.com/office/drawing/2014/main" id="{C8907C8E-D414-48CE-8089-61F44BE0D724}"/>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6" name="文字方塊 55">
            <a:extLst>
              <a:ext uri="{FF2B5EF4-FFF2-40B4-BE49-F238E27FC236}">
                <a16:creationId xmlns:a16="http://schemas.microsoft.com/office/drawing/2014/main" id="{686E86A3-7AC1-4D9D-AADB-4EB8B25294C3}"/>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7" name="文字方塊 56">
            <a:extLst>
              <a:ext uri="{FF2B5EF4-FFF2-40B4-BE49-F238E27FC236}">
                <a16:creationId xmlns:a16="http://schemas.microsoft.com/office/drawing/2014/main" id="{FF4D638E-E15D-4A2B-977D-62362E67D233}"/>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8" name="文字方塊 57">
            <a:extLst>
              <a:ext uri="{FF2B5EF4-FFF2-40B4-BE49-F238E27FC236}">
                <a16:creationId xmlns:a16="http://schemas.microsoft.com/office/drawing/2014/main" id="{E0875900-55E3-4AE8-BAB0-7C167C0753DF}"/>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59" name="文字方塊 58">
            <a:extLst>
              <a:ext uri="{FF2B5EF4-FFF2-40B4-BE49-F238E27FC236}">
                <a16:creationId xmlns:a16="http://schemas.microsoft.com/office/drawing/2014/main" id="{2EC17EAF-BF24-49B2-B3C6-A7CB12E21891}"/>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60" name="文字方塊 59">
            <a:extLst>
              <a:ext uri="{FF2B5EF4-FFF2-40B4-BE49-F238E27FC236}">
                <a16:creationId xmlns:a16="http://schemas.microsoft.com/office/drawing/2014/main" id="{1BD0760A-A35B-45E0-8784-16AF77753874}"/>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1" name="文字方塊 60">
            <a:extLst>
              <a:ext uri="{FF2B5EF4-FFF2-40B4-BE49-F238E27FC236}">
                <a16:creationId xmlns:a16="http://schemas.microsoft.com/office/drawing/2014/main" id="{85B3C80B-8A67-4B51-BF22-1B297E9DE026}"/>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2" name="文字方塊 61">
            <a:extLst>
              <a:ext uri="{FF2B5EF4-FFF2-40B4-BE49-F238E27FC236}">
                <a16:creationId xmlns:a16="http://schemas.microsoft.com/office/drawing/2014/main" id="{582D3EEE-A1F0-467F-B35F-5D8C5DDBC17E}"/>
              </a:ext>
            </a:extLst>
          </p:cNvPr>
          <p:cNvSpPr txBox="1"/>
          <p:nvPr/>
        </p:nvSpPr>
        <p:spPr>
          <a:xfrm>
            <a:off x="12012446" y="-543147"/>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3" name="文字方塊 62">
            <a:extLst>
              <a:ext uri="{FF2B5EF4-FFF2-40B4-BE49-F238E27FC236}">
                <a16:creationId xmlns:a16="http://schemas.microsoft.com/office/drawing/2014/main" id="{9F33C943-E806-478E-A56D-C5C028CF1944}"/>
              </a:ext>
            </a:extLst>
          </p:cNvPr>
          <p:cNvSpPr txBox="1"/>
          <p:nvPr/>
        </p:nvSpPr>
        <p:spPr>
          <a:xfrm>
            <a:off x="14669625" y="-521214"/>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4" name="文字方塊 63">
            <a:extLst>
              <a:ext uri="{FF2B5EF4-FFF2-40B4-BE49-F238E27FC236}">
                <a16:creationId xmlns:a16="http://schemas.microsoft.com/office/drawing/2014/main" id="{DF3E0360-3F95-493F-B32C-26C7FB87C047}"/>
              </a:ext>
            </a:extLst>
          </p:cNvPr>
          <p:cNvSpPr txBox="1"/>
          <p:nvPr/>
        </p:nvSpPr>
        <p:spPr>
          <a:xfrm>
            <a:off x="5980676" y="344856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65" name="文字方塊 64">
            <a:extLst>
              <a:ext uri="{FF2B5EF4-FFF2-40B4-BE49-F238E27FC236}">
                <a16:creationId xmlns:a16="http://schemas.microsoft.com/office/drawing/2014/main" id="{7508BC74-72B7-44C4-A72A-7558CB034770}"/>
              </a:ext>
            </a:extLst>
          </p:cNvPr>
          <p:cNvSpPr txBox="1"/>
          <p:nvPr/>
        </p:nvSpPr>
        <p:spPr>
          <a:xfrm>
            <a:off x="6209211" y="4308217"/>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6" name="文字方塊 65">
            <a:extLst>
              <a:ext uri="{FF2B5EF4-FFF2-40B4-BE49-F238E27FC236}">
                <a16:creationId xmlns:a16="http://schemas.microsoft.com/office/drawing/2014/main" id="{77D26C0F-480E-4006-BE0E-98CA2047A7D2}"/>
              </a:ext>
            </a:extLst>
          </p:cNvPr>
          <p:cNvSpPr txBox="1"/>
          <p:nvPr/>
        </p:nvSpPr>
        <p:spPr>
          <a:xfrm>
            <a:off x="6337739" y="5352536"/>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Tree>
    <p:extLst>
      <p:ext uri="{BB962C8B-B14F-4D97-AF65-F5344CB8AC3E}">
        <p14:creationId xmlns:p14="http://schemas.microsoft.com/office/powerpoint/2010/main" val="2165846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1954029" y="1125923"/>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strike="sngStrike" dirty="0" err="1">
                <a:latin typeface="Times New Roman" panose="02020603050405020304" pitchFamily="18" charset="0"/>
                <a:cs typeface="Times New Roman" panose="02020603050405020304" pitchFamily="18" charset="0"/>
              </a:rPr>
              <a:t>bcc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a:t>
            </a:r>
          </a:p>
          <a:p>
            <a:endParaRPr lang="zh-TW" altLang="en-US" dirty="0"/>
          </a:p>
        </p:txBody>
      </p:sp>
      <p:sp>
        <p:nvSpPr>
          <p:cNvPr id="6" name="內容版面配置區 2"/>
          <p:cNvSpPr txBox="1">
            <a:spLocks/>
          </p:cNvSpPr>
          <p:nvPr/>
        </p:nvSpPr>
        <p:spPr>
          <a:xfrm>
            <a:off x="1954029" y="4217373"/>
            <a:ext cx="2185086" cy="1359243"/>
          </a:xfrm>
          <a:prstGeom prst="rect">
            <a:avLst/>
          </a:prstGeom>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7" name="矩形 6"/>
          <p:cNvSpPr/>
          <p:nvPr/>
        </p:nvSpPr>
        <p:spPr>
          <a:xfrm>
            <a:off x="2034616" y="4474263"/>
            <a:ext cx="2185086" cy="1359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6461481" y="1574711"/>
            <a:ext cx="411391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UB : LCS(</a:t>
            </a:r>
            <a:r>
              <a:rPr lang="en-US" altLang="zh-TW" sz="2400" dirty="0" err="1">
                <a:latin typeface="Times New Roman" panose="02020603050405020304" pitchFamily="18" charset="0"/>
                <a:cs typeface="Times New Roman" panose="02020603050405020304" pitchFamily="18" charset="0"/>
              </a:rPr>
              <a:t>acbdba</a:t>
            </a:r>
            <a:r>
              <a:rPr lang="en-US" altLang="zh-TW" sz="2400" dirty="0">
                <a:latin typeface="Times New Roman" panose="02020603050405020304" pitchFamily="18" charset="0"/>
                <a:cs typeface="Times New Roman" panose="02020603050405020304" pitchFamily="18" charset="0"/>
              </a:rPr>
              <a:t> , </a:t>
            </a:r>
            <a:r>
              <a:rPr lang="en-US" altLang="zh-TW" sz="2400" dirty="0" err="1">
                <a:latin typeface="Times New Roman" panose="02020603050405020304" pitchFamily="18" charset="0"/>
                <a:cs typeface="Times New Roman" panose="02020603050405020304" pitchFamily="18" charset="0"/>
              </a:rPr>
              <a:t>dcbbd</a:t>
            </a:r>
            <a:r>
              <a:rPr lang="en-US" altLang="zh-TW" sz="2400" dirty="0">
                <a:latin typeface="Times New Roman" panose="02020603050405020304" pitchFamily="18" charset="0"/>
                <a:cs typeface="Times New Roman" panose="02020603050405020304" pitchFamily="18" charset="0"/>
              </a:rPr>
              <a:t>) + 2 </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p:cNvSpPr txBox="1"/>
          <p:nvPr/>
        </p:nvSpPr>
        <p:spPr>
          <a:xfrm>
            <a:off x="6461481" y="4666161"/>
            <a:ext cx="458342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UB : LCS(</a:t>
            </a:r>
            <a:r>
              <a:rPr lang="en-US" altLang="zh-TW" sz="2400" dirty="0" err="1">
                <a:latin typeface="Times New Roman" panose="02020603050405020304" pitchFamily="18" charset="0"/>
                <a:cs typeface="Times New Roman" panose="02020603050405020304" pitchFamily="18" charset="0"/>
              </a:rPr>
              <a:t>acbdba</a:t>
            </a:r>
            <a:r>
              <a:rPr lang="en-US" altLang="zh-TW" sz="2400" dirty="0">
                <a:latin typeface="Times New Roman" panose="02020603050405020304" pitchFamily="18" charset="0"/>
                <a:cs typeface="Times New Roman" panose="02020603050405020304" pitchFamily="18" charset="0"/>
              </a:rPr>
              <a:t> , </a:t>
            </a:r>
            <a:r>
              <a:rPr lang="en-US" altLang="zh-TW" sz="2400" dirty="0" err="1">
                <a:latin typeface="Times New Roman" panose="02020603050405020304" pitchFamily="18" charset="0"/>
                <a:cs typeface="Times New Roman" panose="02020603050405020304" pitchFamily="18" charset="0"/>
              </a:rPr>
              <a:t>dcbbd</a:t>
            </a:r>
            <a:r>
              <a:rPr lang="en-US" altLang="zh-TW" sz="2400" dirty="0">
                <a:latin typeface="Times New Roman" panose="02020603050405020304" pitchFamily="18" charset="0"/>
                <a:cs typeface="Times New Roman" panose="02020603050405020304" pitchFamily="18" charset="0"/>
              </a:rPr>
              <a:t>) + 3 </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p:cNvSpPr txBox="1"/>
          <p:nvPr/>
        </p:nvSpPr>
        <p:spPr>
          <a:xfrm>
            <a:off x="1954029" y="2605373"/>
            <a:ext cx="2265673" cy="369332"/>
          </a:xfrm>
          <a:prstGeom prst="rect">
            <a:avLst/>
          </a:prstGeom>
          <a:noFill/>
        </p:spPr>
        <p:txBody>
          <a:bodyPr wrap="square" rtlCol="0">
            <a:spAutoFit/>
          </a:bodyPr>
          <a:lstStyle/>
          <a:p>
            <a:r>
              <a:rPr lang="zh-TW" altLang="en-US" dirty="0">
                <a:solidFill>
                  <a:srgbClr val="FF0000"/>
                </a:solidFill>
                <a:latin typeface="標楷體" panose="03000509000000000000" pitchFamily="65" charset="-120"/>
                <a:ea typeface="標楷體" panose="03000509000000000000" pitchFamily="65" charset="-120"/>
              </a:rPr>
              <a:t>無須再繼續做延伸</a:t>
            </a:r>
          </a:p>
        </p:txBody>
      </p:sp>
    </p:spTree>
    <p:extLst>
      <p:ext uri="{BB962C8B-B14F-4D97-AF65-F5344CB8AC3E}">
        <p14:creationId xmlns:p14="http://schemas.microsoft.com/office/powerpoint/2010/main" val="95341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448" y="2743200"/>
            <a:ext cx="2185086" cy="135924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dirty="0" err="1">
                <a:latin typeface="Times New Roman" panose="02020603050405020304" pitchFamily="18" charset="0"/>
                <a:cs typeface="Times New Roman" panose="02020603050405020304" pitchFamily="18" charset="0"/>
              </a:rPr>
              <a:t>cbccadcbbd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 name="矩形 3"/>
          <p:cNvSpPr/>
          <p:nvPr/>
        </p:nvSpPr>
        <p:spPr>
          <a:xfrm>
            <a:off x="500448" y="2743200"/>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內容版面配置區 2"/>
          <p:cNvSpPr txBox="1">
            <a:spLocks/>
          </p:cNvSpPr>
          <p:nvPr/>
        </p:nvSpPr>
        <p:spPr>
          <a:xfrm>
            <a:off x="3709083" y="188698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p>
          <a:p>
            <a:endParaRPr lang="zh-TW" altLang="en-US" dirty="0"/>
          </a:p>
        </p:txBody>
      </p:sp>
      <p:sp>
        <p:nvSpPr>
          <p:cNvPr id="8" name="矩形 7"/>
          <p:cNvSpPr/>
          <p:nvPr/>
        </p:nvSpPr>
        <p:spPr>
          <a:xfrm>
            <a:off x="3709083" y="188698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內容版面配置區 2"/>
          <p:cNvSpPr txBox="1">
            <a:spLocks/>
          </p:cNvSpPr>
          <p:nvPr/>
        </p:nvSpPr>
        <p:spPr>
          <a:xfrm>
            <a:off x="3709083" y="366275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10" name="矩形 9"/>
          <p:cNvSpPr/>
          <p:nvPr/>
        </p:nvSpPr>
        <p:spPr>
          <a:xfrm>
            <a:off x="3709083" y="366275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4" idx="3"/>
            <a:endCxn id="7" idx="1"/>
          </p:cNvCxnSpPr>
          <p:nvPr/>
        </p:nvCxnSpPr>
        <p:spPr>
          <a:xfrm flipV="1">
            <a:off x="2685534" y="2566603"/>
            <a:ext cx="1023549" cy="8562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4" idx="3"/>
            <a:endCxn id="9" idx="1"/>
          </p:cNvCxnSpPr>
          <p:nvPr/>
        </p:nvCxnSpPr>
        <p:spPr>
          <a:xfrm>
            <a:off x="2685534" y="3422822"/>
            <a:ext cx="1023549" cy="919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內容版面配置區 2"/>
          <p:cNvSpPr txBox="1">
            <a:spLocks/>
          </p:cNvSpPr>
          <p:nvPr/>
        </p:nvSpPr>
        <p:spPr>
          <a:xfrm>
            <a:off x="6720916" y="175021"/>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0" name="矩形 19"/>
          <p:cNvSpPr/>
          <p:nvPr/>
        </p:nvSpPr>
        <p:spPr>
          <a:xfrm>
            <a:off x="6720916" y="175021"/>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p:cNvCxnSpPr>
            <a:stCxn id="7" idx="3"/>
            <a:endCxn id="20" idx="1"/>
          </p:cNvCxnSpPr>
          <p:nvPr/>
        </p:nvCxnSpPr>
        <p:spPr>
          <a:xfrm flipV="1">
            <a:off x="5894169" y="854643"/>
            <a:ext cx="826747" cy="1711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內容版面配置區 2"/>
          <p:cNvSpPr txBox="1">
            <a:spLocks/>
          </p:cNvSpPr>
          <p:nvPr/>
        </p:nvSpPr>
        <p:spPr>
          <a:xfrm>
            <a:off x="975621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dirty="0" err="1">
                <a:latin typeface="Times New Roman" panose="02020603050405020304" pitchFamily="18" charset="0"/>
                <a:cs typeface="Times New Roman" panose="02020603050405020304" pitchFamily="18" charset="0"/>
              </a:rPr>
              <a:t>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‘b</a:t>
            </a:r>
            <a:r>
              <a:rPr lang="en-US" altLang="zh-TW" sz="2400" dirty="0">
                <a:solidFill>
                  <a:srgbClr val="FFC000"/>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17" name="矩形 16"/>
          <p:cNvSpPr/>
          <p:nvPr/>
        </p:nvSpPr>
        <p:spPr>
          <a:xfrm>
            <a:off x="975621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內容版面配置區 2"/>
          <p:cNvSpPr txBox="1">
            <a:spLocks/>
          </p:cNvSpPr>
          <p:nvPr/>
        </p:nvSpPr>
        <p:spPr>
          <a:xfrm>
            <a:off x="9756216" y="527738"/>
            <a:ext cx="2185086" cy="1359243"/>
          </a:xfrm>
          <a:prstGeom prst="rect">
            <a:avLst/>
          </a:prstGeom>
          <a:ln w="635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2" name="矩形 21"/>
          <p:cNvSpPr/>
          <p:nvPr/>
        </p:nvSpPr>
        <p:spPr>
          <a:xfrm>
            <a:off x="9756216" y="527738"/>
            <a:ext cx="2185086" cy="1359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p:cNvCxnSpPr>
            <a:stCxn id="20" idx="3"/>
            <a:endCxn id="15" idx="1"/>
          </p:cNvCxnSpPr>
          <p:nvPr/>
        </p:nvCxnSpPr>
        <p:spPr>
          <a:xfrm flipV="1">
            <a:off x="8906002" y="-679621"/>
            <a:ext cx="850214" cy="15342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9" idx="3"/>
            <a:endCxn id="22" idx="1"/>
          </p:cNvCxnSpPr>
          <p:nvPr/>
        </p:nvCxnSpPr>
        <p:spPr>
          <a:xfrm>
            <a:off x="8906002" y="854643"/>
            <a:ext cx="850214" cy="352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內容版面配置區 2"/>
          <p:cNvSpPr txBox="1">
            <a:spLocks/>
          </p:cNvSpPr>
          <p:nvPr/>
        </p:nvSpPr>
        <p:spPr>
          <a:xfrm>
            <a:off x="1241098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6" name="矩形 25"/>
          <p:cNvSpPr/>
          <p:nvPr/>
        </p:nvSpPr>
        <p:spPr>
          <a:xfrm>
            <a:off x="1241098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內容版面配置區 2"/>
          <p:cNvSpPr txBox="1">
            <a:spLocks/>
          </p:cNvSpPr>
          <p:nvPr/>
        </p:nvSpPr>
        <p:spPr>
          <a:xfrm>
            <a:off x="15065756" y="527738"/>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29" name="矩形 28"/>
          <p:cNvSpPr/>
          <p:nvPr/>
        </p:nvSpPr>
        <p:spPr>
          <a:xfrm>
            <a:off x="15065756" y="527738"/>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內容版面配置區 2"/>
          <p:cNvSpPr txBox="1">
            <a:spLocks/>
          </p:cNvSpPr>
          <p:nvPr/>
        </p:nvSpPr>
        <p:spPr>
          <a:xfrm>
            <a:off x="17720526" y="527738"/>
            <a:ext cx="2185086" cy="1359243"/>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d</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strike="sngStrike" dirty="0" err="1">
                <a:latin typeface="Times New Roman" panose="02020603050405020304" pitchFamily="18" charset="0"/>
                <a:cs typeface="Times New Roman" panose="02020603050405020304" pitchFamily="18" charset="0"/>
              </a:rPr>
              <a:t>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bb</a:t>
            </a:r>
            <a:r>
              <a:rPr lang="en-US" altLang="zh-TW" sz="2400" dirty="0" err="1">
                <a:latin typeface="Times New Roman" panose="02020603050405020304" pitchFamily="18" charset="0"/>
                <a:cs typeface="Times New Roman" panose="02020603050405020304" pitchFamily="18" charset="0"/>
              </a:rPr>
              <a:t>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ac</a:t>
            </a:r>
            <a:r>
              <a:rPr lang="en-US" altLang="zh-TW" sz="2400" dirty="0" err="1">
                <a:solidFill>
                  <a:srgbClr val="FFC000"/>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cxnSp>
        <p:nvCxnSpPr>
          <p:cNvPr id="11" name="直線單箭頭接點 10"/>
          <p:cNvCxnSpPr>
            <a:stCxn id="22" idx="3"/>
            <a:endCxn id="26" idx="1"/>
          </p:cNvCxnSpPr>
          <p:nvPr/>
        </p:nvCxnSpPr>
        <p:spPr>
          <a:xfrm>
            <a:off x="1194130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23" idx="3"/>
            <a:endCxn id="28" idx="1"/>
          </p:cNvCxnSpPr>
          <p:nvPr/>
        </p:nvCxnSpPr>
        <p:spPr>
          <a:xfrm>
            <a:off x="1459607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a:stCxn id="29" idx="3"/>
            <a:endCxn id="34" idx="1"/>
          </p:cNvCxnSpPr>
          <p:nvPr/>
        </p:nvCxnSpPr>
        <p:spPr>
          <a:xfrm>
            <a:off x="17250842" y="1207360"/>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內容版面配置區 2"/>
          <p:cNvSpPr txBox="1">
            <a:spLocks/>
          </p:cNvSpPr>
          <p:nvPr/>
        </p:nvSpPr>
        <p:spPr>
          <a:xfrm>
            <a:off x="12410986" y="-1359243"/>
            <a:ext cx="2185086" cy="1359243"/>
          </a:xfrm>
          <a:prstGeom prst="rect">
            <a:avLst/>
          </a:prstGeom>
          <a:ln>
            <a:solidFill>
              <a:schemeClr val="accent4"/>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a:t>
            </a:r>
          </a:p>
        </p:txBody>
      </p:sp>
      <p:sp>
        <p:nvSpPr>
          <p:cNvPr id="31" name="矩形 30"/>
          <p:cNvSpPr/>
          <p:nvPr/>
        </p:nvSpPr>
        <p:spPr>
          <a:xfrm>
            <a:off x="1241098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a:stCxn id="17" idx="3"/>
            <a:endCxn id="31" idx="1"/>
          </p:cNvCxnSpPr>
          <p:nvPr/>
        </p:nvCxnSpPr>
        <p:spPr>
          <a:xfrm>
            <a:off x="1194130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內容版面配置區 2"/>
          <p:cNvSpPr txBox="1">
            <a:spLocks/>
          </p:cNvSpPr>
          <p:nvPr/>
        </p:nvSpPr>
        <p:spPr>
          <a:xfrm>
            <a:off x="15065756" y="-135924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latin typeface="Times New Roman" panose="02020603050405020304" pitchFamily="18" charset="0"/>
                <a:cs typeface="Times New Roman" panose="02020603050405020304" pitchFamily="18" charset="0"/>
              </a:rPr>
              <a:t>c</a:t>
            </a:r>
            <a:r>
              <a:rPr lang="en-US" altLang="zh-TW" sz="2400" strike="sngStrike" dirty="0" err="1">
                <a:solidFill>
                  <a:srgbClr val="FF0000"/>
                </a:solidFill>
                <a:latin typeface="Times New Roman" panose="02020603050405020304" pitchFamily="18" charset="0"/>
                <a:cs typeface="Times New Roman" panose="02020603050405020304" pitchFamily="18" charset="0"/>
              </a:rPr>
              <a:t>bcc</a:t>
            </a:r>
            <a:r>
              <a:rPr lang="en-US" altLang="zh-TW" sz="2400" strike="sngStrike" dirty="0" err="1">
                <a:latin typeface="Times New Roman" panose="02020603050405020304" pitchFamily="18" charset="0"/>
                <a:cs typeface="Times New Roman" panose="02020603050405020304" pitchFamily="18" charset="0"/>
              </a:rPr>
              <a:t>adc</a:t>
            </a:r>
            <a:r>
              <a:rPr lang="en-US" altLang="zh-TW" sz="2400" strike="sngStrike" dirty="0" err="1">
                <a:solidFill>
                  <a:srgbClr val="FF0000"/>
                </a:solidFill>
                <a:latin typeface="Times New Roman" panose="02020603050405020304" pitchFamily="18" charset="0"/>
                <a:cs typeface="Times New Roman" panose="02020603050405020304" pitchFamily="18" charset="0"/>
              </a:rPr>
              <a:t>b</a:t>
            </a:r>
            <a:r>
              <a:rPr lang="en-US" altLang="zh-TW" sz="2400" dirty="0" err="1">
                <a:latin typeface="Times New Roman" panose="02020603050405020304" pitchFamily="18" charset="0"/>
                <a:cs typeface="Times New Roman" panose="02020603050405020304" pitchFamily="18" charset="0"/>
              </a:rPr>
              <a:t>bd</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a:t>
            </a:r>
            <a:r>
              <a:rPr lang="en-US" altLang="zh-TW" sz="2400" dirty="0" err="1">
                <a:solidFill>
                  <a:srgbClr val="FFC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t>
            </a:r>
            <a:r>
              <a:rPr lang="en-US" altLang="zh-TW" sz="2400" dirty="0" err="1">
                <a:solidFill>
                  <a:schemeClr val="accent4"/>
                </a:solidFill>
                <a:latin typeface="Times New Roman" panose="02020603050405020304" pitchFamily="18" charset="0"/>
                <a:cs typeface="Times New Roman" panose="02020603050405020304" pitchFamily="18" charset="0"/>
              </a:rPr>
              <a:t>bb</a:t>
            </a:r>
            <a:r>
              <a:rPr lang="en-US" altLang="zh-TW" sz="2400" dirty="0">
                <a:latin typeface="Times New Roman" panose="02020603050405020304" pitchFamily="18" charset="0"/>
                <a:cs typeface="Times New Roman" panose="02020603050405020304" pitchFamily="18" charset="0"/>
              </a:rPr>
              <a:t>’</a:t>
            </a:r>
          </a:p>
        </p:txBody>
      </p:sp>
      <p:sp>
        <p:nvSpPr>
          <p:cNvPr id="33" name="矩形 32"/>
          <p:cNvSpPr/>
          <p:nvPr/>
        </p:nvSpPr>
        <p:spPr>
          <a:xfrm>
            <a:off x="15065756" y="-135924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單箭頭接點 24"/>
          <p:cNvCxnSpPr>
            <a:stCxn id="31" idx="3"/>
            <a:endCxn id="32" idx="1"/>
          </p:cNvCxnSpPr>
          <p:nvPr/>
        </p:nvCxnSpPr>
        <p:spPr>
          <a:xfrm>
            <a:off x="14596072" y="-679621"/>
            <a:ext cx="46968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8" name="內容版面配置區 2"/>
          <p:cNvSpPr txBox="1">
            <a:spLocks/>
          </p:cNvSpPr>
          <p:nvPr/>
        </p:nvSpPr>
        <p:spPr>
          <a:xfrm>
            <a:off x="6720916" y="2618432"/>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acbdba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strike="sngStrike" dirty="0" err="1">
                <a:latin typeface="Times New Roman" panose="02020603050405020304" pitchFamily="18" charset="0"/>
                <a:cs typeface="Times New Roman" panose="02020603050405020304" pitchFamily="18" charset="0"/>
              </a:rPr>
              <a:t>bcc</a:t>
            </a:r>
            <a:r>
              <a:rPr lang="en-US" altLang="zh-TW" sz="2400" strike="sngStrike"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a’</a:t>
            </a:r>
          </a:p>
          <a:p>
            <a:endParaRPr lang="zh-TW" altLang="en-US" dirty="0"/>
          </a:p>
        </p:txBody>
      </p:sp>
      <p:sp>
        <p:nvSpPr>
          <p:cNvPr id="39" name="矩形 38"/>
          <p:cNvSpPr/>
          <p:nvPr/>
        </p:nvSpPr>
        <p:spPr>
          <a:xfrm>
            <a:off x="6720916" y="2618432"/>
            <a:ext cx="2185086" cy="1359243"/>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內容版面配置區 2"/>
          <p:cNvSpPr txBox="1">
            <a:spLocks/>
          </p:cNvSpPr>
          <p:nvPr/>
        </p:nvSpPr>
        <p:spPr>
          <a:xfrm>
            <a:off x="6720916" y="4457533"/>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aac</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cb</a:t>
            </a:r>
            <a:r>
              <a:rPr lang="en-US" altLang="zh-TW" sz="2400" dirty="0" err="1">
                <a:latin typeface="Times New Roman" panose="02020603050405020304" pitchFamily="18" charset="0"/>
                <a:cs typeface="Times New Roman" panose="02020603050405020304" pitchFamily="18" charset="0"/>
              </a:rPr>
              <a:t>ccadcbbd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err="1">
                <a:solidFill>
                  <a:schemeClr val="accent4"/>
                </a:solidFill>
                <a:latin typeface="Times New Roman" panose="02020603050405020304" pitchFamily="18" charset="0"/>
                <a:cs typeface="Times New Roman" panose="02020603050405020304" pitchFamily="18" charset="0"/>
              </a:rPr>
              <a:t>cb</a:t>
            </a:r>
            <a:r>
              <a:rPr lang="en-US" altLang="zh-TW" sz="2400" dirty="0">
                <a:latin typeface="Times New Roman" panose="02020603050405020304" pitchFamily="18" charset="0"/>
                <a:cs typeface="Times New Roman" panose="02020603050405020304" pitchFamily="18" charset="0"/>
              </a:rPr>
              <a:t>’</a:t>
            </a:r>
          </a:p>
          <a:p>
            <a:endParaRPr lang="zh-TW" altLang="en-US" dirty="0"/>
          </a:p>
        </p:txBody>
      </p:sp>
      <p:sp>
        <p:nvSpPr>
          <p:cNvPr id="44" name="矩形 43"/>
          <p:cNvSpPr/>
          <p:nvPr/>
        </p:nvSpPr>
        <p:spPr>
          <a:xfrm>
            <a:off x="6720916" y="4457533"/>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內容版面配置區 2"/>
          <p:cNvSpPr txBox="1">
            <a:spLocks/>
          </p:cNvSpPr>
          <p:nvPr/>
        </p:nvSpPr>
        <p:spPr>
          <a:xfrm>
            <a:off x="6720916" y="6296634"/>
            <a:ext cx="2185086" cy="1359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X = </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strike="sngStrike" dirty="0" err="1">
                <a:latin typeface="Times New Roman" panose="02020603050405020304" pitchFamily="18" charset="0"/>
                <a:ea typeface="Cambria" panose="02040503050406030204" pitchFamily="18" charset="0"/>
                <a:cs typeface="Times New Roman" panose="02020603050405020304" pitchFamily="18" charset="0"/>
              </a:rPr>
              <a:t>aa</a:t>
            </a:r>
            <a:r>
              <a:rPr lang="en-US" altLang="zh-TW" sz="24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2400" dirty="0" err="1">
                <a:latin typeface="Times New Roman" panose="02020603050405020304" pitchFamily="18" charset="0"/>
                <a:ea typeface="Cambria" panose="02040503050406030204" pitchFamily="18" charset="0"/>
                <a:cs typeface="Times New Roman" panose="02020603050405020304" pitchFamily="18" charset="0"/>
              </a:rPr>
              <a:t>bdba</a:t>
            </a:r>
            <a:endParaRPr lang="en-US" altLang="zh-TW"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Y = </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strike="sngStrike" dirty="0" err="1">
                <a:latin typeface="Times New Roman" panose="02020603050405020304" pitchFamily="18" charset="0"/>
                <a:cs typeface="Times New Roman" panose="02020603050405020304" pitchFamily="18" charset="0"/>
              </a:rPr>
              <a:t>b</a:t>
            </a:r>
            <a:r>
              <a:rPr lang="en-US" altLang="zh-TW" sz="2400" strike="sngStrike" dirty="0" err="1">
                <a:solidFill>
                  <a:srgbClr val="FF0000"/>
                </a:solidFill>
                <a:latin typeface="Times New Roman" panose="02020603050405020304" pitchFamily="18" charset="0"/>
                <a:cs typeface="Times New Roman" panose="02020603050405020304" pitchFamily="18" charset="0"/>
              </a:rPr>
              <a:t>c</a:t>
            </a:r>
            <a:r>
              <a:rPr lang="en-US" altLang="zh-TW" sz="2400" dirty="0" err="1">
                <a:latin typeface="Times New Roman" panose="02020603050405020304" pitchFamily="18" charset="0"/>
                <a:cs typeface="Times New Roman" panose="02020603050405020304" pitchFamily="18" charset="0"/>
              </a:rPr>
              <a:t>cadcbbd</a:t>
            </a: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2400" dirty="0">
                <a:latin typeface="標楷體" panose="03000509000000000000" pitchFamily="65" charset="-120"/>
                <a:ea typeface="標楷體" panose="03000509000000000000" pitchFamily="65" charset="-120"/>
              </a:rPr>
              <a:t> </a:t>
            </a:r>
            <a:r>
              <a:rPr lang="en-US" altLang="zh-TW" sz="2400" dirty="0"/>
              <a:t>= </a:t>
            </a:r>
            <a:r>
              <a:rPr lang="en-US" altLang="zh-TW" sz="2400" dirty="0">
                <a:latin typeface="Times New Roman" panose="02020603050405020304" pitchFamily="18" charset="0"/>
                <a:cs typeface="Times New Roman" panose="02020603050405020304" pitchFamily="18" charset="0"/>
              </a:rPr>
              <a:t>‘</a:t>
            </a:r>
            <a:r>
              <a:rPr lang="en-US" altLang="zh-TW" sz="2400" dirty="0">
                <a:solidFill>
                  <a:schemeClr val="accent4"/>
                </a:solidFill>
                <a:latin typeface="Times New Roman" panose="02020603050405020304" pitchFamily="18" charset="0"/>
                <a:cs typeface="Times New Roman" panose="02020603050405020304" pitchFamily="18" charset="0"/>
              </a:rPr>
              <a:t>c</a:t>
            </a:r>
            <a:r>
              <a:rPr lang="en-US" altLang="zh-TW" sz="2400" dirty="0">
                <a:latin typeface="Times New Roman" panose="02020603050405020304" pitchFamily="18" charset="0"/>
                <a:cs typeface="Times New Roman" panose="02020603050405020304" pitchFamily="18" charset="0"/>
              </a:rPr>
              <a:t>c’</a:t>
            </a:r>
          </a:p>
          <a:p>
            <a:endParaRPr lang="zh-TW" altLang="en-US" dirty="0"/>
          </a:p>
        </p:txBody>
      </p:sp>
      <p:sp>
        <p:nvSpPr>
          <p:cNvPr id="47" name="矩形 46"/>
          <p:cNvSpPr/>
          <p:nvPr/>
        </p:nvSpPr>
        <p:spPr>
          <a:xfrm>
            <a:off x="6720916" y="6296634"/>
            <a:ext cx="2185086" cy="1359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p:cNvCxnSpPr>
            <a:stCxn id="10" idx="3"/>
            <a:endCxn id="38" idx="1"/>
          </p:cNvCxnSpPr>
          <p:nvPr/>
        </p:nvCxnSpPr>
        <p:spPr>
          <a:xfrm flipV="1">
            <a:off x="5894169" y="3298054"/>
            <a:ext cx="826747" cy="10443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a:stCxn id="10" idx="3"/>
            <a:endCxn id="42" idx="1"/>
          </p:cNvCxnSpPr>
          <p:nvPr/>
        </p:nvCxnSpPr>
        <p:spPr>
          <a:xfrm>
            <a:off x="5894169" y="4342373"/>
            <a:ext cx="826747" cy="794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a:stCxn id="9" idx="3"/>
            <a:endCxn id="46" idx="1"/>
          </p:cNvCxnSpPr>
          <p:nvPr/>
        </p:nvCxnSpPr>
        <p:spPr>
          <a:xfrm>
            <a:off x="5894169" y="4342373"/>
            <a:ext cx="826747" cy="26338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文字方塊 44"/>
          <p:cNvSpPr txBox="1"/>
          <p:nvPr/>
        </p:nvSpPr>
        <p:spPr>
          <a:xfrm>
            <a:off x="8906002" y="3606026"/>
            <a:ext cx="2265673" cy="369332"/>
          </a:xfrm>
          <a:prstGeom prst="rect">
            <a:avLst/>
          </a:prstGeom>
          <a:noFill/>
        </p:spPr>
        <p:txBody>
          <a:bodyPr wrap="square" rtlCol="0">
            <a:spAutoFit/>
          </a:bodyPr>
          <a:lstStyle/>
          <a:p>
            <a:r>
              <a:rPr lang="zh-TW" altLang="en-US" dirty="0">
                <a:solidFill>
                  <a:srgbClr val="FF0000"/>
                </a:solidFill>
                <a:latin typeface="標楷體" panose="03000509000000000000" pitchFamily="65" charset="-120"/>
                <a:ea typeface="標楷體" panose="03000509000000000000" pitchFamily="65" charset="-120"/>
              </a:rPr>
              <a:t>無須再繼續做延伸</a:t>
            </a:r>
          </a:p>
        </p:txBody>
      </p:sp>
      <p:sp>
        <p:nvSpPr>
          <p:cNvPr id="48" name="文字方塊 47">
            <a:extLst>
              <a:ext uri="{FF2B5EF4-FFF2-40B4-BE49-F238E27FC236}">
                <a16:creationId xmlns:a16="http://schemas.microsoft.com/office/drawing/2014/main" id="{DE1743AC-16D6-4661-88AC-BA797FFE8DA9}"/>
              </a:ext>
            </a:extLst>
          </p:cNvPr>
          <p:cNvSpPr txBox="1"/>
          <p:nvPr/>
        </p:nvSpPr>
        <p:spPr>
          <a:xfrm>
            <a:off x="2969623" y="2558534"/>
            <a:ext cx="4720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50" name="文字方塊 49">
            <a:extLst>
              <a:ext uri="{FF2B5EF4-FFF2-40B4-BE49-F238E27FC236}">
                <a16:creationId xmlns:a16="http://schemas.microsoft.com/office/drawing/2014/main" id="{08AC8865-DF56-4691-8533-5BF68775A19D}"/>
              </a:ext>
            </a:extLst>
          </p:cNvPr>
          <p:cNvSpPr txBox="1"/>
          <p:nvPr/>
        </p:nvSpPr>
        <p:spPr>
          <a:xfrm>
            <a:off x="2969623" y="4000673"/>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2" name="文字方塊 51">
            <a:extLst>
              <a:ext uri="{FF2B5EF4-FFF2-40B4-BE49-F238E27FC236}">
                <a16:creationId xmlns:a16="http://schemas.microsoft.com/office/drawing/2014/main" id="{8094FFBB-13F4-4E0C-9EDB-19F499E2E26B}"/>
              </a:ext>
            </a:extLst>
          </p:cNvPr>
          <p:cNvSpPr txBox="1"/>
          <p:nvPr/>
        </p:nvSpPr>
        <p:spPr>
          <a:xfrm>
            <a:off x="6017623" y="1305541"/>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3" name="文字方塊 52">
            <a:extLst>
              <a:ext uri="{FF2B5EF4-FFF2-40B4-BE49-F238E27FC236}">
                <a16:creationId xmlns:a16="http://schemas.microsoft.com/office/drawing/2014/main" id="{35A8C046-66C2-492A-A0F0-CA9A98073712}"/>
              </a:ext>
            </a:extLst>
          </p:cNvPr>
          <p:cNvSpPr txBox="1"/>
          <p:nvPr/>
        </p:nvSpPr>
        <p:spPr>
          <a:xfrm>
            <a:off x="9055755" y="-204452"/>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4" name="文字方塊 53">
            <a:extLst>
              <a:ext uri="{FF2B5EF4-FFF2-40B4-BE49-F238E27FC236}">
                <a16:creationId xmlns:a16="http://schemas.microsoft.com/office/drawing/2014/main" id="{C340772A-B983-4BD7-9045-5ACCF03BA061}"/>
              </a:ext>
            </a:extLst>
          </p:cNvPr>
          <p:cNvSpPr txBox="1"/>
          <p:nvPr/>
        </p:nvSpPr>
        <p:spPr>
          <a:xfrm>
            <a:off x="9171143" y="107179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55" name="文字方塊 54">
            <a:extLst>
              <a:ext uri="{FF2B5EF4-FFF2-40B4-BE49-F238E27FC236}">
                <a16:creationId xmlns:a16="http://schemas.microsoft.com/office/drawing/2014/main" id="{707DF6D9-192B-45D4-BC8B-BA166A551925}"/>
              </a:ext>
            </a:extLst>
          </p:cNvPr>
          <p:cNvSpPr txBox="1"/>
          <p:nvPr/>
        </p:nvSpPr>
        <p:spPr>
          <a:xfrm>
            <a:off x="12012446" y="120735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
        <p:nvSpPr>
          <p:cNvPr id="56" name="文字方塊 55">
            <a:extLst>
              <a:ext uri="{FF2B5EF4-FFF2-40B4-BE49-F238E27FC236}">
                <a16:creationId xmlns:a16="http://schemas.microsoft.com/office/drawing/2014/main" id="{CB23E4FC-58DC-45EC-A0D2-4C170FC4CC9A}"/>
              </a:ext>
            </a:extLst>
          </p:cNvPr>
          <p:cNvSpPr txBox="1"/>
          <p:nvPr/>
        </p:nvSpPr>
        <p:spPr>
          <a:xfrm>
            <a:off x="14669625" y="1251389"/>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57" name="文字方塊 56">
            <a:extLst>
              <a:ext uri="{FF2B5EF4-FFF2-40B4-BE49-F238E27FC236}">
                <a16:creationId xmlns:a16="http://schemas.microsoft.com/office/drawing/2014/main" id="{AB1EEAFC-C91B-4A46-BB88-20CCD209029B}"/>
              </a:ext>
            </a:extLst>
          </p:cNvPr>
          <p:cNvSpPr txBox="1"/>
          <p:nvPr/>
        </p:nvSpPr>
        <p:spPr>
          <a:xfrm>
            <a:off x="17332195" y="1255131"/>
            <a:ext cx="306977" cy="379473"/>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58" name="文字方塊 57">
            <a:extLst>
              <a:ext uri="{FF2B5EF4-FFF2-40B4-BE49-F238E27FC236}">
                <a16:creationId xmlns:a16="http://schemas.microsoft.com/office/drawing/2014/main" id="{3094D8C9-21F5-44F2-AA36-342BB01D3414}"/>
              </a:ext>
            </a:extLst>
          </p:cNvPr>
          <p:cNvSpPr txBox="1"/>
          <p:nvPr/>
        </p:nvSpPr>
        <p:spPr>
          <a:xfrm>
            <a:off x="12012446" y="-543147"/>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59" name="文字方塊 58">
            <a:extLst>
              <a:ext uri="{FF2B5EF4-FFF2-40B4-BE49-F238E27FC236}">
                <a16:creationId xmlns:a16="http://schemas.microsoft.com/office/drawing/2014/main" id="{1CE42C97-E7B2-4F9F-80CE-3043DA333E28}"/>
              </a:ext>
            </a:extLst>
          </p:cNvPr>
          <p:cNvSpPr txBox="1"/>
          <p:nvPr/>
        </p:nvSpPr>
        <p:spPr>
          <a:xfrm>
            <a:off x="14669625" y="-521214"/>
            <a:ext cx="430210"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0" name="文字方塊 59">
            <a:extLst>
              <a:ext uri="{FF2B5EF4-FFF2-40B4-BE49-F238E27FC236}">
                <a16:creationId xmlns:a16="http://schemas.microsoft.com/office/drawing/2014/main" id="{40F541B5-A0A0-4493-8CC0-4B745EFFC36C}"/>
              </a:ext>
            </a:extLst>
          </p:cNvPr>
          <p:cNvSpPr txBox="1"/>
          <p:nvPr/>
        </p:nvSpPr>
        <p:spPr>
          <a:xfrm>
            <a:off x="5980676" y="3448564"/>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a</a:t>
            </a:r>
            <a:endParaRPr lang="zh-TW" altLang="en-US" dirty="0"/>
          </a:p>
        </p:txBody>
      </p:sp>
      <p:sp>
        <p:nvSpPr>
          <p:cNvPr id="61" name="文字方塊 60">
            <a:extLst>
              <a:ext uri="{FF2B5EF4-FFF2-40B4-BE49-F238E27FC236}">
                <a16:creationId xmlns:a16="http://schemas.microsoft.com/office/drawing/2014/main" id="{E3FBA358-E224-43E7-97A0-CC92AF21A426}"/>
              </a:ext>
            </a:extLst>
          </p:cNvPr>
          <p:cNvSpPr txBox="1"/>
          <p:nvPr/>
        </p:nvSpPr>
        <p:spPr>
          <a:xfrm>
            <a:off x="6209211" y="4308217"/>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b</a:t>
            </a:r>
            <a:endParaRPr lang="zh-TW" altLang="en-US" dirty="0"/>
          </a:p>
        </p:txBody>
      </p:sp>
      <p:sp>
        <p:nvSpPr>
          <p:cNvPr id="62" name="文字方塊 61">
            <a:extLst>
              <a:ext uri="{FF2B5EF4-FFF2-40B4-BE49-F238E27FC236}">
                <a16:creationId xmlns:a16="http://schemas.microsoft.com/office/drawing/2014/main" id="{093D233D-81B4-4235-9BA5-F265369E7EB5}"/>
              </a:ext>
            </a:extLst>
          </p:cNvPr>
          <p:cNvSpPr txBox="1"/>
          <p:nvPr/>
        </p:nvSpPr>
        <p:spPr>
          <a:xfrm>
            <a:off x="6337739" y="5352536"/>
            <a:ext cx="383177" cy="369332"/>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c</a:t>
            </a:r>
            <a:endParaRPr lang="zh-TW" altLang="en-US" dirty="0"/>
          </a:p>
        </p:txBody>
      </p:sp>
    </p:spTree>
    <p:extLst>
      <p:ext uri="{BB962C8B-B14F-4D97-AF65-F5344CB8AC3E}">
        <p14:creationId xmlns:p14="http://schemas.microsoft.com/office/powerpoint/2010/main" val="3254637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Worst case : O(n</a:t>
            </a:r>
            <a:r>
              <a:rPr lang="en-US" altLang="zh-TW" baseline="30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 |P| · </a:t>
            </a:r>
            <a:r>
              <a:rPr lang="en-US" altLang="zh-TW" dirty="0" err="1">
                <a:latin typeface="Times New Roman" panose="02020603050405020304" pitchFamily="18" charset="0"/>
                <a:cs typeface="Times New Roman" panose="02020603050405020304" pitchFamily="18" charset="0"/>
              </a:rPr>
              <a:t>logn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430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LCS</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預測</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X = </a:t>
            </a:r>
            <a:r>
              <a:rPr lang="en-US" altLang="zh-TW"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dirty="0">
              <a:latin typeface="Times New Roman" panose="02020603050405020304" pitchFamily="18" charset="0"/>
              <a:ea typeface="Cambria" panose="020405030504060302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Y = </a:t>
            </a:r>
            <a:r>
              <a:rPr lang="en-US" altLang="zh-TW" dirty="0" err="1">
                <a:latin typeface="Times New Roman" panose="02020603050405020304" pitchFamily="18" charset="0"/>
                <a:cs typeface="Times New Roman" panose="02020603050405020304" pitchFamily="18" charset="0"/>
              </a:rPr>
              <a:t>cbccadcbbd</a:t>
            </a:r>
            <a:endParaRPr lang="en-US" altLang="zh-TW" dirty="0">
              <a:latin typeface="Times New Roman" panose="02020603050405020304" pitchFamily="18" charset="0"/>
              <a:cs typeface="Times New Roman" panose="02020603050405020304" pitchFamily="18" charset="0"/>
            </a:endParaRPr>
          </a:p>
          <a:p>
            <a:endParaRPr lang="zh-TW" altLang="en-US" dirty="0"/>
          </a:p>
        </p:txBody>
      </p:sp>
      <p:sp>
        <p:nvSpPr>
          <p:cNvPr id="4" name="內容版面配置區 2"/>
          <p:cNvSpPr txBox="1">
            <a:spLocks/>
          </p:cNvSpPr>
          <p:nvPr/>
        </p:nvSpPr>
        <p:spPr>
          <a:xfrm>
            <a:off x="838200" y="3828516"/>
            <a:ext cx="1622989" cy="10596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X = </a:t>
            </a:r>
            <a:r>
              <a:rPr lang="en-US" altLang="zh-TW" sz="18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18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Y = </a:t>
            </a:r>
            <a:r>
              <a:rPr lang="en-US" altLang="zh-TW" sz="1800" dirty="0" err="1">
                <a:latin typeface="Times New Roman" panose="02020603050405020304" pitchFamily="18" charset="0"/>
                <a:cs typeface="Times New Roman" panose="02020603050405020304" pitchFamily="18" charset="0"/>
              </a:rPr>
              <a:t>cbccadcbbd</a:t>
            </a:r>
            <a:endParaRPr lang="en-US" altLang="zh-TW"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1800" dirty="0">
                <a:latin typeface="標楷體" panose="03000509000000000000" pitchFamily="65" charset="-120"/>
                <a:ea typeface="標楷體" panose="03000509000000000000" pitchFamily="65" charset="-120"/>
              </a:rPr>
              <a:t> </a:t>
            </a:r>
            <a:r>
              <a:rPr lang="en-US" altLang="zh-TW" sz="1800" dirty="0"/>
              <a:t>= </a:t>
            </a:r>
            <a:r>
              <a:rPr lang="en-US" altLang="zh-TW" sz="1800" dirty="0">
                <a:latin typeface="Times New Roman" panose="02020603050405020304" pitchFamily="18" charset="0"/>
                <a:cs typeface="Times New Roman" panose="02020603050405020304" pitchFamily="18" charset="0"/>
              </a:rPr>
              <a:t>‘’</a:t>
            </a:r>
          </a:p>
          <a:p>
            <a:endParaRPr lang="zh-TW" altLang="en-US" dirty="0"/>
          </a:p>
        </p:txBody>
      </p:sp>
      <p:sp>
        <p:nvSpPr>
          <p:cNvPr id="5" name="矩形 4"/>
          <p:cNvSpPr/>
          <p:nvPr/>
        </p:nvSpPr>
        <p:spPr>
          <a:xfrm>
            <a:off x="838200" y="3828517"/>
            <a:ext cx="1622989" cy="1059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txBox="1">
            <a:spLocks/>
          </p:cNvSpPr>
          <p:nvPr/>
        </p:nvSpPr>
        <p:spPr>
          <a:xfrm>
            <a:off x="3383423" y="3148895"/>
            <a:ext cx="1622989" cy="105967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X = </a:t>
            </a:r>
            <a:r>
              <a:rPr lang="en-US" altLang="zh-TW" sz="18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18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18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Y = </a:t>
            </a:r>
            <a:r>
              <a:rPr lang="en-US" altLang="zh-TW" sz="1800" strike="sngStrike" dirty="0" err="1">
                <a:latin typeface="Times New Roman" panose="02020603050405020304" pitchFamily="18" charset="0"/>
                <a:cs typeface="Times New Roman" panose="02020603050405020304" pitchFamily="18" charset="0"/>
              </a:rPr>
              <a:t>c</a:t>
            </a:r>
            <a:r>
              <a:rPr lang="en-US" altLang="zh-TW" sz="1800" strike="sngStrike" dirty="0" err="1">
                <a:solidFill>
                  <a:srgbClr val="FF0000"/>
                </a:solidFill>
                <a:latin typeface="Times New Roman" panose="02020603050405020304" pitchFamily="18" charset="0"/>
                <a:cs typeface="Times New Roman" panose="02020603050405020304" pitchFamily="18" charset="0"/>
              </a:rPr>
              <a:t>b</a:t>
            </a:r>
            <a:r>
              <a:rPr lang="en-US" altLang="zh-TW" sz="1800" dirty="0" err="1">
                <a:latin typeface="Times New Roman" panose="02020603050405020304" pitchFamily="18" charset="0"/>
                <a:cs typeface="Times New Roman" panose="02020603050405020304" pitchFamily="18" charset="0"/>
              </a:rPr>
              <a:t>ccadcbbd</a:t>
            </a:r>
            <a:endParaRPr lang="en-US" altLang="zh-TW"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1800" dirty="0">
                <a:latin typeface="標楷體" panose="03000509000000000000" pitchFamily="65" charset="-120"/>
                <a:ea typeface="標楷體" panose="03000509000000000000" pitchFamily="65" charset="-120"/>
              </a:rPr>
              <a:t> </a:t>
            </a:r>
            <a:r>
              <a:rPr lang="en-US" altLang="zh-TW" sz="1800" dirty="0"/>
              <a:t>= </a:t>
            </a:r>
            <a:r>
              <a:rPr lang="en-US" altLang="zh-TW" sz="1800" dirty="0">
                <a:latin typeface="Times New Roman" panose="02020603050405020304" pitchFamily="18" charset="0"/>
                <a:cs typeface="Times New Roman" panose="02020603050405020304" pitchFamily="18" charset="0"/>
              </a:rPr>
              <a:t>‘b’</a:t>
            </a:r>
          </a:p>
          <a:p>
            <a:endParaRPr lang="zh-TW" altLang="en-US" dirty="0"/>
          </a:p>
        </p:txBody>
      </p:sp>
      <p:sp>
        <p:nvSpPr>
          <p:cNvPr id="16" name="矩形 15"/>
          <p:cNvSpPr/>
          <p:nvPr/>
        </p:nvSpPr>
        <p:spPr>
          <a:xfrm>
            <a:off x="3383423" y="3148895"/>
            <a:ext cx="1622989" cy="1059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內容版面配置區 2"/>
          <p:cNvSpPr txBox="1">
            <a:spLocks/>
          </p:cNvSpPr>
          <p:nvPr/>
        </p:nvSpPr>
        <p:spPr>
          <a:xfrm>
            <a:off x="3383423" y="4662928"/>
            <a:ext cx="1622989" cy="10596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X = </a:t>
            </a:r>
            <a:r>
              <a:rPr lang="en-US" altLang="zh-TW" sz="1800" strike="sngStrike" dirty="0" err="1">
                <a:latin typeface="Times New Roman" panose="02020603050405020304" pitchFamily="18" charset="0"/>
                <a:ea typeface="Cambria" panose="02040503050406030204" pitchFamily="18" charset="0"/>
                <a:cs typeface="Times New Roman" panose="02020603050405020304" pitchFamily="18" charset="0"/>
              </a:rPr>
              <a:t>b</a:t>
            </a:r>
            <a:r>
              <a:rPr lang="en-US" altLang="zh-TW" sz="18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c</a:t>
            </a:r>
            <a:r>
              <a:rPr lang="en-US" altLang="zh-TW" sz="1800" dirty="0" err="1">
                <a:latin typeface="Times New Roman" panose="02020603050405020304" pitchFamily="18" charset="0"/>
                <a:ea typeface="Cambria" panose="02040503050406030204" pitchFamily="18" charset="0"/>
                <a:cs typeface="Times New Roman" panose="02020603050405020304" pitchFamily="18" charset="0"/>
              </a:rPr>
              <a:t>aacbdba</a:t>
            </a:r>
            <a:endParaRPr lang="en-US" altLang="zh-TW" sz="18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Y = </a:t>
            </a:r>
            <a:r>
              <a:rPr lang="en-US" altLang="zh-TW" sz="1800" strike="sngStrike" dirty="0" err="1">
                <a:solidFill>
                  <a:srgbClr val="FF0000"/>
                </a:solidFill>
                <a:latin typeface="Times New Roman" panose="02020603050405020304" pitchFamily="18" charset="0"/>
                <a:cs typeface="Times New Roman" panose="02020603050405020304" pitchFamily="18" charset="0"/>
              </a:rPr>
              <a:t>c</a:t>
            </a:r>
            <a:r>
              <a:rPr lang="en-US" altLang="zh-TW" sz="1800" dirty="0" err="1">
                <a:latin typeface="Times New Roman" panose="02020603050405020304" pitchFamily="18" charset="0"/>
                <a:cs typeface="Times New Roman" panose="02020603050405020304" pitchFamily="18" charset="0"/>
              </a:rPr>
              <a:t>bccadcbbd</a:t>
            </a:r>
            <a:endParaRPr lang="en-US" altLang="zh-TW"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1800" dirty="0">
                <a:latin typeface="標楷體" panose="03000509000000000000" pitchFamily="65" charset="-120"/>
                <a:ea typeface="標楷體" panose="03000509000000000000" pitchFamily="65" charset="-120"/>
              </a:rPr>
              <a:t> </a:t>
            </a:r>
            <a:r>
              <a:rPr lang="en-US" altLang="zh-TW" sz="1800" dirty="0"/>
              <a:t>= </a:t>
            </a:r>
            <a:r>
              <a:rPr lang="en-US" altLang="zh-TW" sz="1800" dirty="0">
                <a:latin typeface="Times New Roman" panose="02020603050405020304" pitchFamily="18" charset="0"/>
                <a:cs typeface="Times New Roman" panose="02020603050405020304" pitchFamily="18" charset="0"/>
              </a:rPr>
              <a:t>‘c’</a:t>
            </a:r>
          </a:p>
          <a:p>
            <a:endParaRPr lang="zh-TW" altLang="en-US" dirty="0"/>
          </a:p>
        </p:txBody>
      </p:sp>
      <p:sp>
        <p:nvSpPr>
          <p:cNvPr id="18" name="矩形 17"/>
          <p:cNvSpPr/>
          <p:nvPr/>
        </p:nvSpPr>
        <p:spPr>
          <a:xfrm>
            <a:off x="3383423" y="4662929"/>
            <a:ext cx="1622989" cy="1059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單箭頭接點 19"/>
          <p:cNvCxnSpPr>
            <a:stCxn id="5" idx="3"/>
            <a:endCxn id="16" idx="1"/>
          </p:cNvCxnSpPr>
          <p:nvPr/>
        </p:nvCxnSpPr>
        <p:spPr>
          <a:xfrm flipV="1">
            <a:off x="2461189" y="3678734"/>
            <a:ext cx="922234" cy="679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5" idx="3"/>
            <a:endCxn id="18" idx="1"/>
          </p:cNvCxnSpPr>
          <p:nvPr/>
        </p:nvCxnSpPr>
        <p:spPr>
          <a:xfrm>
            <a:off x="2461189" y="4358356"/>
            <a:ext cx="922234" cy="834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表格 22"/>
          <p:cNvGraphicFramePr>
            <a:graphicFrameLocks noGrp="1"/>
          </p:cNvGraphicFramePr>
          <p:nvPr>
            <p:extLst>
              <p:ext uri="{D42A27DB-BD31-4B8C-83A1-F6EECF244321}">
                <p14:modId xmlns:p14="http://schemas.microsoft.com/office/powerpoint/2010/main" val="3068071522"/>
              </p:ext>
            </p:extLst>
          </p:nvPr>
        </p:nvGraphicFramePr>
        <p:xfrm>
          <a:off x="5290545" y="3148895"/>
          <a:ext cx="2442845" cy="914400"/>
        </p:xfrm>
        <a:graphic>
          <a:graphicData uri="http://schemas.openxmlformats.org/drawingml/2006/table">
            <a:tbl>
              <a:tblPr firstRow="1" bandRow="1">
                <a:tableStyleId>{5C22544A-7EE6-4342-B048-85BDC9FD1C3A}</a:tableStyleId>
              </a:tblPr>
              <a:tblGrid>
                <a:gridCol w="488569">
                  <a:extLst>
                    <a:ext uri="{9D8B030D-6E8A-4147-A177-3AD203B41FA5}">
                      <a16:colId xmlns:a16="http://schemas.microsoft.com/office/drawing/2014/main" val="20000"/>
                    </a:ext>
                  </a:extLst>
                </a:gridCol>
                <a:gridCol w="488569">
                  <a:extLst>
                    <a:ext uri="{9D8B030D-6E8A-4147-A177-3AD203B41FA5}">
                      <a16:colId xmlns:a16="http://schemas.microsoft.com/office/drawing/2014/main" val="20001"/>
                    </a:ext>
                  </a:extLst>
                </a:gridCol>
                <a:gridCol w="488569">
                  <a:extLst>
                    <a:ext uri="{9D8B030D-6E8A-4147-A177-3AD203B41FA5}">
                      <a16:colId xmlns:a16="http://schemas.microsoft.com/office/drawing/2014/main" val="20002"/>
                    </a:ext>
                  </a:extLst>
                </a:gridCol>
                <a:gridCol w="488569">
                  <a:extLst>
                    <a:ext uri="{9D8B030D-6E8A-4147-A177-3AD203B41FA5}">
                      <a16:colId xmlns:a16="http://schemas.microsoft.com/office/drawing/2014/main" val="20003"/>
                    </a:ext>
                  </a:extLst>
                </a:gridCol>
                <a:gridCol w="488569">
                  <a:extLst>
                    <a:ext uri="{9D8B030D-6E8A-4147-A177-3AD203B41FA5}">
                      <a16:colId xmlns:a16="http://schemas.microsoft.com/office/drawing/2014/main" val="20004"/>
                    </a:ext>
                  </a:extLst>
                </a:gridCol>
              </a:tblGrid>
              <a:tr h="299694">
                <a:tc>
                  <a:txBody>
                    <a:bodyPr/>
                    <a:lstStyle/>
                    <a:p>
                      <a:pPr algn="ct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a</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b</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c</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d</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9694">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X</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3</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2</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299694">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Y</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2</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3</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2</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2747472918"/>
              </p:ext>
            </p:extLst>
          </p:nvPr>
        </p:nvGraphicFramePr>
        <p:xfrm>
          <a:off x="5290546" y="4662928"/>
          <a:ext cx="2442845" cy="914400"/>
        </p:xfrm>
        <a:graphic>
          <a:graphicData uri="http://schemas.openxmlformats.org/drawingml/2006/table">
            <a:tbl>
              <a:tblPr firstRow="1" bandRow="1">
                <a:tableStyleId>{5C22544A-7EE6-4342-B048-85BDC9FD1C3A}</a:tableStyleId>
              </a:tblPr>
              <a:tblGrid>
                <a:gridCol w="488569">
                  <a:extLst>
                    <a:ext uri="{9D8B030D-6E8A-4147-A177-3AD203B41FA5}">
                      <a16:colId xmlns:a16="http://schemas.microsoft.com/office/drawing/2014/main" val="20000"/>
                    </a:ext>
                  </a:extLst>
                </a:gridCol>
                <a:gridCol w="488569">
                  <a:extLst>
                    <a:ext uri="{9D8B030D-6E8A-4147-A177-3AD203B41FA5}">
                      <a16:colId xmlns:a16="http://schemas.microsoft.com/office/drawing/2014/main" val="20001"/>
                    </a:ext>
                  </a:extLst>
                </a:gridCol>
                <a:gridCol w="488569">
                  <a:extLst>
                    <a:ext uri="{9D8B030D-6E8A-4147-A177-3AD203B41FA5}">
                      <a16:colId xmlns:a16="http://schemas.microsoft.com/office/drawing/2014/main" val="20002"/>
                    </a:ext>
                  </a:extLst>
                </a:gridCol>
                <a:gridCol w="488569">
                  <a:extLst>
                    <a:ext uri="{9D8B030D-6E8A-4147-A177-3AD203B41FA5}">
                      <a16:colId xmlns:a16="http://schemas.microsoft.com/office/drawing/2014/main" val="20003"/>
                    </a:ext>
                  </a:extLst>
                </a:gridCol>
                <a:gridCol w="488569">
                  <a:extLst>
                    <a:ext uri="{9D8B030D-6E8A-4147-A177-3AD203B41FA5}">
                      <a16:colId xmlns:a16="http://schemas.microsoft.com/office/drawing/2014/main" val="20004"/>
                    </a:ext>
                  </a:extLst>
                </a:gridCol>
              </a:tblGrid>
              <a:tr h="299694">
                <a:tc>
                  <a:txBody>
                    <a:bodyPr/>
                    <a:lstStyle/>
                    <a:p>
                      <a:pPr algn="ct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a</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b</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c</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d</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9694">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X</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3</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299694">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Y</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1</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3</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3</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2</a:t>
                      </a:r>
                      <a:endParaRPr lang="zh-TW" alt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5" name="文字方塊 24"/>
          <p:cNvSpPr txBox="1"/>
          <p:nvPr/>
        </p:nvSpPr>
        <p:spPr>
          <a:xfrm>
            <a:off x="7733390" y="3809113"/>
            <a:ext cx="1424940"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(better)</a:t>
            </a:r>
            <a:endParaRPr lang="zh-TW" altLang="en-US" dirty="0">
              <a:latin typeface="Times New Roman" panose="02020603050405020304" pitchFamily="18" charset="0"/>
              <a:cs typeface="Times New Roman" panose="02020603050405020304" pitchFamily="18" charset="0"/>
            </a:endParaRPr>
          </a:p>
        </p:txBody>
      </p:sp>
      <p:cxnSp>
        <p:nvCxnSpPr>
          <p:cNvPr id="27" name="直線接點 26"/>
          <p:cNvCxnSpPr/>
          <p:nvPr/>
        </p:nvCxnSpPr>
        <p:spPr>
          <a:xfrm flipV="1">
            <a:off x="3208020" y="4480560"/>
            <a:ext cx="5013960" cy="13335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580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LCS</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預測</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X = </a:t>
            </a:r>
            <a:r>
              <a:rPr lang="en-US" altLang="zh-TW"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dirty="0">
              <a:latin typeface="Times New Roman" panose="02020603050405020304" pitchFamily="18" charset="0"/>
              <a:ea typeface="Cambria" panose="020405030504060302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Y = </a:t>
            </a:r>
            <a:r>
              <a:rPr lang="en-US" altLang="zh-TW" dirty="0" err="1">
                <a:latin typeface="Times New Roman" panose="02020603050405020304" pitchFamily="18" charset="0"/>
                <a:cs typeface="Times New Roman" panose="02020603050405020304" pitchFamily="18" charset="0"/>
              </a:rPr>
              <a:t>cbccadcbbd</a:t>
            </a:r>
            <a:endParaRPr lang="en-US" altLang="zh-TW" dirty="0">
              <a:latin typeface="Times New Roman" panose="02020603050405020304" pitchFamily="18" charset="0"/>
              <a:cs typeface="Times New Roman" panose="02020603050405020304" pitchFamily="18" charset="0"/>
            </a:endParaRPr>
          </a:p>
          <a:p>
            <a:endParaRPr lang="zh-TW" altLang="en-US" dirty="0"/>
          </a:p>
        </p:txBody>
      </p:sp>
      <p:sp>
        <p:nvSpPr>
          <p:cNvPr id="4" name="內容版面配置區 2"/>
          <p:cNvSpPr txBox="1">
            <a:spLocks/>
          </p:cNvSpPr>
          <p:nvPr/>
        </p:nvSpPr>
        <p:spPr>
          <a:xfrm>
            <a:off x="838200" y="3828516"/>
            <a:ext cx="1622989" cy="10596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X = </a:t>
            </a:r>
            <a:r>
              <a:rPr lang="en-US" altLang="zh-TW" sz="1800" dirty="0" err="1">
                <a:latin typeface="Times New Roman" panose="02020603050405020304" pitchFamily="18" charset="0"/>
                <a:ea typeface="Cambria" panose="02040503050406030204" pitchFamily="18" charset="0"/>
                <a:cs typeface="Times New Roman" panose="02020603050405020304" pitchFamily="18" charset="0"/>
              </a:rPr>
              <a:t>bcaacbdba</a:t>
            </a:r>
            <a:endParaRPr lang="en-US" altLang="zh-TW" sz="18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Y = </a:t>
            </a:r>
            <a:r>
              <a:rPr lang="en-US" altLang="zh-TW" sz="1800" dirty="0" err="1">
                <a:latin typeface="Times New Roman" panose="02020603050405020304" pitchFamily="18" charset="0"/>
                <a:cs typeface="Times New Roman" panose="02020603050405020304" pitchFamily="18" charset="0"/>
              </a:rPr>
              <a:t>cbccadcbbd</a:t>
            </a:r>
            <a:endParaRPr lang="en-US" altLang="zh-TW"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1800" dirty="0">
                <a:latin typeface="標楷體" panose="03000509000000000000" pitchFamily="65" charset="-120"/>
                <a:ea typeface="標楷體" panose="03000509000000000000" pitchFamily="65" charset="-120"/>
              </a:rPr>
              <a:t> </a:t>
            </a:r>
            <a:r>
              <a:rPr lang="en-US" altLang="zh-TW" sz="1800" dirty="0"/>
              <a:t>= </a:t>
            </a:r>
            <a:r>
              <a:rPr lang="en-US" altLang="zh-TW" sz="1800" dirty="0">
                <a:latin typeface="Times New Roman" panose="02020603050405020304" pitchFamily="18" charset="0"/>
                <a:cs typeface="Times New Roman" panose="02020603050405020304" pitchFamily="18" charset="0"/>
              </a:rPr>
              <a:t>‘’</a:t>
            </a:r>
          </a:p>
          <a:p>
            <a:endParaRPr lang="zh-TW" altLang="en-US" dirty="0"/>
          </a:p>
        </p:txBody>
      </p:sp>
      <p:sp>
        <p:nvSpPr>
          <p:cNvPr id="5" name="矩形 4"/>
          <p:cNvSpPr/>
          <p:nvPr/>
        </p:nvSpPr>
        <p:spPr>
          <a:xfrm>
            <a:off x="838200" y="3828517"/>
            <a:ext cx="1622989" cy="1059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txBox="1">
            <a:spLocks/>
          </p:cNvSpPr>
          <p:nvPr/>
        </p:nvSpPr>
        <p:spPr>
          <a:xfrm>
            <a:off x="3109522" y="3828516"/>
            <a:ext cx="1622989" cy="105967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X = </a:t>
            </a:r>
            <a:r>
              <a:rPr lang="en-US" altLang="zh-TW" sz="1800" strike="sngStrike" dirty="0" err="1">
                <a:solidFill>
                  <a:srgbClr val="FF0000"/>
                </a:solidFill>
                <a:latin typeface="Times New Roman" panose="02020603050405020304" pitchFamily="18" charset="0"/>
                <a:ea typeface="Cambria" panose="02040503050406030204" pitchFamily="18" charset="0"/>
                <a:cs typeface="Times New Roman" panose="02020603050405020304" pitchFamily="18" charset="0"/>
              </a:rPr>
              <a:t>b</a:t>
            </a:r>
            <a:r>
              <a:rPr lang="en-US" altLang="zh-TW" sz="1800" dirty="0" err="1">
                <a:latin typeface="Times New Roman" panose="02020603050405020304" pitchFamily="18" charset="0"/>
                <a:ea typeface="Cambria" panose="02040503050406030204" pitchFamily="18" charset="0"/>
                <a:cs typeface="Times New Roman" panose="02020603050405020304" pitchFamily="18" charset="0"/>
              </a:rPr>
              <a:t>caacbdba</a:t>
            </a:r>
            <a:endParaRPr lang="en-US" altLang="zh-TW" sz="1800" dirty="0">
              <a:latin typeface="Times New Roman" panose="02020603050405020304" pitchFamily="18" charset="0"/>
              <a:ea typeface="Cambria" panose="020405030504060302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cs typeface="Times New Roman" panose="02020603050405020304" pitchFamily="18" charset="0"/>
              </a:rPr>
              <a:t>Y = </a:t>
            </a:r>
            <a:r>
              <a:rPr lang="en-US" altLang="zh-TW" sz="1800" strike="sngStrike" dirty="0" err="1">
                <a:latin typeface="Times New Roman" panose="02020603050405020304" pitchFamily="18" charset="0"/>
                <a:cs typeface="Times New Roman" panose="02020603050405020304" pitchFamily="18" charset="0"/>
              </a:rPr>
              <a:t>c</a:t>
            </a:r>
            <a:r>
              <a:rPr lang="en-US" altLang="zh-TW" sz="1800" strike="sngStrike" dirty="0" err="1">
                <a:solidFill>
                  <a:srgbClr val="FF0000"/>
                </a:solidFill>
                <a:latin typeface="Times New Roman" panose="02020603050405020304" pitchFamily="18" charset="0"/>
                <a:cs typeface="Times New Roman" panose="02020603050405020304" pitchFamily="18" charset="0"/>
              </a:rPr>
              <a:t>b</a:t>
            </a:r>
            <a:r>
              <a:rPr lang="en-US" altLang="zh-TW" sz="1800" dirty="0" err="1">
                <a:latin typeface="Times New Roman" panose="02020603050405020304" pitchFamily="18" charset="0"/>
                <a:cs typeface="Times New Roman" panose="02020603050405020304" pitchFamily="18" charset="0"/>
              </a:rPr>
              <a:t>ccadcbbd</a:t>
            </a:r>
            <a:endParaRPr lang="en-US" altLang="zh-TW"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a:t>
            </a:r>
            <a:r>
              <a:rPr lang="en-US" altLang="zh-TW" sz="1800" dirty="0">
                <a:latin typeface="標楷體" panose="03000509000000000000" pitchFamily="65" charset="-120"/>
                <a:ea typeface="標楷體" panose="03000509000000000000" pitchFamily="65" charset="-120"/>
              </a:rPr>
              <a:t> </a:t>
            </a:r>
            <a:r>
              <a:rPr lang="en-US" altLang="zh-TW" sz="1800" dirty="0"/>
              <a:t>= </a:t>
            </a:r>
            <a:r>
              <a:rPr lang="en-US" altLang="zh-TW" sz="1800" dirty="0">
                <a:latin typeface="Times New Roman" panose="02020603050405020304" pitchFamily="18" charset="0"/>
                <a:cs typeface="Times New Roman" panose="02020603050405020304" pitchFamily="18" charset="0"/>
              </a:rPr>
              <a:t>‘b’</a:t>
            </a:r>
          </a:p>
          <a:p>
            <a:endParaRPr lang="zh-TW" altLang="en-US" dirty="0"/>
          </a:p>
        </p:txBody>
      </p:sp>
      <p:sp>
        <p:nvSpPr>
          <p:cNvPr id="16" name="矩形 15"/>
          <p:cNvSpPr/>
          <p:nvPr/>
        </p:nvSpPr>
        <p:spPr>
          <a:xfrm>
            <a:off x="3109522" y="3828516"/>
            <a:ext cx="1622989" cy="1059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單箭頭接點 19"/>
          <p:cNvCxnSpPr>
            <a:stCxn id="5" idx="3"/>
            <a:endCxn id="16" idx="1"/>
          </p:cNvCxnSpPr>
          <p:nvPr/>
        </p:nvCxnSpPr>
        <p:spPr>
          <a:xfrm flipV="1">
            <a:off x="2461189" y="4358355"/>
            <a:ext cx="6483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a:stCxn id="15" idx="3"/>
          </p:cNvCxnSpPr>
          <p:nvPr/>
        </p:nvCxnSpPr>
        <p:spPr>
          <a:xfrm flipV="1">
            <a:off x="4732511" y="3352800"/>
            <a:ext cx="1157749" cy="1005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a:stCxn id="15" idx="3"/>
          </p:cNvCxnSpPr>
          <p:nvPr/>
        </p:nvCxnSpPr>
        <p:spPr>
          <a:xfrm flipV="1">
            <a:off x="4732511" y="4001294"/>
            <a:ext cx="1188229" cy="357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16" idx="3"/>
          </p:cNvCxnSpPr>
          <p:nvPr/>
        </p:nvCxnSpPr>
        <p:spPr>
          <a:xfrm>
            <a:off x="4732511" y="4358355"/>
            <a:ext cx="1211089" cy="289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16" idx="3"/>
          </p:cNvCxnSpPr>
          <p:nvPr/>
        </p:nvCxnSpPr>
        <p:spPr>
          <a:xfrm>
            <a:off x="4732511" y="4358355"/>
            <a:ext cx="1188229" cy="914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6027419" y="3101340"/>
            <a:ext cx="2385061" cy="369332"/>
          </a:xfrm>
          <a:prstGeom prst="rect">
            <a:avLst/>
          </a:prstGeom>
          <a:noFill/>
        </p:spPr>
        <p:txBody>
          <a:bodyPr wrap="square" rtlCol="0">
            <a:spAutoFit/>
          </a:bodyPr>
          <a:lstStyle/>
          <a:p>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UpperBound</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for add ‘a’</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6" name="文字方塊 25"/>
          <p:cNvSpPr txBox="1"/>
          <p:nvPr/>
        </p:nvSpPr>
        <p:spPr>
          <a:xfrm>
            <a:off x="6027419" y="3756660"/>
            <a:ext cx="2385061" cy="369332"/>
          </a:xfrm>
          <a:prstGeom prst="rect">
            <a:avLst/>
          </a:prstGeom>
          <a:noFill/>
        </p:spPr>
        <p:txBody>
          <a:bodyPr wrap="square" rtlCol="0">
            <a:spAutoFit/>
          </a:bodyPr>
          <a:lstStyle/>
          <a:p>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UpperBound</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for add ‘b’</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7" name="文字方塊 26"/>
          <p:cNvSpPr txBox="1"/>
          <p:nvPr/>
        </p:nvSpPr>
        <p:spPr>
          <a:xfrm>
            <a:off x="6027419" y="4411980"/>
            <a:ext cx="2385061" cy="369332"/>
          </a:xfrm>
          <a:prstGeom prst="rect">
            <a:avLst/>
          </a:prstGeom>
          <a:noFill/>
        </p:spPr>
        <p:txBody>
          <a:bodyPr wrap="square" rtlCol="0">
            <a:spAutoFit/>
          </a:bodyPr>
          <a:lstStyle/>
          <a:p>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UpperBound</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for add ‘c’</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8" name="文字方塊 27"/>
          <p:cNvSpPr txBox="1"/>
          <p:nvPr/>
        </p:nvSpPr>
        <p:spPr>
          <a:xfrm>
            <a:off x="6027419" y="5067300"/>
            <a:ext cx="2385061" cy="369332"/>
          </a:xfrm>
          <a:prstGeom prst="rect">
            <a:avLst/>
          </a:prstGeom>
          <a:noFill/>
        </p:spPr>
        <p:txBody>
          <a:bodyPr wrap="square" rtlCol="0">
            <a:spAutoFit/>
          </a:bodyPr>
          <a:lstStyle/>
          <a:p>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UpperBound</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for add ‘d’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9" name="文字方塊 28"/>
          <p:cNvSpPr txBox="1"/>
          <p:nvPr/>
        </p:nvSpPr>
        <p:spPr>
          <a:xfrm>
            <a:off x="8820150" y="5090160"/>
            <a:ext cx="3188970" cy="369332"/>
          </a:xfrm>
          <a:prstGeom prst="rect">
            <a:avLst/>
          </a:prstGeom>
          <a:noFill/>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Choose the highest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upperbound</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80127503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TotalTime>
  <Words>1810</Words>
  <Application>Microsoft Office PowerPoint</Application>
  <PresentationFormat>寬螢幕</PresentationFormat>
  <Paragraphs>493</Paragraphs>
  <Slides>23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23</vt:i4>
      </vt:variant>
    </vt:vector>
  </HeadingPairs>
  <TitlesOfParts>
    <vt:vector size="29" baseType="lpstr">
      <vt:lpstr>標楷體</vt:lpstr>
      <vt:lpstr>Arial</vt:lpstr>
      <vt:lpstr>Calibri</vt:lpstr>
      <vt:lpstr>Calibri Light</vt:lpstr>
      <vt:lpstr>Times New Roman</vt:lpstr>
      <vt:lpstr>Office 佈景主題</vt:lpstr>
      <vt:lpstr>An A∗ search algorithm for the constrained longest common subsequence problem</vt:lpstr>
      <vt:lpstr>Abstract(1/2)</vt:lpstr>
      <vt:lpstr>Abstract(2/2)</vt:lpstr>
      <vt:lpstr>Constrained Longest Common Subsequence Problem</vt:lpstr>
      <vt:lpstr>PowerPoint 簡報</vt:lpstr>
      <vt:lpstr>PowerPoint 簡報</vt:lpstr>
      <vt:lpstr>A* algortithm</vt:lpstr>
      <vt:lpstr>UB1(v) &amp; UB2(v) (?????)</vt:lpstr>
      <vt:lpstr>PowerPoint 簡報</vt:lpstr>
      <vt:lpstr>PowerPoint 簡報</vt:lpstr>
      <vt:lpstr>PowerPoint 簡報</vt:lpstr>
      <vt:lpstr>PowerPoint 簡報</vt:lpstr>
      <vt:lpstr>Examples that do not need to be extended</vt:lpstr>
      <vt:lpstr>PowerPoint 簡報</vt:lpstr>
      <vt:lpstr>Cannot lead to feasible solutions</vt:lpstr>
      <vt:lpstr>PowerPoint 簡報</vt:lpstr>
      <vt:lpstr>PowerPoint 簡報</vt:lpstr>
      <vt:lpstr>PowerPoint 簡報</vt:lpstr>
      <vt:lpstr>PowerPoint 簡報</vt:lpstr>
      <vt:lpstr>PowerPoint 簡報</vt:lpstr>
      <vt:lpstr>Time complexity</vt:lpstr>
      <vt:lpstr>LCS 預測</vt:lpstr>
      <vt:lpstr>LCS 預測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Alex</dc:creator>
  <cp:lastModifiedBy>pplab</cp:lastModifiedBy>
  <cp:revision>36</cp:revision>
  <dcterms:created xsi:type="dcterms:W3CDTF">2020-11-29T07:10:56Z</dcterms:created>
  <dcterms:modified xsi:type="dcterms:W3CDTF">2020-12-01T11:12:20Z</dcterms:modified>
</cp:coreProperties>
</file>