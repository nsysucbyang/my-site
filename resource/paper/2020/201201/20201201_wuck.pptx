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21" r:id="rId2"/>
    <p:sldId id="311" r:id="rId3"/>
    <p:sldId id="329" r:id="rId4"/>
    <p:sldId id="337" r:id="rId5"/>
    <p:sldId id="331" r:id="rId6"/>
    <p:sldId id="340" r:id="rId7"/>
    <p:sldId id="341" r:id="rId8"/>
    <p:sldId id="342" r:id="rId9"/>
    <p:sldId id="332" r:id="rId10"/>
    <p:sldId id="33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83275" autoAdjust="0"/>
  </p:normalViewPr>
  <p:slideViewPr>
    <p:cSldViewPr snapToGrid="0">
      <p:cViewPr varScale="1">
        <p:scale>
          <a:sx n="96" d="100"/>
          <a:sy n="96" d="100"/>
        </p:scale>
        <p:origin x="20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1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457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2020/12/1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93" y="461639"/>
            <a:ext cx="8433339" cy="1699666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 Performance, Low Complexity Algorithm for Compile-Time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in Heterogeneous Systems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93" y="2819042"/>
            <a:ext cx="8536249" cy="927245"/>
          </a:xfrm>
        </p:spPr>
        <p:txBody>
          <a:bodyPr>
            <a:noAutofit/>
          </a:bodyPr>
          <a:lstStyle/>
          <a:p>
            <a:r>
              <a:rPr lang="nl-NL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Tarek </a:t>
            </a:r>
            <a:r>
              <a:rPr lang="nl-NL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Hagras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nl-NL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Jan Janecek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5192159" y="5487972"/>
            <a:ext cx="3486173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-Kai Wu</a:t>
            </a:r>
          </a:p>
          <a:p>
            <a:pPr algn="r"/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Dec.1,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2020.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4993" y="4109298"/>
            <a:ext cx="88990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18th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Parallel and Distributed Processing Symposium,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2004. Santa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Fe, NM, USA, 2004, pp.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107-115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5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251570"/>
            <a:ext cx="9004993" cy="594466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computing environment is 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computing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due to the fact that a single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architecture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be adequate for exploiting all of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program’s available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parallelism. In some cases,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systems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been shown to produce higher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cost than a single large machine. Task scheduling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key issue when aiming at high performance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260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</a:t>
            </a:r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1360901"/>
            <a:ext cx="9004993" cy="594466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heuristics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been presented in the literature, most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only homogeneous computing systems.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simple scheduling algorithm based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list-scheduling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task-duplication on a bounded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machines called Heterogeneous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Parents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Fast Duplicator (HCPFD).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experiments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shown that HCPFD outperforms 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higher complexity algorithms.</a:t>
            </a:r>
            <a:endParaRPr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15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536713"/>
                <a:ext cx="7886700" cy="5640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𝐴𝐸𝑆𝑇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TW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𝑝𝑟𝑒𝑑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𝐴𝐸𝑆𝑇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𝐴𝐸𝑆𝑇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𝑒𝑛𝑡𝑟𝑦</m:t>
                              </m:r>
                            </m:sub>
                          </m:sSub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𝑠𝑢𝑐𝑐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TW" alt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𝑆𝑇</m:t>
                              </m:r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𝑒𝑥𝑖𝑡</m:t>
                              </m:r>
                            </m:sub>
                          </m:sSub>
                        </m:e>
                      </m:d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𝐴𝐸𝑆𝑇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𝑥𝑖𝑡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536713"/>
                <a:ext cx="7886700" cy="56402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11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87" y="0"/>
            <a:ext cx="6688184" cy="4182803"/>
          </a:xfr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7612112"/>
                  </p:ext>
                </p:extLst>
              </p:nvPr>
            </p:nvGraphicFramePr>
            <p:xfrm>
              <a:off x="149087" y="4478130"/>
              <a:ext cx="6862162" cy="205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9722">
                      <a:extLst>
                        <a:ext uri="{9D8B030D-6E8A-4147-A177-3AD203B41FA5}">
                          <a16:colId xmlns:a16="http://schemas.microsoft.com/office/drawing/2014/main" val="291447516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08784893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56918010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82101179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682822247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073387984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53791506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28077907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08973184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1326001435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746291690"/>
                        </a:ext>
                      </a:extLst>
                    </a:gridCol>
                  </a:tblGrid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026357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2165661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6267645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2220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7612112"/>
                  </p:ext>
                </p:extLst>
              </p:nvPr>
            </p:nvGraphicFramePr>
            <p:xfrm>
              <a:off x="149087" y="4478130"/>
              <a:ext cx="6862162" cy="205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9722">
                      <a:extLst>
                        <a:ext uri="{9D8B030D-6E8A-4147-A177-3AD203B41FA5}">
                          <a16:colId xmlns:a16="http://schemas.microsoft.com/office/drawing/2014/main" val="291447516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08784893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56918010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82101179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682822247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073387984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53791506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28077907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08973184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1326001435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746291690"/>
                        </a:ext>
                      </a:extLst>
                    </a:gridCol>
                  </a:tblGrid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026357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833" t="-107143" r="-842500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2165661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6267645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2220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234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94734" y="127590"/>
                <a:ext cx="7886700" cy="61769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𝐴𝐸𝑆𝑇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𝐴𝐸𝑆𝑇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31+16.7+16 , 22+12.7+23 , 24+11.7+13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=63.7</m:t>
                      </m:r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93.4−13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−16.7=63.7</m:t>
                      </m:r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𝐴𝐿𝑆𝑇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min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0" dirty="0" smtClean="0">
                              <a:latin typeface="Cambria Math" panose="02040503050406030204" pitchFamily="18" charset="0"/>
                            </a:rPr>
                            <m:t>72.4−19 , 63.7−16</m:t>
                          </m:r>
                        </m:e>
                      </m:d>
                      <m:r>
                        <a:rPr lang="en-US" altLang="zh-TW" b="0" i="0" dirty="0" smtClean="0">
                          <a:latin typeface="Cambria Math" panose="02040503050406030204" pitchFamily="18" charset="0"/>
                        </a:rPr>
                        <m:t>−16.7=31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4734" y="127590"/>
                <a:ext cx="7886700" cy="6176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6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5723068"/>
                  </p:ext>
                </p:extLst>
              </p:nvPr>
            </p:nvGraphicFramePr>
            <p:xfrm>
              <a:off x="149087" y="4478130"/>
              <a:ext cx="6862162" cy="205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9722">
                      <a:extLst>
                        <a:ext uri="{9D8B030D-6E8A-4147-A177-3AD203B41FA5}">
                          <a16:colId xmlns:a16="http://schemas.microsoft.com/office/drawing/2014/main" val="291447516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08784893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56918010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82101179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682822247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073387984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53791506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28077907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08973184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1326001435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746291690"/>
                        </a:ext>
                      </a:extLst>
                    </a:gridCol>
                  </a:tblGrid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026357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2165661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6267645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2220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5723068"/>
                  </p:ext>
                </p:extLst>
              </p:nvPr>
            </p:nvGraphicFramePr>
            <p:xfrm>
              <a:off x="149087" y="4478130"/>
              <a:ext cx="6862162" cy="2051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9722">
                      <a:extLst>
                        <a:ext uri="{9D8B030D-6E8A-4147-A177-3AD203B41FA5}">
                          <a16:colId xmlns:a16="http://schemas.microsoft.com/office/drawing/2014/main" val="291447516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08784893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569180101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82101179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682822247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073387984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253791506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4280779076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3089731840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1326001435"/>
                        </a:ext>
                      </a:extLst>
                    </a:gridCol>
                    <a:gridCol w="613244">
                      <a:extLst>
                        <a:ext uri="{9D8B030D-6E8A-4147-A177-3AD203B41FA5}">
                          <a16:colId xmlns:a16="http://schemas.microsoft.com/office/drawing/2014/main" val="746291690"/>
                        </a:ext>
                      </a:extLst>
                    </a:gridCol>
                  </a:tblGrid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i="1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zh-TW" altLang="en-US" sz="20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6026357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833" t="-107143" r="-842500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62165661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zh-TW" alt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6267645"/>
                      </a:ext>
                    </a:extLst>
                  </a:tr>
                  <a:tr h="5129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ALST</a:t>
                          </a:r>
                          <a:endParaRPr lang="zh-TW" altLang="en-US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44.7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72.4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22209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內容版面配置區 6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2" t="6422" r="1491" b="924"/>
          <a:stretch/>
        </p:blipFill>
        <p:spPr>
          <a:xfrm>
            <a:off x="255181" y="-1"/>
            <a:ext cx="5092996" cy="4384473"/>
          </a:xfrm>
        </p:spPr>
      </p:pic>
    </p:spTree>
    <p:extLst>
      <p:ext uri="{BB962C8B-B14F-4D97-AF65-F5344CB8AC3E}">
        <p14:creationId xmlns:p14="http://schemas.microsoft.com/office/powerpoint/2010/main" val="256193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" t="4702" r="-328" b="-171"/>
          <a:stretch/>
        </p:blipFill>
        <p:spPr>
          <a:xfrm>
            <a:off x="59634" y="159026"/>
            <a:ext cx="5993721" cy="5546035"/>
          </a:xfrm>
        </p:spPr>
      </p:pic>
      <p:cxnSp>
        <p:nvCxnSpPr>
          <p:cNvPr id="9" name="直線單箭頭接點 8"/>
          <p:cNvCxnSpPr/>
          <p:nvPr/>
        </p:nvCxnSpPr>
        <p:spPr>
          <a:xfrm flipV="1">
            <a:off x="5108713" y="735496"/>
            <a:ext cx="944643" cy="3289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053355" y="451438"/>
            <a:ext cx="29614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若沒有多做一次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的情況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56+11+7=74</a:t>
            </a: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本篇提出的方法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55+11+7=73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2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81"/>
            <a:ext cx="8941793" cy="4861483"/>
          </a:xfr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00" y="4969564"/>
            <a:ext cx="5374329" cy="142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0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0" t="9558" r="-11450" b="-1195"/>
          <a:stretch/>
        </p:blipFill>
        <p:spPr>
          <a:xfrm>
            <a:off x="404037" y="754910"/>
            <a:ext cx="7707758" cy="1631019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b="2658"/>
          <a:stretch/>
        </p:blipFill>
        <p:spPr>
          <a:xfrm>
            <a:off x="404037" y="2715539"/>
            <a:ext cx="5925260" cy="350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91343</TotalTime>
  <Words>298</Words>
  <Application>Microsoft Office PowerPoint</Application>
  <PresentationFormat>如螢幕大小 (4:3)</PresentationFormat>
  <Paragraphs>116</Paragraphs>
  <Slides>10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A High Performance, Low Complexity Algorithm for Compile-Time Task Scheduling in Heterogeneous Systems</vt:lpstr>
      <vt:lpstr>Abstract(1/2)</vt:lpstr>
      <vt:lpstr>Abstract(2/2)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智愷 吳</cp:lastModifiedBy>
  <cp:revision>877</cp:revision>
  <dcterms:created xsi:type="dcterms:W3CDTF">2017-09-25T08:45:50Z</dcterms:created>
  <dcterms:modified xsi:type="dcterms:W3CDTF">2020-12-01T08:57:12Z</dcterms:modified>
</cp:coreProperties>
</file>