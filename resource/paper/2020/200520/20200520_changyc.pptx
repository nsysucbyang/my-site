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64" r:id="rId4"/>
    <p:sldId id="261" r:id="rId5"/>
    <p:sldId id="257" r:id="rId6"/>
    <p:sldId id="262" r:id="rId7"/>
    <p:sldId id="263" r:id="rId8"/>
    <p:sldId id="266" r:id="rId9"/>
    <p:sldId id="265" r:id="rId10"/>
    <p:sldId id="267" r:id="rId11"/>
    <p:sldId id="268" r:id="rId12"/>
    <p:sldId id="260" r:id="rId13"/>
    <p:sldId id="270" r:id="rId14"/>
    <p:sldId id="271" r:id="rId15"/>
    <p:sldId id="272" r:id="rId16"/>
    <p:sldId id="273" r:id="rId17"/>
    <p:sldId id="275" r:id="rId18"/>
    <p:sldId id="277" r:id="rId19"/>
    <p:sldId id="280" r:id="rId20"/>
    <p:sldId id="281" r:id="rId21"/>
    <p:sldId id="282" r:id="rId22"/>
    <p:sldId id="279" r:id="rId23"/>
    <p:sldId id="283"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76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82" autoAdjust="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工作表1!$B$1</c:f>
              <c:strCache>
                <c:ptCount val="1"/>
                <c:pt idx="0">
                  <c:v>L type</c:v>
                </c:pt>
              </c:strCache>
            </c:strRef>
          </c:tx>
          <c:spPr>
            <a:solidFill>
              <a:srgbClr val="00B0F0"/>
            </a:solidFill>
            <a:ln>
              <a:noFill/>
            </a:ln>
            <a:effectLst/>
          </c:spPr>
          <c:invertIfNegative val="0"/>
          <c:cat>
            <c:strRef>
              <c:f>工作表1!$A$2:$A$3</c:f>
              <c:strCache>
                <c:ptCount val="2"/>
                <c:pt idx="0">
                  <c:v>中國</c:v>
                </c:pt>
                <c:pt idx="1">
                  <c:v>國外</c:v>
                </c:pt>
              </c:strCache>
            </c:strRef>
          </c:cat>
          <c:val>
            <c:numRef>
              <c:f>工作表1!$B$2:$B$3</c:f>
              <c:numCache>
                <c:formatCode>General</c:formatCode>
                <c:ptCount val="2"/>
                <c:pt idx="0">
                  <c:v>46</c:v>
                </c:pt>
                <c:pt idx="1">
                  <c:v>27</c:v>
                </c:pt>
              </c:numCache>
            </c:numRef>
          </c:val>
          <c:extLst>
            <c:ext xmlns:c16="http://schemas.microsoft.com/office/drawing/2014/chart" uri="{C3380CC4-5D6E-409C-BE32-E72D297353CC}">
              <c16:uniqueId val="{00000000-D59E-47E3-A766-39A16D3B11CC}"/>
            </c:ext>
          </c:extLst>
        </c:ser>
        <c:ser>
          <c:idx val="1"/>
          <c:order val="1"/>
          <c:tx>
            <c:strRef>
              <c:f>工作表1!$C$1</c:f>
              <c:strCache>
                <c:ptCount val="1"/>
                <c:pt idx="0">
                  <c:v>S type</c:v>
                </c:pt>
              </c:strCache>
            </c:strRef>
          </c:tx>
          <c:spPr>
            <a:solidFill>
              <a:srgbClr val="F8766D"/>
            </a:solidFill>
            <a:ln>
              <a:noFill/>
            </a:ln>
            <a:effectLst/>
          </c:spPr>
          <c:invertIfNegative val="0"/>
          <c:cat>
            <c:strRef>
              <c:f>工作表1!$A$2:$A$3</c:f>
              <c:strCache>
                <c:ptCount val="2"/>
                <c:pt idx="0">
                  <c:v>中國</c:v>
                </c:pt>
                <c:pt idx="1">
                  <c:v>國外</c:v>
                </c:pt>
              </c:strCache>
            </c:strRef>
          </c:cat>
          <c:val>
            <c:numRef>
              <c:f>工作表1!$C$2:$C$3</c:f>
              <c:numCache>
                <c:formatCode>General</c:formatCode>
                <c:ptCount val="2"/>
                <c:pt idx="0">
                  <c:v>11</c:v>
                </c:pt>
                <c:pt idx="1">
                  <c:v>18</c:v>
                </c:pt>
              </c:numCache>
            </c:numRef>
          </c:val>
          <c:extLst>
            <c:ext xmlns:c16="http://schemas.microsoft.com/office/drawing/2014/chart" uri="{C3380CC4-5D6E-409C-BE32-E72D297353CC}">
              <c16:uniqueId val="{00000001-D59E-47E3-A766-39A16D3B11CC}"/>
            </c:ext>
          </c:extLst>
        </c:ser>
        <c:dLbls>
          <c:showLegendKey val="0"/>
          <c:showVal val="0"/>
          <c:showCatName val="0"/>
          <c:showSerName val="0"/>
          <c:showPercent val="0"/>
          <c:showBubbleSize val="0"/>
        </c:dLbls>
        <c:gapWidth val="150"/>
        <c:overlap val="100"/>
        <c:axId val="556199416"/>
        <c:axId val="556200400"/>
      </c:barChart>
      <c:catAx>
        <c:axId val="556199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標楷體" panose="03000509000000000000" pitchFamily="65" charset="-120"/>
                <a:ea typeface="標楷體" panose="03000509000000000000" pitchFamily="65" charset="-120"/>
                <a:cs typeface="+mn-cs"/>
              </a:defRPr>
            </a:pPr>
            <a:endParaRPr lang="zh-TW"/>
          </a:p>
        </c:txPr>
        <c:crossAx val="556200400"/>
        <c:crosses val="autoZero"/>
        <c:auto val="1"/>
        <c:lblAlgn val="ctr"/>
        <c:lblOffset val="100"/>
        <c:noMultiLvlLbl val="0"/>
      </c:catAx>
      <c:valAx>
        <c:axId val="556200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556199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0.18426</cdr:x>
      <cdr:y>0.5</cdr:y>
    </cdr:from>
    <cdr:to>
      <cdr:x>0.3547</cdr:x>
      <cdr:y>0.66165</cdr:y>
    </cdr:to>
    <cdr:sp macro="" textlink="">
      <cdr:nvSpPr>
        <cdr:cNvPr id="2" name="文字方塊 1">
          <a:extLst xmlns:a="http://schemas.openxmlformats.org/drawingml/2006/main">
            <a:ext uri="{FF2B5EF4-FFF2-40B4-BE49-F238E27FC236}">
              <a16:creationId xmlns:a16="http://schemas.microsoft.com/office/drawing/2014/main" id="{FC03522E-CB70-40ED-9E57-7DD64A54723F}"/>
            </a:ext>
          </a:extLst>
        </cdr:cNvPr>
        <cdr:cNvSpPr txBox="1"/>
      </cdr:nvSpPr>
      <cdr:spPr>
        <a:xfrm xmlns:a="http://schemas.openxmlformats.org/drawingml/2006/main">
          <a:off x="968553" y="1656992"/>
          <a:ext cx="895927" cy="53570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altLang="zh-TW" sz="1800" dirty="0">
              <a:latin typeface="Times New Roman" panose="02020603050405020304" pitchFamily="18" charset="0"/>
              <a:cs typeface="Times New Roman" panose="02020603050405020304" pitchFamily="18" charset="0"/>
            </a:rPr>
            <a:t>80.7%</a:t>
          </a:r>
          <a:endParaRPr lang="zh-TW" altLang="en-US" sz="1800" dirty="0">
            <a:latin typeface="Times New Roman" panose="02020603050405020304" pitchFamily="18" charset="0"/>
            <a:cs typeface="Times New Roman" panose="020206030504050203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EE5BA-FC5C-48DA-BAAD-9CE1BA5A27FE}" type="datetimeFigureOut">
              <a:rPr lang="zh-TW" altLang="en-US" smtClean="0"/>
              <a:t>2020/5/20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9A45F-5925-49FD-BCC2-4974B22091EA}" type="slidenum">
              <a:rPr lang="zh-TW" altLang="en-US" smtClean="0"/>
              <a:t>‹#›</a:t>
            </a:fld>
            <a:endParaRPr lang="zh-TW" altLang="en-US"/>
          </a:p>
        </p:txBody>
      </p:sp>
    </p:spTree>
    <p:extLst>
      <p:ext uri="{BB962C8B-B14F-4D97-AF65-F5344CB8AC3E}">
        <p14:creationId xmlns:p14="http://schemas.microsoft.com/office/powerpoint/2010/main" val="53739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wikipedia.org/wiki/%E8%A1%80%E7%AE%A1%E7%B4%A7%E5%BC%A0%E7%B4%A0%E8%BD%AC%E5%8C%96%E9%85%B62"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wikipedia.org/wiki/%E9%81%BA%E5%82%B3%E9%87%8D%E7%B5%84"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zh.wikipedia.org/wiki/%E5%9F%BA%E5%9B%A0%E6%BB%B2%E5%85%A5"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https://zh.wikipedia.org/wiki/%E8%A1%80%E7%AE%A1%E7%B4%A7%E5%BC%A0%E7%B4%A0%E8%BD%AC%E5%8C%96%E9%85%B62</a:t>
            </a:r>
            <a:endParaRPr lang="zh-TW" altLang="en-US" dirty="0"/>
          </a:p>
        </p:txBody>
      </p:sp>
      <p:sp>
        <p:nvSpPr>
          <p:cNvPr id="4" name="投影片編號版面配置區 3"/>
          <p:cNvSpPr>
            <a:spLocks noGrp="1"/>
          </p:cNvSpPr>
          <p:nvPr>
            <p:ph type="sldNum" sz="quarter" idx="5"/>
          </p:nvPr>
        </p:nvSpPr>
        <p:spPr/>
        <p:txBody>
          <a:bodyPr/>
          <a:lstStyle/>
          <a:p>
            <a:fld id="{FDB9A45F-5925-49FD-BCC2-4974B22091EA}" type="slidenum">
              <a:rPr lang="zh-TW" altLang="en-US" smtClean="0"/>
              <a:t>6</a:t>
            </a:fld>
            <a:endParaRPr lang="zh-TW" altLang="en-US"/>
          </a:p>
        </p:txBody>
      </p:sp>
    </p:spTree>
    <p:extLst>
      <p:ext uri="{BB962C8B-B14F-4D97-AF65-F5344CB8AC3E}">
        <p14:creationId xmlns:p14="http://schemas.microsoft.com/office/powerpoint/2010/main" val="2842633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https://zh.wikipedia.org/wiki/%E9%81%BA%E5%82%B3%E9%87%8D%E7%B5%84</a:t>
            </a:r>
            <a:r>
              <a:rPr lang="zh-TW" altLang="en-US" dirty="0"/>
              <a:t> </a:t>
            </a:r>
            <a:r>
              <a:rPr lang="en-US" altLang="zh-TW" dirty="0"/>
              <a:t>(recombination)</a:t>
            </a:r>
          </a:p>
          <a:p>
            <a:r>
              <a:rPr lang="en-US" altLang="zh-TW" dirty="0">
                <a:hlinkClick r:id="rId4"/>
              </a:rPr>
              <a:t>https://zh.wikipedia.org/wiki/%E5%9F%BA%E5%9B%A0%E6%BB%B2%E5%85%A5</a:t>
            </a:r>
            <a:r>
              <a:rPr lang="en-US" altLang="zh-TW" dirty="0"/>
              <a:t> (</a:t>
            </a:r>
            <a:r>
              <a:rPr lang="en-US" altLang="zh-TW" sz="1200" b="1" i="0" kern="1200" dirty="0">
                <a:solidFill>
                  <a:schemeClr val="tx1"/>
                </a:solidFill>
                <a:effectLst/>
                <a:latin typeface="+mn-lt"/>
                <a:ea typeface="+mn-ea"/>
                <a:cs typeface="+mn-cs"/>
              </a:rPr>
              <a:t>Introgression)</a:t>
            </a:r>
            <a:endParaRPr lang="zh-TW" altLang="en-US" dirty="0"/>
          </a:p>
        </p:txBody>
      </p:sp>
      <p:sp>
        <p:nvSpPr>
          <p:cNvPr id="4" name="投影片編號版面配置區 3"/>
          <p:cNvSpPr>
            <a:spLocks noGrp="1"/>
          </p:cNvSpPr>
          <p:nvPr>
            <p:ph type="sldNum" sz="quarter" idx="5"/>
          </p:nvPr>
        </p:nvSpPr>
        <p:spPr/>
        <p:txBody>
          <a:bodyPr/>
          <a:lstStyle/>
          <a:p>
            <a:fld id="{FDB9A45F-5925-49FD-BCC2-4974B22091EA}" type="slidenum">
              <a:rPr lang="zh-TW" altLang="en-US" smtClean="0"/>
              <a:t>19</a:t>
            </a:fld>
            <a:endParaRPr lang="zh-TW" altLang="en-US"/>
          </a:p>
        </p:txBody>
      </p:sp>
    </p:spTree>
    <p:extLst>
      <p:ext uri="{BB962C8B-B14F-4D97-AF65-F5344CB8AC3E}">
        <p14:creationId xmlns:p14="http://schemas.microsoft.com/office/powerpoint/2010/main" val="2807514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E7DC2D-C718-405F-8ED4-DC42E53EFB7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0B05EE17-38F7-4E5B-9C10-3535352C2E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73B1279-87CD-4BDF-9829-1CC8553A9B86}"/>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5" name="頁尾版面配置區 4">
            <a:extLst>
              <a:ext uri="{FF2B5EF4-FFF2-40B4-BE49-F238E27FC236}">
                <a16:creationId xmlns:a16="http://schemas.microsoft.com/office/drawing/2014/main" id="{43A0B5C1-E6D9-4CEB-B6FB-FC6AF94D89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CF7634D-5226-45E6-9C3B-19721990044D}"/>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4282276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1C0D0E-E0F7-4026-BD40-03ABB66A3B8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748C639-0979-412B-898E-5E42DE607268}"/>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272B5E7-A954-4430-B7D6-C641B34EA748}"/>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5" name="頁尾版面配置區 4">
            <a:extLst>
              <a:ext uri="{FF2B5EF4-FFF2-40B4-BE49-F238E27FC236}">
                <a16:creationId xmlns:a16="http://schemas.microsoft.com/office/drawing/2014/main" id="{C7AD345D-9501-43ED-9D1F-0255C1B24DA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A64F67-1454-43C5-85BF-E065287DD0F3}"/>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229832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0787A6-8EF8-4196-AF0F-FF6B052B33E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0391C0B-FFC1-482E-939D-02B9FFCA87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8CB2116-49A4-45A5-BD0D-1CCA00F21C4B}"/>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5" name="頁尾版面配置區 4">
            <a:extLst>
              <a:ext uri="{FF2B5EF4-FFF2-40B4-BE49-F238E27FC236}">
                <a16:creationId xmlns:a16="http://schemas.microsoft.com/office/drawing/2014/main" id="{255FF22D-3367-4FC5-BB1C-A4E2D3441CB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081707-5A3C-48FC-A03C-529762C7B47A}"/>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125117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FCFB6E-9E69-4BD9-BC7E-2B1EA362DC1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1AED050-C25E-4500-9E3D-D10666B2CF4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8E9E7B7-A525-4DA0-917F-24E7390DA0C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3DBE007-B4F7-4943-9EA2-E6180B0FE5D3}"/>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6" name="頁尾版面配置區 5">
            <a:extLst>
              <a:ext uri="{FF2B5EF4-FFF2-40B4-BE49-F238E27FC236}">
                <a16:creationId xmlns:a16="http://schemas.microsoft.com/office/drawing/2014/main" id="{08FACC74-9A58-4EFD-B074-8D8BE10898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AC5FE3C-EA62-46F7-8239-9C48F0913FCC}"/>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1183776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3B7464-24BB-4773-A5F4-941BDFE5994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E4291A6-5D5B-45F5-8CDE-8C62CDA7CC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32459D3-EADA-4774-A813-360850D16C4B}"/>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D047FED-8703-42AB-ADE6-D12AFEAEE6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38838A90-2D01-4AAA-95FE-6D783C881FC7}"/>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9C291DE-CA36-4863-BF3F-F534C020C401}"/>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8" name="頁尾版面配置區 7">
            <a:extLst>
              <a:ext uri="{FF2B5EF4-FFF2-40B4-BE49-F238E27FC236}">
                <a16:creationId xmlns:a16="http://schemas.microsoft.com/office/drawing/2014/main" id="{5CCF7B32-98E2-4CFD-904E-5DACDF777F5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EC334E9-F2EC-46E4-A41E-E406C8ED9445}"/>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2683600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65EDAB-0A3A-4C3C-A7E5-A48BA5F4938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D5E6608-A346-4F01-BF7B-85406993F2E3}"/>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4" name="頁尾版面配置區 3">
            <a:extLst>
              <a:ext uri="{FF2B5EF4-FFF2-40B4-BE49-F238E27FC236}">
                <a16:creationId xmlns:a16="http://schemas.microsoft.com/office/drawing/2014/main" id="{CF8620E6-0B73-4A91-A5B8-16C1A0BD509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C02E731-3410-45B2-9685-45FA57228D91}"/>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1957905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7B188CE-B84A-4340-8DF5-A539199D63EE}"/>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3" name="頁尾版面配置區 2">
            <a:extLst>
              <a:ext uri="{FF2B5EF4-FFF2-40B4-BE49-F238E27FC236}">
                <a16:creationId xmlns:a16="http://schemas.microsoft.com/office/drawing/2014/main" id="{E9B0E1F5-652B-4A8C-A292-F7444266B7D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73597C79-ECF3-4E10-BF20-372FC0BFA091}"/>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2244344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EB0425-CC43-48A3-9DA0-5AFF8D00CEC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24C88A92-1EBA-4FB4-A215-0241663E00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633A6D8-7C72-4A8B-AA5C-6868592644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8F50A99-76A2-4852-87F7-0CD748352863}"/>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6" name="頁尾版面配置區 5">
            <a:extLst>
              <a:ext uri="{FF2B5EF4-FFF2-40B4-BE49-F238E27FC236}">
                <a16:creationId xmlns:a16="http://schemas.microsoft.com/office/drawing/2014/main" id="{2CDE7D89-981B-47A1-8539-9EE5C0DAED4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704F277-06F2-49E0-87C1-121C030A662C}"/>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694032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12CDE2-779D-4137-9434-1FD540266EE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EE39A7A-4812-48A5-B88B-DCD4878CCC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EF0AC256-69DE-43A7-B605-637351AC6F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2A8DE60-082D-43CA-B7E5-1EF919ADB873}"/>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6" name="頁尾版面配置區 5">
            <a:extLst>
              <a:ext uri="{FF2B5EF4-FFF2-40B4-BE49-F238E27FC236}">
                <a16:creationId xmlns:a16="http://schemas.microsoft.com/office/drawing/2014/main" id="{A5663E64-F7EF-497D-A2A1-312AB2E289F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0D6A619-F497-470E-A3AF-166FADA9BAC4}"/>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2948628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116BF8-7D37-4F01-A9E6-A28A533E3EA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FA6F120-B13D-4E63-8FDE-E7E781C0BF5A}"/>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92A7E64-F1B4-46BC-9D55-B7D922F3E031}"/>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5" name="頁尾版面配置區 4">
            <a:extLst>
              <a:ext uri="{FF2B5EF4-FFF2-40B4-BE49-F238E27FC236}">
                <a16:creationId xmlns:a16="http://schemas.microsoft.com/office/drawing/2014/main" id="{F81A8C66-F20E-404B-9771-76C34E4BA68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E18E317-0624-4CFB-BD6B-9483B58D81C8}"/>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3492502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64F4C64-90FA-4587-8962-D3711AE4C8D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FFD1EC8-3ECA-4EFA-AB37-54049F6D2AAE}"/>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293B39-80DB-4ADB-AE88-3473D6D283FD}"/>
              </a:ext>
            </a:extLst>
          </p:cNvPr>
          <p:cNvSpPr>
            <a:spLocks noGrp="1"/>
          </p:cNvSpPr>
          <p:nvPr>
            <p:ph type="dt" sz="half" idx="10"/>
          </p:nvPr>
        </p:nvSpPr>
        <p:spPr/>
        <p:txBody>
          <a:bodyPr/>
          <a:lstStyle/>
          <a:p>
            <a:fld id="{6589E7C4-2D86-4B7C-BD73-E5B431C2E38E}" type="datetimeFigureOut">
              <a:rPr lang="zh-TW" altLang="en-US" smtClean="0"/>
              <a:t>2020/5/20</a:t>
            </a:fld>
            <a:endParaRPr lang="zh-TW" altLang="en-US"/>
          </a:p>
        </p:txBody>
      </p:sp>
      <p:sp>
        <p:nvSpPr>
          <p:cNvPr id="5" name="頁尾版面配置區 4">
            <a:extLst>
              <a:ext uri="{FF2B5EF4-FFF2-40B4-BE49-F238E27FC236}">
                <a16:creationId xmlns:a16="http://schemas.microsoft.com/office/drawing/2014/main" id="{C643A884-F041-4335-9B35-C2B496876A6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0D91A80-BBB5-488D-8F13-9E7F329A22CC}"/>
              </a:ext>
            </a:extLst>
          </p:cNvPr>
          <p:cNvSpPr>
            <a:spLocks noGrp="1"/>
          </p:cNvSpPr>
          <p:nvPr>
            <p:ph type="sldNum" sz="quarter" idx="12"/>
          </p:nvPr>
        </p:nvSpPr>
        <p:spPr/>
        <p:txBody>
          <a:body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3350335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8DECDE5-E3DD-4E60-AD7F-8BD7AC6C0C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182F42A-2FF7-4E80-B323-A6F687EB47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41DC16B-1FB7-4E4A-A70F-286FAEB740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9E7C4-2D86-4B7C-BD73-E5B431C2E38E}" type="datetimeFigureOut">
              <a:rPr lang="zh-TW" altLang="en-US" smtClean="0"/>
              <a:t>2020/5/20</a:t>
            </a:fld>
            <a:endParaRPr lang="zh-TW" altLang="en-US"/>
          </a:p>
        </p:txBody>
      </p:sp>
      <p:sp>
        <p:nvSpPr>
          <p:cNvPr id="5" name="頁尾版面配置區 4">
            <a:extLst>
              <a:ext uri="{FF2B5EF4-FFF2-40B4-BE49-F238E27FC236}">
                <a16:creationId xmlns:a16="http://schemas.microsoft.com/office/drawing/2014/main" id="{D256F9E7-515A-4E27-B02F-5021C30791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AA5CFDB-CF62-4325-AF28-0E3DCAB39C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32F032-AD70-4DA9-B558-BEED9472F1DC}" type="slidenum">
              <a:rPr lang="zh-TW" altLang="en-US" smtClean="0"/>
              <a:t>‹#›</a:t>
            </a:fld>
            <a:endParaRPr lang="zh-TW" altLang="en-US"/>
          </a:p>
        </p:txBody>
      </p:sp>
    </p:spTree>
    <p:extLst>
      <p:ext uri="{BB962C8B-B14F-4D97-AF65-F5344CB8AC3E}">
        <p14:creationId xmlns:p14="http://schemas.microsoft.com/office/powerpoint/2010/main" val="2502519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C30E73-1B17-46AE-A7B7-89D77DE77A11}"/>
              </a:ext>
            </a:extLst>
          </p:cNvPr>
          <p:cNvSpPr>
            <a:spLocks noGrp="1"/>
          </p:cNvSpPr>
          <p:nvPr>
            <p:ph type="ctrTitle"/>
          </p:nvPr>
        </p:nvSpPr>
        <p:spPr>
          <a:xfrm>
            <a:off x="1524000" y="754604"/>
            <a:ext cx="9144000" cy="935439"/>
          </a:xfrm>
        </p:spPr>
        <p:txBody>
          <a:bodyPr>
            <a:normAutofit/>
          </a:bodyPr>
          <a:lstStyle/>
          <a:p>
            <a:r>
              <a:rPr lang="en-US" altLang="zh-TW" sz="4800" dirty="0">
                <a:latin typeface="Times New Roman" panose="02020603050405020304" pitchFamily="18" charset="0"/>
                <a:cs typeface="Times New Roman" panose="02020603050405020304" pitchFamily="18" charset="0"/>
              </a:rPr>
              <a:t>The Origin of</a:t>
            </a:r>
            <a:r>
              <a:rPr lang="zh-TW" altLang="en-US" sz="4800" dirty="0">
                <a:latin typeface="Times New Roman" panose="02020603050405020304" pitchFamily="18" charset="0"/>
                <a:cs typeface="Times New Roman" panose="02020603050405020304" pitchFamily="18" charset="0"/>
              </a:rPr>
              <a:t> </a:t>
            </a:r>
            <a:r>
              <a:rPr lang="en-US" altLang="zh-TW" sz="4800" dirty="0">
                <a:latin typeface="Times New Roman" panose="02020603050405020304" pitchFamily="18" charset="0"/>
                <a:cs typeface="Times New Roman" panose="02020603050405020304" pitchFamily="18" charset="0"/>
              </a:rPr>
              <a:t>SARS-CoV-2</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A6C1266A-0EBC-431A-8327-86B190B387F2}"/>
              </a:ext>
            </a:extLst>
          </p:cNvPr>
          <p:cNvSpPr>
            <a:spLocks noGrp="1"/>
          </p:cNvSpPr>
          <p:nvPr>
            <p:ph type="subTitle" idx="1"/>
          </p:nvPr>
        </p:nvSpPr>
        <p:spPr>
          <a:xfrm>
            <a:off x="1185169" y="2254930"/>
            <a:ext cx="9821662" cy="3198181"/>
          </a:xfrm>
        </p:spPr>
        <p:txBody>
          <a:bodyPr>
            <a:normAutofit/>
          </a:bodyPr>
          <a:lstStyle/>
          <a:p>
            <a:pPr marL="457200" indent="-457200" algn="l">
              <a:buFont typeface="+mj-lt"/>
              <a:buAutoNum type="arabicPeriod"/>
            </a:pPr>
            <a:r>
              <a:rPr lang="en-US" altLang="zh-TW" dirty="0">
                <a:latin typeface="Times New Roman" panose="02020603050405020304" pitchFamily="18" charset="0"/>
                <a:cs typeface="Times New Roman" panose="02020603050405020304" pitchFamily="18" charset="0"/>
              </a:rPr>
              <a:t>Kristian G. Andersen, Andrew </a:t>
            </a:r>
            <a:r>
              <a:rPr lang="en-US" altLang="zh-TW" dirty="0" err="1">
                <a:latin typeface="Times New Roman" panose="02020603050405020304" pitchFamily="18" charset="0"/>
                <a:cs typeface="Times New Roman" panose="02020603050405020304" pitchFamily="18" charset="0"/>
              </a:rPr>
              <a:t>Rambaut</a:t>
            </a:r>
            <a:r>
              <a:rPr lang="en-US" altLang="zh-TW" dirty="0">
                <a:latin typeface="Times New Roman" panose="02020603050405020304" pitchFamily="18" charset="0"/>
                <a:cs typeface="Times New Roman" panose="02020603050405020304" pitchFamily="18" charset="0"/>
              </a:rPr>
              <a:t>, W. Ian Lipkin, Edward C. Holmes &amp; Robert F. Garry - 【The Proximal Origin of SARS-CoV-2】 - Nature Medicine volume 26, pages450–452(2020)</a:t>
            </a:r>
          </a:p>
          <a:p>
            <a:pPr marL="457200" indent="-457200" algn="l">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altLang="zh-TW" dirty="0" err="1">
                <a:latin typeface="Times New Roman" panose="02020603050405020304" pitchFamily="18" charset="0"/>
                <a:cs typeface="Times New Roman" panose="02020603050405020304" pitchFamily="18" charset="0"/>
              </a:rPr>
              <a:t>Xiaolu</a:t>
            </a:r>
            <a:r>
              <a:rPr lang="en-US" altLang="zh-TW" dirty="0">
                <a:latin typeface="Times New Roman" panose="02020603050405020304" pitchFamily="18" charset="0"/>
                <a:cs typeface="Times New Roman" panose="02020603050405020304" pitchFamily="18" charset="0"/>
              </a:rPr>
              <a:t> Tang, </a:t>
            </a:r>
            <a:r>
              <a:rPr lang="en-US" altLang="zh-TW" dirty="0" err="1">
                <a:latin typeface="Times New Roman" panose="02020603050405020304" pitchFamily="18" charset="0"/>
                <a:cs typeface="Times New Roman" panose="02020603050405020304" pitchFamily="18" charset="0"/>
              </a:rPr>
              <a:t>Changcheng</a:t>
            </a:r>
            <a:r>
              <a:rPr lang="en-US" altLang="zh-TW" dirty="0">
                <a:latin typeface="Times New Roman" panose="02020603050405020304" pitchFamily="18" charset="0"/>
                <a:cs typeface="Times New Roman" panose="02020603050405020304" pitchFamily="18" charset="0"/>
              </a:rPr>
              <a:t> Wu, Xiang Li, </a:t>
            </a:r>
            <a:r>
              <a:rPr lang="en-US" altLang="zh-TW" dirty="0" err="1">
                <a:latin typeface="Times New Roman" panose="02020603050405020304" pitchFamily="18" charset="0"/>
                <a:cs typeface="Times New Roman" panose="02020603050405020304" pitchFamily="18" charset="0"/>
              </a:rPr>
              <a:t>Yuhe</a:t>
            </a:r>
            <a:r>
              <a:rPr lang="en-US" altLang="zh-TW" dirty="0">
                <a:latin typeface="Times New Roman" panose="02020603050405020304" pitchFamily="18" charset="0"/>
                <a:cs typeface="Times New Roman" panose="02020603050405020304" pitchFamily="18" charset="0"/>
              </a:rPr>
              <a:t> Song, Xinmin Yao, </a:t>
            </a:r>
            <a:r>
              <a:rPr lang="en-US" altLang="zh-TW" dirty="0" err="1">
                <a:latin typeface="Times New Roman" panose="02020603050405020304" pitchFamily="18" charset="0"/>
                <a:cs typeface="Times New Roman" panose="02020603050405020304" pitchFamily="18" charset="0"/>
              </a:rPr>
              <a:t>Xinkai</a:t>
            </a:r>
            <a:r>
              <a:rPr lang="en-US" altLang="zh-TW" dirty="0">
                <a:latin typeface="Times New Roman" panose="02020603050405020304" pitchFamily="18" charset="0"/>
                <a:cs typeface="Times New Roman" panose="02020603050405020304" pitchFamily="18" charset="0"/>
              </a:rPr>
              <a:t> Wu, </a:t>
            </a:r>
            <a:r>
              <a:rPr lang="en-US" altLang="zh-TW" dirty="0" err="1">
                <a:latin typeface="Times New Roman" panose="02020603050405020304" pitchFamily="18" charset="0"/>
                <a:cs typeface="Times New Roman" panose="02020603050405020304" pitchFamily="18" charset="0"/>
              </a:rPr>
              <a:t>Yuange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Duan</a:t>
            </a:r>
            <a:r>
              <a:rPr lang="en-US" altLang="zh-TW" dirty="0">
                <a:latin typeface="Times New Roman" panose="02020603050405020304" pitchFamily="18" charset="0"/>
                <a:cs typeface="Times New Roman" panose="02020603050405020304" pitchFamily="18" charset="0"/>
              </a:rPr>
              <a:t>, Hong Zhang, </a:t>
            </a:r>
            <a:r>
              <a:rPr lang="en-US" altLang="zh-TW" dirty="0" err="1">
                <a:latin typeface="Times New Roman" panose="02020603050405020304" pitchFamily="18" charset="0"/>
                <a:cs typeface="Times New Roman" panose="02020603050405020304" pitchFamily="18" charset="0"/>
              </a:rPr>
              <a:t>Yirong</a:t>
            </a:r>
            <a:r>
              <a:rPr lang="en-US" altLang="zh-TW" dirty="0">
                <a:latin typeface="Times New Roman" panose="02020603050405020304" pitchFamily="18" charset="0"/>
                <a:cs typeface="Times New Roman" panose="02020603050405020304" pitchFamily="18" charset="0"/>
              </a:rPr>
              <a:t> Wang, </a:t>
            </a:r>
            <a:r>
              <a:rPr lang="en-US" altLang="zh-TW" dirty="0" err="1">
                <a:latin typeface="Times New Roman" panose="02020603050405020304" pitchFamily="18" charset="0"/>
                <a:cs typeface="Times New Roman" panose="02020603050405020304" pitchFamily="18" charset="0"/>
              </a:rPr>
              <a:t>Zhaohui</a:t>
            </a:r>
            <a:r>
              <a:rPr lang="en-US" altLang="zh-TW" dirty="0">
                <a:latin typeface="Times New Roman" panose="02020603050405020304" pitchFamily="18" charset="0"/>
                <a:cs typeface="Times New Roman" panose="02020603050405020304" pitchFamily="18" charset="0"/>
              </a:rPr>
              <a:t> Qian, </a:t>
            </a:r>
            <a:r>
              <a:rPr lang="en-US" altLang="zh-TW" dirty="0" err="1">
                <a:latin typeface="Times New Roman" panose="02020603050405020304" pitchFamily="18" charset="0"/>
                <a:cs typeface="Times New Roman" panose="02020603050405020304" pitchFamily="18" charset="0"/>
              </a:rPr>
              <a:t>Jie</a:t>
            </a:r>
            <a:r>
              <a:rPr lang="en-US" altLang="zh-TW" dirty="0">
                <a:latin typeface="Times New Roman" panose="02020603050405020304" pitchFamily="18" charset="0"/>
                <a:cs typeface="Times New Roman" panose="02020603050405020304" pitchFamily="18" charset="0"/>
              </a:rPr>
              <a:t> Cui, Jian Lu - 【On the Origin and Continuing Evolution of SARS-CoV-2】 -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National Science Review, nwaa036</a:t>
            </a:r>
          </a:p>
        </p:txBody>
      </p:sp>
      <p:sp>
        <p:nvSpPr>
          <p:cNvPr id="5" name="文字方塊 4">
            <a:extLst>
              <a:ext uri="{FF2B5EF4-FFF2-40B4-BE49-F238E27FC236}">
                <a16:creationId xmlns:a16="http://schemas.microsoft.com/office/drawing/2014/main" id="{44B5BDD7-570C-4BC6-8960-CA32DBD4141D}"/>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May 20,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94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C30E73-1B17-46AE-A7B7-89D77DE77A11}"/>
              </a:ext>
            </a:extLst>
          </p:cNvPr>
          <p:cNvSpPr>
            <a:spLocks noGrp="1"/>
          </p:cNvSpPr>
          <p:nvPr>
            <p:ph type="ctrTitle"/>
          </p:nvPr>
        </p:nvSpPr>
        <p:spPr>
          <a:xfrm>
            <a:off x="1354584" y="1903943"/>
            <a:ext cx="9482831" cy="935439"/>
          </a:xfrm>
        </p:spPr>
        <p:txBody>
          <a:bodyPr>
            <a:noAutofit/>
          </a:bodyPr>
          <a:lstStyle/>
          <a:p>
            <a:r>
              <a:rPr lang="en-US" altLang="zh-TW" sz="4800" dirty="0">
                <a:latin typeface="Times New Roman" panose="02020603050405020304" pitchFamily="18" charset="0"/>
                <a:cs typeface="Times New Roman" panose="02020603050405020304" pitchFamily="18" charset="0"/>
              </a:rPr>
              <a:t>The Proximal Origin of SARS-CoV-2</a:t>
            </a:r>
            <a:br>
              <a:rPr lang="en-US" altLang="zh-TW" sz="4800" dirty="0">
                <a:latin typeface="Times New Roman" panose="02020603050405020304" pitchFamily="18" charset="0"/>
                <a:cs typeface="Times New Roman" panose="02020603050405020304" pitchFamily="18" charset="0"/>
              </a:rPr>
            </a:b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A6C1266A-0EBC-431A-8327-86B190B387F2}"/>
              </a:ext>
            </a:extLst>
          </p:cNvPr>
          <p:cNvSpPr>
            <a:spLocks noGrp="1"/>
          </p:cNvSpPr>
          <p:nvPr>
            <p:ph type="subTitle" idx="1"/>
          </p:nvPr>
        </p:nvSpPr>
        <p:spPr>
          <a:xfrm>
            <a:off x="1185169" y="3320254"/>
            <a:ext cx="9821662" cy="1526957"/>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Kristian G. Andersen, Andrew </a:t>
            </a:r>
            <a:r>
              <a:rPr lang="en-US" altLang="zh-TW" dirty="0" err="1">
                <a:latin typeface="Times New Roman" panose="02020603050405020304" pitchFamily="18" charset="0"/>
                <a:cs typeface="Times New Roman" panose="02020603050405020304" pitchFamily="18" charset="0"/>
              </a:rPr>
              <a:t>Rambaut</a:t>
            </a:r>
            <a:r>
              <a:rPr lang="en-US" altLang="zh-TW" dirty="0">
                <a:latin typeface="Times New Roman" panose="02020603050405020304" pitchFamily="18" charset="0"/>
                <a:cs typeface="Times New Roman" panose="02020603050405020304" pitchFamily="18" charset="0"/>
              </a:rPr>
              <a:t>, W. Ian Lipkin, Edward C. Holmes &amp; Robert F. Garry </a:t>
            </a:r>
          </a:p>
          <a:p>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aNature</a:t>
            </a:r>
            <a:r>
              <a:rPr lang="en-US" altLang="zh-TW" dirty="0">
                <a:latin typeface="Times New Roman" panose="02020603050405020304" pitchFamily="18" charset="0"/>
                <a:cs typeface="Times New Roman" panose="02020603050405020304" pitchFamily="18" charset="0"/>
              </a:rPr>
              <a:t> Medicine volume 26, pages450–452(2020)</a:t>
            </a:r>
          </a:p>
        </p:txBody>
      </p:sp>
      <p:sp>
        <p:nvSpPr>
          <p:cNvPr id="5" name="文字方塊 4">
            <a:extLst>
              <a:ext uri="{FF2B5EF4-FFF2-40B4-BE49-F238E27FC236}">
                <a16:creationId xmlns:a16="http://schemas.microsoft.com/office/drawing/2014/main" id="{44B5BDD7-570C-4BC6-8960-CA32DBD4141D}"/>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May 20,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9831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B1AA87-D8DB-4AA8-8237-35ECE712D945}"/>
              </a:ext>
            </a:extLst>
          </p:cNvPr>
          <p:cNvSpPr>
            <a:spLocks noGrp="1"/>
          </p:cNvSpPr>
          <p:nvPr>
            <p:ph type="title"/>
          </p:nvPr>
        </p:nvSpPr>
        <p:spPr/>
        <p:txBody>
          <a:bodyPr>
            <a:normAutofit/>
          </a:bodyPr>
          <a:lstStyle/>
          <a:p>
            <a:r>
              <a:rPr lang="en-US" altLang="zh-TW" sz="4800" dirty="0">
                <a:latin typeface="Times New Roman" panose="02020603050405020304" pitchFamily="18" charset="0"/>
                <a:cs typeface="Times New Roman" panose="02020603050405020304" pitchFamily="18" charset="0"/>
              </a:rPr>
              <a:t>Similarity</a:t>
            </a:r>
            <a:endParaRPr lang="zh-TW" altLang="en-US" sz="4800"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59A391DD-47F6-41C4-8CD4-F368EAF79EA7}"/>
              </a:ext>
            </a:extLst>
          </p:cNvPr>
          <p:cNvGraphicFramePr>
            <a:graphicFrameLocks noGrp="1"/>
          </p:cNvGraphicFramePr>
          <p:nvPr>
            <p:extLst>
              <p:ext uri="{D42A27DB-BD31-4B8C-83A1-F6EECF244321}">
                <p14:modId xmlns:p14="http://schemas.microsoft.com/office/powerpoint/2010/main" val="2566109644"/>
              </p:ext>
            </p:extLst>
          </p:nvPr>
        </p:nvGraphicFramePr>
        <p:xfrm>
          <a:off x="3291149" y="2013810"/>
          <a:ext cx="5609702" cy="2830380"/>
        </p:xfrm>
        <a:graphic>
          <a:graphicData uri="http://schemas.openxmlformats.org/drawingml/2006/table">
            <a:tbl>
              <a:tblPr firstRow="1" bandRow="1">
                <a:tableStyleId>{5940675A-B579-460E-94D1-54222C63F5DA}</a:tableStyleId>
              </a:tblPr>
              <a:tblGrid>
                <a:gridCol w="2218431">
                  <a:extLst>
                    <a:ext uri="{9D8B030D-6E8A-4147-A177-3AD203B41FA5}">
                      <a16:colId xmlns:a16="http://schemas.microsoft.com/office/drawing/2014/main" val="2189539524"/>
                    </a:ext>
                  </a:extLst>
                </a:gridCol>
                <a:gridCol w="3391271">
                  <a:extLst>
                    <a:ext uri="{9D8B030D-6E8A-4147-A177-3AD203B41FA5}">
                      <a16:colId xmlns:a16="http://schemas.microsoft.com/office/drawing/2014/main" val="1687973071"/>
                    </a:ext>
                  </a:extLst>
                </a:gridCol>
              </a:tblGrid>
              <a:tr h="707595">
                <a:tc>
                  <a:txBody>
                    <a:bodyPr/>
                    <a:lstStyle/>
                    <a:p>
                      <a:pPr algn="ctr"/>
                      <a:endParaRPr lang="zh-TW" altLang="en-US" sz="240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SARS-CoV-2</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0315855"/>
                  </a:ext>
                </a:extLst>
              </a:tr>
              <a:tr h="707595">
                <a:tc>
                  <a:txBody>
                    <a:bodyPr/>
                    <a:lstStyle/>
                    <a:p>
                      <a:pPr algn="ctr"/>
                      <a:r>
                        <a:rPr lang="en-US" altLang="zh-TW" sz="2400" dirty="0">
                          <a:latin typeface="Times New Roman" panose="02020603050405020304" pitchFamily="18" charset="0"/>
                          <a:cs typeface="Times New Roman" panose="02020603050405020304" pitchFamily="18" charset="0"/>
                        </a:rPr>
                        <a:t>RaTG13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96.2%</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69925842"/>
                  </a:ext>
                </a:extLst>
              </a:tr>
              <a:tr h="707595">
                <a:tc>
                  <a:txBody>
                    <a:bodyPr/>
                    <a:lstStyle/>
                    <a:p>
                      <a:pPr algn="ctr"/>
                      <a:r>
                        <a:rPr lang="en-US" altLang="zh-TW" sz="2400" dirty="0">
                          <a:latin typeface="Times New Roman" panose="02020603050405020304" pitchFamily="18" charset="0"/>
                          <a:cs typeface="Times New Roman" panose="02020603050405020304" pitchFamily="18" charset="0"/>
                        </a:rPr>
                        <a:t>SARS-</a:t>
                      </a:r>
                      <a:r>
                        <a:rPr lang="en-US" altLang="zh-TW" sz="2400" dirty="0" err="1">
                          <a:latin typeface="Times New Roman" panose="02020603050405020304" pitchFamily="18" charset="0"/>
                          <a:cs typeface="Times New Roman" panose="02020603050405020304" pitchFamily="18" charset="0"/>
                        </a:rPr>
                        <a:t>CoV</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~79%</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10335262"/>
                  </a:ext>
                </a:extLst>
              </a:tr>
              <a:tr h="707595">
                <a:tc>
                  <a:txBody>
                    <a:bodyPr/>
                    <a:lstStyle/>
                    <a:p>
                      <a:pPr algn="ctr"/>
                      <a:r>
                        <a:rPr lang="en-US" altLang="zh-TW" sz="2400" dirty="0">
                          <a:latin typeface="Times New Roman" panose="02020603050405020304" pitchFamily="18" charset="0"/>
                          <a:cs typeface="Times New Roman" panose="02020603050405020304" pitchFamily="18" charset="0"/>
                        </a:rPr>
                        <a:t>MERS-</a:t>
                      </a:r>
                      <a:r>
                        <a:rPr lang="en-US" altLang="zh-TW" sz="2400" dirty="0" err="1">
                          <a:latin typeface="Times New Roman" panose="02020603050405020304" pitchFamily="18" charset="0"/>
                          <a:cs typeface="Times New Roman" panose="02020603050405020304" pitchFamily="18" charset="0"/>
                        </a:rPr>
                        <a:t>CoV</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~50%</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08414459"/>
                  </a:ext>
                </a:extLst>
              </a:tr>
            </a:tbl>
          </a:graphicData>
        </a:graphic>
      </p:graphicFrame>
      <p:sp>
        <p:nvSpPr>
          <p:cNvPr id="6" name="文字方塊 5">
            <a:extLst>
              <a:ext uri="{FF2B5EF4-FFF2-40B4-BE49-F238E27FC236}">
                <a16:creationId xmlns:a16="http://schemas.microsoft.com/office/drawing/2014/main" id="{2538BDD5-7D35-4E49-9E35-ED85FF124B3C}"/>
              </a:ext>
            </a:extLst>
          </p:cNvPr>
          <p:cNvSpPr txBox="1"/>
          <p:nvPr/>
        </p:nvSpPr>
        <p:spPr>
          <a:xfrm>
            <a:off x="1828801" y="2778711"/>
            <a:ext cx="1260628" cy="523220"/>
          </a:xfrm>
          <a:prstGeom prst="rect">
            <a:avLst/>
          </a:prstGeom>
          <a:noFill/>
        </p:spPr>
        <p:txBody>
          <a:bodyPr wrap="square" rtlCol="0">
            <a:spAutoFit/>
          </a:bodyPr>
          <a:lstStyle/>
          <a:p>
            <a:r>
              <a:rPr lang="zh-TW" altLang="en-US" sz="2800" b="1" dirty="0">
                <a:latin typeface="標楷體" panose="03000509000000000000" pitchFamily="65" charset="-120"/>
                <a:ea typeface="標楷體" panose="03000509000000000000" pitchFamily="65" charset="-120"/>
              </a:rPr>
              <a:t>蝙蝠→</a:t>
            </a:r>
          </a:p>
        </p:txBody>
      </p:sp>
    </p:spTree>
    <p:extLst>
      <p:ext uri="{BB962C8B-B14F-4D97-AF65-F5344CB8AC3E}">
        <p14:creationId xmlns:p14="http://schemas.microsoft.com/office/powerpoint/2010/main" val="449940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70E250-3D65-4790-987B-337C4054B8A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But…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729B669-612E-4AAB-8760-5BAA7E691CD5}"/>
              </a:ext>
            </a:extLst>
          </p:cNvPr>
          <p:cNvSpPr>
            <a:spLocks noGrp="1"/>
          </p:cNvSpPr>
          <p:nvPr>
            <p:ph idx="1"/>
          </p:nvPr>
        </p:nvSpPr>
        <p:spPr>
          <a:xfrm>
            <a:off x="838199" y="1825625"/>
            <a:ext cx="9779494" cy="4351338"/>
          </a:xfrm>
        </p:spPr>
        <p:txBody>
          <a:bodyPr>
            <a:normAutofit/>
          </a:bodyPr>
          <a:lstStyle/>
          <a:p>
            <a:pPr marL="514350" indent="-514350">
              <a:buFont typeface="+mj-lt"/>
              <a:buAutoNum type="arabicPeriod"/>
            </a:pPr>
            <a:r>
              <a:rPr lang="en-US" altLang="zh-TW" sz="2400" dirty="0">
                <a:latin typeface="Times New Roman" panose="02020603050405020304" pitchFamily="18" charset="0"/>
                <a:cs typeface="Times New Roman" panose="02020603050405020304" pitchFamily="18" charset="0"/>
              </a:rPr>
              <a:t>SARS-CoV-2</a:t>
            </a:r>
            <a:r>
              <a:rPr lang="zh-TW" altLang="en-US" sz="2400" dirty="0">
                <a:latin typeface="標楷體" panose="03000509000000000000" pitchFamily="65" charset="-120"/>
                <a:ea typeface="標楷體" panose="03000509000000000000" pitchFamily="65" charset="-120"/>
              </a:rPr>
              <a:t>並非由蝙蝠體內的病毒</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(RaTG13)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演化而來，而可能是從馬來西亞穿山甲</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(Malayan pangolins)</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體內的相關病毒演化。</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並非實驗室人為操作之病毒。</a:t>
            </a:r>
            <a:b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但有可能為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CoV</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逃出研究室後，進行演化或重組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514350" indent="-514350">
              <a:buFont typeface="+mj-lt"/>
              <a:buAutoNum type="arabicPeriod"/>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擁有較</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CoV</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高的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ACE2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親和力，其為自然演化</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(Natural Selection)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結果。</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514350" indent="-514350">
              <a:buFont typeface="+mj-lt"/>
              <a:buAutoNum type="arabicPeriod"/>
            </a:pP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61969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C93632AA-701F-400C-ACAF-53A70C766955}"/>
              </a:ext>
            </a:extLst>
          </p:cNvPr>
          <p:cNvPicPr>
            <a:picLocks noChangeAspect="1"/>
          </p:cNvPicPr>
          <p:nvPr/>
        </p:nvPicPr>
        <p:blipFill>
          <a:blip r:embed="rId2"/>
          <a:stretch>
            <a:fillRect/>
          </a:stretch>
        </p:blipFill>
        <p:spPr>
          <a:xfrm>
            <a:off x="0" y="443978"/>
            <a:ext cx="12192000" cy="5931943"/>
          </a:xfrm>
          <a:prstGeom prst="rect">
            <a:avLst/>
          </a:prstGeom>
        </p:spPr>
      </p:pic>
      <p:sp>
        <p:nvSpPr>
          <p:cNvPr id="6" name="矩形 5">
            <a:extLst>
              <a:ext uri="{FF2B5EF4-FFF2-40B4-BE49-F238E27FC236}">
                <a16:creationId xmlns:a16="http://schemas.microsoft.com/office/drawing/2014/main" id="{40F8DC41-F264-4A06-A906-E0C6135DE198}"/>
              </a:ext>
            </a:extLst>
          </p:cNvPr>
          <p:cNvSpPr/>
          <p:nvPr/>
        </p:nvSpPr>
        <p:spPr>
          <a:xfrm>
            <a:off x="3923930" y="2148396"/>
            <a:ext cx="1145220" cy="275208"/>
          </a:xfrm>
          <a:prstGeom prst="rect">
            <a:avLst/>
          </a:prstGeom>
          <a:noFill/>
          <a:ln w="38100"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a:p>
        </p:txBody>
      </p:sp>
      <p:cxnSp>
        <p:nvCxnSpPr>
          <p:cNvPr id="8" name="直線單箭頭接點 7">
            <a:extLst>
              <a:ext uri="{FF2B5EF4-FFF2-40B4-BE49-F238E27FC236}">
                <a16:creationId xmlns:a16="http://schemas.microsoft.com/office/drawing/2014/main" id="{8EE4E146-36F4-4E22-89A3-29A485F475EF}"/>
              </a:ext>
            </a:extLst>
          </p:cNvPr>
          <p:cNvCxnSpPr>
            <a:cxnSpLocks/>
          </p:cNvCxnSpPr>
          <p:nvPr/>
        </p:nvCxnSpPr>
        <p:spPr>
          <a:xfrm flipV="1">
            <a:off x="2778710" y="2423605"/>
            <a:ext cx="1145220" cy="1005395"/>
          </a:xfrm>
          <a:prstGeom prst="straightConnector1">
            <a:avLst/>
          </a:prstGeom>
          <a:ln w="28575"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文字方塊 9">
            <a:extLst>
              <a:ext uri="{FF2B5EF4-FFF2-40B4-BE49-F238E27FC236}">
                <a16:creationId xmlns:a16="http://schemas.microsoft.com/office/drawing/2014/main" id="{0980BD94-BEFE-42E3-8C07-41151187983D}"/>
              </a:ext>
            </a:extLst>
          </p:cNvPr>
          <p:cNvSpPr txBox="1"/>
          <p:nvPr/>
        </p:nvSpPr>
        <p:spPr>
          <a:xfrm>
            <a:off x="2121763" y="3429000"/>
            <a:ext cx="1145220" cy="523220"/>
          </a:xfrm>
          <a:prstGeom prst="rect">
            <a:avLst/>
          </a:prstGeom>
          <a:noFill/>
          <a:ln>
            <a:noFill/>
          </a:ln>
        </p:spPr>
        <p:txBody>
          <a:bodyPr wrap="square" rtlCol="0">
            <a:spAutoFit/>
          </a:bodyPr>
          <a:lstStyle/>
          <a:p>
            <a:pPr algn="ctr"/>
            <a:r>
              <a:rPr lang="en-US" altLang="zh-TW" sz="2800" dirty="0">
                <a:solidFill>
                  <a:srgbClr val="00B050"/>
                </a:solidFill>
                <a:latin typeface="Times New Roman" panose="02020603050405020304" pitchFamily="18" charset="0"/>
                <a:cs typeface="Times New Roman" panose="02020603050405020304" pitchFamily="18" charset="0"/>
              </a:rPr>
              <a:t>Main</a:t>
            </a:r>
            <a:endParaRPr lang="zh-TW" altLang="en-US" sz="28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4306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D9E82A-3526-463D-AF46-322974453D6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Receptor-binding Domain (RBD)</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535D99F-13FD-4061-B702-DF6849E634FF}"/>
              </a:ext>
            </a:extLst>
          </p:cNvPr>
          <p:cNvPicPr>
            <a:picLocks noChangeAspect="1"/>
          </p:cNvPicPr>
          <p:nvPr/>
        </p:nvPicPr>
        <p:blipFill>
          <a:blip r:embed="rId3"/>
          <a:stretch>
            <a:fillRect/>
          </a:stretch>
        </p:blipFill>
        <p:spPr>
          <a:xfrm>
            <a:off x="119951" y="1618997"/>
            <a:ext cx="12072049" cy="1810003"/>
          </a:xfrm>
          <a:prstGeom prst="rect">
            <a:avLst/>
          </a:prstGeom>
        </p:spPr>
      </p:pic>
      <p:sp>
        <p:nvSpPr>
          <p:cNvPr id="5" name="矩形 4">
            <a:extLst>
              <a:ext uri="{FF2B5EF4-FFF2-40B4-BE49-F238E27FC236}">
                <a16:creationId xmlns:a16="http://schemas.microsoft.com/office/drawing/2014/main" id="{9716DAFA-3D99-4EED-9FF0-C764D433CC8A}"/>
              </a:ext>
            </a:extLst>
          </p:cNvPr>
          <p:cNvSpPr/>
          <p:nvPr/>
        </p:nvSpPr>
        <p:spPr>
          <a:xfrm>
            <a:off x="6402649" y="4421080"/>
            <a:ext cx="412812" cy="1926454"/>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L</a:t>
            </a:r>
            <a:br>
              <a:rPr lang="en-US" altLang="zh-TW" dirty="0">
                <a:latin typeface="Times New Roman" panose="02020603050405020304" pitchFamily="18" charset="0"/>
                <a:cs typeface="Times New Roman" panose="02020603050405020304" pitchFamily="18" charset="0"/>
              </a:rPr>
            </a:br>
            <a:r>
              <a:rPr lang="en-US" altLang="zh-TW" dirty="0" err="1">
                <a:latin typeface="Times New Roman" panose="02020603050405020304" pitchFamily="18" charset="0"/>
                <a:cs typeface="Times New Roman" panose="02020603050405020304" pitchFamily="18" charset="0"/>
              </a:rPr>
              <a:t>L</a:t>
            </a:r>
            <a:br>
              <a:rPr lang="en-US" altLang="zh-TW" dirty="0">
                <a:latin typeface="Times New Roman" panose="02020603050405020304" pitchFamily="18" charset="0"/>
                <a:cs typeface="Times New Roman" panose="02020603050405020304" pitchFamily="18" charset="0"/>
              </a:rPr>
            </a:br>
            <a:r>
              <a:rPr lang="en-US" altLang="zh-TW" dirty="0" err="1">
                <a:latin typeface="Times New Roman" panose="02020603050405020304" pitchFamily="18" charset="0"/>
                <a:cs typeface="Times New Roman" panose="02020603050405020304" pitchFamily="18" charset="0"/>
              </a:rPr>
              <a:t>L</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Y</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W</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p:txBody>
      </p:sp>
      <p:cxnSp>
        <p:nvCxnSpPr>
          <p:cNvPr id="7" name="直線接點 6">
            <a:extLst>
              <a:ext uri="{FF2B5EF4-FFF2-40B4-BE49-F238E27FC236}">
                <a16:creationId xmlns:a16="http://schemas.microsoft.com/office/drawing/2014/main" id="{F9A0519F-C7D4-48DB-882A-C06D244485AA}"/>
              </a:ext>
            </a:extLst>
          </p:cNvPr>
          <p:cNvCxnSpPr>
            <a:cxnSpLocks/>
            <a:stCxn id="5" idx="0"/>
          </p:cNvCxnSpPr>
          <p:nvPr/>
        </p:nvCxnSpPr>
        <p:spPr>
          <a:xfrm flipH="1" flipV="1">
            <a:off x="2920013" y="3036164"/>
            <a:ext cx="3689042" cy="1384916"/>
          </a:xfrm>
          <a:prstGeom prst="line">
            <a:avLst/>
          </a:prstGeom>
        </p:spPr>
        <p:style>
          <a:lnRef idx="3">
            <a:schemeClr val="dk1"/>
          </a:lnRef>
          <a:fillRef idx="0">
            <a:schemeClr val="dk1"/>
          </a:fillRef>
          <a:effectRef idx="2">
            <a:schemeClr val="dk1"/>
          </a:effectRef>
          <a:fontRef idx="minor">
            <a:schemeClr val="tx1"/>
          </a:fontRef>
        </p:style>
      </p:cxnSp>
      <p:cxnSp>
        <p:nvCxnSpPr>
          <p:cNvPr id="10" name="直線接點 9">
            <a:extLst>
              <a:ext uri="{FF2B5EF4-FFF2-40B4-BE49-F238E27FC236}">
                <a16:creationId xmlns:a16="http://schemas.microsoft.com/office/drawing/2014/main" id="{CA891351-4AC7-460E-BFB6-5458BB5F4511}"/>
              </a:ext>
            </a:extLst>
          </p:cNvPr>
          <p:cNvCxnSpPr>
            <a:cxnSpLocks/>
          </p:cNvCxnSpPr>
          <p:nvPr/>
        </p:nvCxnSpPr>
        <p:spPr>
          <a:xfrm flipV="1">
            <a:off x="8106793" y="3036164"/>
            <a:ext cx="0" cy="1384916"/>
          </a:xfrm>
          <a:prstGeom prst="line">
            <a:avLst/>
          </a:prstGeom>
        </p:spPr>
        <p:style>
          <a:lnRef idx="3">
            <a:schemeClr val="dk1"/>
          </a:lnRef>
          <a:fillRef idx="0">
            <a:schemeClr val="dk1"/>
          </a:fillRef>
          <a:effectRef idx="2">
            <a:schemeClr val="dk1"/>
          </a:effectRef>
          <a:fontRef idx="minor">
            <a:schemeClr val="tx1"/>
          </a:fontRef>
        </p:style>
      </p:cxnSp>
      <p:sp>
        <p:nvSpPr>
          <p:cNvPr id="12" name="矩形 11">
            <a:extLst>
              <a:ext uri="{FF2B5EF4-FFF2-40B4-BE49-F238E27FC236}">
                <a16:creationId xmlns:a16="http://schemas.microsoft.com/office/drawing/2014/main" id="{0CB1FE07-3745-4236-9ED4-3B9AAD40A2F2}"/>
              </a:ext>
            </a:extLst>
          </p:cNvPr>
          <p:cNvSpPr/>
          <p:nvPr/>
        </p:nvSpPr>
        <p:spPr>
          <a:xfrm>
            <a:off x="7900387" y="4421080"/>
            <a:ext cx="412812" cy="1926454"/>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FLFLPF</a:t>
            </a:r>
            <a:endParaRPr lang="zh-TW" altLang="en-US" dirty="0">
              <a:latin typeface="Times New Roman" panose="02020603050405020304" pitchFamily="18" charset="0"/>
              <a:cs typeface="Times New Roman" panose="02020603050405020304" pitchFamily="18" charset="0"/>
            </a:endParaRPr>
          </a:p>
        </p:txBody>
      </p:sp>
      <p:cxnSp>
        <p:nvCxnSpPr>
          <p:cNvPr id="13" name="直線接點 12">
            <a:extLst>
              <a:ext uri="{FF2B5EF4-FFF2-40B4-BE49-F238E27FC236}">
                <a16:creationId xmlns:a16="http://schemas.microsoft.com/office/drawing/2014/main" id="{73A55BD8-FB1D-45F9-A6BA-398F1F0DFE94}"/>
              </a:ext>
            </a:extLst>
          </p:cNvPr>
          <p:cNvCxnSpPr>
            <a:cxnSpLocks/>
          </p:cNvCxnSpPr>
          <p:nvPr/>
        </p:nvCxnSpPr>
        <p:spPr>
          <a:xfrm flipV="1">
            <a:off x="9200226" y="3036164"/>
            <a:ext cx="71761" cy="1384916"/>
          </a:xfrm>
          <a:prstGeom prst="line">
            <a:avLst/>
          </a:prstGeom>
        </p:spPr>
        <p:style>
          <a:lnRef idx="3">
            <a:schemeClr val="dk1"/>
          </a:lnRef>
          <a:fillRef idx="0">
            <a:schemeClr val="dk1"/>
          </a:fillRef>
          <a:effectRef idx="2">
            <a:schemeClr val="dk1"/>
          </a:effectRef>
          <a:fontRef idx="minor">
            <a:schemeClr val="tx1"/>
          </a:fontRef>
        </p:style>
      </p:cxnSp>
      <p:sp>
        <p:nvSpPr>
          <p:cNvPr id="14" name="矩形 13">
            <a:extLst>
              <a:ext uri="{FF2B5EF4-FFF2-40B4-BE49-F238E27FC236}">
                <a16:creationId xmlns:a16="http://schemas.microsoft.com/office/drawing/2014/main" id="{12C6481A-C897-420D-805F-4811ABDFF0DC}"/>
              </a:ext>
            </a:extLst>
          </p:cNvPr>
          <p:cNvSpPr/>
          <p:nvPr/>
        </p:nvSpPr>
        <p:spPr>
          <a:xfrm>
            <a:off x="8993820" y="4421080"/>
            <a:ext cx="412812" cy="1926454"/>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QYQNRN</a:t>
            </a:r>
            <a:endParaRPr lang="zh-TW" altLang="en-US" dirty="0">
              <a:latin typeface="Times New Roman" panose="02020603050405020304" pitchFamily="18" charset="0"/>
              <a:cs typeface="Times New Roman" panose="02020603050405020304" pitchFamily="18" charset="0"/>
            </a:endParaRPr>
          </a:p>
        </p:txBody>
      </p:sp>
      <p:cxnSp>
        <p:nvCxnSpPr>
          <p:cNvPr id="16" name="直線接點 15">
            <a:extLst>
              <a:ext uri="{FF2B5EF4-FFF2-40B4-BE49-F238E27FC236}">
                <a16:creationId xmlns:a16="http://schemas.microsoft.com/office/drawing/2014/main" id="{262FB3C2-4C34-4821-975C-98D255FB4073}"/>
              </a:ext>
            </a:extLst>
          </p:cNvPr>
          <p:cNvCxnSpPr>
            <a:cxnSpLocks/>
          </p:cNvCxnSpPr>
          <p:nvPr/>
        </p:nvCxnSpPr>
        <p:spPr>
          <a:xfrm flipH="1" flipV="1">
            <a:off x="9433263" y="3036164"/>
            <a:ext cx="179776" cy="1384916"/>
          </a:xfrm>
          <a:prstGeom prst="line">
            <a:avLst/>
          </a:prstGeom>
        </p:spPr>
        <p:style>
          <a:lnRef idx="3">
            <a:schemeClr val="dk1"/>
          </a:lnRef>
          <a:fillRef idx="0">
            <a:schemeClr val="dk1"/>
          </a:fillRef>
          <a:effectRef idx="2">
            <a:schemeClr val="dk1"/>
          </a:effectRef>
          <a:fontRef idx="minor">
            <a:schemeClr val="tx1"/>
          </a:fontRef>
        </p:style>
      </p:cxnSp>
      <p:sp>
        <p:nvSpPr>
          <p:cNvPr id="17" name="矩形 16">
            <a:extLst>
              <a:ext uri="{FF2B5EF4-FFF2-40B4-BE49-F238E27FC236}">
                <a16:creationId xmlns:a16="http://schemas.microsoft.com/office/drawing/2014/main" id="{2882681A-48D3-479A-8CF0-14093613C74E}"/>
              </a:ext>
            </a:extLst>
          </p:cNvPr>
          <p:cNvSpPr/>
          <p:nvPr/>
        </p:nvSpPr>
        <p:spPr>
          <a:xfrm>
            <a:off x="9406632" y="4421080"/>
            <a:ext cx="412812" cy="1926454"/>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SRSDPD</a:t>
            </a:r>
            <a:endParaRPr lang="zh-TW" altLang="en-US" dirty="0">
              <a:latin typeface="Times New Roman" panose="02020603050405020304" pitchFamily="18" charset="0"/>
              <a:cs typeface="Times New Roman" panose="02020603050405020304" pitchFamily="18" charset="0"/>
            </a:endParaRPr>
          </a:p>
        </p:txBody>
      </p:sp>
      <p:cxnSp>
        <p:nvCxnSpPr>
          <p:cNvPr id="19" name="直線接點 18">
            <a:extLst>
              <a:ext uri="{FF2B5EF4-FFF2-40B4-BE49-F238E27FC236}">
                <a16:creationId xmlns:a16="http://schemas.microsoft.com/office/drawing/2014/main" id="{2F048A73-A6DB-4ABF-BA35-AFA270381D89}"/>
              </a:ext>
            </a:extLst>
          </p:cNvPr>
          <p:cNvCxnSpPr>
            <a:cxnSpLocks/>
          </p:cNvCxnSpPr>
          <p:nvPr/>
        </p:nvCxnSpPr>
        <p:spPr>
          <a:xfrm flipV="1">
            <a:off x="10598456" y="3036164"/>
            <a:ext cx="0" cy="1384916"/>
          </a:xfrm>
          <a:prstGeom prst="line">
            <a:avLst/>
          </a:prstGeom>
        </p:spPr>
        <p:style>
          <a:lnRef idx="3">
            <a:schemeClr val="dk1"/>
          </a:lnRef>
          <a:fillRef idx="0">
            <a:schemeClr val="dk1"/>
          </a:fillRef>
          <a:effectRef idx="2">
            <a:schemeClr val="dk1"/>
          </a:effectRef>
          <a:fontRef idx="minor">
            <a:schemeClr val="tx1"/>
          </a:fontRef>
        </p:style>
      </p:cxnSp>
      <p:sp>
        <p:nvSpPr>
          <p:cNvPr id="20" name="矩形 19">
            <a:extLst>
              <a:ext uri="{FF2B5EF4-FFF2-40B4-BE49-F238E27FC236}">
                <a16:creationId xmlns:a16="http://schemas.microsoft.com/office/drawing/2014/main" id="{6EDCED81-66E7-40AA-92FC-02311F40D9F4}"/>
              </a:ext>
            </a:extLst>
          </p:cNvPr>
          <p:cNvSpPr/>
          <p:nvPr/>
        </p:nvSpPr>
        <p:spPr>
          <a:xfrm>
            <a:off x="10392050" y="4421080"/>
            <a:ext cx="412812" cy="1926454"/>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NDNTAN</a:t>
            </a:r>
            <a:endParaRPr lang="zh-TW" altLang="en-US" dirty="0">
              <a:latin typeface="Times New Roman" panose="02020603050405020304" pitchFamily="18" charset="0"/>
              <a:cs typeface="Times New Roman" panose="02020603050405020304" pitchFamily="18" charset="0"/>
            </a:endParaRPr>
          </a:p>
        </p:txBody>
      </p:sp>
      <p:cxnSp>
        <p:nvCxnSpPr>
          <p:cNvPr id="21" name="直線接點 20">
            <a:extLst>
              <a:ext uri="{FF2B5EF4-FFF2-40B4-BE49-F238E27FC236}">
                <a16:creationId xmlns:a16="http://schemas.microsoft.com/office/drawing/2014/main" id="{A6D51438-ECF1-4D9D-B3EF-D24016A47077}"/>
              </a:ext>
            </a:extLst>
          </p:cNvPr>
          <p:cNvCxnSpPr>
            <a:cxnSpLocks/>
          </p:cNvCxnSpPr>
          <p:nvPr/>
        </p:nvCxnSpPr>
        <p:spPr>
          <a:xfrm flipV="1">
            <a:off x="11297575" y="3036164"/>
            <a:ext cx="0" cy="1384916"/>
          </a:xfrm>
          <a:prstGeom prst="line">
            <a:avLst/>
          </a:prstGeom>
        </p:spPr>
        <p:style>
          <a:lnRef idx="3">
            <a:schemeClr val="dk1"/>
          </a:lnRef>
          <a:fillRef idx="0">
            <a:schemeClr val="dk1"/>
          </a:fillRef>
          <a:effectRef idx="2">
            <a:schemeClr val="dk1"/>
          </a:effectRef>
          <a:fontRef idx="minor">
            <a:schemeClr val="tx1"/>
          </a:fontRef>
        </p:style>
      </p:cxnSp>
      <p:sp>
        <p:nvSpPr>
          <p:cNvPr id="22" name="矩形 21">
            <a:extLst>
              <a:ext uri="{FF2B5EF4-FFF2-40B4-BE49-F238E27FC236}">
                <a16:creationId xmlns:a16="http://schemas.microsoft.com/office/drawing/2014/main" id="{603BF688-7C20-4836-9FF0-AF7FE31BADCB}"/>
              </a:ext>
            </a:extLst>
          </p:cNvPr>
          <p:cNvSpPr/>
          <p:nvPr/>
        </p:nvSpPr>
        <p:spPr>
          <a:xfrm>
            <a:off x="11091169" y="4421080"/>
            <a:ext cx="412812" cy="1926454"/>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latin typeface="Times New Roman" panose="02020603050405020304" pitchFamily="18" charset="0"/>
                <a:cs typeface="Times New Roman" panose="02020603050405020304" pitchFamily="18" charset="0"/>
              </a:rPr>
              <a:t>YHYYHY</a:t>
            </a:r>
            <a:endParaRPr lang="zh-TW" altLang="en-US" dirty="0">
              <a:latin typeface="Times New Roman" panose="02020603050405020304" pitchFamily="18" charset="0"/>
              <a:cs typeface="Times New Roman" panose="02020603050405020304" pitchFamily="18" charset="0"/>
            </a:endParaRPr>
          </a:p>
        </p:txBody>
      </p:sp>
      <p:graphicFrame>
        <p:nvGraphicFramePr>
          <p:cNvPr id="25" name="表格 25">
            <a:extLst>
              <a:ext uri="{FF2B5EF4-FFF2-40B4-BE49-F238E27FC236}">
                <a16:creationId xmlns:a16="http://schemas.microsoft.com/office/drawing/2014/main" id="{8C4BEAAC-8D23-476D-B275-5845AE420E80}"/>
              </a:ext>
            </a:extLst>
          </p:cNvPr>
          <p:cNvGraphicFramePr>
            <a:graphicFrameLocks noGrp="1"/>
          </p:cNvGraphicFramePr>
          <p:nvPr>
            <p:extLst>
              <p:ext uri="{D42A27DB-BD31-4B8C-83A1-F6EECF244321}">
                <p14:modId xmlns:p14="http://schemas.microsoft.com/office/powerpoint/2010/main" val="1387987961"/>
              </p:ext>
            </p:extLst>
          </p:nvPr>
        </p:nvGraphicFramePr>
        <p:xfrm>
          <a:off x="83226" y="4421080"/>
          <a:ext cx="5706126" cy="1926452"/>
        </p:xfrm>
        <a:graphic>
          <a:graphicData uri="http://schemas.openxmlformats.org/drawingml/2006/table">
            <a:tbl>
              <a:tblPr firstRow="1" bandRow="1">
                <a:tableStyleId>{5940675A-B579-460E-94D1-54222C63F5DA}</a:tableStyleId>
              </a:tblPr>
              <a:tblGrid>
                <a:gridCol w="951021">
                  <a:extLst>
                    <a:ext uri="{9D8B030D-6E8A-4147-A177-3AD203B41FA5}">
                      <a16:colId xmlns:a16="http://schemas.microsoft.com/office/drawing/2014/main" val="110940986"/>
                    </a:ext>
                  </a:extLst>
                </a:gridCol>
                <a:gridCol w="951021">
                  <a:extLst>
                    <a:ext uri="{9D8B030D-6E8A-4147-A177-3AD203B41FA5}">
                      <a16:colId xmlns:a16="http://schemas.microsoft.com/office/drawing/2014/main" val="3169398956"/>
                    </a:ext>
                  </a:extLst>
                </a:gridCol>
                <a:gridCol w="951021">
                  <a:extLst>
                    <a:ext uri="{9D8B030D-6E8A-4147-A177-3AD203B41FA5}">
                      <a16:colId xmlns:a16="http://schemas.microsoft.com/office/drawing/2014/main" val="1533125618"/>
                    </a:ext>
                  </a:extLst>
                </a:gridCol>
                <a:gridCol w="951021">
                  <a:extLst>
                    <a:ext uri="{9D8B030D-6E8A-4147-A177-3AD203B41FA5}">
                      <a16:colId xmlns:a16="http://schemas.microsoft.com/office/drawing/2014/main" val="3703412659"/>
                    </a:ext>
                  </a:extLst>
                </a:gridCol>
                <a:gridCol w="951021">
                  <a:extLst>
                    <a:ext uri="{9D8B030D-6E8A-4147-A177-3AD203B41FA5}">
                      <a16:colId xmlns:a16="http://schemas.microsoft.com/office/drawing/2014/main" val="3704072806"/>
                    </a:ext>
                  </a:extLst>
                </a:gridCol>
                <a:gridCol w="951021">
                  <a:extLst>
                    <a:ext uri="{9D8B030D-6E8A-4147-A177-3AD203B41FA5}">
                      <a16:colId xmlns:a16="http://schemas.microsoft.com/office/drawing/2014/main" val="17459714"/>
                    </a:ext>
                  </a:extLst>
                </a:gridCol>
              </a:tblGrid>
              <a:tr h="481613">
                <a:tc gridSpan="6">
                  <a:txBody>
                    <a:bodyPr/>
                    <a:lstStyle/>
                    <a:p>
                      <a:pPr algn="ctr"/>
                      <a:r>
                        <a:rPr lang="en-US" altLang="zh-TW" sz="2400" dirty="0">
                          <a:latin typeface="Times New Roman" panose="02020603050405020304" pitchFamily="18" charset="0"/>
                          <a:cs typeface="Times New Roman" panose="02020603050405020304" pitchFamily="18" charset="0"/>
                        </a:rPr>
                        <a:t>SARS-</a:t>
                      </a:r>
                      <a:r>
                        <a:rPr lang="en-US" altLang="zh-TW" sz="2400" dirty="0" err="1">
                          <a:latin typeface="Times New Roman" panose="02020603050405020304" pitchFamily="18" charset="0"/>
                          <a:cs typeface="Times New Roman" panose="02020603050405020304" pitchFamily="18" charset="0"/>
                        </a:rPr>
                        <a:t>CoV</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endParaRPr lang="zh-TW" altLang="en-US" dirty="0"/>
                    </a:p>
                  </a:txBody>
                  <a:tcPr anchor="ctr"/>
                </a:tc>
                <a:tc hMerge="1">
                  <a:txBody>
                    <a:bodyPr/>
                    <a:lstStyle/>
                    <a:p>
                      <a:endParaRPr lang="zh-TW" altLang="en-US" dirty="0"/>
                    </a:p>
                  </a:txBody>
                  <a:tcPr anchor="ctr"/>
                </a:tc>
                <a:tc hMerge="1">
                  <a:txBody>
                    <a:bodyPr/>
                    <a:lstStyle/>
                    <a:p>
                      <a:endParaRPr lang="zh-TW" altLang="en-US" dirty="0"/>
                    </a:p>
                  </a:txBody>
                  <a:tcPr anchor="ctr"/>
                </a:tc>
                <a:tc hMerge="1">
                  <a:txBody>
                    <a:bodyPr/>
                    <a:lstStyle/>
                    <a:p>
                      <a:endParaRPr lang="zh-TW" altLang="en-US" dirty="0"/>
                    </a:p>
                  </a:txBody>
                  <a:tcPr anchor="ctr"/>
                </a:tc>
                <a:tc hMerge="1">
                  <a:txBody>
                    <a:bodyPr/>
                    <a:lstStyle/>
                    <a:p>
                      <a:endParaRPr lang="zh-TW" altLang="en-US" dirty="0"/>
                    </a:p>
                  </a:txBody>
                  <a:tcPr anchor="ctr"/>
                </a:tc>
                <a:extLst>
                  <a:ext uri="{0D108BD9-81ED-4DB2-BD59-A6C34878D82A}">
                    <a16:rowId xmlns:a16="http://schemas.microsoft.com/office/drawing/2014/main" val="1438859186"/>
                  </a:ext>
                </a:extLst>
              </a:tr>
              <a:tr h="481613">
                <a:tc>
                  <a:txBody>
                    <a:bodyPr/>
                    <a:lstStyle/>
                    <a:p>
                      <a:pPr algn="ctr"/>
                      <a:r>
                        <a:rPr lang="en-US" altLang="zh-TW" sz="2400" dirty="0">
                          <a:latin typeface="Times New Roman" panose="02020603050405020304" pitchFamily="18" charset="0"/>
                          <a:cs typeface="Times New Roman" panose="02020603050405020304" pitchFamily="18" charset="0"/>
                        </a:rPr>
                        <a:t>Y442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L472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N479</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D480</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T487</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Y491</a:t>
                      </a:r>
                      <a:endParaRPr lang="zh-TW" altLang="en-US" sz="2400"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2359376579"/>
                  </a:ext>
                </a:extLst>
              </a:tr>
              <a:tr h="481613">
                <a:tc gridSpan="6">
                  <a:txBody>
                    <a:bodyPr/>
                    <a:lstStyle/>
                    <a:p>
                      <a:pPr algn="ctr"/>
                      <a:r>
                        <a:rPr lang="en-US" altLang="zh-TW" sz="2400" dirty="0">
                          <a:latin typeface="Times New Roman" panose="02020603050405020304" pitchFamily="18" charset="0"/>
                          <a:cs typeface="Times New Roman" panose="02020603050405020304" pitchFamily="18" charset="0"/>
                        </a:rPr>
                        <a:t>SARS-CoV-2</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dirty="0"/>
                    </a:p>
                  </a:txBody>
                  <a:tcPr anchor="ctr"/>
                </a:tc>
                <a:tc hMerge="1">
                  <a:txBody>
                    <a:bodyPr/>
                    <a:lstStyle/>
                    <a:p>
                      <a:pPr algn="ctr"/>
                      <a:endParaRPr lang="zh-TW" altLang="en-US" dirty="0"/>
                    </a:p>
                  </a:txBody>
                  <a:tcPr anchor="ctr"/>
                </a:tc>
                <a:tc hMerge="1">
                  <a:txBody>
                    <a:bodyPr/>
                    <a:lstStyle/>
                    <a:p>
                      <a:pPr algn="ctr"/>
                      <a:endParaRPr lang="zh-TW" altLang="en-US" dirty="0"/>
                    </a:p>
                  </a:txBody>
                  <a:tcPr anchor="ct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2111849677"/>
                  </a:ext>
                </a:extLst>
              </a:tr>
              <a:tr h="481613">
                <a:tc>
                  <a:txBody>
                    <a:bodyPr/>
                    <a:lstStyle/>
                    <a:p>
                      <a:pPr algn="ctr"/>
                      <a:r>
                        <a:rPr lang="en-US" altLang="zh-TW" sz="2400" dirty="0">
                          <a:latin typeface="Times New Roman" panose="02020603050405020304" pitchFamily="18" charset="0"/>
                          <a:cs typeface="Times New Roman" panose="02020603050405020304" pitchFamily="18" charset="0"/>
                        </a:rPr>
                        <a:t>L455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F486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Q493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S494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N501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Y505</a:t>
                      </a:r>
                      <a:endParaRPr lang="zh-TW" altLang="en-US" sz="2400" dirty="0">
                        <a:latin typeface="Times New Roman" panose="02020603050405020304" pitchFamily="18" charset="0"/>
                        <a:cs typeface="Times New Roman" panose="02020603050405020304" pitchFamily="18" charset="0"/>
                      </a:endParaRPr>
                    </a:p>
                  </a:txBody>
                  <a:tcPr anchor="ctr">
                    <a:solidFill>
                      <a:srgbClr val="FFFF00"/>
                    </a:solidFill>
                  </a:tcPr>
                </a:tc>
                <a:extLst>
                  <a:ext uri="{0D108BD9-81ED-4DB2-BD59-A6C34878D82A}">
                    <a16:rowId xmlns:a16="http://schemas.microsoft.com/office/drawing/2014/main" val="823735580"/>
                  </a:ext>
                </a:extLst>
              </a:tr>
            </a:tbl>
          </a:graphicData>
        </a:graphic>
      </p:graphicFrame>
      <p:pic>
        <p:nvPicPr>
          <p:cNvPr id="1026" name="Picture 2" descr="檢測、治療、疫苗——科學家抗疫總動員－科技大觀園">
            <a:extLst>
              <a:ext uri="{FF2B5EF4-FFF2-40B4-BE49-F238E27FC236}">
                <a16:creationId xmlns:a16="http://schemas.microsoft.com/office/drawing/2014/main" id="{948BBD82-93CD-4C3A-BC99-5A26E67F5A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9444" y="200355"/>
            <a:ext cx="1938162" cy="109021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單箭頭接點 5">
            <a:extLst>
              <a:ext uri="{FF2B5EF4-FFF2-40B4-BE49-F238E27FC236}">
                <a16:creationId xmlns:a16="http://schemas.microsoft.com/office/drawing/2014/main" id="{4274097A-E9AB-43A2-854C-6C1DD085CAE5}"/>
              </a:ext>
            </a:extLst>
          </p:cNvPr>
          <p:cNvCxnSpPr/>
          <p:nvPr/>
        </p:nvCxnSpPr>
        <p:spPr>
          <a:xfrm flipV="1">
            <a:off x="8444753" y="636494"/>
            <a:ext cx="1837765" cy="391412"/>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68579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5D689A6-A734-44B7-B9AA-90D8B3CD9558}"/>
              </a:ext>
            </a:extLst>
          </p:cNvPr>
          <p:cNvPicPr>
            <a:picLocks noChangeAspect="1"/>
          </p:cNvPicPr>
          <p:nvPr/>
        </p:nvPicPr>
        <p:blipFill>
          <a:blip r:embed="rId2"/>
          <a:stretch>
            <a:fillRect/>
          </a:stretch>
        </p:blipFill>
        <p:spPr>
          <a:xfrm>
            <a:off x="2734280" y="1557523"/>
            <a:ext cx="6563641" cy="2314898"/>
          </a:xfrm>
          <a:prstGeom prst="rect">
            <a:avLst/>
          </a:prstGeom>
        </p:spPr>
      </p:pic>
      <p:sp>
        <p:nvSpPr>
          <p:cNvPr id="5" name="標題 1">
            <a:extLst>
              <a:ext uri="{FF2B5EF4-FFF2-40B4-BE49-F238E27FC236}">
                <a16:creationId xmlns:a16="http://schemas.microsoft.com/office/drawing/2014/main" id="{A78816C2-9A88-4C10-BD28-6B4730C21032}"/>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O-linked glycan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a:t>
            </a:r>
            <a:r>
              <a:rPr lang="zh-TW" altLang="en-US" dirty="0">
                <a:latin typeface="標楷體" panose="03000509000000000000" pitchFamily="65" charset="-120"/>
                <a:ea typeface="標楷體" panose="03000509000000000000" pitchFamily="65" charset="-120"/>
                <a:cs typeface="Times New Roman" panose="02020603050405020304" pitchFamily="18" charset="0"/>
              </a:rPr>
              <a:t>醣基化</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文字方塊 5">
            <a:extLst>
              <a:ext uri="{FF2B5EF4-FFF2-40B4-BE49-F238E27FC236}">
                <a16:creationId xmlns:a16="http://schemas.microsoft.com/office/drawing/2014/main" id="{D1455404-F163-486D-ACE0-E948D6DB023D}"/>
              </a:ext>
            </a:extLst>
          </p:cNvPr>
          <p:cNvSpPr txBox="1"/>
          <p:nvPr/>
        </p:nvSpPr>
        <p:spPr>
          <a:xfrm>
            <a:off x="1160016" y="4394447"/>
            <a:ext cx="9871969" cy="1938992"/>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SARS-CoV-2</a:t>
            </a:r>
            <a:r>
              <a:rPr lang="zh-TW" altLang="en-US" sz="2400" dirty="0">
                <a:latin typeface="Times New Roman" panose="02020603050405020304" pitchFamily="18" charset="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O-linked</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glycan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目前功能未知。</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CoV</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O-linked glycan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功能為強化細胞融合且不影響病毒進入。</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O-linked</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的演化需有免疫系統介入，因此該特徵也為有力證據。</a:t>
            </a:r>
            <a:b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否定</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為人為介入或有意操作之實驗室產品</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文字方塊 6">
            <a:extLst>
              <a:ext uri="{FF2B5EF4-FFF2-40B4-BE49-F238E27FC236}">
                <a16:creationId xmlns:a16="http://schemas.microsoft.com/office/drawing/2014/main" id="{8DC5CE9F-FDEB-4B3A-B568-8E0B97E8D017}"/>
              </a:ext>
            </a:extLst>
          </p:cNvPr>
          <p:cNvSpPr txBox="1"/>
          <p:nvPr/>
        </p:nvSpPr>
        <p:spPr>
          <a:xfrm>
            <a:off x="8441227" y="1459855"/>
            <a:ext cx="2032986" cy="461665"/>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多鹼基分裂位</a:t>
            </a:r>
            <a:endParaRPr lang="zh-TW" altLang="en-US" sz="2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936589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183C35-B868-44B7-9754-E8D5321A688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Evolution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D392712-186D-4F76-8A32-F140A36F1A70}"/>
              </a:ext>
            </a:extLst>
          </p:cNvPr>
          <p:cNvSpPr>
            <a:spLocks noGrp="1"/>
          </p:cNvSpPr>
          <p:nvPr>
            <p:ph idx="1"/>
          </p:nvPr>
        </p:nvSpPr>
        <p:spPr>
          <a:xfrm>
            <a:off x="838200" y="2070894"/>
            <a:ext cx="10515600" cy="2716213"/>
          </a:xfrm>
        </p:spPr>
        <p:txBody>
          <a:bodyPr/>
          <a:lstStyle/>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Natural selection in an animal host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before zoonotic transfer.</a:t>
            </a:r>
          </a:p>
          <a:p>
            <a:pPr marL="514350" indent="-51435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Natural selection in humans following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zoonotic transfer.</a:t>
            </a:r>
          </a:p>
          <a:p>
            <a:pPr marL="514350" indent="-514350">
              <a:buFont typeface="+mj-lt"/>
              <a:buAutoNum type="arabicPeriod"/>
            </a:pPr>
            <a:endParaRPr lang="en-US" altLang="zh-TW"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Selection during passage.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057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183C35-B868-44B7-9754-E8D5321A688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Evolution – In Animal</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D392712-186D-4F76-8A32-F140A36F1A70}"/>
              </a:ext>
            </a:extLst>
          </p:cNvPr>
          <p:cNvSpPr>
            <a:spLocks noGrp="1"/>
          </p:cNvSpPr>
          <p:nvPr>
            <p:ph idx="1"/>
          </p:nvPr>
        </p:nvSpPr>
        <p:spPr>
          <a:xfrm>
            <a:off x="838199" y="1545069"/>
            <a:ext cx="10515600"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For a precursor virus to acquire both the </a:t>
            </a:r>
            <a:r>
              <a:rPr lang="en-US" altLang="zh-TW" dirty="0">
                <a:solidFill>
                  <a:srgbClr val="FF0000"/>
                </a:solidFill>
                <a:latin typeface="Times New Roman" panose="02020603050405020304" pitchFamily="18" charset="0"/>
                <a:cs typeface="Times New Roman" panose="02020603050405020304" pitchFamily="18" charset="0"/>
              </a:rPr>
              <a:t>polybasic cleavage site </a:t>
            </a:r>
            <a:r>
              <a:rPr lang="en-US" altLang="zh-TW" dirty="0">
                <a:latin typeface="Times New Roman" panose="02020603050405020304" pitchFamily="18" charset="0"/>
                <a:cs typeface="Times New Roman" panose="02020603050405020304" pitchFamily="18" charset="0"/>
              </a:rPr>
              <a:t>and mutations in the </a:t>
            </a:r>
            <a:r>
              <a:rPr lang="en-US" altLang="zh-TW" dirty="0">
                <a:solidFill>
                  <a:srgbClr val="FF0000"/>
                </a:solidFill>
                <a:latin typeface="Times New Roman" panose="02020603050405020304" pitchFamily="18" charset="0"/>
                <a:cs typeface="Times New Roman" panose="02020603050405020304" pitchFamily="18" charset="0"/>
              </a:rPr>
              <a:t>spike protein </a:t>
            </a:r>
            <a:r>
              <a:rPr lang="en-US" altLang="zh-TW" dirty="0">
                <a:latin typeface="Times New Roman" panose="02020603050405020304" pitchFamily="18" charset="0"/>
                <a:cs typeface="Times New Roman" panose="02020603050405020304" pitchFamily="18" charset="0"/>
              </a:rPr>
              <a:t>suitable for binding to human ACE2, an animal host would probably have to have a </a:t>
            </a:r>
            <a:r>
              <a:rPr lang="en-US" altLang="zh-TW" dirty="0">
                <a:solidFill>
                  <a:srgbClr val="FF0000"/>
                </a:solidFill>
                <a:latin typeface="Times New Roman" panose="02020603050405020304" pitchFamily="18" charset="0"/>
                <a:cs typeface="Times New Roman" panose="02020603050405020304" pitchFamily="18" charset="0"/>
              </a:rPr>
              <a:t>high population density</a:t>
            </a:r>
            <a:endParaRPr lang="zh-TW" altLang="en-US" dirty="0">
              <a:solidFill>
                <a:srgbClr val="FF0000"/>
              </a:solidFill>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668F4169-C3EF-4282-B0BF-195FC31E4D3B}"/>
              </a:ext>
            </a:extLst>
          </p:cNvPr>
          <p:cNvPicPr>
            <a:picLocks noChangeAspect="1"/>
          </p:cNvPicPr>
          <p:nvPr/>
        </p:nvPicPr>
        <p:blipFill>
          <a:blip r:embed="rId2"/>
          <a:stretch>
            <a:fillRect/>
          </a:stretch>
        </p:blipFill>
        <p:spPr>
          <a:xfrm>
            <a:off x="893936" y="2870632"/>
            <a:ext cx="2676899" cy="2591162"/>
          </a:xfrm>
          <a:prstGeom prst="rect">
            <a:avLst/>
          </a:prstGeom>
        </p:spPr>
      </p:pic>
      <p:pic>
        <p:nvPicPr>
          <p:cNvPr id="5" name="圖片 4">
            <a:extLst>
              <a:ext uri="{FF2B5EF4-FFF2-40B4-BE49-F238E27FC236}">
                <a16:creationId xmlns:a16="http://schemas.microsoft.com/office/drawing/2014/main" id="{AA9A0194-8594-4476-9782-3B61E68403DE}"/>
              </a:ext>
            </a:extLst>
          </p:cNvPr>
          <p:cNvPicPr>
            <a:picLocks noChangeAspect="1"/>
          </p:cNvPicPr>
          <p:nvPr/>
        </p:nvPicPr>
        <p:blipFill>
          <a:blip r:embed="rId3"/>
          <a:stretch>
            <a:fillRect/>
          </a:stretch>
        </p:blipFill>
        <p:spPr>
          <a:xfrm>
            <a:off x="4260463" y="2870632"/>
            <a:ext cx="3038899" cy="2591162"/>
          </a:xfrm>
          <a:prstGeom prst="rect">
            <a:avLst/>
          </a:prstGeom>
        </p:spPr>
      </p:pic>
      <p:pic>
        <p:nvPicPr>
          <p:cNvPr id="6" name="圖片 5">
            <a:extLst>
              <a:ext uri="{FF2B5EF4-FFF2-40B4-BE49-F238E27FC236}">
                <a16:creationId xmlns:a16="http://schemas.microsoft.com/office/drawing/2014/main" id="{A3B62773-E876-42FC-8B46-1B6B9C97FC53}"/>
              </a:ext>
            </a:extLst>
          </p:cNvPr>
          <p:cNvPicPr>
            <a:picLocks noChangeAspect="1"/>
          </p:cNvPicPr>
          <p:nvPr/>
        </p:nvPicPr>
        <p:blipFill>
          <a:blip r:embed="rId4"/>
          <a:stretch>
            <a:fillRect/>
          </a:stretch>
        </p:blipFill>
        <p:spPr>
          <a:xfrm>
            <a:off x="7988990" y="2870632"/>
            <a:ext cx="2991267" cy="3848637"/>
          </a:xfrm>
          <a:prstGeom prst="rect">
            <a:avLst/>
          </a:prstGeom>
        </p:spPr>
      </p:pic>
      <p:sp>
        <p:nvSpPr>
          <p:cNvPr id="7" name="文字方塊 6">
            <a:extLst>
              <a:ext uri="{FF2B5EF4-FFF2-40B4-BE49-F238E27FC236}">
                <a16:creationId xmlns:a16="http://schemas.microsoft.com/office/drawing/2014/main" id="{E5003E29-5921-424E-BCFF-A616D718BF6C}"/>
              </a:ext>
            </a:extLst>
          </p:cNvPr>
          <p:cNvSpPr txBox="1"/>
          <p:nvPr/>
        </p:nvSpPr>
        <p:spPr>
          <a:xfrm>
            <a:off x="6676009" y="6272406"/>
            <a:ext cx="1302512" cy="461665"/>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rPr>
              <a:t>蝙蝠→</a:t>
            </a:r>
          </a:p>
        </p:txBody>
      </p:sp>
      <p:cxnSp>
        <p:nvCxnSpPr>
          <p:cNvPr id="9" name="直線接點 8">
            <a:extLst>
              <a:ext uri="{FF2B5EF4-FFF2-40B4-BE49-F238E27FC236}">
                <a16:creationId xmlns:a16="http://schemas.microsoft.com/office/drawing/2014/main" id="{5562148D-67F8-4D1A-BEC7-0958053C1D06}"/>
              </a:ext>
            </a:extLst>
          </p:cNvPr>
          <p:cNvCxnSpPr/>
          <p:nvPr/>
        </p:nvCxnSpPr>
        <p:spPr>
          <a:xfrm>
            <a:off x="470517" y="4166213"/>
            <a:ext cx="11150353" cy="0"/>
          </a:xfrm>
          <a:prstGeom prst="line">
            <a:avLst/>
          </a:prstGeom>
          <a:ln w="381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9223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183C35-B868-44B7-9754-E8D5321A688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Evolution – In Humans</a:t>
            </a:r>
            <a:endParaRPr lang="zh-TW" altLang="en-US" dirty="0">
              <a:latin typeface="Times New Roman" panose="02020603050405020304" pitchFamily="18" charset="0"/>
              <a:cs typeface="Times New Roman" panose="02020603050405020304" pitchFamily="18" charset="0"/>
            </a:endParaRPr>
          </a:p>
        </p:txBody>
      </p:sp>
      <p:sp>
        <p:nvSpPr>
          <p:cNvPr id="13" name="箭號: 向右 12">
            <a:extLst>
              <a:ext uri="{FF2B5EF4-FFF2-40B4-BE49-F238E27FC236}">
                <a16:creationId xmlns:a16="http://schemas.microsoft.com/office/drawing/2014/main" id="{98A773AB-CF82-429F-AFF3-990420033B7A}"/>
              </a:ext>
            </a:extLst>
          </p:cNvPr>
          <p:cNvSpPr/>
          <p:nvPr/>
        </p:nvSpPr>
        <p:spPr>
          <a:xfrm rot="5400000">
            <a:off x="-636758" y="3745870"/>
            <a:ext cx="4692361" cy="297910"/>
          </a:xfrm>
          <a:prstGeom prst="rightArrow">
            <a:avLst>
              <a:gd name="adj1" fmla="val 50000"/>
              <a:gd name="adj2" fmla="val 231779"/>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B091F453-A104-47E2-9E7D-E64B62DEAA15}"/>
              </a:ext>
            </a:extLst>
          </p:cNvPr>
          <p:cNvSpPr txBox="1"/>
          <p:nvPr/>
        </p:nvSpPr>
        <p:spPr>
          <a:xfrm>
            <a:off x="689244" y="1449471"/>
            <a:ext cx="639192"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a:t>
            </a:r>
            <a:endParaRPr lang="zh-TW" altLang="en-US" b="1"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680807C8-B883-4E52-9805-14EE2B55944C}"/>
              </a:ext>
            </a:extLst>
          </p:cNvPr>
          <p:cNvSpPr txBox="1"/>
          <p:nvPr/>
        </p:nvSpPr>
        <p:spPr>
          <a:xfrm>
            <a:off x="529446" y="5252347"/>
            <a:ext cx="958788" cy="923330"/>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2019/11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2019/12</a:t>
            </a:r>
            <a:endParaRPr lang="zh-TW" altLang="en-US"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482F7C8E-FFCD-491B-AF03-42FC24A9316E}"/>
              </a:ext>
            </a:extLst>
          </p:cNvPr>
          <p:cNvSpPr txBox="1"/>
          <p:nvPr/>
        </p:nvSpPr>
        <p:spPr>
          <a:xfrm>
            <a:off x="1350616" y="6424252"/>
            <a:ext cx="717612"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cs typeface="Times New Roman" panose="02020603050405020304" pitchFamily="18" charset="0"/>
              </a:rPr>
              <a:t>爆發</a:t>
            </a:r>
          </a:p>
        </p:txBody>
      </p:sp>
      <p:sp>
        <p:nvSpPr>
          <p:cNvPr id="17" name="文字方塊 16">
            <a:extLst>
              <a:ext uri="{FF2B5EF4-FFF2-40B4-BE49-F238E27FC236}">
                <a16:creationId xmlns:a16="http://schemas.microsoft.com/office/drawing/2014/main" id="{3ABE0996-7AE5-47EA-85C0-EE9D900CC52A}"/>
              </a:ext>
            </a:extLst>
          </p:cNvPr>
          <p:cNvSpPr txBox="1"/>
          <p:nvPr/>
        </p:nvSpPr>
        <p:spPr>
          <a:xfrm>
            <a:off x="2737278" y="1506022"/>
            <a:ext cx="7046591" cy="461665"/>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rPr>
              <a:t>從馬來西亞偷渡穿山甲至廣東 </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中藥材</a:t>
            </a:r>
            <a:r>
              <a:rPr lang="en-US" altLang="zh-TW" sz="2400" dirty="0">
                <a:latin typeface="標楷體" panose="03000509000000000000" pitchFamily="65" charset="-120"/>
                <a:ea typeface="標楷體" panose="03000509000000000000" pitchFamily="65" charset="-120"/>
              </a:rPr>
              <a:t>)</a:t>
            </a:r>
            <a:endParaRPr lang="zh-TW" altLang="en-US" sz="2400" dirty="0">
              <a:latin typeface="標楷體" panose="03000509000000000000" pitchFamily="65" charset="-120"/>
              <a:ea typeface="標楷體" panose="03000509000000000000" pitchFamily="65" charset="-120"/>
            </a:endParaRPr>
          </a:p>
        </p:txBody>
      </p:sp>
      <p:sp>
        <p:nvSpPr>
          <p:cNvPr id="18" name="文字方塊 17">
            <a:extLst>
              <a:ext uri="{FF2B5EF4-FFF2-40B4-BE49-F238E27FC236}">
                <a16:creationId xmlns:a16="http://schemas.microsoft.com/office/drawing/2014/main" id="{2FDCD943-716D-4A49-A3DF-7B2F7FEB88AF}"/>
              </a:ext>
            </a:extLst>
          </p:cNvPr>
          <p:cNvSpPr txBox="1"/>
          <p:nvPr/>
        </p:nvSpPr>
        <p:spPr>
          <a:xfrm>
            <a:off x="2737279" y="2833064"/>
            <a:ext cx="3965362" cy="461665"/>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標楷體" panose="03000509000000000000" pitchFamily="65" charset="-120"/>
                <a:ea typeface="標楷體" panose="03000509000000000000" pitchFamily="65" charset="-120"/>
              </a:rPr>
              <a:t>祖先進入人體</a:t>
            </a:r>
          </a:p>
        </p:txBody>
      </p:sp>
      <p:sp>
        <p:nvSpPr>
          <p:cNvPr id="19" name="文字方塊 18">
            <a:extLst>
              <a:ext uri="{FF2B5EF4-FFF2-40B4-BE49-F238E27FC236}">
                <a16:creationId xmlns:a16="http://schemas.microsoft.com/office/drawing/2014/main" id="{76266B27-626E-493F-BAF2-AB871FC2BF59}"/>
              </a:ext>
            </a:extLst>
          </p:cNvPr>
          <p:cNvSpPr txBox="1"/>
          <p:nvPr/>
        </p:nvSpPr>
        <p:spPr>
          <a:xfrm>
            <a:off x="2737278" y="4160106"/>
            <a:ext cx="8616522" cy="461665"/>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逐漸演化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(RBD</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polybasic cleavage site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O-linked)</a:t>
            </a:r>
            <a:endParaRPr lang="zh-TW" altLang="en-US" sz="2400" dirty="0">
              <a:latin typeface="標楷體" panose="03000509000000000000" pitchFamily="65" charset="-120"/>
              <a:ea typeface="標楷體" panose="03000509000000000000" pitchFamily="65" charset="-120"/>
            </a:endParaRPr>
          </a:p>
        </p:txBody>
      </p:sp>
      <p:sp>
        <p:nvSpPr>
          <p:cNvPr id="20" name="文字方塊 19">
            <a:extLst>
              <a:ext uri="{FF2B5EF4-FFF2-40B4-BE49-F238E27FC236}">
                <a16:creationId xmlns:a16="http://schemas.microsoft.com/office/drawing/2014/main" id="{6D9E267B-02B6-4040-8B0E-E487D7CF1DD2}"/>
              </a:ext>
            </a:extLst>
          </p:cNvPr>
          <p:cNvSpPr txBox="1"/>
          <p:nvPr/>
        </p:nvSpPr>
        <p:spPr>
          <a:xfrm>
            <a:off x="2737278" y="5487149"/>
            <a:ext cx="7046591" cy="461665"/>
          </a:xfrm>
          <a:prstGeom prst="rect">
            <a:avLst/>
          </a:prstGeom>
          <a:noFill/>
        </p:spPr>
        <p:txBody>
          <a:bodyPr wrap="square" rtlCol="0">
            <a:sp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0</a:t>
            </a:r>
            <a:r>
              <a:rPr lang="zh-TW" altLang="en-US" sz="2400" dirty="0">
                <a:latin typeface="標楷體" panose="03000509000000000000" pitchFamily="65" charset="-120"/>
                <a:ea typeface="標楷體" panose="03000509000000000000" pitchFamily="65" charset="-120"/>
              </a:rPr>
              <a:t>號確診病患出現</a:t>
            </a:r>
          </a:p>
        </p:txBody>
      </p:sp>
    </p:spTree>
    <p:extLst>
      <p:ext uri="{BB962C8B-B14F-4D97-AF65-F5344CB8AC3E}">
        <p14:creationId xmlns:p14="http://schemas.microsoft.com/office/powerpoint/2010/main" val="3318802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183C35-B868-44B7-9754-E8D5321A688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Evolution – During Passage</a:t>
            </a:r>
            <a:endParaRPr lang="zh-TW" altLang="en-US" dirty="0">
              <a:latin typeface="Times New Roman" panose="02020603050405020304" pitchFamily="18" charset="0"/>
              <a:cs typeface="Times New Roman" panose="02020603050405020304" pitchFamily="18" charset="0"/>
            </a:endParaRPr>
          </a:p>
        </p:txBody>
      </p:sp>
      <p:sp>
        <p:nvSpPr>
          <p:cNvPr id="11" name="內容版面配置區 2">
            <a:extLst>
              <a:ext uri="{FF2B5EF4-FFF2-40B4-BE49-F238E27FC236}">
                <a16:creationId xmlns:a16="http://schemas.microsoft.com/office/drawing/2014/main" id="{FBAEE12F-7A9B-4220-B698-5E5E3D53A438}"/>
              </a:ext>
            </a:extLst>
          </p:cNvPr>
          <p:cNvSpPr>
            <a:spLocks noGrp="1"/>
          </p:cNvSpPr>
          <p:nvPr>
            <p:ph idx="1"/>
          </p:nvPr>
        </p:nvSpPr>
        <p:spPr>
          <a:xfrm>
            <a:off x="419100" y="1846555"/>
            <a:ext cx="11353800" cy="4394446"/>
          </a:xfrm>
        </p:spPr>
        <p:txBody>
          <a:bodyPr>
            <a:normAutofit/>
          </a:bodyPr>
          <a:lstStyle/>
          <a:p>
            <a:r>
              <a:rPr lang="en-US" altLang="zh-TW" sz="2400" dirty="0">
                <a:latin typeface="Times New Roman" panose="02020603050405020304" pitchFamily="18" charset="0"/>
                <a:cs typeface="Times New Roman" panose="02020603050405020304" pitchFamily="18" charset="0"/>
              </a:rPr>
              <a:t>RBD(Receptor-binding Domain)</a:t>
            </a:r>
            <a:r>
              <a:rPr lang="zh-TW" altLang="en-US" sz="2400" dirty="0">
                <a:latin typeface="Times New Roman" panose="02020603050405020304" pitchFamily="18" charset="0"/>
                <a:cs typeface="Times New Roman" panose="02020603050405020304" pitchFamily="18" charset="0"/>
              </a:rPr>
              <a:t>：</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	SARS-</a:t>
            </a:r>
            <a:r>
              <a:rPr lang="en-US" altLang="zh-TW" sz="2400" dirty="0" err="1">
                <a:latin typeface="Times New Roman" panose="02020603050405020304" pitchFamily="18" charset="0"/>
                <a:cs typeface="Times New Roman" panose="02020603050405020304" pitchFamily="18" charset="0"/>
              </a:rPr>
              <a:t>CoV</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由實驗室培養過程中演化出不同的</a:t>
            </a:r>
            <a:r>
              <a:rPr lang="en-US" altLang="zh-TW" sz="2400" dirty="0">
                <a:latin typeface="Times New Roman" panose="02020603050405020304" pitchFamily="18" charset="0"/>
                <a:cs typeface="Times New Roman" panose="02020603050405020304" pitchFamily="18" charset="0"/>
              </a:rPr>
              <a:t>RBD</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	</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=&gt;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已經發現穿山甲體內之病毒擁有近乎一樣的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RBD</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，因此上述不太可能</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Polybasic Cleavage Site</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a:t>
            </a:r>
            <a:br>
              <a:rPr lang="en-US" altLang="zh-TW" sz="2400" dirty="0">
                <a:latin typeface="Times New Roman" panose="02020603050405020304" pitchFamily="18" charset="0"/>
                <a:ea typeface="Tahoma" panose="020B0604030504040204" pitchFamily="34" charset="0"/>
                <a:cs typeface="Times New Roman" panose="02020603050405020304" pitchFamily="18" charset="0"/>
              </a:rPr>
            </a:b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已有高相似度的祖先，並人為培養加速，否則需要相當長時間的演化。</a:t>
            </a:r>
            <a:b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如禽流感，低致命率，經長時間才演化出新的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Polybasic Cleavage Site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O-linked</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a:t>
            </a:r>
            <a:br>
              <a:rPr lang="en-US" altLang="zh-TW" sz="2400" dirty="0">
                <a:latin typeface="Times New Roman" panose="02020603050405020304" pitchFamily="18" charset="0"/>
                <a:ea typeface="Tahoma" panose="020B0604030504040204" pitchFamily="34" charset="0"/>
                <a:cs typeface="Times New Roman" panose="02020603050405020304" pitchFamily="18" charset="0"/>
              </a:rPr>
            </a:b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不太可能人為培養，因需要免疫系統介入。</a:t>
            </a:r>
            <a:br>
              <a:rPr lang="en-US" altLang="zh-TW" dirty="0">
                <a:latin typeface="標楷體" panose="03000509000000000000" pitchFamily="65" charset="-120"/>
                <a:ea typeface="標楷體" panose="03000509000000000000" pitchFamily="65" charset="-120"/>
                <a:cs typeface="Times New Roman" panose="02020603050405020304" pitchFamily="18" charset="0"/>
              </a:rPr>
            </a:b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077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C30E73-1B17-46AE-A7B7-89D77DE77A11}"/>
              </a:ext>
            </a:extLst>
          </p:cNvPr>
          <p:cNvSpPr>
            <a:spLocks noGrp="1"/>
          </p:cNvSpPr>
          <p:nvPr>
            <p:ph type="ctrTitle"/>
          </p:nvPr>
        </p:nvSpPr>
        <p:spPr>
          <a:xfrm>
            <a:off x="1354584" y="1903943"/>
            <a:ext cx="9482831" cy="935439"/>
          </a:xfrm>
        </p:spPr>
        <p:txBody>
          <a:bodyPr>
            <a:noAutofit/>
          </a:bodyPr>
          <a:lstStyle/>
          <a:p>
            <a:r>
              <a:rPr lang="en-US" altLang="zh-TW" sz="4800" dirty="0">
                <a:latin typeface="Times New Roman" panose="02020603050405020304" pitchFamily="18" charset="0"/>
                <a:cs typeface="Times New Roman" panose="02020603050405020304" pitchFamily="18" charset="0"/>
              </a:rPr>
              <a:t>On the Origin and Continuing Evolution of SARS-CoV-2</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A6C1266A-0EBC-431A-8327-86B190B387F2}"/>
              </a:ext>
            </a:extLst>
          </p:cNvPr>
          <p:cNvSpPr>
            <a:spLocks noGrp="1"/>
          </p:cNvSpPr>
          <p:nvPr>
            <p:ph type="subTitle" idx="1"/>
          </p:nvPr>
        </p:nvSpPr>
        <p:spPr>
          <a:xfrm>
            <a:off x="1185169" y="3320254"/>
            <a:ext cx="9821662" cy="1526957"/>
          </a:xfrm>
        </p:spPr>
        <p:txBody>
          <a:bodyPr>
            <a:normAutofit lnSpcReduction="10000"/>
          </a:bodyPr>
          <a:lstStyle/>
          <a:p>
            <a:r>
              <a:rPr lang="en-US" altLang="zh-TW" dirty="0" err="1">
                <a:latin typeface="Times New Roman" panose="02020603050405020304" pitchFamily="18" charset="0"/>
                <a:cs typeface="Times New Roman" panose="02020603050405020304" pitchFamily="18" charset="0"/>
              </a:rPr>
              <a:t>Xiaolu</a:t>
            </a:r>
            <a:r>
              <a:rPr lang="en-US" altLang="zh-TW" dirty="0">
                <a:latin typeface="Times New Roman" panose="02020603050405020304" pitchFamily="18" charset="0"/>
                <a:cs typeface="Times New Roman" panose="02020603050405020304" pitchFamily="18" charset="0"/>
              </a:rPr>
              <a:t> Tang, </a:t>
            </a:r>
            <a:r>
              <a:rPr lang="en-US" altLang="zh-TW" dirty="0" err="1">
                <a:latin typeface="Times New Roman" panose="02020603050405020304" pitchFamily="18" charset="0"/>
                <a:cs typeface="Times New Roman" panose="02020603050405020304" pitchFamily="18" charset="0"/>
              </a:rPr>
              <a:t>Changcheng</a:t>
            </a:r>
            <a:r>
              <a:rPr lang="en-US" altLang="zh-TW" dirty="0">
                <a:latin typeface="Times New Roman" panose="02020603050405020304" pitchFamily="18" charset="0"/>
                <a:cs typeface="Times New Roman" panose="02020603050405020304" pitchFamily="18" charset="0"/>
              </a:rPr>
              <a:t> Wu, Xiang Li, </a:t>
            </a:r>
            <a:r>
              <a:rPr lang="en-US" altLang="zh-TW" dirty="0" err="1">
                <a:latin typeface="Times New Roman" panose="02020603050405020304" pitchFamily="18" charset="0"/>
                <a:cs typeface="Times New Roman" panose="02020603050405020304" pitchFamily="18" charset="0"/>
              </a:rPr>
              <a:t>Yuhe</a:t>
            </a:r>
            <a:r>
              <a:rPr lang="en-US" altLang="zh-TW" dirty="0">
                <a:latin typeface="Times New Roman" panose="02020603050405020304" pitchFamily="18" charset="0"/>
                <a:cs typeface="Times New Roman" panose="02020603050405020304" pitchFamily="18" charset="0"/>
              </a:rPr>
              <a:t> Song, Xinmin Yao, </a:t>
            </a:r>
            <a:r>
              <a:rPr lang="en-US" altLang="zh-TW" dirty="0" err="1">
                <a:latin typeface="Times New Roman" panose="02020603050405020304" pitchFamily="18" charset="0"/>
                <a:cs typeface="Times New Roman" panose="02020603050405020304" pitchFamily="18" charset="0"/>
              </a:rPr>
              <a:t>Xinkai</a:t>
            </a:r>
            <a:r>
              <a:rPr lang="en-US" altLang="zh-TW" dirty="0">
                <a:latin typeface="Times New Roman" panose="02020603050405020304" pitchFamily="18" charset="0"/>
                <a:cs typeface="Times New Roman" panose="02020603050405020304" pitchFamily="18" charset="0"/>
              </a:rPr>
              <a:t> Wu, </a:t>
            </a:r>
            <a:r>
              <a:rPr lang="en-US" altLang="zh-TW" dirty="0" err="1">
                <a:latin typeface="Times New Roman" panose="02020603050405020304" pitchFamily="18" charset="0"/>
                <a:cs typeface="Times New Roman" panose="02020603050405020304" pitchFamily="18" charset="0"/>
              </a:rPr>
              <a:t>Yuange</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Duan</a:t>
            </a:r>
            <a:r>
              <a:rPr lang="en-US" altLang="zh-TW" dirty="0">
                <a:latin typeface="Times New Roman" panose="02020603050405020304" pitchFamily="18" charset="0"/>
                <a:cs typeface="Times New Roman" panose="02020603050405020304" pitchFamily="18" charset="0"/>
              </a:rPr>
              <a:t>, Hong Zhang, </a:t>
            </a:r>
            <a:r>
              <a:rPr lang="en-US" altLang="zh-TW" dirty="0" err="1">
                <a:latin typeface="Times New Roman" panose="02020603050405020304" pitchFamily="18" charset="0"/>
                <a:cs typeface="Times New Roman" panose="02020603050405020304" pitchFamily="18" charset="0"/>
              </a:rPr>
              <a:t>Yirong</a:t>
            </a:r>
            <a:r>
              <a:rPr lang="en-US" altLang="zh-TW" dirty="0">
                <a:latin typeface="Times New Roman" panose="02020603050405020304" pitchFamily="18" charset="0"/>
                <a:cs typeface="Times New Roman" panose="02020603050405020304" pitchFamily="18" charset="0"/>
              </a:rPr>
              <a:t> Wang, </a:t>
            </a:r>
            <a:r>
              <a:rPr lang="en-US" altLang="zh-TW" dirty="0" err="1">
                <a:latin typeface="Times New Roman" panose="02020603050405020304" pitchFamily="18" charset="0"/>
                <a:cs typeface="Times New Roman" panose="02020603050405020304" pitchFamily="18" charset="0"/>
              </a:rPr>
              <a:t>Zhaohui</a:t>
            </a:r>
            <a:r>
              <a:rPr lang="en-US" altLang="zh-TW" dirty="0">
                <a:latin typeface="Times New Roman" panose="02020603050405020304" pitchFamily="18" charset="0"/>
                <a:cs typeface="Times New Roman" panose="02020603050405020304" pitchFamily="18" charset="0"/>
              </a:rPr>
              <a:t> Qian, </a:t>
            </a:r>
            <a:r>
              <a:rPr lang="en-US" altLang="zh-TW" dirty="0" err="1">
                <a:latin typeface="Times New Roman" panose="02020603050405020304" pitchFamily="18" charset="0"/>
                <a:cs typeface="Times New Roman" panose="02020603050405020304" pitchFamily="18" charset="0"/>
              </a:rPr>
              <a:t>Jie</a:t>
            </a:r>
            <a:r>
              <a:rPr lang="en-US" altLang="zh-TW" dirty="0">
                <a:latin typeface="Times New Roman" panose="02020603050405020304" pitchFamily="18" charset="0"/>
                <a:cs typeface="Times New Roman" panose="02020603050405020304" pitchFamily="18" charset="0"/>
              </a:rPr>
              <a:t> Cui, Jian Lu</a:t>
            </a:r>
          </a:p>
          <a:p>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National Science Review, nwaa036</a:t>
            </a:r>
          </a:p>
        </p:txBody>
      </p:sp>
      <p:sp>
        <p:nvSpPr>
          <p:cNvPr id="5" name="文字方塊 4">
            <a:extLst>
              <a:ext uri="{FF2B5EF4-FFF2-40B4-BE49-F238E27FC236}">
                <a16:creationId xmlns:a16="http://schemas.microsoft.com/office/drawing/2014/main" id="{44B5BDD7-570C-4BC6-8960-CA32DBD4141D}"/>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May 20, 2020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23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547241-551A-4EFC-A2D1-D760A147CB0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E9D9983-BE42-46F5-B8AD-F31B03832A73}"/>
              </a:ext>
            </a:extLst>
          </p:cNvPr>
          <p:cNvSpPr>
            <a:spLocks noGrp="1"/>
          </p:cNvSpPr>
          <p:nvPr>
            <p:ph idx="1"/>
          </p:nvPr>
        </p:nvSpPr>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The SARS-CoV-2 epidemic started in late December 2019 in Wuhan, China, and has since impacted a large portion of China and raised major global concern. Herein, we investigated the extent of molecular divergence between SARS-CoV-2 and other related coronaviruses. Although we found only 4% variability in genomic nucleotides between SARS-CoV-2 and a bat SARS-related coronavirus (</a:t>
            </a:r>
            <a:r>
              <a:rPr lang="en-US" altLang="zh-TW" dirty="0" err="1">
                <a:latin typeface="Times New Roman" panose="02020603050405020304" pitchFamily="18" charset="0"/>
                <a:cs typeface="Times New Roman" panose="02020603050405020304" pitchFamily="18" charset="0"/>
              </a:rPr>
              <a:t>SARSr-CoV</a:t>
            </a:r>
            <a:r>
              <a:rPr lang="en-US" altLang="zh-TW" dirty="0">
                <a:latin typeface="Times New Roman" panose="02020603050405020304" pitchFamily="18" charset="0"/>
                <a:cs typeface="Times New Roman" panose="02020603050405020304" pitchFamily="18" charset="0"/>
              </a:rPr>
              <a:t>; RaTG13), the difference at neutral sites was 17%, suggesting the divergence between the two viruses is much larger than previously estimated. Our results suggest that the development of new variations in functional sites in the receptor-binding domain (RBD) of the spike seen in SARS-CoV-2 and viruses from pangolin </a:t>
            </a:r>
            <a:r>
              <a:rPr lang="en-US" altLang="zh-TW" dirty="0" err="1">
                <a:latin typeface="Times New Roman" panose="02020603050405020304" pitchFamily="18" charset="0"/>
                <a:cs typeface="Times New Roman" panose="02020603050405020304" pitchFamily="18" charset="0"/>
              </a:rPr>
              <a:t>SARSr-CoVs</a:t>
            </a:r>
            <a:r>
              <a:rPr lang="en-US" altLang="zh-TW" dirty="0">
                <a:latin typeface="Times New Roman" panose="02020603050405020304" pitchFamily="18" charset="0"/>
                <a:cs typeface="Times New Roman" panose="02020603050405020304" pitchFamily="18" charset="0"/>
              </a:rPr>
              <a:t> are likely caused by mutations and natural selection besides recombination.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712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547241-551A-4EFC-A2D1-D760A147CB0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E9D9983-BE42-46F5-B8AD-F31B03832A73}"/>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Population genetic analyses of 103 SARS-CoV-2 genomes indicated that these viruses evolved into two major types (designated L and S), that are well defined by two different SNPs that show nearly complete linkage across the viral strains sequenced to date. Although the L type (~70%) is more prevalent than the S type (~30%), the S type was found to be the ancestral version. Whereas the L type was more prevalent in the early stages of the outbreak in Wuhan, the frequency of the L type decreased after early January 2020.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860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547241-551A-4EFC-A2D1-D760A147CB0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Abstract(3/3)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E9D9983-BE42-46F5-B8AD-F31B03832A73}"/>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Human intervention may have placed more severe selective pressure on the L type, which might be more aggressive and spread more quickly. On the other hand, the S type, which is evolutionarily older and less aggressive, might have increased in relative frequency due to relatively weaker selective pressure. These findings strongly support an urgent need for further immediate, comprehensive studies that combine genomic data, epidemiological data, and chart records of the clinical symptoms of patients with coronavirus disease 2019 (COVID-19).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099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7F6D1F-B433-436C-A6BD-FAD7CF092A4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 and S types of SARS-CoV-2</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2A57BA3E-623C-4818-A611-4376D7936922}"/>
              </a:ext>
            </a:extLst>
          </p:cNvPr>
          <p:cNvSpPr>
            <a:spLocks noGrp="1"/>
          </p:cNvSpPr>
          <p:nvPr>
            <p:ph idx="1"/>
          </p:nvPr>
        </p:nvSpPr>
        <p:spPr>
          <a:xfrm>
            <a:off x="838200" y="1825625"/>
            <a:ext cx="11273118" cy="4351338"/>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type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(~30%)</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傳染率及複製率較低，與其他冠狀病毒更為相似，推測為祖病毒。</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L</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type (~70%)</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推測由</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type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突變而來，其傳染率及複製率較高。</a:t>
            </a:r>
          </a:p>
        </p:txBody>
      </p:sp>
      <p:grpSp>
        <p:nvGrpSpPr>
          <p:cNvPr id="9" name="群組 8">
            <a:extLst>
              <a:ext uri="{FF2B5EF4-FFF2-40B4-BE49-F238E27FC236}">
                <a16:creationId xmlns:a16="http://schemas.microsoft.com/office/drawing/2014/main" id="{59C9B0E6-1BFF-4870-93F3-B78353B80853}"/>
              </a:ext>
            </a:extLst>
          </p:cNvPr>
          <p:cNvGrpSpPr/>
          <p:nvPr/>
        </p:nvGrpSpPr>
        <p:grpSpPr>
          <a:xfrm>
            <a:off x="2541233" y="3915052"/>
            <a:ext cx="7109534" cy="2942948"/>
            <a:chOff x="2173673" y="2858610"/>
            <a:chExt cx="7844654" cy="3311372"/>
          </a:xfrm>
        </p:grpSpPr>
        <p:pic>
          <p:nvPicPr>
            <p:cNvPr id="10" name="圖片 9">
              <a:extLst>
                <a:ext uri="{FF2B5EF4-FFF2-40B4-BE49-F238E27FC236}">
                  <a16:creationId xmlns:a16="http://schemas.microsoft.com/office/drawing/2014/main" id="{97D887D8-905C-438C-9494-83D79B892B81}"/>
                </a:ext>
              </a:extLst>
            </p:cNvPr>
            <p:cNvPicPr>
              <a:picLocks noChangeAspect="1"/>
            </p:cNvPicPr>
            <p:nvPr/>
          </p:nvPicPr>
          <p:blipFill>
            <a:blip r:embed="rId2"/>
            <a:stretch>
              <a:fillRect/>
            </a:stretch>
          </p:blipFill>
          <p:spPr>
            <a:xfrm>
              <a:off x="2173673" y="2858610"/>
              <a:ext cx="7844654" cy="3311372"/>
            </a:xfrm>
            <a:prstGeom prst="rect">
              <a:avLst/>
            </a:prstGeom>
          </p:spPr>
        </p:pic>
        <p:sp>
          <p:nvSpPr>
            <p:cNvPr id="11" name="矩形 10">
              <a:extLst>
                <a:ext uri="{FF2B5EF4-FFF2-40B4-BE49-F238E27FC236}">
                  <a16:creationId xmlns:a16="http://schemas.microsoft.com/office/drawing/2014/main" id="{0E681E98-A981-4D4B-8894-4D099D878376}"/>
                </a:ext>
              </a:extLst>
            </p:cNvPr>
            <p:cNvSpPr/>
            <p:nvPr/>
          </p:nvSpPr>
          <p:spPr>
            <a:xfrm>
              <a:off x="6676007" y="3346882"/>
              <a:ext cx="239697" cy="39061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E0474C7F-A25C-4F9D-BCE8-5123CF37BF99}"/>
                </a:ext>
              </a:extLst>
            </p:cNvPr>
            <p:cNvSpPr/>
            <p:nvPr/>
          </p:nvSpPr>
          <p:spPr>
            <a:xfrm>
              <a:off x="8737106" y="3346885"/>
              <a:ext cx="239697" cy="39061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4080677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7F6D1F-B433-436C-A6BD-FAD7CF092A4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Linkage Disequilibrium</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(LD)</a:t>
            </a:r>
            <a:endParaRPr lang="zh-TW" altLang="en-US"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8C189588-A10F-4E44-A320-8A41FF8E10A0}"/>
              </a:ext>
            </a:extLst>
          </p:cNvPr>
          <p:cNvPicPr>
            <a:picLocks noChangeAspect="1"/>
          </p:cNvPicPr>
          <p:nvPr/>
        </p:nvPicPr>
        <p:blipFill>
          <a:blip r:embed="rId2"/>
          <a:stretch>
            <a:fillRect/>
          </a:stretch>
        </p:blipFill>
        <p:spPr>
          <a:xfrm>
            <a:off x="1801014" y="1350463"/>
            <a:ext cx="8589971" cy="5347296"/>
          </a:xfrm>
          <a:prstGeom prst="rect">
            <a:avLst/>
          </a:prstGeom>
        </p:spPr>
      </p:pic>
      <p:cxnSp>
        <p:nvCxnSpPr>
          <p:cNvPr id="6" name="直線單箭頭接點 5">
            <a:extLst>
              <a:ext uri="{FF2B5EF4-FFF2-40B4-BE49-F238E27FC236}">
                <a16:creationId xmlns:a16="http://schemas.microsoft.com/office/drawing/2014/main" id="{5B642A6A-182F-4BCD-A597-57FFA41C5EF9}"/>
              </a:ext>
            </a:extLst>
          </p:cNvPr>
          <p:cNvCxnSpPr>
            <a:cxnSpLocks/>
          </p:cNvCxnSpPr>
          <p:nvPr/>
        </p:nvCxnSpPr>
        <p:spPr>
          <a:xfrm flipH="1">
            <a:off x="6187736" y="5120674"/>
            <a:ext cx="3977196"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1D2BA35C-39A1-4B22-87DE-99849A199F4B}"/>
              </a:ext>
            </a:extLst>
          </p:cNvPr>
          <p:cNvSpPr txBox="1"/>
          <p:nvPr/>
        </p:nvSpPr>
        <p:spPr>
          <a:xfrm>
            <a:off x="10164932" y="4889841"/>
            <a:ext cx="541538"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95</a:t>
            </a:r>
            <a:endParaRPr lang="zh-TW" altLang="en-US" sz="2400" dirty="0">
              <a:latin typeface="Times New Roman" panose="02020603050405020304" pitchFamily="18" charset="0"/>
              <a:cs typeface="Times New Roman" panose="02020603050405020304" pitchFamily="18" charset="0"/>
            </a:endParaRPr>
          </a:p>
        </p:txBody>
      </p:sp>
      <p:cxnSp>
        <p:nvCxnSpPr>
          <p:cNvPr id="10" name="直線單箭頭接點 9">
            <a:extLst>
              <a:ext uri="{FF2B5EF4-FFF2-40B4-BE49-F238E27FC236}">
                <a16:creationId xmlns:a16="http://schemas.microsoft.com/office/drawing/2014/main" id="{C83A433D-8CCE-4C1F-81C8-3F23CB7F1022}"/>
              </a:ext>
            </a:extLst>
          </p:cNvPr>
          <p:cNvCxnSpPr>
            <a:cxnSpLocks/>
          </p:cNvCxnSpPr>
          <p:nvPr/>
        </p:nvCxnSpPr>
        <p:spPr>
          <a:xfrm flipH="1">
            <a:off x="6187736" y="2572783"/>
            <a:ext cx="2503504" cy="2450237"/>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09E129AA-C327-43CA-B493-A6950327A2F7}"/>
              </a:ext>
            </a:extLst>
          </p:cNvPr>
          <p:cNvCxnSpPr>
            <a:cxnSpLocks/>
          </p:cNvCxnSpPr>
          <p:nvPr/>
        </p:nvCxnSpPr>
        <p:spPr>
          <a:xfrm>
            <a:off x="3612776" y="2572783"/>
            <a:ext cx="2388529" cy="2450237"/>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167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683EA414-F5F3-4CD0-A824-332C1ACE1C27}"/>
              </a:ext>
            </a:extLst>
          </p:cNvPr>
          <p:cNvPicPr>
            <a:picLocks noChangeAspect="1"/>
          </p:cNvPicPr>
          <p:nvPr/>
        </p:nvPicPr>
        <p:blipFill>
          <a:blip r:embed="rId2"/>
          <a:stretch>
            <a:fillRect/>
          </a:stretch>
        </p:blipFill>
        <p:spPr>
          <a:xfrm>
            <a:off x="989371" y="0"/>
            <a:ext cx="4176445" cy="6858000"/>
          </a:xfrm>
          <a:prstGeom prst="rect">
            <a:avLst/>
          </a:prstGeom>
        </p:spPr>
      </p:pic>
      <p:cxnSp>
        <p:nvCxnSpPr>
          <p:cNvPr id="6" name="直線接點 5">
            <a:extLst>
              <a:ext uri="{FF2B5EF4-FFF2-40B4-BE49-F238E27FC236}">
                <a16:creationId xmlns:a16="http://schemas.microsoft.com/office/drawing/2014/main" id="{A4393028-3F10-45A1-8C9A-C61BA0044959}"/>
              </a:ext>
            </a:extLst>
          </p:cNvPr>
          <p:cNvCxnSpPr/>
          <p:nvPr/>
        </p:nvCxnSpPr>
        <p:spPr>
          <a:xfrm flipV="1">
            <a:off x="4838330" y="1438183"/>
            <a:ext cx="1257670" cy="33202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C4088752-AADF-4729-B621-C58CF1F0983D}"/>
              </a:ext>
            </a:extLst>
          </p:cNvPr>
          <p:cNvSpPr/>
          <p:nvPr/>
        </p:nvSpPr>
        <p:spPr>
          <a:xfrm>
            <a:off x="4057095" y="4589755"/>
            <a:ext cx="781235" cy="301841"/>
          </a:xfrm>
          <a:prstGeom prst="rect">
            <a:avLst/>
          </a:prstGeom>
          <a:noFill/>
          <a:ln w="28575">
            <a:solidFill>
              <a:srgbClr val="00B05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F6098157-8FE7-4DBF-AB49-A990AA9A724C}"/>
              </a:ext>
            </a:extLst>
          </p:cNvPr>
          <p:cNvSpPr txBox="1"/>
          <p:nvPr/>
        </p:nvSpPr>
        <p:spPr>
          <a:xfrm>
            <a:off x="6095999" y="1205599"/>
            <a:ext cx="5106629"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SZ_2020/01/13.a</a:t>
            </a:r>
          </a:p>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特殊案例，不屬於</a:t>
            </a:r>
            <a:r>
              <a:rPr lang="en-US" altLang="zh-TW" sz="2400" dirty="0">
                <a:latin typeface="Times New Roman" panose="02020603050405020304" pitchFamily="18" charset="0"/>
                <a:cs typeface="Times New Roman" panose="02020603050405020304" pitchFamily="18" charset="0"/>
              </a:rPr>
              <a:t>L</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或</a:t>
            </a:r>
            <a:r>
              <a:rPr lang="en-US" altLang="zh-TW" sz="2400" dirty="0">
                <a:latin typeface="Times New Roman" panose="02020603050405020304" pitchFamily="18" charset="0"/>
                <a:cs typeface="Times New Roman" panose="02020603050405020304" pitchFamily="18" charset="0"/>
              </a:rPr>
              <a:t>S</a:t>
            </a:r>
          </a:p>
          <a:p>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因為其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8782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及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28144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都為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鹼基</a:t>
            </a:r>
          </a:p>
        </p:txBody>
      </p:sp>
      <p:sp>
        <p:nvSpPr>
          <p:cNvPr id="10" name="文字方塊 9">
            <a:extLst>
              <a:ext uri="{FF2B5EF4-FFF2-40B4-BE49-F238E27FC236}">
                <a16:creationId xmlns:a16="http://schemas.microsoft.com/office/drawing/2014/main" id="{01D73C59-828B-4DCE-8383-3E9A1D51E3D7}"/>
              </a:ext>
            </a:extLst>
          </p:cNvPr>
          <p:cNvSpPr txBox="1"/>
          <p:nvPr/>
        </p:nvSpPr>
        <p:spPr>
          <a:xfrm>
            <a:off x="6096000" y="3428612"/>
            <a:ext cx="5162864" cy="830997"/>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rPr>
              <a:t>圖中每一個分支都代表著一株病毒</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共</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103</a:t>
            </a:r>
            <a:r>
              <a:rPr lang="en-US" altLang="zh-TW" sz="2400" dirty="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，且已發現</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149</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處突變</a:t>
            </a:r>
            <a:endParaRPr lang="zh-TW" altLang="en-US" sz="2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654148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D587B4-D84A-4FA8-A20E-A3B8405AD511}"/>
              </a:ext>
            </a:extLst>
          </p:cNvPr>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演化推測</a:t>
            </a:r>
          </a:p>
        </p:txBody>
      </p:sp>
      <p:sp>
        <p:nvSpPr>
          <p:cNvPr id="3" name="內容版面配置區 2">
            <a:extLst>
              <a:ext uri="{FF2B5EF4-FFF2-40B4-BE49-F238E27FC236}">
                <a16:creationId xmlns:a16="http://schemas.microsoft.com/office/drawing/2014/main" id="{84897ECC-AB37-4EB7-9E4D-6F8ACE089302}"/>
              </a:ext>
            </a:extLst>
          </p:cNvPr>
          <p:cNvSpPr>
            <a:spLocks noGrp="1"/>
          </p:cNvSpPr>
          <p:nvPr>
            <p:ph idx="1"/>
          </p:nvPr>
        </p:nvSpPr>
        <p:spPr>
          <a:xfrm>
            <a:off x="275665" y="1936377"/>
            <a:ext cx="11640670" cy="3729317"/>
          </a:xfrm>
        </p:spPr>
        <p:txBody>
          <a:bodyPr>
            <a:normAutofit/>
          </a:bodyPr>
          <a:lstStyle/>
          <a:p>
            <a:pPr marL="457200" indent="-457200">
              <a:buFont typeface="+mj-lt"/>
              <a:buAutoNum type="arabicPeriod"/>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由</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Pangolin-</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CoV</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重組而來，其關鍵</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RBD</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附近應當相似，但</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buFont typeface="+mj-lt"/>
              <a:buAutoNum type="arabicPeriod"/>
            </a:pPr>
            <a:endParaRPr lang="en-US" altLang="zh-TW"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根據 </a:t>
            </a:r>
            <a:r>
              <a:rPr lang="en-US" altLang="zh-TW" sz="2400" dirty="0">
                <a:latin typeface="Times New Roman" panose="02020603050405020304" pitchFamily="18" charset="0"/>
                <a:cs typeface="Times New Roman" panose="02020603050405020304" pitchFamily="18" charset="0"/>
              </a:rPr>
              <a:t>synonymous substitution rate (u) of </a:t>
            </a:r>
            <a:r>
              <a:rPr lang="en-US" altLang="zh-TW" sz="2400" dirty="0">
                <a:solidFill>
                  <a:srgbClr val="FF0000"/>
                </a:solidFill>
                <a:latin typeface="Times New Roman" panose="02020603050405020304" pitchFamily="18" charset="0"/>
                <a:cs typeface="Times New Roman" panose="02020603050405020304" pitchFamily="18" charset="0"/>
              </a:rPr>
              <a:t>1.67</a:t>
            </a:r>
            <a:r>
              <a:rPr lang="zh-TW" altLang="en-US" sz="2400" dirty="0">
                <a:solidFill>
                  <a:srgbClr val="FF0000"/>
                </a:solidFill>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a:t>
            </a:r>
            <a:r>
              <a:rPr lang="zh-TW" altLang="en-US" sz="2400" dirty="0">
                <a:solidFill>
                  <a:srgbClr val="FF0000"/>
                </a:solidFill>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4.67 x 10</a:t>
            </a:r>
            <a:r>
              <a:rPr lang="en-US" altLang="zh-TW" sz="2400" baseline="30000" dirty="0">
                <a:solidFill>
                  <a:srgbClr val="FF0000"/>
                </a:solidFill>
                <a:latin typeface="Times New Roman" panose="02020603050405020304" pitchFamily="18" charset="0"/>
                <a:cs typeface="Times New Roman" panose="02020603050405020304" pitchFamily="18" charset="0"/>
              </a:rPr>
              <a:t>-3</a:t>
            </a:r>
            <a:r>
              <a:rPr lang="en-US" altLang="zh-TW" sz="2400" dirty="0">
                <a:solidFill>
                  <a:srgbClr val="FF0000"/>
                </a:solidFill>
                <a:latin typeface="Times New Roman" panose="02020603050405020304" pitchFamily="18" charset="0"/>
                <a:cs typeface="Times New Roman" panose="02020603050405020304" pitchFamily="18" charset="0"/>
              </a:rPr>
              <a:t>/site/year  </a:t>
            </a:r>
            <a:r>
              <a:rPr lang="en-US" altLang="zh-TW" sz="2400" dirty="0">
                <a:latin typeface="Times New Roman" panose="02020603050405020304" pitchFamily="18" charset="0"/>
                <a:cs typeface="Times New Roman" panose="02020603050405020304" pitchFamily="18" charset="0"/>
              </a:rPr>
              <a:t>( from SARS-</a:t>
            </a:r>
            <a:r>
              <a:rPr lang="en-US" altLang="zh-TW" sz="2400" dirty="0" err="1">
                <a:latin typeface="Times New Roman" panose="02020603050405020304" pitchFamily="18" charset="0"/>
                <a:cs typeface="Times New Roman" panose="02020603050405020304" pitchFamily="18" charset="0"/>
              </a:rPr>
              <a:t>CoV</a:t>
            </a:r>
            <a:r>
              <a:rPr lang="en-US" altLang="zh-TW" sz="2400" dirty="0">
                <a:latin typeface="Times New Roman" panose="02020603050405020304" pitchFamily="18" charset="0"/>
                <a:cs typeface="Times New Roman" panose="02020603050405020304" pitchFamily="18" charset="0"/>
              </a:rPr>
              <a:t> )</a:t>
            </a:r>
            <a:br>
              <a:rPr lang="en-US" altLang="zh-TW" sz="2400" dirty="0">
                <a:latin typeface="Times New Roman" panose="02020603050405020304" pitchFamily="18" charset="0"/>
                <a:cs typeface="Times New Roman" panose="02020603050405020304" pitchFamily="18" charset="0"/>
              </a:rPr>
            </a:b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則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GD</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Pangolin-</a:t>
            </a:r>
            <a:r>
              <a:rPr lang="en-US" altLang="zh-TW" sz="2400" dirty="0" err="1">
                <a:latin typeface="Times New Roman" panose="02020603050405020304" pitchFamily="18" charset="0"/>
                <a:cs typeface="Times New Roman" panose="02020603050405020304" pitchFamily="18" charset="0"/>
              </a:rPr>
              <a:t>CoV</a:t>
            </a:r>
            <a:r>
              <a:rPr lang="zh-TW" altLang="en-US" sz="2400" dirty="0">
                <a:latin typeface="Times New Roman" panose="02020603050405020304" pitchFamily="18" charset="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重組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滲入</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，估計約於</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19.8</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55.4</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年前即開始。</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因此，</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不太可能短期內由</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Pangolin-</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CoV</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重組而來，推測：</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buFont typeface="+mj-lt"/>
              <a:buAutoNum type="arabicPeriod"/>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RaTG13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有可能才是從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突變的</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buFont typeface="+mj-lt"/>
              <a:buAutoNum type="arabicPeriod"/>
            </a:pPr>
            <a:r>
              <a:rPr lang="zh-TW" altLang="en-US" sz="2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隨機突變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因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Spike Protein</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突變率極高</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加上 天擇</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zh-TW" altLang="en-US" sz="2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732124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D28443-BFFC-409F-8E0B-48554EE044FE}"/>
              </a:ext>
            </a:extLst>
          </p:cNvPr>
          <p:cNvSpPr>
            <a:spLocks noGrp="1"/>
          </p:cNvSpPr>
          <p:nvPr>
            <p:ph type="title"/>
          </p:nvPr>
        </p:nvSpPr>
        <p:spPr/>
        <p:txBody>
          <a:bodyPr/>
          <a:lstStyle/>
          <a:p>
            <a:r>
              <a:rPr lang="en-US" altLang="zh-TW" dirty="0" err="1">
                <a:latin typeface="Times New Roman" panose="02020603050405020304" pitchFamily="18" charset="0"/>
                <a:ea typeface="Tahoma" panose="020B0604030504040204" pitchFamily="34" charset="0"/>
                <a:cs typeface="Times New Roman" panose="02020603050405020304" pitchFamily="18" charset="0"/>
              </a:rPr>
              <a:t>dN</a:t>
            </a:r>
            <a:r>
              <a:rPr lang="en-US" altLang="zh-TW" dirty="0">
                <a:latin typeface="Times New Roman" panose="02020603050405020304" pitchFamily="18" charset="0"/>
                <a:ea typeface="Tahoma" panose="020B0604030504040204" pitchFamily="34" charset="0"/>
                <a:cs typeface="Times New Roman" panose="02020603050405020304" pitchFamily="18" charset="0"/>
              </a:rPr>
              <a:t>/</a:t>
            </a:r>
            <a:r>
              <a:rPr lang="en-US" altLang="zh-TW" dirty="0" err="1">
                <a:latin typeface="Times New Roman" panose="02020603050405020304" pitchFamily="18" charset="0"/>
                <a:ea typeface="Tahoma" panose="020B0604030504040204" pitchFamily="34" charset="0"/>
                <a:cs typeface="Times New Roman" panose="02020603050405020304" pitchFamily="18" charset="0"/>
              </a:rPr>
              <a:t>dS</a:t>
            </a:r>
            <a:r>
              <a:rPr lang="en-US" altLang="zh-TW" dirty="0">
                <a:latin typeface="Times New Roman" panose="02020603050405020304" pitchFamily="18" charset="0"/>
                <a:ea typeface="Tahoma" panose="020B0604030504040204" pitchFamily="34" charset="0"/>
                <a:cs typeface="Times New Roman" panose="02020603050405020304" pitchFamily="18" charset="0"/>
              </a:rPr>
              <a:t> Ratio</a:t>
            </a:r>
            <a:r>
              <a:rPr lang="zh-TW" altLang="en-US" dirty="0">
                <a:latin typeface="Times New Roman" panose="02020603050405020304" pitchFamily="18" charset="0"/>
                <a:ea typeface="Tahoma" panose="020B0604030504040204" pitchFamily="34" charset="0"/>
                <a:cs typeface="Times New Roman" panose="02020603050405020304" pitchFamily="18" charset="0"/>
              </a:rPr>
              <a:t> </a:t>
            </a:r>
            <a:r>
              <a:rPr lang="en-US" altLang="zh-TW" dirty="0">
                <a:latin typeface="Times New Roman" panose="02020603050405020304" pitchFamily="18" charset="0"/>
                <a:ea typeface="Tahoma" panose="020B0604030504040204" pitchFamily="34" charset="0"/>
                <a:cs typeface="Times New Roman" panose="02020603050405020304" pitchFamily="18" charset="0"/>
              </a:rPr>
              <a:t>(ω)</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C5FBFDB-D75D-4F94-8C24-8D72A8498C0E}"/>
              </a:ext>
            </a:extLst>
          </p:cNvPr>
          <p:cNvSpPr>
            <a:spLocks noGrp="1"/>
          </p:cNvSpPr>
          <p:nvPr>
            <p:ph idx="1"/>
          </p:nvPr>
        </p:nvSpPr>
        <p:spPr>
          <a:xfrm>
            <a:off x="838200" y="1825625"/>
            <a:ext cx="6096000" cy="4306234"/>
          </a:xfrm>
        </p:spPr>
        <p:txBody>
          <a:bodyPr>
            <a:normAutofit/>
          </a:bodyPr>
          <a:lstStyle/>
          <a:p>
            <a:pPr marL="0" indent="0">
              <a:buNone/>
            </a:pPr>
            <a:r>
              <a:rPr lang="en-US" altLang="zh-TW" sz="2400" dirty="0">
                <a:solidFill>
                  <a:srgbClr val="FF0000"/>
                </a:solidFill>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on-synonymous mutation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異義突變</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通常導致有害結果</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r>
              <a:rPr lang="en-US" altLang="zh-TW" sz="2400" dirty="0">
                <a:solidFill>
                  <a:srgbClr val="FF0000"/>
                </a:solidFill>
                <a:latin typeface="Times New Roman" panose="02020603050405020304" pitchFamily="18" charset="0"/>
                <a:cs typeface="Times New Roman" panose="02020603050405020304" pitchFamily="18" charset="0"/>
              </a:rPr>
              <a:t>S</a:t>
            </a:r>
            <a:r>
              <a:rPr lang="en-US" altLang="zh-TW" sz="2400" dirty="0">
                <a:latin typeface="Times New Roman" panose="02020603050405020304" pitchFamily="18" charset="0"/>
                <a:cs typeface="Times New Roman" panose="02020603050405020304" pitchFamily="18" charset="0"/>
              </a:rPr>
              <a:t>ynonymous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mutation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同義突變</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無害亦無幫助</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ω &gt; 1 </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positive selection</a:t>
            </a:r>
            <a:br>
              <a:rPr lang="en-US" altLang="zh-TW" sz="2400" dirty="0">
                <a:latin typeface="Times New Roman" panose="02020603050405020304" pitchFamily="18" charset="0"/>
                <a:ea typeface="Tahoma" panose="020B0604030504040204" pitchFamily="34" charset="0"/>
                <a:cs typeface="Times New Roman" panose="02020603050405020304" pitchFamily="18" charset="0"/>
              </a:rPr>
            </a:b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突變對自身有利</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0" indent="0">
              <a:buNone/>
            </a:pP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ω &lt; 1 </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a:t>
            </a: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negative selection</a:t>
            </a:r>
            <a:br>
              <a:rPr lang="en-US" altLang="zh-TW" sz="2400" dirty="0">
                <a:latin typeface="Times New Roman" panose="02020603050405020304" pitchFamily="18" charset="0"/>
                <a:ea typeface="Tahoma" panose="020B0604030504040204" pitchFamily="34" charset="0"/>
                <a:cs typeface="Times New Roman" panose="02020603050405020304" pitchFamily="18" charset="0"/>
              </a:rPr>
            </a:b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突變對自身有害，並純化</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修復</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p>
          <a:p>
            <a:pPr marL="0" indent="0">
              <a:buNone/>
            </a:pP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ω </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a:t>
            </a: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neutral selection</a:t>
            </a:r>
            <a:endParaRPr lang="en-US" altLang="zh-TW" sz="2400" dirty="0">
              <a:latin typeface="Times New Roman" panose="02020603050405020304" pitchFamily="18" charset="0"/>
              <a:cs typeface="Times New Roman" panose="02020603050405020304" pitchFamily="18" charset="0"/>
            </a:endParaRPr>
          </a:p>
        </p:txBody>
      </p:sp>
      <p:pic>
        <p:nvPicPr>
          <p:cNvPr id="5" name="圖片 4" descr="一張含有 團體 的圖片&#10;&#10;自動產生的描述">
            <a:extLst>
              <a:ext uri="{FF2B5EF4-FFF2-40B4-BE49-F238E27FC236}">
                <a16:creationId xmlns:a16="http://schemas.microsoft.com/office/drawing/2014/main" id="{D07425B7-4981-490C-A362-0DA2D5E2D4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410" y="2298885"/>
            <a:ext cx="5257800" cy="4505325"/>
          </a:xfrm>
          <a:prstGeom prst="rect">
            <a:avLst/>
          </a:prstGeom>
        </p:spPr>
      </p:pic>
      <p:sp>
        <p:nvSpPr>
          <p:cNvPr id="6" name="矩形 5">
            <a:extLst>
              <a:ext uri="{FF2B5EF4-FFF2-40B4-BE49-F238E27FC236}">
                <a16:creationId xmlns:a16="http://schemas.microsoft.com/office/drawing/2014/main" id="{3BAAA07B-DB87-4164-BB39-FF1481CFB5E1}"/>
              </a:ext>
            </a:extLst>
          </p:cNvPr>
          <p:cNvSpPr/>
          <p:nvPr/>
        </p:nvSpPr>
        <p:spPr>
          <a:xfrm>
            <a:off x="10560424" y="4921624"/>
            <a:ext cx="959223" cy="421341"/>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dirty="0"/>
          </a:p>
        </p:txBody>
      </p:sp>
      <p:sp>
        <p:nvSpPr>
          <p:cNvPr id="7" name="矩形 6">
            <a:extLst>
              <a:ext uri="{FF2B5EF4-FFF2-40B4-BE49-F238E27FC236}">
                <a16:creationId xmlns:a16="http://schemas.microsoft.com/office/drawing/2014/main" id="{52F70959-239A-4615-B4A8-A3857CDE963D}"/>
              </a:ext>
            </a:extLst>
          </p:cNvPr>
          <p:cNvSpPr/>
          <p:nvPr/>
        </p:nvSpPr>
        <p:spPr>
          <a:xfrm>
            <a:off x="7458636" y="3411070"/>
            <a:ext cx="582705" cy="2017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443D4EAB-0C5A-4368-9B5D-8CD3D188187B}"/>
              </a:ext>
            </a:extLst>
          </p:cNvPr>
          <p:cNvSpPr/>
          <p:nvPr/>
        </p:nvSpPr>
        <p:spPr>
          <a:xfrm>
            <a:off x="8471649" y="3411070"/>
            <a:ext cx="582705" cy="2017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單箭頭接點 9">
            <a:extLst>
              <a:ext uri="{FF2B5EF4-FFF2-40B4-BE49-F238E27FC236}">
                <a16:creationId xmlns:a16="http://schemas.microsoft.com/office/drawing/2014/main" id="{1BC3A3F8-396A-4561-A0B3-D61EEE6FB00B}"/>
              </a:ext>
            </a:extLst>
          </p:cNvPr>
          <p:cNvCxnSpPr>
            <a:cxnSpLocks/>
          </p:cNvCxnSpPr>
          <p:nvPr/>
        </p:nvCxnSpPr>
        <p:spPr>
          <a:xfrm>
            <a:off x="8041341" y="3502958"/>
            <a:ext cx="430308"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E7B2F4A3-8990-4AF5-A70C-1D88702DE223}"/>
              </a:ext>
            </a:extLst>
          </p:cNvPr>
          <p:cNvSpPr txBox="1"/>
          <p:nvPr/>
        </p:nvSpPr>
        <p:spPr>
          <a:xfrm>
            <a:off x="7749988" y="1560444"/>
            <a:ext cx="468630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28144                             8782               </a:t>
            </a:r>
            <a:endParaRPr lang="zh-TW" altLang="en-US" sz="2400" dirty="0">
              <a:latin typeface="Times New Roman" panose="02020603050405020304" pitchFamily="18" charset="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DBAF7F55-C0B3-4840-990E-50A538668CD6}"/>
              </a:ext>
            </a:extLst>
          </p:cNvPr>
          <p:cNvCxnSpPr/>
          <p:nvPr/>
        </p:nvCxnSpPr>
        <p:spPr>
          <a:xfrm>
            <a:off x="8202708" y="1976207"/>
            <a:ext cx="0" cy="153571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9FB96F93-0816-4042-949B-128EE5CD7C7B}"/>
              </a:ext>
            </a:extLst>
          </p:cNvPr>
          <p:cNvCxnSpPr>
            <a:cxnSpLocks/>
          </p:cNvCxnSpPr>
          <p:nvPr/>
        </p:nvCxnSpPr>
        <p:spPr>
          <a:xfrm>
            <a:off x="11129686" y="1976207"/>
            <a:ext cx="0" cy="294541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9281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a:extLst>
              <a:ext uri="{FF2B5EF4-FFF2-40B4-BE49-F238E27FC236}">
                <a16:creationId xmlns:a16="http://schemas.microsoft.com/office/drawing/2014/main" id="{2D384478-DA17-46E1-B657-6CEDA9D3C1AF}"/>
              </a:ext>
            </a:extLst>
          </p:cNvPr>
          <p:cNvGrpSpPr/>
          <p:nvPr/>
        </p:nvGrpSpPr>
        <p:grpSpPr>
          <a:xfrm>
            <a:off x="2345967" y="0"/>
            <a:ext cx="7500065" cy="6858000"/>
            <a:chOff x="2345967" y="0"/>
            <a:chExt cx="7500065" cy="6858000"/>
          </a:xfrm>
        </p:grpSpPr>
        <p:pic>
          <p:nvPicPr>
            <p:cNvPr id="4" name="圖片 3">
              <a:extLst>
                <a:ext uri="{FF2B5EF4-FFF2-40B4-BE49-F238E27FC236}">
                  <a16:creationId xmlns:a16="http://schemas.microsoft.com/office/drawing/2014/main" id="{8CBADDED-951D-4453-8DCB-B451363D4BA6}"/>
                </a:ext>
              </a:extLst>
            </p:cNvPr>
            <p:cNvPicPr>
              <a:picLocks noChangeAspect="1"/>
            </p:cNvPicPr>
            <p:nvPr/>
          </p:nvPicPr>
          <p:blipFill>
            <a:blip r:embed="rId2"/>
            <a:stretch>
              <a:fillRect/>
            </a:stretch>
          </p:blipFill>
          <p:spPr>
            <a:xfrm>
              <a:off x="2345967" y="0"/>
              <a:ext cx="7500065" cy="6858000"/>
            </a:xfrm>
            <a:prstGeom prst="rect">
              <a:avLst/>
            </a:prstGeom>
          </p:spPr>
        </p:pic>
        <p:sp>
          <p:nvSpPr>
            <p:cNvPr id="5" name="矩形 4">
              <a:extLst>
                <a:ext uri="{FF2B5EF4-FFF2-40B4-BE49-F238E27FC236}">
                  <a16:creationId xmlns:a16="http://schemas.microsoft.com/office/drawing/2014/main" id="{736ED547-322C-467D-9B24-3750BA49B80F}"/>
                </a:ext>
              </a:extLst>
            </p:cNvPr>
            <p:cNvSpPr/>
            <p:nvPr/>
          </p:nvSpPr>
          <p:spPr>
            <a:xfrm>
              <a:off x="2345967" y="959225"/>
              <a:ext cx="7380739" cy="6633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827330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F7C212-74C4-4ABE-88BE-457FC2FF9D8D}"/>
              </a:ext>
            </a:extLst>
          </p:cNvPr>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突變</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同時感染</a:t>
            </a:r>
            <a:r>
              <a:rPr lang="en-US" altLang="zh-TW" dirty="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pic>
        <p:nvPicPr>
          <p:cNvPr id="4" name="圖片 3">
            <a:extLst>
              <a:ext uri="{FF2B5EF4-FFF2-40B4-BE49-F238E27FC236}">
                <a16:creationId xmlns:a16="http://schemas.microsoft.com/office/drawing/2014/main" id="{C2BDDF91-EC46-4946-9074-2ED2710EA7A2}"/>
              </a:ext>
            </a:extLst>
          </p:cNvPr>
          <p:cNvPicPr>
            <a:picLocks noChangeAspect="1"/>
          </p:cNvPicPr>
          <p:nvPr/>
        </p:nvPicPr>
        <p:blipFill>
          <a:blip r:embed="rId2"/>
          <a:stretch>
            <a:fillRect/>
          </a:stretch>
        </p:blipFill>
        <p:spPr>
          <a:xfrm>
            <a:off x="2523626" y="2115081"/>
            <a:ext cx="7144747" cy="3772426"/>
          </a:xfrm>
          <a:prstGeom prst="rect">
            <a:avLst/>
          </a:prstGeom>
        </p:spPr>
      </p:pic>
    </p:spTree>
    <p:extLst>
      <p:ext uri="{BB962C8B-B14F-4D97-AF65-F5344CB8AC3E}">
        <p14:creationId xmlns:p14="http://schemas.microsoft.com/office/powerpoint/2010/main" val="3614787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E7387-7CF4-4374-939F-4E6200F2FFC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Summary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E44137F-B4F2-4518-A010-4C3A81D0253D}"/>
              </a:ext>
            </a:extLst>
          </p:cNvPr>
          <p:cNvSpPr>
            <a:spLocks noGrp="1"/>
          </p:cNvSpPr>
          <p:nvPr>
            <p:ph idx="1"/>
          </p:nvPr>
        </p:nvSpPr>
        <p:spPr>
          <a:xfrm>
            <a:off x="838200" y="1469613"/>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SARS-CoV-2 </a:t>
            </a:r>
            <a:r>
              <a:rPr lang="zh-TW" altLang="en-US" sz="2400">
                <a:latin typeface="標楷體" panose="03000509000000000000" pitchFamily="65" charset="-120"/>
                <a:ea typeface="標楷體" panose="03000509000000000000" pitchFamily="65" charset="-120"/>
                <a:cs typeface="Times New Roman" panose="02020603050405020304" pitchFamily="18" charset="0"/>
              </a:rPr>
              <a:t>為實驗室人為產品</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機率不高</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SARS-CoV-2</a:t>
            </a:r>
            <a:r>
              <a:rPr lang="zh-TW" altLang="en-US" sz="2400" dirty="0"/>
              <a:t> </a:t>
            </a:r>
            <a:r>
              <a:rPr lang="zh-TW" altLang="en-US" sz="2400" dirty="0">
                <a:latin typeface="標楷體" panose="03000509000000000000" pitchFamily="65" charset="-120"/>
                <a:ea typeface="標楷體" panose="03000509000000000000" pitchFamily="65" charset="-120"/>
              </a:rPr>
              <a:t>由穿山甲內的病毒演化而來的機率較高。</a:t>
            </a:r>
            <a:endParaRPr lang="en-US" altLang="zh-TW" sz="2400" dirty="0">
              <a:latin typeface="標楷體" panose="03000509000000000000" pitchFamily="65" charset="-120"/>
              <a:ea typeface="標楷體" panose="03000509000000000000" pitchFamily="65" charset="-12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SARS-CoV-2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現存兩種主流亞種</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(L type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type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7:3)</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b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b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其中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 type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較為古老，可能為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L</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type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的祖病毒。</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DA76F18B-CE92-425E-9ED7-B54CE1D5E132}"/>
              </a:ext>
            </a:extLst>
          </p:cNvPr>
          <p:cNvPicPr>
            <a:picLocks noChangeAspect="1"/>
          </p:cNvPicPr>
          <p:nvPr/>
        </p:nvPicPr>
        <p:blipFill>
          <a:blip r:embed="rId2"/>
          <a:stretch>
            <a:fillRect/>
          </a:stretch>
        </p:blipFill>
        <p:spPr>
          <a:xfrm>
            <a:off x="838200" y="3249089"/>
            <a:ext cx="4761524" cy="3608911"/>
          </a:xfrm>
          <a:prstGeom prst="rect">
            <a:avLst/>
          </a:prstGeom>
        </p:spPr>
      </p:pic>
      <p:graphicFrame>
        <p:nvGraphicFramePr>
          <p:cNvPr id="10" name="圖表 9">
            <a:extLst>
              <a:ext uri="{FF2B5EF4-FFF2-40B4-BE49-F238E27FC236}">
                <a16:creationId xmlns:a16="http://schemas.microsoft.com/office/drawing/2014/main" id="{7A0DAAA8-F171-44C0-ABCF-6E833B3AD9A3}"/>
              </a:ext>
            </a:extLst>
          </p:cNvPr>
          <p:cNvGraphicFramePr/>
          <p:nvPr>
            <p:extLst>
              <p:ext uri="{D42A27DB-BD31-4B8C-83A1-F6EECF244321}">
                <p14:modId xmlns:p14="http://schemas.microsoft.com/office/powerpoint/2010/main" val="3869578559"/>
              </p:ext>
            </p:extLst>
          </p:nvPr>
        </p:nvGraphicFramePr>
        <p:xfrm>
          <a:off x="6097265" y="3396552"/>
          <a:ext cx="5256535" cy="3313984"/>
        </p:xfrm>
        <a:graphic>
          <a:graphicData uri="http://schemas.openxmlformats.org/drawingml/2006/chart">
            <c:chart xmlns:c="http://schemas.openxmlformats.org/drawingml/2006/chart" xmlns:r="http://schemas.openxmlformats.org/officeDocument/2006/relationships" r:id="rId3"/>
          </a:graphicData>
        </a:graphic>
      </p:graphicFrame>
      <p:sp>
        <p:nvSpPr>
          <p:cNvPr id="12" name="文字方塊 11">
            <a:extLst>
              <a:ext uri="{FF2B5EF4-FFF2-40B4-BE49-F238E27FC236}">
                <a16:creationId xmlns:a16="http://schemas.microsoft.com/office/drawing/2014/main" id="{9164C05C-21F5-4582-A85D-0F223A526010}"/>
              </a:ext>
            </a:extLst>
          </p:cNvPr>
          <p:cNvSpPr txBox="1"/>
          <p:nvPr/>
        </p:nvSpPr>
        <p:spPr>
          <a:xfrm>
            <a:off x="8991601" y="4463018"/>
            <a:ext cx="858982"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40.0%</a:t>
            </a:r>
            <a:endParaRPr lang="zh-TW" altLang="en-US"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2453392C-57CD-441E-B388-05299BD315C1}"/>
              </a:ext>
            </a:extLst>
          </p:cNvPr>
          <p:cNvSpPr txBox="1"/>
          <p:nvPr/>
        </p:nvSpPr>
        <p:spPr>
          <a:xfrm>
            <a:off x="7061200" y="3761363"/>
            <a:ext cx="858982"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19.3%</a:t>
            </a:r>
            <a:endParaRPr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69EB29FC-E098-4D5D-AD23-ACC0C8DDEEB2}"/>
              </a:ext>
            </a:extLst>
          </p:cNvPr>
          <p:cNvSpPr txBox="1"/>
          <p:nvPr/>
        </p:nvSpPr>
        <p:spPr>
          <a:xfrm>
            <a:off x="9000837" y="5451619"/>
            <a:ext cx="858982"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60.0%</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816167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926</TotalTime>
  <Words>1412</Words>
  <Application>Microsoft Office PowerPoint</Application>
  <PresentationFormat>寬螢幕</PresentationFormat>
  <Paragraphs>133</Paragraphs>
  <Slides>23</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23</vt:i4>
      </vt:variant>
    </vt:vector>
  </HeadingPairs>
  <TitlesOfParts>
    <vt:vector size="29" baseType="lpstr">
      <vt:lpstr>標楷體</vt:lpstr>
      <vt:lpstr>Arial</vt:lpstr>
      <vt:lpstr>Calibri</vt:lpstr>
      <vt:lpstr>Calibri Light</vt:lpstr>
      <vt:lpstr>Times New Roman</vt:lpstr>
      <vt:lpstr>Office 佈景主題</vt:lpstr>
      <vt:lpstr>The Origin of SARS-CoV-2</vt:lpstr>
      <vt:lpstr>The Proximal Origin of SARS-CoV-2 </vt:lpstr>
      <vt:lpstr>Similarity</vt:lpstr>
      <vt:lpstr>But…</vt:lpstr>
      <vt:lpstr>PowerPoint 簡報</vt:lpstr>
      <vt:lpstr>Receptor-binding Domain (RBD)</vt:lpstr>
      <vt:lpstr>O-linked glycan (O-醣基化)</vt:lpstr>
      <vt:lpstr>Evolution</vt:lpstr>
      <vt:lpstr>Evolution – In Animal</vt:lpstr>
      <vt:lpstr>Evolution – In Humans</vt:lpstr>
      <vt:lpstr>Evolution – During Passage</vt:lpstr>
      <vt:lpstr>On the Origin and Continuing Evolution of SARS-CoV-2</vt:lpstr>
      <vt:lpstr>Abstract(1/3)</vt:lpstr>
      <vt:lpstr>Abstract(2/3)</vt:lpstr>
      <vt:lpstr>Abstract(3/3)</vt:lpstr>
      <vt:lpstr>L and S types of SARS-CoV-2</vt:lpstr>
      <vt:lpstr>Linkage Disequilibrium (LD)</vt:lpstr>
      <vt:lpstr>PowerPoint 簡報</vt:lpstr>
      <vt:lpstr>演化推測</vt:lpstr>
      <vt:lpstr>dN/dS Ratio (ω)</vt:lpstr>
      <vt:lpstr>PowerPoint 簡報</vt:lpstr>
      <vt:lpstr>突變? 同時感染?</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Origin of SARS-CoV-2</dc:title>
  <dc:creator>育誠 張</dc:creator>
  <cp:lastModifiedBy>育誠 張</cp:lastModifiedBy>
  <cp:revision>111</cp:revision>
  <dcterms:created xsi:type="dcterms:W3CDTF">2020-05-17T05:35:43Z</dcterms:created>
  <dcterms:modified xsi:type="dcterms:W3CDTF">2020-05-20T09:46:18Z</dcterms:modified>
</cp:coreProperties>
</file>