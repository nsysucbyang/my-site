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321" r:id="rId2"/>
    <p:sldId id="311" r:id="rId3"/>
    <p:sldId id="322" r:id="rId4"/>
    <p:sldId id="328" r:id="rId5"/>
    <p:sldId id="324" r:id="rId6"/>
    <p:sldId id="326" r:id="rId7"/>
    <p:sldId id="327" r:id="rId8"/>
    <p:sldId id="331" r:id="rId9"/>
    <p:sldId id="32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3971" autoAdjust="0"/>
  </p:normalViewPr>
  <p:slideViewPr>
    <p:cSldViewPr snapToGrid="0">
      <p:cViewPr varScale="1">
        <p:scale>
          <a:sx n="108" d="100"/>
          <a:sy n="108" d="100"/>
        </p:scale>
        <p:origin x="1746"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2020/5/20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smtClean="0">
                <a:solidFill>
                  <a:schemeClr val="tx1"/>
                </a:solidFill>
                <a:effectLst/>
                <a:latin typeface="+mn-lt"/>
                <a:ea typeface="+mn-ea"/>
                <a:cs typeface="+mn-cs"/>
              </a:rPr>
              <a:t>聖胡安是美國自治領地波多黎各的首府和最大城市</a:t>
            </a:r>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2020/5/20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8" y="985421"/>
            <a:ext cx="8348184" cy="1175884"/>
          </a:xfrm>
        </p:spPr>
        <p:txBody>
          <a:bodyPr>
            <a:noAutofit/>
          </a:bodyPr>
          <a:lstStyle/>
          <a:p>
            <a:r>
              <a:rPr lang="en-US" altLang="zh-TW" sz="3600" dirty="0">
                <a:latin typeface="Times New Roman" panose="02020603050405020304" pitchFamily="18" charset="0"/>
                <a:cs typeface="Times New Roman" panose="02020603050405020304" pitchFamily="18" charset="0"/>
              </a:rPr>
              <a:t>Task Scheduling Algorithms for Heterogeneous Processors</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44993" y="2819042"/>
            <a:ext cx="8536249" cy="927245"/>
          </a:xfrm>
        </p:spPr>
        <p:txBody>
          <a:bodyPr>
            <a:noAutofit/>
          </a:bodyPr>
          <a:lstStyle/>
          <a:p>
            <a:r>
              <a:rPr lang="en-US" altLang="zh-TW" dirty="0" err="1">
                <a:latin typeface="Times New Roman" panose="02020603050405020304" pitchFamily="18" charset="0"/>
                <a:cs typeface="Times New Roman" panose="02020603050405020304" pitchFamily="18" charset="0"/>
              </a:rPr>
              <a:t>Haluk</a:t>
            </a:r>
            <a:r>
              <a:rPr lang="en-US" altLang="zh-TW" dirty="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Topcuoglu</a:t>
            </a:r>
            <a:r>
              <a:rPr lang="en-US" altLang="zh-TW" dirty="0" smtClean="0">
                <a:latin typeface="Times New Roman" panose="02020603050405020304" pitchFamily="18" charset="0"/>
                <a:cs typeface="Times New Roman" panose="02020603050405020304" pitchFamily="18" charset="0"/>
              </a:rPr>
              <a:t>, Salim Hariri, Min-You </a:t>
            </a:r>
            <a:r>
              <a:rPr lang="en-US" altLang="zh-TW" dirty="0">
                <a:latin typeface="Times New Roman" panose="02020603050405020304" pitchFamily="18" charset="0"/>
                <a:cs typeface="Times New Roman" panose="02020603050405020304" pitchFamily="18" charset="0"/>
              </a:rPr>
              <a:t>Wu</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192159" y="5487972"/>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cs typeface="Times New Roman" panose="02020603050405020304" pitchFamily="18" charset="0"/>
              </a:rPr>
              <a:t> </a:t>
            </a:r>
            <a:r>
              <a:rPr lang="en-US" altLang="zh-TW" sz="1800" dirty="0" err="1" smtClean="0">
                <a:latin typeface="Times New Roman" panose="02020603050405020304" pitchFamily="18" charset="0"/>
                <a:cs typeface="Times New Roman" panose="02020603050405020304" pitchFamily="18" charset="0"/>
              </a:rPr>
              <a:t>Chih</a:t>
            </a:r>
            <a:r>
              <a:rPr lang="en-US" altLang="zh-TW" sz="1800" dirty="0" smtClean="0">
                <a:latin typeface="Times New Roman" panose="02020603050405020304" pitchFamily="18" charset="0"/>
                <a:cs typeface="Times New Roman" panose="02020603050405020304" pitchFamily="18" charset="0"/>
              </a:rPr>
              <a:t>-Kai Wu</a:t>
            </a:r>
          </a:p>
          <a:p>
            <a:pPr algn="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Date: MAY.20,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919585" y="3878406"/>
            <a:ext cx="7758747" cy="716529"/>
          </a:xfrm>
          <a:prstGeom prst="rect">
            <a:avLst/>
          </a:prstGeom>
        </p:spPr>
        <p:txBody>
          <a:bodyPr wrap="square">
            <a:spAutoFit/>
          </a:bodyPr>
          <a:lstStyle/>
          <a:p>
            <a:r>
              <a:rPr lang="en-US" altLang="zh-TW" sz="2000" dirty="0" smtClean="0">
                <a:latin typeface="Times New Roman" panose="02020603050405020304" pitchFamily="18" charset="0"/>
                <a:cs typeface="Times New Roman" panose="02020603050405020304" pitchFamily="18" charset="0"/>
              </a:rPr>
              <a:t>Eighth </a:t>
            </a:r>
            <a:r>
              <a:rPr lang="en-US" altLang="zh-TW" sz="2000" dirty="0">
                <a:latin typeface="Times New Roman" panose="02020603050405020304" pitchFamily="18" charset="0"/>
                <a:cs typeface="Times New Roman" panose="02020603050405020304" pitchFamily="18" charset="0"/>
              </a:rPr>
              <a:t>Heterogeneous Computing Workshop </a:t>
            </a:r>
            <a:r>
              <a:rPr lang="en-US" altLang="zh-TW" sz="2000" dirty="0" smtClean="0">
                <a:latin typeface="Times New Roman" panose="02020603050405020304" pitchFamily="18" charset="0"/>
                <a:cs typeface="Times New Roman" panose="02020603050405020304" pitchFamily="18" charset="0"/>
              </a:rPr>
              <a:t>1999, April 12, </a:t>
            </a:r>
            <a:r>
              <a:rPr lang="es-ES" altLang="zh-TW" sz="2000" dirty="0" smtClean="0">
                <a:latin typeface="Times New Roman" panose="02020603050405020304" pitchFamily="18" charset="0"/>
                <a:cs typeface="Times New Roman" panose="02020603050405020304" pitchFamily="18" charset="0"/>
              </a:rPr>
              <a:t>San </a:t>
            </a:r>
            <a:r>
              <a:rPr lang="es-ES" altLang="zh-TW" sz="2000" dirty="0">
                <a:latin typeface="Times New Roman" panose="02020603050405020304" pitchFamily="18" charset="0"/>
                <a:cs typeface="Times New Roman" panose="02020603050405020304" pitchFamily="18" charset="0"/>
              </a:rPr>
              <a:t>Juan, Puerto Rico, </a:t>
            </a:r>
            <a:r>
              <a:rPr lang="es-ES" altLang="zh-TW" sz="2000" dirty="0" smtClean="0">
                <a:latin typeface="Times New Roman" panose="02020603050405020304" pitchFamily="18" charset="0"/>
                <a:cs typeface="Times New Roman" panose="02020603050405020304" pitchFamily="18" charset="0"/>
              </a:rPr>
              <a:t>USA</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a:t>
            </a:r>
            <a:r>
              <a:rPr lang="zh-TW" altLang="en-US" sz="3200" b="1" dirty="0" smtClean="0">
                <a:latin typeface="Times New Roman" panose="02020603050405020304" pitchFamily="18" charset="0"/>
                <a:cs typeface="Times New Roman" panose="02020603050405020304" pitchFamily="18" charset="0"/>
              </a:rPr>
              <a:t> </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44067"/>
            <a:ext cx="9004993" cy="5131633"/>
          </a:xfrm>
        </p:spPr>
        <p:txBody>
          <a:bodyPr>
            <a:noAutofit/>
          </a:bodyPr>
          <a:lstStyle/>
          <a:p>
            <a:pPr marL="0" indent="0">
              <a:lnSpc>
                <a:spcPts val="3200"/>
              </a:lnSpc>
              <a:buNone/>
            </a:pPr>
            <a:r>
              <a:rPr lang="en-US" altLang="zh-TW" sz="2400" dirty="0">
                <a:latin typeface="Times New Roman" panose="02020603050405020304" pitchFamily="18" charset="0"/>
                <a:cs typeface="Times New Roman" panose="02020603050405020304" pitchFamily="18" charset="0"/>
              </a:rPr>
              <a:t>Scheduling computation tasks on processors is the key issue for high-performance computing. Although a large number of scheduling heuristics have been presented in the literature, most of them target only homogeneous resources. The existing algorithms for heterogeneous domains are not generally efficient because of their high complexity and/or the quality of the results. We present two low-complexity efficient heuristics, the Heterogeneous Earliest-Finish-Time (HEFT) algorithm and the Critical-Path-on-a-Processor (CPOP) algorithm for scheduling directed acyclic weighted task graphs (DAGs) on a bounded number of heterogeneous processors. We compared the performances of these algorithms against three previously proposed heuristics. The comparison study showed that our algorithms outperform previous approaches in terms of performance (schedule length ratio and speedup) and cost (time-complexity</a:t>
            </a:r>
            <a:r>
              <a:rPr lang="en-US" altLang="zh-TW" sz="2400" dirty="0" smtClean="0">
                <a:latin typeface="Times New Roman" panose="02020603050405020304" pitchFamily="18" charset="0"/>
                <a:cs typeface="Times New Roman" panose="02020603050405020304" pitchFamily="18" charset="0"/>
              </a:rPr>
              <a:t>). </a:t>
            </a: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 HEFT </a:t>
            </a:r>
            <a:r>
              <a:rPr lang="en-US" altLang="zh-TW" dirty="0" smtClean="0">
                <a:latin typeface="Times New Roman" panose="02020603050405020304" pitchFamily="18" charset="0"/>
                <a:cs typeface="Times New Roman" panose="02020603050405020304" pitchFamily="18" charset="0"/>
              </a:rPr>
              <a:t>Algorithm</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512" y="2145171"/>
            <a:ext cx="8128694" cy="2198326"/>
          </a:xfrm>
        </p:spPr>
      </p:pic>
      <mc:AlternateContent xmlns:mc="http://schemas.openxmlformats.org/markup-compatibility/2006" xmlns:a14="http://schemas.microsoft.com/office/drawing/2010/main">
        <mc:Choice Requires="a14">
          <p:sp>
            <p:nvSpPr>
              <p:cNvPr id="5" name="矩形 4"/>
              <p:cNvSpPr/>
              <p:nvPr/>
            </p:nvSpPr>
            <p:spPr>
              <a:xfrm>
                <a:off x="555331" y="4797979"/>
                <a:ext cx="4194221" cy="400110"/>
              </a:xfrm>
              <a:prstGeom prst="rect">
                <a:avLst/>
              </a:prstGeom>
            </p:spPr>
            <p:txBody>
              <a:bodyPr wrap="square">
                <a:spAutoFit/>
              </a:bodyPr>
              <a:lstStyle/>
              <a:p>
                <a:r>
                  <a:rPr lang="en-US" altLang="zh-TW" sz="2000" dirty="0" smtClean="0">
                    <a:latin typeface="Times New Roman" panose="02020603050405020304" pitchFamily="18" charset="0"/>
                    <a:cs typeface="Times New Roman" panose="02020603050405020304" pitchFamily="18" charset="0"/>
                  </a:rPr>
                  <a:t>time-complexity</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O( </a:t>
                </a:r>
                <a14:m>
                  <m:oMath xmlns:m="http://schemas.openxmlformats.org/officeDocument/2006/math">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𝑣</m:t>
                        </m:r>
                      </m:e>
                      <m:sup>
                        <m:r>
                          <a:rPr lang="en-US" altLang="zh-TW" sz="2000" b="0" i="1" smtClean="0">
                            <a:latin typeface="Cambria Math" panose="02040503050406030204" pitchFamily="18" charset="0"/>
                          </a:rPr>
                          <m:t>2</m:t>
                        </m:r>
                      </m:sup>
                    </m:sSup>
                  </m:oMath>
                </a14:m>
                <a:r>
                  <a:rPr lang="en-US" altLang="zh-TW" sz="2000" i="1" dirty="0" smtClean="0">
                    <a:latin typeface="Times New Roman" panose="02020603050405020304" pitchFamily="18" charset="0"/>
                    <a:cs typeface="Times New Roman" panose="02020603050405020304" pitchFamily="18" charset="0"/>
                  </a:rPr>
                  <a:t>p </a:t>
                </a:r>
                <a:r>
                  <a:rPr lang="en-US" altLang="zh-TW" sz="2000" dirty="0" smtClean="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555331" y="4797979"/>
                <a:ext cx="4194221" cy="400110"/>
              </a:xfrm>
              <a:prstGeom prst="rect">
                <a:avLst/>
              </a:prstGeom>
              <a:blipFill>
                <a:blip r:embed="rId3"/>
                <a:stretch>
                  <a:fillRect l="-1453" t="-7576" b="-25758"/>
                </a:stretch>
              </a:blipFill>
            </p:spPr>
            <p:txBody>
              <a:bodyPr/>
              <a:lstStyle/>
              <a:p>
                <a:r>
                  <a:rPr lang="zh-TW" altLang="en-US">
                    <a:noFill/>
                  </a:rPr>
                  <a:t> </a:t>
                </a:r>
              </a:p>
            </p:txBody>
          </p:sp>
        </mc:Fallback>
      </mc:AlternateContent>
      <p:pic>
        <p:nvPicPr>
          <p:cNvPr id="3" name="圖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5407528"/>
            <a:ext cx="3933825" cy="457200"/>
          </a:xfrm>
          <a:prstGeom prst="rect">
            <a:avLst/>
          </a:prstGeom>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225" y="5974579"/>
            <a:ext cx="3914775" cy="485775"/>
          </a:xfrm>
          <a:prstGeom prst="rect">
            <a:avLst/>
          </a:prstGeom>
        </p:spPr>
      </p:pic>
    </p:spTree>
    <p:extLst>
      <p:ext uri="{BB962C8B-B14F-4D97-AF65-F5344CB8AC3E}">
        <p14:creationId xmlns:p14="http://schemas.microsoft.com/office/powerpoint/2010/main" val="403875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 CPOP Algorithm</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6506" y="1518364"/>
            <a:ext cx="7886700" cy="3811763"/>
          </a:xfrm>
        </p:spPr>
      </p:pic>
      <mc:AlternateContent xmlns:mc="http://schemas.openxmlformats.org/markup-compatibility/2006" xmlns:a14="http://schemas.microsoft.com/office/drawing/2010/main">
        <mc:Choice Requires="a14">
          <p:sp>
            <p:nvSpPr>
              <p:cNvPr id="6" name="矩形 5"/>
              <p:cNvSpPr/>
              <p:nvPr/>
            </p:nvSpPr>
            <p:spPr>
              <a:xfrm>
                <a:off x="628650" y="5623602"/>
                <a:ext cx="4194221" cy="400110"/>
              </a:xfrm>
              <a:prstGeom prst="rect">
                <a:avLst/>
              </a:prstGeom>
            </p:spPr>
            <p:txBody>
              <a:bodyPr wrap="square">
                <a:spAutoFit/>
              </a:bodyPr>
              <a:lstStyle/>
              <a:p>
                <a:r>
                  <a:rPr lang="en-US" altLang="zh-TW" sz="2000" dirty="0" smtClean="0">
                    <a:latin typeface="Times New Roman" panose="02020603050405020304" pitchFamily="18" charset="0"/>
                    <a:cs typeface="Times New Roman" panose="02020603050405020304" pitchFamily="18" charset="0"/>
                  </a:rPr>
                  <a:t>time-complexity</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O( </a:t>
                </a:r>
                <a14:m>
                  <m:oMath xmlns:m="http://schemas.openxmlformats.org/officeDocument/2006/math">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𝑣</m:t>
                        </m:r>
                      </m:e>
                      <m:sup>
                        <m:r>
                          <a:rPr lang="en-US" altLang="zh-TW" sz="2000" b="0" i="1" smtClean="0">
                            <a:latin typeface="Cambria Math" panose="02040503050406030204" pitchFamily="18" charset="0"/>
                          </a:rPr>
                          <m:t>2</m:t>
                        </m:r>
                      </m:sup>
                    </m:sSup>
                  </m:oMath>
                </a14:m>
                <a:r>
                  <a:rPr lang="en-US" altLang="zh-TW" sz="2000" i="1" dirty="0" smtClean="0">
                    <a:latin typeface="Times New Roman" panose="02020603050405020304" pitchFamily="18" charset="0"/>
                    <a:cs typeface="Times New Roman" panose="02020603050405020304" pitchFamily="18" charset="0"/>
                  </a:rPr>
                  <a:t>p </a:t>
                </a:r>
                <a:r>
                  <a:rPr lang="en-US" altLang="zh-TW" sz="2000" dirty="0" smtClean="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628650" y="5623602"/>
                <a:ext cx="4194221" cy="400110"/>
              </a:xfrm>
              <a:prstGeom prst="rect">
                <a:avLst/>
              </a:prstGeom>
              <a:blipFill>
                <a:blip r:embed="rId3"/>
                <a:stretch>
                  <a:fillRect l="-1453" t="-9231" b="-2769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40564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32558" y="408669"/>
            <a:ext cx="8382185" cy="1208365"/>
          </a:xfrm>
        </p:spPr>
        <p:txBody>
          <a:bodyPr>
            <a:normAutofit/>
          </a:bodyPr>
          <a:lstStyle/>
          <a:p>
            <a:r>
              <a:rPr lang="en-US" altLang="zh-TW" dirty="0">
                <a:latin typeface="Times New Roman" panose="02020603050405020304" pitchFamily="18" charset="0"/>
                <a:cs typeface="Times New Roman" panose="02020603050405020304" pitchFamily="18" charset="0"/>
              </a:rPr>
              <a:t>Mapping Heuristic (MH) </a:t>
            </a:r>
            <a:r>
              <a:rPr lang="en-US" altLang="zh-TW" dirty="0" smtClean="0">
                <a:latin typeface="Times New Roman" panose="02020603050405020304" pitchFamily="18" charset="0"/>
                <a:cs typeface="Times New Roman" panose="02020603050405020304" pitchFamily="18" charset="0"/>
              </a:rPr>
              <a:t>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p:cNvSpPr/>
              <p:nvPr/>
            </p:nvSpPr>
            <p:spPr>
              <a:xfrm>
                <a:off x="332558" y="1617034"/>
                <a:ext cx="3604256" cy="461665"/>
              </a:xfrm>
              <a:prstGeom prst="rect">
                <a:avLst/>
              </a:prstGeom>
            </p:spPr>
            <p:txBody>
              <a:bodyPr wrap="none">
                <a:spAutoFit/>
              </a:bodyPr>
              <a:lstStyle/>
              <a:p>
                <a:r>
                  <a:rPr lang="en-US" altLang="zh-TW" sz="2400" dirty="0">
                    <a:latin typeface="Times New Roman" panose="02020603050405020304" pitchFamily="18" charset="0"/>
                    <a:cs typeface="Times New Roman" panose="02020603050405020304" pitchFamily="18" charset="0"/>
                  </a:rPr>
                  <a:t>time-complexity</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 </a:t>
                </a:r>
                <a14:m>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𝑣</m:t>
                        </m:r>
                      </m:e>
                      <m:sup>
                        <m:r>
                          <a:rPr lang="en-US" altLang="zh-TW" sz="2400" i="1">
                            <a:latin typeface="Cambria Math" panose="02040503050406030204" pitchFamily="18" charset="0"/>
                          </a:rPr>
                          <m:t>2</m:t>
                        </m:r>
                      </m:sup>
                    </m:sSup>
                  </m:oMath>
                </a14:m>
                <a:r>
                  <a:rPr lang="en-US" altLang="zh-TW" sz="2400" i="1" dirty="0" smtClean="0">
                    <a:latin typeface="Times New Roman" panose="02020603050405020304" pitchFamily="18" charset="0"/>
                    <a:cs typeface="Times New Roman" panose="02020603050405020304" pitchFamily="18" charset="0"/>
                  </a:rPr>
                  <a:t>p </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32558" y="1617034"/>
                <a:ext cx="3604256" cy="461665"/>
              </a:xfrm>
              <a:prstGeom prst="rect">
                <a:avLst/>
              </a:prstGeom>
              <a:blipFill>
                <a:blip r:embed="rId2"/>
                <a:stretch>
                  <a:fillRect l="-2707" t="-10526" r="-1692" b="-28947"/>
                </a:stretch>
              </a:blipFill>
            </p:spPr>
            <p:txBody>
              <a:bodyPr/>
              <a:lstStyle/>
              <a:p>
                <a:r>
                  <a:rPr lang="zh-TW" altLang="en-US">
                    <a:noFill/>
                  </a:rPr>
                  <a:t> </a:t>
                </a:r>
              </a:p>
            </p:txBody>
          </p:sp>
        </mc:Fallback>
      </mc:AlternateContent>
      <p:sp>
        <p:nvSpPr>
          <p:cNvPr id="6" name="標題 1"/>
          <p:cNvSpPr txBox="1">
            <a:spLocks/>
          </p:cNvSpPr>
          <p:nvPr/>
        </p:nvSpPr>
        <p:spPr>
          <a:xfrm>
            <a:off x="332557" y="2431585"/>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smtClean="0">
                <a:latin typeface="Times New Roman" panose="02020603050405020304" pitchFamily="18" charset="0"/>
                <a:cs typeface="Times New Roman" panose="02020603050405020304" pitchFamily="18" charset="0"/>
              </a:rPr>
              <a:t>Dynamic-Level Scheduling (DLS) Algorithm</a:t>
            </a:r>
            <a:r>
              <a:rPr lang="zh-TW" altLang="en-US" dirty="0" smtClean="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p:cNvSpPr/>
              <p:nvPr/>
            </p:nvSpPr>
            <p:spPr>
              <a:xfrm>
                <a:off x="332558" y="4885484"/>
                <a:ext cx="4275914" cy="461665"/>
              </a:xfrm>
              <a:prstGeom prst="rect">
                <a:avLst/>
              </a:prstGeom>
            </p:spPr>
            <p:txBody>
              <a:bodyPr wrap="none">
                <a:spAutoFit/>
              </a:bodyPr>
              <a:lstStyle/>
              <a:p>
                <a:r>
                  <a:rPr lang="en-US" altLang="zh-TW" sz="2400" dirty="0" smtClean="0">
                    <a:latin typeface="Times New Roman" panose="02020603050405020304" pitchFamily="18" charset="0"/>
                    <a:cs typeface="Times New Roman" panose="02020603050405020304" pitchFamily="18" charset="0"/>
                  </a:rPr>
                  <a:t>time-complexity</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 </a:t>
                </a:r>
                <a14:m>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𝑣</m:t>
                        </m:r>
                      </m:e>
                      <m:sup>
                        <m:r>
                          <a:rPr lang="en-US" altLang="zh-TW" sz="2400" b="0" i="1" smtClean="0">
                            <a:latin typeface="Cambria Math" panose="02040503050406030204" pitchFamily="18" charset="0"/>
                          </a:rPr>
                          <m:t>3</m:t>
                        </m:r>
                      </m:sup>
                    </m:sSup>
                  </m:oMath>
                </a14:m>
                <a:r>
                  <a:rPr lang="en-US" altLang="zh-TW" sz="2400" i="1" dirty="0" smtClean="0">
                    <a:latin typeface="Times New Roman" panose="02020603050405020304" pitchFamily="18" charset="0"/>
                    <a:cs typeface="Times New Roman" panose="02020603050405020304" pitchFamily="18" charset="0"/>
                  </a:rPr>
                  <a:t>p f(p) </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332558" y="4885484"/>
                <a:ext cx="4275914" cy="461665"/>
              </a:xfrm>
              <a:prstGeom prst="rect">
                <a:avLst/>
              </a:prstGeom>
              <a:blipFill>
                <a:blip r:embed="rId3"/>
                <a:stretch>
                  <a:fillRect l="-2282" t="-10526" b="-28947"/>
                </a:stretch>
              </a:blipFill>
            </p:spPr>
            <p:txBody>
              <a:bodyPr/>
              <a:lstStyle/>
              <a:p>
                <a:r>
                  <a:rPr lang="zh-TW" altLang="en-US">
                    <a:noFill/>
                  </a:rPr>
                  <a:t> </a:t>
                </a:r>
              </a:p>
            </p:txBody>
          </p:sp>
        </mc:Fallback>
      </mc:AlternateContent>
      <p:pic>
        <p:nvPicPr>
          <p:cNvPr id="10" name="圖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557" y="4064790"/>
            <a:ext cx="5441062" cy="494642"/>
          </a:xfrm>
          <a:prstGeom prst="rect">
            <a:avLst/>
          </a:prstGeom>
        </p:spPr>
      </p:pic>
      <p:sp>
        <p:nvSpPr>
          <p:cNvPr id="11" name="矩形 10"/>
          <p:cNvSpPr/>
          <p:nvPr/>
        </p:nvSpPr>
        <p:spPr>
          <a:xfrm>
            <a:off x="332557" y="5394902"/>
            <a:ext cx="8296537" cy="646331"/>
          </a:xfrm>
          <a:prstGeom prst="rect">
            <a:avLst/>
          </a:prstGeom>
        </p:spPr>
        <p:txBody>
          <a:bodyPr wrap="square">
            <a:spAutoFit/>
          </a:bodyPr>
          <a:lstStyle/>
          <a:p>
            <a:r>
              <a:rPr lang="en-US" altLang="zh-TW" dirty="0">
                <a:latin typeface="Times New Roman" panose="02020603050405020304" pitchFamily="18" charset="0"/>
                <a:cs typeface="Times New Roman" panose="02020603050405020304" pitchFamily="18" charset="0"/>
              </a:rPr>
              <a:t>The complexity of the function used for data routing to calculate the earliest start time is O(f(p))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5285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22118" y="541377"/>
            <a:ext cx="7886700" cy="1325563"/>
          </a:xfrm>
        </p:spPr>
        <p:txBody>
          <a:bodyPr/>
          <a:lstStyle/>
          <a:p>
            <a:r>
              <a:rPr lang="en-US" altLang="zh-TW" dirty="0" err="1" smtClean="0">
                <a:latin typeface="Times New Roman" panose="02020603050405020304" pitchFamily="18" charset="0"/>
                <a:cs typeface="Times New Roman" panose="02020603050405020304" pitchFamily="18" charset="0"/>
              </a:rPr>
              <a:t>Levelized</a:t>
            </a:r>
            <a:r>
              <a:rPr lang="en-US" altLang="zh-TW" dirty="0" smtClean="0">
                <a:latin typeface="Times New Roman" panose="02020603050405020304" pitchFamily="18" charset="0"/>
                <a:cs typeface="Times New Roman" panose="02020603050405020304" pitchFamily="18" charset="0"/>
              </a:rPr>
              <a:t>-Min Time Algorithm</a:t>
            </a:r>
            <a:br>
              <a:rPr lang="en-US" altLang="zh-TW" dirty="0" smtClean="0">
                <a:latin typeface="Times New Roman" panose="02020603050405020304" pitchFamily="18" charset="0"/>
                <a:cs typeface="Times New Roman" panose="02020603050405020304" pitchFamily="18" charset="0"/>
              </a:rPr>
            </a:b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p:cNvSpPr/>
              <p:nvPr/>
            </p:nvSpPr>
            <p:spPr>
              <a:xfrm>
                <a:off x="522118" y="1405275"/>
                <a:ext cx="3694345" cy="461665"/>
              </a:xfrm>
              <a:prstGeom prst="rect">
                <a:avLst/>
              </a:prstGeom>
            </p:spPr>
            <p:txBody>
              <a:bodyPr wrap="none">
                <a:spAutoFit/>
              </a:bodyPr>
              <a:lstStyle/>
              <a:p>
                <a:r>
                  <a:rPr lang="en-US" altLang="zh-TW" sz="2400" dirty="0" smtClean="0">
                    <a:latin typeface="Times New Roman" panose="02020603050405020304" pitchFamily="18" charset="0"/>
                    <a:cs typeface="Times New Roman" panose="02020603050405020304" pitchFamily="18" charset="0"/>
                  </a:rPr>
                  <a:t>time-complexity</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 </a:t>
                </a:r>
                <a14:m>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𝑣</m:t>
                        </m:r>
                      </m:e>
                      <m:sup>
                        <m:r>
                          <a:rPr lang="en-US" altLang="zh-TW" sz="2400" i="1">
                            <a:latin typeface="Cambria Math" panose="02040503050406030204" pitchFamily="18" charset="0"/>
                          </a:rPr>
                          <m:t>2</m:t>
                        </m:r>
                      </m:sup>
                    </m:sSup>
                    <m:sSup>
                      <m:sSupPr>
                        <m:ctrlPr>
                          <a:rPr lang="en-US" altLang="zh-TW" sz="2400" i="1">
                            <a:latin typeface="Cambria Math" panose="02040503050406030204" pitchFamily="18" charset="0"/>
                          </a:rPr>
                        </m:ctrlPr>
                      </m:sSupPr>
                      <m:e>
                        <m:r>
                          <a:rPr lang="en-US" altLang="zh-TW" sz="2400" b="0" i="1" smtClean="0">
                            <a:latin typeface="Cambria Math" panose="02040503050406030204" pitchFamily="18" charset="0"/>
                          </a:rPr>
                          <m:t>𝑝</m:t>
                        </m:r>
                      </m:e>
                      <m:sup>
                        <m:r>
                          <a:rPr lang="en-US" altLang="zh-TW" sz="2400" i="1">
                            <a:latin typeface="Cambria Math" panose="02040503050406030204" pitchFamily="18" charset="0"/>
                          </a:rPr>
                          <m:t>2</m:t>
                        </m:r>
                      </m:sup>
                    </m:sSup>
                  </m:oMath>
                </a14:m>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522118" y="1405275"/>
                <a:ext cx="3694345" cy="461665"/>
              </a:xfrm>
              <a:prstGeom prst="rect">
                <a:avLst/>
              </a:prstGeom>
              <a:blipFill>
                <a:blip r:embed="rId2"/>
                <a:stretch>
                  <a:fillRect l="-2640" t="-10667" r="-1485" b="-30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5766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5665" y="657459"/>
            <a:ext cx="4295775" cy="609600"/>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65" y="2104034"/>
            <a:ext cx="4314825" cy="676275"/>
          </a:xfrm>
          <a:prstGeom prst="rect">
            <a:avLst/>
          </a:prstGeom>
        </p:spPr>
      </p:pic>
    </p:spTree>
    <p:extLst>
      <p:ext uri="{BB962C8B-B14F-4D97-AF65-F5344CB8AC3E}">
        <p14:creationId xmlns:p14="http://schemas.microsoft.com/office/powerpoint/2010/main" val="672116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0706" y="1027907"/>
            <a:ext cx="7624644" cy="5221224"/>
          </a:xfrm>
        </p:spPr>
      </p:pic>
    </p:spTree>
    <p:extLst>
      <p:ext uri="{BB962C8B-B14F-4D97-AF65-F5344CB8AC3E}">
        <p14:creationId xmlns:p14="http://schemas.microsoft.com/office/powerpoint/2010/main" val="215043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3334" y="1160414"/>
            <a:ext cx="7377331" cy="5169364"/>
          </a:xfrm>
        </p:spPr>
      </p:pic>
    </p:spTree>
    <p:extLst>
      <p:ext uri="{BB962C8B-B14F-4D97-AF65-F5344CB8AC3E}">
        <p14:creationId xmlns:p14="http://schemas.microsoft.com/office/powerpoint/2010/main" val="2174541150"/>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88847</TotalTime>
  <Words>250</Words>
  <Application>Microsoft Office PowerPoint</Application>
  <PresentationFormat>如螢幕大小 (4:3)</PresentationFormat>
  <Paragraphs>21</Paragraphs>
  <Slides>9</Slides>
  <Notes>2</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9</vt:i4>
      </vt:variant>
    </vt:vector>
  </HeadingPairs>
  <TitlesOfParts>
    <vt:vector size="17" baseType="lpstr">
      <vt:lpstr>新細明體</vt:lpstr>
      <vt:lpstr>標楷體</vt:lpstr>
      <vt:lpstr>Arial</vt:lpstr>
      <vt:lpstr>Calibri</vt:lpstr>
      <vt:lpstr>Calibri Light</vt:lpstr>
      <vt:lpstr>Cambria Math</vt:lpstr>
      <vt:lpstr>Times New Roman</vt:lpstr>
      <vt:lpstr>Office 佈景主題</vt:lpstr>
      <vt:lpstr>Task Scheduling Algorithms for Heterogeneous Processors</vt:lpstr>
      <vt:lpstr>Abstract </vt:lpstr>
      <vt:lpstr>The HEFT Algorithm</vt:lpstr>
      <vt:lpstr>The CPOP Algorithm</vt:lpstr>
      <vt:lpstr>Mapping Heuristic (MH) Algorithm</vt:lpstr>
      <vt:lpstr>Levelized-Min Time Algorithm </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智愷 吳</cp:lastModifiedBy>
  <cp:revision>783</cp:revision>
  <dcterms:created xsi:type="dcterms:W3CDTF">2017-09-25T08:45:50Z</dcterms:created>
  <dcterms:modified xsi:type="dcterms:W3CDTF">2020-05-20T08:02:22Z</dcterms:modified>
</cp:coreProperties>
</file>