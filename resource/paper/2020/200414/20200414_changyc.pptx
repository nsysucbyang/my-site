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0" r:id="rId5"/>
    <p:sldId id="267" r:id="rId6"/>
    <p:sldId id="261" r:id="rId7"/>
    <p:sldId id="268" r:id="rId8"/>
    <p:sldId id="263" r:id="rId9"/>
    <p:sldId id="264" r:id="rId10"/>
    <p:sldId id="265" r:id="rId11"/>
    <p:sldId id="266"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81D9"/>
    <a:srgbClr val="934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97" autoAdjust="0"/>
  </p:normalViewPr>
  <p:slideViewPr>
    <p:cSldViewPr snapToGrid="0">
      <p:cViewPr varScale="1">
        <p:scale>
          <a:sx n="68" d="100"/>
          <a:sy n="68" d="100"/>
        </p:scale>
        <p:origin x="792" y="60"/>
      </p:cViewPr>
      <p:guideLst/>
    </p:cSldViewPr>
  </p:slideViewPr>
  <p:outlineViewPr>
    <p:cViewPr>
      <p:scale>
        <a:sx n="33" d="100"/>
        <a:sy n="33" d="100"/>
      </p:scale>
      <p:origin x="0" y="-95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033D0-5A25-41C7-969A-EF5F7C649CD4}" type="datetimeFigureOut">
              <a:rPr lang="zh-TW" altLang="en-US" smtClean="0"/>
              <a:t>2020/4/14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9F1D4-CE95-410B-B0BC-C775142743A3}" type="slidenum">
              <a:rPr lang="zh-TW" altLang="en-US" smtClean="0"/>
              <a:t>‹#›</a:t>
            </a:fld>
            <a:endParaRPr lang="zh-TW" altLang="en-US"/>
          </a:p>
        </p:txBody>
      </p:sp>
    </p:spTree>
    <p:extLst>
      <p:ext uri="{BB962C8B-B14F-4D97-AF65-F5344CB8AC3E}">
        <p14:creationId xmlns:p14="http://schemas.microsoft.com/office/powerpoint/2010/main" val="393386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cbi.nlm.nih.gov/genome/guide/huma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4</a:t>
            </a:fld>
            <a:endParaRPr lang="zh-TW" altLang="en-US"/>
          </a:p>
        </p:txBody>
      </p:sp>
    </p:spTree>
    <p:extLst>
      <p:ext uri="{BB962C8B-B14F-4D97-AF65-F5344CB8AC3E}">
        <p14:creationId xmlns:p14="http://schemas.microsoft.com/office/powerpoint/2010/main" val="446289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5</a:t>
            </a:fld>
            <a:endParaRPr lang="zh-TW" altLang="en-US"/>
          </a:p>
        </p:txBody>
      </p:sp>
    </p:spTree>
    <p:extLst>
      <p:ext uri="{BB962C8B-B14F-4D97-AF65-F5344CB8AC3E}">
        <p14:creationId xmlns:p14="http://schemas.microsoft.com/office/powerpoint/2010/main" val="2301186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6</a:t>
            </a:fld>
            <a:endParaRPr lang="zh-TW" altLang="en-US"/>
          </a:p>
        </p:txBody>
      </p:sp>
    </p:spTree>
    <p:extLst>
      <p:ext uri="{BB962C8B-B14F-4D97-AF65-F5344CB8AC3E}">
        <p14:creationId xmlns:p14="http://schemas.microsoft.com/office/powerpoint/2010/main" val="3778536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7</a:t>
            </a:fld>
            <a:endParaRPr lang="zh-TW" altLang="en-US"/>
          </a:p>
        </p:txBody>
      </p:sp>
    </p:spTree>
    <p:extLst>
      <p:ext uri="{BB962C8B-B14F-4D97-AF65-F5344CB8AC3E}">
        <p14:creationId xmlns:p14="http://schemas.microsoft.com/office/powerpoint/2010/main" val="1993175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https://www.ncbi.nlm.nih.gov/genome/guide/human/</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8</a:t>
            </a:fld>
            <a:endParaRPr lang="zh-TW" altLang="en-US"/>
          </a:p>
        </p:txBody>
      </p:sp>
    </p:spTree>
    <p:extLst>
      <p:ext uri="{BB962C8B-B14F-4D97-AF65-F5344CB8AC3E}">
        <p14:creationId xmlns:p14="http://schemas.microsoft.com/office/powerpoint/2010/main" val="1298031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2020/4/14</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1414833"/>
          </a:xfrm>
        </p:spPr>
        <p:txBody>
          <a:bodyPr>
            <a:normAutofit/>
          </a:bodyPr>
          <a:lstStyle/>
          <a:p>
            <a:r>
              <a:rPr lang="en-US" altLang="zh-TW" sz="4400" dirty="0">
                <a:latin typeface="Times New Roman" panose="02020603050405020304" pitchFamily="18" charset="0"/>
                <a:cs typeface="Times New Roman" panose="02020603050405020304" pitchFamily="18" charset="0"/>
              </a:rPr>
              <a:t>Simple and Efficient Pattern Matching</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Algorithms for Biological Sequences</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1014953" y="3656415"/>
            <a:ext cx="10162093" cy="1655762"/>
          </a:xfrm>
        </p:spPr>
        <p:txBody>
          <a:bodyPr>
            <a:noAutofit/>
          </a:bodyPr>
          <a:lstStyle/>
          <a:p>
            <a:r>
              <a:rPr lang="de-DE" altLang="zh-TW" dirty="0">
                <a:latin typeface="Times New Roman" panose="02020603050405020304" pitchFamily="18" charset="0"/>
                <a:cs typeface="Times New Roman" panose="02020603050405020304" pitchFamily="18" charset="0"/>
              </a:rPr>
              <a:t>Peyman Neamatollahi, Montassir Hadi, and Mahmoud Naghibzadeh</a:t>
            </a:r>
          </a:p>
          <a:p>
            <a:endParaRPr lang="de-DE"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IEEE Access ( Volume: 8 ) 23 January 2020. P. 938-947</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April 14,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The remarkable growth of biological data is a motivation to accelerate the discovery of solutions in many domains of computational bioinformatics. In different phases of the computational pipelines, pattern matching is a very practical operation. For example, pattern matching enables users to find the locations of particular DNA subsequences in a database or DNA sequence. Furthermore, in these expanding biological databases, some patterns are updated over time. To perform faster searches, high-speed pattern matching algorithms are needed. The present paper introduces three pattern matching algorithms that are specially formulated to speed up searches on large DNA sequences. The proposed algorithms raise performance by utilizing word processing (in place of the character processing presented in previous works) and also by searching the least frequent word of the pattern in the sequence. In terms of time cost, the experimental results demonstrate the superiority of the presented algorithms over the other simulated algorithms.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665651-2DB1-4726-A81C-0DE997F453A2}"/>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3 Different Algorithm</a:t>
            </a:r>
            <a:endParaRPr lang="zh-TW" altLang="en-US" sz="3600"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B7CD278F-04B5-40ED-956C-864E72ED5B3F}"/>
              </a:ext>
            </a:extLst>
          </p:cNvPr>
          <p:cNvSpPr>
            <a:spLocks noGrp="1"/>
          </p:cNvSpPr>
          <p:nvPr>
            <p:ph idx="1"/>
          </p:nvPr>
        </p:nvSpPr>
        <p:spPr>
          <a:xfrm>
            <a:off x="838200" y="2482573"/>
            <a:ext cx="10515600" cy="2577699"/>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FLPM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First-Last Pattern Matching Algorithm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PAPM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Processor-Aware Pattern Matching Algorithm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LFPM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Least-Frequency Pattern Matching Algorithm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84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7C1867-A6B5-4C59-A530-50277BD5D2D6}"/>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FLPM</a:t>
            </a:r>
            <a:r>
              <a:rPr lang="zh-TW" altLang="en-US" sz="3600" dirty="0">
                <a:latin typeface="Times New Roman" panose="02020603050405020304" pitchFamily="18" charset="0"/>
                <a:cs typeface="Times New Roman" panose="02020603050405020304" pitchFamily="18" charset="0"/>
              </a:rPr>
              <a:t>：</a:t>
            </a:r>
            <a:r>
              <a:rPr lang="en-US" altLang="zh-TW" sz="3600" dirty="0">
                <a:latin typeface="Times New Roman" panose="02020603050405020304" pitchFamily="18" charset="0"/>
                <a:cs typeface="Times New Roman" panose="02020603050405020304" pitchFamily="18" charset="0"/>
              </a:rPr>
              <a:t>First-Last Pattern Matching Algorithm</a:t>
            </a:r>
          </a:p>
        </p:txBody>
      </p:sp>
      <p:graphicFrame>
        <p:nvGraphicFramePr>
          <p:cNvPr id="8" name="表格 8">
            <a:extLst>
              <a:ext uri="{FF2B5EF4-FFF2-40B4-BE49-F238E27FC236}">
                <a16:creationId xmlns:a16="http://schemas.microsoft.com/office/drawing/2014/main" id="{40F1DDA8-3FCD-4C33-9C36-E87EB9270881}"/>
              </a:ext>
            </a:extLst>
          </p:cNvPr>
          <p:cNvGraphicFramePr>
            <a:graphicFrameLocks noGrp="1"/>
          </p:cNvGraphicFramePr>
          <p:nvPr>
            <p:ph idx="1"/>
            <p:extLst>
              <p:ext uri="{D42A27DB-BD31-4B8C-83A1-F6EECF244321}">
                <p14:modId xmlns:p14="http://schemas.microsoft.com/office/powerpoint/2010/main" val="3345986306"/>
              </p:ext>
            </p:extLst>
          </p:nvPr>
        </p:nvGraphicFramePr>
        <p:xfrm>
          <a:off x="0" y="1690688"/>
          <a:ext cx="12191998" cy="1940560"/>
        </p:xfrm>
        <a:graphic>
          <a:graphicData uri="http://schemas.openxmlformats.org/drawingml/2006/table">
            <a:tbl>
              <a:tblPr firstRow="1" bandRow="1">
                <a:tableStyleId>{5940675A-B579-460E-94D1-54222C63F5DA}</a:tableStyleId>
              </a:tblPr>
              <a:tblGrid>
                <a:gridCol w="468923">
                  <a:extLst>
                    <a:ext uri="{9D8B030D-6E8A-4147-A177-3AD203B41FA5}">
                      <a16:colId xmlns:a16="http://schemas.microsoft.com/office/drawing/2014/main" val="1645789277"/>
                    </a:ext>
                  </a:extLst>
                </a:gridCol>
                <a:gridCol w="468923">
                  <a:extLst>
                    <a:ext uri="{9D8B030D-6E8A-4147-A177-3AD203B41FA5}">
                      <a16:colId xmlns:a16="http://schemas.microsoft.com/office/drawing/2014/main" val="1453164206"/>
                    </a:ext>
                  </a:extLst>
                </a:gridCol>
                <a:gridCol w="468923">
                  <a:extLst>
                    <a:ext uri="{9D8B030D-6E8A-4147-A177-3AD203B41FA5}">
                      <a16:colId xmlns:a16="http://schemas.microsoft.com/office/drawing/2014/main" val="1745729708"/>
                    </a:ext>
                  </a:extLst>
                </a:gridCol>
                <a:gridCol w="468923">
                  <a:extLst>
                    <a:ext uri="{9D8B030D-6E8A-4147-A177-3AD203B41FA5}">
                      <a16:colId xmlns:a16="http://schemas.microsoft.com/office/drawing/2014/main" val="2547028197"/>
                    </a:ext>
                  </a:extLst>
                </a:gridCol>
                <a:gridCol w="468923">
                  <a:extLst>
                    <a:ext uri="{9D8B030D-6E8A-4147-A177-3AD203B41FA5}">
                      <a16:colId xmlns:a16="http://schemas.microsoft.com/office/drawing/2014/main" val="2460704358"/>
                    </a:ext>
                  </a:extLst>
                </a:gridCol>
                <a:gridCol w="468923">
                  <a:extLst>
                    <a:ext uri="{9D8B030D-6E8A-4147-A177-3AD203B41FA5}">
                      <a16:colId xmlns:a16="http://schemas.microsoft.com/office/drawing/2014/main" val="1421425480"/>
                    </a:ext>
                  </a:extLst>
                </a:gridCol>
                <a:gridCol w="468923">
                  <a:extLst>
                    <a:ext uri="{9D8B030D-6E8A-4147-A177-3AD203B41FA5}">
                      <a16:colId xmlns:a16="http://schemas.microsoft.com/office/drawing/2014/main" val="3965652348"/>
                    </a:ext>
                  </a:extLst>
                </a:gridCol>
                <a:gridCol w="468923">
                  <a:extLst>
                    <a:ext uri="{9D8B030D-6E8A-4147-A177-3AD203B41FA5}">
                      <a16:colId xmlns:a16="http://schemas.microsoft.com/office/drawing/2014/main" val="3809432536"/>
                    </a:ext>
                  </a:extLst>
                </a:gridCol>
                <a:gridCol w="468923">
                  <a:extLst>
                    <a:ext uri="{9D8B030D-6E8A-4147-A177-3AD203B41FA5}">
                      <a16:colId xmlns:a16="http://schemas.microsoft.com/office/drawing/2014/main" val="1789431445"/>
                    </a:ext>
                  </a:extLst>
                </a:gridCol>
                <a:gridCol w="468923">
                  <a:extLst>
                    <a:ext uri="{9D8B030D-6E8A-4147-A177-3AD203B41FA5}">
                      <a16:colId xmlns:a16="http://schemas.microsoft.com/office/drawing/2014/main" val="2099502513"/>
                    </a:ext>
                  </a:extLst>
                </a:gridCol>
                <a:gridCol w="468923">
                  <a:extLst>
                    <a:ext uri="{9D8B030D-6E8A-4147-A177-3AD203B41FA5}">
                      <a16:colId xmlns:a16="http://schemas.microsoft.com/office/drawing/2014/main" val="3945262137"/>
                    </a:ext>
                  </a:extLst>
                </a:gridCol>
                <a:gridCol w="468923">
                  <a:extLst>
                    <a:ext uri="{9D8B030D-6E8A-4147-A177-3AD203B41FA5}">
                      <a16:colId xmlns:a16="http://schemas.microsoft.com/office/drawing/2014/main" val="2475580911"/>
                    </a:ext>
                  </a:extLst>
                </a:gridCol>
                <a:gridCol w="468923">
                  <a:extLst>
                    <a:ext uri="{9D8B030D-6E8A-4147-A177-3AD203B41FA5}">
                      <a16:colId xmlns:a16="http://schemas.microsoft.com/office/drawing/2014/main" val="3942816514"/>
                    </a:ext>
                  </a:extLst>
                </a:gridCol>
                <a:gridCol w="468923">
                  <a:extLst>
                    <a:ext uri="{9D8B030D-6E8A-4147-A177-3AD203B41FA5}">
                      <a16:colId xmlns:a16="http://schemas.microsoft.com/office/drawing/2014/main" val="1273161322"/>
                    </a:ext>
                  </a:extLst>
                </a:gridCol>
                <a:gridCol w="468923">
                  <a:extLst>
                    <a:ext uri="{9D8B030D-6E8A-4147-A177-3AD203B41FA5}">
                      <a16:colId xmlns:a16="http://schemas.microsoft.com/office/drawing/2014/main" val="3446876044"/>
                    </a:ext>
                  </a:extLst>
                </a:gridCol>
                <a:gridCol w="468923">
                  <a:extLst>
                    <a:ext uri="{9D8B030D-6E8A-4147-A177-3AD203B41FA5}">
                      <a16:colId xmlns:a16="http://schemas.microsoft.com/office/drawing/2014/main" val="3064600901"/>
                    </a:ext>
                  </a:extLst>
                </a:gridCol>
                <a:gridCol w="468923">
                  <a:extLst>
                    <a:ext uri="{9D8B030D-6E8A-4147-A177-3AD203B41FA5}">
                      <a16:colId xmlns:a16="http://schemas.microsoft.com/office/drawing/2014/main" val="3594675311"/>
                    </a:ext>
                  </a:extLst>
                </a:gridCol>
                <a:gridCol w="468923">
                  <a:extLst>
                    <a:ext uri="{9D8B030D-6E8A-4147-A177-3AD203B41FA5}">
                      <a16:colId xmlns:a16="http://schemas.microsoft.com/office/drawing/2014/main" val="2845931187"/>
                    </a:ext>
                  </a:extLst>
                </a:gridCol>
                <a:gridCol w="468923">
                  <a:extLst>
                    <a:ext uri="{9D8B030D-6E8A-4147-A177-3AD203B41FA5}">
                      <a16:colId xmlns:a16="http://schemas.microsoft.com/office/drawing/2014/main" val="2114288021"/>
                    </a:ext>
                  </a:extLst>
                </a:gridCol>
                <a:gridCol w="468923">
                  <a:extLst>
                    <a:ext uri="{9D8B030D-6E8A-4147-A177-3AD203B41FA5}">
                      <a16:colId xmlns:a16="http://schemas.microsoft.com/office/drawing/2014/main" val="127503766"/>
                    </a:ext>
                  </a:extLst>
                </a:gridCol>
                <a:gridCol w="468923">
                  <a:extLst>
                    <a:ext uri="{9D8B030D-6E8A-4147-A177-3AD203B41FA5}">
                      <a16:colId xmlns:a16="http://schemas.microsoft.com/office/drawing/2014/main" val="681330191"/>
                    </a:ext>
                  </a:extLst>
                </a:gridCol>
                <a:gridCol w="468923">
                  <a:extLst>
                    <a:ext uri="{9D8B030D-6E8A-4147-A177-3AD203B41FA5}">
                      <a16:colId xmlns:a16="http://schemas.microsoft.com/office/drawing/2014/main" val="2480498332"/>
                    </a:ext>
                  </a:extLst>
                </a:gridCol>
                <a:gridCol w="468923">
                  <a:extLst>
                    <a:ext uri="{9D8B030D-6E8A-4147-A177-3AD203B41FA5}">
                      <a16:colId xmlns:a16="http://schemas.microsoft.com/office/drawing/2014/main" val="3389278925"/>
                    </a:ext>
                  </a:extLst>
                </a:gridCol>
                <a:gridCol w="468923">
                  <a:extLst>
                    <a:ext uri="{9D8B030D-6E8A-4147-A177-3AD203B41FA5}">
                      <a16:colId xmlns:a16="http://schemas.microsoft.com/office/drawing/2014/main" val="287337414"/>
                    </a:ext>
                  </a:extLst>
                </a:gridCol>
                <a:gridCol w="468923">
                  <a:extLst>
                    <a:ext uri="{9D8B030D-6E8A-4147-A177-3AD203B41FA5}">
                      <a16:colId xmlns:a16="http://schemas.microsoft.com/office/drawing/2014/main" val="1664624850"/>
                    </a:ext>
                  </a:extLst>
                </a:gridCol>
                <a:gridCol w="468923">
                  <a:extLst>
                    <a:ext uri="{9D8B030D-6E8A-4147-A177-3AD203B41FA5}">
                      <a16:colId xmlns:a16="http://schemas.microsoft.com/office/drawing/2014/main" val="3769668015"/>
                    </a:ext>
                  </a:extLst>
                </a:gridCol>
              </a:tblGrid>
              <a:tr h="370840">
                <a:tc gridSpan="26">
                  <a:txBody>
                    <a:bodyPr/>
                    <a:lstStyle/>
                    <a:p>
                      <a:pPr algn="ctr"/>
                      <a:r>
                        <a:rPr lang="en-US" altLang="zh-TW" sz="2400" dirty="0"/>
                        <a:t>Text</a:t>
                      </a:r>
                      <a:endParaRPr lang="zh-TW" altLang="en-US" sz="24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5343014"/>
                  </a:ext>
                </a:extLst>
              </a:tr>
              <a:tr h="370840">
                <a:tc>
                  <a:txBody>
                    <a:bodyPr/>
                    <a:lstStyle/>
                    <a:p>
                      <a:pPr algn="ctr"/>
                      <a:r>
                        <a:rPr lang="en-US" altLang="zh-TW" u="none" dirty="0"/>
                        <a:t>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21155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16337670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4380336"/>
                  </a:ext>
                </a:extLst>
              </a:tr>
              <a:tr h="370840">
                <a:tc>
                  <a:txBody>
                    <a:bodyPr/>
                    <a:lstStyle/>
                    <a:p>
                      <a:pPr algn="ctr"/>
                      <a:r>
                        <a:rPr lang="en-US" altLang="zh-TW" u="none" dirty="0"/>
                        <a:t>26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8152637"/>
                  </a:ext>
                </a:extLst>
              </a:tr>
            </a:tbl>
          </a:graphicData>
        </a:graphic>
      </p:graphicFrame>
      <p:graphicFrame>
        <p:nvGraphicFramePr>
          <p:cNvPr id="10" name="表格 10">
            <a:extLst>
              <a:ext uri="{FF2B5EF4-FFF2-40B4-BE49-F238E27FC236}">
                <a16:creationId xmlns:a16="http://schemas.microsoft.com/office/drawing/2014/main" id="{E885C788-9033-407B-9598-EA3A302EEBF6}"/>
              </a:ext>
            </a:extLst>
          </p:cNvPr>
          <p:cNvGraphicFramePr>
            <a:graphicFrameLocks noGrp="1"/>
          </p:cNvGraphicFramePr>
          <p:nvPr>
            <p:extLst>
              <p:ext uri="{D42A27DB-BD31-4B8C-83A1-F6EECF244321}">
                <p14:modId xmlns:p14="http://schemas.microsoft.com/office/powerpoint/2010/main" val="3359554688"/>
              </p:ext>
            </p:extLst>
          </p:nvPr>
        </p:nvGraphicFramePr>
        <p:xfrm>
          <a:off x="0" y="4054792"/>
          <a:ext cx="3276000" cy="111252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977457734"/>
                    </a:ext>
                  </a:extLst>
                </a:gridCol>
                <a:gridCol w="468000">
                  <a:extLst>
                    <a:ext uri="{9D8B030D-6E8A-4147-A177-3AD203B41FA5}">
                      <a16:colId xmlns:a16="http://schemas.microsoft.com/office/drawing/2014/main" val="864086457"/>
                    </a:ext>
                  </a:extLst>
                </a:gridCol>
                <a:gridCol w="468000">
                  <a:extLst>
                    <a:ext uri="{9D8B030D-6E8A-4147-A177-3AD203B41FA5}">
                      <a16:colId xmlns:a16="http://schemas.microsoft.com/office/drawing/2014/main" val="3050585620"/>
                    </a:ext>
                  </a:extLst>
                </a:gridCol>
                <a:gridCol w="468000">
                  <a:extLst>
                    <a:ext uri="{9D8B030D-6E8A-4147-A177-3AD203B41FA5}">
                      <a16:colId xmlns:a16="http://schemas.microsoft.com/office/drawing/2014/main" val="1208535248"/>
                    </a:ext>
                  </a:extLst>
                </a:gridCol>
                <a:gridCol w="468000">
                  <a:extLst>
                    <a:ext uri="{9D8B030D-6E8A-4147-A177-3AD203B41FA5}">
                      <a16:colId xmlns:a16="http://schemas.microsoft.com/office/drawing/2014/main" val="2784876407"/>
                    </a:ext>
                  </a:extLst>
                </a:gridCol>
                <a:gridCol w="468000">
                  <a:extLst>
                    <a:ext uri="{9D8B030D-6E8A-4147-A177-3AD203B41FA5}">
                      <a16:colId xmlns:a16="http://schemas.microsoft.com/office/drawing/2014/main" val="2536739071"/>
                    </a:ext>
                  </a:extLst>
                </a:gridCol>
                <a:gridCol w="468000">
                  <a:extLst>
                    <a:ext uri="{9D8B030D-6E8A-4147-A177-3AD203B41FA5}">
                      <a16:colId xmlns:a16="http://schemas.microsoft.com/office/drawing/2014/main" val="2548226210"/>
                    </a:ext>
                  </a:extLst>
                </a:gridCol>
              </a:tblGrid>
              <a:tr h="370840">
                <a:tc gridSpan="7">
                  <a:txBody>
                    <a:bodyPr/>
                    <a:lstStyle/>
                    <a:p>
                      <a:pPr algn="ctr"/>
                      <a:r>
                        <a:rPr lang="en-US" altLang="zh-TW" dirty="0"/>
                        <a:t>Pattern</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701650929"/>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67490784"/>
                  </a:ext>
                </a:extLst>
              </a:tr>
              <a:tr h="370840">
                <a:tc>
                  <a:txBody>
                    <a:bodyPr/>
                    <a:lstStyle/>
                    <a:p>
                      <a:pPr algn="ctr"/>
                      <a:r>
                        <a:rPr lang="en-US" altLang="zh-TW" b="0" u="sng" dirty="0"/>
                        <a:t>0</a:t>
                      </a:r>
                      <a:endParaRPr lang="zh-TW" altLang="en-US" b="0" u="sng"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1</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2</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3</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4</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5</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sng" dirty="0"/>
                        <a:t>6</a:t>
                      </a:r>
                      <a:endParaRPr lang="zh-TW" altLang="en-US" u="sng"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7993790"/>
                  </a:ext>
                </a:extLst>
              </a:tr>
            </a:tbl>
          </a:graphicData>
        </a:graphic>
      </p:graphicFrame>
      <p:graphicFrame>
        <p:nvGraphicFramePr>
          <p:cNvPr id="12" name="表格 12">
            <a:extLst>
              <a:ext uri="{FF2B5EF4-FFF2-40B4-BE49-F238E27FC236}">
                <a16:creationId xmlns:a16="http://schemas.microsoft.com/office/drawing/2014/main" id="{FD86A1C1-D030-44B6-9A8A-D9DD850C2EA3}"/>
              </a:ext>
            </a:extLst>
          </p:cNvPr>
          <p:cNvGraphicFramePr>
            <a:graphicFrameLocks noGrp="1"/>
          </p:cNvGraphicFramePr>
          <p:nvPr>
            <p:extLst>
              <p:ext uri="{D42A27DB-BD31-4B8C-83A1-F6EECF244321}">
                <p14:modId xmlns:p14="http://schemas.microsoft.com/office/powerpoint/2010/main" val="81377474"/>
              </p:ext>
            </p:extLst>
          </p:nvPr>
        </p:nvGraphicFramePr>
        <p:xfrm>
          <a:off x="4054659" y="4054792"/>
          <a:ext cx="5148000" cy="111252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2991974432"/>
                    </a:ext>
                  </a:extLst>
                </a:gridCol>
                <a:gridCol w="468000">
                  <a:extLst>
                    <a:ext uri="{9D8B030D-6E8A-4147-A177-3AD203B41FA5}">
                      <a16:colId xmlns:a16="http://schemas.microsoft.com/office/drawing/2014/main" val="1894554818"/>
                    </a:ext>
                  </a:extLst>
                </a:gridCol>
                <a:gridCol w="468000">
                  <a:extLst>
                    <a:ext uri="{9D8B030D-6E8A-4147-A177-3AD203B41FA5}">
                      <a16:colId xmlns:a16="http://schemas.microsoft.com/office/drawing/2014/main" val="3527345143"/>
                    </a:ext>
                  </a:extLst>
                </a:gridCol>
                <a:gridCol w="468000">
                  <a:extLst>
                    <a:ext uri="{9D8B030D-6E8A-4147-A177-3AD203B41FA5}">
                      <a16:colId xmlns:a16="http://schemas.microsoft.com/office/drawing/2014/main" val="1109912558"/>
                    </a:ext>
                  </a:extLst>
                </a:gridCol>
                <a:gridCol w="468000">
                  <a:extLst>
                    <a:ext uri="{9D8B030D-6E8A-4147-A177-3AD203B41FA5}">
                      <a16:colId xmlns:a16="http://schemas.microsoft.com/office/drawing/2014/main" val="1324230641"/>
                    </a:ext>
                  </a:extLst>
                </a:gridCol>
                <a:gridCol w="468000">
                  <a:extLst>
                    <a:ext uri="{9D8B030D-6E8A-4147-A177-3AD203B41FA5}">
                      <a16:colId xmlns:a16="http://schemas.microsoft.com/office/drawing/2014/main" val="3361577293"/>
                    </a:ext>
                  </a:extLst>
                </a:gridCol>
                <a:gridCol w="468000">
                  <a:extLst>
                    <a:ext uri="{9D8B030D-6E8A-4147-A177-3AD203B41FA5}">
                      <a16:colId xmlns:a16="http://schemas.microsoft.com/office/drawing/2014/main" val="2100333978"/>
                    </a:ext>
                  </a:extLst>
                </a:gridCol>
                <a:gridCol w="468000">
                  <a:extLst>
                    <a:ext uri="{9D8B030D-6E8A-4147-A177-3AD203B41FA5}">
                      <a16:colId xmlns:a16="http://schemas.microsoft.com/office/drawing/2014/main" val="1614501781"/>
                    </a:ext>
                  </a:extLst>
                </a:gridCol>
                <a:gridCol w="468000">
                  <a:extLst>
                    <a:ext uri="{9D8B030D-6E8A-4147-A177-3AD203B41FA5}">
                      <a16:colId xmlns:a16="http://schemas.microsoft.com/office/drawing/2014/main" val="1438639029"/>
                    </a:ext>
                  </a:extLst>
                </a:gridCol>
                <a:gridCol w="468000">
                  <a:extLst>
                    <a:ext uri="{9D8B030D-6E8A-4147-A177-3AD203B41FA5}">
                      <a16:colId xmlns:a16="http://schemas.microsoft.com/office/drawing/2014/main" val="4257490625"/>
                    </a:ext>
                  </a:extLst>
                </a:gridCol>
                <a:gridCol w="468000">
                  <a:extLst>
                    <a:ext uri="{9D8B030D-6E8A-4147-A177-3AD203B41FA5}">
                      <a16:colId xmlns:a16="http://schemas.microsoft.com/office/drawing/2014/main" val="565101215"/>
                    </a:ext>
                  </a:extLst>
                </a:gridCol>
              </a:tblGrid>
              <a:tr h="370840">
                <a:tc gridSpan="11">
                  <a:txBody>
                    <a:bodyPr/>
                    <a:lstStyle/>
                    <a:p>
                      <a:pPr algn="ctr"/>
                      <a:r>
                        <a:rPr lang="en-US" altLang="zh-TW" dirty="0" err="1"/>
                        <a:t>Window_Index</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58347"/>
                  </a:ext>
                </a:extLst>
              </a:tr>
              <a:tr h="370840">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34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41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4343419"/>
                  </a:ext>
                </a:extLst>
              </a:tr>
              <a:tr h="370840">
                <a:tc gridSpan="11">
                  <a:txBody>
                    <a:bodyPr/>
                    <a:lstStyle/>
                    <a:p>
                      <a:pPr algn="ctr"/>
                      <a:r>
                        <a:rPr lang="en-US" altLang="zh-TW" dirty="0"/>
                        <a:t>Only record the start index</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7085835"/>
                  </a:ext>
                </a:extLst>
              </a:tr>
            </a:tbl>
          </a:graphicData>
        </a:graphic>
      </p:graphicFrame>
      <p:graphicFrame>
        <p:nvGraphicFramePr>
          <p:cNvPr id="18" name="表格 18">
            <a:extLst>
              <a:ext uri="{FF2B5EF4-FFF2-40B4-BE49-F238E27FC236}">
                <a16:creationId xmlns:a16="http://schemas.microsoft.com/office/drawing/2014/main" id="{FEFA3494-1D74-46F8-970C-4BCF5A38F280}"/>
              </a:ext>
            </a:extLst>
          </p:cNvPr>
          <p:cNvGraphicFramePr>
            <a:graphicFrameLocks noGrp="1"/>
          </p:cNvGraphicFramePr>
          <p:nvPr>
            <p:extLst>
              <p:ext uri="{D42A27DB-BD31-4B8C-83A1-F6EECF244321}">
                <p14:modId xmlns:p14="http://schemas.microsoft.com/office/powerpoint/2010/main" val="2942598155"/>
              </p:ext>
            </p:extLst>
          </p:nvPr>
        </p:nvGraphicFramePr>
        <p:xfrm>
          <a:off x="468000" y="5590856"/>
          <a:ext cx="2340000" cy="74168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4078727052"/>
                    </a:ext>
                  </a:extLst>
                </a:gridCol>
                <a:gridCol w="468000">
                  <a:extLst>
                    <a:ext uri="{9D8B030D-6E8A-4147-A177-3AD203B41FA5}">
                      <a16:colId xmlns:a16="http://schemas.microsoft.com/office/drawing/2014/main" val="2945485135"/>
                    </a:ext>
                  </a:extLst>
                </a:gridCol>
                <a:gridCol w="468000">
                  <a:extLst>
                    <a:ext uri="{9D8B030D-6E8A-4147-A177-3AD203B41FA5}">
                      <a16:colId xmlns:a16="http://schemas.microsoft.com/office/drawing/2014/main" val="2106516997"/>
                    </a:ext>
                  </a:extLst>
                </a:gridCol>
                <a:gridCol w="468000">
                  <a:extLst>
                    <a:ext uri="{9D8B030D-6E8A-4147-A177-3AD203B41FA5}">
                      <a16:colId xmlns:a16="http://schemas.microsoft.com/office/drawing/2014/main" val="190469513"/>
                    </a:ext>
                  </a:extLst>
                </a:gridCol>
                <a:gridCol w="468000">
                  <a:extLst>
                    <a:ext uri="{9D8B030D-6E8A-4147-A177-3AD203B41FA5}">
                      <a16:colId xmlns:a16="http://schemas.microsoft.com/office/drawing/2014/main" val="796047366"/>
                    </a:ext>
                  </a:extLst>
                </a:gridCol>
              </a:tblGrid>
              <a:tr h="370840">
                <a:tc gridSpan="5">
                  <a:txBody>
                    <a:bodyPr/>
                    <a:lstStyle/>
                    <a:p>
                      <a:pPr algn="ctr"/>
                      <a:r>
                        <a:rPr lang="en-US" altLang="zh-TW" dirty="0" err="1"/>
                        <a:t>Match_Index</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99612750"/>
                  </a:ext>
                </a:extLst>
              </a:tr>
              <a:tr h="370840">
                <a:tc>
                  <a:txBody>
                    <a:bodyPr/>
                    <a:lstStyle/>
                    <a:p>
                      <a:pPr algn="ctr"/>
                      <a:endParaRPr lang="zh-TW"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06145670"/>
                  </a:ext>
                </a:extLst>
              </a:tr>
            </a:tbl>
          </a:graphicData>
        </a:graphic>
      </p:graphicFrame>
    </p:spTree>
    <p:extLst>
      <p:ext uri="{BB962C8B-B14F-4D97-AF65-F5344CB8AC3E}">
        <p14:creationId xmlns:p14="http://schemas.microsoft.com/office/powerpoint/2010/main" val="4284235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7C1867-A6B5-4C59-A530-50277BD5D2D6}"/>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FLPM</a:t>
            </a:r>
            <a:r>
              <a:rPr lang="zh-TW" altLang="en-US" sz="3600" dirty="0">
                <a:latin typeface="Times New Roman" panose="02020603050405020304" pitchFamily="18" charset="0"/>
                <a:cs typeface="Times New Roman" panose="02020603050405020304" pitchFamily="18" charset="0"/>
              </a:rPr>
              <a:t>：</a:t>
            </a:r>
            <a:r>
              <a:rPr lang="en-US" altLang="zh-TW" sz="3600" dirty="0">
                <a:latin typeface="Times New Roman" panose="02020603050405020304" pitchFamily="18" charset="0"/>
                <a:cs typeface="Times New Roman" panose="02020603050405020304" pitchFamily="18" charset="0"/>
              </a:rPr>
              <a:t>First-Last Pattern Matching Algorithm</a:t>
            </a:r>
          </a:p>
        </p:txBody>
      </p:sp>
      <p:graphicFrame>
        <p:nvGraphicFramePr>
          <p:cNvPr id="8" name="表格 8">
            <a:extLst>
              <a:ext uri="{FF2B5EF4-FFF2-40B4-BE49-F238E27FC236}">
                <a16:creationId xmlns:a16="http://schemas.microsoft.com/office/drawing/2014/main" id="{40F1DDA8-3FCD-4C33-9C36-E87EB9270881}"/>
              </a:ext>
            </a:extLst>
          </p:cNvPr>
          <p:cNvGraphicFramePr>
            <a:graphicFrameLocks noGrp="1"/>
          </p:cNvGraphicFramePr>
          <p:nvPr>
            <p:ph idx="1"/>
          </p:nvPr>
        </p:nvGraphicFramePr>
        <p:xfrm>
          <a:off x="0" y="1690688"/>
          <a:ext cx="12191998" cy="1940560"/>
        </p:xfrm>
        <a:graphic>
          <a:graphicData uri="http://schemas.openxmlformats.org/drawingml/2006/table">
            <a:tbl>
              <a:tblPr firstRow="1" bandRow="1">
                <a:tableStyleId>{5940675A-B579-460E-94D1-54222C63F5DA}</a:tableStyleId>
              </a:tblPr>
              <a:tblGrid>
                <a:gridCol w="468923">
                  <a:extLst>
                    <a:ext uri="{9D8B030D-6E8A-4147-A177-3AD203B41FA5}">
                      <a16:colId xmlns:a16="http://schemas.microsoft.com/office/drawing/2014/main" val="1645789277"/>
                    </a:ext>
                  </a:extLst>
                </a:gridCol>
                <a:gridCol w="468923">
                  <a:extLst>
                    <a:ext uri="{9D8B030D-6E8A-4147-A177-3AD203B41FA5}">
                      <a16:colId xmlns:a16="http://schemas.microsoft.com/office/drawing/2014/main" val="1453164206"/>
                    </a:ext>
                  </a:extLst>
                </a:gridCol>
                <a:gridCol w="468923">
                  <a:extLst>
                    <a:ext uri="{9D8B030D-6E8A-4147-A177-3AD203B41FA5}">
                      <a16:colId xmlns:a16="http://schemas.microsoft.com/office/drawing/2014/main" val="1745729708"/>
                    </a:ext>
                  </a:extLst>
                </a:gridCol>
                <a:gridCol w="468923">
                  <a:extLst>
                    <a:ext uri="{9D8B030D-6E8A-4147-A177-3AD203B41FA5}">
                      <a16:colId xmlns:a16="http://schemas.microsoft.com/office/drawing/2014/main" val="2547028197"/>
                    </a:ext>
                  </a:extLst>
                </a:gridCol>
                <a:gridCol w="468923">
                  <a:extLst>
                    <a:ext uri="{9D8B030D-6E8A-4147-A177-3AD203B41FA5}">
                      <a16:colId xmlns:a16="http://schemas.microsoft.com/office/drawing/2014/main" val="2460704358"/>
                    </a:ext>
                  </a:extLst>
                </a:gridCol>
                <a:gridCol w="468923">
                  <a:extLst>
                    <a:ext uri="{9D8B030D-6E8A-4147-A177-3AD203B41FA5}">
                      <a16:colId xmlns:a16="http://schemas.microsoft.com/office/drawing/2014/main" val="1421425480"/>
                    </a:ext>
                  </a:extLst>
                </a:gridCol>
                <a:gridCol w="468923">
                  <a:extLst>
                    <a:ext uri="{9D8B030D-6E8A-4147-A177-3AD203B41FA5}">
                      <a16:colId xmlns:a16="http://schemas.microsoft.com/office/drawing/2014/main" val="3965652348"/>
                    </a:ext>
                  </a:extLst>
                </a:gridCol>
                <a:gridCol w="468923">
                  <a:extLst>
                    <a:ext uri="{9D8B030D-6E8A-4147-A177-3AD203B41FA5}">
                      <a16:colId xmlns:a16="http://schemas.microsoft.com/office/drawing/2014/main" val="3809432536"/>
                    </a:ext>
                  </a:extLst>
                </a:gridCol>
                <a:gridCol w="468923">
                  <a:extLst>
                    <a:ext uri="{9D8B030D-6E8A-4147-A177-3AD203B41FA5}">
                      <a16:colId xmlns:a16="http://schemas.microsoft.com/office/drawing/2014/main" val="1789431445"/>
                    </a:ext>
                  </a:extLst>
                </a:gridCol>
                <a:gridCol w="468923">
                  <a:extLst>
                    <a:ext uri="{9D8B030D-6E8A-4147-A177-3AD203B41FA5}">
                      <a16:colId xmlns:a16="http://schemas.microsoft.com/office/drawing/2014/main" val="2099502513"/>
                    </a:ext>
                  </a:extLst>
                </a:gridCol>
                <a:gridCol w="468923">
                  <a:extLst>
                    <a:ext uri="{9D8B030D-6E8A-4147-A177-3AD203B41FA5}">
                      <a16:colId xmlns:a16="http://schemas.microsoft.com/office/drawing/2014/main" val="3945262137"/>
                    </a:ext>
                  </a:extLst>
                </a:gridCol>
                <a:gridCol w="468923">
                  <a:extLst>
                    <a:ext uri="{9D8B030D-6E8A-4147-A177-3AD203B41FA5}">
                      <a16:colId xmlns:a16="http://schemas.microsoft.com/office/drawing/2014/main" val="2475580911"/>
                    </a:ext>
                  </a:extLst>
                </a:gridCol>
                <a:gridCol w="468923">
                  <a:extLst>
                    <a:ext uri="{9D8B030D-6E8A-4147-A177-3AD203B41FA5}">
                      <a16:colId xmlns:a16="http://schemas.microsoft.com/office/drawing/2014/main" val="3942816514"/>
                    </a:ext>
                  </a:extLst>
                </a:gridCol>
                <a:gridCol w="468923">
                  <a:extLst>
                    <a:ext uri="{9D8B030D-6E8A-4147-A177-3AD203B41FA5}">
                      <a16:colId xmlns:a16="http://schemas.microsoft.com/office/drawing/2014/main" val="1273161322"/>
                    </a:ext>
                  </a:extLst>
                </a:gridCol>
                <a:gridCol w="468923">
                  <a:extLst>
                    <a:ext uri="{9D8B030D-6E8A-4147-A177-3AD203B41FA5}">
                      <a16:colId xmlns:a16="http://schemas.microsoft.com/office/drawing/2014/main" val="3446876044"/>
                    </a:ext>
                  </a:extLst>
                </a:gridCol>
                <a:gridCol w="468923">
                  <a:extLst>
                    <a:ext uri="{9D8B030D-6E8A-4147-A177-3AD203B41FA5}">
                      <a16:colId xmlns:a16="http://schemas.microsoft.com/office/drawing/2014/main" val="3064600901"/>
                    </a:ext>
                  </a:extLst>
                </a:gridCol>
                <a:gridCol w="468923">
                  <a:extLst>
                    <a:ext uri="{9D8B030D-6E8A-4147-A177-3AD203B41FA5}">
                      <a16:colId xmlns:a16="http://schemas.microsoft.com/office/drawing/2014/main" val="3594675311"/>
                    </a:ext>
                  </a:extLst>
                </a:gridCol>
                <a:gridCol w="468923">
                  <a:extLst>
                    <a:ext uri="{9D8B030D-6E8A-4147-A177-3AD203B41FA5}">
                      <a16:colId xmlns:a16="http://schemas.microsoft.com/office/drawing/2014/main" val="2845931187"/>
                    </a:ext>
                  </a:extLst>
                </a:gridCol>
                <a:gridCol w="468923">
                  <a:extLst>
                    <a:ext uri="{9D8B030D-6E8A-4147-A177-3AD203B41FA5}">
                      <a16:colId xmlns:a16="http://schemas.microsoft.com/office/drawing/2014/main" val="2114288021"/>
                    </a:ext>
                  </a:extLst>
                </a:gridCol>
                <a:gridCol w="468923">
                  <a:extLst>
                    <a:ext uri="{9D8B030D-6E8A-4147-A177-3AD203B41FA5}">
                      <a16:colId xmlns:a16="http://schemas.microsoft.com/office/drawing/2014/main" val="127503766"/>
                    </a:ext>
                  </a:extLst>
                </a:gridCol>
                <a:gridCol w="468923">
                  <a:extLst>
                    <a:ext uri="{9D8B030D-6E8A-4147-A177-3AD203B41FA5}">
                      <a16:colId xmlns:a16="http://schemas.microsoft.com/office/drawing/2014/main" val="681330191"/>
                    </a:ext>
                  </a:extLst>
                </a:gridCol>
                <a:gridCol w="468923">
                  <a:extLst>
                    <a:ext uri="{9D8B030D-6E8A-4147-A177-3AD203B41FA5}">
                      <a16:colId xmlns:a16="http://schemas.microsoft.com/office/drawing/2014/main" val="2480498332"/>
                    </a:ext>
                  </a:extLst>
                </a:gridCol>
                <a:gridCol w="468923">
                  <a:extLst>
                    <a:ext uri="{9D8B030D-6E8A-4147-A177-3AD203B41FA5}">
                      <a16:colId xmlns:a16="http://schemas.microsoft.com/office/drawing/2014/main" val="3389278925"/>
                    </a:ext>
                  </a:extLst>
                </a:gridCol>
                <a:gridCol w="468923">
                  <a:extLst>
                    <a:ext uri="{9D8B030D-6E8A-4147-A177-3AD203B41FA5}">
                      <a16:colId xmlns:a16="http://schemas.microsoft.com/office/drawing/2014/main" val="287337414"/>
                    </a:ext>
                  </a:extLst>
                </a:gridCol>
                <a:gridCol w="468923">
                  <a:extLst>
                    <a:ext uri="{9D8B030D-6E8A-4147-A177-3AD203B41FA5}">
                      <a16:colId xmlns:a16="http://schemas.microsoft.com/office/drawing/2014/main" val="1664624850"/>
                    </a:ext>
                  </a:extLst>
                </a:gridCol>
                <a:gridCol w="468923">
                  <a:extLst>
                    <a:ext uri="{9D8B030D-6E8A-4147-A177-3AD203B41FA5}">
                      <a16:colId xmlns:a16="http://schemas.microsoft.com/office/drawing/2014/main" val="3769668015"/>
                    </a:ext>
                  </a:extLst>
                </a:gridCol>
              </a:tblGrid>
              <a:tr h="370840">
                <a:tc gridSpan="26">
                  <a:txBody>
                    <a:bodyPr/>
                    <a:lstStyle/>
                    <a:p>
                      <a:pPr algn="ctr"/>
                      <a:r>
                        <a:rPr lang="en-US" altLang="zh-TW" sz="2400" dirty="0"/>
                        <a:t>Text</a:t>
                      </a:r>
                      <a:endParaRPr lang="zh-TW" altLang="en-US" sz="24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5343014"/>
                  </a:ext>
                </a:extLst>
              </a:tr>
              <a:tr h="370840">
                <a:tc>
                  <a:txBody>
                    <a:bodyPr/>
                    <a:lstStyle/>
                    <a:p>
                      <a:pPr algn="ctr"/>
                      <a:r>
                        <a:rPr lang="en-US" altLang="zh-TW" u="none" dirty="0"/>
                        <a:t>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21155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16337670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4380336"/>
                  </a:ext>
                </a:extLst>
              </a:tr>
              <a:tr h="370840">
                <a:tc>
                  <a:txBody>
                    <a:bodyPr/>
                    <a:lstStyle/>
                    <a:p>
                      <a:pPr algn="ctr"/>
                      <a:r>
                        <a:rPr lang="en-US" altLang="zh-TW" u="none" dirty="0"/>
                        <a:t>26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8152637"/>
                  </a:ext>
                </a:extLst>
              </a:tr>
            </a:tbl>
          </a:graphicData>
        </a:graphic>
      </p:graphicFrame>
      <p:graphicFrame>
        <p:nvGraphicFramePr>
          <p:cNvPr id="10" name="表格 10">
            <a:extLst>
              <a:ext uri="{FF2B5EF4-FFF2-40B4-BE49-F238E27FC236}">
                <a16:creationId xmlns:a16="http://schemas.microsoft.com/office/drawing/2014/main" id="{E885C788-9033-407B-9598-EA3A302EEBF6}"/>
              </a:ext>
            </a:extLst>
          </p:cNvPr>
          <p:cNvGraphicFramePr>
            <a:graphicFrameLocks noGrp="1"/>
          </p:cNvGraphicFramePr>
          <p:nvPr>
            <p:extLst>
              <p:ext uri="{D42A27DB-BD31-4B8C-83A1-F6EECF244321}">
                <p14:modId xmlns:p14="http://schemas.microsoft.com/office/powerpoint/2010/main" val="1953266236"/>
              </p:ext>
            </p:extLst>
          </p:nvPr>
        </p:nvGraphicFramePr>
        <p:xfrm>
          <a:off x="284084" y="3844291"/>
          <a:ext cx="3276000" cy="111252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977457734"/>
                    </a:ext>
                  </a:extLst>
                </a:gridCol>
                <a:gridCol w="468000">
                  <a:extLst>
                    <a:ext uri="{9D8B030D-6E8A-4147-A177-3AD203B41FA5}">
                      <a16:colId xmlns:a16="http://schemas.microsoft.com/office/drawing/2014/main" val="864086457"/>
                    </a:ext>
                  </a:extLst>
                </a:gridCol>
                <a:gridCol w="468000">
                  <a:extLst>
                    <a:ext uri="{9D8B030D-6E8A-4147-A177-3AD203B41FA5}">
                      <a16:colId xmlns:a16="http://schemas.microsoft.com/office/drawing/2014/main" val="3050585620"/>
                    </a:ext>
                  </a:extLst>
                </a:gridCol>
                <a:gridCol w="468000">
                  <a:extLst>
                    <a:ext uri="{9D8B030D-6E8A-4147-A177-3AD203B41FA5}">
                      <a16:colId xmlns:a16="http://schemas.microsoft.com/office/drawing/2014/main" val="1208535248"/>
                    </a:ext>
                  </a:extLst>
                </a:gridCol>
                <a:gridCol w="468000">
                  <a:extLst>
                    <a:ext uri="{9D8B030D-6E8A-4147-A177-3AD203B41FA5}">
                      <a16:colId xmlns:a16="http://schemas.microsoft.com/office/drawing/2014/main" val="2784876407"/>
                    </a:ext>
                  </a:extLst>
                </a:gridCol>
                <a:gridCol w="468000">
                  <a:extLst>
                    <a:ext uri="{9D8B030D-6E8A-4147-A177-3AD203B41FA5}">
                      <a16:colId xmlns:a16="http://schemas.microsoft.com/office/drawing/2014/main" val="2536739071"/>
                    </a:ext>
                  </a:extLst>
                </a:gridCol>
                <a:gridCol w="468000">
                  <a:extLst>
                    <a:ext uri="{9D8B030D-6E8A-4147-A177-3AD203B41FA5}">
                      <a16:colId xmlns:a16="http://schemas.microsoft.com/office/drawing/2014/main" val="2548226210"/>
                    </a:ext>
                  </a:extLst>
                </a:gridCol>
              </a:tblGrid>
              <a:tr h="370840">
                <a:tc gridSpan="7">
                  <a:txBody>
                    <a:bodyPr/>
                    <a:lstStyle/>
                    <a:p>
                      <a:pPr algn="ctr"/>
                      <a:r>
                        <a:rPr lang="en-US" altLang="zh-TW" dirty="0"/>
                        <a:t>Pattern</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701650929"/>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67490784"/>
                  </a:ext>
                </a:extLst>
              </a:tr>
              <a:tr h="370840">
                <a:tc>
                  <a:txBody>
                    <a:bodyPr/>
                    <a:lstStyle/>
                    <a:p>
                      <a:pPr algn="ctr"/>
                      <a:r>
                        <a:rPr lang="en-US" altLang="zh-TW" b="0" u="sng" dirty="0"/>
                        <a:t>0</a:t>
                      </a:r>
                      <a:endParaRPr lang="zh-TW" altLang="en-US" b="0" u="sng"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1</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2</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3</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4</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5</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sng" dirty="0"/>
                        <a:t>6</a:t>
                      </a:r>
                      <a:endParaRPr lang="zh-TW" altLang="en-US" u="sng"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7993790"/>
                  </a:ext>
                </a:extLst>
              </a:tr>
            </a:tbl>
          </a:graphicData>
        </a:graphic>
      </p:graphicFrame>
      <p:graphicFrame>
        <p:nvGraphicFramePr>
          <p:cNvPr id="12" name="表格 12">
            <a:extLst>
              <a:ext uri="{FF2B5EF4-FFF2-40B4-BE49-F238E27FC236}">
                <a16:creationId xmlns:a16="http://schemas.microsoft.com/office/drawing/2014/main" id="{FD86A1C1-D030-44B6-9A8A-D9DD850C2EA3}"/>
              </a:ext>
            </a:extLst>
          </p:cNvPr>
          <p:cNvGraphicFramePr>
            <a:graphicFrameLocks noGrp="1"/>
          </p:cNvGraphicFramePr>
          <p:nvPr>
            <p:extLst>
              <p:ext uri="{D42A27DB-BD31-4B8C-83A1-F6EECF244321}">
                <p14:modId xmlns:p14="http://schemas.microsoft.com/office/powerpoint/2010/main" val="155206244"/>
              </p:ext>
            </p:extLst>
          </p:nvPr>
        </p:nvGraphicFramePr>
        <p:xfrm>
          <a:off x="3977278" y="3849309"/>
          <a:ext cx="3744000" cy="25905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2991974432"/>
                    </a:ext>
                  </a:extLst>
                </a:gridCol>
                <a:gridCol w="468000">
                  <a:extLst>
                    <a:ext uri="{9D8B030D-6E8A-4147-A177-3AD203B41FA5}">
                      <a16:colId xmlns:a16="http://schemas.microsoft.com/office/drawing/2014/main" val="1894554818"/>
                    </a:ext>
                  </a:extLst>
                </a:gridCol>
                <a:gridCol w="468000">
                  <a:extLst>
                    <a:ext uri="{9D8B030D-6E8A-4147-A177-3AD203B41FA5}">
                      <a16:colId xmlns:a16="http://schemas.microsoft.com/office/drawing/2014/main" val="3527345143"/>
                    </a:ext>
                  </a:extLst>
                </a:gridCol>
                <a:gridCol w="468000">
                  <a:extLst>
                    <a:ext uri="{9D8B030D-6E8A-4147-A177-3AD203B41FA5}">
                      <a16:colId xmlns:a16="http://schemas.microsoft.com/office/drawing/2014/main" val="1109912558"/>
                    </a:ext>
                  </a:extLst>
                </a:gridCol>
                <a:gridCol w="468000">
                  <a:extLst>
                    <a:ext uri="{9D8B030D-6E8A-4147-A177-3AD203B41FA5}">
                      <a16:colId xmlns:a16="http://schemas.microsoft.com/office/drawing/2014/main" val="1324230641"/>
                    </a:ext>
                  </a:extLst>
                </a:gridCol>
                <a:gridCol w="468000">
                  <a:extLst>
                    <a:ext uri="{9D8B030D-6E8A-4147-A177-3AD203B41FA5}">
                      <a16:colId xmlns:a16="http://schemas.microsoft.com/office/drawing/2014/main" val="3361577293"/>
                    </a:ext>
                  </a:extLst>
                </a:gridCol>
                <a:gridCol w="468000">
                  <a:extLst>
                    <a:ext uri="{9D8B030D-6E8A-4147-A177-3AD203B41FA5}">
                      <a16:colId xmlns:a16="http://schemas.microsoft.com/office/drawing/2014/main" val="1008476614"/>
                    </a:ext>
                  </a:extLst>
                </a:gridCol>
                <a:gridCol w="468000">
                  <a:extLst>
                    <a:ext uri="{9D8B030D-6E8A-4147-A177-3AD203B41FA5}">
                      <a16:colId xmlns:a16="http://schemas.microsoft.com/office/drawing/2014/main" val="1759697511"/>
                    </a:ext>
                  </a:extLst>
                </a:gridCol>
              </a:tblGrid>
              <a:tr h="270230">
                <a:tc gridSpan="8">
                  <a:txBody>
                    <a:bodyPr/>
                    <a:lstStyle/>
                    <a:p>
                      <a:pPr algn="ctr"/>
                      <a:r>
                        <a:rPr lang="en-US" altLang="zh-TW" dirty="0"/>
                        <a:t>Window</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58347"/>
                  </a:ext>
                </a:extLst>
              </a:tr>
              <a:tr h="370800">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514343419"/>
                  </a:ext>
                </a:extLst>
              </a:tr>
              <a:tr h="370800">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759438040"/>
                  </a:ext>
                </a:extLst>
              </a:tr>
              <a:tr h="370800">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850901904"/>
                  </a:ext>
                </a:extLst>
              </a:tr>
              <a:tr h="370800">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16237027"/>
                  </a:ext>
                </a:extLst>
              </a:tr>
              <a:tr h="370800">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135373482"/>
                  </a:ext>
                </a:extLst>
              </a:tr>
              <a:tr h="370800">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400411046"/>
                  </a:ext>
                </a:extLst>
              </a:tr>
            </a:tbl>
          </a:graphicData>
        </a:graphic>
      </p:graphicFrame>
      <p:graphicFrame>
        <p:nvGraphicFramePr>
          <p:cNvPr id="9" name="表格 12">
            <a:extLst>
              <a:ext uri="{FF2B5EF4-FFF2-40B4-BE49-F238E27FC236}">
                <a16:creationId xmlns:a16="http://schemas.microsoft.com/office/drawing/2014/main" id="{42A8AC39-1A17-49C8-BA82-F90F065078CE}"/>
              </a:ext>
            </a:extLst>
          </p:cNvPr>
          <p:cNvGraphicFramePr>
            <a:graphicFrameLocks noGrp="1"/>
          </p:cNvGraphicFramePr>
          <p:nvPr>
            <p:extLst>
              <p:ext uri="{D42A27DB-BD31-4B8C-83A1-F6EECF244321}">
                <p14:modId xmlns:p14="http://schemas.microsoft.com/office/powerpoint/2010/main" val="1486853016"/>
              </p:ext>
            </p:extLst>
          </p:nvPr>
        </p:nvGraphicFramePr>
        <p:xfrm>
          <a:off x="8138472" y="3846931"/>
          <a:ext cx="3744000" cy="22197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2991974432"/>
                    </a:ext>
                  </a:extLst>
                </a:gridCol>
                <a:gridCol w="468000">
                  <a:extLst>
                    <a:ext uri="{9D8B030D-6E8A-4147-A177-3AD203B41FA5}">
                      <a16:colId xmlns:a16="http://schemas.microsoft.com/office/drawing/2014/main" val="1894554818"/>
                    </a:ext>
                  </a:extLst>
                </a:gridCol>
                <a:gridCol w="468000">
                  <a:extLst>
                    <a:ext uri="{9D8B030D-6E8A-4147-A177-3AD203B41FA5}">
                      <a16:colId xmlns:a16="http://schemas.microsoft.com/office/drawing/2014/main" val="3527345143"/>
                    </a:ext>
                  </a:extLst>
                </a:gridCol>
                <a:gridCol w="468000">
                  <a:extLst>
                    <a:ext uri="{9D8B030D-6E8A-4147-A177-3AD203B41FA5}">
                      <a16:colId xmlns:a16="http://schemas.microsoft.com/office/drawing/2014/main" val="1109912558"/>
                    </a:ext>
                  </a:extLst>
                </a:gridCol>
                <a:gridCol w="468000">
                  <a:extLst>
                    <a:ext uri="{9D8B030D-6E8A-4147-A177-3AD203B41FA5}">
                      <a16:colId xmlns:a16="http://schemas.microsoft.com/office/drawing/2014/main" val="1324230641"/>
                    </a:ext>
                  </a:extLst>
                </a:gridCol>
                <a:gridCol w="468000">
                  <a:extLst>
                    <a:ext uri="{9D8B030D-6E8A-4147-A177-3AD203B41FA5}">
                      <a16:colId xmlns:a16="http://schemas.microsoft.com/office/drawing/2014/main" val="3361577293"/>
                    </a:ext>
                  </a:extLst>
                </a:gridCol>
                <a:gridCol w="468000">
                  <a:extLst>
                    <a:ext uri="{9D8B030D-6E8A-4147-A177-3AD203B41FA5}">
                      <a16:colId xmlns:a16="http://schemas.microsoft.com/office/drawing/2014/main" val="1008476614"/>
                    </a:ext>
                  </a:extLst>
                </a:gridCol>
                <a:gridCol w="468000">
                  <a:extLst>
                    <a:ext uri="{9D8B030D-6E8A-4147-A177-3AD203B41FA5}">
                      <a16:colId xmlns:a16="http://schemas.microsoft.com/office/drawing/2014/main" val="1759697511"/>
                    </a:ext>
                  </a:extLst>
                </a:gridCol>
              </a:tblGrid>
              <a:tr h="270230">
                <a:tc gridSpan="8">
                  <a:txBody>
                    <a:bodyPr/>
                    <a:lstStyle/>
                    <a:p>
                      <a:pPr algn="ctr"/>
                      <a:r>
                        <a:rPr lang="en-US" altLang="zh-TW" dirty="0"/>
                        <a:t>Window</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58347"/>
                  </a:ext>
                </a:extLst>
              </a:tr>
              <a:tr h="370800">
                <a:tc>
                  <a:txBody>
                    <a:bodyPr/>
                    <a:lstStyle/>
                    <a:p>
                      <a:pPr algn="ctr"/>
                      <a:r>
                        <a:rPr lang="en-US" altLang="zh-TW" dirty="0"/>
                        <a:t>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514343419"/>
                  </a:ext>
                </a:extLst>
              </a:tr>
              <a:tr h="370800">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759438040"/>
                  </a:ext>
                </a:extLst>
              </a:tr>
              <a:tr h="370800">
                <a:tc>
                  <a:txBody>
                    <a:bodyPr/>
                    <a:lstStyle/>
                    <a:p>
                      <a:pPr algn="ctr"/>
                      <a:r>
                        <a:rPr lang="en-US" altLang="zh-TW" dirty="0"/>
                        <a:t>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850901904"/>
                  </a:ext>
                </a:extLst>
              </a:tr>
              <a:tr h="370800">
                <a:tc>
                  <a:txBody>
                    <a:bodyPr/>
                    <a:lstStyle/>
                    <a:p>
                      <a:pPr algn="ctr"/>
                      <a:r>
                        <a:rPr lang="en-US" altLang="zh-TW" dirty="0"/>
                        <a:t>34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16237027"/>
                  </a:ext>
                </a:extLst>
              </a:tr>
              <a:tr h="370800">
                <a:tc>
                  <a:txBody>
                    <a:bodyPr/>
                    <a:lstStyle/>
                    <a:p>
                      <a:pPr algn="ctr"/>
                      <a:r>
                        <a:rPr lang="en-US" altLang="zh-TW" dirty="0"/>
                        <a:t>41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135373482"/>
                  </a:ext>
                </a:extLst>
              </a:tr>
            </a:tbl>
          </a:graphicData>
        </a:graphic>
      </p:graphicFrame>
    </p:spTree>
    <p:extLst>
      <p:ext uri="{BB962C8B-B14F-4D97-AF65-F5344CB8AC3E}">
        <p14:creationId xmlns:p14="http://schemas.microsoft.com/office/powerpoint/2010/main" val="181188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7C1867-A6B5-4C59-A530-50277BD5D2D6}"/>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PAPM</a:t>
            </a:r>
            <a:r>
              <a:rPr lang="zh-TW" altLang="en-US" sz="3600" dirty="0">
                <a:latin typeface="Times New Roman" panose="02020603050405020304" pitchFamily="18" charset="0"/>
                <a:cs typeface="Times New Roman" panose="02020603050405020304" pitchFamily="18" charset="0"/>
              </a:rPr>
              <a:t>：</a:t>
            </a:r>
            <a:r>
              <a:rPr lang="en-US" altLang="zh-TW" sz="3600" dirty="0">
                <a:latin typeface="Times New Roman" panose="02020603050405020304" pitchFamily="18" charset="0"/>
                <a:cs typeface="Times New Roman" panose="02020603050405020304" pitchFamily="18" charset="0"/>
              </a:rPr>
              <a:t>Processor-Aware Pattern Matching Algorithm</a:t>
            </a:r>
          </a:p>
        </p:txBody>
      </p:sp>
      <p:graphicFrame>
        <p:nvGraphicFramePr>
          <p:cNvPr id="8" name="表格 8">
            <a:extLst>
              <a:ext uri="{FF2B5EF4-FFF2-40B4-BE49-F238E27FC236}">
                <a16:creationId xmlns:a16="http://schemas.microsoft.com/office/drawing/2014/main" id="{40F1DDA8-3FCD-4C33-9C36-E87EB9270881}"/>
              </a:ext>
            </a:extLst>
          </p:cNvPr>
          <p:cNvGraphicFramePr>
            <a:graphicFrameLocks noGrp="1"/>
          </p:cNvGraphicFramePr>
          <p:nvPr>
            <p:ph idx="1"/>
            <p:extLst>
              <p:ext uri="{D42A27DB-BD31-4B8C-83A1-F6EECF244321}">
                <p14:modId xmlns:p14="http://schemas.microsoft.com/office/powerpoint/2010/main" val="3113509734"/>
              </p:ext>
            </p:extLst>
          </p:nvPr>
        </p:nvGraphicFramePr>
        <p:xfrm>
          <a:off x="0" y="1690688"/>
          <a:ext cx="12191998" cy="1940560"/>
        </p:xfrm>
        <a:graphic>
          <a:graphicData uri="http://schemas.openxmlformats.org/drawingml/2006/table">
            <a:tbl>
              <a:tblPr firstRow="1" bandRow="1">
                <a:tableStyleId>{5940675A-B579-460E-94D1-54222C63F5DA}</a:tableStyleId>
              </a:tblPr>
              <a:tblGrid>
                <a:gridCol w="468923">
                  <a:extLst>
                    <a:ext uri="{9D8B030D-6E8A-4147-A177-3AD203B41FA5}">
                      <a16:colId xmlns:a16="http://schemas.microsoft.com/office/drawing/2014/main" val="1645789277"/>
                    </a:ext>
                  </a:extLst>
                </a:gridCol>
                <a:gridCol w="468923">
                  <a:extLst>
                    <a:ext uri="{9D8B030D-6E8A-4147-A177-3AD203B41FA5}">
                      <a16:colId xmlns:a16="http://schemas.microsoft.com/office/drawing/2014/main" val="1453164206"/>
                    </a:ext>
                  </a:extLst>
                </a:gridCol>
                <a:gridCol w="468923">
                  <a:extLst>
                    <a:ext uri="{9D8B030D-6E8A-4147-A177-3AD203B41FA5}">
                      <a16:colId xmlns:a16="http://schemas.microsoft.com/office/drawing/2014/main" val="1745729708"/>
                    </a:ext>
                  </a:extLst>
                </a:gridCol>
                <a:gridCol w="468923">
                  <a:extLst>
                    <a:ext uri="{9D8B030D-6E8A-4147-A177-3AD203B41FA5}">
                      <a16:colId xmlns:a16="http://schemas.microsoft.com/office/drawing/2014/main" val="2547028197"/>
                    </a:ext>
                  </a:extLst>
                </a:gridCol>
                <a:gridCol w="468923">
                  <a:extLst>
                    <a:ext uri="{9D8B030D-6E8A-4147-A177-3AD203B41FA5}">
                      <a16:colId xmlns:a16="http://schemas.microsoft.com/office/drawing/2014/main" val="2460704358"/>
                    </a:ext>
                  </a:extLst>
                </a:gridCol>
                <a:gridCol w="468923">
                  <a:extLst>
                    <a:ext uri="{9D8B030D-6E8A-4147-A177-3AD203B41FA5}">
                      <a16:colId xmlns:a16="http://schemas.microsoft.com/office/drawing/2014/main" val="1421425480"/>
                    </a:ext>
                  </a:extLst>
                </a:gridCol>
                <a:gridCol w="468923">
                  <a:extLst>
                    <a:ext uri="{9D8B030D-6E8A-4147-A177-3AD203B41FA5}">
                      <a16:colId xmlns:a16="http://schemas.microsoft.com/office/drawing/2014/main" val="3965652348"/>
                    </a:ext>
                  </a:extLst>
                </a:gridCol>
                <a:gridCol w="468923">
                  <a:extLst>
                    <a:ext uri="{9D8B030D-6E8A-4147-A177-3AD203B41FA5}">
                      <a16:colId xmlns:a16="http://schemas.microsoft.com/office/drawing/2014/main" val="3809432536"/>
                    </a:ext>
                  </a:extLst>
                </a:gridCol>
                <a:gridCol w="468923">
                  <a:extLst>
                    <a:ext uri="{9D8B030D-6E8A-4147-A177-3AD203B41FA5}">
                      <a16:colId xmlns:a16="http://schemas.microsoft.com/office/drawing/2014/main" val="1789431445"/>
                    </a:ext>
                  </a:extLst>
                </a:gridCol>
                <a:gridCol w="468923">
                  <a:extLst>
                    <a:ext uri="{9D8B030D-6E8A-4147-A177-3AD203B41FA5}">
                      <a16:colId xmlns:a16="http://schemas.microsoft.com/office/drawing/2014/main" val="2099502513"/>
                    </a:ext>
                  </a:extLst>
                </a:gridCol>
                <a:gridCol w="468923">
                  <a:extLst>
                    <a:ext uri="{9D8B030D-6E8A-4147-A177-3AD203B41FA5}">
                      <a16:colId xmlns:a16="http://schemas.microsoft.com/office/drawing/2014/main" val="3945262137"/>
                    </a:ext>
                  </a:extLst>
                </a:gridCol>
                <a:gridCol w="468923">
                  <a:extLst>
                    <a:ext uri="{9D8B030D-6E8A-4147-A177-3AD203B41FA5}">
                      <a16:colId xmlns:a16="http://schemas.microsoft.com/office/drawing/2014/main" val="2475580911"/>
                    </a:ext>
                  </a:extLst>
                </a:gridCol>
                <a:gridCol w="468923">
                  <a:extLst>
                    <a:ext uri="{9D8B030D-6E8A-4147-A177-3AD203B41FA5}">
                      <a16:colId xmlns:a16="http://schemas.microsoft.com/office/drawing/2014/main" val="3942816514"/>
                    </a:ext>
                  </a:extLst>
                </a:gridCol>
                <a:gridCol w="468923">
                  <a:extLst>
                    <a:ext uri="{9D8B030D-6E8A-4147-A177-3AD203B41FA5}">
                      <a16:colId xmlns:a16="http://schemas.microsoft.com/office/drawing/2014/main" val="1273161322"/>
                    </a:ext>
                  </a:extLst>
                </a:gridCol>
                <a:gridCol w="468923">
                  <a:extLst>
                    <a:ext uri="{9D8B030D-6E8A-4147-A177-3AD203B41FA5}">
                      <a16:colId xmlns:a16="http://schemas.microsoft.com/office/drawing/2014/main" val="3446876044"/>
                    </a:ext>
                  </a:extLst>
                </a:gridCol>
                <a:gridCol w="468923">
                  <a:extLst>
                    <a:ext uri="{9D8B030D-6E8A-4147-A177-3AD203B41FA5}">
                      <a16:colId xmlns:a16="http://schemas.microsoft.com/office/drawing/2014/main" val="3064600901"/>
                    </a:ext>
                  </a:extLst>
                </a:gridCol>
                <a:gridCol w="468923">
                  <a:extLst>
                    <a:ext uri="{9D8B030D-6E8A-4147-A177-3AD203B41FA5}">
                      <a16:colId xmlns:a16="http://schemas.microsoft.com/office/drawing/2014/main" val="3594675311"/>
                    </a:ext>
                  </a:extLst>
                </a:gridCol>
                <a:gridCol w="468923">
                  <a:extLst>
                    <a:ext uri="{9D8B030D-6E8A-4147-A177-3AD203B41FA5}">
                      <a16:colId xmlns:a16="http://schemas.microsoft.com/office/drawing/2014/main" val="2845931187"/>
                    </a:ext>
                  </a:extLst>
                </a:gridCol>
                <a:gridCol w="468923">
                  <a:extLst>
                    <a:ext uri="{9D8B030D-6E8A-4147-A177-3AD203B41FA5}">
                      <a16:colId xmlns:a16="http://schemas.microsoft.com/office/drawing/2014/main" val="2114288021"/>
                    </a:ext>
                  </a:extLst>
                </a:gridCol>
                <a:gridCol w="468923">
                  <a:extLst>
                    <a:ext uri="{9D8B030D-6E8A-4147-A177-3AD203B41FA5}">
                      <a16:colId xmlns:a16="http://schemas.microsoft.com/office/drawing/2014/main" val="127503766"/>
                    </a:ext>
                  </a:extLst>
                </a:gridCol>
                <a:gridCol w="468923">
                  <a:extLst>
                    <a:ext uri="{9D8B030D-6E8A-4147-A177-3AD203B41FA5}">
                      <a16:colId xmlns:a16="http://schemas.microsoft.com/office/drawing/2014/main" val="681330191"/>
                    </a:ext>
                  </a:extLst>
                </a:gridCol>
                <a:gridCol w="468923">
                  <a:extLst>
                    <a:ext uri="{9D8B030D-6E8A-4147-A177-3AD203B41FA5}">
                      <a16:colId xmlns:a16="http://schemas.microsoft.com/office/drawing/2014/main" val="2480498332"/>
                    </a:ext>
                  </a:extLst>
                </a:gridCol>
                <a:gridCol w="468923">
                  <a:extLst>
                    <a:ext uri="{9D8B030D-6E8A-4147-A177-3AD203B41FA5}">
                      <a16:colId xmlns:a16="http://schemas.microsoft.com/office/drawing/2014/main" val="3389278925"/>
                    </a:ext>
                  </a:extLst>
                </a:gridCol>
                <a:gridCol w="468923">
                  <a:extLst>
                    <a:ext uri="{9D8B030D-6E8A-4147-A177-3AD203B41FA5}">
                      <a16:colId xmlns:a16="http://schemas.microsoft.com/office/drawing/2014/main" val="287337414"/>
                    </a:ext>
                  </a:extLst>
                </a:gridCol>
                <a:gridCol w="468923">
                  <a:extLst>
                    <a:ext uri="{9D8B030D-6E8A-4147-A177-3AD203B41FA5}">
                      <a16:colId xmlns:a16="http://schemas.microsoft.com/office/drawing/2014/main" val="1664624850"/>
                    </a:ext>
                  </a:extLst>
                </a:gridCol>
                <a:gridCol w="468923">
                  <a:extLst>
                    <a:ext uri="{9D8B030D-6E8A-4147-A177-3AD203B41FA5}">
                      <a16:colId xmlns:a16="http://schemas.microsoft.com/office/drawing/2014/main" val="3769668015"/>
                    </a:ext>
                  </a:extLst>
                </a:gridCol>
              </a:tblGrid>
              <a:tr h="370840">
                <a:tc gridSpan="26">
                  <a:txBody>
                    <a:bodyPr/>
                    <a:lstStyle/>
                    <a:p>
                      <a:pPr algn="ctr"/>
                      <a:r>
                        <a:rPr lang="en-US" altLang="zh-TW" sz="2400" dirty="0"/>
                        <a:t>Text</a:t>
                      </a:r>
                      <a:endParaRPr lang="zh-TW" altLang="en-US" sz="24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5343014"/>
                  </a:ext>
                </a:extLst>
              </a:tr>
              <a:tr h="370840">
                <a:tc>
                  <a:txBody>
                    <a:bodyPr/>
                    <a:lstStyle/>
                    <a:p>
                      <a:pPr algn="ctr"/>
                      <a:r>
                        <a:rPr lang="en-US" altLang="zh-TW" u="none" dirty="0"/>
                        <a:t>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21155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16337670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4380336"/>
                  </a:ext>
                </a:extLst>
              </a:tr>
              <a:tr h="370840">
                <a:tc>
                  <a:txBody>
                    <a:bodyPr/>
                    <a:lstStyle/>
                    <a:p>
                      <a:pPr algn="ctr"/>
                      <a:r>
                        <a:rPr lang="en-US" altLang="zh-TW" u="none" dirty="0"/>
                        <a:t>26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8152637"/>
                  </a:ext>
                </a:extLst>
              </a:tr>
            </a:tbl>
          </a:graphicData>
        </a:graphic>
      </p:graphicFrame>
      <p:graphicFrame>
        <p:nvGraphicFramePr>
          <p:cNvPr id="10" name="表格 10">
            <a:extLst>
              <a:ext uri="{FF2B5EF4-FFF2-40B4-BE49-F238E27FC236}">
                <a16:creationId xmlns:a16="http://schemas.microsoft.com/office/drawing/2014/main" id="{E885C788-9033-407B-9598-EA3A302EEBF6}"/>
              </a:ext>
            </a:extLst>
          </p:cNvPr>
          <p:cNvGraphicFramePr>
            <a:graphicFrameLocks noGrp="1"/>
          </p:cNvGraphicFramePr>
          <p:nvPr>
            <p:extLst>
              <p:ext uri="{D42A27DB-BD31-4B8C-83A1-F6EECF244321}">
                <p14:modId xmlns:p14="http://schemas.microsoft.com/office/powerpoint/2010/main" val="2595641201"/>
              </p:ext>
            </p:extLst>
          </p:nvPr>
        </p:nvGraphicFramePr>
        <p:xfrm>
          <a:off x="695279" y="4061367"/>
          <a:ext cx="3276000" cy="111252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977457734"/>
                    </a:ext>
                  </a:extLst>
                </a:gridCol>
                <a:gridCol w="468000">
                  <a:extLst>
                    <a:ext uri="{9D8B030D-6E8A-4147-A177-3AD203B41FA5}">
                      <a16:colId xmlns:a16="http://schemas.microsoft.com/office/drawing/2014/main" val="864086457"/>
                    </a:ext>
                  </a:extLst>
                </a:gridCol>
                <a:gridCol w="468000">
                  <a:extLst>
                    <a:ext uri="{9D8B030D-6E8A-4147-A177-3AD203B41FA5}">
                      <a16:colId xmlns:a16="http://schemas.microsoft.com/office/drawing/2014/main" val="3050585620"/>
                    </a:ext>
                  </a:extLst>
                </a:gridCol>
                <a:gridCol w="468000">
                  <a:extLst>
                    <a:ext uri="{9D8B030D-6E8A-4147-A177-3AD203B41FA5}">
                      <a16:colId xmlns:a16="http://schemas.microsoft.com/office/drawing/2014/main" val="1208535248"/>
                    </a:ext>
                  </a:extLst>
                </a:gridCol>
                <a:gridCol w="468000">
                  <a:extLst>
                    <a:ext uri="{9D8B030D-6E8A-4147-A177-3AD203B41FA5}">
                      <a16:colId xmlns:a16="http://schemas.microsoft.com/office/drawing/2014/main" val="2784876407"/>
                    </a:ext>
                  </a:extLst>
                </a:gridCol>
                <a:gridCol w="468000">
                  <a:extLst>
                    <a:ext uri="{9D8B030D-6E8A-4147-A177-3AD203B41FA5}">
                      <a16:colId xmlns:a16="http://schemas.microsoft.com/office/drawing/2014/main" val="2536739071"/>
                    </a:ext>
                  </a:extLst>
                </a:gridCol>
                <a:gridCol w="468000">
                  <a:extLst>
                    <a:ext uri="{9D8B030D-6E8A-4147-A177-3AD203B41FA5}">
                      <a16:colId xmlns:a16="http://schemas.microsoft.com/office/drawing/2014/main" val="2548226210"/>
                    </a:ext>
                  </a:extLst>
                </a:gridCol>
              </a:tblGrid>
              <a:tr h="370840">
                <a:tc gridSpan="7">
                  <a:txBody>
                    <a:bodyPr/>
                    <a:lstStyle/>
                    <a:p>
                      <a:pPr algn="ctr"/>
                      <a:r>
                        <a:rPr lang="en-US" altLang="zh-TW" dirty="0"/>
                        <a:t>Pattern</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701650929"/>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7490784"/>
                  </a:ext>
                </a:extLst>
              </a:tr>
              <a:tr h="370840">
                <a:tc>
                  <a:txBody>
                    <a:bodyPr/>
                    <a:lstStyle/>
                    <a:p>
                      <a:pPr algn="ctr"/>
                      <a:r>
                        <a:rPr lang="en-US" altLang="zh-TW" b="0" u="none" dirty="0"/>
                        <a:t>0</a:t>
                      </a:r>
                      <a:endParaRPr lang="zh-TW" altLang="en-US" b="0"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4</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5</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7993790"/>
                  </a:ext>
                </a:extLst>
              </a:tr>
            </a:tbl>
          </a:graphicData>
        </a:graphic>
      </p:graphicFrame>
      <p:graphicFrame>
        <p:nvGraphicFramePr>
          <p:cNvPr id="3" name="表格 3">
            <a:extLst>
              <a:ext uri="{FF2B5EF4-FFF2-40B4-BE49-F238E27FC236}">
                <a16:creationId xmlns:a16="http://schemas.microsoft.com/office/drawing/2014/main" id="{FFD890C1-10EE-4A0A-8592-4A7C4BE119E2}"/>
              </a:ext>
            </a:extLst>
          </p:cNvPr>
          <p:cNvGraphicFramePr>
            <a:graphicFrameLocks noGrp="1"/>
          </p:cNvGraphicFramePr>
          <p:nvPr>
            <p:extLst>
              <p:ext uri="{D42A27DB-BD31-4B8C-83A1-F6EECF244321}">
                <p14:modId xmlns:p14="http://schemas.microsoft.com/office/powerpoint/2010/main" val="4233211688"/>
              </p:ext>
            </p:extLst>
          </p:nvPr>
        </p:nvGraphicFramePr>
        <p:xfrm>
          <a:off x="4251417" y="4054792"/>
          <a:ext cx="2808000" cy="74168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3018391375"/>
                    </a:ext>
                  </a:extLst>
                </a:gridCol>
                <a:gridCol w="468000">
                  <a:extLst>
                    <a:ext uri="{9D8B030D-6E8A-4147-A177-3AD203B41FA5}">
                      <a16:colId xmlns:a16="http://schemas.microsoft.com/office/drawing/2014/main" val="2128767208"/>
                    </a:ext>
                  </a:extLst>
                </a:gridCol>
                <a:gridCol w="468000">
                  <a:extLst>
                    <a:ext uri="{9D8B030D-6E8A-4147-A177-3AD203B41FA5}">
                      <a16:colId xmlns:a16="http://schemas.microsoft.com/office/drawing/2014/main" val="2312685453"/>
                    </a:ext>
                  </a:extLst>
                </a:gridCol>
                <a:gridCol w="468000">
                  <a:extLst>
                    <a:ext uri="{9D8B030D-6E8A-4147-A177-3AD203B41FA5}">
                      <a16:colId xmlns:a16="http://schemas.microsoft.com/office/drawing/2014/main" val="2663613380"/>
                    </a:ext>
                  </a:extLst>
                </a:gridCol>
                <a:gridCol w="468000">
                  <a:extLst>
                    <a:ext uri="{9D8B030D-6E8A-4147-A177-3AD203B41FA5}">
                      <a16:colId xmlns:a16="http://schemas.microsoft.com/office/drawing/2014/main" val="2118650007"/>
                    </a:ext>
                  </a:extLst>
                </a:gridCol>
                <a:gridCol w="468000">
                  <a:extLst>
                    <a:ext uri="{9D8B030D-6E8A-4147-A177-3AD203B41FA5}">
                      <a16:colId xmlns:a16="http://schemas.microsoft.com/office/drawing/2014/main" val="1888588903"/>
                    </a:ext>
                  </a:extLst>
                </a:gridCol>
              </a:tblGrid>
              <a:tr h="370840">
                <a:tc gridSpan="6">
                  <a:txBody>
                    <a:bodyPr/>
                    <a:lstStyle/>
                    <a:p>
                      <a:pPr algn="ctr"/>
                      <a:r>
                        <a:rPr lang="en-US" altLang="zh-TW" dirty="0" err="1"/>
                        <a:t>Window_Index</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456745935"/>
                  </a:ext>
                </a:extLst>
              </a:tr>
              <a:tr h="370840">
                <a:tc>
                  <a:txBody>
                    <a:bodyPr/>
                    <a:lstStyle/>
                    <a:p>
                      <a:pPr algn="ctr"/>
                      <a:endParaRPr lang="zh-TW"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4156159"/>
                  </a:ext>
                </a:extLst>
              </a:tr>
            </a:tbl>
          </a:graphicData>
        </a:graphic>
      </p:graphicFrame>
      <p:cxnSp>
        <p:nvCxnSpPr>
          <p:cNvPr id="6" name="直線接點 5">
            <a:extLst>
              <a:ext uri="{FF2B5EF4-FFF2-40B4-BE49-F238E27FC236}">
                <a16:creationId xmlns:a16="http://schemas.microsoft.com/office/drawing/2014/main" id="{580A5E8E-A6A3-4870-B37C-1F0D8C5C26B8}"/>
              </a:ext>
            </a:extLst>
          </p:cNvPr>
          <p:cNvCxnSpPr/>
          <p:nvPr/>
        </p:nvCxnSpPr>
        <p:spPr>
          <a:xfrm>
            <a:off x="863954" y="5111236"/>
            <a:ext cx="1535837"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9" name="表格 12">
            <a:extLst>
              <a:ext uri="{FF2B5EF4-FFF2-40B4-BE49-F238E27FC236}">
                <a16:creationId xmlns:a16="http://schemas.microsoft.com/office/drawing/2014/main" id="{45143D8F-3612-4D48-A815-D16DECA4DF10}"/>
              </a:ext>
            </a:extLst>
          </p:cNvPr>
          <p:cNvGraphicFramePr>
            <a:graphicFrameLocks noGrp="1"/>
          </p:cNvGraphicFramePr>
          <p:nvPr>
            <p:extLst>
              <p:ext uri="{D42A27DB-BD31-4B8C-83A1-F6EECF244321}">
                <p14:modId xmlns:p14="http://schemas.microsoft.com/office/powerpoint/2010/main" val="282477184"/>
              </p:ext>
            </p:extLst>
          </p:nvPr>
        </p:nvGraphicFramePr>
        <p:xfrm>
          <a:off x="7584046" y="4125926"/>
          <a:ext cx="3744000" cy="110736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2991974432"/>
                    </a:ext>
                  </a:extLst>
                </a:gridCol>
                <a:gridCol w="468000">
                  <a:extLst>
                    <a:ext uri="{9D8B030D-6E8A-4147-A177-3AD203B41FA5}">
                      <a16:colId xmlns:a16="http://schemas.microsoft.com/office/drawing/2014/main" val="1894554818"/>
                    </a:ext>
                  </a:extLst>
                </a:gridCol>
                <a:gridCol w="468000">
                  <a:extLst>
                    <a:ext uri="{9D8B030D-6E8A-4147-A177-3AD203B41FA5}">
                      <a16:colId xmlns:a16="http://schemas.microsoft.com/office/drawing/2014/main" val="3527345143"/>
                    </a:ext>
                  </a:extLst>
                </a:gridCol>
                <a:gridCol w="468000">
                  <a:extLst>
                    <a:ext uri="{9D8B030D-6E8A-4147-A177-3AD203B41FA5}">
                      <a16:colId xmlns:a16="http://schemas.microsoft.com/office/drawing/2014/main" val="1109912558"/>
                    </a:ext>
                  </a:extLst>
                </a:gridCol>
                <a:gridCol w="468000">
                  <a:extLst>
                    <a:ext uri="{9D8B030D-6E8A-4147-A177-3AD203B41FA5}">
                      <a16:colId xmlns:a16="http://schemas.microsoft.com/office/drawing/2014/main" val="1324230641"/>
                    </a:ext>
                  </a:extLst>
                </a:gridCol>
                <a:gridCol w="468000">
                  <a:extLst>
                    <a:ext uri="{9D8B030D-6E8A-4147-A177-3AD203B41FA5}">
                      <a16:colId xmlns:a16="http://schemas.microsoft.com/office/drawing/2014/main" val="3361577293"/>
                    </a:ext>
                  </a:extLst>
                </a:gridCol>
                <a:gridCol w="468000">
                  <a:extLst>
                    <a:ext uri="{9D8B030D-6E8A-4147-A177-3AD203B41FA5}">
                      <a16:colId xmlns:a16="http://schemas.microsoft.com/office/drawing/2014/main" val="1008476614"/>
                    </a:ext>
                  </a:extLst>
                </a:gridCol>
                <a:gridCol w="468000">
                  <a:extLst>
                    <a:ext uri="{9D8B030D-6E8A-4147-A177-3AD203B41FA5}">
                      <a16:colId xmlns:a16="http://schemas.microsoft.com/office/drawing/2014/main" val="1759697511"/>
                    </a:ext>
                  </a:extLst>
                </a:gridCol>
              </a:tblGrid>
              <a:tr h="270230">
                <a:tc gridSpan="8">
                  <a:txBody>
                    <a:bodyPr/>
                    <a:lstStyle/>
                    <a:p>
                      <a:pPr algn="ctr"/>
                      <a:r>
                        <a:rPr lang="en-US" altLang="zh-TW" dirty="0"/>
                        <a:t>Window</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58347"/>
                  </a:ext>
                </a:extLst>
              </a:tr>
              <a:tr h="370800">
                <a:tc>
                  <a:txBody>
                    <a:bodyPr/>
                    <a:lstStyle/>
                    <a:p>
                      <a:pPr algn="ctr"/>
                      <a:r>
                        <a:rPr lang="en-US" altLang="zh-TW" dirty="0"/>
                        <a:t>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4343419"/>
                  </a:ext>
                </a:extLst>
              </a:tr>
              <a:tr h="370800">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9438040"/>
                  </a:ext>
                </a:extLst>
              </a:tr>
            </a:tbl>
          </a:graphicData>
        </a:graphic>
      </p:graphicFrame>
    </p:spTree>
    <p:extLst>
      <p:ext uri="{BB962C8B-B14F-4D97-AF65-F5344CB8AC3E}">
        <p14:creationId xmlns:p14="http://schemas.microsoft.com/office/powerpoint/2010/main" val="3168209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7C1867-A6B5-4C59-A530-50277BD5D2D6}"/>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LFPM</a:t>
            </a:r>
            <a:r>
              <a:rPr lang="zh-TW" altLang="en-US" sz="3600" dirty="0">
                <a:latin typeface="Times New Roman" panose="02020603050405020304" pitchFamily="18" charset="0"/>
                <a:cs typeface="Times New Roman" panose="02020603050405020304" pitchFamily="18" charset="0"/>
              </a:rPr>
              <a:t>：</a:t>
            </a:r>
            <a:r>
              <a:rPr lang="en-US" altLang="zh-TW" sz="3600" dirty="0">
                <a:latin typeface="Times New Roman" panose="02020603050405020304" pitchFamily="18" charset="0"/>
                <a:cs typeface="Times New Roman" panose="02020603050405020304" pitchFamily="18" charset="0"/>
              </a:rPr>
              <a:t>Last-Frequency Pattern Matching Algorithm</a:t>
            </a:r>
          </a:p>
        </p:txBody>
      </p:sp>
      <p:graphicFrame>
        <p:nvGraphicFramePr>
          <p:cNvPr id="8" name="表格 8">
            <a:extLst>
              <a:ext uri="{FF2B5EF4-FFF2-40B4-BE49-F238E27FC236}">
                <a16:creationId xmlns:a16="http://schemas.microsoft.com/office/drawing/2014/main" id="{40F1DDA8-3FCD-4C33-9C36-E87EB9270881}"/>
              </a:ext>
            </a:extLst>
          </p:cNvPr>
          <p:cNvGraphicFramePr>
            <a:graphicFrameLocks noGrp="1"/>
          </p:cNvGraphicFramePr>
          <p:nvPr>
            <p:ph idx="1"/>
          </p:nvPr>
        </p:nvGraphicFramePr>
        <p:xfrm>
          <a:off x="0" y="1690688"/>
          <a:ext cx="12191998" cy="1940560"/>
        </p:xfrm>
        <a:graphic>
          <a:graphicData uri="http://schemas.openxmlformats.org/drawingml/2006/table">
            <a:tbl>
              <a:tblPr firstRow="1" bandRow="1">
                <a:tableStyleId>{5940675A-B579-460E-94D1-54222C63F5DA}</a:tableStyleId>
              </a:tblPr>
              <a:tblGrid>
                <a:gridCol w="468923">
                  <a:extLst>
                    <a:ext uri="{9D8B030D-6E8A-4147-A177-3AD203B41FA5}">
                      <a16:colId xmlns:a16="http://schemas.microsoft.com/office/drawing/2014/main" val="1645789277"/>
                    </a:ext>
                  </a:extLst>
                </a:gridCol>
                <a:gridCol w="468923">
                  <a:extLst>
                    <a:ext uri="{9D8B030D-6E8A-4147-A177-3AD203B41FA5}">
                      <a16:colId xmlns:a16="http://schemas.microsoft.com/office/drawing/2014/main" val="1453164206"/>
                    </a:ext>
                  </a:extLst>
                </a:gridCol>
                <a:gridCol w="468923">
                  <a:extLst>
                    <a:ext uri="{9D8B030D-6E8A-4147-A177-3AD203B41FA5}">
                      <a16:colId xmlns:a16="http://schemas.microsoft.com/office/drawing/2014/main" val="1745729708"/>
                    </a:ext>
                  </a:extLst>
                </a:gridCol>
                <a:gridCol w="468923">
                  <a:extLst>
                    <a:ext uri="{9D8B030D-6E8A-4147-A177-3AD203B41FA5}">
                      <a16:colId xmlns:a16="http://schemas.microsoft.com/office/drawing/2014/main" val="2547028197"/>
                    </a:ext>
                  </a:extLst>
                </a:gridCol>
                <a:gridCol w="468923">
                  <a:extLst>
                    <a:ext uri="{9D8B030D-6E8A-4147-A177-3AD203B41FA5}">
                      <a16:colId xmlns:a16="http://schemas.microsoft.com/office/drawing/2014/main" val="2460704358"/>
                    </a:ext>
                  </a:extLst>
                </a:gridCol>
                <a:gridCol w="468923">
                  <a:extLst>
                    <a:ext uri="{9D8B030D-6E8A-4147-A177-3AD203B41FA5}">
                      <a16:colId xmlns:a16="http://schemas.microsoft.com/office/drawing/2014/main" val="1421425480"/>
                    </a:ext>
                  </a:extLst>
                </a:gridCol>
                <a:gridCol w="468923">
                  <a:extLst>
                    <a:ext uri="{9D8B030D-6E8A-4147-A177-3AD203B41FA5}">
                      <a16:colId xmlns:a16="http://schemas.microsoft.com/office/drawing/2014/main" val="3965652348"/>
                    </a:ext>
                  </a:extLst>
                </a:gridCol>
                <a:gridCol w="468923">
                  <a:extLst>
                    <a:ext uri="{9D8B030D-6E8A-4147-A177-3AD203B41FA5}">
                      <a16:colId xmlns:a16="http://schemas.microsoft.com/office/drawing/2014/main" val="3809432536"/>
                    </a:ext>
                  </a:extLst>
                </a:gridCol>
                <a:gridCol w="468923">
                  <a:extLst>
                    <a:ext uri="{9D8B030D-6E8A-4147-A177-3AD203B41FA5}">
                      <a16:colId xmlns:a16="http://schemas.microsoft.com/office/drawing/2014/main" val="1789431445"/>
                    </a:ext>
                  </a:extLst>
                </a:gridCol>
                <a:gridCol w="468923">
                  <a:extLst>
                    <a:ext uri="{9D8B030D-6E8A-4147-A177-3AD203B41FA5}">
                      <a16:colId xmlns:a16="http://schemas.microsoft.com/office/drawing/2014/main" val="2099502513"/>
                    </a:ext>
                  </a:extLst>
                </a:gridCol>
                <a:gridCol w="468923">
                  <a:extLst>
                    <a:ext uri="{9D8B030D-6E8A-4147-A177-3AD203B41FA5}">
                      <a16:colId xmlns:a16="http://schemas.microsoft.com/office/drawing/2014/main" val="3945262137"/>
                    </a:ext>
                  </a:extLst>
                </a:gridCol>
                <a:gridCol w="468923">
                  <a:extLst>
                    <a:ext uri="{9D8B030D-6E8A-4147-A177-3AD203B41FA5}">
                      <a16:colId xmlns:a16="http://schemas.microsoft.com/office/drawing/2014/main" val="2475580911"/>
                    </a:ext>
                  </a:extLst>
                </a:gridCol>
                <a:gridCol w="468923">
                  <a:extLst>
                    <a:ext uri="{9D8B030D-6E8A-4147-A177-3AD203B41FA5}">
                      <a16:colId xmlns:a16="http://schemas.microsoft.com/office/drawing/2014/main" val="3942816514"/>
                    </a:ext>
                  </a:extLst>
                </a:gridCol>
                <a:gridCol w="468923">
                  <a:extLst>
                    <a:ext uri="{9D8B030D-6E8A-4147-A177-3AD203B41FA5}">
                      <a16:colId xmlns:a16="http://schemas.microsoft.com/office/drawing/2014/main" val="1273161322"/>
                    </a:ext>
                  </a:extLst>
                </a:gridCol>
                <a:gridCol w="468923">
                  <a:extLst>
                    <a:ext uri="{9D8B030D-6E8A-4147-A177-3AD203B41FA5}">
                      <a16:colId xmlns:a16="http://schemas.microsoft.com/office/drawing/2014/main" val="3446876044"/>
                    </a:ext>
                  </a:extLst>
                </a:gridCol>
                <a:gridCol w="468923">
                  <a:extLst>
                    <a:ext uri="{9D8B030D-6E8A-4147-A177-3AD203B41FA5}">
                      <a16:colId xmlns:a16="http://schemas.microsoft.com/office/drawing/2014/main" val="3064600901"/>
                    </a:ext>
                  </a:extLst>
                </a:gridCol>
                <a:gridCol w="468923">
                  <a:extLst>
                    <a:ext uri="{9D8B030D-6E8A-4147-A177-3AD203B41FA5}">
                      <a16:colId xmlns:a16="http://schemas.microsoft.com/office/drawing/2014/main" val="3594675311"/>
                    </a:ext>
                  </a:extLst>
                </a:gridCol>
                <a:gridCol w="468923">
                  <a:extLst>
                    <a:ext uri="{9D8B030D-6E8A-4147-A177-3AD203B41FA5}">
                      <a16:colId xmlns:a16="http://schemas.microsoft.com/office/drawing/2014/main" val="2845931187"/>
                    </a:ext>
                  </a:extLst>
                </a:gridCol>
                <a:gridCol w="468923">
                  <a:extLst>
                    <a:ext uri="{9D8B030D-6E8A-4147-A177-3AD203B41FA5}">
                      <a16:colId xmlns:a16="http://schemas.microsoft.com/office/drawing/2014/main" val="2114288021"/>
                    </a:ext>
                  </a:extLst>
                </a:gridCol>
                <a:gridCol w="468923">
                  <a:extLst>
                    <a:ext uri="{9D8B030D-6E8A-4147-A177-3AD203B41FA5}">
                      <a16:colId xmlns:a16="http://schemas.microsoft.com/office/drawing/2014/main" val="127503766"/>
                    </a:ext>
                  </a:extLst>
                </a:gridCol>
                <a:gridCol w="468923">
                  <a:extLst>
                    <a:ext uri="{9D8B030D-6E8A-4147-A177-3AD203B41FA5}">
                      <a16:colId xmlns:a16="http://schemas.microsoft.com/office/drawing/2014/main" val="681330191"/>
                    </a:ext>
                  </a:extLst>
                </a:gridCol>
                <a:gridCol w="468923">
                  <a:extLst>
                    <a:ext uri="{9D8B030D-6E8A-4147-A177-3AD203B41FA5}">
                      <a16:colId xmlns:a16="http://schemas.microsoft.com/office/drawing/2014/main" val="2480498332"/>
                    </a:ext>
                  </a:extLst>
                </a:gridCol>
                <a:gridCol w="468923">
                  <a:extLst>
                    <a:ext uri="{9D8B030D-6E8A-4147-A177-3AD203B41FA5}">
                      <a16:colId xmlns:a16="http://schemas.microsoft.com/office/drawing/2014/main" val="3389278925"/>
                    </a:ext>
                  </a:extLst>
                </a:gridCol>
                <a:gridCol w="468923">
                  <a:extLst>
                    <a:ext uri="{9D8B030D-6E8A-4147-A177-3AD203B41FA5}">
                      <a16:colId xmlns:a16="http://schemas.microsoft.com/office/drawing/2014/main" val="287337414"/>
                    </a:ext>
                  </a:extLst>
                </a:gridCol>
                <a:gridCol w="468923">
                  <a:extLst>
                    <a:ext uri="{9D8B030D-6E8A-4147-A177-3AD203B41FA5}">
                      <a16:colId xmlns:a16="http://schemas.microsoft.com/office/drawing/2014/main" val="1664624850"/>
                    </a:ext>
                  </a:extLst>
                </a:gridCol>
                <a:gridCol w="468923">
                  <a:extLst>
                    <a:ext uri="{9D8B030D-6E8A-4147-A177-3AD203B41FA5}">
                      <a16:colId xmlns:a16="http://schemas.microsoft.com/office/drawing/2014/main" val="3769668015"/>
                    </a:ext>
                  </a:extLst>
                </a:gridCol>
              </a:tblGrid>
              <a:tr h="370840">
                <a:tc gridSpan="26">
                  <a:txBody>
                    <a:bodyPr/>
                    <a:lstStyle/>
                    <a:p>
                      <a:pPr algn="ctr"/>
                      <a:r>
                        <a:rPr lang="en-US" altLang="zh-TW" sz="2400" dirty="0"/>
                        <a:t>Text</a:t>
                      </a:r>
                      <a:endParaRPr lang="zh-TW" altLang="en-US" sz="24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5343014"/>
                  </a:ext>
                </a:extLst>
              </a:tr>
              <a:tr h="370840">
                <a:tc>
                  <a:txBody>
                    <a:bodyPr/>
                    <a:lstStyle/>
                    <a:p>
                      <a:pPr algn="ctr"/>
                      <a:r>
                        <a:rPr lang="en-US" altLang="zh-TW" u="none" dirty="0"/>
                        <a:t>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16</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17</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18</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19</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20</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21</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22</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23</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24</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u="none" dirty="0"/>
                        <a:t>25</a:t>
                      </a:r>
                      <a:endParaRPr lang="zh-TW" altLang="en-US" u="none"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21155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376708"/>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4380336"/>
                  </a:ext>
                </a:extLst>
              </a:tr>
              <a:tr h="370840">
                <a:tc>
                  <a:txBody>
                    <a:bodyPr/>
                    <a:lstStyle/>
                    <a:p>
                      <a:pPr algn="ctr"/>
                      <a:r>
                        <a:rPr lang="en-US" altLang="zh-TW" u="none" dirty="0"/>
                        <a:t>26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44</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45</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47</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48</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49</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50</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51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8152637"/>
                  </a:ext>
                </a:extLst>
              </a:tr>
            </a:tbl>
          </a:graphicData>
        </a:graphic>
      </p:graphicFrame>
      <p:graphicFrame>
        <p:nvGraphicFramePr>
          <p:cNvPr id="10" name="表格 10">
            <a:extLst>
              <a:ext uri="{FF2B5EF4-FFF2-40B4-BE49-F238E27FC236}">
                <a16:creationId xmlns:a16="http://schemas.microsoft.com/office/drawing/2014/main" id="{E885C788-9033-407B-9598-EA3A302EEBF6}"/>
              </a:ext>
            </a:extLst>
          </p:cNvPr>
          <p:cNvGraphicFramePr>
            <a:graphicFrameLocks noGrp="1"/>
          </p:cNvGraphicFramePr>
          <p:nvPr>
            <p:extLst>
              <p:ext uri="{D42A27DB-BD31-4B8C-83A1-F6EECF244321}">
                <p14:modId xmlns:p14="http://schemas.microsoft.com/office/powerpoint/2010/main" val="1492504139"/>
              </p:ext>
            </p:extLst>
          </p:nvPr>
        </p:nvGraphicFramePr>
        <p:xfrm>
          <a:off x="8460420" y="4202138"/>
          <a:ext cx="3276000" cy="111252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977457734"/>
                    </a:ext>
                  </a:extLst>
                </a:gridCol>
                <a:gridCol w="468000">
                  <a:extLst>
                    <a:ext uri="{9D8B030D-6E8A-4147-A177-3AD203B41FA5}">
                      <a16:colId xmlns:a16="http://schemas.microsoft.com/office/drawing/2014/main" val="864086457"/>
                    </a:ext>
                  </a:extLst>
                </a:gridCol>
                <a:gridCol w="468000">
                  <a:extLst>
                    <a:ext uri="{9D8B030D-6E8A-4147-A177-3AD203B41FA5}">
                      <a16:colId xmlns:a16="http://schemas.microsoft.com/office/drawing/2014/main" val="3050585620"/>
                    </a:ext>
                  </a:extLst>
                </a:gridCol>
                <a:gridCol w="468000">
                  <a:extLst>
                    <a:ext uri="{9D8B030D-6E8A-4147-A177-3AD203B41FA5}">
                      <a16:colId xmlns:a16="http://schemas.microsoft.com/office/drawing/2014/main" val="1208535248"/>
                    </a:ext>
                  </a:extLst>
                </a:gridCol>
                <a:gridCol w="468000">
                  <a:extLst>
                    <a:ext uri="{9D8B030D-6E8A-4147-A177-3AD203B41FA5}">
                      <a16:colId xmlns:a16="http://schemas.microsoft.com/office/drawing/2014/main" val="2784876407"/>
                    </a:ext>
                  </a:extLst>
                </a:gridCol>
                <a:gridCol w="468000">
                  <a:extLst>
                    <a:ext uri="{9D8B030D-6E8A-4147-A177-3AD203B41FA5}">
                      <a16:colId xmlns:a16="http://schemas.microsoft.com/office/drawing/2014/main" val="2536739071"/>
                    </a:ext>
                  </a:extLst>
                </a:gridCol>
                <a:gridCol w="468000">
                  <a:extLst>
                    <a:ext uri="{9D8B030D-6E8A-4147-A177-3AD203B41FA5}">
                      <a16:colId xmlns:a16="http://schemas.microsoft.com/office/drawing/2014/main" val="2548226210"/>
                    </a:ext>
                  </a:extLst>
                </a:gridCol>
              </a:tblGrid>
              <a:tr h="370840">
                <a:tc gridSpan="7">
                  <a:txBody>
                    <a:bodyPr/>
                    <a:lstStyle/>
                    <a:p>
                      <a:pPr algn="ctr"/>
                      <a:r>
                        <a:rPr lang="en-US" altLang="zh-TW" dirty="0"/>
                        <a:t>Pattern</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701650929"/>
                  </a:ext>
                </a:extLst>
              </a:tr>
              <a:tr h="370840">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67490784"/>
                  </a:ext>
                </a:extLst>
              </a:tr>
              <a:tr h="370840">
                <a:tc>
                  <a:txBody>
                    <a:bodyPr/>
                    <a:lstStyle/>
                    <a:p>
                      <a:pPr algn="ctr"/>
                      <a:r>
                        <a:rPr lang="en-US" altLang="zh-TW" b="0" u="none" dirty="0"/>
                        <a:t>0</a:t>
                      </a:r>
                      <a:endParaRPr lang="zh-TW" altLang="en-US" b="0"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1</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2</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3</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4</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5</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u="none" dirty="0"/>
                        <a:t>6</a:t>
                      </a:r>
                      <a:endParaRPr lang="zh-TW" altLang="en-US" u="none"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7993790"/>
                  </a:ext>
                </a:extLst>
              </a:tr>
            </a:tbl>
          </a:graphicData>
        </a:graphic>
      </p:graphicFrame>
      <p:cxnSp>
        <p:nvCxnSpPr>
          <p:cNvPr id="5" name="直線接點 4">
            <a:extLst>
              <a:ext uri="{FF2B5EF4-FFF2-40B4-BE49-F238E27FC236}">
                <a16:creationId xmlns:a16="http://schemas.microsoft.com/office/drawing/2014/main" id="{3C696681-F26B-4CC2-91D0-1130436DBF71}"/>
              </a:ext>
            </a:extLst>
          </p:cNvPr>
          <p:cNvCxnSpPr>
            <a:cxnSpLocks/>
          </p:cNvCxnSpPr>
          <p:nvPr/>
        </p:nvCxnSpPr>
        <p:spPr>
          <a:xfrm>
            <a:off x="8478176" y="5400697"/>
            <a:ext cx="1882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7711968F-C27B-4BE8-9ECB-E365BAD3F35A}"/>
              </a:ext>
            </a:extLst>
          </p:cNvPr>
          <p:cNvCxnSpPr>
            <a:cxnSpLocks/>
          </p:cNvCxnSpPr>
          <p:nvPr/>
        </p:nvCxnSpPr>
        <p:spPr>
          <a:xfrm>
            <a:off x="8959050" y="5624119"/>
            <a:ext cx="1882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2B22E8C5-4945-4D64-A3F2-43D59E4EA5B9}"/>
              </a:ext>
            </a:extLst>
          </p:cNvPr>
          <p:cNvCxnSpPr>
            <a:cxnSpLocks/>
          </p:cNvCxnSpPr>
          <p:nvPr/>
        </p:nvCxnSpPr>
        <p:spPr>
          <a:xfrm>
            <a:off x="9419209" y="5828304"/>
            <a:ext cx="1882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D685EA1C-C215-4541-8C89-5B2273E724FC}"/>
              </a:ext>
            </a:extLst>
          </p:cNvPr>
          <p:cNvCxnSpPr>
            <a:cxnSpLocks/>
          </p:cNvCxnSpPr>
          <p:nvPr/>
        </p:nvCxnSpPr>
        <p:spPr>
          <a:xfrm>
            <a:off x="9900083" y="6023613"/>
            <a:ext cx="18820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32758838-D2DD-4252-B044-C1494240ACAD}"/>
              </a:ext>
            </a:extLst>
          </p:cNvPr>
          <p:cNvSpPr/>
          <p:nvPr/>
        </p:nvSpPr>
        <p:spPr>
          <a:xfrm>
            <a:off x="9215022" y="5298609"/>
            <a:ext cx="568171" cy="1864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t>785</a:t>
            </a:r>
            <a:endParaRPr lang="zh-TW" altLang="en-US" dirty="0"/>
          </a:p>
        </p:txBody>
      </p:sp>
      <p:sp>
        <p:nvSpPr>
          <p:cNvPr id="22" name="矩形 21">
            <a:extLst>
              <a:ext uri="{FF2B5EF4-FFF2-40B4-BE49-F238E27FC236}">
                <a16:creationId xmlns:a16="http://schemas.microsoft.com/office/drawing/2014/main" id="{5D432F7F-A131-4B8B-B70E-E6EBC137EB56}"/>
              </a:ext>
            </a:extLst>
          </p:cNvPr>
          <p:cNvSpPr/>
          <p:nvPr/>
        </p:nvSpPr>
        <p:spPr>
          <a:xfrm>
            <a:off x="9783193" y="5512921"/>
            <a:ext cx="568171" cy="1864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t>144</a:t>
            </a:r>
            <a:endParaRPr lang="zh-TW" altLang="en-US" dirty="0"/>
          </a:p>
        </p:txBody>
      </p:sp>
      <p:sp>
        <p:nvSpPr>
          <p:cNvPr id="23" name="矩形 22">
            <a:extLst>
              <a:ext uri="{FF2B5EF4-FFF2-40B4-BE49-F238E27FC236}">
                <a16:creationId xmlns:a16="http://schemas.microsoft.com/office/drawing/2014/main" id="{8D60083C-0862-486F-A903-645C56DF73D0}"/>
              </a:ext>
            </a:extLst>
          </p:cNvPr>
          <p:cNvSpPr/>
          <p:nvPr/>
        </p:nvSpPr>
        <p:spPr>
          <a:xfrm>
            <a:off x="10139110" y="5727690"/>
            <a:ext cx="568171" cy="1864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t>146</a:t>
            </a:r>
            <a:endParaRPr lang="zh-TW" altLang="en-US" dirty="0"/>
          </a:p>
        </p:txBody>
      </p:sp>
      <p:sp>
        <p:nvSpPr>
          <p:cNvPr id="24" name="矩形 23">
            <a:extLst>
              <a:ext uri="{FF2B5EF4-FFF2-40B4-BE49-F238E27FC236}">
                <a16:creationId xmlns:a16="http://schemas.microsoft.com/office/drawing/2014/main" id="{F0A6E6C7-9B26-4B0D-BE22-AC944E3013DC}"/>
              </a:ext>
            </a:extLst>
          </p:cNvPr>
          <p:cNvSpPr/>
          <p:nvPr/>
        </p:nvSpPr>
        <p:spPr>
          <a:xfrm>
            <a:off x="10557030" y="5932103"/>
            <a:ext cx="568171" cy="1864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t>67</a:t>
            </a:r>
            <a:endParaRPr lang="zh-TW" altLang="en-US" dirty="0"/>
          </a:p>
        </p:txBody>
      </p:sp>
      <p:pic>
        <p:nvPicPr>
          <p:cNvPr id="30" name="圖片 29">
            <a:extLst>
              <a:ext uri="{FF2B5EF4-FFF2-40B4-BE49-F238E27FC236}">
                <a16:creationId xmlns:a16="http://schemas.microsoft.com/office/drawing/2014/main" id="{46469612-8A61-44A5-B0E6-1395DB7ECEF5}"/>
              </a:ext>
            </a:extLst>
          </p:cNvPr>
          <p:cNvPicPr>
            <a:picLocks noChangeAspect="1"/>
          </p:cNvPicPr>
          <p:nvPr/>
        </p:nvPicPr>
        <p:blipFill>
          <a:blip r:embed="rId3"/>
          <a:stretch>
            <a:fillRect/>
          </a:stretch>
        </p:blipFill>
        <p:spPr>
          <a:xfrm>
            <a:off x="1926455" y="3833850"/>
            <a:ext cx="5611142" cy="2666924"/>
          </a:xfrm>
          <a:prstGeom prst="rect">
            <a:avLst/>
          </a:prstGeom>
        </p:spPr>
      </p:pic>
      <p:sp>
        <p:nvSpPr>
          <p:cNvPr id="3" name="文字方塊 2">
            <a:extLst>
              <a:ext uri="{FF2B5EF4-FFF2-40B4-BE49-F238E27FC236}">
                <a16:creationId xmlns:a16="http://schemas.microsoft.com/office/drawing/2014/main" id="{943827A5-CB2A-43D0-848E-46B5347FE5B0}"/>
              </a:ext>
            </a:extLst>
          </p:cNvPr>
          <p:cNvSpPr txBox="1"/>
          <p:nvPr/>
        </p:nvSpPr>
        <p:spPr>
          <a:xfrm>
            <a:off x="533401" y="4800047"/>
            <a:ext cx="1091953" cy="553998"/>
          </a:xfrm>
          <a:prstGeom prst="rect">
            <a:avLst/>
          </a:prstGeom>
          <a:noFill/>
        </p:spPr>
        <p:txBody>
          <a:bodyPr wrap="square" rtlCol="0">
            <a:spAutoFit/>
          </a:bodyPr>
          <a:lstStyle/>
          <a:p>
            <a:r>
              <a:rPr lang="en-US" altLang="zh-TW" sz="3000" dirty="0">
                <a:latin typeface="Times New Roman" panose="02020603050405020304" pitchFamily="18" charset="0"/>
                <a:cs typeface="Times New Roman" panose="02020603050405020304" pitchFamily="18" charset="0"/>
              </a:rPr>
              <a:t>HRG</a:t>
            </a:r>
            <a:endParaRPr lang="zh-TW" altLang="en-US" sz="3000" dirty="0">
              <a:latin typeface="Times New Roman" panose="02020603050405020304" pitchFamily="18" charset="0"/>
              <a:cs typeface="Times New Roman" panose="02020603050405020304" pitchFamily="18" charset="0"/>
            </a:endParaRPr>
          </a:p>
        </p:txBody>
      </p:sp>
      <p:cxnSp>
        <p:nvCxnSpPr>
          <p:cNvPr id="6" name="直線單箭頭接點 5">
            <a:extLst>
              <a:ext uri="{FF2B5EF4-FFF2-40B4-BE49-F238E27FC236}">
                <a16:creationId xmlns:a16="http://schemas.microsoft.com/office/drawing/2014/main" id="{3637E427-04CB-433F-8199-6EE14AB337F9}"/>
              </a:ext>
            </a:extLst>
          </p:cNvPr>
          <p:cNvCxnSpPr>
            <a:cxnSpLocks/>
          </p:cNvCxnSpPr>
          <p:nvPr/>
        </p:nvCxnSpPr>
        <p:spPr>
          <a:xfrm>
            <a:off x="1527330" y="5077046"/>
            <a:ext cx="79825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左大括弧 10">
            <a:extLst>
              <a:ext uri="{FF2B5EF4-FFF2-40B4-BE49-F238E27FC236}">
                <a16:creationId xmlns:a16="http://schemas.microsoft.com/office/drawing/2014/main" id="{12CA63F1-B5F5-46B0-BBE3-A268BC560254}"/>
              </a:ext>
            </a:extLst>
          </p:cNvPr>
          <p:cNvSpPr/>
          <p:nvPr/>
        </p:nvSpPr>
        <p:spPr>
          <a:xfrm>
            <a:off x="8283099" y="5237885"/>
            <a:ext cx="274975" cy="1199943"/>
          </a:xfrm>
          <a:prstGeom prst="leftBrace">
            <a:avLst>
              <a:gd name="adj1" fmla="val 8333"/>
              <a:gd name="adj2" fmla="val 3076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TW" altLang="en-US"/>
          </a:p>
        </p:txBody>
      </p:sp>
      <p:cxnSp>
        <p:nvCxnSpPr>
          <p:cNvPr id="14" name="直線接點 13">
            <a:extLst>
              <a:ext uri="{FF2B5EF4-FFF2-40B4-BE49-F238E27FC236}">
                <a16:creationId xmlns:a16="http://schemas.microsoft.com/office/drawing/2014/main" id="{91ABE580-1D11-4279-965D-80D5C60D6854}"/>
              </a:ext>
            </a:extLst>
          </p:cNvPr>
          <p:cNvCxnSpPr>
            <a:cxnSpLocks/>
          </p:cNvCxnSpPr>
          <p:nvPr/>
        </p:nvCxnSpPr>
        <p:spPr>
          <a:xfrm flipH="1" flipV="1">
            <a:off x="7502097" y="5167312"/>
            <a:ext cx="745490" cy="439723"/>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647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25">
            <a:extLst>
              <a:ext uri="{FF2B5EF4-FFF2-40B4-BE49-F238E27FC236}">
                <a16:creationId xmlns:a16="http://schemas.microsoft.com/office/drawing/2014/main" id="{76586A7E-890D-42D3-935D-C2956820A268}"/>
              </a:ext>
            </a:extLst>
          </p:cNvPr>
          <p:cNvGraphicFramePr>
            <a:graphicFrameLocks noGrp="1"/>
          </p:cNvGraphicFramePr>
          <p:nvPr>
            <p:extLst>
              <p:ext uri="{D42A27DB-BD31-4B8C-83A1-F6EECF244321}">
                <p14:modId xmlns:p14="http://schemas.microsoft.com/office/powerpoint/2010/main" val="735603376"/>
              </p:ext>
            </p:extLst>
          </p:nvPr>
        </p:nvGraphicFramePr>
        <p:xfrm>
          <a:off x="0" y="1535881"/>
          <a:ext cx="6966858" cy="4079240"/>
        </p:xfrm>
        <a:graphic>
          <a:graphicData uri="http://schemas.openxmlformats.org/drawingml/2006/table">
            <a:tbl>
              <a:tblPr firstRow="1" bandRow="1">
                <a:tableStyleId>{5940675A-B579-460E-94D1-54222C63F5DA}</a:tableStyleId>
              </a:tblPr>
              <a:tblGrid>
                <a:gridCol w="1161143">
                  <a:extLst>
                    <a:ext uri="{9D8B030D-6E8A-4147-A177-3AD203B41FA5}">
                      <a16:colId xmlns:a16="http://schemas.microsoft.com/office/drawing/2014/main" val="1327356195"/>
                    </a:ext>
                  </a:extLst>
                </a:gridCol>
                <a:gridCol w="1161143">
                  <a:extLst>
                    <a:ext uri="{9D8B030D-6E8A-4147-A177-3AD203B41FA5}">
                      <a16:colId xmlns:a16="http://schemas.microsoft.com/office/drawing/2014/main" val="1339920300"/>
                    </a:ext>
                  </a:extLst>
                </a:gridCol>
                <a:gridCol w="1161143">
                  <a:extLst>
                    <a:ext uri="{9D8B030D-6E8A-4147-A177-3AD203B41FA5}">
                      <a16:colId xmlns:a16="http://schemas.microsoft.com/office/drawing/2014/main" val="1761342000"/>
                    </a:ext>
                  </a:extLst>
                </a:gridCol>
                <a:gridCol w="1161143">
                  <a:extLst>
                    <a:ext uri="{9D8B030D-6E8A-4147-A177-3AD203B41FA5}">
                      <a16:colId xmlns:a16="http://schemas.microsoft.com/office/drawing/2014/main" val="1941492696"/>
                    </a:ext>
                  </a:extLst>
                </a:gridCol>
                <a:gridCol w="1161143">
                  <a:extLst>
                    <a:ext uri="{9D8B030D-6E8A-4147-A177-3AD203B41FA5}">
                      <a16:colId xmlns:a16="http://schemas.microsoft.com/office/drawing/2014/main" val="1626561507"/>
                    </a:ext>
                  </a:extLst>
                </a:gridCol>
                <a:gridCol w="1161143">
                  <a:extLst>
                    <a:ext uri="{9D8B030D-6E8A-4147-A177-3AD203B41FA5}">
                      <a16:colId xmlns:a16="http://schemas.microsoft.com/office/drawing/2014/main" val="2292183441"/>
                    </a:ext>
                  </a:extLst>
                </a:gridCol>
              </a:tblGrid>
              <a:tr h="370840">
                <a:tc gridSpan="6">
                  <a:txBody>
                    <a:bodyPr/>
                    <a:lstStyle/>
                    <a:p>
                      <a:pPr algn="ctr"/>
                      <a:r>
                        <a:rPr lang="en-US" altLang="zh-TW" dirty="0"/>
                        <a:t>Frequency Table</a:t>
                      </a: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tc>
                <a:tc hMerge="1">
                  <a:txBody>
                    <a:bodyPr/>
                    <a:lstStyle/>
                    <a:p>
                      <a:pPr algn="ctr"/>
                      <a:endParaRPr lang="zh-TW" altLang="en-US" dirty="0"/>
                    </a:p>
                  </a:txBody>
                  <a:tcPr/>
                </a:tc>
                <a:tc hMerge="1">
                  <a:txBody>
                    <a:bodyPr/>
                    <a:lstStyle/>
                    <a:p>
                      <a:pPr algn="ctr"/>
                      <a:endParaRPr lang="zh-TW" altLang="en-US" dirty="0"/>
                    </a:p>
                  </a:txBody>
                  <a:tcPr/>
                </a:tc>
                <a:tc hMerge="1">
                  <a:txBody>
                    <a:bodyPr/>
                    <a:lstStyle/>
                    <a:p>
                      <a:pPr algn="ctr"/>
                      <a:endParaRPr lang="zh-TW" altLang="en-US" dirty="0"/>
                    </a:p>
                  </a:txBody>
                  <a:tcPr/>
                </a:tc>
                <a:tc hMerge="1">
                  <a:txBody>
                    <a:bodyPr/>
                    <a:lstStyle/>
                    <a:p>
                      <a:pPr algn="ctr"/>
                      <a:endParaRPr lang="zh-TW" altLang="en-US" dirty="0"/>
                    </a:p>
                  </a:txBody>
                  <a:tcPr/>
                </a:tc>
                <a:extLst>
                  <a:ext uri="{0D108BD9-81ED-4DB2-BD59-A6C34878D82A}">
                    <a16:rowId xmlns:a16="http://schemas.microsoft.com/office/drawing/2014/main" val="2768362739"/>
                  </a:ext>
                </a:extLst>
              </a:tr>
              <a:tr h="370840">
                <a:tc>
                  <a:txBody>
                    <a:bodyPr/>
                    <a:lstStyle/>
                    <a:p>
                      <a:pPr algn="ct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2</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3</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4</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3886689"/>
                  </a:ext>
                </a:extLst>
              </a:tr>
              <a:tr h="370840">
                <a:tc>
                  <a:txBody>
                    <a:bodyPr/>
                    <a:lstStyle/>
                    <a:p>
                      <a:pPr algn="ctr"/>
                      <a:r>
                        <a:rPr lang="en-US" altLang="zh-TW" dirty="0"/>
                        <a:t>0</a:t>
                      </a:r>
                      <a:endParaRPr lang="zh-TW" altLang="en-US" dirty="0"/>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0</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083272"/>
                  </a:ext>
                </a:extLst>
              </a:tr>
              <a:tr h="370840">
                <a:tc>
                  <a:txBody>
                    <a:bodyPr/>
                    <a:lstStyle/>
                    <a:p>
                      <a:pPr algn="ctr"/>
                      <a:r>
                        <a:rPr lang="en-US" altLang="zh-TW" dirty="0"/>
                        <a:t>1</a:t>
                      </a:r>
                      <a:endParaRPr lang="zh-TW"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1</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354466"/>
                  </a:ext>
                </a:extLst>
              </a:tr>
              <a:tr h="370840">
                <a:tc>
                  <a:txBody>
                    <a:bodyPr/>
                    <a:lstStyle/>
                    <a:p>
                      <a:pPr algn="ctr"/>
                      <a:r>
                        <a:rPr lang="en-US" altLang="zh-TW" dirty="0"/>
                        <a:t>2</a:t>
                      </a:r>
                      <a:endParaRPr lang="zh-TW"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2</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2154724"/>
                  </a:ext>
                </a:extLst>
              </a:tr>
              <a:tr h="370840">
                <a:tc>
                  <a:txBody>
                    <a:bodyPr/>
                    <a:lstStyle/>
                    <a:p>
                      <a:pPr algn="ctr"/>
                      <a:r>
                        <a:rPr lang="en-US" altLang="zh-TW" dirty="0"/>
                        <a:t>3</a:t>
                      </a:r>
                      <a:endParaRPr lang="zh-TW"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A</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3</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7585492"/>
                  </a:ext>
                </a:extLst>
              </a:tr>
              <a:tr h="370840">
                <a:tc>
                  <a:txBody>
                    <a:bodyPr/>
                    <a:lstStyle/>
                    <a:p>
                      <a:pPr algn="ctr"/>
                      <a:r>
                        <a:rPr lang="en-US" altLang="zh-TW" dirty="0"/>
                        <a:t>.</a:t>
                      </a:r>
                      <a:endParaRPr lang="zh-TW" altLang="en-US"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6114993"/>
                  </a:ext>
                </a:extLst>
              </a:tr>
              <a:tr h="370840">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3032564"/>
                  </a:ext>
                </a:extLst>
              </a:tr>
              <a:tr h="370840">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a:t>
                      </a:r>
                      <a:endParaRPr lang="zh-TW"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09791993"/>
                  </a:ext>
                </a:extLst>
              </a:tr>
              <a:tr h="370840">
                <a:tc>
                  <a:txBody>
                    <a:bodyPr/>
                    <a:lstStyle/>
                    <a:p>
                      <a:pPr algn="ctr"/>
                      <a:r>
                        <a:rPr lang="en-US" altLang="zh-TW" dirty="0"/>
                        <a:t>4</a:t>
                      </a:r>
                      <a:r>
                        <a:rPr lang="en-US" altLang="zh-TW" baseline="30000" dirty="0"/>
                        <a:t>word_len</a:t>
                      </a:r>
                      <a:r>
                        <a:rPr lang="en-US" altLang="zh-TW" dirty="0"/>
                        <a:t>-2</a:t>
                      </a:r>
                      <a:endParaRPr lang="zh-TW"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4</a:t>
                      </a:r>
                      <a:r>
                        <a:rPr lang="en-US" altLang="zh-TW" baseline="30000" dirty="0"/>
                        <a:t>word_len</a:t>
                      </a:r>
                      <a:r>
                        <a:rPr lang="en-US" altLang="zh-TW" baseline="-25000" dirty="0"/>
                        <a:t>-2</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9640403"/>
                  </a:ext>
                </a:extLst>
              </a:tr>
              <a:tr h="370840">
                <a:tc>
                  <a:txBody>
                    <a:bodyPr/>
                    <a:lstStyle/>
                    <a:p>
                      <a:pPr algn="ctr"/>
                      <a:r>
                        <a:rPr lang="en-US" altLang="zh-TW" dirty="0"/>
                        <a:t>4</a:t>
                      </a:r>
                      <a:r>
                        <a:rPr lang="en-US" altLang="zh-TW" baseline="30000" dirty="0"/>
                        <a:t>word_len</a:t>
                      </a:r>
                      <a:r>
                        <a:rPr lang="en-US" altLang="zh-TW" dirty="0"/>
                        <a:t>-1</a:t>
                      </a:r>
                      <a:endParaRPr lang="zh-TW" altLang="en-US" dirty="0"/>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T</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n</a:t>
                      </a:r>
                      <a:r>
                        <a:rPr lang="en-US" altLang="zh-TW" baseline="-25000" dirty="0"/>
                        <a:t>4</a:t>
                      </a:r>
                      <a:r>
                        <a:rPr lang="en-US" altLang="zh-TW" baseline="30000" dirty="0"/>
                        <a:t>word_len</a:t>
                      </a:r>
                      <a:r>
                        <a:rPr lang="en-US" altLang="zh-TW" baseline="-25000" dirty="0"/>
                        <a:t>-1</a:t>
                      </a:r>
                      <a:endParaRPr lang="zh-TW" alt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7136087"/>
                  </a:ext>
                </a:extLst>
              </a:tr>
            </a:tbl>
          </a:graphicData>
        </a:graphic>
      </p:graphicFrame>
      <p:grpSp>
        <p:nvGrpSpPr>
          <p:cNvPr id="8" name="群組 7">
            <a:extLst>
              <a:ext uri="{FF2B5EF4-FFF2-40B4-BE49-F238E27FC236}">
                <a16:creationId xmlns:a16="http://schemas.microsoft.com/office/drawing/2014/main" id="{5CBD1A77-48E6-488F-924A-BCC441AEFC2D}"/>
              </a:ext>
            </a:extLst>
          </p:cNvPr>
          <p:cNvGrpSpPr/>
          <p:nvPr/>
        </p:nvGrpSpPr>
        <p:grpSpPr>
          <a:xfrm>
            <a:off x="7324933" y="0"/>
            <a:ext cx="4537740" cy="6858000"/>
            <a:chOff x="3951419" y="0"/>
            <a:chExt cx="4537740" cy="6858000"/>
          </a:xfrm>
        </p:grpSpPr>
        <p:pic>
          <p:nvPicPr>
            <p:cNvPr id="6" name="圖片 5">
              <a:extLst>
                <a:ext uri="{FF2B5EF4-FFF2-40B4-BE49-F238E27FC236}">
                  <a16:creationId xmlns:a16="http://schemas.microsoft.com/office/drawing/2014/main" id="{DBB1D7FC-8CD8-4178-8AB7-C8F820BB2CA3}"/>
                </a:ext>
              </a:extLst>
            </p:cNvPr>
            <p:cNvPicPr>
              <a:picLocks noChangeAspect="1"/>
            </p:cNvPicPr>
            <p:nvPr/>
          </p:nvPicPr>
          <p:blipFill>
            <a:blip r:embed="rId3"/>
            <a:stretch>
              <a:fillRect/>
            </a:stretch>
          </p:blipFill>
          <p:spPr>
            <a:xfrm>
              <a:off x="3951419" y="0"/>
              <a:ext cx="4537735" cy="6858000"/>
            </a:xfrm>
            <a:prstGeom prst="rect">
              <a:avLst/>
            </a:prstGeom>
          </p:spPr>
        </p:pic>
        <p:pic>
          <p:nvPicPr>
            <p:cNvPr id="7" name="圖片 6">
              <a:extLst>
                <a:ext uri="{FF2B5EF4-FFF2-40B4-BE49-F238E27FC236}">
                  <a16:creationId xmlns:a16="http://schemas.microsoft.com/office/drawing/2014/main" id="{5183D106-4258-402D-9DE9-93913C64F73D}"/>
                </a:ext>
              </a:extLst>
            </p:cNvPr>
            <p:cNvPicPr>
              <a:picLocks noChangeAspect="1"/>
            </p:cNvPicPr>
            <p:nvPr/>
          </p:nvPicPr>
          <p:blipFill>
            <a:blip r:embed="rId4"/>
            <a:stretch>
              <a:fillRect/>
            </a:stretch>
          </p:blipFill>
          <p:spPr>
            <a:xfrm>
              <a:off x="8342149" y="0"/>
              <a:ext cx="147010" cy="6858000"/>
            </a:xfrm>
            <a:prstGeom prst="rect">
              <a:avLst/>
            </a:prstGeom>
          </p:spPr>
        </p:pic>
      </p:grpSp>
      <p:sp>
        <p:nvSpPr>
          <p:cNvPr id="9" name="標題 1">
            <a:extLst>
              <a:ext uri="{FF2B5EF4-FFF2-40B4-BE49-F238E27FC236}">
                <a16:creationId xmlns:a16="http://schemas.microsoft.com/office/drawing/2014/main" id="{7D9EB776-1D87-49B9-A96D-FE4E880D5563}"/>
              </a:ext>
            </a:extLst>
          </p:cNvPr>
          <p:cNvSpPr>
            <a:spLocks noGrp="1"/>
          </p:cNvSpPr>
          <p:nvPr>
            <p:ph type="title"/>
          </p:nvPr>
        </p:nvSpPr>
        <p:spPr>
          <a:xfrm>
            <a:off x="166563" y="391758"/>
            <a:ext cx="6800295" cy="1325563"/>
          </a:xfrm>
        </p:spPr>
        <p:txBody>
          <a:bodyPr>
            <a:normAutofit/>
          </a:bodyPr>
          <a:lstStyle/>
          <a:p>
            <a:r>
              <a:rPr lang="en-US" altLang="zh-TW" sz="3600" dirty="0">
                <a:latin typeface="Times New Roman" panose="02020603050405020304" pitchFamily="18" charset="0"/>
                <a:cs typeface="Times New Roman" panose="02020603050405020304" pitchFamily="18" charset="0"/>
              </a:rPr>
              <a:t>HRG</a:t>
            </a:r>
            <a:r>
              <a:rPr lang="zh-TW" altLang="en-US" sz="3600" dirty="0">
                <a:latin typeface="Times New Roman" panose="02020603050405020304" pitchFamily="18" charset="0"/>
                <a:cs typeface="Times New Roman" panose="02020603050405020304" pitchFamily="18" charset="0"/>
              </a:rPr>
              <a:t>：</a:t>
            </a:r>
            <a:r>
              <a:rPr lang="en-US" altLang="zh-TW" sz="3600" dirty="0">
                <a:latin typeface="Times New Roman" panose="02020603050405020304" pitchFamily="18" charset="0"/>
                <a:cs typeface="Times New Roman" panose="02020603050405020304" pitchFamily="18" charset="0"/>
              </a:rPr>
              <a:t>Human Reference Genome</a:t>
            </a:r>
          </a:p>
        </p:txBody>
      </p:sp>
      <p:sp>
        <p:nvSpPr>
          <p:cNvPr id="10" name="矩形 9">
            <a:extLst>
              <a:ext uri="{FF2B5EF4-FFF2-40B4-BE49-F238E27FC236}">
                <a16:creationId xmlns:a16="http://schemas.microsoft.com/office/drawing/2014/main" id="{0941067E-1C6E-4963-A8CE-F2DCDB34BBF5}"/>
              </a:ext>
            </a:extLst>
          </p:cNvPr>
          <p:cNvSpPr/>
          <p:nvPr/>
        </p:nvSpPr>
        <p:spPr>
          <a:xfrm>
            <a:off x="5521911" y="6320900"/>
            <a:ext cx="1444947" cy="402832"/>
          </a:xfrm>
          <a:prstGeom prst="rect">
            <a:avLst/>
          </a:prstGeom>
          <a:noFill/>
          <a:ln w="1905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err="1"/>
              <a:t>GAgcttct</a:t>
            </a:r>
            <a:r>
              <a:rPr lang="en-US" altLang="zh-TW" dirty="0"/>
              <a:t>…</a:t>
            </a:r>
            <a:endParaRPr lang="zh-TW" altLang="en-US" dirty="0"/>
          </a:p>
        </p:txBody>
      </p:sp>
      <p:sp>
        <p:nvSpPr>
          <p:cNvPr id="11" name="矩形 10">
            <a:extLst>
              <a:ext uri="{FF2B5EF4-FFF2-40B4-BE49-F238E27FC236}">
                <a16:creationId xmlns:a16="http://schemas.microsoft.com/office/drawing/2014/main" id="{C5388BD4-327B-48F9-9204-A15F7E1F052F}"/>
              </a:ext>
            </a:extLst>
          </p:cNvPr>
          <p:cNvSpPr/>
          <p:nvPr/>
        </p:nvSpPr>
        <p:spPr>
          <a:xfrm>
            <a:off x="7324928" y="6320901"/>
            <a:ext cx="558443" cy="13316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13" name="直線接點 12">
            <a:extLst>
              <a:ext uri="{FF2B5EF4-FFF2-40B4-BE49-F238E27FC236}">
                <a16:creationId xmlns:a16="http://schemas.microsoft.com/office/drawing/2014/main" id="{FB287B01-AA8B-44A1-8BE9-0A48E273D6B0}"/>
              </a:ext>
            </a:extLst>
          </p:cNvPr>
          <p:cNvCxnSpPr>
            <a:cxnSpLocks/>
          </p:cNvCxnSpPr>
          <p:nvPr/>
        </p:nvCxnSpPr>
        <p:spPr>
          <a:xfrm flipV="1">
            <a:off x="6966853" y="6454066"/>
            <a:ext cx="358075" cy="26966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105CFE99-8429-491C-B595-EF0C8AFFEFB0}"/>
              </a:ext>
            </a:extLst>
          </p:cNvPr>
          <p:cNvCxnSpPr>
            <a:cxnSpLocks/>
          </p:cNvCxnSpPr>
          <p:nvPr/>
        </p:nvCxnSpPr>
        <p:spPr>
          <a:xfrm>
            <a:off x="6966853" y="6319232"/>
            <a:ext cx="35807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E8764CFB-355E-4319-93A1-895D75CC3EF0}"/>
              </a:ext>
            </a:extLst>
          </p:cNvPr>
          <p:cNvSpPr txBox="1"/>
          <p:nvPr/>
        </p:nvSpPr>
        <p:spPr>
          <a:xfrm>
            <a:off x="166094" y="6127234"/>
            <a:ext cx="4357757" cy="461665"/>
          </a:xfrm>
          <a:prstGeom prst="rect">
            <a:avLst/>
          </a:prstGeom>
          <a:noFill/>
        </p:spPr>
        <p:txBody>
          <a:bodyPr wrap="square" rtlCol="0">
            <a:spAutoFit/>
          </a:bodyPr>
          <a:lstStyle/>
          <a:p>
            <a:r>
              <a:rPr lang="en-US" altLang="zh-TW" sz="2400" dirty="0"/>
              <a:t>(|</a:t>
            </a:r>
            <a:r>
              <a:rPr lang="en-US" altLang="zh-TW" sz="2400" dirty="0" err="1"/>
              <a:t>Σ|</a:t>
            </a:r>
            <a:r>
              <a:rPr lang="en-US" altLang="zh-TW" sz="2400" baseline="30000" dirty="0" err="1"/>
              <a:t>word_len</a:t>
            </a:r>
            <a:r>
              <a:rPr lang="en-US" altLang="zh-TW" sz="2400" dirty="0"/>
              <a:t>) * (</a:t>
            </a:r>
            <a:r>
              <a:rPr lang="en-US" altLang="zh-TW" sz="2400" dirty="0" err="1"/>
              <a:t>word_len</a:t>
            </a:r>
            <a:r>
              <a:rPr lang="en-US" altLang="zh-TW" sz="2400" dirty="0"/>
              <a:t> + 1)</a:t>
            </a:r>
          </a:p>
        </p:txBody>
      </p:sp>
    </p:spTree>
    <p:extLst>
      <p:ext uri="{BB962C8B-B14F-4D97-AF65-F5344CB8AC3E}">
        <p14:creationId xmlns:p14="http://schemas.microsoft.com/office/powerpoint/2010/main" val="3399950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C1A06D-D9C9-4D0E-9BF8-A0684F63439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Comparison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5B591F17-A5A2-48A0-BAD3-8BCCE5A5E80E}"/>
              </a:ext>
            </a:extLst>
          </p:cNvPr>
          <p:cNvPicPr>
            <a:picLocks noChangeAspect="1"/>
          </p:cNvPicPr>
          <p:nvPr/>
        </p:nvPicPr>
        <p:blipFill>
          <a:blip r:embed="rId2"/>
          <a:stretch>
            <a:fillRect/>
          </a:stretch>
        </p:blipFill>
        <p:spPr>
          <a:xfrm>
            <a:off x="811070" y="2968737"/>
            <a:ext cx="4994926" cy="3891481"/>
          </a:xfrm>
          <a:prstGeom prst="rect">
            <a:avLst/>
          </a:prstGeom>
        </p:spPr>
      </p:pic>
      <p:pic>
        <p:nvPicPr>
          <p:cNvPr id="6" name="圖片 5">
            <a:extLst>
              <a:ext uri="{FF2B5EF4-FFF2-40B4-BE49-F238E27FC236}">
                <a16:creationId xmlns:a16="http://schemas.microsoft.com/office/drawing/2014/main" id="{7CE95B92-1DA4-48F6-9136-F08B7C13AE5D}"/>
              </a:ext>
            </a:extLst>
          </p:cNvPr>
          <p:cNvPicPr>
            <a:picLocks noChangeAspect="1"/>
          </p:cNvPicPr>
          <p:nvPr/>
        </p:nvPicPr>
        <p:blipFill>
          <a:blip r:embed="rId3"/>
          <a:stretch>
            <a:fillRect/>
          </a:stretch>
        </p:blipFill>
        <p:spPr>
          <a:xfrm>
            <a:off x="6140390" y="2935131"/>
            <a:ext cx="5152008" cy="3907333"/>
          </a:xfrm>
          <a:prstGeom prst="rect">
            <a:avLst/>
          </a:prstGeom>
        </p:spPr>
      </p:pic>
      <p:sp>
        <p:nvSpPr>
          <p:cNvPr id="5" name="內容版面配置區 5">
            <a:extLst>
              <a:ext uri="{FF2B5EF4-FFF2-40B4-BE49-F238E27FC236}">
                <a16:creationId xmlns:a16="http://schemas.microsoft.com/office/drawing/2014/main" id="{08A43E1E-8E9C-48A8-90AF-F65DA27AD911}"/>
              </a:ext>
            </a:extLst>
          </p:cNvPr>
          <p:cNvSpPr>
            <a:spLocks noGrp="1"/>
          </p:cNvSpPr>
          <p:nvPr>
            <p:ph idx="1"/>
          </p:nvPr>
        </p:nvSpPr>
        <p:spPr>
          <a:xfrm>
            <a:off x="838200" y="1445772"/>
            <a:ext cx="10515600" cy="1288850"/>
          </a:xfrm>
        </p:spPr>
        <p:txBody>
          <a:bodyPr>
            <a:normAutofit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FLPM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First-Last Pattern Matching Algorithm</a:t>
            </a:r>
          </a:p>
          <a:p>
            <a:pPr marL="0" indent="0">
              <a:buNone/>
            </a:pPr>
            <a:r>
              <a:rPr lang="en-US" altLang="zh-TW" sz="2400" dirty="0">
                <a:latin typeface="Times New Roman" panose="02020603050405020304" pitchFamily="18" charset="0"/>
                <a:cs typeface="Times New Roman" panose="02020603050405020304" pitchFamily="18" charset="0"/>
              </a:rPr>
              <a:t>PAPM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Processor-Aware Pattern Matching Algorithm</a:t>
            </a:r>
          </a:p>
          <a:p>
            <a:pPr marL="0" indent="0">
              <a:buNone/>
            </a:pPr>
            <a:r>
              <a:rPr lang="en-US" altLang="zh-TW" sz="2400" dirty="0">
                <a:latin typeface="Times New Roman" panose="02020603050405020304" pitchFamily="18" charset="0"/>
                <a:cs typeface="Times New Roman" panose="02020603050405020304" pitchFamily="18" charset="0"/>
              </a:rPr>
              <a:t>LFPM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Last-Frequency Pattern Matching Algorithm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84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C1A06D-D9C9-4D0E-9BF8-A0684F63439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Comparison</a:t>
            </a:r>
            <a:endParaRPr lang="zh-TW" altLang="en-US"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51844B1B-68A4-4B37-8229-29F344C1F15F}"/>
              </a:ext>
            </a:extLst>
          </p:cNvPr>
          <p:cNvPicPr>
            <a:picLocks noChangeAspect="1"/>
          </p:cNvPicPr>
          <p:nvPr/>
        </p:nvPicPr>
        <p:blipFill>
          <a:blip r:embed="rId2"/>
          <a:stretch>
            <a:fillRect/>
          </a:stretch>
        </p:blipFill>
        <p:spPr>
          <a:xfrm>
            <a:off x="3507008" y="2824540"/>
            <a:ext cx="5177984" cy="4033460"/>
          </a:xfrm>
          <a:prstGeom prst="rect">
            <a:avLst/>
          </a:prstGeom>
        </p:spPr>
      </p:pic>
      <p:sp>
        <p:nvSpPr>
          <p:cNvPr id="4" name="內容版面配置區 5">
            <a:extLst>
              <a:ext uri="{FF2B5EF4-FFF2-40B4-BE49-F238E27FC236}">
                <a16:creationId xmlns:a16="http://schemas.microsoft.com/office/drawing/2014/main" id="{03AFDB98-8DAE-4118-A3FE-8FB7F35D8D6F}"/>
              </a:ext>
            </a:extLst>
          </p:cNvPr>
          <p:cNvSpPr>
            <a:spLocks noGrp="1"/>
          </p:cNvSpPr>
          <p:nvPr>
            <p:ph idx="1"/>
          </p:nvPr>
        </p:nvSpPr>
        <p:spPr>
          <a:xfrm>
            <a:off x="838200" y="1445772"/>
            <a:ext cx="10515600" cy="1288850"/>
          </a:xfrm>
        </p:spPr>
        <p:txBody>
          <a:bodyPr>
            <a:normAutofit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FLPM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First-Last Pattern Matching Algorithm</a:t>
            </a:r>
          </a:p>
          <a:p>
            <a:pPr marL="0" indent="0">
              <a:buNone/>
            </a:pPr>
            <a:r>
              <a:rPr lang="en-US" altLang="zh-TW" sz="2400" dirty="0">
                <a:latin typeface="Times New Roman" panose="02020603050405020304" pitchFamily="18" charset="0"/>
                <a:cs typeface="Times New Roman" panose="02020603050405020304" pitchFamily="18" charset="0"/>
              </a:rPr>
              <a:t>PAPM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Processor-Aware Pattern Matching Algorithm</a:t>
            </a:r>
          </a:p>
          <a:p>
            <a:pPr marL="0" indent="0">
              <a:buNone/>
            </a:pPr>
            <a:r>
              <a:rPr lang="en-US" altLang="zh-TW" sz="2400" dirty="0">
                <a:latin typeface="Times New Roman" panose="02020603050405020304" pitchFamily="18" charset="0"/>
                <a:cs typeface="Times New Roman" panose="02020603050405020304" pitchFamily="18" charset="0"/>
              </a:rPr>
              <a:t>LFPM</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Last-Frequency Pattern Matching Algorithm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921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122A9-4B78-4A63-803F-36E4F4C8F00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How?</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FF3872A2-8481-42F1-9EE5-C921663B798B}"/>
              </a:ext>
            </a:extLst>
          </p:cNvPr>
          <p:cNvPicPr>
            <a:picLocks noChangeAspect="1"/>
          </p:cNvPicPr>
          <p:nvPr/>
        </p:nvPicPr>
        <p:blipFill>
          <a:blip r:embed="rId2"/>
          <a:stretch>
            <a:fillRect/>
          </a:stretch>
        </p:blipFill>
        <p:spPr>
          <a:xfrm>
            <a:off x="462380" y="2037456"/>
            <a:ext cx="4291706" cy="2817345"/>
          </a:xfrm>
          <a:prstGeom prst="rect">
            <a:avLst/>
          </a:prstGeom>
        </p:spPr>
      </p:pic>
      <p:sp>
        <p:nvSpPr>
          <p:cNvPr id="5" name="文字方塊 4">
            <a:extLst>
              <a:ext uri="{FF2B5EF4-FFF2-40B4-BE49-F238E27FC236}">
                <a16:creationId xmlns:a16="http://schemas.microsoft.com/office/drawing/2014/main" id="{C9226336-0880-449A-AC36-F20CAD578656}"/>
              </a:ext>
            </a:extLst>
          </p:cNvPr>
          <p:cNvSpPr txBox="1"/>
          <p:nvPr/>
        </p:nvSpPr>
        <p:spPr>
          <a:xfrm>
            <a:off x="4754086" y="2296355"/>
            <a:ext cx="1287262"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cs typeface="Times New Roman" panose="02020603050405020304" pitchFamily="18" charset="0"/>
              </a:rPr>
              <a:t>一次</a:t>
            </a:r>
            <a:r>
              <a:rPr lang="en-US" altLang="zh-TW" dirty="0">
                <a:latin typeface="Times New Roman" panose="02020603050405020304" pitchFamily="18" charset="0"/>
                <a:cs typeface="Times New Roman" panose="02020603050405020304" pitchFamily="18" charset="0"/>
              </a:rPr>
              <a:t>1KB</a:t>
            </a:r>
            <a:endParaRPr lang="zh-TW" altLang="en-US"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3A9313D3-3955-4EED-A842-C0D2D3B9CA39}"/>
              </a:ext>
            </a:extLst>
          </p:cNvPr>
          <p:cNvSpPr/>
          <p:nvPr/>
        </p:nvSpPr>
        <p:spPr>
          <a:xfrm>
            <a:off x="378781" y="1960768"/>
            <a:ext cx="5717219" cy="1074198"/>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7" name="矩形 6">
            <a:extLst>
              <a:ext uri="{FF2B5EF4-FFF2-40B4-BE49-F238E27FC236}">
                <a16:creationId xmlns:a16="http://schemas.microsoft.com/office/drawing/2014/main" id="{3EB73993-B15E-48F1-94F4-B8D58E1DEC55}"/>
              </a:ext>
            </a:extLst>
          </p:cNvPr>
          <p:cNvSpPr/>
          <p:nvPr/>
        </p:nvSpPr>
        <p:spPr>
          <a:xfrm>
            <a:off x="378781" y="3034966"/>
            <a:ext cx="5717219" cy="985421"/>
          </a:xfrm>
          <a:prstGeom prst="rect">
            <a:avLst/>
          </a:prstGeom>
          <a:no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95BF8A03-6FAC-487C-9EC0-0AD67BD82120}"/>
              </a:ext>
            </a:extLst>
          </p:cNvPr>
          <p:cNvSpPr txBox="1"/>
          <p:nvPr/>
        </p:nvSpPr>
        <p:spPr>
          <a:xfrm>
            <a:off x="4754086" y="3335158"/>
            <a:ext cx="1287262"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cs typeface="Times New Roman" panose="02020603050405020304" pitchFamily="18" charset="0"/>
              </a:rPr>
              <a:t>一次</a:t>
            </a:r>
            <a:r>
              <a:rPr lang="en-US" altLang="zh-TW" dirty="0">
                <a:latin typeface="Times New Roman" panose="02020603050405020304" pitchFamily="18" charset="0"/>
                <a:cs typeface="Times New Roman" panose="02020603050405020304" pitchFamily="18" charset="0"/>
              </a:rPr>
              <a:t>1MB</a:t>
            </a:r>
            <a:endParaRPr lang="zh-TW" altLang="en-US"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4E75B46-0246-4347-BCCE-34249E59787A}"/>
              </a:ext>
            </a:extLst>
          </p:cNvPr>
          <p:cNvSpPr/>
          <p:nvPr/>
        </p:nvSpPr>
        <p:spPr>
          <a:xfrm>
            <a:off x="378781" y="4020387"/>
            <a:ext cx="5717219" cy="911102"/>
          </a:xfrm>
          <a:prstGeom prst="rect">
            <a:avLst/>
          </a:prstGeom>
          <a:noFill/>
          <a:ln w="2857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0C10834A-1386-421C-8900-2245479BFDDF}"/>
              </a:ext>
            </a:extLst>
          </p:cNvPr>
          <p:cNvSpPr txBox="1"/>
          <p:nvPr/>
        </p:nvSpPr>
        <p:spPr>
          <a:xfrm>
            <a:off x="4754086" y="4252928"/>
            <a:ext cx="1287262"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cs typeface="Times New Roman" panose="02020603050405020304" pitchFamily="18" charset="0"/>
              </a:rPr>
              <a:t>一次</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0.5</a:t>
            </a:r>
            <a:r>
              <a:rPr lang="en-US" altLang="zh-TW" dirty="0">
                <a:latin typeface="Times New Roman" panose="02020603050405020304" pitchFamily="18" charset="0"/>
                <a:cs typeface="Times New Roman" panose="02020603050405020304" pitchFamily="18" charset="0"/>
              </a:rPr>
              <a:t>GB</a:t>
            </a:r>
            <a:endParaRPr lang="zh-TW" altLang="en-US"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8BCCAA24-2D2A-46CF-AD8B-A085BFC26F10}"/>
              </a:ext>
            </a:extLst>
          </p:cNvPr>
          <p:cNvPicPr>
            <a:picLocks noChangeAspect="1"/>
          </p:cNvPicPr>
          <p:nvPr/>
        </p:nvPicPr>
        <p:blipFill>
          <a:blip r:embed="rId3"/>
          <a:stretch>
            <a:fillRect/>
          </a:stretch>
        </p:blipFill>
        <p:spPr>
          <a:xfrm>
            <a:off x="301841" y="5384445"/>
            <a:ext cx="4677791" cy="1246620"/>
          </a:xfrm>
          <a:prstGeom prst="rect">
            <a:avLst/>
          </a:prstGeom>
        </p:spPr>
      </p:pic>
      <p:pic>
        <p:nvPicPr>
          <p:cNvPr id="12" name="圖片 11" descr="一張含有 膝上型電腦, 桌, 坐, 電腦 的圖片&#10;&#10;自動產生的描述">
            <a:extLst>
              <a:ext uri="{FF2B5EF4-FFF2-40B4-BE49-F238E27FC236}">
                <a16:creationId xmlns:a16="http://schemas.microsoft.com/office/drawing/2014/main" id="{25DBA035-0CA0-4924-8409-4F48800DD8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2291" y="1945086"/>
            <a:ext cx="3895818" cy="3826250"/>
          </a:xfrm>
          <a:prstGeom prst="rect">
            <a:avLst/>
          </a:prstGeom>
        </p:spPr>
      </p:pic>
      <p:sp>
        <p:nvSpPr>
          <p:cNvPr id="13" name="文字方塊 12">
            <a:extLst>
              <a:ext uri="{FF2B5EF4-FFF2-40B4-BE49-F238E27FC236}">
                <a16:creationId xmlns:a16="http://schemas.microsoft.com/office/drawing/2014/main" id="{9ABB3512-D229-4734-975D-E6903F2B7156}"/>
              </a:ext>
            </a:extLst>
          </p:cNvPr>
          <p:cNvSpPr txBox="1"/>
          <p:nvPr/>
        </p:nvSpPr>
        <p:spPr>
          <a:xfrm>
            <a:off x="301841" y="1492299"/>
            <a:ext cx="1704513" cy="461665"/>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純讀檔</a:t>
            </a:r>
          </a:p>
        </p:txBody>
      </p:sp>
      <p:sp>
        <p:nvSpPr>
          <p:cNvPr id="14" name="文字方塊 13">
            <a:extLst>
              <a:ext uri="{FF2B5EF4-FFF2-40B4-BE49-F238E27FC236}">
                <a16:creationId xmlns:a16="http://schemas.microsoft.com/office/drawing/2014/main" id="{9B9255A4-4FC5-415B-8A3A-CD3D4829CBD9}"/>
              </a:ext>
            </a:extLst>
          </p:cNvPr>
          <p:cNvSpPr txBox="1"/>
          <p:nvPr/>
        </p:nvSpPr>
        <p:spPr>
          <a:xfrm>
            <a:off x="7156881" y="1483420"/>
            <a:ext cx="2750598" cy="461665"/>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處理</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100MB</a:t>
            </a:r>
            <a:r>
              <a:rPr lang="zh-TW" altLang="en-US" sz="2400" dirty="0">
                <a:latin typeface="標楷體" panose="03000509000000000000" pitchFamily="65" charset="-120"/>
                <a:ea typeface="標楷體" panose="03000509000000000000" pitchFamily="65" charset="-120"/>
              </a:rPr>
              <a:t>的資料</a:t>
            </a:r>
          </a:p>
        </p:txBody>
      </p:sp>
    </p:spTree>
    <p:extLst>
      <p:ext uri="{BB962C8B-B14F-4D97-AF65-F5344CB8AC3E}">
        <p14:creationId xmlns:p14="http://schemas.microsoft.com/office/powerpoint/2010/main" val="10910386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1463</TotalTime>
  <Words>1042</Words>
  <Application>Microsoft Office PowerPoint</Application>
  <PresentationFormat>寬螢幕</PresentationFormat>
  <Paragraphs>711</Paragraphs>
  <Slides>11</Slides>
  <Notes>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11</vt:i4>
      </vt:variant>
    </vt:vector>
  </HeadingPairs>
  <TitlesOfParts>
    <vt:vector size="17" baseType="lpstr">
      <vt:lpstr>標楷體</vt:lpstr>
      <vt:lpstr>Arial</vt:lpstr>
      <vt:lpstr>Calibri</vt:lpstr>
      <vt:lpstr>Calibri Light</vt:lpstr>
      <vt:lpstr>Times New Roman</vt:lpstr>
      <vt:lpstr>Office 佈景主題</vt:lpstr>
      <vt:lpstr>Simple and Efficient Pattern Matching Algorithms for Biological Sequences</vt:lpstr>
      <vt:lpstr>Abstract</vt:lpstr>
      <vt:lpstr>3 Different Algorithm</vt:lpstr>
      <vt:lpstr>FLPM：First-Last Pattern Matching Algorithm</vt:lpstr>
      <vt:lpstr>FLPM：First-Last Pattern Matching Algorithm</vt:lpstr>
      <vt:lpstr>PAPM：Processor-Aware Pattern Matching Algorithm</vt:lpstr>
      <vt:lpstr>LFPM：Last-Frequency Pattern Matching Algorithm</vt:lpstr>
      <vt:lpstr>HRG：Human Reference Genome</vt:lpstr>
      <vt:lpstr>Comparison</vt:lpstr>
      <vt:lpstr>Comparison</vt:lpstr>
      <vt:lpstr>How?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pplab</cp:lastModifiedBy>
  <cp:revision>512</cp:revision>
  <dcterms:created xsi:type="dcterms:W3CDTF">2020-01-13T05:19:55Z</dcterms:created>
  <dcterms:modified xsi:type="dcterms:W3CDTF">2020-04-14T11:57:01Z</dcterms:modified>
</cp:coreProperties>
</file>