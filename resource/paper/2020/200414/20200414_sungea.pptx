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8" r:id="rId9"/>
    <p:sldId id="269" r:id="rId10"/>
    <p:sldId id="270" r:id="rId11"/>
    <p:sldId id="271" r:id="rId12"/>
    <p:sldId id="272" r:id="rId13"/>
    <p:sldId id="274" r:id="rId14"/>
    <p:sldId id="273" r:id="rId15"/>
    <p:sldId id="275" r:id="rId16"/>
    <p:sldId id="276" r:id="rId17"/>
    <p:sldId id="277" r:id="rId18"/>
    <p:sldId id="278" r:id="rId19"/>
    <p:sldId id="279" r:id="rId20"/>
    <p:sldId id="280" r:id="rId21"/>
    <p:sldId id="281" r:id="rId22"/>
    <p:sldId id="282" r:id="rId23"/>
    <p:sldId id="294" r:id="rId24"/>
    <p:sldId id="283" r:id="rId25"/>
    <p:sldId id="284" r:id="rId26"/>
    <p:sldId id="285" r:id="rId27"/>
    <p:sldId id="286" r:id="rId28"/>
    <p:sldId id="287" r:id="rId29"/>
    <p:sldId id="288" r:id="rId30"/>
    <p:sldId id="293" r:id="rId31"/>
    <p:sldId id="292" r:id="rId3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21954A0A-2B2B-4784-A080-6AA0976A94A0}">
          <p14:sldIdLst>
            <p14:sldId id="256"/>
            <p14:sldId id="257"/>
            <p14:sldId id="258"/>
            <p14:sldId id="259"/>
            <p14:sldId id="260"/>
            <p14:sldId id="261"/>
            <p14:sldId id="262"/>
            <p14:sldId id="268"/>
            <p14:sldId id="269"/>
            <p14:sldId id="270"/>
            <p14:sldId id="271"/>
            <p14:sldId id="272"/>
            <p14:sldId id="274"/>
            <p14:sldId id="273"/>
            <p14:sldId id="275"/>
            <p14:sldId id="276"/>
            <p14:sldId id="277"/>
            <p14:sldId id="278"/>
            <p14:sldId id="279"/>
            <p14:sldId id="280"/>
            <p14:sldId id="281"/>
            <p14:sldId id="282"/>
            <p14:sldId id="294"/>
            <p14:sldId id="283"/>
            <p14:sldId id="284"/>
            <p14:sldId id="285"/>
            <p14:sldId id="286"/>
            <p14:sldId id="287"/>
            <p14:sldId id="288"/>
            <p14:sldId id="293"/>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9" autoAdjust="0"/>
    <p:restoredTop sz="94660"/>
  </p:normalViewPr>
  <p:slideViewPr>
    <p:cSldViewPr snapToGrid="0">
      <p:cViewPr varScale="1">
        <p:scale>
          <a:sx n="72" d="100"/>
          <a:sy n="72" d="100"/>
        </p:scale>
        <p:origin x="57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737AD519-DE3C-47E3-9700-4B38BEAEB2DE}" type="datetimeFigureOut">
              <a:rPr lang="zh-TW" altLang="en-US" smtClean="0"/>
              <a:t>2020/4/14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D08E8D37-6C79-4AF8-B068-D414DE822FC3}" type="slidenum">
              <a:rPr lang="zh-TW" altLang="en-US" smtClean="0"/>
              <a:t>‹#›</a:t>
            </a:fld>
            <a:endParaRPr lang="zh-TW" altLang="en-US"/>
          </a:p>
        </p:txBody>
      </p:sp>
    </p:spTree>
    <p:extLst>
      <p:ext uri="{BB962C8B-B14F-4D97-AF65-F5344CB8AC3E}">
        <p14:creationId xmlns:p14="http://schemas.microsoft.com/office/powerpoint/2010/main" val="21394885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737AD519-DE3C-47E3-9700-4B38BEAEB2DE}" type="datetimeFigureOut">
              <a:rPr lang="zh-TW" altLang="en-US" smtClean="0"/>
              <a:t>2020/4/14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D08E8D37-6C79-4AF8-B068-D414DE822FC3}" type="slidenum">
              <a:rPr lang="zh-TW" altLang="en-US" smtClean="0"/>
              <a:t>‹#›</a:t>
            </a:fld>
            <a:endParaRPr lang="zh-TW" altLang="en-US"/>
          </a:p>
        </p:txBody>
      </p:sp>
    </p:spTree>
    <p:extLst>
      <p:ext uri="{BB962C8B-B14F-4D97-AF65-F5344CB8AC3E}">
        <p14:creationId xmlns:p14="http://schemas.microsoft.com/office/powerpoint/2010/main" val="38869024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737AD519-DE3C-47E3-9700-4B38BEAEB2DE}" type="datetimeFigureOut">
              <a:rPr lang="zh-TW" altLang="en-US" smtClean="0"/>
              <a:t>2020/4/14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D08E8D37-6C79-4AF8-B068-D414DE822FC3}" type="slidenum">
              <a:rPr lang="zh-TW" altLang="en-US" smtClean="0"/>
              <a:t>‹#›</a:t>
            </a:fld>
            <a:endParaRPr lang="zh-TW" altLang="en-US"/>
          </a:p>
        </p:txBody>
      </p:sp>
    </p:spTree>
    <p:extLst>
      <p:ext uri="{BB962C8B-B14F-4D97-AF65-F5344CB8AC3E}">
        <p14:creationId xmlns:p14="http://schemas.microsoft.com/office/powerpoint/2010/main" val="13697263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737AD519-DE3C-47E3-9700-4B38BEAEB2DE}" type="datetimeFigureOut">
              <a:rPr lang="zh-TW" altLang="en-US" smtClean="0"/>
              <a:t>2020/4/14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D08E8D37-6C79-4AF8-B068-D414DE822FC3}" type="slidenum">
              <a:rPr lang="zh-TW" altLang="en-US" smtClean="0"/>
              <a:t>‹#›</a:t>
            </a:fld>
            <a:endParaRPr lang="zh-TW" altLang="en-US"/>
          </a:p>
        </p:txBody>
      </p:sp>
    </p:spTree>
    <p:extLst>
      <p:ext uri="{BB962C8B-B14F-4D97-AF65-F5344CB8AC3E}">
        <p14:creationId xmlns:p14="http://schemas.microsoft.com/office/powerpoint/2010/main" val="2063393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737AD519-DE3C-47E3-9700-4B38BEAEB2DE}" type="datetimeFigureOut">
              <a:rPr lang="zh-TW" altLang="en-US" smtClean="0"/>
              <a:t>2020/4/14</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D08E8D37-6C79-4AF8-B068-D414DE822FC3}" type="slidenum">
              <a:rPr lang="zh-TW" altLang="en-US" smtClean="0"/>
              <a:t>‹#›</a:t>
            </a:fld>
            <a:endParaRPr lang="zh-TW" altLang="en-US"/>
          </a:p>
        </p:txBody>
      </p:sp>
    </p:spTree>
    <p:extLst>
      <p:ext uri="{BB962C8B-B14F-4D97-AF65-F5344CB8AC3E}">
        <p14:creationId xmlns:p14="http://schemas.microsoft.com/office/powerpoint/2010/main" val="7185187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737AD519-DE3C-47E3-9700-4B38BEAEB2DE}" type="datetimeFigureOut">
              <a:rPr lang="zh-TW" altLang="en-US" smtClean="0"/>
              <a:t>2020/4/14</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D08E8D37-6C79-4AF8-B068-D414DE822FC3}" type="slidenum">
              <a:rPr lang="zh-TW" altLang="en-US" smtClean="0"/>
              <a:t>‹#›</a:t>
            </a:fld>
            <a:endParaRPr lang="zh-TW" altLang="en-US"/>
          </a:p>
        </p:txBody>
      </p:sp>
    </p:spTree>
    <p:extLst>
      <p:ext uri="{BB962C8B-B14F-4D97-AF65-F5344CB8AC3E}">
        <p14:creationId xmlns:p14="http://schemas.microsoft.com/office/powerpoint/2010/main" val="11740797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737AD519-DE3C-47E3-9700-4B38BEAEB2DE}" type="datetimeFigureOut">
              <a:rPr lang="zh-TW" altLang="en-US" smtClean="0"/>
              <a:t>2020/4/14</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D08E8D37-6C79-4AF8-B068-D414DE822FC3}" type="slidenum">
              <a:rPr lang="zh-TW" altLang="en-US" smtClean="0"/>
              <a:t>‹#›</a:t>
            </a:fld>
            <a:endParaRPr lang="zh-TW" altLang="en-US"/>
          </a:p>
        </p:txBody>
      </p:sp>
    </p:spTree>
    <p:extLst>
      <p:ext uri="{BB962C8B-B14F-4D97-AF65-F5344CB8AC3E}">
        <p14:creationId xmlns:p14="http://schemas.microsoft.com/office/powerpoint/2010/main" val="3151341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737AD519-DE3C-47E3-9700-4B38BEAEB2DE}" type="datetimeFigureOut">
              <a:rPr lang="zh-TW" altLang="en-US" smtClean="0"/>
              <a:t>2020/4/14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D08E8D37-6C79-4AF8-B068-D414DE822FC3}" type="slidenum">
              <a:rPr lang="zh-TW" altLang="en-US" smtClean="0"/>
              <a:t>‹#›</a:t>
            </a:fld>
            <a:endParaRPr lang="zh-TW" altLang="en-US"/>
          </a:p>
        </p:txBody>
      </p:sp>
    </p:spTree>
    <p:extLst>
      <p:ext uri="{BB962C8B-B14F-4D97-AF65-F5344CB8AC3E}">
        <p14:creationId xmlns:p14="http://schemas.microsoft.com/office/powerpoint/2010/main" val="788237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737AD519-DE3C-47E3-9700-4B38BEAEB2DE}" type="datetimeFigureOut">
              <a:rPr lang="zh-TW" altLang="en-US" smtClean="0"/>
              <a:t>2020/4/14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D08E8D37-6C79-4AF8-B068-D414DE822FC3}" type="slidenum">
              <a:rPr lang="zh-TW" altLang="en-US" smtClean="0"/>
              <a:t>‹#›</a:t>
            </a:fld>
            <a:endParaRPr lang="zh-TW" altLang="en-US"/>
          </a:p>
        </p:txBody>
      </p:sp>
    </p:spTree>
    <p:extLst>
      <p:ext uri="{BB962C8B-B14F-4D97-AF65-F5344CB8AC3E}">
        <p14:creationId xmlns:p14="http://schemas.microsoft.com/office/powerpoint/2010/main" val="12276948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737AD519-DE3C-47E3-9700-4B38BEAEB2DE}" type="datetimeFigureOut">
              <a:rPr lang="zh-TW" altLang="en-US" smtClean="0"/>
              <a:t>2020/4/14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D08E8D37-6C79-4AF8-B068-D414DE822FC3}" type="slidenum">
              <a:rPr lang="zh-TW" altLang="en-US" smtClean="0"/>
              <a:t>‹#›</a:t>
            </a:fld>
            <a:endParaRPr lang="zh-TW" altLang="en-US"/>
          </a:p>
        </p:txBody>
      </p:sp>
    </p:spTree>
    <p:extLst>
      <p:ext uri="{BB962C8B-B14F-4D97-AF65-F5344CB8AC3E}">
        <p14:creationId xmlns:p14="http://schemas.microsoft.com/office/powerpoint/2010/main" val="2762151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737AD519-DE3C-47E3-9700-4B38BEAEB2DE}" type="datetimeFigureOut">
              <a:rPr lang="zh-TW" altLang="en-US" smtClean="0"/>
              <a:t>2020/4/14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D08E8D37-6C79-4AF8-B068-D414DE822FC3}" type="slidenum">
              <a:rPr lang="zh-TW" altLang="en-US" smtClean="0"/>
              <a:t>‹#›</a:t>
            </a:fld>
            <a:endParaRPr lang="zh-TW" altLang="en-US"/>
          </a:p>
        </p:txBody>
      </p:sp>
    </p:spTree>
    <p:extLst>
      <p:ext uri="{BB962C8B-B14F-4D97-AF65-F5344CB8AC3E}">
        <p14:creationId xmlns:p14="http://schemas.microsoft.com/office/powerpoint/2010/main" val="9401811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7AD519-DE3C-47E3-9700-4B38BEAEB2DE}" type="datetimeFigureOut">
              <a:rPr lang="zh-TW" altLang="en-US" smtClean="0"/>
              <a:t>2020/4/14</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8E8D37-6C79-4AF8-B068-D414DE822FC3}" type="slidenum">
              <a:rPr lang="zh-TW" altLang="en-US" smtClean="0"/>
              <a:t>‹#›</a:t>
            </a:fld>
            <a:endParaRPr lang="zh-TW" altLang="en-US"/>
          </a:p>
        </p:txBody>
      </p:sp>
    </p:spTree>
    <p:extLst>
      <p:ext uri="{BB962C8B-B14F-4D97-AF65-F5344CB8AC3E}">
        <p14:creationId xmlns:p14="http://schemas.microsoft.com/office/powerpoint/2010/main" val="10004456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A472BAA-CA07-4687-AE59-FE0F36C805FD}"/>
              </a:ext>
            </a:extLst>
          </p:cNvPr>
          <p:cNvSpPr>
            <a:spLocks noGrp="1"/>
          </p:cNvSpPr>
          <p:nvPr>
            <p:ph type="ctrTitle"/>
          </p:nvPr>
        </p:nvSpPr>
        <p:spPr/>
        <p:txBody>
          <a:bodyPr>
            <a:noAutofit/>
          </a:bodyPr>
          <a:lstStyle/>
          <a:p>
            <a:r>
              <a:rPr lang="en-US" altLang="zh-TW" sz="4800" dirty="0">
                <a:latin typeface="Times New Roman" panose="02020603050405020304" pitchFamily="18" charset="0"/>
                <a:cs typeface="Times New Roman" panose="02020603050405020304" pitchFamily="18" charset="0"/>
              </a:rPr>
              <a:t>Matching for Run-Length Encoded Strings</a:t>
            </a:r>
            <a:br>
              <a:rPr lang="en-US" altLang="zh-TW" sz="4800" dirty="0">
                <a:latin typeface="Times New Roman" panose="02020603050405020304" pitchFamily="18" charset="0"/>
                <a:cs typeface="Times New Roman" panose="02020603050405020304" pitchFamily="18" charset="0"/>
              </a:rPr>
            </a:br>
            <a:endParaRPr lang="zh-TW" altLang="en-US" sz="48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6163030F-63C3-429B-B824-6E77F3DE2B92}"/>
              </a:ext>
            </a:extLst>
          </p:cNvPr>
          <p:cNvSpPr>
            <a:spLocks noGrp="1"/>
          </p:cNvSpPr>
          <p:nvPr>
            <p:ph type="subTitle" idx="1"/>
          </p:nvPr>
        </p:nvSpPr>
        <p:spPr/>
        <p:txBody>
          <a:bodyPr>
            <a:normAutofit/>
          </a:bodyPr>
          <a:lstStyle/>
          <a:p>
            <a:r>
              <a:rPr lang="en-US" altLang="zh-TW" dirty="0">
                <a:latin typeface="Times New Roman" panose="02020603050405020304" pitchFamily="18" charset="0"/>
                <a:cs typeface="Times New Roman" panose="02020603050405020304" pitchFamily="18" charset="0"/>
              </a:rPr>
              <a:t>Gad M. Landau, Steven </a:t>
            </a:r>
            <a:r>
              <a:rPr lang="en-US" altLang="zh-TW" dirty="0" err="1">
                <a:latin typeface="Times New Roman" panose="02020603050405020304" pitchFamily="18" charset="0"/>
                <a:cs typeface="Times New Roman" panose="02020603050405020304" pitchFamily="18" charset="0"/>
              </a:rPr>
              <a:t>Skiena</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Journal of Complexity 15, 4-16 (1999)</a:t>
            </a:r>
          </a:p>
        </p:txBody>
      </p:sp>
      <p:sp>
        <p:nvSpPr>
          <p:cNvPr id="4" name="矩形 1"/>
          <p:cNvSpPr>
            <a:spLocks noChangeArrowheads="1"/>
          </p:cNvSpPr>
          <p:nvPr/>
        </p:nvSpPr>
        <p:spPr bwMode="auto">
          <a:xfrm>
            <a:off x="8475681" y="5876925"/>
            <a:ext cx="2646363"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lnSpc>
                <a:spcPct val="90000"/>
              </a:lnSpc>
              <a:spcBef>
                <a:spcPct val="0"/>
              </a:spcBef>
              <a:buFontTx/>
              <a:buNone/>
            </a:pPr>
            <a:r>
              <a:rPr lang="en-US" altLang="zh-TW" sz="1800" dirty="0">
                <a:latin typeface="Times New Roman" panose="02020603050405020304" pitchFamily="18" charset="0"/>
                <a:cs typeface="Times New Roman" panose="02020603050405020304" pitchFamily="18" charset="0"/>
              </a:rPr>
              <a:t>Presenter: EN-AN SONG</a:t>
            </a:r>
          </a:p>
          <a:p>
            <a:pPr eaLnBrk="1" hangingPunct="1">
              <a:lnSpc>
                <a:spcPct val="90000"/>
              </a:lnSpc>
              <a:spcBef>
                <a:spcPct val="0"/>
              </a:spcBef>
              <a:buFontTx/>
              <a:buNone/>
            </a:pPr>
            <a:r>
              <a:rPr lang="en-US" altLang="zh-TW" sz="1800" dirty="0">
                <a:latin typeface="Times New Roman" panose="02020603050405020304" pitchFamily="18" charset="0"/>
                <a:cs typeface="Times New Roman" panose="02020603050405020304" pitchFamily="18" charset="0"/>
              </a:rPr>
              <a:t>Date: April 14, 2020</a:t>
            </a:r>
          </a:p>
        </p:txBody>
      </p:sp>
    </p:spTree>
    <p:extLst>
      <p:ext uri="{BB962C8B-B14F-4D97-AF65-F5344CB8AC3E}">
        <p14:creationId xmlns:p14="http://schemas.microsoft.com/office/powerpoint/2010/main" val="29397356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Motivation</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Measuring the similarity between two strings, through such standard measures as Hamming distance, edit distance, and longest common subsequence, is one of the fundamental problems in pattern matching. We consider the problem of finding the longest common subsequence of two strings. A well-known dynamic programming algorithm computes the longest common subsequence of strings X and Y in O(|X|*|Y|) time. In this paper, we develop significantly faster algorithms for a special class of strings which emerge frequently in pattern matching problems. </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77322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 Run-Length Encoded </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685800" y="2069465"/>
            <a:ext cx="10515600" cy="4351338"/>
          </a:xfrm>
        </p:spPr>
        <p:txBody>
          <a:bodyPr/>
          <a:lstStyle/>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X = </a:t>
            </a:r>
          </a:p>
          <a:p>
            <a:r>
              <a:rPr lang="en-US" altLang="zh-TW" dirty="0">
                <a:latin typeface="Times New Roman" panose="02020603050405020304" pitchFamily="18" charset="0"/>
                <a:cs typeface="Times New Roman" panose="02020603050405020304" pitchFamily="18" charset="0"/>
              </a:rPr>
              <a:t>X can be encoded as a</a:t>
            </a:r>
            <a:r>
              <a:rPr lang="en-US" altLang="zh-TW" baseline="30000" dirty="0">
                <a:latin typeface="Times New Roman" panose="02020603050405020304" pitchFamily="18" charset="0"/>
                <a:cs typeface="Times New Roman" panose="02020603050405020304" pitchFamily="18" charset="0"/>
              </a:rPr>
              <a:t>4</a:t>
            </a:r>
            <a:r>
              <a:rPr lang="en-US" altLang="zh-TW" dirty="0">
                <a:latin typeface="Times New Roman" panose="02020603050405020304" pitchFamily="18" charset="0"/>
                <a:cs typeface="Times New Roman" panose="02020603050405020304" pitchFamily="18" charset="0"/>
              </a:rPr>
              <a:t>b</a:t>
            </a:r>
            <a:r>
              <a:rPr lang="en-US" altLang="zh-TW" baseline="30000" dirty="0">
                <a:latin typeface="Times New Roman" panose="02020603050405020304" pitchFamily="18" charset="0"/>
                <a:cs typeface="Times New Roman" panose="02020603050405020304" pitchFamily="18" charset="0"/>
              </a:rPr>
              <a:t>4</a:t>
            </a:r>
            <a:r>
              <a:rPr lang="en-US" altLang="zh-TW" dirty="0">
                <a:latin typeface="Times New Roman" panose="02020603050405020304" pitchFamily="18" charset="0"/>
                <a:cs typeface="Times New Roman" panose="02020603050405020304" pitchFamily="18" charset="0"/>
              </a:rPr>
              <a:t>c</a:t>
            </a:r>
            <a:r>
              <a:rPr lang="en-US" altLang="zh-TW" baseline="30000" dirty="0">
                <a:latin typeface="Times New Roman" panose="02020603050405020304" pitchFamily="18" charset="0"/>
                <a:cs typeface="Times New Roman" panose="02020603050405020304" pitchFamily="18" charset="0"/>
              </a:rPr>
              <a:t>3</a:t>
            </a:r>
            <a:r>
              <a:rPr lang="en-US" altLang="zh-TW" dirty="0">
                <a:latin typeface="Times New Roman" panose="02020603050405020304" pitchFamily="18" charset="0"/>
                <a:cs typeface="Times New Roman" panose="02020603050405020304" pitchFamily="18" charset="0"/>
              </a:rPr>
              <a:t>a</a:t>
            </a:r>
            <a:r>
              <a:rPr lang="en-US" altLang="zh-TW" baseline="30000"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b</a:t>
            </a:r>
            <a:r>
              <a:rPr lang="en-US" altLang="zh-TW" baseline="30000" dirty="0">
                <a:latin typeface="Times New Roman" panose="02020603050405020304" pitchFamily="18" charset="0"/>
                <a:cs typeface="Times New Roman" panose="02020603050405020304" pitchFamily="18" charset="0"/>
              </a:rPr>
              <a:t>4</a:t>
            </a:r>
            <a:r>
              <a:rPr lang="en-US" altLang="zh-TW" dirty="0">
                <a:latin typeface="Times New Roman" panose="02020603050405020304" pitchFamily="18" charset="0"/>
                <a:cs typeface="Times New Roman" panose="02020603050405020304" pitchFamily="18" charset="0"/>
              </a:rPr>
              <a:t>c</a:t>
            </a:r>
            <a:r>
              <a:rPr lang="en-US" altLang="zh-TW" baseline="30000" dirty="0">
                <a:latin typeface="Times New Roman" panose="02020603050405020304" pitchFamily="18" charset="0"/>
                <a:cs typeface="Times New Roman" panose="02020603050405020304" pitchFamily="18" charset="0"/>
              </a:rPr>
              <a:t>2</a:t>
            </a:r>
          </a:p>
          <a:p>
            <a:r>
              <a:rPr lang="en-US" altLang="zh-TW" dirty="0">
                <a:latin typeface="Times New Roman" panose="02020603050405020304" pitchFamily="18" charset="0"/>
                <a:cs typeface="Times New Roman" panose="02020603050405020304" pitchFamily="18" charset="0"/>
              </a:rPr>
              <a:t>Let X</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X</a:t>
            </a:r>
            <a:r>
              <a:rPr lang="en-US" altLang="zh-TW" baseline="-25000" dirty="0">
                <a:latin typeface="Times New Roman" panose="02020603050405020304" pitchFamily="18" charset="0"/>
                <a:cs typeface="Times New Roman" panose="02020603050405020304" pitchFamily="18" charset="0"/>
              </a:rPr>
              <a:t>2</a:t>
            </a:r>
            <a:r>
              <a:rPr lang="en-US" altLang="zh-TW" dirty="0">
                <a:latin typeface="Times New Roman" panose="02020603050405020304" pitchFamily="18" charset="0"/>
                <a:cs typeface="Times New Roman" panose="02020603050405020304" pitchFamily="18" charset="0"/>
              </a:rPr>
              <a:t>….X</a:t>
            </a:r>
            <a:r>
              <a:rPr lang="en-US" altLang="zh-TW" baseline="-25000" dirty="0">
                <a:latin typeface="Times New Roman" panose="02020603050405020304" pitchFamily="18" charset="0"/>
                <a:cs typeface="Times New Roman" panose="02020603050405020304" pitchFamily="18" charset="0"/>
              </a:rPr>
              <a:t>l </a:t>
            </a:r>
            <a:r>
              <a:rPr lang="en-US" altLang="zh-TW" dirty="0">
                <a:latin typeface="Times New Roman" panose="02020603050405020304" pitchFamily="18" charset="0"/>
                <a:cs typeface="Times New Roman" panose="02020603050405020304" pitchFamily="18" charset="0"/>
              </a:rPr>
              <a:t>denote the run length encoding of string X</a:t>
            </a:r>
          </a:p>
          <a:p>
            <a:r>
              <a:rPr lang="en-US" altLang="zh-TW" dirty="0">
                <a:latin typeface="Times New Roman" panose="02020603050405020304" pitchFamily="18" charset="0"/>
                <a:cs typeface="Times New Roman" panose="02020603050405020304" pitchFamily="18" charset="0"/>
              </a:rPr>
              <a:t>X</a:t>
            </a:r>
            <a:r>
              <a:rPr lang="en-US" altLang="zh-TW" baseline="-25000" dirty="0">
                <a:latin typeface="Times New Roman" panose="02020603050405020304" pitchFamily="18" charset="0"/>
                <a:cs typeface="Times New Roman" panose="02020603050405020304" pitchFamily="18" charset="0"/>
              </a:rPr>
              <a:t>1 </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aaaa</a:t>
            </a:r>
            <a:r>
              <a:rPr lang="en-US" altLang="zh-TW" dirty="0">
                <a:latin typeface="Times New Roman" panose="02020603050405020304" pitchFamily="18" charset="0"/>
                <a:cs typeface="Times New Roman" panose="02020603050405020304" pitchFamily="18" charset="0"/>
              </a:rPr>
              <a:t> , X</a:t>
            </a:r>
            <a:r>
              <a:rPr lang="en-US" altLang="zh-TW" baseline="-25000" dirty="0">
                <a:latin typeface="Times New Roman" panose="02020603050405020304" pitchFamily="18" charset="0"/>
                <a:cs typeface="Times New Roman" panose="02020603050405020304" pitchFamily="18" charset="0"/>
              </a:rPr>
              <a:t>2</a:t>
            </a:r>
            <a:r>
              <a:rPr lang="en-US" altLang="zh-TW" dirty="0">
                <a:latin typeface="Times New Roman" panose="02020603050405020304" pitchFamily="18" charset="0"/>
                <a:cs typeface="Times New Roman" panose="02020603050405020304" pitchFamily="18" charset="0"/>
              </a:rPr>
              <a:t> = </a:t>
            </a:r>
            <a:r>
              <a:rPr lang="en-US" altLang="zh-TW" dirty="0" err="1">
                <a:latin typeface="Times New Roman" panose="02020603050405020304" pitchFamily="18" charset="0"/>
                <a:cs typeface="Times New Roman" panose="02020603050405020304" pitchFamily="18" charset="0"/>
              </a:rPr>
              <a:t>bbbb</a:t>
            </a:r>
            <a:r>
              <a:rPr lang="en-US" altLang="zh-TW" dirty="0">
                <a:latin typeface="Times New Roman" panose="02020603050405020304" pitchFamily="18" charset="0"/>
                <a:cs typeface="Times New Roman" panose="02020603050405020304" pitchFamily="18" charset="0"/>
              </a:rPr>
              <a:t> …. X</a:t>
            </a:r>
            <a:r>
              <a:rPr lang="en-US" altLang="zh-TW" baseline="-25000" dirty="0">
                <a:latin typeface="Times New Roman" panose="02020603050405020304" pitchFamily="18" charset="0"/>
                <a:cs typeface="Times New Roman" panose="02020603050405020304" pitchFamily="18" charset="0"/>
              </a:rPr>
              <a:t>6</a:t>
            </a:r>
            <a:r>
              <a:rPr lang="en-US" altLang="zh-TW" dirty="0">
                <a:latin typeface="Times New Roman" panose="02020603050405020304" pitchFamily="18" charset="0"/>
                <a:cs typeface="Times New Roman" panose="02020603050405020304" pitchFamily="18" charset="0"/>
              </a:rPr>
              <a:t> = cc</a:t>
            </a:r>
          </a:p>
          <a:p>
            <a:pPr marL="0" indent="0">
              <a:buNone/>
            </a:pPr>
            <a:endParaRPr lang="en-US" altLang="zh-TW" dirty="0">
              <a:latin typeface="Times New Roman" panose="02020603050405020304" pitchFamily="18" charset="0"/>
              <a:cs typeface="Times New Roman" panose="02020603050405020304" pitchFamily="18"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182478640"/>
              </p:ext>
            </p:extLst>
          </p:nvPr>
        </p:nvGraphicFramePr>
        <p:xfrm>
          <a:off x="1612896" y="3151505"/>
          <a:ext cx="8128008" cy="370840"/>
        </p:xfrm>
        <a:graphic>
          <a:graphicData uri="http://schemas.openxmlformats.org/drawingml/2006/table">
            <a:tbl>
              <a:tblPr firstRow="1" bandRow="1">
                <a:tableStyleId>{5C22544A-7EE6-4342-B048-85BDC9FD1C3A}</a:tableStyleId>
              </a:tblPr>
              <a:tblGrid>
                <a:gridCol w="451556">
                  <a:extLst>
                    <a:ext uri="{9D8B030D-6E8A-4147-A177-3AD203B41FA5}">
                      <a16:colId xmlns:a16="http://schemas.microsoft.com/office/drawing/2014/main" val="20000"/>
                    </a:ext>
                  </a:extLst>
                </a:gridCol>
                <a:gridCol w="451556">
                  <a:extLst>
                    <a:ext uri="{9D8B030D-6E8A-4147-A177-3AD203B41FA5}">
                      <a16:colId xmlns:a16="http://schemas.microsoft.com/office/drawing/2014/main" val="20001"/>
                    </a:ext>
                  </a:extLst>
                </a:gridCol>
                <a:gridCol w="451556">
                  <a:extLst>
                    <a:ext uri="{9D8B030D-6E8A-4147-A177-3AD203B41FA5}">
                      <a16:colId xmlns:a16="http://schemas.microsoft.com/office/drawing/2014/main" val="20002"/>
                    </a:ext>
                  </a:extLst>
                </a:gridCol>
                <a:gridCol w="451556">
                  <a:extLst>
                    <a:ext uri="{9D8B030D-6E8A-4147-A177-3AD203B41FA5}">
                      <a16:colId xmlns:a16="http://schemas.microsoft.com/office/drawing/2014/main" val="20003"/>
                    </a:ext>
                  </a:extLst>
                </a:gridCol>
                <a:gridCol w="451556">
                  <a:extLst>
                    <a:ext uri="{9D8B030D-6E8A-4147-A177-3AD203B41FA5}">
                      <a16:colId xmlns:a16="http://schemas.microsoft.com/office/drawing/2014/main" val="20004"/>
                    </a:ext>
                  </a:extLst>
                </a:gridCol>
                <a:gridCol w="451556">
                  <a:extLst>
                    <a:ext uri="{9D8B030D-6E8A-4147-A177-3AD203B41FA5}">
                      <a16:colId xmlns:a16="http://schemas.microsoft.com/office/drawing/2014/main" val="20005"/>
                    </a:ext>
                  </a:extLst>
                </a:gridCol>
                <a:gridCol w="451556">
                  <a:extLst>
                    <a:ext uri="{9D8B030D-6E8A-4147-A177-3AD203B41FA5}">
                      <a16:colId xmlns:a16="http://schemas.microsoft.com/office/drawing/2014/main" val="20006"/>
                    </a:ext>
                  </a:extLst>
                </a:gridCol>
                <a:gridCol w="451556">
                  <a:extLst>
                    <a:ext uri="{9D8B030D-6E8A-4147-A177-3AD203B41FA5}">
                      <a16:colId xmlns:a16="http://schemas.microsoft.com/office/drawing/2014/main" val="20007"/>
                    </a:ext>
                  </a:extLst>
                </a:gridCol>
                <a:gridCol w="451556">
                  <a:extLst>
                    <a:ext uri="{9D8B030D-6E8A-4147-A177-3AD203B41FA5}">
                      <a16:colId xmlns:a16="http://schemas.microsoft.com/office/drawing/2014/main" val="20008"/>
                    </a:ext>
                  </a:extLst>
                </a:gridCol>
                <a:gridCol w="451556">
                  <a:extLst>
                    <a:ext uri="{9D8B030D-6E8A-4147-A177-3AD203B41FA5}">
                      <a16:colId xmlns:a16="http://schemas.microsoft.com/office/drawing/2014/main" val="20009"/>
                    </a:ext>
                  </a:extLst>
                </a:gridCol>
                <a:gridCol w="451556">
                  <a:extLst>
                    <a:ext uri="{9D8B030D-6E8A-4147-A177-3AD203B41FA5}">
                      <a16:colId xmlns:a16="http://schemas.microsoft.com/office/drawing/2014/main" val="20010"/>
                    </a:ext>
                  </a:extLst>
                </a:gridCol>
                <a:gridCol w="451556">
                  <a:extLst>
                    <a:ext uri="{9D8B030D-6E8A-4147-A177-3AD203B41FA5}">
                      <a16:colId xmlns:a16="http://schemas.microsoft.com/office/drawing/2014/main" val="20011"/>
                    </a:ext>
                  </a:extLst>
                </a:gridCol>
                <a:gridCol w="451556">
                  <a:extLst>
                    <a:ext uri="{9D8B030D-6E8A-4147-A177-3AD203B41FA5}">
                      <a16:colId xmlns:a16="http://schemas.microsoft.com/office/drawing/2014/main" val="20012"/>
                    </a:ext>
                  </a:extLst>
                </a:gridCol>
                <a:gridCol w="451556">
                  <a:extLst>
                    <a:ext uri="{9D8B030D-6E8A-4147-A177-3AD203B41FA5}">
                      <a16:colId xmlns:a16="http://schemas.microsoft.com/office/drawing/2014/main" val="20013"/>
                    </a:ext>
                  </a:extLst>
                </a:gridCol>
                <a:gridCol w="451556">
                  <a:extLst>
                    <a:ext uri="{9D8B030D-6E8A-4147-A177-3AD203B41FA5}">
                      <a16:colId xmlns:a16="http://schemas.microsoft.com/office/drawing/2014/main" val="20014"/>
                    </a:ext>
                  </a:extLst>
                </a:gridCol>
                <a:gridCol w="451556">
                  <a:extLst>
                    <a:ext uri="{9D8B030D-6E8A-4147-A177-3AD203B41FA5}">
                      <a16:colId xmlns:a16="http://schemas.microsoft.com/office/drawing/2014/main" val="20015"/>
                    </a:ext>
                  </a:extLst>
                </a:gridCol>
                <a:gridCol w="451556">
                  <a:extLst>
                    <a:ext uri="{9D8B030D-6E8A-4147-A177-3AD203B41FA5}">
                      <a16:colId xmlns:a16="http://schemas.microsoft.com/office/drawing/2014/main" val="20016"/>
                    </a:ext>
                  </a:extLst>
                </a:gridCol>
                <a:gridCol w="451556">
                  <a:extLst>
                    <a:ext uri="{9D8B030D-6E8A-4147-A177-3AD203B41FA5}">
                      <a16:colId xmlns:a16="http://schemas.microsoft.com/office/drawing/2014/main" val="20017"/>
                    </a:ext>
                  </a:extLst>
                </a:gridCol>
              </a:tblGrid>
              <a:tr h="370840">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a</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a</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a</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a</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b</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b</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b</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b</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c</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c</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c</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a</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b</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b</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b</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b</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c</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c</a:t>
                      </a:r>
                      <a:endParaRPr lang="zh-TW"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7035795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600" dirty="0">
                <a:latin typeface="Times New Roman" panose="02020603050405020304" pitchFamily="18" charset="0"/>
                <a:cs typeface="Times New Roman" panose="02020603050405020304" pitchFamily="18" charset="0"/>
              </a:rPr>
              <a:t>Longest Common Subsequence - Initial Algorithm</a:t>
            </a:r>
            <a:endParaRPr lang="zh-TW" altLang="en-US" sz="3600" dirty="0"/>
          </a:p>
        </p:txBody>
      </p:sp>
      <p:sp>
        <p:nvSpPr>
          <p:cNvPr id="3" name="內容版面配置區 2"/>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X=a</a:t>
            </a:r>
            <a:r>
              <a:rPr lang="en-US" altLang="zh-TW" baseline="30000" dirty="0">
                <a:latin typeface="Times New Roman" panose="02020603050405020304" pitchFamily="18" charset="0"/>
                <a:cs typeface="Times New Roman" panose="02020603050405020304" pitchFamily="18" charset="0"/>
              </a:rPr>
              <a:t>3</a:t>
            </a:r>
            <a:r>
              <a:rPr lang="en-US" altLang="zh-TW" dirty="0">
                <a:latin typeface="Times New Roman" panose="02020603050405020304" pitchFamily="18" charset="0"/>
                <a:cs typeface="Times New Roman" panose="02020603050405020304" pitchFamily="18" charset="0"/>
              </a:rPr>
              <a:t>b</a:t>
            </a:r>
            <a:r>
              <a:rPr lang="en-US" altLang="zh-TW" baseline="30000" dirty="0">
                <a:latin typeface="Times New Roman" panose="02020603050405020304" pitchFamily="18" charset="0"/>
                <a:cs typeface="Times New Roman" panose="02020603050405020304" pitchFamily="18" charset="0"/>
              </a:rPr>
              <a:t>6</a:t>
            </a:r>
            <a:r>
              <a:rPr lang="en-US" altLang="zh-TW" dirty="0">
                <a:latin typeface="Times New Roman" panose="02020603050405020304" pitchFamily="18" charset="0"/>
                <a:cs typeface="Times New Roman" panose="02020603050405020304" pitchFamily="18" charset="0"/>
              </a:rPr>
              <a:t>c</a:t>
            </a:r>
            <a:r>
              <a:rPr lang="en-US" altLang="zh-TW" baseline="30000"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a</a:t>
            </a:r>
            <a:r>
              <a:rPr lang="en-US" altLang="zh-TW" baseline="30000" dirty="0">
                <a:latin typeface="Times New Roman" panose="02020603050405020304" pitchFamily="18" charset="0"/>
                <a:cs typeface="Times New Roman" panose="02020603050405020304" pitchFamily="18" charset="0"/>
              </a:rPr>
              <a:t>4</a:t>
            </a:r>
            <a:r>
              <a:rPr lang="en-US" altLang="zh-TW" dirty="0">
                <a:latin typeface="Times New Roman" panose="02020603050405020304" pitchFamily="18" charset="0"/>
                <a:cs typeface="Times New Roman" panose="02020603050405020304" pitchFamily="18" charset="0"/>
              </a:rPr>
              <a:t> </a:t>
            </a:r>
          </a:p>
          <a:p>
            <a:r>
              <a:rPr lang="en-US" altLang="zh-TW" dirty="0">
                <a:latin typeface="Times New Roman" panose="02020603050405020304" pitchFamily="18" charset="0"/>
                <a:cs typeface="Times New Roman" panose="02020603050405020304" pitchFamily="18" charset="0"/>
              </a:rPr>
              <a:t>Y=a</a:t>
            </a:r>
            <a:r>
              <a:rPr lang="en-US" altLang="zh-TW" baseline="30000" dirty="0">
                <a:latin typeface="Times New Roman" panose="02020603050405020304" pitchFamily="18" charset="0"/>
                <a:cs typeface="Times New Roman" panose="02020603050405020304" pitchFamily="18" charset="0"/>
              </a:rPr>
              <a:t>6</a:t>
            </a:r>
            <a:r>
              <a:rPr lang="en-US" altLang="zh-TW" dirty="0">
                <a:latin typeface="Times New Roman" panose="02020603050405020304" pitchFamily="18" charset="0"/>
                <a:cs typeface="Times New Roman" panose="02020603050405020304" pitchFamily="18" charset="0"/>
              </a:rPr>
              <a:t>b</a:t>
            </a:r>
            <a:r>
              <a:rPr lang="en-US" altLang="zh-TW" baseline="30000" dirty="0">
                <a:latin typeface="Times New Roman" panose="02020603050405020304" pitchFamily="18" charset="0"/>
                <a:cs typeface="Times New Roman" panose="02020603050405020304" pitchFamily="18" charset="0"/>
              </a:rPr>
              <a:t>3</a:t>
            </a:r>
            <a:r>
              <a:rPr lang="en-US" altLang="zh-TW" dirty="0">
                <a:latin typeface="Times New Roman" panose="02020603050405020304" pitchFamily="18" charset="0"/>
                <a:cs typeface="Times New Roman" panose="02020603050405020304" pitchFamily="18" charset="0"/>
              </a:rPr>
              <a:t>a</a:t>
            </a:r>
            <a:r>
              <a:rPr lang="en-US" altLang="zh-TW" baseline="30000" dirty="0">
                <a:latin typeface="Times New Roman" panose="02020603050405020304" pitchFamily="18" charset="0"/>
                <a:cs typeface="Times New Roman" panose="02020603050405020304" pitchFamily="18" charset="0"/>
              </a:rPr>
              <a:t>8</a:t>
            </a:r>
            <a:r>
              <a:rPr lang="en-US" altLang="zh-TW" dirty="0">
                <a:latin typeface="Times New Roman" panose="02020603050405020304" pitchFamily="18" charset="0"/>
                <a:cs typeface="Times New Roman" panose="02020603050405020304" pitchFamily="18" charset="0"/>
              </a:rPr>
              <a:t>b</a:t>
            </a:r>
            <a:r>
              <a:rPr lang="en-US" altLang="zh-TW" baseline="30000" dirty="0">
                <a:latin typeface="Times New Roman" panose="02020603050405020304" pitchFamily="18" charset="0"/>
                <a:cs typeface="Times New Roman" panose="02020603050405020304" pitchFamily="18" charset="0"/>
              </a:rPr>
              <a:t>3</a:t>
            </a:r>
          </a:p>
          <a:p>
            <a:r>
              <a:rPr lang="en-US" altLang="zh-TW" dirty="0">
                <a:latin typeface="Times New Roman" panose="02020603050405020304" pitchFamily="18" charset="0"/>
                <a:cs typeface="Times New Roman" panose="02020603050405020304" pitchFamily="18" charset="0"/>
              </a:rPr>
              <a:t>Block (</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j) is dark if the corresponding characters match, i.e., X</a:t>
            </a:r>
            <a:r>
              <a:rPr lang="en-US" altLang="zh-TW" baseline="-25000" dirty="0">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Y</a:t>
            </a:r>
            <a:r>
              <a:rPr lang="en-US" altLang="zh-TW" baseline="-25000" dirty="0" err="1">
                <a:latin typeface="Times New Roman" panose="02020603050405020304" pitchFamily="18" charset="0"/>
                <a:cs typeface="Times New Roman" panose="02020603050405020304" pitchFamily="18" charset="0"/>
              </a:rPr>
              <a:t>j</a:t>
            </a:r>
            <a:endParaRPr lang="en-US" altLang="zh-TW" baseline="-25000" dirty="0">
              <a:latin typeface="Times New Roman" panose="02020603050405020304" pitchFamily="18" charset="0"/>
              <a:cs typeface="Times New Roman" panose="02020603050405020304" pitchFamily="18" charset="0"/>
            </a:endParaRPr>
          </a:p>
          <a:p>
            <a:endParaRPr lang="zh-TW" altLang="en-US" dirty="0">
              <a:latin typeface="Times New Roman" panose="02020603050405020304" pitchFamily="18" charset="0"/>
              <a:cs typeface="Times New Roman" panose="02020603050405020304" pitchFamily="18" charset="0"/>
            </a:endParaRPr>
          </a:p>
        </p:txBody>
      </p:sp>
      <p:graphicFrame>
        <p:nvGraphicFramePr>
          <p:cNvPr id="4" name="表格 3"/>
          <p:cNvGraphicFramePr>
            <a:graphicFrameLocks noGrp="1"/>
          </p:cNvGraphicFramePr>
          <p:nvPr>
            <p:extLst>
              <p:ext uri="{D42A27DB-BD31-4B8C-83A1-F6EECF244321}">
                <p14:modId xmlns:p14="http://schemas.microsoft.com/office/powerpoint/2010/main" val="4095860710"/>
              </p:ext>
            </p:extLst>
          </p:nvPr>
        </p:nvGraphicFramePr>
        <p:xfrm>
          <a:off x="1109980" y="3512820"/>
          <a:ext cx="6502400" cy="3055621"/>
        </p:xfrm>
        <a:graphic>
          <a:graphicData uri="http://schemas.openxmlformats.org/drawingml/2006/table">
            <a:tbl>
              <a:tblPr firstRow="1" bandRow="1">
                <a:tableStyleId>{5C22544A-7EE6-4342-B048-85BDC9FD1C3A}</a:tableStyleId>
              </a:tblPr>
              <a:tblGrid>
                <a:gridCol w="1300480">
                  <a:extLst>
                    <a:ext uri="{9D8B030D-6E8A-4147-A177-3AD203B41FA5}">
                      <a16:colId xmlns:a16="http://schemas.microsoft.com/office/drawing/2014/main" val="20000"/>
                    </a:ext>
                  </a:extLst>
                </a:gridCol>
                <a:gridCol w="1300480">
                  <a:extLst>
                    <a:ext uri="{9D8B030D-6E8A-4147-A177-3AD203B41FA5}">
                      <a16:colId xmlns:a16="http://schemas.microsoft.com/office/drawing/2014/main" val="20001"/>
                    </a:ext>
                  </a:extLst>
                </a:gridCol>
                <a:gridCol w="1300480">
                  <a:extLst>
                    <a:ext uri="{9D8B030D-6E8A-4147-A177-3AD203B41FA5}">
                      <a16:colId xmlns:a16="http://schemas.microsoft.com/office/drawing/2014/main" val="20002"/>
                    </a:ext>
                  </a:extLst>
                </a:gridCol>
                <a:gridCol w="1300480">
                  <a:extLst>
                    <a:ext uri="{9D8B030D-6E8A-4147-A177-3AD203B41FA5}">
                      <a16:colId xmlns:a16="http://schemas.microsoft.com/office/drawing/2014/main" val="20003"/>
                    </a:ext>
                  </a:extLst>
                </a:gridCol>
                <a:gridCol w="1300480">
                  <a:extLst>
                    <a:ext uri="{9D8B030D-6E8A-4147-A177-3AD203B41FA5}">
                      <a16:colId xmlns:a16="http://schemas.microsoft.com/office/drawing/2014/main" val="20004"/>
                    </a:ext>
                  </a:extLst>
                </a:gridCol>
              </a:tblGrid>
              <a:tr h="589449">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   </a:t>
                      </a:r>
                      <a:r>
                        <a:rPr lang="en-US" altLang="zh-TW" sz="2800" baseline="0" dirty="0">
                          <a:solidFill>
                            <a:schemeClr val="tx1"/>
                          </a:solidFill>
                          <a:latin typeface="Times New Roman" panose="02020603050405020304" pitchFamily="18" charset="0"/>
                          <a:cs typeface="Times New Roman" panose="02020603050405020304" pitchFamily="18" charset="0"/>
                        </a:rPr>
                        <a:t> </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8</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616543">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616543">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0002"/>
                  </a:ext>
                </a:extLst>
              </a:tr>
              <a:tr h="616543">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c</a:t>
                      </a:r>
                      <a:r>
                        <a:rPr lang="en-US" altLang="zh-TW" sz="2800" b="0" baseline="30000" dirty="0">
                          <a:solidFill>
                            <a:schemeClr val="tx1"/>
                          </a:solidFill>
                          <a:latin typeface="Times New Roman" panose="02020603050405020304" pitchFamily="18" charset="0"/>
                          <a:cs typeface="Times New Roman" panose="02020603050405020304" pitchFamily="18" charset="0"/>
                        </a:rPr>
                        <a:t>1</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616543">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4</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cxnSp>
        <p:nvCxnSpPr>
          <p:cNvPr id="6" name="直線單箭頭接點 5"/>
          <p:cNvCxnSpPr/>
          <p:nvPr/>
        </p:nvCxnSpPr>
        <p:spPr>
          <a:xfrm flipV="1">
            <a:off x="7223760" y="4198620"/>
            <a:ext cx="1211580" cy="1828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8435340" y="4001294"/>
            <a:ext cx="979755" cy="369332"/>
          </a:xfrm>
          <a:prstGeom prst="rect">
            <a:avLst/>
          </a:prstGeom>
        </p:spPr>
        <p:txBody>
          <a:bodyPr wrap="none">
            <a:spAutoFit/>
          </a:bodyPr>
          <a:lstStyle/>
          <a:p>
            <a:r>
              <a:rPr lang="en-US" altLang="zh-TW" dirty="0" err="1">
                <a:latin typeface="Times New Roman" panose="02020603050405020304" pitchFamily="18" charset="0"/>
                <a:cs typeface="Times New Roman" panose="02020603050405020304" pitchFamily="18" charset="0"/>
              </a:rPr>
              <a:t>unmatch</a:t>
            </a:r>
            <a:endParaRPr lang="zh-TW" altLang="en-US" dirty="0"/>
          </a:p>
        </p:txBody>
      </p:sp>
      <p:cxnSp>
        <p:nvCxnSpPr>
          <p:cNvPr id="9" name="直線單箭頭接點 8"/>
          <p:cNvCxnSpPr/>
          <p:nvPr/>
        </p:nvCxnSpPr>
        <p:spPr>
          <a:xfrm>
            <a:off x="7223760" y="5040630"/>
            <a:ext cx="1211580" cy="1638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8437503" y="5019794"/>
            <a:ext cx="748923"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match</a:t>
            </a:r>
            <a:endParaRPr lang="zh-TW" altLang="en-US" dirty="0"/>
          </a:p>
        </p:txBody>
      </p:sp>
    </p:spTree>
    <p:extLst>
      <p:ext uri="{BB962C8B-B14F-4D97-AF65-F5344CB8AC3E}">
        <p14:creationId xmlns:p14="http://schemas.microsoft.com/office/powerpoint/2010/main" val="24651385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Longest Common Subsequence - Initial Algorithm</a:t>
            </a:r>
            <a:endParaRPr lang="zh-TW" altLang="en-US" sz="4000" dirty="0"/>
          </a:p>
        </p:txBody>
      </p:sp>
      <p:graphicFrame>
        <p:nvGraphicFramePr>
          <p:cNvPr id="5" name="表格 4"/>
          <p:cNvGraphicFramePr>
            <a:graphicFrameLocks noGrp="1"/>
          </p:cNvGraphicFramePr>
          <p:nvPr>
            <p:extLst>
              <p:ext uri="{D42A27DB-BD31-4B8C-83A1-F6EECF244321}">
                <p14:modId xmlns:p14="http://schemas.microsoft.com/office/powerpoint/2010/main" val="1582336760"/>
              </p:ext>
            </p:extLst>
          </p:nvPr>
        </p:nvGraphicFramePr>
        <p:xfrm>
          <a:off x="838200" y="1682116"/>
          <a:ext cx="4876800" cy="4588192"/>
        </p:xfrm>
        <a:graphic>
          <a:graphicData uri="http://schemas.openxmlformats.org/drawingml/2006/table">
            <a:tbl>
              <a:tblPr firstRow="1" bandRow="1">
                <a:tableStyleId>{5C22544A-7EE6-4342-B048-85BDC9FD1C3A}</a:tableStyleId>
              </a:tblPr>
              <a:tblGrid>
                <a:gridCol w="975360">
                  <a:extLst>
                    <a:ext uri="{9D8B030D-6E8A-4147-A177-3AD203B41FA5}">
                      <a16:colId xmlns:a16="http://schemas.microsoft.com/office/drawing/2014/main" val="20000"/>
                    </a:ext>
                  </a:extLst>
                </a:gridCol>
                <a:gridCol w="975360">
                  <a:extLst>
                    <a:ext uri="{9D8B030D-6E8A-4147-A177-3AD203B41FA5}">
                      <a16:colId xmlns:a16="http://schemas.microsoft.com/office/drawing/2014/main" val="20001"/>
                    </a:ext>
                  </a:extLst>
                </a:gridCol>
                <a:gridCol w="975360">
                  <a:extLst>
                    <a:ext uri="{9D8B030D-6E8A-4147-A177-3AD203B41FA5}">
                      <a16:colId xmlns:a16="http://schemas.microsoft.com/office/drawing/2014/main" val="20002"/>
                    </a:ext>
                  </a:extLst>
                </a:gridCol>
                <a:gridCol w="975360">
                  <a:extLst>
                    <a:ext uri="{9D8B030D-6E8A-4147-A177-3AD203B41FA5}">
                      <a16:colId xmlns:a16="http://schemas.microsoft.com/office/drawing/2014/main" val="20003"/>
                    </a:ext>
                  </a:extLst>
                </a:gridCol>
                <a:gridCol w="975360">
                  <a:extLst>
                    <a:ext uri="{9D8B030D-6E8A-4147-A177-3AD203B41FA5}">
                      <a16:colId xmlns:a16="http://schemas.microsoft.com/office/drawing/2014/main" val="20004"/>
                    </a:ext>
                  </a:extLst>
                </a:gridCol>
              </a:tblGrid>
              <a:tr h="885092">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   </a:t>
                      </a:r>
                      <a:r>
                        <a:rPr lang="en-US" altLang="zh-TW" sz="2800" b="0" baseline="0" dirty="0">
                          <a:solidFill>
                            <a:schemeClr val="tx1"/>
                          </a:solidFill>
                          <a:latin typeface="Times New Roman" panose="02020603050405020304" pitchFamily="18" charset="0"/>
                          <a:cs typeface="Times New Roman" panose="02020603050405020304" pitchFamily="18" charset="0"/>
                        </a:rPr>
                        <a:t> </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8</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0002"/>
                  </a:ext>
                </a:extLst>
              </a:tr>
              <a:tr h="925775">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c</a:t>
                      </a:r>
                      <a:r>
                        <a:rPr lang="en-US" altLang="zh-TW" sz="2800" b="0" baseline="30000" dirty="0">
                          <a:solidFill>
                            <a:schemeClr val="tx1"/>
                          </a:solidFill>
                          <a:latin typeface="Times New Roman" panose="02020603050405020304" pitchFamily="18" charset="0"/>
                          <a:cs typeface="Times New Roman" panose="02020603050405020304" pitchFamily="18" charset="0"/>
                        </a:rPr>
                        <a:t>1</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4</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graphicFrame>
        <p:nvGraphicFramePr>
          <p:cNvPr id="10" name="表格 9"/>
          <p:cNvGraphicFramePr>
            <a:graphicFrameLocks noGrp="1"/>
          </p:cNvGraphicFramePr>
          <p:nvPr>
            <p:extLst>
              <p:ext uri="{D42A27DB-BD31-4B8C-83A1-F6EECF244321}">
                <p14:modId xmlns:p14="http://schemas.microsoft.com/office/powerpoint/2010/main" val="3391315847"/>
              </p:ext>
            </p:extLst>
          </p:nvPr>
        </p:nvGraphicFramePr>
        <p:xfrm>
          <a:off x="6385560" y="1696404"/>
          <a:ext cx="2585720" cy="1483360"/>
        </p:xfrm>
        <a:graphic>
          <a:graphicData uri="http://schemas.openxmlformats.org/drawingml/2006/table">
            <a:tbl>
              <a:tblPr firstRow="1" bandRow="1">
                <a:tableStyleId>{5C22544A-7EE6-4342-B048-85BDC9FD1C3A}</a:tableStyleId>
              </a:tblPr>
              <a:tblGrid>
                <a:gridCol w="646430">
                  <a:extLst>
                    <a:ext uri="{9D8B030D-6E8A-4147-A177-3AD203B41FA5}">
                      <a16:colId xmlns:a16="http://schemas.microsoft.com/office/drawing/2014/main" val="20000"/>
                    </a:ext>
                  </a:extLst>
                </a:gridCol>
                <a:gridCol w="646430">
                  <a:extLst>
                    <a:ext uri="{9D8B030D-6E8A-4147-A177-3AD203B41FA5}">
                      <a16:colId xmlns:a16="http://schemas.microsoft.com/office/drawing/2014/main" val="20001"/>
                    </a:ext>
                  </a:extLst>
                </a:gridCol>
                <a:gridCol w="646430">
                  <a:extLst>
                    <a:ext uri="{9D8B030D-6E8A-4147-A177-3AD203B41FA5}">
                      <a16:colId xmlns:a16="http://schemas.microsoft.com/office/drawing/2014/main" val="20002"/>
                    </a:ext>
                  </a:extLst>
                </a:gridCol>
                <a:gridCol w="646430">
                  <a:extLst>
                    <a:ext uri="{9D8B030D-6E8A-4147-A177-3AD203B41FA5}">
                      <a16:colId xmlns:a16="http://schemas.microsoft.com/office/drawing/2014/main" val="20003"/>
                    </a:ext>
                  </a:extLst>
                </a:gridCol>
              </a:tblGrid>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11" name="矩形 10"/>
          <p:cNvSpPr/>
          <p:nvPr/>
        </p:nvSpPr>
        <p:spPr>
          <a:xfrm>
            <a:off x="9149330" y="2810432"/>
            <a:ext cx="1326004"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Matrix of M</a:t>
            </a:r>
            <a:endParaRPr lang="zh-TW" altLang="en-US" dirty="0"/>
          </a:p>
        </p:txBody>
      </p:sp>
      <p:sp>
        <p:nvSpPr>
          <p:cNvPr id="12" name="矩形 11"/>
          <p:cNvSpPr/>
          <p:nvPr/>
        </p:nvSpPr>
        <p:spPr>
          <a:xfrm>
            <a:off x="6385560" y="3846314"/>
            <a:ext cx="3124573" cy="1200329"/>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X = X</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X</a:t>
            </a:r>
            <a:r>
              <a:rPr lang="en-US" altLang="zh-TW" baseline="-25000" dirty="0">
                <a:latin typeface="Times New Roman" panose="02020603050405020304" pitchFamily="18" charset="0"/>
                <a:cs typeface="Times New Roman" panose="02020603050405020304" pitchFamily="18" charset="0"/>
              </a:rPr>
              <a:t>2</a:t>
            </a:r>
            <a:r>
              <a:rPr lang="en-US" altLang="zh-TW" dirty="0">
                <a:latin typeface="Times New Roman" panose="02020603050405020304" pitchFamily="18" charset="0"/>
                <a:cs typeface="Times New Roman" panose="02020603050405020304" pitchFamily="18" charset="0"/>
              </a:rPr>
              <a:t>….X</a:t>
            </a:r>
            <a:r>
              <a:rPr lang="en-US" altLang="zh-TW" baseline="-25000" dirty="0">
                <a:latin typeface="Times New Roman" panose="02020603050405020304" pitchFamily="18" charset="0"/>
                <a:cs typeface="Times New Roman" panose="02020603050405020304" pitchFamily="18" charset="0"/>
              </a:rPr>
              <a:t>l</a:t>
            </a:r>
          </a:p>
          <a:p>
            <a:r>
              <a:rPr lang="en-US" altLang="zh-TW" dirty="0">
                <a:latin typeface="Times New Roman" panose="02020603050405020304" pitchFamily="18" charset="0"/>
                <a:cs typeface="Times New Roman" panose="02020603050405020304" pitchFamily="18" charset="0"/>
              </a:rPr>
              <a:t>Y = Y</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Y</a:t>
            </a:r>
            <a:r>
              <a:rPr lang="en-US" altLang="zh-TW" baseline="-25000" dirty="0">
                <a:latin typeface="Times New Roman" panose="02020603050405020304" pitchFamily="18" charset="0"/>
                <a:cs typeface="Times New Roman" panose="02020603050405020304" pitchFamily="18" charset="0"/>
              </a:rPr>
              <a:t>2</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Y</a:t>
            </a:r>
            <a:r>
              <a:rPr lang="en-US" altLang="zh-TW" baseline="-25000" dirty="0" err="1">
                <a:latin typeface="Times New Roman" panose="02020603050405020304" pitchFamily="18" charset="0"/>
                <a:cs typeface="Times New Roman" panose="02020603050405020304" pitchFamily="18" charset="0"/>
              </a:rPr>
              <a:t>k</a:t>
            </a:r>
            <a:r>
              <a:rPr lang="en-US" altLang="zh-TW" dirty="0">
                <a:latin typeface="Times New Roman" panose="02020603050405020304" pitchFamily="18" charset="0"/>
                <a:cs typeface="Times New Roman" panose="02020603050405020304" pitchFamily="18" charset="0"/>
              </a:rPr>
              <a:t> </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M[</a:t>
            </a:r>
            <a:r>
              <a:rPr lang="en-US" altLang="zh-TW" dirty="0" err="1">
                <a:latin typeface="Times New Roman" panose="02020603050405020304" pitchFamily="18" charset="0"/>
                <a:cs typeface="Times New Roman" panose="02020603050405020304" pitchFamily="18" charset="0"/>
              </a:rPr>
              <a:t>i,j</a:t>
            </a:r>
            <a:r>
              <a:rPr lang="en-US" altLang="zh-TW" dirty="0">
                <a:latin typeface="Times New Roman" panose="02020603050405020304" pitchFamily="18" charset="0"/>
                <a:cs typeface="Times New Roman" panose="02020603050405020304" pitchFamily="18" charset="0"/>
              </a:rPr>
              <a:t>] = 0 , 1</a:t>
            </a:r>
            <a:r>
              <a:rPr lang="zh-TW" altLang="en-US" dirty="0"/>
              <a:t> ≦  </a:t>
            </a:r>
            <a:r>
              <a:rPr lang="en-US" altLang="zh-TW" dirty="0" err="1">
                <a:latin typeface="Times New Roman" panose="02020603050405020304" pitchFamily="18" charset="0"/>
                <a:cs typeface="Times New Roman" panose="02020603050405020304" pitchFamily="18" charset="0"/>
              </a:rPr>
              <a:t>i</a:t>
            </a:r>
            <a:r>
              <a:rPr lang="zh-TW" altLang="en-US" dirty="0"/>
              <a:t> ≦  </a:t>
            </a:r>
            <a:r>
              <a:rPr lang="en-US" altLang="zh-TW" dirty="0">
                <a:latin typeface="Times New Roman" panose="02020603050405020304" pitchFamily="18" charset="0"/>
                <a:cs typeface="Times New Roman" panose="02020603050405020304" pitchFamily="18" charset="0"/>
              </a:rPr>
              <a:t>l , 1</a:t>
            </a:r>
            <a:r>
              <a:rPr lang="zh-TW" altLang="en-US" dirty="0"/>
              <a:t> ≦  </a:t>
            </a:r>
            <a:r>
              <a:rPr lang="en-US" altLang="zh-TW" dirty="0">
                <a:latin typeface="Times New Roman" panose="02020603050405020304" pitchFamily="18" charset="0"/>
                <a:cs typeface="Times New Roman" panose="02020603050405020304" pitchFamily="18" charset="0"/>
              </a:rPr>
              <a:t>j</a:t>
            </a:r>
            <a:r>
              <a:rPr lang="zh-TW" altLang="en-US" dirty="0"/>
              <a:t> ≦  </a:t>
            </a:r>
            <a:r>
              <a:rPr lang="en-US" altLang="zh-TW" dirty="0">
                <a:latin typeface="Times New Roman" panose="02020603050405020304" pitchFamily="18" charset="0"/>
                <a:cs typeface="Times New Roman" panose="02020603050405020304" pitchFamily="18" charset="0"/>
              </a:rPr>
              <a:t>k</a:t>
            </a:r>
            <a:endParaRPr lang="zh-TW" altLang="en-US" dirty="0">
              <a:latin typeface="Times New Roman" panose="02020603050405020304" pitchFamily="18" charset="0"/>
              <a:cs typeface="Times New Roman" panose="02020603050405020304" pitchFamily="18" charset="0"/>
            </a:endParaRPr>
          </a:p>
        </p:txBody>
      </p:sp>
      <p:sp>
        <p:nvSpPr>
          <p:cNvPr id="13" name="矩形 12"/>
          <p:cNvSpPr/>
          <p:nvPr/>
        </p:nvSpPr>
        <p:spPr>
          <a:xfrm>
            <a:off x="1371171" y="1758434"/>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Y</a:t>
            </a:r>
            <a:endParaRPr lang="zh-TW" altLang="en-US" dirty="0"/>
          </a:p>
        </p:txBody>
      </p:sp>
      <p:sp>
        <p:nvSpPr>
          <p:cNvPr id="14" name="矩形 13"/>
          <p:cNvSpPr/>
          <p:nvPr/>
        </p:nvSpPr>
        <p:spPr>
          <a:xfrm>
            <a:off x="1019793" y="2195512"/>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X</a:t>
            </a:r>
            <a:endParaRPr lang="zh-TW" altLang="en-US" dirty="0"/>
          </a:p>
        </p:txBody>
      </p:sp>
    </p:spTree>
    <p:extLst>
      <p:ext uri="{BB962C8B-B14F-4D97-AF65-F5344CB8AC3E}">
        <p14:creationId xmlns:p14="http://schemas.microsoft.com/office/powerpoint/2010/main" val="6440883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Longest Common Subsequence - Initial Algorithm</a:t>
            </a:r>
            <a:endParaRPr lang="zh-TW" altLang="en-US" sz="4000" dirty="0"/>
          </a:p>
        </p:txBody>
      </p:sp>
      <p:graphicFrame>
        <p:nvGraphicFramePr>
          <p:cNvPr id="10" name="表格 9"/>
          <p:cNvGraphicFramePr>
            <a:graphicFrameLocks noGrp="1"/>
          </p:cNvGraphicFramePr>
          <p:nvPr>
            <p:extLst>
              <p:ext uri="{D42A27DB-BD31-4B8C-83A1-F6EECF244321}">
                <p14:modId xmlns:p14="http://schemas.microsoft.com/office/powerpoint/2010/main" val="2811122421"/>
              </p:ext>
            </p:extLst>
          </p:nvPr>
        </p:nvGraphicFramePr>
        <p:xfrm>
          <a:off x="6385560" y="1696404"/>
          <a:ext cx="2585720" cy="1483360"/>
        </p:xfrm>
        <a:graphic>
          <a:graphicData uri="http://schemas.openxmlformats.org/drawingml/2006/table">
            <a:tbl>
              <a:tblPr firstRow="1" bandRow="1">
                <a:tableStyleId>{5C22544A-7EE6-4342-B048-85BDC9FD1C3A}</a:tableStyleId>
              </a:tblPr>
              <a:tblGrid>
                <a:gridCol w="646430">
                  <a:extLst>
                    <a:ext uri="{9D8B030D-6E8A-4147-A177-3AD203B41FA5}">
                      <a16:colId xmlns:a16="http://schemas.microsoft.com/office/drawing/2014/main" val="20000"/>
                    </a:ext>
                  </a:extLst>
                </a:gridCol>
                <a:gridCol w="646430">
                  <a:extLst>
                    <a:ext uri="{9D8B030D-6E8A-4147-A177-3AD203B41FA5}">
                      <a16:colId xmlns:a16="http://schemas.microsoft.com/office/drawing/2014/main" val="20001"/>
                    </a:ext>
                  </a:extLst>
                </a:gridCol>
                <a:gridCol w="646430">
                  <a:extLst>
                    <a:ext uri="{9D8B030D-6E8A-4147-A177-3AD203B41FA5}">
                      <a16:colId xmlns:a16="http://schemas.microsoft.com/office/drawing/2014/main" val="20002"/>
                    </a:ext>
                  </a:extLst>
                </a:gridCol>
                <a:gridCol w="646430">
                  <a:extLst>
                    <a:ext uri="{9D8B030D-6E8A-4147-A177-3AD203B41FA5}">
                      <a16:colId xmlns:a16="http://schemas.microsoft.com/office/drawing/2014/main" val="20003"/>
                    </a:ext>
                  </a:extLst>
                </a:gridCol>
              </a:tblGrid>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11" name="矩形 10"/>
          <p:cNvSpPr/>
          <p:nvPr/>
        </p:nvSpPr>
        <p:spPr>
          <a:xfrm>
            <a:off x="9149330" y="2810432"/>
            <a:ext cx="1326004"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Matrix of M</a:t>
            </a:r>
            <a:endParaRPr lang="zh-TW" altLang="en-US" dirty="0"/>
          </a:p>
        </p:txBody>
      </p:sp>
      <p:graphicFrame>
        <p:nvGraphicFramePr>
          <p:cNvPr id="13" name="表格 12"/>
          <p:cNvGraphicFramePr>
            <a:graphicFrameLocks noGrp="1"/>
          </p:cNvGraphicFramePr>
          <p:nvPr>
            <p:extLst>
              <p:ext uri="{D42A27DB-BD31-4B8C-83A1-F6EECF244321}">
                <p14:modId xmlns:p14="http://schemas.microsoft.com/office/powerpoint/2010/main" val="4140475480"/>
              </p:ext>
            </p:extLst>
          </p:nvPr>
        </p:nvGraphicFramePr>
        <p:xfrm>
          <a:off x="838200" y="1682116"/>
          <a:ext cx="4876800" cy="4588192"/>
        </p:xfrm>
        <a:graphic>
          <a:graphicData uri="http://schemas.openxmlformats.org/drawingml/2006/table">
            <a:tbl>
              <a:tblPr firstRow="1" bandRow="1">
                <a:tableStyleId>{5C22544A-7EE6-4342-B048-85BDC9FD1C3A}</a:tableStyleId>
              </a:tblPr>
              <a:tblGrid>
                <a:gridCol w="975360">
                  <a:extLst>
                    <a:ext uri="{9D8B030D-6E8A-4147-A177-3AD203B41FA5}">
                      <a16:colId xmlns:a16="http://schemas.microsoft.com/office/drawing/2014/main" val="20000"/>
                    </a:ext>
                  </a:extLst>
                </a:gridCol>
                <a:gridCol w="975360">
                  <a:extLst>
                    <a:ext uri="{9D8B030D-6E8A-4147-A177-3AD203B41FA5}">
                      <a16:colId xmlns:a16="http://schemas.microsoft.com/office/drawing/2014/main" val="20001"/>
                    </a:ext>
                  </a:extLst>
                </a:gridCol>
                <a:gridCol w="975360">
                  <a:extLst>
                    <a:ext uri="{9D8B030D-6E8A-4147-A177-3AD203B41FA5}">
                      <a16:colId xmlns:a16="http://schemas.microsoft.com/office/drawing/2014/main" val="20002"/>
                    </a:ext>
                  </a:extLst>
                </a:gridCol>
                <a:gridCol w="975360">
                  <a:extLst>
                    <a:ext uri="{9D8B030D-6E8A-4147-A177-3AD203B41FA5}">
                      <a16:colId xmlns:a16="http://schemas.microsoft.com/office/drawing/2014/main" val="20003"/>
                    </a:ext>
                  </a:extLst>
                </a:gridCol>
                <a:gridCol w="975360">
                  <a:extLst>
                    <a:ext uri="{9D8B030D-6E8A-4147-A177-3AD203B41FA5}">
                      <a16:colId xmlns:a16="http://schemas.microsoft.com/office/drawing/2014/main" val="20004"/>
                    </a:ext>
                  </a:extLst>
                </a:gridCol>
              </a:tblGrid>
              <a:tr h="885092">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   </a:t>
                      </a:r>
                      <a:r>
                        <a:rPr lang="en-US" altLang="zh-TW" sz="2800" baseline="0" dirty="0">
                          <a:solidFill>
                            <a:schemeClr val="tx1"/>
                          </a:solidFill>
                          <a:latin typeface="Times New Roman" panose="02020603050405020304" pitchFamily="18" charset="0"/>
                          <a:cs typeface="Times New Roman" panose="02020603050405020304" pitchFamily="18" charset="0"/>
                        </a:rPr>
                        <a:t> </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8</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0002"/>
                  </a:ext>
                </a:extLst>
              </a:tr>
              <a:tr h="925775">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c</a:t>
                      </a:r>
                      <a:r>
                        <a:rPr lang="en-US" altLang="zh-TW" sz="2800" b="0" baseline="30000" dirty="0">
                          <a:solidFill>
                            <a:schemeClr val="tx1"/>
                          </a:solidFill>
                          <a:latin typeface="Times New Roman" panose="02020603050405020304" pitchFamily="18" charset="0"/>
                          <a:cs typeface="Times New Roman" panose="02020603050405020304" pitchFamily="18" charset="0"/>
                        </a:rPr>
                        <a:t>1</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4</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14" name="矩形 13"/>
          <p:cNvSpPr/>
          <p:nvPr/>
        </p:nvSpPr>
        <p:spPr>
          <a:xfrm>
            <a:off x="1371171" y="1758434"/>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Y</a:t>
            </a:r>
            <a:endParaRPr lang="zh-TW" altLang="en-US" dirty="0"/>
          </a:p>
        </p:txBody>
      </p:sp>
      <p:sp>
        <p:nvSpPr>
          <p:cNvPr id="15" name="矩形 14"/>
          <p:cNvSpPr/>
          <p:nvPr/>
        </p:nvSpPr>
        <p:spPr>
          <a:xfrm>
            <a:off x="1019793" y="2195512"/>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X</a:t>
            </a:r>
            <a:endParaRPr lang="zh-TW" altLang="en-US" dirty="0"/>
          </a:p>
        </p:txBody>
      </p:sp>
      <p:sp>
        <p:nvSpPr>
          <p:cNvPr id="18" name="矩形 17"/>
          <p:cNvSpPr/>
          <p:nvPr/>
        </p:nvSpPr>
        <p:spPr>
          <a:xfrm>
            <a:off x="6385560" y="3369629"/>
            <a:ext cx="5471370" cy="1200329"/>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If color(</a:t>
            </a:r>
            <a:r>
              <a:rPr lang="en-US" altLang="zh-TW" dirty="0" err="1">
                <a:latin typeface="Times New Roman" panose="02020603050405020304" pitchFamily="18" charset="0"/>
                <a:cs typeface="Times New Roman" panose="02020603050405020304" pitchFamily="18" charset="0"/>
              </a:rPr>
              <a:t>i,j</a:t>
            </a:r>
            <a:r>
              <a:rPr lang="en-US" altLang="zh-TW" dirty="0">
                <a:latin typeface="Times New Roman" panose="02020603050405020304" pitchFamily="18" charset="0"/>
                <a:cs typeface="Times New Roman" panose="02020603050405020304" pitchFamily="18" charset="0"/>
              </a:rPr>
              <a:t>) is dark</a:t>
            </a:r>
          </a:p>
          <a:p>
            <a:r>
              <a:rPr lang="en-US" altLang="zh-TW" dirty="0">
                <a:latin typeface="Times New Roman" panose="02020603050405020304" pitchFamily="18" charset="0"/>
                <a:cs typeface="Times New Roman" panose="02020603050405020304" pitchFamily="18" charset="0"/>
              </a:rPr>
              <a:t>    d=min(|Xi|, |</a:t>
            </a:r>
            <a:r>
              <a:rPr lang="en-US" altLang="zh-TW" dirty="0" err="1">
                <a:latin typeface="Times New Roman" panose="02020603050405020304" pitchFamily="18" charset="0"/>
                <a:cs typeface="Times New Roman" panose="02020603050405020304" pitchFamily="18" charset="0"/>
              </a:rPr>
              <a:t>Yj</a:t>
            </a:r>
            <a:r>
              <a:rPr lang="en-US" altLang="zh-TW" dirty="0">
                <a:latin typeface="Times New Roman" panose="02020603050405020304" pitchFamily="18" charset="0"/>
                <a:cs typeface="Times New Roman" panose="02020603050405020304" pitchFamily="18" charset="0"/>
              </a:rPr>
              <a:t>|)</a:t>
            </a:r>
          </a:p>
          <a:p>
            <a:r>
              <a:rPr lang="en-US" altLang="zh-TW" dirty="0">
                <a:latin typeface="Times New Roman" panose="02020603050405020304" pitchFamily="18" charset="0"/>
                <a:cs typeface="Times New Roman" panose="02020603050405020304" pitchFamily="18" charset="0"/>
              </a:rPr>
              <a:t>    </a:t>
            </a:r>
            <a:r>
              <a:rPr lang="pl-PL" altLang="zh-TW" dirty="0">
                <a:latin typeface="Times New Roman" panose="02020603050405020304" pitchFamily="18" charset="0"/>
                <a:cs typeface="Times New Roman" panose="02020603050405020304" pitchFamily="18" charset="0"/>
              </a:rPr>
              <a:t>M[i, j]=max(M[i</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 j</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1]+d, M[i, j], M[i</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 j], M[i, j</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ForcedPathUpdate</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j, M) </a:t>
            </a:r>
            <a:r>
              <a:rPr lang="pl-PL" altLang="zh-TW" dirty="0">
                <a:latin typeface="Times New Roman" panose="02020603050405020304" pitchFamily="18" charset="0"/>
                <a:cs typeface="Times New Roman" panose="02020603050405020304" pitchFamily="18" charset="0"/>
              </a:rPr>
              <a:t> </a:t>
            </a:r>
            <a:endParaRPr lang="zh-TW" altLang="en-US" dirty="0">
              <a:latin typeface="Times New Roman" panose="02020603050405020304" pitchFamily="18" charset="0"/>
              <a:cs typeface="Times New Roman" panose="02020603050405020304" pitchFamily="18" charset="0"/>
            </a:endParaRPr>
          </a:p>
        </p:txBody>
      </p:sp>
      <p:sp>
        <p:nvSpPr>
          <p:cNvPr id="19" name="矩形 18"/>
          <p:cNvSpPr/>
          <p:nvPr/>
        </p:nvSpPr>
        <p:spPr>
          <a:xfrm>
            <a:off x="6690360" y="3698558"/>
            <a:ext cx="5044440" cy="54578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1" name="直線單箭頭接點 20"/>
          <p:cNvCxnSpPr>
            <a:endCxn id="18" idx="1"/>
          </p:cNvCxnSpPr>
          <p:nvPr/>
        </p:nvCxnSpPr>
        <p:spPr>
          <a:xfrm>
            <a:off x="2263140" y="2987040"/>
            <a:ext cx="4122420" cy="98275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2233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Longest Common Subsequence - Initial Algorithm</a:t>
            </a:r>
            <a:endParaRPr lang="zh-TW" altLang="en-US" sz="4000" dirty="0"/>
          </a:p>
        </p:txBody>
      </p:sp>
      <p:graphicFrame>
        <p:nvGraphicFramePr>
          <p:cNvPr id="10" name="表格 9"/>
          <p:cNvGraphicFramePr>
            <a:graphicFrameLocks noGrp="1"/>
          </p:cNvGraphicFramePr>
          <p:nvPr>
            <p:extLst>
              <p:ext uri="{D42A27DB-BD31-4B8C-83A1-F6EECF244321}">
                <p14:modId xmlns:p14="http://schemas.microsoft.com/office/powerpoint/2010/main" val="2773151307"/>
              </p:ext>
            </p:extLst>
          </p:nvPr>
        </p:nvGraphicFramePr>
        <p:xfrm>
          <a:off x="6385560" y="1696404"/>
          <a:ext cx="2585720" cy="1483360"/>
        </p:xfrm>
        <a:graphic>
          <a:graphicData uri="http://schemas.openxmlformats.org/drawingml/2006/table">
            <a:tbl>
              <a:tblPr firstRow="1" bandRow="1">
                <a:tableStyleId>{5C22544A-7EE6-4342-B048-85BDC9FD1C3A}</a:tableStyleId>
              </a:tblPr>
              <a:tblGrid>
                <a:gridCol w="646430">
                  <a:extLst>
                    <a:ext uri="{9D8B030D-6E8A-4147-A177-3AD203B41FA5}">
                      <a16:colId xmlns:a16="http://schemas.microsoft.com/office/drawing/2014/main" val="20000"/>
                    </a:ext>
                  </a:extLst>
                </a:gridCol>
                <a:gridCol w="646430">
                  <a:extLst>
                    <a:ext uri="{9D8B030D-6E8A-4147-A177-3AD203B41FA5}">
                      <a16:colId xmlns:a16="http://schemas.microsoft.com/office/drawing/2014/main" val="20001"/>
                    </a:ext>
                  </a:extLst>
                </a:gridCol>
                <a:gridCol w="646430">
                  <a:extLst>
                    <a:ext uri="{9D8B030D-6E8A-4147-A177-3AD203B41FA5}">
                      <a16:colId xmlns:a16="http://schemas.microsoft.com/office/drawing/2014/main" val="20002"/>
                    </a:ext>
                  </a:extLst>
                </a:gridCol>
                <a:gridCol w="646430">
                  <a:extLst>
                    <a:ext uri="{9D8B030D-6E8A-4147-A177-3AD203B41FA5}">
                      <a16:colId xmlns:a16="http://schemas.microsoft.com/office/drawing/2014/main" val="20003"/>
                    </a:ext>
                  </a:extLst>
                </a:gridCol>
              </a:tblGrid>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11" name="矩形 10"/>
          <p:cNvSpPr/>
          <p:nvPr/>
        </p:nvSpPr>
        <p:spPr>
          <a:xfrm>
            <a:off x="9149330" y="2810432"/>
            <a:ext cx="1326004"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Matrix of M</a:t>
            </a:r>
            <a:endParaRPr lang="zh-TW" altLang="en-US" dirty="0"/>
          </a:p>
        </p:txBody>
      </p:sp>
      <p:sp>
        <p:nvSpPr>
          <p:cNvPr id="14" name="矩形 13"/>
          <p:cNvSpPr/>
          <p:nvPr/>
        </p:nvSpPr>
        <p:spPr>
          <a:xfrm>
            <a:off x="1371171" y="1758434"/>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Y</a:t>
            </a:r>
            <a:endParaRPr lang="zh-TW" altLang="en-US" dirty="0"/>
          </a:p>
        </p:txBody>
      </p:sp>
      <p:sp>
        <p:nvSpPr>
          <p:cNvPr id="15" name="矩形 14"/>
          <p:cNvSpPr/>
          <p:nvPr/>
        </p:nvSpPr>
        <p:spPr>
          <a:xfrm>
            <a:off x="1019793" y="2195512"/>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X</a:t>
            </a:r>
            <a:endParaRPr lang="zh-TW" altLang="en-US" dirty="0"/>
          </a:p>
        </p:txBody>
      </p:sp>
      <p:graphicFrame>
        <p:nvGraphicFramePr>
          <p:cNvPr id="18" name="表格 17"/>
          <p:cNvGraphicFramePr>
            <a:graphicFrameLocks noGrp="1"/>
          </p:cNvGraphicFramePr>
          <p:nvPr>
            <p:extLst>
              <p:ext uri="{D42A27DB-BD31-4B8C-83A1-F6EECF244321}">
                <p14:modId xmlns:p14="http://schemas.microsoft.com/office/powerpoint/2010/main" val="2042652413"/>
              </p:ext>
            </p:extLst>
          </p:nvPr>
        </p:nvGraphicFramePr>
        <p:xfrm>
          <a:off x="838200" y="1682116"/>
          <a:ext cx="4876800" cy="4588192"/>
        </p:xfrm>
        <a:graphic>
          <a:graphicData uri="http://schemas.openxmlformats.org/drawingml/2006/table">
            <a:tbl>
              <a:tblPr firstRow="1" bandRow="1">
                <a:tableStyleId>{5C22544A-7EE6-4342-B048-85BDC9FD1C3A}</a:tableStyleId>
              </a:tblPr>
              <a:tblGrid>
                <a:gridCol w="975360">
                  <a:extLst>
                    <a:ext uri="{9D8B030D-6E8A-4147-A177-3AD203B41FA5}">
                      <a16:colId xmlns:a16="http://schemas.microsoft.com/office/drawing/2014/main" val="20000"/>
                    </a:ext>
                  </a:extLst>
                </a:gridCol>
                <a:gridCol w="975360">
                  <a:extLst>
                    <a:ext uri="{9D8B030D-6E8A-4147-A177-3AD203B41FA5}">
                      <a16:colId xmlns:a16="http://schemas.microsoft.com/office/drawing/2014/main" val="20001"/>
                    </a:ext>
                  </a:extLst>
                </a:gridCol>
                <a:gridCol w="975360">
                  <a:extLst>
                    <a:ext uri="{9D8B030D-6E8A-4147-A177-3AD203B41FA5}">
                      <a16:colId xmlns:a16="http://schemas.microsoft.com/office/drawing/2014/main" val="20002"/>
                    </a:ext>
                  </a:extLst>
                </a:gridCol>
                <a:gridCol w="975360">
                  <a:extLst>
                    <a:ext uri="{9D8B030D-6E8A-4147-A177-3AD203B41FA5}">
                      <a16:colId xmlns:a16="http://schemas.microsoft.com/office/drawing/2014/main" val="20003"/>
                    </a:ext>
                  </a:extLst>
                </a:gridCol>
                <a:gridCol w="975360">
                  <a:extLst>
                    <a:ext uri="{9D8B030D-6E8A-4147-A177-3AD203B41FA5}">
                      <a16:colId xmlns:a16="http://schemas.microsoft.com/office/drawing/2014/main" val="20004"/>
                    </a:ext>
                  </a:extLst>
                </a:gridCol>
              </a:tblGrid>
              <a:tr h="885092">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   </a:t>
                      </a:r>
                      <a:r>
                        <a:rPr lang="en-US" altLang="zh-TW" sz="2800" baseline="0" dirty="0">
                          <a:solidFill>
                            <a:schemeClr val="tx1"/>
                          </a:solidFill>
                          <a:latin typeface="Times New Roman" panose="02020603050405020304" pitchFamily="18" charset="0"/>
                          <a:cs typeface="Times New Roman" panose="02020603050405020304" pitchFamily="18" charset="0"/>
                        </a:rPr>
                        <a:t> </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8</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0002"/>
                  </a:ext>
                </a:extLst>
              </a:tr>
              <a:tr h="925775">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c</a:t>
                      </a:r>
                      <a:r>
                        <a:rPr lang="en-US" altLang="zh-TW" sz="2800" b="0" baseline="30000" dirty="0">
                          <a:solidFill>
                            <a:schemeClr val="tx1"/>
                          </a:solidFill>
                          <a:latin typeface="Times New Roman" panose="02020603050405020304" pitchFamily="18" charset="0"/>
                          <a:cs typeface="Times New Roman" panose="02020603050405020304" pitchFamily="18" charset="0"/>
                        </a:rPr>
                        <a:t>1</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4</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20" name="矩形 19"/>
          <p:cNvSpPr/>
          <p:nvPr/>
        </p:nvSpPr>
        <p:spPr>
          <a:xfrm>
            <a:off x="6385560" y="3369629"/>
            <a:ext cx="5471370" cy="1200329"/>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If color(</a:t>
            </a:r>
            <a:r>
              <a:rPr lang="en-US" altLang="zh-TW" dirty="0" err="1">
                <a:latin typeface="Times New Roman" panose="02020603050405020304" pitchFamily="18" charset="0"/>
                <a:cs typeface="Times New Roman" panose="02020603050405020304" pitchFamily="18" charset="0"/>
              </a:rPr>
              <a:t>i,j</a:t>
            </a:r>
            <a:r>
              <a:rPr lang="en-US" altLang="zh-TW" dirty="0">
                <a:latin typeface="Times New Roman" panose="02020603050405020304" pitchFamily="18" charset="0"/>
                <a:cs typeface="Times New Roman" panose="02020603050405020304" pitchFamily="18" charset="0"/>
              </a:rPr>
              <a:t>) is dark</a:t>
            </a:r>
          </a:p>
          <a:p>
            <a:r>
              <a:rPr lang="en-US" altLang="zh-TW" dirty="0">
                <a:latin typeface="Times New Roman" panose="02020603050405020304" pitchFamily="18" charset="0"/>
                <a:cs typeface="Times New Roman" panose="02020603050405020304" pitchFamily="18" charset="0"/>
              </a:rPr>
              <a:t>    d=min(|Xi|, |</a:t>
            </a:r>
            <a:r>
              <a:rPr lang="en-US" altLang="zh-TW" dirty="0" err="1">
                <a:latin typeface="Times New Roman" panose="02020603050405020304" pitchFamily="18" charset="0"/>
                <a:cs typeface="Times New Roman" panose="02020603050405020304" pitchFamily="18" charset="0"/>
              </a:rPr>
              <a:t>Yj</a:t>
            </a:r>
            <a:r>
              <a:rPr lang="en-US" altLang="zh-TW" dirty="0">
                <a:latin typeface="Times New Roman" panose="02020603050405020304" pitchFamily="18" charset="0"/>
                <a:cs typeface="Times New Roman" panose="02020603050405020304" pitchFamily="18" charset="0"/>
              </a:rPr>
              <a:t>|)</a:t>
            </a:r>
          </a:p>
          <a:p>
            <a:r>
              <a:rPr lang="en-US" altLang="zh-TW" dirty="0">
                <a:latin typeface="Times New Roman" panose="02020603050405020304" pitchFamily="18" charset="0"/>
                <a:cs typeface="Times New Roman" panose="02020603050405020304" pitchFamily="18" charset="0"/>
              </a:rPr>
              <a:t>    </a:t>
            </a:r>
            <a:r>
              <a:rPr lang="pl-PL" altLang="zh-TW" dirty="0">
                <a:latin typeface="Times New Roman" panose="02020603050405020304" pitchFamily="18" charset="0"/>
                <a:cs typeface="Times New Roman" panose="02020603050405020304" pitchFamily="18" charset="0"/>
              </a:rPr>
              <a:t>M[i, j]=max(M[i</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 j</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1]+d, M[i, j], M[i</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 j], M[i, j</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ForcedPathUpdate</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j, M) </a:t>
            </a:r>
            <a:r>
              <a:rPr lang="pl-PL" altLang="zh-TW" dirty="0">
                <a:latin typeface="Times New Roman" panose="02020603050405020304" pitchFamily="18" charset="0"/>
                <a:cs typeface="Times New Roman" panose="02020603050405020304" pitchFamily="18" charset="0"/>
              </a:rPr>
              <a:t> </a:t>
            </a:r>
            <a:endParaRPr lang="zh-TW" altLang="en-US" dirty="0">
              <a:latin typeface="Times New Roman" panose="02020603050405020304" pitchFamily="18" charset="0"/>
              <a:cs typeface="Times New Roman" panose="02020603050405020304" pitchFamily="18" charset="0"/>
            </a:endParaRPr>
          </a:p>
        </p:txBody>
      </p:sp>
      <p:sp>
        <p:nvSpPr>
          <p:cNvPr id="22" name="矩形 21"/>
          <p:cNvSpPr/>
          <p:nvPr/>
        </p:nvSpPr>
        <p:spPr>
          <a:xfrm>
            <a:off x="6690360" y="3698558"/>
            <a:ext cx="5044440" cy="54578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257487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表格 24"/>
          <p:cNvGraphicFramePr>
            <a:graphicFrameLocks noGrp="1"/>
          </p:cNvGraphicFramePr>
          <p:nvPr>
            <p:extLst>
              <p:ext uri="{D42A27DB-BD31-4B8C-83A1-F6EECF244321}">
                <p14:modId xmlns:p14="http://schemas.microsoft.com/office/powerpoint/2010/main" val="1686235592"/>
              </p:ext>
            </p:extLst>
          </p:nvPr>
        </p:nvGraphicFramePr>
        <p:xfrm>
          <a:off x="838200" y="1682116"/>
          <a:ext cx="4876800" cy="4588192"/>
        </p:xfrm>
        <a:graphic>
          <a:graphicData uri="http://schemas.openxmlformats.org/drawingml/2006/table">
            <a:tbl>
              <a:tblPr firstRow="1" bandRow="1">
                <a:tableStyleId>{5C22544A-7EE6-4342-B048-85BDC9FD1C3A}</a:tableStyleId>
              </a:tblPr>
              <a:tblGrid>
                <a:gridCol w="975360">
                  <a:extLst>
                    <a:ext uri="{9D8B030D-6E8A-4147-A177-3AD203B41FA5}">
                      <a16:colId xmlns:a16="http://schemas.microsoft.com/office/drawing/2014/main" val="20000"/>
                    </a:ext>
                  </a:extLst>
                </a:gridCol>
                <a:gridCol w="975360">
                  <a:extLst>
                    <a:ext uri="{9D8B030D-6E8A-4147-A177-3AD203B41FA5}">
                      <a16:colId xmlns:a16="http://schemas.microsoft.com/office/drawing/2014/main" val="20001"/>
                    </a:ext>
                  </a:extLst>
                </a:gridCol>
                <a:gridCol w="975360">
                  <a:extLst>
                    <a:ext uri="{9D8B030D-6E8A-4147-A177-3AD203B41FA5}">
                      <a16:colId xmlns:a16="http://schemas.microsoft.com/office/drawing/2014/main" val="20002"/>
                    </a:ext>
                  </a:extLst>
                </a:gridCol>
                <a:gridCol w="975360">
                  <a:extLst>
                    <a:ext uri="{9D8B030D-6E8A-4147-A177-3AD203B41FA5}">
                      <a16:colId xmlns:a16="http://schemas.microsoft.com/office/drawing/2014/main" val="20003"/>
                    </a:ext>
                  </a:extLst>
                </a:gridCol>
                <a:gridCol w="975360">
                  <a:extLst>
                    <a:ext uri="{9D8B030D-6E8A-4147-A177-3AD203B41FA5}">
                      <a16:colId xmlns:a16="http://schemas.microsoft.com/office/drawing/2014/main" val="20004"/>
                    </a:ext>
                  </a:extLst>
                </a:gridCol>
              </a:tblGrid>
              <a:tr h="885092">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   </a:t>
                      </a:r>
                      <a:r>
                        <a:rPr lang="en-US" altLang="zh-TW" sz="2800" baseline="0" dirty="0">
                          <a:solidFill>
                            <a:schemeClr val="tx1"/>
                          </a:solidFill>
                          <a:latin typeface="Times New Roman" panose="02020603050405020304" pitchFamily="18" charset="0"/>
                          <a:cs typeface="Times New Roman" panose="02020603050405020304" pitchFamily="18" charset="0"/>
                        </a:rPr>
                        <a:t> </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8</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0002"/>
                  </a:ext>
                </a:extLst>
              </a:tr>
              <a:tr h="925775">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c</a:t>
                      </a:r>
                      <a:r>
                        <a:rPr lang="en-US" altLang="zh-TW" sz="2800" b="0" baseline="30000" dirty="0">
                          <a:solidFill>
                            <a:schemeClr val="tx1"/>
                          </a:solidFill>
                          <a:latin typeface="Times New Roman" panose="02020603050405020304" pitchFamily="18" charset="0"/>
                          <a:cs typeface="Times New Roman" panose="02020603050405020304" pitchFamily="18" charset="0"/>
                        </a:rPr>
                        <a:t>1</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4</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2" name="標題 1"/>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Longest Common Subsequence - Initial Algorithm</a:t>
            </a:r>
            <a:endParaRPr lang="zh-TW" altLang="en-US" sz="4000" dirty="0"/>
          </a:p>
        </p:txBody>
      </p:sp>
      <p:graphicFrame>
        <p:nvGraphicFramePr>
          <p:cNvPr id="10" name="表格 9"/>
          <p:cNvGraphicFramePr>
            <a:graphicFrameLocks noGrp="1"/>
          </p:cNvGraphicFramePr>
          <p:nvPr>
            <p:extLst>
              <p:ext uri="{D42A27DB-BD31-4B8C-83A1-F6EECF244321}">
                <p14:modId xmlns:p14="http://schemas.microsoft.com/office/powerpoint/2010/main" val="537489797"/>
              </p:ext>
            </p:extLst>
          </p:nvPr>
        </p:nvGraphicFramePr>
        <p:xfrm>
          <a:off x="6385560" y="1696404"/>
          <a:ext cx="2585720" cy="1483360"/>
        </p:xfrm>
        <a:graphic>
          <a:graphicData uri="http://schemas.openxmlformats.org/drawingml/2006/table">
            <a:tbl>
              <a:tblPr firstRow="1" bandRow="1">
                <a:tableStyleId>{5C22544A-7EE6-4342-B048-85BDC9FD1C3A}</a:tableStyleId>
              </a:tblPr>
              <a:tblGrid>
                <a:gridCol w="646430">
                  <a:extLst>
                    <a:ext uri="{9D8B030D-6E8A-4147-A177-3AD203B41FA5}">
                      <a16:colId xmlns:a16="http://schemas.microsoft.com/office/drawing/2014/main" val="20000"/>
                    </a:ext>
                  </a:extLst>
                </a:gridCol>
                <a:gridCol w="646430">
                  <a:extLst>
                    <a:ext uri="{9D8B030D-6E8A-4147-A177-3AD203B41FA5}">
                      <a16:colId xmlns:a16="http://schemas.microsoft.com/office/drawing/2014/main" val="20001"/>
                    </a:ext>
                  </a:extLst>
                </a:gridCol>
                <a:gridCol w="646430">
                  <a:extLst>
                    <a:ext uri="{9D8B030D-6E8A-4147-A177-3AD203B41FA5}">
                      <a16:colId xmlns:a16="http://schemas.microsoft.com/office/drawing/2014/main" val="20002"/>
                    </a:ext>
                  </a:extLst>
                </a:gridCol>
                <a:gridCol w="646430">
                  <a:extLst>
                    <a:ext uri="{9D8B030D-6E8A-4147-A177-3AD203B41FA5}">
                      <a16:colId xmlns:a16="http://schemas.microsoft.com/office/drawing/2014/main" val="20003"/>
                    </a:ext>
                  </a:extLst>
                </a:gridCol>
              </a:tblGrid>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11" name="矩形 10"/>
          <p:cNvSpPr/>
          <p:nvPr/>
        </p:nvSpPr>
        <p:spPr>
          <a:xfrm>
            <a:off x="9149330" y="2810432"/>
            <a:ext cx="1326004"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Matrix of M</a:t>
            </a:r>
            <a:endParaRPr lang="zh-TW" altLang="en-US" dirty="0"/>
          </a:p>
        </p:txBody>
      </p:sp>
      <p:sp>
        <p:nvSpPr>
          <p:cNvPr id="6" name="矩形 5"/>
          <p:cNvSpPr/>
          <p:nvPr/>
        </p:nvSpPr>
        <p:spPr>
          <a:xfrm>
            <a:off x="6385560" y="3369629"/>
            <a:ext cx="5471370" cy="1200329"/>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If color(</a:t>
            </a:r>
            <a:r>
              <a:rPr lang="en-US" altLang="zh-TW" dirty="0" err="1">
                <a:latin typeface="Times New Roman" panose="02020603050405020304" pitchFamily="18" charset="0"/>
                <a:cs typeface="Times New Roman" panose="02020603050405020304" pitchFamily="18" charset="0"/>
              </a:rPr>
              <a:t>i,j</a:t>
            </a:r>
            <a:r>
              <a:rPr lang="en-US" altLang="zh-TW" dirty="0">
                <a:latin typeface="Times New Roman" panose="02020603050405020304" pitchFamily="18" charset="0"/>
                <a:cs typeface="Times New Roman" panose="02020603050405020304" pitchFamily="18" charset="0"/>
              </a:rPr>
              <a:t>) is dark</a:t>
            </a:r>
          </a:p>
          <a:p>
            <a:r>
              <a:rPr lang="en-US" altLang="zh-TW" dirty="0">
                <a:latin typeface="Times New Roman" panose="02020603050405020304" pitchFamily="18" charset="0"/>
                <a:cs typeface="Times New Roman" panose="02020603050405020304" pitchFamily="18" charset="0"/>
              </a:rPr>
              <a:t>    d=min(|Xi|, |</a:t>
            </a:r>
            <a:r>
              <a:rPr lang="en-US" altLang="zh-TW" dirty="0" err="1">
                <a:latin typeface="Times New Roman" panose="02020603050405020304" pitchFamily="18" charset="0"/>
                <a:cs typeface="Times New Roman" panose="02020603050405020304" pitchFamily="18" charset="0"/>
              </a:rPr>
              <a:t>Yj</a:t>
            </a:r>
            <a:r>
              <a:rPr lang="en-US" altLang="zh-TW" dirty="0">
                <a:latin typeface="Times New Roman" panose="02020603050405020304" pitchFamily="18" charset="0"/>
                <a:cs typeface="Times New Roman" panose="02020603050405020304" pitchFamily="18" charset="0"/>
              </a:rPr>
              <a:t>|)</a:t>
            </a:r>
          </a:p>
          <a:p>
            <a:r>
              <a:rPr lang="en-US" altLang="zh-TW" dirty="0">
                <a:latin typeface="Times New Roman" panose="02020603050405020304" pitchFamily="18" charset="0"/>
                <a:cs typeface="Times New Roman" panose="02020603050405020304" pitchFamily="18" charset="0"/>
              </a:rPr>
              <a:t>    </a:t>
            </a:r>
            <a:r>
              <a:rPr lang="pl-PL" altLang="zh-TW" dirty="0">
                <a:latin typeface="Times New Roman" panose="02020603050405020304" pitchFamily="18" charset="0"/>
                <a:cs typeface="Times New Roman" panose="02020603050405020304" pitchFamily="18" charset="0"/>
              </a:rPr>
              <a:t>M[i, j]=max(M[i</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 j</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1]+d, M[i, j], M[i</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 j], M[i, j</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ForcedPathUpdate</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j, M) </a:t>
            </a:r>
            <a:r>
              <a:rPr lang="pl-PL" altLang="zh-TW" dirty="0">
                <a:latin typeface="Times New Roman" panose="02020603050405020304" pitchFamily="18" charset="0"/>
                <a:cs typeface="Times New Roman" panose="02020603050405020304" pitchFamily="18" charset="0"/>
              </a:rPr>
              <a:t> </a:t>
            </a:r>
            <a:endParaRPr lang="zh-TW" altLang="en-US" dirty="0">
              <a:latin typeface="Times New Roman" panose="02020603050405020304" pitchFamily="18" charset="0"/>
              <a:cs typeface="Times New Roman" panose="02020603050405020304" pitchFamily="18" charset="0"/>
            </a:endParaRPr>
          </a:p>
        </p:txBody>
      </p:sp>
      <p:sp>
        <p:nvSpPr>
          <p:cNvPr id="14" name="矩形 13"/>
          <p:cNvSpPr/>
          <p:nvPr/>
        </p:nvSpPr>
        <p:spPr>
          <a:xfrm>
            <a:off x="1371171" y="1758434"/>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Y</a:t>
            </a:r>
            <a:endParaRPr lang="zh-TW" altLang="en-US" dirty="0"/>
          </a:p>
        </p:txBody>
      </p:sp>
      <p:sp>
        <p:nvSpPr>
          <p:cNvPr id="15" name="矩形 14"/>
          <p:cNvSpPr/>
          <p:nvPr/>
        </p:nvSpPr>
        <p:spPr>
          <a:xfrm>
            <a:off x="1019793" y="2195512"/>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X</a:t>
            </a:r>
            <a:endParaRPr lang="zh-TW" altLang="en-US" dirty="0"/>
          </a:p>
        </p:txBody>
      </p:sp>
      <p:sp>
        <p:nvSpPr>
          <p:cNvPr id="3" name="矩形 2"/>
          <p:cNvSpPr/>
          <p:nvPr/>
        </p:nvSpPr>
        <p:spPr>
          <a:xfrm>
            <a:off x="6629400" y="4260215"/>
            <a:ext cx="2519930" cy="28194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 name="直線單箭頭接點 7"/>
          <p:cNvCxnSpPr/>
          <p:nvPr/>
        </p:nvCxnSpPr>
        <p:spPr>
          <a:xfrm flipH="1">
            <a:off x="7678420" y="4542155"/>
            <a:ext cx="93980" cy="4827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6385560" y="5024892"/>
            <a:ext cx="5024004" cy="2031325"/>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T</a:t>
            </a:r>
            <a:r>
              <a:rPr lang="zh-TW" altLang="en-US" dirty="0">
                <a:latin typeface="Times New Roman" panose="02020603050405020304" pitchFamily="18" charset="0"/>
                <a:cs typeface="Times New Roman" panose="02020603050405020304" pitchFamily="18" charset="0"/>
              </a:rPr>
              <a:t>races out the forced path originating at block (i, j)</a:t>
            </a:r>
            <a:r>
              <a:rPr lang="en-US" altLang="zh-TW" dirty="0">
                <a:latin typeface="Times New Roman" panose="02020603050405020304" pitchFamily="18" charset="0"/>
                <a:cs typeface="Times New Roman" panose="02020603050405020304" pitchFamily="18" charset="0"/>
              </a:rPr>
              <a:t>, </a:t>
            </a:r>
          </a:p>
          <a:p>
            <a:r>
              <a:rPr lang="en-US" altLang="zh-TW" dirty="0">
                <a:latin typeface="Times New Roman" panose="02020603050405020304" pitchFamily="18" charset="0"/>
                <a:cs typeface="Times New Roman" panose="02020603050405020304" pitchFamily="18" charset="0"/>
              </a:rPr>
              <a:t>if |Xi|&lt;|</a:t>
            </a:r>
            <a:r>
              <a:rPr lang="en-US" altLang="zh-TW" dirty="0" err="1">
                <a:latin typeface="Times New Roman" panose="02020603050405020304" pitchFamily="18" charset="0"/>
                <a:cs typeface="Times New Roman" panose="02020603050405020304" pitchFamily="18" charset="0"/>
              </a:rPr>
              <a:t>Yj</a:t>
            </a:r>
            <a:r>
              <a:rPr lang="en-US" altLang="zh-TW" dirty="0">
                <a:latin typeface="Times New Roman" panose="02020603050405020304" pitchFamily="18" charset="0"/>
                <a:cs typeface="Times New Roman" panose="02020603050405020304" pitchFamily="18" charset="0"/>
              </a:rPr>
              <a:t>|, proceeding vertically </a:t>
            </a:r>
          </a:p>
          <a:p>
            <a:r>
              <a:rPr lang="en-US" altLang="zh-TW" dirty="0">
                <a:latin typeface="Times New Roman" panose="02020603050405020304" pitchFamily="18" charset="0"/>
                <a:cs typeface="Times New Roman" panose="02020603050405020304" pitchFamily="18" charset="0"/>
              </a:rPr>
              <a:t>if |Xi|&gt;|</a:t>
            </a:r>
            <a:r>
              <a:rPr lang="en-US" altLang="zh-TW" dirty="0" err="1">
                <a:latin typeface="Times New Roman" panose="02020603050405020304" pitchFamily="18" charset="0"/>
                <a:cs typeface="Times New Roman" panose="02020603050405020304" pitchFamily="18" charset="0"/>
              </a:rPr>
              <a:t>Yj</a:t>
            </a:r>
            <a:r>
              <a:rPr lang="en-US" altLang="zh-TW" dirty="0">
                <a:latin typeface="Times New Roman" panose="02020603050405020304" pitchFamily="18" charset="0"/>
                <a:cs typeface="Times New Roman" panose="02020603050405020304" pitchFamily="18" charset="0"/>
              </a:rPr>
              <a:t>|, proceeding horizontally</a:t>
            </a:r>
          </a:p>
          <a:p>
            <a:r>
              <a:rPr lang="en-US" altLang="zh-TW" dirty="0">
                <a:latin typeface="Times New Roman" panose="02020603050405020304" pitchFamily="18" charset="0"/>
                <a:cs typeface="Times New Roman" panose="02020603050405020304" pitchFamily="18" charset="0"/>
              </a:rPr>
              <a:t>until the forced path exits the corner of a block, </a:t>
            </a:r>
          </a:p>
          <a:p>
            <a:r>
              <a:rPr lang="en-US" altLang="zh-TW" dirty="0">
                <a:latin typeface="Times New Roman" panose="02020603050405020304" pitchFamily="18" charset="0"/>
                <a:cs typeface="Times New Roman" panose="02020603050405020304" pitchFamily="18" charset="0"/>
              </a:rPr>
              <a:t>or the end of one of the strings is encountered. </a:t>
            </a:r>
          </a:p>
          <a:p>
            <a:r>
              <a:rPr lang="en-US" altLang="zh-TW" dirty="0">
                <a:latin typeface="Times New Roman" panose="02020603050405020304" pitchFamily="18" charset="0"/>
                <a:cs typeface="Times New Roman" panose="02020603050405020304" pitchFamily="18" charset="0"/>
              </a:rPr>
              <a:t>M[</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j]=max(M[</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j], M[</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j]+d’)</a:t>
            </a:r>
          </a:p>
          <a:p>
            <a:endParaRPr lang="en-US" altLang="zh-TW" dirty="0">
              <a:latin typeface="Times New Roman" panose="02020603050405020304" pitchFamily="18" charset="0"/>
              <a:cs typeface="Times New Roman" panose="02020603050405020304" pitchFamily="18" charset="0"/>
            </a:endParaRPr>
          </a:p>
        </p:txBody>
      </p:sp>
      <p:cxnSp>
        <p:nvCxnSpPr>
          <p:cNvPr id="7" name="直線接點 6"/>
          <p:cNvCxnSpPr/>
          <p:nvPr/>
        </p:nvCxnSpPr>
        <p:spPr>
          <a:xfrm>
            <a:off x="1821180" y="2564844"/>
            <a:ext cx="480060" cy="9098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a:off x="2301240" y="3474720"/>
            <a:ext cx="0" cy="188976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7" name="直線接點 26"/>
          <p:cNvCxnSpPr/>
          <p:nvPr/>
        </p:nvCxnSpPr>
        <p:spPr>
          <a:xfrm>
            <a:off x="2301240" y="5364480"/>
            <a:ext cx="480060" cy="70104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82555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表格 24"/>
          <p:cNvGraphicFramePr>
            <a:graphicFrameLocks noGrp="1"/>
          </p:cNvGraphicFramePr>
          <p:nvPr/>
        </p:nvGraphicFramePr>
        <p:xfrm>
          <a:off x="838200" y="1682116"/>
          <a:ext cx="4876800" cy="4588192"/>
        </p:xfrm>
        <a:graphic>
          <a:graphicData uri="http://schemas.openxmlformats.org/drawingml/2006/table">
            <a:tbl>
              <a:tblPr firstRow="1" bandRow="1">
                <a:tableStyleId>{5C22544A-7EE6-4342-B048-85BDC9FD1C3A}</a:tableStyleId>
              </a:tblPr>
              <a:tblGrid>
                <a:gridCol w="975360">
                  <a:extLst>
                    <a:ext uri="{9D8B030D-6E8A-4147-A177-3AD203B41FA5}">
                      <a16:colId xmlns:a16="http://schemas.microsoft.com/office/drawing/2014/main" val="20000"/>
                    </a:ext>
                  </a:extLst>
                </a:gridCol>
                <a:gridCol w="975360">
                  <a:extLst>
                    <a:ext uri="{9D8B030D-6E8A-4147-A177-3AD203B41FA5}">
                      <a16:colId xmlns:a16="http://schemas.microsoft.com/office/drawing/2014/main" val="20001"/>
                    </a:ext>
                  </a:extLst>
                </a:gridCol>
                <a:gridCol w="975360">
                  <a:extLst>
                    <a:ext uri="{9D8B030D-6E8A-4147-A177-3AD203B41FA5}">
                      <a16:colId xmlns:a16="http://schemas.microsoft.com/office/drawing/2014/main" val="20002"/>
                    </a:ext>
                  </a:extLst>
                </a:gridCol>
                <a:gridCol w="975360">
                  <a:extLst>
                    <a:ext uri="{9D8B030D-6E8A-4147-A177-3AD203B41FA5}">
                      <a16:colId xmlns:a16="http://schemas.microsoft.com/office/drawing/2014/main" val="20003"/>
                    </a:ext>
                  </a:extLst>
                </a:gridCol>
                <a:gridCol w="975360">
                  <a:extLst>
                    <a:ext uri="{9D8B030D-6E8A-4147-A177-3AD203B41FA5}">
                      <a16:colId xmlns:a16="http://schemas.microsoft.com/office/drawing/2014/main" val="20004"/>
                    </a:ext>
                  </a:extLst>
                </a:gridCol>
              </a:tblGrid>
              <a:tr h="885092">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   </a:t>
                      </a:r>
                      <a:r>
                        <a:rPr lang="en-US" altLang="zh-TW" sz="2800" baseline="0" dirty="0">
                          <a:solidFill>
                            <a:schemeClr val="tx1"/>
                          </a:solidFill>
                          <a:latin typeface="Times New Roman" panose="02020603050405020304" pitchFamily="18" charset="0"/>
                          <a:cs typeface="Times New Roman" panose="02020603050405020304" pitchFamily="18" charset="0"/>
                        </a:rPr>
                        <a:t> </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8</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0002"/>
                  </a:ext>
                </a:extLst>
              </a:tr>
              <a:tr h="925775">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c</a:t>
                      </a:r>
                      <a:r>
                        <a:rPr lang="en-US" altLang="zh-TW" sz="2800" b="0" baseline="30000" dirty="0">
                          <a:solidFill>
                            <a:schemeClr val="tx1"/>
                          </a:solidFill>
                          <a:latin typeface="Times New Roman" panose="02020603050405020304" pitchFamily="18" charset="0"/>
                          <a:cs typeface="Times New Roman" panose="02020603050405020304" pitchFamily="18" charset="0"/>
                        </a:rPr>
                        <a:t>1</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4</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2" name="標題 1"/>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Longest Common Subsequence - Initial Algorithm</a:t>
            </a:r>
            <a:endParaRPr lang="zh-TW" altLang="en-US" sz="4000" dirty="0"/>
          </a:p>
        </p:txBody>
      </p:sp>
      <p:graphicFrame>
        <p:nvGraphicFramePr>
          <p:cNvPr id="10" name="表格 9"/>
          <p:cNvGraphicFramePr>
            <a:graphicFrameLocks noGrp="1"/>
          </p:cNvGraphicFramePr>
          <p:nvPr>
            <p:extLst>
              <p:ext uri="{D42A27DB-BD31-4B8C-83A1-F6EECF244321}">
                <p14:modId xmlns:p14="http://schemas.microsoft.com/office/powerpoint/2010/main" val="1348737077"/>
              </p:ext>
            </p:extLst>
          </p:nvPr>
        </p:nvGraphicFramePr>
        <p:xfrm>
          <a:off x="6385560" y="1696404"/>
          <a:ext cx="2585720" cy="1483360"/>
        </p:xfrm>
        <a:graphic>
          <a:graphicData uri="http://schemas.openxmlformats.org/drawingml/2006/table">
            <a:tbl>
              <a:tblPr firstRow="1" bandRow="1">
                <a:tableStyleId>{5C22544A-7EE6-4342-B048-85BDC9FD1C3A}</a:tableStyleId>
              </a:tblPr>
              <a:tblGrid>
                <a:gridCol w="646430">
                  <a:extLst>
                    <a:ext uri="{9D8B030D-6E8A-4147-A177-3AD203B41FA5}">
                      <a16:colId xmlns:a16="http://schemas.microsoft.com/office/drawing/2014/main" val="20000"/>
                    </a:ext>
                  </a:extLst>
                </a:gridCol>
                <a:gridCol w="646430">
                  <a:extLst>
                    <a:ext uri="{9D8B030D-6E8A-4147-A177-3AD203B41FA5}">
                      <a16:colId xmlns:a16="http://schemas.microsoft.com/office/drawing/2014/main" val="20001"/>
                    </a:ext>
                  </a:extLst>
                </a:gridCol>
                <a:gridCol w="646430">
                  <a:extLst>
                    <a:ext uri="{9D8B030D-6E8A-4147-A177-3AD203B41FA5}">
                      <a16:colId xmlns:a16="http://schemas.microsoft.com/office/drawing/2014/main" val="20002"/>
                    </a:ext>
                  </a:extLst>
                </a:gridCol>
                <a:gridCol w="646430">
                  <a:extLst>
                    <a:ext uri="{9D8B030D-6E8A-4147-A177-3AD203B41FA5}">
                      <a16:colId xmlns:a16="http://schemas.microsoft.com/office/drawing/2014/main" val="20003"/>
                    </a:ext>
                  </a:extLst>
                </a:gridCol>
              </a:tblGrid>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11" name="矩形 10"/>
          <p:cNvSpPr/>
          <p:nvPr/>
        </p:nvSpPr>
        <p:spPr>
          <a:xfrm>
            <a:off x="9149330" y="2810432"/>
            <a:ext cx="1326004"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Matrix of M</a:t>
            </a:r>
            <a:endParaRPr lang="zh-TW" altLang="en-US" dirty="0"/>
          </a:p>
        </p:txBody>
      </p:sp>
      <p:sp>
        <p:nvSpPr>
          <p:cNvPr id="14" name="矩形 13"/>
          <p:cNvSpPr/>
          <p:nvPr/>
        </p:nvSpPr>
        <p:spPr>
          <a:xfrm>
            <a:off x="1371171" y="1758434"/>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Y</a:t>
            </a:r>
            <a:endParaRPr lang="zh-TW" altLang="en-US" dirty="0"/>
          </a:p>
        </p:txBody>
      </p:sp>
      <p:sp>
        <p:nvSpPr>
          <p:cNvPr id="15" name="矩形 14"/>
          <p:cNvSpPr/>
          <p:nvPr/>
        </p:nvSpPr>
        <p:spPr>
          <a:xfrm>
            <a:off x="1019793" y="2195512"/>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X</a:t>
            </a:r>
            <a:endParaRPr lang="zh-TW" altLang="en-US" dirty="0"/>
          </a:p>
        </p:txBody>
      </p:sp>
      <p:sp>
        <p:nvSpPr>
          <p:cNvPr id="9" name="矩形 8"/>
          <p:cNvSpPr/>
          <p:nvPr/>
        </p:nvSpPr>
        <p:spPr>
          <a:xfrm>
            <a:off x="6385560" y="5214757"/>
            <a:ext cx="4237057" cy="646331"/>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M[4, 1]=max(M[4, 1] = 0 , M[1, 1]+3 = 6), </a:t>
            </a:r>
          </a:p>
          <a:p>
            <a:endParaRPr lang="en-US" altLang="zh-TW" dirty="0">
              <a:latin typeface="Times New Roman" panose="02020603050405020304" pitchFamily="18" charset="0"/>
              <a:cs typeface="Times New Roman" panose="02020603050405020304" pitchFamily="18" charset="0"/>
            </a:endParaRPr>
          </a:p>
        </p:txBody>
      </p:sp>
      <p:cxnSp>
        <p:nvCxnSpPr>
          <p:cNvPr id="7" name="直線接點 6"/>
          <p:cNvCxnSpPr/>
          <p:nvPr/>
        </p:nvCxnSpPr>
        <p:spPr>
          <a:xfrm>
            <a:off x="1821180" y="2564844"/>
            <a:ext cx="480060" cy="9098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a:off x="2301240" y="3474720"/>
            <a:ext cx="0" cy="188976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7" name="直線接點 26"/>
          <p:cNvCxnSpPr/>
          <p:nvPr/>
        </p:nvCxnSpPr>
        <p:spPr>
          <a:xfrm>
            <a:off x="2301240" y="5364480"/>
            <a:ext cx="480060" cy="70104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6385560" y="4225975"/>
            <a:ext cx="6096000" cy="646331"/>
          </a:xfrm>
          <a:prstGeom prst="rect">
            <a:avLst/>
          </a:prstGeom>
        </p:spPr>
        <p:txBody>
          <a:bodyPr>
            <a:spAutoFit/>
          </a:bodyPr>
          <a:lstStyle/>
          <a:p>
            <a:r>
              <a:rPr lang="en-US" altLang="zh-TW" dirty="0">
                <a:latin typeface="Times New Roman" panose="02020603050405020304" pitchFamily="18" charset="0"/>
                <a:cs typeface="Times New Roman" panose="02020603050405020304" pitchFamily="18" charset="0"/>
              </a:rPr>
              <a:t>M[</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j]=max(M[</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j], M[</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j]+d’), </a:t>
            </a:r>
          </a:p>
          <a:p>
            <a:r>
              <a:rPr lang="en-US" altLang="zh-TW" dirty="0">
                <a:latin typeface="Times New Roman" panose="02020603050405020304" pitchFamily="18" charset="0"/>
                <a:cs typeface="Times New Roman" panose="02020603050405020304" pitchFamily="18" charset="0"/>
              </a:rPr>
              <a:t>where d’ is the diagonal length</a:t>
            </a:r>
          </a:p>
        </p:txBody>
      </p:sp>
    </p:spTree>
    <p:extLst>
      <p:ext uri="{BB962C8B-B14F-4D97-AF65-F5344CB8AC3E}">
        <p14:creationId xmlns:p14="http://schemas.microsoft.com/office/powerpoint/2010/main" val="923637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表格 24"/>
          <p:cNvGraphicFramePr>
            <a:graphicFrameLocks noGrp="1"/>
          </p:cNvGraphicFramePr>
          <p:nvPr/>
        </p:nvGraphicFramePr>
        <p:xfrm>
          <a:off x="838200" y="1682116"/>
          <a:ext cx="4876800" cy="4588192"/>
        </p:xfrm>
        <a:graphic>
          <a:graphicData uri="http://schemas.openxmlformats.org/drawingml/2006/table">
            <a:tbl>
              <a:tblPr firstRow="1" bandRow="1">
                <a:tableStyleId>{5C22544A-7EE6-4342-B048-85BDC9FD1C3A}</a:tableStyleId>
              </a:tblPr>
              <a:tblGrid>
                <a:gridCol w="975360">
                  <a:extLst>
                    <a:ext uri="{9D8B030D-6E8A-4147-A177-3AD203B41FA5}">
                      <a16:colId xmlns:a16="http://schemas.microsoft.com/office/drawing/2014/main" val="20000"/>
                    </a:ext>
                  </a:extLst>
                </a:gridCol>
                <a:gridCol w="975360">
                  <a:extLst>
                    <a:ext uri="{9D8B030D-6E8A-4147-A177-3AD203B41FA5}">
                      <a16:colId xmlns:a16="http://schemas.microsoft.com/office/drawing/2014/main" val="20001"/>
                    </a:ext>
                  </a:extLst>
                </a:gridCol>
                <a:gridCol w="975360">
                  <a:extLst>
                    <a:ext uri="{9D8B030D-6E8A-4147-A177-3AD203B41FA5}">
                      <a16:colId xmlns:a16="http://schemas.microsoft.com/office/drawing/2014/main" val="20002"/>
                    </a:ext>
                  </a:extLst>
                </a:gridCol>
                <a:gridCol w="975360">
                  <a:extLst>
                    <a:ext uri="{9D8B030D-6E8A-4147-A177-3AD203B41FA5}">
                      <a16:colId xmlns:a16="http://schemas.microsoft.com/office/drawing/2014/main" val="20003"/>
                    </a:ext>
                  </a:extLst>
                </a:gridCol>
                <a:gridCol w="975360">
                  <a:extLst>
                    <a:ext uri="{9D8B030D-6E8A-4147-A177-3AD203B41FA5}">
                      <a16:colId xmlns:a16="http://schemas.microsoft.com/office/drawing/2014/main" val="20004"/>
                    </a:ext>
                  </a:extLst>
                </a:gridCol>
              </a:tblGrid>
              <a:tr h="885092">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   </a:t>
                      </a:r>
                      <a:r>
                        <a:rPr lang="en-US" altLang="zh-TW" sz="2800" baseline="0" dirty="0">
                          <a:solidFill>
                            <a:schemeClr val="tx1"/>
                          </a:solidFill>
                          <a:latin typeface="Times New Roman" panose="02020603050405020304" pitchFamily="18" charset="0"/>
                          <a:cs typeface="Times New Roman" panose="02020603050405020304" pitchFamily="18" charset="0"/>
                        </a:rPr>
                        <a:t> </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8</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0002"/>
                  </a:ext>
                </a:extLst>
              </a:tr>
              <a:tr h="925775">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c</a:t>
                      </a:r>
                      <a:r>
                        <a:rPr lang="en-US" altLang="zh-TW" sz="2800" b="0" baseline="30000" dirty="0">
                          <a:solidFill>
                            <a:schemeClr val="tx1"/>
                          </a:solidFill>
                          <a:latin typeface="Times New Roman" panose="02020603050405020304" pitchFamily="18" charset="0"/>
                          <a:cs typeface="Times New Roman" panose="02020603050405020304" pitchFamily="18" charset="0"/>
                        </a:rPr>
                        <a:t>1</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4</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2" name="標題 1"/>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Longest Common Subsequence - Initial Algorithm</a:t>
            </a:r>
            <a:endParaRPr lang="zh-TW" altLang="en-US" sz="4000" dirty="0"/>
          </a:p>
        </p:txBody>
      </p:sp>
      <p:graphicFrame>
        <p:nvGraphicFramePr>
          <p:cNvPr id="10" name="表格 9"/>
          <p:cNvGraphicFramePr>
            <a:graphicFrameLocks noGrp="1"/>
          </p:cNvGraphicFramePr>
          <p:nvPr>
            <p:extLst>
              <p:ext uri="{D42A27DB-BD31-4B8C-83A1-F6EECF244321}">
                <p14:modId xmlns:p14="http://schemas.microsoft.com/office/powerpoint/2010/main" val="522506521"/>
              </p:ext>
            </p:extLst>
          </p:nvPr>
        </p:nvGraphicFramePr>
        <p:xfrm>
          <a:off x="6385560" y="1696404"/>
          <a:ext cx="2585720" cy="1483360"/>
        </p:xfrm>
        <a:graphic>
          <a:graphicData uri="http://schemas.openxmlformats.org/drawingml/2006/table">
            <a:tbl>
              <a:tblPr firstRow="1" bandRow="1">
                <a:tableStyleId>{5C22544A-7EE6-4342-B048-85BDC9FD1C3A}</a:tableStyleId>
              </a:tblPr>
              <a:tblGrid>
                <a:gridCol w="646430">
                  <a:extLst>
                    <a:ext uri="{9D8B030D-6E8A-4147-A177-3AD203B41FA5}">
                      <a16:colId xmlns:a16="http://schemas.microsoft.com/office/drawing/2014/main" val="20000"/>
                    </a:ext>
                  </a:extLst>
                </a:gridCol>
                <a:gridCol w="646430">
                  <a:extLst>
                    <a:ext uri="{9D8B030D-6E8A-4147-A177-3AD203B41FA5}">
                      <a16:colId xmlns:a16="http://schemas.microsoft.com/office/drawing/2014/main" val="20001"/>
                    </a:ext>
                  </a:extLst>
                </a:gridCol>
                <a:gridCol w="646430">
                  <a:extLst>
                    <a:ext uri="{9D8B030D-6E8A-4147-A177-3AD203B41FA5}">
                      <a16:colId xmlns:a16="http://schemas.microsoft.com/office/drawing/2014/main" val="20002"/>
                    </a:ext>
                  </a:extLst>
                </a:gridCol>
                <a:gridCol w="646430">
                  <a:extLst>
                    <a:ext uri="{9D8B030D-6E8A-4147-A177-3AD203B41FA5}">
                      <a16:colId xmlns:a16="http://schemas.microsoft.com/office/drawing/2014/main" val="20003"/>
                    </a:ext>
                  </a:extLst>
                </a:gridCol>
              </a:tblGrid>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11" name="矩形 10"/>
          <p:cNvSpPr/>
          <p:nvPr/>
        </p:nvSpPr>
        <p:spPr>
          <a:xfrm>
            <a:off x="9149330" y="2810432"/>
            <a:ext cx="1326004"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Matrix of M</a:t>
            </a:r>
            <a:endParaRPr lang="zh-TW" altLang="en-US" dirty="0"/>
          </a:p>
        </p:txBody>
      </p:sp>
      <p:sp>
        <p:nvSpPr>
          <p:cNvPr id="14" name="矩形 13"/>
          <p:cNvSpPr/>
          <p:nvPr/>
        </p:nvSpPr>
        <p:spPr>
          <a:xfrm>
            <a:off x="1371171" y="1758434"/>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Y</a:t>
            </a:r>
            <a:endParaRPr lang="zh-TW" altLang="en-US" dirty="0"/>
          </a:p>
        </p:txBody>
      </p:sp>
      <p:sp>
        <p:nvSpPr>
          <p:cNvPr id="15" name="矩形 14"/>
          <p:cNvSpPr/>
          <p:nvPr/>
        </p:nvSpPr>
        <p:spPr>
          <a:xfrm>
            <a:off x="1019793" y="2195512"/>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X</a:t>
            </a:r>
            <a:endParaRPr lang="zh-TW" altLang="en-US" dirty="0"/>
          </a:p>
        </p:txBody>
      </p:sp>
      <p:sp>
        <p:nvSpPr>
          <p:cNvPr id="9" name="矩形 8"/>
          <p:cNvSpPr/>
          <p:nvPr/>
        </p:nvSpPr>
        <p:spPr>
          <a:xfrm>
            <a:off x="6385560" y="5214757"/>
            <a:ext cx="4237057" cy="646331"/>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M[4, 3]=max(M[4, 3] = 0 , M[4, 1]+1 = 7), </a:t>
            </a:r>
          </a:p>
          <a:p>
            <a:endParaRPr lang="en-US" altLang="zh-TW" dirty="0">
              <a:latin typeface="Times New Roman" panose="02020603050405020304" pitchFamily="18" charset="0"/>
              <a:cs typeface="Times New Roman" panose="02020603050405020304" pitchFamily="18" charset="0"/>
            </a:endParaRPr>
          </a:p>
        </p:txBody>
      </p:sp>
      <p:cxnSp>
        <p:nvCxnSpPr>
          <p:cNvPr id="7" name="直線接點 6"/>
          <p:cNvCxnSpPr/>
          <p:nvPr/>
        </p:nvCxnSpPr>
        <p:spPr>
          <a:xfrm>
            <a:off x="1821180" y="2564844"/>
            <a:ext cx="480060" cy="9098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a:off x="2301240" y="3474720"/>
            <a:ext cx="0" cy="188976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7" name="直線接點 26"/>
          <p:cNvCxnSpPr/>
          <p:nvPr/>
        </p:nvCxnSpPr>
        <p:spPr>
          <a:xfrm>
            <a:off x="2301240" y="5364480"/>
            <a:ext cx="480060" cy="70104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6385560" y="4225975"/>
            <a:ext cx="6096000" cy="646331"/>
          </a:xfrm>
          <a:prstGeom prst="rect">
            <a:avLst/>
          </a:prstGeom>
        </p:spPr>
        <p:txBody>
          <a:bodyPr>
            <a:spAutoFit/>
          </a:bodyPr>
          <a:lstStyle/>
          <a:p>
            <a:r>
              <a:rPr lang="en-US" altLang="zh-TW" dirty="0">
                <a:latin typeface="Times New Roman" panose="02020603050405020304" pitchFamily="18" charset="0"/>
                <a:cs typeface="Times New Roman" panose="02020603050405020304" pitchFamily="18" charset="0"/>
              </a:rPr>
              <a:t>M[</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j]=max(M[</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j], M[</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j]+d’), </a:t>
            </a:r>
          </a:p>
          <a:p>
            <a:r>
              <a:rPr lang="en-US" altLang="zh-TW" dirty="0">
                <a:latin typeface="Times New Roman" panose="02020603050405020304" pitchFamily="18" charset="0"/>
                <a:cs typeface="Times New Roman" panose="02020603050405020304" pitchFamily="18" charset="0"/>
              </a:rPr>
              <a:t>where d’ is the diagonal length</a:t>
            </a:r>
          </a:p>
        </p:txBody>
      </p:sp>
      <p:cxnSp>
        <p:nvCxnSpPr>
          <p:cNvPr id="13" name="直線接點 12"/>
          <p:cNvCxnSpPr/>
          <p:nvPr/>
        </p:nvCxnSpPr>
        <p:spPr>
          <a:xfrm>
            <a:off x="2792730" y="6065520"/>
            <a:ext cx="967740" cy="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a:off x="3778375" y="6065520"/>
            <a:ext cx="229745" cy="204788"/>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452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表格 24"/>
          <p:cNvGraphicFramePr>
            <a:graphicFrameLocks noGrp="1"/>
          </p:cNvGraphicFramePr>
          <p:nvPr/>
        </p:nvGraphicFramePr>
        <p:xfrm>
          <a:off x="838200" y="1682116"/>
          <a:ext cx="4876800" cy="4588192"/>
        </p:xfrm>
        <a:graphic>
          <a:graphicData uri="http://schemas.openxmlformats.org/drawingml/2006/table">
            <a:tbl>
              <a:tblPr firstRow="1" bandRow="1">
                <a:tableStyleId>{5C22544A-7EE6-4342-B048-85BDC9FD1C3A}</a:tableStyleId>
              </a:tblPr>
              <a:tblGrid>
                <a:gridCol w="975360">
                  <a:extLst>
                    <a:ext uri="{9D8B030D-6E8A-4147-A177-3AD203B41FA5}">
                      <a16:colId xmlns:a16="http://schemas.microsoft.com/office/drawing/2014/main" val="20000"/>
                    </a:ext>
                  </a:extLst>
                </a:gridCol>
                <a:gridCol w="975360">
                  <a:extLst>
                    <a:ext uri="{9D8B030D-6E8A-4147-A177-3AD203B41FA5}">
                      <a16:colId xmlns:a16="http://schemas.microsoft.com/office/drawing/2014/main" val="20001"/>
                    </a:ext>
                  </a:extLst>
                </a:gridCol>
                <a:gridCol w="975360">
                  <a:extLst>
                    <a:ext uri="{9D8B030D-6E8A-4147-A177-3AD203B41FA5}">
                      <a16:colId xmlns:a16="http://schemas.microsoft.com/office/drawing/2014/main" val="20002"/>
                    </a:ext>
                  </a:extLst>
                </a:gridCol>
                <a:gridCol w="975360">
                  <a:extLst>
                    <a:ext uri="{9D8B030D-6E8A-4147-A177-3AD203B41FA5}">
                      <a16:colId xmlns:a16="http://schemas.microsoft.com/office/drawing/2014/main" val="20003"/>
                    </a:ext>
                  </a:extLst>
                </a:gridCol>
                <a:gridCol w="975360">
                  <a:extLst>
                    <a:ext uri="{9D8B030D-6E8A-4147-A177-3AD203B41FA5}">
                      <a16:colId xmlns:a16="http://schemas.microsoft.com/office/drawing/2014/main" val="20004"/>
                    </a:ext>
                  </a:extLst>
                </a:gridCol>
              </a:tblGrid>
              <a:tr h="885092">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   </a:t>
                      </a:r>
                      <a:r>
                        <a:rPr lang="en-US" altLang="zh-TW" sz="2800" baseline="0" dirty="0">
                          <a:solidFill>
                            <a:schemeClr val="tx1"/>
                          </a:solidFill>
                          <a:latin typeface="Times New Roman" panose="02020603050405020304" pitchFamily="18" charset="0"/>
                          <a:cs typeface="Times New Roman" panose="02020603050405020304" pitchFamily="18" charset="0"/>
                        </a:rPr>
                        <a:t> </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8</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0002"/>
                  </a:ext>
                </a:extLst>
              </a:tr>
              <a:tr h="925775">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c</a:t>
                      </a:r>
                      <a:r>
                        <a:rPr lang="en-US" altLang="zh-TW" sz="2800" b="0" baseline="30000" dirty="0">
                          <a:solidFill>
                            <a:schemeClr val="tx1"/>
                          </a:solidFill>
                          <a:latin typeface="Times New Roman" panose="02020603050405020304" pitchFamily="18" charset="0"/>
                          <a:cs typeface="Times New Roman" panose="02020603050405020304" pitchFamily="18" charset="0"/>
                        </a:rPr>
                        <a:t>1</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4</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2" name="標題 1"/>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Longest Common Subsequence - Initial Algorithm</a:t>
            </a:r>
            <a:endParaRPr lang="zh-TW" altLang="en-US" sz="4000" dirty="0"/>
          </a:p>
        </p:txBody>
      </p:sp>
      <p:graphicFrame>
        <p:nvGraphicFramePr>
          <p:cNvPr id="10" name="表格 9"/>
          <p:cNvGraphicFramePr>
            <a:graphicFrameLocks noGrp="1"/>
          </p:cNvGraphicFramePr>
          <p:nvPr>
            <p:extLst>
              <p:ext uri="{D42A27DB-BD31-4B8C-83A1-F6EECF244321}">
                <p14:modId xmlns:p14="http://schemas.microsoft.com/office/powerpoint/2010/main" val="150942378"/>
              </p:ext>
            </p:extLst>
          </p:nvPr>
        </p:nvGraphicFramePr>
        <p:xfrm>
          <a:off x="6385560" y="1696404"/>
          <a:ext cx="2585720" cy="1483360"/>
        </p:xfrm>
        <a:graphic>
          <a:graphicData uri="http://schemas.openxmlformats.org/drawingml/2006/table">
            <a:tbl>
              <a:tblPr firstRow="1" bandRow="1">
                <a:tableStyleId>{5C22544A-7EE6-4342-B048-85BDC9FD1C3A}</a:tableStyleId>
              </a:tblPr>
              <a:tblGrid>
                <a:gridCol w="646430">
                  <a:extLst>
                    <a:ext uri="{9D8B030D-6E8A-4147-A177-3AD203B41FA5}">
                      <a16:colId xmlns:a16="http://schemas.microsoft.com/office/drawing/2014/main" val="20000"/>
                    </a:ext>
                  </a:extLst>
                </a:gridCol>
                <a:gridCol w="646430">
                  <a:extLst>
                    <a:ext uri="{9D8B030D-6E8A-4147-A177-3AD203B41FA5}">
                      <a16:colId xmlns:a16="http://schemas.microsoft.com/office/drawing/2014/main" val="20001"/>
                    </a:ext>
                  </a:extLst>
                </a:gridCol>
                <a:gridCol w="646430">
                  <a:extLst>
                    <a:ext uri="{9D8B030D-6E8A-4147-A177-3AD203B41FA5}">
                      <a16:colId xmlns:a16="http://schemas.microsoft.com/office/drawing/2014/main" val="20002"/>
                    </a:ext>
                  </a:extLst>
                </a:gridCol>
                <a:gridCol w="646430">
                  <a:extLst>
                    <a:ext uri="{9D8B030D-6E8A-4147-A177-3AD203B41FA5}">
                      <a16:colId xmlns:a16="http://schemas.microsoft.com/office/drawing/2014/main" val="20003"/>
                    </a:ext>
                  </a:extLst>
                </a:gridCol>
              </a:tblGrid>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11" name="矩形 10"/>
          <p:cNvSpPr/>
          <p:nvPr/>
        </p:nvSpPr>
        <p:spPr>
          <a:xfrm>
            <a:off x="9149330" y="2810432"/>
            <a:ext cx="1326004"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Matrix of M</a:t>
            </a:r>
            <a:endParaRPr lang="zh-TW" altLang="en-US" dirty="0"/>
          </a:p>
        </p:txBody>
      </p:sp>
      <p:sp>
        <p:nvSpPr>
          <p:cNvPr id="14" name="矩形 13"/>
          <p:cNvSpPr/>
          <p:nvPr/>
        </p:nvSpPr>
        <p:spPr>
          <a:xfrm>
            <a:off x="1371171" y="1758434"/>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Y</a:t>
            </a:r>
            <a:endParaRPr lang="zh-TW" altLang="en-US" dirty="0"/>
          </a:p>
        </p:txBody>
      </p:sp>
      <p:sp>
        <p:nvSpPr>
          <p:cNvPr id="15" name="矩形 14"/>
          <p:cNvSpPr/>
          <p:nvPr/>
        </p:nvSpPr>
        <p:spPr>
          <a:xfrm>
            <a:off x="1019793" y="2195512"/>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X</a:t>
            </a:r>
            <a:endParaRPr lang="zh-TW" altLang="en-US" dirty="0"/>
          </a:p>
        </p:txBody>
      </p:sp>
      <p:cxnSp>
        <p:nvCxnSpPr>
          <p:cNvPr id="7" name="直線接點 6"/>
          <p:cNvCxnSpPr/>
          <p:nvPr/>
        </p:nvCxnSpPr>
        <p:spPr>
          <a:xfrm>
            <a:off x="1821180" y="2564844"/>
            <a:ext cx="480060" cy="9098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a:off x="2301240" y="3474720"/>
            <a:ext cx="0" cy="188976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7" name="直線接點 26"/>
          <p:cNvCxnSpPr/>
          <p:nvPr/>
        </p:nvCxnSpPr>
        <p:spPr>
          <a:xfrm>
            <a:off x="2301240" y="5364480"/>
            <a:ext cx="480060" cy="70104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3" name="直線接點 12"/>
          <p:cNvCxnSpPr/>
          <p:nvPr/>
        </p:nvCxnSpPr>
        <p:spPr>
          <a:xfrm>
            <a:off x="2792730" y="6065520"/>
            <a:ext cx="967740" cy="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a:off x="3778375" y="6065520"/>
            <a:ext cx="229745" cy="204788"/>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6385560" y="4588194"/>
            <a:ext cx="3405099" cy="646331"/>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If color(</a:t>
            </a:r>
            <a:r>
              <a:rPr lang="en-US" altLang="zh-TW" dirty="0" err="1">
                <a:latin typeface="Times New Roman" panose="02020603050405020304" pitchFamily="18" charset="0"/>
                <a:cs typeface="Times New Roman" panose="02020603050405020304" pitchFamily="18" charset="0"/>
              </a:rPr>
              <a:t>i,j</a:t>
            </a:r>
            <a:r>
              <a:rPr lang="en-US" altLang="zh-TW" dirty="0">
                <a:latin typeface="Times New Roman" panose="02020603050405020304" pitchFamily="18" charset="0"/>
                <a:cs typeface="Times New Roman" panose="02020603050405020304" pitchFamily="18" charset="0"/>
              </a:rPr>
              <a:t>) is light</a:t>
            </a:r>
          </a:p>
          <a:p>
            <a:r>
              <a:rPr lang="en-US" altLang="zh-TW" dirty="0">
                <a:latin typeface="Times New Roman" panose="02020603050405020304" pitchFamily="18" charset="0"/>
                <a:cs typeface="Times New Roman" panose="02020603050405020304" pitchFamily="18" charset="0"/>
              </a:rPr>
              <a:t>    </a:t>
            </a:r>
            <a:r>
              <a:rPr lang="pl-PL" altLang="zh-TW" dirty="0">
                <a:latin typeface="Times New Roman" panose="02020603050405020304" pitchFamily="18" charset="0"/>
                <a:cs typeface="Times New Roman" panose="02020603050405020304" pitchFamily="18" charset="0"/>
              </a:rPr>
              <a:t>M[i, j]=max(M[i</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 j], M[i, j</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p:txBody>
      </p:sp>
      <p:cxnSp>
        <p:nvCxnSpPr>
          <p:cNvPr id="5" name="直線單箭頭接點 4"/>
          <p:cNvCxnSpPr>
            <a:endCxn id="17" idx="1"/>
          </p:cNvCxnSpPr>
          <p:nvPr/>
        </p:nvCxnSpPr>
        <p:spPr>
          <a:xfrm>
            <a:off x="3253740" y="3025140"/>
            <a:ext cx="3131820" cy="188622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72639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表格 24"/>
          <p:cNvGraphicFramePr>
            <a:graphicFrameLocks noGrp="1"/>
          </p:cNvGraphicFramePr>
          <p:nvPr/>
        </p:nvGraphicFramePr>
        <p:xfrm>
          <a:off x="838200" y="1682116"/>
          <a:ext cx="4876800" cy="4588192"/>
        </p:xfrm>
        <a:graphic>
          <a:graphicData uri="http://schemas.openxmlformats.org/drawingml/2006/table">
            <a:tbl>
              <a:tblPr firstRow="1" bandRow="1">
                <a:tableStyleId>{5C22544A-7EE6-4342-B048-85BDC9FD1C3A}</a:tableStyleId>
              </a:tblPr>
              <a:tblGrid>
                <a:gridCol w="975360">
                  <a:extLst>
                    <a:ext uri="{9D8B030D-6E8A-4147-A177-3AD203B41FA5}">
                      <a16:colId xmlns:a16="http://schemas.microsoft.com/office/drawing/2014/main" val="20000"/>
                    </a:ext>
                  </a:extLst>
                </a:gridCol>
                <a:gridCol w="975360">
                  <a:extLst>
                    <a:ext uri="{9D8B030D-6E8A-4147-A177-3AD203B41FA5}">
                      <a16:colId xmlns:a16="http://schemas.microsoft.com/office/drawing/2014/main" val="20001"/>
                    </a:ext>
                  </a:extLst>
                </a:gridCol>
                <a:gridCol w="975360">
                  <a:extLst>
                    <a:ext uri="{9D8B030D-6E8A-4147-A177-3AD203B41FA5}">
                      <a16:colId xmlns:a16="http://schemas.microsoft.com/office/drawing/2014/main" val="20002"/>
                    </a:ext>
                  </a:extLst>
                </a:gridCol>
                <a:gridCol w="975360">
                  <a:extLst>
                    <a:ext uri="{9D8B030D-6E8A-4147-A177-3AD203B41FA5}">
                      <a16:colId xmlns:a16="http://schemas.microsoft.com/office/drawing/2014/main" val="20003"/>
                    </a:ext>
                  </a:extLst>
                </a:gridCol>
                <a:gridCol w="975360">
                  <a:extLst>
                    <a:ext uri="{9D8B030D-6E8A-4147-A177-3AD203B41FA5}">
                      <a16:colId xmlns:a16="http://schemas.microsoft.com/office/drawing/2014/main" val="20004"/>
                    </a:ext>
                  </a:extLst>
                </a:gridCol>
              </a:tblGrid>
              <a:tr h="885092">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   </a:t>
                      </a:r>
                      <a:r>
                        <a:rPr lang="en-US" altLang="zh-TW" sz="2800" baseline="0" dirty="0">
                          <a:solidFill>
                            <a:schemeClr val="tx1"/>
                          </a:solidFill>
                          <a:latin typeface="Times New Roman" panose="02020603050405020304" pitchFamily="18" charset="0"/>
                          <a:cs typeface="Times New Roman" panose="02020603050405020304" pitchFamily="18" charset="0"/>
                        </a:rPr>
                        <a:t> </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8</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0002"/>
                  </a:ext>
                </a:extLst>
              </a:tr>
              <a:tr h="925775">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c</a:t>
                      </a:r>
                      <a:r>
                        <a:rPr lang="en-US" altLang="zh-TW" sz="2800" b="0" baseline="30000" dirty="0">
                          <a:solidFill>
                            <a:schemeClr val="tx1"/>
                          </a:solidFill>
                          <a:latin typeface="Times New Roman" panose="02020603050405020304" pitchFamily="18" charset="0"/>
                          <a:cs typeface="Times New Roman" panose="02020603050405020304" pitchFamily="18" charset="0"/>
                        </a:rPr>
                        <a:t>1</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4</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2" name="標題 1"/>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Longest Common Subsequence - Initial Algorithm</a:t>
            </a:r>
            <a:endParaRPr lang="zh-TW" altLang="en-US" sz="4000" dirty="0"/>
          </a:p>
        </p:txBody>
      </p:sp>
      <p:graphicFrame>
        <p:nvGraphicFramePr>
          <p:cNvPr id="10" name="表格 9"/>
          <p:cNvGraphicFramePr>
            <a:graphicFrameLocks noGrp="1"/>
          </p:cNvGraphicFramePr>
          <p:nvPr>
            <p:extLst>
              <p:ext uri="{D42A27DB-BD31-4B8C-83A1-F6EECF244321}">
                <p14:modId xmlns:p14="http://schemas.microsoft.com/office/powerpoint/2010/main" val="2630680230"/>
              </p:ext>
            </p:extLst>
          </p:nvPr>
        </p:nvGraphicFramePr>
        <p:xfrm>
          <a:off x="6385560" y="1696404"/>
          <a:ext cx="2585720" cy="1483360"/>
        </p:xfrm>
        <a:graphic>
          <a:graphicData uri="http://schemas.openxmlformats.org/drawingml/2006/table">
            <a:tbl>
              <a:tblPr firstRow="1" bandRow="1">
                <a:tableStyleId>{5C22544A-7EE6-4342-B048-85BDC9FD1C3A}</a:tableStyleId>
              </a:tblPr>
              <a:tblGrid>
                <a:gridCol w="646430">
                  <a:extLst>
                    <a:ext uri="{9D8B030D-6E8A-4147-A177-3AD203B41FA5}">
                      <a16:colId xmlns:a16="http://schemas.microsoft.com/office/drawing/2014/main" val="20000"/>
                    </a:ext>
                  </a:extLst>
                </a:gridCol>
                <a:gridCol w="646430">
                  <a:extLst>
                    <a:ext uri="{9D8B030D-6E8A-4147-A177-3AD203B41FA5}">
                      <a16:colId xmlns:a16="http://schemas.microsoft.com/office/drawing/2014/main" val="20001"/>
                    </a:ext>
                  </a:extLst>
                </a:gridCol>
                <a:gridCol w="646430">
                  <a:extLst>
                    <a:ext uri="{9D8B030D-6E8A-4147-A177-3AD203B41FA5}">
                      <a16:colId xmlns:a16="http://schemas.microsoft.com/office/drawing/2014/main" val="20002"/>
                    </a:ext>
                  </a:extLst>
                </a:gridCol>
                <a:gridCol w="646430">
                  <a:extLst>
                    <a:ext uri="{9D8B030D-6E8A-4147-A177-3AD203B41FA5}">
                      <a16:colId xmlns:a16="http://schemas.microsoft.com/office/drawing/2014/main" val="20003"/>
                    </a:ext>
                  </a:extLst>
                </a:gridCol>
              </a:tblGrid>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11" name="矩形 10"/>
          <p:cNvSpPr/>
          <p:nvPr/>
        </p:nvSpPr>
        <p:spPr>
          <a:xfrm>
            <a:off x="9149330" y="2810432"/>
            <a:ext cx="1326004"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Matrix of M</a:t>
            </a:r>
            <a:endParaRPr lang="zh-TW" altLang="en-US" dirty="0"/>
          </a:p>
        </p:txBody>
      </p:sp>
      <p:sp>
        <p:nvSpPr>
          <p:cNvPr id="14" name="矩形 13"/>
          <p:cNvSpPr/>
          <p:nvPr/>
        </p:nvSpPr>
        <p:spPr>
          <a:xfrm>
            <a:off x="1371171" y="1758434"/>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Y</a:t>
            </a:r>
            <a:endParaRPr lang="zh-TW" altLang="en-US" dirty="0"/>
          </a:p>
        </p:txBody>
      </p:sp>
      <p:sp>
        <p:nvSpPr>
          <p:cNvPr id="15" name="矩形 14"/>
          <p:cNvSpPr/>
          <p:nvPr/>
        </p:nvSpPr>
        <p:spPr>
          <a:xfrm>
            <a:off x="1019793" y="2195512"/>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X</a:t>
            </a:r>
            <a:endParaRPr lang="zh-TW" altLang="en-US" dirty="0"/>
          </a:p>
        </p:txBody>
      </p:sp>
      <p:cxnSp>
        <p:nvCxnSpPr>
          <p:cNvPr id="7" name="直線接點 6"/>
          <p:cNvCxnSpPr/>
          <p:nvPr/>
        </p:nvCxnSpPr>
        <p:spPr>
          <a:xfrm>
            <a:off x="1821180" y="2564844"/>
            <a:ext cx="480060" cy="9098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a:off x="2301240" y="3474720"/>
            <a:ext cx="0" cy="188976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7" name="直線接點 26"/>
          <p:cNvCxnSpPr/>
          <p:nvPr/>
        </p:nvCxnSpPr>
        <p:spPr>
          <a:xfrm>
            <a:off x="2301240" y="5364480"/>
            <a:ext cx="480060" cy="70104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3" name="直線接點 12"/>
          <p:cNvCxnSpPr/>
          <p:nvPr/>
        </p:nvCxnSpPr>
        <p:spPr>
          <a:xfrm>
            <a:off x="2792730" y="6065520"/>
            <a:ext cx="967740" cy="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a:off x="3778375" y="6065520"/>
            <a:ext cx="229745" cy="204788"/>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6385560" y="4588194"/>
            <a:ext cx="3405099" cy="646331"/>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If color(</a:t>
            </a:r>
            <a:r>
              <a:rPr lang="en-US" altLang="zh-TW" dirty="0" err="1">
                <a:latin typeface="Times New Roman" panose="02020603050405020304" pitchFamily="18" charset="0"/>
                <a:cs typeface="Times New Roman" panose="02020603050405020304" pitchFamily="18" charset="0"/>
              </a:rPr>
              <a:t>i,j</a:t>
            </a:r>
            <a:r>
              <a:rPr lang="en-US" altLang="zh-TW" dirty="0">
                <a:latin typeface="Times New Roman" panose="02020603050405020304" pitchFamily="18" charset="0"/>
                <a:cs typeface="Times New Roman" panose="02020603050405020304" pitchFamily="18" charset="0"/>
              </a:rPr>
              <a:t>) is light</a:t>
            </a:r>
          </a:p>
          <a:p>
            <a:r>
              <a:rPr lang="en-US" altLang="zh-TW" dirty="0">
                <a:latin typeface="Times New Roman" panose="02020603050405020304" pitchFamily="18" charset="0"/>
                <a:cs typeface="Times New Roman" panose="02020603050405020304" pitchFamily="18" charset="0"/>
              </a:rPr>
              <a:t>    </a:t>
            </a:r>
            <a:r>
              <a:rPr lang="pl-PL" altLang="zh-TW" dirty="0">
                <a:latin typeface="Times New Roman" panose="02020603050405020304" pitchFamily="18" charset="0"/>
                <a:cs typeface="Times New Roman" panose="02020603050405020304" pitchFamily="18" charset="0"/>
              </a:rPr>
              <a:t>M[i, j]=max(M[i</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 j], M[i, j</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p:txBody>
      </p:sp>
      <p:cxnSp>
        <p:nvCxnSpPr>
          <p:cNvPr id="5" name="直線單箭頭接點 4"/>
          <p:cNvCxnSpPr>
            <a:endCxn id="17" idx="1"/>
          </p:cNvCxnSpPr>
          <p:nvPr/>
        </p:nvCxnSpPr>
        <p:spPr>
          <a:xfrm>
            <a:off x="3253740" y="3025140"/>
            <a:ext cx="3131820" cy="188622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59613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表格 24"/>
          <p:cNvGraphicFramePr>
            <a:graphicFrameLocks noGrp="1"/>
          </p:cNvGraphicFramePr>
          <p:nvPr/>
        </p:nvGraphicFramePr>
        <p:xfrm>
          <a:off x="838200" y="1682116"/>
          <a:ext cx="4876800" cy="4588192"/>
        </p:xfrm>
        <a:graphic>
          <a:graphicData uri="http://schemas.openxmlformats.org/drawingml/2006/table">
            <a:tbl>
              <a:tblPr firstRow="1" bandRow="1">
                <a:tableStyleId>{5C22544A-7EE6-4342-B048-85BDC9FD1C3A}</a:tableStyleId>
              </a:tblPr>
              <a:tblGrid>
                <a:gridCol w="975360">
                  <a:extLst>
                    <a:ext uri="{9D8B030D-6E8A-4147-A177-3AD203B41FA5}">
                      <a16:colId xmlns:a16="http://schemas.microsoft.com/office/drawing/2014/main" val="20000"/>
                    </a:ext>
                  </a:extLst>
                </a:gridCol>
                <a:gridCol w="975360">
                  <a:extLst>
                    <a:ext uri="{9D8B030D-6E8A-4147-A177-3AD203B41FA5}">
                      <a16:colId xmlns:a16="http://schemas.microsoft.com/office/drawing/2014/main" val="20001"/>
                    </a:ext>
                  </a:extLst>
                </a:gridCol>
                <a:gridCol w="975360">
                  <a:extLst>
                    <a:ext uri="{9D8B030D-6E8A-4147-A177-3AD203B41FA5}">
                      <a16:colId xmlns:a16="http://schemas.microsoft.com/office/drawing/2014/main" val="20002"/>
                    </a:ext>
                  </a:extLst>
                </a:gridCol>
                <a:gridCol w="975360">
                  <a:extLst>
                    <a:ext uri="{9D8B030D-6E8A-4147-A177-3AD203B41FA5}">
                      <a16:colId xmlns:a16="http://schemas.microsoft.com/office/drawing/2014/main" val="20003"/>
                    </a:ext>
                  </a:extLst>
                </a:gridCol>
                <a:gridCol w="975360">
                  <a:extLst>
                    <a:ext uri="{9D8B030D-6E8A-4147-A177-3AD203B41FA5}">
                      <a16:colId xmlns:a16="http://schemas.microsoft.com/office/drawing/2014/main" val="20004"/>
                    </a:ext>
                  </a:extLst>
                </a:gridCol>
              </a:tblGrid>
              <a:tr h="885092">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   </a:t>
                      </a:r>
                      <a:r>
                        <a:rPr lang="en-US" altLang="zh-TW" sz="2800" baseline="0" dirty="0">
                          <a:solidFill>
                            <a:schemeClr val="tx1"/>
                          </a:solidFill>
                          <a:latin typeface="Times New Roman" panose="02020603050405020304" pitchFamily="18" charset="0"/>
                          <a:cs typeface="Times New Roman" panose="02020603050405020304" pitchFamily="18" charset="0"/>
                        </a:rPr>
                        <a:t> </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8</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0002"/>
                  </a:ext>
                </a:extLst>
              </a:tr>
              <a:tr h="925775">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c</a:t>
                      </a:r>
                      <a:r>
                        <a:rPr lang="en-US" altLang="zh-TW" sz="2800" b="0" baseline="30000" dirty="0">
                          <a:solidFill>
                            <a:schemeClr val="tx1"/>
                          </a:solidFill>
                          <a:latin typeface="Times New Roman" panose="02020603050405020304" pitchFamily="18" charset="0"/>
                          <a:cs typeface="Times New Roman" panose="02020603050405020304" pitchFamily="18" charset="0"/>
                        </a:rPr>
                        <a:t>1</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4</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2" name="標題 1"/>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Longest Common Subsequence - Initial Algorithm</a:t>
            </a:r>
            <a:endParaRPr lang="zh-TW" altLang="en-US" sz="4000" dirty="0"/>
          </a:p>
        </p:txBody>
      </p:sp>
      <p:graphicFrame>
        <p:nvGraphicFramePr>
          <p:cNvPr id="10" name="表格 9"/>
          <p:cNvGraphicFramePr>
            <a:graphicFrameLocks noGrp="1"/>
          </p:cNvGraphicFramePr>
          <p:nvPr>
            <p:extLst>
              <p:ext uri="{D42A27DB-BD31-4B8C-83A1-F6EECF244321}">
                <p14:modId xmlns:p14="http://schemas.microsoft.com/office/powerpoint/2010/main" val="4179170087"/>
              </p:ext>
            </p:extLst>
          </p:nvPr>
        </p:nvGraphicFramePr>
        <p:xfrm>
          <a:off x="6385560" y="1696404"/>
          <a:ext cx="2585720" cy="1483360"/>
        </p:xfrm>
        <a:graphic>
          <a:graphicData uri="http://schemas.openxmlformats.org/drawingml/2006/table">
            <a:tbl>
              <a:tblPr firstRow="1" bandRow="1">
                <a:tableStyleId>{5C22544A-7EE6-4342-B048-85BDC9FD1C3A}</a:tableStyleId>
              </a:tblPr>
              <a:tblGrid>
                <a:gridCol w="646430">
                  <a:extLst>
                    <a:ext uri="{9D8B030D-6E8A-4147-A177-3AD203B41FA5}">
                      <a16:colId xmlns:a16="http://schemas.microsoft.com/office/drawing/2014/main" val="20000"/>
                    </a:ext>
                  </a:extLst>
                </a:gridCol>
                <a:gridCol w="646430">
                  <a:extLst>
                    <a:ext uri="{9D8B030D-6E8A-4147-A177-3AD203B41FA5}">
                      <a16:colId xmlns:a16="http://schemas.microsoft.com/office/drawing/2014/main" val="20001"/>
                    </a:ext>
                  </a:extLst>
                </a:gridCol>
                <a:gridCol w="646430">
                  <a:extLst>
                    <a:ext uri="{9D8B030D-6E8A-4147-A177-3AD203B41FA5}">
                      <a16:colId xmlns:a16="http://schemas.microsoft.com/office/drawing/2014/main" val="20002"/>
                    </a:ext>
                  </a:extLst>
                </a:gridCol>
                <a:gridCol w="646430">
                  <a:extLst>
                    <a:ext uri="{9D8B030D-6E8A-4147-A177-3AD203B41FA5}">
                      <a16:colId xmlns:a16="http://schemas.microsoft.com/office/drawing/2014/main" val="20003"/>
                    </a:ext>
                  </a:extLst>
                </a:gridCol>
              </a:tblGrid>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11" name="矩形 10"/>
          <p:cNvSpPr/>
          <p:nvPr/>
        </p:nvSpPr>
        <p:spPr>
          <a:xfrm>
            <a:off x="9149330" y="2810432"/>
            <a:ext cx="1326004"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Matrix of M</a:t>
            </a:r>
            <a:endParaRPr lang="zh-TW" altLang="en-US" dirty="0"/>
          </a:p>
        </p:txBody>
      </p:sp>
      <p:sp>
        <p:nvSpPr>
          <p:cNvPr id="14" name="矩形 13"/>
          <p:cNvSpPr/>
          <p:nvPr/>
        </p:nvSpPr>
        <p:spPr>
          <a:xfrm>
            <a:off x="1371171" y="1758434"/>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Y</a:t>
            </a:r>
            <a:endParaRPr lang="zh-TW" altLang="en-US" dirty="0"/>
          </a:p>
        </p:txBody>
      </p:sp>
      <p:sp>
        <p:nvSpPr>
          <p:cNvPr id="15" name="矩形 14"/>
          <p:cNvSpPr/>
          <p:nvPr/>
        </p:nvSpPr>
        <p:spPr>
          <a:xfrm>
            <a:off x="1019793" y="2195512"/>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X</a:t>
            </a:r>
            <a:endParaRPr lang="zh-TW" altLang="en-US" dirty="0"/>
          </a:p>
        </p:txBody>
      </p:sp>
      <p:cxnSp>
        <p:nvCxnSpPr>
          <p:cNvPr id="7" name="直線接點 6"/>
          <p:cNvCxnSpPr/>
          <p:nvPr/>
        </p:nvCxnSpPr>
        <p:spPr>
          <a:xfrm>
            <a:off x="1821180" y="2564844"/>
            <a:ext cx="480060" cy="9098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a:off x="2301240" y="3474720"/>
            <a:ext cx="0" cy="188976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7" name="直線接點 26"/>
          <p:cNvCxnSpPr/>
          <p:nvPr/>
        </p:nvCxnSpPr>
        <p:spPr>
          <a:xfrm>
            <a:off x="2301240" y="5364480"/>
            <a:ext cx="480060" cy="70104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3" name="直線接點 12"/>
          <p:cNvCxnSpPr/>
          <p:nvPr/>
        </p:nvCxnSpPr>
        <p:spPr>
          <a:xfrm>
            <a:off x="2792730" y="6065520"/>
            <a:ext cx="967740" cy="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a:off x="3778375" y="6065520"/>
            <a:ext cx="229745" cy="204788"/>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5" name="直線單箭頭接點 4"/>
          <p:cNvCxnSpPr>
            <a:endCxn id="19" idx="1"/>
          </p:cNvCxnSpPr>
          <p:nvPr/>
        </p:nvCxnSpPr>
        <p:spPr>
          <a:xfrm>
            <a:off x="4229100" y="3019709"/>
            <a:ext cx="2156460" cy="95008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6385560" y="3369629"/>
            <a:ext cx="5471370" cy="1200329"/>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If color(</a:t>
            </a:r>
            <a:r>
              <a:rPr lang="en-US" altLang="zh-TW" dirty="0" err="1">
                <a:latin typeface="Times New Roman" panose="02020603050405020304" pitchFamily="18" charset="0"/>
                <a:cs typeface="Times New Roman" panose="02020603050405020304" pitchFamily="18" charset="0"/>
              </a:rPr>
              <a:t>i,j</a:t>
            </a:r>
            <a:r>
              <a:rPr lang="en-US" altLang="zh-TW" dirty="0">
                <a:latin typeface="Times New Roman" panose="02020603050405020304" pitchFamily="18" charset="0"/>
                <a:cs typeface="Times New Roman" panose="02020603050405020304" pitchFamily="18" charset="0"/>
              </a:rPr>
              <a:t>) is dark</a:t>
            </a:r>
          </a:p>
          <a:p>
            <a:r>
              <a:rPr lang="en-US" altLang="zh-TW" dirty="0">
                <a:latin typeface="Times New Roman" panose="02020603050405020304" pitchFamily="18" charset="0"/>
                <a:cs typeface="Times New Roman" panose="02020603050405020304" pitchFamily="18" charset="0"/>
              </a:rPr>
              <a:t>    d=min(|Xi|, |</a:t>
            </a:r>
            <a:r>
              <a:rPr lang="en-US" altLang="zh-TW" dirty="0" err="1">
                <a:latin typeface="Times New Roman" panose="02020603050405020304" pitchFamily="18" charset="0"/>
                <a:cs typeface="Times New Roman" panose="02020603050405020304" pitchFamily="18" charset="0"/>
              </a:rPr>
              <a:t>Yj</a:t>
            </a:r>
            <a:r>
              <a:rPr lang="en-US" altLang="zh-TW" dirty="0">
                <a:latin typeface="Times New Roman" panose="02020603050405020304" pitchFamily="18" charset="0"/>
                <a:cs typeface="Times New Roman" panose="02020603050405020304" pitchFamily="18" charset="0"/>
              </a:rPr>
              <a:t>|)</a:t>
            </a:r>
          </a:p>
          <a:p>
            <a:r>
              <a:rPr lang="en-US" altLang="zh-TW" dirty="0">
                <a:latin typeface="Times New Roman" panose="02020603050405020304" pitchFamily="18" charset="0"/>
                <a:cs typeface="Times New Roman" panose="02020603050405020304" pitchFamily="18" charset="0"/>
              </a:rPr>
              <a:t>    </a:t>
            </a:r>
            <a:r>
              <a:rPr lang="pl-PL" altLang="zh-TW" dirty="0">
                <a:latin typeface="Times New Roman" panose="02020603050405020304" pitchFamily="18" charset="0"/>
                <a:cs typeface="Times New Roman" panose="02020603050405020304" pitchFamily="18" charset="0"/>
              </a:rPr>
              <a:t>M[i, j]=max(M[i</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 j</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1]+d, M[i, j], M[i</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 j], M[i, j</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ForcedPathUpdate</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j, M) </a:t>
            </a:r>
            <a:r>
              <a:rPr lang="pl-PL" altLang="zh-TW" dirty="0">
                <a:latin typeface="Times New Roman" panose="02020603050405020304" pitchFamily="18" charset="0"/>
                <a:cs typeface="Times New Roman" panose="02020603050405020304" pitchFamily="18" charset="0"/>
              </a:rPr>
              <a:t> </a:t>
            </a:r>
            <a:endParaRPr lang="zh-TW" altLang="en-US" dirty="0">
              <a:latin typeface="Times New Roman" panose="02020603050405020304" pitchFamily="18" charset="0"/>
              <a:cs typeface="Times New Roman" panose="02020603050405020304" pitchFamily="18" charset="0"/>
            </a:endParaRPr>
          </a:p>
        </p:txBody>
      </p:sp>
      <p:sp>
        <p:nvSpPr>
          <p:cNvPr id="12" name="矩形 11"/>
          <p:cNvSpPr/>
          <p:nvPr/>
        </p:nvSpPr>
        <p:spPr>
          <a:xfrm>
            <a:off x="6675120" y="3733800"/>
            <a:ext cx="5090160" cy="50292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9704299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表格 24"/>
          <p:cNvGraphicFramePr>
            <a:graphicFrameLocks noGrp="1"/>
          </p:cNvGraphicFramePr>
          <p:nvPr/>
        </p:nvGraphicFramePr>
        <p:xfrm>
          <a:off x="838200" y="1682116"/>
          <a:ext cx="4876800" cy="4588192"/>
        </p:xfrm>
        <a:graphic>
          <a:graphicData uri="http://schemas.openxmlformats.org/drawingml/2006/table">
            <a:tbl>
              <a:tblPr firstRow="1" bandRow="1">
                <a:tableStyleId>{5C22544A-7EE6-4342-B048-85BDC9FD1C3A}</a:tableStyleId>
              </a:tblPr>
              <a:tblGrid>
                <a:gridCol w="975360">
                  <a:extLst>
                    <a:ext uri="{9D8B030D-6E8A-4147-A177-3AD203B41FA5}">
                      <a16:colId xmlns:a16="http://schemas.microsoft.com/office/drawing/2014/main" val="20000"/>
                    </a:ext>
                  </a:extLst>
                </a:gridCol>
                <a:gridCol w="975360">
                  <a:extLst>
                    <a:ext uri="{9D8B030D-6E8A-4147-A177-3AD203B41FA5}">
                      <a16:colId xmlns:a16="http://schemas.microsoft.com/office/drawing/2014/main" val="20001"/>
                    </a:ext>
                  </a:extLst>
                </a:gridCol>
                <a:gridCol w="975360">
                  <a:extLst>
                    <a:ext uri="{9D8B030D-6E8A-4147-A177-3AD203B41FA5}">
                      <a16:colId xmlns:a16="http://schemas.microsoft.com/office/drawing/2014/main" val="20002"/>
                    </a:ext>
                  </a:extLst>
                </a:gridCol>
                <a:gridCol w="975360">
                  <a:extLst>
                    <a:ext uri="{9D8B030D-6E8A-4147-A177-3AD203B41FA5}">
                      <a16:colId xmlns:a16="http://schemas.microsoft.com/office/drawing/2014/main" val="20003"/>
                    </a:ext>
                  </a:extLst>
                </a:gridCol>
                <a:gridCol w="975360">
                  <a:extLst>
                    <a:ext uri="{9D8B030D-6E8A-4147-A177-3AD203B41FA5}">
                      <a16:colId xmlns:a16="http://schemas.microsoft.com/office/drawing/2014/main" val="20004"/>
                    </a:ext>
                  </a:extLst>
                </a:gridCol>
              </a:tblGrid>
              <a:tr h="885092">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   </a:t>
                      </a:r>
                      <a:r>
                        <a:rPr lang="en-US" altLang="zh-TW" sz="2800" baseline="0" dirty="0">
                          <a:solidFill>
                            <a:schemeClr val="tx1"/>
                          </a:solidFill>
                          <a:latin typeface="Times New Roman" panose="02020603050405020304" pitchFamily="18" charset="0"/>
                          <a:cs typeface="Times New Roman" panose="02020603050405020304" pitchFamily="18" charset="0"/>
                        </a:rPr>
                        <a:t> </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8</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0002"/>
                  </a:ext>
                </a:extLst>
              </a:tr>
              <a:tr h="925775">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c</a:t>
                      </a:r>
                      <a:r>
                        <a:rPr lang="en-US" altLang="zh-TW" sz="2800" b="0" baseline="30000" dirty="0">
                          <a:solidFill>
                            <a:schemeClr val="tx1"/>
                          </a:solidFill>
                          <a:latin typeface="Times New Roman" panose="02020603050405020304" pitchFamily="18" charset="0"/>
                          <a:cs typeface="Times New Roman" panose="02020603050405020304" pitchFamily="18" charset="0"/>
                        </a:rPr>
                        <a:t>1</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4</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2" name="標題 1"/>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Longest Common Subsequence - Initial Algorithm</a:t>
            </a:r>
            <a:endParaRPr lang="zh-TW" altLang="en-US" sz="4000" dirty="0"/>
          </a:p>
        </p:txBody>
      </p:sp>
      <p:graphicFrame>
        <p:nvGraphicFramePr>
          <p:cNvPr id="10" name="表格 9"/>
          <p:cNvGraphicFramePr>
            <a:graphicFrameLocks noGrp="1"/>
          </p:cNvGraphicFramePr>
          <p:nvPr>
            <p:extLst>
              <p:ext uri="{D42A27DB-BD31-4B8C-83A1-F6EECF244321}">
                <p14:modId xmlns:p14="http://schemas.microsoft.com/office/powerpoint/2010/main" val="4233400185"/>
              </p:ext>
            </p:extLst>
          </p:nvPr>
        </p:nvGraphicFramePr>
        <p:xfrm>
          <a:off x="6385560" y="1696404"/>
          <a:ext cx="2585720" cy="1483360"/>
        </p:xfrm>
        <a:graphic>
          <a:graphicData uri="http://schemas.openxmlformats.org/drawingml/2006/table">
            <a:tbl>
              <a:tblPr firstRow="1" bandRow="1">
                <a:tableStyleId>{5C22544A-7EE6-4342-B048-85BDC9FD1C3A}</a:tableStyleId>
              </a:tblPr>
              <a:tblGrid>
                <a:gridCol w="646430">
                  <a:extLst>
                    <a:ext uri="{9D8B030D-6E8A-4147-A177-3AD203B41FA5}">
                      <a16:colId xmlns:a16="http://schemas.microsoft.com/office/drawing/2014/main" val="20000"/>
                    </a:ext>
                  </a:extLst>
                </a:gridCol>
                <a:gridCol w="646430">
                  <a:extLst>
                    <a:ext uri="{9D8B030D-6E8A-4147-A177-3AD203B41FA5}">
                      <a16:colId xmlns:a16="http://schemas.microsoft.com/office/drawing/2014/main" val="20001"/>
                    </a:ext>
                  </a:extLst>
                </a:gridCol>
                <a:gridCol w="646430">
                  <a:extLst>
                    <a:ext uri="{9D8B030D-6E8A-4147-A177-3AD203B41FA5}">
                      <a16:colId xmlns:a16="http://schemas.microsoft.com/office/drawing/2014/main" val="20002"/>
                    </a:ext>
                  </a:extLst>
                </a:gridCol>
                <a:gridCol w="646430">
                  <a:extLst>
                    <a:ext uri="{9D8B030D-6E8A-4147-A177-3AD203B41FA5}">
                      <a16:colId xmlns:a16="http://schemas.microsoft.com/office/drawing/2014/main" val="20003"/>
                    </a:ext>
                  </a:extLst>
                </a:gridCol>
              </a:tblGrid>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11" name="矩形 10"/>
          <p:cNvSpPr/>
          <p:nvPr/>
        </p:nvSpPr>
        <p:spPr>
          <a:xfrm>
            <a:off x="9149330" y="2810432"/>
            <a:ext cx="1326004"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Matrix of M</a:t>
            </a:r>
            <a:endParaRPr lang="zh-TW" altLang="en-US" dirty="0"/>
          </a:p>
        </p:txBody>
      </p:sp>
      <p:sp>
        <p:nvSpPr>
          <p:cNvPr id="14" name="矩形 13"/>
          <p:cNvSpPr/>
          <p:nvPr/>
        </p:nvSpPr>
        <p:spPr>
          <a:xfrm>
            <a:off x="1371171" y="1758434"/>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Y</a:t>
            </a:r>
            <a:endParaRPr lang="zh-TW" altLang="en-US" dirty="0"/>
          </a:p>
        </p:txBody>
      </p:sp>
      <p:sp>
        <p:nvSpPr>
          <p:cNvPr id="15" name="矩形 14"/>
          <p:cNvSpPr/>
          <p:nvPr/>
        </p:nvSpPr>
        <p:spPr>
          <a:xfrm>
            <a:off x="1019793" y="2195512"/>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X</a:t>
            </a:r>
            <a:endParaRPr lang="zh-TW" altLang="en-US" dirty="0"/>
          </a:p>
        </p:txBody>
      </p:sp>
      <p:cxnSp>
        <p:nvCxnSpPr>
          <p:cNvPr id="7" name="直線接點 6"/>
          <p:cNvCxnSpPr/>
          <p:nvPr/>
        </p:nvCxnSpPr>
        <p:spPr>
          <a:xfrm>
            <a:off x="1821180" y="2564844"/>
            <a:ext cx="480060" cy="9098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a:off x="2301240" y="3474720"/>
            <a:ext cx="0" cy="188976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7" name="直線接點 26"/>
          <p:cNvCxnSpPr/>
          <p:nvPr/>
        </p:nvCxnSpPr>
        <p:spPr>
          <a:xfrm>
            <a:off x="2301240" y="5364480"/>
            <a:ext cx="480060" cy="70104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3" name="直線接點 12"/>
          <p:cNvCxnSpPr/>
          <p:nvPr/>
        </p:nvCxnSpPr>
        <p:spPr>
          <a:xfrm>
            <a:off x="2792730" y="6065520"/>
            <a:ext cx="967740" cy="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a:off x="3778375" y="6065520"/>
            <a:ext cx="229745" cy="204788"/>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5" name="直線單箭頭接點 4"/>
          <p:cNvCxnSpPr/>
          <p:nvPr/>
        </p:nvCxnSpPr>
        <p:spPr>
          <a:xfrm>
            <a:off x="4229100" y="3019709"/>
            <a:ext cx="2156460" cy="95008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矩形 28"/>
          <p:cNvSpPr/>
          <p:nvPr/>
        </p:nvSpPr>
        <p:spPr>
          <a:xfrm>
            <a:off x="6385560" y="3369629"/>
            <a:ext cx="5471370" cy="1200329"/>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If color(</a:t>
            </a:r>
            <a:r>
              <a:rPr lang="en-US" altLang="zh-TW" dirty="0" err="1">
                <a:latin typeface="Times New Roman" panose="02020603050405020304" pitchFamily="18" charset="0"/>
                <a:cs typeface="Times New Roman" panose="02020603050405020304" pitchFamily="18" charset="0"/>
              </a:rPr>
              <a:t>i,j</a:t>
            </a:r>
            <a:r>
              <a:rPr lang="en-US" altLang="zh-TW" dirty="0">
                <a:latin typeface="Times New Roman" panose="02020603050405020304" pitchFamily="18" charset="0"/>
                <a:cs typeface="Times New Roman" panose="02020603050405020304" pitchFamily="18" charset="0"/>
              </a:rPr>
              <a:t>) is dark</a:t>
            </a:r>
          </a:p>
          <a:p>
            <a:r>
              <a:rPr lang="en-US" altLang="zh-TW" dirty="0">
                <a:latin typeface="Times New Roman" panose="02020603050405020304" pitchFamily="18" charset="0"/>
                <a:cs typeface="Times New Roman" panose="02020603050405020304" pitchFamily="18" charset="0"/>
              </a:rPr>
              <a:t>    d=min(|Xi|, |</a:t>
            </a:r>
            <a:r>
              <a:rPr lang="en-US" altLang="zh-TW" dirty="0" err="1">
                <a:latin typeface="Times New Roman" panose="02020603050405020304" pitchFamily="18" charset="0"/>
                <a:cs typeface="Times New Roman" panose="02020603050405020304" pitchFamily="18" charset="0"/>
              </a:rPr>
              <a:t>Yj</a:t>
            </a:r>
            <a:r>
              <a:rPr lang="en-US" altLang="zh-TW" dirty="0">
                <a:latin typeface="Times New Roman" panose="02020603050405020304" pitchFamily="18" charset="0"/>
                <a:cs typeface="Times New Roman" panose="02020603050405020304" pitchFamily="18" charset="0"/>
              </a:rPr>
              <a:t>|)</a:t>
            </a:r>
          </a:p>
          <a:p>
            <a:r>
              <a:rPr lang="en-US" altLang="zh-TW" dirty="0">
                <a:latin typeface="Times New Roman" panose="02020603050405020304" pitchFamily="18" charset="0"/>
                <a:cs typeface="Times New Roman" panose="02020603050405020304" pitchFamily="18" charset="0"/>
              </a:rPr>
              <a:t>    </a:t>
            </a:r>
            <a:r>
              <a:rPr lang="pl-PL" altLang="zh-TW" dirty="0">
                <a:latin typeface="Times New Roman" panose="02020603050405020304" pitchFamily="18" charset="0"/>
                <a:cs typeface="Times New Roman" panose="02020603050405020304" pitchFamily="18" charset="0"/>
              </a:rPr>
              <a:t>M[i, j]=max(M[i</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 j</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1]+d, M[i, j], M[i</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 j], M[i, j</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ForcedPathUpdate</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j, M) </a:t>
            </a:r>
            <a:r>
              <a:rPr lang="pl-PL" altLang="zh-TW" dirty="0">
                <a:latin typeface="Times New Roman" panose="02020603050405020304" pitchFamily="18" charset="0"/>
                <a:cs typeface="Times New Roman" panose="02020603050405020304" pitchFamily="18" charset="0"/>
              </a:rPr>
              <a:t> </a:t>
            </a:r>
            <a:endParaRPr lang="zh-TW" altLang="en-US" dirty="0">
              <a:latin typeface="Times New Roman" panose="02020603050405020304" pitchFamily="18" charset="0"/>
              <a:cs typeface="Times New Roman" panose="02020603050405020304" pitchFamily="18" charset="0"/>
            </a:endParaRPr>
          </a:p>
        </p:txBody>
      </p:sp>
      <p:sp>
        <p:nvSpPr>
          <p:cNvPr id="30" name="矩形 29"/>
          <p:cNvSpPr/>
          <p:nvPr/>
        </p:nvSpPr>
        <p:spPr>
          <a:xfrm>
            <a:off x="6629400" y="4260215"/>
            <a:ext cx="2519930" cy="28194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1" name="直線單箭頭接點 30"/>
          <p:cNvCxnSpPr/>
          <p:nvPr/>
        </p:nvCxnSpPr>
        <p:spPr>
          <a:xfrm flipH="1">
            <a:off x="7678420" y="4542155"/>
            <a:ext cx="93980" cy="4827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矩形 31"/>
          <p:cNvSpPr/>
          <p:nvPr/>
        </p:nvSpPr>
        <p:spPr>
          <a:xfrm>
            <a:off x="6385560" y="5024892"/>
            <a:ext cx="5024004" cy="2031325"/>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T</a:t>
            </a:r>
            <a:r>
              <a:rPr lang="zh-TW" altLang="en-US" dirty="0">
                <a:latin typeface="Times New Roman" panose="02020603050405020304" pitchFamily="18" charset="0"/>
                <a:cs typeface="Times New Roman" panose="02020603050405020304" pitchFamily="18" charset="0"/>
              </a:rPr>
              <a:t>races out the forced path originating at block (i, j)</a:t>
            </a:r>
            <a:r>
              <a:rPr lang="en-US" altLang="zh-TW" dirty="0">
                <a:latin typeface="Times New Roman" panose="02020603050405020304" pitchFamily="18" charset="0"/>
                <a:cs typeface="Times New Roman" panose="02020603050405020304" pitchFamily="18" charset="0"/>
              </a:rPr>
              <a:t>, </a:t>
            </a:r>
          </a:p>
          <a:p>
            <a:r>
              <a:rPr lang="en-US" altLang="zh-TW" dirty="0">
                <a:latin typeface="Times New Roman" panose="02020603050405020304" pitchFamily="18" charset="0"/>
                <a:cs typeface="Times New Roman" panose="02020603050405020304" pitchFamily="18" charset="0"/>
              </a:rPr>
              <a:t>if |Xi|&lt;|</a:t>
            </a:r>
            <a:r>
              <a:rPr lang="en-US" altLang="zh-TW" dirty="0" err="1">
                <a:latin typeface="Times New Roman" panose="02020603050405020304" pitchFamily="18" charset="0"/>
                <a:cs typeface="Times New Roman" panose="02020603050405020304" pitchFamily="18" charset="0"/>
              </a:rPr>
              <a:t>Yj</a:t>
            </a:r>
            <a:r>
              <a:rPr lang="en-US" altLang="zh-TW" dirty="0">
                <a:latin typeface="Times New Roman" panose="02020603050405020304" pitchFamily="18" charset="0"/>
                <a:cs typeface="Times New Roman" panose="02020603050405020304" pitchFamily="18" charset="0"/>
              </a:rPr>
              <a:t>|, proceeding vertically </a:t>
            </a:r>
          </a:p>
          <a:p>
            <a:r>
              <a:rPr lang="en-US" altLang="zh-TW" dirty="0">
                <a:latin typeface="Times New Roman" panose="02020603050405020304" pitchFamily="18" charset="0"/>
                <a:cs typeface="Times New Roman" panose="02020603050405020304" pitchFamily="18" charset="0"/>
              </a:rPr>
              <a:t>if |Xi|&gt;|</a:t>
            </a:r>
            <a:r>
              <a:rPr lang="en-US" altLang="zh-TW" dirty="0" err="1">
                <a:latin typeface="Times New Roman" panose="02020603050405020304" pitchFamily="18" charset="0"/>
                <a:cs typeface="Times New Roman" panose="02020603050405020304" pitchFamily="18" charset="0"/>
              </a:rPr>
              <a:t>Yj</a:t>
            </a:r>
            <a:r>
              <a:rPr lang="en-US" altLang="zh-TW" dirty="0">
                <a:latin typeface="Times New Roman" panose="02020603050405020304" pitchFamily="18" charset="0"/>
                <a:cs typeface="Times New Roman" panose="02020603050405020304" pitchFamily="18" charset="0"/>
              </a:rPr>
              <a:t>|, proceeding horizontally</a:t>
            </a:r>
          </a:p>
          <a:p>
            <a:r>
              <a:rPr lang="en-US" altLang="zh-TW" dirty="0">
                <a:latin typeface="Times New Roman" panose="02020603050405020304" pitchFamily="18" charset="0"/>
                <a:cs typeface="Times New Roman" panose="02020603050405020304" pitchFamily="18" charset="0"/>
              </a:rPr>
              <a:t>until the forced path exits the corner of a block, </a:t>
            </a:r>
          </a:p>
          <a:p>
            <a:r>
              <a:rPr lang="en-US" altLang="zh-TW" dirty="0">
                <a:latin typeface="Times New Roman" panose="02020603050405020304" pitchFamily="18" charset="0"/>
                <a:cs typeface="Times New Roman" panose="02020603050405020304" pitchFamily="18" charset="0"/>
              </a:rPr>
              <a:t>or the end of one of the strings is encountered. </a:t>
            </a:r>
          </a:p>
          <a:p>
            <a:r>
              <a:rPr lang="en-US" altLang="zh-TW" dirty="0">
                <a:latin typeface="Times New Roman" panose="02020603050405020304" pitchFamily="18" charset="0"/>
                <a:cs typeface="Times New Roman" panose="02020603050405020304" pitchFamily="18" charset="0"/>
              </a:rPr>
              <a:t>M[</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j]=max(M[</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j], M[</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j]+d’)</a:t>
            </a:r>
          </a:p>
          <a:p>
            <a:endParaRPr lang="en-US"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76023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表格 24"/>
          <p:cNvGraphicFramePr>
            <a:graphicFrameLocks noGrp="1"/>
          </p:cNvGraphicFramePr>
          <p:nvPr/>
        </p:nvGraphicFramePr>
        <p:xfrm>
          <a:off x="838200" y="1682116"/>
          <a:ext cx="4876800" cy="4588192"/>
        </p:xfrm>
        <a:graphic>
          <a:graphicData uri="http://schemas.openxmlformats.org/drawingml/2006/table">
            <a:tbl>
              <a:tblPr firstRow="1" bandRow="1">
                <a:tableStyleId>{5C22544A-7EE6-4342-B048-85BDC9FD1C3A}</a:tableStyleId>
              </a:tblPr>
              <a:tblGrid>
                <a:gridCol w="975360">
                  <a:extLst>
                    <a:ext uri="{9D8B030D-6E8A-4147-A177-3AD203B41FA5}">
                      <a16:colId xmlns:a16="http://schemas.microsoft.com/office/drawing/2014/main" val="20000"/>
                    </a:ext>
                  </a:extLst>
                </a:gridCol>
                <a:gridCol w="975360">
                  <a:extLst>
                    <a:ext uri="{9D8B030D-6E8A-4147-A177-3AD203B41FA5}">
                      <a16:colId xmlns:a16="http://schemas.microsoft.com/office/drawing/2014/main" val="20001"/>
                    </a:ext>
                  </a:extLst>
                </a:gridCol>
                <a:gridCol w="975360">
                  <a:extLst>
                    <a:ext uri="{9D8B030D-6E8A-4147-A177-3AD203B41FA5}">
                      <a16:colId xmlns:a16="http://schemas.microsoft.com/office/drawing/2014/main" val="20002"/>
                    </a:ext>
                  </a:extLst>
                </a:gridCol>
                <a:gridCol w="975360">
                  <a:extLst>
                    <a:ext uri="{9D8B030D-6E8A-4147-A177-3AD203B41FA5}">
                      <a16:colId xmlns:a16="http://schemas.microsoft.com/office/drawing/2014/main" val="20003"/>
                    </a:ext>
                  </a:extLst>
                </a:gridCol>
                <a:gridCol w="975360">
                  <a:extLst>
                    <a:ext uri="{9D8B030D-6E8A-4147-A177-3AD203B41FA5}">
                      <a16:colId xmlns:a16="http://schemas.microsoft.com/office/drawing/2014/main" val="20004"/>
                    </a:ext>
                  </a:extLst>
                </a:gridCol>
              </a:tblGrid>
              <a:tr h="885092">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   </a:t>
                      </a:r>
                      <a:r>
                        <a:rPr lang="en-US" altLang="zh-TW" sz="2800" baseline="0" dirty="0">
                          <a:solidFill>
                            <a:schemeClr val="tx1"/>
                          </a:solidFill>
                          <a:latin typeface="Times New Roman" panose="02020603050405020304" pitchFamily="18" charset="0"/>
                          <a:cs typeface="Times New Roman" panose="02020603050405020304" pitchFamily="18" charset="0"/>
                        </a:rPr>
                        <a:t> </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8</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0002"/>
                  </a:ext>
                </a:extLst>
              </a:tr>
              <a:tr h="925775">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c</a:t>
                      </a:r>
                      <a:r>
                        <a:rPr lang="en-US" altLang="zh-TW" sz="2800" b="0" baseline="30000" dirty="0">
                          <a:solidFill>
                            <a:schemeClr val="tx1"/>
                          </a:solidFill>
                          <a:latin typeface="Times New Roman" panose="02020603050405020304" pitchFamily="18" charset="0"/>
                          <a:cs typeface="Times New Roman" panose="02020603050405020304" pitchFamily="18" charset="0"/>
                        </a:rPr>
                        <a:t>1</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4</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2" name="標題 1"/>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Longest Common Subsequence - Initial Algorithm</a:t>
            </a:r>
            <a:endParaRPr lang="zh-TW" altLang="en-US" sz="4000" dirty="0"/>
          </a:p>
        </p:txBody>
      </p:sp>
      <p:graphicFrame>
        <p:nvGraphicFramePr>
          <p:cNvPr id="10" name="表格 9"/>
          <p:cNvGraphicFramePr>
            <a:graphicFrameLocks noGrp="1"/>
          </p:cNvGraphicFramePr>
          <p:nvPr>
            <p:extLst>
              <p:ext uri="{D42A27DB-BD31-4B8C-83A1-F6EECF244321}">
                <p14:modId xmlns:p14="http://schemas.microsoft.com/office/powerpoint/2010/main" val="2397463420"/>
              </p:ext>
            </p:extLst>
          </p:nvPr>
        </p:nvGraphicFramePr>
        <p:xfrm>
          <a:off x="6385560" y="1696404"/>
          <a:ext cx="2585720" cy="1483360"/>
        </p:xfrm>
        <a:graphic>
          <a:graphicData uri="http://schemas.openxmlformats.org/drawingml/2006/table">
            <a:tbl>
              <a:tblPr firstRow="1" bandRow="1">
                <a:tableStyleId>{5C22544A-7EE6-4342-B048-85BDC9FD1C3A}</a:tableStyleId>
              </a:tblPr>
              <a:tblGrid>
                <a:gridCol w="646430">
                  <a:extLst>
                    <a:ext uri="{9D8B030D-6E8A-4147-A177-3AD203B41FA5}">
                      <a16:colId xmlns:a16="http://schemas.microsoft.com/office/drawing/2014/main" val="20000"/>
                    </a:ext>
                  </a:extLst>
                </a:gridCol>
                <a:gridCol w="646430">
                  <a:extLst>
                    <a:ext uri="{9D8B030D-6E8A-4147-A177-3AD203B41FA5}">
                      <a16:colId xmlns:a16="http://schemas.microsoft.com/office/drawing/2014/main" val="20001"/>
                    </a:ext>
                  </a:extLst>
                </a:gridCol>
                <a:gridCol w="646430">
                  <a:extLst>
                    <a:ext uri="{9D8B030D-6E8A-4147-A177-3AD203B41FA5}">
                      <a16:colId xmlns:a16="http://schemas.microsoft.com/office/drawing/2014/main" val="20002"/>
                    </a:ext>
                  </a:extLst>
                </a:gridCol>
                <a:gridCol w="646430">
                  <a:extLst>
                    <a:ext uri="{9D8B030D-6E8A-4147-A177-3AD203B41FA5}">
                      <a16:colId xmlns:a16="http://schemas.microsoft.com/office/drawing/2014/main" val="20003"/>
                    </a:ext>
                  </a:extLst>
                </a:gridCol>
              </a:tblGrid>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11" name="矩形 10"/>
          <p:cNvSpPr/>
          <p:nvPr/>
        </p:nvSpPr>
        <p:spPr>
          <a:xfrm>
            <a:off x="9149330" y="2810432"/>
            <a:ext cx="1326004"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Matrix of M</a:t>
            </a:r>
            <a:endParaRPr lang="zh-TW" altLang="en-US" dirty="0"/>
          </a:p>
        </p:txBody>
      </p:sp>
      <p:sp>
        <p:nvSpPr>
          <p:cNvPr id="14" name="矩形 13"/>
          <p:cNvSpPr/>
          <p:nvPr/>
        </p:nvSpPr>
        <p:spPr>
          <a:xfrm>
            <a:off x="1371171" y="1758434"/>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Y</a:t>
            </a:r>
            <a:endParaRPr lang="zh-TW" altLang="en-US" dirty="0"/>
          </a:p>
        </p:txBody>
      </p:sp>
      <p:sp>
        <p:nvSpPr>
          <p:cNvPr id="15" name="矩形 14"/>
          <p:cNvSpPr/>
          <p:nvPr/>
        </p:nvSpPr>
        <p:spPr>
          <a:xfrm>
            <a:off x="1019793" y="2195512"/>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X</a:t>
            </a:r>
            <a:endParaRPr lang="zh-TW" altLang="en-US" dirty="0"/>
          </a:p>
        </p:txBody>
      </p:sp>
      <p:cxnSp>
        <p:nvCxnSpPr>
          <p:cNvPr id="7" name="直線接點 6"/>
          <p:cNvCxnSpPr/>
          <p:nvPr/>
        </p:nvCxnSpPr>
        <p:spPr>
          <a:xfrm>
            <a:off x="1821180" y="2564844"/>
            <a:ext cx="480060" cy="9098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a:off x="2301240" y="3474720"/>
            <a:ext cx="0" cy="188976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7" name="直線接點 26"/>
          <p:cNvCxnSpPr/>
          <p:nvPr/>
        </p:nvCxnSpPr>
        <p:spPr>
          <a:xfrm>
            <a:off x="2301240" y="5364480"/>
            <a:ext cx="480060" cy="70104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3" name="直線接點 12"/>
          <p:cNvCxnSpPr/>
          <p:nvPr/>
        </p:nvCxnSpPr>
        <p:spPr>
          <a:xfrm>
            <a:off x="2792730" y="6065520"/>
            <a:ext cx="967740" cy="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a:off x="3778375" y="6065520"/>
            <a:ext cx="229745" cy="204788"/>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9" name="直線接點 18"/>
          <p:cNvCxnSpPr/>
          <p:nvPr/>
        </p:nvCxnSpPr>
        <p:spPr>
          <a:xfrm>
            <a:off x="3778375" y="2564844"/>
            <a:ext cx="374525" cy="9098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直線接點 19"/>
          <p:cNvCxnSpPr/>
          <p:nvPr/>
        </p:nvCxnSpPr>
        <p:spPr>
          <a:xfrm>
            <a:off x="4152900" y="3474720"/>
            <a:ext cx="0" cy="188976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3" name="直線接點 22"/>
          <p:cNvCxnSpPr/>
          <p:nvPr/>
        </p:nvCxnSpPr>
        <p:spPr>
          <a:xfrm>
            <a:off x="4169285" y="5364480"/>
            <a:ext cx="379854" cy="905828"/>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6385560" y="5214757"/>
            <a:ext cx="3018903" cy="923330"/>
          </a:xfrm>
          <a:prstGeom prst="rect">
            <a:avLst/>
          </a:prstGeom>
        </p:spPr>
        <p:txBody>
          <a:bodyPr wrap="square">
            <a:spAutoFit/>
          </a:bodyPr>
          <a:lstStyle/>
          <a:p>
            <a:r>
              <a:rPr lang="en-US" altLang="zh-TW" dirty="0">
                <a:latin typeface="Times New Roman" panose="02020603050405020304" pitchFamily="18" charset="0"/>
                <a:cs typeface="Times New Roman" panose="02020603050405020304" pitchFamily="18" charset="0"/>
              </a:rPr>
              <a:t>M[4, 3]=max(M[4, 3] = 7 , M[4, 1]+1 = 7), </a:t>
            </a:r>
          </a:p>
          <a:p>
            <a:endParaRPr lang="en-US" altLang="zh-TW" dirty="0">
              <a:latin typeface="Times New Roman" panose="02020603050405020304" pitchFamily="18" charset="0"/>
              <a:cs typeface="Times New Roman" panose="02020603050405020304" pitchFamily="18" charset="0"/>
            </a:endParaRPr>
          </a:p>
        </p:txBody>
      </p:sp>
      <p:sp>
        <p:nvSpPr>
          <p:cNvPr id="28" name="矩形 27"/>
          <p:cNvSpPr/>
          <p:nvPr/>
        </p:nvSpPr>
        <p:spPr>
          <a:xfrm>
            <a:off x="6385560" y="4225975"/>
            <a:ext cx="4343400" cy="646331"/>
          </a:xfrm>
          <a:prstGeom prst="rect">
            <a:avLst/>
          </a:prstGeom>
        </p:spPr>
        <p:txBody>
          <a:bodyPr wrap="square">
            <a:spAutoFit/>
          </a:bodyPr>
          <a:lstStyle/>
          <a:p>
            <a:r>
              <a:rPr lang="en-US" altLang="zh-TW" dirty="0">
                <a:latin typeface="Times New Roman" panose="02020603050405020304" pitchFamily="18" charset="0"/>
                <a:cs typeface="Times New Roman" panose="02020603050405020304" pitchFamily="18" charset="0"/>
              </a:rPr>
              <a:t>M[</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j]=max(M[</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j], M[</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j]+d’), </a:t>
            </a:r>
          </a:p>
          <a:p>
            <a:r>
              <a:rPr lang="en-US" altLang="zh-TW" dirty="0">
                <a:latin typeface="Times New Roman" panose="02020603050405020304" pitchFamily="18" charset="0"/>
                <a:cs typeface="Times New Roman" panose="02020603050405020304" pitchFamily="18" charset="0"/>
              </a:rPr>
              <a:t>where d’ is the diagonal length</a:t>
            </a:r>
          </a:p>
        </p:txBody>
      </p:sp>
    </p:spTree>
    <p:extLst>
      <p:ext uri="{BB962C8B-B14F-4D97-AF65-F5344CB8AC3E}">
        <p14:creationId xmlns:p14="http://schemas.microsoft.com/office/powerpoint/2010/main" val="3422100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表格 24"/>
          <p:cNvGraphicFramePr>
            <a:graphicFrameLocks noGrp="1"/>
          </p:cNvGraphicFramePr>
          <p:nvPr/>
        </p:nvGraphicFramePr>
        <p:xfrm>
          <a:off x="838200" y="1682116"/>
          <a:ext cx="4876800" cy="4588192"/>
        </p:xfrm>
        <a:graphic>
          <a:graphicData uri="http://schemas.openxmlformats.org/drawingml/2006/table">
            <a:tbl>
              <a:tblPr firstRow="1" bandRow="1">
                <a:tableStyleId>{5C22544A-7EE6-4342-B048-85BDC9FD1C3A}</a:tableStyleId>
              </a:tblPr>
              <a:tblGrid>
                <a:gridCol w="975360">
                  <a:extLst>
                    <a:ext uri="{9D8B030D-6E8A-4147-A177-3AD203B41FA5}">
                      <a16:colId xmlns:a16="http://schemas.microsoft.com/office/drawing/2014/main" val="20000"/>
                    </a:ext>
                  </a:extLst>
                </a:gridCol>
                <a:gridCol w="975360">
                  <a:extLst>
                    <a:ext uri="{9D8B030D-6E8A-4147-A177-3AD203B41FA5}">
                      <a16:colId xmlns:a16="http://schemas.microsoft.com/office/drawing/2014/main" val="20001"/>
                    </a:ext>
                  </a:extLst>
                </a:gridCol>
                <a:gridCol w="975360">
                  <a:extLst>
                    <a:ext uri="{9D8B030D-6E8A-4147-A177-3AD203B41FA5}">
                      <a16:colId xmlns:a16="http://schemas.microsoft.com/office/drawing/2014/main" val="20002"/>
                    </a:ext>
                  </a:extLst>
                </a:gridCol>
                <a:gridCol w="975360">
                  <a:extLst>
                    <a:ext uri="{9D8B030D-6E8A-4147-A177-3AD203B41FA5}">
                      <a16:colId xmlns:a16="http://schemas.microsoft.com/office/drawing/2014/main" val="20003"/>
                    </a:ext>
                  </a:extLst>
                </a:gridCol>
                <a:gridCol w="975360">
                  <a:extLst>
                    <a:ext uri="{9D8B030D-6E8A-4147-A177-3AD203B41FA5}">
                      <a16:colId xmlns:a16="http://schemas.microsoft.com/office/drawing/2014/main" val="20004"/>
                    </a:ext>
                  </a:extLst>
                </a:gridCol>
              </a:tblGrid>
              <a:tr h="885092">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   </a:t>
                      </a:r>
                      <a:r>
                        <a:rPr lang="en-US" altLang="zh-TW" sz="2800" baseline="0" dirty="0">
                          <a:solidFill>
                            <a:schemeClr val="tx1"/>
                          </a:solidFill>
                          <a:latin typeface="Times New Roman" panose="02020603050405020304" pitchFamily="18" charset="0"/>
                          <a:cs typeface="Times New Roman" panose="02020603050405020304" pitchFamily="18" charset="0"/>
                        </a:rPr>
                        <a:t> </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8</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0002"/>
                  </a:ext>
                </a:extLst>
              </a:tr>
              <a:tr h="925775">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c</a:t>
                      </a:r>
                      <a:r>
                        <a:rPr lang="en-US" altLang="zh-TW" sz="2800" b="0" baseline="30000" dirty="0">
                          <a:solidFill>
                            <a:schemeClr val="tx1"/>
                          </a:solidFill>
                          <a:latin typeface="Times New Roman" panose="02020603050405020304" pitchFamily="18" charset="0"/>
                          <a:cs typeface="Times New Roman" panose="02020603050405020304" pitchFamily="18" charset="0"/>
                        </a:rPr>
                        <a:t>1</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4</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2" name="標題 1"/>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Longest Common Subsequence - Initial Algorithm</a:t>
            </a:r>
            <a:endParaRPr lang="zh-TW" altLang="en-US" sz="4000" dirty="0"/>
          </a:p>
        </p:txBody>
      </p:sp>
      <p:graphicFrame>
        <p:nvGraphicFramePr>
          <p:cNvPr id="10" name="表格 9"/>
          <p:cNvGraphicFramePr>
            <a:graphicFrameLocks noGrp="1"/>
          </p:cNvGraphicFramePr>
          <p:nvPr>
            <p:extLst>
              <p:ext uri="{D42A27DB-BD31-4B8C-83A1-F6EECF244321}">
                <p14:modId xmlns:p14="http://schemas.microsoft.com/office/powerpoint/2010/main" val="270285650"/>
              </p:ext>
            </p:extLst>
          </p:nvPr>
        </p:nvGraphicFramePr>
        <p:xfrm>
          <a:off x="6385560" y="1696404"/>
          <a:ext cx="2585720" cy="1483360"/>
        </p:xfrm>
        <a:graphic>
          <a:graphicData uri="http://schemas.openxmlformats.org/drawingml/2006/table">
            <a:tbl>
              <a:tblPr firstRow="1" bandRow="1">
                <a:tableStyleId>{5C22544A-7EE6-4342-B048-85BDC9FD1C3A}</a:tableStyleId>
              </a:tblPr>
              <a:tblGrid>
                <a:gridCol w="646430">
                  <a:extLst>
                    <a:ext uri="{9D8B030D-6E8A-4147-A177-3AD203B41FA5}">
                      <a16:colId xmlns:a16="http://schemas.microsoft.com/office/drawing/2014/main" val="20000"/>
                    </a:ext>
                  </a:extLst>
                </a:gridCol>
                <a:gridCol w="646430">
                  <a:extLst>
                    <a:ext uri="{9D8B030D-6E8A-4147-A177-3AD203B41FA5}">
                      <a16:colId xmlns:a16="http://schemas.microsoft.com/office/drawing/2014/main" val="20001"/>
                    </a:ext>
                  </a:extLst>
                </a:gridCol>
                <a:gridCol w="646430">
                  <a:extLst>
                    <a:ext uri="{9D8B030D-6E8A-4147-A177-3AD203B41FA5}">
                      <a16:colId xmlns:a16="http://schemas.microsoft.com/office/drawing/2014/main" val="20002"/>
                    </a:ext>
                  </a:extLst>
                </a:gridCol>
                <a:gridCol w="646430">
                  <a:extLst>
                    <a:ext uri="{9D8B030D-6E8A-4147-A177-3AD203B41FA5}">
                      <a16:colId xmlns:a16="http://schemas.microsoft.com/office/drawing/2014/main" val="20003"/>
                    </a:ext>
                  </a:extLst>
                </a:gridCol>
              </a:tblGrid>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11" name="矩形 10"/>
          <p:cNvSpPr/>
          <p:nvPr/>
        </p:nvSpPr>
        <p:spPr>
          <a:xfrm>
            <a:off x="9149330" y="2810432"/>
            <a:ext cx="1326004"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Matrix of M</a:t>
            </a:r>
            <a:endParaRPr lang="zh-TW" altLang="en-US" dirty="0"/>
          </a:p>
        </p:txBody>
      </p:sp>
      <p:sp>
        <p:nvSpPr>
          <p:cNvPr id="14" name="矩形 13"/>
          <p:cNvSpPr/>
          <p:nvPr/>
        </p:nvSpPr>
        <p:spPr>
          <a:xfrm>
            <a:off x="1371171" y="1758434"/>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Y</a:t>
            </a:r>
            <a:endParaRPr lang="zh-TW" altLang="en-US" dirty="0"/>
          </a:p>
        </p:txBody>
      </p:sp>
      <p:sp>
        <p:nvSpPr>
          <p:cNvPr id="15" name="矩形 14"/>
          <p:cNvSpPr/>
          <p:nvPr/>
        </p:nvSpPr>
        <p:spPr>
          <a:xfrm>
            <a:off x="1019793" y="2195512"/>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X</a:t>
            </a:r>
            <a:endParaRPr lang="zh-TW" altLang="en-US" dirty="0"/>
          </a:p>
        </p:txBody>
      </p:sp>
      <p:cxnSp>
        <p:nvCxnSpPr>
          <p:cNvPr id="7" name="直線接點 6"/>
          <p:cNvCxnSpPr/>
          <p:nvPr/>
        </p:nvCxnSpPr>
        <p:spPr>
          <a:xfrm>
            <a:off x="1821180" y="2564844"/>
            <a:ext cx="480060" cy="9098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a:off x="2301240" y="3474720"/>
            <a:ext cx="0" cy="188976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7" name="直線接點 26"/>
          <p:cNvCxnSpPr/>
          <p:nvPr/>
        </p:nvCxnSpPr>
        <p:spPr>
          <a:xfrm>
            <a:off x="2301240" y="5364480"/>
            <a:ext cx="480060" cy="70104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3" name="直線接點 12"/>
          <p:cNvCxnSpPr/>
          <p:nvPr/>
        </p:nvCxnSpPr>
        <p:spPr>
          <a:xfrm>
            <a:off x="2792730" y="6065520"/>
            <a:ext cx="967740" cy="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a:off x="3778375" y="6065520"/>
            <a:ext cx="229745" cy="204788"/>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9" name="直線接點 18"/>
          <p:cNvCxnSpPr/>
          <p:nvPr/>
        </p:nvCxnSpPr>
        <p:spPr>
          <a:xfrm>
            <a:off x="3778375" y="2564844"/>
            <a:ext cx="374525" cy="9098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直線接點 19"/>
          <p:cNvCxnSpPr/>
          <p:nvPr/>
        </p:nvCxnSpPr>
        <p:spPr>
          <a:xfrm>
            <a:off x="4152900" y="3474720"/>
            <a:ext cx="0" cy="188976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3" name="直線接點 22"/>
          <p:cNvCxnSpPr/>
          <p:nvPr/>
        </p:nvCxnSpPr>
        <p:spPr>
          <a:xfrm>
            <a:off x="4169285" y="5364480"/>
            <a:ext cx="379854" cy="905828"/>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6385560" y="3369629"/>
            <a:ext cx="5471370" cy="1200329"/>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If color(</a:t>
            </a:r>
            <a:r>
              <a:rPr lang="en-US" altLang="zh-TW" dirty="0" err="1">
                <a:latin typeface="Times New Roman" panose="02020603050405020304" pitchFamily="18" charset="0"/>
                <a:cs typeface="Times New Roman" panose="02020603050405020304" pitchFamily="18" charset="0"/>
              </a:rPr>
              <a:t>i,j</a:t>
            </a:r>
            <a:r>
              <a:rPr lang="en-US" altLang="zh-TW" dirty="0">
                <a:latin typeface="Times New Roman" panose="02020603050405020304" pitchFamily="18" charset="0"/>
                <a:cs typeface="Times New Roman" panose="02020603050405020304" pitchFamily="18" charset="0"/>
              </a:rPr>
              <a:t>) is dark</a:t>
            </a:r>
          </a:p>
          <a:p>
            <a:r>
              <a:rPr lang="en-US" altLang="zh-TW" dirty="0">
                <a:latin typeface="Times New Roman" panose="02020603050405020304" pitchFamily="18" charset="0"/>
                <a:cs typeface="Times New Roman" panose="02020603050405020304" pitchFamily="18" charset="0"/>
              </a:rPr>
              <a:t>    d=min(|Xi|, |</a:t>
            </a:r>
            <a:r>
              <a:rPr lang="en-US" altLang="zh-TW" dirty="0" err="1">
                <a:latin typeface="Times New Roman" panose="02020603050405020304" pitchFamily="18" charset="0"/>
                <a:cs typeface="Times New Roman" panose="02020603050405020304" pitchFamily="18" charset="0"/>
              </a:rPr>
              <a:t>Yj</a:t>
            </a:r>
            <a:r>
              <a:rPr lang="en-US" altLang="zh-TW" dirty="0">
                <a:latin typeface="Times New Roman" panose="02020603050405020304" pitchFamily="18" charset="0"/>
                <a:cs typeface="Times New Roman" panose="02020603050405020304" pitchFamily="18" charset="0"/>
              </a:rPr>
              <a:t>|)</a:t>
            </a:r>
          </a:p>
          <a:p>
            <a:r>
              <a:rPr lang="en-US" altLang="zh-TW" dirty="0">
                <a:latin typeface="Times New Roman" panose="02020603050405020304" pitchFamily="18" charset="0"/>
                <a:cs typeface="Times New Roman" panose="02020603050405020304" pitchFamily="18" charset="0"/>
              </a:rPr>
              <a:t>    </a:t>
            </a:r>
            <a:r>
              <a:rPr lang="pl-PL" altLang="zh-TW" dirty="0">
                <a:latin typeface="Times New Roman" panose="02020603050405020304" pitchFamily="18" charset="0"/>
                <a:cs typeface="Times New Roman" panose="02020603050405020304" pitchFamily="18" charset="0"/>
              </a:rPr>
              <a:t>M[i, j]=max(M[i</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 j</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1]+d, M[i, j], M[i</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 j], M[i, j</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ForcedPathUpdate</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j, M) </a:t>
            </a:r>
            <a:r>
              <a:rPr lang="pl-PL" altLang="zh-TW" dirty="0">
                <a:latin typeface="Times New Roman" panose="02020603050405020304" pitchFamily="18" charset="0"/>
                <a:cs typeface="Times New Roman" panose="02020603050405020304" pitchFamily="18" charset="0"/>
              </a:rPr>
              <a:t> </a:t>
            </a:r>
            <a:endParaRPr lang="zh-TW" altLang="en-US" dirty="0">
              <a:latin typeface="Times New Roman" panose="02020603050405020304" pitchFamily="18" charset="0"/>
              <a:cs typeface="Times New Roman" panose="02020603050405020304" pitchFamily="18" charset="0"/>
            </a:endParaRPr>
          </a:p>
        </p:txBody>
      </p:sp>
      <p:sp>
        <p:nvSpPr>
          <p:cNvPr id="22" name="矩形 21"/>
          <p:cNvSpPr/>
          <p:nvPr/>
        </p:nvSpPr>
        <p:spPr>
          <a:xfrm>
            <a:off x="6690360" y="3698558"/>
            <a:ext cx="5044440" cy="54578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 name="直線單箭頭接點 3"/>
          <p:cNvCxnSpPr>
            <a:endCxn id="21" idx="1"/>
          </p:cNvCxnSpPr>
          <p:nvPr/>
        </p:nvCxnSpPr>
        <p:spPr>
          <a:xfrm>
            <a:off x="3238500" y="3947160"/>
            <a:ext cx="3147060" cy="2263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66470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表格 24"/>
          <p:cNvGraphicFramePr>
            <a:graphicFrameLocks noGrp="1"/>
          </p:cNvGraphicFramePr>
          <p:nvPr/>
        </p:nvGraphicFramePr>
        <p:xfrm>
          <a:off x="838200" y="1682116"/>
          <a:ext cx="4876800" cy="4588192"/>
        </p:xfrm>
        <a:graphic>
          <a:graphicData uri="http://schemas.openxmlformats.org/drawingml/2006/table">
            <a:tbl>
              <a:tblPr firstRow="1" bandRow="1">
                <a:tableStyleId>{5C22544A-7EE6-4342-B048-85BDC9FD1C3A}</a:tableStyleId>
              </a:tblPr>
              <a:tblGrid>
                <a:gridCol w="975360">
                  <a:extLst>
                    <a:ext uri="{9D8B030D-6E8A-4147-A177-3AD203B41FA5}">
                      <a16:colId xmlns:a16="http://schemas.microsoft.com/office/drawing/2014/main" val="20000"/>
                    </a:ext>
                  </a:extLst>
                </a:gridCol>
                <a:gridCol w="975360">
                  <a:extLst>
                    <a:ext uri="{9D8B030D-6E8A-4147-A177-3AD203B41FA5}">
                      <a16:colId xmlns:a16="http://schemas.microsoft.com/office/drawing/2014/main" val="20001"/>
                    </a:ext>
                  </a:extLst>
                </a:gridCol>
                <a:gridCol w="975360">
                  <a:extLst>
                    <a:ext uri="{9D8B030D-6E8A-4147-A177-3AD203B41FA5}">
                      <a16:colId xmlns:a16="http://schemas.microsoft.com/office/drawing/2014/main" val="20002"/>
                    </a:ext>
                  </a:extLst>
                </a:gridCol>
                <a:gridCol w="975360">
                  <a:extLst>
                    <a:ext uri="{9D8B030D-6E8A-4147-A177-3AD203B41FA5}">
                      <a16:colId xmlns:a16="http://schemas.microsoft.com/office/drawing/2014/main" val="20003"/>
                    </a:ext>
                  </a:extLst>
                </a:gridCol>
                <a:gridCol w="975360">
                  <a:extLst>
                    <a:ext uri="{9D8B030D-6E8A-4147-A177-3AD203B41FA5}">
                      <a16:colId xmlns:a16="http://schemas.microsoft.com/office/drawing/2014/main" val="20004"/>
                    </a:ext>
                  </a:extLst>
                </a:gridCol>
              </a:tblGrid>
              <a:tr h="885092">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   </a:t>
                      </a:r>
                      <a:r>
                        <a:rPr lang="en-US" altLang="zh-TW" sz="2800" baseline="0" dirty="0">
                          <a:solidFill>
                            <a:schemeClr val="tx1"/>
                          </a:solidFill>
                          <a:latin typeface="Times New Roman" panose="02020603050405020304" pitchFamily="18" charset="0"/>
                          <a:cs typeface="Times New Roman" panose="02020603050405020304" pitchFamily="18" charset="0"/>
                        </a:rPr>
                        <a:t> </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8</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0002"/>
                  </a:ext>
                </a:extLst>
              </a:tr>
              <a:tr h="925775">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c</a:t>
                      </a:r>
                      <a:r>
                        <a:rPr lang="en-US" altLang="zh-TW" sz="2800" b="0" baseline="30000" dirty="0">
                          <a:solidFill>
                            <a:schemeClr val="tx1"/>
                          </a:solidFill>
                          <a:latin typeface="Times New Roman" panose="02020603050405020304" pitchFamily="18" charset="0"/>
                          <a:cs typeface="Times New Roman" panose="02020603050405020304" pitchFamily="18" charset="0"/>
                        </a:rPr>
                        <a:t>1</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4</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2" name="標題 1"/>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Longest Common Subsequence - Initial Algorithm</a:t>
            </a:r>
            <a:endParaRPr lang="zh-TW" altLang="en-US" sz="4000" dirty="0"/>
          </a:p>
        </p:txBody>
      </p:sp>
      <p:graphicFrame>
        <p:nvGraphicFramePr>
          <p:cNvPr id="10" name="表格 9"/>
          <p:cNvGraphicFramePr>
            <a:graphicFrameLocks noGrp="1"/>
          </p:cNvGraphicFramePr>
          <p:nvPr>
            <p:extLst>
              <p:ext uri="{D42A27DB-BD31-4B8C-83A1-F6EECF244321}">
                <p14:modId xmlns:p14="http://schemas.microsoft.com/office/powerpoint/2010/main" val="1211182654"/>
              </p:ext>
            </p:extLst>
          </p:nvPr>
        </p:nvGraphicFramePr>
        <p:xfrm>
          <a:off x="6385560" y="1696404"/>
          <a:ext cx="2585720" cy="1483360"/>
        </p:xfrm>
        <a:graphic>
          <a:graphicData uri="http://schemas.openxmlformats.org/drawingml/2006/table">
            <a:tbl>
              <a:tblPr firstRow="1" bandRow="1">
                <a:tableStyleId>{5C22544A-7EE6-4342-B048-85BDC9FD1C3A}</a:tableStyleId>
              </a:tblPr>
              <a:tblGrid>
                <a:gridCol w="646430">
                  <a:extLst>
                    <a:ext uri="{9D8B030D-6E8A-4147-A177-3AD203B41FA5}">
                      <a16:colId xmlns:a16="http://schemas.microsoft.com/office/drawing/2014/main" val="20000"/>
                    </a:ext>
                  </a:extLst>
                </a:gridCol>
                <a:gridCol w="646430">
                  <a:extLst>
                    <a:ext uri="{9D8B030D-6E8A-4147-A177-3AD203B41FA5}">
                      <a16:colId xmlns:a16="http://schemas.microsoft.com/office/drawing/2014/main" val="20001"/>
                    </a:ext>
                  </a:extLst>
                </a:gridCol>
                <a:gridCol w="646430">
                  <a:extLst>
                    <a:ext uri="{9D8B030D-6E8A-4147-A177-3AD203B41FA5}">
                      <a16:colId xmlns:a16="http://schemas.microsoft.com/office/drawing/2014/main" val="20002"/>
                    </a:ext>
                  </a:extLst>
                </a:gridCol>
                <a:gridCol w="646430">
                  <a:extLst>
                    <a:ext uri="{9D8B030D-6E8A-4147-A177-3AD203B41FA5}">
                      <a16:colId xmlns:a16="http://schemas.microsoft.com/office/drawing/2014/main" val="20003"/>
                    </a:ext>
                  </a:extLst>
                </a:gridCol>
              </a:tblGrid>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11" name="矩形 10"/>
          <p:cNvSpPr/>
          <p:nvPr/>
        </p:nvSpPr>
        <p:spPr>
          <a:xfrm>
            <a:off x="9149330" y="2810432"/>
            <a:ext cx="1326004"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Matrix of M</a:t>
            </a:r>
            <a:endParaRPr lang="zh-TW" altLang="en-US" dirty="0"/>
          </a:p>
        </p:txBody>
      </p:sp>
      <p:sp>
        <p:nvSpPr>
          <p:cNvPr id="14" name="矩形 13"/>
          <p:cNvSpPr/>
          <p:nvPr/>
        </p:nvSpPr>
        <p:spPr>
          <a:xfrm>
            <a:off x="1371171" y="1758434"/>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Y</a:t>
            </a:r>
            <a:endParaRPr lang="zh-TW" altLang="en-US" dirty="0"/>
          </a:p>
        </p:txBody>
      </p:sp>
      <p:sp>
        <p:nvSpPr>
          <p:cNvPr id="15" name="矩形 14"/>
          <p:cNvSpPr/>
          <p:nvPr/>
        </p:nvSpPr>
        <p:spPr>
          <a:xfrm>
            <a:off x="1019793" y="2195512"/>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X</a:t>
            </a:r>
            <a:endParaRPr lang="zh-TW" altLang="en-US" dirty="0"/>
          </a:p>
        </p:txBody>
      </p:sp>
      <p:cxnSp>
        <p:nvCxnSpPr>
          <p:cNvPr id="7" name="直線接點 6"/>
          <p:cNvCxnSpPr/>
          <p:nvPr/>
        </p:nvCxnSpPr>
        <p:spPr>
          <a:xfrm>
            <a:off x="1821180" y="2564844"/>
            <a:ext cx="480060" cy="9098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a:off x="2301240" y="3474720"/>
            <a:ext cx="0" cy="188976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7" name="直線接點 26"/>
          <p:cNvCxnSpPr/>
          <p:nvPr/>
        </p:nvCxnSpPr>
        <p:spPr>
          <a:xfrm>
            <a:off x="2301240" y="5364480"/>
            <a:ext cx="480060" cy="70104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3" name="直線接點 12"/>
          <p:cNvCxnSpPr/>
          <p:nvPr/>
        </p:nvCxnSpPr>
        <p:spPr>
          <a:xfrm>
            <a:off x="2792730" y="6065520"/>
            <a:ext cx="967740" cy="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a:off x="3778375" y="6065520"/>
            <a:ext cx="229745" cy="204788"/>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9" name="直線接點 18"/>
          <p:cNvCxnSpPr/>
          <p:nvPr/>
        </p:nvCxnSpPr>
        <p:spPr>
          <a:xfrm>
            <a:off x="3778375" y="2564844"/>
            <a:ext cx="374525" cy="9098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直線接點 19"/>
          <p:cNvCxnSpPr/>
          <p:nvPr/>
        </p:nvCxnSpPr>
        <p:spPr>
          <a:xfrm>
            <a:off x="4152900" y="3474720"/>
            <a:ext cx="0" cy="188976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3" name="直線接點 22"/>
          <p:cNvCxnSpPr/>
          <p:nvPr/>
        </p:nvCxnSpPr>
        <p:spPr>
          <a:xfrm>
            <a:off x="4169285" y="5364480"/>
            <a:ext cx="379854" cy="905828"/>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6385560" y="3369629"/>
            <a:ext cx="5471370" cy="1200329"/>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If color(</a:t>
            </a:r>
            <a:r>
              <a:rPr lang="en-US" altLang="zh-TW" dirty="0" err="1">
                <a:latin typeface="Times New Roman" panose="02020603050405020304" pitchFamily="18" charset="0"/>
                <a:cs typeface="Times New Roman" panose="02020603050405020304" pitchFamily="18" charset="0"/>
              </a:rPr>
              <a:t>i,j</a:t>
            </a:r>
            <a:r>
              <a:rPr lang="en-US" altLang="zh-TW" dirty="0">
                <a:latin typeface="Times New Roman" panose="02020603050405020304" pitchFamily="18" charset="0"/>
                <a:cs typeface="Times New Roman" panose="02020603050405020304" pitchFamily="18" charset="0"/>
              </a:rPr>
              <a:t>) is dark</a:t>
            </a:r>
          </a:p>
          <a:p>
            <a:r>
              <a:rPr lang="en-US" altLang="zh-TW" dirty="0">
                <a:latin typeface="Times New Roman" panose="02020603050405020304" pitchFamily="18" charset="0"/>
                <a:cs typeface="Times New Roman" panose="02020603050405020304" pitchFamily="18" charset="0"/>
              </a:rPr>
              <a:t>    d=min(|Xi|, |</a:t>
            </a:r>
            <a:r>
              <a:rPr lang="en-US" altLang="zh-TW" dirty="0" err="1">
                <a:latin typeface="Times New Roman" panose="02020603050405020304" pitchFamily="18" charset="0"/>
                <a:cs typeface="Times New Roman" panose="02020603050405020304" pitchFamily="18" charset="0"/>
              </a:rPr>
              <a:t>Yj</a:t>
            </a:r>
            <a:r>
              <a:rPr lang="en-US" altLang="zh-TW" dirty="0">
                <a:latin typeface="Times New Roman" panose="02020603050405020304" pitchFamily="18" charset="0"/>
                <a:cs typeface="Times New Roman" panose="02020603050405020304" pitchFamily="18" charset="0"/>
              </a:rPr>
              <a:t>|)</a:t>
            </a:r>
          </a:p>
          <a:p>
            <a:r>
              <a:rPr lang="en-US" altLang="zh-TW" dirty="0">
                <a:latin typeface="Times New Roman" panose="02020603050405020304" pitchFamily="18" charset="0"/>
                <a:cs typeface="Times New Roman" panose="02020603050405020304" pitchFamily="18" charset="0"/>
              </a:rPr>
              <a:t>    </a:t>
            </a:r>
            <a:r>
              <a:rPr lang="pl-PL" altLang="zh-TW" dirty="0">
                <a:latin typeface="Times New Roman" panose="02020603050405020304" pitchFamily="18" charset="0"/>
                <a:cs typeface="Times New Roman" panose="02020603050405020304" pitchFamily="18" charset="0"/>
              </a:rPr>
              <a:t>M[i, j]=max(M[i</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 j</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1]+d, M[i, j], M[i</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 j], M[i, j</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ForcedPathUpdate</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j, M) </a:t>
            </a:r>
            <a:r>
              <a:rPr lang="pl-PL" altLang="zh-TW" dirty="0">
                <a:latin typeface="Times New Roman" panose="02020603050405020304" pitchFamily="18" charset="0"/>
                <a:cs typeface="Times New Roman" panose="02020603050405020304" pitchFamily="18" charset="0"/>
              </a:rPr>
              <a:t> </a:t>
            </a:r>
            <a:endParaRPr lang="zh-TW" altLang="en-US" dirty="0">
              <a:latin typeface="Times New Roman" panose="02020603050405020304" pitchFamily="18" charset="0"/>
              <a:cs typeface="Times New Roman" panose="02020603050405020304" pitchFamily="18" charset="0"/>
            </a:endParaRPr>
          </a:p>
        </p:txBody>
      </p:sp>
      <p:sp>
        <p:nvSpPr>
          <p:cNvPr id="22" name="矩形 21"/>
          <p:cNvSpPr/>
          <p:nvPr/>
        </p:nvSpPr>
        <p:spPr>
          <a:xfrm>
            <a:off x="6690360" y="3698558"/>
            <a:ext cx="5044440" cy="54578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9680035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表格 24"/>
          <p:cNvGraphicFramePr>
            <a:graphicFrameLocks noGrp="1"/>
          </p:cNvGraphicFramePr>
          <p:nvPr/>
        </p:nvGraphicFramePr>
        <p:xfrm>
          <a:off x="838200" y="1682116"/>
          <a:ext cx="4876800" cy="4588192"/>
        </p:xfrm>
        <a:graphic>
          <a:graphicData uri="http://schemas.openxmlformats.org/drawingml/2006/table">
            <a:tbl>
              <a:tblPr firstRow="1" bandRow="1">
                <a:tableStyleId>{5C22544A-7EE6-4342-B048-85BDC9FD1C3A}</a:tableStyleId>
              </a:tblPr>
              <a:tblGrid>
                <a:gridCol w="975360">
                  <a:extLst>
                    <a:ext uri="{9D8B030D-6E8A-4147-A177-3AD203B41FA5}">
                      <a16:colId xmlns:a16="http://schemas.microsoft.com/office/drawing/2014/main" val="20000"/>
                    </a:ext>
                  </a:extLst>
                </a:gridCol>
                <a:gridCol w="975360">
                  <a:extLst>
                    <a:ext uri="{9D8B030D-6E8A-4147-A177-3AD203B41FA5}">
                      <a16:colId xmlns:a16="http://schemas.microsoft.com/office/drawing/2014/main" val="20001"/>
                    </a:ext>
                  </a:extLst>
                </a:gridCol>
                <a:gridCol w="975360">
                  <a:extLst>
                    <a:ext uri="{9D8B030D-6E8A-4147-A177-3AD203B41FA5}">
                      <a16:colId xmlns:a16="http://schemas.microsoft.com/office/drawing/2014/main" val="20002"/>
                    </a:ext>
                  </a:extLst>
                </a:gridCol>
                <a:gridCol w="975360">
                  <a:extLst>
                    <a:ext uri="{9D8B030D-6E8A-4147-A177-3AD203B41FA5}">
                      <a16:colId xmlns:a16="http://schemas.microsoft.com/office/drawing/2014/main" val="20003"/>
                    </a:ext>
                  </a:extLst>
                </a:gridCol>
                <a:gridCol w="975360">
                  <a:extLst>
                    <a:ext uri="{9D8B030D-6E8A-4147-A177-3AD203B41FA5}">
                      <a16:colId xmlns:a16="http://schemas.microsoft.com/office/drawing/2014/main" val="20004"/>
                    </a:ext>
                  </a:extLst>
                </a:gridCol>
              </a:tblGrid>
              <a:tr h="885092">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   </a:t>
                      </a:r>
                      <a:r>
                        <a:rPr lang="en-US" altLang="zh-TW" sz="2800" baseline="0" dirty="0">
                          <a:solidFill>
                            <a:schemeClr val="tx1"/>
                          </a:solidFill>
                          <a:latin typeface="Times New Roman" panose="02020603050405020304" pitchFamily="18" charset="0"/>
                          <a:cs typeface="Times New Roman" panose="02020603050405020304" pitchFamily="18" charset="0"/>
                        </a:rPr>
                        <a:t> </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8</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0002"/>
                  </a:ext>
                </a:extLst>
              </a:tr>
              <a:tr h="925775">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c</a:t>
                      </a:r>
                      <a:r>
                        <a:rPr lang="en-US" altLang="zh-TW" sz="2800" b="0" baseline="30000" dirty="0">
                          <a:solidFill>
                            <a:schemeClr val="tx1"/>
                          </a:solidFill>
                          <a:latin typeface="Times New Roman" panose="02020603050405020304" pitchFamily="18" charset="0"/>
                          <a:cs typeface="Times New Roman" panose="02020603050405020304" pitchFamily="18" charset="0"/>
                        </a:rPr>
                        <a:t>1</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4</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2" name="標題 1"/>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Longest Common Subsequence - Initial Algorithm</a:t>
            </a:r>
            <a:endParaRPr lang="zh-TW" altLang="en-US" sz="4000" dirty="0"/>
          </a:p>
        </p:txBody>
      </p:sp>
      <p:graphicFrame>
        <p:nvGraphicFramePr>
          <p:cNvPr id="10" name="表格 9"/>
          <p:cNvGraphicFramePr>
            <a:graphicFrameLocks noGrp="1"/>
          </p:cNvGraphicFramePr>
          <p:nvPr>
            <p:extLst>
              <p:ext uri="{D42A27DB-BD31-4B8C-83A1-F6EECF244321}">
                <p14:modId xmlns:p14="http://schemas.microsoft.com/office/powerpoint/2010/main" val="1282420777"/>
              </p:ext>
            </p:extLst>
          </p:nvPr>
        </p:nvGraphicFramePr>
        <p:xfrm>
          <a:off x="6385560" y="1696404"/>
          <a:ext cx="2585720" cy="1483360"/>
        </p:xfrm>
        <a:graphic>
          <a:graphicData uri="http://schemas.openxmlformats.org/drawingml/2006/table">
            <a:tbl>
              <a:tblPr firstRow="1" bandRow="1">
                <a:tableStyleId>{5C22544A-7EE6-4342-B048-85BDC9FD1C3A}</a:tableStyleId>
              </a:tblPr>
              <a:tblGrid>
                <a:gridCol w="646430">
                  <a:extLst>
                    <a:ext uri="{9D8B030D-6E8A-4147-A177-3AD203B41FA5}">
                      <a16:colId xmlns:a16="http://schemas.microsoft.com/office/drawing/2014/main" val="20000"/>
                    </a:ext>
                  </a:extLst>
                </a:gridCol>
                <a:gridCol w="646430">
                  <a:extLst>
                    <a:ext uri="{9D8B030D-6E8A-4147-A177-3AD203B41FA5}">
                      <a16:colId xmlns:a16="http://schemas.microsoft.com/office/drawing/2014/main" val="20001"/>
                    </a:ext>
                  </a:extLst>
                </a:gridCol>
                <a:gridCol w="646430">
                  <a:extLst>
                    <a:ext uri="{9D8B030D-6E8A-4147-A177-3AD203B41FA5}">
                      <a16:colId xmlns:a16="http://schemas.microsoft.com/office/drawing/2014/main" val="20002"/>
                    </a:ext>
                  </a:extLst>
                </a:gridCol>
                <a:gridCol w="646430">
                  <a:extLst>
                    <a:ext uri="{9D8B030D-6E8A-4147-A177-3AD203B41FA5}">
                      <a16:colId xmlns:a16="http://schemas.microsoft.com/office/drawing/2014/main" val="20003"/>
                    </a:ext>
                  </a:extLst>
                </a:gridCol>
              </a:tblGrid>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1"/>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11" name="矩形 10"/>
          <p:cNvSpPr/>
          <p:nvPr/>
        </p:nvSpPr>
        <p:spPr>
          <a:xfrm>
            <a:off x="9149330" y="2810432"/>
            <a:ext cx="1326004"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Matrix of M</a:t>
            </a:r>
            <a:endParaRPr lang="zh-TW" altLang="en-US" dirty="0"/>
          </a:p>
        </p:txBody>
      </p:sp>
      <p:sp>
        <p:nvSpPr>
          <p:cNvPr id="14" name="矩形 13"/>
          <p:cNvSpPr/>
          <p:nvPr/>
        </p:nvSpPr>
        <p:spPr>
          <a:xfrm>
            <a:off x="1371171" y="1758434"/>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Y</a:t>
            </a:r>
            <a:endParaRPr lang="zh-TW" altLang="en-US" dirty="0"/>
          </a:p>
        </p:txBody>
      </p:sp>
      <p:sp>
        <p:nvSpPr>
          <p:cNvPr id="15" name="矩形 14"/>
          <p:cNvSpPr/>
          <p:nvPr/>
        </p:nvSpPr>
        <p:spPr>
          <a:xfrm>
            <a:off x="1019793" y="2195512"/>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X</a:t>
            </a:r>
            <a:endParaRPr lang="zh-TW" altLang="en-US" dirty="0"/>
          </a:p>
        </p:txBody>
      </p:sp>
      <p:cxnSp>
        <p:nvCxnSpPr>
          <p:cNvPr id="7" name="直線接點 6"/>
          <p:cNvCxnSpPr/>
          <p:nvPr/>
        </p:nvCxnSpPr>
        <p:spPr>
          <a:xfrm>
            <a:off x="1821180" y="2564844"/>
            <a:ext cx="480060" cy="9098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a:off x="2301240" y="3474720"/>
            <a:ext cx="0" cy="188976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7" name="直線接點 26"/>
          <p:cNvCxnSpPr/>
          <p:nvPr/>
        </p:nvCxnSpPr>
        <p:spPr>
          <a:xfrm>
            <a:off x="2301240" y="5364480"/>
            <a:ext cx="480060" cy="70104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3" name="直線接點 12"/>
          <p:cNvCxnSpPr/>
          <p:nvPr/>
        </p:nvCxnSpPr>
        <p:spPr>
          <a:xfrm>
            <a:off x="2792730" y="6065520"/>
            <a:ext cx="967740" cy="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a:off x="3778375" y="6065520"/>
            <a:ext cx="229745" cy="204788"/>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9" name="直線接點 18"/>
          <p:cNvCxnSpPr/>
          <p:nvPr/>
        </p:nvCxnSpPr>
        <p:spPr>
          <a:xfrm>
            <a:off x="3778375" y="2564844"/>
            <a:ext cx="374525" cy="9098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直線接點 19"/>
          <p:cNvCxnSpPr/>
          <p:nvPr/>
        </p:nvCxnSpPr>
        <p:spPr>
          <a:xfrm>
            <a:off x="4152900" y="3474720"/>
            <a:ext cx="0" cy="188976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3" name="直線接點 22"/>
          <p:cNvCxnSpPr/>
          <p:nvPr/>
        </p:nvCxnSpPr>
        <p:spPr>
          <a:xfrm>
            <a:off x="4169285" y="5364480"/>
            <a:ext cx="379854" cy="905828"/>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6385560" y="3369629"/>
            <a:ext cx="5471370" cy="1200329"/>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If color(</a:t>
            </a:r>
            <a:r>
              <a:rPr lang="en-US" altLang="zh-TW" dirty="0" err="1">
                <a:latin typeface="Times New Roman" panose="02020603050405020304" pitchFamily="18" charset="0"/>
                <a:cs typeface="Times New Roman" panose="02020603050405020304" pitchFamily="18" charset="0"/>
              </a:rPr>
              <a:t>i,j</a:t>
            </a:r>
            <a:r>
              <a:rPr lang="en-US" altLang="zh-TW" dirty="0">
                <a:latin typeface="Times New Roman" panose="02020603050405020304" pitchFamily="18" charset="0"/>
                <a:cs typeface="Times New Roman" panose="02020603050405020304" pitchFamily="18" charset="0"/>
              </a:rPr>
              <a:t>) is dark</a:t>
            </a:r>
          </a:p>
          <a:p>
            <a:r>
              <a:rPr lang="en-US" altLang="zh-TW" dirty="0">
                <a:latin typeface="Times New Roman" panose="02020603050405020304" pitchFamily="18" charset="0"/>
                <a:cs typeface="Times New Roman" panose="02020603050405020304" pitchFamily="18" charset="0"/>
              </a:rPr>
              <a:t>    d=min(|Xi|, |</a:t>
            </a:r>
            <a:r>
              <a:rPr lang="en-US" altLang="zh-TW" dirty="0" err="1">
                <a:latin typeface="Times New Roman" panose="02020603050405020304" pitchFamily="18" charset="0"/>
                <a:cs typeface="Times New Roman" panose="02020603050405020304" pitchFamily="18" charset="0"/>
              </a:rPr>
              <a:t>Yj</a:t>
            </a:r>
            <a:r>
              <a:rPr lang="en-US" altLang="zh-TW" dirty="0">
                <a:latin typeface="Times New Roman" panose="02020603050405020304" pitchFamily="18" charset="0"/>
                <a:cs typeface="Times New Roman" panose="02020603050405020304" pitchFamily="18" charset="0"/>
              </a:rPr>
              <a:t>|)</a:t>
            </a:r>
          </a:p>
          <a:p>
            <a:r>
              <a:rPr lang="en-US" altLang="zh-TW" dirty="0">
                <a:latin typeface="Times New Roman" panose="02020603050405020304" pitchFamily="18" charset="0"/>
                <a:cs typeface="Times New Roman" panose="02020603050405020304" pitchFamily="18" charset="0"/>
              </a:rPr>
              <a:t>    </a:t>
            </a:r>
            <a:r>
              <a:rPr lang="pl-PL" altLang="zh-TW" dirty="0">
                <a:latin typeface="Times New Roman" panose="02020603050405020304" pitchFamily="18" charset="0"/>
                <a:cs typeface="Times New Roman" panose="02020603050405020304" pitchFamily="18" charset="0"/>
              </a:rPr>
              <a:t>M[i, j]=max(M[i</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 j</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1]+d, M[i, j], M[i</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 j], M[i, j</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ForcedPathUpdate</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j, M) </a:t>
            </a:r>
            <a:r>
              <a:rPr lang="pl-PL" altLang="zh-TW" dirty="0">
                <a:latin typeface="Times New Roman" panose="02020603050405020304" pitchFamily="18" charset="0"/>
                <a:cs typeface="Times New Roman" panose="02020603050405020304" pitchFamily="18" charset="0"/>
              </a:rPr>
              <a:t> </a:t>
            </a:r>
            <a:endParaRPr lang="zh-TW" altLang="en-US" dirty="0">
              <a:latin typeface="Times New Roman" panose="02020603050405020304" pitchFamily="18" charset="0"/>
              <a:cs typeface="Times New Roman" panose="02020603050405020304" pitchFamily="18" charset="0"/>
            </a:endParaRPr>
          </a:p>
        </p:txBody>
      </p:sp>
      <p:sp>
        <p:nvSpPr>
          <p:cNvPr id="26" name="矩形 25"/>
          <p:cNvSpPr/>
          <p:nvPr/>
        </p:nvSpPr>
        <p:spPr>
          <a:xfrm>
            <a:off x="6697980" y="4236901"/>
            <a:ext cx="2451350" cy="33305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8" name="直線接點 27"/>
          <p:cNvCxnSpPr/>
          <p:nvPr/>
        </p:nvCxnSpPr>
        <p:spPr>
          <a:xfrm>
            <a:off x="3778375" y="3983832"/>
            <a:ext cx="965075" cy="762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9" name="直線接點 28"/>
          <p:cNvCxnSpPr/>
          <p:nvPr/>
        </p:nvCxnSpPr>
        <p:spPr>
          <a:xfrm>
            <a:off x="2796540" y="3489960"/>
            <a:ext cx="963930" cy="50149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 name="直線接點 30"/>
          <p:cNvCxnSpPr/>
          <p:nvPr/>
        </p:nvCxnSpPr>
        <p:spPr>
          <a:xfrm>
            <a:off x="4761355" y="3983832"/>
            <a:ext cx="987363" cy="431027"/>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37135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表格 24"/>
          <p:cNvGraphicFramePr>
            <a:graphicFrameLocks noGrp="1"/>
          </p:cNvGraphicFramePr>
          <p:nvPr/>
        </p:nvGraphicFramePr>
        <p:xfrm>
          <a:off x="838200" y="1682116"/>
          <a:ext cx="4876800" cy="4588192"/>
        </p:xfrm>
        <a:graphic>
          <a:graphicData uri="http://schemas.openxmlformats.org/drawingml/2006/table">
            <a:tbl>
              <a:tblPr firstRow="1" bandRow="1">
                <a:tableStyleId>{5C22544A-7EE6-4342-B048-85BDC9FD1C3A}</a:tableStyleId>
              </a:tblPr>
              <a:tblGrid>
                <a:gridCol w="975360">
                  <a:extLst>
                    <a:ext uri="{9D8B030D-6E8A-4147-A177-3AD203B41FA5}">
                      <a16:colId xmlns:a16="http://schemas.microsoft.com/office/drawing/2014/main" val="20000"/>
                    </a:ext>
                  </a:extLst>
                </a:gridCol>
                <a:gridCol w="975360">
                  <a:extLst>
                    <a:ext uri="{9D8B030D-6E8A-4147-A177-3AD203B41FA5}">
                      <a16:colId xmlns:a16="http://schemas.microsoft.com/office/drawing/2014/main" val="20001"/>
                    </a:ext>
                  </a:extLst>
                </a:gridCol>
                <a:gridCol w="975360">
                  <a:extLst>
                    <a:ext uri="{9D8B030D-6E8A-4147-A177-3AD203B41FA5}">
                      <a16:colId xmlns:a16="http://schemas.microsoft.com/office/drawing/2014/main" val="20002"/>
                    </a:ext>
                  </a:extLst>
                </a:gridCol>
                <a:gridCol w="975360">
                  <a:extLst>
                    <a:ext uri="{9D8B030D-6E8A-4147-A177-3AD203B41FA5}">
                      <a16:colId xmlns:a16="http://schemas.microsoft.com/office/drawing/2014/main" val="20003"/>
                    </a:ext>
                  </a:extLst>
                </a:gridCol>
                <a:gridCol w="975360">
                  <a:extLst>
                    <a:ext uri="{9D8B030D-6E8A-4147-A177-3AD203B41FA5}">
                      <a16:colId xmlns:a16="http://schemas.microsoft.com/office/drawing/2014/main" val="20004"/>
                    </a:ext>
                  </a:extLst>
                </a:gridCol>
              </a:tblGrid>
              <a:tr h="885092">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   </a:t>
                      </a:r>
                      <a:r>
                        <a:rPr lang="en-US" altLang="zh-TW" sz="2800" baseline="0" dirty="0">
                          <a:solidFill>
                            <a:schemeClr val="tx1"/>
                          </a:solidFill>
                          <a:latin typeface="Times New Roman" panose="02020603050405020304" pitchFamily="18" charset="0"/>
                          <a:cs typeface="Times New Roman" panose="02020603050405020304" pitchFamily="18" charset="0"/>
                        </a:rPr>
                        <a:t> </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8</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0002"/>
                  </a:ext>
                </a:extLst>
              </a:tr>
              <a:tr h="925775">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c</a:t>
                      </a:r>
                      <a:r>
                        <a:rPr lang="en-US" altLang="zh-TW" sz="2800" b="0" baseline="30000" dirty="0">
                          <a:solidFill>
                            <a:schemeClr val="tx1"/>
                          </a:solidFill>
                          <a:latin typeface="Times New Roman" panose="02020603050405020304" pitchFamily="18" charset="0"/>
                          <a:cs typeface="Times New Roman" panose="02020603050405020304" pitchFamily="18" charset="0"/>
                        </a:rPr>
                        <a:t>1</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4</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2" name="標題 1"/>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Longest Common Subsequence - Initial Algorithm</a:t>
            </a:r>
            <a:endParaRPr lang="zh-TW" altLang="en-US" sz="4000" dirty="0"/>
          </a:p>
        </p:txBody>
      </p:sp>
      <p:graphicFrame>
        <p:nvGraphicFramePr>
          <p:cNvPr id="10" name="表格 9"/>
          <p:cNvGraphicFramePr>
            <a:graphicFrameLocks noGrp="1"/>
          </p:cNvGraphicFramePr>
          <p:nvPr>
            <p:extLst>
              <p:ext uri="{D42A27DB-BD31-4B8C-83A1-F6EECF244321}">
                <p14:modId xmlns:p14="http://schemas.microsoft.com/office/powerpoint/2010/main" val="1975667455"/>
              </p:ext>
            </p:extLst>
          </p:nvPr>
        </p:nvGraphicFramePr>
        <p:xfrm>
          <a:off x="6385560" y="1696404"/>
          <a:ext cx="2585720" cy="1483360"/>
        </p:xfrm>
        <a:graphic>
          <a:graphicData uri="http://schemas.openxmlformats.org/drawingml/2006/table">
            <a:tbl>
              <a:tblPr firstRow="1" bandRow="1">
                <a:tableStyleId>{5C22544A-7EE6-4342-B048-85BDC9FD1C3A}</a:tableStyleId>
              </a:tblPr>
              <a:tblGrid>
                <a:gridCol w="646430">
                  <a:extLst>
                    <a:ext uri="{9D8B030D-6E8A-4147-A177-3AD203B41FA5}">
                      <a16:colId xmlns:a16="http://schemas.microsoft.com/office/drawing/2014/main" val="20000"/>
                    </a:ext>
                  </a:extLst>
                </a:gridCol>
                <a:gridCol w="646430">
                  <a:extLst>
                    <a:ext uri="{9D8B030D-6E8A-4147-A177-3AD203B41FA5}">
                      <a16:colId xmlns:a16="http://schemas.microsoft.com/office/drawing/2014/main" val="20001"/>
                    </a:ext>
                  </a:extLst>
                </a:gridCol>
                <a:gridCol w="646430">
                  <a:extLst>
                    <a:ext uri="{9D8B030D-6E8A-4147-A177-3AD203B41FA5}">
                      <a16:colId xmlns:a16="http://schemas.microsoft.com/office/drawing/2014/main" val="20002"/>
                    </a:ext>
                  </a:extLst>
                </a:gridCol>
                <a:gridCol w="646430">
                  <a:extLst>
                    <a:ext uri="{9D8B030D-6E8A-4147-A177-3AD203B41FA5}">
                      <a16:colId xmlns:a16="http://schemas.microsoft.com/office/drawing/2014/main" val="20003"/>
                    </a:ext>
                  </a:extLst>
                </a:gridCol>
              </a:tblGrid>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1"/>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11" name="矩形 10"/>
          <p:cNvSpPr/>
          <p:nvPr/>
        </p:nvSpPr>
        <p:spPr>
          <a:xfrm>
            <a:off x="9149330" y="2810432"/>
            <a:ext cx="1326004"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Matrix of M</a:t>
            </a:r>
            <a:endParaRPr lang="zh-TW" altLang="en-US" dirty="0"/>
          </a:p>
        </p:txBody>
      </p:sp>
      <p:sp>
        <p:nvSpPr>
          <p:cNvPr id="14" name="矩形 13"/>
          <p:cNvSpPr/>
          <p:nvPr/>
        </p:nvSpPr>
        <p:spPr>
          <a:xfrm>
            <a:off x="1371171" y="1758434"/>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Y</a:t>
            </a:r>
            <a:endParaRPr lang="zh-TW" altLang="en-US" dirty="0"/>
          </a:p>
        </p:txBody>
      </p:sp>
      <p:sp>
        <p:nvSpPr>
          <p:cNvPr id="15" name="矩形 14"/>
          <p:cNvSpPr/>
          <p:nvPr/>
        </p:nvSpPr>
        <p:spPr>
          <a:xfrm>
            <a:off x="1019793" y="2195512"/>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X</a:t>
            </a:r>
            <a:endParaRPr lang="zh-TW" altLang="en-US" dirty="0"/>
          </a:p>
        </p:txBody>
      </p:sp>
      <p:cxnSp>
        <p:nvCxnSpPr>
          <p:cNvPr id="7" name="直線接點 6"/>
          <p:cNvCxnSpPr/>
          <p:nvPr/>
        </p:nvCxnSpPr>
        <p:spPr>
          <a:xfrm>
            <a:off x="1821180" y="2564844"/>
            <a:ext cx="480060" cy="9098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a:off x="2301240" y="3474720"/>
            <a:ext cx="0" cy="188976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7" name="直線接點 26"/>
          <p:cNvCxnSpPr/>
          <p:nvPr/>
        </p:nvCxnSpPr>
        <p:spPr>
          <a:xfrm>
            <a:off x="2301240" y="5364480"/>
            <a:ext cx="480060" cy="70104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3" name="直線接點 12"/>
          <p:cNvCxnSpPr/>
          <p:nvPr/>
        </p:nvCxnSpPr>
        <p:spPr>
          <a:xfrm>
            <a:off x="2792730" y="6065520"/>
            <a:ext cx="967740" cy="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a:off x="3778375" y="6065520"/>
            <a:ext cx="229745" cy="204788"/>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9" name="直線接點 18"/>
          <p:cNvCxnSpPr/>
          <p:nvPr/>
        </p:nvCxnSpPr>
        <p:spPr>
          <a:xfrm>
            <a:off x="3778375" y="2564844"/>
            <a:ext cx="374525" cy="9098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直線接點 19"/>
          <p:cNvCxnSpPr/>
          <p:nvPr/>
        </p:nvCxnSpPr>
        <p:spPr>
          <a:xfrm>
            <a:off x="4152900" y="3474720"/>
            <a:ext cx="0" cy="188976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3" name="直線接點 22"/>
          <p:cNvCxnSpPr/>
          <p:nvPr/>
        </p:nvCxnSpPr>
        <p:spPr>
          <a:xfrm>
            <a:off x="4169285" y="5364480"/>
            <a:ext cx="379854" cy="905828"/>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6385560" y="3369629"/>
            <a:ext cx="5471370" cy="1200329"/>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If color(</a:t>
            </a:r>
            <a:r>
              <a:rPr lang="en-US" altLang="zh-TW" dirty="0" err="1">
                <a:latin typeface="Times New Roman" panose="02020603050405020304" pitchFamily="18" charset="0"/>
                <a:cs typeface="Times New Roman" panose="02020603050405020304" pitchFamily="18" charset="0"/>
              </a:rPr>
              <a:t>i,j</a:t>
            </a:r>
            <a:r>
              <a:rPr lang="en-US" altLang="zh-TW" dirty="0">
                <a:latin typeface="Times New Roman" panose="02020603050405020304" pitchFamily="18" charset="0"/>
                <a:cs typeface="Times New Roman" panose="02020603050405020304" pitchFamily="18" charset="0"/>
              </a:rPr>
              <a:t>) is dark</a:t>
            </a:r>
          </a:p>
          <a:p>
            <a:r>
              <a:rPr lang="en-US" altLang="zh-TW" dirty="0">
                <a:latin typeface="Times New Roman" panose="02020603050405020304" pitchFamily="18" charset="0"/>
                <a:cs typeface="Times New Roman" panose="02020603050405020304" pitchFamily="18" charset="0"/>
              </a:rPr>
              <a:t>    d=min(|Xi|, |</a:t>
            </a:r>
            <a:r>
              <a:rPr lang="en-US" altLang="zh-TW" dirty="0" err="1">
                <a:latin typeface="Times New Roman" panose="02020603050405020304" pitchFamily="18" charset="0"/>
                <a:cs typeface="Times New Roman" panose="02020603050405020304" pitchFamily="18" charset="0"/>
              </a:rPr>
              <a:t>Yj</a:t>
            </a:r>
            <a:r>
              <a:rPr lang="en-US" altLang="zh-TW" dirty="0">
                <a:latin typeface="Times New Roman" panose="02020603050405020304" pitchFamily="18" charset="0"/>
                <a:cs typeface="Times New Roman" panose="02020603050405020304" pitchFamily="18" charset="0"/>
              </a:rPr>
              <a:t>|)</a:t>
            </a:r>
          </a:p>
          <a:p>
            <a:r>
              <a:rPr lang="en-US" altLang="zh-TW" dirty="0">
                <a:latin typeface="Times New Roman" panose="02020603050405020304" pitchFamily="18" charset="0"/>
                <a:cs typeface="Times New Roman" panose="02020603050405020304" pitchFamily="18" charset="0"/>
              </a:rPr>
              <a:t>    </a:t>
            </a:r>
            <a:r>
              <a:rPr lang="pl-PL" altLang="zh-TW" dirty="0">
                <a:latin typeface="Times New Roman" panose="02020603050405020304" pitchFamily="18" charset="0"/>
                <a:cs typeface="Times New Roman" panose="02020603050405020304" pitchFamily="18" charset="0"/>
              </a:rPr>
              <a:t>M[i, j]=max(M[i</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 j</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1]+d, M[i, j], M[i</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 j], M[i, j</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ForcedPathUpdate</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j, M) </a:t>
            </a:r>
            <a:r>
              <a:rPr lang="pl-PL" altLang="zh-TW" dirty="0">
                <a:latin typeface="Times New Roman" panose="02020603050405020304" pitchFamily="18" charset="0"/>
                <a:cs typeface="Times New Roman" panose="02020603050405020304" pitchFamily="18" charset="0"/>
              </a:rPr>
              <a:t> </a:t>
            </a:r>
            <a:endParaRPr lang="zh-TW" altLang="en-US" dirty="0">
              <a:latin typeface="Times New Roman" panose="02020603050405020304" pitchFamily="18" charset="0"/>
              <a:cs typeface="Times New Roman" panose="02020603050405020304" pitchFamily="18" charset="0"/>
            </a:endParaRPr>
          </a:p>
        </p:txBody>
      </p:sp>
      <p:sp>
        <p:nvSpPr>
          <p:cNvPr id="26" name="矩形 25"/>
          <p:cNvSpPr/>
          <p:nvPr/>
        </p:nvSpPr>
        <p:spPr>
          <a:xfrm>
            <a:off x="6697980" y="3711575"/>
            <a:ext cx="5052060" cy="5175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8" name="直線接點 27"/>
          <p:cNvCxnSpPr/>
          <p:nvPr/>
        </p:nvCxnSpPr>
        <p:spPr>
          <a:xfrm>
            <a:off x="3778375" y="3983832"/>
            <a:ext cx="965075" cy="762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9" name="直線接點 28"/>
          <p:cNvCxnSpPr/>
          <p:nvPr/>
        </p:nvCxnSpPr>
        <p:spPr>
          <a:xfrm>
            <a:off x="2796540" y="3489960"/>
            <a:ext cx="963930" cy="50149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 name="直線接點 30"/>
          <p:cNvCxnSpPr/>
          <p:nvPr/>
        </p:nvCxnSpPr>
        <p:spPr>
          <a:xfrm>
            <a:off x="4761355" y="3983832"/>
            <a:ext cx="987363" cy="431027"/>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4" name="直線單箭頭接點 3"/>
          <p:cNvCxnSpPr>
            <a:endCxn id="21" idx="1"/>
          </p:cNvCxnSpPr>
          <p:nvPr/>
        </p:nvCxnSpPr>
        <p:spPr>
          <a:xfrm flipV="1">
            <a:off x="5173980" y="3969794"/>
            <a:ext cx="1211580" cy="1403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99689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表格 24"/>
          <p:cNvGraphicFramePr>
            <a:graphicFrameLocks noGrp="1"/>
          </p:cNvGraphicFramePr>
          <p:nvPr/>
        </p:nvGraphicFramePr>
        <p:xfrm>
          <a:off x="838200" y="1682116"/>
          <a:ext cx="4876800" cy="4588192"/>
        </p:xfrm>
        <a:graphic>
          <a:graphicData uri="http://schemas.openxmlformats.org/drawingml/2006/table">
            <a:tbl>
              <a:tblPr firstRow="1" bandRow="1">
                <a:tableStyleId>{5C22544A-7EE6-4342-B048-85BDC9FD1C3A}</a:tableStyleId>
              </a:tblPr>
              <a:tblGrid>
                <a:gridCol w="975360">
                  <a:extLst>
                    <a:ext uri="{9D8B030D-6E8A-4147-A177-3AD203B41FA5}">
                      <a16:colId xmlns:a16="http://schemas.microsoft.com/office/drawing/2014/main" val="20000"/>
                    </a:ext>
                  </a:extLst>
                </a:gridCol>
                <a:gridCol w="975360">
                  <a:extLst>
                    <a:ext uri="{9D8B030D-6E8A-4147-A177-3AD203B41FA5}">
                      <a16:colId xmlns:a16="http://schemas.microsoft.com/office/drawing/2014/main" val="20001"/>
                    </a:ext>
                  </a:extLst>
                </a:gridCol>
                <a:gridCol w="975360">
                  <a:extLst>
                    <a:ext uri="{9D8B030D-6E8A-4147-A177-3AD203B41FA5}">
                      <a16:colId xmlns:a16="http://schemas.microsoft.com/office/drawing/2014/main" val="20002"/>
                    </a:ext>
                  </a:extLst>
                </a:gridCol>
                <a:gridCol w="975360">
                  <a:extLst>
                    <a:ext uri="{9D8B030D-6E8A-4147-A177-3AD203B41FA5}">
                      <a16:colId xmlns:a16="http://schemas.microsoft.com/office/drawing/2014/main" val="20003"/>
                    </a:ext>
                  </a:extLst>
                </a:gridCol>
                <a:gridCol w="975360">
                  <a:extLst>
                    <a:ext uri="{9D8B030D-6E8A-4147-A177-3AD203B41FA5}">
                      <a16:colId xmlns:a16="http://schemas.microsoft.com/office/drawing/2014/main" val="20004"/>
                    </a:ext>
                  </a:extLst>
                </a:gridCol>
              </a:tblGrid>
              <a:tr h="885092">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   </a:t>
                      </a:r>
                      <a:r>
                        <a:rPr lang="en-US" altLang="zh-TW" sz="2800" baseline="0" dirty="0">
                          <a:solidFill>
                            <a:schemeClr val="tx1"/>
                          </a:solidFill>
                          <a:latin typeface="Times New Roman" panose="02020603050405020304" pitchFamily="18" charset="0"/>
                          <a:cs typeface="Times New Roman" panose="02020603050405020304" pitchFamily="18" charset="0"/>
                        </a:rPr>
                        <a:t> </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8</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0002"/>
                  </a:ext>
                </a:extLst>
              </a:tr>
              <a:tr h="925775">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c</a:t>
                      </a:r>
                      <a:r>
                        <a:rPr lang="en-US" altLang="zh-TW" sz="2800" b="0" baseline="30000" dirty="0">
                          <a:solidFill>
                            <a:schemeClr val="tx1"/>
                          </a:solidFill>
                          <a:latin typeface="Times New Roman" panose="02020603050405020304" pitchFamily="18" charset="0"/>
                          <a:cs typeface="Times New Roman" panose="02020603050405020304" pitchFamily="18" charset="0"/>
                        </a:rPr>
                        <a:t>1</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4</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2" name="標題 1"/>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Longest Common Subsequence - Initial Algorithm</a:t>
            </a:r>
            <a:endParaRPr lang="zh-TW" altLang="en-US" sz="4000" dirty="0"/>
          </a:p>
        </p:txBody>
      </p:sp>
      <p:graphicFrame>
        <p:nvGraphicFramePr>
          <p:cNvPr id="10" name="表格 9"/>
          <p:cNvGraphicFramePr>
            <a:graphicFrameLocks noGrp="1"/>
          </p:cNvGraphicFramePr>
          <p:nvPr/>
        </p:nvGraphicFramePr>
        <p:xfrm>
          <a:off x="6385560" y="1696404"/>
          <a:ext cx="2585720" cy="1483360"/>
        </p:xfrm>
        <a:graphic>
          <a:graphicData uri="http://schemas.openxmlformats.org/drawingml/2006/table">
            <a:tbl>
              <a:tblPr firstRow="1" bandRow="1">
                <a:tableStyleId>{5C22544A-7EE6-4342-B048-85BDC9FD1C3A}</a:tableStyleId>
              </a:tblPr>
              <a:tblGrid>
                <a:gridCol w="646430">
                  <a:extLst>
                    <a:ext uri="{9D8B030D-6E8A-4147-A177-3AD203B41FA5}">
                      <a16:colId xmlns:a16="http://schemas.microsoft.com/office/drawing/2014/main" val="20000"/>
                    </a:ext>
                  </a:extLst>
                </a:gridCol>
                <a:gridCol w="646430">
                  <a:extLst>
                    <a:ext uri="{9D8B030D-6E8A-4147-A177-3AD203B41FA5}">
                      <a16:colId xmlns:a16="http://schemas.microsoft.com/office/drawing/2014/main" val="20001"/>
                    </a:ext>
                  </a:extLst>
                </a:gridCol>
                <a:gridCol w="646430">
                  <a:extLst>
                    <a:ext uri="{9D8B030D-6E8A-4147-A177-3AD203B41FA5}">
                      <a16:colId xmlns:a16="http://schemas.microsoft.com/office/drawing/2014/main" val="20002"/>
                    </a:ext>
                  </a:extLst>
                </a:gridCol>
                <a:gridCol w="646430">
                  <a:extLst>
                    <a:ext uri="{9D8B030D-6E8A-4147-A177-3AD203B41FA5}">
                      <a16:colId xmlns:a16="http://schemas.microsoft.com/office/drawing/2014/main" val="20003"/>
                    </a:ext>
                  </a:extLst>
                </a:gridCol>
              </a:tblGrid>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1"/>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11" name="矩形 10"/>
          <p:cNvSpPr/>
          <p:nvPr/>
        </p:nvSpPr>
        <p:spPr>
          <a:xfrm>
            <a:off x="9149330" y="2810432"/>
            <a:ext cx="1326004"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Matrix of M</a:t>
            </a:r>
            <a:endParaRPr lang="zh-TW" altLang="en-US" dirty="0"/>
          </a:p>
        </p:txBody>
      </p:sp>
      <p:sp>
        <p:nvSpPr>
          <p:cNvPr id="14" name="矩形 13"/>
          <p:cNvSpPr/>
          <p:nvPr/>
        </p:nvSpPr>
        <p:spPr>
          <a:xfrm>
            <a:off x="1371171" y="1758434"/>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Y</a:t>
            </a:r>
            <a:endParaRPr lang="zh-TW" altLang="en-US" dirty="0"/>
          </a:p>
        </p:txBody>
      </p:sp>
      <p:sp>
        <p:nvSpPr>
          <p:cNvPr id="15" name="矩形 14"/>
          <p:cNvSpPr/>
          <p:nvPr/>
        </p:nvSpPr>
        <p:spPr>
          <a:xfrm>
            <a:off x="1019793" y="2195512"/>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X</a:t>
            </a:r>
            <a:endParaRPr lang="zh-TW" altLang="en-US" dirty="0"/>
          </a:p>
        </p:txBody>
      </p:sp>
      <p:cxnSp>
        <p:nvCxnSpPr>
          <p:cNvPr id="7" name="直線接點 6"/>
          <p:cNvCxnSpPr/>
          <p:nvPr/>
        </p:nvCxnSpPr>
        <p:spPr>
          <a:xfrm>
            <a:off x="1821180" y="2564844"/>
            <a:ext cx="480060" cy="9098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a:off x="2301240" y="3474720"/>
            <a:ext cx="0" cy="188976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7" name="直線接點 26"/>
          <p:cNvCxnSpPr/>
          <p:nvPr/>
        </p:nvCxnSpPr>
        <p:spPr>
          <a:xfrm>
            <a:off x="2301240" y="5364480"/>
            <a:ext cx="480060" cy="70104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3" name="直線接點 12"/>
          <p:cNvCxnSpPr/>
          <p:nvPr/>
        </p:nvCxnSpPr>
        <p:spPr>
          <a:xfrm>
            <a:off x="2792730" y="6065520"/>
            <a:ext cx="967740" cy="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a:off x="3778375" y="6065520"/>
            <a:ext cx="229745" cy="204788"/>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9" name="直線接點 18"/>
          <p:cNvCxnSpPr/>
          <p:nvPr/>
        </p:nvCxnSpPr>
        <p:spPr>
          <a:xfrm>
            <a:off x="3778375" y="2564844"/>
            <a:ext cx="374525" cy="9098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直線接點 19"/>
          <p:cNvCxnSpPr/>
          <p:nvPr/>
        </p:nvCxnSpPr>
        <p:spPr>
          <a:xfrm>
            <a:off x="4152900" y="3474720"/>
            <a:ext cx="0" cy="188976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3" name="直線接點 22"/>
          <p:cNvCxnSpPr/>
          <p:nvPr/>
        </p:nvCxnSpPr>
        <p:spPr>
          <a:xfrm>
            <a:off x="4169285" y="5364480"/>
            <a:ext cx="379854" cy="905828"/>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6385560" y="3369629"/>
            <a:ext cx="5471370" cy="1200329"/>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If color(</a:t>
            </a:r>
            <a:r>
              <a:rPr lang="en-US" altLang="zh-TW" dirty="0" err="1">
                <a:latin typeface="Times New Roman" panose="02020603050405020304" pitchFamily="18" charset="0"/>
                <a:cs typeface="Times New Roman" panose="02020603050405020304" pitchFamily="18" charset="0"/>
              </a:rPr>
              <a:t>i,j</a:t>
            </a:r>
            <a:r>
              <a:rPr lang="en-US" altLang="zh-TW" dirty="0">
                <a:latin typeface="Times New Roman" panose="02020603050405020304" pitchFamily="18" charset="0"/>
                <a:cs typeface="Times New Roman" panose="02020603050405020304" pitchFamily="18" charset="0"/>
              </a:rPr>
              <a:t>) is dark</a:t>
            </a:r>
          </a:p>
          <a:p>
            <a:r>
              <a:rPr lang="en-US" altLang="zh-TW" dirty="0">
                <a:latin typeface="Times New Roman" panose="02020603050405020304" pitchFamily="18" charset="0"/>
                <a:cs typeface="Times New Roman" panose="02020603050405020304" pitchFamily="18" charset="0"/>
              </a:rPr>
              <a:t>    d=min(|Xi|, |</a:t>
            </a:r>
            <a:r>
              <a:rPr lang="en-US" altLang="zh-TW" dirty="0" err="1">
                <a:latin typeface="Times New Roman" panose="02020603050405020304" pitchFamily="18" charset="0"/>
                <a:cs typeface="Times New Roman" panose="02020603050405020304" pitchFamily="18" charset="0"/>
              </a:rPr>
              <a:t>Yj</a:t>
            </a:r>
            <a:r>
              <a:rPr lang="en-US" altLang="zh-TW" dirty="0">
                <a:latin typeface="Times New Roman" panose="02020603050405020304" pitchFamily="18" charset="0"/>
                <a:cs typeface="Times New Roman" panose="02020603050405020304" pitchFamily="18" charset="0"/>
              </a:rPr>
              <a:t>|)</a:t>
            </a:r>
          </a:p>
          <a:p>
            <a:r>
              <a:rPr lang="en-US" altLang="zh-TW" dirty="0">
                <a:latin typeface="Times New Roman" panose="02020603050405020304" pitchFamily="18" charset="0"/>
                <a:cs typeface="Times New Roman" panose="02020603050405020304" pitchFamily="18" charset="0"/>
              </a:rPr>
              <a:t>    </a:t>
            </a:r>
            <a:r>
              <a:rPr lang="pl-PL" altLang="zh-TW" dirty="0">
                <a:latin typeface="Times New Roman" panose="02020603050405020304" pitchFamily="18" charset="0"/>
                <a:cs typeface="Times New Roman" panose="02020603050405020304" pitchFamily="18" charset="0"/>
              </a:rPr>
              <a:t>M[i, j]=max(M[i</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 j</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1]+d, M[i, j], M[i</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 j], M[i, j</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ForcedPathUpdate</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j, M) </a:t>
            </a:r>
            <a:r>
              <a:rPr lang="pl-PL" altLang="zh-TW" dirty="0">
                <a:latin typeface="Times New Roman" panose="02020603050405020304" pitchFamily="18" charset="0"/>
                <a:cs typeface="Times New Roman" panose="02020603050405020304" pitchFamily="18" charset="0"/>
              </a:rPr>
              <a:t> </a:t>
            </a:r>
            <a:endParaRPr lang="zh-TW" altLang="en-US" dirty="0">
              <a:latin typeface="Times New Roman" panose="02020603050405020304" pitchFamily="18" charset="0"/>
              <a:cs typeface="Times New Roman" panose="02020603050405020304" pitchFamily="18" charset="0"/>
            </a:endParaRPr>
          </a:p>
        </p:txBody>
      </p:sp>
      <p:cxnSp>
        <p:nvCxnSpPr>
          <p:cNvPr id="28" name="直線接點 27"/>
          <p:cNvCxnSpPr/>
          <p:nvPr/>
        </p:nvCxnSpPr>
        <p:spPr>
          <a:xfrm>
            <a:off x="3778375" y="3983832"/>
            <a:ext cx="965075" cy="762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9" name="直線接點 28"/>
          <p:cNvCxnSpPr/>
          <p:nvPr/>
        </p:nvCxnSpPr>
        <p:spPr>
          <a:xfrm>
            <a:off x="2796540" y="3489960"/>
            <a:ext cx="963930" cy="50149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 name="直線接點 30"/>
          <p:cNvCxnSpPr/>
          <p:nvPr/>
        </p:nvCxnSpPr>
        <p:spPr>
          <a:xfrm>
            <a:off x="4761355" y="3983832"/>
            <a:ext cx="987363" cy="431027"/>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a:off x="6697980" y="4236901"/>
            <a:ext cx="2451350" cy="33305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4" name="直線接點 23"/>
          <p:cNvCxnSpPr/>
          <p:nvPr/>
        </p:nvCxnSpPr>
        <p:spPr>
          <a:xfrm>
            <a:off x="4743450" y="3489960"/>
            <a:ext cx="963930" cy="50149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24666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表格 24"/>
          <p:cNvGraphicFramePr>
            <a:graphicFrameLocks noGrp="1"/>
          </p:cNvGraphicFramePr>
          <p:nvPr>
            <p:extLst>
              <p:ext uri="{D42A27DB-BD31-4B8C-83A1-F6EECF244321}">
                <p14:modId xmlns:p14="http://schemas.microsoft.com/office/powerpoint/2010/main" val="3362024336"/>
              </p:ext>
            </p:extLst>
          </p:nvPr>
        </p:nvGraphicFramePr>
        <p:xfrm>
          <a:off x="838200" y="1682116"/>
          <a:ext cx="4876800" cy="4588192"/>
        </p:xfrm>
        <a:graphic>
          <a:graphicData uri="http://schemas.openxmlformats.org/drawingml/2006/table">
            <a:tbl>
              <a:tblPr firstRow="1" bandRow="1">
                <a:tableStyleId>{5C22544A-7EE6-4342-B048-85BDC9FD1C3A}</a:tableStyleId>
              </a:tblPr>
              <a:tblGrid>
                <a:gridCol w="975360">
                  <a:extLst>
                    <a:ext uri="{9D8B030D-6E8A-4147-A177-3AD203B41FA5}">
                      <a16:colId xmlns:a16="http://schemas.microsoft.com/office/drawing/2014/main" val="20000"/>
                    </a:ext>
                  </a:extLst>
                </a:gridCol>
                <a:gridCol w="975360">
                  <a:extLst>
                    <a:ext uri="{9D8B030D-6E8A-4147-A177-3AD203B41FA5}">
                      <a16:colId xmlns:a16="http://schemas.microsoft.com/office/drawing/2014/main" val="20001"/>
                    </a:ext>
                  </a:extLst>
                </a:gridCol>
                <a:gridCol w="975360">
                  <a:extLst>
                    <a:ext uri="{9D8B030D-6E8A-4147-A177-3AD203B41FA5}">
                      <a16:colId xmlns:a16="http://schemas.microsoft.com/office/drawing/2014/main" val="20002"/>
                    </a:ext>
                  </a:extLst>
                </a:gridCol>
                <a:gridCol w="975360">
                  <a:extLst>
                    <a:ext uri="{9D8B030D-6E8A-4147-A177-3AD203B41FA5}">
                      <a16:colId xmlns:a16="http://schemas.microsoft.com/office/drawing/2014/main" val="20003"/>
                    </a:ext>
                  </a:extLst>
                </a:gridCol>
                <a:gridCol w="975360">
                  <a:extLst>
                    <a:ext uri="{9D8B030D-6E8A-4147-A177-3AD203B41FA5}">
                      <a16:colId xmlns:a16="http://schemas.microsoft.com/office/drawing/2014/main" val="20004"/>
                    </a:ext>
                  </a:extLst>
                </a:gridCol>
              </a:tblGrid>
              <a:tr h="885092">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   </a:t>
                      </a:r>
                      <a:r>
                        <a:rPr lang="en-US" altLang="zh-TW" sz="2800" baseline="0" dirty="0">
                          <a:solidFill>
                            <a:schemeClr val="tx1"/>
                          </a:solidFill>
                          <a:latin typeface="Times New Roman" panose="02020603050405020304" pitchFamily="18" charset="0"/>
                          <a:cs typeface="Times New Roman" panose="02020603050405020304" pitchFamily="18" charset="0"/>
                        </a:rPr>
                        <a:t> </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8</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0002"/>
                  </a:ext>
                </a:extLst>
              </a:tr>
              <a:tr h="925775">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c</a:t>
                      </a:r>
                      <a:r>
                        <a:rPr lang="en-US" altLang="zh-TW" sz="2800" b="0" baseline="30000" dirty="0">
                          <a:solidFill>
                            <a:schemeClr val="tx1"/>
                          </a:solidFill>
                          <a:latin typeface="Times New Roman" panose="02020603050405020304" pitchFamily="18" charset="0"/>
                          <a:cs typeface="Times New Roman" panose="02020603050405020304" pitchFamily="18" charset="0"/>
                        </a:rPr>
                        <a:t>1</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4</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2" name="標題 1"/>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Longest Common Subsequence - Initial Algorithm</a:t>
            </a:r>
            <a:endParaRPr lang="zh-TW" altLang="en-US" sz="4000" dirty="0"/>
          </a:p>
        </p:txBody>
      </p:sp>
      <p:graphicFrame>
        <p:nvGraphicFramePr>
          <p:cNvPr id="10" name="表格 9"/>
          <p:cNvGraphicFramePr>
            <a:graphicFrameLocks noGrp="1"/>
          </p:cNvGraphicFramePr>
          <p:nvPr>
            <p:extLst>
              <p:ext uri="{D42A27DB-BD31-4B8C-83A1-F6EECF244321}">
                <p14:modId xmlns:p14="http://schemas.microsoft.com/office/powerpoint/2010/main" val="3607952897"/>
              </p:ext>
            </p:extLst>
          </p:nvPr>
        </p:nvGraphicFramePr>
        <p:xfrm>
          <a:off x="6385560" y="1696404"/>
          <a:ext cx="2585720" cy="1483360"/>
        </p:xfrm>
        <a:graphic>
          <a:graphicData uri="http://schemas.openxmlformats.org/drawingml/2006/table">
            <a:tbl>
              <a:tblPr firstRow="1" bandRow="1">
                <a:tableStyleId>{5C22544A-7EE6-4342-B048-85BDC9FD1C3A}</a:tableStyleId>
              </a:tblPr>
              <a:tblGrid>
                <a:gridCol w="646430">
                  <a:extLst>
                    <a:ext uri="{9D8B030D-6E8A-4147-A177-3AD203B41FA5}">
                      <a16:colId xmlns:a16="http://schemas.microsoft.com/office/drawing/2014/main" val="20000"/>
                    </a:ext>
                  </a:extLst>
                </a:gridCol>
                <a:gridCol w="646430">
                  <a:extLst>
                    <a:ext uri="{9D8B030D-6E8A-4147-A177-3AD203B41FA5}">
                      <a16:colId xmlns:a16="http://schemas.microsoft.com/office/drawing/2014/main" val="20001"/>
                    </a:ext>
                  </a:extLst>
                </a:gridCol>
                <a:gridCol w="646430">
                  <a:extLst>
                    <a:ext uri="{9D8B030D-6E8A-4147-A177-3AD203B41FA5}">
                      <a16:colId xmlns:a16="http://schemas.microsoft.com/office/drawing/2014/main" val="20002"/>
                    </a:ext>
                  </a:extLst>
                </a:gridCol>
                <a:gridCol w="646430">
                  <a:extLst>
                    <a:ext uri="{9D8B030D-6E8A-4147-A177-3AD203B41FA5}">
                      <a16:colId xmlns:a16="http://schemas.microsoft.com/office/drawing/2014/main" val="20003"/>
                    </a:ext>
                  </a:extLst>
                </a:gridCol>
              </a:tblGrid>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11" name="矩形 10"/>
          <p:cNvSpPr/>
          <p:nvPr/>
        </p:nvSpPr>
        <p:spPr>
          <a:xfrm>
            <a:off x="9149330" y="2810432"/>
            <a:ext cx="1326004"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Matrix of M</a:t>
            </a:r>
            <a:endParaRPr lang="zh-TW" altLang="en-US" dirty="0"/>
          </a:p>
        </p:txBody>
      </p:sp>
      <p:sp>
        <p:nvSpPr>
          <p:cNvPr id="14" name="矩形 13"/>
          <p:cNvSpPr/>
          <p:nvPr/>
        </p:nvSpPr>
        <p:spPr>
          <a:xfrm>
            <a:off x="1371171" y="1758434"/>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Y</a:t>
            </a:r>
            <a:endParaRPr lang="zh-TW" altLang="en-US" dirty="0"/>
          </a:p>
        </p:txBody>
      </p:sp>
      <p:sp>
        <p:nvSpPr>
          <p:cNvPr id="15" name="矩形 14"/>
          <p:cNvSpPr/>
          <p:nvPr/>
        </p:nvSpPr>
        <p:spPr>
          <a:xfrm>
            <a:off x="1019793" y="2195512"/>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X</a:t>
            </a:r>
            <a:endParaRPr lang="zh-TW" altLang="en-US" dirty="0"/>
          </a:p>
        </p:txBody>
      </p:sp>
      <p:cxnSp>
        <p:nvCxnSpPr>
          <p:cNvPr id="7" name="直線接點 6"/>
          <p:cNvCxnSpPr/>
          <p:nvPr/>
        </p:nvCxnSpPr>
        <p:spPr>
          <a:xfrm>
            <a:off x="1821180" y="2564844"/>
            <a:ext cx="480060" cy="9098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a:off x="2301240" y="3474720"/>
            <a:ext cx="0" cy="188976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7" name="直線接點 26"/>
          <p:cNvCxnSpPr/>
          <p:nvPr/>
        </p:nvCxnSpPr>
        <p:spPr>
          <a:xfrm>
            <a:off x="2301240" y="5364480"/>
            <a:ext cx="480060" cy="70104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3" name="直線接點 12"/>
          <p:cNvCxnSpPr/>
          <p:nvPr/>
        </p:nvCxnSpPr>
        <p:spPr>
          <a:xfrm>
            <a:off x="2792730" y="6065520"/>
            <a:ext cx="967740" cy="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a:off x="3778375" y="6065520"/>
            <a:ext cx="229745" cy="204788"/>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9" name="直線接點 18"/>
          <p:cNvCxnSpPr/>
          <p:nvPr/>
        </p:nvCxnSpPr>
        <p:spPr>
          <a:xfrm>
            <a:off x="3778375" y="2564844"/>
            <a:ext cx="374525" cy="9098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直線接點 19"/>
          <p:cNvCxnSpPr/>
          <p:nvPr/>
        </p:nvCxnSpPr>
        <p:spPr>
          <a:xfrm>
            <a:off x="4152900" y="3474720"/>
            <a:ext cx="0" cy="188976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3" name="直線接點 22"/>
          <p:cNvCxnSpPr/>
          <p:nvPr/>
        </p:nvCxnSpPr>
        <p:spPr>
          <a:xfrm>
            <a:off x="4169285" y="5364480"/>
            <a:ext cx="379854" cy="905828"/>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6385560" y="3369629"/>
            <a:ext cx="5471370" cy="1200329"/>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If color(</a:t>
            </a:r>
            <a:r>
              <a:rPr lang="en-US" altLang="zh-TW" dirty="0" err="1">
                <a:latin typeface="Times New Roman" panose="02020603050405020304" pitchFamily="18" charset="0"/>
                <a:cs typeface="Times New Roman" panose="02020603050405020304" pitchFamily="18" charset="0"/>
              </a:rPr>
              <a:t>i,j</a:t>
            </a:r>
            <a:r>
              <a:rPr lang="en-US" altLang="zh-TW" dirty="0">
                <a:latin typeface="Times New Roman" panose="02020603050405020304" pitchFamily="18" charset="0"/>
                <a:cs typeface="Times New Roman" panose="02020603050405020304" pitchFamily="18" charset="0"/>
              </a:rPr>
              <a:t>) is dark</a:t>
            </a:r>
          </a:p>
          <a:p>
            <a:r>
              <a:rPr lang="en-US" altLang="zh-TW" dirty="0">
                <a:latin typeface="Times New Roman" panose="02020603050405020304" pitchFamily="18" charset="0"/>
                <a:cs typeface="Times New Roman" panose="02020603050405020304" pitchFamily="18" charset="0"/>
              </a:rPr>
              <a:t>    d=min(|Xi|, |</a:t>
            </a:r>
            <a:r>
              <a:rPr lang="en-US" altLang="zh-TW" dirty="0" err="1">
                <a:latin typeface="Times New Roman" panose="02020603050405020304" pitchFamily="18" charset="0"/>
                <a:cs typeface="Times New Roman" panose="02020603050405020304" pitchFamily="18" charset="0"/>
              </a:rPr>
              <a:t>Yj</a:t>
            </a:r>
            <a:r>
              <a:rPr lang="en-US" altLang="zh-TW" dirty="0">
                <a:latin typeface="Times New Roman" panose="02020603050405020304" pitchFamily="18" charset="0"/>
                <a:cs typeface="Times New Roman" panose="02020603050405020304" pitchFamily="18" charset="0"/>
              </a:rPr>
              <a:t>|)</a:t>
            </a:r>
          </a:p>
          <a:p>
            <a:r>
              <a:rPr lang="en-US" altLang="zh-TW" dirty="0">
                <a:latin typeface="Times New Roman" panose="02020603050405020304" pitchFamily="18" charset="0"/>
                <a:cs typeface="Times New Roman" panose="02020603050405020304" pitchFamily="18" charset="0"/>
              </a:rPr>
              <a:t>    </a:t>
            </a:r>
            <a:r>
              <a:rPr lang="pl-PL" altLang="zh-TW" dirty="0">
                <a:latin typeface="Times New Roman" panose="02020603050405020304" pitchFamily="18" charset="0"/>
                <a:cs typeface="Times New Roman" panose="02020603050405020304" pitchFamily="18" charset="0"/>
              </a:rPr>
              <a:t>M[i, j]=max(M[i</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 j</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1]+d, M[i, j], M[i</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 j], M[i, j</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ForcedPathUpdate</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j, M) </a:t>
            </a:r>
            <a:r>
              <a:rPr lang="pl-PL" altLang="zh-TW" dirty="0">
                <a:latin typeface="Times New Roman" panose="02020603050405020304" pitchFamily="18" charset="0"/>
                <a:cs typeface="Times New Roman" panose="02020603050405020304" pitchFamily="18" charset="0"/>
              </a:rPr>
              <a:t> </a:t>
            </a:r>
            <a:endParaRPr lang="zh-TW" altLang="en-US" dirty="0">
              <a:latin typeface="Times New Roman" panose="02020603050405020304" pitchFamily="18" charset="0"/>
              <a:cs typeface="Times New Roman" panose="02020603050405020304" pitchFamily="18" charset="0"/>
            </a:endParaRPr>
          </a:p>
        </p:txBody>
      </p:sp>
      <p:cxnSp>
        <p:nvCxnSpPr>
          <p:cNvPr id="28" name="直線接點 27"/>
          <p:cNvCxnSpPr/>
          <p:nvPr/>
        </p:nvCxnSpPr>
        <p:spPr>
          <a:xfrm>
            <a:off x="3778375" y="3983832"/>
            <a:ext cx="965075" cy="762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9" name="直線接點 28"/>
          <p:cNvCxnSpPr/>
          <p:nvPr/>
        </p:nvCxnSpPr>
        <p:spPr>
          <a:xfrm>
            <a:off x="2796540" y="3489960"/>
            <a:ext cx="963930" cy="50149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 name="直線接點 30"/>
          <p:cNvCxnSpPr/>
          <p:nvPr/>
        </p:nvCxnSpPr>
        <p:spPr>
          <a:xfrm>
            <a:off x="4761355" y="3983832"/>
            <a:ext cx="987363" cy="431027"/>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a:off x="6697980" y="3740706"/>
            <a:ext cx="5067300" cy="48839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4" name="直線接點 23"/>
          <p:cNvCxnSpPr/>
          <p:nvPr/>
        </p:nvCxnSpPr>
        <p:spPr>
          <a:xfrm>
            <a:off x="4743450" y="3489960"/>
            <a:ext cx="963930" cy="50149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 name="直線單箭頭接點 3"/>
          <p:cNvCxnSpPr>
            <a:endCxn id="21" idx="1"/>
          </p:cNvCxnSpPr>
          <p:nvPr/>
        </p:nvCxnSpPr>
        <p:spPr>
          <a:xfrm flipV="1">
            <a:off x="2301240" y="3969794"/>
            <a:ext cx="4084320" cy="190522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02343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表格 24"/>
          <p:cNvGraphicFramePr>
            <a:graphicFrameLocks noGrp="1"/>
          </p:cNvGraphicFramePr>
          <p:nvPr/>
        </p:nvGraphicFramePr>
        <p:xfrm>
          <a:off x="838200" y="1682116"/>
          <a:ext cx="4876800" cy="4588192"/>
        </p:xfrm>
        <a:graphic>
          <a:graphicData uri="http://schemas.openxmlformats.org/drawingml/2006/table">
            <a:tbl>
              <a:tblPr firstRow="1" bandRow="1">
                <a:tableStyleId>{5C22544A-7EE6-4342-B048-85BDC9FD1C3A}</a:tableStyleId>
              </a:tblPr>
              <a:tblGrid>
                <a:gridCol w="975360">
                  <a:extLst>
                    <a:ext uri="{9D8B030D-6E8A-4147-A177-3AD203B41FA5}">
                      <a16:colId xmlns:a16="http://schemas.microsoft.com/office/drawing/2014/main" val="20000"/>
                    </a:ext>
                  </a:extLst>
                </a:gridCol>
                <a:gridCol w="975360">
                  <a:extLst>
                    <a:ext uri="{9D8B030D-6E8A-4147-A177-3AD203B41FA5}">
                      <a16:colId xmlns:a16="http://schemas.microsoft.com/office/drawing/2014/main" val="20001"/>
                    </a:ext>
                  </a:extLst>
                </a:gridCol>
                <a:gridCol w="975360">
                  <a:extLst>
                    <a:ext uri="{9D8B030D-6E8A-4147-A177-3AD203B41FA5}">
                      <a16:colId xmlns:a16="http://schemas.microsoft.com/office/drawing/2014/main" val="20002"/>
                    </a:ext>
                  </a:extLst>
                </a:gridCol>
                <a:gridCol w="975360">
                  <a:extLst>
                    <a:ext uri="{9D8B030D-6E8A-4147-A177-3AD203B41FA5}">
                      <a16:colId xmlns:a16="http://schemas.microsoft.com/office/drawing/2014/main" val="20003"/>
                    </a:ext>
                  </a:extLst>
                </a:gridCol>
                <a:gridCol w="975360">
                  <a:extLst>
                    <a:ext uri="{9D8B030D-6E8A-4147-A177-3AD203B41FA5}">
                      <a16:colId xmlns:a16="http://schemas.microsoft.com/office/drawing/2014/main" val="20004"/>
                    </a:ext>
                  </a:extLst>
                </a:gridCol>
              </a:tblGrid>
              <a:tr h="885092">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   </a:t>
                      </a:r>
                      <a:r>
                        <a:rPr lang="en-US" altLang="zh-TW" sz="2800" baseline="0" dirty="0">
                          <a:solidFill>
                            <a:schemeClr val="tx1"/>
                          </a:solidFill>
                          <a:latin typeface="Times New Roman" panose="02020603050405020304" pitchFamily="18" charset="0"/>
                          <a:cs typeface="Times New Roman" panose="02020603050405020304" pitchFamily="18" charset="0"/>
                        </a:rPr>
                        <a:t> </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8</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0002"/>
                  </a:ext>
                </a:extLst>
              </a:tr>
              <a:tr h="925775">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c</a:t>
                      </a:r>
                      <a:r>
                        <a:rPr lang="en-US" altLang="zh-TW" sz="2800" b="0" baseline="30000" dirty="0">
                          <a:solidFill>
                            <a:schemeClr val="tx1"/>
                          </a:solidFill>
                          <a:latin typeface="Times New Roman" panose="02020603050405020304" pitchFamily="18" charset="0"/>
                          <a:cs typeface="Times New Roman" panose="02020603050405020304" pitchFamily="18" charset="0"/>
                        </a:rPr>
                        <a:t>1</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4</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2" name="標題 1"/>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Longest Common Subsequence - Initial Algorithm</a:t>
            </a:r>
            <a:endParaRPr lang="zh-TW" altLang="en-US" sz="4000" dirty="0"/>
          </a:p>
        </p:txBody>
      </p:sp>
      <p:graphicFrame>
        <p:nvGraphicFramePr>
          <p:cNvPr id="10" name="表格 9"/>
          <p:cNvGraphicFramePr>
            <a:graphicFrameLocks noGrp="1"/>
          </p:cNvGraphicFramePr>
          <p:nvPr>
            <p:extLst>
              <p:ext uri="{D42A27DB-BD31-4B8C-83A1-F6EECF244321}">
                <p14:modId xmlns:p14="http://schemas.microsoft.com/office/powerpoint/2010/main" val="2950069870"/>
              </p:ext>
            </p:extLst>
          </p:nvPr>
        </p:nvGraphicFramePr>
        <p:xfrm>
          <a:off x="6385560" y="1696404"/>
          <a:ext cx="2585720" cy="1483360"/>
        </p:xfrm>
        <a:graphic>
          <a:graphicData uri="http://schemas.openxmlformats.org/drawingml/2006/table">
            <a:tbl>
              <a:tblPr firstRow="1" bandRow="1">
                <a:tableStyleId>{5C22544A-7EE6-4342-B048-85BDC9FD1C3A}</a:tableStyleId>
              </a:tblPr>
              <a:tblGrid>
                <a:gridCol w="646430">
                  <a:extLst>
                    <a:ext uri="{9D8B030D-6E8A-4147-A177-3AD203B41FA5}">
                      <a16:colId xmlns:a16="http://schemas.microsoft.com/office/drawing/2014/main" val="20000"/>
                    </a:ext>
                  </a:extLst>
                </a:gridCol>
                <a:gridCol w="646430">
                  <a:extLst>
                    <a:ext uri="{9D8B030D-6E8A-4147-A177-3AD203B41FA5}">
                      <a16:colId xmlns:a16="http://schemas.microsoft.com/office/drawing/2014/main" val="20001"/>
                    </a:ext>
                  </a:extLst>
                </a:gridCol>
                <a:gridCol w="646430">
                  <a:extLst>
                    <a:ext uri="{9D8B030D-6E8A-4147-A177-3AD203B41FA5}">
                      <a16:colId xmlns:a16="http://schemas.microsoft.com/office/drawing/2014/main" val="20002"/>
                    </a:ext>
                  </a:extLst>
                </a:gridCol>
                <a:gridCol w="646430">
                  <a:extLst>
                    <a:ext uri="{9D8B030D-6E8A-4147-A177-3AD203B41FA5}">
                      <a16:colId xmlns:a16="http://schemas.microsoft.com/office/drawing/2014/main" val="20003"/>
                    </a:ext>
                  </a:extLst>
                </a:gridCol>
              </a:tblGrid>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11" name="矩形 10"/>
          <p:cNvSpPr/>
          <p:nvPr/>
        </p:nvSpPr>
        <p:spPr>
          <a:xfrm>
            <a:off x="9149330" y="2810432"/>
            <a:ext cx="1326004"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Matrix of M</a:t>
            </a:r>
            <a:endParaRPr lang="zh-TW" altLang="en-US" dirty="0"/>
          </a:p>
        </p:txBody>
      </p:sp>
      <p:sp>
        <p:nvSpPr>
          <p:cNvPr id="14" name="矩形 13"/>
          <p:cNvSpPr/>
          <p:nvPr/>
        </p:nvSpPr>
        <p:spPr>
          <a:xfrm>
            <a:off x="1371171" y="1758434"/>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Y</a:t>
            </a:r>
            <a:endParaRPr lang="zh-TW" altLang="en-US" dirty="0"/>
          </a:p>
        </p:txBody>
      </p:sp>
      <p:sp>
        <p:nvSpPr>
          <p:cNvPr id="15" name="矩形 14"/>
          <p:cNvSpPr/>
          <p:nvPr/>
        </p:nvSpPr>
        <p:spPr>
          <a:xfrm>
            <a:off x="1019793" y="2195512"/>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X</a:t>
            </a:r>
            <a:endParaRPr lang="zh-TW" altLang="en-US" dirty="0"/>
          </a:p>
        </p:txBody>
      </p:sp>
      <p:cxnSp>
        <p:nvCxnSpPr>
          <p:cNvPr id="7" name="直線接點 6"/>
          <p:cNvCxnSpPr/>
          <p:nvPr/>
        </p:nvCxnSpPr>
        <p:spPr>
          <a:xfrm>
            <a:off x="1821180" y="2564844"/>
            <a:ext cx="480060" cy="9098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a:off x="2301240" y="3474720"/>
            <a:ext cx="0" cy="188976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7" name="直線接點 26"/>
          <p:cNvCxnSpPr/>
          <p:nvPr/>
        </p:nvCxnSpPr>
        <p:spPr>
          <a:xfrm>
            <a:off x="2301240" y="5364480"/>
            <a:ext cx="480060" cy="70104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3" name="直線接點 12"/>
          <p:cNvCxnSpPr/>
          <p:nvPr/>
        </p:nvCxnSpPr>
        <p:spPr>
          <a:xfrm>
            <a:off x="2792730" y="6065520"/>
            <a:ext cx="967740" cy="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a:off x="3778375" y="6065520"/>
            <a:ext cx="229745" cy="204788"/>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9" name="直線接點 18"/>
          <p:cNvCxnSpPr/>
          <p:nvPr/>
        </p:nvCxnSpPr>
        <p:spPr>
          <a:xfrm>
            <a:off x="3778375" y="2564844"/>
            <a:ext cx="374525" cy="9098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直線接點 19"/>
          <p:cNvCxnSpPr/>
          <p:nvPr/>
        </p:nvCxnSpPr>
        <p:spPr>
          <a:xfrm>
            <a:off x="4152900" y="3474720"/>
            <a:ext cx="0" cy="188976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3" name="直線接點 22"/>
          <p:cNvCxnSpPr/>
          <p:nvPr/>
        </p:nvCxnSpPr>
        <p:spPr>
          <a:xfrm>
            <a:off x="4169285" y="5364480"/>
            <a:ext cx="379854" cy="905828"/>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6385560" y="3369629"/>
            <a:ext cx="5471370" cy="1200329"/>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If color(</a:t>
            </a:r>
            <a:r>
              <a:rPr lang="en-US" altLang="zh-TW" dirty="0" err="1">
                <a:latin typeface="Times New Roman" panose="02020603050405020304" pitchFamily="18" charset="0"/>
                <a:cs typeface="Times New Roman" panose="02020603050405020304" pitchFamily="18" charset="0"/>
              </a:rPr>
              <a:t>i,j</a:t>
            </a:r>
            <a:r>
              <a:rPr lang="en-US" altLang="zh-TW" dirty="0">
                <a:latin typeface="Times New Roman" panose="02020603050405020304" pitchFamily="18" charset="0"/>
                <a:cs typeface="Times New Roman" panose="02020603050405020304" pitchFamily="18" charset="0"/>
              </a:rPr>
              <a:t>) is dark</a:t>
            </a:r>
          </a:p>
          <a:p>
            <a:r>
              <a:rPr lang="en-US" altLang="zh-TW" dirty="0">
                <a:latin typeface="Times New Roman" panose="02020603050405020304" pitchFamily="18" charset="0"/>
                <a:cs typeface="Times New Roman" panose="02020603050405020304" pitchFamily="18" charset="0"/>
              </a:rPr>
              <a:t>    d=min(|Xi|, |</a:t>
            </a:r>
            <a:r>
              <a:rPr lang="en-US" altLang="zh-TW" dirty="0" err="1">
                <a:latin typeface="Times New Roman" panose="02020603050405020304" pitchFamily="18" charset="0"/>
                <a:cs typeface="Times New Roman" panose="02020603050405020304" pitchFamily="18" charset="0"/>
              </a:rPr>
              <a:t>Yj</a:t>
            </a:r>
            <a:r>
              <a:rPr lang="en-US" altLang="zh-TW" dirty="0">
                <a:latin typeface="Times New Roman" panose="02020603050405020304" pitchFamily="18" charset="0"/>
                <a:cs typeface="Times New Roman" panose="02020603050405020304" pitchFamily="18" charset="0"/>
              </a:rPr>
              <a:t>|)</a:t>
            </a:r>
          </a:p>
          <a:p>
            <a:r>
              <a:rPr lang="en-US" altLang="zh-TW" dirty="0">
                <a:latin typeface="Times New Roman" panose="02020603050405020304" pitchFamily="18" charset="0"/>
                <a:cs typeface="Times New Roman" panose="02020603050405020304" pitchFamily="18" charset="0"/>
              </a:rPr>
              <a:t>    </a:t>
            </a:r>
            <a:r>
              <a:rPr lang="pl-PL" altLang="zh-TW" dirty="0">
                <a:latin typeface="Times New Roman" panose="02020603050405020304" pitchFamily="18" charset="0"/>
                <a:cs typeface="Times New Roman" panose="02020603050405020304" pitchFamily="18" charset="0"/>
              </a:rPr>
              <a:t>M[i, j]=max(M[i</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 j</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1]+d, M[i, j], M[i</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 j], M[i, j</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ForcedPathUpdate</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j, M) </a:t>
            </a:r>
            <a:r>
              <a:rPr lang="pl-PL" altLang="zh-TW" dirty="0">
                <a:latin typeface="Times New Roman" panose="02020603050405020304" pitchFamily="18" charset="0"/>
                <a:cs typeface="Times New Roman" panose="02020603050405020304" pitchFamily="18" charset="0"/>
              </a:rPr>
              <a:t> </a:t>
            </a:r>
            <a:endParaRPr lang="zh-TW" altLang="en-US" dirty="0">
              <a:latin typeface="Times New Roman" panose="02020603050405020304" pitchFamily="18" charset="0"/>
              <a:cs typeface="Times New Roman" panose="02020603050405020304" pitchFamily="18" charset="0"/>
            </a:endParaRPr>
          </a:p>
        </p:txBody>
      </p:sp>
      <p:cxnSp>
        <p:nvCxnSpPr>
          <p:cNvPr id="28" name="直線接點 27"/>
          <p:cNvCxnSpPr/>
          <p:nvPr/>
        </p:nvCxnSpPr>
        <p:spPr>
          <a:xfrm>
            <a:off x="3778375" y="3983832"/>
            <a:ext cx="965075" cy="762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9" name="直線接點 28"/>
          <p:cNvCxnSpPr/>
          <p:nvPr/>
        </p:nvCxnSpPr>
        <p:spPr>
          <a:xfrm>
            <a:off x="2796540" y="3489960"/>
            <a:ext cx="963930" cy="50149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 name="直線接點 30"/>
          <p:cNvCxnSpPr/>
          <p:nvPr/>
        </p:nvCxnSpPr>
        <p:spPr>
          <a:xfrm>
            <a:off x="4761355" y="3983832"/>
            <a:ext cx="987363" cy="431027"/>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a:off x="6697980" y="3740706"/>
            <a:ext cx="5067300" cy="48839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4" name="直線接點 23"/>
          <p:cNvCxnSpPr/>
          <p:nvPr/>
        </p:nvCxnSpPr>
        <p:spPr>
          <a:xfrm>
            <a:off x="4743450" y="3489960"/>
            <a:ext cx="963930" cy="50149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81006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表格 24"/>
          <p:cNvGraphicFramePr>
            <a:graphicFrameLocks noGrp="1"/>
          </p:cNvGraphicFramePr>
          <p:nvPr/>
        </p:nvGraphicFramePr>
        <p:xfrm>
          <a:off x="838200" y="1682116"/>
          <a:ext cx="4876800" cy="4588192"/>
        </p:xfrm>
        <a:graphic>
          <a:graphicData uri="http://schemas.openxmlformats.org/drawingml/2006/table">
            <a:tbl>
              <a:tblPr firstRow="1" bandRow="1">
                <a:tableStyleId>{5C22544A-7EE6-4342-B048-85BDC9FD1C3A}</a:tableStyleId>
              </a:tblPr>
              <a:tblGrid>
                <a:gridCol w="975360">
                  <a:extLst>
                    <a:ext uri="{9D8B030D-6E8A-4147-A177-3AD203B41FA5}">
                      <a16:colId xmlns:a16="http://schemas.microsoft.com/office/drawing/2014/main" val="20000"/>
                    </a:ext>
                  </a:extLst>
                </a:gridCol>
                <a:gridCol w="975360">
                  <a:extLst>
                    <a:ext uri="{9D8B030D-6E8A-4147-A177-3AD203B41FA5}">
                      <a16:colId xmlns:a16="http://schemas.microsoft.com/office/drawing/2014/main" val="20001"/>
                    </a:ext>
                  </a:extLst>
                </a:gridCol>
                <a:gridCol w="975360">
                  <a:extLst>
                    <a:ext uri="{9D8B030D-6E8A-4147-A177-3AD203B41FA5}">
                      <a16:colId xmlns:a16="http://schemas.microsoft.com/office/drawing/2014/main" val="20002"/>
                    </a:ext>
                  </a:extLst>
                </a:gridCol>
                <a:gridCol w="975360">
                  <a:extLst>
                    <a:ext uri="{9D8B030D-6E8A-4147-A177-3AD203B41FA5}">
                      <a16:colId xmlns:a16="http://schemas.microsoft.com/office/drawing/2014/main" val="20003"/>
                    </a:ext>
                  </a:extLst>
                </a:gridCol>
                <a:gridCol w="975360">
                  <a:extLst>
                    <a:ext uri="{9D8B030D-6E8A-4147-A177-3AD203B41FA5}">
                      <a16:colId xmlns:a16="http://schemas.microsoft.com/office/drawing/2014/main" val="20004"/>
                    </a:ext>
                  </a:extLst>
                </a:gridCol>
              </a:tblGrid>
              <a:tr h="885092">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   </a:t>
                      </a:r>
                      <a:r>
                        <a:rPr lang="en-US" altLang="zh-TW" sz="2800" baseline="0" dirty="0">
                          <a:solidFill>
                            <a:schemeClr val="tx1"/>
                          </a:solidFill>
                          <a:latin typeface="Times New Roman" panose="02020603050405020304" pitchFamily="18" charset="0"/>
                          <a:cs typeface="Times New Roman" panose="02020603050405020304" pitchFamily="18" charset="0"/>
                        </a:rPr>
                        <a:t> </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8</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0002"/>
                  </a:ext>
                </a:extLst>
              </a:tr>
              <a:tr h="925775">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c</a:t>
                      </a:r>
                      <a:r>
                        <a:rPr lang="en-US" altLang="zh-TW" sz="2800" b="0" baseline="30000" dirty="0">
                          <a:solidFill>
                            <a:schemeClr val="tx1"/>
                          </a:solidFill>
                          <a:latin typeface="Times New Roman" panose="02020603050405020304" pitchFamily="18" charset="0"/>
                          <a:cs typeface="Times New Roman" panose="02020603050405020304" pitchFamily="18" charset="0"/>
                        </a:rPr>
                        <a:t>1</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4</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2" name="標題 1"/>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Longest Common Subsequence - Initial Algorithm</a:t>
            </a:r>
            <a:endParaRPr lang="zh-TW" altLang="en-US" sz="4000" dirty="0"/>
          </a:p>
        </p:txBody>
      </p:sp>
      <p:graphicFrame>
        <p:nvGraphicFramePr>
          <p:cNvPr id="10" name="表格 9"/>
          <p:cNvGraphicFramePr>
            <a:graphicFrameLocks noGrp="1"/>
          </p:cNvGraphicFramePr>
          <p:nvPr/>
        </p:nvGraphicFramePr>
        <p:xfrm>
          <a:off x="6385560" y="1696404"/>
          <a:ext cx="2585720" cy="1483360"/>
        </p:xfrm>
        <a:graphic>
          <a:graphicData uri="http://schemas.openxmlformats.org/drawingml/2006/table">
            <a:tbl>
              <a:tblPr firstRow="1" bandRow="1">
                <a:tableStyleId>{5C22544A-7EE6-4342-B048-85BDC9FD1C3A}</a:tableStyleId>
              </a:tblPr>
              <a:tblGrid>
                <a:gridCol w="646430">
                  <a:extLst>
                    <a:ext uri="{9D8B030D-6E8A-4147-A177-3AD203B41FA5}">
                      <a16:colId xmlns:a16="http://schemas.microsoft.com/office/drawing/2014/main" val="20000"/>
                    </a:ext>
                  </a:extLst>
                </a:gridCol>
                <a:gridCol w="646430">
                  <a:extLst>
                    <a:ext uri="{9D8B030D-6E8A-4147-A177-3AD203B41FA5}">
                      <a16:colId xmlns:a16="http://schemas.microsoft.com/office/drawing/2014/main" val="20001"/>
                    </a:ext>
                  </a:extLst>
                </a:gridCol>
                <a:gridCol w="646430">
                  <a:extLst>
                    <a:ext uri="{9D8B030D-6E8A-4147-A177-3AD203B41FA5}">
                      <a16:colId xmlns:a16="http://schemas.microsoft.com/office/drawing/2014/main" val="20002"/>
                    </a:ext>
                  </a:extLst>
                </a:gridCol>
                <a:gridCol w="646430">
                  <a:extLst>
                    <a:ext uri="{9D8B030D-6E8A-4147-A177-3AD203B41FA5}">
                      <a16:colId xmlns:a16="http://schemas.microsoft.com/office/drawing/2014/main" val="20003"/>
                    </a:ext>
                  </a:extLst>
                </a:gridCol>
              </a:tblGrid>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11" name="矩形 10"/>
          <p:cNvSpPr/>
          <p:nvPr/>
        </p:nvSpPr>
        <p:spPr>
          <a:xfrm>
            <a:off x="9149330" y="2810432"/>
            <a:ext cx="1326004"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Matrix of M</a:t>
            </a:r>
            <a:endParaRPr lang="zh-TW" altLang="en-US" dirty="0"/>
          </a:p>
        </p:txBody>
      </p:sp>
      <p:sp>
        <p:nvSpPr>
          <p:cNvPr id="14" name="矩形 13"/>
          <p:cNvSpPr/>
          <p:nvPr/>
        </p:nvSpPr>
        <p:spPr>
          <a:xfrm>
            <a:off x="1371171" y="1758434"/>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Y</a:t>
            </a:r>
            <a:endParaRPr lang="zh-TW" altLang="en-US" dirty="0"/>
          </a:p>
        </p:txBody>
      </p:sp>
      <p:sp>
        <p:nvSpPr>
          <p:cNvPr id="15" name="矩形 14"/>
          <p:cNvSpPr/>
          <p:nvPr/>
        </p:nvSpPr>
        <p:spPr>
          <a:xfrm>
            <a:off x="1019793" y="2195512"/>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X</a:t>
            </a:r>
            <a:endParaRPr lang="zh-TW" altLang="en-US" dirty="0"/>
          </a:p>
        </p:txBody>
      </p:sp>
      <p:cxnSp>
        <p:nvCxnSpPr>
          <p:cNvPr id="7" name="直線接點 6"/>
          <p:cNvCxnSpPr/>
          <p:nvPr/>
        </p:nvCxnSpPr>
        <p:spPr>
          <a:xfrm>
            <a:off x="1821180" y="2564844"/>
            <a:ext cx="480060" cy="9098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a:off x="2301240" y="3474720"/>
            <a:ext cx="0" cy="188976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7" name="直線接點 26"/>
          <p:cNvCxnSpPr/>
          <p:nvPr/>
        </p:nvCxnSpPr>
        <p:spPr>
          <a:xfrm>
            <a:off x="2301240" y="5364480"/>
            <a:ext cx="480060" cy="70104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3" name="直線接點 12"/>
          <p:cNvCxnSpPr/>
          <p:nvPr/>
        </p:nvCxnSpPr>
        <p:spPr>
          <a:xfrm>
            <a:off x="2792730" y="6065520"/>
            <a:ext cx="967740" cy="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a:off x="3778375" y="6065520"/>
            <a:ext cx="229745" cy="204788"/>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9" name="直線接點 18"/>
          <p:cNvCxnSpPr/>
          <p:nvPr/>
        </p:nvCxnSpPr>
        <p:spPr>
          <a:xfrm>
            <a:off x="3778375" y="2564844"/>
            <a:ext cx="374525" cy="9098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直線接點 19"/>
          <p:cNvCxnSpPr/>
          <p:nvPr/>
        </p:nvCxnSpPr>
        <p:spPr>
          <a:xfrm>
            <a:off x="4152900" y="3474720"/>
            <a:ext cx="0" cy="188976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3" name="直線接點 22"/>
          <p:cNvCxnSpPr/>
          <p:nvPr/>
        </p:nvCxnSpPr>
        <p:spPr>
          <a:xfrm>
            <a:off x="4169285" y="5364480"/>
            <a:ext cx="379854" cy="905828"/>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6385560" y="3369629"/>
            <a:ext cx="5471370" cy="1200329"/>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If color(</a:t>
            </a:r>
            <a:r>
              <a:rPr lang="en-US" altLang="zh-TW" dirty="0" err="1">
                <a:latin typeface="Times New Roman" panose="02020603050405020304" pitchFamily="18" charset="0"/>
                <a:cs typeface="Times New Roman" panose="02020603050405020304" pitchFamily="18" charset="0"/>
              </a:rPr>
              <a:t>i,j</a:t>
            </a:r>
            <a:r>
              <a:rPr lang="en-US" altLang="zh-TW" dirty="0">
                <a:latin typeface="Times New Roman" panose="02020603050405020304" pitchFamily="18" charset="0"/>
                <a:cs typeface="Times New Roman" panose="02020603050405020304" pitchFamily="18" charset="0"/>
              </a:rPr>
              <a:t>) is dark</a:t>
            </a:r>
          </a:p>
          <a:p>
            <a:r>
              <a:rPr lang="en-US" altLang="zh-TW" dirty="0">
                <a:latin typeface="Times New Roman" panose="02020603050405020304" pitchFamily="18" charset="0"/>
                <a:cs typeface="Times New Roman" panose="02020603050405020304" pitchFamily="18" charset="0"/>
              </a:rPr>
              <a:t>    d=min(|Xi|, |</a:t>
            </a:r>
            <a:r>
              <a:rPr lang="en-US" altLang="zh-TW" dirty="0" err="1">
                <a:latin typeface="Times New Roman" panose="02020603050405020304" pitchFamily="18" charset="0"/>
                <a:cs typeface="Times New Roman" panose="02020603050405020304" pitchFamily="18" charset="0"/>
              </a:rPr>
              <a:t>Yj</a:t>
            </a:r>
            <a:r>
              <a:rPr lang="en-US" altLang="zh-TW" dirty="0">
                <a:latin typeface="Times New Roman" panose="02020603050405020304" pitchFamily="18" charset="0"/>
                <a:cs typeface="Times New Roman" panose="02020603050405020304" pitchFamily="18" charset="0"/>
              </a:rPr>
              <a:t>|)</a:t>
            </a:r>
          </a:p>
          <a:p>
            <a:r>
              <a:rPr lang="en-US" altLang="zh-TW" dirty="0">
                <a:latin typeface="Times New Roman" panose="02020603050405020304" pitchFamily="18" charset="0"/>
                <a:cs typeface="Times New Roman" panose="02020603050405020304" pitchFamily="18" charset="0"/>
              </a:rPr>
              <a:t>    </a:t>
            </a:r>
            <a:r>
              <a:rPr lang="pl-PL" altLang="zh-TW" dirty="0">
                <a:latin typeface="Times New Roman" panose="02020603050405020304" pitchFamily="18" charset="0"/>
                <a:cs typeface="Times New Roman" panose="02020603050405020304" pitchFamily="18" charset="0"/>
              </a:rPr>
              <a:t>M[i, j]=max(M[i</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 j</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1]+d, M[i, j], M[i</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 j], M[i, j</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ForcedPathUpdate</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j, M) </a:t>
            </a:r>
            <a:r>
              <a:rPr lang="pl-PL" altLang="zh-TW" dirty="0">
                <a:latin typeface="Times New Roman" panose="02020603050405020304" pitchFamily="18" charset="0"/>
                <a:cs typeface="Times New Roman" panose="02020603050405020304" pitchFamily="18" charset="0"/>
              </a:rPr>
              <a:t> </a:t>
            </a:r>
            <a:endParaRPr lang="zh-TW" altLang="en-US" dirty="0">
              <a:latin typeface="Times New Roman" panose="02020603050405020304" pitchFamily="18" charset="0"/>
              <a:cs typeface="Times New Roman" panose="02020603050405020304" pitchFamily="18" charset="0"/>
            </a:endParaRPr>
          </a:p>
        </p:txBody>
      </p:sp>
      <p:cxnSp>
        <p:nvCxnSpPr>
          <p:cNvPr id="28" name="直線接點 27"/>
          <p:cNvCxnSpPr/>
          <p:nvPr/>
        </p:nvCxnSpPr>
        <p:spPr>
          <a:xfrm>
            <a:off x="3778375" y="3983832"/>
            <a:ext cx="965075" cy="762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9" name="直線接點 28"/>
          <p:cNvCxnSpPr/>
          <p:nvPr/>
        </p:nvCxnSpPr>
        <p:spPr>
          <a:xfrm>
            <a:off x="2796540" y="3489960"/>
            <a:ext cx="963930" cy="50149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 name="直線接點 30"/>
          <p:cNvCxnSpPr/>
          <p:nvPr/>
        </p:nvCxnSpPr>
        <p:spPr>
          <a:xfrm>
            <a:off x="4761355" y="3983832"/>
            <a:ext cx="987363" cy="431027"/>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a:off x="6697980" y="3740706"/>
            <a:ext cx="5067300" cy="48839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4" name="直線接點 23"/>
          <p:cNvCxnSpPr/>
          <p:nvPr/>
        </p:nvCxnSpPr>
        <p:spPr>
          <a:xfrm>
            <a:off x="4743450" y="3489960"/>
            <a:ext cx="963930" cy="50149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80525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表格 24"/>
          <p:cNvGraphicFramePr>
            <a:graphicFrameLocks noGrp="1"/>
          </p:cNvGraphicFramePr>
          <p:nvPr/>
        </p:nvGraphicFramePr>
        <p:xfrm>
          <a:off x="838200" y="1682116"/>
          <a:ext cx="4876800" cy="4588192"/>
        </p:xfrm>
        <a:graphic>
          <a:graphicData uri="http://schemas.openxmlformats.org/drawingml/2006/table">
            <a:tbl>
              <a:tblPr firstRow="1" bandRow="1">
                <a:tableStyleId>{5C22544A-7EE6-4342-B048-85BDC9FD1C3A}</a:tableStyleId>
              </a:tblPr>
              <a:tblGrid>
                <a:gridCol w="975360">
                  <a:extLst>
                    <a:ext uri="{9D8B030D-6E8A-4147-A177-3AD203B41FA5}">
                      <a16:colId xmlns:a16="http://schemas.microsoft.com/office/drawing/2014/main" val="20000"/>
                    </a:ext>
                  </a:extLst>
                </a:gridCol>
                <a:gridCol w="975360">
                  <a:extLst>
                    <a:ext uri="{9D8B030D-6E8A-4147-A177-3AD203B41FA5}">
                      <a16:colId xmlns:a16="http://schemas.microsoft.com/office/drawing/2014/main" val="20001"/>
                    </a:ext>
                  </a:extLst>
                </a:gridCol>
                <a:gridCol w="975360">
                  <a:extLst>
                    <a:ext uri="{9D8B030D-6E8A-4147-A177-3AD203B41FA5}">
                      <a16:colId xmlns:a16="http://schemas.microsoft.com/office/drawing/2014/main" val="20002"/>
                    </a:ext>
                  </a:extLst>
                </a:gridCol>
                <a:gridCol w="975360">
                  <a:extLst>
                    <a:ext uri="{9D8B030D-6E8A-4147-A177-3AD203B41FA5}">
                      <a16:colId xmlns:a16="http://schemas.microsoft.com/office/drawing/2014/main" val="20003"/>
                    </a:ext>
                  </a:extLst>
                </a:gridCol>
                <a:gridCol w="975360">
                  <a:extLst>
                    <a:ext uri="{9D8B030D-6E8A-4147-A177-3AD203B41FA5}">
                      <a16:colId xmlns:a16="http://schemas.microsoft.com/office/drawing/2014/main" val="20004"/>
                    </a:ext>
                  </a:extLst>
                </a:gridCol>
              </a:tblGrid>
              <a:tr h="885092">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   </a:t>
                      </a:r>
                      <a:r>
                        <a:rPr lang="en-US" altLang="zh-TW" sz="2800" baseline="0" dirty="0">
                          <a:solidFill>
                            <a:schemeClr val="tx1"/>
                          </a:solidFill>
                          <a:latin typeface="Times New Roman" panose="02020603050405020304" pitchFamily="18" charset="0"/>
                          <a:cs typeface="Times New Roman" panose="02020603050405020304" pitchFamily="18" charset="0"/>
                        </a:rPr>
                        <a:t> </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8</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0002"/>
                  </a:ext>
                </a:extLst>
              </a:tr>
              <a:tr h="925775">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c</a:t>
                      </a:r>
                      <a:r>
                        <a:rPr lang="en-US" altLang="zh-TW" sz="2800" b="0" baseline="30000" dirty="0">
                          <a:solidFill>
                            <a:schemeClr val="tx1"/>
                          </a:solidFill>
                          <a:latin typeface="Times New Roman" panose="02020603050405020304" pitchFamily="18" charset="0"/>
                          <a:cs typeface="Times New Roman" panose="02020603050405020304" pitchFamily="18" charset="0"/>
                        </a:rPr>
                        <a:t>1</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4</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2" name="標題 1"/>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Longest Common Subsequence - Initial Algorithm</a:t>
            </a:r>
            <a:endParaRPr lang="zh-TW" altLang="en-US" sz="4000" dirty="0"/>
          </a:p>
        </p:txBody>
      </p:sp>
      <p:graphicFrame>
        <p:nvGraphicFramePr>
          <p:cNvPr id="10" name="表格 9"/>
          <p:cNvGraphicFramePr>
            <a:graphicFrameLocks noGrp="1"/>
          </p:cNvGraphicFramePr>
          <p:nvPr>
            <p:extLst>
              <p:ext uri="{D42A27DB-BD31-4B8C-83A1-F6EECF244321}">
                <p14:modId xmlns:p14="http://schemas.microsoft.com/office/powerpoint/2010/main" val="3544776760"/>
              </p:ext>
            </p:extLst>
          </p:nvPr>
        </p:nvGraphicFramePr>
        <p:xfrm>
          <a:off x="6385560" y="1696404"/>
          <a:ext cx="2585720" cy="1483360"/>
        </p:xfrm>
        <a:graphic>
          <a:graphicData uri="http://schemas.openxmlformats.org/drawingml/2006/table">
            <a:tbl>
              <a:tblPr firstRow="1" bandRow="1">
                <a:tableStyleId>{5C22544A-7EE6-4342-B048-85BDC9FD1C3A}</a:tableStyleId>
              </a:tblPr>
              <a:tblGrid>
                <a:gridCol w="646430">
                  <a:extLst>
                    <a:ext uri="{9D8B030D-6E8A-4147-A177-3AD203B41FA5}">
                      <a16:colId xmlns:a16="http://schemas.microsoft.com/office/drawing/2014/main" val="20000"/>
                    </a:ext>
                  </a:extLst>
                </a:gridCol>
                <a:gridCol w="646430">
                  <a:extLst>
                    <a:ext uri="{9D8B030D-6E8A-4147-A177-3AD203B41FA5}">
                      <a16:colId xmlns:a16="http://schemas.microsoft.com/office/drawing/2014/main" val="20001"/>
                    </a:ext>
                  </a:extLst>
                </a:gridCol>
                <a:gridCol w="646430">
                  <a:extLst>
                    <a:ext uri="{9D8B030D-6E8A-4147-A177-3AD203B41FA5}">
                      <a16:colId xmlns:a16="http://schemas.microsoft.com/office/drawing/2014/main" val="20002"/>
                    </a:ext>
                  </a:extLst>
                </a:gridCol>
                <a:gridCol w="646430">
                  <a:extLst>
                    <a:ext uri="{9D8B030D-6E8A-4147-A177-3AD203B41FA5}">
                      <a16:colId xmlns:a16="http://schemas.microsoft.com/office/drawing/2014/main" val="20003"/>
                    </a:ext>
                  </a:extLst>
                </a:gridCol>
              </a:tblGrid>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11" name="矩形 10"/>
          <p:cNvSpPr/>
          <p:nvPr/>
        </p:nvSpPr>
        <p:spPr>
          <a:xfrm>
            <a:off x="9149330" y="2810432"/>
            <a:ext cx="1326004"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Matrix of M</a:t>
            </a:r>
            <a:endParaRPr lang="zh-TW" altLang="en-US" dirty="0"/>
          </a:p>
        </p:txBody>
      </p:sp>
      <p:sp>
        <p:nvSpPr>
          <p:cNvPr id="14" name="矩形 13"/>
          <p:cNvSpPr/>
          <p:nvPr/>
        </p:nvSpPr>
        <p:spPr>
          <a:xfrm>
            <a:off x="1371171" y="1758434"/>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Y</a:t>
            </a:r>
            <a:endParaRPr lang="zh-TW" altLang="en-US" dirty="0"/>
          </a:p>
        </p:txBody>
      </p:sp>
      <p:sp>
        <p:nvSpPr>
          <p:cNvPr id="15" name="矩形 14"/>
          <p:cNvSpPr/>
          <p:nvPr/>
        </p:nvSpPr>
        <p:spPr>
          <a:xfrm>
            <a:off x="1019793" y="2195512"/>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X</a:t>
            </a:r>
            <a:endParaRPr lang="zh-TW" altLang="en-US" dirty="0"/>
          </a:p>
        </p:txBody>
      </p:sp>
      <p:cxnSp>
        <p:nvCxnSpPr>
          <p:cNvPr id="7" name="直線接點 6"/>
          <p:cNvCxnSpPr/>
          <p:nvPr/>
        </p:nvCxnSpPr>
        <p:spPr>
          <a:xfrm>
            <a:off x="1821180" y="2564844"/>
            <a:ext cx="480060" cy="9098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a:off x="2301240" y="3474720"/>
            <a:ext cx="0" cy="188976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7" name="直線接點 26"/>
          <p:cNvCxnSpPr/>
          <p:nvPr/>
        </p:nvCxnSpPr>
        <p:spPr>
          <a:xfrm>
            <a:off x="2301240" y="5364480"/>
            <a:ext cx="480060" cy="70104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3" name="直線接點 12"/>
          <p:cNvCxnSpPr/>
          <p:nvPr/>
        </p:nvCxnSpPr>
        <p:spPr>
          <a:xfrm>
            <a:off x="2792730" y="6065520"/>
            <a:ext cx="967740" cy="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a:off x="3778375" y="6065520"/>
            <a:ext cx="229745" cy="204788"/>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9" name="直線接點 18"/>
          <p:cNvCxnSpPr/>
          <p:nvPr/>
        </p:nvCxnSpPr>
        <p:spPr>
          <a:xfrm>
            <a:off x="3778375" y="2564844"/>
            <a:ext cx="374525" cy="9098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直線接點 19"/>
          <p:cNvCxnSpPr/>
          <p:nvPr/>
        </p:nvCxnSpPr>
        <p:spPr>
          <a:xfrm>
            <a:off x="4152900" y="3474720"/>
            <a:ext cx="0" cy="188976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3" name="直線接點 22"/>
          <p:cNvCxnSpPr/>
          <p:nvPr/>
        </p:nvCxnSpPr>
        <p:spPr>
          <a:xfrm>
            <a:off x="4169285" y="5364480"/>
            <a:ext cx="379854" cy="905828"/>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6385560" y="3369629"/>
            <a:ext cx="5471370" cy="1200329"/>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If color(</a:t>
            </a:r>
            <a:r>
              <a:rPr lang="en-US" altLang="zh-TW" dirty="0" err="1">
                <a:latin typeface="Times New Roman" panose="02020603050405020304" pitchFamily="18" charset="0"/>
                <a:cs typeface="Times New Roman" panose="02020603050405020304" pitchFamily="18" charset="0"/>
              </a:rPr>
              <a:t>i,j</a:t>
            </a:r>
            <a:r>
              <a:rPr lang="en-US" altLang="zh-TW" dirty="0">
                <a:latin typeface="Times New Roman" panose="02020603050405020304" pitchFamily="18" charset="0"/>
                <a:cs typeface="Times New Roman" panose="02020603050405020304" pitchFamily="18" charset="0"/>
              </a:rPr>
              <a:t>) is dark</a:t>
            </a:r>
          </a:p>
          <a:p>
            <a:r>
              <a:rPr lang="en-US" altLang="zh-TW" dirty="0">
                <a:latin typeface="Times New Roman" panose="02020603050405020304" pitchFamily="18" charset="0"/>
                <a:cs typeface="Times New Roman" panose="02020603050405020304" pitchFamily="18" charset="0"/>
              </a:rPr>
              <a:t>    d=min(|Xi|, |</a:t>
            </a:r>
            <a:r>
              <a:rPr lang="en-US" altLang="zh-TW" dirty="0" err="1">
                <a:latin typeface="Times New Roman" panose="02020603050405020304" pitchFamily="18" charset="0"/>
                <a:cs typeface="Times New Roman" panose="02020603050405020304" pitchFamily="18" charset="0"/>
              </a:rPr>
              <a:t>Yj</a:t>
            </a:r>
            <a:r>
              <a:rPr lang="en-US" altLang="zh-TW" dirty="0">
                <a:latin typeface="Times New Roman" panose="02020603050405020304" pitchFamily="18" charset="0"/>
                <a:cs typeface="Times New Roman" panose="02020603050405020304" pitchFamily="18" charset="0"/>
              </a:rPr>
              <a:t>|)</a:t>
            </a:r>
          </a:p>
          <a:p>
            <a:r>
              <a:rPr lang="en-US" altLang="zh-TW" dirty="0">
                <a:latin typeface="Times New Roman" panose="02020603050405020304" pitchFamily="18" charset="0"/>
                <a:cs typeface="Times New Roman" panose="02020603050405020304" pitchFamily="18" charset="0"/>
              </a:rPr>
              <a:t>    </a:t>
            </a:r>
            <a:r>
              <a:rPr lang="pl-PL" altLang="zh-TW" dirty="0">
                <a:latin typeface="Times New Roman" panose="02020603050405020304" pitchFamily="18" charset="0"/>
                <a:cs typeface="Times New Roman" panose="02020603050405020304" pitchFamily="18" charset="0"/>
              </a:rPr>
              <a:t>M[i, j]=max(M[i</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 j</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1]+d, M[i, j], M[i</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 j], M[i, j</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ForcedPathUpdate</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j, M) </a:t>
            </a:r>
            <a:r>
              <a:rPr lang="pl-PL" altLang="zh-TW" dirty="0">
                <a:latin typeface="Times New Roman" panose="02020603050405020304" pitchFamily="18" charset="0"/>
                <a:cs typeface="Times New Roman" panose="02020603050405020304" pitchFamily="18" charset="0"/>
              </a:rPr>
              <a:t> </a:t>
            </a:r>
            <a:endParaRPr lang="zh-TW" altLang="en-US" dirty="0">
              <a:latin typeface="Times New Roman" panose="02020603050405020304" pitchFamily="18" charset="0"/>
              <a:cs typeface="Times New Roman" panose="02020603050405020304" pitchFamily="18" charset="0"/>
            </a:endParaRPr>
          </a:p>
        </p:txBody>
      </p:sp>
      <p:cxnSp>
        <p:nvCxnSpPr>
          <p:cNvPr id="28" name="直線接點 27"/>
          <p:cNvCxnSpPr/>
          <p:nvPr/>
        </p:nvCxnSpPr>
        <p:spPr>
          <a:xfrm>
            <a:off x="3778375" y="3983832"/>
            <a:ext cx="965075" cy="762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9" name="直線接點 28"/>
          <p:cNvCxnSpPr/>
          <p:nvPr/>
        </p:nvCxnSpPr>
        <p:spPr>
          <a:xfrm>
            <a:off x="2796540" y="3489960"/>
            <a:ext cx="963930" cy="50149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 name="直線接點 30"/>
          <p:cNvCxnSpPr/>
          <p:nvPr/>
        </p:nvCxnSpPr>
        <p:spPr>
          <a:xfrm>
            <a:off x="4761355" y="3983832"/>
            <a:ext cx="987363" cy="431027"/>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a:off x="6675120" y="4271429"/>
            <a:ext cx="2474210" cy="29852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4" name="直線接點 23"/>
          <p:cNvCxnSpPr/>
          <p:nvPr/>
        </p:nvCxnSpPr>
        <p:spPr>
          <a:xfrm>
            <a:off x="4743450" y="3489960"/>
            <a:ext cx="963930" cy="50149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直線接點 25"/>
          <p:cNvCxnSpPr/>
          <p:nvPr/>
        </p:nvCxnSpPr>
        <p:spPr>
          <a:xfrm>
            <a:off x="1819089" y="5338604"/>
            <a:ext cx="679127" cy="931704"/>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89102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表格 24"/>
          <p:cNvGraphicFramePr>
            <a:graphicFrameLocks noGrp="1"/>
          </p:cNvGraphicFramePr>
          <p:nvPr/>
        </p:nvGraphicFramePr>
        <p:xfrm>
          <a:off x="838200" y="1682116"/>
          <a:ext cx="4876800" cy="4588192"/>
        </p:xfrm>
        <a:graphic>
          <a:graphicData uri="http://schemas.openxmlformats.org/drawingml/2006/table">
            <a:tbl>
              <a:tblPr firstRow="1" bandRow="1">
                <a:tableStyleId>{5C22544A-7EE6-4342-B048-85BDC9FD1C3A}</a:tableStyleId>
              </a:tblPr>
              <a:tblGrid>
                <a:gridCol w="975360">
                  <a:extLst>
                    <a:ext uri="{9D8B030D-6E8A-4147-A177-3AD203B41FA5}">
                      <a16:colId xmlns:a16="http://schemas.microsoft.com/office/drawing/2014/main" val="20000"/>
                    </a:ext>
                  </a:extLst>
                </a:gridCol>
                <a:gridCol w="975360">
                  <a:extLst>
                    <a:ext uri="{9D8B030D-6E8A-4147-A177-3AD203B41FA5}">
                      <a16:colId xmlns:a16="http://schemas.microsoft.com/office/drawing/2014/main" val="20001"/>
                    </a:ext>
                  </a:extLst>
                </a:gridCol>
                <a:gridCol w="975360">
                  <a:extLst>
                    <a:ext uri="{9D8B030D-6E8A-4147-A177-3AD203B41FA5}">
                      <a16:colId xmlns:a16="http://schemas.microsoft.com/office/drawing/2014/main" val="20002"/>
                    </a:ext>
                  </a:extLst>
                </a:gridCol>
                <a:gridCol w="975360">
                  <a:extLst>
                    <a:ext uri="{9D8B030D-6E8A-4147-A177-3AD203B41FA5}">
                      <a16:colId xmlns:a16="http://schemas.microsoft.com/office/drawing/2014/main" val="20003"/>
                    </a:ext>
                  </a:extLst>
                </a:gridCol>
                <a:gridCol w="975360">
                  <a:extLst>
                    <a:ext uri="{9D8B030D-6E8A-4147-A177-3AD203B41FA5}">
                      <a16:colId xmlns:a16="http://schemas.microsoft.com/office/drawing/2014/main" val="20004"/>
                    </a:ext>
                  </a:extLst>
                </a:gridCol>
              </a:tblGrid>
              <a:tr h="885092">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   </a:t>
                      </a:r>
                      <a:r>
                        <a:rPr lang="en-US" altLang="zh-TW" sz="2800" baseline="0" dirty="0">
                          <a:solidFill>
                            <a:schemeClr val="tx1"/>
                          </a:solidFill>
                          <a:latin typeface="Times New Roman" panose="02020603050405020304" pitchFamily="18" charset="0"/>
                          <a:cs typeface="Times New Roman" panose="02020603050405020304" pitchFamily="18" charset="0"/>
                        </a:rPr>
                        <a:t> </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8</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0002"/>
                  </a:ext>
                </a:extLst>
              </a:tr>
              <a:tr h="925775">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c</a:t>
                      </a:r>
                      <a:r>
                        <a:rPr lang="en-US" altLang="zh-TW" sz="2800" b="0" baseline="30000" dirty="0">
                          <a:solidFill>
                            <a:schemeClr val="tx1"/>
                          </a:solidFill>
                          <a:latin typeface="Times New Roman" panose="02020603050405020304" pitchFamily="18" charset="0"/>
                          <a:cs typeface="Times New Roman" panose="02020603050405020304" pitchFamily="18" charset="0"/>
                        </a:rPr>
                        <a:t>1</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4</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2" name="標題 1"/>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Longest Common Subsequence - Initial Algorithm</a:t>
            </a:r>
            <a:endParaRPr lang="zh-TW" altLang="en-US" sz="4000" dirty="0"/>
          </a:p>
        </p:txBody>
      </p:sp>
      <p:graphicFrame>
        <p:nvGraphicFramePr>
          <p:cNvPr id="10" name="表格 9"/>
          <p:cNvGraphicFramePr>
            <a:graphicFrameLocks noGrp="1"/>
          </p:cNvGraphicFramePr>
          <p:nvPr>
            <p:extLst>
              <p:ext uri="{D42A27DB-BD31-4B8C-83A1-F6EECF244321}">
                <p14:modId xmlns:p14="http://schemas.microsoft.com/office/powerpoint/2010/main" val="4192812571"/>
              </p:ext>
            </p:extLst>
          </p:nvPr>
        </p:nvGraphicFramePr>
        <p:xfrm>
          <a:off x="6385560" y="1696404"/>
          <a:ext cx="2585720" cy="1483360"/>
        </p:xfrm>
        <a:graphic>
          <a:graphicData uri="http://schemas.openxmlformats.org/drawingml/2006/table">
            <a:tbl>
              <a:tblPr firstRow="1" bandRow="1">
                <a:tableStyleId>{5C22544A-7EE6-4342-B048-85BDC9FD1C3A}</a:tableStyleId>
              </a:tblPr>
              <a:tblGrid>
                <a:gridCol w="646430">
                  <a:extLst>
                    <a:ext uri="{9D8B030D-6E8A-4147-A177-3AD203B41FA5}">
                      <a16:colId xmlns:a16="http://schemas.microsoft.com/office/drawing/2014/main" val="20000"/>
                    </a:ext>
                  </a:extLst>
                </a:gridCol>
                <a:gridCol w="646430">
                  <a:extLst>
                    <a:ext uri="{9D8B030D-6E8A-4147-A177-3AD203B41FA5}">
                      <a16:colId xmlns:a16="http://schemas.microsoft.com/office/drawing/2014/main" val="20001"/>
                    </a:ext>
                  </a:extLst>
                </a:gridCol>
                <a:gridCol w="646430">
                  <a:extLst>
                    <a:ext uri="{9D8B030D-6E8A-4147-A177-3AD203B41FA5}">
                      <a16:colId xmlns:a16="http://schemas.microsoft.com/office/drawing/2014/main" val="20002"/>
                    </a:ext>
                  </a:extLst>
                </a:gridCol>
                <a:gridCol w="646430">
                  <a:extLst>
                    <a:ext uri="{9D8B030D-6E8A-4147-A177-3AD203B41FA5}">
                      <a16:colId xmlns:a16="http://schemas.microsoft.com/office/drawing/2014/main" val="20003"/>
                    </a:ext>
                  </a:extLst>
                </a:gridCol>
              </a:tblGrid>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11" name="矩形 10"/>
          <p:cNvSpPr/>
          <p:nvPr/>
        </p:nvSpPr>
        <p:spPr>
          <a:xfrm>
            <a:off x="9149330" y="2810432"/>
            <a:ext cx="1326004"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Matrix of M</a:t>
            </a:r>
            <a:endParaRPr lang="zh-TW" altLang="en-US" dirty="0"/>
          </a:p>
        </p:txBody>
      </p:sp>
      <p:sp>
        <p:nvSpPr>
          <p:cNvPr id="14" name="矩形 13"/>
          <p:cNvSpPr/>
          <p:nvPr/>
        </p:nvSpPr>
        <p:spPr>
          <a:xfrm>
            <a:off x="1371171" y="1758434"/>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Y</a:t>
            </a:r>
            <a:endParaRPr lang="zh-TW" altLang="en-US" dirty="0"/>
          </a:p>
        </p:txBody>
      </p:sp>
      <p:sp>
        <p:nvSpPr>
          <p:cNvPr id="15" name="矩形 14"/>
          <p:cNvSpPr/>
          <p:nvPr/>
        </p:nvSpPr>
        <p:spPr>
          <a:xfrm>
            <a:off x="1019793" y="2195512"/>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X</a:t>
            </a:r>
            <a:endParaRPr lang="zh-TW" altLang="en-US" dirty="0"/>
          </a:p>
        </p:txBody>
      </p:sp>
      <p:cxnSp>
        <p:nvCxnSpPr>
          <p:cNvPr id="7" name="直線接點 6"/>
          <p:cNvCxnSpPr/>
          <p:nvPr/>
        </p:nvCxnSpPr>
        <p:spPr>
          <a:xfrm>
            <a:off x="1821180" y="2564844"/>
            <a:ext cx="480060" cy="9098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a:off x="2301240" y="3474720"/>
            <a:ext cx="0" cy="188976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7" name="直線接點 26"/>
          <p:cNvCxnSpPr/>
          <p:nvPr/>
        </p:nvCxnSpPr>
        <p:spPr>
          <a:xfrm>
            <a:off x="2301240" y="5364480"/>
            <a:ext cx="480060" cy="70104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3" name="直線接點 12"/>
          <p:cNvCxnSpPr/>
          <p:nvPr/>
        </p:nvCxnSpPr>
        <p:spPr>
          <a:xfrm>
            <a:off x="2792730" y="6065520"/>
            <a:ext cx="967740" cy="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a:off x="3778375" y="6065520"/>
            <a:ext cx="229745" cy="204788"/>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9" name="直線接點 18"/>
          <p:cNvCxnSpPr/>
          <p:nvPr/>
        </p:nvCxnSpPr>
        <p:spPr>
          <a:xfrm>
            <a:off x="3778375" y="2564844"/>
            <a:ext cx="374525" cy="9098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直線接點 19"/>
          <p:cNvCxnSpPr/>
          <p:nvPr/>
        </p:nvCxnSpPr>
        <p:spPr>
          <a:xfrm>
            <a:off x="4152900" y="3474720"/>
            <a:ext cx="0" cy="188976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3" name="直線接點 22"/>
          <p:cNvCxnSpPr/>
          <p:nvPr/>
        </p:nvCxnSpPr>
        <p:spPr>
          <a:xfrm>
            <a:off x="4169285" y="5364480"/>
            <a:ext cx="379854" cy="905828"/>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6385560" y="3369629"/>
            <a:ext cx="5471370" cy="1200329"/>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If color(</a:t>
            </a:r>
            <a:r>
              <a:rPr lang="en-US" altLang="zh-TW" dirty="0" err="1">
                <a:latin typeface="Times New Roman" panose="02020603050405020304" pitchFamily="18" charset="0"/>
                <a:cs typeface="Times New Roman" panose="02020603050405020304" pitchFamily="18" charset="0"/>
              </a:rPr>
              <a:t>i,j</a:t>
            </a:r>
            <a:r>
              <a:rPr lang="en-US" altLang="zh-TW" dirty="0">
                <a:latin typeface="Times New Roman" panose="02020603050405020304" pitchFamily="18" charset="0"/>
                <a:cs typeface="Times New Roman" panose="02020603050405020304" pitchFamily="18" charset="0"/>
              </a:rPr>
              <a:t>) is dark</a:t>
            </a:r>
          </a:p>
          <a:p>
            <a:r>
              <a:rPr lang="en-US" altLang="zh-TW" dirty="0">
                <a:latin typeface="Times New Roman" panose="02020603050405020304" pitchFamily="18" charset="0"/>
                <a:cs typeface="Times New Roman" panose="02020603050405020304" pitchFamily="18" charset="0"/>
              </a:rPr>
              <a:t>    d=min(|Xi|, |</a:t>
            </a:r>
            <a:r>
              <a:rPr lang="en-US" altLang="zh-TW" dirty="0" err="1">
                <a:latin typeface="Times New Roman" panose="02020603050405020304" pitchFamily="18" charset="0"/>
                <a:cs typeface="Times New Roman" panose="02020603050405020304" pitchFamily="18" charset="0"/>
              </a:rPr>
              <a:t>Yj</a:t>
            </a:r>
            <a:r>
              <a:rPr lang="en-US" altLang="zh-TW" dirty="0">
                <a:latin typeface="Times New Roman" panose="02020603050405020304" pitchFamily="18" charset="0"/>
                <a:cs typeface="Times New Roman" panose="02020603050405020304" pitchFamily="18" charset="0"/>
              </a:rPr>
              <a:t>|)</a:t>
            </a:r>
          </a:p>
          <a:p>
            <a:r>
              <a:rPr lang="en-US" altLang="zh-TW" dirty="0">
                <a:latin typeface="Times New Roman" panose="02020603050405020304" pitchFamily="18" charset="0"/>
                <a:cs typeface="Times New Roman" panose="02020603050405020304" pitchFamily="18" charset="0"/>
              </a:rPr>
              <a:t>    </a:t>
            </a:r>
            <a:r>
              <a:rPr lang="pl-PL" altLang="zh-TW" dirty="0">
                <a:latin typeface="Times New Roman" panose="02020603050405020304" pitchFamily="18" charset="0"/>
                <a:cs typeface="Times New Roman" panose="02020603050405020304" pitchFamily="18" charset="0"/>
              </a:rPr>
              <a:t>M[i, j]=max(M[i</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 j</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1]+d, M[i, j], M[i</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 j], M[i, j</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ForcedPathUpdate</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j, M) </a:t>
            </a:r>
            <a:r>
              <a:rPr lang="pl-PL" altLang="zh-TW" dirty="0">
                <a:latin typeface="Times New Roman" panose="02020603050405020304" pitchFamily="18" charset="0"/>
                <a:cs typeface="Times New Roman" panose="02020603050405020304" pitchFamily="18" charset="0"/>
              </a:rPr>
              <a:t> </a:t>
            </a:r>
            <a:endParaRPr lang="zh-TW" altLang="en-US" dirty="0">
              <a:latin typeface="Times New Roman" panose="02020603050405020304" pitchFamily="18" charset="0"/>
              <a:cs typeface="Times New Roman" panose="02020603050405020304" pitchFamily="18" charset="0"/>
            </a:endParaRPr>
          </a:p>
        </p:txBody>
      </p:sp>
      <p:cxnSp>
        <p:nvCxnSpPr>
          <p:cNvPr id="28" name="直線接點 27"/>
          <p:cNvCxnSpPr/>
          <p:nvPr/>
        </p:nvCxnSpPr>
        <p:spPr>
          <a:xfrm>
            <a:off x="3778375" y="3983832"/>
            <a:ext cx="965075" cy="762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9" name="直線接點 28"/>
          <p:cNvCxnSpPr/>
          <p:nvPr/>
        </p:nvCxnSpPr>
        <p:spPr>
          <a:xfrm>
            <a:off x="2796540" y="3489960"/>
            <a:ext cx="963930" cy="50149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 name="直線接點 30"/>
          <p:cNvCxnSpPr/>
          <p:nvPr/>
        </p:nvCxnSpPr>
        <p:spPr>
          <a:xfrm>
            <a:off x="4761355" y="3983832"/>
            <a:ext cx="987363" cy="431027"/>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a:off x="6675120" y="3692923"/>
            <a:ext cx="5052060" cy="60658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4" name="直線接點 23"/>
          <p:cNvCxnSpPr/>
          <p:nvPr/>
        </p:nvCxnSpPr>
        <p:spPr>
          <a:xfrm>
            <a:off x="4743450" y="3489960"/>
            <a:ext cx="963930" cy="50149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直線接點 25"/>
          <p:cNvCxnSpPr/>
          <p:nvPr/>
        </p:nvCxnSpPr>
        <p:spPr>
          <a:xfrm>
            <a:off x="1819089" y="5338604"/>
            <a:ext cx="679127" cy="931704"/>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 name="直線單箭頭接點 3"/>
          <p:cNvCxnSpPr>
            <a:endCxn id="21" idx="1"/>
          </p:cNvCxnSpPr>
          <p:nvPr/>
        </p:nvCxnSpPr>
        <p:spPr>
          <a:xfrm flipV="1">
            <a:off x="4229100" y="3969794"/>
            <a:ext cx="2156460" cy="187474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21897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表格 24"/>
          <p:cNvGraphicFramePr>
            <a:graphicFrameLocks noGrp="1"/>
          </p:cNvGraphicFramePr>
          <p:nvPr/>
        </p:nvGraphicFramePr>
        <p:xfrm>
          <a:off x="838200" y="1682116"/>
          <a:ext cx="4876800" cy="4588192"/>
        </p:xfrm>
        <a:graphic>
          <a:graphicData uri="http://schemas.openxmlformats.org/drawingml/2006/table">
            <a:tbl>
              <a:tblPr firstRow="1" bandRow="1">
                <a:tableStyleId>{5C22544A-7EE6-4342-B048-85BDC9FD1C3A}</a:tableStyleId>
              </a:tblPr>
              <a:tblGrid>
                <a:gridCol w="975360">
                  <a:extLst>
                    <a:ext uri="{9D8B030D-6E8A-4147-A177-3AD203B41FA5}">
                      <a16:colId xmlns:a16="http://schemas.microsoft.com/office/drawing/2014/main" val="20000"/>
                    </a:ext>
                  </a:extLst>
                </a:gridCol>
                <a:gridCol w="975360">
                  <a:extLst>
                    <a:ext uri="{9D8B030D-6E8A-4147-A177-3AD203B41FA5}">
                      <a16:colId xmlns:a16="http://schemas.microsoft.com/office/drawing/2014/main" val="20001"/>
                    </a:ext>
                  </a:extLst>
                </a:gridCol>
                <a:gridCol w="975360">
                  <a:extLst>
                    <a:ext uri="{9D8B030D-6E8A-4147-A177-3AD203B41FA5}">
                      <a16:colId xmlns:a16="http://schemas.microsoft.com/office/drawing/2014/main" val="20002"/>
                    </a:ext>
                  </a:extLst>
                </a:gridCol>
                <a:gridCol w="975360">
                  <a:extLst>
                    <a:ext uri="{9D8B030D-6E8A-4147-A177-3AD203B41FA5}">
                      <a16:colId xmlns:a16="http://schemas.microsoft.com/office/drawing/2014/main" val="20003"/>
                    </a:ext>
                  </a:extLst>
                </a:gridCol>
                <a:gridCol w="975360">
                  <a:extLst>
                    <a:ext uri="{9D8B030D-6E8A-4147-A177-3AD203B41FA5}">
                      <a16:colId xmlns:a16="http://schemas.microsoft.com/office/drawing/2014/main" val="20004"/>
                    </a:ext>
                  </a:extLst>
                </a:gridCol>
              </a:tblGrid>
              <a:tr h="885092">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   </a:t>
                      </a:r>
                      <a:r>
                        <a:rPr lang="en-US" altLang="zh-TW" sz="2800" baseline="0" dirty="0">
                          <a:solidFill>
                            <a:schemeClr val="tx1"/>
                          </a:solidFill>
                          <a:latin typeface="Times New Roman" panose="02020603050405020304" pitchFamily="18" charset="0"/>
                          <a:cs typeface="Times New Roman" panose="02020603050405020304" pitchFamily="18" charset="0"/>
                        </a:rPr>
                        <a:t> </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8</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0002"/>
                  </a:ext>
                </a:extLst>
              </a:tr>
              <a:tr h="925775">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c</a:t>
                      </a:r>
                      <a:r>
                        <a:rPr lang="en-US" altLang="zh-TW" sz="2800" b="0" baseline="30000" dirty="0">
                          <a:solidFill>
                            <a:schemeClr val="tx1"/>
                          </a:solidFill>
                          <a:latin typeface="Times New Roman" panose="02020603050405020304" pitchFamily="18" charset="0"/>
                          <a:cs typeface="Times New Roman" panose="02020603050405020304" pitchFamily="18" charset="0"/>
                        </a:rPr>
                        <a:t>1</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4</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2" name="標題 1"/>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Longest Common Subsequence - Initial Algorithm</a:t>
            </a:r>
            <a:endParaRPr lang="zh-TW" altLang="en-US" sz="4000" dirty="0"/>
          </a:p>
        </p:txBody>
      </p:sp>
      <p:graphicFrame>
        <p:nvGraphicFramePr>
          <p:cNvPr id="10" name="表格 9"/>
          <p:cNvGraphicFramePr>
            <a:graphicFrameLocks noGrp="1"/>
          </p:cNvGraphicFramePr>
          <p:nvPr/>
        </p:nvGraphicFramePr>
        <p:xfrm>
          <a:off x="6385560" y="1696404"/>
          <a:ext cx="2585720" cy="1483360"/>
        </p:xfrm>
        <a:graphic>
          <a:graphicData uri="http://schemas.openxmlformats.org/drawingml/2006/table">
            <a:tbl>
              <a:tblPr firstRow="1" bandRow="1">
                <a:tableStyleId>{5C22544A-7EE6-4342-B048-85BDC9FD1C3A}</a:tableStyleId>
              </a:tblPr>
              <a:tblGrid>
                <a:gridCol w="646430">
                  <a:extLst>
                    <a:ext uri="{9D8B030D-6E8A-4147-A177-3AD203B41FA5}">
                      <a16:colId xmlns:a16="http://schemas.microsoft.com/office/drawing/2014/main" val="20000"/>
                    </a:ext>
                  </a:extLst>
                </a:gridCol>
                <a:gridCol w="646430">
                  <a:extLst>
                    <a:ext uri="{9D8B030D-6E8A-4147-A177-3AD203B41FA5}">
                      <a16:colId xmlns:a16="http://schemas.microsoft.com/office/drawing/2014/main" val="20001"/>
                    </a:ext>
                  </a:extLst>
                </a:gridCol>
                <a:gridCol w="646430">
                  <a:extLst>
                    <a:ext uri="{9D8B030D-6E8A-4147-A177-3AD203B41FA5}">
                      <a16:colId xmlns:a16="http://schemas.microsoft.com/office/drawing/2014/main" val="20002"/>
                    </a:ext>
                  </a:extLst>
                </a:gridCol>
                <a:gridCol w="646430">
                  <a:extLst>
                    <a:ext uri="{9D8B030D-6E8A-4147-A177-3AD203B41FA5}">
                      <a16:colId xmlns:a16="http://schemas.microsoft.com/office/drawing/2014/main" val="20003"/>
                    </a:ext>
                  </a:extLst>
                </a:gridCol>
              </a:tblGrid>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11" name="矩形 10"/>
          <p:cNvSpPr/>
          <p:nvPr/>
        </p:nvSpPr>
        <p:spPr>
          <a:xfrm>
            <a:off x="9149330" y="2810432"/>
            <a:ext cx="1326004"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Matrix of M</a:t>
            </a:r>
            <a:endParaRPr lang="zh-TW" altLang="en-US" dirty="0"/>
          </a:p>
        </p:txBody>
      </p:sp>
      <p:sp>
        <p:nvSpPr>
          <p:cNvPr id="14" name="矩形 13"/>
          <p:cNvSpPr/>
          <p:nvPr/>
        </p:nvSpPr>
        <p:spPr>
          <a:xfrm>
            <a:off x="1371171" y="1758434"/>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Y</a:t>
            </a:r>
            <a:endParaRPr lang="zh-TW" altLang="en-US" dirty="0"/>
          </a:p>
        </p:txBody>
      </p:sp>
      <p:sp>
        <p:nvSpPr>
          <p:cNvPr id="15" name="矩形 14"/>
          <p:cNvSpPr/>
          <p:nvPr/>
        </p:nvSpPr>
        <p:spPr>
          <a:xfrm>
            <a:off x="1019793" y="2195512"/>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X</a:t>
            </a:r>
            <a:endParaRPr lang="zh-TW" altLang="en-US" dirty="0"/>
          </a:p>
        </p:txBody>
      </p:sp>
      <p:cxnSp>
        <p:nvCxnSpPr>
          <p:cNvPr id="7" name="直線接點 6"/>
          <p:cNvCxnSpPr/>
          <p:nvPr/>
        </p:nvCxnSpPr>
        <p:spPr>
          <a:xfrm>
            <a:off x="1821180" y="2564844"/>
            <a:ext cx="480060" cy="9098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a:off x="2301240" y="3474720"/>
            <a:ext cx="0" cy="188976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7" name="直線接點 26"/>
          <p:cNvCxnSpPr/>
          <p:nvPr/>
        </p:nvCxnSpPr>
        <p:spPr>
          <a:xfrm>
            <a:off x="2301240" y="5364480"/>
            <a:ext cx="480060" cy="70104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3" name="直線接點 12"/>
          <p:cNvCxnSpPr/>
          <p:nvPr/>
        </p:nvCxnSpPr>
        <p:spPr>
          <a:xfrm>
            <a:off x="2792730" y="6065520"/>
            <a:ext cx="967740" cy="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a:off x="3778375" y="6065520"/>
            <a:ext cx="229745" cy="204788"/>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9" name="直線接點 18"/>
          <p:cNvCxnSpPr/>
          <p:nvPr/>
        </p:nvCxnSpPr>
        <p:spPr>
          <a:xfrm>
            <a:off x="3778375" y="2564844"/>
            <a:ext cx="374525" cy="9098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直線接點 19"/>
          <p:cNvCxnSpPr/>
          <p:nvPr/>
        </p:nvCxnSpPr>
        <p:spPr>
          <a:xfrm>
            <a:off x="4152900" y="3474720"/>
            <a:ext cx="0" cy="188976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3" name="直線接點 22"/>
          <p:cNvCxnSpPr/>
          <p:nvPr/>
        </p:nvCxnSpPr>
        <p:spPr>
          <a:xfrm>
            <a:off x="4169285" y="5364480"/>
            <a:ext cx="379854" cy="905828"/>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6385560" y="3369629"/>
            <a:ext cx="5471370" cy="1200329"/>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If color(</a:t>
            </a:r>
            <a:r>
              <a:rPr lang="en-US" altLang="zh-TW" dirty="0" err="1">
                <a:latin typeface="Times New Roman" panose="02020603050405020304" pitchFamily="18" charset="0"/>
                <a:cs typeface="Times New Roman" panose="02020603050405020304" pitchFamily="18" charset="0"/>
              </a:rPr>
              <a:t>i,j</a:t>
            </a:r>
            <a:r>
              <a:rPr lang="en-US" altLang="zh-TW" dirty="0">
                <a:latin typeface="Times New Roman" panose="02020603050405020304" pitchFamily="18" charset="0"/>
                <a:cs typeface="Times New Roman" panose="02020603050405020304" pitchFamily="18" charset="0"/>
              </a:rPr>
              <a:t>) is dark</a:t>
            </a:r>
          </a:p>
          <a:p>
            <a:r>
              <a:rPr lang="en-US" altLang="zh-TW" dirty="0">
                <a:latin typeface="Times New Roman" panose="02020603050405020304" pitchFamily="18" charset="0"/>
                <a:cs typeface="Times New Roman" panose="02020603050405020304" pitchFamily="18" charset="0"/>
              </a:rPr>
              <a:t>    d=min(|Xi|, |</a:t>
            </a:r>
            <a:r>
              <a:rPr lang="en-US" altLang="zh-TW" dirty="0" err="1">
                <a:latin typeface="Times New Roman" panose="02020603050405020304" pitchFamily="18" charset="0"/>
                <a:cs typeface="Times New Roman" panose="02020603050405020304" pitchFamily="18" charset="0"/>
              </a:rPr>
              <a:t>Yj</a:t>
            </a:r>
            <a:r>
              <a:rPr lang="en-US" altLang="zh-TW" dirty="0">
                <a:latin typeface="Times New Roman" panose="02020603050405020304" pitchFamily="18" charset="0"/>
                <a:cs typeface="Times New Roman" panose="02020603050405020304" pitchFamily="18" charset="0"/>
              </a:rPr>
              <a:t>|)</a:t>
            </a:r>
          </a:p>
          <a:p>
            <a:r>
              <a:rPr lang="en-US" altLang="zh-TW" dirty="0">
                <a:latin typeface="Times New Roman" panose="02020603050405020304" pitchFamily="18" charset="0"/>
                <a:cs typeface="Times New Roman" panose="02020603050405020304" pitchFamily="18" charset="0"/>
              </a:rPr>
              <a:t>    </a:t>
            </a:r>
            <a:r>
              <a:rPr lang="pl-PL" altLang="zh-TW" dirty="0">
                <a:latin typeface="Times New Roman" panose="02020603050405020304" pitchFamily="18" charset="0"/>
                <a:cs typeface="Times New Roman" panose="02020603050405020304" pitchFamily="18" charset="0"/>
              </a:rPr>
              <a:t>M[i, j]=max(M[i</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 j</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1]+d, M[i, j], M[i</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 j], M[i, j</a:t>
            </a:r>
            <a:r>
              <a:rPr lang="en-US" altLang="zh-TW" dirty="0">
                <a:latin typeface="Times New Roman" panose="02020603050405020304" pitchFamily="18" charset="0"/>
                <a:cs typeface="Times New Roman" panose="02020603050405020304" pitchFamily="18" charset="0"/>
              </a:rPr>
              <a:t>-</a:t>
            </a:r>
            <a:r>
              <a:rPr lang="pl-PL" altLang="zh-TW" dirty="0">
                <a:latin typeface="Times New Roman" panose="02020603050405020304" pitchFamily="18" charset="0"/>
                <a:cs typeface="Times New Roman" panose="02020603050405020304" pitchFamily="18" charset="0"/>
              </a:rPr>
              <a:t>1])</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ForcedPathUpdate</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j, M) </a:t>
            </a:r>
            <a:r>
              <a:rPr lang="pl-PL" altLang="zh-TW" dirty="0">
                <a:latin typeface="Times New Roman" panose="02020603050405020304" pitchFamily="18" charset="0"/>
                <a:cs typeface="Times New Roman" panose="02020603050405020304" pitchFamily="18" charset="0"/>
              </a:rPr>
              <a:t> </a:t>
            </a:r>
            <a:endParaRPr lang="zh-TW" altLang="en-US" dirty="0">
              <a:latin typeface="Times New Roman" panose="02020603050405020304" pitchFamily="18" charset="0"/>
              <a:cs typeface="Times New Roman" panose="02020603050405020304" pitchFamily="18" charset="0"/>
            </a:endParaRPr>
          </a:p>
        </p:txBody>
      </p:sp>
      <p:cxnSp>
        <p:nvCxnSpPr>
          <p:cNvPr id="28" name="直線接點 27"/>
          <p:cNvCxnSpPr/>
          <p:nvPr/>
        </p:nvCxnSpPr>
        <p:spPr>
          <a:xfrm>
            <a:off x="3778375" y="3983832"/>
            <a:ext cx="965075" cy="762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9" name="直線接點 28"/>
          <p:cNvCxnSpPr/>
          <p:nvPr/>
        </p:nvCxnSpPr>
        <p:spPr>
          <a:xfrm>
            <a:off x="2796540" y="3489960"/>
            <a:ext cx="963930" cy="50149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 name="直線接點 30"/>
          <p:cNvCxnSpPr/>
          <p:nvPr/>
        </p:nvCxnSpPr>
        <p:spPr>
          <a:xfrm>
            <a:off x="4761355" y="3983832"/>
            <a:ext cx="987363" cy="431027"/>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a:off x="6682740" y="4244340"/>
            <a:ext cx="2466590" cy="32561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4" name="直線接點 23"/>
          <p:cNvCxnSpPr/>
          <p:nvPr/>
        </p:nvCxnSpPr>
        <p:spPr>
          <a:xfrm>
            <a:off x="4743450" y="3489960"/>
            <a:ext cx="963930" cy="50149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直線接點 25"/>
          <p:cNvCxnSpPr/>
          <p:nvPr/>
        </p:nvCxnSpPr>
        <p:spPr>
          <a:xfrm>
            <a:off x="1819089" y="5338604"/>
            <a:ext cx="679127" cy="931704"/>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0" name="直線接點 29"/>
          <p:cNvCxnSpPr/>
          <p:nvPr/>
        </p:nvCxnSpPr>
        <p:spPr>
          <a:xfrm>
            <a:off x="3760470" y="5337274"/>
            <a:ext cx="528494" cy="905828"/>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12651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表格 24"/>
          <p:cNvGraphicFramePr>
            <a:graphicFrameLocks noGrp="1"/>
          </p:cNvGraphicFramePr>
          <p:nvPr>
            <p:extLst>
              <p:ext uri="{D42A27DB-BD31-4B8C-83A1-F6EECF244321}">
                <p14:modId xmlns:p14="http://schemas.microsoft.com/office/powerpoint/2010/main" val="524021753"/>
              </p:ext>
            </p:extLst>
          </p:nvPr>
        </p:nvGraphicFramePr>
        <p:xfrm>
          <a:off x="838200" y="1682116"/>
          <a:ext cx="4876800" cy="4588192"/>
        </p:xfrm>
        <a:graphic>
          <a:graphicData uri="http://schemas.openxmlformats.org/drawingml/2006/table">
            <a:tbl>
              <a:tblPr firstRow="1" bandRow="1">
                <a:tableStyleId>{5C22544A-7EE6-4342-B048-85BDC9FD1C3A}</a:tableStyleId>
              </a:tblPr>
              <a:tblGrid>
                <a:gridCol w="975360">
                  <a:extLst>
                    <a:ext uri="{9D8B030D-6E8A-4147-A177-3AD203B41FA5}">
                      <a16:colId xmlns:a16="http://schemas.microsoft.com/office/drawing/2014/main" val="20000"/>
                    </a:ext>
                  </a:extLst>
                </a:gridCol>
                <a:gridCol w="975360">
                  <a:extLst>
                    <a:ext uri="{9D8B030D-6E8A-4147-A177-3AD203B41FA5}">
                      <a16:colId xmlns:a16="http://schemas.microsoft.com/office/drawing/2014/main" val="20001"/>
                    </a:ext>
                  </a:extLst>
                </a:gridCol>
                <a:gridCol w="975360">
                  <a:extLst>
                    <a:ext uri="{9D8B030D-6E8A-4147-A177-3AD203B41FA5}">
                      <a16:colId xmlns:a16="http://schemas.microsoft.com/office/drawing/2014/main" val="20002"/>
                    </a:ext>
                  </a:extLst>
                </a:gridCol>
                <a:gridCol w="975360">
                  <a:extLst>
                    <a:ext uri="{9D8B030D-6E8A-4147-A177-3AD203B41FA5}">
                      <a16:colId xmlns:a16="http://schemas.microsoft.com/office/drawing/2014/main" val="20003"/>
                    </a:ext>
                  </a:extLst>
                </a:gridCol>
                <a:gridCol w="975360">
                  <a:extLst>
                    <a:ext uri="{9D8B030D-6E8A-4147-A177-3AD203B41FA5}">
                      <a16:colId xmlns:a16="http://schemas.microsoft.com/office/drawing/2014/main" val="20004"/>
                    </a:ext>
                  </a:extLst>
                </a:gridCol>
              </a:tblGrid>
              <a:tr h="885092">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   </a:t>
                      </a:r>
                      <a:r>
                        <a:rPr lang="en-US" altLang="zh-TW" sz="2800" baseline="0" dirty="0">
                          <a:solidFill>
                            <a:schemeClr val="tx1"/>
                          </a:solidFill>
                          <a:latin typeface="Times New Roman" panose="02020603050405020304" pitchFamily="18" charset="0"/>
                          <a:cs typeface="Times New Roman" panose="02020603050405020304" pitchFamily="18" charset="0"/>
                        </a:rPr>
                        <a:t> </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8</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0002"/>
                  </a:ext>
                </a:extLst>
              </a:tr>
              <a:tr h="925775">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c</a:t>
                      </a:r>
                      <a:r>
                        <a:rPr lang="en-US" altLang="zh-TW" sz="2800" b="0" baseline="30000" dirty="0">
                          <a:solidFill>
                            <a:schemeClr val="tx1"/>
                          </a:solidFill>
                          <a:latin typeface="Times New Roman" panose="02020603050405020304" pitchFamily="18" charset="0"/>
                          <a:cs typeface="Times New Roman" panose="02020603050405020304" pitchFamily="18" charset="0"/>
                        </a:rPr>
                        <a:t>1</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4</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2" name="標題 1"/>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Longest Common Subsequence - Initial Algorithm</a:t>
            </a:r>
            <a:endParaRPr lang="zh-TW" altLang="en-US" sz="4000" dirty="0"/>
          </a:p>
        </p:txBody>
      </p:sp>
      <p:graphicFrame>
        <p:nvGraphicFramePr>
          <p:cNvPr id="10" name="表格 9"/>
          <p:cNvGraphicFramePr>
            <a:graphicFrameLocks noGrp="1"/>
          </p:cNvGraphicFramePr>
          <p:nvPr>
            <p:extLst>
              <p:ext uri="{D42A27DB-BD31-4B8C-83A1-F6EECF244321}">
                <p14:modId xmlns:p14="http://schemas.microsoft.com/office/powerpoint/2010/main" val="2891988196"/>
              </p:ext>
            </p:extLst>
          </p:nvPr>
        </p:nvGraphicFramePr>
        <p:xfrm>
          <a:off x="6385560" y="1696404"/>
          <a:ext cx="2585720" cy="1483360"/>
        </p:xfrm>
        <a:graphic>
          <a:graphicData uri="http://schemas.openxmlformats.org/drawingml/2006/table">
            <a:tbl>
              <a:tblPr firstRow="1" bandRow="1">
                <a:tableStyleId>{5C22544A-7EE6-4342-B048-85BDC9FD1C3A}</a:tableStyleId>
              </a:tblPr>
              <a:tblGrid>
                <a:gridCol w="646430">
                  <a:extLst>
                    <a:ext uri="{9D8B030D-6E8A-4147-A177-3AD203B41FA5}">
                      <a16:colId xmlns:a16="http://schemas.microsoft.com/office/drawing/2014/main" val="20000"/>
                    </a:ext>
                  </a:extLst>
                </a:gridCol>
                <a:gridCol w="646430">
                  <a:extLst>
                    <a:ext uri="{9D8B030D-6E8A-4147-A177-3AD203B41FA5}">
                      <a16:colId xmlns:a16="http://schemas.microsoft.com/office/drawing/2014/main" val="20001"/>
                    </a:ext>
                  </a:extLst>
                </a:gridCol>
                <a:gridCol w="646430">
                  <a:extLst>
                    <a:ext uri="{9D8B030D-6E8A-4147-A177-3AD203B41FA5}">
                      <a16:colId xmlns:a16="http://schemas.microsoft.com/office/drawing/2014/main" val="20002"/>
                    </a:ext>
                  </a:extLst>
                </a:gridCol>
                <a:gridCol w="646430">
                  <a:extLst>
                    <a:ext uri="{9D8B030D-6E8A-4147-A177-3AD203B41FA5}">
                      <a16:colId xmlns:a16="http://schemas.microsoft.com/office/drawing/2014/main" val="20003"/>
                    </a:ext>
                  </a:extLst>
                </a:gridCol>
              </a:tblGrid>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11" name="矩形 10"/>
          <p:cNvSpPr/>
          <p:nvPr/>
        </p:nvSpPr>
        <p:spPr>
          <a:xfrm>
            <a:off x="9149330" y="2810432"/>
            <a:ext cx="1326004"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Matrix of M</a:t>
            </a:r>
            <a:endParaRPr lang="zh-TW" altLang="en-US" dirty="0"/>
          </a:p>
        </p:txBody>
      </p:sp>
      <p:sp>
        <p:nvSpPr>
          <p:cNvPr id="14" name="矩形 13"/>
          <p:cNvSpPr/>
          <p:nvPr/>
        </p:nvSpPr>
        <p:spPr>
          <a:xfrm>
            <a:off x="1371171" y="1758434"/>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Y</a:t>
            </a:r>
            <a:endParaRPr lang="zh-TW" altLang="en-US" dirty="0"/>
          </a:p>
        </p:txBody>
      </p:sp>
      <p:sp>
        <p:nvSpPr>
          <p:cNvPr id="15" name="矩形 14"/>
          <p:cNvSpPr/>
          <p:nvPr/>
        </p:nvSpPr>
        <p:spPr>
          <a:xfrm>
            <a:off x="1019793" y="2195512"/>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X</a:t>
            </a:r>
            <a:endParaRPr lang="zh-TW" altLang="en-US" dirty="0"/>
          </a:p>
        </p:txBody>
      </p:sp>
      <p:cxnSp>
        <p:nvCxnSpPr>
          <p:cNvPr id="7" name="直線接點 6"/>
          <p:cNvCxnSpPr/>
          <p:nvPr/>
        </p:nvCxnSpPr>
        <p:spPr>
          <a:xfrm>
            <a:off x="1821180" y="2564844"/>
            <a:ext cx="480060" cy="90987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a:off x="2301240" y="3474720"/>
            <a:ext cx="0" cy="188976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7" name="直線接點 26"/>
          <p:cNvCxnSpPr/>
          <p:nvPr/>
        </p:nvCxnSpPr>
        <p:spPr>
          <a:xfrm>
            <a:off x="2301240" y="5364480"/>
            <a:ext cx="480060" cy="70104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3" name="直線接點 12"/>
          <p:cNvCxnSpPr/>
          <p:nvPr/>
        </p:nvCxnSpPr>
        <p:spPr>
          <a:xfrm>
            <a:off x="2792730" y="6065520"/>
            <a:ext cx="967740" cy="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a:off x="3778375" y="6065520"/>
            <a:ext cx="229745" cy="204788"/>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9" name="直線接點 18"/>
          <p:cNvCxnSpPr/>
          <p:nvPr/>
        </p:nvCxnSpPr>
        <p:spPr>
          <a:xfrm>
            <a:off x="3778375" y="2564844"/>
            <a:ext cx="374525" cy="9098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直線接點 19"/>
          <p:cNvCxnSpPr/>
          <p:nvPr/>
        </p:nvCxnSpPr>
        <p:spPr>
          <a:xfrm>
            <a:off x="4152900" y="3474720"/>
            <a:ext cx="0" cy="188976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3" name="直線接點 22"/>
          <p:cNvCxnSpPr/>
          <p:nvPr/>
        </p:nvCxnSpPr>
        <p:spPr>
          <a:xfrm>
            <a:off x="4169285" y="5364480"/>
            <a:ext cx="379854" cy="905828"/>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8" name="直線接點 27"/>
          <p:cNvCxnSpPr/>
          <p:nvPr/>
        </p:nvCxnSpPr>
        <p:spPr>
          <a:xfrm>
            <a:off x="3778375" y="3983832"/>
            <a:ext cx="965075" cy="762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9" name="直線接點 28"/>
          <p:cNvCxnSpPr/>
          <p:nvPr/>
        </p:nvCxnSpPr>
        <p:spPr>
          <a:xfrm>
            <a:off x="2796540" y="3489960"/>
            <a:ext cx="963930" cy="50149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直線接點 30"/>
          <p:cNvCxnSpPr/>
          <p:nvPr/>
        </p:nvCxnSpPr>
        <p:spPr>
          <a:xfrm>
            <a:off x="4761355" y="3983832"/>
            <a:ext cx="987363" cy="431027"/>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4" name="直線接點 23"/>
          <p:cNvCxnSpPr/>
          <p:nvPr/>
        </p:nvCxnSpPr>
        <p:spPr>
          <a:xfrm>
            <a:off x="4743450" y="3489960"/>
            <a:ext cx="963930" cy="50149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直線接點 25"/>
          <p:cNvCxnSpPr/>
          <p:nvPr/>
        </p:nvCxnSpPr>
        <p:spPr>
          <a:xfrm>
            <a:off x="1819089" y="5338604"/>
            <a:ext cx="679127" cy="931704"/>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0" name="直線接點 29"/>
          <p:cNvCxnSpPr/>
          <p:nvPr/>
        </p:nvCxnSpPr>
        <p:spPr>
          <a:xfrm>
            <a:off x="3760470" y="5337274"/>
            <a:ext cx="533112" cy="93708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直線單箭頭接點 11"/>
          <p:cNvCxnSpPr/>
          <p:nvPr/>
        </p:nvCxnSpPr>
        <p:spPr>
          <a:xfrm flipH="1">
            <a:off x="8183880" y="2995098"/>
            <a:ext cx="22098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單箭頭接點 31"/>
          <p:cNvCxnSpPr/>
          <p:nvPr/>
        </p:nvCxnSpPr>
        <p:spPr>
          <a:xfrm flipH="1" flipV="1">
            <a:off x="7541260" y="2707781"/>
            <a:ext cx="274320" cy="20530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單箭頭接點 32"/>
          <p:cNvCxnSpPr/>
          <p:nvPr/>
        </p:nvCxnSpPr>
        <p:spPr>
          <a:xfrm flipV="1">
            <a:off x="7348345" y="2345751"/>
            <a:ext cx="4955" cy="18466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單箭頭接點 35"/>
          <p:cNvCxnSpPr/>
          <p:nvPr/>
        </p:nvCxnSpPr>
        <p:spPr>
          <a:xfrm flipH="1" flipV="1">
            <a:off x="6893560" y="1954730"/>
            <a:ext cx="274320" cy="20530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接點 36"/>
          <p:cNvCxnSpPr/>
          <p:nvPr/>
        </p:nvCxnSpPr>
        <p:spPr>
          <a:xfrm>
            <a:off x="2297143" y="3474720"/>
            <a:ext cx="488253"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直線接點 40"/>
          <p:cNvCxnSpPr/>
          <p:nvPr/>
        </p:nvCxnSpPr>
        <p:spPr>
          <a:xfrm>
            <a:off x="3756661" y="3991452"/>
            <a:ext cx="10857" cy="137302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直線接點 43"/>
          <p:cNvCxnSpPr/>
          <p:nvPr/>
        </p:nvCxnSpPr>
        <p:spPr>
          <a:xfrm flipV="1">
            <a:off x="4293582" y="6258342"/>
            <a:ext cx="1421418" cy="76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66987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Longest Common Subsequence - Initial Algorithm</a:t>
            </a:r>
            <a:endParaRPr lang="zh-TW" altLang="en-US" sz="4000" dirty="0"/>
          </a:p>
        </p:txBody>
      </p:sp>
      <p:sp>
        <p:nvSpPr>
          <p:cNvPr id="3" name="內容版面配置區 2"/>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Time complexity :  O(kl(</a:t>
            </a:r>
            <a:r>
              <a:rPr lang="en-US" altLang="zh-TW" dirty="0" err="1">
                <a:latin typeface="Times New Roman" panose="02020603050405020304" pitchFamily="18" charset="0"/>
                <a:cs typeface="Times New Roman" panose="02020603050405020304" pitchFamily="18" charset="0"/>
              </a:rPr>
              <a:t>k+l</a:t>
            </a:r>
            <a:r>
              <a:rPr lang="en-US" altLang="zh-TW" dirty="0">
                <a:latin typeface="Times New Roman" panose="02020603050405020304" pitchFamily="18" charset="0"/>
                <a:cs typeface="Times New Roman" panose="02020603050405020304" pitchFamily="18" charset="0"/>
              </a:rPr>
              <a:t>))</a:t>
            </a:r>
          </a:p>
          <a:p>
            <a:r>
              <a:rPr lang="en-US" altLang="zh-TW" dirty="0">
                <a:latin typeface="Times New Roman" panose="02020603050405020304" pitchFamily="18" charset="0"/>
                <a:cs typeface="Times New Roman" panose="02020603050405020304" pitchFamily="18" charset="0"/>
              </a:rPr>
              <a:t>O(kl) : Dark block</a:t>
            </a:r>
          </a:p>
          <a:p>
            <a:r>
              <a:rPr lang="en-US" altLang="zh-TW" dirty="0">
                <a:latin typeface="Times New Roman" panose="02020603050405020304" pitchFamily="18" charset="0"/>
                <a:cs typeface="Times New Roman" panose="02020603050405020304" pitchFamily="18" charset="0"/>
              </a:rPr>
              <a:t>O(</a:t>
            </a:r>
            <a:r>
              <a:rPr lang="en-US" altLang="zh-TW" dirty="0" err="1">
                <a:latin typeface="Times New Roman" panose="02020603050405020304" pitchFamily="18" charset="0"/>
                <a:cs typeface="Times New Roman" panose="02020603050405020304" pitchFamily="18" charset="0"/>
              </a:rPr>
              <a:t>k+l</a:t>
            </a:r>
            <a:r>
              <a:rPr lang="en-US" altLang="zh-TW" dirty="0">
                <a:latin typeface="Times New Roman" panose="02020603050405020304" pitchFamily="18" charset="0"/>
                <a:cs typeface="Times New Roman" panose="02020603050405020304" pitchFamily="18" charset="0"/>
              </a:rPr>
              <a:t>) : </a:t>
            </a:r>
            <a:r>
              <a:rPr lang="en-US" altLang="zh-TW" dirty="0" err="1">
                <a:latin typeface="Times New Roman" panose="02020603050405020304" pitchFamily="18" charset="0"/>
                <a:cs typeface="Times New Roman" panose="02020603050405020304" pitchFamily="18" charset="0"/>
              </a:rPr>
              <a:t>ForcedPathUpdate</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10631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r>
              <a:rPr lang="en-US" altLang="zh-TW" sz="3600" dirty="0">
                <a:latin typeface="Times New Roman" panose="02020603050405020304" pitchFamily="18" charset="0"/>
                <a:cs typeface="Times New Roman" panose="02020603050405020304" pitchFamily="18" charset="0"/>
              </a:rPr>
              <a:t>Longest Common Subsequence - A Faster Algorithm</a:t>
            </a:r>
            <a:endParaRPr lang="zh-TW" altLang="en-US" sz="3600" dirty="0"/>
          </a:p>
        </p:txBody>
      </p:sp>
      <p:sp>
        <p:nvSpPr>
          <p:cNvPr id="21" name="內容版面配置區 2"/>
          <p:cNvSpPr>
            <a:spLocks noGrp="1"/>
          </p:cNvSpPr>
          <p:nvPr>
            <p:ph idx="1"/>
          </p:nvPr>
        </p:nvSpPr>
        <p:spPr>
          <a:xfrm>
            <a:off x="838200" y="1825625"/>
            <a:ext cx="10515600" cy="4351338"/>
          </a:xfrm>
        </p:spPr>
        <p:txBody>
          <a:bodyPr/>
          <a:lstStyle/>
          <a:p>
            <a:r>
              <a:rPr lang="en-US" altLang="zh-TW" dirty="0" err="1">
                <a:latin typeface="Times New Roman" panose="02020603050405020304" pitchFamily="18" charset="0"/>
                <a:cs typeface="Times New Roman" panose="02020603050405020304" pitchFamily="18" charset="0"/>
              </a:rPr>
              <a:t>ForcedPathUpdate</a:t>
            </a:r>
            <a:endParaRPr lang="en-US" altLang="zh-TW" dirty="0">
              <a:latin typeface="Times New Roman" panose="02020603050405020304" pitchFamily="18" charset="0"/>
              <a:cs typeface="Times New Roman" panose="02020603050405020304" pitchFamily="18" charset="0"/>
            </a:endParaRPr>
          </a:p>
          <a:p>
            <a:endParaRPr lang="zh-TW" altLang="en-US" dirty="0">
              <a:latin typeface="Times New Roman" panose="02020603050405020304" pitchFamily="18" charset="0"/>
              <a:cs typeface="Times New Roman" panose="02020603050405020304" pitchFamily="18" charset="0"/>
            </a:endParaRPr>
          </a:p>
        </p:txBody>
      </p:sp>
      <p:graphicFrame>
        <p:nvGraphicFramePr>
          <p:cNvPr id="22" name="表格 21"/>
          <p:cNvGraphicFramePr>
            <a:graphicFrameLocks noGrp="1"/>
          </p:cNvGraphicFramePr>
          <p:nvPr>
            <p:extLst>
              <p:ext uri="{D42A27DB-BD31-4B8C-83A1-F6EECF244321}">
                <p14:modId xmlns:p14="http://schemas.microsoft.com/office/powerpoint/2010/main" val="2079137607"/>
              </p:ext>
            </p:extLst>
          </p:nvPr>
        </p:nvGraphicFramePr>
        <p:xfrm>
          <a:off x="5173980" y="1825625"/>
          <a:ext cx="4876800" cy="4588192"/>
        </p:xfrm>
        <a:graphic>
          <a:graphicData uri="http://schemas.openxmlformats.org/drawingml/2006/table">
            <a:tbl>
              <a:tblPr firstRow="1" bandRow="1">
                <a:tableStyleId>{5C22544A-7EE6-4342-B048-85BDC9FD1C3A}</a:tableStyleId>
              </a:tblPr>
              <a:tblGrid>
                <a:gridCol w="975360">
                  <a:extLst>
                    <a:ext uri="{9D8B030D-6E8A-4147-A177-3AD203B41FA5}">
                      <a16:colId xmlns:a16="http://schemas.microsoft.com/office/drawing/2014/main" val="20000"/>
                    </a:ext>
                  </a:extLst>
                </a:gridCol>
                <a:gridCol w="975360">
                  <a:extLst>
                    <a:ext uri="{9D8B030D-6E8A-4147-A177-3AD203B41FA5}">
                      <a16:colId xmlns:a16="http://schemas.microsoft.com/office/drawing/2014/main" val="20001"/>
                    </a:ext>
                  </a:extLst>
                </a:gridCol>
                <a:gridCol w="975360">
                  <a:extLst>
                    <a:ext uri="{9D8B030D-6E8A-4147-A177-3AD203B41FA5}">
                      <a16:colId xmlns:a16="http://schemas.microsoft.com/office/drawing/2014/main" val="20002"/>
                    </a:ext>
                  </a:extLst>
                </a:gridCol>
                <a:gridCol w="975360">
                  <a:extLst>
                    <a:ext uri="{9D8B030D-6E8A-4147-A177-3AD203B41FA5}">
                      <a16:colId xmlns:a16="http://schemas.microsoft.com/office/drawing/2014/main" val="20003"/>
                    </a:ext>
                  </a:extLst>
                </a:gridCol>
                <a:gridCol w="975360">
                  <a:extLst>
                    <a:ext uri="{9D8B030D-6E8A-4147-A177-3AD203B41FA5}">
                      <a16:colId xmlns:a16="http://schemas.microsoft.com/office/drawing/2014/main" val="20004"/>
                    </a:ext>
                  </a:extLst>
                </a:gridCol>
              </a:tblGrid>
              <a:tr h="885092">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   </a:t>
                      </a:r>
                      <a:r>
                        <a:rPr lang="en-US" altLang="zh-TW" sz="2800" baseline="0" dirty="0">
                          <a:solidFill>
                            <a:schemeClr val="tx1"/>
                          </a:solidFill>
                          <a:latin typeface="Times New Roman" panose="02020603050405020304" pitchFamily="18" charset="0"/>
                          <a:cs typeface="Times New Roman" panose="02020603050405020304" pitchFamily="18" charset="0"/>
                        </a:rPr>
                        <a:t> </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8</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0002"/>
                  </a:ext>
                </a:extLst>
              </a:tr>
              <a:tr h="925775">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c</a:t>
                      </a:r>
                      <a:r>
                        <a:rPr lang="en-US" altLang="zh-TW" sz="2800" b="0" baseline="30000" dirty="0">
                          <a:solidFill>
                            <a:schemeClr val="tx1"/>
                          </a:solidFill>
                          <a:latin typeface="Times New Roman" panose="02020603050405020304" pitchFamily="18" charset="0"/>
                          <a:cs typeface="Times New Roman" panose="02020603050405020304" pitchFamily="18" charset="0"/>
                        </a:rPr>
                        <a:t>1</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4</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cxnSp>
        <p:nvCxnSpPr>
          <p:cNvPr id="23" name="直線接點 22"/>
          <p:cNvCxnSpPr/>
          <p:nvPr/>
        </p:nvCxnSpPr>
        <p:spPr>
          <a:xfrm>
            <a:off x="6149340" y="2709624"/>
            <a:ext cx="480060" cy="9098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直線接點 23"/>
          <p:cNvCxnSpPr/>
          <p:nvPr/>
        </p:nvCxnSpPr>
        <p:spPr>
          <a:xfrm>
            <a:off x="7130415" y="3627120"/>
            <a:ext cx="963930" cy="50149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直線接點 24"/>
          <p:cNvCxnSpPr/>
          <p:nvPr/>
        </p:nvCxnSpPr>
        <p:spPr>
          <a:xfrm>
            <a:off x="8101965" y="2717244"/>
            <a:ext cx="374525" cy="9098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直線接點 25"/>
          <p:cNvCxnSpPr/>
          <p:nvPr/>
        </p:nvCxnSpPr>
        <p:spPr>
          <a:xfrm>
            <a:off x="9086850" y="3657600"/>
            <a:ext cx="963930" cy="50149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直線接點 26"/>
          <p:cNvCxnSpPr/>
          <p:nvPr/>
        </p:nvCxnSpPr>
        <p:spPr>
          <a:xfrm>
            <a:off x="6149340" y="5482113"/>
            <a:ext cx="679127" cy="931704"/>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直線接點 27"/>
          <p:cNvCxnSpPr/>
          <p:nvPr/>
        </p:nvCxnSpPr>
        <p:spPr>
          <a:xfrm>
            <a:off x="8101965" y="5482113"/>
            <a:ext cx="533112" cy="93708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向下箭號 28"/>
          <p:cNvSpPr/>
          <p:nvPr/>
        </p:nvSpPr>
        <p:spPr>
          <a:xfrm>
            <a:off x="2148840" y="2561034"/>
            <a:ext cx="510540" cy="1222296"/>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p:cNvSpPr/>
          <p:nvPr/>
        </p:nvSpPr>
        <p:spPr>
          <a:xfrm>
            <a:off x="822960" y="4068305"/>
            <a:ext cx="3810000" cy="2308324"/>
          </a:xfrm>
          <a:prstGeom prst="rect">
            <a:avLst/>
          </a:prstGeom>
        </p:spPr>
        <p:txBody>
          <a:bodyPr wrap="square">
            <a:spAutoFit/>
          </a:bodyPr>
          <a:lstStyle/>
          <a:p>
            <a:pPr marL="285750" indent="-285750">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Find the highest score (C) of the forced paths on column j, above row </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endParaRPr lang="en-US" altLang="zh-TW"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Find the highest score (R) of the forced paths on row </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left to column j.</a:t>
            </a:r>
          </a:p>
          <a:p>
            <a:pPr marL="285750" indent="-285750">
              <a:buFont typeface="Arial" panose="020B0604020202020204" pitchFamily="34" charset="0"/>
              <a:buChar char="•"/>
            </a:pPr>
            <a:endParaRPr lang="zh-TW" altLang="en-US" dirty="0"/>
          </a:p>
        </p:txBody>
      </p:sp>
    </p:spTree>
    <p:extLst>
      <p:ext uri="{BB962C8B-B14F-4D97-AF65-F5344CB8AC3E}">
        <p14:creationId xmlns:p14="http://schemas.microsoft.com/office/powerpoint/2010/main" val="1838975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r>
              <a:rPr lang="en-US" altLang="zh-TW" sz="3600" dirty="0">
                <a:latin typeface="Times New Roman" panose="02020603050405020304" pitchFamily="18" charset="0"/>
                <a:cs typeface="Times New Roman" panose="02020603050405020304" pitchFamily="18" charset="0"/>
              </a:rPr>
              <a:t>Longest Common Subsequence - A Faster Algorithm</a:t>
            </a:r>
            <a:endParaRPr lang="zh-TW" altLang="en-US" sz="3600" dirty="0"/>
          </a:p>
        </p:txBody>
      </p:sp>
      <p:graphicFrame>
        <p:nvGraphicFramePr>
          <p:cNvPr id="22" name="表格 21"/>
          <p:cNvGraphicFramePr>
            <a:graphicFrameLocks noGrp="1"/>
          </p:cNvGraphicFramePr>
          <p:nvPr/>
        </p:nvGraphicFramePr>
        <p:xfrm>
          <a:off x="838200" y="1825625"/>
          <a:ext cx="4876800" cy="4588192"/>
        </p:xfrm>
        <a:graphic>
          <a:graphicData uri="http://schemas.openxmlformats.org/drawingml/2006/table">
            <a:tbl>
              <a:tblPr firstRow="1" bandRow="1">
                <a:tableStyleId>{5C22544A-7EE6-4342-B048-85BDC9FD1C3A}</a:tableStyleId>
              </a:tblPr>
              <a:tblGrid>
                <a:gridCol w="975360">
                  <a:extLst>
                    <a:ext uri="{9D8B030D-6E8A-4147-A177-3AD203B41FA5}">
                      <a16:colId xmlns:a16="http://schemas.microsoft.com/office/drawing/2014/main" val="20000"/>
                    </a:ext>
                  </a:extLst>
                </a:gridCol>
                <a:gridCol w="975360">
                  <a:extLst>
                    <a:ext uri="{9D8B030D-6E8A-4147-A177-3AD203B41FA5}">
                      <a16:colId xmlns:a16="http://schemas.microsoft.com/office/drawing/2014/main" val="20001"/>
                    </a:ext>
                  </a:extLst>
                </a:gridCol>
                <a:gridCol w="975360">
                  <a:extLst>
                    <a:ext uri="{9D8B030D-6E8A-4147-A177-3AD203B41FA5}">
                      <a16:colId xmlns:a16="http://schemas.microsoft.com/office/drawing/2014/main" val="20002"/>
                    </a:ext>
                  </a:extLst>
                </a:gridCol>
                <a:gridCol w="975360">
                  <a:extLst>
                    <a:ext uri="{9D8B030D-6E8A-4147-A177-3AD203B41FA5}">
                      <a16:colId xmlns:a16="http://schemas.microsoft.com/office/drawing/2014/main" val="20003"/>
                    </a:ext>
                  </a:extLst>
                </a:gridCol>
                <a:gridCol w="975360">
                  <a:extLst>
                    <a:ext uri="{9D8B030D-6E8A-4147-A177-3AD203B41FA5}">
                      <a16:colId xmlns:a16="http://schemas.microsoft.com/office/drawing/2014/main" val="20004"/>
                    </a:ext>
                  </a:extLst>
                </a:gridCol>
              </a:tblGrid>
              <a:tr h="885092">
                <a:tc>
                  <a:txBody>
                    <a:bodyPr/>
                    <a:lstStyle/>
                    <a:p>
                      <a:pPr algn="ctr"/>
                      <a:r>
                        <a:rPr lang="en-US" altLang="zh-TW" sz="2800" dirty="0">
                          <a:solidFill>
                            <a:schemeClr val="tx1"/>
                          </a:solidFill>
                          <a:latin typeface="Times New Roman" panose="02020603050405020304" pitchFamily="18" charset="0"/>
                          <a:cs typeface="Times New Roman" panose="02020603050405020304" pitchFamily="18" charset="0"/>
                        </a:rPr>
                        <a:t>   </a:t>
                      </a:r>
                      <a:r>
                        <a:rPr lang="en-US" altLang="zh-TW" sz="2800" baseline="0" dirty="0">
                          <a:solidFill>
                            <a:schemeClr val="tx1"/>
                          </a:solidFill>
                          <a:latin typeface="Times New Roman" panose="02020603050405020304" pitchFamily="18" charset="0"/>
                          <a:cs typeface="Times New Roman" panose="02020603050405020304" pitchFamily="18" charset="0"/>
                        </a:rPr>
                        <a:t> </a:t>
                      </a:r>
                      <a:endParaRPr lang="zh-TW" altLang="en-US" sz="2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8</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3</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b</a:t>
                      </a:r>
                      <a:r>
                        <a:rPr lang="en-US" altLang="zh-TW" sz="2800" b="0" baseline="30000" dirty="0">
                          <a:solidFill>
                            <a:schemeClr val="tx1"/>
                          </a:solidFill>
                          <a:latin typeface="Times New Roman" panose="02020603050405020304" pitchFamily="18" charset="0"/>
                          <a:cs typeface="Times New Roman" panose="02020603050405020304" pitchFamily="18" charset="0"/>
                        </a:rPr>
                        <a:t>6</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0002"/>
                  </a:ext>
                </a:extLst>
              </a:tr>
              <a:tr h="925775">
                <a:tc>
                  <a:txBody>
                    <a:bodyPr/>
                    <a:lstStyle/>
                    <a:p>
                      <a:pPr algn="ctr"/>
                      <a:r>
                        <a:rPr lang="en-US" altLang="zh-TW" sz="2800" b="0" baseline="0" dirty="0">
                          <a:solidFill>
                            <a:schemeClr val="tx1"/>
                          </a:solidFill>
                          <a:latin typeface="Times New Roman" panose="02020603050405020304" pitchFamily="18" charset="0"/>
                          <a:cs typeface="Times New Roman" panose="02020603050405020304" pitchFamily="18" charset="0"/>
                        </a:rPr>
                        <a:t>c</a:t>
                      </a:r>
                      <a:r>
                        <a:rPr lang="en-US" altLang="zh-TW" sz="2800" b="0" baseline="30000" dirty="0">
                          <a:solidFill>
                            <a:schemeClr val="tx1"/>
                          </a:solidFill>
                          <a:latin typeface="Times New Roman" panose="02020603050405020304" pitchFamily="18" charset="0"/>
                          <a:cs typeface="Times New Roman" panose="02020603050405020304" pitchFamily="18" charset="0"/>
                        </a:rPr>
                        <a:t>1</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925775">
                <a:tc>
                  <a:txBody>
                    <a:bodyPr/>
                    <a:lstStyle/>
                    <a:p>
                      <a:pPr algn="ctr"/>
                      <a:r>
                        <a:rPr lang="en-US" altLang="zh-TW" sz="2800" b="0" dirty="0">
                          <a:solidFill>
                            <a:schemeClr val="tx1"/>
                          </a:solidFill>
                          <a:latin typeface="Times New Roman" panose="02020603050405020304" pitchFamily="18" charset="0"/>
                          <a:cs typeface="Times New Roman" panose="02020603050405020304" pitchFamily="18" charset="0"/>
                        </a:rPr>
                        <a:t>a</a:t>
                      </a:r>
                      <a:r>
                        <a:rPr lang="en-US" altLang="zh-TW" sz="2800" b="0" baseline="30000" dirty="0">
                          <a:solidFill>
                            <a:schemeClr val="tx1"/>
                          </a:solidFill>
                          <a:latin typeface="Times New Roman" panose="02020603050405020304" pitchFamily="18" charset="0"/>
                          <a:cs typeface="Times New Roman" panose="02020603050405020304" pitchFamily="18" charset="0"/>
                        </a:rPr>
                        <a:t>4</a:t>
                      </a: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TW" altLang="en-US" sz="28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cxnSp>
        <p:nvCxnSpPr>
          <p:cNvPr id="23" name="直線接點 22"/>
          <p:cNvCxnSpPr/>
          <p:nvPr/>
        </p:nvCxnSpPr>
        <p:spPr>
          <a:xfrm>
            <a:off x="1813560" y="2709624"/>
            <a:ext cx="480060" cy="9098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直線接點 24"/>
          <p:cNvCxnSpPr/>
          <p:nvPr/>
        </p:nvCxnSpPr>
        <p:spPr>
          <a:xfrm>
            <a:off x="3766185" y="2717244"/>
            <a:ext cx="374525" cy="9098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直線接點 26"/>
          <p:cNvCxnSpPr/>
          <p:nvPr/>
        </p:nvCxnSpPr>
        <p:spPr>
          <a:xfrm>
            <a:off x="1815950" y="5489733"/>
            <a:ext cx="679127" cy="931704"/>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直線接點 27"/>
          <p:cNvCxnSpPr/>
          <p:nvPr/>
        </p:nvCxnSpPr>
        <p:spPr>
          <a:xfrm>
            <a:off x="3766185" y="5482113"/>
            <a:ext cx="533112" cy="93708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內容版面配置區 2"/>
          <p:cNvSpPr>
            <a:spLocks noGrp="1"/>
          </p:cNvSpPr>
          <p:nvPr>
            <p:ph idx="1"/>
          </p:nvPr>
        </p:nvSpPr>
        <p:spPr>
          <a:xfrm>
            <a:off x="5836920" y="1825625"/>
            <a:ext cx="5516880" cy="4588192"/>
          </a:xfrm>
        </p:spPr>
        <p:txBody>
          <a:bodyPr>
            <a:normAutofit/>
          </a:bodyPr>
          <a:lstStyle/>
          <a:p>
            <a:r>
              <a:rPr lang="en-US" altLang="zh-TW" sz="2400" dirty="0">
                <a:latin typeface="Times New Roman" panose="02020603050405020304" pitchFamily="18" charset="0"/>
                <a:cs typeface="Times New Roman" panose="02020603050405020304" pitchFamily="18" charset="0"/>
              </a:rPr>
              <a:t>Rank(</a:t>
            </a:r>
            <a:r>
              <a:rPr lang="en-US" altLang="zh-TW" sz="2400" dirty="0" err="1">
                <a:latin typeface="Times New Roman" panose="02020603050405020304" pitchFamily="18" charset="0"/>
                <a:cs typeface="Times New Roman" panose="02020603050405020304" pitchFamily="18" charset="0"/>
              </a:rPr>
              <a:t>i,j,a</a:t>
            </a:r>
            <a:r>
              <a:rPr lang="en-US" altLang="zh-TW" sz="2400" dirty="0">
                <a:latin typeface="Times New Roman" panose="02020603050405020304" pitchFamily="18" charset="0"/>
                <a:cs typeface="Times New Roman" panose="02020603050405020304" pitchFamily="18" charset="0"/>
              </a:rPr>
              <a:t>) = TOP</a:t>
            </a:r>
            <a:r>
              <a:rPr lang="en-US" altLang="zh-TW" sz="2400" baseline="30000" dirty="0">
                <a:latin typeface="Times New Roman" panose="02020603050405020304" pitchFamily="18" charset="0"/>
                <a:cs typeface="Times New Roman" panose="02020603050405020304" pitchFamily="18" charset="0"/>
              </a:rPr>
              <a:t>j-1</a:t>
            </a:r>
            <a:r>
              <a:rPr lang="en-US" altLang="zh-TW" sz="2400" dirty="0">
                <a:latin typeface="Times New Roman" panose="02020603050405020304" pitchFamily="18" charset="0"/>
                <a:cs typeface="Times New Roman" panose="02020603050405020304" pitchFamily="18" charset="0"/>
              </a:rPr>
              <a:t>(a) - LEFT</a:t>
            </a:r>
            <a:r>
              <a:rPr lang="en-US" altLang="zh-TW" sz="2400" baseline="30000" dirty="0">
                <a:latin typeface="Times New Roman" panose="02020603050405020304" pitchFamily="18" charset="0"/>
                <a:cs typeface="Times New Roman" panose="02020603050405020304" pitchFamily="18" charset="0"/>
              </a:rPr>
              <a:t>i-1</a:t>
            </a:r>
            <a:r>
              <a:rPr lang="en-US" altLang="zh-TW" sz="2400" dirty="0">
                <a:latin typeface="Times New Roman" panose="02020603050405020304" pitchFamily="18" charset="0"/>
                <a:cs typeface="Times New Roman" panose="02020603050405020304" pitchFamily="18" charset="0"/>
              </a:rPr>
              <a:t>(a)</a:t>
            </a:r>
          </a:p>
          <a:p>
            <a:pPr marL="0" indent="0">
              <a:buNone/>
            </a:pPr>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Rank(1,1,a) = 0</a:t>
            </a:r>
          </a:p>
          <a:p>
            <a:r>
              <a:rPr lang="en-US" altLang="zh-TW" sz="2400" dirty="0">
                <a:latin typeface="Times New Roman" panose="02020603050405020304" pitchFamily="18" charset="0"/>
                <a:cs typeface="Times New Roman" panose="02020603050405020304" pitchFamily="18" charset="0"/>
              </a:rPr>
              <a:t>Rank(1,3,a) = 6</a:t>
            </a:r>
            <a:endParaRPr lang="zh-TW" altLang="en-US"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Rank(4,1,a) = -3</a:t>
            </a:r>
          </a:p>
          <a:p>
            <a:r>
              <a:rPr lang="en-US" altLang="zh-TW" sz="2400" dirty="0">
                <a:latin typeface="Times New Roman" panose="02020603050405020304" pitchFamily="18" charset="0"/>
                <a:cs typeface="Times New Roman" panose="02020603050405020304" pitchFamily="18" charset="0"/>
              </a:rPr>
              <a:t>Rank(4,3,a) = 3</a:t>
            </a:r>
          </a:p>
          <a:p>
            <a:endParaRPr lang="en-US" altLang="zh-TW" sz="2400" dirty="0">
              <a:latin typeface="Times New Roman" panose="02020603050405020304" pitchFamily="18" charset="0"/>
              <a:cs typeface="Times New Roman" panose="02020603050405020304" pitchFamily="18" charset="0"/>
            </a:endParaRPr>
          </a:p>
          <a:p>
            <a:endParaRPr lang="zh-TW" altLang="en-US" sz="2400" dirty="0">
              <a:latin typeface="Times New Roman" panose="02020603050405020304" pitchFamily="18" charset="0"/>
              <a:cs typeface="Times New Roman" panose="02020603050405020304" pitchFamily="18" charset="0"/>
            </a:endParaRPr>
          </a:p>
          <a:p>
            <a:endParaRPr lang="zh-TW" altLang="en-US" sz="2400" dirty="0">
              <a:latin typeface="Times New Roman" panose="02020603050405020304" pitchFamily="18" charset="0"/>
              <a:cs typeface="Times New Roman" panose="02020603050405020304" pitchFamily="18" charset="0"/>
            </a:endParaRPr>
          </a:p>
          <a:p>
            <a:endParaRPr lang="zh-TW" altLang="en-US" sz="2400" dirty="0">
              <a:latin typeface="Times New Roman" panose="02020603050405020304" pitchFamily="18" charset="0"/>
              <a:cs typeface="Times New Roman" panose="02020603050405020304" pitchFamily="18" charset="0"/>
            </a:endParaRPr>
          </a:p>
        </p:txBody>
      </p:sp>
      <p:sp>
        <p:nvSpPr>
          <p:cNvPr id="12" name="矩形 11"/>
          <p:cNvSpPr/>
          <p:nvPr/>
        </p:nvSpPr>
        <p:spPr>
          <a:xfrm>
            <a:off x="1371171" y="1819394"/>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Y</a:t>
            </a:r>
            <a:endParaRPr lang="zh-TW" altLang="en-US" dirty="0"/>
          </a:p>
        </p:txBody>
      </p:sp>
      <p:sp>
        <p:nvSpPr>
          <p:cNvPr id="13" name="矩形 12"/>
          <p:cNvSpPr/>
          <p:nvPr/>
        </p:nvSpPr>
        <p:spPr>
          <a:xfrm>
            <a:off x="1019793" y="2256472"/>
            <a:ext cx="35137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X</a:t>
            </a:r>
            <a:endParaRPr lang="zh-TW" altLang="en-US" dirty="0"/>
          </a:p>
        </p:txBody>
      </p:sp>
      <p:sp>
        <p:nvSpPr>
          <p:cNvPr id="4" name="右大括弧 3"/>
          <p:cNvSpPr/>
          <p:nvPr/>
        </p:nvSpPr>
        <p:spPr>
          <a:xfrm>
            <a:off x="8343900" y="2842260"/>
            <a:ext cx="495300" cy="156972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5" name="矩形 4"/>
          <p:cNvSpPr/>
          <p:nvPr/>
        </p:nvSpPr>
        <p:spPr>
          <a:xfrm>
            <a:off x="8961120" y="3450074"/>
            <a:ext cx="1486304"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Construct tree</a:t>
            </a:r>
            <a:endParaRPr lang="zh-TW" altLang="en-US" dirty="0"/>
          </a:p>
        </p:txBody>
      </p:sp>
      <p:cxnSp>
        <p:nvCxnSpPr>
          <p:cNvPr id="17" name="直線接點 16"/>
          <p:cNvCxnSpPr/>
          <p:nvPr/>
        </p:nvCxnSpPr>
        <p:spPr>
          <a:xfrm>
            <a:off x="4148330" y="3634740"/>
            <a:ext cx="0" cy="188976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9" name="直線接點 18"/>
          <p:cNvCxnSpPr/>
          <p:nvPr/>
        </p:nvCxnSpPr>
        <p:spPr>
          <a:xfrm>
            <a:off x="4133090" y="5482113"/>
            <a:ext cx="533112" cy="937082"/>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0" name="直線接點 19"/>
          <p:cNvCxnSpPr/>
          <p:nvPr/>
        </p:nvCxnSpPr>
        <p:spPr>
          <a:xfrm>
            <a:off x="2293620" y="3634740"/>
            <a:ext cx="0" cy="1847373"/>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9" name="直線接點 28"/>
          <p:cNvCxnSpPr/>
          <p:nvPr/>
        </p:nvCxnSpPr>
        <p:spPr>
          <a:xfrm>
            <a:off x="2308861" y="5497353"/>
            <a:ext cx="464819" cy="67056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30" name="直線接點 29"/>
          <p:cNvCxnSpPr/>
          <p:nvPr/>
        </p:nvCxnSpPr>
        <p:spPr>
          <a:xfrm>
            <a:off x="2798445" y="6152673"/>
            <a:ext cx="967740" cy="0"/>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31" name="直線接點 30"/>
          <p:cNvCxnSpPr/>
          <p:nvPr/>
        </p:nvCxnSpPr>
        <p:spPr>
          <a:xfrm>
            <a:off x="3788570" y="6152673"/>
            <a:ext cx="161927" cy="268764"/>
          </a:xfrm>
          <a:prstGeom prst="line">
            <a:avLst/>
          </a:prstGeom>
          <a:ln w="3810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4516161" y="6488668"/>
            <a:ext cx="300082"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6</a:t>
            </a:r>
            <a:endParaRPr lang="zh-TW" altLang="en-US" dirty="0"/>
          </a:p>
        </p:txBody>
      </p:sp>
      <p:sp>
        <p:nvSpPr>
          <p:cNvPr id="14" name="矩形 13"/>
          <p:cNvSpPr/>
          <p:nvPr/>
        </p:nvSpPr>
        <p:spPr>
          <a:xfrm>
            <a:off x="3800456" y="6488668"/>
            <a:ext cx="300082"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0</a:t>
            </a:r>
            <a:endParaRPr lang="zh-TW" altLang="en-US" dirty="0"/>
          </a:p>
        </p:txBody>
      </p:sp>
      <p:sp>
        <p:nvSpPr>
          <p:cNvPr id="15" name="矩形 14"/>
          <p:cNvSpPr/>
          <p:nvPr/>
        </p:nvSpPr>
        <p:spPr>
          <a:xfrm>
            <a:off x="4158308" y="6488668"/>
            <a:ext cx="300082"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3</a:t>
            </a:r>
            <a:endParaRPr lang="zh-TW" altLang="en-US" dirty="0"/>
          </a:p>
        </p:txBody>
      </p:sp>
      <p:sp>
        <p:nvSpPr>
          <p:cNvPr id="18" name="矩形 17"/>
          <p:cNvSpPr/>
          <p:nvPr/>
        </p:nvSpPr>
        <p:spPr>
          <a:xfrm>
            <a:off x="3766185" y="5489733"/>
            <a:ext cx="981075" cy="92408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2" name="直線單箭頭接點 31"/>
          <p:cNvCxnSpPr>
            <a:stCxn id="18" idx="3"/>
          </p:cNvCxnSpPr>
          <p:nvPr/>
        </p:nvCxnSpPr>
        <p:spPr>
          <a:xfrm flipV="1">
            <a:off x="4747260" y="5646420"/>
            <a:ext cx="2339340" cy="30535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a:off x="7470869" y="5482113"/>
            <a:ext cx="2077235" cy="369332"/>
          </a:xfrm>
          <a:prstGeom prst="rect">
            <a:avLst/>
          </a:prstGeom>
          <a:ln>
            <a:noFill/>
          </a:ln>
        </p:spPr>
        <p:txBody>
          <a:bodyPr wrap="none">
            <a:spAutoFit/>
          </a:bodyPr>
          <a:lstStyle/>
          <a:p>
            <a:r>
              <a:rPr lang="en-US" altLang="zh-TW" dirty="0">
                <a:latin typeface="Times New Roman" panose="02020603050405020304" pitchFamily="18" charset="0"/>
                <a:cs typeface="Times New Roman" panose="02020603050405020304" pitchFamily="18" charset="0"/>
              </a:rPr>
              <a:t>-1 &lt;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Rank(</a:t>
            </a:r>
            <a:r>
              <a:rPr lang="en-US" altLang="zh-TW" dirty="0" err="1">
                <a:latin typeface="Times New Roman" panose="02020603050405020304" pitchFamily="18" charset="0"/>
                <a:cs typeface="Times New Roman" panose="02020603050405020304" pitchFamily="18" charset="0"/>
              </a:rPr>
              <a:t>i,j,a</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&lt; 11</a:t>
            </a:r>
            <a:endParaRPr lang="zh-TW" altLang="en-US" dirty="0"/>
          </a:p>
        </p:txBody>
      </p:sp>
    </p:spTree>
    <p:extLst>
      <p:ext uri="{BB962C8B-B14F-4D97-AF65-F5344CB8AC3E}">
        <p14:creationId xmlns:p14="http://schemas.microsoft.com/office/powerpoint/2010/main" val="10081657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Time complexity :  O(kl(log(kl)))</a:t>
            </a:r>
          </a:p>
          <a:p>
            <a:r>
              <a:rPr lang="en-US" altLang="zh-TW" dirty="0">
                <a:latin typeface="Times New Roman" panose="02020603050405020304" pitchFamily="18" charset="0"/>
                <a:cs typeface="Times New Roman" panose="02020603050405020304" pitchFamily="18" charset="0"/>
              </a:rPr>
              <a:t>O(kl) : Dark block</a:t>
            </a:r>
          </a:p>
          <a:p>
            <a:pPr marL="285750" indent="-285750"/>
            <a:r>
              <a:rPr lang="en-US" altLang="zh-TW" dirty="0">
                <a:latin typeface="Times New Roman" panose="02020603050405020304" pitchFamily="18" charset="0"/>
                <a:cs typeface="Times New Roman" panose="02020603050405020304" pitchFamily="18" charset="0"/>
              </a:rPr>
              <a:t>O(log(</a:t>
            </a:r>
            <a:r>
              <a:rPr lang="en-US" altLang="zh-TW">
                <a:latin typeface="Times New Roman" panose="02020603050405020304" pitchFamily="18" charset="0"/>
                <a:cs typeface="Times New Roman" panose="02020603050405020304" pitchFamily="18" charset="0"/>
              </a:rPr>
              <a:t>kl)): </a:t>
            </a: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Find the highest score (C) of the forced paths on column j, above row </a:t>
            </a:r>
            <a:r>
              <a:rPr lang="en-US" altLang="zh-TW" sz="2400" dirty="0" err="1">
                <a:latin typeface="Times New Roman" panose="02020603050405020304" pitchFamily="18" charset="0"/>
                <a:cs typeface="Times New Roman" panose="02020603050405020304" pitchFamily="18" charset="0"/>
              </a:rPr>
              <a:t>i</a:t>
            </a:r>
            <a:r>
              <a:rPr lang="en-US" altLang="zh-TW" sz="2400" dirty="0">
                <a:latin typeface="Times New Roman" panose="02020603050405020304" pitchFamily="18" charset="0"/>
                <a:cs typeface="Times New Roman" panose="02020603050405020304" pitchFamily="18" charset="0"/>
              </a:rPr>
              <a:t>. </a:t>
            </a:r>
          </a:p>
          <a:p>
            <a:pPr marL="0" indent="0">
              <a:buNone/>
            </a:pPr>
            <a:r>
              <a:rPr lang="en-US" altLang="zh-TW" sz="2400" dirty="0">
                <a:latin typeface="Times New Roman" panose="02020603050405020304" pitchFamily="18" charset="0"/>
                <a:cs typeface="Times New Roman" panose="02020603050405020304" pitchFamily="18" charset="0"/>
              </a:rPr>
              <a:t>	Find the highest score (R) of the forced paths on row </a:t>
            </a:r>
            <a:r>
              <a:rPr lang="en-US" altLang="zh-TW" sz="2400" dirty="0" err="1">
                <a:latin typeface="Times New Roman" panose="02020603050405020304" pitchFamily="18" charset="0"/>
                <a:cs typeface="Times New Roman" panose="02020603050405020304" pitchFamily="18" charset="0"/>
              </a:rPr>
              <a:t>i</a:t>
            </a:r>
            <a:r>
              <a:rPr lang="en-US" altLang="zh-TW" sz="2400" dirty="0">
                <a:latin typeface="Times New Roman" panose="02020603050405020304" pitchFamily="18" charset="0"/>
                <a:cs typeface="Times New Roman" panose="02020603050405020304" pitchFamily="18" charset="0"/>
              </a:rPr>
              <a:t>, left to column j.</a:t>
            </a: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	</a:t>
            </a:r>
          </a:p>
        </p:txBody>
      </p:sp>
      <p:sp>
        <p:nvSpPr>
          <p:cNvPr id="4" name="標題 1"/>
          <p:cNvSpPr>
            <a:spLocks noGrp="1"/>
          </p:cNvSpPr>
          <p:nvPr>
            <p:ph type="title"/>
          </p:nvPr>
        </p:nvSpPr>
        <p:spPr>
          <a:xfrm>
            <a:off x="838200" y="365125"/>
            <a:ext cx="10515600" cy="1325563"/>
          </a:xfrm>
        </p:spPr>
        <p:txBody>
          <a:bodyPr>
            <a:normAutofit/>
          </a:bodyPr>
          <a:lstStyle/>
          <a:p>
            <a:r>
              <a:rPr lang="en-US" altLang="zh-TW" sz="3600" dirty="0">
                <a:latin typeface="Times New Roman" panose="02020603050405020304" pitchFamily="18" charset="0"/>
                <a:cs typeface="Times New Roman" panose="02020603050405020304" pitchFamily="18" charset="0"/>
              </a:rPr>
              <a:t>Longest Common Subsequence - A Faster Algorithm</a:t>
            </a:r>
            <a:endParaRPr lang="zh-TW" altLang="en-US" sz="3600" dirty="0"/>
          </a:p>
        </p:txBody>
      </p:sp>
    </p:spTree>
    <p:extLst>
      <p:ext uri="{BB962C8B-B14F-4D97-AF65-F5344CB8AC3E}">
        <p14:creationId xmlns:p14="http://schemas.microsoft.com/office/powerpoint/2010/main" val="1303625229"/>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669</TotalTime>
  <Words>2845</Words>
  <Application>Microsoft Office PowerPoint</Application>
  <PresentationFormat>寬螢幕</PresentationFormat>
  <Paragraphs>858</Paragraphs>
  <Slides>31</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31</vt:i4>
      </vt:variant>
    </vt:vector>
  </HeadingPairs>
  <TitlesOfParts>
    <vt:vector size="36" baseType="lpstr">
      <vt:lpstr>Arial</vt:lpstr>
      <vt:lpstr>Calibri</vt:lpstr>
      <vt:lpstr>Calibri Light</vt:lpstr>
      <vt:lpstr>Times New Roman</vt:lpstr>
      <vt:lpstr>Office 佈景主題</vt:lpstr>
      <vt:lpstr>Matching for Run-Length Encoded Strings </vt:lpstr>
      <vt:lpstr>Motivation</vt:lpstr>
      <vt:lpstr> Run-Length Encoded </vt:lpstr>
      <vt:lpstr>Longest Common Subsequence - Initial Algorithm</vt:lpstr>
      <vt:lpstr>Longest Common Subsequence - Initial Algorithm</vt:lpstr>
      <vt:lpstr>Longest Common Subsequence - Initial Algorithm</vt:lpstr>
      <vt:lpstr>Longest Common Subsequence - Initial Algorithm</vt:lpstr>
      <vt:lpstr>Longest Common Subsequence - Initial Algorithm</vt:lpstr>
      <vt:lpstr>Longest Common Subsequence - Initial Algorithm</vt:lpstr>
      <vt:lpstr>Longest Common Subsequence - Initial Algorithm</vt:lpstr>
      <vt:lpstr>Longest Common Subsequence - Initial Algorithm</vt:lpstr>
      <vt:lpstr>Longest Common Subsequence - Initial Algorithm</vt:lpstr>
      <vt:lpstr>Longest Common Subsequence - Initial Algorithm</vt:lpstr>
      <vt:lpstr>Longest Common Subsequence - Initial Algorithm</vt:lpstr>
      <vt:lpstr>Longest Common Subsequence - Initial Algorithm</vt:lpstr>
      <vt:lpstr>Longest Common Subsequence - Initial Algorithm</vt:lpstr>
      <vt:lpstr>Longest Common Subsequence - Initial Algorithm</vt:lpstr>
      <vt:lpstr>Longest Common Subsequence - Initial Algorithm</vt:lpstr>
      <vt:lpstr>Longest Common Subsequence - Initial Algorithm</vt:lpstr>
      <vt:lpstr>Longest Common Subsequence - Initial Algorithm</vt:lpstr>
      <vt:lpstr>Longest Common Subsequence - Initial Algorithm</vt:lpstr>
      <vt:lpstr>Longest Common Subsequence - Initial Algorithm</vt:lpstr>
      <vt:lpstr>Longest Common Subsequence - Initial Algorithm</vt:lpstr>
      <vt:lpstr>Longest Common Subsequence - Initial Algorithm</vt:lpstr>
      <vt:lpstr>Longest Common Subsequence - Initial Algorithm</vt:lpstr>
      <vt:lpstr>Longest Common Subsequence - Initial Algorithm</vt:lpstr>
      <vt:lpstr>Longest Common Subsequence - Initial Algorithm</vt:lpstr>
      <vt:lpstr>Longest Common Subsequence - Initial Algorithm</vt:lpstr>
      <vt:lpstr>Longest Common Subsequence - A Faster Algorithm</vt:lpstr>
      <vt:lpstr>Longest Common Subsequence - A Faster Algorithm</vt:lpstr>
      <vt:lpstr>Longest Common Subsequence - A Faster Algorithm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Matching for Run-Length Encoded Strings</dc:title>
  <dc:creator>Alex</dc:creator>
  <cp:lastModifiedBy>pplab</cp:lastModifiedBy>
  <cp:revision>36</cp:revision>
  <dcterms:created xsi:type="dcterms:W3CDTF">2020-04-13T07:19:25Z</dcterms:created>
  <dcterms:modified xsi:type="dcterms:W3CDTF">2020-04-14T11:06:18Z</dcterms:modified>
</cp:coreProperties>
</file>