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2020/4/14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920079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STR-EC-LCS Computation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124887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it-IT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Kohei Yamada, Yuto Nakashima, Shunsuke Inenaga, Hideo Bannai and Masayuki Takeda</a:t>
            </a:r>
            <a:endParaRPr lang="pl-PL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580484" y="4041534"/>
            <a:ext cx="11031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46th International Conference on Current Trends in Theory and Practice of Informatics, 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SOFSEM 2020, Limassol, Cyprus, January 20–24, 2020 pp. 125-135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8319091" y="5022042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8992417" y="5483707"/>
            <a:ext cx="260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14, 2020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 subsequence (LCS) problem is a central problem in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stringology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finds the longest common subsequence of given two strings A and B. More recently, a set of four constrained LCS problems (called generalized constrained LCS problem) were proposed by Chen and Chao [J. Comb.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2011]. In this paper, we consider the substring-excluding constrained LCS (STR-EC-LCS) problem. A string Z is said to be an STR-EC-LCS of two given strings A and B excluding P if, Z is one of the longest common subsequences of A and B that does not contain P as a substring. Wang et al. proposed a dynamic programming solution which computes an STR-EC-LCS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space where   m = |A|,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|B|,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|P|  [Inf. Process. Lett., 2013]. 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show a new solution for the STR-EC-LCS problem. Our algorithm computes an STR-EC-LCS in  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n|Σ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|+(L+1)(m−L+1)r)  time where |Σ| ≤ min{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denotes the set of distinct characters occurring in both A and B, and L is the length of the STR-EC-LCS. This algorithm is faster than the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algorithm for short/long STR-EC-LCS (namely,   L∈O(1)  or   m−L∈O(1) ), and is at least as efficient as the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algorithm for all cases.</a:t>
            </a:r>
          </a:p>
        </p:txBody>
      </p:sp>
    </p:spTree>
    <p:extLst>
      <p:ext uri="{BB962C8B-B14F-4D97-AF65-F5344CB8AC3E}">
        <p14:creationId xmlns:p14="http://schemas.microsoft.com/office/powerpoint/2010/main" val="283062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aabacab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baabbcaa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aabca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aabacab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baabbcaa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aabca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29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aabacab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baabbcaa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11">
            <a:extLst>
              <a:ext uri="{FF2B5EF4-FFF2-40B4-BE49-F238E27FC236}">
                <a16:creationId xmlns:a16="http://schemas.microsoft.com/office/drawing/2014/main" id="{5B502C38-08AF-45AA-A84A-FA706256E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46322"/>
              </p:ext>
            </p:extLst>
          </p:nvPr>
        </p:nvGraphicFramePr>
        <p:xfrm>
          <a:off x="5377342" y="1034473"/>
          <a:ext cx="6135850" cy="211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5282">
                  <a:extLst>
                    <a:ext uri="{9D8B030D-6E8A-4147-A177-3AD203B41FA5}">
                      <a16:colId xmlns:a16="http://schemas.microsoft.com/office/drawing/2014/main" val="608388869"/>
                    </a:ext>
                  </a:extLst>
                </a:gridCol>
                <a:gridCol w="1022642">
                  <a:extLst>
                    <a:ext uri="{9D8B030D-6E8A-4147-A177-3AD203B41FA5}">
                      <a16:colId xmlns:a16="http://schemas.microsoft.com/office/drawing/2014/main" val="1893626735"/>
                    </a:ext>
                  </a:extLst>
                </a:gridCol>
                <a:gridCol w="1022642">
                  <a:extLst>
                    <a:ext uri="{9D8B030D-6E8A-4147-A177-3AD203B41FA5}">
                      <a16:colId xmlns:a16="http://schemas.microsoft.com/office/drawing/2014/main" val="3075368766"/>
                    </a:ext>
                  </a:extLst>
                </a:gridCol>
                <a:gridCol w="1022642">
                  <a:extLst>
                    <a:ext uri="{9D8B030D-6E8A-4147-A177-3AD203B41FA5}">
                      <a16:colId xmlns:a16="http://schemas.microsoft.com/office/drawing/2014/main" val="3626750329"/>
                    </a:ext>
                  </a:extLst>
                </a:gridCol>
                <a:gridCol w="1022642">
                  <a:extLst>
                    <a:ext uri="{9D8B030D-6E8A-4147-A177-3AD203B41FA5}">
                      <a16:colId xmlns:a16="http://schemas.microsoft.com/office/drawing/2014/main" val="696660110"/>
                    </a:ext>
                  </a:extLst>
                </a:gridCol>
              </a:tblGrid>
              <a:tr h="11178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Length</a:t>
                      </a:r>
                    </a:p>
                    <a:p>
                      <a:pPr algn="l"/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421395"/>
                  </a:ext>
                </a:extLst>
              </a:tr>
              <a:tr h="49680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218144"/>
                  </a:ext>
                </a:extLst>
              </a:tr>
              <a:tr h="4968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(0,0,0)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(1,2,1)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(2,3,2)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trike="sng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(3,4,3)</a:t>
                      </a:r>
                      <a:endParaRPr lang="zh-TW" altLang="en-US" strike="sngStrik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978080"/>
                  </a:ext>
                </a:extLst>
              </a:tr>
            </a:tbl>
          </a:graphicData>
        </a:graphic>
      </p:graphicFrame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83FD220F-16B5-4CE6-8518-630F101B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650812"/>
              </p:ext>
            </p:extLst>
          </p:nvPr>
        </p:nvGraphicFramePr>
        <p:xfrm>
          <a:off x="838200" y="2937440"/>
          <a:ext cx="424552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25">
                  <a:extLst>
                    <a:ext uri="{9D8B030D-6E8A-4147-A177-3AD203B41FA5}">
                      <a16:colId xmlns:a16="http://schemas.microsoft.com/office/drawing/2014/main" val="397357307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11999589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106133888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6268196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255000363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169116606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995063175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4456835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82974591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5919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05662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46582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trike="sngStrike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trike="sngStrike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35764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639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88324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123698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6984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A1562219-D13A-41C9-9654-C50526E8CABC}"/>
              </a:ext>
            </a:extLst>
          </p:cNvPr>
          <p:cNvSpPr txBox="1"/>
          <p:nvPr/>
        </p:nvSpPr>
        <p:spPr>
          <a:xfrm>
            <a:off x="5711084" y="3505912"/>
            <a:ext cx="580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the length of the longest prefix of P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82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aabacab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baabbcaa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11">
                <a:extLst>
                  <a:ext uri="{FF2B5EF4-FFF2-40B4-BE49-F238E27FC236}">
                    <a16:creationId xmlns:a16="http://schemas.microsoft.com/office/drawing/2014/main" id="{5B502C38-08AF-45AA-A84A-FA706256E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931052"/>
                  </p:ext>
                </p:extLst>
              </p:nvPr>
            </p:nvGraphicFramePr>
            <p:xfrm>
              <a:off x="5268284" y="1028711"/>
              <a:ext cx="6837028" cy="324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53433">
                      <a:extLst>
                        <a:ext uri="{9D8B030D-6E8A-4147-A177-3AD203B41FA5}">
                          <a16:colId xmlns:a16="http://schemas.microsoft.com/office/drawing/2014/main" val="60838886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1893626735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075368766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62675032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696660110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4186285250"/>
                        </a:ext>
                      </a:extLst>
                    </a:gridCol>
                  </a:tblGrid>
                  <a:tr h="1117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          Length</a:t>
                          </a:r>
                        </a:p>
                        <a:p>
                          <a:pPr algn="l"/>
                          <a:endParaRPr lang="en-US" altLang="zh-TW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Round</a:t>
                          </a:r>
                          <a:endParaRPr lang="zh-TW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1421395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218144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(3,4,3)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097808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4022746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(2,2,1)</a:t>
                          </a:r>
                          <a:endParaRPr lang="zh-TW" altLang="en-US" i="0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(4,7,2)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3014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11">
                <a:extLst>
                  <a:ext uri="{FF2B5EF4-FFF2-40B4-BE49-F238E27FC236}">
                    <a16:creationId xmlns:a16="http://schemas.microsoft.com/office/drawing/2014/main" id="{5B502C38-08AF-45AA-A84A-FA706256E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931052"/>
                  </p:ext>
                </p:extLst>
              </p:nvPr>
            </p:nvGraphicFramePr>
            <p:xfrm>
              <a:off x="5268284" y="1028711"/>
              <a:ext cx="6837028" cy="3248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53433">
                      <a:extLst>
                        <a:ext uri="{9D8B030D-6E8A-4147-A177-3AD203B41FA5}">
                          <a16:colId xmlns:a16="http://schemas.microsoft.com/office/drawing/2014/main" val="60838886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1893626735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075368766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62675032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696660110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4186285250"/>
                        </a:ext>
                      </a:extLst>
                    </a:gridCol>
                  </a:tblGrid>
                  <a:tr h="1117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          Length</a:t>
                          </a:r>
                        </a:p>
                        <a:p>
                          <a:pPr algn="l"/>
                          <a:endParaRPr lang="en-US" altLang="zh-TW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Round</a:t>
                          </a:r>
                          <a:endParaRPr lang="zh-TW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1421395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218144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(3,4,3)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097808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4022746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(2,2,1)</a:t>
                          </a:r>
                          <a:endParaRPr lang="zh-TW" altLang="en-US" i="0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(4,7,2)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875" t="-413333" r="-1250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301417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83FD220F-16B5-4CE6-8518-630F101B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305454"/>
              </p:ext>
            </p:extLst>
          </p:nvPr>
        </p:nvGraphicFramePr>
        <p:xfrm>
          <a:off x="838200" y="2937440"/>
          <a:ext cx="424552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25">
                  <a:extLst>
                    <a:ext uri="{9D8B030D-6E8A-4147-A177-3AD203B41FA5}">
                      <a16:colId xmlns:a16="http://schemas.microsoft.com/office/drawing/2014/main" val="397357307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11999589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106133888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6268196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255000363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169116606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995063175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4456835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82974591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5919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05662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46582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trike="noStrik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trike="noStrik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35764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639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88324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123698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69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69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aabacab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baabbcaa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11">
                <a:extLst>
                  <a:ext uri="{FF2B5EF4-FFF2-40B4-BE49-F238E27FC236}">
                    <a16:creationId xmlns:a16="http://schemas.microsoft.com/office/drawing/2014/main" id="{5B502C38-08AF-45AA-A84A-FA706256E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8847883"/>
                  </p:ext>
                </p:extLst>
              </p:nvPr>
            </p:nvGraphicFramePr>
            <p:xfrm>
              <a:off x="5268284" y="1028711"/>
              <a:ext cx="6837028" cy="4659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53433">
                      <a:extLst>
                        <a:ext uri="{9D8B030D-6E8A-4147-A177-3AD203B41FA5}">
                          <a16:colId xmlns:a16="http://schemas.microsoft.com/office/drawing/2014/main" val="60838886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1893626735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075368766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62675032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696660110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4186285250"/>
                        </a:ext>
                      </a:extLst>
                    </a:gridCol>
                  </a:tblGrid>
                  <a:tr h="1117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          Length</a:t>
                          </a:r>
                        </a:p>
                        <a:p>
                          <a:pPr algn="l"/>
                          <a:endParaRPr lang="en-US" altLang="zh-TW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Round</a:t>
                          </a:r>
                          <a:endParaRPr lang="zh-TW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1421395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218144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(3,4,3)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097808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4022746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(2,2,1)</a:t>
                          </a:r>
                          <a:endParaRPr lang="zh-TW" altLang="en-US" i="0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(4,7,2)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301417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4081725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(3,1,0)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(4,2,1)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(5,6,0)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(6,7,1)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95606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11">
                <a:extLst>
                  <a:ext uri="{FF2B5EF4-FFF2-40B4-BE49-F238E27FC236}">
                    <a16:creationId xmlns:a16="http://schemas.microsoft.com/office/drawing/2014/main" id="{5B502C38-08AF-45AA-A84A-FA706256EA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8847883"/>
                  </p:ext>
                </p:extLst>
              </p:nvPr>
            </p:nvGraphicFramePr>
            <p:xfrm>
              <a:off x="5268284" y="1028711"/>
              <a:ext cx="6837028" cy="4659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53433">
                      <a:extLst>
                        <a:ext uri="{9D8B030D-6E8A-4147-A177-3AD203B41FA5}">
                          <a16:colId xmlns:a16="http://schemas.microsoft.com/office/drawing/2014/main" val="60838886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1893626735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075368766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3626750329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696660110"/>
                        </a:ext>
                      </a:extLst>
                    </a:gridCol>
                    <a:gridCol w="976719">
                      <a:extLst>
                        <a:ext uri="{9D8B030D-6E8A-4147-A177-3AD203B41FA5}">
                          <a16:colId xmlns:a16="http://schemas.microsoft.com/office/drawing/2014/main" val="4186285250"/>
                        </a:ext>
                      </a:extLst>
                    </a:gridCol>
                  </a:tblGrid>
                  <a:tr h="1117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               Length</a:t>
                          </a:r>
                        </a:p>
                        <a:p>
                          <a:pPr algn="l"/>
                          <a:endParaRPr lang="en-US" altLang="zh-TW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Round</a:t>
                          </a:r>
                          <a:endParaRPr lang="zh-TW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1421395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2218144"/>
                      </a:ext>
                    </a:extLst>
                  </a:tr>
                  <a:tr h="496800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(3,4,3)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7097808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4022746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(2,2,1)</a:t>
                          </a:r>
                          <a:endParaRPr lang="zh-TW" altLang="en-US" i="0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  <a:p>
                          <a:pPr algn="ctr"/>
                          <a:r>
                            <a:rPr lang="en-US" altLang="zh-TW" strike="sngStrike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(4,7,2)</a:t>
                          </a:r>
                          <a:endParaRPr lang="zh-TW" altLang="en-US" strike="sngStrik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875" t="-413333" r="-1250" b="-2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3014170"/>
                      </a:ext>
                    </a:extLst>
                  </a:tr>
                  <a:tr h="4968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2,0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3,1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5,3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altLang="zh-TW" i="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6,4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4081725"/>
                      </a:ext>
                    </a:extLst>
                  </a:tr>
                  <a:tr h="914400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(0,0,0)</a:t>
                          </a:r>
                          <a:endParaRPr lang="zh-TW" alt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(3,1,0)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(1,2,1)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(3,4,0)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(4,2,1)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(2,3,2)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(5,6,0)</a:t>
                          </a:r>
                        </a:p>
                        <a:p>
                          <a:pPr algn="ctr"/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(4,7,1)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(6,7,1)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956065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83FD220F-16B5-4CE6-8518-630F101BD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3037"/>
              </p:ext>
            </p:extLst>
          </p:nvPr>
        </p:nvGraphicFramePr>
        <p:xfrm>
          <a:off x="838200" y="2937440"/>
          <a:ext cx="424552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25">
                  <a:extLst>
                    <a:ext uri="{9D8B030D-6E8A-4147-A177-3AD203B41FA5}">
                      <a16:colId xmlns:a16="http://schemas.microsoft.com/office/drawing/2014/main" val="397357307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11999589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106133888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6268196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255000363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1691166064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995063175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944568352"/>
                    </a:ext>
                  </a:extLst>
                </a:gridCol>
                <a:gridCol w="471725">
                  <a:extLst>
                    <a:ext uri="{9D8B030D-6E8A-4147-A177-3AD203B41FA5}">
                      <a16:colId xmlns:a16="http://schemas.microsoft.com/office/drawing/2014/main" val="382974591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5919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05662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46582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trike="noStrik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trike="noStrike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35764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639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88324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123698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69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4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 time 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O(n|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+ (L+1)(m-L+1)r)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53D448-D97B-4C0B-980C-685401D7E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12" y="2168001"/>
            <a:ext cx="72675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7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5387</TotalTime>
  <Words>672</Words>
  <Application>Microsoft Office PowerPoint</Application>
  <PresentationFormat>寬螢幕</PresentationFormat>
  <Paragraphs>197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佈景主題</vt:lpstr>
      <vt:lpstr>Faster STR-EC-LCS Computation</vt:lpstr>
      <vt:lpstr>Abstract(1/2)</vt:lpstr>
      <vt:lpstr>Abstract(2/2)</vt:lpstr>
      <vt:lpstr>LCS</vt:lpstr>
      <vt:lpstr>STR-EC-LCS</vt:lpstr>
      <vt:lpstr>STR-EC-LCS</vt:lpstr>
      <vt:lpstr>STR-EC-LCS</vt:lpstr>
      <vt:lpstr>STR-EC-LCS</vt:lpstr>
      <vt:lpstr>STR-EC-LCS 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tu cheng</cp:lastModifiedBy>
  <cp:revision>305</cp:revision>
  <dcterms:created xsi:type="dcterms:W3CDTF">2018-09-30T05:00:05Z</dcterms:created>
  <dcterms:modified xsi:type="dcterms:W3CDTF">2020-04-14T10:26:55Z</dcterms:modified>
</cp:coreProperties>
</file>