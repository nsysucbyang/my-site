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88" r:id="rId3"/>
    <p:sldId id="258" r:id="rId4"/>
    <p:sldId id="259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E40CC-755A-4933-981D-0113FE490BB3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128D1-15FD-4A63-8E2D-CF760F0AEE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300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28D1-15FD-4A63-8E2D-CF760F0AEEE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25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96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14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81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28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88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99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45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52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04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02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1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236B1-9950-4B4B-9A37-2F283727437B}" type="datetimeFigureOut">
              <a:rPr lang="zh-TW" altLang="en-US" smtClean="0"/>
              <a:t>2020/10/6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D6195-81F2-442C-A4D9-2EB51DACBB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582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the longest common substring with one mismatch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 A.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Babenko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Tatiana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Starikovskaya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Information Transmission 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(2011) 60: 806–818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Oct 6,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18520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100EF5-CDAD-4453-B58F-E08BF7B9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2A4C95-2C27-4C12-9CF2-A90024CA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describes an algorithm for computing longest common substrings of two strings α1 and α2 with one mismatch in O(|α1||α2|) time and O(|α1|) additional space. The algorithm always accesses symbols of α2 sequentially starting from the first symbol. RAM-model of computation is used.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7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 with one mismatch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endParaRPr lang="en-US" altLang="zh-TW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with one mismatch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endParaRPr lang="en-US" altLang="zh-TW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4023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2CC1B-7FBD-4810-B72C-49B69809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solution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562503-29BF-4377-BE36-BA479C58A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312165"/>
              </p:ext>
            </p:extLst>
          </p:nvPr>
        </p:nvGraphicFramePr>
        <p:xfrm>
          <a:off x="990708" y="1618951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EC78BCB-C17C-4CF5-B9D6-DB2ADF59B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450787"/>
              </p:ext>
            </p:extLst>
          </p:nvPr>
        </p:nvGraphicFramePr>
        <p:xfrm>
          <a:off x="990707" y="2124728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59B9806-C448-4045-B6D4-6B278FB3A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94674"/>
              </p:ext>
            </p:extLst>
          </p:nvPr>
        </p:nvGraphicFramePr>
        <p:xfrm>
          <a:off x="990708" y="3058160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C6E6AB5-65BB-469A-8DCD-D30592799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94595"/>
              </p:ext>
            </p:extLst>
          </p:nvPr>
        </p:nvGraphicFramePr>
        <p:xfrm>
          <a:off x="990707" y="3563937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3E9C0A69-D1A8-4C0A-975C-4B4CB289CB79}"/>
              </a:ext>
            </a:extLst>
          </p:cNvPr>
          <p:cNvSpPr/>
          <p:nvPr/>
        </p:nvSpPr>
        <p:spPr>
          <a:xfrm>
            <a:off x="2642934" y="2600587"/>
            <a:ext cx="192947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4DA3E63-4596-46EB-AB6B-7B0AF8E36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462958"/>
              </p:ext>
            </p:extLst>
          </p:nvPr>
        </p:nvGraphicFramePr>
        <p:xfrm>
          <a:off x="990706" y="5053629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820CEB4-B1EB-4D26-8A63-37119550A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36987"/>
              </p:ext>
            </p:extLst>
          </p:nvPr>
        </p:nvGraphicFramePr>
        <p:xfrm>
          <a:off x="990706" y="5559406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A82F059B-C5A1-484A-9C31-CCB93B1FB5D2}"/>
              </a:ext>
            </a:extLst>
          </p:cNvPr>
          <p:cNvSpPr/>
          <p:nvPr/>
        </p:nvSpPr>
        <p:spPr>
          <a:xfrm>
            <a:off x="2642932" y="4625386"/>
            <a:ext cx="192947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807052B-BA92-4141-AEDC-D3BE037DF47B}"/>
              </a:ext>
            </a:extLst>
          </p:cNvPr>
          <p:cNvSpPr txBox="1"/>
          <p:nvPr/>
        </p:nvSpPr>
        <p:spPr>
          <a:xfrm>
            <a:off x="2567031" y="3906601"/>
            <a:ext cx="118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</a:p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F76C9FF3-BDAA-4609-8418-98619338311C}"/>
              </a:ext>
            </a:extLst>
          </p:cNvPr>
          <p:cNvSpPr/>
          <p:nvPr/>
        </p:nvSpPr>
        <p:spPr>
          <a:xfrm>
            <a:off x="8810240" y="1028713"/>
            <a:ext cx="192947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E6AFB52-022D-4ADC-9A73-A1179F740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781"/>
              </p:ext>
            </p:extLst>
          </p:nvPr>
        </p:nvGraphicFramePr>
        <p:xfrm>
          <a:off x="7061540" y="1618951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6730C6D9-ED6B-4E13-8E92-5E31D434E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66448"/>
              </p:ext>
            </p:extLst>
          </p:nvPr>
        </p:nvGraphicFramePr>
        <p:xfrm>
          <a:off x="7061539" y="2124728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FBB6ED0E-597C-43BF-8C8E-68B3AD09C061}"/>
              </a:ext>
            </a:extLst>
          </p:cNvPr>
          <p:cNvSpPr/>
          <p:nvPr/>
        </p:nvSpPr>
        <p:spPr>
          <a:xfrm>
            <a:off x="8810239" y="2597231"/>
            <a:ext cx="192947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BF747745-D773-47BB-B9A8-313DDD65B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347510"/>
              </p:ext>
            </p:extLst>
          </p:nvPr>
        </p:nvGraphicFramePr>
        <p:xfrm>
          <a:off x="7061540" y="3058197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A35387E2-6C6E-4783-947C-D20039D2E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05085"/>
              </p:ext>
            </p:extLst>
          </p:nvPr>
        </p:nvGraphicFramePr>
        <p:xfrm>
          <a:off x="7061539" y="3563974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7D759C1A-FE5F-4DB7-994D-9C30C69C7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49478"/>
              </p:ext>
            </p:extLst>
          </p:nvPr>
        </p:nvGraphicFramePr>
        <p:xfrm>
          <a:off x="7106287" y="5053325"/>
          <a:ext cx="36903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4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16FE5F64-34E4-4108-B4EE-43DDEB893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628974"/>
              </p:ext>
            </p:extLst>
          </p:nvPr>
        </p:nvGraphicFramePr>
        <p:xfrm>
          <a:off x="7106287" y="5559406"/>
          <a:ext cx="3356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D265F561-B369-4A20-8A0B-928E7EF230A6}"/>
              </a:ext>
            </a:extLst>
          </p:cNvPr>
          <p:cNvSpPr/>
          <p:nvPr/>
        </p:nvSpPr>
        <p:spPr>
          <a:xfrm>
            <a:off x="8732394" y="4625386"/>
            <a:ext cx="192947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3D15304-90C0-4F26-8FFD-B1808DCE07EB}"/>
              </a:ext>
            </a:extLst>
          </p:cNvPr>
          <p:cNvSpPr txBox="1"/>
          <p:nvPr/>
        </p:nvSpPr>
        <p:spPr>
          <a:xfrm>
            <a:off x="8671421" y="3851112"/>
            <a:ext cx="118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</a:p>
          <a:p>
            <a:r>
              <a:rPr lang="en-US" altLang="zh-TW" dirty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177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solution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abaababbaab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aabaabbbba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661462"/>
              </p:ext>
            </p:extLst>
          </p:nvPr>
        </p:nvGraphicFramePr>
        <p:xfrm>
          <a:off x="1175266" y="3372250"/>
          <a:ext cx="44201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78527"/>
              </p:ext>
            </p:extLst>
          </p:nvPr>
        </p:nvGraphicFramePr>
        <p:xfrm>
          <a:off x="1175265" y="3878027"/>
          <a:ext cx="40199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18062"/>
              </p:ext>
            </p:extLst>
          </p:nvPr>
        </p:nvGraphicFramePr>
        <p:xfrm>
          <a:off x="1175266" y="5426393"/>
          <a:ext cx="44201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18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13343"/>
              </p:ext>
            </p:extLst>
          </p:nvPr>
        </p:nvGraphicFramePr>
        <p:xfrm>
          <a:off x="1175265" y="5932170"/>
          <a:ext cx="40199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9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4792061" y="5440363"/>
            <a:ext cx="403194" cy="370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384972" y="5920298"/>
            <a:ext cx="403194" cy="370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cxnSpLocks/>
          </p:cNvCxnSpPr>
          <p:nvPr/>
        </p:nvCxnSpPr>
        <p:spPr>
          <a:xfrm>
            <a:off x="3185260" y="4361821"/>
            <a:ext cx="0" cy="840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274186" y="4597284"/>
            <a:ext cx="225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49084E-65B8-4EAE-8C81-642FBE95A745}"/>
              </a:ext>
            </a:extLst>
          </p:cNvPr>
          <p:cNvSpPr txBox="1"/>
          <p:nvPr/>
        </p:nvSpPr>
        <p:spPr>
          <a:xfrm>
            <a:off x="6996747" y="5621802"/>
            <a:ext cx="46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LCS(X[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start:end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,Y[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start:end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])with one mismatch only cost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27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solution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027582"/>
              </p:ext>
            </p:extLst>
          </p:nvPr>
        </p:nvGraphicFramePr>
        <p:xfrm>
          <a:off x="1175266" y="2333841"/>
          <a:ext cx="66432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9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553554"/>
              </p:ext>
            </p:extLst>
          </p:nvPr>
        </p:nvGraphicFramePr>
        <p:xfrm>
          <a:off x="1175264" y="2982074"/>
          <a:ext cx="603927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9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內容版面配置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, Y[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|X|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start|Y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|Y|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|X|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end|Y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|Y|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O(|X|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|Y|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7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: Longest common substring with one mismatch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31223"/>
              </p:ext>
            </p:extLst>
          </p:nvPr>
        </p:nvGraphicFramePr>
        <p:xfrm>
          <a:off x="1875481" y="189767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963357"/>
              </p:ext>
            </p:extLst>
          </p:nvPr>
        </p:nvGraphicFramePr>
        <p:xfrm>
          <a:off x="1142313" y="2386978"/>
          <a:ext cx="73920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142312" y="1614616"/>
            <a:ext cx="4426465" cy="1392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310183" y="1614615"/>
            <a:ext cx="3693297" cy="1392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306594" y="3125271"/>
            <a:ext cx="246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601341" y="3125271"/>
            <a:ext cx="246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66413"/>
              </p:ext>
            </p:extLst>
          </p:nvPr>
        </p:nvGraphicFramePr>
        <p:xfrm>
          <a:off x="6308935" y="4302831"/>
          <a:ext cx="36945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90101"/>
              </p:ext>
            </p:extLst>
          </p:nvPr>
        </p:nvGraphicFramePr>
        <p:xfrm>
          <a:off x="6308935" y="4932209"/>
          <a:ext cx="221762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942926"/>
              </p:ext>
            </p:extLst>
          </p:nvPr>
        </p:nvGraphicFramePr>
        <p:xfrm>
          <a:off x="1874232" y="4302831"/>
          <a:ext cx="36945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499030"/>
              </p:ext>
            </p:extLst>
          </p:nvPr>
        </p:nvGraphicFramePr>
        <p:xfrm>
          <a:off x="1133523" y="4929033"/>
          <a:ext cx="44352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箭號: 向下 2">
            <a:extLst>
              <a:ext uri="{FF2B5EF4-FFF2-40B4-BE49-F238E27FC236}">
                <a16:creationId xmlns:a16="http://schemas.microsoft.com/office/drawing/2014/main" id="{01FB4805-5CFF-431D-9FB6-6488C1CD5F04}"/>
              </a:ext>
            </a:extLst>
          </p:cNvPr>
          <p:cNvSpPr/>
          <p:nvPr/>
        </p:nvSpPr>
        <p:spPr>
          <a:xfrm>
            <a:off x="3439486" y="3494603"/>
            <a:ext cx="176169" cy="696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A27FFC3F-A730-4744-9682-1DECC98FC71A}"/>
              </a:ext>
            </a:extLst>
          </p:cNvPr>
          <p:cNvSpPr/>
          <p:nvPr/>
        </p:nvSpPr>
        <p:spPr>
          <a:xfrm>
            <a:off x="7805312" y="3494603"/>
            <a:ext cx="176169" cy="696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71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LCP table for 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aabaabbbba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085855"/>
              </p:ext>
            </p:extLst>
          </p:nvPr>
        </p:nvGraphicFramePr>
        <p:xfrm>
          <a:off x="1005766" y="2302734"/>
          <a:ext cx="404683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aabaabbbb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橢圓 5"/>
          <p:cNvSpPr/>
          <p:nvPr/>
        </p:nvSpPr>
        <p:spPr>
          <a:xfrm>
            <a:off x="8789773" y="1533181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>
            <a:stCxn id="6" idx="4"/>
          </p:cNvCxnSpPr>
          <p:nvPr/>
        </p:nvCxnSpPr>
        <p:spPr>
          <a:xfrm flipH="1">
            <a:off x="8402596" y="2118068"/>
            <a:ext cx="679621" cy="402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386119" y="1933402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0" name="橢圓 19"/>
          <p:cNvSpPr/>
          <p:nvPr/>
        </p:nvSpPr>
        <p:spPr>
          <a:xfrm>
            <a:off x="7933880" y="2466946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/>
          <p:cNvCxnSpPr>
            <a:stCxn id="20" idx="4"/>
            <a:endCxn id="25" idx="0"/>
          </p:cNvCxnSpPr>
          <p:nvPr/>
        </p:nvCxnSpPr>
        <p:spPr>
          <a:xfrm flipH="1">
            <a:off x="7358288" y="3051833"/>
            <a:ext cx="868036" cy="434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578956" y="296051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5" name="橢圓 24"/>
          <p:cNvSpPr/>
          <p:nvPr/>
        </p:nvSpPr>
        <p:spPr>
          <a:xfrm>
            <a:off x="7065844" y="3486636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單箭頭接點 26"/>
          <p:cNvCxnSpPr>
            <a:stCxn id="20" idx="4"/>
          </p:cNvCxnSpPr>
          <p:nvPr/>
        </p:nvCxnSpPr>
        <p:spPr>
          <a:xfrm flipH="1">
            <a:off x="8226323" y="3051833"/>
            <a:ext cx="1" cy="42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317429" y="3056768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sp>
        <p:nvSpPr>
          <p:cNvPr id="33" name="橢圓 32"/>
          <p:cNvSpPr/>
          <p:nvPr/>
        </p:nvSpPr>
        <p:spPr>
          <a:xfrm>
            <a:off x="7933879" y="3486637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單箭頭接點 39"/>
          <p:cNvCxnSpPr>
            <a:stCxn id="33" idx="4"/>
          </p:cNvCxnSpPr>
          <p:nvPr/>
        </p:nvCxnSpPr>
        <p:spPr>
          <a:xfrm flipH="1">
            <a:off x="7430530" y="4071524"/>
            <a:ext cx="795793" cy="518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179417" y="4093375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abbbba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42" name="橢圓 41"/>
          <p:cNvSpPr/>
          <p:nvPr/>
        </p:nvSpPr>
        <p:spPr>
          <a:xfrm>
            <a:off x="7007116" y="459764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單箭頭接點 43"/>
          <p:cNvCxnSpPr>
            <a:stCxn id="33" idx="4"/>
            <a:endCxn id="45" idx="1"/>
          </p:cNvCxnSpPr>
          <p:nvPr/>
        </p:nvCxnSpPr>
        <p:spPr>
          <a:xfrm>
            <a:off x="8226323" y="4071524"/>
            <a:ext cx="790697" cy="611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8931365" y="459764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8252385" y="4103418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89124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594649"/>
              </p:ext>
            </p:extLst>
          </p:nvPr>
        </p:nvGraphicFramePr>
        <p:xfrm>
          <a:off x="943233" y="1791988"/>
          <a:ext cx="404683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aabaabbbb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532001"/>
              </p:ext>
            </p:extLst>
          </p:nvPr>
        </p:nvGraphicFramePr>
        <p:xfrm>
          <a:off x="7271202" y="1791988"/>
          <a:ext cx="4046838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aabaabbbb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bbaab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(X[i+1:])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箭號: 向右 2">
            <a:extLst>
              <a:ext uri="{FF2B5EF4-FFF2-40B4-BE49-F238E27FC236}">
                <a16:creationId xmlns:a16="http://schemas.microsoft.com/office/drawing/2014/main" id="{F17C5B33-0B3A-486B-81B7-FEA1DF9FCE84}"/>
              </a:ext>
            </a:extLst>
          </p:cNvPr>
          <p:cNvSpPr/>
          <p:nvPr/>
        </p:nvSpPr>
        <p:spPr>
          <a:xfrm>
            <a:off x="5327009" y="3909270"/>
            <a:ext cx="1535185" cy="1342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38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171381"/>
              </p:ext>
            </p:extLst>
          </p:nvPr>
        </p:nvGraphicFramePr>
        <p:xfrm>
          <a:off x="5540635" y="1897677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17557"/>
              </p:ext>
            </p:extLst>
          </p:nvPr>
        </p:nvGraphicFramePr>
        <p:xfrm>
          <a:off x="7558892" y="2354027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44259"/>
              </p:ext>
            </p:extLst>
          </p:nvPr>
        </p:nvGraphicFramePr>
        <p:xfrm>
          <a:off x="791520" y="1897677"/>
          <a:ext cx="4046838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aabaabbbb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bbaab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(X[i+1:])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右大括弧 8"/>
          <p:cNvSpPr/>
          <p:nvPr/>
        </p:nvSpPr>
        <p:spPr>
          <a:xfrm>
            <a:off x="4909751" y="3764692"/>
            <a:ext cx="263611" cy="1804086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244755" y="4482069"/>
            <a:ext cx="41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09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40635" y="1897677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07265"/>
              </p:ext>
            </p:extLst>
          </p:nvPr>
        </p:nvGraphicFramePr>
        <p:xfrm>
          <a:off x="7155238" y="2363577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99056"/>
              </p:ext>
            </p:extLst>
          </p:nvPr>
        </p:nvGraphicFramePr>
        <p:xfrm>
          <a:off x="791520" y="1897677"/>
          <a:ext cx="4046838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aabaabbbb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baabbbba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bbaab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(X[i+1:])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右大括弧 8"/>
          <p:cNvSpPr/>
          <p:nvPr/>
        </p:nvSpPr>
        <p:spPr>
          <a:xfrm>
            <a:off x="4909751" y="4489622"/>
            <a:ext cx="263611" cy="1079156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244755" y="4844534"/>
            <a:ext cx="41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2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suffix tree for X[:i-1] 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Ukkonen’s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line : suffix link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suffix link and Skip/Count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⇀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O(1)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: char</a:t>
            </a:r>
          </a:p>
          <a:p>
            <a:pPr lvl="2"/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⇀ ab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8818866" y="2977746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單箭頭接點 53"/>
          <p:cNvCxnSpPr>
            <a:stCxn id="53" idx="4"/>
            <a:endCxn id="56" idx="0"/>
          </p:cNvCxnSpPr>
          <p:nvPr/>
        </p:nvCxnSpPr>
        <p:spPr>
          <a:xfrm flipH="1">
            <a:off x="8434123" y="3562633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53" idx="4"/>
            <a:endCxn id="57" idx="0"/>
          </p:cNvCxnSpPr>
          <p:nvPr/>
        </p:nvCxnSpPr>
        <p:spPr>
          <a:xfrm>
            <a:off x="9111310" y="3562633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橢圓 55"/>
          <p:cNvSpPr/>
          <p:nvPr/>
        </p:nvSpPr>
        <p:spPr>
          <a:xfrm>
            <a:off x="8141679" y="3845894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9520767" y="3845894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單箭頭接點 57"/>
          <p:cNvCxnSpPr>
            <a:stCxn id="56" idx="4"/>
            <a:endCxn id="59" idx="0"/>
          </p:cNvCxnSpPr>
          <p:nvPr/>
        </p:nvCxnSpPr>
        <p:spPr>
          <a:xfrm flipH="1">
            <a:off x="7879523" y="4430781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橢圓 58"/>
          <p:cNvSpPr/>
          <p:nvPr/>
        </p:nvSpPr>
        <p:spPr>
          <a:xfrm>
            <a:off x="7587079" y="4860971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0" name="直線單箭頭接點 59"/>
          <p:cNvCxnSpPr>
            <a:stCxn id="56" idx="4"/>
            <a:endCxn id="61" idx="0"/>
          </p:cNvCxnSpPr>
          <p:nvPr/>
        </p:nvCxnSpPr>
        <p:spPr>
          <a:xfrm>
            <a:off x="8434123" y="4430781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橢圓 60"/>
          <p:cNvSpPr/>
          <p:nvPr/>
        </p:nvSpPr>
        <p:spPr>
          <a:xfrm>
            <a:off x="8667309" y="4876435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直線單箭頭接點 61"/>
          <p:cNvCxnSpPr>
            <a:stCxn id="57" idx="4"/>
          </p:cNvCxnSpPr>
          <p:nvPr/>
        </p:nvCxnSpPr>
        <p:spPr>
          <a:xfrm>
            <a:off x="9813211" y="4430781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/>
          <p:cNvSpPr/>
          <p:nvPr/>
        </p:nvSpPr>
        <p:spPr>
          <a:xfrm>
            <a:off x="10844414" y="4876435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4" name="直線單箭頭接點 63"/>
          <p:cNvCxnSpPr>
            <a:endCxn id="65" idx="0"/>
          </p:cNvCxnSpPr>
          <p:nvPr/>
        </p:nvCxnSpPr>
        <p:spPr>
          <a:xfrm>
            <a:off x="9813211" y="4430781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10046397" y="4876435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/>
          <p:cNvCxnSpPr/>
          <p:nvPr/>
        </p:nvCxnSpPr>
        <p:spPr>
          <a:xfrm>
            <a:off x="8939696" y="5461322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9970899" y="5906976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8" name="直線單箭頭接點 67"/>
          <p:cNvCxnSpPr>
            <a:endCxn id="69" idx="0"/>
          </p:cNvCxnSpPr>
          <p:nvPr/>
        </p:nvCxnSpPr>
        <p:spPr>
          <a:xfrm>
            <a:off x="8939696" y="5461322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9172882" y="5906976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/>
          <p:cNvCxnSpPr>
            <a:stCxn id="59" idx="4"/>
            <a:endCxn id="71" idx="0"/>
          </p:cNvCxnSpPr>
          <p:nvPr/>
        </p:nvCxnSpPr>
        <p:spPr>
          <a:xfrm flipH="1">
            <a:off x="7324923" y="5445858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>
          <a:xfrm>
            <a:off x="7032479" y="5907988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8582937" y="3400240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3" name="矩形 72"/>
          <p:cNvSpPr/>
          <p:nvPr/>
        </p:nvSpPr>
        <p:spPr>
          <a:xfrm>
            <a:off x="7858993" y="4369007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4" name="矩形 73"/>
          <p:cNvSpPr/>
          <p:nvPr/>
        </p:nvSpPr>
        <p:spPr>
          <a:xfrm>
            <a:off x="9399934" y="34002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5" name="矩形 74"/>
          <p:cNvSpPr/>
          <p:nvPr/>
        </p:nvSpPr>
        <p:spPr>
          <a:xfrm>
            <a:off x="10469315" y="433867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76" name="矩形 75"/>
          <p:cNvSpPr/>
          <p:nvPr/>
        </p:nvSpPr>
        <p:spPr>
          <a:xfrm>
            <a:off x="9820858" y="450710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77" name="矩形 76"/>
          <p:cNvSpPr/>
          <p:nvPr/>
        </p:nvSpPr>
        <p:spPr>
          <a:xfrm>
            <a:off x="9500257" y="5385000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78" name="矩形 77"/>
          <p:cNvSpPr/>
          <p:nvPr/>
        </p:nvSpPr>
        <p:spPr>
          <a:xfrm>
            <a:off x="8976617" y="556471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79" name="矩形 78"/>
          <p:cNvSpPr/>
          <p:nvPr/>
        </p:nvSpPr>
        <p:spPr>
          <a:xfrm>
            <a:off x="7201868" y="540817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b$</a:t>
            </a:r>
          </a:p>
        </p:txBody>
      </p:sp>
      <p:sp>
        <p:nvSpPr>
          <p:cNvPr id="80" name="矩形 79"/>
          <p:cNvSpPr/>
          <p:nvPr/>
        </p:nvSpPr>
        <p:spPr>
          <a:xfrm>
            <a:off x="8668825" y="436900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82" name="肘形接點 81"/>
          <p:cNvCxnSpPr>
            <a:stCxn id="57" idx="0"/>
            <a:endCxn id="53" idx="6"/>
          </p:cNvCxnSpPr>
          <p:nvPr/>
        </p:nvCxnSpPr>
        <p:spPr>
          <a:xfrm rot="16200000" flipV="1">
            <a:off x="9320630" y="3353313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接點 82"/>
          <p:cNvCxnSpPr>
            <a:stCxn id="56" idx="0"/>
            <a:endCxn id="53" idx="2"/>
          </p:cNvCxnSpPr>
          <p:nvPr/>
        </p:nvCxnSpPr>
        <p:spPr>
          <a:xfrm rot="5400000" flipH="1" flipV="1">
            <a:off x="8338642" y="3365671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接點 83"/>
          <p:cNvCxnSpPr>
            <a:stCxn id="59" idx="0"/>
            <a:endCxn id="56" idx="2"/>
          </p:cNvCxnSpPr>
          <p:nvPr/>
        </p:nvCxnSpPr>
        <p:spPr>
          <a:xfrm rot="5400000" flipH="1" flipV="1">
            <a:off x="7649285" y="4368577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/>
          <p:cNvCxnSpPr>
            <a:stCxn id="61" idx="0"/>
            <a:endCxn id="57" idx="2"/>
          </p:cNvCxnSpPr>
          <p:nvPr/>
        </p:nvCxnSpPr>
        <p:spPr>
          <a:xfrm rot="5400000" flipH="1" flipV="1">
            <a:off x="8871212" y="4226880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9C40039-29BA-4E03-B3A7-C8FCE1946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581993"/>
              </p:ext>
            </p:extLst>
          </p:nvPr>
        </p:nvGraphicFramePr>
        <p:xfrm>
          <a:off x="7182240" y="2275574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406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02458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36822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144071" y="3235830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F7A36B-1A80-4852-BFFD-F666CEF10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568021"/>
              </p:ext>
            </p:extLst>
          </p:nvPr>
        </p:nvGraphicFramePr>
        <p:xfrm>
          <a:off x="8094145" y="5444985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69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8ED7F9-FC77-47F2-AD8A-446F3A4E3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898871"/>
              </p:ext>
            </p:extLst>
          </p:nvPr>
        </p:nvGraphicFramePr>
        <p:xfrm>
          <a:off x="6482882" y="4983542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718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80971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69708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2589470" y="4276348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71B7EB-BCE0-4071-9A1F-F421C0475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9161"/>
              </p:ext>
            </p:extLst>
          </p:nvPr>
        </p:nvGraphicFramePr>
        <p:xfrm>
          <a:off x="7691473" y="5444985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69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F11B07C-3AE8-4247-8E5D-CF487A7E0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31256"/>
              </p:ext>
            </p:extLst>
          </p:nvPr>
        </p:nvGraphicFramePr>
        <p:xfrm>
          <a:off x="6482882" y="4983542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33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19743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843518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2034870" y="5309128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B804D2F-BB77-46FF-A8BD-7AC7AED0B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172991"/>
              </p:ext>
            </p:extLst>
          </p:nvPr>
        </p:nvGraphicFramePr>
        <p:xfrm>
          <a:off x="7583907" y="5428565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E577D47-400D-434C-81D7-3C89D99C4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94085"/>
              </p:ext>
            </p:extLst>
          </p:nvPr>
        </p:nvGraphicFramePr>
        <p:xfrm>
          <a:off x="6777987" y="4967122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863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15223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669700" y="4280142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653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241752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347883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979169" y="5305186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8B6870-FC69-4398-B6B7-6AC04F85C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475184"/>
              </p:ext>
            </p:extLst>
          </p:nvPr>
        </p:nvGraphicFramePr>
        <p:xfrm>
          <a:off x="7305580" y="5484577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E8CCFF2-1463-4489-8DD5-4E0C06B3B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911903"/>
              </p:ext>
            </p:extLst>
          </p:nvPr>
        </p:nvGraphicFramePr>
        <p:xfrm>
          <a:off x="6910024" y="5023134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110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7649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04420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979169" y="5305186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18D8325-837B-41C5-B52D-28B1C5247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40882"/>
              </p:ext>
            </p:extLst>
          </p:nvPr>
        </p:nvGraphicFramePr>
        <p:xfrm>
          <a:off x="6901635" y="5529382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70B213-E7DA-4314-8ECD-40A1DD0F2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32969"/>
              </p:ext>
            </p:extLst>
          </p:nvPr>
        </p:nvGraphicFramePr>
        <p:xfrm>
          <a:off x="6910024" y="5023075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08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07276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8916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979169" y="5305186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7E7F470-4796-4C18-AE67-A769D116C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93048"/>
              </p:ext>
            </p:extLst>
          </p:nvPr>
        </p:nvGraphicFramePr>
        <p:xfrm>
          <a:off x="6491848" y="5554549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CA6E2A-C585-4F8A-8E71-F95DBEFF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2446"/>
              </p:ext>
            </p:extLst>
          </p:nvPr>
        </p:nvGraphicFramePr>
        <p:xfrm>
          <a:off x="6910024" y="5023075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73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261614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5846805" y="4290425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010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564375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2034870" y="5284033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861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605333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672976" y="4268822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937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978271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532566" y="3244104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336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591001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817439" y="2383830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63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476843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621812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532566" y="3244104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CC17327-DE56-4BFD-A2A1-26F67B299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377492"/>
              </p:ext>
            </p:extLst>
          </p:nvPr>
        </p:nvGraphicFramePr>
        <p:xfrm>
          <a:off x="6108279" y="5554549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7B8072-B4C4-4342-9882-73F31248E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13956"/>
              </p:ext>
            </p:extLst>
          </p:nvPr>
        </p:nvGraphicFramePr>
        <p:xfrm>
          <a:off x="6910024" y="5023075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50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22795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834846" y="2387879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3386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53185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42863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532566" y="3225304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385BBD1-987C-440C-AA2A-57F42C9BD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115187"/>
              </p:ext>
            </p:extLst>
          </p:nvPr>
        </p:nvGraphicFramePr>
        <p:xfrm>
          <a:off x="6287530" y="5554549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32C6F93-A58B-4E1E-A3D6-8934A6AFA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01525"/>
              </p:ext>
            </p:extLst>
          </p:nvPr>
        </p:nvGraphicFramePr>
        <p:xfrm>
          <a:off x="7494911" y="5023075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292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85308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3801927" y="2375728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371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361706"/>
              </p:ext>
            </p:extLst>
          </p:nvPr>
        </p:nvGraphicFramePr>
        <p:xfrm>
          <a:off x="7173098" y="2116754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699011"/>
              </p:ext>
            </p:extLst>
          </p:nvPr>
        </p:nvGraphicFramePr>
        <p:xfrm>
          <a:off x="7577920" y="2725700"/>
          <a:ext cx="36433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" name="橢圓 194"/>
          <p:cNvSpPr/>
          <p:nvPr/>
        </p:nvSpPr>
        <p:spPr>
          <a:xfrm>
            <a:off x="3677095" y="2223312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6" name="直線單箭頭接點 195"/>
          <p:cNvCxnSpPr>
            <a:stCxn id="195" idx="4"/>
            <a:endCxn id="198" idx="0"/>
          </p:cNvCxnSpPr>
          <p:nvPr/>
        </p:nvCxnSpPr>
        <p:spPr>
          <a:xfrm flipH="1">
            <a:off x="3292352" y="2808199"/>
            <a:ext cx="677187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>
            <a:stCxn id="195" idx="4"/>
            <a:endCxn id="199" idx="0"/>
          </p:cNvCxnSpPr>
          <p:nvPr/>
        </p:nvCxnSpPr>
        <p:spPr>
          <a:xfrm>
            <a:off x="3969539" y="2808199"/>
            <a:ext cx="701901" cy="2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橢圓 197"/>
          <p:cNvSpPr/>
          <p:nvPr/>
        </p:nvSpPr>
        <p:spPr>
          <a:xfrm>
            <a:off x="2999908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>
            <a:off x="4378996" y="3091460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單箭頭接點 199"/>
          <p:cNvCxnSpPr>
            <a:stCxn id="198" idx="4"/>
            <a:endCxn id="201" idx="0"/>
          </p:cNvCxnSpPr>
          <p:nvPr/>
        </p:nvCxnSpPr>
        <p:spPr>
          <a:xfrm flipH="1">
            <a:off x="2737752" y="3676347"/>
            <a:ext cx="554600" cy="4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橢圓 200"/>
          <p:cNvSpPr/>
          <p:nvPr/>
        </p:nvSpPr>
        <p:spPr>
          <a:xfrm>
            <a:off x="2445308" y="4106537"/>
            <a:ext cx="584887" cy="5848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2" name="直線單箭頭接點 201"/>
          <p:cNvCxnSpPr>
            <a:stCxn id="198" idx="4"/>
            <a:endCxn id="203" idx="0"/>
          </p:cNvCxnSpPr>
          <p:nvPr/>
        </p:nvCxnSpPr>
        <p:spPr>
          <a:xfrm>
            <a:off x="3292352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橢圓 202"/>
          <p:cNvSpPr/>
          <p:nvPr/>
        </p:nvSpPr>
        <p:spPr>
          <a:xfrm>
            <a:off x="3525538" y="4122001"/>
            <a:ext cx="584887" cy="58488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單箭頭接點 203"/>
          <p:cNvCxnSpPr>
            <a:stCxn id="199" idx="4"/>
          </p:cNvCxnSpPr>
          <p:nvPr/>
        </p:nvCxnSpPr>
        <p:spPr>
          <a:xfrm>
            <a:off x="4671440" y="3676347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橢圓 204"/>
          <p:cNvSpPr/>
          <p:nvPr/>
        </p:nvSpPr>
        <p:spPr>
          <a:xfrm>
            <a:off x="5702643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6" name="直線單箭頭接點 205"/>
          <p:cNvCxnSpPr>
            <a:endCxn id="207" idx="0"/>
          </p:cNvCxnSpPr>
          <p:nvPr/>
        </p:nvCxnSpPr>
        <p:spPr>
          <a:xfrm>
            <a:off x="4671440" y="3676347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橢圓 206"/>
          <p:cNvSpPr/>
          <p:nvPr/>
        </p:nvSpPr>
        <p:spPr>
          <a:xfrm>
            <a:off x="4904626" y="4122001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8" name="直線單箭頭接點 207"/>
          <p:cNvCxnSpPr/>
          <p:nvPr/>
        </p:nvCxnSpPr>
        <p:spPr>
          <a:xfrm>
            <a:off x="3797925" y="4706888"/>
            <a:ext cx="1325706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橢圓 208"/>
          <p:cNvSpPr/>
          <p:nvPr/>
        </p:nvSpPr>
        <p:spPr>
          <a:xfrm>
            <a:off x="4829128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0" name="直線單箭頭接點 209"/>
          <p:cNvCxnSpPr>
            <a:endCxn id="211" idx="0"/>
          </p:cNvCxnSpPr>
          <p:nvPr/>
        </p:nvCxnSpPr>
        <p:spPr>
          <a:xfrm>
            <a:off x="3797925" y="4706888"/>
            <a:ext cx="525630" cy="44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橢圓 210"/>
          <p:cNvSpPr/>
          <p:nvPr/>
        </p:nvSpPr>
        <p:spPr>
          <a:xfrm>
            <a:off x="4031111" y="5152542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2" name="直線單箭頭接點 211"/>
          <p:cNvCxnSpPr>
            <a:stCxn id="201" idx="4"/>
            <a:endCxn id="213" idx="0"/>
          </p:cNvCxnSpPr>
          <p:nvPr/>
        </p:nvCxnSpPr>
        <p:spPr>
          <a:xfrm flipH="1">
            <a:off x="2183152" y="4691424"/>
            <a:ext cx="554600" cy="462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橢圓 212"/>
          <p:cNvSpPr/>
          <p:nvPr/>
        </p:nvSpPr>
        <p:spPr>
          <a:xfrm>
            <a:off x="1890708" y="5153554"/>
            <a:ext cx="584887" cy="5848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矩形 213"/>
          <p:cNvSpPr/>
          <p:nvPr/>
        </p:nvSpPr>
        <p:spPr>
          <a:xfrm>
            <a:off x="3441166" y="2645806"/>
            <a:ext cx="287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" name="矩形 214"/>
          <p:cNvSpPr/>
          <p:nvPr/>
        </p:nvSpPr>
        <p:spPr>
          <a:xfrm>
            <a:off x="2717222" y="3614573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6" name="矩形 215"/>
          <p:cNvSpPr/>
          <p:nvPr/>
        </p:nvSpPr>
        <p:spPr>
          <a:xfrm>
            <a:off x="4258163" y="264580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7" name="矩形 216"/>
          <p:cNvSpPr/>
          <p:nvPr/>
        </p:nvSpPr>
        <p:spPr>
          <a:xfrm>
            <a:off x="5327544" y="358424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8" name="矩形 217"/>
          <p:cNvSpPr/>
          <p:nvPr/>
        </p:nvSpPr>
        <p:spPr>
          <a:xfrm>
            <a:off x="4679087" y="375266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19" name="矩形 218"/>
          <p:cNvSpPr/>
          <p:nvPr/>
        </p:nvSpPr>
        <p:spPr>
          <a:xfrm>
            <a:off x="4358486" y="4630566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0" name="矩形 219"/>
          <p:cNvSpPr/>
          <p:nvPr/>
        </p:nvSpPr>
        <p:spPr>
          <a:xfrm>
            <a:off x="3834846" y="48102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1" name="矩形 220"/>
          <p:cNvSpPr/>
          <p:nvPr/>
        </p:nvSpPr>
        <p:spPr>
          <a:xfrm>
            <a:off x="2060097" y="465374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222" name="矩形 221"/>
          <p:cNvSpPr/>
          <p:nvPr/>
        </p:nvSpPr>
        <p:spPr>
          <a:xfrm>
            <a:off x="3527054" y="36145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223" name="肘形接點 222"/>
          <p:cNvCxnSpPr>
            <a:stCxn id="199" idx="0"/>
            <a:endCxn id="195" idx="6"/>
          </p:cNvCxnSpPr>
          <p:nvPr/>
        </p:nvCxnSpPr>
        <p:spPr>
          <a:xfrm rot="16200000" flipV="1">
            <a:off x="4178859" y="2598879"/>
            <a:ext cx="575704" cy="409458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肘形接點 223"/>
          <p:cNvCxnSpPr>
            <a:stCxn id="198" idx="0"/>
            <a:endCxn id="195" idx="2"/>
          </p:cNvCxnSpPr>
          <p:nvPr/>
        </p:nvCxnSpPr>
        <p:spPr>
          <a:xfrm rot="5400000" flipH="1" flipV="1">
            <a:off x="3196871" y="2611237"/>
            <a:ext cx="575704" cy="384743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>
            <a:stCxn id="201" idx="0"/>
            <a:endCxn id="198" idx="2"/>
          </p:cNvCxnSpPr>
          <p:nvPr/>
        </p:nvCxnSpPr>
        <p:spPr>
          <a:xfrm rot="5400000" flipH="1" flipV="1">
            <a:off x="2507514" y="3614143"/>
            <a:ext cx="722633" cy="262156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203" idx="0"/>
            <a:endCxn id="199" idx="2"/>
          </p:cNvCxnSpPr>
          <p:nvPr/>
        </p:nvCxnSpPr>
        <p:spPr>
          <a:xfrm rot="5400000" flipH="1" flipV="1">
            <a:off x="3729441" y="3472446"/>
            <a:ext cx="738097" cy="561014"/>
          </a:xfrm>
          <a:prstGeom prst="bentConnector2">
            <a:avLst/>
          </a:prstGeom>
          <a:ln w="28575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/>
          <p:cNvSpPr/>
          <p:nvPr/>
        </p:nvSpPr>
        <p:spPr>
          <a:xfrm>
            <a:off x="4517056" y="3234486"/>
            <a:ext cx="296562" cy="2988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0CE6BBD-A0D5-42B1-A886-72925C236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28221"/>
              </p:ext>
            </p:extLst>
          </p:nvPr>
        </p:nvGraphicFramePr>
        <p:xfrm>
          <a:off x="5868080" y="5554549"/>
          <a:ext cx="40482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3F0102-BD62-4269-BF52-26AEC48AC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16898"/>
              </p:ext>
            </p:extLst>
          </p:nvPr>
        </p:nvGraphicFramePr>
        <p:xfrm>
          <a:off x="7494911" y="5023075"/>
          <a:ext cx="44353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32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483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 with one mismatch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77133"/>
              </p:ext>
            </p:extLst>
          </p:nvPr>
        </p:nvGraphicFramePr>
        <p:xfrm>
          <a:off x="3276443" y="2006734"/>
          <a:ext cx="5901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6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53211"/>
              </p:ext>
            </p:extLst>
          </p:nvPr>
        </p:nvGraphicFramePr>
        <p:xfrm>
          <a:off x="3276443" y="2513980"/>
          <a:ext cx="53668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360611"/>
              </p:ext>
            </p:extLst>
          </p:nvPr>
        </p:nvGraphicFramePr>
        <p:xfrm>
          <a:off x="3276443" y="3593975"/>
          <a:ext cx="53668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52282"/>
              </p:ext>
            </p:extLst>
          </p:nvPr>
        </p:nvGraphicFramePr>
        <p:xfrm>
          <a:off x="3276443" y="4155328"/>
          <a:ext cx="53668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98391" y="3543228"/>
            <a:ext cx="9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98391" y="4133961"/>
            <a:ext cx="9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92823" y="5320982"/>
            <a:ext cx="19836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 Substring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one mismatch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166491"/>
              </p:ext>
            </p:extLst>
          </p:nvPr>
        </p:nvGraphicFramePr>
        <p:xfrm>
          <a:off x="3276443" y="5320982"/>
          <a:ext cx="53668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6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7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80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: O(|X||Y|)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suffix: O(|X||Y|)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O(|X||Y|)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0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1584</Words>
  <Application>Microsoft Office PowerPoint</Application>
  <PresentationFormat>寬螢幕</PresentationFormat>
  <Paragraphs>1151</Paragraphs>
  <Slides>32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佈景主題</vt:lpstr>
      <vt:lpstr>Computing the longest common substring with one mismatch </vt:lpstr>
      <vt:lpstr>Abstract</vt:lpstr>
      <vt:lpstr>Longest common substring</vt:lpstr>
      <vt:lpstr>Longest common substring with one mismatch</vt:lpstr>
      <vt:lpstr>Naive solution</vt:lpstr>
      <vt:lpstr>Naive solution</vt:lpstr>
      <vt:lpstr>Naive solution</vt:lpstr>
      <vt:lpstr>Algorithm : Longest common substring with one mismatch</vt:lpstr>
      <vt:lpstr>Longest common prefix </vt:lpstr>
      <vt:lpstr>Longest common prefix </vt:lpstr>
      <vt:lpstr>Longest common prefix </vt:lpstr>
      <vt:lpstr>Longest common prefix 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suffix</vt:lpstr>
      <vt:lpstr>Longest common substring with one mismatch</vt:lpstr>
      <vt:lpstr>Time comlexity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the longest common substring with one mismatch</dc:title>
  <dc:creator>Alex</dc:creator>
  <cp:lastModifiedBy>pplab</cp:lastModifiedBy>
  <cp:revision>36</cp:revision>
  <dcterms:created xsi:type="dcterms:W3CDTF">2020-10-04T16:48:34Z</dcterms:created>
  <dcterms:modified xsi:type="dcterms:W3CDTF">2020-10-06T11:07:02Z</dcterms:modified>
</cp:coreProperties>
</file>