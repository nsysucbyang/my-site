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58" r:id="rId3"/>
    <p:sldId id="260" r:id="rId4"/>
    <p:sldId id="262" r:id="rId5"/>
    <p:sldId id="278" r:id="rId6"/>
    <p:sldId id="264" r:id="rId7"/>
    <p:sldId id="267" r:id="rId8"/>
    <p:sldId id="281" r:id="rId9"/>
    <p:sldId id="280" r:id="rId1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1412" autoAdjust="0"/>
  </p:normalViewPr>
  <p:slideViewPr>
    <p:cSldViewPr>
      <p:cViewPr varScale="1">
        <p:scale>
          <a:sx n="44" d="100"/>
          <a:sy n="44" d="100"/>
        </p:scale>
        <p:origin x="2136" y="48"/>
      </p:cViewPr>
      <p:guideLst>
        <p:guide orient="horz" pos="2160"/>
        <p:guide pos="2880"/>
      </p:guideLst>
    </p:cSldViewPr>
  </p:slid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2020/10/6</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Journal of Internet Technology </a:t>
            </a:r>
            <a:r>
              <a:rPr lang="zh-TW" altLang="en-US" dirty="0"/>
              <a:t>網際網路技術學刊 </a:t>
            </a:r>
            <a:r>
              <a:rPr lang="en-US" altLang="zh-TW" dirty="0"/>
              <a:t>2009</a:t>
            </a:r>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dirty="0"/>
              <a:t>The absolute value of C</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a:t>
            </a:r>
            <a:r>
              <a:rPr lang="zh-TW" altLang="en-US" dirty="0"/>
              <a:t>代表目前</a:t>
            </a:r>
            <a:r>
              <a:rPr lang="en-US" altLang="zh-TW" dirty="0"/>
              <a:t>RIS</a:t>
            </a:r>
            <a:r>
              <a:rPr lang="zh-TW" altLang="en-US" dirty="0"/>
              <a:t>中最大減去最小 </a:t>
            </a:r>
            <a:endParaRPr lang="en-US" altLang="zh-TW" dirty="0"/>
          </a:p>
          <a:p>
            <a:r>
              <a:rPr lang="en-US" altLang="zh-TW" dirty="0"/>
              <a:t>L</a:t>
            </a:r>
            <a:r>
              <a:rPr lang="zh-TW" altLang="en-US" dirty="0"/>
              <a:t>代表所在的字串位置</a:t>
            </a:r>
            <a:endParaRPr lang="en-US" altLang="zh-TW" dirty="0"/>
          </a:p>
          <a:p>
            <a:endParaRPr lang="en-US" altLang="zh-TW" dirty="0"/>
          </a:p>
          <a:p>
            <a:r>
              <a:rPr lang="zh-TW" altLang="en-US" dirty="0"/>
              <a:t>第一個數字直接放進</a:t>
            </a:r>
            <a:r>
              <a:rPr lang="en-US" altLang="zh-TW" dirty="0"/>
              <a:t>RIS</a:t>
            </a:r>
          </a:p>
          <a:p>
            <a:r>
              <a:rPr lang="zh-TW" altLang="en-US" dirty="0"/>
              <a:t>除了第一個數字，其他數字</a:t>
            </a:r>
            <a:r>
              <a:rPr lang="en-US" altLang="zh-TW" dirty="0"/>
              <a:t>(x)</a:t>
            </a:r>
            <a:r>
              <a:rPr lang="zh-TW" altLang="en-US" dirty="0"/>
              <a:t>讀進來時，去前一個</a:t>
            </a:r>
            <a:r>
              <a:rPr lang="en-US" altLang="zh-TW" dirty="0"/>
              <a:t>RIS</a:t>
            </a:r>
            <a:r>
              <a:rPr lang="zh-TW" altLang="en-US" dirty="0"/>
              <a:t>中用</a:t>
            </a:r>
            <a:r>
              <a:rPr lang="en-US" altLang="zh-TW" dirty="0"/>
              <a:t>binary</a:t>
            </a:r>
            <a:r>
              <a:rPr lang="zh-TW" altLang="en-US" dirty="0"/>
              <a:t> </a:t>
            </a:r>
            <a:r>
              <a:rPr lang="en-US" altLang="zh-TW" dirty="0"/>
              <a:t>search</a:t>
            </a:r>
            <a:r>
              <a:rPr lang="zh-TW" altLang="en-US" dirty="0"/>
              <a:t>找到比</a:t>
            </a:r>
            <a:r>
              <a:rPr lang="en-US" altLang="zh-TW" dirty="0"/>
              <a:t>x</a:t>
            </a:r>
            <a:r>
              <a:rPr lang="zh-TW" altLang="en-US" dirty="0"/>
              <a:t>大的最小值</a:t>
            </a:r>
            <a:r>
              <a:rPr lang="en-US" altLang="zh-TW" dirty="0"/>
              <a:t>(</a:t>
            </a:r>
            <a:r>
              <a:rPr lang="en-US" altLang="zh-TW" dirty="0" err="1"/>
              <a:t>lmin</a:t>
            </a:r>
            <a:r>
              <a:rPr lang="en-US" altLang="zh-TW" dirty="0"/>
              <a:t>)</a:t>
            </a:r>
          </a:p>
          <a:p>
            <a:r>
              <a:rPr lang="en-US" altLang="zh-TW" dirty="0" err="1"/>
              <a:t>Lmin</a:t>
            </a:r>
            <a:r>
              <a:rPr lang="zh-TW" altLang="en-US" dirty="0"/>
              <a:t>所在的</a:t>
            </a:r>
            <a:r>
              <a:rPr lang="en-US" altLang="zh-TW" dirty="0"/>
              <a:t>Q</a:t>
            </a:r>
            <a:r>
              <a:rPr lang="en-US" altLang="zh-TW" baseline="-25000" dirty="0"/>
              <a:t>L</a:t>
            </a:r>
            <a:r>
              <a:rPr lang="zh-TW" altLang="en-US" dirty="0"/>
              <a:t>就是</a:t>
            </a:r>
            <a:r>
              <a:rPr lang="en-US" altLang="zh-TW" dirty="0"/>
              <a:t>x</a:t>
            </a:r>
            <a:r>
              <a:rPr lang="zh-TW" altLang="en-US" dirty="0"/>
              <a:t>所在的</a:t>
            </a:r>
            <a:r>
              <a:rPr lang="en-US" altLang="zh-TW" dirty="0"/>
              <a:t>Q</a:t>
            </a:r>
            <a:r>
              <a:rPr lang="en-US" altLang="zh-TW" baseline="-25000" dirty="0"/>
              <a:t>L</a:t>
            </a:r>
          </a:p>
          <a:p>
            <a:endParaRPr lang="en-US" altLang="zh-TW" baseline="-25000" dirty="0"/>
          </a:p>
          <a:p>
            <a:r>
              <a:rPr lang="zh-TW" altLang="en-US" baseline="0" dirty="0"/>
              <a:t>把</a:t>
            </a:r>
            <a:r>
              <a:rPr lang="en-US" altLang="zh-TW" baseline="0" dirty="0"/>
              <a:t>RIS</a:t>
            </a:r>
            <a:r>
              <a:rPr lang="zh-TW" altLang="en-US" baseline="0" dirty="0"/>
              <a:t>中</a:t>
            </a:r>
            <a:r>
              <a:rPr lang="en-US" altLang="zh-TW" baseline="0" dirty="0" err="1"/>
              <a:t>lmin</a:t>
            </a:r>
            <a:r>
              <a:rPr lang="zh-TW" altLang="en-US" baseline="0" dirty="0"/>
              <a:t>所在的位置換成</a:t>
            </a:r>
            <a:r>
              <a:rPr lang="en-US" altLang="zh-TW" baseline="0" dirty="0"/>
              <a:t>x</a:t>
            </a:r>
          </a:p>
          <a:p>
            <a:r>
              <a:rPr lang="zh-TW" altLang="en-US" baseline="0" dirty="0"/>
              <a:t>在</a:t>
            </a:r>
            <a:r>
              <a:rPr lang="en-US" altLang="zh-TW" baseline="0" dirty="0"/>
              <a:t>Q</a:t>
            </a:r>
            <a:r>
              <a:rPr lang="en-US" altLang="zh-TW" baseline="-25000" dirty="0"/>
              <a:t>L-1</a:t>
            </a:r>
            <a:r>
              <a:rPr lang="zh-TW" altLang="en-US" baseline="0" dirty="0"/>
              <a:t>中找到小於</a:t>
            </a:r>
            <a:r>
              <a:rPr lang="en-US" altLang="zh-TW" baseline="0" dirty="0"/>
              <a:t>x</a:t>
            </a:r>
            <a:r>
              <a:rPr lang="zh-TW" altLang="en-US" baseline="0" dirty="0"/>
              <a:t>的最大值</a:t>
            </a:r>
            <a:r>
              <a:rPr lang="en-US" altLang="zh-TW" baseline="0" dirty="0"/>
              <a:t>(</a:t>
            </a:r>
            <a:r>
              <a:rPr lang="en-US" altLang="zh-TW" baseline="0" dirty="0" err="1"/>
              <a:t>lmax</a:t>
            </a:r>
            <a:r>
              <a:rPr lang="en-US" altLang="zh-TW" baseline="0" dirty="0"/>
              <a:t>)</a:t>
            </a:r>
            <a:r>
              <a:rPr lang="zh-TW" altLang="en-US" baseline="0" dirty="0"/>
              <a:t>，</a:t>
            </a:r>
            <a:r>
              <a:rPr lang="en-US" altLang="zh-TW" baseline="0" dirty="0" err="1"/>
              <a:t>lmax</a:t>
            </a:r>
            <a:r>
              <a:rPr lang="zh-TW" altLang="en-US" baseline="0" dirty="0"/>
              <a:t>的</a:t>
            </a:r>
            <a:r>
              <a:rPr lang="en-US" altLang="zh-TW" baseline="0" dirty="0"/>
              <a:t>H</a:t>
            </a:r>
            <a:r>
              <a:rPr lang="zh-TW" altLang="en-US" baseline="0" dirty="0"/>
              <a:t>加上</a:t>
            </a:r>
            <a:r>
              <a:rPr lang="en-US" altLang="zh-TW" baseline="0" dirty="0"/>
              <a:t>(x – </a:t>
            </a:r>
            <a:r>
              <a:rPr lang="en-US" altLang="zh-TW" baseline="0" dirty="0" err="1"/>
              <a:t>lmax</a:t>
            </a:r>
            <a:r>
              <a:rPr lang="en-US" altLang="zh-TW" baseline="0" dirty="0"/>
              <a:t>)</a:t>
            </a:r>
            <a:r>
              <a:rPr lang="zh-TW" altLang="en-US" baseline="0" dirty="0"/>
              <a:t>等於</a:t>
            </a:r>
            <a:r>
              <a:rPr lang="en-US" altLang="zh-TW" baseline="0" dirty="0"/>
              <a:t>x</a:t>
            </a:r>
            <a:r>
              <a:rPr lang="zh-TW" altLang="en-US" baseline="0" dirty="0"/>
              <a:t>的</a:t>
            </a:r>
            <a:r>
              <a:rPr lang="en-US" altLang="zh-TW" baseline="0" dirty="0"/>
              <a:t>H</a:t>
            </a:r>
          </a:p>
          <a:p>
            <a:r>
              <a:rPr lang="zh-TW" altLang="en-US" baseline="0" dirty="0"/>
              <a:t>用</a:t>
            </a:r>
            <a:r>
              <a:rPr lang="en-US" altLang="zh-TW" baseline="0" dirty="0"/>
              <a:t>x=7</a:t>
            </a:r>
            <a:r>
              <a:rPr lang="zh-TW" altLang="en-US" baseline="0" dirty="0"/>
              <a:t>舉例</a:t>
            </a:r>
            <a:endParaRPr lang="en-US" altLang="zh-TW" baseline="0" dirty="0"/>
          </a:p>
          <a:p>
            <a:r>
              <a:rPr lang="en-US" altLang="zh-TW" baseline="0" dirty="0"/>
              <a:t>7</a:t>
            </a:r>
            <a:r>
              <a:rPr lang="zh-TW" altLang="en-US" baseline="0" dirty="0"/>
              <a:t>的前一層的</a:t>
            </a:r>
            <a:r>
              <a:rPr lang="en-US" altLang="zh-TW" baseline="0" dirty="0"/>
              <a:t>RIS=358</a:t>
            </a:r>
            <a:r>
              <a:rPr lang="zh-TW" altLang="en-US" baseline="0" dirty="0"/>
              <a:t>，所以</a:t>
            </a:r>
            <a:r>
              <a:rPr lang="en-US" altLang="zh-TW" baseline="0" dirty="0"/>
              <a:t>RIS</a:t>
            </a:r>
            <a:r>
              <a:rPr lang="zh-TW" altLang="en-US" baseline="0" dirty="0"/>
              <a:t>中比</a:t>
            </a:r>
            <a:r>
              <a:rPr lang="en-US" altLang="zh-TW" baseline="0" dirty="0"/>
              <a:t>7</a:t>
            </a:r>
            <a:r>
              <a:rPr lang="zh-TW" altLang="en-US" baseline="0" dirty="0"/>
              <a:t>大的最小值為</a:t>
            </a:r>
            <a:r>
              <a:rPr lang="en-US" altLang="zh-TW" baseline="0" dirty="0"/>
              <a:t>8</a:t>
            </a:r>
            <a:r>
              <a:rPr lang="zh-TW" altLang="en-US" baseline="0" dirty="0"/>
              <a:t>，</a:t>
            </a:r>
            <a:r>
              <a:rPr lang="en-US" altLang="zh-TW" baseline="0" dirty="0"/>
              <a:t>8</a:t>
            </a:r>
            <a:r>
              <a:rPr lang="zh-TW" altLang="en-US" baseline="0" dirty="0"/>
              <a:t>在</a:t>
            </a:r>
            <a:r>
              <a:rPr lang="en-US" altLang="zh-TW" baseline="0" dirty="0"/>
              <a:t>Q</a:t>
            </a:r>
            <a:r>
              <a:rPr lang="en-US" altLang="zh-TW" baseline="-25000" dirty="0"/>
              <a:t>L=3</a:t>
            </a:r>
            <a:r>
              <a:rPr lang="zh-TW" altLang="en-US" baseline="0" dirty="0"/>
              <a:t>，所以</a:t>
            </a:r>
            <a:r>
              <a:rPr lang="en-US" altLang="zh-TW" baseline="0" dirty="0"/>
              <a:t>7</a:t>
            </a:r>
            <a:r>
              <a:rPr lang="zh-TW" altLang="en-US" baseline="0" dirty="0"/>
              <a:t>也在</a:t>
            </a:r>
            <a:r>
              <a:rPr lang="en-US" altLang="zh-TW" baseline="0" dirty="0"/>
              <a:t>Q</a:t>
            </a:r>
            <a:r>
              <a:rPr lang="en-US" altLang="zh-TW" baseline="-25000" dirty="0"/>
              <a:t>L=3</a:t>
            </a:r>
            <a:r>
              <a:rPr lang="zh-TW" altLang="en-US" baseline="0" dirty="0"/>
              <a:t>把</a:t>
            </a:r>
            <a:r>
              <a:rPr lang="en-US" altLang="zh-TW" baseline="0" dirty="0"/>
              <a:t>RIS</a:t>
            </a:r>
            <a:r>
              <a:rPr lang="zh-TW" altLang="en-US" baseline="0" dirty="0"/>
              <a:t>中的</a:t>
            </a:r>
            <a:r>
              <a:rPr lang="en-US" altLang="zh-TW" baseline="0" dirty="0"/>
              <a:t>8</a:t>
            </a:r>
            <a:r>
              <a:rPr lang="zh-TW" altLang="en-US" baseline="0" dirty="0"/>
              <a:t>用</a:t>
            </a:r>
            <a:r>
              <a:rPr lang="en-US" altLang="zh-TW" baseline="0" dirty="0"/>
              <a:t>7</a:t>
            </a:r>
            <a:r>
              <a:rPr lang="zh-TW" altLang="en-US" baseline="0" dirty="0"/>
              <a:t>取代</a:t>
            </a:r>
            <a:r>
              <a:rPr lang="zh-TW" altLang="en-US" baseline="-25000" dirty="0"/>
              <a:t>，</a:t>
            </a:r>
            <a:r>
              <a:rPr lang="zh-TW" altLang="en-US" baseline="0" dirty="0"/>
              <a:t>再去</a:t>
            </a:r>
            <a:r>
              <a:rPr lang="en-US" altLang="zh-TW" baseline="0" dirty="0"/>
              <a:t>Q</a:t>
            </a:r>
            <a:r>
              <a:rPr lang="en-US" altLang="zh-TW" baseline="-25000" dirty="0"/>
              <a:t>L=3-1</a:t>
            </a:r>
            <a:r>
              <a:rPr lang="zh-TW" altLang="en-US" baseline="0" dirty="0"/>
              <a:t>中尋找小於</a:t>
            </a:r>
            <a:r>
              <a:rPr lang="en-US" altLang="zh-TW" baseline="0" dirty="0"/>
              <a:t>7</a:t>
            </a:r>
            <a:r>
              <a:rPr lang="zh-TW" altLang="en-US" baseline="0" dirty="0"/>
              <a:t>的最大值為</a:t>
            </a:r>
            <a:r>
              <a:rPr lang="en-US" altLang="zh-TW" baseline="0" dirty="0"/>
              <a:t>6</a:t>
            </a:r>
            <a:r>
              <a:rPr lang="zh-TW" altLang="en-US" baseline="0" dirty="0"/>
              <a:t>，</a:t>
            </a:r>
            <a:r>
              <a:rPr lang="en-US" altLang="zh-TW" baseline="0" dirty="0"/>
              <a:t>6</a:t>
            </a:r>
            <a:r>
              <a:rPr lang="zh-TW" altLang="en-US" baseline="0" dirty="0"/>
              <a:t>的</a:t>
            </a:r>
            <a:r>
              <a:rPr lang="en-US" altLang="zh-TW" baseline="0" dirty="0"/>
              <a:t>H</a:t>
            </a:r>
            <a:r>
              <a:rPr lang="zh-TW" altLang="en-US" baseline="0" dirty="0"/>
              <a:t>為</a:t>
            </a:r>
            <a:r>
              <a:rPr lang="en-US" altLang="zh-TW" baseline="0" dirty="0"/>
              <a:t>2</a:t>
            </a:r>
            <a:r>
              <a:rPr lang="zh-TW" altLang="en-US" baseline="0" dirty="0"/>
              <a:t>再加上</a:t>
            </a:r>
            <a:r>
              <a:rPr lang="en-US" altLang="zh-TW" baseline="0" dirty="0"/>
              <a:t>7-6=1</a:t>
            </a:r>
            <a:r>
              <a:rPr lang="zh-TW" altLang="en-US" baseline="0" dirty="0"/>
              <a:t>則</a:t>
            </a:r>
            <a:r>
              <a:rPr lang="en-US" altLang="zh-TW" baseline="0" dirty="0"/>
              <a:t>7</a:t>
            </a:r>
            <a:r>
              <a:rPr lang="zh-TW" altLang="en-US" baseline="0" dirty="0"/>
              <a:t>的</a:t>
            </a:r>
            <a:r>
              <a:rPr lang="en-US" altLang="zh-TW" baseline="0" dirty="0"/>
              <a:t>H</a:t>
            </a:r>
            <a:r>
              <a:rPr lang="zh-TW" altLang="en-US" baseline="0" dirty="0"/>
              <a:t>為</a:t>
            </a:r>
            <a:r>
              <a:rPr lang="en-US" altLang="zh-TW" baseline="0" dirty="0"/>
              <a:t>3</a:t>
            </a:r>
          </a:p>
          <a:p>
            <a:endParaRPr lang="en-US" altLang="zh-TW" baseline="0" dirty="0"/>
          </a:p>
          <a:p>
            <a:r>
              <a:rPr lang="zh-TW" altLang="en-US" baseline="0" dirty="0"/>
              <a:t>時間複雜度</a:t>
            </a:r>
            <a:r>
              <a:rPr lang="en-US" altLang="zh-TW" baseline="0" dirty="0"/>
              <a:t>:</a:t>
            </a:r>
          </a:p>
          <a:p>
            <a:r>
              <a:rPr lang="zh-TW" altLang="en-US" baseline="0" dirty="0"/>
              <a:t>第一步</a:t>
            </a:r>
            <a:r>
              <a:rPr lang="en-US" altLang="zh-TW" baseline="0" dirty="0"/>
              <a:t>:</a:t>
            </a:r>
            <a:r>
              <a:rPr lang="zh-TW" altLang="en-US" baseline="0" dirty="0"/>
              <a:t>在</a:t>
            </a:r>
            <a:r>
              <a:rPr lang="en-US" altLang="zh-TW" baseline="0" dirty="0"/>
              <a:t>RIS</a:t>
            </a:r>
            <a:r>
              <a:rPr lang="zh-TW" altLang="en-US" baseline="0" dirty="0"/>
              <a:t>中找到</a:t>
            </a:r>
            <a:r>
              <a:rPr lang="en-US" altLang="zh-TW" baseline="0" dirty="0" err="1"/>
              <a:t>lmin</a:t>
            </a:r>
            <a:r>
              <a:rPr lang="zh-TW" altLang="en-US" baseline="0" dirty="0"/>
              <a:t>花</a:t>
            </a:r>
            <a:r>
              <a:rPr lang="en-US" altLang="zh-TW" baseline="0" dirty="0"/>
              <a:t>O(log n)</a:t>
            </a:r>
          </a:p>
          <a:p>
            <a:r>
              <a:rPr lang="zh-TW" altLang="en-US" baseline="0" dirty="0"/>
              <a:t>第二步</a:t>
            </a:r>
            <a:r>
              <a:rPr lang="en-US" altLang="zh-TW" baseline="0" dirty="0"/>
              <a:t>:</a:t>
            </a:r>
            <a:r>
              <a:rPr lang="zh-TW" altLang="en-US" baseline="0" dirty="0"/>
              <a:t>放進</a:t>
            </a:r>
            <a:r>
              <a:rPr lang="en-US" altLang="zh-TW" baseline="0" dirty="0"/>
              <a:t>RIS</a:t>
            </a:r>
            <a:r>
              <a:rPr lang="zh-TW" altLang="en-US" baseline="0" dirty="0"/>
              <a:t>花</a:t>
            </a:r>
            <a:r>
              <a:rPr lang="en-US" altLang="zh-TW" baseline="0" dirty="0"/>
              <a:t>O(1)</a:t>
            </a:r>
          </a:p>
          <a:p>
            <a:r>
              <a:rPr lang="zh-TW" altLang="en-US" baseline="0" dirty="0"/>
              <a:t>第三步</a:t>
            </a:r>
            <a:r>
              <a:rPr lang="en-US" altLang="zh-TW" baseline="0" dirty="0"/>
              <a:t>:</a:t>
            </a:r>
            <a:r>
              <a:rPr lang="zh-TW" altLang="en-US" baseline="0" dirty="0"/>
              <a:t>找到</a:t>
            </a:r>
            <a:r>
              <a:rPr lang="en-US" altLang="zh-TW" baseline="0" dirty="0" err="1"/>
              <a:t>lmax</a:t>
            </a:r>
            <a:r>
              <a:rPr lang="zh-TW" altLang="en-US" baseline="0" dirty="0"/>
              <a:t>花</a:t>
            </a:r>
            <a:r>
              <a:rPr lang="en-US" altLang="zh-TW" baseline="0" dirty="0"/>
              <a:t>O(log n)</a:t>
            </a:r>
          </a:p>
          <a:p>
            <a:r>
              <a:rPr lang="zh-TW" altLang="en-US" baseline="0" dirty="0"/>
              <a:t>第四步</a:t>
            </a:r>
            <a:r>
              <a:rPr lang="en-US" altLang="zh-TW" baseline="0" dirty="0"/>
              <a:t>:</a:t>
            </a:r>
            <a:r>
              <a:rPr lang="zh-TW" altLang="en-US" baseline="0" dirty="0"/>
              <a:t>將該值加進</a:t>
            </a:r>
            <a:r>
              <a:rPr lang="en-US" altLang="zh-TW" baseline="0" dirty="0"/>
              <a:t>IS</a:t>
            </a:r>
            <a:r>
              <a:rPr lang="zh-TW" altLang="en-US" baseline="0" dirty="0"/>
              <a:t>後要更新</a:t>
            </a:r>
            <a:r>
              <a:rPr lang="en-US" altLang="zh-TW" baseline="0" dirty="0"/>
              <a:t>binary search tree </a:t>
            </a:r>
            <a:r>
              <a:rPr lang="zh-TW" altLang="en-US" baseline="0" dirty="0"/>
              <a:t>長度為</a:t>
            </a:r>
            <a:r>
              <a:rPr lang="en-US" altLang="zh-TW" baseline="0" dirty="0"/>
              <a:t>l</a:t>
            </a:r>
            <a:r>
              <a:rPr lang="zh-TW" altLang="en-US" baseline="0" dirty="0"/>
              <a:t>的</a:t>
            </a:r>
            <a:r>
              <a:rPr lang="en-US" altLang="zh-TW" baseline="0" dirty="0"/>
              <a:t>Q</a:t>
            </a:r>
            <a:r>
              <a:rPr lang="zh-TW" altLang="en-US" baseline="0" dirty="0"/>
              <a:t>，花</a:t>
            </a:r>
            <a:r>
              <a:rPr lang="en-US" altLang="zh-TW" baseline="0" dirty="0"/>
              <a:t>O(log n)</a:t>
            </a:r>
            <a:r>
              <a:rPr lang="zh-TW" altLang="en-US" baseline="0" dirty="0"/>
              <a:t>，</a:t>
            </a:r>
            <a:endParaRPr lang="en-US" altLang="zh-TW" baseline="0"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5</a:t>
            </a:fld>
            <a:endParaRPr lang="zh-TW" altLang="en-US"/>
          </a:p>
        </p:txBody>
      </p:sp>
    </p:spTree>
    <p:extLst>
      <p:ext uri="{BB962C8B-B14F-4D97-AF65-F5344CB8AC3E}">
        <p14:creationId xmlns:p14="http://schemas.microsoft.com/office/powerpoint/2010/main" val="1852022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第一</a:t>
            </a:r>
            <a:r>
              <a:rPr lang="en-US" altLang="zh-TW" dirty="0"/>
              <a:t>row(R</a:t>
            </a:r>
            <a:r>
              <a:rPr lang="en-US" altLang="zh-TW" baseline="-25000" dirty="0"/>
              <a:t>0</a:t>
            </a:r>
            <a:r>
              <a:rPr lang="en-US" altLang="zh-TW" dirty="0"/>
              <a:t>)</a:t>
            </a:r>
            <a:r>
              <a:rPr lang="zh-TW" altLang="en-US" dirty="0"/>
              <a:t>放</a:t>
            </a:r>
            <a:r>
              <a:rPr lang="en-US" altLang="zh-TW" dirty="0"/>
              <a:t>x&lt;3</a:t>
            </a:r>
          </a:p>
          <a:p>
            <a:r>
              <a:rPr lang="zh-TW" altLang="en-US" dirty="0"/>
              <a:t>第二</a:t>
            </a:r>
            <a:r>
              <a:rPr lang="en-US" altLang="zh-TW" dirty="0"/>
              <a:t>row(R</a:t>
            </a:r>
            <a:r>
              <a:rPr lang="en-US" altLang="zh-TW" baseline="-25000" dirty="0"/>
              <a:t>1</a:t>
            </a:r>
            <a:r>
              <a:rPr lang="en-US" altLang="zh-TW" dirty="0"/>
              <a:t>)</a:t>
            </a:r>
            <a:r>
              <a:rPr lang="zh-TW" altLang="en-US" dirty="0"/>
              <a:t>放</a:t>
            </a:r>
            <a:r>
              <a:rPr lang="en-US" altLang="zh-TW" dirty="0"/>
              <a:t>3&lt;=x&lt;7</a:t>
            </a:r>
          </a:p>
          <a:p>
            <a:r>
              <a:rPr lang="zh-TW" altLang="en-US" dirty="0"/>
              <a:t>第三</a:t>
            </a:r>
            <a:r>
              <a:rPr lang="en-US" altLang="zh-TW" dirty="0"/>
              <a:t>row(R</a:t>
            </a:r>
            <a:r>
              <a:rPr lang="en-US" altLang="zh-TW" baseline="-25000" dirty="0"/>
              <a:t>2</a:t>
            </a:r>
            <a:r>
              <a:rPr lang="en-US" altLang="zh-TW" dirty="0"/>
              <a:t>)</a:t>
            </a:r>
            <a:r>
              <a:rPr lang="zh-TW" altLang="en-US" dirty="0"/>
              <a:t>放</a:t>
            </a:r>
            <a:r>
              <a:rPr lang="en-US" altLang="zh-TW" dirty="0"/>
              <a:t>7&lt;=x</a:t>
            </a:r>
          </a:p>
          <a:p>
            <a:endParaRPr lang="en-US" altLang="zh-TW" dirty="0"/>
          </a:p>
          <a:p>
            <a:r>
              <a:rPr lang="en-US" altLang="zh-TW" dirty="0"/>
              <a:t>1.</a:t>
            </a:r>
            <a:r>
              <a:rPr lang="zh-TW" altLang="en-US" dirty="0"/>
              <a:t>每個數字進來</a:t>
            </a:r>
            <a:r>
              <a:rPr lang="en-US" altLang="zh-TW" dirty="0"/>
              <a:t>(e)</a:t>
            </a:r>
            <a:r>
              <a:rPr lang="zh-TW" altLang="en-US" dirty="0"/>
              <a:t>，找他再</a:t>
            </a:r>
            <a:r>
              <a:rPr lang="en-US" altLang="zh-TW" dirty="0"/>
              <a:t>C</a:t>
            </a:r>
            <a:r>
              <a:rPr lang="zh-TW" altLang="en-US" dirty="0"/>
              <a:t>的哪個區間</a:t>
            </a:r>
            <a:r>
              <a:rPr lang="en-US" altLang="zh-TW" dirty="0"/>
              <a:t>(</a:t>
            </a:r>
            <a:r>
              <a:rPr lang="en-US" altLang="zh-TW" dirty="0" err="1"/>
              <a:t>i</a:t>
            </a:r>
            <a:r>
              <a:rPr lang="en-US" altLang="zh-TW" dirty="0"/>
              <a:t>)</a:t>
            </a:r>
            <a:r>
              <a:rPr lang="zh-TW" altLang="en-US" dirty="0"/>
              <a:t>，若等於某個</a:t>
            </a:r>
            <a:r>
              <a:rPr lang="en-US" altLang="zh-TW" dirty="0"/>
              <a:t>c</a:t>
            </a:r>
            <a:r>
              <a:rPr lang="zh-TW" altLang="en-US" dirty="0"/>
              <a:t>去</a:t>
            </a:r>
            <a:r>
              <a:rPr lang="en-US" altLang="zh-TW" dirty="0"/>
              <a:t>2-1</a:t>
            </a:r>
            <a:r>
              <a:rPr lang="zh-TW" altLang="en-US" dirty="0"/>
              <a:t>，若在某個區間去</a:t>
            </a:r>
            <a:r>
              <a:rPr lang="en-US" altLang="zh-TW" dirty="0"/>
              <a:t>2-2</a:t>
            </a:r>
          </a:p>
          <a:p>
            <a:endParaRPr lang="en-US" altLang="zh-TW" dirty="0"/>
          </a:p>
          <a:p>
            <a:r>
              <a:rPr lang="en-US" altLang="zh-TW" dirty="0"/>
              <a:t>2-1.</a:t>
            </a:r>
            <a:r>
              <a:rPr lang="zh-TW" altLang="en-US" dirty="0"/>
              <a:t>若</a:t>
            </a:r>
            <a:r>
              <a:rPr lang="en-US" altLang="zh-TW" dirty="0"/>
              <a:t>R</a:t>
            </a:r>
            <a:r>
              <a:rPr lang="en-US" altLang="zh-TW" baseline="-25000" dirty="0"/>
              <a:t>I-1</a:t>
            </a:r>
            <a:r>
              <a:rPr lang="zh-TW" altLang="en-US" baseline="0" dirty="0"/>
              <a:t>不是空值，把</a:t>
            </a:r>
            <a:r>
              <a:rPr lang="en-US" altLang="zh-TW" dirty="0"/>
              <a:t>R</a:t>
            </a:r>
            <a:r>
              <a:rPr lang="en-US" altLang="zh-TW" baseline="-25000" dirty="0"/>
              <a:t>i-1</a:t>
            </a:r>
            <a:r>
              <a:rPr lang="zh-TW" altLang="en-US" baseline="0" dirty="0"/>
              <a:t>設為</a:t>
            </a:r>
            <a:r>
              <a:rPr lang="en-US" altLang="zh-TW" baseline="0" dirty="0"/>
              <a:t>e</a:t>
            </a:r>
            <a:r>
              <a:rPr lang="zh-TW" altLang="en-US" baseline="0" dirty="0"/>
              <a:t>的</a:t>
            </a:r>
            <a:r>
              <a:rPr lang="en-US" altLang="zh-TW" baseline="0" dirty="0"/>
              <a:t>predecessor(</a:t>
            </a:r>
            <a:r>
              <a:rPr lang="zh-TW" altLang="en-US" baseline="0" dirty="0"/>
              <a:t>拉線</a:t>
            </a:r>
            <a:r>
              <a:rPr lang="en-US" altLang="zh-TW" baseline="0" dirty="0"/>
              <a:t>)</a:t>
            </a:r>
            <a:r>
              <a:rPr lang="zh-TW" altLang="en-US" baseline="0" dirty="0"/>
              <a:t>，若</a:t>
            </a:r>
            <a:r>
              <a:rPr lang="en-US" altLang="zh-TW" dirty="0"/>
              <a:t>R</a:t>
            </a:r>
            <a:r>
              <a:rPr lang="en-US" altLang="zh-TW" baseline="-25000" dirty="0"/>
              <a:t>i-1</a:t>
            </a:r>
            <a:r>
              <a:rPr lang="zh-TW" altLang="en-US" baseline="0" dirty="0"/>
              <a:t>不是空值或</a:t>
            </a:r>
            <a:r>
              <a:rPr lang="en-US" altLang="zh-TW" baseline="0" dirty="0" err="1"/>
              <a:t>i</a:t>
            </a:r>
            <a:r>
              <a:rPr lang="en-US" altLang="zh-TW" baseline="0" dirty="0"/>
              <a:t>=1</a:t>
            </a:r>
            <a:r>
              <a:rPr lang="zh-TW" altLang="en-US" baseline="0" dirty="0"/>
              <a:t>，把</a:t>
            </a:r>
            <a:r>
              <a:rPr lang="en-US" altLang="zh-TW" baseline="0" dirty="0"/>
              <a:t>e</a:t>
            </a:r>
            <a:r>
              <a:rPr lang="zh-TW" altLang="en-US" baseline="0" dirty="0"/>
              <a:t>放進</a:t>
            </a:r>
            <a:r>
              <a:rPr lang="en-US" altLang="zh-TW" baseline="0" dirty="0"/>
              <a:t>R</a:t>
            </a:r>
            <a:r>
              <a:rPr lang="en-US" altLang="zh-TW" baseline="-25000" dirty="0"/>
              <a:t>i</a:t>
            </a:r>
            <a:endParaRPr lang="en-US" altLang="zh-TW" baseline="0" dirty="0"/>
          </a:p>
          <a:p>
            <a:r>
              <a:rPr lang="en-US" altLang="zh-TW" baseline="0" dirty="0"/>
              <a:t>2-2.</a:t>
            </a:r>
            <a:r>
              <a:rPr lang="zh-TW" altLang="en-US" baseline="0" dirty="0"/>
              <a:t>若</a:t>
            </a:r>
            <a:r>
              <a:rPr lang="en-US" altLang="zh-TW" baseline="0" dirty="0"/>
              <a:t>R</a:t>
            </a:r>
            <a:r>
              <a:rPr lang="en-US" altLang="zh-TW" baseline="-25000" dirty="0"/>
              <a:t>i</a:t>
            </a:r>
            <a:r>
              <a:rPr lang="zh-TW" altLang="en-US" baseline="0" dirty="0"/>
              <a:t>中已經有</a:t>
            </a:r>
            <a:r>
              <a:rPr lang="en-US" altLang="zh-TW" baseline="0" dirty="0"/>
              <a:t>C</a:t>
            </a:r>
            <a:r>
              <a:rPr lang="en-US" altLang="zh-TW" baseline="-25000" dirty="0"/>
              <a:t>i</a:t>
            </a:r>
            <a:r>
              <a:rPr lang="zh-TW" altLang="en-US" baseline="0" dirty="0"/>
              <a:t>或</a:t>
            </a:r>
            <a:r>
              <a:rPr lang="en-US" altLang="zh-TW" baseline="0" dirty="0" err="1"/>
              <a:t>i</a:t>
            </a:r>
            <a:r>
              <a:rPr lang="en-US" altLang="zh-TW" baseline="0" dirty="0"/>
              <a:t>=0</a:t>
            </a:r>
            <a:r>
              <a:rPr lang="zh-TW" altLang="en-US" baseline="0" dirty="0"/>
              <a:t>，把</a:t>
            </a:r>
            <a:r>
              <a:rPr lang="en-US" altLang="zh-TW" baseline="0" dirty="0"/>
              <a:t>e</a:t>
            </a:r>
            <a:r>
              <a:rPr lang="zh-TW" altLang="en-US" baseline="0" dirty="0"/>
              <a:t>放進</a:t>
            </a:r>
            <a:r>
              <a:rPr lang="en-US" altLang="zh-TW" baseline="0" dirty="0"/>
              <a:t>R</a:t>
            </a:r>
            <a:r>
              <a:rPr lang="en-US" altLang="zh-TW" baseline="-25000" dirty="0"/>
              <a:t>i</a:t>
            </a:r>
            <a:r>
              <a:rPr lang="zh-TW" altLang="en-US" baseline="0" dirty="0"/>
              <a:t>，並把</a:t>
            </a:r>
            <a:r>
              <a:rPr lang="en-US" altLang="zh-TW" baseline="0" dirty="0"/>
              <a:t>R</a:t>
            </a:r>
            <a:r>
              <a:rPr lang="en-US" altLang="zh-TW" baseline="-25000" dirty="0"/>
              <a:t>i</a:t>
            </a:r>
            <a:r>
              <a:rPr lang="zh-TW" altLang="en-US" baseline="0" dirty="0"/>
              <a:t>設為</a:t>
            </a:r>
            <a:r>
              <a:rPr lang="en-US" altLang="zh-TW" baseline="0" dirty="0"/>
              <a:t>e</a:t>
            </a:r>
            <a:r>
              <a:rPr lang="zh-TW" altLang="en-US" baseline="0" dirty="0"/>
              <a:t>的</a:t>
            </a:r>
            <a:r>
              <a:rPr lang="en-US" altLang="zh-TW" baseline="0" dirty="0"/>
              <a:t>predecessor(</a:t>
            </a:r>
            <a:r>
              <a:rPr lang="zh-TW" altLang="en-US" baseline="0" dirty="0"/>
              <a:t>拉線</a:t>
            </a:r>
            <a:r>
              <a:rPr lang="en-US" altLang="zh-TW" baseline="0" dirty="0"/>
              <a:t>)</a:t>
            </a:r>
          </a:p>
          <a:p>
            <a:endParaRPr lang="en-US" altLang="zh-TW" baseline="0" dirty="0"/>
          </a:p>
          <a:p>
            <a:r>
              <a:rPr lang="zh-TW" altLang="en-US" baseline="0" dirty="0"/>
              <a:t>放進</a:t>
            </a:r>
            <a:r>
              <a:rPr lang="en-US" altLang="zh-TW" baseline="0" dirty="0"/>
              <a:t>R</a:t>
            </a:r>
            <a:r>
              <a:rPr lang="en-US" altLang="zh-TW" baseline="-25000" dirty="0"/>
              <a:t>i</a:t>
            </a:r>
            <a:r>
              <a:rPr lang="zh-TW" altLang="en-US" baseline="0" dirty="0"/>
              <a:t>的方法</a:t>
            </a:r>
            <a:r>
              <a:rPr lang="en-US" altLang="zh-TW" baseline="0" dirty="0"/>
              <a:t>:</a:t>
            </a:r>
            <a:r>
              <a:rPr lang="zh-TW" altLang="en-US" baseline="0" dirty="0"/>
              <a:t>找到</a:t>
            </a:r>
            <a:r>
              <a:rPr lang="en-US" altLang="zh-TW" baseline="0" dirty="0"/>
              <a:t>R</a:t>
            </a:r>
            <a:r>
              <a:rPr lang="en-US" altLang="zh-TW" baseline="-25000" dirty="0"/>
              <a:t>i</a:t>
            </a:r>
            <a:r>
              <a:rPr lang="zh-TW" altLang="en-US" baseline="0" dirty="0"/>
              <a:t>中大於</a:t>
            </a:r>
            <a:r>
              <a:rPr lang="en-US" altLang="zh-TW" baseline="0" dirty="0"/>
              <a:t>e</a:t>
            </a:r>
            <a:r>
              <a:rPr lang="zh-TW" altLang="en-US" baseline="0" dirty="0"/>
              <a:t>的最小值，取代他</a:t>
            </a:r>
            <a:endParaRPr lang="en-US" altLang="zh-TW" baseline="0" dirty="0"/>
          </a:p>
          <a:p>
            <a:r>
              <a:rPr lang="en-US" altLang="zh-TW" baseline="0" dirty="0"/>
              <a:t>9,8</a:t>
            </a:r>
            <a:r>
              <a:rPr lang="zh-TW" altLang="en-US" baseline="0" dirty="0"/>
              <a:t>的狀況，可以用前一個問題的</a:t>
            </a:r>
            <a:r>
              <a:rPr lang="en-US" altLang="zh-TW" baseline="0" dirty="0"/>
              <a:t>L</a:t>
            </a:r>
            <a:r>
              <a:rPr lang="zh-TW" altLang="en-US" baseline="0" dirty="0"/>
              <a:t>解釋，他們都在</a:t>
            </a:r>
            <a:r>
              <a:rPr lang="en-US" altLang="zh-TW" baseline="0" dirty="0"/>
              <a:t>L=4</a:t>
            </a:r>
            <a:r>
              <a:rPr lang="zh-TW" altLang="en-US" baseline="0" dirty="0"/>
              <a:t>的</a:t>
            </a:r>
            <a:r>
              <a:rPr lang="en-US" altLang="zh-TW" baseline="0" dirty="0"/>
              <a:t>row</a:t>
            </a:r>
            <a:r>
              <a:rPr lang="zh-TW" altLang="en-US" baseline="0" dirty="0"/>
              <a:t>，只是這邊沒有畫出來，如果在當前這層沒有比他大的值，就會往下多一層</a:t>
            </a:r>
            <a:endParaRPr lang="en-US" altLang="zh-TW" baseline="0" dirty="0"/>
          </a:p>
          <a:p>
            <a:endParaRPr lang="en-US" altLang="zh-TW" baseline="0" dirty="0"/>
          </a:p>
          <a:p>
            <a:r>
              <a:rPr lang="zh-TW" altLang="en-US" baseline="0" dirty="0"/>
              <a:t>時間複雜度</a:t>
            </a:r>
            <a:r>
              <a:rPr lang="en-US" altLang="zh-TW" baseline="0" dirty="0"/>
              <a:t>:</a:t>
            </a:r>
          </a:p>
          <a:p>
            <a:r>
              <a:rPr lang="zh-TW" altLang="en-US" baseline="0" dirty="0"/>
              <a:t>對於每個輸入，第一步要</a:t>
            </a:r>
            <a:r>
              <a:rPr lang="en-US" altLang="zh-TW" baseline="0" dirty="0"/>
              <a:t>O(log |C|)</a:t>
            </a:r>
            <a:r>
              <a:rPr lang="zh-TW" altLang="en-US" baseline="0" dirty="0"/>
              <a:t>的時間，第二步最多要</a:t>
            </a:r>
            <a:r>
              <a:rPr lang="en-US" altLang="zh-TW" baseline="0" dirty="0"/>
              <a:t>O(log</a:t>
            </a:r>
            <a:r>
              <a:rPr lang="zh-TW" altLang="en-US" baseline="0" dirty="0"/>
              <a:t> </a:t>
            </a:r>
            <a:r>
              <a:rPr lang="en-US" altLang="zh-TW" baseline="0" dirty="0"/>
              <a:t>n)</a:t>
            </a:r>
            <a:r>
              <a:rPr lang="zh-TW" altLang="en-US" baseline="0" dirty="0"/>
              <a:t>的時間</a:t>
            </a:r>
            <a:endParaRPr lang="en-US" altLang="zh-TW" baseline="0" dirty="0"/>
          </a:p>
          <a:p>
            <a:r>
              <a:rPr lang="zh-TW" altLang="en-US" baseline="0" dirty="0"/>
              <a:t>故總時間複雜度為</a:t>
            </a:r>
            <a:r>
              <a:rPr lang="en-US" altLang="zh-TW" baseline="0" dirty="0"/>
              <a:t>O(n*(log |C| + log n))</a:t>
            </a:r>
            <a:endParaRPr lang="en-US" altLang="zh-TW" baseline="-25000"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8</a:t>
            </a:fld>
            <a:endParaRPr lang="zh-TW" altLang="en-US"/>
          </a:p>
        </p:txBody>
      </p:sp>
    </p:spTree>
    <p:extLst>
      <p:ext uri="{BB962C8B-B14F-4D97-AF65-F5344CB8AC3E}">
        <p14:creationId xmlns:p14="http://schemas.microsoft.com/office/powerpoint/2010/main" val="427397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2020/10/6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2020/10/6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2020/10/6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2020/10/6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2020/10/6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2020/10/6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2020/10/6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2020/10/6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2020/10/6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2020/10/6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2020/10/6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2020/10/6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a:latin typeface="Times New Roman" pitchFamily="18" charset="0"/>
                <a:cs typeface="Times New Roman" pitchFamily="18" charset="0"/>
              </a:rPr>
              <a:t>Minimal Height and Sequence Constrained Longest Increasing Subsequence</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a:noAutofit/>
          </a:bodyPr>
          <a:lstStyle/>
          <a:p>
            <a:pPr fontAlgn="ctr"/>
            <a:r>
              <a:rPr lang="en-US" altLang="zh-TW" sz="2000" dirty="0" err="1">
                <a:solidFill>
                  <a:schemeClr val="tx1"/>
                </a:solidFill>
                <a:latin typeface="Times New Roman" pitchFamily="18" charset="0"/>
                <a:cs typeface="Times New Roman" pitchFamily="18" charset="0"/>
              </a:rPr>
              <a:t>Chiou</a:t>
            </a:r>
            <a:r>
              <a:rPr lang="en-US" altLang="zh-TW" sz="2000" dirty="0">
                <a:solidFill>
                  <a:schemeClr val="tx1"/>
                </a:solidFill>
                <a:latin typeface="Times New Roman" pitchFamily="18" charset="0"/>
                <a:cs typeface="Times New Roman" pitchFamily="18" charset="0"/>
              </a:rPr>
              <a:t>-Ting Tseng , Chang-</a:t>
            </a:r>
            <a:r>
              <a:rPr lang="en-US" altLang="zh-TW" sz="2000" dirty="0" err="1">
                <a:solidFill>
                  <a:schemeClr val="tx1"/>
                </a:solidFill>
                <a:latin typeface="Times New Roman" pitchFamily="18" charset="0"/>
                <a:cs typeface="Times New Roman" pitchFamily="18" charset="0"/>
              </a:rPr>
              <a:t>Biau</a:t>
            </a:r>
            <a:r>
              <a:rPr lang="en-US" altLang="zh-TW" sz="2000" dirty="0">
                <a:solidFill>
                  <a:schemeClr val="tx1"/>
                </a:solidFill>
                <a:latin typeface="Times New Roman" pitchFamily="18" charset="0"/>
                <a:cs typeface="Times New Roman" pitchFamily="18" charset="0"/>
              </a:rPr>
              <a:t> Yang and </a:t>
            </a:r>
            <a:r>
              <a:rPr lang="en-US" altLang="zh-TW" sz="2000" dirty="0" err="1">
                <a:solidFill>
                  <a:schemeClr val="tx1"/>
                </a:solidFill>
                <a:latin typeface="Times New Roman" pitchFamily="18" charset="0"/>
                <a:cs typeface="Times New Roman" pitchFamily="18" charset="0"/>
              </a:rPr>
              <a:t>Hsing</a:t>
            </a:r>
            <a:r>
              <a:rPr lang="en-US" altLang="zh-TW" sz="2000" dirty="0">
                <a:solidFill>
                  <a:schemeClr val="tx1"/>
                </a:solidFill>
                <a:latin typeface="Times New Roman" pitchFamily="18" charset="0"/>
                <a:cs typeface="Times New Roman" pitchFamily="18" charset="0"/>
              </a:rPr>
              <a:t>-Yen Ann</a:t>
            </a:r>
          </a:p>
          <a:p>
            <a:pPr fontAlgn="ctr"/>
            <a:endParaRPr lang="en-US" altLang="zh-TW" dirty="0"/>
          </a:p>
        </p:txBody>
      </p:sp>
      <p:sp>
        <p:nvSpPr>
          <p:cNvPr id="8" name="文字方塊 7">
            <a:extLst>
              <a:ext uri="{FF2B5EF4-FFF2-40B4-BE49-F238E27FC236}">
                <a16:creationId xmlns:a16="http://schemas.microsoft.com/office/drawing/2014/main" id="{8F2527E8-BB8F-41FB-8AF1-03DCC96BC069}"/>
              </a:ext>
            </a:extLst>
          </p:cNvPr>
          <p:cNvSpPr txBox="1"/>
          <p:nvPr/>
        </p:nvSpPr>
        <p:spPr>
          <a:xfrm>
            <a:off x="1243625" y="4005064"/>
            <a:ext cx="6711581" cy="369332"/>
          </a:xfrm>
          <a:prstGeom prst="rect">
            <a:avLst/>
          </a:prstGeom>
          <a:noFill/>
        </p:spPr>
        <p:txBody>
          <a:bodyPr wrap="none" rtlCol="0">
            <a:spAutoFit/>
          </a:bodyPr>
          <a:lstStyle/>
          <a:p>
            <a:pPr algn="ctr"/>
            <a:r>
              <a:rPr lang="en-US" altLang="zh-TW" sz="1800" b="1" i="0" u="none" strike="noStrike" baseline="0" dirty="0">
                <a:latin typeface="TimesNewRomanPS-BoldMT"/>
              </a:rPr>
              <a:t>Journal of Internet Technology </a:t>
            </a:r>
            <a:r>
              <a:rPr lang="en-US" altLang="zh-TW" sz="1800" b="0" i="0" u="none" strike="noStrike" baseline="0" dirty="0">
                <a:latin typeface="TimesNewRomanPSMT"/>
              </a:rPr>
              <a:t>Volume 10 (2009) No.2 P.173~P.178</a:t>
            </a:r>
            <a:endParaRPr lang="en-US" altLang="zh-TW" sz="2200" dirty="0">
              <a:latin typeface="+mj-lt"/>
              <a:cs typeface="Times New Roman" pitchFamily="18" charset="0"/>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580112" y="5357171"/>
            <a:ext cx="353334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Jing-Ping Zhang</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24855"/>
            <a:ext cx="2601994"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Oct. 06, 2020</a:t>
            </a:r>
            <a:endParaRPr lang="zh-TW" altLang="en-US" dirty="0"/>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a:noAutofit/>
          </a:bodyPr>
          <a:lstStyle/>
          <a:p>
            <a:pPr marL="0" indent="0">
              <a:lnSpc>
                <a:spcPts val="3200"/>
              </a:lnSpc>
              <a:buNone/>
            </a:pPr>
            <a:r>
              <a:rPr lang="en-US" altLang="zh-TW" sz="2800" dirty="0">
                <a:latin typeface="Times New Roman" pitchFamily="18" charset="0"/>
                <a:cs typeface="Times New Roman" pitchFamily="18" charset="0"/>
              </a:rPr>
              <a:t>Given a string S=a</a:t>
            </a:r>
            <a:r>
              <a:rPr lang="en-US" altLang="zh-TW" sz="2800" baseline="-25000" dirty="0">
                <a:latin typeface="Times New Roman" pitchFamily="18" charset="0"/>
                <a:cs typeface="Times New Roman" pitchFamily="18" charset="0"/>
              </a:rPr>
              <a:t>1</a:t>
            </a:r>
            <a:r>
              <a:rPr lang="en-US" altLang="zh-TW" sz="2800" dirty="0">
                <a:latin typeface="Times New Roman" pitchFamily="18" charset="0"/>
                <a:cs typeface="Times New Roman" pitchFamily="18" charset="0"/>
              </a:rPr>
              <a:t>a</a:t>
            </a:r>
            <a:r>
              <a:rPr lang="en-US" altLang="zh-TW" sz="2800" baseline="-25000" dirty="0">
                <a:latin typeface="Times New Roman" pitchFamily="18" charset="0"/>
                <a:cs typeface="Times New Roman" pitchFamily="18" charset="0"/>
              </a:rPr>
              <a:t>2</a:t>
            </a:r>
            <a:r>
              <a:rPr lang="en-US" altLang="zh-TW" sz="2800" dirty="0">
                <a:latin typeface="Times New Roman" pitchFamily="18" charset="0"/>
                <a:cs typeface="Times New Roman" pitchFamily="18" charset="0"/>
              </a:rPr>
              <a:t>a</a:t>
            </a:r>
            <a:r>
              <a:rPr lang="en-US" altLang="zh-TW" sz="2800" baseline="-25000" dirty="0">
                <a:latin typeface="Times New Roman" pitchFamily="18" charset="0"/>
                <a:cs typeface="Times New Roman" pitchFamily="18" charset="0"/>
              </a:rPr>
              <a:t>3</a:t>
            </a:r>
            <a:r>
              <a:rPr lang="en-US" altLang="zh-TW" sz="2800" dirty="0">
                <a:latin typeface="Times New Roman" pitchFamily="18" charset="0"/>
                <a:cs typeface="Times New Roman" pitchFamily="18" charset="0"/>
              </a:rPr>
              <a:t>···a</a:t>
            </a:r>
            <a:r>
              <a:rPr lang="en-US" altLang="zh-TW" sz="2800" baseline="-25000" dirty="0">
                <a:latin typeface="Times New Roman" pitchFamily="18" charset="0"/>
                <a:cs typeface="Times New Roman" pitchFamily="18" charset="0"/>
              </a:rPr>
              <a:t>n</a:t>
            </a:r>
            <a:r>
              <a:rPr lang="en-US" altLang="zh-TW" sz="2800" dirty="0">
                <a:latin typeface="Times New Roman" pitchFamily="18" charset="0"/>
                <a:cs typeface="Times New Roman" pitchFamily="18" charset="0"/>
              </a:rPr>
              <a:t>, the longest increasing subsequence (LIS) problem is to find a subsequence of S such that the subsequence is increasing and its length is maximal.  In this paper, we propose and solve two variants of the LIS problem.  The first one is the minimal height LIS where the height means the difference between the greatest and smallest elements. We propose an algorithm with O(</a:t>
            </a:r>
            <a:r>
              <a:rPr lang="en-US" altLang="zh-TW" sz="2800" dirty="0" err="1">
                <a:latin typeface="Times New Roman" pitchFamily="18" charset="0"/>
                <a:cs typeface="Times New Roman" pitchFamily="18" charset="0"/>
              </a:rPr>
              <a:t>nlogn</a:t>
            </a:r>
            <a:r>
              <a:rPr lang="en-US" altLang="zh-TW" sz="2800" dirty="0">
                <a:latin typeface="Times New Roman" pitchFamily="18" charset="0"/>
                <a:cs typeface="Times New Roman" pitchFamily="18" charset="0"/>
              </a:rPr>
              <a:t>) time and O(n) space to solve it. The second one is the sequence constrained LIS that given a sequence S and a constraint C, we are to find the LIS of S containing C as its subsequence.  We propose an algorithm with O(</a:t>
            </a:r>
            <a:r>
              <a:rPr lang="en-US" altLang="zh-TW" sz="2800" dirty="0" err="1">
                <a:latin typeface="Times New Roman" pitchFamily="18" charset="0"/>
                <a:cs typeface="Times New Roman" pitchFamily="18" charset="0"/>
              </a:rPr>
              <a:t>nlog</a:t>
            </a:r>
            <a:r>
              <a:rPr lang="en-US" altLang="zh-TW" sz="2800" dirty="0">
                <a:latin typeface="Times New Roman" pitchFamily="18" charset="0"/>
                <a:cs typeface="Times New Roman" pitchFamily="18" charset="0"/>
              </a:rPr>
              <a:t>(n+|C|)) time to solve it.</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sz="2800" dirty="0">
                <a:latin typeface="Times New Roman" pitchFamily="18" charset="0"/>
                <a:cs typeface="Times New Roman" pitchFamily="18" charset="0"/>
              </a:rPr>
              <a:t>Minimal Height LIS: </a:t>
            </a:r>
          </a:p>
          <a:p>
            <a:pPr lvl="1">
              <a:buNone/>
            </a:pPr>
            <a:r>
              <a:rPr lang="en-US" altLang="zh-TW" dirty="0">
                <a:latin typeface="Times New Roman" pitchFamily="18" charset="0"/>
                <a:cs typeface="Times New Roman" pitchFamily="18" charset="0"/>
              </a:rPr>
              <a:t>S= 41573</a:t>
            </a:r>
          </a:p>
          <a:p>
            <a:pPr lvl="1">
              <a:buNone/>
            </a:pPr>
            <a:r>
              <a:rPr lang="en-US" altLang="zh-TW" dirty="0">
                <a:latin typeface="Times New Roman" pitchFamily="18" charset="0"/>
                <a:cs typeface="Times New Roman" pitchFamily="18" charset="0"/>
              </a:rPr>
              <a:t>LIS of S is 457 and 157</a:t>
            </a:r>
          </a:p>
          <a:p>
            <a:pPr lvl="1">
              <a:buNone/>
            </a:pPr>
            <a:r>
              <a:rPr lang="en-US" altLang="zh-TW" dirty="0">
                <a:latin typeface="Times New Roman" pitchFamily="18" charset="0"/>
                <a:cs typeface="Times New Roman" pitchFamily="18" charset="0"/>
              </a:rPr>
              <a:t>MHLIS of S</a:t>
            </a:r>
            <a:r>
              <a:rPr lang="en-US" altLang="zh-TW" baseline="-25000" dirty="0">
                <a:latin typeface="Times New Roman" pitchFamily="18" charset="0"/>
                <a:cs typeface="Times New Roman" pitchFamily="18" charset="0"/>
              </a:rPr>
              <a:t> </a:t>
            </a:r>
            <a:r>
              <a:rPr lang="en-US" altLang="zh-TW" dirty="0">
                <a:latin typeface="Times New Roman" pitchFamily="18" charset="0"/>
                <a:cs typeface="Times New Roman" pitchFamily="18" charset="0"/>
              </a:rPr>
              <a:t>is 457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r>
              <a:rPr lang="zh-TW" altLang="en-US" dirty="0">
                <a:latin typeface="Times New Roman" pitchFamily="18" charset="0"/>
                <a:cs typeface="Times New Roman" pitchFamily="18" charset="0"/>
              </a:rPr>
              <a:t> </a:t>
            </a:r>
          </a:p>
        </p:txBody>
      </p:sp>
      <p:sp>
        <p:nvSpPr>
          <p:cNvPr id="3" name="內容版面配置區 2"/>
          <p:cNvSpPr>
            <a:spLocks noGrp="1"/>
          </p:cNvSpPr>
          <p:nvPr>
            <p:ph idx="1"/>
          </p:nvPr>
        </p:nvSpPr>
        <p:spPr>
          <a:xfrm>
            <a:off x="457200" y="1600200"/>
            <a:ext cx="8229600" cy="4757758"/>
          </a:xfrm>
        </p:spPr>
        <p:txBody>
          <a:bodyPr/>
          <a:lstStyle/>
          <a:p>
            <a:pPr marL="342900" lvl="1" indent="-342900">
              <a:buFont typeface="Arial" pitchFamily="34" charset="0"/>
              <a:buChar char="•"/>
            </a:pPr>
            <a:r>
              <a:rPr lang="en-US" altLang="zh-TW" dirty="0">
                <a:latin typeface="Times New Roman" pitchFamily="18" charset="0"/>
                <a:ea typeface="標楷體" pitchFamily="65" charset="-120"/>
                <a:cs typeface="Times New Roman" pitchFamily="18" charset="0"/>
              </a:rPr>
              <a:t>Sequence Constrained LIS:</a:t>
            </a:r>
          </a:p>
          <a:p>
            <a:pPr marL="342900" lvl="1" indent="-342900">
              <a:buNone/>
            </a:pPr>
            <a:r>
              <a:rPr lang="en-US" altLang="zh-TW" dirty="0">
                <a:latin typeface="Times New Roman" pitchFamily="18" charset="0"/>
                <a:ea typeface="標楷體" pitchFamily="65" charset="-120"/>
                <a:cs typeface="Times New Roman" pitchFamily="18" charset="0"/>
              </a:rPr>
              <a:t>	S = 1529367</a:t>
            </a:r>
          </a:p>
          <a:p>
            <a:pPr marL="342900" lvl="1" indent="-342900">
              <a:buNone/>
            </a:pPr>
            <a:r>
              <a:rPr lang="en-US" altLang="zh-TW" dirty="0">
                <a:latin typeface="Times New Roman" pitchFamily="18" charset="0"/>
                <a:ea typeface="標楷體" pitchFamily="65" charset="-120"/>
                <a:cs typeface="Times New Roman" pitchFamily="18" charset="0"/>
              </a:rPr>
              <a:t>	C = 59</a:t>
            </a:r>
            <a:endParaRPr lang="en-US" altLang="zh-TW" baseline="-25000" dirty="0">
              <a:latin typeface="Times New Roman" pitchFamily="18" charset="0"/>
              <a:ea typeface="標楷體" pitchFamily="65" charset="-120"/>
              <a:cs typeface="Times New Roman" pitchFamily="18" charset="0"/>
            </a:endParaRPr>
          </a:p>
          <a:p>
            <a:pPr marL="342900" lvl="1" indent="-342900">
              <a:buNone/>
            </a:pPr>
            <a:r>
              <a:rPr lang="en-US" altLang="zh-TW" dirty="0">
                <a:latin typeface="Times New Roman" pitchFamily="18" charset="0"/>
                <a:ea typeface="標楷體" pitchFamily="65" charset="-120"/>
                <a:cs typeface="Times New Roman" pitchFamily="18" charset="0"/>
              </a:rPr>
              <a:t>	SCLIS of S</a:t>
            </a:r>
            <a:r>
              <a:rPr lang="en-US" altLang="zh-TW" baseline="-25000" dirty="0">
                <a:latin typeface="Times New Roman" pitchFamily="18" charset="0"/>
                <a:ea typeface="標楷體" pitchFamily="65" charset="-120"/>
                <a:cs typeface="Times New Roman" pitchFamily="18" charset="0"/>
              </a:rPr>
              <a:t> </a:t>
            </a:r>
            <a:r>
              <a:rPr lang="en-US" altLang="zh-TW" dirty="0">
                <a:latin typeface="Times New Roman" pitchFamily="18" charset="0"/>
                <a:ea typeface="標楷體" pitchFamily="65" charset="-120"/>
                <a:cs typeface="Times New Roman" pitchFamily="18" charset="0"/>
              </a:rPr>
              <a:t>= 159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內容版面配置區 2">
            <a:extLst>
              <a:ext uri="{FF2B5EF4-FFF2-40B4-BE49-F238E27FC236}">
                <a16:creationId xmlns:a16="http://schemas.microsoft.com/office/drawing/2014/main" id="{A6D0EF93-DC60-4AE3-9029-755EE0440802}"/>
              </a:ext>
            </a:extLst>
          </p:cNvPr>
          <p:cNvSpPr txBox="1">
            <a:spLocks/>
          </p:cNvSpPr>
          <p:nvPr/>
        </p:nvSpPr>
        <p:spPr>
          <a:xfrm>
            <a:off x="457200" y="1582578"/>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O(n*log n) = n * (O(log n) + O(1) + O(log n) + O(log n) + O(n) )</a:t>
            </a:r>
            <a:endParaRPr lang="zh-TW" altLang="en-US" baseline="-25000" dirty="0">
              <a:latin typeface="Times New Roman" panose="02020603050405020304" pitchFamily="18" charset="0"/>
              <a:cs typeface="Times New Roman" panose="02020603050405020304" pitchFamily="18" charset="0"/>
            </a:endParaRPr>
          </a:p>
        </p:txBody>
      </p:sp>
      <p:sp>
        <p:nvSpPr>
          <p:cNvPr id="5" name="內容版面配置區 2">
            <a:extLst>
              <a:ext uri="{FF2B5EF4-FFF2-40B4-BE49-F238E27FC236}">
                <a16:creationId xmlns:a16="http://schemas.microsoft.com/office/drawing/2014/main" id="{3A39670C-D99A-4A88-A956-5A56898ECFBF}"/>
              </a:ext>
            </a:extLst>
          </p:cNvPr>
          <p:cNvSpPr>
            <a:spLocks noGrp="1"/>
          </p:cNvSpPr>
          <p:nvPr>
            <p:ph idx="1"/>
          </p:nvPr>
        </p:nvSpPr>
        <p:spPr>
          <a:xfrm>
            <a:off x="457200" y="1600200"/>
            <a:ext cx="8229600" cy="4525963"/>
          </a:xfrm>
        </p:spPr>
        <p:txBody>
          <a:bodyPr>
            <a:normAutofit/>
          </a:bodyPr>
          <a:lstStyle/>
          <a:p>
            <a:r>
              <a:rPr lang="en-US" altLang="zh-TW" sz="2800" dirty="0">
                <a:latin typeface="Times New Roman" pitchFamily="18" charset="0"/>
                <a:cs typeface="Times New Roman" pitchFamily="18" charset="0"/>
              </a:rPr>
              <a:t>Minimal Height LIS: </a:t>
            </a:r>
          </a:p>
          <a:p>
            <a:pPr lvl="1">
              <a:buNone/>
            </a:pPr>
            <a:r>
              <a:rPr lang="en-US" altLang="zh-TW" dirty="0">
                <a:latin typeface="Times New Roman" pitchFamily="18" charset="0"/>
                <a:cs typeface="Times New Roman" pitchFamily="18" charset="0"/>
              </a:rPr>
              <a:t>S= 4683571</a:t>
            </a:r>
          </a:p>
        </p:txBody>
      </p:sp>
      <p:sp>
        <p:nvSpPr>
          <p:cNvPr id="6" name="標題 1">
            <a:extLst>
              <a:ext uri="{FF2B5EF4-FFF2-40B4-BE49-F238E27FC236}">
                <a16:creationId xmlns:a16="http://schemas.microsoft.com/office/drawing/2014/main" id="{4B85EDBB-B348-4B88-A4F4-EAC50BB72910}"/>
              </a:ext>
            </a:extLst>
          </p:cNvPr>
          <p:cNvSpPr>
            <a:spLocks noGrp="1"/>
          </p:cNvSpPr>
          <p:nvPr>
            <p:ph type="title"/>
          </p:nvPr>
        </p:nvSpPr>
        <p:spPr>
          <a:xfrm>
            <a:off x="457200" y="274638"/>
            <a:ext cx="8229600" cy="1143000"/>
          </a:xfrm>
        </p:spPr>
        <p:txBody>
          <a:bodyPr>
            <a:normAutofit/>
          </a:bodyPr>
          <a:lstStyle/>
          <a:p>
            <a:pPr algn="l"/>
            <a:r>
              <a:rPr lang="en-US" altLang="zh-TW" dirty="0">
                <a:latin typeface="Times New Roman" pitchFamily="18" charset="0"/>
                <a:cs typeface="Times New Roman" pitchFamily="18" charset="0"/>
              </a:rPr>
              <a:t>Minimum Height LIS algorithm</a:t>
            </a:r>
            <a:endParaRPr lang="zh-TW" altLang="en-US" dirty="0">
              <a:latin typeface="Times New Roman" pitchFamily="18" charset="0"/>
              <a:cs typeface="Times New Roman" pitchFamily="18" charset="0"/>
            </a:endParaRPr>
          </a:p>
        </p:txBody>
      </p:sp>
      <p:graphicFrame>
        <p:nvGraphicFramePr>
          <p:cNvPr id="17" name="表格 17">
            <a:extLst>
              <a:ext uri="{FF2B5EF4-FFF2-40B4-BE49-F238E27FC236}">
                <a16:creationId xmlns:a16="http://schemas.microsoft.com/office/drawing/2014/main" id="{3E9BA4A3-93DA-46F9-834C-B601D6088481}"/>
              </a:ext>
            </a:extLst>
          </p:cNvPr>
          <p:cNvGraphicFramePr>
            <a:graphicFrameLocks noGrp="1"/>
          </p:cNvGraphicFramePr>
          <p:nvPr>
            <p:extLst>
              <p:ext uri="{D42A27DB-BD31-4B8C-83A1-F6EECF244321}">
                <p14:modId xmlns:p14="http://schemas.microsoft.com/office/powerpoint/2010/main" val="3459336506"/>
              </p:ext>
            </p:extLst>
          </p:nvPr>
        </p:nvGraphicFramePr>
        <p:xfrm>
          <a:off x="1824381" y="3901123"/>
          <a:ext cx="6096000" cy="22250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996953987"/>
                    </a:ext>
                  </a:extLst>
                </a:gridCol>
                <a:gridCol w="762000">
                  <a:extLst>
                    <a:ext uri="{9D8B030D-6E8A-4147-A177-3AD203B41FA5}">
                      <a16:colId xmlns:a16="http://schemas.microsoft.com/office/drawing/2014/main" val="2036372162"/>
                    </a:ext>
                  </a:extLst>
                </a:gridCol>
                <a:gridCol w="762000">
                  <a:extLst>
                    <a:ext uri="{9D8B030D-6E8A-4147-A177-3AD203B41FA5}">
                      <a16:colId xmlns:a16="http://schemas.microsoft.com/office/drawing/2014/main" val="348729537"/>
                    </a:ext>
                  </a:extLst>
                </a:gridCol>
                <a:gridCol w="762000">
                  <a:extLst>
                    <a:ext uri="{9D8B030D-6E8A-4147-A177-3AD203B41FA5}">
                      <a16:colId xmlns:a16="http://schemas.microsoft.com/office/drawing/2014/main" val="2431442714"/>
                    </a:ext>
                  </a:extLst>
                </a:gridCol>
                <a:gridCol w="762000">
                  <a:extLst>
                    <a:ext uri="{9D8B030D-6E8A-4147-A177-3AD203B41FA5}">
                      <a16:colId xmlns:a16="http://schemas.microsoft.com/office/drawing/2014/main" val="3091541343"/>
                    </a:ext>
                  </a:extLst>
                </a:gridCol>
                <a:gridCol w="762000">
                  <a:extLst>
                    <a:ext uri="{9D8B030D-6E8A-4147-A177-3AD203B41FA5}">
                      <a16:colId xmlns:a16="http://schemas.microsoft.com/office/drawing/2014/main" val="2059521515"/>
                    </a:ext>
                  </a:extLst>
                </a:gridCol>
                <a:gridCol w="762000">
                  <a:extLst>
                    <a:ext uri="{9D8B030D-6E8A-4147-A177-3AD203B41FA5}">
                      <a16:colId xmlns:a16="http://schemas.microsoft.com/office/drawing/2014/main" val="132883696"/>
                    </a:ext>
                  </a:extLst>
                </a:gridCol>
                <a:gridCol w="762000">
                  <a:extLst>
                    <a:ext uri="{9D8B030D-6E8A-4147-A177-3AD203B41FA5}">
                      <a16:colId xmlns:a16="http://schemas.microsoft.com/office/drawing/2014/main" val="1048598403"/>
                    </a:ext>
                  </a:extLst>
                </a:gridCol>
              </a:tblGrid>
              <a:tr h="370840">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2275434"/>
                  </a:ext>
                </a:extLst>
              </a:tr>
              <a:tr h="370840">
                <a:tc>
                  <a:txBody>
                    <a:bodyPr/>
                    <a:lstStyle/>
                    <a:p>
                      <a:r>
                        <a:rPr lang="en-US" altLang="zh-TW" dirty="0">
                          <a:latin typeface="Times New Roman" panose="02020603050405020304" pitchFamily="18" charset="0"/>
                          <a:cs typeface="Times New Roman" panose="02020603050405020304" pitchFamily="18" charset="0"/>
                        </a:rPr>
                        <a:t>R/S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46</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468</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368</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358</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357</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157</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8199213"/>
                  </a:ext>
                </a:extLst>
              </a:tr>
              <a:tr h="370840">
                <a:tc>
                  <a:txBody>
                    <a:bodyPr/>
                    <a:lstStyle/>
                    <a:p>
                      <a:r>
                        <a:rPr lang="en-US" altLang="zh-TW" baseline="0" dirty="0">
                          <a:latin typeface="Times New Roman" panose="02020603050405020304" pitchFamily="18" charset="0"/>
                          <a:cs typeface="Times New Roman" panose="02020603050405020304" pitchFamily="18" charset="0"/>
                        </a:rPr>
                        <a:t>L=1</a:t>
                      </a:r>
                      <a:endParaRPr lang="zh-TW" altLang="en-US" baseline="0"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134</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2219457"/>
                  </a:ext>
                </a:extLst>
              </a:tr>
              <a:tr h="370840">
                <a:tc>
                  <a:txBody>
                    <a:bodyPr/>
                    <a:lstStyle/>
                    <a:p>
                      <a:r>
                        <a:rPr lang="en-US" altLang="zh-TW" baseline="0" dirty="0">
                          <a:latin typeface="Times New Roman" panose="02020603050405020304" pitchFamily="18" charset="0"/>
                          <a:cs typeface="Times New Roman" panose="02020603050405020304" pitchFamily="18" charset="0"/>
                        </a:rPr>
                        <a:t>L=2</a:t>
                      </a:r>
                      <a:endParaRPr lang="zh-TW" altLang="en-US" baseline="0"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56</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56</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56</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7129302"/>
                  </a:ext>
                </a:extLst>
              </a:tr>
              <a:tr h="370840">
                <a:tc>
                  <a:txBody>
                    <a:bodyPr/>
                    <a:lstStyle/>
                    <a:p>
                      <a:r>
                        <a:rPr lang="en-US" altLang="zh-TW" baseline="0" dirty="0">
                          <a:latin typeface="Times New Roman" panose="02020603050405020304" pitchFamily="18" charset="0"/>
                          <a:cs typeface="Times New Roman" panose="02020603050405020304" pitchFamily="18" charset="0"/>
                        </a:rPr>
                        <a:t>L=3</a:t>
                      </a:r>
                      <a:endParaRPr lang="zh-TW" altLang="en-US" baseline="0"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78</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78</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19220930"/>
                  </a:ext>
                </a:extLst>
              </a:tr>
              <a:tr h="370840">
                <a:tc>
                  <a:txBody>
                    <a:bodyPr/>
                    <a:lstStyle/>
                    <a:p>
                      <a:r>
                        <a:rPr lang="en-US" altLang="zh-TW" dirty="0">
                          <a:latin typeface="Times New Roman" panose="02020603050405020304" pitchFamily="18" charset="0"/>
                          <a:cs typeface="Times New Roman" panose="02020603050405020304" pitchFamily="18" charset="0"/>
                        </a:rPr>
                        <a:t>H</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34537661"/>
                  </a:ext>
                </a:extLst>
              </a:tr>
            </a:tbl>
          </a:graphicData>
        </a:graphic>
      </p:graphicFrame>
      <p:cxnSp>
        <p:nvCxnSpPr>
          <p:cNvPr id="26" name="直線接點 25">
            <a:extLst>
              <a:ext uri="{FF2B5EF4-FFF2-40B4-BE49-F238E27FC236}">
                <a16:creationId xmlns:a16="http://schemas.microsoft.com/office/drawing/2014/main" id="{7C4D8862-D38B-4183-A552-4D8FA45BE9AB}"/>
              </a:ext>
            </a:extLst>
          </p:cNvPr>
          <p:cNvCxnSpPr/>
          <p:nvPr/>
        </p:nvCxnSpPr>
        <p:spPr>
          <a:xfrm flipV="1">
            <a:off x="3661093" y="3347135"/>
            <a:ext cx="0" cy="553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7EE23E75-F03B-4CAA-AE13-ED4FDC70B26D}"/>
              </a:ext>
            </a:extLst>
          </p:cNvPr>
          <p:cNvCxnSpPr/>
          <p:nvPr/>
        </p:nvCxnSpPr>
        <p:spPr>
          <a:xfrm flipH="1">
            <a:off x="2796997" y="3347135"/>
            <a:ext cx="8640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723BDD69-0872-4C89-A433-BA860114F4B5}"/>
              </a:ext>
            </a:extLst>
          </p:cNvPr>
          <p:cNvCxnSpPr/>
          <p:nvPr/>
        </p:nvCxnSpPr>
        <p:spPr>
          <a:xfrm>
            <a:off x="2796997" y="3347135"/>
            <a:ext cx="0" cy="553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5321115E-F8E3-47BF-AB39-111352795D47}"/>
              </a:ext>
            </a:extLst>
          </p:cNvPr>
          <p:cNvCxnSpPr>
            <a:cxnSpLocks/>
          </p:cNvCxnSpPr>
          <p:nvPr/>
        </p:nvCxnSpPr>
        <p:spPr>
          <a:xfrm flipV="1">
            <a:off x="4358897" y="3469137"/>
            <a:ext cx="0" cy="43198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7F827DE1-C8C4-48C0-B8F0-C87400CC7E05}"/>
              </a:ext>
            </a:extLst>
          </p:cNvPr>
          <p:cNvCxnSpPr>
            <a:cxnSpLocks/>
          </p:cNvCxnSpPr>
          <p:nvPr/>
        </p:nvCxnSpPr>
        <p:spPr>
          <a:xfrm flipH="1">
            <a:off x="3577947" y="3469137"/>
            <a:ext cx="7920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563A8B97-AB5C-4728-AE1E-D00DA8E38897}"/>
              </a:ext>
            </a:extLst>
          </p:cNvPr>
          <p:cNvCxnSpPr>
            <a:cxnSpLocks/>
          </p:cNvCxnSpPr>
          <p:nvPr/>
        </p:nvCxnSpPr>
        <p:spPr>
          <a:xfrm>
            <a:off x="3566809" y="3469137"/>
            <a:ext cx="22277" cy="4269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線接點 42">
            <a:extLst>
              <a:ext uri="{FF2B5EF4-FFF2-40B4-BE49-F238E27FC236}">
                <a16:creationId xmlns:a16="http://schemas.microsoft.com/office/drawing/2014/main" id="{6F0C0324-3DCD-4203-85C7-AE023B3BC389}"/>
              </a:ext>
            </a:extLst>
          </p:cNvPr>
          <p:cNvCxnSpPr>
            <a:cxnSpLocks/>
          </p:cNvCxnSpPr>
          <p:nvPr/>
        </p:nvCxnSpPr>
        <p:spPr>
          <a:xfrm flipH="1" flipV="1">
            <a:off x="6087089" y="2814479"/>
            <a:ext cx="22276" cy="107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65E1EC6F-A7F4-44E2-9428-CE0B0E9A4964}"/>
              </a:ext>
            </a:extLst>
          </p:cNvPr>
          <p:cNvCxnSpPr>
            <a:cxnSpLocks/>
          </p:cNvCxnSpPr>
          <p:nvPr/>
        </p:nvCxnSpPr>
        <p:spPr>
          <a:xfrm flipH="1">
            <a:off x="2652981" y="2814479"/>
            <a:ext cx="34341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id="{BD9EB5B8-F102-42FC-A6A6-36294F257EA4}"/>
              </a:ext>
            </a:extLst>
          </p:cNvPr>
          <p:cNvCxnSpPr>
            <a:cxnSpLocks/>
          </p:cNvCxnSpPr>
          <p:nvPr/>
        </p:nvCxnSpPr>
        <p:spPr>
          <a:xfrm>
            <a:off x="2652981" y="2814479"/>
            <a:ext cx="0" cy="1073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線接點 52">
            <a:extLst>
              <a:ext uri="{FF2B5EF4-FFF2-40B4-BE49-F238E27FC236}">
                <a16:creationId xmlns:a16="http://schemas.microsoft.com/office/drawing/2014/main" id="{B4543A73-BAD8-44D5-9F50-AEA3DDE3C6CC}"/>
              </a:ext>
            </a:extLst>
          </p:cNvPr>
          <p:cNvCxnSpPr/>
          <p:nvPr/>
        </p:nvCxnSpPr>
        <p:spPr>
          <a:xfrm flipV="1">
            <a:off x="6757437" y="3360207"/>
            <a:ext cx="0" cy="553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線接點 53">
            <a:extLst>
              <a:ext uri="{FF2B5EF4-FFF2-40B4-BE49-F238E27FC236}">
                <a16:creationId xmlns:a16="http://schemas.microsoft.com/office/drawing/2014/main" id="{33C446C1-EF62-47F6-9AED-AE7610797F6D}"/>
              </a:ext>
            </a:extLst>
          </p:cNvPr>
          <p:cNvCxnSpPr>
            <a:cxnSpLocks/>
          </p:cNvCxnSpPr>
          <p:nvPr/>
        </p:nvCxnSpPr>
        <p:spPr>
          <a:xfrm flipH="1">
            <a:off x="3805109" y="3360207"/>
            <a:ext cx="29523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直線單箭頭接點 54">
            <a:extLst>
              <a:ext uri="{FF2B5EF4-FFF2-40B4-BE49-F238E27FC236}">
                <a16:creationId xmlns:a16="http://schemas.microsoft.com/office/drawing/2014/main" id="{25C42221-F517-4A97-96F8-CD5657C1994B}"/>
              </a:ext>
            </a:extLst>
          </p:cNvPr>
          <p:cNvCxnSpPr/>
          <p:nvPr/>
        </p:nvCxnSpPr>
        <p:spPr>
          <a:xfrm>
            <a:off x="3805109" y="3360207"/>
            <a:ext cx="0" cy="553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091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hidden"/>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3E3FA6F0-20DE-4A4D-A1CD-CAF7CBB178A9}"/>
              </a:ext>
            </a:extLst>
          </p:cNvPr>
          <p:cNvSpPr>
            <a:spLocks noGrp="1"/>
          </p:cNvSpPr>
          <p:nvPr>
            <p:ph idx="1"/>
          </p:nvPr>
        </p:nvSpPr>
        <p:spPr>
          <a:xfrm>
            <a:off x="457200" y="1166018"/>
            <a:ext cx="8229600" cy="4525963"/>
          </a:xfrm>
        </p:spPr>
        <p:txBody>
          <a:bodyPr>
            <a:normAutofit fontScale="85000" lnSpcReduction="10000"/>
          </a:bodyPr>
          <a:lstStyle/>
          <a:p>
            <a:r>
              <a:rPr lang="en-US" altLang="zh-TW" dirty="0">
                <a:effectLst/>
                <a:latin typeface="Times New Roman" panose="02020603050405020304" pitchFamily="18" charset="0"/>
              </a:rPr>
              <a:t>Step 1: Maintain l balanced binary search trees q</a:t>
            </a:r>
            <a:r>
              <a:rPr lang="en-US" altLang="zh-TW" baseline="-25000" dirty="0">
                <a:effectLst/>
                <a:latin typeface="Times New Roman" panose="02020603050405020304" pitchFamily="18" charset="0"/>
              </a:rPr>
              <a:t>1</a:t>
            </a:r>
            <a:r>
              <a:rPr lang="en-US" altLang="zh-TW" dirty="0">
                <a:effectLst/>
                <a:latin typeface="Times New Roman" panose="02020603050405020304" pitchFamily="18" charset="0"/>
              </a:rPr>
              <a:t>, q</a:t>
            </a:r>
            <a:r>
              <a:rPr lang="en-US" altLang="zh-TW" baseline="-25000" dirty="0">
                <a:effectLst/>
                <a:latin typeface="Times New Roman" panose="02020603050405020304" pitchFamily="18" charset="0"/>
              </a:rPr>
              <a:t>2</a:t>
            </a:r>
            <a:r>
              <a:rPr lang="en-US" altLang="zh-TW" dirty="0">
                <a:effectLst/>
                <a:latin typeface="Times New Roman" panose="02020603050405020304" pitchFamily="18" charset="0"/>
              </a:rPr>
              <a:t>, ..., </a:t>
            </a:r>
            <a:r>
              <a:rPr lang="en-US" altLang="zh-TW" dirty="0" err="1">
                <a:effectLst/>
                <a:latin typeface="Times New Roman" panose="02020603050405020304" pitchFamily="18" charset="0"/>
              </a:rPr>
              <a:t>q</a:t>
            </a:r>
            <a:r>
              <a:rPr lang="en-US" altLang="zh-TW" baseline="-25000" dirty="0" err="1">
                <a:effectLst/>
                <a:latin typeface="Times New Roman" panose="02020603050405020304" pitchFamily="18" charset="0"/>
              </a:rPr>
              <a:t>l</a:t>
            </a:r>
            <a:r>
              <a:rPr lang="en-US" altLang="zh-TW" dirty="0">
                <a:effectLst/>
                <a:latin typeface="Times New Roman" panose="02020603050405020304" pitchFamily="18" charset="0"/>
              </a:rPr>
              <a:t>, where each </a:t>
            </a:r>
            <a:r>
              <a:rPr lang="en-US" altLang="zh-TW" dirty="0" err="1">
                <a:effectLst/>
                <a:latin typeface="Times New Roman" panose="02020603050405020304" pitchFamily="18" charset="0"/>
              </a:rPr>
              <a:t>q</a:t>
            </a:r>
            <a:r>
              <a:rPr lang="en-US" altLang="zh-TW" baseline="-25000" dirty="0" err="1">
                <a:effectLst/>
                <a:latin typeface="Times New Roman" panose="02020603050405020304" pitchFamily="18" charset="0"/>
              </a:rPr>
              <a:t>j</a:t>
            </a:r>
            <a:r>
              <a:rPr lang="en-US" altLang="zh-TW" dirty="0">
                <a:effectLst/>
                <a:latin typeface="Times New Roman" panose="02020603050405020304" pitchFamily="18" charset="0"/>
              </a:rPr>
              <a:t>, 1 ≤ j ≤ l, records the ending numbers of all maximal IS,s with length j, and l denotes the length of the LIS.</a:t>
            </a:r>
          </a:p>
          <a:p>
            <a:r>
              <a:rPr lang="en-US" altLang="zh-TW" dirty="0">
                <a:effectLst/>
                <a:latin typeface="Times New Roman" panose="02020603050405020304" pitchFamily="18" charset="0"/>
              </a:rPr>
              <a:t>Step 2: Whenever an element a</a:t>
            </a:r>
            <a:r>
              <a:rPr lang="en-US" altLang="zh-TW" baseline="-25000" dirty="0">
                <a:effectLst/>
                <a:latin typeface="Times New Roman" panose="02020603050405020304" pitchFamily="18" charset="0"/>
              </a:rPr>
              <a:t>i</a:t>
            </a:r>
            <a:r>
              <a:rPr lang="en-US" altLang="zh-TW" dirty="0">
                <a:effectLst/>
                <a:latin typeface="Times New Roman" panose="02020603050405020304" pitchFamily="18" charset="0"/>
              </a:rPr>
              <a:t> is read, find the LIS ending at a</a:t>
            </a:r>
            <a:r>
              <a:rPr lang="en-US" altLang="zh-TW" baseline="-25000" dirty="0">
                <a:effectLst/>
                <a:latin typeface="Times New Roman" panose="02020603050405020304" pitchFamily="18" charset="0"/>
              </a:rPr>
              <a:t>i</a:t>
            </a:r>
            <a:r>
              <a:rPr lang="en-US" altLang="zh-TW" dirty="0">
                <a:effectLst/>
                <a:latin typeface="Times New Roman" panose="02020603050405020304" pitchFamily="18" charset="0"/>
              </a:rPr>
              <a:t> by the following steps.</a:t>
            </a:r>
          </a:p>
          <a:p>
            <a:r>
              <a:rPr lang="en-US" altLang="zh-TW" dirty="0">
                <a:effectLst/>
                <a:latin typeface="Times New Roman" panose="02020603050405020304" pitchFamily="18" charset="0"/>
              </a:rPr>
              <a:t>Step 2.1: If </a:t>
            </a:r>
            <a:r>
              <a:rPr lang="en-US" altLang="zh-TW" dirty="0" err="1">
                <a:effectLst/>
                <a:latin typeface="Times New Roman" panose="02020603050405020304" pitchFamily="18" charset="0"/>
              </a:rPr>
              <a:t>i</a:t>
            </a:r>
            <a:r>
              <a:rPr lang="en-US" altLang="zh-TW" dirty="0">
                <a:effectLst/>
                <a:latin typeface="Times New Roman" panose="02020603050405020304" pitchFamily="18" charset="0"/>
              </a:rPr>
              <a:t> = 1, we add a</a:t>
            </a:r>
            <a:r>
              <a:rPr lang="en-US" altLang="zh-TW" baseline="-25000" dirty="0">
                <a:effectLst/>
                <a:latin typeface="Times New Roman" panose="02020603050405020304" pitchFamily="18" charset="0"/>
              </a:rPr>
              <a:t>1</a:t>
            </a:r>
            <a:r>
              <a:rPr lang="en-US" altLang="zh-TW" dirty="0">
                <a:effectLst/>
                <a:latin typeface="Times New Roman" panose="02020603050405020304" pitchFamily="18" charset="0"/>
              </a:rPr>
              <a:t> into q</a:t>
            </a:r>
            <a:r>
              <a:rPr lang="en-US" altLang="zh-TW" baseline="-25000" dirty="0">
                <a:effectLst/>
                <a:latin typeface="Times New Roman" panose="02020603050405020304" pitchFamily="18" charset="0"/>
              </a:rPr>
              <a:t>1</a:t>
            </a:r>
            <a:r>
              <a:rPr lang="en-US" altLang="zh-TW" dirty="0">
                <a:effectLst/>
                <a:latin typeface="Times New Roman" panose="02020603050405020304" pitchFamily="18" charset="0"/>
              </a:rPr>
              <a:t> and set RIS to a</a:t>
            </a:r>
            <a:r>
              <a:rPr lang="en-US" altLang="zh-TW" baseline="-25000" dirty="0">
                <a:effectLst/>
                <a:latin typeface="Times New Roman" panose="02020603050405020304" pitchFamily="18" charset="0"/>
              </a:rPr>
              <a:t>1</a:t>
            </a:r>
            <a:r>
              <a:rPr lang="en-US" altLang="zh-TW" dirty="0">
                <a:effectLst/>
                <a:latin typeface="Times New Roman" panose="02020603050405020304" pitchFamily="18" charset="0"/>
              </a:rPr>
              <a:t>. Otherwise, perform binary search on the previous RIS to find the smallest element greater than or equal to a</a:t>
            </a:r>
            <a:r>
              <a:rPr lang="en-US" altLang="zh-TW" baseline="-25000" dirty="0">
                <a:effectLst/>
                <a:latin typeface="Times New Roman" panose="02020603050405020304" pitchFamily="18" charset="0"/>
              </a:rPr>
              <a:t>i</a:t>
            </a:r>
            <a:r>
              <a:rPr lang="en-US" altLang="zh-TW" dirty="0">
                <a:effectLst/>
                <a:latin typeface="Times New Roman" panose="02020603050405020304" pitchFamily="18" charset="0"/>
              </a:rPr>
              <a:t>. The position index of the found element is the length l</a:t>
            </a:r>
            <a:r>
              <a:rPr lang="en-US" altLang="zh-TW" baseline="-25000" dirty="0">
                <a:effectLst/>
                <a:latin typeface="Times New Roman" panose="02020603050405020304" pitchFamily="18" charset="0"/>
              </a:rPr>
              <a:t>i </a:t>
            </a:r>
            <a:r>
              <a:rPr lang="en-US" altLang="zh-TW" dirty="0">
                <a:effectLst/>
                <a:latin typeface="Times New Roman" panose="02020603050405020304" pitchFamily="18" charset="0"/>
              </a:rPr>
              <a:t>of the LIS ending at a</a:t>
            </a:r>
            <a:r>
              <a:rPr lang="en-US" altLang="zh-TW" baseline="-25000" dirty="0">
                <a:effectLst/>
                <a:latin typeface="Times New Roman" panose="02020603050405020304" pitchFamily="18" charset="0"/>
              </a:rPr>
              <a:t>i</a:t>
            </a:r>
            <a:r>
              <a:rPr lang="en-US" altLang="zh-TW" dirty="0">
                <a:effectLst/>
                <a:latin typeface="Times New Roman" panose="02020603050405020304" pitchFamily="18" charset="0"/>
              </a:rPr>
              <a:t>.</a:t>
            </a:r>
            <a:endParaRPr lang="zh-TW" altLang="en-US" dirty="0"/>
          </a:p>
        </p:txBody>
      </p:sp>
      <p:sp>
        <p:nvSpPr>
          <p:cNvPr id="4" name="標題 1">
            <a:extLst>
              <a:ext uri="{FF2B5EF4-FFF2-40B4-BE49-F238E27FC236}">
                <a16:creationId xmlns:a16="http://schemas.microsoft.com/office/drawing/2014/main" id="{59E70F25-E0AC-4EB6-8A02-8F71B23F66CD}"/>
              </a:ext>
            </a:extLst>
          </p:cNvPr>
          <p:cNvSpPr>
            <a:spLocks noGrp="1"/>
          </p:cNvSpPr>
          <p:nvPr>
            <p:ph type="title"/>
          </p:nvPr>
        </p:nvSpPr>
        <p:spPr>
          <a:xfrm>
            <a:off x="457200" y="274638"/>
            <a:ext cx="8229600" cy="1143000"/>
          </a:xfrm>
        </p:spPr>
        <p:txBody>
          <a:bodyPr>
            <a:normAutofit/>
          </a:bodyPr>
          <a:lstStyle/>
          <a:p>
            <a:pPr algn="l"/>
            <a:r>
              <a:rPr lang="en-US" altLang="zh-TW" dirty="0">
                <a:latin typeface="Times New Roman" pitchFamily="18" charset="0"/>
                <a:cs typeface="Times New Roman" pitchFamily="18" charset="0"/>
              </a:rPr>
              <a:t>Minimum Height LIS algorithm</a:t>
            </a:r>
            <a:endParaRPr lang="zh-TW" altLang="en-US"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14282" y="1571612"/>
            <a:ext cx="8472518" cy="4757758"/>
          </a:xfrm>
        </p:spPr>
        <p:txBody>
          <a:bodyPr>
            <a:normAutofit/>
          </a:bodyPr>
          <a:lstStyle/>
          <a:p>
            <a:pPr marL="342900" lvl="1" indent="-342900">
              <a:buFont typeface="Arial" pitchFamily="34" charset="0"/>
              <a:buChar char="•"/>
            </a:pPr>
            <a:r>
              <a:rPr lang="en-US" altLang="zh-TW" sz="2700" dirty="0">
                <a:effectLst/>
                <a:latin typeface="Times New Roman" panose="02020603050405020304" pitchFamily="18" charset="0"/>
                <a:cs typeface="Times New Roman" panose="02020603050405020304" pitchFamily="18" charset="0"/>
              </a:rPr>
              <a:t>Step 2.2: Add a</a:t>
            </a:r>
            <a:r>
              <a:rPr lang="en-US" altLang="zh-TW" sz="2700" baseline="-25000" dirty="0">
                <a:effectLst/>
                <a:latin typeface="Times New Roman" panose="02020603050405020304" pitchFamily="18" charset="0"/>
                <a:cs typeface="Times New Roman" panose="02020603050405020304" pitchFamily="18" charset="0"/>
              </a:rPr>
              <a:t>i </a:t>
            </a:r>
            <a:r>
              <a:rPr lang="en-US" altLang="zh-TW" sz="2700" dirty="0">
                <a:effectLst/>
                <a:latin typeface="Times New Roman" panose="02020603050405020304" pitchFamily="18" charset="0"/>
                <a:cs typeface="Times New Roman" panose="02020603050405020304" pitchFamily="18" charset="0"/>
              </a:rPr>
              <a:t>to </a:t>
            </a:r>
            <a:r>
              <a:rPr lang="en-US" altLang="zh-TW" sz="2700" dirty="0" err="1">
                <a:effectLst/>
                <a:latin typeface="Times New Roman" panose="02020603050405020304" pitchFamily="18" charset="0"/>
                <a:cs typeface="Times New Roman" panose="02020603050405020304" pitchFamily="18" charset="0"/>
              </a:rPr>
              <a:t>q</a:t>
            </a:r>
            <a:r>
              <a:rPr lang="en-US" altLang="zh-TW" sz="2700" baseline="-25000" dirty="0" err="1">
                <a:effectLst/>
                <a:latin typeface="Times New Roman" panose="02020603050405020304" pitchFamily="18" charset="0"/>
                <a:cs typeface="Times New Roman" panose="02020603050405020304" pitchFamily="18" charset="0"/>
              </a:rPr>
              <a:t>l</a:t>
            </a:r>
            <a:r>
              <a:rPr lang="en-US" altLang="zh-TW" sz="2700" baseline="-50000" dirty="0" err="1">
                <a:effectLst/>
                <a:latin typeface="Times New Roman" panose="02020603050405020304" pitchFamily="18" charset="0"/>
                <a:cs typeface="Times New Roman" panose="02020603050405020304" pitchFamily="18" charset="0"/>
              </a:rPr>
              <a:t>i</a:t>
            </a:r>
            <a:r>
              <a:rPr lang="en-US" altLang="zh-TW" sz="2700" dirty="0">
                <a:effectLst/>
                <a:latin typeface="Times New Roman" panose="02020603050405020304" pitchFamily="18" charset="0"/>
                <a:cs typeface="Times New Roman" panose="02020603050405020304" pitchFamily="18" charset="0"/>
              </a:rPr>
              <a:t>. If l</a:t>
            </a:r>
            <a:r>
              <a:rPr lang="en-US" altLang="zh-TW" sz="2700" baseline="-25000" dirty="0">
                <a:effectLst/>
                <a:latin typeface="Times New Roman" panose="02020603050405020304" pitchFamily="18" charset="0"/>
                <a:cs typeface="Times New Roman" panose="02020603050405020304" pitchFamily="18" charset="0"/>
              </a:rPr>
              <a:t>i</a:t>
            </a:r>
            <a:r>
              <a:rPr lang="en-US" altLang="zh-TW" sz="2700" dirty="0">
                <a:effectLst/>
                <a:latin typeface="Times New Roman" panose="02020603050405020304" pitchFamily="18" charset="0"/>
                <a:cs typeface="Times New Roman" panose="02020603050405020304" pitchFamily="18" charset="0"/>
              </a:rPr>
              <a:t> is greater than 1, suppose the predecessor of a</a:t>
            </a:r>
            <a:r>
              <a:rPr lang="en-US" altLang="zh-TW" sz="2700" baseline="-25000" dirty="0">
                <a:effectLst/>
                <a:latin typeface="Times New Roman" panose="02020603050405020304" pitchFamily="18" charset="0"/>
                <a:cs typeface="Times New Roman" panose="02020603050405020304" pitchFamily="18" charset="0"/>
              </a:rPr>
              <a:t>i</a:t>
            </a:r>
            <a:r>
              <a:rPr lang="en-US" altLang="zh-TW" sz="2700" dirty="0">
                <a:effectLst/>
                <a:latin typeface="Times New Roman" panose="02020603050405020304" pitchFamily="18" charset="0"/>
                <a:cs typeface="Times New Roman" panose="02020603050405020304" pitchFamily="18" charset="0"/>
              </a:rPr>
              <a:t> in </a:t>
            </a:r>
            <a:r>
              <a:rPr lang="en-US" altLang="zh-TW" sz="2700" dirty="0" err="1">
                <a:effectLst/>
                <a:latin typeface="Times New Roman" panose="02020603050405020304" pitchFamily="18" charset="0"/>
                <a:cs typeface="Times New Roman" panose="02020603050405020304" pitchFamily="18" charset="0"/>
              </a:rPr>
              <a:t>q</a:t>
            </a:r>
            <a:r>
              <a:rPr lang="en-US" altLang="zh-TW" sz="2700" baseline="-25000" dirty="0" err="1">
                <a:effectLst/>
                <a:latin typeface="Times New Roman" panose="02020603050405020304" pitchFamily="18" charset="0"/>
                <a:cs typeface="Times New Roman" panose="02020603050405020304" pitchFamily="18" charset="0"/>
              </a:rPr>
              <a:t>l</a:t>
            </a:r>
            <a:r>
              <a:rPr lang="en-US" altLang="zh-TW" sz="2700" baseline="-50000" dirty="0" err="1">
                <a:effectLst/>
                <a:latin typeface="Times New Roman" panose="02020603050405020304" pitchFamily="18" charset="0"/>
                <a:cs typeface="Times New Roman" panose="02020603050405020304" pitchFamily="18" charset="0"/>
              </a:rPr>
              <a:t>i</a:t>
            </a:r>
            <a:r>
              <a:rPr lang="zh-TW" altLang="en-US" sz="2700" dirty="0">
                <a:effectLst/>
                <a:latin typeface="Times New Roman" panose="02020603050405020304" pitchFamily="18" charset="0"/>
                <a:cs typeface="Times New Roman" panose="02020603050405020304" pitchFamily="18" charset="0"/>
              </a:rPr>
              <a:t>－</a:t>
            </a:r>
            <a:r>
              <a:rPr lang="en-US" altLang="zh-TW" sz="2700" dirty="0">
                <a:effectLst/>
                <a:latin typeface="Times New Roman" panose="02020603050405020304" pitchFamily="18" charset="0"/>
                <a:cs typeface="Times New Roman" panose="02020603050405020304" pitchFamily="18" charset="0"/>
              </a:rPr>
              <a:t>1 is p</a:t>
            </a:r>
            <a:r>
              <a:rPr lang="en-US" altLang="zh-TW" sz="2700" baseline="-25000" dirty="0">
                <a:effectLst/>
                <a:latin typeface="Times New Roman" panose="02020603050405020304" pitchFamily="18" charset="0"/>
                <a:cs typeface="Times New Roman" panose="02020603050405020304" pitchFamily="18" charset="0"/>
              </a:rPr>
              <a:t>i</a:t>
            </a:r>
            <a:r>
              <a:rPr lang="en-US" altLang="zh-TW" sz="2700" dirty="0">
                <a:effectLst/>
                <a:latin typeface="Times New Roman" panose="02020603050405020304" pitchFamily="18" charset="0"/>
                <a:cs typeface="Times New Roman" panose="02020603050405020304" pitchFamily="18" charset="0"/>
              </a:rPr>
              <a:t>, record the predecessor of a</a:t>
            </a:r>
            <a:r>
              <a:rPr lang="en-US" altLang="zh-TW" sz="2700" baseline="-25000" dirty="0">
                <a:effectLst/>
                <a:latin typeface="Times New Roman" panose="02020603050405020304" pitchFamily="18" charset="0"/>
                <a:cs typeface="Times New Roman" panose="02020603050405020304" pitchFamily="18" charset="0"/>
              </a:rPr>
              <a:t>i</a:t>
            </a:r>
            <a:r>
              <a:rPr lang="en-US" altLang="zh-TW" sz="2700" dirty="0">
                <a:effectLst/>
                <a:latin typeface="Times New Roman" panose="02020603050405020304" pitchFamily="18" charset="0"/>
                <a:cs typeface="Times New Roman" panose="02020603050405020304" pitchFamily="18" charset="0"/>
              </a:rPr>
              <a:t> in the MHLIS ending at a</a:t>
            </a:r>
            <a:r>
              <a:rPr lang="en-US" altLang="zh-TW" sz="2700" baseline="-25000" dirty="0">
                <a:effectLst/>
                <a:latin typeface="Times New Roman" panose="02020603050405020304" pitchFamily="18" charset="0"/>
                <a:cs typeface="Times New Roman" panose="02020603050405020304" pitchFamily="18" charset="0"/>
              </a:rPr>
              <a:t>i</a:t>
            </a:r>
            <a:r>
              <a:rPr lang="en-US" altLang="zh-TW" sz="2700" dirty="0">
                <a:effectLst/>
                <a:latin typeface="Times New Roman" panose="02020603050405020304" pitchFamily="18" charset="0"/>
                <a:cs typeface="Times New Roman" panose="02020603050405020304" pitchFamily="18" charset="0"/>
              </a:rPr>
              <a:t> as p</a:t>
            </a:r>
            <a:r>
              <a:rPr lang="en-US" altLang="zh-TW" sz="2700" baseline="-25000" dirty="0">
                <a:effectLst/>
                <a:latin typeface="Times New Roman" panose="02020603050405020304" pitchFamily="18" charset="0"/>
                <a:cs typeface="Times New Roman" panose="02020603050405020304" pitchFamily="18" charset="0"/>
              </a:rPr>
              <a:t>i</a:t>
            </a:r>
            <a:r>
              <a:rPr lang="en-US" altLang="zh-TW" sz="2700" dirty="0">
                <a:effectLst/>
                <a:latin typeface="Times New Roman" panose="02020603050405020304" pitchFamily="18" charset="0"/>
                <a:cs typeface="Times New Roman" panose="02020603050405020304" pitchFamily="18" charset="0"/>
              </a:rPr>
              <a:t>.</a:t>
            </a:r>
          </a:p>
          <a:p>
            <a:pPr marL="342900" lvl="1" indent="-342900">
              <a:buFont typeface="Arial" pitchFamily="34" charset="0"/>
              <a:buChar char="•"/>
            </a:pPr>
            <a:r>
              <a:rPr lang="en-US" altLang="zh-TW" sz="2700" dirty="0">
                <a:effectLst/>
                <a:latin typeface="Times New Roman" panose="02020603050405020304" pitchFamily="18" charset="0"/>
                <a:cs typeface="Times New Roman" panose="02020603050405020304" pitchFamily="18" charset="0"/>
              </a:rPr>
              <a:t>Step 2.3: Insert a</a:t>
            </a:r>
            <a:r>
              <a:rPr lang="en-US" altLang="zh-TW" sz="2700" baseline="-25000" dirty="0">
                <a:effectLst/>
                <a:latin typeface="Times New Roman" panose="02020603050405020304" pitchFamily="18" charset="0"/>
                <a:cs typeface="Times New Roman" panose="02020603050405020304" pitchFamily="18" charset="0"/>
              </a:rPr>
              <a:t>i</a:t>
            </a:r>
            <a:r>
              <a:rPr lang="en-US" altLang="zh-TW" sz="2700" dirty="0">
                <a:effectLst/>
                <a:latin typeface="Times New Roman" panose="02020603050405020304" pitchFamily="18" charset="0"/>
                <a:cs typeface="Times New Roman" panose="02020603050405020304" pitchFamily="18" charset="0"/>
              </a:rPr>
              <a:t> into the previous RIS. </a:t>
            </a:r>
            <a:endParaRPr lang="en-US" altLang="zh-TW" sz="2700" dirty="0">
              <a:latin typeface="Times New Roman" panose="02020603050405020304" pitchFamily="18" charset="0"/>
              <a:ea typeface="標楷體" pitchFamily="65" charset="-120"/>
              <a:cs typeface="Times New Roman" pitchFamily="18" charset="0"/>
            </a:endParaRPr>
          </a:p>
        </p:txBody>
      </p:sp>
      <p:graphicFrame>
        <p:nvGraphicFramePr>
          <p:cNvPr id="5" name="物件 4"/>
          <p:cNvGraphicFramePr>
            <a:graphicFrameLocks noChangeAspect="1"/>
          </p:cNvGraphicFramePr>
          <p:nvPr/>
        </p:nvGraphicFramePr>
        <p:xfrm>
          <a:off x="6553200" y="2862263"/>
          <a:ext cx="101600" cy="215900"/>
        </p:xfrm>
        <a:graphic>
          <a:graphicData uri="http://schemas.openxmlformats.org/presentationml/2006/ole">
            <mc:AlternateContent xmlns:mc="http://schemas.openxmlformats.org/markup-compatibility/2006">
              <mc:Choice xmlns:v="urn:schemas-microsoft-com:vml" Requires="v">
                <p:oleObj spid="_x0000_s17464" name="Equation" r:id="rId3" imgW="101520" imgH="215640" progId="Equation.DSMT4">
                  <p:embed/>
                </p:oleObj>
              </mc:Choice>
              <mc:Fallback>
                <p:oleObj name="Equation" r:id="rId3" imgW="101520" imgH="21564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2862263"/>
                        <a:ext cx="1016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標題 1">
            <a:extLst>
              <a:ext uri="{FF2B5EF4-FFF2-40B4-BE49-F238E27FC236}">
                <a16:creationId xmlns:a16="http://schemas.microsoft.com/office/drawing/2014/main" id="{18C53468-2C95-4BD4-B49E-1432FD5CB032}"/>
              </a:ext>
            </a:extLst>
          </p:cNvPr>
          <p:cNvSpPr>
            <a:spLocks noGrp="1"/>
          </p:cNvSpPr>
          <p:nvPr>
            <p:ph type="title"/>
          </p:nvPr>
        </p:nvSpPr>
        <p:spPr>
          <a:xfrm>
            <a:off x="457200" y="274638"/>
            <a:ext cx="8229600" cy="1143000"/>
          </a:xfrm>
        </p:spPr>
        <p:txBody>
          <a:bodyPr>
            <a:normAutofit/>
          </a:bodyPr>
          <a:lstStyle/>
          <a:p>
            <a:pPr algn="l"/>
            <a:r>
              <a:rPr lang="en-US" altLang="zh-TW" dirty="0">
                <a:latin typeface="Times New Roman" pitchFamily="18" charset="0"/>
                <a:cs typeface="Times New Roman" pitchFamily="18" charset="0"/>
              </a:rPr>
              <a:t>Minimum Height LIS algorithm</a:t>
            </a:r>
            <a:endParaRPr lang="zh-TW" altLang="en-US"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內容版面配置區 6">
            <a:extLst>
              <a:ext uri="{FF2B5EF4-FFF2-40B4-BE49-F238E27FC236}">
                <a16:creationId xmlns:a16="http://schemas.microsoft.com/office/drawing/2014/main" id="{507B7669-5B07-468E-9241-6AB457DA1E03}"/>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S=7437315798</a:t>
            </a:r>
          </a:p>
          <a:p>
            <a:r>
              <a:rPr lang="en-US" altLang="zh-TW" dirty="0">
                <a:latin typeface="Times New Roman" panose="02020603050405020304" pitchFamily="18" charset="0"/>
                <a:cs typeface="Times New Roman" panose="02020603050405020304" pitchFamily="18" charset="0"/>
              </a:rPr>
              <a:t>C=37</a:t>
            </a:r>
          </a:p>
          <a:p>
            <a:r>
              <a:rPr lang="en-US" altLang="zh-TW" dirty="0">
                <a:latin typeface="Times New Roman" panose="02020603050405020304" pitchFamily="18" charset="0"/>
                <a:cs typeface="Times New Roman" panose="02020603050405020304" pitchFamily="18" charset="0"/>
              </a:rPr>
              <a:t>O(n * (log |C| + log n))</a:t>
            </a:r>
            <a:endParaRPr lang="zh-TW" altLang="en-US" baseline="-25000" dirty="0">
              <a:latin typeface="Times New Roman" panose="02020603050405020304" pitchFamily="18" charset="0"/>
              <a:cs typeface="Times New Roman" panose="02020603050405020304" pitchFamily="18" charset="0"/>
            </a:endParaRPr>
          </a:p>
        </p:txBody>
      </p:sp>
      <p:sp>
        <p:nvSpPr>
          <p:cNvPr id="4" name="標題 1">
            <a:extLst>
              <a:ext uri="{FF2B5EF4-FFF2-40B4-BE49-F238E27FC236}">
                <a16:creationId xmlns:a16="http://schemas.microsoft.com/office/drawing/2014/main" id="{3583C5A0-8009-4BA8-AA23-3B134E02E7A2}"/>
              </a:ext>
            </a:extLst>
          </p:cNvPr>
          <p:cNvSpPr>
            <a:spLocks noGrp="1"/>
          </p:cNvSpPr>
          <p:nvPr>
            <p:ph type="title"/>
          </p:nvPr>
        </p:nvSpPr>
        <p:spPr>
          <a:xfrm>
            <a:off x="457200" y="274638"/>
            <a:ext cx="8229600" cy="1143000"/>
          </a:xfrm>
        </p:spPr>
        <p:txBody>
          <a:bodyPr>
            <a:normAutofit fontScale="90000"/>
          </a:bodyPr>
          <a:lstStyle/>
          <a:p>
            <a:pPr algn="l"/>
            <a:r>
              <a:rPr lang="en-US" altLang="zh-TW" dirty="0">
                <a:latin typeface="Times New Roman" pitchFamily="18" charset="0"/>
                <a:cs typeface="Times New Roman" pitchFamily="18" charset="0"/>
              </a:rPr>
              <a:t>Sequence Constrained LIS algorithm</a:t>
            </a:r>
            <a:endParaRPr lang="zh-TW" altLang="en-US" dirty="0">
              <a:latin typeface="Times New Roman" pitchFamily="18" charset="0"/>
              <a:cs typeface="Times New Roman" pitchFamily="18" charset="0"/>
            </a:endParaRPr>
          </a:p>
        </p:txBody>
      </p:sp>
      <p:graphicFrame>
        <p:nvGraphicFramePr>
          <p:cNvPr id="8" name="表格 5">
            <a:extLst>
              <a:ext uri="{FF2B5EF4-FFF2-40B4-BE49-F238E27FC236}">
                <a16:creationId xmlns:a16="http://schemas.microsoft.com/office/drawing/2014/main" id="{C779D31B-C338-4371-A35A-45359F269904}"/>
              </a:ext>
            </a:extLst>
          </p:cNvPr>
          <p:cNvGraphicFramePr>
            <a:graphicFrameLocks/>
          </p:cNvGraphicFramePr>
          <p:nvPr>
            <p:extLst>
              <p:ext uri="{D42A27DB-BD31-4B8C-83A1-F6EECF244321}">
                <p14:modId xmlns:p14="http://schemas.microsoft.com/office/powerpoint/2010/main" val="1052060168"/>
              </p:ext>
            </p:extLst>
          </p:nvPr>
        </p:nvGraphicFramePr>
        <p:xfrm>
          <a:off x="457200" y="4149080"/>
          <a:ext cx="8229595" cy="1483360"/>
        </p:xfrm>
        <a:graphic>
          <a:graphicData uri="http://schemas.openxmlformats.org/drawingml/2006/table">
            <a:tbl>
              <a:tblPr firstRow="1" bandRow="1">
                <a:tableStyleId>{5C22544A-7EE6-4342-B048-85BDC9FD1C3A}</a:tableStyleId>
              </a:tblPr>
              <a:tblGrid>
                <a:gridCol w="748145">
                  <a:extLst>
                    <a:ext uri="{9D8B030D-6E8A-4147-A177-3AD203B41FA5}">
                      <a16:colId xmlns:a16="http://schemas.microsoft.com/office/drawing/2014/main" val="1808267672"/>
                    </a:ext>
                  </a:extLst>
                </a:gridCol>
                <a:gridCol w="748145">
                  <a:extLst>
                    <a:ext uri="{9D8B030D-6E8A-4147-A177-3AD203B41FA5}">
                      <a16:colId xmlns:a16="http://schemas.microsoft.com/office/drawing/2014/main" val="4172359190"/>
                    </a:ext>
                  </a:extLst>
                </a:gridCol>
                <a:gridCol w="748145">
                  <a:extLst>
                    <a:ext uri="{9D8B030D-6E8A-4147-A177-3AD203B41FA5}">
                      <a16:colId xmlns:a16="http://schemas.microsoft.com/office/drawing/2014/main" val="1197584997"/>
                    </a:ext>
                  </a:extLst>
                </a:gridCol>
                <a:gridCol w="748145">
                  <a:extLst>
                    <a:ext uri="{9D8B030D-6E8A-4147-A177-3AD203B41FA5}">
                      <a16:colId xmlns:a16="http://schemas.microsoft.com/office/drawing/2014/main" val="188366811"/>
                    </a:ext>
                  </a:extLst>
                </a:gridCol>
                <a:gridCol w="748145">
                  <a:extLst>
                    <a:ext uri="{9D8B030D-6E8A-4147-A177-3AD203B41FA5}">
                      <a16:colId xmlns:a16="http://schemas.microsoft.com/office/drawing/2014/main" val="1354985698"/>
                    </a:ext>
                  </a:extLst>
                </a:gridCol>
                <a:gridCol w="748145">
                  <a:extLst>
                    <a:ext uri="{9D8B030D-6E8A-4147-A177-3AD203B41FA5}">
                      <a16:colId xmlns:a16="http://schemas.microsoft.com/office/drawing/2014/main" val="906655346"/>
                    </a:ext>
                  </a:extLst>
                </a:gridCol>
                <a:gridCol w="748145">
                  <a:extLst>
                    <a:ext uri="{9D8B030D-6E8A-4147-A177-3AD203B41FA5}">
                      <a16:colId xmlns:a16="http://schemas.microsoft.com/office/drawing/2014/main" val="4263088668"/>
                    </a:ext>
                  </a:extLst>
                </a:gridCol>
                <a:gridCol w="748145">
                  <a:extLst>
                    <a:ext uri="{9D8B030D-6E8A-4147-A177-3AD203B41FA5}">
                      <a16:colId xmlns:a16="http://schemas.microsoft.com/office/drawing/2014/main" val="3091573238"/>
                    </a:ext>
                  </a:extLst>
                </a:gridCol>
                <a:gridCol w="748145">
                  <a:extLst>
                    <a:ext uri="{9D8B030D-6E8A-4147-A177-3AD203B41FA5}">
                      <a16:colId xmlns:a16="http://schemas.microsoft.com/office/drawing/2014/main" val="1518685199"/>
                    </a:ext>
                  </a:extLst>
                </a:gridCol>
                <a:gridCol w="748145">
                  <a:extLst>
                    <a:ext uri="{9D8B030D-6E8A-4147-A177-3AD203B41FA5}">
                      <a16:colId xmlns:a16="http://schemas.microsoft.com/office/drawing/2014/main" val="1490656676"/>
                    </a:ext>
                  </a:extLst>
                </a:gridCol>
                <a:gridCol w="748145">
                  <a:extLst>
                    <a:ext uri="{9D8B030D-6E8A-4147-A177-3AD203B41FA5}">
                      <a16:colId xmlns:a16="http://schemas.microsoft.com/office/drawing/2014/main" val="2872913778"/>
                    </a:ext>
                  </a:extLst>
                </a:gridCol>
              </a:tblGrid>
              <a:tr h="370840">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98164380"/>
                  </a:ext>
                </a:extLst>
              </a:tr>
              <a:tr h="370840">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9013632"/>
                  </a:ext>
                </a:extLst>
              </a:tr>
              <a:tr h="370840">
                <a:tc>
                  <a:txBody>
                    <a:bodyPr/>
                    <a:lstStyle/>
                    <a:p>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35</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15696523"/>
                  </a:ext>
                </a:extLst>
              </a:tr>
              <a:tr h="370840">
                <a:tc>
                  <a:txBody>
                    <a:bodyPr/>
                    <a:lstStyle/>
                    <a:p>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79</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78</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15329879"/>
                  </a:ext>
                </a:extLst>
              </a:tr>
            </a:tbl>
          </a:graphicData>
        </a:graphic>
      </p:graphicFrame>
      <p:cxnSp>
        <p:nvCxnSpPr>
          <p:cNvPr id="10" name="接點: 肘形 9">
            <a:extLst>
              <a:ext uri="{FF2B5EF4-FFF2-40B4-BE49-F238E27FC236}">
                <a16:creationId xmlns:a16="http://schemas.microsoft.com/office/drawing/2014/main" id="{BE0B122C-73C6-4839-A6B6-EF263BCD4276}"/>
              </a:ext>
            </a:extLst>
          </p:cNvPr>
          <p:cNvCxnSpPr>
            <a:cxnSpLocks/>
          </p:cNvCxnSpPr>
          <p:nvPr/>
        </p:nvCxnSpPr>
        <p:spPr>
          <a:xfrm rot="10800000">
            <a:off x="3059832" y="3573016"/>
            <a:ext cx="720080" cy="576064"/>
          </a:xfrm>
          <a:prstGeom prst="bentConnector3">
            <a:avLst>
              <a:gd name="adj1" fmla="val 617"/>
            </a:avLst>
          </a:prstGeom>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F5B1BA32-C8AB-42F4-AF0F-EB2FE1B57544}"/>
              </a:ext>
            </a:extLst>
          </p:cNvPr>
          <p:cNvCxnSpPr/>
          <p:nvPr/>
        </p:nvCxnSpPr>
        <p:spPr>
          <a:xfrm>
            <a:off x="3059832" y="3573016"/>
            <a:ext cx="0" cy="576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接點: 肘形 16">
            <a:extLst>
              <a:ext uri="{FF2B5EF4-FFF2-40B4-BE49-F238E27FC236}">
                <a16:creationId xmlns:a16="http://schemas.microsoft.com/office/drawing/2014/main" id="{6DAF5F6D-7482-4FDA-A1D2-FC0C7AC27A15}"/>
              </a:ext>
            </a:extLst>
          </p:cNvPr>
          <p:cNvCxnSpPr>
            <a:cxnSpLocks/>
          </p:cNvCxnSpPr>
          <p:nvPr/>
        </p:nvCxnSpPr>
        <p:spPr>
          <a:xfrm rot="10800000">
            <a:off x="4571997" y="3573016"/>
            <a:ext cx="1512172" cy="580182"/>
          </a:xfrm>
          <a:prstGeom prst="bentConnector3">
            <a:avLst>
              <a:gd name="adj1" fmla="val 1289"/>
            </a:avLst>
          </a:prstGeom>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14CFDC60-8C5F-43DB-B0BF-37674C1A5B76}"/>
              </a:ext>
            </a:extLst>
          </p:cNvPr>
          <p:cNvCxnSpPr/>
          <p:nvPr/>
        </p:nvCxnSpPr>
        <p:spPr>
          <a:xfrm>
            <a:off x="4572000" y="3573016"/>
            <a:ext cx="0" cy="576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接點: 肘形 20">
            <a:extLst>
              <a:ext uri="{FF2B5EF4-FFF2-40B4-BE49-F238E27FC236}">
                <a16:creationId xmlns:a16="http://schemas.microsoft.com/office/drawing/2014/main" id="{3FDF63D2-9AAD-4719-945B-D9842A2970D2}"/>
              </a:ext>
            </a:extLst>
          </p:cNvPr>
          <p:cNvCxnSpPr>
            <a:cxnSpLocks/>
          </p:cNvCxnSpPr>
          <p:nvPr/>
        </p:nvCxnSpPr>
        <p:spPr>
          <a:xfrm rot="10800000">
            <a:off x="6156173" y="3573016"/>
            <a:ext cx="720080" cy="576064"/>
          </a:xfrm>
          <a:prstGeom prst="bentConnector3">
            <a:avLst>
              <a:gd name="adj1" fmla="val 617"/>
            </a:avLst>
          </a:prstGeom>
        </p:spPr>
        <p:style>
          <a:lnRef idx="1">
            <a:schemeClr val="accent1"/>
          </a:lnRef>
          <a:fillRef idx="0">
            <a:schemeClr val="accent1"/>
          </a:fillRef>
          <a:effectRef idx="0">
            <a:schemeClr val="accent1"/>
          </a:effectRef>
          <a:fontRef idx="minor">
            <a:schemeClr val="tx1"/>
          </a:fontRef>
        </p:style>
      </p:cxnSp>
      <p:cxnSp>
        <p:nvCxnSpPr>
          <p:cNvPr id="22" name="直線單箭頭接點 21">
            <a:extLst>
              <a:ext uri="{FF2B5EF4-FFF2-40B4-BE49-F238E27FC236}">
                <a16:creationId xmlns:a16="http://schemas.microsoft.com/office/drawing/2014/main" id="{BF0D546B-6D6F-47F1-B999-81E36E0F98B8}"/>
              </a:ext>
            </a:extLst>
          </p:cNvPr>
          <p:cNvCxnSpPr/>
          <p:nvPr/>
        </p:nvCxnSpPr>
        <p:spPr>
          <a:xfrm>
            <a:off x="6156173" y="3573016"/>
            <a:ext cx="0" cy="576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接點: 肘形 22">
            <a:extLst>
              <a:ext uri="{FF2B5EF4-FFF2-40B4-BE49-F238E27FC236}">
                <a16:creationId xmlns:a16="http://schemas.microsoft.com/office/drawing/2014/main" id="{1BAC527D-ED18-498F-A2E0-D68ED75E2E8A}"/>
              </a:ext>
            </a:extLst>
          </p:cNvPr>
          <p:cNvCxnSpPr>
            <a:cxnSpLocks/>
          </p:cNvCxnSpPr>
          <p:nvPr/>
        </p:nvCxnSpPr>
        <p:spPr>
          <a:xfrm rot="10800000">
            <a:off x="6940357" y="3573016"/>
            <a:ext cx="720080" cy="576064"/>
          </a:xfrm>
          <a:prstGeom prst="bentConnector3">
            <a:avLst>
              <a:gd name="adj1" fmla="val 617"/>
            </a:avLst>
          </a:prstGeom>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A03F451B-50EA-4EC0-BFBA-BBE38308BDB0}"/>
              </a:ext>
            </a:extLst>
          </p:cNvPr>
          <p:cNvCxnSpPr/>
          <p:nvPr/>
        </p:nvCxnSpPr>
        <p:spPr>
          <a:xfrm>
            <a:off x="6940357" y="3573016"/>
            <a:ext cx="0" cy="576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接點: 肘形 24">
            <a:extLst>
              <a:ext uri="{FF2B5EF4-FFF2-40B4-BE49-F238E27FC236}">
                <a16:creationId xmlns:a16="http://schemas.microsoft.com/office/drawing/2014/main" id="{B27D38A3-C2BC-4865-B0A3-CF1F4D86220B}"/>
              </a:ext>
            </a:extLst>
          </p:cNvPr>
          <p:cNvCxnSpPr>
            <a:cxnSpLocks/>
          </p:cNvCxnSpPr>
          <p:nvPr/>
        </p:nvCxnSpPr>
        <p:spPr>
          <a:xfrm rot="10800000">
            <a:off x="6665398" y="3079293"/>
            <a:ext cx="1693409" cy="1069786"/>
          </a:xfrm>
          <a:prstGeom prst="bentConnector3">
            <a:avLst>
              <a:gd name="adj1" fmla="val 502"/>
            </a:avLst>
          </a:prstGeom>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30F9F789-00FF-4715-A73F-C727073E69E9}"/>
              </a:ext>
            </a:extLst>
          </p:cNvPr>
          <p:cNvCxnSpPr>
            <a:cxnSpLocks/>
          </p:cNvCxnSpPr>
          <p:nvPr/>
        </p:nvCxnSpPr>
        <p:spPr>
          <a:xfrm>
            <a:off x="6665402" y="3079293"/>
            <a:ext cx="0" cy="1069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8608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F5577857-18CD-4003-A0ED-A519AE2BB00D}"/>
              </a:ext>
            </a:extLst>
          </p:cNvPr>
          <p:cNvSpPr>
            <a:spLocks noGrp="1"/>
          </p:cNvSpPr>
          <p:nvPr>
            <p:ph idx="1"/>
          </p:nvPr>
        </p:nvSpPr>
        <p:spPr/>
        <p:txBody>
          <a:bodyPr>
            <a:normAutofit lnSpcReduction="10000"/>
          </a:bodyPr>
          <a:lstStyle/>
          <a:p>
            <a:r>
              <a:rPr lang="en-US" altLang="zh-TW" dirty="0">
                <a:latin typeface="Times New Roman" panose="02020603050405020304" pitchFamily="18" charset="0"/>
                <a:cs typeface="Times New Roman" panose="02020603050405020304" pitchFamily="18" charset="0"/>
              </a:rPr>
              <a:t>Step1: Find the position of e in C. If e = c</a:t>
            </a:r>
            <a:r>
              <a:rPr lang="en-US" altLang="zh-TW" baseline="-25000"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go to step 2.1. If it is between c</a:t>
            </a:r>
            <a:r>
              <a:rPr lang="en-US" altLang="zh-TW" baseline="-25000"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and c</a:t>
            </a:r>
            <a:r>
              <a:rPr lang="en-US" altLang="zh-TW" baseline="-25000" dirty="0">
                <a:latin typeface="Times New Roman" panose="02020603050405020304" pitchFamily="18" charset="0"/>
                <a:cs typeface="Times New Roman" panose="02020603050405020304" pitchFamily="18" charset="0"/>
              </a:rPr>
              <a:t>i+1</a:t>
            </a:r>
            <a:r>
              <a:rPr lang="en-US" altLang="zh-TW" dirty="0">
                <a:latin typeface="Times New Roman" panose="02020603050405020304" pitchFamily="18" charset="0"/>
                <a:cs typeface="Times New Roman" panose="02020603050405020304" pitchFamily="18" charset="0"/>
              </a:rPr>
              <a:t>, go to step 2.2</a:t>
            </a:r>
          </a:p>
          <a:p>
            <a:r>
              <a:rPr lang="en-US" altLang="zh-TW" dirty="0">
                <a:latin typeface="Times New Roman" panose="02020603050405020304" pitchFamily="18" charset="0"/>
                <a:cs typeface="Times New Roman" panose="02020603050405020304" pitchFamily="18" charset="0"/>
              </a:rPr>
              <a:t>Step 2.1: If R</a:t>
            </a:r>
            <a:r>
              <a:rPr lang="en-US" altLang="zh-TW" baseline="-25000" dirty="0">
                <a:latin typeface="Times New Roman" panose="02020603050405020304" pitchFamily="18" charset="0"/>
                <a:cs typeface="Times New Roman" panose="02020603050405020304" pitchFamily="18" charset="0"/>
              </a:rPr>
              <a:t>i−1 </a:t>
            </a:r>
            <a:r>
              <a:rPr lang="en-US" altLang="zh-TW" dirty="0">
                <a:latin typeface="Times New Roman" panose="02020603050405020304" pitchFamily="18" charset="0"/>
                <a:cs typeface="Times New Roman" panose="02020603050405020304" pitchFamily="18" charset="0"/>
              </a:rPr>
              <a:t>is not NULL, set predecessor of e to the last element of R</a:t>
            </a:r>
            <a:r>
              <a:rPr lang="en-US" altLang="zh-TW" baseline="-25000" dirty="0">
                <a:latin typeface="Times New Roman" panose="02020603050405020304" pitchFamily="18" charset="0"/>
                <a:cs typeface="Times New Roman" panose="02020603050405020304" pitchFamily="18" charset="0"/>
              </a:rPr>
              <a:t>i−1</a:t>
            </a:r>
            <a:r>
              <a:rPr lang="en-US" altLang="zh-TW" dirty="0">
                <a:latin typeface="Times New Roman" panose="02020603050405020304" pitchFamily="18" charset="0"/>
                <a:cs typeface="Times New Roman" panose="02020603050405020304" pitchFamily="18" charset="0"/>
              </a:rPr>
              <a:t>. If R</a:t>
            </a:r>
            <a:r>
              <a:rPr lang="en-US" altLang="zh-TW" baseline="-25000" dirty="0">
                <a:latin typeface="Times New Roman" panose="02020603050405020304" pitchFamily="18" charset="0"/>
                <a:cs typeface="Times New Roman" panose="02020603050405020304" pitchFamily="18" charset="0"/>
              </a:rPr>
              <a:t>i−1 </a:t>
            </a:r>
            <a:r>
              <a:rPr lang="en-US" altLang="zh-TW" dirty="0">
                <a:latin typeface="Times New Roman" panose="02020603050405020304" pitchFamily="18" charset="0"/>
                <a:cs typeface="Times New Roman" panose="02020603050405020304" pitchFamily="18" charset="0"/>
              </a:rPr>
              <a:t>is not NULL or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1, insert e to R</a:t>
            </a:r>
            <a:r>
              <a:rPr lang="en-US" altLang="zh-TW" baseline="-25000"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a:t>
            </a:r>
          </a:p>
          <a:p>
            <a:r>
              <a:rPr lang="en-US" altLang="zh-TW" dirty="0">
                <a:latin typeface="Times New Roman" panose="02020603050405020304" pitchFamily="18" charset="0"/>
                <a:cs typeface="Times New Roman" panose="02020603050405020304" pitchFamily="18" charset="0"/>
              </a:rPr>
              <a:t>Step 2.2: If c</a:t>
            </a:r>
            <a:r>
              <a:rPr lang="en-US" altLang="zh-TW" baseline="-25000"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is already in R</a:t>
            </a:r>
            <a:r>
              <a:rPr lang="en-US" altLang="zh-TW" baseline="-25000"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or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0, insert e to R</a:t>
            </a:r>
            <a:r>
              <a:rPr lang="en-US" altLang="zh-TW" baseline="-25000"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set predecessor of e to the predecessor of e in R</a:t>
            </a:r>
            <a:r>
              <a:rPr lang="en-US" altLang="zh-TW" baseline="-25000"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
        <p:nvSpPr>
          <p:cNvPr id="4" name="標題 1">
            <a:extLst>
              <a:ext uri="{FF2B5EF4-FFF2-40B4-BE49-F238E27FC236}">
                <a16:creationId xmlns:a16="http://schemas.microsoft.com/office/drawing/2014/main" id="{3A3A4D80-7D02-466F-BF15-1C470E621DF2}"/>
              </a:ext>
            </a:extLst>
          </p:cNvPr>
          <p:cNvSpPr>
            <a:spLocks noGrp="1"/>
          </p:cNvSpPr>
          <p:nvPr>
            <p:ph type="title"/>
          </p:nvPr>
        </p:nvSpPr>
        <p:spPr>
          <a:xfrm>
            <a:off x="457200" y="274638"/>
            <a:ext cx="8229600" cy="1143000"/>
          </a:xfrm>
        </p:spPr>
        <p:txBody>
          <a:bodyPr>
            <a:normAutofit fontScale="90000"/>
          </a:bodyPr>
          <a:lstStyle/>
          <a:p>
            <a:pPr algn="l"/>
            <a:r>
              <a:rPr lang="en-US" altLang="zh-TW" dirty="0">
                <a:latin typeface="Times New Roman" pitchFamily="18" charset="0"/>
                <a:cs typeface="Times New Roman" pitchFamily="18" charset="0"/>
              </a:rPr>
              <a:t>Sequence Constrained LIS algorithm</a:t>
            </a:r>
            <a:endParaRPr lang="zh-TW" altLang="en-US" dirty="0">
              <a:latin typeface="Times New Roman" pitchFamily="18" charset="0"/>
              <a:cs typeface="Times New Roman" pitchFamily="18" charset="0"/>
            </a:endParaRPr>
          </a:p>
        </p:txBody>
      </p:sp>
    </p:spTree>
    <p:extLst>
      <p:ext uri="{BB962C8B-B14F-4D97-AF65-F5344CB8AC3E}">
        <p14:creationId xmlns:p14="http://schemas.microsoft.com/office/powerpoint/2010/main" val="244008667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2550</TotalTime>
  <Words>1169</Words>
  <Application>Microsoft Office PowerPoint</Application>
  <PresentationFormat>如螢幕大小 (4:3)</PresentationFormat>
  <Paragraphs>138</Paragraphs>
  <Slides>9</Slides>
  <Notes>4</Notes>
  <HiddenSlides>0</HiddenSlides>
  <MMClips>0</MMClips>
  <ScaleCrop>false</ScaleCrop>
  <HeadingPairs>
    <vt:vector size="8" baseType="variant">
      <vt:variant>
        <vt:lpstr>使用字型</vt:lpstr>
      </vt:variant>
      <vt:variant>
        <vt:i4>5</vt:i4>
      </vt:variant>
      <vt:variant>
        <vt:lpstr>佈景主題</vt:lpstr>
      </vt:variant>
      <vt:variant>
        <vt:i4>1</vt:i4>
      </vt:variant>
      <vt:variant>
        <vt:lpstr>內嵌 OLE 伺服程式</vt:lpstr>
      </vt:variant>
      <vt:variant>
        <vt:i4>1</vt:i4>
      </vt:variant>
      <vt:variant>
        <vt:lpstr>投影片標題</vt:lpstr>
      </vt:variant>
      <vt:variant>
        <vt:i4>9</vt:i4>
      </vt:variant>
    </vt:vector>
  </HeadingPairs>
  <TitlesOfParts>
    <vt:vector size="16" baseType="lpstr">
      <vt:lpstr>TimesNewRomanPS-BoldMT</vt:lpstr>
      <vt:lpstr>TimesNewRomanPSMT</vt:lpstr>
      <vt:lpstr>Arial</vt:lpstr>
      <vt:lpstr>Calibri</vt:lpstr>
      <vt:lpstr>Times New Roman</vt:lpstr>
      <vt:lpstr>Office 佈景主題</vt:lpstr>
      <vt:lpstr>Equation</vt:lpstr>
      <vt:lpstr>Minimal Height and Sequence Constrained Longest Increasing Subsequence</vt:lpstr>
      <vt:lpstr>Abstract</vt:lpstr>
      <vt:lpstr>Introduction</vt:lpstr>
      <vt:lpstr>Introduction </vt:lpstr>
      <vt:lpstr>Minimum Height LIS algorithm</vt:lpstr>
      <vt:lpstr>Minimum Height LIS algorithm</vt:lpstr>
      <vt:lpstr>Minimum Height LIS algorithm</vt:lpstr>
      <vt:lpstr>Sequence Constrained LIS algorithm</vt:lpstr>
      <vt:lpstr>Sequence Constrained LIS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pplab</cp:lastModifiedBy>
  <cp:revision>105</cp:revision>
  <dcterms:created xsi:type="dcterms:W3CDTF">2019-09-15T07:43:36Z</dcterms:created>
  <dcterms:modified xsi:type="dcterms:W3CDTF">2020-10-06T11:10:08Z</dcterms:modified>
</cp:coreProperties>
</file>