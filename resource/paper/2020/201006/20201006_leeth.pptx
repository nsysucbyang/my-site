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365" r:id="rId2"/>
    <p:sldId id="311" r:id="rId3"/>
    <p:sldId id="333" r:id="rId4"/>
    <p:sldId id="378" r:id="rId5"/>
    <p:sldId id="379" r:id="rId6"/>
    <p:sldId id="380" r:id="rId7"/>
    <p:sldId id="383" r:id="rId8"/>
    <p:sldId id="381" r:id="rId9"/>
    <p:sldId id="382"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 id="2" name="BBOBBOX" initials="B" lastIdx="1" clrIdx="1">
    <p:extLst>
      <p:ext uri="{19B8F6BF-5375-455C-9EA6-DF929625EA0E}">
        <p15:presenceInfo xmlns:p15="http://schemas.microsoft.com/office/powerpoint/2012/main" userId="BBOBBO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5948" autoAdjust="0"/>
  </p:normalViewPr>
  <p:slideViewPr>
    <p:cSldViewPr snapToGrid="0">
      <p:cViewPr varScale="1">
        <p:scale>
          <a:sx n="62" d="100"/>
          <a:sy n="62" d="100"/>
        </p:scale>
        <p:origin x="1644"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2020/10/6</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a:t>journal</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2333175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800" b="0" i="0" u="none" strike="noStrike" baseline="0" dirty="0">
                <a:latin typeface="GulliverRM"/>
              </a:rPr>
              <a:t>the least number of tuning parameters, low computational complexity, fast convergence, and high local optima avoidance</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746490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3281754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u="none" strike="noStrike" baseline="0" dirty="0">
                <a:latin typeface="GulliverRM"/>
              </a:rPr>
              <a:t>ignore repulsion forces in this phase in order to explore the search space.</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53402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i="0" u="none" strike="noStrike" baseline="0" dirty="0">
                <a:latin typeface="OnemtmiguAAAA"/>
              </a:rPr>
              <a:t>˚</a:t>
            </a:r>
            <a:r>
              <a:rPr lang="en-US" altLang="zh-TW" sz="1800" b="0" i="0" u="none" strike="noStrike" baseline="0" dirty="0">
                <a:latin typeface="GulliverRM"/>
              </a:rPr>
              <a:t>1and </a:t>
            </a:r>
            <a:r>
              <a:rPr lang="en-US" altLang="zh-TW" sz="1800" b="0" i="0" u="none" strike="noStrike" baseline="0" dirty="0">
                <a:latin typeface="OnemtmiguAAAA"/>
              </a:rPr>
              <a:t>˚</a:t>
            </a:r>
            <a:r>
              <a:rPr lang="en-US" altLang="zh-TW" sz="1800" b="0" i="0" u="none" strike="noStrike" baseline="0" dirty="0">
                <a:latin typeface="GulliverRM"/>
              </a:rPr>
              <a:t>2are random numbers in [</a:t>
            </a:r>
            <a:r>
              <a:rPr lang="en-US" altLang="zh-TW" sz="1800" b="0" i="0" u="none" strike="noStrike" baseline="0" dirty="0">
                <a:latin typeface="MTSY"/>
              </a:rPr>
              <a:t>−</a:t>
            </a:r>
            <a:r>
              <a:rPr lang="en-US" altLang="zh-TW" sz="1800" b="0" i="0" u="none" strike="noStrike" baseline="0" dirty="0">
                <a:latin typeface="GulliverRM"/>
              </a:rPr>
              <a:t>1, 1] and </a:t>
            </a:r>
            <a:r>
              <a:rPr lang="en-US" altLang="zh-TW" sz="1800" b="0" i="0" u="none" strike="noStrike" baseline="0" dirty="0">
                <a:latin typeface="GulliverIT"/>
              </a:rPr>
              <a:t>rand</a:t>
            </a:r>
            <a:r>
              <a:rPr lang="en-US" altLang="zh-TW" sz="1800" b="0" i="0" u="none" strike="noStrike" baseline="0" dirty="0">
                <a:latin typeface="GulliverRM"/>
              </a:rPr>
              <a:t>() is a function that returns a random number in [0, 1].</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1493991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800" b="0" i="0" u="none" strike="noStrike" baseline="0" dirty="0">
                <a:latin typeface="GulliverRM"/>
              </a:rPr>
              <a:t>population to 50 The </a:t>
            </a:r>
            <a:r>
              <a:rPr lang="en-US" altLang="zh-TW" sz="1800" b="0" i="0" u="none" strike="noStrike" baseline="0" dirty="0" err="1">
                <a:latin typeface="GulliverRM"/>
              </a:rPr>
              <a:t>maximumnumbers</a:t>
            </a:r>
            <a:r>
              <a:rPr lang="en-US" altLang="zh-TW" sz="1800" b="0" i="0" u="none" strike="noStrike" baseline="0" dirty="0">
                <a:latin typeface="GulliverRM"/>
              </a:rPr>
              <a:t> of iterations are also e1000 for </a:t>
            </a:r>
            <a:r>
              <a:rPr lang="en-US" altLang="zh-TW" sz="1800" b="0" i="0" u="none" strike="noStrike" baseline="0" dirty="0" err="1">
                <a:latin typeface="GulliverRM"/>
              </a:rPr>
              <a:t>IMO.qual</a:t>
            </a:r>
            <a:r>
              <a:rPr lang="en-US" altLang="zh-TW" sz="1800" b="0" i="0" u="none" strike="noStrike" baseline="0" dirty="0">
                <a:latin typeface="GulliverRM"/>
              </a:rPr>
              <a:t> to 10,000     1000 for IMO.</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733590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800" b="0" i="0" u="none" strike="noStrike" baseline="0" dirty="0">
                <a:latin typeface="GulliverRM"/>
              </a:rPr>
              <a:t>population to 50 The maximum numbers of iterations are also equal to 10,000     1000 for IMO.</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8498453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2305456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2020/10/6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2020/10/6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2020/10/6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2020/10/6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2020/10/6</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2020/10/6</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2020/10/6</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2020/10/6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2020/10/6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2020/10/6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2020/10/6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2020/10/6</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03868" y="1059873"/>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Ions Motion Algorithm for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Solving Optimization Problems </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03869" y="2802648"/>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Behzad </a:t>
            </a:r>
            <a:r>
              <a:rPr lang="en-US" altLang="zh-TW" sz="2800" dirty="0" err="1">
                <a:latin typeface="Times New Roman" panose="02020603050405020304" pitchFamily="18" charset="0"/>
                <a:cs typeface="Times New Roman" panose="02020603050405020304" pitchFamily="18" charset="0"/>
              </a:rPr>
              <a:t>Javidy</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Abdolreza</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Hatamlou</a:t>
            </a:r>
            <a:r>
              <a:rPr lang="en-US" altLang="zh-TW" sz="2800" dirty="0">
                <a:latin typeface="Times New Roman" panose="02020603050405020304" pitchFamily="18" charset="0"/>
                <a:cs typeface="Times New Roman" panose="02020603050405020304" pitchFamily="18" charset="0"/>
              </a:rPr>
              <a:t>, and </a:t>
            </a:r>
            <a:r>
              <a:rPr lang="en-US" altLang="zh-TW" sz="2800" dirty="0" err="1">
                <a:latin typeface="Times New Roman" panose="02020603050405020304" pitchFamily="18" charset="0"/>
                <a:cs typeface="Times New Roman" panose="02020603050405020304" pitchFamily="18" charset="0"/>
              </a:rPr>
              <a:t>Seyedali</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Mirjalili</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Oct. 06,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760550" y="4384765"/>
            <a:ext cx="7622889" cy="461665"/>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Applied Soft Computing, 2015, Vol. 32, pp.72-79. </a:t>
            </a:r>
          </a:p>
        </p:txBody>
      </p:sp>
    </p:spTree>
    <p:extLst>
      <p:ext uri="{BB962C8B-B14F-4D97-AF65-F5344CB8AC3E}">
        <p14:creationId xmlns:p14="http://schemas.microsoft.com/office/powerpoint/2010/main" val="3772700387"/>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This paper proposes a novel optimization algorithm inspired by the ions motion in nature. In fact, the proposed algorithm mimics the attraction and repulsion of anions and cations to perform optimization. The proposed algorithm is designed in such a way to have the least tuning parameters, low computational complexity, fast convergence, and high local optima avoidance. The performance of this algorithm is benchmarked on 10 standard test functions and compared to four well-known algorithms in the literature. The results demonstrate that the proposed algorithm is able to show very competitive results and has merits in solving challenging optimization problems.</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Inspirations</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矩形 4">
            <a:extLst>
              <a:ext uri="{FF2B5EF4-FFF2-40B4-BE49-F238E27FC236}">
                <a16:creationId xmlns:a16="http://schemas.microsoft.com/office/drawing/2014/main" id="{6D788C14-77AA-4043-8DA6-E287782E3E4C}"/>
              </a:ext>
            </a:extLst>
          </p:cNvPr>
          <p:cNvSpPr/>
          <p:nvPr/>
        </p:nvSpPr>
        <p:spPr>
          <a:xfrm>
            <a:off x="367119" y="1099222"/>
            <a:ext cx="8642836" cy="1323439"/>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Anion: ions with negative (−) charge.</a:t>
            </a:r>
            <a:endParaRPr lang="en-US" altLang="zh-TW" sz="2000" dirty="0">
              <a:latin typeface="Times New Roman" panose="02020603050405020304" pitchFamily="18" charset="0"/>
            </a:endParaRPr>
          </a:p>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Cation: ions with positive (+) charge.</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圖片 6">
            <a:extLst>
              <a:ext uri="{FF2B5EF4-FFF2-40B4-BE49-F238E27FC236}">
                <a16:creationId xmlns:a16="http://schemas.microsoft.com/office/drawing/2014/main" id="{E2347069-A494-4CED-8931-C57194F47F5B}"/>
              </a:ext>
            </a:extLst>
          </p:cNvPr>
          <p:cNvPicPr>
            <a:picLocks noChangeAspect="1"/>
          </p:cNvPicPr>
          <p:nvPr/>
        </p:nvPicPr>
        <p:blipFill>
          <a:blip r:embed="rId4"/>
          <a:stretch>
            <a:fillRect/>
          </a:stretch>
        </p:blipFill>
        <p:spPr>
          <a:xfrm>
            <a:off x="1953731" y="2143265"/>
            <a:ext cx="5234655" cy="3394524"/>
          </a:xfrm>
          <a:prstGeom prst="rect">
            <a:avLst/>
          </a:prstGeom>
        </p:spPr>
      </p:pic>
    </p:spTree>
    <p:extLst>
      <p:ext uri="{BB962C8B-B14F-4D97-AF65-F5344CB8AC3E}">
        <p14:creationId xmlns:p14="http://schemas.microsoft.com/office/powerpoint/2010/main" val="21528538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General Steps </a:t>
            </a:r>
            <a:r>
              <a:rPr lang="en-US" altLang="zh-TW" sz="3200" b="1">
                <a:latin typeface="Times New Roman" panose="02020603050405020304" pitchFamily="18" charset="0"/>
                <a:cs typeface="Times New Roman" panose="02020603050405020304" pitchFamily="18" charset="0"/>
              </a:rPr>
              <a:t>of the IMO Algorithm</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6" name="圖片 5">
            <a:extLst>
              <a:ext uri="{FF2B5EF4-FFF2-40B4-BE49-F238E27FC236}">
                <a16:creationId xmlns:a16="http://schemas.microsoft.com/office/drawing/2014/main" id="{2F34C611-506E-4A92-83D3-13BAAAD23B96}"/>
              </a:ext>
            </a:extLst>
          </p:cNvPr>
          <p:cNvPicPr>
            <a:picLocks noChangeAspect="1"/>
          </p:cNvPicPr>
          <p:nvPr/>
        </p:nvPicPr>
        <p:blipFill>
          <a:blip r:embed="rId4"/>
          <a:stretch>
            <a:fillRect/>
          </a:stretch>
        </p:blipFill>
        <p:spPr>
          <a:xfrm>
            <a:off x="2314857" y="875950"/>
            <a:ext cx="4514286" cy="5857143"/>
          </a:xfrm>
          <a:prstGeom prst="rect">
            <a:avLst/>
          </a:prstGeom>
        </p:spPr>
      </p:pic>
    </p:spTree>
    <p:extLst>
      <p:ext uri="{BB962C8B-B14F-4D97-AF65-F5344CB8AC3E}">
        <p14:creationId xmlns:p14="http://schemas.microsoft.com/office/powerpoint/2010/main" val="10950120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Liquid phase</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矩形 4">
            <a:extLst>
              <a:ext uri="{FF2B5EF4-FFF2-40B4-BE49-F238E27FC236}">
                <a16:creationId xmlns:a16="http://schemas.microsoft.com/office/drawing/2014/main" id="{6D788C14-77AA-4043-8DA6-E287782E3E4C}"/>
              </a:ext>
            </a:extLst>
          </p:cNvPr>
          <p:cNvSpPr/>
          <p:nvPr/>
        </p:nvSpPr>
        <p:spPr>
          <a:xfrm>
            <a:off x="367119" y="973226"/>
            <a:ext cx="8642836" cy="2862322"/>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Calculate the force : </a:t>
            </a:r>
          </a:p>
          <a:p>
            <a:pPr marL="342900" indent="-3429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   , where</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Update position : </a:t>
            </a:r>
          </a:p>
          <a:p>
            <a:pPr marL="342900" indent="-3429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3" name="圖片 2">
            <a:extLst>
              <a:ext uri="{FF2B5EF4-FFF2-40B4-BE49-F238E27FC236}">
                <a16:creationId xmlns:a16="http://schemas.microsoft.com/office/drawing/2014/main" id="{30CB259C-EFB3-4932-B73F-34B1B0C7589A}"/>
              </a:ext>
            </a:extLst>
          </p:cNvPr>
          <p:cNvPicPr>
            <a:picLocks noChangeAspect="1"/>
          </p:cNvPicPr>
          <p:nvPr/>
        </p:nvPicPr>
        <p:blipFill>
          <a:blip r:embed="rId4"/>
          <a:stretch>
            <a:fillRect/>
          </a:stretch>
        </p:blipFill>
        <p:spPr>
          <a:xfrm>
            <a:off x="688972" y="1481057"/>
            <a:ext cx="2257143" cy="1409524"/>
          </a:xfrm>
          <a:prstGeom prst="rect">
            <a:avLst/>
          </a:prstGeom>
        </p:spPr>
      </p:pic>
      <p:pic>
        <p:nvPicPr>
          <p:cNvPr id="6" name="圖片 5">
            <a:extLst>
              <a:ext uri="{FF2B5EF4-FFF2-40B4-BE49-F238E27FC236}">
                <a16:creationId xmlns:a16="http://schemas.microsoft.com/office/drawing/2014/main" id="{33D53EF2-30BD-40F6-95DE-2805F079338A}"/>
              </a:ext>
            </a:extLst>
          </p:cNvPr>
          <p:cNvPicPr>
            <a:picLocks noChangeAspect="1"/>
          </p:cNvPicPr>
          <p:nvPr/>
        </p:nvPicPr>
        <p:blipFill>
          <a:blip r:embed="rId5"/>
          <a:stretch>
            <a:fillRect/>
          </a:stretch>
        </p:blipFill>
        <p:spPr>
          <a:xfrm>
            <a:off x="3866589" y="1951056"/>
            <a:ext cx="4076190" cy="333333"/>
          </a:xfrm>
          <a:prstGeom prst="rect">
            <a:avLst/>
          </a:prstGeom>
        </p:spPr>
      </p:pic>
      <p:pic>
        <p:nvPicPr>
          <p:cNvPr id="9" name="圖片 8">
            <a:extLst>
              <a:ext uri="{FF2B5EF4-FFF2-40B4-BE49-F238E27FC236}">
                <a16:creationId xmlns:a16="http://schemas.microsoft.com/office/drawing/2014/main" id="{3ABC8ACC-0AE0-4024-968A-D681F8A0CE17}"/>
              </a:ext>
            </a:extLst>
          </p:cNvPr>
          <p:cNvPicPr>
            <a:picLocks noChangeAspect="1"/>
          </p:cNvPicPr>
          <p:nvPr/>
        </p:nvPicPr>
        <p:blipFill>
          <a:blip r:embed="rId6"/>
          <a:stretch>
            <a:fillRect/>
          </a:stretch>
        </p:blipFill>
        <p:spPr>
          <a:xfrm>
            <a:off x="799922" y="3745041"/>
            <a:ext cx="3066667" cy="828571"/>
          </a:xfrm>
          <a:prstGeom prst="rect">
            <a:avLst/>
          </a:prstGeom>
        </p:spPr>
      </p:pic>
      <p:pic>
        <p:nvPicPr>
          <p:cNvPr id="10" name="圖片 9">
            <a:extLst>
              <a:ext uri="{FF2B5EF4-FFF2-40B4-BE49-F238E27FC236}">
                <a16:creationId xmlns:a16="http://schemas.microsoft.com/office/drawing/2014/main" id="{9AE582B4-65EC-48A6-A772-37E9BCA81297}"/>
              </a:ext>
            </a:extLst>
          </p:cNvPr>
          <p:cNvPicPr>
            <a:picLocks noChangeAspect="1"/>
          </p:cNvPicPr>
          <p:nvPr/>
        </p:nvPicPr>
        <p:blipFill>
          <a:blip r:embed="rId7"/>
          <a:stretch>
            <a:fillRect/>
          </a:stretch>
        </p:blipFill>
        <p:spPr>
          <a:xfrm>
            <a:off x="4572000" y="3661811"/>
            <a:ext cx="3764799" cy="2643819"/>
          </a:xfrm>
          <a:prstGeom prst="rect">
            <a:avLst/>
          </a:prstGeom>
        </p:spPr>
      </p:pic>
    </p:spTree>
    <p:extLst>
      <p:ext uri="{BB962C8B-B14F-4D97-AF65-F5344CB8AC3E}">
        <p14:creationId xmlns:p14="http://schemas.microsoft.com/office/powerpoint/2010/main" val="335757361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Crystal phase</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矩形 4">
            <a:extLst>
              <a:ext uri="{FF2B5EF4-FFF2-40B4-BE49-F238E27FC236}">
                <a16:creationId xmlns:a16="http://schemas.microsoft.com/office/drawing/2014/main" id="{6D788C14-77AA-4043-8DA6-E287782E3E4C}"/>
              </a:ext>
            </a:extLst>
          </p:cNvPr>
          <p:cNvSpPr/>
          <p:nvPr/>
        </p:nvSpPr>
        <p:spPr>
          <a:xfrm>
            <a:off x="367119" y="973226"/>
            <a:ext cx="8642836" cy="707886"/>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resolve local optima entrapment : </a:t>
            </a:r>
          </a:p>
          <a:p>
            <a:pPr marL="342900" indent="-3429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4" name="圖片 3">
            <a:extLst>
              <a:ext uri="{FF2B5EF4-FFF2-40B4-BE49-F238E27FC236}">
                <a16:creationId xmlns:a16="http://schemas.microsoft.com/office/drawing/2014/main" id="{408FBB29-A681-40DB-8430-F61E049E87DE}"/>
              </a:ext>
            </a:extLst>
          </p:cNvPr>
          <p:cNvPicPr>
            <a:picLocks noChangeAspect="1"/>
          </p:cNvPicPr>
          <p:nvPr/>
        </p:nvPicPr>
        <p:blipFill>
          <a:blip r:embed="rId4"/>
          <a:stretch>
            <a:fillRect/>
          </a:stretch>
        </p:blipFill>
        <p:spPr>
          <a:xfrm>
            <a:off x="804346" y="1546881"/>
            <a:ext cx="4714286" cy="4561905"/>
          </a:xfrm>
          <a:prstGeom prst="rect">
            <a:avLst/>
          </a:prstGeom>
        </p:spPr>
      </p:pic>
      <p:pic>
        <p:nvPicPr>
          <p:cNvPr id="7" name="圖片 6">
            <a:extLst>
              <a:ext uri="{FF2B5EF4-FFF2-40B4-BE49-F238E27FC236}">
                <a16:creationId xmlns:a16="http://schemas.microsoft.com/office/drawing/2014/main" id="{02919CE1-50E1-4A49-96B3-4C2D4933EDD8}"/>
              </a:ext>
            </a:extLst>
          </p:cNvPr>
          <p:cNvPicPr>
            <a:picLocks noChangeAspect="1"/>
          </p:cNvPicPr>
          <p:nvPr/>
        </p:nvPicPr>
        <p:blipFill>
          <a:blip r:embed="rId5"/>
          <a:stretch>
            <a:fillRect/>
          </a:stretch>
        </p:blipFill>
        <p:spPr>
          <a:xfrm>
            <a:off x="4764021" y="2669034"/>
            <a:ext cx="3930654" cy="3132765"/>
          </a:xfrm>
          <a:prstGeom prst="rect">
            <a:avLst/>
          </a:prstGeom>
        </p:spPr>
      </p:pic>
    </p:spTree>
    <p:extLst>
      <p:ext uri="{BB962C8B-B14F-4D97-AF65-F5344CB8AC3E}">
        <p14:creationId xmlns:p14="http://schemas.microsoft.com/office/powerpoint/2010/main" val="27379216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Results(1/3)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5" name="圖片 4">
            <a:extLst>
              <a:ext uri="{FF2B5EF4-FFF2-40B4-BE49-F238E27FC236}">
                <a16:creationId xmlns:a16="http://schemas.microsoft.com/office/drawing/2014/main" id="{8A27D0BC-9B6D-466E-AE84-37041A1D392B}"/>
              </a:ext>
            </a:extLst>
          </p:cNvPr>
          <p:cNvPicPr>
            <a:picLocks noChangeAspect="1"/>
          </p:cNvPicPr>
          <p:nvPr/>
        </p:nvPicPr>
        <p:blipFill>
          <a:blip r:embed="rId4"/>
          <a:stretch>
            <a:fillRect/>
          </a:stretch>
        </p:blipFill>
        <p:spPr>
          <a:xfrm>
            <a:off x="194553" y="1065761"/>
            <a:ext cx="8754894" cy="5441288"/>
          </a:xfrm>
          <a:prstGeom prst="rect">
            <a:avLst/>
          </a:prstGeom>
        </p:spPr>
      </p:pic>
    </p:spTree>
    <p:extLst>
      <p:ext uri="{BB962C8B-B14F-4D97-AF65-F5344CB8AC3E}">
        <p14:creationId xmlns:p14="http://schemas.microsoft.com/office/powerpoint/2010/main" val="54708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Results(2/3)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3" name="圖片 2">
            <a:extLst>
              <a:ext uri="{FF2B5EF4-FFF2-40B4-BE49-F238E27FC236}">
                <a16:creationId xmlns:a16="http://schemas.microsoft.com/office/drawing/2014/main" id="{383E5EF2-CEAB-47F1-B5F7-EDF2F8D98498}"/>
              </a:ext>
            </a:extLst>
          </p:cNvPr>
          <p:cNvPicPr>
            <a:picLocks noChangeAspect="1"/>
          </p:cNvPicPr>
          <p:nvPr/>
        </p:nvPicPr>
        <p:blipFill>
          <a:blip r:embed="rId4"/>
          <a:stretch>
            <a:fillRect/>
          </a:stretch>
        </p:blipFill>
        <p:spPr>
          <a:xfrm>
            <a:off x="0" y="1277366"/>
            <a:ext cx="9144000" cy="2112956"/>
          </a:xfrm>
          <a:prstGeom prst="rect">
            <a:avLst/>
          </a:prstGeom>
        </p:spPr>
      </p:pic>
      <p:pic>
        <p:nvPicPr>
          <p:cNvPr id="4" name="圖片 3">
            <a:extLst>
              <a:ext uri="{FF2B5EF4-FFF2-40B4-BE49-F238E27FC236}">
                <a16:creationId xmlns:a16="http://schemas.microsoft.com/office/drawing/2014/main" id="{34A5E91D-212C-4C65-AFA1-556CFAC34B14}"/>
              </a:ext>
            </a:extLst>
          </p:cNvPr>
          <p:cNvPicPr>
            <a:picLocks noChangeAspect="1"/>
          </p:cNvPicPr>
          <p:nvPr/>
        </p:nvPicPr>
        <p:blipFill>
          <a:blip r:embed="rId5"/>
          <a:stretch>
            <a:fillRect/>
          </a:stretch>
        </p:blipFill>
        <p:spPr>
          <a:xfrm>
            <a:off x="2092369" y="3733370"/>
            <a:ext cx="4959261" cy="2443694"/>
          </a:xfrm>
          <a:prstGeom prst="rect">
            <a:avLst/>
          </a:prstGeom>
        </p:spPr>
      </p:pic>
    </p:spTree>
    <p:extLst>
      <p:ext uri="{BB962C8B-B14F-4D97-AF65-F5344CB8AC3E}">
        <p14:creationId xmlns:p14="http://schemas.microsoft.com/office/powerpoint/2010/main" val="18603632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234219"/>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Results(3/3)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5" name="圖片 4">
            <a:extLst>
              <a:ext uri="{FF2B5EF4-FFF2-40B4-BE49-F238E27FC236}">
                <a16:creationId xmlns:a16="http://schemas.microsoft.com/office/drawing/2014/main" id="{D925D1F0-262C-493B-BD5E-4F3EA78DBDB4}"/>
              </a:ext>
            </a:extLst>
          </p:cNvPr>
          <p:cNvPicPr>
            <a:picLocks noChangeAspect="1"/>
          </p:cNvPicPr>
          <p:nvPr/>
        </p:nvPicPr>
        <p:blipFill>
          <a:blip r:embed="rId4"/>
          <a:stretch>
            <a:fillRect/>
          </a:stretch>
        </p:blipFill>
        <p:spPr>
          <a:xfrm>
            <a:off x="2252951" y="817586"/>
            <a:ext cx="4638095" cy="5895238"/>
          </a:xfrm>
          <a:prstGeom prst="rect">
            <a:avLst/>
          </a:prstGeom>
        </p:spPr>
      </p:pic>
    </p:spTree>
    <p:extLst>
      <p:ext uri="{BB962C8B-B14F-4D97-AF65-F5344CB8AC3E}">
        <p14:creationId xmlns:p14="http://schemas.microsoft.com/office/powerpoint/2010/main" val="95935579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92286</TotalTime>
  <Words>321</Words>
  <Application>Microsoft Office PowerPoint</Application>
  <PresentationFormat>如螢幕大小 (4:3)</PresentationFormat>
  <Paragraphs>41</Paragraphs>
  <Slides>9</Slides>
  <Notes>9</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9</vt:i4>
      </vt:variant>
    </vt:vector>
  </HeadingPairs>
  <TitlesOfParts>
    <vt:vector size="18" baseType="lpstr">
      <vt:lpstr>GulliverIT</vt:lpstr>
      <vt:lpstr>GulliverRM</vt:lpstr>
      <vt:lpstr>MTSY</vt:lpstr>
      <vt:lpstr>OnemtmiguAAAA</vt:lpstr>
      <vt:lpstr>Arial</vt:lpstr>
      <vt:lpstr>Calibri</vt:lpstr>
      <vt:lpstr>Calibri Light</vt:lpstr>
      <vt:lpstr>Times New Roman</vt:lpstr>
      <vt:lpstr>Office 佈景主題</vt:lpstr>
      <vt:lpstr>Ions Motion Algorithm for  Solving Optimization Problems </vt:lpstr>
      <vt:lpstr>Abstract</vt:lpstr>
      <vt:lpstr>Inspirations</vt:lpstr>
      <vt:lpstr>General Steps of the IMO Algorithm</vt:lpstr>
      <vt:lpstr>Liquid phase</vt:lpstr>
      <vt:lpstr>Crystal phase</vt:lpstr>
      <vt:lpstr>Results(1/3)</vt:lpstr>
      <vt:lpstr>Results(2/3)</vt:lpstr>
      <vt:lpstr>Results(3/3)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p:lastModifiedBy>
  <cp:revision>954</cp:revision>
  <dcterms:created xsi:type="dcterms:W3CDTF">2017-09-25T08:45:50Z</dcterms:created>
  <dcterms:modified xsi:type="dcterms:W3CDTF">2020-10-06T12:00:54Z</dcterms:modified>
</cp:coreProperties>
</file>