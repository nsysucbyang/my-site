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60" r:id="rId5"/>
    <p:sldId id="261" r:id="rId6"/>
    <p:sldId id="262" r:id="rId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吳篤承" initials="吳篤承" lastIdx="1" clrIdx="0">
    <p:extLst>
      <p:ext uri="{19B8F6BF-5375-455C-9EA6-DF929625EA0E}">
        <p15:presenceInfo xmlns:p15="http://schemas.microsoft.com/office/powerpoint/2012/main" userId="吳篤承"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0" autoAdjust="0"/>
    <p:restoredTop sz="90867" autoAdjust="0"/>
  </p:normalViewPr>
  <p:slideViewPr>
    <p:cSldViewPr snapToGrid="0">
      <p:cViewPr varScale="1">
        <p:scale>
          <a:sx n="114" d="100"/>
          <a:sy n="114" d="100"/>
        </p:scale>
        <p:origin x="18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B85392-FD07-4F5A-B34E-BA69B7FEBBF7}" type="datetimeFigureOut">
              <a:rPr lang="zh-TW" altLang="en-US" smtClean="0"/>
              <a:t>2020/1/14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745C38-81A3-45D4-9959-4EF52C41C41F}" type="slidenum">
              <a:rPr lang="zh-TW" altLang="en-US" smtClean="0"/>
              <a:t>‹#›</a:t>
            </a:fld>
            <a:endParaRPr lang="zh-TW" altLang="en-US"/>
          </a:p>
        </p:txBody>
      </p:sp>
    </p:spTree>
    <p:extLst>
      <p:ext uri="{BB962C8B-B14F-4D97-AF65-F5344CB8AC3E}">
        <p14:creationId xmlns:p14="http://schemas.microsoft.com/office/powerpoint/2010/main" val="970424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BC481E-5F61-46D0-A7EB-4B78E26B7A60}"/>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7ADD499-6C14-47C8-A9DB-F37A274DE0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95F44A6D-44A4-4AC5-A338-742D4C0C8050}"/>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2AA9A011-8B20-4955-AB02-9C883200A2A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D080B5D-51A0-4CC6-B85E-EECDD9C7E01F}"/>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601324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791F4F-64C2-4448-AEA3-D8BAD00F9ACB}"/>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9B64CD7-FFD4-4659-9A78-313C8279FA80}"/>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DB714A2-D640-4631-BD91-D40EA7B8E5E1}"/>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E61BB7E8-FCCA-40E1-AF1F-1EC08D98084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F37759F-4DEC-4AF9-AAF6-96479F6F82D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862669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4AF7F4-DE89-4B56-ABEB-65BE6D95F37B}"/>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C0726E6B-7A4E-46A3-888F-3ECB35C601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92DC7246-3967-4A8C-89BD-498BAD9237DB}"/>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D8A016C2-FC45-4CB6-AE5C-B5A2929ECFB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643CBF-BA29-45F4-B839-D048AC73EB01}"/>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381054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3084E2-FF74-41D8-B7FC-96287DBEDD0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30DA591-3941-4641-B043-A7B6860269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D58EE040-2A49-41BF-9734-4F1C3C128D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78EECCAB-4CA7-44B9-B7B8-DC7FF51030C5}"/>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6" name="頁尾版面配置區 5">
            <a:extLst>
              <a:ext uri="{FF2B5EF4-FFF2-40B4-BE49-F238E27FC236}">
                <a16:creationId xmlns:a16="http://schemas.microsoft.com/office/drawing/2014/main" id="{31F1834D-5465-453A-8482-4EA306D63AA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EDEEDDC-2E51-41D6-BBEE-C8A5AEE90B3A}"/>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89062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891CDC-A371-490F-A9D6-C81ACFD420F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A6414E1-9AA2-4412-BC87-8B794947A8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AF8352C1-957A-43C9-A792-1F703940CD51}"/>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189CE18-112C-4840-B26C-362D7C230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F7815674-7564-427E-B7B9-22E8C7F54041}"/>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2891BEAE-F89E-4D1D-88D1-CE02EB287033}"/>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8" name="頁尾版面配置區 7">
            <a:extLst>
              <a:ext uri="{FF2B5EF4-FFF2-40B4-BE49-F238E27FC236}">
                <a16:creationId xmlns:a16="http://schemas.microsoft.com/office/drawing/2014/main" id="{001E6835-0CA2-4E4B-AA2A-F90C8E504D80}"/>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AF7BAAA1-3B0C-467E-B178-590BB83B663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74528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DDB431-29CB-4FE4-9ADC-233E5E38B21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B26AC26-EB83-4AB6-9E2F-C8457BF27656}"/>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4" name="頁尾版面配置區 3">
            <a:extLst>
              <a:ext uri="{FF2B5EF4-FFF2-40B4-BE49-F238E27FC236}">
                <a16:creationId xmlns:a16="http://schemas.microsoft.com/office/drawing/2014/main" id="{DA0D9A16-24C2-4ED2-BD1F-40A62B4B57A4}"/>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8002A40A-1FF4-4F68-B9F8-CCFE6F0A61DE}"/>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53102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EC7FE82F-7353-4EB6-B115-3F4F883AB669}"/>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3" name="頁尾版面配置區 2">
            <a:extLst>
              <a:ext uri="{FF2B5EF4-FFF2-40B4-BE49-F238E27FC236}">
                <a16:creationId xmlns:a16="http://schemas.microsoft.com/office/drawing/2014/main" id="{6B99597B-30C7-4D52-AD5F-C858CCF870A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558E562-3645-444D-99EF-C224D8AC7925}"/>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202500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5C8A51-2D2B-48E7-9226-50EB6A22516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A09DA89-D924-4187-86BB-0DE7413CB9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9A862BBB-0FF2-4F4D-A76D-1F88CE615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DE41C95-2028-4108-B014-39C5648C739C}"/>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6" name="頁尾版面配置區 5">
            <a:extLst>
              <a:ext uri="{FF2B5EF4-FFF2-40B4-BE49-F238E27FC236}">
                <a16:creationId xmlns:a16="http://schemas.microsoft.com/office/drawing/2014/main" id="{2BD103DD-D7EC-4F8E-92E4-F3DF3C87310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26E5469-9EC0-4784-86DB-CFF18B624D06}"/>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4217051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0BCCB00-EDDD-4021-BFA8-37AF232E09A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B62902F-3F9A-4799-B356-32DB2D43C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341559B7-9AC4-469F-8F42-A7EAC5608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73C1A871-1FB1-426F-B468-F433644ACEE0}"/>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6" name="頁尾版面配置區 5">
            <a:extLst>
              <a:ext uri="{FF2B5EF4-FFF2-40B4-BE49-F238E27FC236}">
                <a16:creationId xmlns:a16="http://schemas.microsoft.com/office/drawing/2014/main" id="{002851D3-4076-4BC5-9DED-D4BED17FEA8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E57C28A-8893-4984-9E48-FEAF55A07CF7}"/>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644359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29808D-8B18-4D63-9A86-7E543A995F5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C65D312-39D6-45B8-A43D-EE4F531E6F96}"/>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386A780-A433-4084-B504-8CA5C05D15EC}"/>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8C6AE278-5465-4135-8119-D4FFB673E5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C2B663D-8C1E-4440-923C-9B28783B6788}"/>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1332910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0F0B3FC-BDB6-4C40-9E7A-DD251A121D67}"/>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31B69DA4-DCBA-402E-B952-6FEF25C77842}"/>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7B7CDCD-2B53-481E-994C-32B4B7592300}"/>
              </a:ext>
            </a:extLst>
          </p:cNvPr>
          <p:cNvSpPr>
            <a:spLocks noGrp="1"/>
          </p:cNvSpPr>
          <p:nvPr>
            <p:ph type="dt" sz="half" idx="10"/>
          </p:nvPr>
        </p:nvSpPr>
        <p:spPr/>
        <p:txBody>
          <a:bodyPr/>
          <a:lstStyle/>
          <a:p>
            <a:fld id="{41044C1A-2725-48AE-A699-EA8E8FEFF634}"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5DFB1F8A-6E1A-49FD-88DC-360B7C2663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6025657-A7D6-4D60-8308-3F54ECF10FA3}"/>
              </a:ext>
            </a:extLst>
          </p:cNvPr>
          <p:cNvSpPr>
            <a:spLocks noGrp="1"/>
          </p:cNvSpPr>
          <p:nvPr>
            <p:ph type="sldNum" sz="quarter" idx="12"/>
          </p:nvPr>
        </p:nvSpPr>
        <p:spPr/>
        <p:txBody>
          <a:body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076976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AF27AA62-E1D3-4683-9BB1-A8FDBF7648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8E70A9A6-A017-41A2-86FB-D99634A98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DA99EE0-24C1-43B5-8CD7-D945550006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044C1A-2725-48AE-A699-EA8E8FEFF634}" type="datetimeFigureOut">
              <a:rPr lang="zh-TW" altLang="en-US" smtClean="0"/>
              <a:t>2020/1/14</a:t>
            </a:fld>
            <a:endParaRPr lang="zh-TW" altLang="en-US"/>
          </a:p>
        </p:txBody>
      </p:sp>
      <p:sp>
        <p:nvSpPr>
          <p:cNvPr id="5" name="頁尾版面配置區 4">
            <a:extLst>
              <a:ext uri="{FF2B5EF4-FFF2-40B4-BE49-F238E27FC236}">
                <a16:creationId xmlns:a16="http://schemas.microsoft.com/office/drawing/2014/main" id="{6FDC897C-57B6-471F-85EC-BDD367E81C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4AE00D97-13C0-4E9B-84D0-9482705853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4A04DF-79DB-43AD-84D4-1FD653C12CA8}" type="slidenum">
              <a:rPr lang="zh-TW" altLang="en-US" smtClean="0"/>
              <a:t>‹#›</a:t>
            </a:fld>
            <a:endParaRPr lang="zh-TW" altLang="en-US"/>
          </a:p>
        </p:txBody>
      </p:sp>
    </p:spTree>
    <p:extLst>
      <p:ext uri="{BB962C8B-B14F-4D97-AF65-F5344CB8AC3E}">
        <p14:creationId xmlns:p14="http://schemas.microsoft.com/office/powerpoint/2010/main" val="230786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1523999" y="1799175"/>
            <a:ext cx="9144000" cy="649317"/>
          </a:xfrm>
        </p:spPr>
        <p:txBody>
          <a:bodyPr>
            <a:noAutofit/>
          </a:bodyPr>
          <a:lstStyle/>
          <a:p>
            <a:r>
              <a:rPr lang="en-US" altLang="zh-TW" sz="3200" dirty="0">
                <a:latin typeface="Times New Roman" panose="02020603050405020304" pitchFamily="18" charset="0"/>
                <a:cs typeface="Times New Roman" panose="02020603050405020304" pitchFamily="18" charset="0"/>
              </a:rPr>
              <a:t>An Approach for Improving Complexity of Longest Common Subsequence Problems using Queue and Divide-and-Conquer Method</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523999" y="3003983"/>
            <a:ext cx="9144000" cy="425017"/>
          </a:xfrm>
        </p:spPr>
        <p:txBody>
          <a:bodyPr>
            <a:noAutofit/>
          </a:bodyPr>
          <a:lstStyle/>
          <a:p>
            <a:pPr lvl="1"/>
            <a:r>
              <a:rPr lang="it-IT" altLang="zh-TW" dirty="0">
                <a:latin typeface="Times New Roman" panose="02020603050405020304" pitchFamily="18" charset="0"/>
                <a:cs typeface="Times New Roman" panose="02020603050405020304" pitchFamily="18" charset="0"/>
              </a:rPr>
              <a:t>Ratul Bhowmick,</a:t>
            </a:r>
            <a:r>
              <a:rPr lang="zh-TW" altLang="en-US" dirty="0">
                <a:latin typeface="Times New Roman" panose="02020603050405020304" pitchFamily="18" charset="0"/>
                <a:cs typeface="Times New Roman" panose="02020603050405020304" pitchFamily="18" charset="0"/>
              </a:rPr>
              <a:t> </a:t>
            </a:r>
            <a:r>
              <a:rPr lang="it-IT" altLang="zh-TW" dirty="0">
                <a:latin typeface="Times New Roman" panose="02020603050405020304" pitchFamily="18" charset="0"/>
                <a:cs typeface="Times New Roman" panose="02020603050405020304" pitchFamily="18" charset="0"/>
              </a:rPr>
              <a:t>Ibrahim Sadek Bhuiyan, Sabir Hossain, Muhammad Kamal Hossen</a:t>
            </a:r>
            <a:r>
              <a:rPr lang="zh-TW" altLang="en-US" dirty="0">
                <a:latin typeface="Times New Roman" panose="02020603050405020304" pitchFamily="18" charset="0"/>
                <a:cs typeface="Times New Roman" panose="02020603050405020304" pitchFamily="18" charset="0"/>
              </a:rPr>
              <a:t> </a:t>
            </a:r>
            <a:r>
              <a:rPr lang="it-IT" altLang="zh-TW" dirty="0">
                <a:latin typeface="Times New Roman" panose="02020603050405020304" pitchFamily="18" charset="0"/>
                <a:cs typeface="Times New Roman" panose="02020603050405020304" pitchFamily="18" charset="0"/>
              </a:rPr>
              <a:t>and Ahsan Sadee Tanim</a:t>
            </a:r>
            <a:endParaRPr lang="pl-PL" altLang="zh-TW" dirty="0">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8F2527E8-BB8F-41FB-8AF1-03DCC96BC069}"/>
              </a:ext>
            </a:extLst>
          </p:cNvPr>
          <p:cNvSpPr txBox="1"/>
          <p:nvPr/>
        </p:nvSpPr>
        <p:spPr>
          <a:xfrm>
            <a:off x="2631539" y="3873343"/>
            <a:ext cx="6928948" cy="1107996"/>
          </a:xfrm>
          <a:prstGeom prst="rect">
            <a:avLst/>
          </a:prstGeom>
          <a:noFill/>
        </p:spPr>
        <p:txBody>
          <a:bodyPr wrap="none" rtlCol="0">
            <a:spAutoFit/>
          </a:bodyPr>
          <a:lstStyle/>
          <a:p>
            <a:pPr algn="ctr"/>
            <a:r>
              <a:rPr lang="en-US" altLang="zh-TW" sz="2200" dirty="0">
                <a:latin typeface="Times New Roman" panose="02020603050405020304" pitchFamily="18" charset="0"/>
                <a:cs typeface="Times New Roman" panose="02020603050405020304" pitchFamily="18" charset="0"/>
              </a:rPr>
              <a:t>2019 1st International Conference on Advances in Science, </a:t>
            </a:r>
          </a:p>
          <a:p>
            <a:pPr algn="ctr"/>
            <a:r>
              <a:rPr lang="en-US" altLang="zh-TW" sz="2200" dirty="0">
                <a:latin typeface="Times New Roman" panose="02020603050405020304" pitchFamily="18" charset="0"/>
                <a:cs typeface="Times New Roman" panose="02020603050405020304" pitchFamily="18" charset="0"/>
              </a:rPr>
              <a:t>Engineering and Robotics Technology (ICASERT), </a:t>
            </a:r>
          </a:p>
          <a:p>
            <a:pPr algn="ctr"/>
            <a:r>
              <a:rPr lang="en-US" altLang="zh-TW" sz="2200" dirty="0">
                <a:latin typeface="Times New Roman" panose="02020603050405020304" pitchFamily="18" charset="0"/>
                <a:cs typeface="Times New Roman" panose="02020603050405020304" pitchFamily="18" charset="0"/>
              </a:rPr>
              <a:t>Dhaka, Bangladesh, Bangladesh, 3-5 May 2019 </a:t>
            </a:r>
          </a:p>
        </p:txBody>
      </p:sp>
      <p:sp>
        <p:nvSpPr>
          <p:cNvPr id="9" name="文字方塊 8">
            <a:extLst>
              <a:ext uri="{FF2B5EF4-FFF2-40B4-BE49-F238E27FC236}">
                <a16:creationId xmlns:a16="http://schemas.microsoft.com/office/drawing/2014/main" id="{6BC92671-3184-4146-A361-F82079153C2E}"/>
              </a:ext>
            </a:extLst>
          </p:cNvPr>
          <p:cNvSpPr txBox="1"/>
          <p:nvPr/>
        </p:nvSpPr>
        <p:spPr>
          <a:xfrm>
            <a:off x="8233491" y="5022042"/>
            <a:ext cx="3276603"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Du-Cheng Wu</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8941762" y="5483707"/>
            <a:ext cx="2568332"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Date: Jan. 14, 2020</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a:t>
            </a:r>
            <a:endParaRPr lang="zh-TW" altLang="en-US" sz="32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E39EF1E7-604C-4E09-A7D2-D4B34B0635E8}"/>
              </a:ext>
            </a:extLst>
          </p:cNvPr>
          <p:cNvSpPr>
            <a:spLocks noGrp="1"/>
          </p:cNvSpPr>
          <p:nvPr>
            <p:ph idx="1"/>
          </p:nvPr>
        </p:nvSpPr>
        <p:spPr>
          <a:xfrm>
            <a:off x="838200" y="1163782"/>
            <a:ext cx="10515600" cy="5060849"/>
          </a:xfrm>
        </p:spPr>
        <p:txBody>
          <a:bodyPr>
            <a:noAutofit/>
          </a:bodyPr>
          <a:lstStyle/>
          <a:p>
            <a:pPr marL="0" indent="0" algn="just">
              <a:buNone/>
            </a:pPr>
            <a:r>
              <a:rPr lang="en-US" altLang="zh-TW" dirty="0">
                <a:latin typeface="Times New Roman" panose="02020603050405020304" pitchFamily="18" charset="0"/>
                <a:cs typeface="Times New Roman" panose="02020603050405020304" pitchFamily="18" charset="0"/>
              </a:rPr>
              <a:t>The general algorithms which are followed to solve the Longest Common Subsequence (LCS) problems have both time complexity and space complexity of 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 To reduce this complexity, two ways are proposed in this work. One is the use of Divide and Conquer approach, and another one is changing the data structure from two-dimensional array to queue. By using these approaches, an algorithm has been developed and implemented for the long length string in this paper. The time complexity after using these approaches becomes a function of logarithm O(</a:t>
            </a:r>
            <a:r>
              <a:rPr lang="en-US" altLang="zh-TW" dirty="0" err="1">
                <a:latin typeface="Times New Roman" panose="02020603050405020304" pitchFamily="18" charset="0"/>
                <a:cs typeface="Times New Roman" panose="02020603050405020304" pitchFamily="18" charset="0"/>
              </a:rPr>
              <a:t>nlog</a:t>
            </a:r>
            <a:r>
              <a:rPr lang="en-US" altLang="zh-TW" dirty="0">
                <a:latin typeface="Times New Roman" panose="02020603050405020304" pitchFamily="18" charset="0"/>
                <a:cs typeface="Times New Roman" panose="02020603050405020304" pitchFamily="18" charset="0"/>
              </a:rPr>
              <a:t>(n)) which has been shown with proper explanation and the space complexity after using queue data structure becomes linear O(n).</a:t>
            </a:r>
          </a:p>
        </p:txBody>
      </p:sp>
    </p:spTree>
    <p:extLst>
      <p:ext uri="{BB962C8B-B14F-4D97-AF65-F5344CB8AC3E}">
        <p14:creationId xmlns:p14="http://schemas.microsoft.com/office/powerpoint/2010/main" val="1500703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LCS</a:t>
            </a:r>
            <a:endParaRPr lang="zh-TW" altLang="en-US" sz="3200" dirty="0">
              <a:latin typeface="Times New Roman" panose="02020603050405020304" pitchFamily="18" charset="0"/>
              <a:cs typeface="Times New Roman" panose="02020603050405020304" pitchFamily="18" charset="0"/>
            </a:endParaRPr>
          </a:p>
        </p:txBody>
      </p:sp>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r>
              <a:rPr lang="en-US" altLang="zh-TW" dirty="0">
                <a:latin typeface="Times New Roman" panose="02020603050405020304" pitchFamily="18" charset="0"/>
                <a:cs typeface="Times New Roman" panose="02020603050405020304" pitchFamily="18" charset="0"/>
              </a:rPr>
              <a:t>X = </a:t>
            </a:r>
            <a:r>
              <a:rPr lang="en-US" altLang="zh-TW" dirty="0" err="1">
                <a:solidFill>
                  <a:srgbClr val="FF0000"/>
                </a:solidFill>
                <a:latin typeface="Times New Roman" panose="02020603050405020304" pitchFamily="18" charset="0"/>
                <a:cs typeface="Times New Roman" panose="02020603050405020304" pitchFamily="18" charset="0"/>
              </a:rPr>
              <a:t>ct</a:t>
            </a:r>
            <a:r>
              <a:rPr lang="en-US" altLang="zh-TW" dirty="0" err="1">
                <a:latin typeface="Times New Roman" panose="02020603050405020304" pitchFamily="18" charset="0"/>
                <a:cs typeface="Times New Roman" panose="02020603050405020304" pitchFamily="18" charset="0"/>
              </a:rPr>
              <a:t>g</a:t>
            </a:r>
            <a:r>
              <a:rPr lang="en-US" altLang="zh-TW" dirty="0" err="1">
                <a:solidFill>
                  <a:srgbClr val="FF0000"/>
                </a:solidFill>
                <a:latin typeface="Times New Roman" panose="02020603050405020304" pitchFamily="18" charset="0"/>
                <a:cs typeface="Times New Roman" panose="02020603050405020304" pitchFamily="18" charset="0"/>
              </a:rPr>
              <a:t>a</a:t>
            </a:r>
            <a:r>
              <a:rPr lang="en-US" altLang="zh-TW" dirty="0" err="1">
                <a:latin typeface="Times New Roman" panose="02020603050405020304" pitchFamily="18" charset="0"/>
                <a:cs typeface="Times New Roman" panose="02020603050405020304" pitchFamily="18" charset="0"/>
              </a:rPr>
              <a:t>c</a:t>
            </a:r>
            <a:r>
              <a:rPr lang="en-US" altLang="zh-TW" dirty="0" err="1">
                <a:solidFill>
                  <a:srgbClr val="FF0000"/>
                </a:solidFill>
                <a:latin typeface="Times New Roman" panose="02020603050405020304" pitchFamily="18" charset="0"/>
                <a:cs typeface="Times New Roman" panose="02020603050405020304" pitchFamily="18" charset="0"/>
              </a:rPr>
              <a:t>a</a:t>
            </a:r>
            <a:r>
              <a:rPr lang="en-US" altLang="zh-TW" dirty="0" err="1">
                <a:latin typeface="Times New Roman" panose="02020603050405020304" pitchFamily="18" charset="0"/>
                <a:cs typeface="Times New Roman" panose="02020603050405020304" pitchFamily="18" charset="0"/>
              </a:rPr>
              <a:t>ct</a:t>
            </a:r>
            <a:r>
              <a:rPr lang="en-US" altLang="zh-TW" dirty="0" err="1">
                <a:solidFill>
                  <a:srgbClr val="FF0000"/>
                </a:solidFill>
                <a:latin typeface="Times New Roman" panose="02020603050405020304" pitchFamily="18" charset="0"/>
                <a:cs typeface="Times New Roman" panose="02020603050405020304" pitchFamily="18" charset="0"/>
              </a:rPr>
              <a:t>cg</a:t>
            </a: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Y = </a:t>
            </a:r>
            <a:r>
              <a:rPr lang="en-US" altLang="zh-TW" dirty="0" err="1">
                <a:latin typeface="Times New Roman" panose="02020603050405020304" pitchFamily="18" charset="0"/>
                <a:cs typeface="Times New Roman" panose="02020603050405020304" pitchFamily="18" charset="0"/>
              </a:rPr>
              <a:t>a</a:t>
            </a:r>
            <a:r>
              <a:rPr lang="en-US" altLang="zh-TW" dirty="0" err="1">
                <a:solidFill>
                  <a:srgbClr val="FF0000"/>
                </a:solidFill>
                <a:latin typeface="Times New Roman" panose="02020603050405020304" pitchFamily="18" charset="0"/>
                <a:cs typeface="Times New Roman" panose="02020603050405020304" pitchFamily="18" charset="0"/>
              </a:rPr>
              <a:t>ctaacg</a:t>
            </a: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LCS = </a:t>
            </a:r>
            <a:r>
              <a:rPr lang="en-US" altLang="zh-TW" dirty="0" err="1">
                <a:latin typeface="Times New Roman" panose="02020603050405020304" pitchFamily="18" charset="0"/>
                <a:cs typeface="Times New Roman" panose="02020603050405020304" pitchFamily="18" charset="0"/>
              </a:rPr>
              <a:t>ctaacg</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3041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divide and conquer</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內容版面配置區 11">
                <a:extLst>
                  <a:ext uri="{FF2B5EF4-FFF2-40B4-BE49-F238E27FC236}">
                    <a16:creationId xmlns:a16="http://schemas.microsoft.com/office/drawing/2014/main" id="{652F1AAC-13A7-4F2E-8939-B8B124487E32}"/>
                  </a:ext>
                </a:extLst>
              </p:cNvPr>
              <p:cNvSpPr>
                <a:spLocks noGrp="1"/>
              </p:cNvSpPr>
              <p:nvPr>
                <p:ph idx="1"/>
              </p:nvPr>
            </p:nvSpPr>
            <p:spPr>
              <a:xfrm>
                <a:off x="838200" y="1132513"/>
                <a:ext cx="10515600" cy="5044449"/>
              </a:xfrm>
            </p:spPr>
            <p:txBody>
              <a:bodyPr>
                <a:normAutofit/>
              </a:bodyPr>
              <a:lstStyle/>
              <a:p>
                <a:pPr marL="0" indent="0">
                  <a:buNone/>
                </a:pPr>
                <a:endParaRPr lang="en-US" altLang="zh-TW" dirty="0"/>
              </a:p>
              <a:p>
                <a:r>
                  <a:rPr lang="en-US" altLang="zh-TW" dirty="0">
                    <a:latin typeface="Times New Roman" panose="02020603050405020304" pitchFamily="18" charset="0"/>
                    <a:cs typeface="Times New Roman" panose="02020603050405020304" pitchFamily="18" charset="0"/>
                  </a:rPr>
                  <a:t>|A| = n, |B| = m , n</a:t>
                </a:r>
                <a14:m>
                  <m:oMath xmlns:m="http://schemas.openxmlformats.org/officeDocument/2006/math">
                    <m:r>
                      <a:rPr lang="en-US" altLang="zh-TW" b="0" i="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TW"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cs typeface="Times New Roman" panose="02020603050405020304" pitchFamily="18" charset="0"/>
                  </a:rPr>
                  <a:t> m</a:t>
                </a:r>
              </a:p>
            </p:txBody>
          </p:sp>
        </mc:Choice>
        <mc:Fallback>
          <p:sp>
            <p:nvSpPr>
              <p:cNvPr id="12" name="內容版面配置區 11">
                <a:extLst>
                  <a:ext uri="{FF2B5EF4-FFF2-40B4-BE49-F238E27FC236}">
                    <a16:creationId xmlns:a16="http://schemas.microsoft.com/office/drawing/2014/main" id="{652F1AAC-13A7-4F2E-8939-B8B124487E32}"/>
                  </a:ext>
                </a:extLst>
              </p:cNvPr>
              <p:cNvSpPr>
                <a:spLocks noGrp="1" noRot="1" noChangeAspect="1" noMove="1" noResize="1" noEditPoints="1" noAdjustHandles="1" noChangeArrowheads="1" noChangeShapeType="1" noTextEdit="1"/>
              </p:cNvSpPr>
              <p:nvPr>
                <p:ph idx="1"/>
              </p:nvPr>
            </p:nvSpPr>
            <p:spPr>
              <a:xfrm>
                <a:off x="838200" y="1132513"/>
                <a:ext cx="10515600" cy="5044449"/>
              </a:xfrm>
              <a:blipFill>
                <a:blip r:embed="rId2"/>
                <a:stretch>
                  <a:fillRect l="-1043"/>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23302657-684C-41C3-97DB-76FC31705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512677"/>
            <a:ext cx="6734175" cy="2705100"/>
          </a:xfrm>
          <a:prstGeom prst="rect">
            <a:avLst/>
          </a:prstGeom>
        </p:spPr>
      </p:pic>
    </p:spTree>
    <p:extLst>
      <p:ext uri="{BB962C8B-B14F-4D97-AF65-F5344CB8AC3E}">
        <p14:creationId xmlns:p14="http://schemas.microsoft.com/office/powerpoint/2010/main" val="2655126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LCS</a:t>
            </a:r>
            <a:endParaRPr lang="zh-TW" altLang="en-US" sz="3200"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5D75E87E-56B6-4A67-85FE-1BE0DF45C7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115110"/>
            <a:ext cx="4328486" cy="5045075"/>
          </a:xfrm>
        </p:spPr>
      </p:pic>
      <p:pic>
        <p:nvPicPr>
          <p:cNvPr id="7" name="圖片 6">
            <a:extLst>
              <a:ext uri="{FF2B5EF4-FFF2-40B4-BE49-F238E27FC236}">
                <a16:creationId xmlns:a16="http://schemas.microsoft.com/office/drawing/2014/main" id="{37A823C3-DE27-405E-9DCD-139DE08D73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6686" y="1200675"/>
            <a:ext cx="5724525" cy="2057400"/>
          </a:xfrm>
          <a:prstGeom prst="rect">
            <a:avLst/>
          </a:prstGeom>
        </p:spPr>
      </p:pic>
      <p:pic>
        <p:nvPicPr>
          <p:cNvPr id="9" name="圖片 8">
            <a:extLst>
              <a:ext uri="{FF2B5EF4-FFF2-40B4-BE49-F238E27FC236}">
                <a16:creationId xmlns:a16="http://schemas.microsoft.com/office/drawing/2014/main" id="{89B92C4D-A776-4F42-8B60-CBF5886F20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4786" y="3258075"/>
            <a:ext cx="5686425" cy="2609850"/>
          </a:xfrm>
          <a:prstGeom prst="rect">
            <a:avLst/>
          </a:prstGeom>
        </p:spPr>
      </p:pic>
    </p:spTree>
    <p:extLst>
      <p:ext uri="{BB962C8B-B14F-4D97-AF65-F5344CB8AC3E}">
        <p14:creationId xmlns:p14="http://schemas.microsoft.com/office/powerpoint/2010/main" val="2476634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D88E0-92F0-4756-A55F-499E0B4501EB}"/>
              </a:ext>
            </a:extLst>
          </p:cNvPr>
          <p:cNvSpPr>
            <a:spLocks noGrp="1"/>
          </p:cNvSpPr>
          <p:nvPr>
            <p:ph type="title"/>
          </p:nvPr>
        </p:nvSpPr>
        <p:spPr>
          <a:xfrm>
            <a:off x="838200" y="365125"/>
            <a:ext cx="10515600" cy="669348"/>
          </a:xfrm>
        </p:spPr>
        <p:txBody>
          <a:bodyPr>
            <a:normAutofit/>
          </a:bodyPr>
          <a:lstStyle/>
          <a:p>
            <a:r>
              <a:rPr lang="en-US" altLang="zh-TW" sz="3200" dirty="0">
                <a:latin typeface="Times New Roman" panose="02020603050405020304" pitchFamily="18" charset="0"/>
                <a:cs typeface="Times New Roman" panose="02020603050405020304" pitchFamily="18" charset="0"/>
              </a:rPr>
              <a:t>Complexity</a:t>
            </a:r>
            <a:endParaRPr lang="zh-TW" altLang="en-US" sz="3200" dirty="0">
              <a:latin typeface="Times New Roman" panose="02020603050405020304" pitchFamily="18" charset="0"/>
              <a:cs typeface="Times New Roman" panose="02020603050405020304" pitchFamily="18" charset="0"/>
            </a:endParaRPr>
          </a:p>
        </p:txBody>
      </p:sp>
      <p:graphicFrame>
        <p:nvGraphicFramePr>
          <p:cNvPr id="6" name="表格 7">
            <a:extLst>
              <a:ext uri="{FF2B5EF4-FFF2-40B4-BE49-F238E27FC236}">
                <a16:creationId xmlns:a16="http://schemas.microsoft.com/office/drawing/2014/main" id="{D6586FF1-6F6B-49D6-8D9C-4F51433D88D6}"/>
              </a:ext>
            </a:extLst>
          </p:cNvPr>
          <p:cNvGraphicFramePr>
            <a:graphicFrameLocks noGrp="1"/>
          </p:cNvGraphicFramePr>
          <p:nvPr>
            <p:extLst>
              <p:ext uri="{D42A27DB-BD31-4B8C-83A1-F6EECF244321}">
                <p14:modId xmlns:p14="http://schemas.microsoft.com/office/powerpoint/2010/main" val="3498683225"/>
              </p:ext>
            </p:extLst>
          </p:nvPr>
        </p:nvGraphicFramePr>
        <p:xfrm>
          <a:off x="838199" y="1034474"/>
          <a:ext cx="9899709" cy="3989310"/>
        </p:xfrm>
        <a:graphic>
          <a:graphicData uri="http://schemas.openxmlformats.org/drawingml/2006/table">
            <a:tbl>
              <a:tblPr firstRow="1" firstCol="1" bandRow="1">
                <a:tableStyleId>{F5AB1C69-6EDB-4FF4-983F-18BD219EF322}</a:tableStyleId>
              </a:tblPr>
              <a:tblGrid>
                <a:gridCol w="1979942">
                  <a:extLst>
                    <a:ext uri="{9D8B030D-6E8A-4147-A177-3AD203B41FA5}">
                      <a16:colId xmlns:a16="http://schemas.microsoft.com/office/drawing/2014/main" val="4261862374"/>
                    </a:ext>
                  </a:extLst>
                </a:gridCol>
                <a:gridCol w="1979942">
                  <a:extLst>
                    <a:ext uri="{9D8B030D-6E8A-4147-A177-3AD203B41FA5}">
                      <a16:colId xmlns:a16="http://schemas.microsoft.com/office/drawing/2014/main" val="3703734013"/>
                    </a:ext>
                  </a:extLst>
                </a:gridCol>
                <a:gridCol w="1979942">
                  <a:extLst>
                    <a:ext uri="{9D8B030D-6E8A-4147-A177-3AD203B41FA5}">
                      <a16:colId xmlns:a16="http://schemas.microsoft.com/office/drawing/2014/main" val="606895387"/>
                    </a:ext>
                  </a:extLst>
                </a:gridCol>
                <a:gridCol w="2065449">
                  <a:extLst>
                    <a:ext uri="{9D8B030D-6E8A-4147-A177-3AD203B41FA5}">
                      <a16:colId xmlns:a16="http://schemas.microsoft.com/office/drawing/2014/main" val="989511098"/>
                    </a:ext>
                  </a:extLst>
                </a:gridCol>
                <a:gridCol w="1894434">
                  <a:extLst>
                    <a:ext uri="{9D8B030D-6E8A-4147-A177-3AD203B41FA5}">
                      <a16:colId xmlns:a16="http://schemas.microsoft.com/office/drawing/2014/main" val="786729811"/>
                    </a:ext>
                  </a:extLst>
                </a:gridCol>
              </a:tblGrid>
              <a:tr h="636498">
                <a:tc>
                  <a:txBody>
                    <a:bodyPr/>
                    <a:lstStyle/>
                    <a:p>
                      <a:pPr algn="ctr"/>
                      <a:r>
                        <a:rPr lang="en-US" altLang="zh-TW" dirty="0" err="1">
                          <a:latin typeface="Times New Roman" panose="02020603050405020304" pitchFamily="18" charset="0"/>
                          <a:cs typeface="Times New Roman" panose="02020603050405020304" pitchFamily="18" charset="0"/>
                        </a:rPr>
                        <a:t>Algroithm</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Best time complexity</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Times New Roman" panose="02020603050405020304" pitchFamily="18" charset="0"/>
                          <a:cs typeface="Times New Roman" panose="02020603050405020304" pitchFamily="18" charset="0"/>
                        </a:rPr>
                        <a:t>Average time complexity</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dirty="0">
                          <a:latin typeface="Times New Roman" panose="02020603050405020304" pitchFamily="18" charset="0"/>
                          <a:cs typeface="Times New Roman" panose="02020603050405020304" pitchFamily="18" charset="0"/>
                        </a:rPr>
                        <a:t>Worst time complexity</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Space complexity</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01845192"/>
                  </a:ext>
                </a:extLst>
              </a:tr>
              <a:tr h="541830">
                <a:tc>
                  <a:txBody>
                    <a:bodyPr/>
                    <a:lstStyle/>
                    <a:p>
                      <a:pPr algn="ctr"/>
                      <a:r>
                        <a:rPr lang="en-US" altLang="zh-TW" dirty="0">
                          <a:latin typeface="Times New Roman" panose="02020603050405020304" pitchFamily="18" charset="0"/>
                          <a:cs typeface="Times New Roman" panose="02020603050405020304" pitchFamily="18" charset="0"/>
                        </a:rPr>
                        <a:t>LCS</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l-GR" altLang="zh-TW" dirty="0">
                          <a:latin typeface="Times New Roman" panose="02020603050405020304" pitchFamily="18" charset="0"/>
                          <a:cs typeface="Times New Roman" panose="02020603050405020304" pitchFamily="18" charset="0"/>
                        </a:rPr>
                        <a:t>Ω</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307813"/>
                  </a:ext>
                </a:extLst>
              </a:tr>
              <a:tr h="541830">
                <a:tc>
                  <a:txBody>
                    <a:bodyPr/>
                    <a:lstStyle/>
                    <a:p>
                      <a:pPr algn="ctr"/>
                      <a:r>
                        <a:rPr lang="en-US" altLang="zh-TW" dirty="0">
                          <a:latin typeface="Times New Roman" panose="02020603050405020304" pitchFamily="18" charset="0"/>
                          <a:cs typeface="Times New Roman" panose="02020603050405020304" pitchFamily="18" charset="0"/>
                        </a:rPr>
                        <a:t>Liu and Wu</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l-GR" altLang="zh-TW" dirty="0">
                          <a:latin typeface="Times New Roman" panose="02020603050405020304" pitchFamily="18" charset="0"/>
                          <a:cs typeface="Times New Roman" panose="02020603050405020304" pitchFamily="18" charset="0"/>
                        </a:rPr>
                        <a:t>Ω</a:t>
                      </a:r>
                      <a:r>
                        <a:rPr lang="en-US" altLang="zh-TW" dirty="0">
                          <a:latin typeface="Times New Roman" panose="02020603050405020304" pitchFamily="18" charset="0"/>
                          <a:cs typeface="Times New Roman" panose="02020603050405020304" pitchFamily="18" charset="0"/>
                        </a:rPr>
                        <a:t>(n</a:t>
                      </a:r>
                      <a:r>
                        <a:rPr lang="en-US" altLang="zh-TW" baseline="30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O(n</a:t>
                      </a:r>
                      <a:r>
                        <a:rPr lang="en-US" altLang="zh-TW" baseline="30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O(n</a:t>
                      </a:r>
                      <a:r>
                        <a:rPr lang="en-US" altLang="zh-TW" baseline="30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5714427"/>
                  </a:ext>
                </a:extLst>
              </a:tr>
              <a:tr h="541830">
                <a:tc>
                  <a:txBody>
                    <a:bodyPr/>
                    <a:lstStyle/>
                    <a:p>
                      <a:pPr algn="ctr"/>
                      <a:r>
                        <a:rPr lang="en-US" altLang="zh-TW" dirty="0" err="1">
                          <a:latin typeface="Times New Roman" panose="02020603050405020304" pitchFamily="18" charset="0"/>
                          <a:cs typeface="Times New Roman" panose="02020603050405020304" pitchFamily="18" charset="0"/>
                        </a:rPr>
                        <a:t>Nakatsu</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l-GR" altLang="zh-TW" dirty="0">
                          <a:latin typeface="Times New Roman" panose="02020603050405020304" pitchFamily="18" charset="0"/>
                          <a:cs typeface="Times New Roman" panose="02020603050405020304" pitchFamily="18" charset="0"/>
                        </a:rPr>
                        <a:t>Ω</a:t>
                      </a:r>
                      <a:r>
                        <a:rPr lang="en-US" altLang="zh-TW" dirty="0">
                          <a:latin typeface="Times New Roman" panose="02020603050405020304" pitchFamily="18" charset="0"/>
                          <a:cs typeface="Times New Roman" panose="02020603050405020304" pitchFamily="18" charset="0"/>
                        </a:rPr>
                        <a:t>(n(m-p))</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O(n(m-p))</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46590591"/>
                  </a:ext>
                </a:extLst>
              </a:tr>
              <a:tr h="541830">
                <a:tc>
                  <a:txBody>
                    <a:bodyPr/>
                    <a:lstStyle/>
                    <a:p>
                      <a:pPr algn="ctr"/>
                      <a:r>
                        <a:rPr lang="en-US" altLang="zh-TW" dirty="0">
                          <a:latin typeface="Times New Roman" panose="02020603050405020304" pitchFamily="18" charset="0"/>
                          <a:cs typeface="Times New Roman" panose="02020603050405020304" pitchFamily="18" charset="0"/>
                        </a:rPr>
                        <a:t>Hirschberg</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l-GR" altLang="zh-TW" dirty="0">
                          <a:latin typeface="Times New Roman" panose="02020603050405020304" pitchFamily="18" charset="0"/>
                          <a:cs typeface="Times New Roman" panose="02020603050405020304" pitchFamily="18" charset="0"/>
                        </a:rPr>
                        <a:t>Ω</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O(n)</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3068516"/>
                  </a:ext>
                </a:extLst>
              </a:tr>
              <a:tr h="541830">
                <a:tc>
                  <a:txBody>
                    <a:bodyPr/>
                    <a:lstStyle/>
                    <a:p>
                      <a:pPr algn="ctr"/>
                      <a:r>
                        <a:rPr lang="en-US" altLang="zh-TW" dirty="0">
                          <a:latin typeface="Times New Roman" panose="02020603050405020304" pitchFamily="18" charset="0"/>
                          <a:cs typeface="Times New Roman" panose="02020603050405020304" pitchFamily="18" charset="0"/>
                        </a:rPr>
                        <a:t>Chin and Poon</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l-GR" altLang="zh-TW" dirty="0">
                          <a:latin typeface="Times New Roman" panose="02020603050405020304" pitchFamily="18" charset="0"/>
                          <a:cs typeface="Times New Roman" panose="02020603050405020304" pitchFamily="18" charset="0"/>
                        </a:rPr>
                        <a:t>Ω</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ns+min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ds,lm</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ns+min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ds,lm</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ns+min</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ds,lm</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mn</a:t>
                      </a:r>
                      <a:r>
                        <a:rPr lang="en-US" altLang="zh-TW"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30822034"/>
                  </a:ext>
                </a:extLst>
              </a:tr>
              <a:tr h="636498">
                <a:tc>
                  <a:txBody>
                    <a:bodyPr/>
                    <a:lstStyle/>
                    <a:p>
                      <a:pPr algn="ctr"/>
                      <a:r>
                        <a:rPr lang="en-US" altLang="zh-TW" dirty="0">
                          <a:latin typeface="Times New Roman" panose="02020603050405020304" pitchFamily="18" charset="0"/>
                          <a:cs typeface="Times New Roman" panose="02020603050405020304" pitchFamily="18" charset="0"/>
                        </a:rPr>
                        <a:t>this paper</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l-GR" altLang="zh-TW" dirty="0">
                          <a:latin typeface="Times New Roman" panose="02020603050405020304" pitchFamily="18" charset="0"/>
                          <a:cs typeface="Times New Roman" panose="02020603050405020304" pitchFamily="18" charset="0"/>
                        </a:rPr>
                        <a:t>Ω</a:t>
                      </a:r>
                      <a:r>
                        <a:rPr lang="en-US" altLang="zh-TW" dirty="0">
                          <a:latin typeface="Times New Roman" panose="02020603050405020304" pitchFamily="18" charset="0"/>
                          <a:cs typeface="Times New Roman" panose="02020603050405020304" pitchFamily="18" charset="0"/>
                        </a:rPr>
                        <a:t>(</a:t>
                      </a:r>
                      <a:r>
                        <a:rPr lang="en-US" altLang="zh-TW" dirty="0" err="1">
                          <a:latin typeface="Times New Roman" panose="02020603050405020304" pitchFamily="18" charset="0"/>
                          <a:cs typeface="Times New Roman" panose="02020603050405020304" pitchFamily="18" charset="0"/>
                        </a:rPr>
                        <a:t>nlog</a:t>
                      </a:r>
                      <a:r>
                        <a:rPr lang="en-US" altLang="zh-TW" dirty="0">
                          <a:latin typeface="Times New Roman" panose="02020603050405020304" pitchFamily="18" charset="0"/>
                          <a:cs typeface="Times New Roman" panose="02020603050405020304" pitchFamily="18" charset="0"/>
                        </a:rPr>
                        <a:t>(n))</a:t>
                      </a:r>
                    </a:p>
                    <a:p>
                      <a:pPr algn="ctr"/>
                      <a:r>
                        <a:rPr lang="en-US" altLang="zh-TW" dirty="0">
                          <a:latin typeface="Times New Roman" panose="02020603050405020304" pitchFamily="18" charset="0"/>
                          <a:cs typeface="Times New Roman" panose="02020603050405020304" pitchFamily="18" charset="0"/>
                        </a:rPr>
                        <a:t>n=min(|A|,|B|)</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klog</a:t>
                      </a:r>
                      <a:r>
                        <a:rPr lang="en-US" altLang="zh-TW" dirty="0">
                          <a:latin typeface="Times New Roman" panose="02020603050405020304" pitchFamily="18" charset="0"/>
                          <a:cs typeface="Times New Roman" panose="02020603050405020304" pitchFamily="18" charset="0"/>
                        </a:rPr>
                        <a:t>(n))</a:t>
                      </a:r>
                    </a:p>
                    <a:p>
                      <a:pPr algn="ctr"/>
                      <a:r>
                        <a:rPr lang="en-US" altLang="zh-TW" dirty="0">
                          <a:latin typeface="Times New Roman" panose="02020603050405020304" pitchFamily="18" charset="0"/>
                          <a:cs typeface="Times New Roman" panose="02020603050405020304" pitchFamily="18" charset="0"/>
                        </a:rPr>
                        <a:t>k=max(|A|,|B|)</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a:t>
                      </a:r>
                      <a:r>
                        <a:rPr lang="en-US" altLang="zh-TW" dirty="0" err="1">
                          <a:latin typeface="Times New Roman" panose="02020603050405020304" pitchFamily="18" charset="0"/>
                          <a:cs typeface="Times New Roman" panose="02020603050405020304" pitchFamily="18" charset="0"/>
                        </a:rPr>
                        <a:t>klog</a:t>
                      </a:r>
                      <a:r>
                        <a:rPr lang="en-US" altLang="zh-TW" dirty="0">
                          <a:latin typeface="Times New Roman" panose="02020603050405020304" pitchFamily="18" charset="0"/>
                          <a:cs typeface="Times New Roman" panose="02020603050405020304" pitchFamily="18" charset="0"/>
                        </a:rPr>
                        <a:t>(n)</a:t>
                      </a:r>
                      <a:r>
                        <a:rPr lang="en-US" altLang="zh-TW" baseline="30000" dirty="0">
                          <a:latin typeface="Times New Roman" panose="02020603050405020304" pitchFamily="18" charset="0"/>
                          <a:cs typeface="Times New Roman" panose="02020603050405020304" pitchFamily="18" charset="0"/>
                        </a:rPr>
                        <a:t>2</a:t>
                      </a:r>
                      <a:r>
                        <a:rPr lang="en-US" altLang="zh-TW" baseline="0" dirty="0">
                          <a:latin typeface="Times New Roman" panose="02020603050405020304" pitchFamily="18" charset="0"/>
                          <a:cs typeface="Times New Roman" panose="02020603050405020304" pitchFamily="18" charset="0"/>
                        </a:rPr>
                        <a:t>+nlog(n))</a:t>
                      </a:r>
                      <a:endParaRPr lang="en-US" altLang="zh-TW"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a:latin typeface="Times New Roman" panose="02020603050405020304" pitchFamily="18" charset="0"/>
                          <a:cs typeface="Times New Roman" panose="02020603050405020304" pitchFamily="18" charset="0"/>
                        </a:rPr>
                        <a:t>O(n)</a:t>
                      </a:r>
                      <a:endParaRPr lang="zh-TW" alt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4569249"/>
                  </a:ext>
                </a:extLst>
              </a:tr>
            </a:tbl>
          </a:graphicData>
        </a:graphic>
      </p:graphicFrame>
      <p:pic>
        <p:nvPicPr>
          <p:cNvPr id="11" name="圖片 10">
            <a:extLst>
              <a:ext uri="{FF2B5EF4-FFF2-40B4-BE49-F238E27FC236}">
                <a16:creationId xmlns:a16="http://schemas.microsoft.com/office/drawing/2014/main" id="{71BDE7EB-0A96-4E69-AF4E-660078E28A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30565" y="5086350"/>
            <a:ext cx="5514975" cy="1771650"/>
          </a:xfrm>
          <a:prstGeom prst="rect">
            <a:avLst/>
          </a:prstGeom>
        </p:spPr>
      </p:pic>
    </p:spTree>
    <p:extLst>
      <p:ext uri="{BB962C8B-B14F-4D97-AF65-F5344CB8AC3E}">
        <p14:creationId xmlns:p14="http://schemas.microsoft.com/office/powerpoint/2010/main" val="58444726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4197</TotalTime>
  <Words>399</Words>
  <Application>Microsoft Office PowerPoint</Application>
  <PresentationFormat>寬螢幕</PresentationFormat>
  <Paragraphs>58</Paragraphs>
  <Slides>6</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6</vt:i4>
      </vt:variant>
    </vt:vector>
  </HeadingPairs>
  <TitlesOfParts>
    <vt:vector size="12" baseType="lpstr">
      <vt:lpstr>Arial</vt:lpstr>
      <vt:lpstr>Calibri</vt:lpstr>
      <vt:lpstr>Calibri Light</vt:lpstr>
      <vt:lpstr>Cambria Math</vt:lpstr>
      <vt:lpstr>Times New Roman</vt:lpstr>
      <vt:lpstr>Office 佈景主題</vt:lpstr>
      <vt:lpstr>An Approach for Improving Complexity of Longest Common Subsequence Problems using Queue and Divide-and-Conquer Method</vt:lpstr>
      <vt:lpstr>Abstract</vt:lpstr>
      <vt:lpstr>LCS</vt:lpstr>
      <vt:lpstr>divide and conquer</vt:lpstr>
      <vt:lpstr>LCS</vt:lpstr>
      <vt:lpstr>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model and algorithm for sequence alignment</dc:title>
  <dc:creator>吳篤承</dc:creator>
  <cp:lastModifiedBy>tu cheng</cp:lastModifiedBy>
  <cp:revision>279</cp:revision>
  <dcterms:created xsi:type="dcterms:W3CDTF">2018-09-30T05:00:05Z</dcterms:created>
  <dcterms:modified xsi:type="dcterms:W3CDTF">2020-01-14T06:08:28Z</dcterms:modified>
</cp:coreProperties>
</file>