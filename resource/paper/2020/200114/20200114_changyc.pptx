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81" r:id="rId7"/>
    <p:sldId id="262" r:id="rId8"/>
    <p:sldId id="282" r:id="rId9"/>
    <p:sldId id="265" r:id="rId10"/>
    <p:sldId id="280" r:id="rId11"/>
    <p:sldId id="268" r:id="rId12"/>
    <p:sldId id="290" r:id="rId13"/>
    <p:sldId id="291" r:id="rId14"/>
    <p:sldId id="292" r:id="rId15"/>
    <p:sldId id="293" r:id="rId16"/>
    <p:sldId id="294" r:id="rId17"/>
    <p:sldId id="296" r:id="rId18"/>
    <p:sldId id="297" r:id="rId19"/>
    <p:sldId id="260" r:id="rId20"/>
    <p:sldId id="278" r:id="rId21"/>
    <p:sldId id="277" r:id="rId22"/>
    <p:sldId id="279"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81D9"/>
    <a:srgbClr val="934B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97" autoAdjust="0"/>
  </p:normalViewPr>
  <p:slideViewPr>
    <p:cSldViewPr snapToGrid="0">
      <p:cViewPr varScale="1">
        <p:scale>
          <a:sx n="108" d="100"/>
          <a:sy n="108" d="100"/>
        </p:scale>
        <p:origin x="678" y="96"/>
      </p:cViewPr>
      <p:guideLst/>
    </p:cSldViewPr>
  </p:slideViewPr>
  <p:outlineViewPr>
    <p:cViewPr>
      <p:scale>
        <a:sx n="33" d="100"/>
        <a:sy n="33" d="100"/>
      </p:scale>
      <p:origin x="0" y="-954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5D6350-B6ED-41FC-9D7E-7F401D1D3B8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10C62AA-5FAB-4981-A45A-1A8517CA60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450ED99-A302-4A55-B3DF-54415272259F}"/>
              </a:ext>
            </a:extLst>
          </p:cNvPr>
          <p:cNvSpPr>
            <a:spLocks noGrp="1"/>
          </p:cNvSpPr>
          <p:nvPr>
            <p:ph type="dt" sz="half" idx="10"/>
          </p:nvPr>
        </p:nvSpPr>
        <p:spPr/>
        <p:txBody>
          <a:bodyPr/>
          <a:lstStyle/>
          <a:p>
            <a:fld id="{B409E770-9C80-4ED4-983E-8A15F27ADAA7}"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9E377494-B569-42CD-88D2-0988ED58F5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7DF940-0364-4C9B-9D2E-F53DCBCFE38B}"/>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604640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292AC1-9699-4F08-B315-69E76AA049C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A8B8D7B-403B-4E87-82BF-F03CE7156135}"/>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F124561-057D-4469-9AB5-4C6597D38B9F}"/>
              </a:ext>
            </a:extLst>
          </p:cNvPr>
          <p:cNvSpPr>
            <a:spLocks noGrp="1"/>
          </p:cNvSpPr>
          <p:nvPr>
            <p:ph type="dt" sz="half" idx="10"/>
          </p:nvPr>
        </p:nvSpPr>
        <p:spPr/>
        <p:txBody>
          <a:bodyPr/>
          <a:lstStyle/>
          <a:p>
            <a:fld id="{B409E770-9C80-4ED4-983E-8A15F27ADAA7}"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C1CA6533-3974-4E64-AB88-349851F808A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11307E2-178E-4165-A305-28B315270CBA}"/>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4242834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54F4D4-9F65-4A3C-90CA-5E6012D4A6B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605989C-B6AE-485E-B909-2AACC4420A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7F143C1-A721-46A9-8DA4-CBAF6D76DA12}"/>
              </a:ext>
            </a:extLst>
          </p:cNvPr>
          <p:cNvSpPr>
            <a:spLocks noGrp="1"/>
          </p:cNvSpPr>
          <p:nvPr>
            <p:ph type="dt" sz="half" idx="10"/>
          </p:nvPr>
        </p:nvSpPr>
        <p:spPr/>
        <p:txBody>
          <a:bodyPr/>
          <a:lstStyle/>
          <a:p>
            <a:fld id="{B409E770-9C80-4ED4-983E-8A15F27ADAA7}"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58B4BB70-EBF3-4E15-B0D9-362EC6358D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82C94A2-8B8A-4F73-8AB7-9086E29781D9}"/>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836695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CF601E-8FD2-4C96-84ED-A1535992AB7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5658968-2AA4-47D9-8EE7-25EB5B574F3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CCB8EEDE-671F-4288-8102-60AF3949E29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7C4633D-0EA1-483A-BCAE-A2C11947C28E}"/>
              </a:ext>
            </a:extLst>
          </p:cNvPr>
          <p:cNvSpPr>
            <a:spLocks noGrp="1"/>
          </p:cNvSpPr>
          <p:nvPr>
            <p:ph type="dt" sz="half" idx="10"/>
          </p:nvPr>
        </p:nvSpPr>
        <p:spPr/>
        <p:txBody>
          <a:bodyPr/>
          <a:lstStyle/>
          <a:p>
            <a:fld id="{B409E770-9C80-4ED4-983E-8A15F27ADAA7}" type="datetimeFigureOut">
              <a:rPr lang="zh-TW" altLang="en-US" smtClean="0"/>
              <a:t>2020/1/14</a:t>
            </a:fld>
            <a:endParaRPr lang="zh-TW" altLang="en-US"/>
          </a:p>
        </p:txBody>
      </p:sp>
      <p:sp>
        <p:nvSpPr>
          <p:cNvPr id="6" name="頁尾版面配置區 5">
            <a:extLst>
              <a:ext uri="{FF2B5EF4-FFF2-40B4-BE49-F238E27FC236}">
                <a16:creationId xmlns:a16="http://schemas.microsoft.com/office/drawing/2014/main" id="{B89957CD-A76F-4E8A-A600-37A8E89B3AA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0CD5A3C-70C9-4468-805A-3216FAD54C92}"/>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769286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98B42B-89C1-47C8-B9DF-997A8833F11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3EC08FF-5F84-4CC0-B4E9-D623E4AC3E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A51DA6E-7A90-4DB0-9126-5CC8C4B0601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BA7D7BB7-2FC8-4BE2-A1A4-57D098F58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64E82F7-2C0E-4490-AD80-0749C7C5B1A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F137E754-7BA1-463B-94AE-949313510271}"/>
              </a:ext>
            </a:extLst>
          </p:cNvPr>
          <p:cNvSpPr>
            <a:spLocks noGrp="1"/>
          </p:cNvSpPr>
          <p:nvPr>
            <p:ph type="dt" sz="half" idx="10"/>
          </p:nvPr>
        </p:nvSpPr>
        <p:spPr/>
        <p:txBody>
          <a:bodyPr/>
          <a:lstStyle/>
          <a:p>
            <a:fld id="{B409E770-9C80-4ED4-983E-8A15F27ADAA7}" type="datetimeFigureOut">
              <a:rPr lang="zh-TW" altLang="en-US" smtClean="0"/>
              <a:t>2020/1/14</a:t>
            </a:fld>
            <a:endParaRPr lang="zh-TW" altLang="en-US"/>
          </a:p>
        </p:txBody>
      </p:sp>
      <p:sp>
        <p:nvSpPr>
          <p:cNvPr id="8" name="頁尾版面配置區 7">
            <a:extLst>
              <a:ext uri="{FF2B5EF4-FFF2-40B4-BE49-F238E27FC236}">
                <a16:creationId xmlns:a16="http://schemas.microsoft.com/office/drawing/2014/main" id="{8380C5EB-E691-4156-928C-26330C64B11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E1A806DF-D52B-4FB1-971E-F10E0C2DF23D}"/>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704638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C3BD06-DAE3-4E3E-B6B3-64819162963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7A04491-282C-4221-A3EF-28A94F786F36}"/>
              </a:ext>
            </a:extLst>
          </p:cNvPr>
          <p:cNvSpPr>
            <a:spLocks noGrp="1"/>
          </p:cNvSpPr>
          <p:nvPr>
            <p:ph type="dt" sz="half" idx="10"/>
          </p:nvPr>
        </p:nvSpPr>
        <p:spPr/>
        <p:txBody>
          <a:bodyPr/>
          <a:lstStyle/>
          <a:p>
            <a:fld id="{B409E770-9C80-4ED4-983E-8A15F27ADAA7}" type="datetimeFigureOut">
              <a:rPr lang="zh-TW" altLang="en-US" smtClean="0"/>
              <a:t>2020/1/14</a:t>
            </a:fld>
            <a:endParaRPr lang="zh-TW" altLang="en-US"/>
          </a:p>
        </p:txBody>
      </p:sp>
      <p:sp>
        <p:nvSpPr>
          <p:cNvPr id="4" name="頁尾版面配置區 3">
            <a:extLst>
              <a:ext uri="{FF2B5EF4-FFF2-40B4-BE49-F238E27FC236}">
                <a16:creationId xmlns:a16="http://schemas.microsoft.com/office/drawing/2014/main" id="{271379CA-0E38-42B7-BE99-6B584783AB9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4B7507D-DFF5-48B7-9C10-7C05EE3825B4}"/>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953725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B1D52D3-FF08-4F05-AE9A-D07E40E7AE69}"/>
              </a:ext>
            </a:extLst>
          </p:cNvPr>
          <p:cNvSpPr>
            <a:spLocks noGrp="1"/>
          </p:cNvSpPr>
          <p:nvPr>
            <p:ph type="dt" sz="half" idx="10"/>
          </p:nvPr>
        </p:nvSpPr>
        <p:spPr/>
        <p:txBody>
          <a:bodyPr/>
          <a:lstStyle/>
          <a:p>
            <a:fld id="{B409E770-9C80-4ED4-983E-8A15F27ADAA7}" type="datetimeFigureOut">
              <a:rPr lang="zh-TW" altLang="en-US" smtClean="0"/>
              <a:t>2020/1/14</a:t>
            </a:fld>
            <a:endParaRPr lang="zh-TW" altLang="en-US"/>
          </a:p>
        </p:txBody>
      </p:sp>
      <p:sp>
        <p:nvSpPr>
          <p:cNvPr id="3" name="頁尾版面配置區 2">
            <a:extLst>
              <a:ext uri="{FF2B5EF4-FFF2-40B4-BE49-F238E27FC236}">
                <a16:creationId xmlns:a16="http://schemas.microsoft.com/office/drawing/2014/main" id="{E2090C79-D9CF-4D2A-85D5-EBCD12C0C9A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2EFD9B8-B153-43FE-B1B0-FDFA19393B4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3326377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17D1F5-4F45-434A-9699-03158D52967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A64CFA46-9726-4680-8164-F1258B007A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88E2037-0EFD-4F48-A629-1F43D084A2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9FA2B0E-7569-4EE9-B847-3B3B3E00C7EE}"/>
              </a:ext>
            </a:extLst>
          </p:cNvPr>
          <p:cNvSpPr>
            <a:spLocks noGrp="1"/>
          </p:cNvSpPr>
          <p:nvPr>
            <p:ph type="dt" sz="half" idx="10"/>
          </p:nvPr>
        </p:nvSpPr>
        <p:spPr/>
        <p:txBody>
          <a:bodyPr/>
          <a:lstStyle/>
          <a:p>
            <a:fld id="{B409E770-9C80-4ED4-983E-8A15F27ADAA7}" type="datetimeFigureOut">
              <a:rPr lang="zh-TW" altLang="en-US" smtClean="0"/>
              <a:t>2020/1/14</a:t>
            </a:fld>
            <a:endParaRPr lang="zh-TW" altLang="en-US"/>
          </a:p>
        </p:txBody>
      </p:sp>
      <p:sp>
        <p:nvSpPr>
          <p:cNvPr id="6" name="頁尾版面配置區 5">
            <a:extLst>
              <a:ext uri="{FF2B5EF4-FFF2-40B4-BE49-F238E27FC236}">
                <a16:creationId xmlns:a16="http://schemas.microsoft.com/office/drawing/2014/main" id="{A2A74A09-DF0D-4516-9B6E-A1BA4FA5099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AE58F68-574D-4991-AB67-979AE7EC2E00}"/>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926713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4A608B-EB2D-43E3-806D-315F7F6C6E1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17BB9D9-6CF8-47E2-9613-CFC9E5CFB4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DAE305B-85A6-42D3-BDFE-E012EAD5A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333906F-B54E-487C-A495-4EE49A687E1E}"/>
              </a:ext>
            </a:extLst>
          </p:cNvPr>
          <p:cNvSpPr>
            <a:spLocks noGrp="1"/>
          </p:cNvSpPr>
          <p:nvPr>
            <p:ph type="dt" sz="half" idx="10"/>
          </p:nvPr>
        </p:nvSpPr>
        <p:spPr/>
        <p:txBody>
          <a:bodyPr/>
          <a:lstStyle/>
          <a:p>
            <a:fld id="{B409E770-9C80-4ED4-983E-8A15F27ADAA7}" type="datetimeFigureOut">
              <a:rPr lang="zh-TW" altLang="en-US" smtClean="0"/>
              <a:t>2020/1/14</a:t>
            </a:fld>
            <a:endParaRPr lang="zh-TW" altLang="en-US"/>
          </a:p>
        </p:txBody>
      </p:sp>
      <p:sp>
        <p:nvSpPr>
          <p:cNvPr id="6" name="頁尾版面配置區 5">
            <a:extLst>
              <a:ext uri="{FF2B5EF4-FFF2-40B4-BE49-F238E27FC236}">
                <a16:creationId xmlns:a16="http://schemas.microsoft.com/office/drawing/2014/main" id="{0AFDA8D6-DFC2-44AD-AB91-CCEF4579961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F7815D7-84B9-4D45-8E5A-58AFEF382EA5}"/>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860817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763308-F782-4AC8-A223-E354635B38F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73B59CF-1B41-495A-93CF-6101A5CE7C02}"/>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9B80BB1-A83C-4652-BAC8-2B3F681B2890}"/>
              </a:ext>
            </a:extLst>
          </p:cNvPr>
          <p:cNvSpPr>
            <a:spLocks noGrp="1"/>
          </p:cNvSpPr>
          <p:nvPr>
            <p:ph type="dt" sz="half" idx="10"/>
          </p:nvPr>
        </p:nvSpPr>
        <p:spPr/>
        <p:txBody>
          <a:bodyPr/>
          <a:lstStyle/>
          <a:p>
            <a:fld id="{B409E770-9C80-4ED4-983E-8A15F27ADAA7}"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1707E1EE-E900-4925-B1A8-EE7DD6AF46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91F960C-8C3A-496F-B3A0-26297D927F1A}"/>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49013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0B6D235-6449-4393-9C71-2079D2809C5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D2B0F98-2672-4DE5-827E-1F7351B7F94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43C27C8-C683-4B57-A443-2B79354B9887}"/>
              </a:ext>
            </a:extLst>
          </p:cNvPr>
          <p:cNvSpPr>
            <a:spLocks noGrp="1"/>
          </p:cNvSpPr>
          <p:nvPr>
            <p:ph type="dt" sz="half" idx="10"/>
          </p:nvPr>
        </p:nvSpPr>
        <p:spPr/>
        <p:txBody>
          <a:bodyPr/>
          <a:lstStyle/>
          <a:p>
            <a:fld id="{B409E770-9C80-4ED4-983E-8A15F27ADAA7}"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8424A34C-43DD-4DF5-84E9-8562F9B9B40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F67B5B2-0E14-4C16-8BB2-353A2AA0BADE}"/>
              </a:ext>
            </a:extLst>
          </p:cNvPr>
          <p:cNvSpPr>
            <a:spLocks noGrp="1"/>
          </p:cNvSpPr>
          <p:nvPr>
            <p:ph type="sldNum" sz="quarter" idx="12"/>
          </p:nvPr>
        </p:nvSpPr>
        <p:spPr/>
        <p:txBody>
          <a:body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1430112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747F35C-0173-40E0-88F5-5C85ABA0CC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518B1AB-6AFD-4952-BDFB-11797FAB99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8BCFE33-872D-4C90-867C-8B41F7A90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9E770-9C80-4ED4-983E-8A15F27ADAA7}"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010F5102-CD48-4F14-B5B2-F49CC9C34F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3021C4BF-8ADC-4392-A585-48B57FAFAD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95738F-21BE-4DF4-85F7-2BB3376BAEFC}" type="slidenum">
              <a:rPr lang="zh-TW" altLang="en-US" smtClean="0"/>
              <a:t>‹#›</a:t>
            </a:fld>
            <a:endParaRPr lang="zh-TW" altLang="en-US"/>
          </a:p>
        </p:txBody>
      </p:sp>
    </p:spTree>
    <p:extLst>
      <p:ext uri="{BB962C8B-B14F-4D97-AF65-F5344CB8AC3E}">
        <p14:creationId xmlns:p14="http://schemas.microsoft.com/office/powerpoint/2010/main" val="2940820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684BF-5890-4FC5-B196-08274D50E2DE}"/>
              </a:ext>
            </a:extLst>
          </p:cNvPr>
          <p:cNvSpPr>
            <a:spLocks noGrp="1"/>
          </p:cNvSpPr>
          <p:nvPr>
            <p:ph type="ctrTitle"/>
          </p:nvPr>
        </p:nvSpPr>
        <p:spPr>
          <a:xfrm>
            <a:off x="1181493" y="1122363"/>
            <a:ext cx="9829014" cy="2387600"/>
          </a:xfrm>
        </p:spPr>
        <p:txBody>
          <a:bodyPr>
            <a:normAutofit/>
          </a:bodyPr>
          <a:lstStyle/>
          <a:p>
            <a:r>
              <a:rPr lang="en-US" altLang="zh-TW" sz="4800" dirty="0">
                <a:latin typeface="Times New Roman" panose="02020603050405020304" pitchFamily="18" charset="0"/>
                <a:cs typeface="Times New Roman" panose="02020603050405020304" pitchFamily="18" charset="0"/>
              </a:rPr>
              <a:t>A New String Matching Algorithm Based on</a:t>
            </a:r>
            <a:br>
              <a:rPr lang="en-US" altLang="zh-TW" sz="4800" dirty="0">
                <a:latin typeface="Times New Roman" panose="02020603050405020304" pitchFamily="18" charset="0"/>
                <a:cs typeface="Times New Roman" panose="02020603050405020304" pitchFamily="18" charset="0"/>
              </a:rPr>
            </a:br>
            <a:r>
              <a:rPr lang="en-US" altLang="zh-TW" sz="4800" dirty="0">
                <a:latin typeface="Times New Roman" panose="02020603050405020304" pitchFamily="18" charset="0"/>
                <a:cs typeface="Times New Roman" panose="02020603050405020304" pitchFamily="18" charset="0"/>
              </a:rPr>
              <a:t>Logical Indexing</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5B088C0-E697-4363-A21A-D66DFFC167BB}"/>
              </a:ext>
            </a:extLst>
          </p:cNvPr>
          <p:cNvSpPr>
            <a:spLocks noGrp="1"/>
          </p:cNvSpPr>
          <p:nvPr>
            <p:ph type="subTitle" idx="1"/>
          </p:nvPr>
        </p:nvSpPr>
        <p:spPr>
          <a:xfrm>
            <a:off x="1014954" y="3677452"/>
            <a:ext cx="10162093" cy="1655762"/>
          </a:xfrm>
        </p:spPr>
        <p:txBody>
          <a:bodyPr>
            <a:noAutofit/>
          </a:bodyPr>
          <a:lstStyle/>
          <a:p>
            <a:r>
              <a:rPr lang="en-US" altLang="zh-TW" dirty="0" err="1">
                <a:latin typeface="Times New Roman" panose="02020603050405020304" pitchFamily="18" charset="0"/>
                <a:cs typeface="Times New Roman" panose="02020603050405020304" pitchFamily="18" charset="0"/>
              </a:rPr>
              <a:t>Daniar</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Heri</a:t>
            </a:r>
            <a:r>
              <a:rPr lang="en-US" altLang="zh-TW" dirty="0">
                <a:latin typeface="Times New Roman" panose="02020603050405020304" pitchFamily="18" charset="0"/>
                <a:cs typeface="Times New Roman" panose="02020603050405020304" pitchFamily="18" charset="0"/>
              </a:rPr>
              <a:t> Kurniawan, Ir. Rinaldi Munir, M.T.</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The 5th International Conference on Electrical Engineering and Informatics 2015</a:t>
            </a:r>
          </a:p>
          <a:p>
            <a:r>
              <a:rPr lang="en-US" altLang="zh-TW" dirty="0">
                <a:latin typeface="Times New Roman" panose="02020603050405020304" pitchFamily="18" charset="0"/>
                <a:cs typeface="Times New Roman" panose="02020603050405020304" pitchFamily="18" charset="0"/>
              </a:rPr>
              <a:t>August 10-11, 2015, Bali, Indonesia</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EAEC4D25-9ABF-4EA3-BD8D-ACD84E94CF46}"/>
              </a:ext>
            </a:extLst>
          </p:cNvPr>
          <p:cNvSpPr txBox="1"/>
          <p:nvPr/>
        </p:nvSpPr>
        <p:spPr>
          <a:xfrm>
            <a:off x="8942664" y="5933983"/>
            <a:ext cx="3249336" cy="646331"/>
          </a:xfrm>
          <a:prstGeom prst="rect">
            <a:avLst/>
          </a:prstGeom>
          <a:noFill/>
        </p:spPr>
        <p:txBody>
          <a:bodyPr wrap="square" rtlCol="0">
            <a:spAutoFit/>
          </a:bodyPr>
          <a:lstStyle/>
          <a:p>
            <a:pPr algn="r"/>
            <a:r>
              <a:rPr lang="en-US" altLang="zh-TW" dirty="0">
                <a:latin typeface="Times New Roman" panose="02020603050405020304" pitchFamily="18" charset="0"/>
                <a:cs typeface="Times New Roman" panose="02020603050405020304" pitchFamily="18" charset="0"/>
              </a:rPr>
              <a:t>Presenter</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Yu-Cheng Chang</a:t>
            </a:r>
          </a:p>
          <a:p>
            <a:pPr algn="r"/>
            <a:r>
              <a:rPr lang="en-US" altLang="zh-TW" dirty="0">
                <a:latin typeface="Times New Roman" panose="02020603050405020304" pitchFamily="18" charset="0"/>
                <a:cs typeface="Times New Roman" panose="02020603050405020304" pitchFamily="18" charset="0"/>
              </a:rPr>
              <a:t>Date</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Jan. 14, 2019</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90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CEA76A-1E46-44F4-9F98-E2601768139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472F8F6A-E9D1-43A3-9430-12CE3742B32C}"/>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Searching process performance is very important in this modern world that consists of various advanced technology. String matching algorithm is one of the most commonly applied algorithms for searching. String that contains sequences of character is the simplest representation of any complex data in our real life, such as search engine database, finger print minutiae, or DNA sequence. The current most famous string algorithms are Knuth-Morris-Pratt (KMP) algorithm and Boyer-Moore (BM) algorithm. Boyer-Moore algorithm and KMP algorithm are not efficient in some cases. We introduced a new variation of string matching algorithm based on Logical-Indexing (LI), which is more efficient than those algorithms.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3740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CEA76A-1E46-44F4-9F98-E2601768139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472F8F6A-E9D1-43A3-9430-12CE3742B32C}"/>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Logical-Indexing algorithm implements a new function or method and defines different jumping rules compared to others. The indexes of texts and patterns are used to reduce the number of comparisons. Index enables us to analyze the condition of comparison without directly comparing each character in the pattern. Theoretically, we have proven that Logical-Indexing algorithm can skip more characters than KMP and BM algorithm by analyzing KMP’s and BM’s weaknesses then giving the better solution that are implemented in LI. Furthermore, experiments conducted on various combinations of pattern matching cases also demonstrate that the average number of LI’s direct comparisons is smaller than KMP’s and BM’s algorithm.</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3439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F76C75-22E3-422A-B6FD-7FCEA19A852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Term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64D975BA-15D2-4C69-B39D-19108AF73522}"/>
              </a:ext>
            </a:extLst>
          </p:cNvPr>
          <p:cNvSpPr>
            <a:spLocks noGrp="1"/>
          </p:cNvSpPr>
          <p:nvPr>
            <p:ph idx="1"/>
          </p:nvPr>
        </p:nvSpPr>
        <p:spPr/>
        <p:txBody>
          <a:bodyPr>
            <a:normAutofit fontScale="92500" lnSpcReduction="10000"/>
          </a:bodyPr>
          <a:lstStyle/>
          <a:p>
            <a:pPr marL="0" indent="0">
              <a:buNone/>
            </a:pPr>
            <a:r>
              <a:rPr lang="en-US" altLang="zh-TW" dirty="0">
                <a:latin typeface="Times New Roman" panose="02020603050405020304" pitchFamily="18" charset="0"/>
                <a:cs typeface="Times New Roman" panose="02020603050405020304" pitchFamily="18" charset="0"/>
              </a:rPr>
              <a:t>S is a string of size m, P is a string of size n, n &lt; m</a:t>
            </a:r>
          </a:p>
          <a:p>
            <a:pPr marL="0" indent="0">
              <a:buNone/>
            </a:pPr>
            <a:r>
              <a:rPr lang="zh-TW" altLang="en-US" b="1" dirty="0">
                <a:latin typeface="Times New Roman" panose="02020603050405020304" pitchFamily="18" charset="0"/>
                <a:cs typeface="Times New Roman" panose="02020603050405020304" pitchFamily="18" charset="0"/>
              </a:rPr>
              <a:t>Ｓ＝</a:t>
            </a:r>
            <a:r>
              <a:rPr lang="zh-TW" altLang="en-US" b="1" dirty="0">
                <a:solidFill>
                  <a:srgbClr val="7030A0"/>
                </a:solidFill>
                <a:latin typeface="Times New Roman" panose="02020603050405020304" pitchFamily="18" charset="0"/>
                <a:cs typeface="Times New Roman" panose="02020603050405020304" pitchFamily="18" charset="0"/>
              </a:rPr>
              <a:t>ｂａｃｘ</a:t>
            </a:r>
            <a:r>
              <a:rPr lang="zh-TW" altLang="en-US" b="1" dirty="0">
                <a:solidFill>
                  <a:srgbClr val="FF0000"/>
                </a:solidFill>
                <a:latin typeface="Times New Roman" panose="02020603050405020304" pitchFamily="18" charset="0"/>
                <a:cs typeface="Times New Roman" panose="02020603050405020304" pitchFamily="18" charset="0"/>
              </a:rPr>
              <a:t>ｙ</a:t>
            </a:r>
            <a:r>
              <a:rPr lang="zh-TW" altLang="en-US" b="1" dirty="0">
                <a:solidFill>
                  <a:srgbClr val="00B0F0"/>
                </a:solidFill>
                <a:latin typeface="Times New Roman" panose="02020603050405020304" pitchFamily="18" charset="0"/>
                <a:cs typeface="Times New Roman" panose="02020603050405020304" pitchFamily="18" charset="0"/>
              </a:rPr>
              <a:t>ｂａ</a:t>
            </a:r>
            <a:r>
              <a:rPr lang="zh-TW" altLang="en-US" b="1" dirty="0">
                <a:latin typeface="Times New Roman" panose="02020603050405020304" pitchFamily="18" charset="0"/>
                <a:cs typeface="Times New Roman" panose="02020603050405020304" pitchFamily="18" charset="0"/>
              </a:rPr>
              <a:t>ａｂａｂａｂａｘｂａａｃａａｂａｃｘａｂａ</a:t>
            </a:r>
            <a:endParaRPr lang="en-US" altLang="zh-TW" b="1"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Ｐ＝</a:t>
            </a:r>
            <a:r>
              <a:rPr lang="zh-TW" altLang="en-US" b="1" dirty="0">
                <a:solidFill>
                  <a:srgbClr val="7030A0"/>
                </a:solidFill>
                <a:latin typeface="Times New Roman" panose="02020603050405020304" pitchFamily="18" charset="0"/>
                <a:cs typeface="Times New Roman" panose="02020603050405020304" pitchFamily="18" charset="0"/>
              </a:rPr>
              <a:t>ｂａｃｘ</a:t>
            </a:r>
            <a:r>
              <a:rPr lang="zh-TW" altLang="en-US" b="1" dirty="0">
                <a:solidFill>
                  <a:srgbClr val="FF0000"/>
                </a:solidFill>
                <a:latin typeface="Times New Roman" panose="02020603050405020304" pitchFamily="18" charset="0"/>
                <a:cs typeface="Times New Roman" panose="02020603050405020304" pitchFamily="18" charset="0"/>
              </a:rPr>
              <a:t>ａ</a:t>
            </a:r>
            <a:r>
              <a:rPr lang="zh-TW" altLang="en-US" b="1" dirty="0">
                <a:solidFill>
                  <a:srgbClr val="00B0F0"/>
                </a:solidFill>
                <a:latin typeface="Times New Roman" panose="02020603050405020304" pitchFamily="18" charset="0"/>
                <a:cs typeface="Times New Roman" panose="02020603050405020304" pitchFamily="18" charset="0"/>
              </a:rPr>
              <a:t>ｂａ</a:t>
            </a:r>
            <a:endParaRPr lang="en-US" altLang="zh-TW" b="1" dirty="0">
              <a:latin typeface="Times New Roman" panose="02020603050405020304" pitchFamily="18" charset="0"/>
              <a:cs typeface="Times New Roman" panose="02020603050405020304" pitchFamily="18" charset="0"/>
            </a:endParaRPr>
          </a:p>
          <a:p>
            <a:pPr marL="514350" indent="-514350">
              <a:buFont typeface="+mj-lt"/>
              <a:buAutoNum type="arabicParenR"/>
            </a:pPr>
            <a:r>
              <a:rPr lang="en-US" altLang="zh-TW" dirty="0">
                <a:latin typeface="Times New Roman" panose="02020603050405020304" pitchFamily="18" charset="0"/>
                <a:cs typeface="Times New Roman" panose="02020603050405020304" pitchFamily="18" charset="0"/>
              </a:rPr>
              <a:t>matched-string = </a:t>
            </a:r>
            <a:r>
              <a:rPr lang="zh-TW" altLang="en-US" b="1" dirty="0">
                <a:solidFill>
                  <a:srgbClr val="00B0F0"/>
                </a:solidFill>
                <a:latin typeface="Times New Roman" panose="02020603050405020304" pitchFamily="18" charset="0"/>
                <a:cs typeface="Times New Roman" panose="02020603050405020304" pitchFamily="18" charset="0"/>
              </a:rPr>
              <a:t>ｂａ</a:t>
            </a:r>
            <a:endParaRPr lang="en-US" altLang="zh-TW" b="1" dirty="0">
              <a:latin typeface="Times New Roman" panose="02020603050405020304" pitchFamily="18" charset="0"/>
              <a:cs typeface="Times New Roman" panose="02020603050405020304" pitchFamily="18" charset="0"/>
            </a:endParaRPr>
          </a:p>
          <a:p>
            <a:pPr marL="514350" indent="-514350">
              <a:buFont typeface="+mj-lt"/>
              <a:buAutoNum type="arabicParenR"/>
            </a:pPr>
            <a:r>
              <a:rPr lang="en-US" altLang="zh-TW" dirty="0">
                <a:latin typeface="Times New Roman" panose="02020603050405020304" pitchFamily="18" charset="0"/>
                <a:cs typeface="Times New Roman" panose="02020603050405020304" pitchFamily="18" charset="0"/>
              </a:rPr>
              <a:t>unmatched-string = </a:t>
            </a:r>
            <a:r>
              <a:rPr lang="zh-TW" altLang="en-US" b="1" dirty="0">
                <a:solidFill>
                  <a:srgbClr val="7030A0"/>
                </a:solidFill>
                <a:latin typeface="Times New Roman" panose="02020603050405020304" pitchFamily="18" charset="0"/>
                <a:cs typeface="Times New Roman" panose="02020603050405020304" pitchFamily="18" charset="0"/>
              </a:rPr>
              <a:t>ｂａｃｘ</a:t>
            </a:r>
            <a:r>
              <a:rPr lang="zh-TW" altLang="en-US" b="1" dirty="0">
                <a:solidFill>
                  <a:srgbClr val="FF0000"/>
                </a:solidFill>
                <a:latin typeface="Times New Roman" panose="02020603050405020304" pitchFamily="18" charset="0"/>
                <a:cs typeface="Times New Roman" panose="02020603050405020304" pitchFamily="18" charset="0"/>
              </a:rPr>
              <a:t>ａ</a:t>
            </a:r>
            <a:endParaRPr lang="en-US" altLang="zh-TW" b="1" dirty="0">
              <a:latin typeface="Times New Roman" panose="02020603050405020304" pitchFamily="18" charset="0"/>
              <a:cs typeface="Times New Roman" panose="02020603050405020304" pitchFamily="18" charset="0"/>
            </a:endParaRPr>
          </a:p>
          <a:p>
            <a:pPr marL="514350" indent="-514350">
              <a:buFont typeface="+mj-lt"/>
              <a:buAutoNum type="arabicParenR"/>
            </a:pPr>
            <a:r>
              <a:rPr lang="en-US" altLang="zh-TW" dirty="0">
                <a:latin typeface="Times New Roman" panose="02020603050405020304" pitchFamily="18" charset="0"/>
                <a:cs typeface="Times New Roman" panose="02020603050405020304" pitchFamily="18" charset="0"/>
              </a:rPr>
              <a:t>paired-character = </a:t>
            </a:r>
            <a:r>
              <a:rPr lang="zh-TW" altLang="en-US" b="1" dirty="0">
                <a:solidFill>
                  <a:srgbClr val="7030A0"/>
                </a:solidFill>
                <a:latin typeface="Times New Roman" panose="02020603050405020304" pitchFamily="18" charset="0"/>
                <a:cs typeface="Times New Roman" panose="02020603050405020304" pitchFamily="18" charset="0"/>
              </a:rPr>
              <a:t>ｘ</a:t>
            </a:r>
            <a:r>
              <a:rPr lang="zh-TW" altLang="en-US" b="1" dirty="0">
                <a:solidFill>
                  <a:srgbClr val="FF0000"/>
                </a:solidFill>
                <a:latin typeface="Times New Roman" panose="02020603050405020304" pitchFamily="18" charset="0"/>
                <a:cs typeface="Times New Roman" panose="02020603050405020304" pitchFamily="18" charset="0"/>
              </a:rPr>
              <a:t>ｙ</a:t>
            </a:r>
            <a:endParaRPr lang="en-US" altLang="zh-TW" b="1" dirty="0">
              <a:latin typeface="Times New Roman" panose="02020603050405020304" pitchFamily="18" charset="0"/>
              <a:cs typeface="Times New Roman" panose="02020603050405020304" pitchFamily="18" charset="0"/>
            </a:endParaRPr>
          </a:p>
          <a:p>
            <a:pPr marL="514350" indent="-514350">
              <a:buFont typeface="+mj-lt"/>
              <a:buAutoNum type="arabicParenR"/>
            </a:pPr>
            <a:r>
              <a:rPr lang="en-US" altLang="zh-TW" dirty="0">
                <a:latin typeface="Times New Roman" panose="02020603050405020304" pitchFamily="18" charset="0"/>
                <a:cs typeface="Times New Roman" panose="02020603050405020304" pitchFamily="18" charset="0"/>
              </a:rPr>
              <a:t>margin-string</a:t>
            </a:r>
            <a:r>
              <a:rPr lang="zh-TW" altLang="en-US" dirty="0">
                <a:latin typeface="Times New Roman" panose="02020603050405020304" pitchFamily="18" charset="0"/>
                <a:cs typeface="Times New Roman" panose="02020603050405020304" pitchFamily="18" charset="0"/>
              </a:rPr>
              <a:t>：</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longest string between suffix of matched-string and prefix of pattern =&gt; front-margin = </a:t>
            </a:r>
            <a:r>
              <a:rPr lang="zh-TW" altLang="en-US" b="1" dirty="0">
                <a:solidFill>
                  <a:srgbClr val="7030A0"/>
                </a:solidFill>
                <a:latin typeface="Times New Roman" panose="02020603050405020304" pitchFamily="18" charset="0"/>
                <a:cs typeface="Times New Roman" panose="02020603050405020304" pitchFamily="18" charset="0"/>
              </a:rPr>
              <a:t>ｂａ</a:t>
            </a:r>
            <a:r>
              <a:rPr lang="en-US" altLang="zh-TW" dirty="0">
                <a:latin typeface="Times New Roman" panose="02020603050405020304" pitchFamily="18" charset="0"/>
                <a:cs typeface="Times New Roman" panose="02020603050405020304" pitchFamily="18" charset="0"/>
              </a:rPr>
              <a:t>, back-margin = </a:t>
            </a:r>
            <a:r>
              <a:rPr lang="zh-TW" altLang="en-US" b="1" dirty="0">
                <a:solidFill>
                  <a:srgbClr val="00B0F0"/>
                </a:solidFill>
                <a:latin typeface="Times New Roman" panose="02020603050405020304" pitchFamily="18" charset="0"/>
                <a:cs typeface="Times New Roman" panose="02020603050405020304" pitchFamily="18" charset="0"/>
              </a:rPr>
              <a:t>ｂａ</a:t>
            </a:r>
            <a:endParaRPr lang="en-US" altLang="zh-TW" b="1" dirty="0">
              <a:latin typeface="Times New Roman" panose="02020603050405020304" pitchFamily="18" charset="0"/>
              <a:cs typeface="Times New Roman" panose="02020603050405020304" pitchFamily="18" charset="0"/>
            </a:endParaRPr>
          </a:p>
          <a:p>
            <a:pPr marL="514350" indent="-514350">
              <a:buFont typeface="+mj-lt"/>
              <a:buAutoNum type="arabicParenR"/>
            </a:pPr>
            <a:r>
              <a:rPr lang="en-US" altLang="zh-TW" dirty="0">
                <a:latin typeface="Times New Roman" panose="02020603050405020304" pitchFamily="18" charset="0"/>
                <a:cs typeface="Times New Roman" panose="02020603050405020304" pitchFamily="18" charset="0"/>
              </a:rPr>
              <a:t>in-pair : (3) can be found in (2)</a:t>
            </a:r>
          </a:p>
        </p:txBody>
      </p:sp>
    </p:spTree>
    <p:extLst>
      <p:ext uri="{BB962C8B-B14F-4D97-AF65-F5344CB8AC3E}">
        <p14:creationId xmlns:p14="http://schemas.microsoft.com/office/powerpoint/2010/main" val="331697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0A43ED-8D65-4E81-B724-9DDC04EDDF0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Shift Rules(1/4)</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8BF0672-80A8-441D-A84B-AB60251D6CD1}"/>
              </a:ext>
            </a:extLst>
          </p:cNvPr>
          <p:cNvSpPr>
            <a:spLocks noGrp="1"/>
          </p:cNvSpPr>
          <p:nvPr>
            <p:ph idx="1"/>
          </p:nvPr>
        </p:nvSpPr>
        <p:spPr>
          <a:xfrm>
            <a:off x="838200" y="1825625"/>
            <a:ext cx="10794476" cy="4680000"/>
          </a:xfrm>
        </p:spPr>
        <p:txBody>
          <a:bodyPr>
            <a:normAutofit fontScale="92500"/>
          </a:bodyPr>
          <a:lstStyle/>
          <a:p>
            <a:pPr marL="0" indent="0">
              <a:buNone/>
            </a:pPr>
            <a:r>
              <a:rPr lang="en-US" altLang="zh-TW" sz="3000" dirty="0">
                <a:latin typeface="Times New Roman" panose="02020603050405020304" pitchFamily="18" charset="0"/>
                <a:cs typeface="Times New Roman" panose="02020603050405020304" pitchFamily="18" charset="0"/>
              </a:rPr>
              <a:t>Matched Jumping</a:t>
            </a:r>
            <a:r>
              <a:rPr lang="zh-TW" altLang="en-US" sz="3000" dirty="0">
                <a:latin typeface="Times New Roman" panose="02020603050405020304" pitchFamily="18" charset="0"/>
                <a:cs typeface="Times New Roman" panose="02020603050405020304" pitchFamily="18" charset="0"/>
              </a:rPr>
              <a:t>：</a:t>
            </a:r>
            <a:endParaRPr lang="en-US" altLang="zh-TW" sz="3000"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Ｓ＝ｂａｃｘｙｂａａｂａｂａｂａｘ</a:t>
            </a:r>
            <a:r>
              <a:rPr lang="zh-TW" altLang="en-US" b="1" dirty="0">
                <a:solidFill>
                  <a:srgbClr val="7030A0"/>
                </a:solidFill>
                <a:latin typeface="Times New Roman" panose="02020603050405020304" pitchFamily="18" charset="0"/>
                <a:cs typeface="Times New Roman" panose="02020603050405020304" pitchFamily="18" charset="0"/>
              </a:rPr>
              <a:t>ｂａａｃａａ</a:t>
            </a:r>
            <a:r>
              <a:rPr lang="zh-TW" altLang="en-US" b="1" dirty="0">
                <a:solidFill>
                  <a:srgbClr val="FF0000"/>
                </a:solidFill>
                <a:latin typeface="Times New Roman" panose="02020603050405020304" pitchFamily="18" charset="0"/>
                <a:cs typeface="Times New Roman" panose="02020603050405020304" pitchFamily="18" charset="0"/>
              </a:rPr>
              <a:t>ｂ</a:t>
            </a:r>
            <a:r>
              <a:rPr lang="zh-TW" altLang="en-US" b="1" dirty="0">
                <a:latin typeface="Times New Roman" panose="02020603050405020304" pitchFamily="18" charset="0"/>
                <a:cs typeface="Times New Roman" panose="02020603050405020304" pitchFamily="18" charset="0"/>
              </a:rPr>
              <a:t>ａｃｘａｂａ</a:t>
            </a:r>
            <a:endParaRPr lang="en-US" altLang="zh-TW" b="1"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Ｐ＝　　　　　　　　　　　　　　　</a:t>
            </a:r>
            <a:r>
              <a:rPr lang="zh-TW" altLang="en-US" b="1" dirty="0">
                <a:solidFill>
                  <a:srgbClr val="7030A0"/>
                </a:solidFill>
                <a:latin typeface="Times New Roman" panose="02020603050405020304" pitchFamily="18" charset="0"/>
                <a:cs typeface="Times New Roman" panose="02020603050405020304" pitchFamily="18" charset="0"/>
              </a:rPr>
              <a:t>ｂａｃｘａｂ</a:t>
            </a:r>
            <a:r>
              <a:rPr lang="zh-TW" altLang="en-US" b="1" dirty="0">
                <a:solidFill>
                  <a:srgbClr val="FF0000"/>
                </a:solidFill>
                <a:latin typeface="Times New Roman" panose="02020603050405020304" pitchFamily="18" charset="0"/>
                <a:cs typeface="Times New Roman" panose="02020603050405020304" pitchFamily="18" charset="0"/>
              </a:rPr>
              <a:t>ａ</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b="1"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paired-character =</a:t>
            </a:r>
            <a:r>
              <a:rPr lang="zh-TW" altLang="en-US" b="1" dirty="0">
                <a:solidFill>
                  <a:srgbClr val="7030A0"/>
                </a:solidFill>
                <a:latin typeface="Times New Roman" panose="02020603050405020304" pitchFamily="18" charset="0"/>
                <a:cs typeface="Times New Roman" panose="02020603050405020304" pitchFamily="18" charset="0"/>
              </a:rPr>
              <a:t>ａ</a:t>
            </a:r>
            <a:r>
              <a:rPr lang="zh-TW" altLang="en-US" b="1" dirty="0">
                <a:solidFill>
                  <a:srgbClr val="FF0000"/>
                </a:solidFill>
                <a:latin typeface="Times New Roman" panose="02020603050405020304" pitchFamily="18" charset="0"/>
                <a:cs typeface="Times New Roman" panose="02020603050405020304" pitchFamily="18" charset="0"/>
              </a:rPr>
              <a:t>ｂ</a:t>
            </a:r>
            <a:r>
              <a:rPr lang="en-US" altLang="zh-TW" dirty="0">
                <a:latin typeface="Times New Roman" panose="02020603050405020304" pitchFamily="18" charset="0"/>
                <a:cs typeface="Times New Roman" panose="02020603050405020304" pitchFamily="18" charset="0"/>
              </a:rPr>
              <a:t>  is in-paired</a:t>
            </a:r>
            <a:r>
              <a:rPr lang="zh-TW" altLang="en-US" b="1" dirty="0">
                <a:solidFill>
                  <a:srgbClr val="7030A0"/>
                </a:solidFill>
                <a:latin typeface="Times New Roman" panose="02020603050405020304" pitchFamily="18" charset="0"/>
                <a:cs typeface="Times New Roman" panose="02020603050405020304" pitchFamily="18" charset="0"/>
              </a:rPr>
              <a:t>ｂａｃｘ</a:t>
            </a:r>
            <a:r>
              <a:rPr lang="zh-TW" altLang="en-US" b="1" dirty="0">
                <a:solidFill>
                  <a:srgbClr val="00B0F0"/>
                </a:solidFill>
                <a:latin typeface="Times New Roman" panose="02020603050405020304" pitchFamily="18" charset="0"/>
                <a:cs typeface="Times New Roman" panose="02020603050405020304" pitchFamily="18" charset="0"/>
              </a:rPr>
              <a:t>ａｂ</a:t>
            </a:r>
            <a:r>
              <a:rPr lang="zh-TW" altLang="en-US" b="1" dirty="0">
                <a:solidFill>
                  <a:srgbClr val="7030A0"/>
                </a:solidFill>
                <a:latin typeface="Times New Roman" panose="02020603050405020304" pitchFamily="18" charset="0"/>
                <a:cs typeface="Times New Roman" panose="02020603050405020304" pitchFamily="18" charset="0"/>
              </a:rPr>
              <a:t>ａ</a:t>
            </a:r>
            <a:r>
              <a:rPr lang="en-US" altLang="zh-TW" b="1" dirty="0">
                <a:latin typeface="Times New Roman" panose="02020603050405020304" pitchFamily="18" charset="0"/>
                <a:cs typeface="Times New Roman" panose="02020603050405020304" pitchFamily="18" charset="0"/>
              </a:rPr>
              <a:t> </a:t>
            </a:r>
          </a:p>
          <a:p>
            <a:pPr marL="0" indent="0">
              <a:buNone/>
            </a:pPr>
            <a:endParaRPr lang="en-US" altLang="zh-TW" b="1"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Ｓ＝ｂａｃｘｙｂａａｂａｂａｂａｘｂ</a:t>
            </a:r>
            <a:r>
              <a:rPr lang="zh-TW" altLang="en-US" b="1" dirty="0">
                <a:solidFill>
                  <a:srgbClr val="00B050"/>
                </a:solidFill>
                <a:latin typeface="Times New Roman" panose="02020603050405020304" pitchFamily="18" charset="0"/>
                <a:cs typeface="Times New Roman" panose="02020603050405020304" pitchFamily="18" charset="0"/>
              </a:rPr>
              <a:t>ａａｃａａｂａ</a:t>
            </a:r>
            <a:r>
              <a:rPr lang="zh-TW" altLang="en-US" b="1" dirty="0">
                <a:latin typeface="Times New Roman" panose="02020603050405020304" pitchFamily="18" charset="0"/>
                <a:cs typeface="Times New Roman" panose="02020603050405020304" pitchFamily="18" charset="0"/>
              </a:rPr>
              <a:t>ｃｘａｂａ</a:t>
            </a:r>
            <a:endParaRPr lang="en-US" altLang="zh-TW" b="1"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Ｐ＝　　　　　　　　　　　　　　　　ｂａｃｘａｂａ</a:t>
            </a:r>
            <a:endParaRPr lang="en-US" altLang="zh-TW" b="1"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9321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0A43ED-8D65-4E81-B724-9DDC04EDDF0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Shift Rules(2/4)</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8BF0672-80A8-441D-A84B-AB60251D6CD1}"/>
              </a:ext>
            </a:extLst>
          </p:cNvPr>
          <p:cNvSpPr>
            <a:spLocks noGrp="1"/>
          </p:cNvSpPr>
          <p:nvPr>
            <p:ph idx="1"/>
          </p:nvPr>
        </p:nvSpPr>
        <p:spPr>
          <a:xfrm>
            <a:off x="838200" y="1825625"/>
            <a:ext cx="10794476" cy="4680000"/>
          </a:xfrm>
        </p:spPr>
        <p:txBody>
          <a:bodyPr>
            <a:normAutofit fontScale="92500"/>
          </a:bodyPr>
          <a:lstStyle/>
          <a:p>
            <a:pPr marL="0" indent="0">
              <a:buNone/>
            </a:pPr>
            <a:r>
              <a:rPr lang="en-US" altLang="zh-TW" sz="3000" dirty="0">
                <a:latin typeface="Times New Roman" panose="02020603050405020304" pitchFamily="18" charset="0"/>
                <a:cs typeface="Times New Roman" panose="02020603050405020304" pitchFamily="18" charset="0"/>
              </a:rPr>
              <a:t>Matched Jumping -</a:t>
            </a:r>
            <a:r>
              <a:rPr lang="zh-TW" altLang="en-US" sz="3000" dirty="0">
                <a:latin typeface="Times New Roman" panose="02020603050405020304" pitchFamily="18" charset="0"/>
                <a:cs typeface="Times New Roman" panose="02020603050405020304" pitchFamily="18" charset="0"/>
              </a:rPr>
              <a:t> </a:t>
            </a:r>
            <a:r>
              <a:rPr lang="en-US" altLang="zh-TW" sz="3000" dirty="0">
                <a:latin typeface="Times New Roman" panose="02020603050405020304" pitchFamily="18" charset="0"/>
                <a:cs typeface="Times New Roman" panose="02020603050405020304" pitchFamily="18" charset="0"/>
              </a:rPr>
              <a:t>Single-Match</a:t>
            </a:r>
            <a:r>
              <a:rPr lang="zh-TW" altLang="en-US" sz="3000" dirty="0">
                <a:latin typeface="Times New Roman" panose="02020603050405020304" pitchFamily="18" charset="0"/>
                <a:cs typeface="Times New Roman" panose="02020603050405020304" pitchFamily="18" charset="0"/>
              </a:rPr>
              <a:t>：</a:t>
            </a:r>
            <a:endParaRPr lang="en-US" altLang="zh-TW" sz="3000"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Ｓ＝ｂａｃｘｙｂａａｂａｂａｂａｘｂａａｃａａｂａｃｘａｂａ</a:t>
            </a:r>
            <a:endParaRPr lang="en-US" altLang="zh-TW" b="1"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Ｐ＝</a:t>
            </a:r>
            <a:r>
              <a:rPr lang="zh-TW" altLang="en-US" dirty="0">
                <a:latin typeface="Times New Roman" panose="02020603050405020304" pitchFamily="18" charset="0"/>
                <a:cs typeface="Times New Roman" panose="02020603050405020304" pitchFamily="18" charset="0"/>
              </a:rPr>
              <a:t>　　　　　</a:t>
            </a:r>
            <a:r>
              <a:rPr lang="zh-TW" altLang="en-US" b="1" dirty="0">
                <a:solidFill>
                  <a:srgbClr val="7030A0"/>
                </a:solidFill>
                <a:latin typeface="Times New Roman" panose="02020603050405020304" pitchFamily="18" charset="0"/>
                <a:cs typeface="Times New Roman" panose="02020603050405020304" pitchFamily="18" charset="0"/>
              </a:rPr>
              <a:t>ｂａｃ</a:t>
            </a:r>
            <a:r>
              <a:rPr lang="zh-TW" altLang="en-US" b="1" dirty="0">
                <a:solidFill>
                  <a:srgbClr val="FF0000"/>
                </a:solidFill>
                <a:latin typeface="Times New Roman" panose="02020603050405020304" pitchFamily="18" charset="0"/>
                <a:cs typeface="Times New Roman" panose="02020603050405020304" pitchFamily="18" charset="0"/>
              </a:rPr>
              <a:t>ｘ</a:t>
            </a:r>
            <a:r>
              <a:rPr lang="zh-TW" altLang="en-US" b="1" dirty="0">
                <a:latin typeface="Times New Roman" panose="02020603050405020304" pitchFamily="18" charset="0"/>
                <a:cs typeface="Times New Roman" panose="02020603050405020304" pitchFamily="18" charset="0"/>
              </a:rPr>
              <a:t>ａ</a:t>
            </a:r>
            <a:r>
              <a:rPr lang="zh-TW" altLang="en-US" b="1" dirty="0">
                <a:solidFill>
                  <a:srgbClr val="00B0F0"/>
                </a:solidFill>
                <a:latin typeface="Times New Roman" panose="02020603050405020304" pitchFamily="18" charset="0"/>
                <a:cs typeface="Times New Roman" panose="02020603050405020304" pitchFamily="18" charset="0"/>
              </a:rPr>
              <a:t>ｂａ</a:t>
            </a:r>
            <a:endParaRPr lang="en-US" altLang="zh-TW" b="1" dirty="0">
              <a:solidFill>
                <a:srgbClr val="00B0F0"/>
              </a:solidFill>
              <a:latin typeface="Times New Roman" panose="02020603050405020304" pitchFamily="18" charset="0"/>
              <a:cs typeface="Times New Roman" panose="02020603050405020304" pitchFamily="18" charset="0"/>
            </a:endParaRPr>
          </a:p>
          <a:p>
            <a:pPr marL="0" indent="0">
              <a:buNone/>
            </a:pPr>
            <a:endParaRPr lang="en-US" altLang="zh-TW" b="1" dirty="0">
              <a:solidFill>
                <a:srgbClr val="00B0F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paired-character =</a:t>
            </a:r>
            <a:r>
              <a:rPr lang="zh-TW" altLang="en-US" b="1" dirty="0">
                <a:solidFill>
                  <a:srgbClr val="7030A0"/>
                </a:solidFill>
                <a:latin typeface="Times New Roman" panose="02020603050405020304" pitchFamily="18" charset="0"/>
                <a:cs typeface="Times New Roman" panose="02020603050405020304" pitchFamily="18" charset="0"/>
              </a:rPr>
              <a:t>ａ</a:t>
            </a:r>
            <a:r>
              <a:rPr lang="zh-TW" altLang="en-US" b="1" dirty="0">
                <a:solidFill>
                  <a:srgbClr val="FF0000"/>
                </a:solidFill>
                <a:latin typeface="Times New Roman" panose="02020603050405020304" pitchFamily="18" charset="0"/>
                <a:cs typeface="Times New Roman" panose="02020603050405020304" pitchFamily="18" charset="0"/>
              </a:rPr>
              <a:t>ｂ</a:t>
            </a:r>
            <a:r>
              <a:rPr lang="en-US" altLang="zh-TW" dirty="0">
                <a:latin typeface="Times New Roman" panose="02020603050405020304" pitchFamily="18" charset="0"/>
                <a:cs typeface="Times New Roman" panose="02020603050405020304" pitchFamily="18" charset="0"/>
              </a:rPr>
              <a:t> is single-match </a:t>
            </a:r>
            <a:r>
              <a:rPr lang="zh-TW" altLang="en-US" b="1" dirty="0">
                <a:solidFill>
                  <a:srgbClr val="00B0F0"/>
                </a:solidFill>
                <a:latin typeface="Times New Roman" panose="02020603050405020304" pitchFamily="18" charset="0"/>
                <a:cs typeface="Times New Roman" panose="02020603050405020304" pitchFamily="18" charset="0"/>
              </a:rPr>
              <a:t>ｂ</a:t>
            </a:r>
            <a:r>
              <a:rPr lang="zh-TW" altLang="en-US" b="1" dirty="0">
                <a:latin typeface="Times New Roman" panose="02020603050405020304" pitchFamily="18" charset="0"/>
                <a:cs typeface="Times New Roman" panose="02020603050405020304" pitchFamily="18" charset="0"/>
              </a:rPr>
              <a:t>ａｃｘａｂａ</a:t>
            </a:r>
            <a:endParaRPr lang="en-US" altLang="zh-TW" b="1" dirty="0">
              <a:latin typeface="Times New Roman" panose="02020603050405020304" pitchFamily="18" charset="0"/>
              <a:cs typeface="Times New Roman" panose="02020603050405020304" pitchFamily="18" charset="0"/>
            </a:endParaRPr>
          </a:p>
          <a:p>
            <a:pPr marL="0" indent="0">
              <a:buNone/>
            </a:pPr>
            <a:r>
              <a:rPr lang="en-US" altLang="zh-TW" b="1" dirty="0">
                <a:latin typeface="Times New Roman" panose="02020603050405020304" pitchFamily="18" charset="0"/>
                <a:cs typeface="Times New Roman" panose="02020603050405020304" pitchFamily="18" charset="0"/>
              </a:rPr>
              <a:t> </a:t>
            </a:r>
          </a:p>
          <a:p>
            <a:pPr marL="0" indent="0">
              <a:buNone/>
            </a:pPr>
            <a:r>
              <a:rPr lang="zh-TW" altLang="en-US" b="1" dirty="0">
                <a:latin typeface="Times New Roman" panose="02020603050405020304" pitchFamily="18" charset="0"/>
                <a:cs typeface="Times New Roman" panose="02020603050405020304" pitchFamily="18" charset="0"/>
              </a:rPr>
              <a:t>Ｓ＝ｂａｃｘｙｂａａ</a:t>
            </a:r>
            <a:r>
              <a:rPr lang="zh-TW" altLang="en-US" b="1" dirty="0">
                <a:solidFill>
                  <a:srgbClr val="00B050"/>
                </a:solidFill>
                <a:latin typeface="Times New Roman" panose="02020603050405020304" pitchFamily="18" charset="0"/>
                <a:cs typeface="Times New Roman" panose="02020603050405020304" pitchFamily="18" charset="0"/>
              </a:rPr>
              <a:t>ｂａｂａｂａｘ</a:t>
            </a:r>
            <a:r>
              <a:rPr lang="zh-TW" altLang="en-US" b="1" dirty="0">
                <a:latin typeface="Times New Roman" panose="02020603050405020304" pitchFamily="18" charset="0"/>
                <a:cs typeface="Times New Roman" panose="02020603050405020304" pitchFamily="18" charset="0"/>
              </a:rPr>
              <a:t>ｂａａｃａａｂａｃｘａｂａ</a:t>
            </a:r>
            <a:endParaRPr lang="en-US" altLang="zh-TW" b="1"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Ｐ＝</a:t>
            </a:r>
            <a:r>
              <a:rPr lang="zh-TW" altLang="en-US" dirty="0">
                <a:latin typeface="Times New Roman" panose="02020603050405020304" pitchFamily="18" charset="0"/>
                <a:cs typeface="Times New Roman" panose="02020603050405020304" pitchFamily="18" charset="0"/>
              </a:rPr>
              <a:t>　　　　　　　　</a:t>
            </a:r>
            <a:r>
              <a:rPr lang="zh-TW" altLang="en-US" b="1" dirty="0">
                <a:latin typeface="Times New Roman" panose="02020603050405020304" pitchFamily="18" charset="0"/>
                <a:cs typeface="Times New Roman" panose="02020603050405020304" pitchFamily="18" charset="0"/>
              </a:rPr>
              <a:t>ｂａｃｘａｂａ</a:t>
            </a:r>
            <a:endParaRPr lang="en-US" altLang="zh-TW" b="1"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7891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0A43ED-8D65-4E81-B724-9DDC04EDDF0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Shift Rules(3/4)</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8BF0672-80A8-441D-A84B-AB60251D6CD1}"/>
              </a:ext>
            </a:extLst>
          </p:cNvPr>
          <p:cNvSpPr>
            <a:spLocks noGrp="1"/>
          </p:cNvSpPr>
          <p:nvPr>
            <p:ph idx="1"/>
          </p:nvPr>
        </p:nvSpPr>
        <p:spPr>
          <a:xfrm>
            <a:off x="838199" y="1825625"/>
            <a:ext cx="10851038" cy="4680000"/>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Margin jumping</a:t>
            </a:r>
            <a:r>
              <a:rPr lang="zh-TW" altLang="en-US" dirty="0">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sz="2600" dirty="0">
              <a:latin typeface="Times New Roman" panose="02020603050405020304" pitchFamily="18" charset="0"/>
              <a:cs typeface="Times New Roman" panose="02020603050405020304" pitchFamily="18" charset="0"/>
            </a:endParaRPr>
          </a:p>
          <a:p>
            <a:pPr marL="0" indent="0">
              <a:buNone/>
            </a:pPr>
            <a:r>
              <a:rPr lang="zh-TW" altLang="en-US" sz="2600" b="1" dirty="0">
                <a:latin typeface="Times New Roman" panose="02020603050405020304" pitchFamily="18" charset="0"/>
                <a:cs typeface="Times New Roman" panose="02020603050405020304" pitchFamily="18" charset="0"/>
              </a:rPr>
              <a:t>Ｓ＝</a:t>
            </a:r>
            <a:r>
              <a:rPr lang="zh-TW" altLang="en-US" sz="2600" b="1" dirty="0">
                <a:solidFill>
                  <a:srgbClr val="7030A0"/>
                </a:solidFill>
                <a:latin typeface="Times New Roman" panose="02020603050405020304" pitchFamily="18" charset="0"/>
                <a:cs typeface="Times New Roman" panose="02020603050405020304" pitchFamily="18" charset="0"/>
              </a:rPr>
              <a:t>ｂａｃｘ</a:t>
            </a:r>
            <a:r>
              <a:rPr lang="zh-TW" altLang="en-US" sz="2600" b="1" dirty="0">
                <a:solidFill>
                  <a:srgbClr val="FF0000"/>
                </a:solidFill>
                <a:latin typeface="Times New Roman" panose="02020603050405020304" pitchFamily="18" charset="0"/>
                <a:cs typeface="Times New Roman" panose="02020603050405020304" pitchFamily="18" charset="0"/>
              </a:rPr>
              <a:t>ｙ</a:t>
            </a:r>
            <a:r>
              <a:rPr lang="zh-TW" altLang="en-US" sz="2600" b="1" dirty="0">
                <a:solidFill>
                  <a:srgbClr val="00B0F0"/>
                </a:solidFill>
                <a:latin typeface="Times New Roman" panose="02020603050405020304" pitchFamily="18" charset="0"/>
                <a:cs typeface="Times New Roman" panose="02020603050405020304" pitchFamily="18" charset="0"/>
              </a:rPr>
              <a:t>ｂａ</a:t>
            </a:r>
            <a:r>
              <a:rPr lang="zh-TW" altLang="en-US" sz="2600" b="1" dirty="0">
                <a:latin typeface="Times New Roman" panose="02020603050405020304" pitchFamily="18" charset="0"/>
                <a:cs typeface="Times New Roman" panose="02020603050405020304" pitchFamily="18" charset="0"/>
              </a:rPr>
              <a:t>ａｂａｂａｂａｘｂａａｃａａｂａｃｘａｂａ</a:t>
            </a:r>
            <a:endParaRPr lang="en-US" altLang="zh-TW" sz="2600" b="1" dirty="0">
              <a:latin typeface="Times New Roman" panose="02020603050405020304" pitchFamily="18" charset="0"/>
              <a:cs typeface="Times New Roman" panose="02020603050405020304" pitchFamily="18" charset="0"/>
            </a:endParaRPr>
          </a:p>
          <a:p>
            <a:pPr marL="0" indent="0">
              <a:buNone/>
            </a:pPr>
            <a:r>
              <a:rPr lang="zh-TW" altLang="en-US" sz="2600" b="1" dirty="0">
                <a:latin typeface="Times New Roman" panose="02020603050405020304" pitchFamily="18" charset="0"/>
                <a:cs typeface="Times New Roman" panose="02020603050405020304" pitchFamily="18" charset="0"/>
              </a:rPr>
              <a:t>Ｐ＝</a:t>
            </a:r>
            <a:r>
              <a:rPr lang="zh-TW" altLang="en-US" sz="2600" b="1" dirty="0">
                <a:solidFill>
                  <a:srgbClr val="7030A0"/>
                </a:solidFill>
                <a:latin typeface="Times New Roman" panose="02020603050405020304" pitchFamily="18" charset="0"/>
                <a:cs typeface="Times New Roman" panose="02020603050405020304" pitchFamily="18" charset="0"/>
              </a:rPr>
              <a:t>ｂａｃｘ</a:t>
            </a:r>
            <a:r>
              <a:rPr lang="zh-TW" altLang="en-US" sz="2600" b="1" dirty="0">
                <a:solidFill>
                  <a:srgbClr val="FF0000"/>
                </a:solidFill>
                <a:latin typeface="Times New Roman" panose="02020603050405020304" pitchFamily="18" charset="0"/>
                <a:cs typeface="Times New Roman" panose="02020603050405020304" pitchFamily="18" charset="0"/>
              </a:rPr>
              <a:t>ａ</a:t>
            </a:r>
            <a:r>
              <a:rPr lang="zh-TW" altLang="en-US" sz="2600" b="1" dirty="0">
                <a:solidFill>
                  <a:srgbClr val="00B0F0"/>
                </a:solidFill>
                <a:latin typeface="Times New Roman" panose="02020603050405020304" pitchFamily="18" charset="0"/>
                <a:cs typeface="Times New Roman" panose="02020603050405020304" pitchFamily="18" charset="0"/>
              </a:rPr>
              <a:t>ｂａ</a:t>
            </a:r>
            <a:endParaRPr lang="en-US" altLang="zh-TW" sz="2600" b="1" dirty="0">
              <a:solidFill>
                <a:srgbClr val="00B0F0"/>
              </a:solidFill>
              <a:latin typeface="Times New Roman" panose="02020603050405020304" pitchFamily="18" charset="0"/>
              <a:cs typeface="Times New Roman" panose="02020603050405020304" pitchFamily="18" charset="0"/>
            </a:endParaRPr>
          </a:p>
          <a:p>
            <a:pPr marL="0" indent="0">
              <a:buNone/>
            </a:pPr>
            <a:endParaRPr lang="en-US" altLang="zh-TW" sz="2600" dirty="0">
              <a:latin typeface="Times New Roman" panose="02020603050405020304" pitchFamily="18" charset="0"/>
              <a:cs typeface="Times New Roman" panose="02020603050405020304" pitchFamily="18" charset="0"/>
            </a:endParaRPr>
          </a:p>
          <a:p>
            <a:pPr marL="0" indent="0">
              <a:buNone/>
            </a:pPr>
            <a:r>
              <a:rPr lang="en-US" altLang="zh-TW" sz="2600" dirty="0">
                <a:latin typeface="Times New Roman" panose="02020603050405020304" pitchFamily="18" charset="0"/>
                <a:cs typeface="Times New Roman" panose="02020603050405020304" pitchFamily="18" charset="0"/>
              </a:rPr>
              <a:t>Align front-margin with previous position of back-margin</a:t>
            </a:r>
          </a:p>
          <a:p>
            <a:pPr marL="0" indent="0">
              <a:buNone/>
            </a:pPr>
            <a:endParaRPr lang="en-US" altLang="zh-TW" sz="2600" dirty="0">
              <a:latin typeface="Times New Roman" panose="02020603050405020304" pitchFamily="18" charset="0"/>
              <a:cs typeface="Times New Roman" panose="02020603050405020304" pitchFamily="18" charset="0"/>
            </a:endParaRPr>
          </a:p>
          <a:p>
            <a:pPr marL="0" indent="0">
              <a:buNone/>
            </a:pPr>
            <a:r>
              <a:rPr lang="zh-TW" altLang="en-US" sz="2600" b="1" dirty="0">
                <a:latin typeface="Times New Roman" panose="02020603050405020304" pitchFamily="18" charset="0"/>
                <a:cs typeface="Times New Roman" panose="02020603050405020304" pitchFamily="18" charset="0"/>
              </a:rPr>
              <a:t>Ｓ＝ｂａｃｘｙ</a:t>
            </a:r>
            <a:r>
              <a:rPr lang="zh-TW" altLang="en-US" sz="2600" b="1" dirty="0">
                <a:solidFill>
                  <a:srgbClr val="00B050"/>
                </a:solidFill>
                <a:latin typeface="Times New Roman" panose="02020603050405020304" pitchFamily="18" charset="0"/>
                <a:cs typeface="Times New Roman" panose="02020603050405020304" pitchFamily="18" charset="0"/>
              </a:rPr>
              <a:t>ｂａａｂａｂａ</a:t>
            </a:r>
            <a:r>
              <a:rPr lang="zh-TW" altLang="en-US" sz="2600" b="1" dirty="0">
                <a:latin typeface="Times New Roman" panose="02020603050405020304" pitchFamily="18" charset="0"/>
                <a:cs typeface="Times New Roman" panose="02020603050405020304" pitchFamily="18" charset="0"/>
              </a:rPr>
              <a:t>ｂａｘｂａａｃａａｂａｃｘａｂａ</a:t>
            </a:r>
            <a:endParaRPr lang="en-US" altLang="zh-TW" sz="2600" b="1" dirty="0">
              <a:latin typeface="Times New Roman" panose="02020603050405020304" pitchFamily="18" charset="0"/>
              <a:cs typeface="Times New Roman" panose="02020603050405020304" pitchFamily="18" charset="0"/>
            </a:endParaRPr>
          </a:p>
          <a:p>
            <a:pPr marL="0" indent="0">
              <a:buNone/>
            </a:pPr>
            <a:r>
              <a:rPr lang="zh-TW" altLang="en-US" sz="2600" b="1" dirty="0">
                <a:latin typeface="Times New Roman" panose="02020603050405020304" pitchFamily="18" charset="0"/>
                <a:cs typeface="Times New Roman" panose="02020603050405020304" pitchFamily="18" charset="0"/>
              </a:rPr>
              <a:t>Ｐ＝</a:t>
            </a:r>
            <a:r>
              <a:rPr lang="zh-TW" altLang="en-US" sz="2600" dirty="0">
                <a:latin typeface="Times New Roman" panose="02020603050405020304" pitchFamily="18" charset="0"/>
                <a:cs typeface="Times New Roman" panose="02020603050405020304" pitchFamily="18" charset="0"/>
              </a:rPr>
              <a:t>　　　　　</a:t>
            </a:r>
            <a:r>
              <a:rPr lang="zh-TW" altLang="en-US" sz="2600" b="1" dirty="0">
                <a:latin typeface="Times New Roman" panose="02020603050405020304" pitchFamily="18" charset="0"/>
                <a:cs typeface="Times New Roman" panose="02020603050405020304" pitchFamily="18" charset="0"/>
              </a:rPr>
              <a:t>ｂａｃｘａｂａ</a:t>
            </a:r>
            <a:endParaRPr lang="en-US" altLang="zh-TW" sz="2600" dirty="0">
              <a:latin typeface="Times New Roman" panose="02020603050405020304" pitchFamily="18" charset="0"/>
              <a:cs typeface="Times New Roman" panose="02020603050405020304" pitchFamily="18" charset="0"/>
            </a:endParaRPr>
          </a:p>
          <a:p>
            <a:pPr marL="0" indent="0">
              <a:buNone/>
            </a:pPr>
            <a:endParaRPr lang="zh-TW"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9964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0A43ED-8D65-4E81-B724-9DDC04EDDF0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Shift Rules(4/4)</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8BF0672-80A8-441D-A84B-AB60251D6CD1}"/>
              </a:ext>
            </a:extLst>
          </p:cNvPr>
          <p:cNvSpPr>
            <a:spLocks noGrp="1"/>
          </p:cNvSpPr>
          <p:nvPr>
            <p:ph idx="1"/>
          </p:nvPr>
        </p:nvSpPr>
        <p:spPr>
          <a:xfrm>
            <a:off x="838199" y="1825625"/>
            <a:ext cx="10851038" cy="4680000"/>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Full Jumping</a:t>
            </a:r>
            <a:r>
              <a:rPr lang="zh-TW" altLang="en-US" dirty="0">
                <a:latin typeface="Times New Roman" panose="02020603050405020304" pitchFamily="18" charset="0"/>
                <a:cs typeface="Times New Roman" panose="02020603050405020304" pitchFamily="18" charset="0"/>
              </a:rPr>
              <a:t>：</a:t>
            </a: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sz="2600" dirty="0">
              <a:latin typeface="Times New Roman" panose="02020603050405020304" pitchFamily="18" charset="0"/>
              <a:cs typeface="Times New Roman" panose="02020603050405020304" pitchFamily="18" charset="0"/>
            </a:endParaRPr>
          </a:p>
          <a:p>
            <a:pPr marL="0" indent="0">
              <a:buNone/>
            </a:pPr>
            <a:r>
              <a:rPr lang="zh-TW" altLang="en-US" sz="2600" b="1" dirty="0">
                <a:latin typeface="Times New Roman" panose="02020603050405020304" pitchFamily="18" charset="0"/>
                <a:cs typeface="Times New Roman" panose="02020603050405020304" pitchFamily="18" charset="0"/>
              </a:rPr>
              <a:t>Ｓ＝ｂａｃｘｙｂａａ</a:t>
            </a:r>
            <a:r>
              <a:rPr lang="zh-TW" altLang="en-US" sz="2600" b="1" dirty="0">
                <a:solidFill>
                  <a:srgbClr val="7030A0"/>
                </a:solidFill>
                <a:latin typeface="Times New Roman" panose="02020603050405020304" pitchFamily="18" charset="0"/>
                <a:cs typeface="Times New Roman" panose="02020603050405020304" pitchFamily="18" charset="0"/>
              </a:rPr>
              <a:t>ｂａｂａｂａ</a:t>
            </a:r>
            <a:r>
              <a:rPr lang="zh-TW" altLang="en-US" sz="2600" b="1" dirty="0">
                <a:solidFill>
                  <a:srgbClr val="FF0000"/>
                </a:solidFill>
                <a:latin typeface="Times New Roman" panose="02020603050405020304" pitchFamily="18" charset="0"/>
                <a:cs typeface="Times New Roman" panose="02020603050405020304" pitchFamily="18" charset="0"/>
              </a:rPr>
              <a:t>ｘ</a:t>
            </a:r>
            <a:r>
              <a:rPr lang="zh-TW" altLang="en-US" sz="2600" b="1" dirty="0">
                <a:latin typeface="Times New Roman" panose="02020603050405020304" pitchFamily="18" charset="0"/>
                <a:cs typeface="Times New Roman" panose="02020603050405020304" pitchFamily="18" charset="0"/>
              </a:rPr>
              <a:t>ｂａａｃａａｂａｃｘａｂａ</a:t>
            </a:r>
            <a:endParaRPr lang="en-US" altLang="zh-TW" sz="2600" b="1" dirty="0">
              <a:latin typeface="Times New Roman" panose="02020603050405020304" pitchFamily="18" charset="0"/>
              <a:cs typeface="Times New Roman" panose="02020603050405020304" pitchFamily="18" charset="0"/>
            </a:endParaRPr>
          </a:p>
          <a:p>
            <a:pPr marL="0" indent="0">
              <a:buNone/>
            </a:pPr>
            <a:r>
              <a:rPr lang="zh-TW" altLang="en-US" sz="2600" b="1" dirty="0">
                <a:latin typeface="Times New Roman" panose="02020603050405020304" pitchFamily="18" charset="0"/>
                <a:cs typeface="Times New Roman" panose="02020603050405020304" pitchFamily="18" charset="0"/>
              </a:rPr>
              <a:t>Ｐ＝</a:t>
            </a:r>
            <a:r>
              <a:rPr lang="zh-TW" altLang="en-US" sz="2600" dirty="0">
                <a:latin typeface="Times New Roman" panose="02020603050405020304" pitchFamily="18" charset="0"/>
                <a:cs typeface="Times New Roman" panose="02020603050405020304" pitchFamily="18" charset="0"/>
              </a:rPr>
              <a:t>　　　　　　　　</a:t>
            </a:r>
            <a:r>
              <a:rPr lang="zh-TW" altLang="en-US" sz="2600" b="1" dirty="0">
                <a:solidFill>
                  <a:srgbClr val="7030A0"/>
                </a:solidFill>
                <a:latin typeface="Times New Roman" panose="02020603050405020304" pitchFamily="18" charset="0"/>
                <a:cs typeface="Times New Roman" panose="02020603050405020304" pitchFamily="18" charset="0"/>
              </a:rPr>
              <a:t>ｂａｃｘａｂ</a:t>
            </a:r>
            <a:r>
              <a:rPr lang="zh-TW" altLang="en-US" sz="2600" b="1" dirty="0">
                <a:solidFill>
                  <a:srgbClr val="FF0000"/>
                </a:solidFill>
                <a:latin typeface="Times New Roman" panose="02020603050405020304" pitchFamily="18" charset="0"/>
                <a:cs typeface="Times New Roman" panose="02020603050405020304" pitchFamily="18" charset="0"/>
              </a:rPr>
              <a:t>ａ</a:t>
            </a:r>
            <a:endParaRPr lang="en-US" altLang="zh-TW" sz="2600"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6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sz="2600" dirty="0">
                <a:latin typeface="Times New Roman" panose="02020603050405020304" pitchFamily="18" charset="0"/>
                <a:cs typeface="Times New Roman" panose="02020603050405020304" pitchFamily="18" charset="0"/>
              </a:rPr>
              <a:t>The pattern will be moved to the right as long as it’s length</a:t>
            </a:r>
          </a:p>
          <a:p>
            <a:pPr marL="0" indent="0">
              <a:buNone/>
            </a:pPr>
            <a:endParaRPr lang="en-US" altLang="zh-TW" sz="2600" dirty="0">
              <a:latin typeface="Times New Roman" panose="02020603050405020304" pitchFamily="18" charset="0"/>
              <a:cs typeface="Times New Roman" panose="02020603050405020304" pitchFamily="18" charset="0"/>
            </a:endParaRPr>
          </a:p>
          <a:p>
            <a:pPr marL="0" indent="0">
              <a:buNone/>
            </a:pPr>
            <a:r>
              <a:rPr lang="zh-TW" altLang="en-US" sz="2600" b="1" dirty="0">
                <a:latin typeface="Times New Roman" panose="02020603050405020304" pitchFamily="18" charset="0"/>
                <a:cs typeface="Times New Roman" panose="02020603050405020304" pitchFamily="18" charset="0"/>
              </a:rPr>
              <a:t>Ｓ＝ｂａｃｘｙｂａａｂａｂａｂａｘ</a:t>
            </a:r>
            <a:r>
              <a:rPr lang="zh-TW" altLang="en-US" sz="2600" b="1" dirty="0">
                <a:solidFill>
                  <a:srgbClr val="00B050"/>
                </a:solidFill>
                <a:latin typeface="Times New Roman" panose="02020603050405020304" pitchFamily="18" charset="0"/>
                <a:cs typeface="Times New Roman" panose="02020603050405020304" pitchFamily="18" charset="0"/>
              </a:rPr>
              <a:t>ｂａａｃａａｂ</a:t>
            </a:r>
            <a:r>
              <a:rPr lang="zh-TW" altLang="en-US" sz="2600" b="1" dirty="0">
                <a:latin typeface="Times New Roman" panose="02020603050405020304" pitchFamily="18" charset="0"/>
                <a:cs typeface="Times New Roman" panose="02020603050405020304" pitchFamily="18" charset="0"/>
              </a:rPr>
              <a:t>ａｃｘａｂａ</a:t>
            </a:r>
            <a:endParaRPr lang="en-US" altLang="zh-TW" sz="2600" b="1" dirty="0">
              <a:latin typeface="Times New Roman" panose="02020603050405020304" pitchFamily="18" charset="0"/>
              <a:cs typeface="Times New Roman" panose="02020603050405020304" pitchFamily="18" charset="0"/>
            </a:endParaRPr>
          </a:p>
          <a:p>
            <a:pPr marL="0" indent="0">
              <a:buNone/>
            </a:pPr>
            <a:r>
              <a:rPr lang="zh-TW" altLang="en-US" sz="2600" b="1" dirty="0">
                <a:latin typeface="Times New Roman" panose="02020603050405020304" pitchFamily="18" charset="0"/>
                <a:cs typeface="Times New Roman" panose="02020603050405020304" pitchFamily="18" charset="0"/>
              </a:rPr>
              <a:t>Ｐ＝</a:t>
            </a:r>
            <a:r>
              <a:rPr lang="zh-TW" altLang="en-US" sz="2600" dirty="0">
                <a:latin typeface="Times New Roman" panose="02020603050405020304" pitchFamily="18" charset="0"/>
                <a:cs typeface="Times New Roman" panose="02020603050405020304" pitchFamily="18" charset="0"/>
              </a:rPr>
              <a:t>　　　　　　　　　　　　　　　</a:t>
            </a:r>
            <a:r>
              <a:rPr lang="zh-TW" altLang="en-US" sz="2600" b="1" dirty="0">
                <a:latin typeface="Times New Roman" panose="02020603050405020304" pitchFamily="18" charset="0"/>
                <a:cs typeface="Times New Roman" panose="02020603050405020304" pitchFamily="18" charset="0"/>
              </a:rPr>
              <a:t>ｂａｃｘａｂａ</a:t>
            </a:r>
            <a:endParaRPr lang="en-US" altLang="zh-TW" sz="2600" b="1" dirty="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1627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6E9B90-E5F8-4641-9C58-25A83D0EBD8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Preprocessing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7FD1ABF9-FC9E-4C70-B2CA-90E1C802874B}"/>
              </a:ext>
            </a:extLst>
          </p:cNvPr>
          <p:cNvSpPr>
            <a:spLocks noGrp="1"/>
          </p:cNvSpPr>
          <p:nvPr>
            <p:ph idx="1"/>
          </p:nvPr>
        </p:nvSpPr>
        <p:spPr>
          <a:xfrm>
            <a:off x="838199" y="1527142"/>
            <a:ext cx="10851037" cy="4649821"/>
          </a:xfrm>
        </p:spPr>
        <p:txBody>
          <a:bodyPr/>
          <a:lstStyle/>
          <a:p>
            <a:pPr marL="0" indent="0">
              <a:buNone/>
            </a:pPr>
            <a:r>
              <a:rPr lang="zh-TW" altLang="en-US" b="1" dirty="0">
                <a:latin typeface="Times New Roman" panose="02020603050405020304" pitchFamily="18" charset="0"/>
                <a:cs typeface="Times New Roman" panose="02020603050405020304" pitchFamily="18" charset="0"/>
              </a:rPr>
              <a:t>Ｓ＝</a:t>
            </a:r>
            <a:r>
              <a:rPr lang="zh-TW" altLang="en-US" b="1" dirty="0">
                <a:solidFill>
                  <a:srgbClr val="7030A0"/>
                </a:solidFill>
                <a:latin typeface="Times New Roman" panose="02020603050405020304" pitchFamily="18" charset="0"/>
                <a:cs typeface="Times New Roman" panose="02020603050405020304" pitchFamily="18" charset="0"/>
              </a:rPr>
              <a:t>ｂａｃｘ</a:t>
            </a:r>
            <a:r>
              <a:rPr lang="zh-TW" altLang="en-US" b="1" dirty="0">
                <a:solidFill>
                  <a:srgbClr val="FF0000"/>
                </a:solidFill>
                <a:latin typeface="Times New Roman" panose="02020603050405020304" pitchFamily="18" charset="0"/>
                <a:cs typeface="Times New Roman" panose="02020603050405020304" pitchFamily="18" charset="0"/>
              </a:rPr>
              <a:t>ｙ</a:t>
            </a:r>
            <a:r>
              <a:rPr lang="zh-TW" altLang="en-US" b="1" dirty="0">
                <a:solidFill>
                  <a:srgbClr val="00B0F0"/>
                </a:solidFill>
                <a:latin typeface="Times New Roman" panose="02020603050405020304" pitchFamily="18" charset="0"/>
                <a:cs typeface="Times New Roman" panose="02020603050405020304" pitchFamily="18" charset="0"/>
              </a:rPr>
              <a:t>ｂａ</a:t>
            </a:r>
            <a:r>
              <a:rPr lang="zh-TW" altLang="en-US" b="1" dirty="0">
                <a:latin typeface="Times New Roman" panose="02020603050405020304" pitchFamily="18" charset="0"/>
                <a:cs typeface="Times New Roman" panose="02020603050405020304" pitchFamily="18" charset="0"/>
              </a:rPr>
              <a:t>ａｂａｂａｂａｘｂａａｃａａｂａｃｘａｂａ</a:t>
            </a:r>
            <a:endParaRPr lang="en-US" altLang="zh-TW" b="1"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Ｐ＝</a:t>
            </a:r>
            <a:r>
              <a:rPr lang="zh-TW" altLang="en-US" b="1" dirty="0">
                <a:solidFill>
                  <a:srgbClr val="7030A0"/>
                </a:solidFill>
                <a:latin typeface="Times New Roman" panose="02020603050405020304" pitchFamily="18" charset="0"/>
                <a:cs typeface="Times New Roman" panose="02020603050405020304" pitchFamily="18" charset="0"/>
              </a:rPr>
              <a:t>ｂａｃｘ</a:t>
            </a:r>
            <a:r>
              <a:rPr lang="zh-TW" altLang="en-US" b="1" dirty="0">
                <a:solidFill>
                  <a:srgbClr val="FF0000"/>
                </a:solidFill>
                <a:latin typeface="Times New Roman" panose="02020603050405020304" pitchFamily="18" charset="0"/>
                <a:cs typeface="Times New Roman" panose="02020603050405020304" pitchFamily="18" charset="0"/>
              </a:rPr>
              <a:t>ａ</a:t>
            </a:r>
            <a:r>
              <a:rPr lang="zh-TW" altLang="en-US" b="1" dirty="0">
                <a:solidFill>
                  <a:srgbClr val="00B0F0"/>
                </a:solidFill>
                <a:latin typeface="Times New Roman" panose="02020603050405020304" pitchFamily="18" charset="0"/>
                <a:cs typeface="Times New Roman" panose="02020603050405020304" pitchFamily="18" charset="0"/>
              </a:rPr>
              <a:t>ｂａ</a:t>
            </a:r>
            <a:endParaRPr lang="en-US" altLang="zh-TW" b="1"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paired-character = </a:t>
            </a:r>
            <a:r>
              <a:rPr lang="zh-TW" altLang="en-US" b="1" dirty="0">
                <a:solidFill>
                  <a:srgbClr val="7030A0"/>
                </a:solidFill>
                <a:latin typeface="Times New Roman" panose="02020603050405020304" pitchFamily="18" charset="0"/>
                <a:cs typeface="Times New Roman" panose="02020603050405020304" pitchFamily="18" charset="0"/>
              </a:rPr>
              <a:t>ｘ</a:t>
            </a:r>
            <a:r>
              <a:rPr lang="zh-TW" altLang="en-US" b="1" dirty="0">
                <a:solidFill>
                  <a:srgbClr val="FF0000"/>
                </a:solidFill>
                <a:latin typeface="Times New Roman" panose="02020603050405020304" pitchFamily="18" charset="0"/>
                <a:cs typeface="Times New Roman" panose="02020603050405020304" pitchFamily="18" charset="0"/>
              </a:rPr>
              <a:t>ｙ</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p:graphicFrame>
        <p:nvGraphicFramePr>
          <p:cNvPr id="13" name="表格 13">
            <a:extLst>
              <a:ext uri="{FF2B5EF4-FFF2-40B4-BE49-F238E27FC236}">
                <a16:creationId xmlns:a16="http://schemas.microsoft.com/office/drawing/2014/main" id="{4A515FA3-7A33-45BA-B045-703042FFEFAF}"/>
              </a:ext>
            </a:extLst>
          </p:cNvPr>
          <p:cNvGraphicFramePr>
            <a:graphicFrameLocks noGrp="1"/>
          </p:cNvGraphicFramePr>
          <p:nvPr>
            <p:extLst>
              <p:ext uri="{D42A27DB-BD31-4B8C-83A1-F6EECF244321}">
                <p14:modId xmlns:p14="http://schemas.microsoft.com/office/powerpoint/2010/main" val="3956912442"/>
              </p:ext>
            </p:extLst>
          </p:nvPr>
        </p:nvGraphicFramePr>
        <p:xfrm>
          <a:off x="838200" y="3160395"/>
          <a:ext cx="8312342" cy="3332480"/>
        </p:xfrm>
        <a:graphic>
          <a:graphicData uri="http://schemas.openxmlformats.org/drawingml/2006/table">
            <a:tbl>
              <a:tblPr firstRow="1" bandRow="1">
                <a:tableStyleId>{5940675A-B579-460E-94D1-54222C63F5DA}</a:tableStyleId>
              </a:tblPr>
              <a:tblGrid>
                <a:gridCol w="1865083">
                  <a:extLst>
                    <a:ext uri="{9D8B030D-6E8A-4147-A177-3AD203B41FA5}">
                      <a16:colId xmlns:a16="http://schemas.microsoft.com/office/drawing/2014/main" val="2889883825"/>
                    </a:ext>
                  </a:extLst>
                </a:gridCol>
                <a:gridCol w="921037">
                  <a:extLst>
                    <a:ext uri="{9D8B030D-6E8A-4147-A177-3AD203B41FA5}">
                      <a16:colId xmlns:a16="http://schemas.microsoft.com/office/drawing/2014/main" val="2987927793"/>
                    </a:ext>
                  </a:extLst>
                </a:gridCol>
                <a:gridCol w="921037">
                  <a:extLst>
                    <a:ext uri="{9D8B030D-6E8A-4147-A177-3AD203B41FA5}">
                      <a16:colId xmlns:a16="http://schemas.microsoft.com/office/drawing/2014/main" val="3230897484"/>
                    </a:ext>
                  </a:extLst>
                </a:gridCol>
                <a:gridCol w="921037">
                  <a:extLst>
                    <a:ext uri="{9D8B030D-6E8A-4147-A177-3AD203B41FA5}">
                      <a16:colId xmlns:a16="http://schemas.microsoft.com/office/drawing/2014/main" val="3282379310"/>
                    </a:ext>
                  </a:extLst>
                </a:gridCol>
                <a:gridCol w="921037">
                  <a:extLst>
                    <a:ext uri="{9D8B030D-6E8A-4147-A177-3AD203B41FA5}">
                      <a16:colId xmlns:a16="http://schemas.microsoft.com/office/drawing/2014/main" val="102854396"/>
                    </a:ext>
                  </a:extLst>
                </a:gridCol>
                <a:gridCol w="921037">
                  <a:extLst>
                    <a:ext uri="{9D8B030D-6E8A-4147-A177-3AD203B41FA5}">
                      <a16:colId xmlns:a16="http://schemas.microsoft.com/office/drawing/2014/main" val="226763907"/>
                    </a:ext>
                  </a:extLst>
                </a:gridCol>
                <a:gridCol w="921037">
                  <a:extLst>
                    <a:ext uri="{9D8B030D-6E8A-4147-A177-3AD203B41FA5}">
                      <a16:colId xmlns:a16="http://schemas.microsoft.com/office/drawing/2014/main" val="2995914544"/>
                    </a:ext>
                  </a:extLst>
                </a:gridCol>
                <a:gridCol w="921037">
                  <a:extLst>
                    <a:ext uri="{9D8B030D-6E8A-4147-A177-3AD203B41FA5}">
                      <a16:colId xmlns:a16="http://schemas.microsoft.com/office/drawing/2014/main" val="4024296251"/>
                    </a:ext>
                  </a:extLst>
                </a:gridCol>
              </a:tblGrid>
              <a:tr h="269080">
                <a:tc gridSpan="8">
                  <a:txBody>
                    <a:bodyPr/>
                    <a:lstStyle/>
                    <a:p>
                      <a:pPr algn="l"/>
                      <a:r>
                        <a:rPr lang="en-US" altLang="zh-TW" dirty="0">
                          <a:latin typeface="Times New Roman" panose="02020603050405020304" pitchFamily="18" charset="0"/>
                          <a:cs typeface="Times New Roman" panose="02020603050405020304" pitchFamily="18" charset="0"/>
                        </a:rPr>
                        <a:t>Table 1. Pattern</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dirty="0"/>
                    </a:p>
                  </a:txBody>
                  <a:tcPr/>
                </a:tc>
                <a:extLst>
                  <a:ext uri="{0D108BD9-81ED-4DB2-BD59-A6C34878D82A}">
                    <a16:rowId xmlns:a16="http://schemas.microsoft.com/office/drawing/2014/main" val="2573077887"/>
                  </a:ext>
                </a:extLst>
              </a:tr>
              <a:tr h="370840">
                <a:tc>
                  <a:txBody>
                    <a:bodyPr/>
                    <a:lstStyle/>
                    <a:p>
                      <a:pPr algn="ctr"/>
                      <a:r>
                        <a:rPr lang="en-US" altLang="zh-TW" dirty="0">
                          <a:latin typeface="Times New Roman" panose="02020603050405020304" pitchFamily="18" charset="0"/>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b="0" dirty="0">
                          <a:latin typeface="Times New Roman" panose="02020603050405020304" pitchFamily="18" charset="0"/>
                          <a:cs typeface="Times New Roman" panose="02020603050405020304" pitchFamily="18" charset="0"/>
                        </a:rPr>
                        <a:t>5</a:t>
                      </a:r>
                      <a:endParaRPr lang="zh-TW" altLang="en-US" b="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349880615"/>
                  </a:ext>
                </a:extLst>
              </a:tr>
              <a:tr h="370840">
                <a:tc>
                  <a:txBody>
                    <a:bodyPr/>
                    <a:lstStyle/>
                    <a:p>
                      <a:pPr algn="ctr"/>
                      <a:r>
                        <a:rPr lang="en-US" altLang="zh-TW" dirty="0">
                          <a:latin typeface="Times New Roman" panose="02020603050405020304" pitchFamily="18" charset="0"/>
                          <a:cs typeface="Times New Roman" panose="02020603050405020304" pitchFamily="18" charset="0"/>
                        </a:rPr>
                        <a:t>P[j]</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x</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98701"/>
                  </a:ext>
                </a:extLst>
              </a:tr>
              <a:tr h="370840">
                <a:tc gridSpan="8">
                  <a:txBody>
                    <a:bodyPr/>
                    <a:lstStyle/>
                    <a:p>
                      <a:pPr algn="l"/>
                      <a:r>
                        <a:rPr lang="en-US" altLang="zh-TW" dirty="0">
                          <a:latin typeface="Times New Roman" panose="02020603050405020304" pitchFamily="18" charset="0"/>
                          <a:cs typeface="Times New Roman" panose="02020603050405020304" pitchFamily="18" charset="0"/>
                        </a:rPr>
                        <a:t>Table 2. Margin Table</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3141171738"/>
                  </a:ext>
                </a:extLst>
              </a:tr>
              <a:tr h="370840">
                <a:tc>
                  <a:txBody>
                    <a:bodyPr/>
                    <a:lstStyle/>
                    <a:p>
                      <a:pPr algn="ctr"/>
                      <a:r>
                        <a:rPr lang="en-US" altLang="zh-TW" dirty="0">
                          <a:latin typeface="Times New Roman" panose="02020603050405020304" pitchFamily="18" charset="0"/>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4439166"/>
                  </a:ext>
                </a:extLst>
              </a:tr>
              <a:tr h="370840">
                <a:tc>
                  <a:txBody>
                    <a:bodyPr/>
                    <a:lstStyle/>
                    <a:p>
                      <a:pPr algn="ctr"/>
                      <a:r>
                        <a:rPr lang="en-US" altLang="zh-TW" dirty="0" err="1">
                          <a:latin typeface="Times New Roman" panose="02020603050405020304" pitchFamily="18" charset="0"/>
                          <a:cs typeface="Times New Roman" panose="02020603050405020304" pitchFamily="18" charset="0"/>
                        </a:rPr>
                        <a:t>marginTable</a:t>
                      </a:r>
                      <a:r>
                        <a:rPr lang="en-US" altLang="zh-TW" dirty="0">
                          <a:latin typeface="Times New Roman" panose="02020603050405020304" pitchFamily="18" charset="0"/>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7843905"/>
                  </a:ext>
                </a:extLst>
              </a:tr>
              <a:tr h="370840">
                <a:tc gridSpan="8">
                  <a:txBody>
                    <a:bodyPr/>
                    <a:lstStyle/>
                    <a:p>
                      <a:pPr algn="l"/>
                      <a:r>
                        <a:rPr lang="en-US" altLang="zh-TW" dirty="0">
                          <a:latin typeface="Times New Roman" panose="02020603050405020304" pitchFamily="18" charset="0"/>
                          <a:cs typeface="Times New Roman" panose="02020603050405020304" pitchFamily="18" charset="0"/>
                        </a:rPr>
                        <a:t>Table 3. Occurrence Table</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3942773547"/>
                  </a:ext>
                </a:extLst>
              </a:tr>
              <a:tr h="370840">
                <a:tc>
                  <a:txBody>
                    <a:bodyPr/>
                    <a:lstStyle/>
                    <a:p>
                      <a:pPr algn="ctr"/>
                      <a:r>
                        <a:rPr lang="en-US" altLang="zh-TW" dirty="0">
                          <a:latin typeface="Times New Roman" panose="02020603050405020304" pitchFamily="18" charset="0"/>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4594241"/>
                  </a:ext>
                </a:extLst>
              </a:tr>
              <a:tr h="370840">
                <a:tc>
                  <a:txBody>
                    <a:bodyPr/>
                    <a:lstStyle/>
                    <a:p>
                      <a:pPr algn="ctr"/>
                      <a:r>
                        <a:rPr lang="en-US" altLang="zh-TW" sz="18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occurrenceTable</a:t>
                      </a:r>
                      <a:r>
                        <a:rPr lang="en-US" altLang="zh-TW" sz="1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056215242"/>
                  </a:ext>
                </a:extLst>
              </a:tr>
            </a:tbl>
          </a:graphicData>
        </a:graphic>
      </p:graphicFrame>
      <p:graphicFrame>
        <p:nvGraphicFramePr>
          <p:cNvPr id="18" name="表格 18">
            <a:extLst>
              <a:ext uri="{FF2B5EF4-FFF2-40B4-BE49-F238E27FC236}">
                <a16:creationId xmlns:a16="http://schemas.microsoft.com/office/drawing/2014/main" id="{318E0CDE-5D89-486C-928C-A3CA9E10E59D}"/>
              </a:ext>
            </a:extLst>
          </p:cNvPr>
          <p:cNvGraphicFramePr>
            <a:graphicFrameLocks noGrp="1"/>
          </p:cNvGraphicFramePr>
          <p:nvPr>
            <p:extLst>
              <p:ext uri="{D42A27DB-BD31-4B8C-83A1-F6EECF244321}">
                <p14:modId xmlns:p14="http://schemas.microsoft.com/office/powerpoint/2010/main" val="3654615010"/>
              </p:ext>
            </p:extLst>
          </p:nvPr>
        </p:nvGraphicFramePr>
        <p:xfrm>
          <a:off x="9573442" y="3160395"/>
          <a:ext cx="2247770" cy="2966400"/>
        </p:xfrm>
        <a:graphic>
          <a:graphicData uri="http://schemas.openxmlformats.org/drawingml/2006/table">
            <a:tbl>
              <a:tblPr firstRow="1" bandRow="1">
                <a:tableStyleId>{5940675A-B579-460E-94D1-54222C63F5DA}</a:tableStyleId>
              </a:tblPr>
              <a:tblGrid>
                <a:gridCol w="1550187">
                  <a:extLst>
                    <a:ext uri="{9D8B030D-6E8A-4147-A177-3AD203B41FA5}">
                      <a16:colId xmlns:a16="http://schemas.microsoft.com/office/drawing/2014/main" val="2775931101"/>
                    </a:ext>
                  </a:extLst>
                </a:gridCol>
                <a:gridCol w="697583">
                  <a:extLst>
                    <a:ext uri="{9D8B030D-6E8A-4147-A177-3AD203B41FA5}">
                      <a16:colId xmlns:a16="http://schemas.microsoft.com/office/drawing/2014/main" val="310889642"/>
                    </a:ext>
                  </a:extLst>
                </a:gridCol>
              </a:tblGrid>
              <a:tr h="370800">
                <a:tc gridSpan="2">
                  <a:txBody>
                    <a:bodyPr/>
                    <a:lstStyle/>
                    <a:p>
                      <a:r>
                        <a:rPr lang="en-US" altLang="zh-TW" dirty="0">
                          <a:latin typeface="Times New Roman" panose="02020603050405020304" pitchFamily="18" charset="0"/>
                          <a:cs typeface="Times New Roman" panose="02020603050405020304" pitchFamily="18" charset="0"/>
                        </a:rPr>
                        <a:t>Table 4. Char</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Table</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extLst>
                  <a:ext uri="{0D108BD9-81ED-4DB2-BD59-A6C34878D82A}">
                    <a16:rowId xmlns:a16="http://schemas.microsoft.com/office/drawing/2014/main" val="1247953284"/>
                  </a:ext>
                </a:extLst>
              </a:tr>
              <a:tr h="370800">
                <a:tc>
                  <a:txBody>
                    <a:bodyPr/>
                    <a:lstStyle/>
                    <a:p>
                      <a:pPr algn="ctr"/>
                      <a:r>
                        <a:rPr lang="en-US" altLang="zh-TW" dirty="0" err="1">
                          <a:latin typeface="Times New Roman" panose="02020603050405020304" pitchFamily="18" charset="0"/>
                          <a:cs typeface="Times New Roman" panose="02020603050405020304" pitchFamily="18" charset="0"/>
                        </a:rPr>
                        <a:t>charTable</a:t>
                      </a: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5526153"/>
                  </a:ext>
                </a:extLst>
              </a:tr>
              <a:tr h="370800">
                <a:tc gridSpan="2">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hMerge="1">
                  <a:txBody>
                    <a:bodyPr/>
                    <a:lstStyle/>
                    <a:p>
                      <a:pPr algn="ctr"/>
                      <a:endParaRPr lang="zh-TW" altLang="en-US"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79372969"/>
                  </a:ext>
                </a:extLst>
              </a:tr>
              <a:tr h="370800">
                <a:tc>
                  <a:txBody>
                    <a:bodyPr/>
                    <a:lstStyle/>
                    <a:p>
                      <a:pPr algn="ctr"/>
                      <a:r>
                        <a:rPr lang="en-US" altLang="zh-TW" dirty="0" err="1">
                          <a:latin typeface="Times New Roman" panose="02020603050405020304" pitchFamily="18" charset="0"/>
                          <a:cs typeface="Times New Roman" panose="02020603050405020304" pitchFamily="18" charset="0"/>
                        </a:rPr>
                        <a:t>charTable</a:t>
                      </a: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8871556"/>
                  </a:ext>
                </a:extLst>
              </a:tr>
              <a:tr h="37080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dirty="0"/>
                    </a:p>
                  </a:txBody>
                  <a:tcPr/>
                </a:tc>
                <a:extLst>
                  <a:ext uri="{0D108BD9-81ED-4DB2-BD59-A6C34878D82A}">
                    <a16:rowId xmlns:a16="http://schemas.microsoft.com/office/drawing/2014/main" val="3697581528"/>
                  </a:ext>
                </a:extLst>
              </a:tr>
              <a:tr h="370800">
                <a:tc>
                  <a:txBody>
                    <a:bodyPr/>
                    <a:lstStyle/>
                    <a:p>
                      <a:pPr algn="ctr"/>
                      <a:r>
                        <a:rPr lang="en-US" altLang="zh-TW" dirty="0" err="1">
                          <a:latin typeface="Times New Roman" panose="02020603050405020304" pitchFamily="18" charset="0"/>
                          <a:cs typeface="Times New Roman" panose="02020603050405020304" pitchFamily="18" charset="0"/>
                        </a:rPr>
                        <a:t>charTable</a:t>
                      </a:r>
                      <a:r>
                        <a:rPr lang="en-US" altLang="zh-TW" dirty="0">
                          <a:latin typeface="Times New Roman" panose="02020603050405020304" pitchFamily="18" charset="0"/>
                          <a:cs typeface="Times New Roman" panose="02020603050405020304" pitchFamily="18" charset="0"/>
                        </a:rPr>
                        <a:t>[‘y’]</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01453310"/>
                  </a:ext>
                </a:extLst>
              </a:tr>
              <a:tr h="370800">
                <a:tc gridSpan="2">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endParaRPr lang="zh-TW" altLang="en-US" dirty="0"/>
                    </a:p>
                  </a:txBody>
                  <a:tcPr/>
                </a:tc>
                <a:extLst>
                  <a:ext uri="{0D108BD9-81ED-4DB2-BD59-A6C34878D82A}">
                    <a16:rowId xmlns:a16="http://schemas.microsoft.com/office/drawing/2014/main" val="2293968347"/>
                  </a:ext>
                </a:extLst>
              </a:tr>
              <a:tr h="370800">
                <a:tc>
                  <a:txBody>
                    <a:bodyPr/>
                    <a:lstStyle/>
                    <a:p>
                      <a:pPr algn="ctr"/>
                      <a:r>
                        <a:rPr lang="en-US" altLang="zh-TW" dirty="0" err="1">
                          <a:latin typeface="Times New Roman" panose="02020603050405020304" pitchFamily="18" charset="0"/>
                          <a:cs typeface="Times New Roman" panose="02020603050405020304" pitchFamily="18" charset="0"/>
                        </a:rPr>
                        <a:t>charTable</a:t>
                      </a:r>
                      <a:r>
                        <a:rPr lang="en-US" altLang="zh-TW" dirty="0">
                          <a:latin typeface="Times New Roman" panose="02020603050405020304" pitchFamily="18" charset="0"/>
                          <a:cs typeface="Times New Roman" panose="02020603050405020304" pitchFamily="18" charset="0"/>
                        </a:rPr>
                        <a:t>[225]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510324"/>
                  </a:ext>
                </a:extLst>
              </a:tr>
            </a:tbl>
          </a:graphicData>
        </a:graphic>
      </p:graphicFrame>
    </p:spTree>
    <p:extLst>
      <p:ext uri="{BB962C8B-B14F-4D97-AF65-F5344CB8AC3E}">
        <p14:creationId xmlns:p14="http://schemas.microsoft.com/office/powerpoint/2010/main" val="923518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6E9B90-E5F8-4641-9C58-25A83D0EBD8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Preprocessing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7FD1ABF9-FC9E-4C70-B2CA-90E1C802874B}"/>
              </a:ext>
            </a:extLst>
          </p:cNvPr>
          <p:cNvSpPr>
            <a:spLocks noGrp="1"/>
          </p:cNvSpPr>
          <p:nvPr>
            <p:ph idx="1"/>
          </p:nvPr>
        </p:nvSpPr>
        <p:spPr>
          <a:xfrm>
            <a:off x="838199" y="1527142"/>
            <a:ext cx="10851037" cy="4649821"/>
          </a:xfrm>
        </p:spPr>
        <p:txBody>
          <a:bodyPr/>
          <a:lstStyle/>
          <a:p>
            <a:pPr marL="0" indent="0">
              <a:buNone/>
            </a:pPr>
            <a:r>
              <a:rPr lang="zh-TW" altLang="en-US" b="1" dirty="0">
                <a:latin typeface="Times New Roman" panose="02020603050405020304" pitchFamily="18" charset="0"/>
                <a:cs typeface="Times New Roman" panose="02020603050405020304" pitchFamily="18" charset="0"/>
              </a:rPr>
              <a:t>Ｓ＝</a:t>
            </a:r>
            <a:r>
              <a:rPr lang="zh-TW" altLang="en-US" b="1" dirty="0">
                <a:solidFill>
                  <a:srgbClr val="7030A0"/>
                </a:solidFill>
                <a:latin typeface="Times New Roman" panose="02020603050405020304" pitchFamily="18" charset="0"/>
                <a:cs typeface="Times New Roman" panose="02020603050405020304" pitchFamily="18" charset="0"/>
              </a:rPr>
              <a:t>ｂａｃｘ</a:t>
            </a:r>
            <a:r>
              <a:rPr lang="zh-TW" altLang="en-US" b="1" dirty="0">
                <a:solidFill>
                  <a:srgbClr val="FF0000"/>
                </a:solidFill>
                <a:latin typeface="Times New Roman" panose="02020603050405020304" pitchFamily="18" charset="0"/>
                <a:cs typeface="Times New Roman" panose="02020603050405020304" pitchFamily="18" charset="0"/>
              </a:rPr>
              <a:t>ｙ</a:t>
            </a:r>
            <a:r>
              <a:rPr lang="zh-TW" altLang="en-US" b="1" dirty="0">
                <a:solidFill>
                  <a:srgbClr val="00B0F0"/>
                </a:solidFill>
                <a:latin typeface="Times New Roman" panose="02020603050405020304" pitchFamily="18" charset="0"/>
                <a:cs typeface="Times New Roman" panose="02020603050405020304" pitchFamily="18" charset="0"/>
              </a:rPr>
              <a:t>ｂａ</a:t>
            </a:r>
            <a:r>
              <a:rPr lang="zh-TW" altLang="en-US" b="1" dirty="0">
                <a:latin typeface="Times New Roman" panose="02020603050405020304" pitchFamily="18" charset="0"/>
                <a:cs typeface="Times New Roman" panose="02020603050405020304" pitchFamily="18" charset="0"/>
              </a:rPr>
              <a:t>ａｂａｂａｂａｘｂａａｃａａｂａｃｘａｂａ</a:t>
            </a:r>
            <a:endParaRPr lang="en-US" altLang="zh-TW" b="1"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Ｐ＝</a:t>
            </a:r>
            <a:r>
              <a:rPr lang="zh-TW" altLang="en-US" b="1" dirty="0">
                <a:solidFill>
                  <a:srgbClr val="7030A0"/>
                </a:solidFill>
                <a:latin typeface="Times New Roman" panose="02020603050405020304" pitchFamily="18" charset="0"/>
                <a:cs typeface="Times New Roman" panose="02020603050405020304" pitchFamily="18" charset="0"/>
              </a:rPr>
              <a:t>ｂａｃｘ</a:t>
            </a:r>
            <a:r>
              <a:rPr lang="zh-TW" altLang="en-US" b="1" dirty="0">
                <a:solidFill>
                  <a:srgbClr val="FF0000"/>
                </a:solidFill>
                <a:latin typeface="Times New Roman" panose="02020603050405020304" pitchFamily="18" charset="0"/>
                <a:cs typeface="Times New Roman" panose="02020603050405020304" pitchFamily="18" charset="0"/>
              </a:rPr>
              <a:t>ａ</a:t>
            </a:r>
            <a:r>
              <a:rPr lang="zh-TW" altLang="en-US" b="1" dirty="0">
                <a:solidFill>
                  <a:srgbClr val="00B0F0"/>
                </a:solidFill>
                <a:latin typeface="Times New Roman" panose="02020603050405020304" pitchFamily="18" charset="0"/>
                <a:cs typeface="Times New Roman" panose="02020603050405020304" pitchFamily="18" charset="0"/>
              </a:rPr>
              <a:t>ｂａ</a:t>
            </a:r>
            <a:endParaRPr lang="en-US" altLang="zh-TW" b="1"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paired-character = </a:t>
            </a:r>
            <a:r>
              <a:rPr lang="zh-TW" altLang="en-US" b="1" dirty="0">
                <a:solidFill>
                  <a:srgbClr val="7030A0"/>
                </a:solidFill>
                <a:latin typeface="Times New Roman" panose="02020603050405020304" pitchFamily="18" charset="0"/>
                <a:cs typeface="Times New Roman" panose="02020603050405020304" pitchFamily="18" charset="0"/>
              </a:rPr>
              <a:t>ｘ</a:t>
            </a:r>
            <a:r>
              <a:rPr lang="zh-TW" altLang="en-US" b="1" dirty="0">
                <a:solidFill>
                  <a:srgbClr val="FF0000"/>
                </a:solidFill>
                <a:latin typeface="Times New Roman" panose="02020603050405020304" pitchFamily="18" charset="0"/>
                <a:cs typeface="Times New Roman" panose="02020603050405020304" pitchFamily="18" charset="0"/>
              </a:rPr>
              <a:t>ｙ</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p:graphicFrame>
        <p:nvGraphicFramePr>
          <p:cNvPr id="13" name="表格 13">
            <a:extLst>
              <a:ext uri="{FF2B5EF4-FFF2-40B4-BE49-F238E27FC236}">
                <a16:creationId xmlns:a16="http://schemas.microsoft.com/office/drawing/2014/main" id="{4A515FA3-7A33-45BA-B045-703042FFEFAF}"/>
              </a:ext>
            </a:extLst>
          </p:cNvPr>
          <p:cNvGraphicFramePr>
            <a:graphicFrameLocks noGrp="1"/>
          </p:cNvGraphicFramePr>
          <p:nvPr/>
        </p:nvGraphicFramePr>
        <p:xfrm>
          <a:off x="838200" y="3160395"/>
          <a:ext cx="8312342" cy="3332480"/>
        </p:xfrm>
        <a:graphic>
          <a:graphicData uri="http://schemas.openxmlformats.org/drawingml/2006/table">
            <a:tbl>
              <a:tblPr firstRow="1" bandRow="1">
                <a:tableStyleId>{5940675A-B579-460E-94D1-54222C63F5DA}</a:tableStyleId>
              </a:tblPr>
              <a:tblGrid>
                <a:gridCol w="1865083">
                  <a:extLst>
                    <a:ext uri="{9D8B030D-6E8A-4147-A177-3AD203B41FA5}">
                      <a16:colId xmlns:a16="http://schemas.microsoft.com/office/drawing/2014/main" val="2889883825"/>
                    </a:ext>
                  </a:extLst>
                </a:gridCol>
                <a:gridCol w="921037">
                  <a:extLst>
                    <a:ext uri="{9D8B030D-6E8A-4147-A177-3AD203B41FA5}">
                      <a16:colId xmlns:a16="http://schemas.microsoft.com/office/drawing/2014/main" val="2987927793"/>
                    </a:ext>
                  </a:extLst>
                </a:gridCol>
                <a:gridCol w="921037">
                  <a:extLst>
                    <a:ext uri="{9D8B030D-6E8A-4147-A177-3AD203B41FA5}">
                      <a16:colId xmlns:a16="http://schemas.microsoft.com/office/drawing/2014/main" val="3230897484"/>
                    </a:ext>
                  </a:extLst>
                </a:gridCol>
                <a:gridCol w="921037">
                  <a:extLst>
                    <a:ext uri="{9D8B030D-6E8A-4147-A177-3AD203B41FA5}">
                      <a16:colId xmlns:a16="http://schemas.microsoft.com/office/drawing/2014/main" val="3282379310"/>
                    </a:ext>
                  </a:extLst>
                </a:gridCol>
                <a:gridCol w="921037">
                  <a:extLst>
                    <a:ext uri="{9D8B030D-6E8A-4147-A177-3AD203B41FA5}">
                      <a16:colId xmlns:a16="http://schemas.microsoft.com/office/drawing/2014/main" val="102854396"/>
                    </a:ext>
                  </a:extLst>
                </a:gridCol>
                <a:gridCol w="921037">
                  <a:extLst>
                    <a:ext uri="{9D8B030D-6E8A-4147-A177-3AD203B41FA5}">
                      <a16:colId xmlns:a16="http://schemas.microsoft.com/office/drawing/2014/main" val="226763907"/>
                    </a:ext>
                  </a:extLst>
                </a:gridCol>
                <a:gridCol w="921037">
                  <a:extLst>
                    <a:ext uri="{9D8B030D-6E8A-4147-A177-3AD203B41FA5}">
                      <a16:colId xmlns:a16="http://schemas.microsoft.com/office/drawing/2014/main" val="2995914544"/>
                    </a:ext>
                  </a:extLst>
                </a:gridCol>
                <a:gridCol w="921037">
                  <a:extLst>
                    <a:ext uri="{9D8B030D-6E8A-4147-A177-3AD203B41FA5}">
                      <a16:colId xmlns:a16="http://schemas.microsoft.com/office/drawing/2014/main" val="4024296251"/>
                    </a:ext>
                  </a:extLst>
                </a:gridCol>
              </a:tblGrid>
              <a:tr h="269080">
                <a:tc gridSpan="8">
                  <a:txBody>
                    <a:bodyPr/>
                    <a:lstStyle/>
                    <a:p>
                      <a:pPr algn="l"/>
                      <a:r>
                        <a:rPr lang="en-US" altLang="zh-TW" dirty="0">
                          <a:latin typeface="Times New Roman" panose="02020603050405020304" pitchFamily="18" charset="0"/>
                          <a:cs typeface="Times New Roman" panose="02020603050405020304" pitchFamily="18" charset="0"/>
                        </a:rPr>
                        <a:t>Table 1. Pattern</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dirty="0"/>
                    </a:p>
                  </a:txBody>
                  <a:tcPr/>
                </a:tc>
                <a:extLst>
                  <a:ext uri="{0D108BD9-81ED-4DB2-BD59-A6C34878D82A}">
                    <a16:rowId xmlns:a16="http://schemas.microsoft.com/office/drawing/2014/main" val="2573077887"/>
                  </a:ext>
                </a:extLst>
              </a:tr>
              <a:tr h="370840">
                <a:tc>
                  <a:txBody>
                    <a:bodyPr/>
                    <a:lstStyle/>
                    <a:p>
                      <a:pPr algn="ctr"/>
                      <a:r>
                        <a:rPr lang="en-US" altLang="zh-TW" dirty="0">
                          <a:latin typeface="Times New Roman" panose="02020603050405020304" pitchFamily="18" charset="0"/>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b="0" dirty="0">
                          <a:latin typeface="Times New Roman" panose="02020603050405020304" pitchFamily="18" charset="0"/>
                          <a:cs typeface="Times New Roman" panose="02020603050405020304" pitchFamily="18" charset="0"/>
                        </a:rPr>
                        <a:t>5</a:t>
                      </a:r>
                      <a:endParaRPr lang="zh-TW" altLang="en-US" b="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349880615"/>
                  </a:ext>
                </a:extLst>
              </a:tr>
              <a:tr h="370840">
                <a:tc>
                  <a:txBody>
                    <a:bodyPr/>
                    <a:lstStyle/>
                    <a:p>
                      <a:pPr algn="ctr"/>
                      <a:r>
                        <a:rPr lang="en-US" altLang="zh-TW" dirty="0">
                          <a:latin typeface="Times New Roman" panose="02020603050405020304" pitchFamily="18" charset="0"/>
                          <a:cs typeface="Times New Roman" panose="02020603050405020304" pitchFamily="18" charset="0"/>
                        </a:rPr>
                        <a:t>P[j]</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x</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98701"/>
                  </a:ext>
                </a:extLst>
              </a:tr>
              <a:tr h="370840">
                <a:tc gridSpan="8">
                  <a:txBody>
                    <a:bodyPr/>
                    <a:lstStyle/>
                    <a:p>
                      <a:pPr algn="l"/>
                      <a:r>
                        <a:rPr lang="en-US" altLang="zh-TW" dirty="0">
                          <a:latin typeface="Times New Roman" panose="02020603050405020304" pitchFamily="18" charset="0"/>
                          <a:cs typeface="Times New Roman" panose="02020603050405020304" pitchFamily="18" charset="0"/>
                        </a:rPr>
                        <a:t>Table 2. Margin Table</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3141171738"/>
                  </a:ext>
                </a:extLst>
              </a:tr>
              <a:tr h="370840">
                <a:tc>
                  <a:txBody>
                    <a:bodyPr/>
                    <a:lstStyle/>
                    <a:p>
                      <a:pPr algn="ctr"/>
                      <a:r>
                        <a:rPr lang="en-US" altLang="zh-TW" dirty="0">
                          <a:latin typeface="Times New Roman" panose="02020603050405020304" pitchFamily="18" charset="0"/>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4439166"/>
                  </a:ext>
                </a:extLst>
              </a:tr>
              <a:tr h="370840">
                <a:tc>
                  <a:txBody>
                    <a:bodyPr/>
                    <a:lstStyle/>
                    <a:p>
                      <a:pPr algn="ctr"/>
                      <a:r>
                        <a:rPr lang="en-US" altLang="zh-TW" dirty="0" err="1">
                          <a:latin typeface="Times New Roman" panose="02020603050405020304" pitchFamily="18" charset="0"/>
                          <a:cs typeface="Times New Roman" panose="02020603050405020304" pitchFamily="18" charset="0"/>
                        </a:rPr>
                        <a:t>marginTable</a:t>
                      </a:r>
                      <a:r>
                        <a:rPr lang="en-US" altLang="zh-TW" dirty="0">
                          <a:latin typeface="Times New Roman" panose="02020603050405020304" pitchFamily="18" charset="0"/>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7843905"/>
                  </a:ext>
                </a:extLst>
              </a:tr>
              <a:tr h="370840">
                <a:tc gridSpan="8">
                  <a:txBody>
                    <a:bodyPr/>
                    <a:lstStyle/>
                    <a:p>
                      <a:pPr algn="l"/>
                      <a:r>
                        <a:rPr lang="en-US" altLang="zh-TW" dirty="0">
                          <a:latin typeface="Times New Roman" panose="02020603050405020304" pitchFamily="18" charset="0"/>
                          <a:cs typeface="Times New Roman" panose="02020603050405020304" pitchFamily="18" charset="0"/>
                        </a:rPr>
                        <a:t>Table 3. Occurrence Table</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3942773547"/>
                  </a:ext>
                </a:extLst>
              </a:tr>
              <a:tr h="370840">
                <a:tc>
                  <a:txBody>
                    <a:bodyPr/>
                    <a:lstStyle/>
                    <a:p>
                      <a:pPr algn="ctr"/>
                      <a:r>
                        <a:rPr lang="en-US" altLang="zh-TW" dirty="0">
                          <a:latin typeface="Times New Roman" panose="02020603050405020304" pitchFamily="18" charset="0"/>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4594241"/>
                  </a:ext>
                </a:extLst>
              </a:tr>
              <a:tr h="370840">
                <a:tc>
                  <a:txBody>
                    <a:bodyPr/>
                    <a:lstStyle/>
                    <a:p>
                      <a:pPr algn="ctr"/>
                      <a:r>
                        <a:rPr lang="en-US" altLang="zh-TW" sz="1800" b="0" i="0" u="none" strike="noStrike" kern="1200" baseline="0" dirty="0" err="1">
                          <a:solidFill>
                            <a:schemeClr val="tx1"/>
                          </a:solidFill>
                          <a:latin typeface="Times New Roman" panose="02020603050405020304" pitchFamily="18" charset="0"/>
                          <a:ea typeface="+mn-ea"/>
                          <a:cs typeface="Times New Roman" panose="02020603050405020304" pitchFamily="18" charset="0"/>
                        </a:rPr>
                        <a:t>occurrenceTable</a:t>
                      </a:r>
                      <a:r>
                        <a:rPr lang="en-US" altLang="zh-TW" sz="1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[j]</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056215242"/>
                  </a:ext>
                </a:extLst>
              </a:tr>
            </a:tbl>
          </a:graphicData>
        </a:graphic>
      </p:graphicFrame>
      <p:graphicFrame>
        <p:nvGraphicFramePr>
          <p:cNvPr id="18" name="表格 18">
            <a:extLst>
              <a:ext uri="{FF2B5EF4-FFF2-40B4-BE49-F238E27FC236}">
                <a16:creationId xmlns:a16="http://schemas.microsoft.com/office/drawing/2014/main" id="{318E0CDE-5D89-486C-928C-A3CA9E10E59D}"/>
              </a:ext>
            </a:extLst>
          </p:cNvPr>
          <p:cNvGraphicFramePr>
            <a:graphicFrameLocks noGrp="1"/>
          </p:cNvGraphicFramePr>
          <p:nvPr>
            <p:extLst>
              <p:ext uri="{D42A27DB-BD31-4B8C-83A1-F6EECF244321}">
                <p14:modId xmlns:p14="http://schemas.microsoft.com/office/powerpoint/2010/main" val="2151688650"/>
              </p:ext>
            </p:extLst>
          </p:nvPr>
        </p:nvGraphicFramePr>
        <p:xfrm>
          <a:off x="9573442" y="3160395"/>
          <a:ext cx="2247770" cy="2966400"/>
        </p:xfrm>
        <a:graphic>
          <a:graphicData uri="http://schemas.openxmlformats.org/drawingml/2006/table">
            <a:tbl>
              <a:tblPr firstRow="1" bandRow="1">
                <a:tableStyleId>{5940675A-B579-460E-94D1-54222C63F5DA}</a:tableStyleId>
              </a:tblPr>
              <a:tblGrid>
                <a:gridCol w="1550187">
                  <a:extLst>
                    <a:ext uri="{9D8B030D-6E8A-4147-A177-3AD203B41FA5}">
                      <a16:colId xmlns:a16="http://schemas.microsoft.com/office/drawing/2014/main" val="2775931101"/>
                    </a:ext>
                  </a:extLst>
                </a:gridCol>
                <a:gridCol w="697583">
                  <a:extLst>
                    <a:ext uri="{9D8B030D-6E8A-4147-A177-3AD203B41FA5}">
                      <a16:colId xmlns:a16="http://schemas.microsoft.com/office/drawing/2014/main" val="310889642"/>
                    </a:ext>
                  </a:extLst>
                </a:gridCol>
              </a:tblGrid>
              <a:tr h="370800">
                <a:tc gridSpan="2">
                  <a:txBody>
                    <a:bodyPr/>
                    <a:lstStyle/>
                    <a:p>
                      <a:r>
                        <a:rPr lang="en-US" altLang="zh-TW" dirty="0">
                          <a:latin typeface="Times New Roman" panose="02020603050405020304" pitchFamily="18" charset="0"/>
                          <a:cs typeface="Times New Roman" panose="02020603050405020304" pitchFamily="18" charset="0"/>
                        </a:rPr>
                        <a:t>Table 4. Char</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Table</a:t>
                      </a:r>
                      <a:endParaRPr lang="zh-TW" altLang="en-US"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extLst>
                  <a:ext uri="{0D108BD9-81ED-4DB2-BD59-A6C34878D82A}">
                    <a16:rowId xmlns:a16="http://schemas.microsoft.com/office/drawing/2014/main" val="1247953284"/>
                  </a:ext>
                </a:extLst>
              </a:tr>
              <a:tr h="370800">
                <a:tc>
                  <a:txBody>
                    <a:bodyPr/>
                    <a:lstStyle/>
                    <a:p>
                      <a:pPr algn="ctr"/>
                      <a:r>
                        <a:rPr lang="en-US" altLang="zh-TW" dirty="0" err="1">
                          <a:latin typeface="Times New Roman" panose="02020603050405020304" pitchFamily="18" charset="0"/>
                          <a:cs typeface="Times New Roman" panose="02020603050405020304" pitchFamily="18" charset="0"/>
                        </a:rPr>
                        <a:t>charTable</a:t>
                      </a: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5526153"/>
                  </a:ext>
                </a:extLst>
              </a:tr>
              <a:tr h="370800">
                <a:tc gridSpan="2">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hMerge="1">
                  <a:txBody>
                    <a:bodyPr/>
                    <a:lstStyle/>
                    <a:p>
                      <a:pPr algn="ctr"/>
                      <a:endParaRPr lang="zh-TW" altLang="en-US"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79372969"/>
                  </a:ext>
                </a:extLst>
              </a:tr>
              <a:tr h="370800">
                <a:tc>
                  <a:txBody>
                    <a:bodyPr/>
                    <a:lstStyle/>
                    <a:p>
                      <a:pPr algn="ctr"/>
                      <a:r>
                        <a:rPr lang="en-US" altLang="zh-TW" dirty="0" err="1">
                          <a:latin typeface="Times New Roman" panose="02020603050405020304" pitchFamily="18" charset="0"/>
                          <a:cs typeface="Times New Roman" panose="02020603050405020304" pitchFamily="18" charset="0"/>
                        </a:rPr>
                        <a:t>charTable</a:t>
                      </a: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8871556"/>
                  </a:ext>
                </a:extLst>
              </a:tr>
              <a:tr h="37080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dirty="0"/>
                    </a:p>
                  </a:txBody>
                  <a:tcPr/>
                </a:tc>
                <a:extLst>
                  <a:ext uri="{0D108BD9-81ED-4DB2-BD59-A6C34878D82A}">
                    <a16:rowId xmlns:a16="http://schemas.microsoft.com/office/drawing/2014/main" val="3697581528"/>
                  </a:ext>
                </a:extLst>
              </a:tr>
              <a:tr h="370800">
                <a:tc>
                  <a:txBody>
                    <a:bodyPr/>
                    <a:lstStyle/>
                    <a:p>
                      <a:pPr algn="ctr"/>
                      <a:r>
                        <a:rPr lang="en-US" altLang="zh-TW" dirty="0" err="1">
                          <a:latin typeface="Times New Roman" panose="02020603050405020304" pitchFamily="18" charset="0"/>
                          <a:cs typeface="Times New Roman" panose="02020603050405020304" pitchFamily="18" charset="0"/>
                        </a:rPr>
                        <a:t>charTable</a:t>
                      </a:r>
                      <a:r>
                        <a:rPr lang="en-US" altLang="zh-TW" dirty="0">
                          <a:latin typeface="Times New Roman" panose="02020603050405020304" pitchFamily="18" charset="0"/>
                          <a:cs typeface="Times New Roman" panose="02020603050405020304" pitchFamily="18" charset="0"/>
                        </a:rPr>
                        <a:t>[‘y’]</a:t>
                      </a:r>
                      <a:endParaRPr lang="zh-TW" altLang="en-US" dirty="0">
                        <a:latin typeface="Times New Roman" panose="02020603050405020304" pitchFamily="18" charset="0"/>
                        <a:cs typeface="Times New Roman" panose="02020603050405020304" pitchFamily="18" charset="0"/>
                      </a:endParaRPr>
                    </a:p>
                  </a:txBody>
                  <a:tcPr>
                    <a:solidFill>
                      <a:srgbClr val="00B0F0"/>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solidFill>
                      <a:srgbClr val="00B0F0"/>
                    </a:solidFill>
                  </a:tcPr>
                </a:tc>
                <a:extLst>
                  <a:ext uri="{0D108BD9-81ED-4DB2-BD59-A6C34878D82A}">
                    <a16:rowId xmlns:a16="http://schemas.microsoft.com/office/drawing/2014/main" val="901453310"/>
                  </a:ext>
                </a:extLst>
              </a:tr>
              <a:tr h="370800">
                <a:tc gridSpan="2">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hMerge="1">
                  <a:txBody>
                    <a:bodyPr/>
                    <a:lstStyle/>
                    <a:p>
                      <a:endParaRPr lang="zh-TW" altLang="en-US" dirty="0"/>
                    </a:p>
                  </a:txBody>
                  <a:tcPr/>
                </a:tc>
                <a:extLst>
                  <a:ext uri="{0D108BD9-81ED-4DB2-BD59-A6C34878D82A}">
                    <a16:rowId xmlns:a16="http://schemas.microsoft.com/office/drawing/2014/main" val="2293968347"/>
                  </a:ext>
                </a:extLst>
              </a:tr>
              <a:tr h="370800">
                <a:tc>
                  <a:txBody>
                    <a:bodyPr/>
                    <a:lstStyle/>
                    <a:p>
                      <a:pPr algn="ctr"/>
                      <a:r>
                        <a:rPr lang="en-US" altLang="zh-TW" dirty="0" err="1">
                          <a:latin typeface="Times New Roman" panose="02020603050405020304" pitchFamily="18" charset="0"/>
                          <a:cs typeface="Times New Roman" panose="02020603050405020304" pitchFamily="18" charset="0"/>
                        </a:rPr>
                        <a:t>charTable</a:t>
                      </a:r>
                      <a:r>
                        <a:rPr lang="en-US" altLang="zh-TW" dirty="0">
                          <a:latin typeface="Times New Roman" panose="02020603050405020304" pitchFamily="18" charset="0"/>
                          <a:cs typeface="Times New Roman" panose="02020603050405020304" pitchFamily="18" charset="0"/>
                        </a:rPr>
                        <a:t>[225]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510324"/>
                  </a:ext>
                </a:extLst>
              </a:tr>
            </a:tbl>
          </a:graphicData>
        </a:graphic>
      </p:graphicFrame>
    </p:spTree>
    <p:extLst>
      <p:ext uri="{BB962C8B-B14F-4D97-AF65-F5344CB8AC3E}">
        <p14:creationId xmlns:p14="http://schemas.microsoft.com/office/powerpoint/2010/main" val="4057364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404A75-F755-4145-83FC-72DC9BF16CB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Match(1/6) – Margin Jumping </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9B179A2-BEA6-495D-B212-B5A44E3245AF}"/>
              </a:ext>
            </a:extLst>
          </p:cNvPr>
          <p:cNvSpPr>
            <a:spLocks noGrp="1"/>
          </p:cNvSpPr>
          <p:nvPr>
            <p:ph idx="1"/>
          </p:nvPr>
        </p:nvSpPr>
        <p:spPr>
          <a:xfrm>
            <a:off x="576213" y="4604754"/>
            <a:ext cx="10907598" cy="2094271"/>
          </a:xfrm>
        </p:spPr>
        <p:txBody>
          <a:bodyPr>
            <a:normAutofit fontScale="70000" lnSpcReduction="20000"/>
          </a:bodyPr>
          <a:lstStyle/>
          <a:p>
            <a:pPr marL="0" indent="0">
              <a:buNone/>
            </a:pPr>
            <a:r>
              <a:rPr lang="en-US" altLang="zh-TW" dirty="0">
                <a:latin typeface="Times New Roman" panose="02020603050405020304" pitchFamily="18" charset="0"/>
                <a:cs typeface="Times New Roman" panose="02020603050405020304" pitchFamily="18" charset="0"/>
              </a:rPr>
              <a:t>margin-string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b="1" dirty="0">
                <a:latin typeface="Times New Roman" panose="02020603050405020304" pitchFamily="18" charset="0"/>
                <a:cs typeface="Times New Roman" panose="02020603050405020304" pitchFamily="18" charset="0"/>
              </a:rPr>
              <a:t> </a:t>
            </a:r>
            <a:r>
              <a:rPr lang="zh-TW" altLang="en-US" b="1" dirty="0">
                <a:solidFill>
                  <a:srgbClr val="00B0F0"/>
                </a:solidFill>
                <a:latin typeface="Times New Roman" panose="02020603050405020304" pitchFamily="18" charset="0"/>
                <a:cs typeface="Times New Roman" panose="02020603050405020304" pitchFamily="18" charset="0"/>
              </a:rPr>
              <a:t>ｂａ</a:t>
            </a:r>
            <a:endParaRPr lang="en-US" altLang="zh-TW" b="1" dirty="0">
              <a:solidFill>
                <a:srgbClr val="00B0F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paired-character = </a:t>
            </a:r>
            <a:r>
              <a:rPr lang="zh-TW" altLang="en-US" b="1" dirty="0">
                <a:solidFill>
                  <a:srgbClr val="7030A0"/>
                </a:solidFill>
                <a:latin typeface="Times New Roman" panose="02020603050405020304" pitchFamily="18" charset="0"/>
                <a:cs typeface="Times New Roman" panose="02020603050405020304" pitchFamily="18" charset="0"/>
              </a:rPr>
              <a:t>ｘ</a:t>
            </a:r>
            <a:r>
              <a:rPr lang="zh-TW" altLang="en-US" b="1" dirty="0">
                <a:solidFill>
                  <a:srgbClr val="FF0000"/>
                </a:solidFill>
                <a:latin typeface="Times New Roman" panose="02020603050405020304" pitchFamily="18" charset="0"/>
                <a:cs typeface="Times New Roman" panose="02020603050405020304" pitchFamily="18" charset="0"/>
              </a:rPr>
              <a:t>ｙ</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unmatched-string = </a:t>
            </a:r>
            <a:r>
              <a:rPr lang="zh-TW" altLang="en-US" b="1" dirty="0">
                <a:solidFill>
                  <a:srgbClr val="7030A0"/>
                </a:solidFill>
                <a:latin typeface="Times New Roman" panose="02020603050405020304" pitchFamily="18" charset="0"/>
                <a:cs typeface="Times New Roman" panose="02020603050405020304" pitchFamily="18" charset="0"/>
              </a:rPr>
              <a:t>ｂａｃｘ</a:t>
            </a:r>
            <a:r>
              <a:rPr lang="zh-TW" altLang="en-US" b="1" dirty="0">
                <a:solidFill>
                  <a:srgbClr val="FF0000"/>
                </a:solidFill>
                <a:latin typeface="Times New Roman" panose="02020603050405020304" pitchFamily="18" charset="0"/>
                <a:cs typeface="Times New Roman" panose="02020603050405020304" pitchFamily="18" charset="0"/>
              </a:rPr>
              <a:t>ａ</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distance = </a:t>
            </a:r>
            <a:r>
              <a:rPr lang="en-US" altLang="zh-TW" dirty="0" err="1">
                <a:latin typeface="Times New Roman" panose="02020603050405020304" pitchFamily="18" charset="0"/>
                <a:cs typeface="Times New Roman" panose="02020603050405020304" pitchFamily="18" charset="0"/>
              </a:rPr>
              <a:t>P.length</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marginTable</a:t>
            </a:r>
            <a:r>
              <a:rPr lang="en-US" altLang="zh-TW" dirty="0">
                <a:latin typeface="Times New Roman" panose="02020603050405020304" pitchFamily="18" charset="0"/>
                <a:cs typeface="Times New Roman" panose="02020603050405020304" pitchFamily="18" charset="0"/>
              </a:rPr>
              <a:t>[4] = 7 – 2 = 5</a:t>
            </a:r>
          </a:p>
          <a:p>
            <a:pPr marL="0" indent="0">
              <a:buNone/>
            </a:pPr>
            <a:r>
              <a:rPr lang="en-US" altLang="zh-TW" dirty="0">
                <a:latin typeface="Times New Roman" panose="02020603050405020304" pitchFamily="18" charset="0"/>
                <a:cs typeface="Times New Roman" panose="02020603050405020304" pitchFamily="18" charset="0"/>
              </a:rPr>
              <a:t>mark the margin-string’s index</a:t>
            </a:r>
          </a:p>
        </p:txBody>
      </p:sp>
      <p:graphicFrame>
        <p:nvGraphicFramePr>
          <p:cNvPr id="4" name="表格 4">
            <a:extLst>
              <a:ext uri="{FF2B5EF4-FFF2-40B4-BE49-F238E27FC236}">
                <a16:creationId xmlns:a16="http://schemas.microsoft.com/office/drawing/2014/main" id="{60D70B53-B8CB-4634-A412-91E0BAD96AE0}"/>
              </a:ext>
            </a:extLst>
          </p:cNvPr>
          <p:cNvGraphicFramePr>
            <a:graphicFrameLocks noGrp="1"/>
          </p:cNvGraphicFramePr>
          <p:nvPr>
            <p:extLst>
              <p:ext uri="{D42A27DB-BD31-4B8C-83A1-F6EECF244321}">
                <p14:modId xmlns:p14="http://schemas.microsoft.com/office/powerpoint/2010/main" val="3389296935"/>
              </p:ext>
            </p:extLst>
          </p:nvPr>
        </p:nvGraphicFramePr>
        <p:xfrm>
          <a:off x="576213" y="1444634"/>
          <a:ext cx="11039575" cy="2966720"/>
        </p:xfrm>
        <a:graphic>
          <a:graphicData uri="http://schemas.openxmlformats.org/drawingml/2006/table">
            <a:tbl>
              <a:tblPr firstRow="1" bandRow="1">
                <a:tableStyleId>{5940675A-B579-460E-94D1-54222C63F5DA}</a:tableStyleId>
              </a:tblPr>
              <a:tblGrid>
                <a:gridCol w="380675">
                  <a:extLst>
                    <a:ext uri="{9D8B030D-6E8A-4147-A177-3AD203B41FA5}">
                      <a16:colId xmlns:a16="http://schemas.microsoft.com/office/drawing/2014/main" val="497530347"/>
                    </a:ext>
                  </a:extLst>
                </a:gridCol>
                <a:gridCol w="380675">
                  <a:extLst>
                    <a:ext uri="{9D8B030D-6E8A-4147-A177-3AD203B41FA5}">
                      <a16:colId xmlns:a16="http://schemas.microsoft.com/office/drawing/2014/main" val="496432589"/>
                    </a:ext>
                  </a:extLst>
                </a:gridCol>
                <a:gridCol w="380675">
                  <a:extLst>
                    <a:ext uri="{9D8B030D-6E8A-4147-A177-3AD203B41FA5}">
                      <a16:colId xmlns:a16="http://schemas.microsoft.com/office/drawing/2014/main" val="4082177319"/>
                    </a:ext>
                  </a:extLst>
                </a:gridCol>
                <a:gridCol w="380675">
                  <a:extLst>
                    <a:ext uri="{9D8B030D-6E8A-4147-A177-3AD203B41FA5}">
                      <a16:colId xmlns:a16="http://schemas.microsoft.com/office/drawing/2014/main" val="1960093336"/>
                    </a:ext>
                  </a:extLst>
                </a:gridCol>
                <a:gridCol w="380675">
                  <a:extLst>
                    <a:ext uri="{9D8B030D-6E8A-4147-A177-3AD203B41FA5}">
                      <a16:colId xmlns:a16="http://schemas.microsoft.com/office/drawing/2014/main" val="458617234"/>
                    </a:ext>
                  </a:extLst>
                </a:gridCol>
                <a:gridCol w="380675">
                  <a:extLst>
                    <a:ext uri="{9D8B030D-6E8A-4147-A177-3AD203B41FA5}">
                      <a16:colId xmlns:a16="http://schemas.microsoft.com/office/drawing/2014/main" val="4170643207"/>
                    </a:ext>
                  </a:extLst>
                </a:gridCol>
                <a:gridCol w="380675">
                  <a:extLst>
                    <a:ext uri="{9D8B030D-6E8A-4147-A177-3AD203B41FA5}">
                      <a16:colId xmlns:a16="http://schemas.microsoft.com/office/drawing/2014/main" val="864037003"/>
                    </a:ext>
                  </a:extLst>
                </a:gridCol>
                <a:gridCol w="380675">
                  <a:extLst>
                    <a:ext uri="{9D8B030D-6E8A-4147-A177-3AD203B41FA5}">
                      <a16:colId xmlns:a16="http://schemas.microsoft.com/office/drawing/2014/main" val="237928945"/>
                    </a:ext>
                  </a:extLst>
                </a:gridCol>
                <a:gridCol w="380675">
                  <a:extLst>
                    <a:ext uri="{9D8B030D-6E8A-4147-A177-3AD203B41FA5}">
                      <a16:colId xmlns:a16="http://schemas.microsoft.com/office/drawing/2014/main" val="1188561849"/>
                    </a:ext>
                  </a:extLst>
                </a:gridCol>
                <a:gridCol w="380675">
                  <a:extLst>
                    <a:ext uri="{9D8B030D-6E8A-4147-A177-3AD203B41FA5}">
                      <a16:colId xmlns:a16="http://schemas.microsoft.com/office/drawing/2014/main" val="2907214525"/>
                    </a:ext>
                  </a:extLst>
                </a:gridCol>
                <a:gridCol w="380675">
                  <a:extLst>
                    <a:ext uri="{9D8B030D-6E8A-4147-A177-3AD203B41FA5}">
                      <a16:colId xmlns:a16="http://schemas.microsoft.com/office/drawing/2014/main" val="1843471195"/>
                    </a:ext>
                  </a:extLst>
                </a:gridCol>
                <a:gridCol w="380675">
                  <a:extLst>
                    <a:ext uri="{9D8B030D-6E8A-4147-A177-3AD203B41FA5}">
                      <a16:colId xmlns:a16="http://schemas.microsoft.com/office/drawing/2014/main" val="3510994653"/>
                    </a:ext>
                  </a:extLst>
                </a:gridCol>
                <a:gridCol w="380675">
                  <a:extLst>
                    <a:ext uri="{9D8B030D-6E8A-4147-A177-3AD203B41FA5}">
                      <a16:colId xmlns:a16="http://schemas.microsoft.com/office/drawing/2014/main" val="1483072784"/>
                    </a:ext>
                  </a:extLst>
                </a:gridCol>
                <a:gridCol w="380675">
                  <a:extLst>
                    <a:ext uri="{9D8B030D-6E8A-4147-A177-3AD203B41FA5}">
                      <a16:colId xmlns:a16="http://schemas.microsoft.com/office/drawing/2014/main" val="774767283"/>
                    </a:ext>
                  </a:extLst>
                </a:gridCol>
                <a:gridCol w="380675">
                  <a:extLst>
                    <a:ext uri="{9D8B030D-6E8A-4147-A177-3AD203B41FA5}">
                      <a16:colId xmlns:a16="http://schemas.microsoft.com/office/drawing/2014/main" val="3830197446"/>
                    </a:ext>
                  </a:extLst>
                </a:gridCol>
                <a:gridCol w="380675">
                  <a:extLst>
                    <a:ext uri="{9D8B030D-6E8A-4147-A177-3AD203B41FA5}">
                      <a16:colId xmlns:a16="http://schemas.microsoft.com/office/drawing/2014/main" val="184132502"/>
                    </a:ext>
                  </a:extLst>
                </a:gridCol>
                <a:gridCol w="380675">
                  <a:extLst>
                    <a:ext uri="{9D8B030D-6E8A-4147-A177-3AD203B41FA5}">
                      <a16:colId xmlns:a16="http://schemas.microsoft.com/office/drawing/2014/main" val="973868889"/>
                    </a:ext>
                  </a:extLst>
                </a:gridCol>
                <a:gridCol w="380675">
                  <a:extLst>
                    <a:ext uri="{9D8B030D-6E8A-4147-A177-3AD203B41FA5}">
                      <a16:colId xmlns:a16="http://schemas.microsoft.com/office/drawing/2014/main" val="3414376831"/>
                    </a:ext>
                  </a:extLst>
                </a:gridCol>
                <a:gridCol w="380675">
                  <a:extLst>
                    <a:ext uri="{9D8B030D-6E8A-4147-A177-3AD203B41FA5}">
                      <a16:colId xmlns:a16="http://schemas.microsoft.com/office/drawing/2014/main" val="2454128248"/>
                    </a:ext>
                  </a:extLst>
                </a:gridCol>
                <a:gridCol w="380675">
                  <a:extLst>
                    <a:ext uri="{9D8B030D-6E8A-4147-A177-3AD203B41FA5}">
                      <a16:colId xmlns:a16="http://schemas.microsoft.com/office/drawing/2014/main" val="1041285937"/>
                    </a:ext>
                  </a:extLst>
                </a:gridCol>
                <a:gridCol w="380675">
                  <a:extLst>
                    <a:ext uri="{9D8B030D-6E8A-4147-A177-3AD203B41FA5}">
                      <a16:colId xmlns:a16="http://schemas.microsoft.com/office/drawing/2014/main" val="1639612117"/>
                    </a:ext>
                  </a:extLst>
                </a:gridCol>
                <a:gridCol w="380675">
                  <a:extLst>
                    <a:ext uri="{9D8B030D-6E8A-4147-A177-3AD203B41FA5}">
                      <a16:colId xmlns:a16="http://schemas.microsoft.com/office/drawing/2014/main" val="952531061"/>
                    </a:ext>
                  </a:extLst>
                </a:gridCol>
                <a:gridCol w="380675">
                  <a:extLst>
                    <a:ext uri="{9D8B030D-6E8A-4147-A177-3AD203B41FA5}">
                      <a16:colId xmlns:a16="http://schemas.microsoft.com/office/drawing/2014/main" val="1963210206"/>
                    </a:ext>
                  </a:extLst>
                </a:gridCol>
                <a:gridCol w="380675">
                  <a:extLst>
                    <a:ext uri="{9D8B030D-6E8A-4147-A177-3AD203B41FA5}">
                      <a16:colId xmlns:a16="http://schemas.microsoft.com/office/drawing/2014/main" val="2009246463"/>
                    </a:ext>
                  </a:extLst>
                </a:gridCol>
                <a:gridCol w="380675">
                  <a:extLst>
                    <a:ext uri="{9D8B030D-6E8A-4147-A177-3AD203B41FA5}">
                      <a16:colId xmlns:a16="http://schemas.microsoft.com/office/drawing/2014/main" val="2798814856"/>
                    </a:ext>
                  </a:extLst>
                </a:gridCol>
                <a:gridCol w="380675">
                  <a:extLst>
                    <a:ext uri="{9D8B030D-6E8A-4147-A177-3AD203B41FA5}">
                      <a16:colId xmlns:a16="http://schemas.microsoft.com/office/drawing/2014/main" val="4059543468"/>
                    </a:ext>
                  </a:extLst>
                </a:gridCol>
                <a:gridCol w="380675">
                  <a:extLst>
                    <a:ext uri="{9D8B030D-6E8A-4147-A177-3AD203B41FA5}">
                      <a16:colId xmlns:a16="http://schemas.microsoft.com/office/drawing/2014/main" val="3170308328"/>
                    </a:ext>
                  </a:extLst>
                </a:gridCol>
                <a:gridCol w="380675">
                  <a:extLst>
                    <a:ext uri="{9D8B030D-6E8A-4147-A177-3AD203B41FA5}">
                      <a16:colId xmlns:a16="http://schemas.microsoft.com/office/drawing/2014/main" val="1170935010"/>
                    </a:ext>
                  </a:extLst>
                </a:gridCol>
                <a:gridCol w="380675">
                  <a:extLst>
                    <a:ext uri="{9D8B030D-6E8A-4147-A177-3AD203B41FA5}">
                      <a16:colId xmlns:a16="http://schemas.microsoft.com/office/drawing/2014/main" val="2888943537"/>
                    </a:ext>
                  </a:extLst>
                </a:gridCol>
              </a:tblGrid>
              <a:tr h="370840">
                <a:tc>
                  <a:txBody>
                    <a:bodyPr/>
                    <a:lstStyle/>
                    <a:p>
                      <a:pPr algn="ctr"/>
                      <a:r>
                        <a:rPr lang="zh-TW" altLang="en-US" dirty="0"/>
                        <a:t>Ｃ</a:t>
                      </a:r>
                    </a:p>
                  </a:txBody>
                  <a:tcPr>
                    <a:solidFill>
                      <a:schemeClr val="bg1">
                        <a:lumMod val="65000"/>
                      </a:schemeClr>
                    </a:solid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３</a:t>
                      </a:r>
                    </a:p>
                  </a:txBody>
                  <a:tcPr/>
                </a:tc>
                <a:tc>
                  <a:txBody>
                    <a:bodyPr/>
                    <a:lstStyle/>
                    <a:p>
                      <a:pPr algn="ctr"/>
                      <a:r>
                        <a:rPr lang="zh-TW" altLang="en-US" dirty="0"/>
                        <a:t>２</a:t>
                      </a:r>
                    </a:p>
                  </a:txBody>
                  <a:tcPr/>
                </a:tc>
                <a:tc>
                  <a:txBody>
                    <a:bodyPr/>
                    <a:lstStyle/>
                    <a:p>
                      <a:pPr algn="ctr"/>
                      <a:r>
                        <a:rPr lang="zh-TW" altLang="en-US" dirty="0"/>
                        <a:t>１</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extLst>
                  <a:ext uri="{0D108BD9-81ED-4DB2-BD59-A6C34878D82A}">
                    <a16:rowId xmlns:a16="http://schemas.microsoft.com/office/drawing/2014/main" val="2292623501"/>
                  </a:ext>
                </a:extLst>
              </a:tr>
              <a:tr h="370840">
                <a:tc>
                  <a:txBody>
                    <a:bodyPr/>
                    <a:lstStyle/>
                    <a:p>
                      <a:pPr algn="ctr"/>
                      <a:r>
                        <a:rPr lang="zh-TW" altLang="en-US" dirty="0"/>
                        <a:t>Ｓ</a:t>
                      </a:r>
                    </a:p>
                  </a:txBody>
                  <a:tcPr>
                    <a:solidFill>
                      <a:schemeClr val="bg1">
                        <a:lumMod val="65000"/>
                      </a:schemeClr>
                    </a:solidFill>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ｃ</a:t>
                      </a:r>
                    </a:p>
                  </a:txBody>
                  <a:tcPr>
                    <a:solidFill>
                      <a:srgbClr val="B381D9"/>
                    </a:solidFill>
                  </a:tcPr>
                </a:tc>
                <a:tc>
                  <a:txBody>
                    <a:bodyPr/>
                    <a:lstStyle/>
                    <a:p>
                      <a:pPr algn="ctr"/>
                      <a:r>
                        <a:rPr lang="zh-TW" altLang="en-US" dirty="0"/>
                        <a:t>ｘ</a:t>
                      </a:r>
                    </a:p>
                  </a:txBody>
                  <a:tcPr>
                    <a:solidFill>
                      <a:srgbClr val="B381D9"/>
                    </a:solidFill>
                  </a:tcPr>
                </a:tc>
                <a:tc>
                  <a:txBody>
                    <a:bodyPr/>
                    <a:lstStyle/>
                    <a:p>
                      <a:pPr algn="ctr"/>
                      <a:r>
                        <a:rPr lang="zh-TW" altLang="en-US" dirty="0"/>
                        <a:t>ｙ</a:t>
                      </a:r>
                    </a:p>
                  </a:txBody>
                  <a:tcPr>
                    <a:solidFill>
                      <a:srgbClr val="FF000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ｘ</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ａ</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extLst>
                  <a:ext uri="{0D108BD9-81ED-4DB2-BD59-A6C34878D82A}">
                    <a16:rowId xmlns:a16="http://schemas.microsoft.com/office/drawing/2014/main" val="2961432503"/>
                  </a:ext>
                </a:extLst>
              </a:tr>
              <a:tr h="370840">
                <a:tc>
                  <a:txBody>
                    <a:bodyPr/>
                    <a:lstStyle/>
                    <a:p>
                      <a:pPr algn="ctr"/>
                      <a:r>
                        <a:rPr lang="zh-TW" altLang="en-US" dirty="0"/>
                        <a:t>Ｐ</a:t>
                      </a:r>
                    </a:p>
                  </a:txBody>
                  <a:tcPr>
                    <a:solidFill>
                      <a:schemeClr val="bg1">
                        <a:lumMod val="65000"/>
                      </a:schemeClr>
                    </a:solidFill>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ｃ</a:t>
                      </a:r>
                    </a:p>
                  </a:txBody>
                  <a:tcPr>
                    <a:solidFill>
                      <a:srgbClr val="B381D9"/>
                    </a:solidFill>
                  </a:tcPr>
                </a:tc>
                <a:tc>
                  <a:txBody>
                    <a:bodyPr/>
                    <a:lstStyle/>
                    <a:p>
                      <a:pPr algn="ctr"/>
                      <a:r>
                        <a:rPr lang="zh-TW" altLang="en-US" dirty="0"/>
                        <a:t>ｘ</a:t>
                      </a:r>
                    </a:p>
                  </a:txBody>
                  <a:tcPr>
                    <a:solidFill>
                      <a:srgbClr val="B381D9"/>
                    </a:solidFill>
                  </a:tcPr>
                </a:tc>
                <a:tc>
                  <a:txBody>
                    <a:bodyPr/>
                    <a:lstStyle/>
                    <a:p>
                      <a:pPr algn="ctr"/>
                      <a:r>
                        <a:rPr lang="zh-TW" altLang="en-US" dirty="0"/>
                        <a:t>ａ</a:t>
                      </a:r>
                    </a:p>
                  </a:txBody>
                  <a:tcPr>
                    <a:solidFill>
                      <a:srgbClr val="FF000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11824203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7215648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908078002"/>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89716264"/>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230424250"/>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extLst>
                  <a:ext uri="{0D108BD9-81ED-4DB2-BD59-A6C34878D82A}">
                    <a16:rowId xmlns:a16="http://schemas.microsoft.com/office/drawing/2014/main" val="3369287171"/>
                  </a:ext>
                </a:extLst>
              </a:tr>
            </a:tbl>
          </a:graphicData>
        </a:graphic>
      </p:graphicFrame>
      <p:cxnSp>
        <p:nvCxnSpPr>
          <p:cNvPr id="6" name="直線單箭頭接點 5">
            <a:extLst>
              <a:ext uri="{FF2B5EF4-FFF2-40B4-BE49-F238E27FC236}">
                <a16:creationId xmlns:a16="http://schemas.microsoft.com/office/drawing/2014/main" id="{312394D8-BAD0-4039-A2EB-B553CD151C54}"/>
              </a:ext>
            </a:extLst>
          </p:cNvPr>
          <p:cNvCxnSpPr>
            <a:cxnSpLocks/>
          </p:cNvCxnSpPr>
          <p:nvPr/>
        </p:nvCxnSpPr>
        <p:spPr>
          <a:xfrm flipV="1">
            <a:off x="3417904" y="4411355"/>
            <a:ext cx="0" cy="1900668"/>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3646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404A75-F755-4145-83FC-72DC9BF16CB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Match(2/6) – Single-Match</a:t>
            </a: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4">
            <a:extLst>
              <a:ext uri="{FF2B5EF4-FFF2-40B4-BE49-F238E27FC236}">
                <a16:creationId xmlns:a16="http://schemas.microsoft.com/office/drawing/2014/main" id="{60D70B53-B8CB-4634-A412-91E0BAD96AE0}"/>
              </a:ext>
            </a:extLst>
          </p:cNvPr>
          <p:cNvGraphicFramePr>
            <a:graphicFrameLocks noGrp="1"/>
          </p:cNvGraphicFramePr>
          <p:nvPr>
            <p:extLst>
              <p:ext uri="{D42A27DB-BD31-4B8C-83A1-F6EECF244321}">
                <p14:modId xmlns:p14="http://schemas.microsoft.com/office/powerpoint/2010/main" val="3534184296"/>
              </p:ext>
            </p:extLst>
          </p:nvPr>
        </p:nvGraphicFramePr>
        <p:xfrm>
          <a:off x="576213" y="1444634"/>
          <a:ext cx="11039575" cy="2966720"/>
        </p:xfrm>
        <a:graphic>
          <a:graphicData uri="http://schemas.openxmlformats.org/drawingml/2006/table">
            <a:tbl>
              <a:tblPr firstRow="1" bandRow="1">
                <a:tableStyleId>{5940675A-B579-460E-94D1-54222C63F5DA}</a:tableStyleId>
              </a:tblPr>
              <a:tblGrid>
                <a:gridCol w="380675">
                  <a:extLst>
                    <a:ext uri="{9D8B030D-6E8A-4147-A177-3AD203B41FA5}">
                      <a16:colId xmlns:a16="http://schemas.microsoft.com/office/drawing/2014/main" val="497530347"/>
                    </a:ext>
                  </a:extLst>
                </a:gridCol>
                <a:gridCol w="380675">
                  <a:extLst>
                    <a:ext uri="{9D8B030D-6E8A-4147-A177-3AD203B41FA5}">
                      <a16:colId xmlns:a16="http://schemas.microsoft.com/office/drawing/2014/main" val="496432589"/>
                    </a:ext>
                  </a:extLst>
                </a:gridCol>
                <a:gridCol w="380675">
                  <a:extLst>
                    <a:ext uri="{9D8B030D-6E8A-4147-A177-3AD203B41FA5}">
                      <a16:colId xmlns:a16="http://schemas.microsoft.com/office/drawing/2014/main" val="4082177319"/>
                    </a:ext>
                  </a:extLst>
                </a:gridCol>
                <a:gridCol w="380675">
                  <a:extLst>
                    <a:ext uri="{9D8B030D-6E8A-4147-A177-3AD203B41FA5}">
                      <a16:colId xmlns:a16="http://schemas.microsoft.com/office/drawing/2014/main" val="1960093336"/>
                    </a:ext>
                  </a:extLst>
                </a:gridCol>
                <a:gridCol w="380675">
                  <a:extLst>
                    <a:ext uri="{9D8B030D-6E8A-4147-A177-3AD203B41FA5}">
                      <a16:colId xmlns:a16="http://schemas.microsoft.com/office/drawing/2014/main" val="458617234"/>
                    </a:ext>
                  </a:extLst>
                </a:gridCol>
                <a:gridCol w="380675">
                  <a:extLst>
                    <a:ext uri="{9D8B030D-6E8A-4147-A177-3AD203B41FA5}">
                      <a16:colId xmlns:a16="http://schemas.microsoft.com/office/drawing/2014/main" val="4170643207"/>
                    </a:ext>
                  </a:extLst>
                </a:gridCol>
                <a:gridCol w="380675">
                  <a:extLst>
                    <a:ext uri="{9D8B030D-6E8A-4147-A177-3AD203B41FA5}">
                      <a16:colId xmlns:a16="http://schemas.microsoft.com/office/drawing/2014/main" val="864037003"/>
                    </a:ext>
                  </a:extLst>
                </a:gridCol>
                <a:gridCol w="380675">
                  <a:extLst>
                    <a:ext uri="{9D8B030D-6E8A-4147-A177-3AD203B41FA5}">
                      <a16:colId xmlns:a16="http://schemas.microsoft.com/office/drawing/2014/main" val="237928945"/>
                    </a:ext>
                  </a:extLst>
                </a:gridCol>
                <a:gridCol w="380675">
                  <a:extLst>
                    <a:ext uri="{9D8B030D-6E8A-4147-A177-3AD203B41FA5}">
                      <a16:colId xmlns:a16="http://schemas.microsoft.com/office/drawing/2014/main" val="1188561849"/>
                    </a:ext>
                  </a:extLst>
                </a:gridCol>
                <a:gridCol w="380675">
                  <a:extLst>
                    <a:ext uri="{9D8B030D-6E8A-4147-A177-3AD203B41FA5}">
                      <a16:colId xmlns:a16="http://schemas.microsoft.com/office/drawing/2014/main" val="2907214525"/>
                    </a:ext>
                  </a:extLst>
                </a:gridCol>
                <a:gridCol w="380675">
                  <a:extLst>
                    <a:ext uri="{9D8B030D-6E8A-4147-A177-3AD203B41FA5}">
                      <a16:colId xmlns:a16="http://schemas.microsoft.com/office/drawing/2014/main" val="1843471195"/>
                    </a:ext>
                  </a:extLst>
                </a:gridCol>
                <a:gridCol w="380675">
                  <a:extLst>
                    <a:ext uri="{9D8B030D-6E8A-4147-A177-3AD203B41FA5}">
                      <a16:colId xmlns:a16="http://schemas.microsoft.com/office/drawing/2014/main" val="3510994653"/>
                    </a:ext>
                  </a:extLst>
                </a:gridCol>
                <a:gridCol w="380675">
                  <a:extLst>
                    <a:ext uri="{9D8B030D-6E8A-4147-A177-3AD203B41FA5}">
                      <a16:colId xmlns:a16="http://schemas.microsoft.com/office/drawing/2014/main" val="1483072784"/>
                    </a:ext>
                  </a:extLst>
                </a:gridCol>
                <a:gridCol w="380675">
                  <a:extLst>
                    <a:ext uri="{9D8B030D-6E8A-4147-A177-3AD203B41FA5}">
                      <a16:colId xmlns:a16="http://schemas.microsoft.com/office/drawing/2014/main" val="774767283"/>
                    </a:ext>
                  </a:extLst>
                </a:gridCol>
                <a:gridCol w="380675">
                  <a:extLst>
                    <a:ext uri="{9D8B030D-6E8A-4147-A177-3AD203B41FA5}">
                      <a16:colId xmlns:a16="http://schemas.microsoft.com/office/drawing/2014/main" val="3830197446"/>
                    </a:ext>
                  </a:extLst>
                </a:gridCol>
                <a:gridCol w="380675">
                  <a:extLst>
                    <a:ext uri="{9D8B030D-6E8A-4147-A177-3AD203B41FA5}">
                      <a16:colId xmlns:a16="http://schemas.microsoft.com/office/drawing/2014/main" val="184132502"/>
                    </a:ext>
                  </a:extLst>
                </a:gridCol>
                <a:gridCol w="380675">
                  <a:extLst>
                    <a:ext uri="{9D8B030D-6E8A-4147-A177-3AD203B41FA5}">
                      <a16:colId xmlns:a16="http://schemas.microsoft.com/office/drawing/2014/main" val="973868889"/>
                    </a:ext>
                  </a:extLst>
                </a:gridCol>
                <a:gridCol w="380675">
                  <a:extLst>
                    <a:ext uri="{9D8B030D-6E8A-4147-A177-3AD203B41FA5}">
                      <a16:colId xmlns:a16="http://schemas.microsoft.com/office/drawing/2014/main" val="3414376831"/>
                    </a:ext>
                  </a:extLst>
                </a:gridCol>
                <a:gridCol w="380675">
                  <a:extLst>
                    <a:ext uri="{9D8B030D-6E8A-4147-A177-3AD203B41FA5}">
                      <a16:colId xmlns:a16="http://schemas.microsoft.com/office/drawing/2014/main" val="2454128248"/>
                    </a:ext>
                  </a:extLst>
                </a:gridCol>
                <a:gridCol w="380675">
                  <a:extLst>
                    <a:ext uri="{9D8B030D-6E8A-4147-A177-3AD203B41FA5}">
                      <a16:colId xmlns:a16="http://schemas.microsoft.com/office/drawing/2014/main" val="1041285937"/>
                    </a:ext>
                  </a:extLst>
                </a:gridCol>
                <a:gridCol w="380675">
                  <a:extLst>
                    <a:ext uri="{9D8B030D-6E8A-4147-A177-3AD203B41FA5}">
                      <a16:colId xmlns:a16="http://schemas.microsoft.com/office/drawing/2014/main" val="1639612117"/>
                    </a:ext>
                  </a:extLst>
                </a:gridCol>
                <a:gridCol w="380675">
                  <a:extLst>
                    <a:ext uri="{9D8B030D-6E8A-4147-A177-3AD203B41FA5}">
                      <a16:colId xmlns:a16="http://schemas.microsoft.com/office/drawing/2014/main" val="952531061"/>
                    </a:ext>
                  </a:extLst>
                </a:gridCol>
                <a:gridCol w="380675">
                  <a:extLst>
                    <a:ext uri="{9D8B030D-6E8A-4147-A177-3AD203B41FA5}">
                      <a16:colId xmlns:a16="http://schemas.microsoft.com/office/drawing/2014/main" val="1963210206"/>
                    </a:ext>
                  </a:extLst>
                </a:gridCol>
                <a:gridCol w="380675">
                  <a:extLst>
                    <a:ext uri="{9D8B030D-6E8A-4147-A177-3AD203B41FA5}">
                      <a16:colId xmlns:a16="http://schemas.microsoft.com/office/drawing/2014/main" val="2009246463"/>
                    </a:ext>
                  </a:extLst>
                </a:gridCol>
                <a:gridCol w="380675">
                  <a:extLst>
                    <a:ext uri="{9D8B030D-6E8A-4147-A177-3AD203B41FA5}">
                      <a16:colId xmlns:a16="http://schemas.microsoft.com/office/drawing/2014/main" val="2798814856"/>
                    </a:ext>
                  </a:extLst>
                </a:gridCol>
                <a:gridCol w="380675">
                  <a:extLst>
                    <a:ext uri="{9D8B030D-6E8A-4147-A177-3AD203B41FA5}">
                      <a16:colId xmlns:a16="http://schemas.microsoft.com/office/drawing/2014/main" val="4059543468"/>
                    </a:ext>
                  </a:extLst>
                </a:gridCol>
                <a:gridCol w="380675">
                  <a:extLst>
                    <a:ext uri="{9D8B030D-6E8A-4147-A177-3AD203B41FA5}">
                      <a16:colId xmlns:a16="http://schemas.microsoft.com/office/drawing/2014/main" val="3170308328"/>
                    </a:ext>
                  </a:extLst>
                </a:gridCol>
                <a:gridCol w="380675">
                  <a:extLst>
                    <a:ext uri="{9D8B030D-6E8A-4147-A177-3AD203B41FA5}">
                      <a16:colId xmlns:a16="http://schemas.microsoft.com/office/drawing/2014/main" val="1170935010"/>
                    </a:ext>
                  </a:extLst>
                </a:gridCol>
                <a:gridCol w="380675">
                  <a:extLst>
                    <a:ext uri="{9D8B030D-6E8A-4147-A177-3AD203B41FA5}">
                      <a16:colId xmlns:a16="http://schemas.microsoft.com/office/drawing/2014/main" val="2888943537"/>
                    </a:ext>
                  </a:extLst>
                </a:gridCol>
              </a:tblGrid>
              <a:tr h="370840">
                <a:tc>
                  <a:txBody>
                    <a:bodyPr/>
                    <a:lstStyle/>
                    <a:p>
                      <a:pPr algn="ctr"/>
                      <a:r>
                        <a:rPr lang="zh-TW" altLang="en-US" dirty="0"/>
                        <a:t>Ｃ</a:t>
                      </a:r>
                    </a:p>
                  </a:txBody>
                  <a:tcPr>
                    <a:solidFill>
                      <a:schemeClr val="bg1">
                        <a:lumMod val="65000"/>
                      </a:schemeClr>
                    </a:solid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７</a:t>
                      </a:r>
                    </a:p>
                  </a:txBody>
                  <a:tcPr/>
                </a:tc>
                <a:tc>
                  <a:txBody>
                    <a:bodyPr/>
                    <a:lstStyle/>
                    <a:p>
                      <a:pPr algn="ctr"/>
                      <a:r>
                        <a:rPr lang="zh-TW" altLang="en-US" dirty="0"/>
                        <a:t>６</a:t>
                      </a:r>
                    </a:p>
                  </a:txBody>
                  <a:tcPr/>
                </a:tc>
                <a:tc>
                  <a:txBody>
                    <a:bodyPr/>
                    <a:lstStyle/>
                    <a:p>
                      <a:pPr algn="ctr"/>
                      <a:r>
                        <a:rPr lang="zh-TW" altLang="en-US" dirty="0"/>
                        <a:t>５</a:t>
                      </a:r>
                    </a:p>
                  </a:txBody>
                  <a:tcPr/>
                </a:tc>
                <a:tc>
                  <a:txBody>
                    <a:bodyPr/>
                    <a:lstStyle/>
                    <a:p>
                      <a:pPr algn="ctr"/>
                      <a:r>
                        <a:rPr lang="zh-TW" altLang="en-US" dirty="0"/>
                        <a:t>４</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extLst>
                  <a:ext uri="{0D108BD9-81ED-4DB2-BD59-A6C34878D82A}">
                    <a16:rowId xmlns:a16="http://schemas.microsoft.com/office/drawing/2014/main" val="2292623501"/>
                  </a:ext>
                </a:extLst>
              </a:tr>
              <a:tr h="370840">
                <a:tc>
                  <a:txBody>
                    <a:bodyPr/>
                    <a:lstStyle/>
                    <a:p>
                      <a:pPr algn="ctr"/>
                      <a:r>
                        <a:rPr lang="zh-TW" altLang="en-US" dirty="0"/>
                        <a:t>Ｓ</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ｙ</a:t>
                      </a:r>
                    </a:p>
                  </a:txBody>
                  <a:tcPr>
                    <a:solidFill>
                      <a:schemeClr val="bg1"/>
                    </a:solidFill>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ｂ</a:t>
                      </a:r>
                    </a:p>
                  </a:txBody>
                  <a:tcPr>
                    <a:solidFill>
                      <a:srgbClr val="FF000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ｘ</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ａ</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extLst>
                  <a:ext uri="{0D108BD9-81ED-4DB2-BD59-A6C34878D82A}">
                    <a16:rowId xmlns:a16="http://schemas.microsoft.com/office/drawing/2014/main" val="2961432503"/>
                  </a:ext>
                </a:extLst>
              </a:tr>
              <a:tr h="370840">
                <a:tc>
                  <a:txBody>
                    <a:bodyPr/>
                    <a:lstStyle/>
                    <a:p>
                      <a:pPr algn="ctr"/>
                      <a:r>
                        <a:rPr lang="zh-TW" altLang="en-US" dirty="0"/>
                        <a:t>Ｐ</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11824203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ｃ</a:t>
                      </a:r>
                    </a:p>
                  </a:txBody>
                  <a:tcPr>
                    <a:solidFill>
                      <a:srgbClr val="B381D9"/>
                    </a:solidFill>
                  </a:tcPr>
                </a:tc>
                <a:tc>
                  <a:txBody>
                    <a:bodyPr/>
                    <a:lstStyle/>
                    <a:p>
                      <a:pPr algn="ctr"/>
                      <a:r>
                        <a:rPr lang="zh-TW" altLang="en-US" dirty="0"/>
                        <a:t>ｘ</a:t>
                      </a:r>
                    </a:p>
                  </a:txBody>
                  <a:tcPr>
                    <a:solidFill>
                      <a:srgbClr val="FF000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7215648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908078002"/>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89716264"/>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230424250"/>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extLst>
                  <a:ext uri="{0D108BD9-81ED-4DB2-BD59-A6C34878D82A}">
                    <a16:rowId xmlns:a16="http://schemas.microsoft.com/office/drawing/2014/main" val="3369287171"/>
                  </a:ext>
                </a:extLst>
              </a:tr>
            </a:tbl>
          </a:graphicData>
        </a:graphic>
      </p:graphicFrame>
      <p:sp>
        <p:nvSpPr>
          <p:cNvPr id="6" name="內容版面配置區 2">
            <a:extLst>
              <a:ext uri="{FF2B5EF4-FFF2-40B4-BE49-F238E27FC236}">
                <a16:creationId xmlns:a16="http://schemas.microsoft.com/office/drawing/2014/main" id="{F2BA90EF-8E02-45AA-B135-5E05988CDBF3}"/>
              </a:ext>
            </a:extLst>
          </p:cNvPr>
          <p:cNvSpPr txBox="1">
            <a:spLocks/>
          </p:cNvSpPr>
          <p:nvPr/>
        </p:nvSpPr>
        <p:spPr>
          <a:xfrm>
            <a:off x="576213" y="4604754"/>
            <a:ext cx="10907598" cy="209427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a:latin typeface="Times New Roman" panose="02020603050405020304" pitchFamily="18" charset="0"/>
                <a:cs typeface="Times New Roman" panose="02020603050405020304" pitchFamily="18" charset="0"/>
              </a:rPr>
              <a:t>margin-string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b="1" dirty="0">
                <a:latin typeface="Times New Roman" panose="02020603050405020304" pitchFamily="18" charset="0"/>
                <a:cs typeface="Times New Roman" panose="02020603050405020304" pitchFamily="18" charset="0"/>
              </a:rPr>
              <a:t> </a:t>
            </a:r>
            <a:r>
              <a:rPr lang="zh-TW" altLang="en-US" b="1" dirty="0">
                <a:solidFill>
                  <a:srgbClr val="00B0F0"/>
                </a:solidFill>
                <a:latin typeface="Times New Roman" panose="02020603050405020304" pitchFamily="18" charset="0"/>
                <a:cs typeface="Times New Roman" panose="02020603050405020304" pitchFamily="18" charset="0"/>
              </a:rPr>
              <a:t>ｂａ</a:t>
            </a:r>
            <a:endParaRPr lang="en-US" altLang="zh-TW" b="1" dirty="0">
              <a:solidFill>
                <a:srgbClr val="00B0F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paired-character = </a:t>
            </a:r>
            <a:r>
              <a:rPr lang="zh-TW" altLang="en-US" b="1" dirty="0">
                <a:solidFill>
                  <a:srgbClr val="7030A0"/>
                </a:solidFill>
                <a:latin typeface="Times New Roman" panose="02020603050405020304" pitchFamily="18" charset="0"/>
                <a:cs typeface="Times New Roman" panose="02020603050405020304" pitchFamily="18" charset="0"/>
              </a:rPr>
              <a:t>ａ</a:t>
            </a:r>
            <a:r>
              <a:rPr lang="zh-TW" altLang="en-US" b="1" dirty="0">
                <a:solidFill>
                  <a:srgbClr val="FF0000"/>
                </a:solidFill>
                <a:latin typeface="Times New Roman" panose="02020603050405020304" pitchFamily="18" charset="0"/>
                <a:cs typeface="Times New Roman" panose="02020603050405020304" pitchFamily="18" charset="0"/>
              </a:rPr>
              <a:t>ｂ</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unmatched-string = </a:t>
            </a:r>
            <a:r>
              <a:rPr lang="zh-TW" altLang="en-US" b="1" dirty="0">
                <a:solidFill>
                  <a:srgbClr val="7030A0"/>
                </a:solidFill>
                <a:latin typeface="Times New Roman" panose="02020603050405020304" pitchFamily="18" charset="0"/>
                <a:cs typeface="Times New Roman" panose="02020603050405020304" pitchFamily="18" charset="0"/>
              </a:rPr>
              <a:t>ｂａｃ</a:t>
            </a:r>
            <a:r>
              <a:rPr lang="zh-TW" altLang="en-US" b="1" dirty="0">
                <a:solidFill>
                  <a:srgbClr val="FF0000"/>
                </a:solidFill>
                <a:latin typeface="Times New Roman" panose="02020603050405020304" pitchFamily="18" charset="0"/>
                <a:cs typeface="Times New Roman" panose="02020603050405020304" pitchFamily="18" charset="0"/>
              </a:rPr>
              <a:t>ｘ</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shift until first index reach mismatch’s index</a:t>
            </a:r>
          </a:p>
        </p:txBody>
      </p:sp>
    </p:spTree>
    <p:extLst>
      <p:ext uri="{BB962C8B-B14F-4D97-AF65-F5344CB8AC3E}">
        <p14:creationId xmlns:p14="http://schemas.microsoft.com/office/powerpoint/2010/main" val="4176366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404A75-F755-4145-83FC-72DC9BF16CB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Match(3/6) – Full Jumping</a:t>
            </a: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4">
            <a:extLst>
              <a:ext uri="{FF2B5EF4-FFF2-40B4-BE49-F238E27FC236}">
                <a16:creationId xmlns:a16="http://schemas.microsoft.com/office/drawing/2014/main" id="{60D70B53-B8CB-4634-A412-91E0BAD96AE0}"/>
              </a:ext>
            </a:extLst>
          </p:cNvPr>
          <p:cNvGraphicFramePr>
            <a:graphicFrameLocks noGrp="1"/>
          </p:cNvGraphicFramePr>
          <p:nvPr>
            <p:extLst>
              <p:ext uri="{D42A27DB-BD31-4B8C-83A1-F6EECF244321}">
                <p14:modId xmlns:p14="http://schemas.microsoft.com/office/powerpoint/2010/main" val="1199723401"/>
              </p:ext>
            </p:extLst>
          </p:nvPr>
        </p:nvGraphicFramePr>
        <p:xfrm>
          <a:off x="576213" y="1444634"/>
          <a:ext cx="11039575" cy="2966720"/>
        </p:xfrm>
        <a:graphic>
          <a:graphicData uri="http://schemas.openxmlformats.org/drawingml/2006/table">
            <a:tbl>
              <a:tblPr firstRow="1" bandRow="1">
                <a:tableStyleId>{5940675A-B579-460E-94D1-54222C63F5DA}</a:tableStyleId>
              </a:tblPr>
              <a:tblGrid>
                <a:gridCol w="380675">
                  <a:extLst>
                    <a:ext uri="{9D8B030D-6E8A-4147-A177-3AD203B41FA5}">
                      <a16:colId xmlns:a16="http://schemas.microsoft.com/office/drawing/2014/main" val="497530347"/>
                    </a:ext>
                  </a:extLst>
                </a:gridCol>
                <a:gridCol w="380675">
                  <a:extLst>
                    <a:ext uri="{9D8B030D-6E8A-4147-A177-3AD203B41FA5}">
                      <a16:colId xmlns:a16="http://schemas.microsoft.com/office/drawing/2014/main" val="496432589"/>
                    </a:ext>
                  </a:extLst>
                </a:gridCol>
                <a:gridCol w="380675">
                  <a:extLst>
                    <a:ext uri="{9D8B030D-6E8A-4147-A177-3AD203B41FA5}">
                      <a16:colId xmlns:a16="http://schemas.microsoft.com/office/drawing/2014/main" val="4082177319"/>
                    </a:ext>
                  </a:extLst>
                </a:gridCol>
                <a:gridCol w="380675">
                  <a:extLst>
                    <a:ext uri="{9D8B030D-6E8A-4147-A177-3AD203B41FA5}">
                      <a16:colId xmlns:a16="http://schemas.microsoft.com/office/drawing/2014/main" val="1960093336"/>
                    </a:ext>
                  </a:extLst>
                </a:gridCol>
                <a:gridCol w="380675">
                  <a:extLst>
                    <a:ext uri="{9D8B030D-6E8A-4147-A177-3AD203B41FA5}">
                      <a16:colId xmlns:a16="http://schemas.microsoft.com/office/drawing/2014/main" val="458617234"/>
                    </a:ext>
                  </a:extLst>
                </a:gridCol>
                <a:gridCol w="380675">
                  <a:extLst>
                    <a:ext uri="{9D8B030D-6E8A-4147-A177-3AD203B41FA5}">
                      <a16:colId xmlns:a16="http://schemas.microsoft.com/office/drawing/2014/main" val="4170643207"/>
                    </a:ext>
                  </a:extLst>
                </a:gridCol>
                <a:gridCol w="380675">
                  <a:extLst>
                    <a:ext uri="{9D8B030D-6E8A-4147-A177-3AD203B41FA5}">
                      <a16:colId xmlns:a16="http://schemas.microsoft.com/office/drawing/2014/main" val="864037003"/>
                    </a:ext>
                  </a:extLst>
                </a:gridCol>
                <a:gridCol w="380675">
                  <a:extLst>
                    <a:ext uri="{9D8B030D-6E8A-4147-A177-3AD203B41FA5}">
                      <a16:colId xmlns:a16="http://schemas.microsoft.com/office/drawing/2014/main" val="237928945"/>
                    </a:ext>
                  </a:extLst>
                </a:gridCol>
                <a:gridCol w="380675">
                  <a:extLst>
                    <a:ext uri="{9D8B030D-6E8A-4147-A177-3AD203B41FA5}">
                      <a16:colId xmlns:a16="http://schemas.microsoft.com/office/drawing/2014/main" val="1188561849"/>
                    </a:ext>
                  </a:extLst>
                </a:gridCol>
                <a:gridCol w="380675">
                  <a:extLst>
                    <a:ext uri="{9D8B030D-6E8A-4147-A177-3AD203B41FA5}">
                      <a16:colId xmlns:a16="http://schemas.microsoft.com/office/drawing/2014/main" val="2907214525"/>
                    </a:ext>
                  </a:extLst>
                </a:gridCol>
                <a:gridCol w="380675">
                  <a:extLst>
                    <a:ext uri="{9D8B030D-6E8A-4147-A177-3AD203B41FA5}">
                      <a16:colId xmlns:a16="http://schemas.microsoft.com/office/drawing/2014/main" val="1843471195"/>
                    </a:ext>
                  </a:extLst>
                </a:gridCol>
                <a:gridCol w="380675">
                  <a:extLst>
                    <a:ext uri="{9D8B030D-6E8A-4147-A177-3AD203B41FA5}">
                      <a16:colId xmlns:a16="http://schemas.microsoft.com/office/drawing/2014/main" val="3510994653"/>
                    </a:ext>
                  </a:extLst>
                </a:gridCol>
                <a:gridCol w="380675">
                  <a:extLst>
                    <a:ext uri="{9D8B030D-6E8A-4147-A177-3AD203B41FA5}">
                      <a16:colId xmlns:a16="http://schemas.microsoft.com/office/drawing/2014/main" val="1483072784"/>
                    </a:ext>
                  </a:extLst>
                </a:gridCol>
                <a:gridCol w="380675">
                  <a:extLst>
                    <a:ext uri="{9D8B030D-6E8A-4147-A177-3AD203B41FA5}">
                      <a16:colId xmlns:a16="http://schemas.microsoft.com/office/drawing/2014/main" val="774767283"/>
                    </a:ext>
                  </a:extLst>
                </a:gridCol>
                <a:gridCol w="380675">
                  <a:extLst>
                    <a:ext uri="{9D8B030D-6E8A-4147-A177-3AD203B41FA5}">
                      <a16:colId xmlns:a16="http://schemas.microsoft.com/office/drawing/2014/main" val="3830197446"/>
                    </a:ext>
                  </a:extLst>
                </a:gridCol>
                <a:gridCol w="380675">
                  <a:extLst>
                    <a:ext uri="{9D8B030D-6E8A-4147-A177-3AD203B41FA5}">
                      <a16:colId xmlns:a16="http://schemas.microsoft.com/office/drawing/2014/main" val="184132502"/>
                    </a:ext>
                  </a:extLst>
                </a:gridCol>
                <a:gridCol w="380675">
                  <a:extLst>
                    <a:ext uri="{9D8B030D-6E8A-4147-A177-3AD203B41FA5}">
                      <a16:colId xmlns:a16="http://schemas.microsoft.com/office/drawing/2014/main" val="973868889"/>
                    </a:ext>
                  </a:extLst>
                </a:gridCol>
                <a:gridCol w="380675">
                  <a:extLst>
                    <a:ext uri="{9D8B030D-6E8A-4147-A177-3AD203B41FA5}">
                      <a16:colId xmlns:a16="http://schemas.microsoft.com/office/drawing/2014/main" val="3414376831"/>
                    </a:ext>
                  </a:extLst>
                </a:gridCol>
                <a:gridCol w="380675">
                  <a:extLst>
                    <a:ext uri="{9D8B030D-6E8A-4147-A177-3AD203B41FA5}">
                      <a16:colId xmlns:a16="http://schemas.microsoft.com/office/drawing/2014/main" val="2454128248"/>
                    </a:ext>
                  </a:extLst>
                </a:gridCol>
                <a:gridCol w="380675">
                  <a:extLst>
                    <a:ext uri="{9D8B030D-6E8A-4147-A177-3AD203B41FA5}">
                      <a16:colId xmlns:a16="http://schemas.microsoft.com/office/drawing/2014/main" val="1041285937"/>
                    </a:ext>
                  </a:extLst>
                </a:gridCol>
                <a:gridCol w="380675">
                  <a:extLst>
                    <a:ext uri="{9D8B030D-6E8A-4147-A177-3AD203B41FA5}">
                      <a16:colId xmlns:a16="http://schemas.microsoft.com/office/drawing/2014/main" val="1639612117"/>
                    </a:ext>
                  </a:extLst>
                </a:gridCol>
                <a:gridCol w="380675">
                  <a:extLst>
                    <a:ext uri="{9D8B030D-6E8A-4147-A177-3AD203B41FA5}">
                      <a16:colId xmlns:a16="http://schemas.microsoft.com/office/drawing/2014/main" val="952531061"/>
                    </a:ext>
                  </a:extLst>
                </a:gridCol>
                <a:gridCol w="380675">
                  <a:extLst>
                    <a:ext uri="{9D8B030D-6E8A-4147-A177-3AD203B41FA5}">
                      <a16:colId xmlns:a16="http://schemas.microsoft.com/office/drawing/2014/main" val="1963210206"/>
                    </a:ext>
                  </a:extLst>
                </a:gridCol>
                <a:gridCol w="380675">
                  <a:extLst>
                    <a:ext uri="{9D8B030D-6E8A-4147-A177-3AD203B41FA5}">
                      <a16:colId xmlns:a16="http://schemas.microsoft.com/office/drawing/2014/main" val="2009246463"/>
                    </a:ext>
                  </a:extLst>
                </a:gridCol>
                <a:gridCol w="380675">
                  <a:extLst>
                    <a:ext uri="{9D8B030D-6E8A-4147-A177-3AD203B41FA5}">
                      <a16:colId xmlns:a16="http://schemas.microsoft.com/office/drawing/2014/main" val="2798814856"/>
                    </a:ext>
                  </a:extLst>
                </a:gridCol>
                <a:gridCol w="380675">
                  <a:extLst>
                    <a:ext uri="{9D8B030D-6E8A-4147-A177-3AD203B41FA5}">
                      <a16:colId xmlns:a16="http://schemas.microsoft.com/office/drawing/2014/main" val="4059543468"/>
                    </a:ext>
                  </a:extLst>
                </a:gridCol>
                <a:gridCol w="380675">
                  <a:extLst>
                    <a:ext uri="{9D8B030D-6E8A-4147-A177-3AD203B41FA5}">
                      <a16:colId xmlns:a16="http://schemas.microsoft.com/office/drawing/2014/main" val="3170308328"/>
                    </a:ext>
                  </a:extLst>
                </a:gridCol>
                <a:gridCol w="380675">
                  <a:extLst>
                    <a:ext uri="{9D8B030D-6E8A-4147-A177-3AD203B41FA5}">
                      <a16:colId xmlns:a16="http://schemas.microsoft.com/office/drawing/2014/main" val="1170935010"/>
                    </a:ext>
                  </a:extLst>
                </a:gridCol>
                <a:gridCol w="380675">
                  <a:extLst>
                    <a:ext uri="{9D8B030D-6E8A-4147-A177-3AD203B41FA5}">
                      <a16:colId xmlns:a16="http://schemas.microsoft.com/office/drawing/2014/main" val="2888943537"/>
                    </a:ext>
                  </a:extLst>
                </a:gridCol>
              </a:tblGrid>
              <a:tr h="370840">
                <a:tc>
                  <a:txBody>
                    <a:bodyPr/>
                    <a:lstStyle/>
                    <a:p>
                      <a:pPr algn="ctr"/>
                      <a:r>
                        <a:rPr lang="zh-TW" altLang="en-US" dirty="0"/>
                        <a:t>Ｃ</a:t>
                      </a:r>
                    </a:p>
                  </a:txBody>
                  <a:tcPr>
                    <a:solidFill>
                      <a:schemeClr val="bg1">
                        <a:lumMod val="65000"/>
                      </a:schemeClr>
                    </a:solid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８</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extLst>
                  <a:ext uri="{0D108BD9-81ED-4DB2-BD59-A6C34878D82A}">
                    <a16:rowId xmlns:a16="http://schemas.microsoft.com/office/drawing/2014/main" val="2292623501"/>
                  </a:ext>
                </a:extLst>
              </a:tr>
              <a:tr h="370840">
                <a:tc>
                  <a:txBody>
                    <a:bodyPr/>
                    <a:lstStyle/>
                    <a:p>
                      <a:pPr algn="ctr"/>
                      <a:r>
                        <a:rPr lang="zh-TW" altLang="en-US" dirty="0"/>
                        <a:t>Ｓ</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ｙ</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ａ</a:t>
                      </a:r>
                    </a:p>
                  </a:txBody>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ｘ</a:t>
                      </a:r>
                    </a:p>
                  </a:txBody>
                  <a:tcPr>
                    <a:solidFill>
                      <a:srgbClr val="FF0000"/>
                    </a:solidFill>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ａ</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extLst>
                  <a:ext uri="{0D108BD9-81ED-4DB2-BD59-A6C34878D82A}">
                    <a16:rowId xmlns:a16="http://schemas.microsoft.com/office/drawing/2014/main" val="2961432503"/>
                  </a:ext>
                </a:extLst>
              </a:tr>
              <a:tr h="370840">
                <a:tc>
                  <a:txBody>
                    <a:bodyPr/>
                    <a:lstStyle/>
                    <a:p>
                      <a:pPr algn="ctr"/>
                      <a:r>
                        <a:rPr lang="zh-TW" altLang="en-US" dirty="0"/>
                        <a:t>Ｐ</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11824203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7215648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ｃ</a:t>
                      </a:r>
                    </a:p>
                  </a:txBody>
                  <a:tcPr>
                    <a:solidFill>
                      <a:srgbClr val="B381D9"/>
                    </a:solidFill>
                  </a:tcPr>
                </a:tc>
                <a:tc>
                  <a:txBody>
                    <a:bodyPr/>
                    <a:lstStyle/>
                    <a:p>
                      <a:pPr algn="ctr"/>
                      <a:r>
                        <a:rPr lang="zh-TW" altLang="en-US" dirty="0"/>
                        <a:t>ｘ</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FF0000"/>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908078002"/>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89716264"/>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230424250"/>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extLst>
                  <a:ext uri="{0D108BD9-81ED-4DB2-BD59-A6C34878D82A}">
                    <a16:rowId xmlns:a16="http://schemas.microsoft.com/office/drawing/2014/main" val="3369287171"/>
                  </a:ext>
                </a:extLst>
              </a:tr>
            </a:tbl>
          </a:graphicData>
        </a:graphic>
      </p:graphicFrame>
      <p:sp>
        <p:nvSpPr>
          <p:cNvPr id="5" name="內容版面配置區 2">
            <a:extLst>
              <a:ext uri="{FF2B5EF4-FFF2-40B4-BE49-F238E27FC236}">
                <a16:creationId xmlns:a16="http://schemas.microsoft.com/office/drawing/2014/main" id="{6FE30D56-412C-4898-8A41-69029F6C5659}"/>
              </a:ext>
            </a:extLst>
          </p:cNvPr>
          <p:cNvSpPr txBox="1">
            <a:spLocks/>
          </p:cNvSpPr>
          <p:nvPr/>
        </p:nvSpPr>
        <p:spPr>
          <a:xfrm>
            <a:off x="576213" y="4604754"/>
            <a:ext cx="10907598" cy="209427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a:latin typeface="Times New Roman" panose="02020603050405020304" pitchFamily="18" charset="0"/>
                <a:cs typeface="Times New Roman" panose="02020603050405020304" pitchFamily="18" charset="0"/>
              </a:rPr>
              <a:t>margin-string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null</a:t>
            </a:r>
          </a:p>
          <a:p>
            <a:pPr marL="0" indent="0">
              <a:buNone/>
            </a:pPr>
            <a:r>
              <a:rPr lang="en-US" altLang="zh-TW" dirty="0">
                <a:latin typeface="Times New Roman" panose="02020603050405020304" pitchFamily="18" charset="0"/>
                <a:cs typeface="Times New Roman" panose="02020603050405020304" pitchFamily="18" charset="0"/>
              </a:rPr>
              <a:t>paired-character = </a:t>
            </a:r>
            <a:r>
              <a:rPr lang="zh-TW" altLang="en-US" b="1" dirty="0">
                <a:solidFill>
                  <a:srgbClr val="7030A0"/>
                </a:solidFill>
                <a:latin typeface="Times New Roman" panose="02020603050405020304" pitchFamily="18" charset="0"/>
                <a:cs typeface="Times New Roman" panose="02020603050405020304" pitchFamily="18" charset="0"/>
              </a:rPr>
              <a:t>ａ</a:t>
            </a:r>
            <a:r>
              <a:rPr lang="zh-TW" altLang="en-US" b="1" dirty="0">
                <a:solidFill>
                  <a:srgbClr val="FF0000"/>
                </a:solidFill>
                <a:latin typeface="Times New Roman" panose="02020603050405020304" pitchFamily="18" charset="0"/>
                <a:cs typeface="Times New Roman" panose="02020603050405020304" pitchFamily="18" charset="0"/>
              </a:rPr>
              <a:t>ｘ</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unmatched-string = </a:t>
            </a:r>
            <a:r>
              <a:rPr lang="zh-TW" altLang="en-US" b="1" dirty="0">
                <a:solidFill>
                  <a:srgbClr val="7030A0"/>
                </a:solidFill>
                <a:latin typeface="Times New Roman" panose="02020603050405020304" pitchFamily="18" charset="0"/>
                <a:cs typeface="Times New Roman" panose="02020603050405020304" pitchFamily="18" charset="0"/>
              </a:rPr>
              <a:t>ｂａｃｘａｂ</a:t>
            </a:r>
            <a:r>
              <a:rPr lang="zh-TW" altLang="en-US" b="1" dirty="0">
                <a:solidFill>
                  <a:srgbClr val="FF0000"/>
                </a:solidFill>
                <a:latin typeface="Times New Roman" panose="02020603050405020304" pitchFamily="18" charset="0"/>
                <a:cs typeface="Times New Roman" panose="02020603050405020304" pitchFamily="18" charset="0"/>
              </a:rPr>
              <a:t>ａ</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margin-string is null  &amp;&amp;  not in-paired</a:t>
            </a:r>
          </a:p>
        </p:txBody>
      </p:sp>
    </p:spTree>
    <p:extLst>
      <p:ext uri="{BB962C8B-B14F-4D97-AF65-F5344CB8AC3E}">
        <p14:creationId xmlns:p14="http://schemas.microsoft.com/office/powerpoint/2010/main" val="4223030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404A75-F755-4145-83FC-72DC9BF16CB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Match(4/6) – Matched Jumping</a:t>
            </a: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4">
            <a:extLst>
              <a:ext uri="{FF2B5EF4-FFF2-40B4-BE49-F238E27FC236}">
                <a16:creationId xmlns:a16="http://schemas.microsoft.com/office/drawing/2014/main" id="{60D70B53-B8CB-4634-A412-91E0BAD96AE0}"/>
              </a:ext>
            </a:extLst>
          </p:cNvPr>
          <p:cNvGraphicFramePr>
            <a:graphicFrameLocks noGrp="1"/>
          </p:cNvGraphicFramePr>
          <p:nvPr>
            <p:extLst>
              <p:ext uri="{D42A27DB-BD31-4B8C-83A1-F6EECF244321}">
                <p14:modId xmlns:p14="http://schemas.microsoft.com/office/powerpoint/2010/main" val="1374725916"/>
              </p:ext>
            </p:extLst>
          </p:nvPr>
        </p:nvGraphicFramePr>
        <p:xfrm>
          <a:off x="576213" y="1444634"/>
          <a:ext cx="11039575" cy="2966720"/>
        </p:xfrm>
        <a:graphic>
          <a:graphicData uri="http://schemas.openxmlformats.org/drawingml/2006/table">
            <a:tbl>
              <a:tblPr firstRow="1" bandRow="1">
                <a:tableStyleId>{5940675A-B579-460E-94D1-54222C63F5DA}</a:tableStyleId>
              </a:tblPr>
              <a:tblGrid>
                <a:gridCol w="380675">
                  <a:extLst>
                    <a:ext uri="{9D8B030D-6E8A-4147-A177-3AD203B41FA5}">
                      <a16:colId xmlns:a16="http://schemas.microsoft.com/office/drawing/2014/main" val="497530347"/>
                    </a:ext>
                  </a:extLst>
                </a:gridCol>
                <a:gridCol w="380675">
                  <a:extLst>
                    <a:ext uri="{9D8B030D-6E8A-4147-A177-3AD203B41FA5}">
                      <a16:colId xmlns:a16="http://schemas.microsoft.com/office/drawing/2014/main" val="496432589"/>
                    </a:ext>
                  </a:extLst>
                </a:gridCol>
                <a:gridCol w="380675">
                  <a:extLst>
                    <a:ext uri="{9D8B030D-6E8A-4147-A177-3AD203B41FA5}">
                      <a16:colId xmlns:a16="http://schemas.microsoft.com/office/drawing/2014/main" val="4082177319"/>
                    </a:ext>
                  </a:extLst>
                </a:gridCol>
                <a:gridCol w="380675">
                  <a:extLst>
                    <a:ext uri="{9D8B030D-6E8A-4147-A177-3AD203B41FA5}">
                      <a16:colId xmlns:a16="http://schemas.microsoft.com/office/drawing/2014/main" val="1960093336"/>
                    </a:ext>
                  </a:extLst>
                </a:gridCol>
                <a:gridCol w="380675">
                  <a:extLst>
                    <a:ext uri="{9D8B030D-6E8A-4147-A177-3AD203B41FA5}">
                      <a16:colId xmlns:a16="http://schemas.microsoft.com/office/drawing/2014/main" val="458617234"/>
                    </a:ext>
                  </a:extLst>
                </a:gridCol>
                <a:gridCol w="380675">
                  <a:extLst>
                    <a:ext uri="{9D8B030D-6E8A-4147-A177-3AD203B41FA5}">
                      <a16:colId xmlns:a16="http://schemas.microsoft.com/office/drawing/2014/main" val="4170643207"/>
                    </a:ext>
                  </a:extLst>
                </a:gridCol>
                <a:gridCol w="380675">
                  <a:extLst>
                    <a:ext uri="{9D8B030D-6E8A-4147-A177-3AD203B41FA5}">
                      <a16:colId xmlns:a16="http://schemas.microsoft.com/office/drawing/2014/main" val="864037003"/>
                    </a:ext>
                  </a:extLst>
                </a:gridCol>
                <a:gridCol w="380675">
                  <a:extLst>
                    <a:ext uri="{9D8B030D-6E8A-4147-A177-3AD203B41FA5}">
                      <a16:colId xmlns:a16="http://schemas.microsoft.com/office/drawing/2014/main" val="237928945"/>
                    </a:ext>
                  </a:extLst>
                </a:gridCol>
                <a:gridCol w="380675">
                  <a:extLst>
                    <a:ext uri="{9D8B030D-6E8A-4147-A177-3AD203B41FA5}">
                      <a16:colId xmlns:a16="http://schemas.microsoft.com/office/drawing/2014/main" val="1188561849"/>
                    </a:ext>
                  </a:extLst>
                </a:gridCol>
                <a:gridCol w="380675">
                  <a:extLst>
                    <a:ext uri="{9D8B030D-6E8A-4147-A177-3AD203B41FA5}">
                      <a16:colId xmlns:a16="http://schemas.microsoft.com/office/drawing/2014/main" val="2907214525"/>
                    </a:ext>
                  </a:extLst>
                </a:gridCol>
                <a:gridCol w="380675">
                  <a:extLst>
                    <a:ext uri="{9D8B030D-6E8A-4147-A177-3AD203B41FA5}">
                      <a16:colId xmlns:a16="http://schemas.microsoft.com/office/drawing/2014/main" val="1843471195"/>
                    </a:ext>
                  </a:extLst>
                </a:gridCol>
                <a:gridCol w="380675">
                  <a:extLst>
                    <a:ext uri="{9D8B030D-6E8A-4147-A177-3AD203B41FA5}">
                      <a16:colId xmlns:a16="http://schemas.microsoft.com/office/drawing/2014/main" val="3510994653"/>
                    </a:ext>
                  </a:extLst>
                </a:gridCol>
                <a:gridCol w="380675">
                  <a:extLst>
                    <a:ext uri="{9D8B030D-6E8A-4147-A177-3AD203B41FA5}">
                      <a16:colId xmlns:a16="http://schemas.microsoft.com/office/drawing/2014/main" val="1483072784"/>
                    </a:ext>
                  </a:extLst>
                </a:gridCol>
                <a:gridCol w="380675">
                  <a:extLst>
                    <a:ext uri="{9D8B030D-6E8A-4147-A177-3AD203B41FA5}">
                      <a16:colId xmlns:a16="http://schemas.microsoft.com/office/drawing/2014/main" val="774767283"/>
                    </a:ext>
                  </a:extLst>
                </a:gridCol>
                <a:gridCol w="380675">
                  <a:extLst>
                    <a:ext uri="{9D8B030D-6E8A-4147-A177-3AD203B41FA5}">
                      <a16:colId xmlns:a16="http://schemas.microsoft.com/office/drawing/2014/main" val="3830197446"/>
                    </a:ext>
                  </a:extLst>
                </a:gridCol>
                <a:gridCol w="380675">
                  <a:extLst>
                    <a:ext uri="{9D8B030D-6E8A-4147-A177-3AD203B41FA5}">
                      <a16:colId xmlns:a16="http://schemas.microsoft.com/office/drawing/2014/main" val="184132502"/>
                    </a:ext>
                  </a:extLst>
                </a:gridCol>
                <a:gridCol w="380675">
                  <a:extLst>
                    <a:ext uri="{9D8B030D-6E8A-4147-A177-3AD203B41FA5}">
                      <a16:colId xmlns:a16="http://schemas.microsoft.com/office/drawing/2014/main" val="973868889"/>
                    </a:ext>
                  </a:extLst>
                </a:gridCol>
                <a:gridCol w="380675">
                  <a:extLst>
                    <a:ext uri="{9D8B030D-6E8A-4147-A177-3AD203B41FA5}">
                      <a16:colId xmlns:a16="http://schemas.microsoft.com/office/drawing/2014/main" val="3414376831"/>
                    </a:ext>
                  </a:extLst>
                </a:gridCol>
                <a:gridCol w="380675">
                  <a:extLst>
                    <a:ext uri="{9D8B030D-6E8A-4147-A177-3AD203B41FA5}">
                      <a16:colId xmlns:a16="http://schemas.microsoft.com/office/drawing/2014/main" val="2454128248"/>
                    </a:ext>
                  </a:extLst>
                </a:gridCol>
                <a:gridCol w="380675">
                  <a:extLst>
                    <a:ext uri="{9D8B030D-6E8A-4147-A177-3AD203B41FA5}">
                      <a16:colId xmlns:a16="http://schemas.microsoft.com/office/drawing/2014/main" val="1041285937"/>
                    </a:ext>
                  </a:extLst>
                </a:gridCol>
                <a:gridCol w="380675">
                  <a:extLst>
                    <a:ext uri="{9D8B030D-6E8A-4147-A177-3AD203B41FA5}">
                      <a16:colId xmlns:a16="http://schemas.microsoft.com/office/drawing/2014/main" val="1639612117"/>
                    </a:ext>
                  </a:extLst>
                </a:gridCol>
                <a:gridCol w="380675">
                  <a:extLst>
                    <a:ext uri="{9D8B030D-6E8A-4147-A177-3AD203B41FA5}">
                      <a16:colId xmlns:a16="http://schemas.microsoft.com/office/drawing/2014/main" val="952531061"/>
                    </a:ext>
                  </a:extLst>
                </a:gridCol>
                <a:gridCol w="380675">
                  <a:extLst>
                    <a:ext uri="{9D8B030D-6E8A-4147-A177-3AD203B41FA5}">
                      <a16:colId xmlns:a16="http://schemas.microsoft.com/office/drawing/2014/main" val="1963210206"/>
                    </a:ext>
                  </a:extLst>
                </a:gridCol>
                <a:gridCol w="380675">
                  <a:extLst>
                    <a:ext uri="{9D8B030D-6E8A-4147-A177-3AD203B41FA5}">
                      <a16:colId xmlns:a16="http://schemas.microsoft.com/office/drawing/2014/main" val="2009246463"/>
                    </a:ext>
                  </a:extLst>
                </a:gridCol>
                <a:gridCol w="380675">
                  <a:extLst>
                    <a:ext uri="{9D8B030D-6E8A-4147-A177-3AD203B41FA5}">
                      <a16:colId xmlns:a16="http://schemas.microsoft.com/office/drawing/2014/main" val="2798814856"/>
                    </a:ext>
                  </a:extLst>
                </a:gridCol>
                <a:gridCol w="380675">
                  <a:extLst>
                    <a:ext uri="{9D8B030D-6E8A-4147-A177-3AD203B41FA5}">
                      <a16:colId xmlns:a16="http://schemas.microsoft.com/office/drawing/2014/main" val="4059543468"/>
                    </a:ext>
                  </a:extLst>
                </a:gridCol>
                <a:gridCol w="380675">
                  <a:extLst>
                    <a:ext uri="{9D8B030D-6E8A-4147-A177-3AD203B41FA5}">
                      <a16:colId xmlns:a16="http://schemas.microsoft.com/office/drawing/2014/main" val="3170308328"/>
                    </a:ext>
                  </a:extLst>
                </a:gridCol>
                <a:gridCol w="380675">
                  <a:extLst>
                    <a:ext uri="{9D8B030D-6E8A-4147-A177-3AD203B41FA5}">
                      <a16:colId xmlns:a16="http://schemas.microsoft.com/office/drawing/2014/main" val="1170935010"/>
                    </a:ext>
                  </a:extLst>
                </a:gridCol>
                <a:gridCol w="380675">
                  <a:extLst>
                    <a:ext uri="{9D8B030D-6E8A-4147-A177-3AD203B41FA5}">
                      <a16:colId xmlns:a16="http://schemas.microsoft.com/office/drawing/2014/main" val="2888943537"/>
                    </a:ext>
                  </a:extLst>
                </a:gridCol>
              </a:tblGrid>
              <a:tr h="370840">
                <a:tc>
                  <a:txBody>
                    <a:bodyPr/>
                    <a:lstStyle/>
                    <a:p>
                      <a:pPr algn="ctr"/>
                      <a:r>
                        <a:rPr lang="zh-TW" altLang="en-US" dirty="0"/>
                        <a:t>Ｃ</a:t>
                      </a:r>
                    </a:p>
                  </a:txBody>
                  <a:tcPr>
                    <a:solidFill>
                      <a:schemeClr val="bg1">
                        <a:lumMod val="65000"/>
                      </a:schemeClr>
                    </a:solid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９</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extLst>
                  <a:ext uri="{0D108BD9-81ED-4DB2-BD59-A6C34878D82A}">
                    <a16:rowId xmlns:a16="http://schemas.microsoft.com/office/drawing/2014/main" val="2292623501"/>
                  </a:ext>
                </a:extLst>
              </a:tr>
              <a:tr h="370840">
                <a:tc>
                  <a:txBody>
                    <a:bodyPr/>
                    <a:lstStyle/>
                    <a:p>
                      <a:pPr algn="ctr"/>
                      <a:r>
                        <a:rPr lang="zh-TW" altLang="en-US" dirty="0"/>
                        <a:t>Ｓ</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ｙ</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ｘ</a:t>
                      </a:r>
                    </a:p>
                  </a:txBody>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ｃ</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ｂ</a:t>
                      </a:r>
                    </a:p>
                  </a:txBody>
                  <a:tcPr>
                    <a:solidFill>
                      <a:srgbClr val="FF0000"/>
                    </a:solidFill>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extLst>
                  <a:ext uri="{0D108BD9-81ED-4DB2-BD59-A6C34878D82A}">
                    <a16:rowId xmlns:a16="http://schemas.microsoft.com/office/drawing/2014/main" val="2961432503"/>
                  </a:ext>
                </a:extLst>
              </a:tr>
              <a:tr h="370840">
                <a:tc>
                  <a:txBody>
                    <a:bodyPr/>
                    <a:lstStyle/>
                    <a:p>
                      <a:pPr algn="ctr"/>
                      <a:r>
                        <a:rPr lang="zh-TW" altLang="en-US" dirty="0"/>
                        <a:t>Ｐ</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11824203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7215648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908078002"/>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ｃ</a:t>
                      </a:r>
                    </a:p>
                  </a:txBody>
                  <a:tcPr>
                    <a:solidFill>
                      <a:srgbClr val="B381D9"/>
                    </a:solidFill>
                  </a:tcPr>
                </a:tc>
                <a:tc>
                  <a:txBody>
                    <a:bodyPr/>
                    <a:lstStyle/>
                    <a:p>
                      <a:pPr algn="ctr"/>
                      <a:r>
                        <a:rPr lang="zh-TW" altLang="en-US" dirty="0"/>
                        <a:t>ｘ</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FF0000"/>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89716264"/>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230424250"/>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extLst>
                  <a:ext uri="{0D108BD9-81ED-4DB2-BD59-A6C34878D82A}">
                    <a16:rowId xmlns:a16="http://schemas.microsoft.com/office/drawing/2014/main" val="3369287171"/>
                  </a:ext>
                </a:extLst>
              </a:tr>
            </a:tbl>
          </a:graphicData>
        </a:graphic>
      </p:graphicFrame>
      <p:sp>
        <p:nvSpPr>
          <p:cNvPr id="8" name="內容版面配置區 2">
            <a:extLst>
              <a:ext uri="{FF2B5EF4-FFF2-40B4-BE49-F238E27FC236}">
                <a16:creationId xmlns:a16="http://schemas.microsoft.com/office/drawing/2014/main" id="{A6B5BC9F-3599-43D3-AADA-1F26B8B10EFD}"/>
              </a:ext>
            </a:extLst>
          </p:cNvPr>
          <p:cNvSpPr txBox="1">
            <a:spLocks/>
          </p:cNvSpPr>
          <p:nvPr/>
        </p:nvSpPr>
        <p:spPr>
          <a:xfrm>
            <a:off x="576213" y="4604754"/>
            <a:ext cx="10907598" cy="209427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a:latin typeface="Times New Roman" panose="02020603050405020304" pitchFamily="18" charset="0"/>
                <a:cs typeface="Times New Roman" panose="02020603050405020304" pitchFamily="18" charset="0"/>
              </a:rPr>
              <a:t>margin-string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null</a:t>
            </a:r>
          </a:p>
          <a:p>
            <a:pPr marL="0" indent="0">
              <a:buNone/>
            </a:pPr>
            <a:r>
              <a:rPr lang="en-US" altLang="zh-TW" dirty="0">
                <a:latin typeface="Times New Roman" panose="02020603050405020304" pitchFamily="18" charset="0"/>
                <a:cs typeface="Times New Roman" panose="02020603050405020304" pitchFamily="18" charset="0"/>
              </a:rPr>
              <a:t>paired-character = </a:t>
            </a:r>
            <a:r>
              <a:rPr lang="zh-TW" altLang="en-US" b="1" dirty="0">
                <a:solidFill>
                  <a:srgbClr val="7030A0"/>
                </a:solidFill>
                <a:latin typeface="Times New Roman" panose="02020603050405020304" pitchFamily="18" charset="0"/>
                <a:cs typeface="Times New Roman" panose="02020603050405020304" pitchFamily="18" charset="0"/>
              </a:rPr>
              <a:t>ａ</a:t>
            </a:r>
            <a:r>
              <a:rPr lang="zh-TW" altLang="en-US" b="1" dirty="0">
                <a:solidFill>
                  <a:srgbClr val="FF0000"/>
                </a:solidFill>
                <a:latin typeface="Times New Roman" panose="02020603050405020304" pitchFamily="18" charset="0"/>
                <a:cs typeface="Times New Roman" panose="02020603050405020304" pitchFamily="18" charset="0"/>
              </a:rPr>
              <a:t>ｂ</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unmatched-string = </a:t>
            </a:r>
            <a:r>
              <a:rPr lang="zh-TW" altLang="en-US" b="1" dirty="0">
                <a:solidFill>
                  <a:srgbClr val="7030A0"/>
                </a:solidFill>
                <a:latin typeface="Times New Roman" panose="02020603050405020304" pitchFamily="18" charset="0"/>
                <a:cs typeface="Times New Roman" panose="02020603050405020304" pitchFamily="18" charset="0"/>
              </a:rPr>
              <a:t>ｂａｃｘａｂ</a:t>
            </a:r>
            <a:r>
              <a:rPr lang="zh-TW" altLang="en-US" b="1" dirty="0">
                <a:solidFill>
                  <a:srgbClr val="FF0000"/>
                </a:solidFill>
                <a:latin typeface="Times New Roman" panose="02020603050405020304" pitchFamily="18" charset="0"/>
                <a:cs typeface="Times New Roman" panose="02020603050405020304" pitchFamily="18" charset="0"/>
              </a:rPr>
              <a:t>ａ</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in-paired, shift and mark</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mismatch’s index</a:t>
            </a:r>
          </a:p>
        </p:txBody>
      </p:sp>
      <p:cxnSp>
        <p:nvCxnSpPr>
          <p:cNvPr id="14" name="直線單箭頭接點 13">
            <a:extLst>
              <a:ext uri="{FF2B5EF4-FFF2-40B4-BE49-F238E27FC236}">
                <a16:creationId xmlns:a16="http://schemas.microsoft.com/office/drawing/2014/main" id="{3F360280-A075-45CE-BBCF-4E6996A7F375}"/>
              </a:ext>
            </a:extLst>
          </p:cNvPr>
          <p:cNvCxnSpPr>
            <a:cxnSpLocks/>
          </p:cNvCxnSpPr>
          <p:nvPr/>
        </p:nvCxnSpPr>
        <p:spPr>
          <a:xfrm flipV="1">
            <a:off x="6347534" y="4483224"/>
            <a:ext cx="2752078" cy="1864310"/>
          </a:xfrm>
          <a:prstGeom prst="straightConnector1">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426493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404A75-F755-4145-83FC-72DC9BF16CB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Match(5/6) – Margin Jumping </a:t>
            </a: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4">
            <a:extLst>
              <a:ext uri="{FF2B5EF4-FFF2-40B4-BE49-F238E27FC236}">
                <a16:creationId xmlns:a16="http://schemas.microsoft.com/office/drawing/2014/main" id="{60D70B53-B8CB-4634-A412-91E0BAD96AE0}"/>
              </a:ext>
            </a:extLst>
          </p:cNvPr>
          <p:cNvGraphicFramePr>
            <a:graphicFrameLocks noGrp="1"/>
          </p:cNvGraphicFramePr>
          <p:nvPr>
            <p:extLst>
              <p:ext uri="{D42A27DB-BD31-4B8C-83A1-F6EECF244321}">
                <p14:modId xmlns:p14="http://schemas.microsoft.com/office/powerpoint/2010/main" val="2956575157"/>
              </p:ext>
            </p:extLst>
          </p:nvPr>
        </p:nvGraphicFramePr>
        <p:xfrm>
          <a:off x="576213" y="1444634"/>
          <a:ext cx="11039575" cy="2966720"/>
        </p:xfrm>
        <a:graphic>
          <a:graphicData uri="http://schemas.openxmlformats.org/drawingml/2006/table">
            <a:tbl>
              <a:tblPr firstRow="1" bandRow="1">
                <a:tableStyleId>{5940675A-B579-460E-94D1-54222C63F5DA}</a:tableStyleId>
              </a:tblPr>
              <a:tblGrid>
                <a:gridCol w="380675">
                  <a:extLst>
                    <a:ext uri="{9D8B030D-6E8A-4147-A177-3AD203B41FA5}">
                      <a16:colId xmlns:a16="http://schemas.microsoft.com/office/drawing/2014/main" val="497530347"/>
                    </a:ext>
                  </a:extLst>
                </a:gridCol>
                <a:gridCol w="380675">
                  <a:extLst>
                    <a:ext uri="{9D8B030D-6E8A-4147-A177-3AD203B41FA5}">
                      <a16:colId xmlns:a16="http://schemas.microsoft.com/office/drawing/2014/main" val="496432589"/>
                    </a:ext>
                  </a:extLst>
                </a:gridCol>
                <a:gridCol w="380675">
                  <a:extLst>
                    <a:ext uri="{9D8B030D-6E8A-4147-A177-3AD203B41FA5}">
                      <a16:colId xmlns:a16="http://schemas.microsoft.com/office/drawing/2014/main" val="4082177319"/>
                    </a:ext>
                  </a:extLst>
                </a:gridCol>
                <a:gridCol w="380675">
                  <a:extLst>
                    <a:ext uri="{9D8B030D-6E8A-4147-A177-3AD203B41FA5}">
                      <a16:colId xmlns:a16="http://schemas.microsoft.com/office/drawing/2014/main" val="1960093336"/>
                    </a:ext>
                  </a:extLst>
                </a:gridCol>
                <a:gridCol w="380675">
                  <a:extLst>
                    <a:ext uri="{9D8B030D-6E8A-4147-A177-3AD203B41FA5}">
                      <a16:colId xmlns:a16="http://schemas.microsoft.com/office/drawing/2014/main" val="458617234"/>
                    </a:ext>
                  </a:extLst>
                </a:gridCol>
                <a:gridCol w="380675">
                  <a:extLst>
                    <a:ext uri="{9D8B030D-6E8A-4147-A177-3AD203B41FA5}">
                      <a16:colId xmlns:a16="http://schemas.microsoft.com/office/drawing/2014/main" val="4170643207"/>
                    </a:ext>
                  </a:extLst>
                </a:gridCol>
                <a:gridCol w="380675">
                  <a:extLst>
                    <a:ext uri="{9D8B030D-6E8A-4147-A177-3AD203B41FA5}">
                      <a16:colId xmlns:a16="http://schemas.microsoft.com/office/drawing/2014/main" val="864037003"/>
                    </a:ext>
                  </a:extLst>
                </a:gridCol>
                <a:gridCol w="380675">
                  <a:extLst>
                    <a:ext uri="{9D8B030D-6E8A-4147-A177-3AD203B41FA5}">
                      <a16:colId xmlns:a16="http://schemas.microsoft.com/office/drawing/2014/main" val="237928945"/>
                    </a:ext>
                  </a:extLst>
                </a:gridCol>
                <a:gridCol w="380675">
                  <a:extLst>
                    <a:ext uri="{9D8B030D-6E8A-4147-A177-3AD203B41FA5}">
                      <a16:colId xmlns:a16="http://schemas.microsoft.com/office/drawing/2014/main" val="1188561849"/>
                    </a:ext>
                  </a:extLst>
                </a:gridCol>
                <a:gridCol w="380675">
                  <a:extLst>
                    <a:ext uri="{9D8B030D-6E8A-4147-A177-3AD203B41FA5}">
                      <a16:colId xmlns:a16="http://schemas.microsoft.com/office/drawing/2014/main" val="2907214525"/>
                    </a:ext>
                  </a:extLst>
                </a:gridCol>
                <a:gridCol w="380675">
                  <a:extLst>
                    <a:ext uri="{9D8B030D-6E8A-4147-A177-3AD203B41FA5}">
                      <a16:colId xmlns:a16="http://schemas.microsoft.com/office/drawing/2014/main" val="1843471195"/>
                    </a:ext>
                  </a:extLst>
                </a:gridCol>
                <a:gridCol w="380675">
                  <a:extLst>
                    <a:ext uri="{9D8B030D-6E8A-4147-A177-3AD203B41FA5}">
                      <a16:colId xmlns:a16="http://schemas.microsoft.com/office/drawing/2014/main" val="3510994653"/>
                    </a:ext>
                  </a:extLst>
                </a:gridCol>
                <a:gridCol w="380675">
                  <a:extLst>
                    <a:ext uri="{9D8B030D-6E8A-4147-A177-3AD203B41FA5}">
                      <a16:colId xmlns:a16="http://schemas.microsoft.com/office/drawing/2014/main" val="1483072784"/>
                    </a:ext>
                  </a:extLst>
                </a:gridCol>
                <a:gridCol w="380675">
                  <a:extLst>
                    <a:ext uri="{9D8B030D-6E8A-4147-A177-3AD203B41FA5}">
                      <a16:colId xmlns:a16="http://schemas.microsoft.com/office/drawing/2014/main" val="774767283"/>
                    </a:ext>
                  </a:extLst>
                </a:gridCol>
                <a:gridCol w="380675">
                  <a:extLst>
                    <a:ext uri="{9D8B030D-6E8A-4147-A177-3AD203B41FA5}">
                      <a16:colId xmlns:a16="http://schemas.microsoft.com/office/drawing/2014/main" val="3830197446"/>
                    </a:ext>
                  </a:extLst>
                </a:gridCol>
                <a:gridCol w="380675">
                  <a:extLst>
                    <a:ext uri="{9D8B030D-6E8A-4147-A177-3AD203B41FA5}">
                      <a16:colId xmlns:a16="http://schemas.microsoft.com/office/drawing/2014/main" val="184132502"/>
                    </a:ext>
                  </a:extLst>
                </a:gridCol>
                <a:gridCol w="380675">
                  <a:extLst>
                    <a:ext uri="{9D8B030D-6E8A-4147-A177-3AD203B41FA5}">
                      <a16:colId xmlns:a16="http://schemas.microsoft.com/office/drawing/2014/main" val="973868889"/>
                    </a:ext>
                  </a:extLst>
                </a:gridCol>
                <a:gridCol w="380675">
                  <a:extLst>
                    <a:ext uri="{9D8B030D-6E8A-4147-A177-3AD203B41FA5}">
                      <a16:colId xmlns:a16="http://schemas.microsoft.com/office/drawing/2014/main" val="3414376831"/>
                    </a:ext>
                  </a:extLst>
                </a:gridCol>
                <a:gridCol w="380675">
                  <a:extLst>
                    <a:ext uri="{9D8B030D-6E8A-4147-A177-3AD203B41FA5}">
                      <a16:colId xmlns:a16="http://schemas.microsoft.com/office/drawing/2014/main" val="2454128248"/>
                    </a:ext>
                  </a:extLst>
                </a:gridCol>
                <a:gridCol w="380675">
                  <a:extLst>
                    <a:ext uri="{9D8B030D-6E8A-4147-A177-3AD203B41FA5}">
                      <a16:colId xmlns:a16="http://schemas.microsoft.com/office/drawing/2014/main" val="1041285937"/>
                    </a:ext>
                  </a:extLst>
                </a:gridCol>
                <a:gridCol w="380675">
                  <a:extLst>
                    <a:ext uri="{9D8B030D-6E8A-4147-A177-3AD203B41FA5}">
                      <a16:colId xmlns:a16="http://schemas.microsoft.com/office/drawing/2014/main" val="1639612117"/>
                    </a:ext>
                  </a:extLst>
                </a:gridCol>
                <a:gridCol w="380675">
                  <a:extLst>
                    <a:ext uri="{9D8B030D-6E8A-4147-A177-3AD203B41FA5}">
                      <a16:colId xmlns:a16="http://schemas.microsoft.com/office/drawing/2014/main" val="952531061"/>
                    </a:ext>
                  </a:extLst>
                </a:gridCol>
                <a:gridCol w="380675">
                  <a:extLst>
                    <a:ext uri="{9D8B030D-6E8A-4147-A177-3AD203B41FA5}">
                      <a16:colId xmlns:a16="http://schemas.microsoft.com/office/drawing/2014/main" val="1963210206"/>
                    </a:ext>
                  </a:extLst>
                </a:gridCol>
                <a:gridCol w="380675">
                  <a:extLst>
                    <a:ext uri="{9D8B030D-6E8A-4147-A177-3AD203B41FA5}">
                      <a16:colId xmlns:a16="http://schemas.microsoft.com/office/drawing/2014/main" val="2009246463"/>
                    </a:ext>
                  </a:extLst>
                </a:gridCol>
                <a:gridCol w="380675">
                  <a:extLst>
                    <a:ext uri="{9D8B030D-6E8A-4147-A177-3AD203B41FA5}">
                      <a16:colId xmlns:a16="http://schemas.microsoft.com/office/drawing/2014/main" val="2798814856"/>
                    </a:ext>
                  </a:extLst>
                </a:gridCol>
                <a:gridCol w="380675">
                  <a:extLst>
                    <a:ext uri="{9D8B030D-6E8A-4147-A177-3AD203B41FA5}">
                      <a16:colId xmlns:a16="http://schemas.microsoft.com/office/drawing/2014/main" val="4059543468"/>
                    </a:ext>
                  </a:extLst>
                </a:gridCol>
                <a:gridCol w="380675">
                  <a:extLst>
                    <a:ext uri="{9D8B030D-6E8A-4147-A177-3AD203B41FA5}">
                      <a16:colId xmlns:a16="http://schemas.microsoft.com/office/drawing/2014/main" val="3170308328"/>
                    </a:ext>
                  </a:extLst>
                </a:gridCol>
                <a:gridCol w="380675">
                  <a:extLst>
                    <a:ext uri="{9D8B030D-6E8A-4147-A177-3AD203B41FA5}">
                      <a16:colId xmlns:a16="http://schemas.microsoft.com/office/drawing/2014/main" val="1170935010"/>
                    </a:ext>
                  </a:extLst>
                </a:gridCol>
                <a:gridCol w="380675">
                  <a:extLst>
                    <a:ext uri="{9D8B030D-6E8A-4147-A177-3AD203B41FA5}">
                      <a16:colId xmlns:a16="http://schemas.microsoft.com/office/drawing/2014/main" val="2888943537"/>
                    </a:ext>
                  </a:extLst>
                </a:gridCol>
              </a:tblGrid>
              <a:tr h="370840">
                <a:tc>
                  <a:txBody>
                    <a:bodyPr/>
                    <a:lstStyle/>
                    <a:p>
                      <a:pPr algn="ctr"/>
                      <a:r>
                        <a:rPr lang="zh-TW" altLang="en-US" dirty="0"/>
                        <a:t>Ｃ</a:t>
                      </a:r>
                    </a:p>
                  </a:txBody>
                  <a:tcPr>
                    <a:solidFill>
                      <a:schemeClr val="bg1">
                        <a:lumMod val="65000"/>
                      </a:schemeClr>
                    </a:solid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en-US" altLang="zh-TW" sz="1400" dirty="0"/>
                        <a:t>11</a:t>
                      </a:r>
                      <a:endParaRPr lang="zh-TW" altLang="en-US" sz="1400"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sz="1400" dirty="0"/>
                        <a:t>10</a:t>
                      </a:r>
                      <a:endParaRPr lang="zh-TW" altLang="en-US" sz="1400"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extLst>
                  <a:ext uri="{0D108BD9-81ED-4DB2-BD59-A6C34878D82A}">
                    <a16:rowId xmlns:a16="http://schemas.microsoft.com/office/drawing/2014/main" val="2292623501"/>
                  </a:ext>
                </a:extLst>
              </a:tr>
              <a:tr h="370840">
                <a:tc>
                  <a:txBody>
                    <a:bodyPr/>
                    <a:lstStyle/>
                    <a:p>
                      <a:pPr algn="ctr"/>
                      <a:r>
                        <a:rPr lang="zh-TW" altLang="en-US" dirty="0"/>
                        <a:t>Ｓ</a:t>
                      </a:r>
                    </a:p>
                  </a:txBody>
                  <a:tcPr>
                    <a:solidFill>
                      <a:schemeClr val="bg1">
                        <a:lumMod val="65000"/>
                      </a:schemeClr>
                    </a:solidFill>
                  </a:tcPr>
                </a:tc>
                <a:tc>
                  <a:txBody>
                    <a:bodyPr/>
                    <a:lstStyle/>
                    <a:p>
                      <a:pPr algn="ctr"/>
                      <a:r>
                        <a:rPr lang="zh-TW" altLang="en-US" dirty="0"/>
                        <a:t>ｂ</a:t>
                      </a:r>
                    </a:p>
                  </a:txBody>
                  <a:tcPr>
                    <a:noFill/>
                  </a:tcPr>
                </a:tc>
                <a:tc>
                  <a:txBody>
                    <a:bodyPr/>
                    <a:lstStyle/>
                    <a:p>
                      <a:pPr algn="ctr"/>
                      <a:r>
                        <a:rPr lang="zh-TW" altLang="en-US" dirty="0"/>
                        <a:t>ａ</a:t>
                      </a:r>
                    </a:p>
                  </a:txBody>
                  <a:tcPr>
                    <a:noFill/>
                  </a:tcPr>
                </a:tc>
                <a:tc>
                  <a:txBody>
                    <a:bodyPr/>
                    <a:lstStyle/>
                    <a:p>
                      <a:pPr algn="ctr"/>
                      <a:r>
                        <a:rPr lang="zh-TW" altLang="en-US" dirty="0"/>
                        <a:t>ｃ</a:t>
                      </a:r>
                    </a:p>
                  </a:txBody>
                  <a:tcPr>
                    <a:noFill/>
                  </a:tcPr>
                </a:tc>
                <a:tc>
                  <a:txBody>
                    <a:bodyPr/>
                    <a:lstStyle/>
                    <a:p>
                      <a:pPr algn="ctr"/>
                      <a:r>
                        <a:rPr lang="zh-TW" altLang="en-US" dirty="0"/>
                        <a:t>ｘ</a:t>
                      </a:r>
                    </a:p>
                  </a:txBody>
                  <a:tcPr>
                    <a:noFill/>
                  </a:tcPr>
                </a:tc>
                <a:tc>
                  <a:txBody>
                    <a:bodyPr/>
                    <a:lstStyle/>
                    <a:p>
                      <a:pPr algn="ctr"/>
                      <a:r>
                        <a:rPr lang="zh-TW" altLang="en-US" dirty="0"/>
                        <a:t>ｙ</a:t>
                      </a:r>
                    </a:p>
                  </a:txBody>
                  <a:tcPr>
                    <a:noFill/>
                  </a:tcPr>
                </a:tc>
                <a:tc>
                  <a:txBody>
                    <a:bodyPr/>
                    <a:lstStyle/>
                    <a:p>
                      <a:pPr algn="ctr"/>
                      <a:r>
                        <a:rPr lang="zh-TW" altLang="en-US" dirty="0"/>
                        <a:t>ｂ</a:t>
                      </a:r>
                    </a:p>
                  </a:txBody>
                  <a:tcPr>
                    <a:noFill/>
                  </a:tcPr>
                </a:tc>
                <a:tc>
                  <a:txBody>
                    <a:bodyPr/>
                    <a:lstStyle/>
                    <a:p>
                      <a:pPr algn="ctr"/>
                      <a:r>
                        <a:rPr lang="zh-TW" altLang="en-US" dirty="0"/>
                        <a:t>ａ</a:t>
                      </a:r>
                    </a:p>
                  </a:txBody>
                  <a:tcPr>
                    <a:noFill/>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ｘ</a:t>
                      </a:r>
                    </a:p>
                  </a:txBody>
                  <a:tcPr/>
                </a:tc>
                <a:tc>
                  <a:txBody>
                    <a:bodyPr/>
                    <a:lstStyle/>
                    <a:p>
                      <a:pPr algn="ctr"/>
                      <a:r>
                        <a:rPr lang="zh-TW" altLang="en-US" dirty="0"/>
                        <a:t>ｂ</a:t>
                      </a:r>
                    </a:p>
                  </a:txBody>
                  <a:tcPr/>
                </a:tc>
                <a:tc>
                  <a:txBody>
                    <a:bodyPr/>
                    <a:lstStyle/>
                    <a:p>
                      <a:pPr algn="ctr"/>
                      <a:r>
                        <a:rPr lang="zh-TW" altLang="en-US" dirty="0"/>
                        <a:t>ａ</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ｃ</a:t>
                      </a:r>
                    </a:p>
                  </a:txBody>
                  <a:tcPr>
                    <a:solidFill>
                      <a:srgbClr val="B381D9"/>
                    </a:solidFill>
                  </a:tcPr>
                </a:tc>
                <a:tc>
                  <a:txBody>
                    <a:bodyPr/>
                    <a:lstStyle/>
                    <a:p>
                      <a:pPr algn="ctr"/>
                      <a:r>
                        <a:rPr lang="zh-TW" altLang="en-US" dirty="0"/>
                        <a:t>ａ</a:t>
                      </a:r>
                    </a:p>
                  </a:txBody>
                  <a:tcPr>
                    <a:solidFill>
                      <a:srgbClr val="FF000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extLst>
                  <a:ext uri="{0D108BD9-81ED-4DB2-BD59-A6C34878D82A}">
                    <a16:rowId xmlns:a16="http://schemas.microsoft.com/office/drawing/2014/main" val="2961432503"/>
                  </a:ext>
                </a:extLst>
              </a:tr>
              <a:tr h="370840">
                <a:tc>
                  <a:txBody>
                    <a:bodyPr/>
                    <a:lstStyle/>
                    <a:p>
                      <a:pPr algn="ctr"/>
                      <a:r>
                        <a:rPr lang="zh-TW" altLang="en-US" dirty="0"/>
                        <a:t>Ｐ</a:t>
                      </a:r>
                    </a:p>
                  </a:txBody>
                  <a:tcPr>
                    <a:solidFill>
                      <a:schemeClr val="bg1">
                        <a:lumMod val="65000"/>
                      </a:schemeClr>
                    </a:solidFill>
                  </a:tcPr>
                </a:tc>
                <a:tc>
                  <a:txBody>
                    <a:bodyPr/>
                    <a:lstStyle/>
                    <a:p>
                      <a:pPr algn="ctr"/>
                      <a:r>
                        <a:rPr lang="zh-TW" altLang="en-US" dirty="0"/>
                        <a:t>ｂ</a:t>
                      </a:r>
                    </a:p>
                  </a:txBody>
                  <a:tcPr>
                    <a:noFill/>
                  </a:tcPr>
                </a:tc>
                <a:tc>
                  <a:txBody>
                    <a:bodyPr/>
                    <a:lstStyle/>
                    <a:p>
                      <a:pPr algn="ctr"/>
                      <a:r>
                        <a:rPr lang="zh-TW" altLang="en-US" dirty="0"/>
                        <a:t>ａ</a:t>
                      </a:r>
                    </a:p>
                  </a:txBody>
                  <a:tcPr>
                    <a:noFill/>
                  </a:tcPr>
                </a:tc>
                <a:tc>
                  <a:txBody>
                    <a:bodyPr/>
                    <a:lstStyle/>
                    <a:p>
                      <a:pPr algn="ctr"/>
                      <a:r>
                        <a:rPr lang="zh-TW" altLang="en-US" dirty="0"/>
                        <a:t>ｃ</a:t>
                      </a:r>
                    </a:p>
                  </a:txBody>
                  <a:tcPr>
                    <a:noFill/>
                  </a:tcPr>
                </a:tc>
                <a:tc>
                  <a:txBody>
                    <a:bodyPr/>
                    <a:lstStyle/>
                    <a:p>
                      <a:pPr algn="ctr"/>
                      <a:r>
                        <a:rPr lang="zh-TW" altLang="en-US" dirty="0"/>
                        <a:t>ｘ</a:t>
                      </a:r>
                    </a:p>
                  </a:txBody>
                  <a:tcPr>
                    <a:noFill/>
                  </a:tcPr>
                </a:tc>
                <a:tc>
                  <a:txBody>
                    <a:bodyPr/>
                    <a:lstStyle/>
                    <a:p>
                      <a:pPr algn="ctr"/>
                      <a:r>
                        <a:rPr lang="zh-TW" altLang="en-US" dirty="0"/>
                        <a:t>ａ</a:t>
                      </a:r>
                    </a:p>
                  </a:txBody>
                  <a:tcPr>
                    <a:noFill/>
                  </a:tcPr>
                </a:tc>
                <a:tc>
                  <a:txBody>
                    <a:bodyPr/>
                    <a:lstStyle/>
                    <a:p>
                      <a:pPr algn="ctr"/>
                      <a:r>
                        <a:rPr lang="zh-TW" altLang="en-US" dirty="0"/>
                        <a:t>ｂ</a:t>
                      </a:r>
                    </a:p>
                  </a:txBody>
                  <a:tcPr>
                    <a:noFill/>
                  </a:tcPr>
                </a:tc>
                <a:tc>
                  <a:txBody>
                    <a:bodyPr/>
                    <a:lstStyle/>
                    <a:p>
                      <a:pPr algn="ctr"/>
                      <a:r>
                        <a:rPr lang="zh-TW" altLang="en-US" dirty="0"/>
                        <a:t>ａ</a:t>
                      </a:r>
                    </a:p>
                  </a:txBody>
                  <a:tcPr>
                    <a:no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11824203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7215648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908078002"/>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89716264"/>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ｃ</a:t>
                      </a:r>
                    </a:p>
                  </a:txBody>
                  <a:tcPr>
                    <a:solidFill>
                      <a:srgbClr val="B381D9"/>
                    </a:solidFill>
                  </a:tcPr>
                </a:tc>
                <a:tc>
                  <a:txBody>
                    <a:bodyPr/>
                    <a:lstStyle/>
                    <a:p>
                      <a:pPr algn="ctr"/>
                      <a:r>
                        <a:rPr lang="zh-TW" altLang="en-US" dirty="0"/>
                        <a:t>ｘ</a:t>
                      </a:r>
                    </a:p>
                  </a:txBody>
                  <a:tcPr>
                    <a:solidFill>
                      <a:srgbClr val="FF000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230424250"/>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extLst>
                  <a:ext uri="{0D108BD9-81ED-4DB2-BD59-A6C34878D82A}">
                    <a16:rowId xmlns:a16="http://schemas.microsoft.com/office/drawing/2014/main" val="3369287171"/>
                  </a:ext>
                </a:extLst>
              </a:tr>
            </a:tbl>
          </a:graphicData>
        </a:graphic>
      </p:graphicFrame>
      <p:sp>
        <p:nvSpPr>
          <p:cNvPr id="5" name="內容版面配置區 2">
            <a:extLst>
              <a:ext uri="{FF2B5EF4-FFF2-40B4-BE49-F238E27FC236}">
                <a16:creationId xmlns:a16="http://schemas.microsoft.com/office/drawing/2014/main" id="{8E0826D2-9B8D-44FC-B775-A6067E7A345E}"/>
              </a:ext>
            </a:extLst>
          </p:cNvPr>
          <p:cNvSpPr txBox="1">
            <a:spLocks/>
          </p:cNvSpPr>
          <p:nvPr/>
        </p:nvSpPr>
        <p:spPr>
          <a:xfrm>
            <a:off x="576213" y="4604754"/>
            <a:ext cx="10907598" cy="209427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a:latin typeface="Times New Roman" panose="02020603050405020304" pitchFamily="18" charset="0"/>
                <a:cs typeface="Times New Roman" panose="02020603050405020304" pitchFamily="18" charset="0"/>
              </a:rPr>
              <a:t>margin-string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b="1" dirty="0">
                <a:latin typeface="Times New Roman" panose="02020603050405020304" pitchFamily="18" charset="0"/>
                <a:cs typeface="Times New Roman" panose="02020603050405020304" pitchFamily="18" charset="0"/>
              </a:rPr>
              <a:t> </a:t>
            </a:r>
            <a:r>
              <a:rPr lang="zh-TW" altLang="en-US" b="1" dirty="0">
                <a:solidFill>
                  <a:srgbClr val="00B0F0"/>
                </a:solidFill>
                <a:latin typeface="Times New Roman" panose="02020603050405020304" pitchFamily="18" charset="0"/>
                <a:cs typeface="Times New Roman" panose="02020603050405020304" pitchFamily="18" charset="0"/>
              </a:rPr>
              <a:t>ｂａ</a:t>
            </a:r>
            <a:endParaRPr lang="en-US" altLang="zh-TW" b="1" dirty="0">
              <a:solidFill>
                <a:srgbClr val="00B0F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paired-character = </a:t>
            </a:r>
            <a:r>
              <a:rPr lang="zh-TW" altLang="en-US" b="1" dirty="0">
                <a:solidFill>
                  <a:srgbClr val="7030A0"/>
                </a:solidFill>
                <a:latin typeface="Times New Roman" panose="02020603050405020304" pitchFamily="18" charset="0"/>
                <a:cs typeface="Times New Roman" panose="02020603050405020304" pitchFamily="18" charset="0"/>
              </a:rPr>
              <a:t>ｃ</a:t>
            </a:r>
            <a:r>
              <a:rPr lang="zh-TW" altLang="en-US" b="1" dirty="0">
                <a:solidFill>
                  <a:srgbClr val="FF0000"/>
                </a:solidFill>
                <a:latin typeface="Times New Roman" panose="02020603050405020304" pitchFamily="18" charset="0"/>
                <a:cs typeface="Times New Roman" panose="02020603050405020304" pitchFamily="18" charset="0"/>
              </a:rPr>
              <a:t>ａ</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unmatched-string = </a:t>
            </a:r>
            <a:r>
              <a:rPr lang="zh-TW" altLang="en-US" b="1" dirty="0">
                <a:solidFill>
                  <a:srgbClr val="7030A0"/>
                </a:solidFill>
                <a:latin typeface="Times New Roman" panose="02020603050405020304" pitchFamily="18" charset="0"/>
                <a:cs typeface="Times New Roman" panose="02020603050405020304" pitchFamily="18" charset="0"/>
              </a:rPr>
              <a:t>ｂａｃ</a:t>
            </a:r>
            <a:r>
              <a:rPr lang="zh-TW" altLang="en-US" b="1" dirty="0">
                <a:solidFill>
                  <a:srgbClr val="FF0000"/>
                </a:solidFill>
                <a:latin typeface="Times New Roman" panose="02020603050405020304" pitchFamily="18" charset="0"/>
                <a:cs typeface="Times New Roman" panose="02020603050405020304" pitchFamily="18" charset="0"/>
              </a:rPr>
              <a:t>ｘ</a:t>
            </a:r>
            <a:endParaRPr lang="en-US" altLang="zh-TW"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distance = </a:t>
            </a:r>
            <a:r>
              <a:rPr lang="en-US" altLang="zh-TW" dirty="0" err="1">
                <a:latin typeface="Times New Roman" panose="02020603050405020304" pitchFamily="18" charset="0"/>
                <a:cs typeface="Times New Roman" panose="02020603050405020304" pitchFamily="18" charset="0"/>
              </a:rPr>
              <a:t>P.length</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marginTable</a:t>
            </a:r>
            <a:r>
              <a:rPr lang="en-US" altLang="zh-TW" dirty="0">
                <a:latin typeface="Times New Roman" panose="02020603050405020304" pitchFamily="18" charset="0"/>
                <a:cs typeface="Times New Roman" panose="02020603050405020304" pitchFamily="18" charset="0"/>
              </a:rPr>
              <a:t>[3] = 7 – 2 = 5</a:t>
            </a:r>
          </a:p>
          <a:p>
            <a:pPr marL="0" indent="0">
              <a:buNone/>
            </a:pPr>
            <a:r>
              <a:rPr lang="en-US" altLang="zh-TW" dirty="0">
                <a:latin typeface="Times New Roman" panose="02020603050405020304" pitchFamily="18" charset="0"/>
                <a:cs typeface="Times New Roman" panose="02020603050405020304" pitchFamily="18" charset="0"/>
              </a:rPr>
              <a:t>mark the margin-string’s index</a:t>
            </a:r>
          </a:p>
        </p:txBody>
      </p:sp>
      <p:cxnSp>
        <p:nvCxnSpPr>
          <p:cNvPr id="6" name="直線單箭頭接點 5">
            <a:extLst>
              <a:ext uri="{FF2B5EF4-FFF2-40B4-BE49-F238E27FC236}">
                <a16:creationId xmlns:a16="http://schemas.microsoft.com/office/drawing/2014/main" id="{FB31F57E-D084-4B6B-9818-98A4E3711AC0}"/>
              </a:ext>
            </a:extLst>
          </p:cNvPr>
          <p:cNvCxnSpPr>
            <a:cxnSpLocks/>
          </p:cNvCxnSpPr>
          <p:nvPr/>
        </p:nvCxnSpPr>
        <p:spPr>
          <a:xfrm flipV="1">
            <a:off x="9126245" y="4482377"/>
            <a:ext cx="0" cy="950758"/>
          </a:xfrm>
          <a:prstGeom prst="straightConnector1">
            <a:avLst/>
          </a:prstGeom>
          <a:ln w="2857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文字方塊 7">
            <a:extLst>
              <a:ext uri="{FF2B5EF4-FFF2-40B4-BE49-F238E27FC236}">
                <a16:creationId xmlns:a16="http://schemas.microsoft.com/office/drawing/2014/main" id="{91AD04E6-4464-4296-8FDD-441D9697F95E}"/>
              </a:ext>
            </a:extLst>
          </p:cNvPr>
          <p:cNvSpPr txBox="1"/>
          <p:nvPr/>
        </p:nvSpPr>
        <p:spPr>
          <a:xfrm>
            <a:off x="8744504" y="5433135"/>
            <a:ext cx="905523" cy="369332"/>
          </a:xfrm>
          <a:prstGeom prst="rect">
            <a:avLst/>
          </a:prstGeom>
          <a:noFill/>
        </p:spPr>
        <p:txBody>
          <a:bodyPr wrap="square" rtlCol="0">
            <a:spAutoFit/>
          </a:bodyPr>
          <a:lstStyle/>
          <a:p>
            <a:r>
              <a:rPr lang="en-US" altLang="zh-TW" dirty="0"/>
              <a:t>marked</a:t>
            </a:r>
            <a:endParaRPr lang="zh-TW" altLang="en-US" dirty="0"/>
          </a:p>
        </p:txBody>
      </p:sp>
      <p:cxnSp>
        <p:nvCxnSpPr>
          <p:cNvPr id="10" name="直線單箭頭接點 9">
            <a:extLst>
              <a:ext uri="{FF2B5EF4-FFF2-40B4-BE49-F238E27FC236}">
                <a16:creationId xmlns:a16="http://schemas.microsoft.com/office/drawing/2014/main" id="{80088F01-286F-4378-8248-F8641C0805FC}"/>
              </a:ext>
            </a:extLst>
          </p:cNvPr>
          <p:cNvCxnSpPr>
            <a:cxnSpLocks/>
          </p:cNvCxnSpPr>
          <p:nvPr/>
        </p:nvCxnSpPr>
        <p:spPr>
          <a:xfrm flipV="1">
            <a:off x="3861786" y="4506195"/>
            <a:ext cx="5655076" cy="190348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516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404A75-F755-4145-83FC-72DC9BF16CB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Match(6/6)</a:t>
            </a: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4">
            <a:extLst>
              <a:ext uri="{FF2B5EF4-FFF2-40B4-BE49-F238E27FC236}">
                <a16:creationId xmlns:a16="http://schemas.microsoft.com/office/drawing/2014/main" id="{60D70B53-B8CB-4634-A412-91E0BAD96AE0}"/>
              </a:ext>
            </a:extLst>
          </p:cNvPr>
          <p:cNvGraphicFramePr>
            <a:graphicFrameLocks noGrp="1"/>
          </p:cNvGraphicFramePr>
          <p:nvPr>
            <p:extLst>
              <p:ext uri="{D42A27DB-BD31-4B8C-83A1-F6EECF244321}">
                <p14:modId xmlns:p14="http://schemas.microsoft.com/office/powerpoint/2010/main" val="1897256134"/>
              </p:ext>
            </p:extLst>
          </p:nvPr>
        </p:nvGraphicFramePr>
        <p:xfrm>
          <a:off x="576213" y="1444634"/>
          <a:ext cx="11039575" cy="2966720"/>
        </p:xfrm>
        <a:graphic>
          <a:graphicData uri="http://schemas.openxmlformats.org/drawingml/2006/table">
            <a:tbl>
              <a:tblPr firstRow="1" bandRow="1">
                <a:tableStyleId>{5940675A-B579-460E-94D1-54222C63F5DA}</a:tableStyleId>
              </a:tblPr>
              <a:tblGrid>
                <a:gridCol w="380675">
                  <a:extLst>
                    <a:ext uri="{9D8B030D-6E8A-4147-A177-3AD203B41FA5}">
                      <a16:colId xmlns:a16="http://schemas.microsoft.com/office/drawing/2014/main" val="497530347"/>
                    </a:ext>
                  </a:extLst>
                </a:gridCol>
                <a:gridCol w="380675">
                  <a:extLst>
                    <a:ext uri="{9D8B030D-6E8A-4147-A177-3AD203B41FA5}">
                      <a16:colId xmlns:a16="http://schemas.microsoft.com/office/drawing/2014/main" val="496432589"/>
                    </a:ext>
                  </a:extLst>
                </a:gridCol>
                <a:gridCol w="380675">
                  <a:extLst>
                    <a:ext uri="{9D8B030D-6E8A-4147-A177-3AD203B41FA5}">
                      <a16:colId xmlns:a16="http://schemas.microsoft.com/office/drawing/2014/main" val="4082177319"/>
                    </a:ext>
                  </a:extLst>
                </a:gridCol>
                <a:gridCol w="380675">
                  <a:extLst>
                    <a:ext uri="{9D8B030D-6E8A-4147-A177-3AD203B41FA5}">
                      <a16:colId xmlns:a16="http://schemas.microsoft.com/office/drawing/2014/main" val="1960093336"/>
                    </a:ext>
                  </a:extLst>
                </a:gridCol>
                <a:gridCol w="380675">
                  <a:extLst>
                    <a:ext uri="{9D8B030D-6E8A-4147-A177-3AD203B41FA5}">
                      <a16:colId xmlns:a16="http://schemas.microsoft.com/office/drawing/2014/main" val="458617234"/>
                    </a:ext>
                  </a:extLst>
                </a:gridCol>
                <a:gridCol w="380675">
                  <a:extLst>
                    <a:ext uri="{9D8B030D-6E8A-4147-A177-3AD203B41FA5}">
                      <a16:colId xmlns:a16="http://schemas.microsoft.com/office/drawing/2014/main" val="4170643207"/>
                    </a:ext>
                  </a:extLst>
                </a:gridCol>
                <a:gridCol w="380675">
                  <a:extLst>
                    <a:ext uri="{9D8B030D-6E8A-4147-A177-3AD203B41FA5}">
                      <a16:colId xmlns:a16="http://schemas.microsoft.com/office/drawing/2014/main" val="864037003"/>
                    </a:ext>
                  </a:extLst>
                </a:gridCol>
                <a:gridCol w="380675">
                  <a:extLst>
                    <a:ext uri="{9D8B030D-6E8A-4147-A177-3AD203B41FA5}">
                      <a16:colId xmlns:a16="http://schemas.microsoft.com/office/drawing/2014/main" val="237928945"/>
                    </a:ext>
                  </a:extLst>
                </a:gridCol>
                <a:gridCol w="380675">
                  <a:extLst>
                    <a:ext uri="{9D8B030D-6E8A-4147-A177-3AD203B41FA5}">
                      <a16:colId xmlns:a16="http://schemas.microsoft.com/office/drawing/2014/main" val="1188561849"/>
                    </a:ext>
                  </a:extLst>
                </a:gridCol>
                <a:gridCol w="380675">
                  <a:extLst>
                    <a:ext uri="{9D8B030D-6E8A-4147-A177-3AD203B41FA5}">
                      <a16:colId xmlns:a16="http://schemas.microsoft.com/office/drawing/2014/main" val="2907214525"/>
                    </a:ext>
                  </a:extLst>
                </a:gridCol>
                <a:gridCol w="380675">
                  <a:extLst>
                    <a:ext uri="{9D8B030D-6E8A-4147-A177-3AD203B41FA5}">
                      <a16:colId xmlns:a16="http://schemas.microsoft.com/office/drawing/2014/main" val="1843471195"/>
                    </a:ext>
                  </a:extLst>
                </a:gridCol>
                <a:gridCol w="380675">
                  <a:extLst>
                    <a:ext uri="{9D8B030D-6E8A-4147-A177-3AD203B41FA5}">
                      <a16:colId xmlns:a16="http://schemas.microsoft.com/office/drawing/2014/main" val="3510994653"/>
                    </a:ext>
                  </a:extLst>
                </a:gridCol>
                <a:gridCol w="380675">
                  <a:extLst>
                    <a:ext uri="{9D8B030D-6E8A-4147-A177-3AD203B41FA5}">
                      <a16:colId xmlns:a16="http://schemas.microsoft.com/office/drawing/2014/main" val="1483072784"/>
                    </a:ext>
                  </a:extLst>
                </a:gridCol>
                <a:gridCol w="380675">
                  <a:extLst>
                    <a:ext uri="{9D8B030D-6E8A-4147-A177-3AD203B41FA5}">
                      <a16:colId xmlns:a16="http://schemas.microsoft.com/office/drawing/2014/main" val="774767283"/>
                    </a:ext>
                  </a:extLst>
                </a:gridCol>
                <a:gridCol w="380675">
                  <a:extLst>
                    <a:ext uri="{9D8B030D-6E8A-4147-A177-3AD203B41FA5}">
                      <a16:colId xmlns:a16="http://schemas.microsoft.com/office/drawing/2014/main" val="3830197446"/>
                    </a:ext>
                  </a:extLst>
                </a:gridCol>
                <a:gridCol w="380675">
                  <a:extLst>
                    <a:ext uri="{9D8B030D-6E8A-4147-A177-3AD203B41FA5}">
                      <a16:colId xmlns:a16="http://schemas.microsoft.com/office/drawing/2014/main" val="184132502"/>
                    </a:ext>
                  </a:extLst>
                </a:gridCol>
                <a:gridCol w="380675">
                  <a:extLst>
                    <a:ext uri="{9D8B030D-6E8A-4147-A177-3AD203B41FA5}">
                      <a16:colId xmlns:a16="http://schemas.microsoft.com/office/drawing/2014/main" val="973868889"/>
                    </a:ext>
                  </a:extLst>
                </a:gridCol>
                <a:gridCol w="380675">
                  <a:extLst>
                    <a:ext uri="{9D8B030D-6E8A-4147-A177-3AD203B41FA5}">
                      <a16:colId xmlns:a16="http://schemas.microsoft.com/office/drawing/2014/main" val="3414376831"/>
                    </a:ext>
                  </a:extLst>
                </a:gridCol>
                <a:gridCol w="380675">
                  <a:extLst>
                    <a:ext uri="{9D8B030D-6E8A-4147-A177-3AD203B41FA5}">
                      <a16:colId xmlns:a16="http://schemas.microsoft.com/office/drawing/2014/main" val="2454128248"/>
                    </a:ext>
                  </a:extLst>
                </a:gridCol>
                <a:gridCol w="380675">
                  <a:extLst>
                    <a:ext uri="{9D8B030D-6E8A-4147-A177-3AD203B41FA5}">
                      <a16:colId xmlns:a16="http://schemas.microsoft.com/office/drawing/2014/main" val="1041285937"/>
                    </a:ext>
                  </a:extLst>
                </a:gridCol>
                <a:gridCol w="380675">
                  <a:extLst>
                    <a:ext uri="{9D8B030D-6E8A-4147-A177-3AD203B41FA5}">
                      <a16:colId xmlns:a16="http://schemas.microsoft.com/office/drawing/2014/main" val="1639612117"/>
                    </a:ext>
                  </a:extLst>
                </a:gridCol>
                <a:gridCol w="380675">
                  <a:extLst>
                    <a:ext uri="{9D8B030D-6E8A-4147-A177-3AD203B41FA5}">
                      <a16:colId xmlns:a16="http://schemas.microsoft.com/office/drawing/2014/main" val="952531061"/>
                    </a:ext>
                  </a:extLst>
                </a:gridCol>
                <a:gridCol w="380675">
                  <a:extLst>
                    <a:ext uri="{9D8B030D-6E8A-4147-A177-3AD203B41FA5}">
                      <a16:colId xmlns:a16="http://schemas.microsoft.com/office/drawing/2014/main" val="1963210206"/>
                    </a:ext>
                  </a:extLst>
                </a:gridCol>
                <a:gridCol w="380675">
                  <a:extLst>
                    <a:ext uri="{9D8B030D-6E8A-4147-A177-3AD203B41FA5}">
                      <a16:colId xmlns:a16="http://schemas.microsoft.com/office/drawing/2014/main" val="2009246463"/>
                    </a:ext>
                  </a:extLst>
                </a:gridCol>
                <a:gridCol w="380675">
                  <a:extLst>
                    <a:ext uri="{9D8B030D-6E8A-4147-A177-3AD203B41FA5}">
                      <a16:colId xmlns:a16="http://schemas.microsoft.com/office/drawing/2014/main" val="2798814856"/>
                    </a:ext>
                  </a:extLst>
                </a:gridCol>
                <a:gridCol w="380675">
                  <a:extLst>
                    <a:ext uri="{9D8B030D-6E8A-4147-A177-3AD203B41FA5}">
                      <a16:colId xmlns:a16="http://schemas.microsoft.com/office/drawing/2014/main" val="4059543468"/>
                    </a:ext>
                  </a:extLst>
                </a:gridCol>
                <a:gridCol w="380675">
                  <a:extLst>
                    <a:ext uri="{9D8B030D-6E8A-4147-A177-3AD203B41FA5}">
                      <a16:colId xmlns:a16="http://schemas.microsoft.com/office/drawing/2014/main" val="3170308328"/>
                    </a:ext>
                  </a:extLst>
                </a:gridCol>
                <a:gridCol w="380675">
                  <a:extLst>
                    <a:ext uri="{9D8B030D-6E8A-4147-A177-3AD203B41FA5}">
                      <a16:colId xmlns:a16="http://schemas.microsoft.com/office/drawing/2014/main" val="1170935010"/>
                    </a:ext>
                  </a:extLst>
                </a:gridCol>
                <a:gridCol w="380675">
                  <a:extLst>
                    <a:ext uri="{9D8B030D-6E8A-4147-A177-3AD203B41FA5}">
                      <a16:colId xmlns:a16="http://schemas.microsoft.com/office/drawing/2014/main" val="2888943537"/>
                    </a:ext>
                  </a:extLst>
                </a:gridCol>
              </a:tblGrid>
              <a:tr h="370840">
                <a:tc>
                  <a:txBody>
                    <a:bodyPr/>
                    <a:lstStyle/>
                    <a:p>
                      <a:pPr algn="ctr"/>
                      <a:r>
                        <a:rPr lang="zh-TW" altLang="en-US" dirty="0"/>
                        <a:t>Ｃ</a:t>
                      </a:r>
                    </a:p>
                  </a:txBody>
                  <a:tcPr>
                    <a:solidFill>
                      <a:schemeClr val="bg1">
                        <a:lumMod val="65000"/>
                      </a:schemeClr>
                    </a:solid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sz="1400" dirty="0"/>
                    </a:p>
                  </a:txBody>
                  <a:tcPr/>
                </a:tc>
                <a:tc>
                  <a:txBody>
                    <a:bodyPr/>
                    <a:lstStyle/>
                    <a:p>
                      <a:pPr algn="ctr"/>
                      <a:endParaRPr lang="zh-TW" altLang="en-US" sz="1400" dirty="0"/>
                    </a:p>
                  </a:txBody>
                  <a:tcPr/>
                </a:tc>
                <a:tc>
                  <a:txBody>
                    <a:bodyPr/>
                    <a:lstStyle/>
                    <a:p>
                      <a:pPr algn="ctr"/>
                      <a:r>
                        <a:rPr lang="en-US" altLang="zh-TW" sz="1400" dirty="0"/>
                        <a:t>16</a:t>
                      </a:r>
                      <a:endParaRPr lang="zh-TW" altLang="en-US" sz="1400" dirty="0"/>
                    </a:p>
                  </a:txBody>
                  <a:tcPr/>
                </a:tc>
                <a:tc>
                  <a:txBody>
                    <a:bodyPr/>
                    <a:lstStyle/>
                    <a:p>
                      <a:pPr algn="ctr"/>
                      <a:r>
                        <a:rPr lang="en-US" altLang="zh-TW" sz="1400" dirty="0"/>
                        <a:t>15</a:t>
                      </a:r>
                      <a:endParaRPr lang="zh-TW" altLang="en-US" sz="1400" dirty="0"/>
                    </a:p>
                  </a:txBody>
                  <a:tcPr/>
                </a:tc>
                <a:tc>
                  <a:txBody>
                    <a:bodyPr/>
                    <a:lstStyle/>
                    <a:p>
                      <a:pPr algn="ctr"/>
                      <a:r>
                        <a:rPr lang="en-US" altLang="zh-TW" sz="1400" dirty="0"/>
                        <a:t>14</a:t>
                      </a:r>
                      <a:endParaRPr lang="zh-TW" altLang="en-US" sz="1400" dirty="0"/>
                    </a:p>
                  </a:txBody>
                  <a:tcPr/>
                </a:tc>
                <a:tc>
                  <a:txBody>
                    <a:bodyPr/>
                    <a:lstStyle/>
                    <a:p>
                      <a:pPr algn="ctr"/>
                      <a:r>
                        <a:rPr lang="en-US" altLang="zh-TW" sz="1400" dirty="0"/>
                        <a:t>13</a:t>
                      </a:r>
                      <a:endParaRPr lang="zh-TW" altLang="en-US" sz="1400" dirty="0"/>
                    </a:p>
                  </a:txBody>
                  <a:tcPr/>
                </a:tc>
                <a:tc>
                  <a:txBody>
                    <a:bodyPr/>
                    <a:lstStyle/>
                    <a:p>
                      <a:pPr algn="ctr"/>
                      <a:r>
                        <a:rPr lang="en-US" altLang="zh-TW" sz="1400" dirty="0"/>
                        <a:t>12</a:t>
                      </a:r>
                      <a:endParaRPr lang="zh-TW" altLang="en-US" sz="1400" dirty="0"/>
                    </a:p>
                  </a:txBody>
                  <a:tcPr/>
                </a:tc>
                <a:extLst>
                  <a:ext uri="{0D108BD9-81ED-4DB2-BD59-A6C34878D82A}">
                    <a16:rowId xmlns:a16="http://schemas.microsoft.com/office/drawing/2014/main" val="2292623501"/>
                  </a:ext>
                </a:extLst>
              </a:tr>
              <a:tr h="370840">
                <a:tc>
                  <a:txBody>
                    <a:bodyPr/>
                    <a:lstStyle/>
                    <a:p>
                      <a:pPr algn="ctr"/>
                      <a:r>
                        <a:rPr lang="zh-TW" altLang="en-US" dirty="0"/>
                        <a:t>Ｓ</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ｙ</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ｘ</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ａ</a:t>
                      </a:r>
                    </a:p>
                  </a:txBody>
                  <a:tcPr/>
                </a:tc>
                <a:tc>
                  <a:txBody>
                    <a:bodyPr/>
                    <a:lstStyle/>
                    <a:p>
                      <a:pPr algn="ctr"/>
                      <a:r>
                        <a:rPr lang="zh-TW" altLang="en-US" dirty="0"/>
                        <a:t>ａ</a:t>
                      </a:r>
                    </a:p>
                  </a:txBody>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r>
                        <a:rPr lang="zh-TW" altLang="en-US" dirty="0"/>
                        <a:t>ｃ</a:t>
                      </a:r>
                    </a:p>
                  </a:txBody>
                  <a:tcPr>
                    <a:solidFill>
                      <a:srgbClr val="00B0F0"/>
                    </a:solidFill>
                  </a:tcPr>
                </a:tc>
                <a:tc>
                  <a:txBody>
                    <a:bodyPr/>
                    <a:lstStyle/>
                    <a:p>
                      <a:pPr algn="ctr"/>
                      <a:r>
                        <a:rPr lang="zh-TW" altLang="en-US" dirty="0"/>
                        <a:t>ｘ</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extLst>
                  <a:ext uri="{0D108BD9-81ED-4DB2-BD59-A6C34878D82A}">
                    <a16:rowId xmlns:a16="http://schemas.microsoft.com/office/drawing/2014/main" val="2961432503"/>
                  </a:ext>
                </a:extLst>
              </a:tr>
              <a:tr h="370840">
                <a:tc>
                  <a:txBody>
                    <a:bodyPr/>
                    <a:lstStyle/>
                    <a:p>
                      <a:pPr algn="ctr"/>
                      <a:r>
                        <a:rPr lang="zh-TW" altLang="en-US" dirty="0"/>
                        <a:t>Ｐ</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11824203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72156485"/>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908078002"/>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89716264"/>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230424250"/>
                  </a:ext>
                </a:extLst>
              </a:tr>
              <a:tr h="370840">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r>
                        <a:rPr lang="zh-TW" altLang="en-US" dirty="0"/>
                        <a:t>ｃ</a:t>
                      </a:r>
                    </a:p>
                  </a:txBody>
                  <a:tcPr>
                    <a:solidFill>
                      <a:srgbClr val="00B0F0"/>
                    </a:solidFill>
                  </a:tcPr>
                </a:tc>
                <a:tc>
                  <a:txBody>
                    <a:bodyPr/>
                    <a:lstStyle/>
                    <a:p>
                      <a:pPr algn="ctr"/>
                      <a:r>
                        <a:rPr lang="zh-TW" altLang="en-US" dirty="0"/>
                        <a:t>ｘ</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extLst>
                  <a:ext uri="{0D108BD9-81ED-4DB2-BD59-A6C34878D82A}">
                    <a16:rowId xmlns:a16="http://schemas.microsoft.com/office/drawing/2014/main" val="3369287171"/>
                  </a:ext>
                </a:extLst>
              </a:tr>
            </a:tbl>
          </a:graphicData>
        </a:graphic>
      </p:graphicFrame>
      <p:sp>
        <p:nvSpPr>
          <p:cNvPr id="5" name="內容版面配置區 2">
            <a:extLst>
              <a:ext uri="{FF2B5EF4-FFF2-40B4-BE49-F238E27FC236}">
                <a16:creationId xmlns:a16="http://schemas.microsoft.com/office/drawing/2014/main" id="{CF47DA8F-3A59-48F2-8612-13518D18D052}"/>
              </a:ext>
            </a:extLst>
          </p:cNvPr>
          <p:cNvSpPr txBox="1">
            <a:spLocks/>
          </p:cNvSpPr>
          <p:nvPr/>
        </p:nvSpPr>
        <p:spPr>
          <a:xfrm>
            <a:off x="576213" y="4604754"/>
            <a:ext cx="10907598" cy="20942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a:latin typeface="Times New Roman" panose="02020603050405020304" pitchFamily="18" charset="0"/>
                <a:cs typeface="Times New Roman" panose="02020603050405020304" pitchFamily="18" charset="0"/>
              </a:rPr>
              <a:t>In this algorithm, shift </a:t>
            </a:r>
            <a:r>
              <a:rPr lang="en-US" altLang="zh-TW" dirty="0">
                <a:solidFill>
                  <a:srgbClr val="FF0000"/>
                </a:solidFill>
                <a:latin typeface="Times New Roman" panose="02020603050405020304" pitchFamily="18" charset="0"/>
                <a:cs typeface="Times New Roman" panose="02020603050405020304" pitchFamily="18" charset="0"/>
              </a:rPr>
              <a:t>5</a:t>
            </a:r>
            <a:r>
              <a:rPr lang="en-US" altLang="zh-TW" dirty="0">
                <a:latin typeface="Times New Roman" panose="02020603050405020304" pitchFamily="18" charset="0"/>
                <a:cs typeface="Times New Roman" panose="02020603050405020304" pitchFamily="18" charset="0"/>
              </a:rPr>
              <a:t> times and compare </a:t>
            </a:r>
            <a:r>
              <a:rPr lang="en-US" altLang="zh-TW" dirty="0">
                <a:solidFill>
                  <a:srgbClr val="FF0000"/>
                </a:solidFill>
                <a:latin typeface="Times New Roman" panose="02020603050405020304" pitchFamily="18" charset="0"/>
                <a:cs typeface="Times New Roman" panose="02020603050405020304" pitchFamily="18" charset="0"/>
              </a:rPr>
              <a:t>16</a:t>
            </a:r>
            <a:r>
              <a:rPr lang="en-US" altLang="zh-TW" dirty="0">
                <a:latin typeface="Times New Roman" panose="02020603050405020304" pitchFamily="18" charset="0"/>
                <a:cs typeface="Times New Roman" panose="02020603050405020304" pitchFamily="18" charset="0"/>
              </a:rPr>
              <a:t> times</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In Boyer-Moore algorithm, shift </a:t>
            </a:r>
            <a:r>
              <a:rPr lang="en-US" altLang="zh-TW" dirty="0">
                <a:solidFill>
                  <a:srgbClr val="FF0000"/>
                </a:solidFill>
                <a:latin typeface="Times New Roman" panose="02020603050405020304" pitchFamily="18" charset="0"/>
                <a:cs typeface="Times New Roman" panose="02020603050405020304" pitchFamily="18" charset="0"/>
              </a:rPr>
              <a:t>6</a:t>
            </a:r>
            <a:r>
              <a:rPr lang="en-US" altLang="zh-TW" dirty="0">
                <a:latin typeface="Times New Roman" panose="02020603050405020304" pitchFamily="18" charset="0"/>
                <a:cs typeface="Times New Roman" panose="02020603050405020304" pitchFamily="18" charset="0"/>
              </a:rPr>
              <a:t> times and compare </a:t>
            </a:r>
            <a:r>
              <a:rPr lang="en-US" altLang="zh-TW" dirty="0">
                <a:solidFill>
                  <a:srgbClr val="FF0000"/>
                </a:solidFill>
                <a:latin typeface="Times New Roman" panose="02020603050405020304" pitchFamily="18" charset="0"/>
                <a:cs typeface="Times New Roman" panose="02020603050405020304" pitchFamily="18" charset="0"/>
              </a:rPr>
              <a:t>21</a:t>
            </a:r>
            <a:r>
              <a:rPr lang="en-US" altLang="zh-TW" dirty="0">
                <a:latin typeface="Times New Roman" panose="02020603050405020304" pitchFamily="18" charset="0"/>
                <a:cs typeface="Times New Roman" panose="02020603050405020304" pitchFamily="18" charset="0"/>
              </a:rPr>
              <a:t> times</a:t>
            </a:r>
          </a:p>
        </p:txBody>
      </p:sp>
      <p:cxnSp>
        <p:nvCxnSpPr>
          <p:cNvPr id="6" name="直線單箭頭接點 5">
            <a:extLst>
              <a:ext uri="{FF2B5EF4-FFF2-40B4-BE49-F238E27FC236}">
                <a16:creationId xmlns:a16="http://schemas.microsoft.com/office/drawing/2014/main" id="{E04AF9FF-7CD3-4320-A14F-D8C55CFBAF6C}"/>
              </a:ext>
            </a:extLst>
          </p:cNvPr>
          <p:cNvCxnSpPr>
            <a:cxnSpLocks/>
          </p:cNvCxnSpPr>
          <p:nvPr/>
        </p:nvCxnSpPr>
        <p:spPr>
          <a:xfrm flipV="1">
            <a:off x="9534618" y="4462608"/>
            <a:ext cx="0" cy="650930"/>
          </a:xfrm>
          <a:prstGeom prst="straightConnector1">
            <a:avLst/>
          </a:prstGeom>
          <a:ln w="2857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文字方塊 6">
            <a:extLst>
              <a:ext uri="{FF2B5EF4-FFF2-40B4-BE49-F238E27FC236}">
                <a16:creationId xmlns:a16="http://schemas.microsoft.com/office/drawing/2014/main" id="{89B98EAE-E71E-4DE2-BEB8-B2EB52C052BB}"/>
              </a:ext>
            </a:extLst>
          </p:cNvPr>
          <p:cNvSpPr txBox="1"/>
          <p:nvPr/>
        </p:nvSpPr>
        <p:spPr>
          <a:xfrm>
            <a:off x="9081856" y="5146152"/>
            <a:ext cx="905523" cy="369332"/>
          </a:xfrm>
          <a:prstGeom prst="rect">
            <a:avLst/>
          </a:prstGeom>
          <a:noFill/>
        </p:spPr>
        <p:txBody>
          <a:bodyPr wrap="square" rtlCol="0">
            <a:spAutoFit/>
          </a:bodyPr>
          <a:lstStyle/>
          <a:p>
            <a:r>
              <a:rPr lang="en-US" altLang="zh-TW" dirty="0"/>
              <a:t>marked</a:t>
            </a:r>
            <a:endParaRPr lang="zh-TW" altLang="en-US" dirty="0"/>
          </a:p>
        </p:txBody>
      </p:sp>
    </p:spTree>
    <p:extLst>
      <p:ext uri="{BB962C8B-B14F-4D97-AF65-F5344CB8AC3E}">
        <p14:creationId xmlns:p14="http://schemas.microsoft.com/office/powerpoint/2010/main" val="2505522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404A75-F755-4145-83FC-72DC9BF16CBC}"/>
              </a:ext>
            </a:extLst>
          </p:cNvPr>
          <p:cNvSpPr>
            <a:spLocks noGrp="1"/>
          </p:cNvSpPr>
          <p:nvPr>
            <p:ph type="title"/>
          </p:nvPr>
        </p:nvSpPr>
        <p:spPr>
          <a:xfrm>
            <a:off x="838199" y="56925"/>
            <a:ext cx="10515600" cy="1325563"/>
          </a:xfrm>
        </p:spPr>
        <p:txBody>
          <a:bodyPr/>
          <a:lstStyle/>
          <a:p>
            <a:r>
              <a:rPr lang="en-US" altLang="zh-TW" dirty="0">
                <a:latin typeface="Times New Roman" panose="02020603050405020304" pitchFamily="18" charset="0"/>
                <a:cs typeface="Times New Roman" panose="02020603050405020304" pitchFamily="18" charset="0"/>
              </a:rPr>
              <a:t>Compare</a:t>
            </a: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4">
            <a:extLst>
              <a:ext uri="{FF2B5EF4-FFF2-40B4-BE49-F238E27FC236}">
                <a16:creationId xmlns:a16="http://schemas.microsoft.com/office/drawing/2014/main" id="{60D70B53-B8CB-4634-A412-91E0BAD96AE0}"/>
              </a:ext>
            </a:extLst>
          </p:cNvPr>
          <p:cNvGraphicFramePr>
            <a:graphicFrameLocks noGrp="1"/>
          </p:cNvGraphicFramePr>
          <p:nvPr>
            <p:extLst>
              <p:ext uri="{D42A27DB-BD31-4B8C-83A1-F6EECF244321}">
                <p14:modId xmlns:p14="http://schemas.microsoft.com/office/powerpoint/2010/main" val="1571246914"/>
              </p:ext>
            </p:extLst>
          </p:nvPr>
        </p:nvGraphicFramePr>
        <p:xfrm>
          <a:off x="479394" y="1089527"/>
          <a:ext cx="11345666" cy="2560320"/>
        </p:xfrm>
        <a:graphic>
          <a:graphicData uri="http://schemas.openxmlformats.org/drawingml/2006/table">
            <a:tbl>
              <a:tblPr firstRow="1" bandRow="1">
                <a:tableStyleId>{5940675A-B579-460E-94D1-54222C63F5DA}</a:tableStyleId>
              </a:tblPr>
              <a:tblGrid>
                <a:gridCol w="692458">
                  <a:extLst>
                    <a:ext uri="{9D8B030D-6E8A-4147-A177-3AD203B41FA5}">
                      <a16:colId xmlns:a16="http://schemas.microsoft.com/office/drawing/2014/main" val="367957721"/>
                    </a:ext>
                  </a:extLst>
                </a:gridCol>
                <a:gridCol w="367352">
                  <a:extLst>
                    <a:ext uri="{9D8B030D-6E8A-4147-A177-3AD203B41FA5}">
                      <a16:colId xmlns:a16="http://schemas.microsoft.com/office/drawing/2014/main" val="497530347"/>
                    </a:ext>
                  </a:extLst>
                </a:gridCol>
                <a:gridCol w="367352">
                  <a:extLst>
                    <a:ext uri="{9D8B030D-6E8A-4147-A177-3AD203B41FA5}">
                      <a16:colId xmlns:a16="http://schemas.microsoft.com/office/drawing/2014/main" val="496432589"/>
                    </a:ext>
                  </a:extLst>
                </a:gridCol>
                <a:gridCol w="367352">
                  <a:extLst>
                    <a:ext uri="{9D8B030D-6E8A-4147-A177-3AD203B41FA5}">
                      <a16:colId xmlns:a16="http://schemas.microsoft.com/office/drawing/2014/main" val="4082177319"/>
                    </a:ext>
                  </a:extLst>
                </a:gridCol>
                <a:gridCol w="367352">
                  <a:extLst>
                    <a:ext uri="{9D8B030D-6E8A-4147-A177-3AD203B41FA5}">
                      <a16:colId xmlns:a16="http://schemas.microsoft.com/office/drawing/2014/main" val="1960093336"/>
                    </a:ext>
                  </a:extLst>
                </a:gridCol>
                <a:gridCol w="367352">
                  <a:extLst>
                    <a:ext uri="{9D8B030D-6E8A-4147-A177-3AD203B41FA5}">
                      <a16:colId xmlns:a16="http://schemas.microsoft.com/office/drawing/2014/main" val="458617234"/>
                    </a:ext>
                  </a:extLst>
                </a:gridCol>
                <a:gridCol w="367352">
                  <a:extLst>
                    <a:ext uri="{9D8B030D-6E8A-4147-A177-3AD203B41FA5}">
                      <a16:colId xmlns:a16="http://schemas.microsoft.com/office/drawing/2014/main" val="4170643207"/>
                    </a:ext>
                  </a:extLst>
                </a:gridCol>
                <a:gridCol w="367352">
                  <a:extLst>
                    <a:ext uri="{9D8B030D-6E8A-4147-A177-3AD203B41FA5}">
                      <a16:colId xmlns:a16="http://schemas.microsoft.com/office/drawing/2014/main" val="864037003"/>
                    </a:ext>
                  </a:extLst>
                </a:gridCol>
                <a:gridCol w="367352">
                  <a:extLst>
                    <a:ext uri="{9D8B030D-6E8A-4147-A177-3AD203B41FA5}">
                      <a16:colId xmlns:a16="http://schemas.microsoft.com/office/drawing/2014/main" val="237928945"/>
                    </a:ext>
                  </a:extLst>
                </a:gridCol>
                <a:gridCol w="367352">
                  <a:extLst>
                    <a:ext uri="{9D8B030D-6E8A-4147-A177-3AD203B41FA5}">
                      <a16:colId xmlns:a16="http://schemas.microsoft.com/office/drawing/2014/main" val="1188561849"/>
                    </a:ext>
                  </a:extLst>
                </a:gridCol>
                <a:gridCol w="367352">
                  <a:extLst>
                    <a:ext uri="{9D8B030D-6E8A-4147-A177-3AD203B41FA5}">
                      <a16:colId xmlns:a16="http://schemas.microsoft.com/office/drawing/2014/main" val="2907214525"/>
                    </a:ext>
                  </a:extLst>
                </a:gridCol>
                <a:gridCol w="367352">
                  <a:extLst>
                    <a:ext uri="{9D8B030D-6E8A-4147-A177-3AD203B41FA5}">
                      <a16:colId xmlns:a16="http://schemas.microsoft.com/office/drawing/2014/main" val="1843471195"/>
                    </a:ext>
                  </a:extLst>
                </a:gridCol>
                <a:gridCol w="367352">
                  <a:extLst>
                    <a:ext uri="{9D8B030D-6E8A-4147-A177-3AD203B41FA5}">
                      <a16:colId xmlns:a16="http://schemas.microsoft.com/office/drawing/2014/main" val="3510994653"/>
                    </a:ext>
                  </a:extLst>
                </a:gridCol>
                <a:gridCol w="367352">
                  <a:extLst>
                    <a:ext uri="{9D8B030D-6E8A-4147-A177-3AD203B41FA5}">
                      <a16:colId xmlns:a16="http://schemas.microsoft.com/office/drawing/2014/main" val="1483072784"/>
                    </a:ext>
                  </a:extLst>
                </a:gridCol>
                <a:gridCol w="367352">
                  <a:extLst>
                    <a:ext uri="{9D8B030D-6E8A-4147-A177-3AD203B41FA5}">
                      <a16:colId xmlns:a16="http://schemas.microsoft.com/office/drawing/2014/main" val="774767283"/>
                    </a:ext>
                  </a:extLst>
                </a:gridCol>
                <a:gridCol w="367352">
                  <a:extLst>
                    <a:ext uri="{9D8B030D-6E8A-4147-A177-3AD203B41FA5}">
                      <a16:colId xmlns:a16="http://schemas.microsoft.com/office/drawing/2014/main" val="3830197446"/>
                    </a:ext>
                  </a:extLst>
                </a:gridCol>
                <a:gridCol w="367352">
                  <a:extLst>
                    <a:ext uri="{9D8B030D-6E8A-4147-A177-3AD203B41FA5}">
                      <a16:colId xmlns:a16="http://schemas.microsoft.com/office/drawing/2014/main" val="184132502"/>
                    </a:ext>
                  </a:extLst>
                </a:gridCol>
                <a:gridCol w="367352">
                  <a:extLst>
                    <a:ext uri="{9D8B030D-6E8A-4147-A177-3AD203B41FA5}">
                      <a16:colId xmlns:a16="http://schemas.microsoft.com/office/drawing/2014/main" val="973868889"/>
                    </a:ext>
                  </a:extLst>
                </a:gridCol>
                <a:gridCol w="367352">
                  <a:extLst>
                    <a:ext uri="{9D8B030D-6E8A-4147-A177-3AD203B41FA5}">
                      <a16:colId xmlns:a16="http://schemas.microsoft.com/office/drawing/2014/main" val="3414376831"/>
                    </a:ext>
                  </a:extLst>
                </a:gridCol>
                <a:gridCol w="367352">
                  <a:extLst>
                    <a:ext uri="{9D8B030D-6E8A-4147-A177-3AD203B41FA5}">
                      <a16:colId xmlns:a16="http://schemas.microsoft.com/office/drawing/2014/main" val="2454128248"/>
                    </a:ext>
                  </a:extLst>
                </a:gridCol>
                <a:gridCol w="367352">
                  <a:extLst>
                    <a:ext uri="{9D8B030D-6E8A-4147-A177-3AD203B41FA5}">
                      <a16:colId xmlns:a16="http://schemas.microsoft.com/office/drawing/2014/main" val="1041285937"/>
                    </a:ext>
                  </a:extLst>
                </a:gridCol>
                <a:gridCol w="367352">
                  <a:extLst>
                    <a:ext uri="{9D8B030D-6E8A-4147-A177-3AD203B41FA5}">
                      <a16:colId xmlns:a16="http://schemas.microsoft.com/office/drawing/2014/main" val="1639612117"/>
                    </a:ext>
                  </a:extLst>
                </a:gridCol>
                <a:gridCol w="367352">
                  <a:extLst>
                    <a:ext uri="{9D8B030D-6E8A-4147-A177-3AD203B41FA5}">
                      <a16:colId xmlns:a16="http://schemas.microsoft.com/office/drawing/2014/main" val="952531061"/>
                    </a:ext>
                  </a:extLst>
                </a:gridCol>
                <a:gridCol w="367352">
                  <a:extLst>
                    <a:ext uri="{9D8B030D-6E8A-4147-A177-3AD203B41FA5}">
                      <a16:colId xmlns:a16="http://schemas.microsoft.com/office/drawing/2014/main" val="1963210206"/>
                    </a:ext>
                  </a:extLst>
                </a:gridCol>
                <a:gridCol w="367352">
                  <a:extLst>
                    <a:ext uri="{9D8B030D-6E8A-4147-A177-3AD203B41FA5}">
                      <a16:colId xmlns:a16="http://schemas.microsoft.com/office/drawing/2014/main" val="2009246463"/>
                    </a:ext>
                  </a:extLst>
                </a:gridCol>
                <a:gridCol w="367352">
                  <a:extLst>
                    <a:ext uri="{9D8B030D-6E8A-4147-A177-3AD203B41FA5}">
                      <a16:colId xmlns:a16="http://schemas.microsoft.com/office/drawing/2014/main" val="2798814856"/>
                    </a:ext>
                  </a:extLst>
                </a:gridCol>
                <a:gridCol w="367352">
                  <a:extLst>
                    <a:ext uri="{9D8B030D-6E8A-4147-A177-3AD203B41FA5}">
                      <a16:colId xmlns:a16="http://schemas.microsoft.com/office/drawing/2014/main" val="4059543468"/>
                    </a:ext>
                  </a:extLst>
                </a:gridCol>
                <a:gridCol w="367352">
                  <a:extLst>
                    <a:ext uri="{9D8B030D-6E8A-4147-A177-3AD203B41FA5}">
                      <a16:colId xmlns:a16="http://schemas.microsoft.com/office/drawing/2014/main" val="3170308328"/>
                    </a:ext>
                  </a:extLst>
                </a:gridCol>
                <a:gridCol w="367352">
                  <a:extLst>
                    <a:ext uri="{9D8B030D-6E8A-4147-A177-3AD203B41FA5}">
                      <a16:colId xmlns:a16="http://schemas.microsoft.com/office/drawing/2014/main" val="1170935010"/>
                    </a:ext>
                  </a:extLst>
                </a:gridCol>
                <a:gridCol w="367352">
                  <a:extLst>
                    <a:ext uri="{9D8B030D-6E8A-4147-A177-3AD203B41FA5}">
                      <a16:colId xmlns:a16="http://schemas.microsoft.com/office/drawing/2014/main" val="2888943537"/>
                    </a:ext>
                  </a:extLst>
                </a:gridCol>
              </a:tblGrid>
              <a:tr h="334210">
                <a:tc rowSpan="7">
                  <a:txBody>
                    <a:bodyPr/>
                    <a:lstStyle/>
                    <a:p>
                      <a:pPr algn="ctr"/>
                      <a:r>
                        <a:rPr lang="en-US" altLang="zh-TW" sz="2400" dirty="0">
                          <a:latin typeface="Times New Roman" panose="02020603050405020304" pitchFamily="18" charset="0"/>
                          <a:cs typeface="Times New Roman" panose="02020603050405020304" pitchFamily="18" charset="0"/>
                        </a:rPr>
                        <a:t>LI</a:t>
                      </a: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65000"/>
                      </a:schemeClr>
                    </a:solidFill>
                  </a:tcPr>
                </a:tc>
                <a:tc>
                  <a:txBody>
                    <a:bodyPr/>
                    <a:lstStyle/>
                    <a:p>
                      <a:pPr algn="ctr"/>
                      <a:r>
                        <a:rPr lang="zh-TW" altLang="en-US" dirty="0"/>
                        <a:t>Ｓ</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ｙ</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ｘ</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ａ</a:t>
                      </a:r>
                    </a:p>
                  </a:txBody>
                  <a:tcPr/>
                </a:tc>
                <a:tc>
                  <a:txBody>
                    <a:bodyPr/>
                    <a:lstStyle/>
                    <a:p>
                      <a:pPr algn="ctr"/>
                      <a:r>
                        <a:rPr lang="zh-TW" altLang="en-US" dirty="0"/>
                        <a:t>ａ</a:t>
                      </a:r>
                    </a:p>
                  </a:txBody>
                  <a:tcPr/>
                </a:tc>
                <a:tc>
                  <a:txBody>
                    <a:bodyPr/>
                    <a:lstStyle/>
                    <a:p>
                      <a:pPr algn="ctr"/>
                      <a:r>
                        <a:rPr lang="zh-TW" altLang="en-US" dirty="0"/>
                        <a:t>ｂ</a:t>
                      </a:r>
                    </a:p>
                  </a:txBody>
                  <a:tcPr>
                    <a:solidFill>
                      <a:schemeClr val="accent5">
                        <a:lumMod val="40000"/>
                        <a:lumOff val="60000"/>
                      </a:schemeClr>
                    </a:solidFill>
                  </a:tcPr>
                </a:tc>
                <a:tc>
                  <a:txBody>
                    <a:bodyPr/>
                    <a:lstStyle/>
                    <a:p>
                      <a:pPr algn="ctr"/>
                      <a:r>
                        <a:rPr lang="zh-TW" altLang="en-US" dirty="0"/>
                        <a:t>ａ</a:t>
                      </a:r>
                    </a:p>
                  </a:txBody>
                  <a:tcPr>
                    <a:solidFill>
                      <a:schemeClr val="accent5">
                        <a:lumMod val="40000"/>
                        <a:lumOff val="60000"/>
                      </a:schemeClr>
                    </a:solidFill>
                  </a:tcPr>
                </a:tc>
                <a:tc>
                  <a:txBody>
                    <a:bodyPr/>
                    <a:lstStyle/>
                    <a:p>
                      <a:pPr algn="ctr"/>
                      <a:r>
                        <a:rPr lang="zh-TW" altLang="en-US" dirty="0"/>
                        <a:t>ｃ</a:t>
                      </a:r>
                    </a:p>
                  </a:txBody>
                  <a:tcPr>
                    <a:solidFill>
                      <a:srgbClr val="00B0F0"/>
                    </a:solidFill>
                  </a:tcPr>
                </a:tc>
                <a:tc>
                  <a:txBody>
                    <a:bodyPr/>
                    <a:lstStyle/>
                    <a:p>
                      <a:pPr algn="ctr"/>
                      <a:r>
                        <a:rPr lang="zh-TW" altLang="en-US" dirty="0"/>
                        <a:t>ｘ</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extLst>
                  <a:ext uri="{0D108BD9-81ED-4DB2-BD59-A6C34878D82A}">
                    <a16:rowId xmlns:a16="http://schemas.microsoft.com/office/drawing/2014/main" val="2961432503"/>
                  </a:ext>
                </a:extLst>
              </a:tr>
              <a:tr h="334210">
                <a:tc vMerge="1">
                  <a:txBody>
                    <a:bodyPr/>
                    <a:lstStyle/>
                    <a:p>
                      <a:pPr algn="ctr"/>
                      <a:endParaRPr lang="zh-TW" altLang="en-US" dirty="0"/>
                    </a:p>
                  </a:txBody>
                  <a:tcPr>
                    <a:solidFill>
                      <a:schemeClr val="bg1">
                        <a:lumMod val="65000"/>
                      </a:schemeClr>
                    </a:solidFill>
                  </a:tcPr>
                </a:tc>
                <a:tc>
                  <a:txBody>
                    <a:bodyPr/>
                    <a:lstStyle/>
                    <a:p>
                      <a:pPr algn="ctr"/>
                      <a:r>
                        <a:rPr lang="zh-TW" altLang="en-US" dirty="0"/>
                        <a:t>Ｐ</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ａ</a:t>
                      </a:r>
                    </a:p>
                  </a:txBody>
                  <a:tcPr>
                    <a:solidFill>
                      <a:srgbClr val="FF000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118242035"/>
                  </a:ext>
                </a:extLst>
              </a:tr>
              <a:tr h="334210">
                <a:tc vMerge="1">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solidFill>
                      <a:srgbClr val="FF000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72156485"/>
                  </a:ext>
                </a:extLst>
              </a:tr>
              <a:tr h="334210">
                <a:tc vMerge="1">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solidFill>
                      <a:srgbClr val="FF0000"/>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908078002"/>
                  </a:ext>
                </a:extLst>
              </a:tr>
              <a:tr h="334210">
                <a:tc vMerge="1">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solidFill>
                      <a:srgbClr val="FF0000"/>
                    </a:solid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89716264"/>
                  </a:ext>
                </a:extLst>
              </a:tr>
              <a:tr h="334210">
                <a:tc vMerge="1">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solidFill>
                      <a:srgbClr val="FF0000"/>
                    </a:solidFill>
                  </a:tcPr>
                </a:tc>
                <a:tc>
                  <a:txBody>
                    <a:bodyPr/>
                    <a:lstStyle/>
                    <a:p>
                      <a:pPr algn="ctr"/>
                      <a:r>
                        <a:rPr lang="zh-TW" altLang="en-US" dirty="0"/>
                        <a:t>ａ</a:t>
                      </a:r>
                    </a:p>
                  </a:txBody>
                  <a:tcPr>
                    <a:solidFill>
                      <a:schemeClr val="accent5">
                        <a:lumMod val="40000"/>
                        <a:lumOff val="60000"/>
                      </a:schemeClr>
                    </a:solidFill>
                  </a:tcPr>
                </a:tc>
                <a:tc>
                  <a:txBody>
                    <a:bodyPr/>
                    <a:lstStyle/>
                    <a:p>
                      <a:pPr algn="ctr"/>
                      <a:r>
                        <a:rPr lang="zh-TW" altLang="en-US" dirty="0"/>
                        <a:t>ｂ</a:t>
                      </a:r>
                    </a:p>
                  </a:txBody>
                  <a:tcPr>
                    <a:solidFill>
                      <a:schemeClr val="accent5">
                        <a:lumMod val="40000"/>
                        <a:lumOff val="60000"/>
                      </a:schemeClr>
                    </a:solidFill>
                  </a:tcPr>
                </a:tc>
                <a:tc>
                  <a:txBody>
                    <a:bodyPr/>
                    <a:lstStyle/>
                    <a:p>
                      <a:pPr algn="ctr"/>
                      <a:r>
                        <a:rPr lang="zh-TW" altLang="en-US" dirty="0"/>
                        <a:t>ａ</a:t>
                      </a:r>
                    </a:p>
                  </a:txBody>
                  <a:tcPr>
                    <a:solidFill>
                      <a:srgbClr val="00B0F0"/>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230424250"/>
                  </a:ext>
                </a:extLst>
              </a:tr>
              <a:tr h="334210">
                <a:tc vMerge="1">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ｂ</a:t>
                      </a:r>
                    </a:p>
                  </a:txBody>
                  <a:tcPr>
                    <a:solidFill>
                      <a:schemeClr val="accent5">
                        <a:lumMod val="40000"/>
                        <a:lumOff val="60000"/>
                      </a:schemeClr>
                    </a:solidFill>
                  </a:tcPr>
                </a:tc>
                <a:tc>
                  <a:txBody>
                    <a:bodyPr/>
                    <a:lstStyle/>
                    <a:p>
                      <a:pPr algn="ctr"/>
                      <a:r>
                        <a:rPr lang="zh-TW" altLang="en-US" dirty="0"/>
                        <a:t>ａ</a:t>
                      </a:r>
                    </a:p>
                  </a:txBody>
                  <a:tcPr>
                    <a:solidFill>
                      <a:schemeClr val="accent5">
                        <a:lumMod val="40000"/>
                        <a:lumOff val="60000"/>
                      </a:schemeClr>
                    </a:solidFill>
                  </a:tcPr>
                </a:tc>
                <a:tc>
                  <a:txBody>
                    <a:bodyPr/>
                    <a:lstStyle/>
                    <a:p>
                      <a:pPr algn="ctr"/>
                      <a:r>
                        <a:rPr lang="zh-TW" altLang="en-US" dirty="0"/>
                        <a:t>ｃ</a:t>
                      </a:r>
                    </a:p>
                  </a:txBody>
                  <a:tcPr>
                    <a:solidFill>
                      <a:srgbClr val="00B0F0"/>
                    </a:solidFill>
                  </a:tcPr>
                </a:tc>
                <a:tc>
                  <a:txBody>
                    <a:bodyPr/>
                    <a:lstStyle/>
                    <a:p>
                      <a:pPr algn="ctr"/>
                      <a:r>
                        <a:rPr lang="zh-TW" altLang="en-US" dirty="0"/>
                        <a:t>ｘ</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extLst>
                  <a:ext uri="{0D108BD9-81ED-4DB2-BD59-A6C34878D82A}">
                    <a16:rowId xmlns:a16="http://schemas.microsoft.com/office/drawing/2014/main" val="3369287171"/>
                  </a:ext>
                </a:extLst>
              </a:tr>
            </a:tbl>
          </a:graphicData>
        </a:graphic>
      </p:graphicFrame>
      <p:graphicFrame>
        <p:nvGraphicFramePr>
          <p:cNvPr id="8" name="表格 7">
            <a:extLst>
              <a:ext uri="{FF2B5EF4-FFF2-40B4-BE49-F238E27FC236}">
                <a16:creationId xmlns:a16="http://schemas.microsoft.com/office/drawing/2014/main" id="{D150A455-5C4F-44CE-98C3-ADAF5F3C3692}"/>
              </a:ext>
            </a:extLst>
          </p:cNvPr>
          <p:cNvGraphicFramePr>
            <a:graphicFrameLocks noGrp="1"/>
          </p:cNvGraphicFramePr>
          <p:nvPr>
            <p:extLst>
              <p:ext uri="{D42A27DB-BD31-4B8C-83A1-F6EECF244321}">
                <p14:modId xmlns:p14="http://schemas.microsoft.com/office/powerpoint/2010/main" val="2050500514"/>
              </p:ext>
            </p:extLst>
          </p:nvPr>
        </p:nvGraphicFramePr>
        <p:xfrm>
          <a:off x="479394" y="3806200"/>
          <a:ext cx="11345663" cy="2926080"/>
        </p:xfrm>
        <a:graphic>
          <a:graphicData uri="http://schemas.openxmlformats.org/drawingml/2006/table">
            <a:tbl>
              <a:tblPr firstRow="1" bandRow="1">
                <a:tableStyleId>{5940675A-B579-460E-94D1-54222C63F5DA}</a:tableStyleId>
              </a:tblPr>
              <a:tblGrid>
                <a:gridCol w="683581">
                  <a:extLst>
                    <a:ext uri="{9D8B030D-6E8A-4147-A177-3AD203B41FA5}">
                      <a16:colId xmlns:a16="http://schemas.microsoft.com/office/drawing/2014/main" val="2465171222"/>
                    </a:ext>
                  </a:extLst>
                </a:gridCol>
                <a:gridCol w="367658">
                  <a:extLst>
                    <a:ext uri="{9D8B030D-6E8A-4147-A177-3AD203B41FA5}">
                      <a16:colId xmlns:a16="http://schemas.microsoft.com/office/drawing/2014/main" val="497530347"/>
                    </a:ext>
                  </a:extLst>
                </a:gridCol>
                <a:gridCol w="367658">
                  <a:extLst>
                    <a:ext uri="{9D8B030D-6E8A-4147-A177-3AD203B41FA5}">
                      <a16:colId xmlns:a16="http://schemas.microsoft.com/office/drawing/2014/main" val="496432589"/>
                    </a:ext>
                  </a:extLst>
                </a:gridCol>
                <a:gridCol w="367658">
                  <a:extLst>
                    <a:ext uri="{9D8B030D-6E8A-4147-A177-3AD203B41FA5}">
                      <a16:colId xmlns:a16="http://schemas.microsoft.com/office/drawing/2014/main" val="4082177319"/>
                    </a:ext>
                  </a:extLst>
                </a:gridCol>
                <a:gridCol w="367658">
                  <a:extLst>
                    <a:ext uri="{9D8B030D-6E8A-4147-A177-3AD203B41FA5}">
                      <a16:colId xmlns:a16="http://schemas.microsoft.com/office/drawing/2014/main" val="1960093336"/>
                    </a:ext>
                  </a:extLst>
                </a:gridCol>
                <a:gridCol w="367658">
                  <a:extLst>
                    <a:ext uri="{9D8B030D-6E8A-4147-A177-3AD203B41FA5}">
                      <a16:colId xmlns:a16="http://schemas.microsoft.com/office/drawing/2014/main" val="458617234"/>
                    </a:ext>
                  </a:extLst>
                </a:gridCol>
                <a:gridCol w="367658">
                  <a:extLst>
                    <a:ext uri="{9D8B030D-6E8A-4147-A177-3AD203B41FA5}">
                      <a16:colId xmlns:a16="http://schemas.microsoft.com/office/drawing/2014/main" val="4170643207"/>
                    </a:ext>
                  </a:extLst>
                </a:gridCol>
                <a:gridCol w="367658">
                  <a:extLst>
                    <a:ext uri="{9D8B030D-6E8A-4147-A177-3AD203B41FA5}">
                      <a16:colId xmlns:a16="http://schemas.microsoft.com/office/drawing/2014/main" val="864037003"/>
                    </a:ext>
                  </a:extLst>
                </a:gridCol>
                <a:gridCol w="367658">
                  <a:extLst>
                    <a:ext uri="{9D8B030D-6E8A-4147-A177-3AD203B41FA5}">
                      <a16:colId xmlns:a16="http://schemas.microsoft.com/office/drawing/2014/main" val="237928945"/>
                    </a:ext>
                  </a:extLst>
                </a:gridCol>
                <a:gridCol w="367658">
                  <a:extLst>
                    <a:ext uri="{9D8B030D-6E8A-4147-A177-3AD203B41FA5}">
                      <a16:colId xmlns:a16="http://schemas.microsoft.com/office/drawing/2014/main" val="1188561849"/>
                    </a:ext>
                  </a:extLst>
                </a:gridCol>
                <a:gridCol w="367658">
                  <a:extLst>
                    <a:ext uri="{9D8B030D-6E8A-4147-A177-3AD203B41FA5}">
                      <a16:colId xmlns:a16="http://schemas.microsoft.com/office/drawing/2014/main" val="2907214525"/>
                    </a:ext>
                  </a:extLst>
                </a:gridCol>
                <a:gridCol w="367658">
                  <a:extLst>
                    <a:ext uri="{9D8B030D-6E8A-4147-A177-3AD203B41FA5}">
                      <a16:colId xmlns:a16="http://schemas.microsoft.com/office/drawing/2014/main" val="1843471195"/>
                    </a:ext>
                  </a:extLst>
                </a:gridCol>
                <a:gridCol w="367658">
                  <a:extLst>
                    <a:ext uri="{9D8B030D-6E8A-4147-A177-3AD203B41FA5}">
                      <a16:colId xmlns:a16="http://schemas.microsoft.com/office/drawing/2014/main" val="3510994653"/>
                    </a:ext>
                  </a:extLst>
                </a:gridCol>
                <a:gridCol w="367658">
                  <a:extLst>
                    <a:ext uri="{9D8B030D-6E8A-4147-A177-3AD203B41FA5}">
                      <a16:colId xmlns:a16="http://schemas.microsoft.com/office/drawing/2014/main" val="1483072784"/>
                    </a:ext>
                  </a:extLst>
                </a:gridCol>
                <a:gridCol w="367658">
                  <a:extLst>
                    <a:ext uri="{9D8B030D-6E8A-4147-A177-3AD203B41FA5}">
                      <a16:colId xmlns:a16="http://schemas.microsoft.com/office/drawing/2014/main" val="774767283"/>
                    </a:ext>
                  </a:extLst>
                </a:gridCol>
                <a:gridCol w="367658">
                  <a:extLst>
                    <a:ext uri="{9D8B030D-6E8A-4147-A177-3AD203B41FA5}">
                      <a16:colId xmlns:a16="http://schemas.microsoft.com/office/drawing/2014/main" val="3830197446"/>
                    </a:ext>
                  </a:extLst>
                </a:gridCol>
                <a:gridCol w="367658">
                  <a:extLst>
                    <a:ext uri="{9D8B030D-6E8A-4147-A177-3AD203B41FA5}">
                      <a16:colId xmlns:a16="http://schemas.microsoft.com/office/drawing/2014/main" val="184132502"/>
                    </a:ext>
                  </a:extLst>
                </a:gridCol>
                <a:gridCol w="367658">
                  <a:extLst>
                    <a:ext uri="{9D8B030D-6E8A-4147-A177-3AD203B41FA5}">
                      <a16:colId xmlns:a16="http://schemas.microsoft.com/office/drawing/2014/main" val="973868889"/>
                    </a:ext>
                  </a:extLst>
                </a:gridCol>
                <a:gridCol w="367658">
                  <a:extLst>
                    <a:ext uri="{9D8B030D-6E8A-4147-A177-3AD203B41FA5}">
                      <a16:colId xmlns:a16="http://schemas.microsoft.com/office/drawing/2014/main" val="3414376831"/>
                    </a:ext>
                  </a:extLst>
                </a:gridCol>
                <a:gridCol w="367658">
                  <a:extLst>
                    <a:ext uri="{9D8B030D-6E8A-4147-A177-3AD203B41FA5}">
                      <a16:colId xmlns:a16="http://schemas.microsoft.com/office/drawing/2014/main" val="2454128248"/>
                    </a:ext>
                  </a:extLst>
                </a:gridCol>
                <a:gridCol w="367658">
                  <a:extLst>
                    <a:ext uri="{9D8B030D-6E8A-4147-A177-3AD203B41FA5}">
                      <a16:colId xmlns:a16="http://schemas.microsoft.com/office/drawing/2014/main" val="1041285937"/>
                    </a:ext>
                  </a:extLst>
                </a:gridCol>
                <a:gridCol w="367658">
                  <a:extLst>
                    <a:ext uri="{9D8B030D-6E8A-4147-A177-3AD203B41FA5}">
                      <a16:colId xmlns:a16="http://schemas.microsoft.com/office/drawing/2014/main" val="1639612117"/>
                    </a:ext>
                  </a:extLst>
                </a:gridCol>
                <a:gridCol w="367658">
                  <a:extLst>
                    <a:ext uri="{9D8B030D-6E8A-4147-A177-3AD203B41FA5}">
                      <a16:colId xmlns:a16="http://schemas.microsoft.com/office/drawing/2014/main" val="952531061"/>
                    </a:ext>
                  </a:extLst>
                </a:gridCol>
                <a:gridCol w="367658">
                  <a:extLst>
                    <a:ext uri="{9D8B030D-6E8A-4147-A177-3AD203B41FA5}">
                      <a16:colId xmlns:a16="http://schemas.microsoft.com/office/drawing/2014/main" val="1963210206"/>
                    </a:ext>
                  </a:extLst>
                </a:gridCol>
                <a:gridCol w="367658">
                  <a:extLst>
                    <a:ext uri="{9D8B030D-6E8A-4147-A177-3AD203B41FA5}">
                      <a16:colId xmlns:a16="http://schemas.microsoft.com/office/drawing/2014/main" val="2009246463"/>
                    </a:ext>
                  </a:extLst>
                </a:gridCol>
                <a:gridCol w="367658">
                  <a:extLst>
                    <a:ext uri="{9D8B030D-6E8A-4147-A177-3AD203B41FA5}">
                      <a16:colId xmlns:a16="http://schemas.microsoft.com/office/drawing/2014/main" val="2798814856"/>
                    </a:ext>
                  </a:extLst>
                </a:gridCol>
                <a:gridCol w="367658">
                  <a:extLst>
                    <a:ext uri="{9D8B030D-6E8A-4147-A177-3AD203B41FA5}">
                      <a16:colId xmlns:a16="http://schemas.microsoft.com/office/drawing/2014/main" val="4059543468"/>
                    </a:ext>
                  </a:extLst>
                </a:gridCol>
                <a:gridCol w="367658">
                  <a:extLst>
                    <a:ext uri="{9D8B030D-6E8A-4147-A177-3AD203B41FA5}">
                      <a16:colId xmlns:a16="http://schemas.microsoft.com/office/drawing/2014/main" val="3170308328"/>
                    </a:ext>
                  </a:extLst>
                </a:gridCol>
                <a:gridCol w="367658">
                  <a:extLst>
                    <a:ext uri="{9D8B030D-6E8A-4147-A177-3AD203B41FA5}">
                      <a16:colId xmlns:a16="http://schemas.microsoft.com/office/drawing/2014/main" val="1170935010"/>
                    </a:ext>
                  </a:extLst>
                </a:gridCol>
                <a:gridCol w="367658">
                  <a:extLst>
                    <a:ext uri="{9D8B030D-6E8A-4147-A177-3AD203B41FA5}">
                      <a16:colId xmlns:a16="http://schemas.microsoft.com/office/drawing/2014/main" val="2888943537"/>
                    </a:ext>
                  </a:extLst>
                </a:gridCol>
              </a:tblGrid>
              <a:tr h="351044">
                <a:tc rowSpan="8">
                  <a:txBody>
                    <a:bodyPr/>
                    <a:lstStyle/>
                    <a:p>
                      <a:pPr algn="ctr"/>
                      <a:r>
                        <a:rPr lang="en-US" altLang="zh-TW" sz="2400" b="0" dirty="0">
                          <a:latin typeface="Times New Roman" panose="02020603050405020304" pitchFamily="18" charset="0"/>
                          <a:cs typeface="Times New Roman" panose="02020603050405020304" pitchFamily="18" charset="0"/>
                        </a:rPr>
                        <a:t>BM</a:t>
                      </a:r>
                      <a:endParaRPr lang="zh-TW" altLang="en-US" sz="2400" b="0" dirty="0">
                        <a:latin typeface="Times New Roman" panose="02020603050405020304" pitchFamily="18" charset="0"/>
                        <a:cs typeface="Times New Roman" panose="02020603050405020304" pitchFamily="18" charset="0"/>
                      </a:endParaRPr>
                    </a:p>
                  </a:txBody>
                  <a:tcPr anchor="ctr">
                    <a:solidFill>
                      <a:schemeClr val="bg1">
                        <a:lumMod val="65000"/>
                      </a:schemeClr>
                    </a:solidFill>
                  </a:tcPr>
                </a:tc>
                <a:tc>
                  <a:txBody>
                    <a:bodyPr/>
                    <a:lstStyle/>
                    <a:p>
                      <a:pPr algn="ctr"/>
                      <a:r>
                        <a:rPr lang="zh-TW" altLang="en-US" b="0" dirty="0"/>
                        <a:t>Ｓ</a:t>
                      </a:r>
                    </a:p>
                  </a:txBody>
                  <a:tcPr>
                    <a:solidFill>
                      <a:schemeClr val="bg1">
                        <a:lumMod val="65000"/>
                      </a:schemeClr>
                    </a:solidFill>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ｃ</a:t>
                      </a:r>
                    </a:p>
                  </a:txBody>
                  <a:tcPr/>
                </a:tc>
                <a:tc>
                  <a:txBody>
                    <a:bodyPr/>
                    <a:lstStyle/>
                    <a:p>
                      <a:pPr algn="ctr"/>
                      <a:r>
                        <a:rPr lang="zh-TW" altLang="en-US" b="0" dirty="0"/>
                        <a:t>ｘ</a:t>
                      </a:r>
                    </a:p>
                  </a:txBody>
                  <a:tcPr/>
                </a:tc>
                <a:tc>
                  <a:txBody>
                    <a:bodyPr/>
                    <a:lstStyle/>
                    <a:p>
                      <a:pPr algn="ctr"/>
                      <a:r>
                        <a:rPr lang="zh-TW" altLang="en-US" b="0" dirty="0"/>
                        <a:t>ｙ</a:t>
                      </a:r>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ｘ</a:t>
                      </a:r>
                    </a:p>
                  </a:txBody>
                  <a:tcPr/>
                </a:tc>
                <a:tc>
                  <a:txBody>
                    <a:bodyPr/>
                    <a:lstStyle/>
                    <a:p>
                      <a:pPr algn="ctr"/>
                      <a:r>
                        <a:rPr lang="zh-TW" altLang="en-US" b="0" dirty="0"/>
                        <a:t>ｂ</a:t>
                      </a:r>
                    </a:p>
                  </a:txBody>
                  <a:tcPr/>
                </a:tc>
                <a:tc>
                  <a:txBody>
                    <a:bodyPr/>
                    <a:lstStyle/>
                    <a:p>
                      <a:pPr algn="ctr"/>
                      <a:r>
                        <a:rPr lang="zh-TW" altLang="en-US" b="0" dirty="0"/>
                        <a:t>ａ</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r>
                        <a:rPr lang="zh-TW" altLang="en-US" b="0" dirty="0"/>
                        <a:t>ｃ</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r>
                        <a:rPr lang="zh-TW" altLang="en-US" b="0" dirty="0"/>
                        <a:t>ｂ</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r>
                        <a:rPr lang="zh-TW" altLang="en-US" b="0" dirty="0"/>
                        <a:t>ｃ</a:t>
                      </a:r>
                    </a:p>
                  </a:txBody>
                  <a:tcPr/>
                </a:tc>
                <a:tc>
                  <a:txBody>
                    <a:bodyPr/>
                    <a:lstStyle/>
                    <a:p>
                      <a:pPr algn="ctr"/>
                      <a:r>
                        <a:rPr lang="zh-TW" altLang="en-US" b="0" dirty="0"/>
                        <a:t>ｘ</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tc>
                <a:extLst>
                  <a:ext uri="{0D108BD9-81ED-4DB2-BD59-A6C34878D82A}">
                    <a16:rowId xmlns:a16="http://schemas.microsoft.com/office/drawing/2014/main" val="2292623501"/>
                  </a:ext>
                </a:extLst>
              </a:tr>
              <a:tr h="351044">
                <a:tc vMerge="1">
                  <a:txBody>
                    <a:bodyPr/>
                    <a:lstStyle/>
                    <a:p>
                      <a:pPr algn="ctr"/>
                      <a:endParaRPr lang="zh-TW" altLang="en-US" b="0" dirty="0"/>
                    </a:p>
                  </a:txBody>
                  <a:tcPr>
                    <a:solidFill>
                      <a:schemeClr val="bg1">
                        <a:lumMod val="65000"/>
                      </a:schemeClr>
                    </a:solidFill>
                  </a:tcPr>
                </a:tc>
                <a:tc>
                  <a:txBody>
                    <a:bodyPr/>
                    <a:lstStyle/>
                    <a:p>
                      <a:pPr algn="ctr"/>
                      <a:r>
                        <a:rPr lang="zh-TW" altLang="en-US" b="0" dirty="0"/>
                        <a:t>Ｐ</a:t>
                      </a:r>
                    </a:p>
                  </a:txBody>
                  <a:tcPr>
                    <a:solidFill>
                      <a:schemeClr val="bg1">
                        <a:lumMod val="65000"/>
                      </a:schemeClr>
                    </a:solidFill>
                  </a:tcPr>
                </a:tc>
                <a:tc>
                  <a:txBody>
                    <a:bodyPr/>
                    <a:lstStyle/>
                    <a:p>
                      <a:pPr algn="ctr"/>
                      <a:r>
                        <a:rPr lang="zh-TW" altLang="en-US" b="0" dirty="0"/>
                        <a:t>ｂ</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r>
                        <a:rPr lang="zh-TW" altLang="en-US" b="0" dirty="0"/>
                        <a:t>ｃ</a:t>
                      </a:r>
                    </a:p>
                  </a:txBody>
                  <a:tcPr>
                    <a:solidFill>
                      <a:schemeClr val="bg1"/>
                    </a:solidFill>
                  </a:tcPr>
                </a:tc>
                <a:tc>
                  <a:txBody>
                    <a:bodyPr/>
                    <a:lstStyle/>
                    <a:p>
                      <a:pPr algn="ctr"/>
                      <a:r>
                        <a:rPr lang="zh-TW" altLang="en-US" b="0" dirty="0"/>
                        <a:t>ｘ</a:t>
                      </a:r>
                    </a:p>
                  </a:txBody>
                  <a:tcPr>
                    <a:solidFill>
                      <a:schemeClr val="bg1"/>
                    </a:solidFill>
                  </a:tcPr>
                </a:tc>
                <a:tc>
                  <a:txBody>
                    <a:bodyPr/>
                    <a:lstStyle/>
                    <a:p>
                      <a:pPr algn="ctr"/>
                      <a:r>
                        <a:rPr lang="zh-TW" altLang="en-US" b="0" dirty="0"/>
                        <a:t>ａ</a:t>
                      </a:r>
                    </a:p>
                  </a:txBody>
                  <a:tcPr>
                    <a:solidFill>
                      <a:srgbClr val="FF0000"/>
                    </a:solidFill>
                  </a:tcPr>
                </a:tc>
                <a:tc>
                  <a:txBody>
                    <a:bodyPr/>
                    <a:lstStyle/>
                    <a:p>
                      <a:pPr algn="ctr"/>
                      <a:r>
                        <a:rPr lang="zh-TW" altLang="en-US" b="0" dirty="0"/>
                        <a:t>ｂ</a:t>
                      </a:r>
                    </a:p>
                  </a:txBody>
                  <a:tcPr>
                    <a:solidFill>
                      <a:srgbClr val="00B0F0"/>
                    </a:solidFill>
                  </a:tcPr>
                </a:tc>
                <a:tc>
                  <a:txBody>
                    <a:bodyPr/>
                    <a:lstStyle/>
                    <a:p>
                      <a:pPr algn="ctr"/>
                      <a:r>
                        <a:rPr lang="zh-TW" altLang="en-US" b="0" dirty="0"/>
                        <a:t>ａ</a:t>
                      </a:r>
                    </a:p>
                  </a:txBody>
                  <a:tcPr>
                    <a:solidFill>
                      <a:srgbClr val="00B0F0"/>
                    </a:solidFill>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extLst>
                  <a:ext uri="{0D108BD9-81ED-4DB2-BD59-A6C34878D82A}">
                    <a16:rowId xmlns:a16="http://schemas.microsoft.com/office/drawing/2014/main" val="2118242035"/>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ｃ</a:t>
                      </a:r>
                    </a:p>
                  </a:txBody>
                  <a:tcPr/>
                </a:tc>
                <a:tc>
                  <a:txBody>
                    <a:bodyPr/>
                    <a:lstStyle/>
                    <a:p>
                      <a:pPr algn="ctr"/>
                      <a:r>
                        <a:rPr lang="zh-TW" altLang="en-US" b="0" dirty="0"/>
                        <a:t>ｘ</a:t>
                      </a:r>
                    </a:p>
                  </a:txBody>
                  <a:tcPr>
                    <a:solidFill>
                      <a:srgbClr val="FF0000"/>
                    </a:solidFill>
                  </a:tcPr>
                </a:tc>
                <a:tc>
                  <a:txBody>
                    <a:bodyPr/>
                    <a:lstStyle/>
                    <a:p>
                      <a:pPr algn="ctr"/>
                      <a:r>
                        <a:rPr lang="zh-TW" altLang="en-US" b="0" dirty="0"/>
                        <a:t>ａ</a:t>
                      </a:r>
                    </a:p>
                  </a:txBody>
                  <a:tcPr>
                    <a:solidFill>
                      <a:srgbClr val="00B0F0"/>
                    </a:solidFill>
                  </a:tcPr>
                </a:tc>
                <a:tc>
                  <a:txBody>
                    <a:bodyPr/>
                    <a:lstStyle/>
                    <a:p>
                      <a:pPr algn="ctr"/>
                      <a:r>
                        <a:rPr lang="zh-TW" altLang="en-US" b="0" dirty="0"/>
                        <a:t>ｂ</a:t>
                      </a:r>
                    </a:p>
                  </a:txBody>
                  <a:tcPr>
                    <a:solidFill>
                      <a:srgbClr val="00B0F0"/>
                    </a:solidFill>
                  </a:tcPr>
                </a:tc>
                <a:tc>
                  <a:txBody>
                    <a:bodyPr/>
                    <a:lstStyle/>
                    <a:p>
                      <a:pPr algn="ctr"/>
                      <a:r>
                        <a:rPr lang="zh-TW" altLang="en-US" b="0" dirty="0"/>
                        <a:t>ａ</a:t>
                      </a:r>
                    </a:p>
                  </a:txBody>
                  <a:tcPr>
                    <a:solidFill>
                      <a:srgbClr val="00B0F0"/>
                    </a:solidFill>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extLst>
                  <a:ext uri="{0D108BD9-81ED-4DB2-BD59-A6C34878D82A}">
                    <a16:rowId xmlns:a16="http://schemas.microsoft.com/office/drawing/2014/main" val="2772156485"/>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ｃ</a:t>
                      </a:r>
                    </a:p>
                  </a:txBody>
                  <a:tcPr/>
                </a:tc>
                <a:tc>
                  <a:txBody>
                    <a:bodyPr/>
                    <a:lstStyle/>
                    <a:p>
                      <a:pPr algn="ctr"/>
                      <a:r>
                        <a:rPr lang="zh-TW" altLang="en-US" b="0" dirty="0"/>
                        <a:t>ｘ</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solidFill>
                      <a:srgbClr val="FF0000"/>
                    </a:solidFill>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extLst>
                  <a:ext uri="{0D108BD9-81ED-4DB2-BD59-A6C34878D82A}">
                    <a16:rowId xmlns:a16="http://schemas.microsoft.com/office/drawing/2014/main" val="2908078002"/>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ｃ</a:t>
                      </a:r>
                    </a:p>
                  </a:txBody>
                  <a:tcPr/>
                </a:tc>
                <a:tc>
                  <a:txBody>
                    <a:bodyPr/>
                    <a:lstStyle/>
                    <a:p>
                      <a:pPr algn="ctr"/>
                      <a:r>
                        <a:rPr lang="zh-TW" altLang="en-US" b="0" dirty="0"/>
                        <a:t>ｘ</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solidFill>
                      <a:srgbClr val="FF0000"/>
                    </a:solidFill>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dirty="0"/>
                    </a:p>
                  </a:txBody>
                  <a:tcPr/>
                </a:tc>
                <a:extLst>
                  <a:ext uri="{0D108BD9-81ED-4DB2-BD59-A6C34878D82A}">
                    <a16:rowId xmlns:a16="http://schemas.microsoft.com/office/drawing/2014/main" val="2789716264"/>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r>
                        <a:rPr lang="zh-TW" altLang="en-US" b="0" dirty="0"/>
                        <a:t>ｂ</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r>
                        <a:rPr lang="zh-TW" altLang="en-US" b="0" dirty="0"/>
                        <a:t>ｃ</a:t>
                      </a:r>
                    </a:p>
                  </a:txBody>
                  <a:tcPr>
                    <a:solidFill>
                      <a:schemeClr val="bg1"/>
                    </a:solidFill>
                  </a:tcPr>
                </a:tc>
                <a:tc>
                  <a:txBody>
                    <a:bodyPr/>
                    <a:lstStyle/>
                    <a:p>
                      <a:pPr algn="ctr"/>
                      <a:r>
                        <a:rPr lang="zh-TW" altLang="en-US" b="0" dirty="0"/>
                        <a:t>ｘ</a:t>
                      </a:r>
                    </a:p>
                  </a:txBody>
                  <a:tcPr>
                    <a:solidFill>
                      <a:srgbClr val="FF0000"/>
                    </a:solidFill>
                  </a:tcPr>
                </a:tc>
                <a:tc>
                  <a:txBody>
                    <a:bodyPr/>
                    <a:lstStyle/>
                    <a:p>
                      <a:pPr algn="ctr"/>
                      <a:r>
                        <a:rPr lang="zh-TW" altLang="en-US" b="0" dirty="0"/>
                        <a:t>ａ</a:t>
                      </a:r>
                    </a:p>
                  </a:txBody>
                  <a:tcPr>
                    <a:solidFill>
                      <a:srgbClr val="00B0F0"/>
                    </a:solidFill>
                  </a:tcPr>
                </a:tc>
                <a:tc>
                  <a:txBody>
                    <a:bodyPr/>
                    <a:lstStyle/>
                    <a:p>
                      <a:pPr algn="ctr"/>
                      <a:r>
                        <a:rPr lang="zh-TW" altLang="en-US" b="0" dirty="0"/>
                        <a:t>ｂ</a:t>
                      </a:r>
                    </a:p>
                  </a:txBody>
                  <a:tcPr>
                    <a:solidFill>
                      <a:srgbClr val="00B0F0"/>
                    </a:solidFill>
                  </a:tcPr>
                </a:tc>
                <a:tc>
                  <a:txBody>
                    <a:bodyPr/>
                    <a:lstStyle/>
                    <a:p>
                      <a:pPr algn="ctr"/>
                      <a:r>
                        <a:rPr lang="zh-TW" altLang="en-US" b="0" dirty="0"/>
                        <a:t>ａ</a:t>
                      </a:r>
                    </a:p>
                  </a:txBody>
                  <a:tcPr>
                    <a:solidFill>
                      <a:srgbClr val="00B0F0"/>
                    </a:solidFill>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extLst>
                  <a:ext uri="{0D108BD9-81ED-4DB2-BD59-A6C34878D82A}">
                    <a16:rowId xmlns:a16="http://schemas.microsoft.com/office/drawing/2014/main" val="3230424250"/>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r>
                        <a:rPr lang="zh-TW" altLang="en-US" b="0" dirty="0"/>
                        <a:t>ｂ</a:t>
                      </a:r>
                    </a:p>
                  </a:txBody>
                  <a:tcPr>
                    <a:solidFill>
                      <a:srgbClr val="00B050"/>
                    </a:solidFill>
                  </a:tcPr>
                </a:tc>
                <a:tc>
                  <a:txBody>
                    <a:bodyPr/>
                    <a:lstStyle/>
                    <a:p>
                      <a:pPr algn="ctr"/>
                      <a:r>
                        <a:rPr lang="zh-TW" altLang="en-US" b="0" dirty="0"/>
                        <a:t>ａ</a:t>
                      </a:r>
                    </a:p>
                  </a:txBody>
                  <a:tcPr>
                    <a:solidFill>
                      <a:srgbClr val="00B050"/>
                    </a:solidFill>
                  </a:tcPr>
                </a:tc>
                <a:tc>
                  <a:txBody>
                    <a:bodyPr/>
                    <a:lstStyle/>
                    <a:p>
                      <a:pPr algn="ctr"/>
                      <a:r>
                        <a:rPr lang="zh-TW" altLang="en-US" b="0" dirty="0"/>
                        <a:t>ｃ</a:t>
                      </a:r>
                    </a:p>
                  </a:txBody>
                  <a:tcPr>
                    <a:solidFill>
                      <a:srgbClr val="00B050"/>
                    </a:solidFill>
                  </a:tcPr>
                </a:tc>
                <a:tc>
                  <a:txBody>
                    <a:bodyPr/>
                    <a:lstStyle/>
                    <a:p>
                      <a:pPr algn="ctr"/>
                      <a:r>
                        <a:rPr lang="zh-TW" altLang="en-US" b="0" dirty="0"/>
                        <a:t>ｘ</a:t>
                      </a:r>
                    </a:p>
                  </a:txBody>
                  <a:tcPr>
                    <a:solidFill>
                      <a:srgbClr val="00B050"/>
                    </a:solidFill>
                  </a:tcPr>
                </a:tc>
                <a:tc>
                  <a:txBody>
                    <a:bodyPr/>
                    <a:lstStyle/>
                    <a:p>
                      <a:pPr algn="ctr"/>
                      <a:r>
                        <a:rPr lang="zh-TW" altLang="en-US" b="0" dirty="0"/>
                        <a:t>ａ</a:t>
                      </a:r>
                    </a:p>
                  </a:txBody>
                  <a:tcPr>
                    <a:solidFill>
                      <a:srgbClr val="00B050"/>
                    </a:solidFill>
                  </a:tcPr>
                </a:tc>
                <a:tc>
                  <a:txBody>
                    <a:bodyPr/>
                    <a:lstStyle/>
                    <a:p>
                      <a:pPr algn="ctr"/>
                      <a:r>
                        <a:rPr lang="zh-TW" altLang="en-US" b="0" dirty="0"/>
                        <a:t>ｂ</a:t>
                      </a:r>
                    </a:p>
                  </a:txBody>
                  <a:tcPr>
                    <a:solidFill>
                      <a:srgbClr val="00B050"/>
                    </a:solidFill>
                  </a:tcPr>
                </a:tc>
                <a:tc>
                  <a:txBody>
                    <a:bodyPr/>
                    <a:lstStyle/>
                    <a:p>
                      <a:pPr algn="ctr"/>
                      <a:r>
                        <a:rPr lang="zh-TW" altLang="en-US" b="0" dirty="0"/>
                        <a:t>ａ</a:t>
                      </a:r>
                    </a:p>
                  </a:txBody>
                  <a:tcPr>
                    <a:solidFill>
                      <a:srgbClr val="FF000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extLst>
                  <a:ext uri="{0D108BD9-81ED-4DB2-BD59-A6C34878D82A}">
                    <a16:rowId xmlns:a16="http://schemas.microsoft.com/office/drawing/2014/main" val="3369287171"/>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r>
                        <a:rPr lang="zh-TW" altLang="en-US" b="0" dirty="0"/>
                        <a:t>ｂ</a:t>
                      </a:r>
                    </a:p>
                  </a:txBody>
                  <a:tcPr>
                    <a:solidFill>
                      <a:srgbClr val="00B0F0"/>
                    </a:solidFill>
                  </a:tcPr>
                </a:tc>
                <a:tc>
                  <a:txBody>
                    <a:bodyPr/>
                    <a:lstStyle/>
                    <a:p>
                      <a:pPr algn="ctr"/>
                      <a:r>
                        <a:rPr lang="zh-TW" altLang="en-US" b="0" dirty="0"/>
                        <a:t>ａ</a:t>
                      </a:r>
                    </a:p>
                  </a:txBody>
                  <a:tcPr>
                    <a:solidFill>
                      <a:srgbClr val="00B0F0"/>
                    </a:solidFill>
                  </a:tcPr>
                </a:tc>
                <a:tc>
                  <a:txBody>
                    <a:bodyPr/>
                    <a:lstStyle/>
                    <a:p>
                      <a:pPr algn="ctr"/>
                      <a:r>
                        <a:rPr lang="zh-TW" altLang="en-US" b="0" dirty="0"/>
                        <a:t>ｃ</a:t>
                      </a:r>
                    </a:p>
                  </a:txBody>
                  <a:tcPr>
                    <a:solidFill>
                      <a:srgbClr val="00B0F0"/>
                    </a:solidFill>
                  </a:tcPr>
                </a:tc>
                <a:tc>
                  <a:txBody>
                    <a:bodyPr/>
                    <a:lstStyle/>
                    <a:p>
                      <a:pPr algn="ctr"/>
                      <a:r>
                        <a:rPr lang="zh-TW" altLang="en-US" b="0" dirty="0"/>
                        <a:t>ｘ</a:t>
                      </a:r>
                    </a:p>
                  </a:txBody>
                  <a:tcPr>
                    <a:solidFill>
                      <a:srgbClr val="00B0F0"/>
                    </a:solidFill>
                  </a:tcPr>
                </a:tc>
                <a:tc>
                  <a:txBody>
                    <a:bodyPr/>
                    <a:lstStyle/>
                    <a:p>
                      <a:pPr algn="ctr"/>
                      <a:r>
                        <a:rPr lang="zh-TW" altLang="en-US" b="0" dirty="0"/>
                        <a:t>ａ</a:t>
                      </a:r>
                    </a:p>
                  </a:txBody>
                  <a:tcPr>
                    <a:solidFill>
                      <a:srgbClr val="00B0F0"/>
                    </a:solidFill>
                  </a:tcPr>
                </a:tc>
                <a:tc>
                  <a:txBody>
                    <a:bodyPr/>
                    <a:lstStyle/>
                    <a:p>
                      <a:pPr algn="ctr"/>
                      <a:r>
                        <a:rPr lang="zh-TW" altLang="en-US" b="0" dirty="0"/>
                        <a:t>ｂ</a:t>
                      </a:r>
                    </a:p>
                  </a:txBody>
                  <a:tcPr>
                    <a:solidFill>
                      <a:srgbClr val="00B0F0"/>
                    </a:solidFill>
                  </a:tcPr>
                </a:tc>
                <a:tc>
                  <a:txBody>
                    <a:bodyPr/>
                    <a:lstStyle/>
                    <a:p>
                      <a:pPr algn="ctr"/>
                      <a:r>
                        <a:rPr lang="zh-TW" altLang="en-US" b="0" dirty="0"/>
                        <a:t>ａ</a:t>
                      </a:r>
                    </a:p>
                  </a:txBody>
                  <a:tcPr>
                    <a:solidFill>
                      <a:srgbClr val="00B0F0"/>
                    </a:solidFill>
                  </a:tcPr>
                </a:tc>
                <a:extLst>
                  <a:ext uri="{0D108BD9-81ED-4DB2-BD59-A6C34878D82A}">
                    <a16:rowId xmlns:a16="http://schemas.microsoft.com/office/drawing/2014/main" val="3872106905"/>
                  </a:ext>
                </a:extLst>
              </a:tr>
            </a:tbl>
          </a:graphicData>
        </a:graphic>
      </p:graphicFrame>
    </p:spTree>
    <p:extLst>
      <p:ext uri="{BB962C8B-B14F-4D97-AF65-F5344CB8AC3E}">
        <p14:creationId xmlns:p14="http://schemas.microsoft.com/office/powerpoint/2010/main" val="3635911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404A75-F755-4145-83FC-72DC9BF16CBC}"/>
              </a:ext>
            </a:extLst>
          </p:cNvPr>
          <p:cNvSpPr>
            <a:spLocks noGrp="1"/>
          </p:cNvSpPr>
          <p:nvPr>
            <p:ph type="title"/>
          </p:nvPr>
        </p:nvSpPr>
        <p:spPr>
          <a:xfrm>
            <a:off x="838199" y="56925"/>
            <a:ext cx="10515600" cy="1325563"/>
          </a:xfrm>
        </p:spPr>
        <p:txBody>
          <a:bodyPr/>
          <a:lstStyle/>
          <a:p>
            <a:r>
              <a:rPr lang="en-US" altLang="zh-TW" dirty="0">
                <a:latin typeface="Times New Roman" panose="02020603050405020304" pitchFamily="18" charset="0"/>
                <a:cs typeface="Times New Roman" panose="02020603050405020304" pitchFamily="18" charset="0"/>
              </a:rPr>
              <a:t>Compare</a:t>
            </a: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4">
            <a:extLst>
              <a:ext uri="{FF2B5EF4-FFF2-40B4-BE49-F238E27FC236}">
                <a16:creationId xmlns:a16="http://schemas.microsoft.com/office/drawing/2014/main" id="{60D70B53-B8CB-4634-A412-91E0BAD96AE0}"/>
              </a:ext>
            </a:extLst>
          </p:cNvPr>
          <p:cNvGraphicFramePr>
            <a:graphicFrameLocks noGrp="1"/>
          </p:cNvGraphicFramePr>
          <p:nvPr>
            <p:extLst>
              <p:ext uri="{D42A27DB-BD31-4B8C-83A1-F6EECF244321}">
                <p14:modId xmlns:p14="http://schemas.microsoft.com/office/powerpoint/2010/main" val="3427181543"/>
              </p:ext>
            </p:extLst>
          </p:nvPr>
        </p:nvGraphicFramePr>
        <p:xfrm>
          <a:off x="479394" y="1089527"/>
          <a:ext cx="11345666" cy="2560320"/>
        </p:xfrm>
        <a:graphic>
          <a:graphicData uri="http://schemas.openxmlformats.org/drawingml/2006/table">
            <a:tbl>
              <a:tblPr firstRow="1" bandRow="1">
                <a:tableStyleId>{5940675A-B579-460E-94D1-54222C63F5DA}</a:tableStyleId>
              </a:tblPr>
              <a:tblGrid>
                <a:gridCol w="692458">
                  <a:extLst>
                    <a:ext uri="{9D8B030D-6E8A-4147-A177-3AD203B41FA5}">
                      <a16:colId xmlns:a16="http://schemas.microsoft.com/office/drawing/2014/main" val="367957721"/>
                    </a:ext>
                  </a:extLst>
                </a:gridCol>
                <a:gridCol w="367352">
                  <a:extLst>
                    <a:ext uri="{9D8B030D-6E8A-4147-A177-3AD203B41FA5}">
                      <a16:colId xmlns:a16="http://schemas.microsoft.com/office/drawing/2014/main" val="497530347"/>
                    </a:ext>
                  </a:extLst>
                </a:gridCol>
                <a:gridCol w="367352">
                  <a:extLst>
                    <a:ext uri="{9D8B030D-6E8A-4147-A177-3AD203B41FA5}">
                      <a16:colId xmlns:a16="http://schemas.microsoft.com/office/drawing/2014/main" val="496432589"/>
                    </a:ext>
                  </a:extLst>
                </a:gridCol>
                <a:gridCol w="367352">
                  <a:extLst>
                    <a:ext uri="{9D8B030D-6E8A-4147-A177-3AD203B41FA5}">
                      <a16:colId xmlns:a16="http://schemas.microsoft.com/office/drawing/2014/main" val="4082177319"/>
                    </a:ext>
                  </a:extLst>
                </a:gridCol>
                <a:gridCol w="367352">
                  <a:extLst>
                    <a:ext uri="{9D8B030D-6E8A-4147-A177-3AD203B41FA5}">
                      <a16:colId xmlns:a16="http://schemas.microsoft.com/office/drawing/2014/main" val="1960093336"/>
                    </a:ext>
                  </a:extLst>
                </a:gridCol>
                <a:gridCol w="367352">
                  <a:extLst>
                    <a:ext uri="{9D8B030D-6E8A-4147-A177-3AD203B41FA5}">
                      <a16:colId xmlns:a16="http://schemas.microsoft.com/office/drawing/2014/main" val="458617234"/>
                    </a:ext>
                  </a:extLst>
                </a:gridCol>
                <a:gridCol w="367352">
                  <a:extLst>
                    <a:ext uri="{9D8B030D-6E8A-4147-A177-3AD203B41FA5}">
                      <a16:colId xmlns:a16="http://schemas.microsoft.com/office/drawing/2014/main" val="4170643207"/>
                    </a:ext>
                  </a:extLst>
                </a:gridCol>
                <a:gridCol w="367352">
                  <a:extLst>
                    <a:ext uri="{9D8B030D-6E8A-4147-A177-3AD203B41FA5}">
                      <a16:colId xmlns:a16="http://schemas.microsoft.com/office/drawing/2014/main" val="864037003"/>
                    </a:ext>
                  </a:extLst>
                </a:gridCol>
                <a:gridCol w="367352">
                  <a:extLst>
                    <a:ext uri="{9D8B030D-6E8A-4147-A177-3AD203B41FA5}">
                      <a16:colId xmlns:a16="http://schemas.microsoft.com/office/drawing/2014/main" val="237928945"/>
                    </a:ext>
                  </a:extLst>
                </a:gridCol>
                <a:gridCol w="367352">
                  <a:extLst>
                    <a:ext uri="{9D8B030D-6E8A-4147-A177-3AD203B41FA5}">
                      <a16:colId xmlns:a16="http://schemas.microsoft.com/office/drawing/2014/main" val="1188561849"/>
                    </a:ext>
                  </a:extLst>
                </a:gridCol>
                <a:gridCol w="367352">
                  <a:extLst>
                    <a:ext uri="{9D8B030D-6E8A-4147-A177-3AD203B41FA5}">
                      <a16:colId xmlns:a16="http://schemas.microsoft.com/office/drawing/2014/main" val="2907214525"/>
                    </a:ext>
                  </a:extLst>
                </a:gridCol>
                <a:gridCol w="367352">
                  <a:extLst>
                    <a:ext uri="{9D8B030D-6E8A-4147-A177-3AD203B41FA5}">
                      <a16:colId xmlns:a16="http://schemas.microsoft.com/office/drawing/2014/main" val="1843471195"/>
                    </a:ext>
                  </a:extLst>
                </a:gridCol>
                <a:gridCol w="367352">
                  <a:extLst>
                    <a:ext uri="{9D8B030D-6E8A-4147-A177-3AD203B41FA5}">
                      <a16:colId xmlns:a16="http://schemas.microsoft.com/office/drawing/2014/main" val="3510994653"/>
                    </a:ext>
                  </a:extLst>
                </a:gridCol>
                <a:gridCol w="367352">
                  <a:extLst>
                    <a:ext uri="{9D8B030D-6E8A-4147-A177-3AD203B41FA5}">
                      <a16:colId xmlns:a16="http://schemas.microsoft.com/office/drawing/2014/main" val="1483072784"/>
                    </a:ext>
                  </a:extLst>
                </a:gridCol>
                <a:gridCol w="367352">
                  <a:extLst>
                    <a:ext uri="{9D8B030D-6E8A-4147-A177-3AD203B41FA5}">
                      <a16:colId xmlns:a16="http://schemas.microsoft.com/office/drawing/2014/main" val="774767283"/>
                    </a:ext>
                  </a:extLst>
                </a:gridCol>
                <a:gridCol w="367352">
                  <a:extLst>
                    <a:ext uri="{9D8B030D-6E8A-4147-A177-3AD203B41FA5}">
                      <a16:colId xmlns:a16="http://schemas.microsoft.com/office/drawing/2014/main" val="3830197446"/>
                    </a:ext>
                  </a:extLst>
                </a:gridCol>
                <a:gridCol w="367352">
                  <a:extLst>
                    <a:ext uri="{9D8B030D-6E8A-4147-A177-3AD203B41FA5}">
                      <a16:colId xmlns:a16="http://schemas.microsoft.com/office/drawing/2014/main" val="184132502"/>
                    </a:ext>
                  </a:extLst>
                </a:gridCol>
                <a:gridCol w="367352">
                  <a:extLst>
                    <a:ext uri="{9D8B030D-6E8A-4147-A177-3AD203B41FA5}">
                      <a16:colId xmlns:a16="http://schemas.microsoft.com/office/drawing/2014/main" val="973868889"/>
                    </a:ext>
                  </a:extLst>
                </a:gridCol>
                <a:gridCol w="367352">
                  <a:extLst>
                    <a:ext uri="{9D8B030D-6E8A-4147-A177-3AD203B41FA5}">
                      <a16:colId xmlns:a16="http://schemas.microsoft.com/office/drawing/2014/main" val="3414376831"/>
                    </a:ext>
                  </a:extLst>
                </a:gridCol>
                <a:gridCol w="367352">
                  <a:extLst>
                    <a:ext uri="{9D8B030D-6E8A-4147-A177-3AD203B41FA5}">
                      <a16:colId xmlns:a16="http://schemas.microsoft.com/office/drawing/2014/main" val="2454128248"/>
                    </a:ext>
                  </a:extLst>
                </a:gridCol>
                <a:gridCol w="367352">
                  <a:extLst>
                    <a:ext uri="{9D8B030D-6E8A-4147-A177-3AD203B41FA5}">
                      <a16:colId xmlns:a16="http://schemas.microsoft.com/office/drawing/2014/main" val="1041285937"/>
                    </a:ext>
                  </a:extLst>
                </a:gridCol>
                <a:gridCol w="367352">
                  <a:extLst>
                    <a:ext uri="{9D8B030D-6E8A-4147-A177-3AD203B41FA5}">
                      <a16:colId xmlns:a16="http://schemas.microsoft.com/office/drawing/2014/main" val="1639612117"/>
                    </a:ext>
                  </a:extLst>
                </a:gridCol>
                <a:gridCol w="367352">
                  <a:extLst>
                    <a:ext uri="{9D8B030D-6E8A-4147-A177-3AD203B41FA5}">
                      <a16:colId xmlns:a16="http://schemas.microsoft.com/office/drawing/2014/main" val="952531061"/>
                    </a:ext>
                  </a:extLst>
                </a:gridCol>
                <a:gridCol w="367352">
                  <a:extLst>
                    <a:ext uri="{9D8B030D-6E8A-4147-A177-3AD203B41FA5}">
                      <a16:colId xmlns:a16="http://schemas.microsoft.com/office/drawing/2014/main" val="1963210206"/>
                    </a:ext>
                  </a:extLst>
                </a:gridCol>
                <a:gridCol w="367352">
                  <a:extLst>
                    <a:ext uri="{9D8B030D-6E8A-4147-A177-3AD203B41FA5}">
                      <a16:colId xmlns:a16="http://schemas.microsoft.com/office/drawing/2014/main" val="2009246463"/>
                    </a:ext>
                  </a:extLst>
                </a:gridCol>
                <a:gridCol w="367352">
                  <a:extLst>
                    <a:ext uri="{9D8B030D-6E8A-4147-A177-3AD203B41FA5}">
                      <a16:colId xmlns:a16="http://schemas.microsoft.com/office/drawing/2014/main" val="2798814856"/>
                    </a:ext>
                  </a:extLst>
                </a:gridCol>
                <a:gridCol w="367352">
                  <a:extLst>
                    <a:ext uri="{9D8B030D-6E8A-4147-A177-3AD203B41FA5}">
                      <a16:colId xmlns:a16="http://schemas.microsoft.com/office/drawing/2014/main" val="4059543468"/>
                    </a:ext>
                  </a:extLst>
                </a:gridCol>
                <a:gridCol w="367352">
                  <a:extLst>
                    <a:ext uri="{9D8B030D-6E8A-4147-A177-3AD203B41FA5}">
                      <a16:colId xmlns:a16="http://schemas.microsoft.com/office/drawing/2014/main" val="3170308328"/>
                    </a:ext>
                  </a:extLst>
                </a:gridCol>
                <a:gridCol w="367352">
                  <a:extLst>
                    <a:ext uri="{9D8B030D-6E8A-4147-A177-3AD203B41FA5}">
                      <a16:colId xmlns:a16="http://schemas.microsoft.com/office/drawing/2014/main" val="1170935010"/>
                    </a:ext>
                  </a:extLst>
                </a:gridCol>
                <a:gridCol w="367352">
                  <a:extLst>
                    <a:ext uri="{9D8B030D-6E8A-4147-A177-3AD203B41FA5}">
                      <a16:colId xmlns:a16="http://schemas.microsoft.com/office/drawing/2014/main" val="2888943537"/>
                    </a:ext>
                  </a:extLst>
                </a:gridCol>
              </a:tblGrid>
              <a:tr h="334210">
                <a:tc rowSpan="7">
                  <a:txBody>
                    <a:bodyPr/>
                    <a:lstStyle/>
                    <a:p>
                      <a:pPr algn="ctr"/>
                      <a:r>
                        <a:rPr lang="en-US" altLang="zh-TW" sz="2400" dirty="0">
                          <a:latin typeface="Times New Roman" panose="02020603050405020304" pitchFamily="18" charset="0"/>
                          <a:cs typeface="Times New Roman" panose="02020603050405020304" pitchFamily="18" charset="0"/>
                        </a:rPr>
                        <a:t>LI</a:t>
                      </a:r>
                      <a:endParaRPr lang="zh-TW" altLang="en-US" sz="2400" dirty="0">
                        <a:latin typeface="Times New Roman" panose="02020603050405020304" pitchFamily="18" charset="0"/>
                        <a:cs typeface="Times New Roman" panose="02020603050405020304" pitchFamily="18" charset="0"/>
                      </a:endParaRPr>
                    </a:p>
                  </a:txBody>
                  <a:tcPr anchor="ctr">
                    <a:solidFill>
                      <a:schemeClr val="bg1">
                        <a:lumMod val="65000"/>
                      </a:schemeClr>
                    </a:solidFill>
                  </a:tcPr>
                </a:tc>
                <a:tc>
                  <a:txBody>
                    <a:bodyPr/>
                    <a:lstStyle/>
                    <a:p>
                      <a:pPr algn="ctr"/>
                      <a:r>
                        <a:rPr lang="zh-TW" altLang="en-US" dirty="0"/>
                        <a:t>Ｓ</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ｙ</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ｘ</a:t>
                      </a:r>
                    </a:p>
                  </a:txBody>
                  <a:tcPr/>
                </a:tc>
                <a:tc>
                  <a:txBody>
                    <a:bodyPr/>
                    <a:lstStyle/>
                    <a:p>
                      <a:pPr algn="ctr"/>
                      <a:r>
                        <a:rPr lang="zh-TW" altLang="en-US" dirty="0"/>
                        <a:t>ｂ</a:t>
                      </a:r>
                    </a:p>
                  </a:txBody>
                  <a:tcPr/>
                </a:tc>
                <a:tc>
                  <a:txBody>
                    <a:bodyPr/>
                    <a:lstStyle/>
                    <a:p>
                      <a:pPr algn="ctr"/>
                      <a:r>
                        <a:rPr lang="zh-TW" altLang="en-US" dirty="0"/>
                        <a:t>ａ</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ｃ</a:t>
                      </a:r>
                    </a:p>
                  </a:txBody>
                  <a:tcPr>
                    <a:solidFill>
                      <a:srgbClr val="B381D9"/>
                    </a:solidFill>
                  </a:tcPr>
                </a:tc>
                <a:tc>
                  <a:txBody>
                    <a:bodyPr/>
                    <a:lstStyle/>
                    <a:p>
                      <a:pPr algn="ctr"/>
                      <a:r>
                        <a:rPr lang="zh-TW" altLang="en-US" dirty="0"/>
                        <a:t>ａ</a:t>
                      </a:r>
                    </a:p>
                  </a:txBody>
                  <a:tcPr>
                    <a:solidFill>
                      <a:srgbClr val="FF000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extLst>
                  <a:ext uri="{0D108BD9-81ED-4DB2-BD59-A6C34878D82A}">
                    <a16:rowId xmlns:a16="http://schemas.microsoft.com/office/drawing/2014/main" val="2961432503"/>
                  </a:ext>
                </a:extLst>
              </a:tr>
              <a:tr h="334210">
                <a:tc vMerge="1">
                  <a:txBody>
                    <a:bodyPr/>
                    <a:lstStyle/>
                    <a:p>
                      <a:pPr algn="ctr"/>
                      <a:endParaRPr lang="zh-TW" altLang="en-US" dirty="0"/>
                    </a:p>
                  </a:txBody>
                  <a:tcPr>
                    <a:solidFill>
                      <a:schemeClr val="bg1">
                        <a:lumMod val="65000"/>
                      </a:schemeClr>
                    </a:solidFill>
                  </a:tcPr>
                </a:tc>
                <a:tc>
                  <a:txBody>
                    <a:bodyPr/>
                    <a:lstStyle/>
                    <a:p>
                      <a:pPr algn="ctr"/>
                      <a:r>
                        <a:rPr lang="zh-TW" altLang="en-US" dirty="0"/>
                        <a:t>Ｐ</a:t>
                      </a:r>
                    </a:p>
                  </a:txBody>
                  <a:tcPr>
                    <a:solidFill>
                      <a:schemeClr val="bg1">
                        <a:lumMod val="65000"/>
                      </a:schemeClr>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extLst>
                  <a:ext uri="{0D108BD9-81ED-4DB2-BD59-A6C34878D82A}">
                    <a16:rowId xmlns:a16="http://schemas.microsoft.com/office/drawing/2014/main" val="2118242035"/>
                  </a:ext>
                </a:extLst>
              </a:tr>
              <a:tr h="334210">
                <a:tc vMerge="1">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72156485"/>
                  </a:ext>
                </a:extLst>
              </a:tr>
              <a:tr h="334210">
                <a:tc vMerge="1">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solidFill>
                      <a:schemeClr val="bg1"/>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908078002"/>
                  </a:ext>
                </a:extLst>
              </a:tr>
              <a:tr h="334210">
                <a:tc vMerge="1">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ｂ</a:t>
                      </a:r>
                    </a:p>
                  </a:txBody>
                  <a:tcPr/>
                </a:tc>
                <a:tc>
                  <a:txBody>
                    <a:bodyPr/>
                    <a:lstStyle/>
                    <a:p>
                      <a:pPr algn="ctr"/>
                      <a:r>
                        <a:rPr lang="zh-TW" altLang="en-US" dirty="0"/>
                        <a:t>ａ</a:t>
                      </a:r>
                    </a:p>
                  </a:txBody>
                  <a:tcPr/>
                </a:tc>
                <a:tc>
                  <a:txBody>
                    <a:bodyPr/>
                    <a:lstStyle/>
                    <a:p>
                      <a:pPr algn="ctr"/>
                      <a:r>
                        <a:rPr lang="zh-TW" altLang="en-US" dirty="0"/>
                        <a:t>ｃ</a:t>
                      </a:r>
                    </a:p>
                  </a:txBody>
                  <a:tcPr/>
                </a:tc>
                <a:tc>
                  <a:txBody>
                    <a:bodyPr/>
                    <a:lstStyle/>
                    <a:p>
                      <a:pPr algn="ctr"/>
                      <a:r>
                        <a:rPr lang="zh-TW" altLang="en-US" dirty="0"/>
                        <a:t>ｘ</a:t>
                      </a:r>
                    </a:p>
                  </a:txBody>
                  <a:tcPr/>
                </a:tc>
                <a:tc>
                  <a:txBody>
                    <a:bodyPr/>
                    <a:lstStyle/>
                    <a:p>
                      <a:pPr algn="ctr"/>
                      <a:r>
                        <a:rPr lang="zh-TW" altLang="en-US" dirty="0"/>
                        <a:t>ａ</a:t>
                      </a:r>
                    </a:p>
                  </a:txBody>
                  <a:tcPr/>
                </a:tc>
                <a:tc>
                  <a:txBody>
                    <a:bodyPr/>
                    <a:lstStyle/>
                    <a:p>
                      <a:pPr algn="ctr"/>
                      <a:r>
                        <a:rPr lang="zh-TW" altLang="en-US" dirty="0"/>
                        <a:t>ｂ</a:t>
                      </a:r>
                    </a:p>
                  </a:txBody>
                  <a:tcPr/>
                </a:tc>
                <a:tc>
                  <a:txBody>
                    <a:bodyPr/>
                    <a:lstStyle/>
                    <a:p>
                      <a:pPr algn="ctr"/>
                      <a:r>
                        <a:rPr lang="zh-TW" altLang="en-US" dirty="0"/>
                        <a:t>ａ</a:t>
                      </a:r>
                    </a:p>
                  </a:txBody>
                  <a:tcPr>
                    <a:solidFill>
                      <a:schemeClr val="bg1"/>
                    </a:solidFill>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2789716264"/>
                  </a:ext>
                </a:extLst>
              </a:tr>
              <a:tr h="334210">
                <a:tc vMerge="1">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solidFill>
                      <a:schemeClr val="bg1">
                        <a:lumMod val="65000"/>
                      </a:schemeClr>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r>
                        <a:rPr lang="zh-TW" altLang="en-US" dirty="0"/>
                        <a:t>ｂ</a:t>
                      </a:r>
                    </a:p>
                  </a:txBody>
                  <a:tcPr>
                    <a:solidFill>
                      <a:srgbClr val="B381D9"/>
                    </a:solidFill>
                  </a:tcPr>
                </a:tc>
                <a:tc>
                  <a:txBody>
                    <a:bodyPr/>
                    <a:lstStyle/>
                    <a:p>
                      <a:pPr algn="ctr"/>
                      <a:r>
                        <a:rPr lang="zh-TW" altLang="en-US" dirty="0"/>
                        <a:t>ａ</a:t>
                      </a:r>
                    </a:p>
                  </a:txBody>
                  <a:tcPr>
                    <a:solidFill>
                      <a:srgbClr val="B381D9"/>
                    </a:solidFill>
                  </a:tcPr>
                </a:tc>
                <a:tc>
                  <a:txBody>
                    <a:bodyPr/>
                    <a:lstStyle/>
                    <a:p>
                      <a:pPr algn="ctr"/>
                      <a:r>
                        <a:rPr lang="zh-TW" altLang="en-US" dirty="0"/>
                        <a:t>ｃ</a:t>
                      </a:r>
                    </a:p>
                  </a:txBody>
                  <a:tcPr>
                    <a:solidFill>
                      <a:srgbClr val="B381D9"/>
                    </a:solidFill>
                  </a:tcPr>
                </a:tc>
                <a:tc>
                  <a:txBody>
                    <a:bodyPr/>
                    <a:lstStyle/>
                    <a:p>
                      <a:pPr algn="ctr"/>
                      <a:r>
                        <a:rPr lang="zh-TW" altLang="en-US" dirty="0"/>
                        <a:t>ｘ</a:t>
                      </a:r>
                    </a:p>
                  </a:txBody>
                  <a:tcPr>
                    <a:solidFill>
                      <a:srgbClr val="FF0000"/>
                    </a:solidFill>
                  </a:tcPr>
                </a:tc>
                <a:tc>
                  <a:txBody>
                    <a:bodyPr/>
                    <a:lstStyle/>
                    <a:p>
                      <a:pPr algn="ctr"/>
                      <a:r>
                        <a:rPr lang="zh-TW" altLang="en-US" dirty="0"/>
                        <a:t>ａ</a:t>
                      </a:r>
                    </a:p>
                  </a:txBody>
                  <a:tcPr>
                    <a:solidFill>
                      <a:srgbClr val="00B0F0"/>
                    </a:solidFill>
                  </a:tcPr>
                </a:tc>
                <a:tc>
                  <a:txBody>
                    <a:bodyPr/>
                    <a:lstStyle/>
                    <a:p>
                      <a:pPr algn="ctr"/>
                      <a:r>
                        <a:rPr lang="zh-TW" altLang="en-US" dirty="0"/>
                        <a:t>ｂ</a:t>
                      </a:r>
                    </a:p>
                  </a:txBody>
                  <a:tcPr>
                    <a:solidFill>
                      <a:srgbClr val="00B0F0"/>
                    </a:solidFill>
                  </a:tcPr>
                </a:tc>
                <a:tc>
                  <a:txBody>
                    <a:bodyPr/>
                    <a:lstStyle/>
                    <a:p>
                      <a:pPr algn="ctr"/>
                      <a:r>
                        <a:rPr lang="zh-TW" altLang="en-US" dirty="0"/>
                        <a:t>ａ</a:t>
                      </a:r>
                    </a:p>
                  </a:txBody>
                  <a:tcPr>
                    <a:solidFill>
                      <a:srgbClr val="00B0F0"/>
                    </a:solidFill>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3230424250"/>
                  </a:ext>
                </a:extLst>
              </a:tr>
              <a:tr h="334210">
                <a:tc vMerge="1">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solidFill>
                      <a:schemeClr val="bg1">
                        <a:lumMod val="65000"/>
                      </a:schemeClr>
                    </a:solidFill>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ｃ</a:t>
                      </a:r>
                    </a:p>
                  </a:txBody>
                  <a:tcPr>
                    <a:solidFill>
                      <a:schemeClr val="bg1"/>
                    </a:solidFill>
                  </a:tcPr>
                </a:tc>
                <a:tc>
                  <a:txBody>
                    <a:bodyPr/>
                    <a:lstStyle/>
                    <a:p>
                      <a:pPr algn="ctr"/>
                      <a:r>
                        <a:rPr lang="zh-TW" altLang="en-US" dirty="0"/>
                        <a:t>ｘ</a:t>
                      </a:r>
                    </a:p>
                  </a:txBody>
                  <a:tcPr>
                    <a:solidFill>
                      <a:schemeClr val="bg1"/>
                    </a:solidFill>
                  </a:tcPr>
                </a:tc>
                <a:tc>
                  <a:txBody>
                    <a:bodyPr/>
                    <a:lstStyle/>
                    <a:p>
                      <a:pPr algn="ctr"/>
                      <a:r>
                        <a:rPr lang="zh-TW" altLang="en-US" dirty="0"/>
                        <a:t>ａ</a:t>
                      </a:r>
                    </a:p>
                  </a:txBody>
                  <a:tcPr>
                    <a:solidFill>
                      <a:schemeClr val="bg1"/>
                    </a:solidFill>
                  </a:tcPr>
                </a:tc>
                <a:tc>
                  <a:txBody>
                    <a:bodyPr/>
                    <a:lstStyle/>
                    <a:p>
                      <a:pPr algn="ctr"/>
                      <a:r>
                        <a:rPr lang="zh-TW" altLang="en-US" dirty="0"/>
                        <a:t>ｂ</a:t>
                      </a:r>
                    </a:p>
                  </a:txBody>
                  <a:tcPr>
                    <a:solidFill>
                      <a:schemeClr val="bg1"/>
                    </a:solidFill>
                  </a:tcPr>
                </a:tc>
                <a:tc>
                  <a:txBody>
                    <a:bodyPr/>
                    <a:lstStyle/>
                    <a:p>
                      <a:pPr algn="ctr"/>
                      <a:r>
                        <a:rPr lang="zh-TW" altLang="en-US" dirty="0"/>
                        <a:t>ａ</a:t>
                      </a:r>
                    </a:p>
                  </a:txBody>
                  <a:tcPr>
                    <a:solidFill>
                      <a:schemeClr val="bg1"/>
                    </a:solidFill>
                  </a:tcPr>
                </a:tc>
                <a:extLst>
                  <a:ext uri="{0D108BD9-81ED-4DB2-BD59-A6C34878D82A}">
                    <a16:rowId xmlns:a16="http://schemas.microsoft.com/office/drawing/2014/main" val="3369287171"/>
                  </a:ext>
                </a:extLst>
              </a:tr>
            </a:tbl>
          </a:graphicData>
        </a:graphic>
      </p:graphicFrame>
      <p:graphicFrame>
        <p:nvGraphicFramePr>
          <p:cNvPr id="8" name="表格 7">
            <a:extLst>
              <a:ext uri="{FF2B5EF4-FFF2-40B4-BE49-F238E27FC236}">
                <a16:creationId xmlns:a16="http://schemas.microsoft.com/office/drawing/2014/main" id="{D150A455-5C4F-44CE-98C3-ADAF5F3C3692}"/>
              </a:ext>
            </a:extLst>
          </p:cNvPr>
          <p:cNvGraphicFramePr>
            <a:graphicFrameLocks noGrp="1"/>
          </p:cNvGraphicFramePr>
          <p:nvPr>
            <p:extLst>
              <p:ext uri="{D42A27DB-BD31-4B8C-83A1-F6EECF244321}">
                <p14:modId xmlns:p14="http://schemas.microsoft.com/office/powerpoint/2010/main" val="2502262351"/>
              </p:ext>
            </p:extLst>
          </p:nvPr>
        </p:nvGraphicFramePr>
        <p:xfrm>
          <a:off x="479394" y="3806200"/>
          <a:ext cx="11345663" cy="2926080"/>
        </p:xfrm>
        <a:graphic>
          <a:graphicData uri="http://schemas.openxmlformats.org/drawingml/2006/table">
            <a:tbl>
              <a:tblPr firstRow="1" bandRow="1">
                <a:tableStyleId>{5940675A-B579-460E-94D1-54222C63F5DA}</a:tableStyleId>
              </a:tblPr>
              <a:tblGrid>
                <a:gridCol w="683581">
                  <a:extLst>
                    <a:ext uri="{9D8B030D-6E8A-4147-A177-3AD203B41FA5}">
                      <a16:colId xmlns:a16="http://schemas.microsoft.com/office/drawing/2014/main" val="2465171222"/>
                    </a:ext>
                  </a:extLst>
                </a:gridCol>
                <a:gridCol w="367658">
                  <a:extLst>
                    <a:ext uri="{9D8B030D-6E8A-4147-A177-3AD203B41FA5}">
                      <a16:colId xmlns:a16="http://schemas.microsoft.com/office/drawing/2014/main" val="497530347"/>
                    </a:ext>
                  </a:extLst>
                </a:gridCol>
                <a:gridCol w="367658">
                  <a:extLst>
                    <a:ext uri="{9D8B030D-6E8A-4147-A177-3AD203B41FA5}">
                      <a16:colId xmlns:a16="http://schemas.microsoft.com/office/drawing/2014/main" val="496432589"/>
                    </a:ext>
                  </a:extLst>
                </a:gridCol>
                <a:gridCol w="367658">
                  <a:extLst>
                    <a:ext uri="{9D8B030D-6E8A-4147-A177-3AD203B41FA5}">
                      <a16:colId xmlns:a16="http://schemas.microsoft.com/office/drawing/2014/main" val="4082177319"/>
                    </a:ext>
                  </a:extLst>
                </a:gridCol>
                <a:gridCol w="367658">
                  <a:extLst>
                    <a:ext uri="{9D8B030D-6E8A-4147-A177-3AD203B41FA5}">
                      <a16:colId xmlns:a16="http://schemas.microsoft.com/office/drawing/2014/main" val="1960093336"/>
                    </a:ext>
                  </a:extLst>
                </a:gridCol>
                <a:gridCol w="367658">
                  <a:extLst>
                    <a:ext uri="{9D8B030D-6E8A-4147-A177-3AD203B41FA5}">
                      <a16:colId xmlns:a16="http://schemas.microsoft.com/office/drawing/2014/main" val="458617234"/>
                    </a:ext>
                  </a:extLst>
                </a:gridCol>
                <a:gridCol w="367658">
                  <a:extLst>
                    <a:ext uri="{9D8B030D-6E8A-4147-A177-3AD203B41FA5}">
                      <a16:colId xmlns:a16="http://schemas.microsoft.com/office/drawing/2014/main" val="4170643207"/>
                    </a:ext>
                  </a:extLst>
                </a:gridCol>
                <a:gridCol w="367658">
                  <a:extLst>
                    <a:ext uri="{9D8B030D-6E8A-4147-A177-3AD203B41FA5}">
                      <a16:colId xmlns:a16="http://schemas.microsoft.com/office/drawing/2014/main" val="864037003"/>
                    </a:ext>
                  </a:extLst>
                </a:gridCol>
                <a:gridCol w="367658">
                  <a:extLst>
                    <a:ext uri="{9D8B030D-6E8A-4147-A177-3AD203B41FA5}">
                      <a16:colId xmlns:a16="http://schemas.microsoft.com/office/drawing/2014/main" val="237928945"/>
                    </a:ext>
                  </a:extLst>
                </a:gridCol>
                <a:gridCol w="367658">
                  <a:extLst>
                    <a:ext uri="{9D8B030D-6E8A-4147-A177-3AD203B41FA5}">
                      <a16:colId xmlns:a16="http://schemas.microsoft.com/office/drawing/2014/main" val="1188561849"/>
                    </a:ext>
                  </a:extLst>
                </a:gridCol>
                <a:gridCol w="367658">
                  <a:extLst>
                    <a:ext uri="{9D8B030D-6E8A-4147-A177-3AD203B41FA5}">
                      <a16:colId xmlns:a16="http://schemas.microsoft.com/office/drawing/2014/main" val="2907214525"/>
                    </a:ext>
                  </a:extLst>
                </a:gridCol>
                <a:gridCol w="367658">
                  <a:extLst>
                    <a:ext uri="{9D8B030D-6E8A-4147-A177-3AD203B41FA5}">
                      <a16:colId xmlns:a16="http://schemas.microsoft.com/office/drawing/2014/main" val="1843471195"/>
                    </a:ext>
                  </a:extLst>
                </a:gridCol>
                <a:gridCol w="367658">
                  <a:extLst>
                    <a:ext uri="{9D8B030D-6E8A-4147-A177-3AD203B41FA5}">
                      <a16:colId xmlns:a16="http://schemas.microsoft.com/office/drawing/2014/main" val="3510994653"/>
                    </a:ext>
                  </a:extLst>
                </a:gridCol>
                <a:gridCol w="367658">
                  <a:extLst>
                    <a:ext uri="{9D8B030D-6E8A-4147-A177-3AD203B41FA5}">
                      <a16:colId xmlns:a16="http://schemas.microsoft.com/office/drawing/2014/main" val="1483072784"/>
                    </a:ext>
                  </a:extLst>
                </a:gridCol>
                <a:gridCol w="367658">
                  <a:extLst>
                    <a:ext uri="{9D8B030D-6E8A-4147-A177-3AD203B41FA5}">
                      <a16:colId xmlns:a16="http://schemas.microsoft.com/office/drawing/2014/main" val="774767283"/>
                    </a:ext>
                  </a:extLst>
                </a:gridCol>
                <a:gridCol w="367658">
                  <a:extLst>
                    <a:ext uri="{9D8B030D-6E8A-4147-A177-3AD203B41FA5}">
                      <a16:colId xmlns:a16="http://schemas.microsoft.com/office/drawing/2014/main" val="3830197446"/>
                    </a:ext>
                  </a:extLst>
                </a:gridCol>
                <a:gridCol w="367658">
                  <a:extLst>
                    <a:ext uri="{9D8B030D-6E8A-4147-A177-3AD203B41FA5}">
                      <a16:colId xmlns:a16="http://schemas.microsoft.com/office/drawing/2014/main" val="184132502"/>
                    </a:ext>
                  </a:extLst>
                </a:gridCol>
                <a:gridCol w="367658">
                  <a:extLst>
                    <a:ext uri="{9D8B030D-6E8A-4147-A177-3AD203B41FA5}">
                      <a16:colId xmlns:a16="http://schemas.microsoft.com/office/drawing/2014/main" val="973868889"/>
                    </a:ext>
                  </a:extLst>
                </a:gridCol>
                <a:gridCol w="367658">
                  <a:extLst>
                    <a:ext uri="{9D8B030D-6E8A-4147-A177-3AD203B41FA5}">
                      <a16:colId xmlns:a16="http://schemas.microsoft.com/office/drawing/2014/main" val="3414376831"/>
                    </a:ext>
                  </a:extLst>
                </a:gridCol>
                <a:gridCol w="367658">
                  <a:extLst>
                    <a:ext uri="{9D8B030D-6E8A-4147-A177-3AD203B41FA5}">
                      <a16:colId xmlns:a16="http://schemas.microsoft.com/office/drawing/2014/main" val="2454128248"/>
                    </a:ext>
                  </a:extLst>
                </a:gridCol>
                <a:gridCol w="367658">
                  <a:extLst>
                    <a:ext uri="{9D8B030D-6E8A-4147-A177-3AD203B41FA5}">
                      <a16:colId xmlns:a16="http://schemas.microsoft.com/office/drawing/2014/main" val="1041285937"/>
                    </a:ext>
                  </a:extLst>
                </a:gridCol>
                <a:gridCol w="367658">
                  <a:extLst>
                    <a:ext uri="{9D8B030D-6E8A-4147-A177-3AD203B41FA5}">
                      <a16:colId xmlns:a16="http://schemas.microsoft.com/office/drawing/2014/main" val="1639612117"/>
                    </a:ext>
                  </a:extLst>
                </a:gridCol>
                <a:gridCol w="367658">
                  <a:extLst>
                    <a:ext uri="{9D8B030D-6E8A-4147-A177-3AD203B41FA5}">
                      <a16:colId xmlns:a16="http://schemas.microsoft.com/office/drawing/2014/main" val="952531061"/>
                    </a:ext>
                  </a:extLst>
                </a:gridCol>
                <a:gridCol w="367658">
                  <a:extLst>
                    <a:ext uri="{9D8B030D-6E8A-4147-A177-3AD203B41FA5}">
                      <a16:colId xmlns:a16="http://schemas.microsoft.com/office/drawing/2014/main" val="1963210206"/>
                    </a:ext>
                  </a:extLst>
                </a:gridCol>
                <a:gridCol w="367658">
                  <a:extLst>
                    <a:ext uri="{9D8B030D-6E8A-4147-A177-3AD203B41FA5}">
                      <a16:colId xmlns:a16="http://schemas.microsoft.com/office/drawing/2014/main" val="2009246463"/>
                    </a:ext>
                  </a:extLst>
                </a:gridCol>
                <a:gridCol w="367658">
                  <a:extLst>
                    <a:ext uri="{9D8B030D-6E8A-4147-A177-3AD203B41FA5}">
                      <a16:colId xmlns:a16="http://schemas.microsoft.com/office/drawing/2014/main" val="2798814856"/>
                    </a:ext>
                  </a:extLst>
                </a:gridCol>
                <a:gridCol w="367658">
                  <a:extLst>
                    <a:ext uri="{9D8B030D-6E8A-4147-A177-3AD203B41FA5}">
                      <a16:colId xmlns:a16="http://schemas.microsoft.com/office/drawing/2014/main" val="4059543468"/>
                    </a:ext>
                  </a:extLst>
                </a:gridCol>
                <a:gridCol w="367658">
                  <a:extLst>
                    <a:ext uri="{9D8B030D-6E8A-4147-A177-3AD203B41FA5}">
                      <a16:colId xmlns:a16="http://schemas.microsoft.com/office/drawing/2014/main" val="3170308328"/>
                    </a:ext>
                  </a:extLst>
                </a:gridCol>
                <a:gridCol w="367658">
                  <a:extLst>
                    <a:ext uri="{9D8B030D-6E8A-4147-A177-3AD203B41FA5}">
                      <a16:colId xmlns:a16="http://schemas.microsoft.com/office/drawing/2014/main" val="1170935010"/>
                    </a:ext>
                  </a:extLst>
                </a:gridCol>
                <a:gridCol w="367658">
                  <a:extLst>
                    <a:ext uri="{9D8B030D-6E8A-4147-A177-3AD203B41FA5}">
                      <a16:colId xmlns:a16="http://schemas.microsoft.com/office/drawing/2014/main" val="2888943537"/>
                    </a:ext>
                  </a:extLst>
                </a:gridCol>
              </a:tblGrid>
              <a:tr h="351044">
                <a:tc rowSpan="8">
                  <a:txBody>
                    <a:bodyPr/>
                    <a:lstStyle/>
                    <a:p>
                      <a:pPr algn="ctr"/>
                      <a:r>
                        <a:rPr lang="en-US" altLang="zh-TW" sz="2400" b="0" dirty="0">
                          <a:latin typeface="Times New Roman" panose="02020603050405020304" pitchFamily="18" charset="0"/>
                          <a:cs typeface="Times New Roman" panose="02020603050405020304" pitchFamily="18" charset="0"/>
                        </a:rPr>
                        <a:t>BM</a:t>
                      </a:r>
                      <a:endParaRPr lang="zh-TW" altLang="en-US" sz="2400" b="0" dirty="0">
                        <a:latin typeface="Times New Roman" panose="02020603050405020304" pitchFamily="18" charset="0"/>
                        <a:cs typeface="Times New Roman" panose="02020603050405020304" pitchFamily="18" charset="0"/>
                      </a:endParaRPr>
                    </a:p>
                  </a:txBody>
                  <a:tcPr anchor="ctr">
                    <a:solidFill>
                      <a:schemeClr val="bg1">
                        <a:lumMod val="65000"/>
                      </a:schemeClr>
                    </a:solidFill>
                  </a:tcPr>
                </a:tc>
                <a:tc>
                  <a:txBody>
                    <a:bodyPr/>
                    <a:lstStyle/>
                    <a:p>
                      <a:pPr algn="ctr"/>
                      <a:r>
                        <a:rPr lang="zh-TW" altLang="en-US" b="0" dirty="0"/>
                        <a:t>Ｓ</a:t>
                      </a:r>
                    </a:p>
                  </a:txBody>
                  <a:tcPr>
                    <a:solidFill>
                      <a:schemeClr val="bg1">
                        <a:lumMod val="65000"/>
                      </a:schemeClr>
                    </a:solidFill>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ｃ</a:t>
                      </a:r>
                    </a:p>
                  </a:txBody>
                  <a:tcPr/>
                </a:tc>
                <a:tc>
                  <a:txBody>
                    <a:bodyPr/>
                    <a:lstStyle/>
                    <a:p>
                      <a:pPr algn="ctr"/>
                      <a:r>
                        <a:rPr lang="zh-TW" altLang="en-US" b="0" dirty="0"/>
                        <a:t>ｘ</a:t>
                      </a:r>
                    </a:p>
                  </a:txBody>
                  <a:tcPr/>
                </a:tc>
                <a:tc>
                  <a:txBody>
                    <a:bodyPr/>
                    <a:lstStyle/>
                    <a:p>
                      <a:pPr algn="ctr"/>
                      <a:r>
                        <a:rPr lang="zh-TW" altLang="en-US" b="0" dirty="0"/>
                        <a:t>ｙ</a:t>
                      </a:r>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ｘ</a:t>
                      </a:r>
                    </a:p>
                  </a:txBody>
                  <a:tcPr/>
                </a:tc>
                <a:tc>
                  <a:txBody>
                    <a:bodyPr/>
                    <a:lstStyle/>
                    <a:p>
                      <a:pPr algn="ctr"/>
                      <a:r>
                        <a:rPr lang="zh-TW" altLang="en-US" b="0" dirty="0"/>
                        <a:t>ｂ</a:t>
                      </a:r>
                    </a:p>
                  </a:txBody>
                  <a:tcPr/>
                </a:tc>
                <a:tc>
                  <a:txBody>
                    <a:bodyPr/>
                    <a:lstStyle/>
                    <a:p>
                      <a:pPr algn="ctr"/>
                      <a:r>
                        <a:rPr lang="zh-TW" altLang="en-US" b="0" dirty="0"/>
                        <a:t>ａ</a:t>
                      </a:r>
                    </a:p>
                  </a:txBody>
                  <a:tcPr>
                    <a:solidFill>
                      <a:srgbClr val="B381D9"/>
                    </a:solidFill>
                  </a:tcPr>
                </a:tc>
                <a:tc>
                  <a:txBody>
                    <a:bodyPr/>
                    <a:lstStyle/>
                    <a:p>
                      <a:pPr algn="ctr"/>
                      <a:r>
                        <a:rPr lang="zh-TW" altLang="en-US" b="0" dirty="0"/>
                        <a:t>ａ</a:t>
                      </a:r>
                    </a:p>
                  </a:txBody>
                  <a:tcPr>
                    <a:solidFill>
                      <a:srgbClr val="B381D9"/>
                    </a:solidFill>
                  </a:tcPr>
                </a:tc>
                <a:tc>
                  <a:txBody>
                    <a:bodyPr/>
                    <a:lstStyle/>
                    <a:p>
                      <a:pPr algn="ctr"/>
                      <a:r>
                        <a:rPr lang="zh-TW" altLang="en-US" b="0" dirty="0"/>
                        <a:t>ｃ</a:t>
                      </a:r>
                    </a:p>
                  </a:txBody>
                  <a:tcPr>
                    <a:solidFill>
                      <a:srgbClr val="B381D9"/>
                    </a:solidFill>
                  </a:tcPr>
                </a:tc>
                <a:tc>
                  <a:txBody>
                    <a:bodyPr/>
                    <a:lstStyle/>
                    <a:p>
                      <a:pPr algn="ctr"/>
                      <a:r>
                        <a:rPr lang="zh-TW" altLang="en-US" b="0" dirty="0"/>
                        <a:t>ａ</a:t>
                      </a:r>
                    </a:p>
                  </a:txBody>
                  <a:tcPr>
                    <a:solidFill>
                      <a:srgbClr val="FF0000"/>
                    </a:solidFill>
                  </a:tcPr>
                </a:tc>
                <a:tc>
                  <a:txBody>
                    <a:bodyPr/>
                    <a:lstStyle/>
                    <a:p>
                      <a:pPr algn="ctr"/>
                      <a:r>
                        <a:rPr lang="zh-TW" altLang="en-US" b="0" dirty="0"/>
                        <a:t>ａ</a:t>
                      </a:r>
                    </a:p>
                  </a:txBody>
                  <a:tcPr>
                    <a:solidFill>
                      <a:srgbClr val="00B0F0"/>
                    </a:solidFill>
                  </a:tcPr>
                </a:tc>
                <a:tc>
                  <a:txBody>
                    <a:bodyPr/>
                    <a:lstStyle/>
                    <a:p>
                      <a:pPr algn="ctr"/>
                      <a:r>
                        <a:rPr lang="zh-TW" altLang="en-US" b="0" dirty="0"/>
                        <a:t>ｂ</a:t>
                      </a:r>
                    </a:p>
                  </a:txBody>
                  <a:tcPr>
                    <a:solidFill>
                      <a:srgbClr val="00B0F0"/>
                    </a:solidFill>
                  </a:tcPr>
                </a:tc>
                <a:tc>
                  <a:txBody>
                    <a:bodyPr/>
                    <a:lstStyle/>
                    <a:p>
                      <a:pPr algn="ctr"/>
                      <a:r>
                        <a:rPr lang="zh-TW" altLang="en-US" b="0" dirty="0"/>
                        <a:t>ａ</a:t>
                      </a:r>
                    </a:p>
                  </a:txBody>
                  <a:tcPr>
                    <a:solidFill>
                      <a:srgbClr val="00B0F0"/>
                    </a:solidFill>
                  </a:tcPr>
                </a:tc>
                <a:tc>
                  <a:txBody>
                    <a:bodyPr/>
                    <a:lstStyle/>
                    <a:p>
                      <a:pPr algn="ctr"/>
                      <a:r>
                        <a:rPr lang="zh-TW" altLang="en-US" b="0" dirty="0"/>
                        <a:t>ｃ</a:t>
                      </a:r>
                    </a:p>
                  </a:txBody>
                  <a:tcPr/>
                </a:tc>
                <a:tc>
                  <a:txBody>
                    <a:bodyPr/>
                    <a:lstStyle/>
                    <a:p>
                      <a:pPr algn="ctr"/>
                      <a:r>
                        <a:rPr lang="zh-TW" altLang="en-US" b="0" dirty="0"/>
                        <a:t>ｘ</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tc>
                <a:extLst>
                  <a:ext uri="{0D108BD9-81ED-4DB2-BD59-A6C34878D82A}">
                    <a16:rowId xmlns:a16="http://schemas.microsoft.com/office/drawing/2014/main" val="2292623501"/>
                  </a:ext>
                </a:extLst>
              </a:tr>
              <a:tr h="351044">
                <a:tc vMerge="1">
                  <a:txBody>
                    <a:bodyPr/>
                    <a:lstStyle/>
                    <a:p>
                      <a:pPr algn="ctr"/>
                      <a:endParaRPr lang="zh-TW" altLang="en-US" b="0" dirty="0"/>
                    </a:p>
                  </a:txBody>
                  <a:tcPr>
                    <a:solidFill>
                      <a:schemeClr val="bg1">
                        <a:lumMod val="65000"/>
                      </a:schemeClr>
                    </a:solidFill>
                  </a:tcPr>
                </a:tc>
                <a:tc>
                  <a:txBody>
                    <a:bodyPr/>
                    <a:lstStyle/>
                    <a:p>
                      <a:pPr algn="ctr"/>
                      <a:r>
                        <a:rPr lang="zh-TW" altLang="en-US" b="0" dirty="0"/>
                        <a:t>Ｐ</a:t>
                      </a:r>
                    </a:p>
                  </a:txBody>
                  <a:tcPr>
                    <a:solidFill>
                      <a:schemeClr val="bg1">
                        <a:lumMod val="65000"/>
                      </a:schemeClr>
                    </a:solidFill>
                  </a:tcPr>
                </a:tc>
                <a:tc>
                  <a:txBody>
                    <a:bodyPr/>
                    <a:lstStyle/>
                    <a:p>
                      <a:pPr algn="ctr"/>
                      <a:r>
                        <a:rPr lang="zh-TW" altLang="en-US" b="0" dirty="0"/>
                        <a:t>ｂ</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r>
                        <a:rPr lang="zh-TW" altLang="en-US" b="0" dirty="0"/>
                        <a:t>ｃ</a:t>
                      </a:r>
                    </a:p>
                  </a:txBody>
                  <a:tcPr>
                    <a:solidFill>
                      <a:schemeClr val="bg1"/>
                    </a:solidFill>
                  </a:tcPr>
                </a:tc>
                <a:tc>
                  <a:txBody>
                    <a:bodyPr/>
                    <a:lstStyle/>
                    <a:p>
                      <a:pPr algn="ctr"/>
                      <a:r>
                        <a:rPr lang="zh-TW" altLang="en-US" b="0" dirty="0"/>
                        <a:t>ｘ</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r>
                        <a:rPr lang="zh-TW" altLang="en-US" b="0" dirty="0"/>
                        <a:t>ｂ</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extLst>
                  <a:ext uri="{0D108BD9-81ED-4DB2-BD59-A6C34878D82A}">
                    <a16:rowId xmlns:a16="http://schemas.microsoft.com/office/drawing/2014/main" val="2118242035"/>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ｃ</a:t>
                      </a:r>
                    </a:p>
                  </a:txBody>
                  <a:tcPr/>
                </a:tc>
                <a:tc>
                  <a:txBody>
                    <a:bodyPr/>
                    <a:lstStyle/>
                    <a:p>
                      <a:pPr algn="ctr"/>
                      <a:r>
                        <a:rPr lang="zh-TW" altLang="en-US" b="0" dirty="0"/>
                        <a:t>ｘ</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r>
                        <a:rPr lang="zh-TW" altLang="en-US" b="0" dirty="0"/>
                        <a:t>ｂ</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extLst>
                  <a:ext uri="{0D108BD9-81ED-4DB2-BD59-A6C34878D82A}">
                    <a16:rowId xmlns:a16="http://schemas.microsoft.com/office/drawing/2014/main" val="2772156485"/>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ｃ</a:t>
                      </a:r>
                    </a:p>
                  </a:txBody>
                  <a:tcPr/>
                </a:tc>
                <a:tc>
                  <a:txBody>
                    <a:bodyPr/>
                    <a:lstStyle/>
                    <a:p>
                      <a:pPr algn="ctr"/>
                      <a:r>
                        <a:rPr lang="zh-TW" altLang="en-US" b="0" dirty="0"/>
                        <a:t>ｘ</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solidFill>
                      <a:schemeClr val="bg1"/>
                    </a:solidFill>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extLst>
                  <a:ext uri="{0D108BD9-81ED-4DB2-BD59-A6C34878D82A}">
                    <a16:rowId xmlns:a16="http://schemas.microsoft.com/office/drawing/2014/main" val="2908078002"/>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r>
                        <a:rPr lang="zh-TW" altLang="en-US" b="0" dirty="0"/>
                        <a:t>ｂ</a:t>
                      </a:r>
                    </a:p>
                  </a:txBody>
                  <a:tcPr/>
                </a:tc>
                <a:tc>
                  <a:txBody>
                    <a:bodyPr/>
                    <a:lstStyle/>
                    <a:p>
                      <a:pPr algn="ctr"/>
                      <a:r>
                        <a:rPr lang="zh-TW" altLang="en-US" b="0" dirty="0"/>
                        <a:t>ａ</a:t>
                      </a:r>
                    </a:p>
                  </a:txBody>
                  <a:tcPr/>
                </a:tc>
                <a:tc>
                  <a:txBody>
                    <a:bodyPr/>
                    <a:lstStyle/>
                    <a:p>
                      <a:pPr algn="ctr"/>
                      <a:r>
                        <a:rPr lang="zh-TW" altLang="en-US" b="0" dirty="0"/>
                        <a:t>ｃ</a:t>
                      </a:r>
                    </a:p>
                  </a:txBody>
                  <a:tcPr/>
                </a:tc>
                <a:tc>
                  <a:txBody>
                    <a:bodyPr/>
                    <a:lstStyle/>
                    <a:p>
                      <a:pPr algn="ctr"/>
                      <a:r>
                        <a:rPr lang="zh-TW" altLang="en-US" b="0" dirty="0"/>
                        <a:t>ｘ</a:t>
                      </a:r>
                    </a:p>
                  </a:txBody>
                  <a:tcPr/>
                </a:tc>
                <a:tc>
                  <a:txBody>
                    <a:bodyPr/>
                    <a:lstStyle/>
                    <a:p>
                      <a:pPr algn="ctr"/>
                      <a:r>
                        <a:rPr lang="zh-TW" altLang="en-US" b="0" dirty="0"/>
                        <a:t>ａ</a:t>
                      </a:r>
                    </a:p>
                  </a:txBody>
                  <a:tcPr/>
                </a:tc>
                <a:tc>
                  <a:txBody>
                    <a:bodyPr/>
                    <a:lstStyle/>
                    <a:p>
                      <a:pPr algn="ctr"/>
                      <a:r>
                        <a:rPr lang="zh-TW" altLang="en-US" b="0" dirty="0"/>
                        <a:t>ｂ</a:t>
                      </a:r>
                    </a:p>
                  </a:txBody>
                  <a:tcPr/>
                </a:tc>
                <a:tc>
                  <a:txBody>
                    <a:bodyPr/>
                    <a:lstStyle/>
                    <a:p>
                      <a:pPr algn="ctr"/>
                      <a:r>
                        <a:rPr lang="zh-TW" altLang="en-US" b="0" dirty="0"/>
                        <a:t>ａ</a:t>
                      </a:r>
                    </a:p>
                  </a:txBody>
                  <a:tcPr>
                    <a:solidFill>
                      <a:schemeClr val="bg1"/>
                    </a:solidFill>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dirty="0"/>
                    </a:p>
                  </a:txBody>
                  <a:tcPr/>
                </a:tc>
                <a:extLst>
                  <a:ext uri="{0D108BD9-81ED-4DB2-BD59-A6C34878D82A}">
                    <a16:rowId xmlns:a16="http://schemas.microsoft.com/office/drawing/2014/main" val="2789716264"/>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tc>
                  <a:txBody>
                    <a:bodyPr/>
                    <a:lstStyle/>
                    <a:p>
                      <a:pPr algn="ctr"/>
                      <a:r>
                        <a:rPr lang="zh-TW" altLang="en-US" b="0" dirty="0"/>
                        <a:t>ｂ</a:t>
                      </a:r>
                    </a:p>
                  </a:txBody>
                  <a:tcPr>
                    <a:solidFill>
                      <a:srgbClr val="B381D9"/>
                    </a:solidFill>
                  </a:tcPr>
                </a:tc>
                <a:tc>
                  <a:txBody>
                    <a:bodyPr/>
                    <a:lstStyle/>
                    <a:p>
                      <a:pPr algn="ctr"/>
                      <a:r>
                        <a:rPr lang="zh-TW" altLang="en-US" b="0" dirty="0"/>
                        <a:t>ａ</a:t>
                      </a:r>
                    </a:p>
                  </a:txBody>
                  <a:tcPr>
                    <a:solidFill>
                      <a:srgbClr val="B381D9"/>
                    </a:solidFill>
                  </a:tcPr>
                </a:tc>
                <a:tc>
                  <a:txBody>
                    <a:bodyPr/>
                    <a:lstStyle/>
                    <a:p>
                      <a:pPr algn="ctr"/>
                      <a:r>
                        <a:rPr lang="zh-TW" altLang="en-US" b="0" dirty="0"/>
                        <a:t>ｃ</a:t>
                      </a:r>
                    </a:p>
                  </a:txBody>
                  <a:tcPr>
                    <a:solidFill>
                      <a:srgbClr val="B381D9"/>
                    </a:solidFill>
                  </a:tcPr>
                </a:tc>
                <a:tc>
                  <a:txBody>
                    <a:bodyPr/>
                    <a:lstStyle/>
                    <a:p>
                      <a:pPr algn="ctr"/>
                      <a:r>
                        <a:rPr lang="zh-TW" altLang="en-US" b="0" dirty="0"/>
                        <a:t>ｘ</a:t>
                      </a:r>
                    </a:p>
                  </a:txBody>
                  <a:tcPr>
                    <a:solidFill>
                      <a:srgbClr val="FF0000"/>
                    </a:solidFill>
                  </a:tcPr>
                </a:tc>
                <a:tc>
                  <a:txBody>
                    <a:bodyPr/>
                    <a:lstStyle/>
                    <a:p>
                      <a:pPr algn="ctr"/>
                      <a:r>
                        <a:rPr lang="zh-TW" altLang="en-US" b="0" dirty="0"/>
                        <a:t>ａ</a:t>
                      </a:r>
                    </a:p>
                  </a:txBody>
                  <a:tcPr>
                    <a:solidFill>
                      <a:srgbClr val="00B0F0"/>
                    </a:solidFill>
                  </a:tcPr>
                </a:tc>
                <a:tc>
                  <a:txBody>
                    <a:bodyPr/>
                    <a:lstStyle/>
                    <a:p>
                      <a:pPr algn="ctr"/>
                      <a:r>
                        <a:rPr lang="zh-TW" altLang="en-US" b="0" dirty="0"/>
                        <a:t>ｂ</a:t>
                      </a:r>
                    </a:p>
                  </a:txBody>
                  <a:tcPr>
                    <a:solidFill>
                      <a:srgbClr val="00B0F0"/>
                    </a:solidFill>
                  </a:tcPr>
                </a:tc>
                <a:tc>
                  <a:txBody>
                    <a:bodyPr/>
                    <a:lstStyle/>
                    <a:p>
                      <a:pPr algn="ctr"/>
                      <a:r>
                        <a:rPr lang="zh-TW" altLang="en-US" b="0" dirty="0"/>
                        <a:t>ａ</a:t>
                      </a:r>
                    </a:p>
                  </a:txBody>
                  <a:tcPr>
                    <a:solidFill>
                      <a:srgbClr val="00B0F0"/>
                    </a:solidFill>
                  </a:tcPr>
                </a:tc>
                <a:tc>
                  <a:txBody>
                    <a:bodyPr/>
                    <a:lstStyle/>
                    <a:p>
                      <a:pPr algn="ctr"/>
                      <a:endParaRPr lang="zh-TW" altLang="en-US" b="0"/>
                    </a:p>
                  </a:txBody>
                  <a:tcPr/>
                </a:tc>
                <a:tc>
                  <a:txBody>
                    <a:bodyPr/>
                    <a:lstStyle/>
                    <a:p>
                      <a:pPr algn="ctr"/>
                      <a:endParaRPr lang="zh-TW" altLang="en-US" b="0" dirty="0"/>
                    </a:p>
                  </a:txBody>
                  <a:tcPr/>
                </a:tc>
                <a:tc>
                  <a:txBody>
                    <a:bodyPr/>
                    <a:lstStyle/>
                    <a:p>
                      <a:pPr algn="ctr"/>
                      <a:endParaRPr lang="zh-TW" altLang="en-US" b="0"/>
                    </a:p>
                  </a:txBody>
                  <a:tcPr/>
                </a:tc>
                <a:tc>
                  <a:txBody>
                    <a:bodyPr/>
                    <a:lstStyle/>
                    <a:p>
                      <a:pPr algn="ctr"/>
                      <a:endParaRPr lang="zh-TW" altLang="en-US" b="0"/>
                    </a:p>
                  </a:txBody>
                  <a:tcPr/>
                </a:tc>
                <a:tc>
                  <a:txBody>
                    <a:bodyPr/>
                    <a:lstStyle/>
                    <a:p>
                      <a:pPr algn="ctr"/>
                      <a:endParaRPr lang="zh-TW" altLang="en-US" b="0"/>
                    </a:p>
                  </a:txBody>
                  <a:tcPr/>
                </a:tc>
                <a:extLst>
                  <a:ext uri="{0D108BD9-81ED-4DB2-BD59-A6C34878D82A}">
                    <a16:rowId xmlns:a16="http://schemas.microsoft.com/office/drawing/2014/main" val="3230424250"/>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r>
                        <a:rPr lang="zh-TW" altLang="en-US" b="0" dirty="0"/>
                        <a:t>ｂ</a:t>
                      </a:r>
                    </a:p>
                  </a:txBody>
                  <a:tcPr>
                    <a:solidFill>
                      <a:srgbClr val="00B050"/>
                    </a:solidFill>
                  </a:tcPr>
                </a:tc>
                <a:tc>
                  <a:txBody>
                    <a:bodyPr/>
                    <a:lstStyle/>
                    <a:p>
                      <a:pPr algn="ctr"/>
                      <a:r>
                        <a:rPr lang="zh-TW" altLang="en-US" b="0" dirty="0"/>
                        <a:t>ａ</a:t>
                      </a:r>
                    </a:p>
                  </a:txBody>
                  <a:tcPr>
                    <a:solidFill>
                      <a:srgbClr val="00B050"/>
                    </a:solidFill>
                  </a:tcPr>
                </a:tc>
                <a:tc>
                  <a:txBody>
                    <a:bodyPr/>
                    <a:lstStyle/>
                    <a:p>
                      <a:pPr algn="ctr"/>
                      <a:r>
                        <a:rPr lang="zh-TW" altLang="en-US" b="0" dirty="0"/>
                        <a:t>ｃ</a:t>
                      </a:r>
                    </a:p>
                  </a:txBody>
                  <a:tcPr>
                    <a:solidFill>
                      <a:srgbClr val="00B050"/>
                    </a:solidFill>
                  </a:tcPr>
                </a:tc>
                <a:tc>
                  <a:txBody>
                    <a:bodyPr/>
                    <a:lstStyle/>
                    <a:p>
                      <a:pPr algn="ctr"/>
                      <a:r>
                        <a:rPr lang="zh-TW" altLang="en-US" b="0" dirty="0"/>
                        <a:t>ｘ</a:t>
                      </a:r>
                    </a:p>
                  </a:txBody>
                  <a:tcPr>
                    <a:solidFill>
                      <a:srgbClr val="00B050"/>
                    </a:solidFill>
                  </a:tcPr>
                </a:tc>
                <a:tc>
                  <a:txBody>
                    <a:bodyPr/>
                    <a:lstStyle/>
                    <a:p>
                      <a:pPr algn="ctr"/>
                      <a:r>
                        <a:rPr lang="zh-TW" altLang="en-US" b="0" dirty="0"/>
                        <a:t>ａ</a:t>
                      </a:r>
                    </a:p>
                  </a:txBody>
                  <a:tcPr>
                    <a:solidFill>
                      <a:srgbClr val="00B050"/>
                    </a:solidFill>
                  </a:tcPr>
                </a:tc>
                <a:tc>
                  <a:txBody>
                    <a:bodyPr/>
                    <a:lstStyle/>
                    <a:p>
                      <a:pPr algn="ctr"/>
                      <a:r>
                        <a:rPr lang="zh-TW" altLang="en-US" b="0" dirty="0"/>
                        <a:t>ｂ</a:t>
                      </a:r>
                    </a:p>
                  </a:txBody>
                  <a:tcPr>
                    <a:solidFill>
                      <a:srgbClr val="00B050"/>
                    </a:solidFill>
                  </a:tcPr>
                </a:tc>
                <a:tc>
                  <a:txBody>
                    <a:bodyPr/>
                    <a:lstStyle/>
                    <a:p>
                      <a:pPr algn="ctr"/>
                      <a:r>
                        <a:rPr lang="zh-TW" altLang="en-US" b="0" dirty="0"/>
                        <a:t>ａ</a:t>
                      </a:r>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tc>
                  <a:txBody>
                    <a:bodyPr/>
                    <a:lstStyle/>
                    <a:p>
                      <a:pPr algn="ctr"/>
                      <a:endParaRPr lang="zh-TW" altLang="en-US" b="0" dirty="0"/>
                    </a:p>
                  </a:txBody>
                  <a:tcPr>
                    <a:solidFill>
                      <a:srgbClr val="00B050"/>
                    </a:solidFill>
                  </a:tcPr>
                </a:tc>
                <a:extLst>
                  <a:ext uri="{0D108BD9-81ED-4DB2-BD59-A6C34878D82A}">
                    <a16:rowId xmlns:a16="http://schemas.microsoft.com/office/drawing/2014/main" val="3369287171"/>
                  </a:ext>
                </a:extLst>
              </a:tr>
              <a:tr h="351044">
                <a:tc vMerge="1">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solidFill>
                      <a:schemeClr val="bg1">
                        <a:lumMod val="65000"/>
                      </a:schemeClr>
                    </a:solidFill>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r>
                        <a:rPr lang="zh-TW" altLang="en-US" b="0" dirty="0"/>
                        <a:t>ｂ</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r>
                        <a:rPr lang="zh-TW" altLang="en-US" b="0" dirty="0"/>
                        <a:t>ｃ</a:t>
                      </a:r>
                    </a:p>
                  </a:txBody>
                  <a:tcPr>
                    <a:solidFill>
                      <a:schemeClr val="bg1"/>
                    </a:solidFill>
                  </a:tcPr>
                </a:tc>
                <a:tc>
                  <a:txBody>
                    <a:bodyPr/>
                    <a:lstStyle/>
                    <a:p>
                      <a:pPr algn="ctr"/>
                      <a:r>
                        <a:rPr lang="zh-TW" altLang="en-US" b="0" dirty="0"/>
                        <a:t>ｘ</a:t>
                      </a:r>
                    </a:p>
                  </a:txBody>
                  <a:tcPr>
                    <a:solidFill>
                      <a:schemeClr val="bg1"/>
                    </a:solidFill>
                  </a:tcPr>
                </a:tc>
                <a:tc>
                  <a:txBody>
                    <a:bodyPr/>
                    <a:lstStyle/>
                    <a:p>
                      <a:pPr algn="ctr"/>
                      <a:r>
                        <a:rPr lang="zh-TW" altLang="en-US" b="0" dirty="0"/>
                        <a:t>ａ</a:t>
                      </a:r>
                    </a:p>
                  </a:txBody>
                  <a:tcPr>
                    <a:solidFill>
                      <a:schemeClr val="bg1"/>
                    </a:solidFill>
                  </a:tcPr>
                </a:tc>
                <a:tc>
                  <a:txBody>
                    <a:bodyPr/>
                    <a:lstStyle/>
                    <a:p>
                      <a:pPr algn="ctr"/>
                      <a:r>
                        <a:rPr lang="zh-TW" altLang="en-US" b="0" dirty="0"/>
                        <a:t>ｂ</a:t>
                      </a:r>
                    </a:p>
                  </a:txBody>
                  <a:tcPr>
                    <a:solidFill>
                      <a:schemeClr val="bg1"/>
                    </a:solidFill>
                  </a:tcPr>
                </a:tc>
                <a:tc>
                  <a:txBody>
                    <a:bodyPr/>
                    <a:lstStyle/>
                    <a:p>
                      <a:pPr algn="ctr"/>
                      <a:r>
                        <a:rPr lang="zh-TW" altLang="en-US" b="0" dirty="0"/>
                        <a:t>ａ</a:t>
                      </a:r>
                    </a:p>
                  </a:txBody>
                  <a:tcPr>
                    <a:solidFill>
                      <a:schemeClr val="bg1"/>
                    </a:solidFill>
                  </a:tcPr>
                </a:tc>
                <a:extLst>
                  <a:ext uri="{0D108BD9-81ED-4DB2-BD59-A6C34878D82A}">
                    <a16:rowId xmlns:a16="http://schemas.microsoft.com/office/drawing/2014/main" val="3872106905"/>
                  </a:ext>
                </a:extLst>
              </a:tr>
            </a:tbl>
          </a:graphicData>
        </a:graphic>
      </p:graphicFrame>
      <p:sp>
        <p:nvSpPr>
          <p:cNvPr id="3" name="矩形 2">
            <a:extLst>
              <a:ext uri="{FF2B5EF4-FFF2-40B4-BE49-F238E27FC236}">
                <a16:creationId xmlns:a16="http://schemas.microsoft.com/office/drawing/2014/main" id="{B3A75805-C573-493C-B761-4F1D6CBC3FF6}"/>
              </a:ext>
            </a:extLst>
          </p:cNvPr>
          <p:cNvSpPr/>
          <p:nvPr/>
        </p:nvSpPr>
        <p:spPr>
          <a:xfrm>
            <a:off x="7989903" y="958788"/>
            <a:ext cx="1065320" cy="642199"/>
          </a:xfrm>
          <a:prstGeom prst="rect">
            <a:avLst/>
          </a:prstGeom>
          <a:noFill/>
          <a:ln w="381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13CC1973-9400-4767-AC7C-3925D86D4A43}"/>
              </a:ext>
            </a:extLst>
          </p:cNvPr>
          <p:cNvSpPr/>
          <p:nvPr/>
        </p:nvSpPr>
        <p:spPr>
          <a:xfrm>
            <a:off x="8371643" y="3703115"/>
            <a:ext cx="683580" cy="642199"/>
          </a:xfrm>
          <a:prstGeom prst="rect">
            <a:avLst/>
          </a:prstGeom>
          <a:noFill/>
          <a:ln w="381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cxnSp>
        <p:nvCxnSpPr>
          <p:cNvPr id="7" name="直線單箭頭接點 6">
            <a:extLst>
              <a:ext uri="{FF2B5EF4-FFF2-40B4-BE49-F238E27FC236}">
                <a16:creationId xmlns:a16="http://schemas.microsoft.com/office/drawing/2014/main" id="{F3B22C27-971B-42A4-B2EF-DF4A758807F7}"/>
              </a:ext>
            </a:extLst>
          </p:cNvPr>
          <p:cNvCxnSpPr>
            <a:cxnSpLocks/>
          </p:cNvCxnSpPr>
          <p:nvPr/>
        </p:nvCxnSpPr>
        <p:spPr>
          <a:xfrm flipH="1">
            <a:off x="7989903" y="4345314"/>
            <a:ext cx="723530" cy="1139582"/>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矩形 8">
            <a:extLst>
              <a:ext uri="{FF2B5EF4-FFF2-40B4-BE49-F238E27FC236}">
                <a16:creationId xmlns:a16="http://schemas.microsoft.com/office/drawing/2014/main" id="{CEE88756-DB7D-475A-AA64-FC2B89F557C6}"/>
              </a:ext>
            </a:extLst>
          </p:cNvPr>
          <p:cNvSpPr/>
          <p:nvPr/>
        </p:nvSpPr>
        <p:spPr>
          <a:xfrm>
            <a:off x="7648113" y="5484896"/>
            <a:ext cx="683580" cy="642199"/>
          </a:xfrm>
          <a:prstGeom prst="rect">
            <a:avLst/>
          </a:prstGeom>
          <a:noFill/>
          <a:ln w="381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957479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0A43ED-8D65-4E81-B724-9DDC04EDDF0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Pseudo Code</a:t>
            </a:r>
            <a:endParaRPr lang="zh-TW" altLang="en-US"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67E1309D-95FC-42FA-9F6E-6E7781784694}"/>
              </a:ext>
            </a:extLst>
          </p:cNvPr>
          <p:cNvPicPr>
            <a:picLocks noChangeAspect="1"/>
          </p:cNvPicPr>
          <p:nvPr/>
        </p:nvPicPr>
        <p:blipFill>
          <a:blip r:embed="rId2"/>
          <a:stretch>
            <a:fillRect/>
          </a:stretch>
        </p:blipFill>
        <p:spPr>
          <a:xfrm>
            <a:off x="1502267" y="1451975"/>
            <a:ext cx="4393441" cy="5368317"/>
          </a:xfrm>
          <a:prstGeom prst="rect">
            <a:avLst/>
          </a:prstGeom>
        </p:spPr>
      </p:pic>
      <p:pic>
        <p:nvPicPr>
          <p:cNvPr id="7" name="圖片 6">
            <a:extLst>
              <a:ext uri="{FF2B5EF4-FFF2-40B4-BE49-F238E27FC236}">
                <a16:creationId xmlns:a16="http://schemas.microsoft.com/office/drawing/2014/main" id="{4AE316B9-9B8E-461A-9729-E8AFA5CCFEE3}"/>
              </a:ext>
            </a:extLst>
          </p:cNvPr>
          <p:cNvPicPr>
            <a:picLocks noChangeAspect="1"/>
          </p:cNvPicPr>
          <p:nvPr/>
        </p:nvPicPr>
        <p:blipFill>
          <a:blip r:embed="rId3"/>
          <a:stretch>
            <a:fillRect/>
          </a:stretch>
        </p:blipFill>
        <p:spPr>
          <a:xfrm>
            <a:off x="6842369" y="814816"/>
            <a:ext cx="4511431" cy="6043184"/>
          </a:xfrm>
          <a:prstGeom prst="rect">
            <a:avLst/>
          </a:prstGeom>
        </p:spPr>
      </p:pic>
    </p:spTree>
    <p:extLst>
      <p:ext uri="{BB962C8B-B14F-4D97-AF65-F5344CB8AC3E}">
        <p14:creationId xmlns:p14="http://schemas.microsoft.com/office/powerpoint/2010/main" val="743900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3FD01B-8BF9-4DE0-BB46-14F93D96D6C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9F074EF-1E71-4765-8507-C45C67328601}"/>
              </a:ext>
            </a:extLst>
          </p:cNvPr>
          <p:cNvSpPr>
            <a:spLocks noGrp="1"/>
          </p:cNvSpPr>
          <p:nvPr>
            <p:ph idx="1"/>
          </p:nvPr>
        </p:nvSpPr>
        <p:spPr>
          <a:xfrm>
            <a:off x="838200" y="1825625"/>
            <a:ext cx="10515600" cy="4351338"/>
          </a:xfrm>
        </p:spPr>
        <p:txBody>
          <a:bodyPr/>
          <a:lstStyle/>
          <a:p>
            <a:pPr marL="0" indent="0">
              <a:buNone/>
            </a:pPr>
            <a:r>
              <a:rPr lang="en-US" altLang="zh-TW" dirty="0">
                <a:latin typeface="Times New Roman" panose="02020603050405020304" pitchFamily="18" charset="0"/>
                <a:cs typeface="Times New Roman" panose="02020603050405020304" pitchFamily="18" charset="0"/>
              </a:rPr>
              <a:t>S is a string of size m, P is a string of size n, n &lt; m</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Best : O(m)</a:t>
            </a:r>
          </a:p>
          <a:p>
            <a:pPr marL="0" indent="0">
              <a:buNone/>
            </a:pPr>
            <a:r>
              <a:rPr lang="zh-TW" altLang="en-US" b="1" dirty="0">
                <a:latin typeface="Times New Roman" panose="02020603050405020304" pitchFamily="18" charset="0"/>
                <a:cs typeface="Times New Roman" panose="02020603050405020304" pitchFamily="18" charset="0"/>
              </a:rPr>
              <a:t>Ｓ＝ｂａｃｘａｂａ</a:t>
            </a:r>
            <a:endParaRPr lang="en-US" altLang="zh-TW" b="1"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Ｐ＝ｂａｃｘａｂａ</a:t>
            </a:r>
          </a:p>
        </p:txBody>
      </p:sp>
    </p:spTree>
    <p:extLst>
      <p:ext uri="{BB962C8B-B14F-4D97-AF65-F5344CB8AC3E}">
        <p14:creationId xmlns:p14="http://schemas.microsoft.com/office/powerpoint/2010/main" val="330819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3FD01B-8BF9-4DE0-BB46-14F93D96D6C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9F074EF-1E71-4765-8507-C45C67328601}"/>
              </a:ext>
            </a:extLst>
          </p:cNvPr>
          <p:cNvSpPr>
            <a:spLocks noGrp="1"/>
          </p:cNvSpPr>
          <p:nvPr>
            <p:ph idx="1"/>
          </p:nvPr>
        </p:nvSpPr>
        <p:spPr>
          <a:xfrm>
            <a:off x="838200" y="1825625"/>
            <a:ext cx="10515600" cy="4667250"/>
          </a:xfrm>
        </p:spPr>
        <p:txBody>
          <a:bodyPr>
            <a:normAutofit fontScale="85000" lnSpcReduction="20000"/>
          </a:bodyPr>
          <a:lstStyle/>
          <a:p>
            <a:pPr marL="0" indent="0">
              <a:buNone/>
            </a:pPr>
            <a:r>
              <a:rPr lang="en-US" altLang="zh-TW" dirty="0">
                <a:latin typeface="Times New Roman" panose="02020603050405020304" pitchFamily="18" charset="0"/>
                <a:cs typeface="Times New Roman" panose="02020603050405020304" pitchFamily="18" charset="0"/>
              </a:rPr>
              <a:t>S is a string of size m, P is a string of size n, n &lt; m</a:t>
            </a:r>
          </a:p>
          <a:p>
            <a:pPr marL="0" indent="0">
              <a:buNone/>
            </a:pPr>
            <a:r>
              <a:rPr lang="en-US" altLang="zh-TW" dirty="0">
                <a:latin typeface="Times New Roman" panose="02020603050405020304" pitchFamily="18" charset="0"/>
                <a:cs typeface="Times New Roman" panose="02020603050405020304" pitchFamily="18" charset="0"/>
              </a:rPr>
              <a:t>Worst : O(</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(m-n+1)(n-1) )</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Ｓ＝ａａａａａａａａａａａａａ      </a:t>
            </a:r>
            <a:r>
              <a:rPr lang="en-US" altLang="zh-TW" dirty="0">
                <a:latin typeface="Times New Roman" panose="02020603050405020304" pitchFamily="18" charset="0"/>
                <a:cs typeface="Times New Roman" panose="02020603050405020304" pitchFamily="18" charset="0"/>
              </a:rPr>
              <a:t>, m = 13</a:t>
            </a:r>
          </a:p>
          <a:p>
            <a:pPr marL="0" indent="0">
              <a:buNone/>
            </a:pPr>
            <a:r>
              <a:rPr lang="zh-TW" altLang="en-US" b="1" dirty="0">
                <a:latin typeface="Times New Roman" panose="02020603050405020304" pitchFamily="18" charset="0"/>
                <a:cs typeface="Times New Roman" panose="02020603050405020304" pitchFamily="18" charset="0"/>
              </a:rPr>
              <a:t>Ｐ＝ａｘａａａａａａａａａａ          </a:t>
            </a:r>
            <a:r>
              <a:rPr lang="en-US" altLang="zh-TW" dirty="0">
                <a:latin typeface="Times New Roman" panose="02020603050405020304" pitchFamily="18" charset="0"/>
                <a:cs typeface="Times New Roman" panose="02020603050405020304" pitchFamily="18" charset="0"/>
              </a:rPr>
              <a:t>, n = 12</a:t>
            </a:r>
          </a:p>
          <a:p>
            <a:pPr marL="0" indent="0">
              <a:buNone/>
            </a:pPr>
            <a:r>
              <a:rPr lang="zh-TW" altLang="en-US" b="1" dirty="0">
                <a:latin typeface="Times New Roman" panose="02020603050405020304" pitchFamily="18" charset="0"/>
                <a:cs typeface="Times New Roman" panose="02020603050405020304" pitchFamily="18" charset="0"/>
              </a:rPr>
              <a:t>Ｃ＝　１０９８７６５４３２１</a:t>
            </a:r>
            <a:endParaRPr lang="en-US" altLang="zh-TW" b="1" dirty="0">
              <a:latin typeface="Times New Roman" panose="02020603050405020304" pitchFamily="18" charset="0"/>
              <a:cs typeface="Times New Roman" panose="02020603050405020304" pitchFamily="18" charset="0"/>
            </a:endParaRPr>
          </a:p>
          <a:p>
            <a:pPr marL="0" indent="0">
              <a:buNone/>
            </a:pPr>
            <a:endParaRPr lang="en-US" altLang="zh-TW" b="1" dirty="0">
              <a:latin typeface="Times New Roman" panose="02020603050405020304" pitchFamily="18" charset="0"/>
              <a:cs typeface="Times New Roman" panose="02020603050405020304" pitchFamily="18" charset="0"/>
            </a:endParaRPr>
          </a:p>
          <a:p>
            <a:pPr marL="0" indent="0">
              <a:buNone/>
            </a:pPr>
            <a:r>
              <a:rPr lang="zh-TW" altLang="en-US" b="1" dirty="0">
                <a:latin typeface="Times New Roman" panose="02020603050405020304" pitchFamily="18" charset="0"/>
                <a:cs typeface="Times New Roman" panose="02020603050405020304" pitchFamily="18" charset="0"/>
              </a:rPr>
              <a:t>Ｓ＝ａａａａａａａａａａａａａ      </a:t>
            </a:r>
            <a:r>
              <a:rPr lang="en-US" altLang="zh-TW" dirty="0">
                <a:latin typeface="Times New Roman" panose="02020603050405020304" pitchFamily="18" charset="0"/>
                <a:cs typeface="Times New Roman" panose="02020603050405020304" pitchFamily="18" charset="0"/>
              </a:rPr>
              <a:t>, m = 13</a:t>
            </a:r>
          </a:p>
          <a:p>
            <a:pPr marL="0" indent="0">
              <a:buNone/>
            </a:pPr>
            <a:r>
              <a:rPr lang="zh-TW" altLang="en-US" b="1" dirty="0">
                <a:latin typeface="Times New Roman" panose="02020603050405020304" pitchFamily="18" charset="0"/>
                <a:cs typeface="Times New Roman" panose="02020603050405020304" pitchFamily="18" charset="0"/>
              </a:rPr>
              <a:t>Ｐ＝　ａｘａａａａａａａａａａ      </a:t>
            </a:r>
            <a:r>
              <a:rPr lang="en-US" altLang="zh-TW" dirty="0">
                <a:latin typeface="Times New Roman" panose="02020603050405020304" pitchFamily="18" charset="0"/>
                <a:cs typeface="Times New Roman" panose="02020603050405020304" pitchFamily="18" charset="0"/>
              </a:rPr>
              <a:t>, n = 12</a:t>
            </a:r>
          </a:p>
          <a:p>
            <a:pPr marL="0" indent="0">
              <a:buNone/>
            </a:pPr>
            <a:r>
              <a:rPr lang="zh-TW" altLang="en-US" b="1" dirty="0">
                <a:latin typeface="Times New Roman" panose="02020603050405020304" pitchFamily="18" charset="0"/>
                <a:cs typeface="Times New Roman" panose="02020603050405020304" pitchFamily="18" charset="0"/>
              </a:rPr>
              <a:t>Ｃ＝　　２１０９８７６５４３２</a:t>
            </a:r>
            <a:endParaRPr lang="en-US" altLang="zh-TW" b="1"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zh-TW" altLang="en-US" dirty="0">
                <a:latin typeface="標楷體" panose="03000509000000000000" pitchFamily="65" charset="-120"/>
                <a:ea typeface="標楷體" panose="03000509000000000000" pitchFamily="65" charset="-120"/>
                <a:cs typeface="Times New Roman" panose="02020603050405020304" pitchFamily="18" charset="0"/>
              </a:rPr>
              <a:t>共</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m-n+1</a:t>
            </a:r>
            <a:r>
              <a:rPr lang="zh-TW" altLang="en-US" dirty="0">
                <a:latin typeface="Times New Roman" panose="02020603050405020304" pitchFamily="18" charset="0"/>
                <a:cs typeface="Times New Roman" panose="02020603050405020304" pitchFamily="18" charset="0"/>
              </a:rPr>
              <a:t> </a:t>
            </a:r>
            <a:r>
              <a:rPr lang="zh-TW" altLang="en-US" dirty="0">
                <a:latin typeface="標楷體" panose="03000509000000000000" pitchFamily="65" charset="-120"/>
                <a:ea typeface="標楷體" panose="03000509000000000000" pitchFamily="65" charset="-120"/>
                <a:cs typeface="Times New Roman" panose="02020603050405020304" pitchFamily="18" charset="0"/>
              </a:rPr>
              <a:t>個</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phase(s)</a:t>
            </a:r>
            <a:r>
              <a:rPr lang="zh-TW" altLang="en-US" dirty="0">
                <a:latin typeface="標楷體" panose="03000509000000000000" pitchFamily="65" charset="-120"/>
                <a:ea typeface="標楷體" panose="03000509000000000000" pitchFamily="65" charset="-120"/>
                <a:cs typeface="Times New Roman" panose="02020603050405020304" pitchFamily="18" charset="0"/>
              </a:rPr>
              <a:t>，每次需比較 </a:t>
            </a:r>
            <a:r>
              <a:rPr lang="en-US" altLang="zh-TW" dirty="0">
                <a:latin typeface="Times New Roman" panose="02020603050405020304" pitchFamily="18" charset="0"/>
                <a:cs typeface="Times New Roman" panose="02020603050405020304" pitchFamily="18" charset="0"/>
              </a:rPr>
              <a:t>n-1 </a:t>
            </a:r>
            <a:r>
              <a:rPr lang="zh-TW" altLang="en-US" dirty="0">
                <a:latin typeface="標楷體" panose="03000509000000000000" pitchFamily="65" charset="-120"/>
                <a:ea typeface="標楷體" panose="03000509000000000000" pitchFamily="65" charset="-120"/>
                <a:cs typeface="Times New Roman" panose="02020603050405020304" pitchFamily="18" charset="0"/>
              </a:rPr>
              <a:t>次</a:t>
            </a:r>
          </a:p>
        </p:txBody>
      </p:sp>
    </p:spTree>
    <p:extLst>
      <p:ext uri="{BB962C8B-B14F-4D97-AF65-F5344CB8AC3E}">
        <p14:creationId xmlns:p14="http://schemas.microsoft.com/office/powerpoint/2010/main" val="38409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410F1B-34EA-44C5-86B6-4CAFA5C598D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9043112A-B035-43A6-86CB-04EE8AF50586}"/>
              </a:ext>
            </a:extLst>
          </p:cNvPr>
          <p:cNvPicPr>
            <a:picLocks noChangeAspect="1"/>
          </p:cNvPicPr>
          <p:nvPr/>
        </p:nvPicPr>
        <p:blipFill>
          <a:blip r:embed="rId2"/>
          <a:stretch>
            <a:fillRect/>
          </a:stretch>
        </p:blipFill>
        <p:spPr>
          <a:xfrm>
            <a:off x="443857" y="2143175"/>
            <a:ext cx="5840548" cy="3240000"/>
          </a:xfrm>
          <a:prstGeom prst="rect">
            <a:avLst/>
          </a:prstGeom>
        </p:spPr>
      </p:pic>
      <p:pic>
        <p:nvPicPr>
          <p:cNvPr id="5" name="圖片 4">
            <a:extLst>
              <a:ext uri="{FF2B5EF4-FFF2-40B4-BE49-F238E27FC236}">
                <a16:creationId xmlns:a16="http://schemas.microsoft.com/office/drawing/2014/main" id="{529FB5A0-2C12-4D90-82D5-B0011DDB28DC}"/>
              </a:ext>
            </a:extLst>
          </p:cNvPr>
          <p:cNvPicPr>
            <a:picLocks noChangeAspect="1"/>
          </p:cNvPicPr>
          <p:nvPr/>
        </p:nvPicPr>
        <p:blipFill>
          <a:blip r:embed="rId3"/>
          <a:stretch>
            <a:fillRect/>
          </a:stretch>
        </p:blipFill>
        <p:spPr>
          <a:xfrm>
            <a:off x="6379684" y="2058424"/>
            <a:ext cx="5617685" cy="3240000"/>
          </a:xfrm>
          <a:prstGeom prst="rect">
            <a:avLst/>
          </a:prstGeom>
        </p:spPr>
      </p:pic>
    </p:spTree>
    <p:extLst>
      <p:ext uri="{BB962C8B-B14F-4D97-AF65-F5344CB8AC3E}">
        <p14:creationId xmlns:p14="http://schemas.microsoft.com/office/powerpoint/2010/main" val="397660245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TotalTime>
  <Words>1730</Words>
  <Application>Microsoft Office PowerPoint</Application>
  <PresentationFormat>寬螢幕</PresentationFormat>
  <Paragraphs>1019</Paragraphs>
  <Slides>22</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22</vt:i4>
      </vt:variant>
    </vt:vector>
  </HeadingPairs>
  <TitlesOfParts>
    <vt:vector size="28" baseType="lpstr">
      <vt:lpstr>標楷體</vt:lpstr>
      <vt:lpstr>Arial</vt:lpstr>
      <vt:lpstr>Calibri</vt:lpstr>
      <vt:lpstr>Calibri Light</vt:lpstr>
      <vt:lpstr>Times New Roman</vt:lpstr>
      <vt:lpstr>Office 佈景主題</vt:lpstr>
      <vt:lpstr>A New String Matching Algorithm Based on Logical Indexing</vt:lpstr>
      <vt:lpstr>Abstract(1/2)</vt:lpstr>
      <vt:lpstr>Abstract(2/2)</vt:lpstr>
      <vt:lpstr>Term</vt:lpstr>
      <vt:lpstr>Shift Rules(1/4)</vt:lpstr>
      <vt:lpstr>Shift Rules(2/4)</vt:lpstr>
      <vt:lpstr>Shift Rules(3/4)</vt:lpstr>
      <vt:lpstr>Shift Rules(4/4)</vt:lpstr>
      <vt:lpstr>Preprocessing</vt:lpstr>
      <vt:lpstr>Preprocessing</vt:lpstr>
      <vt:lpstr>Match(1/6) – Margin Jumping </vt:lpstr>
      <vt:lpstr>Match(2/6) – Single-Match</vt:lpstr>
      <vt:lpstr>Match(3/6) – Full Jumping</vt:lpstr>
      <vt:lpstr>Match(4/6) – Matched Jumping</vt:lpstr>
      <vt:lpstr>Match(5/6) – Margin Jumping </vt:lpstr>
      <vt:lpstr>Match(6/6)</vt:lpstr>
      <vt:lpstr>Compare</vt:lpstr>
      <vt:lpstr>Compare</vt:lpstr>
      <vt:lpstr>Pseudo Code</vt:lpstr>
      <vt:lpstr>Time Complexity</vt:lpstr>
      <vt:lpstr>Time Complexity</vt:lpstr>
      <vt:lpstr>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String Matching Algorithm Based on Logical Indexing</dc:title>
  <dc:creator>育誠 張</dc:creator>
  <cp:lastModifiedBy>育誠 張</cp:lastModifiedBy>
  <cp:revision>252</cp:revision>
  <dcterms:created xsi:type="dcterms:W3CDTF">2020-01-13T05:19:55Z</dcterms:created>
  <dcterms:modified xsi:type="dcterms:W3CDTF">2020-01-14T05:48:33Z</dcterms:modified>
</cp:coreProperties>
</file>