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6" r:id="rId5"/>
    <p:sldId id="259" r:id="rId6"/>
    <p:sldId id="260" r:id="rId7"/>
    <p:sldId id="261" r:id="rId8"/>
    <p:sldId id="268" r:id="rId9"/>
    <p:sldId id="267" r:id="rId10"/>
    <p:sldId id="263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186186C-64BA-44FD-9B78-555D693B99E1}">
          <p14:sldIdLst>
            <p14:sldId id="256"/>
            <p14:sldId id="257"/>
            <p14:sldId id="258"/>
            <p14:sldId id="276"/>
            <p14:sldId id="259"/>
            <p14:sldId id="260"/>
            <p14:sldId id="261"/>
            <p14:sldId id="268"/>
            <p14:sldId id="267"/>
            <p14:sldId id="263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381D9"/>
    <a:srgbClr val="934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89059" autoAdjust="0"/>
  </p:normalViewPr>
  <p:slideViewPr>
    <p:cSldViewPr snapToGrid="0">
      <p:cViewPr varScale="1">
        <p:scale>
          <a:sx n="64" d="100"/>
          <a:sy n="64" d="100"/>
        </p:scale>
        <p:origin x="864" y="66"/>
      </p:cViewPr>
      <p:guideLst/>
    </p:cSldViewPr>
  </p:slideViewPr>
  <p:outlineViewPr>
    <p:cViewPr>
      <p:scale>
        <a:sx n="33" d="100"/>
        <a:sy n="33" d="100"/>
      </p:scale>
      <p:origin x="0" y="-954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033D0-5A25-41C7-969A-EF5F7C649CD4}" type="datetimeFigureOut">
              <a:rPr lang="zh-TW" altLang="en-US" smtClean="0"/>
              <a:t>2020/9/1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9F1D4-CE95-410B-B0BC-C775142743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86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000" b="0" i="0" u="sng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Maxime </a:t>
            </a:r>
            <a:r>
              <a:rPr lang="en-US" altLang="zh-TW" sz="2000" b="0" i="0" u="sng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Crochemore</a:t>
            </a:r>
            <a:r>
              <a:rPr lang="en-US" altLang="zh-TW" sz="2000" b="0" i="0" u="sng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:</a:t>
            </a:r>
            <a:r>
              <a:rPr lang="zh-TW" altLang="en-US" sz="2000" b="0" i="0" u="sng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TW" sz="2000" b="0" i="0" u="sng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zh-TW" altLang="en-US" sz="2000" b="0" i="0" u="sng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法國人</a:t>
            </a:r>
            <a:r>
              <a:rPr lang="en-US" altLang="zh-TW" sz="2000" b="0" i="0" u="sng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r>
              <a:rPr lang="en-US" altLang="zh-TW" sz="1800" b="0" i="0" u="none" strike="noStrike" baseline="0" dirty="0">
                <a:latin typeface="Gulliver-Italic"/>
              </a:rPr>
              <a:t>King’s College London, Strand, London WC2R 2LS, UK   (</a:t>
            </a:r>
            <a:r>
              <a:rPr lang="zh-TW" altLang="en-US" sz="1800" b="0" i="0" u="none" strike="noStrike" baseline="0" dirty="0">
                <a:latin typeface="Gulliver-Italic"/>
              </a:rPr>
              <a:t>倫敦國王大學</a:t>
            </a:r>
            <a:r>
              <a:rPr lang="en-US" altLang="zh-TW" sz="1800" b="0" i="0" u="none" strike="noStrike" baseline="0" dirty="0">
                <a:latin typeface="Gulliver-Italic"/>
              </a:rPr>
              <a:t>)</a:t>
            </a:r>
            <a:endParaRPr lang="en-US" altLang="zh-TW" sz="2000" b="0" i="0" u="sng" strike="noStrike" baseline="0" dirty="0">
              <a:solidFill>
                <a:srgbClr val="4D5156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TW" sz="1800" b="0" i="0" u="none" strike="noStrike" baseline="0" dirty="0" err="1">
                <a:latin typeface="Gulliver-Italic"/>
              </a:rPr>
              <a:t>Université</a:t>
            </a:r>
            <a:r>
              <a:rPr lang="en-US" altLang="zh-TW" sz="1800" b="0" i="0" u="none" strike="noStrike" baseline="0" dirty="0">
                <a:latin typeface="Gulliver-Italic"/>
              </a:rPr>
              <a:t> Paris-Est, France</a:t>
            </a:r>
            <a:r>
              <a:rPr lang="zh-TW" altLang="en-US" sz="1800" b="0" i="0" u="none" strike="noStrike" baseline="0" dirty="0">
                <a:latin typeface="Gulliver-Italic"/>
              </a:rPr>
              <a:t>   </a:t>
            </a:r>
            <a:r>
              <a:rPr lang="en-US" altLang="zh-TW" sz="1800" b="0" i="0" u="none" strike="noStrike" baseline="0" dirty="0">
                <a:latin typeface="Gulliver-Italic"/>
              </a:rPr>
              <a:t>(</a:t>
            </a:r>
            <a:r>
              <a:rPr lang="zh-TW" altLang="en-US" sz="1800" b="0" i="0" u="none" strike="noStrike" baseline="0" dirty="0">
                <a:latin typeface="Gulliver-Italic"/>
              </a:rPr>
              <a:t>法國東巴黎大學</a:t>
            </a:r>
            <a:r>
              <a:rPr lang="en-US" altLang="zh-TW" sz="1800" b="0" i="0" u="none" strike="noStrike" baseline="0" dirty="0">
                <a:latin typeface="Gulliver-Italic"/>
              </a:rPr>
              <a:t>)</a:t>
            </a:r>
          </a:p>
          <a:p>
            <a:endParaRPr lang="en-US" altLang="zh-TW" sz="1800" b="0" i="0" u="none" strike="noStrike" baseline="0" dirty="0">
              <a:solidFill>
                <a:srgbClr val="4D5156"/>
              </a:solidFill>
              <a:effectLst/>
              <a:latin typeface="Gulliver-Italic"/>
            </a:endParaRPr>
          </a:p>
          <a:p>
            <a:r>
              <a:rPr lang="en-US" altLang="zh-TW" sz="1800" b="0" i="0" u="none" strike="noStrike" baseline="0" dirty="0">
                <a:solidFill>
                  <a:srgbClr val="4D5156"/>
                </a:solidFill>
                <a:effectLst/>
                <a:latin typeface="Gulliver-Italic"/>
              </a:rPr>
              <a:t>Ely </a:t>
            </a:r>
            <a:r>
              <a:rPr lang="en-US" altLang="zh-TW" sz="1800" b="0" i="0" u="none" strike="noStrike" baseline="0" dirty="0" err="1">
                <a:solidFill>
                  <a:srgbClr val="4D5156"/>
                </a:solidFill>
                <a:effectLst/>
                <a:latin typeface="Gulliver-Italic"/>
              </a:rPr>
              <a:t>Porat</a:t>
            </a:r>
            <a:r>
              <a:rPr lang="en-US" altLang="zh-TW" sz="1800" b="0" i="0" u="none" strike="noStrike" baseline="0" dirty="0">
                <a:solidFill>
                  <a:srgbClr val="4D5156"/>
                </a:solidFill>
                <a:effectLst/>
                <a:latin typeface="Gulliver-Italic"/>
              </a:rPr>
              <a:t>:</a:t>
            </a:r>
          </a:p>
          <a:p>
            <a:r>
              <a:rPr lang="zh-TW" altLang="en-US" sz="3200" b="0" i="0" dirty="0">
                <a:effectLst/>
                <a:latin typeface="arial" panose="020B0604020202020204" pitchFamily="34" charset="0"/>
              </a:rPr>
              <a:t>巴伊蘭大學 </a:t>
            </a:r>
            <a:r>
              <a:rPr lang="en-US" altLang="zh-TW" sz="3200" b="0" i="0" dirty="0">
                <a:effectLst/>
                <a:latin typeface="arial" panose="020B0604020202020204" pitchFamily="34" charset="0"/>
              </a:rPr>
              <a:t>(Bar-</a:t>
            </a:r>
            <a:r>
              <a:rPr lang="en-US" altLang="zh-TW" sz="3200" b="0" i="0" dirty="0" err="1">
                <a:effectLst/>
                <a:latin typeface="arial" panose="020B0604020202020204" pitchFamily="34" charset="0"/>
              </a:rPr>
              <a:t>Ilan</a:t>
            </a:r>
            <a:r>
              <a:rPr lang="en-US" altLang="zh-TW" sz="3200" b="0" i="0" dirty="0">
                <a:effectLst/>
                <a:latin typeface="arial" panose="020B0604020202020204" pitchFamily="34" charset="0"/>
              </a:rPr>
              <a:t> University) </a:t>
            </a:r>
            <a:r>
              <a:rPr lang="zh-TW" altLang="en-US" sz="3200" b="0" i="0" dirty="0">
                <a:effectLst/>
                <a:latin typeface="arial" panose="020B0604020202020204" pitchFamily="34" charset="0"/>
              </a:rPr>
              <a:t>以色列</a:t>
            </a:r>
            <a:endParaRPr lang="en-US" altLang="zh-TW" sz="2000" b="0" i="0" u="sng" strike="noStrike" baseline="0" dirty="0">
              <a:solidFill>
                <a:srgbClr val="4D5156"/>
              </a:solidFill>
              <a:effectLst/>
              <a:latin typeface="arial" panose="020B0604020202020204" pitchFamily="34" charset="0"/>
            </a:endParaRPr>
          </a:p>
          <a:p>
            <a:endParaRPr lang="en-US" altLang="zh-TW" sz="2000" b="0" i="0" u="sng" dirty="0">
              <a:solidFill>
                <a:srgbClr val="4D515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474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972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857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43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5644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8036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2937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1204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2586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813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D6350-B6ED-41FC-9D7E-7F401D1D3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0C62AA-5FAB-4981-A45A-1A8517CA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50ED99-A302-4A55-B3DF-54415272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77494-B569-42CD-88D2-0988ED58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DF940-0364-4C9B-9D2E-F53DCBCF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64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92AC1-9699-4F08-B315-69E76AA0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B8D7B-403B-4E87-82BF-F03CE7156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124561-057D-4469-9AB5-4C6597D3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CA6533-3974-4E64-AB88-349851F8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1307E2-178E-4165-A305-28B31527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83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4F4D4-9F65-4A3C-90CA-5E6012D4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05989C-B6AE-485E-B909-2AACC4420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F143C1-A721-46A9-8DA4-CBAF6D76D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B4BB70-EBF3-4E15-B0D9-362EC635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2C94A2-8B8A-4F73-8AB7-9086E29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69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F601E-8FD2-4C96-84ED-A1535992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58968-2AA4-47D9-8EE7-25EB5B574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B8EEDE-671F-4288-8102-60AF3949E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C4633D-0EA1-483A-BCAE-A2C11947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9957CD-A76F-4E8A-A600-37A8E89B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CD5A3C-70C9-4468-805A-3216FAD5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28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8B42B-89C1-47C8-B9DF-997A8833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3EC08FF-5F84-4CC0-B4E9-D623E4AC3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51DA6E-7A90-4DB0-9126-5CC8C4B06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A7D7BB7-2FC8-4BE2-A1A4-57D098F58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64E82F7-2C0E-4490-AD80-0749C7C5B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137E754-7BA1-463B-94AE-94931351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80C5EB-E691-4156-928C-26330C6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A806DF-D52B-4FB1-971E-F10E0C2D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63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C3BD06-DAE3-4E3E-B6B3-64819162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7A04491-282C-4221-A3EF-28A94F78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1379CA-0E38-42B7-BE99-6B584783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B7507D-DFF5-48B7-9C10-7C05EE38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72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B1D52D3-FF08-4F05-AE9A-D07E40E7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2090C79-D9CF-4D2A-85D5-EBCD12C0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EFD9B8-B153-43FE-B1B0-FDFA1939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37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17D1F5-4F45-434A-9699-03158D52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4CFA46-9726-4680-8164-F1258B007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8E2037-0EFD-4F48-A629-1F43D084A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FA2B0E-7569-4EE9-B847-3B3B3E00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A74A09-DF0D-4516-9B6E-A1BA4FA5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E58F68-574D-4991-AB67-979AE7EC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71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A608B-EB2D-43E3-806D-315F7F6C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7BB9D9-6CF8-47E2-9613-CFC9E5CFB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DAE305B-85A6-42D3-BDFE-E012EAD5A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33906F-B54E-487C-A495-4EE49A68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FDA8D6-DFC2-44AD-AB91-CCEF4579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7815D7-84B9-4D45-8E5A-58AFEF38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81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63308-F782-4AC8-A223-E354635B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3B59CF-1B41-495A-93CF-6101A5CE7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B80BB1-A83C-4652-BAC8-2B3F681B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07E1EE-E900-4925-B1A8-EE7DD6AF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1F960C-8C3A-496F-B3A0-26297D92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13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0B6D235-6449-4393-9C71-2079D2809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2B0F98-2672-4DE5-827E-1F7351B7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3C27C8-C683-4B57-A443-2B79354B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24A34C-43DD-4DF5-84E9-8562F9B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67B5B2-0E14-4C16-8BB2-353A2AA0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11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747F35C-0173-40E0-88F5-5C85ABA0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18B1AB-6AFD-4952-BDFB-11797FAB9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BCFE33-872D-4C90-867C-8B41F7A90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9E770-9C80-4ED4-983E-8A15F27ADAA7}" type="datetimeFigureOut">
              <a:rPr lang="zh-TW" altLang="en-US" smtClean="0"/>
              <a:t>2020/9/1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0F5102-CD48-4F14-B5B2-F49CC9C34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21C4BF-8ADC-4392-A585-48B57FAFA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82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684BF-5890-4FC5-B196-08274D50E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493" y="1604685"/>
            <a:ext cx="9829014" cy="1348065"/>
          </a:xfrm>
        </p:spPr>
        <p:txBody>
          <a:bodyPr>
            <a:norm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Computation of a Longest Increasing Subsequence and Application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B088C0-E697-4363-A21A-D66DFFC16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56415"/>
            <a:ext cx="11163299" cy="1655762"/>
          </a:xfrm>
        </p:spPr>
        <p:txBody>
          <a:bodyPr>
            <a:noAutofit/>
          </a:bodyPr>
          <a:lstStyle/>
          <a:p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Maxime Crochemore, Ely Porat</a:t>
            </a:r>
          </a:p>
          <a:p>
            <a:endParaRPr lang="de-DE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and Computation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208, Issue 9, September 2010, Pages 1054-1059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EC4D25-9ABF-4EA3-BD8D-ACD84E94CF46}"/>
              </a:ext>
            </a:extLst>
          </p:cNvPr>
          <p:cNvSpPr txBox="1"/>
          <p:nvPr/>
        </p:nvSpPr>
        <p:spPr>
          <a:xfrm>
            <a:off x="8942664" y="5933983"/>
            <a:ext cx="3249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Yu-Cheng Chang</a:t>
            </a:r>
          </a:p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Sept.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1, 2020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0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75771A-477F-4B4A-9278-972CA4C5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ts val="3100"/>
              </a:lnSpc>
              <a:spcBef>
                <a:spcPts val="1800"/>
              </a:spcBef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consider the complexity of computing a longest increasing subsequence (LIS) parameterized by the length of the output. Namely, we show that the maximal length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increasing subsequence of a permutation of the set of integers {1, 2, . . . ,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can be computed in time 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RAM model, improving the previous 30-year bound of 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also improves on the previous 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bound. The optimality of the new bound is an open question. Reducing the computation of a longest common subsequence (LCS) between two strings to an LIS computation leads to a simple 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)-time algorithm for two sequences having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pairs of matching symbols and an LCS of length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8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75771A-477F-4B4A-9278-972CA4C5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12 , 8 , 9 , 1 , 11 , 6 , 7 , 2 , 10 , 4 , 5 , 3 }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{ {1 , 2 , 4 , 5} , {1 , 6 , 7 , 10} }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Complxity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length of LIS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van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Emde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Boas Tree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FC4C44F-B3CB-49F7-894B-28334BACE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94195"/>
              </p:ext>
            </p:extLst>
          </p:nvPr>
        </p:nvGraphicFramePr>
        <p:xfrm>
          <a:off x="7651750" y="696913"/>
          <a:ext cx="3616324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4081">
                  <a:extLst>
                    <a:ext uri="{9D8B030D-6E8A-4147-A177-3AD203B41FA5}">
                      <a16:colId xmlns:a16="http://schemas.microsoft.com/office/drawing/2014/main" val="2532748870"/>
                    </a:ext>
                  </a:extLst>
                </a:gridCol>
                <a:gridCol w="904081">
                  <a:extLst>
                    <a:ext uri="{9D8B030D-6E8A-4147-A177-3AD203B41FA5}">
                      <a16:colId xmlns:a16="http://schemas.microsoft.com/office/drawing/2014/main" val="1131770543"/>
                    </a:ext>
                  </a:extLst>
                </a:gridCol>
                <a:gridCol w="904081">
                  <a:extLst>
                    <a:ext uri="{9D8B030D-6E8A-4147-A177-3AD203B41FA5}">
                      <a16:colId xmlns:a16="http://schemas.microsoft.com/office/drawing/2014/main" val="1998843447"/>
                    </a:ext>
                  </a:extLst>
                </a:gridCol>
                <a:gridCol w="904081">
                  <a:extLst>
                    <a:ext uri="{9D8B030D-6E8A-4147-A177-3AD203B41FA5}">
                      <a16:colId xmlns:a16="http://schemas.microsoft.com/office/drawing/2014/main" val="3943619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022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717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715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91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030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4195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377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1776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841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6912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780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7034608"/>
                  </a:ext>
                </a:extLst>
              </a:tr>
            </a:tbl>
          </a:graphicData>
        </a:graphic>
      </p:graphicFrame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7F778098-15B0-4E92-B088-5DD2BA171BDE}"/>
              </a:ext>
            </a:extLst>
          </p:cNvPr>
          <p:cNvCxnSpPr>
            <a:cxnSpLocks/>
          </p:cNvCxnSpPr>
          <p:nvPr/>
        </p:nvCxnSpPr>
        <p:spPr>
          <a:xfrm flipH="1">
            <a:off x="10182225" y="5495925"/>
            <a:ext cx="381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522996FD-DE22-4F46-9C7B-AF8E8F85DBB2}"/>
              </a:ext>
            </a:extLst>
          </p:cNvPr>
          <p:cNvCxnSpPr>
            <a:cxnSpLocks/>
          </p:cNvCxnSpPr>
          <p:nvPr/>
        </p:nvCxnSpPr>
        <p:spPr>
          <a:xfrm flipH="1">
            <a:off x="9231312" y="4962525"/>
            <a:ext cx="381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83A606AD-5D40-4D24-8507-879CB2657551}"/>
              </a:ext>
            </a:extLst>
          </p:cNvPr>
          <p:cNvCxnSpPr>
            <a:cxnSpLocks/>
          </p:cNvCxnSpPr>
          <p:nvPr/>
        </p:nvCxnSpPr>
        <p:spPr>
          <a:xfrm flipH="1">
            <a:off x="8355012" y="4086225"/>
            <a:ext cx="381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7AAC328-EF45-40AD-9588-A3CA38B88B94}"/>
              </a:ext>
            </a:extLst>
          </p:cNvPr>
          <p:cNvCxnSpPr>
            <a:cxnSpLocks/>
          </p:cNvCxnSpPr>
          <p:nvPr/>
        </p:nvCxnSpPr>
        <p:spPr>
          <a:xfrm flipH="1">
            <a:off x="10182225" y="4552950"/>
            <a:ext cx="381000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88349E0-F888-48D7-8DE4-78025BC8D754}"/>
              </a:ext>
            </a:extLst>
          </p:cNvPr>
          <p:cNvCxnSpPr>
            <a:cxnSpLocks/>
          </p:cNvCxnSpPr>
          <p:nvPr/>
        </p:nvCxnSpPr>
        <p:spPr>
          <a:xfrm flipH="1">
            <a:off x="9231312" y="3648075"/>
            <a:ext cx="381000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126B215E-5A4B-4739-A9AC-FB9B9C99D20A}"/>
              </a:ext>
            </a:extLst>
          </p:cNvPr>
          <p:cNvCxnSpPr>
            <a:cxnSpLocks/>
          </p:cNvCxnSpPr>
          <p:nvPr/>
        </p:nvCxnSpPr>
        <p:spPr>
          <a:xfrm flipH="1">
            <a:off x="8345487" y="3200400"/>
            <a:ext cx="381000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97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DD0D07-2B67-4957-81CC-29ADD0DD4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of LIS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C92F05-258F-4B2E-9D49-B08A74ABC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length of LIS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6623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Renaming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75771A-477F-4B4A-9278-972CA4C5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ts val="31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分成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堆，其中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 為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LIS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 的長度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ts val="31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4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後面再講找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ts val="31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ts val="3100"/>
              </a:lnSpc>
              <a:buNone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6">
                <a:extLst>
                  <a:ext uri="{FF2B5EF4-FFF2-40B4-BE49-F238E27FC236}">
                    <a16:creationId xmlns:a16="http://schemas.microsoft.com/office/drawing/2014/main" id="{149B24ED-D3CB-471B-9F98-4D4F92F8C2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7753665"/>
                  </p:ext>
                </p:extLst>
              </p:nvPr>
            </p:nvGraphicFramePr>
            <p:xfrm>
              <a:off x="2011361" y="3429000"/>
              <a:ext cx="8169278" cy="18794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8406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38961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36913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52050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6">
                <a:extLst>
                  <a:ext uri="{FF2B5EF4-FFF2-40B4-BE49-F238E27FC236}">
                    <a16:creationId xmlns:a16="http://schemas.microsoft.com/office/drawing/2014/main" id="{149B24ED-D3CB-471B-9F98-4D4F92F8C2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7753665"/>
                  </p:ext>
                </p:extLst>
              </p:nvPr>
            </p:nvGraphicFramePr>
            <p:xfrm>
              <a:off x="2011361" y="3429000"/>
              <a:ext cx="8169278" cy="18794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8406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49638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939" t="-1220" r="-200484" b="-3048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24939" t="-1220" r="-100484" b="-3048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24939" t="-1220" r="-484" b="-3048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46863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939" t="-205195" r="-200484" b="-12727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24939" t="-205195" r="-100484" b="-12727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24939" t="-205195" r="-484" b="-12727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52050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5115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75771A-477F-4B4A-9278-972CA4C5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ts val="31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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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綁成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pair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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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])</a:t>
            </a:r>
          </a:p>
          <a:p>
            <a:pPr marL="0" indent="0">
              <a:lnSpc>
                <a:spcPts val="3100"/>
              </a:lnSpc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radix sort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* 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+ 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)) 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O(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ts val="3100"/>
              </a:lnSpc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6">
                <a:extLst>
                  <a:ext uri="{FF2B5EF4-FFF2-40B4-BE49-F238E27FC236}">
                    <a16:creationId xmlns:a16="http://schemas.microsoft.com/office/drawing/2014/main" id="{149B24ED-D3CB-471B-9F98-4D4F92F8C2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6504711"/>
                  </p:ext>
                </p:extLst>
              </p:nvPr>
            </p:nvGraphicFramePr>
            <p:xfrm>
              <a:off x="2011361" y="3429000"/>
              <a:ext cx="8169278" cy="28329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8406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38961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36913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4926842"/>
                      </a:ext>
                    </a:extLst>
                  </a:tr>
                  <a:tr h="36913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9490486"/>
                      </a:ext>
                    </a:extLst>
                  </a:tr>
                  <a:tr h="36913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52050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6">
                <a:extLst>
                  <a:ext uri="{FF2B5EF4-FFF2-40B4-BE49-F238E27FC236}">
                    <a16:creationId xmlns:a16="http://schemas.microsoft.com/office/drawing/2014/main" id="{149B24ED-D3CB-471B-9F98-4D4F92F8C2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6504711"/>
                  </p:ext>
                </p:extLst>
              </p:nvPr>
            </p:nvGraphicFramePr>
            <p:xfrm>
              <a:off x="2011361" y="3429000"/>
              <a:ext cx="8169278" cy="28329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8406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49638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939" t="-1220" r="-200484" b="-49512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24939" t="-1220" r="-100484" b="-49512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24939" t="-1220" r="-484" b="-49512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49638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92683" r="-1104854" b="-3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8077" t="-192683" r="-994231" b="-3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71" t="-192683" r="-903883" b="-3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971" t="-192683" r="-803883" b="-3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500971" t="-192683" r="-703883" b="-3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595192" t="-192683" r="-597115" b="-3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701942" t="-192683" r="-502913" b="-3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801942" t="-192683" r="-402913" b="-3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901942" t="-192683" r="-302913" b="-3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992308" t="-192683" r="-200000" b="-3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102913" t="-192683" r="-101942" b="-30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1202913" t="-192683" r="-1942" b="-3036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49268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9490486"/>
                      </a:ext>
                    </a:extLst>
                  </a:tr>
                  <a:tr h="46863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939" t="-409091" r="-200484" b="-1259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24939" t="-409091" r="-100484" b="-1259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3"/>
                          <a:stretch>
                            <a:fillRect l="-224939" t="-409091" r="-484" b="-1259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52050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77200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1486405-10E9-4237-AE0C-C311986846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/>
                    </m:sSubSup>
                  </m:oMath>
                </a14:m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1486405-10E9-4237-AE0C-C311986846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6">
                <a:extLst>
                  <a:ext uri="{FF2B5EF4-FFF2-40B4-BE49-F238E27FC236}">
                    <a16:creationId xmlns:a16="http://schemas.microsoft.com/office/drawing/2014/main" id="{149B24ED-D3CB-471B-9F98-4D4F92F8C2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271515"/>
                  </p:ext>
                </p:extLst>
              </p:nvPr>
            </p:nvGraphicFramePr>
            <p:xfrm>
              <a:off x="0" y="2082705"/>
              <a:ext cx="8169278" cy="27938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8406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38961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4306980"/>
                      </a:ext>
                    </a:extLst>
                  </a:tr>
                  <a:tr h="36913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5205013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02224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6">
                <a:extLst>
                  <a:ext uri="{FF2B5EF4-FFF2-40B4-BE49-F238E27FC236}">
                    <a16:creationId xmlns:a16="http://schemas.microsoft.com/office/drawing/2014/main" id="{149B24ED-D3CB-471B-9F98-4D4F92F8C2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8271515"/>
                  </p:ext>
                </p:extLst>
              </p:nvPr>
            </p:nvGraphicFramePr>
            <p:xfrm>
              <a:off x="0" y="2082705"/>
              <a:ext cx="8169278" cy="27938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8406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628406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49638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939" t="-1220" r="-200242" b="-4878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125243" t="-1220" r="-100728" b="-4878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4"/>
                          <a:stretch>
                            <a:fillRect l="-224697" t="-1220" r="-484" b="-4878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4306980"/>
                      </a:ext>
                    </a:extLst>
                  </a:tr>
                  <a:tr h="46863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939" t="-302597" r="-200242" b="-22467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4"/>
                          <a:stretch>
                            <a:fillRect l="-125243" t="-302597" r="-100728" b="-22467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4"/>
                          <a:stretch>
                            <a:fillRect l="-224697" t="-302597" r="-484" b="-22467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352050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9022246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ABFC363F-4F77-429A-BF6B-93852EAB4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138535"/>
              </p:ext>
            </p:extLst>
          </p:nvPr>
        </p:nvGraphicFramePr>
        <p:xfrm>
          <a:off x="8480423" y="736410"/>
          <a:ext cx="3400424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2532748870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11317705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1998843447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3943619365"/>
                    </a:ext>
                  </a:extLst>
                </a:gridCol>
              </a:tblGrid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022397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71708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715828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91114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030233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19500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37715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77679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841080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912461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780363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034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122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1486405-10E9-4237-AE0C-C311986846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- Merge</a:t>
                </a:r>
                <a:endParaRPr lang="zh-TW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1486405-10E9-4237-AE0C-C311986846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6">
                <a:extLst>
                  <a:ext uri="{FF2B5EF4-FFF2-40B4-BE49-F238E27FC236}">
                    <a16:creationId xmlns:a16="http://schemas.microsoft.com/office/drawing/2014/main" id="{149B24ED-D3CB-471B-9F98-4D4F92F8C2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3041776"/>
                  </p:ext>
                </p:extLst>
              </p:nvPr>
            </p:nvGraphicFramePr>
            <p:xfrm>
              <a:off x="838200" y="2428875"/>
              <a:ext cx="9958764" cy="27938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1519021742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325081087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1058555823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3918932711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38961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24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4306980"/>
                      </a:ext>
                    </a:extLst>
                  </a:tr>
                  <a:tr h="36913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Merge</a:t>
                          </a:r>
                          <a:endParaRPr lang="zh-TW" altLang="en-US" sz="24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6042683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87177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6">
                <a:extLst>
                  <a:ext uri="{FF2B5EF4-FFF2-40B4-BE49-F238E27FC236}">
                    <a16:creationId xmlns:a16="http://schemas.microsoft.com/office/drawing/2014/main" id="{149B24ED-D3CB-471B-9F98-4D4F92F8C2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03041776"/>
                  </p:ext>
                </p:extLst>
              </p:nvPr>
            </p:nvGraphicFramePr>
            <p:xfrm>
              <a:off x="838200" y="2428875"/>
              <a:ext cx="9958764" cy="27938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1519021742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325081087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1058555823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3918932711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49638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210" t="-1220" r="-50206" b="-4878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4"/>
                          <a:stretch>
                            <a:fillRect l="-236420" t="-1220" r="-412" b="-4878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4306980"/>
                      </a:ext>
                    </a:extLst>
                  </a:tr>
                  <a:tr h="46863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210" t="-302597" r="-50206" b="-22467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4"/>
                          <a:stretch>
                            <a:fillRect l="-236420" t="-302597" r="-412" b="-22467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Merge</a:t>
                          </a:r>
                          <a:endParaRPr lang="zh-TW" altLang="en-US" sz="24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604268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87177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11499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1486405-10E9-4237-AE0C-C311986846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- Update</a:t>
                </a:r>
                <a:endParaRPr lang="zh-TW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1486405-10E9-4237-AE0C-C311986846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6">
                <a:extLst>
                  <a:ext uri="{FF2B5EF4-FFF2-40B4-BE49-F238E27FC236}">
                    <a16:creationId xmlns:a16="http://schemas.microsoft.com/office/drawing/2014/main" id="{149B24ED-D3CB-471B-9F98-4D4F92F8C2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2823061"/>
                  </p:ext>
                </p:extLst>
              </p:nvPr>
            </p:nvGraphicFramePr>
            <p:xfrm>
              <a:off x="838200" y="2428875"/>
              <a:ext cx="9958764" cy="27938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1519021742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325081087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1058555823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3918932711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38961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24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4306980"/>
                      </a:ext>
                    </a:extLst>
                  </a:tr>
                  <a:tr h="36913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Merge</a:t>
                          </a:r>
                          <a:endParaRPr lang="zh-TW" altLang="en-US" sz="24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6042683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87177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6">
                <a:extLst>
                  <a:ext uri="{FF2B5EF4-FFF2-40B4-BE49-F238E27FC236}">
                    <a16:creationId xmlns:a16="http://schemas.microsoft.com/office/drawing/2014/main" id="{149B24ED-D3CB-471B-9F98-4D4F92F8C2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2823061"/>
                  </p:ext>
                </p:extLst>
              </p:nvPr>
            </p:nvGraphicFramePr>
            <p:xfrm>
              <a:off x="838200" y="2428875"/>
              <a:ext cx="9958764" cy="27938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1519021742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325081087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1058555823"/>
                        </a:ext>
                      </a:extLst>
                    </a:gridCol>
                    <a:gridCol w="493264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246633">
                      <a:extLst>
                        <a:ext uri="{9D8B030D-6E8A-4147-A177-3AD203B41FA5}">
                          <a16:colId xmlns:a16="http://schemas.microsoft.com/office/drawing/2014/main" val="3918932711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739897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49638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210" t="-1220" r="-50206" b="-4878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4"/>
                          <a:stretch>
                            <a:fillRect l="-236420" t="-1220" r="-412" b="-4878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4306980"/>
                      </a:ext>
                    </a:extLst>
                  </a:tr>
                  <a:tr h="46863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210" t="-302597" r="-50206" b="-22467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4"/>
                          <a:stretch>
                            <a:fillRect l="-236420" t="-302597" r="-412" b="-22467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Merge</a:t>
                          </a:r>
                          <a:endParaRPr lang="zh-TW" altLang="en-US" sz="24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604268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87177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59692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1486405-10E9-4237-AE0C-C311986846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1486405-10E9-4237-AE0C-C311986846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ABFC363F-4F77-429A-BF6B-93852EAB4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237111"/>
              </p:ext>
            </p:extLst>
          </p:nvPr>
        </p:nvGraphicFramePr>
        <p:xfrm>
          <a:off x="8480423" y="736410"/>
          <a:ext cx="3400424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2532748870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11317705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1998843447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3943619365"/>
                    </a:ext>
                  </a:extLst>
                </a:gridCol>
              </a:tblGrid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022397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71708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715828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91114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030233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19500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37715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77679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841080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912461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780363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0346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6">
                <a:extLst>
                  <a:ext uri="{FF2B5EF4-FFF2-40B4-BE49-F238E27FC236}">
                    <a16:creationId xmlns:a16="http://schemas.microsoft.com/office/drawing/2014/main" id="{2ACEA49B-3B39-4CCE-BC4C-7900543076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969564"/>
                  </p:ext>
                </p:extLst>
              </p:nvPr>
            </p:nvGraphicFramePr>
            <p:xfrm>
              <a:off x="0" y="2082705"/>
              <a:ext cx="7912556" cy="27938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0000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202293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404586">
                      <a:extLst>
                        <a:ext uri="{9D8B030D-6E8A-4147-A177-3AD203B41FA5}">
                          <a16:colId xmlns:a16="http://schemas.microsoft.com/office/drawing/2014/main" val="1519021742"/>
                        </a:ext>
                      </a:extLst>
                    </a:gridCol>
                    <a:gridCol w="404586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202293">
                      <a:extLst>
                        <a:ext uri="{9D8B030D-6E8A-4147-A177-3AD203B41FA5}">
                          <a16:colId xmlns:a16="http://schemas.microsoft.com/office/drawing/2014/main" val="325081087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202293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404586">
                      <a:extLst>
                        <a:ext uri="{9D8B030D-6E8A-4147-A177-3AD203B41FA5}">
                          <a16:colId xmlns:a16="http://schemas.microsoft.com/office/drawing/2014/main" val="1058555823"/>
                        </a:ext>
                      </a:extLst>
                    </a:gridCol>
                    <a:gridCol w="404586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202293">
                      <a:extLst>
                        <a:ext uri="{9D8B030D-6E8A-4147-A177-3AD203B41FA5}">
                          <a16:colId xmlns:a16="http://schemas.microsoft.com/office/drawing/2014/main" val="3918932711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33246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24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4306980"/>
                      </a:ext>
                    </a:extLst>
                  </a:tr>
                  <a:tr h="36913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endParaRPr lang="zh-TW" altLang="en-US" sz="24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6042683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87177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6">
                <a:extLst>
                  <a:ext uri="{FF2B5EF4-FFF2-40B4-BE49-F238E27FC236}">
                    <a16:creationId xmlns:a16="http://schemas.microsoft.com/office/drawing/2014/main" id="{2ACEA49B-3B39-4CCE-BC4C-7900543076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969564"/>
                  </p:ext>
                </p:extLst>
              </p:nvPr>
            </p:nvGraphicFramePr>
            <p:xfrm>
              <a:off x="0" y="2082705"/>
              <a:ext cx="7912556" cy="27938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0000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202293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404586">
                      <a:extLst>
                        <a:ext uri="{9D8B030D-6E8A-4147-A177-3AD203B41FA5}">
                          <a16:colId xmlns:a16="http://schemas.microsoft.com/office/drawing/2014/main" val="1519021742"/>
                        </a:ext>
                      </a:extLst>
                    </a:gridCol>
                    <a:gridCol w="404586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202293">
                      <a:extLst>
                        <a:ext uri="{9D8B030D-6E8A-4147-A177-3AD203B41FA5}">
                          <a16:colId xmlns:a16="http://schemas.microsoft.com/office/drawing/2014/main" val="325081087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202293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404586">
                      <a:extLst>
                        <a:ext uri="{9D8B030D-6E8A-4147-A177-3AD203B41FA5}">
                          <a16:colId xmlns:a16="http://schemas.microsoft.com/office/drawing/2014/main" val="1058555823"/>
                        </a:ext>
                      </a:extLst>
                    </a:gridCol>
                    <a:gridCol w="404586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202293">
                      <a:extLst>
                        <a:ext uri="{9D8B030D-6E8A-4147-A177-3AD203B41FA5}">
                          <a16:colId xmlns:a16="http://schemas.microsoft.com/office/drawing/2014/main" val="3918932711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49638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923" t="-1220" r="-50314" b="-4878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4"/>
                          <a:stretch>
                            <a:fillRect l="-226131" t="-1220" r="-754" b="-48780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4306980"/>
                      </a:ext>
                    </a:extLst>
                  </a:tr>
                  <a:tr h="46863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923" t="-302597" r="-50314" b="-22467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4"/>
                          <a:stretch>
                            <a:fillRect l="-226131" t="-302597" r="-754" b="-22467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</a:t>
                          </a:r>
                          <a:endParaRPr lang="zh-TW" altLang="en-US" sz="24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FFFF0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604268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i="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8717701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BB7DB731-635B-44D8-B52F-4E67B94646F6}"/>
              </a:ext>
            </a:extLst>
          </p:cNvPr>
          <p:cNvCxnSpPr/>
          <p:nvPr/>
        </p:nvCxnSpPr>
        <p:spPr>
          <a:xfrm>
            <a:off x="8067675" y="1409700"/>
            <a:ext cx="1409700" cy="13144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86EF7768-46CB-46E3-BA67-4CE4689472E9}"/>
              </a:ext>
            </a:extLst>
          </p:cNvPr>
          <p:cNvSpPr txBox="1"/>
          <p:nvPr/>
        </p:nvSpPr>
        <p:spPr>
          <a:xfrm>
            <a:off x="5010150" y="948035"/>
            <a:ext cx="322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update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改變了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c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的編號</a:t>
            </a:r>
          </a:p>
        </p:txBody>
      </p:sp>
    </p:spTree>
    <p:extLst>
      <p:ext uri="{BB962C8B-B14F-4D97-AF65-F5344CB8AC3E}">
        <p14:creationId xmlns:p14="http://schemas.microsoft.com/office/powerpoint/2010/main" val="3103630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1486405-10E9-4237-AE0C-C311986846D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  <m:sup/>
                    </m:sSubSup>
                  </m:oMath>
                </a14:m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1486405-10E9-4237-AE0C-C311986846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ABFC363F-4F77-429A-BF6B-93852EAB4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960627"/>
              </p:ext>
            </p:extLst>
          </p:nvPr>
        </p:nvGraphicFramePr>
        <p:xfrm>
          <a:off x="8480423" y="736410"/>
          <a:ext cx="3400424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2532748870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11317705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1998843447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3943619365"/>
                    </a:ext>
                  </a:extLst>
                </a:gridCol>
              </a:tblGrid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022397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71708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715828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891114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030233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19500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37715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776792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841080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6912461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780363"/>
                  </a:ext>
                </a:extLst>
              </a:tr>
              <a:tr h="35255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0346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6">
                <a:extLst>
                  <a:ext uri="{FF2B5EF4-FFF2-40B4-BE49-F238E27FC236}">
                    <a16:creationId xmlns:a16="http://schemas.microsoft.com/office/drawing/2014/main" id="{2ACEA49B-3B39-4CCE-BC4C-7900543076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5743413"/>
                  </p:ext>
                </p:extLst>
              </p:nvPr>
            </p:nvGraphicFramePr>
            <p:xfrm>
              <a:off x="0" y="2082705"/>
              <a:ext cx="7912556" cy="18794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0000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606879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606879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606879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606879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33246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24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/>
                                </m:sSubSup>
                                <m:r>
                                  <a:rPr lang="en-US" altLang="zh-TW" sz="24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/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36569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4306980"/>
                      </a:ext>
                    </a:extLst>
                  </a:tr>
                  <a:tr h="369137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sz="240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𝑆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6">
                <a:extLst>
                  <a:ext uri="{FF2B5EF4-FFF2-40B4-BE49-F238E27FC236}">
                    <a16:creationId xmlns:a16="http://schemas.microsoft.com/office/drawing/2014/main" id="{2ACEA49B-3B39-4CCE-BC4C-7900543076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5743413"/>
                  </p:ext>
                </p:extLst>
              </p:nvPr>
            </p:nvGraphicFramePr>
            <p:xfrm>
              <a:off x="0" y="2082705"/>
              <a:ext cx="7912556" cy="187941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0000">
                      <a:extLst>
                        <a:ext uri="{9D8B030D-6E8A-4147-A177-3AD203B41FA5}">
                          <a16:colId xmlns:a16="http://schemas.microsoft.com/office/drawing/2014/main" val="1720001333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3632763588"/>
                        </a:ext>
                      </a:extLst>
                    </a:gridCol>
                    <a:gridCol w="606879">
                      <a:extLst>
                        <a:ext uri="{9D8B030D-6E8A-4147-A177-3AD203B41FA5}">
                          <a16:colId xmlns:a16="http://schemas.microsoft.com/office/drawing/2014/main" val="10793804"/>
                        </a:ext>
                      </a:extLst>
                    </a:gridCol>
                    <a:gridCol w="606879">
                      <a:extLst>
                        <a:ext uri="{9D8B030D-6E8A-4147-A177-3AD203B41FA5}">
                          <a16:colId xmlns:a16="http://schemas.microsoft.com/office/drawing/2014/main" val="2343009412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17304491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2497579389"/>
                        </a:ext>
                      </a:extLst>
                    </a:gridCol>
                    <a:gridCol w="606879">
                      <a:extLst>
                        <a:ext uri="{9D8B030D-6E8A-4147-A177-3AD203B41FA5}">
                          <a16:colId xmlns:a16="http://schemas.microsoft.com/office/drawing/2014/main" val="1842891605"/>
                        </a:ext>
                      </a:extLst>
                    </a:gridCol>
                    <a:gridCol w="606879">
                      <a:extLst>
                        <a:ext uri="{9D8B030D-6E8A-4147-A177-3AD203B41FA5}">
                          <a16:colId xmlns:a16="http://schemas.microsoft.com/office/drawing/2014/main" val="3408877752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3812329750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63002395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2029079575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3902883970"/>
                        </a:ext>
                      </a:extLst>
                    </a:gridCol>
                    <a:gridCol w="606880">
                      <a:extLst>
                        <a:ext uri="{9D8B030D-6E8A-4147-A177-3AD203B41FA5}">
                          <a16:colId xmlns:a16="http://schemas.microsoft.com/office/drawing/2014/main" val="1286352581"/>
                        </a:ext>
                      </a:extLst>
                    </a:gridCol>
                  </a:tblGrid>
                  <a:tr h="49638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619" t="-1220" r="-251" b="-2817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296191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altLang="zh-TW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642905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</a:t>
                          </a:r>
                          <a:endParaRPr lang="zh-TW" altLang="en-US" sz="2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4306980"/>
                      </a:ext>
                    </a:extLst>
                  </a:tr>
                  <a:tr h="46863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12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619" t="-302597" r="-251" b="-519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983877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F2C0A5D-0DD7-4103-9358-BCC23719C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774971"/>
              </p:ext>
            </p:extLst>
          </p:nvPr>
        </p:nvGraphicFramePr>
        <p:xfrm>
          <a:off x="0" y="3962115"/>
          <a:ext cx="7912563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8650">
                  <a:extLst>
                    <a:ext uri="{9D8B030D-6E8A-4147-A177-3AD203B41FA5}">
                      <a16:colId xmlns:a16="http://schemas.microsoft.com/office/drawing/2014/main" val="2602618511"/>
                    </a:ext>
                  </a:extLst>
                </a:gridCol>
                <a:gridCol w="1040559">
                  <a:extLst>
                    <a:ext uri="{9D8B030D-6E8A-4147-A177-3AD203B41FA5}">
                      <a16:colId xmlns:a16="http://schemas.microsoft.com/office/drawing/2014/main" val="3255846772"/>
                    </a:ext>
                  </a:extLst>
                </a:gridCol>
                <a:gridCol w="1040559">
                  <a:extLst>
                    <a:ext uri="{9D8B030D-6E8A-4147-A177-3AD203B41FA5}">
                      <a16:colId xmlns:a16="http://schemas.microsoft.com/office/drawing/2014/main" val="140342616"/>
                    </a:ext>
                  </a:extLst>
                </a:gridCol>
                <a:gridCol w="1040559">
                  <a:extLst>
                    <a:ext uri="{9D8B030D-6E8A-4147-A177-3AD203B41FA5}">
                      <a16:colId xmlns:a16="http://schemas.microsoft.com/office/drawing/2014/main" val="2771866102"/>
                    </a:ext>
                  </a:extLst>
                </a:gridCol>
                <a:gridCol w="1040559">
                  <a:extLst>
                    <a:ext uri="{9D8B030D-6E8A-4147-A177-3AD203B41FA5}">
                      <a16:colId xmlns:a16="http://schemas.microsoft.com/office/drawing/2014/main" val="1750362074"/>
                    </a:ext>
                  </a:extLst>
                </a:gridCol>
                <a:gridCol w="1040559">
                  <a:extLst>
                    <a:ext uri="{9D8B030D-6E8A-4147-A177-3AD203B41FA5}">
                      <a16:colId xmlns:a16="http://schemas.microsoft.com/office/drawing/2014/main" val="365116830"/>
                    </a:ext>
                  </a:extLst>
                </a:gridCol>
                <a:gridCol w="1040559">
                  <a:extLst>
                    <a:ext uri="{9D8B030D-6E8A-4147-A177-3AD203B41FA5}">
                      <a16:colId xmlns:a16="http://schemas.microsoft.com/office/drawing/2014/main" val="3525530601"/>
                    </a:ext>
                  </a:extLst>
                </a:gridCol>
                <a:gridCol w="1040559">
                  <a:extLst>
                    <a:ext uri="{9D8B030D-6E8A-4147-A177-3AD203B41FA5}">
                      <a16:colId xmlns:a16="http://schemas.microsoft.com/office/drawing/2014/main" val="879255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156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8069989"/>
                  </a:ext>
                </a:extLst>
              </a:tr>
            </a:tbl>
          </a:graphicData>
        </a:graphic>
      </p:graphicFrame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C80231E3-D10F-411C-8B9D-A6BDC648ED72}"/>
              </a:ext>
            </a:extLst>
          </p:cNvPr>
          <p:cNvCxnSpPr>
            <a:cxnSpLocks/>
          </p:cNvCxnSpPr>
          <p:nvPr/>
        </p:nvCxnSpPr>
        <p:spPr>
          <a:xfrm>
            <a:off x="8067675" y="1409700"/>
            <a:ext cx="2247900" cy="310515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C0FA6CD-E60B-400C-85DA-11E2347A0AE9}"/>
              </a:ext>
            </a:extLst>
          </p:cNvPr>
          <p:cNvSpPr txBox="1"/>
          <p:nvPr/>
        </p:nvSpPr>
        <p:spPr>
          <a:xfrm>
            <a:off x="5029200" y="948035"/>
            <a:ext cx="32051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update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 改變了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d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的編號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797C19B-0EB0-4F93-8F0C-006A2E2B55EF}"/>
              </a:ext>
            </a:extLst>
          </p:cNvPr>
          <p:cNvSpPr txBox="1"/>
          <p:nvPr/>
        </p:nvSpPr>
        <p:spPr>
          <a:xfrm>
            <a:off x="704850" y="5505450"/>
            <a:ext cx="53911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{a , b , c , e}  =&gt; {1 , 2 , 3 , 5}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length 4 ending with 5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07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7C373-F66B-49BF-8C32-A879AB202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lang="en-US" altLang="zh-TW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FA8B978-D157-4852-BC1B-3638581BD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Starting with some value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possibly no more than </a:t>
                </a:r>
                <a:r>
                  <a:rPr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</a:p>
              <a:p>
                <a:pPr marL="0" indent="0">
                  <a:buNone/>
                </a:pP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如果執行時，超過 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，就改變 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zh-TW" altLang="en-US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並重新執行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altLang="zh-TW" i="1" baseline="-2500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e>
                      <m:sup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for 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&gt; 0</a:t>
                </a:r>
              </a:p>
              <a:p>
                <a:pPr marL="0" indent="0" algn="ctr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Time Complexity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O(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+ 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+ 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+ … + 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i="1" baseline="-25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FA8B978-D157-4852-BC1B-3638581BD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2412C9E6-1FC9-42A2-8F5A-53F842406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9995" y="1204913"/>
            <a:ext cx="304200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847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7C373-F66B-49BF-8C32-A879AB202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FA8B978-D157-4852-BC1B-3638581BD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𝑚</m:t>
                            </m:r>
                            <m:r>
                              <a:rPr lang="en-US" altLang="zh-TW" i="1" baseline="-2500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e>
                      <m:sup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i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log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b>
                        </m:sSub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for 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&gt; 0</a:t>
                </a: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loglog(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baseline="30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= 2loglog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</a:p>
              <a:p>
                <a:pPr marL="0" indent="0">
                  <a:buNone/>
                </a:pPr>
                <a:endParaRPr lang="en-US" altLang="zh-TW" b="0" i="0" dirty="0">
                  <a:latin typeface="Cambria Math" panose="020405030504060302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loglog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  <m:r>
                                <a:rPr lang="en-US" altLang="zh-TW" i="1" baseline="-2500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loglog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sup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i="0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sup>
                      </m:sSup>
                      <m: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loglog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loglog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TW" b="0" i="1" baseline="-2500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loglog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FA8B978-D157-4852-BC1B-3638581BD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5870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7C373-F66B-49BF-8C32-A879AB202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FA8B978-D157-4852-BC1B-3638581BD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O(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+ 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+ 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baseline="-25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+ … + 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i="1" baseline="-25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 O(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=0,…,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1/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𝑗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</a:t>
                </a:r>
                <a:r>
                  <a:rPr lang="en-US" altLang="zh-TW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i="1" baseline="-25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endParaRPr lang="en-US" altLang="zh-TW" baseline="-25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 O(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i="1" baseline="-25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 O(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because 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&lt; 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en-US" altLang="zh-TW" baseline="30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</a:t>
                </a:r>
                <a:r>
                  <a:rPr lang="en-US" altLang="zh-TW" i="1" baseline="30000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zh-TW" altLang="en-US" i="1" baseline="300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　</a:t>
                </a:r>
                <a:r>
                  <a:rPr lang="en-US" altLang="zh-TW" sz="2400" b="0" i="0" u="none" strike="noStrik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implies  </a:t>
                </a:r>
                <a:r>
                  <a:rPr lang="en-US" altLang="zh-TW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loglog</a:t>
                </a:r>
                <a:r>
                  <a:rPr lang="en-US" altLang="zh-TW" i="1" dirty="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&lt; 2loglog</a:t>
                </a:r>
                <a:r>
                  <a:rPr lang="en-US" altLang="zh-TW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endParaRPr lang="en-US" altLang="zh-TW" i="1" baseline="30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FA8B978-D157-4852-BC1B-3638581BD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5075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6DBF75-FEB5-4CC1-B14A-299D0CC0D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LCS to LIS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F796A8-C27D-4E62-9381-49CD7EDC6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835150"/>
            <a:ext cx="1160145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aabba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= { 5 , 2 , 1}</a:t>
            </a:r>
          </a:p>
          <a:p>
            <a:pPr marL="0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= { 4 , 3 }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911C238E-F1BD-4120-A550-43875D705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905520"/>
              </p:ext>
            </p:extLst>
          </p:nvPr>
        </p:nvGraphicFramePr>
        <p:xfrm>
          <a:off x="1" y="4044950"/>
          <a:ext cx="12191999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5">
                  <a:extLst>
                    <a:ext uri="{9D8B030D-6E8A-4147-A177-3AD203B41FA5}">
                      <a16:colId xmlns:a16="http://schemas.microsoft.com/office/drawing/2014/main" val="1584974471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722277239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330697394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1379984962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3831481348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692541941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2841590772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609343739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3896549537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2578040083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1713526778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2262919170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2927776184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3818851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35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299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(A,B)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392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(5,3)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(2,3)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(1,3)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095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607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060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6DBF75-FEB5-4CC1-B14A-299D0CC0D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LCS to LIS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F796A8-C27D-4E62-9381-49CD7EDC6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3900486"/>
            <a:ext cx="11306173" cy="29575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 = { 3 , 5 , 7 , 11 }</a:t>
            </a:r>
          </a:p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可以得到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(1,1), (3,2), (4,3), (5,5)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LCS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aaba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Time Complexity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</a:t>
            </a:r>
            <a:r>
              <a:rPr lang="en-US" altLang="zh-TW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loglog</a:t>
            </a:r>
            <a:r>
              <a:rPr lang="en-US" altLang="zh-TW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),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is number of matches,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is length of LCS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Worst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O(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loglog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en-US" altLang="zh-TW" baseline="30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4">
            <a:extLst>
              <a:ext uri="{FF2B5EF4-FFF2-40B4-BE49-F238E27FC236}">
                <a16:creationId xmlns:a16="http://schemas.microsoft.com/office/drawing/2014/main" id="{54A0EF66-7780-486D-8330-4AAC6A7D8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228873"/>
              </p:ext>
            </p:extLst>
          </p:nvPr>
        </p:nvGraphicFramePr>
        <p:xfrm>
          <a:off x="1" y="1376362"/>
          <a:ext cx="12191999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9175">
                  <a:extLst>
                    <a:ext uri="{9D8B030D-6E8A-4147-A177-3AD203B41FA5}">
                      <a16:colId xmlns:a16="http://schemas.microsoft.com/office/drawing/2014/main" val="1584974471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722277239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330697394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1379984962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3831481348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692541941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2841590772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609343739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3896549537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2578040083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1713526778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2262919170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2927776184"/>
                    </a:ext>
                  </a:extLst>
                </a:gridCol>
                <a:gridCol w="859448">
                  <a:extLst>
                    <a:ext uri="{9D8B030D-6E8A-4147-A177-3AD203B41FA5}">
                      <a16:colId xmlns:a16="http://schemas.microsoft.com/office/drawing/2014/main" val="3818851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4381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299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(A,B)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392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(5,3)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(2,3)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,3)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095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607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189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713EFC-46F5-4BE2-8CEA-9532C450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FASTA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 descr="一張含有 地圖 的圖片&#10;&#10;自動產生的描述">
            <a:extLst>
              <a:ext uri="{FF2B5EF4-FFF2-40B4-BE49-F238E27FC236}">
                <a16:creationId xmlns:a16="http://schemas.microsoft.com/office/drawing/2014/main" id="{1547C438-A70B-4DDB-9279-D9510971A8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101" y="0"/>
            <a:ext cx="4914900" cy="6820467"/>
          </a:xfr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A5004A8-0BFD-4FF8-978E-EA98FC6DFAB1}"/>
              </a:ext>
            </a:extLst>
          </p:cNvPr>
          <p:cNvSpPr txBox="1">
            <a:spLocks/>
          </p:cNvSpPr>
          <p:nvPr/>
        </p:nvSpPr>
        <p:spPr>
          <a:xfrm>
            <a:off x="590550" y="1835150"/>
            <a:ext cx="116014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ababa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 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 =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aabba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 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=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ababa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 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Times New Roman" panose="02020603050405020304" pitchFamily="18" charset="0"/>
              </a:rPr>
              <a:t>’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abb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⸪ |</a:t>
            </a:r>
            <a:r>
              <a:rPr lang="en-US" altLang="zh-TW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(A,B</a:t>
            </a:r>
            <a:r>
              <a:rPr lang="en-US" altLang="zh-TW" dirty="0">
                <a:latin typeface="+mj-lt"/>
                <a:ea typeface="標楷體" panose="03000509000000000000" pitchFamily="65" charset="-120"/>
                <a:cs typeface="Times New Roman" panose="02020603050405020304" pitchFamily="18" charset="0"/>
              </a:rPr>
              <a:t>’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)| &lt; </a:t>
            </a:r>
            <a:r>
              <a:rPr lang="en-US" altLang="zh-TW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wn</a:t>
            </a:r>
            <a:endParaRPr lang="en-US" altLang="zh-TW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⸫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O(</a:t>
            </a:r>
            <a:r>
              <a:rPr lang="en-US" altLang="zh-TW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loglog</a:t>
            </a:r>
            <a:r>
              <a:rPr lang="en-US" altLang="zh-TW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→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O(</a:t>
            </a:r>
            <a:r>
              <a:rPr lang="en-US" altLang="zh-TW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loglog</a:t>
            </a:r>
            <a:r>
              <a:rPr lang="en-US" altLang="zh-TW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i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295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3260</TotalTime>
  <Words>1286</Words>
  <Application>Microsoft Office PowerPoint</Application>
  <PresentationFormat>寬螢幕</PresentationFormat>
  <Paragraphs>570</Paragraphs>
  <Slides>17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6" baseType="lpstr">
      <vt:lpstr>Gulliver-Italic</vt:lpstr>
      <vt:lpstr>標楷體</vt:lpstr>
      <vt:lpstr>Arial</vt:lpstr>
      <vt:lpstr>Arial</vt:lpstr>
      <vt:lpstr>Calibri</vt:lpstr>
      <vt:lpstr>Calibri Light</vt:lpstr>
      <vt:lpstr>Cambria Math</vt:lpstr>
      <vt:lpstr>Times New Roman</vt:lpstr>
      <vt:lpstr>Office 佈景主題</vt:lpstr>
      <vt:lpstr>Fast Computation of a Longest Increasing Subsequence and Application</vt:lpstr>
      <vt:lpstr>Abstract</vt:lpstr>
      <vt:lpstr>LIS</vt:lpstr>
      <vt:lpstr>Time complexity of LIS</vt:lpstr>
      <vt:lpstr>Renaming</vt:lpstr>
      <vt:lpstr>Sort</vt:lpstr>
      <vt:lpstr>Process (C_1^ )</vt:lpstr>
      <vt:lpstr>Process (C_2^ ) - Merge</vt:lpstr>
      <vt:lpstr>Process (C_2^ ) - Update</vt:lpstr>
      <vt:lpstr>Process (C_2^ )</vt:lpstr>
      <vt:lpstr>Process (C_3^ )</vt:lpstr>
      <vt:lpstr>Find m</vt:lpstr>
      <vt:lpstr>Time Complexity</vt:lpstr>
      <vt:lpstr>Time Complexity</vt:lpstr>
      <vt:lpstr>Reduces LCS to LIS</vt:lpstr>
      <vt:lpstr>Reduces LCS to LIS</vt:lpstr>
      <vt:lpstr>FASTA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String Matching Algorithm Based on Logical Indexing</dc:title>
  <dc:creator>育誠 張</dc:creator>
  <cp:lastModifiedBy>pplab</cp:lastModifiedBy>
  <cp:revision>1072</cp:revision>
  <dcterms:created xsi:type="dcterms:W3CDTF">2020-01-13T05:19:55Z</dcterms:created>
  <dcterms:modified xsi:type="dcterms:W3CDTF">2020-09-01T08:22:41Z</dcterms:modified>
</cp:coreProperties>
</file>