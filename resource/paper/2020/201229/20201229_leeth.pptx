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365" r:id="rId2"/>
    <p:sldId id="311" r:id="rId3"/>
    <p:sldId id="384" r:id="rId4"/>
    <p:sldId id="390" r:id="rId5"/>
    <p:sldId id="333" r:id="rId6"/>
    <p:sldId id="397" r:id="rId7"/>
    <p:sldId id="398" r:id="rId8"/>
    <p:sldId id="393" r:id="rId9"/>
    <p:sldId id="394" r:id="rId10"/>
    <p:sldId id="395" r:id="rId11"/>
    <p:sldId id="396" r:id="rId12"/>
    <p:sldId id="383" r:id="rId13"/>
    <p:sldId id="391" r:id="rId14"/>
    <p:sldId id="392"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 id="2" name="BBOBBOX" initials="B" lastIdx="1" clrIdx="1">
    <p:extLst>
      <p:ext uri="{19B8F6BF-5375-455C-9EA6-DF929625EA0E}">
        <p15:presenceInfo xmlns:p15="http://schemas.microsoft.com/office/powerpoint/2012/main" userId="BBOBBOX"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85874" autoAdjust="0"/>
  </p:normalViewPr>
  <p:slideViewPr>
    <p:cSldViewPr snapToGrid="0">
      <p:cViewPr varScale="1">
        <p:scale>
          <a:sx n="65" d="100"/>
          <a:sy n="65" d="100"/>
        </p:scale>
        <p:origin x="51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2021/2/23</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en-US" altLang="zh-TW" dirty="0"/>
              <a:t>journal</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233317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627773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7851773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800" b="0" i="0" u="none" strike="noStrike" baseline="0" dirty="0">
                <a:latin typeface="Times-Roman"/>
              </a:rPr>
              <a:t>An idea or information pattern is not a meme until it causes someone to replicate it or to repeat it to someone else.</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6006333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800" b="0" i="0" u="none" strike="noStrike" baseline="0" dirty="0">
                <a:latin typeface="Times-Roman"/>
              </a:rPr>
              <a:t>An idea or information pattern is not a meme until it causes someone to replicate it or to repeat it to someone else.</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898271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7348991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160777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200" b="0" i="0" u="none" strike="noStrike" baseline="0" dirty="0">
                <a:latin typeface="Times-Roman"/>
              </a:rPr>
              <a:t>If there are too few frogs in each memeplex, the advantage of the local memetic evolution strategy is lost.</a:t>
            </a:r>
          </a:p>
          <a:p>
            <a:pPr algn="l"/>
            <a:r>
              <a:rPr lang="en-US" altLang="zh-TW" sz="1200" b="0" i="0" u="none" strike="noStrike" baseline="0" dirty="0">
                <a:latin typeface="Times-Roman"/>
              </a:rPr>
              <a:t>when too few frogs are selected in a </a:t>
            </a:r>
            <a:r>
              <a:rPr lang="en-US" altLang="zh-TW" sz="1200" b="0" i="0" u="none" strike="noStrike" baseline="0" dirty="0" err="1">
                <a:latin typeface="Times-Roman"/>
              </a:rPr>
              <a:t>submemeplex</a:t>
            </a:r>
            <a:r>
              <a:rPr lang="en-US" altLang="zh-TW" sz="1200" b="0" i="0" u="none" strike="noStrike" baseline="0" dirty="0">
                <a:latin typeface="Times-Roman"/>
              </a:rPr>
              <a:t>, the information exchange is slow, resulting in longer solution times</a:t>
            </a:r>
          </a:p>
          <a:p>
            <a:pPr algn="l"/>
            <a:r>
              <a:rPr lang="en-US" altLang="zh-TW" sz="1200" b="0" i="0" u="none" strike="noStrike" baseline="0" dirty="0">
                <a:latin typeface="Times-Roman"/>
              </a:rPr>
              <a:t>If </a:t>
            </a:r>
            <a:r>
              <a:rPr lang="en-US" altLang="zh-TW" sz="1200" b="0" i="1" u="none" strike="noStrike" baseline="0" dirty="0">
                <a:latin typeface="MTMI"/>
              </a:rPr>
              <a:t>N </a:t>
            </a:r>
            <a:r>
              <a:rPr lang="en-US" altLang="zh-TW" sz="1200" b="0" i="0" u="none" strike="noStrike" baseline="0" dirty="0">
                <a:latin typeface="Times-Roman"/>
              </a:rPr>
              <a:t>is small, the memeplexes will be shuffled frequently, reducing idea exchange on the local scale.</a:t>
            </a:r>
          </a:p>
          <a:p>
            <a:pPr algn="l"/>
            <a:r>
              <a:rPr lang="en-US" altLang="zh-TW" sz="1200" b="0" i="0" u="none" strike="noStrike" baseline="0" dirty="0">
                <a:latin typeface="Times-Roman"/>
              </a:rPr>
              <a:t>On the other hand, if </a:t>
            </a:r>
            <a:r>
              <a:rPr lang="en-US" altLang="zh-TW" sz="1200" b="0" i="1" u="none" strike="noStrike" baseline="0" dirty="0">
                <a:latin typeface="MTMI"/>
              </a:rPr>
              <a:t>N </a:t>
            </a:r>
            <a:r>
              <a:rPr lang="en-US" altLang="zh-TW" sz="1200" b="0" i="0" u="none" strike="noStrike" baseline="0" dirty="0">
                <a:latin typeface="Times-Roman"/>
              </a:rPr>
              <a:t>is large, each memeplex will be shrunk into a local optimum</a:t>
            </a:r>
            <a:endParaRPr lang="zh-TW" altLang="en-US" b="1"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367746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200" b="0" i="0" u="none" strike="noStrike" baseline="0" dirty="0">
                <a:latin typeface="Times-Roman"/>
              </a:rPr>
              <a:t>If there are too few frogs in each memeplex, the advantage of the local memetic evolution strategy is lost.</a:t>
            </a:r>
          </a:p>
          <a:p>
            <a:pPr algn="l"/>
            <a:r>
              <a:rPr lang="en-US" altLang="zh-TW" sz="1200" b="0" i="0" u="none" strike="noStrike" baseline="0" dirty="0">
                <a:latin typeface="Times-Roman"/>
              </a:rPr>
              <a:t>when too few frogs are selected in a </a:t>
            </a:r>
            <a:r>
              <a:rPr lang="en-US" altLang="zh-TW" sz="1200" b="0" i="0" u="none" strike="noStrike" baseline="0" dirty="0" err="1">
                <a:latin typeface="Times-Roman"/>
              </a:rPr>
              <a:t>submemeplex</a:t>
            </a:r>
            <a:r>
              <a:rPr lang="en-US" altLang="zh-TW" sz="1200" b="0" i="0" u="none" strike="noStrike" baseline="0" dirty="0">
                <a:latin typeface="Times-Roman"/>
              </a:rPr>
              <a:t>, the information exchange is slow, resulting in longer solution times</a:t>
            </a:r>
          </a:p>
          <a:p>
            <a:pPr algn="l"/>
            <a:r>
              <a:rPr lang="en-US" altLang="zh-TW" sz="1200" b="0" i="0" u="none" strike="noStrike" baseline="0" dirty="0">
                <a:latin typeface="Times-Roman"/>
              </a:rPr>
              <a:t>If </a:t>
            </a:r>
            <a:r>
              <a:rPr lang="en-US" altLang="zh-TW" sz="1200" b="0" i="1" u="none" strike="noStrike" baseline="0" dirty="0">
                <a:latin typeface="MTMI"/>
              </a:rPr>
              <a:t>N </a:t>
            </a:r>
            <a:r>
              <a:rPr lang="en-US" altLang="zh-TW" sz="1200" b="0" i="0" u="none" strike="noStrike" baseline="0" dirty="0">
                <a:latin typeface="Times-Roman"/>
              </a:rPr>
              <a:t>is small, the memeplexes will be shuffled frequently, reducing idea exchange on the local scale.</a:t>
            </a:r>
          </a:p>
          <a:p>
            <a:pPr algn="l"/>
            <a:r>
              <a:rPr lang="en-US" altLang="zh-TW" sz="1200" b="0" i="0" u="none" strike="noStrike" baseline="0" dirty="0">
                <a:latin typeface="Times-Roman"/>
              </a:rPr>
              <a:t>On the other hand, if </a:t>
            </a:r>
            <a:r>
              <a:rPr lang="en-US" altLang="zh-TW" sz="1200" b="0" i="1" u="none" strike="noStrike" baseline="0" dirty="0">
                <a:latin typeface="MTMI"/>
              </a:rPr>
              <a:t>N </a:t>
            </a:r>
            <a:r>
              <a:rPr lang="en-US" altLang="zh-TW" sz="1200" b="0" i="0" u="none" strike="noStrike" baseline="0" dirty="0">
                <a:latin typeface="Times-Roman"/>
              </a:rPr>
              <a:t>is large, each memeplex will be shrunk into a local optimum</a:t>
            </a:r>
            <a:endParaRPr lang="zh-TW" altLang="en-US" b="1" dirty="0"/>
          </a:p>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042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800" b="0" i="0" u="none" strike="noStrike" baseline="0" dirty="0">
                <a:latin typeface="Times-Roman"/>
              </a:rPr>
              <a:t>20 runs</a:t>
            </a:r>
          </a:p>
          <a:p>
            <a:pPr algn="l"/>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3733590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sz="1800" b="0" i="0" u="none" strike="noStrike" baseline="0" dirty="0">
                <a:latin typeface="Times-Roman"/>
              </a:rPr>
              <a:t>One optima indicates the event when at least one frog is infected by the global optimal idea.</a:t>
            </a:r>
          </a:p>
          <a:p>
            <a:pPr algn="l"/>
            <a:r>
              <a:rPr lang="en-US" altLang="zh-TW" sz="1800" b="0" i="0" u="none" strike="noStrike" baseline="0" dirty="0">
                <a:latin typeface="Times-Roman"/>
              </a:rPr>
              <a:t>All optima indicate the event when all the frogs are infected by the global optimal idea.</a:t>
            </a:r>
          </a:p>
          <a:p>
            <a:pPr algn="l"/>
            <a:r>
              <a:rPr lang="en-US" altLang="zh-TW" sz="1800" b="0" i="0" u="none" strike="noStrike" baseline="0" dirty="0">
                <a:latin typeface="Times-Roman"/>
              </a:rPr>
              <a:t>The global optimal (0.998) was not found; rather the local best was determined.</a:t>
            </a:r>
          </a:p>
          <a:p>
            <a:pPr algn="l"/>
            <a:r>
              <a:rPr lang="en-US" altLang="zh-TW" sz="1800" b="0" i="0" u="none" strike="noStrike" baseline="0" dirty="0">
                <a:latin typeface="Times-Roman"/>
              </a:rPr>
              <a:t>The success rate was measured on the basis of the number of global optimal solutions found in ten runs.</a:t>
            </a:r>
          </a:p>
          <a:p>
            <a:pPr algn="l"/>
            <a:endParaRPr lang="en-US" altLang="zh-TW" sz="1800" b="0" i="0" u="none" strike="noStrike" baseline="0" dirty="0">
              <a:latin typeface="Times-Roman"/>
            </a:endParaRPr>
          </a:p>
          <a:p>
            <a:pPr algn="l"/>
            <a:r>
              <a:rPr lang="en-US" altLang="zh-TW" sz="1800" b="0" i="1" u="none" strike="noStrike" baseline="0" dirty="0">
                <a:latin typeface="MTMI"/>
              </a:rPr>
              <a:t>m </a:t>
            </a:r>
            <a:r>
              <a:rPr lang="en-US" altLang="zh-TW" sz="1800" b="0" i="0" u="none" strike="noStrike" baseline="0" dirty="0">
                <a:latin typeface="MTSYN"/>
              </a:rPr>
              <a:t>= </a:t>
            </a:r>
            <a:r>
              <a:rPr lang="en-US" altLang="zh-TW" sz="1800" b="0" i="0" u="none" strike="noStrike" baseline="0" dirty="0">
                <a:latin typeface="Times-Roman"/>
              </a:rPr>
              <a:t>20</a:t>
            </a:r>
            <a:r>
              <a:rPr lang="en-US" altLang="zh-TW" sz="1800" b="0" i="1" u="none" strike="noStrike" baseline="0" dirty="0">
                <a:latin typeface="MTMI"/>
              </a:rPr>
              <a:t>, n </a:t>
            </a:r>
            <a:r>
              <a:rPr lang="en-US" altLang="zh-TW" sz="1800" b="0" i="0" u="none" strike="noStrike" baseline="0" dirty="0">
                <a:latin typeface="MTSYN"/>
              </a:rPr>
              <a:t>= </a:t>
            </a:r>
            <a:r>
              <a:rPr lang="en-US" altLang="zh-TW" sz="1800" b="0" i="0" u="none" strike="noStrike" baseline="0" dirty="0">
                <a:latin typeface="Times-Roman"/>
              </a:rPr>
              <a:t>20</a:t>
            </a:r>
            <a:r>
              <a:rPr lang="en-US" altLang="zh-TW" sz="1800" b="0" i="1" u="none" strike="noStrike" baseline="0" dirty="0">
                <a:latin typeface="MTMI"/>
              </a:rPr>
              <a:t>, q </a:t>
            </a:r>
            <a:r>
              <a:rPr lang="en-US" altLang="zh-TW" sz="1800" b="0" i="0" u="none" strike="noStrike" baseline="0" dirty="0">
                <a:latin typeface="MTSYN"/>
              </a:rPr>
              <a:t>= </a:t>
            </a:r>
            <a:r>
              <a:rPr lang="en-US" altLang="zh-TW" sz="1800" b="0" i="0" u="none" strike="noStrike" baseline="0" dirty="0">
                <a:latin typeface="Times-Roman"/>
              </a:rPr>
              <a:t>5</a:t>
            </a:r>
            <a:r>
              <a:rPr lang="en-US" altLang="zh-TW" sz="1800" b="0" i="1" u="none" strike="noStrike" baseline="0" dirty="0">
                <a:latin typeface="MTMI"/>
              </a:rPr>
              <a:t>,N </a:t>
            </a:r>
            <a:r>
              <a:rPr lang="en-US" altLang="zh-TW" sz="1800" b="0" i="0" u="none" strike="noStrike" baseline="0" dirty="0">
                <a:latin typeface="MTSYN"/>
              </a:rPr>
              <a:t>= </a:t>
            </a:r>
            <a:r>
              <a:rPr lang="en-US" altLang="zh-TW" sz="1800" b="0" i="0" u="none" strike="noStrike" baseline="0" dirty="0">
                <a:latin typeface="Times-Roman"/>
              </a:rPr>
              <a:t>15 and </a:t>
            </a:r>
            <a:r>
              <a:rPr lang="en-US" altLang="zh-TW" sz="1800" b="1" i="1" u="none" strike="noStrike" baseline="0" dirty="0">
                <a:latin typeface="Times-BoldItalic"/>
              </a:rPr>
              <a:t>S</a:t>
            </a:r>
            <a:r>
              <a:rPr lang="en-US" altLang="zh-TW" sz="1800" b="0" i="0" u="none" strike="noStrike" baseline="0" dirty="0">
                <a:latin typeface="Times-Roman"/>
              </a:rPr>
              <a:t>max </a:t>
            </a:r>
            <a:r>
              <a:rPr lang="en-US" altLang="zh-TW" sz="1800" b="0" i="0" u="none" strike="noStrike" baseline="0" dirty="0">
                <a:latin typeface="MTSYN"/>
              </a:rPr>
              <a:t>= </a:t>
            </a:r>
            <a:r>
              <a:rPr lang="en-US" altLang="zh-TW" sz="1800" b="0" i="0" u="none" strike="noStrike" baseline="0" dirty="0">
                <a:latin typeface="Times-Roman"/>
              </a:rPr>
              <a:t>45%</a:t>
            </a:r>
          </a:p>
          <a:p>
            <a:pPr algn="l"/>
            <a:r>
              <a:rPr lang="en-US" altLang="zh-TW" sz="1800" b="0" i="1" u="none" strike="noStrike" baseline="0" dirty="0">
                <a:latin typeface="MTMI"/>
              </a:rPr>
              <a:t>m </a:t>
            </a:r>
            <a:r>
              <a:rPr lang="en-US" altLang="zh-TW" sz="1800" b="0" i="0" u="none" strike="noStrike" baseline="0" dirty="0">
                <a:latin typeface="MTSYN"/>
              </a:rPr>
              <a:t>= </a:t>
            </a:r>
            <a:r>
              <a:rPr lang="en-US" altLang="zh-TW" sz="1800" b="0" i="0" u="none" strike="noStrike" baseline="0" dirty="0">
                <a:latin typeface="Times-Roman"/>
              </a:rPr>
              <a:t>20</a:t>
            </a:r>
            <a:r>
              <a:rPr lang="en-US" altLang="zh-TW" sz="1800" b="0" i="1" u="none" strike="noStrike" baseline="0" dirty="0">
                <a:latin typeface="MTMI"/>
              </a:rPr>
              <a:t>, n </a:t>
            </a:r>
            <a:r>
              <a:rPr lang="en-US" altLang="zh-TW" sz="1800" b="0" i="0" u="none" strike="noStrike" baseline="0" dirty="0">
                <a:latin typeface="MTSYN"/>
              </a:rPr>
              <a:t>= </a:t>
            </a:r>
            <a:r>
              <a:rPr lang="en-US" altLang="zh-TW" sz="1800" b="0" i="0" u="none" strike="noStrike" baseline="0" dirty="0">
                <a:latin typeface="Times-Roman"/>
              </a:rPr>
              <a:t>20</a:t>
            </a:r>
            <a:r>
              <a:rPr lang="en-US" altLang="zh-TW" sz="1800" b="0" i="1" u="none" strike="noStrike" baseline="0" dirty="0">
                <a:latin typeface="MTMI"/>
              </a:rPr>
              <a:t>, q </a:t>
            </a:r>
            <a:r>
              <a:rPr lang="en-US" altLang="zh-TW" sz="1800" b="0" i="0" u="none" strike="noStrike" baseline="0" dirty="0">
                <a:latin typeface="MTSYN"/>
              </a:rPr>
              <a:t>= 1</a:t>
            </a:r>
            <a:r>
              <a:rPr lang="en-US" altLang="zh-TW" sz="1800" b="0" i="0" u="none" strike="noStrike" baseline="0" dirty="0">
                <a:latin typeface="Times-Roman"/>
              </a:rPr>
              <a:t>5</a:t>
            </a:r>
            <a:r>
              <a:rPr lang="en-US" altLang="zh-TW" sz="1800" b="0" i="1" u="none" strike="noStrike" baseline="0" dirty="0">
                <a:latin typeface="MTMI"/>
              </a:rPr>
              <a:t>,N </a:t>
            </a:r>
            <a:r>
              <a:rPr lang="en-US" altLang="zh-TW" sz="1800" b="0" i="0" u="none" strike="noStrike" baseline="0" dirty="0">
                <a:latin typeface="MTSYN"/>
              </a:rPr>
              <a:t>= </a:t>
            </a:r>
            <a:r>
              <a:rPr lang="en-US" altLang="zh-TW" sz="1800" b="0" i="0" u="none" strike="noStrike" baseline="0" dirty="0">
                <a:latin typeface="Times-Roman"/>
              </a:rPr>
              <a:t>15 and </a:t>
            </a:r>
            <a:r>
              <a:rPr lang="en-US" altLang="zh-TW" sz="1800" b="1" i="1" u="none" strike="noStrike" baseline="0" dirty="0">
                <a:latin typeface="Times-BoldItalic"/>
              </a:rPr>
              <a:t>S</a:t>
            </a:r>
            <a:r>
              <a:rPr lang="en-US" altLang="zh-TW" sz="1800" b="0" i="0" u="none" strike="noStrike" baseline="0" dirty="0">
                <a:latin typeface="Times-Roman"/>
              </a:rPr>
              <a:t>max </a:t>
            </a:r>
            <a:r>
              <a:rPr lang="en-US" altLang="zh-TW" sz="1800" b="0" i="0" u="none" strike="noStrike" baseline="0" dirty="0">
                <a:latin typeface="MTSYN"/>
              </a:rPr>
              <a:t>= </a:t>
            </a:r>
            <a:r>
              <a:rPr lang="en-US" altLang="zh-TW" sz="1800" b="0" i="0" u="none" strike="noStrike" baseline="0" dirty="0">
                <a:latin typeface="Times-Roman"/>
              </a:rPr>
              <a:t>45%</a:t>
            </a:r>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197500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endParaRPr lang="zh-TW" altLang="en-US" b="1"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14</a:t>
            </a:fld>
            <a:endParaRPr lang="zh-TW" altLang="en-US"/>
          </a:p>
        </p:txBody>
      </p:sp>
    </p:spTree>
    <p:extLst>
      <p:ext uri="{BB962C8B-B14F-4D97-AF65-F5344CB8AC3E}">
        <p14:creationId xmlns:p14="http://schemas.microsoft.com/office/powerpoint/2010/main" val="1122852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2021/2/23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97899" y="1614258"/>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Shuffled Frog-leaping Algorithm: </a:t>
            </a:r>
            <a:br>
              <a:rPr lang="en-US" altLang="zh-TW" sz="3600" dirty="0">
                <a:latin typeface="Times New Roman" panose="02020603050405020304" pitchFamily="18" charset="0"/>
                <a:cs typeface="Times New Roman" panose="02020603050405020304" pitchFamily="18" charset="0"/>
              </a:rPr>
            </a:br>
            <a:r>
              <a:rPr lang="en-US" altLang="zh-TW" sz="3600" dirty="0">
                <a:latin typeface="Times New Roman" panose="02020603050405020304" pitchFamily="18" charset="0"/>
                <a:cs typeface="Times New Roman" panose="02020603050405020304" pitchFamily="18" charset="0"/>
              </a:rPr>
              <a:t>A Memetic Metaheuristic for Discrete Optimization</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303867"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Muzaffar </a:t>
            </a:r>
            <a:r>
              <a:rPr lang="en-US" altLang="zh-TW" sz="2800" dirty="0" err="1">
                <a:latin typeface="Times New Roman" panose="02020603050405020304" pitchFamily="18" charset="0"/>
                <a:cs typeface="Times New Roman" panose="02020603050405020304" pitchFamily="18" charset="0"/>
              </a:rPr>
              <a:t>Eusuff</a:t>
            </a:r>
            <a:r>
              <a:rPr lang="en-US" altLang="zh-TW" sz="2800" dirty="0">
                <a:latin typeface="Times New Roman" panose="02020603050405020304" pitchFamily="18" charset="0"/>
                <a:cs typeface="Times New Roman" panose="02020603050405020304" pitchFamily="18" charset="0"/>
              </a:rPr>
              <a:t>, Kevin </a:t>
            </a:r>
            <a:r>
              <a:rPr lang="en-US" altLang="zh-TW" sz="2800" dirty="0" err="1">
                <a:latin typeface="Times New Roman" panose="02020603050405020304" pitchFamily="18" charset="0"/>
                <a:cs typeface="Times New Roman" panose="02020603050405020304" pitchFamily="18" charset="0"/>
              </a:rPr>
              <a:t>Lansey</a:t>
            </a:r>
            <a:r>
              <a:rPr lang="en-US" altLang="zh-TW" sz="2800" dirty="0">
                <a:latin typeface="Times New Roman" panose="02020603050405020304" pitchFamily="18" charset="0"/>
                <a:cs typeface="Times New Roman" panose="02020603050405020304" pitchFamily="18" charset="0"/>
              </a:rPr>
              <a:t> and </a:t>
            </a:r>
            <a:r>
              <a:rPr lang="en-US" altLang="zh-TW" sz="2800" dirty="0" err="1">
                <a:latin typeface="Times New Roman" panose="02020603050405020304" pitchFamily="18" charset="0"/>
                <a:cs typeface="Times New Roman" panose="02020603050405020304" pitchFamily="18" charset="0"/>
              </a:rPr>
              <a:t>Fayzul</a:t>
            </a:r>
            <a:r>
              <a:rPr lang="en-US" altLang="zh-TW" sz="2800" dirty="0">
                <a:latin typeface="Times New Roman" panose="02020603050405020304" pitchFamily="18" charset="0"/>
                <a:cs typeface="Times New Roman" panose="02020603050405020304" pitchFamily="18" charset="0"/>
              </a:rPr>
              <a:t> Pasha</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Dec. 29,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760548" y="4066229"/>
            <a:ext cx="7622889" cy="461665"/>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Engineering Optimization, Vol. 38, No. 2, pp. 129-154, 2006</a:t>
            </a:r>
          </a:p>
        </p:txBody>
      </p:sp>
    </p:spTree>
    <p:extLst>
      <p:ext uri="{BB962C8B-B14F-4D97-AF65-F5344CB8AC3E}">
        <p14:creationId xmlns:p14="http://schemas.microsoft.com/office/powerpoint/2010/main" val="3772700387"/>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A memetic meta-heuristic called the shuffled frog-leaping algorithm (SFLA) has been developed for solving combinatorial optimization problems. The SFLA is a population-based cooperative search metaphor inspired by natural memetics. The algorithm contains elements of local search and global information exchange. The SFLA consists of a set of interacting virtual population of frogs partitioned into different memeplexes. The virtual frogs act as hosts or carriers of memes where a meme is a unit of cultural evolution. The algorithm performs simultaneously an independent local search in each memeplex. The local search is completed using a particle swarm optimization-like method adapted for discrete problems but emphasizing a local search.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To ensure global exploration, the virtual frogs are periodically shuffled and reorganized into new </a:t>
            </a:r>
            <a:r>
              <a:rPr lang="en-US" altLang="zh-TW" dirty="0" err="1">
                <a:latin typeface="Times New Roman" panose="02020603050405020304" pitchFamily="18" charset="0"/>
                <a:cs typeface="Times New Roman" panose="02020603050405020304" pitchFamily="18" charset="0"/>
              </a:rPr>
              <a:t>memplexes</a:t>
            </a:r>
            <a:r>
              <a:rPr lang="en-US" altLang="zh-TW" dirty="0">
                <a:latin typeface="Times New Roman" panose="02020603050405020304" pitchFamily="18" charset="0"/>
                <a:cs typeface="Times New Roman" panose="02020603050405020304" pitchFamily="18" charset="0"/>
              </a:rPr>
              <a:t> in a technique similar to that used in the shuffled complex evolution algorithm. In addition, to provide the opportunity for random generation of improved information, random virtual frogs are generated and substituted in the population. The algorithm has been tested on several test functions that present difficulties common to many global optimization problems. The effectiveness and suitability of this algorithm have also been demonstrated by applying it to a groundwater model calibration problem and a water distribution system design problem. </a:t>
            </a:r>
          </a:p>
        </p:txBody>
      </p:sp>
    </p:spTree>
    <p:extLst>
      <p:ext uri="{BB962C8B-B14F-4D97-AF65-F5344CB8AC3E}">
        <p14:creationId xmlns:p14="http://schemas.microsoft.com/office/powerpoint/2010/main" val="3465235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79816"/>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Abstract(3/3)</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86318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Compared with a genetic algorithm, the experimental results in terms of the likelihood of convergence to a global optimal solution and the solution speed suggest that the SFLA can be an effective tool for solving combinatorial optimization problems.</a:t>
            </a:r>
          </a:p>
        </p:txBody>
      </p:sp>
    </p:spTree>
    <p:extLst>
      <p:ext uri="{BB962C8B-B14F-4D97-AF65-F5344CB8AC3E}">
        <p14:creationId xmlns:p14="http://schemas.microsoft.com/office/powerpoint/2010/main" val="269161208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Shuffled Frog-leaping Algorithm(SFLA)(1/5)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6593F29A-FE7E-4A5C-A6C6-958A09839C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46044" y="930320"/>
            <a:ext cx="6651911" cy="5927680"/>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Meme</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664249"/>
            <a:ext cx="312390" cy="385893"/>
          </a:xfrm>
          <a:prstGeom prst="rect">
            <a:avLst/>
          </a:prstGeom>
        </p:spPr>
      </p:pic>
      <p:sp>
        <p:nvSpPr>
          <p:cNvPr id="5" name="內容版面配置區 2">
            <a:extLst>
              <a:ext uri="{FF2B5EF4-FFF2-40B4-BE49-F238E27FC236}">
                <a16:creationId xmlns:a16="http://schemas.microsoft.com/office/drawing/2014/main" id="{64F63042-E173-4BC9-BDB0-6519F08AD55E}"/>
              </a:ext>
            </a:extLst>
          </p:cNvPr>
          <p:cNvSpPr>
            <a:spLocks noGrp="1"/>
          </p:cNvSpPr>
          <p:nvPr>
            <p:ph idx="1"/>
          </p:nvPr>
        </p:nvSpPr>
        <p:spPr>
          <a:xfrm>
            <a:off x="69503" y="1060778"/>
            <a:ext cx="9004993" cy="5131633"/>
          </a:xfrm>
        </p:spPr>
        <p:txBody>
          <a:bodyPr>
            <a:noAutofit/>
          </a:bodyPr>
          <a:lstStyle/>
          <a:p>
            <a:pPr>
              <a:lnSpc>
                <a:spcPts val="3200"/>
              </a:lnSpc>
            </a:pPr>
            <a:r>
              <a:rPr lang="en-US" altLang="zh-TW" sz="2000" dirty="0">
                <a:latin typeface="Times New Roman" panose="02020603050405020304" pitchFamily="18" charset="0"/>
                <a:cs typeface="Times New Roman" panose="02020603050405020304" pitchFamily="18" charset="0"/>
              </a:rPr>
              <a:t>Meme is a contagious information pattern that replicates by parasitically infecting human and/or animal minds and altering their behavior, which causes them to propagate the pattern.	</a:t>
            </a:r>
          </a:p>
          <a:p>
            <a:pPr>
              <a:lnSpc>
                <a:spcPts val="3200"/>
              </a:lnSpc>
            </a:pPr>
            <a:r>
              <a:rPr lang="en-US" altLang="zh-TW" sz="2000" dirty="0">
                <a:latin typeface="Times New Roman" panose="02020603050405020304" pitchFamily="18" charset="0"/>
                <a:cs typeface="Times New Roman" panose="02020603050405020304" pitchFamily="18" charset="0"/>
              </a:rPr>
              <a:t>Examples of memes are songs, ideas, catch phrases, clothes fashions and ways of making pots or of building arches.</a:t>
            </a:r>
          </a:p>
          <a:p>
            <a:pPr>
              <a:lnSpc>
                <a:spcPts val="3200"/>
              </a:lnSpc>
            </a:pPr>
            <a:r>
              <a:rPr lang="en-US" altLang="zh-TW" sz="2000" dirty="0">
                <a:latin typeface="Times New Roman" panose="02020603050405020304" pitchFamily="18" charset="0"/>
                <a:cs typeface="Times New Roman" panose="02020603050405020304" pitchFamily="18" charset="0"/>
              </a:rPr>
              <a:t>Memes propagate themselves in the meme pool by leaping from brain to brain via a process that, in the broad sense, can be called imitation.</a:t>
            </a:r>
          </a:p>
          <a:p>
            <a:pPr>
              <a:lnSpc>
                <a:spcPts val="3200"/>
              </a:lnSpc>
            </a:pPr>
            <a:endParaRPr lang="en-US" altLang="zh-TW" sz="2000" dirty="0">
              <a:latin typeface="Times New Roman" panose="02020603050405020304" pitchFamily="18" charset="0"/>
              <a:cs typeface="Times New Roman" panose="02020603050405020304" pitchFamily="18" charset="0"/>
            </a:endParaRPr>
          </a:p>
          <a:p>
            <a:pPr marL="0" indent="0">
              <a:lnSpc>
                <a:spcPts val="3200"/>
              </a:lnSpc>
              <a:buNone/>
            </a:pPr>
            <a:endParaRPr lang="en-US" altLang="zh-TW" dirty="0">
              <a:latin typeface="Times New Roman" panose="02020603050405020304" pitchFamily="18" charset="0"/>
              <a:cs typeface="Times New Roman" panose="02020603050405020304" pitchFamily="18" charset="0"/>
            </a:endParaRPr>
          </a:p>
          <a:p>
            <a:pPr marL="0" indent="0">
              <a:lnSpc>
                <a:spcPts val="3200"/>
              </a:lnSpc>
              <a:buNone/>
            </a:pPr>
            <a:r>
              <a:rPr lang="en-US" altLang="zh-TW" dirty="0">
                <a:latin typeface="Times New Roman" panose="02020603050405020304" pitchFamily="18" charset="0"/>
                <a:cs typeface="Times New Roman" panose="02020603050405020304" pitchFamily="18" charset="0"/>
              </a:rPr>
              <a:t>	</a:t>
            </a:r>
          </a:p>
          <a:p>
            <a:pPr marL="514350" indent="-514350">
              <a:lnSpc>
                <a:spcPts val="3200"/>
              </a:lnSpc>
              <a:buAutoNum type="arabicPeriod" startAt="3"/>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59837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263402"/>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Comparison of Memes and Genes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664249"/>
            <a:ext cx="312390" cy="385893"/>
          </a:xfrm>
          <a:prstGeom prst="rect">
            <a:avLst/>
          </a:prstGeom>
        </p:spPr>
      </p:pic>
      <p:sp>
        <p:nvSpPr>
          <p:cNvPr id="5" name="內容版面配置區 2">
            <a:extLst>
              <a:ext uri="{FF2B5EF4-FFF2-40B4-BE49-F238E27FC236}">
                <a16:creationId xmlns:a16="http://schemas.microsoft.com/office/drawing/2014/main" id="{64F63042-E173-4BC9-BDB0-6519F08AD55E}"/>
              </a:ext>
            </a:extLst>
          </p:cNvPr>
          <p:cNvSpPr>
            <a:spLocks noGrp="1"/>
          </p:cNvSpPr>
          <p:nvPr>
            <p:ph idx="1"/>
          </p:nvPr>
        </p:nvSpPr>
        <p:spPr>
          <a:xfrm>
            <a:off x="69503" y="918509"/>
            <a:ext cx="9004993" cy="5131633"/>
          </a:xfrm>
        </p:spPr>
        <p:txBody>
          <a:bodyPr>
            <a:noAutofit/>
          </a:bodyPr>
          <a:lstStyle/>
          <a:p>
            <a:pPr marL="0" indent="0">
              <a:lnSpc>
                <a:spcPts val="3200"/>
              </a:lnSpc>
              <a:buNone/>
            </a:pPr>
            <a:r>
              <a:rPr lang="en-US" altLang="zh-TW" sz="2000" dirty="0">
                <a:latin typeface="Times New Roman" panose="02020603050405020304" pitchFamily="18" charset="0"/>
                <a:cs typeface="Times New Roman" panose="02020603050405020304" pitchFamily="18" charset="0"/>
              </a:rPr>
              <a:t>Memes : </a:t>
            </a:r>
          </a:p>
          <a:p>
            <a:pPr>
              <a:lnSpc>
                <a:spcPts val="3200"/>
              </a:lnSpc>
            </a:pPr>
            <a:r>
              <a:rPr lang="en-US" altLang="zh-TW" sz="2000" dirty="0">
                <a:latin typeface="Times New Roman" panose="02020603050405020304" pitchFamily="18" charset="0"/>
                <a:cs typeface="Times New Roman" panose="02020603050405020304" pitchFamily="18" charset="0"/>
              </a:rPr>
              <a:t>Increased communicability among the hosts.</a:t>
            </a:r>
          </a:p>
          <a:p>
            <a:pPr>
              <a:lnSpc>
                <a:spcPts val="3200"/>
              </a:lnSpc>
            </a:pPr>
            <a:r>
              <a:rPr lang="en-US" altLang="zh-TW" sz="2000" dirty="0">
                <a:latin typeface="Times New Roman" panose="02020603050405020304" pitchFamily="18" charset="0"/>
                <a:cs typeface="Times New Roman" panose="02020603050405020304" pitchFamily="18" charset="0"/>
              </a:rPr>
              <a:t>Can be transmitted between any two individuals.</a:t>
            </a:r>
          </a:p>
          <a:p>
            <a:pPr>
              <a:lnSpc>
                <a:spcPts val="3200"/>
              </a:lnSpc>
            </a:pPr>
            <a:r>
              <a:rPr lang="en-US" altLang="zh-TW" sz="2000" dirty="0">
                <a:latin typeface="Times New Roman" panose="02020603050405020304" pitchFamily="18" charset="0"/>
                <a:cs typeface="Times New Roman" panose="02020603050405020304" pitchFamily="18" charset="0"/>
              </a:rPr>
              <a:t>Can be transmitted in the space of minutes.</a:t>
            </a:r>
          </a:p>
          <a:p>
            <a:pPr>
              <a:lnSpc>
                <a:spcPts val="3200"/>
              </a:lnSpc>
            </a:pPr>
            <a:r>
              <a:rPr lang="en-US" altLang="zh-TW" sz="2000" dirty="0">
                <a:latin typeface="Times New Roman" panose="02020603050405020304" pitchFamily="18" charset="0"/>
                <a:cs typeface="Times New Roman" panose="02020603050405020304" pitchFamily="18" charset="0"/>
              </a:rPr>
              <a:t>Can take over a meme from a single individual is almost unlimited.</a:t>
            </a:r>
          </a:p>
          <a:p>
            <a:pPr>
              <a:lnSpc>
                <a:spcPts val="3200"/>
              </a:lnSpc>
            </a:pPr>
            <a:r>
              <a:rPr lang="en-US" altLang="zh-TW" sz="2000" dirty="0">
                <a:latin typeface="Times New Roman" panose="02020603050405020304" pitchFamily="18" charset="0"/>
                <a:cs typeface="Times New Roman" panose="02020603050405020304" pitchFamily="18" charset="0"/>
              </a:rPr>
              <a:t>Spreading is much faster, can be improved by the person.</a:t>
            </a:r>
          </a:p>
          <a:p>
            <a:pPr marL="0" indent="0">
              <a:lnSpc>
                <a:spcPts val="3200"/>
              </a:lnSpc>
              <a:buNone/>
            </a:pPr>
            <a:r>
              <a:rPr lang="en-US" altLang="zh-TW" sz="2000" dirty="0">
                <a:latin typeface="Times New Roman" panose="02020603050405020304" pitchFamily="18" charset="0"/>
                <a:cs typeface="Times New Roman" panose="02020603050405020304" pitchFamily="18" charset="0"/>
              </a:rPr>
              <a:t>Genes : </a:t>
            </a:r>
          </a:p>
          <a:p>
            <a:pPr>
              <a:lnSpc>
                <a:spcPts val="3200"/>
              </a:lnSpc>
            </a:pPr>
            <a:r>
              <a:rPr lang="en-US" altLang="zh-TW" sz="2000" dirty="0">
                <a:latin typeface="Times New Roman" panose="02020603050405020304" pitchFamily="18" charset="0"/>
                <a:cs typeface="Times New Roman" panose="02020603050405020304" pitchFamily="18" charset="0"/>
              </a:rPr>
              <a:t>For sexual reproducibility.</a:t>
            </a:r>
          </a:p>
          <a:p>
            <a:pPr>
              <a:lnSpc>
                <a:spcPts val="3200"/>
              </a:lnSpc>
            </a:pPr>
            <a:r>
              <a:rPr lang="en-US" altLang="zh-TW" sz="2000" dirty="0">
                <a:latin typeface="Times New Roman" panose="02020603050405020304" pitchFamily="18" charset="0"/>
                <a:cs typeface="Times New Roman" panose="02020603050405020304" pitchFamily="18" charset="0"/>
              </a:rPr>
              <a:t>Can only be transmitted from parents or parent.</a:t>
            </a:r>
          </a:p>
          <a:p>
            <a:pPr>
              <a:lnSpc>
                <a:spcPts val="3200"/>
              </a:lnSpc>
            </a:pPr>
            <a:r>
              <a:rPr lang="en-US" altLang="zh-TW" sz="2000" dirty="0">
                <a:latin typeface="Times New Roman" panose="02020603050405020304" pitchFamily="18" charset="0"/>
                <a:cs typeface="Times New Roman" panose="02020603050405020304" pitchFamily="18" charset="0"/>
              </a:rPr>
              <a:t>Transmitted between generations.</a:t>
            </a:r>
          </a:p>
          <a:p>
            <a:pPr>
              <a:lnSpc>
                <a:spcPts val="3200"/>
              </a:lnSpc>
            </a:pPr>
            <a:r>
              <a:rPr lang="en-US" altLang="zh-TW" sz="2000" dirty="0">
                <a:latin typeface="Times New Roman" panose="02020603050405020304" pitchFamily="18" charset="0"/>
                <a:cs typeface="Times New Roman" panose="02020603050405020304" pitchFamily="18" charset="0"/>
              </a:rPr>
              <a:t>Restricted by the rather small number of offspring from a single parent.</a:t>
            </a:r>
          </a:p>
          <a:p>
            <a:pPr marL="0" indent="0">
              <a:lnSpc>
                <a:spcPts val="3200"/>
              </a:lnSpc>
              <a:buNone/>
            </a:pPr>
            <a:endParaRPr lang="en-US" altLang="zh-TW" dirty="0">
              <a:latin typeface="Times New Roman" panose="02020603050405020304" pitchFamily="18" charset="0"/>
              <a:cs typeface="Times New Roman" panose="02020603050405020304" pitchFamily="18" charset="0"/>
            </a:endParaRPr>
          </a:p>
          <a:p>
            <a:pPr marL="0" indent="0">
              <a:lnSpc>
                <a:spcPts val="3200"/>
              </a:lnSpc>
              <a:buNone/>
            </a:pPr>
            <a:r>
              <a:rPr lang="en-US" altLang="zh-TW" dirty="0">
                <a:latin typeface="Times New Roman" panose="02020603050405020304" pitchFamily="18" charset="0"/>
                <a:cs typeface="Times New Roman" panose="02020603050405020304" pitchFamily="18" charset="0"/>
              </a:rPr>
              <a:t>	</a:t>
            </a:r>
          </a:p>
          <a:p>
            <a:pPr marL="514350" indent="-514350">
              <a:lnSpc>
                <a:spcPts val="3200"/>
              </a:lnSpc>
              <a:buAutoNum type="arabicPeriod" startAt="3"/>
            </a:pP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21854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Shuffled Frog-leaping Algorithm(SFLA)(2/5)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4" name="圖片 3">
            <a:extLst>
              <a:ext uri="{FF2B5EF4-FFF2-40B4-BE49-F238E27FC236}">
                <a16:creationId xmlns:a16="http://schemas.microsoft.com/office/drawing/2014/main" id="{AF7B75A4-7815-482C-8612-BE47F71FDF7F}"/>
              </a:ext>
            </a:extLst>
          </p:cNvPr>
          <p:cNvPicPr>
            <a:picLocks noChangeAspect="1"/>
          </p:cNvPicPr>
          <p:nvPr/>
        </p:nvPicPr>
        <p:blipFill>
          <a:blip r:embed="rId4"/>
          <a:stretch>
            <a:fillRect/>
          </a:stretch>
        </p:blipFill>
        <p:spPr>
          <a:xfrm>
            <a:off x="1694504" y="1657747"/>
            <a:ext cx="5754992" cy="3802221"/>
          </a:xfrm>
          <a:prstGeom prst="rect">
            <a:avLst/>
          </a:prstGeom>
        </p:spPr>
      </p:pic>
    </p:spTree>
    <p:extLst>
      <p:ext uri="{BB962C8B-B14F-4D97-AF65-F5344CB8AC3E}">
        <p14:creationId xmlns:p14="http://schemas.microsoft.com/office/powerpoint/2010/main" val="15217241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Shuffled Frog-leaping Algorithm(SFLA)(3/5)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664249"/>
            <a:ext cx="312390" cy="385893"/>
          </a:xfrm>
          <a:prstGeom prst="rect">
            <a:avLst/>
          </a:prstGeom>
        </p:spPr>
      </p:pic>
      <mc:AlternateContent xmlns:mc="http://schemas.openxmlformats.org/markup-compatibility/2006" xmlns:a14="http://schemas.microsoft.com/office/drawing/2010/main">
        <mc:Choice Requires="a14">
          <p:sp>
            <p:nvSpPr>
              <p:cNvPr id="5" name="內容版面配置區 2">
                <a:extLst>
                  <a:ext uri="{FF2B5EF4-FFF2-40B4-BE49-F238E27FC236}">
                    <a16:creationId xmlns:a16="http://schemas.microsoft.com/office/drawing/2014/main" id="{64F63042-E173-4BC9-BDB0-6519F08AD55E}"/>
                  </a:ext>
                </a:extLst>
              </p:cNvPr>
              <p:cNvSpPr>
                <a:spLocks noGrp="1"/>
              </p:cNvSpPr>
              <p:nvPr>
                <p:ph idx="1"/>
              </p:nvPr>
            </p:nvSpPr>
            <p:spPr>
              <a:xfrm>
                <a:off x="69503" y="1060778"/>
                <a:ext cx="9004993" cy="5131633"/>
              </a:xfrm>
            </p:spPr>
            <p:txBody>
              <a:bodyPr>
                <a:noAutofit/>
              </a:bodyPr>
              <a:lstStyle/>
              <a:p>
                <a:pPr marL="514350" indent="-514350">
                  <a:lnSpc>
                    <a:spcPts val="3200"/>
                  </a:lnSpc>
                  <a:buAutoNum type="arabicPeriod"/>
                </a:pPr>
                <a:r>
                  <a:rPr lang="en-US" altLang="zh-TW" sz="2000" dirty="0">
                    <a:latin typeface="Times New Roman" panose="02020603050405020304" pitchFamily="18" charset="0"/>
                    <a:cs typeface="Times New Roman" panose="02020603050405020304" pitchFamily="18" charset="0"/>
                  </a:rPr>
                  <a:t>Find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smtClean="0">
                            <a:latin typeface="Cambria Math" panose="02040503050406030204" pitchFamily="18" charset="0"/>
                          </a:rPr>
                          <m:t>𝑃</m:t>
                        </m:r>
                      </m:e>
                      <m:sub>
                        <m:r>
                          <a:rPr lang="en-US" altLang="zh-TW" sz="2000" i="1" dirty="0" smtClean="0">
                            <a:latin typeface="Cambria Math" panose="02040503050406030204" pitchFamily="18" charset="0"/>
                          </a:rPr>
                          <m:t>𝐵</m:t>
                        </m:r>
                      </m:sub>
                    </m:sSub>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000" i="1" dirty="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b="0" i="1" dirty="0" smtClean="0">
                            <a:latin typeface="Cambria Math" panose="02040503050406030204" pitchFamily="18" charset="0"/>
                          </a:rPr>
                          <m:t>𝑊</m:t>
                        </m:r>
                      </m:sub>
                    </m:sSub>
                  </m:oMath>
                </a14:m>
                <a:endParaRPr lang="en-US" altLang="zh-TW" sz="2000" dirty="0">
                  <a:latin typeface="Times New Roman" panose="02020603050405020304" pitchFamily="18" charset="0"/>
                </a:endParaRPr>
              </a:p>
              <a:p>
                <a:pPr marL="514350" indent="-514350">
                  <a:lnSpc>
                    <a:spcPts val="3200"/>
                  </a:lnSpc>
                  <a:buAutoNum type="arabicPeriod"/>
                </a:pPr>
                <a:r>
                  <a:rPr lang="en-US" altLang="zh-TW" sz="2000" dirty="0">
                    <a:latin typeface="Times New Roman" panose="02020603050405020304" pitchFamily="18" charset="0"/>
                    <a:cs typeface="Times New Roman" panose="02020603050405020304" pitchFamily="18" charset="0"/>
                  </a:rPr>
                  <a:t>Construct a </a:t>
                </a:r>
                <a:r>
                  <a:rPr lang="en-US" altLang="zh-TW" sz="2000" dirty="0" err="1">
                    <a:latin typeface="Times New Roman" panose="02020603050405020304" pitchFamily="18" charset="0"/>
                    <a:cs typeface="Times New Roman" panose="02020603050405020304" pitchFamily="18" charset="0"/>
                  </a:rPr>
                  <a:t>submemeplex</a:t>
                </a:r>
                <a:r>
                  <a:rPr lang="zh-TW" altLang="en-US" sz="2000" dirty="0">
                    <a:latin typeface="Times New Roman" panose="02020603050405020304" pitchFamily="18" charset="0"/>
                    <a:cs typeface="Times New Roman" panose="02020603050405020304" pitchFamily="18" charset="0"/>
                  </a:rPr>
                  <a:t>：</a:t>
                </a:r>
                <a:endParaRPr lang="en-US" altLang="zh-TW" sz="2000" dirty="0">
                  <a:latin typeface="Times New Roman" panose="02020603050405020304" pitchFamily="18" charset="0"/>
                  <a:cs typeface="Times New Roman" panose="02020603050405020304" pitchFamily="18" charset="0"/>
                </a:endParaRPr>
              </a:p>
              <a:p>
                <a:pPr marL="0" indent="0">
                  <a:lnSpc>
                    <a:spcPts val="3200"/>
                  </a:lnSpc>
                  <a:buNone/>
                </a:pPr>
                <a:r>
                  <a:rPr lang="en-US" altLang="zh-TW"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TW" sz="2000" i="1" dirty="0">
                            <a:latin typeface="Cambria Math" panose="02040503050406030204" pitchFamily="18" charset="0"/>
                          </a:rPr>
                        </m:ctrlPr>
                      </m:sSubPr>
                      <m:e>
                        <m:r>
                          <a:rPr lang="en-US" altLang="zh-TW" sz="2000" i="1" dirty="0">
                            <a:latin typeface="Cambria Math" panose="02040503050406030204" pitchFamily="18" charset="0"/>
                          </a:rPr>
                          <m:t>𝑝</m:t>
                        </m:r>
                      </m:e>
                      <m:sub>
                        <m:r>
                          <a:rPr lang="en-US" altLang="zh-TW" sz="2000" i="1" dirty="0">
                            <a:latin typeface="Cambria Math" panose="02040503050406030204" pitchFamily="18" charset="0"/>
                          </a:rPr>
                          <m:t>𝑗</m:t>
                        </m:r>
                      </m:sub>
                    </m:sSub>
                  </m:oMath>
                </a14:m>
                <a:r>
                  <a:rPr lang="pt-BR" altLang="zh-TW" sz="2000" dirty="0">
                    <a:latin typeface="Times New Roman" panose="02020603050405020304" pitchFamily="18" charset="0"/>
                    <a:cs typeface="Times New Roman" panose="02020603050405020304" pitchFamily="18" charset="0"/>
                  </a:rPr>
                  <a:t> = 2(n + 1 − j ) / n(n + 1),  j = 1, . . . , n</a:t>
                </a:r>
                <a:endParaRPr lang="en-US" altLang="zh-TW" sz="2000" dirty="0">
                  <a:latin typeface="Times New Roman" panose="02020603050405020304" pitchFamily="18" charset="0"/>
                  <a:cs typeface="Times New Roman" panose="02020603050405020304" pitchFamily="18" charset="0"/>
                </a:endParaRPr>
              </a:p>
              <a:p>
                <a:pPr marL="514350" indent="-514350">
                  <a:lnSpc>
                    <a:spcPts val="3200"/>
                  </a:lnSpc>
                  <a:buAutoNum type="arabicPeriod" startAt="3"/>
                </a:pPr>
                <a:r>
                  <a:rPr lang="en-US" altLang="zh-TW" sz="2000" dirty="0">
                    <a:latin typeface="Times New Roman" panose="02020603050405020304" pitchFamily="18" charset="0"/>
                    <a:cs typeface="Times New Roman" panose="02020603050405020304" pitchFamily="18" charset="0"/>
                  </a:rPr>
                  <a:t>Improve the worst frog’s position</a:t>
                </a:r>
                <a:r>
                  <a:rPr lang="zh-TW" altLang="en-US" sz="2000" dirty="0">
                    <a:latin typeface="Times New Roman" panose="02020603050405020304" pitchFamily="18" charset="0"/>
                    <a:cs typeface="Times New Roman" panose="02020603050405020304" pitchFamily="18" charset="0"/>
                  </a:rPr>
                  <a:t>：</a:t>
                </a:r>
                <a:endParaRPr lang="en-US" altLang="zh-TW" sz="2000" dirty="0">
                  <a:latin typeface="Times New Roman" panose="02020603050405020304" pitchFamily="18" charset="0"/>
                  <a:cs typeface="Times New Roman" panose="02020603050405020304" pitchFamily="18" charset="0"/>
                </a:endParaRPr>
              </a:p>
              <a:p>
                <a:pPr marL="514350" indent="-514350">
                  <a:lnSpc>
                    <a:spcPts val="3200"/>
                  </a:lnSpc>
                  <a:buAutoNum type="arabicPeriod" startAt="3"/>
                </a:pPr>
                <a:endParaRPr lang="en-US" altLang="zh-TW" sz="2000" dirty="0">
                  <a:latin typeface="Times New Roman" panose="02020603050405020304" pitchFamily="18" charset="0"/>
                  <a:cs typeface="Times New Roman" panose="02020603050405020304" pitchFamily="18" charset="0"/>
                </a:endParaRPr>
              </a:p>
              <a:p>
                <a:pPr marL="0" indent="0">
                  <a:lnSpc>
                    <a:spcPts val="3200"/>
                  </a:lnSpc>
                  <a:buNone/>
                </a:pPr>
                <a:endParaRPr lang="en-US" altLang="zh-TW" sz="2000" dirty="0">
                  <a:latin typeface="Times New Roman" panose="02020603050405020304" pitchFamily="18" charset="0"/>
                  <a:cs typeface="Times New Roman" panose="02020603050405020304" pitchFamily="18" charset="0"/>
                </a:endParaRPr>
              </a:p>
              <a:p>
                <a:pPr marL="0" indent="0">
                  <a:lnSpc>
                    <a:spcPts val="3200"/>
                  </a:lnSpc>
                  <a:buNone/>
                </a:pP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ex :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b="0" i="1" dirty="0" smtClean="0">
                            <a:latin typeface="Cambria Math" panose="02040503050406030204" pitchFamily="18" charset="0"/>
                          </a:rPr>
                          <m:t>𝑊</m:t>
                        </m:r>
                      </m:sub>
                    </m:sSub>
                  </m:oMath>
                </a14:m>
                <a:r>
                  <a:rPr lang="en-US" altLang="zh-TW" sz="2000" dirty="0">
                    <a:latin typeface="Times New Roman" panose="02020603050405020304" pitchFamily="18" charset="0"/>
                    <a:cs typeface="Times New Roman" panose="02020603050405020304" pitchFamily="18" charset="0"/>
                  </a:rPr>
                  <a:t> = (</a:t>
                </a:r>
                <a:r>
                  <a:rPr lang="en-US" altLang="zh-TW" sz="2000" dirty="0">
                    <a:solidFill>
                      <a:srgbClr val="FF000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3, </a:t>
                </a:r>
                <a:r>
                  <a:rPr lang="en-US" altLang="zh-TW" sz="2000" dirty="0">
                    <a:solidFill>
                      <a:srgbClr val="210AFE"/>
                    </a:solidFill>
                    <a:latin typeface="Times New Roman" panose="02020603050405020304" pitchFamily="18" charset="0"/>
                    <a:cs typeface="Times New Roman" panose="02020603050405020304" pitchFamily="18" charset="0"/>
                  </a:rPr>
                  <a:t>5</a:t>
                </a:r>
                <a:r>
                  <a:rPr lang="en-US" altLang="zh-TW" sz="2000" dirty="0">
                    <a:latin typeface="Times New Roman" panose="02020603050405020304" pitchFamily="18" charset="0"/>
                    <a:cs typeface="Times New Roman" panose="02020603050405020304" pitchFamily="18" charset="0"/>
                  </a:rPr>
                  <a:t>, 1, 6),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b="0" i="1" dirty="0" smtClean="0">
                            <a:latin typeface="Cambria Math" panose="02040503050406030204" pitchFamily="18" charset="0"/>
                          </a:rPr>
                          <m:t>𝐵</m:t>
                        </m:r>
                      </m:sub>
                    </m:sSub>
                  </m:oMath>
                </a14:m>
                <a:r>
                  <a:rPr lang="en-US" altLang="zh-TW" sz="2000" dirty="0">
                    <a:latin typeface="Times New Roman" panose="02020603050405020304" pitchFamily="18" charset="0"/>
                    <a:cs typeface="Times New Roman" panose="02020603050405020304" pitchFamily="18" charset="0"/>
                  </a:rPr>
                  <a:t>  = (</a:t>
                </a:r>
                <a:r>
                  <a:rPr lang="en-US" altLang="zh-TW" sz="2000" dirty="0">
                    <a:solidFill>
                      <a:srgbClr val="FF0000"/>
                    </a:solidFill>
                    <a:latin typeface="Times New Roman" panose="02020603050405020304" pitchFamily="18" charset="0"/>
                    <a:cs typeface="Times New Roman" panose="02020603050405020304" pitchFamily="18" charset="0"/>
                  </a:rPr>
                  <a:t>4</a:t>
                </a:r>
                <a:r>
                  <a:rPr lang="en-US" altLang="zh-TW" sz="2000" dirty="0">
                    <a:latin typeface="Times New Roman" panose="02020603050405020304" pitchFamily="18" charset="0"/>
                    <a:cs typeface="Times New Roman" panose="02020603050405020304" pitchFamily="18" charset="0"/>
                  </a:rPr>
                  <a:t>, 6, </a:t>
                </a:r>
                <a:r>
                  <a:rPr lang="en-US" altLang="zh-TW" sz="2000" dirty="0">
                    <a:solidFill>
                      <a:srgbClr val="210AFE"/>
                    </a:solidFill>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1, 7), </a:t>
                </a:r>
                <a14:m>
                  <m:oMath xmlns:m="http://schemas.openxmlformats.org/officeDocument/2006/math">
                    <m:sSub>
                      <m:sSubPr>
                        <m:ctrlPr>
                          <a:rPr lang="en-US" altLang="zh-TW" sz="2000" i="1" dirty="0">
                            <a:solidFill>
                              <a:srgbClr val="836967"/>
                            </a:solidFill>
                            <a:latin typeface="Cambria Math" panose="02040503050406030204" pitchFamily="18" charset="0"/>
                          </a:rPr>
                        </m:ctrlPr>
                      </m:sSubPr>
                      <m:e>
                        <m:r>
                          <a:rPr lang="en-US" altLang="zh-TW" sz="2000" i="1" dirty="0">
                            <a:latin typeface="Cambria Math" panose="02040503050406030204" pitchFamily="18" charset="0"/>
                          </a:rPr>
                          <m:t>𝑆</m:t>
                        </m:r>
                      </m:e>
                      <m:sub>
                        <m:r>
                          <a:rPr lang="en-US" altLang="zh-TW" sz="2000" b="0" i="1" dirty="0" smtClean="0">
                            <a:latin typeface="Cambria Math" panose="02040503050406030204" pitchFamily="18" charset="0"/>
                          </a:rPr>
                          <m:t>𝑚𝑎𝑥</m:t>
                        </m:r>
                      </m:sub>
                    </m:sSub>
                    <m:r>
                      <a:rPr lang="en-US" altLang="zh-TW" sz="2000" b="0" i="1" dirty="0" smtClean="0">
                        <a:latin typeface="Cambria Math" panose="02040503050406030204" pitchFamily="18" charset="0"/>
                      </a:rPr>
                      <m:t>=</m:t>
                    </m:r>
                  </m:oMath>
                </a14:m>
                <a:r>
                  <a:rPr lang="en-US" altLang="zh-TW" sz="2000" dirty="0">
                    <a:latin typeface="Times New Roman" panose="02020603050405020304" pitchFamily="18" charset="0"/>
                    <a:cs typeface="Times New Roman" panose="02020603050405020304" pitchFamily="18" charset="0"/>
                  </a:rPr>
                  <a:t> 3, rand() = 0.7</a:t>
                </a:r>
              </a:p>
              <a:p>
                <a:pPr marL="0" indent="0">
                  <a:lnSpc>
                    <a:spcPts val="3200"/>
                  </a:lnSpc>
                  <a:buNone/>
                </a:pPr>
                <a:r>
                  <a:rPr lang="en-US" altLang="zh-TW" sz="2000" dirty="0">
                    <a:latin typeface="Times New Roman" panose="02020603050405020304" pitchFamily="18" charset="0"/>
                    <a:cs typeface="Times New Roman" panose="02020603050405020304" pitchFamily="18" charset="0"/>
                  </a:rPr>
                  <a:t>                new</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b="0" i="1" dirty="0" smtClean="0">
                            <a:latin typeface="Cambria Math" panose="02040503050406030204" pitchFamily="18" charset="0"/>
                          </a:rPr>
                          <m:t>𝑊</m:t>
                        </m:r>
                      </m:sub>
                    </m:sSub>
                  </m:oMath>
                </a14:m>
                <a:r>
                  <a:rPr lang="en-US" altLang="zh-TW" sz="2000" dirty="0">
                    <a:latin typeface="Times New Roman" panose="02020603050405020304" pitchFamily="18" charset="0"/>
                    <a:cs typeface="Times New Roman" panose="02020603050405020304" pitchFamily="18" charset="0"/>
                  </a:rPr>
                  <a:t> = (3, 5, 3, 1, 6)</a:t>
                </a:r>
              </a:p>
              <a:p>
                <a:pPr marL="0" indent="0">
                  <a:lnSpc>
                    <a:spcPts val="3200"/>
                  </a:lnSpc>
                  <a:buNone/>
                </a:pPr>
                <a:r>
                  <a:rPr lang="en-US" altLang="zh-TW" sz="2000" dirty="0">
                    <a:latin typeface="Times New Roman" panose="02020603050405020304" pitchFamily="18" charset="0"/>
                    <a:cs typeface="Times New Roman" panose="02020603050405020304" pitchFamily="18" charset="0"/>
                  </a:rPr>
                  <a:t>	  (1 + min{int[rand()(</a:t>
                </a:r>
                <a:r>
                  <a:rPr lang="en-US" altLang="zh-TW" sz="2000" dirty="0">
                    <a:solidFill>
                      <a:srgbClr val="FF0000"/>
                    </a:solidFill>
                    <a:latin typeface="Times New Roman" panose="02020603050405020304" pitchFamily="18" charset="0"/>
                    <a:cs typeface="Times New Roman" panose="02020603050405020304" pitchFamily="18" charset="0"/>
                  </a:rPr>
                  <a:t>4</a:t>
                </a:r>
                <a:r>
                  <a:rPr lang="en-US" altLang="zh-TW" sz="2000" dirty="0">
                    <a:latin typeface="Times New Roman" panose="02020603050405020304" pitchFamily="18" charset="0"/>
                    <a:cs typeface="Times New Roman" panose="02020603050405020304" pitchFamily="18" charset="0"/>
                  </a:rPr>
                  <a:t> - </a:t>
                </a:r>
                <a:r>
                  <a:rPr lang="en-US" altLang="zh-TW" sz="2000" dirty="0">
                    <a:solidFill>
                      <a:srgbClr val="FF0000"/>
                    </a:solidFill>
                    <a:latin typeface="Times New Roman" panose="02020603050405020304" pitchFamily="18" charset="0"/>
                    <a:cs typeface="Times New Roman" panose="02020603050405020304" pitchFamily="18" charset="0"/>
                  </a:rPr>
                  <a:t>1</a:t>
                </a:r>
                <a:r>
                  <a:rPr lang="en-US" altLang="zh-TW" sz="2000" dirty="0">
                    <a:latin typeface="Times New Roman" panose="02020603050405020304" pitchFamily="18" charset="0"/>
                    <a:cs typeface="Times New Roman" panose="02020603050405020304" pitchFamily="18" charset="0"/>
                  </a:rPr>
                  <a:t>)], 3}) = (1 + 2)</a:t>
                </a:r>
              </a:p>
              <a:p>
                <a:pPr marL="0" indent="0">
                  <a:lnSpc>
                    <a:spcPts val="3200"/>
                  </a:lnSpc>
                  <a:buNone/>
                </a:pPr>
                <a:r>
                  <a:rPr lang="en-US" altLang="zh-TW" sz="2000" dirty="0">
                    <a:latin typeface="Times New Roman" panose="02020603050405020304" pitchFamily="18" charset="0"/>
                    <a:cs typeface="Times New Roman" panose="02020603050405020304" pitchFamily="18" charset="0"/>
                  </a:rPr>
                  <a:t>	  (5 + max{int[rand()(</a:t>
                </a:r>
                <a:r>
                  <a:rPr lang="en-US" altLang="zh-TW" sz="2000" dirty="0">
                    <a:solidFill>
                      <a:srgbClr val="210AFE"/>
                    </a:solidFill>
                    <a:latin typeface="Times New Roman" panose="02020603050405020304" pitchFamily="18" charset="0"/>
                    <a:cs typeface="Times New Roman" panose="02020603050405020304" pitchFamily="18" charset="0"/>
                  </a:rPr>
                  <a:t>2</a:t>
                </a:r>
                <a:r>
                  <a:rPr lang="en-US" altLang="zh-TW" sz="2000" dirty="0">
                    <a:latin typeface="Times New Roman" panose="02020603050405020304" pitchFamily="18" charset="0"/>
                    <a:cs typeface="Times New Roman" panose="02020603050405020304" pitchFamily="18" charset="0"/>
                  </a:rPr>
                  <a:t> - </a:t>
                </a:r>
                <a:r>
                  <a:rPr lang="en-US" altLang="zh-TW" sz="2000" dirty="0">
                    <a:solidFill>
                      <a:srgbClr val="210AFE"/>
                    </a:solidFill>
                    <a:latin typeface="Times New Roman" panose="02020603050405020304" pitchFamily="18" charset="0"/>
                    <a:cs typeface="Times New Roman" panose="02020603050405020304" pitchFamily="18" charset="0"/>
                  </a:rPr>
                  <a:t>5</a:t>
                </a:r>
                <a:r>
                  <a:rPr lang="en-US" altLang="zh-TW" sz="2000" dirty="0">
                    <a:latin typeface="Times New Roman" panose="02020603050405020304" pitchFamily="18" charset="0"/>
                    <a:cs typeface="Times New Roman" panose="02020603050405020304" pitchFamily="18" charset="0"/>
                  </a:rPr>
                  <a:t>)], -3}) = (5 - 2)</a:t>
                </a:r>
                <a:r>
                  <a:rPr lang="en-US" altLang="zh-TW" dirty="0">
                    <a:latin typeface="Times New Roman" panose="02020603050405020304" pitchFamily="18" charset="0"/>
                    <a:cs typeface="Times New Roman" panose="02020603050405020304" pitchFamily="18" charset="0"/>
                  </a:rPr>
                  <a:t>		</a:t>
                </a:r>
              </a:p>
              <a:p>
                <a:pPr marL="0" indent="0">
                  <a:lnSpc>
                    <a:spcPts val="3200"/>
                  </a:lnSpc>
                  <a:buNone/>
                </a:pPr>
                <a:endParaRPr lang="en-US" altLang="zh-TW" dirty="0">
                  <a:latin typeface="Times New Roman" panose="02020603050405020304" pitchFamily="18" charset="0"/>
                  <a:cs typeface="Times New Roman" panose="02020603050405020304" pitchFamily="18" charset="0"/>
                </a:endParaRPr>
              </a:p>
              <a:p>
                <a:pPr marL="0" indent="0">
                  <a:lnSpc>
                    <a:spcPts val="3200"/>
                  </a:lnSpc>
                  <a:buNone/>
                </a:pPr>
                <a:r>
                  <a:rPr lang="en-US" altLang="zh-TW" dirty="0">
                    <a:latin typeface="Times New Roman" panose="02020603050405020304" pitchFamily="18" charset="0"/>
                    <a:cs typeface="Times New Roman" panose="02020603050405020304" pitchFamily="18" charset="0"/>
                  </a:rPr>
                  <a:t>	</a:t>
                </a:r>
              </a:p>
              <a:p>
                <a:pPr marL="514350" indent="-514350">
                  <a:lnSpc>
                    <a:spcPts val="3200"/>
                  </a:lnSpc>
                  <a:buAutoNum type="arabicPeriod" startAt="3"/>
                </a:pPr>
                <a:endParaRPr lang="en-US" altLang="zh-TW" dirty="0">
                  <a:latin typeface="Times New Roman" panose="02020603050405020304" pitchFamily="18" charset="0"/>
                  <a:cs typeface="Times New Roman" panose="02020603050405020304" pitchFamily="18" charset="0"/>
                </a:endParaRPr>
              </a:p>
            </p:txBody>
          </p:sp>
        </mc:Choice>
        <mc:Fallback xmlns="">
          <p:sp>
            <p:nvSpPr>
              <p:cNvPr id="5" name="內容版面配置區 2">
                <a:extLst>
                  <a:ext uri="{FF2B5EF4-FFF2-40B4-BE49-F238E27FC236}">
                    <a16:creationId xmlns:a16="http://schemas.microsoft.com/office/drawing/2014/main" id="{64F63042-E173-4BC9-BDB0-6519F08AD55E}"/>
                  </a:ext>
                </a:extLst>
              </p:cNvPr>
              <p:cNvSpPr>
                <a:spLocks noGrp="1" noRot="1" noChangeAspect="1" noMove="1" noResize="1" noEditPoints="1" noAdjustHandles="1" noChangeArrowheads="1" noChangeShapeType="1" noTextEdit="1"/>
              </p:cNvSpPr>
              <p:nvPr>
                <p:ph idx="1"/>
              </p:nvPr>
            </p:nvSpPr>
            <p:spPr>
              <a:xfrm>
                <a:off x="69503" y="1060778"/>
                <a:ext cx="9004993" cy="5131633"/>
              </a:xfrm>
              <a:blipFill>
                <a:blip r:embed="rId4"/>
                <a:stretch>
                  <a:fillRect l="-541" b="-4988"/>
                </a:stretch>
              </a:blipFill>
            </p:spPr>
            <p:txBody>
              <a:bodyPr/>
              <a:lstStyle/>
              <a:p>
                <a:r>
                  <a:rPr lang="zh-TW" altLang="en-US">
                    <a:noFill/>
                  </a:rPr>
                  <a:t> </a:t>
                </a:r>
              </a:p>
            </p:txBody>
          </p:sp>
        </mc:Fallback>
      </mc:AlternateContent>
      <p:pic>
        <p:nvPicPr>
          <p:cNvPr id="8" name="圖片 7">
            <a:extLst>
              <a:ext uri="{FF2B5EF4-FFF2-40B4-BE49-F238E27FC236}">
                <a16:creationId xmlns:a16="http://schemas.microsoft.com/office/drawing/2014/main" id="{F3E58E2B-BA5B-46A1-BA58-28F64BA31C17}"/>
              </a:ext>
            </a:extLst>
          </p:cNvPr>
          <p:cNvPicPr>
            <a:picLocks noChangeAspect="1"/>
          </p:cNvPicPr>
          <p:nvPr/>
        </p:nvPicPr>
        <p:blipFill>
          <a:blip r:embed="rId5"/>
          <a:stretch>
            <a:fillRect/>
          </a:stretch>
        </p:blipFill>
        <p:spPr>
          <a:xfrm>
            <a:off x="654275" y="3307762"/>
            <a:ext cx="6022233" cy="752779"/>
          </a:xfrm>
          <a:prstGeom prst="rect">
            <a:avLst/>
          </a:prstGeom>
        </p:spPr>
      </p:pic>
      <p:cxnSp>
        <p:nvCxnSpPr>
          <p:cNvPr id="19" name="接點: 弧形 18">
            <a:extLst>
              <a:ext uri="{FF2B5EF4-FFF2-40B4-BE49-F238E27FC236}">
                <a16:creationId xmlns:a16="http://schemas.microsoft.com/office/drawing/2014/main" id="{295FC440-69E9-4970-B1C4-4DAC77A0157B}"/>
              </a:ext>
            </a:extLst>
          </p:cNvPr>
          <p:cNvCxnSpPr/>
          <p:nvPr/>
        </p:nvCxnSpPr>
        <p:spPr>
          <a:xfrm rot="10800000" flipV="1">
            <a:off x="1089498" y="4669276"/>
            <a:ext cx="1254868" cy="379379"/>
          </a:xfrm>
          <a:prstGeom prst="curvedConnector3">
            <a:avLst>
              <a:gd name="adj1" fmla="val 112016"/>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接點: 弧形 22">
            <a:extLst>
              <a:ext uri="{FF2B5EF4-FFF2-40B4-BE49-F238E27FC236}">
                <a16:creationId xmlns:a16="http://schemas.microsoft.com/office/drawing/2014/main" id="{F5F76EB7-A2E6-4D72-92B1-8AFEA7384C95}"/>
              </a:ext>
            </a:extLst>
          </p:cNvPr>
          <p:cNvCxnSpPr/>
          <p:nvPr/>
        </p:nvCxnSpPr>
        <p:spPr>
          <a:xfrm>
            <a:off x="2859932" y="4669276"/>
            <a:ext cx="2645923" cy="904673"/>
          </a:xfrm>
          <a:prstGeom prst="curvedConnector3">
            <a:avLst>
              <a:gd name="adj1" fmla="val 115074"/>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47842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Shuffled Frog-leaping Algorithm(SFLA)(4/5)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xmlns:a14="http://schemas.microsoft.com/office/drawing/2010/main">
        <mc:Choice Requires="a14">
          <p:sp>
            <p:nvSpPr>
              <p:cNvPr id="5" name="內容版面配置區 2">
                <a:extLst>
                  <a:ext uri="{FF2B5EF4-FFF2-40B4-BE49-F238E27FC236}">
                    <a16:creationId xmlns:a16="http://schemas.microsoft.com/office/drawing/2014/main" id="{D881D323-C2B4-4E44-B76C-0C2D85D3F77B}"/>
                  </a:ext>
                </a:extLst>
              </p:cNvPr>
              <p:cNvSpPr>
                <a:spLocks noGrp="1"/>
              </p:cNvSpPr>
              <p:nvPr>
                <p:ph idx="1"/>
              </p:nvPr>
            </p:nvSpPr>
            <p:spPr>
              <a:xfrm>
                <a:off x="69503" y="1119144"/>
                <a:ext cx="9004993" cy="5131633"/>
              </a:xfrm>
            </p:spPr>
            <p:txBody>
              <a:bodyPr>
                <a:noAutofit/>
              </a:bodyPr>
              <a:lstStyle/>
              <a:p>
                <a:pPr marL="0" indent="0">
                  <a:lnSpc>
                    <a:spcPts val="3200"/>
                  </a:lnSpc>
                  <a:buNone/>
                </a:pPr>
                <a:r>
                  <a:rPr lang="en-US" altLang="zh-TW" sz="2000" dirty="0">
                    <a:latin typeface="Times New Roman" panose="02020603050405020304" pitchFamily="18" charset="0"/>
                    <a:cs typeface="Times New Roman" panose="02020603050405020304" pitchFamily="18" charset="0"/>
                  </a:rPr>
                  <a:t>        if new</a:t>
                </a:r>
                <a14:m>
                  <m:oMath xmlns:m="http://schemas.openxmlformats.org/officeDocument/2006/math">
                    <m:sSub>
                      <m:sSubPr>
                        <m:ctrlPr>
                          <a:rPr lang="en-US" altLang="zh-TW" sz="2000" i="1" dirty="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i="1" dirty="0">
                            <a:latin typeface="Cambria Math" panose="02040503050406030204" pitchFamily="18" charset="0"/>
                          </a:rPr>
                          <m:t>𝑊</m:t>
                        </m:r>
                      </m:sub>
                    </m:sSub>
                    <m:r>
                      <a:rPr lang="en-US" altLang="zh-TW" sz="2000" i="1" dirty="0">
                        <a:latin typeface="Cambria Math" panose="02040503050406030204" pitchFamily="18" charset="0"/>
                      </a:rPr>
                      <m:t> </m:t>
                    </m:r>
                  </m:oMath>
                </a14:m>
                <a:r>
                  <a:rPr lang="en-US" altLang="zh-TW" sz="2000" dirty="0">
                    <a:latin typeface="Times New Roman" panose="02020603050405020304" pitchFamily="18" charset="0"/>
                    <a:cs typeface="Times New Roman" panose="02020603050405020304" pitchFamily="18" charset="0"/>
                  </a:rPr>
                  <a:t>not better than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i="1" dirty="0">
                            <a:latin typeface="Cambria Math" panose="02040503050406030204" pitchFamily="18" charset="0"/>
                          </a:rPr>
                          <m:t>𝑊</m:t>
                        </m:r>
                      </m:sub>
                    </m:sSub>
                    <m:r>
                      <a:rPr lang="en-US" altLang="zh-TW" sz="2000" b="0" i="1" dirty="0" smtClean="0">
                        <a:latin typeface="Cambria Math" panose="02040503050406030204" pitchFamily="18" charset="0"/>
                      </a:rPr>
                      <m:t> :</m:t>
                    </m:r>
                  </m:oMath>
                </a14:m>
                <a:endParaRPr lang="en-US" altLang="zh-TW" sz="2000" dirty="0">
                  <a:latin typeface="Times New Roman" panose="02020603050405020304" pitchFamily="18" charset="0"/>
                </a:endParaRPr>
              </a:p>
              <a:p>
                <a:pPr marL="0" indent="0">
                  <a:lnSpc>
                    <a:spcPts val="3200"/>
                  </a:lnSpc>
                  <a:buNone/>
                </a:pPr>
                <a:endParaRPr lang="en-US" altLang="zh-TW" sz="2000" dirty="0">
                  <a:latin typeface="Times New Roman" panose="02020603050405020304" pitchFamily="18" charset="0"/>
                </a:endParaRPr>
              </a:p>
              <a:p>
                <a:pPr marL="0" indent="0">
                  <a:lnSpc>
                    <a:spcPts val="3200"/>
                  </a:lnSpc>
                  <a:buNone/>
                </a:pPr>
                <a:endParaRPr lang="en-US" altLang="zh-TW" sz="2000" dirty="0">
                  <a:latin typeface="Times New Roman" panose="02020603050405020304" pitchFamily="18" charset="0"/>
                </a:endParaRPr>
              </a:p>
              <a:p>
                <a:pPr marL="0" indent="0">
                  <a:lnSpc>
                    <a:spcPts val="3200"/>
                  </a:lnSpc>
                  <a:buNone/>
                </a:pPr>
                <a:r>
                  <a:rPr lang="en-US" altLang="zh-TW" sz="2000" dirty="0">
                    <a:latin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if new</a:t>
                </a:r>
                <a14:m>
                  <m:oMath xmlns:m="http://schemas.openxmlformats.org/officeDocument/2006/math">
                    <m:sSub>
                      <m:sSubPr>
                        <m:ctrlPr>
                          <a:rPr lang="en-US" altLang="zh-TW" sz="2000" i="1" dirty="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i="1" dirty="0">
                            <a:latin typeface="Cambria Math" panose="02040503050406030204" pitchFamily="18" charset="0"/>
                          </a:rPr>
                          <m:t>𝑊</m:t>
                        </m:r>
                      </m:sub>
                    </m:sSub>
                    <m:r>
                      <a:rPr lang="en-US" altLang="zh-TW" sz="2000" i="1" dirty="0">
                        <a:latin typeface="Cambria Math" panose="02040503050406030204" pitchFamily="18" charset="0"/>
                      </a:rPr>
                      <m:t> </m:t>
                    </m:r>
                  </m:oMath>
                </a14:m>
                <a:r>
                  <a:rPr lang="en-US" altLang="zh-TW" sz="2000" dirty="0">
                    <a:latin typeface="Times New Roman" panose="02020603050405020304" pitchFamily="18" charset="0"/>
                    <a:cs typeface="Times New Roman" panose="02020603050405020304" pitchFamily="18" charset="0"/>
                  </a:rPr>
                  <a:t>still not better than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i="1" dirty="0">
                            <a:latin typeface="Cambria Math" panose="02040503050406030204" pitchFamily="18" charset="0"/>
                          </a:rPr>
                          <m:t>𝑊</m:t>
                        </m:r>
                      </m:sub>
                    </m:sSub>
                    <m:r>
                      <a:rPr lang="en-US" altLang="zh-TW" sz="2000" b="0" i="1" dirty="0" smtClean="0">
                        <a:latin typeface="Cambria Math" panose="02040503050406030204" pitchFamily="18" charset="0"/>
                      </a:rPr>
                      <m:t> :</m:t>
                    </m:r>
                  </m:oMath>
                </a14:m>
                <a:endParaRPr lang="en-US" altLang="zh-TW" sz="2000" dirty="0">
                  <a:latin typeface="Times New Roman" panose="02020603050405020304" pitchFamily="18" charset="0"/>
                </a:endParaRPr>
              </a:p>
              <a:p>
                <a:pPr marL="0" indent="0">
                  <a:lnSpc>
                    <a:spcPts val="3200"/>
                  </a:lnSpc>
                  <a:buNone/>
                </a:pPr>
                <a:r>
                  <a:rPr lang="en-US" altLang="zh-TW" sz="2000" dirty="0">
                    <a:latin typeface="Times New Roman" panose="02020603050405020304" pitchFamily="18" charset="0"/>
                  </a:rPr>
                  <a:t>        random a new frog to replace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i="1" dirty="0">
                            <a:latin typeface="Cambria Math" panose="02040503050406030204" pitchFamily="18" charset="0"/>
                          </a:rPr>
                          <m:t>𝑊</m:t>
                        </m:r>
                      </m:sub>
                    </m:sSub>
                    <m:r>
                      <a:rPr lang="en-US" altLang="zh-TW" sz="2000" b="0" i="1" dirty="0" smtClean="0">
                        <a:latin typeface="Cambria Math" panose="02040503050406030204" pitchFamily="18" charset="0"/>
                      </a:rPr>
                      <m:t> </m:t>
                    </m:r>
                  </m:oMath>
                </a14:m>
                <a:endParaRPr lang="en-US" altLang="zh-TW" sz="2000" dirty="0">
                  <a:latin typeface="Times New Roman" panose="02020603050405020304" pitchFamily="18" charset="0"/>
                  <a:cs typeface="Times New Roman" panose="02020603050405020304" pitchFamily="18" charset="0"/>
                </a:endParaRPr>
              </a:p>
              <a:p>
                <a:pPr marL="457200" indent="-457200">
                  <a:lnSpc>
                    <a:spcPts val="3200"/>
                  </a:lnSpc>
                  <a:buAutoNum type="arabicPeriod" startAt="4"/>
                </a:pPr>
                <a:r>
                  <a:rPr lang="en-US" altLang="zh-TW" sz="2000" dirty="0">
                    <a:latin typeface="Times New Roman" panose="02020603050405020304" pitchFamily="18" charset="0"/>
                    <a:cs typeface="Times New Roman" panose="02020603050405020304" pitchFamily="18" charset="0"/>
                  </a:rPr>
                  <a:t>Update </a:t>
                </a:r>
                <a14:m>
                  <m:oMath xmlns:m="http://schemas.openxmlformats.org/officeDocument/2006/math">
                    <m:sSub>
                      <m:sSubPr>
                        <m:ctrlPr>
                          <a:rPr lang="en-US" altLang="zh-TW" sz="2000" i="1" dirty="0" smtClean="0">
                            <a:solidFill>
                              <a:srgbClr val="836967"/>
                            </a:solidFill>
                            <a:latin typeface="Cambria Math" panose="02040503050406030204" pitchFamily="18" charset="0"/>
                          </a:rPr>
                        </m:ctrlPr>
                      </m:sSubPr>
                      <m:e>
                        <m:r>
                          <a:rPr lang="en-US" altLang="zh-TW" sz="2000" i="1" dirty="0" smtClean="0">
                            <a:latin typeface="Cambria Math" panose="02040503050406030204" pitchFamily="18" charset="0"/>
                          </a:rPr>
                          <m:t>𝑃</m:t>
                        </m:r>
                      </m:e>
                      <m:sub>
                        <m:r>
                          <a:rPr lang="en-US" altLang="zh-TW" sz="2000" i="1" dirty="0" smtClean="0">
                            <a:latin typeface="Cambria Math" panose="02040503050406030204" pitchFamily="18" charset="0"/>
                          </a:rPr>
                          <m:t>𝐵</m:t>
                        </m:r>
                      </m:sub>
                    </m:sSub>
                  </m:oMath>
                </a14:m>
                <a:r>
                  <a:rPr lang="en-US" altLang="zh-TW" sz="2000" dirty="0">
                    <a:latin typeface="Times New Roman" panose="02020603050405020304" pitchFamily="18" charset="0"/>
                    <a:cs typeface="Times New Roman" panose="02020603050405020304" pitchFamily="18" charset="0"/>
                  </a:rPr>
                  <a:t> and </a:t>
                </a:r>
                <a14:m>
                  <m:oMath xmlns:m="http://schemas.openxmlformats.org/officeDocument/2006/math">
                    <m:sSub>
                      <m:sSubPr>
                        <m:ctrlPr>
                          <a:rPr lang="en-US" altLang="zh-TW" sz="2000" i="1" dirty="0">
                            <a:solidFill>
                              <a:srgbClr val="836967"/>
                            </a:solidFill>
                            <a:latin typeface="Cambria Math" panose="02040503050406030204" pitchFamily="18" charset="0"/>
                          </a:rPr>
                        </m:ctrlPr>
                      </m:sSubPr>
                      <m:e>
                        <m:r>
                          <a:rPr lang="en-US" altLang="zh-TW" sz="2000" i="1" dirty="0">
                            <a:latin typeface="Cambria Math" panose="02040503050406030204" pitchFamily="18" charset="0"/>
                          </a:rPr>
                          <m:t>𝑃</m:t>
                        </m:r>
                      </m:e>
                      <m:sub>
                        <m:r>
                          <a:rPr lang="en-US" altLang="zh-TW" sz="2000" b="0" i="1" dirty="0" smtClean="0">
                            <a:latin typeface="Cambria Math" panose="02040503050406030204" pitchFamily="18" charset="0"/>
                          </a:rPr>
                          <m:t>𝑊</m:t>
                        </m:r>
                      </m:sub>
                    </m:sSub>
                  </m:oMath>
                </a14:m>
                <a:r>
                  <a:rPr lang="en-US" altLang="zh-TW" sz="2000" dirty="0">
                    <a:latin typeface="Times New Roman" panose="02020603050405020304" pitchFamily="18" charset="0"/>
                    <a:cs typeface="Times New Roman" panose="02020603050405020304" pitchFamily="18" charset="0"/>
                  </a:rPr>
                  <a:t> </a:t>
                </a:r>
              </a:p>
              <a:p>
                <a:pPr marL="457200" indent="-457200">
                  <a:lnSpc>
                    <a:spcPts val="3200"/>
                  </a:lnSpc>
                  <a:buAutoNum type="arabicPeriod" startAt="4"/>
                </a:pPr>
                <a:r>
                  <a:rPr lang="en-US" altLang="zh-TW" sz="2000" dirty="0">
                    <a:latin typeface="Times New Roman" panose="02020603050405020304" pitchFamily="18" charset="0"/>
                    <a:cs typeface="Times New Roman" panose="02020603050405020304" pitchFamily="18" charset="0"/>
                  </a:rPr>
                  <a:t>Repeat N times for every memeplex</a:t>
                </a:r>
              </a:p>
              <a:p>
                <a:pPr>
                  <a:lnSpc>
                    <a:spcPts val="3200"/>
                  </a:lnSpc>
                </a:pPr>
                <a:r>
                  <a:rPr lang="en-US" altLang="zh-TW" sz="2000" dirty="0">
                    <a:latin typeface="Times New Roman" panose="02020603050405020304" pitchFamily="18" charset="0"/>
                    <a:cs typeface="Times New Roman" panose="02020603050405020304" pitchFamily="18" charset="0"/>
                  </a:rPr>
                  <a:t>Shuffle memeplexes</a:t>
                </a:r>
                <a:r>
                  <a:rPr lang="zh-TW" altLang="en-US" sz="2000" dirty="0">
                    <a:latin typeface="Times New Roman" panose="02020603050405020304" pitchFamily="18" charset="0"/>
                    <a:cs typeface="Times New Roman" panose="02020603050405020304" pitchFamily="18" charset="0"/>
                  </a:rPr>
                  <a:t>：</a:t>
                </a:r>
                <a:endParaRPr lang="en-US" altLang="zh-TW" sz="2000" dirty="0">
                  <a:latin typeface="Times New Roman" panose="02020603050405020304" pitchFamily="18" charset="0"/>
                  <a:cs typeface="Times New Roman" panose="02020603050405020304" pitchFamily="18" charset="0"/>
                </a:endParaRPr>
              </a:p>
              <a:p>
                <a:pPr marL="0" indent="0">
                  <a:lnSpc>
                    <a:spcPts val="3200"/>
                  </a:lnSpc>
                  <a:buNone/>
                </a:pPr>
                <a:r>
                  <a:rPr lang="zh-TW" altLang="en-US" sz="2000" dirty="0">
                    <a:latin typeface="Times New Roman" panose="02020603050405020304" pitchFamily="18" charset="0"/>
                    <a:cs typeface="Times New Roman" panose="02020603050405020304" pitchFamily="18" charset="0"/>
                  </a:rPr>
                  <a:t>　</a:t>
                </a:r>
                <a:r>
                  <a:rPr lang="en-US" altLang="zh-TW" sz="2000" dirty="0">
                    <a:latin typeface="Times New Roman" panose="02020603050405020304" pitchFamily="18" charset="0"/>
                    <a:cs typeface="Times New Roman" panose="02020603050405020304" pitchFamily="18" charset="0"/>
                  </a:rPr>
                  <a:t>sort frogs and partition frogs into memeplexes again</a:t>
                </a:r>
              </a:p>
              <a:p>
                <a:pPr marL="514350" indent="-514350">
                  <a:lnSpc>
                    <a:spcPts val="3200"/>
                  </a:lnSpc>
                  <a:buAutoNum type="arabicPeriod"/>
                </a:pPr>
                <a:endParaRPr lang="en-US" altLang="zh-TW" sz="2000" dirty="0">
                  <a:latin typeface="Times New Roman" panose="02020603050405020304" pitchFamily="18" charset="0"/>
                </a:endParaRPr>
              </a:p>
              <a:p>
                <a:pPr marL="0" indent="0">
                  <a:lnSpc>
                    <a:spcPts val="3200"/>
                  </a:lnSpc>
                  <a:buNone/>
                </a:pPr>
                <a:r>
                  <a:rPr lang="en-US" altLang="zh-TW" sz="2000" dirty="0">
                    <a:latin typeface="Times New Roman" panose="02020603050405020304" pitchFamily="18" charset="0"/>
                  </a:rPr>
                  <a:t>	</a:t>
                </a:r>
              </a:p>
              <a:p>
                <a:pPr marL="0" indent="0">
                  <a:lnSpc>
                    <a:spcPts val="3200"/>
                  </a:lnSpc>
                  <a:buNone/>
                </a:pPr>
                <a:r>
                  <a:rPr lang="en-US" altLang="zh-TW" dirty="0">
                    <a:latin typeface="Times New Roman" panose="02020603050405020304" pitchFamily="18" charset="0"/>
                    <a:cs typeface="Times New Roman" panose="02020603050405020304" pitchFamily="18" charset="0"/>
                  </a:rPr>
                  <a:t>	</a:t>
                </a:r>
              </a:p>
              <a:p>
                <a:pPr marL="0" indent="0">
                  <a:lnSpc>
                    <a:spcPts val="3200"/>
                  </a:lnSpc>
                  <a:buNone/>
                </a:pPr>
                <a:endParaRPr lang="en-US" altLang="zh-TW" dirty="0">
                  <a:latin typeface="Times New Roman" panose="02020603050405020304" pitchFamily="18" charset="0"/>
                  <a:cs typeface="Times New Roman" panose="02020603050405020304" pitchFamily="18" charset="0"/>
                </a:endParaRPr>
              </a:p>
              <a:p>
                <a:pPr marL="0" indent="0">
                  <a:lnSpc>
                    <a:spcPts val="3200"/>
                  </a:lnSpc>
                  <a:buNone/>
                </a:pPr>
                <a:r>
                  <a:rPr lang="en-US" altLang="zh-TW" dirty="0">
                    <a:latin typeface="Times New Roman" panose="02020603050405020304" pitchFamily="18" charset="0"/>
                    <a:cs typeface="Times New Roman" panose="02020603050405020304" pitchFamily="18" charset="0"/>
                  </a:rPr>
                  <a:t>	</a:t>
                </a:r>
              </a:p>
              <a:p>
                <a:pPr marL="514350" indent="-514350">
                  <a:lnSpc>
                    <a:spcPts val="3200"/>
                  </a:lnSpc>
                  <a:buAutoNum type="arabicPeriod" startAt="3"/>
                </a:pPr>
                <a:endParaRPr lang="en-US" altLang="zh-TW" dirty="0">
                  <a:latin typeface="Times New Roman" panose="02020603050405020304" pitchFamily="18" charset="0"/>
                  <a:cs typeface="Times New Roman" panose="02020603050405020304" pitchFamily="18" charset="0"/>
                </a:endParaRPr>
              </a:p>
            </p:txBody>
          </p:sp>
        </mc:Choice>
        <mc:Fallback xmlns="">
          <p:sp>
            <p:nvSpPr>
              <p:cNvPr id="5" name="內容版面配置區 2">
                <a:extLst>
                  <a:ext uri="{FF2B5EF4-FFF2-40B4-BE49-F238E27FC236}">
                    <a16:creationId xmlns:a16="http://schemas.microsoft.com/office/drawing/2014/main" id="{D881D323-C2B4-4E44-B76C-0C2D85D3F77B}"/>
                  </a:ext>
                </a:extLst>
              </p:cNvPr>
              <p:cNvSpPr>
                <a:spLocks noGrp="1" noRot="1" noChangeAspect="1" noMove="1" noResize="1" noEditPoints="1" noAdjustHandles="1" noChangeArrowheads="1" noChangeShapeType="1" noTextEdit="1"/>
              </p:cNvSpPr>
              <p:nvPr>
                <p:ph idx="1"/>
              </p:nvPr>
            </p:nvSpPr>
            <p:spPr>
              <a:xfrm>
                <a:off x="69503" y="1119144"/>
                <a:ext cx="9004993" cy="5131633"/>
              </a:xfrm>
              <a:blipFill>
                <a:blip r:embed="rId4"/>
                <a:stretch>
                  <a:fillRect l="-609"/>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59A93281-9D68-4E86-98A1-62BB3099E625}"/>
              </a:ext>
            </a:extLst>
          </p:cNvPr>
          <p:cNvPicPr>
            <a:picLocks noChangeAspect="1"/>
          </p:cNvPicPr>
          <p:nvPr/>
        </p:nvPicPr>
        <p:blipFill>
          <a:blip r:embed="rId5"/>
          <a:stretch>
            <a:fillRect/>
          </a:stretch>
        </p:blipFill>
        <p:spPr>
          <a:xfrm>
            <a:off x="585205" y="1799785"/>
            <a:ext cx="5996190" cy="826681"/>
          </a:xfrm>
          <a:prstGeom prst="rect">
            <a:avLst/>
          </a:prstGeom>
        </p:spPr>
      </p:pic>
    </p:spTree>
    <p:extLst>
      <p:ext uri="{BB962C8B-B14F-4D97-AF65-F5344CB8AC3E}">
        <p14:creationId xmlns:p14="http://schemas.microsoft.com/office/powerpoint/2010/main" val="590359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Shuffled Frog-leaping Algorithm(SFLA)(5/5)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8" name="圖片 7">
            <a:extLst>
              <a:ext uri="{FF2B5EF4-FFF2-40B4-BE49-F238E27FC236}">
                <a16:creationId xmlns:a16="http://schemas.microsoft.com/office/drawing/2014/main" id="{39279B48-BD17-46B4-A1F5-7D5301C16122}"/>
              </a:ext>
            </a:extLst>
          </p:cNvPr>
          <p:cNvPicPr>
            <a:picLocks noChangeAspect="1"/>
          </p:cNvPicPr>
          <p:nvPr/>
        </p:nvPicPr>
        <p:blipFill>
          <a:blip r:embed="rId4"/>
          <a:stretch>
            <a:fillRect/>
          </a:stretch>
        </p:blipFill>
        <p:spPr>
          <a:xfrm>
            <a:off x="1440003" y="1157445"/>
            <a:ext cx="6263993" cy="5349604"/>
          </a:xfrm>
          <a:prstGeom prst="rect">
            <a:avLst/>
          </a:prstGeom>
        </p:spPr>
      </p:pic>
    </p:spTree>
    <p:extLst>
      <p:ext uri="{BB962C8B-B14F-4D97-AF65-F5344CB8AC3E}">
        <p14:creationId xmlns:p14="http://schemas.microsoft.com/office/powerpoint/2010/main" val="408541440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(1/3)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6" name="圖片 5">
            <a:extLst>
              <a:ext uri="{FF2B5EF4-FFF2-40B4-BE49-F238E27FC236}">
                <a16:creationId xmlns:a16="http://schemas.microsoft.com/office/drawing/2014/main" id="{75B09910-5B2C-4006-9614-DEDF993CF585}"/>
              </a:ext>
            </a:extLst>
          </p:cNvPr>
          <p:cNvPicPr>
            <a:picLocks noChangeAspect="1"/>
          </p:cNvPicPr>
          <p:nvPr/>
        </p:nvPicPr>
        <p:blipFill>
          <a:blip r:embed="rId4"/>
          <a:stretch>
            <a:fillRect/>
          </a:stretch>
        </p:blipFill>
        <p:spPr>
          <a:xfrm>
            <a:off x="1481843" y="1063138"/>
            <a:ext cx="6180314" cy="2606904"/>
          </a:xfrm>
          <a:prstGeom prst="rect">
            <a:avLst/>
          </a:prstGeom>
        </p:spPr>
      </p:pic>
      <p:pic>
        <p:nvPicPr>
          <p:cNvPr id="8" name="圖片 7">
            <a:extLst>
              <a:ext uri="{FF2B5EF4-FFF2-40B4-BE49-F238E27FC236}">
                <a16:creationId xmlns:a16="http://schemas.microsoft.com/office/drawing/2014/main" id="{EA8F34F7-6A55-4E36-B99F-F2E762AF7AB2}"/>
              </a:ext>
            </a:extLst>
          </p:cNvPr>
          <p:cNvPicPr>
            <a:picLocks noChangeAspect="1"/>
          </p:cNvPicPr>
          <p:nvPr/>
        </p:nvPicPr>
        <p:blipFill>
          <a:blip r:embed="rId5"/>
          <a:stretch>
            <a:fillRect/>
          </a:stretch>
        </p:blipFill>
        <p:spPr>
          <a:xfrm>
            <a:off x="2472000" y="4118074"/>
            <a:ext cx="4200000" cy="2123810"/>
          </a:xfrm>
          <a:prstGeom prst="rect">
            <a:avLst/>
          </a:prstGeom>
        </p:spPr>
      </p:pic>
    </p:spTree>
    <p:extLst>
      <p:ext uri="{BB962C8B-B14F-4D97-AF65-F5344CB8AC3E}">
        <p14:creationId xmlns:p14="http://schemas.microsoft.com/office/powerpoint/2010/main" val="54708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(2/3)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4" name="圖片 3">
            <a:extLst>
              <a:ext uri="{FF2B5EF4-FFF2-40B4-BE49-F238E27FC236}">
                <a16:creationId xmlns:a16="http://schemas.microsoft.com/office/drawing/2014/main" id="{670DB032-9AF6-4E01-A639-BCD830EC041C}"/>
              </a:ext>
            </a:extLst>
          </p:cNvPr>
          <p:cNvPicPr>
            <a:picLocks noChangeAspect="1"/>
          </p:cNvPicPr>
          <p:nvPr/>
        </p:nvPicPr>
        <p:blipFill>
          <a:blip r:embed="rId4"/>
          <a:stretch>
            <a:fillRect/>
          </a:stretch>
        </p:blipFill>
        <p:spPr>
          <a:xfrm>
            <a:off x="1113430" y="1362741"/>
            <a:ext cx="7302780" cy="2246220"/>
          </a:xfrm>
          <a:prstGeom prst="rect">
            <a:avLst/>
          </a:prstGeom>
        </p:spPr>
      </p:pic>
      <p:pic>
        <p:nvPicPr>
          <p:cNvPr id="7" name="圖片 6">
            <a:extLst>
              <a:ext uri="{FF2B5EF4-FFF2-40B4-BE49-F238E27FC236}">
                <a16:creationId xmlns:a16="http://schemas.microsoft.com/office/drawing/2014/main" id="{B41E5D80-F9AF-4564-BCB7-E734090C3DC4}"/>
              </a:ext>
            </a:extLst>
          </p:cNvPr>
          <p:cNvPicPr>
            <a:picLocks noChangeAspect="1"/>
          </p:cNvPicPr>
          <p:nvPr/>
        </p:nvPicPr>
        <p:blipFill>
          <a:blip r:embed="rId5"/>
          <a:stretch>
            <a:fillRect/>
          </a:stretch>
        </p:blipFill>
        <p:spPr>
          <a:xfrm>
            <a:off x="1112631" y="3891160"/>
            <a:ext cx="7302780" cy="2032522"/>
          </a:xfrm>
          <a:prstGeom prst="rect">
            <a:avLst/>
          </a:prstGeom>
        </p:spPr>
      </p:pic>
      <p:pic>
        <p:nvPicPr>
          <p:cNvPr id="10" name="圖片 9">
            <a:extLst>
              <a:ext uri="{FF2B5EF4-FFF2-40B4-BE49-F238E27FC236}">
                <a16:creationId xmlns:a16="http://schemas.microsoft.com/office/drawing/2014/main" id="{94791F3C-2B39-473E-8832-9920851EB7FD}"/>
              </a:ext>
            </a:extLst>
          </p:cNvPr>
          <p:cNvPicPr>
            <a:picLocks noChangeAspect="1"/>
          </p:cNvPicPr>
          <p:nvPr/>
        </p:nvPicPr>
        <p:blipFill>
          <a:blip r:embed="rId6"/>
          <a:stretch>
            <a:fillRect/>
          </a:stretch>
        </p:blipFill>
        <p:spPr>
          <a:xfrm>
            <a:off x="4001966" y="188052"/>
            <a:ext cx="3617562" cy="1033589"/>
          </a:xfrm>
          <a:prstGeom prst="rect">
            <a:avLst/>
          </a:prstGeom>
        </p:spPr>
      </p:pic>
    </p:spTree>
    <p:extLst>
      <p:ext uri="{BB962C8B-B14F-4D97-AF65-F5344CB8AC3E}">
        <p14:creationId xmlns:p14="http://schemas.microsoft.com/office/powerpoint/2010/main" val="37695325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8088"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Results (3/3)</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5" name="圖片 4">
            <a:extLst>
              <a:ext uri="{FF2B5EF4-FFF2-40B4-BE49-F238E27FC236}">
                <a16:creationId xmlns:a16="http://schemas.microsoft.com/office/drawing/2014/main" id="{07D01FB0-8D42-47C7-8131-7C75BF70FA4D}"/>
              </a:ext>
            </a:extLst>
          </p:cNvPr>
          <p:cNvPicPr>
            <a:picLocks noChangeAspect="1"/>
          </p:cNvPicPr>
          <p:nvPr/>
        </p:nvPicPr>
        <p:blipFill>
          <a:blip r:embed="rId4"/>
          <a:stretch>
            <a:fillRect/>
          </a:stretch>
        </p:blipFill>
        <p:spPr>
          <a:xfrm>
            <a:off x="1162476" y="1213931"/>
            <a:ext cx="6819048" cy="1628571"/>
          </a:xfrm>
          <a:prstGeom prst="rect">
            <a:avLst/>
          </a:prstGeom>
        </p:spPr>
      </p:pic>
      <p:pic>
        <p:nvPicPr>
          <p:cNvPr id="8" name="圖片 7">
            <a:extLst>
              <a:ext uri="{FF2B5EF4-FFF2-40B4-BE49-F238E27FC236}">
                <a16:creationId xmlns:a16="http://schemas.microsoft.com/office/drawing/2014/main" id="{72D59F0F-F42C-47D8-A6DD-ECF387B7BCD8}"/>
              </a:ext>
            </a:extLst>
          </p:cNvPr>
          <p:cNvPicPr>
            <a:picLocks noChangeAspect="1"/>
          </p:cNvPicPr>
          <p:nvPr/>
        </p:nvPicPr>
        <p:blipFill>
          <a:blip r:embed="rId5"/>
          <a:stretch>
            <a:fillRect/>
          </a:stretch>
        </p:blipFill>
        <p:spPr>
          <a:xfrm>
            <a:off x="1343428" y="2842502"/>
            <a:ext cx="6457143" cy="1914286"/>
          </a:xfrm>
          <a:prstGeom prst="rect">
            <a:avLst/>
          </a:prstGeom>
        </p:spPr>
      </p:pic>
      <p:pic>
        <p:nvPicPr>
          <p:cNvPr id="10" name="圖片 9">
            <a:extLst>
              <a:ext uri="{FF2B5EF4-FFF2-40B4-BE49-F238E27FC236}">
                <a16:creationId xmlns:a16="http://schemas.microsoft.com/office/drawing/2014/main" id="{17393FD5-8B35-4C45-81E6-474750272149}"/>
              </a:ext>
            </a:extLst>
          </p:cNvPr>
          <p:cNvPicPr>
            <a:picLocks noChangeAspect="1"/>
          </p:cNvPicPr>
          <p:nvPr/>
        </p:nvPicPr>
        <p:blipFill>
          <a:blip r:embed="rId6"/>
          <a:stretch>
            <a:fillRect/>
          </a:stretch>
        </p:blipFill>
        <p:spPr>
          <a:xfrm>
            <a:off x="1343428" y="4775835"/>
            <a:ext cx="4285714" cy="1609524"/>
          </a:xfrm>
          <a:prstGeom prst="rect">
            <a:avLst/>
          </a:prstGeom>
        </p:spPr>
      </p:pic>
    </p:spTree>
    <p:extLst>
      <p:ext uri="{BB962C8B-B14F-4D97-AF65-F5344CB8AC3E}">
        <p14:creationId xmlns:p14="http://schemas.microsoft.com/office/powerpoint/2010/main" val="313812410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92803</TotalTime>
  <Words>1074</Words>
  <Application>Microsoft Office PowerPoint</Application>
  <PresentationFormat>如螢幕大小 (4:3)</PresentationFormat>
  <Paragraphs>99</Paragraphs>
  <Slides>14</Slides>
  <Notes>14</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14</vt:i4>
      </vt:variant>
    </vt:vector>
  </HeadingPairs>
  <TitlesOfParts>
    <vt:vector size="24" baseType="lpstr">
      <vt:lpstr>MTMI</vt:lpstr>
      <vt:lpstr>MTSYN</vt:lpstr>
      <vt:lpstr>Times-BoldItalic</vt:lpstr>
      <vt:lpstr>Times-Roman</vt:lpstr>
      <vt:lpstr>Arial</vt:lpstr>
      <vt:lpstr>Calibri</vt:lpstr>
      <vt:lpstr>Calibri Light</vt:lpstr>
      <vt:lpstr>Cambria Math</vt:lpstr>
      <vt:lpstr>Times New Roman</vt:lpstr>
      <vt:lpstr>Office 佈景主題</vt:lpstr>
      <vt:lpstr>Shuffled Frog-leaping Algorithm:  A Memetic Metaheuristic for Discrete Optimization</vt:lpstr>
      <vt:lpstr>Abstract(1/3)</vt:lpstr>
      <vt:lpstr>Abstract(2/3)</vt:lpstr>
      <vt:lpstr>Abstract(3/3)</vt:lpstr>
      <vt:lpstr>Shuffled Frog-leaping Algorithm(SFLA)(1/5)</vt:lpstr>
      <vt:lpstr>Meme</vt:lpstr>
      <vt:lpstr>Comparison of Memes and Genes</vt:lpstr>
      <vt:lpstr>Shuffled Frog-leaping Algorithm(SFLA)(2/5)</vt:lpstr>
      <vt:lpstr>Shuffled Frog-leaping Algorithm(SFLA)(3/5)</vt:lpstr>
      <vt:lpstr>Shuffled Frog-leaping Algorithm(SFLA)(4/5)</vt:lpstr>
      <vt:lpstr>Shuffled Frog-leaping Algorithm(SFLA)(5/5)</vt:lpstr>
      <vt:lpstr>Results (1/3)</vt:lpstr>
      <vt:lpstr>Results (2/3)</vt:lpstr>
      <vt:lpstr>Results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敬平 詹</cp:lastModifiedBy>
  <cp:revision>981</cp:revision>
  <dcterms:created xsi:type="dcterms:W3CDTF">2017-09-25T08:45:50Z</dcterms:created>
  <dcterms:modified xsi:type="dcterms:W3CDTF">2021-02-23T07:35:18Z</dcterms:modified>
</cp:coreProperties>
</file>