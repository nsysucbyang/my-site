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83" r:id="rId6"/>
    <p:sldId id="266" r:id="rId7"/>
    <p:sldId id="267" r:id="rId8"/>
    <p:sldId id="268" r:id="rId9"/>
    <p:sldId id="269" r:id="rId10"/>
    <p:sldId id="270" r:id="rId11"/>
    <p:sldId id="271" r:id="rId12"/>
    <p:sldId id="272" r:id="rId13"/>
    <p:sldId id="275" r:id="rId14"/>
    <p:sldId id="281" r:id="rId15"/>
    <p:sldId id="277" r:id="rId16"/>
    <p:sldId id="278" r:id="rId17"/>
    <p:sldId id="282" r:id="rId18"/>
    <p:sldId id="279" r:id="rId19"/>
    <p:sldId id="261" r:id="rId20"/>
    <p:sldId id="260" r:id="rId2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8544" autoAdjust="0"/>
  </p:normalViewPr>
  <p:slideViewPr>
    <p:cSldViewPr snapToGrid="0">
      <p:cViewPr varScale="1">
        <p:scale>
          <a:sx n="56" d="100"/>
          <a:sy n="56" d="100"/>
        </p:scale>
        <p:origin x="126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2F9C40-27EA-499C-A200-2B269F31329F}" type="datetimeFigureOut">
              <a:rPr lang="zh-TW" altLang="en-US" smtClean="0"/>
              <a:t>2020/12/29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9ADE1-6B72-4D7D-87E9-262F70D6C11A}" type="slidenum">
              <a:rPr lang="zh-TW" altLang="en-US" smtClean="0"/>
              <a:t>‹#›</a:t>
            </a:fld>
            <a:endParaRPr lang="zh-TW" altLang="en-US"/>
          </a:p>
        </p:txBody>
      </p:sp>
    </p:spTree>
    <p:extLst>
      <p:ext uri="{BB962C8B-B14F-4D97-AF65-F5344CB8AC3E}">
        <p14:creationId xmlns:p14="http://schemas.microsoft.com/office/powerpoint/2010/main" val="4160631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a:r>
              <a:rPr lang="zh-TW" altLang="en-US" dirty="0">
                <a:solidFill>
                  <a:srgbClr val="000000"/>
                </a:solidFill>
                <a:effectLst/>
              </a:rPr>
              <a:t>電氣信息與通信技術</a:t>
            </a:r>
          </a:p>
          <a:p>
            <a:r>
              <a:rPr lang="zh-TW" altLang="en-US" b="0" i="0" dirty="0">
                <a:solidFill>
                  <a:srgbClr val="4D5156"/>
                </a:solidFill>
                <a:effectLst/>
                <a:latin typeface="arial" panose="020B0604020202020204" pitchFamily="34" charset="0"/>
              </a:rPr>
              <a:t>孟加拉國的一所公立工程大學</a:t>
            </a:r>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1</a:t>
            </a:fld>
            <a:endParaRPr lang="zh-TW" altLang="en-US"/>
          </a:p>
        </p:txBody>
      </p:sp>
    </p:spTree>
    <p:extLst>
      <p:ext uri="{BB962C8B-B14F-4D97-AF65-F5344CB8AC3E}">
        <p14:creationId xmlns:p14="http://schemas.microsoft.com/office/powerpoint/2010/main" val="228498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242424"/>
                </a:solidFill>
                <a:effectLst/>
                <a:latin typeface="標楷體" panose="03000509000000000000" pitchFamily="65" charset="-120"/>
                <a:ea typeface="標楷體" panose="03000509000000000000" pitchFamily="65" charset="-120"/>
              </a:rPr>
              <a:t>人工化學反應優化算法</a:t>
            </a:r>
            <a:r>
              <a:rPr lang="en-US" altLang="zh-TW" b="0" i="0" dirty="0">
                <a:solidFill>
                  <a:srgbClr val="242424"/>
                </a:solidFill>
                <a:effectLst/>
                <a:latin typeface="標楷體" panose="03000509000000000000" pitchFamily="65" charset="-120"/>
                <a:ea typeface="標楷體" panose="03000509000000000000" pitchFamily="65" charset="-120"/>
              </a:rPr>
              <a:t>(ACROA)</a:t>
            </a:r>
            <a:r>
              <a:rPr lang="zh-TW" altLang="en-US" b="0" i="0" dirty="0">
                <a:solidFill>
                  <a:srgbClr val="242424"/>
                </a:solidFill>
                <a:effectLst/>
                <a:latin typeface="標楷體" panose="03000509000000000000" pitchFamily="65" charset="-120"/>
                <a:ea typeface="標楷體" panose="03000509000000000000" pitchFamily="65" charset="-120"/>
              </a:rPr>
              <a:t>是一種模擬化學反應過程的元啟發式算法</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它把化學反應中的對象、狀態、過程和事件設計成一種計算方法</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把反應中焓和熵的能量變化設計成目標函數</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通過求目標函數的最優組合來實現問題的求解。所以提出一種混合人工化學反應優化算法求解</a:t>
            </a:r>
            <a:r>
              <a:rPr lang="en-US" altLang="zh-TW" b="0" i="0" dirty="0">
                <a:solidFill>
                  <a:srgbClr val="242424"/>
                </a:solidFill>
                <a:effectLst/>
                <a:latin typeface="標楷體" panose="03000509000000000000" pitchFamily="65" charset="-120"/>
                <a:ea typeface="標楷體" panose="03000509000000000000" pitchFamily="65" charset="-120"/>
              </a:rPr>
              <a:t>0-1</a:t>
            </a:r>
            <a:r>
              <a:rPr lang="zh-TW" altLang="en-US" b="0" i="0" dirty="0">
                <a:solidFill>
                  <a:srgbClr val="242424"/>
                </a:solidFill>
                <a:effectLst/>
                <a:latin typeface="標楷體" panose="03000509000000000000" pitchFamily="65" charset="-120"/>
                <a:ea typeface="標楷體" panose="03000509000000000000" pitchFamily="65" charset="-120"/>
              </a:rPr>
              <a:t>背包問題。該方法首先把化學反應分成單分子和雙分子兩種反應類型</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并對這兩種類型中的不同化學反應進行二進制編碼</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其次</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為了獲得問題的最優解</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引入一個貪婪策略的修正算子來修正反應過程的隨機選擇所產生的非可行解</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并通過局部和全局搜索來獲得問題的最優求解。實驗結果證明</a:t>
            </a:r>
            <a:r>
              <a:rPr lang="en-US" altLang="zh-TW" b="0" i="0" dirty="0">
                <a:solidFill>
                  <a:srgbClr val="242424"/>
                </a:solidFill>
                <a:effectLst/>
                <a:latin typeface="標楷體" panose="03000509000000000000" pitchFamily="65" charset="-120"/>
                <a:ea typeface="標楷體" panose="03000509000000000000" pitchFamily="65" charset="-120"/>
              </a:rPr>
              <a:t>ACROA</a:t>
            </a:r>
            <a:r>
              <a:rPr lang="zh-TW" altLang="en-US" b="0" i="0" dirty="0">
                <a:solidFill>
                  <a:srgbClr val="242424"/>
                </a:solidFill>
                <a:effectLst/>
                <a:latin typeface="標楷體" panose="03000509000000000000" pitchFamily="65" charset="-120"/>
                <a:ea typeface="標楷體" panose="03000509000000000000" pitchFamily="65" charset="-120"/>
              </a:rPr>
              <a:t>算法的性能明顯優于</a:t>
            </a:r>
            <a:r>
              <a:rPr lang="en-US" altLang="zh-TW" b="0" i="0" dirty="0">
                <a:solidFill>
                  <a:srgbClr val="242424"/>
                </a:solidFill>
                <a:effectLst/>
                <a:latin typeface="標楷體" panose="03000509000000000000" pitchFamily="65" charset="-120"/>
                <a:ea typeface="標楷體" panose="03000509000000000000" pitchFamily="65" charset="-120"/>
              </a:rPr>
              <a:t>GA</a:t>
            </a:r>
            <a:r>
              <a:rPr lang="zh-TW" altLang="en-US" b="0" i="0" dirty="0">
                <a:solidFill>
                  <a:srgbClr val="242424"/>
                </a:solidFill>
                <a:effectLst/>
                <a:latin typeface="標楷體" panose="03000509000000000000" pitchFamily="65" charset="-120"/>
                <a:ea typeface="標楷體" panose="03000509000000000000" pitchFamily="65" charset="-120"/>
              </a:rPr>
              <a:t>算法和</a:t>
            </a:r>
            <a:r>
              <a:rPr lang="en-US" altLang="zh-TW" b="0" i="0" dirty="0">
                <a:solidFill>
                  <a:srgbClr val="242424"/>
                </a:solidFill>
                <a:effectLst/>
                <a:latin typeface="標楷體" panose="03000509000000000000" pitchFamily="65" charset="-120"/>
                <a:ea typeface="標楷體" panose="03000509000000000000" pitchFamily="65" charset="-120"/>
              </a:rPr>
              <a:t>QEA</a:t>
            </a:r>
            <a:r>
              <a:rPr lang="zh-TW" altLang="en-US" b="0" i="0" dirty="0">
                <a:solidFill>
                  <a:srgbClr val="242424"/>
                </a:solidFill>
                <a:effectLst/>
                <a:latin typeface="標楷體" panose="03000509000000000000" pitchFamily="65" charset="-120"/>
                <a:ea typeface="標楷體" panose="03000509000000000000" pitchFamily="65" charset="-120"/>
              </a:rPr>
              <a:t>算法</a:t>
            </a:r>
            <a:r>
              <a:rPr lang="en-US" altLang="zh-TW" b="0" i="0" dirty="0">
                <a:solidFill>
                  <a:srgbClr val="242424"/>
                </a:solidFill>
                <a:effectLst/>
                <a:latin typeface="標楷體" panose="03000509000000000000" pitchFamily="65" charset="-120"/>
                <a:ea typeface="標楷體" panose="03000509000000000000" pitchFamily="65" charset="-120"/>
              </a:rPr>
              <a:t>,</a:t>
            </a:r>
            <a:r>
              <a:rPr lang="zh-TW" altLang="en-US" b="0" i="0" dirty="0">
                <a:solidFill>
                  <a:srgbClr val="242424"/>
                </a:solidFill>
                <a:effectLst/>
                <a:latin typeface="標楷體" panose="03000509000000000000" pitchFamily="65" charset="-120"/>
                <a:ea typeface="標楷體" panose="03000509000000000000" pitchFamily="65" charset="-120"/>
              </a:rPr>
              <a:t>該算法在解決背包問題等有很大的優勢。 </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3</a:t>
            </a:fld>
            <a:endParaRPr lang="zh-TW" altLang="en-US"/>
          </a:p>
        </p:txBody>
      </p:sp>
    </p:spTree>
    <p:extLst>
      <p:ext uri="{BB962C8B-B14F-4D97-AF65-F5344CB8AC3E}">
        <p14:creationId xmlns:p14="http://schemas.microsoft.com/office/powerpoint/2010/main" val="1872491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latin typeface="Times New Roman" panose="02020603050405020304" pitchFamily="18" charset="0"/>
                <a:cs typeface="Times New Roman" panose="02020603050405020304" pitchFamily="18" charset="0"/>
              </a:rPr>
              <a:t>Mimics-</a:t>
            </a:r>
            <a:r>
              <a:rPr lang="zh-TW" altLang="zh-TW" dirty="0"/>
              <a:t>模仿</a:t>
            </a:r>
            <a:r>
              <a:rPr lang="en-US" altLang="zh-TW" dirty="0"/>
              <a:t> </a:t>
            </a:r>
            <a:r>
              <a:rPr lang="en-US" altLang="zh-TW" dirty="0" err="1">
                <a:latin typeface="Times New Roman" panose="02020603050405020304" pitchFamily="18" charset="0"/>
                <a:cs typeface="Times New Roman" panose="02020603050405020304" pitchFamily="18" charset="0"/>
              </a:rPr>
              <a:t>moleculesz</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分子</a:t>
            </a:r>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4</a:t>
            </a:fld>
            <a:endParaRPr lang="zh-TW" altLang="en-US"/>
          </a:p>
        </p:txBody>
      </p:sp>
    </p:spTree>
    <p:extLst>
      <p:ext uri="{BB962C8B-B14F-4D97-AF65-F5344CB8AC3E}">
        <p14:creationId xmlns:p14="http://schemas.microsoft.com/office/powerpoint/2010/main" val="3993564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CRO</a:t>
            </a:r>
            <a:r>
              <a:rPr lang="zh-TW" altLang="en-US" dirty="0"/>
              <a:t>模擬四種類型的化學反應。四種類型</a:t>
            </a:r>
          </a:p>
          <a:p>
            <a:r>
              <a:rPr lang="zh-TW" altLang="en-US" dirty="0"/>
              <a:t>基本反應是壁上無效的碰撞，</a:t>
            </a:r>
          </a:p>
          <a:p>
            <a:r>
              <a:rPr lang="zh-TW" altLang="en-US" dirty="0"/>
              <a:t>分解，分子間無效碰撞和合成。</a:t>
            </a:r>
            <a:endParaRPr lang="en-US" altLang="zh-TW" dirty="0"/>
          </a:p>
          <a:p>
            <a:endParaRPr lang="en-US" altLang="zh-TW" dirty="0"/>
          </a:p>
          <a:p>
            <a:r>
              <a:rPr lang="zh-TW" altLang="en-US" b="1" dirty="0"/>
              <a:t>初始化，迭代和最後階段</a:t>
            </a:r>
            <a:endParaRPr lang="en-US" altLang="zh-TW" b="1" dirty="0"/>
          </a:p>
          <a:p>
            <a:r>
              <a:rPr lang="zh-TW" altLang="en-US" b="1" dirty="0"/>
              <a:t>在每次迭代的最後，我們必須檢查 停止標準。節能</a:t>
            </a:r>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5</a:t>
            </a:fld>
            <a:endParaRPr lang="zh-TW" altLang="en-US"/>
          </a:p>
        </p:txBody>
      </p:sp>
    </p:spTree>
    <p:extLst>
      <p:ext uri="{BB962C8B-B14F-4D97-AF65-F5344CB8AC3E}">
        <p14:creationId xmlns:p14="http://schemas.microsoft.com/office/powerpoint/2010/main" val="1016789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a:r>
              <a:rPr lang="en-US" altLang="zh-TW" dirty="0">
                <a:solidFill>
                  <a:srgbClr val="000000"/>
                </a:solidFill>
                <a:effectLst/>
              </a:rPr>
              <a:t>CRO</a:t>
            </a:r>
            <a:r>
              <a:rPr lang="zh-TW" altLang="en-US" dirty="0">
                <a:solidFill>
                  <a:srgbClr val="000000"/>
                </a:solidFill>
                <a:effectLst/>
              </a:rPr>
              <a:t>是最新的優化算法之一， 受化學反應過程啟發。在</a:t>
            </a:r>
            <a:r>
              <a:rPr lang="en-US" altLang="zh-TW" dirty="0">
                <a:solidFill>
                  <a:srgbClr val="000000"/>
                </a:solidFill>
                <a:effectLst/>
              </a:rPr>
              <a:t>CRO</a:t>
            </a:r>
            <a:r>
              <a:rPr lang="zh-TW" altLang="en-US" dirty="0">
                <a:solidFill>
                  <a:srgbClr val="000000"/>
                </a:solidFill>
                <a:effectLst/>
              </a:rPr>
              <a:t>中 分子（</a:t>
            </a:r>
            <a:r>
              <a:rPr lang="en-US" altLang="zh-TW" dirty="0">
                <a:solidFill>
                  <a:srgbClr val="000000"/>
                </a:solidFill>
                <a:effectLst/>
              </a:rPr>
              <a:t>M</a:t>
            </a:r>
            <a:r>
              <a:rPr lang="zh-TW" altLang="en-US" dirty="0">
                <a:solidFill>
                  <a:srgbClr val="000000"/>
                </a:solidFill>
                <a:effectLst/>
              </a:rPr>
              <a:t>）是代表 優化問題的解決方案。分子由</a:t>
            </a:r>
            <a:r>
              <a:rPr lang="en-US" altLang="zh-TW" dirty="0">
                <a:solidFill>
                  <a:srgbClr val="000000"/>
                </a:solidFill>
                <a:effectLst/>
              </a:rPr>
              <a:t>CRO</a:t>
            </a:r>
            <a:r>
              <a:rPr lang="zh-TW" altLang="en-US" dirty="0">
                <a:solidFill>
                  <a:srgbClr val="000000"/>
                </a:solidFill>
                <a:effectLst/>
              </a:rPr>
              <a:t>控制和操縱。 分子具有勢能（</a:t>
            </a:r>
            <a:r>
              <a:rPr lang="en-US" altLang="zh-TW" dirty="0">
                <a:solidFill>
                  <a:srgbClr val="000000"/>
                </a:solidFill>
                <a:effectLst/>
              </a:rPr>
              <a:t>PE</a:t>
            </a:r>
            <a:r>
              <a:rPr lang="zh-TW" altLang="en-US" dirty="0">
                <a:solidFill>
                  <a:srgbClr val="000000"/>
                </a:solidFill>
                <a:effectLst/>
              </a:rPr>
              <a:t>），動能（</a:t>
            </a:r>
            <a:r>
              <a:rPr lang="en-US" altLang="zh-TW" dirty="0">
                <a:solidFill>
                  <a:srgbClr val="000000"/>
                </a:solidFill>
                <a:effectLst/>
              </a:rPr>
              <a:t>KE</a:t>
            </a:r>
            <a:r>
              <a:rPr lang="zh-TW" altLang="en-US" dirty="0">
                <a:solidFill>
                  <a:srgbClr val="000000"/>
                </a:solidFill>
                <a:effectLst/>
              </a:rPr>
              <a:t>），命中數和代表溶液的其他特徵。 </a:t>
            </a:r>
            <a:r>
              <a:rPr lang="en-US" altLang="zh-TW" dirty="0">
                <a:solidFill>
                  <a:srgbClr val="000000"/>
                </a:solidFill>
                <a:effectLst/>
              </a:rPr>
              <a:t>CRO</a:t>
            </a:r>
            <a:r>
              <a:rPr lang="zh-TW" altLang="en-US" dirty="0">
                <a:solidFill>
                  <a:srgbClr val="000000"/>
                </a:solidFill>
                <a:effectLst/>
              </a:rPr>
              <a:t>模擬四種類型的化學反應。四種類型 基本反應是壁上無效的碰撞， 分解，分子間無效碰撞和 合成。在</a:t>
            </a:r>
            <a:r>
              <a:rPr lang="en-US" altLang="zh-TW" dirty="0">
                <a:solidFill>
                  <a:srgbClr val="000000"/>
                </a:solidFill>
                <a:effectLst/>
              </a:rPr>
              <a:t>CRO</a:t>
            </a:r>
            <a:r>
              <a:rPr lang="zh-TW" altLang="en-US" dirty="0">
                <a:solidFill>
                  <a:srgbClr val="000000"/>
                </a:solidFill>
                <a:effectLst/>
              </a:rPr>
              <a:t>過程中，總能量仍然存在 常數，這意味著</a:t>
            </a:r>
            <a:r>
              <a:rPr lang="en-US" altLang="zh-TW" dirty="0">
                <a:solidFill>
                  <a:srgbClr val="000000"/>
                </a:solidFill>
                <a:effectLst/>
              </a:rPr>
              <a:t>CRO</a:t>
            </a:r>
            <a:r>
              <a:rPr lang="zh-TW" altLang="en-US" dirty="0">
                <a:solidFill>
                  <a:srgbClr val="000000"/>
                </a:solidFill>
                <a:effectLst/>
              </a:rPr>
              <a:t>需要節約能源。 </a:t>
            </a:r>
            <a:endParaRPr lang="en-US" altLang="zh-TW" dirty="0">
              <a:solidFill>
                <a:srgbClr val="000000"/>
              </a:solidFill>
              <a:effectLst/>
            </a:endParaRPr>
          </a:p>
          <a:p>
            <a:pPr rtl="0"/>
            <a:r>
              <a:rPr lang="zh-TW" altLang="en-US" dirty="0">
                <a:solidFill>
                  <a:srgbClr val="000000"/>
                </a:solidFill>
                <a:effectLst/>
              </a:rPr>
              <a:t>在 迭代階段，四個反應中有一個基本反應 在每次迭代中發生。在這裡，我們必須確定 無論發生單分子還是雙分子反應。 反應類型是通過比較隨機 對</a:t>
            </a:r>
            <a:r>
              <a:rPr lang="en-US" altLang="zh-TW" dirty="0" err="1">
                <a:solidFill>
                  <a:srgbClr val="000000"/>
                </a:solidFill>
                <a:effectLst/>
              </a:rPr>
              <a:t>MoleColl</a:t>
            </a:r>
            <a:r>
              <a:rPr lang="zh-TW" altLang="en-US" dirty="0">
                <a:solidFill>
                  <a:srgbClr val="000000"/>
                </a:solidFill>
                <a:effectLst/>
              </a:rPr>
              <a:t>的數字</a:t>
            </a:r>
            <a:r>
              <a:rPr lang="en-US" altLang="zh-TW" dirty="0">
                <a:solidFill>
                  <a:srgbClr val="000000"/>
                </a:solidFill>
                <a:effectLst/>
              </a:rPr>
              <a:t>t [0</a:t>
            </a:r>
            <a:r>
              <a:rPr lang="zh-TW" altLang="en-US" dirty="0">
                <a:solidFill>
                  <a:srgbClr val="000000"/>
                </a:solidFill>
                <a:effectLst/>
              </a:rPr>
              <a:t>，</a:t>
            </a:r>
            <a:r>
              <a:rPr lang="en-US" altLang="zh-TW" dirty="0">
                <a:solidFill>
                  <a:srgbClr val="000000"/>
                </a:solidFill>
                <a:effectLst/>
              </a:rPr>
              <a:t>1]</a:t>
            </a:r>
            <a:r>
              <a:rPr lang="zh-TW" altLang="en-US" dirty="0">
                <a:solidFill>
                  <a:srgbClr val="000000"/>
                </a:solidFill>
                <a:effectLst/>
              </a:rPr>
              <a:t>。如果</a:t>
            </a:r>
            <a:r>
              <a:rPr lang="en-US" altLang="zh-TW" dirty="0">
                <a:solidFill>
                  <a:srgbClr val="000000"/>
                </a:solidFill>
                <a:effectLst/>
              </a:rPr>
              <a:t>t&gt; </a:t>
            </a:r>
            <a:r>
              <a:rPr lang="en-US" altLang="zh-TW" dirty="0" err="1">
                <a:solidFill>
                  <a:srgbClr val="000000"/>
                </a:solidFill>
                <a:effectLst/>
              </a:rPr>
              <a:t>MoleColl</a:t>
            </a:r>
            <a:r>
              <a:rPr lang="zh-TW" altLang="en-US" dirty="0">
                <a:solidFill>
                  <a:srgbClr val="000000"/>
                </a:solidFill>
                <a:effectLst/>
              </a:rPr>
              <a:t>，將會有 單分子反應。否則會發生雙分子反應 發生。在每次迭代的最後，我們必須檢查 停止標準。在這裡，新能源的勢能值 將獲得的分子與原始分子進行比較。 當新值可以 滿足節能要求</a:t>
            </a:r>
          </a:p>
          <a:p>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6</a:t>
            </a:fld>
            <a:endParaRPr lang="zh-TW" altLang="en-US"/>
          </a:p>
        </p:txBody>
      </p:sp>
    </p:spTree>
    <p:extLst>
      <p:ext uri="{BB962C8B-B14F-4D97-AF65-F5344CB8AC3E}">
        <p14:creationId xmlns:p14="http://schemas.microsoft.com/office/powerpoint/2010/main" val="2408943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7</a:t>
            </a:fld>
            <a:endParaRPr lang="zh-TW" altLang="en-US"/>
          </a:p>
        </p:txBody>
      </p:sp>
    </p:spTree>
    <p:extLst>
      <p:ext uri="{BB962C8B-B14F-4D97-AF65-F5344CB8AC3E}">
        <p14:creationId xmlns:p14="http://schemas.microsoft.com/office/powerpoint/2010/main" val="1773543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分子（假設二）在處理前後保持不變。 假設在分子間無效碰撞中，解決方案</a:t>
            </a:r>
          </a:p>
          <a:p>
            <a:r>
              <a:rPr lang="zh-TW" altLang="en-US" dirty="0"/>
              <a:t>結構</a:t>
            </a:r>
            <a:r>
              <a:rPr lang="en-US" altLang="zh-TW" dirty="0"/>
              <a:t>S1</a:t>
            </a:r>
            <a:r>
              <a:rPr lang="zh-TW" altLang="en-US" dirty="0"/>
              <a:t>轉換為</a:t>
            </a:r>
            <a:r>
              <a:rPr lang="en-US" altLang="zh-TW" dirty="0"/>
              <a:t>S'1</a:t>
            </a:r>
            <a:r>
              <a:rPr lang="zh-TW" altLang="en-US" dirty="0"/>
              <a:t>，</a:t>
            </a:r>
            <a:r>
              <a:rPr lang="en-US" altLang="zh-TW" dirty="0"/>
              <a:t>S2</a:t>
            </a:r>
            <a:r>
              <a:rPr lang="zh-TW" altLang="en-US" dirty="0"/>
              <a:t>轉換為</a:t>
            </a:r>
            <a:r>
              <a:rPr lang="en-US" altLang="zh-TW" dirty="0"/>
              <a:t>S'2</a:t>
            </a:r>
            <a:r>
              <a:rPr lang="zh-TW" altLang="en-US" dirty="0"/>
              <a:t>。</a:t>
            </a:r>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10</a:t>
            </a:fld>
            <a:endParaRPr lang="zh-TW" altLang="en-US"/>
          </a:p>
        </p:txBody>
      </p:sp>
    </p:spTree>
    <p:extLst>
      <p:ext uri="{BB962C8B-B14F-4D97-AF65-F5344CB8AC3E}">
        <p14:creationId xmlns:p14="http://schemas.microsoft.com/office/powerpoint/2010/main" val="3251875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合成以兩個分子為輸入並結合</a:t>
            </a:r>
            <a:endParaRPr lang="en-US" altLang="zh-TW" dirty="0"/>
          </a:p>
          <a:p>
            <a:r>
              <a:rPr lang="zh-TW" altLang="en-US" dirty="0"/>
              <a:t>我們採取兩個現有解決方案</a:t>
            </a:r>
            <a:r>
              <a:rPr lang="en-US" altLang="zh-TW" dirty="0"/>
              <a:t>S'1</a:t>
            </a:r>
            <a:r>
              <a:rPr lang="zh-TW" altLang="en-US" dirty="0"/>
              <a:t>和</a:t>
            </a:r>
            <a:r>
              <a:rPr lang="en-US" altLang="zh-TW" dirty="0"/>
              <a:t>S'2</a:t>
            </a:r>
            <a:r>
              <a:rPr lang="zh-TW" altLang="en-US" dirty="0"/>
              <a:t>。 產生一個新的解</a:t>
            </a:r>
            <a:r>
              <a:rPr lang="en-US" altLang="zh-TW" dirty="0"/>
              <a:t>S</a:t>
            </a:r>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11</a:t>
            </a:fld>
            <a:endParaRPr lang="zh-TW" altLang="en-US"/>
          </a:p>
        </p:txBody>
      </p:sp>
    </p:spTree>
    <p:extLst>
      <p:ext uri="{BB962C8B-B14F-4D97-AF65-F5344CB8AC3E}">
        <p14:creationId xmlns:p14="http://schemas.microsoft.com/office/powerpoint/2010/main" val="4101345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校正方法</a:t>
            </a:r>
            <a:endParaRPr lang="en-US" altLang="zh-TW" dirty="0"/>
          </a:p>
          <a:p>
            <a:r>
              <a:rPr lang="zh-TW" altLang="en-US" dirty="0"/>
              <a:t>將</a:t>
            </a:r>
            <a:r>
              <a:rPr lang="en-US" altLang="zh-TW" dirty="0"/>
              <a:t>S1</a:t>
            </a:r>
            <a:r>
              <a:rPr lang="zh-TW" altLang="en-US" dirty="0"/>
              <a:t>的位置</a:t>
            </a:r>
            <a:r>
              <a:rPr lang="en-US" altLang="zh-TW" dirty="0"/>
              <a:t>S [</a:t>
            </a:r>
            <a:r>
              <a:rPr lang="en-US" altLang="zh-TW" dirty="0" err="1"/>
              <a:t>i</a:t>
            </a:r>
            <a:r>
              <a:rPr lang="en-US" altLang="zh-TW" dirty="0"/>
              <a:t>]</a:t>
            </a:r>
            <a:r>
              <a:rPr lang="zh-TW" altLang="en-US" dirty="0"/>
              <a:t>中的字符與該字符進行比較在</a:t>
            </a:r>
            <a:r>
              <a:rPr lang="en-US" altLang="zh-TW" dirty="0"/>
              <a:t>S2</a:t>
            </a:r>
            <a:r>
              <a:rPr lang="zh-TW" altLang="en-US" dirty="0"/>
              <a:t>的</a:t>
            </a:r>
            <a:r>
              <a:rPr lang="en-US" altLang="zh-TW" dirty="0" err="1"/>
              <a:t>i</a:t>
            </a:r>
            <a:r>
              <a:rPr lang="zh-TW" altLang="en-US" dirty="0"/>
              <a:t>位置，</a:t>
            </a:r>
            <a:endParaRPr lang="en-US" altLang="zh-TW" dirty="0"/>
          </a:p>
          <a:p>
            <a:r>
              <a:rPr lang="zh-TW" altLang="en-US" dirty="0"/>
              <a:t>因此，我們在</a:t>
            </a:r>
            <a:r>
              <a:rPr lang="en-US" altLang="zh-TW" dirty="0"/>
              <a:t>S1</a:t>
            </a:r>
            <a:r>
              <a:rPr lang="zh-TW" altLang="en-US" dirty="0"/>
              <a:t>中進行正向搜索。</a:t>
            </a:r>
          </a:p>
          <a:p>
            <a:r>
              <a:rPr lang="zh-TW" altLang="en-US" dirty="0"/>
              <a:t>這裡</a:t>
            </a:r>
            <a:r>
              <a:rPr lang="en-US" altLang="zh-TW" dirty="0"/>
              <a:t>S [</a:t>
            </a:r>
            <a:r>
              <a:rPr lang="en-US" altLang="zh-TW" dirty="0" err="1"/>
              <a:t>i</a:t>
            </a:r>
            <a:r>
              <a:rPr lang="en-US" altLang="zh-TW" dirty="0"/>
              <a:t>] +1 = 2</a:t>
            </a:r>
            <a:r>
              <a:rPr lang="zh-TW" altLang="en-US" dirty="0"/>
              <a:t>和</a:t>
            </a:r>
            <a:r>
              <a:rPr lang="en-US" altLang="zh-TW" dirty="0"/>
              <a:t>S [</a:t>
            </a:r>
            <a:r>
              <a:rPr lang="en-US" altLang="zh-TW" dirty="0" err="1"/>
              <a:t>i</a:t>
            </a:r>
            <a:r>
              <a:rPr lang="en-US" altLang="zh-TW" dirty="0"/>
              <a:t> + 1] -1 = 3</a:t>
            </a:r>
            <a:r>
              <a:rPr lang="zh-TW" altLang="en-US" dirty="0"/>
              <a:t>，</a:t>
            </a:r>
            <a:endParaRPr lang="en-US" altLang="zh-TW" dirty="0"/>
          </a:p>
          <a:p>
            <a:r>
              <a:rPr lang="en-US" altLang="zh-TW" dirty="0"/>
              <a:t>S</a:t>
            </a:r>
            <a:r>
              <a:rPr lang="zh-TW" altLang="en-US" dirty="0"/>
              <a:t>的值 若沒有改變則 保留</a:t>
            </a:r>
            <a:r>
              <a:rPr lang="en-US" altLang="zh-TW" dirty="0"/>
              <a:t>S</a:t>
            </a:r>
            <a:r>
              <a:rPr lang="zh-TW" altLang="en-US" dirty="0"/>
              <a:t>的 若大於</a:t>
            </a:r>
            <a:r>
              <a:rPr lang="en-US" altLang="zh-TW" dirty="0"/>
              <a:t>i+1</a:t>
            </a:r>
            <a:r>
              <a:rPr lang="zh-TW" altLang="en-US" dirty="0"/>
              <a:t>則最大的位置</a:t>
            </a:r>
            <a:r>
              <a:rPr lang="en-US" altLang="zh-TW" dirty="0"/>
              <a:t>8</a:t>
            </a:r>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12</a:t>
            </a:fld>
            <a:endParaRPr lang="zh-TW" altLang="en-US"/>
          </a:p>
        </p:txBody>
      </p:sp>
    </p:spTree>
    <p:extLst>
      <p:ext uri="{BB962C8B-B14F-4D97-AF65-F5344CB8AC3E}">
        <p14:creationId xmlns:p14="http://schemas.microsoft.com/office/powerpoint/2010/main" val="466528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仿真結果  </a:t>
            </a:r>
            <a:endParaRPr lang="en-US" altLang="zh-TW" dirty="0"/>
          </a:p>
          <a:p>
            <a:r>
              <a:rPr lang="zh-TW" altLang="en-US" dirty="0"/>
              <a:t>我們將建議的</a:t>
            </a:r>
            <a:r>
              <a:rPr lang="en-US" altLang="zh-TW" dirty="0"/>
              <a:t>CRO</a:t>
            </a:r>
            <a:r>
              <a:rPr lang="zh-TW" altLang="en-US" dirty="0"/>
              <a:t>方法與動態</a:t>
            </a:r>
            <a:r>
              <a:rPr lang="en-US" altLang="zh-TW" dirty="0"/>
              <a:t>LCS</a:t>
            </a:r>
            <a:r>
              <a:rPr lang="zh-TW" altLang="en-US" dirty="0"/>
              <a:t>進行比較</a:t>
            </a:r>
            <a:r>
              <a:rPr lang="en-US" altLang="zh-TW" dirty="0"/>
              <a:t>[2]</a:t>
            </a:r>
            <a:r>
              <a:rPr lang="zh-TW" altLang="en-US" dirty="0"/>
              <a:t>和</a:t>
            </a:r>
            <a:r>
              <a:rPr lang="en-US" altLang="zh-TW" dirty="0"/>
              <a:t>Fast Dynamic LCS [3]</a:t>
            </a:r>
            <a:r>
              <a:rPr lang="zh-TW" altLang="en-US" dirty="0"/>
              <a:t>算法來展示它們表演。</a:t>
            </a:r>
            <a:endParaRPr lang="en-US" altLang="zh-TW" dirty="0"/>
          </a:p>
          <a:p>
            <a:r>
              <a:rPr lang="zh-TW" altLang="en-US" dirty="0"/>
              <a:t>分解條件與合成條件分別受分解值影響閾值和置換閾值。</a:t>
            </a:r>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13</a:t>
            </a:fld>
            <a:endParaRPr lang="zh-TW" altLang="en-US"/>
          </a:p>
        </p:txBody>
      </p:sp>
    </p:spTree>
    <p:extLst>
      <p:ext uri="{BB962C8B-B14F-4D97-AF65-F5344CB8AC3E}">
        <p14:creationId xmlns:p14="http://schemas.microsoft.com/office/powerpoint/2010/main" val="942523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在選擇的值中</a:t>
            </a:r>
          </a:p>
          <a:p>
            <a:r>
              <a:rPr lang="zh-TW" altLang="en-US" dirty="0"/>
              <a:t>比較了</a:t>
            </a:r>
            <a:r>
              <a:rPr lang="en-US" altLang="zh-TW" dirty="0"/>
              <a:t>50</a:t>
            </a:r>
            <a:r>
              <a:rPr lang="zh-TW" altLang="en-US" dirty="0"/>
              <a:t>次跑步，最長的順序是已選擇。在實驗過程中，我們發現對於每個選定的值，要進行</a:t>
            </a:r>
            <a:r>
              <a:rPr lang="en-US" altLang="zh-TW" dirty="0"/>
              <a:t>50</a:t>
            </a:r>
            <a:r>
              <a:rPr lang="zh-TW" altLang="en-US" dirty="0"/>
              <a:t>次運行就不足以使最長的</a:t>
            </a:r>
            <a:r>
              <a:rPr lang="en-US" altLang="zh-TW" dirty="0"/>
              <a:t>String</a:t>
            </a:r>
          </a:p>
          <a:p>
            <a:r>
              <a:rPr lang="zh-TW" altLang="en-US" dirty="0"/>
              <a:t>長度大於</a:t>
            </a:r>
            <a:r>
              <a:rPr lang="en-US" altLang="zh-TW" dirty="0"/>
              <a:t>1000</a:t>
            </a:r>
            <a:r>
              <a:rPr lang="zh-TW" altLang="en-US" dirty="0"/>
              <a:t>或更大。那我們需要增加</a:t>
            </a:r>
          </a:p>
          <a:p>
            <a:r>
              <a:rPr lang="zh-TW" altLang="en-US" dirty="0"/>
              <a:t>運行次數，</a:t>
            </a:r>
          </a:p>
          <a:p>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14</a:t>
            </a:fld>
            <a:endParaRPr lang="zh-TW" altLang="en-US"/>
          </a:p>
        </p:txBody>
      </p:sp>
    </p:spTree>
    <p:extLst>
      <p:ext uri="{BB962C8B-B14F-4D97-AF65-F5344CB8AC3E}">
        <p14:creationId xmlns:p14="http://schemas.microsoft.com/office/powerpoint/2010/main" val="1326731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We have compared proposed CRO based method with Dynamic LCS [2] and Fast Dynamic LCS [3] </a:t>
            </a:r>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18</a:t>
            </a:fld>
            <a:endParaRPr lang="zh-TW" altLang="en-US"/>
          </a:p>
        </p:txBody>
      </p:sp>
    </p:spTree>
    <p:extLst>
      <p:ext uri="{BB962C8B-B14F-4D97-AF65-F5344CB8AC3E}">
        <p14:creationId xmlns:p14="http://schemas.microsoft.com/office/powerpoint/2010/main" val="564035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在本文中我們的主要目標是減少</a:t>
            </a:r>
            <a:r>
              <a:rPr lang="en-US" altLang="zh-TW" dirty="0"/>
              <a:t>LCS</a:t>
            </a:r>
            <a:r>
              <a:rPr lang="zh-TW" altLang="en-US" dirty="0"/>
              <a:t>問題的時間複雜度並產生最優解。</a:t>
            </a:r>
            <a:endParaRPr lang="en-US" altLang="zh-TW" dirty="0"/>
          </a:p>
          <a:p>
            <a:r>
              <a:rPr lang="zh-TW" altLang="en-US" dirty="0"/>
              <a:t>我們比較了建議的基於</a:t>
            </a:r>
            <a:r>
              <a:rPr lang="en-US" altLang="zh-TW" dirty="0"/>
              <a:t>CRO</a:t>
            </a:r>
            <a:r>
              <a:rPr lang="zh-TW" altLang="en-US" dirty="0"/>
              <a:t>的方法</a:t>
            </a:r>
            <a:r>
              <a:rPr lang="en-US" altLang="zh-TW" dirty="0"/>
              <a:t>::</a:t>
            </a:r>
            <a:r>
              <a:rPr lang="zh-TW" altLang="en-US" dirty="0"/>
              <a:t>使用動態</a:t>
            </a:r>
            <a:r>
              <a:rPr lang="en-US" altLang="zh-TW" dirty="0"/>
              <a:t>LCS [2]</a:t>
            </a:r>
            <a:r>
              <a:rPr lang="zh-TW" altLang="en-US" dirty="0"/>
              <a:t>和快速動態</a:t>
            </a:r>
            <a:r>
              <a:rPr lang="en-US" altLang="zh-TW" dirty="0"/>
              <a:t>LCS [3]</a:t>
            </a:r>
            <a:r>
              <a:rPr lang="zh-TW" altLang="en-US" dirty="0"/>
              <a:t>並發現</a:t>
            </a:r>
          </a:p>
          <a:p>
            <a:r>
              <a:rPr lang="zh-TW" altLang="en-US" dirty="0"/>
              <a:t>我們提出的算法在比較所有建議的測試實例。它減少了執行時間處理時間。</a:t>
            </a:r>
            <a:endParaRPr lang="en-US" altLang="zh-TW" dirty="0"/>
          </a:p>
          <a:p>
            <a:r>
              <a:rPr lang="zh-TW" altLang="en-US" dirty="0"/>
              <a:t>這裡我們使用了兩個不同的字符串長度。將來，我們將設計一種</a:t>
            </a:r>
            <a:r>
              <a:rPr lang="en-US" altLang="zh-TW" dirty="0"/>
              <a:t>CRO</a:t>
            </a:r>
            <a:r>
              <a:rPr lang="zh-TW" altLang="en-US" dirty="0"/>
              <a:t>算法來查找</a:t>
            </a:r>
            <a:r>
              <a:rPr lang="en-US" altLang="zh-TW" dirty="0"/>
              <a:t>LCS</a:t>
            </a:r>
            <a:r>
              <a:rPr lang="zh-TW" altLang="en-US" dirty="0"/>
              <a:t>用於多個字符串。</a:t>
            </a:r>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19</a:t>
            </a:fld>
            <a:endParaRPr lang="zh-TW" altLang="en-US"/>
          </a:p>
        </p:txBody>
      </p:sp>
    </p:spTree>
    <p:extLst>
      <p:ext uri="{BB962C8B-B14F-4D97-AF65-F5344CB8AC3E}">
        <p14:creationId xmlns:p14="http://schemas.microsoft.com/office/powerpoint/2010/main" val="3287611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ED9ADE1-6B72-4D7D-87E9-262F70D6C11A}" type="slidenum">
              <a:rPr lang="zh-TW" altLang="en-US" smtClean="0"/>
              <a:t>20</a:t>
            </a:fld>
            <a:endParaRPr lang="zh-TW" altLang="en-US"/>
          </a:p>
        </p:txBody>
      </p:sp>
    </p:spTree>
    <p:extLst>
      <p:ext uri="{BB962C8B-B14F-4D97-AF65-F5344CB8AC3E}">
        <p14:creationId xmlns:p14="http://schemas.microsoft.com/office/powerpoint/2010/main" val="4237744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00D552-174F-4D7E-B1BA-C6A84347433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17C0569-A788-4BA9-BD67-7957B0C1EE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AE0B9B5-C43E-414B-8D56-FCFE8B0103D6}"/>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5" name="頁尾版面配置區 4">
            <a:extLst>
              <a:ext uri="{FF2B5EF4-FFF2-40B4-BE49-F238E27FC236}">
                <a16:creationId xmlns:a16="http://schemas.microsoft.com/office/drawing/2014/main" id="{39294BC9-7C97-4DF6-AEA3-D543AB6072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157861A-E1F9-4736-A2CF-BDA475D87599}"/>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3767175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A1037-F6FA-4835-9FF9-ABBCBDC3F31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2E5E11D8-EBC6-4F10-AFA4-688811F85E2C}"/>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8AE4C7D-C254-4A93-8F2C-15C937051204}"/>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5" name="頁尾版面配置區 4">
            <a:extLst>
              <a:ext uri="{FF2B5EF4-FFF2-40B4-BE49-F238E27FC236}">
                <a16:creationId xmlns:a16="http://schemas.microsoft.com/office/drawing/2014/main" id="{04B8DC3B-6DCD-4C9E-A318-23C9FC6C4D8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8B8A786-5AAC-42E4-8A78-ABB55DA9011E}"/>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1881874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56F1BF-0E53-4B65-AB93-52169E5EFEF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8AFB509-C2D2-4E4D-8DC4-ED39008631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A87015D5-61C1-432D-8317-E22F0059E2C3}"/>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5" name="頁尾版面配置區 4">
            <a:extLst>
              <a:ext uri="{FF2B5EF4-FFF2-40B4-BE49-F238E27FC236}">
                <a16:creationId xmlns:a16="http://schemas.microsoft.com/office/drawing/2014/main" id="{473D4A17-F76F-4C09-90F3-57051AF8065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BA1846-2B24-4154-BB36-9B06D3A06423}"/>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3725262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407006-A526-4F5D-A529-4CECDB8D78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B69E11A-36A8-4CC6-A364-0A4B9DF4E0D8}"/>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E1D1C67-8144-485F-BEF5-B8B7B1E7119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5F29A2B-AADF-41B5-A828-783AEB1D5DDB}"/>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6" name="頁尾版面配置區 5">
            <a:extLst>
              <a:ext uri="{FF2B5EF4-FFF2-40B4-BE49-F238E27FC236}">
                <a16:creationId xmlns:a16="http://schemas.microsoft.com/office/drawing/2014/main" id="{72F3072C-B656-46B2-9181-B57CFF7AB4B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0DDFE83-4A1D-4C40-A37B-AC08377185C2}"/>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173533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CC5123-CF8F-461F-B86A-C21AC48F8707}"/>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23BCAB2-9BF8-4C9B-91C4-A0924C8DD1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3097CD4-89DC-4A50-87F9-2C8B3789553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BA7E9844-3681-4125-958F-B9EB09E17F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48D02A36-BE1D-498A-8DF7-5FC9BE1F696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E7BF610-F8EC-4FAD-8358-FEA87C403E09}"/>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8" name="頁尾版面配置區 7">
            <a:extLst>
              <a:ext uri="{FF2B5EF4-FFF2-40B4-BE49-F238E27FC236}">
                <a16:creationId xmlns:a16="http://schemas.microsoft.com/office/drawing/2014/main" id="{9396E068-84AC-42CA-9B87-053ED586D80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4024477-D1A3-428E-83A2-4C98523F3C3D}"/>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2461526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6C7623-48B0-430F-AC8D-26D5F644265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F97714C-9FAF-47D4-8673-0A1B3081EE1D}"/>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4" name="頁尾版面配置區 3">
            <a:extLst>
              <a:ext uri="{FF2B5EF4-FFF2-40B4-BE49-F238E27FC236}">
                <a16:creationId xmlns:a16="http://schemas.microsoft.com/office/drawing/2014/main" id="{1A09C31F-8364-4CF5-BFAB-D862D487157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5096DA3-9ABD-41E9-A74E-2C3976DB2C1C}"/>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1002283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95B7811-D119-4E24-A87A-317DD4F531BC}"/>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3" name="頁尾版面配置區 2">
            <a:extLst>
              <a:ext uri="{FF2B5EF4-FFF2-40B4-BE49-F238E27FC236}">
                <a16:creationId xmlns:a16="http://schemas.microsoft.com/office/drawing/2014/main" id="{266970C8-DC68-42F7-9D97-644127FFD1B0}"/>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F43906C3-7D34-44A6-98C0-6FA6D628008B}"/>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1204955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5DC4D5-3A54-4DD0-99DD-FA7D1819C39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84D32A2C-3DDE-45B3-8068-1BB875D635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3A27F3A0-A4AD-4A4D-BB63-05025C83BF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2216F56-B201-47DC-B87C-193DEFD3014F}"/>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6" name="頁尾版面配置區 5">
            <a:extLst>
              <a:ext uri="{FF2B5EF4-FFF2-40B4-BE49-F238E27FC236}">
                <a16:creationId xmlns:a16="http://schemas.microsoft.com/office/drawing/2014/main" id="{F0CE4870-4DA9-427B-93ED-14BC9480851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80D831A-8261-4EC4-981F-9AEFC4F16EC7}"/>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3033848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604593-FC82-43FC-A1C5-F5C52F09E89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5ADAD8F-3BB6-4CCE-A55C-C51931E7AA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BCF3F84-9926-485B-9CF6-6F047BCFBD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127DBE7-EF5A-451E-B9B6-6DEACB572391}"/>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6" name="頁尾版面配置區 5">
            <a:extLst>
              <a:ext uri="{FF2B5EF4-FFF2-40B4-BE49-F238E27FC236}">
                <a16:creationId xmlns:a16="http://schemas.microsoft.com/office/drawing/2014/main" id="{AD7CFECE-269D-4420-B21F-6A6D4BD9ECB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136498-765F-4549-A23E-1D4AD923DA32}"/>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2721329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43B14C-672A-4713-999A-1EAFC1A7947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227F0164-2CE7-4E8E-8CD4-75AD22E5F25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FF44D63-48F6-4D96-8F6D-A14671531943}"/>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5" name="頁尾版面配置區 4">
            <a:extLst>
              <a:ext uri="{FF2B5EF4-FFF2-40B4-BE49-F238E27FC236}">
                <a16:creationId xmlns:a16="http://schemas.microsoft.com/office/drawing/2014/main" id="{51128685-7404-4718-A72D-269DA3C3B96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64D38D3-0730-4064-8D57-D546AD04F24D}"/>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2694669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5A68326-BD56-4E9B-B98C-D1447D0A701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73E1AA8-E7B0-42D9-9C42-32BDB0B2D0F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5ABDA7-A2DD-411C-90D7-9E9756FB94A9}"/>
              </a:ext>
            </a:extLst>
          </p:cNvPr>
          <p:cNvSpPr>
            <a:spLocks noGrp="1"/>
          </p:cNvSpPr>
          <p:nvPr>
            <p:ph type="dt" sz="half" idx="10"/>
          </p:nvPr>
        </p:nvSpPr>
        <p:spPr/>
        <p:txBody>
          <a:bodyPr/>
          <a:lstStyle/>
          <a:p>
            <a:fld id="{4F203D18-65BB-4C8F-8D76-698A7DBBE986}" type="datetimeFigureOut">
              <a:rPr lang="zh-TW" altLang="en-US" smtClean="0"/>
              <a:t>2020/12/29</a:t>
            </a:fld>
            <a:endParaRPr lang="zh-TW" altLang="en-US"/>
          </a:p>
        </p:txBody>
      </p:sp>
      <p:sp>
        <p:nvSpPr>
          <p:cNvPr id="5" name="頁尾版面配置區 4">
            <a:extLst>
              <a:ext uri="{FF2B5EF4-FFF2-40B4-BE49-F238E27FC236}">
                <a16:creationId xmlns:a16="http://schemas.microsoft.com/office/drawing/2014/main" id="{E0010CAA-7AC2-4067-8024-86FBA615D30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D0B879-CE3E-424E-AC64-D59E00368264}"/>
              </a:ext>
            </a:extLst>
          </p:cNvPr>
          <p:cNvSpPr>
            <a:spLocks noGrp="1"/>
          </p:cNvSpPr>
          <p:nvPr>
            <p:ph type="sldNum" sz="quarter" idx="12"/>
          </p:nvPr>
        </p:nvSpPr>
        <p:spPr/>
        <p:txBody>
          <a:body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1896980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6E98D666-0646-47DC-AD50-699532C342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8DFAB62-B63D-4B3A-A447-F3B564CFD8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68B0BF1-6444-4B2B-97E8-F03C9AEE44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203D18-65BB-4C8F-8D76-698A7DBBE986}" type="datetimeFigureOut">
              <a:rPr lang="zh-TW" altLang="en-US" smtClean="0"/>
              <a:t>2020/12/29</a:t>
            </a:fld>
            <a:endParaRPr lang="zh-TW" altLang="en-US"/>
          </a:p>
        </p:txBody>
      </p:sp>
      <p:sp>
        <p:nvSpPr>
          <p:cNvPr id="5" name="頁尾版面配置區 4">
            <a:extLst>
              <a:ext uri="{FF2B5EF4-FFF2-40B4-BE49-F238E27FC236}">
                <a16:creationId xmlns:a16="http://schemas.microsoft.com/office/drawing/2014/main" id="{651025B6-3BA0-40B7-A068-A1A6BDF82D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A7096D6-8ED5-4665-8C18-AC89642216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F9DC3B-12C7-4020-89C2-8B349DF5EBC7}" type="slidenum">
              <a:rPr lang="zh-TW" altLang="en-US" smtClean="0"/>
              <a:t>‹#›</a:t>
            </a:fld>
            <a:endParaRPr lang="zh-TW" altLang="en-US"/>
          </a:p>
        </p:txBody>
      </p:sp>
    </p:spTree>
    <p:extLst>
      <p:ext uri="{BB962C8B-B14F-4D97-AF65-F5344CB8AC3E}">
        <p14:creationId xmlns:p14="http://schemas.microsoft.com/office/powerpoint/2010/main" val="388327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7FF7AB-92CE-4DEA-AFF7-973BD682CE79}"/>
              </a:ext>
            </a:extLst>
          </p:cNvPr>
          <p:cNvSpPr>
            <a:spLocks noGrp="1"/>
          </p:cNvSpPr>
          <p:nvPr>
            <p:ph type="ctrTitle"/>
          </p:nvPr>
        </p:nvSpPr>
        <p:spPr>
          <a:xfrm>
            <a:off x="500332" y="320679"/>
            <a:ext cx="11016570" cy="2387600"/>
          </a:xfrm>
        </p:spPr>
        <p:txBody>
          <a:bodyPr>
            <a:normAutofit fontScale="90000"/>
          </a:bodyPr>
          <a:lstStyle/>
          <a:p>
            <a:r>
              <a:rPr lang="en-US" altLang="zh-TW" dirty="0">
                <a:latin typeface="Times New Roman" panose="02020603050405020304" pitchFamily="18" charset="0"/>
                <a:cs typeface="Times New Roman" panose="02020603050405020304" pitchFamily="18" charset="0"/>
              </a:rPr>
              <a:t>Longest Common Subsequence Using Chemical Reaction Optimization</a:t>
            </a:r>
            <a:endParaRPr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EAD88DDF-2943-4A00-A89D-E966DEC06C18}"/>
              </a:ext>
            </a:extLst>
          </p:cNvPr>
          <p:cNvSpPr>
            <a:spLocks noGrp="1"/>
          </p:cNvSpPr>
          <p:nvPr>
            <p:ph type="subTitle" idx="1"/>
          </p:nvPr>
        </p:nvSpPr>
        <p:spPr>
          <a:xfrm>
            <a:off x="1137683" y="3952913"/>
            <a:ext cx="9144000" cy="1655762"/>
          </a:xfrm>
        </p:spPr>
        <p:txBody>
          <a:bodyPr/>
          <a:lstStyle/>
          <a:p>
            <a:r>
              <a:rPr lang="en-US" altLang="zh-TW" dirty="0">
                <a:latin typeface="Times New Roman" panose="02020603050405020304" pitchFamily="18" charset="0"/>
                <a:cs typeface="Times New Roman" panose="02020603050405020304" pitchFamily="18" charset="0"/>
              </a:rPr>
              <a:t>Proceedings of International Conference on Electrical Information and Communication Technology (EICT 2015), </a:t>
            </a:r>
            <a:r>
              <a:rPr lang="en-US" altLang="zh-TW" b="0" i="0" dirty="0">
                <a:effectLst/>
                <a:latin typeface="Times New Roman" panose="02020603050405020304" pitchFamily="18" charset="0"/>
                <a:cs typeface="Times New Roman" panose="02020603050405020304" pitchFamily="18" charset="0"/>
              </a:rPr>
              <a:t>Khulna, </a:t>
            </a:r>
            <a:r>
              <a:rPr lang="en-US" altLang="zh-TW" dirty="0">
                <a:latin typeface="Times New Roman" panose="02020603050405020304" pitchFamily="18" charset="0"/>
                <a:cs typeface="Times New Roman" panose="02020603050405020304" pitchFamily="18" charset="0"/>
              </a:rPr>
              <a:t>Bangladesh</a:t>
            </a:r>
            <a:endParaRPr lang="zh-TW" altLang="en-US" dirty="0">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00804601-2281-4D09-801F-DFA6661BA82B}"/>
              </a:ext>
            </a:extLst>
          </p:cNvPr>
          <p:cNvSpPr txBox="1"/>
          <p:nvPr/>
        </p:nvSpPr>
        <p:spPr>
          <a:xfrm>
            <a:off x="8750595" y="5613991"/>
            <a:ext cx="3062177" cy="923330"/>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Presenter: </a:t>
            </a:r>
            <a:r>
              <a:rPr lang="en-US" altLang="zh-TW" dirty="0" err="1">
                <a:latin typeface="Times New Roman" panose="02020603050405020304" pitchFamily="18" charset="0"/>
                <a:cs typeface="Times New Roman" panose="02020603050405020304" pitchFamily="18" charset="0"/>
              </a:rPr>
              <a:t>Jue</a:t>
            </a:r>
            <a:r>
              <a:rPr lang="en-US" altLang="zh-TW" dirty="0">
                <a:latin typeface="Times New Roman" panose="02020603050405020304" pitchFamily="18" charset="0"/>
                <a:cs typeface="Times New Roman" panose="02020603050405020304" pitchFamily="18" charset="0"/>
              </a:rPr>
              <a:t> -Jun Wu</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Date:  Dec. 29</a:t>
            </a:r>
            <a:r>
              <a:rPr lang="en-US" altLang="zh-TW" baseline="30000" dirty="0">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 2020</a:t>
            </a:r>
            <a:endParaRPr lang="zh-TW" altLang="en-US"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F2D75130-2C07-436F-88C6-223F011D7BAE}"/>
              </a:ext>
            </a:extLst>
          </p:cNvPr>
          <p:cNvSpPr txBox="1"/>
          <p:nvPr/>
        </p:nvSpPr>
        <p:spPr>
          <a:xfrm>
            <a:off x="1524001" y="3151178"/>
            <a:ext cx="10667999"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Md. Rafiqul Islam, </a:t>
            </a:r>
            <a:r>
              <a:rPr lang="en-US" altLang="zh-TW" sz="2800" dirty="0" err="1">
                <a:latin typeface="Times New Roman" panose="02020603050405020304" pitchFamily="18" charset="0"/>
                <a:cs typeface="Times New Roman" panose="02020603050405020304" pitchFamily="18" charset="0"/>
              </a:rPr>
              <a:t>Zarrin</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Tasnim</a:t>
            </a:r>
            <a:r>
              <a:rPr lang="en-US" altLang="zh-TW" sz="2800" dirty="0">
                <a:latin typeface="Times New Roman" panose="02020603050405020304" pitchFamily="18" charset="0"/>
                <a:cs typeface="Times New Roman" panose="02020603050405020304" pitchFamily="18" charset="0"/>
              </a:rPr>
              <a:t> Asha and </a:t>
            </a:r>
            <a:r>
              <a:rPr lang="en-US" altLang="zh-TW" sz="2800" dirty="0" err="1">
                <a:latin typeface="Times New Roman" panose="02020603050405020304" pitchFamily="18" charset="0"/>
                <a:cs typeface="Times New Roman" panose="02020603050405020304" pitchFamily="18" charset="0"/>
              </a:rPr>
              <a:t>Rezoana</a:t>
            </a:r>
            <a:r>
              <a:rPr lang="en-US" altLang="zh-TW" sz="2800" dirty="0">
                <a:latin typeface="Times New Roman" panose="02020603050405020304" pitchFamily="18" charset="0"/>
                <a:cs typeface="Times New Roman" panose="02020603050405020304" pitchFamily="18" charset="0"/>
              </a:rPr>
              <a:t> Ahmed  </a:t>
            </a:r>
            <a:endParaRPr lang="zh-TW" altLang="en-US" sz="2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416394C-DEA4-429F-AD15-B5DB534ECCA8}"/>
              </a:ext>
            </a:extLst>
          </p:cNvPr>
          <p:cNvSpPr>
            <a:spLocks noChangeArrowheads="1"/>
          </p:cNvSpPr>
          <p:nvPr/>
        </p:nvSpPr>
        <p:spPr bwMode="auto">
          <a:xfrm>
            <a:off x="-172528" y="174066"/>
            <a:ext cx="91372" cy="287910"/>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7457" rIns="0" bIns="-1745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100" b="0" i="0" u="none" strike="noStrike" cap="none" normalizeH="0" baseline="0" dirty="0">
                <a:ln>
                  <a:noFill/>
                </a:ln>
                <a:solidFill>
                  <a:srgbClr val="202124"/>
                </a:solidFill>
                <a:effectLst/>
                <a:latin typeface="Arial Unicode MS"/>
                <a:ea typeface="inherit"/>
              </a:rPr>
              <a:t>l</a:t>
            </a:r>
            <a:r>
              <a:rPr kumimoji="0" lang="zh-TW" altLang="zh-TW" sz="1100" b="0" i="0" u="none" strike="noStrike" cap="none" normalizeH="0" baseline="0" dirty="0">
                <a:ln>
                  <a:noFill/>
                </a:ln>
                <a:solidFill>
                  <a:schemeClr val="tx1"/>
                </a:solidFill>
                <a:effectLst/>
              </a:rPr>
              <a:t> </a:t>
            </a: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737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B0F20A-4693-43E6-BCFF-EC6683F726B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44E820B-2E41-472C-87FA-0CE457996188}"/>
              </a:ext>
            </a:extLst>
          </p:cNvPr>
          <p:cNvSpPr>
            <a:spLocks noGrp="1"/>
          </p:cNvSpPr>
          <p:nvPr>
            <p:ph idx="1"/>
          </p:nvPr>
        </p:nvSpPr>
        <p:spPr/>
        <p:txBody>
          <a:bodyPr>
            <a:normAutofit/>
          </a:bodyPr>
          <a:lstStyle/>
          <a:p>
            <a:pPr marL="0" indent="0">
              <a:buNone/>
            </a:pPr>
            <a:r>
              <a:rPr lang="en-US" altLang="zh-TW" sz="3200" dirty="0">
                <a:latin typeface="Times New Roman" panose="02020603050405020304" pitchFamily="18" charset="0"/>
                <a:cs typeface="Times New Roman" panose="02020603050405020304" pitchFamily="18" charset="0"/>
              </a:rPr>
              <a:t>	Longest Common Subsequence (LCS) is a well-known optimization problem. It is the problem to find out a longest subsequence of each member of a given set of sequences. It is an NP-hard problem and has applications in data compression, FPGA circuit minimization and bioinformatics. Chemical Reaction Optimization (CRO) is a new meta-heuristic method that is being widely used in solving optimization problem. </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15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BAE26F-05D0-4221-BB0D-05F4C53E6E78}"/>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02F95A9-A859-4CC2-8A37-2D4A68ED54FD}"/>
              </a:ext>
            </a:extLst>
          </p:cNvPr>
          <p:cNvSpPr>
            <a:spLocks noGrp="1"/>
          </p:cNvSpPr>
          <p:nvPr>
            <p:ph idx="1"/>
          </p:nvPr>
        </p:nvSpPr>
        <p:spPr/>
        <p:txBody>
          <a:bodyPr>
            <a:normAutofit/>
          </a:bodyPr>
          <a:lstStyle/>
          <a:p>
            <a:pPr marL="0" indent="0">
              <a:buNone/>
            </a:pPr>
            <a:r>
              <a:rPr lang="en-US" altLang="zh-TW" sz="3200" dirty="0"/>
              <a:t>	</a:t>
            </a:r>
            <a:r>
              <a:rPr lang="en-US" altLang="zh-TW" sz="3200" dirty="0">
                <a:latin typeface="Times New Roman" panose="02020603050405020304" pitchFamily="18" charset="0"/>
                <a:cs typeface="Times New Roman" panose="02020603050405020304" pitchFamily="18" charset="0"/>
              </a:rPr>
              <a:t>In this paper we have proposed an efficient Chemical Reaction Optimization technique to solve Longest Common Subsequence problem. The design strategies of elementary operators and correction method are shown to solve the problem. The proposed method is compared with two other methods and the experimental results show that it takes less execution time than that of others. </a:t>
            </a:r>
          </a:p>
          <a:p>
            <a:pPr marL="0" indent="0">
              <a:buNone/>
            </a:pPr>
            <a:endParaRPr lang="zh-TW" altLang="en-US" sz="3200" dirty="0"/>
          </a:p>
        </p:txBody>
      </p:sp>
    </p:spTree>
    <p:extLst>
      <p:ext uri="{BB962C8B-B14F-4D97-AF65-F5344CB8AC3E}">
        <p14:creationId xmlns:p14="http://schemas.microsoft.com/office/powerpoint/2010/main" val="2277868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CCA8C427-45D0-49CF-891C-03CEAF7EFEDB}"/>
              </a:ext>
            </a:extLst>
          </p:cNvPr>
          <p:cNvSpPr>
            <a:spLocks noGrp="1"/>
          </p:cNvSpPr>
          <p:nvPr>
            <p:ph idx="1"/>
          </p:nvPr>
        </p:nvSpPr>
        <p:spPr>
          <a:xfrm>
            <a:off x="463138" y="1033154"/>
            <a:ext cx="11291454" cy="4930054"/>
          </a:xfrm>
        </p:spPr>
        <p:txBody>
          <a:bodyPr>
            <a:normAutofit lnSpcReduction="10000"/>
          </a:bodyPr>
          <a:lstStyle/>
          <a:p>
            <a:r>
              <a:rPr lang="en-US" altLang="zh-TW" dirty="0">
                <a:latin typeface="Times New Roman" panose="02020603050405020304" pitchFamily="18" charset="0"/>
                <a:cs typeface="Times New Roman" panose="02020603050405020304" pitchFamily="18" charset="0"/>
              </a:rPr>
              <a:t>Chemical Reaction Optimization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(CRO) is a simple and powerful </a:t>
            </a:r>
          </a:p>
          <a:p>
            <a:pPr marL="0" indent="0">
              <a:buNone/>
            </a:pPr>
            <a:r>
              <a:rPr lang="en-US" altLang="zh-TW" dirty="0">
                <a:latin typeface="Times New Roman" panose="02020603050405020304" pitchFamily="18" charset="0"/>
                <a:cs typeface="Times New Roman" panose="02020603050405020304" pitchFamily="18" charset="0"/>
              </a:rPr>
              <a:t>   meta-heuristic which is showing excellent performance in solving        </a:t>
            </a:r>
          </a:p>
          <a:p>
            <a:pPr marL="0" indent="0">
              <a:buNone/>
            </a:pPr>
            <a:r>
              <a:rPr lang="en-US" altLang="zh-TW" dirty="0">
                <a:latin typeface="Times New Roman" panose="02020603050405020304" pitchFamily="18" charset="0"/>
                <a:cs typeface="Times New Roman" panose="02020603050405020304" pitchFamily="18" charset="0"/>
              </a:rPr>
              <a:t>   optimization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problem.</a:t>
            </a: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 CRO mimics the interactions of molecules in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chemical reactions to search for the global optimum .</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In this paper we have designed an algorithm</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to find LCS based on the concept of CRO. The proposed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method, dynamic programming algorithm for LCS given in and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fast dynamic programming method have been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implemented and compared the results to show the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performances.</a:t>
            </a:r>
            <a:endParaRPr lang="zh-TW" altLang="en-US"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030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AABC321-6368-4521-9D90-AA76ED046898}"/>
              </a:ext>
            </a:extLst>
          </p:cNvPr>
          <p:cNvSpPr>
            <a:spLocks noGrp="1"/>
          </p:cNvSpPr>
          <p:nvPr>
            <p:ph idx="1"/>
          </p:nvPr>
        </p:nvSpPr>
        <p:spPr>
          <a:xfrm>
            <a:off x="447304" y="558831"/>
            <a:ext cx="11744696" cy="5740338"/>
          </a:xfrm>
        </p:spPr>
        <p:txBody>
          <a:bodyPr>
            <a:normAutofit/>
          </a:bodyPr>
          <a:lstStyle/>
          <a:p>
            <a:r>
              <a:rPr lang="en-US" altLang="zh-TW" dirty="0">
                <a:latin typeface="Times New Roman" panose="02020603050405020304" pitchFamily="18" charset="0"/>
                <a:cs typeface="Times New Roman" panose="02020603050405020304" pitchFamily="18" charset="0"/>
              </a:rPr>
              <a:t>CRO simulates four types of chemical reactions.</a:t>
            </a:r>
          </a:p>
          <a:p>
            <a:pPr marL="0" indent="0">
              <a:buNone/>
            </a:pPr>
            <a:r>
              <a:rPr lang="en-US" altLang="zh-TW" dirty="0">
                <a:latin typeface="Times New Roman" panose="02020603050405020304" pitchFamily="18" charset="0"/>
                <a:cs typeface="Times New Roman" panose="02020603050405020304" pitchFamily="18" charset="0"/>
              </a:rPr>
              <a:t>   Elementary reactions are on-wall ineffective collision,</a:t>
            </a:r>
          </a:p>
          <a:p>
            <a:pPr marL="0" indent="0">
              <a:buNone/>
            </a:pPr>
            <a:r>
              <a:rPr lang="en-US" altLang="zh-TW" dirty="0">
                <a:latin typeface="Times New Roman" panose="02020603050405020304" pitchFamily="18" charset="0"/>
                <a:cs typeface="Times New Roman" panose="02020603050405020304" pitchFamily="18" charset="0"/>
              </a:rPr>
              <a:t>   decomposition, inter-molecular ineffective collision and synthesis.</a:t>
            </a: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At the end of  each iteration , we have to check stopping criteria. </a:t>
            </a:r>
          </a:p>
          <a:p>
            <a:pPr marL="0" indent="0">
              <a:buNone/>
            </a:pPr>
            <a:r>
              <a:rPr lang="en-US" altLang="zh-TW" dirty="0">
                <a:latin typeface="Times New Roman" panose="02020603050405020304" pitchFamily="18" charset="0"/>
                <a:cs typeface="Times New Roman" panose="02020603050405020304" pitchFamily="18" charset="0"/>
              </a:rPr>
              <a:t>   Here the potential energy value of the newly obtained molecule(s) is </a:t>
            </a:r>
          </a:p>
          <a:p>
            <a:pPr marL="0" indent="0">
              <a:buNone/>
            </a:pPr>
            <a:r>
              <a:rPr lang="en-US" altLang="zh-TW" dirty="0">
                <a:latin typeface="Times New Roman" panose="02020603050405020304" pitchFamily="18" charset="0"/>
                <a:cs typeface="Times New Roman" panose="02020603050405020304" pitchFamily="18" charset="0"/>
              </a:rPr>
              <a:t>   compared with the original molecules.</a:t>
            </a: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 new molecules will be accepted when the new values can</a:t>
            </a:r>
          </a:p>
          <a:p>
            <a:pPr marL="0" indent="0">
              <a:buNone/>
            </a:pPr>
            <a:r>
              <a:rPr lang="en-US" altLang="zh-TW" dirty="0">
                <a:latin typeface="Times New Roman" panose="02020603050405020304" pitchFamily="18" charset="0"/>
                <a:cs typeface="Times New Roman" panose="02020603050405020304" pitchFamily="18" charset="0"/>
              </a:rPr>
              <a:t>   satisfy the </a:t>
            </a:r>
            <a:r>
              <a:rPr lang="en-US" altLang="zh-TW" u="sng" dirty="0">
                <a:latin typeface="Times New Roman" panose="02020603050405020304" pitchFamily="18" charset="0"/>
                <a:cs typeface="Times New Roman" panose="02020603050405020304" pitchFamily="18" charset="0"/>
              </a:rPr>
              <a:t>energy conservation conditions</a:t>
            </a:r>
            <a:r>
              <a:rPr lang="en-US" altLang="zh-TW" dirty="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   Otherwise, the new molecules are discarded.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497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7A9B0A-5D87-4CAF-938C-95E3F5EDF701}"/>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C9047952-2087-412A-9685-C17AC98C8FC3}"/>
              </a:ext>
            </a:extLst>
          </p:cNvPr>
          <p:cNvSpPr>
            <a:spLocks noGrp="1"/>
          </p:cNvSpPr>
          <p:nvPr>
            <p:ph idx="1"/>
          </p:nvPr>
        </p:nvSpPr>
        <p:spPr>
          <a:xfrm>
            <a:off x="434789" y="1862440"/>
            <a:ext cx="10515600" cy="4351338"/>
          </a:xfrm>
        </p:spPr>
        <p:txBody>
          <a:bodyPr>
            <a:normAutofit/>
          </a:bodyPr>
          <a:lstStyle/>
          <a:p>
            <a:pPr marL="0" indent="0">
              <a:buNone/>
            </a:pPr>
            <a:r>
              <a:rPr lang="en-US" altLang="zh-TW" dirty="0"/>
              <a:t>S1 (first sequence) of</a:t>
            </a:r>
            <a:r>
              <a:rPr lang="zh-TW" altLang="en-US" dirty="0"/>
              <a:t> </a:t>
            </a:r>
            <a:r>
              <a:rPr lang="en-US" altLang="zh-TW" dirty="0"/>
              <a:t>length n </a:t>
            </a:r>
          </a:p>
          <a:p>
            <a:pPr marL="0" indent="0">
              <a:buNone/>
            </a:pPr>
            <a:r>
              <a:rPr lang="en-US" altLang="zh-TW" dirty="0"/>
              <a:t>S2 (second sequence) of length m, where m ≤ n</a:t>
            </a:r>
          </a:p>
          <a:p>
            <a:r>
              <a:rPr lang="en-US" altLang="zh-TW" dirty="0"/>
              <a:t>S1 = “GCCCTAGCG”.</a:t>
            </a:r>
          </a:p>
          <a:p>
            <a:r>
              <a:rPr lang="en-US" altLang="zh-TW" dirty="0"/>
              <a:t>S2 = “GGCACTA”.</a:t>
            </a:r>
          </a:p>
          <a:p>
            <a:pPr marL="0" indent="0">
              <a:buNone/>
            </a:pPr>
            <a:endParaRPr lang="en-US" altLang="zh-TW" dirty="0"/>
          </a:p>
          <a:p>
            <a:pPr marL="0" indent="0">
              <a:buNone/>
            </a:pPr>
            <a:endParaRPr lang="en-US" altLang="zh-TW" dirty="0"/>
          </a:p>
          <a:p>
            <a:pPr marL="0" indent="0">
              <a:buNone/>
            </a:pPr>
            <a:r>
              <a:rPr lang="en-US" altLang="zh-TW" dirty="0"/>
              <a:t>LCS = ”GCAC”.</a:t>
            </a:r>
          </a:p>
        </p:txBody>
      </p:sp>
      <p:pic>
        <p:nvPicPr>
          <p:cNvPr id="4" name="內容版面配置區 6" descr="一張含有 文字 的圖片&#10;&#10;自動產生的描述">
            <a:extLst>
              <a:ext uri="{FF2B5EF4-FFF2-40B4-BE49-F238E27FC236}">
                <a16:creationId xmlns:a16="http://schemas.microsoft.com/office/drawing/2014/main" id="{B8CA28E6-5225-4160-9A26-2E5A54FEB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9014" y="546100"/>
            <a:ext cx="4417249" cy="1835247"/>
          </a:xfrm>
          <a:prstGeom prst="rect">
            <a:avLst/>
          </a:prstGeom>
        </p:spPr>
      </p:pic>
      <p:pic>
        <p:nvPicPr>
          <p:cNvPr id="5" name="圖片 4" descr="一張含有 文字 的圖片&#10;&#10;自動產生的描述">
            <a:extLst>
              <a:ext uri="{FF2B5EF4-FFF2-40B4-BE49-F238E27FC236}">
                <a16:creationId xmlns:a16="http://schemas.microsoft.com/office/drawing/2014/main" id="{5D6A4067-AD90-41AB-8CB1-A0E19D0746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9014" y="2381346"/>
            <a:ext cx="4417249" cy="4314523"/>
          </a:xfrm>
          <a:prstGeom prst="rect">
            <a:avLst/>
          </a:prstGeom>
        </p:spPr>
      </p:pic>
    </p:spTree>
    <p:extLst>
      <p:ext uri="{BB962C8B-B14F-4D97-AF65-F5344CB8AC3E}">
        <p14:creationId xmlns:p14="http://schemas.microsoft.com/office/powerpoint/2010/main" val="3304567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1EC0952C-1F98-4330-ADC5-CFA34782908D}"/>
              </a:ext>
            </a:extLst>
          </p:cNvPr>
          <p:cNvGraphicFramePr>
            <a:graphicFrameLocks noGrp="1"/>
          </p:cNvGraphicFramePr>
          <p:nvPr>
            <p:ph idx="1"/>
            <p:extLst>
              <p:ext uri="{D42A27DB-BD31-4B8C-83A1-F6EECF244321}">
                <p14:modId xmlns:p14="http://schemas.microsoft.com/office/powerpoint/2010/main" val="685426707"/>
              </p:ext>
            </p:extLst>
          </p:nvPr>
        </p:nvGraphicFramePr>
        <p:xfrm>
          <a:off x="6326481" y="1010060"/>
          <a:ext cx="4919450" cy="876618"/>
        </p:xfrm>
        <a:graphic>
          <a:graphicData uri="http://schemas.openxmlformats.org/drawingml/2006/table">
            <a:tbl>
              <a:tblPr firstRow="1" bandRow="1">
                <a:tableStyleId>{5C22544A-7EE6-4342-B048-85BDC9FD1C3A}</a:tableStyleId>
              </a:tblPr>
              <a:tblGrid>
                <a:gridCol w="491945">
                  <a:extLst>
                    <a:ext uri="{9D8B030D-6E8A-4147-A177-3AD203B41FA5}">
                      <a16:colId xmlns:a16="http://schemas.microsoft.com/office/drawing/2014/main" val="3776344480"/>
                    </a:ext>
                  </a:extLst>
                </a:gridCol>
                <a:gridCol w="491945">
                  <a:extLst>
                    <a:ext uri="{9D8B030D-6E8A-4147-A177-3AD203B41FA5}">
                      <a16:colId xmlns:a16="http://schemas.microsoft.com/office/drawing/2014/main" val="3605369203"/>
                    </a:ext>
                  </a:extLst>
                </a:gridCol>
                <a:gridCol w="491945">
                  <a:extLst>
                    <a:ext uri="{9D8B030D-6E8A-4147-A177-3AD203B41FA5}">
                      <a16:colId xmlns:a16="http://schemas.microsoft.com/office/drawing/2014/main" val="1120303579"/>
                    </a:ext>
                  </a:extLst>
                </a:gridCol>
                <a:gridCol w="491945">
                  <a:extLst>
                    <a:ext uri="{9D8B030D-6E8A-4147-A177-3AD203B41FA5}">
                      <a16:colId xmlns:a16="http://schemas.microsoft.com/office/drawing/2014/main" val="4262734997"/>
                    </a:ext>
                  </a:extLst>
                </a:gridCol>
                <a:gridCol w="491945">
                  <a:extLst>
                    <a:ext uri="{9D8B030D-6E8A-4147-A177-3AD203B41FA5}">
                      <a16:colId xmlns:a16="http://schemas.microsoft.com/office/drawing/2014/main" val="4112372776"/>
                    </a:ext>
                  </a:extLst>
                </a:gridCol>
                <a:gridCol w="491945">
                  <a:extLst>
                    <a:ext uri="{9D8B030D-6E8A-4147-A177-3AD203B41FA5}">
                      <a16:colId xmlns:a16="http://schemas.microsoft.com/office/drawing/2014/main" val="472715194"/>
                    </a:ext>
                  </a:extLst>
                </a:gridCol>
                <a:gridCol w="491945">
                  <a:extLst>
                    <a:ext uri="{9D8B030D-6E8A-4147-A177-3AD203B41FA5}">
                      <a16:colId xmlns:a16="http://schemas.microsoft.com/office/drawing/2014/main" val="2451447436"/>
                    </a:ext>
                  </a:extLst>
                </a:gridCol>
                <a:gridCol w="491945">
                  <a:extLst>
                    <a:ext uri="{9D8B030D-6E8A-4147-A177-3AD203B41FA5}">
                      <a16:colId xmlns:a16="http://schemas.microsoft.com/office/drawing/2014/main" val="2678507986"/>
                    </a:ext>
                  </a:extLst>
                </a:gridCol>
                <a:gridCol w="491945">
                  <a:extLst>
                    <a:ext uri="{9D8B030D-6E8A-4147-A177-3AD203B41FA5}">
                      <a16:colId xmlns:a16="http://schemas.microsoft.com/office/drawing/2014/main" val="3615316432"/>
                    </a:ext>
                  </a:extLst>
                </a:gridCol>
                <a:gridCol w="491945">
                  <a:extLst>
                    <a:ext uri="{9D8B030D-6E8A-4147-A177-3AD203B41FA5}">
                      <a16:colId xmlns:a16="http://schemas.microsoft.com/office/drawing/2014/main" val="1771558196"/>
                    </a:ext>
                  </a:extLst>
                </a:gridCol>
              </a:tblGrid>
              <a:tr h="438309">
                <a:tc>
                  <a:txBody>
                    <a:bodyPr/>
                    <a:lstStyle/>
                    <a:p>
                      <a:r>
                        <a:rPr lang="en-US" altLang="zh-TW" dirty="0">
                          <a:solidFill>
                            <a:schemeClr val="tx1"/>
                          </a:solidFill>
                        </a:rPr>
                        <a:t>S1: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6598439"/>
                  </a:ext>
                </a:extLst>
              </a:tr>
              <a:tr h="438309">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6</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7</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8</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2935754"/>
                  </a:ext>
                </a:extLst>
              </a:tr>
            </a:tbl>
          </a:graphicData>
        </a:graphic>
      </p:graphicFrame>
      <p:graphicFrame>
        <p:nvGraphicFramePr>
          <p:cNvPr id="5" name="表格 4">
            <a:extLst>
              <a:ext uri="{FF2B5EF4-FFF2-40B4-BE49-F238E27FC236}">
                <a16:creationId xmlns:a16="http://schemas.microsoft.com/office/drawing/2014/main" id="{F958E467-B406-41E6-8D2F-C5B86F0167C8}"/>
              </a:ext>
            </a:extLst>
          </p:cNvPr>
          <p:cNvGraphicFramePr>
            <a:graphicFrameLocks/>
          </p:cNvGraphicFramePr>
          <p:nvPr>
            <p:extLst>
              <p:ext uri="{D42A27DB-BD31-4B8C-83A1-F6EECF244321}">
                <p14:modId xmlns:p14="http://schemas.microsoft.com/office/powerpoint/2010/main" val="1047908257"/>
              </p:ext>
            </p:extLst>
          </p:nvPr>
        </p:nvGraphicFramePr>
        <p:xfrm>
          <a:off x="7802319" y="2093304"/>
          <a:ext cx="3443616" cy="876618"/>
        </p:xfrm>
        <a:graphic>
          <a:graphicData uri="http://schemas.openxmlformats.org/drawingml/2006/table">
            <a:tbl>
              <a:tblPr firstRow="1" bandRow="1">
                <a:tableStyleId>{5C22544A-7EE6-4342-B048-85BDC9FD1C3A}</a:tableStyleId>
              </a:tblPr>
              <a:tblGrid>
                <a:gridCol w="430452">
                  <a:extLst>
                    <a:ext uri="{9D8B030D-6E8A-4147-A177-3AD203B41FA5}">
                      <a16:colId xmlns:a16="http://schemas.microsoft.com/office/drawing/2014/main" val="58484211"/>
                    </a:ext>
                  </a:extLst>
                </a:gridCol>
                <a:gridCol w="430452">
                  <a:extLst>
                    <a:ext uri="{9D8B030D-6E8A-4147-A177-3AD203B41FA5}">
                      <a16:colId xmlns:a16="http://schemas.microsoft.com/office/drawing/2014/main" val="3605369203"/>
                    </a:ext>
                  </a:extLst>
                </a:gridCol>
                <a:gridCol w="430452">
                  <a:extLst>
                    <a:ext uri="{9D8B030D-6E8A-4147-A177-3AD203B41FA5}">
                      <a16:colId xmlns:a16="http://schemas.microsoft.com/office/drawing/2014/main" val="1120303579"/>
                    </a:ext>
                  </a:extLst>
                </a:gridCol>
                <a:gridCol w="430452">
                  <a:extLst>
                    <a:ext uri="{9D8B030D-6E8A-4147-A177-3AD203B41FA5}">
                      <a16:colId xmlns:a16="http://schemas.microsoft.com/office/drawing/2014/main" val="4262734997"/>
                    </a:ext>
                  </a:extLst>
                </a:gridCol>
                <a:gridCol w="430452">
                  <a:extLst>
                    <a:ext uri="{9D8B030D-6E8A-4147-A177-3AD203B41FA5}">
                      <a16:colId xmlns:a16="http://schemas.microsoft.com/office/drawing/2014/main" val="4112372776"/>
                    </a:ext>
                  </a:extLst>
                </a:gridCol>
                <a:gridCol w="430452">
                  <a:extLst>
                    <a:ext uri="{9D8B030D-6E8A-4147-A177-3AD203B41FA5}">
                      <a16:colId xmlns:a16="http://schemas.microsoft.com/office/drawing/2014/main" val="472715194"/>
                    </a:ext>
                  </a:extLst>
                </a:gridCol>
                <a:gridCol w="430452">
                  <a:extLst>
                    <a:ext uri="{9D8B030D-6E8A-4147-A177-3AD203B41FA5}">
                      <a16:colId xmlns:a16="http://schemas.microsoft.com/office/drawing/2014/main" val="2451447436"/>
                    </a:ext>
                  </a:extLst>
                </a:gridCol>
                <a:gridCol w="430452">
                  <a:extLst>
                    <a:ext uri="{9D8B030D-6E8A-4147-A177-3AD203B41FA5}">
                      <a16:colId xmlns:a16="http://schemas.microsoft.com/office/drawing/2014/main" val="2678507986"/>
                    </a:ext>
                  </a:extLst>
                </a:gridCol>
              </a:tblGrid>
              <a:tr h="438309">
                <a:tc>
                  <a:txBody>
                    <a:bodyPr/>
                    <a:lstStyle/>
                    <a:p>
                      <a:r>
                        <a:rPr lang="en-US" altLang="zh-TW" dirty="0">
                          <a:solidFill>
                            <a:schemeClr val="tx1"/>
                          </a:solidFill>
                        </a:rPr>
                        <a:t>S2: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6598439"/>
                  </a:ext>
                </a:extLst>
              </a:tr>
              <a:tr h="438309">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6</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2935754"/>
                  </a:ext>
                </a:extLst>
              </a:tr>
            </a:tbl>
          </a:graphicData>
        </a:graphic>
      </p:graphicFrame>
      <p:sp>
        <p:nvSpPr>
          <p:cNvPr id="6" name="文字方塊 5">
            <a:extLst>
              <a:ext uri="{FF2B5EF4-FFF2-40B4-BE49-F238E27FC236}">
                <a16:creationId xmlns:a16="http://schemas.microsoft.com/office/drawing/2014/main" id="{C1A7A8BF-1086-444B-AE8A-2C8342ED9599}"/>
              </a:ext>
            </a:extLst>
          </p:cNvPr>
          <p:cNvSpPr txBox="1"/>
          <p:nvPr/>
        </p:nvSpPr>
        <p:spPr>
          <a:xfrm>
            <a:off x="660070" y="1422371"/>
            <a:ext cx="8277101" cy="3108543"/>
          </a:xfrm>
          <a:prstGeom prst="rect">
            <a:avLst/>
          </a:prstGeom>
          <a:noFill/>
        </p:spPr>
        <p:txBody>
          <a:bodyPr wrap="square" rtlCol="0">
            <a:spAutoFit/>
          </a:bodyPr>
          <a:lstStyle/>
          <a:p>
            <a:pPr marL="342900" indent="-342900">
              <a:buAutoNum type="alphaUcPeriod"/>
            </a:pPr>
            <a:r>
              <a:rPr lang="en-US" altLang="zh-TW" sz="2800" dirty="0">
                <a:latin typeface="Times New Roman" panose="02020603050405020304" pitchFamily="18" charset="0"/>
                <a:cs typeface="Times New Roman" panose="02020603050405020304" pitchFamily="18" charset="0"/>
              </a:rPr>
              <a:t>Solution Generation(</a:t>
            </a:r>
            <a:r>
              <a:rPr lang="zh-TW" altLang="en-US" sz="2800" dirty="0">
                <a:latin typeface="Times New Roman" panose="02020603050405020304" pitchFamily="18" charset="0"/>
                <a:cs typeface="Times New Roman" panose="02020603050405020304" pitchFamily="18" charset="0"/>
              </a:rPr>
              <a:t>生成解</a:t>
            </a:r>
            <a:r>
              <a:rPr lang="en-US" altLang="zh-TW" sz="2800" dirty="0">
                <a:latin typeface="Times New Roman" panose="02020603050405020304" pitchFamily="18" charset="0"/>
                <a:cs typeface="Times New Roman" panose="02020603050405020304" pitchFamily="18" charset="0"/>
              </a:rPr>
              <a:t>)</a:t>
            </a:r>
          </a:p>
          <a:p>
            <a:pPr marL="342900" indent="-342900">
              <a:buAutoNum type="alphaUcPeriod"/>
            </a:pPr>
            <a:endParaRPr lang="en-US" altLang="zh-TW" sz="2800" dirty="0">
              <a:latin typeface="Times New Roman" panose="02020603050405020304" pitchFamily="18" charset="0"/>
              <a:cs typeface="Times New Roman" panose="02020603050405020304" pitchFamily="18" charset="0"/>
            </a:endParaRPr>
          </a:p>
          <a:p>
            <a:r>
              <a:rPr lang="en-US" altLang="zh-TW" sz="2800" dirty="0">
                <a:latin typeface="Times New Roman" panose="02020603050405020304" pitchFamily="18" charset="0"/>
                <a:cs typeface="Times New Roman" panose="02020603050405020304" pitchFamily="18" charset="0"/>
              </a:rPr>
              <a:t>Take length m=|S2|.</a:t>
            </a:r>
          </a:p>
          <a:p>
            <a:r>
              <a:rPr lang="en-US" altLang="zh-TW" sz="2800" dirty="0">
                <a:latin typeface="Times New Roman" panose="02020603050405020304" pitchFamily="18" charset="0"/>
                <a:cs typeface="Times New Roman" panose="02020603050405020304" pitchFamily="18" charset="0"/>
              </a:rPr>
              <a:t>Generate m random numbers from 0 to n =|S1|.</a:t>
            </a:r>
          </a:p>
          <a:p>
            <a:r>
              <a:rPr lang="en-US" altLang="zh-TW" sz="2800" dirty="0">
                <a:latin typeface="Times New Roman" panose="02020603050405020304" pitchFamily="18" charset="0"/>
                <a:cs typeface="Times New Roman" panose="02020603050405020304" pitchFamily="18" charset="0"/>
              </a:rPr>
              <a:t> Sort the numbers to get a solution sequence. </a:t>
            </a:r>
          </a:p>
          <a:p>
            <a:endParaRPr lang="en-US" altLang="zh-TW" sz="2800" dirty="0">
              <a:latin typeface="Times New Roman" panose="02020603050405020304" pitchFamily="18" charset="0"/>
              <a:cs typeface="Times New Roman" panose="02020603050405020304" pitchFamily="18" charset="0"/>
            </a:endParaRPr>
          </a:p>
          <a:p>
            <a:r>
              <a:rPr lang="en-US" altLang="zh-TW" sz="2800" dirty="0">
                <a:latin typeface="Times New Roman" panose="02020603050405020304" pitchFamily="18" charset="0"/>
                <a:cs typeface="Times New Roman" panose="02020603050405020304" pitchFamily="18" charset="0"/>
              </a:rPr>
              <a:t>Generate |S2| random numbers k ∈ [0, n]:</a:t>
            </a:r>
            <a:endParaRPr lang="zh-TW" altLang="en-US" sz="2800" dirty="0">
              <a:latin typeface="Times New Roman" panose="02020603050405020304" pitchFamily="18" charset="0"/>
              <a:cs typeface="Times New Roman" panose="02020603050405020304" pitchFamily="18" charset="0"/>
            </a:endParaRPr>
          </a:p>
        </p:txBody>
      </p:sp>
      <p:graphicFrame>
        <p:nvGraphicFramePr>
          <p:cNvPr id="7" name="表格 7">
            <a:extLst>
              <a:ext uri="{FF2B5EF4-FFF2-40B4-BE49-F238E27FC236}">
                <a16:creationId xmlns:a16="http://schemas.microsoft.com/office/drawing/2014/main" id="{D93C2DF9-4BB3-438D-8ED6-33CD07BA764A}"/>
              </a:ext>
            </a:extLst>
          </p:cNvPr>
          <p:cNvGraphicFramePr>
            <a:graphicFrameLocks noGrp="1"/>
          </p:cNvGraphicFramePr>
          <p:nvPr>
            <p:extLst>
              <p:ext uri="{D42A27DB-BD31-4B8C-83A1-F6EECF244321}">
                <p14:modId xmlns:p14="http://schemas.microsoft.com/office/powerpoint/2010/main" val="233679833"/>
              </p:ext>
            </p:extLst>
          </p:nvPr>
        </p:nvGraphicFramePr>
        <p:xfrm>
          <a:off x="7802318" y="3289465"/>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808991466"/>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R:</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6</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8" name="表格 7">
            <a:extLst>
              <a:ext uri="{FF2B5EF4-FFF2-40B4-BE49-F238E27FC236}">
                <a16:creationId xmlns:a16="http://schemas.microsoft.com/office/drawing/2014/main" id="{2B23C98F-67BC-46AF-A35B-A71CABDBE8AE}"/>
              </a:ext>
            </a:extLst>
          </p:cNvPr>
          <p:cNvGraphicFramePr>
            <a:graphicFrameLocks noGrp="1"/>
          </p:cNvGraphicFramePr>
          <p:nvPr>
            <p:extLst>
              <p:ext uri="{D42A27DB-BD31-4B8C-83A1-F6EECF244321}">
                <p14:modId xmlns:p14="http://schemas.microsoft.com/office/powerpoint/2010/main" val="3413872282"/>
              </p:ext>
            </p:extLst>
          </p:nvPr>
        </p:nvGraphicFramePr>
        <p:xfrm>
          <a:off x="7802318" y="4190943"/>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140557111"/>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6</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9" name="表格 7">
            <a:extLst>
              <a:ext uri="{FF2B5EF4-FFF2-40B4-BE49-F238E27FC236}">
                <a16:creationId xmlns:a16="http://schemas.microsoft.com/office/drawing/2014/main" id="{5CB2F140-FF1E-4AC8-B96B-471983E1856B}"/>
              </a:ext>
            </a:extLst>
          </p:cNvPr>
          <p:cNvGraphicFramePr>
            <a:graphicFrameLocks noGrp="1"/>
          </p:cNvGraphicFramePr>
          <p:nvPr>
            <p:extLst>
              <p:ext uri="{D42A27DB-BD31-4B8C-83A1-F6EECF244321}">
                <p14:modId xmlns:p14="http://schemas.microsoft.com/office/powerpoint/2010/main" val="3155231316"/>
              </p:ext>
            </p:extLst>
          </p:nvPr>
        </p:nvGraphicFramePr>
        <p:xfrm>
          <a:off x="7802318" y="4920397"/>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3546369543"/>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T</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spTree>
    <p:extLst>
      <p:ext uri="{BB962C8B-B14F-4D97-AF65-F5344CB8AC3E}">
        <p14:creationId xmlns:p14="http://schemas.microsoft.com/office/powerpoint/2010/main" val="318785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8F762CD8-E98D-4478-8307-206183326380}"/>
              </a:ext>
            </a:extLst>
          </p:cNvPr>
          <p:cNvSpPr>
            <a:spLocks noGrp="1"/>
          </p:cNvSpPr>
          <p:nvPr>
            <p:ph idx="1"/>
          </p:nvPr>
        </p:nvSpPr>
        <p:spPr>
          <a:xfrm>
            <a:off x="351312" y="1682068"/>
            <a:ext cx="11963400" cy="43513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B. On-wall Ineffective Collision</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It changes the solution structure of one solution. </a:t>
            </a:r>
          </a:p>
          <a:p>
            <a:pPr marL="0" indent="0">
              <a:buNone/>
            </a:pPr>
            <a:r>
              <a:rPr lang="en-US" altLang="zh-TW" dirty="0">
                <a:latin typeface="Times New Roman" panose="02020603050405020304" pitchFamily="18" charset="0"/>
                <a:cs typeface="Times New Roman" panose="02020603050405020304" pitchFamily="18" charset="0"/>
              </a:rPr>
              <a:t>Solution  S is transformed to S’. </a:t>
            </a:r>
          </a:p>
          <a:p>
            <a:pPr marL="0" indent="0">
              <a:buNone/>
            </a:pPr>
            <a:r>
              <a:rPr lang="en-US" altLang="zh-TW" dirty="0">
                <a:latin typeface="Times New Roman" panose="02020603050405020304" pitchFamily="18" charset="0"/>
                <a:cs typeface="Times New Roman" panose="02020603050405020304" pitchFamily="18" charset="0"/>
              </a:rPr>
              <a:t>S' = C(S), where C(S) is a correction operator that corrects new solution structure. </a:t>
            </a:r>
          </a:p>
        </p:txBody>
      </p:sp>
      <p:graphicFrame>
        <p:nvGraphicFramePr>
          <p:cNvPr id="4" name="表格 7">
            <a:extLst>
              <a:ext uri="{FF2B5EF4-FFF2-40B4-BE49-F238E27FC236}">
                <a16:creationId xmlns:a16="http://schemas.microsoft.com/office/drawing/2014/main" id="{470222A6-5F5F-446B-8422-29F43E984520}"/>
              </a:ext>
            </a:extLst>
          </p:cNvPr>
          <p:cNvGraphicFramePr>
            <a:graphicFrameLocks noGrp="1"/>
          </p:cNvGraphicFramePr>
          <p:nvPr>
            <p:extLst>
              <p:ext uri="{D42A27DB-BD31-4B8C-83A1-F6EECF244321}">
                <p14:modId xmlns:p14="http://schemas.microsoft.com/office/powerpoint/2010/main" val="549334869"/>
              </p:ext>
            </p:extLst>
          </p:nvPr>
        </p:nvGraphicFramePr>
        <p:xfrm>
          <a:off x="7802318" y="373744"/>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2952917036"/>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R:</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6</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5" name="表格 4">
            <a:extLst>
              <a:ext uri="{FF2B5EF4-FFF2-40B4-BE49-F238E27FC236}">
                <a16:creationId xmlns:a16="http://schemas.microsoft.com/office/drawing/2014/main" id="{E6EB8DD4-C721-47E3-A50A-E99D68D4DB54}"/>
              </a:ext>
            </a:extLst>
          </p:cNvPr>
          <p:cNvGraphicFramePr>
            <a:graphicFrameLocks noGrp="1"/>
          </p:cNvGraphicFramePr>
          <p:nvPr>
            <p:extLst>
              <p:ext uri="{D42A27DB-BD31-4B8C-83A1-F6EECF244321}">
                <p14:modId xmlns:p14="http://schemas.microsoft.com/office/powerpoint/2010/main" val="1902565452"/>
              </p:ext>
            </p:extLst>
          </p:nvPr>
        </p:nvGraphicFramePr>
        <p:xfrm>
          <a:off x="7802318" y="1709572"/>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515783890"/>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rgbClr val="FF0000"/>
                          </a:solidFill>
                          <a:highlight>
                            <a:srgbClr val="FFFF00"/>
                          </a:highlight>
                        </a:rPr>
                        <a:t>1</a:t>
                      </a:r>
                      <a:endParaRPr lang="zh-TW" altLang="en-US" dirty="0">
                        <a:solidFill>
                          <a:srgbClr val="FF0000"/>
                        </a:solidFill>
                        <a:highlight>
                          <a:srgbClr val="FFFF00"/>
                        </a:highlight>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6" name="表格 7">
            <a:extLst>
              <a:ext uri="{FF2B5EF4-FFF2-40B4-BE49-F238E27FC236}">
                <a16:creationId xmlns:a16="http://schemas.microsoft.com/office/drawing/2014/main" id="{EC719748-1132-4E97-9F75-2E8CD3418341}"/>
              </a:ext>
            </a:extLst>
          </p:cNvPr>
          <p:cNvGraphicFramePr>
            <a:graphicFrameLocks noGrp="1"/>
          </p:cNvGraphicFramePr>
          <p:nvPr>
            <p:extLst>
              <p:ext uri="{D42A27DB-BD31-4B8C-83A1-F6EECF244321}">
                <p14:modId xmlns:p14="http://schemas.microsoft.com/office/powerpoint/2010/main" val="3845810933"/>
              </p:ext>
            </p:extLst>
          </p:nvPr>
        </p:nvGraphicFramePr>
        <p:xfrm>
          <a:off x="7802320" y="3241530"/>
          <a:ext cx="3551478" cy="374940"/>
        </p:xfrm>
        <a:graphic>
          <a:graphicData uri="http://schemas.openxmlformats.org/drawingml/2006/table">
            <a:tbl>
              <a:tblPr firstRow="1" bandRow="1">
                <a:tableStyleId>{5C22544A-7EE6-4342-B048-85BDC9FD1C3A}</a:tableStyleId>
              </a:tblPr>
              <a:tblGrid>
                <a:gridCol w="507354">
                  <a:extLst>
                    <a:ext uri="{9D8B030D-6E8A-4147-A177-3AD203B41FA5}">
                      <a16:colId xmlns:a16="http://schemas.microsoft.com/office/drawing/2014/main" val="779219572"/>
                    </a:ext>
                  </a:extLst>
                </a:gridCol>
                <a:gridCol w="507354">
                  <a:extLst>
                    <a:ext uri="{9D8B030D-6E8A-4147-A177-3AD203B41FA5}">
                      <a16:colId xmlns:a16="http://schemas.microsoft.com/office/drawing/2014/main" val="3918642456"/>
                    </a:ext>
                  </a:extLst>
                </a:gridCol>
                <a:gridCol w="507354">
                  <a:extLst>
                    <a:ext uri="{9D8B030D-6E8A-4147-A177-3AD203B41FA5}">
                      <a16:colId xmlns:a16="http://schemas.microsoft.com/office/drawing/2014/main" val="634239236"/>
                    </a:ext>
                  </a:extLst>
                </a:gridCol>
                <a:gridCol w="507354">
                  <a:extLst>
                    <a:ext uri="{9D8B030D-6E8A-4147-A177-3AD203B41FA5}">
                      <a16:colId xmlns:a16="http://schemas.microsoft.com/office/drawing/2014/main" val="3978777365"/>
                    </a:ext>
                  </a:extLst>
                </a:gridCol>
                <a:gridCol w="507354">
                  <a:extLst>
                    <a:ext uri="{9D8B030D-6E8A-4147-A177-3AD203B41FA5}">
                      <a16:colId xmlns:a16="http://schemas.microsoft.com/office/drawing/2014/main" val="1999184894"/>
                    </a:ext>
                  </a:extLst>
                </a:gridCol>
                <a:gridCol w="507354">
                  <a:extLst>
                    <a:ext uri="{9D8B030D-6E8A-4147-A177-3AD203B41FA5}">
                      <a16:colId xmlns:a16="http://schemas.microsoft.com/office/drawing/2014/main" val="2574641842"/>
                    </a:ext>
                  </a:extLst>
                </a:gridCol>
                <a:gridCol w="507354">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T</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7" name="表格 6">
            <a:extLst>
              <a:ext uri="{FF2B5EF4-FFF2-40B4-BE49-F238E27FC236}">
                <a16:creationId xmlns:a16="http://schemas.microsoft.com/office/drawing/2014/main" id="{FD0B76A0-925A-4BDC-8AC5-A70E1CD42B90}"/>
              </a:ext>
            </a:extLst>
          </p:cNvPr>
          <p:cNvGraphicFramePr>
            <a:graphicFrameLocks noGrp="1"/>
          </p:cNvGraphicFramePr>
          <p:nvPr>
            <p:extLst>
              <p:ext uri="{D42A27DB-BD31-4B8C-83A1-F6EECF244321}">
                <p14:modId xmlns:p14="http://schemas.microsoft.com/office/powerpoint/2010/main" val="937454900"/>
              </p:ext>
            </p:extLst>
          </p:nvPr>
        </p:nvGraphicFramePr>
        <p:xfrm>
          <a:off x="7802318" y="1027906"/>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3895030255"/>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6</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8" name="表格 7">
            <a:extLst>
              <a:ext uri="{FF2B5EF4-FFF2-40B4-BE49-F238E27FC236}">
                <a16:creationId xmlns:a16="http://schemas.microsoft.com/office/drawing/2014/main" id="{1BDB634E-122C-4090-8550-22356EF08FE5}"/>
              </a:ext>
            </a:extLst>
          </p:cNvPr>
          <p:cNvGraphicFramePr>
            <a:graphicFrameLocks noGrp="1"/>
          </p:cNvGraphicFramePr>
          <p:nvPr>
            <p:extLst>
              <p:ext uri="{D42A27DB-BD31-4B8C-83A1-F6EECF244321}">
                <p14:modId xmlns:p14="http://schemas.microsoft.com/office/powerpoint/2010/main" val="357342693"/>
              </p:ext>
            </p:extLst>
          </p:nvPr>
        </p:nvGraphicFramePr>
        <p:xfrm>
          <a:off x="7802318" y="2248367"/>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3895030255"/>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sp>
        <p:nvSpPr>
          <p:cNvPr id="9" name="箭號: 向下 8">
            <a:extLst>
              <a:ext uri="{FF2B5EF4-FFF2-40B4-BE49-F238E27FC236}">
                <a16:creationId xmlns:a16="http://schemas.microsoft.com/office/drawing/2014/main" id="{9D2C6F7F-2792-4FF1-9AB7-7FD9CA76379C}"/>
              </a:ext>
            </a:extLst>
          </p:cNvPr>
          <p:cNvSpPr/>
          <p:nvPr/>
        </p:nvSpPr>
        <p:spPr>
          <a:xfrm>
            <a:off x="9684328" y="1313731"/>
            <a:ext cx="130628" cy="368337"/>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811889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200812B6-9DE8-4ED1-BF42-02AAB4A027DD}"/>
              </a:ext>
            </a:extLst>
          </p:cNvPr>
          <p:cNvSpPr>
            <a:spLocks noGrp="1"/>
          </p:cNvSpPr>
          <p:nvPr>
            <p:ph idx="1"/>
          </p:nvPr>
        </p:nvSpPr>
        <p:spPr>
          <a:xfrm>
            <a:off x="486886" y="503691"/>
            <a:ext cx="11396355" cy="5571638"/>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C. Decomposition</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Generates two solutions from one</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solution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 the solution will different from 	the original one.</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Assume that the operator creates two solutions S'1 and S'2 from solution S,</a:t>
            </a:r>
          </a:p>
          <a:p>
            <a:pPr marL="0" indent="0">
              <a:buNone/>
            </a:pPr>
            <a:r>
              <a:rPr lang="en-US" altLang="zh-TW" dirty="0">
                <a:latin typeface="Times New Roman" panose="02020603050405020304" pitchFamily="18" charset="0"/>
                <a:cs typeface="Times New Roman" panose="02020603050405020304" pitchFamily="18" charset="0"/>
              </a:rPr>
              <a:t>S → S'1 ∪ S'2</a:t>
            </a:r>
          </a:p>
          <a:p>
            <a:pPr marL="0" indent="0">
              <a:buNone/>
            </a:pPr>
            <a:r>
              <a:rPr lang="en-US" altLang="zh-TW" dirty="0">
                <a:latin typeface="Times New Roman" panose="02020603050405020304" pitchFamily="18" charset="0"/>
                <a:cs typeface="Times New Roman" panose="02020603050405020304" pitchFamily="18" charset="0"/>
              </a:rPr>
              <a:t>Firstly, S is copied to generate S'1 and S’2. </a:t>
            </a:r>
          </a:p>
          <a:p>
            <a:pPr marL="0" indent="0">
              <a:buNone/>
            </a:pPr>
            <a:r>
              <a:rPr lang="en-US" altLang="zh-TW" dirty="0">
                <a:latin typeface="Times New Roman" panose="02020603050405020304" pitchFamily="18" charset="0"/>
                <a:cs typeface="Times New Roman" panose="02020603050405020304" pitchFamily="18" charset="0"/>
              </a:rPr>
              <a:t>Secondly, for n/2 positions in solutions S'1 and S'2 are changed randomly. </a:t>
            </a:r>
          </a:p>
          <a:p>
            <a:pPr marL="0" indent="0">
              <a:buNone/>
            </a:pPr>
            <a:r>
              <a:rPr lang="en-US" altLang="zh-TW" dirty="0">
                <a:latin typeface="Times New Roman" panose="02020603050405020304" pitchFamily="18" charset="0"/>
                <a:cs typeface="Times New Roman" panose="02020603050405020304" pitchFamily="18" charset="0"/>
              </a:rPr>
              <a:t>The function C (S) is invoked to make the output solution valid.</a:t>
            </a:r>
            <a:endParaRPr lang="zh-TW" altLang="en-US" dirty="0">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A07CC0FA-3812-4A8F-A697-7E422B0193C2}"/>
              </a:ext>
            </a:extLst>
          </p:cNvPr>
          <p:cNvGraphicFramePr>
            <a:graphicFrameLocks noGrp="1"/>
          </p:cNvGraphicFramePr>
          <p:nvPr>
            <p:extLst>
              <p:ext uri="{D42A27DB-BD31-4B8C-83A1-F6EECF244321}">
                <p14:modId xmlns:p14="http://schemas.microsoft.com/office/powerpoint/2010/main" val="804602641"/>
              </p:ext>
            </p:extLst>
          </p:nvPr>
        </p:nvGraphicFramePr>
        <p:xfrm>
          <a:off x="8131625" y="1994162"/>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rgbClr val="FF0000"/>
                          </a:solidFill>
                          <a:highlight>
                            <a:srgbClr val="FFFF00"/>
                          </a:highlight>
                        </a:rPr>
                        <a:t>3</a:t>
                      </a:r>
                      <a:endParaRPr lang="zh-TW" altLang="en-US" dirty="0">
                        <a:solidFill>
                          <a:srgbClr val="FF0000"/>
                        </a:solidFill>
                        <a:highlight>
                          <a:srgbClr val="FFFF00"/>
                        </a:highlight>
                      </a:endParaRPr>
                    </a:p>
                  </a:txBody>
                  <a:tcPr>
                    <a:solidFill>
                      <a:schemeClr val="accent5">
                        <a:lumMod val="40000"/>
                        <a:lumOff val="60000"/>
                      </a:schemeClr>
                    </a:solidFill>
                  </a:tcPr>
                </a:tc>
                <a:tc>
                  <a:txBody>
                    <a:bodyPr/>
                    <a:lstStyle/>
                    <a:p>
                      <a:r>
                        <a:rPr lang="en-US" altLang="zh-TW" dirty="0">
                          <a:solidFill>
                            <a:srgbClr val="FF0000"/>
                          </a:solidFill>
                          <a:highlight>
                            <a:srgbClr val="FFFF00"/>
                          </a:highlight>
                        </a:rPr>
                        <a:t>0</a:t>
                      </a:r>
                      <a:endParaRPr lang="zh-TW" altLang="en-US" dirty="0">
                        <a:solidFill>
                          <a:srgbClr val="FF0000"/>
                        </a:solidFill>
                        <a:highlight>
                          <a:srgbClr val="FFFF00"/>
                        </a:highlight>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rgbClr val="FF0000"/>
                          </a:solidFill>
                          <a:highlight>
                            <a:srgbClr val="FFFF00"/>
                          </a:highlight>
                        </a:rPr>
                        <a:t>1</a:t>
                      </a:r>
                      <a:endParaRPr lang="zh-TW" altLang="en-US" dirty="0">
                        <a:solidFill>
                          <a:srgbClr val="FF0000"/>
                        </a:solidFill>
                        <a:highlight>
                          <a:srgbClr val="FFFF00"/>
                        </a:highlight>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6" name="表格 5">
            <a:extLst>
              <a:ext uri="{FF2B5EF4-FFF2-40B4-BE49-F238E27FC236}">
                <a16:creationId xmlns:a16="http://schemas.microsoft.com/office/drawing/2014/main" id="{91A4D9C7-6400-4041-B0D1-AF3AD7F5D97F}"/>
              </a:ext>
            </a:extLst>
          </p:cNvPr>
          <p:cNvGraphicFramePr>
            <a:graphicFrameLocks noGrp="1"/>
          </p:cNvGraphicFramePr>
          <p:nvPr>
            <p:extLst>
              <p:ext uri="{D42A27DB-BD31-4B8C-83A1-F6EECF244321}">
                <p14:modId xmlns:p14="http://schemas.microsoft.com/office/powerpoint/2010/main" val="2018302510"/>
              </p:ext>
            </p:extLst>
          </p:nvPr>
        </p:nvGraphicFramePr>
        <p:xfrm>
          <a:off x="8146467" y="901424"/>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6</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8" name="表格 7">
            <a:extLst>
              <a:ext uri="{FF2B5EF4-FFF2-40B4-BE49-F238E27FC236}">
                <a16:creationId xmlns:a16="http://schemas.microsoft.com/office/drawing/2014/main" id="{7A2C2C9C-E043-4036-BF75-FB4F3E5A0658}"/>
              </a:ext>
            </a:extLst>
          </p:cNvPr>
          <p:cNvGraphicFramePr>
            <a:graphicFrameLocks noGrp="1"/>
          </p:cNvGraphicFramePr>
          <p:nvPr>
            <p:extLst>
              <p:ext uri="{D42A27DB-BD31-4B8C-83A1-F6EECF244321}">
                <p14:modId xmlns:p14="http://schemas.microsoft.com/office/powerpoint/2010/main" val="3780938496"/>
              </p:ext>
            </p:extLst>
          </p:nvPr>
        </p:nvGraphicFramePr>
        <p:xfrm>
          <a:off x="8146467" y="2492925"/>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rgbClr val="FF0000"/>
                          </a:solidFill>
                          <a:highlight>
                            <a:srgbClr val="FFFF00"/>
                          </a:highlight>
                        </a:rPr>
                        <a:t>0</a:t>
                      </a:r>
                      <a:endParaRPr lang="zh-TW" altLang="en-US" dirty="0">
                        <a:solidFill>
                          <a:srgbClr val="FF0000"/>
                        </a:solidFill>
                        <a:highlight>
                          <a:srgbClr val="FFFF00"/>
                        </a:highlight>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rgbClr val="FF0000"/>
                          </a:solidFill>
                          <a:highlight>
                            <a:srgbClr val="FFFF00"/>
                          </a:highlight>
                        </a:rPr>
                        <a:t>1</a:t>
                      </a:r>
                      <a:endParaRPr lang="zh-TW" altLang="en-US" dirty="0">
                        <a:solidFill>
                          <a:srgbClr val="FF0000"/>
                        </a:solidFill>
                        <a:highlight>
                          <a:srgbClr val="FFFF00"/>
                        </a:highlight>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rgbClr val="FF0000"/>
                          </a:solidFill>
                          <a:highlight>
                            <a:srgbClr val="FFFF00"/>
                          </a:highlight>
                        </a:rPr>
                        <a:t>5</a:t>
                      </a:r>
                      <a:endParaRPr lang="zh-TW" altLang="en-US" dirty="0">
                        <a:solidFill>
                          <a:srgbClr val="FF0000"/>
                        </a:solidFill>
                        <a:highlight>
                          <a:srgbClr val="FFFF00"/>
                        </a:highlight>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10" name="表格 9">
            <a:extLst>
              <a:ext uri="{FF2B5EF4-FFF2-40B4-BE49-F238E27FC236}">
                <a16:creationId xmlns:a16="http://schemas.microsoft.com/office/drawing/2014/main" id="{7950D9D0-6A7F-46CA-B818-274EA54FCEE3}"/>
              </a:ext>
            </a:extLst>
          </p:cNvPr>
          <p:cNvGraphicFramePr>
            <a:graphicFrameLocks noGrp="1"/>
          </p:cNvGraphicFramePr>
          <p:nvPr>
            <p:extLst>
              <p:ext uri="{D42A27DB-BD31-4B8C-83A1-F6EECF244321}">
                <p14:modId xmlns:p14="http://schemas.microsoft.com/office/powerpoint/2010/main" val="1885066413"/>
              </p:ext>
            </p:extLst>
          </p:nvPr>
        </p:nvGraphicFramePr>
        <p:xfrm>
          <a:off x="8146467" y="3965765"/>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5</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11" name="表格 10">
            <a:extLst>
              <a:ext uri="{FF2B5EF4-FFF2-40B4-BE49-F238E27FC236}">
                <a16:creationId xmlns:a16="http://schemas.microsoft.com/office/drawing/2014/main" id="{85636F4A-2662-452B-9694-17D58EBBEA9B}"/>
              </a:ext>
            </a:extLst>
          </p:cNvPr>
          <p:cNvGraphicFramePr>
            <a:graphicFrameLocks noGrp="1"/>
          </p:cNvGraphicFramePr>
          <p:nvPr>
            <p:extLst>
              <p:ext uri="{D42A27DB-BD31-4B8C-83A1-F6EECF244321}">
                <p14:modId xmlns:p14="http://schemas.microsoft.com/office/powerpoint/2010/main" val="762401053"/>
              </p:ext>
            </p:extLst>
          </p:nvPr>
        </p:nvGraphicFramePr>
        <p:xfrm>
          <a:off x="8131625" y="3429000"/>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3</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spTree>
    <p:extLst>
      <p:ext uri="{BB962C8B-B14F-4D97-AF65-F5344CB8AC3E}">
        <p14:creationId xmlns:p14="http://schemas.microsoft.com/office/powerpoint/2010/main" val="2913656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295FA6DC-3C45-45C1-B427-FE8839A57069}"/>
              </a:ext>
            </a:extLst>
          </p:cNvPr>
          <p:cNvSpPr>
            <a:spLocks noGrp="1"/>
          </p:cNvSpPr>
          <p:nvPr>
            <p:ph idx="1"/>
          </p:nvPr>
        </p:nvSpPr>
        <p:spPr>
          <a:xfrm>
            <a:off x="356151" y="1414029"/>
            <a:ext cx="10617639" cy="513686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 Inter-molecular Ineffective Collision</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It changes the solution structure. </a:t>
            </a:r>
          </a:p>
          <a:p>
            <a:pPr marL="0" indent="0">
              <a:buNone/>
            </a:pPr>
            <a:r>
              <a:rPr lang="en-US" altLang="zh-TW" dirty="0">
                <a:latin typeface="Times New Roman" panose="02020603050405020304" pitchFamily="18" charset="0"/>
                <a:cs typeface="Times New Roman" panose="02020603050405020304" pitchFamily="18" charset="0"/>
              </a:rPr>
              <a:t>The molecularity remains unchanged before and after the process. </a:t>
            </a:r>
          </a:p>
          <a:p>
            <a:pPr marL="0" indent="0">
              <a:buNone/>
            </a:pPr>
            <a:r>
              <a:rPr lang="en-US" altLang="zh-TW" dirty="0">
                <a:latin typeface="Times New Roman" panose="02020603050405020304" pitchFamily="18" charset="0"/>
                <a:cs typeface="Times New Roman" panose="02020603050405020304" pitchFamily="18" charset="0"/>
              </a:rPr>
              <a:t>Suppose that in an inter-molecular ineffective collision, the solution</a:t>
            </a:r>
          </a:p>
          <a:p>
            <a:pPr marL="0" indent="0">
              <a:buNone/>
            </a:pPr>
            <a:r>
              <a:rPr lang="en-US" altLang="zh-TW" dirty="0">
                <a:latin typeface="Times New Roman" panose="02020603050405020304" pitchFamily="18" charset="0"/>
                <a:cs typeface="Times New Roman" panose="02020603050405020304" pitchFamily="18" charset="0"/>
              </a:rPr>
              <a:t>	structure S1 is transformed to S'1 and S2 is transformed to S'2.</a:t>
            </a:r>
          </a:p>
          <a:p>
            <a:pPr marL="0" indent="0">
              <a:buNone/>
            </a:pPr>
            <a:r>
              <a:rPr lang="en-US" altLang="zh-TW" dirty="0">
                <a:latin typeface="Times New Roman" panose="02020603050405020304" pitchFamily="18" charset="0"/>
                <a:cs typeface="Times New Roman" panose="02020603050405020304" pitchFamily="18" charset="0"/>
              </a:rPr>
              <a:t>It can be defined as follows: S1 ∪ S2 → S'1 ∪ S’2 .</a:t>
            </a:r>
          </a:p>
          <a:p>
            <a:pPr marL="0" indent="0">
              <a:buNone/>
            </a:pPr>
            <a:r>
              <a:rPr lang="en-US" altLang="zh-TW" dirty="0">
                <a:latin typeface="Times New Roman" panose="02020603050405020304" pitchFamily="18" charset="0"/>
                <a:cs typeface="Times New Roman" panose="02020603050405020304" pitchFamily="18" charset="0"/>
              </a:rPr>
              <a:t>Then the new solution structure is generated as S' = C (S) .</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EDA7F0A7-68A6-466F-A15D-1C58531C672B}"/>
              </a:ext>
            </a:extLst>
          </p:cNvPr>
          <p:cNvGraphicFramePr>
            <a:graphicFrameLocks noGrp="1"/>
          </p:cNvGraphicFramePr>
          <p:nvPr>
            <p:extLst>
              <p:ext uri="{D42A27DB-BD31-4B8C-83A1-F6EECF244321}">
                <p14:modId xmlns:p14="http://schemas.microsoft.com/office/powerpoint/2010/main" val="2721487590"/>
              </p:ext>
            </p:extLst>
          </p:nvPr>
        </p:nvGraphicFramePr>
        <p:xfrm>
          <a:off x="8146467" y="1128278"/>
          <a:ext cx="3689382" cy="374940"/>
        </p:xfrm>
        <a:graphic>
          <a:graphicData uri="http://schemas.openxmlformats.org/drawingml/2006/table">
            <a:tbl>
              <a:tblPr firstRow="1" bandRow="1">
                <a:tableStyleId>{5C22544A-7EE6-4342-B048-85BDC9FD1C3A}</a:tableStyleId>
              </a:tblPr>
              <a:tblGrid>
                <a:gridCol w="406718">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78123">
                  <a:extLst>
                    <a:ext uri="{9D8B030D-6E8A-4147-A177-3AD203B41FA5}">
                      <a16:colId xmlns:a16="http://schemas.microsoft.com/office/drawing/2014/main" val="3918642456"/>
                    </a:ext>
                  </a:extLst>
                </a:gridCol>
                <a:gridCol w="459781">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6</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6">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5" name="表格 4">
            <a:extLst>
              <a:ext uri="{FF2B5EF4-FFF2-40B4-BE49-F238E27FC236}">
                <a16:creationId xmlns:a16="http://schemas.microsoft.com/office/drawing/2014/main" id="{FF542379-EBF1-460F-BE01-6CE10771EF5E}"/>
              </a:ext>
            </a:extLst>
          </p:cNvPr>
          <p:cNvGraphicFramePr>
            <a:graphicFrameLocks noGrp="1"/>
          </p:cNvGraphicFramePr>
          <p:nvPr>
            <p:extLst>
              <p:ext uri="{D42A27DB-BD31-4B8C-83A1-F6EECF244321}">
                <p14:modId xmlns:p14="http://schemas.microsoft.com/office/powerpoint/2010/main" val="2144970505"/>
              </p:ext>
            </p:extLst>
          </p:nvPr>
        </p:nvGraphicFramePr>
        <p:xfrm>
          <a:off x="8146467" y="1746293"/>
          <a:ext cx="3689382" cy="374940"/>
        </p:xfrm>
        <a:graphic>
          <a:graphicData uri="http://schemas.openxmlformats.org/drawingml/2006/table">
            <a:tbl>
              <a:tblPr firstRow="1" bandRow="1">
                <a:tableStyleId>{5C22544A-7EE6-4342-B048-85BDC9FD1C3A}</a:tableStyleId>
              </a:tblPr>
              <a:tblGrid>
                <a:gridCol w="406718">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2">
                        <a:lumMod val="60000"/>
                        <a:lumOff val="40000"/>
                      </a:schemeClr>
                    </a:solidFill>
                  </a:tcPr>
                </a:tc>
                <a:tc>
                  <a:txBody>
                    <a:bodyPr/>
                    <a:lstStyle/>
                    <a:p>
                      <a:r>
                        <a:rPr lang="en-US" altLang="zh-TW" dirty="0">
                          <a:solidFill>
                            <a:schemeClr val="tx1"/>
                          </a:solidFill>
                        </a:rPr>
                        <a:t>1</a:t>
                      </a:r>
                      <a:endParaRPr lang="zh-TW" altLang="en-US" dirty="0">
                        <a:solidFill>
                          <a:schemeClr val="tx1"/>
                        </a:solidFill>
                      </a:endParaRPr>
                    </a:p>
                  </a:txBody>
                  <a:tcPr>
                    <a:solidFill>
                      <a:schemeClr val="accent2">
                        <a:lumMod val="60000"/>
                        <a:lumOff val="4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2">
                        <a:lumMod val="60000"/>
                        <a:lumOff val="4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2">
                        <a:lumMod val="60000"/>
                        <a:lumOff val="40000"/>
                      </a:schemeClr>
                    </a:solidFill>
                  </a:tcPr>
                </a:tc>
                <a:extLst>
                  <a:ext uri="{0D108BD9-81ED-4DB2-BD59-A6C34878D82A}">
                    <a16:rowId xmlns:a16="http://schemas.microsoft.com/office/drawing/2014/main" val="3086983461"/>
                  </a:ext>
                </a:extLst>
              </a:tr>
            </a:tbl>
          </a:graphicData>
        </a:graphic>
      </p:graphicFrame>
      <p:graphicFrame>
        <p:nvGraphicFramePr>
          <p:cNvPr id="6" name="表格 5">
            <a:extLst>
              <a:ext uri="{FF2B5EF4-FFF2-40B4-BE49-F238E27FC236}">
                <a16:creationId xmlns:a16="http://schemas.microsoft.com/office/drawing/2014/main" id="{1B72E4C6-4674-4807-958E-47A7D21053A1}"/>
              </a:ext>
            </a:extLst>
          </p:cNvPr>
          <p:cNvGraphicFramePr>
            <a:graphicFrameLocks noGrp="1"/>
          </p:cNvGraphicFramePr>
          <p:nvPr>
            <p:extLst>
              <p:ext uri="{D42A27DB-BD31-4B8C-83A1-F6EECF244321}">
                <p14:modId xmlns:p14="http://schemas.microsoft.com/office/powerpoint/2010/main" val="3631662321"/>
              </p:ext>
            </p:extLst>
          </p:nvPr>
        </p:nvGraphicFramePr>
        <p:xfrm>
          <a:off x="8084233" y="307107"/>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2">
                        <a:lumMod val="60000"/>
                        <a:lumOff val="40000"/>
                      </a:schemeClr>
                    </a:solidFill>
                  </a:tcPr>
                </a:tc>
                <a:tc>
                  <a:txBody>
                    <a:bodyPr/>
                    <a:lstStyle/>
                    <a:p>
                      <a:r>
                        <a:rPr lang="en-US" altLang="zh-TW" dirty="0">
                          <a:solidFill>
                            <a:schemeClr val="tx1"/>
                          </a:solidFill>
                        </a:rPr>
                        <a:t>1</a:t>
                      </a:r>
                      <a:endParaRPr lang="zh-TW" altLang="en-US" dirty="0">
                        <a:solidFill>
                          <a:schemeClr val="tx1"/>
                        </a:solidFill>
                      </a:endParaRPr>
                    </a:p>
                  </a:txBody>
                  <a:tcPr>
                    <a:solidFill>
                      <a:schemeClr val="accent2">
                        <a:lumMod val="60000"/>
                        <a:lumOff val="4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6</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2">
                        <a:lumMod val="60000"/>
                        <a:lumOff val="4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2">
                        <a:lumMod val="60000"/>
                        <a:lumOff val="40000"/>
                      </a:schemeClr>
                    </a:solidFill>
                  </a:tcPr>
                </a:tc>
                <a:extLst>
                  <a:ext uri="{0D108BD9-81ED-4DB2-BD59-A6C34878D82A}">
                    <a16:rowId xmlns:a16="http://schemas.microsoft.com/office/drawing/2014/main" val="3086983461"/>
                  </a:ext>
                </a:extLst>
              </a:tr>
            </a:tbl>
          </a:graphicData>
        </a:graphic>
      </p:graphicFrame>
      <p:graphicFrame>
        <p:nvGraphicFramePr>
          <p:cNvPr id="7" name="表格 6">
            <a:extLst>
              <a:ext uri="{FF2B5EF4-FFF2-40B4-BE49-F238E27FC236}">
                <a16:creationId xmlns:a16="http://schemas.microsoft.com/office/drawing/2014/main" id="{725EBE37-FD7C-4DD8-8A09-C1322B85F134}"/>
              </a:ext>
            </a:extLst>
          </p:cNvPr>
          <p:cNvGraphicFramePr>
            <a:graphicFrameLocks noGrp="1"/>
          </p:cNvGraphicFramePr>
          <p:nvPr>
            <p:extLst>
              <p:ext uri="{D42A27DB-BD31-4B8C-83A1-F6EECF244321}">
                <p14:modId xmlns:p14="http://schemas.microsoft.com/office/powerpoint/2010/main" val="3339574493"/>
              </p:ext>
            </p:extLst>
          </p:nvPr>
        </p:nvGraphicFramePr>
        <p:xfrm>
          <a:off x="8146467" y="2567464"/>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6">
                        <a:lumMod val="40000"/>
                        <a:lumOff val="60000"/>
                      </a:schemeClr>
                    </a:solidFill>
                  </a:tcPr>
                </a:tc>
                <a:extLst>
                  <a:ext uri="{0D108BD9-81ED-4DB2-BD59-A6C34878D82A}">
                    <a16:rowId xmlns:a16="http://schemas.microsoft.com/office/drawing/2014/main" val="3086983461"/>
                  </a:ext>
                </a:extLst>
              </a:tr>
            </a:tbl>
          </a:graphicData>
        </a:graphic>
      </p:graphicFrame>
      <p:sp>
        <p:nvSpPr>
          <p:cNvPr id="8" name="箭號: 向下 7">
            <a:extLst>
              <a:ext uri="{FF2B5EF4-FFF2-40B4-BE49-F238E27FC236}">
                <a16:creationId xmlns:a16="http://schemas.microsoft.com/office/drawing/2014/main" id="{C3964BF5-6A1A-454A-946C-D88BBE840288}"/>
              </a:ext>
            </a:extLst>
          </p:cNvPr>
          <p:cNvSpPr/>
          <p:nvPr/>
        </p:nvSpPr>
        <p:spPr>
          <a:xfrm>
            <a:off x="9891646" y="2176838"/>
            <a:ext cx="261257" cy="3749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箭號: 向下 8">
            <a:extLst>
              <a:ext uri="{FF2B5EF4-FFF2-40B4-BE49-F238E27FC236}">
                <a16:creationId xmlns:a16="http://schemas.microsoft.com/office/drawing/2014/main" id="{AB71BCC1-D051-4FAE-AB7A-DE0C435EF6F1}"/>
              </a:ext>
            </a:extLst>
          </p:cNvPr>
          <p:cNvSpPr/>
          <p:nvPr/>
        </p:nvSpPr>
        <p:spPr>
          <a:xfrm rot="10800000">
            <a:off x="9860529" y="717692"/>
            <a:ext cx="261257" cy="3749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61979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4652F94D-447F-49D8-859A-7F12863EFE8A}"/>
              </a:ext>
            </a:extLst>
          </p:cNvPr>
          <p:cNvSpPr>
            <a:spLocks noGrp="1"/>
          </p:cNvSpPr>
          <p:nvPr>
            <p:ph idx="1"/>
          </p:nvPr>
        </p:nvSpPr>
        <p:spPr>
          <a:xfrm>
            <a:off x="707572" y="1478756"/>
            <a:ext cx="10858994" cy="4815166"/>
          </a:xfrm>
        </p:spPr>
        <p:txBody>
          <a:bodyPr>
            <a:normAutofit/>
          </a:bodyPr>
          <a:lstStyle/>
          <a:p>
            <a:pPr marL="0" indent="0">
              <a:buNone/>
            </a:pPr>
            <a:r>
              <a:rPr lang="en-US" altLang="zh-TW" sz="3200" dirty="0">
                <a:latin typeface="Times New Roman" panose="02020603050405020304" pitchFamily="18" charset="0"/>
                <a:cs typeface="Times New Roman" panose="02020603050405020304" pitchFamily="18" charset="0"/>
              </a:rPr>
              <a:t>E. Synthesis Operator</a:t>
            </a:r>
          </a:p>
          <a:p>
            <a:pPr marL="0" indent="0">
              <a:buNone/>
            </a:pPr>
            <a:endParaRPr lang="en-US" altLang="zh-TW" sz="3200" dirty="0">
              <a:latin typeface="Times New Roman" panose="02020603050405020304" pitchFamily="18" charset="0"/>
              <a:cs typeface="Times New Roman" panose="02020603050405020304" pitchFamily="18" charset="0"/>
            </a:endParaRPr>
          </a:p>
          <a:p>
            <a:pPr marL="0" indent="0">
              <a:buNone/>
            </a:pPr>
            <a:r>
              <a:rPr lang="en-US" altLang="zh-TW" sz="3200" dirty="0">
                <a:latin typeface="Times New Roman" panose="02020603050405020304" pitchFamily="18" charset="0"/>
                <a:cs typeface="Times New Roman" panose="02020603050405020304" pitchFamily="18" charset="0"/>
              </a:rPr>
              <a:t>Synthesis takes two molecules as the inputs and combines</a:t>
            </a:r>
          </a:p>
          <a:p>
            <a:pPr marL="0" indent="0">
              <a:buNone/>
            </a:pPr>
            <a:r>
              <a:rPr lang="en-US" altLang="zh-TW" sz="3200" dirty="0">
                <a:latin typeface="Times New Roman" panose="02020603050405020304" pitchFamily="18" charset="0"/>
                <a:cs typeface="Times New Roman" panose="02020603050405020304" pitchFamily="18" charset="0"/>
              </a:rPr>
              <a:t>	them to generate a new molecule.</a:t>
            </a:r>
          </a:p>
          <a:p>
            <a:pPr marL="0" indent="0">
              <a:buNone/>
            </a:pPr>
            <a:r>
              <a:rPr lang="en-US" altLang="zh-TW" sz="3200" dirty="0">
                <a:latin typeface="Times New Roman" panose="02020603050405020304" pitchFamily="18" charset="0"/>
                <a:cs typeface="Times New Roman" panose="02020603050405020304" pitchFamily="18" charset="0"/>
              </a:rPr>
              <a:t>We take two existing solution S'1 and S’2.</a:t>
            </a:r>
          </a:p>
          <a:p>
            <a:pPr marL="0" indent="0">
              <a:buNone/>
            </a:pPr>
            <a:r>
              <a:rPr lang="en-US" altLang="zh-TW" sz="3200" dirty="0">
                <a:latin typeface="Times New Roman" panose="02020603050405020304" pitchFamily="18" charset="0"/>
                <a:cs typeface="Times New Roman" panose="02020603050405020304" pitchFamily="18" charset="0"/>
              </a:rPr>
              <a:t>Generate a new solution S from them. </a:t>
            </a:r>
          </a:p>
          <a:p>
            <a:pPr marL="0" indent="0">
              <a:buNone/>
            </a:pPr>
            <a:r>
              <a:rPr lang="en-US" altLang="zh-TW" sz="3200" dirty="0">
                <a:latin typeface="Times New Roman" panose="02020603050405020304" pitchFamily="18" charset="0"/>
                <a:cs typeface="Times New Roman" panose="02020603050405020304" pitchFamily="18" charset="0"/>
              </a:rPr>
              <a:t>S'1 ∪ S'2 → S </a:t>
            </a:r>
          </a:p>
          <a:p>
            <a:pPr marL="0" indent="0">
              <a:buNone/>
            </a:pPr>
            <a:r>
              <a:rPr lang="en-US" altLang="zh-TW" sz="3200" dirty="0">
                <a:latin typeface="Times New Roman" panose="02020603050405020304" pitchFamily="18" charset="0"/>
                <a:cs typeface="Times New Roman" panose="02020603050405020304" pitchFamily="18" charset="0"/>
              </a:rPr>
              <a:t>This new solution S is the longest common subsequence</a:t>
            </a:r>
            <a:endParaRPr lang="zh-TW" altLang="en-US" sz="3200" dirty="0">
              <a:latin typeface="Times New Roman" panose="02020603050405020304" pitchFamily="18" charset="0"/>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B16428EA-0D7A-4F6F-BF13-CBD814814BC1}"/>
              </a:ext>
            </a:extLst>
          </p:cNvPr>
          <p:cNvGraphicFramePr>
            <a:graphicFrameLocks noGrp="1"/>
          </p:cNvGraphicFramePr>
          <p:nvPr>
            <p:extLst>
              <p:ext uri="{D42A27DB-BD31-4B8C-83A1-F6EECF244321}">
                <p14:modId xmlns:p14="http://schemas.microsoft.com/office/powerpoint/2010/main" val="3777901662"/>
              </p:ext>
            </p:extLst>
          </p:nvPr>
        </p:nvGraphicFramePr>
        <p:xfrm>
          <a:off x="8179128" y="681037"/>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5</a:t>
                      </a:r>
                      <a:endParaRPr lang="zh-TW" altLang="en-US" dirty="0">
                        <a:solidFill>
                          <a:schemeClr val="tx1"/>
                        </a:solidFill>
                      </a:endParaRPr>
                    </a:p>
                  </a:txBody>
                  <a:tcPr>
                    <a:solidFill>
                      <a:schemeClr val="accent4">
                        <a:lumMod val="60000"/>
                        <a:lumOff val="40000"/>
                      </a:schemeClr>
                    </a:solidFill>
                  </a:tcPr>
                </a:tc>
                <a:tc>
                  <a:txBody>
                    <a:bodyPr/>
                    <a:lstStyle/>
                    <a:p>
                      <a:r>
                        <a:rPr lang="en-US" altLang="zh-TW" dirty="0">
                          <a:solidFill>
                            <a:schemeClr val="tx1"/>
                          </a:solidFill>
                        </a:rPr>
                        <a:t>6</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4">
                        <a:lumMod val="60000"/>
                        <a:lumOff val="4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4">
                        <a:lumMod val="60000"/>
                        <a:lumOff val="40000"/>
                      </a:schemeClr>
                    </a:solidFill>
                  </a:tcPr>
                </a:tc>
                <a:extLst>
                  <a:ext uri="{0D108BD9-81ED-4DB2-BD59-A6C34878D82A}">
                    <a16:rowId xmlns:a16="http://schemas.microsoft.com/office/drawing/2014/main" val="3086983461"/>
                  </a:ext>
                </a:extLst>
              </a:tr>
            </a:tbl>
          </a:graphicData>
        </a:graphic>
      </p:graphicFrame>
      <p:graphicFrame>
        <p:nvGraphicFramePr>
          <p:cNvPr id="7" name="表格 6">
            <a:extLst>
              <a:ext uri="{FF2B5EF4-FFF2-40B4-BE49-F238E27FC236}">
                <a16:creationId xmlns:a16="http://schemas.microsoft.com/office/drawing/2014/main" id="{D5CF78F9-5427-4469-B218-375E6309EFD0}"/>
              </a:ext>
            </a:extLst>
          </p:cNvPr>
          <p:cNvGraphicFramePr>
            <a:graphicFrameLocks noGrp="1"/>
          </p:cNvGraphicFramePr>
          <p:nvPr>
            <p:extLst>
              <p:ext uri="{D42A27DB-BD31-4B8C-83A1-F6EECF244321}">
                <p14:modId xmlns:p14="http://schemas.microsoft.com/office/powerpoint/2010/main" val="1853445040"/>
              </p:ext>
            </p:extLst>
          </p:nvPr>
        </p:nvGraphicFramePr>
        <p:xfrm>
          <a:off x="8179128" y="1027906"/>
          <a:ext cx="3751616" cy="37494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8" name="表格 7">
            <a:extLst>
              <a:ext uri="{FF2B5EF4-FFF2-40B4-BE49-F238E27FC236}">
                <a16:creationId xmlns:a16="http://schemas.microsoft.com/office/drawing/2014/main" id="{28BB1ECD-79AD-4B5B-850E-D64E038A15FA}"/>
              </a:ext>
            </a:extLst>
          </p:cNvPr>
          <p:cNvGraphicFramePr>
            <a:graphicFrameLocks noGrp="1"/>
          </p:cNvGraphicFramePr>
          <p:nvPr>
            <p:extLst>
              <p:ext uri="{D42A27DB-BD31-4B8C-83A1-F6EECF244321}">
                <p14:modId xmlns:p14="http://schemas.microsoft.com/office/powerpoint/2010/main" val="3827641093"/>
              </p:ext>
            </p:extLst>
          </p:nvPr>
        </p:nvGraphicFramePr>
        <p:xfrm>
          <a:off x="8179128" y="2006600"/>
          <a:ext cx="3751616" cy="365760"/>
        </p:xfrm>
        <a:graphic>
          <a:graphicData uri="http://schemas.openxmlformats.org/drawingml/2006/table">
            <a:tbl>
              <a:tblPr firstRow="1" bandRow="1">
                <a:tableStyleId>{5C22544A-7EE6-4342-B048-85BDC9FD1C3A}</a:tableStyleId>
              </a:tblPr>
              <a:tblGrid>
                <a:gridCol w="468952">
                  <a:extLst>
                    <a:ext uri="{9D8B030D-6E8A-4147-A177-3AD203B41FA5}">
                      <a16:colId xmlns:a16="http://schemas.microsoft.com/office/drawing/2014/main" val="3895030255"/>
                    </a:ext>
                  </a:extLst>
                </a:gridCol>
                <a:gridCol w="468952">
                  <a:extLst>
                    <a:ext uri="{9D8B030D-6E8A-4147-A177-3AD203B41FA5}">
                      <a16:colId xmlns:a16="http://schemas.microsoft.com/office/drawing/2014/main" val="779219572"/>
                    </a:ext>
                  </a:extLst>
                </a:gridCol>
                <a:gridCol w="468952">
                  <a:extLst>
                    <a:ext uri="{9D8B030D-6E8A-4147-A177-3AD203B41FA5}">
                      <a16:colId xmlns:a16="http://schemas.microsoft.com/office/drawing/2014/main" val="3918642456"/>
                    </a:ext>
                  </a:extLst>
                </a:gridCol>
                <a:gridCol w="468952">
                  <a:extLst>
                    <a:ext uri="{9D8B030D-6E8A-4147-A177-3AD203B41FA5}">
                      <a16:colId xmlns:a16="http://schemas.microsoft.com/office/drawing/2014/main" val="634239236"/>
                    </a:ext>
                  </a:extLst>
                </a:gridCol>
                <a:gridCol w="468952">
                  <a:extLst>
                    <a:ext uri="{9D8B030D-6E8A-4147-A177-3AD203B41FA5}">
                      <a16:colId xmlns:a16="http://schemas.microsoft.com/office/drawing/2014/main" val="3978777365"/>
                    </a:ext>
                  </a:extLst>
                </a:gridCol>
                <a:gridCol w="468952">
                  <a:extLst>
                    <a:ext uri="{9D8B030D-6E8A-4147-A177-3AD203B41FA5}">
                      <a16:colId xmlns:a16="http://schemas.microsoft.com/office/drawing/2014/main" val="1999184894"/>
                    </a:ext>
                  </a:extLst>
                </a:gridCol>
                <a:gridCol w="468952">
                  <a:extLst>
                    <a:ext uri="{9D8B030D-6E8A-4147-A177-3AD203B41FA5}">
                      <a16:colId xmlns:a16="http://schemas.microsoft.com/office/drawing/2014/main" val="2574641842"/>
                    </a:ext>
                  </a:extLst>
                </a:gridCol>
                <a:gridCol w="468952">
                  <a:extLst>
                    <a:ext uri="{9D8B030D-6E8A-4147-A177-3AD203B41FA5}">
                      <a16:colId xmlns:a16="http://schemas.microsoft.com/office/drawing/2014/main" val="1537372264"/>
                    </a:ext>
                  </a:extLst>
                </a:gridCol>
              </a:tblGrid>
              <a:tr h="261587">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2</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5</a:t>
                      </a:r>
                      <a:endParaRPr lang="zh-TW" altLang="en-US" dirty="0">
                        <a:solidFill>
                          <a:schemeClr val="tx1"/>
                        </a:solidFill>
                      </a:endParaRPr>
                    </a:p>
                  </a:txBody>
                  <a:tcPr>
                    <a:solidFill>
                      <a:schemeClr val="accent4">
                        <a:lumMod val="60000"/>
                        <a:lumOff val="4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4">
                        <a:lumMod val="60000"/>
                        <a:lumOff val="4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4">
                        <a:lumMod val="60000"/>
                        <a:lumOff val="40000"/>
                      </a:schemeClr>
                    </a:solidFill>
                  </a:tcPr>
                </a:tc>
                <a:extLst>
                  <a:ext uri="{0D108BD9-81ED-4DB2-BD59-A6C34878D82A}">
                    <a16:rowId xmlns:a16="http://schemas.microsoft.com/office/drawing/2014/main" val="3086983461"/>
                  </a:ext>
                </a:extLst>
              </a:tr>
            </a:tbl>
          </a:graphicData>
        </a:graphic>
      </p:graphicFrame>
    </p:spTree>
    <p:extLst>
      <p:ext uri="{BB962C8B-B14F-4D97-AF65-F5344CB8AC3E}">
        <p14:creationId xmlns:p14="http://schemas.microsoft.com/office/powerpoint/2010/main" val="2199603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7DBE3217-3A75-4DCD-8588-8E9B83D9F778}"/>
              </a:ext>
            </a:extLst>
          </p:cNvPr>
          <p:cNvSpPr>
            <a:spLocks noGrp="1"/>
          </p:cNvSpPr>
          <p:nvPr>
            <p:ph idx="1"/>
          </p:nvPr>
        </p:nvSpPr>
        <p:spPr>
          <a:xfrm>
            <a:off x="154379" y="555390"/>
            <a:ext cx="11689658" cy="6151035"/>
          </a:xfrm>
        </p:spPr>
        <p:txBody>
          <a:bodyPr>
            <a:normAutofit lnSpcReduction="10000"/>
          </a:bodyPr>
          <a:lstStyle/>
          <a:p>
            <a:pPr marL="0" indent="0">
              <a:buNone/>
            </a:pPr>
            <a:r>
              <a:rPr lang="en-US" altLang="zh-TW" dirty="0">
                <a:latin typeface="Times New Roman" panose="02020603050405020304" pitchFamily="18" charset="0"/>
                <a:cs typeface="Times New Roman" panose="02020603050405020304" pitchFamily="18" charset="0"/>
              </a:rPr>
              <a:t>F. Correction Method</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Input is solution: S </a:t>
            </a:r>
          </a:p>
          <a:p>
            <a:pPr marL="0" indent="0">
              <a:buNone/>
            </a:pPr>
            <a:r>
              <a:rPr lang="en-US" altLang="zh-TW" dirty="0">
                <a:latin typeface="Times New Roman" panose="02020603050405020304" pitchFamily="18" charset="0"/>
                <a:cs typeface="Times New Roman" panose="02020603050405020304" pitchFamily="18" charset="0"/>
              </a:rPr>
              <a:t>Compare the position S[</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of S1 with the character in position, I of S2.</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1 . Same character (character matching) in S2 and in S1, then we copy </a:t>
            </a:r>
          </a:p>
          <a:p>
            <a:pPr marL="0" indent="0">
              <a:buNone/>
            </a:pPr>
            <a:r>
              <a:rPr lang="en-US" altLang="zh-TW" dirty="0">
                <a:latin typeface="Times New Roman" panose="02020603050405020304" pitchFamily="18" charset="0"/>
                <a:cs typeface="Times New Roman" panose="02020603050405020304" pitchFamily="18" charset="0"/>
              </a:rPr>
              <a:t>	the value  of S[</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to output vector, S'[</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2 . If different character is found (no character matching) then we do forward 	searching in S1 starting at the position  S[</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+1 to the position S[i+1]-1. </a:t>
            </a:r>
          </a:p>
          <a:p>
            <a:pPr marL="0" indent="0">
              <a:buNone/>
            </a:pPr>
            <a:r>
              <a:rPr lang="en-US" altLang="zh-TW" dirty="0">
                <a:latin typeface="Times New Roman" panose="02020603050405020304" pitchFamily="18" charset="0"/>
                <a:cs typeface="Times New Roman" panose="02020603050405020304" pitchFamily="18" charset="0"/>
              </a:rPr>
              <a:t>     If matches with the character in position,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of S2, the value of j (which is the 	index value of S1) is saved to S'[</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3 . In case, there is no character matching in forward searching and also in 	backward searching the value of S[</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to be copied in S'[</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p>
          <a:p>
            <a:pPr marL="0" indent="0">
              <a:buNone/>
            </a:pP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7">
            <a:extLst>
              <a:ext uri="{FF2B5EF4-FFF2-40B4-BE49-F238E27FC236}">
                <a16:creationId xmlns:a16="http://schemas.microsoft.com/office/drawing/2014/main" id="{271BB992-0D13-467A-B307-8407CDCB9B25}"/>
              </a:ext>
            </a:extLst>
          </p:cNvPr>
          <p:cNvGraphicFramePr>
            <a:graphicFrameLocks noGrp="1"/>
          </p:cNvGraphicFramePr>
          <p:nvPr>
            <p:extLst>
              <p:ext uri="{D42A27DB-BD31-4B8C-83A1-F6EECF244321}">
                <p14:modId xmlns:p14="http://schemas.microsoft.com/office/powerpoint/2010/main" val="506591975"/>
              </p:ext>
            </p:extLst>
          </p:nvPr>
        </p:nvGraphicFramePr>
        <p:xfrm>
          <a:off x="8207000" y="134324"/>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2952917036"/>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5" name="表格 7">
            <a:extLst>
              <a:ext uri="{FF2B5EF4-FFF2-40B4-BE49-F238E27FC236}">
                <a16:creationId xmlns:a16="http://schemas.microsoft.com/office/drawing/2014/main" id="{C6F166AA-25B2-4375-977F-DEF02CEBBF88}"/>
              </a:ext>
            </a:extLst>
          </p:cNvPr>
          <p:cNvGraphicFramePr>
            <a:graphicFrameLocks noGrp="1"/>
          </p:cNvGraphicFramePr>
          <p:nvPr>
            <p:extLst>
              <p:ext uri="{D42A27DB-BD31-4B8C-83A1-F6EECF244321}">
                <p14:modId xmlns:p14="http://schemas.microsoft.com/office/powerpoint/2010/main" val="2001167881"/>
              </p:ext>
            </p:extLst>
          </p:nvPr>
        </p:nvGraphicFramePr>
        <p:xfrm>
          <a:off x="7773480" y="706233"/>
          <a:ext cx="4418520" cy="374940"/>
        </p:xfrm>
        <a:graphic>
          <a:graphicData uri="http://schemas.openxmlformats.org/drawingml/2006/table">
            <a:tbl>
              <a:tblPr firstRow="1" bandRow="1">
                <a:tableStyleId>{5C22544A-7EE6-4342-B048-85BDC9FD1C3A}</a:tableStyleId>
              </a:tblPr>
              <a:tblGrid>
                <a:gridCol w="441852">
                  <a:extLst>
                    <a:ext uri="{9D8B030D-6E8A-4147-A177-3AD203B41FA5}">
                      <a16:colId xmlns:a16="http://schemas.microsoft.com/office/drawing/2014/main" val="2952917036"/>
                    </a:ext>
                  </a:extLst>
                </a:gridCol>
                <a:gridCol w="441852">
                  <a:extLst>
                    <a:ext uri="{9D8B030D-6E8A-4147-A177-3AD203B41FA5}">
                      <a16:colId xmlns:a16="http://schemas.microsoft.com/office/drawing/2014/main" val="779219572"/>
                    </a:ext>
                  </a:extLst>
                </a:gridCol>
                <a:gridCol w="441852">
                  <a:extLst>
                    <a:ext uri="{9D8B030D-6E8A-4147-A177-3AD203B41FA5}">
                      <a16:colId xmlns:a16="http://schemas.microsoft.com/office/drawing/2014/main" val="3918642456"/>
                    </a:ext>
                  </a:extLst>
                </a:gridCol>
                <a:gridCol w="441852">
                  <a:extLst>
                    <a:ext uri="{9D8B030D-6E8A-4147-A177-3AD203B41FA5}">
                      <a16:colId xmlns:a16="http://schemas.microsoft.com/office/drawing/2014/main" val="634239236"/>
                    </a:ext>
                  </a:extLst>
                </a:gridCol>
                <a:gridCol w="441852">
                  <a:extLst>
                    <a:ext uri="{9D8B030D-6E8A-4147-A177-3AD203B41FA5}">
                      <a16:colId xmlns:a16="http://schemas.microsoft.com/office/drawing/2014/main" val="3978777365"/>
                    </a:ext>
                  </a:extLst>
                </a:gridCol>
                <a:gridCol w="441852">
                  <a:extLst>
                    <a:ext uri="{9D8B030D-6E8A-4147-A177-3AD203B41FA5}">
                      <a16:colId xmlns:a16="http://schemas.microsoft.com/office/drawing/2014/main" val="1999184894"/>
                    </a:ext>
                  </a:extLst>
                </a:gridCol>
                <a:gridCol w="441852">
                  <a:extLst>
                    <a:ext uri="{9D8B030D-6E8A-4147-A177-3AD203B41FA5}">
                      <a16:colId xmlns:a16="http://schemas.microsoft.com/office/drawing/2014/main" val="2574641842"/>
                    </a:ext>
                  </a:extLst>
                </a:gridCol>
                <a:gridCol w="441852">
                  <a:extLst>
                    <a:ext uri="{9D8B030D-6E8A-4147-A177-3AD203B41FA5}">
                      <a16:colId xmlns:a16="http://schemas.microsoft.com/office/drawing/2014/main" val="1537372264"/>
                    </a:ext>
                  </a:extLst>
                </a:gridCol>
                <a:gridCol w="441852">
                  <a:extLst>
                    <a:ext uri="{9D8B030D-6E8A-4147-A177-3AD203B41FA5}">
                      <a16:colId xmlns:a16="http://schemas.microsoft.com/office/drawing/2014/main" val="1919699912"/>
                    </a:ext>
                  </a:extLst>
                </a:gridCol>
                <a:gridCol w="441852">
                  <a:extLst>
                    <a:ext uri="{9D8B030D-6E8A-4147-A177-3AD203B41FA5}">
                      <a16:colId xmlns:a16="http://schemas.microsoft.com/office/drawing/2014/main" val="1891870918"/>
                    </a:ext>
                  </a:extLst>
                </a:gridCol>
              </a:tblGrid>
              <a:tr h="374940">
                <a:tc>
                  <a:txBody>
                    <a:bodyPr/>
                    <a:lstStyle/>
                    <a:p>
                      <a:r>
                        <a:rPr lang="en-US" altLang="zh-TW" dirty="0">
                          <a:solidFill>
                            <a:schemeClr val="tx1"/>
                          </a:solidFill>
                        </a:rPr>
                        <a:t>S1:</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4">
                        <a:lumMod val="60000"/>
                        <a:lumOff val="4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4">
                        <a:lumMod val="60000"/>
                        <a:lumOff val="4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A</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6" name="表格 7">
            <a:extLst>
              <a:ext uri="{FF2B5EF4-FFF2-40B4-BE49-F238E27FC236}">
                <a16:creationId xmlns:a16="http://schemas.microsoft.com/office/drawing/2014/main" id="{8A57E4C5-E542-4CF8-96FA-CC3E8DD4968A}"/>
              </a:ext>
            </a:extLst>
          </p:cNvPr>
          <p:cNvGraphicFramePr>
            <a:graphicFrameLocks noGrp="1"/>
          </p:cNvGraphicFramePr>
          <p:nvPr>
            <p:extLst>
              <p:ext uri="{D42A27DB-BD31-4B8C-83A1-F6EECF244321}">
                <p14:modId xmlns:p14="http://schemas.microsoft.com/office/powerpoint/2010/main" val="2331600393"/>
              </p:ext>
            </p:extLst>
          </p:nvPr>
        </p:nvGraphicFramePr>
        <p:xfrm>
          <a:off x="8249013" y="1496619"/>
          <a:ext cx="3595024" cy="365760"/>
        </p:xfrm>
        <a:graphic>
          <a:graphicData uri="http://schemas.openxmlformats.org/drawingml/2006/table">
            <a:tbl>
              <a:tblPr firstRow="1" bandRow="1">
                <a:tableStyleId>{5C22544A-7EE6-4342-B048-85BDC9FD1C3A}</a:tableStyleId>
              </a:tblPr>
              <a:tblGrid>
                <a:gridCol w="449378">
                  <a:extLst>
                    <a:ext uri="{9D8B030D-6E8A-4147-A177-3AD203B41FA5}">
                      <a16:colId xmlns:a16="http://schemas.microsoft.com/office/drawing/2014/main" val="2952917036"/>
                    </a:ext>
                  </a:extLst>
                </a:gridCol>
                <a:gridCol w="449378">
                  <a:extLst>
                    <a:ext uri="{9D8B030D-6E8A-4147-A177-3AD203B41FA5}">
                      <a16:colId xmlns:a16="http://schemas.microsoft.com/office/drawing/2014/main" val="779219572"/>
                    </a:ext>
                  </a:extLst>
                </a:gridCol>
                <a:gridCol w="449378">
                  <a:extLst>
                    <a:ext uri="{9D8B030D-6E8A-4147-A177-3AD203B41FA5}">
                      <a16:colId xmlns:a16="http://schemas.microsoft.com/office/drawing/2014/main" val="3918642456"/>
                    </a:ext>
                  </a:extLst>
                </a:gridCol>
                <a:gridCol w="449378">
                  <a:extLst>
                    <a:ext uri="{9D8B030D-6E8A-4147-A177-3AD203B41FA5}">
                      <a16:colId xmlns:a16="http://schemas.microsoft.com/office/drawing/2014/main" val="634239236"/>
                    </a:ext>
                  </a:extLst>
                </a:gridCol>
                <a:gridCol w="449378">
                  <a:extLst>
                    <a:ext uri="{9D8B030D-6E8A-4147-A177-3AD203B41FA5}">
                      <a16:colId xmlns:a16="http://schemas.microsoft.com/office/drawing/2014/main" val="3978777365"/>
                    </a:ext>
                  </a:extLst>
                </a:gridCol>
                <a:gridCol w="449378">
                  <a:extLst>
                    <a:ext uri="{9D8B030D-6E8A-4147-A177-3AD203B41FA5}">
                      <a16:colId xmlns:a16="http://schemas.microsoft.com/office/drawing/2014/main" val="1999184894"/>
                    </a:ext>
                  </a:extLst>
                </a:gridCol>
                <a:gridCol w="449378">
                  <a:extLst>
                    <a:ext uri="{9D8B030D-6E8A-4147-A177-3AD203B41FA5}">
                      <a16:colId xmlns:a16="http://schemas.microsoft.com/office/drawing/2014/main" val="2574641842"/>
                    </a:ext>
                  </a:extLst>
                </a:gridCol>
                <a:gridCol w="449378">
                  <a:extLst>
                    <a:ext uri="{9D8B030D-6E8A-4147-A177-3AD203B41FA5}">
                      <a16:colId xmlns:a16="http://schemas.microsoft.com/office/drawing/2014/main" val="1537372264"/>
                    </a:ext>
                  </a:extLst>
                </a:gridCol>
              </a:tblGrid>
              <a:tr h="343034">
                <a:tc>
                  <a:txBody>
                    <a:bodyPr/>
                    <a:lstStyle/>
                    <a:p>
                      <a:r>
                        <a:rPr lang="en-US" altLang="zh-TW" dirty="0">
                          <a:solidFill>
                            <a:schemeClr val="tx1"/>
                          </a:solidFill>
                        </a:rPr>
                        <a:t>S2:</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G</a:t>
                      </a:r>
                      <a:endParaRPr lang="zh-TW" altLang="en-US" dirty="0">
                        <a:solidFill>
                          <a:schemeClr val="tx1"/>
                        </a:solidFill>
                      </a:endParaRPr>
                    </a:p>
                  </a:txBody>
                  <a:tcPr>
                    <a:solidFill>
                      <a:schemeClr val="accent4">
                        <a:lumMod val="60000"/>
                        <a:lumOff val="4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A</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C</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T</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A</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7" name="表格 4">
            <a:extLst>
              <a:ext uri="{FF2B5EF4-FFF2-40B4-BE49-F238E27FC236}">
                <a16:creationId xmlns:a16="http://schemas.microsoft.com/office/drawing/2014/main" id="{396E8EAE-F1F8-4091-8730-EBFF0C15EDF7}"/>
              </a:ext>
            </a:extLst>
          </p:cNvPr>
          <p:cNvGraphicFramePr>
            <a:graphicFrameLocks/>
          </p:cNvGraphicFramePr>
          <p:nvPr>
            <p:extLst>
              <p:ext uri="{D42A27DB-BD31-4B8C-83A1-F6EECF244321}">
                <p14:modId xmlns:p14="http://schemas.microsoft.com/office/powerpoint/2010/main" val="930191333"/>
              </p:ext>
            </p:extLst>
          </p:nvPr>
        </p:nvGraphicFramePr>
        <p:xfrm>
          <a:off x="3560122" y="80406"/>
          <a:ext cx="4090059" cy="876618"/>
        </p:xfrm>
        <a:graphic>
          <a:graphicData uri="http://schemas.openxmlformats.org/drawingml/2006/table">
            <a:tbl>
              <a:tblPr firstRow="1" bandRow="1">
                <a:tableStyleId>{5C22544A-7EE6-4342-B048-85BDC9FD1C3A}</a:tableStyleId>
              </a:tblPr>
              <a:tblGrid>
                <a:gridCol w="454451">
                  <a:extLst>
                    <a:ext uri="{9D8B030D-6E8A-4147-A177-3AD203B41FA5}">
                      <a16:colId xmlns:a16="http://schemas.microsoft.com/office/drawing/2014/main" val="3605369203"/>
                    </a:ext>
                  </a:extLst>
                </a:gridCol>
                <a:gridCol w="454451">
                  <a:extLst>
                    <a:ext uri="{9D8B030D-6E8A-4147-A177-3AD203B41FA5}">
                      <a16:colId xmlns:a16="http://schemas.microsoft.com/office/drawing/2014/main" val="1120303579"/>
                    </a:ext>
                  </a:extLst>
                </a:gridCol>
                <a:gridCol w="454451">
                  <a:extLst>
                    <a:ext uri="{9D8B030D-6E8A-4147-A177-3AD203B41FA5}">
                      <a16:colId xmlns:a16="http://schemas.microsoft.com/office/drawing/2014/main" val="4262734997"/>
                    </a:ext>
                  </a:extLst>
                </a:gridCol>
                <a:gridCol w="454451">
                  <a:extLst>
                    <a:ext uri="{9D8B030D-6E8A-4147-A177-3AD203B41FA5}">
                      <a16:colId xmlns:a16="http://schemas.microsoft.com/office/drawing/2014/main" val="4112372776"/>
                    </a:ext>
                  </a:extLst>
                </a:gridCol>
                <a:gridCol w="454451">
                  <a:extLst>
                    <a:ext uri="{9D8B030D-6E8A-4147-A177-3AD203B41FA5}">
                      <a16:colId xmlns:a16="http://schemas.microsoft.com/office/drawing/2014/main" val="472715194"/>
                    </a:ext>
                  </a:extLst>
                </a:gridCol>
                <a:gridCol w="454451">
                  <a:extLst>
                    <a:ext uri="{9D8B030D-6E8A-4147-A177-3AD203B41FA5}">
                      <a16:colId xmlns:a16="http://schemas.microsoft.com/office/drawing/2014/main" val="2451447436"/>
                    </a:ext>
                  </a:extLst>
                </a:gridCol>
                <a:gridCol w="454451">
                  <a:extLst>
                    <a:ext uri="{9D8B030D-6E8A-4147-A177-3AD203B41FA5}">
                      <a16:colId xmlns:a16="http://schemas.microsoft.com/office/drawing/2014/main" val="2678507986"/>
                    </a:ext>
                  </a:extLst>
                </a:gridCol>
                <a:gridCol w="454451">
                  <a:extLst>
                    <a:ext uri="{9D8B030D-6E8A-4147-A177-3AD203B41FA5}">
                      <a16:colId xmlns:a16="http://schemas.microsoft.com/office/drawing/2014/main" val="3615316432"/>
                    </a:ext>
                  </a:extLst>
                </a:gridCol>
                <a:gridCol w="454451">
                  <a:extLst>
                    <a:ext uri="{9D8B030D-6E8A-4147-A177-3AD203B41FA5}">
                      <a16:colId xmlns:a16="http://schemas.microsoft.com/office/drawing/2014/main" val="1771558196"/>
                    </a:ext>
                  </a:extLst>
                </a:gridCol>
              </a:tblGrid>
              <a:tr h="438309">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6598439"/>
                  </a:ext>
                </a:extLst>
              </a:tr>
              <a:tr h="438309">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6</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7</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8</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2935754"/>
                  </a:ext>
                </a:extLst>
              </a:tr>
            </a:tbl>
          </a:graphicData>
        </a:graphic>
      </p:graphicFrame>
      <p:graphicFrame>
        <p:nvGraphicFramePr>
          <p:cNvPr id="8" name="表格 7">
            <a:extLst>
              <a:ext uri="{FF2B5EF4-FFF2-40B4-BE49-F238E27FC236}">
                <a16:creationId xmlns:a16="http://schemas.microsoft.com/office/drawing/2014/main" id="{A1710FC8-8042-4721-A138-4A5655121EF2}"/>
              </a:ext>
            </a:extLst>
          </p:cNvPr>
          <p:cNvGraphicFramePr>
            <a:graphicFrameLocks noGrp="1"/>
          </p:cNvGraphicFramePr>
          <p:nvPr>
            <p:extLst>
              <p:ext uri="{D42A27DB-BD31-4B8C-83A1-F6EECF244321}">
                <p14:modId xmlns:p14="http://schemas.microsoft.com/office/powerpoint/2010/main" val="4114086959"/>
              </p:ext>
            </p:extLst>
          </p:nvPr>
        </p:nvGraphicFramePr>
        <p:xfrm>
          <a:off x="8278252" y="2589510"/>
          <a:ext cx="3551480" cy="374940"/>
        </p:xfrm>
        <a:graphic>
          <a:graphicData uri="http://schemas.openxmlformats.org/drawingml/2006/table">
            <a:tbl>
              <a:tblPr firstRow="1" bandRow="1">
                <a:tableStyleId>{5C22544A-7EE6-4342-B048-85BDC9FD1C3A}</a:tableStyleId>
              </a:tblPr>
              <a:tblGrid>
                <a:gridCol w="443935">
                  <a:extLst>
                    <a:ext uri="{9D8B030D-6E8A-4147-A177-3AD203B41FA5}">
                      <a16:colId xmlns:a16="http://schemas.microsoft.com/office/drawing/2014/main" val="2952917036"/>
                    </a:ext>
                  </a:extLst>
                </a:gridCol>
                <a:gridCol w="443935">
                  <a:extLst>
                    <a:ext uri="{9D8B030D-6E8A-4147-A177-3AD203B41FA5}">
                      <a16:colId xmlns:a16="http://schemas.microsoft.com/office/drawing/2014/main" val="779219572"/>
                    </a:ext>
                  </a:extLst>
                </a:gridCol>
                <a:gridCol w="443935">
                  <a:extLst>
                    <a:ext uri="{9D8B030D-6E8A-4147-A177-3AD203B41FA5}">
                      <a16:colId xmlns:a16="http://schemas.microsoft.com/office/drawing/2014/main" val="3918642456"/>
                    </a:ext>
                  </a:extLst>
                </a:gridCol>
                <a:gridCol w="443935">
                  <a:extLst>
                    <a:ext uri="{9D8B030D-6E8A-4147-A177-3AD203B41FA5}">
                      <a16:colId xmlns:a16="http://schemas.microsoft.com/office/drawing/2014/main" val="634239236"/>
                    </a:ext>
                  </a:extLst>
                </a:gridCol>
                <a:gridCol w="443935">
                  <a:extLst>
                    <a:ext uri="{9D8B030D-6E8A-4147-A177-3AD203B41FA5}">
                      <a16:colId xmlns:a16="http://schemas.microsoft.com/office/drawing/2014/main" val="3978777365"/>
                    </a:ext>
                  </a:extLst>
                </a:gridCol>
                <a:gridCol w="443935">
                  <a:extLst>
                    <a:ext uri="{9D8B030D-6E8A-4147-A177-3AD203B41FA5}">
                      <a16:colId xmlns:a16="http://schemas.microsoft.com/office/drawing/2014/main" val="1999184894"/>
                    </a:ext>
                  </a:extLst>
                </a:gridCol>
                <a:gridCol w="443935">
                  <a:extLst>
                    <a:ext uri="{9D8B030D-6E8A-4147-A177-3AD203B41FA5}">
                      <a16:colId xmlns:a16="http://schemas.microsoft.com/office/drawing/2014/main" val="2574641842"/>
                    </a:ext>
                  </a:extLst>
                </a:gridCol>
                <a:gridCol w="443935">
                  <a:extLst>
                    <a:ext uri="{9D8B030D-6E8A-4147-A177-3AD203B41FA5}">
                      <a16:colId xmlns:a16="http://schemas.microsoft.com/office/drawing/2014/main" val="1537372264"/>
                    </a:ext>
                  </a:extLst>
                </a:gridCol>
              </a:tblGrid>
              <a:tr h="374940">
                <a:tc>
                  <a:txBody>
                    <a:bodyPr/>
                    <a:lstStyle/>
                    <a:p>
                      <a:r>
                        <a:rPr lang="en-US" altLang="zh-TW" dirty="0">
                          <a:solidFill>
                            <a:schemeClr val="tx1"/>
                          </a:solidFill>
                        </a:rPr>
                        <a:t>S’:</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0</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3</a:t>
                      </a:r>
                      <a:endParaRPr lang="zh-TW" altLang="en-US" dirty="0">
                        <a:solidFill>
                          <a:schemeClr val="tx1"/>
                        </a:solidFill>
                      </a:endParaRPr>
                    </a:p>
                  </a:txBody>
                  <a:tcPr>
                    <a:solidFill>
                      <a:schemeClr val="accent4">
                        <a:lumMod val="60000"/>
                        <a:lumOff val="40000"/>
                      </a:schemeClr>
                    </a:solidFill>
                  </a:tcPr>
                </a:tc>
                <a:tc>
                  <a:txBody>
                    <a:bodyPr/>
                    <a:lstStyle/>
                    <a:p>
                      <a:r>
                        <a:rPr lang="en-US" altLang="zh-TW" dirty="0">
                          <a:solidFill>
                            <a:schemeClr val="tx1"/>
                          </a:solidFill>
                        </a:rPr>
                        <a:t>4</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5</a:t>
                      </a:r>
                      <a:endParaRPr lang="zh-TW" altLang="en-US" dirty="0">
                        <a:solidFill>
                          <a:schemeClr val="tx1"/>
                        </a:solidFill>
                      </a:endParaRPr>
                    </a:p>
                  </a:txBody>
                  <a:tcPr>
                    <a:solidFill>
                      <a:schemeClr val="accent6">
                        <a:lumMod val="40000"/>
                        <a:lumOff val="60000"/>
                      </a:schemeClr>
                    </a:solidFill>
                  </a:tcPr>
                </a:tc>
                <a:tc>
                  <a:txBody>
                    <a:bodyPr/>
                    <a:lstStyle/>
                    <a:p>
                      <a:r>
                        <a:rPr lang="en-US" altLang="zh-TW" dirty="0">
                          <a:solidFill>
                            <a:schemeClr val="tx1"/>
                          </a:solidFill>
                        </a:rPr>
                        <a:t>7</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tc>
                  <a:txBody>
                    <a:bodyPr/>
                    <a:lstStyle/>
                    <a:p>
                      <a:r>
                        <a:rPr lang="en-US" altLang="zh-TW" dirty="0">
                          <a:solidFill>
                            <a:schemeClr val="tx1"/>
                          </a:solidFill>
                        </a:rPr>
                        <a:t>8</a:t>
                      </a:r>
                      <a:endParaRPr lang="zh-TW" altLang="en-US" dirty="0">
                        <a:solidFill>
                          <a:schemeClr val="tx1"/>
                        </a:solidFill>
                      </a:endParaRPr>
                    </a:p>
                  </a:txBody>
                  <a:tcPr>
                    <a:solidFill>
                      <a:schemeClr val="accent5">
                        <a:lumMod val="40000"/>
                        <a:lumOff val="60000"/>
                      </a:schemeClr>
                    </a:solidFill>
                  </a:tcPr>
                </a:tc>
                <a:extLst>
                  <a:ext uri="{0D108BD9-81ED-4DB2-BD59-A6C34878D82A}">
                    <a16:rowId xmlns:a16="http://schemas.microsoft.com/office/drawing/2014/main" val="3086983461"/>
                  </a:ext>
                </a:extLst>
              </a:tr>
            </a:tbl>
          </a:graphicData>
        </a:graphic>
      </p:graphicFrame>
      <p:graphicFrame>
        <p:nvGraphicFramePr>
          <p:cNvPr id="9" name="表格 8">
            <a:extLst>
              <a:ext uri="{FF2B5EF4-FFF2-40B4-BE49-F238E27FC236}">
                <a16:creationId xmlns:a16="http://schemas.microsoft.com/office/drawing/2014/main" id="{5F3959A2-8DC5-4996-BCDF-713CD7839CC5}"/>
              </a:ext>
            </a:extLst>
          </p:cNvPr>
          <p:cNvGraphicFramePr>
            <a:graphicFrameLocks/>
          </p:cNvGraphicFramePr>
          <p:nvPr>
            <p:extLst>
              <p:ext uri="{D42A27DB-BD31-4B8C-83A1-F6EECF244321}">
                <p14:modId xmlns:p14="http://schemas.microsoft.com/office/powerpoint/2010/main" val="2524494030"/>
              </p:ext>
            </p:extLst>
          </p:nvPr>
        </p:nvGraphicFramePr>
        <p:xfrm>
          <a:off x="4363103" y="1081173"/>
          <a:ext cx="3139143" cy="830892"/>
        </p:xfrm>
        <a:graphic>
          <a:graphicData uri="http://schemas.openxmlformats.org/drawingml/2006/table">
            <a:tbl>
              <a:tblPr firstRow="1" bandRow="1">
                <a:tableStyleId>{5C22544A-7EE6-4342-B048-85BDC9FD1C3A}</a:tableStyleId>
              </a:tblPr>
              <a:tblGrid>
                <a:gridCol w="448449">
                  <a:extLst>
                    <a:ext uri="{9D8B030D-6E8A-4147-A177-3AD203B41FA5}">
                      <a16:colId xmlns:a16="http://schemas.microsoft.com/office/drawing/2014/main" val="3605369203"/>
                    </a:ext>
                  </a:extLst>
                </a:gridCol>
                <a:gridCol w="448449">
                  <a:extLst>
                    <a:ext uri="{9D8B030D-6E8A-4147-A177-3AD203B41FA5}">
                      <a16:colId xmlns:a16="http://schemas.microsoft.com/office/drawing/2014/main" val="1120303579"/>
                    </a:ext>
                  </a:extLst>
                </a:gridCol>
                <a:gridCol w="448449">
                  <a:extLst>
                    <a:ext uri="{9D8B030D-6E8A-4147-A177-3AD203B41FA5}">
                      <a16:colId xmlns:a16="http://schemas.microsoft.com/office/drawing/2014/main" val="4262734997"/>
                    </a:ext>
                  </a:extLst>
                </a:gridCol>
                <a:gridCol w="448449">
                  <a:extLst>
                    <a:ext uri="{9D8B030D-6E8A-4147-A177-3AD203B41FA5}">
                      <a16:colId xmlns:a16="http://schemas.microsoft.com/office/drawing/2014/main" val="4112372776"/>
                    </a:ext>
                  </a:extLst>
                </a:gridCol>
                <a:gridCol w="448449">
                  <a:extLst>
                    <a:ext uri="{9D8B030D-6E8A-4147-A177-3AD203B41FA5}">
                      <a16:colId xmlns:a16="http://schemas.microsoft.com/office/drawing/2014/main" val="472715194"/>
                    </a:ext>
                  </a:extLst>
                </a:gridCol>
                <a:gridCol w="448449">
                  <a:extLst>
                    <a:ext uri="{9D8B030D-6E8A-4147-A177-3AD203B41FA5}">
                      <a16:colId xmlns:a16="http://schemas.microsoft.com/office/drawing/2014/main" val="2451447436"/>
                    </a:ext>
                  </a:extLst>
                </a:gridCol>
                <a:gridCol w="448449">
                  <a:extLst>
                    <a:ext uri="{9D8B030D-6E8A-4147-A177-3AD203B41FA5}">
                      <a16:colId xmlns:a16="http://schemas.microsoft.com/office/drawing/2014/main" val="2678507986"/>
                    </a:ext>
                  </a:extLst>
                </a:gridCol>
              </a:tblGrid>
              <a:tr h="415446">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G</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C</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A</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6598439"/>
                  </a:ext>
                </a:extLst>
              </a:tr>
              <a:tr h="415446">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6</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2935754"/>
                  </a:ext>
                </a:extLst>
              </a:tr>
            </a:tbl>
          </a:graphicData>
        </a:graphic>
      </p:graphicFrame>
      <p:sp>
        <p:nvSpPr>
          <p:cNvPr id="10" name="箭號: 上-下雙向 9">
            <a:extLst>
              <a:ext uri="{FF2B5EF4-FFF2-40B4-BE49-F238E27FC236}">
                <a16:creationId xmlns:a16="http://schemas.microsoft.com/office/drawing/2014/main" id="{2F7A6F99-E0CC-4774-81BE-9A3FB1A13C9B}"/>
              </a:ext>
            </a:extLst>
          </p:cNvPr>
          <p:cNvSpPr/>
          <p:nvPr/>
        </p:nvSpPr>
        <p:spPr>
          <a:xfrm>
            <a:off x="10046525" y="1081173"/>
            <a:ext cx="249382" cy="365760"/>
          </a:xfrm>
          <a:prstGeom prst="upDown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6878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362280-898F-4B69-A8B4-F5721576E77F}"/>
              </a:ext>
            </a:extLst>
          </p:cNvPr>
          <p:cNvSpPr>
            <a:spLocks noGrp="1"/>
          </p:cNvSpPr>
          <p:nvPr>
            <p:ph type="title"/>
          </p:nvPr>
        </p:nvSpPr>
        <p:spPr>
          <a:xfrm>
            <a:off x="597230" y="139494"/>
            <a:ext cx="10515600" cy="1325563"/>
          </a:xfrm>
        </p:spPr>
        <p:txBody>
          <a:bodyPr/>
          <a:lstStyle/>
          <a:p>
            <a:r>
              <a:rPr lang="en-US" altLang="zh-TW" dirty="0">
                <a:latin typeface="Times New Roman" panose="02020603050405020304" pitchFamily="18" charset="0"/>
                <a:cs typeface="Times New Roman" panose="02020603050405020304" pitchFamily="18" charset="0"/>
              </a:rPr>
              <a:t>Simulation Results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6221020C-8EE1-4AC9-81AA-F559F16774AC}"/>
              </a:ext>
            </a:extLst>
          </p:cNvPr>
          <p:cNvSpPr>
            <a:spLocks noGrp="1"/>
          </p:cNvSpPr>
          <p:nvPr>
            <p:ph idx="1"/>
          </p:nvPr>
        </p:nvSpPr>
        <p:spPr>
          <a:xfrm>
            <a:off x="259277" y="1246909"/>
            <a:ext cx="11673445" cy="4906303"/>
          </a:xfrm>
        </p:spPr>
        <p:txBody>
          <a:bodyPr>
            <a:normAutofit/>
          </a:bodyPr>
          <a:lstStyle/>
          <a:p>
            <a:r>
              <a:rPr lang="en-US" altLang="zh-TW" dirty="0">
                <a:latin typeface="Times New Roman" panose="02020603050405020304" pitchFamily="18" charset="0"/>
                <a:cs typeface="Times New Roman" panose="02020603050405020304" pitchFamily="18" charset="0"/>
              </a:rPr>
              <a:t>DNA:{A,T,C,G}</a:t>
            </a:r>
          </a:p>
          <a:p>
            <a:r>
              <a:rPr lang="en-US" altLang="zh-TW" dirty="0">
                <a:latin typeface="Times New Roman" panose="02020603050405020304" pitchFamily="18" charset="0"/>
                <a:cs typeface="Times New Roman" panose="02020603050405020304" pitchFamily="18" charset="0"/>
              </a:rPr>
              <a:t> Si= rand [A, G, C, T]</a:t>
            </a:r>
          </a:p>
          <a:p>
            <a:r>
              <a:rPr lang="en-US" altLang="zh-TW" dirty="0">
                <a:latin typeface="Times New Roman" panose="02020603050405020304" pitchFamily="18" charset="0"/>
                <a:cs typeface="Times New Roman" panose="02020603050405020304" pitchFamily="18" charset="0"/>
              </a:rPr>
              <a:t> Length of the string is n</a:t>
            </a:r>
          </a:p>
          <a:p>
            <a:r>
              <a:rPr lang="en-US" altLang="zh-TW" dirty="0">
                <a:latin typeface="Times New Roman" panose="02020603050405020304" pitchFamily="18" charset="0"/>
                <a:cs typeface="Times New Roman" panose="02020603050405020304" pitchFamily="18" charset="0"/>
              </a:rPr>
              <a:t> Parameters as initialize :</a:t>
            </a:r>
          </a:p>
          <a:p>
            <a:pPr marL="0" indent="0">
              <a:buNone/>
            </a:pPr>
            <a:r>
              <a:rPr lang="en-US" altLang="zh-TW" dirty="0">
                <a:latin typeface="Times New Roman" panose="02020603050405020304" pitchFamily="18" charset="0"/>
                <a:cs typeface="Times New Roman" panose="02020603050405020304" pitchFamily="18" charset="0"/>
              </a:rPr>
              <a:t>	Pop Size = 10 , Collision Rate = 0.2 , Loss Rate = 0.1 ,</a:t>
            </a:r>
          </a:p>
          <a:p>
            <a:pPr marL="0" indent="0">
              <a:buNone/>
            </a:pPr>
            <a:r>
              <a:rPr lang="en-US" altLang="zh-TW" dirty="0">
                <a:latin typeface="Times New Roman" panose="02020603050405020304" pitchFamily="18" charset="0"/>
                <a:cs typeface="Times New Roman" panose="02020603050405020304" pitchFamily="18" charset="0"/>
              </a:rPr>
              <a:t>	Buffer = 0 , KE = 1000, 	 Decomposition Threshold (</a:t>
            </a:r>
            <a:r>
              <a:rPr lang="el-GR" altLang="zh-TW" dirty="0">
                <a:latin typeface="Times New Roman" panose="02020603050405020304" pitchFamily="18" charset="0"/>
                <a:cs typeface="Times New Roman" panose="02020603050405020304" pitchFamily="18" charset="0"/>
              </a:rPr>
              <a:t>α) = 15000 </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Systhesis</a:t>
            </a:r>
            <a:r>
              <a:rPr lang="en-US" altLang="zh-TW" dirty="0">
                <a:latin typeface="Times New Roman" panose="02020603050405020304" pitchFamily="18" charset="0"/>
                <a:cs typeface="Times New Roman" panose="02020603050405020304" pitchFamily="18" charset="0"/>
              </a:rPr>
              <a:t> Threshold (</a:t>
            </a:r>
            <a:r>
              <a:rPr lang="el-GR" altLang="zh-TW" dirty="0">
                <a:latin typeface="Times New Roman" panose="02020603050405020304" pitchFamily="18" charset="0"/>
                <a:cs typeface="Times New Roman" panose="02020603050405020304" pitchFamily="18" charset="0"/>
              </a:rPr>
              <a:t>β) =10 </a:t>
            </a:r>
            <a:r>
              <a:rPr lang="en-US" altLang="zh-TW" dirty="0">
                <a:latin typeface="Times New Roman" panose="02020603050405020304" pitchFamily="18" charset="0"/>
                <a:cs typeface="Times New Roman" panose="02020603050405020304" pitchFamily="18" charset="0"/>
              </a:rPr>
              <a:t>etc. </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 decomposition condition and synthesis condition respectively effect by the value of decomposition threshold and </a:t>
            </a:r>
            <a:r>
              <a:rPr lang="en-US" altLang="zh-TW" dirty="0" err="1">
                <a:latin typeface="Times New Roman" panose="02020603050405020304" pitchFamily="18" charset="0"/>
                <a:cs typeface="Times New Roman" panose="02020603050405020304" pitchFamily="18" charset="0"/>
              </a:rPr>
              <a:t>systhesis</a:t>
            </a:r>
            <a:r>
              <a:rPr lang="en-US" altLang="zh-TW" dirty="0">
                <a:latin typeface="Times New Roman" panose="02020603050405020304" pitchFamily="18" charset="0"/>
                <a:cs typeface="Times New Roman" panose="02020603050405020304" pitchFamily="18" charset="0"/>
              </a:rPr>
              <a:t> threshold.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427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8196F2-7D89-429E-811A-C88CFB6FDF41}"/>
              </a:ext>
            </a:extLst>
          </p:cNvPr>
          <p:cNvSpPr>
            <a:spLocks noGrp="1"/>
          </p:cNvSpPr>
          <p:nvPr>
            <p:ph type="title"/>
          </p:nvPr>
        </p:nvSpPr>
        <p:spPr>
          <a:xfrm>
            <a:off x="838200" y="0"/>
            <a:ext cx="10515600" cy="1325563"/>
          </a:xfrm>
        </p:spPr>
        <p:txBody>
          <a:bodyPr/>
          <a:lstStyle/>
          <a:p>
            <a:r>
              <a:rPr lang="en-US" altLang="zh-TW" dirty="0">
                <a:latin typeface="Times New Roman" panose="02020603050405020304" pitchFamily="18" charset="0"/>
                <a:cs typeface="Times New Roman" panose="02020603050405020304" pitchFamily="18" charset="0"/>
              </a:rPr>
              <a:t>Test Environment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5255AB7-F787-464D-AEBC-74A51C5E1FD5}"/>
              </a:ext>
            </a:extLst>
          </p:cNvPr>
          <p:cNvSpPr>
            <a:spLocks noGrp="1"/>
          </p:cNvSpPr>
          <p:nvPr>
            <p:ph idx="1"/>
          </p:nvPr>
        </p:nvSpPr>
        <p:spPr>
          <a:xfrm>
            <a:off x="280554" y="1065603"/>
            <a:ext cx="11630891" cy="5180817"/>
          </a:xfrm>
        </p:spPr>
        <p:txBody>
          <a:bodyPr>
            <a:normAutofit lnSpcReduction="10000"/>
          </a:bodyPr>
          <a:lstStyle/>
          <a:p>
            <a:r>
              <a:rPr lang="en-US" altLang="zh-TW" dirty="0">
                <a:latin typeface="Times New Roman" panose="02020603050405020304" pitchFamily="18" charset="0"/>
                <a:cs typeface="Times New Roman" panose="02020603050405020304" pitchFamily="18" charset="0"/>
              </a:rPr>
              <a:t>The test environment is set up on a personal computer with </a:t>
            </a:r>
          </a:p>
          <a:p>
            <a:pPr marL="0" indent="0">
              <a:buNone/>
            </a:pPr>
            <a:r>
              <a:rPr lang="en-US" altLang="zh-TW" dirty="0">
                <a:latin typeface="Times New Roman" panose="02020603050405020304" pitchFamily="18" charset="0"/>
                <a:cs typeface="Times New Roman" panose="02020603050405020304" pitchFamily="18" charset="0"/>
              </a:rPr>
              <a:t>   Core i5 CPU at 2.50 GHz CPU, 4G RAM, running on Windows 8. </a:t>
            </a:r>
          </a:p>
          <a:p>
            <a:endParaRPr lang="en-US" altLang="zh-TW" dirty="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System.currentTimeMillis</a:t>
            </a:r>
            <a:r>
              <a:rPr lang="en-US" altLang="zh-TW" dirty="0">
                <a:latin typeface="Times New Roman" panose="02020603050405020304" pitchFamily="18" charset="0"/>
                <a:cs typeface="Times New Roman" panose="02020603050405020304" pitchFamily="18" charset="0"/>
              </a:rPr>
              <a:t>() method was used for obtained the time measurement. </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Using Java programming language and the process of coding, </a:t>
            </a:r>
          </a:p>
          <a:p>
            <a:pPr marL="0" indent="0">
              <a:buNone/>
            </a:pPr>
            <a:r>
              <a:rPr lang="en-US" altLang="zh-TW" dirty="0">
                <a:latin typeface="Times New Roman" panose="02020603050405020304" pitchFamily="18" charset="0"/>
                <a:cs typeface="Times New Roman" panose="02020603050405020304" pitchFamily="18" charset="0"/>
              </a:rPr>
              <a:t>   Eclipse IDE is used.</a:t>
            </a:r>
          </a:p>
          <a:p>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a:t>
            </a:r>
            <a:r>
              <a:rPr lang="en-US" altLang="zh-TW" dirty="0"/>
              <a:t>During the experiment, we see that 50 runs for each of the chosen values is not sufficient for longest String which length is bigger than 1000 or more. </a:t>
            </a:r>
            <a:endParaRPr lang="zh-TW" altLang="en-US" dirty="0"/>
          </a:p>
          <a:p>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8105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ED1B0D-492B-4111-B9C9-F98DF02221DA}"/>
              </a:ext>
            </a:extLst>
          </p:cNvPr>
          <p:cNvSpPr>
            <a:spLocks noGrp="1"/>
          </p:cNvSpPr>
          <p:nvPr>
            <p:ph type="title"/>
          </p:nvPr>
        </p:nvSpPr>
        <p:spPr/>
        <p:txBody>
          <a:bodyPr/>
          <a:lstStyle/>
          <a:p>
            <a:endParaRPr lang="zh-TW" altLang="en-US"/>
          </a:p>
        </p:txBody>
      </p:sp>
      <p:pic>
        <p:nvPicPr>
          <p:cNvPr id="5" name="內容版面配置區 4" descr="一張含有 桌 的圖片&#10;&#10;自動產生的描述">
            <a:extLst>
              <a:ext uri="{FF2B5EF4-FFF2-40B4-BE49-F238E27FC236}">
                <a16:creationId xmlns:a16="http://schemas.microsoft.com/office/drawing/2014/main" id="{E7E9170C-52DC-4D58-8C5A-CE26DC4C3C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785691"/>
            <a:ext cx="9965465" cy="4279064"/>
          </a:xfrm>
        </p:spPr>
      </p:pic>
    </p:spTree>
    <p:extLst>
      <p:ext uri="{BB962C8B-B14F-4D97-AF65-F5344CB8AC3E}">
        <p14:creationId xmlns:p14="http://schemas.microsoft.com/office/powerpoint/2010/main" val="2083886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C5D1B7-4178-48CA-820A-5015E8EB3D47}"/>
              </a:ext>
            </a:extLst>
          </p:cNvPr>
          <p:cNvSpPr>
            <a:spLocks noGrp="1"/>
          </p:cNvSpPr>
          <p:nvPr>
            <p:ph type="title"/>
          </p:nvPr>
        </p:nvSpPr>
        <p:spPr/>
        <p:txBody>
          <a:bodyPr/>
          <a:lstStyle/>
          <a:p>
            <a:endParaRPr lang="zh-TW" altLang="en-US"/>
          </a:p>
        </p:txBody>
      </p:sp>
      <p:pic>
        <p:nvPicPr>
          <p:cNvPr id="5" name="內容版面配置區 4" descr="一張含有 桌 的圖片&#10;&#10;自動產生的描述">
            <a:extLst>
              <a:ext uri="{FF2B5EF4-FFF2-40B4-BE49-F238E27FC236}">
                <a16:creationId xmlns:a16="http://schemas.microsoft.com/office/drawing/2014/main" id="{FE4C9AFB-7875-4E6C-A075-5C6EB4D78F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1322" y="1792865"/>
            <a:ext cx="10193977" cy="4324718"/>
          </a:xfrm>
        </p:spPr>
      </p:pic>
    </p:spTree>
    <p:extLst>
      <p:ext uri="{BB962C8B-B14F-4D97-AF65-F5344CB8AC3E}">
        <p14:creationId xmlns:p14="http://schemas.microsoft.com/office/powerpoint/2010/main" val="3880334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0CC0A2-4594-4CF1-A3BB-16E98A24BE13}"/>
              </a:ext>
            </a:extLst>
          </p:cNvPr>
          <p:cNvSpPr>
            <a:spLocks noGrp="1"/>
          </p:cNvSpPr>
          <p:nvPr>
            <p:ph type="title"/>
          </p:nvPr>
        </p:nvSpPr>
        <p:spPr/>
        <p:txBody>
          <a:bodyPr/>
          <a:lstStyle/>
          <a:p>
            <a:endParaRPr lang="zh-TW" altLang="en-US"/>
          </a:p>
        </p:txBody>
      </p:sp>
      <p:pic>
        <p:nvPicPr>
          <p:cNvPr id="5" name="內容版面配置區 4" descr="一張含有 桌 的圖片&#10;&#10;自動產生的描述">
            <a:extLst>
              <a:ext uri="{FF2B5EF4-FFF2-40B4-BE49-F238E27FC236}">
                <a16:creationId xmlns:a16="http://schemas.microsoft.com/office/drawing/2014/main" id="{E52A3501-5541-4C08-84C0-271EAD84B8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797566"/>
            <a:ext cx="10070298" cy="4332346"/>
          </a:xfrm>
        </p:spPr>
      </p:pic>
    </p:spTree>
    <p:extLst>
      <p:ext uri="{BB962C8B-B14F-4D97-AF65-F5344CB8AC3E}">
        <p14:creationId xmlns:p14="http://schemas.microsoft.com/office/powerpoint/2010/main" val="2125684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DB9A10-AD30-4627-B72D-3CB1E1C19218}"/>
              </a:ext>
            </a:extLst>
          </p:cNvPr>
          <p:cNvSpPr>
            <a:spLocks noGrp="1"/>
          </p:cNvSpPr>
          <p:nvPr>
            <p:ph type="title"/>
          </p:nvPr>
        </p:nvSpPr>
        <p:spPr/>
        <p:txBody>
          <a:bodyPr/>
          <a:lstStyle/>
          <a:p>
            <a:endParaRPr lang="zh-TW" altLang="en-US"/>
          </a:p>
        </p:txBody>
      </p:sp>
      <p:pic>
        <p:nvPicPr>
          <p:cNvPr id="5" name="內容版面配置區 4" descr="一張含有 桌 的圖片&#10;&#10;自動產生的描述">
            <a:extLst>
              <a:ext uri="{FF2B5EF4-FFF2-40B4-BE49-F238E27FC236}">
                <a16:creationId xmlns:a16="http://schemas.microsoft.com/office/drawing/2014/main" id="{B3C7BB63-1783-45DC-BC62-EDFBBC9BEB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363039"/>
            <a:ext cx="9445831" cy="5098602"/>
          </a:xfrm>
        </p:spPr>
      </p:pic>
    </p:spTree>
    <p:extLst>
      <p:ext uri="{BB962C8B-B14F-4D97-AF65-F5344CB8AC3E}">
        <p14:creationId xmlns:p14="http://schemas.microsoft.com/office/powerpoint/2010/main" val="2402392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09B525-9183-4854-8BC2-7C798B58C041}"/>
              </a:ext>
            </a:extLst>
          </p:cNvPr>
          <p:cNvSpPr>
            <a:spLocks noGrp="1"/>
          </p:cNvSpPr>
          <p:nvPr>
            <p:ph type="title"/>
          </p:nvPr>
        </p:nvSpPr>
        <p:spPr/>
        <p:txBody>
          <a:bodyPr/>
          <a:lstStyle/>
          <a:p>
            <a:r>
              <a:rPr lang="en-US" altLang="zh-TW" dirty="0" err="1"/>
              <a:t>Conclution</a:t>
            </a:r>
            <a:endParaRPr lang="zh-TW" altLang="en-US" dirty="0"/>
          </a:p>
        </p:txBody>
      </p:sp>
      <p:sp>
        <p:nvSpPr>
          <p:cNvPr id="3" name="內容版面配置區 2">
            <a:extLst>
              <a:ext uri="{FF2B5EF4-FFF2-40B4-BE49-F238E27FC236}">
                <a16:creationId xmlns:a16="http://schemas.microsoft.com/office/drawing/2014/main" id="{392AACB2-334F-4B6D-B78E-AAA3BC724DE0}"/>
              </a:ext>
            </a:extLst>
          </p:cNvPr>
          <p:cNvSpPr>
            <a:spLocks noGrp="1"/>
          </p:cNvSpPr>
          <p:nvPr>
            <p:ph idx="1"/>
          </p:nvPr>
        </p:nvSpPr>
        <p:spPr/>
        <p:txBody>
          <a:bodyPr>
            <a:normAutofit/>
          </a:bodyPr>
          <a:lstStyle/>
          <a:p>
            <a:pPr marL="0" indent="0">
              <a:buNone/>
            </a:pPr>
            <a:r>
              <a:rPr lang="en-US" altLang="zh-TW" dirty="0"/>
              <a:t>	It proposed an algorithm to solve longest common subsequence problem based on the concept of CRO. Our main target is to reduce the time complexity of LCS problem and generate an optimal solution. </a:t>
            </a:r>
          </a:p>
          <a:p>
            <a:pPr marL="0" indent="0">
              <a:buNone/>
            </a:pPr>
            <a:r>
              <a:rPr lang="en-US" altLang="zh-TW" dirty="0"/>
              <a:t>	We have compared proposed CRO based method with Dynamic LCS  and Fast Dynamic LCS and found that our proposed algorithm has superior performance when compared for all proposed test instances. It reduces the execution time. </a:t>
            </a:r>
          </a:p>
          <a:p>
            <a:pPr marL="0" indent="0">
              <a:buNone/>
            </a:pPr>
            <a:r>
              <a:rPr lang="en-US" altLang="zh-TW" dirty="0"/>
              <a:t>	</a:t>
            </a:r>
            <a:endParaRPr lang="zh-TW" altLang="en-US" dirty="0"/>
          </a:p>
        </p:txBody>
      </p:sp>
    </p:spTree>
    <p:extLst>
      <p:ext uri="{BB962C8B-B14F-4D97-AF65-F5344CB8AC3E}">
        <p14:creationId xmlns:p14="http://schemas.microsoft.com/office/powerpoint/2010/main" val="834011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C252DD-FFA2-4B7A-A55B-EC6057D240F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DF4EE12-CB1B-4ACA-A0CB-67818CA523FA}"/>
              </a:ext>
            </a:extLst>
          </p:cNvPr>
          <p:cNvSpPr>
            <a:spLocks noGrp="1"/>
          </p:cNvSpPr>
          <p:nvPr>
            <p:ph idx="1"/>
          </p:nvPr>
        </p:nvSpPr>
        <p:spPr>
          <a:xfrm>
            <a:off x="2262963" y="2963309"/>
            <a:ext cx="10515600" cy="4351338"/>
          </a:xfrm>
        </p:spPr>
        <p:txBody>
          <a:bodyPr>
            <a:normAutofit/>
          </a:bodyPr>
          <a:lstStyle/>
          <a:p>
            <a:pPr marL="0" indent="0">
              <a:buNone/>
            </a:pPr>
            <a:r>
              <a:rPr lang="en-US" altLang="zh-TW" sz="4800" dirty="0"/>
              <a:t>Thanks for listening.</a:t>
            </a:r>
            <a:endParaRPr lang="zh-TW" altLang="en-US" sz="4800" dirty="0"/>
          </a:p>
        </p:txBody>
      </p:sp>
    </p:spTree>
    <p:extLst>
      <p:ext uri="{BB962C8B-B14F-4D97-AF65-F5344CB8AC3E}">
        <p14:creationId xmlns:p14="http://schemas.microsoft.com/office/powerpoint/2010/main" val="65840903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4556</TotalTime>
  <Words>2260</Words>
  <Application>Microsoft Office PowerPoint</Application>
  <PresentationFormat>寬螢幕</PresentationFormat>
  <Paragraphs>414</Paragraphs>
  <Slides>20</Slides>
  <Notes>14</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20</vt:i4>
      </vt:variant>
    </vt:vector>
  </HeadingPairs>
  <TitlesOfParts>
    <vt:vector size="28" baseType="lpstr">
      <vt:lpstr>Arial Unicode MS</vt:lpstr>
      <vt:lpstr>標楷體</vt:lpstr>
      <vt:lpstr>arial</vt:lpstr>
      <vt:lpstr>arial</vt:lpstr>
      <vt:lpstr>Calibri</vt:lpstr>
      <vt:lpstr>Calibri Light</vt:lpstr>
      <vt:lpstr>Times New Roman</vt:lpstr>
      <vt:lpstr>Office 佈景主題</vt:lpstr>
      <vt:lpstr>Longest Common Subsequence Using Chemical Reaction Optimization</vt:lpstr>
      <vt:lpstr>Abstract(1/2)</vt:lpstr>
      <vt:lpstr>Abstract(2/2)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Simulation Results</vt:lpstr>
      <vt:lpstr>Test Environment</vt:lpstr>
      <vt:lpstr>PowerPoint 簡報</vt:lpstr>
      <vt:lpstr>PowerPoint 簡報</vt:lpstr>
      <vt:lpstr>PowerPoint 簡報</vt:lpstr>
      <vt:lpstr>PowerPoint 簡報</vt:lpstr>
      <vt:lpstr>Conclution</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Longest Common Subsequence using Chemical Reaction Optimization</dc:title>
  <dc:creator>wujj</dc:creator>
  <cp:lastModifiedBy>pplab</cp:lastModifiedBy>
  <cp:revision>47</cp:revision>
  <dcterms:created xsi:type="dcterms:W3CDTF">2020-12-26T07:00:18Z</dcterms:created>
  <dcterms:modified xsi:type="dcterms:W3CDTF">2020-12-29T12:01:15Z</dcterms:modified>
</cp:coreProperties>
</file>