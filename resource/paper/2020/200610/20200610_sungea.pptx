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8" r:id="rId3"/>
    <p:sldId id="269" r:id="rId4"/>
    <p:sldId id="307" r:id="rId5"/>
    <p:sldId id="273" r:id="rId6"/>
    <p:sldId id="288" r:id="rId7"/>
    <p:sldId id="277" r:id="rId8"/>
    <p:sldId id="278" r:id="rId9"/>
    <p:sldId id="279" r:id="rId10"/>
    <p:sldId id="289" r:id="rId11"/>
    <p:sldId id="280" r:id="rId12"/>
    <p:sldId id="281" r:id="rId13"/>
    <p:sldId id="283" r:id="rId14"/>
    <p:sldId id="290" r:id="rId15"/>
    <p:sldId id="282" r:id="rId16"/>
    <p:sldId id="284" r:id="rId17"/>
    <p:sldId id="285" r:id="rId18"/>
    <p:sldId id="291" r:id="rId19"/>
    <p:sldId id="292" r:id="rId20"/>
    <p:sldId id="293" r:id="rId21"/>
    <p:sldId id="294" r:id="rId22"/>
    <p:sldId id="295" r:id="rId23"/>
    <p:sldId id="298" r:id="rId24"/>
    <p:sldId id="299" r:id="rId25"/>
    <p:sldId id="300" r:id="rId26"/>
    <p:sldId id="301" r:id="rId27"/>
    <p:sldId id="302" r:id="rId28"/>
    <p:sldId id="305" r:id="rId29"/>
    <p:sldId id="304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9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AE988-773A-4AFC-851C-7E3B88B5B3B2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BBA4A-CA92-4DEC-B86C-895F94AE8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2259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1087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531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986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因為是從</a:t>
            </a:r>
            <a:r>
              <a:rPr lang="en-US" altLang="zh-TW" dirty="0"/>
              <a:t>suffix=‘a’</a:t>
            </a:r>
            <a:r>
              <a:rPr lang="zh-TW" altLang="en-US" dirty="0"/>
              <a:t>的表格中繼承過來的，所以繼承過後他的</a:t>
            </a:r>
            <a:r>
              <a:rPr lang="en-US" altLang="zh-TW" dirty="0"/>
              <a:t>LCS</a:t>
            </a:r>
            <a:r>
              <a:rPr lang="zh-TW" altLang="en-US" dirty="0"/>
              <a:t>的</a:t>
            </a:r>
            <a:r>
              <a:rPr lang="en-US" altLang="zh-TW" dirty="0"/>
              <a:t>suffix</a:t>
            </a:r>
            <a:r>
              <a:rPr lang="zh-TW" altLang="en-US" dirty="0"/>
              <a:t>一樣是</a:t>
            </a:r>
            <a:r>
              <a:rPr lang="en-US" altLang="zh-TW" dirty="0"/>
              <a:t>’a’</a:t>
            </a:r>
            <a:r>
              <a:rPr lang="zh-TW" altLang="en-US" dirty="0"/>
              <a:t>，所以不需要再驗證他的</a:t>
            </a:r>
            <a:r>
              <a:rPr lang="en-US" altLang="zh-TW" dirty="0"/>
              <a:t>suffix</a:t>
            </a:r>
            <a:r>
              <a:rPr lang="zh-TW" altLang="en-US" dirty="0"/>
              <a:t>了。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9476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‘a’</a:t>
            </a:r>
            <a:r>
              <a:rPr lang="zh-TW" altLang="en-US" dirty="0"/>
              <a:t> </a:t>
            </a:r>
            <a:r>
              <a:rPr lang="en-US" altLang="zh-TW" dirty="0"/>
              <a:t>match </a:t>
            </a:r>
            <a:r>
              <a:rPr lang="zh-TW" altLang="en-US" dirty="0"/>
              <a:t>，這時候假設將</a:t>
            </a:r>
            <a:r>
              <a:rPr lang="en-US" altLang="zh-TW" dirty="0"/>
              <a:t>’a’</a:t>
            </a:r>
            <a:r>
              <a:rPr lang="zh-TW" altLang="en-US" dirty="0"/>
              <a:t>納入為解答的話，是否還能符合這個表格的條件</a:t>
            </a:r>
            <a:r>
              <a:rPr lang="en-US" altLang="zh-TW" dirty="0"/>
              <a:t>(k=0)</a:t>
            </a:r>
          </a:p>
          <a:p>
            <a:r>
              <a:rPr lang="zh-TW" altLang="en-US" dirty="0"/>
              <a:t>而從</a:t>
            </a:r>
            <a:r>
              <a:rPr lang="en-US" altLang="zh-TW" dirty="0"/>
              <a:t>3</a:t>
            </a:r>
            <a:r>
              <a:rPr lang="zh-TW" altLang="en-US" dirty="0"/>
              <a:t>個表格的做延伸發現沒有一個加完</a:t>
            </a:r>
            <a:r>
              <a:rPr lang="en-US" altLang="zh-TW" dirty="0"/>
              <a:t>’a’</a:t>
            </a:r>
            <a:r>
              <a:rPr lang="zh-TW" altLang="en-US" dirty="0"/>
              <a:t>後</a:t>
            </a:r>
            <a:r>
              <a:rPr lang="en-US" altLang="zh-TW" dirty="0"/>
              <a:t>k=0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076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‘a’</a:t>
            </a:r>
            <a:r>
              <a:rPr lang="zh-TW" altLang="en-US" dirty="0"/>
              <a:t> </a:t>
            </a:r>
            <a:r>
              <a:rPr lang="en-US" altLang="zh-TW" dirty="0"/>
              <a:t>match </a:t>
            </a:r>
            <a:r>
              <a:rPr lang="zh-TW" altLang="en-US" dirty="0"/>
              <a:t>，這時候假設將</a:t>
            </a:r>
            <a:r>
              <a:rPr lang="en-US" altLang="zh-TW" dirty="0"/>
              <a:t>’a’</a:t>
            </a:r>
            <a:r>
              <a:rPr lang="zh-TW" altLang="en-US" dirty="0"/>
              <a:t>納入為解答的話，是否還能符合這個表格的條件</a:t>
            </a:r>
            <a:r>
              <a:rPr lang="en-US" altLang="zh-TW" dirty="0"/>
              <a:t>(k=0)</a:t>
            </a:r>
          </a:p>
          <a:p>
            <a:r>
              <a:rPr lang="zh-TW" altLang="en-US" dirty="0"/>
              <a:t>而從</a:t>
            </a:r>
            <a:r>
              <a:rPr lang="en-US" altLang="zh-TW" dirty="0"/>
              <a:t>3</a:t>
            </a:r>
            <a:r>
              <a:rPr lang="zh-TW" altLang="en-US" dirty="0"/>
              <a:t>個表格的做延伸發現沒有一個加完</a:t>
            </a:r>
            <a:r>
              <a:rPr lang="en-US" altLang="zh-TW" dirty="0"/>
              <a:t>’a’</a:t>
            </a:r>
            <a:r>
              <a:rPr lang="zh-TW" altLang="en-US" dirty="0"/>
              <a:t>後</a:t>
            </a:r>
            <a:r>
              <a:rPr lang="en-US" altLang="zh-TW" dirty="0"/>
              <a:t>k=0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5313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‘a’</a:t>
            </a:r>
            <a:r>
              <a:rPr lang="zh-TW" altLang="en-US" dirty="0"/>
              <a:t> </a:t>
            </a:r>
            <a:r>
              <a:rPr lang="en-US" altLang="zh-TW" dirty="0"/>
              <a:t>match </a:t>
            </a:r>
            <a:r>
              <a:rPr lang="zh-TW" altLang="en-US" dirty="0"/>
              <a:t>，這時候假設將</a:t>
            </a:r>
            <a:r>
              <a:rPr lang="en-US" altLang="zh-TW" dirty="0"/>
              <a:t>’a’</a:t>
            </a:r>
            <a:r>
              <a:rPr lang="zh-TW" altLang="en-US" dirty="0"/>
              <a:t>納入為解答的話，是否還能符合這個表格的條件</a:t>
            </a:r>
            <a:r>
              <a:rPr lang="en-US" altLang="zh-TW" dirty="0"/>
              <a:t>(k=0)</a:t>
            </a:r>
          </a:p>
          <a:p>
            <a:r>
              <a:rPr lang="zh-TW" altLang="en-US" dirty="0"/>
              <a:t>而從</a:t>
            </a:r>
            <a:r>
              <a:rPr lang="en-US" altLang="zh-TW" dirty="0"/>
              <a:t>3</a:t>
            </a:r>
            <a:r>
              <a:rPr lang="zh-TW" altLang="en-US" dirty="0"/>
              <a:t>個表格的做延伸發現沒有一個加完</a:t>
            </a:r>
            <a:r>
              <a:rPr lang="en-US" altLang="zh-TW" dirty="0"/>
              <a:t>’a’</a:t>
            </a:r>
            <a:r>
              <a:rPr lang="zh-TW" altLang="en-US" dirty="0"/>
              <a:t>後</a:t>
            </a:r>
            <a:r>
              <a:rPr lang="en-US" altLang="zh-TW" dirty="0"/>
              <a:t>k=0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7005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‘a’</a:t>
            </a:r>
            <a:r>
              <a:rPr lang="zh-TW" altLang="en-US" dirty="0"/>
              <a:t> </a:t>
            </a:r>
            <a:r>
              <a:rPr lang="en-US" altLang="zh-TW" dirty="0"/>
              <a:t>match </a:t>
            </a:r>
            <a:r>
              <a:rPr lang="zh-TW" altLang="en-US" dirty="0"/>
              <a:t>，這時候假設將</a:t>
            </a:r>
            <a:r>
              <a:rPr lang="en-US" altLang="zh-TW" dirty="0"/>
              <a:t>’a’</a:t>
            </a:r>
            <a:r>
              <a:rPr lang="zh-TW" altLang="en-US" dirty="0"/>
              <a:t>納入為解答的話，是否還能符合這個表格的條件</a:t>
            </a:r>
            <a:r>
              <a:rPr lang="en-US" altLang="zh-TW" dirty="0"/>
              <a:t>(k=0)</a:t>
            </a:r>
          </a:p>
          <a:p>
            <a:r>
              <a:rPr lang="zh-TW" altLang="en-US" dirty="0"/>
              <a:t>而從</a:t>
            </a:r>
            <a:r>
              <a:rPr lang="en-US" altLang="zh-TW" dirty="0"/>
              <a:t>3</a:t>
            </a:r>
            <a:r>
              <a:rPr lang="zh-TW" altLang="en-US" dirty="0"/>
              <a:t>個表格的做延伸發現沒有一個加完</a:t>
            </a:r>
            <a:r>
              <a:rPr lang="en-US" altLang="zh-TW" dirty="0"/>
              <a:t>’a’</a:t>
            </a:r>
            <a:r>
              <a:rPr lang="zh-TW" altLang="en-US" dirty="0"/>
              <a:t>後</a:t>
            </a:r>
            <a:r>
              <a:rPr lang="en-US" altLang="zh-TW" dirty="0"/>
              <a:t>k=0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261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‘a’</a:t>
            </a:r>
            <a:r>
              <a:rPr lang="zh-TW" altLang="en-US" dirty="0"/>
              <a:t> </a:t>
            </a:r>
            <a:r>
              <a:rPr lang="en-US" altLang="zh-TW" dirty="0"/>
              <a:t>match </a:t>
            </a:r>
            <a:r>
              <a:rPr lang="zh-TW" altLang="en-US" dirty="0"/>
              <a:t>，這時候假設將</a:t>
            </a:r>
            <a:r>
              <a:rPr lang="en-US" altLang="zh-TW" dirty="0"/>
              <a:t>’a’</a:t>
            </a:r>
            <a:r>
              <a:rPr lang="zh-TW" altLang="en-US" dirty="0"/>
              <a:t>納入為解答的話，是否還能符合這個表格的條件</a:t>
            </a:r>
            <a:r>
              <a:rPr lang="en-US" altLang="zh-TW" dirty="0"/>
              <a:t>(k=0)</a:t>
            </a:r>
          </a:p>
          <a:p>
            <a:r>
              <a:rPr lang="zh-TW" altLang="en-US" dirty="0"/>
              <a:t>而從</a:t>
            </a:r>
            <a:r>
              <a:rPr lang="en-US" altLang="zh-TW" dirty="0"/>
              <a:t>3</a:t>
            </a:r>
            <a:r>
              <a:rPr lang="zh-TW" altLang="en-US" dirty="0"/>
              <a:t>個表格的做延伸發現沒有一個加完</a:t>
            </a:r>
            <a:r>
              <a:rPr lang="en-US" altLang="zh-TW" dirty="0"/>
              <a:t>’a’</a:t>
            </a:r>
            <a:r>
              <a:rPr lang="zh-TW" altLang="en-US" dirty="0"/>
              <a:t>後</a:t>
            </a:r>
            <a:r>
              <a:rPr lang="en-US" altLang="zh-TW" dirty="0"/>
              <a:t>k=0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4369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‘a’</a:t>
            </a:r>
            <a:r>
              <a:rPr lang="zh-TW" altLang="en-US" dirty="0"/>
              <a:t> </a:t>
            </a:r>
            <a:r>
              <a:rPr lang="en-US" altLang="zh-TW" dirty="0"/>
              <a:t>match </a:t>
            </a:r>
            <a:r>
              <a:rPr lang="zh-TW" altLang="en-US" dirty="0"/>
              <a:t>，這時候假設將</a:t>
            </a:r>
            <a:r>
              <a:rPr lang="en-US" altLang="zh-TW" dirty="0"/>
              <a:t>’a’</a:t>
            </a:r>
            <a:r>
              <a:rPr lang="zh-TW" altLang="en-US" dirty="0"/>
              <a:t>納入為解答的話，是否還能符合這個表格的條件</a:t>
            </a:r>
            <a:r>
              <a:rPr lang="en-US" altLang="zh-TW" dirty="0"/>
              <a:t>(k=0)</a:t>
            </a:r>
          </a:p>
          <a:p>
            <a:r>
              <a:rPr lang="zh-TW" altLang="en-US" dirty="0"/>
              <a:t>而從</a:t>
            </a:r>
            <a:r>
              <a:rPr lang="en-US" altLang="zh-TW" dirty="0"/>
              <a:t>3</a:t>
            </a:r>
            <a:r>
              <a:rPr lang="zh-TW" altLang="en-US" dirty="0"/>
              <a:t>個表格的做延伸發現沒有一個加完</a:t>
            </a:r>
            <a:r>
              <a:rPr lang="en-US" altLang="zh-TW" dirty="0"/>
              <a:t>’a’</a:t>
            </a:r>
            <a:r>
              <a:rPr lang="zh-TW" altLang="en-US" dirty="0"/>
              <a:t>後</a:t>
            </a:r>
            <a:r>
              <a:rPr lang="en-US" altLang="zh-TW" dirty="0"/>
              <a:t>k=0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7697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‘a’</a:t>
            </a:r>
            <a:r>
              <a:rPr lang="zh-TW" altLang="en-US" dirty="0"/>
              <a:t> </a:t>
            </a:r>
            <a:r>
              <a:rPr lang="en-US" altLang="zh-TW" dirty="0"/>
              <a:t>match </a:t>
            </a:r>
            <a:r>
              <a:rPr lang="zh-TW" altLang="en-US" dirty="0"/>
              <a:t>，這時候假設將</a:t>
            </a:r>
            <a:r>
              <a:rPr lang="en-US" altLang="zh-TW" dirty="0"/>
              <a:t>’a’</a:t>
            </a:r>
            <a:r>
              <a:rPr lang="zh-TW" altLang="en-US" dirty="0"/>
              <a:t>納入為解答的話，是否還能符合這個表格的條件</a:t>
            </a:r>
            <a:r>
              <a:rPr lang="en-US" altLang="zh-TW" dirty="0"/>
              <a:t>(k=0)</a:t>
            </a:r>
          </a:p>
          <a:p>
            <a:r>
              <a:rPr lang="zh-TW" altLang="en-US" dirty="0"/>
              <a:t>而從</a:t>
            </a:r>
            <a:r>
              <a:rPr lang="en-US" altLang="zh-TW" dirty="0"/>
              <a:t>3</a:t>
            </a:r>
            <a:r>
              <a:rPr lang="zh-TW" altLang="en-US" dirty="0"/>
              <a:t>個表格的做延伸發現沒有一個加完</a:t>
            </a:r>
            <a:r>
              <a:rPr lang="en-US" altLang="zh-TW" dirty="0"/>
              <a:t>’a’</a:t>
            </a:r>
            <a:r>
              <a:rPr lang="zh-TW" altLang="en-US" dirty="0"/>
              <a:t>後</a:t>
            </a:r>
            <a:r>
              <a:rPr lang="en-US" altLang="zh-TW" dirty="0"/>
              <a:t>k=0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990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‘a’</a:t>
            </a:r>
            <a:r>
              <a:rPr lang="zh-TW" altLang="en-US" dirty="0"/>
              <a:t> </a:t>
            </a:r>
            <a:r>
              <a:rPr lang="en-US" altLang="zh-TW" dirty="0"/>
              <a:t>match </a:t>
            </a:r>
            <a:r>
              <a:rPr lang="zh-TW" altLang="en-US" dirty="0"/>
              <a:t>，這時候假設將</a:t>
            </a:r>
            <a:r>
              <a:rPr lang="en-US" altLang="zh-TW" dirty="0"/>
              <a:t>’a’</a:t>
            </a:r>
            <a:r>
              <a:rPr lang="zh-TW" altLang="en-US" dirty="0"/>
              <a:t>納入為解答的話，是否還能符合這個表格的條件</a:t>
            </a:r>
            <a:r>
              <a:rPr lang="en-US" altLang="zh-TW" dirty="0"/>
              <a:t>(k=0)</a:t>
            </a:r>
          </a:p>
          <a:p>
            <a:r>
              <a:rPr lang="zh-TW" altLang="en-US" dirty="0"/>
              <a:t>而從</a:t>
            </a:r>
            <a:r>
              <a:rPr lang="en-US" altLang="zh-TW" dirty="0"/>
              <a:t>3</a:t>
            </a:r>
            <a:r>
              <a:rPr lang="zh-TW" altLang="en-US" dirty="0"/>
              <a:t>個表格的做延伸發現沒有一個加完</a:t>
            </a:r>
            <a:r>
              <a:rPr lang="en-US" altLang="zh-TW" dirty="0"/>
              <a:t>’a’</a:t>
            </a:r>
            <a:r>
              <a:rPr lang="zh-TW" altLang="en-US" dirty="0"/>
              <a:t>後</a:t>
            </a:r>
            <a:r>
              <a:rPr lang="en-US" altLang="zh-TW" dirty="0"/>
              <a:t>k=0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5907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‘a’</a:t>
            </a:r>
            <a:r>
              <a:rPr lang="zh-TW" altLang="en-US" dirty="0"/>
              <a:t> </a:t>
            </a:r>
            <a:r>
              <a:rPr lang="en-US" altLang="zh-TW" dirty="0"/>
              <a:t>match </a:t>
            </a:r>
            <a:r>
              <a:rPr lang="zh-TW" altLang="en-US" dirty="0"/>
              <a:t>，這時候假設將</a:t>
            </a:r>
            <a:r>
              <a:rPr lang="en-US" altLang="zh-TW" dirty="0"/>
              <a:t>’a’</a:t>
            </a:r>
            <a:r>
              <a:rPr lang="zh-TW" altLang="en-US" dirty="0"/>
              <a:t>納入為解答的話，是否還能符合這個表格的條件</a:t>
            </a:r>
            <a:r>
              <a:rPr lang="en-US" altLang="zh-TW" dirty="0"/>
              <a:t>(k=0)</a:t>
            </a:r>
          </a:p>
          <a:p>
            <a:r>
              <a:rPr lang="zh-TW" altLang="en-US" dirty="0"/>
              <a:t>而從</a:t>
            </a:r>
            <a:r>
              <a:rPr lang="en-US" altLang="zh-TW" dirty="0"/>
              <a:t>3</a:t>
            </a:r>
            <a:r>
              <a:rPr lang="zh-TW" altLang="en-US" dirty="0"/>
              <a:t>個表格的做延伸發現沒有一個加完</a:t>
            </a:r>
            <a:r>
              <a:rPr lang="en-US" altLang="zh-TW" dirty="0"/>
              <a:t>’a’</a:t>
            </a:r>
            <a:r>
              <a:rPr lang="zh-TW" altLang="en-US" dirty="0"/>
              <a:t>後</a:t>
            </a:r>
            <a:r>
              <a:rPr lang="en-US" altLang="zh-TW" dirty="0"/>
              <a:t>k=0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957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‘a’</a:t>
            </a:r>
            <a:r>
              <a:rPr lang="zh-TW" altLang="en-US" dirty="0"/>
              <a:t> </a:t>
            </a:r>
            <a:r>
              <a:rPr lang="en-US" altLang="zh-TW" dirty="0"/>
              <a:t>match </a:t>
            </a:r>
            <a:r>
              <a:rPr lang="zh-TW" altLang="en-US" dirty="0"/>
              <a:t>，這時候假設將</a:t>
            </a:r>
            <a:r>
              <a:rPr lang="en-US" altLang="zh-TW" dirty="0"/>
              <a:t>’a’</a:t>
            </a:r>
            <a:r>
              <a:rPr lang="zh-TW" altLang="en-US" dirty="0"/>
              <a:t>納入為解答的話，是否還能符合這個表格的條件</a:t>
            </a:r>
            <a:r>
              <a:rPr lang="en-US" altLang="zh-TW" dirty="0"/>
              <a:t>(k=0)</a:t>
            </a:r>
          </a:p>
          <a:p>
            <a:r>
              <a:rPr lang="zh-TW" altLang="en-US" dirty="0"/>
              <a:t>而從</a:t>
            </a:r>
            <a:r>
              <a:rPr lang="en-US" altLang="zh-TW" dirty="0"/>
              <a:t>3</a:t>
            </a:r>
            <a:r>
              <a:rPr lang="zh-TW" altLang="en-US" dirty="0"/>
              <a:t>個表格的做延伸發現沒有一個加完</a:t>
            </a:r>
            <a:r>
              <a:rPr lang="en-US" altLang="zh-TW" dirty="0"/>
              <a:t>’a’</a:t>
            </a:r>
            <a:r>
              <a:rPr lang="zh-TW" altLang="en-US" dirty="0"/>
              <a:t>後</a:t>
            </a:r>
            <a:r>
              <a:rPr lang="en-US" altLang="zh-TW" dirty="0"/>
              <a:t>k=0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2516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‘a’</a:t>
            </a:r>
            <a:r>
              <a:rPr lang="zh-TW" altLang="en-US" dirty="0"/>
              <a:t> </a:t>
            </a:r>
            <a:r>
              <a:rPr lang="en-US" altLang="zh-TW" dirty="0"/>
              <a:t>match </a:t>
            </a:r>
            <a:r>
              <a:rPr lang="zh-TW" altLang="en-US" dirty="0"/>
              <a:t>，這時候假設將</a:t>
            </a:r>
            <a:r>
              <a:rPr lang="en-US" altLang="zh-TW" dirty="0"/>
              <a:t>’a’</a:t>
            </a:r>
            <a:r>
              <a:rPr lang="zh-TW" altLang="en-US" dirty="0"/>
              <a:t>納入為解答的話，是否還能符合這個表格的條件</a:t>
            </a:r>
            <a:r>
              <a:rPr lang="en-US" altLang="zh-TW" dirty="0"/>
              <a:t>(k=0)</a:t>
            </a:r>
          </a:p>
          <a:p>
            <a:r>
              <a:rPr lang="zh-TW" altLang="en-US" dirty="0"/>
              <a:t>而從</a:t>
            </a:r>
            <a:r>
              <a:rPr lang="en-US" altLang="zh-TW" dirty="0"/>
              <a:t>3</a:t>
            </a:r>
            <a:r>
              <a:rPr lang="zh-TW" altLang="en-US" dirty="0"/>
              <a:t>個表格的做延伸發現沒有一個加完</a:t>
            </a:r>
            <a:r>
              <a:rPr lang="en-US" altLang="zh-TW" dirty="0"/>
              <a:t>’a’</a:t>
            </a:r>
            <a:r>
              <a:rPr lang="zh-TW" altLang="en-US" dirty="0"/>
              <a:t>後</a:t>
            </a:r>
            <a:r>
              <a:rPr lang="en-US" altLang="zh-TW" dirty="0"/>
              <a:t>k=0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3391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‘a’</a:t>
            </a:r>
            <a:r>
              <a:rPr lang="zh-TW" altLang="en-US" dirty="0"/>
              <a:t> </a:t>
            </a:r>
            <a:r>
              <a:rPr lang="en-US" altLang="zh-TW" dirty="0"/>
              <a:t>match </a:t>
            </a:r>
            <a:r>
              <a:rPr lang="zh-TW" altLang="en-US" dirty="0"/>
              <a:t>，這時候假設將</a:t>
            </a:r>
            <a:r>
              <a:rPr lang="en-US" altLang="zh-TW" dirty="0"/>
              <a:t>’a’</a:t>
            </a:r>
            <a:r>
              <a:rPr lang="zh-TW" altLang="en-US" dirty="0"/>
              <a:t>納入為解答的話，是否還能符合這個表格的條件</a:t>
            </a:r>
            <a:r>
              <a:rPr lang="en-US" altLang="zh-TW" dirty="0"/>
              <a:t>(k=0)</a:t>
            </a:r>
          </a:p>
          <a:p>
            <a:r>
              <a:rPr lang="zh-TW" altLang="en-US" dirty="0"/>
              <a:t>而從</a:t>
            </a:r>
            <a:r>
              <a:rPr lang="en-US" altLang="zh-TW" dirty="0"/>
              <a:t>3</a:t>
            </a:r>
            <a:r>
              <a:rPr lang="zh-TW" altLang="en-US" dirty="0"/>
              <a:t>個表格的做延伸發現沒有一個加完</a:t>
            </a:r>
            <a:r>
              <a:rPr lang="en-US" altLang="zh-TW" dirty="0"/>
              <a:t>’a’</a:t>
            </a:r>
            <a:r>
              <a:rPr lang="zh-TW" altLang="en-US" dirty="0"/>
              <a:t>後</a:t>
            </a:r>
            <a:r>
              <a:rPr lang="en-US" altLang="zh-TW" dirty="0"/>
              <a:t>k=0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44451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‘a’</a:t>
            </a:r>
            <a:r>
              <a:rPr lang="zh-TW" altLang="en-US" dirty="0"/>
              <a:t> </a:t>
            </a:r>
            <a:r>
              <a:rPr lang="en-US" altLang="zh-TW" dirty="0"/>
              <a:t>match </a:t>
            </a:r>
            <a:r>
              <a:rPr lang="zh-TW" altLang="en-US" dirty="0"/>
              <a:t>，這時候假設將</a:t>
            </a:r>
            <a:r>
              <a:rPr lang="en-US" altLang="zh-TW" dirty="0"/>
              <a:t>’a’</a:t>
            </a:r>
            <a:r>
              <a:rPr lang="zh-TW" altLang="en-US" dirty="0"/>
              <a:t>納入為解答的話，是否還能符合這個表格的條件</a:t>
            </a:r>
            <a:r>
              <a:rPr lang="en-US" altLang="zh-TW" dirty="0"/>
              <a:t>(k=0)</a:t>
            </a:r>
          </a:p>
          <a:p>
            <a:r>
              <a:rPr lang="zh-TW" altLang="en-US" dirty="0"/>
              <a:t>而從</a:t>
            </a:r>
            <a:r>
              <a:rPr lang="en-US" altLang="zh-TW" dirty="0"/>
              <a:t>3</a:t>
            </a:r>
            <a:r>
              <a:rPr lang="zh-TW" altLang="en-US" dirty="0"/>
              <a:t>個表格的做延伸發現沒有一個加完</a:t>
            </a:r>
            <a:r>
              <a:rPr lang="en-US" altLang="zh-TW" dirty="0"/>
              <a:t>’a’</a:t>
            </a:r>
            <a:r>
              <a:rPr lang="zh-TW" altLang="en-US" dirty="0"/>
              <a:t>後</a:t>
            </a:r>
            <a:r>
              <a:rPr lang="en-US" altLang="zh-TW" dirty="0"/>
              <a:t>k=0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26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6565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08339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84723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9114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87089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14726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7915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BBA4A-CA92-4DEC-B86C-895F94AE8C90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4794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2E92E-D400-431B-A996-7050892BB902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1E03-EAC7-42DA-ABBC-BEC2E5AFD2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8846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2E92E-D400-431B-A996-7050892BB902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1E03-EAC7-42DA-ABBC-BEC2E5AFD2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451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2E92E-D400-431B-A996-7050892BB902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1E03-EAC7-42DA-ABBC-BEC2E5AFD2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8903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2E92E-D400-431B-A996-7050892BB902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1E03-EAC7-42DA-ABBC-BEC2E5AFD2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401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2E92E-D400-431B-A996-7050892BB902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1E03-EAC7-42DA-ABBC-BEC2E5AFD2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72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2E92E-D400-431B-A996-7050892BB902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1E03-EAC7-42DA-ABBC-BEC2E5AFD2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47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2E92E-D400-431B-A996-7050892BB902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1E03-EAC7-42DA-ABBC-BEC2E5AFD2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7028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2E92E-D400-431B-A996-7050892BB902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1E03-EAC7-42DA-ABBC-BEC2E5AFD2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494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2E92E-D400-431B-A996-7050892BB902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1E03-EAC7-42DA-ABBC-BEC2E5AFD2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806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2E92E-D400-431B-A996-7050892BB902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1E03-EAC7-42DA-ABBC-BEC2E5AFD2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159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2E92E-D400-431B-A996-7050892BB902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11E03-EAC7-42DA-ABBC-BEC2E5AFD2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9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2E92E-D400-431B-A996-7050892BB902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11E03-EAC7-42DA-ABBC-BEC2E5AFD2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39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dynamic programming solution to a generalized LCS problem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859733"/>
            <a:ext cx="9144000" cy="91177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 Wang,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Xiaodong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 , Yingjie Wu,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Daxin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Zhu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113 (2013) 723-728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8883004" y="5876925"/>
            <a:ext cx="26463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EN-AN SONG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June 10, 2020</a:t>
            </a:r>
          </a:p>
        </p:txBody>
      </p:sp>
    </p:spTree>
    <p:extLst>
      <p:ext uri="{BB962C8B-B14F-4D97-AF65-F5344CB8AC3E}">
        <p14:creationId xmlns:p14="http://schemas.microsoft.com/office/powerpoint/2010/main" val="1004290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consider a generalized longest common subsequence problem, the string-excluding constrained LCS problem. For the two input sequences X and Y of lengths n and m, and a constraint string P of length r, the problem is to find a common subsequence Z of X and Y excluding P as a substring and the length of Z is maximized. The problem and its solution were first proposed by Chen and Chao (2011) [1], but we found that their algorithm cannot solve the problem correctly. A new dynamic programming solution for the STR-EC-LCS problem is then presented in this paper. The correctness of the new algorithm is proved. The time complexity of the new algorithm is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844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String-Exclusion-LCS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ababba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ababaa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aba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LCS(X,Y)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STR-EC-LCS(X,Y,P)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28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String-Exclusion-LCS</a:t>
            </a:r>
            <a:endParaRPr lang="zh-TW" alt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44B8ED5E-0126-4D1C-901E-B6C9EF808A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420676"/>
              </p:ext>
            </p:extLst>
          </p:nvPr>
        </p:nvGraphicFramePr>
        <p:xfrm>
          <a:off x="1082040" y="1690688"/>
          <a:ext cx="2651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14855940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361535353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38188938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4023449800"/>
                    </a:ext>
                  </a:extLst>
                </a:gridCol>
              </a:tblGrid>
              <a:tr h="3313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370357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363091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m-1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978847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479623"/>
                  </a:ext>
                </a:extLst>
              </a:tr>
            </a:tbl>
          </a:graphicData>
        </a:graphic>
      </p:graphicFrame>
      <p:graphicFrame>
        <p:nvGraphicFramePr>
          <p:cNvPr id="8" name="表格 6">
            <a:extLst>
              <a:ext uri="{FF2B5EF4-FFF2-40B4-BE49-F238E27FC236}">
                <a16:creationId xmlns:a16="http://schemas.microsoft.com/office/drawing/2014/main" id="{6C31763A-3DD1-45ED-8192-64E1E9C005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6961974"/>
              </p:ext>
            </p:extLst>
          </p:nvPr>
        </p:nvGraphicFramePr>
        <p:xfrm>
          <a:off x="1082040" y="3321368"/>
          <a:ext cx="2651760" cy="1463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14855940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361535353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38188938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4023449800"/>
                    </a:ext>
                  </a:extLst>
                </a:gridCol>
              </a:tblGrid>
              <a:tr h="36599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370357"/>
                  </a:ext>
                </a:extLst>
              </a:tr>
              <a:tr h="36599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363091"/>
                  </a:ext>
                </a:extLst>
              </a:tr>
              <a:tr h="36599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m-1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978847"/>
                  </a:ext>
                </a:extLst>
              </a:tr>
              <a:tr h="36599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479623"/>
                  </a:ext>
                </a:extLst>
              </a:tr>
            </a:tbl>
          </a:graphicData>
        </a:graphic>
      </p:graphicFrame>
      <p:graphicFrame>
        <p:nvGraphicFramePr>
          <p:cNvPr id="9" name="表格 6">
            <a:extLst>
              <a:ext uri="{FF2B5EF4-FFF2-40B4-BE49-F238E27FC236}">
                <a16:creationId xmlns:a16="http://schemas.microsoft.com/office/drawing/2014/main" id="{871DA041-5565-4ED6-B10D-0B7E3E06EE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4193133"/>
              </p:ext>
            </p:extLst>
          </p:nvPr>
        </p:nvGraphicFramePr>
        <p:xfrm>
          <a:off x="1082040" y="4981576"/>
          <a:ext cx="2651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14855940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361535353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38188938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4023449800"/>
                    </a:ext>
                  </a:extLst>
                </a:gridCol>
              </a:tblGrid>
              <a:tr h="3313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TW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370357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363091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m-1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978847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479623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F27A808A-82E3-4959-B1EE-048E098568FF}"/>
              </a:ext>
            </a:extLst>
          </p:cNvPr>
          <p:cNvSpPr/>
          <p:nvPr/>
        </p:nvSpPr>
        <p:spPr>
          <a:xfrm>
            <a:off x="1737360" y="2051368"/>
            <a:ext cx="1996440" cy="10880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AB8587-5E49-4044-B72E-21ABDEEF798B}"/>
              </a:ext>
            </a:extLst>
          </p:cNvPr>
          <p:cNvSpPr/>
          <p:nvPr/>
        </p:nvSpPr>
        <p:spPr>
          <a:xfrm>
            <a:off x="1737360" y="3702368"/>
            <a:ext cx="1996440" cy="1051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478AEC-446A-49A3-9E8C-C58D928C392E}"/>
              </a:ext>
            </a:extLst>
          </p:cNvPr>
          <p:cNvSpPr/>
          <p:nvPr/>
        </p:nvSpPr>
        <p:spPr>
          <a:xfrm>
            <a:off x="1737360" y="5379403"/>
            <a:ext cx="1996440" cy="10515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6B499BC8-1656-4DF4-98BB-A27FE1ACC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995334"/>
              </p:ext>
            </p:extLst>
          </p:nvPr>
        </p:nvGraphicFramePr>
        <p:xfrm>
          <a:off x="4389120" y="2051368"/>
          <a:ext cx="3032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190">
                  <a:extLst>
                    <a:ext uri="{9D8B030D-6E8A-4147-A177-3AD203B41FA5}">
                      <a16:colId xmlns:a16="http://schemas.microsoft.com/office/drawing/2014/main" val="1601462295"/>
                    </a:ext>
                  </a:extLst>
                </a:gridCol>
                <a:gridCol w="758190">
                  <a:extLst>
                    <a:ext uri="{9D8B030D-6E8A-4147-A177-3AD203B41FA5}">
                      <a16:colId xmlns:a16="http://schemas.microsoft.com/office/drawing/2014/main" val="1100676869"/>
                    </a:ext>
                  </a:extLst>
                </a:gridCol>
                <a:gridCol w="758190">
                  <a:extLst>
                    <a:ext uri="{9D8B030D-6E8A-4147-A177-3AD203B41FA5}">
                      <a16:colId xmlns:a16="http://schemas.microsoft.com/office/drawing/2014/main" val="2229165454"/>
                    </a:ext>
                  </a:extLst>
                </a:gridCol>
                <a:gridCol w="758190">
                  <a:extLst>
                    <a:ext uri="{9D8B030D-6E8A-4147-A177-3AD203B41FA5}">
                      <a16:colId xmlns:a16="http://schemas.microsoft.com/office/drawing/2014/main" val="3526890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….….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891432"/>
                  </a:ext>
                </a:extLst>
              </a:tr>
            </a:tbl>
          </a:graphicData>
        </a:graphic>
      </p:graphicFrame>
      <p:graphicFrame>
        <p:nvGraphicFramePr>
          <p:cNvPr id="16" name="表格 14">
            <a:extLst>
              <a:ext uri="{FF2B5EF4-FFF2-40B4-BE49-F238E27FC236}">
                <a16:creationId xmlns:a16="http://schemas.microsoft.com/office/drawing/2014/main" id="{8B863B55-3F21-4A7D-BC3E-D32F085BD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485469"/>
              </p:ext>
            </p:extLst>
          </p:nvPr>
        </p:nvGraphicFramePr>
        <p:xfrm>
          <a:off x="7421880" y="2597468"/>
          <a:ext cx="22745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190">
                  <a:extLst>
                    <a:ext uri="{9D8B030D-6E8A-4147-A177-3AD203B41FA5}">
                      <a16:colId xmlns:a16="http://schemas.microsoft.com/office/drawing/2014/main" val="1601462295"/>
                    </a:ext>
                  </a:extLst>
                </a:gridCol>
                <a:gridCol w="758190">
                  <a:extLst>
                    <a:ext uri="{9D8B030D-6E8A-4147-A177-3AD203B41FA5}">
                      <a16:colId xmlns:a16="http://schemas.microsoft.com/office/drawing/2014/main" val="1100676869"/>
                    </a:ext>
                  </a:extLst>
                </a:gridCol>
                <a:gridCol w="758190">
                  <a:extLst>
                    <a:ext uri="{9D8B030D-6E8A-4147-A177-3AD203B41FA5}">
                      <a16:colId xmlns:a16="http://schemas.microsoft.com/office/drawing/2014/main" val="2229165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891432"/>
                  </a:ext>
                </a:extLst>
              </a:tr>
            </a:tbl>
          </a:graphicData>
        </a:graphic>
      </p:graphicFrame>
      <p:graphicFrame>
        <p:nvGraphicFramePr>
          <p:cNvPr id="17" name="表格 14">
            <a:extLst>
              <a:ext uri="{FF2B5EF4-FFF2-40B4-BE49-F238E27FC236}">
                <a16:creationId xmlns:a16="http://schemas.microsoft.com/office/drawing/2014/main" id="{89EEE014-FFB0-4FA0-9B30-BB6034502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421287"/>
              </p:ext>
            </p:extLst>
          </p:nvPr>
        </p:nvGraphicFramePr>
        <p:xfrm>
          <a:off x="4389120" y="3717608"/>
          <a:ext cx="38557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144">
                  <a:extLst>
                    <a:ext uri="{9D8B030D-6E8A-4147-A177-3AD203B41FA5}">
                      <a16:colId xmlns:a16="http://schemas.microsoft.com/office/drawing/2014/main" val="1601462295"/>
                    </a:ext>
                  </a:extLst>
                </a:gridCol>
                <a:gridCol w="771144">
                  <a:extLst>
                    <a:ext uri="{9D8B030D-6E8A-4147-A177-3AD203B41FA5}">
                      <a16:colId xmlns:a16="http://schemas.microsoft.com/office/drawing/2014/main" val="1100676869"/>
                    </a:ext>
                  </a:extLst>
                </a:gridCol>
                <a:gridCol w="771144">
                  <a:extLst>
                    <a:ext uri="{9D8B030D-6E8A-4147-A177-3AD203B41FA5}">
                      <a16:colId xmlns:a16="http://schemas.microsoft.com/office/drawing/2014/main" val="2229165454"/>
                    </a:ext>
                  </a:extLst>
                </a:gridCol>
                <a:gridCol w="771144">
                  <a:extLst>
                    <a:ext uri="{9D8B030D-6E8A-4147-A177-3AD203B41FA5}">
                      <a16:colId xmlns:a16="http://schemas.microsoft.com/office/drawing/2014/main" val="1661231278"/>
                    </a:ext>
                  </a:extLst>
                </a:gridCol>
                <a:gridCol w="771144">
                  <a:extLst>
                    <a:ext uri="{9D8B030D-6E8A-4147-A177-3AD203B41FA5}">
                      <a16:colId xmlns:a16="http://schemas.microsoft.com/office/drawing/2014/main" val="3526890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….….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t-1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891432"/>
                  </a:ext>
                </a:extLst>
              </a:tr>
            </a:tbl>
          </a:graphicData>
        </a:graphic>
      </p:graphicFrame>
      <p:graphicFrame>
        <p:nvGraphicFramePr>
          <p:cNvPr id="18" name="表格 14">
            <a:extLst>
              <a:ext uri="{FF2B5EF4-FFF2-40B4-BE49-F238E27FC236}">
                <a16:creationId xmlns:a16="http://schemas.microsoft.com/office/drawing/2014/main" id="{ED09F13E-D3A3-4B25-8018-C5DE88499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429089"/>
              </p:ext>
            </p:extLst>
          </p:nvPr>
        </p:nvGraphicFramePr>
        <p:xfrm>
          <a:off x="7486650" y="4263708"/>
          <a:ext cx="22745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190">
                  <a:extLst>
                    <a:ext uri="{9D8B030D-6E8A-4147-A177-3AD203B41FA5}">
                      <a16:colId xmlns:a16="http://schemas.microsoft.com/office/drawing/2014/main" val="1601462295"/>
                    </a:ext>
                  </a:extLst>
                </a:gridCol>
                <a:gridCol w="758190">
                  <a:extLst>
                    <a:ext uri="{9D8B030D-6E8A-4147-A177-3AD203B41FA5}">
                      <a16:colId xmlns:a16="http://schemas.microsoft.com/office/drawing/2014/main" val="1100676869"/>
                    </a:ext>
                  </a:extLst>
                </a:gridCol>
                <a:gridCol w="758190">
                  <a:extLst>
                    <a:ext uri="{9D8B030D-6E8A-4147-A177-3AD203B41FA5}">
                      <a16:colId xmlns:a16="http://schemas.microsoft.com/office/drawing/2014/main" val="2229165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891432"/>
                  </a:ext>
                </a:extLst>
              </a:tr>
            </a:tbl>
          </a:graphicData>
        </a:graphic>
      </p:graphicFrame>
      <p:graphicFrame>
        <p:nvGraphicFramePr>
          <p:cNvPr id="19" name="表格 14">
            <a:extLst>
              <a:ext uri="{FF2B5EF4-FFF2-40B4-BE49-F238E27FC236}">
                <a16:creationId xmlns:a16="http://schemas.microsoft.com/office/drawing/2014/main" id="{0494C9F4-4B3A-4B75-8E59-999C139FE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821"/>
              </p:ext>
            </p:extLst>
          </p:nvPr>
        </p:nvGraphicFramePr>
        <p:xfrm>
          <a:off x="4389120" y="5379403"/>
          <a:ext cx="4648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700">
                  <a:extLst>
                    <a:ext uri="{9D8B030D-6E8A-4147-A177-3AD203B41FA5}">
                      <a16:colId xmlns:a16="http://schemas.microsoft.com/office/drawing/2014/main" val="1601462295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100676869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229165454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4189120439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661231278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3526890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….….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TW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t-2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891432"/>
                  </a:ext>
                </a:extLst>
              </a:tr>
            </a:tbl>
          </a:graphicData>
        </a:graphic>
      </p:graphicFrame>
      <p:graphicFrame>
        <p:nvGraphicFramePr>
          <p:cNvPr id="20" name="表格 14">
            <a:extLst>
              <a:ext uri="{FF2B5EF4-FFF2-40B4-BE49-F238E27FC236}">
                <a16:creationId xmlns:a16="http://schemas.microsoft.com/office/drawing/2014/main" id="{E5127F1D-7189-438B-8537-2ECBCABFF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142800"/>
              </p:ext>
            </p:extLst>
          </p:nvPr>
        </p:nvGraphicFramePr>
        <p:xfrm>
          <a:off x="7486650" y="5925503"/>
          <a:ext cx="22745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190">
                  <a:extLst>
                    <a:ext uri="{9D8B030D-6E8A-4147-A177-3AD203B41FA5}">
                      <a16:colId xmlns:a16="http://schemas.microsoft.com/office/drawing/2014/main" val="1601462295"/>
                    </a:ext>
                  </a:extLst>
                </a:gridCol>
                <a:gridCol w="758190">
                  <a:extLst>
                    <a:ext uri="{9D8B030D-6E8A-4147-A177-3AD203B41FA5}">
                      <a16:colId xmlns:a16="http://schemas.microsoft.com/office/drawing/2014/main" val="1100676869"/>
                    </a:ext>
                  </a:extLst>
                </a:gridCol>
                <a:gridCol w="758190">
                  <a:extLst>
                    <a:ext uri="{9D8B030D-6E8A-4147-A177-3AD203B41FA5}">
                      <a16:colId xmlns:a16="http://schemas.microsoft.com/office/drawing/2014/main" val="22291654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891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085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082146"/>
              </p:ext>
            </p:extLst>
          </p:nvPr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571289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186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947714"/>
              </p:ext>
            </p:extLst>
          </p:nvPr>
        </p:nvGraphicFramePr>
        <p:xfrm>
          <a:off x="4571289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5663398" y="2271252"/>
            <a:ext cx="0" cy="235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5309419" y="2605548"/>
            <a:ext cx="2753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803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505105"/>
              </p:ext>
            </p:extLst>
          </p:nvPr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5683"/>
              </p:ext>
            </p:extLst>
          </p:nvPr>
        </p:nvGraphicFramePr>
        <p:xfrm>
          <a:off x="4571289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4870909" y="5509997"/>
          <a:ext cx="113584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5663398" y="5987988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右大括弧 23"/>
          <p:cNvSpPr/>
          <p:nvPr/>
        </p:nvSpPr>
        <p:spPr>
          <a:xfrm>
            <a:off x="6890558" y="5509997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25" name="矩形 24"/>
          <p:cNvSpPr/>
          <p:nvPr/>
        </p:nvSpPr>
        <p:spPr>
          <a:xfrm>
            <a:off x="7162801" y="5792363"/>
            <a:ext cx="5549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1</a:t>
            </a:r>
          </a:p>
        </p:txBody>
      </p:sp>
      <p:cxnSp>
        <p:nvCxnSpPr>
          <p:cNvPr id="36" name="直線單箭頭接點 35"/>
          <p:cNvCxnSpPr/>
          <p:nvPr/>
        </p:nvCxnSpPr>
        <p:spPr>
          <a:xfrm>
            <a:off x="1606609" y="2238998"/>
            <a:ext cx="3939612" cy="50420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5289847" y="2238998"/>
            <a:ext cx="256374" cy="26822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H="1">
            <a:off x="5776957" y="2153540"/>
            <a:ext cx="2999575" cy="44669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表格 48"/>
          <p:cNvGraphicFramePr>
            <a:graphicFrameLocks noGrp="1"/>
          </p:cNvGraphicFramePr>
          <p:nvPr/>
        </p:nvGraphicFramePr>
        <p:xfrm>
          <a:off x="1433014" y="5509997"/>
          <a:ext cx="75722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/>
        </p:nvGraphicFramePr>
        <p:xfrm>
          <a:off x="1827272" y="5972849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右大括弧 50"/>
          <p:cNvSpPr/>
          <p:nvPr/>
        </p:nvSpPr>
        <p:spPr>
          <a:xfrm>
            <a:off x="3097647" y="5491148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52" name="矩形 51"/>
          <p:cNvSpPr/>
          <p:nvPr/>
        </p:nvSpPr>
        <p:spPr>
          <a:xfrm>
            <a:off x="3382506" y="5773514"/>
            <a:ext cx="5549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1</a:t>
            </a:r>
          </a:p>
        </p:txBody>
      </p:sp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8776530" y="5485600"/>
          <a:ext cx="15350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/>
        </p:nvGraphicFramePr>
        <p:xfrm>
          <a:off x="9168622" y="5962285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" name="右大括弧 54"/>
          <p:cNvSpPr/>
          <p:nvPr/>
        </p:nvSpPr>
        <p:spPr>
          <a:xfrm>
            <a:off x="10796181" y="5485600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56" name="矩形 55"/>
          <p:cNvSpPr/>
          <p:nvPr/>
        </p:nvSpPr>
        <p:spPr>
          <a:xfrm>
            <a:off x="11068424" y="5767966"/>
            <a:ext cx="8322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</a:t>
            </a:r>
            <a:r>
              <a: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50435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115909"/>
              </p:ext>
            </p:extLst>
          </p:nvPr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916187"/>
              </p:ext>
            </p:extLst>
          </p:nvPr>
        </p:nvGraphicFramePr>
        <p:xfrm>
          <a:off x="4571289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" name="矩形 33"/>
          <p:cNvSpPr/>
          <p:nvPr/>
        </p:nvSpPr>
        <p:spPr>
          <a:xfrm>
            <a:off x="915114" y="5610761"/>
            <a:ext cx="4597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f(1,1,0) =  max{1+f(0,0,0), 1+f(0,0,1), f(1,1,1)}</a:t>
            </a:r>
          </a:p>
        </p:txBody>
      </p:sp>
      <p:cxnSp>
        <p:nvCxnSpPr>
          <p:cNvPr id="5" name="直線單箭頭接點 4"/>
          <p:cNvCxnSpPr/>
          <p:nvPr/>
        </p:nvCxnSpPr>
        <p:spPr>
          <a:xfrm>
            <a:off x="5277026" y="2256090"/>
            <a:ext cx="294832" cy="25637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1674976" y="2256090"/>
            <a:ext cx="3815695" cy="51274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286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153879"/>
              </p:ext>
            </p:extLst>
          </p:nvPr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335865"/>
              </p:ext>
            </p:extLst>
          </p:nvPr>
        </p:nvGraphicFramePr>
        <p:xfrm>
          <a:off x="4571289" y="1463145"/>
          <a:ext cx="3443240" cy="384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" name="矩形 33"/>
          <p:cNvSpPr/>
          <p:nvPr/>
        </p:nvSpPr>
        <p:spPr>
          <a:xfrm>
            <a:off x="915114" y="5610761"/>
            <a:ext cx="5405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f(1,1,0) =  max{1+f(0,0,0), 1+f(0,0,1), f(1,0,1), f(0,1,1)}</a:t>
            </a:r>
          </a:p>
        </p:txBody>
      </p:sp>
    </p:spTree>
    <p:extLst>
      <p:ext uri="{BB962C8B-B14F-4D97-AF65-F5344CB8AC3E}">
        <p14:creationId xmlns:p14="http://schemas.microsoft.com/office/powerpoint/2010/main" val="2782449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310432"/>
              </p:ext>
            </p:extLst>
          </p:nvPr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2418735" y="2753032"/>
            <a:ext cx="0" cy="226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2133600" y="3067665"/>
            <a:ext cx="1868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441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297346"/>
              </p:ext>
            </p:extLst>
          </p:nvPr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683514"/>
              </p:ext>
            </p:extLst>
          </p:nvPr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876289"/>
              </p:ext>
            </p:extLst>
          </p:nvPr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778833"/>
              </p:ext>
            </p:extLst>
          </p:nvPr>
        </p:nvGraphicFramePr>
        <p:xfrm>
          <a:off x="5236800" y="5724883"/>
          <a:ext cx="113584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499884"/>
              </p:ext>
            </p:extLst>
          </p:nvPr>
        </p:nvGraphicFramePr>
        <p:xfrm>
          <a:off x="5629214" y="6227271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右大括弧 10"/>
          <p:cNvSpPr/>
          <p:nvPr/>
        </p:nvSpPr>
        <p:spPr>
          <a:xfrm>
            <a:off x="6856374" y="5749280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2" name="矩形 11"/>
          <p:cNvSpPr/>
          <p:nvPr/>
        </p:nvSpPr>
        <p:spPr>
          <a:xfrm>
            <a:off x="7128617" y="6031646"/>
            <a:ext cx="8322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 </a:t>
            </a:r>
            <a:r>
              <a: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270200"/>
              </p:ext>
            </p:extLst>
          </p:nvPr>
        </p:nvGraphicFramePr>
        <p:xfrm>
          <a:off x="1031637" y="5755786"/>
          <a:ext cx="75722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075947"/>
              </p:ext>
            </p:extLst>
          </p:nvPr>
        </p:nvGraphicFramePr>
        <p:xfrm>
          <a:off x="1793088" y="6212132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右大括弧 14"/>
          <p:cNvSpPr/>
          <p:nvPr/>
        </p:nvSpPr>
        <p:spPr>
          <a:xfrm>
            <a:off x="3063463" y="5730431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6" name="矩形 15"/>
          <p:cNvSpPr/>
          <p:nvPr/>
        </p:nvSpPr>
        <p:spPr>
          <a:xfrm>
            <a:off x="3348322" y="6012797"/>
            <a:ext cx="5998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0 </a:t>
            </a: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352876"/>
              </p:ext>
            </p:extLst>
          </p:nvPr>
        </p:nvGraphicFramePr>
        <p:xfrm>
          <a:off x="8406235" y="5724084"/>
          <a:ext cx="15350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412779"/>
              </p:ext>
            </p:extLst>
          </p:nvPr>
        </p:nvGraphicFramePr>
        <p:xfrm>
          <a:off x="9941251" y="6208987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右大括弧 18"/>
          <p:cNvSpPr/>
          <p:nvPr/>
        </p:nvSpPr>
        <p:spPr>
          <a:xfrm>
            <a:off x="11117532" y="5730431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20" name="矩形 19"/>
          <p:cNvSpPr/>
          <p:nvPr/>
        </p:nvSpPr>
        <p:spPr>
          <a:xfrm>
            <a:off x="11389775" y="6012797"/>
            <a:ext cx="5549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0</a:t>
            </a:r>
          </a:p>
          <a:p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3"/>
          <p:cNvCxnSpPr/>
          <p:nvPr/>
        </p:nvCxnSpPr>
        <p:spPr>
          <a:xfrm>
            <a:off x="2094271" y="2792361"/>
            <a:ext cx="235974" cy="186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>
            <a:off x="2536723" y="2703871"/>
            <a:ext cx="3460954" cy="344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>
            <a:off x="2536723" y="2703871"/>
            <a:ext cx="7118554" cy="481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567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626894"/>
              </p:ext>
            </p:extLst>
          </p:nvPr>
        </p:nvGraphicFramePr>
        <p:xfrm>
          <a:off x="91511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651245"/>
              </p:ext>
            </p:extLst>
          </p:nvPr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728872"/>
              </p:ext>
            </p:extLst>
          </p:nvPr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2093720" y="2768837"/>
            <a:ext cx="230736" cy="230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>
            <a:off x="2529555" y="2606467"/>
            <a:ext cx="6657174" cy="393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915114" y="5791252"/>
            <a:ext cx="4597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f(2,2,0) =  max{1+f(1,1,0), 1+f(1,1,2), f(2,2,0)}</a:t>
            </a:r>
          </a:p>
        </p:txBody>
      </p:sp>
    </p:spTree>
    <p:extLst>
      <p:ext uri="{BB962C8B-B14F-4D97-AF65-F5344CB8AC3E}">
        <p14:creationId xmlns:p14="http://schemas.microsoft.com/office/powerpoint/2010/main" val="2638143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607629"/>
              </p:ext>
            </p:extLst>
          </p:nvPr>
        </p:nvGraphicFramePr>
        <p:xfrm>
          <a:off x="915114" y="1463145"/>
          <a:ext cx="3443240" cy="384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560391"/>
              </p:ext>
            </p:extLst>
          </p:nvPr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533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572318"/>
              </p:ext>
            </p:extLst>
          </p:nvPr>
        </p:nvGraphicFramePr>
        <p:xfrm>
          <a:off x="915114" y="1463145"/>
          <a:ext cx="3443240" cy="384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790758"/>
              </p:ext>
            </p:extLst>
          </p:nvPr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929356"/>
              </p:ext>
            </p:extLst>
          </p:nvPr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9733935" y="2743200"/>
            <a:ext cx="9833" cy="216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9379974" y="3057832"/>
            <a:ext cx="235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469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91993"/>
              </p:ext>
            </p:extLst>
          </p:nvPr>
        </p:nvGraphicFramePr>
        <p:xfrm>
          <a:off x="915114" y="1463145"/>
          <a:ext cx="3443240" cy="384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803055"/>
              </p:ext>
            </p:extLst>
          </p:nvPr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922664"/>
              </p:ext>
            </p:extLst>
          </p:nvPr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860951"/>
              </p:ext>
            </p:extLst>
          </p:nvPr>
        </p:nvGraphicFramePr>
        <p:xfrm>
          <a:off x="5236800" y="5724883"/>
          <a:ext cx="113584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139788"/>
              </p:ext>
            </p:extLst>
          </p:nvPr>
        </p:nvGraphicFramePr>
        <p:xfrm>
          <a:off x="5629214" y="6227271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右大括弧 28"/>
          <p:cNvSpPr/>
          <p:nvPr/>
        </p:nvSpPr>
        <p:spPr>
          <a:xfrm>
            <a:off x="6856374" y="5749280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30" name="矩形 29"/>
          <p:cNvSpPr/>
          <p:nvPr/>
        </p:nvSpPr>
        <p:spPr>
          <a:xfrm>
            <a:off x="7128617" y="6031646"/>
            <a:ext cx="5549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</a:t>
            </a:r>
          </a:p>
        </p:txBody>
      </p:sp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301832"/>
              </p:ext>
            </p:extLst>
          </p:nvPr>
        </p:nvGraphicFramePr>
        <p:xfrm>
          <a:off x="1031637" y="5755786"/>
          <a:ext cx="75722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980786"/>
              </p:ext>
            </p:extLst>
          </p:nvPr>
        </p:nvGraphicFramePr>
        <p:xfrm>
          <a:off x="1793088" y="6212132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" name="右大括弧 32"/>
          <p:cNvSpPr/>
          <p:nvPr/>
        </p:nvSpPr>
        <p:spPr>
          <a:xfrm>
            <a:off x="3063463" y="5730431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34" name="矩形 33"/>
          <p:cNvSpPr/>
          <p:nvPr/>
        </p:nvSpPr>
        <p:spPr>
          <a:xfrm>
            <a:off x="3348322" y="6012797"/>
            <a:ext cx="8322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0 </a:t>
            </a:r>
            <a:r>
              <a: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611103"/>
              </p:ext>
            </p:extLst>
          </p:nvPr>
        </p:nvGraphicFramePr>
        <p:xfrm>
          <a:off x="8337867" y="5724084"/>
          <a:ext cx="15350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644492"/>
              </p:ext>
            </p:extLst>
          </p:nvPr>
        </p:nvGraphicFramePr>
        <p:xfrm>
          <a:off x="9872883" y="6208987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右大括弧 36"/>
          <p:cNvSpPr/>
          <p:nvPr/>
        </p:nvSpPr>
        <p:spPr>
          <a:xfrm>
            <a:off x="11049164" y="5730431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38" name="矩形 37"/>
          <p:cNvSpPr/>
          <p:nvPr/>
        </p:nvSpPr>
        <p:spPr>
          <a:xfrm>
            <a:off x="11321407" y="6012797"/>
            <a:ext cx="8322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0</a:t>
            </a:r>
            <a:r>
              <a: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≠ 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endParaRPr lang="en-US" altLang="zh-T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單箭頭接點 4"/>
          <p:cNvCxnSpPr/>
          <p:nvPr/>
        </p:nvCxnSpPr>
        <p:spPr>
          <a:xfrm>
            <a:off x="9408920" y="2760292"/>
            <a:ext cx="239282" cy="196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5708591" y="2760292"/>
            <a:ext cx="3862699" cy="299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2503918" y="2760292"/>
            <a:ext cx="7144284" cy="444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527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15114" y="1463145"/>
          <a:ext cx="3443240" cy="384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90367"/>
              </p:ext>
            </p:extLst>
          </p:nvPr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018709"/>
              </p:ext>
            </p:extLst>
          </p:nvPr>
        </p:nvGraphicFramePr>
        <p:xfrm>
          <a:off x="8227464" y="1463145"/>
          <a:ext cx="3443240" cy="376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矩形 20"/>
          <p:cNvSpPr/>
          <p:nvPr/>
        </p:nvSpPr>
        <p:spPr>
          <a:xfrm>
            <a:off x="915114" y="5791252"/>
            <a:ext cx="3544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f(2,2,2) =  max{1+f(1,1,1), f(2,2,2)}</a:t>
            </a:r>
          </a:p>
        </p:txBody>
      </p:sp>
      <p:cxnSp>
        <p:nvCxnSpPr>
          <p:cNvPr id="13" name="直線單箭頭接點 12"/>
          <p:cNvCxnSpPr/>
          <p:nvPr/>
        </p:nvCxnSpPr>
        <p:spPr>
          <a:xfrm>
            <a:off x="6229884" y="2768837"/>
            <a:ext cx="3375589" cy="367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247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15114" y="1463145"/>
          <a:ext cx="3443240" cy="384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571289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902307"/>
              </p:ext>
            </p:extLst>
          </p:nvPr>
        </p:nvGraphicFramePr>
        <p:xfrm>
          <a:off x="8227464" y="1463145"/>
          <a:ext cx="3443240" cy="384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244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810764"/>
              </p:ext>
            </p:extLst>
          </p:nvPr>
        </p:nvGraphicFramePr>
        <p:xfrm>
          <a:off x="91511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591479"/>
              </p:ext>
            </p:extLst>
          </p:nvPr>
        </p:nvGraphicFramePr>
        <p:xfrm>
          <a:off x="4571289" y="1463145"/>
          <a:ext cx="3443240" cy="400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946817"/>
              </p:ext>
            </p:extLst>
          </p:nvPr>
        </p:nvGraphicFramePr>
        <p:xfrm>
          <a:off x="822746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718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1511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1717"/>
              </p:ext>
            </p:extLst>
          </p:nvPr>
        </p:nvGraphicFramePr>
        <p:xfrm>
          <a:off x="4571289" y="1463145"/>
          <a:ext cx="3443240" cy="400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2746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6503350" y="3469593"/>
            <a:ext cx="8545" cy="145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6178609" y="3794333"/>
            <a:ext cx="213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078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1511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074084"/>
              </p:ext>
            </p:extLst>
          </p:nvPr>
        </p:nvGraphicFramePr>
        <p:xfrm>
          <a:off x="4571289" y="1463145"/>
          <a:ext cx="3443240" cy="400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2746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>
            <a:off x="6195701" y="3418318"/>
            <a:ext cx="213645" cy="213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H="1">
            <a:off x="6571716" y="3196127"/>
            <a:ext cx="3076486" cy="435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2512464" y="3196127"/>
            <a:ext cx="3896882" cy="538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072795"/>
              </p:ext>
            </p:extLst>
          </p:nvPr>
        </p:nvGraphicFramePr>
        <p:xfrm>
          <a:off x="4870909" y="5646733"/>
          <a:ext cx="113584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369079"/>
              </p:ext>
            </p:extLst>
          </p:nvPr>
        </p:nvGraphicFramePr>
        <p:xfrm>
          <a:off x="5663398" y="6124724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右大括弧 15"/>
          <p:cNvSpPr/>
          <p:nvPr/>
        </p:nvSpPr>
        <p:spPr>
          <a:xfrm>
            <a:off x="6890558" y="5646733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7" name="矩形 16"/>
          <p:cNvSpPr/>
          <p:nvPr/>
        </p:nvSpPr>
        <p:spPr>
          <a:xfrm>
            <a:off x="7162801" y="5929099"/>
            <a:ext cx="5549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1</a:t>
            </a: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738163"/>
              </p:ext>
            </p:extLst>
          </p:nvPr>
        </p:nvGraphicFramePr>
        <p:xfrm>
          <a:off x="1433014" y="5646733"/>
          <a:ext cx="75722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136074"/>
              </p:ext>
            </p:extLst>
          </p:nvPr>
        </p:nvGraphicFramePr>
        <p:xfrm>
          <a:off x="1827272" y="6109585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右大括弧 19"/>
          <p:cNvSpPr/>
          <p:nvPr/>
        </p:nvSpPr>
        <p:spPr>
          <a:xfrm>
            <a:off x="3097647" y="5627884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21" name="矩形 20"/>
          <p:cNvSpPr/>
          <p:nvPr/>
        </p:nvSpPr>
        <p:spPr>
          <a:xfrm>
            <a:off x="3382506" y="5910250"/>
            <a:ext cx="5549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1</a:t>
            </a:r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900298"/>
              </p:ext>
            </p:extLst>
          </p:nvPr>
        </p:nvGraphicFramePr>
        <p:xfrm>
          <a:off x="8776530" y="5622336"/>
          <a:ext cx="153501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516618"/>
              </p:ext>
            </p:extLst>
          </p:nvPr>
        </p:nvGraphicFramePr>
        <p:xfrm>
          <a:off x="9168622" y="6099021"/>
          <a:ext cx="1142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68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右大括弧 23"/>
          <p:cNvSpPr/>
          <p:nvPr/>
        </p:nvSpPr>
        <p:spPr>
          <a:xfrm>
            <a:off x="10796181" y="5622336"/>
            <a:ext cx="94004" cy="8694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25" name="矩形 24"/>
          <p:cNvSpPr/>
          <p:nvPr/>
        </p:nvSpPr>
        <p:spPr>
          <a:xfrm>
            <a:off x="11068424" y="5904702"/>
            <a:ext cx="8322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 </a:t>
            </a:r>
            <a:r>
              <a: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0423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1511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571289" y="1463145"/>
          <a:ext cx="3443240" cy="400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2746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2538101" y="3153398"/>
            <a:ext cx="3922520" cy="615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6178609" y="3375589"/>
            <a:ext cx="282012" cy="282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915114" y="5791252"/>
            <a:ext cx="4540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f(3,3,1) =  max{1+f(2,2,0), 1+f(2,2,1),f(3,3,1)}</a:t>
            </a:r>
          </a:p>
        </p:txBody>
      </p:sp>
    </p:spTree>
    <p:extLst>
      <p:ext uri="{BB962C8B-B14F-4D97-AF65-F5344CB8AC3E}">
        <p14:creationId xmlns:p14="http://schemas.microsoft.com/office/powerpoint/2010/main" val="956374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1511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049544"/>
              </p:ext>
            </p:extLst>
          </p:nvPr>
        </p:nvGraphicFramePr>
        <p:xfrm>
          <a:off x="4571289" y="1463145"/>
          <a:ext cx="3443240" cy="418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27464" y="1463145"/>
          <a:ext cx="3443240" cy="392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723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881041"/>
              </p:ext>
            </p:extLst>
          </p:nvPr>
        </p:nvGraphicFramePr>
        <p:xfrm>
          <a:off x="915114" y="1463145"/>
          <a:ext cx="3443240" cy="418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801491"/>
              </p:ext>
            </p:extLst>
          </p:nvPr>
        </p:nvGraphicFramePr>
        <p:xfrm>
          <a:off x="4571289" y="1463145"/>
          <a:ext cx="3443240" cy="4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958189"/>
              </p:ext>
            </p:extLst>
          </p:nvPr>
        </p:nvGraphicFramePr>
        <p:xfrm>
          <a:off x="8227464" y="1463145"/>
          <a:ext cx="3443240" cy="400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 flipH="1">
            <a:off x="3401226" y="3717421"/>
            <a:ext cx="6665720" cy="538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515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644822"/>
              </p:ext>
            </p:extLst>
          </p:nvPr>
        </p:nvGraphicFramePr>
        <p:xfrm>
          <a:off x="915114" y="1463145"/>
          <a:ext cx="3443240" cy="418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714906"/>
              </p:ext>
            </p:extLst>
          </p:nvPr>
        </p:nvGraphicFramePr>
        <p:xfrm>
          <a:off x="4571289" y="1463145"/>
          <a:ext cx="3443240" cy="4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421972"/>
              </p:ext>
            </p:extLst>
          </p:nvPr>
        </p:nvGraphicFramePr>
        <p:xfrm>
          <a:off x="8227464" y="1463145"/>
          <a:ext cx="3443240" cy="418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5" name="直線單箭頭接點 4"/>
          <p:cNvCxnSpPr/>
          <p:nvPr/>
        </p:nvCxnSpPr>
        <p:spPr>
          <a:xfrm>
            <a:off x="6597353" y="3785787"/>
            <a:ext cx="3871245" cy="444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424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842746"/>
              </p:ext>
            </p:extLst>
          </p:nvPr>
        </p:nvGraphicFramePr>
        <p:xfrm>
          <a:off x="915114" y="1463145"/>
          <a:ext cx="3443240" cy="4704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58582"/>
              </p:ext>
            </p:extLst>
          </p:nvPr>
        </p:nvGraphicFramePr>
        <p:xfrm>
          <a:off x="4571289" y="1463145"/>
          <a:ext cx="3443240" cy="4421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6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905200"/>
              </p:ext>
            </p:extLst>
          </p:nvPr>
        </p:nvGraphicFramePr>
        <p:xfrm>
          <a:off x="8227464" y="1463145"/>
          <a:ext cx="3443240" cy="4704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3384135" y="5170206"/>
            <a:ext cx="3862699" cy="299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342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186076"/>
              </p:ext>
            </p:extLst>
          </p:nvPr>
        </p:nvGraphicFramePr>
        <p:xfrm>
          <a:off x="915114" y="1463145"/>
          <a:ext cx="3443240" cy="4704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032690"/>
              </p:ext>
            </p:extLst>
          </p:nvPr>
        </p:nvGraphicFramePr>
        <p:xfrm>
          <a:off x="4571289" y="1463145"/>
          <a:ext cx="3443240" cy="4421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6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148882"/>
              </p:ext>
            </p:extLst>
          </p:nvPr>
        </p:nvGraphicFramePr>
        <p:xfrm>
          <a:off x="8227464" y="1463145"/>
          <a:ext cx="3443240" cy="4704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478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STR-EC-LCS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679949"/>
              </p:ext>
            </p:extLst>
          </p:nvPr>
        </p:nvGraphicFramePr>
        <p:xfrm>
          <a:off x="915114" y="1463145"/>
          <a:ext cx="3443240" cy="4704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(b)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61895"/>
              </p:ext>
            </p:extLst>
          </p:nvPr>
        </p:nvGraphicFramePr>
        <p:xfrm>
          <a:off x="4571289" y="1463145"/>
          <a:ext cx="3443240" cy="4421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6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028708"/>
              </p:ext>
            </p:extLst>
          </p:nvPr>
        </p:nvGraphicFramePr>
        <p:xfrm>
          <a:off x="8227464" y="1463145"/>
          <a:ext cx="3443240" cy="4704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1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6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TW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7580120" y="5161660"/>
            <a:ext cx="434409" cy="7229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421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4936127"/>
              </p:ext>
            </p:extLst>
          </p:nvPr>
        </p:nvGraphicFramePr>
        <p:xfrm>
          <a:off x="1761146" y="2866270"/>
          <a:ext cx="78867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299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 ”(empty)(k=0)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k=1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k=0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a(k=1)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k=1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k=0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ab(k=2)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k=3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k=0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761146" y="2012084"/>
            <a:ext cx="10981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aba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1761146" y="3216648"/>
            <a:ext cx="2631392" cy="11279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13413" y="3223751"/>
            <a:ext cx="1076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P’s prefix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392538" y="2866270"/>
            <a:ext cx="5255308" cy="3503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392538" y="2461671"/>
            <a:ext cx="147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character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1910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4933" y="1690688"/>
            <a:ext cx="570787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O(m*n*r)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: String X’s length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n: String Y’s length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: String P’s length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 : O(r*l)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: String P’s length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: Alphabet type amounts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629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2528</TotalTime>
  <Words>5576</Words>
  <Application>Microsoft Office PowerPoint</Application>
  <PresentationFormat>寬螢幕</PresentationFormat>
  <Paragraphs>3425</Paragraphs>
  <Slides>29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Times New Roman</vt:lpstr>
      <vt:lpstr>Office 佈景主題</vt:lpstr>
      <vt:lpstr>A dynamic programming solution to a generalized LCS problem</vt:lpstr>
      <vt:lpstr>Abstract</vt:lpstr>
      <vt:lpstr>String-Exclusion-LCS</vt:lpstr>
      <vt:lpstr>String-Exclusion-LCS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STR-EC-LCS</vt:lpstr>
      <vt:lpstr>Pre-processing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pplab</cp:lastModifiedBy>
  <cp:revision>80</cp:revision>
  <dcterms:created xsi:type="dcterms:W3CDTF">2020-06-04T13:20:36Z</dcterms:created>
  <dcterms:modified xsi:type="dcterms:W3CDTF">2020-06-10T11:35:50Z</dcterms:modified>
</cp:coreProperties>
</file>