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育誠 張" initials="育誠" lastIdx="1" clrIdx="0">
    <p:extLst>
      <p:ext uri="{19B8F6BF-5375-455C-9EA6-DF929625EA0E}">
        <p15:presenceInfo xmlns:p15="http://schemas.microsoft.com/office/powerpoint/2012/main" userId="6f9b18c83c392d5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81D9"/>
    <a:srgbClr val="934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75765" autoAdjust="0"/>
  </p:normalViewPr>
  <p:slideViewPr>
    <p:cSldViewPr snapToGrid="0">
      <p:cViewPr varScale="1">
        <p:scale>
          <a:sx n="54" d="100"/>
          <a:sy n="54" d="100"/>
        </p:scale>
        <p:origin x="1296" y="78"/>
      </p:cViewPr>
      <p:guideLst/>
    </p:cSldViewPr>
  </p:slideViewPr>
  <p:outlineViewPr>
    <p:cViewPr>
      <p:scale>
        <a:sx n="33" d="100"/>
        <a:sy n="33" d="100"/>
      </p:scale>
      <p:origin x="0" y="-954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033D0-5A25-41C7-969A-EF5F7C649CD4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9F1D4-CE95-410B-B0BC-C775142743A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386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H. Albert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 of Computer Science, University of Otago, Dunedin, New Zealand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Alexander Golynski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School of Computer Science, University of Waterloo, Waterloo, Ont., Canada N2L3G1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Angèle M. Hamel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Department of Physics and Computer Science, Wilfrid Laurier University, Waterloo, Ont., CanadaN2L3C5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Alejandro López-Ortiz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Srinivasa Rao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Ali Safari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同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de-D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254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Robinson–</a:t>
            </a:r>
            <a:r>
              <a:rPr lang="en-US" altLang="zh-TW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Schensted</a:t>
            </a:r>
            <a:r>
              <a:rPr lang="en-US" altLang="zh-TW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–Knuth </a:t>
            </a:r>
            <a:r>
              <a:rPr lang="zh-TW" alt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變化而來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9F1D4-CE95-410B-B0BC-C775142743A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7670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D6350-B6ED-41FC-9D7E-7F401D1D3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0C62AA-5FAB-4981-A45A-1A8517CA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50ED99-A302-4A55-B3DF-54415272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377494-B569-42CD-88D2-0988ED58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DF940-0364-4C9B-9D2E-F53DCBCF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64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292AC1-9699-4F08-B315-69E76AA0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B8D7B-403B-4E87-82BF-F03CE7156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F124561-057D-4469-9AB5-4C6597D38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CA6533-3974-4E64-AB88-349851F80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1307E2-178E-4165-A305-28B315270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83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54F4D4-9F65-4A3C-90CA-5E6012D4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05989C-B6AE-485E-B909-2AACC4420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F143C1-A721-46A9-8DA4-CBAF6D76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B4BB70-EBF3-4E15-B0D9-362EC635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2C94A2-8B8A-4F73-8AB7-9086E29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669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F601E-8FD2-4C96-84ED-A1535992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58968-2AA4-47D9-8EE7-25EB5B574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8EEDE-671F-4288-8102-60AF3949E2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7C4633D-0EA1-483A-BCAE-A2C11947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9957CD-A76F-4E8A-A600-37A8E89B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CD5A3C-70C9-4468-805A-3216FAD5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2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8B42B-89C1-47C8-B9DF-997A8833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3EC08FF-5F84-4CC0-B4E9-D623E4AC3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A51DA6E-7A90-4DB0-9126-5CC8C4B0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A7D7BB7-2FC8-4BE2-A1A4-57D098F58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64E82F7-2C0E-4490-AD80-0749C7C5B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137E754-7BA1-463B-94AE-94931351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380C5EB-E691-4156-928C-26330C6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1A806DF-D52B-4FB1-971E-F10E0C2D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63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C3BD06-DAE3-4E3E-B6B3-648191629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7A04491-282C-4221-A3EF-28A94F786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71379CA-0E38-42B7-BE99-6B584783A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B7507D-DFF5-48B7-9C10-7C05EE38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72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B1D52D3-FF08-4F05-AE9A-D07E40E7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2090C79-D9CF-4D2A-85D5-EBCD12C0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EFD9B8-B153-43FE-B1B0-FDFA1939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37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7D1F5-4F45-434A-9699-03158D529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4CFA46-9726-4680-8164-F1258B007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88E2037-0EFD-4F48-A629-1F43D084A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9FA2B0E-7569-4EE9-B847-3B3B3E00C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A74A09-DF0D-4516-9B6E-A1BA4FA5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E58F68-574D-4991-AB67-979AE7EC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6713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A608B-EB2D-43E3-806D-315F7F6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17BB9D9-6CF8-47E2-9613-CFC9E5CFB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AE305B-85A6-42D3-BDFE-E012EAD5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33906F-B54E-487C-A495-4EE49A68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FDA8D6-DFC2-44AD-AB91-CCEF45799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7815D7-84B9-4D45-8E5A-58AFEF382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0817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763308-F782-4AC8-A223-E354635B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3B59CF-1B41-495A-93CF-6101A5CE7C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B80BB1-A83C-4652-BAC8-2B3F681B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07E1EE-E900-4925-B1A8-EE7DD6AF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1F960C-8C3A-496F-B3A0-26297D92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3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0B6D235-6449-4393-9C71-2079D280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D2B0F98-2672-4DE5-827E-1F7351B7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3C27C8-C683-4B57-A443-2B79354B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24A34C-43DD-4DF5-84E9-8562F9B9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67B5B2-0E14-4C16-8BB2-353A2AA0B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0112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47F35C-0173-40E0-88F5-5C85ABA0C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518B1AB-6AFD-4952-BDFB-11797FAB9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BCFE33-872D-4C90-867C-8B41F7A90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9E770-9C80-4ED4-983E-8A15F27ADAA7}" type="datetimeFigureOut">
              <a:rPr lang="zh-TW" altLang="en-US" smtClean="0"/>
              <a:t>2020/6/10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0F5102-CD48-4F14-B5B2-F49CC9C34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021C4BF-8ADC-4392-A585-48B57FAFA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5738F-21BE-4DF4-85F7-2BB3376BAE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0820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684BF-5890-4FC5-B196-08274D50E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197" y="1604685"/>
            <a:ext cx="10333607" cy="1414833"/>
          </a:xfrm>
        </p:spPr>
        <p:txBody>
          <a:bodyPr>
            <a:norm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Increasing Subsequences in </a:t>
            </a:r>
            <a:b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Sliding</a:t>
            </a:r>
            <a:r>
              <a:rPr lang="zh-TW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5B088C0-E697-4363-A21A-D66DFFC16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953" y="3656415"/>
            <a:ext cx="10162093" cy="1655762"/>
          </a:xfrm>
        </p:spPr>
        <p:txBody>
          <a:bodyPr>
            <a:noAutofit/>
          </a:bodyPr>
          <a:lstStyle/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Michael H. Albert, Alexander Golynski, Angèle M. Hamel,</a:t>
            </a:r>
          </a:p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Alejandro López-Ortiz, S. Srinivasa Rao, Mohammad Ali Safari</a:t>
            </a:r>
          </a:p>
          <a:p>
            <a:endParaRPr lang="de-DE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Computer Science 321 (2004) 405 – 414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EC4D25-9ABF-4EA3-BD8D-ACD84E94CF46}"/>
              </a:ext>
            </a:extLst>
          </p:cNvPr>
          <p:cNvSpPr txBox="1"/>
          <p:nvPr/>
        </p:nvSpPr>
        <p:spPr>
          <a:xfrm>
            <a:off x="8942664" y="5933983"/>
            <a:ext cx="3249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Yu-Cheng Chang</a:t>
            </a:r>
          </a:p>
          <a:p>
            <a:pPr algn="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June 10, 2020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90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86405-10E9-4237-AE0C-C31198684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175771A-477F-4B4A-9278-972CA4C5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consider the problem of finding the longest increasing subsequence in a sliding window over a given sequence (LISW). We propose an output-sensitive data  structure that solves this problem in time O(</a:t>
            </a: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loglog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OUTPUT) for a sequence of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elements. This data structure substantially improves over the naïve generalization of the longest increasing subsequence algorithm and in fact produces an output-sensitive optimal solution.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58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F2835-441F-473C-A82E-EA144661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LISW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220921-3157-4841-BD00-C3580D2A9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Longest Increasing Subsequence in a sliding window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針對正整數之排列 </a:t>
            </a:r>
            <a:r>
              <a:rPr lang="el-GR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π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 = </a:t>
            </a:r>
            <a:r>
              <a:rPr lang="el-GR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π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(1)</a:t>
            </a:r>
            <a:r>
              <a:rPr lang="el-GR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π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(2)…</a:t>
            </a:r>
            <a:r>
              <a:rPr lang="el-GR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π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(n)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CFEB158-BEEA-4EB3-AC3E-F0C849A38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78464"/>
              </p:ext>
            </p:extLst>
          </p:nvPr>
        </p:nvGraphicFramePr>
        <p:xfrm>
          <a:off x="913413" y="3569398"/>
          <a:ext cx="10139285" cy="24168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7857">
                  <a:extLst>
                    <a:ext uri="{9D8B030D-6E8A-4147-A177-3AD203B41FA5}">
                      <a16:colId xmlns:a16="http://schemas.microsoft.com/office/drawing/2014/main" val="110970329"/>
                    </a:ext>
                  </a:extLst>
                </a:gridCol>
                <a:gridCol w="2027857">
                  <a:extLst>
                    <a:ext uri="{9D8B030D-6E8A-4147-A177-3AD203B41FA5}">
                      <a16:colId xmlns:a16="http://schemas.microsoft.com/office/drawing/2014/main" val="3172096075"/>
                    </a:ext>
                  </a:extLst>
                </a:gridCol>
                <a:gridCol w="2027857">
                  <a:extLst>
                    <a:ext uri="{9D8B030D-6E8A-4147-A177-3AD203B41FA5}">
                      <a16:colId xmlns:a16="http://schemas.microsoft.com/office/drawing/2014/main" val="2435573988"/>
                    </a:ext>
                  </a:extLst>
                </a:gridCol>
                <a:gridCol w="2027857">
                  <a:extLst>
                    <a:ext uri="{9D8B030D-6E8A-4147-A177-3AD203B41FA5}">
                      <a16:colId xmlns:a16="http://schemas.microsoft.com/office/drawing/2014/main" val="3148297485"/>
                    </a:ext>
                  </a:extLst>
                </a:gridCol>
                <a:gridCol w="2027857">
                  <a:extLst>
                    <a:ext uri="{9D8B030D-6E8A-4147-A177-3AD203B41FA5}">
                      <a16:colId xmlns:a16="http://schemas.microsoft.com/office/drawing/2014/main" val="3828864635"/>
                    </a:ext>
                  </a:extLst>
                </a:gridCol>
              </a:tblGrid>
              <a:tr h="802463">
                <a:tc gridSpan="5"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 size = 6</a:t>
                      </a:r>
                    </a:p>
                    <a:p>
                      <a:r>
                        <a:rPr lang="el-GR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257368491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340008"/>
                  </a:ext>
                </a:extLst>
              </a:tr>
              <a:tr h="802463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573684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736849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368491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624973"/>
                  </a:ext>
                </a:extLst>
              </a:tr>
              <a:tr h="791470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668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4728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F18B42-075B-4D15-9D2A-EEE47FFE2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 Tower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9E741F68-6EA4-4A9E-A0EA-4860BFCF15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3772887"/>
              </p:ext>
            </p:extLst>
          </p:nvPr>
        </p:nvGraphicFramePr>
        <p:xfrm>
          <a:off x="838200" y="1825624"/>
          <a:ext cx="10515596" cy="3295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195815240"/>
                    </a:ext>
                  </a:extLst>
                </a:gridCol>
              </a:tblGrid>
              <a:tr h="775533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 = 736849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2519937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3489(2)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489(1)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49(2)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9(1)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803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DF4D63-0DA7-4738-BF50-392EDC7D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C37A72-1228-47E1-8E1E-1FC171D53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 sequence</a:t>
            </a:r>
          </a:p>
          <a:p>
            <a:pPr marL="0" indent="0">
              <a:buNone/>
            </a:pP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out permutation of row tower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{2,5,3,6}</a:t>
            </a:r>
          </a:p>
          <a:p>
            <a:pPr marL="0" indent="0">
              <a:buNone/>
            </a:pP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{1,3,2,4}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4AD7CD9-8F8D-44BC-AE14-04119315C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648708"/>
              </p:ext>
            </p:extLst>
          </p:nvPr>
        </p:nvGraphicFramePr>
        <p:xfrm>
          <a:off x="5277036" y="3278080"/>
          <a:ext cx="3004456" cy="251993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3501442496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764089685"/>
                    </a:ext>
                  </a:extLst>
                </a:gridCol>
              </a:tblGrid>
              <a:tr h="2519937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489(1)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49(2)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9(1)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464199"/>
                  </a:ext>
                </a:extLst>
              </a:tr>
            </a:tbl>
          </a:graphicData>
        </a:graphic>
      </p:graphicFrame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D359E8F5-6B3A-41FC-8F87-90B17B5C8439}"/>
              </a:ext>
            </a:extLst>
          </p:cNvPr>
          <p:cNvCxnSpPr>
            <a:cxnSpLocks/>
          </p:cNvCxnSpPr>
          <p:nvPr/>
        </p:nvCxnSpPr>
        <p:spPr>
          <a:xfrm>
            <a:off x="8060924" y="3506680"/>
            <a:ext cx="54153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5A94715A-FC31-4D30-85BB-D99740C72CCD}"/>
              </a:ext>
            </a:extLst>
          </p:cNvPr>
          <p:cNvSpPr txBox="1"/>
          <p:nvPr/>
        </p:nvSpPr>
        <p:spPr>
          <a:xfrm>
            <a:off x="8602462" y="3231457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 row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162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8A84D7-8DF7-435F-A204-C16A3B33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11E5AC-5965-473D-AB93-6BB546C3D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92363"/>
            <a:ext cx="11798423" cy="1117372"/>
          </a:xfrm>
        </p:spPr>
        <p:txBody>
          <a:bodyPr/>
          <a:lstStyle/>
          <a:p>
            <a:pPr marL="0" indent="0" algn="r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{1,4,5,6}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{3,6,4}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→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{2,5,3,6}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= {6,1,2,4}</a:t>
            </a:r>
          </a:p>
          <a:p>
            <a:pPr marL="0" indent="0" algn="r">
              <a:buNone/>
            </a:pP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{1,2,3,4}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{1,3,2}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{1,3,2,4} 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{4,1,2,3}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B1DA717-759D-426B-B2B1-08AE2E38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99" y="3654029"/>
            <a:ext cx="10574226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93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8A84D7-8DF7-435F-A204-C16A3B33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-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11E5AC-5965-473D-AB93-6BB546C3D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7418" y="6212670"/>
            <a:ext cx="4438835" cy="560410"/>
          </a:xfrm>
        </p:spPr>
        <p:txBody>
          <a:bodyPr/>
          <a:lstStyle/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{1,4,5,6}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{3,6,4}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7DBD6A8-4A0D-431B-AA6D-93D5002F7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238" y="0"/>
            <a:ext cx="5591955" cy="2591162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8691611-A32B-490C-9D45-5CA116C39D5B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11137778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{1,4,5,6}           {0,3,4,5}           {3,4,5}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the least index of an element of the principal row which is larger than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 d(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{2,3}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1,2,…,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 size)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= 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 = 7 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6?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6EC1B7B-12F9-4C64-98E2-231CD35CC579}"/>
              </a:ext>
            </a:extLst>
          </p:cNvPr>
          <p:cNvCxnSpPr>
            <a:cxnSpLocks/>
          </p:cNvCxnSpPr>
          <p:nvPr/>
        </p:nvCxnSpPr>
        <p:spPr>
          <a:xfrm>
            <a:off x="2931228" y="1964328"/>
            <a:ext cx="7634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DE47F8D3-B664-416E-9CD3-2225EB269529}"/>
              </a:ext>
            </a:extLst>
          </p:cNvPr>
          <p:cNvSpPr txBox="1"/>
          <p:nvPr/>
        </p:nvSpPr>
        <p:spPr>
          <a:xfrm>
            <a:off x="2851329" y="1470199"/>
            <a:ext cx="1136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EB15F6BF-77C5-4C6A-882C-4E3D94D60734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11549847" y="497153"/>
            <a:ext cx="412812" cy="221036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1F921437-24AC-47D1-8059-8D5CBC533DAE}"/>
              </a:ext>
            </a:extLst>
          </p:cNvPr>
          <p:cNvSpPr/>
          <p:nvPr/>
        </p:nvSpPr>
        <p:spPr>
          <a:xfrm>
            <a:off x="11873883" y="88777"/>
            <a:ext cx="221943" cy="3817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A5D70A7-E79A-4F07-8FFF-56DCBDC244AC}"/>
              </a:ext>
            </a:extLst>
          </p:cNvPr>
          <p:cNvSpPr/>
          <p:nvPr/>
        </p:nvSpPr>
        <p:spPr>
          <a:xfrm>
            <a:off x="11438875" y="2707515"/>
            <a:ext cx="221943" cy="3817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A5EA6AE-3266-445C-A892-EF062E441F03}"/>
              </a:ext>
            </a:extLst>
          </p:cNvPr>
          <p:cNvCxnSpPr>
            <a:cxnSpLocks/>
          </p:cNvCxnSpPr>
          <p:nvPr/>
        </p:nvCxnSpPr>
        <p:spPr>
          <a:xfrm>
            <a:off x="5155337" y="1964328"/>
            <a:ext cx="7634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34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8A84D7-8DF7-435F-A204-C16A3B330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- </a:t>
            </a:r>
            <a:r>
              <a:rPr lang="el-GR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111E5AC-5965-473D-AB93-6BB546C3D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7418" y="6212670"/>
            <a:ext cx="4438835" cy="560410"/>
          </a:xfrm>
        </p:spPr>
        <p:txBody>
          <a:bodyPr/>
          <a:lstStyle/>
          <a:p>
            <a:pPr marL="0" indent="0">
              <a:buNone/>
            </a:pP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{1,2,3,4}  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{1,3,2}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7DBD6A8-4A0D-431B-AA6D-93D5002F7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238" y="0"/>
            <a:ext cx="5591955" cy="2591162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C8691611-A32B-490C-9D45-5CA116C39D5B}"/>
              </a:ext>
            </a:extLst>
          </p:cNvPr>
          <p:cNvSpPr txBox="1">
            <a:spLocks/>
          </p:cNvSpPr>
          <p:nvPr/>
        </p:nvSpPr>
        <p:spPr>
          <a:xfrm>
            <a:off x="838199" y="1690688"/>
            <a:ext cx="11137778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l-GR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{1,2,3,4}           {0,1,2,3}           {1,2,3}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altLang="zh-TW" i="1" dirty="0" err="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同上頁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{2,3}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1,2,…,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1</a:t>
            </a:r>
          </a:p>
          <a:p>
            <a:pPr marL="0" indent="0">
              <a:buNone/>
            </a:pP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principle row)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= </a:t>
            </a: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= 2</a:t>
            </a:r>
          </a:p>
          <a:p>
            <a:pPr marL="0" indent="0">
              <a:buNone/>
            </a:pPr>
            <a:r>
              <a:rPr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=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16EC1B7B-12F9-4C64-98E2-231CD35CC579}"/>
              </a:ext>
            </a:extLst>
          </p:cNvPr>
          <p:cNvCxnSpPr>
            <a:cxnSpLocks/>
          </p:cNvCxnSpPr>
          <p:nvPr/>
        </p:nvCxnSpPr>
        <p:spPr>
          <a:xfrm>
            <a:off x="2931228" y="1964328"/>
            <a:ext cx="7634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DE47F8D3-B664-416E-9CD3-2225EB269529}"/>
              </a:ext>
            </a:extLst>
          </p:cNvPr>
          <p:cNvSpPr txBox="1"/>
          <p:nvPr/>
        </p:nvSpPr>
        <p:spPr>
          <a:xfrm>
            <a:off x="2851329" y="1470199"/>
            <a:ext cx="1136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FA5EA6AE-3266-445C-A892-EF062E441F03}"/>
              </a:ext>
            </a:extLst>
          </p:cNvPr>
          <p:cNvCxnSpPr>
            <a:cxnSpLocks/>
          </p:cNvCxnSpPr>
          <p:nvPr/>
        </p:nvCxnSpPr>
        <p:spPr>
          <a:xfrm>
            <a:off x="5155337" y="1964328"/>
            <a:ext cx="7634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641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6CB198-618F-4782-8808-371A3DC2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8E282B-2037-4994-90F6-C142C06D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26048"/>
            <a:ext cx="10515600" cy="1417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若要能夠取得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非單純取得長度，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該論文使用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van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Emde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Boas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Tree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C6850E4-13D5-4CEC-BB56-E618562AB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202847"/>
              </p:ext>
            </p:extLst>
          </p:nvPr>
        </p:nvGraphicFramePr>
        <p:xfrm>
          <a:off x="838200" y="1757470"/>
          <a:ext cx="10017154" cy="12927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08577">
                  <a:extLst>
                    <a:ext uri="{9D8B030D-6E8A-4147-A177-3AD203B41FA5}">
                      <a16:colId xmlns:a16="http://schemas.microsoft.com/office/drawing/2014/main" val="3029260751"/>
                    </a:ext>
                  </a:extLst>
                </a:gridCol>
                <a:gridCol w="5008577">
                  <a:extLst>
                    <a:ext uri="{9D8B030D-6E8A-4147-A177-3AD203B41FA5}">
                      <a16:colId xmlns:a16="http://schemas.microsoft.com/office/drawing/2014/main" val="3030325543"/>
                    </a:ext>
                  </a:extLst>
                </a:gridCol>
              </a:tblGrid>
              <a:tr h="469807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expire/add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O(</a:t>
                      </a:r>
                      <a:r>
                        <a:rPr lang="en-US" altLang="zh-TW" sz="2400" i="1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zh-TW" sz="2400" i="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 per element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949341"/>
                  </a:ext>
                </a:extLst>
              </a:tr>
              <a:tr h="469807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query time for the length of LIS of current window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O(1) &amp; O(n) space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9260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912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LIS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9183138"/>
              </p:ext>
            </p:extLst>
          </p:nvPr>
        </p:nvGraphicFramePr>
        <p:xfrm>
          <a:off x="442123" y="1962188"/>
          <a:ext cx="9013368" cy="20840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6E14445-5D7C-4E0E-BC60-D385CAA7D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857450"/>
              </p:ext>
            </p:extLst>
          </p:nvPr>
        </p:nvGraphicFramePr>
        <p:xfrm>
          <a:off x="442123" y="4741250"/>
          <a:ext cx="751227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454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DA38F6E9-60A3-4A1A-9686-E4AA0FAB5E98}"/>
              </a:ext>
            </a:extLst>
          </p:cNvPr>
          <p:cNvCxnSpPr>
            <a:cxnSpLocks/>
          </p:cNvCxnSpPr>
          <p:nvPr/>
        </p:nvCxnSpPr>
        <p:spPr>
          <a:xfrm flipH="1">
            <a:off x="2183908" y="365125"/>
            <a:ext cx="3462290" cy="11707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59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LIS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8753321"/>
              </p:ext>
            </p:extLst>
          </p:nvPr>
        </p:nvGraphicFramePr>
        <p:xfrm>
          <a:off x="442123" y="1962188"/>
          <a:ext cx="9013368" cy="20840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6E14445-5D7C-4E0E-BC60-D385CAA7D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120824"/>
              </p:ext>
            </p:extLst>
          </p:nvPr>
        </p:nvGraphicFramePr>
        <p:xfrm>
          <a:off x="442123" y="4741250"/>
          <a:ext cx="7513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640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2722EF2-5E3B-4AB1-9DC1-9ADAC3C6D85F}"/>
              </a:ext>
            </a:extLst>
          </p:cNvPr>
          <p:cNvSpPr/>
          <p:nvPr/>
        </p:nvSpPr>
        <p:spPr>
          <a:xfrm>
            <a:off x="1974867" y="5100178"/>
            <a:ext cx="1469670" cy="4083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4FACB6-FD84-4C4D-91CD-9CCAB456308A}"/>
              </a:ext>
            </a:extLst>
          </p:cNvPr>
          <p:cNvSpPr/>
          <p:nvPr/>
        </p:nvSpPr>
        <p:spPr>
          <a:xfrm>
            <a:off x="3463888" y="5464163"/>
            <a:ext cx="1469670" cy="4083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927A887-E370-47F4-A50C-DEC557EDAB9F}"/>
              </a:ext>
            </a:extLst>
          </p:cNvPr>
          <p:cNvCxnSpPr>
            <a:cxnSpLocks/>
          </p:cNvCxnSpPr>
          <p:nvPr/>
        </p:nvCxnSpPr>
        <p:spPr>
          <a:xfrm flipH="1">
            <a:off x="2370338" y="365125"/>
            <a:ext cx="3275860" cy="11795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936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LIS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7637435"/>
              </p:ext>
            </p:extLst>
          </p:nvPr>
        </p:nvGraphicFramePr>
        <p:xfrm>
          <a:off x="442123" y="1962188"/>
          <a:ext cx="9013368" cy="20840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6E14445-5D7C-4E0E-BC60-D385CAA7D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83254"/>
              </p:ext>
            </p:extLst>
          </p:nvPr>
        </p:nvGraphicFramePr>
        <p:xfrm>
          <a:off x="442123" y="4741250"/>
          <a:ext cx="7513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640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9BB2D73-3D45-4F3B-9429-B76EDCDBC353}"/>
              </a:ext>
            </a:extLst>
          </p:cNvPr>
          <p:cNvSpPr/>
          <p:nvPr/>
        </p:nvSpPr>
        <p:spPr>
          <a:xfrm>
            <a:off x="1948233" y="5464163"/>
            <a:ext cx="2996629" cy="4083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2B3EAE-9921-4491-9281-C8C770623124}"/>
              </a:ext>
            </a:extLst>
          </p:cNvPr>
          <p:cNvSpPr/>
          <p:nvPr/>
        </p:nvSpPr>
        <p:spPr>
          <a:xfrm>
            <a:off x="3453463" y="5861131"/>
            <a:ext cx="2996629" cy="32660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D068314-1B5A-4DAC-80D7-F35AA0B754F6}"/>
              </a:ext>
            </a:extLst>
          </p:cNvPr>
          <p:cNvCxnSpPr>
            <a:cxnSpLocks/>
          </p:cNvCxnSpPr>
          <p:nvPr/>
        </p:nvCxnSpPr>
        <p:spPr>
          <a:xfrm flipH="1">
            <a:off x="2565647" y="365125"/>
            <a:ext cx="3080551" cy="11884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752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LIS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069326"/>
              </p:ext>
            </p:extLst>
          </p:nvPr>
        </p:nvGraphicFramePr>
        <p:xfrm>
          <a:off x="442123" y="1962188"/>
          <a:ext cx="9013368" cy="20840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6E14445-5D7C-4E0E-BC60-D385CAA7D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60433"/>
              </p:ext>
            </p:extLst>
          </p:nvPr>
        </p:nvGraphicFramePr>
        <p:xfrm>
          <a:off x="442123" y="4741250"/>
          <a:ext cx="7513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640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CFE274C7-B6B8-4469-AA9A-0B340E7B28F4}"/>
              </a:ext>
            </a:extLst>
          </p:cNvPr>
          <p:cNvSpPr/>
          <p:nvPr/>
        </p:nvSpPr>
        <p:spPr>
          <a:xfrm>
            <a:off x="1921601" y="5100178"/>
            <a:ext cx="1531814" cy="4083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7928DA-78B4-4291-9201-DCC2545C87C9}"/>
              </a:ext>
            </a:extLst>
          </p:cNvPr>
          <p:cNvSpPr/>
          <p:nvPr/>
        </p:nvSpPr>
        <p:spPr>
          <a:xfrm>
            <a:off x="3434579" y="5508552"/>
            <a:ext cx="1531814" cy="3589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98D7253D-D791-4D54-B183-ED0A651DDFCF}"/>
              </a:ext>
            </a:extLst>
          </p:cNvPr>
          <p:cNvCxnSpPr>
            <a:cxnSpLocks/>
          </p:cNvCxnSpPr>
          <p:nvPr/>
        </p:nvCxnSpPr>
        <p:spPr>
          <a:xfrm flipH="1">
            <a:off x="2760955" y="365125"/>
            <a:ext cx="2885244" cy="11884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034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LIS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0242082"/>
              </p:ext>
            </p:extLst>
          </p:nvPr>
        </p:nvGraphicFramePr>
        <p:xfrm>
          <a:off x="442123" y="1962188"/>
          <a:ext cx="9013368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2573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25736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6E14445-5D7C-4E0E-BC60-D385CAA7D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78146"/>
              </p:ext>
            </p:extLst>
          </p:nvPr>
        </p:nvGraphicFramePr>
        <p:xfrm>
          <a:off x="442123" y="4741250"/>
          <a:ext cx="75132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640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640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altLang="zh-TW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A473618-93E4-48E3-8D63-AF621959FD0B}"/>
              </a:ext>
            </a:extLst>
          </p:cNvPr>
          <p:cNvSpPr/>
          <p:nvPr/>
        </p:nvSpPr>
        <p:spPr>
          <a:xfrm>
            <a:off x="1948233" y="5464163"/>
            <a:ext cx="2996629" cy="4083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CE7EFA-F492-4BC0-B183-A2E7CC5C3502}"/>
              </a:ext>
            </a:extLst>
          </p:cNvPr>
          <p:cNvSpPr/>
          <p:nvPr/>
        </p:nvSpPr>
        <p:spPr>
          <a:xfrm>
            <a:off x="3446547" y="5865785"/>
            <a:ext cx="2996629" cy="32195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2EE92A7-29CA-4EF1-A664-1DC2E1A16577}"/>
              </a:ext>
            </a:extLst>
          </p:cNvPr>
          <p:cNvCxnSpPr>
            <a:cxnSpLocks/>
          </p:cNvCxnSpPr>
          <p:nvPr/>
        </p:nvCxnSpPr>
        <p:spPr>
          <a:xfrm flipH="1">
            <a:off x="3000652" y="365125"/>
            <a:ext cx="2645546" cy="117071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290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LIS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757043"/>
              </p:ext>
            </p:extLst>
          </p:nvPr>
        </p:nvGraphicFramePr>
        <p:xfrm>
          <a:off x="442123" y="1962188"/>
          <a:ext cx="901336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2573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25736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r>
                        <a:rPr lang="en-US" altLang="zh-TW" sz="24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9" name="表格 9">
            <a:extLst>
              <a:ext uri="{FF2B5EF4-FFF2-40B4-BE49-F238E27FC236}">
                <a16:creationId xmlns:a16="http://schemas.microsoft.com/office/drawing/2014/main" id="{C6E14445-5D7C-4E0E-BC60-D385CAA7D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919916"/>
              </p:ext>
            </p:extLst>
          </p:nvPr>
        </p:nvGraphicFramePr>
        <p:xfrm>
          <a:off x="442123" y="4741250"/>
          <a:ext cx="751227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454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4AB34B11-5F3D-48FC-BC41-4CF20FF825FD}"/>
              </a:ext>
            </a:extLst>
          </p:cNvPr>
          <p:cNvSpPr/>
          <p:nvPr/>
        </p:nvSpPr>
        <p:spPr>
          <a:xfrm>
            <a:off x="1961964" y="5814873"/>
            <a:ext cx="4500979" cy="4083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96E7AD-507A-4F72-BDE6-F2C178089D21}"/>
              </a:ext>
            </a:extLst>
          </p:cNvPr>
          <p:cNvSpPr/>
          <p:nvPr/>
        </p:nvSpPr>
        <p:spPr>
          <a:xfrm>
            <a:off x="3413921" y="6224419"/>
            <a:ext cx="4572000" cy="40837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19CB5D70-E6B6-467A-9C33-79056F1D8628}"/>
              </a:ext>
            </a:extLst>
          </p:cNvPr>
          <p:cNvGrpSpPr/>
          <p:nvPr/>
        </p:nvGrpSpPr>
        <p:grpSpPr>
          <a:xfrm>
            <a:off x="8123068" y="6260522"/>
            <a:ext cx="3986073" cy="369332"/>
            <a:chOff x="8123068" y="6260522"/>
            <a:chExt cx="3986073" cy="369332"/>
          </a:xfrm>
        </p:grpSpPr>
        <p:cxnSp>
          <p:nvCxnSpPr>
            <p:cNvPr id="10" name="直線單箭頭接點 9">
              <a:extLst>
                <a:ext uri="{FF2B5EF4-FFF2-40B4-BE49-F238E27FC236}">
                  <a16:creationId xmlns:a16="http://schemas.microsoft.com/office/drawing/2014/main" id="{3C6D99DF-F9DE-463A-9ED8-3EE2CFAA4E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3068" y="6445188"/>
              <a:ext cx="99429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7B00764F-5F9F-4CC3-B068-E58D45B98EF4}"/>
                </a:ext>
              </a:extLst>
            </p:cNvPr>
            <p:cNvSpPr txBox="1"/>
            <p:nvPr/>
          </p:nvSpPr>
          <p:spPr>
            <a:xfrm>
              <a:off x="9117366" y="6260522"/>
              <a:ext cx="2991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Reversed LIS of this window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104254C-5AD8-4021-95E4-97EAC6EEB74E}"/>
              </a:ext>
            </a:extLst>
          </p:cNvPr>
          <p:cNvCxnSpPr>
            <a:cxnSpLocks/>
          </p:cNvCxnSpPr>
          <p:nvPr/>
        </p:nvCxnSpPr>
        <p:spPr>
          <a:xfrm flipH="1">
            <a:off x="3187083" y="365125"/>
            <a:ext cx="2459115" cy="11973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240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804496"/>
              </p:ext>
            </p:extLst>
          </p:nvPr>
        </p:nvGraphicFramePr>
        <p:xfrm>
          <a:off x="442123" y="1962188"/>
          <a:ext cx="901336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strike="sngStrike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96C91A34-EAC0-45CF-8233-CC3AC37A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445852"/>
              </p:ext>
            </p:extLst>
          </p:nvPr>
        </p:nvGraphicFramePr>
        <p:xfrm>
          <a:off x="442123" y="4741250"/>
          <a:ext cx="751227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454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E377DE98-494F-4ECB-9F4C-BDFBD458155A}"/>
              </a:ext>
            </a:extLst>
          </p:cNvPr>
          <p:cNvCxnSpPr>
            <a:cxnSpLocks/>
          </p:cNvCxnSpPr>
          <p:nvPr/>
        </p:nvCxnSpPr>
        <p:spPr>
          <a:xfrm flipH="1">
            <a:off x="4016188" y="365125"/>
            <a:ext cx="1630011" cy="10540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6722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938666"/>
              </p:ext>
            </p:extLst>
          </p:nvPr>
        </p:nvGraphicFramePr>
        <p:xfrm>
          <a:off x="442123" y="1962188"/>
          <a:ext cx="901336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strike="sngStrik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96C91A34-EAC0-45CF-8233-CC3AC37A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897003"/>
              </p:ext>
            </p:extLst>
          </p:nvPr>
        </p:nvGraphicFramePr>
        <p:xfrm>
          <a:off x="442123" y="4741250"/>
          <a:ext cx="751227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454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</a:t>
                      </a:r>
                      <a:r>
                        <a:rPr lang="zh-TW" alt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471EAA1C-10DD-487F-871C-083F9FC59C19}"/>
              </a:ext>
            </a:extLst>
          </p:cNvPr>
          <p:cNvGrpSpPr/>
          <p:nvPr/>
        </p:nvGrpSpPr>
        <p:grpSpPr>
          <a:xfrm>
            <a:off x="8087558" y="5852149"/>
            <a:ext cx="3986073" cy="369332"/>
            <a:chOff x="8123068" y="6260522"/>
            <a:chExt cx="3986073" cy="369332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BEE68AE4-8F3A-4705-B9FF-7D54874A51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3068" y="6445188"/>
              <a:ext cx="99429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8DDF8FE3-7036-4E9C-928B-2975D9676EE0}"/>
                </a:ext>
              </a:extLst>
            </p:cNvPr>
            <p:cNvSpPr txBox="1"/>
            <p:nvPr/>
          </p:nvSpPr>
          <p:spPr>
            <a:xfrm>
              <a:off x="9117366" y="6260522"/>
              <a:ext cx="2991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Reversed LIS of this window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CDF1F54-5544-4202-A61D-33AD38B8C829}"/>
              </a:ext>
            </a:extLst>
          </p:cNvPr>
          <p:cNvCxnSpPr>
            <a:cxnSpLocks/>
          </p:cNvCxnSpPr>
          <p:nvPr/>
        </p:nvCxnSpPr>
        <p:spPr>
          <a:xfrm>
            <a:off x="5646198" y="365125"/>
            <a:ext cx="159798" cy="11263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480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3617286"/>
              </p:ext>
            </p:extLst>
          </p:nvPr>
        </p:nvGraphicFramePr>
        <p:xfrm>
          <a:off x="442123" y="1962188"/>
          <a:ext cx="901336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573684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73684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strike="sngStrik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strike="sng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96C91A34-EAC0-45CF-8233-CC3AC37A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461525"/>
              </p:ext>
            </p:extLst>
          </p:nvPr>
        </p:nvGraphicFramePr>
        <p:xfrm>
          <a:off x="442123" y="4741250"/>
          <a:ext cx="751227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454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70786D17-3E52-4868-B423-26226288449C}"/>
              </a:ext>
            </a:extLst>
          </p:cNvPr>
          <p:cNvCxnSpPr>
            <a:cxnSpLocks/>
          </p:cNvCxnSpPr>
          <p:nvPr/>
        </p:nvCxnSpPr>
        <p:spPr>
          <a:xfrm>
            <a:off x="5646199" y="365125"/>
            <a:ext cx="898036" cy="11409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342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0174032"/>
              </p:ext>
            </p:extLst>
          </p:nvPr>
        </p:nvGraphicFramePr>
        <p:xfrm>
          <a:off x="442123" y="1962188"/>
          <a:ext cx="901336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257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57368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573684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73684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strike="sngStrik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strike="sng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r>
                        <a:rPr lang="en-US" altLang="zh-TW" sz="2400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96C91A34-EAC0-45CF-8233-CC3AC37A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643659"/>
              </p:ext>
            </p:extLst>
          </p:nvPr>
        </p:nvGraphicFramePr>
        <p:xfrm>
          <a:off x="442123" y="4741250"/>
          <a:ext cx="751227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454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7FE78BBD-6C4D-4265-BE9B-EC094A1AAD04}"/>
              </a:ext>
            </a:extLst>
          </p:cNvPr>
          <p:cNvGrpSpPr/>
          <p:nvPr/>
        </p:nvGrpSpPr>
        <p:grpSpPr>
          <a:xfrm>
            <a:off x="8123068" y="6260522"/>
            <a:ext cx="3986073" cy="369332"/>
            <a:chOff x="8123068" y="6260522"/>
            <a:chExt cx="3986073" cy="369332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DEB3BFEC-C3F3-4108-A409-31EBB5DA4F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3068" y="6445188"/>
              <a:ext cx="99429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0AA934B3-FB05-4A7E-89A2-330257239599}"/>
                </a:ext>
              </a:extLst>
            </p:cNvPr>
            <p:cNvSpPr txBox="1"/>
            <p:nvPr/>
          </p:nvSpPr>
          <p:spPr>
            <a:xfrm>
              <a:off x="9117366" y="6260522"/>
              <a:ext cx="2991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Reversed LIS of this window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4E585CC-F6B0-4F9D-A37D-DC64F7B15FE9}"/>
              </a:ext>
            </a:extLst>
          </p:cNvPr>
          <p:cNvCxnSpPr>
            <a:cxnSpLocks/>
          </p:cNvCxnSpPr>
          <p:nvPr/>
        </p:nvCxnSpPr>
        <p:spPr>
          <a:xfrm>
            <a:off x="5646198" y="365125"/>
            <a:ext cx="3027285" cy="11795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644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71FD81-3BA9-4ECC-87E7-206E31C62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22379CF-2111-4C11-8384-E912C3877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419187"/>
            <a:ext cx="11307753" cy="543001"/>
          </a:xfrm>
          <a:prstGeom prst="rect">
            <a:avLst/>
          </a:prstGeom>
        </p:spPr>
      </p:pic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B981D491-B59B-45B0-A5F3-41AF70A215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1241827"/>
              </p:ext>
            </p:extLst>
          </p:nvPr>
        </p:nvGraphicFramePr>
        <p:xfrm>
          <a:off x="442123" y="1962188"/>
          <a:ext cx="9013368" cy="274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228">
                  <a:extLst>
                    <a:ext uri="{9D8B030D-6E8A-4147-A177-3AD203B41FA5}">
                      <a16:colId xmlns:a16="http://schemas.microsoft.com/office/drawing/2014/main" val="1959768062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800310953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97673881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784119630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2013624607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3990735564"/>
                    </a:ext>
                  </a:extLst>
                </a:gridCol>
              </a:tblGrid>
              <a:tr h="3826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573684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73684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736849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36849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368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673204"/>
                  </a:ext>
                </a:extLst>
              </a:tr>
              <a:tr h="1626882">
                <a:tc>
                  <a:txBody>
                    <a:bodyPr/>
                    <a:lstStyle/>
                    <a:p>
                      <a:r>
                        <a:rPr lang="en-US" altLang="zh-TW" sz="2400" strike="sng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strike="sngStrik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r>
                        <a:rPr lang="en-US" altLang="zh-TW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835501"/>
                  </a:ext>
                </a:extLst>
              </a:tr>
            </a:tbl>
          </a:graphicData>
        </a:graphic>
      </p:graphicFrame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96C91A34-EAC0-45CF-8233-CC3AC37A6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784504"/>
              </p:ext>
            </p:extLst>
          </p:nvPr>
        </p:nvGraphicFramePr>
        <p:xfrm>
          <a:off x="442123" y="4741250"/>
          <a:ext cx="751227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2454">
                  <a:extLst>
                    <a:ext uri="{9D8B030D-6E8A-4147-A177-3AD203B41FA5}">
                      <a16:colId xmlns:a16="http://schemas.microsoft.com/office/drawing/2014/main" val="2261675138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428579935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017240799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184117416"/>
                    </a:ext>
                  </a:extLst>
                </a:gridCol>
                <a:gridCol w="1502454">
                  <a:extLst>
                    <a:ext uri="{9D8B030D-6E8A-4147-A177-3AD203B41FA5}">
                      <a16:colId xmlns:a16="http://schemas.microsoft.com/office/drawing/2014/main" val="84808104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042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Column[1]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77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Column[2]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9503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Column[3]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330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Column[4]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00468"/>
                  </a:ext>
                </a:extLst>
              </a:tr>
            </a:tbl>
          </a:graphicData>
        </a:graphic>
      </p:graphicFrame>
      <p:grpSp>
        <p:nvGrpSpPr>
          <p:cNvPr id="7" name="群組 6">
            <a:extLst>
              <a:ext uri="{FF2B5EF4-FFF2-40B4-BE49-F238E27FC236}">
                <a16:creationId xmlns:a16="http://schemas.microsoft.com/office/drawing/2014/main" id="{FCA295D0-5216-4A94-B647-5CA52763E1D9}"/>
              </a:ext>
            </a:extLst>
          </p:cNvPr>
          <p:cNvGrpSpPr/>
          <p:nvPr/>
        </p:nvGrpSpPr>
        <p:grpSpPr>
          <a:xfrm>
            <a:off x="8123068" y="6260522"/>
            <a:ext cx="3986073" cy="369332"/>
            <a:chOff x="8123068" y="6260522"/>
            <a:chExt cx="3986073" cy="369332"/>
          </a:xfrm>
        </p:grpSpPr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891E8C36-B146-43FA-A2EA-AE8F97AB3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3068" y="6445188"/>
              <a:ext cx="99429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CCF905B1-E0E2-406B-9376-55334264FC23}"/>
                </a:ext>
              </a:extLst>
            </p:cNvPr>
            <p:cNvSpPr txBox="1"/>
            <p:nvPr/>
          </p:nvSpPr>
          <p:spPr>
            <a:xfrm>
              <a:off x="9117366" y="6260522"/>
              <a:ext cx="2991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Reversed LIS of this window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5A62B48A-9C9C-4F5F-9A82-1852D867CDF6}"/>
              </a:ext>
            </a:extLst>
          </p:cNvPr>
          <p:cNvCxnSpPr>
            <a:cxnSpLocks/>
          </p:cNvCxnSpPr>
          <p:nvPr/>
        </p:nvCxnSpPr>
        <p:spPr>
          <a:xfrm>
            <a:off x="5646198" y="365125"/>
            <a:ext cx="5832629" cy="11618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381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6CB198-618F-4782-8808-371A3DC2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8FF32E6-7FCA-4614-A8EC-6988E096B6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259204"/>
                  </p:ext>
                </p:extLst>
              </p:nvPr>
            </p:nvGraphicFramePr>
            <p:xfrm>
              <a:off x="1033710" y="1694792"/>
              <a:ext cx="8128000" cy="40260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18600139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870676321"/>
                        </a:ext>
                      </a:extLst>
                    </a:gridCol>
                  </a:tblGrid>
                  <a:tr h="421568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Add a new element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831860"/>
                      </a:ext>
                    </a:extLst>
                  </a:tr>
                  <a:tr h="421568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 LIS of 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altLang="zh-TW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window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altLang="zh-TW" sz="24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6975821"/>
                      </a:ext>
                    </a:extLst>
                  </a:tr>
                  <a:tr h="418462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 all LISs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sup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TW" sz="2400" b="0" i="1" baseline="-250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nary>
                            </m:oMath>
                          </a14:m>
                          <a:r>
                            <a:rPr lang="zh-TW" alt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　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38179400"/>
                      </a:ext>
                    </a:extLst>
                  </a:tr>
                  <a:tr h="421568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updating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46378358"/>
                      </a:ext>
                    </a:extLst>
                  </a:tr>
                  <a:tr h="751668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initialization time 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sup>
                                <m:e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TW" sz="2400" b="0" i="1" baseline="-2500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</m:nary>
                            </m:oMath>
                          </a14:m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= O(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en-US" altLang="zh-TW" sz="2400" baseline="30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400" baseline="30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646204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time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en-US" altLang="zh-TW" sz="24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OUTPUT)</a:t>
                          </a:r>
                          <a:endParaRPr lang="zh-TW" altLang="en-US" sz="24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107021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Off-line query 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TW" sz="24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pl-PL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pl-PL" altLang="zh-TW" sz="2400" b="0" i="1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pl-PL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pl-PL" altLang="zh-TW" sz="2400" i="1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pl-PL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4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53386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Naïve generalization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nw</a:t>
                          </a:r>
                          <a:r>
                            <a:rPr lang="en-US" altLang="zh-TW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en-US" altLang="zh-TW" sz="24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4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07215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A8FF32E6-7FCA-4614-A8EC-6988E096B6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69259204"/>
                  </p:ext>
                </p:extLst>
              </p:nvPr>
            </p:nvGraphicFramePr>
            <p:xfrm>
              <a:off x="1033710" y="1694792"/>
              <a:ext cx="8128000" cy="402609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18600139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87067632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Add a new element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983186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 LIS of </a:t>
                          </a:r>
                          <a:r>
                            <a:rPr lang="en-US" altLang="zh-TW" sz="2400" i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altLang="zh-TW" sz="24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window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</a:t>
                          </a:r>
                          <a:r>
                            <a:rPr lang="en-US" altLang="zh-TW" sz="2400" i="1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6975821"/>
                      </a:ext>
                    </a:extLst>
                  </a:tr>
                  <a:tr h="458788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Output all LISs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50" t="-210667" r="-300" b="-6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81794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updating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O(1)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46378358"/>
                      </a:ext>
                    </a:extLst>
                  </a:tr>
                  <a:tr h="824103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initialization time 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150" t="-228889" r="-300" b="-18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46204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time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en-US" altLang="zh-TW" sz="24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+ OUTPUT)</a:t>
                          </a:r>
                          <a:endParaRPr lang="zh-TW" altLang="en-US" sz="24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1070211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Off-line query 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pl-PL" altLang="zh-TW" sz="2400" baseline="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</a:t>
                          </a:r>
                          <a:r>
                            <a:rPr lang="pl-PL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pl-PL" altLang="zh-TW" sz="2400" b="0" i="1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</a:t>
                          </a:r>
                          <a:r>
                            <a:rPr lang="pl-PL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pl-PL" altLang="zh-TW" sz="2400" i="1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pl-PL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4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7533869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altLang="zh-TW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Naïve generalization</a:t>
                          </a:r>
                          <a:endParaRPr lang="zh-TW" altLang="en-US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O(</a:t>
                          </a:r>
                          <a:r>
                            <a:rPr lang="en-US" altLang="zh-TW" sz="24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nw</a:t>
                          </a:r>
                          <a:r>
                            <a:rPr lang="en-US" altLang="zh-TW" sz="2400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loglog</a:t>
                          </a:r>
                          <a:r>
                            <a:rPr lang="en-US" altLang="zh-TW" sz="2400" i="1" baseline="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</a:t>
                          </a:r>
                          <a:r>
                            <a:rPr lang="en-US" altLang="zh-TW" sz="24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zh-TW" altLang="en-US" sz="2400" baseline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072156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群組 17">
            <a:extLst>
              <a:ext uri="{FF2B5EF4-FFF2-40B4-BE49-F238E27FC236}">
                <a16:creationId xmlns:a16="http://schemas.microsoft.com/office/drawing/2014/main" id="{7C6AFD9A-2A55-4769-B7F9-969948D79520}"/>
              </a:ext>
            </a:extLst>
          </p:cNvPr>
          <p:cNvGrpSpPr/>
          <p:nvPr/>
        </p:nvGrpSpPr>
        <p:grpSpPr>
          <a:xfrm>
            <a:off x="8086987" y="2803927"/>
            <a:ext cx="1526797" cy="1642238"/>
            <a:chOff x="8019875" y="2692866"/>
            <a:chExt cx="1526797" cy="1642238"/>
          </a:xfrm>
        </p:grpSpPr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097B7255-E4BB-464A-9D8B-E60AF5AF8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9875" y="3907266"/>
              <a:ext cx="1526797" cy="42783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4243E026-C580-4619-833D-338EC5CDD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46672" y="2692867"/>
              <a:ext cx="0" cy="1214399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單箭頭接點 16">
              <a:extLst>
                <a:ext uri="{FF2B5EF4-FFF2-40B4-BE49-F238E27FC236}">
                  <a16:creationId xmlns:a16="http://schemas.microsoft.com/office/drawing/2014/main" id="{58CC46D1-8E03-4D93-A8CD-73142344C507}"/>
                </a:ext>
              </a:extLst>
            </p:cNvPr>
            <p:cNvCxnSpPr/>
            <p:nvPr/>
          </p:nvCxnSpPr>
          <p:spPr>
            <a:xfrm flipH="1">
              <a:off x="9119765" y="2692866"/>
              <a:ext cx="42690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9550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1817</TotalTime>
  <Words>1188</Words>
  <Application>Microsoft Office PowerPoint</Application>
  <PresentationFormat>寬螢幕</PresentationFormat>
  <Paragraphs>475</Paragraphs>
  <Slides>21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Longest Increasing Subsequences in  Sliding Windows</vt:lpstr>
      <vt:lpstr>Abstract</vt:lpstr>
      <vt:lpstr>LISW</vt:lpstr>
      <vt:lpstr>Row Tower</vt:lpstr>
      <vt:lpstr>d, σ</vt:lpstr>
      <vt:lpstr>Update</vt:lpstr>
      <vt:lpstr>Update - d</vt:lpstr>
      <vt:lpstr>Update - σ</vt:lpstr>
      <vt:lpstr>Time Complexity</vt:lpstr>
      <vt:lpstr>Get LIS</vt:lpstr>
      <vt:lpstr>Get LIS</vt:lpstr>
      <vt:lpstr>Get LIS</vt:lpstr>
      <vt:lpstr>Get LIS</vt:lpstr>
      <vt:lpstr>Get LIS</vt:lpstr>
      <vt:lpstr>Get LIS</vt:lpstr>
      <vt:lpstr>Next</vt:lpstr>
      <vt:lpstr>Next</vt:lpstr>
      <vt:lpstr>Next</vt:lpstr>
      <vt:lpstr>Next</vt:lpstr>
      <vt:lpstr>Next</vt:lpstr>
      <vt:lpstr>Time Complexity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String Matching Algorithm Based on Logical Indexing</dc:title>
  <dc:creator>育誠 張</dc:creator>
  <cp:lastModifiedBy>pplab</cp:lastModifiedBy>
  <cp:revision>634</cp:revision>
  <dcterms:created xsi:type="dcterms:W3CDTF">2020-01-13T05:19:55Z</dcterms:created>
  <dcterms:modified xsi:type="dcterms:W3CDTF">2020-06-10T12:19:08Z</dcterms:modified>
</cp:coreProperties>
</file>