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3" r:id="rId4"/>
    <p:sldId id="274" r:id="rId5"/>
    <p:sldId id="275" r:id="rId6"/>
    <p:sldId id="276" r:id="rId7"/>
    <p:sldId id="278" r:id="rId8"/>
    <p:sldId id="279" r:id="rId9"/>
    <p:sldId id="277" r:id="rId10"/>
    <p:sldId id="285" r:id="rId11"/>
    <p:sldId id="281" r:id="rId12"/>
    <p:sldId id="282" r:id="rId13"/>
    <p:sldId id="28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344E8-C8ED-4D2C-96B7-13F162FA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980BE0-F6A3-44DC-8138-A4651E598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3E3A9E-ECBA-4CAD-A8C1-2AA038A8D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2A41CE-EA31-46D5-89B1-4749F8DC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616DDC-EE2A-4A64-8AE4-90B02D17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447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D417A-CD1B-4F7C-9DEE-757A582D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009A9B-B933-42FF-BAA8-1661B2F52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D6D46D-5FF8-4003-B0A1-66B428A1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20C99C-BC95-4608-8289-B144C5C0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F76011-55B6-49D1-961E-AF8865FD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2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636F9-D707-49DB-A6C5-DE17A131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D01AB6-9884-42B0-A9AB-1D0775B96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46F970-ADDC-4A46-92BF-385E5788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33E06E-3FAF-4751-A1E5-12BCB116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830840-5EA6-47A6-8034-5F81D182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22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4F88D-8C50-45D6-90AD-957BEB36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EC07F2-5C67-4690-A488-F8469C0C7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DD8AC7B-F60C-4971-AFCB-B9619790A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D8D0B2-4A93-4CB3-8436-DAB1DD67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26E245-696F-4558-B5A9-205EFF4C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D72F9B-7180-40FD-8C4D-420064F8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3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A729EC-2730-43D1-990A-EFA45A7A4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9AC1BD-4D7A-4A64-8E37-7C7AB31AF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7AAD6E-B1CB-4240-9B3C-65CF48C0A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05A961-F00C-481A-9AFC-F18825236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35EEDAA-93D1-4902-9316-5CD898441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2D53A58-71F0-4CA5-9DF4-A009D6F4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645CDBE-D1DD-43D8-898A-BFD72C8A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2967AD9-3029-4B99-8E06-E7761F19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11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8B5F23-E4E8-4FE2-8D01-13E13D8F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FA3E5D4-E058-494C-BA0C-55C32E97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D2512C-4893-42E1-94A4-47CACDB8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01394D5-EEA9-403D-8954-B2028E11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27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29DD233-55A1-4E31-97ED-3D5FDFDE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6101D0-7DAE-4656-8466-1B012641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5EF8AC-84E6-44BB-8766-39D4113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61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28F5E-B5C9-4EDA-90C1-78E8477D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C87-7679-4B2C-BFD5-9AD72DCC3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177D7F-716D-4ED2-A6EC-20661D868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082C15-F9AE-4051-A396-7828B6D9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ECA88A-8667-449C-B7DA-6750098C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021690-2CCE-4CB3-A9B7-E01144A5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83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FFCED-2D61-430B-949C-DFB7BC02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30ECE3B-518E-4CDC-8B83-00E80C7EC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F68FF0-32F6-41A4-A141-B5C94E3BE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097FC5-AC5A-4D77-9086-554FD333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80BFC2-EC42-473C-8082-1B0B5F27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AC8190-A3BF-4787-A0E0-15229BA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39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B335C-8582-4045-9248-4692347F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D33DF8-859F-4572-A9CF-97908F136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A733BC-68FE-4D73-90A1-BDC0EEA8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B1D08E-7AEC-45B4-A257-2CD402ED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A26977-5400-45EE-A08E-D25FE5AC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7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BADA59B-6CE4-40E1-9C7D-E48269A29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5F7317-8A38-465C-B867-E09912548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3A4E9E-E3BF-4789-A683-B224A632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6F98C8-4882-455F-A975-74D29D4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F5F2FB-75F8-42ED-848F-27B2E43C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37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9CBF03-949C-4593-B2AB-30DCC8CA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575CE4-4E59-451A-9A54-D805DFA3D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525204-6C3A-4E19-BBF0-1ED860A02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65FC-F345-44E9-8565-7766F8BB1CCC}" type="datetimeFigureOut">
              <a:rPr lang="zh-TW" altLang="en-US" smtClean="0"/>
              <a:t>2020/3/24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8AF21A-1C7C-49B4-A884-A59699C52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8D022D-C622-4787-971B-0D357C344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C2135-880D-42A4-B287-41DA6592BB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77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374" y="1082180"/>
            <a:ext cx="11543251" cy="1224792"/>
          </a:xfrm>
        </p:spPr>
        <p:txBody>
          <a:bodyPr>
            <a:normAutofit/>
          </a:bodyPr>
          <a:lstStyle/>
          <a:p>
            <a:r>
              <a:rPr lang="en-US" altLang="zh-TW" sz="4800" dirty="0"/>
              <a:t>Finding Maximal 2-Dimensional Palindromes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21" y="3023004"/>
            <a:ext cx="10855354" cy="3266355"/>
          </a:xfrm>
        </p:spPr>
        <p:txBody>
          <a:bodyPr>
            <a:normAutofit/>
          </a:bodyPr>
          <a:lstStyle/>
          <a:p>
            <a:r>
              <a:rPr lang="en-US" altLang="zh-TW" dirty="0"/>
              <a:t>Sara H. </a:t>
            </a:r>
            <a:r>
              <a:rPr lang="en-US" altLang="zh-TW" dirty="0" err="1"/>
              <a:t>Geizhals</a:t>
            </a:r>
            <a:r>
              <a:rPr lang="en-US" altLang="zh-TW" dirty="0"/>
              <a:t>, Dina Sokol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/>
              <a:t>Information and Computation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266, June, 2019,  pp. 161-172</a:t>
            </a:r>
          </a:p>
          <a:p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Mar. 24,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38CEAA-F8C4-464B-9ED4-A733B298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A05363-7D02-43BF-B634-A414AD181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615900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/>
                  <a:t>This paper extends the problem of palindrome searching into a higher dimension, addressing two definitions of 2D palindromes. The first definition implies a square, while the second definition (also known as a centrosymmetric factor) can be any rectangular shape. We present a linear time algorithm for locating all maximal square 2D palindromes in a given 2D text. For the second definition of palindromes (rect2DP), we present two different algorithms. Given a text of size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/>
                  <a:t>, the first algorithm has time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, which is linear in the worst case output size. The second algorithm has time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𝑜𝑐𝑐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, where occ is the number of maximal rect2DP in the output. This provides a tradeoff in terms of output size; if the output size is small, the second algorithm is preferable, while the first would be more efficient if the output size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A05363-7D02-43BF-B634-A414AD181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615900"/>
                <a:ext cx="10515600" cy="4351338"/>
              </a:xfrm>
              <a:blipFill>
                <a:blip r:embed="rId2"/>
                <a:stretch>
                  <a:fillRect l="-928" t="-1961" r="-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58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6138-DFEA-4BAD-A211-141B589E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Palindrome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E643E9D-4398-4AB2-963B-AD1879B23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 </a:t>
                </a:r>
                <a:r>
                  <a:rPr lang="en-US" altLang="zh-TW" i="1" dirty="0"/>
                  <a:t>sq2DP</a:t>
                </a:r>
                <a:r>
                  <a:rPr lang="en-US" altLang="zh-TW" dirty="0"/>
                  <a:t> is an m × m 2D pattern that admits four symmetries: </a:t>
                </a:r>
                <a:br>
                  <a:rPr lang="en-US" altLang="zh-TW" dirty="0"/>
                </a:br>
                <a:r>
                  <a:rPr lang="en-US" altLang="zh-TW" dirty="0"/>
                  <a:t>identity,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two diagonal reflections</a:t>
                </a:r>
                <a:r>
                  <a:rPr lang="en-US" altLang="zh-TW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◦</m:t>
                        </m:r>
                      </m:sup>
                    </m:sSup>
                  </m:oMath>
                </a14:m>
                <a:r>
                  <a:rPr lang="en-US" altLang="zh-TW" dirty="0"/>
                  <a:t>rotation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  SATOR</a:t>
                </a:r>
                <a:r>
                  <a:rPr lang="zh-TW" altLang="en-US" dirty="0"/>
                  <a:t>：播種者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  AREPO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zh-TW" altLang="en-US" dirty="0"/>
                  <a:t>  </a:t>
                </a:r>
                <a:r>
                  <a:rPr lang="en-US" altLang="zh-TW" dirty="0"/>
                  <a:t>TENET</a:t>
                </a:r>
                <a:r>
                  <a:rPr lang="zh-TW" altLang="en-US" dirty="0"/>
                  <a:t>：持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  OPERA</a:t>
                </a:r>
                <a:r>
                  <a:rPr lang="zh-TW" altLang="en-US" dirty="0"/>
                  <a:t>：工作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  ROTAS</a:t>
                </a:r>
                <a:r>
                  <a:rPr lang="zh-TW" altLang="en-US" dirty="0"/>
                  <a:t>：輪子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E643E9D-4398-4AB2-963B-AD1879B23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097992D3-B007-4B71-8A2B-B3B13DC41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069" y="2997739"/>
            <a:ext cx="2879446" cy="317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3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3E2AC-99F1-4856-BA67-091D89D1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Palindrome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81E6148-8029-4D8F-840D-3844FCE77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 </a:t>
                </a:r>
                <a:r>
                  <a:rPr lang="en-US" altLang="zh-TW" i="1" dirty="0"/>
                  <a:t>rect2DP</a:t>
                </a:r>
                <a:r>
                  <a:rPr lang="en-US" altLang="zh-TW" dirty="0"/>
                  <a:t> is a rectangular block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rows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columns that admits the two symmetries of identity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n-US" altLang="zh-TW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◦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rotation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81E6148-8029-4D8F-840D-3844FCE77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A0E5F407-5FDF-495C-A933-CA1DA79CC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846" y="3750499"/>
            <a:ext cx="6241396" cy="137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3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圖片 52">
            <a:extLst>
              <a:ext uri="{FF2B5EF4-FFF2-40B4-BE49-F238E27FC236}">
                <a16:creationId xmlns:a16="http://schemas.microsoft.com/office/drawing/2014/main" id="{9ED60C27-3898-4975-9C2E-599D46C19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140" y="1699005"/>
            <a:ext cx="2689993" cy="297004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E57A297-EB28-445D-A621-AC813177B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Square 2D Palindrome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FB828A-5013-4352-A687-6831D458E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2213" y="5403280"/>
            <a:ext cx="3774975" cy="52322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Generalized Suffix Tree 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40AF371-71E4-48F9-AB86-8FFF59E94C28}"/>
              </a:ext>
            </a:extLst>
          </p:cNvPr>
          <p:cNvSpPr/>
          <p:nvPr/>
        </p:nvSpPr>
        <p:spPr>
          <a:xfrm>
            <a:off x="1777771" y="2297891"/>
            <a:ext cx="1516729" cy="17005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2E06793F-1904-43F4-84C9-7E46993E24DA}"/>
              </a:ext>
            </a:extLst>
          </p:cNvPr>
          <p:cNvGrpSpPr/>
          <p:nvPr/>
        </p:nvGrpSpPr>
        <p:grpSpPr>
          <a:xfrm>
            <a:off x="6283404" y="1690688"/>
            <a:ext cx="5214626" cy="3385373"/>
            <a:chOff x="1745613" y="2346648"/>
            <a:chExt cx="6766903" cy="3815427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0F2455AA-2694-49C9-A39A-3C43ACE0B128}"/>
                </a:ext>
              </a:extLst>
            </p:cNvPr>
            <p:cNvSpPr/>
            <p:nvPr/>
          </p:nvSpPr>
          <p:spPr>
            <a:xfrm>
              <a:off x="4077730" y="2356021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161E45EA-B6AF-495E-BC5C-0D821493B4C8}"/>
                </a:ext>
              </a:extLst>
            </p:cNvPr>
            <p:cNvCxnSpPr>
              <a:cxnSpLocks/>
              <a:stCxn id="7" idx="2"/>
              <a:endCxn id="9" idx="7"/>
            </p:cNvCxnSpPr>
            <p:nvPr/>
          </p:nvCxnSpPr>
          <p:spPr>
            <a:xfrm flipH="1">
              <a:off x="1977649" y="2483709"/>
              <a:ext cx="2100081" cy="14966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9E6F908C-8E0E-4D85-8D34-4AD1DD247CFD}"/>
                </a:ext>
              </a:extLst>
            </p:cNvPr>
            <p:cNvSpPr/>
            <p:nvPr/>
          </p:nvSpPr>
          <p:spPr>
            <a:xfrm>
              <a:off x="1745613" y="3942939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7344E181-58C6-44D6-97A7-5917BD2DECE7}"/>
                </a:ext>
              </a:extLst>
            </p:cNvPr>
            <p:cNvCxnSpPr>
              <a:cxnSpLocks/>
              <a:stCxn id="7" idx="3"/>
              <a:endCxn id="11" idx="0"/>
            </p:cNvCxnSpPr>
            <p:nvPr/>
          </p:nvCxnSpPr>
          <p:spPr>
            <a:xfrm flipH="1">
              <a:off x="3971304" y="2573996"/>
              <a:ext cx="146238" cy="13830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D0A44927-C2AA-42C4-B57A-10F79124B252}"/>
                </a:ext>
              </a:extLst>
            </p:cNvPr>
            <p:cNvSpPr/>
            <p:nvPr/>
          </p:nvSpPr>
          <p:spPr>
            <a:xfrm>
              <a:off x="3835380" y="3957058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6E395DF4-44C1-4881-B100-FADD03CE85C1}"/>
                </a:ext>
              </a:extLst>
            </p:cNvPr>
            <p:cNvCxnSpPr>
              <a:cxnSpLocks/>
              <a:stCxn id="7" idx="5"/>
              <a:endCxn id="13" idx="1"/>
            </p:cNvCxnSpPr>
            <p:nvPr/>
          </p:nvCxnSpPr>
          <p:spPr>
            <a:xfrm>
              <a:off x="4309767" y="2573996"/>
              <a:ext cx="590774" cy="12786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E96D79D6-9506-449E-93D4-05895F4A8F22}"/>
                </a:ext>
              </a:extLst>
            </p:cNvPr>
            <p:cNvSpPr/>
            <p:nvPr/>
          </p:nvSpPr>
          <p:spPr>
            <a:xfrm>
              <a:off x="4860729" y="3815252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814ADFD4-961E-48C9-BB0A-9E10E3E6DAFD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 flipH="1">
              <a:off x="4768558" y="4070625"/>
              <a:ext cx="228095" cy="1836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CBA246F-6636-42E0-B46D-92B980AA75F3}"/>
                </a:ext>
              </a:extLst>
            </p:cNvPr>
            <p:cNvCxnSpPr>
              <a:cxnSpLocks/>
              <a:stCxn id="13" idx="5"/>
              <a:endCxn id="17" idx="1"/>
            </p:cNvCxnSpPr>
            <p:nvPr/>
          </p:nvCxnSpPr>
          <p:spPr>
            <a:xfrm>
              <a:off x="5092766" y="4033227"/>
              <a:ext cx="1991206" cy="1517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A46B30DF-6732-4D64-B89B-BDE3211CB0E3}"/>
                </a:ext>
              </a:extLst>
            </p:cNvPr>
            <p:cNvSpPr/>
            <p:nvPr/>
          </p:nvSpPr>
          <p:spPr>
            <a:xfrm>
              <a:off x="4614908" y="5906702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C09CACF-8061-441B-B78F-8CE6A1BCCD65}"/>
                </a:ext>
              </a:extLst>
            </p:cNvPr>
            <p:cNvSpPr/>
            <p:nvPr/>
          </p:nvSpPr>
          <p:spPr>
            <a:xfrm>
              <a:off x="7044160" y="5513440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B28B2088-C638-4680-B11B-47E1B320D509}"/>
                </a:ext>
              </a:extLst>
            </p:cNvPr>
            <p:cNvCxnSpPr>
              <a:stCxn id="7" idx="6"/>
            </p:cNvCxnSpPr>
            <p:nvPr/>
          </p:nvCxnSpPr>
          <p:spPr>
            <a:xfrm>
              <a:off x="4349578" y="2483708"/>
              <a:ext cx="2084173" cy="7578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940AF10F-4DA1-4264-8647-92A8C0A9E9F1}"/>
                </a:ext>
              </a:extLst>
            </p:cNvPr>
            <p:cNvSpPr/>
            <p:nvPr/>
          </p:nvSpPr>
          <p:spPr>
            <a:xfrm>
              <a:off x="6405323" y="3172702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308EE89C-FCAB-4344-98F1-CA600FA60DE2}"/>
                </a:ext>
              </a:extLst>
            </p:cNvPr>
            <p:cNvCxnSpPr>
              <a:stCxn id="19" idx="4"/>
            </p:cNvCxnSpPr>
            <p:nvPr/>
          </p:nvCxnSpPr>
          <p:spPr>
            <a:xfrm>
              <a:off x="6541247" y="3428075"/>
              <a:ext cx="638837" cy="9552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B0EFE920-3D56-4044-8481-81F43BB072D9}"/>
                </a:ext>
              </a:extLst>
            </p:cNvPr>
            <p:cNvCxnSpPr>
              <a:stCxn id="19" idx="6"/>
            </p:cNvCxnSpPr>
            <p:nvPr/>
          </p:nvCxnSpPr>
          <p:spPr>
            <a:xfrm flipV="1">
              <a:off x="6677171" y="3300388"/>
              <a:ext cx="155543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48E20072-6CD0-49DA-92DD-56672E392E08}"/>
                </a:ext>
              </a:extLst>
            </p:cNvPr>
            <p:cNvSpPr/>
            <p:nvPr/>
          </p:nvSpPr>
          <p:spPr>
            <a:xfrm>
              <a:off x="7134850" y="4353943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3F00D2A7-913F-468F-B43A-AC38D0E909B0}"/>
                </a:ext>
              </a:extLst>
            </p:cNvPr>
            <p:cNvSpPr/>
            <p:nvPr/>
          </p:nvSpPr>
          <p:spPr>
            <a:xfrm>
              <a:off x="8240668" y="3196550"/>
              <a:ext cx="271848" cy="2553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E230D73E-2FD7-4497-B55C-85FF164A9AA7}"/>
                </a:ext>
              </a:extLst>
            </p:cNvPr>
            <p:cNvSpPr txBox="1"/>
            <p:nvPr/>
          </p:nvSpPr>
          <p:spPr>
            <a:xfrm>
              <a:off x="2113153" y="2843300"/>
              <a:ext cx="524622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E</a:t>
              </a:r>
              <a:endParaRPr lang="zh-TW" altLang="en-US" sz="2800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EEA083DC-E696-4643-9C59-69CDFD1B3A7E}"/>
                </a:ext>
              </a:extLst>
            </p:cNvPr>
            <p:cNvSpPr txBox="1"/>
            <p:nvPr/>
          </p:nvSpPr>
          <p:spPr>
            <a:xfrm>
              <a:off x="3213899" y="3023355"/>
              <a:ext cx="1094592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NE$</a:t>
              </a:r>
              <a:endParaRPr lang="zh-TW" altLang="en-US" sz="2800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EB9B7CB5-BB3F-47BE-BBEC-298C37378A1B}"/>
                </a:ext>
              </a:extLst>
            </p:cNvPr>
            <p:cNvSpPr txBox="1"/>
            <p:nvPr/>
          </p:nvSpPr>
          <p:spPr>
            <a:xfrm>
              <a:off x="4605153" y="2862648"/>
              <a:ext cx="499660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P</a:t>
              </a:r>
              <a:endParaRPr lang="zh-TW" altLang="en-US" sz="2800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D588375-4459-407E-BCB1-07D6C1FC90FF}"/>
                </a:ext>
              </a:extLst>
            </p:cNvPr>
            <p:cNvSpPr txBox="1"/>
            <p:nvPr/>
          </p:nvSpPr>
          <p:spPr>
            <a:xfrm>
              <a:off x="4418380" y="4681049"/>
              <a:ext cx="472617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$</a:t>
              </a:r>
              <a:endParaRPr lang="zh-TW" altLang="en-US" sz="28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6426A74-4BD9-4930-9F29-38950E791EF7}"/>
                </a:ext>
              </a:extLst>
            </p:cNvPr>
            <p:cNvSpPr txBox="1"/>
            <p:nvPr/>
          </p:nvSpPr>
          <p:spPr>
            <a:xfrm>
              <a:off x="5613760" y="4033226"/>
              <a:ext cx="1067549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ER$</a:t>
              </a:r>
              <a:endParaRPr lang="zh-TW" altLang="en-US" sz="2800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E9A46A0A-D3AC-4EE8-85A6-5C85CB89C0AD}"/>
                </a:ext>
              </a:extLst>
            </p:cNvPr>
            <p:cNvSpPr txBox="1"/>
            <p:nvPr/>
          </p:nvSpPr>
          <p:spPr>
            <a:xfrm>
              <a:off x="6890772" y="3522864"/>
              <a:ext cx="472617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$</a:t>
              </a:r>
              <a:endParaRPr lang="zh-TW" altLang="en-US" sz="2800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84025E1-B483-4828-A5CC-36618FE7CE24}"/>
                </a:ext>
              </a:extLst>
            </p:cNvPr>
            <p:cNvSpPr txBox="1"/>
            <p:nvPr/>
          </p:nvSpPr>
          <p:spPr>
            <a:xfrm>
              <a:off x="7009364" y="2769034"/>
              <a:ext cx="1017624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EP$</a:t>
              </a:r>
              <a:endParaRPr lang="zh-TW" altLang="en-US" sz="2800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6DB50AF1-42DF-4882-A0AC-687A42FC9CD6}"/>
                </a:ext>
              </a:extLst>
            </p:cNvPr>
            <p:cNvSpPr txBox="1"/>
            <p:nvPr/>
          </p:nvSpPr>
          <p:spPr>
            <a:xfrm>
              <a:off x="5462529" y="2346648"/>
              <a:ext cx="549585" cy="589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R</a:t>
              </a:r>
              <a:endParaRPr lang="zh-TW" altLang="en-US" sz="2800" dirty="0"/>
            </a:p>
          </p:txBody>
        </p:sp>
      </p:grp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C58A3FD-D1B5-4CD6-933A-99ECE6646BA5}"/>
              </a:ext>
            </a:extLst>
          </p:cNvPr>
          <p:cNvCxnSpPr>
            <a:cxnSpLocks/>
            <a:stCxn id="9" idx="2"/>
            <a:endCxn id="45" idx="7"/>
          </p:cNvCxnSpPr>
          <p:nvPr/>
        </p:nvCxnSpPr>
        <p:spPr>
          <a:xfrm flipH="1" flipV="1">
            <a:off x="5158510" y="3220347"/>
            <a:ext cx="1124894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>
            <a:extLst>
              <a:ext uri="{FF2B5EF4-FFF2-40B4-BE49-F238E27FC236}">
                <a16:creationId xmlns:a16="http://schemas.microsoft.com/office/drawing/2014/main" id="{22643E4F-8FDE-4FBF-8AEC-977A068B81FD}"/>
              </a:ext>
            </a:extLst>
          </p:cNvPr>
          <p:cNvSpPr/>
          <p:nvPr/>
        </p:nvSpPr>
        <p:spPr>
          <a:xfrm>
            <a:off x="4979701" y="3187164"/>
            <a:ext cx="209488" cy="226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5BA3F053-B43D-40E7-B391-26582E20818A}"/>
              </a:ext>
            </a:extLst>
          </p:cNvPr>
          <p:cNvCxnSpPr>
            <a:cxnSpLocks/>
            <a:stCxn id="9" idx="3"/>
            <a:endCxn id="47" idx="7"/>
          </p:cNvCxnSpPr>
          <p:nvPr/>
        </p:nvCxnSpPr>
        <p:spPr>
          <a:xfrm flipH="1">
            <a:off x="5324603" y="3300460"/>
            <a:ext cx="989480" cy="9585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81641778-AE75-44EC-AC92-43A41E8BC18D}"/>
              </a:ext>
            </a:extLst>
          </p:cNvPr>
          <p:cNvSpPr/>
          <p:nvPr/>
        </p:nvSpPr>
        <p:spPr>
          <a:xfrm>
            <a:off x="5145794" y="4225804"/>
            <a:ext cx="209488" cy="226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B37C7BE9-A01E-4CE3-A220-B0F52907B517}"/>
              </a:ext>
            </a:extLst>
          </p:cNvPr>
          <p:cNvCxnSpPr>
            <a:cxnSpLocks/>
            <a:stCxn id="9" idx="4"/>
            <a:endCxn id="49" idx="0"/>
          </p:cNvCxnSpPr>
          <p:nvPr/>
        </p:nvCxnSpPr>
        <p:spPr>
          <a:xfrm flipH="1">
            <a:off x="6238685" y="3333643"/>
            <a:ext cx="149463" cy="1357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橢圓 48">
            <a:extLst>
              <a:ext uri="{FF2B5EF4-FFF2-40B4-BE49-F238E27FC236}">
                <a16:creationId xmlns:a16="http://schemas.microsoft.com/office/drawing/2014/main" id="{4B8E8A08-9A9F-44F8-95A6-AACFC5221E23}"/>
              </a:ext>
            </a:extLst>
          </p:cNvPr>
          <p:cNvSpPr/>
          <p:nvPr/>
        </p:nvSpPr>
        <p:spPr>
          <a:xfrm>
            <a:off x="6133941" y="4691120"/>
            <a:ext cx="209488" cy="226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284918C8-5EAB-4750-8C40-F9E965713449}"/>
              </a:ext>
            </a:extLst>
          </p:cNvPr>
          <p:cNvCxnSpPr>
            <a:cxnSpLocks/>
            <a:stCxn id="9" idx="5"/>
            <a:endCxn id="51" idx="1"/>
          </p:cNvCxnSpPr>
          <p:nvPr/>
        </p:nvCxnSpPr>
        <p:spPr>
          <a:xfrm>
            <a:off x="6462213" y="3300460"/>
            <a:ext cx="800304" cy="697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橢圓 50">
            <a:extLst>
              <a:ext uri="{FF2B5EF4-FFF2-40B4-BE49-F238E27FC236}">
                <a16:creationId xmlns:a16="http://schemas.microsoft.com/office/drawing/2014/main" id="{58009F6D-24D8-4816-8167-073FF482390C}"/>
              </a:ext>
            </a:extLst>
          </p:cNvPr>
          <p:cNvSpPr/>
          <p:nvPr/>
        </p:nvSpPr>
        <p:spPr>
          <a:xfrm>
            <a:off x="7231838" y="3965250"/>
            <a:ext cx="209488" cy="226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CA0AA37-289F-4C8E-9A95-43F1E4A99C7D}"/>
              </a:ext>
            </a:extLst>
          </p:cNvPr>
          <p:cNvSpPr txBox="1"/>
          <p:nvPr/>
        </p:nvSpPr>
        <p:spPr>
          <a:xfrm>
            <a:off x="5536306" y="279493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$</a:t>
            </a:r>
            <a:endParaRPr lang="zh-TW" altLang="en-US" sz="28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4ABF974B-8931-43FE-9C4D-44FEE155B2FE}"/>
              </a:ext>
            </a:extLst>
          </p:cNvPr>
          <p:cNvSpPr txBox="1"/>
          <p:nvPr/>
        </p:nvSpPr>
        <p:spPr>
          <a:xfrm>
            <a:off x="5223506" y="3398262"/>
            <a:ext cx="843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NE$</a:t>
            </a:r>
            <a:endParaRPr lang="zh-TW" altLang="en-US" sz="28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EB47C01E-122B-4786-B92F-7D67BEBA0D3C}"/>
              </a:ext>
            </a:extLst>
          </p:cNvPr>
          <p:cNvSpPr txBox="1"/>
          <p:nvPr/>
        </p:nvSpPr>
        <p:spPr>
          <a:xfrm>
            <a:off x="6277426" y="3877703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P$</a:t>
            </a:r>
            <a:endParaRPr lang="zh-TW" altLang="en-US" sz="2800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49D1A30-0045-42BD-8C85-BA635CA6DB7F}"/>
              </a:ext>
            </a:extLst>
          </p:cNvPr>
          <p:cNvSpPr txBox="1"/>
          <p:nvPr/>
        </p:nvSpPr>
        <p:spPr>
          <a:xfrm>
            <a:off x="6786246" y="3151822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R$</a:t>
            </a:r>
            <a:endParaRPr lang="zh-TW" altLang="en-US" sz="2800" dirty="0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422C112E-F72D-4190-83D3-B5CCDB0D5F84}"/>
              </a:ext>
            </a:extLst>
          </p:cNvPr>
          <p:cNvCxnSpPr>
            <a:cxnSpLocks/>
          </p:cNvCxnSpPr>
          <p:nvPr/>
        </p:nvCxnSpPr>
        <p:spPr>
          <a:xfrm>
            <a:off x="1529682" y="5036689"/>
            <a:ext cx="484112" cy="66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30ED358F-E721-430A-BFE5-D66DB9255BC8}"/>
              </a:ext>
            </a:extLst>
          </p:cNvPr>
          <p:cNvCxnSpPr>
            <a:cxnSpLocks/>
          </p:cNvCxnSpPr>
          <p:nvPr/>
        </p:nvCxnSpPr>
        <p:spPr>
          <a:xfrm>
            <a:off x="1434680" y="5127943"/>
            <a:ext cx="0" cy="4899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1A47F99E-8C56-4386-BBD1-2EC3EF7E6C0D}"/>
              </a:ext>
            </a:extLst>
          </p:cNvPr>
          <p:cNvCxnSpPr>
            <a:cxnSpLocks/>
          </p:cNvCxnSpPr>
          <p:nvPr/>
        </p:nvCxnSpPr>
        <p:spPr>
          <a:xfrm flipH="1">
            <a:off x="1541358" y="5742223"/>
            <a:ext cx="47243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8E6C2FF9-B431-4EFF-A268-AEA02B276EC7}"/>
              </a:ext>
            </a:extLst>
          </p:cNvPr>
          <p:cNvCxnSpPr>
            <a:cxnSpLocks/>
          </p:cNvCxnSpPr>
          <p:nvPr/>
        </p:nvCxnSpPr>
        <p:spPr>
          <a:xfrm flipV="1">
            <a:off x="2099635" y="5127943"/>
            <a:ext cx="0" cy="489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555920B3-9C18-4DC1-B4A5-C681C935CC4A}"/>
              </a:ext>
            </a:extLst>
          </p:cNvPr>
          <p:cNvCxnSpPr>
            <a:cxnSpLocks/>
          </p:cNvCxnSpPr>
          <p:nvPr/>
        </p:nvCxnSpPr>
        <p:spPr>
          <a:xfrm>
            <a:off x="3017140" y="5735603"/>
            <a:ext cx="484112" cy="66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6CA9D7C7-506A-4F23-B8EC-207FA0A08507}"/>
              </a:ext>
            </a:extLst>
          </p:cNvPr>
          <p:cNvCxnSpPr>
            <a:cxnSpLocks/>
          </p:cNvCxnSpPr>
          <p:nvPr/>
        </p:nvCxnSpPr>
        <p:spPr>
          <a:xfrm>
            <a:off x="3589326" y="5144200"/>
            <a:ext cx="0" cy="4899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68910C84-1016-4F5E-B857-7E7C98879033}"/>
              </a:ext>
            </a:extLst>
          </p:cNvPr>
          <p:cNvCxnSpPr>
            <a:cxnSpLocks/>
          </p:cNvCxnSpPr>
          <p:nvPr/>
        </p:nvCxnSpPr>
        <p:spPr>
          <a:xfrm flipH="1">
            <a:off x="2981655" y="5059567"/>
            <a:ext cx="47243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522F2AE9-59A2-42C9-9ADB-A68ECBB5C3AA}"/>
              </a:ext>
            </a:extLst>
          </p:cNvPr>
          <p:cNvCxnSpPr>
            <a:cxnSpLocks/>
          </p:cNvCxnSpPr>
          <p:nvPr/>
        </p:nvCxnSpPr>
        <p:spPr>
          <a:xfrm flipV="1">
            <a:off x="2863038" y="5144201"/>
            <a:ext cx="0" cy="489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EBE031AF-3A5A-465F-91EA-9EF9CFE8A68D}"/>
              </a:ext>
            </a:extLst>
          </p:cNvPr>
          <p:cNvSpPr txBox="1"/>
          <p:nvPr/>
        </p:nvSpPr>
        <p:spPr>
          <a:xfrm>
            <a:off x="21448" y="6271009"/>
            <a:ext cx="11190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DOV HAREL and ROBERT ENDRE TARJAN, “FAST ALGORITHMS FOR FINDING NEAREST COMMON ANCESTORS”, SIAM Journal on Computing, Vol.13, No. 2, May, 1984</a:t>
            </a:r>
            <a:endParaRPr lang="zh-TW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90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75906F-51C1-44C2-9143-93FE634A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Square 2D Palindrome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B22FBB-BA4A-4684-B3F7-92C490CBC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374" y="3159216"/>
            <a:ext cx="5464444" cy="286968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pals[6, 6] = pals[4, 4] = 1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pals[7, 7] = pals[3, 3] = 3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27D8F0F-8EB1-4A65-B09D-36FC4EF4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2618"/>
            <a:ext cx="4448175" cy="32385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DBABBE9-46DE-4C5F-8C1F-02BFBC0EA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74" y="1825625"/>
            <a:ext cx="4714875" cy="7905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3927998-5BF2-43D3-8FC1-B47553AA0E80}"/>
              </a:ext>
            </a:extLst>
          </p:cNvPr>
          <p:cNvSpPr/>
          <p:nvPr/>
        </p:nvSpPr>
        <p:spPr>
          <a:xfrm>
            <a:off x="1472540" y="2517569"/>
            <a:ext cx="1721922" cy="13419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6494C1-D5AC-4E8F-B1DA-C6514E578D48}"/>
              </a:ext>
            </a:extLst>
          </p:cNvPr>
          <p:cNvSpPr/>
          <p:nvPr/>
        </p:nvSpPr>
        <p:spPr>
          <a:xfrm>
            <a:off x="1472540" y="2517569"/>
            <a:ext cx="3194462" cy="24106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2E2CAAEF-8F0D-4439-82E4-281DD300003A}"/>
              </a:ext>
            </a:extLst>
          </p:cNvPr>
          <p:cNvSpPr/>
          <p:nvPr/>
        </p:nvSpPr>
        <p:spPr>
          <a:xfrm>
            <a:off x="2189759" y="3069772"/>
            <a:ext cx="220065" cy="2375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F51E0F9-E2B9-4E38-BAA6-BB4396D0A6CA}"/>
              </a:ext>
            </a:extLst>
          </p:cNvPr>
          <p:cNvSpPr/>
          <p:nvPr/>
        </p:nvSpPr>
        <p:spPr>
          <a:xfrm>
            <a:off x="2947988" y="3614738"/>
            <a:ext cx="212610" cy="244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30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75906F-51C1-44C2-9143-93FE634A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Square 2D Palindrome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B22FBB-BA4A-4684-B3F7-92C490CBC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820" y="3429000"/>
            <a:ext cx="3583349" cy="10350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pals[7, 7] = 4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27D8F0F-8EB1-4A65-B09D-36FC4EF4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2618"/>
            <a:ext cx="4448175" cy="32385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DBABBE9-46DE-4C5F-8C1F-02BFBC0EA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74" y="1825625"/>
            <a:ext cx="4714875" cy="790575"/>
          </a:xfrm>
          <a:prstGeom prst="rect">
            <a:avLst/>
          </a:prstGeom>
        </p:spPr>
      </p:pic>
      <p:sp>
        <p:nvSpPr>
          <p:cNvPr id="16" name="橢圓 15">
            <a:extLst>
              <a:ext uri="{FF2B5EF4-FFF2-40B4-BE49-F238E27FC236}">
                <a16:creationId xmlns:a16="http://schemas.microsoft.com/office/drawing/2014/main" id="{DF51E0F9-E2B9-4E38-BAA6-BB4396D0A6CA}"/>
              </a:ext>
            </a:extLst>
          </p:cNvPr>
          <p:cNvSpPr/>
          <p:nvPr/>
        </p:nvSpPr>
        <p:spPr>
          <a:xfrm>
            <a:off x="3657600" y="4126523"/>
            <a:ext cx="311878" cy="3375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B2D453-5696-4D4E-8532-AD85C2931D8B}"/>
              </a:ext>
            </a:extLst>
          </p:cNvPr>
          <p:cNvSpPr/>
          <p:nvPr/>
        </p:nvSpPr>
        <p:spPr>
          <a:xfrm>
            <a:off x="2586155" y="3305908"/>
            <a:ext cx="2485293" cy="19231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0A4ACE0B-6635-4766-8464-FE1827053B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7819" y="4894634"/>
                <a:ext cx="4995981" cy="10350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/>
                  <a:t>Time complexity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0A4ACE0B-6635-4766-8464-FE1827053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819" y="4894634"/>
                <a:ext cx="4995981" cy="1035050"/>
              </a:xfrm>
              <a:prstGeom prst="rect">
                <a:avLst/>
              </a:prstGeom>
              <a:blipFill>
                <a:blip r:embed="rId4"/>
                <a:stretch>
                  <a:fillRect l="-2561" t="-1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02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D3E73-E23F-4860-B00F-520810C9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Rectangle 2D Palindrome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683C8E-8334-463C-9380-09FF36C59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D49BEC-6977-4B58-A98B-32A73F09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989" y="1384030"/>
            <a:ext cx="4400550" cy="49434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962CBF5-E2FE-42F9-986C-AC3D5DA06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629" y="1549399"/>
            <a:ext cx="2635100" cy="494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9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4AAFF-0D50-43DB-B6C8-16307DF0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Rectangle 2D Palindrome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F552BAA-E2A5-41E2-9CF3-24A5B9CF0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398794"/>
              </p:ext>
            </p:extLst>
          </p:nvPr>
        </p:nvGraphicFramePr>
        <p:xfrm>
          <a:off x="1436077" y="2751748"/>
          <a:ext cx="3744000" cy="28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124332967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78136827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9284249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61520708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4945695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1269497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0045473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7214103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9297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509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1" u="sng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b="1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8570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914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0713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592701"/>
                  </a:ext>
                </a:extLst>
              </a:tr>
            </a:tbl>
          </a:graphicData>
        </a:graphic>
      </p:graphicFrame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08062C3C-D5AE-420B-AB2B-9AE054797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5561115"/>
              </p:ext>
            </p:extLst>
          </p:nvPr>
        </p:nvGraphicFramePr>
        <p:xfrm>
          <a:off x="6488723" y="2165594"/>
          <a:ext cx="3744000" cy="28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124332967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78136827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9284249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61520708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4945695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1269497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0045473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7214103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9297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509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40625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1" u="sng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b="1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27446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11385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320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6AAC0AB-3B89-4E38-B082-3C5AA0DF5EBC}"/>
              </a:ext>
            </a:extLst>
          </p:cNvPr>
          <p:cNvSpPr/>
          <p:nvPr/>
        </p:nvSpPr>
        <p:spPr>
          <a:xfrm>
            <a:off x="1875692" y="2751748"/>
            <a:ext cx="3176954" cy="23595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80603C-70F6-4DA0-BD6D-3ECDDCA00CE7}"/>
              </a:ext>
            </a:extLst>
          </p:cNvPr>
          <p:cNvSpPr/>
          <p:nvPr/>
        </p:nvSpPr>
        <p:spPr>
          <a:xfrm>
            <a:off x="6463754" y="2725127"/>
            <a:ext cx="3176954" cy="23595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526A1BB-3D9D-4541-9809-A28C831EA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547195"/>
              </p:ext>
            </p:extLst>
          </p:nvPr>
        </p:nvGraphicFramePr>
        <p:xfrm>
          <a:off x="5504622" y="5410174"/>
          <a:ext cx="4136086" cy="46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086">
                  <a:extLst>
                    <a:ext uri="{9D8B030D-6E8A-4147-A177-3AD203B41FA5}">
                      <a16:colId xmlns:a16="http://schemas.microsoft.com/office/drawing/2014/main" val="305855595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920395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0889224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55073106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75927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62106858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68684286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4490744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colLCP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732371"/>
                  </a:ext>
                </a:extLst>
              </a:tr>
            </a:tbl>
          </a:graphicData>
        </a:graphic>
      </p:graphicFrame>
      <p:sp>
        <p:nvSpPr>
          <p:cNvPr id="11" name="橢圓 10">
            <a:extLst>
              <a:ext uri="{FF2B5EF4-FFF2-40B4-BE49-F238E27FC236}">
                <a16:creationId xmlns:a16="http://schemas.microsoft.com/office/drawing/2014/main" id="{49518B27-0702-42EF-B613-A555FC09ADBB}"/>
              </a:ext>
            </a:extLst>
          </p:cNvPr>
          <p:cNvSpPr/>
          <p:nvPr/>
        </p:nvSpPr>
        <p:spPr>
          <a:xfrm>
            <a:off x="9283154" y="3581318"/>
            <a:ext cx="357554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779C06CE-C6DA-4B6E-B264-572062F56A44}"/>
              </a:ext>
            </a:extLst>
          </p:cNvPr>
          <p:cNvSpPr/>
          <p:nvPr/>
        </p:nvSpPr>
        <p:spPr>
          <a:xfrm>
            <a:off x="2372515" y="3222847"/>
            <a:ext cx="357554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AA31E78C-96CD-4648-BDF6-F73683A4D6AB}"/>
              </a:ext>
            </a:extLst>
          </p:cNvPr>
          <p:cNvSpPr/>
          <p:nvPr/>
        </p:nvSpPr>
        <p:spPr>
          <a:xfrm>
            <a:off x="1875692" y="3738497"/>
            <a:ext cx="386862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002CDAF-0439-4798-946C-F7F179CD0A57}"/>
              </a:ext>
            </a:extLst>
          </p:cNvPr>
          <p:cNvSpPr/>
          <p:nvPr/>
        </p:nvSpPr>
        <p:spPr>
          <a:xfrm>
            <a:off x="4678588" y="3698731"/>
            <a:ext cx="357554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8F4D957-18EB-4E30-89A8-68C471D78010}"/>
              </a:ext>
            </a:extLst>
          </p:cNvPr>
          <p:cNvSpPr/>
          <p:nvPr/>
        </p:nvSpPr>
        <p:spPr>
          <a:xfrm>
            <a:off x="6960577" y="3119502"/>
            <a:ext cx="357554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B6C0329-09E7-434C-9550-485239F6FF4E}"/>
              </a:ext>
            </a:extLst>
          </p:cNvPr>
          <p:cNvSpPr/>
          <p:nvPr/>
        </p:nvSpPr>
        <p:spPr>
          <a:xfrm>
            <a:off x="6463754" y="3635152"/>
            <a:ext cx="386862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ACDF1F09-1006-49C4-A874-F0D6DD12DAC7}"/>
              </a:ext>
            </a:extLst>
          </p:cNvPr>
          <p:cNvSpPr/>
          <p:nvPr/>
        </p:nvSpPr>
        <p:spPr>
          <a:xfrm>
            <a:off x="8839935" y="4054098"/>
            <a:ext cx="357554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E2CD3E1C-B839-4EBE-86AA-B4A86A616B4A}"/>
              </a:ext>
            </a:extLst>
          </p:cNvPr>
          <p:cNvSpPr/>
          <p:nvPr/>
        </p:nvSpPr>
        <p:spPr>
          <a:xfrm>
            <a:off x="4259546" y="4198843"/>
            <a:ext cx="357554" cy="412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04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4C2908-1C9A-4051-BFE5-DE6B6DE2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Rectangle 2D Palindrome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2B6B6BB-0341-4A7E-86FE-359957CC8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7521" y="3538134"/>
                <a:ext cx="6375059" cy="1565411"/>
              </a:xfrm>
            </p:spPr>
            <p:txBody>
              <a:bodyPr/>
              <a:lstStyle/>
              <a:p>
                <a:r>
                  <a:rPr lang="en-US" altLang="zh-TW" dirty="0"/>
                  <a:t>range minimum query on </a:t>
                </a:r>
                <a:r>
                  <a:rPr lang="en-US" altLang="zh-TW" dirty="0" err="1"/>
                  <a:t>colLCP</a:t>
                </a:r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Time complexity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2B6B6BB-0341-4A7E-86FE-359957CC8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7521" y="3538134"/>
                <a:ext cx="6375059" cy="1565411"/>
              </a:xfrm>
              <a:blipFill>
                <a:blip r:embed="rId2"/>
                <a:stretch>
                  <a:fillRect l="-1721" t="-6615" b="-6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C04941-D194-488F-BC96-CE66A2AA0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32126"/>
              </p:ext>
            </p:extLst>
          </p:nvPr>
        </p:nvGraphicFramePr>
        <p:xfrm>
          <a:off x="1092128" y="2295545"/>
          <a:ext cx="3744000" cy="28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124332967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78136827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9284249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61520708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4945695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1269497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0045473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7214103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9297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509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1" u="sng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b="1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8570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914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0713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592701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0D52E49B-BD16-4ADD-88F2-1A3441673587}"/>
              </a:ext>
            </a:extLst>
          </p:cNvPr>
          <p:cNvSpPr/>
          <p:nvPr/>
        </p:nvSpPr>
        <p:spPr>
          <a:xfrm>
            <a:off x="2072081" y="3338818"/>
            <a:ext cx="2122415" cy="3607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138279-5594-4C72-8F3B-31A2001A7ECE}"/>
              </a:ext>
            </a:extLst>
          </p:cNvPr>
          <p:cNvSpPr/>
          <p:nvPr/>
        </p:nvSpPr>
        <p:spPr>
          <a:xfrm>
            <a:off x="2466363" y="2373234"/>
            <a:ext cx="1342239" cy="22994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12F1E81-5A2B-4AD3-8D52-85AAA7C1B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998170"/>
              </p:ext>
            </p:extLst>
          </p:nvPr>
        </p:nvGraphicFramePr>
        <p:xfrm>
          <a:off x="5672402" y="2295545"/>
          <a:ext cx="4136086" cy="46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086">
                  <a:extLst>
                    <a:ext uri="{9D8B030D-6E8A-4147-A177-3AD203B41FA5}">
                      <a16:colId xmlns:a16="http://schemas.microsoft.com/office/drawing/2014/main" val="305855595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920395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0889224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55073106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759270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62106858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68684286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4490744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colLCP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73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98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703B9A-EB12-4DA3-A199-FBDB8AC4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Number of  rec2DP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1A2B4E-E848-4D3C-8D28-986891FA1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3B4B37-94F1-4885-B082-6814C3DD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039381"/>
            <a:ext cx="9578340" cy="413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46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CC924-1D85-4FE0-BF61-91892E50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KMR algorithm in 2D + Binary search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FA6D-D994-470E-A073-3D4B339CE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25" y="1775449"/>
            <a:ext cx="799276" cy="4351338"/>
          </a:xfrm>
        </p:spPr>
        <p:txBody>
          <a:bodyPr/>
          <a:lstStyle/>
          <a:p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3D581B-C9AC-49C6-A904-9D3FA206E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057051"/>
              </p:ext>
            </p:extLst>
          </p:nvPr>
        </p:nvGraphicFramePr>
        <p:xfrm>
          <a:off x="1080766" y="2242487"/>
          <a:ext cx="3276000" cy="23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2740617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7400381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54987213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7341795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9514473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445434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258036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7398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98216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="1" u="sng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b="1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852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9862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57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FAA6AF3-00C8-4940-80C4-FF98B5774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438481"/>
              </p:ext>
            </p:extLst>
          </p:nvPr>
        </p:nvGraphicFramePr>
        <p:xfrm>
          <a:off x="4654915" y="1939300"/>
          <a:ext cx="3276000" cy="18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7798333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9807346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0699698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4254452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4760336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14786755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03670875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268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E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3508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G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H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I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H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M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65063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M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M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G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4712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345A904-4FCD-4FAB-8AC9-1B5389A01303}"/>
                  </a:ext>
                </a:extLst>
              </p:cNvPr>
              <p:cNvSpPr txBox="1"/>
              <p:nvPr/>
            </p:nvSpPr>
            <p:spPr>
              <a:xfrm>
                <a:off x="4654997" y="1472891"/>
                <a:ext cx="4766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altLang="zh-TW" sz="2400" b="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345A904-4FCD-4FAB-8AC9-1B5389A01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997" y="1472891"/>
                <a:ext cx="476656" cy="461665"/>
              </a:xfrm>
              <a:prstGeom prst="rect">
                <a:avLst/>
              </a:prstGeom>
              <a:blipFill>
                <a:blip r:embed="rId2"/>
                <a:stretch>
                  <a:fillRect l="-3846" r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611093-5E91-4B12-9B52-18A6DDB1F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46024"/>
              </p:ext>
            </p:extLst>
          </p:nvPr>
        </p:nvGraphicFramePr>
        <p:xfrm>
          <a:off x="4671551" y="4414382"/>
          <a:ext cx="3276000" cy="18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7798333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9807346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0699698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4254452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4760336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14786755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03670875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68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508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5063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none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4712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F03642-D5F9-4A11-A18E-A5EC8562BA74}"/>
                  </a:ext>
                </a:extLst>
              </p:cNvPr>
              <p:cNvSpPr txBox="1"/>
              <p:nvPr/>
            </p:nvSpPr>
            <p:spPr>
              <a:xfrm>
                <a:off x="4654997" y="3889651"/>
                <a:ext cx="476656" cy="468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TW" sz="2400" b="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F03642-D5F9-4A11-A18E-A5EC8562B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997" y="3889651"/>
                <a:ext cx="476656" cy="468398"/>
              </a:xfrm>
              <a:prstGeom prst="rect">
                <a:avLst/>
              </a:prstGeom>
              <a:blipFill>
                <a:blip r:embed="rId3"/>
                <a:stretch>
                  <a:fillRect l="-3846" r="-46154" b="-38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FBD4AFA-66BD-43BE-9B2A-8D0F5A7F5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80562"/>
              </p:ext>
            </p:extLst>
          </p:nvPr>
        </p:nvGraphicFramePr>
        <p:xfrm>
          <a:off x="8293530" y="2018889"/>
          <a:ext cx="3638614" cy="93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802">
                  <a:extLst>
                    <a:ext uri="{9D8B030D-6E8A-4147-A177-3AD203B41FA5}">
                      <a16:colId xmlns:a16="http://schemas.microsoft.com/office/drawing/2014/main" val="779833364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1980734664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4206996984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2442544525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3447603365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3147867550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303670875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N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O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P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Q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R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S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68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U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V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Y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Z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r>
                        <a:rPr lang="en-US" altLang="zh-TW" sz="2400" baseline="-250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5085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154677C-260C-4334-A0F8-918595BD1638}"/>
                  </a:ext>
                </a:extLst>
              </p:cNvPr>
              <p:cNvSpPr txBox="1"/>
              <p:nvPr/>
            </p:nvSpPr>
            <p:spPr>
              <a:xfrm>
                <a:off x="8546129" y="1544617"/>
                <a:ext cx="4766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sz="2400" b="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154677C-260C-4334-A0F8-918595BD1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129" y="1544617"/>
                <a:ext cx="476656" cy="461665"/>
              </a:xfrm>
              <a:prstGeom prst="rect">
                <a:avLst/>
              </a:prstGeom>
              <a:blipFill>
                <a:blip r:embed="rId4"/>
                <a:stretch>
                  <a:fillRect l="-3846" r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A4EDF09-AA25-4D17-A11A-8FCC29B12BF6}"/>
                  </a:ext>
                </a:extLst>
              </p:cNvPr>
              <p:cNvSpPr txBox="1"/>
              <p:nvPr/>
            </p:nvSpPr>
            <p:spPr>
              <a:xfrm>
                <a:off x="8472061" y="3945215"/>
                <a:ext cx="476656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TW" sz="2400" b="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A4EDF09-AA25-4D17-A11A-8FCC29B1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061" y="3945215"/>
                <a:ext cx="476656" cy="469167"/>
              </a:xfrm>
              <a:prstGeom prst="rect">
                <a:avLst/>
              </a:prstGeom>
              <a:blipFill>
                <a:blip r:embed="rId5"/>
                <a:stretch>
                  <a:fillRect l="-3846" r="-46154" b="-5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746B3F4-090B-4648-91C6-0C56163CD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65477"/>
              </p:ext>
            </p:extLst>
          </p:nvPr>
        </p:nvGraphicFramePr>
        <p:xfrm>
          <a:off x="8293327" y="4618670"/>
          <a:ext cx="3638614" cy="93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802">
                  <a:extLst>
                    <a:ext uri="{9D8B030D-6E8A-4147-A177-3AD203B41FA5}">
                      <a16:colId xmlns:a16="http://schemas.microsoft.com/office/drawing/2014/main" val="779833364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1980734664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4206996984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2442544525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3447603365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3147867550"/>
                    </a:ext>
                  </a:extLst>
                </a:gridCol>
                <a:gridCol w="519802">
                  <a:extLst>
                    <a:ext uri="{9D8B030D-6E8A-4147-A177-3AD203B41FA5}">
                      <a16:colId xmlns:a16="http://schemas.microsoft.com/office/drawing/2014/main" val="303670875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N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B</a:t>
                      </a:r>
                      <a:r>
                        <a:rPr lang="en-US" altLang="zh-TW" sz="2400" baseline="-250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R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Q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P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S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68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C</a:t>
                      </a:r>
                      <a:r>
                        <a:rPr lang="en-US" altLang="zh-TW" sz="2400" baseline="-250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D</a:t>
                      </a:r>
                      <a:r>
                        <a:rPr lang="en-US" altLang="zh-TW" sz="2400" baseline="-250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Y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W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Z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r>
                        <a:rPr lang="en-US" altLang="zh-TW" sz="2400" baseline="-25000" dirty="0"/>
                        <a:t>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508526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A5E1DDA0-311F-4E4F-8ABC-1FDFCB376764}"/>
              </a:ext>
            </a:extLst>
          </p:cNvPr>
          <p:cNvSpPr txBox="1"/>
          <p:nvPr/>
        </p:nvSpPr>
        <p:spPr>
          <a:xfrm>
            <a:off x="21448" y="6271009"/>
            <a:ext cx="11190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Richard M. Karp, </a:t>
            </a:r>
            <a:r>
              <a:rPr lang="en-US" altLang="zh-TW" sz="1400" dirty="0" err="1">
                <a:solidFill>
                  <a:schemeClr val="bg1">
                    <a:lumMod val="50000"/>
                  </a:schemeClr>
                </a:solidFill>
              </a:rPr>
              <a:t>Raymod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 E. Miller and Arnold L. </a:t>
            </a:r>
            <a:r>
              <a:rPr lang="en-US" altLang="zh-TW" sz="1400" dirty="0" err="1">
                <a:solidFill>
                  <a:schemeClr val="bg1">
                    <a:lumMod val="50000"/>
                  </a:schemeClr>
                </a:solidFill>
              </a:rPr>
              <a:t>Roesnberg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, “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Rapid identification of repeated patterns in strings, trees and arrays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”, 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</a:rPr>
              <a:t>Proceedings of the fourth annual ACM symposium on Theory of computing, Denver, CO, USA, May 1972, pp. 125–136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70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27610-8FA6-4F7C-9346-59E2A9CD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F92D1E7-5483-4C5B-BC2C-BBB904918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sq2DP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</a:t>
                </a:r>
              </a:p>
              <a:p>
                <a:r>
                  <a:rPr lang="en-US" altLang="zh-TW" i="1" dirty="0"/>
                  <a:t>rect2DP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original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i="1" dirty="0"/>
              </a:p>
              <a:p>
                <a:pPr marL="0" indent="0">
                  <a:buNone/>
                </a:pPr>
                <a:r>
                  <a:rPr lang="en-US" altLang="zh-TW" dirty="0"/>
                  <a:t> improved</a:t>
                </a:r>
                <a:r>
                  <a:rPr lang="zh-TW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𝑜𝑐𝑐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F92D1E7-5483-4C5B-BC2C-BBB904918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65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</TotalTime>
  <Words>788</Words>
  <Application>Microsoft Office PowerPoint</Application>
  <PresentationFormat>寬螢幕</PresentationFormat>
  <Paragraphs>337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Times New Roman</vt:lpstr>
      <vt:lpstr>Office 佈景主題</vt:lpstr>
      <vt:lpstr>Finding Maximal 2-Dimensional Palindromes</vt:lpstr>
      <vt:lpstr>Abstract </vt:lpstr>
      <vt:lpstr>2D Palindrome </vt:lpstr>
      <vt:lpstr>2D Palindrome</vt:lpstr>
      <vt:lpstr>Square 2D Palindrome</vt:lpstr>
      <vt:lpstr>Square 2D Palindrome</vt:lpstr>
      <vt:lpstr>Square 2D Palindrome</vt:lpstr>
      <vt:lpstr>Rectangle 2D Palindrome</vt:lpstr>
      <vt:lpstr>Rectangle 2D Palindrome</vt:lpstr>
      <vt:lpstr>Rectangle 2D Palindrome</vt:lpstr>
      <vt:lpstr>Number of  rec2DP</vt:lpstr>
      <vt:lpstr>KMR algorithm in 2D + Binary search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maximal 2-dimensional palindromes</dc:title>
  <dc:creator>pplabeveryone</dc:creator>
  <cp:lastModifiedBy>pplabeveryone</cp:lastModifiedBy>
  <cp:revision>38</cp:revision>
  <dcterms:created xsi:type="dcterms:W3CDTF">2020-03-22T06:34:17Z</dcterms:created>
  <dcterms:modified xsi:type="dcterms:W3CDTF">2020-03-24T10:21:39Z</dcterms:modified>
</cp:coreProperties>
</file>