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311" r:id="rId3"/>
    <p:sldId id="312" r:id="rId4"/>
    <p:sldId id="356" r:id="rId5"/>
    <p:sldId id="322" r:id="rId6"/>
    <p:sldId id="357" r:id="rId7"/>
    <p:sldId id="353" r:id="rId8"/>
    <p:sldId id="354"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6666FF"/>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59" autoAdjust="0"/>
    <p:restoredTop sz="81520" autoAdjust="0"/>
  </p:normalViewPr>
  <p:slideViewPr>
    <p:cSldViewPr snapToGrid="0">
      <p:cViewPr varScale="1">
        <p:scale>
          <a:sx n="71" d="100"/>
          <a:sy n="71" d="100"/>
        </p:scale>
        <p:origin x="2122" y="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pPr/>
              <a:t>2020/2/18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pPr/>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val="4250931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3238673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Tryptophan:</a:t>
            </a:r>
            <a:r>
              <a:rPr lang="zh-TW" altLang="en-US" dirty="0"/>
              <a:t>色胺酸</a:t>
            </a:r>
            <a:endParaRPr lang="en-US" altLang="zh-TW" dirty="0"/>
          </a:p>
          <a:p>
            <a:r>
              <a:rPr lang="en-US" altLang="zh-TW" dirty="0"/>
              <a:t>Leucine:</a:t>
            </a:r>
            <a:r>
              <a:rPr lang="zh-TW" altLang="en-US" dirty="0"/>
              <a:t>亮氨酸</a:t>
            </a:r>
            <a:endParaRPr lang="en-US" altLang="zh-TW" dirty="0"/>
          </a:p>
          <a:p>
            <a:r>
              <a:rPr lang="zh-TW" altLang="en-US" dirty="0">
                <a:latin typeface="Times New Roman" panose="02020603050405020304" pitchFamily="18" charset="0"/>
                <a:cs typeface="Times New Roman" panose="02020603050405020304" pitchFamily="18" charset="0"/>
              </a:rPr>
              <a:t>Isoleucine</a:t>
            </a:r>
            <a:r>
              <a:rPr lang="en-US" altLang="zh-TW" dirty="0">
                <a:latin typeface="Times New Roman" panose="02020603050405020304" pitchFamily="18" charset="0"/>
                <a:cs typeface="Times New Roman" panose="02020603050405020304" pitchFamily="18" charset="0"/>
              </a:rPr>
              <a:t>:</a:t>
            </a:r>
            <a:r>
              <a:rPr lang="zh-TW" altLang="en-US" sz="1200" b="0" i="0" kern="1200" dirty="0">
                <a:solidFill>
                  <a:schemeClr val="tx1"/>
                </a:solidFill>
                <a:effectLst/>
                <a:latin typeface="+mn-lt"/>
                <a:ea typeface="+mn-ea"/>
                <a:cs typeface="+mn-cs"/>
              </a:rPr>
              <a:t>異白胺酸</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5</a:t>
            </a:fld>
            <a:endParaRPr lang="zh-TW" altLang="en-US"/>
          </a:p>
        </p:txBody>
      </p:sp>
    </p:spTree>
    <p:extLst>
      <p:ext uri="{BB962C8B-B14F-4D97-AF65-F5344CB8AC3E}">
        <p14:creationId xmlns:p14="http://schemas.microsoft.com/office/powerpoint/2010/main" val="62223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dirty="0"/>
              <a:t>通常，比對</a:t>
            </a:r>
            <a:r>
              <a:rPr lang="en-US" altLang="zh-TW" dirty="0"/>
              <a:t>100</a:t>
            </a:r>
            <a:r>
              <a:rPr lang="zh-TW" altLang="en-US" dirty="0"/>
              <a:t>％相同的序列，不匹配的代價會很高，</a:t>
            </a:r>
            <a:endParaRPr lang="en-US" altLang="zh-TW" dirty="0"/>
          </a:p>
          <a:p>
            <a:r>
              <a:rPr lang="zh-TW" altLang="en-US" dirty="0"/>
              <a:t>因為我們不希望有任何不匹配的情況，而相距遙遠的相關序列的比對則，不匹配的分數會更低，而匹配的得分會更高。</a:t>
            </a:r>
            <a:endParaRPr lang="en-US" altLang="zh-TW" dirty="0"/>
          </a:p>
          <a:p>
            <a:r>
              <a:rPr lang="en-US" altLang="zh-TW" dirty="0"/>
              <a:t>Tryptophan:</a:t>
            </a:r>
            <a:r>
              <a:rPr lang="zh-TW" altLang="en-US" dirty="0"/>
              <a:t>色胺酸</a:t>
            </a:r>
            <a:endParaRPr lang="en-US" altLang="zh-TW" dirty="0"/>
          </a:p>
          <a:p>
            <a:r>
              <a:rPr lang="en-US" altLang="zh-TW" dirty="0"/>
              <a:t>Leucine:</a:t>
            </a:r>
            <a:r>
              <a:rPr lang="zh-TW" altLang="en-US" dirty="0"/>
              <a:t>亮氨酸</a:t>
            </a:r>
            <a:endParaRPr lang="en-US" altLang="zh-TW" dirty="0"/>
          </a:p>
          <a:p>
            <a:r>
              <a:rPr lang="zh-TW" altLang="en-US" dirty="0">
                <a:latin typeface="Times New Roman" panose="02020603050405020304" pitchFamily="18" charset="0"/>
                <a:cs typeface="Times New Roman" panose="02020603050405020304" pitchFamily="18" charset="0"/>
              </a:rPr>
              <a:t>Isoleucine</a:t>
            </a:r>
            <a:r>
              <a:rPr lang="en-US" altLang="zh-TW" dirty="0">
                <a:latin typeface="Times New Roman" panose="02020603050405020304" pitchFamily="18" charset="0"/>
                <a:cs typeface="Times New Roman" panose="02020603050405020304" pitchFamily="18" charset="0"/>
              </a:rPr>
              <a:t>:</a:t>
            </a:r>
            <a:r>
              <a:rPr lang="zh-TW" altLang="en-US" sz="1200" b="0" i="0" kern="1200" dirty="0">
                <a:solidFill>
                  <a:schemeClr val="tx1"/>
                </a:solidFill>
                <a:effectLst/>
                <a:latin typeface="+mn-lt"/>
                <a:ea typeface="+mn-ea"/>
                <a:cs typeface="+mn-cs"/>
              </a:rPr>
              <a:t>異白胺酸</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6</a:t>
            </a:fld>
            <a:endParaRPr lang="zh-TW" altLang="en-US"/>
          </a:p>
        </p:txBody>
      </p:sp>
    </p:spTree>
    <p:extLst>
      <p:ext uri="{BB962C8B-B14F-4D97-AF65-F5344CB8AC3E}">
        <p14:creationId xmlns:p14="http://schemas.microsoft.com/office/powerpoint/2010/main" val="2692096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7</a:t>
            </a:fld>
            <a:endParaRPr lang="zh-TW" altLang="en-US"/>
          </a:p>
        </p:txBody>
      </p:sp>
    </p:spTree>
    <p:extLst>
      <p:ext uri="{BB962C8B-B14F-4D97-AF65-F5344CB8AC3E}">
        <p14:creationId xmlns:p14="http://schemas.microsoft.com/office/powerpoint/2010/main" val="1186107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smtClean="0"/>
              <a:t>Homologous over-extension often occurs from short repeated domains</a:t>
            </a:r>
          </a:p>
          <a:p>
            <a:r>
              <a:rPr lang="zh-TW" altLang="en-US" dirty="0" smtClean="0"/>
              <a:t>同源過度延伸通常發生在短的重複域中。 例如，圖</a:t>
            </a:r>
            <a:r>
              <a:rPr lang="en-US" altLang="zh-TW" dirty="0" smtClean="0"/>
              <a:t>3A</a:t>
            </a:r>
            <a:r>
              <a:rPr lang="zh-TW" altLang="en-US" dirty="0" smtClean="0"/>
              <a:t>顯示了</a:t>
            </a:r>
            <a:r>
              <a:rPr lang="en-US" altLang="zh-TW" dirty="0" smtClean="0"/>
              <a:t>VAV_HUMAN</a:t>
            </a:r>
            <a:r>
              <a:rPr lang="zh-TW" altLang="en-US" dirty="0" smtClean="0"/>
              <a:t>（</a:t>
            </a:r>
            <a:r>
              <a:rPr lang="en-US" altLang="zh-TW" dirty="0" smtClean="0"/>
              <a:t>P 15498</a:t>
            </a:r>
            <a:r>
              <a:rPr lang="zh-TW" altLang="en-US" dirty="0" smtClean="0"/>
              <a:t>）與</a:t>
            </a:r>
            <a:r>
              <a:rPr lang="en-US" altLang="zh-TW" dirty="0" smtClean="0"/>
              <a:t>SKAP2_XENTR</a:t>
            </a:r>
            <a:r>
              <a:rPr lang="zh-TW" altLang="en-US" dirty="0" smtClean="0"/>
              <a:t>（</a:t>
            </a:r>
            <a:r>
              <a:rPr lang="en-US" altLang="zh-TW" dirty="0" smtClean="0"/>
              <a:t>Q5FVW6</a:t>
            </a:r>
            <a:r>
              <a:rPr lang="zh-TW" altLang="en-US" dirty="0" smtClean="0"/>
              <a:t>）的</a:t>
            </a:r>
            <a:r>
              <a:rPr lang="en-US" altLang="zh-TW" dirty="0" smtClean="0"/>
              <a:t>BLASTP</a:t>
            </a:r>
            <a:r>
              <a:rPr lang="zh-TW" altLang="en-US" dirty="0" smtClean="0"/>
              <a:t>比對，</a:t>
            </a:r>
            <a:endParaRPr lang="en-US" altLang="zh-TW" dirty="0" smtClean="0"/>
          </a:p>
          <a:p>
            <a:r>
              <a:rPr lang="en-US" altLang="zh-TW" dirty="0" smtClean="0"/>
              <a:t>SKAP2_XENTR</a:t>
            </a:r>
            <a:r>
              <a:rPr lang="zh-TW" altLang="en-US" dirty="0" smtClean="0"/>
              <a:t>（</a:t>
            </a:r>
            <a:r>
              <a:rPr lang="en-US" altLang="zh-TW" dirty="0" smtClean="0"/>
              <a:t>Q5FVW6</a:t>
            </a:r>
            <a:r>
              <a:rPr lang="zh-TW" altLang="en-US" dirty="0" smtClean="0"/>
              <a:t>）是一種蛋白質，其包含與</a:t>
            </a:r>
            <a:r>
              <a:rPr lang="en-US" altLang="zh-TW" dirty="0" smtClean="0"/>
              <a:t>58</a:t>
            </a:r>
            <a:r>
              <a:rPr lang="zh-TW" altLang="en-US" dirty="0" smtClean="0"/>
              <a:t>個氨基酸同源的</a:t>
            </a:r>
            <a:r>
              <a:rPr lang="en-US" altLang="zh-TW" dirty="0" smtClean="0"/>
              <a:t>SH3</a:t>
            </a:r>
            <a:r>
              <a:rPr lang="zh-TW" altLang="en-US" dirty="0" smtClean="0"/>
              <a:t>結構域。 </a:t>
            </a:r>
            <a:endParaRPr lang="en-US" altLang="zh-TW" dirty="0" smtClean="0"/>
          </a:p>
          <a:p>
            <a:r>
              <a:rPr lang="zh-TW" altLang="en-US" dirty="0" smtClean="0"/>
              <a:t>但是，比對長度為</a:t>
            </a:r>
            <a:r>
              <a:rPr lang="en-US" altLang="zh-TW" dirty="0" smtClean="0"/>
              <a:t>198</a:t>
            </a:r>
            <a:r>
              <a:rPr lang="zh-TW" altLang="en-US" dirty="0" smtClean="0"/>
              <a:t>個殘基。 </a:t>
            </a:r>
            <a:endParaRPr lang="en-US" altLang="zh-TW" dirty="0" smtClean="0"/>
          </a:p>
          <a:p>
            <a:r>
              <a:rPr lang="zh-TW" altLang="en-US" dirty="0" smtClean="0"/>
              <a:t>比對中的另外</a:t>
            </a:r>
            <a:r>
              <a:rPr lang="en-US" altLang="zh-TW" dirty="0" smtClean="0"/>
              <a:t>140</a:t>
            </a:r>
            <a:r>
              <a:rPr lang="zh-TW" altLang="en-US" dirty="0" smtClean="0"/>
              <a:t>個殘基包括</a:t>
            </a:r>
            <a:r>
              <a:rPr lang="en-US" altLang="zh-TW" dirty="0" smtClean="0"/>
              <a:t>SKAP2_XENTR</a:t>
            </a:r>
            <a:r>
              <a:rPr lang="zh-TW" altLang="en-US" dirty="0" smtClean="0"/>
              <a:t>中的</a:t>
            </a:r>
            <a:r>
              <a:rPr lang="en-US" altLang="zh-TW" dirty="0" smtClean="0"/>
              <a:t>100</a:t>
            </a:r>
            <a:r>
              <a:rPr lang="zh-TW" altLang="en-US" dirty="0" smtClean="0"/>
              <a:t>個殘基</a:t>
            </a:r>
            <a:r>
              <a:rPr lang="en-US" altLang="zh-TW" dirty="0" err="1" smtClean="0"/>
              <a:t>Pleckstrin</a:t>
            </a:r>
            <a:r>
              <a:rPr lang="zh-TW" altLang="en-US" dirty="0" smtClean="0"/>
              <a:t>結構域，該結構域不是同源的（</a:t>
            </a:r>
            <a:r>
              <a:rPr lang="en-US" altLang="zh-TW" dirty="0" smtClean="0"/>
              <a:t>VAV_HUMAN</a:t>
            </a:r>
            <a:r>
              <a:rPr lang="zh-TW" altLang="en-US" dirty="0" smtClean="0"/>
              <a:t>在與</a:t>
            </a:r>
            <a:r>
              <a:rPr lang="en-US" altLang="zh-TW" dirty="0" smtClean="0"/>
              <a:t>SKAP2_XENTR</a:t>
            </a:r>
            <a:r>
              <a:rPr lang="zh-TW" altLang="en-US" dirty="0" smtClean="0"/>
              <a:t>中的</a:t>
            </a:r>
            <a:r>
              <a:rPr lang="en-US" altLang="zh-TW" dirty="0" err="1" smtClean="0"/>
              <a:t>Pleckstrin</a:t>
            </a:r>
            <a:r>
              <a:rPr lang="zh-TW" altLang="en-US" dirty="0" smtClean="0"/>
              <a:t>結構域對準的區域中包含</a:t>
            </a:r>
            <a:r>
              <a:rPr lang="en-US" altLang="zh-TW" dirty="0" smtClean="0"/>
              <a:t>SH3</a:t>
            </a:r>
            <a:r>
              <a:rPr lang="zh-TW" altLang="en-US" dirty="0" smtClean="0"/>
              <a:t>結構域）。 </a:t>
            </a:r>
            <a:endParaRPr lang="en-US" altLang="zh-TW" dirty="0" smtClean="0"/>
          </a:p>
          <a:p>
            <a:r>
              <a:rPr lang="en-US" altLang="zh-TW" dirty="0" smtClean="0"/>
              <a:t>58</a:t>
            </a:r>
            <a:r>
              <a:rPr lang="zh-TW" altLang="en-US" dirty="0" smtClean="0"/>
              <a:t>個殘基同源的</a:t>
            </a:r>
            <a:r>
              <a:rPr lang="en-US" altLang="zh-TW" dirty="0" smtClean="0"/>
              <a:t>SH3</a:t>
            </a:r>
            <a:r>
              <a:rPr lang="zh-TW" altLang="en-US" dirty="0" smtClean="0"/>
              <a:t>結構域貢獻了位得分的</a:t>
            </a:r>
            <a:r>
              <a:rPr lang="en-US" altLang="zh-TW" dirty="0" smtClean="0"/>
              <a:t>85</a:t>
            </a:r>
            <a:r>
              <a:rPr lang="zh-TW" altLang="en-US" dirty="0" smtClean="0"/>
              <a:t>％，另外的</a:t>
            </a:r>
            <a:r>
              <a:rPr lang="en-US" altLang="zh-TW" dirty="0" smtClean="0"/>
              <a:t>140</a:t>
            </a:r>
            <a:r>
              <a:rPr lang="zh-TW" altLang="en-US" dirty="0" smtClean="0"/>
              <a:t>個殘基貢獻了不到得分的</a:t>
            </a:r>
            <a:r>
              <a:rPr lang="en-US" altLang="zh-TW" dirty="0" smtClean="0"/>
              <a:t>15</a:t>
            </a:r>
            <a:r>
              <a:rPr lang="zh-TW" altLang="en-US" dirty="0" smtClean="0"/>
              <a:t>％。 使用稍微更嚴格（更淺）的</a:t>
            </a:r>
            <a:r>
              <a:rPr lang="en-US" altLang="zh-TW" dirty="0" smtClean="0"/>
              <a:t>BLOSUM80</a:t>
            </a:r>
            <a:r>
              <a:rPr lang="zh-TW" altLang="en-US" dirty="0" smtClean="0"/>
              <a:t>矩陣不會更改擴展的對齊方式。</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8</a:t>
            </a:fld>
            <a:endParaRPr lang="zh-TW" altLang="en-US"/>
          </a:p>
        </p:txBody>
      </p:sp>
    </p:spTree>
    <p:extLst>
      <p:ext uri="{BB962C8B-B14F-4D97-AF65-F5344CB8AC3E}">
        <p14:creationId xmlns:p14="http://schemas.microsoft.com/office/powerpoint/2010/main" val="2147244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pPr/>
              <a:t>2020/2/18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pPr/>
              <a:t>2020/2/18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pPr/>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50" y="1538969"/>
            <a:ext cx="8348184" cy="877881"/>
          </a:xfrm>
        </p:spPr>
        <p:txBody>
          <a:bodyPr>
            <a:noAutofit/>
          </a:bodyPr>
          <a:lstStyle/>
          <a:p>
            <a:r>
              <a:rPr lang="en-US" altLang="zh-TW" sz="5400" dirty="0">
                <a:latin typeface="Times New Roman" panose="02020603050405020304" pitchFamily="18" charset="0"/>
                <a:cs typeface="Times New Roman" panose="02020603050405020304" pitchFamily="18" charset="0"/>
              </a:rPr>
              <a:t>Selecting the Right Similarity-Scoring Matrix</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30149" y="2900196"/>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William R. Pearson</a:t>
            </a:r>
            <a:endParaRPr lang="en-US" altLang="zh-TW" sz="32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264031"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Feng-Yang</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Tsai</a:t>
            </a:r>
          </a:p>
          <a:p>
            <a:pPr algn="r"/>
            <a:r>
              <a:rPr lang="en-US" altLang="zh-TW" sz="1800" dirty="0" err="1">
                <a:latin typeface="Times New Roman" panose="02020603050405020304" pitchFamily="18" charset="0"/>
                <a:ea typeface="標楷體" panose="03000509000000000000" pitchFamily="65" charset="-120"/>
                <a:cs typeface="Times New Roman" panose="02020603050405020304" pitchFamily="18" charset="0"/>
              </a:rPr>
              <a:t>Date:Feb</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 18,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7" y="3922940"/>
            <a:ext cx="7622889" cy="954107"/>
          </a:xfrm>
          <a:prstGeom prst="rect">
            <a:avLst/>
          </a:prstGeom>
        </p:spPr>
        <p:txBody>
          <a:bodyPr wrap="square">
            <a:spAutoFit/>
          </a:bodyPr>
          <a:lstStyle/>
          <a:p>
            <a:pPr algn="ct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Current Protocols in Bioinformatics</a:t>
            </a:r>
            <a:r>
              <a:rPr lang="en-US" altLang="zh-TW" sz="2800" dirty="0">
                <a:latin typeface="Times New Roman" panose="02020603050405020304" pitchFamily="18" charset="0"/>
                <a:ea typeface="Tahoma" panose="020B0604030504040204" pitchFamily="34" charset="0"/>
                <a:cs typeface="Times New Roman" panose="02020603050405020304" pitchFamily="18" charset="0"/>
              </a:rPr>
              <a:t>. 2013;43:3.5.1–3.5.9</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151843"/>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626353"/>
            <a:ext cx="875353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Protein sequence similarity searching programs like BLASTP, SSEARCH, and FASTA use scoring matrices that are designed to identify distant evolutionary relationships (BLOSUM62 for BLAST, BLOSUM50 for SSEARCH and FASTA). Different similarity scoring matrices are most effective at different evolutionary distances. “Deep” scoring matrices like BLOSUM62 and BLOSUM50 target alignments with 20 – 30% identity, while “shallow” scoring matrices (e.g. VTML10 – VTML80), target alignments that share 90 – 50% identity, reflecting much less evolutionary change. While “deep” matrices provide very sensitive similarity searches, they also require longer sequence alignments and can sometimes produce alignment overextension into non-homologous regions. </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25359" y="10584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25359" y="582580"/>
            <a:ext cx="8759149"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Shallower scoring matrices are more effective when searching for short protein domains, or when the goal is to limit the scope of the search to sequences that are likely to be orthologous between recently diverged organisms. Likewise, in DNA searches, the match and mismatch parameters set evolutionary look-back times and domain boundaries. In this unit, we will discuss the theoretical foundations that drive practical choices of protein and DNA similarity scoring matrices and gap penalties. Deep scoring matrices (BLOSUM62 and BLOSUM50) should be used for sensitive searches with full-length protein sequences, but short domains or restricted evolutionary look-back require shallower scoring matrices.</a:t>
            </a:r>
            <a:endParaRPr lang="fr-FR"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138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885280" y="2508528"/>
            <a:ext cx="2074433" cy="830997"/>
          </a:xfrm>
          <a:prstGeom prst="rect">
            <a:avLst/>
          </a:prstGeom>
          <a:noFill/>
        </p:spPr>
        <p:txBody>
          <a:bodyPr wrap="square" rtlCol="0">
            <a:spAutoFit/>
          </a:bodyPr>
          <a:lstStyle/>
          <a:p>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closely related  sequences</a:t>
            </a:r>
            <a:endParaRPr lang="zh-TW" altLang="en-US" sz="2400" b="1"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文字方塊 5"/>
          <p:cNvSpPr txBox="1"/>
          <p:nvPr/>
        </p:nvSpPr>
        <p:spPr>
          <a:xfrm>
            <a:off x="6011466" y="2508528"/>
            <a:ext cx="2423841" cy="830997"/>
          </a:xfrm>
          <a:prstGeom prst="rect">
            <a:avLst/>
          </a:prstGeom>
          <a:noFill/>
        </p:spPr>
        <p:txBody>
          <a:bodyPr wrap="square" rtlCol="0">
            <a:spAutoFit/>
          </a:bodyPr>
          <a:lstStyle/>
          <a:p>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distant related sequences</a:t>
            </a:r>
            <a:endParaRPr lang="zh-TW" altLang="en-US" sz="2400" b="1"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8" name="直線單箭頭接點 7"/>
          <p:cNvCxnSpPr/>
          <p:nvPr/>
        </p:nvCxnSpPr>
        <p:spPr>
          <a:xfrm flipV="1">
            <a:off x="3284917" y="2924025"/>
            <a:ext cx="2451458" cy="1"/>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885279" y="1219764"/>
            <a:ext cx="1920922" cy="830997"/>
          </a:xfrm>
          <a:prstGeom prst="rect">
            <a:avLst/>
          </a:prstGeom>
        </p:spPr>
        <p:txBody>
          <a:bodyPr wrap="square">
            <a:spAutoFit/>
          </a:bodyPr>
          <a:lstStyle/>
          <a:p>
            <a:r>
              <a:rPr lang="en-US" altLang="zh-TW" sz="2400" dirty="0">
                <a:latin typeface="Times New Roman" panose="02020603050405020304" pitchFamily="18" charset="0"/>
                <a:cs typeface="Times New Roman" panose="02020603050405020304" pitchFamily="18" charset="0"/>
              </a:rPr>
              <a:t>BLOSUM-90</a:t>
            </a:r>
          </a:p>
          <a:p>
            <a:pPr algn="ctr"/>
            <a:r>
              <a:rPr lang="en-US" altLang="zh-TW" sz="2400" dirty="0">
                <a:latin typeface="Times New Roman" panose="02020603050405020304" pitchFamily="18" charset="0"/>
                <a:cs typeface="Times New Roman" panose="02020603050405020304" pitchFamily="18" charset="0"/>
              </a:rPr>
              <a:t>PAM-10</a:t>
            </a:r>
            <a:endParaRPr lang="zh-TW" altLang="en-US" sz="2400" dirty="0"/>
          </a:p>
        </p:txBody>
      </p:sp>
      <p:sp>
        <p:nvSpPr>
          <p:cNvPr id="13" name="矩形 12"/>
          <p:cNvSpPr/>
          <p:nvPr/>
        </p:nvSpPr>
        <p:spPr>
          <a:xfrm>
            <a:off x="3536193" y="1219765"/>
            <a:ext cx="1957868" cy="830997"/>
          </a:xfrm>
          <a:prstGeom prst="rect">
            <a:avLst/>
          </a:prstGeom>
        </p:spPr>
        <p:txBody>
          <a:bodyPr wrap="square">
            <a:spAutoFit/>
          </a:bodyPr>
          <a:lstStyle/>
          <a:p>
            <a:pPr algn="ctr"/>
            <a:r>
              <a:rPr lang="en-US" altLang="zh-TW" sz="2400" dirty="0">
                <a:latin typeface="Times New Roman" panose="02020603050405020304" pitchFamily="18" charset="0"/>
                <a:cs typeface="Times New Roman" panose="02020603050405020304" pitchFamily="18" charset="0"/>
              </a:rPr>
              <a:t>BLOSUM-62</a:t>
            </a:r>
          </a:p>
          <a:p>
            <a:pPr algn="ctr"/>
            <a:r>
              <a:rPr lang="en-US" altLang="zh-TW" sz="2400" dirty="0">
                <a:latin typeface="Times New Roman" panose="02020603050405020304" pitchFamily="18" charset="0"/>
                <a:cs typeface="Times New Roman" panose="02020603050405020304" pitchFamily="18" charset="0"/>
              </a:rPr>
              <a:t>PAM-50</a:t>
            </a:r>
            <a:endParaRPr lang="zh-TW" altLang="en-US" sz="2400" dirty="0"/>
          </a:p>
        </p:txBody>
      </p:sp>
      <p:sp>
        <p:nvSpPr>
          <p:cNvPr id="14" name="矩形 13"/>
          <p:cNvSpPr/>
          <p:nvPr/>
        </p:nvSpPr>
        <p:spPr>
          <a:xfrm>
            <a:off x="6011466" y="1219765"/>
            <a:ext cx="2144656" cy="830997"/>
          </a:xfrm>
          <a:prstGeom prst="rect">
            <a:avLst/>
          </a:prstGeom>
        </p:spPr>
        <p:txBody>
          <a:bodyPr wrap="square">
            <a:spAutoFit/>
          </a:bodyPr>
          <a:lstStyle/>
          <a:p>
            <a:pPr algn="ctr"/>
            <a:r>
              <a:rPr lang="en-US" altLang="zh-TW" sz="2400" dirty="0">
                <a:latin typeface="Times New Roman" panose="02020603050405020304" pitchFamily="18" charset="0"/>
                <a:cs typeface="Times New Roman" panose="02020603050405020304" pitchFamily="18" charset="0"/>
              </a:rPr>
              <a:t>BLOSUM-20</a:t>
            </a:r>
          </a:p>
          <a:p>
            <a:pPr algn="ctr"/>
            <a:r>
              <a:rPr lang="en-US" altLang="zh-TW" sz="2400" dirty="0">
                <a:latin typeface="Times New Roman" panose="02020603050405020304" pitchFamily="18" charset="0"/>
                <a:cs typeface="Times New Roman" panose="02020603050405020304" pitchFamily="18" charset="0"/>
              </a:rPr>
              <a:t>PAM-250</a:t>
            </a:r>
          </a:p>
        </p:txBody>
      </p:sp>
      <p:sp>
        <p:nvSpPr>
          <p:cNvPr id="9" name="標題 1">
            <a:extLst>
              <a:ext uri="{FF2B5EF4-FFF2-40B4-BE49-F238E27FC236}">
                <a16:creationId xmlns:a16="http://schemas.microsoft.com/office/drawing/2014/main" id="{94B01AB9-0651-4F6D-A93A-D571F0BAE9A7}"/>
              </a:ext>
            </a:extLst>
          </p:cNvPr>
          <p:cNvSpPr>
            <a:spLocks noGrp="1"/>
          </p:cNvSpPr>
          <p:nvPr>
            <p:ph type="title"/>
          </p:nvPr>
        </p:nvSpPr>
        <p:spPr>
          <a:xfrm>
            <a:off x="269422" y="92983"/>
            <a:ext cx="7886700" cy="909625"/>
          </a:xfrm>
        </p:spPr>
        <p:txBody>
          <a:bodyPr>
            <a:normAutofit/>
          </a:bodyPr>
          <a:lstStyle/>
          <a:p>
            <a:r>
              <a:rPr lang="en-US" altLang="zh-TW" sz="3200" b="1" dirty="0">
                <a:latin typeface="Times New Roman" panose="02020603050405020304" pitchFamily="18" charset="0"/>
                <a:cs typeface="Times New Roman" panose="02020603050405020304" pitchFamily="18" charset="0"/>
              </a:rPr>
              <a:t>Scoring matrices as odds ratios :</a:t>
            </a:r>
            <a:endParaRPr lang="zh-TW" altLang="en-US" sz="3200" b="1" dirty="0">
              <a:latin typeface="Times New Roman" panose="02020603050405020304" pitchFamily="18" charset="0"/>
              <a:cs typeface="Times New Roman" panose="02020603050405020304" pitchFamily="18" charset="0"/>
            </a:endParaRPr>
          </a:p>
        </p:txBody>
      </p:sp>
      <p:sp>
        <p:nvSpPr>
          <p:cNvPr id="5" name="矩形 4"/>
          <p:cNvSpPr/>
          <p:nvPr/>
        </p:nvSpPr>
        <p:spPr>
          <a:xfrm>
            <a:off x="885279" y="3929915"/>
            <a:ext cx="7513245" cy="2554545"/>
          </a:xfrm>
          <a:prstGeom prst="rect">
            <a:avLst/>
          </a:prstGeom>
        </p:spPr>
        <p:txBody>
          <a:bodyPr wrap="square">
            <a:spAutoFit/>
          </a:bodyPr>
          <a:lstStyle/>
          <a:p>
            <a:r>
              <a:rPr lang="en-US" altLang="zh-TW" sz="2000" dirty="0">
                <a:solidFill>
                  <a:srgbClr val="212529"/>
                </a:solidFill>
                <a:latin typeface="Times New Roman" panose="02020603050405020304" pitchFamily="18" charset="0"/>
                <a:cs typeface="Times New Roman" panose="02020603050405020304" pitchFamily="18" charset="0"/>
              </a:rPr>
              <a:t>PAM2 matrix models alignments </a:t>
            </a:r>
            <a:r>
              <a:rPr lang="en-US" altLang="zh-TW" sz="2000" b="1" dirty="0">
                <a:solidFill>
                  <a:srgbClr val="212529"/>
                </a:solidFill>
                <a:latin typeface="Times New Roman" panose="02020603050405020304" pitchFamily="18" charset="0"/>
                <a:cs typeface="Times New Roman" panose="02020603050405020304" pitchFamily="18" charset="0"/>
              </a:rPr>
              <a:t>with 2% differences</a:t>
            </a:r>
            <a:r>
              <a:rPr lang="en-US" altLang="zh-TW" sz="2000" dirty="0">
                <a:solidFill>
                  <a:srgbClr val="212529"/>
                </a:solidFill>
                <a:latin typeface="Times New Roman" panose="02020603050405020304" pitchFamily="18" charset="0"/>
                <a:cs typeface="Times New Roman" panose="02020603050405020304" pitchFamily="18" charset="0"/>
              </a:rPr>
              <a:t> and </a:t>
            </a:r>
            <a:r>
              <a:rPr lang="en-US" altLang="zh-TW" sz="2000" b="1" dirty="0">
                <a:solidFill>
                  <a:srgbClr val="212529"/>
                </a:solidFill>
                <a:latin typeface="Times New Roman" panose="02020603050405020304" pitchFamily="18" charset="0"/>
                <a:cs typeface="Times New Roman" panose="02020603050405020304" pitchFamily="18" charset="0"/>
              </a:rPr>
              <a:t>has the entropy of 3.97 bits</a:t>
            </a:r>
            <a:r>
              <a:rPr lang="en-US" altLang="zh-TW" sz="2000" dirty="0">
                <a:solidFill>
                  <a:srgbClr val="212529"/>
                </a:solidFill>
                <a:latin typeface="Times New Roman" panose="02020603050405020304" pitchFamily="18" charset="0"/>
                <a:cs typeface="Times New Roman" panose="02020603050405020304" pitchFamily="18" charset="0"/>
              </a:rPr>
              <a:t> and PAM250 modeling alignments </a:t>
            </a:r>
            <a:r>
              <a:rPr lang="en-US" altLang="zh-TW" sz="2000" b="1" dirty="0">
                <a:solidFill>
                  <a:srgbClr val="212529"/>
                </a:solidFill>
                <a:latin typeface="Times New Roman" panose="02020603050405020304" pitchFamily="18" charset="0"/>
                <a:cs typeface="Times New Roman" panose="02020603050405020304" pitchFamily="18" charset="0"/>
              </a:rPr>
              <a:t>with 80% differences </a:t>
            </a:r>
            <a:r>
              <a:rPr lang="en-US" altLang="zh-TW" sz="2000" dirty="0">
                <a:solidFill>
                  <a:srgbClr val="212529"/>
                </a:solidFill>
                <a:latin typeface="Times New Roman" panose="02020603050405020304" pitchFamily="18" charset="0"/>
                <a:cs typeface="Times New Roman" panose="02020603050405020304" pitchFamily="18" charset="0"/>
              </a:rPr>
              <a:t>has the </a:t>
            </a:r>
            <a:r>
              <a:rPr lang="en-US" altLang="zh-TW" sz="2000" b="1" dirty="0">
                <a:solidFill>
                  <a:srgbClr val="212529"/>
                </a:solidFill>
                <a:latin typeface="Times New Roman" panose="02020603050405020304" pitchFamily="18" charset="0"/>
                <a:cs typeface="Times New Roman" panose="02020603050405020304" pitchFamily="18" charset="0"/>
              </a:rPr>
              <a:t>entropy of only 0.354 bits</a:t>
            </a:r>
            <a:r>
              <a:rPr lang="en-US" altLang="zh-TW" sz="2000" dirty="0">
                <a:solidFill>
                  <a:srgbClr val="212529"/>
                </a:solidFill>
                <a:latin typeface="Times New Roman" panose="02020603050405020304" pitchFamily="18" charset="0"/>
                <a:cs typeface="Times New Roman" panose="02020603050405020304" pitchFamily="18" charset="0"/>
              </a:rPr>
              <a:t>. Let's say that the minimum required amount of information is </a:t>
            </a:r>
            <a:r>
              <a:rPr lang="en-US" altLang="zh-TW" sz="2000" b="1" dirty="0">
                <a:solidFill>
                  <a:srgbClr val="212529"/>
                </a:solidFill>
                <a:latin typeface="Times New Roman" panose="02020603050405020304" pitchFamily="18" charset="0"/>
                <a:cs typeface="Times New Roman" panose="02020603050405020304" pitchFamily="18" charset="0"/>
              </a:rPr>
              <a:t>50 bits to distinguish an alignment from chance</a:t>
            </a:r>
            <a:r>
              <a:rPr lang="en-US" altLang="zh-TW" sz="2000" dirty="0">
                <a:solidFill>
                  <a:srgbClr val="212529"/>
                </a:solidFill>
                <a:latin typeface="Times New Roman" panose="02020603050405020304" pitchFamily="18" charset="0"/>
                <a:cs typeface="Times New Roman" panose="02020603050405020304" pitchFamily="18" charset="0"/>
              </a:rPr>
              <a:t>, then the closely related minimum sequence alignment length is </a:t>
            </a:r>
            <a:r>
              <a:rPr lang="en-US" altLang="zh-TW" sz="2000" b="1" dirty="0">
                <a:solidFill>
                  <a:srgbClr val="212529"/>
                </a:solidFill>
                <a:latin typeface="Times New Roman" panose="02020603050405020304" pitchFamily="18" charset="0"/>
                <a:cs typeface="Times New Roman" panose="02020603050405020304" pitchFamily="18" charset="0"/>
              </a:rPr>
              <a:t>50/3.97 = about 13 residues</a:t>
            </a:r>
            <a:r>
              <a:rPr lang="en-US" altLang="zh-TW" sz="2000" dirty="0">
                <a:solidFill>
                  <a:srgbClr val="212529"/>
                </a:solidFill>
                <a:latin typeface="Times New Roman" panose="02020603050405020304" pitchFamily="18" charset="0"/>
                <a:cs typeface="Times New Roman" panose="02020603050405020304" pitchFamily="18" charset="0"/>
              </a:rPr>
              <a:t>, whereas the more distantly related sequences require </a:t>
            </a:r>
            <a:r>
              <a:rPr lang="en-US" altLang="zh-TW" sz="2000" b="1" dirty="0">
                <a:solidFill>
                  <a:srgbClr val="212529"/>
                </a:solidFill>
                <a:latin typeface="Times New Roman" panose="02020603050405020304" pitchFamily="18" charset="0"/>
                <a:cs typeface="Times New Roman" panose="02020603050405020304" pitchFamily="18" charset="0"/>
              </a:rPr>
              <a:t>50/0.354 = about 142 residues </a:t>
            </a:r>
            <a:r>
              <a:rPr lang="en-US" altLang="zh-TW" sz="2000" dirty="0">
                <a:solidFill>
                  <a:srgbClr val="212529"/>
                </a:solidFill>
                <a:latin typeface="Times New Roman" panose="02020603050405020304" pitchFamily="18" charset="0"/>
                <a:cs typeface="Times New Roman" panose="02020603050405020304" pitchFamily="18" charset="0"/>
              </a:rPr>
              <a:t>to be significant.</a:t>
            </a:r>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3201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
            <a:extLst>
              <a:ext uri="{FF2B5EF4-FFF2-40B4-BE49-F238E27FC236}">
                <a16:creationId xmlns:a16="http://schemas.microsoft.com/office/drawing/2014/main" id="{94B01AB9-0651-4F6D-A93A-D571F0BAE9A7}"/>
              </a:ext>
            </a:extLst>
          </p:cNvPr>
          <p:cNvSpPr>
            <a:spLocks noGrp="1"/>
          </p:cNvSpPr>
          <p:nvPr>
            <p:ph type="title"/>
          </p:nvPr>
        </p:nvSpPr>
        <p:spPr>
          <a:xfrm>
            <a:off x="269422" y="92983"/>
            <a:ext cx="7886700" cy="909625"/>
          </a:xfrm>
        </p:spPr>
        <p:txBody>
          <a:bodyPr>
            <a:normAutofit/>
          </a:bodyPr>
          <a:lstStyle/>
          <a:p>
            <a:r>
              <a:rPr lang="en-US" altLang="zh-TW" sz="3200" b="1" dirty="0">
                <a:latin typeface="Times New Roman" panose="02020603050405020304" pitchFamily="18" charset="0"/>
                <a:cs typeface="Times New Roman" panose="02020603050405020304" pitchFamily="18" charset="0"/>
              </a:rPr>
              <a:t>Scoring matrices as odds ratios :</a:t>
            </a:r>
            <a:endParaRPr lang="zh-TW" altLang="en-US" sz="3200"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873249" y="798886"/>
            <a:ext cx="7282873" cy="4581786"/>
          </a:xfrm>
          <a:prstGeom prst="rect">
            <a:avLst/>
          </a:prstGeom>
        </p:spPr>
      </p:pic>
      <p:sp>
        <p:nvSpPr>
          <p:cNvPr id="4" name="矩形 3"/>
          <p:cNvSpPr/>
          <p:nvPr/>
        </p:nvSpPr>
        <p:spPr>
          <a:xfrm>
            <a:off x="1077330" y="5440244"/>
            <a:ext cx="6649063" cy="646331"/>
          </a:xfrm>
          <a:prstGeom prst="rect">
            <a:avLst/>
          </a:prstGeom>
        </p:spPr>
        <p:txBody>
          <a:bodyPr wrap="square">
            <a:spAutoFit/>
          </a:bodyPr>
          <a:lstStyle/>
          <a:p>
            <a:r>
              <a:rPr lang="zh-TW" altLang="en-US" dirty="0">
                <a:latin typeface="Times New Roman" panose="02020603050405020304" pitchFamily="18" charset="0"/>
                <a:cs typeface="Times New Roman" panose="02020603050405020304" pitchFamily="18" charset="0"/>
              </a:rPr>
              <a:t>BLOSUM45 for score of 15 for the same W-W match. </a:t>
            </a:r>
            <a:endParaRPr lang="en-US" altLang="zh-TW" dirty="0">
              <a:latin typeface="Times New Roman" panose="02020603050405020304" pitchFamily="18" charset="0"/>
              <a:cs typeface="Times New Roman" panose="02020603050405020304" pitchFamily="18" charset="0"/>
            </a:endParaRPr>
          </a:p>
          <a:p>
            <a:r>
              <a:rPr lang="zh-TW" altLang="en-US" dirty="0">
                <a:latin typeface="Times New Roman" panose="02020603050405020304" pitchFamily="18" charset="0"/>
                <a:cs typeface="Times New Roman" panose="02020603050405020304" pitchFamily="18" charset="0"/>
              </a:rPr>
              <a:t>BLOSUM45 for Isoleucine-Tryptophan (I-W) is -2</a:t>
            </a:r>
            <a:endParaRPr lang="en-US" altLang="zh-TW" dirty="0">
              <a:latin typeface="Times New Roman" panose="02020603050405020304" pitchFamily="18" charset="0"/>
              <a:cs typeface="Times New Roman" panose="02020603050405020304" pitchFamily="18" charset="0"/>
            </a:endParaRPr>
          </a:p>
        </p:txBody>
      </p:sp>
      <p:sp>
        <p:nvSpPr>
          <p:cNvPr id="6" name="矩形 5"/>
          <p:cNvSpPr/>
          <p:nvPr/>
        </p:nvSpPr>
        <p:spPr>
          <a:xfrm>
            <a:off x="1077330" y="5994242"/>
            <a:ext cx="6668813" cy="369332"/>
          </a:xfrm>
          <a:prstGeom prst="rect">
            <a:avLst/>
          </a:prstGeom>
        </p:spPr>
        <p:txBody>
          <a:bodyPr wrap="none">
            <a:spAutoFit/>
          </a:bodyPr>
          <a:lstStyle/>
          <a:p>
            <a:r>
              <a:rPr lang="en-US" altLang="zh-TW" dirty="0">
                <a:solidFill>
                  <a:srgbClr val="212529"/>
                </a:solidFill>
                <a:latin typeface="Times New Roman" panose="02020603050405020304" pitchFamily="18" charset="0"/>
                <a:cs typeface="Times New Roman" panose="02020603050405020304" pitchFamily="18" charset="0"/>
              </a:rPr>
              <a:t>For Leucine-Leucine (L-L) matches,</a:t>
            </a:r>
            <a:r>
              <a:rPr lang="en-US" altLang="zh-TW" dirty="0">
                <a:latin typeface="Times New Roman" panose="02020603050405020304" pitchFamily="18" charset="0"/>
                <a:cs typeface="Times New Roman" panose="02020603050405020304" pitchFamily="18" charset="0"/>
              </a:rPr>
              <a:t>  BLOSUM45 gives the score +5.</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36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
            <a:extLst>
              <a:ext uri="{FF2B5EF4-FFF2-40B4-BE49-F238E27FC236}">
                <a16:creationId xmlns:a16="http://schemas.microsoft.com/office/drawing/2014/main" id="{94B01AB9-0651-4F6D-A93A-D571F0BAE9A7}"/>
              </a:ext>
            </a:extLst>
          </p:cNvPr>
          <p:cNvSpPr>
            <a:spLocks noGrp="1"/>
          </p:cNvSpPr>
          <p:nvPr>
            <p:ph type="title"/>
          </p:nvPr>
        </p:nvSpPr>
        <p:spPr>
          <a:xfrm>
            <a:off x="269422" y="92983"/>
            <a:ext cx="7886700" cy="909625"/>
          </a:xfrm>
        </p:spPr>
        <p:txBody>
          <a:bodyPr>
            <a:normAutofit/>
          </a:bodyPr>
          <a:lstStyle/>
          <a:p>
            <a:r>
              <a:rPr lang="en-US" altLang="zh-TW" sz="3200" b="1" dirty="0">
                <a:latin typeface="Times New Roman" panose="02020603050405020304" pitchFamily="18" charset="0"/>
                <a:cs typeface="Times New Roman" panose="02020603050405020304" pitchFamily="18" charset="0"/>
              </a:rPr>
              <a:t>Scoring matrices as odds ratios :</a:t>
            </a:r>
            <a:endParaRPr lang="zh-TW" altLang="en-US" sz="3200" b="1"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3"/>
          <a:stretch>
            <a:fillRect/>
          </a:stretch>
        </p:blipFill>
        <p:spPr>
          <a:xfrm>
            <a:off x="397035" y="1512536"/>
            <a:ext cx="8209082" cy="2399577"/>
          </a:xfrm>
          <a:prstGeom prst="rect">
            <a:avLst/>
          </a:prstGeom>
        </p:spPr>
      </p:pic>
    </p:spTree>
    <p:extLst>
      <p:ext uri="{BB962C8B-B14F-4D97-AF65-F5344CB8AC3E}">
        <p14:creationId xmlns:p14="http://schemas.microsoft.com/office/powerpoint/2010/main" val="1766845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
            <a:extLst>
              <a:ext uri="{FF2B5EF4-FFF2-40B4-BE49-F238E27FC236}">
                <a16:creationId xmlns:a16="http://schemas.microsoft.com/office/drawing/2014/main" id="{94B01AB9-0651-4F6D-A93A-D571F0BAE9A7}"/>
              </a:ext>
            </a:extLst>
          </p:cNvPr>
          <p:cNvSpPr>
            <a:spLocks noGrp="1"/>
          </p:cNvSpPr>
          <p:nvPr>
            <p:ph type="title"/>
          </p:nvPr>
        </p:nvSpPr>
        <p:spPr>
          <a:xfrm>
            <a:off x="269422" y="92983"/>
            <a:ext cx="7886700" cy="909625"/>
          </a:xfrm>
        </p:spPr>
        <p:txBody>
          <a:bodyPr>
            <a:normAutofit fontScale="90000"/>
          </a:bodyPr>
          <a:lstStyle/>
          <a:p>
            <a:r>
              <a:rPr lang="en-US" altLang="zh-TW" sz="3200" b="1" dirty="0">
                <a:latin typeface="Times New Roman" panose="02020603050405020304" pitchFamily="18" charset="0"/>
                <a:cs typeface="Times New Roman" panose="02020603050405020304" pitchFamily="18" charset="0"/>
              </a:rPr>
              <a:t>Matrix information content, target identity, and alignment length:</a:t>
            </a:r>
            <a:endParaRPr lang="zh-TW" altLang="en-US" sz="3200" b="1"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3"/>
          <a:stretch>
            <a:fillRect/>
          </a:stretch>
        </p:blipFill>
        <p:spPr>
          <a:xfrm>
            <a:off x="467461" y="1002608"/>
            <a:ext cx="5145454" cy="5663901"/>
          </a:xfrm>
          <a:prstGeom prst="rect">
            <a:avLst/>
          </a:prstGeom>
        </p:spPr>
      </p:pic>
      <p:sp>
        <p:nvSpPr>
          <p:cNvPr id="2" name="矩形 1"/>
          <p:cNvSpPr/>
          <p:nvPr/>
        </p:nvSpPr>
        <p:spPr>
          <a:xfrm>
            <a:off x="5769749" y="1340273"/>
            <a:ext cx="3200400" cy="4247317"/>
          </a:xfrm>
          <a:prstGeom prst="rect">
            <a:avLst/>
          </a:prstGeom>
        </p:spPr>
        <p:txBody>
          <a:bodyPr wrap="square">
            <a:spAutoFit/>
          </a:bodyPr>
          <a:lstStyle/>
          <a:p>
            <a:r>
              <a:rPr lang="en-US" altLang="zh-TW" dirty="0">
                <a:solidFill>
                  <a:srgbClr val="212529"/>
                </a:solidFill>
                <a:latin typeface="Times New Roman" panose="02020603050405020304" pitchFamily="18" charset="0"/>
                <a:cs typeface="Times New Roman" panose="02020603050405020304" pitchFamily="18" charset="0"/>
              </a:rPr>
              <a:t>For instance, PAM30 with the gap open penalty of nine and the extension penalty of one yields 0.90 bits per position, and without gaps, PAM30 produces 2.6 bits per position almost a triple of information. With BLOSUM62 the information content increases from 0.40 to 0.74 without gaps and the minimum alignment length generating a statistically significant score, requiring 50 bits, reduce from 125 to 68 residues (Table 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96885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標題 1">
            <a:extLst>
              <a:ext uri="{FF2B5EF4-FFF2-40B4-BE49-F238E27FC236}">
                <a16:creationId xmlns:a16="http://schemas.microsoft.com/office/drawing/2014/main" id="{94B01AB9-0651-4F6D-A93A-D571F0BAE9A7}"/>
              </a:ext>
            </a:extLst>
          </p:cNvPr>
          <p:cNvSpPr>
            <a:spLocks noGrp="1"/>
          </p:cNvSpPr>
          <p:nvPr>
            <p:ph type="title"/>
          </p:nvPr>
        </p:nvSpPr>
        <p:spPr>
          <a:xfrm>
            <a:off x="269422" y="92983"/>
            <a:ext cx="7886700" cy="909625"/>
          </a:xfrm>
        </p:spPr>
        <p:txBody>
          <a:bodyPr>
            <a:normAutofit/>
          </a:bodyPr>
          <a:lstStyle/>
          <a:p>
            <a:r>
              <a:rPr lang="en-US" altLang="zh-TW" b="1" dirty="0">
                <a:latin typeface="Times New Roman" panose="02020603050405020304" pitchFamily="18" charset="0"/>
                <a:cs typeface="Times New Roman" panose="02020603050405020304" pitchFamily="18" charset="0"/>
              </a:rPr>
              <a:t>Alignment overextension:</a:t>
            </a:r>
          </a:p>
        </p:txBody>
      </p:sp>
      <p:pic>
        <p:nvPicPr>
          <p:cNvPr id="3" name="圖片 2"/>
          <p:cNvPicPr>
            <a:picLocks noChangeAspect="1"/>
          </p:cNvPicPr>
          <p:nvPr/>
        </p:nvPicPr>
        <p:blipFill>
          <a:blip r:embed="rId3"/>
          <a:stretch>
            <a:fillRect/>
          </a:stretch>
        </p:blipFill>
        <p:spPr>
          <a:xfrm>
            <a:off x="1104025" y="1002608"/>
            <a:ext cx="6789909" cy="4480650"/>
          </a:xfrm>
          <a:prstGeom prst="rect">
            <a:avLst/>
          </a:prstGeom>
        </p:spPr>
      </p:pic>
    </p:spTree>
    <p:extLst>
      <p:ext uri="{BB962C8B-B14F-4D97-AF65-F5344CB8AC3E}">
        <p14:creationId xmlns:p14="http://schemas.microsoft.com/office/powerpoint/2010/main" val="35865128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98464</TotalTime>
  <Words>770</Words>
  <Application>Microsoft Office PowerPoint</Application>
  <PresentationFormat>如螢幕大小 (4:3)</PresentationFormat>
  <Paragraphs>49</Paragraphs>
  <Slides>8</Slides>
  <Notes>8</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8</vt:i4>
      </vt:variant>
    </vt:vector>
  </HeadingPairs>
  <TitlesOfParts>
    <vt:vector size="16" baseType="lpstr">
      <vt:lpstr>新細明體</vt:lpstr>
      <vt:lpstr>標楷體</vt:lpstr>
      <vt:lpstr>Arial</vt:lpstr>
      <vt:lpstr>Calibri</vt:lpstr>
      <vt:lpstr>Calibri Light</vt:lpstr>
      <vt:lpstr>Tahoma</vt:lpstr>
      <vt:lpstr>Times New Roman</vt:lpstr>
      <vt:lpstr>Office 佈景主題</vt:lpstr>
      <vt:lpstr>Selecting the Right Similarity-Scoring Matrix</vt:lpstr>
      <vt:lpstr>Abstract(1/2)</vt:lpstr>
      <vt:lpstr>Abstract(2/2)</vt:lpstr>
      <vt:lpstr>Scoring matrices as odds ratios :</vt:lpstr>
      <vt:lpstr>Scoring matrices as odds ratios :</vt:lpstr>
      <vt:lpstr>Scoring matrices as odds ratios :</vt:lpstr>
      <vt:lpstr>Matrix information content, target identity, and alignment length:</vt:lpstr>
      <vt:lpstr>Alignment overextension: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蔡豐仰</cp:lastModifiedBy>
  <cp:revision>1026</cp:revision>
  <dcterms:created xsi:type="dcterms:W3CDTF">2017-09-25T08:45:50Z</dcterms:created>
  <dcterms:modified xsi:type="dcterms:W3CDTF">2020-02-18T07:04:16Z</dcterms:modified>
</cp:coreProperties>
</file>