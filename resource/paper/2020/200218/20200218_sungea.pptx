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2" r:id="rId15"/>
    <p:sldId id="269" r:id="rId16"/>
    <p:sldId id="270" r:id="rId17"/>
    <p:sldId id="273" r:id="rId18"/>
    <p:sldId id="274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8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38A68-D2F3-483D-8B96-27D68486F480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BE88B-4F24-4B1A-9CE8-1E9C77DC4B4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99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3902F64E-4859-458D-BC3A-024DE487D949}" type="slidenum">
              <a:rPr lang="en-US" altLang="zh-TW" smtClean="0">
                <a:latin typeface="Arial" panose="020B0604020202020204" pitchFamily="34" charset="0"/>
              </a:rPr>
              <a:pPr/>
              <a:t>1</a:t>
            </a:fld>
            <a:endParaRPr lang="en-US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378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749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70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85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123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14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54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99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899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06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03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276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273B4-66BF-4BDD-923B-3227865DAA11}" type="datetimeFigureOut">
              <a:rPr lang="zh-TW" altLang="en-US" smtClean="0"/>
              <a:t>2020/2/18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D84E3-7388-42E7-A6AD-BA4B7B950D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284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51089" y="2276475"/>
            <a:ext cx="7705725" cy="2160588"/>
          </a:xfrm>
        </p:spPr>
        <p:txBody>
          <a:bodyPr anchor="ctr">
            <a:normAutofit fontScale="90000"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substring inclusion constraint longest common subsequence problem</a:t>
            </a:r>
            <a:r>
              <a:rPr lang="zh-TW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solved in quadratic time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19289" y="4652963"/>
            <a:ext cx="7723187" cy="1223962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Rashed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Sohel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Discrete Algorithms 17 (2012) 67–73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0" name="矩形 1"/>
          <p:cNvSpPr>
            <a:spLocks noChangeArrowheads="1"/>
          </p:cNvSpPr>
          <p:nvPr/>
        </p:nvSpPr>
        <p:spPr bwMode="auto">
          <a:xfrm>
            <a:off x="8871098" y="5880272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EN-AN SONG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</a:rPr>
              <a:t>February 18,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380056669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883"/>
          </a:xfrm>
        </p:spPr>
        <p:txBody>
          <a:bodyPr>
            <a:normAutofit fontScale="925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study some variants of the Constrained Longest Common Subsequence(CLCS) problem, namely, the substring inclusion CLCS (Substring-IC-CLCS) problem and a generalized version thereof. In the Substring-IC-CLCS problem, we are to find a longest common subsequence (LCS) of two given strings containing a third constraint string(given) as a substring. Previous solution to this problem runs in cubic time,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time, where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 are the length of the 3 input strings. In this paper, we present simple O(nm) time algorithms to solve the Substring-IC-CLCS problem. We also study the Generalized Substring-IC-LCS problem where we are given two strings of length n and m respectively and an ordered list of p strings and the goal is to find an LCS containing each of them as a substring in the order they appear in the list. We present an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algorithm for this generalized version of the problem.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3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(Substring-IC-LCS Problem)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two strings X=x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,x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Y=y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third constraint string S=s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are to find a longest common subsequence C=c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,c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S is a substring of C.</a:t>
            </a:r>
          </a:p>
          <a:p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</a:t>
            </a:r>
            <a:r>
              <a:rPr lang="en-US" altLang="zh-TW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5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(Generalized Substring-IC-LCS Problem)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version of this problem, where we are given two strings X, Y(as before) and an ordered list of constraint strings S={S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</a:t>
            </a:r>
            <a:r>
              <a:rPr lang="en-US" altLang="zh-TW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abce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566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that S occurs in X. Then, we say 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′]=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and only if S occurs in X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i...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no i1,i&lt;i1&lt;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such that S occurs in X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 i2,i&lt;i2&lt;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such that S occurs in X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i2</a:t>
            </a:r>
            <a:r>
              <a:rPr lang="en-US" altLang="zh-TW" dirty="0"/>
              <a:t>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no occurrence of string S ending at Position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′, 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′]=0.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dabeabc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occurs in the range X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2…7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X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5…7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.However we have 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[7]=5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89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caxbcde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dabccae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13403"/>
              </p:ext>
            </p:extLst>
          </p:nvPr>
        </p:nvGraphicFramePr>
        <p:xfrm>
          <a:off x="838200" y="3480161"/>
          <a:ext cx="8128000" cy="1042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11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1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Sx</a:t>
                      </a: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TW" sz="2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677484"/>
              </p:ext>
            </p:extLst>
          </p:nvPr>
        </p:nvGraphicFramePr>
        <p:xfrm>
          <a:off x="838200" y="4828562"/>
          <a:ext cx="8128000" cy="1042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11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1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696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algorithm for Substring-IC-LCS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LCS(X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1...i−1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1...j−1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Let the length of the computed LCS is l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LCS(X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i′+1...m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j′+1...n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Let the length of the computed LCS is l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LCS(X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1...i−1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1...j−1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).S.LCS(X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i′+1...m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j′+1...n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)as a Substring-IC-LCS and l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+|S|+l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length.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140786"/>
              </p:ext>
            </p:extLst>
          </p:nvPr>
        </p:nvGraphicFramePr>
        <p:xfrm>
          <a:off x="1723081" y="4947328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88870"/>
              </p:ext>
            </p:extLst>
          </p:nvPr>
        </p:nvGraphicFramePr>
        <p:xfrm>
          <a:off x="1723081" y="4459374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537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Substring-IC-LCS(Dynamic programming)</a:t>
            </a: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03" y="2732431"/>
            <a:ext cx="9501752" cy="210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194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Substring-IC-LCS(Dynamic programming)</a:t>
            </a:r>
            <a:r>
              <a:rPr lang="en-US" altLang="zh-TW" dirty="0"/>
              <a:t>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014384"/>
              </p:ext>
            </p:extLst>
          </p:nvPr>
        </p:nvGraphicFramePr>
        <p:xfrm>
          <a:off x="834080" y="3020369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838200" y="1690688"/>
            <a:ext cx="174118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cdabcde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dabcace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3824759"/>
              </p:ext>
            </p:extLst>
          </p:nvPr>
        </p:nvGraphicFramePr>
        <p:xfrm>
          <a:off x="829960" y="3016250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6800606"/>
              </p:ext>
            </p:extLst>
          </p:nvPr>
        </p:nvGraphicFramePr>
        <p:xfrm>
          <a:off x="838200" y="3020369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9764385"/>
              </p:ext>
            </p:extLst>
          </p:nvPr>
        </p:nvGraphicFramePr>
        <p:xfrm>
          <a:off x="838200" y="3016250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StrLCS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844116" y="1690687"/>
            <a:ext cx="68024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 = 3    t = 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sz="2400" dirty="0">
                <a:solidFill>
                  <a:schemeClr val="dk1"/>
                </a:solidFill>
              </a:rPr>
              <a:t>∞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 = 2    LCS[S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[5]-1, 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[4]-1]+3 = 4</a:t>
            </a:r>
          </a:p>
        </p:txBody>
      </p:sp>
      <p:graphicFrame>
        <p:nvGraphicFramePr>
          <p:cNvPr id="13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4053132"/>
              </p:ext>
            </p:extLst>
          </p:nvPr>
        </p:nvGraphicFramePr>
        <p:xfrm>
          <a:off x="829960" y="3012131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StrLCS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2868828" y="1686568"/>
            <a:ext cx="31486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[6,6] + 1  = 5</a:t>
            </a:r>
          </a:p>
        </p:txBody>
      </p:sp>
      <p:cxnSp>
        <p:nvCxnSpPr>
          <p:cNvPr id="5" name="直線單箭頭接點 4"/>
          <p:cNvCxnSpPr/>
          <p:nvPr/>
        </p:nvCxnSpPr>
        <p:spPr>
          <a:xfrm>
            <a:off x="9852454" y="5832389"/>
            <a:ext cx="659027" cy="2965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67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Problem</a:t>
            </a:r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3711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cases : 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Case1 : No overlap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Case2 : Overlap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overlap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altLang="zh-TW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endParaRPr lang="en-US" altLang="zh-TW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endParaRPr lang="en-US" altLang="zh-TW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362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</a:t>
            </a:r>
          </a:p>
          <a:p>
            <a:pPr lvl="1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sz="2800" b="1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sz="2800" b="1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altLang="zh-TW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endParaRPr lang="en-US" altLang="zh-TW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sz="28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TW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808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Problem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203218"/>
            <a:ext cx="10788605" cy="36508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/>
          <p:cNvSpPr/>
          <p:nvPr/>
        </p:nvSpPr>
        <p:spPr>
          <a:xfrm>
            <a:off x="1668544" y="4769963"/>
            <a:ext cx="9860437" cy="2733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658358" y="5480454"/>
            <a:ext cx="8248454" cy="263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/>
          <p:nvPr/>
        </p:nvCxnSpPr>
        <p:spPr>
          <a:xfrm>
            <a:off x="6782585" y="5744405"/>
            <a:ext cx="1937209" cy="6469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851237" y="6291159"/>
            <a:ext cx="1217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overlap</a:t>
            </a:r>
            <a:endParaRPr lang="zh-TW" altLang="en-US" dirty="0"/>
          </a:p>
        </p:txBody>
      </p:sp>
      <p:cxnSp>
        <p:nvCxnSpPr>
          <p:cNvPr id="21" name="直線單箭頭接點 20"/>
          <p:cNvCxnSpPr>
            <a:stCxn id="5" idx="0"/>
          </p:cNvCxnSpPr>
          <p:nvPr/>
        </p:nvCxnSpPr>
        <p:spPr>
          <a:xfrm flipV="1">
            <a:off x="6598763" y="4192369"/>
            <a:ext cx="2121031" cy="577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851237" y="3959700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35656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81349"/>
              </p:ext>
            </p:extLst>
          </p:nvPr>
        </p:nvGraphicFramePr>
        <p:xfrm>
          <a:off x="838200" y="2410087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StrLCS</a:t>
                      </a: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838200" y="1681055"/>
            <a:ext cx="2150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76219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45511"/>
              </p:ext>
            </p:extLst>
          </p:nvPr>
        </p:nvGraphicFramePr>
        <p:xfrm>
          <a:off x="838200" y="2410087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StrLCS</a:t>
                      </a: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838200" y="1681055"/>
            <a:ext cx="2150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08049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Problem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8200" y="21453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StrLCS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[7,7] 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no overlap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403317"/>
              </p:ext>
            </p:extLst>
          </p:nvPr>
        </p:nvGraphicFramePr>
        <p:xfrm>
          <a:off x="1553396" y="3950218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380701"/>
              </p:ext>
            </p:extLst>
          </p:nvPr>
        </p:nvGraphicFramePr>
        <p:xfrm>
          <a:off x="1553396" y="4415405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240544" y="3950217"/>
            <a:ext cx="3440853" cy="8360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>
            <a:stCxn id="10" idx="2"/>
          </p:cNvCxnSpPr>
          <p:nvPr/>
        </p:nvCxnSpPr>
        <p:spPr>
          <a:xfrm flipH="1">
            <a:off x="7946796" y="4786244"/>
            <a:ext cx="14175" cy="7095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801504" y="5713632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1553396" y="3950217"/>
            <a:ext cx="4630588" cy="83602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單箭頭接點 19"/>
          <p:cNvCxnSpPr/>
          <p:nvPr/>
        </p:nvCxnSpPr>
        <p:spPr>
          <a:xfrm flipH="1">
            <a:off x="3868690" y="4786243"/>
            <a:ext cx="14176" cy="8963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047709" y="5713633"/>
            <a:ext cx="2544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[4,4] = </a:t>
            </a:r>
            <a:r>
              <a:rPr lang="en-US" altLang="zh-TW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sz="2400" dirty="0">
                <a:solidFill>
                  <a:schemeClr val="dk1"/>
                </a:solidFill>
              </a:rPr>
              <a:t>∞</a:t>
            </a:r>
            <a:endParaRPr lang="zh-TW" altLang="en-US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047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Problem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8200" y="21453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StrLCS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[7,7] 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overlap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34226"/>
              </p:ext>
            </p:extLst>
          </p:nvPr>
        </p:nvGraphicFramePr>
        <p:xfrm>
          <a:off x="1553396" y="3950218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05404"/>
              </p:ext>
            </p:extLst>
          </p:nvPr>
        </p:nvGraphicFramePr>
        <p:xfrm>
          <a:off x="1553396" y="4415405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直線接點 3"/>
          <p:cNvCxnSpPr/>
          <p:nvPr/>
        </p:nvCxnSpPr>
        <p:spPr>
          <a:xfrm flipV="1">
            <a:off x="7308151" y="3950217"/>
            <a:ext cx="17665" cy="4127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H="1" flipV="1">
            <a:off x="6166699" y="4321058"/>
            <a:ext cx="2" cy="4651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V="1">
            <a:off x="1553396" y="3950217"/>
            <a:ext cx="9427" cy="8255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543969" y="3950217"/>
            <a:ext cx="581479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6166699" y="4339666"/>
            <a:ext cx="1167355" cy="30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1543969" y="4759283"/>
            <a:ext cx="462273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3083001" y="5570380"/>
            <a:ext cx="23326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[5,4] = 4</a:t>
            </a:r>
            <a:endParaRPr lang="zh-TW" altLang="en-US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線單箭頭接點 37"/>
          <p:cNvCxnSpPr/>
          <p:nvPr/>
        </p:nvCxnSpPr>
        <p:spPr>
          <a:xfrm flipH="1">
            <a:off x="3868690" y="4786243"/>
            <a:ext cx="14176" cy="8963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H="1">
            <a:off x="7946796" y="4786244"/>
            <a:ext cx="14175" cy="7095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7524134" y="5635080"/>
            <a:ext cx="9220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2-1=1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66703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Problem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211387"/>
              </p:ext>
            </p:extLst>
          </p:nvPr>
        </p:nvGraphicFramePr>
        <p:xfrm>
          <a:off x="838200" y="2410087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StrLCS</a:t>
                      </a: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838200" y="1681055"/>
            <a:ext cx="2150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72018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  <a:p>
            <a:pPr lvl="1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 : O(n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O(n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O(n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O(n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 Problem : O(n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p)</a:t>
            </a:r>
          </a:p>
          <a:p>
            <a:pPr lvl="2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constraint patterns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76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1701</Words>
  <Application>Microsoft Office PowerPoint</Application>
  <PresentationFormat>寬螢幕</PresentationFormat>
  <Paragraphs>661</Paragraphs>
  <Slides>18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佈景主題</vt:lpstr>
      <vt:lpstr>The substring inclusion constraint longest common subsequence problem can be solved in quadratic time</vt:lpstr>
      <vt:lpstr>Abstract</vt:lpstr>
      <vt:lpstr>Introduction(Substring-IC-LCS Problem)</vt:lpstr>
      <vt:lpstr>Introduction(Generalized Substring-IC-LCS Problem)</vt:lpstr>
      <vt:lpstr>Introduction</vt:lpstr>
      <vt:lpstr>Introduction</vt:lpstr>
      <vt:lpstr>A Simple algorithm for Substring-IC-LCS</vt:lpstr>
      <vt:lpstr>Substring-IC-LCS(Dynamic programming) </vt:lpstr>
      <vt:lpstr>Substring-IC-LCS(Dynamic programming) </vt:lpstr>
      <vt:lpstr>Generalized Substring-IC-LCS Problem</vt:lpstr>
      <vt:lpstr>Generalized Substring-IC-LCS Problem</vt:lpstr>
      <vt:lpstr>Generalized Substring-IC-LCS Problem</vt:lpstr>
      <vt:lpstr>Generalized Substring-IC-LCS Problem</vt:lpstr>
      <vt:lpstr>Generalized Substring-IC-LCS Problem</vt:lpstr>
      <vt:lpstr>Generalized Substring-IC-LCS Problem</vt:lpstr>
      <vt:lpstr>Generalized Substring-IC-LCS Problem</vt:lpstr>
      <vt:lpstr>Generalized Substring-IC-LCS Problem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Alex</dc:creator>
  <cp:lastModifiedBy>pplab</cp:lastModifiedBy>
  <cp:revision>42</cp:revision>
  <dcterms:created xsi:type="dcterms:W3CDTF">2020-02-10T12:04:22Z</dcterms:created>
  <dcterms:modified xsi:type="dcterms:W3CDTF">2020-02-18T07:49:03Z</dcterms:modified>
</cp:coreProperties>
</file>