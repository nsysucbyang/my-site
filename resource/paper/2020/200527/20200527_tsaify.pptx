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311" r:id="rId3"/>
    <p:sldId id="312" r:id="rId4"/>
    <p:sldId id="383" r:id="rId5"/>
    <p:sldId id="399" r:id="rId6"/>
    <p:sldId id="406" r:id="rId7"/>
    <p:sldId id="403" r:id="rId8"/>
    <p:sldId id="407" r:id="rId9"/>
    <p:sldId id="405" r:id="rId10"/>
    <p:sldId id="402" r:id="rId11"/>
    <p:sldId id="384" r:id="rId12"/>
    <p:sldId id="382" r:id="rId13"/>
    <p:sldId id="364" r:id="rId14"/>
    <p:sldId id="381" r:id="rId15"/>
    <p:sldId id="380" r:id="rId16"/>
    <p:sldId id="39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6666FF"/>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81520" autoAdjust="0"/>
  </p:normalViewPr>
  <p:slideViewPr>
    <p:cSldViewPr snapToGrid="0">
      <p:cViewPr varScale="1">
        <p:scale>
          <a:sx n="59" d="100"/>
          <a:sy n="59" d="100"/>
        </p:scale>
        <p:origin x="2010"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pPr/>
              <a:t>2020/5/27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pPr/>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305426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20629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603569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428208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934188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354234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660035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040305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4152139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可以比較來自任何兩種數據庫搜索方法（或參數集或計分方案等）的</a:t>
            </a:r>
            <a:r>
              <a:rPr lang="en-US" altLang="zh-TW" dirty="0"/>
              <a:t>CVE</a:t>
            </a:r>
            <a:r>
              <a:rPr lang="zh-TW" altLang="en-US" dirty="0"/>
              <a:t>結果，</a:t>
            </a:r>
            <a:endParaRPr lang="en-US" altLang="zh-TW" dirty="0"/>
          </a:p>
          <a:p>
            <a:r>
              <a:rPr lang="zh-TW" altLang="en-US" dirty="0"/>
              <a:t>但並不能立即明顯看出任何性能差異有多大。</a:t>
            </a:r>
            <a:endParaRPr lang="en-US" altLang="zh-TW" dirty="0"/>
          </a:p>
          <a:p>
            <a:r>
              <a:rPr lang="zh-TW" altLang="en-US" dirty="0"/>
              <a:t>為了解決這個問題，我們使用了布拉德</a:t>
            </a:r>
            <a:r>
              <a:rPr lang="en-US" altLang="zh-TW" dirty="0"/>
              <a:t>·</a:t>
            </a:r>
            <a:r>
              <a:rPr lang="zh-TW" altLang="en-US" dirty="0"/>
              <a:t>埃夫隆（</a:t>
            </a:r>
            <a:r>
              <a:rPr lang="en-US" altLang="zh-TW" dirty="0"/>
              <a:t>Brad </a:t>
            </a:r>
            <a:r>
              <a:rPr lang="en-US" altLang="zh-TW" dirty="0" err="1"/>
              <a:t>Efron</a:t>
            </a:r>
            <a:r>
              <a:rPr lang="zh-TW" altLang="en-US" dirty="0"/>
              <a:t>）率先提出的一種稱為引導（</a:t>
            </a:r>
            <a:r>
              <a:rPr lang="en-US" altLang="zh-TW" dirty="0"/>
              <a:t>bootstrapping</a:t>
            </a:r>
            <a:r>
              <a:rPr lang="zh-TW" altLang="en-US" dirty="0"/>
              <a:t>）的技術。</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666239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3978350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884588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1335961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pPr/>
              <a:t>2020/5/27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9" y="1052832"/>
            <a:ext cx="8348184" cy="1817434"/>
          </a:xfrm>
        </p:spPr>
        <p:txBody>
          <a:bodyPr>
            <a:noAutofit/>
          </a:bodyPr>
          <a:lstStyle/>
          <a:p>
            <a:r>
              <a:rPr lang="en-US" altLang="zh-TW" sz="4800" dirty="0">
                <a:latin typeface="Times New Roman" panose="02020603050405020304" pitchFamily="18" charset="0"/>
                <a:cs typeface="Times New Roman" panose="02020603050405020304" pitchFamily="18" charset="0"/>
              </a:rPr>
              <a:t>Addressing inaccuracies in BLOSUM computation improves homology search performance</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3227035"/>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Martin Hess, Frank </a:t>
            </a:r>
            <a:r>
              <a:rPr lang="en-US" altLang="zh-TW" sz="2800" dirty="0" err="1">
                <a:latin typeface="Times New Roman" panose="02020603050405020304" pitchFamily="18" charset="0"/>
                <a:cs typeface="Times New Roman" panose="02020603050405020304" pitchFamily="18" charset="0"/>
              </a:rPr>
              <a:t>Keul</a:t>
            </a:r>
            <a:r>
              <a:rPr lang="en-US" altLang="zh-TW" sz="2800" dirty="0">
                <a:latin typeface="Times New Roman" panose="02020603050405020304" pitchFamily="18" charset="0"/>
                <a:cs typeface="Times New Roman" panose="02020603050405020304" pitchFamily="18" charset="0"/>
              </a:rPr>
              <a:t>, Michael </a:t>
            </a:r>
            <a:r>
              <a:rPr lang="en-US" altLang="zh-TW" sz="2800" dirty="0" err="1">
                <a:latin typeface="Times New Roman" panose="02020603050405020304" pitchFamily="18" charset="0"/>
                <a:cs typeface="Times New Roman" panose="02020603050405020304" pitchFamily="18" charset="0"/>
              </a:rPr>
              <a:t>Goesele</a:t>
            </a:r>
            <a:r>
              <a:rPr lang="en-US" altLang="zh-TW" sz="2800" dirty="0">
                <a:latin typeface="Times New Roman" panose="02020603050405020304" pitchFamily="18" charset="0"/>
                <a:cs typeface="Times New Roman" panose="02020603050405020304" pitchFamily="18" charset="0"/>
              </a:rPr>
              <a:t>, and Kay </a:t>
            </a:r>
            <a:r>
              <a:rPr lang="en-US" altLang="zh-TW" sz="2800" dirty="0" err="1">
                <a:latin typeface="Times New Roman" panose="02020603050405020304" pitchFamily="18" charset="0"/>
                <a:cs typeface="Times New Roman" panose="02020603050405020304" pitchFamily="18" charset="0"/>
              </a:rPr>
              <a:t>Hamacher</a:t>
            </a:r>
            <a:endParaRPr lang="en-US" altLang="zh-TW" sz="32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Feng-Yang</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Tsai</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a:t>
            </a:r>
            <a:r>
              <a:rPr lang="en-US" altLang="zh-TW" sz="1800">
                <a:latin typeface="Times New Roman" panose="02020603050405020304" pitchFamily="18" charset="0"/>
                <a:ea typeface="標楷體" panose="03000509000000000000" pitchFamily="65" charset="-120"/>
                <a:cs typeface="Times New Roman" panose="02020603050405020304" pitchFamily="18" charset="0"/>
              </a:rPr>
              <a:t>: May 27</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4243880"/>
            <a:ext cx="7622889" cy="954107"/>
          </a:xfrm>
          <a:prstGeom prst="rect">
            <a:avLst/>
          </a:prstGeom>
        </p:spPr>
        <p:txBody>
          <a:bodyPr wrap="square">
            <a:spAutoFit/>
          </a:bodyPr>
          <a:lstStyle/>
          <a:p>
            <a:pPr algn="ct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BioMed Central Bioinformatics volume 17, Article number: 189 (2016)</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51843"/>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26353"/>
            <a:ext cx="875353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BLOSUM matrices belong to the most commonly used substitution matrix series for protein homology search and sequence alignments since their publication in 1992. In 2008, Styczynski et al. discovered miscalculations in the clustering step of the matrix computation. Still, the RBLOSUM64 matrix based on the corrected BLOSUM code was reported to perform worse at a statistically significant level than the BLOSUM62. Here, we present a further correction of the (R)BLOSUM code and provide a thorough performance analysis of BLOSUM-, RBLOSUM- and the newly derived </a:t>
            </a:r>
            <a:r>
              <a:rPr lang="en-US" altLang="zh-TW" dirty="0" err="1">
                <a:latin typeface="Times New Roman" panose="02020603050405020304" pitchFamily="18" charset="0"/>
                <a:cs typeface="Times New Roman" panose="02020603050405020304" pitchFamily="18" charset="0"/>
              </a:rPr>
              <a:t>CorBLOSUM</a:t>
            </a:r>
            <a:r>
              <a:rPr lang="en-US" altLang="zh-TW" dirty="0">
                <a:latin typeface="Times New Roman" panose="02020603050405020304" pitchFamily="18" charset="0"/>
                <a:cs typeface="Times New Roman" panose="02020603050405020304" pitchFamily="18" charset="0"/>
              </a:rPr>
              <a:t>-type matrices.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582580"/>
            <a:ext cx="8759149"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Thereby, we assess homology search performance of these matrix-types derived from three different BLOCKS databases on all versions of the ASTRAL20, ASTRAL40 and ASTRAL70 subsets resulting in 51 different benchmarks in total. Our analysis is focused on two of the most popular BLOSUM matrices — BLOSUM50 and BLOSUM62.</a:t>
            </a:r>
            <a:endParaRPr lang="fr-FR" altLang="zh-TW"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34FAEAAD-2767-45C2-AF98-EC30F9226CD9}"/>
              </a:ext>
            </a:extLst>
          </p:cNvPr>
          <p:cNvSpPr/>
          <p:nvPr/>
        </p:nvSpPr>
        <p:spPr>
          <a:xfrm>
            <a:off x="179408" y="3612839"/>
            <a:ext cx="8964592" cy="369332"/>
          </a:xfrm>
          <a:prstGeom prst="rect">
            <a:avLst/>
          </a:prstGeom>
        </p:spPr>
        <p:txBody>
          <a:bodyPr wrap="square">
            <a:spAutoFit/>
          </a:bodyPr>
          <a:lstStyle/>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B529984-7A0D-426F-8D3D-595797392B08}"/>
              </a:ext>
            </a:extLst>
          </p:cNvPr>
          <p:cNvSpPr/>
          <p:nvPr/>
        </p:nvSpPr>
        <p:spPr>
          <a:xfrm>
            <a:off x="660400" y="1443841"/>
            <a:ext cx="7645400" cy="2246769"/>
          </a:xfrm>
          <a:prstGeom prst="rect">
            <a:avLst/>
          </a:prstGeom>
        </p:spPr>
        <p:txBody>
          <a:bodyPr wrap="square">
            <a:spAutoFit/>
          </a:bodyPr>
          <a:lstStyle/>
          <a:p>
            <a:r>
              <a:rPr lang="en-US" altLang="zh-TW" sz="2800" dirty="0">
                <a:solidFill>
                  <a:srgbClr val="2B2A2A"/>
                </a:solidFill>
                <a:latin typeface="Times New Roman" panose="02020603050405020304" pitchFamily="18" charset="0"/>
                <a:cs typeface="Times New Roman" panose="02020603050405020304" pitchFamily="18" charset="0"/>
              </a:rPr>
              <a:t>• SCOP (version 1.61)</a:t>
            </a:r>
          </a:p>
          <a:p>
            <a:r>
              <a:rPr lang="en-US" altLang="zh-TW" sz="2800" dirty="0">
                <a:solidFill>
                  <a:srgbClr val="2B2A2A"/>
                </a:solidFill>
                <a:latin typeface="Times New Roman" panose="02020603050405020304" pitchFamily="18" charset="0"/>
                <a:cs typeface="Times New Roman" panose="02020603050405020304" pitchFamily="18" charset="0"/>
              </a:rPr>
              <a:t>• Evolutionary interrelations are known </a:t>
            </a:r>
          </a:p>
          <a:p>
            <a:r>
              <a:rPr lang="en-US" altLang="zh-TW" sz="2800" dirty="0">
                <a:solidFill>
                  <a:srgbClr val="2B2A2A"/>
                </a:solidFill>
                <a:latin typeface="Times New Roman" panose="02020603050405020304" pitchFamily="18" charset="0"/>
                <a:cs typeface="Times New Roman" panose="02020603050405020304" pitchFamily="18" charset="0"/>
              </a:rPr>
              <a:t>• Homologous domains placed in same superfamily</a:t>
            </a:r>
          </a:p>
          <a:p>
            <a:r>
              <a:rPr lang="en-US" altLang="zh-TW" sz="2800" dirty="0">
                <a:solidFill>
                  <a:srgbClr val="2B2A2A"/>
                </a:solidFill>
                <a:latin typeface="Times New Roman" panose="02020603050405020304" pitchFamily="18" charset="0"/>
                <a:cs typeface="Times New Roman" panose="02020603050405020304" pitchFamily="18" charset="0"/>
              </a:rPr>
              <a:t>• Subset is non-redundant</a:t>
            </a:r>
          </a:p>
          <a:p>
            <a:r>
              <a:rPr lang="en-US" altLang="zh-TW" sz="2800" dirty="0">
                <a:solidFill>
                  <a:srgbClr val="2B2A2A"/>
                </a:solidFill>
                <a:latin typeface="Times New Roman" panose="02020603050405020304" pitchFamily="18" charset="0"/>
                <a:cs typeface="Times New Roman" panose="02020603050405020304" pitchFamily="18" charset="0"/>
              </a:rPr>
              <a:t>• ASTRAL provides SCOP subsets </a:t>
            </a:r>
          </a:p>
        </p:txBody>
      </p:sp>
      <p:sp>
        <p:nvSpPr>
          <p:cNvPr id="3" name="標題 1">
            <a:extLst>
              <a:ext uri="{FF2B5EF4-FFF2-40B4-BE49-F238E27FC236}">
                <a16:creationId xmlns:a16="http://schemas.microsoft.com/office/drawing/2014/main" id="{8653D0F4-C2D7-422E-B3D6-5AD6D2B74DDB}"/>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Building the Database:</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81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D731572E-071B-4505-8337-99173C121182}"/>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Scoring Matrices:</a:t>
            </a:r>
            <a:endParaRPr lang="zh-TW" altLang="en-US" sz="3200" b="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692D2120-8122-4C8B-8F91-57B818FD42B4}"/>
              </a:ext>
            </a:extLst>
          </p:cNvPr>
          <p:cNvSpPr/>
          <p:nvPr/>
        </p:nvSpPr>
        <p:spPr>
          <a:xfrm>
            <a:off x="404107" y="3050765"/>
            <a:ext cx="2305439" cy="523220"/>
          </a:xfrm>
          <a:prstGeom prst="rect">
            <a:avLst/>
          </a:prstGeom>
        </p:spPr>
        <p:txBody>
          <a:bodyPr wrap="none">
            <a:spAutoFit/>
          </a:bodyPr>
          <a:lstStyle/>
          <a:p>
            <a:r>
              <a:rPr lang="zh-TW" altLang="en-US" sz="2800" dirty="0">
                <a:latin typeface="Times New Roman" panose="02020603050405020304" pitchFamily="18" charset="0"/>
                <a:cs typeface="Times New Roman" panose="02020603050405020304" pitchFamily="18" charset="0"/>
              </a:rPr>
              <a:t>CorBLOSUM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C8762DC1-415B-4B5E-95D8-5D8802212550}"/>
              </a:ext>
            </a:extLst>
          </p:cNvPr>
          <p:cNvSpPr/>
          <p:nvPr/>
        </p:nvSpPr>
        <p:spPr>
          <a:xfrm>
            <a:off x="404107" y="1223655"/>
            <a:ext cx="7317493" cy="1815882"/>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RBLOSUM</a:t>
            </a:r>
            <a:r>
              <a:rPr lang="en-US" altLang="zh-TW" sz="2800" dirty="0">
                <a:latin typeface="Times New Roman" panose="02020603050405020304" pitchFamily="18" charset="0"/>
                <a:cs typeface="Times New Roman" panose="02020603050405020304" pitchFamily="18" charset="0"/>
              </a:rPr>
              <a:t>:</a:t>
            </a:r>
          </a:p>
          <a:p>
            <a:r>
              <a:rPr lang="en-US" altLang="zh-TW" sz="2800" dirty="0">
                <a:solidFill>
                  <a:srgbClr val="333333"/>
                </a:solidFill>
                <a:latin typeface="Times New Roman" panose="02020603050405020304" pitchFamily="18" charset="0"/>
                <a:cs typeface="Times New Roman" panose="02020603050405020304" pitchFamily="18" charset="0"/>
              </a:rPr>
              <a:t>revealed inconsistencies in the cluster weighting procedure of the matrix calculation.</a:t>
            </a:r>
            <a:endParaRPr lang="zh-TW" altLang="en-US" sz="2800" dirty="0">
              <a:latin typeface="Times New Roman" panose="02020603050405020304" pitchFamily="18" charset="0"/>
              <a:cs typeface="Times New Roman" panose="02020603050405020304" pitchFamily="18" charset="0"/>
            </a:endParaRPr>
          </a:p>
          <a:p>
            <a:endParaRPr lang="zh-TW" altLang="en-US" sz="28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A3BC6892-3633-42C6-9EA7-D1DF61E4998C}"/>
              </a:ext>
            </a:extLst>
          </p:cNvPr>
          <p:cNvPicPr>
            <a:picLocks noChangeAspect="1"/>
          </p:cNvPicPr>
          <p:nvPr/>
        </p:nvPicPr>
        <p:blipFill>
          <a:blip r:embed="rId3"/>
          <a:stretch>
            <a:fillRect/>
          </a:stretch>
        </p:blipFill>
        <p:spPr>
          <a:xfrm>
            <a:off x="125359" y="3972256"/>
            <a:ext cx="9004300" cy="2220069"/>
          </a:xfrm>
          <a:prstGeom prst="rect">
            <a:avLst/>
          </a:prstGeom>
        </p:spPr>
      </p:pic>
    </p:spTree>
    <p:extLst>
      <p:ext uri="{BB962C8B-B14F-4D97-AF65-F5344CB8AC3E}">
        <p14:creationId xmlns:p14="http://schemas.microsoft.com/office/powerpoint/2010/main" val="1228711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The Blocks Database:</a:t>
            </a:r>
            <a:endParaRPr lang="zh-TW" altLang="en-US" sz="4000"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87168329-0466-404C-9DB3-8985F2AA288A}"/>
              </a:ext>
            </a:extLst>
          </p:cNvPr>
          <p:cNvSpPr/>
          <p:nvPr/>
        </p:nvSpPr>
        <p:spPr>
          <a:xfrm>
            <a:off x="412367" y="1144301"/>
            <a:ext cx="7951293"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The Blocks Database contains multiple alignments of conserved regions in protein families. </a:t>
            </a:r>
          </a:p>
          <a:p>
            <a:endParaRPr lang="zh-TW" altLang="en-US" sz="2400"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86C4BEF6-9331-4569-B7FF-F1574B317C6A}"/>
              </a:ext>
            </a:extLst>
          </p:cNvPr>
          <p:cNvSpPr/>
          <p:nvPr/>
        </p:nvSpPr>
        <p:spPr>
          <a:xfrm>
            <a:off x="412367" y="2097010"/>
            <a:ext cx="7769029"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Blocks are multiply aligned un-gapped segments corresponding to the most highly conserved regions of proteins.</a:t>
            </a:r>
          </a:p>
        </p:txBody>
      </p:sp>
      <p:sp>
        <p:nvSpPr>
          <p:cNvPr id="5" name="矩形 4">
            <a:extLst>
              <a:ext uri="{FF2B5EF4-FFF2-40B4-BE49-F238E27FC236}">
                <a16:creationId xmlns:a16="http://schemas.microsoft.com/office/drawing/2014/main" id="{155F2C70-C670-42E0-BB70-D1F4E2D60035}"/>
              </a:ext>
            </a:extLst>
          </p:cNvPr>
          <p:cNvSpPr/>
          <p:nvPr/>
        </p:nvSpPr>
        <p:spPr>
          <a:xfrm>
            <a:off x="412367" y="3297339"/>
            <a:ext cx="7881844" cy="1938992"/>
          </a:xfrm>
          <a:prstGeom prst="rect">
            <a:avLst/>
          </a:prstGeom>
        </p:spPr>
        <p:txBody>
          <a:bodyPr wrap="square">
            <a:spAutoFit/>
          </a:bodyPr>
          <a:lstStyle/>
          <a:p>
            <a:endParaRPr lang="zh-TW" altLang="en-US"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 The blocks for the BLOCKS database are made automatically by looking for the most highly conserved regions in groups of proteins represented in the PROSITE database. </a:t>
            </a: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051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229E809C-37F7-4DA5-90DD-AA9769F03A69}"/>
              </a:ext>
            </a:extLst>
          </p:cNvPr>
          <p:cNvPicPr>
            <a:picLocks noChangeAspect="1"/>
          </p:cNvPicPr>
          <p:nvPr/>
        </p:nvPicPr>
        <p:blipFill>
          <a:blip r:embed="rId3"/>
          <a:stretch>
            <a:fillRect/>
          </a:stretch>
        </p:blipFill>
        <p:spPr>
          <a:xfrm>
            <a:off x="388011" y="445770"/>
            <a:ext cx="8357019" cy="4132508"/>
          </a:xfrm>
          <a:prstGeom prst="rect">
            <a:avLst/>
          </a:prstGeom>
        </p:spPr>
      </p:pic>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The Blocks Database:</a:t>
            </a:r>
            <a:endParaRPr lang="zh-TW" altLang="en-US" sz="4000"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694C6A79-841B-4D15-BDAC-1CE5BA51BE4F}"/>
              </a:ext>
            </a:extLst>
          </p:cNvPr>
          <p:cNvPicPr>
            <a:picLocks noChangeAspect="1"/>
          </p:cNvPicPr>
          <p:nvPr/>
        </p:nvPicPr>
        <p:blipFill>
          <a:blip r:embed="rId4"/>
          <a:stretch>
            <a:fillRect/>
          </a:stretch>
        </p:blipFill>
        <p:spPr>
          <a:xfrm>
            <a:off x="2272365" y="4412763"/>
            <a:ext cx="3862217" cy="2353410"/>
          </a:xfrm>
          <a:prstGeom prst="rect">
            <a:avLst/>
          </a:prstGeom>
        </p:spPr>
      </p:pic>
    </p:spTree>
    <p:extLst>
      <p:ext uri="{BB962C8B-B14F-4D97-AF65-F5344CB8AC3E}">
        <p14:creationId xmlns:p14="http://schemas.microsoft.com/office/powerpoint/2010/main" val="120676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970314" y="4499815"/>
            <a:ext cx="1905000" cy="8164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9" name="矩形 8"/>
          <p:cNvSpPr/>
          <p:nvPr/>
        </p:nvSpPr>
        <p:spPr>
          <a:xfrm>
            <a:off x="1970314" y="3105704"/>
            <a:ext cx="1905000" cy="1353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424AEF5E-C871-4F60-97BF-35565312F1F9}"/>
              </a:ext>
            </a:extLst>
          </p:cNvPr>
          <p:cNvGraphicFramePr>
            <a:graphicFrameLocks noGrp="1"/>
          </p:cNvGraphicFramePr>
          <p:nvPr>
            <p:extLst>
              <p:ext uri="{D42A27DB-BD31-4B8C-83A1-F6EECF244321}">
                <p14:modId xmlns:p14="http://schemas.microsoft.com/office/powerpoint/2010/main" val="1311101277"/>
              </p:ext>
            </p:extLst>
          </p:nvPr>
        </p:nvGraphicFramePr>
        <p:xfrm>
          <a:off x="350219" y="2409279"/>
          <a:ext cx="3689962" cy="3446266"/>
        </p:xfrm>
        <a:graphic>
          <a:graphicData uri="http://schemas.openxmlformats.org/drawingml/2006/table">
            <a:tbl>
              <a:tblPr firstRow="1" bandRow="1">
                <a:tableStyleId>{5940675A-B579-460E-94D1-54222C63F5DA}</a:tableStyleId>
              </a:tblPr>
              <a:tblGrid>
                <a:gridCol w="1547376">
                  <a:extLst>
                    <a:ext uri="{9D8B030D-6E8A-4147-A177-3AD203B41FA5}">
                      <a16:colId xmlns:a16="http://schemas.microsoft.com/office/drawing/2014/main" val="20000"/>
                    </a:ext>
                  </a:extLst>
                </a:gridCol>
                <a:gridCol w="602289">
                  <a:extLst>
                    <a:ext uri="{9D8B030D-6E8A-4147-A177-3AD203B41FA5}">
                      <a16:colId xmlns:a16="http://schemas.microsoft.com/office/drawing/2014/main" val="20001"/>
                    </a:ext>
                  </a:extLst>
                </a:gridCol>
                <a:gridCol w="729614">
                  <a:extLst>
                    <a:ext uri="{9D8B030D-6E8A-4147-A177-3AD203B41FA5}">
                      <a16:colId xmlns:a16="http://schemas.microsoft.com/office/drawing/2014/main" val="20002"/>
                    </a:ext>
                  </a:extLst>
                </a:gridCol>
                <a:gridCol w="810683">
                  <a:extLst>
                    <a:ext uri="{9D8B030D-6E8A-4147-A177-3AD203B41FA5}">
                      <a16:colId xmlns:a16="http://schemas.microsoft.com/office/drawing/2014/main" val="20003"/>
                    </a:ext>
                  </a:extLst>
                </a:gridCol>
              </a:tblGrid>
              <a:tr h="676726">
                <a:tc>
                  <a:txBody>
                    <a:bodyPr/>
                    <a:lstStyle/>
                    <a:p>
                      <a:pPr algn="ctr"/>
                      <a:r>
                        <a:rPr lang="en-US" altLang="zh-TW" sz="2400">
                          <a:latin typeface="Times New Roman" panose="02020603050405020304" pitchFamily="18" charset="0"/>
                          <a:cs typeface="Times New Roman" panose="02020603050405020304" pitchFamily="18" charset="0"/>
                        </a:rPr>
                        <a:t>Sequence</a:t>
                      </a:r>
                      <a:endParaRPr lang="zh-TW" altLang="en-US" sz="2400" dirty="0">
                        <a:latin typeface="Times New Roman" panose="02020603050405020304" pitchFamily="18" charset="0"/>
                        <a:cs typeface="Times New Roman" panose="02020603050405020304" pitchFamily="18" charset="0"/>
                      </a:endParaRPr>
                    </a:p>
                  </a:txBody>
                  <a:tcPr anchor="ctr"/>
                </a:tc>
                <a:tc gridSpan="3">
                  <a:txBody>
                    <a:bodyPr/>
                    <a:lstStyle/>
                    <a:p>
                      <a:pPr algn="ctr"/>
                      <a:r>
                        <a:rPr lang="en-US" altLang="zh-TW" sz="2400" dirty="0">
                          <a:latin typeface="Times New Roman" panose="02020603050405020304" pitchFamily="18" charset="0"/>
                          <a:cs typeface="Times New Roman" panose="02020603050405020304" pitchFamily="18" charset="0"/>
                        </a:rPr>
                        <a:t>Position</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K</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W</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K</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R</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W</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38033520"/>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V</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28599332"/>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I</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4235957"/>
                  </a:ext>
                </a:extLst>
              </a:tr>
            </a:tbl>
          </a:graphicData>
        </a:graphic>
      </p:graphicFrame>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p:sp>
        <p:nvSpPr>
          <p:cNvPr id="11" name="矩形 10"/>
          <p:cNvSpPr/>
          <p:nvPr/>
        </p:nvSpPr>
        <p:spPr>
          <a:xfrm>
            <a:off x="434188" y="874870"/>
            <a:ext cx="5302584"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An overview of the clustering and normalization process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4" name="矩形 13"/>
          <p:cNvSpPr/>
          <p:nvPr/>
        </p:nvSpPr>
        <p:spPr>
          <a:xfrm>
            <a:off x="4345570" y="2157196"/>
            <a:ext cx="4341819" cy="1200329"/>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2 pairs of weight 1/6,</a:t>
            </a:r>
          </a:p>
          <a:p>
            <a:r>
              <a:rPr lang="en-US" altLang="zh-TW" sz="2400" dirty="0">
                <a:latin typeface="Times New Roman" panose="02020603050405020304" pitchFamily="18" charset="0"/>
                <a:cs typeface="Times New Roman" panose="02020603050405020304" pitchFamily="18" charset="0"/>
              </a:rPr>
              <a:t>resulting in a total of 1/3 K-K pairs</a:t>
            </a:r>
            <a:endParaRPr lang="zh-TW" altLang="en-US" sz="2400" dirty="0">
              <a:latin typeface="Times New Roman" panose="02020603050405020304" pitchFamily="18" charset="0"/>
              <a:cs typeface="Times New Roman" panose="02020603050405020304" pitchFamily="18" charset="0"/>
            </a:endParaRPr>
          </a:p>
        </p:txBody>
      </p:sp>
      <p:sp>
        <p:nvSpPr>
          <p:cNvPr id="15" name="矩形 14"/>
          <p:cNvSpPr/>
          <p:nvPr/>
        </p:nvSpPr>
        <p:spPr>
          <a:xfrm>
            <a:off x="4377638" y="3475877"/>
            <a:ext cx="3820886" cy="2677656"/>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1/6 for R-K, </a:t>
            </a:r>
          </a:p>
          <a:p>
            <a:r>
              <a:rPr lang="en-US" altLang="zh-TW" sz="2400" dirty="0">
                <a:latin typeface="Times New Roman" panose="02020603050405020304" pitchFamily="18" charset="0"/>
                <a:cs typeface="Times New Roman" panose="02020603050405020304" pitchFamily="18" charset="0"/>
              </a:rPr>
              <a:t>1/3 for K-V, </a:t>
            </a:r>
          </a:p>
          <a:p>
            <a:r>
              <a:rPr lang="en-US" altLang="zh-TW" sz="2400" dirty="0">
                <a:latin typeface="Times New Roman" panose="02020603050405020304" pitchFamily="18" charset="0"/>
                <a:cs typeface="Times New Roman" panose="02020603050405020304" pitchFamily="18" charset="0"/>
              </a:rPr>
              <a:t>7/6 for K-P, </a:t>
            </a:r>
          </a:p>
          <a:p>
            <a:r>
              <a:rPr lang="en-US" altLang="zh-TW" sz="2400" dirty="0">
                <a:latin typeface="Times New Roman" panose="02020603050405020304" pitchFamily="18" charset="0"/>
                <a:cs typeface="Times New Roman" panose="02020603050405020304" pitchFamily="18" charset="0"/>
              </a:rPr>
              <a:t>1/6 for R-V, </a:t>
            </a:r>
          </a:p>
          <a:p>
            <a:r>
              <a:rPr lang="en-US" altLang="zh-TW" sz="2400" dirty="0">
                <a:latin typeface="Times New Roman" panose="02020603050405020304" pitchFamily="18" charset="0"/>
                <a:cs typeface="Times New Roman" panose="02020603050405020304" pitchFamily="18" charset="0"/>
              </a:rPr>
              <a:t>1/3 for R-P, </a:t>
            </a:r>
          </a:p>
          <a:p>
            <a:r>
              <a:rPr lang="en-US" altLang="zh-TW" sz="2400" dirty="0">
                <a:latin typeface="Times New Roman" panose="02020603050405020304" pitchFamily="18" charset="0"/>
                <a:cs typeface="Times New Roman" panose="02020603050405020304" pitchFamily="18" charset="0"/>
              </a:rPr>
              <a:t>1/2 for VP, which adds up to a total of </a:t>
            </a:r>
            <a:r>
              <a:rPr lang="en-US" altLang="zh-TW" sz="2400" dirty="0">
                <a:solidFill>
                  <a:srgbClr val="FF0000"/>
                </a:solidFill>
                <a:latin typeface="Times New Roman" panose="02020603050405020304" pitchFamily="18" charset="0"/>
                <a:cs typeface="Times New Roman" panose="02020603050405020304" pitchFamily="18" charset="0"/>
              </a:rPr>
              <a:t>3</a:t>
            </a:r>
            <a:r>
              <a:rPr lang="en-US" altLang="zh-TW" sz="2400" dirty="0">
                <a:latin typeface="Times New Roman" panose="02020603050405020304" pitchFamily="18" charset="0"/>
                <a:cs typeface="Times New Roman" panose="02020603050405020304" pitchFamily="18" charset="0"/>
              </a:rPr>
              <a:t> pairs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22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054283" y="4623717"/>
            <a:ext cx="1905000" cy="8164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sp>
        <p:nvSpPr>
          <p:cNvPr id="9" name="矩形 8"/>
          <p:cNvSpPr/>
          <p:nvPr/>
        </p:nvSpPr>
        <p:spPr>
          <a:xfrm>
            <a:off x="2054283" y="3229606"/>
            <a:ext cx="1905000" cy="13532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424AEF5E-C871-4F60-97BF-35565312F1F9}"/>
              </a:ext>
            </a:extLst>
          </p:cNvPr>
          <p:cNvGraphicFramePr>
            <a:graphicFrameLocks noGrp="1"/>
          </p:cNvGraphicFramePr>
          <p:nvPr>
            <p:extLst>
              <p:ext uri="{D42A27DB-BD31-4B8C-83A1-F6EECF244321}">
                <p14:modId xmlns:p14="http://schemas.microsoft.com/office/powerpoint/2010/main" val="1213554927"/>
              </p:ext>
            </p:extLst>
          </p:nvPr>
        </p:nvGraphicFramePr>
        <p:xfrm>
          <a:off x="434188" y="2533181"/>
          <a:ext cx="3689962" cy="3446266"/>
        </p:xfrm>
        <a:graphic>
          <a:graphicData uri="http://schemas.openxmlformats.org/drawingml/2006/table">
            <a:tbl>
              <a:tblPr firstRow="1" bandRow="1">
                <a:tableStyleId>{5940675A-B579-460E-94D1-54222C63F5DA}</a:tableStyleId>
              </a:tblPr>
              <a:tblGrid>
                <a:gridCol w="1547376">
                  <a:extLst>
                    <a:ext uri="{9D8B030D-6E8A-4147-A177-3AD203B41FA5}">
                      <a16:colId xmlns:a16="http://schemas.microsoft.com/office/drawing/2014/main" val="20000"/>
                    </a:ext>
                  </a:extLst>
                </a:gridCol>
                <a:gridCol w="602289">
                  <a:extLst>
                    <a:ext uri="{9D8B030D-6E8A-4147-A177-3AD203B41FA5}">
                      <a16:colId xmlns:a16="http://schemas.microsoft.com/office/drawing/2014/main" val="20001"/>
                    </a:ext>
                  </a:extLst>
                </a:gridCol>
                <a:gridCol w="729614">
                  <a:extLst>
                    <a:ext uri="{9D8B030D-6E8A-4147-A177-3AD203B41FA5}">
                      <a16:colId xmlns:a16="http://schemas.microsoft.com/office/drawing/2014/main" val="20002"/>
                    </a:ext>
                  </a:extLst>
                </a:gridCol>
                <a:gridCol w="810683">
                  <a:extLst>
                    <a:ext uri="{9D8B030D-6E8A-4147-A177-3AD203B41FA5}">
                      <a16:colId xmlns:a16="http://schemas.microsoft.com/office/drawing/2014/main" val="20003"/>
                    </a:ext>
                  </a:extLst>
                </a:gridCol>
              </a:tblGrid>
              <a:tr h="676726">
                <a:tc>
                  <a:txBody>
                    <a:bodyPr/>
                    <a:lstStyle/>
                    <a:p>
                      <a:pPr algn="ctr"/>
                      <a:r>
                        <a:rPr lang="en-US" altLang="zh-TW" sz="2400">
                          <a:latin typeface="Times New Roman" panose="02020603050405020304" pitchFamily="18" charset="0"/>
                          <a:cs typeface="Times New Roman" panose="02020603050405020304" pitchFamily="18" charset="0"/>
                        </a:rPr>
                        <a:t>Sequence</a:t>
                      </a:r>
                      <a:endParaRPr lang="zh-TW" altLang="en-US" sz="2400" dirty="0">
                        <a:latin typeface="Times New Roman" panose="02020603050405020304" pitchFamily="18" charset="0"/>
                        <a:cs typeface="Times New Roman" panose="02020603050405020304" pitchFamily="18" charset="0"/>
                      </a:endParaRPr>
                    </a:p>
                  </a:txBody>
                  <a:tcPr anchor="ctr"/>
                </a:tc>
                <a:tc gridSpan="3">
                  <a:txBody>
                    <a:bodyPr/>
                    <a:lstStyle/>
                    <a:p>
                      <a:pPr algn="ctr"/>
                      <a:r>
                        <a:rPr lang="en-US" altLang="zh-TW" sz="2400" dirty="0">
                          <a:latin typeface="Times New Roman" panose="02020603050405020304" pitchFamily="18" charset="0"/>
                          <a:cs typeface="Times New Roman" panose="02020603050405020304" pitchFamily="18" charset="0"/>
                        </a:rPr>
                        <a:t>Position</a:t>
                      </a: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K</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W</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K</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A</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R</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L</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W</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38033520"/>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V</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K</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928599332"/>
                  </a:ext>
                </a:extLst>
              </a:tr>
              <a:tr h="461590">
                <a:tc>
                  <a:txBody>
                    <a:bodyPr/>
                    <a:lstStyle/>
                    <a:p>
                      <a:pPr algn="ctr"/>
                      <a:r>
                        <a:rPr lang="en-US" altLang="zh-TW" sz="2400" dirty="0">
                          <a:latin typeface="Times New Roman" panose="02020603050405020304" pitchFamily="18" charset="0"/>
                          <a:cs typeface="Times New Roman" panose="02020603050405020304" pitchFamily="18" charset="0"/>
                        </a:rPr>
                        <a:t>Seq6</a:t>
                      </a:r>
                      <a:endParaRPr lang="zh-TW" altLang="en-US" sz="24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I</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L</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4235957"/>
                  </a:ext>
                </a:extLst>
              </a:tr>
            </a:tbl>
          </a:graphicData>
        </a:graphic>
      </p:graphicFrame>
      <p:sp>
        <p:nvSpPr>
          <p:cNvPr id="6" name="文字方塊 5">
            <a:extLst>
              <a:ext uri="{FF2B5EF4-FFF2-40B4-BE49-F238E27FC236}">
                <a16:creationId xmlns:a16="http://schemas.microsoft.com/office/drawing/2014/main" id="{A19A91F3-ACB6-498B-885F-8CFD3AD3DBEC}"/>
              </a:ext>
            </a:extLst>
          </p:cNvPr>
          <p:cNvSpPr txBox="1"/>
          <p:nvPr/>
        </p:nvSpPr>
        <p:spPr>
          <a:xfrm>
            <a:off x="188616" y="91827"/>
            <a:ext cx="8755811" cy="707886"/>
          </a:xfrm>
          <a:prstGeom prst="rect">
            <a:avLst/>
          </a:prstGeom>
          <a:noFill/>
        </p:spPr>
        <p:txBody>
          <a:bodyPr wrap="square" rtlCol="0">
            <a:spAutoFit/>
          </a:bodyPr>
          <a:lstStyle/>
          <a:p>
            <a:r>
              <a:rPr lang="en-US" altLang="zh-TW" sz="4000" b="1" dirty="0">
                <a:latin typeface="Times New Roman" panose="02020603050405020304" pitchFamily="18" charset="0"/>
                <a:cs typeface="Times New Roman" panose="02020603050405020304" pitchFamily="18" charset="0"/>
              </a:rPr>
              <a:t>Example of BLOSUM Calculation</a:t>
            </a:r>
            <a:endParaRPr lang="zh-TW" altLang="en-US" sz="4000" dirty="0">
              <a:latin typeface="Times New Roman" panose="02020603050405020304" pitchFamily="18" charset="0"/>
              <a:cs typeface="Times New Roman" panose="02020603050405020304" pitchFamily="18" charset="0"/>
            </a:endParaRPr>
          </a:p>
        </p:txBody>
      </p:sp>
      <p:sp>
        <p:nvSpPr>
          <p:cNvPr id="11" name="矩形 10"/>
          <p:cNvSpPr/>
          <p:nvPr/>
        </p:nvSpPr>
        <p:spPr>
          <a:xfrm>
            <a:off x="434188" y="874870"/>
            <a:ext cx="5302584" cy="830997"/>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An overview of the clustering and normalization process</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14" name="矩形 13"/>
          <p:cNvSpPr/>
          <p:nvPr/>
        </p:nvSpPr>
        <p:spPr>
          <a:xfrm>
            <a:off x="4323208" y="2269939"/>
            <a:ext cx="4341819"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2 pairs of weight 1/2,</a:t>
            </a:r>
          </a:p>
          <a:p>
            <a:r>
              <a:rPr lang="en-US" altLang="zh-TW" sz="2400" dirty="0">
                <a:latin typeface="Times New Roman" panose="02020603050405020304" pitchFamily="18" charset="0"/>
                <a:cs typeface="Times New Roman" panose="02020603050405020304" pitchFamily="18" charset="0"/>
              </a:rPr>
              <a:t>resulting in a total of 1 K-K pairs</a:t>
            </a:r>
            <a:endParaRPr lang="zh-TW" altLang="en-US" sz="2400" dirty="0">
              <a:latin typeface="Times New Roman" panose="02020603050405020304" pitchFamily="18" charset="0"/>
              <a:cs typeface="Times New Roman" panose="02020603050405020304" pitchFamily="18" charset="0"/>
            </a:endParaRPr>
          </a:p>
        </p:txBody>
      </p:sp>
      <p:sp>
        <p:nvSpPr>
          <p:cNvPr id="15" name="矩形 14"/>
          <p:cNvSpPr/>
          <p:nvPr/>
        </p:nvSpPr>
        <p:spPr>
          <a:xfrm>
            <a:off x="4323208" y="3414377"/>
            <a:ext cx="4341819" cy="2677656"/>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1/2 for R-K, </a:t>
            </a:r>
          </a:p>
          <a:p>
            <a:r>
              <a:rPr lang="en-US" altLang="zh-TW" sz="2400" dirty="0">
                <a:latin typeface="Times New Roman" panose="02020603050405020304" pitchFamily="18" charset="0"/>
                <a:cs typeface="Times New Roman" panose="02020603050405020304" pitchFamily="18" charset="0"/>
              </a:rPr>
              <a:t>1  for K-V, </a:t>
            </a:r>
          </a:p>
          <a:p>
            <a:r>
              <a:rPr lang="en-US" altLang="zh-TW" sz="2400" dirty="0">
                <a:latin typeface="Times New Roman" panose="02020603050405020304" pitchFamily="18" charset="0"/>
                <a:cs typeface="Times New Roman" panose="02020603050405020304" pitchFamily="18" charset="0"/>
              </a:rPr>
              <a:t>3 for K-P, </a:t>
            </a:r>
          </a:p>
          <a:p>
            <a:r>
              <a:rPr lang="en-US" altLang="zh-TW" sz="2400" dirty="0">
                <a:latin typeface="Times New Roman" panose="02020603050405020304" pitchFamily="18" charset="0"/>
                <a:cs typeface="Times New Roman" panose="02020603050405020304" pitchFamily="18" charset="0"/>
              </a:rPr>
              <a:t>1/2 for R-V, </a:t>
            </a:r>
          </a:p>
          <a:p>
            <a:r>
              <a:rPr lang="en-US" altLang="zh-TW" sz="2400" dirty="0">
                <a:latin typeface="Times New Roman" panose="02020603050405020304" pitchFamily="18" charset="0"/>
                <a:cs typeface="Times New Roman" panose="02020603050405020304" pitchFamily="18" charset="0"/>
              </a:rPr>
              <a:t>1 for R-P, </a:t>
            </a:r>
          </a:p>
          <a:p>
            <a:r>
              <a:rPr lang="en-US" altLang="zh-TW" sz="2400" dirty="0">
                <a:latin typeface="Times New Roman" panose="02020603050405020304" pitchFamily="18" charset="0"/>
                <a:cs typeface="Times New Roman" panose="02020603050405020304" pitchFamily="18" charset="0"/>
              </a:rPr>
              <a:t>1 for VP, which adds up to a total of </a:t>
            </a:r>
            <a:r>
              <a:rPr lang="en-US" altLang="zh-TW" sz="2400" dirty="0">
                <a:solidFill>
                  <a:srgbClr val="FF0000"/>
                </a:solidFill>
                <a:latin typeface="Times New Roman" panose="02020603050405020304" pitchFamily="18" charset="0"/>
                <a:cs typeface="Times New Roman" panose="02020603050405020304" pitchFamily="18" charset="0"/>
              </a:rPr>
              <a:t>8</a:t>
            </a:r>
            <a:r>
              <a:rPr lang="en-US" altLang="zh-TW" sz="2400" dirty="0">
                <a:latin typeface="Times New Roman" panose="02020603050405020304" pitchFamily="18" charset="0"/>
                <a:cs typeface="Times New Roman" panose="02020603050405020304" pitchFamily="18" charset="0"/>
              </a:rPr>
              <a:t> pairs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167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D731572E-071B-4505-8337-99173C121182}"/>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Scoring Matrices:</a:t>
            </a:r>
            <a:endParaRPr lang="zh-TW" altLang="en-US" sz="3200" b="1"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692D2120-8122-4C8B-8F91-57B818FD42B4}"/>
              </a:ext>
            </a:extLst>
          </p:cNvPr>
          <p:cNvSpPr/>
          <p:nvPr/>
        </p:nvSpPr>
        <p:spPr>
          <a:xfrm>
            <a:off x="404107" y="3050765"/>
            <a:ext cx="2305439" cy="523220"/>
          </a:xfrm>
          <a:prstGeom prst="rect">
            <a:avLst/>
          </a:prstGeom>
        </p:spPr>
        <p:txBody>
          <a:bodyPr wrap="none">
            <a:spAutoFit/>
          </a:bodyPr>
          <a:lstStyle/>
          <a:p>
            <a:r>
              <a:rPr lang="zh-TW" altLang="en-US" sz="2800" dirty="0">
                <a:latin typeface="Times New Roman" panose="02020603050405020304" pitchFamily="18" charset="0"/>
                <a:cs typeface="Times New Roman" panose="02020603050405020304" pitchFamily="18" charset="0"/>
              </a:rPr>
              <a:t>CorBLOSUM</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C8762DC1-415B-4B5E-95D8-5D8802212550}"/>
              </a:ext>
            </a:extLst>
          </p:cNvPr>
          <p:cNvSpPr/>
          <p:nvPr/>
        </p:nvSpPr>
        <p:spPr>
          <a:xfrm>
            <a:off x="404107" y="1223655"/>
            <a:ext cx="7317493" cy="1815882"/>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RBLOSUM</a:t>
            </a:r>
            <a:r>
              <a:rPr lang="en-US" altLang="zh-TW" sz="2800" dirty="0">
                <a:latin typeface="Times New Roman" panose="02020603050405020304" pitchFamily="18" charset="0"/>
                <a:cs typeface="Times New Roman" panose="02020603050405020304" pitchFamily="18" charset="0"/>
              </a:rPr>
              <a:t>:</a:t>
            </a:r>
          </a:p>
          <a:p>
            <a:r>
              <a:rPr lang="en-US" altLang="zh-TW" sz="2800" dirty="0">
                <a:solidFill>
                  <a:srgbClr val="333333"/>
                </a:solidFill>
                <a:latin typeface="Times New Roman" panose="02020603050405020304" pitchFamily="18" charset="0"/>
                <a:cs typeface="Times New Roman" panose="02020603050405020304" pitchFamily="18" charset="0"/>
              </a:rPr>
              <a:t>revealed inconsistencies in the cluster weighting procedure of the matrix calculation.</a:t>
            </a:r>
            <a:endParaRPr lang="zh-TW" altLang="en-US" sz="2800" dirty="0">
              <a:latin typeface="Times New Roman" panose="02020603050405020304" pitchFamily="18" charset="0"/>
              <a:cs typeface="Times New Roman" panose="02020603050405020304" pitchFamily="18" charset="0"/>
            </a:endParaRPr>
          </a:p>
          <a:p>
            <a:endParaRPr lang="zh-TW" altLang="en-US" sz="28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A3BC6892-3633-42C6-9EA7-D1DF61E4998C}"/>
              </a:ext>
            </a:extLst>
          </p:cNvPr>
          <p:cNvPicPr>
            <a:picLocks noChangeAspect="1"/>
          </p:cNvPicPr>
          <p:nvPr/>
        </p:nvPicPr>
        <p:blipFill>
          <a:blip r:embed="rId3"/>
          <a:stretch>
            <a:fillRect/>
          </a:stretch>
        </p:blipFill>
        <p:spPr>
          <a:xfrm>
            <a:off x="125359" y="3972256"/>
            <a:ext cx="9004300" cy="2220069"/>
          </a:xfrm>
          <a:prstGeom prst="rect">
            <a:avLst/>
          </a:prstGeom>
        </p:spPr>
      </p:pic>
    </p:spTree>
    <p:extLst>
      <p:ext uri="{BB962C8B-B14F-4D97-AF65-F5344CB8AC3E}">
        <p14:creationId xmlns:p14="http://schemas.microsoft.com/office/powerpoint/2010/main" val="200758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B13AA57-97D3-4999-9F0E-07E79C406F0E}"/>
              </a:ext>
            </a:extLst>
          </p:cNvPr>
          <p:cNvSpPr/>
          <p:nvPr/>
        </p:nvSpPr>
        <p:spPr>
          <a:xfrm>
            <a:off x="849650" y="1847334"/>
            <a:ext cx="6858000" cy="2677656"/>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 Collect alignment scores (E-values) from pair-wise alignment of all sequences in the database </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 E-value: number of alignments with scores greater than or equal to score S that are expected to occur by chance in a database search</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 Vary the alignment score threshold</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 Allow few false positive errors with stringent cutoff </a:t>
            </a:r>
          </a:p>
        </p:txBody>
      </p:sp>
      <p:sp>
        <p:nvSpPr>
          <p:cNvPr id="4" name="標題 1">
            <a:extLst>
              <a:ext uri="{FF2B5EF4-FFF2-40B4-BE49-F238E27FC236}">
                <a16:creationId xmlns:a16="http://schemas.microsoft.com/office/drawing/2014/main" id="{D1D68001-DAFF-4883-8F02-7487E2E7E512}"/>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Performance Evaluation:</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910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B5F8A94A-4C68-4658-8211-54E4364BDD25}"/>
              </a:ext>
            </a:extLst>
          </p:cNvPr>
          <p:cNvPicPr>
            <a:picLocks noChangeAspect="1"/>
          </p:cNvPicPr>
          <p:nvPr/>
        </p:nvPicPr>
        <p:blipFill>
          <a:blip r:embed="rId3"/>
          <a:stretch>
            <a:fillRect/>
          </a:stretch>
        </p:blipFill>
        <p:spPr>
          <a:xfrm>
            <a:off x="1032329" y="1924957"/>
            <a:ext cx="4699744" cy="1536700"/>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19A129D-DD13-4C1F-8BD2-CCC6E91191D1}"/>
                  </a:ext>
                </a:extLst>
              </p:cNvPr>
              <p:cNvSpPr/>
              <p:nvPr/>
            </p:nvSpPr>
            <p:spPr>
              <a:xfrm>
                <a:off x="1032329" y="4103078"/>
                <a:ext cx="7698014" cy="1200329"/>
              </a:xfrm>
              <a:prstGeom prst="rect">
                <a:avLst/>
              </a:prstGeom>
            </p:spPr>
            <p:txBody>
              <a:bodyPr wrap="square">
                <a:spAutoFit/>
              </a:bodyPr>
              <a:lstStyle/>
              <a:p>
                <a14:m>
                  <m:oMath xmlns:m="http://schemas.openxmlformats.org/officeDocument/2006/math">
                    <m:r>
                      <a:rPr lang="en-US" altLang="zh-TW" sz="2400" i="1" smtClean="0">
                        <a:latin typeface="Cambria Math" panose="02040503050406030204" pitchFamily="18" charset="0"/>
                      </a:rPr>
                      <m:t>𝑆</m:t>
                    </m:r>
                  </m:oMath>
                </a14:m>
                <a:r>
                  <a:rPr lang="zh-TW" altLang="en-US" sz="2400" dirty="0">
                    <a:latin typeface="Times New Roman" panose="02020603050405020304" pitchFamily="18" charset="0"/>
                    <a:cs typeface="Times New Roman" panose="02020603050405020304" pitchFamily="18" charset="0"/>
                  </a:rPr>
                  <a:t> represents the number of </a:t>
                </a:r>
                <a:r>
                  <a:rPr lang="en-US" altLang="zh-TW" sz="2400" dirty="0">
                    <a:latin typeface="Times New Roman" panose="02020603050405020304" pitchFamily="18" charset="0"/>
                    <a:cs typeface="Times New Roman" panose="02020603050405020304" pitchFamily="18" charset="0"/>
                  </a:rPr>
                  <a:t>super</a:t>
                </a:r>
                <a:r>
                  <a:rPr lang="zh-TW" altLang="en-US" sz="2400" dirty="0">
                    <a:latin typeface="Times New Roman" panose="02020603050405020304" pitchFamily="18" charset="0"/>
                    <a:cs typeface="Times New Roman" panose="02020603050405020304" pitchFamily="18" charset="0"/>
                  </a:rPr>
                  <a:t>families in database</a:t>
                </a:r>
                <a:endParaRPr lang="en-US" altLang="zh-TW" sz="240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𝑡</m:t>
                        </m:r>
                      </m:e>
                      <m:sub>
                        <m:r>
                          <a:rPr lang="en-US" altLang="zh-TW" sz="2400" i="1">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the number of true positive relations found for a </a:t>
                </a:r>
                <a:r>
                  <a:rPr lang="en-US" altLang="zh-TW" sz="2400" dirty="0">
                    <a:latin typeface="Times New Roman" panose="02020603050405020304" pitchFamily="18" charset="0"/>
                    <a:cs typeface="Times New Roman" panose="02020603050405020304" pitchFamily="18" charset="0"/>
                  </a:rPr>
                  <a:t>super</a:t>
                </a:r>
                <a:r>
                  <a:rPr lang="zh-TW" altLang="en-US" sz="2400" dirty="0">
                    <a:latin typeface="Times New Roman" panose="02020603050405020304" pitchFamily="18" charset="0"/>
                    <a:cs typeface="Times New Roman" panose="02020603050405020304" pitchFamily="18" charset="0"/>
                  </a:rPr>
                  <a:t>family</a:t>
                </a:r>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i="1">
                        <a:latin typeface="Cambria Math" panose="02040503050406030204" pitchFamily="18" charset="0"/>
                      </a:rPr>
                      <m:t>𝑖</m:t>
                    </m:r>
                  </m:oMath>
                </a14:m>
                <a:r>
                  <a:rPr lang="zh-TW" altLang="en-US" sz="2400" dirty="0">
                    <a:latin typeface="Times New Roman" panose="02020603050405020304" pitchFamily="18" charset="0"/>
                    <a:cs typeface="Times New Roman" panose="02020603050405020304" pitchFamily="18" charset="0"/>
                  </a:rPr>
                  <a:t> which contains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𝑠</m:t>
                        </m:r>
                      </m:e>
                      <m:sub>
                        <m:r>
                          <a:rPr lang="en-US" altLang="zh-TW" sz="2400" i="1">
                            <a:latin typeface="Cambria Math" panose="02040503050406030204" pitchFamily="18" charset="0"/>
                          </a:rPr>
                          <m:t>𝑖</m:t>
                        </m:r>
                      </m:sub>
                    </m:sSub>
                  </m:oMath>
                </a14:m>
                <a:r>
                  <a:rPr lang="zh-TW" altLang="en-US" sz="2400" dirty="0">
                    <a:latin typeface="Times New Roman" panose="02020603050405020304" pitchFamily="18" charset="0"/>
                    <a:cs typeface="Times New Roman" panose="02020603050405020304" pitchFamily="18" charset="0"/>
                  </a:rPr>
                  <a:t> sequences</a:t>
                </a:r>
              </a:p>
            </p:txBody>
          </p:sp>
        </mc:Choice>
        <mc:Fallback xmlns="">
          <p:sp>
            <p:nvSpPr>
              <p:cNvPr id="3" name="矩形 2">
                <a:extLst>
                  <a:ext uri="{FF2B5EF4-FFF2-40B4-BE49-F238E27FC236}">
                    <a16:creationId xmlns:a16="http://schemas.microsoft.com/office/drawing/2014/main" id="{419A129D-DD13-4C1F-8BD2-CCC6E91191D1}"/>
                  </a:ext>
                </a:extLst>
              </p:cNvPr>
              <p:cNvSpPr>
                <a:spLocks noRot="1" noChangeAspect="1" noMove="1" noResize="1" noEditPoints="1" noAdjustHandles="1" noChangeArrowheads="1" noChangeShapeType="1" noTextEdit="1"/>
              </p:cNvSpPr>
              <p:nvPr/>
            </p:nvSpPr>
            <p:spPr>
              <a:xfrm>
                <a:off x="1032329" y="4103078"/>
                <a:ext cx="7698014" cy="1200329"/>
              </a:xfrm>
              <a:prstGeom prst="rect">
                <a:avLst/>
              </a:prstGeom>
              <a:blipFill>
                <a:blip r:embed="rId4"/>
                <a:stretch>
                  <a:fillRect l="-1188" t="-4061" b="-10660"/>
                </a:stretch>
              </a:blipFill>
            </p:spPr>
            <p:txBody>
              <a:bodyPr/>
              <a:lstStyle/>
              <a:p>
                <a:r>
                  <a:rPr lang="zh-TW" altLang="en-US">
                    <a:noFill/>
                  </a:rPr>
                  <a:t> </a:t>
                </a:r>
              </a:p>
            </p:txBody>
          </p:sp>
        </mc:Fallback>
      </mc:AlternateContent>
      <p:sp>
        <p:nvSpPr>
          <p:cNvPr id="4" name="標題 1">
            <a:extLst>
              <a:ext uri="{FF2B5EF4-FFF2-40B4-BE49-F238E27FC236}">
                <a16:creationId xmlns:a16="http://schemas.microsoft.com/office/drawing/2014/main" id="{F1036EC8-6D98-4312-B3AE-456F3272D33A}"/>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Performance Evaluation:</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4137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EA3CCA1B-89F5-4635-8DF3-7BF062A394CF}"/>
              </a:ext>
            </a:extLst>
          </p:cNvPr>
          <p:cNvPicPr>
            <a:picLocks noChangeAspect="1"/>
          </p:cNvPicPr>
          <p:nvPr/>
        </p:nvPicPr>
        <p:blipFill>
          <a:blip r:embed="rId3"/>
          <a:stretch>
            <a:fillRect/>
          </a:stretch>
        </p:blipFill>
        <p:spPr>
          <a:xfrm>
            <a:off x="1799500" y="689207"/>
            <a:ext cx="4925391" cy="5170843"/>
          </a:xfrm>
          <a:prstGeom prst="rect">
            <a:avLst/>
          </a:prstGeom>
        </p:spPr>
      </p:pic>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Bootstrapping:</a:t>
            </a:r>
            <a:endParaRPr lang="zh-TW" altLang="en-US" sz="3200" b="1"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A8E966C3-A0B5-416B-ABC5-AB6221814731}"/>
              </a:ext>
            </a:extLst>
          </p:cNvPr>
          <p:cNvSpPr/>
          <p:nvPr/>
        </p:nvSpPr>
        <p:spPr>
          <a:xfrm>
            <a:off x="934140" y="5707128"/>
            <a:ext cx="7077919" cy="923330"/>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CVE results from any two database search methods (or parameter sets, or scoring schemes, etc.) can be compared but it is not immediately obvious how significant any performance difference may be.</a:t>
            </a:r>
          </a:p>
        </p:txBody>
      </p:sp>
    </p:spTree>
    <p:extLst>
      <p:ext uri="{BB962C8B-B14F-4D97-AF65-F5344CB8AC3E}">
        <p14:creationId xmlns:p14="http://schemas.microsoft.com/office/powerpoint/2010/main" val="3427902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05BB352-F9B7-4219-8EE9-7A8C3972D717}"/>
              </a:ext>
            </a:extLst>
          </p:cNvPr>
          <p:cNvPicPr>
            <a:picLocks noChangeAspect="1"/>
          </p:cNvPicPr>
          <p:nvPr/>
        </p:nvPicPr>
        <p:blipFill>
          <a:blip r:embed="rId3"/>
          <a:stretch>
            <a:fillRect/>
          </a:stretch>
        </p:blipFill>
        <p:spPr>
          <a:xfrm>
            <a:off x="1353915" y="1406087"/>
            <a:ext cx="3170460" cy="1714444"/>
          </a:xfrm>
          <a:prstGeom prst="rect">
            <a:avLst/>
          </a:prstGeom>
        </p:spPr>
      </p:pic>
      <p:sp>
        <p:nvSpPr>
          <p:cNvPr id="6" name="矩形 5">
            <a:extLst>
              <a:ext uri="{FF2B5EF4-FFF2-40B4-BE49-F238E27FC236}">
                <a16:creationId xmlns:a16="http://schemas.microsoft.com/office/drawing/2014/main" id="{2A045417-1E43-42EA-B6D5-AFCC4BB77AAD}"/>
              </a:ext>
            </a:extLst>
          </p:cNvPr>
          <p:cNvSpPr/>
          <p:nvPr/>
        </p:nvSpPr>
        <p:spPr>
          <a:xfrm>
            <a:off x="1276350" y="5289410"/>
            <a:ext cx="6591300" cy="1200329"/>
          </a:xfrm>
          <a:prstGeom prst="rect">
            <a:avLst/>
          </a:prstGeom>
        </p:spPr>
        <p:txBody>
          <a:bodyPr wrap="square">
            <a:spAutoFit/>
          </a:bodyPr>
          <a:lstStyle/>
          <a:p>
            <a:r>
              <a:rPr lang="zh-TW" altLang="en-US" sz="2400" dirty="0">
                <a:latin typeface="Times New Roman" panose="02020603050405020304" pitchFamily="18" charset="0"/>
                <a:cs typeface="Times New Roman" panose="02020603050405020304" pitchFamily="18" charset="0"/>
              </a:rPr>
              <a:t>If the Z-statistic is &gt;1.96, we reject the hypothesis that the methods possess equivalent performance at 9</a:t>
            </a:r>
            <a:r>
              <a:rPr lang="en-US" altLang="zh-TW" sz="2400" dirty="0">
                <a:latin typeface="Times New Roman" panose="02020603050405020304" pitchFamily="18" charset="0"/>
                <a:cs typeface="Times New Roman" panose="02020603050405020304" pitchFamily="18" charset="0"/>
              </a:rPr>
              <a:t>7.5</a:t>
            </a:r>
            <a:r>
              <a:rPr lang="zh-TW" altLang="en-US" sz="2400" dirty="0">
                <a:latin typeface="Times New Roman" panose="02020603050405020304" pitchFamily="18" charset="0"/>
                <a:cs typeface="Times New Roman" panose="02020603050405020304" pitchFamily="18" charset="0"/>
              </a:rPr>
              <a:t>% conﬁdence.</a:t>
            </a:r>
          </a:p>
        </p:txBody>
      </p:sp>
      <p:sp>
        <p:nvSpPr>
          <p:cNvPr id="8" name="標題 1">
            <a:extLst>
              <a:ext uri="{FF2B5EF4-FFF2-40B4-BE49-F238E27FC236}">
                <a16:creationId xmlns:a16="http://schemas.microsoft.com/office/drawing/2014/main" id="{D731572E-071B-4505-8337-99173C121182}"/>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Performance Evaluation:</a:t>
            </a:r>
            <a:endParaRPr lang="zh-TW" altLang="en-US" sz="3200" b="1"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D55FC2F4-9692-4209-9584-49625913DED8}"/>
              </a:ext>
            </a:extLst>
          </p:cNvPr>
          <p:cNvSpPr/>
          <p:nvPr/>
        </p:nvSpPr>
        <p:spPr>
          <a:xfrm>
            <a:off x="1276350" y="781273"/>
            <a:ext cx="3009735" cy="523220"/>
          </a:xfrm>
          <a:prstGeom prst="rect">
            <a:avLst/>
          </a:prstGeom>
        </p:spPr>
        <p:txBody>
          <a:bodyPr wrap="none">
            <a:spAutoFit/>
          </a:bodyPr>
          <a:lstStyle/>
          <a:p>
            <a:r>
              <a:rPr lang="zh-TW" altLang="en-US" sz="2800" dirty="0">
                <a:latin typeface="Times New Roman" panose="02020603050405020304" pitchFamily="18" charset="0"/>
                <a:cs typeface="Times New Roman" panose="02020603050405020304" pitchFamily="18" charset="0"/>
              </a:rPr>
              <a:t>Two-Sample Z test</a:t>
            </a:r>
          </a:p>
        </p:txBody>
      </p:sp>
      <p:grpSp>
        <p:nvGrpSpPr>
          <p:cNvPr id="7" name="Group 10">
            <a:extLst>
              <a:ext uri="{FF2B5EF4-FFF2-40B4-BE49-F238E27FC236}">
                <a16:creationId xmlns:a16="http://schemas.microsoft.com/office/drawing/2014/main" id="{7DA72D6D-7757-4CBD-A97B-3B514F36DD7A}"/>
              </a:ext>
            </a:extLst>
          </p:cNvPr>
          <p:cNvGrpSpPr>
            <a:grpSpLocks/>
          </p:cNvGrpSpPr>
          <p:nvPr/>
        </p:nvGrpSpPr>
        <p:grpSpPr bwMode="auto">
          <a:xfrm>
            <a:off x="2605345" y="3213341"/>
            <a:ext cx="3608352" cy="1983259"/>
            <a:chOff x="466" y="2820"/>
            <a:chExt cx="1853" cy="1158"/>
          </a:xfrm>
        </p:grpSpPr>
        <p:sp>
          <p:nvSpPr>
            <p:cNvPr id="9" name="Line 11">
              <a:extLst>
                <a:ext uri="{FF2B5EF4-FFF2-40B4-BE49-F238E27FC236}">
                  <a16:creationId xmlns:a16="http://schemas.microsoft.com/office/drawing/2014/main" id="{4DD7D957-1A01-4538-A2AC-A812CDE75780}"/>
                </a:ext>
              </a:extLst>
            </p:cNvPr>
            <p:cNvSpPr>
              <a:spLocks noChangeShapeType="1"/>
            </p:cNvSpPr>
            <p:nvPr/>
          </p:nvSpPr>
          <p:spPr bwMode="auto">
            <a:xfrm>
              <a:off x="1414" y="2879"/>
              <a:ext cx="0" cy="823"/>
            </a:xfrm>
            <a:prstGeom prst="line">
              <a:avLst/>
            </a:prstGeom>
            <a:noFill/>
            <a:ln w="1584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10" name="Freeform 12">
              <a:extLst>
                <a:ext uri="{FF2B5EF4-FFF2-40B4-BE49-F238E27FC236}">
                  <a16:creationId xmlns:a16="http://schemas.microsoft.com/office/drawing/2014/main" id="{E961CBE1-7518-4977-9E73-27B68766A5A8}"/>
                </a:ext>
              </a:extLst>
            </p:cNvPr>
            <p:cNvSpPr>
              <a:spLocks noChangeArrowheads="1"/>
            </p:cNvSpPr>
            <p:nvPr/>
          </p:nvSpPr>
          <p:spPr bwMode="auto">
            <a:xfrm>
              <a:off x="676" y="3256"/>
              <a:ext cx="431" cy="435"/>
            </a:xfrm>
            <a:custGeom>
              <a:avLst/>
              <a:gdLst>
                <a:gd name="T0" fmla="*/ 431 w 432"/>
                <a:gd name="T1" fmla="*/ 0 h 436"/>
                <a:gd name="T2" fmla="*/ 431 w 432"/>
                <a:gd name="T3" fmla="*/ 435 h 436"/>
                <a:gd name="T4" fmla="*/ 0 w 432"/>
                <a:gd name="T5" fmla="*/ 435 h 436"/>
                <a:gd name="T6" fmla="*/ 53 w 432"/>
                <a:gd name="T7" fmla="*/ 411 h 436"/>
                <a:gd name="T8" fmla="*/ 103 w 432"/>
                <a:gd name="T9" fmla="*/ 385 h 436"/>
                <a:gd name="T10" fmla="*/ 151 w 432"/>
                <a:gd name="T11" fmla="*/ 354 h 436"/>
                <a:gd name="T12" fmla="*/ 197 w 432"/>
                <a:gd name="T13" fmla="*/ 320 h 436"/>
                <a:gd name="T14" fmla="*/ 239 w 432"/>
                <a:gd name="T15" fmla="*/ 283 h 436"/>
                <a:gd name="T16" fmla="*/ 279 w 432"/>
                <a:gd name="T17" fmla="*/ 242 h 436"/>
                <a:gd name="T18" fmla="*/ 317 w 432"/>
                <a:gd name="T19" fmla="*/ 199 h 436"/>
                <a:gd name="T20" fmla="*/ 350 w 432"/>
                <a:gd name="T21" fmla="*/ 152 h 436"/>
                <a:gd name="T22" fmla="*/ 381 w 432"/>
                <a:gd name="T23" fmla="*/ 104 h 436"/>
                <a:gd name="T24" fmla="*/ 407 w 432"/>
                <a:gd name="T25" fmla="*/ 54 h 436"/>
                <a:gd name="T26" fmla="*/ 431 w 432"/>
                <a:gd name="T27" fmla="*/ 0 h 4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2"/>
                <a:gd name="T43" fmla="*/ 0 h 436"/>
                <a:gd name="T44" fmla="*/ 432 w 432"/>
                <a:gd name="T45" fmla="*/ 436 h 4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2" h="436">
                  <a:moveTo>
                    <a:pt x="432" y="0"/>
                  </a:moveTo>
                  <a:lnTo>
                    <a:pt x="432" y="436"/>
                  </a:lnTo>
                  <a:lnTo>
                    <a:pt x="0" y="436"/>
                  </a:lnTo>
                  <a:lnTo>
                    <a:pt x="53" y="412"/>
                  </a:lnTo>
                  <a:lnTo>
                    <a:pt x="103" y="386"/>
                  </a:lnTo>
                  <a:lnTo>
                    <a:pt x="151" y="355"/>
                  </a:lnTo>
                  <a:lnTo>
                    <a:pt x="197" y="321"/>
                  </a:lnTo>
                  <a:lnTo>
                    <a:pt x="240" y="284"/>
                  </a:lnTo>
                  <a:lnTo>
                    <a:pt x="280" y="243"/>
                  </a:lnTo>
                  <a:lnTo>
                    <a:pt x="318" y="199"/>
                  </a:lnTo>
                  <a:lnTo>
                    <a:pt x="351" y="152"/>
                  </a:lnTo>
                  <a:lnTo>
                    <a:pt x="382" y="104"/>
                  </a:lnTo>
                  <a:lnTo>
                    <a:pt x="408" y="54"/>
                  </a:lnTo>
                  <a:lnTo>
                    <a:pt x="432" y="0"/>
                  </a:lnTo>
                  <a:close/>
                </a:path>
              </a:pathLst>
            </a:custGeom>
            <a:solidFill>
              <a:srgbClr val="D200D2">
                <a:alpha val="70195"/>
              </a:srgbClr>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11" name="Freeform 13">
              <a:extLst>
                <a:ext uri="{FF2B5EF4-FFF2-40B4-BE49-F238E27FC236}">
                  <a16:creationId xmlns:a16="http://schemas.microsoft.com/office/drawing/2014/main" id="{4C81F5C4-D782-4F21-98AB-5AE349B595AB}"/>
                </a:ext>
              </a:extLst>
            </p:cNvPr>
            <p:cNvSpPr>
              <a:spLocks noChangeArrowheads="1"/>
            </p:cNvSpPr>
            <p:nvPr/>
          </p:nvSpPr>
          <p:spPr bwMode="auto">
            <a:xfrm>
              <a:off x="1747" y="3278"/>
              <a:ext cx="408" cy="413"/>
            </a:xfrm>
            <a:custGeom>
              <a:avLst/>
              <a:gdLst>
                <a:gd name="T0" fmla="*/ 0 w 409"/>
                <a:gd name="T1" fmla="*/ 0 h 414"/>
                <a:gd name="T2" fmla="*/ 0 w 409"/>
                <a:gd name="T3" fmla="*/ 413 h 414"/>
                <a:gd name="T4" fmla="*/ 408 w 409"/>
                <a:gd name="T5" fmla="*/ 413 h 414"/>
                <a:gd name="T6" fmla="*/ 358 w 409"/>
                <a:gd name="T7" fmla="*/ 391 h 414"/>
                <a:gd name="T8" fmla="*/ 310 w 409"/>
                <a:gd name="T9" fmla="*/ 365 h 414"/>
                <a:gd name="T10" fmla="*/ 265 w 409"/>
                <a:gd name="T11" fmla="*/ 336 h 414"/>
                <a:gd name="T12" fmla="*/ 221 w 409"/>
                <a:gd name="T13" fmla="*/ 303 h 414"/>
                <a:gd name="T14" fmla="*/ 181 w 409"/>
                <a:gd name="T15" fmla="*/ 267 h 414"/>
                <a:gd name="T16" fmla="*/ 143 w 409"/>
                <a:gd name="T17" fmla="*/ 229 h 414"/>
                <a:gd name="T18" fmla="*/ 108 w 409"/>
                <a:gd name="T19" fmla="*/ 188 h 414"/>
                <a:gd name="T20" fmla="*/ 75 w 409"/>
                <a:gd name="T21" fmla="*/ 145 h 414"/>
                <a:gd name="T22" fmla="*/ 46 w 409"/>
                <a:gd name="T23" fmla="*/ 99 h 414"/>
                <a:gd name="T24" fmla="*/ 21 w 409"/>
                <a:gd name="T25" fmla="*/ 50 h 414"/>
                <a:gd name="T26" fmla="*/ 0 w 409"/>
                <a:gd name="T27" fmla="*/ 0 h 4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9"/>
                <a:gd name="T43" fmla="*/ 0 h 414"/>
                <a:gd name="T44" fmla="*/ 409 w 409"/>
                <a:gd name="T45" fmla="*/ 414 h 4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9" h="414">
                  <a:moveTo>
                    <a:pt x="0" y="0"/>
                  </a:moveTo>
                  <a:lnTo>
                    <a:pt x="0" y="414"/>
                  </a:lnTo>
                  <a:lnTo>
                    <a:pt x="409" y="414"/>
                  </a:lnTo>
                  <a:lnTo>
                    <a:pt x="359" y="392"/>
                  </a:lnTo>
                  <a:lnTo>
                    <a:pt x="311" y="366"/>
                  </a:lnTo>
                  <a:lnTo>
                    <a:pt x="266" y="337"/>
                  </a:lnTo>
                  <a:lnTo>
                    <a:pt x="222" y="304"/>
                  </a:lnTo>
                  <a:lnTo>
                    <a:pt x="181" y="268"/>
                  </a:lnTo>
                  <a:lnTo>
                    <a:pt x="143" y="230"/>
                  </a:lnTo>
                  <a:lnTo>
                    <a:pt x="108" y="188"/>
                  </a:lnTo>
                  <a:lnTo>
                    <a:pt x="75" y="145"/>
                  </a:lnTo>
                  <a:lnTo>
                    <a:pt x="46" y="99"/>
                  </a:lnTo>
                  <a:lnTo>
                    <a:pt x="21" y="50"/>
                  </a:lnTo>
                  <a:lnTo>
                    <a:pt x="0" y="0"/>
                  </a:lnTo>
                  <a:close/>
                </a:path>
              </a:pathLst>
            </a:custGeom>
            <a:solidFill>
              <a:srgbClr val="D200D2">
                <a:alpha val="70195"/>
              </a:srgbClr>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12" name="Freeform 14">
              <a:extLst>
                <a:ext uri="{FF2B5EF4-FFF2-40B4-BE49-F238E27FC236}">
                  <a16:creationId xmlns:a16="http://schemas.microsoft.com/office/drawing/2014/main" id="{CAEF9FC1-B0EF-4505-9DC0-EBB641A7BCF2}"/>
                </a:ext>
              </a:extLst>
            </p:cNvPr>
            <p:cNvSpPr>
              <a:spLocks noChangeArrowheads="1"/>
            </p:cNvSpPr>
            <p:nvPr/>
          </p:nvSpPr>
          <p:spPr bwMode="auto">
            <a:xfrm>
              <a:off x="1414" y="2865"/>
              <a:ext cx="871" cy="837"/>
            </a:xfrm>
            <a:custGeom>
              <a:avLst/>
              <a:gdLst>
                <a:gd name="T0" fmla="*/ 871 w 872"/>
                <a:gd name="T1" fmla="*/ 837 h 838"/>
                <a:gd name="T2" fmla="*/ 779 w 872"/>
                <a:gd name="T3" fmla="*/ 827 h 838"/>
                <a:gd name="T4" fmla="*/ 734 w 872"/>
                <a:gd name="T5" fmla="*/ 817 h 838"/>
                <a:gd name="T6" fmla="*/ 687 w 872"/>
                <a:gd name="T7" fmla="*/ 804 h 838"/>
                <a:gd name="T8" fmla="*/ 642 w 872"/>
                <a:gd name="T9" fmla="*/ 784 h 838"/>
                <a:gd name="T10" fmla="*/ 596 w 872"/>
                <a:gd name="T11" fmla="*/ 758 h 838"/>
                <a:gd name="T12" fmla="*/ 550 w 872"/>
                <a:gd name="T13" fmla="*/ 723 h 838"/>
                <a:gd name="T14" fmla="*/ 459 w 872"/>
                <a:gd name="T15" fmla="*/ 626 h 838"/>
                <a:gd name="T16" fmla="*/ 368 w 872"/>
                <a:gd name="T17" fmla="*/ 490 h 838"/>
                <a:gd name="T18" fmla="*/ 276 w 872"/>
                <a:gd name="T19" fmla="*/ 326 h 838"/>
                <a:gd name="T20" fmla="*/ 231 w 872"/>
                <a:gd name="T21" fmla="*/ 243 h 838"/>
                <a:gd name="T22" fmla="*/ 184 w 872"/>
                <a:gd name="T23" fmla="*/ 165 h 838"/>
                <a:gd name="T24" fmla="*/ 139 w 872"/>
                <a:gd name="T25" fmla="*/ 98 h 838"/>
                <a:gd name="T26" fmla="*/ 92 w 872"/>
                <a:gd name="T27" fmla="*/ 44 h 838"/>
                <a:gd name="T28" fmla="*/ 47 w 872"/>
                <a:gd name="T29" fmla="*/ 11 h 838"/>
                <a:gd name="T30" fmla="*/ 0 w 872"/>
                <a:gd name="T31" fmla="*/ 0 h 8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2"/>
                <a:gd name="T49" fmla="*/ 0 h 838"/>
                <a:gd name="T50" fmla="*/ 872 w 872"/>
                <a:gd name="T51" fmla="*/ 838 h 8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2" h="838">
                  <a:moveTo>
                    <a:pt x="872" y="838"/>
                  </a:moveTo>
                  <a:lnTo>
                    <a:pt x="780" y="828"/>
                  </a:lnTo>
                  <a:lnTo>
                    <a:pt x="735" y="818"/>
                  </a:lnTo>
                  <a:lnTo>
                    <a:pt x="688" y="805"/>
                  </a:lnTo>
                  <a:lnTo>
                    <a:pt x="643" y="785"/>
                  </a:lnTo>
                  <a:lnTo>
                    <a:pt x="597" y="759"/>
                  </a:lnTo>
                  <a:lnTo>
                    <a:pt x="551" y="724"/>
                  </a:lnTo>
                  <a:lnTo>
                    <a:pt x="460" y="627"/>
                  </a:lnTo>
                  <a:lnTo>
                    <a:pt x="368" y="491"/>
                  </a:lnTo>
                  <a:lnTo>
                    <a:pt x="276" y="326"/>
                  </a:lnTo>
                  <a:lnTo>
                    <a:pt x="231" y="243"/>
                  </a:lnTo>
                  <a:lnTo>
                    <a:pt x="184" y="165"/>
                  </a:lnTo>
                  <a:lnTo>
                    <a:pt x="139" y="98"/>
                  </a:lnTo>
                  <a:lnTo>
                    <a:pt x="92" y="44"/>
                  </a:lnTo>
                  <a:lnTo>
                    <a:pt x="47" y="11"/>
                  </a:lnTo>
                  <a:lnTo>
                    <a:pt x="0" y="0"/>
                  </a:lnTo>
                </a:path>
              </a:pathLst>
            </a:custGeom>
            <a:noFill/>
            <a:ln w="31680">
              <a:solidFill>
                <a:srgbClr val="9900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13" name="Freeform 15">
              <a:extLst>
                <a:ext uri="{FF2B5EF4-FFF2-40B4-BE49-F238E27FC236}">
                  <a16:creationId xmlns:a16="http://schemas.microsoft.com/office/drawing/2014/main" id="{2F46692A-25F8-469C-AB49-991EC2ED130A}"/>
                </a:ext>
              </a:extLst>
            </p:cNvPr>
            <p:cNvSpPr>
              <a:spLocks noChangeArrowheads="1"/>
            </p:cNvSpPr>
            <p:nvPr/>
          </p:nvSpPr>
          <p:spPr bwMode="auto">
            <a:xfrm>
              <a:off x="543" y="2865"/>
              <a:ext cx="870" cy="837"/>
            </a:xfrm>
            <a:custGeom>
              <a:avLst/>
              <a:gdLst>
                <a:gd name="T0" fmla="*/ 0 w 871"/>
                <a:gd name="T1" fmla="*/ 837 h 838"/>
                <a:gd name="T2" fmla="*/ 92 w 871"/>
                <a:gd name="T3" fmla="*/ 827 h 838"/>
                <a:gd name="T4" fmla="*/ 138 w 871"/>
                <a:gd name="T5" fmla="*/ 817 h 838"/>
                <a:gd name="T6" fmla="*/ 183 w 871"/>
                <a:gd name="T7" fmla="*/ 804 h 838"/>
                <a:gd name="T8" fmla="*/ 229 w 871"/>
                <a:gd name="T9" fmla="*/ 784 h 838"/>
                <a:gd name="T10" fmla="*/ 275 w 871"/>
                <a:gd name="T11" fmla="*/ 758 h 838"/>
                <a:gd name="T12" fmla="*/ 321 w 871"/>
                <a:gd name="T13" fmla="*/ 723 h 838"/>
                <a:gd name="T14" fmla="*/ 413 w 871"/>
                <a:gd name="T15" fmla="*/ 626 h 838"/>
                <a:gd name="T16" fmla="*/ 503 w 871"/>
                <a:gd name="T17" fmla="*/ 490 h 838"/>
                <a:gd name="T18" fmla="*/ 595 w 871"/>
                <a:gd name="T19" fmla="*/ 326 h 838"/>
                <a:gd name="T20" fmla="*/ 641 w 871"/>
                <a:gd name="T21" fmla="*/ 243 h 838"/>
                <a:gd name="T22" fmla="*/ 687 w 871"/>
                <a:gd name="T23" fmla="*/ 165 h 838"/>
                <a:gd name="T24" fmla="*/ 733 w 871"/>
                <a:gd name="T25" fmla="*/ 98 h 838"/>
                <a:gd name="T26" fmla="*/ 779 w 871"/>
                <a:gd name="T27" fmla="*/ 44 h 838"/>
                <a:gd name="T28" fmla="*/ 825 w 871"/>
                <a:gd name="T29" fmla="*/ 11 h 838"/>
                <a:gd name="T30" fmla="*/ 870 w 871"/>
                <a:gd name="T31" fmla="*/ 0 h 8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1"/>
                <a:gd name="T49" fmla="*/ 0 h 838"/>
                <a:gd name="T50" fmla="*/ 871 w 871"/>
                <a:gd name="T51" fmla="*/ 838 h 8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1" h="838">
                  <a:moveTo>
                    <a:pt x="0" y="838"/>
                  </a:moveTo>
                  <a:lnTo>
                    <a:pt x="92" y="828"/>
                  </a:lnTo>
                  <a:lnTo>
                    <a:pt x="138" y="818"/>
                  </a:lnTo>
                  <a:lnTo>
                    <a:pt x="183" y="805"/>
                  </a:lnTo>
                  <a:lnTo>
                    <a:pt x="229" y="785"/>
                  </a:lnTo>
                  <a:lnTo>
                    <a:pt x="275" y="759"/>
                  </a:lnTo>
                  <a:lnTo>
                    <a:pt x="321" y="724"/>
                  </a:lnTo>
                  <a:lnTo>
                    <a:pt x="413" y="627"/>
                  </a:lnTo>
                  <a:lnTo>
                    <a:pt x="504" y="491"/>
                  </a:lnTo>
                  <a:lnTo>
                    <a:pt x="596" y="326"/>
                  </a:lnTo>
                  <a:lnTo>
                    <a:pt x="642" y="243"/>
                  </a:lnTo>
                  <a:lnTo>
                    <a:pt x="688" y="165"/>
                  </a:lnTo>
                  <a:lnTo>
                    <a:pt x="734" y="98"/>
                  </a:lnTo>
                  <a:lnTo>
                    <a:pt x="780" y="44"/>
                  </a:lnTo>
                  <a:lnTo>
                    <a:pt x="826" y="11"/>
                  </a:lnTo>
                  <a:lnTo>
                    <a:pt x="871" y="0"/>
                  </a:lnTo>
                </a:path>
              </a:pathLst>
            </a:custGeom>
            <a:noFill/>
            <a:ln w="31680">
              <a:solidFill>
                <a:srgbClr val="9900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14" name="Freeform 16">
              <a:extLst>
                <a:ext uri="{FF2B5EF4-FFF2-40B4-BE49-F238E27FC236}">
                  <a16:creationId xmlns:a16="http://schemas.microsoft.com/office/drawing/2014/main" id="{4258A11C-D2D9-47BC-BFFD-5439B8D36416}"/>
                </a:ext>
              </a:extLst>
            </p:cNvPr>
            <p:cNvSpPr>
              <a:spLocks noChangeArrowheads="1"/>
            </p:cNvSpPr>
            <p:nvPr/>
          </p:nvSpPr>
          <p:spPr bwMode="auto">
            <a:xfrm>
              <a:off x="543" y="3011"/>
              <a:ext cx="1775" cy="688"/>
            </a:xfrm>
            <a:custGeom>
              <a:avLst/>
              <a:gdLst>
                <a:gd name="T0" fmla="*/ 0 w 1776"/>
                <a:gd name="T1" fmla="*/ 0 h 689"/>
                <a:gd name="T2" fmla="*/ 0 w 1776"/>
                <a:gd name="T3" fmla="*/ 688 h 689"/>
                <a:gd name="T4" fmla="*/ 1775 w 1776"/>
                <a:gd name="T5" fmla="*/ 688 h 689"/>
                <a:gd name="T6" fmla="*/ 0 60000 65536"/>
                <a:gd name="T7" fmla="*/ 0 60000 65536"/>
                <a:gd name="T8" fmla="*/ 0 60000 65536"/>
                <a:gd name="T9" fmla="*/ 0 w 1776"/>
                <a:gd name="T10" fmla="*/ 0 h 689"/>
                <a:gd name="T11" fmla="*/ 1776 w 1776"/>
                <a:gd name="T12" fmla="*/ 689 h 689"/>
              </a:gdLst>
              <a:ahLst/>
              <a:cxnLst>
                <a:cxn ang="T6">
                  <a:pos x="T0" y="T1"/>
                </a:cxn>
                <a:cxn ang="T7">
                  <a:pos x="T2" y="T3"/>
                </a:cxn>
                <a:cxn ang="T8">
                  <a:pos x="T4" y="T5"/>
                </a:cxn>
              </a:cxnLst>
              <a:rect l="T9" t="T10" r="T11" b="T12"/>
              <a:pathLst>
                <a:path w="1776" h="689">
                  <a:moveTo>
                    <a:pt x="0" y="0"/>
                  </a:moveTo>
                  <a:lnTo>
                    <a:pt x="0" y="689"/>
                  </a:lnTo>
                  <a:lnTo>
                    <a:pt x="1776" y="689"/>
                  </a:lnTo>
                </a:path>
              </a:pathLst>
            </a:custGeom>
            <a:noFill/>
            <a:ln w="2376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15" name="Line 17">
              <a:extLst>
                <a:ext uri="{FF2B5EF4-FFF2-40B4-BE49-F238E27FC236}">
                  <a16:creationId xmlns:a16="http://schemas.microsoft.com/office/drawing/2014/main" id="{A515F2D8-A2C6-4FC7-94A4-582F1C659336}"/>
                </a:ext>
              </a:extLst>
            </p:cNvPr>
            <p:cNvSpPr>
              <a:spLocks noChangeShapeType="1"/>
            </p:cNvSpPr>
            <p:nvPr/>
          </p:nvSpPr>
          <p:spPr bwMode="auto">
            <a:xfrm>
              <a:off x="521" y="3011"/>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16" name="Line 18">
              <a:extLst>
                <a:ext uri="{FF2B5EF4-FFF2-40B4-BE49-F238E27FC236}">
                  <a16:creationId xmlns:a16="http://schemas.microsoft.com/office/drawing/2014/main" id="{6EDF5BA9-90A5-4A1E-9406-380ED513A3D9}"/>
                </a:ext>
              </a:extLst>
            </p:cNvPr>
            <p:cNvSpPr>
              <a:spLocks noChangeShapeType="1"/>
            </p:cNvSpPr>
            <p:nvPr/>
          </p:nvSpPr>
          <p:spPr bwMode="auto">
            <a:xfrm>
              <a:off x="521" y="3080"/>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17" name="Line 19">
              <a:extLst>
                <a:ext uri="{FF2B5EF4-FFF2-40B4-BE49-F238E27FC236}">
                  <a16:creationId xmlns:a16="http://schemas.microsoft.com/office/drawing/2014/main" id="{731132DE-D39D-426D-B06A-7FB58D9195F3}"/>
                </a:ext>
              </a:extLst>
            </p:cNvPr>
            <p:cNvSpPr>
              <a:spLocks noChangeShapeType="1"/>
            </p:cNvSpPr>
            <p:nvPr/>
          </p:nvSpPr>
          <p:spPr bwMode="auto">
            <a:xfrm>
              <a:off x="521" y="3150"/>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18" name="Line 20">
              <a:extLst>
                <a:ext uri="{FF2B5EF4-FFF2-40B4-BE49-F238E27FC236}">
                  <a16:creationId xmlns:a16="http://schemas.microsoft.com/office/drawing/2014/main" id="{82A73CD3-4D51-4857-B2E7-8CAA5C82599E}"/>
                </a:ext>
              </a:extLst>
            </p:cNvPr>
            <p:cNvSpPr>
              <a:spLocks noChangeShapeType="1"/>
            </p:cNvSpPr>
            <p:nvPr/>
          </p:nvSpPr>
          <p:spPr bwMode="auto">
            <a:xfrm>
              <a:off x="521" y="3218"/>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19" name="Line 21">
              <a:extLst>
                <a:ext uri="{FF2B5EF4-FFF2-40B4-BE49-F238E27FC236}">
                  <a16:creationId xmlns:a16="http://schemas.microsoft.com/office/drawing/2014/main" id="{3A114B08-34DF-4AC8-8FF4-AFFF64C8A53A}"/>
                </a:ext>
              </a:extLst>
            </p:cNvPr>
            <p:cNvSpPr>
              <a:spLocks noChangeShapeType="1"/>
            </p:cNvSpPr>
            <p:nvPr/>
          </p:nvSpPr>
          <p:spPr bwMode="auto">
            <a:xfrm>
              <a:off x="521" y="3287"/>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0" name="Line 22">
              <a:extLst>
                <a:ext uri="{FF2B5EF4-FFF2-40B4-BE49-F238E27FC236}">
                  <a16:creationId xmlns:a16="http://schemas.microsoft.com/office/drawing/2014/main" id="{CA21A0D9-2ADA-487D-BE67-18CE4CDAB83C}"/>
                </a:ext>
              </a:extLst>
            </p:cNvPr>
            <p:cNvSpPr>
              <a:spLocks noChangeShapeType="1"/>
            </p:cNvSpPr>
            <p:nvPr/>
          </p:nvSpPr>
          <p:spPr bwMode="auto">
            <a:xfrm>
              <a:off x="521" y="3355"/>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1" name="Line 23">
              <a:extLst>
                <a:ext uri="{FF2B5EF4-FFF2-40B4-BE49-F238E27FC236}">
                  <a16:creationId xmlns:a16="http://schemas.microsoft.com/office/drawing/2014/main" id="{E22105F5-D537-4DE1-ABB2-71261D178FB2}"/>
                </a:ext>
              </a:extLst>
            </p:cNvPr>
            <p:cNvSpPr>
              <a:spLocks noChangeShapeType="1"/>
            </p:cNvSpPr>
            <p:nvPr/>
          </p:nvSpPr>
          <p:spPr bwMode="auto">
            <a:xfrm>
              <a:off x="521" y="3425"/>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dirty="0"/>
            </a:p>
          </p:txBody>
        </p:sp>
        <p:sp>
          <p:nvSpPr>
            <p:cNvPr id="22" name="Line 24">
              <a:extLst>
                <a:ext uri="{FF2B5EF4-FFF2-40B4-BE49-F238E27FC236}">
                  <a16:creationId xmlns:a16="http://schemas.microsoft.com/office/drawing/2014/main" id="{54816D8E-7A9B-4DEC-B3CA-B7EB71A5E514}"/>
                </a:ext>
              </a:extLst>
            </p:cNvPr>
            <p:cNvSpPr>
              <a:spLocks noChangeShapeType="1"/>
            </p:cNvSpPr>
            <p:nvPr/>
          </p:nvSpPr>
          <p:spPr bwMode="auto">
            <a:xfrm>
              <a:off x="521" y="3493"/>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3" name="Line 25">
              <a:extLst>
                <a:ext uri="{FF2B5EF4-FFF2-40B4-BE49-F238E27FC236}">
                  <a16:creationId xmlns:a16="http://schemas.microsoft.com/office/drawing/2014/main" id="{5065FBCF-2601-4C15-9040-1A7FA1AE982C}"/>
                </a:ext>
              </a:extLst>
            </p:cNvPr>
            <p:cNvSpPr>
              <a:spLocks noChangeShapeType="1"/>
            </p:cNvSpPr>
            <p:nvPr/>
          </p:nvSpPr>
          <p:spPr bwMode="auto">
            <a:xfrm>
              <a:off x="521" y="3562"/>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4" name="Line 26">
              <a:extLst>
                <a:ext uri="{FF2B5EF4-FFF2-40B4-BE49-F238E27FC236}">
                  <a16:creationId xmlns:a16="http://schemas.microsoft.com/office/drawing/2014/main" id="{DBD4DFC8-28F6-4148-9FC3-24BE4DA7BA40}"/>
                </a:ext>
              </a:extLst>
            </p:cNvPr>
            <p:cNvSpPr>
              <a:spLocks noChangeShapeType="1"/>
            </p:cNvSpPr>
            <p:nvPr/>
          </p:nvSpPr>
          <p:spPr bwMode="auto">
            <a:xfrm>
              <a:off x="521" y="3631"/>
              <a:ext cx="21" cy="0"/>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5" name="Line 27">
              <a:extLst>
                <a:ext uri="{FF2B5EF4-FFF2-40B4-BE49-F238E27FC236}">
                  <a16:creationId xmlns:a16="http://schemas.microsoft.com/office/drawing/2014/main" id="{84DC7464-187D-4D87-A88C-60FFCF3F2848}"/>
                </a:ext>
              </a:extLst>
            </p:cNvPr>
            <p:cNvSpPr>
              <a:spLocks noChangeShapeType="1"/>
            </p:cNvSpPr>
            <p:nvPr/>
          </p:nvSpPr>
          <p:spPr bwMode="auto">
            <a:xfrm>
              <a:off x="2319"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6" name="Line 28">
              <a:extLst>
                <a:ext uri="{FF2B5EF4-FFF2-40B4-BE49-F238E27FC236}">
                  <a16:creationId xmlns:a16="http://schemas.microsoft.com/office/drawing/2014/main" id="{74FBC5B6-D890-4EC8-A913-411C86A90855}"/>
                </a:ext>
              </a:extLst>
            </p:cNvPr>
            <p:cNvSpPr>
              <a:spLocks noChangeShapeType="1"/>
            </p:cNvSpPr>
            <p:nvPr/>
          </p:nvSpPr>
          <p:spPr bwMode="auto">
            <a:xfrm>
              <a:off x="2142"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7" name="Line 29">
              <a:extLst>
                <a:ext uri="{FF2B5EF4-FFF2-40B4-BE49-F238E27FC236}">
                  <a16:creationId xmlns:a16="http://schemas.microsoft.com/office/drawing/2014/main" id="{88F5FF15-BCB5-4F58-8432-739F523FAB01}"/>
                </a:ext>
              </a:extLst>
            </p:cNvPr>
            <p:cNvSpPr>
              <a:spLocks noChangeShapeType="1"/>
            </p:cNvSpPr>
            <p:nvPr/>
          </p:nvSpPr>
          <p:spPr bwMode="auto">
            <a:xfrm>
              <a:off x="1964"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8" name="Line 30">
              <a:extLst>
                <a:ext uri="{FF2B5EF4-FFF2-40B4-BE49-F238E27FC236}">
                  <a16:creationId xmlns:a16="http://schemas.microsoft.com/office/drawing/2014/main" id="{D83AE57D-6658-461E-A19C-41438F95E7A2}"/>
                </a:ext>
              </a:extLst>
            </p:cNvPr>
            <p:cNvSpPr>
              <a:spLocks noChangeShapeType="1"/>
            </p:cNvSpPr>
            <p:nvPr/>
          </p:nvSpPr>
          <p:spPr bwMode="auto">
            <a:xfrm>
              <a:off x="1786"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29" name="Line 31">
              <a:extLst>
                <a:ext uri="{FF2B5EF4-FFF2-40B4-BE49-F238E27FC236}">
                  <a16:creationId xmlns:a16="http://schemas.microsoft.com/office/drawing/2014/main" id="{AFCBBF84-2B72-4D30-B8EE-C826B482E913}"/>
                </a:ext>
              </a:extLst>
            </p:cNvPr>
            <p:cNvSpPr>
              <a:spLocks noChangeShapeType="1"/>
            </p:cNvSpPr>
            <p:nvPr/>
          </p:nvSpPr>
          <p:spPr bwMode="auto">
            <a:xfrm>
              <a:off x="1609"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0" name="Line 32">
              <a:extLst>
                <a:ext uri="{FF2B5EF4-FFF2-40B4-BE49-F238E27FC236}">
                  <a16:creationId xmlns:a16="http://schemas.microsoft.com/office/drawing/2014/main" id="{4F5C9BFE-7DFB-43D6-BA89-CF3C9F050D75}"/>
                </a:ext>
              </a:extLst>
            </p:cNvPr>
            <p:cNvSpPr>
              <a:spLocks noChangeShapeType="1"/>
            </p:cNvSpPr>
            <p:nvPr/>
          </p:nvSpPr>
          <p:spPr bwMode="auto">
            <a:xfrm>
              <a:off x="1431"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1" name="Line 33">
              <a:extLst>
                <a:ext uri="{FF2B5EF4-FFF2-40B4-BE49-F238E27FC236}">
                  <a16:creationId xmlns:a16="http://schemas.microsoft.com/office/drawing/2014/main" id="{ED89CAE1-DA67-4F8C-844D-CC35889C93F7}"/>
                </a:ext>
              </a:extLst>
            </p:cNvPr>
            <p:cNvSpPr>
              <a:spLocks noChangeShapeType="1"/>
            </p:cNvSpPr>
            <p:nvPr/>
          </p:nvSpPr>
          <p:spPr bwMode="auto">
            <a:xfrm>
              <a:off x="1253"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2" name="Line 34">
              <a:extLst>
                <a:ext uri="{FF2B5EF4-FFF2-40B4-BE49-F238E27FC236}">
                  <a16:creationId xmlns:a16="http://schemas.microsoft.com/office/drawing/2014/main" id="{CE47CBAB-EF4C-4456-BF62-2B26ECF4F92E}"/>
                </a:ext>
              </a:extLst>
            </p:cNvPr>
            <p:cNvSpPr>
              <a:spLocks noChangeShapeType="1"/>
            </p:cNvSpPr>
            <p:nvPr/>
          </p:nvSpPr>
          <p:spPr bwMode="auto">
            <a:xfrm>
              <a:off x="1076"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3" name="Line 35">
              <a:extLst>
                <a:ext uri="{FF2B5EF4-FFF2-40B4-BE49-F238E27FC236}">
                  <a16:creationId xmlns:a16="http://schemas.microsoft.com/office/drawing/2014/main" id="{58C7971E-0A53-4507-B654-679AC42AA367}"/>
                </a:ext>
              </a:extLst>
            </p:cNvPr>
            <p:cNvSpPr>
              <a:spLocks noChangeShapeType="1"/>
            </p:cNvSpPr>
            <p:nvPr/>
          </p:nvSpPr>
          <p:spPr bwMode="auto">
            <a:xfrm>
              <a:off x="898"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4" name="Line 36">
              <a:extLst>
                <a:ext uri="{FF2B5EF4-FFF2-40B4-BE49-F238E27FC236}">
                  <a16:creationId xmlns:a16="http://schemas.microsoft.com/office/drawing/2014/main" id="{18765807-6237-4E46-BF21-458BDCDF1F75}"/>
                </a:ext>
              </a:extLst>
            </p:cNvPr>
            <p:cNvSpPr>
              <a:spLocks noChangeShapeType="1"/>
            </p:cNvSpPr>
            <p:nvPr/>
          </p:nvSpPr>
          <p:spPr bwMode="auto">
            <a:xfrm>
              <a:off x="721" y="3700"/>
              <a:ext cx="0" cy="7"/>
            </a:xfrm>
            <a:prstGeom prst="line">
              <a:avLst/>
            </a:prstGeom>
            <a:noFill/>
            <a:ln w="2376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35" name="Rectangle 37">
              <a:extLst>
                <a:ext uri="{FF2B5EF4-FFF2-40B4-BE49-F238E27FC236}">
                  <a16:creationId xmlns:a16="http://schemas.microsoft.com/office/drawing/2014/main" id="{6B479F6C-C187-4EF8-A34A-E71877F66DBB}"/>
                </a:ext>
              </a:extLst>
            </p:cNvPr>
            <p:cNvSpPr>
              <a:spLocks noChangeArrowheads="1"/>
            </p:cNvSpPr>
            <p:nvPr/>
          </p:nvSpPr>
          <p:spPr bwMode="auto">
            <a:xfrm>
              <a:off x="2177" y="3701"/>
              <a:ext cx="142"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900">
                  <a:solidFill>
                    <a:srgbClr val="000000"/>
                  </a:solidFill>
                  <a:latin typeface="Times New Roman" panose="02020603050405020304" pitchFamily="18" charset="0"/>
                </a:rPr>
                <a:t>Z</a:t>
              </a:r>
            </a:p>
          </p:txBody>
        </p:sp>
        <p:sp>
          <p:nvSpPr>
            <p:cNvPr id="36" name="Rectangle 38">
              <a:extLst>
                <a:ext uri="{FF2B5EF4-FFF2-40B4-BE49-F238E27FC236}">
                  <a16:creationId xmlns:a16="http://schemas.microsoft.com/office/drawing/2014/main" id="{6F27CE5E-0960-4165-8EDC-597134F0AAAA}"/>
                </a:ext>
              </a:extLst>
            </p:cNvPr>
            <p:cNvSpPr>
              <a:spLocks noChangeArrowheads="1"/>
            </p:cNvSpPr>
            <p:nvPr/>
          </p:nvSpPr>
          <p:spPr bwMode="auto">
            <a:xfrm>
              <a:off x="1355" y="3698"/>
              <a:ext cx="116"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900">
                  <a:solidFill>
                    <a:srgbClr val="000000"/>
                  </a:solidFill>
                  <a:latin typeface="Times New Roman" panose="02020603050405020304" pitchFamily="18" charset="0"/>
                </a:rPr>
                <a:t>0</a:t>
              </a:r>
            </a:p>
          </p:txBody>
        </p:sp>
        <p:sp>
          <p:nvSpPr>
            <p:cNvPr id="37" name="Rectangle 39">
              <a:extLst>
                <a:ext uri="{FF2B5EF4-FFF2-40B4-BE49-F238E27FC236}">
                  <a16:creationId xmlns:a16="http://schemas.microsoft.com/office/drawing/2014/main" id="{D2B2C6F5-044F-401D-9D04-09E878FFD8BC}"/>
                </a:ext>
              </a:extLst>
            </p:cNvPr>
            <p:cNvSpPr>
              <a:spLocks noChangeArrowheads="1"/>
            </p:cNvSpPr>
            <p:nvPr/>
          </p:nvSpPr>
          <p:spPr bwMode="auto">
            <a:xfrm>
              <a:off x="1594" y="3698"/>
              <a:ext cx="407"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900">
                  <a:solidFill>
                    <a:srgbClr val="000000"/>
                  </a:solidFill>
                  <a:latin typeface="Times New Roman" panose="02020603050405020304" pitchFamily="18" charset="0"/>
                </a:rPr>
                <a:t>1.96</a:t>
              </a:r>
            </a:p>
          </p:txBody>
        </p:sp>
        <p:sp>
          <p:nvSpPr>
            <p:cNvPr id="38" name="Rectangle 40">
              <a:extLst>
                <a:ext uri="{FF2B5EF4-FFF2-40B4-BE49-F238E27FC236}">
                  <a16:creationId xmlns:a16="http://schemas.microsoft.com/office/drawing/2014/main" id="{1774B790-ACA3-40FA-9049-C0AC77177FEE}"/>
                </a:ext>
              </a:extLst>
            </p:cNvPr>
            <p:cNvSpPr>
              <a:spLocks noChangeArrowheads="1"/>
            </p:cNvSpPr>
            <p:nvPr/>
          </p:nvSpPr>
          <p:spPr bwMode="auto">
            <a:xfrm>
              <a:off x="693" y="3698"/>
              <a:ext cx="484"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900">
                  <a:solidFill>
                    <a:srgbClr val="000000"/>
                  </a:solidFill>
                  <a:latin typeface="Times New Roman" panose="02020603050405020304" pitchFamily="18" charset="0"/>
                </a:rPr>
                <a:t>-1.96</a:t>
              </a:r>
            </a:p>
          </p:txBody>
        </p:sp>
        <p:sp>
          <p:nvSpPr>
            <p:cNvPr id="44" name="Rectangle 46">
              <a:extLst>
                <a:ext uri="{FF2B5EF4-FFF2-40B4-BE49-F238E27FC236}">
                  <a16:creationId xmlns:a16="http://schemas.microsoft.com/office/drawing/2014/main" id="{D5211234-E2EF-4B57-8FDE-E2FE097657AB}"/>
                </a:ext>
              </a:extLst>
            </p:cNvPr>
            <p:cNvSpPr>
              <a:spLocks noChangeArrowheads="1"/>
            </p:cNvSpPr>
            <p:nvPr/>
          </p:nvSpPr>
          <p:spPr bwMode="auto">
            <a:xfrm>
              <a:off x="466" y="2820"/>
              <a:ext cx="619"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200">
                  <a:solidFill>
                    <a:srgbClr val="000000"/>
                  </a:solidFill>
                  <a:latin typeface="Times New Roman" panose="02020603050405020304" pitchFamily="18" charset="0"/>
                </a:rPr>
                <a:t>Reject H</a:t>
              </a:r>
            </a:p>
          </p:txBody>
        </p:sp>
        <p:sp>
          <p:nvSpPr>
            <p:cNvPr id="45" name="Rectangle 47">
              <a:extLst>
                <a:ext uri="{FF2B5EF4-FFF2-40B4-BE49-F238E27FC236}">
                  <a16:creationId xmlns:a16="http://schemas.microsoft.com/office/drawing/2014/main" id="{164051AA-9E62-4DBE-BCD9-D4A4EB239361}"/>
                </a:ext>
              </a:extLst>
            </p:cNvPr>
            <p:cNvSpPr>
              <a:spLocks noChangeArrowheads="1"/>
            </p:cNvSpPr>
            <p:nvPr/>
          </p:nvSpPr>
          <p:spPr bwMode="auto">
            <a:xfrm>
              <a:off x="983" y="2915"/>
              <a:ext cx="130"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1500">
                  <a:solidFill>
                    <a:srgbClr val="000000"/>
                  </a:solidFill>
                  <a:latin typeface="Times New Roman" panose="02020603050405020304" pitchFamily="18" charset="0"/>
                </a:rPr>
                <a:t>0</a:t>
              </a:r>
            </a:p>
          </p:txBody>
        </p:sp>
        <p:sp>
          <p:nvSpPr>
            <p:cNvPr id="46" name="Rectangle 48">
              <a:extLst>
                <a:ext uri="{FF2B5EF4-FFF2-40B4-BE49-F238E27FC236}">
                  <a16:creationId xmlns:a16="http://schemas.microsoft.com/office/drawing/2014/main" id="{0FAFFAA8-C139-408C-8443-A801ABD89470}"/>
                </a:ext>
              </a:extLst>
            </p:cNvPr>
            <p:cNvSpPr>
              <a:spLocks noChangeArrowheads="1"/>
            </p:cNvSpPr>
            <p:nvPr/>
          </p:nvSpPr>
          <p:spPr bwMode="auto">
            <a:xfrm>
              <a:off x="1677" y="2820"/>
              <a:ext cx="619"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2200">
                  <a:solidFill>
                    <a:srgbClr val="000000"/>
                  </a:solidFill>
                  <a:latin typeface="Times New Roman" panose="02020603050405020304" pitchFamily="18" charset="0"/>
                </a:rPr>
                <a:t>Reject H</a:t>
              </a:r>
            </a:p>
          </p:txBody>
        </p:sp>
        <p:sp>
          <p:nvSpPr>
            <p:cNvPr id="47" name="Rectangle 49">
              <a:extLst>
                <a:ext uri="{FF2B5EF4-FFF2-40B4-BE49-F238E27FC236}">
                  <a16:creationId xmlns:a16="http://schemas.microsoft.com/office/drawing/2014/main" id="{614A1DE6-831A-4BD9-AB5A-B767897BECDB}"/>
                </a:ext>
              </a:extLst>
            </p:cNvPr>
            <p:cNvSpPr>
              <a:spLocks noChangeArrowheads="1"/>
            </p:cNvSpPr>
            <p:nvPr/>
          </p:nvSpPr>
          <p:spPr bwMode="auto">
            <a:xfrm>
              <a:off x="2189" y="2891"/>
              <a:ext cx="53"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1pPr>
              <a:lvl2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2pPr>
              <a:lvl3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3pPr>
              <a:lvl4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4pPr>
              <a:lvl5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Verdana" panose="020B0604030504040204" pitchFamily="34" charset="0"/>
                  <a:ea typeface="新細明體" panose="02020500000000000000" pitchFamily="18" charset="-120"/>
                </a:defRPr>
              </a:lvl9pPr>
            </a:lstStyle>
            <a:p>
              <a:pPr eaLnBrk="1" hangingPunct="1">
                <a:buClrTx/>
                <a:buFontTx/>
                <a:buNone/>
              </a:pPr>
              <a:r>
                <a:rPr lang="en-US" altLang="zh-TW" sz="1500" dirty="0">
                  <a:solidFill>
                    <a:srgbClr val="000000"/>
                  </a:solidFill>
                  <a:latin typeface="Times New Roman" panose="02020603050405020304" pitchFamily="18" charset="0"/>
                </a:rPr>
                <a:t>0</a:t>
              </a:r>
            </a:p>
          </p:txBody>
        </p:sp>
        <p:sp>
          <p:nvSpPr>
            <p:cNvPr id="48" name="Line 50">
              <a:extLst>
                <a:ext uri="{FF2B5EF4-FFF2-40B4-BE49-F238E27FC236}">
                  <a16:creationId xmlns:a16="http://schemas.microsoft.com/office/drawing/2014/main" id="{D3ABB975-8A23-463D-8A12-CE57B8A52B14}"/>
                </a:ext>
              </a:extLst>
            </p:cNvPr>
            <p:cNvSpPr>
              <a:spLocks noChangeShapeType="1"/>
            </p:cNvSpPr>
            <p:nvPr/>
          </p:nvSpPr>
          <p:spPr bwMode="auto">
            <a:xfrm>
              <a:off x="818" y="3056"/>
              <a:ext cx="289" cy="0"/>
            </a:xfrm>
            <a:prstGeom prst="line">
              <a:avLst/>
            </a:prstGeom>
            <a:noFill/>
            <a:ln w="1584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49" name="Freeform 51">
              <a:extLst>
                <a:ext uri="{FF2B5EF4-FFF2-40B4-BE49-F238E27FC236}">
                  <a16:creationId xmlns:a16="http://schemas.microsoft.com/office/drawing/2014/main" id="{5237CBCC-09C7-4187-AE0F-6C56B3135CD1}"/>
                </a:ext>
              </a:extLst>
            </p:cNvPr>
            <p:cNvSpPr>
              <a:spLocks noChangeArrowheads="1"/>
            </p:cNvSpPr>
            <p:nvPr/>
          </p:nvSpPr>
          <p:spPr bwMode="auto">
            <a:xfrm>
              <a:off x="759" y="3025"/>
              <a:ext cx="58" cy="59"/>
            </a:xfrm>
            <a:custGeom>
              <a:avLst/>
              <a:gdLst>
                <a:gd name="T0" fmla="*/ 58 w 59"/>
                <a:gd name="T1" fmla="*/ 0 h 60"/>
                <a:gd name="T2" fmla="*/ 0 w 59"/>
                <a:gd name="T3" fmla="*/ 30 h 60"/>
                <a:gd name="T4" fmla="*/ 58 w 59"/>
                <a:gd name="T5" fmla="*/ 59 h 60"/>
                <a:gd name="T6" fmla="*/ 58 w 59"/>
                <a:gd name="T7" fmla="*/ 0 h 60"/>
                <a:gd name="T8" fmla="*/ 0 60000 65536"/>
                <a:gd name="T9" fmla="*/ 0 60000 65536"/>
                <a:gd name="T10" fmla="*/ 0 60000 65536"/>
                <a:gd name="T11" fmla="*/ 0 60000 65536"/>
                <a:gd name="T12" fmla="*/ 0 w 59"/>
                <a:gd name="T13" fmla="*/ 0 h 60"/>
                <a:gd name="T14" fmla="*/ 59 w 59"/>
                <a:gd name="T15" fmla="*/ 60 h 60"/>
              </a:gdLst>
              <a:ahLst/>
              <a:cxnLst>
                <a:cxn ang="T8">
                  <a:pos x="T0" y="T1"/>
                </a:cxn>
                <a:cxn ang="T9">
                  <a:pos x="T2" y="T3"/>
                </a:cxn>
                <a:cxn ang="T10">
                  <a:pos x="T4" y="T5"/>
                </a:cxn>
                <a:cxn ang="T11">
                  <a:pos x="T6" y="T7"/>
                </a:cxn>
              </a:cxnLst>
              <a:rect l="T12" t="T13" r="T14" b="T15"/>
              <a:pathLst>
                <a:path w="59" h="60">
                  <a:moveTo>
                    <a:pt x="59" y="0"/>
                  </a:moveTo>
                  <a:lnTo>
                    <a:pt x="0" y="31"/>
                  </a:lnTo>
                  <a:lnTo>
                    <a:pt x="59" y="60"/>
                  </a:lnTo>
                  <a:lnTo>
                    <a:pt x="59" y="0"/>
                  </a:lnTo>
                  <a:close/>
                </a:path>
              </a:pathLst>
            </a:custGeom>
            <a:solidFill>
              <a:srgbClr val="000000"/>
            </a:solidFill>
            <a:ln w="936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50" name="Line 52">
              <a:extLst>
                <a:ext uri="{FF2B5EF4-FFF2-40B4-BE49-F238E27FC236}">
                  <a16:creationId xmlns:a16="http://schemas.microsoft.com/office/drawing/2014/main" id="{4694777A-4A02-480F-B8CD-3DA068770799}"/>
                </a:ext>
              </a:extLst>
            </p:cNvPr>
            <p:cNvSpPr>
              <a:spLocks noChangeShapeType="1"/>
            </p:cNvSpPr>
            <p:nvPr/>
          </p:nvSpPr>
          <p:spPr bwMode="auto">
            <a:xfrm flipH="1">
              <a:off x="1746" y="3056"/>
              <a:ext cx="311" cy="0"/>
            </a:xfrm>
            <a:prstGeom prst="line">
              <a:avLst/>
            </a:prstGeom>
            <a:noFill/>
            <a:ln w="1584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51" name="Freeform 53">
              <a:extLst>
                <a:ext uri="{FF2B5EF4-FFF2-40B4-BE49-F238E27FC236}">
                  <a16:creationId xmlns:a16="http://schemas.microsoft.com/office/drawing/2014/main" id="{4E4C9119-37C7-4011-9081-EA58210325FF}"/>
                </a:ext>
              </a:extLst>
            </p:cNvPr>
            <p:cNvSpPr>
              <a:spLocks noChangeArrowheads="1"/>
            </p:cNvSpPr>
            <p:nvPr/>
          </p:nvSpPr>
          <p:spPr bwMode="auto">
            <a:xfrm>
              <a:off x="2057" y="3025"/>
              <a:ext cx="58" cy="59"/>
            </a:xfrm>
            <a:custGeom>
              <a:avLst/>
              <a:gdLst>
                <a:gd name="T0" fmla="*/ 0 w 59"/>
                <a:gd name="T1" fmla="*/ 59 h 60"/>
                <a:gd name="T2" fmla="*/ 58 w 59"/>
                <a:gd name="T3" fmla="*/ 30 h 60"/>
                <a:gd name="T4" fmla="*/ 0 w 59"/>
                <a:gd name="T5" fmla="*/ 0 h 60"/>
                <a:gd name="T6" fmla="*/ 0 w 59"/>
                <a:gd name="T7" fmla="*/ 59 h 60"/>
                <a:gd name="T8" fmla="*/ 0 60000 65536"/>
                <a:gd name="T9" fmla="*/ 0 60000 65536"/>
                <a:gd name="T10" fmla="*/ 0 60000 65536"/>
                <a:gd name="T11" fmla="*/ 0 60000 65536"/>
                <a:gd name="T12" fmla="*/ 0 w 59"/>
                <a:gd name="T13" fmla="*/ 0 h 60"/>
                <a:gd name="T14" fmla="*/ 59 w 59"/>
                <a:gd name="T15" fmla="*/ 60 h 60"/>
              </a:gdLst>
              <a:ahLst/>
              <a:cxnLst>
                <a:cxn ang="T8">
                  <a:pos x="T0" y="T1"/>
                </a:cxn>
                <a:cxn ang="T9">
                  <a:pos x="T2" y="T3"/>
                </a:cxn>
                <a:cxn ang="T10">
                  <a:pos x="T4" y="T5"/>
                </a:cxn>
                <a:cxn ang="T11">
                  <a:pos x="T6" y="T7"/>
                </a:cxn>
              </a:cxnLst>
              <a:rect l="T12" t="T13" r="T14" b="T15"/>
              <a:pathLst>
                <a:path w="59" h="60">
                  <a:moveTo>
                    <a:pt x="0" y="60"/>
                  </a:moveTo>
                  <a:lnTo>
                    <a:pt x="59" y="31"/>
                  </a:lnTo>
                  <a:lnTo>
                    <a:pt x="0" y="0"/>
                  </a:lnTo>
                  <a:lnTo>
                    <a:pt x="0" y="60"/>
                  </a:lnTo>
                  <a:close/>
                </a:path>
              </a:pathLst>
            </a:custGeom>
            <a:solidFill>
              <a:srgbClr val="000000"/>
            </a:solidFill>
            <a:ln w="936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a:p>
          </p:txBody>
        </p:sp>
        <p:sp>
          <p:nvSpPr>
            <p:cNvPr id="52" name="Line 54">
              <a:extLst>
                <a:ext uri="{FF2B5EF4-FFF2-40B4-BE49-F238E27FC236}">
                  <a16:creationId xmlns:a16="http://schemas.microsoft.com/office/drawing/2014/main" id="{69E25B5B-85E1-4182-8AD9-080A1501FEE7}"/>
                </a:ext>
              </a:extLst>
            </p:cNvPr>
            <p:cNvSpPr>
              <a:spLocks noChangeShapeType="1"/>
            </p:cNvSpPr>
            <p:nvPr/>
          </p:nvSpPr>
          <p:spPr bwMode="auto">
            <a:xfrm flipV="1">
              <a:off x="1108" y="3055"/>
              <a:ext cx="0" cy="671"/>
            </a:xfrm>
            <a:prstGeom prst="line">
              <a:avLst/>
            </a:prstGeom>
            <a:noFill/>
            <a:ln w="1584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53" name="Line 55">
              <a:extLst>
                <a:ext uri="{FF2B5EF4-FFF2-40B4-BE49-F238E27FC236}">
                  <a16:creationId xmlns:a16="http://schemas.microsoft.com/office/drawing/2014/main" id="{8886AB36-87E3-46A0-83CC-B6968C637248}"/>
                </a:ext>
              </a:extLst>
            </p:cNvPr>
            <p:cNvSpPr>
              <a:spLocks noChangeShapeType="1"/>
            </p:cNvSpPr>
            <p:nvPr/>
          </p:nvSpPr>
          <p:spPr bwMode="auto">
            <a:xfrm flipV="1">
              <a:off x="1747" y="3055"/>
              <a:ext cx="0" cy="677"/>
            </a:xfrm>
            <a:prstGeom prst="line">
              <a:avLst/>
            </a:prstGeom>
            <a:noFill/>
            <a:ln w="1584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gr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C33DA23-E6AE-4CF8-9650-FF4D9691ED50}"/>
                  </a:ext>
                </a:extLst>
              </p:cNvPr>
              <p:cNvSpPr/>
              <p:nvPr/>
            </p:nvSpPr>
            <p:spPr>
              <a:xfrm>
                <a:off x="4965731" y="1318991"/>
                <a:ext cx="4572000" cy="1043876"/>
              </a:xfrm>
              <a:prstGeom prst="rect">
                <a:avLst/>
              </a:prstGeom>
            </p:spPr>
            <p:txBody>
              <a:bodyPr>
                <a:spAutoFit/>
              </a:bodyPr>
              <a:lstStyle/>
              <a:p>
                <a:pPr>
                  <a:spcBef>
                    <a:spcPts val="700"/>
                  </a:spcBef>
                  <a:buClr>
                    <a:srgbClr val="8E0D30"/>
                  </a:buClr>
                </a:pPr>
                <a:r>
                  <a:rPr lang="en-US" altLang="zh-TW" sz="2800" dirty="0">
                    <a:latin typeface="Times New Roman" panose="02020603050405020304" pitchFamily="18" charset="0"/>
                    <a:cs typeface="Times New Roman" panose="02020603050405020304" pitchFamily="18" charset="0"/>
                  </a:rPr>
                  <a:t>H</a:t>
                </a:r>
                <a:r>
                  <a:rPr lang="en-US" altLang="zh-TW" sz="2800" baseline="-25000" dirty="0">
                    <a:latin typeface="Times New Roman" panose="02020603050405020304" pitchFamily="18" charset="0"/>
                    <a:cs typeface="Times New Roman" panose="02020603050405020304" pitchFamily="18" charset="0"/>
                  </a:rPr>
                  <a:t>0</a:t>
                </a:r>
                <a:r>
                  <a:rPr lang="en-US" altLang="zh-TW" sz="2800" dirty="0">
                    <a:latin typeface="Times New Roman" panose="02020603050405020304" pitchFamily="18" charset="0"/>
                    <a:cs typeface="Times New Roman" panose="02020603050405020304" pitchFamily="18" charset="0"/>
                  </a:rPr>
                  <a:t>:        </a:t>
                </a:r>
                <a:r>
                  <a:rPr lang="en-US" altLang="zh-TW" sz="2800" b="1"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 </a:t>
                </a:r>
              </a:p>
              <a:p>
                <a:pPr>
                  <a:spcBef>
                    <a:spcPts val="700"/>
                  </a:spcBef>
                  <a:buClr>
                    <a:srgbClr val="8E0D30"/>
                  </a:buClr>
                </a:pPr>
                <a:r>
                  <a:rPr lang="en-US" altLang="zh-TW" sz="2800" dirty="0">
                    <a:latin typeface="Times New Roman" panose="02020603050405020304" pitchFamily="18" charset="0"/>
                    <a:cs typeface="Times New Roman" panose="02020603050405020304" pitchFamily="18" charset="0"/>
                  </a:rPr>
                  <a:t>H</a:t>
                </a:r>
                <a:r>
                  <a:rPr lang="en-US" altLang="zh-TW" sz="2800" baseline="-25000" dirty="0">
                    <a:latin typeface="Times New Roman" panose="02020603050405020304" pitchFamily="18" charset="0"/>
                    <a:cs typeface="Times New Roman" panose="02020603050405020304" pitchFamily="18" charset="0"/>
                  </a:rPr>
                  <a:t>a</a:t>
                </a:r>
                <a:r>
                  <a:rPr lang="en-US" altLang="zh-TW" sz="28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800" b="1" dirty="0" smtClean="0">
                        <a:latin typeface="Cambria Math" panose="02040503050406030204" pitchFamily="18" charset="0"/>
                      </a:rPr>
                      <m:t>≠</m:t>
                    </m:r>
                  </m:oMath>
                </a14:m>
                <a:endParaRPr lang="en-US" altLang="zh-TW" sz="2800" b="1" dirty="0">
                  <a:latin typeface="Times New Roman" panose="02020603050405020304" pitchFamily="18" charset="0"/>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5C33DA23-E6AE-4CF8-9650-FF4D9691ED50}"/>
                  </a:ext>
                </a:extLst>
              </p:cNvPr>
              <p:cNvSpPr>
                <a:spLocks noRot="1" noChangeAspect="1" noMove="1" noResize="1" noEditPoints="1" noAdjustHandles="1" noChangeArrowheads="1" noChangeShapeType="1" noTextEdit="1"/>
              </p:cNvSpPr>
              <p:nvPr/>
            </p:nvSpPr>
            <p:spPr>
              <a:xfrm>
                <a:off x="4965731" y="1318991"/>
                <a:ext cx="4572000" cy="1043876"/>
              </a:xfrm>
              <a:prstGeom prst="rect">
                <a:avLst/>
              </a:prstGeom>
              <a:blipFill>
                <a:blip r:embed="rId4"/>
                <a:stretch>
                  <a:fillRect l="-2800" t="-5814" b="-15116"/>
                </a:stretch>
              </a:blipFill>
            </p:spPr>
            <p:txBody>
              <a:bodyPr/>
              <a:lstStyle/>
              <a:p>
                <a:r>
                  <a:rPr lang="zh-TW" altLang="en-US">
                    <a:noFill/>
                  </a:rPr>
                  <a:t> </a:t>
                </a:r>
              </a:p>
            </p:txBody>
          </p:sp>
        </mc:Fallback>
      </mc:AlternateContent>
      <p:pic>
        <p:nvPicPr>
          <p:cNvPr id="55" name="圖片 54">
            <a:extLst>
              <a:ext uri="{FF2B5EF4-FFF2-40B4-BE49-F238E27FC236}">
                <a16:creationId xmlns:a16="http://schemas.microsoft.com/office/drawing/2014/main" id="{BC12FF21-86BF-4F70-951A-CA0723A4FC27}"/>
              </a:ext>
            </a:extLst>
          </p:cNvPr>
          <p:cNvPicPr>
            <a:picLocks noChangeAspect="1"/>
          </p:cNvPicPr>
          <p:nvPr/>
        </p:nvPicPr>
        <p:blipFill>
          <a:blip r:embed="rId5"/>
          <a:stretch>
            <a:fillRect/>
          </a:stretch>
        </p:blipFill>
        <p:spPr>
          <a:xfrm>
            <a:off x="5778671" y="1389794"/>
            <a:ext cx="435026" cy="450424"/>
          </a:xfrm>
          <a:prstGeom prst="rect">
            <a:avLst/>
          </a:prstGeom>
        </p:spPr>
      </p:pic>
      <p:pic>
        <p:nvPicPr>
          <p:cNvPr id="56" name="圖片 55">
            <a:extLst>
              <a:ext uri="{FF2B5EF4-FFF2-40B4-BE49-F238E27FC236}">
                <a16:creationId xmlns:a16="http://schemas.microsoft.com/office/drawing/2014/main" id="{4A2D6C40-18D9-45C0-AA90-813A4A2079B3}"/>
              </a:ext>
            </a:extLst>
          </p:cNvPr>
          <p:cNvPicPr>
            <a:picLocks noChangeAspect="1"/>
          </p:cNvPicPr>
          <p:nvPr/>
        </p:nvPicPr>
        <p:blipFill>
          <a:blip r:embed="rId6"/>
          <a:stretch>
            <a:fillRect/>
          </a:stretch>
        </p:blipFill>
        <p:spPr>
          <a:xfrm>
            <a:off x="6577240" y="1382993"/>
            <a:ext cx="435026" cy="464026"/>
          </a:xfrm>
          <a:prstGeom prst="rect">
            <a:avLst/>
          </a:prstGeom>
        </p:spPr>
      </p:pic>
      <p:pic>
        <p:nvPicPr>
          <p:cNvPr id="57" name="圖片 56">
            <a:extLst>
              <a:ext uri="{FF2B5EF4-FFF2-40B4-BE49-F238E27FC236}">
                <a16:creationId xmlns:a16="http://schemas.microsoft.com/office/drawing/2014/main" id="{0D8BE879-0FAD-4CC8-8A01-3F711B116FAB}"/>
              </a:ext>
            </a:extLst>
          </p:cNvPr>
          <p:cNvPicPr>
            <a:picLocks noChangeAspect="1"/>
          </p:cNvPicPr>
          <p:nvPr/>
        </p:nvPicPr>
        <p:blipFill>
          <a:blip r:embed="rId5"/>
          <a:stretch>
            <a:fillRect/>
          </a:stretch>
        </p:blipFill>
        <p:spPr>
          <a:xfrm>
            <a:off x="5778671" y="1880965"/>
            <a:ext cx="435026" cy="450424"/>
          </a:xfrm>
          <a:prstGeom prst="rect">
            <a:avLst/>
          </a:prstGeom>
        </p:spPr>
      </p:pic>
      <p:pic>
        <p:nvPicPr>
          <p:cNvPr id="58" name="圖片 57">
            <a:extLst>
              <a:ext uri="{FF2B5EF4-FFF2-40B4-BE49-F238E27FC236}">
                <a16:creationId xmlns:a16="http://schemas.microsoft.com/office/drawing/2014/main" id="{B25F80C9-0F39-435A-A25D-360413E29E87}"/>
              </a:ext>
            </a:extLst>
          </p:cNvPr>
          <p:cNvPicPr>
            <a:picLocks noChangeAspect="1"/>
          </p:cNvPicPr>
          <p:nvPr/>
        </p:nvPicPr>
        <p:blipFill>
          <a:blip r:embed="rId6"/>
          <a:stretch>
            <a:fillRect/>
          </a:stretch>
        </p:blipFill>
        <p:spPr>
          <a:xfrm>
            <a:off x="6591611" y="1867363"/>
            <a:ext cx="435026" cy="464026"/>
          </a:xfrm>
          <a:prstGeom prst="rect">
            <a:avLst/>
          </a:prstGeom>
        </p:spPr>
      </p:pic>
    </p:spTree>
    <p:extLst>
      <p:ext uri="{BB962C8B-B14F-4D97-AF65-F5344CB8AC3E}">
        <p14:creationId xmlns:p14="http://schemas.microsoft.com/office/powerpoint/2010/main" val="279171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7"/>
                                        </p:tgtEl>
                                        <p:attrNameLst>
                                          <p:attrName>style.visibility</p:attrName>
                                        </p:attrNameLst>
                                      </p:cBhvr>
                                      <p:to>
                                        <p:strVal val="visible"/>
                                      </p:to>
                                    </p:set>
                                    <p:animEffect transition="in" filter="wipe(left)">
                                      <p:cBhvr additive="repl">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509C453A-898B-43C9-AAB6-67B33590D4A8}"/>
              </a:ext>
            </a:extLst>
          </p:cNvPr>
          <p:cNvPicPr>
            <a:picLocks noChangeAspect="1"/>
          </p:cNvPicPr>
          <p:nvPr/>
        </p:nvPicPr>
        <p:blipFill>
          <a:blip r:embed="rId3"/>
          <a:stretch>
            <a:fillRect/>
          </a:stretch>
        </p:blipFill>
        <p:spPr>
          <a:xfrm>
            <a:off x="1301488" y="533401"/>
            <a:ext cx="6765614" cy="6714034"/>
          </a:xfrm>
          <a:prstGeom prst="rect">
            <a:avLst/>
          </a:prstGeom>
        </p:spPr>
      </p:pic>
    </p:spTree>
    <p:extLst>
      <p:ext uri="{BB962C8B-B14F-4D97-AF65-F5344CB8AC3E}">
        <p14:creationId xmlns:p14="http://schemas.microsoft.com/office/powerpoint/2010/main" val="2547722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標題 1">
            <a:extLst>
              <a:ext uri="{FF2B5EF4-FFF2-40B4-BE49-F238E27FC236}">
                <a16:creationId xmlns:a16="http://schemas.microsoft.com/office/drawing/2014/main" id="{FDBD9B01-21FB-448C-8E4B-4ABAB0B0B6B9}"/>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Result:</a:t>
            </a:r>
            <a:endParaRPr lang="zh-TW" altLang="en-US" sz="3200" b="1"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931E55D9-5F9D-4367-B8AF-23F469BB2F8C}"/>
              </a:ext>
            </a:extLst>
          </p:cNvPr>
          <p:cNvPicPr>
            <a:picLocks noChangeAspect="1"/>
          </p:cNvPicPr>
          <p:nvPr/>
        </p:nvPicPr>
        <p:blipFill>
          <a:blip r:embed="rId3"/>
          <a:stretch>
            <a:fillRect/>
          </a:stretch>
        </p:blipFill>
        <p:spPr>
          <a:xfrm>
            <a:off x="58263" y="1229348"/>
            <a:ext cx="9027474" cy="4399304"/>
          </a:xfrm>
          <a:prstGeom prst="rect">
            <a:avLst/>
          </a:prstGeom>
        </p:spPr>
      </p:pic>
    </p:spTree>
    <p:extLst>
      <p:ext uri="{BB962C8B-B14F-4D97-AF65-F5344CB8AC3E}">
        <p14:creationId xmlns:p14="http://schemas.microsoft.com/office/powerpoint/2010/main" val="16915412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108390</TotalTime>
  <Words>814</Words>
  <Application>Microsoft Office PowerPoint</Application>
  <PresentationFormat>如螢幕大小 (4:3)</PresentationFormat>
  <Paragraphs>145</Paragraphs>
  <Slides>16</Slides>
  <Notes>16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vt:lpstr>
      <vt:lpstr>Calibri</vt:lpstr>
      <vt:lpstr>Calibri Light</vt:lpstr>
      <vt:lpstr>Cambria Math</vt:lpstr>
      <vt:lpstr>Times New Roman</vt:lpstr>
      <vt:lpstr>Office 佈景主題</vt:lpstr>
      <vt:lpstr>Addressing inaccuracies in BLOSUM computation improves homology search performance</vt:lpstr>
      <vt:lpstr>Abstract(1/2)</vt:lpstr>
      <vt:lpstr>Abstract(2/2)</vt:lpstr>
      <vt:lpstr>Building the Database:</vt:lpstr>
      <vt:lpstr>Scoring Matrices:</vt:lpstr>
      <vt:lpstr>PowerPoint 簡報</vt:lpstr>
      <vt:lpstr>PowerPoint 簡報</vt:lpstr>
      <vt:lpstr>PowerPoint 簡報</vt:lpstr>
      <vt:lpstr>PowerPoint 簡報</vt:lpstr>
      <vt:lpstr>Scoring Matrices:</vt:lpstr>
      <vt:lpstr>Performance Evaluation:</vt:lpstr>
      <vt:lpstr>Performance Evaluation:</vt:lpstr>
      <vt:lpstr>Bootstrapping:</vt:lpstr>
      <vt:lpstr>Performance Evaluation:</vt:lpstr>
      <vt:lpstr>Result:</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1234</cp:revision>
  <dcterms:created xsi:type="dcterms:W3CDTF">2017-09-25T08:45:50Z</dcterms:created>
  <dcterms:modified xsi:type="dcterms:W3CDTF">2020-05-27T12:20:13Z</dcterms:modified>
</cp:coreProperties>
</file>