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7" r:id="rId9"/>
    <p:sldId id="265" r:id="rId10"/>
    <p:sldId id="269" r:id="rId11"/>
    <p:sldId id="270" r:id="rId12"/>
    <p:sldId id="263" r:id="rId13"/>
    <p:sldId id="271" r:id="rId14"/>
    <p:sldId id="268" r:id="rId15"/>
    <p:sldId id="272" r:id="rId16"/>
    <p:sldId id="273" r:id="rId17"/>
    <p:sldId id="274" r:id="rId18"/>
    <p:sldId id="278" r:id="rId19"/>
    <p:sldId id="275" r:id="rId20"/>
    <p:sldId id="279" r:id="rId21"/>
    <p:sldId id="277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DBC40-C7E9-4879-BCEE-B7A77F9DD7B0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EE96A-725A-4154-9C65-DCF2556991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501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EE96A-725A-4154-9C65-DCF2556991F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392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1D530D-D225-4EB8-B402-321C49CC6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E0A8ED-1807-4159-98E4-08B2B1C92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4B0192-5911-4F62-B2C7-AE1FD895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3C2D60-6C3A-4C3B-BD6E-9D0EE6758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BEAAA5-032C-4797-A976-E72CB1B4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87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37B1B-F2A3-486F-8DA7-CED9E7B3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A39288-D67E-4299-AA97-4134CB5BE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594E05-901D-48C4-867A-B9D1FFC5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6E76D8-A5E7-4359-841C-C2C6728C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A89BFB-B3DE-41CB-BF02-0C2B5C40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36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E23E95-EC3A-4A97-A59E-4AC8FB0F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B5B31B-C262-45E9-8EB7-F31E338EF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47F204-3ECD-4BEC-A003-D6F1C32C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35395F-6F49-4A6A-B99D-F984A5D9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F08033-26FE-4D43-BA1F-D254F519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43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E3833D-24AB-4234-BC90-9B0BCB86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A21B05-C03D-47B6-9CF6-1C9B3BCF3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D0477E-C6E8-4C13-AB13-79A7A2BE7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509B3A-0099-4903-B7D7-E0594C7D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0A3481-F60F-49A1-9E93-3DD3C75F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3CBA86-357D-45DC-9433-50CE5DA5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15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0FCB3-76E0-4B04-BC5D-D96F6905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5ECA04-C43A-488B-890B-7B9085693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3D148F-9716-4A7C-89D8-3756EF284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35D592A-5697-4A82-9181-5EFE031DA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4C78E3-2BFA-401F-B3F9-D25F7998A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B24F285-B740-4401-84EC-B7F737A54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93008E3-29EF-4979-808D-3443C574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7EA9A6-246F-4F97-BDAB-2412C26B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53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BDB05-8C98-4E7F-AA94-E15301E3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DA10DB3-4139-43AB-B724-93E4405A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0DE60F-15C9-4200-929A-B7B47757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18778F-4C87-4F6F-962D-D1E727B9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8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83A5E6-8F32-4431-AD7F-B5B98CCC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26DDDAF-44A2-4950-946F-3B32DF90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2E64D1-C911-448C-A5A5-EF923285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D7E461-30C1-41FD-92F7-D7193AB9D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6E0E55-CC77-41C9-AF56-7BC53BBF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97FBDB-4B57-41B5-B507-ED388573B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362FE6-06AE-409A-B581-E67AF53A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44A41C-C4B3-4FA0-834A-476E5135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82F9A8-71B0-40A5-8EBC-EE8526B2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3C3D1-0C8E-4480-A4DA-2BAF1C87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1628ACE-706D-49BC-BC09-1DB203A24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FF63BD-2537-4C41-850F-6BC0EE276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7A08E3-FB8B-4EA7-9148-5B342190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AC0748-E151-4FD9-B1A3-BBB5D5FE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ABB019-B81F-4B85-8EEB-7B8D3FCCC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53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F5B104-9832-4AE1-9FC7-D1DA455E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9FB740E-9010-4CF8-B27C-611B22326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CC6129-75AF-4C9E-ABC6-CD37020F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E26C80-17A8-4367-A5E8-4A7B9C6D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FB0DE9-5D55-40F4-AEBB-C9483CC2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13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6E2946D-832A-48DC-B532-1CAE2228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982A887-9FF0-42DB-B046-860331703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B72F32-1EF9-4A9C-B4F9-18F4E197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64B17B-D0DD-4021-8A0F-172A8A6F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E80ECD-CB0D-42A5-A3F3-8F5AF486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23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1EBA64-BB6E-4235-B3FC-4E8DB89A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C730FC-8406-425D-845A-A353D18BB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417A91-F85B-4BAD-A938-8C654D263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DEC36-3A7F-4D25-90A1-4E433783F88F}" type="datetimeFigureOut">
              <a:rPr lang="zh-TW" altLang="en-US" smtClean="0"/>
              <a:t>2020/5/27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6A4F3-4333-4540-A10D-AC22EDC87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12E93F-C65E-4A98-B4E2-309929F2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04E77-8BA1-43B3-8854-38B5C6100C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12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750BE-41D3-4D06-AB71-FEB64CD27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2599" y="1559258"/>
            <a:ext cx="9144000" cy="1002433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String Comparison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D91B46-0921-40F8-B5C7-632EEA7D7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6210" y="3063711"/>
            <a:ext cx="8339579" cy="1093511"/>
          </a:xfrm>
        </p:spPr>
        <p:txBody>
          <a:bodyPr>
            <a:normAutofit/>
          </a:bodyPr>
          <a:lstStyle/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Gad M. Landau, Eugene W. Myers, Jeanette P. Schmidt</a:t>
            </a:r>
          </a:p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SIAM J. Comput., Vol. 27, No. 2, pp. 557-582 (1998)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D1B4AF-C624-4FA6-9C76-3E60F0DC1701}"/>
              </a:ext>
            </a:extLst>
          </p:cNvPr>
          <p:cNvSpPr/>
          <p:nvPr/>
        </p:nvSpPr>
        <p:spPr>
          <a:xfrm>
            <a:off x="8091340" y="5169883"/>
            <a:ext cx="36261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May. 27, 2020</a:t>
            </a:r>
          </a:p>
        </p:txBody>
      </p:sp>
    </p:spTree>
    <p:extLst>
      <p:ext uri="{BB962C8B-B14F-4D97-AF65-F5344CB8AC3E}">
        <p14:creationId xmlns:p14="http://schemas.microsoft.com/office/powerpoint/2010/main" val="297908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71D205-F8D7-420D-91A7-37C9D6EC8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5" y="1194028"/>
            <a:ext cx="10813329" cy="537645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comparing two sequences A and B to determine their longest common subsequence (LCS) or the edit distance between them has been much studied. In this paper we consider the following incremental version of these problems: given an appropriate encoding of a comparison between A and B, can one incrementally compute the answer for A and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answer for A and Bb with equal efficiency, where b is an additional symbol? Our main result is a theorem exposing a surprising relationship between the dynamic programming solutions for two such “adjacent” problems.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44799B8-01CE-4917-86D0-536E5261ED62}"/>
              </a:ext>
            </a:extLst>
          </p:cNvPr>
          <p:cNvSpPr txBox="1">
            <a:spLocks/>
          </p:cNvSpPr>
          <p:nvPr/>
        </p:nvSpPr>
        <p:spPr>
          <a:xfrm>
            <a:off x="234884" y="1294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3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4BE20F5-7B50-4D42-91F0-167B91B99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7475" y="1118174"/>
                <a:ext cx="11411934" cy="509364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threshold k on the number of differences to be permitted in an alignment, the theorem leads directly to an O(k) algorithm for incrementally computing a new solution from an old one, as contrasts the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required to compute a solution from scratch. We further show, with a series of applications, that this algorithm is indeed more powerful than its </a:t>
                </a:r>
                <a:r>
                  <a:rPr lang="en-US" altLang="zh-TW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nonincremental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counterpart. We show this by solving the applications with greater asymptotic efficiency than heretofore possible. For example, we obtain O(</a:t>
                </a:r>
                <a:r>
                  <a:rPr lang="en-US" altLang="zh-TW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nk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algorithms for the longest prefix approximate match problem, the approximate overlap problem, and cyclic string comparison.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4BE20F5-7B50-4D42-91F0-167B91B99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7475" y="1118174"/>
                <a:ext cx="11411934" cy="5093649"/>
              </a:xfrm>
              <a:blipFill>
                <a:blip r:embed="rId2"/>
                <a:stretch>
                  <a:fillRect l="-1335" t="-1675" r="-3152" b="-1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標題 1">
            <a:extLst>
              <a:ext uri="{FF2B5EF4-FFF2-40B4-BE49-F238E27FC236}">
                <a16:creationId xmlns:a16="http://schemas.microsoft.com/office/drawing/2014/main" id="{2CEC6565-EF0A-44F5-A73D-93DC0A6E72C0}"/>
              </a:ext>
            </a:extLst>
          </p:cNvPr>
          <p:cNvSpPr txBox="1">
            <a:spLocks/>
          </p:cNvSpPr>
          <p:nvPr/>
        </p:nvSpPr>
        <p:spPr>
          <a:xfrm>
            <a:off x="272591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49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0515283-EAAA-499D-B5FC-34A540564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42" y="596038"/>
            <a:ext cx="10156018" cy="347012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0751A95-873D-4CAD-9EEF-C996E78B0A26}"/>
              </a:ext>
            </a:extLst>
          </p:cNvPr>
          <p:cNvSpPr txBox="1"/>
          <p:nvPr/>
        </p:nvSpPr>
        <p:spPr>
          <a:xfrm>
            <a:off x="1079770" y="4834647"/>
            <a:ext cx="7431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Unaligned symbol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= 0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29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132478A-7DB4-4A32-AE5E-35A19F0A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337" y="999240"/>
            <a:ext cx="9087244" cy="537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5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132478A-7DB4-4A32-AE5E-35A19F0A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89" y="895545"/>
            <a:ext cx="9087244" cy="5375685"/>
          </a:xfrm>
          <a:prstGeom prst="rect">
            <a:avLst/>
          </a:prstGeom>
        </p:spPr>
      </p:pic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F516A3CF-73BB-42D7-956D-68059F3655BE}"/>
              </a:ext>
            </a:extLst>
          </p:cNvPr>
          <p:cNvCxnSpPr>
            <a:cxnSpLocks/>
          </p:cNvCxnSpPr>
          <p:nvPr/>
        </p:nvCxnSpPr>
        <p:spPr>
          <a:xfrm>
            <a:off x="1875934" y="1300899"/>
            <a:ext cx="7814821" cy="4779390"/>
          </a:xfrm>
          <a:prstGeom prst="line">
            <a:avLst/>
          </a:prstGeom>
          <a:ln w="381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346D99B6-EE54-4C38-8D28-A524EFCADEBA}"/>
              </a:ext>
            </a:extLst>
          </p:cNvPr>
          <p:cNvSpPr txBox="1"/>
          <p:nvPr/>
        </p:nvSpPr>
        <p:spPr>
          <a:xfrm>
            <a:off x="1511732" y="8955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8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526D4206-C5EF-4C22-B69A-590690E3AF57}"/>
              </a:ext>
            </a:extLst>
          </p:cNvPr>
          <p:cNvCxnSpPr>
            <a:cxnSpLocks/>
          </p:cNvCxnSpPr>
          <p:nvPr/>
        </p:nvCxnSpPr>
        <p:spPr>
          <a:xfrm>
            <a:off x="1875934" y="1748704"/>
            <a:ext cx="6674177" cy="4077061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BCB785F-28CE-4546-9082-290B13E7CDF0}"/>
              </a:ext>
            </a:extLst>
          </p:cNvPr>
          <p:cNvCxnSpPr>
            <a:cxnSpLocks/>
          </p:cNvCxnSpPr>
          <p:nvPr/>
        </p:nvCxnSpPr>
        <p:spPr>
          <a:xfrm>
            <a:off x="2614669" y="1300899"/>
            <a:ext cx="7189207" cy="440231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B433480-C9F8-4DE7-876F-7E6F3785270E}"/>
              </a:ext>
            </a:extLst>
          </p:cNvPr>
          <p:cNvSpPr txBox="1"/>
          <p:nvPr/>
        </p:nvSpPr>
        <p:spPr>
          <a:xfrm>
            <a:off x="2240137" y="770872"/>
            <a:ext cx="578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D0B6D9-7C9F-4813-AE34-CEED477C04CD}"/>
              </a:ext>
            </a:extLst>
          </p:cNvPr>
          <p:cNvSpPr txBox="1"/>
          <p:nvPr/>
        </p:nvSpPr>
        <p:spPr>
          <a:xfrm>
            <a:off x="1300682" y="1418765"/>
            <a:ext cx="484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28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8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132478A-7DB4-4A32-AE5E-35A19F0A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337" y="999240"/>
            <a:ext cx="9087244" cy="5375685"/>
          </a:xfrm>
          <a:prstGeom prst="rect">
            <a:avLst/>
          </a:prstGeom>
        </p:spPr>
      </p:pic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491B528-70D3-4BEE-BE53-7C91AA1372C8}"/>
              </a:ext>
            </a:extLst>
          </p:cNvPr>
          <p:cNvCxnSpPr>
            <a:cxnSpLocks/>
          </p:cNvCxnSpPr>
          <p:nvPr/>
        </p:nvCxnSpPr>
        <p:spPr>
          <a:xfrm>
            <a:off x="1875934" y="1300899"/>
            <a:ext cx="7814821" cy="4779390"/>
          </a:xfrm>
          <a:prstGeom prst="line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橢圓 1">
            <a:extLst>
              <a:ext uri="{FF2B5EF4-FFF2-40B4-BE49-F238E27FC236}">
                <a16:creationId xmlns:a16="http://schemas.microsoft.com/office/drawing/2014/main" id="{B3358E37-F50F-4C65-8885-5D1B65A296F1}"/>
              </a:ext>
            </a:extLst>
          </p:cNvPr>
          <p:cNvSpPr/>
          <p:nvPr/>
        </p:nvSpPr>
        <p:spPr>
          <a:xfrm>
            <a:off x="3157979" y="1998483"/>
            <a:ext cx="527901" cy="52790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3189536-1DD8-463A-9844-D749DFB6FD81}"/>
              </a:ext>
            </a:extLst>
          </p:cNvPr>
          <p:cNvSpPr/>
          <p:nvPr/>
        </p:nvSpPr>
        <p:spPr>
          <a:xfrm>
            <a:off x="4667839" y="2901099"/>
            <a:ext cx="527901" cy="52790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B827A55-7491-4AD4-B609-51B4F5D508E2}"/>
              </a:ext>
            </a:extLst>
          </p:cNvPr>
          <p:cNvSpPr/>
          <p:nvPr/>
        </p:nvSpPr>
        <p:spPr>
          <a:xfrm>
            <a:off x="7627855" y="4696119"/>
            <a:ext cx="527901" cy="52790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9A1A2E6-DD0A-40DD-A8CA-0BD8342E3080}"/>
              </a:ext>
            </a:extLst>
          </p:cNvPr>
          <p:cNvSpPr/>
          <p:nvPr/>
        </p:nvSpPr>
        <p:spPr>
          <a:xfrm>
            <a:off x="8311695" y="5224020"/>
            <a:ext cx="527901" cy="52790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63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CC50D34C-371B-49AB-B8D4-95D79F3B08E2}"/>
              </a:ext>
            </a:extLst>
          </p:cNvPr>
          <p:cNvGrpSpPr/>
          <p:nvPr/>
        </p:nvGrpSpPr>
        <p:grpSpPr>
          <a:xfrm>
            <a:off x="0" y="1195390"/>
            <a:ext cx="6968731" cy="4207346"/>
            <a:chOff x="1418337" y="999240"/>
            <a:chExt cx="9087244" cy="5375685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132478A-7DB4-4A32-AE5E-35A19F0AC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8337" y="999240"/>
              <a:ext cx="9087244" cy="5375685"/>
            </a:xfrm>
            <a:prstGeom prst="rect">
              <a:avLst/>
            </a:prstGeom>
          </p:spPr>
        </p:pic>
        <p:cxnSp>
          <p:nvCxnSpPr>
            <p:cNvPr id="3" name="直線接點 2">
              <a:extLst>
                <a:ext uri="{FF2B5EF4-FFF2-40B4-BE49-F238E27FC236}">
                  <a16:creationId xmlns:a16="http://schemas.microsoft.com/office/drawing/2014/main" id="{3491B528-70D3-4BEE-BE53-7C91AA1372C8}"/>
                </a:ext>
              </a:extLst>
            </p:cNvPr>
            <p:cNvCxnSpPr>
              <a:cxnSpLocks/>
            </p:cNvCxnSpPr>
            <p:nvPr/>
          </p:nvCxnSpPr>
          <p:spPr>
            <a:xfrm>
              <a:off x="1875934" y="1300899"/>
              <a:ext cx="7814821" cy="4779390"/>
            </a:xfrm>
            <a:prstGeom prst="line">
              <a:avLst/>
            </a:prstGeom>
            <a:ln w="381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B3358E37-F50F-4C65-8885-5D1B65A296F1}"/>
                </a:ext>
              </a:extLst>
            </p:cNvPr>
            <p:cNvSpPr/>
            <p:nvPr/>
          </p:nvSpPr>
          <p:spPr>
            <a:xfrm>
              <a:off x="3157979" y="1998483"/>
              <a:ext cx="527901" cy="527901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3189536-1DD8-463A-9844-D749DFB6FD81}"/>
                </a:ext>
              </a:extLst>
            </p:cNvPr>
            <p:cNvSpPr/>
            <p:nvPr/>
          </p:nvSpPr>
          <p:spPr>
            <a:xfrm>
              <a:off x="4667839" y="2901099"/>
              <a:ext cx="527901" cy="527901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5B827A55-7491-4AD4-B609-51B4F5D508E2}"/>
                </a:ext>
              </a:extLst>
            </p:cNvPr>
            <p:cNvSpPr/>
            <p:nvPr/>
          </p:nvSpPr>
          <p:spPr>
            <a:xfrm>
              <a:off x="7627855" y="4696119"/>
              <a:ext cx="527901" cy="527901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D9A1A2E6-DD0A-40DD-A8CA-0BD8342E3080}"/>
                </a:ext>
              </a:extLst>
            </p:cNvPr>
            <p:cNvSpPr/>
            <p:nvPr/>
          </p:nvSpPr>
          <p:spPr>
            <a:xfrm>
              <a:off x="8311695" y="5224020"/>
              <a:ext cx="527901" cy="527901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B7462D5C-173C-4084-9161-6A23DAF8F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4504"/>
              </p:ext>
            </p:extLst>
          </p:nvPr>
        </p:nvGraphicFramePr>
        <p:xfrm>
          <a:off x="7207667" y="1790008"/>
          <a:ext cx="4518760" cy="30181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64845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60362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7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0B5DA285-03DE-4BCE-AF3B-37B5CEBA91C3}"/>
              </a:ext>
            </a:extLst>
          </p:cNvPr>
          <p:cNvGrpSpPr/>
          <p:nvPr/>
        </p:nvGrpSpPr>
        <p:grpSpPr>
          <a:xfrm>
            <a:off x="229617" y="1760048"/>
            <a:ext cx="6313423" cy="3824765"/>
            <a:chOff x="1418337" y="999240"/>
            <a:chExt cx="9087244" cy="5375685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132478A-7DB4-4A32-AE5E-35A19F0AC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8337" y="999240"/>
              <a:ext cx="9087244" cy="5375685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256E6076-4AE8-4454-AA98-590966173591}"/>
                </a:ext>
              </a:extLst>
            </p:cNvPr>
            <p:cNvGrpSpPr/>
            <p:nvPr/>
          </p:nvGrpSpPr>
          <p:grpSpPr>
            <a:xfrm>
              <a:off x="1875934" y="1748704"/>
              <a:ext cx="6674177" cy="4077061"/>
              <a:chOff x="1875934" y="1748704"/>
              <a:chExt cx="6674177" cy="4077061"/>
            </a:xfrm>
          </p:grpSpPr>
          <p:cxnSp>
            <p:nvCxnSpPr>
              <p:cNvPr id="3" name="直線接點 2">
                <a:extLst>
                  <a:ext uri="{FF2B5EF4-FFF2-40B4-BE49-F238E27FC236}">
                    <a16:creationId xmlns:a16="http://schemas.microsoft.com/office/drawing/2014/main" id="{CF40BB30-9366-4BAC-9710-71813881F9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5934" y="1748704"/>
                <a:ext cx="6674177" cy="4077061"/>
              </a:xfrm>
              <a:prstGeom prst="line">
                <a:avLst/>
              </a:prstGeom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4" name="橢圓 3">
                <a:extLst>
                  <a:ext uri="{FF2B5EF4-FFF2-40B4-BE49-F238E27FC236}">
                    <a16:creationId xmlns:a16="http://schemas.microsoft.com/office/drawing/2014/main" id="{5DDA0868-67E6-4915-BF79-5B99AEC78585}"/>
                  </a:ext>
                </a:extLst>
              </p:cNvPr>
              <p:cNvSpPr/>
              <p:nvPr/>
            </p:nvSpPr>
            <p:spPr>
              <a:xfrm>
                <a:off x="4685120" y="3346516"/>
                <a:ext cx="527901" cy="527901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3BF4D01B-68F0-4062-81C9-065EF0185746}"/>
                  </a:ext>
                </a:extLst>
              </p:cNvPr>
              <p:cNvSpPr/>
              <p:nvPr/>
            </p:nvSpPr>
            <p:spPr>
              <a:xfrm>
                <a:off x="5406667" y="3787234"/>
                <a:ext cx="527901" cy="527901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EF56A910-95A4-4775-92E0-087B93D6C6BF}"/>
                  </a:ext>
                </a:extLst>
              </p:cNvPr>
              <p:cNvSpPr/>
              <p:nvPr/>
            </p:nvSpPr>
            <p:spPr>
              <a:xfrm>
                <a:off x="7598004" y="5165889"/>
                <a:ext cx="527901" cy="527901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C7A5BC15-68A2-4966-B085-AC7452B04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164334"/>
              </p:ext>
            </p:extLst>
          </p:nvPr>
        </p:nvGraphicFramePr>
        <p:xfrm>
          <a:off x="6932084" y="2175979"/>
          <a:ext cx="4518760" cy="30181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64845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60362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2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67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132478A-7DB4-4A32-AE5E-35A19F0A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919"/>
            <a:ext cx="7053530" cy="4172613"/>
          </a:xfrm>
          <a:prstGeom prst="rect">
            <a:avLst/>
          </a:prstGeom>
        </p:spPr>
      </p:pic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941237CD-27F6-4722-B2E8-A6B0B26DA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04662"/>
              </p:ext>
            </p:extLst>
          </p:nvPr>
        </p:nvGraphicFramePr>
        <p:xfrm>
          <a:off x="7071480" y="1919945"/>
          <a:ext cx="4518760" cy="30181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64845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60362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</a:tbl>
          </a:graphicData>
        </a:graphic>
      </p:graphicFrame>
      <p:sp>
        <p:nvSpPr>
          <p:cNvPr id="4" name="橢圓 3">
            <a:extLst>
              <a:ext uri="{FF2B5EF4-FFF2-40B4-BE49-F238E27FC236}">
                <a16:creationId xmlns:a16="http://schemas.microsoft.com/office/drawing/2014/main" id="{25365E1F-CAEE-4DFB-90BC-8991EFB5FAA6}"/>
              </a:ext>
            </a:extLst>
          </p:cNvPr>
          <p:cNvSpPr/>
          <p:nvPr/>
        </p:nvSpPr>
        <p:spPr>
          <a:xfrm>
            <a:off x="9330860" y="3706239"/>
            <a:ext cx="571897" cy="573932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306BFC2-6801-43BB-BBD7-BA7DA3C48056}"/>
              </a:ext>
            </a:extLst>
          </p:cNvPr>
          <p:cNvSpPr/>
          <p:nvPr/>
        </p:nvSpPr>
        <p:spPr>
          <a:xfrm>
            <a:off x="8758963" y="3098260"/>
            <a:ext cx="571897" cy="573932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E5E37E7-F24E-4449-9C05-FEE3EC4A391D}"/>
              </a:ext>
            </a:extLst>
          </p:cNvPr>
          <p:cNvSpPr/>
          <p:nvPr/>
        </p:nvSpPr>
        <p:spPr>
          <a:xfrm>
            <a:off x="9330860" y="3099881"/>
            <a:ext cx="571897" cy="573932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B982A0A-8351-4DA8-ACB0-D2FE89CFA56D}"/>
              </a:ext>
            </a:extLst>
          </p:cNvPr>
          <p:cNvSpPr/>
          <p:nvPr/>
        </p:nvSpPr>
        <p:spPr>
          <a:xfrm>
            <a:off x="9902757" y="3098260"/>
            <a:ext cx="571897" cy="573932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8DE8598-5C1F-4701-B721-7BF8C4C1C953}"/>
              </a:ext>
            </a:extLst>
          </p:cNvPr>
          <p:cNvSpPr/>
          <p:nvPr/>
        </p:nvSpPr>
        <p:spPr>
          <a:xfrm>
            <a:off x="2514187" y="3171218"/>
            <a:ext cx="395590" cy="364786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FAE09DD-93D6-4069-A163-A6E960BCE6FD}"/>
              </a:ext>
            </a:extLst>
          </p:cNvPr>
          <p:cNvSpPr/>
          <p:nvPr/>
        </p:nvSpPr>
        <p:spPr>
          <a:xfrm>
            <a:off x="2485004" y="2811294"/>
            <a:ext cx="395591" cy="359924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BBF510E-AF75-4D7A-958A-68E6A927807B}"/>
              </a:ext>
            </a:extLst>
          </p:cNvPr>
          <p:cNvSpPr/>
          <p:nvPr/>
        </p:nvSpPr>
        <p:spPr>
          <a:xfrm>
            <a:off x="1906621" y="2097933"/>
            <a:ext cx="395590" cy="364786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C14A51DE-C2BA-4763-8C6E-1A141AD9FBB6}"/>
              </a:ext>
            </a:extLst>
          </p:cNvPr>
          <p:cNvSpPr/>
          <p:nvPr/>
        </p:nvSpPr>
        <p:spPr>
          <a:xfrm>
            <a:off x="4765346" y="4173167"/>
            <a:ext cx="468136" cy="434502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5EC43A8C-E20E-4356-BA83-ACED7EE4C18B}"/>
              </a:ext>
            </a:extLst>
          </p:cNvPr>
          <p:cNvSpPr/>
          <p:nvPr/>
        </p:nvSpPr>
        <p:spPr>
          <a:xfrm>
            <a:off x="3064666" y="3142036"/>
            <a:ext cx="459235" cy="3842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3D721FAD-BD1E-4688-9FC4-C07D3BDE47F2}"/>
              </a:ext>
            </a:extLst>
          </p:cNvPr>
          <p:cNvSpPr/>
          <p:nvPr/>
        </p:nvSpPr>
        <p:spPr>
          <a:xfrm>
            <a:off x="3622458" y="3514117"/>
            <a:ext cx="459235" cy="3842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97A9C3DC-6CF8-4B20-963E-B9DE742B5B9F}"/>
              </a:ext>
            </a:extLst>
          </p:cNvPr>
          <p:cNvSpPr/>
          <p:nvPr/>
        </p:nvSpPr>
        <p:spPr>
          <a:xfrm>
            <a:off x="4227837" y="3895927"/>
            <a:ext cx="459235" cy="3842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44021A6-AA1A-4581-B3A6-078D0E0C9C49}"/>
                  </a:ext>
                </a:extLst>
              </p:cNvPr>
              <p:cNvSpPr txBox="1"/>
              <p:nvPr/>
            </p:nvSpPr>
            <p:spPr>
              <a:xfrm>
                <a:off x="7243333" y="5471532"/>
                <a:ext cx="41750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O(n+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8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44021A6-AA1A-4581-B3A6-078D0E0C9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333" y="5471532"/>
                <a:ext cx="4175054" cy="523220"/>
              </a:xfrm>
              <a:prstGeom prst="rect">
                <a:avLst/>
              </a:prstGeom>
              <a:blipFill>
                <a:blip r:embed="rId3"/>
                <a:stretch>
                  <a:fillRect l="-2920" t="-12941" r="-1752" b="-32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9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132478A-7DB4-4A32-AE5E-35A19F0A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919"/>
            <a:ext cx="7053530" cy="4172613"/>
          </a:xfrm>
          <a:prstGeom prst="rect">
            <a:avLst/>
          </a:prstGeom>
        </p:spPr>
      </p:pic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941237CD-27F6-4722-B2E8-A6B0B26DA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499851"/>
              </p:ext>
            </p:extLst>
          </p:nvPr>
        </p:nvGraphicFramePr>
        <p:xfrm>
          <a:off x="7071480" y="1919945"/>
          <a:ext cx="4518760" cy="301811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64845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64845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60362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8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7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</a:tbl>
          </a:graphicData>
        </a:graphic>
      </p:graphicFrame>
      <p:sp>
        <p:nvSpPr>
          <p:cNvPr id="16" name="橢圓 15">
            <a:extLst>
              <a:ext uri="{FF2B5EF4-FFF2-40B4-BE49-F238E27FC236}">
                <a16:creationId xmlns:a16="http://schemas.microsoft.com/office/drawing/2014/main" id="{5EC43A8C-E20E-4356-BA83-ACED7EE4C18B}"/>
              </a:ext>
            </a:extLst>
          </p:cNvPr>
          <p:cNvSpPr/>
          <p:nvPr/>
        </p:nvSpPr>
        <p:spPr>
          <a:xfrm>
            <a:off x="4796190" y="4169567"/>
            <a:ext cx="459235" cy="3842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3D721FAD-BD1E-4688-9FC4-C07D3BDE47F2}"/>
              </a:ext>
            </a:extLst>
          </p:cNvPr>
          <p:cNvSpPr/>
          <p:nvPr/>
        </p:nvSpPr>
        <p:spPr>
          <a:xfrm>
            <a:off x="3067530" y="3518985"/>
            <a:ext cx="459235" cy="3842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65565E1-BD18-4A05-8395-9F23138CADEE}"/>
              </a:ext>
            </a:extLst>
          </p:cNvPr>
          <p:cNvSpPr/>
          <p:nvPr/>
        </p:nvSpPr>
        <p:spPr>
          <a:xfrm>
            <a:off x="4186584" y="4553811"/>
            <a:ext cx="459235" cy="3842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59DB99BC-29E5-4D90-A0F4-690FA7F202F9}"/>
              </a:ext>
            </a:extLst>
          </p:cNvPr>
          <p:cNvSpPr/>
          <p:nvPr/>
        </p:nvSpPr>
        <p:spPr>
          <a:xfrm>
            <a:off x="3071377" y="2805624"/>
            <a:ext cx="459235" cy="3842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18F618D-4048-4318-8F81-65EC0835070C}"/>
              </a:ext>
            </a:extLst>
          </p:cNvPr>
          <p:cNvSpPr/>
          <p:nvPr/>
        </p:nvSpPr>
        <p:spPr>
          <a:xfrm>
            <a:off x="2465020" y="2101990"/>
            <a:ext cx="459235" cy="3842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40102967-E151-46B0-A45A-D4E595978C84}"/>
              </a:ext>
            </a:extLst>
          </p:cNvPr>
          <p:cNvCxnSpPr>
            <a:stCxn id="17" idx="5"/>
            <a:endCxn id="19" idx="1"/>
          </p:cNvCxnSpPr>
          <p:nvPr/>
        </p:nvCxnSpPr>
        <p:spPr>
          <a:xfrm>
            <a:off x="3459512" y="3846958"/>
            <a:ext cx="794325" cy="7631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47ABDDF-0DD3-4229-9A27-56832655B625}"/>
              </a:ext>
            </a:extLst>
          </p:cNvPr>
          <p:cNvCxnSpPr>
            <a:cxnSpLocks/>
            <a:stCxn id="17" idx="6"/>
            <a:endCxn id="16" idx="2"/>
          </p:cNvCxnSpPr>
          <p:nvPr/>
        </p:nvCxnSpPr>
        <p:spPr>
          <a:xfrm>
            <a:off x="3526765" y="3711107"/>
            <a:ext cx="1269425" cy="65058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75356916-7B60-4386-8539-0DEE06AE5FE9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490581" y="3100277"/>
            <a:ext cx="1372862" cy="112556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D2AB7CB-D480-436A-A240-347A408848F9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840334" y="2447267"/>
            <a:ext cx="298296" cy="41462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79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3AA272A-6980-41FD-A4A1-0093DF1E0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087761"/>
              </p:ext>
            </p:extLst>
          </p:nvPr>
        </p:nvGraphicFramePr>
        <p:xfrm>
          <a:off x="1873116" y="1147864"/>
          <a:ext cx="8445767" cy="505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7797">
                  <a:extLst>
                    <a:ext uri="{9D8B030D-6E8A-4147-A177-3AD203B41FA5}">
                      <a16:colId xmlns:a16="http://schemas.microsoft.com/office/drawing/2014/main" val="1567736225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494733231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3499994258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8460323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562458778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4257636746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712333177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1908871813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114142381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209418925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410403854"/>
                    </a:ext>
                  </a:extLst>
                </a:gridCol>
              </a:tblGrid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5251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03047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84655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779000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98605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72806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649588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20447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30416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B24A5176-42CD-4AF1-89E5-81067BA9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15" y="1460692"/>
            <a:ext cx="823802" cy="474556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5D85905-2EAB-4C1D-A48B-7FE51B9E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43" y="554473"/>
            <a:ext cx="6552934" cy="4652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EB9B34E-F11D-4A3F-BC9A-A8171155E7B4}"/>
              </a:ext>
            </a:extLst>
          </p:cNvPr>
          <p:cNvSpPr txBox="1"/>
          <p:nvPr/>
        </p:nvSpPr>
        <p:spPr>
          <a:xfrm>
            <a:off x="2791837" y="463926"/>
            <a:ext cx="505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3AA272A-6980-41FD-A4A1-0093DF1E0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885879"/>
              </p:ext>
            </p:extLst>
          </p:nvPr>
        </p:nvGraphicFramePr>
        <p:xfrm>
          <a:off x="1873116" y="1147864"/>
          <a:ext cx="8445767" cy="50583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7797">
                  <a:extLst>
                    <a:ext uri="{9D8B030D-6E8A-4147-A177-3AD203B41FA5}">
                      <a16:colId xmlns:a16="http://schemas.microsoft.com/office/drawing/2014/main" val="1567736225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494733231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3499994258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8460323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562458778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4257636746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712333177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1908871813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114142381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2209418925"/>
                    </a:ext>
                  </a:extLst>
                </a:gridCol>
                <a:gridCol w="767797">
                  <a:extLst>
                    <a:ext uri="{9D8B030D-6E8A-4147-A177-3AD203B41FA5}">
                      <a16:colId xmlns:a16="http://schemas.microsoft.com/office/drawing/2014/main" val="410403854"/>
                    </a:ext>
                  </a:extLst>
                </a:gridCol>
              </a:tblGrid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5251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03047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84655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779000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98605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72806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649588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20447"/>
                  </a:ext>
                </a:extLst>
              </a:tr>
              <a:tr h="5620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30416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B24A5176-42CD-4AF1-89E5-81067BA9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15" y="1460692"/>
            <a:ext cx="823802" cy="474556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5D85905-2EAB-4C1D-A48B-7FE51B9E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43" y="554473"/>
            <a:ext cx="6552934" cy="46523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EB9B34E-F11D-4A3F-BC9A-A8171155E7B4}"/>
              </a:ext>
            </a:extLst>
          </p:cNvPr>
          <p:cNvSpPr txBox="1"/>
          <p:nvPr/>
        </p:nvSpPr>
        <p:spPr>
          <a:xfrm>
            <a:off x="2791837" y="463926"/>
            <a:ext cx="505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356DDC6-8B0B-47C0-9B76-7F9880A15CE1}"/>
              </a:ext>
            </a:extLst>
          </p:cNvPr>
          <p:cNvCxnSpPr>
            <a:cxnSpLocks/>
          </p:cNvCxnSpPr>
          <p:nvPr/>
        </p:nvCxnSpPr>
        <p:spPr>
          <a:xfrm>
            <a:off x="1692613" y="1019711"/>
            <a:ext cx="7373566" cy="5374363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FDFF2748-1CF3-4E1B-9BE5-A5FE0B394F17}"/>
              </a:ext>
            </a:extLst>
          </p:cNvPr>
          <p:cNvSpPr/>
          <p:nvPr/>
        </p:nvSpPr>
        <p:spPr>
          <a:xfrm>
            <a:off x="1199033" y="686204"/>
            <a:ext cx="4411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24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70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9AAD85A6-B553-4C37-90A0-CD72108B4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956982"/>
              </p:ext>
            </p:extLst>
          </p:nvPr>
        </p:nvGraphicFramePr>
        <p:xfrm>
          <a:off x="6867199" y="1847895"/>
          <a:ext cx="4518756" cy="358641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02084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245793682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568307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-4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36195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DA8165F-5620-42A2-ACC4-2E480C246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79418"/>
              </p:ext>
            </p:extLst>
          </p:nvPr>
        </p:nvGraphicFramePr>
        <p:xfrm>
          <a:off x="1027756" y="1929673"/>
          <a:ext cx="5325353" cy="34435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123">
                  <a:extLst>
                    <a:ext uri="{9D8B030D-6E8A-4147-A177-3AD203B41FA5}">
                      <a16:colId xmlns:a16="http://schemas.microsoft.com/office/drawing/2014/main" val="1567736225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494733231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3499994258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8460323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562458778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4257636746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712333177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1908871813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114142381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2209418925"/>
                    </a:ext>
                  </a:extLst>
                </a:gridCol>
                <a:gridCol w="484123">
                  <a:extLst>
                    <a:ext uri="{9D8B030D-6E8A-4147-A177-3AD203B41FA5}">
                      <a16:colId xmlns:a16="http://schemas.microsoft.com/office/drawing/2014/main" val="410403854"/>
                    </a:ext>
                  </a:extLst>
                </a:gridCol>
              </a:tblGrid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885251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03047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84655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779000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698605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72806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649588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20447"/>
                  </a:ext>
                </a:extLst>
              </a:tr>
              <a:tr h="38262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30416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7E226616-FF3F-4BAA-846B-F237C8B7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51" y="2223045"/>
            <a:ext cx="560818" cy="32306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C9D37B6-AC7A-4638-9F90-1957C2C56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174" y="1484739"/>
            <a:ext cx="4161083" cy="2954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FBAFAC1-1A90-49A0-B691-597EA18B4B36}"/>
              </a:ext>
            </a:extLst>
          </p:cNvPr>
          <p:cNvSpPr txBox="1"/>
          <p:nvPr/>
        </p:nvSpPr>
        <p:spPr>
          <a:xfrm>
            <a:off x="1605063" y="144778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0E26D8F-1E47-49FC-8393-8F704CDD0B23}"/>
              </a:ext>
            </a:extLst>
          </p:cNvPr>
          <p:cNvSpPr txBox="1"/>
          <p:nvPr/>
        </p:nvSpPr>
        <p:spPr>
          <a:xfrm>
            <a:off x="6867199" y="1218808"/>
            <a:ext cx="782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lang="zh-TW" alt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9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A25855C3-B209-4CB6-8607-11F9D837D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351020"/>
              </p:ext>
            </p:extLst>
          </p:nvPr>
        </p:nvGraphicFramePr>
        <p:xfrm>
          <a:off x="690737" y="1767645"/>
          <a:ext cx="4728168" cy="319680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91021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91021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63936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39361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39361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39361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39361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1F87083-A681-44B1-AF83-CE0556B9F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589663"/>
              </p:ext>
            </p:extLst>
          </p:nvPr>
        </p:nvGraphicFramePr>
        <p:xfrm>
          <a:off x="6419727" y="1572840"/>
          <a:ext cx="4518756" cy="358641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02084">
                  <a:extLst>
                    <a:ext uri="{9D8B030D-6E8A-4147-A177-3AD203B41FA5}">
                      <a16:colId xmlns:a16="http://schemas.microsoft.com/office/drawing/2014/main" val="1846045151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245793682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2940390916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3520107217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198608030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153485904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1328034755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2266877596"/>
                    </a:ext>
                  </a:extLst>
                </a:gridCol>
                <a:gridCol w="502084">
                  <a:extLst>
                    <a:ext uri="{9D8B030D-6E8A-4147-A177-3AD203B41FA5}">
                      <a16:colId xmlns:a16="http://schemas.microsoft.com/office/drawing/2014/main" val="2191374304"/>
                    </a:ext>
                  </a:extLst>
                </a:gridCol>
              </a:tblGrid>
              <a:tr h="568307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-4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-1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176640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936797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61722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671582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818025"/>
                  </a:ext>
                </a:extLst>
              </a:tr>
              <a:tr h="60362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>
                          <a:solidFill>
                            <a:schemeClr val="tx1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∞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36195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86610B5-A906-4AB5-BD80-BBC2DE72319C}"/>
              </a:ext>
            </a:extLst>
          </p:cNvPr>
          <p:cNvSpPr/>
          <p:nvPr/>
        </p:nvSpPr>
        <p:spPr>
          <a:xfrm>
            <a:off x="6419727" y="870786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endParaRPr lang="zh-TW" alt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FD9272-612D-488E-9E37-7C153A5E30D7}"/>
              </a:ext>
            </a:extLst>
          </p:cNvPr>
          <p:cNvSpPr txBox="1"/>
          <p:nvPr/>
        </p:nvSpPr>
        <p:spPr>
          <a:xfrm>
            <a:off x="787640" y="1101618"/>
            <a:ext cx="70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endParaRPr lang="zh-TW" altLang="en-US" sz="32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98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00C43137-F249-44BF-BA61-ACA806691F31}"/>
              </a:ext>
            </a:extLst>
          </p:cNvPr>
          <p:cNvGrpSpPr/>
          <p:nvPr/>
        </p:nvGrpSpPr>
        <p:grpSpPr>
          <a:xfrm>
            <a:off x="2268684" y="282804"/>
            <a:ext cx="7453006" cy="6402185"/>
            <a:chOff x="2268684" y="282804"/>
            <a:chExt cx="7453006" cy="6402185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12290564-98E8-44B4-9A6E-366875D24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5153" y="282804"/>
              <a:ext cx="6474098" cy="2326989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BE688BD-9030-4B57-B67D-6635059DF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0310" y="4136947"/>
              <a:ext cx="6692544" cy="2548042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A06EAED-568D-4C60-A04E-B11E5347A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68684" y="2765228"/>
              <a:ext cx="7453006" cy="13717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520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CE91CE5E-56A0-40C9-B9F0-29480644397E}"/>
              </a:ext>
            </a:extLst>
          </p:cNvPr>
          <p:cNvCxnSpPr>
            <a:cxnSpLocks/>
          </p:cNvCxnSpPr>
          <p:nvPr/>
        </p:nvCxnSpPr>
        <p:spPr>
          <a:xfrm>
            <a:off x="1604955" y="2582785"/>
            <a:ext cx="3703991" cy="37209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7C8B2A2-ECDC-4EAB-8E69-650CDD166643}"/>
              </a:ext>
            </a:extLst>
          </p:cNvPr>
          <p:cNvCxnSpPr>
            <a:cxnSpLocks/>
          </p:cNvCxnSpPr>
          <p:nvPr/>
        </p:nvCxnSpPr>
        <p:spPr>
          <a:xfrm>
            <a:off x="1919926" y="2353560"/>
            <a:ext cx="3777007" cy="36607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E6050019-6936-4AA5-9078-50FCA1E9B383}"/>
              </a:ext>
            </a:extLst>
          </p:cNvPr>
          <p:cNvCxnSpPr>
            <a:cxnSpLocks/>
          </p:cNvCxnSpPr>
          <p:nvPr/>
        </p:nvCxnSpPr>
        <p:spPr>
          <a:xfrm>
            <a:off x="2326849" y="2064151"/>
            <a:ext cx="3872270" cy="3730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883A4134-8649-4C7B-A0F6-607B3ED67F44}"/>
              </a:ext>
            </a:extLst>
          </p:cNvPr>
          <p:cNvCxnSpPr>
            <a:cxnSpLocks/>
          </p:cNvCxnSpPr>
          <p:nvPr/>
        </p:nvCxnSpPr>
        <p:spPr>
          <a:xfrm>
            <a:off x="2810099" y="1907152"/>
            <a:ext cx="3795943" cy="36579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209C152-D70A-4E14-9BD7-18C7585566C4}"/>
              </a:ext>
            </a:extLst>
          </p:cNvPr>
          <p:cNvCxnSpPr>
            <a:cxnSpLocks/>
          </p:cNvCxnSpPr>
          <p:nvPr/>
        </p:nvCxnSpPr>
        <p:spPr>
          <a:xfrm>
            <a:off x="5357981" y="1617743"/>
            <a:ext cx="3777007" cy="36225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7CC889CB-544A-4FB0-B847-68F5709FCD52}"/>
              </a:ext>
            </a:extLst>
          </p:cNvPr>
          <p:cNvCxnSpPr>
            <a:cxnSpLocks/>
          </p:cNvCxnSpPr>
          <p:nvPr/>
        </p:nvCxnSpPr>
        <p:spPr>
          <a:xfrm>
            <a:off x="5745968" y="1290105"/>
            <a:ext cx="3777007" cy="36607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D27C4301-5E80-4A84-AF6C-4B26768F2F90}"/>
              </a:ext>
            </a:extLst>
          </p:cNvPr>
          <p:cNvCxnSpPr>
            <a:cxnSpLocks/>
          </p:cNvCxnSpPr>
          <p:nvPr/>
        </p:nvCxnSpPr>
        <p:spPr>
          <a:xfrm>
            <a:off x="6152891" y="1000696"/>
            <a:ext cx="3872270" cy="37301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864339C-CE49-4804-BF81-AB26ADBC8B84}"/>
              </a:ext>
            </a:extLst>
          </p:cNvPr>
          <p:cNvCxnSpPr>
            <a:cxnSpLocks/>
          </p:cNvCxnSpPr>
          <p:nvPr/>
        </p:nvCxnSpPr>
        <p:spPr>
          <a:xfrm>
            <a:off x="6636141" y="843697"/>
            <a:ext cx="3795943" cy="36579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B769595-6A7E-4B2D-A567-410DB702DD28}"/>
              </a:ext>
            </a:extLst>
          </p:cNvPr>
          <p:cNvCxnSpPr/>
          <p:nvPr/>
        </p:nvCxnSpPr>
        <p:spPr>
          <a:xfrm flipV="1">
            <a:off x="1748589" y="609600"/>
            <a:ext cx="5919537" cy="325654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92BAC664-D1CA-4661-96F4-ED7E5B4A4062}"/>
              </a:ext>
            </a:extLst>
          </p:cNvPr>
          <p:cNvCxnSpPr/>
          <p:nvPr/>
        </p:nvCxnSpPr>
        <p:spPr>
          <a:xfrm flipV="1">
            <a:off x="2284013" y="1327253"/>
            <a:ext cx="5919537" cy="325654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8F8A64E6-1B3A-4649-8E2D-79E94A9D56D6}"/>
              </a:ext>
            </a:extLst>
          </p:cNvPr>
          <p:cNvCxnSpPr/>
          <p:nvPr/>
        </p:nvCxnSpPr>
        <p:spPr>
          <a:xfrm flipV="1">
            <a:off x="3052135" y="2107853"/>
            <a:ext cx="5919537" cy="325654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CF58925-B6C4-44AF-B7A3-532B0C25ADFF}"/>
              </a:ext>
            </a:extLst>
          </p:cNvPr>
          <p:cNvCxnSpPr/>
          <p:nvPr/>
        </p:nvCxnSpPr>
        <p:spPr>
          <a:xfrm flipV="1">
            <a:off x="3849735" y="2910521"/>
            <a:ext cx="5919537" cy="325654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A0E30168-16C7-4F5F-82B5-5714106DD6BC}"/>
              </a:ext>
            </a:extLst>
          </p:cNvPr>
          <p:cNvCxnSpPr>
            <a:cxnSpLocks/>
          </p:cNvCxnSpPr>
          <p:nvPr/>
        </p:nvCxnSpPr>
        <p:spPr>
          <a:xfrm flipV="1">
            <a:off x="3022036" y="4659282"/>
            <a:ext cx="1293115" cy="756011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4010FC4A-51E1-4022-A2CA-178BE16F3A7A}"/>
              </a:ext>
            </a:extLst>
          </p:cNvPr>
          <p:cNvCxnSpPr>
            <a:cxnSpLocks/>
          </p:cNvCxnSpPr>
          <p:nvPr/>
        </p:nvCxnSpPr>
        <p:spPr>
          <a:xfrm flipV="1">
            <a:off x="3966348" y="2176153"/>
            <a:ext cx="2744574" cy="1477511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19A9E859-365C-463C-A616-B89A14A26FD9}"/>
              </a:ext>
            </a:extLst>
          </p:cNvPr>
          <p:cNvCxnSpPr>
            <a:cxnSpLocks/>
          </p:cNvCxnSpPr>
          <p:nvPr/>
        </p:nvCxnSpPr>
        <p:spPr>
          <a:xfrm flipV="1">
            <a:off x="6447294" y="575005"/>
            <a:ext cx="1250931" cy="728016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0D814AA4-9669-4DAC-A006-4582D24AD85C}"/>
              </a:ext>
            </a:extLst>
          </p:cNvPr>
          <p:cNvCxnSpPr>
            <a:cxnSpLocks/>
          </p:cNvCxnSpPr>
          <p:nvPr/>
        </p:nvCxnSpPr>
        <p:spPr>
          <a:xfrm flipV="1">
            <a:off x="3709726" y="5694519"/>
            <a:ext cx="998155" cy="565009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C8587132-703D-42C0-B6E4-691F943A8C15}"/>
              </a:ext>
            </a:extLst>
          </p:cNvPr>
          <p:cNvCxnSpPr>
            <a:cxnSpLocks/>
          </p:cNvCxnSpPr>
          <p:nvPr/>
        </p:nvCxnSpPr>
        <p:spPr>
          <a:xfrm flipV="1">
            <a:off x="5199176" y="3196500"/>
            <a:ext cx="1794853" cy="1013310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2094D856-DFFF-46CB-AE9A-AF5F95C85829}"/>
              </a:ext>
            </a:extLst>
          </p:cNvPr>
          <p:cNvCxnSpPr>
            <a:cxnSpLocks/>
          </p:cNvCxnSpPr>
          <p:nvPr/>
        </p:nvCxnSpPr>
        <p:spPr>
          <a:xfrm flipV="1">
            <a:off x="7504686" y="1284267"/>
            <a:ext cx="742159" cy="400241"/>
          </a:xfrm>
          <a:prstGeom prst="line">
            <a:avLst/>
          </a:pr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FB274B3-9E2A-49B4-98D6-5FF2DA2535CF}"/>
              </a:ext>
            </a:extLst>
          </p:cNvPr>
          <p:cNvSpPr txBox="1"/>
          <p:nvPr/>
        </p:nvSpPr>
        <p:spPr>
          <a:xfrm>
            <a:off x="1646376" y="5173725"/>
            <a:ext cx="136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new_i-1</a:t>
            </a:r>
            <a:endParaRPr lang="zh-TW" alt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F3524C9-949D-41AF-B10F-46F5CDFA810A}"/>
              </a:ext>
            </a:extLst>
          </p:cNvPr>
          <p:cNvSpPr txBox="1"/>
          <p:nvPr/>
        </p:nvSpPr>
        <p:spPr>
          <a:xfrm>
            <a:off x="2181034" y="5997918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new_i</a:t>
            </a:r>
            <a:endParaRPr lang="zh-TW" altLang="en-US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171F11F-CAAA-4DCF-985B-03F012B6341A}"/>
              </a:ext>
            </a:extLst>
          </p:cNvPr>
          <p:cNvSpPr txBox="1"/>
          <p:nvPr/>
        </p:nvSpPr>
        <p:spPr>
          <a:xfrm>
            <a:off x="7896021" y="80542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old_i-2</a:t>
            </a:r>
            <a:endParaRPr lang="zh-TW" altLang="en-US" sz="28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B8FF3EB7-01CD-4D86-9933-8C6A6EE6D6B4}"/>
              </a:ext>
            </a:extLst>
          </p:cNvPr>
          <p:cNvSpPr txBox="1"/>
          <p:nvPr/>
        </p:nvSpPr>
        <p:spPr>
          <a:xfrm>
            <a:off x="8400064" y="939013"/>
            <a:ext cx="12218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old_i-1</a:t>
            </a:r>
            <a:endParaRPr lang="zh-TW" altLang="en-US" sz="28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37689D1-C359-4FDF-90C4-37EB76D7E706}"/>
              </a:ext>
            </a:extLst>
          </p:cNvPr>
          <p:cNvSpPr txBox="1"/>
          <p:nvPr/>
        </p:nvSpPr>
        <p:spPr>
          <a:xfrm>
            <a:off x="9151127" y="1670195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old_i</a:t>
            </a:r>
            <a:endParaRPr lang="zh-TW" altLang="en-US" sz="28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0A83EFA1-35DA-413D-A36D-E51A5D4A02A5}"/>
              </a:ext>
            </a:extLst>
          </p:cNvPr>
          <p:cNvSpPr txBox="1"/>
          <p:nvPr/>
        </p:nvSpPr>
        <p:spPr>
          <a:xfrm>
            <a:off x="9851278" y="2496693"/>
            <a:ext cx="1303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old_i+1</a:t>
            </a:r>
            <a:endParaRPr lang="zh-TW" altLang="en-US" sz="28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52456C84-048A-40FE-AFF7-5AE5197DC716}"/>
              </a:ext>
            </a:extLst>
          </p:cNvPr>
          <p:cNvSpPr/>
          <p:nvPr/>
        </p:nvSpPr>
        <p:spPr>
          <a:xfrm>
            <a:off x="4656012" y="5027979"/>
            <a:ext cx="288120" cy="27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7200C0CD-9532-409A-A798-9E8F297BB28F}"/>
              </a:ext>
            </a:extLst>
          </p:cNvPr>
          <p:cNvSpPr/>
          <p:nvPr/>
        </p:nvSpPr>
        <p:spPr>
          <a:xfrm>
            <a:off x="5110327" y="4774278"/>
            <a:ext cx="288120" cy="27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5224FF18-DF45-4686-A13A-4E1FC73F25CC}"/>
              </a:ext>
            </a:extLst>
          </p:cNvPr>
          <p:cNvSpPr/>
          <p:nvPr/>
        </p:nvSpPr>
        <p:spPr>
          <a:xfrm>
            <a:off x="7012965" y="2492349"/>
            <a:ext cx="288120" cy="27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B167E11D-61F5-42A3-AF99-BDA458820860}"/>
              </a:ext>
            </a:extLst>
          </p:cNvPr>
          <p:cNvSpPr/>
          <p:nvPr/>
        </p:nvSpPr>
        <p:spPr>
          <a:xfrm>
            <a:off x="7422842" y="2201833"/>
            <a:ext cx="288120" cy="27292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83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63DC4D5-73BF-436C-97DF-39D6D1C2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75" y="377297"/>
            <a:ext cx="9371605" cy="601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AEB9527-D847-428D-AB32-B15E411C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54" y="1704165"/>
            <a:ext cx="11572292" cy="36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9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408F5D6-9E25-45EA-B23A-5FCB8873D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72561"/>
              </p:ext>
            </p:extLst>
          </p:nvPr>
        </p:nvGraphicFramePr>
        <p:xfrm>
          <a:off x="1996441" y="1858432"/>
          <a:ext cx="8199117" cy="314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013">
                  <a:extLst>
                    <a:ext uri="{9D8B030D-6E8A-4147-A177-3AD203B41FA5}">
                      <a16:colId xmlns:a16="http://schemas.microsoft.com/office/drawing/2014/main" val="243330437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2513935398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1246211630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4097769729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3489786743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14316117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3241773153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952262137"/>
                    </a:ext>
                  </a:extLst>
                </a:gridCol>
                <a:gridCol w="911013">
                  <a:extLst>
                    <a:ext uri="{9D8B030D-6E8A-4147-A177-3AD203B41FA5}">
                      <a16:colId xmlns:a16="http://schemas.microsoft.com/office/drawing/2014/main" val="2253476898"/>
                    </a:ext>
                  </a:extLst>
                </a:gridCol>
              </a:tblGrid>
              <a:tr h="628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732456"/>
                  </a:ext>
                </a:extLst>
              </a:tr>
              <a:tr h="628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45260"/>
                  </a:ext>
                </a:extLst>
              </a:tr>
              <a:tr h="628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308402"/>
                  </a:ext>
                </a:extLst>
              </a:tr>
              <a:tr h="628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328168"/>
                  </a:ext>
                </a:extLst>
              </a:tr>
              <a:tr h="62822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67170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D90C7F49-DB65-4D49-85A5-1B1AD1C2E209}"/>
              </a:ext>
            </a:extLst>
          </p:cNvPr>
          <p:cNvSpPr txBox="1"/>
          <p:nvPr/>
        </p:nvSpPr>
        <p:spPr>
          <a:xfrm>
            <a:off x="1310640" y="256032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71DEA1-4223-470E-85AC-AA32123F5DAA}"/>
              </a:ext>
            </a:extLst>
          </p:cNvPr>
          <p:cNvSpPr txBox="1"/>
          <p:nvPr/>
        </p:nvSpPr>
        <p:spPr>
          <a:xfrm>
            <a:off x="1310640" y="441960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F608BF0-DC68-4EC1-8B44-E076C802D984}"/>
              </a:ext>
            </a:extLst>
          </p:cNvPr>
          <p:cNvSpPr txBox="1"/>
          <p:nvPr/>
        </p:nvSpPr>
        <p:spPr>
          <a:xfrm>
            <a:off x="1310640" y="319816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EDEFB52-4F6E-4D59-99DB-7E639ED4F400}"/>
              </a:ext>
            </a:extLst>
          </p:cNvPr>
          <p:cNvSpPr txBox="1"/>
          <p:nvPr/>
        </p:nvSpPr>
        <p:spPr>
          <a:xfrm>
            <a:off x="1310640" y="38100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AF75C19-FDD0-4D3F-A374-D856E646E11F}"/>
              </a:ext>
            </a:extLst>
          </p:cNvPr>
          <p:cNvSpPr txBox="1"/>
          <p:nvPr/>
        </p:nvSpPr>
        <p:spPr>
          <a:xfrm>
            <a:off x="3200400" y="1320799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10D17BB-5B04-4A3D-B2A7-D87A4A121428}"/>
              </a:ext>
            </a:extLst>
          </p:cNvPr>
          <p:cNvSpPr txBox="1"/>
          <p:nvPr/>
        </p:nvSpPr>
        <p:spPr>
          <a:xfrm>
            <a:off x="4084320" y="1320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1A72A4E-0D4E-4B7C-AD5A-DA17835705E2}"/>
              </a:ext>
            </a:extLst>
          </p:cNvPr>
          <p:cNvSpPr txBox="1"/>
          <p:nvPr/>
        </p:nvSpPr>
        <p:spPr>
          <a:xfrm>
            <a:off x="4968240" y="132079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0606C92-EAC7-41F5-8601-389C7B6D403B}"/>
              </a:ext>
            </a:extLst>
          </p:cNvPr>
          <p:cNvSpPr txBox="1"/>
          <p:nvPr/>
        </p:nvSpPr>
        <p:spPr>
          <a:xfrm>
            <a:off x="5836920" y="132079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E2D8FDE-4173-4524-96E6-3D512BDFC1BD}"/>
              </a:ext>
            </a:extLst>
          </p:cNvPr>
          <p:cNvSpPr txBox="1"/>
          <p:nvPr/>
        </p:nvSpPr>
        <p:spPr>
          <a:xfrm>
            <a:off x="6720840" y="1320797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ACB553-04AF-41BF-917B-DDDDD73C8F1D}"/>
              </a:ext>
            </a:extLst>
          </p:cNvPr>
          <p:cNvSpPr txBox="1"/>
          <p:nvPr/>
        </p:nvSpPr>
        <p:spPr>
          <a:xfrm>
            <a:off x="7700198" y="132079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C04F788-9DE0-4CB4-9E4F-3CE6FE9B1F80}"/>
              </a:ext>
            </a:extLst>
          </p:cNvPr>
          <p:cNvSpPr txBox="1"/>
          <p:nvPr/>
        </p:nvSpPr>
        <p:spPr>
          <a:xfrm>
            <a:off x="8584118" y="1320796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44B1523-98C9-4CAF-8A49-C49F0C39ECA1}"/>
              </a:ext>
            </a:extLst>
          </p:cNvPr>
          <p:cNvSpPr txBox="1"/>
          <p:nvPr/>
        </p:nvSpPr>
        <p:spPr>
          <a:xfrm>
            <a:off x="9452798" y="132079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622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F96AB97-DCB6-4760-8ECD-BD3A8E69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240" y="805772"/>
            <a:ext cx="5886141" cy="495794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D8E7744-35C9-4AC0-AB73-352211DF7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437" y="1656080"/>
            <a:ext cx="6599563" cy="376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4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918</Words>
  <Application>Microsoft Office PowerPoint</Application>
  <PresentationFormat>寬螢幕</PresentationFormat>
  <Paragraphs>593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SimHei</vt:lpstr>
      <vt:lpstr>Arial</vt:lpstr>
      <vt:lpstr>Calibri</vt:lpstr>
      <vt:lpstr>Calibri Light</vt:lpstr>
      <vt:lpstr>Cambria Math</vt:lpstr>
      <vt:lpstr>Times New Roman</vt:lpstr>
      <vt:lpstr>Office 佈景主題</vt:lpstr>
      <vt:lpstr>Incremental String Comparison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Incremental String Comparison</dc:title>
  <dc:creator>M083040080</dc:creator>
  <cp:lastModifiedBy>M083040080</cp:lastModifiedBy>
  <cp:revision>19</cp:revision>
  <dcterms:created xsi:type="dcterms:W3CDTF">2020-05-27T06:32:40Z</dcterms:created>
  <dcterms:modified xsi:type="dcterms:W3CDTF">2020-05-27T09:57:19Z</dcterms:modified>
</cp:coreProperties>
</file>