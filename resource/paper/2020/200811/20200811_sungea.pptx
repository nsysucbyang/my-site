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7" r:id="rId2"/>
    <p:sldId id="259" r:id="rId3"/>
    <p:sldId id="258" r:id="rId4"/>
    <p:sldId id="263" r:id="rId5"/>
    <p:sldId id="261" r:id="rId6"/>
    <p:sldId id="264" r:id="rId7"/>
    <p:sldId id="265" r:id="rId8"/>
    <p:sldId id="266" r:id="rId9"/>
    <p:sldId id="267" r:id="rId10"/>
    <p:sldId id="268" r:id="rId11"/>
    <p:sldId id="269" r:id="rId12"/>
    <p:sldId id="270" r:id="rId13"/>
    <p:sldId id="271" r:id="rId14"/>
    <p:sldId id="272" r:id="rId15"/>
    <p:sldId id="291" r:id="rId16"/>
    <p:sldId id="273" r:id="rId17"/>
    <p:sldId id="274" r:id="rId18"/>
    <p:sldId id="290" r:id="rId19"/>
    <p:sldId id="275" r:id="rId20"/>
    <p:sldId id="279" r:id="rId21"/>
    <p:sldId id="278" r:id="rId22"/>
    <p:sldId id="280" r:id="rId23"/>
    <p:sldId id="281" r:id="rId24"/>
    <p:sldId id="276" r:id="rId25"/>
    <p:sldId id="282" r:id="rId26"/>
    <p:sldId id="283" r:id="rId27"/>
    <p:sldId id="284" r:id="rId28"/>
    <p:sldId id="285" r:id="rId29"/>
    <p:sldId id="296" r:id="rId30"/>
    <p:sldId id="286" r:id="rId31"/>
    <p:sldId id="287" r:id="rId32"/>
    <p:sldId id="292" r:id="rId33"/>
    <p:sldId id="293" r:id="rId34"/>
    <p:sldId id="295" r:id="rId35"/>
    <p:sldId id="294" r:id="rId36"/>
    <p:sldId id="288" r:id="rId37"/>
    <p:sldId id="289" r:id="rId38"/>
  </p:sldIdLst>
  <p:sldSz cx="12192000" cy="6858000"/>
  <p:notesSz cx="6858000" cy="9144000"/>
  <p:defaultTex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179" autoAdjust="0"/>
    <p:restoredTop sz="94660"/>
  </p:normalViewPr>
  <p:slideViewPr>
    <p:cSldViewPr snapToGrid="0">
      <p:cViewPr varScale="1">
        <p:scale>
          <a:sx n="72" d="100"/>
          <a:sy n="72" d="100"/>
        </p:scale>
        <p:origin x="612" y="6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presProps" Target="presProps.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1524000" y="1122363"/>
            <a:ext cx="9144000" cy="2387600"/>
          </a:xfrm>
        </p:spPr>
        <p:txBody>
          <a:bodyPr anchor="b"/>
          <a:lstStyle>
            <a:lvl1pPr algn="ctr">
              <a:defRPr sz="6000"/>
            </a:lvl1pPr>
          </a:lstStyle>
          <a:p>
            <a:r>
              <a:rPr lang="zh-TW" altLang="en-US"/>
              <a:t>按一下以編輯母片標題樣式</a:t>
            </a:r>
          </a:p>
        </p:txBody>
      </p:sp>
      <p:sp>
        <p:nvSpPr>
          <p:cNvPr id="3" name="副標題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TW" altLang="en-US"/>
              <a:t>按一下以編輯母片副標題樣式</a:t>
            </a:r>
          </a:p>
        </p:txBody>
      </p:sp>
      <p:sp>
        <p:nvSpPr>
          <p:cNvPr id="4" name="日期版面配置區 3"/>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5" name="頁尾版面配置區 4"/>
          <p:cNvSpPr>
            <a:spLocks noGrp="1"/>
          </p:cNvSpPr>
          <p:nvPr>
            <p:ph type="ftr" sz="quarter" idx="11"/>
          </p:nvPr>
        </p:nvSpPr>
        <p:spPr/>
        <p:txBody>
          <a:bodyPr/>
          <a:lstStyle/>
          <a:p>
            <a:endParaRPr lang="zh-TW" altLang="en-US"/>
          </a:p>
        </p:txBody>
      </p:sp>
      <p:sp>
        <p:nvSpPr>
          <p:cNvPr id="6" name="投影片編號版面配置區 5"/>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305195904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5" name="頁尾版面配置區 4"/>
          <p:cNvSpPr>
            <a:spLocks noGrp="1"/>
          </p:cNvSpPr>
          <p:nvPr>
            <p:ph type="ftr" sz="quarter" idx="11"/>
          </p:nvPr>
        </p:nvSpPr>
        <p:spPr/>
        <p:txBody>
          <a:bodyPr/>
          <a:lstStyle/>
          <a:p>
            <a:endParaRPr lang="zh-TW" altLang="en-US"/>
          </a:p>
        </p:txBody>
      </p:sp>
      <p:sp>
        <p:nvSpPr>
          <p:cNvPr id="6" name="投影片編號版面配置區 5"/>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401649122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標題 1"/>
          <p:cNvSpPr>
            <a:spLocks noGrp="1"/>
          </p:cNvSpPr>
          <p:nvPr>
            <p:ph type="title"/>
          </p:nvPr>
        </p:nvSpPr>
        <p:spPr>
          <a:xfrm>
            <a:off x="831850" y="1709738"/>
            <a:ext cx="10515600" cy="2852737"/>
          </a:xfrm>
        </p:spPr>
        <p:txBody>
          <a:bodyPr anchor="b"/>
          <a:lstStyle>
            <a:lvl1pPr>
              <a:defRPr sz="6000"/>
            </a:lvl1pPr>
          </a:lstStyle>
          <a:p>
            <a:r>
              <a:rPr lang="zh-TW" altLang="en-US"/>
              <a:t>按一下以編輯母片標題樣式</a:t>
            </a:r>
          </a:p>
        </p:txBody>
      </p:sp>
      <p:sp>
        <p:nvSpPr>
          <p:cNvPr id="3" name="文字版面配置區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5" name="頁尾版面配置區 4"/>
          <p:cNvSpPr>
            <a:spLocks noGrp="1"/>
          </p:cNvSpPr>
          <p:nvPr>
            <p:ph type="ftr" sz="quarter" idx="11"/>
          </p:nvPr>
        </p:nvSpPr>
        <p:spPr/>
        <p:txBody>
          <a:bodyPr/>
          <a:lstStyle/>
          <a:p>
            <a:endParaRPr lang="zh-TW" altLang="en-US"/>
          </a:p>
        </p:txBody>
      </p:sp>
      <p:sp>
        <p:nvSpPr>
          <p:cNvPr id="6" name="投影片編號版面配置區 5"/>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357185896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838200" y="1825625"/>
            <a:ext cx="5181600" cy="435133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6172200" y="1825625"/>
            <a:ext cx="5181600" cy="435133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4"/>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6" name="頁尾版面配置區 5"/>
          <p:cNvSpPr>
            <a:spLocks noGrp="1"/>
          </p:cNvSpPr>
          <p:nvPr>
            <p:ph type="ftr" sz="quarter" idx="11"/>
          </p:nvPr>
        </p:nvSpPr>
        <p:spPr/>
        <p:txBody>
          <a:bodyPr/>
          <a:lstStyle/>
          <a:p>
            <a:endParaRPr lang="zh-TW" altLang="en-US"/>
          </a:p>
        </p:txBody>
      </p:sp>
      <p:sp>
        <p:nvSpPr>
          <p:cNvPr id="7" name="投影片編號版面配置區 6"/>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368266313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a:xfrm>
            <a:off x="839788" y="365125"/>
            <a:ext cx="10515600" cy="1325563"/>
          </a:xfrm>
        </p:spPr>
        <p:txBody>
          <a:bodyPr/>
          <a:lstStyle/>
          <a:p>
            <a:r>
              <a:rPr lang="zh-TW" altLang="en-US"/>
              <a:t>按一下以編輯母片標題樣式</a:t>
            </a:r>
          </a:p>
        </p:txBody>
      </p:sp>
      <p:sp>
        <p:nvSpPr>
          <p:cNvPr id="3" name="文字版面配置區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839788" y="2505075"/>
            <a:ext cx="5157787" cy="368458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6172200" y="2505075"/>
            <a:ext cx="5183188" cy="368458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6"/>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8" name="頁尾版面配置區 7"/>
          <p:cNvSpPr>
            <a:spLocks noGrp="1"/>
          </p:cNvSpPr>
          <p:nvPr>
            <p:ph type="ftr" sz="quarter" idx="11"/>
          </p:nvPr>
        </p:nvSpPr>
        <p:spPr/>
        <p:txBody>
          <a:bodyPr/>
          <a:lstStyle/>
          <a:p>
            <a:endParaRPr lang="zh-TW" altLang="en-US"/>
          </a:p>
        </p:txBody>
      </p:sp>
      <p:sp>
        <p:nvSpPr>
          <p:cNvPr id="9" name="投影片編號版面配置區 8"/>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39016222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2"/>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4" name="頁尾版面配置區 3"/>
          <p:cNvSpPr>
            <a:spLocks noGrp="1"/>
          </p:cNvSpPr>
          <p:nvPr>
            <p:ph type="ftr" sz="quarter" idx="11"/>
          </p:nvPr>
        </p:nvSpPr>
        <p:spPr/>
        <p:txBody>
          <a:bodyPr/>
          <a:lstStyle/>
          <a:p>
            <a:endParaRPr lang="zh-TW" altLang="en-US"/>
          </a:p>
        </p:txBody>
      </p:sp>
      <p:sp>
        <p:nvSpPr>
          <p:cNvPr id="5" name="投影片編號版面配置區 4"/>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375019968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1"/>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3" name="頁尾版面配置區 2"/>
          <p:cNvSpPr>
            <a:spLocks noGrp="1"/>
          </p:cNvSpPr>
          <p:nvPr>
            <p:ph type="ftr" sz="quarter" idx="11"/>
          </p:nvPr>
        </p:nvSpPr>
        <p:spPr/>
        <p:txBody>
          <a:bodyPr/>
          <a:lstStyle/>
          <a:p>
            <a:endParaRPr lang="zh-TW" altLang="en-US"/>
          </a:p>
        </p:txBody>
      </p:sp>
      <p:sp>
        <p:nvSpPr>
          <p:cNvPr id="4" name="投影片編號版面配置區 3"/>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8903968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839788" y="457200"/>
            <a:ext cx="3932237" cy="1600200"/>
          </a:xfrm>
        </p:spPr>
        <p:txBody>
          <a:bodyPr anchor="b"/>
          <a:lstStyle>
            <a:lvl1pPr>
              <a:defRPr sz="3200"/>
            </a:lvl1pPr>
          </a:lstStyle>
          <a:p>
            <a:r>
              <a:rPr lang="zh-TW" altLang="en-US"/>
              <a:t>按一下以編輯母片標題樣式</a:t>
            </a:r>
          </a:p>
        </p:txBody>
      </p:sp>
      <p:sp>
        <p:nvSpPr>
          <p:cNvPr id="3" name="內容版面配置區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TW" altLang="en-US"/>
              <a:t>按一下以編輯母片文字樣式</a:t>
            </a:r>
          </a:p>
        </p:txBody>
      </p:sp>
      <p:sp>
        <p:nvSpPr>
          <p:cNvPr id="5" name="日期版面配置區 4"/>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6" name="頁尾版面配置區 5"/>
          <p:cNvSpPr>
            <a:spLocks noGrp="1"/>
          </p:cNvSpPr>
          <p:nvPr>
            <p:ph type="ftr" sz="quarter" idx="11"/>
          </p:nvPr>
        </p:nvSpPr>
        <p:spPr/>
        <p:txBody>
          <a:bodyPr/>
          <a:lstStyle/>
          <a:p>
            <a:endParaRPr lang="zh-TW" altLang="en-US"/>
          </a:p>
        </p:txBody>
      </p:sp>
      <p:sp>
        <p:nvSpPr>
          <p:cNvPr id="7" name="投影片編號版面配置區 6"/>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189984927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839788" y="457200"/>
            <a:ext cx="3932237" cy="1600200"/>
          </a:xfrm>
        </p:spPr>
        <p:txBody>
          <a:bodyPr anchor="b"/>
          <a:lstStyle>
            <a:lvl1pPr>
              <a:defRPr sz="3200"/>
            </a:lvl1pPr>
          </a:lstStyle>
          <a:p>
            <a:r>
              <a:rPr lang="zh-TW" altLang="en-US"/>
              <a:t>按一下以編輯母片標題樣式</a:t>
            </a:r>
          </a:p>
        </p:txBody>
      </p:sp>
      <p:sp>
        <p:nvSpPr>
          <p:cNvPr id="3" name="圖片版面配置區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TW" altLang="en-US"/>
          </a:p>
        </p:txBody>
      </p:sp>
      <p:sp>
        <p:nvSpPr>
          <p:cNvPr id="4" name="文字版面配置區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TW" altLang="en-US"/>
              <a:t>按一下以編輯母片文字樣式</a:t>
            </a:r>
          </a:p>
        </p:txBody>
      </p:sp>
      <p:sp>
        <p:nvSpPr>
          <p:cNvPr id="5" name="日期版面配置區 4"/>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6" name="頁尾版面配置區 5"/>
          <p:cNvSpPr>
            <a:spLocks noGrp="1"/>
          </p:cNvSpPr>
          <p:nvPr>
            <p:ph type="ftr" sz="quarter" idx="11"/>
          </p:nvPr>
        </p:nvSpPr>
        <p:spPr/>
        <p:txBody>
          <a:bodyPr/>
          <a:lstStyle/>
          <a:p>
            <a:endParaRPr lang="zh-TW" altLang="en-US"/>
          </a:p>
        </p:txBody>
      </p:sp>
      <p:sp>
        <p:nvSpPr>
          <p:cNvPr id="7" name="投影片編號版面配置區 6"/>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53187426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5" name="頁尾版面配置區 4"/>
          <p:cNvSpPr>
            <a:spLocks noGrp="1"/>
          </p:cNvSpPr>
          <p:nvPr>
            <p:ph type="ftr" sz="quarter" idx="11"/>
          </p:nvPr>
        </p:nvSpPr>
        <p:spPr/>
        <p:txBody>
          <a:bodyPr/>
          <a:lstStyle/>
          <a:p>
            <a:endParaRPr lang="zh-TW" altLang="en-US"/>
          </a:p>
        </p:txBody>
      </p:sp>
      <p:sp>
        <p:nvSpPr>
          <p:cNvPr id="6" name="投影片編號版面配置區 5"/>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96266963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8724900" y="365125"/>
            <a:ext cx="2628900" cy="5811838"/>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838200" y="365125"/>
            <a:ext cx="7734300" cy="5811838"/>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p>
            <a:fld id="{B3CAAD76-667E-40A4-A6DE-F275BA3DD312}" type="datetimeFigureOut">
              <a:rPr lang="zh-TW" altLang="en-US" smtClean="0"/>
              <a:t>2020/8/11</a:t>
            </a:fld>
            <a:endParaRPr lang="zh-TW" altLang="en-US"/>
          </a:p>
        </p:txBody>
      </p:sp>
      <p:sp>
        <p:nvSpPr>
          <p:cNvPr id="5" name="頁尾版面配置區 4"/>
          <p:cNvSpPr>
            <a:spLocks noGrp="1"/>
          </p:cNvSpPr>
          <p:nvPr>
            <p:ph type="ftr" sz="quarter" idx="11"/>
          </p:nvPr>
        </p:nvSpPr>
        <p:spPr/>
        <p:txBody>
          <a:bodyPr/>
          <a:lstStyle/>
          <a:p>
            <a:endParaRPr lang="zh-TW" altLang="en-US"/>
          </a:p>
        </p:txBody>
      </p:sp>
      <p:sp>
        <p:nvSpPr>
          <p:cNvPr id="6" name="投影片編號版面配置區 5"/>
          <p:cNvSpPr>
            <a:spLocks noGrp="1"/>
          </p:cNvSpPr>
          <p:nvPr>
            <p:ph type="sldNum" sz="quarter" idx="12"/>
          </p:nvPr>
        </p:nvSpPr>
        <p:spPr/>
        <p:txBody>
          <a:body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187943477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標題版面配置區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TW" altLang="en-US"/>
              <a:t>按一下以編輯母片標題樣式</a:t>
            </a:r>
          </a:p>
        </p:txBody>
      </p:sp>
      <p:sp>
        <p:nvSpPr>
          <p:cNvPr id="3" name="文字版面配置區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3CAAD76-667E-40A4-A6DE-F275BA3DD312}" type="datetimeFigureOut">
              <a:rPr lang="zh-TW" altLang="en-US" smtClean="0"/>
              <a:t>2020/8/11</a:t>
            </a:fld>
            <a:endParaRPr lang="zh-TW" altLang="en-US"/>
          </a:p>
        </p:txBody>
      </p:sp>
      <p:sp>
        <p:nvSpPr>
          <p:cNvPr id="5" name="頁尾版面配置區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TW" altLang="en-US"/>
          </a:p>
        </p:txBody>
      </p:sp>
      <p:sp>
        <p:nvSpPr>
          <p:cNvPr id="6" name="投影片編號版面配置區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8A5CD7D-F806-49F0-B5FF-6904609CF9CA}" type="slidenum">
              <a:rPr lang="zh-TW" altLang="en-US" smtClean="0"/>
              <a:t>‹#›</a:t>
            </a:fld>
            <a:endParaRPr lang="zh-TW" altLang="en-US"/>
          </a:p>
        </p:txBody>
      </p:sp>
    </p:spTree>
    <p:extLst>
      <p:ext uri="{BB962C8B-B14F-4D97-AF65-F5344CB8AC3E}">
        <p14:creationId xmlns:p14="http://schemas.microsoft.com/office/powerpoint/2010/main" val="171478323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a:extLst>
              <a:ext uri="{FF2B5EF4-FFF2-40B4-BE49-F238E27FC236}">
                <a16:creationId xmlns:a16="http://schemas.microsoft.com/office/drawing/2014/main" id="{1A472BAA-CA07-4687-AE59-FE0F36C805FD}"/>
              </a:ext>
            </a:extLst>
          </p:cNvPr>
          <p:cNvSpPr>
            <a:spLocks noGrp="1"/>
          </p:cNvSpPr>
          <p:nvPr>
            <p:ph type="ctrTitle"/>
          </p:nvPr>
        </p:nvSpPr>
        <p:spPr>
          <a:xfrm>
            <a:off x="1524000" y="1351005"/>
            <a:ext cx="9144000" cy="1747066"/>
          </a:xfrm>
        </p:spPr>
        <p:txBody>
          <a:bodyPr>
            <a:noAutofit/>
          </a:bodyPr>
          <a:lstStyle/>
          <a:p>
            <a:r>
              <a:rPr lang="en-US" altLang="zh-TW" sz="4000" dirty="0">
                <a:latin typeface="Times New Roman" panose="02020603050405020304" pitchFamily="18" charset="0"/>
                <a:cs typeface="Times New Roman" panose="02020603050405020304" pitchFamily="18" charset="0"/>
              </a:rPr>
              <a:t>Fast algorithms for computing the constrained LCS of run-length encoded strings</a:t>
            </a:r>
            <a:endParaRPr lang="zh-TW" altLang="en-US" sz="4000" dirty="0">
              <a:latin typeface="Times New Roman" panose="02020603050405020304" pitchFamily="18" charset="0"/>
              <a:cs typeface="Times New Roman" panose="02020603050405020304" pitchFamily="18" charset="0"/>
            </a:endParaRPr>
          </a:p>
        </p:txBody>
      </p:sp>
      <p:sp>
        <p:nvSpPr>
          <p:cNvPr id="3" name="副標題 2">
            <a:extLst>
              <a:ext uri="{FF2B5EF4-FFF2-40B4-BE49-F238E27FC236}">
                <a16:creationId xmlns:a16="http://schemas.microsoft.com/office/drawing/2014/main" id="{6163030F-63C3-429B-B824-6E77F3DE2B92}"/>
              </a:ext>
            </a:extLst>
          </p:cNvPr>
          <p:cNvSpPr>
            <a:spLocks noGrp="1"/>
          </p:cNvSpPr>
          <p:nvPr>
            <p:ph type="subTitle" idx="1"/>
          </p:nvPr>
        </p:nvSpPr>
        <p:spPr/>
        <p:txBody>
          <a:bodyPr>
            <a:normAutofit/>
          </a:bodyPr>
          <a:lstStyle/>
          <a:p>
            <a:r>
              <a:rPr lang="en-US" altLang="zh-TW" dirty="0" err="1">
                <a:latin typeface="Times New Roman" panose="02020603050405020304" pitchFamily="18" charset="0"/>
                <a:cs typeface="Times New Roman" panose="02020603050405020304" pitchFamily="18" charset="0"/>
              </a:rPr>
              <a:t>Hsing</a:t>
            </a:r>
            <a:r>
              <a:rPr lang="en-US" altLang="zh-TW" dirty="0">
                <a:latin typeface="Times New Roman" panose="02020603050405020304" pitchFamily="18" charset="0"/>
                <a:cs typeface="Times New Roman" panose="02020603050405020304" pitchFamily="18" charset="0"/>
              </a:rPr>
              <a:t>-Yen Ann, Chang-</a:t>
            </a:r>
            <a:r>
              <a:rPr lang="en-US" altLang="zh-TW" dirty="0" err="1">
                <a:latin typeface="Times New Roman" panose="02020603050405020304" pitchFamily="18" charset="0"/>
                <a:cs typeface="Times New Roman" panose="02020603050405020304" pitchFamily="18" charset="0"/>
              </a:rPr>
              <a:t>Biau</a:t>
            </a:r>
            <a:r>
              <a:rPr lang="en-US" altLang="zh-TW" dirty="0">
                <a:latin typeface="Times New Roman" panose="02020603050405020304" pitchFamily="18" charset="0"/>
                <a:cs typeface="Times New Roman" panose="02020603050405020304" pitchFamily="18" charset="0"/>
              </a:rPr>
              <a:t> Yang , </a:t>
            </a:r>
            <a:r>
              <a:rPr lang="en-US" altLang="zh-TW" dirty="0" err="1">
                <a:latin typeface="Times New Roman" panose="02020603050405020304" pitchFamily="18" charset="0"/>
                <a:cs typeface="Times New Roman" panose="02020603050405020304" pitchFamily="18" charset="0"/>
              </a:rPr>
              <a:t>Chiou</a:t>
            </a:r>
            <a:r>
              <a:rPr lang="en-US" altLang="zh-TW" dirty="0">
                <a:latin typeface="Times New Roman" panose="02020603050405020304" pitchFamily="18" charset="0"/>
                <a:cs typeface="Times New Roman" panose="02020603050405020304" pitchFamily="18" charset="0"/>
              </a:rPr>
              <a:t>-Ting Tseng, </a:t>
            </a:r>
            <a:r>
              <a:rPr lang="en-US" altLang="zh-TW" dirty="0" err="1">
                <a:latin typeface="Times New Roman" panose="02020603050405020304" pitchFamily="18" charset="0"/>
                <a:cs typeface="Times New Roman" panose="02020603050405020304" pitchFamily="18" charset="0"/>
              </a:rPr>
              <a:t>Chiou</a:t>
            </a:r>
            <a:r>
              <a:rPr lang="en-US" altLang="zh-TW" dirty="0">
                <a:latin typeface="Times New Roman" panose="02020603050405020304" pitchFamily="18" charset="0"/>
                <a:cs typeface="Times New Roman" panose="02020603050405020304" pitchFamily="18" charset="0"/>
              </a:rPr>
              <a:t>-Yi </a:t>
            </a:r>
            <a:r>
              <a:rPr lang="en-US" altLang="zh-TW" dirty="0" err="1">
                <a:latin typeface="Times New Roman" panose="02020603050405020304" pitchFamily="18" charset="0"/>
                <a:cs typeface="Times New Roman" panose="02020603050405020304" pitchFamily="18" charset="0"/>
              </a:rPr>
              <a:t>Hor</a:t>
            </a:r>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Theoretical Computer Science 432 (2012) 1-9</a:t>
            </a:r>
          </a:p>
        </p:txBody>
      </p:sp>
      <p:sp>
        <p:nvSpPr>
          <p:cNvPr id="4" name="矩形 1"/>
          <p:cNvSpPr>
            <a:spLocks noChangeArrowheads="1"/>
          </p:cNvSpPr>
          <p:nvPr/>
        </p:nvSpPr>
        <p:spPr bwMode="auto">
          <a:xfrm>
            <a:off x="8475681" y="5876925"/>
            <a:ext cx="2646363" cy="59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Arial" panose="020B0604020202020204" pitchFamily="34" charset="0"/>
                <a:ea typeface="新細明體" panose="02020500000000000000" pitchFamily="18" charset="-120"/>
              </a:defRPr>
            </a:lvl1pPr>
            <a:lvl2pPr marL="742950" indent="-285750">
              <a:spcBef>
                <a:spcPct val="20000"/>
              </a:spcBef>
              <a:buChar char="–"/>
              <a:defRPr kumimoji="1" sz="2800">
                <a:solidFill>
                  <a:schemeClr val="tx1"/>
                </a:solidFill>
                <a:latin typeface="Arial" panose="020B0604020202020204" pitchFamily="34" charset="0"/>
                <a:ea typeface="新細明體" panose="02020500000000000000" pitchFamily="18" charset="-120"/>
              </a:defRPr>
            </a:lvl2pPr>
            <a:lvl3pPr marL="1143000" indent="-228600">
              <a:spcBef>
                <a:spcPct val="20000"/>
              </a:spcBef>
              <a:buChar char="•"/>
              <a:defRPr kumimoji="1" sz="2400">
                <a:solidFill>
                  <a:schemeClr val="tx1"/>
                </a:solidFill>
                <a:latin typeface="Arial" panose="020B0604020202020204" pitchFamily="34" charset="0"/>
                <a:ea typeface="新細明體" panose="02020500000000000000" pitchFamily="18" charset="-120"/>
              </a:defRPr>
            </a:lvl3pPr>
            <a:lvl4pPr marL="1600200" indent="-228600">
              <a:spcBef>
                <a:spcPct val="20000"/>
              </a:spcBef>
              <a:buChar char="–"/>
              <a:defRPr kumimoji="1" sz="2000">
                <a:solidFill>
                  <a:schemeClr val="tx1"/>
                </a:solidFill>
                <a:latin typeface="Arial" panose="020B0604020202020204" pitchFamily="34" charset="0"/>
                <a:ea typeface="新細明體" panose="02020500000000000000" pitchFamily="18" charset="-120"/>
              </a:defRPr>
            </a:lvl4pPr>
            <a:lvl5pPr marL="2057400" indent="-228600">
              <a:spcBef>
                <a:spcPct val="20000"/>
              </a:spcBef>
              <a:buChar char="»"/>
              <a:defRPr kumimoji="1" sz="2000">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新細明體" panose="02020500000000000000" pitchFamily="18" charset="-120"/>
              </a:defRPr>
            </a:lvl9pPr>
          </a:lstStyle>
          <a:p>
            <a:pPr eaLnBrk="1" hangingPunct="1">
              <a:lnSpc>
                <a:spcPct val="90000"/>
              </a:lnSpc>
              <a:spcBef>
                <a:spcPct val="0"/>
              </a:spcBef>
              <a:buFontTx/>
              <a:buNone/>
            </a:pPr>
            <a:r>
              <a:rPr lang="en-US" altLang="zh-TW" sz="1800" dirty="0">
                <a:latin typeface="Times New Roman" panose="02020603050405020304" pitchFamily="18" charset="0"/>
                <a:cs typeface="Times New Roman" panose="02020603050405020304" pitchFamily="18" charset="0"/>
              </a:rPr>
              <a:t>Presenter: </a:t>
            </a:r>
            <a:r>
              <a:rPr lang="en-US" altLang="zh-TW" sz="1800" dirty="0" err="1">
                <a:latin typeface="Times New Roman" panose="02020603050405020304" pitchFamily="18" charset="0"/>
                <a:cs typeface="Times New Roman" panose="02020603050405020304" pitchFamily="18" charset="0"/>
              </a:rPr>
              <a:t>en</a:t>
            </a:r>
            <a:r>
              <a:rPr lang="en-US" altLang="zh-TW" sz="1800" dirty="0">
                <a:latin typeface="Times New Roman" panose="02020603050405020304" pitchFamily="18" charset="0"/>
                <a:cs typeface="Times New Roman" panose="02020603050405020304" pitchFamily="18" charset="0"/>
              </a:rPr>
              <a:t>-an Song</a:t>
            </a:r>
          </a:p>
          <a:p>
            <a:pPr eaLnBrk="1" hangingPunct="1">
              <a:lnSpc>
                <a:spcPct val="90000"/>
              </a:lnSpc>
              <a:spcBef>
                <a:spcPct val="0"/>
              </a:spcBef>
              <a:buFontTx/>
              <a:buNone/>
            </a:pPr>
            <a:r>
              <a:rPr lang="en-US" altLang="zh-TW" sz="1800" dirty="0">
                <a:latin typeface="Times New Roman" panose="02020603050405020304" pitchFamily="18" charset="0"/>
                <a:cs typeface="Times New Roman" panose="02020603050405020304" pitchFamily="18" charset="0"/>
              </a:rPr>
              <a:t>Date: Aug, 11, 2020</a:t>
            </a:r>
          </a:p>
        </p:txBody>
      </p:sp>
    </p:spTree>
    <p:extLst>
      <p:ext uri="{BB962C8B-B14F-4D97-AF65-F5344CB8AC3E}">
        <p14:creationId xmlns:p14="http://schemas.microsoft.com/office/powerpoint/2010/main" val="141194085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pt-BR" altLang="zh-TW" dirty="0">
                <a:latin typeface="Times New Roman" panose="02020603050405020304" pitchFamily="18" charset="0"/>
                <a:cs typeface="Times New Roman" panose="02020603050405020304" pitchFamily="18" charset="0"/>
              </a:rPr>
              <a:t>Abstract(1/2)</a:t>
            </a:r>
            <a:endParaRPr lang="zh-TW" altLang="en-US" dirty="0">
              <a:latin typeface="Times New Roman" panose="02020603050405020304" pitchFamily="18" charset="0"/>
              <a:cs typeface="Times New Roman" panose="02020603050405020304" pitchFamily="18" charset="0"/>
            </a:endParaRPr>
          </a:p>
        </p:txBody>
      </p:sp>
      <p:sp>
        <p:nvSpPr>
          <p:cNvPr id="3" name="內容版面配置區 2"/>
          <p:cNvSpPr>
            <a:spLocks noGrp="1"/>
          </p:cNvSpPr>
          <p:nvPr>
            <p:ph idx="1"/>
          </p:nvPr>
        </p:nvSpPr>
        <p:spPr/>
        <p:txBody>
          <a:bodyPr>
            <a:normAutofit/>
          </a:bodyPr>
          <a:lstStyle/>
          <a:p>
            <a:r>
              <a:rPr lang="en-US" altLang="zh-TW" dirty="0">
                <a:latin typeface="Times New Roman" panose="02020603050405020304" pitchFamily="18" charset="0"/>
                <a:cs typeface="Times New Roman" panose="02020603050405020304" pitchFamily="18" charset="0"/>
              </a:rPr>
              <a:t>The constrained LCS (CLCS) problem, a recent variant of the longest common subsequence (LCS) problem, has gained much attention. Given two sequences X and Y of lengths n and m, respectively, and the constrained sequence P of length r, previous research shows that the CLCS problem can be solved by either an O(</a:t>
            </a:r>
            <a:r>
              <a:rPr lang="en-US" altLang="zh-TW" dirty="0" err="1">
                <a:latin typeface="Times New Roman" panose="02020603050405020304" pitchFamily="18" charset="0"/>
                <a:cs typeface="Times New Roman" panose="02020603050405020304" pitchFamily="18" charset="0"/>
              </a:rPr>
              <a:t>nmr</a:t>
            </a:r>
            <a:r>
              <a:rPr lang="en-US" altLang="zh-TW" dirty="0">
                <a:latin typeface="Times New Roman" panose="02020603050405020304" pitchFamily="18" charset="0"/>
                <a:cs typeface="Times New Roman" panose="02020603050405020304" pitchFamily="18" charset="0"/>
              </a:rPr>
              <a:t>)-time algorithm based upon dynamic programming (DP) techniques or an O(</a:t>
            </a:r>
            <a:r>
              <a:rPr lang="en-US" altLang="zh-TW" dirty="0" err="1">
                <a:latin typeface="Times New Roman" panose="02020603050405020304" pitchFamily="18" charset="0"/>
                <a:cs typeface="Times New Roman" panose="02020603050405020304" pitchFamily="18" charset="0"/>
              </a:rPr>
              <a:t>rR</a:t>
            </a:r>
            <a:r>
              <a:rPr lang="en-US" altLang="zh-TW" dirty="0">
                <a:latin typeface="Times New Roman" panose="02020603050405020304" pitchFamily="18" charset="0"/>
                <a:cs typeface="Times New Roman" panose="02020603050405020304" pitchFamily="18" charset="0"/>
              </a:rPr>
              <a:t> log log(</a:t>
            </a:r>
            <a:r>
              <a:rPr lang="en-US" altLang="zh-TW" dirty="0" err="1">
                <a:latin typeface="Times New Roman" panose="02020603050405020304" pitchFamily="18" charset="0"/>
                <a:cs typeface="Times New Roman" panose="02020603050405020304" pitchFamily="18" charset="0"/>
              </a:rPr>
              <a:t>n+m</a:t>
            </a:r>
            <a:r>
              <a:rPr lang="en-US" altLang="zh-TW" dirty="0">
                <a:latin typeface="Times New Roman" panose="02020603050405020304" pitchFamily="18" charset="0"/>
                <a:cs typeface="Times New Roman" panose="02020603050405020304" pitchFamily="18" charset="0"/>
              </a:rPr>
              <a:t>))-time Hunt–</a:t>
            </a:r>
            <a:r>
              <a:rPr lang="en-US" altLang="zh-TW" dirty="0" err="1">
                <a:latin typeface="Times New Roman" panose="02020603050405020304" pitchFamily="18" charset="0"/>
                <a:cs typeface="Times New Roman" panose="02020603050405020304" pitchFamily="18" charset="0"/>
              </a:rPr>
              <a:t>Szymanskilike</a:t>
            </a:r>
            <a:r>
              <a:rPr lang="en-US" altLang="zh-TW" dirty="0">
                <a:latin typeface="Times New Roman" panose="02020603050405020304" pitchFamily="18" charset="0"/>
                <a:cs typeface="Times New Roman" panose="02020603050405020304" pitchFamily="18" charset="0"/>
              </a:rPr>
              <a:t> algorithm, where R is the total number of ordered pairs of positions at which the two strings match. In this paper, we investigate the case that X, Y and P are all in run-length encoded (RLE) format, where the numbers of runs are N, M and R, respectively. </a:t>
            </a:r>
            <a:endParaRPr lang="zh-TW" alt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9333410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pt-BR" altLang="zh-TW" dirty="0">
                <a:latin typeface="Times New Roman" panose="02020603050405020304" pitchFamily="18" charset="0"/>
                <a:cs typeface="Times New Roman" panose="02020603050405020304" pitchFamily="18" charset="0"/>
              </a:rPr>
              <a:t>Abstract(2/2)</a:t>
            </a:r>
            <a:endParaRPr lang="zh-TW" altLang="en-US" dirty="0">
              <a:latin typeface="Times New Roman" panose="02020603050405020304" pitchFamily="18" charset="0"/>
              <a:cs typeface="Times New Roman" panose="02020603050405020304" pitchFamily="18" charset="0"/>
            </a:endParaRPr>
          </a:p>
        </p:txBody>
      </p:sp>
      <p:sp>
        <p:nvSpPr>
          <p:cNvPr id="3" name="內容版面配置區 2"/>
          <p:cNvSpPr>
            <a:spLocks noGrp="1"/>
          </p:cNvSpPr>
          <p:nvPr>
            <p:ph idx="1"/>
          </p:nvPr>
        </p:nvSpPr>
        <p:spPr/>
        <p:txBody>
          <a:bodyPr>
            <a:normAutofit/>
          </a:bodyPr>
          <a:lstStyle/>
          <a:p>
            <a:r>
              <a:rPr lang="en-US" altLang="zh-TW" dirty="0">
                <a:latin typeface="Times New Roman" panose="02020603050405020304" pitchFamily="18" charset="0"/>
                <a:cs typeface="Times New Roman" panose="02020603050405020304" pitchFamily="18" charset="0"/>
              </a:rPr>
              <a:t>We first show that when the sequences are encoded, the CLCS problem can be solved by a simple algorithm in O(</a:t>
            </a:r>
            <a:r>
              <a:rPr lang="en-US" altLang="zh-TW" dirty="0" err="1">
                <a:latin typeface="Times New Roman" panose="02020603050405020304" pitchFamily="18" charset="0"/>
                <a:cs typeface="Times New Roman" panose="02020603050405020304" pitchFamily="18" charset="0"/>
              </a:rPr>
              <a:t>nmR</a:t>
            </a:r>
            <a:r>
              <a:rPr lang="en-US" altLang="zh-TW"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nMr</a:t>
            </a:r>
            <a:r>
              <a:rPr lang="en-US" altLang="zh-TW"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Nmr</a:t>
            </a:r>
            <a:r>
              <a:rPr lang="en-US" altLang="zh-TW" dirty="0">
                <a:latin typeface="Times New Roman" panose="02020603050405020304" pitchFamily="18" charset="0"/>
                <a:cs typeface="Times New Roman" panose="02020603050405020304" pitchFamily="18" charset="0"/>
              </a:rPr>
              <a:t>) time without decompressing the sequences. Then, we propose a more efficient algorithm with O(</a:t>
            </a:r>
            <a:r>
              <a:rPr lang="en-US" altLang="zh-TW" dirty="0" err="1">
                <a:latin typeface="Times New Roman" panose="02020603050405020304" pitchFamily="18" charset="0"/>
                <a:cs typeface="Times New Roman" panose="02020603050405020304" pitchFamily="18" charset="0"/>
              </a:rPr>
              <a:t>NMr</a:t>
            </a:r>
            <a:r>
              <a:rPr lang="en-US" altLang="zh-TW" dirty="0">
                <a:latin typeface="Times New Roman" panose="02020603050405020304" pitchFamily="18" charset="0"/>
                <a:cs typeface="Times New Roman" panose="02020603050405020304" pitchFamily="18" charset="0"/>
              </a:rPr>
              <a:t> +r ×min{q1, q2}+q3)time, where q1 and q2 denote the numbers of elements in the south and east faces of the matched blocks on the first layer, respectively, and q3 denotes the number of face elements of all fully matched cuboids in the DP lattice.</a:t>
            </a:r>
            <a:endParaRPr lang="zh-TW" alt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8276987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Times New Roman" panose="02020603050405020304" pitchFamily="18" charset="0"/>
                <a:cs typeface="Times New Roman" panose="02020603050405020304" pitchFamily="18" charset="0"/>
              </a:rPr>
              <a:t>Run-Length Encoded</a:t>
            </a:r>
            <a:endParaRPr lang="zh-TW" altLang="en-US" dirty="0"/>
          </a:p>
        </p:txBody>
      </p:sp>
      <p:sp>
        <p:nvSpPr>
          <p:cNvPr id="3" name="內容版面配置區 2"/>
          <p:cNvSpPr>
            <a:spLocks noGrp="1"/>
          </p:cNvSpPr>
          <p:nvPr>
            <p:ph idx="1"/>
          </p:nvPr>
        </p:nvSpPr>
        <p:spPr/>
        <p:txBody>
          <a:bodyPr/>
          <a:lstStyle/>
          <a:p>
            <a:r>
              <a:rPr lang="en-US" altLang="zh-TW" dirty="0">
                <a:latin typeface="Times New Roman" panose="02020603050405020304" pitchFamily="18" charset="0"/>
                <a:cs typeface="Times New Roman" panose="02020603050405020304" pitchFamily="18" charset="0"/>
              </a:rPr>
              <a:t>X = </a:t>
            </a:r>
            <a:r>
              <a:rPr lang="en-US" altLang="zh-TW" dirty="0" err="1">
                <a:latin typeface="Times New Roman" panose="02020603050405020304" pitchFamily="18" charset="0"/>
                <a:cs typeface="Times New Roman" panose="02020603050405020304" pitchFamily="18" charset="0"/>
              </a:rPr>
              <a:t>abbbccaaa</a:t>
            </a:r>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Y = </a:t>
            </a:r>
            <a:r>
              <a:rPr lang="en-US" altLang="zh-TW" dirty="0" err="1">
                <a:latin typeface="Times New Roman" panose="02020603050405020304" pitchFamily="18" charset="0"/>
                <a:cs typeface="Times New Roman" panose="02020603050405020304" pitchFamily="18" charset="0"/>
              </a:rPr>
              <a:t>baaaccbbbaaccaa</a:t>
            </a:r>
            <a:endParaRPr lang="en-US" altLang="zh-TW" dirty="0">
              <a:latin typeface="Times New Roman" panose="02020603050405020304" pitchFamily="18" charset="0"/>
              <a:cs typeface="Times New Roman" panose="02020603050405020304" pitchFamily="18" charset="0"/>
            </a:endParaRPr>
          </a:p>
          <a:p>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X can encoded as a</a:t>
            </a:r>
            <a:r>
              <a:rPr lang="en-US" altLang="zh-TW" baseline="30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b</a:t>
            </a:r>
            <a:r>
              <a:rPr lang="en-US" altLang="zh-TW" baseline="30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c</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a</a:t>
            </a:r>
            <a:r>
              <a:rPr lang="en-US" altLang="zh-TW" baseline="30000" dirty="0">
                <a:latin typeface="Times New Roman" panose="02020603050405020304" pitchFamily="18" charset="0"/>
                <a:cs typeface="Times New Roman" panose="02020603050405020304" pitchFamily="18" charset="0"/>
              </a:rPr>
              <a:t>3 </a:t>
            </a:r>
            <a:r>
              <a:rPr lang="en-US" altLang="zh-TW" dirty="0">
                <a:latin typeface="Times New Roman" panose="02020603050405020304" pitchFamily="18" charset="0"/>
                <a:cs typeface="Times New Roman" panose="02020603050405020304" pitchFamily="18" charset="0"/>
              </a:rPr>
              <a:t> </a:t>
            </a:r>
          </a:p>
          <a:p>
            <a:pPr lvl="1"/>
            <a:r>
              <a:rPr lang="en-US" altLang="zh-TW" dirty="0">
                <a:latin typeface="Times New Roman" panose="02020603050405020304" pitchFamily="18" charset="0"/>
                <a:cs typeface="Times New Roman" panose="02020603050405020304" pitchFamily="18" charset="0"/>
              </a:rPr>
              <a:t>RX</a:t>
            </a:r>
            <a:r>
              <a:rPr lang="en-US" altLang="zh-TW" baseline="-25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 = a, RX</a:t>
            </a:r>
            <a:r>
              <a:rPr lang="en-US" altLang="zh-TW" baseline="-25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 b, RX</a:t>
            </a:r>
            <a:r>
              <a:rPr lang="en-US" altLang="zh-TW" baseline="-25000" dirty="0">
                <a:latin typeface="Times New Roman" panose="02020603050405020304" pitchFamily="18" charset="0"/>
                <a:cs typeface="Times New Roman" panose="02020603050405020304" pitchFamily="18" charset="0"/>
              </a:rPr>
              <a:t>3 </a:t>
            </a:r>
            <a:r>
              <a:rPr lang="en-US" altLang="zh-TW" dirty="0">
                <a:latin typeface="Times New Roman" panose="02020603050405020304" pitchFamily="18" charset="0"/>
                <a:cs typeface="Times New Roman" panose="02020603050405020304" pitchFamily="18" charset="0"/>
              </a:rPr>
              <a:t>= c, RX</a:t>
            </a:r>
            <a:r>
              <a:rPr lang="en-US" altLang="zh-TW" baseline="-25000" dirty="0">
                <a:latin typeface="Times New Roman" panose="02020603050405020304" pitchFamily="18" charset="0"/>
                <a:cs typeface="Times New Roman" panose="02020603050405020304" pitchFamily="18" charset="0"/>
              </a:rPr>
              <a:t>4</a:t>
            </a:r>
            <a:r>
              <a:rPr lang="en-US" altLang="zh-TW" dirty="0">
                <a:latin typeface="Times New Roman" panose="02020603050405020304" pitchFamily="18" charset="0"/>
                <a:cs typeface="Times New Roman" panose="02020603050405020304" pitchFamily="18" charset="0"/>
              </a:rPr>
              <a:t> = a</a:t>
            </a:r>
            <a:endParaRPr lang="en-US" altLang="zh-TW" baseline="30000"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Y can encoded as b</a:t>
            </a:r>
            <a:r>
              <a:rPr lang="en-US" altLang="zh-TW" baseline="30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a</a:t>
            </a:r>
            <a:r>
              <a:rPr lang="en-US" altLang="zh-TW" baseline="30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c</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b</a:t>
            </a:r>
            <a:r>
              <a:rPr lang="en-US" altLang="zh-TW" baseline="30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a</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c</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a</a:t>
            </a:r>
            <a:r>
              <a:rPr lang="en-US" altLang="zh-TW" baseline="30000" dirty="0">
                <a:latin typeface="Times New Roman" panose="02020603050405020304" pitchFamily="18" charset="0"/>
                <a:cs typeface="Times New Roman" panose="02020603050405020304" pitchFamily="18" charset="0"/>
              </a:rPr>
              <a:t>2</a:t>
            </a:r>
          </a:p>
          <a:p>
            <a:pPr lvl="1"/>
            <a:r>
              <a:rPr lang="en-US" altLang="zh-TW" dirty="0">
                <a:latin typeface="Times New Roman" panose="02020603050405020304" pitchFamily="18" charset="0"/>
                <a:cs typeface="Times New Roman" panose="02020603050405020304" pitchFamily="18" charset="0"/>
              </a:rPr>
              <a:t>RY</a:t>
            </a:r>
            <a:r>
              <a:rPr lang="en-US" altLang="zh-TW" baseline="-25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 = b, RY</a:t>
            </a:r>
            <a:r>
              <a:rPr lang="en-US" altLang="zh-TW" baseline="-25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 a, RY</a:t>
            </a:r>
            <a:r>
              <a:rPr lang="en-US" altLang="zh-TW" baseline="-25000" dirty="0">
                <a:latin typeface="Times New Roman" panose="02020603050405020304" pitchFamily="18" charset="0"/>
                <a:cs typeface="Times New Roman" panose="02020603050405020304" pitchFamily="18" charset="0"/>
              </a:rPr>
              <a:t>3 </a:t>
            </a:r>
            <a:r>
              <a:rPr lang="en-US" altLang="zh-TW" dirty="0">
                <a:latin typeface="Times New Roman" panose="02020603050405020304" pitchFamily="18" charset="0"/>
                <a:cs typeface="Times New Roman" panose="02020603050405020304" pitchFamily="18" charset="0"/>
              </a:rPr>
              <a:t>= c, RY</a:t>
            </a:r>
            <a:r>
              <a:rPr lang="en-US" altLang="zh-TW" baseline="-25000" dirty="0">
                <a:latin typeface="Times New Roman" panose="02020603050405020304" pitchFamily="18" charset="0"/>
                <a:cs typeface="Times New Roman" panose="02020603050405020304" pitchFamily="18" charset="0"/>
              </a:rPr>
              <a:t>4 </a:t>
            </a:r>
            <a:r>
              <a:rPr lang="en-US" altLang="zh-TW" dirty="0">
                <a:latin typeface="Times New Roman" panose="02020603050405020304" pitchFamily="18" charset="0"/>
                <a:cs typeface="Times New Roman" panose="02020603050405020304" pitchFamily="18" charset="0"/>
              </a:rPr>
              <a:t>= b, RY</a:t>
            </a:r>
            <a:r>
              <a:rPr lang="en-US" altLang="zh-TW" baseline="-25000" dirty="0">
                <a:latin typeface="Times New Roman" panose="02020603050405020304" pitchFamily="18" charset="0"/>
                <a:cs typeface="Times New Roman" panose="02020603050405020304" pitchFamily="18" charset="0"/>
              </a:rPr>
              <a:t>5</a:t>
            </a:r>
            <a:r>
              <a:rPr lang="en-US" altLang="zh-TW" dirty="0">
                <a:latin typeface="Times New Roman" panose="02020603050405020304" pitchFamily="18" charset="0"/>
                <a:cs typeface="Times New Roman" panose="02020603050405020304" pitchFamily="18" charset="0"/>
              </a:rPr>
              <a:t> = a, RY</a:t>
            </a:r>
            <a:r>
              <a:rPr lang="en-US" altLang="zh-TW" baseline="-25000" dirty="0">
                <a:latin typeface="Times New Roman" panose="02020603050405020304" pitchFamily="18" charset="0"/>
                <a:cs typeface="Times New Roman" panose="02020603050405020304" pitchFamily="18" charset="0"/>
              </a:rPr>
              <a:t>6</a:t>
            </a:r>
            <a:r>
              <a:rPr lang="en-US" altLang="zh-TW" dirty="0">
                <a:latin typeface="Times New Roman" panose="02020603050405020304" pitchFamily="18" charset="0"/>
                <a:cs typeface="Times New Roman" panose="02020603050405020304" pitchFamily="18" charset="0"/>
              </a:rPr>
              <a:t> = c, RY</a:t>
            </a:r>
            <a:r>
              <a:rPr lang="en-US" altLang="zh-TW" baseline="-25000" dirty="0">
                <a:latin typeface="Times New Roman" panose="02020603050405020304" pitchFamily="18" charset="0"/>
                <a:cs typeface="Times New Roman" panose="02020603050405020304" pitchFamily="18" charset="0"/>
              </a:rPr>
              <a:t>7</a:t>
            </a:r>
            <a:r>
              <a:rPr lang="en-US" altLang="zh-TW" dirty="0">
                <a:latin typeface="Times New Roman" panose="02020603050405020304" pitchFamily="18" charset="0"/>
                <a:cs typeface="Times New Roman" panose="02020603050405020304" pitchFamily="18" charset="0"/>
              </a:rPr>
              <a:t>=a</a:t>
            </a:r>
            <a:endParaRPr lang="en-US" altLang="zh-TW" baseline="30000" dirty="0">
              <a:latin typeface="Times New Roman" panose="02020603050405020304" pitchFamily="18" charset="0"/>
              <a:cs typeface="Times New Roman" panose="02020603050405020304" pitchFamily="18" charset="0"/>
            </a:endParaRPr>
          </a:p>
          <a:p>
            <a:pPr marL="457200" lvl="1" indent="0">
              <a:buNone/>
            </a:pPr>
            <a:endParaRPr lang="zh-TW" altLang="en-US" baseline="30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4842173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Times New Roman" panose="02020603050405020304" pitchFamily="18" charset="0"/>
                <a:cs typeface="Times New Roman" panose="02020603050405020304" pitchFamily="18" charset="0"/>
              </a:rPr>
              <a:t>Longest Common Subsequence</a:t>
            </a:r>
            <a:endParaRPr lang="zh-TW" altLang="en-US" dirty="0"/>
          </a:p>
        </p:txBody>
      </p:sp>
      <p:graphicFrame>
        <p:nvGraphicFramePr>
          <p:cNvPr id="11" name="內容版面配置區 10"/>
          <p:cNvGraphicFramePr>
            <a:graphicFrameLocks noGrp="1"/>
          </p:cNvGraphicFramePr>
          <p:nvPr>
            <p:ph idx="1"/>
            <p:extLst>
              <p:ext uri="{D42A27DB-BD31-4B8C-83A1-F6EECF244321}">
                <p14:modId xmlns:p14="http://schemas.microsoft.com/office/powerpoint/2010/main" val="651804565"/>
              </p:ext>
            </p:extLst>
          </p:nvPr>
        </p:nvGraphicFramePr>
        <p:xfrm>
          <a:off x="838200" y="15600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29320">
                  <a:extLst>
                    <a:ext uri="{9D8B030D-6E8A-4147-A177-3AD203B41FA5}">
                      <a16:colId xmlns:a16="http://schemas.microsoft.com/office/drawing/2014/main" val="20008"/>
                    </a:ext>
                  </a:extLst>
                </a:gridCol>
                <a:gridCol w="429320">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3" name="文字方塊 2"/>
          <p:cNvSpPr txBox="1"/>
          <p:nvPr/>
        </p:nvSpPr>
        <p:spPr>
          <a:xfrm>
            <a:off x="8042190" y="1625940"/>
            <a:ext cx="3311610" cy="2185214"/>
          </a:xfrm>
          <a:prstGeom prst="rect">
            <a:avLst/>
          </a:prstGeom>
          <a:noFill/>
        </p:spPr>
        <p:txBody>
          <a:bodyPr wrap="square" rtlCol="0">
            <a:spAutoFit/>
          </a:bodyPr>
          <a:lstStyle/>
          <a:p>
            <a:pPr marL="285750" indent="-285750">
              <a:buFont typeface="Arial" panose="020B0604020202020204" pitchFamily="34" charset="0"/>
              <a:buChar char="•"/>
            </a:pPr>
            <a:r>
              <a:rPr lang="en-US" altLang="zh-TW" sz="2400" dirty="0">
                <a:latin typeface="Times New Roman" panose="02020603050405020304" pitchFamily="18" charset="0"/>
                <a:cs typeface="Times New Roman" panose="02020603050405020304" pitchFamily="18" charset="0"/>
              </a:rPr>
              <a:t>Match(Green) : </a:t>
            </a:r>
            <a:r>
              <a:rPr lang="en-US" altLang="zh-TW" sz="2400" dirty="0" err="1">
                <a:latin typeface="Times New Roman" panose="02020603050405020304" pitchFamily="18" charset="0"/>
                <a:cs typeface="Times New Roman" panose="02020603050405020304" pitchFamily="18" charset="0"/>
              </a:rPr>
              <a:t>Rx</a:t>
            </a:r>
            <a:r>
              <a:rPr lang="en-US" altLang="zh-TW" sz="2400" baseline="-25000" dirty="0" err="1">
                <a:latin typeface="Times New Roman" panose="02020603050405020304" pitchFamily="18" charset="0"/>
                <a:cs typeface="Times New Roman" panose="02020603050405020304" pitchFamily="18" charset="0"/>
              </a:rPr>
              <a:t>i</a:t>
            </a:r>
            <a:r>
              <a:rPr lang="en-US" altLang="zh-TW" sz="2400" dirty="0">
                <a:latin typeface="Times New Roman" panose="02020603050405020304" pitchFamily="18" charset="0"/>
                <a:cs typeface="Times New Roman" panose="02020603050405020304" pitchFamily="18" charset="0"/>
              </a:rPr>
              <a:t> = </a:t>
            </a:r>
            <a:r>
              <a:rPr lang="en-US" altLang="zh-TW" sz="2400" dirty="0" err="1">
                <a:latin typeface="Times New Roman" panose="02020603050405020304" pitchFamily="18" charset="0"/>
                <a:cs typeface="Times New Roman" panose="02020603050405020304" pitchFamily="18" charset="0"/>
              </a:rPr>
              <a:t>Ry</a:t>
            </a:r>
            <a:r>
              <a:rPr lang="en-US" altLang="zh-TW" sz="2400" baseline="-25000" dirty="0" err="1">
                <a:latin typeface="Times New Roman" panose="02020603050405020304" pitchFamily="18" charset="0"/>
                <a:cs typeface="Times New Roman" panose="02020603050405020304" pitchFamily="18" charset="0"/>
              </a:rPr>
              <a:t>j</a:t>
            </a:r>
            <a:endParaRPr lang="en-US" altLang="zh-TW" sz="2400" baseline="-25000"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endParaRPr lang="en-US" altLang="zh-TW" sz="2400"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en-US" altLang="zh-TW" sz="2400" dirty="0" err="1">
                <a:latin typeface="Times New Roman" panose="02020603050405020304" pitchFamily="18" charset="0"/>
                <a:cs typeface="Times New Roman" panose="02020603050405020304" pitchFamily="18" charset="0"/>
              </a:rPr>
              <a:t>Unmatch</a:t>
            </a:r>
            <a:r>
              <a:rPr lang="en-US" altLang="zh-TW" sz="2400" dirty="0">
                <a:latin typeface="Times New Roman" panose="02020603050405020304" pitchFamily="18" charset="0"/>
                <a:cs typeface="Times New Roman" panose="02020603050405020304" pitchFamily="18" charset="0"/>
              </a:rPr>
              <a:t>(Blue) : </a:t>
            </a:r>
            <a:r>
              <a:rPr lang="en-US" altLang="zh-TW" sz="2400" dirty="0" err="1">
                <a:latin typeface="Times New Roman" panose="02020603050405020304" pitchFamily="18" charset="0"/>
                <a:cs typeface="Times New Roman" panose="02020603050405020304" pitchFamily="18" charset="0"/>
              </a:rPr>
              <a:t>RX</a:t>
            </a:r>
            <a:r>
              <a:rPr lang="en-US" altLang="zh-TW" sz="2400" baseline="-25000" dirty="0" err="1">
                <a:latin typeface="Times New Roman" panose="02020603050405020304" pitchFamily="18" charset="0"/>
                <a:cs typeface="Times New Roman" panose="02020603050405020304" pitchFamily="18" charset="0"/>
              </a:rPr>
              <a:t>i</a:t>
            </a:r>
            <a:r>
              <a:rPr lang="en-US" altLang="zh-TW" sz="2400" dirty="0">
                <a:latin typeface="Times New Roman" panose="02020603050405020304" pitchFamily="18" charset="0"/>
                <a:cs typeface="Times New Roman" panose="02020603050405020304" pitchFamily="18" charset="0"/>
              </a:rPr>
              <a:t> </a:t>
            </a:r>
            <a:r>
              <a:rPr lang="zh-TW" altLang="en-US" sz="2400" dirty="0">
                <a:latin typeface="Times New Roman" panose="02020603050405020304" pitchFamily="18" charset="0"/>
                <a:cs typeface="Times New Roman" panose="02020603050405020304" pitchFamily="18" charset="0"/>
              </a:rPr>
              <a:t>≠</a:t>
            </a:r>
            <a:r>
              <a:rPr lang="en-US" altLang="zh-TW" sz="2400" dirty="0">
                <a:latin typeface="Times New Roman" panose="02020603050405020304" pitchFamily="18" charset="0"/>
                <a:cs typeface="Times New Roman" panose="02020603050405020304" pitchFamily="18" charset="0"/>
              </a:rPr>
              <a:t> </a:t>
            </a:r>
            <a:r>
              <a:rPr lang="en-US" altLang="zh-TW" sz="2400" dirty="0" err="1">
                <a:latin typeface="Times New Roman" panose="02020603050405020304" pitchFamily="18" charset="0"/>
                <a:cs typeface="Times New Roman" panose="02020603050405020304" pitchFamily="18" charset="0"/>
              </a:rPr>
              <a:t>RY</a:t>
            </a:r>
            <a:r>
              <a:rPr lang="en-US" altLang="zh-TW" sz="2400" baseline="-25000" dirty="0" err="1">
                <a:latin typeface="Times New Roman" panose="02020603050405020304" pitchFamily="18" charset="0"/>
                <a:cs typeface="Times New Roman" panose="02020603050405020304" pitchFamily="18" charset="0"/>
              </a:rPr>
              <a:t>j</a:t>
            </a:r>
            <a:endParaRPr lang="en-US" altLang="zh-TW" sz="2400" baseline="-25000" dirty="0">
              <a:latin typeface="Times New Roman" panose="02020603050405020304" pitchFamily="18" charset="0"/>
              <a:cs typeface="Times New Roman" panose="02020603050405020304" pitchFamily="18" charset="0"/>
            </a:endParaRPr>
          </a:p>
          <a:p>
            <a:endParaRPr lang="zh-TW" altLang="en-US" sz="2400" baseline="-25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0199491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en-US" altLang="zh-TW" dirty="0">
                <a:latin typeface="Times New Roman" panose="02020603050405020304" pitchFamily="18" charset="0"/>
                <a:cs typeface="Times New Roman" panose="02020603050405020304" pitchFamily="18" charset="0"/>
              </a:rPr>
              <a:t> </a:t>
            </a:r>
            <a:r>
              <a:rPr lang="zh-TW" altLang="en-US" dirty="0">
                <a:latin typeface="Times New Roman" panose="02020603050405020304" pitchFamily="18" charset="0"/>
                <a:cs typeface="Times New Roman" panose="02020603050405020304" pitchFamily="18" charset="0"/>
              </a:rPr>
              <a:t>≠</a:t>
            </a:r>
            <a:r>
              <a:rPr lang="en-US" altLang="zh-TW"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endParaRPr lang="en-US" altLang="zh-TW" baseline="-25000" dirty="0">
              <a:latin typeface="Times New Roman" panose="02020603050405020304" pitchFamily="18" charset="0"/>
              <a:cs typeface="Times New Roman" panose="02020603050405020304" pitchFamily="18" charset="0"/>
            </a:endParaRPr>
          </a:p>
        </p:txBody>
      </p:sp>
      <p:graphicFrame>
        <p:nvGraphicFramePr>
          <p:cNvPr id="11" name="內容版面配置區 10"/>
          <p:cNvGraphicFramePr>
            <a:graphicFrameLocks noGrp="1"/>
          </p:cNvGraphicFramePr>
          <p:nvPr>
            <p:ph idx="1"/>
            <p:extLst>
              <p:ext uri="{D42A27DB-BD31-4B8C-83A1-F6EECF244321}">
                <p14:modId xmlns:p14="http://schemas.microsoft.com/office/powerpoint/2010/main" val="1673597825"/>
              </p:ext>
            </p:extLst>
          </p:nvPr>
        </p:nvGraphicFramePr>
        <p:xfrm>
          <a:off x="838200" y="15600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29320">
                  <a:extLst>
                    <a:ext uri="{9D8B030D-6E8A-4147-A177-3AD203B41FA5}">
                      <a16:colId xmlns:a16="http://schemas.microsoft.com/office/drawing/2014/main" val="20008"/>
                    </a:ext>
                  </a:extLst>
                </a:gridCol>
                <a:gridCol w="429320">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3" name="矩形 2"/>
          <p:cNvSpPr/>
          <p:nvPr/>
        </p:nvSpPr>
        <p:spPr>
          <a:xfrm>
            <a:off x="3410465" y="3422649"/>
            <a:ext cx="436605" cy="45737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0" name="直線單箭頭接點 9"/>
          <p:cNvCxnSpPr/>
          <p:nvPr/>
        </p:nvCxnSpPr>
        <p:spPr>
          <a:xfrm>
            <a:off x="3634740" y="2377440"/>
            <a:ext cx="0" cy="120396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線單箭頭接點 12"/>
          <p:cNvCxnSpPr/>
          <p:nvPr/>
        </p:nvCxnSpPr>
        <p:spPr>
          <a:xfrm>
            <a:off x="2880360" y="3680460"/>
            <a:ext cx="669290" cy="254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052164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en-US" altLang="zh-TW" dirty="0">
                <a:latin typeface="Times New Roman" panose="02020603050405020304" pitchFamily="18" charset="0"/>
                <a:cs typeface="Times New Roman" panose="02020603050405020304" pitchFamily="18" charset="0"/>
              </a:rPr>
              <a:t> </a:t>
            </a:r>
            <a:r>
              <a:rPr lang="zh-TW" altLang="en-US" dirty="0">
                <a:latin typeface="Times New Roman" panose="02020603050405020304" pitchFamily="18" charset="0"/>
                <a:cs typeface="Times New Roman" panose="02020603050405020304" pitchFamily="18" charset="0"/>
              </a:rPr>
              <a:t>≠</a:t>
            </a:r>
            <a:r>
              <a:rPr lang="en-US" altLang="zh-TW"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endParaRPr lang="en-US" altLang="zh-TW" baseline="-25000" dirty="0">
              <a:latin typeface="Times New Roman" panose="02020603050405020304" pitchFamily="18" charset="0"/>
              <a:cs typeface="Times New Roman" panose="02020603050405020304" pitchFamily="18" charset="0"/>
            </a:endParaRPr>
          </a:p>
        </p:txBody>
      </p:sp>
      <p:graphicFrame>
        <p:nvGraphicFramePr>
          <p:cNvPr id="11" name="內容版面配置區 10"/>
          <p:cNvGraphicFramePr>
            <a:graphicFrameLocks noGrp="1"/>
          </p:cNvGraphicFramePr>
          <p:nvPr>
            <p:ph idx="1"/>
            <p:extLst>
              <p:ext uri="{D42A27DB-BD31-4B8C-83A1-F6EECF244321}">
                <p14:modId xmlns:p14="http://schemas.microsoft.com/office/powerpoint/2010/main" val="1698878387"/>
              </p:ext>
            </p:extLst>
          </p:nvPr>
        </p:nvGraphicFramePr>
        <p:xfrm>
          <a:off x="838200" y="15600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29320">
                  <a:extLst>
                    <a:ext uri="{9D8B030D-6E8A-4147-A177-3AD203B41FA5}">
                      <a16:colId xmlns:a16="http://schemas.microsoft.com/office/drawing/2014/main" val="20008"/>
                    </a:ext>
                  </a:extLst>
                </a:gridCol>
                <a:gridCol w="429320">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306337720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en-US" altLang="zh-TW"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sz="3600" dirty="0">
                <a:latin typeface="Times New Roman" panose="02020603050405020304" pitchFamily="18" charset="0"/>
                <a:cs typeface="Times New Roman" panose="02020603050405020304" pitchFamily="18" charset="0"/>
              </a:rPr>
              <a:t>(forced path is not across row(i-1))</a:t>
            </a:r>
            <a:endParaRPr lang="en-US" altLang="zh-TW" sz="3600" baseline="-25000" dirty="0">
              <a:latin typeface="Times New Roman" panose="02020603050405020304" pitchFamily="18" charset="0"/>
              <a:cs typeface="Times New Roman" panose="02020603050405020304" pitchFamily="18" charset="0"/>
            </a:endParaRPr>
          </a:p>
        </p:txBody>
      </p:sp>
      <p:graphicFrame>
        <p:nvGraphicFramePr>
          <p:cNvPr id="11" name="內容版面配置區 10"/>
          <p:cNvGraphicFramePr>
            <a:graphicFrameLocks noGrp="1"/>
          </p:cNvGraphicFramePr>
          <p:nvPr>
            <p:ph idx="1"/>
            <p:extLst>
              <p:ext uri="{D42A27DB-BD31-4B8C-83A1-F6EECF244321}">
                <p14:modId xmlns:p14="http://schemas.microsoft.com/office/powerpoint/2010/main" val="2677079689"/>
              </p:ext>
            </p:extLst>
          </p:nvPr>
        </p:nvGraphicFramePr>
        <p:xfrm>
          <a:off x="838200" y="15600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29320">
                  <a:extLst>
                    <a:ext uri="{9D8B030D-6E8A-4147-A177-3AD203B41FA5}">
                      <a16:colId xmlns:a16="http://schemas.microsoft.com/office/drawing/2014/main" val="20008"/>
                    </a:ext>
                  </a:extLst>
                </a:gridCol>
                <a:gridCol w="429320">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4" name="矩形 3"/>
          <p:cNvSpPr/>
          <p:nvPr/>
        </p:nvSpPr>
        <p:spPr>
          <a:xfrm>
            <a:off x="3848100" y="3421380"/>
            <a:ext cx="419100" cy="46482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 name="直線接點 5"/>
          <p:cNvCxnSpPr/>
          <p:nvPr/>
        </p:nvCxnSpPr>
        <p:spPr>
          <a:xfrm flipH="1" flipV="1">
            <a:off x="3839711" y="3421380"/>
            <a:ext cx="419100" cy="46482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直線接點 8"/>
          <p:cNvCxnSpPr/>
          <p:nvPr/>
        </p:nvCxnSpPr>
        <p:spPr>
          <a:xfrm flipH="1">
            <a:off x="1714500" y="3421380"/>
            <a:ext cx="2133600" cy="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線接點 13"/>
          <p:cNvCxnSpPr/>
          <p:nvPr/>
        </p:nvCxnSpPr>
        <p:spPr>
          <a:xfrm flipH="1" flipV="1">
            <a:off x="1272540" y="2979420"/>
            <a:ext cx="441960" cy="44196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sp>
        <p:nvSpPr>
          <p:cNvPr id="15" name="橢圓 14"/>
          <p:cNvSpPr/>
          <p:nvPr/>
        </p:nvSpPr>
        <p:spPr>
          <a:xfrm>
            <a:off x="1219200" y="2937509"/>
            <a:ext cx="106680" cy="838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23595771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en-US" altLang="zh-TW"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sz="3600" dirty="0">
                <a:latin typeface="Times New Roman" panose="02020603050405020304" pitchFamily="18" charset="0"/>
                <a:cs typeface="Times New Roman" panose="02020603050405020304" pitchFamily="18" charset="0"/>
              </a:rPr>
              <a:t>(forced path is not across row)</a:t>
            </a:r>
            <a:endParaRPr lang="en-US" altLang="zh-TW" sz="3600" baseline="-25000" dirty="0">
              <a:latin typeface="Times New Roman" panose="02020603050405020304" pitchFamily="18" charset="0"/>
              <a:cs typeface="Times New Roman" panose="02020603050405020304" pitchFamily="18" charset="0"/>
            </a:endParaRPr>
          </a:p>
        </p:txBody>
      </p:sp>
      <p:graphicFrame>
        <p:nvGraphicFramePr>
          <p:cNvPr id="11" name="內容版面配置區 10"/>
          <p:cNvGraphicFramePr>
            <a:graphicFrameLocks noGrp="1"/>
          </p:cNvGraphicFramePr>
          <p:nvPr>
            <p:ph idx="1"/>
            <p:extLst>
              <p:ext uri="{D42A27DB-BD31-4B8C-83A1-F6EECF244321}">
                <p14:modId xmlns:p14="http://schemas.microsoft.com/office/powerpoint/2010/main" val="295012414"/>
              </p:ext>
            </p:extLst>
          </p:nvPr>
        </p:nvGraphicFramePr>
        <p:xfrm>
          <a:off x="838200" y="15600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31045">
                  <a:extLst>
                    <a:ext uri="{9D8B030D-6E8A-4147-A177-3AD203B41FA5}">
                      <a16:colId xmlns:a16="http://schemas.microsoft.com/office/drawing/2014/main" val="20008"/>
                    </a:ext>
                  </a:extLst>
                </a:gridCol>
                <a:gridCol w="427595">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4" name="矩形 3"/>
          <p:cNvSpPr/>
          <p:nvPr/>
        </p:nvSpPr>
        <p:spPr>
          <a:xfrm>
            <a:off x="3848100" y="3421380"/>
            <a:ext cx="419100" cy="46482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 name="直線接點 5"/>
          <p:cNvCxnSpPr/>
          <p:nvPr/>
        </p:nvCxnSpPr>
        <p:spPr>
          <a:xfrm flipH="1" flipV="1">
            <a:off x="3839711" y="3421380"/>
            <a:ext cx="419100" cy="46482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直線接點 8"/>
          <p:cNvCxnSpPr/>
          <p:nvPr/>
        </p:nvCxnSpPr>
        <p:spPr>
          <a:xfrm flipH="1">
            <a:off x="1714500" y="3421380"/>
            <a:ext cx="2133600" cy="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線接點 13"/>
          <p:cNvCxnSpPr/>
          <p:nvPr/>
        </p:nvCxnSpPr>
        <p:spPr>
          <a:xfrm flipH="1" flipV="1">
            <a:off x="1272540" y="2979420"/>
            <a:ext cx="441960" cy="44196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直線單箭頭接點 16"/>
          <p:cNvCxnSpPr/>
          <p:nvPr/>
        </p:nvCxnSpPr>
        <p:spPr>
          <a:xfrm>
            <a:off x="1699260" y="2484120"/>
            <a:ext cx="0" cy="9296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線單箭頭接點 18"/>
          <p:cNvCxnSpPr/>
          <p:nvPr/>
        </p:nvCxnSpPr>
        <p:spPr>
          <a:xfrm>
            <a:off x="1264920" y="2484120"/>
            <a:ext cx="0" cy="49530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直線單箭頭接點 19"/>
          <p:cNvCxnSpPr/>
          <p:nvPr/>
        </p:nvCxnSpPr>
        <p:spPr>
          <a:xfrm>
            <a:off x="2978802" y="2484120"/>
            <a:ext cx="0" cy="9296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直線單箭頭接點 20"/>
          <p:cNvCxnSpPr/>
          <p:nvPr/>
        </p:nvCxnSpPr>
        <p:spPr>
          <a:xfrm>
            <a:off x="3848100" y="2484120"/>
            <a:ext cx="0" cy="9296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文字方塊 22"/>
          <p:cNvSpPr txBox="1"/>
          <p:nvPr/>
        </p:nvSpPr>
        <p:spPr>
          <a:xfrm>
            <a:off x="8029109" y="3421380"/>
            <a:ext cx="3185160" cy="369332"/>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max{0+2 , 0+1 , 1+1 , 1+1} = 2</a:t>
            </a:r>
            <a:endParaRPr lang="zh-TW" alt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77217007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en-US" altLang="zh-TW"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sz="3600" dirty="0">
                <a:latin typeface="Times New Roman" panose="02020603050405020304" pitchFamily="18" charset="0"/>
                <a:cs typeface="Times New Roman" panose="02020603050405020304" pitchFamily="18" charset="0"/>
              </a:rPr>
              <a:t>(forced path is not across row)</a:t>
            </a:r>
            <a:endParaRPr lang="en-US" altLang="zh-TW" sz="3600" baseline="-25000" dirty="0">
              <a:latin typeface="Times New Roman" panose="02020603050405020304" pitchFamily="18" charset="0"/>
              <a:cs typeface="Times New Roman" panose="02020603050405020304" pitchFamily="18" charset="0"/>
            </a:endParaRPr>
          </a:p>
        </p:txBody>
      </p:sp>
      <p:graphicFrame>
        <p:nvGraphicFramePr>
          <p:cNvPr id="11" name="內容版面配置區 10"/>
          <p:cNvGraphicFramePr>
            <a:graphicFrameLocks noGrp="1"/>
          </p:cNvGraphicFramePr>
          <p:nvPr>
            <p:ph idx="1"/>
            <p:extLst>
              <p:ext uri="{D42A27DB-BD31-4B8C-83A1-F6EECF244321}">
                <p14:modId xmlns:p14="http://schemas.microsoft.com/office/powerpoint/2010/main" val="946038970"/>
              </p:ext>
            </p:extLst>
          </p:nvPr>
        </p:nvGraphicFramePr>
        <p:xfrm>
          <a:off x="838200" y="15600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55759">
                  <a:extLst>
                    <a:ext uri="{9D8B030D-6E8A-4147-A177-3AD203B41FA5}">
                      <a16:colId xmlns:a16="http://schemas.microsoft.com/office/drawing/2014/main" val="20008"/>
                    </a:ext>
                  </a:extLst>
                </a:gridCol>
                <a:gridCol w="402881">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3" name="矩形 2"/>
          <p:cNvSpPr/>
          <p:nvPr/>
        </p:nvSpPr>
        <p:spPr>
          <a:xfrm>
            <a:off x="3848100" y="3413760"/>
            <a:ext cx="426720" cy="46482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197934258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en-US" altLang="zh-TW"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sz="3600" dirty="0">
                <a:latin typeface="Times New Roman" panose="02020603050405020304" pitchFamily="18" charset="0"/>
                <a:cs typeface="Times New Roman" panose="02020603050405020304" pitchFamily="18" charset="0"/>
              </a:rPr>
              <a:t>(forced path is across row)</a:t>
            </a:r>
            <a:endParaRPr lang="en-US" altLang="zh-TW" sz="3600" baseline="-25000" dirty="0">
              <a:latin typeface="Times New Roman" panose="02020603050405020304" pitchFamily="18" charset="0"/>
              <a:cs typeface="Times New Roman" panose="02020603050405020304" pitchFamily="18" charset="0"/>
            </a:endParaRPr>
          </a:p>
        </p:txBody>
      </p:sp>
      <p:graphicFrame>
        <p:nvGraphicFramePr>
          <p:cNvPr id="11" name="內容版面配置區 10"/>
          <p:cNvGraphicFramePr>
            <a:graphicFrameLocks noGrp="1"/>
          </p:cNvGraphicFramePr>
          <p:nvPr>
            <p:ph idx="1"/>
            <p:extLst>
              <p:ext uri="{D42A27DB-BD31-4B8C-83A1-F6EECF244321}">
                <p14:modId xmlns:p14="http://schemas.microsoft.com/office/powerpoint/2010/main" val="2245812371"/>
              </p:ext>
            </p:extLst>
          </p:nvPr>
        </p:nvGraphicFramePr>
        <p:xfrm>
          <a:off x="838200" y="15600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31045">
                  <a:extLst>
                    <a:ext uri="{9D8B030D-6E8A-4147-A177-3AD203B41FA5}">
                      <a16:colId xmlns:a16="http://schemas.microsoft.com/office/drawing/2014/main" val="20008"/>
                    </a:ext>
                  </a:extLst>
                </a:gridCol>
                <a:gridCol w="427595">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5</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5</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34" name="文字方塊 33"/>
          <p:cNvSpPr txBox="1"/>
          <p:nvPr/>
        </p:nvSpPr>
        <p:spPr>
          <a:xfrm>
            <a:off x="8029109" y="3421380"/>
            <a:ext cx="3185160" cy="646331"/>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max{1+4 , 1+3 , 3+3 , 4+3 , 4+2 , 6+1} = 7</a:t>
            </a:r>
            <a:endParaRPr lang="zh-TW" altLang="en-US" dirty="0">
              <a:latin typeface="Times New Roman" panose="02020603050405020304" pitchFamily="18" charset="0"/>
              <a:cs typeface="Times New Roman" panose="02020603050405020304" pitchFamily="18" charset="0"/>
            </a:endParaRPr>
          </a:p>
        </p:txBody>
      </p:sp>
      <p:sp>
        <p:nvSpPr>
          <p:cNvPr id="35" name="矩形 34"/>
          <p:cNvSpPr/>
          <p:nvPr/>
        </p:nvSpPr>
        <p:spPr>
          <a:xfrm>
            <a:off x="6846673" y="5762985"/>
            <a:ext cx="426720" cy="46482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6" name="直線接點 35"/>
          <p:cNvCxnSpPr/>
          <p:nvPr/>
        </p:nvCxnSpPr>
        <p:spPr>
          <a:xfrm flipH="1" flipV="1">
            <a:off x="6846673" y="5762985"/>
            <a:ext cx="419100" cy="46482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p:nvPr/>
        </p:nvCxnSpPr>
        <p:spPr>
          <a:xfrm flipH="1">
            <a:off x="5988908" y="5754747"/>
            <a:ext cx="857765" cy="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flipH="1" flipV="1">
            <a:off x="5128261" y="5296930"/>
            <a:ext cx="860649" cy="474294"/>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43" name="直線接點 42"/>
          <p:cNvCxnSpPr/>
          <p:nvPr/>
        </p:nvCxnSpPr>
        <p:spPr>
          <a:xfrm flipH="1">
            <a:off x="2990335" y="5296930"/>
            <a:ext cx="2140191" cy="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直線接點 44"/>
          <p:cNvCxnSpPr/>
          <p:nvPr/>
        </p:nvCxnSpPr>
        <p:spPr>
          <a:xfrm flipH="1" flipV="1">
            <a:off x="2537254" y="4810897"/>
            <a:ext cx="445977" cy="486033"/>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sp>
        <p:nvSpPr>
          <p:cNvPr id="47" name="橢圓 46"/>
          <p:cNvSpPr/>
          <p:nvPr/>
        </p:nvSpPr>
        <p:spPr>
          <a:xfrm>
            <a:off x="2476810" y="4751791"/>
            <a:ext cx="106680" cy="83820"/>
          </a:xfrm>
          <a:prstGeom prst="ellipse">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52" name="直線單箭頭接點 51"/>
          <p:cNvCxnSpPr/>
          <p:nvPr/>
        </p:nvCxnSpPr>
        <p:spPr>
          <a:xfrm>
            <a:off x="2538388" y="4723679"/>
            <a:ext cx="7104" cy="172994"/>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直線單箭頭接點 54"/>
          <p:cNvCxnSpPr/>
          <p:nvPr/>
        </p:nvCxnSpPr>
        <p:spPr>
          <a:xfrm>
            <a:off x="2976127" y="4835611"/>
            <a:ext cx="0" cy="461319"/>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7" name="直線單箭頭接點 56"/>
          <p:cNvCxnSpPr/>
          <p:nvPr/>
        </p:nvCxnSpPr>
        <p:spPr>
          <a:xfrm>
            <a:off x="3845219" y="4835611"/>
            <a:ext cx="0" cy="461319"/>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8" name="直線單箭頭接點 57"/>
          <p:cNvCxnSpPr/>
          <p:nvPr/>
        </p:nvCxnSpPr>
        <p:spPr>
          <a:xfrm>
            <a:off x="5128261" y="4835611"/>
            <a:ext cx="0" cy="461319"/>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直線單箭頭接點 58"/>
          <p:cNvCxnSpPr/>
          <p:nvPr/>
        </p:nvCxnSpPr>
        <p:spPr>
          <a:xfrm>
            <a:off x="5988908" y="4835611"/>
            <a:ext cx="0" cy="919136"/>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1" name="直線單箭頭接點 60"/>
          <p:cNvCxnSpPr/>
          <p:nvPr/>
        </p:nvCxnSpPr>
        <p:spPr>
          <a:xfrm>
            <a:off x="6846673" y="4835611"/>
            <a:ext cx="0" cy="919136"/>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230499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en-US" altLang="zh-TW"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sz="3600" dirty="0">
                <a:latin typeface="Times New Roman" panose="02020603050405020304" pitchFamily="18" charset="0"/>
                <a:cs typeface="Times New Roman" panose="02020603050405020304" pitchFamily="18" charset="0"/>
              </a:rPr>
              <a:t>(forced path is across row)</a:t>
            </a:r>
            <a:endParaRPr lang="en-US" altLang="zh-TW" sz="3600" baseline="-25000" dirty="0">
              <a:latin typeface="Times New Roman" panose="02020603050405020304" pitchFamily="18" charset="0"/>
              <a:cs typeface="Times New Roman" panose="02020603050405020304" pitchFamily="18" charset="0"/>
            </a:endParaRPr>
          </a:p>
        </p:txBody>
      </p:sp>
      <p:graphicFrame>
        <p:nvGraphicFramePr>
          <p:cNvPr id="11" name="內容版面配置區 10"/>
          <p:cNvGraphicFramePr>
            <a:graphicFrameLocks noGrp="1"/>
          </p:cNvGraphicFramePr>
          <p:nvPr>
            <p:ph idx="1"/>
            <p:extLst>
              <p:ext uri="{D42A27DB-BD31-4B8C-83A1-F6EECF244321}">
                <p14:modId xmlns:p14="http://schemas.microsoft.com/office/powerpoint/2010/main" val="1736788994"/>
              </p:ext>
            </p:extLst>
          </p:nvPr>
        </p:nvGraphicFramePr>
        <p:xfrm>
          <a:off x="838200" y="15600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55759">
                  <a:extLst>
                    <a:ext uri="{9D8B030D-6E8A-4147-A177-3AD203B41FA5}">
                      <a16:colId xmlns:a16="http://schemas.microsoft.com/office/drawing/2014/main" val="20008"/>
                    </a:ext>
                  </a:extLst>
                </a:gridCol>
                <a:gridCol w="402881">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5</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5</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7</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8</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330521686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a:latin typeface="Times New Roman" panose="02020603050405020304" pitchFamily="18" charset="0"/>
                <a:cs typeface="Times New Roman" panose="02020603050405020304" pitchFamily="18" charset="0"/>
              </a:rPr>
              <a:t>Preprocessing</a:t>
            </a:r>
            <a:endParaRPr lang="en-US" altLang="zh-TW" sz="3600" baseline="-25000" dirty="0">
              <a:latin typeface="Times New Roman" panose="02020603050405020304" pitchFamily="18" charset="0"/>
              <a:cs typeface="Times New Roman" panose="02020603050405020304" pitchFamily="18" charset="0"/>
            </a:endParaRPr>
          </a:p>
        </p:txBody>
      </p:sp>
      <p:sp>
        <p:nvSpPr>
          <p:cNvPr id="16" name="文字方塊 15"/>
          <p:cNvSpPr txBox="1"/>
          <p:nvPr/>
        </p:nvSpPr>
        <p:spPr>
          <a:xfrm>
            <a:off x="8197918" y="1902937"/>
            <a:ext cx="3407342" cy="2308324"/>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0</a:t>
            </a:r>
            <a:r>
              <a:rPr lang="en-US" altLang="zh-TW" dirty="0">
                <a:latin typeface="Times New Roman" panose="02020603050405020304" pitchFamily="18" charset="0"/>
                <a:cs typeface="Times New Roman" panose="02020603050405020304" pitchFamily="18" charset="0"/>
              </a:rPr>
              <a:t> = 0+4 = 4</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 = 0+3 = 3</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 1+3 = 4</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 = 1+3 = 4</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4</a:t>
            </a:r>
            <a:r>
              <a:rPr lang="en-US" altLang="zh-TW" dirty="0">
                <a:latin typeface="Times New Roman" panose="02020603050405020304" pitchFamily="18" charset="0"/>
                <a:cs typeface="Times New Roman" panose="02020603050405020304" pitchFamily="18" charset="0"/>
              </a:rPr>
              <a:t> = 1+0 = 1</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5</a:t>
            </a:r>
            <a:r>
              <a:rPr lang="en-US" altLang="zh-TW" dirty="0">
                <a:latin typeface="Times New Roman" panose="02020603050405020304" pitchFamily="18" charset="0"/>
                <a:cs typeface="Times New Roman" panose="02020603050405020304" pitchFamily="18" charset="0"/>
              </a:rPr>
              <a:t> = 1+0 = 1</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6</a:t>
            </a:r>
            <a:r>
              <a:rPr lang="en-US" altLang="zh-TW" dirty="0">
                <a:latin typeface="Times New Roman" panose="02020603050405020304" pitchFamily="18" charset="0"/>
                <a:cs typeface="Times New Roman" panose="02020603050405020304" pitchFamily="18" charset="0"/>
              </a:rPr>
              <a:t> = 1+0 = 1</a:t>
            </a:r>
          </a:p>
          <a:p>
            <a:endParaRPr lang="en-US" altLang="zh-TW" dirty="0">
              <a:latin typeface="Times New Roman" panose="02020603050405020304" pitchFamily="18" charset="0"/>
              <a:cs typeface="Times New Roman" panose="02020603050405020304" pitchFamily="18" charset="0"/>
            </a:endParaRPr>
          </a:p>
        </p:txBody>
      </p:sp>
      <p:graphicFrame>
        <p:nvGraphicFramePr>
          <p:cNvPr id="42" name="內容版面配置區 10"/>
          <p:cNvGraphicFramePr>
            <a:graphicFrameLocks noGrp="1"/>
          </p:cNvGraphicFramePr>
          <p:nvPr>
            <p:ph idx="1"/>
            <p:extLst>
              <p:ext uri="{D42A27DB-BD31-4B8C-83A1-F6EECF244321}">
                <p14:modId xmlns:p14="http://schemas.microsoft.com/office/powerpoint/2010/main" val="3672303303"/>
              </p:ext>
            </p:extLst>
          </p:nvPr>
        </p:nvGraphicFramePr>
        <p:xfrm>
          <a:off x="838200" y="19029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39283">
                  <a:extLst>
                    <a:ext uri="{9D8B030D-6E8A-4147-A177-3AD203B41FA5}">
                      <a16:colId xmlns:a16="http://schemas.microsoft.com/office/drawing/2014/main" val="20008"/>
                    </a:ext>
                  </a:extLst>
                </a:gridCol>
                <a:gridCol w="419357">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43" name="矩形 42"/>
          <p:cNvSpPr/>
          <p:nvPr/>
        </p:nvSpPr>
        <p:spPr>
          <a:xfrm>
            <a:off x="107120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0</a:t>
            </a:r>
            <a:endParaRPr lang="zh-TW" altLang="en-US" dirty="0"/>
          </a:p>
        </p:txBody>
      </p:sp>
      <p:sp>
        <p:nvSpPr>
          <p:cNvPr id="44" name="矩形 43"/>
          <p:cNvSpPr/>
          <p:nvPr/>
        </p:nvSpPr>
        <p:spPr>
          <a:xfrm>
            <a:off x="150554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1</a:t>
            </a:r>
            <a:endParaRPr lang="zh-TW" altLang="en-US" dirty="0"/>
          </a:p>
        </p:txBody>
      </p:sp>
      <p:sp>
        <p:nvSpPr>
          <p:cNvPr id="45" name="矩形 44"/>
          <p:cNvSpPr/>
          <p:nvPr/>
        </p:nvSpPr>
        <p:spPr>
          <a:xfrm>
            <a:off x="276284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2</a:t>
            </a:r>
            <a:endParaRPr lang="zh-TW" altLang="en-US" dirty="0"/>
          </a:p>
        </p:txBody>
      </p:sp>
      <p:sp>
        <p:nvSpPr>
          <p:cNvPr id="46" name="矩形 45"/>
          <p:cNvSpPr/>
          <p:nvPr/>
        </p:nvSpPr>
        <p:spPr>
          <a:xfrm>
            <a:off x="3656115"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3</a:t>
            </a:r>
            <a:endParaRPr lang="zh-TW" altLang="en-US" dirty="0"/>
          </a:p>
        </p:txBody>
      </p:sp>
      <p:sp>
        <p:nvSpPr>
          <p:cNvPr id="47" name="矩形 46"/>
          <p:cNvSpPr/>
          <p:nvPr/>
        </p:nvSpPr>
        <p:spPr>
          <a:xfrm>
            <a:off x="4920045"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4</a:t>
            </a:r>
            <a:endParaRPr lang="zh-TW" altLang="en-US" dirty="0"/>
          </a:p>
        </p:txBody>
      </p:sp>
      <p:sp>
        <p:nvSpPr>
          <p:cNvPr id="48" name="矩形 47"/>
          <p:cNvSpPr/>
          <p:nvPr/>
        </p:nvSpPr>
        <p:spPr>
          <a:xfrm>
            <a:off x="577838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5</a:t>
            </a:r>
            <a:endParaRPr lang="zh-TW" altLang="en-US" dirty="0"/>
          </a:p>
        </p:txBody>
      </p:sp>
      <p:sp>
        <p:nvSpPr>
          <p:cNvPr id="49" name="矩形 48"/>
          <p:cNvSpPr/>
          <p:nvPr/>
        </p:nvSpPr>
        <p:spPr>
          <a:xfrm>
            <a:off x="6653198"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6</a:t>
            </a:r>
            <a:endParaRPr lang="zh-TW" altLang="en-US" dirty="0"/>
          </a:p>
        </p:txBody>
      </p:sp>
      <p:sp>
        <p:nvSpPr>
          <p:cNvPr id="3" name="橢圓 2"/>
          <p:cNvSpPr/>
          <p:nvPr/>
        </p:nvSpPr>
        <p:spPr>
          <a:xfrm>
            <a:off x="1649691" y="2771480"/>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1225406" y="2774327"/>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2945326" y="2771480"/>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橢圓 14"/>
          <p:cNvSpPr/>
          <p:nvPr/>
        </p:nvSpPr>
        <p:spPr>
          <a:xfrm>
            <a:off x="3786040" y="2774326"/>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5100529" y="2774325"/>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5949727" y="2771480"/>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橢圓 18"/>
          <p:cNvSpPr/>
          <p:nvPr/>
        </p:nvSpPr>
        <p:spPr>
          <a:xfrm>
            <a:off x="6809294" y="2771480"/>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27036924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a:latin typeface="Times New Roman" panose="02020603050405020304" pitchFamily="18" charset="0"/>
                <a:cs typeface="Times New Roman" panose="02020603050405020304" pitchFamily="18" charset="0"/>
              </a:rPr>
              <a:t>Preprocessing</a:t>
            </a:r>
            <a:endParaRPr lang="en-US" altLang="zh-TW" sz="3600" baseline="-25000" dirty="0">
              <a:latin typeface="Times New Roman" panose="02020603050405020304" pitchFamily="18" charset="0"/>
              <a:cs typeface="Times New Roman" panose="02020603050405020304" pitchFamily="18" charset="0"/>
            </a:endParaRPr>
          </a:p>
        </p:txBody>
      </p:sp>
      <p:graphicFrame>
        <p:nvGraphicFramePr>
          <p:cNvPr id="42" name="內容版面配置區 10"/>
          <p:cNvGraphicFramePr>
            <a:graphicFrameLocks noGrp="1"/>
          </p:cNvGraphicFramePr>
          <p:nvPr>
            <p:ph idx="1"/>
            <p:extLst>
              <p:ext uri="{D42A27DB-BD31-4B8C-83A1-F6EECF244321}">
                <p14:modId xmlns:p14="http://schemas.microsoft.com/office/powerpoint/2010/main" val="3747713171"/>
              </p:ext>
            </p:extLst>
          </p:nvPr>
        </p:nvGraphicFramePr>
        <p:xfrm>
          <a:off x="838200" y="19029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39283">
                  <a:extLst>
                    <a:ext uri="{9D8B030D-6E8A-4147-A177-3AD203B41FA5}">
                      <a16:colId xmlns:a16="http://schemas.microsoft.com/office/drawing/2014/main" val="20008"/>
                    </a:ext>
                  </a:extLst>
                </a:gridCol>
                <a:gridCol w="419357">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43" name="矩形 42"/>
          <p:cNvSpPr/>
          <p:nvPr/>
        </p:nvSpPr>
        <p:spPr>
          <a:xfrm>
            <a:off x="107120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0</a:t>
            </a:r>
            <a:endParaRPr lang="zh-TW" altLang="en-US" dirty="0"/>
          </a:p>
        </p:txBody>
      </p:sp>
      <p:sp>
        <p:nvSpPr>
          <p:cNvPr id="44" name="矩形 43"/>
          <p:cNvSpPr/>
          <p:nvPr/>
        </p:nvSpPr>
        <p:spPr>
          <a:xfrm>
            <a:off x="150554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1</a:t>
            </a:r>
            <a:endParaRPr lang="zh-TW" altLang="en-US" dirty="0"/>
          </a:p>
        </p:txBody>
      </p:sp>
      <p:sp>
        <p:nvSpPr>
          <p:cNvPr id="45" name="矩形 44"/>
          <p:cNvSpPr/>
          <p:nvPr/>
        </p:nvSpPr>
        <p:spPr>
          <a:xfrm>
            <a:off x="276284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2</a:t>
            </a:r>
            <a:endParaRPr lang="zh-TW" altLang="en-US" dirty="0"/>
          </a:p>
        </p:txBody>
      </p:sp>
      <p:sp>
        <p:nvSpPr>
          <p:cNvPr id="46" name="矩形 45"/>
          <p:cNvSpPr/>
          <p:nvPr/>
        </p:nvSpPr>
        <p:spPr>
          <a:xfrm>
            <a:off x="3656115"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3</a:t>
            </a:r>
            <a:endParaRPr lang="zh-TW" altLang="en-US" dirty="0"/>
          </a:p>
        </p:txBody>
      </p:sp>
      <p:sp>
        <p:nvSpPr>
          <p:cNvPr id="47" name="矩形 46"/>
          <p:cNvSpPr/>
          <p:nvPr/>
        </p:nvSpPr>
        <p:spPr>
          <a:xfrm>
            <a:off x="4920045"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4</a:t>
            </a:r>
            <a:endParaRPr lang="zh-TW" altLang="en-US" dirty="0"/>
          </a:p>
        </p:txBody>
      </p:sp>
      <p:sp>
        <p:nvSpPr>
          <p:cNvPr id="48" name="矩形 47"/>
          <p:cNvSpPr/>
          <p:nvPr/>
        </p:nvSpPr>
        <p:spPr>
          <a:xfrm>
            <a:off x="577838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5</a:t>
            </a:r>
            <a:endParaRPr lang="zh-TW" altLang="en-US" dirty="0"/>
          </a:p>
        </p:txBody>
      </p:sp>
      <p:sp>
        <p:nvSpPr>
          <p:cNvPr id="49" name="矩形 48"/>
          <p:cNvSpPr/>
          <p:nvPr/>
        </p:nvSpPr>
        <p:spPr>
          <a:xfrm>
            <a:off x="6653198"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6</a:t>
            </a:r>
            <a:endParaRPr lang="zh-TW" altLang="en-US" dirty="0"/>
          </a:p>
        </p:txBody>
      </p:sp>
      <p:sp>
        <p:nvSpPr>
          <p:cNvPr id="12" name="矩形 11"/>
          <p:cNvSpPr/>
          <p:nvPr/>
        </p:nvSpPr>
        <p:spPr>
          <a:xfrm>
            <a:off x="3848100" y="3764280"/>
            <a:ext cx="419100" cy="46482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3" name="直線接點 12"/>
          <p:cNvCxnSpPr/>
          <p:nvPr/>
        </p:nvCxnSpPr>
        <p:spPr>
          <a:xfrm flipH="1" flipV="1">
            <a:off x="3848100" y="3764280"/>
            <a:ext cx="419100" cy="46482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線接點 13"/>
          <p:cNvCxnSpPr/>
          <p:nvPr/>
        </p:nvCxnSpPr>
        <p:spPr>
          <a:xfrm flipH="1">
            <a:off x="1714500" y="3764280"/>
            <a:ext cx="2133600" cy="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直線接點 14"/>
          <p:cNvCxnSpPr/>
          <p:nvPr/>
        </p:nvCxnSpPr>
        <p:spPr>
          <a:xfrm flipH="1" flipV="1">
            <a:off x="1272540" y="3322320"/>
            <a:ext cx="441960" cy="44196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直線單箭頭接點 16"/>
          <p:cNvCxnSpPr/>
          <p:nvPr/>
        </p:nvCxnSpPr>
        <p:spPr>
          <a:xfrm>
            <a:off x="1690871" y="2827020"/>
            <a:ext cx="0" cy="9296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直線單箭頭接點 17"/>
          <p:cNvCxnSpPr/>
          <p:nvPr/>
        </p:nvCxnSpPr>
        <p:spPr>
          <a:xfrm>
            <a:off x="1264920" y="2827020"/>
            <a:ext cx="0" cy="49530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線單箭頭接點 18"/>
          <p:cNvCxnSpPr/>
          <p:nvPr/>
        </p:nvCxnSpPr>
        <p:spPr>
          <a:xfrm>
            <a:off x="2987040" y="2827020"/>
            <a:ext cx="0" cy="9296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直線單箭頭接點 19"/>
          <p:cNvCxnSpPr/>
          <p:nvPr/>
        </p:nvCxnSpPr>
        <p:spPr>
          <a:xfrm>
            <a:off x="3831322" y="2818631"/>
            <a:ext cx="0" cy="9296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文字方塊 20"/>
          <p:cNvSpPr txBox="1"/>
          <p:nvPr/>
        </p:nvSpPr>
        <p:spPr>
          <a:xfrm>
            <a:off x="7873182" y="3394948"/>
            <a:ext cx="3935476" cy="369332"/>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max{L</a:t>
            </a:r>
            <a:r>
              <a:rPr lang="en-US" altLang="zh-TW" baseline="-25000" dirty="0">
                <a:latin typeface="Times New Roman" panose="02020603050405020304" pitchFamily="18" charset="0"/>
                <a:cs typeface="Times New Roman" panose="02020603050405020304" pitchFamily="18" charset="0"/>
              </a:rPr>
              <a:t>0</a:t>
            </a:r>
            <a:r>
              <a:rPr lang="en-US" altLang="zh-TW" dirty="0">
                <a:latin typeface="Times New Roman" panose="02020603050405020304" pitchFamily="18" charset="0"/>
                <a:cs typeface="Times New Roman" panose="02020603050405020304" pitchFamily="18" charset="0"/>
              </a:rPr>
              <a:t>, L</a:t>
            </a:r>
            <a:r>
              <a:rPr lang="en-US" altLang="zh-TW" baseline="-25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 L</a:t>
            </a:r>
            <a:r>
              <a:rPr lang="en-US" altLang="zh-TW" baseline="-25000" dirty="0">
                <a:latin typeface="Times New Roman" panose="02020603050405020304" pitchFamily="18" charset="0"/>
                <a:cs typeface="Times New Roman" panose="02020603050405020304" pitchFamily="18" charset="0"/>
              </a:rPr>
              <a:t>2</a:t>
            </a:r>
            <a:r>
              <a:rPr lang="en-US" altLang="zh-TW" dirty="0"/>
              <a:t>,</a:t>
            </a:r>
            <a:r>
              <a:rPr lang="en-US" altLang="zh-TW" dirty="0">
                <a:latin typeface="Times New Roman" panose="02020603050405020304" pitchFamily="18" charset="0"/>
                <a:cs typeface="Times New Roman" panose="02020603050405020304" pitchFamily="18" charset="0"/>
              </a:rPr>
              <a:t> L</a:t>
            </a:r>
            <a:r>
              <a:rPr lang="en-US" altLang="zh-TW" baseline="-25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- 2(</a:t>
            </a:r>
            <a:r>
              <a:rPr lang="zh-TW" altLang="en-US" sz="1200" dirty="0">
                <a:solidFill>
                  <a:srgbClr val="FF0000"/>
                </a:solidFill>
                <a:latin typeface="標楷體" panose="03000509000000000000" pitchFamily="65" charset="-120"/>
                <a:ea typeface="標楷體" panose="03000509000000000000" pitchFamily="65" charset="-120"/>
                <a:cs typeface="Times New Roman" panose="02020603050405020304" pitchFamily="18" charset="0"/>
              </a:rPr>
              <a:t>後面有</a:t>
            </a:r>
            <a:r>
              <a:rPr lang="en-US" altLang="zh-TW" sz="1200" dirty="0">
                <a:solidFill>
                  <a:srgbClr val="FF0000"/>
                </a:solidFill>
                <a:latin typeface="標楷體" panose="03000509000000000000" pitchFamily="65" charset="-120"/>
                <a:ea typeface="標楷體" panose="03000509000000000000" pitchFamily="65" charset="-120"/>
                <a:cs typeface="Times New Roman" panose="02020603050405020304" pitchFamily="18" charset="0"/>
              </a:rPr>
              <a:t>b</a:t>
            </a:r>
            <a:r>
              <a:rPr lang="zh-TW" altLang="en-US" sz="1200" dirty="0">
                <a:solidFill>
                  <a:srgbClr val="FF0000"/>
                </a:solidFill>
                <a:latin typeface="標楷體" panose="03000509000000000000" pitchFamily="65" charset="-120"/>
                <a:ea typeface="標楷體" panose="03000509000000000000" pitchFamily="65" charset="-120"/>
                <a:cs typeface="Times New Roman" panose="02020603050405020304" pitchFamily="18" charset="0"/>
              </a:rPr>
              <a:t>的數量</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2</a:t>
            </a:r>
            <a:endParaRPr lang="zh-TW" altLang="en-US" dirty="0">
              <a:latin typeface="Times New Roman" panose="02020603050405020304" pitchFamily="18" charset="0"/>
              <a:cs typeface="Times New Roman" panose="02020603050405020304" pitchFamily="18" charset="0"/>
            </a:endParaRPr>
          </a:p>
        </p:txBody>
      </p:sp>
      <p:graphicFrame>
        <p:nvGraphicFramePr>
          <p:cNvPr id="4" name="表格 3"/>
          <p:cNvGraphicFramePr>
            <a:graphicFrameLocks noGrp="1"/>
          </p:cNvGraphicFramePr>
          <p:nvPr>
            <p:extLst>
              <p:ext uri="{D42A27DB-BD31-4B8C-83A1-F6EECF244321}">
                <p14:modId xmlns:p14="http://schemas.microsoft.com/office/powerpoint/2010/main" val="4063441000"/>
              </p:ext>
            </p:extLst>
          </p:nvPr>
        </p:nvGraphicFramePr>
        <p:xfrm>
          <a:off x="7939085" y="2827020"/>
          <a:ext cx="3124200" cy="450143"/>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tblGrid>
              <a:tr h="450143">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3" name="矩形 2"/>
          <p:cNvSpPr/>
          <p:nvPr/>
        </p:nvSpPr>
        <p:spPr>
          <a:xfrm>
            <a:off x="7939085" y="3394948"/>
            <a:ext cx="1874218" cy="36933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7873182" y="3996690"/>
            <a:ext cx="1800519" cy="369332"/>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RMQ in O(1)</a:t>
            </a:r>
            <a:endParaRPr lang="zh-TW" alt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3701005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a:extLst>
              <a:ext uri="{FF2B5EF4-FFF2-40B4-BE49-F238E27FC236}">
                <a16:creationId xmlns:a16="http://schemas.microsoft.com/office/drawing/2014/main" id="{C51C3831-C47B-4135-A936-0E0EB703B2AF}"/>
              </a:ext>
            </a:extLst>
          </p:cNvPr>
          <p:cNvSpPr>
            <a:spLocks noGrp="1"/>
          </p:cNvSpPr>
          <p:nvPr>
            <p:ph type="title"/>
          </p:nvPr>
        </p:nvSpPr>
        <p:spPr/>
        <p:txBody>
          <a:bodyPr/>
          <a:lstStyle/>
          <a:p>
            <a:r>
              <a:rPr lang="en-US" altLang="zh-TW" dirty="0">
                <a:latin typeface="Times New Roman" panose="02020603050405020304" pitchFamily="18" charset="0"/>
                <a:cs typeface="Times New Roman" panose="02020603050405020304" pitchFamily="18" charset="0"/>
              </a:rPr>
              <a:t>Range Minimum Query</a:t>
            </a:r>
            <a:endParaRPr lang="zh-TW" altLang="en-US" dirty="0">
              <a:latin typeface="Times New Roman" panose="02020603050405020304" pitchFamily="18" charset="0"/>
              <a:cs typeface="Times New Roman" panose="02020603050405020304" pitchFamily="18" charset="0"/>
            </a:endParaRPr>
          </a:p>
        </p:txBody>
      </p:sp>
      <p:sp>
        <p:nvSpPr>
          <p:cNvPr id="3" name="內容版面配置區 2">
            <a:extLst>
              <a:ext uri="{FF2B5EF4-FFF2-40B4-BE49-F238E27FC236}">
                <a16:creationId xmlns:a16="http://schemas.microsoft.com/office/drawing/2014/main" id="{A15BAF71-7975-4A12-BFD3-86A913398745}"/>
              </a:ext>
            </a:extLst>
          </p:cNvPr>
          <p:cNvSpPr>
            <a:spLocks noGrp="1"/>
          </p:cNvSpPr>
          <p:nvPr>
            <p:ph idx="1"/>
          </p:nvPr>
        </p:nvSpPr>
        <p:spPr/>
        <p:txBody>
          <a:bodyPr/>
          <a:lstStyle/>
          <a:p>
            <a:r>
              <a:rPr lang="en-US" altLang="zh-TW" dirty="0">
                <a:latin typeface="Times New Roman" panose="02020603050405020304" pitchFamily="18" charset="0"/>
                <a:cs typeface="Times New Roman" panose="02020603050405020304" pitchFamily="18" charset="0"/>
              </a:rPr>
              <a:t>Given an array of a real numbers A[1…n], the range minimal(maximal) query (RMQ)</a:t>
            </a:r>
          </a:p>
          <a:p>
            <a:r>
              <a:rPr lang="en-US" altLang="zh-TW" dirty="0">
                <a:latin typeface="Times New Roman" panose="02020603050405020304" pitchFamily="18" charset="0"/>
                <a:cs typeface="Times New Roman" panose="02020603050405020304" pitchFamily="18" charset="0"/>
              </a:rPr>
              <a:t>O(n</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preprocessing time and O(1) answering time</a:t>
            </a:r>
          </a:p>
          <a:p>
            <a:r>
              <a:rPr lang="en-US" altLang="zh-TW" dirty="0">
                <a:latin typeface="Times New Roman" panose="02020603050405020304" pitchFamily="18" charset="0"/>
                <a:cs typeface="Times New Roman" panose="02020603050405020304" pitchFamily="18" charset="0"/>
              </a:rPr>
              <a:t>A = {3,7,9,2,4,5,1,12}</a:t>
            </a:r>
          </a:p>
          <a:p>
            <a:r>
              <a:rPr lang="en-US" altLang="zh-TW" dirty="0">
                <a:latin typeface="Times New Roman" panose="02020603050405020304" pitchFamily="18" charset="0"/>
                <a:cs typeface="Times New Roman" panose="02020603050405020304" pitchFamily="18" charset="0"/>
              </a:rPr>
              <a:t>RMQ(A,2,5) = min{7,9,2,4} = 2</a:t>
            </a:r>
            <a:endParaRPr lang="zh-TW" alt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57241045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a:latin typeface="Times New Roman" panose="02020603050405020304" pitchFamily="18" charset="0"/>
                <a:cs typeface="Times New Roman" panose="02020603050405020304" pitchFamily="18" charset="0"/>
              </a:rPr>
              <a:t>Preprocessing</a:t>
            </a:r>
            <a:endParaRPr lang="en-US" altLang="zh-TW" sz="3600" baseline="-25000" dirty="0">
              <a:latin typeface="Times New Roman" panose="02020603050405020304" pitchFamily="18" charset="0"/>
              <a:cs typeface="Times New Roman" panose="02020603050405020304" pitchFamily="18" charset="0"/>
            </a:endParaRPr>
          </a:p>
        </p:txBody>
      </p:sp>
      <p:sp>
        <p:nvSpPr>
          <p:cNvPr id="16" name="文字方塊 15"/>
          <p:cNvSpPr txBox="1"/>
          <p:nvPr/>
        </p:nvSpPr>
        <p:spPr>
          <a:xfrm>
            <a:off x="8197918" y="1902937"/>
            <a:ext cx="3407342" cy="2308324"/>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0</a:t>
            </a:r>
            <a:r>
              <a:rPr lang="en-US" altLang="zh-TW" dirty="0">
                <a:latin typeface="Times New Roman" panose="02020603050405020304" pitchFamily="18" charset="0"/>
                <a:cs typeface="Times New Roman" panose="02020603050405020304" pitchFamily="18" charset="0"/>
              </a:rPr>
              <a:t> = 0+7 = 7</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 = 1+7 = 8</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 1+4 = 5</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 = 3+4 = 7</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4</a:t>
            </a:r>
            <a:r>
              <a:rPr lang="en-US" altLang="zh-TW" dirty="0">
                <a:latin typeface="Times New Roman" panose="02020603050405020304" pitchFamily="18" charset="0"/>
                <a:cs typeface="Times New Roman" panose="02020603050405020304" pitchFamily="18" charset="0"/>
              </a:rPr>
              <a:t> = 4+4</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 8</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5</a:t>
            </a:r>
            <a:r>
              <a:rPr lang="en-US" altLang="zh-TW" dirty="0">
                <a:latin typeface="Times New Roman" panose="02020603050405020304" pitchFamily="18" charset="0"/>
                <a:cs typeface="Times New Roman" panose="02020603050405020304" pitchFamily="18" charset="0"/>
              </a:rPr>
              <a:t> = 4+2 = 6</a:t>
            </a:r>
          </a:p>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6</a:t>
            </a:r>
            <a:r>
              <a:rPr lang="en-US" altLang="zh-TW" dirty="0">
                <a:latin typeface="Times New Roman" panose="02020603050405020304" pitchFamily="18" charset="0"/>
                <a:cs typeface="Times New Roman" panose="02020603050405020304" pitchFamily="18" charset="0"/>
              </a:rPr>
              <a:t> = 6+2</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 8</a:t>
            </a:r>
          </a:p>
          <a:p>
            <a:endParaRPr lang="en-US" altLang="zh-TW" dirty="0">
              <a:latin typeface="Times New Roman" panose="02020603050405020304" pitchFamily="18" charset="0"/>
              <a:cs typeface="Times New Roman" panose="02020603050405020304" pitchFamily="18" charset="0"/>
            </a:endParaRPr>
          </a:p>
        </p:txBody>
      </p:sp>
      <p:graphicFrame>
        <p:nvGraphicFramePr>
          <p:cNvPr id="42" name="內容版面配置區 10"/>
          <p:cNvGraphicFramePr>
            <a:graphicFrameLocks noGrp="1"/>
          </p:cNvGraphicFramePr>
          <p:nvPr>
            <p:ph idx="1"/>
            <p:extLst>
              <p:ext uri="{D42A27DB-BD31-4B8C-83A1-F6EECF244321}">
                <p14:modId xmlns:p14="http://schemas.microsoft.com/office/powerpoint/2010/main" val="511896694"/>
              </p:ext>
            </p:extLst>
          </p:nvPr>
        </p:nvGraphicFramePr>
        <p:xfrm>
          <a:off x="838200" y="19029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39283">
                  <a:extLst>
                    <a:ext uri="{9D8B030D-6E8A-4147-A177-3AD203B41FA5}">
                      <a16:colId xmlns:a16="http://schemas.microsoft.com/office/drawing/2014/main" val="20008"/>
                    </a:ext>
                  </a:extLst>
                </a:gridCol>
                <a:gridCol w="419357">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5</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43" name="矩形 42"/>
          <p:cNvSpPr/>
          <p:nvPr/>
        </p:nvSpPr>
        <p:spPr>
          <a:xfrm>
            <a:off x="107120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0</a:t>
            </a:r>
            <a:endParaRPr lang="zh-TW" altLang="en-US" dirty="0"/>
          </a:p>
        </p:txBody>
      </p:sp>
      <p:sp>
        <p:nvSpPr>
          <p:cNvPr id="44" name="矩形 43"/>
          <p:cNvSpPr/>
          <p:nvPr/>
        </p:nvSpPr>
        <p:spPr>
          <a:xfrm>
            <a:off x="150554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1</a:t>
            </a:r>
            <a:endParaRPr lang="zh-TW" altLang="en-US" dirty="0"/>
          </a:p>
        </p:txBody>
      </p:sp>
      <p:sp>
        <p:nvSpPr>
          <p:cNvPr id="45" name="矩形 44"/>
          <p:cNvSpPr/>
          <p:nvPr/>
        </p:nvSpPr>
        <p:spPr>
          <a:xfrm>
            <a:off x="276284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2</a:t>
            </a:r>
            <a:endParaRPr lang="zh-TW" altLang="en-US" dirty="0"/>
          </a:p>
        </p:txBody>
      </p:sp>
      <p:sp>
        <p:nvSpPr>
          <p:cNvPr id="46" name="矩形 45"/>
          <p:cNvSpPr/>
          <p:nvPr/>
        </p:nvSpPr>
        <p:spPr>
          <a:xfrm>
            <a:off x="3656115"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3</a:t>
            </a:r>
            <a:endParaRPr lang="zh-TW" altLang="en-US" dirty="0"/>
          </a:p>
        </p:txBody>
      </p:sp>
      <p:sp>
        <p:nvSpPr>
          <p:cNvPr id="47" name="矩形 46"/>
          <p:cNvSpPr/>
          <p:nvPr/>
        </p:nvSpPr>
        <p:spPr>
          <a:xfrm>
            <a:off x="4920045"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4</a:t>
            </a:r>
            <a:endParaRPr lang="zh-TW" altLang="en-US" dirty="0"/>
          </a:p>
        </p:txBody>
      </p:sp>
      <p:sp>
        <p:nvSpPr>
          <p:cNvPr id="48" name="矩形 47"/>
          <p:cNvSpPr/>
          <p:nvPr/>
        </p:nvSpPr>
        <p:spPr>
          <a:xfrm>
            <a:off x="577838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5</a:t>
            </a:r>
            <a:endParaRPr lang="zh-TW" altLang="en-US" dirty="0"/>
          </a:p>
        </p:txBody>
      </p:sp>
      <p:sp>
        <p:nvSpPr>
          <p:cNvPr id="49" name="矩形 48"/>
          <p:cNvSpPr/>
          <p:nvPr/>
        </p:nvSpPr>
        <p:spPr>
          <a:xfrm>
            <a:off x="6653198"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6</a:t>
            </a:r>
            <a:endParaRPr lang="zh-TW" altLang="en-US" dirty="0"/>
          </a:p>
        </p:txBody>
      </p:sp>
      <p:sp>
        <p:nvSpPr>
          <p:cNvPr id="12" name="橢圓 11"/>
          <p:cNvSpPr/>
          <p:nvPr/>
        </p:nvSpPr>
        <p:spPr>
          <a:xfrm>
            <a:off x="1640264" y="5109328"/>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1215979" y="5112175"/>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2954753" y="5109328"/>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橢圓 14"/>
          <p:cNvSpPr/>
          <p:nvPr/>
        </p:nvSpPr>
        <p:spPr>
          <a:xfrm>
            <a:off x="3776613" y="5093320"/>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5091102" y="5093319"/>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5940300" y="5109328"/>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橢圓 18"/>
          <p:cNvSpPr/>
          <p:nvPr/>
        </p:nvSpPr>
        <p:spPr>
          <a:xfrm>
            <a:off x="6799867" y="5109328"/>
            <a:ext cx="94268" cy="10369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37670059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marL="285750" indent="-285750">
              <a:buFont typeface="Arial" panose="020B0604020202020204" pitchFamily="34" charset="0"/>
              <a:buChar char="•"/>
            </a:pPr>
            <a:r>
              <a:rPr lang="en-US" altLang="zh-TW">
                <a:latin typeface="Times New Roman" panose="02020603050405020304" pitchFamily="18" charset="0"/>
                <a:cs typeface="Times New Roman" panose="02020603050405020304" pitchFamily="18" charset="0"/>
              </a:rPr>
              <a:t>Preprocessing</a:t>
            </a:r>
            <a:endParaRPr lang="en-US" altLang="zh-TW" sz="3600" baseline="-25000" dirty="0">
              <a:latin typeface="Times New Roman" panose="02020603050405020304" pitchFamily="18" charset="0"/>
              <a:cs typeface="Times New Roman" panose="02020603050405020304" pitchFamily="18" charset="0"/>
            </a:endParaRPr>
          </a:p>
        </p:txBody>
      </p:sp>
      <p:graphicFrame>
        <p:nvGraphicFramePr>
          <p:cNvPr id="42" name="內容版面配置區 10"/>
          <p:cNvGraphicFramePr>
            <a:graphicFrameLocks noGrp="1"/>
          </p:cNvGraphicFramePr>
          <p:nvPr>
            <p:ph idx="1"/>
            <p:extLst>
              <p:ext uri="{D42A27DB-BD31-4B8C-83A1-F6EECF244321}">
                <p14:modId xmlns:p14="http://schemas.microsoft.com/office/powerpoint/2010/main" val="2045057235"/>
              </p:ext>
            </p:extLst>
          </p:nvPr>
        </p:nvGraphicFramePr>
        <p:xfrm>
          <a:off x="838200" y="1902937"/>
          <a:ext cx="6869120" cy="4667768"/>
        </p:xfrm>
        <a:graphic>
          <a:graphicData uri="http://schemas.openxmlformats.org/drawingml/2006/table">
            <a:tbl>
              <a:tblPr firstRow="1" bandRow="1">
                <a:tableStyleId>{5C22544A-7EE6-4342-B048-85BDC9FD1C3A}</a:tableStyleId>
              </a:tblPr>
              <a:tblGrid>
                <a:gridCol w="429320">
                  <a:extLst>
                    <a:ext uri="{9D8B030D-6E8A-4147-A177-3AD203B41FA5}">
                      <a16:colId xmlns:a16="http://schemas.microsoft.com/office/drawing/2014/main" val="20000"/>
                    </a:ext>
                  </a:extLst>
                </a:gridCol>
                <a:gridCol w="429320">
                  <a:extLst>
                    <a:ext uri="{9D8B030D-6E8A-4147-A177-3AD203B41FA5}">
                      <a16:colId xmlns:a16="http://schemas.microsoft.com/office/drawing/2014/main" val="20001"/>
                    </a:ext>
                  </a:extLst>
                </a:gridCol>
                <a:gridCol w="429320">
                  <a:extLst>
                    <a:ext uri="{9D8B030D-6E8A-4147-A177-3AD203B41FA5}">
                      <a16:colId xmlns:a16="http://schemas.microsoft.com/office/drawing/2014/main" val="20002"/>
                    </a:ext>
                  </a:extLst>
                </a:gridCol>
                <a:gridCol w="429320">
                  <a:extLst>
                    <a:ext uri="{9D8B030D-6E8A-4147-A177-3AD203B41FA5}">
                      <a16:colId xmlns:a16="http://schemas.microsoft.com/office/drawing/2014/main" val="20003"/>
                    </a:ext>
                  </a:extLst>
                </a:gridCol>
                <a:gridCol w="429320">
                  <a:extLst>
                    <a:ext uri="{9D8B030D-6E8A-4147-A177-3AD203B41FA5}">
                      <a16:colId xmlns:a16="http://schemas.microsoft.com/office/drawing/2014/main" val="20004"/>
                    </a:ext>
                  </a:extLst>
                </a:gridCol>
                <a:gridCol w="429320">
                  <a:extLst>
                    <a:ext uri="{9D8B030D-6E8A-4147-A177-3AD203B41FA5}">
                      <a16:colId xmlns:a16="http://schemas.microsoft.com/office/drawing/2014/main" val="20005"/>
                    </a:ext>
                  </a:extLst>
                </a:gridCol>
                <a:gridCol w="429320">
                  <a:extLst>
                    <a:ext uri="{9D8B030D-6E8A-4147-A177-3AD203B41FA5}">
                      <a16:colId xmlns:a16="http://schemas.microsoft.com/office/drawing/2014/main" val="20006"/>
                    </a:ext>
                  </a:extLst>
                </a:gridCol>
                <a:gridCol w="429320">
                  <a:extLst>
                    <a:ext uri="{9D8B030D-6E8A-4147-A177-3AD203B41FA5}">
                      <a16:colId xmlns:a16="http://schemas.microsoft.com/office/drawing/2014/main" val="20007"/>
                    </a:ext>
                  </a:extLst>
                </a:gridCol>
                <a:gridCol w="439283">
                  <a:extLst>
                    <a:ext uri="{9D8B030D-6E8A-4147-A177-3AD203B41FA5}">
                      <a16:colId xmlns:a16="http://schemas.microsoft.com/office/drawing/2014/main" val="20008"/>
                    </a:ext>
                  </a:extLst>
                </a:gridCol>
                <a:gridCol w="419357">
                  <a:extLst>
                    <a:ext uri="{9D8B030D-6E8A-4147-A177-3AD203B41FA5}">
                      <a16:colId xmlns:a16="http://schemas.microsoft.com/office/drawing/2014/main" val="20009"/>
                    </a:ext>
                  </a:extLst>
                </a:gridCol>
                <a:gridCol w="429320">
                  <a:extLst>
                    <a:ext uri="{9D8B030D-6E8A-4147-A177-3AD203B41FA5}">
                      <a16:colId xmlns:a16="http://schemas.microsoft.com/office/drawing/2014/main" val="20010"/>
                    </a:ext>
                  </a:extLst>
                </a:gridCol>
                <a:gridCol w="429320">
                  <a:extLst>
                    <a:ext uri="{9D8B030D-6E8A-4147-A177-3AD203B41FA5}">
                      <a16:colId xmlns:a16="http://schemas.microsoft.com/office/drawing/2014/main" val="20011"/>
                    </a:ext>
                  </a:extLst>
                </a:gridCol>
                <a:gridCol w="429320">
                  <a:extLst>
                    <a:ext uri="{9D8B030D-6E8A-4147-A177-3AD203B41FA5}">
                      <a16:colId xmlns:a16="http://schemas.microsoft.com/office/drawing/2014/main" val="20012"/>
                    </a:ext>
                  </a:extLst>
                </a:gridCol>
                <a:gridCol w="429320">
                  <a:extLst>
                    <a:ext uri="{9D8B030D-6E8A-4147-A177-3AD203B41FA5}">
                      <a16:colId xmlns:a16="http://schemas.microsoft.com/office/drawing/2014/main" val="20013"/>
                    </a:ext>
                  </a:extLst>
                </a:gridCol>
                <a:gridCol w="429320">
                  <a:extLst>
                    <a:ext uri="{9D8B030D-6E8A-4147-A177-3AD203B41FA5}">
                      <a16:colId xmlns:a16="http://schemas.microsoft.com/office/drawing/2014/main" val="20014"/>
                    </a:ext>
                  </a:extLst>
                </a:gridCol>
                <a:gridCol w="429320">
                  <a:extLst>
                    <a:ext uri="{9D8B030D-6E8A-4147-A177-3AD203B41FA5}">
                      <a16:colId xmlns:a16="http://schemas.microsoft.com/office/drawing/2014/main" val="20015"/>
                    </a:ext>
                  </a:extLst>
                </a:gridCol>
              </a:tblGrid>
              <a:tr h="450143">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0</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1"/>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4"/>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1</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2</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3</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4</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5</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6</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extLst>
                  <a:ext uri="{0D108BD9-81ED-4DB2-BD59-A6C34878D82A}">
                    <a16:rowId xmlns:a16="http://schemas.microsoft.com/office/drawing/2014/main" val="10006"/>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468625">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9"/>
                  </a:ext>
                </a:extLst>
              </a:tr>
            </a:tbl>
          </a:graphicData>
        </a:graphic>
      </p:graphicFrame>
      <p:sp>
        <p:nvSpPr>
          <p:cNvPr id="43" name="矩形 42"/>
          <p:cNvSpPr/>
          <p:nvPr/>
        </p:nvSpPr>
        <p:spPr>
          <a:xfrm>
            <a:off x="107120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0</a:t>
            </a:r>
            <a:endParaRPr lang="zh-TW" altLang="en-US" dirty="0"/>
          </a:p>
        </p:txBody>
      </p:sp>
      <p:sp>
        <p:nvSpPr>
          <p:cNvPr id="44" name="矩形 43"/>
          <p:cNvSpPr/>
          <p:nvPr/>
        </p:nvSpPr>
        <p:spPr>
          <a:xfrm>
            <a:off x="150554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1</a:t>
            </a:r>
            <a:endParaRPr lang="zh-TW" altLang="en-US" dirty="0"/>
          </a:p>
        </p:txBody>
      </p:sp>
      <p:sp>
        <p:nvSpPr>
          <p:cNvPr id="45" name="矩形 44"/>
          <p:cNvSpPr/>
          <p:nvPr/>
        </p:nvSpPr>
        <p:spPr>
          <a:xfrm>
            <a:off x="276284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2</a:t>
            </a:r>
            <a:endParaRPr lang="zh-TW" altLang="en-US" dirty="0"/>
          </a:p>
        </p:txBody>
      </p:sp>
      <p:sp>
        <p:nvSpPr>
          <p:cNvPr id="46" name="矩形 45"/>
          <p:cNvSpPr/>
          <p:nvPr/>
        </p:nvSpPr>
        <p:spPr>
          <a:xfrm>
            <a:off x="3656115"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3</a:t>
            </a:r>
            <a:endParaRPr lang="zh-TW" altLang="en-US" dirty="0"/>
          </a:p>
        </p:txBody>
      </p:sp>
      <p:sp>
        <p:nvSpPr>
          <p:cNvPr id="47" name="矩形 46"/>
          <p:cNvSpPr/>
          <p:nvPr/>
        </p:nvSpPr>
        <p:spPr>
          <a:xfrm>
            <a:off x="4920045"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4</a:t>
            </a:r>
            <a:endParaRPr lang="zh-TW" altLang="en-US" dirty="0"/>
          </a:p>
        </p:txBody>
      </p:sp>
      <p:sp>
        <p:nvSpPr>
          <p:cNvPr id="48" name="矩形 47"/>
          <p:cNvSpPr/>
          <p:nvPr/>
        </p:nvSpPr>
        <p:spPr>
          <a:xfrm>
            <a:off x="5778383"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5</a:t>
            </a:r>
            <a:endParaRPr lang="zh-TW" altLang="en-US" dirty="0"/>
          </a:p>
        </p:txBody>
      </p:sp>
      <p:sp>
        <p:nvSpPr>
          <p:cNvPr id="49" name="矩形 48"/>
          <p:cNvSpPr/>
          <p:nvPr/>
        </p:nvSpPr>
        <p:spPr>
          <a:xfrm>
            <a:off x="6653198" y="1533605"/>
            <a:ext cx="402674" cy="369332"/>
          </a:xfrm>
          <a:prstGeom prst="rect">
            <a:avLst/>
          </a:prstGeom>
        </p:spPr>
        <p:txBody>
          <a:bodyPr wrap="none">
            <a:spAutoFit/>
          </a:bodyPr>
          <a:lstStyle/>
          <a:p>
            <a:r>
              <a:rPr lang="en-US" altLang="zh-TW" dirty="0">
                <a:latin typeface="Times New Roman" panose="02020603050405020304" pitchFamily="18" charset="0"/>
                <a:cs typeface="Times New Roman" panose="02020603050405020304" pitchFamily="18" charset="0"/>
              </a:rPr>
              <a:t>L</a:t>
            </a:r>
            <a:r>
              <a:rPr lang="en-US" altLang="zh-TW" baseline="-25000" dirty="0">
                <a:latin typeface="Times New Roman" panose="02020603050405020304" pitchFamily="18" charset="0"/>
                <a:cs typeface="Times New Roman" panose="02020603050405020304" pitchFamily="18" charset="0"/>
              </a:rPr>
              <a:t>6</a:t>
            </a:r>
            <a:endParaRPr lang="zh-TW" altLang="en-US" dirty="0"/>
          </a:p>
        </p:txBody>
      </p:sp>
      <p:sp>
        <p:nvSpPr>
          <p:cNvPr id="12" name="文字方塊 11"/>
          <p:cNvSpPr txBox="1"/>
          <p:nvPr/>
        </p:nvSpPr>
        <p:spPr>
          <a:xfrm>
            <a:off x="7873182" y="3394948"/>
            <a:ext cx="3935476" cy="646331"/>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max{L</a:t>
            </a:r>
            <a:r>
              <a:rPr lang="en-US" altLang="zh-TW" baseline="-25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L</a:t>
            </a:r>
            <a:r>
              <a:rPr lang="en-US" altLang="zh-TW" baseline="-25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 L</a:t>
            </a:r>
            <a:r>
              <a:rPr lang="en-US" altLang="zh-TW" baseline="-25000" dirty="0">
                <a:latin typeface="Times New Roman" panose="02020603050405020304" pitchFamily="18" charset="0"/>
                <a:cs typeface="Times New Roman" panose="02020603050405020304" pitchFamily="18" charset="0"/>
              </a:rPr>
              <a:t>4</a:t>
            </a:r>
            <a:r>
              <a:rPr lang="en-US" altLang="zh-TW" dirty="0"/>
              <a:t>,</a:t>
            </a:r>
            <a:r>
              <a:rPr lang="en-US" altLang="zh-TW" dirty="0">
                <a:latin typeface="Times New Roman" panose="02020603050405020304" pitchFamily="18" charset="0"/>
                <a:cs typeface="Times New Roman" panose="02020603050405020304" pitchFamily="18" charset="0"/>
              </a:rPr>
              <a:t> L</a:t>
            </a:r>
            <a:r>
              <a:rPr lang="en-US" altLang="zh-TW" baseline="-25000" dirty="0">
                <a:latin typeface="Times New Roman" panose="02020603050405020304" pitchFamily="18" charset="0"/>
                <a:cs typeface="Times New Roman" panose="02020603050405020304" pitchFamily="18" charset="0"/>
              </a:rPr>
              <a:t>5</a:t>
            </a:r>
            <a:r>
              <a:rPr lang="en-US" altLang="zh-TW" dirty="0"/>
              <a:t>,</a:t>
            </a:r>
            <a:r>
              <a:rPr lang="en-US" altLang="zh-TW" dirty="0">
                <a:latin typeface="Times New Roman" panose="02020603050405020304" pitchFamily="18" charset="0"/>
                <a:cs typeface="Times New Roman" panose="02020603050405020304" pitchFamily="18" charset="0"/>
              </a:rPr>
              <a:t> L</a:t>
            </a:r>
            <a:r>
              <a:rPr lang="en-US" altLang="zh-TW" baseline="-25000" dirty="0">
                <a:latin typeface="Times New Roman" panose="02020603050405020304" pitchFamily="18" charset="0"/>
                <a:cs typeface="Times New Roman" panose="02020603050405020304" pitchFamily="18" charset="0"/>
              </a:rPr>
              <a:t>6</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- 1(</a:t>
            </a:r>
            <a:r>
              <a:rPr lang="zh-TW" altLang="en-US" sz="1200" dirty="0">
                <a:solidFill>
                  <a:srgbClr val="FF0000"/>
                </a:solidFill>
                <a:latin typeface="標楷體" panose="03000509000000000000" pitchFamily="65" charset="-120"/>
                <a:ea typeface="標楷體" panose="03000509000000000000" pitchFamily="65" charset="-120"/>
                <a:cs typeface="Times New Roman" panose="02020603050405020304" pitchFamily="18" charset="0"/>
              </a:rPr>
              <a:t>後面有</a:t>
            </a:r>
            <a:r>
              <a:rPr lang="en-US" altLang="zh-TW" sz="1200" dirty="0">
                <a:solidFill>
                  <a:srgbClr val="FF0000"/>
                </a:solidFill>
                <a:latin typeface="標楷體" panose="03000509000000000000" pitchFamily="65" charset="-120"/>
                <a:ea typeface="標楷體" panose="03000509000000000000" pitchFamily="65" charset="-120"/>
                <a:cs typeface="Times New Roman" panose="02020603050405020304" pitchFamily="18" charset="0"/>
              </a:rPr>
              <a:t>a</a:t>
            </a:r>
            <a:r>
              <a:rPr lang="zh-TW" altLang="en-US" sz="1200" dirty="0">
                <a:solidFill>
                  <a:srgbClr val="FF0000"/>
                </a:solidFill>
                <a:latin typeface="標楷體" panose="03000509000000000000" pitchFamily="65" charset="-120"/>
                <a:ea typeface="標楷體" panose="03000509000000000000" pitchFamily="65" charset="-120"/>
                <a:cs typeface="Times New Roman" panose="02020603050405020304" pitchFamily="18" charset="0"/>
              </a:rPr>
              <a:t>的數量</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7</a:t>
            </a:r>
          </a:p>
        </p:txBody>
      </p:sp>
      <p:graphicFrame>
        <p:nvGraphicFramePr>
          <p:cNvPr id="13" name="表格 12"/>
          <p:cNvGraphicFramePr>
            <a:graphicFrameLocks noGrp="1"/>
          </p:cNvGraphicFramePr>
          <p:nvPr>
            <p:extLst>
              <p:ext uri="{D42A27DB-BD31-4B8C-83A1-F6EECF244321}">
                <p14:modId xmlns:p14="http://schemas.microsoft.com/office/powerpoint/2010/main" val="2233802173"/>
              </p:ext>
            </p:extLst>
          </p:nvPr>
        </p:nvGraphicFramePr>
        <p:xfrm>
          <a:off x="7939085" y="2827020"/>
          <a:ext cx="3124200" cy="450143"/>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tblGrid>
              <a:tr h="450143">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b</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c</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altLang="zh-TW" b="0" dirty="0">
                          <a:solidFill>
                            <a:schemeClr val="tx1"/>
                          </a:solidFill>
                          <a:latin typeface="Times New Roman" panose="02020603050405020304" pitchFamily="18" charset="0"/>
                          <a:cs typeface="Times New Roman" panose="02020603050405020304" pitchFamily="18" charset="0"/>
                        </a:rPr>
                        <a:t>a</a:t>
                      </a:r>
                      <a:endParaRPr lang="zh-TW" altLang="en-US"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a16="http://schemas.microsoft.com/office/drawing/2014/main" val="10000"/>
                  </a:ext>
                </a:extLst>
              </a:tr>
            </a:tbl>
          </a:graphicData>
        </a:graphic>
      </p:graphicFrame>
      <p:sp>
        <p:nvSpPr>
          <p:cNvPr id="14" name="矩形 13"/>
          <p:cNvSpPr/>
          <p:nvPr/>
        </p:nvSpPr>
        <p:spPr>
          <a:xfrm>
            <a:off x="6846673" y="6108975"/>
            <a:ext cx="426720" cy="46482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5" name="直線接點 14"/>
          <p:cNvCxnSpPr/>
          <p:nvPr/>
        </p:nvCxnSpPr>
        <p:spPr>
          <a:xfrm flipH="1" flipV="1">
            <a:off x="6846673" y="6108975"/>
            <a:ext cx="419100" cy="46482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直線接點 16"/>
          <p:cNvCxnSpPr/>
          <p:nvPr/>
        </p:nvCxnSpPr>
        <p:spPr>
          <a:xfrm flipH="1">
            <a:off x="5988908" y="6100737"/>
            <a:ext cx="857765" cy="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直線接點 17"/>
          <p:cNvCxnSpPr/>
          <p:nvPr/>
        </p:nvCxnSpPr>
        <p:spPr>
          <a:xfrm flipH="1" flipV="1">
            <a:off x="5128261" y="5642920"/>
            <a:ext cx="860649" cy="474294"/>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flipH="1">
            <a:off x="2990335" y="5642920"/>
            <a:ext cx="2140191" cy="0"/>
          </a:xfrm>
          <a:prstGeom prst="line">
            <a:avLst/>
          </a:prstGeom>
          <a:ln w="3810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flipH="1" flipV="1">
            <a:off x="2537254" y="5156887"/>
            <a:ext cx="445977" cy="486033"/>
          </a:xfrm>
          <a:prstGeom prst="line">
            <a:avLst/>
          </a:prstGeom>
          <a:ln w="28575">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sp>
        <p:nvSpPr>
          <p:cNvPr id="21" name="橢圓 20"/>
          <p:cNvSpPr/>
          <p:nvPr/>
        </p:nvSpPr>
        <p:spPr>
          <a:xfrm>
            <a:off x="2476810" y="5097781"/>
            <a:ext cx="106680" cy="83820"/>
          </a:xfrm>
          <a:prstGeom prst="ellipse">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22" name="直線單箭頭接點 21"/>
          <p:cNvCxnSpPr/>
          <p:nvPr/>
        </p:nvCxnSpPr>
        <p:spPr>
          <a:xfrm>
            <a:off x="2538388" y="5069669"/>
            <a:ext cx="7104" cy="172994"/>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直線單箭頭接點 22"/>
          <p:cNvCxnSpPr/>
          <p:nvPr/>
        </p:nvCxnSpPr>
        <p:spPr>
          <a:xfrm>
            <a:off x="2976127" y="5181601"/>
            <a:ext cx="0" cy="461319"/>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直線單箭頭接點 23"/>
          <p:cNvCxnSpPr/>
          <p:nvPr/>
        </p:nvCxnSpPr>
        <p:spPr>
          <a:xfrm>
            <a:off x="3845219" y="5181601"/>
            <a:ext cx="0" cy="461319"/>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直線單箭頭接點 24"/>
          <p:cNvCxnSpPr/>
          <p:nvPr/>
        </p:nvCxnSpPr>
        <p:spPr>
          <a:xfrm>
            <a:off x="5128261" y="5181601"/>
            <a:ext cx="0" cy="461319"/>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線單箭頭接點 25"/>
          <p:cNvCxnSpPr/>
          <p:nvPr/>
        </p:nvCxnSpPr>
        <p:spPr>
          <a:xfrm>
            <a:off x="5988908" y="5181601"/>
            <a:ext cx="0" cy="919136"/>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7" name="直線單箭頭接點 26"/>
          <p:cNvCxnSpPr/>
          <p:nvPr/>
        </p:nvCxnSpPr>
        <p:spPr>
          <a:xfrm>
            <a:off x="6846673" y="5181601"/>
            <a:ext cx="0" cy="919136"/>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8" name="文字方塊 27"/>
          <p:cNvSpPr txBox="1"/>
          <p:nvPr/>
        </p:nvSpPr>
        <p:spPr>
          <a:xfrm>
            <a:off x="7873182" y="4159064"/>
            <a:ext cx="3935476" cy="369332"/>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Orange : 1+4 = 5</a:t>
            </a:r>
          </a:p>
        </p:txBody>
      </p:sp>
    </p:spTree>
    <p:extLst>
      <p:ext uri="{BB962C8B-B14F-4D97-AF65-F5344CB8AC3E}">
        <p14:creationId xmlns:p14="http://schemas.microsoft.com/office/powerpoint/2010/main" val="298364909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Times New Roman" panose="02020603050405020304" pitchFamily="18" charset="0"/>
                <a:cs typeface="Times New Roman" panose="02020603050405020304" pitchFamily="18" charset="0"/>
              </a:rPr>
              <a:t>Time complexity</a:t>
            </a:r>
            <a:endParaRPr lang="zh-TW" altLang="en-US" dirty="0">
              <a:latin typeface="Times New Roman" panose="02020603050405020304" pitchFamily="18" charset="0"/>
              <a:cs typeface="Times New Roman" panose="02020603050405020304" pitchFamily="18" charset="0"/>
            </a:endParaRPr>
          </a:p>
        </p:txBody>
      </p:sp>
      <p:sp>
        <p:nvSpPr>
          <p:cNvPr id="3" name="內容版面配置區 2"/>
          <p:cNvSpPr>
            <a:spLocks noGrp="1"/>
          </p:cNvSpPr>
          <p:nvPr>
            <p:ph idx="1"/>
          </p:nvPr>
        </p:nvSpPr>
        <p:spPr/>
        <p:txBody>
          <a:bodyPr/>
          <a:lstStyle/>
          <a:p>
            <a:r>
              <a:rPr lang="en-US" altLang="zh-TW" dirty="0">
                <a:latin typeface="Times New Roman" panose="02020603050405020304" pitchFamily="18" charset="0"/>
                <a:cs typeface="Times New Roman" panose="02020603050405020304" pitchFamily="18" charset="0"/>
              </a:rPr>
              <a:t>O(</a:t>
            </a:r>
            <a:r>
              <a:rPr lang="en-US" altLang="zh-TW" dirty="0" err="1">
                <a:latin typeface="Times New Roman" panose="02020603050405020304" pitchFamily="18" charset="0"/>
                <a:cs typeface="Times New Roman" panose="02020603050405020304" pitchFamily="18" charset="0"/>
              </a:rPr>
              <a:t>NM+min</a:t>
            </a:r>
            <a:r>
              <a:rPr lang="en-US" altLang="zh-TW" dirty="0">
                <a:latin typeface="Times New Roman" panose="02020603050405020304" pitchFamily="18" charset="0"/>
                <a:cs typeface="Times New Roman" panose="02020603050405020304" pitchFamily="18" charset="0"/>
              </a:rPr>
              <a:t>{p1,p2})</a:t>
            </a:r>
          </a:p>
          <a:p>
            <a:pPr lvl="1"/>
            <a:r>
              <a:rPr lang="en-US" altLang="zh-TW" dirty="0">
                <a:latin typeface="Times New Roman" panose="02020603050405020304" pitchFamily="18" charset="0"/>
                <a:cs typeface="Times New Roman" panose="02020603050405020304" pitchFamily="18" charset="0"/>
              </a:rPr>
              <a:t>N runs in X</a:t>
            </a:r>
          </a:p>
          <a:p>
            <a:pPr lvl="1"/>
            <a:r>
              <a:rPr lang="en-US" altLang="zh-TW" dirty="0">
                <a:latin typeface="Times New Roman" panose="02020603050405020304" pitchFamily="18" charset="0"/>
                <a:cs typeface="Times New Roman" panose="02020603050405020304" pitchFamily="18" charset="0"/>
              </a:rPr>
              <a:t>M runs in Y </a:t>
            </a:r>
          </a:p>
          <a:p>
            <a:pPr lvl="1"/>
            <a:r>
              <a:rPr lang="en-US" altLang="zh-TW" dirty="0">
                <a:latin typeface="Times New Roman" panose="02020603050405020304" pitchFamily="18" charset="0"/>
                <a:cs typeface="Times New Roman" panose="02020603050405020304" pitchFamily="18" charset="0"/>
              </a:rPr>
              <a:t>p1 and p2 denote the numbers of elements in the bottom and right boundaries of the matched blocks</a:t>
            </a:r>
            <a:endParaRPr lang="zh-TW" alt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70686972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Times New Roman" panose="02020603050405020304" pitchFamily="18" charset="0"/>
                <a:cs typeface="Times New Roman" panose="02020603050405020304" pitchFamily="18" charset="0"/>
              </a:rPr>
              <a:t>Constrained LCS </a:t>
            </a:r>
            <a:endParaRPr lang="zh-TW" altLang="en-US" dirty="0">
              <a:latin typeface="Times New Roman" panose="02020603050405020304" pitchFamily="18" charset="0"/>
              <a:cs typeface="Times New Roman" panose="02020603050405020304" pitchFamily="18" charset="0"/>
            </a:endParaRPr>
          </a:p>
        </p:txBody>
      </p:sp>
      <p:sp>
        <p:nvSpPr>
          <p:cNvPr id="3" name="內容版面配置區 2"/>
          <p:cNvSpPr>
            <a:spLocks noGrp="1"/>
          </p:cNvSpPr>
          <p:nvPr>
            <p:ph idx="1"/>
          </p:nvPr>
        </p:nvSpPr>
        <p:spPr>
          <a:xfrm>
            <a:off x="838200" y="1825625"/>
            <a:ext cx="10515600" cy="4961674"/>
          </a:xfrm>
        </p:spPr>
        <p:txBody>
          <a:bodyPr>
            <a:normAutofit/>
          </a:bodyPr>
          <a:lstStyle/>
          <a:p>
            <a:r>
              <a:rPr lang="en-US" altLang="zh-TW" dirty="0">
                <a:latin typeface="Times New Roman" panose="02020603050405020304" pitchFamily="18" charset="0"/>
                <a:cs typeface="Times New Roman" panose="02020603050405020304" pitchFamily="18" charset="0"/>
              </a:rPr>
              <a:t>X = </a:t>
            </a:r>
            <a:r>
              <a:rPr lang="en-US" altLang="zh-TW" dirty="0" err="1">
                <a:latin typeface="Times New Roman" panose="02020603050405020304" pitchFamily="18" charset="0"/>
                <a:cs typeface="Times New Roman" panose="02020603050405020304" pitchFamily="18" charset="0"/>
              </a:rPr>
              <a:t>abbbccaaa</a:t>
            </a:r>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X can encoded as a</a:t>
            </a:r>
            <a:r>
              <a:rPr lang="en-US" altLang="zh-TW" baseline="30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b</a:t>
            </a:r>
            <a:r>
              <a:rPr lang="en-US" altLang="zh-TW" baseline="30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c</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a</a:t>
            </a:r>
            <a:r>
              <a:rPr lang="en-US" altLang="zh-TW" baseline="30000" dirty="0">
                <a:latin typeface="Times New Roman" panose="02020603050405020304" pitchFamily="18" charset="0"/>
                <a:cs typeface="Times New Roman" panose="02020603050405020304" pitchFamily="18" charset="0"/>
              </a:rPr>
              <a:t>3 </a:t>
            </a:r>
            <a:r>
              <a:rPr lang="en-US" altLang="zh-TW" dirty="0">
                <a:latin typeface="Times New Roman" panose="02020603050405020304" pitchFamily="18" charset="0"/>
                <a:cs typeface="Times New Roman" panose="02020603050405020304" pitchFamily="18" charset="0"/>
              </a:rPr>
              <a:t> </a:t>
            </a:r>
          </a:p>
          <a:p>
            <a:pPr lvl="1"/>
            <a:r>
              <a:rPr lang="en-US" altLang="zh-TW" dirty="0">
                <a:latin typeface="Times New Roman" panose="02020603050405020304" pitchFamily="18" charset="0"/>
                <a:cs typeface="Times New Roman" panose="02020603050405020304" pitchFamily="18" charset="0"/>
              </a:rPr>
              <a:t>RX</a:t>
            </a:r>
            <a:r>
              <a:rPr lang="en-US" altLang="zh-TW" baseline="-25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 = a, RX</a:t>
            </a:r>
            <a:r>
              <a:rPr lang="en-US" altLang="zh-TW" baseline="-25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 b, RX</a:t>
            </a:r>
            <a:r>
              <a:rPr lang="en-US" altLang="zh-TW" baseline="-25000" dirty="0">
                <a:latin typeface="Times New Roman" panose="02020603050405020304" pitchFamily="18" charset="0"/>
                <a:cs typeface="Times New Roman" panose="02020603050405020304" pitchFamily="18" charset="0"/>
              </a:rPr>
              <a:t>3 </a:t>
            </a:r>
            <a:r>
              <a:rPr lang="en-US" altLang="zh-TW" dirty="0">
                <a:latin typeface="Times New Roman" panose="02020603050405020304" pitchFamily="18" charset="0"/>
                <a:cs typeface="Times New Roman" panose="02020603050405020304" pitchFamily="18" charset="0"/>
              </a:rPr>
              <a:t>= c, RX</a:t>
            </a:r>
            <a:r>
              <a:rPr lang="en-US" altLang="zh-TW" baseline="-25000" dirty="0">
                <a:latin typeface="Times New Roman" panose="02020603050405020304" pitchFamily="18" charset="0"/>
                <a:cs typeface="Times New Roman" panose="02020603050405020304" pitchFamily="18" charset="0"/>
              </a:rPr>
              <a:t>4</a:t>
            </a:r>
            <a:r>
              <a:rPr lang="en-US" altLang="zh-TW" dirty="0">
                <a:latin typeface="Times New Roman" panose="02020603050405020304" pitchFamily="18" charset="0"/>
                <a:cs typeface="Times New Roman" panose="02020603050405020304" pitchFamily="18" charset="0"/>
              </a:rPr>
              <a:t> = a</a:t>
            </a:r>
            <a:endParaRPr lang="en-US" altLang="zh-TW" dirty="0">
              <a:solidFill>
                <a:srgbClr val="FF0000"/>
              </a:solidFill>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Y = </a:t>
            </a:r>
            <a:r>
              <a:rPr lang="en-US" altLang="zh-TW" dirty="0" err="1">
                <a:latin typeface="Times New Roman" panose="02020603050405020304" pitchFamily="18" charset="0"/>
                <a:cs typeface="Times New Roman" panose="02020603050405020304" pitchFamily="18" charset="0"/>
              </a:rPr>
              <a:t>baaaccbbbaaccaa</a:t>
            </a:r>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Y can encoded as b</a:t>
            </a:r>
            <a:r>
              <a:rPr lang="en-US" altLang="zh-TW" baseline="30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a</a:t>
            </a:r>
            <a:r>
              <a:rPr lang="en-US" altLang="zh-TW" baseline="30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c</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b</a:t>
            </a:r>
            <a:r>
              <a:rPr lang="en-US" altLang="zh-TW" baseline="30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a</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c</a:t>
            </a:r>
            <a:r>
              <a:rPr lang="en-US" altLang="zh-TW" baseline="30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a</a:t>
            </a:r>
            <a:r>
              <a:rPr lang="en-US" altLang="zh-TW" baseline="30000" dirty="0">
                <a:latin typeface="Times New Roman" panose="02020603050405020304" pitchFamily="18" charset="0"/>
                <a:cs typeface="Times New Roman" panose="02020603050405020304" pitchFamily="18" charset="0"/>
              </a:rPr>
              <a:t>2</a:t>
            </a:r>
          </a:p>
          <a:p>
            <a:pPr lvl="1"/>
            <a:r>
              <a:rPr lang="en-US" altLang="zh-TW" dirty="0">
                <a:latin typeface="Times New Roman" panose="02020603050405020304" pitchFamily="18" charset="0"/>
                <a:cs typeface="Times New Roman" panose="02020603050405020304" pitchFamily="18" charset="0"/>
              </a:rPr>
              <a:t>RY</a:t>
            </a:r>
            <a:r>
              <a:rPr lang="en-US" altLang="zh-TW" baseline="-25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 = b, RY</a:t>
            </a:r>
            <a:r>
              <a:rPr lang="en-US" altLang="zh-TW" baseline="-25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 a, RY</a:t>
            </a:r>
            <a:r>
              <a:rPr lang="en-US" altLang="zh-TW" baseline="-25000" dirty="0">
                <a:latin typeface="Times New Roman" panose="02020603050405020304" pitchFamily="18" charset="0"/>
                <a:cs typeface="Times New Roman" panose="02020603050405020304" pitchFamily="18" charset="0"/>
              </a:rPr>
              <a:t>3 </a:t>
            </a:r>
            <a:r>
              <a:rPr lang="en-US" altLang="zh-TW" dirty="0">
                <a:latin typeface="Times New Roman" panose="02020603050405020304" pitchFamily="18" charset="0"/>
                <a:cs typeface="Times New Roman" panose="02020603050405020304" pitchFamily="18" charset="0"/>
              </a:rPr>
              <a:t>= c, RY</a:t>
            </a:r>
            <a:r>
              <a:rPr lang="en-US" altLang="zh-TW" baseline="-25000" dirty="0">
                <a:latin typeface="Times New Roman" panose="02020603050405020304" pitchFamily="18" charset="0"/>
                <a:cs typeface="Times New Roman" panose="02020603050405020304" pitchFamily="18" charset="0"/>
              </a:rPr>
              <a:t>4 </a:t>
            </a:r>
            <a:r>
              <a:rPr lang="en-US" altLang="zh-TW" dirty="0">
                <a:latin typeface="Times New Roman" panose="02020603050405020304" pitchFamily="18" charset="0"/>
                <a:cs typeface="Times New Roman" panose="02020603050405020304" pitchFamily="18" charset="0"/>
              </a:rPr>
              <a:t>= b, RY</a:t>
            </a:r>
            <a:r>
              <a:rPr lang="en-US" altLang="zh-TW" baseline="-25000" dirty="0">
                <a:latin typeface="Times New Roman" panose="02020603050405020304" pitchFamily="18" charset="0"/>
                <a:cs typeface="Times New Roman" panose="02020603050405020304" pitchFamily="18" charset="0"/>
              </a:rPr>
              <a:t>5</a:t>
            </a:r>
            <a:r>
              <a:rPr lang="en-US" altLang="zh-TW" dirty="0">
                <a:latin typeface="Times New Roman" panose="02020603050405020304" pitchFamily="18" charset="0"/>
                <a:cs typeface="Times New Roman" panose="02020603050405020304" pitchFamily="18" charset="0"/>
              </a:rPr>
              <a:t> = a, RY</a:t>
            </a:r>
            <a:r>
              <a:rPr lang="en-US" altLang="zh-TW" baseline="-25000" dirty="0">
                <a:latin typeface="Times New Roman" panose="02020603050405020304" pitchFamily="18" charset="0"/>
                <a:cs typeface="Times New Roman" panose="02020603050405020304" pitchFamily="18" charset="0"/>
              </a:rPr>
              <a:t>6</a:t>
            </a:r>
            <a:r>
              <a:rPr lang="en-US" altLang="zh-TW" dirty="0">
                <a:latin typeface="Times New Roman" panose="02020603050405020304" pitchFamily="18" charset="0"/>
                <a:cs typeface="Times New Roman" panose="02020603050405020304" pitchFamily="18" charset="0"/>
              </a:rPr>
              <a:t> = c, RY</a:t>
            </a:r>
            <a:r>
              <a:rPr lang="en-US" altLang="zh-TW" baseline="-25000" dirty="0">
                <a:latin typeface="Times New Roman" panose="02020603050405020304" pitchFamily="18" charset="0"/>
                <a:cs typeface="Times New Roman" panose="02020603050405020304" pitchFamily="18" charset="0"/>
              </a:rPr>
              <a:t>7</a:t>
            </a:r>
            <a:r>
              <a:rPr lang="en-US" altLang="zh-TW" dirty="0">
                <a:latin typeface="Times New Roman" panose="02020603050405020304" pitchFamily="18" charset="0"/>
                <a:cs typeface="Times New Roman" panose="02020603050405020304" pitchFamily="18" charset="0"/>
              </a:rPr>
              <a:t>=a</a:t>
            </a:r>
            <a:endParaRPr lang="en-US" altLang="zh-TW" dirty="0">
              <a:solidFill>
                <a:srgbClr val="FF0000"/>
              </a:solidFill>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P = </a:t>
            </a:r>
            <a:r>
              <a:rPr lang="en-US" altLang="zh-TW" dirty="0" err="1">
                <a:latin typeface="Times New Roman" panose="02020603050405020304" pitchFamily="18" charset="0"/>
                <a:cs typeface="Times New Roman" panose="02020603050405020304" pitchFamily="18" charset="0"/>
              </a:rPr>
              <a:t>aaa</a:t>
            </a:r>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P can encoded as a</a:t>
            </a:r>
            <a:r>
              <a:rPr lang="en-US" altLang="zh-TW" baseline="30000" dirty="0">
                <a:latin typeface="Times New Roman" panose="02020603050405020304" pitchFamily="18" charset="0"/>
                <a:cs typeface="Times New Roman" panose="02020603050405020304" pitchFamily="18" charset="0"/>
              </a:rPr>
              <a:t>3</a:t>
            </a:r>
          </a:p>
          <a:p>
            <a:pPr lvl="1"/>
            <a:r>
              <a:rPr lang="en-US" altLang="zh-TW" dirty="0">
                <a:latin typeface="Times New Roman" panose="02020603050405020304" pitchFamily="18" charset="0"/>
                <a:cs typeface="Times New Roman" panose="02020603050405020304" pitchFamily="18" charset="0"/>
              </a:rPr>
              <a:t>RP</a:t>
            </a:r>
            <a:r>
              <a:rPr lang="en-US" altLang="zh-TW" baseline="-25000" dirty="0">
                <a:latin typeface="Times New Roman" panose="02020603050405020304" pitchFamily="18" charset="0"/>
                <a:cs typeface="Times New Roman" panose="02020603050405020304" pitchFamily="18" charset="0"/>
              </a:rPr>
              <a:t>1 </a:t>
            </a:r>
            <a:r>
              <a:rPr lang="en-US" altLang="zh-TW" dirty="0">
                <a:latin typeface="Times New Roman" panose="02020603050405020304" pitchFamily="18" charset="0"/>
                <a:cs typeface="Times New Roman" panose="02020603050405020304" pitchFamily="18" charset="0"/>
              </a:rPr>
              <a:t>= a</a:t>
            </a:r>
          </a:p>
          <a:p>
            <a:r>
              <a:rPr lang="en-US" altLang="zh-TW" dirty="0">
                <a:latin typeface="Times New Roman" panose="02020603050405020304" pitchFamily="18" charset="0"/>
                <a:cs typeface="Times New Roman" panose="02020603050405020304" pitchFamily="18" charset="0"/>
              </a:rPr>
              <a:t>LCS(X,Y,P) = </a:t>
            </a:r>
            <a:r>
              <a:rPr lang="en-US" altLang="zh-TW" dirty="0" err="1">
                <a:latin typeface="Times New Roman" panose="02020603050405020304" pitchFamily="18" charset="0"/>
                <a:cs typeface="Times New Roman" panose="02020603050405020304" pitchFamily="18" charset="0"/>
              </a:rPr>
              <a:t>abbbaaa</a:t>
            </a:r>
            <a:endParaRPr lang="en-US" altLang="zh-TW" dirty="0">
              <a:latin typeface="Times New Roman" panose="02020603050405020304" pitchFamily="18" charset="0"/>
              <a:cs typeface="Times New Roman" panose="02020603050405020304" pitchFamily="18" charset="0"/>
            </a:endParaRPr>
          </a:p>
          <a:p>
            <a:pPr marL="0" indent="0">
              <a:buNone/>
            </a:pPr>
            <a:endParaRPr lang="en-US" altLang="zh-TW"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4724602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Times New Roman" panose="02020603050405020304" pitchFamily="18" charset="0"/>
                <a:cs typeface="Times New Roman" panose="02020603050405020304" pitchFamily="18" charset="0"/>
              </a:rPr>
              <a:t>Constrained LCS </a:t>
            </a:r>
            <a:endParaRPr lang="zh-TW" altLang="en-US" dirty="0">
              <a:latin typeface="Times New Roman" panose="02020603050405020304" pitchFamily="18" charset="0"/>
              <a:cs typeface="Times New Roman" panose="02020603050405020304" pitchFamily="18" charset="0"/>
            </a:endParaRPr>
          </a:p>
        </p:txBody>
      </p:sp>
      <p:sp>
        <p:nvSpPr>
          <p:cNvPr id="9" name="文字方塊 8"/>
          <p:cNvSpPr txBox="1"/>
          <p:nvPr/>
        </p:nvSpPr>
        <p:spPr>
          <a:xfrm>
            <a:off x="8982796" y="2828835"/>
            <a:ext cx="2776151" cy="1200329"/>
          </a:xfrm>
          <a:prstGeom prst="rect">
            <a:avLst/>
          </a:prstGeom>
          <a:noFill/>
        </p:spPr>
        <p:txBody>
          <a:bodyPr wrap="square" rtlCol="0">
            <a:spAutoFit/>
          </a:bodyPr>
          <a:lstStyle/>
          <a:p>
            <a:r>
              <a:rPr lang="en-US" altLang="zh-TW" dirty="0">
                <a:latin typeface="Times New Roman" panose="02020603050405020304" pitchFamily="18" charset="0"/>
                <a:cs typeface="Times New Roman" panose="02020603050405020304" pitchFamily="18" charset="0"/>
              </a:rPr>
              <a:t>P</a:t>
            </a:r>
            <a:r>
              <a:rPr lang="en-US" altLang="zh-TW" baseline="-25000" dirty="0">
                <a:latin typeface="Times New Roman" panose="02020603050405020304" pitchFamily="18" charset="0"/>
                <a:cs typeface="Times New Roman" panose="02020603050405020304" pitchFamily="18" charset="0"/>
              </a:rPr>
              <a:t>0 </a:t>
            </a:r>
            <a:r>
              <a:rPr lang="en-US" altLang="zh-TW" dirty="0">
                <a:latin typeface="Times New Roman" panose="02020603050405020304" pitchFamily="18" charset="0"/>
                <a:cs typeface="Times New Roman" panose="02020603050405020304" pitchFamily="18" charset="0"/>
              </a:rPr>
              <a:t>: no constraint </a:t>
            </a:r>
            <a:endParaRPr lang="en-US" altLang="zh-TW" baseline="-25000"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P</a:t>
            </a:r>
            <a:r>
              <a:rPr lang="en-US" altLang="zh-TW" baseline="-25000" dirty="0">
                <a:latin typeface="Times New Roman" panose="02020603050405020304" pitchFamily="18" charset="0"/>
                <a:cs typeface="Times New Roman" panose="02020603050405020304" pitchFamily="18" charset="0"/>
              </a:rPr>
              <a:t>1</a:t>
            </a:r>
            <a:r>
              <a:rPr lang="en-US" altLang="zh-TW" dirty="0">
                <a:latin typeface="Times New Roman" panose="02020603050405020304" pitchFamily="18" charset="0"/>
                <a:cs typeface="Times New Roman" panose="02020603050405020304" pitchFamily="18" charset="0"/>
              </a:rPr>
              <a:t>: consist ‘a’  </a:t>
            </a:r>
            <a:endParaRPr lang="en-US" altLang="zh-TW" baseline="-25000"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P</a:t>
            </a:r>
            <a:r>
              <a:rPr lang="en-US" altLang="zh-TW" baseline="-25000" dirty="0">
                <a:latin typeface="Times New Roman" panose="02020603050405020304" pitchFamily="18" charset="0"/>
                <a:cs typeface="Times New Roman" panose="02020603050405020304" pitchFamily="18" charset="0"/>
              </a:rPr>
              <a:t>2</a:t>
            </a:r>
            <a:r>
              <a:rPr lang="en-US" altLang="zh-TW" dirty="0">
                <a:latin typeface="Times New Roman" panose="02020603050405020304" pitchFamily="18" charset="0"/>
                <a:cs typeface="Times New Roman" panose="02020603050405020304" pitchFamily="18" charset="0"/>
              </a:rPr>
              <a:t>: consist ‘aa’ </a:t>
            </a:r>
          </a:p>
          <a:p>
            <a:r>
              <a:rPr lang="en-US" altLang="zh-TW" dirty="0">
                <a:latin typeface="Times New Roman" panose="02020603050405020304" pitchFamily="18" charset="0"/>
                <a:cs typeface="Times New Roman" panose="02020603050405020304" pitchFamily="18" charset="0"/>
              </a:rPr>
              <a:t>P</a:t>
            </a:r>
            <a:r>
              <a:rPr lang="en-US" altLang="zh-TW" baseline="-25000" dirty="0">
                <a:latin typeface="Times New Roman" panose="02020603050405020304" pitchFamily="18" charset="0"/>
                <a:cs typeface="Times New Roman" panose="02020603050405020304" pitchFamily="18" charset="0"/>
              </a:rPr>
              <a:t>3</a:t>
            </a:r>
            <a:r>
              <a:rPr lang="en-US" altLang="zh-TW" dirty="0">
                <a:latin typeface="Times New Roman" panose="02020603050405020304" pitchFamily="18" charset="0"/>
                <a:cs typeface="Times New Roman" panose="02020603050405020304" pitchFamily="18" charset="0"/>
              </a:rPr>
              <a:t>: consist ‘</a:t>
            </a:r>
            <a:r>
              <a:rPr lang="en-US" altLang="zh-TW" dirty="0" err="1">
                <a:latin typeface="Times New Roman" panose="02020603050405020304" pitchFamily="18" charset="0"/>
                <a:cs typeface="Times New Roman" panose="02020603050405020304" pitchFamily="18" charset="0"/>
              </a:rPr>
              <a:t>aaa</a:t>
            </a:r>
            <a:r>
              <a:rPr lang="en-US" altLang="zh-TW" dirty="0">
                <a:latin typeface="Times New Roman" panose="02020603050405020304" pitchFamily="18" charset="0"/>
                <a:cs typeface="Times New Roman" panose="02020603050405020304" pitchFamily="18" charset="0"/>
              </a:rPr>
              <a:t>’ </a:t>
            </a:r>
          </a:p>
        </p:txBody>
      </p:sp>
      <p:graphicFrame>
        <p:nvGraphicFramePr>
          <p:cNvPr id="10" name="內容版面配置區 10"/>
          <p:cNvGraphicFramePr>
            <a:graphicFrameLocks/>
          </p:cNvGraphicFramePr>
          <p:nvPr>
            <p:extLst>
              <p:ext uri="{D42A27DB-BD31-4B8C-83A1-F6EECF244321}">
                <p14:modId xmlns:p14="http://schemas.microsoft.com/office/powerpoint/2010/main" val="1599224093"/>
              </p:ext>
            </p:extLst>
          </p:nvPr>
        </p:nvGraphicFramePr>
        <p:xfrm>
          <a:off x="4580450" y="15114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11" name="內容版面配置區 10"/>
          <p:cNvGraphicFramePr>
            <a:graphicFrameLocks/>
          </p:cNvGraphicFramePr>
          <p:nvPr>
            <p:extLst>
              <p:ext uri="{D42A27DB-BD31-4B8C-83A1-F6EECF244321}">
                <p14:modId xmlns:p14="http://schemas.microsoft.com/office/powerpoint/2010/main" val="2878760891"/>
              </p:ext>
            </p:extLst>
          </p:nvPr>
        </p:nvGraphicFramePr>
        <p:xfrm>
          <a:off x="976396" y="42470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12" name="內容版面配置區 10"/>
          <p:cNvGraphicFramePr>
            <a:graphicFrameLocks/>
          </p:cNvGraphicFramePr>
          <p:nvPr>
            <p:extLst>
              <p:ext uri="{D42A27DB-BD31-4B8C-83A1-F6EECF244321}">
                <p14:modId xmlns:p14="http://schemas.microsoft.com/office/powerpoint/2010/main" val="1238885331"/>
              </p:ext>
            </p:extLst>
          </p:nvPr>
        </p:nvGraphicFramePr>
        <p:xfrm>
          <a:off x="4580450" y="42470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
        <p:nvSpPr>
          <p:cNvPr id="13" name="文字方塊 12">
            <a:extLst>
              <a:ext uri="{FF2B5EF4-FFF2-40B4-BE49-F238E27FC236}">
                <a16:creationId xmlns:a16="http://schemas.microsoft.com/office/drawing/2014/main" id="{E439B60C-A0AF-41B3-87D7-C4BA08FFF65B}"/>
              </a:ext>
            </a:extLst>
          </p:cNvPr>
          <p:cNvSpPr txBox="1"/>
          <p:nvPr/>
        </p:nvSpPr>
        <p:spPr>
          <a:xfrm>
            <a:off x="502263" y="1506022"/>
            <a:ext cx="585132" cy="369332"/>
          </a:xfrm>
          <a:prstGeom prst="rect">
            <a:avLst/>
          </a:prstGeom>
          <a:noFill/>
        </p:spPr>
        <p:txBody>
          <a:bodyPr wrap="square">
            <a:spAutoFit/>
          </a:bodyPr>
          <a:lstStyle/>
          <a:p>
            <a:r>
              <a:rPr lang="en-US" altLang="zh-TW" dirty="0">
                <a:latin typeface="Times New Roman" panose="02020603050405020304" pitchFamily="18" charset="0"/>
                <a:cs typeface="Times New Roman" panose="02020603050405020304" pitchFamily="18" charset="0"/>
              </a:rPr>
              <a:t>P</a:t>
            </a:r>
            <a:r>
              <a:rPr lang="en-US" altLang="zh-TW" baseline="-25000" dirty="0">
                <a:latin typeface="Times New Roman" panose="02020603050405020304" pitchFamily="18" charset="0"/>
                <a:cs typeface="Times New Roman" panose="02020603050405020304" pitchFamily="18" charset="0"/>
              </a:rPr>
              <a:t>0</a:t>
            </a:r>
            <a:endParaRPr lang="zh-TW" altLang="en-US" dirty="0"/>
          </a:p>
        </p:txBody>
      </p:sp>
      <p:sp>
        <p:nvSpPr>
          <p:cNvPr id="4" name="文字方塊 3">
            <a:extLst>
              <a:ext uri="{FF2B5EF4-FFF2-40B4-BE49-F238E27FC236}">
                <a16:creationId xmlns:a16="http://schemas.microsoft.com/office/drawing/2014/main" id="{AF945859-77C1-48B8-9EA9-31E89335D21A}"/>
              </a:ext>
            </a:extLst>
          </p:cNvPr>
          <p:cNvSpPr txBox="1"/>
          <p:nvPr/>
        </p:nvSpPr>
        <p:spPr>
          <a:xfrm>
            <a:off x="8061055" y="1506022"/>
            <a:ext cx="585132" cy="369332"/>
          </a:xfrm>
          <a:prstGeom prst="rect">
            <a:avLst/>
          </a:prstGeom>
          <a:noFill/>
        </p:spPr>
        <p:txBody>
          <a:bodyPr wrap="square">
            <a:spAutoFit/>
          </a:bodyPr>
          <a:lstStyle/>
          <a:p>
            <a:r>
              <a:rPr lang="en-US" altLang="zh-TW" dirty="0">
                <a:latin typeface="Times New Roman" panose="02020603050405020304" pitchFamily="18" charset="0"/>
                <a:cs typeface="Times New Roman" panose="02020603050405020304" pitchFamily="18" charset="0"/>
              </a:rPr>
              <a:t>P</a:t>
            </a:r>
            <a:r>
              <a:rPr lang="en-US" altLang="zh-TW" baseline="-25000" dirty="0">
                <a:latin typeface="Times New Roman" panose="02020603050405020304" pitchFamily="18" charset="0"/>
                <a:cs typeface="Times New Roman" panose="02020603050405020304" pitchFamily="18" charset="0"/>
              </a:rPr>
              <a:t>1</a:t>
            </a:r>
            <a:endParaRPr lang="zh-TW" altLang="en-US" dirty="0"/>
          </a:p>
        </p:txBody>
      </p:sp>
      <p:sp>
        <p:nvSpPr>
          <p:cNvPr id="6" name="文字方塊 5">
            <a:extLst>
              <a:ext uri="{FF2B5EF4-FFF2-40B4-BE49-F238E27FC236}">
                <a16:creationId xmlns:a16="http://schemas.microsoft.com/office/drawing/2014/main" id="{FBE95FBF-C63A-4519-AE68-D1D8C64CF03A}"/>
              </a:ext>
            </a:extLst>
          </p:cNvPr>
          <p:cNvSpPr txBox="1"/>
          <p:nvPr/>
        </p:nvSpPr>
        <p:spPr>
          <a:xfrm>
            <a:off x="502263" y="4237564"/>
            <a:ext cx="585132" cy="369332"/>
          </a:xfrm>
          <a:prstGeom prst="rect">
            <a:avLst/>
          </a:prstGeom>
          <a:noFill/>
        </p:spPr>
        <p:txBody>
          <a:bodyPr wrap="square">
            <a:spAutoFit/>
          </a:bodyPr>
          <a:lstStyle/>
          <a:p>
            <a:r>
              <a:rPr lang="en-US" altLang="zh-TW" dirty="0">
                <a:latin typeface="Times New Roman" panose="02020603050405020304" pitchFamily="18" charset="0"/>
                <a:cs typeface="Times New Roman" panose="02020603050405020304" pitchFamily="18" charset="0"/>
              </a:rPr>
              <a:t>P</a:t>
            </a:r>
            <a:r>
              <a:rPr lang="en-US" altLang="zh-TW" baseline="-25000" dirty="0">
                <a:latin typeface="Times New Roman" panose="02020603050405020304" pitchFamily="18" charset="0"/>
                <a:cs typeface="Times New Roman" panose="02020603050405020304" pitchFamily="18" charset="0"/>
              </a:rPr>
              <a:t>2</a:t>
            </a:r>
            <a:endParaRPr lang="zh-TW" altLang="en-US" dirty="0"/>
          </a:p>
        </p:txBody>
      </p:sp>
      <p:sp>
        <p:nvSpPr>
          <p:cNvPr id="7" name="文字方塊 6">
            <a:extLst>
              <a:ext uri="{FF2B5EF4-FFF2-40B4-BE49-F238E27FC236}">
                <a16:creationId xmlns:a16="http://schemas.microsoft.com/office/drawing/2014/main" id="{FFD18BB9-5A74-4568-8C2E-3B73AD28547D}"/>
              </a:ext>
            </a:extLst>
          </p:cNvPr>
          <p:cNvSpPr txBox="1"/>
          <p:nvPr/>
        </p:nvSpPr>
        <p:spPr>
          <a:xfrm>
            <a:off x="8061055" y="4250454"/>
            <a:ext cx="585132" cy="369332"/>
          </a:xfrm>
          <a:prstGeom prst="rect">
            <a:avLst/>
          </a:prstGeom>
          <a:noFill/>
        </p:spPr>
        <p:txBody>
          <a:bodyPr wrap="square">
            <a:spAutoFit/>
          </a:bodyPr>
          <a:lstStyle/>
          <a:p>
            <a:r>
              <a:rPr lang="en-US" altLang="zh-TW" dirty="0">
                <a:latin typeface="Times New Roman" panose="02020603050405020304" pitchFamily="18" charset="0"/>
                <a:cs typeface="Times New Roman" panose="02020603050405020304" pitchFamily="18" charset="0"/>
              </a:rPr>
              <a:t>P</a:t>
            </a:r>
            <a:r>
              <a:rPr lang="en-US" altLang="zh-TW" baseline="-25000" dirty="0">
                <a:latin typeface="Times New Roman" panose="02020603050405020304" pitchFamily="18" charset="0"/>
                <a:cs typeface="Times New Roman" panose="02020603050405020304" pitchFamily="18" charset="0"/>
              </a:rPr>
              <a:t>3</a:t>
            </a:r>
            <a:endParaRPr lang="zh-TW" altLang="en-US" dirty="0"/>
          </a:p>
        </p:txBody>
      </p:sp>
      <p:graphicFrame>
        <p:nvGraphicFramePr>
          <p:cNvPr id="8" name="內容版面配置區 10">
            <a:extLst>
              <a:ext uri="{FF2B5EF4-FFF2-40B4-BE49-F238E27FC236}">
                <a16:creationId xmlns:a16="http://schemas.microsoft.com/office/drawing/2014/main" id="{C8119644-0C83-4193-A917-7A05A6D5B7B6}"/>
              </a:ext>
            </a:extLst>
          </p:cNvPr>
          <p:cNvGraphicFramePr>
            <a:graphicFrameLocks/>
          </p:cNvGraphicFramePr>
          <p:nvPr>
            <p:extLst>
              <p:ext uri="{D42A27DB-BD31-4B8C-83A1-F6EECF244321}">
                <p14:modId xmlns:p14="http://schemas.microsoft.com/office/powerpoint/2010/main" val="1889889886"/>
              </p:ext>
            </p:extLst>
          </p:nvPr>
        </p:nvGraphicFramePr>
        <p:xfrm>
          <a:off x="976396" y="15114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218431032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a:blip r:embed="rId2"/>
          <a:stretch>
            <a:fillRect/>
          </a:stretch>
        </p:blipFill>
        <p:spPr>
          <a:xfrm>
            <a:off x="1047576" y="1922688"/>
            <a:ext cx="2762636" cy="2324424"/>
          </a:xfrm>
          <a:prstGeom prst="rect">
            <a:avLst/>
          </a:prstGeom>
        </p:spPr>
      </p:pic>
      <p:pic>
        <p:nvPicPr>
          <p:cNvPr id="5" name="圖片 4"/>
          <p:cNvPicPr>
            <a:picLocks noChangeAspect="1"/>
          </p:cNvPicPr>
          <p:nvPr/>
        </p:nvPicPr>
        <p:blipFill rotWithShape="1">
          <a:blip r:embed="rId3"/>
          <a:srcRect r="65832"/>
          <a:stretch/>
        </p:blipFill>
        <p:spPr>
          <a:xfrm>
            <a:off x="1220570" y="4235781"/>
            <a:ext cx="2115754" cy="1971950"/>
          </a:xfrm>
          <a:prstGeom prst="rect">
            <a:avLst/>
          </a:prstGeom>
        </p:spPr>
      </p:pic>
      <p:sp>
        <p:nvSpPr>
          <p:cNvPr id="7" name="標題 1"/>
          <p:cNvSpPr>
            <a:spLocks noGrp="1"/>
          </p:cNvSpPr>
          <p:nvPr>
            <p:ph type="title"/>
          </p:nvPr>
        </p:nvSpPr>
        <p:spPr>
          <a:xfrm>
            <a:off x="838200" y="365125"/>
            <a:ext cx="10515600" cy="1325563"/>
          </a:xfrm>
        </p:spPr>
        <p:txBody>
          <a:bodyPr/>
          <a:lstStyle/>
          <a:p>
            <a:r>
              <a:rPr lang="en-US" altLang="zh-TW" dirty="0">
                <a:latin typeface="Times New Roman" panose="02020603050405020304" pitchFamily="18" charset="0"/>
                <a:cs typeface="Times New Roman" panose="02020603050405020304" pitchFamily="18" charset="0"/>
              </a:rPr>
              <a:t>Constrained LCS (</a:t>
            </a: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dirty="0">
                <a:latin typeface="Times New Roman" panose="02020603050405020304" pitchFamily="18" charset="0"/>
                <a:cs typeface="Times New Roman" panose="02020603050405020304" pitchFamily="18" charset="0"/>
              </a:rPr>
              <a:t>) </a:t>
            </a:r>
            <a:endParaRPr lang="zh-TW" altLang="en-US" dirty="0">
              <a:latin typeface="Times New Roman" panose="02020603050405020304" pitchFamily="18" charset="0"/>
              <a:cs typeface="Times New Roman" panose="02020603050405020304" pitchFamily="18" charset="0"/>
            </a:endParaRPr>
          </a:p>
        </p:txBody>
      </p:sp>
      <p:cxnSp>
        <p:nvCxnSpPr>
          <p:cNvPr id="14" name="直線接點 13"/>
          <p:cNvCxnSpPr/>
          <p:nvPr/>
        </p:nvCxnSpPr>
        <p:spPr>
          <a:xfrm flipH="1">
            <a:off x="2586681" y="4860324"/>
            <a:ext cx="98854" cy="12356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直線接點 15"/>
          <p:cNvCxnSpPr/>
          <p:nvPr/>
        </p:nvCxnSpPr>
        <p:spPr>
          <a:xfrm>
            <a:off x="2594919" y="4975654"/>
            <a:ext cx="24713" cy="1054443"/>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直線接點 17"/>
          <p:cNvCxnSpPr/>
          <p:nvPr/>
        </p:nvCxnSpPr>
        <p:spPr>
          <a:xfrm>
            <a:off x="2685535" y="4860324"/>
            <a:ext cx="181233"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2883243" y="4860324"/>
            <a:ext cx="7963" cy="107091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flipH="1">
            <a:off x="2807286" y="5931243"/>
            <a:ext cx="83920" cy="9885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2619632" y="6030097"/>
            <a:ext cx="1690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aphicFrame>
        <p:nvGraphicFramePr>
          <p:cNvPr id="28" name="內容版面配置區 10"/>
          <p:cNvGraphicFramePr>
            <a:graphicFrameLocks/>
          </p:cNvGraphicFramePr>
          <p:nvPr>
            <p:extLst>
              <p:ext uri="{D42A27DB-BD31-4B8C-83A1-F6EECF244321}">
                <p14:modId xmlns:p14="http://schemas.microsoft.com/office/powerpoint/2010/main" val="4047010484"/>
              </p:ext>
            </p:extLst>
          </p:nvPr>
        </p:nvGraphicFramePr>
        <p:xfrm>
          <a:off x="7513120" y="15495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extLst>
              <p:ext uri="{D42A27DB-BD31-4B8C-83A1-F6EECF244321}">
                <p14:modId xmlns:p14="http://schemas.microsoft.com/office/powerpoint/2010/main" val="639794059"/>
              </p:ext>
            </p:extLst>
          </p:nvPr>
        </p:nvGraphicFramePr>
        <p:xfrm>
          <a:off x="3909066" y="42851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3713300771"/>
              </p:ext>
            </p:extLst>
          </p:nvPr>
        </p:nvGraphicFramePr>
        <p:xfrm>
          <a:off x="7513120" y="42851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 name="內容版面配置區 10">
            <a:extLst>
              <a:ext uri="{FF2B5EF4-FFF2-40B4-BE49-F238E27FC236}">
                <a16:creationId xmlns:a16="http://schemas.microsoft.com/office/drawing/2014/main" id="{39FC7986-88CF-4D97-87C5-64809E06B2C5}"/>
              </a:ext>
            </a:extLst>
          </p:cNvPr>
          <p:cNvGraphicFramePr>
            <a:graphicFrameLocks/>
          </p:cNvGraphicFramePr>
          <p:nvPr>
            <p:extLst>
              <p:ext uri="{D42A27DB-BD31-4B8C-83A1-F6EECF244321}">
                <p14:modId xmlns:p14="http://schemas.microsoft.com/office/powerpoint/2010/main" val="3708412138"/>
              </p:ext>
            </p:extLst>
          </p:nvPr>
        </p:nvGraphicFramePr>
        <p:xfrm>
          <a:off x="3909066" y="15495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328761486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a:blip r:embed="rId2"/>
          <a:stretch>
            <a:fillRect/>
          </a:stretch>
        </p:blipFill>
        <p:spPr>
          <a:xfrm>
            <a:off x="1047576" y="1922688"/>
            <a:ext cx="2762636" cy="2324424"/>
          </a:xfrm>
          <a:prstGeom prst="rect">
            <a:avLst/>
          </a:prstGeom>
        </p:spPr>
      </p:pic>
      <p:sp>
        <p:nvSpPr>
          <p:cNvPr id="7" name="標題 1"/>
          <p:cNvSpPr>
            <a:spLocks noGrp="1"/>
          </p:cNvSpPr>
          <p:nvPr>
            <p:ph type="title"/>
          </p:nvPr>
        </p:nvSpPr>
        <p:spPr>
          <a:xfrm>
            <a:off x="838200" y="365125"/>
            <a:ext cx="10515600" cy="1325563"/>
          </a:xfrm>
        </p:spPr>
        <p:txBody>
          <a:bodyPr/>
          <a:lstStyle/>
          <a:p>
            <a:r>
              <a:rPr lang="en-US" altLang="zh-TW" dirty="0">
                <a:latin typeface="Times New Roman" panose="02020603050405020304" pitchFamily="18" charset="0"/>
                <a:cs typeface="Times New Roman" panose="02020603050405020304" pitchFamily="18" charset="0"/>
              </a:rPr>
              <a:t>Constrained LCS (</a:t>
            </a: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 </a:t>
            </a:r>
            <a:endParaRPr lang="zh-TW" altLang="en-US" dirty="0">
              <a:latin typeface="Times New Roman" panose="02020603050405020304" pitchFamily="18" charset="0"/>
              <a:cs typeface="Times New Roman" panose="02020603050405020304" pitchFamily="18" charset="0"/>
            </a:endParaRPr>
          </a:p>
        </p:txBody>
      </p:sp>
      <p:graphicFrame>
        <p:nvGraphicFramePr>
          <p:cNvPr id="28" name="內容版面配置區 10"/>
          <p:cNvGraphicFramePr>
            <a:graphicFrameLocks/>
          </p:cNvGraphicFramePr>
          <p:nvPr>
            <p:extLst>
              <p:ext uri="{D42A27DB-BD31-4B8C-83A1-F6EECF244321}">
                <p14:modId xmlns:p14="http://schemas.microsoft.com/office/powerpoint/2010/main" val="2843328189"/>
              </p:ext>
            </p:extLst>
          </p:nvPr>
        </p:nvGraphicFramePr>
        <p:xfrm>
          <a:off x="7513120" y="15495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extLst>
              <p:ext uri="{D42A27DB-BD31-4B8C-83A1-F6EECF244321}">
                <p14:modId xmlns:p14="http://schemas.microsoft.com/office/powerpoint/2010/main" val="4074568076"/>
              </p:ext>
            </p:extLst>
          </p:nvPr>
        </p:nvGraphicFramePr>
        <p:xfrm>
          <a:off x="3909066" y="42851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769222578"/>
              </p:ext>
            </p:extLst>
          </p:nvPr>
        </p:nvGraphicFramePr>
        <p:xfrm>
          <a:off x="7513120" y="42851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pic>
        <p:nvPicPr>
          <p:cNvPr id="2" name="圖片 1"/>
          <p:cNvPicPr>
            <a:picLocks noChangeAspect="1"/>
          </p:cNvPicPr>
          <p:nvPr/>
        </p:nvPicPr>
        <p:blipFill>
          <a:blip r:embed="rId3"/>
          <a:stretch>
            <a:fillRect/>
          </a:stretch>
        </p:blipFill>
        <p:spPr>
          <a:xfrm>
            <a:off x="1248574" y="4178202"/>
            <a:ext cx="2038635" cy="1943371"/>
          </a:xfrm>
          <a:prstGeom prst="rect">
            <a:avLst/>
          </a:prstGeom>
        </p:spPr>
      </p:pic>
      <p:cxnSp>
        <p:nvCxnSpPr>
          <p:cNvPr id="17" name="直線接點 16"/>
          <p:cNvCxnSpPr/>
          <p:nvPr/>
        </p:nvCxnSpPr>
        <p:spPr>
          <a:xfrm flipH="1">
            <a:off x="1459539" y="4860324"/>
            <a:ext cx="98854" cy="12356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a:off x="1459539" y="4975654"/>
            <a:ext cx="24713" cy="1054443"/>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1558393" y="4860324"/>
            <a:ext cx="1308375"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2883243" y="4860324"/>
            <a:ext cx="7963" cy="107091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p:nvPr/>
        </p:nvCxnSpPr>
        <p:spPr>
          <a:xfrm flipH="1">
            <a:off x="2807286" y="5931243"/>
            <a:ext cx="83920" cy="9885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1508966" y="6030097"/>
            <a:ext cx="1279678"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直線接點 30"/>
          <p:cNvCxnSpPr/>
          <p:nvPr/>
        </p:nvCxnSpPr>
        <p:spPr>
          <a:xfrm>
            <a:off x="1478245" y="4977542"/>
            <a:ext cx="1308375"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直線接點 31"/>
          <p:cNvCxnSpPr/>
          <p:nvPr/>
        </p:nvCxnSpPr>
        <p:spPr>
          <a:xfrm flipH="1">
            <a:off x="2799323" y="4886721"/>
            <a:ext cx="83920" cy="9885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aphicFrame>
        <p:nvGraphicFramePr>
          <p:cNvPr id="3" name="內容版面配置區 10">
            <a:extLst>
              <a:ext uri="{FF2B5EF4-FFF2-40B4-BE49-F238E27FC236}">
                <a16:creationId xmlns:a16="http://schemas.microsoft.com/office/drawing/2014/main" id="{511FF205-4C36-4197-918B-4E5C54446413}"/>
              </a:ext>
            </a:extLst>
          </p:cNvPr>
          <p:cNvGraphicFramePr>
            <a:graphicFrameLocks/>
          </p:cNvGraphicFramePr>
          <p:nvPr>
            <p:extLst>
              <p:ext uri="{D42A27DB-BD31-4B8C-83A1-F6EECF244321}">
                <p14:modId xmlns:p14="http://schemas.microsoft.com/office/powerpoint/2010/main" val="474517207"/>
              </p:ext>
            </p:extLst>
          </p:nvPr>
        </p:nvGraphicFramePr>
        <p:xfrm>
          <a:off x="3909066" y="15495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356989844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圖片 2"/>
          <p:cNvPicPr>
            <a:picLocks noChangeAspect="1"/>
          </p:cNvPicPr>
          <p:nvPr/>
        </p:nvPicPr>
        <p:blipFill>
          <a:blip r:embed="rId2"/>
          <a:stretch>
            <a:fillRect/>
          </a:stretch>
        </p:blipFill>
        <p:spPr>
          <a:xfrm>
            <a:off x="1243979" y="4285153"/>
            <a:ext cx="2019582" cy="1838582"/>
          </a:xfrm>
          <a:prstGeom prst="rect">
            <a:avLst/>
          </a:prstGeom>
        </p:spPr>
      </p:pic>
      <p:pic>
        <p:nvPicPr>
          <p:cNvPr id="4" name="圖片 3"/>
          <p:cNvPicPr>
            <a:picLocks noChangeAspect="1"/>
          </p:cNvPicPr>
          <p:nvPr/>
        </p:nvPicPr>
        <p:blipFill>
          <a:blip r:embed="rId3"/>
          <a:stretch>
            <a:fillRect/>
          </a:stretch>
        </p:blipFill>
        <p:spPr>
          <a:xfrm>
            <a:off x="1047576" y="1922688"/>
            <a:ext cx="2762636" cy="2324424"/>
          </a:xfrm>
          <a:prstGeom prst="rect">
            <a:avLst/>
          </a:prstGeom>
        </p:spPr>
      </p:pic>
      <p:sp>
        <p:nvSpPr>
          <p:cNvPr id="7" name="標題 1"/>
          <p:cNvSpPr>
            <a:spLocks noGrp="1"/>
          </p:cNvSpPr>
          <p:nvPr>
            <p:ph type="title"/>
          </p:nvPr>
        </p:nvSpPr>
        <p:spPr>
          <a:xfrm>
            <a:off x="838200" y="365125"/>
            <a:ext cx="10515600" cy="1325563"/>
          </a:xfrm>
        </p:spPr>
        <p:txBody>
          <a:bodyPr/>
          <a:lstStyle/>
          <a:p>
            <a:r>
              <a:rPr lang="en-US" altLang="zh-TW" dirty="0">
                <a:latin typeface="Times New Roman" panose="02020603050405020304" pitchFamily="18" charset="0"/>
                <a:cs typeface="Times New Roman" panose="02020603050405020304" pitchFamily="18" charset="0"/>
              </a:rPr>
              <a:t>Constrained LCS (</a:t>
            </a:r>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 </a:t>
            </a:r>
            <a:endParaRPr lang="zh-TW" altLang="en-US" dirty="0">
              <a:latin typeface="Times New Roman" panose="02020603050405020304" pitchFamily="18" charset="0"/>
              <a:cs typeface="Times New Roman" panose="02020603050405020304" pitchFamily="18" charset="0"/>
            </a:endParaRPr>
          </a:p>
        </p:txBody>
      </p:sp>
      <p:graphicFrame>
        <p:nvGraphicFramePr>
          <p:cNvPr id="28" name="內容版面配置區 10"/>
          <p:cNvGraphicFramePr>
            <a:graphicFrameLocks/>
          </p:cNvGraphicFramePr>
          <p:nvPr>
            <p:extLst>
              <p:ext uri="{D42A27DB-BD31-4B8C-83A1-F6EECF244321}">
                <p14:modId xmlns:p14="http://schemas.microsoft.com/office/powerpoint/2010/main" val="724028042"/>
              </p:ext>
            </p:extLst>
          </p:nvPr>
        </p:nvGraphicFramePr>
        <p:xfrm>
          <a:off x="7513120" y="15495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extLst>
              <p:ext uri="{D42A27DB-BD31-4B8C-83A1-F6EECF244321}">
                <p14:modId xmlns:p14="http://schemas.microsoft.com/office/powerpoint/2010/main" val="3765036507"/>
              </p:ext>
            </p:extLst>
          </p:nvPr>
        </p:nvGraphicFramePr>
        <p:xfrm>
          <a:off x="3909066" y="42851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1754042813"/>
              </p:ext>
            </p:extLst>
          </p:nvPr>
        </p:nvGraphicFramePr>
        <p:xfrm>
          <a:off x="7513120" y="42851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17" name="直線接點 16"/>
          <p:cNvCxnSpPr/>
          <p:nvPr/>
        </p:nvCxnSpPr>
        <p:spPr>
          <a:xfrm flipH="1">
            <a:off x="1459540" y="4452938"/>
            <a:ext cx="426410" cy="53095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a:off x="1459539" y="4975654"/>
            <a:ext cx="18351" cy="108778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1569244" y="4885411"/>
            <a:ext cx="1321962" cy="91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2891206" y="4885411"/>
            <a:ext cx="0" cy="1045831"/>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p:nvPr/>
        </p:nvCxnSpPr>
        <p:spPr>
          <a:xfrm flipH="1">
            <a:off x="2800208" y="5532683"/>
            <a:ext cx="407704" cy="526843"/>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1483007" y="6063434"/>
            <a:ext cx="1322318"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直線接點 30"/>
          <p:cNvCxnSpPr/>
          <p:nvPr/>
        </p:nvCxnSpPr>
        <p:spPr>
          <a:xfrm>
            <a:off x="1483007" y="4982304"/>
            <a:ext cx="1331049" cy="5496"/>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flipH="1">
            <a:off x="2805325" y="4452938"/>
            <a:ext cx="407705" cy="53095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a:off x="1790336" y="4554417"/>
            <a:ext cx="1321962" cy="10439"/>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a:off x="1885950" y="4452227"/>
            <a:ext cx="1321962" cy="91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flipH="1">
            <a:off x="2800208" y="4975654"/>
            <a:ext cx="5117" cy="1083872"/>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直線接點 35"/>
          <p:cNvCxnSpPr/>
          <p:nvPr/>
        </p:nvCxnSpPr>
        <p:spPr>
          <a:xfrm>
            <a:off x="3126954" y="4554417"/>
            <a:ext cx="6771" cy="1077239"/>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p:nvPr/>
        </p:nvCxnSpPr>
        <p:spPr>
          <a:xfrm>
            <a:off x="3207912" y="4459388"/>
            <a:ext cx="0" cy="1083065"/>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flipH="1">
            <a:off x="2802766" y="5363621"/>
            <a:ext cx="392730" cy="49821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2" name="直線接點 41"/>
          <p:cNvCxnSpPr/>
          <p:nvPr/>
        </p:nvCxnSpPr>
        <p:spPr>
          <a:xfrm flipH="1">
            <a:off x="2610204" y="4452938"/>
            <a:ext cx="407705" cy="53095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直線接點 42"/>
          <p:cNvCxnSpPr/>
          <p:nvPr/>
        </p:nvCxnSpPr>
        <p:spPr>
          <a:xfrm flipH="1">
            <a:off x="1649771" y="4456192"/>
            <a:ext cx="407705" cy="53095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 name="直線接點 44"/>
          <p:cNvCxnSpPr/>
          <p:nvPr/>
        </p:nvCxnSpPr>
        <p:spPr>
          <a:xfrm>
            <a:off x="1658826" y="5000920"/>
            <a:ext cx="0" cy="1045831"/>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flipH="1">
            <a:off x="2800208" y="4663081"/>
            <a:ext cx="407704" cy="526843"/>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8" name="直線接點 47"/>
          <p:cNvCxnSpPr/>
          <p:nvPr/>
        </p:nvCxnSpPr>
        <p:spPr>
          <a:xfrm>
            <a:off x="1464042" y="5179189"/>
            <a:ext cx="1331049" cy="5496"/>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9" name="直線接點 48"/>
          <p:cNvCxnSpPr/>
          <p:nvPr/>
        </p:nvCxnSpPr>
        <p:spPr>
          <a:xfrm>
            <a:off x="1476762" y="5859893"/>
            <a:ext cx="1331049" cy="5496"/>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flipH="1">
            <a:off x="2612763" y="4986807"/>
            <a:ext cx="5117" cy="1083872"/>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aphicFrame>
        <p:nvGraphicFramePr>
          <p:cNvPr id="5" name="內容版面配置區 10">
            <a:extLst>
              <a:ext uri="{FF2B5EF4-FFF2-40B4-BE49-F238E27FC236}">
                <a16:creationId xmlns:a16="http://schemas.microsoft.com/office/drawing/2014/main" id="{92EF8526-41BD-4629-9BCA-2C6FEA71D3A1}"/>
              </a:ext>
            </a:extLst>
          </p:cNvPr>
          <p:cNvGraphicFramePr>
            <a:graphicFrameLocks/>
          </p:cNvGraphicFramePr>
          <p:nvPr>
            <p:extLst>
              <p:ext uri="{D42A27DB-BD31-4B8C-83A1-F6EECF244321}">
                <p14:modId xmlns:p14="http://schemas.microsoft.com/office/powerpoint/2010/main" val="3511618786"/>
              </p:ext>
            </p:extLst>
          </p:nvPr>
        </p:nvGraphicFramePr>
        <p:xfrm>
          <a:off x="3909066" y="15495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92395184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endParaRPr lang="zh-TW" altLang="en-US" baseline="-25000" dirty="0">
              <a:latin typeface="Times New Roman" panose="02020603050405020304" pitchFamily="18" charset="0"/>
              <a:cs typeface="Times New Roman" panose="02020603050405020304" pitchFamily="18" charset="0"/>
            </a:endParaRPr>
          </a:p>
        </p:txBody>
      </p:sp>
      <p:graphicFrame>
        <p:nvGraphicFramePr>
          <p:cNvPr id="21" name="內容版面配置區 10"/>
          <p:cNvGraphicFramePr>
            <a:graphicFrameLocks/>
          </p:cNvGraphicFramePr>
          <p:nvPr>
            <p:extLst>
              <p:ext uri="{D42A27DB-BD31-4B8C-83A1-F6EECF244321}">
                <p14:modId xmlns:p14="http://schemas.microsoft.com/office/powerpoint/2010/main" val="836403547"/>
              </p:ext>
            </p:extLst>
          </p:nvPr>
        </p:nvGraphicFramePr>
        <p:xfrm>
          <a:off x="5326180" y="15495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2" name="內容版面配置區 10"/>
          <p:cNvGraphicFramePr>
            <a:graphicFrameLocks/>
          </p:cNvGraphicFramePr>
          <p:nvPr>
            <p:extLst>
              <p:ext uri="{D42A27DB-BD31-4B8C-83A1-F6EECF244321}">
                <p14:modId xmlns:p14="http://schemas.microsoft.com/office/powerpoint/2010/main" val="3445386333"/>
              </p:ext>
            </p:extLst>
          </p:nvPr>
        </p:nvGraphicFramePr>
        <p:xfrm>
          <a:off x="1722126" y="42851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3" name="內容版面配置區 10"/>
          <p:cNvGraphicFramePr>
            <a:graphicFrameLocks/>
          </p:cNvGraphicFramePr>
          <p:nvPr>
            <p:extLst>
              <p:ext uri="{D42A27DB-BD31-4B8C-83A1-F6EECF244321}">
                <p14:modId xmlns:p14="http://schemas.microsoft.com/office/powerpoint/2010/main" val="693247828"/>
              </p:ext>
            </p:extLst>
          </p:nvPr>
        </p:nvGraphicFramePr>
        <p:xfrm>
          <a:off x="5326180" y="42851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27" name="直線單箭頭接點 26"/>
          <p:cNvCxnSpPr/>
          <p:nvPr/>
        </p:nvCxnSpPr>
        <p:spPr>
          <a:xfrm>
            <a:off x="6256020" y="1943100"/>
            <a:ext cx="0" cy="57912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9" name="直線單箭頭接點 28"/>
          <p:cNvCxnSpPr/>
          <p:nvPr/>
        </p:nvCxnSpPr>
        <p:spPr>
          <a:xfrm>
            <a:off x="5646420" y="2659380"/>
            <a:ext cx="502920" cy="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6" name="直線單箭頭接點 35"/>
          <p:cNvCxnSpPr/>
          <p:nvPr/>
        </p:nvCxnSpPr>
        <p:spPr>
          <a:xfrm>
            <a:off x="2651760" y="4701540"/>
            <a:ext cx="0" cy="57912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7" name="直線單箭頭接點 36"/>
          <p:cNvCxnSpPr/>
          <p:nvPr/>
        </p:nvCxnSpPr>
        <p:spPr>
          <a:xfrm>
            <a:off x="2034540" y="5417820"/>
            <a:ext cx="510540" cy="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8" name="直線單箭頭接點 37"/>
          <p:cNvCxnSpPr/>
          <p:nvPr/>
        </p:nvCxnSpPr>
        <p:spPr>
          <a:xfrm>
            <a:off x="6263640" y="4701540"/>
            <a:ext cx="0" cy="57912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線單箭頭接點 38"/>
          <p:cNvCxnSpPr/>
          <p:nvPr/>
        </p:nvCxnSpPr>
        <p:spPr>
          <a:xfrm>
            <a:off x="5646420" y="5417820"/>
            <a:ext cx="510540" cy="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 name="內容版面配置區 10">
            <a:extLst>
              <a:ext uri="{FF2B5EF4-FFF2-40B4-BE49-F238E27FC236}">
                <a16:creationId xmlns:a16="http://schemas.microsoft.com/office/drawing/2014/main" id="{CD4262AA-14E0-4D0E-A5C0-3B9415C5F0FF}"/>
              </a:ext>
            </a:extLst>
          </p:cNvPr>
          <p:cNvGraphicFramePr>
            <a:graphicFrameLocks/>
          </p:cNvGraphicFramePr>
          <p:nvPr>
            <p:extLst>
              <p:ext uri="{D42A27DB-BD31-4B8C-83A1-F6EECF244321}">
                <p14:modId xmlns:p14="http://schemas.microsoft.com/office/powerpoint/2010/main" val="2203539575"/>
              </p:ext>
            </p:extLst>
          </p:nvPr>
        </p:nvGraphicFramePr>
        <p:xfrm>
          <a:off x="1722126" y="15495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114991445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標題 1"/>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endParaRPr lang="zh-TW" altLang="en-US" dirty="0">
              <a:latin typeface="Times New Roman" panose="02020603050405020304" pitchFamily="18" charset="0"/>
              <a:cs typeface="Times New Roman" panose="02020603050405020304" pitchFamily="18" charset="0"/>
            </a:endParaRPr>
          </a:p>
        </p:txBody>
      </p:sp>
      <p:graphicFrame>
        <p:nvGraphicFramePr>
          <p:cNvPr id="28" name="內容版面配置區 10"/>
          <p:cNvGraphicFramePr>
            <a:graphicFrameLocks/>
          </p:cNvGraphicFramePr>
          <p:nvPr>
            <p:extLst>
              <p:ext uri="{D42A27DB-BD31-4B8C-83A1-F6EECF244321}">
                <p14:modId xmlns:p14="http://schemas.microsoft.com/office/powerpoint/2010/main" val="3557011441"/>
              </p:ext>
            </p:extLst>
          </p:nvPr>
        </p:nvGraphicFramePr>
        <p:xfrm>
          <a:off x="5349040" y="151909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extLst>
              <p:ext uri="{D42A27DB-BD31-4B8C-83A1-F6EECF244321}">
                <p14:modId xmlns:p14="http://schemas.microsoft.com/office/powerpoint/2010/main" val="2961304989"/>
              </p:ext>
            </p:extLst>
          </p:nvPr>
        </p:nvGraphicFramePr>
        <p:xfrm>
          <a:off x="1744986" y="42546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120854280"/>
              </p:ext>
            </p:extLst>
          </p:nvPr>
        </p:nvGraphicFramePr>
        <p:xfrm>
          <a:off x="5349040" y="425467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
        <p:nvSpPr>
          <p:cNvPr id="64" name="矩形 63"/>
          <p:cNvSpPr/>
          <p:nvPr/>
        </p:nvSpPr>
        <p:spPr>
          <a:xfrm>
            <a:off x="6812280" y="2522220"/>
            <a:ext cx="213360" cy="26670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5" name="直線接點 64"/>
          <p:cNvCxnSpPr/>
          <p:nvPr/>
        </p:nvCxnSpPr>
        <p:spPr>
          <a:xfrm flipH="1" flipV="1">
            <a:off x="6816090" y="2522220"/>
            <a:ext cx="209550" cy="2667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直線接點 65"/>
          <p:cNvCxnSpPr/>
          <p:nvPr/>
        </p:nvCxnSpPr>
        <p:spPr>
          <a:xfrm flipH="1">
            <a:off x="5756910" y="2522220"/>
            <a:ext cx="10553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線接點 66"/>
          <p:cNvCxnSpPr/>
          <p:nvPr/>
        </p:nvCxnSpPr>
        <p:spPr>
          <a:xfrm flipH="1" flipV="1">
            <a:off x="5571173" y="2293620"/>
            <a:ext cx="183832" cy="2286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直線單箭頭接點 67"/>
          <p:cNvCxnSpPr/>
          <p:nvPr/>
        </p:nvCxnSpPr>
        <p:spPr>
          <a:xfrm>
            <a:off x="5554927" y="2041154"/>
            <a:ext cx="0" cy="19050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9" name="直線單箭頭接點 68"/>
          <p:cNvCxnSpPr/>
          <p:nvPr/>
        </p:nvCxnSpPr>
        <p:spPr>
          <a:xfrm>
            <a:off x="5771198" y="2049780"/>
            <a:ext cx="0" cy="4724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0" name="直線單箭頭接點 69"/>
          <p:cNvCxnSpPr/>
          <p:nvPr/>
        </p:nvCxnSpPr>
        <p:spPr>
          <a:xfrm>
            <a:off x="6401753" y="2034540"/>
            <a:ext cx="0" cy="48768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直線單箭頭接點 70"/>
          <p:cNvCxnSpPr/>
          <p:nvPr/>
        </p:nvCxnSpPr>
        <p:spPr>
          <a:xfrm>
            <a:off x="6805613" y="2034540"/>
            <a:ext cx="0" cy="48768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2" name="矩形 71"/>
          <p:cNvSpPr/>
          <p:nvPr/>
        </p:nvSpPr>
        <p:spPr>
          <a:xfrm>
            <a:off x="6803708" y="5257800"/>
            <a:ext cx="213360" cy="26670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73" name="直線接點 72"/>
          <p:cNvCxnSpPr/>
          <p:nvPr/>
        </p:nvCxnSpPr>
        <p:spPr>
          <a:xfrm flipH="1" flipV="1">
            <a:off x="6807518" y="5257800"/>
            <a:ext cx="209550" cy="2667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線接點 73"/>
          <p:cNvCxnSpPr/>
          <p:nvPr/>
        </p:nvCxnSpPr>
        <p:spPr>
          <a:xfrm flipH="1">
            <a:off x="5748338" y="5257800"/>
            <a:ext cx="10553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直線接點 74"/>
          <p:cNvCxnSpPr/>
          <p:nvPr/>
        </p:nvCxnSpPr>
        <p:spPr>
          <a:xfrm flipH="1" flipV="1">
            <a:off x="5562601" y="5029200"/>
            <a:ext cx="183832" cy="2286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直線單箭頭接點 75"/>
          <p:cNvCxnSpPr/>
          <p:nvPr/>
        </p:nvCxnSpPr>
        <p:spPr>
          <a:xfrm>
            <a:off x="5554981" y="4785360"/>
            <a:ext cx="0" cy="19050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7" name="直線單箭頭接點 76"/>
          <p:cNvCxnSpPr/>
          <p:nvPr/>
        </p:nvCxnSpPr>
        <p:spPr>
          <a:xfrm>
            <a:off x="5762626" y="4785360"/>
            <a:ext cx="0" cy="4724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線單箭頭接點 77"/>
          <p:cNvCxnSpPr/>
          <p:nvPr/>
        </p:nvCxnSpPr>
        <p:spPr>
          <a:xfrm>
            <a:off x="6393181" y="4770120"/>
            <a:ext cx="0" cy="48768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9" name="直線單箭頭接點 78"/>
          <p:cNvCxnSpPr/>
          <p:nvPr/>
        </p:nvCxnSpPr>
        <p:spPr>
          <a:xfrm>
            <a:off x="6797041" y="4770120"/>
            <a:ext cx="0" cy="48768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80" name="矩形 79"/>
          <p:cNvSpPr/>
          <p:nvPr/>
        </p:nvSpPr>
        <p:spPr>
          <a:xfrm>
            <a:off x="3199448" y="5250180"/>
            <a:ext cx="213360" cy="26670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81" name="直線接點 80"/>
          <p:cNvCxnSpPr/>
          <p:nvPr/>
        </p:nvCxnSpPr>
        <p:spPr>
          <a:xfrm flipH="1" flipV="1">
            <a:off x="3203258" y="5250180"/>
            <a:ext cx="209550" cy="2667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線接點 81"/>
          <p:cNvCxnSpPr/>
          <p:nvPr/>
        </p:nvCxnSpPr>
        <p:spPr>
          <a:xfrm flipH="1">
            <a:off x="2144078" y="5250180"/>
            <a:ext cx="10553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線接點 82"/>
          <p:cNvCxnSpPr/>
          <p:nvPr/>
        </p:nvCxnSpPr>
        <p:spPr>
          <a:xfrm flipH="1" flipV="1">
            <a:off x="1958341" y="5021580"/>
            <a:ext cx="183832" cy="2286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直線單箭頭接點 83"/>
          <p:cNvCxnSpPr/>
          <p:nvPr/>
        </p:nvCxnSpPr>
        <p:spPr>
          <a:xfrm>
            <a:off x="1950721" y="4777740"/>
            <a:ext cx="0" cy="19050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5" name="直線單箭頭接點 84"/>
          <p:cNvCxnSpPr/>
          <p:nvPr/>
        </p:nvCxnSpPr>
        <p:spPr>
          <a:xfrm>
            <a:off x="2158366" y="4777740"/>
            <a:ext cx="0" cy="47244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6" name="直線單箭頭接點 85"/>
          <p:cNvCxnSpPr/>
          <p:nvPr/>
        </p:nvCxnSpPr>
        <p:spPr>
          <a:xfrm>
            <a:off x="2788921" y="4762500"/>
            <a:ext cx="0" cy="48768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7" name="直線單箭頭接點 86"/>
          <p:cNvCxnSpPr/>
          <p:nvPr/>
        </p:nvCxnSpPr>
        <p:spPr>
          <a:xfrm>
            <a:off x="3192781" y="4762500"/>
            <a:ext cx="0" cy="48768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2" name="內容版面配置區 10">
            <a:extLst>
              <a:ext uri="{FF2B5EF4-FFF2-40B4-BE49-F238E27FC236}">
                <a16:creationId xmlns:a16="http://schemas.microsoft.com/office/drawing/2014/main" id="{397F9A38-01BB-4A74-9D60-02C81BC1D180}"/>
              </a:ext>
            </a:extLst>
          </p:cNvPr>
          <p:cNvGraphicFramePr>
            <a:graphicFrameLocks/>
          </p:cNvGraphicFramePr>
          <p:nvPr>
            <p:extLst>
              <p:ext uri="{D42A27DB-BD31-4B8C-83A1-F6EECF244321}">
                <p14:modId xmlns:p14="http://schemas.microsoft.com/office/powerpoint/2010/main" val="1891279041"/>
              </p:ext>
            </p:extLst>
          </p:nvPr>
        </p:nvGraphicFramePr>
        <p:xfrm>
          <a:off x="1744986" y="151909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322181447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標題 1"/>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(northwest pillar)</a:t>
            </a:r>
            <a:endParaRPr lang="zh-TW" altLang="en-US" dirty="0">
              <a:latin typeface="Times New Roman" panose="02020603050405020304" pitchFamily="18" charset="0"/>
              <a:cs typeface="Times New Roman" panose="02020603050405020304" pitchFamily="18" charset="0"/>
            </a:endParaRPr>
          </a:p>
        </p:txBody>
      </p:sp>
      <p:graphicFrame>
        <p:nvGraphicFramePr>
          <p:cNvPr id="28" name="內容版面配置區 10"/>
          <p:cNvGraphicFramePr>
            <a:graphicFrameLocks/>
          </p:cNvGraphicFramePr>
          <p:nvPr>
            <p:extLst>
              <p:ext uri="{D42A27DB-BD31-4B8C-83A1-F6EECF244321}">
                <p14:modId xmlns:p14="http://schemas.microsoft.com/office/powerpoint/2010/main" val="488277030"/>
              </p:ext>
            </p:extLst>
          </p:nvPr>
        </p:nvGraphicFramePr>
        <p:xfrm>
          <a:off x="5341414"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extLst>
              <p:ext uri="{D42A27DB-BD31-4B8C-83A1-F6EECF244321}">
                <p14:modId xmlns:p14="http://schemas.microsoft.com/office/powerpoint/2010/main" val="470061964"/>
              </p:ext>
            </p:extLst>
          </p:nvPr>
        </p:nvGraphicFramePr>
        <p:xfrm>
          <a:off x="1737360"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2229159"/>
              </p:ext>
            </p:extLst>
          </p:nvPr>
        </p:nvGraphicFramePr>
        <p:xfrm>
          <a:off x="5341414"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10" name="直線單箭頭接點 9"/>
          <p:cNvCxnSpPr/>
          <p:nvPr/>
        </p:nvCxnSpPr>
        <p:spPr>
          <a:xfrm>
            <a:off x="2051222" y="5906530"/>
            <a:ext cx="3814119" cy="22242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2" name="內容版面配置區 10">
            <a:extLst>
              <a:ext uri="{FF2B5EF4-FFF2-40B4-BE49-F238E27FC236}">
                <a16:creationId xmlns:a16="http://schemas.microsoft.com/office/drawing/2014/main" id="{DA108300-31D8-4F87-A690-04ED3CA6D686}"/>
              </a:ext>
            </a:extLst>
          </p:cNvPr>
          <p:cNvGraphicFramePr>
            <a:graphicFrameLocks/>
          </p:cNvGraphicFramePr>
          <p:nvPr>
            <p:extLst>
              <p:ext uri="{D42A27DB-BD31-4B8C-83A1-F6EECF244321}">
                <p14:modId xmlns:p14="http://schemas.microsoft.com/office/powerpoint/2010/main" val="274459587"/>
              </p:ext>
            </p:extLst>
          </p:nvPr>
        </p:nvGraphicFramePr>
        <p:xfrm>
          <a:off x="1737360"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285179381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標題 1"/>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(north face)</a:t>
            </a:r>
            <a:endParaRPr lang="zh-TW" altLang="en-US" dirty="0">
              <a:latin typeface="Times New Roman" panose="02020603050405020304" pitchFamily="18" charset="0"/>
              <a:cs typeface="Times New Roman" panose="02020603050405020304" pitchFamily="18" charset="0"/>
            </a:endParaRPr>
          </a:p>
        </p:txBody>
      </p:sp>
      <p:graphicFrame>
        <p:nvGraphicFramePr>
          <p:cNvPr id="28" name="內容版面配置區 10"/>
          <p:cNvGraphicFramePr>
            <a:graphicFrameLocks/>
          </p:cNvGraphicFramePr>
          <p:nvPr>
            <p:extLst>
              <p:ext uri="{D42A27DB-BD31-4B8C-83A1-F6EECF244321}">
                <p14:modId xmlns:p14="http://schemas.microsoft.com/office/powerpoint/2010/main" val="3118384555"/>
              </p:ext>
            </p:extLst>
          </p:nvPr>
        </p:nvGraphicFramePr>
        <p:xfrm>
          <a:off x="5341414"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extLst>
              <p:ext uri="{D42A27DB-BD31-4B8C-83A1-F6EECF244321}">
                <p14:modId xmlns:p14="http://schemas.microsoft.com/office/powerpoint/2010/main" val="3768353675"/>
              </p:ext>
            </p:extLst>
          </p:nvPr>
        </p:nvGraphicFramePr>
        <p:xfrm>
          <a:off x="1737360"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2147920328"/>
              </p:ext>
            </p:extLst>
          </p:nvPr>
        </p:nvGraphicFramePr>
        <p:xfrm>
          <a:off x="5341414"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13" name="直線單箭頭接點 12"/>
          <p:cNvCxnSpPr/>
          <p:nvPr/>
        </p:nvCxnSpPr>
        <p:spPr>
          <a:xfrm>
            <a:off x="2454876" y="5848865"/>
            <a:ext cx="3838832" cy="29656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直線單箭頭接點 14"/>
          <p:cNvCxnSpPr/>
          <p:nvPr/>
        </p:nvCxnSpPr>
        <p:spPr>
          <a:xfrm>
            <a:off x="2454876" y="4654378"/>
            <a:ext cx="0" cy="107915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直線單箭頭接點 16"/>
          <p:cNvCxnSpPr/>
          <p:nvPr/>
        </p:nvCxnSpPr>
        <p:spPr>
          <a:xfrm>
            <a:off x="2067697" y="5848865"/>
            <a:ext cx="3048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2" name="內容版面配置區 10">
            <a:extLst>
              <a:ext uri="{FF2B5EF4-FFF2-40B4-BE49-F238E27FC236}">
                <a16:creationId xmlns:a16="http://schemas.microsoft.com/office/drawing/2014/main" id="{57493293-9804-467B-8855-51C9E89C0284}"/>
              </a:ext>
            </a:extLst>
          </p:cNvPr>
          <p:cNvGraphicFramePr>
            <a:graphicFrameLocks/>
          </p:cNvGraphicFramePr>
          <p:nvPr>
            <p:extLst>
              <p:ext uri="{D42A27DB-BD31-4B8C-83A1-F6EECF244321}">
                <p14:modId xmlns:p14="http://schemas.microsoft.com/office/powerpoint/2010/main" val="2106932817"/>
              </p:ext>
            </p:extLst>
          </p:nvPr>
        </p:nvGraphicFramePr>
        <p:xfrm>
          <a:off x="1737360" y="1514353"/>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272299165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內容版面配置區 10">
            <a:extLst>
              <a:ext uri="{FF2B5EF4-FFF2-40B4-BE49-F238E27FC236}">
                <a16:creationId xmlns:a16="http://schemas.microsoft.com/office/drawing/2014/main" id="{24AE9964-BD45-4E9B-A113-C25A2C140123}"/>
              </a:ext>
            </a:extLst>
          </p:cNvPr>
          <p:cNvGraphicFramePr>
            <a:graphicFrameLocks/>
          </p:cNvGraphicFramePr>
          <p:nvPr>
            <p:extLst>
              <p:ext uri="{D42A27DB-BD31-4B8C-83A1-F6EECF244321}">
                <p14:modId xmlns:p14="http://schemas.microsoft.com/office/powerpoint/2010/main" val="3393991747"/>
              </p:ext>
            </p:extLst>
          </p:nvPr>
        </p:nvGraphicFramePr>
        <p:xfrm>
          <a:off x="1737360"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
        <p:nvSpPr>
          <p:cNvPr id="7" name="標題 1"/>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(west faces)</a:t>
            </a:r>
            <a:endParaRPr lang="zh-TW" altLang="en-US" dirty="0">
              <a:latin typeface="Times New Roman" panose="02020603050405020304" pitchFamily="18" charset="0"/>
              <a:cs typeface="Times New Roman" panose="02020603050405020304" pitchFamily="18" charset="0"/>
            </a:endParaRPr>
          </a:p>
        </p:txBody>
      </p:sp>
      <p:graphicFrame>
        <p:nvGraphicFramePr>
          <p:cNvPr id="28" name="內容版面配置區 10"/>
          <p:cNvGraphicFramePr>
            <a:graphicFrameLocks/>
          </p:cNvGraphicFramePr>
          <p:nvPr>
            <p:extLst>
              <p:ext uri="{D42A27DB-BD31-4B8C-83A1-F6EECF244321}">
                <p14:modId xmlns:p14="http://schemas.microsoft.com/office/powerpoint/2010/main" val="818584307"/>
              </p:ext>
            </p:extLst>
          </p:nvPr>
        </p:nvGraphicFramePr>
        <p:xfrm>
          <a:off x="5341414"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extLst>
              <p:ext uri="{D42A27DB-BD31-4B8C-83A1-F6EECF244321}">
                <p14:modId xmlns:p14="http://schemas.microsoft.com/office/powerpoint/2010/main" val="4171975193"/>
              </p:ext>
            </p:extLst>
          </p:nvPr>
        </p:nvGraphicFramePr>
        <p:xfrm>
          <a:off x="1737360"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1753642821"/>
              </p:ext>
            </p:extLst>
          </p:nvPr>
        </p:nvGraphicFramePr>
        <p:xfrm>
          <a:off x="5341414"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31" name="直線單箭頭接點 30"/>
          <p:cNvCxnSpPr/>
          <p:nvPr/>
        </p:nvCxnSpPr>
        <p:spPr>
          <a:xfrm>
            <a:off x="2059460" y="3688491"/>
            <a:ext cx="3748217" cy="2636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 name="矩形 2">
            <a:extLst>
              <a:ext uri="{FF2B5EF4-FFF2-40B4-BE49-F238E27FC236}">
                <a16:creationId xmlns:a16="http://schemas.microsoft.com/office/drawing/2014/main" id="{D385C5AF-5764-4FD7-9063-AA7E0207F49F}"/>
              </a:ext>
            </a:extLst>
          </p:cNvPr>
          <p:cNvSpPr/>
          <p:nvPr/>
        </p:nvSpPr>
        <p:spPr>
          <a:xfrm>
            <a:off x="1937857" y="3565321"/>
            <a:ext cx="218114" cy="20133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232191930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標題 1">
            <a:extLst>
              <a:ext uri="{FF2B5EF4-FFF2-40B4-BE49-F238E27FC236}">
                <a16:creationId xmlns:a16="http://schemas.microsoft.com/office/drawing/2014/main" id="{98BAA9BA-8FA8-4284-B83F-1B4652D0AF77}"/>
              </a:ext>
            </a:extLst>
          </p:cNvPr>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(west faces)</a:t>
            </a:r>
            <a:endParaRPr lang="zh-TW" altLang="en-US" dirty="0">
              <a:latin typeface="Times New Roman" panose="02020603050405020304" pitchFamily="18" charset="0"/>
              <a:cs typeface="Times New Roman" panose="02020603050405020304" pitchFamily="18" charset="0"/>
            </a:endParaRPr>
          </a:p>
        </p:txBody>
      </p:sp>
      <p:graphicFrame>
        <p:nvGraphicFramePr>
          <p:cNvPr id="6" name="內容版面配置區 10">
            <a:extLst>
              <a:ext uri="{FF2B5EF4-FFF2-40B4-BE49-F238E27FC236}">
                <a16:creationId xmlns:a16="http://schemas.microsoft.com/office/drawing/2014/main" id="{39B4A1DF-AE8E-4433-998D-96126C95C51A}"/>
              </a:ext>
            </a:extLst>
          </p:cNvPr>
          <p:cNvGraphicFramePr>
            <a:graphicFrameLocks/>
          </p:cNvGraphicFramePr>
          <p:nvPr>
            <p:extLst>
              <p:ext uri="{D42A27DB-BD31-4B8C-83A1-F6EECF244321}">
                <p14:modId xmlns:p14="http://schemas.microsoft.com/office/powerpoint/2010/main" val="3598166761"/>
              </p:ext>
            </p:extLst>
          </p:nvPr>
        </p:nvGraphicFramePr>
        <p:xfrm>
          <a:off x="1802934" y="1690688"/>
          <a:ext cx="8398080" cy="4558400"/>
        </p:xfrm>
        <a:graphic>
          <a:graphicData uri="http://schemas.openxmlformats.org/drawingml/2006/table">
            <a:tbl>
              <a:tblPr firstRow="1" bandRow="1">
                <a:tableStyleId>{5C22544A-7EE6-4342-B048-85BDC9FD1C3A}</a:tableStyleId>
              </a:tblPr>
              <a:tblGrid>
                <a:gridCol w="524880">
                  <a:extLst>
                    <a:ext uri="{9D8B030D-6E8A-4147-A177-3AD203B41FA5}">
                      <a16:colId xmlns:a16="http://schemas.microsoft.com/office/drawing/2014/main" val="20000"/>
                    </a:ext>
                  </a:extLst>
                </a:gridCol>
                <a:gridCol w="524880">
                  <a:extLst>
                    <a:ext uri="{9D8B030D-6E8A-4147-A177-3AD203B41FA5}">
                      <a16:colId xmlns:a16="http://schemas.microsoft.com/office/drawing/2014/main" val="20001"/>
                    </a:ext>
                  </a:extLst>
                </a:gridCol>
                <a:gridCol w="524880">
                  <a:extLst>
                    <a:ext uri="{9D8B030D-6E8A-4147-A177-3AD203B41FA5}">
                      <a16:colId xmlns:a16="http://schemas.microsoft.com/office/drawing/2014/main" val="20002"/>
                    </a:ext>
                  </a:extLst>
                </a:gridCol>
                <a:gridCol w="524880">
                  <a:extLst>
                    <a:ext uri="{9D8B030D-6E8A-4147-A177-3AD203B41FA5}">
                      <a16:colId xmlns:a16="http://schemas.microsoft.com/office/drawing/2014/main" val="20003"/>
                    </a:ext>
                  </a:extLst>
                </a:gridCol>
                <a:gridCol w="524880">
                  <a:extLst>
                    <a:ext uri="{9D8B030D-6E8A-4147-A177-3AD203B41FA5}">
                      <a16:colId xmlns:a16="http://schemas.microsoft.com/office/drawing/2014/main" val="20004"/>
                    </a:ext>
                  </a:extLst>
                </a:gridCol>
                <a:gridCol w="524880">
                  <a:extLst>
                    <a:ext uri="{9D8B030D-6E8A-4147-A177-3AD203B41FA5}">
                      <a16:colId xmlns:a16="http://schemas.microsoft.com/office/drawing/2014/main" val="20005"/>
                    </a:ext>
                  </a:extLst>
                </a:gridCol>
                <a:gridCol w="524880">
                  <a:extLst>
                    <a:ext uri="{9D8B030D-6E8A-4147-A177-3AD203B41FA5}">
                      <a16:colId xmlns:a16="http://schemas.microsoft.com/office/drawing/2014/main" val="20006"/>
                    </a:ext>
                  </a:extLst>
                </a:gridCol>
                <a:gridCol w="524880">
                  <a:extLst>
                    <a:ext uri="{9D8B030D-6E8A-4147-A177-3AD203B41FA5}">
                      <a16:colId xmlns:a16="http://schemas.microsoft.com/office/drawing/2014/main" val="20007"/>
                    </a:ext>
                  </a:extLst>
                </a:gridCol>
                <a:gridCol w="524880">
                  <a:extLst>
                    <a:ext uri="{9D8B030D-6E8A-4147-A177-3AD203B41FA5}">
                      <a16:colId xmlns:a16="http://schemas.microsoft.com/office/drawing/2014/main" val="20008"/>
                    </a:ext>
                  </a:extLst>
                </a:gridCol>
                <a:gridCol w="524880">
                  <a:extLst>
                    <a:ext uri="{9D8B030D-6E8A-4147-A177-3AD203B41FA5}">
                      <a16:colId xmlns:a16="http://schemas.microsoft.com/office/drawing/2014/main" val="20009"/>
                    </a:ext>
                  </a:extLst>
                </a:gridCol>
                <a:gridCol w="524880">
                  <a:extLst>
                    <a:ext uri="{9D8B030D-6E8A-4147-A177-3AD203B41FA5}">
                      <a16:colId xmlns:a16="http://schemas.microsoft.com/office/drawing/2014/main" val="20010"/>
                    </a:ext>
                  </a:extLst>
                </a:gridCol>
                <a:gridCol w="524880">
                  <a:extLst>
                    <a:ext uri="{9D8B030D-6E8A-4147-A177-3AD203B41FA5}">
                      <a16:colId xmlns:a16="http://schemas.microsoft.com/office/drawing/2014/main" val="20011"/>
                    </a:ext>
                  </a:extLst>
                </a:gridCol>
                <a:gridCol w="524880">
                  <a:extLst>
                    <a:ext uri="{9D8B030D-6E8A-4147-A177-3AD203B41FA5}">
                      <a16:colId xmlns:a16="http://schemas.microsoft.com/office/drawing/2014/main" val="20012"/>
                    </a:ext>
                  </a:extLst>
                </a:gridCol>
                <a:gridCol w="524880">
                  <a:extLst>
                    <a:ext uri="{9D8B030D-6E8A-4147-A177-3AD203B41FA5}">
                      <a16:colId xmlns:a16="http://schemas.microsoft.com/office/drawing/2014/main" val="20013"/>
                    </a:ext>
                  </a:extLst>
                </a:gridCol>
                <a:gridCol w="524880">
                  <a:extLst>
                    <a:ext uri="{9D8B030D-6E8A-4147-A177-3AD203B41FA5}">
                      <a16:colId xmlns:a16="http://schemas.microsoft.com/office/drawing/2014/main" val="20014"/>
                    </a:ext>
                  </a:extLst>
                </a:gridCol>
                <a:gridCol w="524880">
                  <a:extLst>
                    <a:ext uri="{9D8B030D-6E8A-4147-A177-3AD203B41FA5}">
                      <a16:colId xmlns:a16="http://schemas.microsoft.com/office/drawing/2014/main" val="20015"/>
                    </a:ext>
                  </a:extLst>
                </a:gridCol>
              </a:tblGrid>
              <a:tr h="455840">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55840">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3" name="直線接點 2">
            <a:extLst>
              <a:ext uri="{FF2B5EF4-FFF2-40B4-BE49-F238E27FC236}">
                <a16:creationId xmlns:a16="http://schemas.microsoft.com/office/drawing/2014/main" id="{2D756472-A135-488A-9035-9C773AFE8778}"/>
              </a:ext>
            </a:extLst>
          </p:cNvPr>
          <p:cNvCxnSpPr>
            <a:cxnSpLocks/>
          </p:cNvCxnSpPr>
          <p:nvPr/>
        </p:nvCxnSpPr>
        <p:spPr>
          <a:xfrm flipH="1">
            <a:off x="2323750" y="5771626"/>
            <a:ext cx="52850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單箭頭接點 6">
            <a:extLst>
              <a:ext uri="{FF2B5EF4-FFF2-40B4-BE49-F238E27FC236}">
                <a16:creationId xmlns:a16="http://schemas.microsoft.com/office/drawing/2014/main" id="{29A0066C-0012-4B29-93E7-12C111C67286}"/>
              </a:ext>
            </a:extLst>
          </p:cNvPr>
          <p:cNvCxnSpPr>
            <a:cxnSpLocks/>
          </p:cNvCxnSpPr>
          <p:nvPr/>
        </p:nvCxnSpPr>
        <p:spPr>
          <a:xfrm>
            <a:off x="2323750" y="4890782"/>
            <a:ext cx="0" cy="880844"/>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987882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標題 1"/>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(south, east faces)</a:t>
            </a:r>
            <a:endParaRPr lang="zh-TW" altLang="en-US" dirty="0">
              <a:latin typeface="Times New Roman" panose="02020603050405020304" pitchFamily="18" charset="0"/>
              <a:cs typeface="Times New Roman" panose="02020603050405020304" pitchFamily="18" charset="0"/>
            </a:endParaRPr>
          </a:p>
        </p:txBody>
      </p:sp>
      <p:graphicFrame>
        <p:nvGraphicFramePr>
          <p:cNvPr id="28" name="內容版面配置區 10"/>
          <p:cNvGraphicFramePr>
            <a:graphicFrameLocks/>
          </p:cNvGraphicFramePr>
          <p:nvPr>
            <p:extLst>
              <p:ext uri="{D42A27DB-BD31-4B8C-83A1-F6EECF244321}">
                <p14:modId xmlns:p14="http://schemas.microsoft.com/office/powerpoint/2010/main" val="125839810"/>
              </p:ext>
            </p:extLst>
          </p:nvPr>
        </p:nvGraphicFramePr>
        <p:xfrm>
          <a:off x="4649432"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extLst>
              <p:ext uri="{D42A27DB-BD31-4B8C-83A1-F6EECF244321}">
                <p14:modId xmlns:p14="http://schemas.microsoft.com/office/powerpoint/2010/main" val="3393540122"/>
              </p:ext>
            </p:extLst>
          </p:nvPr>
        </p:nvGraphicFramePr>
        <p:xfrm>
          <a:off x="1045378"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3851417475"/>
              </p:ext>
            </p:extLst>
          </p:nvPr>
        </p:nvGraphicFramePr>
        <p:xfrm>
          <a:off x="4649432"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
        <p:nvSpPr>
          <p:cNvPr id="4" name="矩形 3"/>
          <p:cNvSpPr/>
          <p:nvPr/>
        </p:nvSpPr>
        <p:spPr>
          <a:xfrm>
            <a:off x="8253486" y="1516380"/>
            <a:ext cx="2471351" cy="1754326"/>
          </a:xfrm>
          <a:prstGeom prst="rect">
            <a:avLst/>
          </a:prstGeom>
        </p:spPr>
        <p:txBody>
          <a:bodyPr wrap="square">
            <a:spAutoFit/>
          </a:bodyPr>
          <a:lstStyle/>
          <a:p>
            <a:r>
              <a:rPr lang="en-US" altLang="zh-TW" dirty="0">
                <a:latin typeface="Times New Roman" panose="02020603050405020304" pitchFamily="18" charset="0"/>
                <a:cs typeface="Times New Roman" panose="02020603050405020304" pitchFamily="18" charset="0"/>
              </a:rPr>
              <a:t>X = </a:t>
            </a:r>
            <a:r>
              <a:rPr lang="en-US" altLang="zh-TW" u="sng" dirty="0" err="1">
                <a:latin typeface="Times New Roman" panose="02020603050405020304" pitchFamily="18" charset="0"/>
                <a:cs typeface="Times New Roman" panose="02020603050405020304" pitchFamily="18" charset="0"/>
              </a:rPr>
              <a:t>abbbcc</a:t>
            </a:r>
            <a:r>
              <a:rPr lang="en-US" altLang="zh-TW" u="sng" dirty="0" err="1">
                <a:solidFill>
                  <a:srgbClr val="FF0000"/>
                </a:solidFill>
                <a:latin typeface="Times New Roman" panose="02020603050405020304" pitchFamily="18" charset="0"/>
                <a:cs typeface="Times New Roman" panose="02020603050405020304" pitchFamily="18" charset="0"/>
              </a:rPr>
              <a:t>a</a:t>
            </a:r>
            <a:r>
              <a:rPr lang="en-US" altLang="zh-TW" dirty="0" err="1">
                <a:solidFill>
                  <a:srgbClr val="FF0000"/>
                </a:solidFill>
                <a:latin typeface="Times New Roman" panose="02020603050405020304" pitchFamily="18" charset="0"/>
                <a:cs typeface="Times New Roman" panose="02020603050405020304" pitchFamily="18" charset="0"/>
              </a:rPr>
              <a:t>aa</a:t>
            </a:r>
            <a:endParaRPr lang="en-US" altLang="zh-TW" dirty="0">
              <a:solidFill>
                <a:srgbClr val="FF0000"/>
              </a:solidFill>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Y = </a:t>
            </a:r>
            <a:r>
              <a:rPr lang="en-US" altLang="zh-TW" u="sng" dirty="0" err="1">
                <a:latin typeface="Times New Roman" panose="02020603050405020304" pitchFamily="18" charset="0"/>
                <a:cs typeface="Times New Roman" panose="02020603050405020304" pitchFamily="18" charset="0"/>
              </a:rPr>
              <a:t>b</a:t>
            </a:r>
            <a:r>
              <a:rPr lang="en-US" altLang="zh-TW" u="sng" dirty="0" err="1">
                <a:solidFill>
                  <a:srgbClr val="FF0000"/>
                </a:solidFill>
                <a:latin typeface="Times New Roman" panose="02020603050405020304" pitchFamily="18" charset="0"/>
                <a:cs typeface="Times New Roman" panose="02020603050405020304" pitchFamily="18" charset="0"/>
              </a:rPr>
              <a:t>a</a:t>
            </a:r>
            <a:r>
              <a:rPr lang="en-US" altLang="zh-TW" dirty="0" err="1">
                <a:solidFill>
                  <a:srgbClr val="FF0000"/>
                </a:solidFill>
                <a:latin typeface="Times New Roman" panose="02020603050405020304" pitchFamily="18" charset="0"/>
                <a:cs typeface="Times New Roman" panose="02020603050405020304" pitchFamily="18" charset="0"/>
              </a:rPr>
              <a:t>aa</a:t>
            </a:r>
            <a:r>
              <a:rPr lang="en-US" altLang="zh-TW" dirty="0" err="1">
                <a:latin typeface="Times New Roman" panose="02020603050405020304" pitchFamily="18" charset="0"/>
                <a:cs typeface="Times New Roman" panose="02020603050405020304" pitchFamily="18" charset="0"/>
              </a:rPr>
              <a:t>ccbbbaaccaa</a:t>
            </a:r>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P = </a:t>
            </a:r>
            <a:r>
              <a:rPr lang="en-US" altLang="zh-TW" u="sng" dirty="0" err="1">
                <a:solidFill>
                  <a:srgbClr val="FF0000"/>
                </a:solidFill>
                <a:latin typeface="Times New Roman" panose="02020603050405020304" pitchFamily="18" charset="0"/>
                <a:cs typeface="Times New Roman" panose="02020603050405020304" pitchFamily="18" charset="0"/>
              </a:rPr>
              <a:t>a</a:t>
            </a:r>
            <a:r>
              <a:rPr lang="en-US" altLang="zh-TW" dirty="0" err="1">
                <a:solidFill>
                  <a:srgbClr val="FF0000"/>
                </a:solidFill>
                <a:latin typeface="Times New Roman" panose="02020603050405020304" pitchFamily="18" charset="0"/>
                <a:cs typeface="Times New Roman" panose="02020603050405020304" pitchFamily="18" charset="0"/>
              </a:rPr>
              <a:t>aa</a:t>
            </a:r>
            <a:endParaRPr lang="en-US" altLang="zh-TW" dirty="0">
              <a:solidFill>
                <a:srgbClr val="FF0000"/>
              </a:solidFill>
              <a:latin typeface="Times New Roman" panose="02020603050405020304" pitchFamily="18" charset="0"/>
              <a:cs typeface="Times New Roman" panose="02020603050405020304" pitchFamily="18" charset="0"/>
            </a:endParaRPr>
          </a:p>
          <a:p>
            <a:endParaRPr lang="en-US" altLang="zh-TW" dirty="0">
              <a:solidFill>
                <a:srgbClr val="FF0000"/>
              </a:solidFill>
              <a:latin typeface="Times New Roman" panose="02020603050405020304" pitchFamily="18" charset="0"/>
              <a:cs typeface="Times New Roman" panose="02020603050405020304" pitchFamily="18" charset="0"/>
            </a:endParaRPr>
          </a:p>
          <a:p>
            <a:endParaRPr lang="en-US" altLang="zh-TW" dirty="0">
              <a:solidFill>
                <a:srgbClr val="FF0000"/>
              </a:solidFill>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s = min(3,3,3) – 1 = 2</a:t>
            </a:r>
          </a:p>
        </p:txBody>
      </p:sp>
      <p:cxnSp>
        <p:nvCxnSpPr>
          <p:cNvPr id="6" name="直線單箭頭接點 5"/>
          <p:cNvCxnSpPr/>
          <p:nvPr/>
        </p:nvCxnSpPr>
        <p:spPr>
          <a:xfrm>
            <a:off x="5214276" y="3451655"/>
            <a:ext cx="428368" cy="320451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0" name="直線單箭頭接點 9"/>
          <p:cNvCxnSpPr/>
          <p:nvPr/>
        </p:nvCxnSpPr>
        <p:spPr>
          <a:xfrm>
            <a:off x="1573427" y="6376086"/>
            <a:ext cx="3797643" cy="2471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直線單箭頭接點 11"/>
          <p:cNvCxnSpPr/>
          <p:nvPr/>
        </p:nvCxnSpPr>
        <p:spPr>
          <a:xfrm>
            <a:off x="1779373" y="6145427"/>
            <a:ext cx="3805881" cy="28832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2" name="內容版面配置區 10">
            <a:extLst>
              <a:ext uri="{FF2B5EF4-FFF2-40B4-BE49-F238E27FC236}">
                <a16:creationId xmlns:a16="http://schemas.microsoft.com/office/drawing/2014/main" id="{EABE90EA-F7C6-495C-8658-B39D4C15CDCC}"/>
              </a:ext>
            </a:extLst>
          </p:cNvPr>
          <p:cNvGraphicFramePr>
            <a:graphicFrameLocks/>
          </p:cNvGraphicFramePr>
          <p:nvPr>
            <p:extLst>
              <p:ext uri="{D42A27DB-BD31-4B8C-83A1-F6EECF244321}">
                <p14:modId xmlns:p14="http://schemas.microsoft.com/office/powerpoint/2010/main" val="3017309339"/>
              </p:ext>
            </p:extLst>
          </p:nvPr>
        </p:nvGraphicFramePr>
        <p:xfrm>
          <a:off x="1045378"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401504609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標題 1"/>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(bottom faces)</a:t>
            </a:r>
            <a:endParaRPr lang="zh-TW" altLang="en-US" dirty="0">
              <a:latin typeface="Times New Roman" panose="02020603050405020304" pitchFamily="18" charset="0"/>
              <a:cs typeface="Times New Roman" panose="02020603050405020304" pitchFamily="18" charset="0"/>
            </a:endParaRPr>
          </a:p>
        </p:txBody>
      </p:sp>
      <p:graphicFrame>
        <p:nvGraphicFramePr>
          <p:cNvPr id="27" name="內容版面配置區 10"/>
          <p:cNvGraphicFramePr>
            <a:graphicFrameLocks/>
          </p:cNvGraphicFramePr>
          <p:nvPr>
            <p:extLst>
              <p:ext uri="{D42A27DB-BD31-4B8C-83A1-F6EECF244321}">
                <p14:modId xmlns:p14="http://schemas.microsoft.com/office/powerpoint/2010/main" val="279867778"/>
              </p:ext>
            </p:extLst>
          </p:nvPr>
        </p:nvGraphicFramePr>
        <p:xfrm>
          <a:off x="1045378"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8" name="內容版面配置區 10"/>
          <p:cNvGraphicFramePr>
            <a:graphicFrameLocks/>
          </p:cNvGraphicFramePr>
          <p:nvPr>
            <p:extLst>
              <p:ext uri="{D42A27DB-BD31-4B8C-83A1-F6EECF244321}">
                <p14:modId xmlns:p14="http://schemas.microsoft.com/office/powerpoint/2010/main" val="2337027256"/>
              </p:ext>
            </p:extLst>
          </p:nvPr>
        </p:nvGraphicFramePr>
        <p:xfrm>
          <a:off x="4649432"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nvGraphicFramePr>
        <p:xfrm>
          <a:off x="1045378"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nvGraphicFramePr>
        <p:xfrm>
          <a:off x="4649432"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11" name="直線單箭頭接點 10"/>
          <p:cNvCxnSpPr/>
          <p:nvPr/>
        </p:nvCxnSpPr>
        <p:spPr>
          <a:xfrm>
            <a:off x="1664043" y="3534032"/>
            <a:ext cx="3822357" cy="25537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6" name="矩形 15"/>
          <p:cNvSpPr/>
          <p:nvPr/>
        </p:nvSpPr>
        <p:spPr>
          <a:xfrm>
            <a:off x="1458097" y="3262184"/>
            <a:ext cx="411892" cy="51074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矩形 20"/>
          <p:cNvSpPr/>
          <p:nvPr/>
        </p:nvSpPr>
        <p:spPr>
          <a:xfrm>
            <a:off x="5280454" y="3534031"/>
            <a:ext cx="411892" cy="486033"/>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01030446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標題 1">
            <a:extLst>
              <a:ext uri="{FF2B5EF4-FFF2-40B4-BE49-F238E27FC236}">
                <a16:creationId xmlns:a16="http://schemas.microsoft.com/office/drawing/2014/main" id="{98BAA9BA-8FA8-4284-B83F-1B4652D0AF77}"/>
              </a:ext>
            </a:extLst>
          </p:cNvPr>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(bottom faces)</a:t>
            </a:r>
            <a:endParaRPr lang="zh-TW" altLang="en-US" dirty="0">
              <a:latin typeface="Times New Roman" panose="02020603050405020304" pitchFamily="18" charset="0"/>
              <a:cs typeface="Times New Roman" panose="02020603050405020304" pitchFamily="18" charset="0"/>
            </a:endParaRPr>
          </a:p>
        </p:txBody>
      </p:sp>
      <p:graphicFrame>
        <p:nvGraphicFramePr>
          <p:cNvPr id="6" name="內容版面配置區 10">
            <a:extLst>
              <a:ext uri="{FF2B5EF4-FFF2-40B4-BE49-F238E27FC236}">
                <a16:creationId xmlns:a16="http://schemas.microsoft.com/office/drawing/2014/main" id="{39B4A1DF-AE8E-4433-998D-96126C95C51A}"/>
              </a:ext>
            </a:extLst>
          </p:cNvPr>
          <p:cNvGraphicFramePr>
            <a:graphicFrameLocks/>
          </p:cNvGraphicFramePr>
          <p:nvPr>
            <p:extLst>
              <p:ext uri="{D42A27DB-BD31-4B8C-83A1-F6EECF244321}">
                <p14:modId xmlns:p14="http://schemas.microsoft.com/office/powerpoint/2010/main" val="818353558"/>
              </p:ext>
            </p:extLst>
          </p:nvPr>
        </p:nvGraphicFramePr>
        <p:xfrm>
          <a:off x="1802934" y="1690688"/>
          <a:ext cx="8398080" cy="4558400"/>
        </p:xfrm>
        <a:graphic>
          <a:graphicData uri="http://schemas.openxmlformats.org/drawingml/2006/table">
            <a:tbl>
              <a:tblPr firstRow="1" bandRow="1">
                <a:tableStyleId>{5C22544A-7EE6-4342-B048-85BDC9FD1C3A}</a:tableStyleId>
              </a:tblPr>
              <a:tblGrid>
                <a:gridCol w="524880">
                  <a:extLst>
                    <a:ext uri="{9D8B030D-6E8A-4147-A177-3AD203B41FA5}">
                      <a16:colId xmlns:a16="http://schemas.microsoft.com/office/drawing/2014/main" val="20000"/>
                    </a:ext>
                  </a:extLst>
                </a:gridCol>
                <a:gridCol w="524880">
                  <a:extLst>
                    <a:ext uri="{9D8B030D-6E8A-4147-A177-3AD203B41FA5}">
                      <a16:colId xmlns:a16="http://schemas.microsoft.com/office/drawing/2014/main" val="20001"/>
                    </a:ext>
                  </a:extLst>
                </a:gridCol>
                <a:gridCol w="524880">
                  <a:extLst>
                    <a:ext uri="{9D8B030D-6E8A-4147-A177-3AD203B41FA5}">
                      <a16:colId xmlns:a16="http://schemas.microsoft.com/office/drawing/2014/main" val="20002"/>
                    </a:ext>
                  </a:extLst>
                </a:gridCol>
                <a:gridCol w="524880">
                  <a:extLst>
                    <a:ext uri="{9D8B030D-6E8A-4147-A177-3AD203B41FA5}">
                      <a16:colId xmlns:a16="http://schemas.microsoft.com/office/drawing/2014/main" val="20003"/>
                    </a:ext>
                  </a:extLst>
                </a:gridCol>
                <a:gridCol w="524880">
                  <a:extLst>
                    <a:ext uri="{9D8B030D-6E8A-4147-A177-3AD203B41FA5}">
                      <a16:colId xmlns:a16="http://schemas.microsoft.com/office/drawing/2014/main" val="20004"/>
                    </a:ext>
                  </a:extLst>
                </a:gridCol>
                <a:gridCol w="524880">
                  <a:extLst>
                    <a:ext uri="{9D8B030D-6E8A-4147-A177-3AD203B41FA5}">
                      <a16:colId xmlns:a16="http://schemas.microsoft.com/office/drawing/2014/main" val="20005"/>
                    </a:ext>
                  </a:extLst>
                </a:gridCol>
                <a:gridCol w="524880">
                  <a:extLst>
                    <a:ext uri="{9D8B030D-6E8A-4147-A177-3AD203B41FA5}">
                      <a16:colId xmlns:a16="http://schemas.microsoft.com/office/drawing/2014/main" val="20006"/>
                    </a:ext>
                  </a:extLst>
                </a:gridCol>
                <a:gridCol w="524880">
                  <a:extLst>
                    <a:ext uri="{9D8B030D-6E8A-4147-A177-3AD203B41FA5}">
                      <a16:colId xmlns:a16="http://schemas.microsoft.com/office/drawing/2014/main" val="20007"/>
                    </a:ext>
                  </a:extLst>
                </a:gridCol>
                <a:gridCol w="524880">
                  <a:extLst>
                    <a:ext uri="{9D8B030D-6E8A-4147-A177-3AD203B41FA5}">
                      <a16:colId xmlns:a16="http://schemas.microsoft.com/office/drawing/2014/main" val="20008"/>
                    </a:ext>
                  </a:extLst>
                </a:gridCol>
                <a:gridCol w="524880">
                  <a:extLst>
                    <a:ext uri="{9D8B030D-6E8A-4147-A177-3AD203B41FA5}">
                      <a16:colId xmlns:a16="http://schemas.microsoft.com/office/drawing/2014/main" val="20009"/>
                    </a:ext>
                  </a:extLst>
                </a:gridCol>
                <a:gridCol w="524880">
                  <a:extLst>
                    <a:ext uri="{9D8B030D-6E8A-4147-A177-3AD203B41FA5}">
                      <a16:colId xmlns:a16="http://schemas.microsoft.com/office/drawing/2014/main" val="20010"/>
                    </a:ext>
                  </a:extLst>
                </a:gridCol>
                <a:gridCol w="524880">
                  <a:extLst>
                    <a:ext uri="{9D8B030D-6E8A-4147-A177-3AD203B41FA5}">
                      <a16:colId xmlns:a16="http://schemas.microsoft.com/office/drawing/2014/main" val="20011"/>
                    </a:ext>
                  </a:extLst>
                </a:gridCol>
                <a:gridCol w="524880">
                  <a:extLst>
                    <a:ext uri="{9D8B030D-6E8A-4147-A177-3AD203B41FA5}">
                      <a16:colId xmlns:a16="http://schemas.microsoft.com/office/drawing/2014/main" val="20012"/>
                    </a:ext>
                  </a:extLst>
                </a:gridCol>
                <a:gridCol w="524880">
                  <a:extLst>
                    <a:ext uri="{9D8B030D-6E8A-4147-A177-3AD203B41FA5}">
                      <a16:colId xmlns:a16="http://schemas.microsoft.com/office/drawing/2014/main" val="20013"/>
                    </a:ext>
                  </a:extLst>
                </a:gridCol>
                <a:gridCol w="524880">
                  <a:extLst>
                    <a:ext uri="{9D8B030D-6E8A-4147-A177-3AD203B41FA5}">
                      <a16:colId xmlns:a16="http://schemas.microsoft.com/office/drawing/2014/main" val="20014"/>
                    </a:ext>
                  </a:extLst>
                </a:gridCol>
                <a:gridCol w="524880">
                  <a:extLst>
                    <a:ext uri="{9D8B030D-6E8A-4147-A177-3AD203B41FA5}">
                      <a16:colId xmlns:a16="http://schemas.microsoft.com/office/drawing/2014/main" val="20015"/>
                    </a:ext>
                  </a:extLst>
                </a:gridCol>
              </a:tblGrid>
              <a:tr h="455840">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55840">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20" name="直線接點 19">
            <a:extLst>
              <a:ext uri="{FF2B5EF4-FFF2-40B4-BE49-F238E27FC236}">
                <a16:creationId xmlns:a16="http://schemas.microsoft.com/office/drawing/2014/main" id="{08DDCDE0-A0D8-49D0-8211-7F568C545443}"/>
              </a:ext>
            </a:extLst>
          </p:cNvPr>
          <p:cNvCxnSpPr>
            <a:cxnSpLocks/>
          </p:cNvCxnSpPr>
          <p:nvPr/>
        </p:nvCxnSpPr>
        <p:spPr>
          <a:xfrm flipH="1" flipV="1">
            <a:off x="2852259" y="4882395"/>
            <a:ext cx="536893" cy="44461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線單箭頭接點 22">
            <a:extLst>
              <a:ext uri="{FF2B5EF4-FFF2-40B4-BE49-F238E27FC236}">
                <a16:creationId xmlns:a16="http://schemas.microsoft.com/office/drawing/2014/main" id="{C0F7E18C-5E64-4D0E-A3B3-623FF1DD7017}"/>
              </a:ext>
            </a:extLst>
          </p:cNvPr>
          <p:cNvCxnSpPr>
            <a:cxnSpLocks/>
          </p:cNvCxnSpPr>
          <p:nvPr/>
        </p:nvCxnSpPr>
        <p:spPr>
          <a:xfrm>
            <a:off x="2852259" y="4739784"/>
            <a:ext cx="0" cy="310394"/>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482608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標題 1">
            <a:extLst>
              <a:ext uri="{FF2B5EF4-FFF2-40B4-BE49-F238E27FC236}">
                <a16:creationId xmlns:a16="http://schemas.microsoft.com/office/drawing/2014/main" id="{98BAA9BA-8FA8-4284-B83F-1B4652D0AF77}"/>
              </a:ext>
            </a:extLst>
          </p:cNvPr>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(bottom faces)</a:t>
            </a:r>
            <a:endParaRPr lang="zh-TW" altLang="en-US" dirty="0">
              <a:latin typeface="Times New Roman" panose="02020603050405020304" pitchFamily="18" charset="0"/>
              <a:cs typeface="Times New Roman" panose="02020603050405020304" pitchFamily="18" charset="0"/>
            </a:endParaRPr>
          </a:p>
        </p:txBody>
      </p:sp>
      <p:graphicFrame>
        <p:nvGraphicFramePr>
          <p:cNvPr id="6" name="內容版面配置區 10">
            <a:extLst>
              <a:ext uri="{FF2B5EF4-FFF2-40B4-BE49-F238E27FC236}">
                <a16:creationId xmlns:a16="http://schemas.microsoft.com/office/drawing/2014/main" id="{39B4A1DF-AE8E-4433-998D-96126C95C51A}"/>
              </a:ext>
            </a:extLst>
          </p:cNvPr>
          <p:cNvGraphicFramePr>
            <a:graphicFrameLocks/>
          </p:cNvGraphicFramePr>
          <p:nvPr/>
        </p:nvGraphicFramePr>
        <p:xfrm>
          <a:off x="1802934" y="1690688"/>
          <a:ext cx="8398080" cy="4558400"/>
        </p:xfrm>
        <a:graphic>
          <a:graphicData uri="http://schemas.openxmlformats.org/drawingml/2006/table">
            <a:tbl>
              <a:tblPr firstRow="1" bandRow="1">
                <a:tableStyleId>{5C22544A-7EE6-4342-B048-85BDC9FD1C3A}</a:tableStyleId>
              </a:tblPr>
              <a:tblGrid>
                <a:gridCol w="524880">
                  <a:extLst>
                    <a:ext uri="{9D8B030D-6E8A-4147-A177-3AD203B41FA5}">
                      <a16:colId xmlns:a16="http://schemas.microsoft.com/office/drawing/2014/main" val="20000"/>
                    </a:ext>
                  </a:extLst>
                </a:gridCol>
                <a:gridCol w="524880">
                  <a:extLst>
                    <a:ext uri="{9D8B030D-6E8A-4147-A177-3AD203B41FA5}">
                      <a16:colId xmlns:a16="http://schemas.microsoft.com/office/drawing/2014/main" val="20001"/>
                    </a:ext>
                  </a:extLst>
                </a:gridCol>
                <a:gridCol w="524880">
                  <a:extLst>
                    <a:ext uri="{9D8B030D-6E8A-4147-A177-3AD203B41FA5}">
                      <a16:colId xmlns:a16="http://schemas.microsoft.com/office/drawing/2014/main" val="20002"/>
                    </a:ext>
                  </a:extLst>
                </a:gridCol>
                <a:gridCol w="524880">
                  <a:extLst>
                    <a:ext uri="{9D8B030D-6E8A-4147-A177-3AD203B41FA5}">
                      <a16:colId xmlns:a16="http://schemas.microsoft.com/office/drawing/2014/main" val="20003"/>
                    </a:ext>
                  </a:extLst>
                </a:gridCol>
                <a:gridCol w="524880">
                  <a:extLst>
                    <a:ext uri="{9D8B030D-6E8A-4147-A177-3AD203B41FA5}">
                      <a16:colId xmlns:a16="http://schemas.microsoft.com/office/drawing/2014/main" val="20004"/>
                    </a:ext>
                  </a:extLst>
                </a:gridCol>
                <a:gridCol w="524880">
                  <a:extLst>
                    <a:ext uri="{9D8B030D-6E8A-4147-A177-3AD203B41FA5}">
                      <a16:colId xmlns:a16="http://schemas.microsoft.com/office/drawing/2014/main" val="20005"/>
                    </a:ext>
                  </a:extLst>
                </a:gridCol>
                <a:gridCol w="524880">
                  <a:extLst>
                    <a:ext uri="{9D8B030D-6E8A-4147-A177-3AD203B41FA5}">
                      <a16:colId xmlns:a16="http://schemas.microsoft.com/office/drawing/2014/main" val="20006"/>
                    </a:ext>
                  </a:extLst>
                </a:gridCol>
                <a:gridCol w="524880">
                  <a:extLst>
                    <a:ext uri="{9D8B030D-6E8A-4147-A177-3AD203B41FA5}">
                      <a16:colId xmlns:a16="http://schemas.microsoft.com/office/drawing/2014/main" val="20007"/>
                    </a:ext>
                  </a:extLst>
                </a:gridCol>
                <a:gridCol w="524880">
                  <a:extLst>
                    <a:ext uri="{9D8B030D-6E8A-4147-A177-3AD203B41FA5}">
                      <a16:colId xmlns:a16="http://schemas.microsoft.com/office/drawing/2014/main" val="20008"/>
                    </a:ext>
                  </a:extLst>
                </a:gridCol>
                <a:gridCol w="524880">
                  <a:extLst>
                    <a:ext uri="{9D8B030D-6E8A-4147-A177-3AD203B41FA5}">
                      <a16:colId xmlns:a16="http://schemas.microsoft.com/office/drawing/2014/main" val="20009"/>
                    </a:ext>
                  </a:extLst>
                </a:gridCol>
                <a:gridCol w="524880">
                  <a:extLst>
                    <a:ext uri="{9D8B030D-6E8A-4147-A177-3AD203B41FA5}">
                      <a16:colId xmlns:a16="http://schemas.microsoft.com/office/drawing/2014/main" val="20010"/>
                    </a:ext>
                  </a:extLst>
                </a:gridCol>
                <a:gridCol w="524880">
                  <a:extLst>
                    <a:ext uri="{9D8B030D-6E8A-4147-A177-3AD203B41FA5}">
                      <a16:colId xmlns:a16="http://schemas.microsoft.com/office/drawing/2014/main" val="20011"/>
                    </a:ext>
                  </a:extLst>
                </a:gridCol>
                <a:gridCol w="524880">
                  <a:extLst>
                    <a:ext uri="{9D8B030D-6E8A-4147-A177-3AD203B41FA5}">
                      <a16:colId xmlns:a16="http://schemas.microsoft.com/office/drawing/2014/main" val="20012"/>
                    </a:ext>
                  </a:extLst>
                </a:gridCol>
                <a:gridCol w="524880">
                  <a:extLst>
                    <a:ext uri="{9D8B030D-6E8A-4147-A177-3AD203B41FA5}">
                      <a16:colId xmlns:a16="http://schemas.microsoft.com/office/drawing/2014/main" val="20013"/>
                    </a:ext>
                  </a:extLst>
                </a:gridCol>
                <a:gridCol w="524880">
                  <a:extLst>
                    <a:ext uri="{9D8B030D-6E8A-4147-A177-3AD203B41FA5}">
                      <a16:colId xmlns:a16="http://schemas.microsoft.com/office/drawing/2014/main" val="20014"/>
                    </a:ext>
                  </a:extLst>
                </a:gridCol>
                <a:gridCol w="524880">
                  <a:extLst>
                    <a:ext uri="{9D8B030D-6E8A-4147-A177-3AD203B41FA5}">
                      <a16:colId xmlns:a16="http://schemas.microsoft.com/office/drawing/2014/main" val="20015"/>
                    </a:ext>
                  </a:extLst>
                </a:gridCol>
              </a:tblGrid>
              <a:tr h="455840">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55840">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5" name="直線接點 4">
            <a:extLst>
              <a:ext uri="{FF2B5EF4-FFF2-40B4-BE49-F238E27FC236}">
                <a16:creationId xmlns:a16="http://schemas.microsoft.com/office/drawing/2014/main" id="{0A1F568B-D468-4208-9D38-ABFE3B344EB5}"/>
              </a:ext>
            </a:extLst>
          </p:cNvPr>
          <p:cNvCxnSpPr>
            <a:cxnSpLocks/>
          </p:cNvCxnSpPr>
          <p:nvPr/>
        </p:nvCxnSpPr>
        <p:spPr>
          <a:xfrm flipH="1" flipV="1">
            <a:off x="3347209" y="4882395"/>
            <a:ext cx="536893" cy="44461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直線單箭頭接點 2">
            <a:extLst>
              <a:ext uri="{FF2B5EF4-FFF2-40B4-BE49-F238E27FC236}">
                <a16:creationId xmlns:a16="http://schemas.microsoft.com/office/drawing/2014/main" id="{FEB4D581-7600-47A8-A96A-389866981100}"/>
              </a:ext>
            </a:extLst>
          </p:cNvPr>
          <p:cNvCxnSpPr/>
          <p:nvPr/>
        </p:nvCxnSpPr>
        <p:spPr>
          <a:xfrm>
            <a:off x="3112316" y="2416029"/>
            <a:ext cx="0" cy="2105637"/>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 name="直線單箭頭接點 7">
            <a:extLst>
              <a:ext uri="{FF2B5EF4-FFF2-40B4-BE49-F238E27FC236}">
                <a16:creationId xmlns:a16="http://schemas.microsoft.com/office/drawing/2014/main" id="{940D38B7-C4DA-4713-8B40-9B95B7318CF6}"/>
              </a:ext>
            </a:extLst>
          </p:cNvPr>
          <p:cNvCxnSpPr/>
          <p:nvPr/>
        </p:nvCxnSpPr>
        <p:spPr>
          <a:xfrm>
            <a:off x="2474752" y="4681057"/>
            <a:ext cx="503340" cy="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26243898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標題 1">
            <a:extLst>
              <a:ext uri="{FF2B5EF4-FFF2-40B4-BE49-F238E27FC236}">
                <a16:creationId xmlns:a16="http://schemas.microsoft.com/office/drawing/2014/main" id="{98BAA9BA-8FA8-4284-B83F-1B4652D0AF77}"/>
              </a:ext>
            </a:extLst>
          </p:cNvPr>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(bottom faces)</a:t>
            </a:r>
            <a:endParaRPr lang="zh-TW" altLang="en-US" dirty="0">
              <a:latin typeface="Times New Roman" panose="02020603050405020304" pitchFamily="18" charset="0"/>
              <a:cs typeface="Times New Roman" panose="02020603050405020304" pitchFamily="18" charset="0"/>
            </a:endParaRPr>
          </a:p>
        </p:txBody>
      </p:sp>
      <p:graphicFrame>
        <p:nvGraphicFramePr>
          <p:cNvPr id="6" name="內容版面配置區 10">
            <a:extLst>
              <a:ext uri="{FF2B5EF4-FFF2-40B4-BE49-F238E27FC236}">
                <a16:creationId xmlns:a16="http://schemas.microsoft.com/office/drawing/2014/main" id="{39B4A1DF-AE8E-4433-998D-96126C95C51A}"/>
              </a:ext>
            </a:extLst>
          </p:cNvPr>
          <p:cNvGraphicFramePr>
            <a:graphicFrameLocks/>
          </p:cNvGraphicFramePr>
          <p:nvPr/>
        </p:nvGraphicFramePr>
        <p:xfrm>
          <a:off x="1802934" y="1690688"/>
          <a:ext cx="8398080" cy="4558400"/>
        </p:xfrm>
        <a:graphic>
          <a:graphicData uri="http://schemas.openxmlformats.org/drawingml/2006/table">
            <a:tbl>
              <a:tblPr firstRow="1" bandRow="1">
                <a:tableStyleId>{5C22544A-7EE6-4342-B048-85BDC9FD1C3A}</a:tableStyleId>
              </a:tblPr>
              <a:tblGrid>
                <a:gridCol w="524880">
                  <a:extLst>
                    <a:ext uri="{9D8B030D-6E8A-4147-A177-3AD203B41FA5}">
                      <a16:colId xmlns:a16="http://schemas.microsoft.com/office/drawing/2014/main" val="20000"/>
                    </a:ext>
                  </a:extLst>
                </a:gridCol>
                <a:gridCol w="524880">
                  <a:extLst>
                    <a:ext uri="{9D8B030D-6E8A-4147-A177-3AD203B41FA5}">
                      <a16:colId xmlns:a16="http://schemas.microsoft.com/office/drawing/2014/main" val="20001"/>
                    </a:ext>
                  </a:extLst>
                </a:gridCol>
                <a:gridCol w="524880">
                  <a:extLst>
                    <a:ext uri="{9D8B030D-6E8A-4147-A177-3AD203B41FA5}">
                      <a16:colId xmlns:a16="http://schemas.microsoft.com/office/drawing/2014/main" val="20002"/>
                    </a:ext>
                  </a:extLst>
                </a:gridCol>
                <a:gridCol w="524880">
                  <a:extLst>
                    <a:ext uri="{9D8B030D-6E8A-4147-A177-3AD203B41FA5}">
                      <a16:colId xmlns:a16="http://schemas.microsoft.com/office/drawing/2014/main" val="20003"/>
                    </a:ext>
                  </a:extLst>
                </a:gridCol>
                <a:gridCol w="524880">
                  <a:extLst>
                    <a:ext uri="{9D8B030D-6E8A-4147-A177-3AD203B41FA5}">
                      <a16:colId xmlns:a16="http://schemas.microsoft.com/office/drawing/2014/main" val="20004"/>
                    </a:ext>
                  </a:extLst>
                </a:gridCol>
                <a:gridCol w="524880">
                  <a:extLst>
                    <a:ext uri="{9D8B030D-6E8A-4147-A177-3AD203B41FA5}">
                      <a16:colId xmlns:a16="http://schemas.microsoft.com/office/drawing/2014/main" val="20005"/>
                    </a:ext>
                  </a:extLst>
                </a:gridCol>
                <a:gridCol w="524880">
                  <a:extLst>
                    <a:ext uri="{9D8B030D-6E8A-4147-A177-3AD203B41FA5}">
                      <a16:colId xmlns:a16="http://schemas.microsoft.com/office/drawing/2014/main" val="20006"/>
                    </a:ext>
                  </a:extLst>
                </a:gridCol>
                <a:gridCol w="524880">
                  <a:extLst>
                    <a:ext uri="{9D8B030D-6E8A-4147-A177-3AD203B41FA5}">
                      <a16:colId xmlns:a16="http://schemas.microsoft.com/office/drawing/2014/main" val="20007"/>
                    </a:ext>
                  </a:extLst>
                </a:gridCol>
                <a:gridCol w="524880">
                  <a:extLst>
                    <a:ext uri="{9D8B030D-6E8A-4147-A177-3AD203B41FA5}">
                      <a16:colId xmlns:a16="http://schemas.microsoft.com/office/drawing/2014/main" val="20008"/>
                    </a:ext>
                  </a:extLst>
                </a:gridCol>
                <a:gridCol w="524880">
                  <a:extLst>
                    <a:ext uri="{9D8B030D-6E8A-4147-A177-3AD203B41FA5}">
                      <a16:colId xmlns:a16="http://schemas.microsoft.com/office/drawing/2014/main" val="20009"/>
                    </a:ext>
                  </a:extLst>
                </a:gridCol>
                <a:gridCol w="524880">
                  <a:extLst>
                    <a:ext uri="{9D8B030D-6E8A-4147-A177-3AD203B41FA5}">
                      <a16:colId xmlns:a16="http://schemas.microsoft.com/office/drawing/2014/main" val="20010"/>
                    </a:ext>
                  </a:extLst>
                </a:gridCol>
                <a:gridCol w="524880">
                  <a:extLst>
                    <a:ext uri="{9D8B030D-6E8A-4147-A177-3AD203B41FA5}">
                      <a16:colId xmlns:a16="http://schemas.microsoft.com/office/drawing/2014/main" val="20011"/>
                    </a:ext>
                  </a:extLst>
                </a:gridCol>
                <a:gridCol w="524880">
                  <a:extLst>
                    <a:ext uri="{9D8B030D-6E8A-4147-A177-3AD203B41FA5}">
                      <a16:colId xmlns:a16="http://schemas.microsoft.com/office/drawing/2014/main" val="20012"/>
                    </a:ext>
                  </a:extLst>
                </a:gridCol>
                <a:gridCol w="524880">
                  <a:extLst>
                    <a:ext uri="{9D8B030D-6E8A-4147-A177-3AD203B41FA5}">
                      <a16:colId xmlns:a16="http://schemas.microsoft.com/office/drawing/2014/main" val="20013"/>
                    </a:ext>
                  </a:extLst>
                </a:gridCol>
                <a:gridCol w="524880">
                  <a:extLst>
                    <a:ext uri="{9D8B030D-6E8A-4147-A177-3AD203B41FA5}">
                      <a16:colId xmlns:a16="http://schemas.microsoft.com/office/drawing/2014/main" val="20014"/>
                    </a:ext>
                  </a:extLst>
                </a:gridCol>
                <a:gridCol w="524880">
                  <a:extLst>
                    <a:ext uri="{9D8B030D-6E8A-4147-A177-3AD203B41FA5}">
                      <a16:colId xmlns:a16="http://schemas.microsoft.com/office/drawing/2014/main" val="20015"/>
                    </a:ext>
                  </a:extLst>
                </a:gridCol>
              </a:tblGrid>
              <a:tr h="455840">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55840">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5" name="直線接點 4">
            <a:extLst>
              <a:ext uri="{FF2B5EF4-FFF2-40B4-BE49-F238E27FC236}">
                <a16:creationId xmlns:a16="http://schemas.microsoft.com/office/drawing/2014/main" id="{FCB5A7E6-F814-4BEA-A550-7821D7A8F9E7}"/>
              </a:ext>
            </a:extLst>
          </p:cNvPr>
          <p:cNvCxnSpPr>
            <a:cxnSpLocks/>
          </p:cNvCxnSpPr>
          <p:nvPr/>
        </p:nvCxnSpPr>
        <p:spPr>
          <a:xfrm flipH="1" flipV="1">
            <a:off x="2852259" y="5343790"/>
            <a:ext cx="536893" cy="44461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直線單箭頭接點 2">
            <a:extLst>
              <a:ext uri="{FF2B5EF4-FFF2-40B4-BE49-F238E27FC236}">
                <a16:creationId xmlns:a16="http://schemas.microsoft.com/office/drawing/2014/main" id="{773FDBFE-6D61-4F65-AB0E-881D9C8A5365}"/>
              </a:ext>
            </a:extLst>
          </p:cNvPr>
          <p:cNvCxnSpPr/>
          <p:nvPr/>
        </p:nvCxnSpPr>
        <p:spPr>
          <a:xfrm>
            <a:off x="2852259" y="4882393"/>
            <a:ext cx="0" cy="461397"/>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17369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標題 1">
            <a:extLst>
              <a:ext uri="{FF2B5EF4-FFF2-40B4-BE49-F238E27FC236}">
                <a16:creationId xmlns:a16="http://schemas.microsoft.com/office/drawing/2014/main" id="{98BAA9BA-8FA8-4284-B83F-1B4652D0AF77}"/>
              </a:ext>
            </a:extLst>
          </p:cNvPr>
          <p:cNvSpPr>
            <a:spLocks noGrp="1"/>
          </p:cNvSpPr>
          <p:nvPr>
            <p:ph type="title"/>
          </p:nvPr>
        </p:nvSpPr>
        <p:spPr>
          <a:xfrm>
            <a:off x="838200" y="365125"/>
            <a:ext cx="10515600" cy="1325563"/>
          </a:xfrm>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(bottom faces)</a:t>
            </a:r>
            <a:endParaRPr lang="zh-TW" altLang="en-US" dirty="0">
              <a:latin typeface="Times New Roman" panose="02020603050405020304" pitchFamily="18" charset="0"/>
              <a:cs typeface="Times New Roman" panose="02020603050405020304" pitchFamily="18" charset="0"/>
            </a:endParaRPr>
          </a:p>
        </p:txBody>
      </p:sp>
      <p:graphicFrame>
        <p:nvGraphicFramePr>
          <p:cNvPr id="6" name="內容版面配置區 10">
            <a:extLst>
              <a:ext uri="{FF2B5EF4-FFF2-40B4-BE49-F238E27FC236}">
                <a16:creationId xmlns:a16="http://schemas.microsoft.com/office/drawing/2014/main" id="{39B4A1DF-AE8E-4433-998D-96126C95C51A}"/>
              </a:ext>
            </a:extLst>
          </p:cNvPr>
          <p:cNvGraphicFramePr>
            <a:graphicFrameLocks/>
          </p:cNvGraphicFramePr>
          <p:nvPr/>
        </p:nvGraphicFramePr>
        <p:xfrm>
          <a:off x="1802934" y="1690688"/>
          <a:ext cx="8398080" cy="4558400"/>
        </p:xfrm>
        <a:graphic>
          <a:graphicData uri="http://schemas.openxmlformats.org/drawingml/2006/table">
            <a:tbl>
              <a:tblPr firstRow="1" bandRow="1">
                <a:tableStyleId>{5C22544A-7EE6-4342-B048-85BDC9FD1C3A}</a:tableStyleId>
              </a:tblPr>
              <a:tblGrid>
                <a:gridCol w="524880">
                  <a:extLst>
                    <a:ext uri="{9D8B030D-6E8A-4147-A177-3AD203B41FA5}">
                      <a16:colId xmlns:a16="http://schemas.microsoft.com/office/drawing/2014/main" val="20000"/>
                    </a:ext>
                  </a:extLst>
                </a:gridCol>
                <a:gridCol w="524880">
                  <a:extLst>
                    <a:ext uri="{9D8B030D-6E8A-4147-A177-3AD203B41FA5}">
                      <a16:colId xmlns:a16="http://schemas.microsoft.com/office/drawing/2014/main" val="20001"/>
                    </a:ext>
                  </a:extLst>
                </a:gridCol>
                <a:gridCol w="524880">
                  <a:extLst>
                    <a:ext uri="{9D8B030D-6E8A-4147-A177-3AD203B41FA5}">
                      <a16:colId xmlns:a16="http://schemas.microsoft.com/office/drawing/2014/main" val="20002"/>
                    </a:ext>
                  </a:extLst>
                </a:gridCol>
                <a:gridCol w="524880">
                  <a:extLst>
                    <a:ext uri="{9D8B030D-6E8A-4147-A177-3AD203B41FA5}">
                      <a16:colId xmlns:a16="http://schemas.microsoft.com/office/drawing/2014/main" val="20003"/>
                    </a:ext>
                  </a:extLst>
                </a:gridCol>
                <a:gridCol w="524880">
                  <a:extLst>
                    <a:ext uri="{9D8B030D-6E8A-4147-A177-3AD203B41FA5}">
                      <a16:colId xmlns:a16="http://schemas.microsoft.com/office/drawing/2014/main" val="20004"/>
                    </a:ext>
                  </a:extLst>
                </a:gridCol>
                <a:gridCol w="524880">
                  <a:extLst>
                    <a:ext uri="{9D8B030D-6E8A-4147-A177-3AD203B41FA5}">
                      <a16:colId xmlns:a16="http://schemas.microsoft.com/office/drawing/2014/main" val="20005"/>
                    </a:ext>
                  </a:extLst>
                </a:gridCol>
                <a:gridCol w="524880">
                  <a:extLst>
                    <a:ext uri="{9D8B030D-6E8A-4147-A177-3AD203B41FA5}">
                      <a16:colId xmlns:a16="http://schemas.microsoft.com/office/drawing/2014/main" val="20006"/>
                    </a:ext>
                  </a:extLst>
                </a:gridCol>
                <a:gridCol w="524880">
                  <a:extLst>
                    <a:ext uri="{9D8B030D-6E8A-4147-A177-3AD203B41FA5}">
                      <a16:colId xmlns:a16="http://schemas.microsoft.com/office/drawing/2014/main" val="20007"/>
                    </a:ext>
                  </a:extLst>
                </a:gridCol>
                <a:gridCol w="524880">
                  <a:extLst>
                    <a:ext uri="{9D8B030D-6E8A-4147-A177-3AD203B41FA5}">
                      <a16:colId xmlns:a16="http://schemas.microsoft.com/office/drawing/2014/main" val="20008"/>
                    </a:ext>
                  </a:extLst>
                </a:gridCol>
                <a:gridCol w="524880">
                  <a:extLst>
                    <a:ext uri="{9D8B030D-6E8A-4147-A177-3AD203B41FA5}">
                      <a16:colId xmlns:a16="http://schemas.microsoft.com/office/drawing/2014/main" val="20009"/>
                    </a:ext>
                  </a:extLst>
                </a:gridCol>
                <a:gridCol w="524880">
                  <a:extLst>
                    <a:ext uri="{9D8B030D-6E8A-4147-A177-3AD203B41FA5}">
                      <a16:colId xmlns:a16="http://schemas.microsoft.com/office/drawing/2014/main" val="20010"/>
                    </a:ext>
                  </a:extLst>
                </a:gridCol>
                <a:gridCol w="524880">
                  <a:extLst>
                    <a:ext uri="{9D8B030D-6E8A-4147-A177-3AD203B41FA5}">
                      <a16:colId xmlns:a16="http://schemas.microsoft.com/office/drawing/2014/main" val="20011"/>
                    </a:ext>
                  </a:extLst>
                </a:gridCol>
                <a:gridCol w="524880">
                  <a:extLst>
                    <a:ext uri="{9D8B030D-6E8A-4147-A177-3AD203B41FA5}">
                      <a16:colId xmlns:a16="http://schemas.microsoft.com/office/drawing/2014/main" val="20012"/>
                    </a:ext>
                  </a:extLst>
                </a:gridCol>
                <a:gridCol w="524880">
                  <a:extLst>
                    <a:ext uri="{9D8B030D-6E8A-4147-A177-3AD203B41FA5}">
                      <a16:colId xmlns:a16="http://schemas.microsoft.com/office/drawing/2014/main" val="20013"/>
                    </a:ext>
                  </a:extLst>
                </a:gridCol>
                <a:gridCol w="524880">
                  <a:extLst>
                    <a:ext uri="{9D8B030D-6E8A-4147-A177-3AD203B41FA5}">
                      <a16:colId xmlns:a16="http://schemas.microsoft.com/office/drawing/2014/main" val="20014"/>
                    </a:ext>
                  </a:extLst>
                </a:gridCol>
                <a:gridCol w="524880">
                  <a:extLst>
                    <a:ext uri="{9D8B030D-6E8A-4147-A177-3AD203B41FA5}">
                      <a16:colId xmlns:a16="http://schemas.microsoft.com/office/drawing/2014/main" val="20015"/>
                    </a:ext>
                  </a:extLst>
                </a:gridCol>
              </a:tblGrid>
              <a:tr h="455840">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b</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55840">
                <a:tc>
                  <a:txBody>
                    <a:bodyPr/>
                    <a:lstStyle/>
                    <a:p>
                      <a:pPr algn="ctr"/>
                      <a:r>
                        <a:rPr lang="en-US" altLang="zh-TW" sz="1800" b="0">
                          <a:solidFill>
                            <a:schemeClr val="tx1"/>
                          </a:solidFill>
                          <a:latin typeface="Times New Roman" panose="02020603050405020304" pitchFamily="18" charset="0"/>
                          <a:cs typeface="Times New Roman" panose="02020603050405020304" pitchFamily="18" charset="0"/>
                        </a:rPr>
                        <a:t>c</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455840">
                <a:tc>
                  <a:txBody>
                    <a:bodyPr/>
                    <a:lstStyle/>
                    <a:p>
                      <a:pPr algn="ctr"/>
                      <a:r>
                        <a:rPr lang="en-US" altLang="zh-TW" sz="1800" b="0" dirty="0">
                          <a:solidFill>
                            <a:schemeClr val="tx1"/>
                          </a:solidFill>
                          <a:latin typeface="Times New Roman" panose="02020603050405020304" pitchFamily="18" charset="0"/>
                          <a:cs typeface="Times New Roman" panose="02020603050405020304" pitchFamily="18" charset="0"/>
                        </a:rPr>
                        <a:t>a</a:t>
                      </a: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80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5" name="直線接點 4">
            <a:extLst>
              <a:ext uri="{FF2B5EF4-FFF2-40B4-BE49-F238E27FC236}">
                <a16:creationId xmlns:a16="http://schemas.microsoft.com/office/drawing/2014/main" id="{4512834A-26FE-43ED-AAD8-682BFD203C00}"/>
              </a:ext>
            </a:extLst>
          </p:cNvPr>
          <p:cNvCxnSpPr>
            <a:cxnSpLocks/>
          </p:cNvCxnSpPr>
          <p:nvPr/>
        </p:nvCxnSpPr>
        <p:spPr>
          <a:xfrm flipH="1" flipV="1">
            <a:off x="2852260" y="4882395"/>
            <a:ext cx="1065399" cy="9060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單箭頭接點 6">
            <a:extLst>
              <a:ext uri="{FF2B5EF4-FFF2-40B4-BE49-F238E27FC236}">
                <a16:creationId xmlns:a16="http://schemas.microsoft.com/office/drawing/2014/main" id="{0DFEC6B4-252F-43DA-9ECD-49CDD6D1A7F5}"/>
              </a:ext>
            </a:extLst>
          </p:cNvPr>
          <p:cNvCxnSpPr>
            <a:cxnSpLocks/>
          </p:cNvCxnSpPr>
          <p:nvPr/>
        </p:nvCxnSpPr>
        <p:spPr>
          <a:xfrm>
            <a:off x="2852259" y="4739784"/>
            <a:ext cx="0" cy="310394"/>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183506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標題 1"/>
          <p:cNvSpPr>
            <a:spLocks noGrp="1"/>
          </p:cNvSpPr>
          <p:nvPr>
            <p:ph type="title"/>
          </p:nvPr>
        </p:nvSpPr>
        <p:spPr>
          <a:xfrm>
            <a:off x="871151" y="365125"/>
            <a:ext cx="10515600" cy="1325563"/>
          </a:xfrm>
          <a:ln>
            <a:noFill/>
          </a:ln>
        </p:spPr>
        <p:txBody>
          <a:bodyPr/>
          <a:lstStyle/>
          <a:p>
            <a:r>
              <a:rPr lang="en-US" altLang="zh-TW" dirty="0" err="1">
                <a:latin typeface="Times New Roman" panose="02020603050405020304" pitchFamily="18" charset="0"/>
                <a:cs typeface="Times New Roman" panose="02020603050405020304" pitchFamily="18" charset="0"/>
              </a:rPr>
              <a:t>RX</a:t>
            </a:r>
            <a:r>
              <a:rPr lang="en-US" altLang="zh-TW" baseline="-25000" dirty="0" err="1">
                <a:latin typeface="Times New Roman" panose="02020603050405020304" pitchFamily="18" charset="0"/>
                <a:cs typeface="Times New Roman" panose="02020603050405020304" pitchFamily="18" charset="0"/>
              </a:rPr>
              <a:t>i</a:t>
            </a:r>
            <a:r>
              <a:rPr lang="zh-TW" altLang="en-US"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RY</a:t>
            </a:r>
            <a:r>
              <a:rPr lang="en-US" altLang="zh-TW" baseline="-25000" dirty="0" err="1">
                <a:latin typeface="Times New Roman" panose="02020603050405020304" pitchFamily="18" charset="0"/>
                <a:cs typeface="Times New Roman" panose="02020603050405020304" pitchFamily="18" charset="0"/>
              </a:rPr>
              <a:t>j</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a:t>
            </a:r>
            <a:r>
              <a:rPr lang="zh-TW" altLang="en-US" dirty="0">
                <a:latin typeface="Times New Roman" panose="02020603050405020304" pitchFamily="18" charset="0"/>
                <a:cs typeface="Times New Roman" panose="02020603050405020304" pitchFamily="18" charset="0"/>
              </a:rPr>
              <a:t> </a:t>
            </a:r>
            <a:r>
              <a:rPr lang="en-US" altLang="zh-TW" dirty="0" err="1">
                <a:latin typeface="Times New Roman" panose="02020603050405020304" pitchFamily="18" charset="0"/>
                <a:cs typeface="Times New Roman" panose="02020603050405020304" pitchFamily="18" charset="0"/>
              </a:rPr>
              <a:t>RP</a:t>
            </a:r>
            <a:r>
              <a:rPr lang="en-US" altLang="zh-TW" baseline="-25000" dirty="0" err="1">
                <a:latin typeface="Times New Roman" panose="02020603050405020304" pitchFamily="18" charset="0"/>
                <a:cs typeface="Times New Roman" panose="02020603050405020304" pitchFamily="18" charset="0"/>
              </a:rPr>
              <a:t>k</a:t>
            </a:r>
            <a:r>
              <a:rPr lang="en-US" altLang="zh-TW" baseline="-25000" dirty="0">
                <a:latin typeface="Times New Roman" panose="02020603050405020304" pitchFamily="18" charset="0"/>
                <a:cs typeface="Times New Roman" panose="02020603050405020304" pitchFamily="18" charset="0"/>
              </a:rPr>
              <a:t> </a:t>
            </a:r>
            <a:r>
              <a:rPr lang="en-US" altLang="zh-TW" dirty="0">
                <a:latin typeface="Times New Roman" panose="02020603050405020304" pitchFamily="18" charset="0"/>
                <a:cs typeface="Times New Roman" panose="02020603050405020304" pitchFamily="18" charset="0"/>
              </a:rPr>
              <a:t>(top faces)</a:t>
            </a:r>
            <a:endParaRPr lang="zh-TW" altLang="en-US" dirty="0">
              <a:latin typeface="Times New Roman" panose="02020603050405020304" pitchFamily="18" charset="0"/>
              <a:cs typeface="Times New Roman" panose="02020603050405020304" pitchFamily="18" charset="0"/>
            </a:endParaRPr>
          </a:p>
        </p:txBody>
      </p:sp>
      <p:graphicFrame>
        <p:nvGraphicFramePr>
          <p:cNvPr id="27" name="內容版面配置區 10"/>
          <p:cNvGraphicFramePr>
            <a:graphicFrameLocks/>
          </p:cNvGraphicFramePr>
          <p:nvPr>
            <p:extLst>
              <p:ext uri="{D42A27DB-BD31-4B8C-83A1-F6EECF244321}">
                <p14:modId xmlns:p14="http://schemas.microsoft.com/office/powerpoint/2010/main" val="3196160862"/>
              </p:ext>
            </p:extLst>
          </p:nvPr>
        </p:nvGraphicFramePr>
        <p:xfrm>
          <a:off x="1045378"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8" name="內容版面配置區 10"/>
          <p:cNvGraphicFramePr>
            <a:graphicFrameLocks/>
          </p:cNvGraphicFramePr>
          <p:nvPr/>
        </p:nvGraphicFramePr>
        <p:xfrm>
          <a:off x="4649432" y="151638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29" name="內容版面配置區 10"/>
          <p:cNvGraphicFramePr>
            <a:graphicFrameLocks/>
          </p:cNvGraphicFramePr>
          <p:nvPr/>
        </p:nvGraphicFramePr>
        <p:xfrm>
          <a:off x="1045378"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graphicFrame>
        <p:nvGraphicFramePr>
          <p:cNvPr id="30" name="內容版面配置區 10"/>
          <p:cNvGraphicFramePr>
            <a:graphicFrameLocks/>
          </p:cNvGraphicFramePr>
          <p:nvPr>
            <p:extLst>
              <p:ext uri="{D42A27DB-BD31-4B8C-83A1-F6EECF244321}">
                <p14:modId xmlns:p14="http://schemas.microsoft.com/office/powerpoint/2010/main" val="2932054723"/>
              </p:ext>
            </p:extLst>
          </p:nvPr>
        </p:nvGraphicFramePr>
        <p:xfrm>
          <a:off x="4649432" y="4251960"/>
          <a:ext cx="3332480" cy="2514600"/>
        </p:xfrm>
        <a:graphic>
          <a:graphicData uri="http://schemas.openxmlformats.org/drawingml/2006/table">
            <a:tbl>
              <a:tblPr firstRow="1" bandRow="1">
                <a:tableStyleId>{5C22544A-7EE6-4342-B048-85BDC9FD1C3A}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gridCol w="208280">
                  <a:extLst>
                    <a:ext uri="{9D8B030D-6E8A-4147-A177-3AD203B41FA5}">
                      <a16:colId xmlns:a16="http://schemas.microsoft.com/office/drawing/2014/main" val="20010"/>
                    </a:ext>
                  </a:extLst>
                </a:gridCol>
                <a:gridCol w="208280">
                  <a:extLst>
                    <a:ext uri="{9D8B030D-6E8A-4147-A177-3AD203B41FA5}">
                      <a16:colId xmlns:a16="http://schemas.microsoft.com/office/drawing/2014/main" val="20011"/>
                    </a:ext>
                  </a:extLst>
                </a:gridCol>
                <a:gridCol w="208280">
                  <a:extLst>
                    <a:ext uri="{9D8B030D-6E8A-4147-A177-3AD203B41FA5}">
                      <a16:colId xmlns:a16="http://schemas.microsoft.com/office/drawing/2014/main" val="20012"/>
                    </a:ext>
                  </a:extLst>
                </a:gridCol>
                <a:gridCol w="208280">
                  <a:extLst>
                    <a:ext uri="{9D8B030D-6E8A-4147-A177-3AD203B41FA5}">
                      <a16:colId xmlns:a16="http://schemas.microsoft.com/office/drawing/2014/main" val="20013"/>
                    </a:ext>
                  </a:extLst>
                </a:gridCol>
                <a:gridCol w="208280">
                  <a:extLst>
                    <a:ext uri="{9D8B030D-6E8A-4147-A177-3AD203B41FA5}">
                      <a16:colId xmlns:a16="http://schemas.microsoft.com/office/drawing/2014/main" val="20014"/>
                    </a:ext>
                  </a:extLst>
                </a:gridCol>
                <a:gridCol w="208280">
                  <a:extLst>
                    <a:ext uri="{9D8B030D-6E8A-4147-A177-3AD203B41FA5}">
                      <a16:colId xmlns:a16="http://schemas.microsoft.com/office/drawing/2014/main" val="20015"/>
                    </a:ext>
                  </a:extLst>
                </a:gridCol>
              </a:tblGrid>
              <a:tr h="0">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1"/>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b</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4"/>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0">
                <a:tc>
                  <a:txBody>
                    <a:bodyPr/>
                    <a:lstStyle/>
                    <a:p>
                      <a:pPr algn="ctr"/>
                      <a:r>
                        <a:rPr lang="en-US" altLang="zh-TW" sz="1050" b="0">
                          <a:solidFill>
                            <a:schemeClr val="tx1"/>
                          </a:solidFill>
                          <a:latin typeface="Times New Roman" panose="02020603050405020304" pitchFamily="18" charset="0"/>
                          <a:cs typeface="Times New Roman" panose="02020603050405020304" pitchFamily="18" charset="0"/>
                        </a:rPr>
                        <a:t>c</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6"/>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7"/>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8"/>
                  </a:ext>
                </a:extLst>
              </a:tr>
              <a:tr h="0">
                <a:tc>
                  <a:txBody>
                    <a:bodyPr/>
                    <a:lstStyle/>
                    <a:p>
                      <a:pPr algn="ctr"/>
                      <a:r>
                        <a:rPr lang="en-US" altLang="zh-TW" sz="1050" b="0" dirty="0">
                          <a:solidFill>
                            <a:schemeClr val="tx1"/>
                          </a:solidFill>
                          <a:latin typeface="Times New Roman" panose="02020603050405020304" pitchFamily="18" charset="0"/>
                          <a:cs typeface="Times New Roman" panose="02020603050405020304" pitchFamily="18" charset="0"/>
                        </a:rPr>
                        <a:t>a</a:t>
                      </a: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endParaRPr lang="zh-TW" altLang="en-US" sz="105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zh-TW" altLang="en-US" sz="1050" b="0" dirty="0">
                        <a:solidFill>
                          <a:schemeClr val="tx1"/>
                        </a:solidFill>
                        <a:latin typeface="Times New Roman" panose="02020603050405020304" pitchFamily="18" charset="0"/>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10009"/>
                  </a:ext>
                </a:extLst>
              </a:tr>
            </a:tbl>
          </a:graphicData>
        </a:graphic>
      </p:graphicFrame>
      <p:cxnSp>
        <p:nvCxnSpPr>
          <p:cNvPr id="3" name="直線單箭頭接點 2"/>
          <p:cNvCxnSpPr/>
          <p:nvPr/>
        </p:nvCxnSpPr>
        <p:spPr>
          <a:xfrm>
            <a:off x="1565189" y="6120714"/>
            <a:ext cx="3797643" cy="28008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8253486" y="1516380"/>
            <a:ext cx="2471351" cy="1754326"/>
          </a:xfrm>
          <a:prstGeom prst="rect">
            <a:avLst/>
          </a:prstGeom>
        </p:spPr>
        <p:txBody>
          <a:bodyPr wrap="square">
            <a:spAutoFit/>
          </a:bodyPr>
          <a:lstStyle/>
          <a:p>
            <a:r>
              <a:rPr lang="en-US" altLang="zh-TW" dirty="0">
                <a:latin typeface="Times New Roman" panose="02020603050405020304" pitchFamily="18" charset="0"/>
                <a:cs typeface="Times New Roman" panose="02020603050405020304" pitchFamily="18" charset="0"/>
              </a:rPr>
              <a:t>X = </a:t>
            </a:r>
            <a:r>
              <a:rPr lang="en-US" altLang="zh-TW" dirty="0" err="1">
                <a:latin typeface="Times New Roman" panose="02020603050405020304" pitchFamily="18" charset="0"/>
                <a:cs typeface="Times New Roman" panose="02020603050405020304" pitchFamily="18" charset="0"/>
              </a:rPr>
              <a:t>abbbcc</a:t>
            </a:r>
            <a:r>
              <a:rPr lang="en-US" altLang="zh-TW" dirty="0" err="1">
                <a:solidFill>
                  <a:srgbClr val="FF0000"/>
                </a:solidFill>
                <a:latin typeface="Times New Roman" panose="02020603050405020304" pitchFamily="18" charset="0"/>
                <a:cs typeface="Times New Roman" panose="02020603050405020304" pitchFamily="18" charset="0"/>
              </a:rPr>
              <a:t>aa</a:t>
            </a:r>
            <a:r>
              <a:rPr lang="en-US" altLang="zh-TW" dirty="0" err="1">
                <a:latin typeface="Times New Roman" panose="02020603050405020304" pitchFamily="18" charset="0"/>
                <a:cs typeface="Times New Roman" panose="02020603050405020304" pitchFamily="18" charset="0"/>
              </a:rPr>
              <a:t>a</a:t>
            </a:r>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Y = </a:t>
            </a:r>
            <a:r>
              <a:rPr lang="en-US" altLang="zh-TW" dirty="0" err="1">
                <a:latin typeface="Times New Roman" panose="02020603050405020304" pitchFamily="18" charset="0"/>
                <a:cs typeface="Times New Roman" panose="02020603050405020304" pitchFamily="18" charset="0"/>
              </a:rPr>
              <a:t>b</a:t>
            </a:r>
            <a:r>
              <a:rPr lang="en-US" altLang="zh-TW" dirty="0" err="1">
                <a:solidFill>
                  <a:srgbClr val="FF0000"/>
                </a:solidFill>
                <a:latin typeface="Times New Roman" panose="02020603050405020304" pitchFamily="18" charset="0"/>
                <a:cs typeface="Times New Roman" panose="02020603050405020304" pitchFamily="18" charset="0"/>
              </a:rPr>
              <a:t>aa</a:t>
            </a:r>
            <a:r>
              <a:rPr lang="en-US" altLang="zh-TW" dirty="0" err="1">
                <a:latin typeface="Times New Roman" panose="02020603050405020304" pitchFamily="18" charset="0"/>
                <a:cs typeface="Times New Roman" panose="02020603050405020304" pitchFamily="18" charset="0"/>
              </a:rPr>
              <a:t>accbbbaaccaa</a:t>
            </a:r>
            <a:endParaRPr lang="en-US" altLang="zh-TW" dirty="0">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P = </a:t>
            </a:r>
            <a:r>
              <a:rPr lang="en-US" altLang="zh-TW" dirty="0" err="1">
                <a:solidFill>
                  <a:srgbClr val="FF0000"/>
                </a:solidFill>
                <a:latin typeface="Times New Roman" panose="02020603050405020304" pitchFamily="18" charset="0"/>
                <a:cs typeface="Times New Roman" panose="02020603050405020304" pitchFamily="18" charset="0"/>
              </a:rPr>
              <a:t>aaa</a:t>
            </a:r>
            <a:endParaRPr lang="en-US" altLang="zh-TW" dirty="0">
              <a:solidFill>
                <a:srgbClr val="FF0000"/>
              </a:solidFill>
              <a:latin typeface="Times New Roman" panose="02020603050405020304" pitchFamily="18" charset="0"/>
              <a:cs typeface="Times New Roman" panose="02020603050405020304" pitchFamily="18" charset="0"/>
            </a:endParaRPr>
          </a:p>
          <a:p>
            <a:endParaRPr lang="en-US" altLang="zh-TW" dirty="0">
              <a:solidFill>
                <a:srgbClr val="FF0000"/>
              </a:solidFill>
              <a:latin typeface="Times New Roman" panose="02020603050405020304" pitchFamily="18" charset="0"/>
              <a:cs typeface="Times New Roman" panose="02020603050405020304" pitchFamily="18" charset="0"/>
            </a:endParaRPr>
          </a:p>
          <a:p>
            <a:endParaRPr lang="en-US" altLang="zh-TW" dirty="0">
              <a:solidFill>
                <a:srgbClr val="FF0000"/>
              </a:solidFill>
              <a:latin typeface="Times New Roman" panose="02020603050405020304" pitchFamily="18" charset="0"/>
              <a:cs typeface="Times New Roman" panose="02020603050405020304" pitchFamily="18" charset="0"/>
            </a:endParaRPr>
          </a:p>
          <a:p>
            <a:r>
              <a:rPr lang="en-US" altLang="zh-TW" dirty="0">
                <a:latin typeface="Times New Roman" panose="02020603050405020304" pitchFamily="18" charset="0"/>
                <a:cs typeface="Times New Roman" panose="02020603050405020304" pitchFamily="18" charset="0"/>
              </a:rPr>
              <a:t>s = min(2,2,3) – 1 = 1</a:t>
            </a:r>
          </a:p>
        </p:txBody>
      </p:sp>
    </p:spTree>
    <p:extLst>
      <p:ext uri="{BB962C8B-B14F-4D97-AF65-F5344CB8AC3E}">
        <p14:creationId xmlns:p14="http://schemas.microsoft.com/office/powerpoint/2010/main" val="307291044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Times New Roman" panose="02020603050405020304" pitchFamily="18" charset="0"/>
                <a:cs typeface="Times New Roman" panose="02020603050405020304" pitchFamily="18" charset="0"/>
              </a:rPr>
              <a:t>Time complexity</a:t>
            </a:r>
            <a:endParaRPr lang="zh-TW" altLang="en-US" dirty="0">
              <a:latin typeface="Times New Roman" panose="02020603050405020304" pitchFamily="18" charset="0"/>
              <a:cs typeface="Times New Roman" panose="02020603050405020304" pitchFamily="18" charset="0"/>
            </a:endParaRPr>
          </a:p>
        </p:txBody>
      </p:sp>
      <p:sp>
        <p:nvSpPr>
          <p:cNvPr id="3" name="內容版面配置區 2"/>
          <p:cNvSpPr>
            <a:spLocks noGrp="1"/>
          </p:cNvSpPr>
          <p:nvPr>
            <p:ph idx="1"/>
          </p:nvPr>
        </p:nvSpPr>
        <p:spPr/>
        <p:txBody>
          <a:bodyPr/>
          <a:lstStyle/>
          <a:p>
            <a:r>
              <a:rPr lang="pt-BR" altLang="zh-TW" dirty="0">
                <a:latin typeface="Times New Roman" panose="02020603050405020304" pitchFamily="18" charset="0"/>
                <a:cs typeface="Times New Roman" panose="02020603050405020304" pitchFamily="18" charset="0"/>
              </a:rPr>
              <a:t>O(NMr +r × min{p1, p2} + p3)</a:t>
            </a:r>
          </a:p>
          <a:p>
            <a:pPr lvl="1"/>
            <a:r>
              <a:rPr lang="en-US" altLang="zh-TW" dirty="0">
                <a:latin typeface="Times New Roman" panose="02020603050405020304" pitchFamily="18" charset="0"/>
                <a:cs typeface="Times New Roman" panose="02020603050405020304" pitchFamily="18" charset="0"/>
              </a:rPr>
              <a:t>N runs in X</a:t>
            </a:r>
          </a:p>
          <a:p>
            <a:pPr lvl="1"/>
            <a:r>
              <a:rPr lang="en-US" altLang="zh-TW" dirty="0">
                <a:latin typeface="Times New Roman" panose="02020603050405020304" pitchFamily="18" charset="0"/>
                <a:cs typeface="Times New Roman" panose="02020603050405020304" pitchFamily="18" charset="0"/>
              </a:rPr>
              <a:t>M runs in Y </a:t>
            </a:r>
          </a:p>
          <a:p>
            <a:pPr lvl="1"/>
            <a:r>
              <a:rPr lang="en-US" altLang="zh-TW" dirty="0">
                <a:latin typeface="Times New Roman" panose="02020603050405020304" pitchFamily="18" charset="0"/>
                <a:cs typeface="Times New Roman" panose="02020603050405020304" pitchFamily="18" charset="0"/>
              </a:rPr>
              <a:t>r : P’s length </a:t>
            </a:r>
          </a:p>
          <a:p>
            <a:pPr lvl="1"/>
            <a:r>
              <a:rPr lang="en-US" altLang="zh-TW" dirty="0">
                <a:latin typeface="Times New Roman" panose="02020603050405020304" pitchFamily="18" charset="0"/>
                <a:cs typeface="Times New Roman" panose="02020603050405020304" pitchFamily="18" charset="0"/>
              </a:rPr>
              <a:t>p1 and p2 denote the numbers of elements in the bottom and right boundaries of the matched blocks</a:t>
            </a:r>
            <a:endParaRPr lang="zh-TW" altLang="en-US" dirty="0">
              <a:latin typeface="Times New Roman" panose="02020603050405020304" pitchFamily="18" charset="0"/>
              <a:cs typeface="Times New Roman" panose="02020603050405020304" pitchFamily="18" charset="0"/>
            </a:endParaRPr>
          </a:p>
          <a:p>
            <a:pPr lvl="1"/>
            <a:r>
              <a:rPr lang="en-US" altLang="zh-TW" dirty="0">
                <a:latin typeface="Times New Roman" panose="02020603050405020304" pitchFamily="18" charset="0"/>
                <a:cs typeface="Times New Roman" panose="02020603050405020304" pitchFamily="18" charset="0"/>
              </a:rPr>
              <a:t>p3 denotes the number of face elements of all fully matched cuboids in the DP lattice.</a:t>
            </a:r>
            <a:endParaRPr lang="pt-BR" altLang="zh-TW" dirty="0">
              <a:latin typeface="Times New Roman" panose="02020603050405020304" pitchFamily="18" charset="0"/>
              <a:cs typeface="Times New Roman" panose="02020603050405020304" pitchFamily="18" charset="0"/>
            </a:endParaRPr>
          </a:p>
          <a:p>
            <a:pPr lvl="1"/>
            <a:endParaRPr lang="zh-TW" alt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83971478"/>
      </p:ext>
    </p:extLst>
  </p:cSld>
  <p:clrMapOvr>
    <a:masterClrMapping/>
  </p:clrMapOvr>
</p:sld>
</file>

<file path=ppt/theme/theme1.xml><?xml version="1.0" encoding="utf-8"?>
<a:theme xmlns:a="http://schemas.openxmlformats.org/drawingml/2006/main" name="Office 佈景主題">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323</TotalTime>
  <Words>2861</Words>
  <Application>Microsoft Office PowerPoint</Application>
  <PresentationFormat>寬螢幕</PresentationFormat>
  <Paragraphs>1938</Paragraphs>
  <Slides>37</Slides>
  <Notes>0</Notes>
  <HiddenSlides>0</HiddenSlides>
  <MMClips>0</MMClips>
  <ScaleCrop>false</ScaleCrop>
  <HeadingPairs>
    <vt:vector size="6" baseType="variant">
      <vt:variant>
        <vt:lpstr>使用字型</vt:lpstr>
      </vt:variant>
      <vt:variant>
        <vt:i4>5</vt:i4>
      </vt:variant>
      <vt:variant>
        <vt:lpstr>佈景主題</vt:lpstr>
      </vt:variant>
      <vt:variant>
        <vt:i4>1</vt:i4>
      </vt:variant>
      <vt:variant>
        <vt:lpstr>投影片標題</vt:lpstr>
      </vt:variant>
      <vt:variant>
        <vt:i4>37</vt:i4>
      </vt:variant>
    </vt:vector>
  </HeadingPairs>
  <TitlesOfParts>
    <vt:vector size="43" baseType="lpstr">
      <vt:lpstr>標楷體</vt:lpstr>
      <vt:lpstr>Arial</vt:lpstr>
      <vt:lpstr>Calibri</vt:lpstr>
      <vt:lpstr>Calibri Light</vt:lpstr>
      <vt:lpstr>Times New Roman</vt:lpstr>
      <vt:lpstr>Office 佈景主題</vt:lpstr>
      <vt:lpstr>Fast algorithms for computing the constrained LCS of run-length encoded strings</vt:lpstr>
      <vt:lpstr>Abstract(1/2)</vt:lpstr>
      <vt:lpstr>Abstract(2/2)</vt:lpstr>
      <vt:lpstr>Run-Length Encoded</vt:lpstr>
      <vt:lpstr>Longest Common Subsequence</vt:lpstr>
      <vt:lpstr>RXi ≠ RYj</vt:lpstr>
      <vt:lpstr>RXi ≠ RYj</vt:lpstr>
      <vt:lpstr>RXi = RYj (forced path is not across row(i-1))</vt:lpstr>
      <vt:lpstr>RXi = RYj (forced path is not across row)</vt:lpstr>
      <vt:lpstr>RXi = RYj (forced path is not across row)</vt:lpstr>
      <vt:lpstr>RXi = RYj (forced path is across row)</vt:lpstr>
      <vt:lpstr>RXi = RYj (forced path is across row)</vt:lpstr>
      <vt:lpstr>Preprocessing</vt:lpstr>
      <vt:lpstr>Preprocessing</vt:lpstr>
      <vt:lpstr>Range Minimum Query</vt:lpstr>
      <vt:lpstr>Preprocessing</vt:lpstr>
      <vt:lpstr>Preprocessing</vt:lpstr>
      <vt:lpstr>Time complexity</vt:lpstr>
      <vt:lpstr>Constrained LCS </vt:lpstr>
      <vt:lpstr>Constrained LCS </vt:lpstr>
      <vt:lpstr>Constrained LCS (RXi ≠ RYj) </vt:lpstr>
      <vt:lpstr>Constrained LCS (RXi = RYj ≠ RPk ) </vt:lpstr>
      <vt:lpstr>Constrained LCS (RXi = RYj = RPk ) </vt:lpstr>
      <vt:lpstr>RXi ≠ RYj</vt:lpstr>
      <vt:lpstr>RXi = RYj ≠ RPk </vt:lpstr>
      <vt:lpstr>RXi = RYj = RPk (northwest pillar)</vt:lpstr>
      <vt:lpstr>RXi = RYj = RPk (north face)</vt:lpstr>
      <vt:lpstr>RXi = RYj = RPk (west faces)</vt:lpstr>
      <vt:lpstr>RXi = RYj = RPk (west faces)</vt:lpstr>
      <vt:lpstr>RXi = RYj = RPk (south, east faces)</vt:lpstr>
      <vt:lpstr>RXi = RYj = RPk (bottom faces)</vt:lpstr>
      <vt:lpstr>RXi = RYj = RPk (bottom faces)</vt:lpstr>
      <vt:lpstr>RXi = RYj = RPk (bottom faces)</vt:lpstr>
      <vt:lpstr>RXi = RYj = RPk (bottom faces)</vt:lpstr>
      <vt:lpstr>RXi = RYj = RPk (bottom faces)</vt:lpstr>
      <vt:lpstr>RXi = RYj = RPk (top faces)</vt:lpstr>
      <vt:lpstr>Time complexity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Fast algorithms for computing the constrained LCS of run-length encoded strings</dc:title>
  <dc:creator>Alex</dc:creator>
  <cp:lastModifiedBy>pplab</cp:lastModifiedBy>
  <cp:revision>39</cp:revision>
  <dcterms:created xsi:type="dcterms:W3CDTF">2020-08-10T07:20:19Z</dcterms:created>
  <dcterms:modified xsi:type="dcterms:W3CDTF">2020-08-11T08:21:32Z</dcterms:modified>
</cp:coreProperties>
</file>