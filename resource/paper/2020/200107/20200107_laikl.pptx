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319" r:id="rId2"/>
    <p:sldId id="257" r:id="rId3"/>
    <p:sldId id="320" r:id="rId4"/>
    <p:sldId id="322" r:id="rId5"/>
    <p:sldId id="325" r:id="rId6"/>
    <p:sldId id="323" r:id="rId7"/>
    <p:sldId id="324" r:id="rId8"/>
    <p:sldId id="321" r:id="rId9"/>
    <p:sldId id="327" r:id="rId10"/>
    <p:sldId id="328" r:id="rId11"/>
    <p:sldId id="332" r:id="rId12"/>
    <p:sldId id="333" r:id="rId13"/>
    <p:sldId id="334" r:id="rId14"/>
    <p:sldId id="298" r:id="rId15"/>
    <p:sldId id="297" r:id="rId16"/>
    <p:sldId id="302" r:id="rId17"/>
    <p:sldId id="306" r:id="rId18"/>
    <p:sldId id="311" r:id="rId19"/>
    <p:sldId id="310" r:id="rId20"/>
    <p:sldId id="312" r:id="rId21"/>
    <p:sldId id="335" r:id="rId22"/>
    <p:sldId id="329" r:id="rId23"/>
    <p:sldId id="326" r:id="rId24"/>
    <p:sldId id="258" r:id="rId25"/>
    <p:sldId id="331" r:id="rId26"/>
    <p:sldId id="330" r:id="rId27"/>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79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1DF106-D33A-4039-9C0A-BB098591471A}" type="datetimeFigureOut">
              <a:rPr lang="zh-TW" altLang="en-US" smtClean="0"/>
              <a:t>2020/1/14</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D7095B-7FE8-4042-AF01-CC9F54D903DC}" type="slidenum">
              <a:rPr lang="zh-TW" altLang="en-US" smtClean="0"/>
              <a:t>‹#›</a:t>
            </a:fld>
            <a:endParaRPr lang="zh-TW" altLang="en-US"/>
          </a:p>
        </p:txBody>
      </p:sp>
    </p:spTree>
    <p:extLst>
      <p:ext uri="{BB962C8B-B14F-4D97-AF65-F5344CB8AC3E}">
        <p14:creationId xmlns:p14="http://schemas.microsoft.com/office/powerpoint/2010/main" val="33846319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E79B559C-AD0D-4A26-8CF4-1165F23DA0E5}" type="slidenum">
              <a:rPr lang="zh-TW" altLang="en-US" smtClean="0"/>
              <a:t>14</a:t>
            </a:fld>
            <a:endParaRPr lang="zh-TW" altLang="en-US"/>
          </a:p>
        </p:txBody>
      </p:sp>
    </p:spTree>
    <p:extLst>
      <p:ext uri="{BB962C8B-B14F-4D97-AF65-F5344CB8AC3E}">
        <p14:creationId xmlns:p14="http://schemas.microsoft.com/office/powerpoint/2010/main" val="13315915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AC59456-B572-4230-8CC7-2818C25E3454}"/>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5DB6B5C9-4B27-4E61-966E-5B6083DC54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A7F1BF1D-068D-494B-A2BC-0EAF9EEED6DB}"/>
              </a:ext>
            </a:extLst>
          </p:cNvPr>
          <p:cNvSpPr>
            <a:spLocks noGrp="1"/>
          </p:cNvSpPr>
          <p:nvPr>
            <p:ph type="dt" sz="half" idx="10"/>
          </p:nvPr>
        </p:nvSpPr>
        <p:spPr/>
        <p:txBody>
          <a:bodyPr/>
          <a:lstStyle/>
          <a:p>
            <a:fld id="{59E007C9-9EA9-40E8-8D4B-DD6835E817B6}" type="datetimeFigureOut">
              <a:rPr lang="zh-TW" altLang="en-US" smtClean="0"/>
              <a:t>2020/1/14</a:t>
            </a:fld>
            <a:endParaRPr lang="zh-TW" altLang="en-US"/>
          </a:p>
        </p:txBody>
      </p:sp>
      <p:sp>
        <p:nvSpPr>
          <p:cNvPr id="5" name="頁尾版面配置區 4">
            <a:extLst>
              <a:ext uri="{FF2B5EF4-FFF2-40B4-BE49-F238E27FC236}">
                <a16:creationId xmlns:a16="http://schemas.microsoft.com/office/drawing/2014/main" id="{95CC9795-3F31-4707-BF9D-6EE24C06A7A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D8A2CC3D-D667-4BD9-8AF0-11601303E100}"/>
              </a:ext>
            </a:extLst>
          </p:cNvPr>
          <p:cNvSpPr>
            <a:spLocks noGrp="1"/>
          </p:cNvSpPr>
          <p:nvPr>
            <p:ph type="sldNum" sz="quarter" idx="12"/>
          </p:nvPr>
        </p:nvSpPr>
        <p:spPr/>
        <p:txBody>
          <a:bodyPr/>
          <a:lstStyle/>
          <a:p>
            <a:fld id="{DBA5EFB1-EB7A-4413-9400-BF908F60D6CA}" type="slidenum">
              <a:rPr lang="zh-TW" altLang="en-US" smtClean="0"/>
              <a:t>‹#›</a:t>
            </a:fld>
            <a:endParaRPr lang="zh-TW" altLang="en-US"/>
          </a:p>
        </p:txBody>
      </p:sp>
    </p:spTree>
    <p:extLst>
      <p:ext uri="{BB962C8B-B14F-4D97-AF65-F5344CB8AC3E}">
        <p14:creationId xmlns:p14="http://schemas.microsoft.com/office/powerpoint/2010/main" val="30397543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AC0C257-B32E-47B0-B832-ABA3C24C870D}"/>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BF795BF8-B021-4D91-A090-C862FC4E9DEB}"/>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4FABECE8-66F4-4807-927E-7515BE4AD1C1}"/>
              </a:ext>
            </a:extLst>
          </p:cNvPr>
          <p:cNvSpPr>
            <a:spLocks noGrp="1"/>
          </p:cNvSpPr>
          <p:nvPr>
            <p:ph type="dt" sz="half" idx="10"/>
          </p:nvPr>
        </p:nvSpPr>
        <p:spPr/>
        <p:txBody>
          <a:bodyPr/>
          <a:lstStyle/>
          <a:p>
            <a:fld id="{59E007C9-9EA9-40E8-8D4B-DD6835E817B6}" type="datetimeFigureOut">
              <a:rPr lang="zh-TW" altLang="en-US" smtClean="0"/>
              <a:t>2020/1/14</a:t>
            </a:fld>
            <a:endParaRPr lang="zh-TW" altLang="en-US"/>
          </a:p>
        </p:txBody>
      </p:sp>
      <p:sp>
        <p:nvSpPr>
          <p:cNvPr id="5" name="頁尾版面配置區 4">
            <a:extLst>
              <a:ext uri="{FF2B5EF4-FFF2-40B4-BE49-F238E27FC236}">
                <a16:creationId xmlns:a16="http://schemas.microsoft.com/office/drawing/2014/main" id="{6907F89F-943A-497D-9BD9-9099C372E777}"/>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1C8CC80A-8B69-4223-908D-8DEF68AE0BC3}"/>
              </a:ext>
            </a:extLst>
          </p:cNvPr>
          <p:cNvSpPr>
            <a:spLocks noGrp="1"/>
          </p:cNvSpPr>
          <p:nvPr>
            <p:ph type="sldNum" sz="quarter" idx="12"/>
          </p:nvPr>
        </p:nvSpPr>
        <p:spPr/>
        <p:txBody>
          <a:bodyPr/>
          <a:lstStyle/>
          <a:p>
            <a:fld id="{DBA5EFB1-EB7A-4413-9400-BF908F60D6CA}" type="slidenum">
              <a:rPr lang="zh-TW" altLang="en-US" smtClean="0"/>
              <a:t>‹#›</a:t>
            </a:fld>
            <a:endParaRPr lang="zh-TW" altLang="en-US"/>
          </a:p>
        </p:txBody>
      </p:sp>
    </p:spTree>
    <p:extLst>
      <p:ext uri="{BB962C8B-B14F-4D97-AF65-F5344CB8AC3E}">
        <p14:creationId xmlns:p14="http://schemas.microsoft.com/office/powerpoint/2010/main" val="15558999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E007C71-34A5-406D-A7E4-F6F4ACCCAA89}"/>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72F25591-B010-4A77-A764-35C376742C2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D93C7D4E-9BB2-4ADC-8F38-24532BC0093E}"/>
              </a:ext>
            </a:extLst>
          </p:cNvPr>
          <p:cNvSpPr>
            <a:spLocks noGrp="1"/>
          </p:cNvSpPr>
          <p:nvPr>
            <p:ph type="dt" sz="half" idx="10"/>
          </p:nvPr>
        </p:nvSpPr>
        <p:spPr/>
        <p:txBody>
          <a:bodyPr/>
          <a:lstStyle/>
          <a:p>
            <a:fld id="{59E007C9-9EA9-40E8-8D4B-DD6835E817B6}" type="datetimeFigureOut">
              <a:rPr lang="zh-TW" altLang="en-US" smtClean="0"/>
              <a:t>2020/1/14</a:t>
            </a:fld>
            <a:endParaRPr lang="zh-TW" altLang="en-US"/>
          </a:p>
        </p:txBody>
      </p:sp>
      <p:sp>
        <p:nvSpPr>
          <p:cNvPr id="5" name="頁尾版面配置區 4">
            <a:extLst>
              <a:ext uri="{FF2B5EF4-FFF2-40B4-BE49-F238E27FC236}">
                <a16:creationId xmlns:a16="http://schemas.microsoft.com/office/drawing/2014/main" id="{CC39F868-1C71-42C8-8CFB-1BE92A04647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B2692F3-F39D-4935-8938-E6C1405F7B9C}"/>
              </a:ext>
            </a:extLst>
          </p:cNvPr>
          <p:cNvSpPr>
            <a:spLocks noGrp="1"/>
          </p:cNvSpPr>
          <p:nvPr>
            <p:ph type="sldNum" sz="quarter" idx="12"/>
          </p:nvPr>
        </p:nvSpPr>
        <p:spPr/>
        <p:txBody>
          <a:bodyPr/>
          <a:lstStyle/>
          <a:p>
            <a:fld id="{DBA5EFB1-EB7A-4413-9400-BF908F60D6CA}" type="slidenum">
              <a:rPr lang="zh-TW" altLang="en-US" smtClean="0"/>
              <a:t>‹#›</a:t>
            </a:fld>
            <a:endParaRPr lang="zh-TW" altLang="en-US"/>
          </a:p>
        </p:txBody>
      </p:sp>
    </p:spTree>
    <p:extLst>
      <p:ext uri="{BB962C8B-B14F-4D97-AF65-F5344CB8AC3E}">
        <p14:creationId xmlns:p14="http://schemas.microsoft.com/office/powerpoint/2010/main" val="18815615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C50532D-DFF8-4824-8421-DE53375914C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1F477BB0-4C85-4DEB-AD80-28228E212698}"/>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408086FE-4277-4EB5-935E-A07BF7EEA912}"/>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8C917985-7471-4F43-8ABE-594B05BBEF47}"/>
              </a:ext>
            </a:extLst>
          </p:cNvPr>
          <p:cNvSpPr>
            <a:spLocks noGrp="1"/>
          </p:cNvSpPr>
          <p:nvPr>
            <p:ph type="dt" sz="half" idx="10"/>
          </p:nvPr>
        </p:nvSpPr>
        <p:spPr/>
        <p:txBody>
          <a:bodyPr/>
          <a:lstStyle/>
          <a:p>
            <a:fld id="{59E007C9-9EA9-40E8-8D4B-DD6835E817B6}" type="datetimeFigureOut">
              <a:rPr lang="zh-TW" altLang="en-US" smtClean="0"/>
              <a:t>2020/1/14</a:t>
            </a:fld>
            <a:endParaRPr lang="zh-TW" altLang="en-US"/>
          </a:p>
        </p:txBody>
      </p:sp>
      <p:sp>
        <p:nvSpPr>
          <p:cNvPr id="6" name="頁尾版面配置區 5">
            <a:extLst>
              <a:ext uri="{FF2B5EF4-FFF2-40B4-BE49-F238E27FC236}">
                <a16:creationId xmlns:a16="http://schemas.microsoft.com/office/drawing/2014/main" id="{4A96A840-C005-43F5-BF8B-F82DEA5FCE38}"/>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9B483D70-69A5-4791-81AF-520B111E94E6}"/>
              </a:ext>
            </a:extLst>
          </p:cNvPr>
          <p:cNvSpPr>
            <a:spLocks noGrp="1"/>
          </p:cNvSpPr>
          <p:nvPr>
            <p:ph type="sldNum" sz="quarter" idx="12"/>
          </p:nvPr>
        </p:nvSpPr>
        <p:spPr/>
        <p:txBody>
          <a:bodyPr/>
          <a:lstStyle/>
          <a:p>
            <a:fld id="{DBA5EFB1-EB7A-4413-9400-BF908F60D6CA}" type="slidenum">
              <a:rPr lang="zh-TW" altLang="en-US" smtClean="0"/>
              <a:t>‹#›</a:t>
            </a:fld>
            <a:endParaRPr lang="zh-TW" altLang="en-US"/>
          </a:p>
        </p:txBody>
      </p:sp>
    </p:spTree>
    <p:extLst>
      <p:ext uri="{BB962C8B-B14F-4D97-AF65-F5344CB8AC3E}">
        <p14:creationId xmlns:p14="http://schemas.microsoft.com/office/powerpoint/2010/main" val="1265857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7216BCC-62A2-42FA-B5FF-E938A8CA22CA}"/>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5FAE753E-6139-497F-92DE-1A2D04DDBFB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9B0085BE-9A8D-4204-9CF0-8EECDEFB0A10}"/>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4BEF5900-EBD0-42E7-BB5D-CBCEAC4A182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ECCB3EFC-6939-40BA-97BE-6C9B4B23C503}"/>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84687A6F-1267-45FD-9B54-6794A9E046D6}"/>
              </a:ext>
            </a:extLst>
          </p:cNvPr>
          <p:cNvSpPr>
            <a:spLocks noGrp="1"/>
          </p:cNvSpPr>
          <p:nvPr>
            <p:ph type="dt" sz="half" idx="10"/>
          </p:nvPr>
        </p:nvSpPr>
        <p:spPr/>
        <p:txBody>
          <a:bodyPr/>
          <a:lstStyle/>
          <a:p>
            <a:fld id="{59E007C9-9EA9-40E8-8D4B-DD6835E817B6}" type="datetimeFigureOut">
              <a:rPr lang="zh-TW" altLang="en-US" smtClean="0"/>
              <a:t>2020/1/14</a:t>
            </a:fld>
            <a:endParaRPr lang="zh-TW" altLang="en-US"/>
          </a:p>
        </p:txBody>
      </p:sp>
      <p:sp>
        <p:nvSpPr>
          <p:cNvPr id="8" name="頁尾版面配置區 7">
            <a:extLst>
              <a:ext uri="{FF2B5EF4-FFF2-40B4-BE49-F238E27FC236}">
                <a16:creationId xmlns:a16="http://schemas.microsoft.com/office/drawing/2014/main" id="{D9005B00-3100-4DB6-9F02-DD59D3598622}"/>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342AC01F-314E-4497-9301-0DE617E45FDE}"/>
              </a:ext>
            </a:extLst>
          </p:cNvPr>
          <p:cNvSpPr>
            <a:spLocks noGrp="1"/>
          </p:cNvSpPr>
          <p:nvPr>
            <p:ph type="sldNum" sz="quarter" idx="12"/>
          </p:nvPr>
        </p:nvSpPr>
        <p:spPr/>
        <p:txBody>
          <a:bodyPr/>
          <a:lstStyle/>
          <a:p>
            <a:fld id="{DBA5EFB1-EB7A-4413-9400-BF908F60D6CA}" type="slidenum">
              <a:rPr lang="zh-TW" altLang="en-US" smtClean="0"/>
              <a:t>‹#›</a:t>
            </a:fld>
            <a:endParaRPr lang="zh-TW" altLang="en-US"/>
          </a:p>
        </p:txBody>
      </p:sp>
    </p:spTree>
    <p:extLst>
      <p:ext uri="{BB962C8B-B14F-4D97-AF65-F5344CB8AC3E}">
        <p14:creationId xmlns:p14="http://schemas.microsoft.com/office/powerpoint/2010/main" val="11382169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9A526E-823B-4ED5-90F8-AA5DC3850ED0}"/>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D222C479-0323-4363-BFD2-9C0EC94A62AF}"/>
              </a:ext>
            </a:extLst>
          </p:cNvPr>
          <p:cNvSpPr>
            <a:spLocks noGrp="1"/>
          </p:cNvSpPr>
          <p:nvPr>
            <p:ph type="dt" sz="half" idx="10"/>
          </p:nvPr>
        </p:nvSpPr>
        <p:spPr/>
        <p:txBody>
          <a:bodyPr/>
          <a:lstStyle/>
          <a:p>
            <a:fld id="{59E007C9-9EA9-40E8-8D4B-DD6835E817B6}" type="datetimeFigureOut">
              <a:rPr lang="zh-TW" altLang="en-US" smtClean="0"/>
              <a:t>2020/1/14</a:t>
            </a:fld>
            <a:endParaRPr lang="zh-TW" altLang="en-US"/>
          </a:p>
        </p:txBody>
      </p:sp>
      <p:sp>
        <p:nvSpPr>
          <p:cNvPr id="4" name="頁尾版面配置區 3">
            <a:extLst>
              <a:ext uri="{FF2B5EF4-FFF2-40B4-BE49-F238E27FC236}">
                <a16:creationId xmlns:a16="http://schemas.microsoft.com/office/drawing/2014/main" id="{2A31CA47-0741-43DB-8AC0-157904004274}"/>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09AD5A96-2C78-44B3-B224-F7B6B211717B}"/>
              </a:ext>
            </a:extLst>
          </p:cNvPr>
          <p:cNvSpPr>
            <a:spLocks noGrp="1"/>
          </p:cNvSpPr>
          <p:nvPr>
            <p:ph type="sldNum" sz="quarter" idx="12"/>
          </p:nvPr>
        </p:nvSpPr>
        <p:spPr/>
        <p:txBody>
          <a:bodyPr/>
          <a:lstStyle/>
          <a:p>
            <a:fld id="{DBA5EFB1-EB7A-4413-9400-BF908F60D6CA}" type="slidenum">
              <a:rPr lang="zh-TW" altLang="en-US" smtClean="0"/>
              <a:t>‹#›</a:t>
            </a:fld>
            <a:endParaRPr lang="zh-TW" altLang="en-US"/>
          </a:p>
        </p:txBody>
      </p:sp>
    </p:spTree>
    <p:extLst>
      <p:ext uri="{BB962C8B-B14F-4D97-AF65-F5344CB8AC3E}">
        <p14:creationId xmlns:p14="http://schemas.microsoft.com/office/powerpoint/2010/main" val="32188531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12A54599-96A6-4E72-92F4-B27BD5EFC5AB}"/>
              </a:ext>
            </a:extLst>
          </p:cNvPr>
          <p:cNvSpPr>
            <a:spLocks noGrp="1"/>
          </p:cNvSpPr>
          <p:nvPr>
            <p:ph type="dt" sz="half" idx="10"/>
          </p:nvPr>
        </p:nvSpPr>
        <p:spPr/>
        <p:txBody>
          <a:bodyPr/>
          <a:lstStyle/>
          <a:p>
            <a:fld id="{59E007C9-9EA9-40E8-8D4B-DD6835E817B6}" type="datetimeFigureOut">
              <a:rPr lang="zh-TW" altLang="en-US" smtClean="0"/>
              <a:t>2020/1/14</a:t>
            </a:fld>
            <a:endParaRPr lang="zh-TW" altLang="en-US"/>
          </a:p>
        </p:txBody>
      </p:sp>
      <p:sp>
        <p:nvSpPr>
          <p:cNvPr id="3" name="頁尾版面配置區 2">
            <a:extLst>
              <a:ext uri="{FF2B5EF4-FFF2-40B4-BE49-F238E27FC236}">
                <a16:creationId xmlns:a16="http://schemas.microsoft.com/office/drawing/2014/main" id="{DA628238-A4C9-47B0-9FFA-98A4BA63D64D}"/>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CC354DD5-E94D-4E34-BBFB-BF30E20810D1}"/>
              </a:ext>
            </a:extLst>
          </p:cNvPr>
          <p:cNvSpPr>
            <a:spLocks noGrp="1"/>
          </p:cNvSpPr>
          <p:nvPr>
            <p:ph type="sldNum" sz="quarter" idx="12"/>
          </p:nvPr>
        </p:nvSpPr>
        <p:spPr/>
        <p:txBody>
          <a:bodyPr/>
          <a:lstStyle/>
          <a:p>
            <a:fld id="{DBA5EFB1-EB7A-4413-9400-BF908F60D6CA}" type="slidenum">
              <a:rPr lang="zh-TW" altLang="en-US" smtClean="0"/>
              <a:t>‹#›</a:t>
            </a:fld>
            <a:endParaRPr lang="zh-TW" altLang="en-US"/>
          </a:p>
        </p:txBody>
      </p:sp>
    </p:spTree>
    <p:extLst>
      <p:ext uri="{BB962C8B-B14F-4D97-AF65-F5344CB8AC3E}">
        <p14:creationId xmlns:p14="http://schemas.microsoft.com/office/powerpoint/2010/main" val="23904136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CCDAFEA-FAE1-4F2C-8974-BAB3FDC4BBC4}"/>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7C7D417E-F4DE-470C-982F-48D95EE6730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7CCBCBD9-5D7B-44D8-A181-66685B8D9C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7987C03E-0327-4242-98E3-3E51E7C45666}"/>
              </a:ext>
            </a:extLst>
          </p:cNvPr>
          <p:cNvSpPr>
            <a:spLocks noGrp="1"/>
          </p:cNvSpPr>
          <p:nvPr>
            <p:ph type="dt" sz="half" idx="10"/>
          </p:nvPr>
        </p:nvSpPr>
        <p:spPr/>
        <p:txBody>
          <a:bodyPr/>
          <a:lstStyle/>
          <a:p>
            <a:fld id="{59E007C9-9EA9-40E8-8D4B-DD6835E817B6}" type="datetimeFigureOut">
              <a:rPr lang="zh-TW" altLang="en-US" smtClean="0"/>
              <a:t>2020/1/14</a:t>
            </a:fld>
            <a:endParaRPr lang="zh-TW" altLang="en-US"/>
          </a:p>
        </p:txBody>
      </p:sp>
      <p:sp>
        <p:nvSpPr>
          <p:cNvPr id="6" name="頁尾版面配置區 5">
            <a:extLst>
              <a:ext uri="{FF2B5EF4-FFF2-40B4-BE49-F238E27FC236}">
                <a16:creationId xmlns:a16="http://schemas.microsoft.com/office/drawing/2014/main" id="{A5C2DC11-6886-4E7F-927D-0233210EE2E9}"/>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292E7B60-FF61-4B3A-B48F-CE74A0B6791E}"/>
              </a:ext>
            </a:extLst>
          </p:cNvPr>
          <p:cNvSpPr>
            <a:spLocks noGrp="1"/>
          </p:cNvSpPr>
          <p:nvPr>
            <p:ph type="sldNum" sz="quarter" idx="12"/>
          </p:nvPr>
        </p:nvSpPr>
        <p:spPr/>
        <p:txBody>
          <a:bodyPr/>
          <a:lstStyle/>
          <a:p>
            <a:fld id="{DBA5EFB1-EB7A-4413-9400-BF908F60D6CA}" type="slidenum">
              <a:rPr lang="zh-TW" altLang="en-US" smtClean="0"/>
              <a:t>‹#›</a:t>
            </a:fld>
            <a:endParaRPr lang="zh-TW" altLang="en-US"/>
          </a:p>
        </p:txBody>
      </p:sp>
    </p:spTree>
    <p:extLst>
      <p:ext uri="{BB962C8B-B14F-4D97-AF65-F5344CB8AC3E}">
        <p14:creationId xmlns:p14="http://schemas.microsoft.com/office/powerpoint/2010/main" val="1814131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C2C8AC4-E989-4A3D-B6F1-68C63277C007}"/>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3AE1818B-DC91-4A0E-8790-347273D3406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45BAF6C7-058C-463F-A378-5E1981673E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1206D99E-FEF1-47F9-929C-5D10D92860FD}"/>
              </a:ext>
            </a:extLst>
          </p:cNvPr>
          <p:cNvSpPr>
            <a:spLocks noGrp="1"/>
          </p:cNvSpPr>
          <p:nvPr>
            <p:ph type="dt" sz="half" idx="10"/>
          </p:nvPr>
        </p:nvSpPr>
        <p:spPr/>
        <p:txBody>
          <a:bodyPr/>
          <a:lstStyle/>
          <a:p>
            <a:fld id="{59E007C9-9EA9-40E8-8D4B-DD6835E817B6}" type="datetimeFigureOut">
              <a:rPr lang="zh-TW" altLang="en-US" smtClean="0"/>
              <a:t>2020/1/14</a:t>
            </a:fld>
            <a:endParaRPr lang="zh-TW" altLang="en-US"/>
          </a:p>
        </p:txBody>
      </p:sp>
      <p:sp>
        <p:nvSpPr>
          <p:cNvPr id="6" name="頁尾版面配置區 5">
            <a:extLst>
              <a:ext uri="{FF2B5EF4-FFF2-40B4-BE49-F238E27FC236}">
                <a16:creationId xmlns:a16="http://schemas.microsoft.com/office/drawing/2014/main" id="{BE818991-01DD-4520-8A59-238F1C46D92A}"/>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904701FA-2D1D-4C55-81A0-DB01362173AB}"/>
              </a:ext>
            </a:extLst>
          </p:cNvPr>
          <p:cNvSpPr>
            <a:spLocks noGrp="1"/>
          </p:cNvSpPr>
          <p:nvPr>
            <p:ph type="sldNum" sz="quarter" idx="12"/>
          </p:nvPr>
        </p:nvSpPr>
        <p:spPr/>
        <p:txBody>
          <a:bodyPr/>
          <a:lstStyle/>
          <a:p>
            <a:fld id="{DBA5EFB1-EB7A-4413-9400-BF908F60D6CA}" type="slidenum">
              <a:rPr lang="zh-TW" altLang="en-US" smtClean="0"/>
              <a:t>‹#›</a:t>
            </a:fld>
            <a:endParaRPr lang="zh-TW" altLang="en-US"/>
          </a:p>
        </p:txBody>
      </p:sp>
    </p:spTree>
    <p:extLst>
      <p:ext uri="{BB962C8B-B14F-4D97-AF65-F5344CB8AC3E}">
        <p14:creationId xmlns:p14="http://schemas.microsoft.com/office/powerpoint/2010/main" val="15916410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ED1A782-60ED-4340-A77B-E130466DE75B}"/>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BE835EEB-AC9C-43B3-A927-37DC279BD791}"/>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DD3F084-EC93-4089-889B-8921FC64D460}"/>
              </a:ext>
            </a:extLst>
          </p:cNvPr>
          <p:cNvSpPr>
            <a:spLocks noGrp="1"/>
          </p:cNvSpPr>
          <p:nvPr>
            <p:ph type="dt" sz="half" idx="10"/>
          </p:nvPr>
        </p:nvSpPr>
        <p:spPr/>
        <p:txBody>
          <a:bodyPr/>
          <a:lstStyle/>
          <a:p>
            <a:fld id="{59E007C9-9EA9-40E8-8D4B-DD6835E817B6}" type="datetimeFigureOut">
              <a:rPr lang="zh-TW" altLang="en-US" smtClean="0"/>
              <a:t>2020/1/14</a:t>
            </a:fld>
            <a:endParaRPr lang="zh-TW" altLang="en-US"/>
          </a:p>
        </p:txBody>
      </p:sp>
      <p:sp>
        <p:nvSpPr>
          <p:cNvPr id="5" name="頁尾版面配置區 4">
            <a:extLst>
              <a:ext uri="{FF2B5EF4-FFF2-40B4-BE49-F238E27FC236}">
                <a16:creationId xmlns:a16="http://schemas.microsoft.com/office/drawing/2014/main" id="{34513F5E-5D00-4FE3-B5C8-EAA3924D3B9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6184C4D-D74E-4F1C-B41D-ABE518D6FA04}"/>
              </a:ext>
            </a:extLst>
          </p:cNvPr>
          <p:cNvSpPr>
            <a:spLocks noGrp="1"/>
          </p:cNvSpPr>
          <p:nvPr>
            <p:ph type="sldNum" sz="quarter" idx="12"/>
          </p:nvPr>
        </p:nvSpPr>
        <p:spPr/>
        <p:txBody>
          <a:bodyPr/>
          <a:lstStyle/>
          <a:p>
            <a:fld id="{DBA5EFB1-EB7A-4413-9400-BF908F60D6CA}" type="slidenum">
              <a:rPr lang="zh-TW" altLang="en-US" smtClean="0"/>
              <a:t>‹#›</a:t>
            </a:fld>
            <a:endParaRPr lang="zh-TW" altLang="en-US"/>
          </a:p>
        </p:txBody>
      </p:sp>
    </p:spTree>
    <p:extLst>
      <p:ext uri="{BB962C8B-B14F-4D97-AF65-F5344CB8AC3E}">
        <p14:creationId xmlns:p14="http://schemas.microsoft.com/office/powerpoint/2010/main" val="41850776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262F61A0-A802-4961-AFEC-7F9EEE937BBE}"/>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126BC21A-0572-4FEA-A320-006468152F92}"/>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8E2B718-FF4D-4CD4-B401-744C28BAFE26}"/>
              </a:ext>
            </a:extLst>
          </p:cNvPr>
          <p:cNvSpPr>
            <a:spLocks noGrp="1"/>
          </p:cNvSpPr>
          <p:nvPr>
            <p:ph type="dt" sz="half" idx="10"/>
          </p:nvPr>
        </p:nvSpPr>
        <p:spPr/>
        <p:txBody>
          <a:bodyPr/>
          <a:lstStyle/>
          <a:p>
            <a:fld id="{59E007C9-9EA9-40E8-8D4B-DD6835E817B6}" type="datetimeFigureOut">
              <a:rPr lang="zh-TW" altLang="en-US" smtClean="0"/>
              <a:t>2020/1/14</a:t>
            </a:fld>
            <a:endParaRPr lang="zh-TW" altLang="en-US"/>
          </a:p>
        </p:txBody>
      </p:sp>
      <p:sp>
        <p:nvSpPr>
          <p:cNvPr id="5" name="頁尾版面配置區 4">
            <a:extLst>
              <a:ext uri="{FF2B5EF4-FFF2-40B4-BE49-F238E27FC236}">
                <a16:creationId xmlns:a16="http://schemas.microsoft.com/office/drawing/2014/main" id="{A1D7A775-500F-4F18-BB0D-851E19F6BAB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407C165-311A-4D5D-8D82-DDF8A351CD9A}"/>
              </a:ext>
            </a:extLst>
          </p:cNvPr>
          <p:cNvSpPr>
            <a:spLocks noGrp="1"/>
          </p:cNvSpPr>
          <p:nvPr>
            <p:ph type="sldNum" sz="quarter" idx="12"/>
          </p:nvPr>
        </p:nvSpPr>
        <p:spPr/>
        <p:txBody>
          <a:bodyPr/>
          <a:lstStyle/>
          <a:p>
            <a:fld id="{DBA5EFB1-EB7A-4413-9400-BF908F60D6CA}" type="slidenum">
              <a:rPr lang="zh-TW" altLang="en-US" smtClean="0"/>
              <a:t>‹#›</a:t>
            </a:fld>
            <a:endParaRPr lang="zh-TW" altLang="en-US"/>
          </a:p>
        </p:txBody>
      </p:sp>
    </p:spTree>
    <p:extLst>
      <p:ext uri="{BB962C8B-B14F-4D97-AF65-F5344CB8AC3E}">
        <p14:creationId xmlns:p14="http://schemas.microsoft.com/office/powerpoint/2010/main" val="5208112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7C4792FF-E243-4BA1-B078-DA07371ACEB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8430BB87-DAA7-48BE-82CA-82F7BEE2FC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77E5F77F-73AE-4648-A5CE-9DDC477EEF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E007C9-9EA9-40E8-8D4B-DD6835E817B6}" type="datetimeFigureOut">
              <a:rPr lang="zh-TW" altLang="en-US" smtClean="0"/>
              <a:t>2020/1/14</a:t>
            </a:fld>
            <a:endParaRPr lang="zh-TW" altLang="en-US"/>
          </a:p>
        </p:txBody>
      </p:sp>
      <p:sp>
        <p:nvSpPr>
          <p:cNvPr id="5" name="頁尾版面配置區 4">
            <a:extLst>
              <a:ext uri="{FF2B5EF4-FFF2-40B4-BE49-F238E27FC236}">
                <a16:creationId xmlns:a16="http://schemas.microsoft.com/office/drawing/2014/main" id="{2931632C-ABD9-4650-81E4-EC06C2FCEF4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0D9C8BB5-1598-4132-9C87-C5A97897A80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A5EFB1-EB7A-4413-9400-BF908F60D6CA}" type="slidenum">
              <a:rPr lang="zh-TW" altLang="en-US" smtClean="0"/>
              <a:t>‹#›</a:t>
            </a:fld>
            <a:endParaRPr lang="zh-TW" altLang="en-US"/>
          </a:p>
        </p:txBody>
      </p:sp>
    </p:spTree>
    <p:extLst>
      <p:ext uri="{BB962C8B-B14F-4D97-AF65-F5344CB8AC3E}">
        <p14:creationId xmlns:p14="http://schemas.microsoft.com/office/powerpoint/2010/main" val="28063950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1.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7.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image" Target="../media/image52.png"/><Relationship Id="rId18" Type="http://schemas.openxmlformats.org/officeDocument/2006/relationships/image" Target="../media/image57.png"/><Relationship Id="rId3" Type="http://schemas.openxmlformats.org/officeDocument/2006/relationships/image" Target="../media/image42.png"/><Relationship Id="rId7" Type="http://schemas.openxmlformats.org/officeDocument/2006/relationships/image" Target="../media/image46.png"/><Relationship Id="rId12" Type="http://schemas.openxmlformats.org/officeDocument/2006/relationships/image" Target="../media/image51.png"/><Relationship Id="rId17" Type="http://schemas.openxmlformats.org/officeDocument/2006/relationships/image" Target="../media/image56.png"/><Relationship Id="rId2" Type="http://schemas.openxmlformats.org/officeDocument/2006/relationships/image" Target="../media/image41.png"/><Relationship Id="rId16"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45.png"/><Relationship Id="rId11" Type="http://schemas.openxmlformats.org/officeDocument/2006/relationships/image" Target="../media/image50.png"/><Relationship Id="rId5" Type="http://schemas.openxmlformats.org/officeDocument/2006/relationships/image" Target="../media/image44.png"/><Relationship Id="rId15" Type="http://schemas.openxmlformats.org/officeDocument/2006/relationships/image" Target="../media/image54.png"/><Relationship Id="rId10" Type="http://schemas.openxmlformats.org/officeDocument/2006/relationships/image" Target="../media/image49.png"/><Relationship Id="rId19" Type="http://schemas.openxmlformats.org/officeDocument/2006/relationships/image" Target="../media/image58.png"/><Relationship Id="rId4" Type="http://schemas.openxmlformats.org/officeDocument/2006/relationships/image" Target="../media/image43.png"/><Relationship Id="rId9" Type="http://schemas.openxmlformats.org/officeDocument/2006/relationships/image" Target="../media/image48.png"/><Relationship Id="rId14" Type="http://schemas.openxmlformats.org/officeDocument/2006/relationships/image" Target="../media/image53.png"/></Relationships>
</file>

<file path=ppt/slides/_rels/slide18.xml.rels><?xml version="1.0" encoding="UTF-8" standalone="yes"?>
<Relationships xmlns="http://schemas.openxmlformats.org/package/2006/relationships"><Relationship Id="rId3" Type="http://schemas.openxmlformats.org/officeDocument/2006/relationships/image" Target="../media/image59.png"/><Relationship Id="rId7" Type="http://schemas.openxmlformats.org/officeDocument/2006/relationships/image" Target="../media/image63.png"/><Relationship Id="rId2" Type="http://schemas.openxmlformats.org/officeDocument/2006/relationships/image" Target="../media/image580.png"/><Relationship Id="rId1" Type="http://schemas.openxmlformats.org/officeDocument/2006/relationships/slideLayout" Target="../slideLayouts/slideLayout2.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1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67.png"/><Relationship Id="rId4" Type="http://schemas.openxmlformats.org/officeDocument/2006/relationships/image" Target="../media/image66.png"/></Relationships>
</file>

<file path=ppt/slides/_rels/slide20.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21.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 Id="rId4" Type="http://schemas.openxmlformats.org/officeDocument/2006/relationships/image" Target="../media/image7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75.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1"/>
          <p:cNvSpPr>
            <a:spLocks noGrp="1"/>
          </p:cNvSpPr>
          <p:nvPr/>
        </p:nvSpPr>
        <p:spPr>
          <a:xfrm>
            <a:off x="2068236" y="1042972"/>
            <a:ext cx="8055528" cy="2386028"/>
          </a:xfrm>
          <a:prstGeom prst="rect">
            <a:avLst/>
          </a:prstGeom>
        </p:spPr>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dirty="0">
                <a:solidFill>
                  <a:schemeClr val="tx1">
                    <a:lumMod val="95000"/>
                    <a:lumOff val="5000"/>
                  </a:schemeClr>
                </a:solidFill>
                <a:latin typeface="Times New Roman" panose="02020603050405020304" pitchFamily="18" charset="0"/>
                <a:ea typeface="標楷體" pitchFamily="65" charset="-120"/>
                <a:cs typeface="Times New Roman" panose="02020603050405020304" pitchFamily="18" charset="0"/>
              </a:rPr>
              <a:t>The Generalized Definitions of the Two-Dimensional Largest Common Substructure Problems</a:t>
            </a:r>
            <a:endParaRPr lang="zh-TW" altLang="en-US" dirty="0">
              <a:latin typeface="Times New Roman" pitchFamily="18" charset="0"/>
              <a:cs typeface="Times New Roman" pitchFamily="18" charset="0"/>
            </a:endParaRPr>
          </a:p>
        </p:txBody>
      </p:sp>
      <p:sp>
        <p:nvSpPr>
          <p:cNvPr id="7" name="副標題 2"/>
          <p:cNvSpPr>
            <a:spLocks noGrp="1"/>
          </p:cNvSpPr>
          <p:nvPr/>
        </p:nvSpPr>
        <p:spPr>
          <a:xfrm>
            <a:off x="2828560" y="3758768"/>
            <a:ext cx="6534880" cy="2601691"/>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en-US" altLang="zh-TW" sz="2800" dirty="0">
                <a:solidFill>
                  <a:schemeClr val="tx1"/>
                </a:solidFill>
                <a:latin typeface="Times New Roman" pitchFamily="18" charset="0"/>
                <a:cs typeface="Times New Roman" pitchFamily="18" charset="0"/>
              </a:rPr>
              <a:t>Huang-Ting Chan, </a:t>
            </a:r>
            <a:r>
              <a:rPr lang="en-US" altLang="zh-TW" sz="2800" dirty="0" err="1">
                <a:solidFill>
                  <a:schemeClr val="tx1"/>
                </a:solidFill>
                <a:latin typeface="Times New Roman" pitchFamily="18" charset="0"/>
                <a:cs typeface="Times New Roman" pitchFamily="18" charset="0"/>
              </a:rPr>
              <a:t>Hsuan</a:t>
            </a:r>
            <a:r>
              <a:rPr lang="en-US" altLang="zh-TW" sz="2800" dirty="0">
                <a:solidFill>
                  <a:schemeClr val="tx1"/>
                </a:solidFill>
                <a:latin typeface="Times New Roman" pitchFamily="18" charset="0"/>
                <a:cs typeface="Times New Roman" pitchFamily="18" charset="0"/>
              </a:rPr>
              <a:t>-Tsung Chiu, Chang-</a:t>
            </a:r>
            <a:r>
              <a:rPr lang="en-US" altLang="zh-TW" sz="2800" dirty="0" err="1">
                <a:solidFill>
                  <a:schemeClr val="tx1"/>
                </a:solidFill>
                <a:latin typeface="Times New Roman" pitchFamily="18" charset="0"/>
                <a:cs typeface="Times New Roman" pitchFamily="18" charset="0"/>
              </a:rPr>
              <a:t>Biau</a:t>
            </a:r>
            <a:r>
              <a:rPr lang="en-US" altLang="zh-TW" sz="2800" dirty="0">
                <a:solidFill>
                  <a:schemeClr val="tx1"/>
                </a:solidFill>
                <a:latin typeface="Times New Roman" pitchFamily="18" charset="0"/>
                <a:cs typeface="Times New Roman" pitchFamily="18" charset="0"/>
              </a:rPr>
              <a:t> Yang, Yung-</a:t>
            </a:r>
            <a:r>
              <a:rPr lang="en-US" altLang="zh-TW" sz="2800" dirty="0" err="1">
                <a:solidFill>
                  <a:schemeClr val="tx1"/>
                </a:solidFill>
                <a:latin typeface="Times New Roman" pitchFamily="18" charset="0"/>
                <a:cs typeface="Times New Roman" pitchFamily="18" charset="0"/>
              </a:rPr>
              <a:t>Hsing</a:t>
            </a:r>
            <a:r>
              <a:rPr lang="en-US" altLang="zh-TW" sz="2800" dirty="0">
                <a:solidFill>
                  <a:schemeClr val="tx1"/>
                </a:solidFill>
                <a:latin typeface="Times New Roman" pitchFamily="18" charset="0"/>
                <a:cs typeface="Times New Roman" pitchFamily="18" charset="0"/>
              </a:rPr>
              <a:t> Peng</a:t>
            </a:r>
          </a:p>
          <a:p>
            <a:endParaRPr lang="en-US" altLang="zh-TW" sz="2800" dirty="0">
              <a:solidFill>
                <a:schemeClr val="tx1"/>
              </a:solidFill>
              <a:latin typeface="Times New Roman" pitchFamily="18" charset="0"/>
              <a:cs typeface="Times New Roman" pitchFamily="18" charset="0"/>
            </a:endParaRPr>
          </a:p>
          <a:p>
            <a:r>
              <a:rPr lang="en-US" altLang="zh-TW" sz="2800" dirty="0">
                <a:solidFill>
                  <a:schemeClr val="tx1"/>
                </a:solidFill>
                <a:latin typeface="Times New Roman" pitchFamily="18" charset="0"/>
                <a:cs typeface="Times New Roman" pitchFamily="18" charset="0"/>
              </a:rPr>
              <a:t>Speaker: </a:t>
            </a:r>
            <a:r>
              <a:rPr lang="en-US" altLang="zh-TW" sz="2800" dirty="0" err="1">
                <a:solidFill>
                  <a:schemeClr val="tx1"/>
                </a:solidFill>
                <a:latin typeface="Times New Roman" pitchFamily="18" charset="0"/>
                <a:cs typeface="Times New Roman" pitchFamily="18" charset="0"/>
              </a:rPr>
              <a:t>Kuan</a:t>
            </a:r>
            <a:r>
              <a:rPr lang="en-US" altLang="zh-TW" sz="2800" dirty="0">
                <a:solidFill>
                  <a:schemeClr val="tx1"/>
                </a:solidFill>
                <a:latin typeface="Times New Roman" pitchFamily="18" charset="0"/>
                <a:cs typeface="Times New Roman" pitchFamily="18" charset="0"/>
              </a:rPr>
              <a:t>-Lin Lai</a:t>
            </a:r>
          </a:p>
          <a:p>
            <a:r>
              <a:rPr lang="en-US" altLang="zh-TW" sz="2800" dirty="0">
                <a:solidFill>
                  <a:schemeClr val="tx1"/>
                </a:solidFill>
                <a:latin typeface="Times New Roman" pitchFamily="18" charset="0"/>
                <a:cs typeface="Times New Roman" pitchFamily="18" charset="0"/>
              </a:rPr>
              <a:t>Date: Jan. 7, 2020</a:t>
            </a:r>
          </a:p>
          <a:p>
            <a:endParaRPr lang="zh-TW" alt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13791467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B88A281-77FC-4A03-A22E-5BF41AF1FE96}"/>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Abstract </a:t>
            </a:r>
            <a:endParaRPr lang="zh-TW" altLang="en-US" dirty="0"/>
          </a:p>
        </p:txBody>
      </p:sp>
      <p:sp>
        <p:nvSpPr>
          <p:cNvPr id="3" name="內容版面配置區 2">
            <a:extLst>
              <a:ext uri="{FF2B5EF4-FFF2-40B4-BE49-F238E27FC236}">
                <a16:creationId xmlns:a16="http://schemas.microsoft.com/office/drawing/2014/main" id="{3BF921B8-FA38-458B-BB5F-890D1C0B62BC}"/>
              </a:ext>
            </a:extLst>
          </p:cNvPr>
          <p:cNvSpPr>
            <a:spLocks noGrp="1"/>
          </p:cNvSpPr>
          <p:nvPr>
            <p:ph idx="1"/>
          </p:nvPr>
        </p:nvSpPr>
        <p:spPr/>
        <p:txBody>
          <a:bodyPr>
            <a:normAutofit fontScale="92500" lnSpcReduction="10000"/>
          </a:bodyPr>
          <a:lstStyle/>
          <a:p>
            <a:pPr marL="0" indent="0" algn="just">
              <a:buNone/>
            </a:pPr>
            <a:r>
              <a:rPr lang="en-US" altLang="zh-TW" dirty="0"/>
              <a:t>The similarity of two one-dimensional sequences is usually measured by the longest common subsequence (LCS) algorithms. However, these algorithms cannot be directly extended to solve the two or higher dimensional data. Thus, for the two-dimensional data, computing the similarity with an LCS-like approach remains worthy of investigation. In this paper, we utilize a systematic way to give the generalized definition of the two-dimensional largest common substructure (TLCS) problem by referring to the traditional LCS concept. With various matching rules, eight possible versions of TLCS problems may be defined. However, only four of them are shown to be valid. We prove that all of these four TLCS problems are N P-hard and APX -hard. To accomplish the proofs, two of the TLCS problems are reduced from the </a:t>
            </a:r>
            <a:r>
              <a:rPr lang="en-US" altLang="zh-TW" dirty="0" err="1"/>
              <a:t>the</a:t>
            </a:r>
            <a:r>
              <a:rPr lang="en-US" altLang="zh-TW" dirty="0"/>
              <a:t> 3-satisfiability problem, and the other two are reduced from the 3-dimensional matching problem. </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378014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D09D913-0674-4237-ABB4-C946017B3E61}"/>
              </a:ext>
            </a:extLst>
          </p:cNvPr>
          <p:cNvSpPr>
            <a:spLocks noGrp="1"/>
          </p:cNvSpPr>
          <p:nvPr>
            <p:ph type="title"/>
          </p:nvPr>
        </p:nvSpPr>
        <p:spPr/>
        <p:txBody>
          <a:bodyPr>
            <a:normAutofit/>
          </a:bodyPr>
          <a:lstStyle/>
          <a:p>
            <a:r>
              <a:rPr lang="en-US" altLang="zh-TW" sz="4000" dirty="0"/>
              <a:t>2D-LCS</a:t>
            </a:r>
            <a:r>
              <a:rPr lang="zh-TW" altLang="en-US" sz="4000" dirty="0"/>
              <a:t> </a:t>
            </a:r>
            <a:r>
              <a:rPr lang="en-US" altLang="zh-TW" sz="4000" dirty="0"/>
              <a:t>problem</a:t>
            </a:r>
            <a:r>
              <a:rPr lang="zh-TW" altLang="en-US" sz="4000" dirty="0"/>
              <a:t> </a:t>
            </a:r>
            <a:r>
              <a:rPr lang="en-US" altLang="zh-TW" sz="4000" dirty="0"/>
              <a:t>by Amir </a:t>
            </a:r>
            <a:r>
              <a:rPr lang="en-US" altLang="zh-TW" sz="4000" i="1" dirty="0"/>
              <a:t>et al.</a:t>
            </a:r>
            <a:r>
              <a:rPr lang="en-US" altLang="zh-TW" sz="4000" dirty="0"/>
              <a:t>(2008)</a:t>
            </a:r>
            <a:endParaRPr lang="zh-TW" altLang="en-US" sz="4000" i="1"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07437B0C-BD40-4399-A06A-C94923A2E3AC}"/>
                  </a:ext>
                </a:extLst>
              </p:cNvPr>
              <p:cNvSpPr>
                <a:spLocks noGrp="1"/>
              </p:cNvSpPr>
              <p:nvPr>
                <p:ph idx="1"/>
              </p:nvPr>
            </p:nvSpPr>
            <p:spPr>
              <a:xfrm>
                <a:off x="208195" y="2752772"/>
                <a:ext cx="2801279" cy="2057401"/>
              </a:xfrm>
            </p:spPr>
            <p:txBody>
              <a:bodyPr>
                <a:normAutofit/>
              </a:bodyPr>
              <a:lstStyle/>
              <a:p>
                <a:pPr marL="0" indent="0">
                  <a:buNone/>
                </a:pPr>
                <a14:m>
                  <m:oMathPara xmlns:m="http://schemas.openxmlformats.org/officeDocument/2006/math">
                    <m:oMathParaPr>
                      <m:jc m:val="centerGroup"/>
                    </m:oMathParaPr>
                    <m:oMath xmlns:m="http://schemas.openxmlformats.org/officeDocument/2006/math">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𝑖</m:t>
                          </m:r>
                        </m:e>
                        <m:sub>
                          <m:r>
                            <a:rPr lang="en-US" altLang="zh-TW" sz="2400" i="1">
                              <a:latin typeface="Cambria Math" panose="02040503050406030204" pitchFamily="18" charset="0"/>
                            </a:rPr>
                            <m:t>1</m:t>
                          </m:r>
                        </m:sub>
                      </m:sSub>
                      <m:r>
                        <a:rPr lang="en-US" altLang="zh-TW" sz="2400" i="1">
                          <a:latin typeface="Cambria Math" panose="02040503050406030204" pitchFamily="18" charset="0"/>
                          <a:ea typeface="Cambria Math" panose="02040503050406030204" pitchFamily="18" charset="0"/>
                        </a:rPr>
                        <m:t>&lt;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𝑖</m:t>
                          </m:r>
                        </m:e>
                        <m:sub>
                          <m:r>
                            <a:rPr lang="en-US" altLang="zh-TW" sz="2400" i="1">
                              <a:latin typeface="Cambria Math" panose="02040503050406030204" pitchFamily="18" charset="0"/>
                            </a:rPr>
                            <m:t>2</m:t>
                          </m:r>
                        </m:sub>
                      </m:sSub>
                      <m:r>
                        <a:rPr lang="en-US" altLang="zh-TW" sz="2400" i="1">
                          <a:latin typeface="Cambria Math" panose="02040503050406030204" pitchFamily="18" charset="0"/>
                          <a:ea typeface="Cambria Math" panose="02040503050406030204" pitchFamily="18" charset="0"/>
                        </a:rPr>
                        <m:t>→ </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𝑝</m:t>
                          </m:r>
                        </m:e>
                        <m:sub>
                          <m:r>
                            <a:rPr lang="en-US" altLang="zh-TW" sz="2400" i="1">
                              <a:latin typeface="Cambria Math" panose="02040503050406030204" pitchFamily="18" charset="0"/>
                            </a:rPr>
                            <m:t>1</m:t>
                          </m:r>
                        </m:sub>
                      </m:sSub>
                      <m:r>
                        <a:rPr lang="en-US" altLang="zh-TW" sz="2400" i="1">
                          <a:latin typeface="Cambria Math" panose="02040503050406030204" pitchFamily="18" charset="0"/>
                          <a:ea typeface="Cambria Math" panose="02040503050406030204" pitchFamily="18" charset="0"/>
                        </a:rPr>
                        <m:t>&lt;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𝑝</m:t>
                          </m:r>
                        </m:e>
                        <m:sub>
                          <m:r>
                            <a:rPr lang="en-US" altLang="zh-TW" sz="2400" i="1">
                              <a:latin typeface="Cambria Math" panose="02040503050406030204" pitchFamily="18" charset="0"/>
                            </a:rPr>
                            <m:t>2</m:t>
                          </m:r>
                        </m:sub>
                      </m:sSub>
                    </m:oMath>
                  </m:oMathPara>
                </a14:m>
                <a:endParaRPr lang="en-US" altLang="zh-TW" sz="2400" i="1" dirty="0">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𝑗</m:t>
                          </m:r>
                        </m:e>
                        <m:sub>
                          <m:r>
                            <a:rPr lang="en-US" altLang="zh-TW" sz="2400" i="1">
                              <a:latin typeface="Cambria Math" panose="02040503050406030204" pitchFamily="18" charset="0"/>
                            </a:rPr>
                            <m:t>1</m:t>
                          </m:r>
                        </m:sub>
                      </m:sSub>
                      <m:r>
                        <a:rPr lang="en-US" altLang="zh-TW" sz="2400" i="1">
                          <a:latin typeface="Cambria Math" panose="02040503050406030204" pitchFamily="18" charset="0"/>
                          <a:ea typeface="Cambria Math" panose="02040503050406030204" pitchFamily="18" charset="0"/>
                        </a:rPr>
                        <m:t>&lt;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𝑗</m:t>
                          </m:r>
                        </m:e>
                        <m:sub>
                          <m:r>
                            <a:rPr lang="en-US" altLang="zh-TW" sz="2400" i="1">
                              <a:latin typeface="Cambria Math" panose="02040503050406030204" pitchFamily="18" charset="0"/>
                            </a:rPr>
                            <m:t>2</m:t>
                          </m:r>
                        </m:sub>
                      </m:sSub>
                      <m:r>
                        <a:rPr lang="en-US" altLang="zh-TW" sz="2400" i="1">
                          <a:latin typeface="Cambria Math" panose="02040503050406030204" pitchFamily="18" charset="0"/>
                          <a:ea typeface="Cambria Math" panose="02040503050406030204" pitchFamily="18" charset="0"/>
                        </a:rPr>
                        <m:t>→ </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𝑞</m:t>
                          </m:r>
                        </m:e>
                        <m:sub>
                          <m:r>
                            <a:rPr lang="en-US" altLang="zh-TW" sz="2400" i="1">
                              <a:latin typeface="Cambria Math" panose="02040503050406030204" pitchFamily="18" charset="0"/>
                            </a:rPr>
                            <m:t>1</m:t>
                          </m:r>
                        </m:sub>
                      </m:sSub>
                      <m:r>
                        <a:rPr lang="en-US" altLang="zh-TW" sz="2400" i="1">
                          <a:latin typeface="Cambria Math" panose="02040503050406030204" pitchFamily="18" charset="0"/>
                        </a:rPr>
                        <m:t>&lt;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𝑞</m:t>
                          </m:r>
                        </m:e>
                        <m:sub>
                          <m:r>
                            <a:rPr lang="en-US" altLang="zh-TW" sz="2400" i="1">
                              <a:latin typeface="Cambria Math" panose="02040503050406030204" pitchFamily="18" charset="0"/>
                            </a:rPr>
                            <m:t>2</m:t>
                          </m:r>
                        </m:sub>
                      </m:sSub>
                    </m:oMath>
                  </m:oMathPara>
                </a14:m>
                <a:endParaRPr lang="en-US" altLang="zh-TW" sz="2400" dirty="0"/>
              </a:p>
              <a:p>
                <a:pPr marL="0" indent="0">
                  <a:buNone/>
                </a:pPr>
                <a14:m>
                  <m:oMathPara xmlns:m="http://schemas.openxmlformats.org/officeDocument/2006/math">
                    <m:oMathParaPr>
                      <m:jc m:val="centerGroup"/>
                    </m:oMathParaPr>
                    <m:oMath xmlns:m="http://schemas.openxmlformats.org/officeDocument/2006/math">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𝑖</m:t>
                          </m:r>
                        </m:e>
                        <m:sub>
                          <m:r>
                            <a:rPr lang="en-US" altLang="zh-TW" sz="2400" i="1">
                              <a:latin typeface="Cambria Math" panose="02040503050406030204" pitchFamily="18" charset="0"/>
                            </a:rPr>
                            <m:t>1</m:t>
                          </m:r>
                        </m:sub>
                      </m:sSub>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𝑖</m:t>
                          </m:r>
                        </m:e>
                        <m:sub>
                          <m:r>
                            <a:rPr lang="en-US" altLang="zh-TW" sz="2400" i="1">
                              <a:latin typeface="Cambria Math" panose="02040503050406030204" pitchFamily="18" charset="0"/>
                            </a:rPr>
                            <m:t>2</m:t>
                          </m:r>
                        </m:sub>
                      </m:sSub>
                      <m:r>
                        <a:rPr lang="en-US" altLang="zh-TW" sz="2400" i="1">
                          <a:latin typeface="Cambria Math" panose="02040503050406030204" pitchFamily="18" charset="0"/>
                          <a:ea typeface="Cambria Math" panose="02040503050406030204" pitchFamily="18" charset="0"/>
                        </a:rPr>
                        <m:t>→ </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𝑝</m:t>
                          </m:r>
                        </m:e>
                        <m:sub>
                          <m:r>
                            <a:rPr lang="en-US" altLang="zh-TW" sz="2400" i="1">
                              <a:latin typeface="Cambria Math" panose="02040503050406030204" pitchFamily="18" charset="0"/>
                            </a:rPr>
                            <m:t>1</m:t>
                          </m:r>
                        </m:sub>
                      </m:sSub>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𝑝</m:t>
                          </m:r>
                        </m:e>
                        <m:sub>
                          <m:r>
                            <a:rPr lang="en-US" altLang="zh-TW" sz="2400" i="1">
                              <a:latin typeface="Cambria Math" panose="02040503050406030204" pitchFamily="18" charset="0"/>
                            </a:rPr>
                            <m:t>2</m:t>
                          </m:r>
                        </m:sub>
                      </m:sSub>
                    </m:oMath>
                  </m:oMathPara>
                </a14:m>
                <a:endParaRPr lang="en-US" altLang="zh-TW" sz="2400" dirty="0"/>
              </a:p>
              <a:p>
                <a:pPr marL="0" indent="0">
                  <a:buNone/>
                </a:pPr>
                <a14:m>
                  <m:oMathPara xmlns:m="http://schemas.openxmlformats.org/officeDocument/2006/math">
                    <m:oMathParaPr>
                      <m:jc m:val="centerGroup"/>
                    </m:oMathParaPr>
                    <m:oMath xmlns:m="http://schemas.openxmlformats.org/officeDocument/2006/math">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𝑗</m:t>
                          </m:r>
                        </m:e>
                        <m:sub>
                          <m:r>
                            <a:rPr lang="en-US" altLang="zh-TW" sz="2400" i="1">
                              <a:latin typeface="Cambria Math" panose="02040503050406030204" pitchFamily="18" charset="0"/>
                            </a:rPr>
                            <m:t>1</m:t>
                          </m:r>
                        </m:sub>
                      </m:sSub>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𝑗</m:t>
                          </m:r>
                        </m:e>
                        <m:sub>
                          <m:r>
                            <a:rPr lang="en-US" altLang="zh-TW" sz="2400" i="1">
                              <a:latin typeface="Cambria Math" panose="02040503050406030204" pitchFamily="18" charset="0"/>
                            </a:rPr>
                            <m:t>2</m:t>
                          </m:r>
                        </m:sub>
                      </m:sSub>
                      <m:r>
                        <a:rPr lang="en-US" altLang="zh-TW" sz="2400" i="1">
                          <a:latin typeface="Cambria Math" panose="02040503050406030204" pitchFamily="18" charset="0"/>
                          <a:ea typeface="Cambria Math" panose="02040503050406030204" pitchFamily="18" charset="0"/>
                        </a:rPr>
                        <m:t>→ </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𝑞</m:t>
                          </m:r>
                        </m:e>
                        <m:sub>
                          <m:r>
                            <a:rPr lang="en-US" altLang="zh-TW" sz="2400" i="1">
                              <a:latin typeface="Cambria Math" panose="02040503050406030204" pitchFamily="18" charset="0"/>
                            </a:rPr>
                            <m:t>1</m:t>
                          </m:r>
                        </m:sub>
                      </m:sSub>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𝑞</m:t>
                          </m:r>
                        </m:e>
                        <m:sub>
                          <m:r>
                            <a:rPr lang="en-US" altLang="zh-TW" sz="2400" i="1">
                              <a:latin typeface="Cambria Math" panose="02040503050406030204" pitchFamily="18" charset="0"/>
                            </a:rPr>
                            <m:t>2</m:t>
                          </m:r>
                        </m:sub>
                      </m:sSub>
                    </m:oMath>
                  </m:oMathPara>
                </a14:m>
                <a:endParaRPr lang="zh-TW" altLang="en-US" sz="2400" dirty="0"/>
              </a:p>
            </p:txBody>
          </p:sp>
        </mc:Choice>
        <mc:Fallback xmlns="">
          <p:sp>
            <p:nvSpPr>
              <p:cNvPr id="3" name="內容版面配置區 2">
                <a:extLst>
                  <a:ext uri="{FF2B5EF4-FFF2-40B4-BE49-F238E27FC236}">
                    <a16:creationId xmlns:a16="http://schemas.microsoft.com/office/drawing/2014/main" id="{07437B0C-BD40-4399-A06A-C94923A2E3AC}"/>
                  </a:ext>
                </a:extLst>
              </p:cNvPr>
              <p:cNvSpPr>
                <a:spLocks noGrp="1" noRot="1" noChangeAspect="1" noMove="1" noResize="1" noEditPoints="1" noAdjustHandles="1" noChangeArrowheads="1" noChangeShapeType="1" noTextEdit="1"/>
              </p:cNvSpPr>
              <p:nvPr>
                <p:ph idx="1"/>
              </p:nvPr>
            </p:nvSpPr>
            <p:spPr>
              <a:xfrm>
                <a:off x="208195" y="2752772"/>
                <a:ext cx="2801279" cy="2057401"/>
              </a:xfrm>
              <a:blipFill>
                <a:blip r:embed="rId2"/>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4" name="表格 3">
                <a:extLst>
                  <a:ext uri="{FF2B5EF4-FFF2-40B4-BE49-F238E27FC236}">
                    <a16:creationId xmlns:a16="http://schemas.microsoft.com/office/drawing/2014/main" id="{D99F60B5-385E-4571-8D86-D3D50E02236D}"/>
                  </a:ext>
                </a:extLst>
              </p:cNvPr>
              <p:cNvGraphicFramePr>
                <a:graphicFrameLocks noGrp="1"/>
              </p:cNvGraphicFramePr>
              <p:nvPr>
                <p:extLst>
                  <p:ext uri="{D42A27DB-BD31-4B8C-83A1-F6EECF244321}">
                    <p14:modId xmlns:p14="http://schemas.microsoft.com/office/powerpoint/2010/main" val="3398605901"/>
                  </p:ext>
                </p:extLst>
              </p:nvPr>
            </p:nvGraphicFramePr>
            <p:xfrm>
              <a:off x="3131194" y="2293579"/>
              <a:ext cx="1826175" cy="1476000"/>
            </p:xfrm>
            <a:graphic>
              <a:graphicData uri="http://schemas.openxmlformats.org/drawingml/2006/table">
                <a:tbl>
                  <a:tblPr firstRow="1" bandRow="1">
                    <a:tableStyleId>{5940675A-B579-460E-94D1-54222C63F5DA}</a:tableStyleId>
                  </a:tblPr>
                  <a:tblGrid>
                    <a:gridCol w="608725">
                      <a:extLst>
                        <a:ext uri="{9D8B030D-6E8A-4147-A177-3AD203B41FA5}">
                          <a16:colId xmlns:a16="http://schemas.microsoft.com/office/drawing/2014/main" val="20000"/>
                        </a:ext>
                      </a:extLst>
                    </a:gridCol>
                    <a:gridCol w="608725">
                      <a:extLst>
                        <a:ext uri="{9D8B030D-6E8A-4147-A177-3AD203B41FA5}">
                          <a16:colId xmlns:a16="http://schemas.microsoft.com/office/drawing/2014/main" val="20001"/>
                        </a:ext>
                      </a:extLst>
                    </a:gridCol>
                    <a:gridCol w="608725">
                      <a:extLst>
                        <a:ext uri="{9D8B030D-6E8A-4147-A177-3AD203B41FA5}">
                          <a16:colId xmlns:a16="http://schemas.microsoft.com/office/drawing/2014/main" val="20002"/>
                        </a:ext>
                      </a:extLst>
                    </a:gridCol>
                  </a:tblGrid>
                  <a:tr h="492000">
                    <a:tc>
                      <a:txBody>
                        <a:bodyPr/>
                        <a:lstStyle/>
                        <a:p>
                          <a:pPr algn="ctr"/>
                          <a:endParaRPr lang="zh-TW" altLang="en-US" sz="2000" b="0" dirty="0"/>
                        </a:p>
                      </a:txBody>
                      <a:tcPr marL="115949" marR="115949" marT="57975" marB="57975" anchor="ct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zh-TW" altLang="en-US" sz="2000" i="1" dirty="0" smtClean="0">
                                    <a:latin typeface="Cambria Math" panose="02040503050406030204" pitchFamily="18" charset="0"/>
                                  </a:rPr>
                                  <m:t>𝛼</m:t>
                                </m:r>
                              </m:oMath>
                            </m:oMathPara>
                          </a14:m>
                          <a:endParaRPr lang="zh-TW" altLang="en-US" sz="2000" dirty="0"/>
                        </a:p>
                      </a:txBody>
                      <a:tcPr marL="115949" marR="115949" marT="57975" marB="57975" anchor="ctr"/>
                    </a:tc>
                    <a:tc>
                      <a:txBody>
                        <a:bodyPr/>
                        <a:lstStyle/>
                        <a:p>
                          <a:pPr algn="ctr"/>
                          <a:endParaRPr lang="zh-TW" altLang="en-US" sz="2000" b="0" dirty="0"/>
                        </a:p>
                      </a:txBody>
                      <a:tcPr marL="115949" marR="115949" marT="57975" marB="57975" anchor="ctr"/>
                    </a:tc>
                    <a:extLst>
                      <a:ext uri="{0D108BD9-81ED-4DB2-BD59-A6C34878D82A}">
                        <a16:rowId xmlns:a16="http://schemas.microsoft.com/office/drawing/2014/main" val="10000"/>
                      </a:ext>
                    </a:extLst>
                  </a:tr>
                  <a:tr h="492000">
                    <a:tc>
                      <a:txBody>
                        <a:bodyPr/>
                        <a:lstStyle/>
                        <a:p>
                          <a:pPr algn="ctr"/>
                          <a:endParaRPr lang="zh-TW" altLang="en-US" sz="2000" b="0" dirty="0"/>
                        </a:p>
                      </a:txBody>
                      <a:tcPr marL="115949" marR="115949" marT="57975" marB="57975" anchor="ctr"/>
                    </a:tc>
                    <a:tc>
                      <a:txBody>
                        <a:bodyPr/>
                        <a:lstStyle/>
                        <a:p>
                          <a:pPr algn="ctr"/>
                          <a:endParaRPr lang="zh-TW" altLang="en-US" sz="2000" b="0" dirty="0"/>
                        </a:p>
                      </a:txBody>
                      <a:tcPr marL="115949" marR="115949" marT="57975" marB="57975" anchor="ctr"/>
                    </a:tc>
                    <a:tc>
                      <a:txBody>
                        <a:bodyPr/>
                        <a:lstStyle/>
                        <a:p>
                          <a:pPr algn="ctr"/>
                          <a:endParaRPr lang="zh-TW" altLang="en-US" sz="2000" b="0" dirty="0"/>
                        </a:p>
                      </a:txBody>
                      <a:tcPr marL="115949" marR="115949" marT="57975" marB="57975" anchor="ctr"/>
                    </a:tc>
                    <a:extLst>
                      <a:ext uri="{0D108BD9-81ED-4DB2-BD59-A6C34878D82A}">
                        <a16:rowId xmlns:a16="http://schemas.microsoft.com/office/drawing/2014/main" val="10001"/>
                      </a:ext>
                    </a:extLst>
                  </a:tr>
                  <a:tr h="492000">
                    <a:tc>
                      <a:txBody>
                        <a:bodyPr/>
                        <a:lstStyle/>
                        <a:p>
                          <a:pPr algn="ctr"/>
                          <a:endParaRPr lang="zh-TW" altLang="en-US" sz="2000" b="0" dirty="0"/>
                        </a:p>
                      </a:txBody>
                      <a:tcPr marL="115949" marR="115949" marT="57975" marB="57975" anchor="ctr"/>
                    </a:tc>
                    <a:tc>
                      <a:txBody>
                        <a:bodyPr/>
                        <a:lstStyle/>
                        <a:p>
                          <a:pPr algn="ctr"/>
                          <a:endParaRPr lang="zh-TW" altLang="en-US" sz="2000" b="0" dirty="0"/>
                        </a:p>
                      </a:txBody>
                      <a:tcPr marL="115949" marR="115949" marT="57975" marB="57975" anchor="ctr"/>
                    </a:tc>
                    <a:tc>
                      <a:txBody>
                        <a:bodyPr/>
                        <a:lstStyle/>
                        <a:p>
                          <a:pPr algn="ctr"/>
                          <a:endParaRPr lang="zh-TW" altLang="en-US" sz="2000" b="0" dirty="0"/>
                        </a:p>
                      </a:txBody>
                      <a:tcPr marL="115949" marR="115949" marT="57975" marB="57975" anchor="ctr">
                        <a:solidFill>
                          <a:schemeClr val="bg1">
                            <a:lumMod val="65000"/>
                          </a:schemeClr>
                        </a:solidFill>
                      </a:tcPr>
                    </a:tc>
                    <a:extLst>
                      <a:ext uri="{0D108BD9-81ED-4DB2-BD59-A6C34878D82A}">
                        <a16:rowId xmlns:a16="http://schemas.microsoft.com/office/drawing/2014/main" val="10002"/>
                      </a:ext>
                    </a:extLst>
                  </a:tr>
                </a:tbl>
              </a:graphicData>
            </a:graphic>
          </p:graphicFrame>
        </mc:Choice>
        <mc:Fallback xmlns="">
          <p:graphicFrame>
            <p:nvGraphicFramePr>
              <p:cNvPr id="4" name="表格 3">
                <a:extLst>
                  <a:ext uri="{FF2B5EF4-FFF2-40B4-BE49-F238E27FC236}">
                    <a16:creationId xmlns:a16="http://schemas.microsoft.com/office/drawing/2014/main" id="{D99F60B5-385E-4571-8D86-D3D50E02236D}"/>
                  </a:ext>
                </a:extLst>
              </p:cNvPr>
              <p:cNvGraphicFramePr>
                <a:graphicFrameLocks noGrp="1"/>
              </p:cNvGraphicFramePr>
              <p:nvPr>
                <p:extLst>
                  <p:ext uri="{D42A27DB-BD31-4B8C-83A1-F6EECF244321}">
                    <p14:modId xmlns:p14="http://schemas.microsoft.com/office/powerpoint/2010/main" val="3398605901"/>
                  </p:ext>
                </p:extLst>
              </p:nvPr>
            </p:nvGraphicFramePr>
            <p:xfrm>
              <a:off x="3131194" y="2293579"/>
              <a:ext cx="1826175" cy="1476000"/>
            </p:xfrm>
            <a:graphic>
              <a:graphicData uri="http://schemas.openxmlformats.org/drawingml/2006/table">
                <a:tbl>
                  <a:tblPr firstRow="1" bandRow="1">
                    <a:tableStyleId>{5940675A-B579-460E-94D1-54222C63F5DA}</a:tableStyleId>
                  </a:tblPr>
                  <a:tblGrid>
                    <a:gridCol w="608725">
                      <a:extLst>
                        <a:ext uri="{9D8B030D-6E8A-4147-A177-3AD203B41FA5}">
                          <a16:colId xmlns:a16="http://schemas.microsoft.com/office/drawing/2014/main" val="20000"/>
                        </a:ext>
                      </a:extLst>
                    </a:gridCol>
                    <a:gridCol w="608725">
                      <a:extLst>
                        <a:ext uri="{9D8B030D-6E8A-4147-A177-3AD203B41FA5}">
                          <a16:colId xmlns:a16="http://schemas.microsoft.com/office/drawing/2014/main" val="20001"/>
                        </a:ext>
                      </a:extLst>
                    </a:gridCol>
                    <a:gridCol w="608725">
                      <a:extLst>
                        <a:ext uri="{9D8B030D-6E8A-4147-A177-3AD203B41FA5}">
                          <a16:colId xmlns:a16="http://schemas.microsoft.com/office/drawing/2014/main" val="20002"/>
                        </a:ext>
                      </a:extLst>
                    </a:gridCol>
                  </a:tblGrid>
                  <a:tr h="492000">
                    <a:tc>
                      <a:txBody>
                        <a:bodyPr/>
                        <a:lstStyle/>
                        <a:p>
                          <a:pPr algn="ctr"/>
                          <a:endParaRPr lang="zh-TW" altLang="en-US" sz="2000" b="0" dirty="0"/>
                        </a:p>
                      </a:txBody>
                      <a:tcPr marL="115949" marR="115949" marT="57975" marB="57975" anchor="ctr"/>
                    </a:tc>
                    <a:tc>
                      <a:txBody>
                        <a:bodyPr/>
                        <a:lstStyle/>
                        <a:p>
                          <a:endParaRPr lang="zh-TW"/>
                        </a:p>
                      </a:txBody>
                      <a:tcPr marL="115949" marR="115949" marT="57975" marB="57975" anchor="ctr">
                        <a:blipFill>
                          <a:blip r:embed="rId3"/>
                          <a:stretch>
                            <a:fillRect l="-100000" t="-1235" r="-100990" b="-202469"/>
                          </a:stretch>
                        </a:blipFill>
                      </a:tcPr>
                    </a:tc>
                    <a:tc>
                      <a:txBody>
                        <a:bodyPr/>
                        <a:lstStyle/>
                        <a:p>
                          <a:pPr algn="ctr"/>
                          <a:endParaRPr lang="zh-TW" altLang="en-US" sz="2000" b="0" dirty="0"/>
                        </a:p>
                      </a:txBody>
                      <a:tcPr marL="115949" marR="115949" marT="57975" marB="57975" anchor="ctr"/>
                    </a:tc>
                    <a:extLst>
                      <a:ext uri="{0D108BD9-81ED-4DB2-BD59-A6C34878D82A}">
                        <a16:rowId xmlns:a16="http://schemas.microsoft.com/office/drawing/2014/main" val="10000"/>
                      </a:ext>
                    </a:extLst>
                  </a:tr>
                  <a:tr h="492000">
                    <a:tc>
                      <a:txBody>
                        <a:bodyPr/>
                        <a:lstStyle/>
                        <a:p>
                          <a:pPr algn="ctr"/>
                          <a:endParaRPr lang="zh-TW" altLang="en-US" sz="2000" b="0" dirty="0"/>
                        </a:p>
                      </a:txBody>
                      <a:tcPr marL="115949" marR="115949" marT="57975" marB="57975" anchor="ctr"/>
                    </a:tc>
                    <a:tc>
                      <a:txBody>
                        <a:bodyPr/>
                        <a:lstStyle/>
                        <a:p>
                          <a:pPr algn="ctr"/>
                          <a:endParaRPr lang="zh-TW" altLang="en-US" sz="2000" b="0" dirty="0"/>
                        </a:p>
                      </a:txBody>
                      <a:tcPr marL="115949" marR="115949" marT="57975" marB="57975" anchor="ctr"/>
                    </a:tc>
                    <a:tc>
                      <a:txBody>
                        <a:bodyPr/>
                        <a:lstStyle/>
                        <a:p>
                          <a:pPr algn="ctr"/>
                          <a:endParaRPr lang="zh-TW" altLang="en-US" sz="2000" b="0" dirty="0"/>
                        </a:p>
                      </a:txBody>
                      <a:tcPr marL="115949" marR="115949" marT="57975" marB="57975" anchor="ctr"/>
                    </a:tc>
                    <a:extLst>
                      <a:ext uri="{0D108BD9-81ED-4DB2-BD59-A6C34878D82A}">
                        <a16:rowId xmlns:a16="http://schemas.microsoft.com/office/drawing/2014/main" val="10001"/>
                      </a:ext>
                    </a:extLst>
                  </a:tr>
                  <a:tr h="492000">
                    <a:tc>
                      <a:txBody>
                        <a:bodyPr/>
                        <a:lstStyle/>
                        <a:p>
                          <a:pPr algn="ctr"/>
                          <a:endParaRPr lang="zh-TW" altLang="en-US" sz="2000" b="0" dirty="0"/>
                        </a:p>
                      </a:txBody>
                      <a:tcPr marL="115949" marR="115949" marT="57975" marB="57975" anchor="ctr"/>
                    </a:tc>
                    <a:tc>
                      <a:txBody>
                        <a:bodyPr/>
                        <a:lstStyle/>
                        <a:p>
                          <a:pPr algn="ctr"/>
                          <a:endParaRPr lang="zh-TW" altLang="en-US" sz="2000" b="0" dirty="0"/>
                        </a:p>
                      </a:txBody>
                      <a:tcPr marL="115949" marR="115949" marT="57975" marB="57975" anchor="ctr"/>
                    </a:tc>
                    <a:tc>
                      <a:txBody>
                        <a:bodyPr/>
                        <a:lstStyle/>
                        <a:p>
                          <a:pPr algn="ctr"/>
                          <a:endParaRPr lang="zh-TW" altLang="en-US" sz="2000" b="0" dirty="0"/>
                        </a:p>
                      </a:txBody>
                      <a:tcPr marL="115949" marR="115949" marT="57975" marB="57975" anchor="ctr">
                        <a:solidFill>
                          <a:schemeClr val="bg1">
                            <a:lumMod val="65000"/>
                          </a:schemeClr>
                        </a:solidFill>
                      </a:tcPr>
                    </a:tc>
                    <a:extLst>
                      <a:ext uri="{0D108BD9-81ED-4DB2-BD59-A6C34878D82A}">
                        <a16:rowId xmlns:a16="http://schemas.microsoft.com/office/drawing/2014/main" val="10002"/>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5" name="表格 4">
                <a:extLst>
                  <a:ext uri="{FF2B5EF4-FFF2-40B4-BE49-F238E27FC236}">
                    <a16:creationId xmlns:a16="http://schemas.microsoft.com/office/drawing/2014/main" id="{28EC8E27-4671-4DA9-9CF6-B13C2F334725}"/>
                  </a:ext>
                </a:extLst>
              </p:cNvPr>
              <p:cNvGraphicFramePr>
                <a:graphicFrameLocks noGrp="1"/>
              </p:cNvGraphicFramePr>
              <p:nvPr>
                <p:extLst>
                  <p:ext uri="{D42A27DB-BD31-4B8C-83A1-F6EECF244321}">
                    <p14:modId xmlns:p14="http://schemas.microsoft.com/office/powerpoint/2010/main" val="966305362"/>
                  </p:ext>
                </p:extLst>
              </p:nvPr>
            </p:nvGraphicFramePr>
            <p:xfrm>
              <a:off x="5200809" y="2293579"/>
              <a:ext cx="1826175" cy="1476000"/>
            </p:xfrm>
            <a:graphic>
              <a:graphicData uri="http://schemas.openxmlformats.org/drawingml/2006/table">
                <a:tbl>
                  <a:tblPr firstRow="1" bandRow="1">
                    <a:tableStyleId>{5940675A-B579-460E-94D1-54222C63F5DA}</a:tableStyleId>
                  </a:tblPr>
                  <a:tblGrid>
                    <a:gridCol w="608725">
                      <a:extLst>
                        <a:ext uri="{9D8B030D-6E8A-4147-A177-3AD203B41FA5}">
                          <a16:colId xmlns:a16="http://schemas.microsoft.com/office/drawing/2014/main" val="20000"/>
                        </a:ext>
                      </a:extLst>
                    </a:gridCol>
                    <a:gridCol w="608725">
                      <a:extLst>
                        <a:ext uri="{9D8B030D-6E8A-4147-A177-3AD203B41FA5}">
                          <a16:colId xmlns:a16="http://schemas.microsoft.com/office/drawing/2014/main" val="20001"/>
                        </a:ext>
                      </a:extLst>
                    </a:gridCol>
                    <a:gridCol w="608725">
                      <a:extLst>
                        <a:ext uri="{9D8B030D-6E8A-4147-A177-3AD203B41FA5}">
                          <a16:colId xmlns:a16="http://schemas.microsoft.com/office/drawing/2014/main" val="20002"/>
                        </a:ext>
                      </a:extLst>
                    </a:gridCol>
                  </a:tblGrid>
                  <a:tr h="492000">
                    <a:tc>
                      <a:txBody>
                        <a:bodyPr/>
                        <a:lstStyle/>
                        <a:p>
                          <a:pPr algn="ctr"/>
                          <a:endParaRPr lang="zh-TW" altLang="en-US" sz="2000" b="0" dirty="0"/>
                        </a:p>
                      </a:txBody>
                      <a:tcPr anchor="ctr"/>
                    </a:tc>
                    <a:tc>
                      <a:txBody>
                        <a:bodyPr/>
                        <a:lstStyle/>
                        <a:p>
                          <a:pPr algn="ctr"/>
                          <a:endParaRPr lang="zh-TW" altLang="en-US" sz="2000" b="0" dirty="0"/>
                        </a:p>
                      </a:txBody>
                      <a:tcPr anchor="ctr"/>
                    </a:tc>
                    <a:tc>
                      <a:txBody>
                        <a:bodyPr/>
                        <a:lstStyle/>
                        <a:p>
                          <a:pPr algn="ctr"/>
                          <a:endParaRPr lang="zh-TW" altLang="en-US" sz="2000" b="0" dirty="0"/>
                        </a:p>
                      </a:txBody>
                      <a:tcPr anchor="ctr"/>
                    </a:tc>
                    <a:extLst>
                      <a:ext uri="{0D108BD9-81ED-4DB2-BD59-A6C34878D82A}">
                        <a16:rowId xmlns:a16="http://schemas.microsoft.com/office/drawing/2014/main" val="10000"/>
                      </a:ext>
                    </a:extLst>
                  </a:tr>
                  <a:tr h="49200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zh-TW" altLang="en-US" sz="2000" i="1" dirty="0" smtClean="0">
                                    <a:latin typeface="Cambria Math" panose="02040503050406030204" pitchFamily="18" charset="0"/>
                                  </a:rPr>
                                  <m:t>𝛼</m:t>
                                </m:r>
                              </m:oMath>
                            </m:oMathPara>
                          </a14:m>
                          <a:endParaRPr lang="zh-TW" altLang="en-US" sz="2000" dirty="0"/>
                        </a:p>
                      </a:txBody>
                      <a:tcPr anchor="ctr"/>
                    </a:tc>
                    <a:tc>
                      <a:txBody>
                        <a:bodyPr/>
                        <a:lstStyle/>
                        <a:p>
                          <a:pPr algn="ctr"/>
                          <a:endParaRPr lang="zh-TW" altLang="en-US" sz="2000" b="0" dirty="0"/>
                        </a:p>
                      </a:txBody>
                      <a:tcPr anchor="ctr"/>
                    </a:tc>
                    <a:tc>
                      <a:txBody>
                        <a:bodyPr/>
                        <a:lstStyle/>
                        <a:p>
                          <a:pPr algn="ctr"/>
                          <a:endParaRPr lang="zh-TW" altLang="en-US" sz="2000" b="0" dirty="0"/>
                        </a:p>
                      </a:txBody>
                      <a:tcPr anchor="ctr"/>
                    </a:tc>
                    <a:extLst>
                      <a:ext uri="{0D108BD9-81ED-4DB2-BD59-A6C34878D82A}">
                        <a16:rowId xmlns:a16="http://schemas.microsoft.com/office/drawing/2014/main" val="10001"/>
                      </a:ext>
                    </a:extLst>
                  </a:tr>
                  <a:tr h="492000">
                    <a:tc>
                      <a:txBody>
                        <a:bodyPr/>
                        <a:lstStyle/>
                        <a:p>
                          <a:pPr algn="ctr"/>
                          <a:endParaRPr lang="zh-TW" altLang="en-US" sz="2000" b="0" dirty="0"/>
                        </a:p>
                      </a:txBody>
                      <a:tcPr anchor="ctr"/>
                    </a:tc>
                    <a:tc>
                      <a:txBody>
                        <a:bodyPr/>
                        <a:lstStyle/>
                        <a:p>
                          <a:pPr algn="ctr"/>
                          <a:endParaRPr lang="zh-TW" altLang="en-US" sz="2000" b="0" dirty="0"/>
                        </a:p>
                      </a:txBody>
                      <a:tcPr anchor="ctr">
                        <a:solidFill>
                          <a:schemeClr val="bg1">
                            <a:lumMod val="65000"/>
                          </a:schemeClr>
                        </a:solidFill>
                      </a:tcPr>
                    </a:tc>
                    <a:tc>
                      <a:txBody>
                        <a:bodyPr/>
                        <a:lstStyle/>
                        <a:p>
                          <a:pPr algn="ctr"/>
                          <a:endParaRPr lang="zh-TW" altLang="en-US" sz="2000" b="0" dirty="0"/>
                        </a:p>
                      </a:txBody>
                      <a:tcPr anchor="ctr">
                        <a:solidFill>
                          <a:schemeClr val="bg1">
                            <a:lumMod val="65000"/>
                          </a:schemeClr>
                        </a:solidFill>
                      </a:tcPr>
                    </a:tc>
                    <a:extLst>
                      <a:ext uri="{0D108BD9-81ED-4DB2-BD59-A6C34878D82A}">
                        <a16:rowId xmlns:a16="http://schemas.microsoft.com/office/drawing/2014/main" val="10002"/>
                      </a:ext>
                    </a:extLst>
                  </a:tr>
                </a:tbl>
              </a:graphicData>
            </a:graphic>
          </p:graphicFrame>
        </mc:Choice>
        <mc:Fallback xmlns="">
          <p:graphicFrame>
            <p:nvGraphicFramePr>
              <p:cNvPr id="5" name="表格 4">
                <a:extLst>
                  <a:ext uri="{FF2B5EF4-FFF2-40B4-BE49-F238E27FC236}">
                    <a16:creationId xmlns:a16="http://schemas.microsoft.com/office/drawing/2014/main" id="{28EC8E27-4671-4DA9-9CF6-B13C2F334725}"/>
                  </a:ext>
                </a:extLst>
              </p:cNvPr>
              <p:cNvGraphicFramePr>
                <a:graphicFrameLocks noGrp="1"/>
              </p:cNvGraphicFramePr>
              <p:nvPr>
                <p:extLst>
                  <p:ext uri="{D42A27DB-BD31-4B8C-83A1-F6EECF244321}">
                    <p14:modId xmlns:p14="http://schemas.microsoft.com/office/powerpoint/2010/main" val="966305362"/>
                  </p:ext>
                </p:extLst>
              </p:nvPr>
            </p:nvGraphicFramePr>
            <p:xfrm>
              <a:off x="5200809" y="2293579"/>
              <a:ext cx="1826175" cy="1476000"/>
            </p:xfrm>
            <a:graphic>
              <a:graphicData uri="http://schemas.openxmlformats.org/drawingml/2006/table">
                <a:tbl>
                  <a:tblPr firstRow="1" bandRow="1">
                    <a:tableStyleId>{5940675A-B579-460E-94D1-54222C63F5DA}</a:tableStyleId>
                  </a:tblPr>
                  <a:tblGrid>
                    <a:gridCol w="608725">
                      <a:extLst>
                        <a:ext uri="{9D8B030D-6E8A-4147-A177-3AD203B41FA5}">
                          <a16:colId xmlns:a16="http://schemas.microsoft.com/office/drawing/2014/main" val="20000"/>
                        </a:ext>
                      </a:extLst>
                    </a:gridCol>
                    <a:gridCol w="608725">
                      <a:extLst>
                        <a:ext uri="{9D8B030D-6E8A-4147-A177-3AD203B41FA5}">
                          <a16:colId xmlns:a16="http://schemas.microsoft.com/office/drawing/2014/main" val="20001"/>
                        </a:ext>
                      </a:extLst>
                    </a:gridCol>
                    <a:gridCol w="608725">
                      <a:extLst>
                        <a:ext uri="{9D8B030D-6E8A-4147-A177-3AD203B41FA5}">
                          <a16:colId xmlns:a16="http://schemas.microsoft.com/office/drawing/2014/main" val="20002"/>
                        </a:ext>
                      </a:extLst>
                    </a:gridCol>
                  </a:tblGrid>
                  <a:tr h="492000">
                    <a:tc>
                      <a:txBody>
                        <a:bodyPr/>
                        <a:lstStyle/>
                        <a:p>
                          <a:pPr algn="ctr"/>
                          <a:endParaRPr lang="zh-TW" altLang="en-US" sz="2000" b="0" dirty="0"/>
                        </a:p>
                      </a:txBody>
                      <a:tcPr anchor="ctr"/>
                    </a:tc>
                    <a:tc>
                      <a:txBody>
                        <a:bodyPr/>
                        <a:lstStyle/>
                        <a:p>
                          <a:pPr algn="ctr"/>
                          <a:endParaRPr lang="zh-TW" altLang="en-US" sz="2000" b="0" dirty="0"/>
                        </a:p>
                      </a:txBody>
                      <a:tcPr anchor="ctr"/>
                    </a:tc>
                    <a:tc>
                      <a:txBody>
                        <a:bodyPr/>
                        <a:lstStyle/>
                        <a:p>
                          <a:pPr algn="ctr"/>
                          <a:endParaRPr lang="zh-TW" altLang="en-US" sz="2000" b="0" dirty="0"/>
                        </a:p>
                      </a:txBody>
                      <a:tcPr anchor="ctr"/>
                    </a:tc>
                    <a:extLst>
                      <a:ext uri="{0D108BD9-81ED-4DB2-BD59-A6C34878D82A}">
                        <a16:rowId xmlns:a16="http://schemas.microsoft.com/office/drawing/2014/main" val="10000"/>
                      </a:ext>
                    </a:extLst>
                  </a:tr>
                  <a:tr h="492000">
                    <a:tc>
                      <a:txBody>
                        <a:bodyPr/>
                        <a:lstStyle/>
                        <a:p>
                          <a:endParaRPr lang="zh-TW"/>
                        </a:p>
                      </a:txBody>
                      <a:tcPr anchor="ctr">
                        <a:blipFill>
                          <a:blip r:embed="rId4"/>
                          <a:stretch>
                            <a:fillRect l="-1000" t="-101235" r="-202000" b="-102469"/>
                          </a:stretch>
                        </a:blipFill>
                      </a:tcPr>
                    </a:tc>
                    <a:tc>
                      <a:txBody>
                        <a:bodyPr/>
                        <a:lstStyle/>
                        <a:p>
                          <a:pPr algn="ctr"/>
                          <a:endParaRPr lang="zh-TW" altLang="en-US" sz="2000" b="0" dirty="0"/>
                        </a:p>
                      </a:txBody>
                      <a:tcPr anchor="ctr"/>
                    </a:tc>
                    <a:tc>
                      <a:txBody>
                        <a:bodyPr/>
                        <a:lstStyle/>
                        <a:p>
                          <a:pPr algn="ctr"/>
                          <a:endParaRPr lang="zh-TW" altLang="en-US" sz="2000" b="0" dirty="0"/>
                        </a:p>
                      </a:txBody>
                      <a:tcPr anchor="ctr"/>
                    </a:tc>
                    <a:extLst>
                      <a:ext uri="{0D108BD9-81ED-4DB2-BD59-A6C34878D82A}">
                        <a16:rowId xmlns:a16="http://schemas.microsoft.com/office/drawing/2014/main" val="10001"/>
                      </a:ext>
                    </a:extLst>
                  </a:tr>
                  <a:tr h="492000">
                    <a:tc>
                      <a:txBody>
                        <a:bodyPr/>
                        <a:lstStyle/>
                        <a:p>
                          <a:pPr algn="ctr"/>
                          <a:endParaRPr lang="zh-TW" altLang="en-US" sz="2000" b="0" dirty="0"/>
                        </a:p>
                      </a:txBody>
                      <a:tcPr anchor="ctr"/>
                    </a:tc>
                    <a:tc>
                      <a:txBody>
                        <a:bodyPr/>
                        <a:lstStyle/>
                        <a:p>
                          <a:pPr algn="ctr"/>
                          <a:endParaRPr lang="zh-TW" altLang="en-US" sz="2000" b="0" dirty="0"/>
                        </a:p>
                      </a:txBody>
                      <a:tcPr anchor="ctr">
                        <a:solidFill>
                          <a:schemeClr val="bg1">
                            <a:lumMod val="65000"/>
                          </a:schemeClr>
                        </a:solidFill>
                      </a:tcPr>
                    </a:tc>
                    <a:tc>
                      <a:txBody>
                        <a:bodyPr/>
                        <a:lstStyle/>
                        <a:p>
                          <a:pPr algn="ctr"/>
                          <a:endParaRPr lang="zh-TW" altLang="en-US" sz="2000" b="0" dirty="0"/>
                        </a:p>
                      </a:txBody>
                      <a:tcPr anchor="ctr">
                        <a:solidFill>
                          <a:schemeClr val="bg1">
                            <a:lumMod val="65000"/>
                          </a:schemeClr>
                        </a:solidFill>
                      </a:tcPr>
                    </a:tc>
                    <a:extLst>
                      <a:ext uri="{0D108BD9-81ED-4DB2-BD59-A6C34878D82A}">
                        <a16:rowId xmlns:a16="http://schemas.microsoft.com/office/drawing/2014/main" val="10002"/>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6" name="表格 5">
                <a:extLst>
                  <a:ext uri="{FF2B5EF4-FFF2-40B4-BE49-F238E27FC236}">
                    <a16:creationId xmlns:a16="http://schemas.microsoft.com/office/drawing/2014/main" id="{E8EA1E3E-ECC6-4874-8836-648074FC585B}"/>
                  </a:ext>
                </a:extLst>
              </p:cNvPr>
              <p:cNvGraphicFramePr>
                <a:graphicFrameLocks noGrp="1"/>
              </p:cNvGraphicFramePr>
              <p:nvPr>
                <p:extLst>
                  <p:ext uri="{D42A27DB-BD31-4B8C-83A1-F6EECF244321}">
                    <p14:modId xmlns:p14="http://schemas.microsoft.com/office/powerpoint/2010/main" val="608235651"/>
                  </p:ext>
                </p:extLst>
              </p:nvPr>
            </p:nvGraphicFramePr>
            <p:xfrm>
              <a:off x="7706439" y="2305473"/>
              <a:ext cx="1826175" cy="1476000"/>
            </p:xfrm>
            <a:graphic>
              <a:graphicData uri="http://schemas.openxmlformats.org/drawingml/2006/table">
                <a:tbl>
                  <a:tblPr firstRow="1" bandRow="1">
                    <a:tableStyleId>{5940675A-B579-460E-94D1-54222C63F5DA}</a:tableStyleId>
                  </a:tblPr>
                  <a:tblGrid>
                    <a:gridCol w="608725">
                      <a:extLst>
                        <a:ext uri="{9D8B030D-6E8A-4147-A177-3AD203B41FA5}">
                          <a16:colId xmlns:a16="http://schemas.microsoft.com/office/drawing/2014/main" val="20000"/>
                        </a:ext>
                      </a:extLst>
                    </a:gridCol>
                    <a:gridCol w="608725">
                      <a:extLst>
                        <a:ext uri="{9D8B030D-6E8A-4147-A177-3AD203B41FA5}">
                          <a16:colId xmlns:a16="http://schemas.microsoft.com/office/drawing/2014/main" val="20001"/>
                        </a:ext>
                      </a:extLst>
                    </a:gridCol>
                    <a:gridCol w="608725">
                      <a:extLst>
                        <a:ext uri="{9D8B030D-6E8A-4147-A177-3AD203B41FA5}">
                          <a16:colId xmlns:a16="http://schemas.microsoft.com/office/drawing/2014/main" val="20002"/>
                        </a:ext>
                      </a:extLst>
                    </a:gridCol>
                  </a:tblGrid>
                  <a:tr h="492000">
                    <a:tc>
                      <a:txBody>
                        <a:bodyPr/>
                        <a:lstStyle/>
                        <a:p>
                          <a:pPr algn="ctr"/>
                          <a:endParaRPr lang="zh-TW" altLang="en-US" sz="2000" b="0" dirty="0"/>
                        </a:p>
                      </a:txBody>
                      <a:tcPr marL="115949" marR="115949" marT="57975" marB="57975" anchor="ct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zh-TW" altLang="en-US" sz="2000" dirty="0"/>
                        </a:p>
                      </a:txBody>
                      <a:tcPr marL="115949" marR="115949" marT="57975" marB="57975" anchor="ctr"/>
                    </a:tc>
                    <a:tc>
                      <a:txBody>
                        <a:bodyPr/>
                        <a:lstStyle/>
                        <a:p>
                          <a:pPr algn="ctr"/>
                          <a:endParaRPr lang="zh-TW" altLang="en-US" sz="2000" b="0" dirty="0"/>
                        </a:p>
                      </a:txBody>
                      <a:tcPr marL="115949" marR="115949" marT="57975" marB="57975" anchor="ctr"/>
                    </a:tc>
                    <a:extLst>
                      <a:ext uri="{0D108BD9-81ED-4DB2-BD59-A6C34878D82A}">
                        <a16:rowId xmlns:a16="http://schemas.microsoft.com/office/drawing/2014/main" val="10000"/>
                      </a:ext>
                    </a:extLst>
                  </a:tr>
                  <a:tr h="49200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zh-TW" altLang="en-US" sz="2000" i="1" dirty="0" smtClean="0">
                                    <a:latin typeface="Cambria Math" panose="02040503050406030204" pitchFamily="18" charset="0"/>
                                  </a:rPr>
                                  <m:t>𝛼</m:t>
                                </m:r>
                              </m:oMath>
                            </m:oMathPara>
                          </a14:m>
                          <a:endParaRPr lang="zh-TW" altLang="en-US" sz="2000" dirty="0"/>
                        </a:p>
                      </a:txBody>
                      <a:tcPr marL="115949" marR="115949" marT="57975" marB="57975" anchor="ctr"/>
                    </a:tc>
                    <a:tc>
                      <a:txBody>
                        <a:bodyPr/>
                        <a:lstStyle/>
                        <a:p>
                          <a:pPr algn="ctr"/>
                          <a:endParaRPr lang="zh-TW" altLang="en-US" sz="2000" b="0" dirty="0"/>
                        </a:p>
                      </a:txBody>
                      <a:tcPr marL="115949" marR="115949" marT="57975" marB="57975" anchor="ctr"/>
                    </a:tc>
                    <a:tc>
                      <a:txBody>
                        <a:bodyPr/>
                        <a:lstStyle/>
                        <a:p>
                          <a:pPr algn="ctr"/>
                          <a:endParaRPr lang="zh-TW" altLang="en-US" sz="2000" b="0" dirty="0"/>
                        </a:p>
                      </a:txBody>
                      <a:tcPr marL="115949" marR="115949" marT="57975" marB="57975" anchor="ctr">
                        <a:solidFill>
                          <a:schemeClr val="bg1">
                            <a:lumMod val="65000"/>
                          </a:schemeClr>
                        </a:solidFill>
                      </a:tcPr>
                    </a:tc>
                    <a:extLst>
                      <a:ext uri="{0D108BD9-81ED-4DB2-BD59-A6C34878D82A}">
                        <a16:rowId xmlns:a16="http://schemas.microsoft.com/office/drawing/2014/main" val="10001"/>
                      </a:ext>
                    </a:extLst>
                  </a:tr>
                  <a:tr h="492000">
                    <a:tc>
                      <a:txBody>
                        <a:bodyPr/>
                        <a:lstStyle/>
                        <a:p>
                          <a:pPr algn="ctr"/>
                          <a:endParaRPr lang="zh-TW" altLang="en-US" sz="2000" b="0" dirty="0"/>
                        </a:p>
                      </a:txBody>
                      <a:tcPr marL="115949" marR="115949" marT="57975" marB="57975" anchor="ctr"/>
                    </a:tc>
                    <a:tc>
                      <a:txBody>
                        <a:bodyPr/>
                        <a:lstStyle/>
                        <a:p>
                          <a:pPr algn="ctr"/>
                          <a:endParaRPr lang="zh-TW" altLang="en-US" sz="2000" b="0" dirty="0"/>
                        </a:p>
                      </a:txBody>
                      <a:tcPr marL="115949" marR="115949" marT="57975" marB="57975" anchor="ctr"/>
                    </a:tc>
                    <a:tc>
                      <a:txBody>
                        <a:bodyPr/>
                        <a:lstStyle/>
                        <a:p>
                          <a:pPr algn="ctr"/>
                          <a:endParaRPr lang="zh-TW" altLang="en-US" sz="2000" b="0" dirty="0"/>
                        </a:p>
                      </a:txBody>
                      <a:tcPr marL="115949" marR="115949" marT="57975" marB="57975" anchor="ctr">
                        <a:solidFill>
                          <a:schemeClr val="bg1"/>
                        </a:solidFill>
                      </a:tcPr>
                    </a:tc>
                    <a:extLst>
                      <a:ext uri="{0D108BD9-81ED-4DB2-BD59-A6C34878D82A}">
                        <a16:rowId xmlns:a16="http://schemas.microsoft.com/office/drawing/2014/main" val="10002"/>
                      </a:ext>
                    </a:extLst>
                  </a:tr>
                </a:tbl>
              </a:graphicData>
            </a:graphic>
          </p:graphicFrame>
        </mc:Choice>
        <mc:Fallback xmlns="">
          <p:graphicFrame>
            <p:nvGraphicFramePr>
              <p:cNvPr id="6" name="表格 5">
                <a:extLst>
                  <a:ext uri="{FF2B5EF4-FFF2-40B4-BE49-F238E27FC236}">
                    <a16:creationId xmlns:a16="http://schemas.microsoft.com/office/drawing/2014/main" id="{E8EA1E3E-ECC6-4874-8836-648074FC585B}"/>
                  </a:ext>
                </a:extLst>
              </p:cNvPr>
              <p:cNvGraphicFramePr>
                <a:graphicFrameLocks noGrp="1"/>
              </p:cNvGraphicFramePr>
              <p:nvPr>
                <p:extLst>
                  <p:ext uri="{D42A27DB-BD31-4B8C-83A1-F6EECF244321}">
                    <p14:modId xmlns:p14="http://schemas.microsoft.com/office/powerpoint/2010/main" val="608235651"/>
                  </p:ext>
                </p:extLst>
              </p:nvPr>
            </p:nvGraphicFramePr>
            <p:xfrm>
              <a:off x="7706439" y="2305473"/>
              <a:ext cx="1826175" cy="1476000"/>
            </p:xfrm>
            <a:graphic>
              <a:graphicData uri="http://schemas.openxmlformats.org/drawingml/2006/table">
                <a:tbl>
                  <a:tblPr firstRow="1" bandRow="1">
                    <a:tableStyleId>{5940675A-B579-460E-94D1-54222C63F5DA}</a:tableStyleId>
                  </a:tblPr>
                  <a:tblGrid>
                    <a:gridCol w="608725">
                      <a:extLst>
                        <a:ext uri="{9D8B030D-6E8A-4147-A177-3AD203B41FA5}">
                          <a16:colId xmlns:a16="http://schemas.microsoft.com/office/drawing/2014/main" val="20000"/>
                        </a:ext>
                      </a:extLst>
                    </a:gridCol>
                    <a:gridCol w="608725">
                      <a:extLst>
                        <a:ext uri="{9D8B030D-6E8A-4147-A177-3AD203B41FA5}">
                          <a16:colId xmlns:a16="http://schemas.microsoft.com/office/drawing/2014/main" val="20001"/>
                        </a:ext>
                      </a:extLst>
                    </a:gridCol>
                    <a:gridCol w="608725">
                      <a:extLst>
                        <a:ext uri="{9D8B030D-6E8A-4147-A177-3AD203B41FA5}">
                          <a16:colId xmlns:a16="http://schemas.microsoft.com/office/drawing/2014/main" val="20002"/>
                        </a:ext>
                      </a:extLst>
                    </a:gridCol>
                  </a:tblGrid>
                  <a:tr h="492000">
                    <a:tc>
                      <a:txBody>
                        <a:bodyPr/>
                        <a:lstStyle/>
                        <a:p>
                          <a:pPr algn="ctr"/>
                          <a:endParaRPr lang="zh-TW" altLang="en-US" sz="2000" b="0" dirty="0"/>
                        </a:p>
                      </a:txBody>
                      <a:tcPr marL="115949" marR="115949" marT="57975" marB="57975" anchor="ct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zh-TW" altLang="en-US" sz="2000" dirty="0"/>
                        </a:p>
                      </a:txBody>
                      <a:tcPr marL="115949" marR="115949" marT="57975" marB="57975" anchor="ctr"/>
                    </a:tc>
                    <a:tc>
                      <a:txBody>
                        <a:bodyPr/>
                        <a:lstStyle/>
                        <a:p>
                          <a:pPr algn="ctr"/>
                          <a:endParaRPr lang="zh-TW" altLang="en-US" sz="2000" b="0" dirty="0"/>
                        </a:p>
                      </a:txBody>
                      <a:tcPr marL="115949" marR="115949" marT="57975" marB="57975" anchor="ctr"/>
                    </a:tc>
                    <a:extLst>
                      <a:ext uri="{0D108BD9-81ED-4DB2-BD59-A6C34878D82A}">
                        <a16:rowId xmlns:a16="http://schemas.microsoft.com/office/drawing/2014/main" val="10000"/>
                      </a:ext>
                    </a:extLst>
                  </a:tr>
                  <a:tr h="492000">
                    <a:tc>
                      <a:txBody>
                        <a:bodyPr/>
                        <a:lstStyle/>
                        <a:p>
                          <a:endParaRPr lang="zh-TW"/>
                        </a:p>
                      </a:txBody>
                      <a:tcPr marL="115949" marR="115949" marT="57975" marB="57975" anchor="ctr">
                        <a:blipFill>
                          <a:blip r:embed="rId5"/>
                          <a:stretch>
                            <a:fillRect l="-1000" t="-101235" r="-202000" b="-102469"/>
                          </a:stretch>
                        </a:blipFill>
                      </a:tcPr>
                    </a:tc>
                    <a:tc>
                      <a:txBody>
                        <a:bodyPr/>
                        <a:lstStyle/>
                        <a:p>
                          <a:pPr algn="ctr"/>
                          <a:endParaRPr lang="zh-TW" altLang="en-US" sz="2000" b="0" dirty="0"/>
                        </a:p>
                      </a:txBody>
                      <a:tcPr marL="115949" marR="115949" marT="57975" marB="57975" anchor="ctr"/>
                    </a:tc>
                    <a:tc>
                      <a:txBody>
                        <a:bodyPr/>
                        <a:lstStyle/>
                        <a:p>
                          <a:pPr algn="ctr"/>
                          <a:endParaRPr lang="zh-TW" altLang="en-US" sz="2000" b="0" dirty="0"/>
                        </a:p>
                      </a:txBody>
                      <a:tcPr marL="115949" marR="115949" marT="57975" marB="57975" anchor="ctr">
                        <a:solidFill>
                          <a:schemeClr val="bg1">
                            <a:lumMod val="65000"/>
                          </a:schemeClr>
                        </a:solidFill>
                      </a:tcPr>
                    </a:tc>
                    <a:extLst>
                      <a:ext uri="{0D108BD9-81ED-4DB2-BD59-A6C34878D82A}">
                        <a16:rowId xmlns:a16="http://schemas.microsoft.com/office/drawing/2014/main" val="10001"/>
                      </a:ext>
                    </a:extLst>
                  </a:tr>
                  <a:tr h="492000">
                    <a:tc>
                      <a:txBody>
                        <a:bodyPr/>
                        <a:lstStyle/>
                        <a:p>
                          <a:pPr algn="ctr"/>
                          <a:endParaRPr lang="zh-TW" altLang="en-US" sz="2000" b="0" dirty="0"/>
                        </a:p>
                      </a:txBody>
                      <a:tcPr marL="115949" marR="115949" marT="57975" marB="57975" anchor="ctr"/>
                    </a:tc>
                    <a:tc>
                      <a:txBody>
                        <a:bodyPr/>
                        <a:lstStyle/>
                        <a:p>
                          <a:pPr algn="ctr"/>
                          <a:endParaRPr lang="zh-TW" altLang="en-US" sz="2000" b="0" dirty="0"/>
                        </a:p>
                      </a:txBody>
                      <a:tcPr marL="115949" marR="115949" marT="57975" marB="57975" anchor="ctr"/>
                    </a:tc>
                    <a:tc>
                      <a:txBody>
                        <a:bodyPr/>
                        <a:lstStyle/>
                        <a:p>
                          <a:pPr algn="ctr"/>
                          <a:endParaRPr lang="zh-TW" altLang="en-US" sz="2000" b="0" dirty="0"/>
                        </a:p>
                      </a:txBody>
                      <a:tcPr marL="115949" marR="115949" marT="57975" marB="57975" anchor="ctr">
                        <a:solidFill>
                          <a:schemeClr val="bg1"/>
                        </a:solidFill>
                      </a:tcPr>
                    </a:tc>
                    <a:extLst>
                      <a:ext uri="{0D108BD9-81ED-4DB2-BD59-A6C34878D82A}">
                        <a16:rowId xmlns:a16="http://schemas.microsoft.com/office/drawing/2014/main" val="10002"/>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7" name="表格 6">
                <a:extLst>
                  <a:ext uri="{FF2B5EF4-FFF2-40B4-BE49-F238E27FC236}">
                    <a16:creationId xmlns:a16="http://schemas.microsoft.com/office/drawing/2014/main" id="{0D8CF584-B8D4-4EF9-BDCA-D98EF143808D}"/>
                  </a:ext>
                </a:extLst>
              </p:cNvPr>
              <p:cNvGraphicFramePr>
                <a:graphicFrameLocks noGrp="1"/>
              </p:cNvGraphicFramePr>
              <p:nvPr>
                <p:extLst>
                  <p:ext uri="{D42A27DB-BD31-4B8C-83A1-F6EECF244321}">
                    <p14:modId xmlns:p14="http://schemas.microsoft.com/office/powerpoint/2010/main" val="3108946799"/>
                  </p:ext>
                </p:extLst>
              </p:nvPr>
            </p:nvGraphicFramePr>
            <p:xfrm>
              <a:off x="9776054" y="2305473"/>
              <a:ext cx="1826175" cy="1476000"/>
            </p:xfrm>
            <a:graphic>
              <a:graphicData uri="http://schemas.openxmlformats.org/drawingml/2006/table">
                <a:tbl>
                  <a:tblPr firstRow="1" bandRow="1">
                    <a:tableStyleId>{5940675A-B579-460E-94D1-54222C63F5DA}</a:tableStyleId>
                  </a:tblPr>
                  <a:tblGrid>
                    <a:gridCol w="608725">
                      <a:extLst>
                        <a:ext uri="{9D8B030D-6E8A-4147-A177-3AD203B41FA5}">
                          <a16:colId xmlns:a16="http://schemas.microsoft.com/office/drawing/2014/main" val="20000"/>
                        </a:ext>
                      </a:extLst>
                    </a:gridCol>
                    <a:gridCol w="608725">
                      <a:extLst>
                        <a:ext uri="{9D8B030D-6E8A-4147-A177-3AD203B41FA5}">
                          <a16:colId xmlns:a16="http://schemas.microsoft.com/office/drawing/2014/main" val="20001"/>
                        </a:ext>
                      </a:extLst>
                    </a:gridCol>
                    <a:gridCol w="608725">
                      <a:extLst>
                        <a:ext uri="{9D8B030D-6E8A-4147-A177-3AD203B41FA5}">
                          <a16:colId xmlns:a16="http://schemas.microsoft.com/office/drawing/2014/main" val="20002"/>
                        </a:ext>
                      </a:extLst>
                    </a:gridCol>
                  </a:tblGrid>
                  <a:tr h="49200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zh-TW" altLang="en-US" sz="2000" i="1" dirty="0" smtClean="0">
                                    <a:latin typeface="Cambria Math" panose="02040503050406030204" pitchFamily="18" charset="0"/>
                                  </a:rPr>
                                  <m:t>𝛼</m:t>
                                </m:r>
                              </m:oMath>
                            </m:oMathPara>
                          </a14:m>
                          <a:endParaRPr lang="zh-TW" altLang="en-US" sz="2000" dirty="0"/>
                        </a:p>
                      </a:txBody>
                      <a:tcPr anchor="ctr"/>
                    </a:tc>
                    <a:tc>
                      <a:txBody>
                        <a:bodyPr/>
                        <a:lstStyle/>
                        <a:p>
                          <a:pPr algn="ctr"/>
                          <a:endParaRPr lang="zh-TW" altLang="en-US" sz="2000" b="0" dirty="0"/>
                        </a:p>
                      </a:txBody>
                      <a:tcPr anchor="ctr">
                        <a:solidFill>
                          <a:schemeClr val="bg1">
                            <a:lumMod val="65000"/>
                          </a:schemeClr>
                        </a:solidFill>
                      </a:tcPr>
                    </a:tc>
                    <a:tc>
                      <a:txBody>
                        <a:bodyPr/>
                        <a:lstStyle/>
                        <a:p>
                          <a:pPr algn="ctr"/>
                          <a:endParaRPr lang="zh-TW" altLang="en-US" sz="2000" b="0" dirty="0"/>
                        </a:p>
                      </a:txBody>
                      <a:tcPr anchor="ctr">
                        <a:solidFill>
                          <a:schemeClr val="bg1">
                            <a:lumMod val="65000"/>
                          </a:schemeClr>
                        </a:solidFill>
                      </a:tcPr>
                    </a:tc>
                    <a:extLst>
                      <a:ext uri="{0D108BD9-81ED-4DB2-BD59-A6C34878D82A}">
                        <a16:rowId xmlns:a16="http://schemas.microsoft.com/office/drawing/2014/main" val="10000"/>
                      </a:ext>
                    </a:extLst>
                  </a:tr>
                  <a:tr h="49200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zh-TW" altLang="en-US" sz="2000" dirty="0"/>
                        </a:p>
                      </a:txBody>
                      <a:tcPr anchor="ctr"/>
                    </a:tc>
                    <a:tc>
                      <a:txBody>
                        <a:bodyPr/>
                        <a:lstStyle/>
                        <a:p>
                          <a:pPr algn="ctr"/>
                          <a:endParaRPr lang="zh-TW" altLang="en-US" sz="2000" b="0" dirty="0"/>
                        </a:p>
                      </a:txBody>
                      <a:tcPr anchor="ctr"/>
                    </a:tc>
                    <a:tc>
                      <a:txBody>
                        <a:bodyPr/>
                        <a:lstStyle/>
                        <a:p>
                          <a:pPr algn="ctr"/>
                          <a:endParaRPr lang="zh-TW" altLang="en-US" sz="2000" b="0" dirty="0"/>
                        </a:p>
                      </a:txBody>
                      <a:tcPr anchor="ctr"/>
                    </a:tc>
                    <a:extLst>
                      <a:ext uri="{0D108BD9-81ED-4DB2-BD59-A6C34878D82A}">
                        <a16:rowId xmlns:a16="http://schemas.microsoft.com/office/drawing/2014/main" val="10001"/>
                      </a:ext>
                    </a:extLst>
                  </a:tr>
                  <a:tr h="49200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zh-TW" altLang="en-US" sz="2000" dirty="0"/>
                        </a:p>
                      </a:txBody>
                      <a:tcPr anchor="ctr"/>
                    </a:tc>
                    <a:tc>
                      <a:txBody>
                        <a:bodyPr/>
                        <a:lstStyle/>
                        <a:p>
                          <a:endParaRPr lang="zh-TW" altLang="en-US" dirty="0"/>
                        </a:p>
                      </a:txBody>
                      <a:tcPr anchor="ctr">
                        <a:solidFill>
                          <a:schemeClr val="bg1"/>
                        </a:solidFill>
                      </a:tcPr>
                    </a:tc>
                    <a:tc>
                      <a:txBody>
                        <a:bodyPr/>
                        <a:lstStyle/>
                        <a:p>
                          <a:pPr algn="ctr"/>
                          <a:endParaRPr lang="zh-TW" altLang="en-US" sz="2000" b="0" dirty="0"/>
                        </a:p>
                      </a:txBody>
                      <a:tcPr anchor="ctr">
                        <a:solidFill>
                          <a:schemeClr val="bg1"/>
                        </a:solidFill>
                      </a:tcPr>
                    </a:tc>
                    <a:extLst>
                      <a:ext uri="{0D108BD9-81ED-4DB2-BD59-A6C34878D82A}">
                        <a16:rowId xmlns:a16="http://schemas.microsoft.com/office/drawing/2014/main" val="10002"/>
                      </a:ext>
                    </a:extLst>
                  </a:tr>
                </a:tbl>
              </a:graphicData>
            </a:graphic>
          </p:graphicFrame>
        </mc:Choice>
        <mc:Fallback xmlns="">
          <p:graphicFrame>
            <p:nvGraphicFramePr>
              <p:cNvPr id="7" name="表格 6">
                <a:extLst>
                  <a:ext uri="{FF2B5EF4-FFF2-40B4-BE49-F238E27FC236}">
                    <a16:creationId xmlns:a16="http://schemas.microsoft.com/office/drawing/2014/main" id="{0D8CF584-B8D4-4EF9-BDCA-D98EF143808D}"/>
                  </a:ext>
                </a:extLst>
              </p:cNvPr>
              <p:cNvGraphicFramePr>
                <a:graphicFrameLocks noGrp="1"/>
              </p:cNvGraphicFramePr>
              <p:nvPr>
                <p:extLst>
                  <p:ext uri="{D42A27DB-BD31-4B8C-83A1-F6EECF244321}">
                    <p14:modId xmlns:p14="http://schemas.microsoft.com/office/powerpoint/2010/main" val="3108946799"/>
                  </p:ext>
                </p:extLst>
              </p:nvPr>
            </p:nvGraphicFramePr>
            <p:xfrm>
              <a:off x="9776054" y="2305473"/>
              <a:ext cx="1826175" cy="1476000"/>
            </p:xfrm>
            <a:graphic>
              <a:graphicData uri="http://schemas.openxmlformats.org/drawingml/2006/table">
                <a:tbl>
                  <a:tblPr firstRow="1" bandRow="1">
                    <a:tableStyleId>{5940675A-B579-460E-94D1-54222C63F5DA}</a:tableStyleId>
                  </a:tblPr>
                  <a:tblGrid>
                    <a:gridCol w="608725">
                      <a:extLst>
                        <a:ext uri="{9D8B030D-6E8A-4147-A177-3AD203B41FA5}">
                          <a16:colId xmlns:a16="http://schemas.microsoft.com/office/drawing/2014/main" val="20000"/>
                        </a:ext>
                      </a:extLst>
                    </a:gridCol>
                    <a:gridCol w="608725">
                      <a:extLst>
                        <a:ext uri="{9D8B030D-6E8A-4147-A177-3AD203B41FA5}">
                          <a16:colId xmlns:a16="http://schemas.microsoft.com/office/drawing/2014/main" val="20001"/>
                        </a:ext>
                      </a:extLst>
                    </a:gridCol>
                    <a:gridCol w="608725">
                      <a:extLst>
                        <a:ext uri="{9D8B030D-6E8A-4147-A177-3AD203B41FA5}">
                          <a16:colId xmlns:a16="http://schemas.microsoft.com/office/drawing/2014/main" val="20002"/>
                        </a:ext>
                      </a:extLst>
                    </a:gridCol>
                  </a:tblGrid>
                  <a:tr h="492000">
                    <a:tc>
                      <a:txBody>
                        <a:bodyPr/>
                        <a:lstStyle/>
                        <a:p>
                          <a:endParaRPr lang="zh-TW"/>
                        </a:p>
                      </a:txBody>
                      <a:tcPr anchor="ctr">
                        <a:blipFill>
                          <a:blip r:embed="rId6"/>
                          <a:stretch>
                            <a:fillRect l="-1000" t="-1235" r="-203000" b="-202469"/>
                          </a:stretch>
                        </a:blipFill>
                      </a:tcPr>
                    </a:tc>
                    <a:tc>
                      <a:txBody>
                        <a:bodyPr/>
                        <a:lstStyle/>
                        <a:p>
                          <a:pPr algn="ctr"/>
                          <a:endParaRPr lang="zh-TW" altLang="en-US" sz="2000" b="0" dirty="0"/>
                        </a:p>
                      </a:txBody>
                      <a:tcPr anchor="ctr">
                        <a:solidFill>
                          <a:schemeClr val="bg1">
                            <a:lumMod val="65000"/>
                          </a:schemeClr>
                        </a:solidFill>
                      </a:tcPr>
                    </a:tc>
                    <a:tc>
                      <a:txBody>
                        <a:bodyPr/>
                        <a:lstStyle/>
                        <a:p>
                          <a:pPr algn="ctr"/>
                          <a:endParaRPr lang="zh-TW" altLang="en-US" sz="2000" b="0" dirty="0"/>
                        </a:p>
                      </a:txBody>
                      <a:tcPr anchor="ctr">
                        <a:solidFill>
                          <a:schemeClr val="bg1">
                            <a:lumMod val="65000"/>
                          </a:schemeClr>
                        </a:solidFill>
                      </a:tcPr>
                    </a:tc>
                    <a:extLst>
                      <a:ext uri="{0D108BD9-81ED-4DB2-BD59-A6C34878D82A}">
                        <a16:rowId xmlns:a16="http://schemas.microsoft.com/office/drawing/2014/main" val="10000"/>
                      </a:ext>
                    </a:extLst>
                  </a:tr>
                  <a:tr h="49200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zh-TW" altLang="en-US" sz="2000" dirty="0"/>
                        </a:p>
                      </a:txBody>
                      <a:tcPr anchor="ctr"/>
                    </a:tc>
                    <a:tc>
                      <a:txBody>
                        <a:bodyPr/>
                        <a:lstStyle/>
                        <a:p>
                          <a:pPr algn="ctr"/>
                          <a:endParaRPr lang="zh-TW" altLang="en-US" sz="2000" b="0" dirty="0"/>
                        </a:p>
                      </a:txBody>
                      <a:tcPr anchor="ctr"/>
                    </a:tc>
                    <a:tc>
                      <a:txBody>
                        <a:bodyPr/>
                        <a:lstStyle/>
                        <a:p>
                          <a:pPr algn="ctr"/>
                          <a:endParaRPr lang="zh-TW" altLang="en-US" sz="2000" b="0" dirty="0"/>
                        </a:p>
                      </a:txBody>
                      <a:tcPr anchor="ctr"/>
                    </a:tc>
                    <a:extLst>
                      <a:ext uri="{0D108BD9-81ED-4DB2-BD59-A6C34878D82A}">
                        <a16:rowId xmlns:a16="http://schemas.microsoft.com/office/drawing/2014/main" val="10001"/>
                      </a:ext>
                    </a:extLst>
                  </a:tr>
                  <a:tr h="49200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endParaRPr lang="zh-TW" altLang="en-US" sz="2000" dirty="0"/>
                        </a:p>
                      </a:txBody>
                      <a:tcPr anchor="ctr"/>
                    </a:tc>
                    <a:tc>
                      <a:txBody>
                        <a:bodyPr/>
                        <a:lstStyle/>
                        <a:p>
                          <a:endParaRPr lang="zh-TW" altLang="en-US" dirty="0"/>
                        </a:p>
                      </a:txBody>
                      <a:tcPr anchor="ctr">
                        <a:solidFill>
                          <a:schemeClr val="bg1"/>
                        </a:solidFill>
                      </a:tcPr>
                    </a:tc>
                    <a:tc>
                      <a:txBody>
                        <a:bodyPr/>
                        <a:lstStyle/>
                        <a:p>
                          <a:pPr algn="ctr"/>
                          <a:endParaRPr lang="zh-TW" altLang="en-US" sz="2000" b="0" dirty="0"/>
                        </a:p>
                      </a:txBody>
                      <a:tcPr anchor="ctr">
                        <a:solidFill>
                          <a:schemeClr val="bg1"/>
                        </a:solidFill>
                      </a:tcPr>
                    </a:tc>
                    <a:extLst>
                      <a:ext uri="{0D108BD9-81ED-4DB2-BD59-A6C34878D82A}">
                        <a16:rowId xmlns:a16="http://schemas.microsoft.com/office/drawing/2014/main" val="10002"/>
                      </a:ext>
                    </a:extLst>
                  </a:tr>
                </a:tbl>
              </a:graphicData>
            </a:graphic>
          </p:graphicFrame>
        </mc:Fallback>
      </mc:AlternateContent>
      <p:sp>
        <p:nvSpPr>
          <p:cNvPr id="8" name="文字方塊 7">
            <a:extLst>
              <a:ext uri="{FF2B5EF4-FFF2-40B4-BE49-F238E27FC236}">
                <a16:creationId xmlns:a16="http://schemas.microsoft.com/office/drawing/2014/main" id="{5F350FF7-811E-421A-BB93-8838450D6A63}"/>
              </a:ext>
            </a:extLst>
          </p:cNvPr>
          <p:cNvSpPr txBox="1"/>
          <p:nvPr/>
        </p:nvSpPr>
        <p:spPr>
          <a:xfrm>
            <a:off x="5774397" y="3848043"/>
            <a:ext cx="1252587" cy="461665"/>
          </a:xfrm>
          <a:prstGeom prst="rect">
            <a:avLst/>
          </a:prstGeom>
          <a:noFill/>
        </p:spPr>
        <p:txBody>
          <a:bodyPr wrap="none" rtlCol="0">
            <a:spAutoFit/>
          </a:bodyPr>
          <a:lstStyle/>
          <a:p>
            <a:r>
              <a:rPr lang="en-US" altLang="zh-TW" sz="2400" dirty="0"/>
              <a:t>Matrix A</a:t>
            </a:r>
            <a:endParaRPr lang="zh-TW" altLang="en-US" sz="2400" dirty="0"/>
          </a:p>
        </p:txBody>
      </p:sp>
      <p:sp>
        <p:nvSpPr>
          <p:cNvPr id="9" name="文字方塊 8">
            <a:extLst>
              <a:ext uri="{FF2B5EF4-FFF2-40B4-BE49-F238E27FC236}">
                <a16:creationId xmlns:a16="http://schemas.microsoft.com/office/drawing/2014/main" id="{CC723CC8-0E68-4B0E-8421-BBC31D81EDF3}"/>
              </a:ext>
            </a:extLst>
          </p:cNvPr>
          <p:cNvSpPr txBox="1"/>
          <p:nvPr/>
        </p:nvSpPr>
        <p:spPr>
          <a:xfrm>
            <a:off x="7799635" y="3841859"/>
            <a:ext cx="1241365" cy="461665"/>
          </a:xfrm>
          <a:prstGeom prst="rect">
            <a:avLst/>
          </a:prstGeom>
          <a:noFill/>
        </p:spPr>
        <p:txBody>
          <a:bodyPr wrap="none" rtlCol="0">
            <a:spAutoFit/>
          </a:bodyPr>
          <a:lstStyle/>
          <a:p>
            <a:r>
              <a:rPr lang="en-US" altLang="zh-TW" sz="2400" dirty="0"/>
              <a:t>Matrix B</a:t>
            </a:r>
            <a:endParaRPr lang="zh-TW" altLang="en-US" sz="2400" dirty="0"/>
          </a:p>
        </p:txBody>
      </p:sp>
      <p:sp>
        <p:nvSpPr>
          <p:cNvPr id="10" name="文字方塊 9">
            <a:extLst>
              <a:ext uri="{FF2B5EF4-FFF2-40B4-BE49-F238E27FC236}">
                <a16:creationId xmlns:a16="http://schemas.microsoft.com/office/drawing/2014/main" id="{37C50C0C-D350-477C-B5AB-48E5054CE9E0}"/>
              </a:ext>
            </a:extLst>
          </p:cNvPr>
          <p:cNvSpPr txBox="1"/>
          <p:nvPr/>
        </p:nvSpPr>
        <p:spPr>
          <a:xfrm>
            <a:off x="3419508" y="1831914"/>
            <a:ext cx="1252587" cy="461665"/>
          </a:xfrm>
          <a:prstGeom prst="rect">
            <a:avLst/>
          </a:prstGeom>
          <a:noFill/>
        </p:spPr>
        <p:txBody>
          <a:bodyPr wrap="none" rtlCol="0">
            <a:spAutoFit/>
          </a:bodyPr>
          <a:lstStyle/>
          <a:p>
            <a:r>
              <a:rPr lang="en-US" altLang="zh-TW" sz="2400" dirty="0"/>
              <a:t>Matrix A</a:t>
            </a:r>
            <a:endParaRPr lang="zh-TW" altLang="en-US" sz="2400" dirty="0"/>
          </a:p>
        </p:txBody>
      </p:sp>
      <p:sp>
        <p:nvSpPr>
          <p:cNvPr id="11" name="文字方塊 10">
            <a:extLst>
              <a:ext uri="{FF2B5EF4-FFF2-40B4-BE49-F238E27FC236}">
                <a16:creationId xmlns:a16="http://schemas.microsoft.com/office/drawing/2014/main" id="{DFBC6087-DAD1-47A9-A2A6-D9632D81BBCA}"/>
              </a:ext>
            </a:extLst>
          </p:cNvPr>
          <p:cNvSpPr txBox="1"/>
          <p:nvPr/>
        </p:nvSpPr>
        <p:spPr>
          <a:xfrm>
            <a:off x="5489123" y="1825625"/>
            <a:ext cx="1241365" cy="461665"/>
          </a:xfrm>
          <a:prstGeom prst="rect">
            <a:avLst/>
          </a:prstGeom>
          <a:noFill/>
        </p:spPr>
        <p:txBody>
          <a:bodyPr wrap="none" rtlCol="0">
            <a:spAutoFit/>
          </a:bodyPr>
          <a:lstStyle/>
          <a:p>
            <a:r>
              <a:rPr lang="en-US" altLang="zh-TW" sz="2400" dirty="0"/>
              <a:t>Matrix B</a:t>
            </a:r>
            <a:endParaRPr lang="zh-TW" altLang="en-US" sz="2400" dirty="0"/>
          </a:p>
        </p:txBody>
      </p:sp>
      <p:sp>
        <p:nvSpPr>
          <p:cNvPr id="12" name="文字方塊 11">
            <a:extLst>
              <a:ext uri="{FF2B5EF4-FFF2-40B4-BE49-F238E27FC236}">
                <a16:creationId xmlns:a16="http://schemas.microsoft.com/office/drawing/2014/main" id="{4547C451-021F-4E49-B5B1-57A9C57A749B}"/>
              </a:ext>
            </a:extLst>
          </p:cNvPr>
          <p:cNvSpPr txBox="1"/>
          <p:nvPr/>
        </p:nvSpPr>
        <p:spPr>
          <a:xfrm>
            <a:off x="8002373" y="1833908"/>
            <a:ext cx="1252587" cy="461665"/>
          </a:xfrm>
          <a:prstGeom prst="rect">
            <a:avLst/>
          </a:prstGeom>
          <a:noFill/>
        </p:spPr>
        <p:txBody>
          <a:bodyPr wrap="none" rtlCol="0">
            <a:spAutoFit/>
          </a:bodyPr>
          <a:lstStyle/>
          <a:p>
            <a:r>
              <a:rPr lang="en-US" altLang="zh-TW" sz="2400" dirty="0"/>
              <a:t>Matrix A</a:t>
            </a:r>
            <a:endParaRPr lang="zh-TW" altLang="en-US" sz="2400" dirty="0"/>
          </a:p>
        </p:txBody>
      </p:sp>
      <p:sp>
        <p:nvSpPr>
          <p:cNvPr id="13" name="文字方塊 12">
            <a:extLst>
              <a:ext uri="{FF2B5EF4-FFF2-40B4-BE49-F238E27FC236}">
                <a16:creationId xmlns:a16="http://schemas.microsoft.com/office/drawing/2014/main" id="{F6B5F55B-F042-42C4-9FB5-2EA701D987FA}"/>
              </a:ext>
            </a:extLst>
          </p:cNvPr>
          <p:cNvSpPr txBox="1"/>
          <p:nvPr/>
        </p:nvSpPr>
        <p:spPr>
          <a:xfrm>
            <a:off x="10071988" y="1827619"/>
            <a:ext cx="1241365" cy="461665"/>
          </a:xfrm>
          <a:prstGeom prst="rect">
            <a:avLst/>
          </a:prstGeom>
          <a:noFill/>
        </p:spPr>
        <p:txBody>
          <a:bodyPr wrap="none" rtlCol="0">
            <a:spAutoFit/>
          </a:bodyPr>
          <a:lstStyle/>
          <a:p>
            <a:r>
              <a:rPr lang="en-US" altLang="zh-TW" sz="2400" dirty="0"/>
              <a:t>Matrix B</a:t>
            </a:r>
            <a:endParaRPr lang="zh-TW" altLang="en-US" sz="2400" dirty="0"/>
          </a:p>
        </p:txBody>
      </p:sp>
      <p:graphicFrame>
        <p:nvGraphicFramePr>
          <p:cNvPr id="14" name="表格 13">
            <a:extLst>
              <a:ext uri="{FF2B5EF4-FFF2-40B4-BE49-F238E27FC236}">
                <a16:creationId xmlns:a16="http://schemas.microsoft.com/office/drawing/2014/main" id="{AC9C1CBD-5C6A-4192-A9B7-940014245776}"/>
              </a:ext>
            </a:extLst>
          </p:cNvPr>
          <p:cNvGraphicFramePr>
            <a:graphicFrameLocks noGrp="1"/>
          </p:cNvGraphicFramePr>
          <p:nvPr>
            <p:extLst>
              <p:ext uri="{D42A27DB-BD31-4B8C-83A1-F6EECF244321}">
                <p14:modId xmlns:p14="http://schemas.microsoft.com/office/powerpoint/2010/main" val="2158913197"/>
              </p:ext>
            </p:extLst>
          </p:nvPr>
        </p:nvGraphicFramePr>
        <p:xfrm>
          <a:off x="5489123" y="4377177"/>
          <a:ext cx="1826175" cy="1485900"/>
        </p:xfrm>
        <a:graphic>
          <a:graphicData uri="http://schemas.openxmlformats.org/drawingml/2006/table">
            <a:tbl>
              <a:tblPr firstRow="1" bandRow="1">
                <a:tableStyleId>{5940675A-B579-460E-94D1-54222C63F5DA}</a:tableStyleId>
              </a:tblPr>
              <a:tblGrid>
                <a:gridCol w="608725">
                  <a:extLst>
                    <a:ext uri="{9D8B030D-6E8A-4147-A177-3AD203B41FA5}">
                      <a16:colId xmlns:a16="http://schemas.microsoft.com/office/drawing/2014/main" val="20000"/>
                    </a:ext>
                  </a:extLst>
                </a:gridCol>
                <a:gridCol w="608725">
                  <a:extLst>
                    <a:ext uri="{9D8B030D-6E8A-4147-A177-3AD203B41FA5}">
                      <a16:colId xmlns:a16="http://schemas.microsoft.com/office/drawing/2014/main" val="20001"/>
                    </a:ext>
                  </a:extLst>
                </a:gridCol>
                <a:gridCol w="608725">
                  <a:extLst>
                    <a:ext uri="{9D8B030D-6E8A-4147-A177-3AD203B41FA5}">
                      <a16:colId xmlns:a16="http://schemas.microsoft.com/office/drawing/2014/main" val="20002"/>
                    </a:ext>
                  </a:extLst>
                </a:gridCol>
              </a:tblGrid>
              <a:tr h="492000">
                <a:tc>
                  <a:txBody>
                    <a:bodyPr/>
                    <a:lstStyle/>
                    <a:p>
                      <a:pPr algn="ctr"/>
                      <a:r>
                        <a:rPr lang="en-US" altLang="zh-TW" sz="2500" b="1" dirty="0"/>
                        <a:t>1</a:t>
                      </a:r>
                      <a:endParaRPr lang="zh-TW" altLang="en-US" sz="2500" b="1" dirty="0"/>
                    </a:p>
                  </a:txBody>
                  <a:tcPr marL="115949" marR="115949" marT="57975" marB="57975" anchor="ctr"/>
                </a:tc>
                <a:tc>
                  <a:txBody>
                    <a:bodyPr/>
                    <a:lstStyle/>
                    <a:p>
                      <a:pPr algn="ctr"/>
                      <a:r>
                        <a:rPr lang="en-US" altLang="zh-TW" sz="2000" dirty="0"/>
                        <a:t>2</a:t>
                      </a:r>
                      <a:endParaRPr lang="zh-TW" altLang="en-US" sz="2000" dirty="0"/>
                    </a:p>
                  </a:txBody>
                  <a:tcPr marL="115949" marR="115949" marT="57975" marB="57975" anchor="ctr"/>
                </a:tc>
                <a:tc>
                  <a:txBody>
                    <a:bodyPr/>
                    <a:lstStyle/>
                    <a:p>
                      <a:pPr algn="ctr"/>
                      <a:r>
                        <a:rPr lang="en-US" altLang="zh-TW" sz="2500" b="1" dirty="0"/>
                        <a:t>7</a:t>
                      </a:r>
                      <a:endParaRPr lang="zh-TW" altLang="en-US" sz="2500" b="1" dirty="0"/>
                    </a:p>
                  </a:txBody>
                  <a:tcPr marL="115949" marR="115949" marT="57975" marB="57975" anchor="ctr"/>
                </a:tc>
                <a:extLst>
                  <a:ext uri="{0D108BD9-81ED-4DB2-BD59-A6C34878D82A}">
                    <a16:rowId xmlns:a16="http://schemas.microsoft.com/office/drawing/2014/main" val="10000"/>
                  </a:ext>
                </a:extLst>
              </a:tr>
              <a:tr h="492000">
                <a:tc>
                  <a:txBody>
                    <a:bodyPr/>
                    <a:lstStyle/>
                    <a:p>
                      <a:pPr algn="ctr"/>
                      <a:r>
                        <a:rPr lang="en-US" altLang="zh-TW" sz="2000" dirty="0"/>
                        <a:t>9</a:t>
                      </a:r>
                      <a:endParaRPr lang="zh-TW" altLang="en-US" sz="2000" dirty="0"/>
                    </a:p>
                  </a:txBody>
                  <a:tcPr marL="115949" marR="115949" marT="57975" marB="57975" anchor="ctr"/>
                </a:tc>
                <a:tc>
                  <a:txBody>
                    <a:bodyPr/>
                    <a:lstStyle/>
                    <a:p>
                      <a:pPr algn="ctr"/>
                      <a:r>
                        <a:rPr lang="en-US" altLang="zh-TW" sz="2000" b="0" dirty="0"/>
                        <a:t>3</a:t>
                      </a:r>
                      <a:endParaRPr lang="zh-TW" altLang="en-US" sz="2000" b="0" dirty="0"/>
                    </a:p>
                  </a:txBody>
                  <a:tcPr marL="115949" marR="115949" marT="57975" marB="57975" anchor="ctr"/>
                </a:tc>
                <a:tc>
                  <a:txBody>
                    <a:bodyPr/>
                    <a:lstStyle/>
                    <a:p>
                      <a:pPr algn="ctr"/>
                      <a:r>
                        <a:rPr lang="en-US" altLang="zh-TW" sz="2000" dirty="0"/>
                        <a:t>5</a:t>
                      </a:r>
                      <a:endParaRPr lang="zh-TW" altLang="en-US" sz="2000" dirty="0"/>
                    </a:p>
                  </a:txBody>
                  <a:tcPr marL="115949" marR="115949" marT="57975" marB="57975" anchor="ctr"/>
                </a:tc>
                <a:extLst>
                  <a:ext uri="{0D108BD9-81ED-4DB2-BD59-A6C34878D82A}">
                    <a16:rowId xmlns:a16="http://schemas.microsoft.com/office/drawing/2014/main" val="10001"/>
                  </a:ext>
                </a:extLst>
              </a:tr>
              <a:tr h="492000">
                <a:tc>
                  <a:txBody>
                    <a:bodyPr/>
                    <a:lstStyle/>
                    <a:p>
                      <a:pPr algn="ctr"/>
                      <a:r>
                        <a:rPr lang="en-US" altLang="zh-TW" sz="2500" b="1" dirty="0"/>
                        <a:t>6</a:t>
                      </a:r>
                      <a:endParaRPr lang="zh-TW" altLang="en-US" sz="2500" b="1" dirty="0"/>
                    </a:p>
                  </a:txBody>
                  <a:tcPr marL="115949" marR="115949" marT="57975" marB="57975" anchor="ctr"/>
                </a:tc>
                <a:tc>
                  <a:txBody>
                    <a:bodyPr/>
                    <a:lstStyle/>
                    <a:p>
                      <a:pPr algn="ctr"/>
                      <a:r>
                        <a:rPr lang="en-US" altLang="zh-TW" sz="2000" dirty="0"/>
                        <a:t>8</a:t>
                      </a:r>
                      <a:endParaRPr lang="zh-TW" altLang="en-US" sz="2000" dirty="0"/>
                    </a:p>
                  </a:txBody>
                  <a:tcPr marL="115949" marR="115949" marT="57975" marB="57975" anchor="ctr"/>
                </a:tc>
                <a:tc>
                  <a:txBody>
                    <a:bodyPr/>
                    <a:lstStyle/>
                    <a:p>
                      <a:pPr algn="ctr"/>
                      <a:r>
                        <a:rPr lang="en-US" altLang="zh-TW" sz="2500" b="1" dirty="0"/>
                        <a:t>4</a:t>
                      </a:r>
                      <a:endParaRPr lang="zh-TW" altLang="en-US" sz="2500" b="1" dirty="0"/>
                    </a:p>
                  </a:txBody>
                  <a:tcPr marL="115949" marR="115949" marT="57975" marB="57975" anchor="ctr"/>
                </a:tc>
                <a:extLst>
                  <a:ext uri="{0D108BD9-81ED-4DB2-BD59-A6C34878D82A}">
                    <a16:rowId xmlns:a16="http://schemas.microsoft.com/office/drawing/2014/main" val="10002"/>
                  </a:ext>
                </a:extLst>
              </a:tr>
            </a:tbl>
          </a:graphicData>
        </a:graphic>
      </p:graphicFrame>
      <p:graphicFrame>
        <p:nvGraphicFramePr>
          <p:cNvPr id="15" name="表格 14">
            <a:extLst>
              <a:ext uri="{FF2B5EF4-FFF2-40B4-BE49-F238E27FC236}">
                <a16:creationId xmlns:a16="http://schemas.microsoft.com/office/drawing/2014/main" id="{211CD00E-AE01-4435-93AB-9CD9BD96C931}"/>
              </a:ext>
            </a:extLst>
          </p:cNvPr>
          <p:cNvGraphicFramePr>
            <a:graphicFrameLocks noGrp="1"/>
          </p:cNvGraphicFramePr>
          <p:nvPr>
            <p:extLst>
              <p:ext uri="{D42A27DB-BD31-4B8C-83A1-F6EECF244321}">
                <p14:modId xmlns:p14="http://schemas.microsoft.com/office/powerpoint/2010/main" val="3909468212"/>
              </p:ext>
            </p:extLst>
          </p:nvPr>
        </p:nvGraphicFramePr>
        <p:xfrm>
          <a:off x="7558738" y="4377177"/>
          <a:ext cx="1826175" cy="1476000"/>
        </p:xfrm>
        <a:graphic>
          <a:graphicData uri="http://schemas.openxmlformats.org/drawingml/2006/table">
            <a:tbl>
              <a:tblPr firstRow="1" bandRow="1">
                <a:tableStyleId>{5940675A-B579-460E-94D1-54222C63F5DA}</a:tableStyleId>
              </a:tblPr>
              <a:tblGrid>
                <a:gridCol w="608725">
                  <a:extLst>
                    <a:ext uri="{9D8B030D-6E8A-4147-A177-3AD203B41FA5}">
                      <a16:colId xmlns:a16="http://schemas.microsoft.com/office/drawing/2014/main" val="20000"/>
                    </a:ext>
                  </a:extLst>
                </a:gridCol>
                <a:gridCol w="608725">
                  <a:extLst>
                    <a:ext uri="{9D8B030D-6E8A-4147-A177-3AD203B41FA5}">
                      <a16:colId xmlns:a16="http://schemas.microsoft.com/office/drawing/2014/main" val="20001"/>
                    </a:ext>
                  </a:extLst>
                </a:gridCol>
                <a:gridCol w="608725">
                  <a:extLst>
                    <a:ext uri="{9D8B030D-6E8A-4147-A177-3AD203B41FA5}">
                      <a16:colId xmlns:a16="http://schemas.microsoft.com/office/drawing/2014/main" val="20002"/>
                    </a:ext>
                  </a:extLst>
                </a:gridCol>
              </a:tblGrid>
              <a:tr h="492000">
                <a:tc>
                  <a:txBody>
                    <a:bodyPr/>
                    <a:lstStyle/>
                    <a:p>
                      <a:pPr algn="ctr"/>
                      <a:r>
                        <a:rPr lang="en-US" altLang="zh-TW" sz="2500" b="1" dirty="0"/>
                        <a:t>1</a:t>
                      </a:r>
                      <a:endParaRPr lang="zh-TW" altLang="en-US" sz="2500" b="1" dirty="0"/>
                    </a:p>
                  </a:txBody>
                  <a:tcPr anchor="ctr"/>
                </a:tc>
                <a:tc>
                  <a:txBody>
                    <a:bodyPr/>
                    <a:lstStyle/>
                    <a:p>
                      <a:pPr algn="ctr"/>
                      <a:r>
                        <a:rPr lang="en-US" altLang="zh-TW" sz="2500" b="1" dirty="0"/>
                        <a:t>7</a:t>
                      </a:r>
                      <a:endParaRPr lang="zh-TW" altLang="en-US" sz="2500" b="1" dirty="0"/>
                    </a:p>
                  </a:txBody>
                  <a:tcPr anchor="ctr"/>
                </a:tc>
                <a:tc>
                  <a:txBody>
                    <a:bodyPr/>
                    <a:lstStyle/>
                    <a:p>
                      <a:pPr algn="ctr"/>
                      <a:r>
                        <a:rPr lang="en-US" altLang="zh-TW" sz="2000" dirty="0"/>
                        <a:t>8</a:t>
                      </a:r>
                      <a:endParaRPr lang="zh-TW" altLang="en-US" sz="2000" dirty="0"/>
                    </a:p>
                  </a:txBody>
                  <a:tcPr anchor="ctr"/>
                </a:tc>
                <a:extLst>
                  <a:ext uri="{0D108BD9-81ED-4DB2-BD59-A6C34878D82A}">
                    <a16:rowId xmlns:a16="http://schemas.microsoft.com/office/drawing/2014/main" val="10000"/>
                  </a:ext>
                </a:extLst>
              </a:tr>
              <a:tr h="492000">
                <a:tc>
                  <a:txBody>
                    <a:bodyPr/>
                    <a:lstStyle/>
                    <a:p>
                      <a:pPr algn="ctr"/>
                      <a:r>
                        <a:rPr lang="en-US" altLang="zh-TW" sz="2000" b="0" dirty="0"/>
                        <a:t>3</a:t>
                      </a:r>
                      <a:endParaRPr lang="zh-TW" altLang="en-US" sz="2000" b="0" dirty="0"/>
                    </a:p>
                  </a:txBody>
                  <a:tcPr anchor="ctr"/>
                </a:tc>
                <a:tc>
                  <a:txBody>
                    <a:bodyPr/>
                    <a:lstStyle/>
                    <a:p>
                      <a:pPr algn="ctr"/>
                      <a:r>
                        <a:rPr lang="en-US" altLang="zh-TW" sz="2000" dirty="0"/>
                        <a:t>2</a:t>
                      </a:r>
                      <a:endParaRPr lang="zh-TW" altLang="en-US" sz="2000" dirty="0"/>
                    </a:p>
                  </a:txBody>
                  <a:tcPr anchor="ctr"/>
                </a:tc>
                <a:tc>
                  <a:txBody>
                    <a:bodyPr/>
                    <a:lstStyle/>
                    <a:p>
                      <a:pPr algn="ctr"/>
                      <a:r>
                        <a:rPr lang="en-US" altLang="zh-TW" sz="2000" dirty="0"/>
                        <a:t>9</a:t>
                      </a:r>
                      <a:endParaRPr lang="zh-TW" altLang="en-US" sz="2000" dirty="0"/>
                    </a:p>
                  </a:txBody>
                  <a:tcPr anchor="ctr"/>
                </a:tc>
                <a:extLst>
                  <a:ext uri="{0D108BD9-81ED-4DB2-BD59-A6C34878D82A}">
                    <a16:rowId xmlns:a16="http://schemas.microsoft.com/office/drawing/2014/main" val="10001"/>
                  </a:ext>
                </a:extLst>
              </a:tr>
              <a:tr h="492000">
                <a:tc>
                  <a:txBody>
                    <a:bodyPr/>
                    <a:lstStyle/>
                    <a:p>
                      <a:pPr algn="ctr"/>
                      <a:r>
                        <a:rPr lang="en-US" altLang="zh-TW" sz="2500" b="1" dirty="0"/>
                        <a:t>6</a:t>
                      </a:r>
                      <a:endParaRPr lang="zh-TW" altLang="en-US" sz="2500" b="1" dirty="0"/>
                    </a:p>
                  </a:txBody>
                  <a:tcPr anchor="ctr"/>
                </a:tc>
                <a:tc>
                  <a:txBody>
                    <a:bodyPr/>
                    <a:lstStyle/>
                    <a:p>
                      <a:pPr algn="ctr"/>
                      <a:r>
                        <a:rPr lang="en-US" altLang="zh-TW" sz="2500" b="1" dirty="0"/>
                        <a:t>4</a:t>
                      </a:r>
                      <a:endParaRPr lang="zh-TW" altLang="en-US" sz="2500" b="1" dirty="0"/>
                    </a:p>
                  </a:txBody>
                  <a:tcPr anchor="ctr"/>
                </a:tc>
                <a:tc>
                  <a:txBody>
                    <a:bodyPr/>
                    <a:lstStyle/>
                    <a:p>
                      <a:pPr algn="ctr"/>
                      <a:r>
                        <a:rPr lang="en-US" altLang="zh-TW" sz="2000" dirty="0"/>
                        <a:t>5</a:t>
                      </a:r>
                      <a:endParaRPr lang="zh-TW" altLang="en-US" sz="2000" dirty="0"/>
                    </a:p>
                  </a:txBody>
                  <a:tcPr anchor="ctr"/>
                </a:tc>
                <a:extLst>
                  <a:ext uri="{0D108BD9-81ED-4DB2-BD59-A6C34878D82A}">
                    <a16:rowId xmlns:a16="http://schemas.microsoft.com/office/drawing/2014/main" val="10002"/>
                  </a:ext>
                </a:extLst>
              </a:tr>
            </a:tbl>
          </a:graphicData>
        </a:graphic>
      </p:graphicFrame>
      <p:sp>
        <p:nvSpPr>
          <p:cNvPr id="17" name="文字方塊 16">
            <a:extLst>
              <a:ext uri="{FF2B5EF4-FFF2-40B4-BE49-F238E27FC236}">
                <a16:creationId xmlns:a16="http://schemas.microsoft.com/office/drawing/2014/main" id="{A273E993-8ADB-48EB-873E-5610BACCE5FC}"/>
              </a:ext>
            </a:extLst>
          </p:cNvPr>
          <p:cNvSpPr txBox="1"/>
          <p:nvPr/>
        </p:nvSpPr>
        <p:spPr>
          <a:xfrm>
            <a:off x="208195" y="6412676"/>
            <a:ext cx="8897509" cy="307777"/>
          </a:xfrm>
          <a:prstGeom prst="rect">
            <a:avLst/>
          </a:prstGeom>
          <a:noFill/>
        </p:spPr>
        <p:txBody>
          <a:bodyPr wrap="square" rtlCol="0">
            <a:spAutoFit/>
          </a:bodyPr>
          <a:lstStyle/>
          <a:p>
            <a:r>
              <a:rPr lang="en-US" altLang="zh-TW" sz="1200" dirty="0">
                <a:solidFill>
                  <a:schemeClr val="accent3">
                    <a:lumMod val="75000"/>
                  </a:schemeClr>
                </a:solidFill>
              </a:rPr>
              <a:t>A. Amir, T. Hartmana, O. Kapahand, B. Riva Shalom,  D. Tsur,  Generalized</a:t>
            </a:r>
            <a:r>
              <a:rPr lang="zh-TW" altLang="en-US" sz="1200" dirty="0">
                <a:solidFill>
                  <a:schemeClr val="accent3">
                    <a:lumMod val="75000"/>
                  </a:schemeClr>
                </a:solidFill>
              </a:rPr>
              <a:t> </a:t>
            </a:r>
            <a:r>
              <a:rPr lang="en-US" altLang="zh-TW" sz="1200" dirty="0">
                <a:solidFill>
                  <a:schemeClr val="accent3">
                    <a:lumMod val="75000"/>
                  </a:schemeClr>
                </a:solidFill>
              </a:rPr>
              <a:t>LCS, Theoretical Computer Science, Vol. 409, pp. 438-449, 2008</a:t>
            </a:r>
            <a:r>
              <a:rPr lang="en-US" altLang="zh-TW" sz="1400" dirty="0">
                <a:solidFill>
                  <a:schemeClr val="accent3">
                    <a:lumMod val="75000"/>
                  </a:schemeClr>
                </a:solidFill>
              </a:rPr>
              <a:t>.</a:t>
            </a:r>
            <a:endParaRPr lang="zh-TW" altLang="en-US" sz="1400" dirty="0">
              <a:solidFill>
                <a:schemeClr val="accent3">
                  <a:lumMod val="75000"/>
                </a:schemeClr>
              </a:solidFill>
            </a:endParaRPr>
          </a:p>
        </p:txBody>
      </p:sp>
      <p:sp>
        <p:nvSpPr>
          <p:cNvPr id="18" name="文字方塊 17">
            <a:extLst>
              <a:ext uri="{FF2B5EF4-FFF2-40B4-BE49-F238E27FC236}">
                <a16:creationId xmlns:a16="http://schemas.microsoft.com/office/drawing/2014/main" id="{CFC6062E-EABC-4F67-B375-EE9C2DA60955}"/>
              </a:ext>
            </a:extLst>
          </p:cNvPr>
          <p:cNvSpPr txBox="1"/>
          <p:nvPr/>
        </p:nvSpPr>
        <p:spPr>
          <a:xfrm>
            <a:off x="2024109" y="5051394"/>
            <a:ext cx="1944209" cy="461665"/>
          </a:xfrm>
          <a:prstGeom prst="rect">
            <a:avLst/>
          </a:prstGeom>
          <a:noFill/>
        </p:spPr>
        <p:txBody>
          <a:bodyPr wrap="square" rtlCol="0">
            <a:spAutoFit/>
          </a:bodyPr>
          <a:lstStyle/>
          <a:p>
            <a:r>
              <a:rPr lang="en-US" altLang="zh-TW" sz="2400" dirty="0"/>
              <a:t>NP-hard !!</a:t>
            </a:r>
            <a:endParaRPr lang="zh-TW" altLang="en-US" sz="2400" dirty="0"/>
          </a:p>
        </p:txBody>
      </p:sp>
    </p:spTree>
    <p:extLst>
      <p:ext uri="{BB962C8B-B14F-4D97-AF65-F5344CB8AC3E}">
        <p14:creationId xmlns:p14="http://schemas.microsoft.com/office/powerpoint/2010/main" val="1175947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標題 1">
                <a:extLst>
                  <a:ext uri="{FF2B5EF4-FFF2-40B4-BE49-F238E27FC236}">
                    <a16:creationId xmlns:a16="http://schemas.microsoft.com/office/drawing/2014/main" id="{A31FB563-906E-467F-B342-8C059E8BD66D}"/>
                  </a:ext>
                </a:extLst>
              </p:cNvPr>
              <p:cNvSpPr>
                <a:spLocks noGrp="1"/>
              </p:cNvSpPr>
              <p:nvPr>
                <p:ph type="title"/>
              </p:nvPr>
            </p:nvSpPr>
            <p:spPr>
              <a:xfrm>
                <a:off x="838199" y="365125"/>
                <a:ext cx="10964333" cy="1325563"/>
              </a:xfrm>
            </p:spPr>
            <p:txBody>
              <a:bodyPr>
                <a:normAutofit/>
              </a:bodyPr>
              <a:lstStyle/>
              <a:p>
                <a:r>
                  <a:rPr lang="en-US" altLang="zh-TW" sz="4000" dirty="0"/>
                  <a:t>2D-LCS </a:t>
                </a:r>
                <a14:m>
                  <m:oMath xmlns:m="http://schemas.openxmlformats.org/officeDocument/2006/math">
                    <m:r>
                      <a:rPr lang="en-US" altLang="zh-TW" sz="4000" i="1" smtClean="0">
                        <a:latin typeface="Cambria Math" panose="02040503050406030204" pitchFamily="18" charset="0"/>
                        <a:ea typeface="Cambria Math" panose="02040503050406030204" pitchFamily="18" charset="0"/>
                      </a:rPr>
                      <m:t>≡</m:t>
                    </m:r>
                  </m:oMath>
                </a14:m>
                <a:r>
                  <a:rPr lang="en-US" altLang="zh-TW" sz="4000" dirty="0"/>
                  <a:t> 2D string relation by Chang</a:t>
                </a:r>
                <a:r>
                  <a:rPr lang="en-US" altLang="zh-TW" sz="4000" i="1" dirty="0"/>
                  <a:t> et al.</a:t>
                </a:r>
                <a:r>
                  <a:rPr lang="en-US" altLang="zh-TW" sz="4000" dirty="0"/>
                  <a:t>(1987) </a:t>
                </a:r>
                <a:endParaRPr lang="zh-TW" altLang="en-US" sz="4000" dirty="0"/>
              </a:p>
            </p:txBody>
          </p:sp>
        </mc:Choice>
        <mc:Fallback>
          <p:sp>
            <p:nvSpPr>
              <p:cNvPr id="2" name="標題 1">
                <a:extLst>
                  <a:ext uri="{FF2B5EF4-FFF2-40B4-BE49-F238E27FC236}">
                    <a16:creationId xmlns:a16="http://schemas.microsoft.com/office/drawing/2014/main" id="{A31FB563-906E-467F-B342-8C059E8BD66D}"/>
                  </a:ext>
                </a:extLst>
              </p:cNvPr>
              <p:cNvSpPr>
                <a:spLocks noGrp="1" noRot="1" noChangeAspect="1" noMove="1" noResize="1" noEditPoints="1" noAdjustHandles="1" noChangeArrowheads="1" noChangeShapeType="1" noTextEdit="1"/>
              </p:cNvSpPr>
              <p:nvPr>
                <p:ph type="title"/>
              </p:nvPr>
            </p:nvSpPr>
            <p:spPr>
              <a:xfrm>
                <a:off x="838199" y="365125"/>
                <a:ext cx="10964333" cy="1325563"/>
              </a:xfrm>
              <a:blipFill>
                <a:blip r:embed="rId2"/>
                <a:stretch>
                  <a:fillRect l="-1946" r="-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8013998C-C80D-41A5-BDD5-9C8EA536EAF3}"/>
                  </a:ext>
                </a:extLst>
              </p:cNvPr>
              <p:cNvSpPr>
                <a:spLocks noGrp="1"/>
              </p:cNvSpPr>
              <p:nvPr>
                <p:ph idx="1"/>
              </p:nvPr>
            </p:nvSpPr>
            <p:spPr>
              <a:xfrm>
                <a:off x="547832" y="2141537"/>
                <a:ext cx="3520736" cy="4351338"/>
              </a:xfrm>
            </p:spPr>
            <p:txBody>
              <a:bodyPr/>
              <a:lstStyle/>
              <a:p>
                <a:pPr marL="0" indent="0">
                  <a:buNone/>
                </a:pPr>
                <a14:m>
                  <m:oMathPara xmlns:m="http://schemas.openxmlformats.org/officeDocument/2006/math">
                    <m:oMathParaPr>
                      <m:jc m:val="centerGroup"/>
                    </m:oMathParaPr>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𝑖</m:t>
                          </m:r>
                        </m:e>
                        <m:sub>
                          <m:r>
                            <a:rPr lang="en-US" altLang="zh-TW" i="1">
                              <a:latin typeface="Cambria Math" panose="02040503050406030204" pitchFamily="18" charset="0"/>
                            </a:rPr>
                            <m:t>1</m:t>
                          </m:r>
                        </m:sub>
                      </m:sSub>
                      <m:r>
                        <a:rPr lang="en-US" altLang="zh-TW" i="1">
                          <a:latin typeface="Cambria Math" panose="02040503050406030204" pitchFamily="18" charset="0"/>
                          <a:ea typeface="Cambria Math" panose="02040503050406030204" pitchFamily="18" charset="0"/>
                        </a:rPr>
                        <m:t>&lt;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𝑖</m:t>
                          </m:r>
                        </m:e>
                        <m:sub>
                          <m:r>
                            <a:rPr lang="en-US" altLang="zh-TW" i="1">
                              <a:latin typeface="Cambria Math" panose="02040503050406030204" pitchFamily="18" charset="0"/>
                            </a:rPr>
                            <m:t>2</m:t>
                          </m:r>
                        </m:sub>
                      </m:sSub>
                      <m:r>
                        <a:rPr lang="en-US" altLang="zh-TW" i="1">
                          <a:latin typeface="Cambria Math" panose="02040503050406030204" pitchFamily="18" charset="0"/>
                          <a:ea typeface="Cambria Math" panose="02040503050406030204" pitchFamily="18" charset="0"/>
                        </a:rPr>
                        <m:t>→ </m:t>
                      </m:r>
                      <m:sSub>
                        <m:sSubPr>
                          <m:ctrlPr>
                            <a:rPr lang="en-US" altLang="zh-TW" i="1">
                              <a:latin typeface="Cambria Math" panose="02040503050406030204" pitchFamily="18" charset="0"/>
                            </a:rPr>
                          </m:ctrlPr>
                        </m:sSubPr>
                        <m:e>
                          <m:r>
                            <a:rPr lang="en-US" altLang="zh-TW" i="1">
                              <a:latin typeface="Cambria Math" panose="02040503050406030204" pitchFamily="18" charset="0"/>
                            </a:rPr>
                            <m:t>𝑝</m:t>
                          </m:r>
                        </m:e>
                        <m:sub>
                          <m:r>
                            <a:rPr lang="en-US" altLang="zh-TW" i="1">
                              <a:latin typeface="Cambria Math" panose="02040503050406030204" pitchFamily="18" charset="0"/>
                            </a:rPr>
                            <m:t>1</m:t>
                          </m:r>
                        </m:sub>
                      </m:sSub>
                      <m:r>
                        <a:rPr lang="en-US" altLang="zh-TW" i="1">
                          <a:latin typeface="Cambria Math" panose="02040503050406030204" pitchFamily="18" charset="0"/>
                          <a:ea typeface="Cambria Math" panose="02040503050406030204" pitchFamily="18" charset="0"/>
                        </a:rPr>
                        <m:t>&lt;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𝑝</m:t>
                          </m:r>
                        </m:e>
                        <m:sub>
                          <m:r>
                            <a:rPr lang="en-US" altLang="zh-TW" i="1">
                              <a:latin typeface="Cambria Math" panose="02040503050406030204" pitchFamily="18" charset="0"/>
                            </a:rPr>
                            <m:t>2</m:t>
                          </m:r>
                        </m:sub>
                      </m:sSub>
                    </m:oMath>
                  </m:oMathPara>
                </a14:m>
                <a:endParaRPr lang="en-US" altLang="zh-TW" i="1" dirty="0">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𝑗</m:t>
                          </m:r>
                        </m:e>
                        <m:sub>
                          <m:r>
                            <a:rPr lang="en-US" altLang="zh-TW" i="1">
                              <a:latin typeface="Cambria Math" panose="02040503050406030204" pitchFamily="18" charset="0"/>
                            </a:rPr>
                            <m:t>1</m:t>
                          </m:r>
                        </m:sub>
                      </m:sSub>
                      <m:r>
                        <a:rPr lang="en-US" altLang="zh-TW" i="1">
                          <a:latin typeface="Cambria Math" panose="02040503050406030204" pitchFamily="18" charset="0"/>
                          <a:ea typeface="Cambria Math" panose="02040503050406030204" pitchFamily="18" charset="0"/>
                        </a:rPr>
                        <m:t>&lt;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𝑗</m:t>
                          </m:r>
                        </m:e>
                        <m:sub>
                          <m:r>
                            <a:rPr lang="en-US" altLang="zh-TW" i="1">
                              <a:latin typeface="Cambria Math" panose="02040503050406030204" pitchFamily="18" charset="0"/>
                            </a:rPr>
                            <m:t>2</m:t>
                          </m:r>
                        </m:sub>
                      </m:sSub>
                      <m:r>
                        <a:rPr lang="en-US" altLang="zh-TW" i="1">
                          <a:latin typeface="Cambria Math" panose="02040503050406030204" pitchFamily="18" charset="0"/>
                          <a:ea typeface="Cambria Math" panose="02040503050406030204" pitchFamily="18" charset="0"/>
                        </a:rPr>
                        <m:t>→ </m:t>
                      </m:r>
                      <m:sSub>
                        <m:sSubPr>
                          <m:ctrlPr>
                            <a:rPr lang="en-US" altLang="zh-TW" i="1">
                              <a:latin typeface="Cambria Math" panose="02040503050406030204" pitchFamily="18" charset="0"/>
                            </a:rPr>
                          </m:ctrlPr>
                        </m:sSubPr>
                        <m:e>
                          <m:r>
                            <a:rPr lang="en-US" altLang="zh-TW" i="1">
                              <a:latin typeface="Cambria Math" panose="02040503050406030204" pitchFamily="18" charset="0"/>
                            </a:rPr>
                            <m:t>𝑞</m:t>
                          </m:r>
                        </m:e>
                        <m:sub>
                          <m:r>
                            <a:rPr lang="en-US" altLang="zh-TW" i="1">
                              <a:latin typeface="Cambria Math" panose="02040503050406030204" pitchFamily="18" charset="0"/>
                            </a:rPr>
                            <m:t>1</m:t>
                          </m:r>
                        </m:sub>
                      </m:sSub>
                      <m:r>
                        <a:rPr lang="en-US" altLang="zh-TW" i="1">
                          <a:latin typeface="Cambria Math" panose="02040503050406030204" pitchFamily="18" charset="0"/>
                        </a:rPr>
                        <m:t>&lt;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𝑞</m:t>
                          </m:r>
                        </m:e>
                        <m:sub>
                          <m:r>
                            <a:rPr lang="en-US" altLang="zh-TW" i="1">
                              <a:latin typeface="Cambria Math" panose="02040503050406030204" pitchFamily="18" charset="0"/>
                            </a:rPr>
                            <m:t>2</m:t>
                          </m:r>
                        </m:sub>
                      </m:sSub>
                    </m:oMath>
                  </m:oMathPara>
                </a14:m>
                <a:endParaRPr lang="en-US" altLang="zh-TW" dirty="0"/>
              </a:p>
              <a:p>
                <a:pPr marL="0" indent="0">
                  <a:buNone/>
                </a:pPr>
                <a14:m>
                  <m:oMathPara xmlns:m="http://schemas.openxmlformats.org/officeDocument/2006/math">
                    <m:oMathParaPr>
                      <m:jc m:val="centerGroup"/>
                    </m:oMathParaPr>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𝑖</m:t>
                          </m:r>
                        </m:e>
                        <m:sub>
                          <m:r>
                            <a:rPr lang="en-US" altLang="zh-TW" i="1">
                              <a:latin typeface="Cambria Math" panose="02040503050406030204" pitchFamily="18" charset="0"/>
                            </a:rPr>
                            <m:t>1</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𝑖</m:t>
                          </m:r>
                        </m:e>
                        <m:sub>
                          <m:r>
                            <a:rPr lang="en-US" altLang="zh-TW" i="1">
                              <a:latin typeface="Cambria Math" panose="02040503050406030204" pitchFamily="18" charset="0"/>
                            </a:rPr>
                            <m:t>2</m:t>
                          </m:r>
                        </m:sub>
                      </m:sSub>
                      <m:r>
                        <a:rPr lang="en-US" altLang="zh-TW" i="1">
                          <a:latin typeface="Cambria Math" panose="02040503050406030204" pitchFamily="18" charset="0"/>
                          <a:ea typeface="Cambria Math" panose="02040503050406030204" pitchFamily="18" charset="0"/>
                        </a:rPr>
                        <m:t>→ </m:t>
                      </m:r>
                      <m:sSub>
                        <m:sSubPr>
                          <m:ctrlPr>
                            <a:rPr lang="en-US" altLang="zh-TW" i="1">
                              <a:latin typeface="Cambria Math" panose="02040503050406030204" pitchFamily="18" charset="0"/>
                            </a:rPr>
                          </m:ctrlPr>
                        </m:sSubPr>
                        <m:e>
                          <m:r>
                            <a:rPr lang="en-US" altLang="zh-TW" i="1">
                              <a:latin typeface="Cambria Math" panose="02040503050406030204" pitchFamily="18" charset="0"/>
                            </a:rPr>
                            <m:t>𝑝</m:t>
                          </m:r>
                        </m:e>
                        <m:sub>
                          <m:r>
                            <a:rPr lang="en-US" altLang="zh-TW" i="1">
                              <a:latin typeface="Cambria Math" panose="02040503050406030204" pitchFamily="18" charset="0"/>
                            </a:rPr>
                            <m:t>1</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𝑝</m:t>
                          </m:r>
                        </m:e>
                        <m:sub>
                          <m:r>
                            <a:rPr lang="en-US" altLang="zh-TW" i="1">
                              <a:latin typeface="Cambria Math" panose="02040503050406030204" pitchFamily="18" charset="0"/>
                            </a:rPr>
                            <m:t>2</m:t>
                          </m:r>
                        </m:sub>
                      </m:sSub>
                    </m:oMath>
                  </m:oMathPara>
                </a14:m>
                <a:endParaRPr lang="en-US" altLang="zh-TW" dirty="0"/>
              </a:p>
              <a:p>
                <a:pPr marL="0" indent="0">
                  <a:buNone/>
                </a:pPr>
                <a14:m>
                  <m:oMathPara xmlns:m="http://schemas.openxmlformats.org/officeDocument/2006/math">
                    <m:oMathParaPr>
                      <m:jc m:val="centerGroup"/>
                    </m:oMathParaPr>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𝑗</m:t>
                          </m:r>
                        </m:e>
                        <m:sub>
                          <m:r>
                            <a:rPr lang="en-US" altLang="zh-TW" i="1">
                              <a:latin typeface="Cambria Math" panose="02040503050406030204" pitchFamily="18" charset="0"/>
                            </a:rPr>
                            <m:t>1</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𝑗</m:t>
                          </m:r>
                        </m:e>
                        <m:sub>
                          <m:r>
                            <a:rPr lang="en-US" altLang="zh-TW" i="1">
                              <a:latin typeface="Cambria Math" panose="02040503050406030204" pitchFamily="18" charset="0"/>
                            </a:rPr>
                            <m:t>2</m:t>
                          </m:r>
                        </m:sub>
                      </m:sSub>
                      <m:r>
                        <a:rPr lang="en-US" altLang="zh-TW" i="1">
                          <a:latin typeface="Cambria Math" panose="02040503050406030204" pitchFamily="18" charset="0"/>
                          <a:ea typeface="Cambria Math" panose="02040503050406030204" pitchFamily="18" charset="0"/>
                        </a:rPr>
                        <m:t>→ </m:t>
                      </m:r>
                      <m:sSub>
                        <m:sSubPr>
                          <m:ctrlPr>
                            <a:rPr lang="en-US" altLang="zh-TW" i="1">
                              <a:latin typeface="Cambria Math" panose="02040503050406030204" pitchFamily="18" charset="0"/>
                            </a:rPr>
                          </m:ctrlPr>
                        </m:sSubPr>
                        <m:e>
                          <m:r>
                            <a:rPr lang="en-US" altLang="zh-TW" i="1">
                              <a:latin typeface="Cambria Math" panose="02040503050406030204" pitchFamily="18" charset="0"/>
                            </a:rPr>
                            <m:t>𝑞</m:t>
                          </m:r>
                        </m:e>
                        <m:sub>
                          <m:r>
                            <a:rPr lang="en-US" altLang="zh-TW" i="1">
                              <a:latin typeface="Cambria Math" panose="02040503050406030204" pitchFamily="18" charset="0"/>
                            </a:rPr>
                            <m:t>1</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𝑞</m:t>
                          </m:r>
                        </m:e>
                        <m:sub>
                          <m:r>
                            <a:rPr lang="en-US" altLang="zh-TW" i="1">
                              <a:latin typeface="Cambria Math" panose="02040503050406030204" pitchFamily="18" charset="0"/>
                            </a:rPr>
                            <m:t>2</m:t>
                          </m:r>
                        </m:sub>
                      </m:sSub>
                    </m:oMath>
                  </m:oMathPara>
                </a14:m>
                <a:endParaRPr lang="zh-TW" altLang="en-US" dirty="0"/>
              </a:p>
              <a:p>
                <a:endParaRPr lang="zh-TW" altLang="en-US" dirty="0"/>
              </a:p>
            </p:txBody>
          </p:sp>
        </mc:Choice>
        <mc:Fallback xmlns="">
          <p:sp>
            <p:nvSpPr>
              <p:cNvPr id="3" name="內容版面配置區 2">
                <a:extLst>
                  <a:ext uri="{FF2B5EF4-FFF2-40B4-BE49-F238E27FC236}">
                    <a16:creationId xmlns:a16="http://schemas.microsoft.com/office/drawing/2014/main" id="{8013998C-C80D-41A5-BDD5-9C8EA536EAF3}"/>
                  </a:ext>
                </a:extLst>
              </p:cNvPr>
              <p:cNvSpPr>
                <a:spLocks noGrp="1" noRot="1" noChangeAspect="1" noMove="1" noResize="1" noEditPoints="1" noAdjustHandles="1" noChangeArrowheads="1" noChangeShapeType="1" noTextEdit="1"/>
              </p:cNvSpPr>
              <p:nvPr>
                <p:ph idx="1"/>
              </p:nvPr>
            </p:nvSpPr>
            <p:spPr>
              <a:xfrm>
                <a:off x="547832" y="2141537"/>
                <a:ext cx="3520736" cy="4351338"/>
              </a:xfr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A98636E8-3BCE-4888-B397-A0B32CFC7F52}"/>
                  </a:ext>
                </a:extLst>
              </p:cNvPr>
              <p:cNvSpPr txBox="1"/>
              <p:nvPr/>
            </p:nvSpPr>
            <p:spPr>
              <a:xfrm>
                <a:off x="4518734" y="2068497"/>
                <a:ext cx="7412854" cy="1938992"/>
              </a:xfrm>
              <a:prstGeom prst="rect">
                <a:avLst/>
              </a:prstGeom>
              <a:noFill/>
            </p:spPr>
            <p:txBody>
              <a:bodyPr wrap="square" rtlCol="0">
                <a:spAutoFit/>
              </a:bodyPr>
              <a:lstStyle/>
              <a:p>
                <a:r>
                  <a:rPr lang="en-US" altLang="zh-TW" sz="2000" dirty="0"/>
                  <a:t>Type-0:   </a:t>
                </a:r>
                <a14:m>
                  <m:oMath xmlns:m="http://schemas.openxmlformats.org/officeDocument/2006/math">
                    <m:d>
                      <m:dPr>
                        <m:ctrlPr>
                          <a:rPr lang="en-US" altLang="zh-TW" sz="2000" b="0" i="1" smtClean="0">
                            <a:latin typeface="Cambria Math" panose="02040503050406030204" pitchFamily="18" charset="0"/>
                          </a:rPr>
                        </m:ctrlPr>
                      </m:dPr>
                      <m:e>
                        <m:sSub>
                          <m:sSubPr>
                            <m:ctrlPr>
                              <a:rPr lang="en-US" altLang="zh-TW" sz="2000" i="1" smtClean="0">
                                <a:latin typeface="Cambria Math" panose="02040503050406030204" pitchFamily="18" charset="0"/>
                              </a:rPr>
                            </m:ctrlPr>
                          </m:sSubPr>
                          <m:e>
                            <m:r>
                              <a:rPr lang="en-US" altLang="zh-TW" sz="2000" i="1">
                                <a:latin typeface="Cambria Math" panose="02040503050406030204" pitchFamily="18" charset="0"/>
                              </a:rPr>
                              <m:t>𝑖</m:t>
                            </m:r>
                          </m:e>
                          <m:sub>
                            <m:r>
                              <a:rPr lang="en-US" altLang="zh-TW" sz="2000" i="1">
                                <a:latin typeface="Cambria Math" panose="02040503050406030204" pitchFamily="18" charset="0"/>
                              </a:rPr>
                              <m:t>1</m:t>
                            </m:r>
                          </m:sub>
                        </m:sSub>
                        <m:r>
                          <a:rPr lang="en-US" altLang="zh-TW" sz="2000" b="0" i="1" smtClean="0">
                            <a:latin typeface="Cambria Math" panose="02040503050406030204" pitchFamily="18" charset="0"/>
                          </a:rPr>
                          <m:t>−</m:t>
                        </m:r>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𝑖</m:t>
                            </m:r>
                          </m:e>
                          <m:sub>
                            <m:r>
                              <a:rPr lang="en-US" altLang="zh-TW" sz="2000" i="1">
                                <a:latin typeface="Cambria Math" panose="02040503050406030204" pitchFamily="18" charset="0"/>
                              </a:rPr>
                              <m:t>2</m:t>
                            </m:r>
                          </m:sub>
                        </m:sSub>
                      </m:e>
                    </m:d>
                    <m:r>
                      <a:rPr lang="en-US" altLang="zh-TW" sz="2000" i="1" smtClean="0">
                        <a:latin typeface="Cambria Math" panose="02040503050406030204" pitchFamily="18" charset="0"/>
                        <a:ea typeface="Cambria Math" panose="02040503050406030204" pitchFamily="18" charset="0"/>
                      </a:rPr>
                      <m:t>×</m:t>
                    </m:r>
                    <m:d>
                      <m:dPr>
                        <m:ctrlPr>
                          <a:rPr lang="en-US" altLang="zh-TW" sz="2000" b="0" i="1" smtClean="0">
                            <a:latin typeface="Cambria Math" panose="02040503050406030204" pitchFamily="18" charset="0"/>
                          </a:rPr>
                        </m:ctrlPr>
                      </m:dPr>
                      <m:e>
                        <m:sSub>
                          <m:sSubPr>
                            <m:ctrlPr>
                              <a:rPr lang="en-US" altLang="zh-TW" sz="2000" i="1" smtClean="0">
                                <a:latin typeface="Cambria Math" panose="02040503050406030204" pitchFamily="18" charset="0"/>
                              </a:rPr>
                            </m:ctrlPr>
                          </m:sSubPr>
                          <m:e>
                            <m:r>
                              <a:rPr lang="en-US" altLang="zh-TW" sz="2000" b="0" i="1" smtClean="0">
                                <a:latin typeface="Cambria Math" panose="02040503050406030204" pitchFamily="18" charset="0"/>
                              </a:rPr>
                              <m:t>𝑝</m:t>
                            </m:r>
                          </m:e>
                          <m:sub>
                            <m:r>
                              <a:rPr lang="en-US" altLang="zh-TW" sz="2000" i="1">
                                <a:latin typeface="Cambria Math" panose="02040503050406030204" pitchFamily="18" charset="0"/>
                              </a:rPr>
                              <m:t>1</m:t>
                            </m:r>
                          </m:sub>
                        </m:sSub>
                        <m:r>
                          <a:rPr lang="en-US" altLang="zh-TW" sz="2000" b="0" i="1" smtClean="0">
                            <a:latin typeface="Cambria Math" panose="02040503050406030204" pitchFamily="18" charset="0"/>
                          </a:rPr>
                          <m:t>−</m:t>
                        </m:r>
                        <m:sSub>
                          <m:sSubPr>
                            <m:ctrlPr>
                              <a:rPr lang="en-US" altLang="zh-TW" sz="2000" i="1">
                                <a:latin typeface="Cambria Math" panose="02040503050406030204" pitchFamily="18" charset="0"/>
                              </a:rPr>
                            </m:ctrlPr>
                          </m:sSubPr>
                          <m:e>
                            <m:r>
                              <a:rPr lang="en-US" altLang="zh-TW" sz="2000" b="0" i="1" smtClean="0">
                                <a:latin typeface="Cambria Math" panose="02040503050406030204" pitchFamily="18" charset="0"/>
                              </a:rPr>
                              <m:t>𝑝</m:t>
                            </m:r>
                          </m:e>
                          <m:sub>
                            <m:r>
                              <a:rPr lang="en-US" altLang="zh-TW" sz="2000" i="1">
                                <a:latin typeface="Cambria Math" panose="02040503050406030204" pitchFamily="18" charset="0"/>
                              </a:rPr>
                              <m:t>2</m:t>
                            </m:r>
                          </m:sub>
                        </m:sSub>
                      </m:e>
                    </m:d>
                    <m:r>
                      <a:rPr lang="en-US" altLang="zh-TW" sz="2000" b="0" i="1" smtClean="0">
                        <a:latin typeface="Cambria Math" panose="02040503050406030204" pitchFamily="18" charset="0"/>
                      </a:rPr>
                      <m:t>≥0 </m:t>
                    </m:r>
                    <m:r>
                      <a:rPr lang="en-US" altLang="zh-TW" sz="2000" b="0" i="1" smtClean="0">
                        <a:latin typeface="Cambria Math" panose="02040503050406030204" pitchFamily="18" charset="0"/>
                      </a:rPr>
                      <m:t>𝑎𝑛𝑑</m:t>
                    </m:r>
                    <m:r>
                      <a:rPr lang="en-US" altLang="zh-TW" sz="2000" b="0" i="1" smtClean="0">
                        <a:latin typeface="Cambria Math" panose="02040503050406030204" pitchFamily="18" charset="0"/>
                      </a:rPr>
                      <m:t> </m:t>
                    </m:r>
                    <m:d>
                      <m:dPr>
                        <m:ctrlPr>
                          <a:rPr lang="en-US" altLang="zh-TW" sz="2000" b="0" i="1" smtClean="0">
                            <a:latin typeface="Cambria Math" panose="02040503050406030204" pitchFamily="18" charset="0"/>
                          </a:rPr>
                        </m:ctrlPr>
                      </m:dPr>
                      <m:e>
                        <m:sSub>
                          <m:sSubPr>
                            <m:ctrlPr>
                              <a:rPr lang="en-US" altLang="zh-TW" sz="2000" i="1" smtClean="0">
                                <a:latin typeface="Cambria Math" panose="02040503050406030204" pitchFamily="18" charset="0"/>
                              </a:rPr>
                            </m:ctrlPr>
                          </m:sSubPr>
                          <m:e>
                            <m:r>
                              <a:rPr lang="en-US" altLang="zh-TW" sz="2000" b="0" i="1" smtClean="0">
                                <a:latin typeface="Cambria Math" panose="02040503050406030204" pitchFamily="18" charset="0"/>
                              </a:rPr>
                              <m:t>𝑗</m:t>
                            </m:r>
                          </m:e>
                          <m:sub>
                            <m:r>
                              <a:rPr lang="en-US" altLang="zh-TW" sz="2000" i="1">
                                <a:latin typeface="Cambria Math" panose="02040503050406030204" pitchFamily="18" charset="0"/>
                              </a:rPr>
                              <m:t>1</m:t>
                            </m:r>
                          </m:sub>
                        </m:sSub>
                        <m:r>
                          <a:rPr lang="en-US" altLang="zh-TW" sz="2000" b="0" i="1" smtClean="0">
                            <a:latin typeface="Cambria Math" panose="02040503050406030204" pitchFamily="18" charset="0"/>
                          </a:rPr>
                          <m:t>−</m:t>
                        </m:r>
                        <m:sSub>
                          <m:sSubPr>
                            <m:ctrlPr>
                              <a:rPr lang="en-US" altLang="zh-TW" sz="2000" i="1">
                                <a:latin typeface="Cambria Math" panose="02040503050406030204" pitchFamily="18" charset="0"/>
                              </a:rPr>
                            </m:ctrlPr>
                          </m:sSubPr>
                          <m:e>
                            <m:r>
                              <a:rPr lang="en-US" altLang="zh-TW" sz="2000" b="0" i="1" smtClean="0">
                                <a:latin typeface="Cambria Math" panose="02040503050406030204" pitchFamily="18" charset="0"/>
                              </a:rPr>
                              <m:t>𝑗</m:t>
                            </m:r>
                          </m:e>
                          <m:sub>
                            <m:r>
                              <a:rPr lang="en-US" altLang="zh-TW" sz="2000" i="1">
                                <a:latin typeface="Cambria Math" panose="02040503050406030204" pitchFamily="18" charset="0"/>
                              </a:rPr>
                              <m:t>2</m:t>
                            </m:r>
                          </m:sub>
                        </m:sSub>
                      </m:e>
                    </m:d>
                    <m:r>
                      <a:rPr lang="en-US" altLang="zh-TW" sz="2000" i="1" smtClean="0">
                        <a:latin typeface="Cambria Math" panose="02040503050406030204" pitchFamily="18" charset="0"/>
                        <a:ea typeface="Cambria Math" panose="02040503050406030204" pitchFamily="18" charset="0"/>
                      </a:rPr>
                      <m:t>×</m:t>
                    </m:r>
                    <m:d>
                      <m:dPr>
                        <m:ctrlPr>
                          <a:rPr lang="en-US" altLang="zh-TW" sz="2000" b="0" i="1" smtClean="0">
                            <a:latin typeface="Cambria Math" panose="02040503050406030204" pitchFamily="18" charset="0"/>
                          </a:rPr>
                        </m:ctrlPr>
                      </m:dPr>
                      <m:e>
                        <m:sSub>
                          <m:sSubPr>
                            <m:ctrlPr>
                              <a:rPr lang="en-US" altLang="zh-TW" sz="2000" i="1" smtClean="0">
                                <a:latin typeface="Cambria Math" panose="02040503050406030204" pitchFamily="18" charset="0"/>
                              </a:rPr>
                            </m:ctrlPr>
                          </m:sSubPr>
                          <m:e>
                            <m:r>
                              <a:rPr lang="en-US" altLang="zh-TW" sz="2000" b="0" i="1" smtClean="0">
                                <a:latin typeface="Cambria Math" panose="02040503050406030204" pitchFamily="18" charset="0"/>
                              </a:rPr>
                              <m:t>𝑞</m:t>
                            </m:r>
                          </m:e>
                          <m:sub>
                            <m:r>
                              <a:rPr lang="en-US" altLang="zh-TW" sz="2000" i="1">
                                <a:latin typeface="Cambria Math" panose="02040503050406030204" pitchFamily="18" charset="0"/>
                              </a:rPr>
                              <m:t>1</m:t>
                            </m:r>
                          </m:sub>
                        </m:sSub>
                        <m:r>
                          <a:rPr lang="en-US" altLang="zh-TW" sz="2000" b="0" i="1" smtClean="0">
                            <a:latin typeface="Cambria Math" panose="02040503050406030204" pitchFamily="18" charset="0"/>
                          </a:rPr>
                          <m:t>−</m:t>
                        </m:r>
                        <m:sSub>
                          <m:sSubPr>
                            <m:ctrlPr>
                              <a:rPr lang="en-US" altLang="zh-TW" sz="2000" i="1">
                                <a:latin typeface="Cambria Math" panose="02040503050406030204" pitchFamily="18" charset="0"/>
                              </a:rPr>
                            </m:ctrlPr>
                          </m:sSubPr>
                          <m:e>
                            <m:r>
                              <a:rPr lang="en-US" altLang="zh-TW" sz="2000" b="0" i="1" smtClean="0">
                                <a:latin typeface="Cambria Math" panose="02040503050406030204" pitchFamily="18" charset="0"/>
                              </a:rPr>
                              <m:t>𝑞</m:t>
                            </m:r>
                          </m:e>
                          <m:sub>
                            <m:r>
                              <a:rPr lang="en-US" altLang="zh-TW" sz="2000" i="1">
                                <a:latin typeface="Cambria Math" panose="02040503050406030204" pitchFamily="18" charset="0"/>
                              </a:rPr>
                              <m:t>2</m:t>
                            </m:r>
                          </m:sub>
                        </m:sSub>
                      </m:e>
                    </m:d>
                    <m:r>
                      <a:rPr lang="en-US" altLang="zh-TW" sz="2000" b="0" i="1" smtClean="0">
                        <a:latin typeface="Cambria Math" panose="02040503050406030204" pitchFamily="18" charset="0"/>
                      </a:rPr>
                      <m:t>≥0</m:t>
                    </m:r>
                  </m:oMath>
                </a14:m>
                <a:endParaRPr lang="en-US" altLang="zh-TW" sz="2000" dirty="0"/>
              </a:p>
              <a:p>
                <a:endParaRPr lang="en-US" altLang="zh-TW" sz="2000" dirty="0"/>
              </a:p>
              <a:p>
                <a:r>
                  <a:rPr lang="en-US" altLang="zh-TW" sz="2000" dirty="0"/>
                  <a:t>Type-1:   </a:t>
                </a:r>
                <a14:m>
                  <m:oMath xmlns:m="http://schemas.openxmlformats.org/officeDocument/2006/math">
                    <m:d>
                      <m:dPr>
                        <m:begChr m:val="["/>
                        <m:endChr m:val="]"/>
                        <m:ctrlPr>
                          <a:rPr lang="en-US" altLang="zh-TW" sz="2000" b="0" i="1" smtClean="0">
                            <a:latin typeface="Cambria Math" panose="02040503050406030204" pitchFamily="18" charset="0"/>
                          </a:rPr>
                        </m:ctrlPr>
                      </m:dPr>
                      <m:e>
                        <m:d>
                          <m:dPr>
                            <m:ctrlPr>
                              <a:rPr lang="en-US" altLang="zh-TW" sz="2000" b="0" i="1" smtClean="0">
                                <a:latin typeface="Cambria Math" panose="02040503050406030204" pitchFamily="18" charset="0"/>
                              </a:rPr>
                            </m:ctrlPr>
                          </m:dPr>
                          <m:e>
                            <m:sSub>
                              <m:sSubPr>
                                <m:ctrlPr>
                                  <a:rPr lang="en-US" altLang="zh-TW" sz="2000" i="1" smtClean="0">
                                    <a:latin typeface="Cambria Math" panose="02040503050406030204" pitchFamily="18" charset="0"/>
                                  </a:rPr>
                                </m:ctrlPr>
                              </m:sSubPr>
                              <m:e>
                                <m:r>
                                  <a:rPr lang="en-US" altLang="zh-TW" sz="2000" i="1">
                                    <a:latin typeface="Cambria Math" panose="02040503050406030204" pitchFamily="18" charset="0"/>
                                  </a:rPr>
                                  <m:t>𝑖</m:t>
                                </m:r>
                              </m:e>
                              <m:sub>
                                <m:r>
                                  <a:rPr lang="en-US" altLang="zh-TW" sz="2000" i="1">
                                    <a:latin typeface="Cambria Math" panose="02040503050406030204" pitchFamily="18" charset="0"/>
                                  </a:rPr>
                                  <m:t>1</m:t>
                                </m:r>
                              </m:sub>
                            </m:sSub>
                            <m:r>
                              <a:rPr lang="en-US" altLang="zh-TW" sz="2000" b="0" i="1" smtClean="0">
                                <a:latin typeface="Cambria Math" panose="02040503050406030204" pitchFamily="18" charset="0"/>
                              </a:rPr>
                              <m:t>−</m:t>
                            </m:r>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𝑖</m:t>
                                </m:r>
                              </m:e>
                              <m:sub>
                                <m:r>
                                  <a:rPr lang="en-US" altLang="zh-TW" sz="2000" i="1">
                                    <a:latin typeface="Cambria Math" panose="02040503050406030204" pitchFamily="18" charset="0"/>
                                  </a:rPr>
                                  <m:t>2</m:t>
                                </m:r>
                              </m:sub>
                            </m:sSub>
                          </m:e>
                        </m:d>
                        <m:r>
                          <a:rPr lang="en-US" altLang="zh-TW" sz="2000" i="1" smtClean="0">
                            <a:latin typeface="Cambria Math" panose="02040503050406030204" pitchFamily="18" charset="0"/>
                            <a:ea typeface="Cambria Math" panose="02040503050406030204" pitchFamily="18" charset="0"/>
                          </a:rPr>
                          <m:t>×</m:t>
                        </m:r>
                        <m:d>
                          <m:dPr>
                            <m:ctrlPr>
                              <a:rPr lang="en-US" altLang="zh-TW" sz="2000" b="0" i="1" smtClean="0">
                                <a:latin typeface="Cambria Math" panose="02040503050406030204" pitchFamily="18" charset="0"/>
                              </a:rPr>
                            </m:ctrlPr>
                          </m:dPr>
                          <m:e>
                            <m:sSub>
                              <m:sSubPr>
                                <m:ctrlPr>
                                  <a:rPr lang="en-US" altLang="zh-TW" sz="2000" i="1" smtClean="0">
                                    <a:latin typeface="Cambria Math" panose="02040503050406030204" pitchFamily="18" charset="0"/>
                                  </a:rPr>
                                </m:ctrlPr>
                              </m:sSubPr>
                              <m:e>
                                <m:r>
                                  <a:rPr lang="en-US" altLang="zh-TW" sz="2000" b="0" i="1" smtClean="0">
                                    <a:latin typeface="Cambria Math" panose="02040503050406030204" pitchFamily="18" charset="0"/>
                                  </a:rPr>
                                  <m:t>𝑝</m:t>
                                </m:r>
                              </m:e>
                              <m:sub>
                                <m:r>
                                  <a:rPr lang="en-US" altLang="zh-TW" sz="2000" i="1">
                                    <a:latin typeface="Cambria Math" panose="02040503050406030204" pitchFamily="18" charset="0"/>
                                  </a:rPr>
                                  <m:t>1</m:t>
                                </m:r>
                              </m:sub>
                            </m:sSub>
                            <m:r>
                              <a:rPr lang="en-US" altLang="zh-TW" sz="2000" b="0" i="1" smtClean="0">
                                <a:latin typeface="Cambria Math" panose="02040503050406030204" pitchFamily="18" charset="0"/>
                              </a:rPr>
                              <m:t>−</m:t>
                            </m:r>
                            <m:sSub>
                              <m:sSubPr>
                                <m:ctrlPr>
                                  <a:rPr lang="en-US" altLang="zh-TW" sz="2000" i="1">
                                    <a:latin typeface="Cambria Math" panose="02040503050406030204" pitchFamily="18" charset="0"/>
                                  </a:rPr>
                                </m:ctrlPr>
                              </m:sSubPr>
                              <m:e>
                                <m:r>
                                  <a:rPr lang="en-US" altLang="zh-TW" sz="2000" b="0" i="1" smtClean="0">
                                    <a:latin typeface="Cambria Math" panose="02040503050406030204" pitchFamily="18" charset="0"/>
                                  </a:rPr>
                                  <m:t>𝑝</m:t>
                                </m:r>
                              </m:e>
                              <m:sub>
                                <m:r>
                                  <a:rPr lang="en-US" altLang="zh-TW" sz="2000" i="1">
                                    <a:latin typeface="Cambria Math" panose="02040503050406030204" pitchFamily="18" charset="0"/>
                                  </a:rPr>
                                  <m:t>2</m:t>
                                </m:r>
                              </m:sub>
                            </m:sSub>
                          </m:e>
                        </m:d>
                        <m:r>
                          <a:rPr lang="en-US" altLang="zh-TW" sz="2000" b="0" i="1" smtClean="0">
                            <a:latin typeface="Cambria Math" panose="02040503050406030204" pitchFamily="18" charset="0"/>
                          </a:rPr>
                          <m:t>&gt;0 </m:t>
                        </m:r>
                        <m:r>
                          <a:rPr lang="en-US" altLang="zh-TW" sz="2000" b="0" i="1" smtClean="0">
                            <a:latin typeface="Cambria Math" panose="02040503050406030204" pitchFamily="18" charset="0"/>
                          </a:rPr>
                          <m:t>𝑜𝑟</m:t>
                        </m:r>
                        <m:r>
                          <a:rPr lang="en-US" altLang="zh-TW" sz="2000" b="0" i="1" smtClean="0">
                            <a:latin typeface="Cambria Math" panose="02040503050406030204" pitchFamily="18" charset="0"/>
                          </a:rPr>
                          <m:t> </m:t>
                        </m:r>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𝑖</m:t>
                            </m:r>
                          </m:e>
                          <m:sub>
                            <m:r>
                              <a:rPr lang="en-US" altLang="zh-TW" sz="2000" b="0" i="1" smtClean="0">
                                <a:latin typeface="Cambria Math" panose="02040503050406030204" pitchFamily="18" charset="0"/>
                              </a:rPr>
                              <m:t>1</m:t>
                            </m:r>
                          </m:sub>
                        </m:sSub>
                        <m:r>
                          <a:rPr lang="en-US" altLang="zh-TW" sz="2000" b="0" i="1" smtClean="0">
                            <a:latin typeface="Cambria Math" panose="02040503050406030204" pitchFamily="18" charset="0"/>
                          </a:rPr>
                          <m:t>−</m:t>
                        </m:r>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𝑖</m:t>
                            </m:r>
                          </m:e>
                          <m:sub>
                            <m:r>
                              <a:rPr lang="en-US" altLang="zh-TW" sz="2000" b="0" i="1" smtClean="0">
                                <a:latin typeface="Cambria Math" panose="02040503050406030204" pitchFamily="18" charset="0"/>
                              </a:rPr>
                              <m:t>2</m:t>
                            </m:r>
                          </m:sub>
                        </m:sSub>
                        <m:r>
                          <a:rPr lang="en-US" altLang="zh-TW" sz="2000" b="0" i="1" smtClean="0">
                            <a:latin typeface="Cambria Math" panose="02040503050406030204" pitchFamily="18" charset="0"/>
                          </a:rPr>
                          <m:t>=</m:t>
                        </m:r>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𝑝</m:t>
                            </m:r>
                          </m:e>
                          <m:sub>
                            <m:r>
                              <a:rPr lang="en-US" altLang="zh-TW" sz="2000" b="0" i="1" smtClean="0">
                                <a:latin typeface="Cambria Math" panose="02040503050406030204" pitchFamily="18" charset="0"/>
                              </a:rPr>
                              <m:t>1</m:t>
                            </m:r>
                          </m:sub>
                        </m:sSub>
                        <m:r>
                          <a:rPr lang="en-US" altLang="zh-TW" sz="2000" b="0" i="1" smtClean="0">
                            <a:latin typeface="Cambria Math" panose="02040503050406030204" pitchFamily="18" charset="0"/>
                          </a:rPr>
                          <m:t>−</m:t>
                        </m:r>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𝑝</m:t>
                            </m:r>
                          </m:e>
                          <m:sub>
                            <m:r>
                              <a:rPr lang="en-US" altLang="zh-TW" sz="2000" b="0" i="1" smtClean="0">
                                <a:latin typeface="Cambria Math" panose="02040503050406030204" pitchFamily="18" charset="0"/>
                              </a:rPr>
                              <m:t>2</m:t>
                            </m:r>
                          </m:sub>
                        </m:sSub>
                        <m:r>
                          <a:rPr lang="en-US" altLang="zh-TW" sz="2000" b="0" i="1" smtClean="0">
                            <a:latin typeface="Cambria Math" panose="02040503050406030204" pitchFamily="18" charset="0"/>
                          </a:rPr>
                          <m:t>=0</m:t>
                        </m:r>
                      </m:e>
                    </m:d>
                    <m:r>
                      <a:rPr lang="en-US" altLang="zh-TW" sz="2000" b="0" i="1" smtClean="0">
                        <a:latin typeface="Cambria Math" panose="02040503050406030204" pitchFamily="18" charset="0"/>
                      </a:rPr>
                      <m:t> </m:t>
                    </m:r>
                    <m:r>
                      <a:rPr lang="en-US" altLang="zh-TW" sz="2000" b="0" i="1" smtClean="0">
                        <a:latin typeface="Cambria Math" panose="02040503050406030204" pitchFamily="18" charset="0"/>
                      </a:rPr>
                      <m:t>𝑎𝑛𝑑</m:t>
                    </m:r>
                  </m:oMath>
                </a14:m>
                <a:br>
                  <a:rPr lang="en-US" altLang="zh-TW" sz="2000" b="0" i="1" dirty="0">
                    <a:latin typeface="Cambria Math" panose="02040503050406030204" pitchFamily="18" charset="0"/>
                  </a:rPr>
                </a:br>
                <a:r>
                  <a:rPr lang="zh-TW" altLang="en-US" sz="2000" b="0" i="1" dirty="0">
                    <a:latin typeface="Cambria Math" panose="02040503050406030204" pitchFamily="18" charset="0"/>
                  </a:rPr>
                  <a:t>  </a:t>
                </a:r>
                <a14:m>
                  <m:oMath xmlns:m="http://schemas.openxmlformats.org/officeDocument/2006/math">
                    <m:r>
                      <a:rPr lang="zh-TW" altLang="en-US" sz="2000" i="1" dirty="0">
                        <a:latin typeface="Cambria Math" panose="02040503050406030204" pitchFamily="18" charset="0"/>
                      </a:rPr>
                      <m:t> </m:t>
                    </m:r>
                    <m:r>
                      <a:rPr lang="zh-TW" altLang="en-US" sz="2000" i="1" dirty="0" smtClean="0">
                        <a:latin typeface="Cambria Math" panose="02040503050406030204" pitchFamily="18" charset="0"/>
                      </a:rPr>
                      <m:t> </m:t>
                    </m:r>
                    <m:r>
                      <a:rPr lang="zh-TW" altLang="en-US" sz="2000" i="1" dirty="0">
                        <a:latin typeface="Cambria Math" panose="02040503050406030204" pitchFamily="18" charset="0"/>
                      </a:rPr>
                      <m:t> </m:t>
                    </m:r>
                    <m:r>
                      <a:rPr lang="zh-TW" altLang="en-US" sz="2000" i="1" dirty="0" smtClean="0">
                        <a:latin typeface="Cambria Math" panose="02040503050406030204" pitchFamily="18" charset="0"/>
                      </a:rPr>
                      <m:t> </m:t>
                    </m:r>
                    <m:r>
                      <a:rPr lang="zh-TW" altLang="en-US" sz="2000" i="1" dirty="0">
                        <a:latin typeface="Cambria Math" panose="02040503050406030204" pitchFamily="18" charset="0"/>
                      </a:rPr>
                      <m:t> </m:t>
                    </m:r>
                    <m:r>
                      <a:rPr lang="zh-TW" altLang="en-US" sz="2000" i="1" dirty="0" smtClean="0">
                        <a:latin typeface="Cambria Math" panose="02040503050406030204" pitchFamily="18" charset="0"/>
                      </a:rPr>
                      <m:t> </m:t>
                    </m:r>
                    <m:r>
                      <a:rPr lang="zh-TW" altLang="en-US" sz="2000" i="1" dirty="0">
                        <a:latin typeface="Cambria Math" panose="02040503050406030204" pitchFamily="18" charset="0"/>
                      </a:rPr>
                      <m:t> </m:t>
                    </m:r>
                    <m:r>
                      <a:rPr lang="zh-TW" altLang="en-US" sz="2000" i="1" dirty="0" smtClean="0">
                        <a:latin typeface="Cambria Math" panose="02040503050406030204" pitchFamily="18" charset="0"/>
                      </a:rPr>
                      <m:t> </m:t>
                    </m:r>
                    <m:r>
                      <a:rPr lang="zh-TW" altLang="en-US" sz="2000" i="1" dirty="0">
                        <a:latin typeface="Cambria Math" panose="02040503050406030204" pitchFamily="18" charset="0"/>
                      </a:rPr>
                      <m:t> </m:t>
                    </m:r>
                    <m:r>
                      <a:rPr lang="zh-TW" altLang="en-US" sz="2000" i="1" dirty="0" smtClean="0">
                        <a:latin typeface="Cambria Math" panose="02040503050406030204" pitchFamily="18" charset="0"/>
                      </a:rPr>
                      <m:t> </m:t>
                    </m:r>
                    <m:r>
                      <a:rPr lang="zh-TW" altLang="en-US" sz="2000" i="1" dirty="0">
                        <a:latin typeface="Cambria Math" panose="02040503050406030204" pitchFamily="18" charset="0"/>
                      </a:rPr>
                      <m:t> </m:t>
                    </m:r>
                    <m:r>
                      <a:rPr lang="zh-TW" altLang="en-US" sz="2000" i="1" dirty="0" smtClean="0">
                        <a:latin typeface="Cambria Math" panose="02040503050406030204" pitchFamily="18" charset="0"/>
                      </a:rPr>
                      <m:t> </m:t>
                    </m:r>
                    <m:r>
                      <a:rPr lang="zh-TW" altLang="en-US" sz="2000" i="1" dirty="0">
                        <a:latin typeface="Cambria Math" panose="02040503050406030204" pitchFamily="18" charset="0"/>
                      </a:rPr>
                      <m:t> </m:t>
                    </m:r>
                    <m:r>
                      <a:rPr lang="zh-TW" altLang="en-US" sz="2000" i="1" dirty="0" smtClean="0">
                        <a:latin typeface="Cambria Math" panose="02040503050406030204" pitchFamily="18" charset="0"/>
                      </a:rPr>
                      <m:t>   </m:t>
                    </m:r>
                    <m:r>
                      <a:rPr lang="en-US" altLang="zh-TW" sz="2000" b="0" i="1" smtClean="0">
                        <a:latin typeface="Cambria Math" panose="02040503050406030204" pitchFamily="18" charset="0"/>
                      </a:rPr>
                      <m:t>[</m:t>
                    </m:r>
                    <m:d>
                      <m:dPr>
                        <m:ctrlPr>
                          <a:rPr lang="en-US" altLang="zh-TW" sz="2000" b="0" i="1" smtClean="0">
                            <a:latin typeface="Cambria Math" panose="02040503050406030204" pitchFamily="18" charset="0"/>
                          </a:rPr>
                        </m:ctrlPr>
                      </m:dPr>
                      <m:e>
                        <m:sSub>
                          <m:sSubPr>
                            <m:ctrlPr>
                              <a:rPr lang="en-US" altLang="zh-TW" sz="2000" i="1" smtClean="0">
                                <a:latin typeface="Cambria Math" panose="02040503050406030204" pitchFamily="18" charset="0"/>
                              </a:rPr>
                            </m:ctrlPr>
                          </m:sSubPr>
                          <m:e>
                            <m:r>
                              <a:rPr lang="en-US" altLang="zh-TW" sz="2000" b="0" i="1" smtClean="0">
                                <a:latin typeface="Cambria Math" panose="02040503050406030204" pitchFamily="18" charset="0"/>
                              </a:rPr>
                              <m:t>𝑗</m:t>
                            </m:r>
                          </m:e>
                          <m:sub>
                            <m:r>
                              <a:rPr lang="en-US" altLang="zh-TW" sz="2000" i="1">
                                <a:latin typeface="Cambria Math" panose="02040503050406030204" pitchFamily="18" charset="0"/>
                              </a:rPr>
                              <m:t>1</m:t>
                            </m:r>
                          </m:sub>
                        </m:sSub>
                        <m:r>
                          <a:rPr lang="en-US" altLang="zh-TW" sz="2000" b="0" i="1" smtClean="0">
                            <a:latin typeface="Cambria Math" panose="02040503050406030204" pitchFamily="18" charset="0"/>
                          </a:rPr>
                          <m:t>−</m:t>
                        </m:r>
                        <m:sSub>
                          <m:sSubPr>
                            <m:ctrlPr>
                              <a:rPr lang="en-US" altLang="zh-TW" sz="2000" i="1">
                                <a:latin typeface="Cambria Math" panose="02040503050406030204" pitchFamily="18" charset="0"/>
                              </a:rPr>
                            </m:ctrlPr>
                          </m:sSubPr>
                          <m:e>
                            <m:r>
                              <a:rPr lang="en-US" altLang="zh-TW" sz="2000" b="0" i="1" smtClean="0">
                                <a:latin typeface="Cambria Math" panose="02040503050406030204" pitchFamily="18" charset="0"/>
                              </a:rPr>
                              <m:t>𝑗</m:t>
                            </m:r>
                          </m:e>
                          <m:sub>
                            <m:r>
                              <a:rPr lang="en-US" altLang="zh-TW" sz="2000" i="1">
                                <a:latin typeface="Cambria Math" panose="02040503050406030204" pitchFamily="18" charset="0"/>
                              </a:rPr>
                              <m:t>2</m:t>
                            </m:r>
                          </m:sub>
                        </m:sSub>
                      </m:e>
                    </m:d>
                    <m:r>
                      <a:rPr lang="en-US" altLang="zh-TW" sz="2000" i="1" smtClean="0">
                        <a:latin typeface="Cambria Math" panose="02040503050406030204" pitchFamily="18" charset="0"/>
                        <a:ea typeface="Cambria Math" panose="02040503050406030204" pitchFamily="18" charset="0"/>
                      </a:rPr>
                      <m:t>×</m:t>
                    </m:r>
                    <m:d>
                      <m:dPr>
                        <m:ctrlPr>
                          <a:rPr lang="en-US" altLang="zh-TW" sz="2000" b="0" i="1" smtClean="0">
                            <a:latin typeface="Cambria Math" panose="02040503050406030204" pitchFamily="18" charset="0"/>
                          </a:rPr>
                        </m:ctrlPr>
                      </m:dPr>
                      <m:e>
                        <m:sSub>
                          <m:sSubPr>
                            <m:ctrlPr>
                              <a:rPr lang="en-US" altLang="zh-TW" sz="2000" i="1" smtClean="0">
                                <a:latin typeface="Cambria Math" panose="02040503050406030204" pitchFamily="18" charset="0"/>
                              </a:rPr>
                            </m:ctrlPr>
                          </m:sSubPr>
                          <m:e>
                            <m:r>
                              <a:rPr lang="en-US" altLang="zh-TW" sz="2000" b="0" i="1" smtClean="0">
                                <a:latin typeface="Cambria Math" panose="02040503050406030204" pitchFamily="18" charset="0"/>
                              </a:rPr>
                              <m:t>𝑞</m:t>
                            </m:r>
                          </m:e>
                          <m:sub>
                            <m:r>
                              <a:rPr lang="en-US" altLang="zh-TW" sz="2000" i="1">
                                <a:latin typeface="Cambria Math" panose="02040503050406030204" pitchFamily="18" charset="0"/>
                              </a:rPr>
                              <m:t>1</m:t>
                            </m:r>
                          </m:sub>
                        </m:sSub>
                        <m:r>
                          <a:rPr lang="en-US" altLang="zh-TW" sz="2000" b="0" i="1" smtClean="0">
                            <a:latin typeface="Cambria Math" panose="02040503050406030204" pitchFamily="18" charset="0"/>
                          </a:rPr>
                          <m:t>−</m:t>
                        </m:r>
                        <m:sSub>
                          <m:sSubPr>
                            <m:ctrlPr>
                              <a:rPr lang="en-US" altLang="zh-TW" sz="2000" i="1">
                                <a:latin typeface="Cambria Math" panose="02040503050406030204" pitchFamily="18" charset="0"/>
                              </a:rPr>
                            </m:ctrlPr>
                          </m:sSubPr>
                          <m:e>
                            <m:r>
                              <a:rPr lang="en-US" altLang="zh-TW" sz="2000" b="0" i="1" smtClean="0">
                                <a:latin typeface="Cambria Math" panose="02040503050406030204" pitchFamily="18" charset="0"/>
                              </a:rPr>
                              <m:t>𝑞</m:t>
                            </m:r>
                          </m:e>
                          <m:sub>
                            <m:r>
                              <a:rPr lang="en-US" altLang="zh-TW" sz="2000" i="1">
                                <a:latin typeface="Cambria Math" panose="02040503050406030204" pitchFamily="18" charset="0"/>
                              </a:rPr>
                              <m:t>2</m:t>
                            </m:r>
                          </m:sub>
                        </m:sSub>
                      </m:e>
                    </m:d>
                    <m:r>
                      <a:rPr lang="en-US" altLang="zh-TW" sz="2000" b="0" i="1" smtClean="0">
                        <a:latin typeface="Cambria Math" panose="02040503050406030204" pitchFamily="18" charset="0"/>
                      </a:rPr>
                      <m:t>≥0 </m:t>
                    </m:r>
                    <m:r>
                      <a:rPr lang="en-US" altLang="zh-TW" sz="2000" b="0" i="1" smtClean="0">
                        <a:latin typeface="Cambria Math" panose="02040503050406030204" pitchFamily="18" charset="0"/>
                      </a:rPr>
                      <m:t>𝑜𝑟</m:t>
                    </m:r>
                    <m:r>
                      <a:rPr lang="en-US" altLang="zh-TW" sz="2000" b="0" i="1" smtClean="0">
                        <a:latin typeface="Cambria Math" panose="02040503050406030204" pitchFamily="18" charset="0"/>
                      </a:rPr>
                      <m:t> </m:t>
                    </m:r>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𝑗</m:t>
                        </m:r>
                      </m:e>
                      <m:sub>
                        <m:r>
                          <a:rPr lang="en-US" altLang="zh-TW" sz="2000" b="0" i="1" smtClean="0">
                            <a:latin typeface="Cambria Math" panose="02040503050406030204" pitchFamily="18" charset="0"/>
                          </a:rPr>
                          <m:t>1</m:t>
                        </m:r>
                      </m:sub>
                    </m:sSub>
                    <m:r>
                      <a:rPr lang="en-US" altLang="zh-TW" sz="2000" b="0" i="1" smtClean="0">
                        <a:latin typeface="Cambria Math" panose="02040503050406030204" pitchFamily="18" charset="0"/>
                      </a:rPr>
                      <m:t>−</m:t>
                    </m:r>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𝑗</m:t>
                        </m:r>
                      </m:e>
                      <m:sub>
                        <m:r>
                          <a:rPr lang="en-US" altLang="zh-TW" sz="2000" b="0" i="1" smtClean="0">
                            <a:latin typeface="Cambria Math" panose="02040503050406030204" pitchFamily="18" charset="0"/>
                          </a:rPr>
                          <m:t>2</m:t>
                        </m:r>
                      </m:sub>
                    </m:sSub>
                    <m:r>
                      <a:rPr lang="en-US" altLang="zh-TW" sz="2000" b="0" i="1" smtClean="0">
                        <a:latin typeface="Cambria Math" panose="02040503050406030204" pitchFamily="18" charset="0"/>
                      </a:rPr>
                      <m:t>=</m:t>
                    </m:r>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𝑞</m:t>
                        </m:r>
                      </m:e>
                      <m:sub>
                        <m:r>
                          <a:rPr lang="en-US" altLang="zh-TW" sz="2000" b="0" i="1" smtClean="0">
                            <a:latin typeface="Cambria Math" panose="02040503050406030204" pitchFamily="18" charset="0"/>
                          </a:rPr>
                          <m:t>1</m:t>
                        </m:r>
                      </m:sub>
                    </m:sSub>
                    <m:r>
                      <a:rPr lang="en-US" altLang="zh-TW" sz="2000" b="0" i="1" smtClean="0">
                        <a:latin typeface="Cambria Math" panose="02040503050406030204" pitchFamily="18" charset="0"/>
                      </a:rPr>
                      <m:t>−</m:t>
                    </m:r>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𝑞</m:t>
                        </m:r>
                      </m:e>
                      <m:sub>
                        <m:r>
                          <a:rPr lang="en-US" altLang="zh-TW" sz="2000" b="0" i="1" smtClean="0">
                            <a:latin typeface="Cambria Math" panose="02040503050406030204" pitchFamily="18" charset="0"/>
                          </a:rPr>
                          <m:t>2</m:t>
                        </m:r>
                      </m:sub>
                    </m:sSub>
                    <m:r>
                      <a:rPr lang="en-US" altLang="zh-TW" sz="2000" b="0" i="1" smtClean="0">
                        <a:latin typeface="Cambria Math" panose="02040503050406030204" pitchFamily="18" charset="0"/>
                      </a:rPr>
                      <m:t>=0]</m:t>
                    </m:r>
                  </m:oMath>
                </a14:m>
                <a:endParaRPr lang="en-US" altLang="zh-TW" sz="2000" dirty="0"/>
              </a:p>
              <a:p>
                <a:endParaRPr lang="en-US" altLang="zh-TW" sz="2000" dirty="0"/>
              </a:p>
              <a:p>
                <a:r>
                  <a:rPr lang="en-US" altLang="zh-TW" sz="2000" dirty="0"/>
                  <a:t>Type-2:   </a:t>
                </a:r>
                <a14:m>
                  <m:oMath xmlns:m="http://schemas.openxmlformats.org/officeDocument/2006/math">
                    <m:sSub>
                      <m:sSubPr>
                        <m:ctrlPr>
                          <a:rPr lang="en-US" altLang="zh-TW" sz="2000" i="1" smtClean="0">
                            <a:latin typeface="Cambria Math" panose="02040503050406030204" pitchFamily="18" charset="0"/>
                          </a:rPr>
                        </m:ctrlPr>
                      </m:sSubPr>
                      <m:e>
                        <m:r>
                          <a:rPr lang="en-US" altLang="zh-TW" sz="2000" i="1">
                            <a:latin typeface="Cambria Math" panose="02040503050406030204" pitchFamily="18" charset="0"/>
                          </a:rPr>
                          <m:t>𝑖</m:t>
                        </m:r>
                      </m:e>
                      <m:sub>
                        <m:r>
                          <a:rPr lang="en-US" altLang="zh-TW" sz="2000" i="1">
                            <a:latin typeface="Cambria Math" panose="02040503050406030204" pitchFamily="18" charset="0"/>
                          </a:rPr>
                          <m:t>1</m:t>
                        </m:r>
                      </m:sub>
                    </m:sSub>
                    <m:r>
                      <a:rPr lang="en-US" altLang="zh-TW" sz="2000" b="0" i="1" smtClean="0">
                        <a:latin typeface="Cambria Math" panose="02040503050406030204" pitchFamily="18" charset="0"/>
                      </a:rPr>
                      <m:t>−</m:t>
                    </m:r>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𝑖</m:t>
                        </m:r>
                      </m:e>
                      <m:sub>
                        <m:r>
                          <a:rPr lang="en-US" altLang="zh-TW" sz="2000" i="1">
                            <a:latin typeface="Cambria Math" panose="02040503050406030204" pitchFamily="18" charset="0"/>
                          </a:rPr>
                          <m:t>2</m:t>
                        </m:r>
                      </m:sub>
                    </m:sSub>
                    <m:r>
                      <a:rPr lang="en-US" altLang="zh-TW" sz="2000" b="0" i="1" smtClean="0">
                        <a:latin typeface="Cambria Math" panose="02040503050406030204" pitchFamily="18" charset="0"/>
                      </a:rPr>
                      <m:t>=</m:t>
                    </m:r>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𝑝</m:t>
                        </m:r>
                      </m:e>
                      <m:sub>
                        <m:r>
                          <a:rPr lang="en-US" altLang="zh-TW" sz="2000" b="0" i="1" smtClean="0">
                            <a:latin typeface="Cambria Math" panose="02040503050406030204" pitchFamily="18" charset="0"/>
                          </a:rPr>
                          <m:t>1</m:t>
                        </m:r>
                      </m:sub>
                    </m:sSub>
                    <m:r>
                      <a:rPr lang="en-US" altLang="zh-TW" sz="2000" b="0" i="1" smtClean="0">
                        <a:latin typeface="Cambria Math" panose="02040503050406030204" pitchFamily="18" charset="0"/>
                      </a:rPr>
                      <m:t>−</m:t>
                    </m:r>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𝑝</m:t>
                        </m:r>
                      </m:e>
                      <m:sub>
                        <m:r>
                          <a:rPr lang="en-US" altLang="zh-TW" sz="2000" b="0" i="1" smtClean="0">
                            <a:latin typeface="Cambria Math" panose="02040503050406030204" pitchFamily="18" charset="0"/>
                          </a:rPr>
                          <m:t>2</m:t>
                        </m:r>
                      </m:sub>
                    </m:sSub>
                    <m:r>
                      <a:rPr lang="zh-TW" altLang="en-US" sz="2000" i="1">
                        <a:latin typeface="Cambria Math" panose="02040503050406030204" pitchFamily="18" charset="0"/>
                      </a:rPr>
                      <m:t> </m:t>
                    </m:r>
                    <m:r>
                      <a:rPr lang="en-US" altLang="zh-TW" sz="2000" b="0" i="1" smtClean="0">
                        <a:latin typeface="Cambria Math" panose="02040503050406030204" pitchFamily="18" charset="0"/>
                      </a:rPr>
                      <m:t>𝑎𝑛𝑑</m:t>
                    </m:r>
                    <m:r>
                      <a:rPr lang="en-US" altLang="zh-TW" sz="2000" b="0" i="1" smtClean="0">
                        <a:latin typeface="Cambria Math" panose="02040503050406030204" pitchFamily="18" charset="0"/>
                      </a:rPr>
                      <m:t> </m:t>
                    </m:r>
                    <m:sSub>
                      <m:sSubPr>
                        <m:ctrlPr>
                          <a:rPr lang="en-US" altLang="zh-TW" sz="2000" i="1">
                            <a:latin typeface="Cambria Math" panose="02040503050406030204" pitchFamily="18" charset="0"/>
                          </a:rPr>
                        </m:ctrlPr>
                      </m:sSubPr>
                      <m:e>
                        <m:r>
                          <a:rPr lang="en-US" altLang="zh-TW" sz="2000" b="0" i="1" smtClean="0">
                            <a:latin typeface="Cambria Math" panose="02040503050406030204" pitchFamily="18" charset="0"/>
                          </a:rPr>
                          <m:t>𝑗</m:t>
                        </m:r>
                      </m:e>
                      <m:sub>
                        <m:r>
                          <a:rPr lang="en-US" altLang="zh-TW" sz="2000" i="1">
                            <a:latin typeface="Cambria Math" panose="02040503050406030204" pitchFamily="18" charset="0"/>
                          </a:rPr>
                          <m:t>1</m:t>
                        </m:r>
                      </m:sub>
                    </m:sSub>
                    <m:r>
                      <a:rPr lang="en-US" altLang="zh-TW" sz="2000" b="0" i="1" smtClean="0">
                        <a:latin typeface="Cambria Math" panose="02040503050406030204" pitchFamily="18" charset="0"/>
                      </a:rPr>
                      <m:t>−</m:t>
                    </m:r>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𝑗</m:t>
                        </m:r>
                      </m:e>
                      <m:sub>
                        <m:r>
                          <a:rPr lang="en-US" altLang="zh-TW" sz="2000" b="0" i="1" smtClean="0">
                            <a:latin typeface="Cambria Math" panose="02040503050406030204" pitchFamily="18" charset="0"/>
                          </a:rPr>
                          <m:t>2</m:t>
                        </m:r>
                      </m:sub>
                    </m:sSub>
                    <m:r>
                      <a:rPr lang="en-US" altLang="zh-TW" sz="2000" b="0" i="1" smtClean="0">
                        <a:latin typeface="Cambria Math" panose="02040503050406030204" pitchFamily="18" charset="0"/>
                      </a:rPr>
                      <m:t>=</m:t>
                    </m:r>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𝑞</m:t>
                        </m:r>
                      </m:e>
                      <m:sub>
                        <m:r>
                          <a:rPr lang="en-US" altLang="zh-TW" sz="2000" b="0" i="1" smtClean="0">
                            <a:latin typeface="Cambria Math" panose="02040503050406030204" pitchFamily="18" charset="0"/>
                          </a:rPr>
                          <m:t>1</m:t>
                        </m:r>
                      </m:sub>
                    </m:sSub>
                    <m:r>
                      <a:rPr lang="en-US" altLang="zh-TW" sz="2000" b="0" i="1" smtClean="0">
                        <a:latin typeface="Cambria Math" panose="02040503050406030204" pitchFamily="18" charset="0"/>
                      </a:rPr>
                      <m:t>−</m:t>
                    </m:r>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𝑞</m:t>
                        </m:r>
                      </m:e>
                      <m:sub>
                        <m:r>
                          <a:rPr lang="en-US" altLang="zh-TW" sz="2000" b="0" i="1" smtClean="0">
                            <a:latin typeface="Cambria Math" panose="02040503050406030204" pitchFamily="18" charset="0"/>
                          </a:rPr>
                          <m:t>2</m:t>
                        </m:r>
                      </m:sub>
                    </m:sSub>
                  </m:oMath>
                </a14:m>
                <a:endParaRPr lang="zh-TW" altLang="en-US" sz="2000" dirty="0"/>
              </a:p>
            </p:txBody>
          </p:sp>
        </mc:Choice>
        <mc:Fallback xmlns="">
          <p:sp>
            <p:nvSpPr>
              <p:cNvPr id="4" name="文字方塊 3">
                <a:extLst>
                  <a:ext uri="{FF2B5EF4-FFF2-40B4-BE49-F238E27FC236}">
                    <a16:creationId xmlns:a16="http://schemas.microsoft.com/office/drawing/2014/main" id="{A98636E8-3BCE-4888-B397-A0B32CFC7F52}"/>
                  </a:ext>
                </a:extLst>
              </p:cNvPr>
              <p:cNvSpPr txBox="1">
                <a:spLocks noRot="1" noChangeAspect="1" noMove="1" noResize="1" noEditPoints="1" noAdjustHandles="1" noChangeArrowheads="1" noChangeShapeType="1" noTextEdit="1"/>
              </p:cNvSpPr>
              <p:nvPr/>
            </p:nvSpPr>
            <p:spPr>
              <a:xfrm>
                <a:off x="4518734" y="2068497"/>
                <a:ext cx="7412854" cy="1938992"/>
              </a:xfrm>
              <a:prstGeom prst="rect">
                <a:avLst/>
              </a:prstGeom>
              <a:blipFill>
                <a:blip r:embed="rId4"/>
                <a:stretch>
                  <a:fillRect l="-822" t="-1572" b="-4717"/>
                </a:stretch>
              </a:blipFill>
            </p:spPr>
            <p:txBody>
              <a:bodyPr/>
              <a:lstStyle/>
              <a:p>
                <a:r>
                  <a:rPr lang="zh-TW" altLang="en-US">
                    <a:noFill/>
                  </a:rPr>
                  <a:t> </a:t>
                </a:r>
              </a:p>
            </p:txBody>
          </p:sp>
        </mc:Fallback>
      </mc:AlternateContent>
      <p:sp>
        <p:nvSpPr>
          <p:cNvPr id="5" name="文字方塊 4">
            <a:extLst>
              <a:ext uri="{FF2B5EF4-FFF2-40B4-BE49-F238E27FC236}">
                <a16:creationId xmlns:a16="http://schemas.microsoft.com/office/drawing/2014/main" id="{61E75884-9082-4AEB-80C9-AE9B066E48D5}"/>
              </a:ext>
            </a:extLst>
          </p:cNvPr>
          <p:cNvSpPr txBox="1"/>
          <p:nvPr/>
        </p:nvSpPr>
        <p:spPr>
          <a:xfrm>
            <a:off x="2389573" y="4891596"/>
            <a:ext cx="7412854" cy="461665"/>
          </a:xfrm>
          <a:prstGeom prst="rect">
            <a:avLst/>
          </a:prstGeom>
          <a:noFill/>
        </p:spPr>
        <p:txBody>
          <a:bodyPr wrap="square" rtlCol="0">
            <a:spAutoFit/>
          </a:bodyPr>
          <a:lstStyle/>
          <a:p>
            <a:r>
              <a:rPr lang="en-US" altLang="zh-TW" sz="2400" dirty="0"/>
              <a:t>Guan </a:t>
            </a:r>
            <a:r>
              <a:rPr lang="en-US" altLang="zh-TW" sz="2400" i="1" dirty="0"/>
              <a:t>et al.</a:t>
            </a:r>
            <a:r>
              <a:rPr lang="en-US" altLang="zh-TW" sz="2400" dirty="0"/>
              <a:t>(2000) had proved type-0, type-1 are NP-hard </a:t>
            </a:r>
            <a:endParaRPr lang="zh-TW" altLang="en-US" sz="2400" dirty="0"/>
          </a:p>
        </p:txBody>
      </p:sp>
    </p:spTree>
    <p:extLst>
      <p:ext uri="{BB962C8B-B14F-4D97-AF65-F5344CB8AC3E}">
        <p14:creationId xmlns:p14="http://schemas.microsoft.com/office/powerpoint/2010/main" val="2259784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7E38697-9EFF-4CEF-87E0-5F17CF267AED}"/>
              </a:ext>
            </a:extLst>
          </p:cNvPr>
          <p:cNvSpPr>
            <a:spLocks noGrp="1"/>
          </p:cNvSpPr>
          <p:nvPr>
            <p:ph type="title"/>
          </p:nvPr>
        </p:nvSpPr>
        <p:spPr/>
        <p:txBody>
          <a:bodyPr/>
          <a:lstStyle/>
          <a:p>
            <a:r>
              <a:rPr lang="en-US" altLang="zh-TW" dirty="0"/>
              <a:t>One dimensional LCS</a:t>
            </a:r>
            <a:endParaRPr lang="zh-TW" altLang="en-US" dirty="0"/>
          </a:p>
        </p:txBody>
      </p:sp>
      <p:sp>
        <p:nvSpPr>
          <p:cNvPr id="3" name="內容版面配置區 2">
            <a:extLst>
              <a:ext uri="{FF2B5EF4-FFF2-40B4-BE49-F238E27FC236}">
                <a16:creationId xmlns:a16="http://schemas.microsoft.com/office/drawing/2014/main" id="{42920504-2910-48B2-8657-7E9321E40B2A}"/>
              </a:ext>
            </a:extLst>
          </p:cNvPr>
          <p:cNvSpPr>
            <a:spLocks noGrp="1"/>
          </p:cNvSpPr>
          <p:nvPr>
            <p:ph idx="1"/>
          </p:nvPr>
        </p:nvSpPr>
        <p:spPr>
          <a:xfrm>
            <a:off x="4707430" y="1930885"/>
            <a:ext cx="7027369" cy="4351338"/>
          </a:xfrm>
        </p:spPr>
        <p:txBody>
          <a:bodyPr/>
          <a:lstStyle/>
          <a:p>
            <a:pPr marL="0" indent="0">
              <a:buNone/>
            </a:pPr>
            <a:r>
              <a:rPr lang="en-US" altLang="zh-TW" dirty="0"/>
              <a:t>Matching index set </a:t>
            </a:r>
            <a:br>
              <a:rPr lang="en-US" altLang="zh-TW" dirty="0"/>
            </a:br>
            <a:r>
              <a:rPr lang="en-US" altLang="zh-TW" dirty="0"/>
              <a:t>{(1,1), (2,3), (3,2), (3,4), (4,3)}</a:t>
            </a:r>
          </a:p>
          <a:p>
            <a:pPr marL="0" indent="0">
              <a:buNone/>
            </a:pPr>
            <a:endParaRPr lang="en-US" altLang="zh-TW" dirty="0"/>
          </a:p>
          <a:p>
            <a:pPr marL="0" indent="0">
              <a:buNone/>
            </a:pPr>
            <a:r>
              <a:rPr lang="en-US" altLang="zh-TW" dirty="0"/>
              <a:t>Two rules</a:t>
            </a:r>
          </a:p>
          <a:p>
            <a:pPr marL="514350" indent="-514350">
              <a:buAutoNum type="arabicPeriod"/>
            </a:pPr>
            <a:r>
              <a:rPr lang="en-US" altLang="zh-TW" dirty="0"/>
              <a:t>No duplicate matches</a:t>
            </a:r>
          </a:p>
          <a:p>
            <a:pPr marL="514350" indent="-514350">
              <a:buAutoNum type="arabicPeriod"/>
            </a:pPr>
            <a:r>
              <a:rPr lang="en-US" altLang="zh-TW" dirty="0"/>
              <a:t>No crossing matches</a:t>
            </a:r>
            <a:endParaRPr lang="zh-TW" altLang="en-US" dirty="0"/>
          </a:p>
        </p:txBody>
      </p:sp>
      <p:cxnSp>
        <p:nvCxnSpPr>
          <p:cNvPr id="4" name="直線單箭頭接點 3">
            <a:extLst>
              <a:ext uri="{FF2B5EF4-FFF2-40B4-BE49-F238E27FC236}">
                <a16:creationId xmlns:a16="http://schemas.microsoft.com/office/drawing/2014/main" id="{3A16B687-7B8E-4C5D-AB40-98D6203B24B0}"/>
              </a:ext>
            </a:extLst>
          </p:cNvPr>
          <p:cNvCxnSpPr/>
          <p:nvPr/>
        </p:nvCxnSpPr>
        <p:spPr>
          <a:xfrm>
            <a:off x="2403089" y="3022562"/>
            <a:ext cx="512647" cy="421210"/>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aphicFrame>
        <p:nvGraphicFramePr>
          <p:cNvPr id="5" name="表格 4">
            <a:extLst>
              <a:ext uri="{FF2B5EF4-FFF2-40B4-BE49-F238E27FC236}">
                <a16:creationId xmlns:a16="http://schemas.microsoft.com/office/drawing/2014/main" id="{F79B7EF4-25AE-4249-AB20-4EC1DF1F0A6D}"/>
              </a:ext>
            </a:extLst>
          </p:cNvPr>
          <p:cNvGraphicFramePr>
            <a:graphicFrameLocks noGrp="1"/>
          </p:cNvGraphicFramePr>
          <p:nvPr>
            <p:extLst>
              <p:ext uri="{D42A27DB-BD31-4B8C-83A1-F6EECF244321}">
                <p14:modId xmlns:p14="http://schemas.microsoft.com/office/powerpoint/2010/main" val="823859059"/>
              </p:ext>
            </p:extLst>
          </p:nvPr>
        </p:nvGraphicFramePr>
        <p:xfrm>
          <a:off x="1429638" y="2472752"/>
          <a:ext cx="2438400" cy="579120"/>
        </p:xfrm>
        <a:graphic>
          <a:graphicData uri="http://schemas.openxmlformats.org/drawingml/2006/table">
            <a:tbl>
              <a:tblPr firstRow="1" bandRow="1">
                <a:tableStyleId>{5C22544A-7EE6-4342-B048-85BDC9FD1C3A}</a:tableStyleId>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tblGrid>
              <a:tr h="370840">
                <a:tc>
                  <a:txBody>
                    <a:bodyPr/>
                    <a:lstStyle/>
                    <a:p>
                      <a:pPr algn="ctr"/>
                      <a:r>
                        <a:rPr lang="en-US" altLang="zh-TW" sz="3200" b="1" dirty="0">
                          <a:solidFill>
                            <a:schemeClr val="tx1"/>
                          </a:solidFill>
                        </a:rPr>
                        <a:t>A</a:t>
                      </a:r>
                      <a:endParaRPr lang="zh-TW" altLang="en-US" sz="32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3200" b="1" dirty="0">
                          <a:solidFill>
                            <a:schemeClr val="tx1"/>
                          </a:solidFill>
                        </a:rPr>
                        <a:t>T</a:t>
                      </a:r>
                      <a:endParaRPr lang="zh-TW" altLang="en-US" sz="32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3200" b="1" dirty="0">
                          <a:solidFill>
                            <a:schemeClr val="tx1"/>
                          </a:solidFill>
                        </a:rPr>
                        <a:t>G</a:t>
                      </a:r>
                      <a:endParaRPr lang="zh-TW" altLang="en-US" sz="32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3200" b="1" dirty="0">
                          <a:solidFill>
                            <a:schemeClr val="tx1"/>
                          </a:solidFill>
                        </a:rPr>
                        <a:t>T</a:t>
                      </a:r>
                      <a:endParaRPr lang="zh-TW" altLang="en-US" sz="32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6" name="表格 5">
            <a:extLst>
              <a:ext uri="{FF2B5EF4-FFF2-40B4-BE49-F238E27FC236}">
                <a16:creationId xmlns:a16="http://schemas.microsoft.com/office/drawing/2014/main" id="{6D763A49-CA23-43EF-9DA6-CFC0C1B2419E}"/>
              </a:ext>
            </a:extLst>
          </p:cNvPr>
          <p:cNvGraphicFramePr>
            <a:graphicFrameLocks noGrp="1"/>
          </p:cNvGraphicFramePr>
          <p:nvPr>
            <p:extLst>
              <p:ext uri="{D42A27DB-BD31-4B8C-83A1-F6EECF244321}">
                <p14:modId xmlns:p14="http://schemas.microsoft.com/office/powerpoint/2010/main" val="3166967157"/>
              </p:ext>
            </p:extLst>
          </p:nvPr>
        </p:nvGraphicFramePr>
        <p:xfrm>
          <a:off x="1434351" y="3391747"/>
          <a:ext cx="2438400" cy="579120"/>
        </p:xfrm>
        <a:graphic>
          <a:graphicData uri="http://schemas.openxmlformats.org/drawingml/2006/table">
            <a:tbl>
              <a:tblPr firstRow="1" bandRow="1">
                <a:tableStyleId>{5C22544A-7EE6-4342-B048-85BDC9FD1C3A}</a:tableStyleId>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tblGrid>
              <a:tr h="370840">
                <a:tc>
                  <a:txBody>
                    <a:bodyPr/>
                    <a:lstStyle/>
                    <a:p>
                      <a:pPr algn="ctr"/>
                      <a:r>
                        <a:rPr lang="en-US" altLang="zh-TW" sz="3200" b="1" dirty="0">
                          <a:solidFill>
                            <a:schemeClr val="tx1"/>
                          </a:solidFill>
                        </a:rPr>
                        <a:t>A</a:t>
                      </a:r>
                      <a:endParaRPr lang="zh-TW" altLang="en-US" sz="32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3200" b="1" dirty="0">
                          <a:solidFill>
                            <a:schemeClr val="tx1"/>
                          </a:solidFill>
                        </a:rPr>
                        <a:t>G</a:t>
                      </a:r>
                      <a:endParaRPr lang="zh-TW" altLang="en-US" sz="32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3200" b="1" dirty="0">
                          <a:solidFill>
                            <a:schemeClr val="tx1"/>
                          </a:solidFill>
                        </a:rPr>
                        <a:t>T</a:t>
                      </a:r>
                      <a:endParaRPr lang="zh-TW" altLang="en-US" sz="32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3200" b="1" dirty="0">
                          <a:solidFill>
                            <a:schemeClr val="tx1"/>
                          </a:solidFill>
                        </a:rPr>
                        <a:t>G</a:t>
                      </a:r>
                      <a:endParaRPr lang="zh-TW" altLang="en-US" sz="32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cxnSp>
        <p:nvCxnSpPr>
          <p:cNvPr id="7" name="直線單箭頭接點 6">
            <a:extLst>
              <a:ext uri="{FF2B5EF4-FFF2-40B4-BE49-F238E27FC236}">
                <a16:creationId xmlns:a16="http://schemas.microsoft.com/office/drawing/2014/main" id="{320D0726-5FA7-4F29-A709-124992AAF681}"/>
              </a:ext>
            </a:extLst>
          </p:cNvPr>
          <p:cNvCxnSpPr/>
          <p:nvPr/>
        </p:nvCxnSpPr>
        <p:spPr>
          <a:xfrm>
            <a:off x="3006352" y="3022562"/>
            <a:ext cx="494277" cy="421210"/>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直線單箭頭接點 7">
            <a:extLst>
              <a:ext uri="{FF2B5EF4-FFF2-40B4-BE49-F238E27FC236}">
                <a16:creationId xmlns:a16="http://schemas.microsoft.com/office/drawing/2014/main" id="{4F2414DA-7F4C-4148-A59D-8E04DC6EC6F6}"/>
              </a:ext>
            </a:extLst>
          </p:cNvPr>
          <p:cNvCxnSpPr/>
          <p:nvPr/>
        </p:nvCxnSpPr>
        <p:spPr>
          <a:xfrm flipH="1">
            <a:off x="2403090" y="3022562"/>
            <a:ext cx="512646" cy="421210"/>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直線單箭頭接點 8">
            <a:extLst>
              <a:ext uri="{FF2B5EF4-FFF2-40B4-BE49-F238E27FC236}">
                <a16:creationId xmlns:a16="http://schemas.microsoft.com/office/drawing/2014/main" id="{118DC6B4-76C8-403E-9360-1DE06429647F}"/>
              </a:ext>
            </a:extLst>
          </p:cNvPr>
          <p:cNvCxnSpPr/>
          <p:nvPr/>
        </p:nvCxnSpPr>
        <p:spPr>
          <a:xfrm flipH="1">
            <a:off x="2403078" y="3022550"/>
            <a:ext cx="512646" cy="421210"/>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 name="直線單箭頭接點 9">
            <a:extLst>
              <a:ext uri="{FF2B5EF4-FFF2-40B4-BE49-F238E27FC236}">
                <a16:creationId xmlns:a16="http://schemas.microsoft.com/office/drawing/2014/main" id="{AE7D7051-3845-47FF-949C-482CAD80D774}"/>
              </a:ext>
            </a:extLst>
          </p:cNvPr>
          <p:cNvCxnSpPr>
            <a:cxnSpLocks/>
          </p:cNvCxnSpPr>
          <p:nvPr/>
        </p:nvCxnSpPr>
        <p:spPr>
          <a:xfrm>
            <a:off x="1749951" y="3022550"/>
            <a:ext cx="0" cy="421210"/>
          </a:xfrm>
          <a:prstGeom prst="straightConnector1">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直線單箭頭接點 11">
            <a:extLst>
              <a:ext uri="{FF2B5EF4-FFF2-40B4-BE49-F238E27FC236}">
                <a16:creationId xmlns:a16="http://schemas.microsoft.com/office/drawing/2014/main" id="{F1A6F80B-2A8C-461A-A8A7-B47EDF2C361D}"/>
              </a:ext>
            </a:extLst>
          </p:cNvPr>
          <p:cNvCxnSpPr/>
          <p:nvPr/>
        </p:nvCxnSpPr>
        <p:spPr>
          <a:xfrm flipH="1">
            <a:off x="3042463" y="3022550"/>
            <a:ext cx="512646" cy="421210"/>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86104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F0BF5D5-AC2D-471E-AFA4-7F13F8F889BC}"/>
              </a:ext>
            </a:extLst>
          </p:cNvPr>
          <p:cNvSpPr>
            <a:spLocks noGrp="1"/>
          </p:cNvSpPr>
          <p:nvPr>
            <p:ph type="title"/>
          </p:nvPr>
        </p:nvSpPr>
        <p:spPr/>
        <p:txBody>
          <a:bodyPr/>
          <a:lstStyle/>
          <a:p>
            <a:r>
              <a:rPr lang="en-US" altLang="zh-TW" dirty="0"/>
              <a:t>Corner</a:t>
            </a:r>
            <a:endParaRPr lang="zh-TW" altLang="en-US" dirty="0"/>
          </a:p>
        </p:txBody>
      </p:sp>
      <p:sp>
        <p:nvSpPr>
          <p:cNvPr id="3" name="內容版面配置區 2">
            <a:extLst>
              <a:ext uri="{FF2B5EF4-FFF2-40B4-BE49-F238E27FC236}">
                <a16:creationId xmlns:a16="http://schemas.microsoft.com/office/drawing/2014/main" id="{3BE9C8FE-23DE-45CB-AE68-14A40888CA80}"/>
              </a:ext>
            </a:extLst>
          </p:cNvPr>
          <p:cNvSpPr>
            <a:spLocks noGrp="1"/>
          </p:cNvSpPr>
          <p:nvPr>
            <p:ph idx="1"/>
          </p:nvPr>
        </p:nvSpPr>
        <p:spPr>
          <a:xfrm>
            <a:off x="4086243" y="1672432"/>
            <a:ext cx="7975600" cy="4351338"/>
          </a:xfrm>
        </p:spPr>
        <p:txBody>
          <a:bodyPr/>
          <a:lstStyle/>
          <a:p>
            <a:r>
              <a:rPr lang="en-US" altLang="zh-TW" dirty="0"/>
              <a:t>And(N) operator</a:t>
            </a:r>
          </a:p>
          <a:p>
            <a:endParaRPr lang="en-US" altLang="zh-TW" dirty="0"/>
          </a:p>
          <a:p>
            <a:endParaRPr lang="en-US" altLang="zh-TW" dirty="0"/>
          </a:p>
          <a:p>
            <a:endParaRPr lang="en-US" altLang="zh-TW" dirty="0"/>
          </a:p>
          <a:p>
            <a:endParaRPr lang="en-US" altLang="zh-TW" dirty="0"/>
          </a:p>
          <a:p>
            <a:endParaRPr lang="en-US" altLang="zh-TW" dirty="0"/>
          </a:p>
          <a:p>
            <a:r>
              <a:rPr lang="en-US" altLang="zh-TW" dirty="0"/>
              <a:t>Or(O) operator</a:t>
            </a:r>
            <a:endParaRPr lang="zh-TW" altLang="en-US" dirty="0"/>
          </a:p>
        </p:txBody>
      </p:sp>
      <p:pic>
        <p:nvPicPr>
          <p:cNvPr id="4" name="圖片 3">
            <a:extLst>
              <a:ext uri="{FF2B5EF4-FFF2-40B4-BE49-F238E27FC236}">
                <a16:creationId xmlns:a16="http://schemas.microsoft.com/office/drawing/2014/main" id="{FCBFEC9A-D862-46BB-A797-661128FF4311}"/>
              </a:ext>
            </a:extLst>
          </p:cNvPr>
          <p:cNvPicPr>
            <a:picLocks noChangeAspect="1"/>
          </p:cNvPicPr>
          <p:nvPr/>
        </p:nvPicPr>
        <p:blipFill>
          <a:blip r:embed="rId2"/>
          <a:stretch>
            <a:fillRect/>
          </a:stretch>
        </p:blipFill>
        <p:spPr>
          <a:xfrm>
            <a:off x="1011219" y="2180387"/>
            <a:ext cx="1743075" cy="1933575"/>
          </a:xfrm>
          <a:prstGeom prst="rect">
            <a:avLst/>
          </a:prstGeom>
        </p:spPr>
      </p:pic>
      <p:pic>
        <p:nvPicPr>
          <p:cNvPr id="5" name="圖片 4">
            <a:extLst>
              <a:ext uri="{FF2B5EF4-FFF2-40B4-BE49-F238E27FC236}">
                <a16:creationId xmlns:a16="http://schemas.microsoft.com/office/drawing/2014/main" id="{B832DF16-B344-487C-A170-EFAFB991004C}"/>
              </a:ext>
            </a:extLst>
          </p:cNvPr>
          <p:cNvPicPr>
            <a:picLocks noChangeAspect="1"/>
          </p:cNvPicPr>
          <p:nvPr/>
        </p:nvPicPr>
        <p:blipFill>
          <a:blip r:embed="rId3"/>
          <a:stretch>
            <a:fillRect/>
          </a:stretch>
        </p:blipFill>
        <p:spPr>
          <a:xfrm>
            <a:off x="6804043" y="1027906"/>
            <a:ext cx="3505200" cy="2562225"/>
          </a:xfrm>
          <a:prstGeom prst="rect">
            <a:avLst/>
          </a:prstGeom>
        </p:spPr>
      </p:pic>
      <p:pic>
        <p:nvPicPr>
          <p:cNvPr id="6" name="圖片 5">
            <a:extLst>
              <a:ext uri="{FF2B5EF4-FFF2-40B4-BE49-F238E27FC236}">
                <a16:creationId xmlns:a16="http://schemas.microsoft.com/office/drawing/2014/main" id="{077A1F39-87ED-493C-9F51-0D12777F2147}"/>
              </a:ext>
            </a:extLst>
          </p:cNvPr>
          <p:cNvPicPr>
            <a:picLocks noChangeAspect="1"/>
          </p:cNvPicPr>
          <p:nvPr/>
        </p:nvPicPr>
        <p:blipFill>
          <a:blip r:embed="rId4"/>
          <a:stretch>
            <a:fillRect/>
          </a:stretch>
        </p:blipFill>
        <p:spPr>
          <a:xfrm>
            <a:off x="6804043" y="3848101"/>
            <a:ext cx="3533775" cy="2428875"/>
          </a:xfrm>
          <a:prstGeom prst="rect">
            <a:avLst/>
          </a:prstGeom>
        </p:spPr>
      </p:pic>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E1A2E35A-8721-481F-A979-08A4115CE4CE}"/>
                  </a:ext>
                </a:extLst>
              </p:cNvPr>
              <p:cNvSpPr txBox="1"/>
              <p:nvPr/>
            </p:nvSpPr>
            <p:spPr>
              <a:xfrm>
                <a:off x="303176" y="4333741"/>
                <a:ext cx="3711587" cy="12003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𝑖</m:t>
                          </m:r>
                        </m:e>
                        <m:sub>
                          <m:r>
                            <a:rPr lang="en-US" altLang="zh-TW" sz="2400" b="0" i="1" smtClean="0">
                              <a:latin typeface="Cambria Math" panose="02040503050406030204" pitchFamily="18" charset="0"/>
                            </a:rPr>
                            <m:t>1</m:t>
                          </m:r>
                        </m:sub>
                      </m:sSub>
                      <m:r>
                        <a:rPr lang="en-US" altLang="zh-TW" sz="2400" b="0" i="1" smtClean="0">
                          <a:latin typeface="Cambria Math" panose="02040503050406030204" pitchFamily="18" charset="0"/>
                        </a:rPr>
                        <m:t>&lt;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𝑖</m:t>
                          </m:r>
                        </m:e>
                        <m:sub>
                          <m:r>
                            <a:rPr lang="en-US" altLang="zh-TW" sz="2400" b="0" i="1" smtClean="0">
                              <a:latin typeface="Cambria Math" panose="02040503050406030204" pitchFamily="18" charset="0"/>
                            </a:rPr>
                            <m:t>2</m:t>
                          </m:r>
                        </m:sub>
                      </m:sSub>
                      <m:r>
                        <a:rPr lang="en-US" altLang="zh-TW" sz="2400" b="0" i="1" smtClean="0">
                          <a:latin typeface="Cambria Math" panose="02040503050406030204" pitchFamily="18" charset="0"/>
                        </a:rPr>
                        <m:t>, </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𝑗</m:t>
                          </m:r>
                        </m:e>
                        <m:sub>
                          <m:r>
                            <a:rPr lang="en-US" altLang="zh-TW" sz="2400" b="0" i="1" smtClean="0">
                              <a:latin typeface="Cambria Math" panose="02040503050406030204" pitchFamily="18" charset="0"/>
                            </a:rPr>
                            <m:t>1</m:t>
                          </m:r>
                        </m:sub>
                      </m:sSub>
                      <m:r>
                        <a:rPr lang="en-US" altLang="zh-TW" sz="2400" b="0" i="1" smtClean="0">
                          <a:latin typeface="Cambria Math" panose="02040503050406030204" pitchFamily="18" charset="0"/>
                        </a:rPr>
                        <m:t>&lt;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𝑗</m:t>
                          </m:r>
                        </m:e>
                        <m:sub>
                          <m:r>
                            <a:rPr lang="en-US" altLang="zh-TW" sz="2400" b="0" i="1" smtClean="0">
                              <a:latin typeface="Cambria Math" panose="02040503050406030204" pitchFamily="18" charset="0"/>
                            </a:rPr>
                            <m:t>2</m:t>
                          </m:r>
                        </m:sub>
                      </m:sSub>
                    </m:oMath>
                  </m:oMathPara>
                </a14:m>
                <a:endParaRPr lang="en-US" altLang="zh-TW" sz="2400" b="0" dirty="0"/>
              </a:p>
              <a:p>
                <a:pPr/>
                <a14:m>
                  <m:oMathPara xmlns:m="http://schemas.openxmlformats.org/officeDocument/2006/math">
                    <m:oMathParaPr>
                      <m:jc m:val="centerGroup"/>
                    </m:oMathParaPr>
                    <m:oMath xmlns:m="http://schemas.openxmlformats.org/officeDocument/2006/math">
                      <m:sSub>
                        <m:sSubPr>
                          <m:ctrlPr>
                            <a:rPr lang="en-US" altLang="zh-TW" sz="2400" i="1">
                              <a:latin typeface="Cambria Math" panose="02040503050406030204" pitchFamily="18" charset="0"/>
                            </a:rPr>
                          </m:ctrlPr>
                        </m:sSubPr>
                        <m:e>
                          <m:r>
                            <a:rPr lang="en-US" altLang="zh-TW" sz="2400" b="0" i="1" smtClean="0">
                              <a:latin typeface="Cambria Math" panose="02040503050406030204" pitchFamily="18" charset="0"/>
                            </a:rPr>
                            <m:t>𝑝</m:t>
                          </m:r>
                        </m:e>
                        <m:sub>
                          <m:r>
                            <a:rPr lang="en-US" altLang="zh-TW" sz="2400" i="1">
                              <a:latin typeface="Cambria Math" panose="02040503050406030204" pitchFamily="18" charset="0"/>
                            </a:rPr>
                            <m:t>1</m:t>
                          </m:r>
                        </m:sub>
                      </m:sSub>
                      <m:r>
                        <a:rPr lang="en-US" altLang="zh-TW" sz="2400" i="1">
                          <a:latin typeface="Cambria Math" panose="02040503050406030204" pitchFamily="18" charset="0"/>
                        </a:rPr>
                        <m:t>&lt;</m:t>
                      </m:r>
                      <m:sSub>
                        <m:sSubPr>
                          <m:ctrlPr>
                            <a:rPr lang="en-US" altLang="zh-TW" sz="2400" i="1">
                              <a:latin typeface="Cambria Math" panose="02040503050406030204" pitchFamily="18" charset="0"/>
                            </a:rPr>
                          </m:ctrlPr>
                        </m:sSubPr>
                        <m:e>
                          <m:r>
                            <a:rPr lang="en-US" altLang="zh-TW" sz="2400" b="0" i="1" smtClean="0">
                              <a:latin typeface="Cambria Math" panose="02040503050406030204" pitchFamily="18" charset="0"/>
                            </a:rPr>
                            <m:t>𝑝</m:t>
                          </m:r>
                        </m:e>
                        <m:sub>
                          <m:r>
                            <a:rPr lang="en-US" altLang="zh-TW" sz="2400" i="1">
                              <a:latin typeface="Cambria Math" panose="02040503050406030204" pitchFamily="18" charset="0"/>
                            </a:rPr>
                            <m:t>2</m:t>
                          </m:r>
                        </m:sub>
                      </m:sSub>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𝐴𝑛𝑑</m:t>
                      </m:r>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𝑂𝑟</m:t>
                      </m:r>
                      <m:r>
                        <a:rPr lang="en-US" altLang="zh-TW" sz="2400" b="0" i="1" smtClean="0">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b="0" i="1" smtClean="0">
                              <a:latin typeface="Cambria Math" panose="02040503050406030204" pitchFamily="18" charset="0"/>
                            </a:rPr>
                            <m:t>𝑞</m:t>
                          </m:r>
                        </m:e>
                        <m:sub>
                          <m:r>
                            <a:rPr lang="en-US" altLang="zh-TW" sz="2400" i="1">
                              <a:latin typeface="Cambria Math" panose="02040503050406030204" pitchFamily="18" charset="0"/>
                            </a:rPr>
                            <m:t>1</m:t>
                          </m:r>
                        </m:sub>
                      </m:sSub>
                      <m:r>
                        <a:rPr lang="en-US" altLang="zh-TW" sz="2400" i="1">
                          <a:latin typeface="Cambria Math" panose="02040503050406030204" pitchFamily="18" charset="0"/>
                        </a:rPr>
                        <m:t>&lt;</m:t>
                      </m:r>
                      <m:sSub>
                        <m:sSubPr>
                          <m:ctrlPr>
                            <a:rPr lang="en-US" altLang="zh-TW" sz="2400" i="1">
                              <a:latin typeface="Cambria Math" panose="02040503050406030204" pitchFamily="18" charset="0"/>
                            </a:rPr>
                          </m:ctrlPr>
                        </m:sSubPr>
                        <m:e>
                          <m:r>
                            <a:rPr lang="en-US" altLang="zh-TW" sz="2400" b="0" i="1" smtClean="0">
                              <a:latin typeface="Cambria Math" panose="02040503050406030204" pitchFamily="18" charset="0"/>
                            </a:rPr>
                            <m:t>𝑞</m:t>
                          </m:r>
                        </m:e>
                        <m:sub>
                          <m:r>
                            <a:rPr lang="en-US" altLang="zh-TW" sz="2400" i="1">
                              <a:latin typeface="Cambria Math" panose="02040503050406030204" pitchFamily="18" charset="0"/>
                            </a:rPr>
                            <m:t>2</m:t>
                          </m:r>
                        </m:sub>
                      </m:sSub>
                    </m:oMath>
                  </m:oMathPara>
                </a14:m>
                <a:endParaRPr lang="en-US" altLang="zh-TW" sz="2400" dirty="0"/>
              </a:p>
              <a:p>
                <a:endParaRPr lang="en-US" altLang="zh-TW" sz="2400" dirty="0"/>
              </a:p>
            </p:txBody>
          </p:sp>
        </mc:Choice>
        <mc:Fallback xmlns="">
          <p:sp>
            <p:nvSpPr>
              <p:cNvPr id="7" name="文字方塊 6">
                <a:extLst>
                  <a:ext uri="{FF2B5EF4-FFF2-40B4-BE49-F238E27FC236}">
                    <a16:creationId xmlns:a16="http://schemas.microsoft.com/office/drawing/2014/main" id="{E1A2E35A-8721-481F-A979-08A4115CE4CE}"/>
                  </a:ext>
                </a:extLst>
              </p:cNvPr>
              <p:cNvSpPr txBox="1">
                <a:spLocks noRot="1" noChangeAspect="1" noMove="1" noResize="1" noEditPoints="1" noAdjustHandles="1" noChangeArrowheads="1" noChangeShapeType="1" noTextEdit="1"/>
              </p:cNvSpPr>
              <p:nvPr/>
            </p:nvSpPr>
            <p:spPr>
              <a:xfrm>
                <a:off x="303176" y="4333741"/>
                <a:ext cx="3711587" cy="1200329"/>
              </a:xfrm>
              <a:prstGeom prst="rect">
                <a:avLst/>
              </a:prstGeom>
              <a:blipFill>
                <a:blip r:embed="rId5"/>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1737804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130BAC-27E6-4E13-80E8-12140EAB427B}"/>
              </a:ext>
            </a:extLst>
          </p:cNvPr>
          <p:cNvSpPr>
            <a:spLocks noGrp="1"/>
          </p:cNvSpPr>
          <p:nvPr>
            <p:ph type="title"/>
          </p:nvPr>
        </p:nvSpPr>
        <p:spPr/>
        <p:txBody>
          <a:bodyPr/>
          <a:lstStyle/>
          <a:p>
            <a:r>
              <a:rPr lang="en-US" altLang="zh-TW" dirty="0"/>
              <a:t>Side</a:t>
            </a:r>
            <a:endParaRPr lang="zh-TW" altLang="en-US" dirty="0"/>
          </a:p>
        </p:txBody>
      </p:sp>
      <p:sp>
        <p:nvSpPr>
          <p:cNvPr id="3" name="內容版面配置區 2">
            <a:extLst>
              <a:ext uri="{FF2B5EF4-FFF2-40B4-BE49-F238E27FC236}">
                <a16:creationId xmlns:a16="http://schemas.microsoft.com/office/drawing/2014/main" id="{BD7C1888-3713-4FDF-997E-7D60C863B280}"/>
              </a:ext>
            </a:extLst>
          </p:cNvPr>
          <p:cNvSpPr>
            <a:spLocks noGrp="1"/>
          </p:cNvSpPr>
          <p:nvPr>
            <p:ph idx="1"/>
          </p:nvPr>
        </p:nvSpPr>
        <p:spPr/>
        <p:txBody>
          <a:bodyPr/>
          <a:lstStyle/>
          <a:p>
            <a:endParaRPr lang="zh-TW" altLang="en-US"/>
          </a:p>
        </p:txBody>
      </p:sp>
      <p:pic>
        <p:nvPicPr>
          <p:cNvPr id="4" name="圖片 3">
            <a:extLst>
              <a:ext uri="{FF2B5EF4-FFF2-40B4-BE49-F238E27FC236}">
                <a16:creationId xmlns:a16="http://schemas.microsoft.com/office/drawing/2014/main" id="{88A7E2D2-C9B3-4FA2-8263-0413994862CD}"/>
              </a:ext>
            </a:extLst>
          </p:cNvPr>
          <p:cNvPicPr>
            <a:picLocks noChangeAspect="1"/>
          </p:cNvPicPr>
          <p:nvPr/>
        </p:nvPicPr>
        <p:blipFill>
          <a:blip r:embed="rId2"/>
          <a:stretch>
            <a:fillRect/>
          </a:stretch>
        </p:blipFill>
        <p:spPr>
          <a:xfrm>
            <a:off x="3625019" y="1478756"/>
            <a:ext cx="5657850" cy="2457450"/>
          </a:xfrm>
          <a:prstGeom prst="rect">
            <a:avLst/>
          </a:prstGeom>
        </p:spPr>
      </p:pic>
      <p:pic>
        <p:nvPicPr>
          <p:cNvPr id="5" name="圖片 4">
            <a:extLst>
              <a:ext uri="{FF2B5EF4-FFF2-40B4-BE49-F238E27FC236}">
                <a16:creationId xmlns:a16="http://schemas.microsoft.com/office/drawing/2014/main" id="{A60E3F29-AE3F-4A08-8730-1E70EC998720}"/>
              </a:ext>
            </a:extLst>
          </p:cNvPr>
          <p:cNvPicPr>
            <a:picLocks noChangeAspect="1"/>
          </p:cNvPicPr>
          <p:nvPr/>
        </p:nvPicPr>
        <p:blipFill>
          <a:blip r:embed="rId3"/>
          <a:stretch>
            <a:fillRect/>
          </a:stretch>
        </p:blipFill>
        <p:spPr>
          <a:xfrm>
            <a:off x="3625019" y="4112419"/>
            <a:ext cx="5657850" cy="2533650"/>
          </a:xfrm>
          <a:prstGeom prst="rect">
            <a:avLst/>
          </a:prstGeom>
        </p:spPr>
      </p:pic>
    </p:spTree>
    <p:extLst>
      <p:ext uri="{BB962C8B-B14F-4D97-AF65-F5344CB8AC3E}">
        <p14:creationId xmlns:p14="http://schemas.microsoft.com/office/powerpoint/2010/main" val="7560442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19F7A18-4454-4CF7-B245-C69C305CCEBC}"/>
              </a:ext>
            </a:extLst>
          </p:cNvPr>
          <p:cNvSpPr>
            <a:spLocks noGrp="1"/>
          </p:cNvSpPr>
          <p:nvPr>
            <p:ph type="title"/>
          </p:nvPr>
        </p:nvSpPr>
        <p:spPr/>
        <p:txBody>
          <a:bodyPr/>
          <a:lstStyle/>
          <a:p>
            <a:r>
              <a:rPr lang="en-US" altLang="zh-TW" dirty="0"/>
              <a:t>8 versions TLCS problems</a:t>
            </a:r>
            <a:endParaRPr lang="zh-TW" altLang="en-US" dirty="0"/>
          </a:p>
        </p:txBody>
      </p:sp>
      <p:sp>
        <p:nvSpPr>
          <p:cNvPr id="3" name="內容版面配置區 2">
            <a:extLst>
              <a:ext uri="{FF2B5EF4-FFF2-40B4-BE49-F238E27FC236}">
                <a16:creationId xmlns:a16="http://schemas.microsoft.com/office/drawing/2014/main" id="{529D7489-2A31-4A96-BCAA-66CE4AE19357}"/>
              </a:ext>
            </a:extLst>
          </p:cNvPr>
          <p:cNvSpPr>
            <a:spLocks noGrp="1"/>
          </p:cNvSpPr>
          <p:nvPr>
            <p:ph idx="1"/>
          </p:nvPr>
        </p:nvSpPr>
        <p:spPr/>
        <p:txBody>
          <a:bodyPr>
            <a:normAutofit/>
          </a:bodyPr>
          <a:lstStyle/>
          <a:p>
            <a:r>
              <a:rPr lang="en-US" altLang="zh-TW" dirty="0"/>
              <a:t>P(LNL) = P(</a:t>
            </a:r>
            <a:r>
              <a:rPr lang="en-US" altLang="zh-TW" b="1" dirty="0">
                <a:solidFill>
                  <a:srgbClr val="FF0000"/>
                </a:solidFill>
              </a:rPr>
              <a:t>L</a:t>
            </a:r>
            <a:r>
              <a:rPr lang="en-US" altLang="zh-TW" dirty="0"/>
              <a:t>ess than, </a:t>
            </a:r>
            <a:r>
              <a:rPr lang="en-US" altLang="zh-TW" dirty="0" err="1"/>
              <a:t>a</a:t>
            </a:r>
            <a:r>
              <a:rPr lang="en-US" altLang="zh-TW" b="1" dirty="0" err="1">
                <a:solidFill>
                  <a:srgbClr val="FF0000"/>
                </a:solidFill>
              </a:rPr>
              <a:t>N</a:t>
            </a:r>
            <a:r>
              <a:rPr lang="en-US" altLang="zh-TW" dirty="0" err="1"/>
              <a:t>d</a:t>
            </a:r>
            <a:r>
              <a:rPr lang="en-US" altLang="zh-TW" dirty="0"/>
              <a:t>, </a:t>
            </a:r>
            <a:r>
              <a:rPr lang="en-US" altLang="zh-TW" b="1" dirty="0">
                <a:solidFill>
                  <a:srgbClr val="FF0000"/>
                </a:solidFill>
              </a:rPr>
              <a:t>L</a:t>
            </a:r>
            <a:r>
              <a:rPr lang="en-US" altLang="zh-TW" dirty="0"/>
              <a:t>ess than)</a:t>
            </a:r>
          </a:p>
          <a:p>
            <a:r>
              <a:rPr lang="en-US" altLang="zh-TW" dirty="0"/>
              <a:t>P(LNE) = P(</a:t>
            </a:r>
            <a:r>
              <a:rPr lang="en-US" altLang="zh-TW" b="1" dirty="0">
                <a:solidFill>
                  <a:srgbClr val="FF0000"/>
                </a:solidFill>
              </a:rPr>
              <a:t>L</a:t>
            </a:r>
            <a:r>
              <a:rPr lang="en-US" altLang="zh-TW" dirty="0"/>
              <a:t>ess than, </a:t>
            </a:r>
            <a:r>
              <a:rPr lang="en-US" altLang="zh-TW" dirty="0" err="1"/>
              <a:t>a</a:t>
            </a:r>
            <a:r>
              <a:rPr lang="en-US" altLang="zh-TW" b="1" dirty="0" err="1">
                <a:solidFill>
                  <a:srgbClr val="FF0000"/>
                </a:solidFill>
              </a:rPr>
              <a:t>N</a:t>
            </a:r>
            <a:r>
              <a:rPr lang="en-US" altLang="zh-TW" dirty="0" err="1"/>
              <a:t>d</a:t>
            </a:r>
            <a:r>
              <a:rPr lang="en-US" altLang="zh-TW" dirty="0"/>
              <a:t>, less than or </a:t>
            </a:r>
            <a:r>
              <a:rPr lang="en-US" altLang="zh-TW" b="1" dirty="0">
                <a:solidFill>
                  <a:srgbClr val="FF0000"/>
                </a:solidFill>
              </a:rPr>
              <a:t>E</a:t>
            </a:r>
            <a:r>
              <a:rPr lang="en-US" altLang="zh-TW" dirty="0"/>
              <a:t>qual to)</a:t>
            </a:r>
            <a:endParaRPr lang="zh-TW" altLang="en-US" dirty="0"/>
          </a:p>
          <a:p>
            <a:r>
              <a:rPr lang="en-US" altLang="zh-TW" dirty="0"/>
              <a:t>P(ENL) = P(less than or </a:t>
            </a:r>
            <a:r>
              <a:rPr lang="en-US" altLang="zh-TW" b="1" dirty="0">
                <a:solidFill>
                  <a:srgbClr val="FF0000"/>
                </a:solidFill>
              </a:rPr>
              <a:t>E</a:t>
            </a:r>
            <a:r>
              <a:rPr lang="en-US" altLang="zh-TW" dirty="0"/>
              <a:t>qual to, </a:t>
            </a:r>
            <a:r>
              <a:rPr lang="en-US" altLang="zh-TW" dirty="0" err="1"/>
              <a:t>a</a:t>
            </a:r>
            <a:r>
              <a:rPr lang="en-US" altLang="zh-TW" b="1" dirty="0" err="1">
                <a:solidFill>
                  <a:srgbClr val="FF0000"/>
                </a:solidFill>
              </a:rPr>
              <a:t>N</a:t>
            </a:r>
            <a:r>
              <a:rPr lang="en-US" altLang="zh-TW" dirty="0" err="1"/>
              <a:t>d</a:t>
            </a:r>
            <a:r>
              <a:rPr lang="en-US" altLang="zh-TW" dirty="0"/>
              <a:t>, </a:t>
            </a:r>
            <a:r>
              <a:rPr lang="en-US" altLang="zh-TW" b="1" dirty="0">
                <a:solidFill>
                  <a:srgbClr val="FF0000"/>
                </a:solidFill>
              </a:rPr>
              <a:t>L</a:t>
            </a:r>
            <a:r>
              <a:rPr lang="en-US" altLang="zh-TW" dirty="0"/>
              <a:t>ess than)</a:t>
            </a:r>
          </a:p>
          <a:p>
            <a:r>
              <a:rPr lang="en-US" altLang="zh-TW" dirty="0"/>
              <a:t>P(ENE) = P(less than or </a:t>
            </a:r>
            <a:r>
              <a:rPr lang="en-US" altLang="zh-TW" b="1" dirty="0">
                <a:solidFill>
                  <a:srgbClr val="FF0000"/>
                </a:solidFill>
              </a:rPr>
              <a:t>E</a:t>
            </a:r>
            <a:r>
              <a:rPr lang="en-US" altLang="zh-TW" dirty="0"/>
              <a:t>qual to, </a:t>
            </a:r>
            <a:r>
              <a:rPr lang="en-US" altLang="zh-TW" dirty="0" err="1"/>
              <a:t>a</a:t>
            </a:r>
            <a:r>
              <a:rPr lang="en-US" altLang="zh-TW" b="1" dirty="0" err="1">
                <a:solidFill>
                  <a:srgbClr val="FF0000"/>
                </a:solidFill>
              </a:rPr>
              <a:t>N</a:t>
            </a:r>
            <a:r>
              <a:rPr lang="en-US" altLang="zh-TW" dirty="0" err="1"/>
              <a:t>d</a:t>
            </a:r>
            <a:r>
              <a:rPr lang="en-US" altLang="zh-TW" dirty="0"/>
              <a:t>, less than or </a:t>
            </a:r>
            <a:r>
              <a:rPr lang="en-US" altLang="zh-TW" b="1" dirty="0">
                <a:solidFill>
                  <a:srgbClr val="FF0000"/>
                </a:solidFill>
              </a:rPr>
              <a:t>E</a:t>
            </a:r>
            <a:r>
              <a:rPr lang="en-US" altLang="zh-TW" dirty="0"/>
              <a:t>qual to)</a:t>
            </a:r>
          </a:p>
          <a:p>
            <a:r>
              <a:rPr lang="en-US" altLang="zh-TW" dirty="0"/>
              <a:t>P(LOL) = P(</a:t>
            </a:r>
            <a:r>
              <a:rPr lang="en-US" altLang="zh-TW" b="1" dirty="0">
                <a:solidFill>
                  <a:srgbClr val="FF0000"/>
                </a:solidFill>
              </a:rPr>
              <a:t>L</a:t>
            </a:r>
            <a:r>
              <a:rPr lang="en-US" altLang="zh-TW" dirty="0"/>
              <a:t>ess than, </a:t>
            </a:r>
            <a:r>
              <a:rPr lang="en-US" altLang="zh-TW" b="1" dirty="0">
                <a:solidFill>
                  <a:srgbClr val="FF0000"/>
                </a:solidFill>
              </a:rPr>
              <a:t>O</a:t>
            </a:r>
            <a:r>
              <a:rPr lang="en-US" altLang="zh-TW" dirty="0"/>
              <a:t>r, </a:t>
            </a:r>
            <a:r>
              <a:rPr lang="en-US" altLang="zh-TW" b="1" dirty="0">
                <a:solidFill>
                  <a:srgbClr val="FF0000"/>
                </a:solidFill>
              </a:rPr>
              <a:t>L</a:t>
            </a:r>
            <a:r>
              <a:rPr lang="en-US" altLang="zh-TW" dirty="0"/>
              <a:t>ess than)</a:t>
            </a:r>
            <a:endParaRPr lang="zh-TW" altLang="en-US" dirty="0"/>
          </a:p>
          <a:p>
            <a:r>
              <a:rPr lang="en-US" altLang="zh-TW" dirty="0"/>
              <a:t>P(LOE) = P(</a:t>
            </a:r>
            <a:r>
              <a:rPr lang="en-US" altLang="zh-TW" b="1" dirty="0">
                <a:solidFill>
                  <a:srgbClr val="FF0000"/>
                </a:solidFill>
              </a:rPr>
              <a:t>L</a:t>
            </a:r>
            <a:r>
              <a:rPr lang="en-US" altLang="zh-TW" dirty="0"/>
              <a:t>ess than, </a:t>
            </a:r>
            <a:r>
              <a:rPr lang="en-US" altLang="zh-TW" b="1" dirty="0">
                <a:solidFill>
                  <a:srgbClr val="FF0000"/>
                </a:solidFill>
              </a:rPr>
              <a:t>O</a:t>
            </a:r>
            <a:r>
              <a:rPr lang="en-US" altLang="zh-TW" dirty="0"/>
              <a:t>r, less than or </a:t>
            </a:r>
            <a:r>
              <a:rPr lang="en-US" altLang="zh-TW" b="1" dirty="0">
                <a:solidFill>
                  <a:srgbClr val="FF0000"/>
                </a:solidFill>
              </a:rPr>
              <a:t>E</a:t>
            </a:r>
            <a:r>
              <a:rPr lang="en-US" altLang="zh-TW" dirty="0"/>
              <a:t>qual to)</a:t>
            </a:r>
            <a:endParaRPr lang="zh-TW" altLang="en-US" dirty="0"/>
          </a:p>
          <a:p>
            <a:r>
              <a:rPr lang="en-US" altLang="zh-TW" dirty="0"/>
              <a:t>P(EOL) = P(less than or </a:t>
            </a:r>
            <a:r>
              <a:rPr lang="en-US" altLang="zh-TW" b="1" dirty="0">
                <a:solidFill>
                  <a:srgbClr val="FF0000"/>
                </a:solidFill>
              </a:rPr>
              <a:t>E</a:t>
            </a:r>
            <a:r>
              <a:rPr lang="en-US" altLang="zh-TW" dirty="0"/>
              <a:t>qual to, </a:t>
            </a:r>
            <a:r>
              <a:rPr lang="en-US" altLang="zh-TW" b="1" dirty="0">
                <a:solidFill>
                  <a:srgbClr val="FF0000"/>
                </a:solidFill>
              </a:rPr>
              <a:t>O</a:t>
            </a:r>
            <a:r>
              <a:rPr lang="en-US" altLang="zh-TW" dirty="0"/>
              <a:t>r, </a:t>
            </a:r>
            <a:r>
              <a:rPr lang="en-US" altLang="zh-TW" b="1" dirty="0">
                <a:solidFill>
                  <a:srgbClr val="FF0000"/>
                </a:solidFill>
              </a:rPr>
              <a:t>L</a:t>
            </a:r>
            <a:r>
              <a:rPr lang="en-US" altLang="zh-TW" dirty="0"/>
              <a:t>ess than)</a:t>
            </a:r>
          </a:p>
          <a:p>
            <a:r>
              <a:rPr lang="en-US" altLang="zh-TW" dirty="0"/>
              <a:t>P(EOE) = P(less than or </a:t>
            </a:r>
            <a:r>
              <a:rPr lang="en-US" altLang="zh-TW" b="1" dirty="0">
                <a:solidFill>
                  <a:srgbClr val="FF0000"/>
                </a:solidFill>
              </a:rPr>
              <a:t>E</a:t>
            </a:r>
            <a:r>
              <a:rPr lang="en-US" altLang="zh-TW" dirty="0"/>
              <a:t>qual to, </a:t>
            </a:r>
            <a:r>
              <a:rPr lang="en-US" altLang="zh-TW" b="1" dirty="0">
                <a:solidFill>
                  <a:srgbClr val="FF0000"/>
                </a:solidFill>
              </a:rPr>
              <a:t>O</a:t>
            </a:r>
            <a:r>
              <a:rPr lang="en-US" altLang="zh-TW" dirty="0"/>
              <a:t>r, less than or </a:t>
            </a:r>
            <a:r>
              <a:rPr lang="en-US" altLang="zh-TW" b="1" dirty="0">
                <a:solidFill>
                  <a:srgbClr val="FF0000"/>
                </a:solidFill>
              </a:rPr>
              <a:t>E</a:t>
            </a:r>
            <a:r>
              <a:rPr lang="en-US" altLang="zh-TW" dirty="0"/>
              <a:t>qual to)</a:t>
            </a:r>
            <a:endParaRPr lang="zh-TW" altLang="en-US" dirty="0"/>
          </a:p>
          <a:p>
            <a:endParaRPr lang="zh-TW" altLang="en-US" dirty="0"/>
          </a:p>
        </p:txBody>
      </p:sp>
    </p:spTree>
    <p:extLst>
      <p:ext uri="{BB962C8B-B14F-4D97-AF65-F5344CB8AC3E}">
        <p14:creationId xmlns:p14="http://schemas.microsoft.com/office/powerpoint/2010/main" val="15244214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C84A8CE-65B0-498A-95B5-CC59DB0DAECE}"/>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B9D0F24D-369B-46C2-BABE-77868EBC8218}"/>
              </a:ext>
            </a:extLst>
          </p:cNvPr>
          <p:cNvSpPr>
            <a:spLocks noGrp="1"/>
          </p:cNvSpPr>
          <p:nvPr>
            <p:ph idx="1"/>
          </p:nvPr>
        </p:nvSpPr>
        <p:spPr/>
        <p:txBody>
          <a:bodyPr/>
          <a:lstStyle/>
          <a:p>
            <a:endParaRPr lang="zh-TW" altLang="en-US"/>
          </a:p>
        </p:txBody>
      </p:sp>
      <p:pic>
        <p:nvPicPr>
          <p:cNvPr id="4" name="table">
            <a:extLst>
              <a:ext uri="{FF2B5EF4-FFF2-40B4-BE49-F238E27FC236}">
                <a16:creationId xmlns:a16="http://schemas.microsoft.com/office/drawing/2014/main" id="{613577AD-4EE2-4858-9FC9-B3D5D0F9B271}"/>
              </a:ext>
            </a:extLst>
          </p:cNvPr>
          <p:cNvPicPr>
            <a:picLocks noChangeAspect="1"/>
          </p:cNvPicPr>
          <p:nvPr/>
        </p:nvPicPr>
        <p:blipFill>
          <a:blip r:embed="rId2"/>
          <a:stretch>
            <a:fillRect/>
          </a:stretch>
        </p:blipFill>
        <p:spPr>
          <a:xfrm>
            <a:off x="1649999" y="729000"/>
            <a:ext cx="8892000" cy="5400000"/>
          </a:xfrm>
          <a:prstGeom prst="rect">
            <a:avLst/>
          </a:prstGeom>
        </p:spPr>
      </p:pic>
      <p:sp>
        <p:nvSpPr>
          <p:cNvPr id="5" name="矩形 4">
            <a:extLst>
              <a:ext uri="{FF2B5EF4-FFF2-40B4-BE49-F238E27FC236}">
                <a16:creationId xmlns:a16="http://schemas.microsoft.com/office/drawing/2014/main" id="{6679DCCF-5E2D-43F2-95F0-75C9EE2BCC72}"/>
              </a:ext>
            </a:extLst>
          </p:cNvPr>
          <p:cNvSpPr/>
          <p:nvPr/>
        </p:nvSpPr>
        <p:spPr>
          <a:xfrm>
            <a:off x="1636351" y="2870691"/>
            <a:ext cx="973829" cy="219046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TW" altLang="en-US"/>
          </a:p>
        </p:txBody>
      </p:sp>
      <p:sp>
        <p:nvSpPr>
          <p:cNvPr id="6" name="矩形 5">
            <a:extLst>
              <a:ext uri="{FF2B5EF4-FFF2-40B4-BE49-F238E27FC236}">
                <a16:creationId xmlns:a16="http://schemas.microsoft.com/office/drawing/2014/main" id="{9DED0AC8-56F1-4669-BCE9-F1700CAAA67B}"/>
              </a:ext>
            </a:extLst>
          </p:cNvPr>
          <p:cNvSpPr/>
          <p:nvPr/>
        </p:nvSpPr>
        <p:spPr>
          <a:xfrm>
            <a:off x="9847742" y="2870691"/>
            <a:ext cx="707906" cy="219046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TW" altLang="en-US"/>
          </a:p>
        </p:txBody>
      </p:sp>
    </p:spTree>
    <p:extLst>
      <p:ext uri="{BB962C8B-B14F-4D97-AF65-F5344CB8AC3E}">
        <p14:creationId xmlns:p14="http://schemas.microsoft.com/office/powerpoint/2010/main" val="35062911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E1B57CE-1FE9-4321-B889-FA14CCFBDF3B}"/>
              </a:ext>
            </a:extLst>
          </p:cNvPr>
          <p:cNvSpPr>
            <a:spLocks noGrp="1"/>
          </p:cNvSpPr>
          <p:nvPr>
            <p:ph type="title"/>
          </p:nvPr>
        </p:nvSpPr>
        <p:spPr/>
        <p:txBody>
          <a:bodyPr/>
          <a:lstStyle/>
          <a:p>
            <a:r>
              <a:rPr lang="en-US" altLang="zh-TW" dirty="0"/>
              <a:t>Invalid cases</a:t>
            </a:r>
            <a:endParaRPr lang="zh-TW" altLang="en-US" dirty="0"/>
          </a:p>
        </p:txBody>
      </p:sp>
      <mc:AlternateContent xmlns:mc="http://schemas.openxmlformats.org/markup-compatibility/2006" xmlns:a14="http://schemas.microsoft.com/office/drawing/2010/main">
        <mc:Choice Requires="a14">
          <p:graphicFrame>
            <p:nvGraphicFramePr>
              <p:cNvPr id="4" name="表格 4">
                <a:extLst>
                  <a:ext uri="{FF2B5EF4-FFF2-40B4-BE49-F238E27FC236}">
                    <a16:creationId xmlns:a16="http://schemas.microsoft.com/office/drawing/2014/main" id="{742E304C-7B55-4BA0-986B-A3EB7CDB6C6C}"/>
                  </a:ext>
                </a:extLst>
              </p:cNvPr>
              <p:cNvGraphicFramePr>
                <a:graphicFrameLocks noGrp="1"/>
              </p:cNvGraphicFramePr>
              <p:nvPr>
                <p:ph idx="1"/>
                <p:extLst>
                  <p:ext uri="{D42A27DB-BD31-4B8C-83A1-F6EECF244321}">
                    <p14:modId xmlns:p14="http://schemas.microsoft.com/office/powerpoint/2010/main" val="3457724930"/>
                  </p:ext>
                </p:extLst>
              </p:nvPr>
            </p:nvGraphicFramePr>
            <p:xfrm>
              <a:off x="1555652" y="2078843"/>
              <a:ext cx="1728000" cy="1188000"/>
            </p:xfrm>
            <a:graphic>
              <a:graphicData uri="http://schemas.openxmlformats.org/drawingml/2006/table">
                <a:tbl>
                  <a:tblPr firstRow="1" bandRow="1">
                    <a:tableStyleId>{5C22544A-7EE6-4342-B048-85BDC9FD1C3A}</a:tableStyleId>
                  </a:tblPr>
                  <a:tblGrid>
                    <a:gridCol w="576000">
                      <a:extLst>
                        <a:ext uri="{9D8B030D-6E8A-4147-A177-3AD203B41FA5}">
                          <a16:colId xmlns:a16="http://schemas.microsoft.com/office/drawing/2014/main" val="2080374033"/>
                        </a:ext>
                      </a:extLst>
                    </a:gridCol>
                    <a:gridCol w="576000">
                      <a:extLst>
                        <a:ext uri="{9D8B030D-6E8A-4147-A177-3AD203B41FA5}">
                          <a16:colId xmlns:a16="http://schemas.microsoft.com/office/drawing/2014/main" val="211858883"/>
                        </a:ext>
                      </a:extLst>
                    </a:gridCol>
                    <a:gridCol w="576000">
                      <a:extLst>
                        <a:ext uri="{9D8B030D-6E8A-4147-A177-3AD203B41FA5}">
                          <a16:colId xmlns:a16="http://schemas.microsoft.com/office/drawing/2014/main" val="3012550329"/>
                        </a:ext>
                      </a:extLst>
                    </a:gridCol>
                  </a:tblGrid>
                  <a:tr h="396000">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8615657"/>
                      </a:ext>
                    </a:extLst>
                  </a:tr>
                  <a:tr h="396000">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r>
                                  <a:rPr lang="zh-TW" altLang="en-US" b="0" i="1" smtClean="0">
                                    <a:latin typeface="Cambria Math" panose="02040503050406030204" pitchFamily="18" charset="0"/>
                                  </a:rPr>
                                  <m:t>𝛼</m:t>
                                </m:r>
                              </m:oMath>
                            </m:oMathPara>
                          </a14:m>
                          <a:endParaRPr lang="en-US" altLang="zh-TW"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extLst>
                      <a:ext uri="{0D108BD9-81ED-4DB2-BD59-A6C34878D82A}">
                        <a16:rowId xmlns:a16="http://schemas.microsoft.com/office/drawing/2014/main" val="2241392961"/>
                      </a:ext>
                    </a:extLst>
                  </a:tr>
                  <a:tr h="396000">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01357779"/>
                      </a:ext>
                    </a:extLst>
                  </a:tr>
                </a:tbl>
              </a:graphicData>
            </a:graphic>
          </p:graphicFrame>
        </mc:Choice>
        <mc:Fallback xmlns="">
          <p:graphicFrame>
            <p:nvGraphicFramePr>
              <p:cNvPr id="4" name="表格 4">
                <a:extLst>
                  <a:ext uri="{FF2B5EF4-FFF2-40B4-BE49-F238E27FC236}">
                    <a16:creationId xmlns:a16="http://schemas.microsoft.com/office/drawing/2014/main" id="{742E304C-7B55-4BA0-986B-A3EB7CDB6C6C}"/>
                  </a:ext>
                </a:extLst>
              </p:cNvPr>
              <p:cNvGraphicFramePr>
                <a:graphicFrameLocks noGrp="1"/>
              </p:cNvGraphicFramePr>
              <p:nvPr>
                <p:ph idx="1"/>
                <p:extLst>
                  <p:ext uri="{D42A27DB-BD31-4B8C-83A1-F6EECF244321}">
                    <p14:modId xmlns:p14="http://schemas.microsoft.com/office/powerpoint/2010/main" val="3457724930"/>
                  </p:ext>
                </p:extLst>
              </p:nvPr>
            </p:nvGraphicFramePr>
            <p:xfrm>
              <a:off x="1555652" y="2078843"/>
              <a:ext cx="1728000" cy="1188000"/>
            </p:xfrm>
            <a:graphic>
              <a:graphicData uri="http://schemas.openxmlformats.org/drawingml/2006/table">
                <a:tbl>
                  <a:tblPr firstRow="1" bandRow="1">
                    <a:tableStyleId>{5C22544A-7EE6-4342-B048-85BDC9FD1C3A}</a:tableStyleId>
                  </a:tblPr>
                  <a:tblGrid>
                    <a:gridCol w="576000">
                      <a:extLst>
                        <a:ext uri="{9D8B030D-6E8A-4147-A177-3AD203B41FA5}">
                          <a16:colId xmlns:a16="http://schemas.microsoft.com/office/drawing/2014/main" val="2080374033"/>
                        </a:ext>
                      </a:extLst>
                    </a:gridCol>
                    <a:gridCol w="576000">
                      <a:extLst>
                        <a:ext uri="{9D8B030D-6E8A-4147-A177-3AD203B41FA5}">
                          <a16:colId xmlns:a16="http://schemas.microsoft.com/office/drawing/2014/main" val="211858883"/>
                        </a:ext>
                      </a:extLst>
                    </a:gridCol>
                    <a:gridCol w="576000">
                      <a:extLst>
                        <a:ext uri="{9D8B030D-6E8A-4147-A177-3AD203B41FA5}">
                          <a16:colId xmlns:a16="http://schemas.microsoft.com/office/drawing/2014/main" val="3012550329"/>
                        </a:ext>
                      </a:extLst>
                    </a:gridCol>
                  </a:tblGrid>
                  <a:tr h="396000">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8615657"/>
                      </a:ext>
                    </a:extLst>
                  </a:tr>
                  <a:tr h="396000">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102128" t="-103077" r="-103191" b="-103077"/>
                          </a:stretch>
                        </a:blip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extLst>
                      <a:ext uri="{0D108BD9-81ED-4DB2-BD59-A6C34878D82A}">
                        <a16:rowId xmlns:a16="http://schemas.microsoft.com/office/drawing/2014/main" val="2241392961"/>
                      </a:ext>
                    </a:extLst>
                  </a:tr>
                  <a:tr h="396000">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0135777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6" name="表格 4">
                <a:extLst>
                  <a:ext uri="{FF2B5EF4-FFF2-40B4-BE49-F238E27FC236}">
                    <a16:creationId xmlns:a16="http://schemas.microsoft.com/office/drawing/2014/main" id="{B62B26BA-F80A-4127-9A4C-9B4024D85BCA}"/>
                  </a:ext>
                </a:extLst>
              </p:cNvPr>
              <p:cNvGraphicFramePr>
                <a:graphicFrameLocks/>
              </p:cNvGraphicFramePr>
              <p:nvPr>
                <p:extLst>
                  <p:ext uri="{D42A27DB-BD31-4B8C-83A1-F6EECF244321}">
                    <p14:modId xmlns:p14="http://schemas.microsoft.com/office/powerpoint/2010/main" val="4078986590"/>
                  </p:ext>
                </p:extLst>
              </p:nvPr>
            </p:nvGraphicFramePr>
            <p:xfrm>
              <a:off x="4521591" y="2078843"/>
              <a:ext cx="1728000" cy="1188000"/>
            </p:xfrm>
            <a:graphic>
              <a:graphicData uri="http://schemas.openxmlformats.org/drawingml/2006/table">
                <a:tbl>
                  <a:tblPr firstRow="1" bandRow="1">
                    <a:tableStyleId>{5C22544A-7EE6-4342-B048-85BDC9FD1C3A}</a:tableStyleId>
                  </a:tblPr>
                  <a:tblGrid>
                    <a:gridCol w="576000">
                      <a:extLst>
                        <a:ext uri="{9D8B030D-6E8A-4147-A177-3AD203B41FA5}">
                          <a16:colId xmlns:a16="http://schemas.microsoft.com/office/drawing/2014/main" val="2080374033"/>
                        </a:ext>
                      </a:extLst>
                    </a:gridCol>
                    <a:gridCol w="576000">
                      <a:extLst>
                        <a:ext uri="{9D8B030D-6E8A-4147-A177-3AD203B41FA5}">
                          <a16:colId xmlns:a16="http://schemas.microsoft.com/office/drawing/2014/main" val="211858883"/>
                        </a:ext>
                      </a:extLst>
                    </a:gridCol>
                    <a:gridCol w="576000">
                      <a:extLst>
                        <a:ext uri="{9D8B030D-6E8A-4147-A177-3AD203B41FA5}">
                          <a16:colId xmlns:a16="http://schemas.microsoft.com/office/drawing/2014/main" val="3012550329"/>
                        </a:ext>
                      </a:extLst>
                    </a:gridCol>
                  </a:tblGrid>
                  <a:tr h="396000">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8615657"/>
                      </a:ext>
                    </a:extLst>
                  </a:tr>
                  <a:tr h="396000">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r>
                                  <a:rPr lang="zh-TW" altLang="en-US" b="0" i="1" smtClean="0">
                                    <a:latin typeface="Cambria Math" panose="02040503050406030204" pitchFamily="18" charset="0"/>
                                  </a:rPr>
                                  <m:t>𝛼</m:t>
                                </m:r>
                              </m:oMath>
                            </m:oMathPara>
                          </a14:m>
                          <a:endParaRPr lang="en-US" altLang="zh-TW"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41392961"/>
                      </a:ext>
                    </a:extLst>
                  </a:tr>
                  <a:tr h="396000">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extLst>
                      <a:ext uri="{0D108BD9-81ED-4DB2-BD59-A6C34878D82A}">
                        <a16:rowId xmlns:a16="http://schemas.microsoft.com/office/drawing/2014/main" val="801357779"/>
                      </a:ext>
                    </a:extLst>
                  </a:tr>
                </a:tbl>
              </a:graphicData>
            </a:graphic>
          </p:graphicFrame>
        </mc:Choice>
        <mc:Fallback xmlns="">
          <p:graphicFrame>
            <p:nvGraphicFramePr>
              <p:cNvPr id="6" name="表格 4">
                <a:extLst>
                  <a:ext uri="{FF2B5EF4-FFF2-40B4-BE49-F238E27FC236}">
                    <a16:creationId xmlns:a16="http://schemas.microsoft.com/office/drawing/2014/main" id="{B62B26BA-F80A-4127-9A4C-9B4024D85BCA}"/>
                  </a:ext>
                </a:extLst>
              </p:cNvPr>
              <p:cNvGraphicFramePr>
                <a:graphicFrameLocks/>
              </p:cNvGraphicFramePr>
              <p:nvPr>
                <p:extLst>
                  <p:ext uri="{D42A27DB-BD31-4B8C-83A1-F6EECF244321}">
                    <p14:modId xmlns:p14="http://schemas.microsoft.com/office/powerpoint/2010/main" val="4078986590"/>
                  </p:ext>
                </p:extLst>
              </p:nvPr>
            </p:nvGraphicFramePr>
            <p:xfrm>
              <a:off x="4521591" y="2078843"/>
              <a:ext cx="1728000" cy="1188000"/>
            </p:xfrm>
            <a:graphic>
              <a:graphicData uri="http://schemas.openxmlformats.org/drawingml/2006/table">
                <a:tbl>
                  <a:tblPr firstRow="1" bandRow="1">
                    <a:tableStyleId>{5C22544A-7EE6-4342-B048-85BDC9FD1C3A}</a:tableStyleId>
                  </a:tblPr>
                  <a:tblGrid>
                    <a:gridCol w="576000">
                      <a:extLst>
                        <a:ext uri="{9D8B030D-6E8A-4147-A177-3AD203B41FA5}">
                          <a16:colId xmlns:a16="http://schemas.microsoft.com/office/drawing/2014/main" val="2080374033"/>
                        </a:ext>
                      </a:extLst>
                    </a:gridCol>
                    <a:gridCol w="576000">
                      <a:extLst>
                        <a:ext uri="{9D8B030D-6E8A-4147-A177-3AD203B41FA5}">
                          <a16:colId xmlns:a16="http://schemas.microsoft.com/office/drawing/2014/main" val="211858883"/>
                        </a:ext>
                      </a:extLst>
                    </a:gridCol>
                    <a:gridCol w="576000">
                      <a:extLst>
                        <a:ext uri="{9D8B030D-6E8A-4147-A177-3AD203B41FA5}">
                          <a16:colId xmlns:a16="http://schemas.microsoft.com/office/drawing/2014/main" val="3012550329"/>
                        </a:ext>
                      </a:extLst>
                    </a:gridCol>
                  </a:tblGrid>
                  <a:tr h="396000">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8615657"/>
                      </a:ext>
                    </a:extLst>
                  </a:tr>
                  <a:tr h="396000">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01053" t="-103077" r="-102105" b="-103077"/>
                          </a:stretch>
                        </a:blip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41392961"/>
                      </a:ext>
                    </a:extLst>
                  </a:tr>
                  <a:tr h="396000">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extLst>
                      <a:ext uri="{0D108BD9-81ED-4DB2-BD59-A6C34878D82A}">
                        <a16:rowId xmlns:a16="http://schemas.microsoft.com/office/drawing/2014/main" val="801357779"/>
                      </a:ext>
                    </a:extLst>
                  </a:tr>
                </a:tbl>
              </a:graphicData>
            </a:graphic>
          </p:graphicFrame>
        </mc:Fallback>
      </mc:AlternateContent>
      <p:sp>
        <p:nvSpPr>
          <p:cNvPr id="7" name="箭號: 左-右雙向 6">
            <a:extLst>
              <a:ext uri="{FF2B5EF4-FFF2-40B4-BE49-F238E27FC236}">
                <a16:creationId xmlns:a16="http://schemas.microsoft.com/office/drawing/2014/main" id="{D50CDD92-FC0C-47C0-B1AE-3952CE368C56}"/>
              </a:ext>
            </a:extLst>
          </p:cNvPr>
          <p:cNvSpPr/>
          <p:nvPr/>
        </p:nvSpPr>
        <p:spPr>
          <a:xfrm>
            <a:off x="3521035" y="2512373"/>
            <a:ext cx="759655" cy="256394"/>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文字方塊 7">
            <a:extLst>
              <a:ext uri="{FF2B5EF4-FFF2-40B4-BE49-F238E27FC236}">
                <a16:creationId xmlns:a16="http://schemas.microsoft.com/office/drawing/2014/main" id="{F738238D-99D0-41AA-B702-33F05EB72686}"/>
              </a:ext>
            </a:extLst>
          </p:cNvPr>
          <p:cNvSpPr txBox="1"/>
          <p:nvPr/>
        </p:nvSpPr>
        <p:spPr>
          <a:xfrm>
            <a:off x="7484012" y="2307102"/>
            <a:ext cx="3869788" cy="461665"/>
          </a:xfrm>
          <a:prstGeom prst="rect">
            <a:avLst/>
          </a:prstGeom>
          <a:noFill/>
        </p:spPr>
        <p:txBody>
          <a:bodyPr wrap="square" rtlCol="0">
            <a:spAutoFit/>
          </a:bodyPr>
          <a:lstStyle/>
          <a:p>
            <a:r>
              <a:rPr lang="en-US" altLang="zh-TW" sz="2400" dirty="0"/>
              <a:t>P(LNL), P(LNE) invalid</a:t>
            </a:r>
            <a:endParaRPr lang="zh-TW" altLang="en-US" sz="2400" dirty="0"/>
          </a:p>
        </p:txBody>
      </p:sp>
      <mc:AlternateContent xmlns:mc="http://schemas.openxmlformats.org/markup-compatibility/2006" xmlns:a14="http://schemas.microsoft.com/office/drawing/2010/main">
        <mc:Choice Requires="a14">
          <p:graphicFrame>
            <p:nvGraphicFramePr>
              <p:cNvPr id="9" name="表格 4">
                <a:extLst>
                  <a:ext uri="{FF2B5EF4-FFF2-40B4-BE49-F238E27FC236}">
                    <a16:creationId xmlns:a16="http://schemas.microsoft.com/office/drawing/2014/main" id="{99CE82A5-C611-467C-B118-AD348F09D2D0}"/>
                  </a:ext>
                </a:extLst>
              </p:cNvPr>
              <p:cNvGraphicFramePr>
                <a:graphicFrameLocks/>
              </p:cNvGraphicFramePr>
              <p:nvPr>
                <p:extLst>
                  <p:ext uri="{D42A27DB-BD31-4B8C-83A1-F6EECF244321}">
                    <p14:modId xmlns:p14="http://schemas.microsoft.com/office/powerpoint/2010/main" val="768878478"/>
                  </p:ext>
                </p:extLst>
              </p:nvPr>
            </p:nvGraphicFramePr>
            <p:xfrm>
              <a:off x="4521591" y="4239766"/>
              <a:ext cx="1728000" cy="1188000"/>
            </p:xfrm>
            <a:graphic>
              <a:graphicData uri="http://schemas.openxmlformats.org/drawingml/2006/table">
                <a:tbl>
                  <a:tblPr firstRow="1" bandRow="1">
                    <a:tableStyleId>{5C22544A-7EE6-4342-B048-85BDC9FD1C3A}</a:tableStyleId>
                  </a:tblPr>
                  <a:tblGrid>
                    <a:gridCol w="576000">
                      <a:extLst>
                        <a:ext uri="{9D8B030D-6E8A-4147-A177-3AD203B41FA5}">
                          <a16:colId xmlns:a16="http://schemas.microsoft.com/office/drawing/2014/main" val="2080374033"/>
                        </a:ext>
                      </a:extLst>
                    </a:gridCol>
                    <a:gridCol w="576000">
                      <a:extLst>
                        <a:ext uri="{9D8B030D-6E8A-4147-A177-3AD203B41FA5}">
                          <a16:colId xmlns:a16="http://schemas.microsoft.com/office/drawing/2014/main" val="211858883"/>
                        </a:ext>
                      </a:extLst>
                    </a:gridCol>
                    <a:gridCol w="576000">
                      <a:extLst>
                        <a:ext uri="{9D8B030D-6E8A-4147-A177-3AD203B41FA5}">
                          <a16:colId xmlns:a16="http://schemas.microsoft.com/office/drawing/2014/main" val="3012550329"/>
                        </a:ext>
                      </a:extLst>
                    </a:gridCol>
                  </a:tblGrid>
                  <a:tr h="396000">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8615657"/>
                      </a:ext>
                    </a:extLst>
                  </a:tr>
                  <a:tr h="396000">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a14:m>
                            <m:oMathPara xmlns:m="http://schemas.openxmlformats.org/officeDocument/2006/math">
                              <m:oMathParaPr>
                                <m:jc m:val="centerGroup"/>
                              </m:oMathParaPr>
                              <m:oMath xmlns:m="http://schemas.openxmlformats.org/officeDocument/2006/math">
                                <m:r>
                                  <a:rPr lang="zh-TW" altLang="en-US" b="0" i="1" smtClean="0">
                                    <a:latin typeface="Cambria Math" panose="02040503050406030204" pitchFamily="18" charset="0"/>
                                  </a:rPr>
                                  <m:t>𝛼</m:t>
                                </m:r>
                              </m:oMath>
                            </m:oMathPara>
                          </a14:m>
                          <a:endParaRPr lang="en-US" altLang="zh-TW"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41392961"/>
                      </a:ext>
                    </a:extLst>
                  </a:tr>
                  <a:tr h="396000">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01357779"/>
                      </a:ext>
                    </a:extLst>
                  </a:tr>
                </a:tbl>
              </a:graphicData>
            </a:graphic>
          </p:graphicFrame>
        </mc:Choice>
        <mc:Fallback xmlns="">
          <p:graphicFrame>
            <p:nvGraphicFramePr>
              <p:cNvPr id="9" name="表格 4">
                <a:extLst>
                  <a:ext uri="{FF2B5EF4-FFF2-40B4-BE49-F238E27FC236}">
                    <a16:creationId xmlns:a16="http://schemas.microsoft.com/office/drawing/2014/main" id="{99CE82A5-C611-467C-B118-AD348F09D2D0}"/>
                  </a:ext>
                </a:extLst>
              </p:cNvPr>
              <p:cNvGraphicFramePr>
                <a:graphicFrameLocks/>
              </p:cNvGraphicFramePr>
              <p:nvPr>
                <p:extLst>
                  <p:ext uri="{D42A27DB-BD31-4B8C-83A1-F6EECF244321}">
                    <p14:modId xmlns:p14="http://schemas.microsoft.com/office/powerpoint/2010/main" val="768878478"/>
                  </p:ext>
                </p:extLst>
              </p:nvPr>
            </p:nvGraphicFramePr>
            <p:xfrm>
              <a:off x="4521591" y="4239766"/>
              <a:ext cx="1728000" cy="1188000"/>
            </p:xfrm>
            <a:graphic>
              <a:graphicData uri="http://schemas.openxmlformats.org/drawingml/2006/table">
                <a:tbl>
                  <a:tblPr firstRow="1" bandRow="1">
                    <a:tableStyleId>{5C22544A-7EE6-4342-B048-85BDC9FD1C3A}</a:tableStyleId>
                  </a:tblPr>
                  <a:tblGrid>
                    <a:gridCol w="576000">
                      <a:extLst>
                        <a:ext uri="{9D8B030D-6E8A-4147-A177-3AD203B41FA5}">
                          <a16:colId xmlns:a16="http://schemas.microsoft.com/office/drawing/2014/main" val="2080374033"/>
                        </a:ext>
                      </a:extLst>
                    </a:gridCol>
                    <a:gridCol w="576000">
                      <a:extLst>
                        <a:ext uri="{9D8B030D-6E8A-4147-A177-3AD203B41FA5}">
                          <a16:colId xmlns:a16="http://schemas.microsoft.com/office/drawing/2014/main" val="211858883"/>
                        </a:ext>
                      </a:extLst>
                    </a:gridCol>
                    <a:gridCol w="576000">
                      <a:extLst>
                        <a:ext uri="{9D8B030D-6E8A-4147-A177-3AD203B41FA5}">
                          <a16:colId xmlns:a16="http://schemas.microsoft.com/office/drawing/2014/main" val="3012550329"/>
                        </a:ext>
                      </a:extLst>
                    </a:gridCol>
                  </a:tblGrid>
                  <a:tr h="396000">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8615657"/>
                      </a:ext>
                    </a:extLst>
                  </a:tr>
                  <a:tr h="396000">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101053" t="-100000" r="-102105" b="-101515"/>
                          </a:stretch>
                        </a:blip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41392961"/>
                      </a:ext>
                    </a:extLst>
                  </a:tr>
                  <a:tr h="396000">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0135777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0" name="表格 4">
                <a:extLst>
                  <a:ext uri="{FF2B5EF4-FFF2-40B4-BE49-F238E27FC236}">
                    <a16:creationId xmlns:a16="http://schemas.microsoft.com/office/drawing/2014/main" id="{6BBCFD48-E62A-4161-9318-7422A65EBB90}"/>
                  </a:ext>
                </a:extLst>
              </p:cNvPr>
              <p:cNvGraphicFramePr>
                <a:graphicFrameLocks/>
              </p:cNvGraphicFramePr>
              <p:nvPr>
                <p:extLst>
                  <p:ext uri="{D42A27DB-BD31-4B8C-83A1-F6EECF244321}">
                    <p14:modId xmlns:p14="http://schemas.microsoft.com/office/powerpoint/2010/main" val="4293999119"/>
                  </p:ext>
                </p:extLst>
              </p:nvPr>
            </p:nvGraphicFramePr>
            <p:xfrm>
              <a:off x="1555652" y="4239766"/>
              <a:ext cx="1728000" cy="1188000"/>
            </p:xfrm>
            <a:graphic>
              <a:graphicData uri="http://schemas.openxmlformats.org/drawingml/2006/table">
                <a:tbl>
                  <a:tblPr firstRow="1" bandRow="1">
                    <a:tableStyleId>{5C22544A-7EE6-4342-B048-85BDC9FD1C3A}</a:tableStyleId>
                  </a:tblPr>
                  <a:tblGrid>
                    <a:gridCol w="576000">
                      <a:extLst>
                        <a:ext uri="{9D8B030D-6E8A-4147-A177-3AD203B41FA5}">
                          <a16:colId xmlns:a16="http://schemas.microsoft.com/office/drawing/2014/main" val="2080374033"/>
                        </a:ext>
                      </a:extLst>
                    </a:gridCol>
                    <a:gridCol w="576000">
                      <a:extLst>
                        <a:ext uri="{9D8B030D-6E8A-4147-A177-3AD203B41FA5}">
                          <a16:colId xmlns:a16="http://schemas.microsoft.com/office/drawing/2014/main" val="211858883"/>
                        </a:ext>
                      </a:extLst>
                    </a:gridCol>
                    <a:gridCol w="576000">
                      <a:extLst>
                        <a:ext uri="{9D8B030D-6E8A-4147-A177-3AD203B41FA5}">
                          <a16:colId xmlns:a16="http://schemas.microsoft.com/office/drawing/2014/main" val="3012550329"/>
                        </a:ext>
                      </a:extLst>
                    </a:gridCol>
                  </a:tblGrid>
                  <a:tr h="396000">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8615657"/>
                      </a:ext>
                    </a:extLst>
                  </a:tr>
                  <a:tr h="396000">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r>
                                  <a:rPr lang="zh-TW" altLang="en-US" b="0" i="1" smtClean="0">
                                    <a:latin typeface="Cambria Math" panose="02040503050406030204" pitchFamily="18" charset="0"/>
                                  </a:rPr>
                                  <m:t>𝛼</m:t>
                                </m:r>
                              </m:oMath>
                            </m:oMathPara>
                          </a14:m>
                          <a:endParaRPr lang="en-US" altLang="zh-TW"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41392961"/>
                      </a:ext>
                    </a:extLst>
                  </a:tr>
                  <a:tr h="396000">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extLst>
                      <a:ext uri="{0D108BD9-81ED-4DB2-BD59-A6C34878D82A}">
                        <a16:rowId xmlns:a16="http://schemas.microsoft.com/office/drawing/2014/main" val="801357779"/>
                      </a:ext>
                    </a:extLst>
                  </a:tr>
                </a:tbl>
              </a:graphicData>
            </a:graphic>
          </p:graphicFrame>
        </mc:Choice>
        <mc:Fallback xmlns="">
          <p:graphicFrame>
            <p:nvGraphicFramePr>
              <p:cNvPr id="10" name="表格 4">
                <a:extLst>
                  <a:ext uri="{FF2B5EF4-FFF2-40B4-BE49-F238E27FC236}">
                    <a16:creationId xmlns:a16="http://schemas.microsoft.com/office/drawing/2014/main" id="{6BBCFD48-E62A-4161-9318-7422A65EBB90}"/>
                  </a:ext>
                </a:extLst>
              </p:cNvPr>
              <p:cNvGraphicFramePr>
                <a:graphicFrameLocks/>
              </p:cNvGraphicFramePr>
              <p:nvPr>
                <p:extLst>
                  <p:ext uri="{D42A27DB-BD31-4B8C-83A1-F6EECF244321}">
                    <p14:modId xmlns:p14="http://schemas.microsoft.com/office/powerpoint/2010/main" val="4293999119"/>
                  </p:ext>
                </p:extLst>
              </p:nvPr>
            </p:nvGraphicFramePr>
            <p:xfrm>
              <a:off x="1555652" y="4239766"/>
              <a:ext cx="1728000" cy="1188000"/>
            </p:xfrm>
            <a:graphic>
              <a:graphicData uri="http://schemas.openxmlformats.org/drawingml/2006/table">
                <a:tbl>
                  <a:tblPr firstRow="1" bandRow="1">
                    <a:tableStyleId>{5C22544A-7EE6-4342-B048-85BDC9FD1C3A}</a:tableStyleId>
                  </a:tblPr>
                  <a:tblGrid>
                    <a:gridCol w="576000">
                      <a:extLst>
                        <a:ext uri="{9D8B030D-6E8A-4147-A177-3AD203B41FA5}">
                          <a16:colId xmlns:a16="http://schemas.microsoft.com/office/drawing/2014/main" val="2080374033"/>
                        </a:ext>
                      </a:extLst>
                    </a:gridCol>
                    <a:gridCol w="576000">
                      <a:extLst>
                        <a:ext uri="{9D8B030D-6E8A-4147-A177-3AD203B41FA5}">
                          <a16:colId xmlns:a16="http://schemas.microsoft.com/office/drawing/2014/main" val="211858883"/>
                        </a:ext>
                      </a:extLst>
                    </a:gridCol>
                    <a:gridCol w="576000">
                      <a:extLst>
                        <a:ext uri="{9D8B030D-6E8A-4147-A177-3AD203B41FA5}">
                          <a16:colId xmlns:a16="http://schemas.microsoft.com/office/drawing/2014/main" val="3012550329"/>
                        </a:ext>
                      </a:extLst>
                    </a:gridCol>
                  </a:tblGrid>
                  <a:tr h="396000">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8615657"/>
                      </a:ext>
                    </a:extLst>
                  </a:tr>
                  <a:tr h="396000">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02128" t="-100000" r="-103191" b="-101515"/>
                          </a:stretch>
                        </a:blip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41392961"/>
                      </a:ext>
                    </a:extLst>
                  </a:tr>
                  <a:tr h="396000">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extLst>
                      <a:ext uri="{0D108BD9-81ED-4DB2-BD59-A6C34878D82A}">
                        <a16:rowId xmlns:a16="http://schemas.microsoft.com/office/drawing/2014/main" val="801357779"/>
                      </a:ext>
                    </a:extLst>
                  </a:tr>
                </a:tbl>
              </a:graphicData>
            </a:graphic>
          </p:graphicFrame>
        </mc:Fallback>
      </mc:AlternateContent>
      <p:sp>
        <p:nvSpPr>
          <p:cNvPr id="11" name="箭號: 左-右雙向 10">
            <a:extLst>
              <a:ext uri="{FF2B5EF4-FFF2-40B4-BE49-F238E27FC236}">
                <a16:creationId xmlns:a16="http://schemas.microsoft.com/office/drawing/2014/main" id="{857C56DB-FA3A-4A5A-9BC9-5C610D4A8B50}"/>
              </a:ext>
            </a:extLst>
          </p:cNvPr>
          <p:cNvSpPr/>
          <p:nvPr/>
        </p:nvSpPr>
        <p:spPr>
          <a:xfrm>
            <a:off x="3521035" y="4705569"/>
            <a:ext cx="759655" cy="256394"/>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文字方塊 11">
            <a:extLst>
              <a:ext uri="{FF2B5EF4-FFF2-40B4-BE49-F238E27FC236}">
                <a16:creationId xmlns:a16="http://schemas.microsoft.com/office/drawing/2014/main" id="{62F4B39A-0CE7-40AC-B8AD-447783641274}"/>
              </a:ext>
            </a:extLst>
          </p:cNvPr>
          <p:cNvSpPr txBox="1"/>
          <p:nvPr/>
        </p:nvSpPr>
        <p:spPr>
          <a:xfrm>
            <a:off x="7484012" y="4513385"/>
            <a:ext cx="3869788" cy="461665"/>
          </a:xfrm>
          <a:prstGeom prst="rect">
            <a:avLst/>
          </a:prstGeom>
          <a:noFill/>
        </p:spPr>
        <p:txBody>
          <a:bodyPr wrap="square" rtlCol="0">
            <a:spAutoFit/>
          </a:bodyPr>
          <a:lstStyle/>
          <a:p>
            <a:r>
              <a:rPr lang="en-US" altLang="zh-TW" sz="2400" dirty="0"/>
              <a:t>P(EOL), P(EOE) invalid</a:t>
            </a:r>
            <a:endParaRPr lang="zh-TW" altLang="en-US" sz="2400" dirty="0"/>
          </a:p>
        </p:txBody>
      </p:sp>
    </p:spTree>
    <p:extLst>
      <p:ext uri="{BB962C8B-B14F-4D97-AF65-F5344CB8AC3E}">
        <p14:creationId xmlns:p14="http://schemas.microsoft.com/office/powerpoint/2010/main" val="7559811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0FCEEA0-7D62-47B0-A5CA-A486D11F4306}"/>
              </a:ext>
            </a:extLst>
          </p:cNvPr>
          <p:cNvSpPr>
            <a:spLocks noGrp="1"/>
          </p:cNvSpPr>
          <p:nvPr>
            <p:ph type="title"/>
          </p:nvPr>
        </p:nvSpPr>
        <p:spPr/>
        <p:txBody>
          <a:bodyPr/>
          <a:lstStyle/>
          <a:p>
            <a:r>
              <a:rPr lang="en-US" altLang="zh-TW" dirty="0"/>
              <a:t>NP optimization (NPO)</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04A62A0B-F5AF-4C53-B7AE-90C7C6A2F2BE}"/>
                  </a:ext>
                </a:extLst>
              </p:cNvPr>
              <p:cNvSpPr>
                <a:spLocks noGrp="1"/>
              </p:cNvSpPr>
              <p:nvPr>
                <p:ph idx="1"/>
              </p:nvPr>
            </p:nvSpPr>
            <p:spPr>
              <a:xfrm>
                <a:off x="838200" y="1825625"/>
                <a:ext cx="5257800" cy="4351338"/>
              </a:xfrm>
            </p:spPr>
            <p:txBody>
              <a:bodyPr/>
              <a:lstStyle/>
              <a:p>
                <a:pPr marL="0" indent="0">
                  <a:buNone/>
                </a:pPr>
                <a:r>
                  <a:rPr lang="en-US" altLang="zh-TW" dirty="0">
                    <a:latin typeface="+mj-lt"/>
                  </a:rPr>
                  <a:t>Take TLCS for example</a:t>
                </a:r>
              </a:p>
              <a:p>
                <a14:m>
                  <m:oMath xmlns:m="http://schemas.openxmlformats.org/officeDocument/2006/math">
                    <m:nary>
                      <m:naryPr>
                        <m:chr m:val="∮"/>
                        <m:ctrlPr>
                          <a:rPr lang="zh-TW" altLang="en-US" i="1" smtClean="0">
                            <a:latin typeface="Cambria Math" panose="02040503050406030204" pitchFamily="18" charset="0"/>
                          </a:rPr>
                        </m:ctrlPr>
                      </m:naryPr>
                      <m:sub>
                        <m:r>
                          <m:rPr>
                            <m:brk m:alnAt="23"/>
                          </m:rPr>
                          <a:rPr lang="en-US" altLang="zh-TW" b="0" i="1" smtClean="0">
                            <a:latin typeface="Cambria Math" panose="02040503050406030204" pitchFamily="18" charset="0"/>
                          </a:rPr>
                          <m:t>𝐹</m:t>
                        </m:r>
                      </m:sub>
                      <m:sup/>
                      <m:e/>
                    </m:nary>
                    <m:r>
                      <a:rPr lang="en-US" altLang="zh-TW" b="0" i="1" smtClean="0">
                        <a:latin typeface="Cambria Math" panose="02040503050406030204" pitchFamily="18" charset="0"/>
                      </a:rPr>
                      <m:t> </m:t>
                    </m:r>
                  </m:oMath>
                </a14:m>
                <a:endParaRPr lang="en-US" altLang="zh-TW" b="0" dirty="0"/>
              </a:p>
              <a:p>
                <a14:m>
                  <m:oMath xmlns:m="http://schemas.openxmlformats.org/officeDocument/2006/math">
                    <m:sSub>
                      <m:sSubPr>
                        <m:ctrlPr>
                          <a:rPr lang="en-US" altLang="zh-TW" i="1" smtClean="0">
                            <a:latin typeface="Cambria Math" panose="02040503050406030204" pitchFamily="18" charset="0"/>
                          </a:rPr>
                        </m:ctrlPr>
                      </m:sSubPr>
                      <m:e>
                        <m:r>
                          <m:rPr>
                            <m:sty m:val="p"/>
                          </m:rPr>
                          <a:rPr lang="en-US" altLang="zh-TW" i="1">
                            <a:latin typeface="Cambria Math" panose="02040503050406030204" pitchFamily="18" charset="0"/>
                          </a:rPr>
                          <m:t>S</m:t>
                        </m:r>
                        <m:r>
                          <a:rPr lang="en-US" altLang="zh-TW" b="0" i="1" smtClean="0">
                            <a:latin typeface="Cambria Math" panose="02040503050406030204" pitchFamily="18" charset="0"/>
                          </a:rPr>
                          <m:t>𝑜𝑙</m:t>
                        </m:r>
                      </m:e>
                      <m:sub>
                        <m:r>
                          <a:rPr lang="en-US" altLang="zh-TW" b="0" i="1" smtClean="0">
                            <a:latin typeface="Cambria Math" panose="02040503050406030204" pitchFamily="18" charset="0"/>
                          </a:rPr>
                          <m:t>𝐹</m:t>
                        </m:r>
                      </m:sub>
                    </m:sSub>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𝐼</m:t>
                        </m:r>
                      </m:e>
                    </m:d>
                  </m:oMath>
                </a14:m>
                <a:r>
                  <a:rPr lang="en-US" altLang="zh-TW" b="0" dirty="0"/>
                  <a:t> : solution set</a:t>
                </a:r>
              </a:p>
              <a:p>
                <a14:m>
                  <m:oMath xmlns:m="http://schemas.openxmlformats.org/officeDocument/2006/math">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𝑜𝑗</m:t>
                        </m:r>
                      </m:e>
                      <m:sub>
                        <m:r>
                          <a:rPr lang="en-US" altLang="zh-TW" i="1">
                            <a:latin typeface="Cambria Math" panose="02040503050406030204" pitchFamily="18" charset="0"/>
                          </a:rPr>
                          <m:t>𝐹</m:t>
                        </m:r>
                      </m:sub>
                    </m:sSub>
                    <m:d>
                      <m:dPr>
                        <m:ctrlPr>
                          <a:rPr lang="en-US" altLang="zh-TW" i="1">
                            <a:latin typeface="Cambria Math" panose="02040503050406030204" pitchFamily="18" charset="0"/>
                          </a:rPr>
                        </m:ctrlPr>
                      </m:dPr>
                      <m:e>
                        <m:r>
                          <a:rPr lang="en-US" altLang="zh-TW" i="1">
                            <a:latin typeface="Cambria Math" panose="02040503050406030204" pitchFamily="18" charset="0"/>
                          </a:rPr>
                          <m:t>𝐼</m:t>
                        </m:r>
                        <m:r>
                          <a:rPr lang="en-US" altLang="zh-TW" b="0" i="1" smtClean="0">
                            <a:latin typeface="Cambria Math" panose="02040503050406030204" pitchFamily="18" charset="0"/>
                          </a:rPr>
                          <m:t>, </m:t>
                        </m:r>
                        <m:r>
                          <a:rPr lang="en-US" altLang="zh-TW" b="0" i="1" smtClean="0">
                            <a:latin typeface="Cambria Math" panose="02040503050406030204" pitchFamily="18" charset="0"/>
                          </a:rPr>
                          <m:t>𝑠𝑜𝑙</m:t>
                        </m:r>
                      </m:e>
                    </m:d>
                    <m:r>
                      <a:rPr lang="en-US" altLang="zh-TW" b="0" i="0" smtClean="0">
                        <a:latin typeface="Cambria Math" panose="02040503050406030204" pitchFamily="18" charset="0"/>
                      </a:rPr>
                      <m:t>=</m:t>
                    </m:r>
                    <m:d>
                      <m:dPr>
                        <m:begChr m:val="|"/>
                        <m:endChr m:val="|"/>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𝑠𝑜𝑙</m:t>
                        </m:r>
                      </m:e>
                    </m:d>
                  </m:oMath>
                </a14:m>
                <a:endParaRPr lang="en-US" altLang="zh-TW" dirty="0"/>
              </a:p>
              <a:p>
                <a14:m>
                  <m:oMath xmlns:m="http://schemas.openxmlformats.org/officeDocument/2006/math">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𝑜𝑝𝑡</m:t>
                        </m:r>
                      </m:e>
                      <m:sub>
                        <m:r>
                          <a:rPr lang="en-US" altLang="zh-TW" i="1">
                            <a:latin typeface="Cambria Math" panose="02040503050406030204" pitchFamily="18" charset="0"/>
                          </a:rPr>
                          <m:t>𝐹</m:t>
                        </m:r>
                      </m:sub>
                    </m:sSub>
                    <m:r>
                      <a:rPr lang="en-US" altLang="zh-TW" b="0" i="1" smtClean="0">
                        <a:latin typeface="Cambria Math" panose="02040503050406030204" pitchFamily="18" charset="0"/>
                      </a:rPr>
                      <m:t>∈</m:t>
                    </m:r>
                    <m:d>
                      <m:dPr>
                        <m:begChr m:val="{"/>
                        <m:endChr m:val="}"/>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𝑚𝑎𝑥</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𝑚𝑖𝑛</m:t>
                        </m:r>
                      </m:e>
                    </m:d>
                  </m:oMath>
                </a14:m>
                <a:r>
                  <a:rPr lang="en-US" altLang="zh-TW" dirty="0"/>
                  <a:t> : max</a:t>
                </a:r>
              </a:p>
              <a:p>
                <a:endParaRPr lang="zh-TW" altLang="en-US" dirty="0"/>
              </a:p>
            </p:txBody>
          </p:sp>
        </mc:Choice>
        <mc:Fallback xmlns="">
          <p:sp>
            <p:nvSpPr>
              <p:cNvPr id="3" name="內容版面配置區 2">
                <a:extLst>
                  <a:ext uri="{FF2B5EF4-FFF2-40B4-BE49-F238E27FC236}">
                    <a16:creationId xmlns:a16="http://schemas.microsoft.com/office/drawing/2014/main" id="{04A62A0B-F5AF-4C53-B7AE-90C7C6A2F2BE}"/>
                  </a:ext>
                </a:extLst>
              </p:cNvPr>
              <p:cNvSpPr>
                <a:spLocks noGrp="1" noRot="1" noChangeAspect="1" noMove="1" noResize="1" noEditPoints="1" noAdjustHandles="1" noChangeArrowheads="1" noChangeShapeType="1" noTextEdit="1"/>
              </p:cNvSpPr>
              <p:nvPr>
                <p:ph idx="1"/>
              </p:nvPr>
            </p:nvSpPr>
            <p:spPr>
              <a:xfrm>
                <a:off x="838200" y="1825625"/>
                <a:ext cx="5257800" cy="4351338"/>
              </a:xfrm>
              <a:blipFill>
                <a:blip r:embed="rId2"/>
                <a:stretch>
                  <a:fillRect l="-2436" t="-2381"/>
                </a:stretch>
              </a:blipFill>
            </p:spPr>
            <p:txBody>
              <a:bodyPr/>
              <a:lstStyle/>
              <a:p>
                <a:r>
                  <a:rPr lang="zh-TW" altLang="en-US">
                    <a:noFill/>
                  </a:rPr>
                  <a:t> </a:t>
                </a:r>
              </a:p>
            </p:txBody>
          </p:sp>
        </mc:Fallback>
      </mc:AlternateContent>
      <p:sp>
        <p:nvSpPr>
          <p:cNvPr id="4" name="文字方塊 3">
            <a:extLst>
              <a:ext uri="{FF2B5EF4-FFF2-40B4-BE49-F238E27FC236}">
                <a16:creationId xmlns:a16="http://schemas.microsoft.com/office/drawing/2014/main" id="{24E1E4FF-5316-4260-82DC-5E3021B73549}"/>
              </a:ext>
            </a:extLst>
          </p:cNvPr>
          <p:cNvSpPr txBox="1"/>
          <p:nvPr/>
        </p:nvSpPr>
        <p:spPr>
          <a:xfrm>
            <a:off x="1596096" y="2391508"/>
            <a:ext cx="4748433" cy="523220"/>
          </a:xfrm>
          <a:prstGeom prst="rect">
            <a:avLst/>
          </a:prstGeom>
          <a:noFill/>
        </p:spPr>
        <p:txBody>
          <a:bodyPr wrap="square" rtlCol="0">
            <a:spAutoFit/>
          </a:bodyPr>
          <a:lstStyle/>
          <a:p>
            <a:r>
              <a:rPr lang="en-US" altLang="zh-TW" sz="2800" dirty="0"/>
              <a:t>: All possible pair of matrices</a:t>
            </a:r>
            <a:endParaRPr lang="zh-TW" altLang="en-US" sz="2800" dirty="0"/>
          </a:p>
        </p:txBody>
      </p:sp>
      <p:pic>
        <p:nvPicPr>
          <p:cNvPr id="5" name="圖片 4">
            <a:extLst>
              <a:ext uri="{FF2B5EF4-FFF2-40B4-BE49-F238E27FC236}">
                <a16:creationId xmlns:a16="http://schemas.microsoft.com/office/drawing/2014/main" id="{96774421-B83B-441D-B00C-33946167A2BA}"/>
              </a:ext>
            </a:extLst>
          </p:cNvPr>
          <p:cNvPicPr>
            <a:picLocks noChangeAspect="1"/>
          </p:cNvPicPr>
          <p:nvPr/>
        </p:nvPicPr>
        <p:blipFill>
          <a:blip r:embed="rId3"/>
          <a:stretch>
            <a:fillRect/>
          </a:stretch>
        </p:blipFill>
        <p:spPr>
          <a:xfrm>
            <a:off x="7741187" y="1589621"/>
            <a:ext cx="2854717" cy="1603773"/>
          </a:xfrm>
          <a:prstGeom prst="rect">
            <a:avLst/>
          </a:prstGeom>
        </p:spPr>
      </p:pic>
      <p:pic>
        <p:nvPicPr>
          <p:cNvPr id="6" name="圖片 5">
            <a:extLst>
              <a:ext uri="{FF2B5EF4-FFF2-40B4-BE49-F238E27FC236}">
                <a16:creationId xmlns:a16="http://schemas.microsoft.com/office/drawing/2014/main" id="{B88FE46C-2B0B-4F24-85F9-128948DCE8F7}"/>
              </a:ext>
            </a:extLst>
          </p:cNvPr>
          <p:cNvPicPr>
            <a:picLocks noChangeAspect="1"/>
          </p:cNvPicPr>
          <p:nvPr/>
        </p:nvPicPr>
        <p:blipFill>
          <a:blip r:embed="rId4"/>
          <a:stretch>
            <a:fillRect/>
          </a:stretch>
        </p:blipFill>
        <p:spPr>
          <a:xfrm>
            <a:off x="7632045" y="3506813"/>
            <a:ext cx="2854716" cy="1607829"/>
          </a:xfrm>
          <a:prstGeom prst="rect">
            <a:avLst/>
          </a:prstGeom>
        </p:spPr>
      </p:pic>
    </p:spTree>
    <p:extLst>
      <p:ext uri="{BB962C8B-B14F-4D97-AF65-F5344CB8AC3E}">
        <p14:creationId xmlns:p14="http://schemas.microsoft.com/office/powerpoint/2010/main" val="11866831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198C02A-15F4-4816-B82E-5DE430F06A69}"/>
              </a:ext>
            </a:extLst>
          </p:cNvPr>
          <p:cNvSpPr>
            <a:spLocks noGrp="1"/>
          </p:cNvSpPr>
          <p:nvPr>
            <p:ph type="title"/>
          </p:nvPr>
        </p:nvSpPr>
        <p:spPr/>
        <p:txBody>
          <a:bodyPr/>
          <a:lstStyle/>
          <a:p>
            <a:r>
              <a:rPr lang="en-US" altLang="zh-TW" dirty="0"/>
              <a:t>Approximability(APX) problem</a:t>
            </a:r>
            <a:endParaRPr lang="zh-TW" altLang="en-US" dirty="0"/>
          </a:p>
        </p:txBody>
      </p:sp>
      <mc:AlternateContent xmlns:mc="http://schemas.openxmlformats.org/markup-compatibility/2006">
        <mc:Choice xmlns:a14="http://schemas.microsoft.com/office/drawing/2010/main" Requires="a14">
          <p:sp>
            <p:nvSpPr>
              <p:cNvPr id="3" name="內容版面配置區 2">
                <a:extLst>
                  <a:ext uri="{FF2B5EF4-FFF2-40B4-BE49-F238E27FC236}">
                    <a16:creationId xmlns:a16="http://schemas.microsoft.com/office/drawing/2014/main" id="{57F4DD34-C865-47D5-9215-CA09AE5C281B}"/>
                  </a:ext>
                </a:extLst>
              </p:cNvPr>
              <p:cNvSpPr>
                <a:spLocks noGrp="1"/>
              </p:cNvSpPr>
              <p:nvPr>
                <p:ph idx="1"/>
              </p:nvPr>
            </p:nvSpPr>
            <p:spPr>
              <a:xfrm>
                <a:off x="838200" y="1825625"/>
                <a:ext cx="10886768" cy="4667250"/>
              </a:xfrm>
            </p:spPr>
            <p:txBody>
              <a:bodyPr/>
              <a:lstStyle/>
              <a:p>
                <a:pPr marL="0" indent="0">
                  <a:buNone/>
                </a:pPr>
                <a:r>
                  <a:rPr lang="en-US" altLang="zh-TW" dirty="0">
                    <a:latin typeface="Times New Roman" panose="02020603050405020304" pitchFamily="18" charset="0"/>
                    <a:cs typeface="Times New Roman" panose="02020603050405020304" pitchFamily="18" charset="0"/>
                  </a:rPr>
                  <a:t>The approximation ratio is defined as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𝑅𝑎𝑡</m:t>
                        </m:r>
                      </m:e>
                      <m:sub>
                        <m:r>
                          <a:rPr lang="en-US" altLang="zh-TW" i="1">
                            <a:latin typeface="Cambria Math" panose="02040503050406030204" pitchFamily="18" charset="0"/>
                          </a:rPr>
                          <m:t>𝐹</m:t>
                        </m:r>
                      </m:sub>
                    </m:sSub>
                    <m:r>
                      <a:rPr lang="en-US" altLang="zh-TW" i="1">
                        <a:latin typeface="Cambria Math" panose="02040503050406030204" pitchFamily="18" charset="0"/>
                      </a:rPr>
                      <m:t>=</m:t>
                    </m:r>
                    <m:func>
                      <m:funcPr>
                        <m:ctrlPr>
                          <a:rPr lang="en-US" altLang="zh-TW" i="1">
                            <a:latin typeface="Cambria Math" panose="02040503050406030204" pitchFamily="18" charset="0"/>
                          </a:rPr>
                        </m:ctrlPr>
                      </m:funcPr>
                      <m:fName>
                        <m:r>
                          <m:rPr>
                            <m:sty m:val="p"/>
                          </m:rPr>
                          <a:rPr lang="en-US" altLang="zh-TW">
                            <a:latin typeface="Cambria Math" panose="02040503050406030204" pitchFamily="18" charset="0"/>
                          </a:rPr>
                          <m:t>max</m:t>
                        </m:r>
                      </m:fName>
                      <m:e>
                        <m:d>
                          <m:dPr>
                            <m:begChr m:val="{"/>
                            <m:endChr m:val="}"/>
                            <m:ctrlPr>
                              <a:rPr lang="en-US" altLang="zh-TW" i="1">
                                <a:latin typeface="Cambria Math" panose="02040503050406030204" pitchFamily="18" charset="0"/>
                              </a:rPr>
                            </m:ctrlPr>
                          </m:dPr>
                          <m:e>
                            <m:f>
                              <m:fPr>
                                <m:ctrlPr>
                                  <a:rPr lang="en-US" altLang="zh-TW" i="1" smtClean="0">
                                    <a:solidFill>
                                      <a:schemeClr val="tx1"/>
                                    </a:solidFill>
                                    <a:latin typeface="Cambria Math" panose="02040503050406030204" pitchFamily="18" charset="0"/>
                                  </a:rPr>
                                </m:ctrlPr>
                              </m:fPr>
                              <m:num>
                                <m:sSub>
                                  <m:sSubPr>
                                    <m:ctrlPr>
                                      <a:rPr lang="en-US" altLang="zh-TW" i="1">
                                        <a:solidFill>
                                          <a:schemeClr val="tx1"/>
                                        </a:solidFill>
                                        <a:latin typeface="Cambria Math" panose="02040503050406030204" pitchFamily="18" charset="0"/>
                                      </a:rPr>
                                    </m:ctrlPr>
                                  </m:sSubPr>
                                  <m:e>
                                    <m:r>
                                      <a:rPr lang="en-US" altLang="zh-TW" i="1">
                                        <a:solidFill>
                                          <a:schemeClr val="tx1"/>
                                        </a:solidFill>
                                        <a:latin typeface="Cambria Math" panose="02040503050406030204" pitchFamily="18" charset="0"/>
                                      </a:rPr>
                                      <m:t>|</m:t>
                                    </m:r>
                                    <m:r>
                                      <a:rPr lang="en-US" altLang="zh-TW" i="1">
                                        <a:solidFill>
                                          <a:schemeClr val="tx1"/>
                                        </a:solidFill>
                                        <a:latin typeface="Cambria Math" panose="02040503050406030204" pitchFamily="18" charset="0"/>
                                      </a:rPr>
                                      <m:t>𝑜𝑝𝑡</m:t>
                                    </m:r>
                                  </m:e>
                                  <m:sub>
                                    <m:r>
                                      <a:rPr lang="en-US" altLang="zh-TW" i="1">
                                        <a:solidFill>
                                          <a:schemeClr val="tx1"/>
                                        </a:solidFill>
                                        <a:latin typeface="Cambria Math" panose="02040503050406030204" pitchFamily="18" charset="0"/>
                                      </a:rPr>
                                      <m:t>𝐹</m:t>
                                    </m:r>
                                  </m:sub>
                                </m:sSub>
                                <m:d>
                                  <m:dPr>
                                    <m:ctrlPr>
                                      <a:rPr lang="en-US" altLang="zh-TW" i="1">
                                        <a:solidFill>
                                          <a:schemeClr val="tx1"/>
                                        </a:solidFill>
                                        <a:latin typeface="Cambria Math" panose="02040503050406030204" pitchFamily="18" charset="0"/>
                                      </a:rPr>
                                    </m:ctrlPr>
                                  </m:dPr>
                                  <m:e>
                                    <m:r>
                                      <a:rPr lang="en-US" altLang="zh-TW" i="1">
                                        <a:solidFill>
                                          <a:schemeClr val="tx1"/>
                                        </a:solidFill>
                                        <a:latin typeface="Cambria Math" panose="02040503050406030204" pitchFamily="18" charset="0"/>
                                      </a:rPr>
                                      <m:t>𝐼</m:t>
                                    </m:r>
                                  </m:e>
                                </m:d>
                                <m:r>
                                  <a:rPr lang="en-US" altLang="zh-TW" i="1">
                                    <a:solidFill>
                                      <a:schemeClr val="tx1"/>
                                    </a:solidFill>
                                    <a:latin typeface="Cambria Math" panose="02040503050406030204" pitchFamily="18" charset="0"/>
                                  </a:rPr>
                                  <m:t>|</m:t>
                                </m:r>
                              </m:num>
                              <m:den>
                                <m:sSub>
                                  <m:sSubPr>
                                    <m:ctrlPr>
                                      <a:rPr lang="en-US" altLang="zh-TW" i="1">
                                        <a:solidFill>
                                          <a:schemeClr val="tx1"/>
                                        </a:solidFill>
                                        <a:latin typeface="Cambria Math" panose="02040503050406030204" pitchFamily="18" charset="0"/>
                                      </a:rPr>
                                    </m:ctrlPr>
                                  </m:sSubPr>
                                  <m:e>
                                    <m:r>
                                      <a:rPr lang="en-US" altLang="zh-TW" i="1">
                                        <a:solidFill>
                                          <a:schemeClr val="tx1"/>
                                        </a:solidFill>
                                        <a:latin typeface="Cambria Math" panose="02040503050406030204" pitchFamily="18" charset="0"/>
                                      </a:rPr>
                                      <m:t>𝑜𝑗</m:t>
                                    </m:r>
                                  </m:e>
                                  <m:sub>
                                    <m:r>
                                      <a:rPr lang="en-US" altLang="zh-TW" i="1">
                                        <a:solidFill>
                                          <a:schemeClr val="tx1"/>
                                        </a:solidFill>
                                        <a:latin typeface="Cambria Math" panose="02040503050406030204" pitchFamily="18" charset="0"/>
                                      </a:rPr>
                                      <m:t>𝐹</m:t>
                                    </m:r>
                                  </m:sub>
                                </m:sSub>
                                <m:d>
                                  <m:dPr>
                                    <m:ctrlPr>
                                      <a:rPr lang="en-US" altLang="zh-TW" i="1">
                                        <a:solidFill>
                                          <a:schemeClr val="tx1"/>
                                        </a:solidFill>
                                        <a:latin typeface="Cambria Math" panose="02040503050406030204" pitchFamily="18" charset="0"/>
                                      </a:rPr>
                                    </m:ctrlPr>
                                  </m:dPr>
                                  <m:e>
                                    <m:r>
                                      <a:rPr lang="en-US" altLang="zh-TW" i="1">
                                        <a:solidFill>
                                          <a:schemeClr val="tx1"/>
                                        </a:solidFill>
                                        <a:latin typeface="Cambria Math" panose="02040503050406030204" pitchFamily="18" charset="0"/>
                                      </a:rPr>
                                      <m:t>𝐼</m:t>
                                    </m:r>
                                    <m:r>
                                      <a:rPr lang="en-US" altLang="zh-TW" i="1">
                                        <a:solidFill>
                                          <a:schemeClr val="tx1"/>
                                        </a:solidFill>
                                        <a:latin typeface="Cambria Math" panose="02040503050406030204" pitchFamily="18" charset="0"/>
                                      </a:rPr>
                                      <m:t>, </m:t>
                                    </m:r>
                                    <m:r>
                                      <a:rPr lang="en-US" altLang="zh-TW" i="1">
                                        <a:solidFill>
                                          <a:schemeClr val="tx1"/>
                                        </a:solidFill>
                                        <a:latin typeface="Cambria Math" panose="02040503050406030204" pitchFamily="18" charset="0"/>
                                      </a:rPr>
                                      <m:t>𝑠𝑜𝑙</m:t>
                                    </m:r>
                                  </m:e>
                                </m:d>
                              </m:den>
                            </m:f>
                            <m:r>
                              <a:rPr lang="en-US" altLang="zh-TW" i="1">
                                <a:latin typeface="Cambria Math" panose="02040503050406030204" pitchFamily="18" charset="0"/>
                              </a:rPr>
                              <m:t>, </m:t>
                            </m:r>
                            <m:f>
                              <m:fPr>
                                <m:ctrlPr>
                                  <a:rPr lang="en-US" altLang="zh-TW" i="1">
                                    <a:latin typeface="Cambria Math" panose="02040503050406030204" pitchFamily="18" charset="0"/>
                                  </a:rPr>
                                </m:ctrlPr>
                              </m:fPr>
                              <m:num>
                                <m:sSub>
                                  <m:sSubPr>
                                    <m:ctrlPr>
                                      <a:rPr lang="en-US" altLang="zh-TW" i="1">
                                        <a:latin typeface="Cambria Math" panose="02040503050406030204" pitchFamily="18" charset="0"/>
                                      </a:rPr>
                                    </m:ctrlPr>
                                  </m:sSubPr>
                                  <m:e>
                                    <m:r>
                                      <a:rPr lang="en-US" altLang="zh-TW" i="1">
                                        <a:latin typeface="Cambria Math" panose="02040503050406030204" pitchFamily="18" charset="0"/>
                                      </a:rPr>
                                      <m:t>𝑜𝑗</m:t>
                                    </m:r>
                                  </m:e>
                                  <m:sub>
                                    <m:r>
                                      <a:rPr lang="en-US" altLang="zh-TW" i="1">
                                        <a:latin typeface="Cambria Math" panose="02040503050406030204" pitchFamily="18" charset="0"/>
                                      </a:rPr>
                                      <m:t>𝐹</m:t>
                                    </m:r>
                                  </m:sub>
                                </m:sSub>
                                <m:d>
                                  <m:dPr>
                                    <m:ctrlPr>
                                      <a:rPr lang="en-US" altLang="zh-TW" i="1">
                                        <a:latin typeface="Cambria Math" panose="02040503050406030204" pitchFamily="18" charset="0"/>
                                      </a:rPr>
                                    </m:ctrlPr>
                                  </m:dPr>
                                  <m:e>
                                    <m:r>
                                      <a:rPr lang="en-US" altLang="zh-TW" i="1">
                                        <a:latin typeface="Cambria Math" panose="02040503050406030204" pitchFamily="18" charset="0"/>
                                      </a:rPr>
                                      <m:t>𝐼</m:t>
                                    </m:r>
                                    <m:r>
                                      <a:rPr lang="en-US" altLang="zh-TW" i="1">
                                        <a:latin typeface="Cambria Math" panose="02040503050406030204" pitchFamily="18" charset="0"/>
                                      </a:rPr>
                                      <m:t>, </m:t>
                                    </m:r>
                                    <m:r>
                                      <a:rPr lang="en-US" altLang="zh-TW" i="1">
                                        <a:latin typeface="Cambria Math" panose="02040503050406030204" pitchFamily="18" charset="0"/>
                                      </a:rPr>
                                      <m:t>𝑠𝑜𝑙</m:t>
                                    </m:r>
                                  </m:e>
                                </m:d>
                              </m:num>
                              <m:den>
                                <m:sSub>
                                  <m:sSubPr>
                                    <m:ctrlPr>
                                      <a:rPr lang="en-US" altLang="zh-TW" i="1">
                                        <a:latin typeface="Cambria Math" panose="02040503050406030204" pitchFamily="18" charset="0"/>
                                      </a:rPr>
                                    </m:ctrlPr>
                                  </m:sSubPr>
                                  <m:e>
                                    <m:r>
                                      <a:rPr lang="en-US" altLang="zh-TW" i="1">
                                        <a:latin typeface="Cambria Math" panose="02040503050406030204" pitchFamily="18" charset="0"/>
                                      </a:rPr>
                                      <m:t>|</m:t>
                                    </m:r>
                                    <m:r>
                                      <a:rPr lang="en-US" altLang="zh-TW" i="1">
                                        <a:latin typeface="Cambria Math" panose="02040503050406030204" pitchFamily="18" charset="0"/>
                                      </a:rPr>
                                      <m:t>𝑜𝑝𝑡</m:t>
                                    </m:r>
                                  </m:e>
                                  <m:sub>
                                    <m:r>
                                      <a:rPr lang="en-US" altLang="zh-TW" i="1">
                                        <a:latin typeface="Cambria Math" panose="02040503050406030204" pitchFamily="18" charset="0"/>
                                      </a:rPr>
                                      <m:t>𝐹</m:t>
                                    </m:r>
                                  </m:sub>
                                </m:sSub>
                                <m:d>
                                  <m:dPr>
                                    <m:ctrlPr>
                                      <a:rPr lang="en-US" altLang="zh-TW" i="1">
                                        <a:latin typeface="Cambria Math" panose="02040503050406030204" pitchFamily="18" charset="0"/>
                                      </a:rPr>
                                    </m:ctrlPr>
                                  </m:dPr>
                                  <m:e>
                                    <m:r>
                                      <a:rPr lang="en-US" altLang="zh-TW" i="1">
                                        <a:latin typeface="Cambria Math" panose="02040503050406030204" pitchFamily="18" charset="0"/>
                                      </a:rPr>
                                      <m:t>𝐼</m:t>
                                    </m:r>
                                  </m:e>
                                </m:d>
                                <m:r>
                                  <a:rPr lang="en-US" altLang="zh-TW" i="1">
                                    <a:latin typeface="Cambria Math" panose="02040503050406030204" pitchFamily="18" charset="0"/>
                                  </a:rPr>
                                  <m:t>|</m:t>
                                </m:r>
                              </m:den>
                            </m:f>
                          </m:e>
                        </m:d>
                      </m:e>
                    </m:func>
                  </m:oMath>
                </a14:m>
                <a:r>
                  <a:rPr lang="en-US" altLang="zh-TW" dirty="0">
                    <a:latin typeface="Times New Roman" panose="02020603050405020304" pitchFamily="18" charset="0"/>
                    <a:cs typeface="Times New Roman" panose="02020603050405020304" pitchFamily="18" charset="0"/>
                  </a:rPr>
                  <a:t>.</a:t>
                </a:r>
              </a:p>
              <a:p>
                <a:pPr marL="0" indent="0">
                  <a:buNone/>
                </a:pPr>
                <a:r>
                  <a:rPr lang="en-US" altLang="zh-TW" dirty="0">
                    <a:latin typeface="Times New Roman" panose="02020603050405020304" pitchFamily="18" charset="0"/>
                    <a:cs typeface="Times New Roman" panose="02020603050405020304" pitchFamily="18" charset="0"/>
                  </a:rPr>
                  <a:t>An NP optimization (NPO) problem </a:t>
                </a:r>
                <a14:m>
                  <m:oMath xmlns:m="http://schemas.openxmlformats.org/officeDocument/2006/math">
                    <m:r>
                      <a:rPr lang="en-US" altLang="zh-TW" i="1" dirty="0">
                        <a:latin typeface="Cambria Math" panose="02040503050406030204" pitchFamily="18" charset="0"/>
                      </a:rPr>
                      <m:t>𝐹</m:t>
                    </m:r>
                  </m:oMath>
                </a14:m>
                <a:r>
                  <a:rPr lang="en-US" altLang="zh-TW" dirty="0">
                    <a:latin typeface="Times New Roman" panose="02020603050405020304" pitchFamily="18" charset="0"/>
                    <a:cs typeface="Times New Roman" panose="02020603050405020304" pitchFamily="18" charset="0"/>
                  </a:rPr>
                  <a:t> is in APX if </a:t>
                </a:r>
                <a14:m>
                  <m:oMath xmlns:m="http://schemas.openxmlformats.org/officeDocument/2006/math">
                    <m:r>
                      <a:rPr lang="en-US" altLang="zh-TW" i="1">
                        <a:latin typeface="Cambria Math" panose="02040503050406030204" pitchFamily="18" charset="0"/>
                      </a:rPr>
                      <m:t>𝐹</m:t>
                    </m:r>
                  </m:oMath>
                </a14:m>
                <a:r>
                  <a:rPr lang="en-US" altLang="zh-TW" dirty="0">
                    <a:latin typeface="Times New Roman" panose="02020603050405020304" pitchFamily="18" charset="0"/>
                    <a:cs typeface="Times New Roman" panose="02020603050405020304" pitchFamily="18" charset="0"/>
                  </a:rPr>
                  <a:t> can be approximated within a constant </a:t>
                </a:r>
                <a14:m>
                  <m:oMath xmlns:m="http://schemas.openxmlformats.org/officeDocument/2006/math">
                    <m:r>
                      <a:rPr lang="en-US" altLang="zh-TW" i="1" dirty="0">
                        <a:latin typeface="Cambria Math" panose="02040503050406030204" pitchFamily="18" charset="0"/>
                      </a:rPr>
                      <m:t>𝑐</m:t>
                    </m:r>
                  </m:oMath>
                </a14:m>
                <a:r>
                  <a:rPr lang="en-US" altLang="zh-TW" dirty="0">
                    <a:latin typeface="Times New Roman" panose="02020603050405020304" pitchFamily="18" charset="0"/>
                    <a:cs typeface="Times New Roman" panose="02020603050405020304" pitchFamily="18" charset="0"/>
                  </a:rPr>
                  <a:t>. If there exists a polynomial-time algorithm </a:t>
                </a:r>
                <a14:m>
                  <m:oMath xmlns:m="http://schemas.openxmlformats.org/officeDocument/2006/math">
                    <m:r>
                      <a:rPr lang="en-US" altLang="zh-TW" i="1">
                        <a:latin typeface="Cambria Math" panose="02040503050406030204" pitchFamily="18" charset="0"/>
                      </a:rPr>
                      <m:t>𝐷</m:t>
                    </m:r>
                  </m:oMath>
                </a14:m>
                <a:r>
                  <a:rPr lang="en-US" altLang="zh-TW" dirty="0">
                    <a:latin typeface="Times New Roman" panose="02020603050405020304" pitchFamily="18" charset="0"/>
                    <a:cs typeface="Times New Roman" panose="02020603050405020304" pitchFamily="18" charset="0"/>
                  </a:rPr>
                  <a:t> such that for all instances </a:t>
                </a:r>
                <a14:m>
                  <m:oMath xmlns:m="http://schemas.openxmlformats.org/officeDocument/2006/math">
                    <m:r>
                      <a:rPr lang="en-US" altLang="zh-TW" i="1" dirty="0">
                        <a:latin typeface="Cambria Math" panose="02040503050406030204" pitchFamily="18" charset="0"/>
                      </a:rPr>
                      <m:t>𝐼</m:t>
                    </m:r>
                    <m:r>
                      <a:rPr lang="en-US" altLang="zh-TW" i="1" dirty="0">
                        <a:latin typeface="Cambria Math" panose="02040503050406030204" pitchFamily="18" charset="0"/>
                        <a:ea typeface="Cambria Math" panose="02040503050406030204" pitchFamily="18" charset="0"/>
                      </a:rPr>
                      <m:t>∈</m:t>
                    </m:r>
                    <m:sSub>
                      <m:sSubPr>
                        <m:ctrlPr>
                          <a:rPr lang="en-US" altLang="zh-TW" i="1" dirty="0">
                            <a:latin typeface="Cambria Math" panose="02040503050406030204" pitchFamily="18" charset="0"/>
                            <a:ea typeface="Cambria Math" panose="02040503050406030204" pitchFamily="18" charset="0"/>
                          </a:rPr>
                        </m:ctrlPr>
                      </m:sSubPr>
                      <m:e>
                        <m:nary>
                          <m:naryPr>
                            <m:chr m:val="∮"/>
                            <m:ctrlPr>
                              <a:rPr lang="zh-TW" altLang="en-US" i="1">
                                <a:latin typeface="Cambria Math" panose="02040503050406030204" pitchFamily="18" charset="0"/>
                              </a:rPr>
                            </m:ctrlPr>
                          </m:naryPr>
                          <m:sub>
                            <m:r>
                              <m:rPr>
                                <m:brk m:alnAt="23"/>
                              </m:rPr>
                              <a:rPr lang="en-US" altLang="zh-TW" i="1">
                                <a:latin typeface="Cambria Math" panose="02040503050406030204" pitchFamily="18" charset="0"/>
                              </a:rPr>
                              <m:t>𝐹</m:t>
                            </m:r>
                          </m:sub>
                          <m:sup/>
                          <m:e/>
                        </m:nary>
                      </m:e>
                      <m:sub/>
                    </m:sSub>
                  </m:oMath>
                </a14:m>
                <a:endParaRPr lang="en-US" altLang="zh-TW" dirty="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L-reduction</a:t>
                </a:r>
              </a:p>
              <a:p>
                <a14:m>
                  <m:oMath xmlns:m="http://schemas.openxmlformats.org/officeDocument/2006/math">
                    <m:r>
                      <a:rPr lang="en-US" altLang="zh-TW" b="0" i="1" smtClean="0">
                        <a:solidFill>
                          <a:schemeClr val="tx1"/>
                        </a:solidFill>
                        <a:latin typeface="Cambria Math" panose="02040503050406030204" pitchFamily="18" charset="0"/>
                      </a:rPr>
                      <m:t>|</m:t>
                    </m:r>
                    <m:sSub>
                      <m:sSubPr>
                        <m:ctrlPr>
                          <a:rPr lang="sv-SE" altLang="zh-TW" i="1" smtClean="0">
                            <a:solidFill>
                              <a:schemeClr val="tx1"/>
                            </a:solidFill>
                            <a:latin typeface="Cambria Math" panose="02040503050406030204" pitchFamily="18" charset="0"/>
                          </a:rPr>
                        </m:ctrlPr>
                      </m:sSubPr>
                      <m:e>
                        <m:r>
                          <a:rPr lang="en-US" altLang="zh-TW" i="1">
                            <a:solidFill>
                              <a:schemeClr val="tx1"/>
                            </a:solidFill>
                            <a:latin typeface="Cambria Math" panose="02040503050406030204" pitchFamily="18" charset="0"/>
                          </a:rPr>
                          <m:t>𝑜𝑝𝑡</m:t>
                        </m:r>
                      </m:e>
                      <m:sub>
                        <m:r>
                          <a:rPr lang="en-US" altLang="zh-TW" i="1">
                            <a:solidFill>
                              <a:schemeClr val="tx1"/>
                            </a:solidFill>
                            <a:latin typeface="Cambria Math" panose="02040503050406030204" pitchFamily="18" charset="0"/>
                          </a:rPr>
                          <m:t>𝐺</m:t>
                        </m:r>
                      </m:sub>
                    </m:sSub>
                    <m:d>
                      <m:dPr>
                        <m:ctrlPr>
                          <a:rPr lang="en-US" altLang="zh-TW" i="1">
                            <a:solidFill>
                              <a:schemeClr val="tx1"/>
                            </a:solidFill>
                            <a:latin typeface="Cambria Math" panose="02040503050406030204" pitchFamily="18" charset="0"/>
                          </a:rPr>
                        </m:ctrlPr>
                      </m:dPr>
                      <m:e>
                        <m:r>
                          <a:rPr lang="en-US" altLang="zh-TW" i="1">
                            <a:solidFill>
                              <a:schemeClr val="tx1"/>
                            </a:solidFill>
                            <a:latin typeface="Cambria Math" panose="02040503050406030204" pitchFamily="18" charset="0"/>
                          </a:rPr>
                          <m:t>𝑓</m:t>
                        </m:r>
                        <m:d>
                          <m:dPr>
                            <m:ctrlPr>
                              <a:rPr lang="en-US" altLang="zh-TW" i="1">
                                <a:solidFill>
                                  <a:schemeClr val="tx1"/>
                                </a:solidFill>
                                <a:latin typeface="Cambria Math" panose="02040503050406030204" pitchFamily="18" charset="0"/>
                              </a:rPr>
                            </m:ctrlPr>
                          </m:dPr>
                          <m:e>
                            <m:r>
                              <a:rPr lang="en-US" altLang="zh-TW" i="1">
                                <a:solidFill>
                                  <a:schemeClr val="tx1"/>
                                </a:solidFill>
                                <a:latin typeface="Cambria Math" panose="02040503050406030204" pitchFamily="18" charset="0"/>
                              </a:rPr>
                              <m:t>𝐼</m:t>
                            </m:r>
                          </m:e>
                        </m:d>
                      </m:e>
                    </m:d>
                    <m:r>
                      <a:rPr lang="en-US" altLang="zh-TW" b="0" i="1" smtClean="0">
                        <a:solidFill>
                          <a:schemeClr val="tx1"/>
                        </a:solidFill>
                        <a:latin typeface="Cambria Math" panose="02040503050406030204" pitchFamily="18" charset="0"/>
                      </a:rPr>
                      <m:t>|</m:t>
                    </m:r>
                    <m:r>
                      <a:rPr lang="en-US" altLang="zh-TW" i="1">
                        <a:solidFill>
                          <a:schemeClr val="tx1"/>
                        </a:solidFill>
                        <a:latin typeface="Cambria Math" panose="02040503050406030204" pitchFamily="18" charset="0"/>
                      </a:rPr>
                      <m:t>≤</m:t>
                    </m:r>
                    <m:r>
                      <a:rPr lang="zh-TW" altLang="en-US" i="1" smtClean="0">
                        <a:solidFill>
                          <a:srgbClr val="FF0000"/>
                        </a:solidFill>
                        <a:latin typeface="Cambria Math" panose="02040503050406030204" pitchFamily="18" charset="0"/>
                      </a:rPr>
                      <m:t>𝛿</m:t>
                    </m:r>
                    <m:r>
                      <a:rPr lang="zh-TW" altLang="en-US" i="1">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m:t>
                    </m:r>
                    <m:sSub>
                      <m:sSubPr>
                        <m:ctrlPr>
                          <a:rPr lang="en-US" altLang="zh-TW" i="1">
                            <a:solidFill>
                              <a:schemeClr val="tx1"/>
                            </a:solidFill>
                            <a:latin typeface="Cambria Math" panose="02040503050406030204" pitchFamily="18" charset="0"/>
                          </a:rPr>
                        </m:ctrlPr>
                      </m:sSubPr>
                      <m:e>
                        <m:r>
                          <a:rPr lang="en-US" altLang="zh-TW" i="1">
                            <a:solidFill>
                              <a:schemeClr val="tx1"/>
                            </a:solidFill>
                            <a:latin typeface="Cambria Math" panose="02040503050406030204" pitchFamily="18" charset="0"/>
                          </a:rPr>
                          <m:t>𝑜𝑝𝑡</m:t>
                        </m:r>
                      </m:e>
                      <m:sub>
                        <m:r>
                          <a:rPr lang="en-US" altLang="zh-TW" i="1">
                            <a:solidFill>
                              <a:schemeClr val="tx1"/>
                            </a:solidFill>
                            <a:latin typeface="Cambria Math" panose="02040503050406030204" pitchFamily="18" charset="0"/>
                          </a:rPr>
                          <m:t>𝐹</m:t>
                        </m:r>
                      </m:sub>
                    </m:sSub>
                    <m:d>
                      <m:dPr>
                        <m:ctrlPr>
                          <a:rPr lang="en-US" altLang="zh-TW" i="1">
                            <a:solidFill>
                              <a:schemeClr val="tx1"/>
                            </a:solidFill>
                            <a:latin typeface="Cambria Math" panose="02040503050406030204" pitchFamily="18" charset="0"/>
                          </a:rPr>
                        </m:ctrlPr>
                      </m:dPr>
                      <m:e>
                        <m:r>
                          <a:rPr lang="en-US" altLang="zh-TW" i="1">
                            <a:solidFill>
                              <a:schemeClr val="tx1"/>
                            </a:solidFill>
                            <a:latin typeface="Cambria Math" panose="02040503050406030204" pitchFamily="18" charset="0"/>
                          </a:rPr>
                          <m:t>𝐼</m:t>
                        </m:r>
                      </m:e>
                    </m:d>
                    <m:r>
                      <a:rPr lang="en-US" altLang="zh-TW" b="0" i="1" smtClean="0">
                        <a:solidFill>
                          <a:schemeClr val="tx1"/>
                        </a:solidFill>
                        <a:latin typeface="Cambria Math" panose="02040503050406030204" pitchFamily="18" charset="0"/>
                      </a:rPr>
                      <m:t>|</m:t>
                    </m:r>
                  </m:oMath>
                </a14:m>
                <a:r>
                  <a:rPr lang="sv-SE" altLang="zh-TW" dirty="0">
                    <a:solidFill>
                      <a:schemeClr val="tx1"/>
                    </a:solidFill>
                    <a:latin typeface="Times New Roman" panose="02020603050405020304" pitchFamily="18" charset="0"/>
                    <a:cs typeface="Times New Roman" panose="02020603050405020304" pitchFamily="18" charset="0"/>
                  </a:rPr>
                  <a:t>.</a:t>
                </a:r>
              </a:p>
              <a:p>
                <a14:m>
                  <m:oMath xmlns:m="http://schemas.openxmlformats.org/officeDocument/2006/math">
                    <m:d>
                      <m:dPr>
                        <m:begChr m:val="|"/>
                        <m:endChr m:val="|"/>
                        <m:ctrlPr>
                          <a:rPr lang="en-US" altLang="zh-TW" i="1">
                            <a:solidFill>
                              <a:schemeClr val="tx1"/>
                            </a:solidFill>
                            <a:latin typeface="Cambria Math" panose="02040503050406030204" pitchFamily="18" charset="0"/>
                          </a:rPr>
                        </m:ctrlPr>
                      </m:dPr>
                      <m:e>
                        <m:sSub>
                          <m:sSubPr>
                            <m:ctrlPr>
                              <a:rPr lang="en-US" altLang="zh-TW" i="1">
                                <a:solidFill>
                                  <a:schemeClr val="tx1"/>
                                </a:solidFill>
                                <a:latin typeface="Cambria Math" panose="02040503050406030204" pitchFamily="18" charset="0"/>
                              </a:rPr>
                            </m:ctrlPr>
                          </m:sSubPr>
                          <m:e>
                            <m:r>
                              <a:rPr lang="en-US" altLang="zh-TW" i="1">
                                <a:solidFill>
                                  <a:schemeClr val="tx1"/>
                                </a:solidFill>
                                <a:latin typeface="Cambria Math" panose="02040503050406030204" pitchFamily="18" charset="0"/>
                              </a:rPr>
                              <m:t>𝑜𝑝𝑡</m:t>
                            </m:r>
                          </m:e>
                          <m:sub>
                            <m:r>
                              <a:rPr lang="en-US" altLang="zh-TW" i="1">
                                <a:solidFill>
                                  <a:schemeClr val="tx1"/>
                                </a:solidFill>
                                <a:latin typeface="Cambria Math" panose="02040503050406030204" pitchFamily="18" charset="0"/>
                              </a:rPr>
                              <m:t>𝐹</m:t>
                            </m:r>
                          </m:sub>
                        </m:sSub>
                        <m:d>
                          <m:dPr>
                            <m:ctrlPr>
                              <a:rPr lang="en-US" altLang="zh-TW" i="1">
                                <a:solidFill>
                                  <a:schemeClr val="tx1"/>
                                </a:solidFill>
                                <a:latin typeface="Cambria Math" panose="02040503050406030204" pitchFamily="18" charset="0"/>
                              </a:rPr>
                            </m:ctrlPr>
                          </m:dPr>
                          <m:e>
                            <m:r>
                              <a:rPr lang="en-US" altLang="zh-TW" i="1">
                                <a:solidFill>
                                  <a:schemeClr val="tx1"/>
                                </a:solidFill>
                                <a:latin typeface="Cambria Math" panose="02040503050406030204" pitchFamily="18" charset="0"/>
                              </a:rPr>
                              <m:t>𝐼</m:t>
                            </m:r>
                          </m:e>
                        </m:d>
                        <m:r>
                          <a:rPr lang="en-US" altLang="zh-TW" i="1">
                            <a:solidFill>
                              <a:schemeClr val="tx1"/>
                            </a:solidFill>
                            <a:latin typeface="Cambria Math" panose="02040503050406030204" pitchFamily="18" charset="0"/>
                          </a:rPr>
                          <m:t>−</m:t>
                        </m:r>
                        <m:sSub>
                          <m:sSubPr>
                            <m:ctrlPr>
                              <a:rPr lang="en-US" altLang="zh-TW" i="1">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𝑜𝑗</m:t>
                            </m:r>
                          </m:e>
                          <m:sub>
                            <m:r>
                              <a:rPr lang="en-US" altLang="zh-TW" i="1">
                                <a:solidFill>
                                  <a:schemeClr val="tx1"/>
                                </a:solidFill>
                                <a:latin typeface="Cambria Math" panose="02040503050406030204" pitchFamily="18" charset="0"/>
                              </a:rPr>
                              <m:t>1</m:t>
                            </m:r>
                          </m:sub>
                        </m:sSub>
                      </m:e>
                    </m:d>
                    <m:r>
                      <a:rPr lang="en-US" altLang="zh-TW" i="1">
                        <a:solidFill>
                          <a:schemeClr val="tx1"/>
                        </a:solidFill>
                        <a:latin typeface="Cambria Math" panose="02040503050406030204" pitchFamily="18" charset="0"/>
                      </a:rPr>
                      <m:t>≤</m:t>
                    </m:r>
                    <m:r>
                      <a:rPr lang="zh-TW" altLang="en-US" i="1" smtClean="0">
                        <a:solidFill>
                          <a:srgbClr val="FF0000"/>
                        </a:solidFill>
                        <a:latin typeface="Cambria Math" panose="02040503050406030204" pitchFamily="18" charset="0"/>
                      </a:rPr>
                      <m:t>𝜇</m:t>
                    </m:r>
                    <m:r>
                      <a:rPr lang="zh-TW" altLang="en-US" i="1">
                        <a:solidFill>
                          <a:schemeClr val="tx1"/>
                        </a:solidFill>
                        <a:latin typeface="Cambria Math" panose="02040503050406030204" pitchFamily="18" charset="0"/>
                      </a:rPr>
                      <m:t>∙</m:t>
                    </m:r>
                    <m:d>
                      <m:dPr>
                        <m:begChr m:val="|"/>
                        <m:endChr m:val="|"/>
                        <m:ctrlPr>
                          <a:rPr lang="en-US" altLang="zh-TW" i="1">
                            <a:solidFill>
                              <a:schemeClr val="tx1"/>
                            </a:solidFill>
                            <a:latin typeface="Cambria Math" panose="02040503050406030204" pitchFamily="18" charset="0"/>
                          </a:rPr>
                        </m:ctrlPr>
                      </m:dPr>
                      <m:e>
                        <m:sSub>
                          <m:sSubPr>
                            <m:ctrlPr>
                              <a:rPr lang="en-US" altLang="zh-TW" i="1">
                                <a:solidFill>
                                  <a:schemeClr val="tx1"/>
                                </a:solidFill>
                                <a:latin typeface="Cambria Math" panose="02040503050406030204" pitchFamily="18" charset="0"/>
                              </a:rPr>
                            </m:ctrlPr>
                          </m:sSubPr>
                          <m:e>
                            <m:r>
                              <a:rPr lang="en-US" altLang="zh-TW" i="1">
                                <a:solidFill>
                                  <a:schemeClr val="tx1"/>
                                </a:solidFill>
                                <a:latin typeface="Cambria Math" panose="02040503050406030204" pitchFamily="18" charset="0"/>
                              </a:rPr>
                              <m:t>𝑜𝑝𝑡</m:t>
                            </m:r>
                          </m:e>
                          <m:sub>
                            <m:r>
                              <a:rPr lang="en-US" altLang="zh-TW" i="1">
                                <a:solidFill>
                                  <a:schemeClr val="tx1"/>
                                </a:solidFill>
                                <a:latin typeface="Cambria Math" panose="02040503050406030204" pitchFamily="18" charset="0"/>
                              </a:rPr>
                              <m:t>𝐺</m:t>
                            </m:r>
                          </m:sub>
                        </m:sSub>
                        <m:d>
                          <m:dPr>
                            <m:ctrlPr>
                              <a:rPr lang="en-US" altLang="zh-TW" i="1">
                                <a:solidFill>
                                  <a:schemeClr val="tx1"/>
                                </a:solidFill>
                                <a:latin typeface="Cambria Math" panose="02040503050406030204" pitchFamily="18" charset="0"/>
                              </a:rPr>
                            </m:ctrlPr>
                          </m:dPr>
                          <m:e>
                            <m:r>
                              <a:rPr lang="en-US" altLang="zh-TW" i="1">
                                <a:solidFill>
                                  <a:schemeClr val="tx1"/>
                                </a:solidFill>
                                <a:latin typeface="Cambria Math" panose="02040503050406030204" pitchFamily="18" charset="0"/>
                              </a:rPr>
                              <m:t>𝑓</m:t>
                            </m:r>
                            <m:d>
                              <m:dPr>
                                <m:ctrlPr>
                                  <a:rPr lang="en-US" altLang="zh-TW" i="1">
                                    <a:solidFill>
                                      <a:schemeClr val="tx1"/>
                                    </a:solidFill>
                                    <a:latin typeface="Cambria Math" panose="02040503050406030204" pitchFamily="18" charset="0"/>
                                  </a:rPr>
                                </m:ctrlPr>
                              </m:dPr>
                              <m:e>
                                <m:r>
                                  <a:rPr lang="en-US" altLang="zh-TW" i="1">
                                    <a:solidFill>
                                      <a:schemeClr val="tx1"/>
                                    </a:solidFill>
                                    <a:latin typeface="Cambria Math" panose="02040503050406030204" pitchFamily="18" charset="0"/>
                                  </a:rPr>
                                  <m:t>𝐼</m:t>
                                </m:r>
                              </m:e>
                            </m:d>
                          </m:e>
                        </m:d>
                        <m:r>
                          <a:rPr lang="en-US" altLang="zh-TW" i="1">
                            <a:solidFill>
                              <a:schemeClr val="tx1"/>
                            </a:solidFill>
                            <a:latin typeface="Cambria Math" panose="02040503050406030204" pitchFamily="18" charset="0"/>
                          </a:rPr>
                          <m:t>−</m:t>
                        </m:r>
                        <m:sSub>
                          <m:sSubPr>
                            <m:ctrlPr>
                              <a:rPr lang="en-US" altLang="zh-TW" i="1">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𝑜𝑗</m:t>
                            </m:r>
                          </m:e>
                          <m:sub>
                            <m:r>
                              <a:rPr lang="en-US" altLang="zh-TW" i="1">
                                <a:solidFill>
                                  <a:schemeClr val="tx1"/>
                                </a:solidFill>
                                <a:latin typeface="Cambria Math" panose="02040503050406030204" pitchFamily="18" charset="0"/>
                              </a:rPr>
                              <m:t>2</m:t>
                            </m:r>
                          </m:sub>
                        </m:sSub>
                      </m:e>
                    </m:d>
                  </m:oMath>
                </a14:m>
                <a:r>
                  <a:rPr lang="en-US" altLang="zh-TW" dirty="0">
                    <a:solidFill>
                      <a:schemeClr val="tx1"/>
                    </a:solidFill>
                    <a:latin typeface="Times New Roman" panose="02020603050405020304" pitchFamily="18" charset="0"/>
                    <a:cs typeface="Times New Roman" panose="02020603050405020304" pitchFamily="18" charset="0"/>
                  </a:rPr>
                  <a:t>.</a:t>
                </a:r>
                <a:endParaRPr lang="zh-TW" altLang="en-US" dirty="0">
                  <a:solidFill>
                    <a:schemeClr val="tx1"/>
                  </a:solidFill>
                  <a:latin typeface="Times New Roman" panose="02020603050405020304" pitchFamily="18" charset="0"/>
                  <a:cs typeface="Times New Roman" panose="02020603050405020304" pitchFamily="18" charset="0"/>
                </a:endParaRPr>
              </a:p>
            </p:txBody>
          </p:sp>
        </mc:Choice>
        <mc:Fallback>
          <p:sp>
            <p:nvSpPr>
              <p:cNvPr id="3" name="內容版面配置區 2">
                <a:extLst>
                  <a:ext uri="{FF2B5EF4-FFF2-40B4-BE49-F238E27FC236}">
                    <a16:creationId xmlns:a16="http://schemas.microsoft.com/office/drawing/2014/main" id="{57F4DD34-C865-47D5-9215-CA09AE5C281B}"/>
                  </a:ext>
                </a:extLst>
              </p:cNvPr>
              <p:cNvSpPr>
                <a:spLocks noGrp="1" noRot="1" noChangeAspect="1" noMove="1" noResize="1" noEditPoints="1" noAdjustHandles="1" noChangeArrowheads="1" noChangeShapeType="1" noTextEdit="1"/>
              </p:cNvSpPr>
              <p:nvPr>
                <p:ph idx="1"/>
              </p:nvPr>
            </p:nvSpPr>
            <p:spPr>
              <a:xfrm>
                <a:off x="838200" y="1825625"/>
                <a:ext cx="10886768" cy="4667250"/>
              </a:xfrm>
              <a:blipFill>
                <a:blip r:embed="rId2"/>
                <a:stretch>
                  <a:fillRect l="-1176" r="-179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A8D5DBC3-35C0-4807-9800-9AB8B4130B06}"/>
                  </a:ext>
                </a:extLst>
              </p:cNvPr>
              <p:cNvSpPr txBox="1"/>
              <p:nvPr/>
            </p:nvSpPr>
            <p:spPr>
              <a:xfrm>
                <a:off x="4172432" y="3429000"/>
                <a:ext cx="5036234" cy="523220"/>
              </a:xfrm>
              <a:prstGeom prst="rect">
                <a:avLst/>
              </a:prstGeom>
              <a:noFill/>
            </p:spPr>
            <p:txBody>
              <a:bodyPr wrap="square" rtlCol="0">
                <a:spAutoFit/>
              </a:bodyPr>
              <a:lstStyle/>
              <a:p>
                <a:r>
                  <a:rPr lang="en-US" altLang="zh-TW" sz="2800" dirty="0">
                    <a:latin typeface="Times New Roman" panose="02020603050405020304" pitchFamily="18" charset="0"/>
                    <a:cs typeface="Times New Roman" panose="02020603050405020304" pitchFamily="18" charset="0"/>
                  </a:rPr>
                  <a:t>, </a:t>
                </a:r>
                <a14:m>
                  <m:oMath xmlns:m="http://schemas.openxmlformats.org/officeDocument/2006/math">
                    <m:r>
                      <a:rPr lang="en-US" altLang="zh-TW" sz="2800" i="1">
                        <a:latin typeface="Cambria Math" panose="02040503050406030204" pitchFamily="18" charset="0"/>
                      </a:rPr>
                      <m:t>𝐷</m:t>
                    </m:r>
                    <m:d>
                      <m:dPr>
                        <m:ctrlPr>
                          <a:rPr lang="en-US" altLang="zh-TW" sz="2800" i="1">
                            <a:latin typeface="Cambria Math" panose="02040503050406030204" pitchFamily="18" charset="0"/>
                          </a:rPr>
                        </m:ctrlPr>
                      </m:dPr>
                      <m:e>
                        <m:r>
                          <a:rPr lang="en-US" altLang="zh-TW" sz="2800" i="1">
                            <a:latin typeface="Cambria Math" panose="02040503050406030204" pitchFamily="18" charset="0"/>
                          </a:rPr>
                          <m:t>𝐼</m:t>
                        </m:r>
                      </m:e>
                    </m:d>
                    <m:r>
                      <a:rPr lang="en-US" altLang="zh-TW" sz="2800" i="1">
                        <a:latin typeface="Cambria Math" panose="02040503050406030204" pitchFamily="18" charset="0"/>
                        <a:ea typeface="Cambria Math" panose="02040503050406030204" pitchFamily="18" charset="0"/>
                      </a:rPr>
                      <m:t>∈</m:t>
                    </m:r>
                    <m:sSub>
                      <m:sSubPr>
                        <m:ctrlPr>
                          <a:rPr lang="en-US" altLang="zh-TW" sz="2800" i="1">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𝑆𝑜𝑙</m:t>
                        </m:r>
                      </m:e>
                      <m:sub>
                        <m:r>
                          <a:rPr lang="en-US" altLang="zh-TW" sz="2800" i="1">
                            <a:latin typeface="Cambria Math" panose="02040503050406030204" pitchFamily="18" charset="0"/>
                            <a:ea typeface="Cambria Math" panose="02040503050406030204" pitchFamily="18" charset="0"/>
                          </a:rPr>
                          <m:t>𝐹</m:t>
                        </m:r>
                      </m:sub>
                    </m:sSub>
                  </m:oMath>
                </a14:m>
                <a:r>
                  <a:rPr lang="en-US" altLang="zh-TW" sz="2800" dirty="0">
                    <a:latin typeface="Times New Roman" panose="02020603050405020304" pitchFamily="18" charset="0"/>
                    <a:cs typeface="Times New Roman" panose="02020603050405020304" pitchFamily="18" charset="0"/>
                  </a:rPr>
                  <a:t>, and </a:t>
                </a:r>
                <a14:m>
                  <m:oMath xmlns:m="http://schemas.openxmlformats.org/officeDocument/2006/math">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𝑅𝑎𝑡</m:t>
                        </m:r>
                      </m:e>
                      <m:sub>
                        <m:r>
                          <a:rPr lang="en-US" altLang="zh-TW" sz="2800" i="1">
                            <a:latin typeface="Cambria Math" panose="02040503050406030204" pitchFamily="18" charset="0"/>
                          </a:rPr>
                          <m:t>𝐹</m:t>
                        </m:r>
                      </m:sub>
                    </m:sSub>
                    <m:r>
                      <a:rPr lang="en-US" altLang="zh-TW" sz="2800" i="1">
                        <a:latin typeface="Cambria Math" panose="02040503050406030204" pitchFamily="18" charset="0"/>
                      </a:rPr>
                      <m:t>(</m:t>
                    </m:r>
                    <m:r>
                      <a:rPr lang="en-US" altLang="zh-TW" sz="2800" i="1">
                        <a:latin typeface="Cambria Math" panose="02040503050406030204" pitchFamily="18" charset="0"/>
                      </a:rPr>
                      <m:t>𝐷</m:t>
                    </m:r>
                    <m:r>
                      <a:rPr lang="en-US" altLang="zh-TW" sz="2800" i="1">
                        <a:latin typeface="Cambria Math" panose="02040503050406030204" pitchFamily="18" charset="0"/>
                      </a:rPr>
                      <m:t>)≤</m:t>
                    </m:r>
                    <m:r>
                      <a:rPr lang="en-US" altLang="zh-TW" sz="2800" i="1">
                        <a:latin typeface="Cambria Math" panose="02040503050406030204" pitchFamily="18" charset="0"/>
                        <a:ea typeface="Cambria Math" panose="02040503050406030204" pitchFamily="18" charset="0"/>
                      </a:rPr>
                      <m:t>𝑐</m:t>
                    </m:r>
                  </m:oMath>
                </a14:m>
                <a:r>
                  <a:rPr lang="en-US" altLang="zh-TW" sz="2800" dirty="0">
                    <a:latin typeface="Times New Roman" panose="02020603050405020304" pitchFamily="18" charset="0"/>
                    <a:cs typeface="Times New Roman" panose="02020603050405020304" pitchFamily="18" charset="0"/>
                  </a:rPr>
                  <a:t>.</a:t>
                </a:r>
                <a:endParaRPr lang="zh-TW" altLang="en-US" sz="2800" dirty="0"/>
              </a:p>
            </p:txBody>
          </p:sp>
        </mc:Choice>
        <mc:Fallback xmlns="">
          <p:sp>
            <p:nvSpPr>
              <p:cNvPr id="4" name="文字方塊 3">
                <a:extLst>
                  <a:ext uri="{FF2B5EF4-FFF2-40B4-BE49-F238E27FC236}">
                    <a16:creationId xmlns:a16="http://schemas.microsoft.com/office/drawing/2014/main" id="{A8D5DBC3-35C0-4807-9800-9AB8B4130B06}"/>
                  </a:ext>
                </a:extLst>
              </p:cNvPr>
              <p:cNvSpPr txBox="1">
                <a:spLocks noRot="1" noChangeAspect="1" noMove="1" noResize="1" noEditPoints="1" noAdjustHandles="1" noChangeArrowheads="1" noChangeShapeType="1" noTextEdit="1"/>
              </p:cNvSpPr>
              <p:nvPr/>
            </p:nvSpPr>
            <p:spPr>
              <a:xfrm>
                <a:off x="4172432" y="3429000"/>
                <a:ext cx="5036234" cy="523220"/>
              </a:xfrm>
              <a:prstGeom prst="rect">
                <a:avLst/>
              </a:prstGeom>
              <a:blipFill>
                <a:blip r:embed="rId3"/>
                <a:stretch>
                  <a:fillRect l="-2418" t="-12941" r="-967" b="-31765"/>
                </a:stretch>
              </a:blipFill>
            </p:spPr>
            <p:txBody>
              <a:bodyPr/>
              <a:lstStyle/>
              <a:p>
                <a:r>
                  <a:rPr lang="zh-TW" altLang="en-US">
                    <a:noFill/>
                  </a:rPr>
                  <a:t> </a:t>
                </a:r>
              </a:p>
            </p:txBody>
          </p:sp>
        </mc:Fallback>
      </mc:AlternateContent>
      <p:sp>
        <p:nvSpPr>
          <p:cNvPr id="5" name="文字方塊 23">
            <a:extLst>
              <a:ext uri="{FF2B5EF4-FFF2-40B4-BE49-F238E27FC236}">
                <a16:creationId xmlns:a16="http://schemas.microsoft.com/office/drawing/2014/main" id="{B1C05B08-5140-4825-B05A-431BA7189AEE}"/>
              </a:ext>
            </a:extLst>
          </p:cNvPr>
          <p:cNvSpPr txBox="1"/>
          <p:nvPr/>
        </p:nvSpPr>
        <p:spPr>
          <a:xfrm>
            <a:off x="8967161" y="3904219"/>
            <a:ext cx="1824605" cy="46166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TW" sz="2400" dirty="0">
                <a:latin typeface="Times New Roman" panose="02020603050405020304" pitchFamily="18" charset="0"/>
                <a:cs typeface="Times New Roman" panose="02020603050405020304" pitchFamily="18" charset="0"/>
              </a:rPr>
              <a:t>L-reduction</a:t>
            </a:r>
            <a:endParaRPr lang="zh-TW" altLang="en-US" sz="24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A91978AC-27BC-4B11-99AC-F3E70527C828}"/>
                  </a:ext>
                </a:extLst>
              </p:cNvPr>
              <p:cNvSpPr/>
              <p:nvPr/>
            </p:nvSpPr>
            <p:spPr>
              <a:xfrm>
                <a:off x="7317418" y="4335495"/>
                <a:ext cx="1865332" cy="539136"/>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altLang="zh-TW" sz="2400" dirty="0">
                    <a:solidFill>
                      <a:schemeClr val="tx1"/>
                    </a:solidFill>
                    <a:latin typeface="Times New Roman" panose="02020603050405020304" pitchFamily="18" charset="0"/>
                    <a:cs typeface="Times New Roman" panose="02020603050405020304" pitchFamily="18" charset="0"/>
                  </a:rPr>
                  <a:t>Instance of </a:t>
                </a:r>
                <a14:m>
                  <m:oMath xmlns:m="http://schemas.openxmlformats.org/officeDocument/2006/math">
                    <m:r>
                      <a:rPr lang="en-US" altLang="zh-TW" sz="2400" i="1" dirty="0" smtClean="0">
                        <a:solidFill>
                          <a:schemeClr val="tx1"/>
                        </a:solidFill>
                        <a:latin typeface="Cambria Math" panose="02040503050406030204" pitchFamily="18" charset="0"/>
                        <a:cs typeface="Times New Roman" panose="02020603050405020304" pitchFamily="18" charset="0"/>
                      </a:rPr>
                      <m:t>𝐹</m:t>
                    </m:r>
                  </m:oMath>
                </a14:m>
                <a:endParaRPr lang="zh-TW" altLang="en-US" sz="24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6" name="矩形 5">
                <a:extLst>
                  <a:ext uri="{FF2B5EF4-FFF2-40B4-BE49-F238E27FC236}">
                    <a16:creationId xmlns:a16="http://schemas.microsoft.com/office/drawing/2014/main" id="{A91978AC-27BC-4B11-99AC-F3E70527C828}"/>
                  </a:ext>
                </a:extLst>
              </p:cNvPr>
              <p:cNvSpPr>
                <a:spLocks noRot="1" noChangeAspect="1" noMove="1" noResize="1" noEditPoints="1" noAdjustHandles="1" noChangeArrowheads="1" noChangeShapeType="1" noTextEdit="1"/>
              </p:cNvSpPr>
              <p:nvPr/>
            </p:nvSpPr>
            <p:spPr>
              <a:xfrm>
                <a:off x="7317418" y="4335495"/>
                <a:ext cx="1865332" cy="539136"/>
              </a:xfrm>
              <a:prstGeom prst="rect">
                <a:avLst/>
              </a:prstGeom>
              <a:blipFill>
                <a:blip r:embed="rId4"/>
                <a:stretch>
                  <a:fillRect l="-2244" b="-13684"/>
                </a:stretch>
              </a:blipFill>
              <a:ln w="38100">
                <a:solidFill>
                  <a:schemeClr val="accent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9A74F413-7BA8-4ACA-9A74-F965CF78C341}"/>
                  </a:ext>
                </a:extLst>
              </p:cNvPr>
              <p:cNvSpPr/>
              <p:nvPr/>
            </p:nvSpPr>
            <p:spPr>
              <a:xfrm>
                <a:off x="10069136" y="4330596"/>
                <a:ext cx="1824604" cy="539135"/>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altLang="zh-TW" sz="2400" dirty="0">
                    <a:solidFill>
                      <a:schemeClr val="tx1"/>
                    </a:solidFill>
                    <a:latin typeface="Times New Roman" panose="02020603050405020304" pitchFamily="18" charset="0"/>
                    <a:cs typeface="Times New Roman" panose="02020603050405020304" pitchFamily="18" charset="0"/>
                  </a:rPr>
                  <a:t>Instance of </a:t>
                </a:r>
                <a14:m>
                  <m:oMath xmlns:m="http://schemas.openxmlformats.org/officeDocument/2006/math">
                    <m:r>
                      <a:rPr lang="en-US" altLang="zh-TW" sz="2400" b="0" i="1" dirty="0" smtClean="0">
                        <a:solidFill>
                          <a:schemeClr val="tx1"/>
                        </a:solidFill>
                        <a:latin typeface="Cambria Math" panose="02040503050406030204" pitchFamily="18" charset="0"/>
                        <a:cs typeface="Times New Roman" panose="02020603050405020304" pitchFamily="18" charset="0"/>
                      </a:rPr>
                      <m:t>𝐺</m:t>
                    </m:r>
                  </m:oMath>
                </a14:m>
                <a:endParaRPr lang="zh-TW" altLang="en-US" sz="24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7" name="矩形 6">
                <a:extLst>
                  <a:ext uri="{FF2B5EF4-FFF2-40B4-BE49-F238E27FC236}">
                    <a16:creationId xmlns:a16="http://schemas.microsoft.com/office/drawing/2014/main" id="{9A74F413-7BA8-4ACA-9A74-F965CF78C341}"/>
                  </a:ext>
                </a:extLst>
              </p:cNvPr>
              <p:cNvSpPr>
                <a:spLocks noRot="1" noChangeAspect="1" noMove="1" noResize="1" noEditPoints="1" noAdjustHandles="1" noChangeArrowheads="1" noChangeShapeType="1" noTextEdit="1"/>
              </p:cNvSpPr>
              <p:nvPr/>
            </p:nvSpPr>
            <p:spPr>
              <a:xfrm>
                <a:off x="10069136" y="4330596"/>
                <a:ext cx="1824604" cy="539135"/>
              </a:xfrm>
              <a:prstGeom prst="rect">
                <a:avLst/>
              </a:prstGeom>
              <a:blipFill>
                <a:blip r:embed="rId5"/>
                <a:stretch>
                  <a:fillRect l="-3934" b="-13684"/>
                </a:stretch>
              </a:blipFill>
              <a:ln w="38100">
                <a:solidFill>
                  <a:schemeClr val="accent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B35F90CC-3C1E-40F4-B2C9-6026461894C1}"/>
                  </a:ext>
                </a:extLst>
              </p:cNvPr>
              <p:cNvSpPr/>
              <p:nvPr/>
            </p:nvSpPr>
            <p:spPr>
              <a:xfrm>
                <a:off x="10048772" y="5403934"/>
                <a:ext cx="1865331" cy="608469"/>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altLang="zh-TW" sz="2400" dirty="0">
                    <a:solidFill>
                      <a:schemeClr val="tx1"/>
                    </a:solidFill>
                    <a:latin typeface="Times New Roman" panose="02020603050405020304" pitchFamily="18" charset="0"/>
                    <a:cs typeface="Times New Roman" panose="02020603050405020304" pitchFamily="18" charset="0"/>
                  </a:rPr>
                  <a:t>Solution of </a:t>
                </a:r>
                <a14:m>
                  <m:oMath xmlns:m="http://schemas.openxmlformats.org/officeDocument/2006/math">
                    <m:r>
                      <a:rPr lang="en-US" altLang="zh-TW" sz="2400" b="0" i="1" dirty="0" smtClean="0">
                        <a:solidFill>
                          <a:schemeClr val="tx1"/>
                        </a:solidFill>
                        <a:latin typeface="Cambria Math" panose="02040503050406030204" pitchFamily="18" charset="0"/>
                        <a:cs typeface="Times New Roman" panose="02020603050405020304" pitchFamily="18" charset="0"/>
                      </a:rPr>
                      <m:t>𝐺</m:t>
                    </m:r>
                  </m:oMath>
                </a14:m>
                <a:endParaRPr lang="zh-TW" altLang="en-US" sz="24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8" name="矩形 7">
                <a:extLst>
                  <a:ext uri="{FF2B5EF4-FFF2-40B4-BE49-F238E27FC236}">
                    <a16:creationId xmlns:a16="http://schemas.microsoft.com/office/drawing/2014/main" id="{B35F90CC-3C1E-40F4-B2C9-6026461894C1}"/>
                  </a:ext>
                </a:extLst>
              </p:cNvPr>
              <p:cNvSpPr>
                <a:spLocks noRot="1" noChangeAspect="1" noMove="1" noResize="1" noEditPoints="1" noAdjustHandles="1" noChangeArrowheads="1" noChangeShapeType="1" noTextEdit="1"/>
              </p:cNvSpPr>
              <p:nvPr/>
            </p:nvSpPr>
            <p:spPr>
              <a:xfrm>
                <a:off x="10048772" y="5403934"/>
                <a:ext cx="1865331" cy="608469"/>
              </a:xfrm>
              <a:prstGeom prst="rect">
                <a:avLst/>
              </a:prstGeom>
              <a:blipFill>
                <a:blip r:embed="rId6"/>
                <a:stretch>
                  <a:fillRect l="-2885" b="-7547"/>
                </a:stretch>
              </a:blipFill>
              <a:ln w="38100">
                <a:solidFill>
                  <a:schemeClr val="accent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C70FC788-47C9-4953-BFEA-E04025E7AA84}"/>
                  </a:ext>
                </a:extLst>
              </p:cNvPr>
              <p:cNvSpPr/>
              <p:nvPr/>
            </p:nvSpPr>
            <p:spPr>
              <a:xfrm>
                <a:off x="7343335" y="5373579"/>
                <a:ext cx="1865331" cy="608470"/>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altLang="zh-TW" sz="2400" dirty="0">
                    <a:solidFill>
                      <a:schemeClr val="tx1"/>
                    </a:solidFill>
                    <a:latin typeface="Times New Roman" panose="02020603050405020304" pitchFamily="18" charset="0"/>
                    <a:cs typeface="Times New Roman" panose="02020603050405020304" pitchFamily="18" charset="0"/>
                  </a:rPr>
                  <a:t>Solution of </a:t>
                </a:r>
                <a14:m>
                  <m:oMath xmlns:m="http://schemas.openxmlformats.org/officeDocument/2006/math">
                    <m:r>
                      <a:rPr lang="en-US" altLang="zh-TW" sz="2400" b="0" i="1" dirty="0" smtClean="0">
                        <a:solidFill>
                          <a:schemeClr val="tx1"/>
                        </a:solidFill>
                        <a:latin typeface="Cambria Math" panose="02040503050406030204" pitchFamily="18" charset="0"/>
                        <a:cs typeface="Times New Roman" panose="02020603050405020304" pitchFamily="18" charset="0"/>
                      </a:rPr>
                      <m:t>𝐹</m:t>
                    </m:r>
                  </m:oMath>
                </a14:m>
                <a:endParaRPr lang="zh-TW" altLang="en-US" sz="24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9" name="矩形 8">
                <a:extLst>
                  <a:ext uri="{FF2B5EF4-FFF2-40B4-BE49-F238E27FC236}">
                    <a16:creationId xmlns:a16="http://schemas.microsoft.com/office/drawing/2014/main" id="{C70FC788-47C9-4953-BFEA-E04025E7AA84}"/>
                  </a:ext>
                </a:extLst>
              </p:cNvPr>
              <p:cNvSpPr>
                <a:spLocks noRot="1" noChangeAspect="1" noMove="1" noResize="1" noEditPoints="1" noAdjustHandles="1" noChangeArrowheads="1" noChangeShapeType="1" noTextEdit="1"/>
              </p:cNvSpPr>
              <p:nvPr/>
            </p:nvSpPr>
            <p:spPr>
              <a:xfrm>
                <a:off x="7343335" y="5373579"/>
                <a:ext cx="1865331" cy="608470"/>
              </a:xfrm>
              <a:prstGeom prst="rect">
                <a:avLst/>
              </a:prstGeom>
              <a:blipFill>
                <a:blip r:embed="rId7"/>
                <a:stretch>
                  <a:fillRect l="-2885" b="-7547"/>
                </a:stretch>
              </a:blipFill>
              <a:ln w="38100">
                <a:solidFill>
                  <a:schemeClr val="accent1"/>
                </a:solidFill>
              </a:ln>
            </p:spPr>
            <p:txBody>
              <a:bodyPr/>
              <a:lstStyle/>
              <a:p>
                <a:r>
                  <a:rPr lang="zh-TW" altLang="en-US">
                    <a:noFill/>
                  </a:rPr>
                  <a:t> </a:t>
                </a:r>
              </a:p>
            </p:txBody>
          </p:sp>
        </mc:Fallback>
      </mc:AlternateContent>
      <p:cxnSp>
        <p:nvCxnSpPr>
          <p:cNvPr id="10" name="直線單箭頭接點 9">
            <a:extLst>
              <a:ext uri="{FF2B5EF4-FFF2-40B4-BE49-F238E27FC236}">
                <a16:creationId xmlns:a16="http://schemas.microsoft.com/office/drawing/2014/main" id="{1A4CC5C6-2C99-48EF-9B9D-42A63E59FD40}"/>
              </a:ext>
            </a:extLst>
          </p:cNvPr>
          <p:cNvCxnSpPr>
            <a:cxnSpLocks/>
            <a:stCxn id="6" idx="3"/>
            <a:endCxn id="7" idx="1"/>
          </p:cNvCxnSpPr>
          <p:nvPr/>
        </p:nvCxnSpPr>
        <p:spPr>
          <a:xfrm flipV="1">
            <a:off x="9182750" y="4600164"/>
            <a:ext cx="886386" cy="4899"/>
          </a:xfrm>
          <a:prstGeom prst="straightConnector1">
            <a:avLst/>
          </a:prstGeom>
          <a:ln w="38100">
            <a:solidFill>
              <a:srgbClr val="FF0000"/>
            </a:solidFill>
            <a:prstDash val="dashDot"/>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11" name="直線單箭頭接點 10">
            <a:extLst>
              <a:ext uri="{FF2B5EF4-FFF2-40B4-BE49-F238E27FC236}">
                <a16:creationId xmlns:a16="http://schemas.microsoft.com/office/drawing/2014/main" id="{C05001AC-D8FC-432E-8870-A825112211E3}"/>
              </a:ext>
            </a:extLst>
          </p:cNvPr>
          <p:cNvCxnSpPr>
            <a:cxnSpLocks/>
            <a:stCxn id="7" idx="2"/>
            <a:endCxn id="8" idx="0"/>
          </p:cNvCxnSpPr>
          <p:nvPr/>
        </p:nvCxnSpPr>
        <p:spPr>
          <a:xfrm>
            <a:off x="10981438" y="4869731"/>
            <a:ext cx="0" cy="534203"/>
          </a:xfrm>
          <a:prstGeom prst="straightConnector1">
            <a:avLst/>
          </a:prstGeom>
          <a:ln w="28575">
            <a:solidFill>
              <a:srgbClr val="0000FF"/>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2" name="直線單箭頭接點 11">
            <a:extLst>
              <a:ext uri="{FF2B5EF4-FFF2-40B4-BE49-F238E27FC236}">
                <a16:creationId xmlns:a16="http://schemas.microsoft.com/office/drawing/2014/main" id="{93C6B84F-D420-4D11-98B1-5F057092CCB0}"/>
              </a:ext>
            </a:extLst>
          </p:cNvPr>
          <p:cNvCxnSpPr>
            <a:cxnSpLocks/>
          </p:cNvCxnSpPr>
          <p:nvPr/>
        </p:nvCxnSpPr>
        <p:spPr>
          <a:xfrm flipH="1">
            <a:off x="9208666" y="5673503"/>
            <a:ext cx="836533" cy="10267"/>
          </a:xfrm>
          <a:prstGeom prst="straightConnector1">
            <a:avLst/>
          </a:prstGeom>
          <a:ln w="38100">
            <a:solidFill>
              <a:srgbClr val="FF0000"/>
            </a:solidFill>
            <a:prstDash val="dashDot"/>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0745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C84A8CE-65B0-498A-95B5-CC59DB0DAECE}"/>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B9D0F24D-369B-46C2-BABE-77868EBC8218}"/>
              </a:ext>
            </a:extLst>
          </p:cNvPr>
          <p:cNvSpPr>
            <a:spLocks noGrp="1"/>
          </p:cNvSpPr>
          <p:nvPr>
            <p:ph idx="1"/>
          </p:nvPr>
        </p:nvSpPr>
        <p:spPr/>
        <p:txBody>
          <a:bodyPr/>
          <a:lstStyle/>
          <a:p>
            <a:endParaRPr lang="zh-TW" altLang="en-US"/>
          </a:p>
        </p:txBody>
      </p:sp>
      <p:pic>
        <p:nvPicPr>
          <p:cNvPr id="4" name="table">
            <a:extLst>
              <a:ext uri="{FF2B5EF4-FFF2-40B4-BE49-F238E27FC236}">
                <a16:creationId xmlns:a16="http://schemas.microsoft.com/office/drawing/2014/main" id="{613577AD-4EE2-4858-9FC9-B3D5D0F9B271}"/>
              </a:ext>
            </a:extLst>
          </p:cNvPr>
          <p:cNvPicPr>
            <a:picLocks noChangeAspect="1"/>
          </p:cNvPicPr>
          <p:nvPr/>
        </p:nvPicPr>
        <p:blipFill>
          <a:blip r:embed="rId2"/>
          <a:stretch>
            <a:fillRect/>
          </a:stretch>
        </p:blipFill>
        <p:spPr>
          <a:xfrm>
            <a:off x="1649999" y="729000"/>
            <a:ext cx="8892000" cy="5400000"/>
          </a:xfrm>
          <a:prstGeom prst="rect">
            <a:avLst/>
          </a:prstGeom>
        </p:spPr>
      </p:pic>
      <p:sp>
        <p:nvSpPr>
          <p:cNvPr id="5" name="矩形 4">
            <a:extLst>
              <a:ext uri="{FF2B5EF4-FFF2-40B4-BE49-F238E27FC236}">
                <a16:creationId xmlns:a16="http://schemas.microsoft.com/office/drawing/2014/main" id="{6679DCCF-5E2D-43F2-95F0-75C9EE2BCC72}"/>
              </a:ext>
            </a:extLst>
          </p:cNvPr>
          <p:cNvSpPr/>
          <p:nvPr/>
        </p:nvSpPr>
        <p:spPr>
          <a:xfrm>
            <a:off x="1636351" y="2870691"/>
            <a:ext cx="973829" cy="219046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TW" altLang="en-US"/>
          </a:p>
        </p:txBody>
      </p:sp>
      <p:sp>
        <p:nvSpPr>
          <p:cNvPr id="6" name="矩形 5">
            <a:extLst>
              <a:ext uri="{FF2B5EF4-FFF2-40B4-BE49-F238E27FC236}">
                <a16:creationId xmlns:a16="http://schemas.microsoft.com/office/drawing/2014/main" id="{9DED0AC8-56F1-4669-BCE9-F1700CAAA67B}"/>
              </a:ext>
            </a:extLst>
          </p:cNvPr>
          <p:cNvSpPr/>
          <p:nvPr/>
        </p:nvSpPr>
        <p:spPr>
          <a:xfrm>
            <a:off x="9847742" y="2870691"/>
            <a:ext cx="707906" cy="219046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TW" altLang="en-US"/>
          </a:p>
        </p:txBody>
      </p:sp>
    </p:spTree>
    <p:extLst>
      <p:ext uri="{BB962C8B-B14F-4D97-AF65-F5344CB8AC3E}">
        <p14:creationId xmlns:p14="http://schemas.microsoft.com/office/powerpoint/2010/main" val="20653163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p:cNvSpPr/>
          <p:nvPr/>
        </p:nvSpPr>
        <p:spPr>
          <a:xfrm>
            <a:off x="2647125" y="3767089"/>
            <a:ext cx="1080000" cy="2952000"/>
          </a:xfrm>
          <a:prstGeom prst="rect">
            <a:avLst/>
          </a:prstGeom>
          <a:solidFill>
            <a:srgbClr val="ED7D31">
              <a:alpha val="40000"/>
            </a:srgb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矩形 28"/>
          <p:cNvSpPr/>
          <p:nvPr/>
        </p:nvSpPr>
        <p:spPr>
          <a:xfrm>
            <a:off x="7023140" y="3771352"/>
            <a:ext cx="1080000" cy="2952000"/>
          </a:xfrm>
          <a:prstGeom prst="rect">
            <a:avLst/>
          </a:prstGeom>
          <a:solidFill>
            <a:srgbClr val="ED7D31">
              <a:alpha val="40000"/>
            </a:srgb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矩形 29"/>
          <p:cNvSpPr/>
          <p:nvPr/>
        </p:nvSpPr>
        <p:spPr>
          <a:xfrm>
            <a:off x="3732667" y="3771352"/>
            <a:ext cx="1080000" cy="2952000"/>
          </a:xfrm>
          <a:prstGeom prst="rect">
            <a:avLst/>
          </a:prstGeom>
          <a:solidFill>
            <a:schemeClr val="accent1">
              <a:alpha val="4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矩形 32"/>
          <p:cNvSpPr/>
          <p:nvPr/>
        </p:nvSpPr>
        <p:spPr>
          <a:xfrm>
            <a:off x="4809870" y="3769313"/>
            <a:ext cx="1080000" cy="2952000"/>
          </a:xfrm>
          <a:prstGeom prst="rect">
            <a:avLst/>
          </a:prstGeom>
          <a:solidFill>
            <a:schemeClr val="accent6">
              <a:alpha val="4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矩形 33"/>
          <p:cNvSpPr/>
          <p:nvPr/>
        </p:nvSpPr>
        <p:spPr>
          <a:xfrm>
            <a:off x="8103858" y="3771051"/>
            <a:ext cx="1080000" cy="2952000"/>
          </a:xfrm>
          <a:prstGeom prst="rect">
            <a:avLst/>
          </a:prstGeom>
          <a:solidFill>
            <a:schemeClr val="accent1">
              <a:alpha val="4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矩形 34"/>
          <p:cNvSpPr/>
          <p:nvPr/>
        </p:nvSpPr>
        <p:spPr>
          <a:xfrm>
            <a:off x="9187696" y="3771051"/>
            <a:ext cx="1080000" cy="2952000"/>
          </a:xfrm>
          <a:prstGeom prst="rect">
            <a:avLst/>
          </a:prstGeom>
          <a:solidFill>
            <a:schemeClr val="accent6">
              <a:alpha val="4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矩形 35"/>
          <p:cNvSpPr/>
          <p:nvPr/>
        </p:nvSpPr>
        <p:spPr>
          <a:xfrm>
            <a:off x="2716837" y="1535341"/>
            <a:ext cx="1829497" cy="369393"/>
          </a:xfrm>
          <a:prstGeom prst="rect">
            <a:avLst/>
          </a:prstGeom>
          <a:solidFill>
            <a:srgbClr val="ED7D31">
              <a:alpha val="40000"/>
            </a:srgbClr>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矩形 36"/>
          <p:cNvSpPr/>
          <p:nvPr/>
        </p:nvSpPr>
        <p:spPr>
          <a:xfrm>
            <a:off x="2722157" y="1938736"/>
            <a:ext cx="1829497" cy="369393"/>
          </a:xfrm>
          <a:prstGeom prst="rect">
            <a:avLst/>
          </a:prstGeom>
          <a:solidFill>
            <a:schemeClr val="accent1">
              <a:alpha val="40000"/>
            </a:schemeClr>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 name="矩形 37"/>
          <p:cNvSpPr/>
          <p:nvPr/>
        </p:nvSpPr>
        <p:spPr>
          <a:xfrm>
            <a:off x="2716837" y="2300719"/>
            <a:ext cx="1829497" cy="369393"/>
          </a:xfrm>
          <a:prstGeom prst="rect">
            <a:avLst/>
          </a:prstGeom>
          <a:solidFill>
            <a:schemeClr val="accent6">
              <a:alpha val="40000"/>
            </a:schemeClr>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graphicFrame>
            <p:nvGraphicFramePr>
              <p:cNvPr id="31" name="表格 30"/>
              <p:cNvGraphicFramePr>
                <a:graphicFrameLocks noGrp="1"/>
              </p:cNvGraphicFramePr>
              <p:nvPr/>
            </p:nvGraphicFramePr>
            <p:xfrm>
              <a:off x="6300000" y="2660754"/>
              <a:ext cx="3960000" cy="4053905"/>
            </p:xfrm>
            <a:graphic>
              <a:graphicData uri="http://schemas.openxmlformats.org/drawingml/2006/table">
                <a:tbl>
                  <a:tblPr firstRow="1" bandRow="1">
                    <a:tableStyleId>{5940675A-B579-460E-94D1-54222C63F5DA}</a:tableStyleId>
                  </a:tblPr>
                  <a:tblGrid>
                    <a:gridCol w="360000">
                      <a:extLst>
                        <a:ext uri="{9D8B030D-6E8A-4147-A177-3AD203B41FA5}">
                          <a16:colId xmlns:a16="http://schemas.microsoft.com/office/drawing/2014/main" val="2702153692"/>
                        </a:ext>
                      </a:extLst>
                    </a:gridCol>
                    <a:gridCol w="360000">
                      <a:extLst>
                        <a:ext uri="{9D8B030D-6E8A-4147-A177-3AD203B41FA5}">
                          <a16:colId xmlns:a16="http://schemas.microsoft.com/office/drawing/2014/main" val="122811012"/>
                        </a:ext>
                      </a:extLst>
                    </a:gridCol>
                    <a:gridCol w="360000">
                      <a:extLst>
                        <a:ext uri="{9D8B030D-6E8A-4147-A177-3AD203B41FA5}">
                          <a16:colId xmlns:a16="http://schemas.microsoft.com/office/drawing/2014/main" val="835919203"/>
                        </a:ext>
                      </a:extLst>
                    </a:gridCol>
                    <a:gridCol w="360000">
                      <a:extLst>
                        <a:ext uri="{9D8B030D-6E8A-4147-A177-3AD203B41FA5}">
                          <a16:colId xmlns:a16="http://schemas.microsoft.com/office/drawing/2014/main" val="1619107429"/>
                        </a:ext>
                      </a:extLst>
                    </a:gridCol>
                    <a:gridCol w="360000">
                      <a:extLst>
                        <a:ext uri="{9D8B030D-6E8A-4147-A177-3AD203B41FA5}">
                          <a16:colId xmlns:a16="http://schemas.microsoft.com/office/drawing/2014/main" val="2000173800"/>
                        </a:ext>
                      </a:extLst>
                    </a:gridCol>
                    <a:gridCol w="360000">
                      <a:extLst>
                        <a:ext uri="{9D8B030D-6E8A-4147-A177-3AD203B41FA5}">
                          <a16:colId xmlns:a16="http://schemas.microsoft.com/office/drawing/2014/main" val="2936943231"/>
                        </a:ext>
                      </a:extLst>
                    </a:gridCol>
                    <a:gridCol w="360000">
                      <a:extLst>
                        <a:ext uri="{9D8B030D-6E8A-4147-A177-3AD203B41FA5}">
                          <a16:colId xmlns:a16="http://schemas.microsoft.com/office/drawing/2014/main" val="901059968"/>
                        </a:ext>
                      </a:extLst>
                    </a:gridCol>
                    <a:gridCol w="360000">
                      <a:extLst>
                        <a:ext uri="{9D8B030D-6E8A-4147-A177-3AD203B41FA5}">
                          <a16:colId xmlns:a16="http://schemas.microsoft.com/office/drawing/2014/main" val="3756777949"/>
                        </a:ext>
                      </a:extLst>
                    </a:gridCol>
                    <a:gridCol w="360000">
                      <a:extLst>
                        <a:ext uri="{9D8B030D-6E8A-4147-A177-3AD203B41FA5}">
                          <a16:colId xmlns:a16="http://schemas.microsoft.com/office/drawing/2014/main" val="2146270772"/>
                        </a:ext>
                      </a:extLst>
                    </a:gridCol>
                    <a:gridCol w="360000">
                      <a:extLst>
                        <a:ext uri="{9D8B030D-6E8A-4147-A177-3AD203B41FA5}">
                          <a16:colId xmlns:a16="http://schemas.microsoft.com/office/drawing/2014/main" val="4001691182"/>
                        </a:ext>
                      </a:extLst>
                    </a:gridCol>
                    <a:gridCol w="360000">
                      <a:extLst>
                        <a:ext uri="{9D8B030D-6E8A-4147-A177-3AD203B41FA5}">
                          <a16:colId xmlns:a16="http://schemas.microsoft.com/office/drawing/2014/main" val="1825885578"/>
                        </a:ext>
                      </a:extLst>
                    </a:gridCol>
                  </a:tblGrid>
                  <a:tr h="0">
                    <a:tc>
                      <a:txBody>
                        <a:bodyPr/>
                        <a:lstStyle/>
                        <a:p>
                          <a:pPr algn="ctr"/>
                          <a:endParaRPr lang="zh-TW" altLang="en-US" sz="18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gridSpan="10">
                      <a:txBody>
                        <a:bodyPr/>
                        <a:lstStyle/>
                        <a:p>
                          <a:pPr algn="ctr"/>
                          <a:r>
                            <a:rPr lang="en-US" altLang="zh-TW" sz="1800" dirty="0"/>
                            <a:t>Matrix B</a:t>
                          </a:r>
                          <a:endParaRPr lang="zh-TW" altLang="en-US" sz="18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8429601"/>
                      </a:ext>
                    </a:extLst>
                  </a:tr>
                  <a:tr h="0">
                    <a:tc>
                      <a:txBody>
                        <a:bodyPr/>
                        <a:lstStyle/>
                        <a:p>
                          <a:pPr algn="ctr"/>
                          <a:endParaRPr lang="zh-TW" altLang="en-US" sz="18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zh-TW" altLang="en-US" sz="18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gridSpan="3">
                      <a:txBody>
                        <a:bodyPr/>
                        <a:lstStyle/>
                        <a:p>
                          <a:pPr algn="ctr"/>
                          <a14:m>
                            <m:oMathPara xmlns:m="http://schemas.openxmlformats.org/officeDocument/2006/math">
                              <m:oMathParaPr>
                                <m:jc m:val="centerGroup"/>
                              </m:oMathParaPr>
                              <m:oMath xmlns:m="http://schemas.openxmlformats.org/officeDocument/2006/math">
                                <m:sSub>
                                  <m:sSubPr>
                                    <m:ctrlPr>
                                      <a:rPr lang="en-US" altLang="zh-TW" sz="1800" b="0" i="1" smtClean="0">
                                        <a:latin typeface="Cambria Math" panose="02040503050406030204" pitchFamily="18" charset="0"/>
                                      </a:rPr>
                                    </m:ctrlPr>
                                  </m:sSubPr>
                                  <m:e>
                                    <m:r>
                                      <a:rPr lang="en-US" altLang="zh-TW" sz="1800" b="0" i="1" smtClean="0">
                                        <a:latin typeface="Cambria Math" panose="02040503050406030204" pitchFamily="18" charset="0"/>
                                      </a:rPr>
                                      <m:t>𝐶</m:t>
                                    </m:r>
                                  </m:e>
                                  <m:sub>
                                    <m:r>
                                      <a:rPr lang="en-US" altLang="zh-TW" sz="1800" b="0" i="1" smtClean="0">
                                        <a:latin typeface="Cambria Math" panose="02040503050406030204" pitchFamily="18" charset="0"/>
                                      </a:rPr>
                                      <m:t>1</m:t>
                                    </m:r>
                                  </m:sub>
                                </m:sSub>
                              </m:oMath>
                            </m:oMathPara>
                          </a14:m>
                          <a:endParaRPr lang="zh-TW" altLang="en-US" sz="1800" dirty="0"/>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000" dirty="0"/>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000" dirty="0"/>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3">
                      <a:txBody>
                        <a:bodyPr/>
                        <a:lstStyle/>
                        <a:p>
                          <a:pPr algn="ctr"/>
                          <a14:m>
                            <m:oMathPara xmlns:m="http://schemas.openxmlformats.org/officeDocument/2006/math">
                              <m:oMathParaPr>
                                <m:jc m:val="centerGroup"/>
                              </m:oMathParaPr>
                              <m:oMath xmlns:m="http://schemas.openxmlformats.org/officeDocument/2006/math">
                                <m:sSub>
                                  <m:sSubPr>
                                    <m:ctrlPr>
                                      <a:rPr lang="en-US" altLang="zh-TW" sz="1800" b="0" i="1" smtClean="0">
                                        <a:latin typeface="Cambria Math" panose="02040503050406030204" pitchFamily="18" charset="0"/>
                                      </a:rPr>
                                    </m:ctrlPr>
                                  </m:sSubPr>
                                  <m:e>
                                    <m:r>
                                      <a:rPr lang="en-US" altLang="zh-TW" sz="1800" b="0" i="1" smtClean="0">
                                        <a:latin typeface="Cambria Math" panose="02040503050406030204" pitchFamily="18" charset="0"/>
                                      </a:rPr>
                                      <m:t>𝐶</m:t>
                                    </m:r>
                                  </m:e>
                                  <m:sub>
                                    <m:r>
                                      <a:rPr lang="en-US" altLang="zh-TW" sz="1800" b="0" i="1" smtClean="0">
                                        <a:latin typeface="Cambria Math" panose="02040503050406030204" pitchFamily="18" charset="0"/>
                                      </a:rPr>
                                      <m:t>2</m:t>
                                    </m:r>
                                  </m:sub>
                                </m:sSub>
                              </m:oMath>
                            </m:oMathPara>
                          </a14:m>
                          <a:endParaRPr lang="zh-TW" altLang="en-US" sz="1800" dirty="0"/>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000" dirty="0"/>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000" dirty="0"/>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3">
                      <a:txBody>
                        <a:bodyPr/>
                        <a:lstStyle/>
                        <a:p>
                          <a:pPr algn="ctr"/>
                          <a14:m>
                            <m:oMathPara xmlns:m="http://schemas.openxmlformats.org/officeDocument/2006/math">
                              <m:oMathParaPr>
                                <m:jc m:val="centerGroup"/>
                              </m:oMathParaPr>
                              <m:oMath xmlns:m="http://schemas.openxmlformats.org/officeDocument/2006/math">
                                <m:sSub>
                                  <m:sSubPr>
                                    <m:ctrlPr>
                                      <a:rPr lang="en-US" altLang="zh-TW" sz="1800" b="0" i="1" smtClean="0">
                                        <a:latin typeface="Cambria Math" panose="02040503050406030204" pitchFamily="18" charset="0"/>
                                      </a:rPr>
                                    </m:ctrlPr>
                                  </m:sSubPr>
                                  <m:e>
                                    <m:r>
                                      <a:rPr lang="en-US" altLang="zh-TW" sz="1800" b="0" i="1" smtClean="0">
                                        <a:latin typeface="Cambria Math" panose="02040503050406030204" pitchFamily="18" charset="0"/>
                                      </a:rPr>
                                      <m:t>𝐶</m:t>
                                    </m:r>
                                  </m:e>
                                  <m:sub>
                                    <m:r>
                                      <a:rPr lang="en-US" altLang="zh-TW" sz="1800" b="0" i="1" smtClean="0">
                                        <a:latin typeface="Cambria Math" panose="02040503050406030204" pitchFamily="18" charset="0"/>
                                      </a:rPr>
                                      <m:t>3</m:t>
                                    </m:r>
                                  </m:sub>
                                </m:sSub>
                              </m:oMath>
                            </m:oMathPara>
                          </a14:m>
                          <a:endParaRPr lang="zh-TW" altLang="en-US" sz="1800" dirty="0"/>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000" dirty="0"/>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000" dirty="0"/>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21887638"/>
                      </a:ext>
                    </a:extLst>
                  </a:tr>
                  <a:tr h="0">
                    <a:tc>
                      <a:txBody>
                        <a:bodyPr/>
                        <a:lstStyle/>
                        <a:p>
                          <a:pPr algn="ctr"/>
                          <a:endParaRPr lang="zh-TW" altLang="en-US" sz="18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zh-TW" altLang="en-US" sz="18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1800" dirty="0"/>
                            <a:t>1</a:t>
                          </a:r>
                          <a:endParaRPr lang="zh-TW" altLang="en-US" sz="18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800" dirty="0"/>
                            <a:t>2</a:t>
                          </a:r>
                          <a:endParaRPr lang="zh-TW" altLang="en-US" sz="18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800" dirty="0"/>
                            <a:t>3</a:t>
                          </a:r>
                          <a:endParaRPr lang="zh-TW" altLang="en-US" sz="18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800" dirty="0"/>
                            <a:t>4</a:t>
                          </a:r>
                          <a:endParaRPr lang="zh-TW" altLang="en-US" sz="18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800" dirty="0"/>
                            <a:t>5</a:t>
                          </a:r>
                          <a:endParaRPr lang="zh-TW" altLang="en-US" sz="18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800" dirty="0"/>
                            <a:t>6</a:t>
                          </a:r>
                          <a:endParaRPr lang="zh-TW" altLang="en-US" sz="18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800" dirty="0"/>
                            <a:t>7</a:t>
                          </a:r>
                          <a:endParaRPr lang="zh-TW" altLang="en-US" sz="18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800" dirty="0"/>
                            <a:t>8</a:t>
                          </a:r>
                          <a:endParaRPr lang="zh-TW" altLang="en-US" sz="18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800" dirty="0"/>
                            <a:t>9</a:t>
                          </a:r>
                          <a:endParaRPr lang="zh-TW" altLang="en-US" sz="18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98706228"/>
                      </a:ext>
                    </a:extLst>
                  </a:tr>
                  <a:tr h="0">
                    <a:tc>
                      <a:txBody>
                        <a:bodyPr/>
                        <a:lstStyle/>
                        <a:p>
                          <a:pPr algn="ctr"/>
                          <a14:m>
                            <m:oMathPara xmlns:m="http://schemas.openxmlformats.org/officeDocument/2006/math">
                              <m:oMathParaPr>
                                <m:jc m:val="centerGroup"/>
                              </m:oMathParaPr>
                              <m:oMath xmlns:m="http://schemas.openxmlformats.org/officeDocument/2006/math">
                                <m:bar>
                                  <m:barPr>
                                    <m:pos m:val="top"/>
                                    <m:ctrlPr>
                                      <a:rPr lang="en-US" altLang="zh-TW" sz="1800" i="1" smtClean="0">
                                        <a:latin typeface="Cambria Math" panose="02040503050406030204" pitchFamily="18" charset="0"/>
                                      </a:rPr>
                                    </m:ctrlPr>
                                  </m:barPr>
                                  <m:e>
                                    <m:sSub>
                                      <m:sSubPr>
                                        <m:ctrlPr>
                                          <a:rPr lang="en-US" altLang="zh-TW" sz="1800" i="1" smtClean="0">
                                            <a:latin typeface="Cambria Math" panose="02040503050406030204" pitchFamily="18" charset="0"/>
                                          </a:rPr>
                                        </m:ctrlPr>
                                      </m:sSubPr>
                                      <m:e>
                                        <m:r>
                                          <a:rPr lang="en-US" altLang="zh-TW" sz="1800" b="0" i="1" smtClean="0">
                                            <a:latin typeface="Cambria Math" panose="02040503050406030204" pitchFamily="18" charset="0"/>
                                          </a:rPr>
                                          <m:t>𝑥</m:t>
                                        </m:r>
                                      </m:e>
                                      <m:sub>
                                        <m:r>
                                          <a:rPr lang="en-US" altLang="zh-TW" sz="1800" b="0" i="1" smtClean="0">
                                            <a:latin typeface="Cambria Math" panose="02040503050406030204" pitchFamily="18" charset="0"/>
                                          </a:rPr>
                                          <m:t>1</m:t>
                                        </m:r>
                                      </m:sub>
                                    </m:sSub>
                                  </m:e>
                                </m:bar>
                              </m:oMath>
                            </m:oMathPara>
                          </a14:m>
                          <a:endParaRPr lang="zh-TW" altLang="en-US" sz="1800" dirty="0"/>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1800" dirty="0"/>
                            <a:t>1</a:t>
                          </a:r>
                          <a:endParaRPr lang="zh-TW" altLang="en-US" sz="18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14:m>
                            <m:oMathPara xmlns:m="http://schemas.openxmlformats.org/officeDocument/2006/math">
                              <m:oMathParaPr>
                                <m:jc m:val="centerGroup"/>
                              </m:oMathParaPr>
                              <m:oMath xmlns:m="http://schemas.openxmlformats.org/officeDocument/2006/math">
                                <m:r>
                                  <a:rPr lang="zh-TW" altLang="en-US" sz="1800" i="1" smtClean="0">
                                    <a:latin typeface="Cambria Math" panose="02040503050406030204" pitchFamily="18" charset="0"/>
                                  </a:rPr>
                                  <m:t>𝛽</m:t>
                                </m:r>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Sup>
                                  <m:sSubSupPr>
                                    <m:ctrlPr>
                                      <a:rPr lang="en-US" altLang="zh-TW" sz="1800" i="1" smtClean="0">
                                        <a:latin typeface="Cambria Math" panose="02040503050406030204" pitchFamily="18" charset="0"/>
                                      </a:rPr>
                                    </m:ctrlPr>
                                  </m:sSubSupPr>
                                  <m:e>
                                    <m:r>
                                      <a:rPr lang="en-US" altLang="zh-TW" sz="1800" b="0" i="1" smtClean="0">
                                        <a:latin typeface="Cambria Math" panose="02040503050406030204" pitchFamily="18" charset="0"/>
                                      </a:rPr>
                                      <m:t>𝑙</m:t>
                                    </m:r>
                                  </m:e>
                                  <m:sub>
                                    <m:r>
                                      <a:rPr lang="en-US" altLang="zh-TW" sz="1800" b="0" i="1" smtClean="0">
                                        <a:latin typeface="Cambria Math" panose="02040503050406030204" pitchFamily="18" charset="0"/>
                                      </a:rPr>
                                      <m:t>1</m:t>
                                    </m:r>
                                  </m:sub>
                                  <m:sup>
                                    <m:r>
                                      <a:rPr lang="en-US" altLang="zh-TW" sz="1800" b="0" i="1" smtClean="0">
                                        <a:latin typeface="Cambria Math" panose="02040503050406030204" pitchFamily="18" charset="0"/>
                                      </a:rPr>
                                      <m:t>3</m:t>
                                    </m:r>
                                  </m:sup>
                                </m:sSubSup>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2121216"/>
                      </a:ext>
                    </a:extLst>
                  </a:tr>
                  <a:tr h="0">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1800" i="1" smtClean="0">
                                        <a:latin typeface="Cambria Math" panose="02040503050406030204" pitchFamily="18" charset="0"/>
                                      </a:rPr>
                                    </m:ctrlPr>
                                  </m:sSubPr>
                                  <m:e>
                                    <m:r>
                                      <a:rPr lang="en-US" altLang="zh-TW" sz="1800" b="0" i="1" smtClean="0">
                                        <a:latin typeface="Cambria Math" panose="02040503050406030204" pitchFamily="18" charset="0"/>
                                      </a:rPr>
                                      <m:t>𝑥</m:t>
                                    </m:r>
                                  </m:e>
                                  <m:sub>
                                    <m:r>
                                      <a:rPr lang="en-US" altLang="zh-TW" sz="1800" b="0" i="1" smtClean="0">
                                        <a:latin typeface="Cambria Math" panose="02040503050406030204" pitchFamily="18" charset="0"/>
                                      </a:rPr>
                                      <m:t>1</m:t>
                                    </m:r>
                                  </m:sub>
                                </m:sSub>
                              </m:oMath>
                            </m:oMathPara>
                          </a14:m>
                          <a:endParaRPr lang="zh-TW" altLang="en-US" sz="1800" dirty="0"/>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1800" dirty="0"/>
                            <a:t>2</a:t>
                          </a:r>
                          <a:endParaRPr lang="zh-TW" altLang="en-US" sz="18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Sup>
                                  <m:sSubSupPr>
                                    <m:ctrlPr>
                                      <a:rPr lang="en-US" altLang="zh-TW" sz="1800" i="1" smtClean="0">
                                        <a:latin typeface="Cambria Math" panose="02040503050406030204" pitchFamily="18" charset="0"/>
                                      </a:rPr>
                                    </m:ctrlPr>
                                  </m:sSubSupPr>
                                  <m:e>
                                    <m:r>
                                      <a:rPr lang="en-US" altLang="zh-TW" sz="1800" b="0" i="1" smtClean="0">
                                        <a:latin typeface="Cambria Math" panose="02040503050406030204" pitchFamily="18" charset="0"/>
                                      </a:rPr>
                                      <m:t>𝑙</m:t>
                                    </m:r>
                                  </m:e>
                                  <m:sub>
                                    <m:r>
                                      <a:rPr lang="en-US" altLang="zh-TW" sz="1800" b="0" i="1" smtClean="0">
                                        <a:latin typeface="Cambria Math" panose="02040503050406030204" pitchFamily="18" charset="0"/>
                                      </a:rPr>
                                      <m:t>1</m:t>
                                    </m:r>
                                  </m:sub>
                                  <m:sup>
                                    <m:r>
                                      <a:rPr lang="en-US" altLang="zh-TW" sz="1800" b="0" i="1" smtClean="0">
                                        <a:latin typeface="Cambria Math" panose="02040503050406030204" pitchFamily="18" charset="0"/>
                                      </a:rPr>
                                      <m:t>1</m:t>
                                    </m:r>
                                  </m:sup>
                                </m:sSubSup>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Sup>
                                  <m:sSubSupPr>
                                    <m:ctrlPr>
                                      <a:rPr lang="en-US" altLang="zh-TW" sz="1800" i="1" smtClean="0">
                                        <a:latin typeface="Cambria Math" panose="02040503050406030204" pitchFamily="18" charset="0"/>
                                      </a:rPr>
                                    </m:ctrlPr>
                                  </m:sSubSupPr>
                                  <m:e>
                                    <m:r>
                                      <a:rPr lang="en-US" altLang="zh-TW" sz="1800" b="0" i="1" smtClean="0">
                                        <a:latin typeface="Cambria Math" panose="02040503050406030204" pitchFamily="18" charset="0"/>
                                      </a:rPr>
                                      <m:t>𝑙</m:t>
                                    </m:r>
                                  </m:e>
                                  <m:sub>
                                    <m:r>
                                      <a:rPr lang="en-US" altLang="zh-TW" sz="1800" b="0" i="1" smtClean="0">
                                        <a:latin typeface="Cambria Math" panose="02040503050406030204" pitchFamily="18" charset="0"/>
                                      </a:rPr>
                                      <m:t>1</m:t>
                                    </m:r>
                                  </m:sub>
                                  <m:sup>
                                    <m:r>
                                      <a:rPr lang="en-US" altLang="zh-TW" sz="1800" b="0" i="1" smtClean="0">
                                        <a:latin typeface="Cambria Math" panose="02040503050406030204" pitchFamily="18" charset="0"/>
                                      </a:rPr>
                                      <m:t>2</m:t>
                                    </m:r>
                                  </m:sup>
                                </m:sSubSup>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92435610"/>
                      </a:ext>
                    </a:extLst>
                  </a:tr>
                  <a:tr h="0">
                    <a:tc>
                      <a:txBody>
                        <a:bodyPr/>
                        <a:lstStyle/>
                        <a:p>
                          <a:pPr algn="ctr"/>
                          <a14:m>
                            <m:oMathPara xmlns:m="http://schemas.openxmlformats.org/officeDocument/2006/math">
                              <m:oMathParaPr>
                                <m:jc m:val="centerGroup"/>
                              </m:oMathParaPr>
                              <m:oMath xmlns:m="http://schemas.openxmlformats.org/officeDocument/2006/math">
                                <m:bar>
                                  <m:barPr>
                                    <m:pos m:val="top"/>
                                    <m:ctrlPr>
                                      <a:rPr lang="en-US" altLang="zh-TW" sz="1800" i="1" smtClean="0">
                                        <a:latin typeface="Cambria Math" panose="02040503050406030204" pitchFamily="18" charset="0"/>
                                      </a:rPr>
                                    </m:ctrlPr>
                                  </m:barPr>
                                  <m:e>
                                    <m:sSub>
                                      <m:sSubPr>
                                        <m:ctrlPr>
                                          <a:rPr lang="en-US" altLang="zh-TW" sz="1800" i="1" smtClean="0">
                                            <a:latin typeface="Cambria Math" panose="02040503050406030204" pitchFamily="18" charset="0"/>
                                          </a:rPr>
                                        </m:ctrlPr>
                                      </m:sSubPr>
                                      <m:e>
                                        <m:r>
                                          <a:rPr lang="en-US" altLang="zh-TW" sz="1800" b="0" i="1" smtClean="0">
                                            <a:latin typeface="Cambria Math" panose="02040503050406030204" pitchFamily="18" charset="0"/>
                                          </a:rPr>
                                          <m:t>𝑥</m:t>
                                        </m:r>
                                      </m:e>
                                      <m:sub>
                                        <m:r>
                                          <a:rPr lang="en-US" altLang="zh-TW" sz="1800" b="0" i="1" smtClean="0">
                                            <a:latin typeface="Cambria Math" panose="02040503050406030204" pitchFamily="18" charset="0"/>
                                          </a:rPr>
                                          <m:t>2</m:t>
                                        </m:r>
                                      </m:sub>
                                    </m:sSub>
                                  </m:e>
                                </m:bar>
                              </m:oMath>
                            </m:oMathPara>
                          </a14:m>
                          <a:endParaRPr lang="zh-TW" altLang="en-US" sz="1800" dirty="0"/>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1800" dirty="0"/>
                            <a:t>3</a:t>
                          </a:r>
                          <a:endParaRPr lang="zh-TW" altLang="en-US" sz="18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575981"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1800" i="1" smtClean="0">
                                        <a:latin typeface="Cambria Math" panose="02040503050406030204" pitchFamily="18" charset="0"/>
                                      </a:rPr>
                                    </m:ctrlPr>
                                  </m:sSubSupPr>
                                  <m:e>
                                    <m:r>
                                      <a:rPr lang="en-US" altLang="zh-TW" sz="1800" b="0" i="1" smtClean="0">
                                        <a:latin typeface="Cambria Math" panose="02040503050406030204" pitchFamily="18" charset="0"/>
                                      </a:rPr>
                                      <m:t>𝑙</m:t>
                                    </m:r>
                                  </m:e>
                                  <m:sub>
                                    <m:r>
                                      <a:rPr lang="en-US" altLang="zh-TW" sz="1800" b="0" i="1" smtClean="0">
                                        <a:latin typeface="Cambria Math" panose="02040503050406030204" pitchFamily="18" charset="0"/>
                                      </a:rPr>
                                      <m:t>3</m:t>
                                    </m:r>
                                  </m:sub>
                                  <m:sup>
                                    <m:r>
                                      <a:rPr lang="en-US" altLang="zh-TW" sz="1800" b="0" i="1" smtClean="0">
                                        <a:latin typeface="Cambria Math" panose="02040503050406030204" pitchFamily="18" charset="0"/>
                                      </a:rPr>
                                      <m:t>2</m:t>
                                    </m:r>
                                  </m:sup>
                                </m:sSubSup>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Sup>
                                  <m:sSubSupPr>
                                    <m:ctrlPr>
                                      <a:rPr lang="en-US" altLang="zh-TW" sz="1800" i="1" smtClean="0">
                                        <a:latin typeface="Cambria Math" panose="02040503050406030204" pitchFamily="18" charset="0"/>
                                      </a:rPr>
                                    </m:ctrlPr>
                                  </m:sSubSupPr>
                                  <m:e>
                                    <m:r>
                                      <a:rPr lang="en-US" altLang="zh-TW" sz="1800" b="0" i="1" smtClean="0">
                                        <a:latin typeface="Cambria Math" panose="02040503050406030204" pitchFamily="18" charset="0"/>
                                      </a:rPr>
                                      <m:t>𝑙</m:t>
                                    </m:r>
                                  </m:e>
                                  <m:sub>
                                    <m:r>
                                      <a:rPr lang="en-US" altLang="zh-TW" sz="1800" b="0" i="1" smtClean="0">
                                        <a:latin typeface="Cambria Math" panose="02040503050406030204" pitchFamily="18" charset="0"/>
                                      </a:rPr>
                                      <m:t>2</m:t>
                                    </m:r>
                                  </m:sub>
                                  <m:sup>
                                    <m:r>
                                      <a:rPr lang="en-US" altLang="zh-TW" sz="1800" b="0" i="1" smtClean="0">
                                        <a:latin typeface="Cambria Math" panose="02040503050406030204" pitchFamily="18" charset="0"/>
                                      </a:rPr>
                                      <m:t>3</m:t>
                                    </m:r>
                                  </m:sup>
                                </m:sSubSup>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zh-TW" altLang="en-US" sz="1800" i="1" smtClean="0">
                                    <a:latin typeface="Cambria Math" panose="02040503050406030204" pitchFamily="18" charset="0"/>
                                  </a:rPr>
                                  <m:t>𝛽</m:t>
                                </m:r>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54765373"/>
                      </a:ext>
                    </a:extLst>
                  </a:tr>
                  <a:tr h="0">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1800" i="1" smtClean="0">
                                        <a:latin typeface="Cambria Math" panose="02040503050406030204" pitchFamily="18" charset="0"/>
                                      </a:rPr>
                                    </m:ctrlPr>
                                  </m:sSubPr>
                                  <m:e>
                                    <m:r>
                                      <a:rPr lang="en-US" altLang="zh-TW" sz="1800" b="0" i="1" smtClean="0">
                                        <a:latin typeface="Cambria Math" panose="02040503050406030204" pitchFamily="18" charset="0"/>
                                      </a:rPr>
                                      <m:t>𝑥</m:t>
                                    </m:r>
                                  </m:e>
                                  <m:sub>
                                    <m:r>
                                      <a:rPr lang="en-US" altLang="zh-TW" sz="1800" b="0" i="1" smtClean="0">
                                        <a:latin typeface="Cambria Math" panose="02040503050406030204" pitchFamily="18" charset="0"/>
                                      </a:rPr>
                                      <m:t>2</m:t>
                                    </m:r>
                                  </m:sub>
                                </m:sSub>
                              </m:oMath>
                            </m:oMathPara>
                          </a14:m>
                          <a:endParaRPr lang="zh-TW" altLang="en-US" sz="1800" dirty="0"/>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1800" dirty="0"/>
                            <a:t>4</a:t>
                          </a:r>
                          <a:endParaRPr lang="zh-TW" altLang="en-US" sz="18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Sup>
                                  <m:sSubSupPr>
                                    <m:ctrlPr>
                                      <a:rPr lang="en-US" altLang="zh-TW" sz="1800" i="1" smtClean="0">
                                        <a:latin typeface="Cambria Math" panose="02040503050406030204" pitchFamily="18" charset="0"/>
                                      </a:rPr>
                                    </m:ctrlPr>
                                  </m:sSubSupPr>
                                  <m:e>
                                    <m:r>
                                      <a:rPr lang="en-US" altLang="zh-TW" sz="1800" b="0" i="1" smtClean="0">
                                        <a:latin typeface="Cambria Math" panose="02040503050406030204" pitchFamily="18" charset="0"/>
                                      </a:rPr>
                                      <m:t>𝑙</m:t>
                                    </m:r>
                                  </m:e>
                                  <m:sub>
                                    <m:r>
                                      <a:rPr lang="en-US" altLang="zh-TW" sz="1800" b="0" i="1" smtClean="0">
                                        <a:latin typeface="Cambria Math" panose="02040503050406030204" pitchFamily="18" charset="0"/>
                                      </a:rPr>
                                      <m:t>2</m:t>
                                    </m:r>
                                  </m:sub>
                                  <m:sup>
                                    <m:r>
                                      <a:rPr lang="en-US" altLang="zh-TW" sz="1800" b="0" i="1" smtClean="0">
                                        <a:latin typeface="Cambria Math" panose="02040503050406030204" pitchFamily="18" charset="0"/>
                                      </a:rPr>
                                      <m:t>1</m:t>
                                    </m:r>
                                  </m:sup>
                                </m:sSubSup>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69180369"/>
                      </a:ext>
                    </a:extLst>
                  </a:tr>
                  <a:tr h="0">
                    <a:tc>
                      <a:txBody>
                        <a:bodyPr/>
                        <a:lstStyle/>
                        <a:p>
                          <a:pPr algn="ctr"/>
                          <a14:m>
                            <m:oMathPara xmlns:m="http://schemas.openxmlformats.org/officeDocument/2006/math">
                              <m:oMathParaPr>
                                <m:jc m:val="centerGroup"/>
                              </m:oMathParaPr>
                              <m:oMath xmlns:m="http://schemas.openxmlformats.org/officeDocument/2006/math">
                                <m:bar>
                                  <m:barPr>
                                    <m:pos m:val="top"/>
                                    <m:ctrlPr>
                                      <a:rPr lang="en-US" altLang="zh-TW" sz="1800" i="1" smtClean="0">
                                        <a:latin typeface="Cambria Math" panose="02040503050406030204" pitchFamily="18" charset="0"/>
                                      </a:rPr>
                                    </m:ctrlPr>
                                  </m:barPr>
                                  <m:e>
                                    <m:sSub>
                                      <m:sSubPr>
                                        <m:ctrlPr>
                                          <a:rPr lang="en-US" altLang="zh-TW" sz="1800" i="1" smtClean="0">
                                            <a:latin typeface="Cambria Math" panose="02040503050406030204" pitchFamily="18" charset="0"/>
                                          </a:rPr>
                                        </m:ctrlPr>
                                      </m:sSubPr>
                                      <m:e>
                                        <m:r>
                                          <a:rPr lang="en-US" altLang="zh-TW" sz="1800" b="0" i="1" smtClean="0">
                                            <a:latin typeface="Cambria Math" panose="02040503050406030204" pitchFamily="18" charset="0"/>
                                          </a:rPr>
                                          <m:t>𝑥</m:t>
                                        </m:r>
                                      </m:e>
                                      <m:sub>
                                        <m:r>
                                          <a:rPr lang="en-US" altLang="zh-TW" sz="1800" b="0" i="1" smtClean="0">
                                            <a:latin typeface="Cambria Math" panose="02040503050406030204" pitchFamily="18" charset="0"/>
                                          </a:rPr>
                                          <m:t>3</m:t>
                                        </m:r>
                                      </m:sub>
                                    </m:sSub>
                                  </m:e>
                                </m:bar>
                              </m:oMath>
                            </m:oMathPara>
                          </a14:m>
                          <a:endParaRPr lang="zh-TW" altLang="en-US" sz="1800" dirty="0"/>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1800" dirty="0"/>
                            <a:t>5</a:t>
                          </a:r>
                          <a:endParaRPr lang="zh-TW" altLang="en-US" sz="18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Sup>
                                  <m:sSubSupPr>
                                    <m:ctrlPr>
                                      <a:rPr lang="en-US" altLang="zh-TW" sz="1800" i="1" smtClean="0">
                                        <a:latin typeface="Cambria Math" panose="02040503050406030204" pitchFamily="18" charset="0"/>
                                      </a:rPr>
                                    </m:ctrlPr>
                                  </m:sSubSupPr>
                                  <m:e>
                                    <m:r>
                                      <a:rPr lang="en-US" altLang="zh-TW" sz="1800" b="0" i="1" smtClean="0">
                                        <a:latin typeface="Cambria Math" panose="02040503050406030204" pitchFamily="18" charset="0"/>
                                      </a:rPr>
                                      <m:t>𝑙</m:t>
                                    </m:r>
                                  </m:e>
                                  <m:sub>
                                    <m:r>
                                      <a:rPr lang="en-US" altLang="zh-TW" sz="1800" b="0" i="1" smtClean="0">
                                        <a:latin typeface="Cambria Math" panose="02040503050406030204" pitchFamily="18" charset="0"/>
                                      </a:rPr>
                                      <m:t>2</m:t>
                                    </m:r>
                                  </m:sub>
                                  <m:sup>
                                    <m:r>
                                      <a:rPr lang="en-US" altLang="zh-TW" sz="1800" b="0" i="1" smtClean="0">
                                        <a:latin typeface="Cambria Math" panose="02040503050406030204" pitchFamily="18" charset="0"/>
                                      </a:rPr>
                                      <m:t>2</m:t>
                                    </m:r>
                                  </m:sup>
                                </m:sSubSup>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39250096"/>
                      </a:ext>
                    </a:extLst>
                  </a:tr>
                  <a:tr h="0">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1800" i="1" smtClean="0">
                                        <a:latin typeface="Cambria Math" panose="02040503050406030204" pitchFamily="18" charset="0"/>
                                      </a:rPr>
                                    </m:ctrlPr>
                                  </m:sSubPr>
                                  <m:e>
                                    <m:r>
                                      <a:rPr lang="en-US" altLang="zh-TW" sz="1800" b="0" i="1" smtClean="0">
                                        <a:latin typeface="Cambria Math" panose="02040503050406030204" pitchFamily="18" charset="0"/>
                                      </a:rPr>
                                      <m:t>𝑥</m:t>
                                    </m:r>
                                  </m:e>
                                  <m:sub>
                                    <m:r>
                                      <a:rPr lang="en-US" altLang="zh-TW" sz="1800" b="0" i="1" smtClean="0">
                                        <a:latin typeface="Cambria Math" panose="02040503050406030204" pitchFamily="18" charset="0"/>
                                      </a:rPr>
                                      <m:t>2</m:t>
                                    </m:r>
                                  </m:sub>
                                </m:sSub>
                              </m:oMath>
                            </m:oMathPara>
                          </a14:m>
                          <a:endParaRPr lang="zh-TW" altLang="en-US" sz="1800" dirty="0"/>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1800" dirty="0"/>
                            <a:t>6</a:t>
                          </a:r>
                          <a:endParaRPr lang="zh-TW" altLang="en-US" sz="18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14:m>
                            <m:oMathPara xmlns:m="http://schemas.openxmlformats.org/officeDocument/2006/math">
                              <m:oMathParaPr>
                                <m:jc m:val="centerGroup"/>
                              </m:oMathParaPr>
                              <m:oMath xmlns:m="http://schemas.openxmlformats.org/officeDocument/2006/math">
                                <m:sSubSup>
                                  <m:sSubSupPr>
                                    <m:ctrlPr>
                                      <a:rPr lang="en-US" altLang="zh-TW" sz="1800" i="1" smtClean="0">
                                        <a:latin typeface="Cambria Math" panose="02040503050406030204" pitchFamily="18" charset="0"/>
                                      </a:rPr>
                                    </m:ctrlPr>
                                  </m:sSubSupPr>
                                  <m:e>
                                    <m:r>
                                      <a:rPr lang="en-US" altLang="zh-TW" sz="1800" b="0" i="1" smtClean="0">
                                        <a:latin typeface="Cambria Math" panose="02040503050406030204" pitchFamily="18" charset="0"/>
                                      </a:rPr>
                                      <m:t>𝑙</m:t>
                                    </m:r>
                                  </m:e>
                                  <m:sub>
                                    <m:r>
                                      <a:rPr lang="en-US" altLang="zh-TW" sz="1800" b="0" i="1" smtClean="0">
                                        <a:latin typeface="Cambria Math" panose="02040503050406030204" pitchFamily="18" charset="0"/>
                                      </a:rPr>
                                      <m:t>3</m:t>
                                    </m:r>
                                  </m:sub>
                                  <m:sup>
                                    <m:r>
                                      <a:rPr lang="en-US" altLang="zh-TW" sz="1800" b="0" i="1" smtClean="0">
                                        <a:latin typeface="Cambria Math" panose="02040503050406030204" pitchFamily="18" charset="0"/>
                                      </a:rPr>
                                      <m:t>1</m:t>
                                    </m:r>
                                  </m:sup>
                                </m:sSubSup>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72840707"/>
                      </a:ext>
                    </a:extLst>
                  </a:tr>
                  <a:tr h="0">
                    <a:tc>
                      <a:txBody>
                        <a:bodyPr/>
                        <a:lstStyle/>
                        <a:p>
                          <a:pPr algn="ctr"/>
                          <a14:m>
                            <m:oMathPara xmlns:m="http://schemas.openxmlformats.org/officeDocument/2006/math">
                              <m:oMathParaPr>
                                <m:jc m:val="centerGroup"/>
                              </m:oMathParaPr>
                              <m:oMath xmlns:m="http://schemas.openxmlformats.org/officeDocument/2006/math">
                                <m:bar>
                                  <m:barPr>
                                    <m:pos m:val="top"/>
                                    <m:ctrlPr>
                                      <a:rPr lang="en-US" altLang="zh-TW" sz="1800" i="1" smtClean="0">
                                        <a:latin typeface="Cambria Math" panose="02040503050406030204" pitchFamily="18" charset="0"/>
                                      </a:rPr>
                                    </m:ctrlPr>
                                  </m:barPr>
                                  <m:e>
                                    <m:sSub>
                                      <m:sSubPr>
                                        <m:ctrlPr>
                                          <a:rPr lang="en-US" altLang="zh-TW" sz="1800" i="1" smtClean="0">
                                            <a:latin typeface="Cambria Math" panose="02040503050406030204" pitchFamily="18" charset="0"/>
                                          </a:rPr>
                                        </m:ctrlPr>
                                      </m:sSubPr>
                                      <m:e>
                                        <m:r>
                                          <a:rPr lang="en-US" altLang="zh-TW" sz="1800" b="0" i="1" smtClean="0">
                                            <a:latin typeface="Cambria Math" panose="02040503050406030204" pitchFamily="18" charset="0"/>
                                          </a:rPr>
                                          <m:t>𝑥</m:t>
                                        </m:r>
                                      </m:e>
                                      <m:sub>
                                        <m:r>
                                          <a:rPr lang="en-US" altLang="zh-TW" sz="1800" b="0" i="1" smtClean="0">
                                            <a:latin typeface="Cambria Math" panose="02040503050406030204" pitchFamily="18" charset="0"/>
                                          </a:rPr>
                                          <m:t>1</m:t>
                                        </m:r>
                                      </m:sub>
                                    </m:sSub>
                                  </m:e>
                                </m:bar>
                              </m:oMath>
                            </m:oMathPara>
                          </a14:m>
                          <a:endParaRPr lang="zh-TW" altLang="en-US" sz="1800" dirty="0"/>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1800" dirty="0"/>
                            <a:t>7</a:t>
                          </a:r>
                          <a:endParaRPr lang="zh-TW" altLang="en-US" sz="18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19523155"/>
                      </a:ext>
                    </a:extLst>
                  </a:tr>
                  <a:tr h="0">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1800" i="1" smtClean="0">
                                        <a:latin typeface="Cambria Math" panose="02040503050406030204" pitchFamily="18" charset="0"/>
                                      </a:rPr>
                                    </m:ctrlPr>
                                  </m:sSubPr>
                                  <m:e>
                                    <m:r>
                                      <a:rPr lang="en-US" altLang="zh-TW" sz="1800" b="0" i="1" smtClean="0">
                                        <a:latin typeface="Cambria Math" panose="02040503050406030204" pitchFamily="18" charset="0"/>
                                      </a:rPr>
                                      <m:t>𝑥</m:t>
                                    </m:r>
                                  </m:e>
                                  <m:sub>
                                    <m:r>
                                      <a:rPr lang="en-US" altLang="zh-TW" sz="1800" b="0" i="1" smtClean="0">
                                        <a:latin typeface="Cambria Math" panose="02040503050406030204" pitchFamily="18" charset="0"/>
                                      </a:rPr>
                                      <m:t>2</m:t>
                                    </m:r>
                                  </m:sub>
                                </m:sSub>
                              </m:oMath>
                            </m:oMathPara>
                          </a14:m>
                          <a:endParaRPr lang="zh-TW" altLang="en-US" sz="1800" dirty="0"/>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1800" dirty="0"/>
                            <a:t>8</a:t>
                          </a:r>
                          <a:endParaRPr lang="zh-TW" altLang="en-US" sz="18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Sup>
                                  <m:sSubSupPr>
                                    <m:ctrlPr>
                                      <a:rPr lang="en-US" altLang="zh-TW" sz="1800" i="1" smtClean="0">
                                        <a:latin typeface="Cambria Math" panose="02040503050406030204" pitchFamily="18" charset="0"/>
                                      </a:rPr>
                                    </m:ctrlPr>
                                  </m:sSubSupPr>
                                  <m:e>
                                    <m:r>
                                      <a:rPr lang="en-US" altLang="zh-TW" sz="1800" b="0" i="1" smtClean="0">
                                        <a:latin typeface="Cambria Math" panose="02040503050406030204" pitchFamily="18" charset="0"/>
                                      </a:rPr>
                                      <m:t>𝑙</m:t>
                                    </m:r>
                                  </m:e>
                                  <m:sub>
                                    <m:r>
                                      <a:rPr lang="en-US" altLang="zh-TW" sz="1800" b="0" i="1" smtClean="0">
                                        <a:latin typeface="Cambria Math" panose="02040503050406030204" pitchFamily="18" charset="0"/>
                                      </a:rPr>
                                      <m:t>3</m:t>
                                    </m:r>
                                  </m:sub>
                                  <m:sup>
                                    <m:r>
                                      <a:rPr lang="en-US" altLang="zh-TW" sz="1800" b="0" i="1" smtClean="0">
                                        <a:latin typeface="Cambria Math" panose="02040503050406030204" pitchFamily="18" charset="0"/>
                                      </a:rPr>
                                      <m:t>3</m:t>
                                    </m:r>
                                  </m:sup>
                                </m:sSubSup>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01978662"/>
                      </a:ext>
                    </a:extLst>
                  </a:tr>
                </a:tbl>
              </a:graphicData>
            </a:graphic>
          </p:graphicFrame>
        </mc:Choice>
        <mc:Fallback xmlns="">
          <p:graphicFrame>
            <p:nvGraphicFramePr>
              <p:cNvPr id="31" name="表格 30"/>
              <p:cNvGraphicFramePr>
                <a:graphicFrameLocks noGrp="1"/>
              </p:cNvGraphicFramePr>
              <p:nvPr/>
            </p:nvGraphicFramePr>
            <p:xfrm>
              <a:off x="6300000" y="2660754"/>
              <a:ext cx="3960000" cy="4053905"/>
            </p:xfrm>
            <a:graphic>
              <a:graphicData uri="http://schemas.openxmlformats.org/drawingml/2006/table">
                <a:tbl>
                  <a:tblPr firstRow="1" bandRow="1">
                    <a:tableStyleId>{5940675A-B579-460E-94D1-54222C63F5DA}</a:tableStyleId>
                  </a:tblPr>
                  <a:tblGrid>
                    <a:gridCol w="360000">
                      <a:extLst>
                        <a:ext uri="{9D8B030D-6E8A-4147-A177-3AD203B41FA5}">
                          <a16:colId xmlns:a16="http://schemas.microsoft.com/office/drawing/2014/main" val="2702153692"/>
                        </a:ext>
                      </a:extLst>
                    </a:gridCol>
                    <a:gridCol w="360000">
                      <a:extLst>
                        <a:ext uri="{9D8B030D-6E8A-4147-A177-3AD203B41FA5}">
                          <a16:colId xmlns:a16="http://schemas.microsoft.com/office/drawing/2014/main" val="122811012"/>
                        </a:ext>
                      </a:extLst>
                    </a:gridCol>
                    <a:gridCol w="360000">
                      <a:extLst>
                        <a:ext uri="{9D8B030D-6E8A-4147-A177-3AD203B41FA5}">
                          <a16:colId xmlns:a16="http://schemas.microsoft.com/office/drawing/2014/main" val="835919203"/>
                        </a:ext>
                      </a:extLst>
                    </a:gridCol>
                    <a:gridCol w="360000">
                      <a:extLst>
                        <a:ext uri="{9D8B030D-6E8A-4147-A177-3AD203B41FA5}">
                          <a16:colId xmlns:a16="http://schemas.microsoft.com/office/drawing/2014/main" val="1619107429"/>
                        </a:ext>
                      </a:extLst>
                    </a:gridCol>
                    <a:gridCol w="360000">
                      <a:extLst>
                        <a:ext uri="{9D8B030D-6E8A-4147-A177-3AD203B41FA5}">
                          <a16:colId xmlns:a16="http://schemas.microsoft.com/office/drawing/2014/main" val="2000173800"/>
                        </a:ext>
                      </a:extLst>
                    </a:gridCol>
                    <a:gridCol w="360000">
                      <a:extLst>
                        <a:ext uri="{9D8B030D-6E8A-4147-A177-3AD203B41FA5}">
                          <a16:colId xmlns:a16="http://schemas.microsoft.com/office/drawing/2014/main" val="2936943231"/>
                        </a:ext>
                      </a:extLst>
                    </a:gridCol>
                    <a:gridCol w="360000">
                      <a:extLst>
                        <a:ext uri="{9D8B030D-6E8A-4147-A177-3AD203B41FA5}">
                          <a16:colId xmlns:a16="http://schemas.microsoft.com/office/drawing/2014/main" val="901059968"/>
                        </a:ext>
                      </a:extLst>
                    </a:gridCol>
                    <a:gridCol w="360000">
                      <a:extLst>
                        <a:ext uri="{9D8B030D-6E8A-4147-A177-3AD203B41FA5}">
                          <a16:colId xmlns:a16="http://schemas.microsoft.com/office/drawing/2014/main" val="3756777949"/>
                        </a:ext>
                      </a:extLst>
                    </a:gridCol>
                    <a:gridCol w="360000">
                      <a:extLst>
                        <a:ext uri="{9D8B030D-6E8A-4147-A177-3AD203B41FA5}">
                          <a16:colId xmlns:a16="http://schemas.microsoft.com/office/drawing/2014/main" val="2146270772"/>
                        </a:ext>
                      </a:extLst>
                    </a:gridCol>
                    <a:gridCol w="360000">
                      <a:extLst>
                        <a:ext uri="{9D8B030D-6E8A-4147-A177-3AD203B41FA5}">
                          <a16:colId xmlns:a16="http://schemas.microsoft.com/office/drawing/2014/main" val="4001691182"/>
                        </a:ext>
                      </a:extLst>
                    </a:gridCol>
                    <a:gridCol w="360000">
                      <a:extLst>
                        <a:ext uri="{9D8B030D-6E8A-4147-A177-3AD203B41FA5}">
                          <a16:colId xmlns:a16="http://schemas.microsoft.com/office/drawing/2014/main" val="1825885578"/>
                        </a:ext>
                      </a:extLst>
                    </a:gridCol>
                  </a:tblGrid>
                  <a:tr h="365760">
                    <a:tc>
                      <a:txBody>
                        <a:bodyPr/>
                        <a:lstStyle/>
                        <a:p>
                          <a:pPr algn="ctr"/>
                          <a:endParaRPr lang="zh-TW" altLang="en-US" sz="18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gridSpan="10">
                      <a:txBody>
                        <a:bodyPr/>
                        <a:lstStyle/>
                        <a:p>
                          <a:pPr algn="ctr"/>
                          <a:r>
                            <a:rPr lang="en-US" altLang="zh-TW" sz="1800" dirty="0"/>
                            <a:t>Matrix B</a:t>
                          </a:r>
                          <a:endParaRPr lang="zh-TW" altLang="en-US" sz="18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8429601"/>
                      </a:ext>
                    </a:extLst>
                  </a:tr>
                  <a:tr h="365760">
                    <a:tc>
                      <a:txBody>
                        <a:bodyPr/>
                        <a:lstStyle/>
                        <a:p>
                          <a:pPr algn="ctr"/>
                          <a:endParaRPr lang="zh-TW" altLang="en-US" sz="18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zh-TW" altLang="en-US" sz="18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gridSpan="3">
                      <a:txBody>
                        <a:bodyPr/>
                        <a:lstStyle/>
                        <a:p>
                          <a:endParaRPr lang="zh-TW"/>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66292" t="-108333" r="-200562" b="-935000"/>
                          </a:stretch>
                        </a:blipFill>
                      </a:tcPr>
                    </a:tc>
                    <a:tc hMerge="1">
                      <a:txBody>
                        <a:bodyPr/>
                        <a:lstStyle/>
                        <a:p>
                          <a:pPr algn="ctr"/>
                          <a:endParaRPr lang="zh-TW" altLang="en-US" sz="2000" dirty="0"/>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000" dirty="0"/>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3">
                      <a:txBody>
                        <a:bodyPr/>
                        <a:lstStyle/>
                        <a:p>
                          <a:endParaRPr lang="zh-TW"/>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167232" t="-108333" r="-101695" b="-935000"/>
                          </a:stretch>
                        </a:blipFill>
                      </a:tcPr>
                    </a:tc>
                    <a:tc hMerge="1">
                      <a:txBody>
                        <a:bodyPr/>
                        <a:lstStyle/>
                        <a:p>
                          <a:pPr algn="ctr"/>
                          <a:endParaRPr lang="zh-TW" altLang="en-US" sz="2000" dirty="0"/>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000" dirty="0"/>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3">
                      <a:txBody>
                        <a:bodyPr/>
                        <a:lstStyle/>
                        <a:p>
                          <a:endParaRPr lang="zh-TW"/>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265730" t="-108333" r="-1124" b="-935000"/>
                          </a:stretch>
                        </a:blipFill>
                      </a:tcPr>
                    </a:tc>
                    <a:tc hMerge="1">
                      <a:txBody>
                        <a:bodyPr/>
                        <a:lstStyle/>
                        <a:p>
                          <a:pPr algn="ctr"/>
                          <a:endParaRPr lang="zh-TW" altLang="en-US" sz="2000" dirty="0"/>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000" dirty="0"/>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21887638"/>
                      </a:ext>
                    </a:extLst>
                  </a:tr>
                  <a:tr h="365760">
                    <a:tc>
                      <a:txBody>
                        <a:bodyPr/>
                        <a:lstStyle/>
                        <a:p>
                          <a:pPr algn="ctr"/>
                          <a:endParaRPr lang="zh-TW" altLang="en-US" sz="18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zh-TW" altLang="en-US" sz="18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1800" dirty="0"/>
                            <a:t>1</a:t>
                          </a:r>
                          <a:endParaRPr lang="zh-TW" altLang="en-US" sz="18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800" dirty="0"/>
                            <a:t>2</a:t>
                          </a:r>
                          <a:endParaRPr lang="zh-TW" altLang="en-US" sz="18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800" dirty="0"/>
                            <a:t>3</a:t>
                          </a:r>
                          <a:endParaRPr lang="zh-TW" altLang="en-US" sz="18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800" dirty="0"/>
                            <a:t>4</a:t>
                          </a:r>
                          <a:endParaRPr lang="zh-TW" altLang="en-US" sz="18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800" dirty="0"/>
                            <a:t>5</a:t>
                          </a:r>
                          <a:endParaRPr lang="zh-TW" altLang="en-US" sz="18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800" dirty="0"/>
                            <a:t>6</a:t>
                          </a:r>
                          <a:endParaRPr lang="zh-TW" altLang="en-US" sz="18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800" dirty="0"/>
                            <a:t>7</a:t>
                          </a:r>
                          <a:endParaRPr lang="zh-TW" altLang="en-US" sz="18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800" dirty="0"/>
                            <a:t>8</a:t>
                          </a:r>
                          <a:endParaRPr lang="zh-TW" altLang="en-US" sz="18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800" dirty="0"/>
                            <a:t>9</a:t>
                          </a:r>
                          <a:endParaRPr lang="zh-TW" altLang="en-US" sz="18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98706228"/>
                      </a:ext>
                    </a:extLst>
                  </a:tr>
                  <a:tr h="370269">
                    <a:tc>
                      <a:txBody>
                        <a:bodyPr/>
                        <a:lstStyle/>
                        <a:p>
                          <a:endParaRPr lang="zh-TW"/>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blipFill>
                          <a:blip r:embed="rId3"/>
                          <a:stretch>
                            <a:fillRect t="-303279" r="-1006780" b="-721311"/>
                          </a:stretch>
                        </a:blipFill>
                      </a:tcPr>
                    </a:tc>
                    <a:tc>
                      <a:txBody>
                        <a:bodyPr/>
                        <a:lstStyle/>
                        <a:p>
                          <a:pPr algn="ctr"/>
                          <a:r>
                            <a:rPr lang="en-US" altLang="zh-TW" sz="1800" dirty="0"/>
                            <a:t>1</a:t>
                          </a:r>
                          <a:endParaRPr lang="zh-TW" altLang="en-US" sz="18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96667" t="-303279" r="-791667" b="-72131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1695" t="-303279" r="-705085" b="-72131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01695" t="-303279" r="-605085" b="-72131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01695" t="-303279" r="-505085" b="-72131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01695" t="-303279" r="-405085" b="-72131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01695" t="-303279" r="-305085" b="-72131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88333" t="-303279" r="-200000" b="-72131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03390" t="-303279" r="-103390" b="-72131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3390" t="-303279" r="-3390" b="-721311"/>
                          </a:stretch>
                        </a:blipFill>
                      </a:tcPr>
                    </a:tc>
                    <a:extLst>
                      <a:ext uri="{0D108BD9-81ED-4DB2-BD59-A6C34878D82A}">
                        <a16:rowId xmlns:a16="http://schemas.microsoft.com/office/drawing/2014/main" val="1642121216"/>
                      </a:ext>
                    </a:extLst>
                  </a:tr>
                  <a:tr h="368935">
                    <a:tc>
                      <a:txBody>
                        <a:bodyPr/>
                        <a:lstStyle/>
                        <a:p>
                          <a:endParaRPr lang="zh-TW"/>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blipFill>
                          <a:blip r:embed="rId3"/>
                          <a:stretch>
                            <a:fillRect t="-403279" r="-1006780" b="-621311"/>
                          </a:stretch>
                        </a:blipFill>
                      </a:tcPr>
                    </a:tc>
                    <a:tc>
                      <a:txBody>
                        <a:bodyPr/>
                        <a:lstStyle/>
                        <a:p>
                          <a:pPr algn="ctr"/>
                          <a:r>
                            <a:rPr lang="en-US" altLang="zh-TW" sz="1800" dirty="0"/>
                            <a:t>2</a:t>
                          </a:r>
                          <a:endParaRPr lang="zh-TW" altLang="en-US" sz="18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96667" t="-403279" r="-791667" b="-62131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1695" t="-403279" r="-705085" b="-62131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01695" t="-403279" r="-605085" b="-62131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01695" t="-403279" r="-505085" b="-62131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01695" t="-403279" r="-405085" b="-62131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01695" t="-403279" r="-305085" b="-62131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88333" t="-403279" r="-200000" b="-62131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03390" t="-403279" r="-103390" b="-62131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3390" t="-403279" r="-3390" b="-621311"/>
                          </a:stretch>
                        </a:blipFill>
                      </a:tcPr>
                    </a:tc>
                    <a:extLst>
                      <a:ext uri="{0D108BD9-81ED-4DB2-BD59-A6C34878D82A}">
                        <a16:rowId xmlns:a16="http://schemas.microsoft.com/office/drawing/2014/main" val="592435610"/>
                      </a:ext>
                    </a:extLst>
                  </a:tr>
                  <a:tr h="370840">
                    <a:tc>
                      <a:txBody>
                        <a:bodyPr/>
                        <a:lstStyle/>
                        <a:p>
                          <a:endParaRPr lang="zh-TW"/>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blipFill>
                          <a:blip r:embed="rId3"/>
                          <a:stretch>
                            <a:fillRect t="-503279" r="-1006780" b="-521311"/>
                          </a:stretch>
                        </a:blipFill>
                      </a:tcPr>
                    </a:tc>
                    <a:tc>
                      <a:txBody>
                        <a:bodyPr/>
                        <a:lstStyle/>
                        <a:p>
                          <a:pPr algn="ctr"/>
                          <a:r>
                            <a:rPr lang="en-US" altLang="zh-TW" sz="1800" dirty="0"/>
                            <a:t>3</a:t>
                          </a:r>
                          <a:endParaRPr lang="zh-TW" altLang="en-US" sz="18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96667" t="-503279" r="-791667" b="-52131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1695" t="-503279" r="-705085" b="-52131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01695" t="-503279" r="-605085" b="-52131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01695" t="-503279" r="-505085" b="-52131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01695" t="-503279" r="-405085" b="-52131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01695" t="-503279" r="-305085" b="-52131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88333" t="-503279" r="-200000" b="-52131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03390" t="-503279" r="-103390" b="-52131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3390" t="-503279" r="-3390" b="-521311"/>
                          </a:stretch>
                        </a:blipFill>
                      </a:tcPr>
                    </a:tc>
                    <a:extLst>
                      <a:ext uri="{0D108BD9-81ED-4DB2-BD59-A6C34878D82A}">
                        <a16:rowId xmlns:a16="http://schemas.microsoft.com/office/drawing/2014/main" val="1454765373"/>
                      </a:ext>
                    </a:extLst>
                  </a:tr>
                  <a:tr h="368872">
                    <a:tc>
                      <a:txBody>
                        <a:bodyPr/>
                        <a:lstStyle/>
                        <a:p>
                          <a:endParaRPr lang="zh-TW"/>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blipFill>
                          <a:blip r:embed="rId3"/>
                          <a:stretch>
                            <a:fillRect t="-613333" r="-1006780" b="-430000"/>
                          </a:stretch>
                        </a:blipFill>
                      </a:tcPr>
                    </a:tc>
                    <a:tc>
                      <a:txBody>
                        <a:bodyPr/>
                        <a:lstStyle/>
                        <a:p>
                          <a:pPr algn="ctr"/>
                          <a:r>
                            <a:rPr lang="en-US" altLang="zh-TW" sz="1800" dirty="0"/>
                            <a:t>4</a:t>
                          </a:r>
                          <a:endParaRPr lang="zh-TW" altLang="en-US" sz="18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96667" t="-613333" r="-791667" b="-43000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1695" t="-613333" r="-705085" b="-43000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01695" t="-613333" r="-605085" b="-43000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01695" t="-613333" r="-505085" b="-43000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01695" t="-613333" r="-405085" b="-43000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01695" t="-613333" r="-305085" b="-43000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88333" t="-613333" r="-200000" b="-43000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03390" t="-613333" r="-103390" b="-43000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3390" t="-613333" r="-3390" b="-430000"/>
                          </a:stretch>
                        </a:blipFill>
                      </a:tcPr>
                    </a:tc>
                    <a:extLst>
                      <a:ext uri="{0D108BD9-81ED-4DB2-BD59-A6C34878D82A}">
                        <a16:rowId xmlns:a16="http://schemas.microsoft.com/office/drawing/2014/main" val="1969180369"/>
                      </a:ext>
                    </a:extLst>
                  </a:tr>
                  <a:tr h="369443">
                    <a:tc>
                      <a:txBody>
                        <a:bodyPr/>
                        <a:lstStyle/>
                        <a:p>
                          <a:endParaRPr lang="zh-TW"/>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blipFill>
                          <a:blip r:embed="rId3"/>
                          <a:stretch>
                            <a:fillRect t="-701639" r="-1006780" b="-322951"/>
                          </a:stretch>
                        </a:blipFill>
                      </a:tcPr>
                    </a:tc>
                    <a:tc>
                      <a:txBody>
                        <a:bodyPr/>
                        <a:lstStyle/>
                        <a:p>
                          <a:pPr algn="ctr"/>
                          <a:r>
                            <a:rPr lang="en-US" altLang="zh-TW" sz="1800" dirty="0"/>
                            <a:t>5</a:t>
                          </a:r>
                          <a:endParaRPr lang="zh-TW" altLang="en-US" sz="18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96667" t="-701639" r="-791667" b="-32295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1695" t="-701639" r="-705085" b="-32295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01695" t="-701639" r="-605085" b="-32295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01695" t="-701639" r="-505085" b="-32295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01695" t="-701639" r="-405085" b="-32295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01695" t="-701639" r="-305085" b="-32295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88333" t="-701639" r="-200000" b="-32295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03390" t="-701639" r="-103390" b="-32295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3390" t="-701639" r="-3390" b="-322951"/>
                          </a:stretch>
                        </a:blipFill>
                      </a:tcPr>
                    </a:tc>
                    <a:extLst>
                      <a:ext uri="{0D108BD9-81ED-4DB2-BD59-A6C34878D82A}">
                        <a16:rowId xmlns:a16="http://schemas.microsoft.com/office/drawing/2014/main" val="539250096"/>
                      </a:ext>
                    </a:extLst>
                  </a:tr>
                  <a:tr h="370269">
                    <a:tc>
                      <a:txBody>
                        <a:bodyPr/>
                        <a:lstStyle/>
                        <a:p>
                          <a:endParaRPr lang="zh-TW"/>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blipFill>
                          <a:blip r:embed="rId3"/>
                          <a:stretch>
                            <a:fillRect t="-801639" r="-1006780" b="-222951"/>
                          </a:stretch>
                        </a:blipFill>
                      </a:tcPr>
                    </a:tc>
                    <a:tc>
                      <a:txBody>
                        <a:bodyPr/>
                        <a:lstStyle/>
                        <a:p>
                          <a:pPr algn="ctr"/>
                          <a:r>
                            <a:rPr lang="en-US" altLang="zh-TW" sz="1800" dirty="0"/>
                            <a:t>6</a:t>
                          </a:r>
                          <a:endParaRPr lang="zh-TW" altLang="en-US" sz="18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96667" t="-801639" r="-791667" b="-22295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1695" t="-801639" r="-705085" b="-22295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01695" t="-801639" r="-605085" b="-22295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01695" t="-801639" r="-505085" b="-22295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01695" t="-801639" r="-405085" b="-22295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01695" t="-801639" r="-305085" b="-22295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88333" t="-801639" r="-200000" b="-22295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03390" t="-801639" r="-103390" b="-22295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3390" t="-801639" r="-3390" b="-222951"/>
                          </a:stretch>
                        </a:blipFill>
                      </a:tcPr>
                    </a:tc>
                    <a:extLst>
                      <a:ext uri="{0D108BD9-81ED-4DB2-BD59-A6C34878D82A}">
                        <a16:rowId xmlns:a16="http://schemas.microsoft.com/office/drawing/2014/main" val="872840707"/>
                      </a:ext>
                    </a:extLst>
                  </a:tr>
                  <a:tr h="365760">
                    <a:tc>
                      <a:txBody>
                        <a:bodyPr/>
                        <a:lstStyle/>
                        <a:p>
                          <a:endParaRPr lang="zh-TW"/>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blipFill>
                          <a:blip r:embed="rId3"/>
                          <a:stretch>
                            <a:fillRect t="-916667" r="-1006780" b="-126667"/>
                          </a:stretch>
                        </a:blipFill>
                      </a:tcPr>
                    </a:tc>
                    <a:tc>
                      <a:txBody>
                        <a:bodyPr/>
                        <a:lstStyle/>
                        <a:p>
                          <a:pPr algn="ctr"/>
                          <a:r>
                            <a:rPr lang="en-US" altLang="zh-TW" sz="1800" dirty="0"/>
                            <a:t>7</a:t>
                          </a:r>
                          <a:endParaRPr lang="zh-TW" altLang="en-US" sz="18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96667" t="-916667" r="-791667" b="-126667"/>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1695" t="-916667" r="-705085" b="-126667"/>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01695" t="-916667" r="-605085" b="-126667"/>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01695" t="-916667" r="-505085" b="-126667"/>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01695" t="-916667" r="-405085" b="-126667"/>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01695" t="-916667" r="-305085" b="-126667"/>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88333" t="-916667" r="-200000" b="-126667"/>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03390" t="-916667" r="-103390" b="-126667"/>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3390" t="-916667" r="-3390" b="-126667"/>
                          </a:stretch>
                        </a:blipFill>
                      </a:tcPr>
                    </a:tc>
                    <a:extLst>
                      <a:ext uri="{0D108BD9-81ED-4DB2-BD59-A6C34878D82A}">
                        <a16:rowId xmlns:a16="http://schemas.microsoft.com/office/drawing/2014/main" val="3919523155"/>
                      </a:ext>
                    </a:extLst>
                  </a:tr>
                  <a:tr h="372237">
                    <a:tc>
                      <a:txBody>
                        <a:bodyPr/>
                        <a:lstStyle/>
                        <a:p>
                          <a:endParaRPr lang="zh-TW"/>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blipFill>
                          <a:blip r:embed="rId3"/>
                          <a:stretch>
                            <a:fillRect t="-1000000" r="-1006780" b="-24590"/>
                          </a:stretch>
                        </a:blipFill>
                      </a:tcPr>
                    </a:tc>
                    <a:tc>
                      <a:txBody>
                        <a:bodyPr/>
                        <a:lstStyle/>
                        <a:p>
                          <a:pPr algn="ctr"/>
                          <a:r>
                            <a:rPr lang="en-US" altLang="zh-TW" sz="1800" dirty="0"/>
                            <a:t>8</a:t>
                          </a:r>
                          <a:endParaRPr lang="zh-TW" altLang="en-US" sz="18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96667" t="-1000000" r="-791667" b="-2459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1695" t="-1000000" r="-705085" b="-2459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01695" t="-1000000" r="-605085" b="-2459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01695" t="-1000000" r="-505085" b="-2459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01695" t="-1000000" r="-405085" b="-2459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01695" t="-1000000" r="-305085" b="-2459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88333" t="-1000000" r="-200000" b="-2459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03390" t="-1000000" r="-103390" b="-2459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3390" t="-1000000" r="-3390" b="-24590"/>
                          </a:stretch>
                        </a:blipFill>
                      </a:tcPr>
                    </a:tc>
                    <a:extLst>
                      <a:ext uri="{0D108BD9-81ED-4DB2-BD59-A6C34878D82A}">
                        <a16:rowId xmlns:a16="http://schemas.microsoft.com/office/drawing/2014/main" val="1201978662"/>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2" name="表格 31"/>
              <p:cNvGraphicFramePr>
                <a:graphicFrameLocks noGrp="1"/>
              </p:cNvGraphicFramePr>
              <p:nvPr/>
            </p:nvGraphicFramePr>
            <p:xfrm>
              <a:off x="1932000" y="2673454"/>
              <a:ext cx="3960000" cy="4053905"/>
            </p:xfrm>
            <a:graphic>
              <a:graphicData uri="http://schemas.openxmlformats.org/drawingml/2006/table">
                <a:tbl>
                  <a:tblPr firstRow="1" bandRow="1">
                    <a:tableStyleId>{5940675A-B579-460E-94D1-54222C63F5DA}</a:tableStyleId>
                  </a:tblPr>
                  <a:tblGrid>
                    <a:gridCol w="360000">
                      <a:extLst>
                        <a:ext uri="{9D8B030D-6E8A-4147-A177-3AD203B41FA5}">
                          <a16:colId xmlns:a16="http://schemas.microsoft.com/office/drawing/2014/main" val="4073095714"/>
                        </a:ext>
                      </a:extLst>
                    </a:gridCol>
                    <a:gridCol w="360000">
                      <a:extLst>
                        <a:ext uri="{9D8B030D-6E8A-4147-A177-3AD203B41FA5}">
                          <a16:colId xmlns:a16="http://schemas.microsoft.com/office/drawing/2014/main" val="122811012"/>
                        </a:ext>
                      </a:extLst>
                    </a:gridCol>
                    <a:gridCol w="360000">
                      <a:extLst>
                        <a:ext uri="{9D8B030D-6E8A-4147-A177-3AD203B41FA5}">
                          <a16:colId xmlns:a16="http://schemas.microsoft.com/office/drawing/2014/main" val="835919203"/>
                        </a:ext>
                      </a:extLst>
                    </a:gridCol>
                    <a:gridCol w="360000">
                      <a:extLst>
                        <a:ext uri="{9D8B030D-6E8A-4147-A177-3AD203B41FA5}">
                          <a16:colId xmlns:a16="http://schemas.microsoft.com/office/drawing/2014/main" val="1619107429"/>
                        </a:ext>
                      </a:extLst>
                    </a:gridCol>
                    <a:gridCol w="360000">
                      <a:extLst>
                        <a:ext uri="{9D8B030D-6E8A-4147-A177-3AD203B41FA5}">
                          <a16:colId xmlns:a16="http://schemas.microsoft.com/office/drawing/2014/main" val="2000173800"/>
                        </a:ext>
                      </a:extLst>
                    </a:gridCol>
                    <a:gridCol w="360000">
                      <a:extLst>
                        <a:ext uri="{9D8B030D-6E8A-4147-A177-3AD203B41FA5}">
                          <a16:colId xmlns:a16="http://schemas.microsoft.com/office/drawing/2014/main" val="2936943231"/>
                        </a:ext>
                      </a:extLst>
                    </a:gridCol>
                    <a:gridCol w="360000">
                      <a:extLst>
                        <a:ext uri="{9D8B030D-6E8A-4147-A177-3AD203B41FA5}">
                          <a16:colId xmlns:a16="http://schemas.microsoft.com/office/drawing/2014/main" val="901059968"/>
                        </a:ext>
                      </a:extLst>
                    </a:gridCol>
                    <a:gridCol w="360000">
                      <a:extLst>
                        <a:ext uri="{9D8B030D-6E8A-4147-A177-3AD203B41FA5}">
                          <a16:colId xmlns:a16="http://schemas.microsoft.com/office/drawing/2014/main" val="3756777949"/>
                        </a:ext>
                      </a:extLst>
                    </a:gridCol>
                    <a:gridCol w="360000">
                      <a:extLst>
                        <a:ext uri="{9D8B030D-6E8A-4147-A177-3AD203B41FA5}">
                          <a16:colId xmlns:a16="http://schemas.microsoft.com/office/drawing/2014/main" val="2146270772"/>
                        </a:ext>
                      </a:extLst>
                    </a:gridCol>
                    <a:gridCol w="360000">
                      <a:extLst>
                        <a:ext uri="{9D8B030D-6E8A-4147-A177-3AD203B41FA5}">
                          <a16:colId xmlns:a16="http://schemas.microsoft.com/office/drawing/2014/main" val="4001691182"/>
                        </a:ext>
                      </a:extLst>
                    </a:gridCol>
                    <a:gridCol w="360000">
                      <a:extLst>
                        <a:ext uri="{9D8B030D-6E8A-4147-A177-3AD203B41FA5}">
                          <a16:colId xmlns:a16="http://schemas.microsoft.com/office/drawing/2014/main" val="1825885578"/>
                        </a:ext>
                      </a:extLst>
                    </a:gridCol>
                  </a:tblGrid>
                  <a:tr h="0">
                    <a:tc>
                      <a:txBody>
                        <a:bodyPr/>
                        <a:lstStyle/>
                        <a:p>
                          <a:pPr algn="ctr"/>
                          <a:endParaRPr lang="zh-TW" altLang="en-US" sz="18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gridSpan="10">
                      <a:txBody>
                        <a:bodyPr/>
                        <a:lstStyle/>
                        <a:p>
                          <a:pPr algn="ctr"/>
                          <a:r>
                            <a:rPr lang="en-US" altLang="zh-TW" sz="1800" dirty="0"/>
                            <a:t>Matrix A</a:t>
                          </a:r>
                          <a:endParaRPr lang="zh-TW" altLang="en-US" sz="18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8429601"/>
                      </a:ext>
                    </a:extLst>
                  </a:tr>
                  <a:tr h="0">
                    <a:tc>
                      <a:txBody>
                        <a:bodyPr/>
                        <a:lstStyle/>
                        <a:p>
                          <a:pPr algn="ctr"/>
                          <a:endParaRPr lang="zh-TW" altLang="en-US" sz="18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zh-TW" altLang="en-US" sz="18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gridSpan="3">
                      <a:txBody>
                        <a:bodyPr/>
                        <a:lstStyle/>
                        <a:p>
                          <a:pPr algn="ctr"/>
                          <a14:m>
                            <m:oMathPara xmlns:m="http://schemas.openxmlformats.org/officeDocument/2006/math">
                              <m:oMathParaPr>
                                <m:jc m:val="centerGroup"/>
                              </m:oMathParaPr>
                              <m:oMath xmlns:m="http://schemas.openxmlformats.org/officeDocument/2006/math">
                                <m:sSub>
                                  <m:sSubPr>
                                    <m:ctrlPr>
                                      <a:rPr lang="en-US" altLang="zh-TW" sz="1800" b="0" i="1" smtClean="0">
                                        <a:latin typeface="Cambria Math" panose="02040503050406030204" pitchFamily="18" charset="0"/>
                                      </a:rPr>
                                    </m:ctrlPr>
                                  </m:sSubPr>
                                  <m:e>
                                    <m:r>
                                      <a:rPr lang="en-US" altLang="zh-TW" sz="1800" b="0" i="1" smtClean="0">
                                        <a:latin typeface="Cambria Math" panose="02040503050406030204" pitchFamily="18" charset="0"/>
                                      </a:rPr>
                                      <m:t>𝐶</m:t>
                                    </m:r>
                                  </m:e>
                                  <m:sub>
                                    <m:r>
                                      <a:rPr lang="en-US" altLang="zh-TW" sz="1800" b="0" i="1" smtClean="0">
                                        <a:latin typeface="Cambria Math" panose="02040503050406030204" pitchFamily="18" charset="0"/>
                                      </a:rPr>
                                      <m:t>1</m:t>
                                    </m:r>
                                  </m:sub>
                                </m:sSub>
                              </m:oMath>
                            </m:oMathPara>
                          </a14:m>
                          <a:endParaRPr lang="zh-TW" altLang="en-US" sz="1800" dirty="0"/>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000" dirty="0"/>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000" dirty="0"/>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3">
                      <a:txBody>
                        <a:bodyPr/>
                        <a:lstStyle/>
                        <a:p>
                          <a:pPr algn="ctr"/>
                          <a14:m>
                            <m:oMathPara xmlns:m="http://schemas.openxmlformats.org/officeDocument/2006/math">
                              <m:oMathParaPr>
                                <m:jc m:val="centerGroup"/>
                              </m:oMathParaPr>
                              <m:oMath xmlns:m="http://schemas.openxmlformats.org/officeDocument/2006/math">
                                <m:sSub>
                                  <m:sSubPr>
                                    <m:ctrlPr>
                                      <a:rPr lang="en-US" altLang="zh-TW" sz="1800" b="0" i="1" smtClean="0">
                                        <a:latin typeface="Cambria Math" panose="02040503050406030204" pitchFamily="18" charset="0"/>
                                      </a:rPr>
                                    </m:ctrlPr>
                                  </m:sSubPr>
                                  <m:e>
                                    <m:r>
                                      <a:rPr lang="en-US" altLang="zh-TW" sz="1800" b="0" i="1" smtClean="0">
                                        <a:latin typeface="Cambria Math" panose="02040503050406030204" pitchFamily="18" charset="0"/>
                                      </a:rPr>
                                      <m:t>𝐶</m:t>
                                    </m:r>
                                  </m:e>
                                  <m:sub>
                                    <m:r>
                                      <a:rPr lang="en-US" altLang="zh-TW" sz="1800" b="0" i="1" smtClean="0">
                                        <a:latin typeface="Cambria Math" panose="02040503050406030204" pitchFamily="18" charset="0"/>
                                      </a:rPr>
                                      <m:t>2</m:t>
                                    </m:r>
                                  </m:sub>
                                </m:sSub>
                              </m:oMath>
                            </m:oMathPara>
                          </a14:m>
                          <a:endParaRPr lang="zh-TW" altLang="en-US" sz="1800" dirty="0"/>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000" dirty="0"/>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000" dirty="0"/>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3">
                      <a:txBody>
                        <a:bodyPr/>
                        <a:lstStyle/>
                        <a:p>
                          <a:pPr algn="ctr"/>
                          <a14:m>
                            <m:oMathPara xmlns:m="http://schemas.openxmlformats.org/officeDocument/2006/math">
                              <m:oMathParaPr>
                                <m:jc m:val="centerGroup"/>
                              </m:oMathParaPr>
                              <m:oMath xmlns:m="http://schemas.openxmlformats.org/officeDocument/2006/math">
                                <m:sSub>
                                  <m:sSubPr>
                                    <m:ctrlPr>
                                      <a:rPr lang="en-US" altLang="zh-TW" sz="1800" b="0" i="1" smtClean="0">
                                        <a:latin typeface="Cambria Math" panose="02040503050406030204" pitchFamily="18" charset="0"/>
                                      </a:rPr>
                                    </m:ctrlPr>
                                  </m:sSubPr>
                                  <m:e>
                                    <m:r>
                                      <a:rPr lang="en-US" altLang="zh-TW" sz="1800" b="0" i="1" smtClean="0">
                                        <a:latin typeface="Cambria Math" panose="02040503050406030204" pitchFamily="18" charset="0"/>
                                      </a:rPr>
                                      <m:t>𝐶</m:t>
                                    </m:r>
                                  </m:e>
                                  <m:sub>
                                    <m:r>
                                      <a:rPr lang="en-US" altLang="zh-TW" sz="1800" b="0" i="1" smtClean="0">
                                        <a:latin typeface="Cambria Math" panose="02040503050406030204" pitchFamily="18" charset="0"/>
                                      </a:rPr>
                                      <m:t>3</m:t>
                                    </m:r>
                                  </m:sub>
                                </m:sSub>
                              </m:oMath>
                            </m:oMathPara>
                          </a14:m>
                          <a:endParaRPr lang="zh-TW" altLang="en-US" sz="1800" dirty="0"/>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000" dirty="0"/>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000" dirty="0"/>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43825879"/>
                      </a:ext>
                    </a:extLst>
                  </a:tr>
                  <a:tr h="0">
                    <a:tc>
                      <a:txBody>
                        <a:bodyPr/>
                        <a:lstStyle/>
                        <a:p>
                          <a:pPr algn="ctr"/>
                          <a:endParaRPr lang="zh-TW" altLang="en-US" sz="18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zh-TW" altLang="en-US" sz="18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1800" dirty="0"/>
                            <a:t>1</a:t>
                          </a:r>
                          <a:endParaRPr lang="zh-TW" altLang="en-US" sz="18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800" dirty="0"/>
                            <a:t>2</a:t>
                          </a:r>
                          <a:endParaRPr lang="zh-TW" altLang="en-US" sz="18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800" dirty="0"/>
                            <a:t>3</a:t>
                          </a:r>
                          <a:endParaRPr lang="zh-TW" altLang="en-US" sz="18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800" dirty="0"/>
                            <a:t>4</a:t>
                          </a:r>
                          <a:endParaRPr lang="zh-TW" altLang="en-US" sz="18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800" dirty="0"/>
                            <a:t>5</a:t>
                          </a:r>
                          <a:endParaRPr lang="zh-TW" altLang="en-US" sz="18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800" dirty="0"/>
                            <a:t>6</a:t>
                          </a:r>
                          <a:endParaRPr lang="zh-TW" altLang="en-US" sz="18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800" dirty="0"/>
                            <a:t>7</a:t>
                          </a:r>
                          <a:endParaRPr lang="zh-TW" altLang="en-US" sz="18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800" dirty="0"/>
                            <a:t>8</a:t>
                          </a:r>
                          <a:endParaRPr lang="zh-TW" altLang="en-US" sz="18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800" dirty="0"/>
                            <a:t>9</a:t>
                          </a:r>
                          <a:endParaRPr lang="zh-TW" altLang="en-US" sz="18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98706228"/>
                      </a:ext>
                    </a:extLst>
                  </a:tr>
                  <a:tr h="0">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1800" i="1" smtClean="0">
                                        <a:latin typeface="Cambria Math" panose="02040503050406030204" pitchFamily="18" charset="0"/>
                                      </a:rPr>
                                    </m:ctrlPr>
                                  </m:sSubPr>
                                  <m:e>
                                    <m:r>
                                      <a:rPr lang="en-US" altLang="zh-TW" sz="1800" b="0" i="1" smtClean="0">
                                        <a:latin typeface="Cambria Math" panose="02040503050406030204" pitchFamily="18" charset="0"/>
                                      </a:rPr>
                                      <m:t>𝑥</m:t>
                                    </m:r>
                                  </m:e>
                                  <m:sub>
                                    <m:r>
                                      <a:rPr lang="en-US" altLang="zh-TW" sz="1800" b="0" i="1" smtClean="0">
                                        <a:latin typeface="Cambria Math" panose="02040503050406030204" pitchFamily="18" charset="0"/>
                                      </a:rPr>
                                      <m:t>1</m:t>
                                    </m:r>
                                  </m:sub>
                                </m:sSub>
                              </m:oMath>
                            </m:oMathPara>
                          </a14:m>
                          <a:endParaRPr lang="zh-TW" altLang="en-US" sz="1800" dirty="0"/>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1800" dirty="0"/>
                            <a:t>1</a:t>
                          </a:r>
                          <a:endParaRPr lang="zh-TW" altLang="en-US" sz="18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14:m>
                            <m:oMathPara xmlns:m="http://schemas.openxmlformats.org/officeDocument/2006/math">
                              <m:oMathParaPr>
                                <m:jc m:val="centerGroup"/>
                              </m:oMathParaPr>
                              <m:oMath xmlns:m="http://schemas.openxmlformats.org/officeDocument/2006/math">
                                <m:sSubSup>
                                  <m:sSubSupPr>
                                    <m:ctrlPr>
                                      <a:rPr lang="en-US" altLang="zh-TW" sz="1800" i="1" smtClean="0">
                                        <a:latin typeface="Cambria Math" panose="02040503050406030204" pitchFamily="18" charset="0"/>
                                      </a:rPr>
                                    </m:ctrlPr>
                                  </m:sSubSupPr>
                                  <m:e>
                                    <m:r>
                                      <a:rPr lang="en-US" altLang="zh-TW" sz="1800" b="0" i="1" smtClean="0">
                                        <a:latin typeface="Cambria Math" panose="02040503050406030204" pitchFamily="18" charset="0"/>
                                      </a:rPr>
                                      <m:t>𝑙</m:t>
                                    </m:r>
                                  </m:e>
                                  <m:sub>
                                    <m:r>
                                      <a:rPr lang="en-US" altLang="zh-TW" sz="1800" b="0" i="1" smtClean="0">
                                        <a:latin typeface="Cambria Math" panose="02040503050406030204" pitchFamily="18" charset="0"/>
                                      </a:rPr>
                                      <m:t>1</m:t>
                                    </m:r>
                                  </m:sub>
                                  <m:sup>
                                    <m:r>
                                      <a:rPr lang="en-US" altLang="zh-TW" sz="1800" b="0" i="1" smtClean="0">
                                        <a:latin typeface="Cambria Math" panose="02040503050406030204" pitchFamily="18" charset="0"/>
                                      </a:rPr>
                                      <m:t>1</m:t>
                                    </m:r>
                                  </m:sup>
                                </m:sSubSup>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zh-TW" altLang="en-US" sz="1800" i="1" smtClean="0">
                                    <a:latin typeface="Cambria Math" panose="02040503050406030204" pitchFamily="18" charset="0"/>
                                  </a:rPr>
                                  <m:t>𝛼</m:t>
                                </m:r>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Sup>
                                  <m:sSubSupPr>
                                    <m:ctrlPr>
                                      <a:rPr lang="en-US" altLang="zh-TW" sz="1800" i="1" smtClean="0">
                                        <a:latin typeface="Cambria Math" panose="02040503050406030204" pitchFamily="18" charset="0"/>
                                      </a:rPr>
                                    </m:ctrlPr>
                                  </m:sSubSupPr>
                                  <m:e>
                                    <m:r>
                                      <a:rPr lang="en-US" altLang="zh-TW" sz="1800" b="0" i="1" smtClean="0">
                                        <a:latin typeface="Cambria Math" panose="02040503050406030204" pitchFamily="18" charset="0"/>
                                      </a:rPr>
                                      <m:t>𝑙</m:t>
                                    </m:r>
                                  </m:e>
                                  <m:sub>
                                    <m:r>
                                      <a:rPr lang="en-US" altLang="zh-TW" sz="1800" b="0" i="1" smtClean="0">
                                        <a:latin typeface="Cambria Math" panose="02040503050406030204" pitchFamily="18" charset="0"/>
                                      </a:rPr>
                                      <m:t>1</m:t>
                                    </m:r>
                                  </m:sub>
                                  <m:sup>
                                    <m:r>
                                      <a:rPr lang="en-US" altLang="zh-TW" sz="1800" b="0" i="1" smtClean="0">
                                        <a:latin typeface="Cambria Math" panose="02040503050406030204" pitchFamily="18" charset="0"/>
                                      </a:rPr>
                                      <m:t>2</m:t>
                                    </m:r>
                                  </m:sup>
                                </m:sSubSup>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2121216"/>
                      </a:ext>
                    </a:extLst>
                  </a:tr>
                  <a:tr h="0">
                    <a:tc>
                      <a:txBody>
                        <a:bodyPr/>
                        <a:lstStyle/>
                        <a:p>
                          <a:pPr algn="ctr"/>
                          <a14:m>
                            <m:oMathPara xmlns:m="http://schemas.openxmlformats.org/officeDocument/2006/math">
                              <m:oMathParaPr>
                                <m:jc m:val="centerGroup"/>
                              </m:oMathParaPr>
                              <m:oMath xmlns:m="http://schemas.openxmlformats.org/officeDocument/2006/math">
                                <m:bar>
                                  <m:barPr>
                                    <m:pos m:val="top"/>
                                    <m:ctrlPr>
                                      <a:rPr lang="en-US" altLang="zh-TW" sz="1800" i="1" smtClean="0">
                                        <a:latin typeface="Cambria Math" panose="02040503050406030204" pitchFamily="18" charset="0"/>
                                      </a:rPr>
                                    </m:ctrlPr>
                                  </m:barPr>
                                  <m:e>
                                    <m:sSub>
                                      <m:sSubPr>
                                        <m:ctrlPr>
                                          <a:rPr lang="en-US" altLang="zh-TW" sz="1800" i="1" smtClean="0">
                                            <a:latin typeface="Cambria Math" panose="02040503050406030204" pitchFamily="18" charset="0"/>
                                          </a:rPr>
                                        </m:ctrlPr>
                                      </m:sSubPr>
                                      <m:e>
                                        <m:r>
                                          <a:rPr lang="en-US" altLang="zh-TW" sz="1800" b="0" i="1" smtClean="0">
                                            <a:latin typeface="Cambria Math" panose="02040503050406030204" pitchFamily="18" charset="0"/>
                                          </a:rPr>
                                          <m:t>𝑥</m:t>
                                        </m:r>
                                      </m:e>
                                      <m:sub>
                                        <m:r>
                                          <a:rPr lang="en-US" altLang="zh-TW" sz="1800" b="0" i="1" smtClean="0">
                                            <a:latin typeface="Cambria Math" panose="02040503050406030204" pitchFamily="18" charset="0"/>
                                          </a:rPr>
                                          <m:t>1</m:t>
                                        </m:r>
                                      </m:sub>
                                    </m:sSub>
                                  </m:e>
                                </m:bar>
                              </m:oMath>
                            </m:oMathPara>
                          </a14:m>
                          <a:endParaRPr lang="zh-TW" altLang="en-US" sz="1800" dirty="0"/>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1800" dirty="0"/>
                            <a:t>2</a:t>
                          </a:r>
                          <a:endParaRPr lang="zh-TW" altLang="en-US" sz="18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zh-TW" altLang="en-US" sz="1800" i="1" smtClean="0">
                                    <a:latin typeface="Cambria Math" panose="02040503050406030204" pitchFamily="18" charset="0"/>
                                  </a:rPr>
                                  <m:t>𝛼</m:t>
                                </m:r>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zh-TW" altLang="en-US" sz="1800" i="1" smtClean="0">
                                    <a:latin typeface="Cambria Math" panose="02040503050406030204" pitchFamily="18" charset="0"/>
                                  </a:rPr>
                                  <m:t>𝛼</m:t>
                                </m:r>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Sup>
                                  <m:sSubSupPr>
                                    <m:ctrlPr>
                                      <a:rPr lang="en-US" altLang="zh-TW" sz="1800" i="1" smtClean="0">
                                        <a:latin typeface="Cambria Math" panose="02040503050406030204" pitchFamily="18" charset="0"/>
                                      </a:rPr>
                                    </m:ctrlPr>
                                  </m:sSubSupPr>
                                  <m:e>
                                    <m:r>
                                      <a:rPr lang="en-US" altLang="zh-TW" sz="1800" b="0" i="1" smtClean="0">
                                        <a:latin typeface="Cambria Math" panose="02040503050406030204" pitchFamily="18" charset="0"/>
                                      </a:rPr>
                                      <m:t>𝑙</m:t>
                                    </m:r>
                                  </m:e>
                                  <m:sub>
                                    <m:r>
                                      <a:rPr lang="en-US" altLang="zh-TW" sz="1800" b="0" i="1" smtClean="0">
                                        <a:latin typeface="Cambria Math" panose="02040503050406030204" pitchFamily="18" charset="0"/>
                                      </a:rPr>
                                      <m:t>1</m:t>
                                    </m:r>
                                  </m:sub>
                                  <m:sup>
                                    <m:r>
                                      <a:rPr lang="en-US" altLang="zh-TW" sz="1800" b="0" i="1" smtClean="0">
                                        <a:latin typeface="Cambria Math" panose="02040503050406030204" pitchFamily="18" charset="0"/>
                                      </a:rPr>
                                      <m:t>3</m:t>
                                    </m:r>
                                  </m:sup>
                                </m:sSubSup>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92435610"/>
                      </a:ext>
                    </a:extLst>
                  </a:tr>
                  <a:tr h="0">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1800" i="1" smtClean="0">
                                        <a:latin typeface="Cambria Math" panose="02040503050406030204" pitchFamily="18" charset="0"/>
                                      </a:rPr>
                                    </m:ctrlPr>
                                  </m:sSubPr>
                                  <m:e>
                                    <m:r>
                                      <a:rPr lang="en-US" altLang="zh-TW" sz="1800" b="0" i="1" smtClean="0">
                                        <a:latin typeface="Cambria Math" panose="02040503050406030204" pitchFamily="18" charset="0"/>
                                      </a:rPr>
                                      <m:t>𝑥</m:t>
                                    </m:r>
                                  </m:e>
                                  <m:sub>
                                    <m:r>
                                      <a:rPr lang="en-US" altLang="zh-TW" sz="1800" b="0" i="1" smtClean="0">
                                        <a:latin typeface="Cambria Math" panose="02040503050406030204" pitchFamily="18" charset="0"/>
                                      </a:rPr>
                                      <m:t>2</m:t>
                                    </m:r>
                                  </m:sub>
                                </m:sSub>
                              </m:oMath>
                            </m:oMathPara>
                          </a14:m>
                          <a:endParaRPr lang="zh-TW" altLang="en-US" sz="1800" dirty="0"/>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1800" dirty="0"/>
                            <a:t>3</a:t>
                          </a:r>
                          <a:endParaRPr lang="zh-TW" altLang="en-US" sz="18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Sup>
                                  <m:sSubSupPr>
                                    <m:ctrlPr>
                                      <a:rPr lang="en-US" altLang="zh-TW" sz="1800" i="1" smtClean="0">
                                        <a:latin typeface="Cambria Math" panose="02040503050406030204" pitchFamily="18" charset="0"/>
                                      </a:rPr>
                                    </m:ctrlPr>
                                  </m:sSubSupPr>
                                  <m:e>
                                    <m:r>
                                      <a:rPr lang="en-US" altLang="zh-TW" sz="1800" b="0" i="1" smtClean="0">
                                        <a:latin typeface="Cambria Math" panose="02040503050406030204" pitchFamily="18" charset="0"/>
                                      </a:rPr>
                                      <m:t>𝑙</m:t>
                                    </m:r>
                                  </m:e>
                                  <m:sub>
                                    <m:r>
                                      <a:rPr lang="en-US" altLang="zh-TW" sz="1800" b="0" i="1" smtClean="0">
                                        <a:latin typeface="Cambria Math" panose="02040503050406030204" pitchFamily="18" charset="0"/>
                                      </a:rPr>
                                      <m:t>2</m:t>
                                    </m:r>
                                  </m:sub>
                                  <m:sup>
                                    <m:r>
                                      <a:rPr lang="en-US" altLang="zh-TW" sz="1800" b="0" i="1" smtClean="0">
                                        <a:latin typeface="Cambria Math" panose="02040503050406030204" pitchFamily="18" charset="0"/>
                                      </a:rPr>
                                      <m:t>1</m:t>
                                    </m:r>
                                  </m:sup>
                                </m:sSubSup>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54765373"/>
                      </a:ext>
                    </a:extLst>
                  </a:tr>
                  <a:tr h="0">
                    <a:tc>
                      <a:txBody>
                        <a:bodyPr/>
                        <a:lstStyle/>
                        <a:p>
                          <a:pPr algn="ctr"/>
                          <a14:m>
                            <m:oMathPara xmlns:m="http://schemas.openxmlformats.org/officeDocument/2006/math">
                              <m:oMathParaPr>
                                <m:jc m:val="centerGroup"/>
                              </m:oMathParaPr>
                              <m:oMath xmlns:m="http://schemas.openxmlformats.org/officeDocument/2006/math">
                                <m:bar>
                                  <m:barPr>
                                    <m:pos m:val="top"/>
                                    <m:ctrlPr>
                                      <a:rPr lang="en-US" altLang="zh-TW" sz="1800" i="1" smtClean="0">
                                        <a:latin typeface="Cambria Math" panose="02040503050406030204" pitchFamily="18" charset="0"/>
                                      </a:rPr>
                                    </m:ctrlPr>
                                  </m:barPr>
                                  <m:e>
                                    <m:sSub>
                                      <m:sSubPr>
                                        <m:ctrlPr>
                                          <a:rPr lang="en-US" altLang="zh-TW" sz="1800" i="1" smtClean="0">
                                            <a:latin typeface="Cambria Math" panose="02040503050406030204" pitchFamily="18" charset="0"/>
                                          </a:rPr>
                                        </m:ctrlPr>
                                      </m:sSubPr>
                                      <m:e>
                                        <m:r>
                                          <a:rPr lang="en-US" altLang="zh-TW" sz="1800" b="0" i="1" smtClean="0">
                                            <a:latin typeface="Cambria Math" panose="02040503050406030204" pitchFamily="18" charset="0"/>
                                          </a:rPr>
                                          <m:t>𝑥</m:t>
                                        </m:r>
                                      </m:e>
                                      <m:sub>
                                        <m:r>
                                          <a:rPr lang="en-US" altLang="zh-TW" sz="1800" b="0" i="1" smtClean="0">
                                            <a:latin typeface="Cambria Math" panose="02040503050406030204" pitchFamily="18" charset="0"/>
                                          </a:rPr>
                                          <m:t>2</m:t>
                                        </m:r>
                                      </m:sub>
                                    </m:sSub>
                                  </m:e>
                                </m:bar>
                              </m:oMath>
                            </m:oMathPara>
                          </a14:m>
                          <a:endParaRPr lang="zh-TW" altLang="en-US" sz="1800" dirty="0"/>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1800" dirty="0"/>
                            <a:t>4</a:t>
                          </a:r>
                          <a:endParaRPr lang="zh-TW" altLang="en-US" sz="18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Sup>
                                  <m:sSubSupPr>
                                    <m:ctrlPr>
                                      <a:rPr lang="en-US" altLang="zh-TW" sz="1800" i="1" smtClean="0">
                                        <a:latin typeface="Cambria Math" panose="02040503050406030204" pitchFamily="18" charset="0"/>
                                      </a:rPr>
                                    </m:ctrlPr>
                                  </m:sSubSupPr>
                                  <m:e>
                                    <m:r>
                                      <a:rPr lang="en-US" altLang="zh-TW" sz="1800" b="0" i="1" smtClean="0">
                                        <a:latin typeface="Cambria Math" panose="02040503050406030204" pitchFamily="18" charset="0"/>
                                      </a:rPr>
                                      <m:t>𝑙</m:t>
                                    </m:r>
                                  </m:e>
                                  <m:sub>
                                    <m:r>
                                      <a:rPr lang="en-US" altLang="zh-TW" sz="1800" b="0" i="1" smtClean="0">
                                        <a:latin typeface="Cambria Math" panose="02040503050406030204" pitchFamily="18" charset="0"/>
                                      </a:rPr>
                                      <m:t>3</m:t>
                                    </m:r>
                                  </m:sub>
                                  <m:sup>
                                    <m:r>
                                      <a:rPr lang="en-US" altLang="zh-TW" sz="1800" b="0" i="1" smtClean="0">
                                        <a:latin typeface="Cambria Math" panose="02040503050406030204" pitchFamily="18" charset="0"/>
                                      </a:rPr>
                                      <m:t>2</m:t>
                                    </m:r>
                                  </m:sup>
                                </m:sSubSup>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zh-TW" altLang="en-US" sz="1800" i="1" smtClean="0">
                                    <a:latin typeface="Cambria Math" panose="02040503050406030204" pitchFamily="18" charset="0"/>
                                  </a:rPr>
                                  <m:t>𝛼</m:t>
                                </m:r>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Sup>
                                  <m:sSubSupPr>
                                    <m:ctrlPr>
                                      <a:rPr lang="en-US" altLang="zh-TW" sz="1800" i="1" smtClean="0">
                                        <a:latin typeface="Cambria Math" panose="02040503050406030204" pitchFamily="18" charset="0"/>
                                      </a:rPr>
                                    </m:ctrlPr>
                                  </m:sSubSupPr>
                                  <m:e>
                                    <m:r>
                                      <a:rPr lang="en-US" altLang="zh-TW" sz="1800" b="0" i="1" smtClean="0">
                                        <a:latin typeface="Cambria Math" panose="02040503050406030204" pitchFamily="18" charset="0"/>
                                      </a:rPr>
                                      <m:t>𝑙</m:t>
                                    </m:r>
                                  </m:e>
                                  <m:sub>
                                    <m:r>
                                      <a:rPr lang="en-US" altLang="zh-TW" sz="1800" b="0" i="1" smtClean="0">
                                        <a:latin typeface="Cambria Math" panose="02040503050406030204" pitchFamily="18" charset="0"/>
                                      </a:rPr>
                                      <m:t>2</m:t>
                                    </m:r>
                                  </m:sub>
                                  <m:sup>
                                    <m:r>
                                      <a:rPr lang="en-US" altLang="zh-TW" sz="1800" b="0" i="1" smtClean="0">
                                        <a:latin typeface="Cambria Math" panose="02040503050406030204" pitchFamily="18" charset="0"/>
                                      </a:rPr>
                                      <m:t>3</m:t>
                                    </m:r>
                                  </m:sup>
                                </m:sSubSup>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zh-TW" altLang="en-US" sz="1800" i="1" smtClean="0">
                                    <a:latin typeface="Cambria Math" panose="02040503050406030204" pitchFamily="18" charset="0"/>
                                  </a:rPr>
                                  <m:t>𝛼</m:t>
                                </m:r>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69180369"/>
                      </a:ext>
                    </a:extLst>
                  </a:tr>
                  <a:tr h="0">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1800" i="1" smtClean="0">
                                        <a:latin typeface="Cambria Math" panose="02040503050406030204" pitchFamily="18" charset="0"/>
                                      </a:rPr>
                                    </m:ctrlPr>
                                  </m:sSubPr>
                                  <m:e>
                                    <m:r>
                                      <a:rPr lang="en-US" altLang="zh-TW" sz="1800" b="0" i="1" smtClean="0">
                                        <a:latin typeface="Cambria Math" panose="02040503050406030204" pitchFamily="18" charset="0"/>
                                      </a:rPr>
                                      <m:t>𝑥</m:t>
                                    </m:r>
                                  </m:e>
                                  <m:sub>
                                    <m:r>
                                      <a:rPr lang="en-US" altLang="zh-TW" sz="1800" b="0" i="1" smtClean="0">
                                        <a:latin typeface="Cambria Math" panose="02040503050406030204" pitchFamily="18" charset="0"/>
                                      </a:rPr>
                                      <m:t>3</m:t>
                                    </m:r>
                                  </m:sub>
                                </m:sSub>
                              </m:oMath>
                            </m:oMathPara>
                          </a14:m>
                          <a:endParaRPr lang="zh-TW" altLang="en-US" sz="1800" dirty="0"/>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1800" dirty="0"/>
                            <a:t>5</a:t>
                          </a:r>
                          <a:endParaRPr lang="zh-TW" altLang="en-US" sz="18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Sup>
                                  <m:sSubSupPr>
                                    <m:ctrlPr>
                                      <a:rPr lang="en-US" altLang="zh-TW" sz="1800" i="1" smtClean="0">
                                        <a:latin typeface="Cambria Math" panose="02040503050406030204" pitchFamily="18" charset="0"/>
                                      </a:rPr>
                                    </m:ctrlPr>
                                  </m:sSubSupPr>
                                  <m:e>
                                    <m:r>
                                      <a:rPr lang="en-US" altLang="zh-TW" sz="1800" b="0" i="1" smtClean="0">
                                        <a:latin typeface="Cambria Math" panose="02040503050406030204" pitchFamily="18" charset="0"/>
                                      </a:rPr>
                                      <m:t>𝑙</m:t>
                                    </m:r>
                                  </m:e>
                                  <m:sub>
                                    <m:r>
                                      <a:rPr lang="en-US" altLang="zh-TW" sz="1800" b="0" i="1" smtClean="0">
                                        <a:latin typeface="Cambria Math" panose="02040503050406030204" pitchFamily="18" charset="0"/>
                                      </a:rPr>
                                      <m:t>3</m:t>
                                    </m:r>
                                  </m:sub>
                                  <m:sup>
                                    <m:r>
                                      <a:rPr lang="en-US" altLang="zh-TW" sz="1800" b="0" i="1" smtClean="0">
                                        <a:latin typeface="Cambria Math" panose="02040503050406030204" pitchFamily="18" charset="0"/>
                                      </a:rPr>
                                      <m:t>1</m:t>
                                    </m:r>
                                  </m:sup>
                                </m:sSubSup>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39250096"/>
                      </a:ext>
                    </a:extLst>
                  </a:tr>
                  <a:tr h="0">
                    <a:tc>
                      <a:txBody>
                        <a:bodyPr/>
                        <a:lstStyle/>
                        <a:p>
                          <a:pPr algn="ctr"/>
                          <a14:m>
                            <m:oMathPara xmlns:m="http://schemas.openxmlformats.org/officeDocument/2006/math">
                              <m:oMathParaPr>
                                <m:jc m:val="centerGroup"/>
                              </m:oMathParaPr>
                              <m:oMath xmlns:m="http://schemas.openxmlformats.org/officeDocument/2006/math">
                                <m:bar>
                                  <m:barPr>
                                    <m:pos m:val="top"/>
                                    <m:ctrlPr>
                                      <a:rPr lang="en-US" altLang="zh-TW" sz="1800" i="1" smtClean="0">
                                        <a:latin typeface="Cambria Math" panose="02040503050406030204" pitchFamily="18" charset="0"/>
                                      </a:rPr>
                                    </m:ctrlPr>
                                  </m:barPr>
                                  <m:e>
                                    <m:sSub>
                                      <m:sSubPr>
                                        <m:ctrlPr>
                                          <a:rPr lang="en-US" altLang="zh-TW" sz="1800" i="1" smtClean="0">
                                            <a:latin typeface="Cambria Math" panose="02040503050406030204" pitchFamily="18" charset="0"/>
                                          </a:rPr>
                                        </m:ctrlPr>
                                      </m:sSubPr>
                                      <m:e>
                                        <m:r>
                                          <a:rPr lang="en-US" altLang="zh-TW" sz="1800" b="0" i="1" smtClean="0">
                                            <a:latin typeface="Cambria Math" panose="02040503050406030204" pitchFamily="18" charset="0"/>
                                          </a:rPr>
                                          <m:t>𝑥</m:t>
                                        </m:r>
                                      </m:e>
                                      <m:sub>
                                        <m:r>
                                          <a:rPr lang="en-US" altLang="zh-TW" sz="1800" b="0" i="1" smtClean="0">
                                            <a:latin typeface="Cambria Math" panose="02040503050406030204" pitchFamily="18" charset="0"/>
                                          </a:rPr>
                                          <m:t>3</m:t>
                                        </m:r>
                                      </m:sub>
                                    </m:sSub>
                                  </m:e>
                                </m:bar>
                              </m:oMath>
                            </m:oMathPara>
                          </a14:m>
                          <a:endParaRPr lang="zh-TW" altLang="en-US" sz="1800" dirty="0"/>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1800" dirty="0"/>
                            <a:t>6</a:t>
                          </a:r>
                          <a:endParaRPr lang="zh-TW" altLang="en-US" sz="18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Sup>
                                  <m:sSubSupPr>
                                    <m:ctrlPr>
                                      <a:rPr lang="en-US" altLang="zh-TW" sz="1800" i="1" smtClean="0">
                                        <a:latin typeface="Cambria Math" panose="02040503050406030204" pitchFamily="18" charset="0"/>
                                      </a:rPr>
                                    </m:ctrlPr>
                                  </m:sSubSupPr>
                                  <m:e>
                                    <m:r>
                                      <a:rPr lang="en-US" altLang="zh-TW" sz="1800" b="0" i="1" smtClean="0">
                                        <a:latin typeface="Cambria Math" panose="02040503050406030204" pitchFamily="18" charset="0"/>
                                      </a:rPr>
                                      <m:t>𝑙</m:t>
                                    </m:r>
                                  </m:e>
                                  <m:sub>
                                    <m:r>
                                      <a:rPr lang="en-US" altLang="zh-TW" sz="1800" b="0" i="1" smtClean="0">
                                        <a:latin typeface="Cambria Math" panose="02040503050406030204" pitchFamily="18" charset="0"/>
                                      </a:rPr>
                                      <m:t>2</m:t>
                                    </m:r>
                                  </m:sub>
                                  <m:sup>
                                    <m:r>
                                      <a:rPr lang="en-US" altLang="zh-TW" sz="1800" b="0" i="1" smtClean="0">
                                        <a:latin typeface="Cambria Math" panose="02040503050406030204" pitchFamily="18" charset="0"/>
                                      </a:rPr>
                                      <m:t>2</m:t>
                                    </m:r>
                                  </m:sup>
                                </m:sSubSup>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72840707"/>
                      </a:ext>
                    </a:extLst>
                  </a:tr>
                  <a:tr h="0">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1800" i="1" smtClean="0">
                                        <a:latin typeface="Cambria Math" panose="02040503050406030204" pitchFamily="18" charset="0"/>
                                      </a:rPr>
                                    </m:ctrlPr>
                                  </m:sSubPr>
                                  <m:e>
                                    <m:r>
                                      <a:rPr lang="en-US" altLang="zh-TW" sz="1800" b="0" i="1" smtClean="0">
                                        <a:latin typeface="Cambria Math" panose="02040503050406030204" pitchFamily="18" charset="0"/>
                                      </a:rPr>
                                      <m:t>𝑥</m:t>
                                    </m:r>
                                  </m:e>
                                  <m:sub>
                                    <m:r>
                                      <a:rPr lang="en-US" altLang="zh-TW" sz="1800" b="0" i="1" smtClean="0">
                                        <a:latin typeface="Cambria Math" panose="02040503050406030204" pitchFamily="18" charset="0"/>
                                      </a:rPr>
                                      <m:t>4</m:t>
                                    </m:r>
                                  </m:sub>
                                </m:sSub>
                              </m:oMath>
                            </m:oMathPara>
                          </a14:m>
                          <a:endParaRPr lang="zh-TW" altLang="en-US" sz="1800" dirty="0"/>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1800" dirty="0"/>
                            <a:t>7</a:t>
                          </a:r>
                          <a:endParaRPr lang="zh-TW" altLang="en-US" sz="18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Sup>
                                  <m:sSubSupPr>
                                    <m:ctrlPr>
                                      <a:rPr lang="en-US" altLang="zh-TW" sz="1800" i="1" smtClean="0">
                                        <a:latin typeface="Cambria Math" panose="02040503050406030204" pitchFamily="18" charset="0"/>
                                      </a:rPr>
                                    </m:ctrlPr>
                                  </m:sSubSupPr>
                                  <m:e>
                                    <m:r>
                                      <a:rPr lang="en-US" altLang="zh-TW" sz="1800" b="0" i="1" smtClean="0">
                                        <a:latin typeface="Cambria Math" panose="02040503050406030204" pitchFamily="18" charset="0"/>
                                      </a:rPr>
                                      <m:t>𝑙</m:t>
                                    </m:r>
                                  </m:e>
                                  <m:sub>
                                    <m:r>
                                      <a:rPr lang="en-US" altLang="zh-TW" sz="1800" b="0" i="1" smtClean="0">
                                        <a:latin typeface="Cambria Math" panose="02040503050406030204" pitchFamily="18" charset="0"/>
                                      </a:rPr>
                                      <m:t>3</m:t>
                                    </m:r>
                                  </m:sub>
                                  <m:sup>
                                    <m:r>
                                      <a:rPr lang="en-US" altLang="zh-TW" sz="1800" b="0" i="1" smtClean="0">
                                        <a:latin typeface="Cambria Math" panose="02040503050406030204" pitchFamily="18" charset="0"/>
                                      </a:rPr>
                                      <m:t>3</m:t>
                                    </m:r>
                                  </m:sup>
                                </m:sSubSup>
                              </m:oMath>
                            </m:oMathPara>
                          </a14:m>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19523155"/>
                      </a:ext>
                    </a:extLst>
                  </a:tr>
                  <a:tr h="0">
                    <a:tc>
                      <a:txBody>
                        <a:bodyPr/>
                        <a:lstStyle/>
                        <a:p>
                          <a:pPr algn="ctr"/>
                          <a14:m>
                            <m:oMathPara xmlns:m="http://schemas.openxmlformats.org/officeDocument/2006/math">
                              <m:oMathParaPr>
                                <m:jc m:val="centerGroup"/>
                              </m:oMathParaPr>
                              <m:oMath xmlns:m="http://schemas.openxmlformats.org/officeDocument/2006/math">
                                <m:bar>
                                  <m:barPr>
                                    <m:pos m:val="top"/>
                                    <m:ctrlPr>
                                      <a:rPr lang="en-US" altLang="zh-TW" sz="1800" i="1" smtClean="0">
                                        <a:latin typeface="Cambria Math" panose="02040503050406030204" pitchFamily="18" charset="0"/>
                                      </a:rPr>
                                    </m:ctrlPr>
                                  </m:barPr>
                                  <m:e>
                                    <m:sSub>
                                      <m:sSubPr>
                                        <m:ctrlPr>
                                          <a:rPr lang="en-US" altLang="zh-TW" sz="1800" i="1" smtClean="0">
                                            <a:latin typeface="Cambria Math" panose="02040503050406030204" pitchFamily="18" charset="0"/>
                                          </a:rPr>
                                        </m:ctrlPr>
                                      </m:sSubPr>
                                      <m:e>
                                        <m:r>
                                          <a:rPr lang="en-US" altLang="zh-TW" sz="1800" b="0" i="1" smtClean="0">
                                            <a:latin typeface="Cambria Math" panose="02040503050406030204" pitchFamily="18" charset="0"/>
                                          </a:rPr>
                                          <m:t>𝑥</m:t>
                                        </m:r>
                                      </m:e>
                                      <m:sub>
                                        <m:r>
                                          <a:rPr lang="en-US" altLang="zh-TW" sz="1800" b="0" i="1" smtClean="0">
                                            <a:latin typeface="Cambria Math" panose="02040503050406030204" pitchFamily="18" charset="0"/>
                                          </a:rPr>
                                          <m:t>4</m:t>
                                        </m:r>
                                      </m:sub>
                                    </m:sSub>
                                  </m:e>
                                </m:bar>
                              </m:oMath>
                            </m:oMathPara>
                          </a14:m>
                          <a:endParaRPr lang="zh-TW" altLang="en-US" sz="1800" dirty="0"/>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1800" dirty="0"/>
                            <a:t>8</a:t>
                          </a:r>
                          <a:endParaRPr lang="zh-TW" altLang="en-US" sz="18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01978662"/>
                      </a:ext>
                    </a:extLst>
                  </a:tr>
                </a:tbl>
              </a:graphicData>
            </a:graphic>
          </p:graphicFrame>
        </mc:Choice>
        <mc:Fallback xmlns="">
          <p:graphicFrame>
            <p:nvGraphicFramePr>
              <p:cNvPr id="32" name="表格 31"/>
              <p:cNvGraphicFramePr>
                <a:graphicFrameLocks noGrp="1"/>
              </p:cNvGraphicFramePr>
              <p:nvPr/>
            </p:nvGraphicFramePr>
            <p:xfrm>
              <a:off x="1932000" y="2673454"/>
              <a:ext cx="3960000" cy="4053905"/>
            </p:xfrm>
            <a:graphic>
              <a:graphicData uri="http://schemas.openxmlformats.org/drawingml/2006/table">
                <a:tbl>
                  <a:tblPr firstRow="1" bandRow="1">
                    <a:tableStyleId>{5940675A-B579-460E-94D1-54222C63F5DA}</a:tableStyleId>
                  </a:tblPr>
                  <a:tblGrid>
                    <a:gridCol w="360000">
                      <a:extLst>
                        <a:ext uri="{9D8B030D-6E8A-4147-A177-3AD203B41FA5}">
                          <a16:colId xmlns:a16="http://schemas.microsoft.com/office/drawing/2014/main" val="4073095714"/>
                        </a:ext>
                      </a:extLst>
                    </a:gridCol>
                    <a:gridCol w="360000">
                      <a:extLst>
                        <a:ext uri="{9D8B030D-6E8A-4147-A177-3AD203B41FA5}">
                          <a16:colId xmlns:a16="http://schemas.microsoft.com/office/drawing/2014/main" val="122811012"/>
                        </a:ext>
                      </a:extLst>
                    </a:gridCol>
                    <a:gridCol w="360000">
                      <a:extLst>
                        <a:ext uri="{9D8B030D-6E8A-4147-A177-3AD203B41FA5}">
                          <a16:colId xmlns:a16="http://schemas.microsoft.com/office/drawing/2014/main" val="835919203"/>
                        </a:ext>
                      </a:extLst>
                    </a:gridCol>
                    <a:gridCol w="360000">
                      <a:extLst>
                        <a:ext uri="{9D8B030D-6E8A-4147-A177-3AD203B41FA5}">
                          <a16:colId xmlns:a16="http://schemas.microsoft.com/office/drawing/2014/main" val="1619107429"/>
                        </a:ext>
                      </a:extLst>
                    </a:gridCol>
                    <a:gridCol w="360000">
                      <a:extLst>
                        <a:ext uri="{9D8B030D-6E8A-4147-A177-3AD203B41FA5}">
                          <a16:colId xmlns:a16="http://schemas.microsoft.com/office/drawing/2014/main" val="2000173800"/>
                        </a:ext>
                      </a:extLst>
                    </a:gridCol>
                    <a:gridCol w="360000">
                      <a:extLst>
                        <a:ext uri="{9D8B030D-6E8A-4147-A177-3AD203B41FA5}">
                          <a16:colId xmlns:a16="http://schemas.microsoft.com/office/drawing/2014/main" val="2936943231"/>
                        </a:ext>
                      </a:extLst>
                    </a:gridCol>
                    <a:gridCol w="360000">
                      <a:extLst>
                        <a:ext uri="{9D8B030D-6E8A-4147-A177-3AD203B41FA5}">
                          <a16:colId xmlns:a16="http://schemas.microsoft.com/office/drawing/2014/main" val="901059968"/>
                        </a:ext>
                      </a:extLst>
                    </a:gridCol>
                    <a:gridCol w="360000">
                      <a:extLst>
                        <a:ext uri="{9D8B030D-6E8A-4147-A177-3AD203B41FA5}">
                          <a16:colId xmlns:a16="http://schemas.microsoft.com/office/drawing/2014/main" val="3756777949"/>
                        </a:ext>
                      </a:extLst>
                    </a:gridCol>
                    <a:gridCol w="360000">
                      <a:extLst>
                        <a:ext uri="{9D8B030D-6E8A-4147-A177-3AD203B41FA5}">
                          <a16:colId xmlns:a16="http://schemas.microsoft.com/office/drawing/2014/main" val="2146270772"/>
                        </a:ext>
                      </a:extLst>
                    </a:gridCol>
                    <a:gridCol w="360000">
                      <a:extLst>
                        <a:ext uri="{9D8B030D-6E8A-4147-A177-3AD203B41FA5}">
                          <a16:colId xmlns:a16="http://schemas.microsoft.com/office/drawing/2014/main" val="4001691182"/>
                        </a:ext>
                      </a:extLst>
                    </a:gridCol>
                    <a:gridCol w="360000">
                      <a:extLst>
                        <a:ext uri="{9D8B030D-6E8A-4147-A177-3AD203B41FA5}">
                          <a16:colId xmlns:a16="http://schemas.microsoft.com/office/drawing/2014/main" val="1825885578"/>
                        </a:ext>
                      </a:extLst>
                    </a:gridCol>
                  </a:tblGrid>
                  <a:tr h="365760">
                    <a:tc>
                      <a:txBody>
                        <a:bodyPr/>
                        <a:lstStyle/>
                        <a:p>
                          <a:pPr algn="ctr"/>
                          <a:endParaRPr lang="zh-TW" altLang="en-US" sz="18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gridSpan="10">
                      <a:txBody>
                        <a:bodyPr/>
                        <a:lstStyle/>
                        <a:p>
                          <a:pPr algn="ctr"/>
                          <a:r>
                            <a:rPr lang="en-US" altLang="zh-TW" sz="1800" dirty="0"/>
                            <a:t>Matrix A</a:t>
                          </a:r>
                          <a:endParaRPr lang="zh-TW" altLang="en-US" sz="18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8429601"/>
                      </a:ext>
                    </a:extLst>
                  </a:tr>
                  <a:tr h="365760">
                    <a:tc>
                      <a:txBody>
                        <a:bodyPr/>
                        <a:lstStyle/>
                        <a:p>
                          <a:pPr algn="ctr"/>
                          <a:endParaRPr lang="zh-TW" altLang="en-US" sz="18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zh-TW" altLang="en-US" sz="18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gridSpan="3">
                      <a:txBody>
                        <a:bodyPr/>
                        <a:lstStyle/>
                        <a:p>
                          <a:endParaRPr lang="zh-TW"/>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66292" t="-108333" r="-200562" b="-936667"/>
                          </a:stretch>
                        </a:blipFill>
                      </a:tcPr>
                    </a:tc>
                    <a:tc hMerge="1">
                      <a:txBody>
                        <a:bodyPr/>
                        <a:lstStyle/>
                        <a:p>
                          <a:pPr algn="ctr"/>
                          <a:endParaRPr lang="zh-TW" altLang="en-US" sz="2000" dirty="0"/>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000" dirty="0"/>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3">
                      <a:txBody>
                        <a:bodyPr/>
                        <a:lstStyle/>
                        <a:p>
                          <a:endParaRPr lang="zh-TW"/>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167232" t="-108333" r="-101695" b="-936667"/>
                          </a:stretch>
                        </a:blipFill>
                      </a:tcPr>
                    </a:tc>
                    <a:tc hMerge="1">
                      <a:txBody>
                        <a:bodyPr/>
                        <a:lstStyle/>
                        <a:p>
                          <a:pPr algn="ctr"/>
                          <a:endParaRPr lang="zh-TW" altLang="en-US" sz="2000" dirty="0"/>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000" dirty="0"/>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3">
                      <a:txBody>
                        <a:bodyPr/>
                        <a:lstStyle/>
                        <a:p>
                          <a:endParaRPr lang="zh-TW"/>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265730" t="-108333" r="-1124" b="-936667"/>
                          </a:stretch>
                        </a:blipFill>
                      </a:tcPr>
                    </a:tc>
                    <a:tc hMerge="1">
                      <a:txBody>
                        <a:bodyPr/>
                        <a:lstStyle/>
                        <a:p>
                          <a:pPr algn="ctr"/>
                          <a:endParaRPr lang="zh-TW" altLang="en-US" sz="2000" dirty="0"/>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000" dirty="0"/>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43825879"/>
                      </a:ext>
                    </a:extLst>
                  </a:tr>
                  <a:tr h="365760">
                    <a:tc>
                      <a:txBody>
                        <a:bodyPr/>
                        <a:lstStyle/>
                        <a:p>
                          <a:pPr algn="ctr"/>
                          <a:endParaRPr lang="zh-TW" altLang="en-US" sz="18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zh-TW" altLang="en-US" sz="18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1800" dirty="0"/>
                            <a:t>1</a:t>
                          </a:r>
                          <a:endParaRPr lang="zh-TW" altLang="en-US" sz="18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800" dirty="0"/>
                            <a:t>2</a:t>
                          </a:r>
                          <a:endParaRPr lang="zh-TW" altLang="en-US" sz="18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800" dirty="0"/>
                            <a:t>3</a:t>
                          </a:r>
                          <a:endParaRPr lang="zh-TW" altLang="en-US" sz="18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800" dirty="0"/>
                            <a:t>4</a:t>
                          </a:r>
                          <a:endParaRPr lang="zh-TW" altLang="en-US" sz="18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800" dirty="0"/>
                            <a:t>5</a:t>
                          </a:r>
                          <a:endParaRPr lang="zh-TW" altLang="en-US" sz="18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800" dirty="0"/>
                            <a:t>6</a:t>
                          </a:r>
                          <a:endParaRPr lang="zh-TW" altLang="en-US" sz="18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800" dirty="0"/>
                            <a:t>7</a:t>
                          </a:r>
                          <a:endParaRPr lang="zh-TW" altLang="en-US" sz="18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800" dirty="0"/>
                            <a:t>8</a:t>
                          </a:r>
                          <a:endParaRPr lang="zh-TW" altLang="en-US" sz="18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1800" dirty="0"/>
                            <a:t>9</a:t>
                          </a:r>
                          <a:endParaRPr lang="zh-TW" altLang="en-US" sz="18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98706228"/>
                      </a:ext>
                    </a:extLst>
                  </a:tr>
                  <a:tr h="368935">
                    <a:tc>
                      <a:txBody>
                        <a:bodyPr/>
                        <a:lstStyle/>
                        <a:p>
                          <a:endParaRPr lang="zh-TW"/>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blipFill>
                          <a:blip r:embed="rId4"/>
                          <a:stretch>
                            <a:fillRect t="-303279" r="-1006780" b="-722951"/>
                          </a:stretch>
                        </a:blipFill>
                      </a:tcPr>
                    </a:tc>
                    <a:tc>
                      <a:txBody>
                        <a:bodyPr/>
                        <a:lstStyle/>
                        <a:p>
                          <a:pPr algn="ctr"/>
                          <a:r>
                            <a:rPr lang="en-US" altLang="zh-TW" sz="1800" dirty="0"/>
                            <a:t>1</a:t>
                          </a:r>
                          <a:endParaRPr lang="zh-TW" altLang="en-US" sz="18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96667" t="-303279" r="-791667" b="-72295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01695" t="-303279" r="-705085" b="-72295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01695" t="-303279" r="-605085" b="-72295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01695" t="-303279" r="-505085" b="-72295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01695" t="-303279" r="-405085" b="-72295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01695" t="-303279" r="-305085" b="-72295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88333" t="-303279" r="-200000" b="-72295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03390" t="-303279" r="-103390" b="-72295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3390" t="-303279" r="-3390" b="-722951"/>
                          </a:stretch>
                        </a:blipFill>
                      </a:tcPr>
                    </a:tc>
                    <a:extLst>
                      <a:ext uri="{0D108BD9-81ED-4DB2-BD59-A6C34878D82A}">
                        <a16:rowId xmlns:a16="http://schemas.microsoft.com/office/drawing/2014/main" val="1642121216"/>
                      </a:ext>
                    </a:extLst>
                  </a:tr>
                  <a:tr h="370269">
                    <a:tc>
                      <a:txBody>
                        <a:bodyPr/>
                        <a:lstStyle/>
                        <a:p>
                          <a:endParaRPr lang="zh-TW"/>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blipFill>
                          <a:blip r:embed="rId4"/>
                          <a:stretch>
                            <a:fillRect t="-403279" r="-1006780" b="-622951"/>
                          </a:stretch>
                        </a:blipFill>
                      </a:tcPr>
                    </a:tc>
                    <a:tc>
                      <a:txBody>
                        <a:bodyPr/>
                        <a:lstStyle/>
                        <a:p>
                          <a:pPr algn="ctr"/>
                          <a:r>
                            <a:rPr lang="en-US" altLang="zh-TW" sz="1800" dirty="0"/>
                            <a:t>2</a:t>
                          </a:r>
                          <a:endParaRPr lang="zh-TW" altLang="en-US" sz="18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96667" t="-403279" r="-791667" b="-62295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01695" t="-403279" r="-705085" b="-62295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01695" t="-403279" r="-605085" b="-62295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01695" t="-403279" r="-505085" b="-62295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01695" t="-403279" r="-405085" b="-62295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01695" t="-403279" r="-305085" b="-62295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88333" t="-403279" r="-200000" b="-62295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03390" t="-403279" r="-103390" b="-622951"/>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3390" t="-403279" r="-3390" b="-622951"/>
                          </a:stretch>
                        </a:blipFill>
                      </a:tcPr>
                    </a:tc>
                    <a:extLst>
                      <a:ext uri="{0D108BD9-81ED-4DB2-BD59-A6C34878D82A}">
                        <a16:rowId xmlns:a16="http://schemas.microsoft.com/office/drawing/2014/main" val="592435610"/>
                      </a:ext>
                    </a:extLst>
                  </a:tr>
                  <a:tr h="368872">
                    <a:tc>
                      <a:txBody>
                        <a:bodyPr/>
                        <a:lstStyle/>
                        <a:p>
                          <a:endParaRPr lang="zh-TW"/>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blipFill>
                          <a:blip r:embed="rId4"/>
                          <a:stretch>
                            <a:fillRect t="-511667" r="-1006780" b="-533333"/>
                          </a:stretch>
                        </a:blipFill>
                      </a:tcPr>
                    </a:tc>
                    <a:tc>
                      <a:txBody>
                        <a:bodyPr/>
                        <a:lstStyle/>
                        <a:p>
                          <a:pPr algn="ctr"/>
                          <a:r>
                            <a:rPr lang="en-US" altLang="zh-TW" sz="1800" dirty="0"/>
                            <a:t>3</a:t>
                          </a:r>
                          <a:endParaRPr lang="zh-TW" altLang="en-US" sz="18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96667" t="-511667" r="-791667" b="-533333"/>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01695" t="-511667" r="-705085" b="-533333"/>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01695" t="-511667" r="-605085" b="-533333"/>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01695" t="-511667" r="-505085" b="-533333"/>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01695" t="-511667" r="-405085" b="-533333"/>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01695" t="-511667" r="-305085" b="-533333"/>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88333" t="-511667" r="-200000" b="-533333"/>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03390" t="-511667" r="-103390" b="-533333"/>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3390" t="-511667" r="-3390" b="-533333"/>
                          </a:stretch>
                        </a:blipFill>
                      </a:tcPr>
                    </a:tc>
                    <a:extLst>
                      <a:ext uri="{0D108BD9-81ED-4DB2-BD59-A6C34878D82A}">
                        <a16:rowId xmlns:a16="http://schemas.microsoft.com/office/drawing/2014/main" val="1454765373"/>
                      </a:ext>
                    </a:extLst>
                  </a:tr>
                  <a:tr h="370840">
                    <a:tc>
                      <a:txBody>
                        <a:bodyPr/>
                        <a:lstStyle/>
                        <a:p>
                          <a:endParaRPr lang="zh-TW"/>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blipFill>
                          <a:blip r:embed="rId4"/>
                          <a:stretch>
                            <a:fillRect t="-601639" r="-1006780" b="-424590"/>
                          </a:stretch>
                        </a:blipFill>
                      </a:tcPr>
                    </a:tc>
                    <a:tc>
                      <a:txBody>
                        <a:bodyPr/>
                        <a:lstStyle/>
                        <a:p>
                          <a:pPr algn="ctr"/>
                          <a:r>
                            <a:rPr lang="en-US" altLang="zh-TW" sz="1800" dirty="0"/>
                            <a:t>4</a:t>
                          </a:r>
                          <a:endParaRPr lang="zh-TW" altLang="en-US" sz="18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96667" t="-601639" r="-791667" b="-42459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01695" t="-601639" r="-705085" b="-42459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01695" t="-601639" r="-605085" b="-42459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01695" t="-601639" r="-505085" b="-42459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01695" t="-601639" r="-405085" b="-42459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01695" t="-601639" r="-305085" b="-42459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88333" t="-601639" r="-200000" b="-42459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03390" t="-601639" r="-103390" b="-42459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3390" t="-601639" r="-3390" b="-424590"/>
                          </a:stretch>
                        </a:blipFill>
                      </a:tcPr>
                    </a:tc>
                    <a:extLst>
                      <a:ext uri="{0D108BD9-81ED-4DB2-BD59-A6C34878D82A}">
                        <a16:rowId xmlns:a16="http://schemas.microsoft.com/office/drawing/2014/main" val="1969180369"/>
                      </a:ext>
                    </a:extLst>
                  </a:tr>
                  <a:tr h="370269">
                    <a:tc>
                      <a:txBody>
                        <a:bodyPr/>
                        <a:lstStyle/>
                        <a:p>
                          <a:endParaRPr lang="zh-TW"/>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blipFill>
                          <a:blip r:embed="rId4"/>
                          <a:stretch>
                            <a:fillRect t="-701639" r="-1006780" b="-324590"/>
                          </a:stretch>
                        </a:blipFill>
                      </a:tcPr>
                    </a:tc>
                    <a:tc>
                      <a:txBody>
                        <a:bodyPr/>
                        <a:lstStyle/>
                        <a:p>
                          <a:pPr algn="ctr"/>
                          <a:r>
                            <a:rPr lang="en-US" altLang="zh-TW" sz="1800" dirty="0"/>
                            <a:t>5</a:t>
                          </a:r>
                          <a:endParaRPr lang="zh-TW" altLang="en-US" sz="18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96667" t="-701639" r="-791667" b="-32459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01695" t="-701639" r="-705085" b="-32459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01695" t="-701639" r="-605085" b="-32459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01695" t="-701639" r="-505085" b="-32459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01695" t="-701639" r="-405085" b="-32459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01695" t="-701639" r="-305085" b="-32459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88333" t="-701639" r="-200000" b="-32459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03390" t="-701639" r="-103390" b="-32459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3390" t="-701639" r="-3390" b="-324590"/>
                          </a:stretch>
                        </a:blipFill>
                      </a:tcPr>
                    </a:tc>
                    <a:extLst>
                      <a:ext uri="{0D108BD9-81ED-4DB2-BD59-A6C34878D82A}">
                        <a16:rowId xmlns:a16="http://schemas.microsoft.com/office/drawing/2014/main" val="539250096"/>
                      </a:ext>
                    </a:extLst>
                  </a:tr>
                  <a:tr h="369443">
                    <a:tc>
                      <a:txBody>
                        <a:bodyPr/>
                        <a:lstStyle/>
                        <a:p>
                          <a:endParaRPr lang="zh-TW"/>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blipFill>
                          <a:blip r:embed="rId4"/>
                          <a:stretch>
                            <a:fillRect t="-801639" r="-1006780" b="-224590"/>
                          </a:stretch>
                        </a:blipFill>
                      </a:tcPr>
                    </a:tc>
                    <a:tc>
                      <a:txBody>
                        <a:bodyPr/>
                        <a:lstStyle/>
                        <a:p>
                          <a:pPr algn="ctr"/>
                          <a:r>
                            <a:rPr lang="en-US" altLang="zh-TW" sz="1800" dirty="0"/>
                            <a:t>6</a:t>
                          </a:r>
                          <a:endParaRPr lang="zh-TW" altLang="en-US" sz="18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96667" t="-801639" r="-791667" b="-22459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01695" t="-801639" r="-705085" b="-22459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01695" t="-801639" r="-605085" b="-22459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01695" t="-801639" r="-505085" b="-22459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01695" t="-801639" r="-405085" b="-22459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01695" t="-801639" r="-305085" b="-22459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88333" t="-801639" r="-200000" b="-22459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03390" t="-801639" r="-103390" b="-22459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3390" t="-801639" r="-3390" b="-224590"/>
                          </a:stretch>
                        </a:blipFill>
                      </a:tcPr>
                    </a:tc>
                    <a:extLst>
                      <a:ext uri="{0D108BD9-81ED-4DB2-BD59-A6C34878D82A}">
                        <a16:rowId xmlns:a16="http://schemas.microsoft.com/office/drawing/2014/main" val="872840707"/>
                      </a:ext>
                    </a:extLst>
                  </a:tr>
                  <a:tr h="372237">
                    <a:tc>
                      <a:txBody>
                        <a:bodyPr/>
                        <a:lstStyle/>
                        <a:p>
                          <a:endParaRPr lang="zh-TW"/>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blipFill>
                          <a:blip r:embed="rId4"/>
                          <a:stretch>
                            <a:fillRect t="-901639" r="-1006780" b="-124590"/>
                          </a:stretch>
                        </a:blipFill>
                      </a:tcPr>
                    </a:tc>
                    <a:tc>
                      <a:txBody>
                        <a:bodyPr/>
                        <a:lstStyle/>
                        <a:p>
                          <a:pPr algn="ctr"/>
                          <a:r>
                            <a:rPr lang="en-US" altLang="zh-TW" sz="1800" dirty="0"/>
                            <a:t>7</a:t>
                          </a:r>
                          <a:endParaRPr lang="zh-TW" altLang="en-US" sz="18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96667" t="-901639" r="-791667" b="-12459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01695" t="-901639" r="-705085" b="-12459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01695" t="-901639" r="-605085" b="-12459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01695" t="-901639" r="-505085" b="-12459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01695" t="-901639" r="-405085" b="-12459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01695" t="-901639" r="-305085" b="-12459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88333" t="-901639" r="-200000" b="-12459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03390" t="-901639" r="-103390" b="-124590"/>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3390" t="-901639" r="-3390" b="-124590"/>
                          </a:stretch>
                        </a:blipFill>
                      </a:tcPr>
                    </a:tc>
                    <a:extLst>
                      <a:ext uri="{0D108BD9-81ED-4DB2-BD59-A6C34878D82A}">
                        <a16:rowId xmlns:a16="http://schemas.microsoft.com/office/drawing/2014/main" val="3919523155"/>
                      </a:ext>
                    </a:extLst>
                  </a:tr>
                  <a:tr h="365760">
                    <a:tc>
                      <a:txBody>
                        <a:bodyPr/>
                        <a:lstStyle/>
                        <a:p>
                          <a:endParaRPr lang="zh-TW"/>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blipFill>
                          <a:blip r:embed="rId4"/>
                          <a:stretch>
                            <a:fillRect t="-1018333" r="-1006780" b="-26667"/>
                          </a:stretch>
                        </a:blipFill>
                      </a:tcPr>
                    </a:tc>
                    <a:tc>
                      <a:txBody>
                        <a:bodyPr/>
                        <a:lstStyle/>
                        <a:p>
                          <a:pPr algn="ctr"/>
                          <a:r>
                            <a:rPr lang="en-US" altLang="zh-TW" sz="1800" dirty="0"/>
                            <a:t>8</a:t>
                          </a:r>
                          <a:endParaRPr lang="zh-TW" altLang="en-US" sz="18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96667" t="-1018333" r="-791667" b="-26667"/>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01695" t="-1018333" r="-705085" b="-26667"/>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01695" t="-1018333" r="-605085" b="-26667"/>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01695" t="-1018333" r="-505085" b="-26667"/>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01695" t="-1018333" r="-405085" b="-26667"/>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01695" t="-1018333" r="-305085" b="-26667"/>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88333" t="-1018333" r="-200000" b="-26667"/>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03390" t="-1018333" r="-103390" b="-26667"/>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3390" t="-1018333" r="-3390" b="-26667"/>
                          </a:stretch>
                        </a:blipFill>
                      </a:tcPr>
                    </a:tc>
                    <a:extLst>
                      <a:ext uri="{0D108BD9-81ED-4DB2-BD59-A6C34878D82A}">
                        <a16:rowId xmlns:a16="http://schemas.microsoft.com/office/drawing/2014/main" val="1201978662"/>
                      </a:ext>
                    </a:extLst>
                  </a:tr>
                </a:tbl>
              </a:graphicData>
            </a:graphic>
          </p:graphicFrame>
        </mc:Fallback>
      </mc:AlternateContent>
      <mc:AlternateContent xmlns:mc="http://schemas.openxmlformats.org/markup-compatibility/2006" xmlns:a14="http://schemas.microsoft.com/office/drawing/2010/main">
        <mc:Choice Requires="a14">
          <p:sp>
            <p:nvSpPr>
              <p:cNvPr id="16" name="文字方塊 15"/>
              <p:cNvSpPr txBox="1"/>
              <p:nvPr/>
            </p:nvSpPr>
            <p:spPr>
              <a:xfrm>
                <a:off x="1970784" y="1148981"/>
                <a:ext cx="3076227" cy="1548437"/>
              </a:xfrm>
              <a:prstGeom prst="rect">
                <a:avLst/>
              </a:prstGeom>
              <a:noFill/>
            </p:spPr>
            <p:txBody>
              <a:bodyPr wrap="none" lIns="0" tIns="0" rIns="0" bIns="0" rtlCol="0">
                <a:spAutoFit/>
              </a:bodyPr>
              <a:lstStyle/>
              <a:p>
                <a14:m>
                  <m:oMath xmlns:m="http://schemas.openxmlformats.org/officeDocument/2006/math">
                    <m:r>
                      <a:rPr lang="en-US" altLang="zh-TW" sz="2400" i="1">
                        <a:latin typeface="Cambria Math" panose="02040503050406030204" pitchFamily="18" charset="0"/>
                      </a:rPr>
                      <m:t>𝑋</m:t>
                    </m:r>
                    <m:r>
                      <a:rPr lang="en-US" altLang="zh-TW" sz="2400" i="1">
                        <a:latin typeface="Cambria Math" panose="02040503050406030204" pitchFamily="18" charset="0"/>
                      </a:rPr>
                      <m:t>=</m:t>
                    </m:r>
                    <m:d>
                      <m:dPr>
                        <m:begChr m:val="{"/>
                        <m:endChr m:val="}"/>
                        <m:ctrlPr>
                          <a:rPr lang="en-US" altLang="zh-TW" sz="2400" i="1">
                            <a:latin typeface="Cambria Math" panose="02040503050406030204" pitchFamily="18" charset="0"/>
                          </a:rPr>
                        </m:ctrlPr>
                      </m:dPr>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1</m:t>
                            </m:r>
                          </m:sub>
                        </m:sSub>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2</m:t>
                            </m:r>
                          </m:sub>
                        </m:sSub>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3</m:t>
                            </m:r>
                          </m:sub>
                        </m:sSub>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4</m:t>
                            </m:r>
                          </m:sub>
                        </m:sSub>
                      </m:e>
                    </m:d>
                  </m:oMath>
                </a14:m>
                <a:r>
                  <a:rPr lang="en-US" altLang="zh-TW" sz="2400" dirty="0"/>
                  <a:t> </a:t>
                </a:r>
              </a:p>
              <a:p>
                <a:pPr/>
                <a14:m>
                  <m:oMathPara xmlns:m="http://schemas.openxmlformats.org/officeDocument/2006/math">
                    <m:oMathParaPr>
                      <m:jc m:val="left"/>
                    </m:oMathParaPr>
                    <m:oMath xmlns:m="http://schemas.openxmlformats.org/officeDocument/2006/math">
                      <m:r>
                        <a:rPr lang="en-US" altLang="zh-TW" sz="2400" i="1">
                          <a:latin typeface="Cambria Math" panose="02040503050406030204" pitchFamily="18" charset="0"/>
                        </a:rPr>
                        <m:t>𝐶</m:t>
                      </m:r>
                      <m:r>
                        <a:rPr lang="en-US" altLang="zh-TW" sz="2400" i="1">
                          <a:latin typeface="Cambria Math" panose="02040503050406030204" pitchFamily="18" charset="0"/>
                        </a:rPr>
                        <m:t>=</m:t>
                      </m:r>
                      <m:d>
                        <m:dPr>
                          <m:begChr m:val="{"/>
                          <m:endChr m:val="}"/>
                          <m:ctrlPr>
                            <a:rPr lang="en-US" altLang="zh-TW" sz="2400" i="1">
                              <a:latin typeface="Cambria Math" panose="02040503050406030204" pitchFamily="18" charset="0"/>
                            </a:rPr>
                          </m:ctrlPr>
                        </m:dPr>
                        <m:e>
                          <m:eqArr>
                            <m:eqArrPr>
                              <m:ctrlPr>
                                <a:rPr lang="en-US" altLang="zh-TW" sz="2400" i="1">
                                  <a:latin typeface="Cambria Math" panose="02040503050406030204" pitchFamily="18" charset="0"/>
                                </a:rPr>
                              </m:ctrlPr>
                            </m:eqArrPr>
                            <m:e>
                              <m:d>
                                <m:dPr>
                                  <m:ctrlPr>
                                    <a:rPr lang="en-US" altLang="zh-TW" sz="2400" i="1">
                                      <a:latin typeface="Cambria Math" panose="02040503050406030204" pitchFamily="18" charset="0"/>
                                    </a:rPr>
                                  </m:ctrlPr>
                                </m:dPr>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1</m:t>
                                      </m:r>
                                    </m:sub>
                                  </m:sSub>
                                  <m:r>
                                    <a:rPr lang="en-US" altLang="zh-TW" sz="2400" i="1">
                                      <a:latin typeface="Cambria Math" panose="02040503050406030204" pitchFamily="18" charset="0"/>
                                      <a:ea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2</m:t>
                                      </m:r>
                                    </m:sub>
                                  </m:sSub>
                                  <m:r>
                                    <a:rPr lang="en-US" altLang="zh-TW" sz="2400" i="1">
                                      <a:latin typeface="Cambria Math" panose="02040503050406030204" pitchFamily="18" charset="0"/>
                                      <a:ea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3</m:t>
                                      </m:r>
                                    </m:sub>
                                  </m:sSub>
                                </m:e>
                              </m:d>
                              <m:r>
                                <a:rPr lang="en-US" altLang="zh-TW" sz="2400" i="1">
                                  <a:latin typeface="Cambria Math" panose="02040503050406030204" pitchFamily="18" charset="0"/>
                                  <a:ea typeface="Cambria Math" panose="02040503050406030204" pitchFamily="18" charset="0"/>
                                </a:rPr>
                                <m:t>∧</m:t>
                              </m:r>
                            </m:e>
                            <m:e>
                              <m:d>
                                <m:dPr>
                                  <m:ctrlPr>
                                    <a:rPr lang="en-US" altLang="zh-TW" sz="2400" i="1">
                                      <a:latin typeface="Cambria Math" panose="02040503050406030204" pitchFamily="18" charset="0"/>
                                    </a:rPr>
                                  </m:ctrlPr>
                                </m:dPr>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1</m:t>
                                      </m:r>
                                    </m:sub>
                                  </m:sSub>
                                  <m:r>
                                    <a:rPr lang="en-US" altLang="zh-TW" sz="2400" i="1">
                                      <a:latin typeface="Cambria Math" panose="02040503050406030204" pitchFamily="18" charset="0"/>
                                      <a:ea typeface="Cambria Math" panose="02040503050406030204" pitchFamily="18" charset="0"/>
                                    </a:rPr>
                                    <m:t>∨</m:t>
                                  </m:r>
                                  <m:acc>
                                    <m:accPr>
                                      <m:chr m:val="̅"/>
                                      <m:ctrlPr>
                                        <a:rPr lang="en-US" altLang="zh-TW" sz="2400" i="1">
                                          <a:latin typeface="Cambria Math" panose="02040503050406030204" pitchFamily="18" charset="0"/>
                                        </a:rPr>
                                      </m:ctrlPr>
                                    </m:accPr>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3</m:t>
                                          </m:r>
                                        </m:sub>
                                      </m:sSub>
                                    </m:e>
                                  </m:acc>
                                  <m:r>
                                    <a:rPr lang="en-US" altLang="zh-TW" sz="2400" i="1">
                                      <a:latin typeface="Cambria Math" panose="02040503050406030204" pitchFamily="18" charset="0"/>
                                      <a:ea typeface="Cambria Math" panose="02040503050406030204" pitchFamily="18" charset="0"/>
                                    </a:rPr>
                                    <m:t>∨</m:t>
                                  </m:r>
                                  <m:acc>
                                    <m:accPr>
                                      <m:chr m:val="̅"/>
                                      <m:ctrlPr>
                                        <a:rPr lang="en-US" altLang="zh-TW" sz="2400" i="1">
                                          <a:latin typeface="Cambria Math" panose="02040503050406030204" pitchFamily="18" charset="0"/>
                                        </a:rPr>
                                      </m:ctrlPr>
                                    </m:accPr>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2</m:t>
                                          </m:r>
                                        </m:sub>
                                      </m:sSub>
                                    </m:e>
                                  </m:acc>
                                </m:e>
                              </m:d>
                              <m:r>
                                <a:rPr lang="en-US" altLang="zh-TW" sz="2400" i="1">
                                  <a:latin typeface="Cambria Math" panose="02040503050406030204" pitchFamily="18" charset="0"/>
                                  <a:ea typeface="Cambria Math" panose="02040503050406030204" pitchFamily="18" charset="0"/>
                                </a:rPr>
                                <m:t>∧</m:t>
                              </m:r>
                            </m:e>
                            <m:e>
                              <m:d>
                                <m:dPr>
                                  <m:ctrlPr>
                                    <a:rPr lang="en-US" altLang="zh-TW" sz="2400" i="1">
                                      <a:latin typeface="Cambria Math" panose="02040503050406030204" pitchFamily="18" charset="0"/>
                                    </a:rPr>
                                  </m:ctrlPr>
                                </m:dPr>
                                <m:e>
                                  <m:acc>
                                    <m:accPr>
                                      <m:chr m:val="̅"/>
                                      <m:ctrlPr>
                                        <a:rPr lang="en-US" altLang="zh-TW" sz="2400" i="1">
                                          <a:latin typeface="Cambria Math" panose="02040503050406030204" pitchFamily="18" charset="0"/>
                                        </a:rPr>
                                      </m:ctrlPr>
                                    </m:accPr>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1</m:t>
                                          </m:r>
                                        </m:sub>
                                      </m:sSub>
                                    </m:e>
                                  </m:acc>
                                  <m:r>
                                    <a:rPr lang="en-US" altLang="zh-TW" sz="2400" i="1">
                                      <a:latin typeface="Cambria Math" panose="02040503050406030204" pitchFamily="18" charset="0"/>
                                      <a:ea typeface="Cambria Math" panose="02040503050406030204" pitchFamily="18" charset="0"/>
                                    </a:rPr>
                                    <m:t>∨</m:t>
                                  </m:r>
                                  <m:acc>
                                    <m:accPr>
                                      <m:chr m:val="̅"/>
                                      <m:ctrlPr>
                                        <a:rPr lang="en-US" altLang="zh-TW" sz="2400" i="1">
                                          <a:latin typeface="Cambria Math" panose="02040503050406030204" pitchFamily="18" charset="0"/>
                                        </a:rPr>
                                      </m:ctrlPr>
                                    </m:accPr>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2</m:t>
                                          </m:r>
                                        </m:sub>
                                      </m:sSub>
                                    </m:e>
                                  </m:acc>
                                  <m:r>
                                    <a:rPr lang="en-US" altLang="zh-TW" sz="2400" i="1">
                                      <a:latin typeface="Cambria Math" panose="02040503050406030204" pitchFamily="18" charset="0"/>
                                      <a:ea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4</m:t>
                                      </m:r>
                                    </m:sub>
                                  </m:sSub>
                                </m:e>
                              </m:d>
                              <m:r>
                                <a:rPr lang="en-US" altLang="zh-TW" sz="2400" i="1">
                                  <a:solidFill>
                                    <a:schemeClr val="bg1"/>
                                  </a:solidFill>
                                  <a:latin typeface="Cambria Math" panose="02040503050406030204" pitchFamily="18" charset="0"/>
                                  <a:ea typeface="Cambria Math" panose="02040503050406030204" pitchFamily="18" charset="0"/>
                                </a:rPr>
                                <m:t>∧</m:t>
                              </m:r>
                            </m:e>
                          </m:eqArr>
                        </m:e>
                      </m:d>
                    </m:oMath>
                  </m:oMathPara>
                </a14:m>
                <a:endParaRPr lang="zh-TW" altLang="en-US" sz="2400" dirty="0"/>
              </a:p>
            </p:txBody>
          </p:sp>
        </mc:Choice>
        <mc:Fallback xmlns="">
          <p:sp>
            <p:nvSpPr>
              <p:cNvPr id="16" name="文字方塊 15"/>
              <p:cNvSpPr txBox="1">
                <a:spLocks noRot="1" noChangeAspect="1" noMove="1" noResize="1" noEditPoints="1" noAdjustHandles="1" noChangeArrowheads="1" noChangeShapeType="1" noTextEdit="1"/>
              </p:cNvSpPr>
              <p:nvPr/>
            </p:nvSpPr>
            <p:spPr>
              <a:xfrm>
                <a:off x="1970784" y="1148981"/>
                <a:ext cx="3076227" cy="1548437"/>
              </a:xfrm>
              <a:prstGeom prst="rect">
                <a:avLst/>
              </a:prstGeom>
              <a:blipFill>
                <a:blip r:embed="rId5"/>
                <a:stretch>
                  <a:fillRect l="-3366"/>
                </a:stretch>
              </a:blipFill>
            </p:spPr>
            <p:txBody>
              <a:bodyPr/>
              <a:lstStyle/>
              <a:p>
                <a:r>
                  <a:rPr lang="zh-TW" altLang="en-US">
                    <a:noFill/>
                  </a:rPr>
                  <a:t> </a:t>
                </a:r>
              </a:p>
            </p:txBody>
          </p:sp>
        </mc:Fallback>
      </mc:AlternateContent>
      <p:sp>
        <p:nvSpPr>
          <p:cNvPr id="7" name="文字方塊 6"/>
          <p:cNvSpPr txBox="1"/>
          <p:nvPr/>
        </p:nvSpPr>
        <p:spPr>
          <a:xfrm>
            <a:off x="1341888" y="62138"/>
            <a:ext cx="5500224" cy="1077218"/>
          </a:xfrm>
          <a:prstGeom prst="rect">
            <a:avLst/>
          </a:prstGeom>
          <a:noFill/>
        </p:spPr>
        <p:txBody>
          <a:bodyPr wrap="none" rtlCol="0">
            <a:spAutoFit/>
          </a:bodyPr>
          <a:lstStyle/>
          <a:p>
            <a:r>
              <a:rPr lang="en-US" altLang="zh-TW" sz="3200" dirty="0">
                <a:solidFill>
                  <a:srgbClr val="0000FF"/>
                </a:solidFill>
                <a:latin typeface="Times New Roman" panose="02020603050405020304" pitchFamily="18" charset="0"/>
                <a:cs typeface="Times New Roman" panose="02020603050405020304" pitchFamily="18" charset="0"/>
              </a:rPr>
              <a:t>P(ENL)</a:t>
            </a:r>
            <a:r>
              <a:rPr lang="zh-TW" altLang="en-US" sz="3200" dirty="0">
                <a:solidFill>
                  <a:srgbClr val="0000FF"/>
                </a:solidFill>
                <a:latin typeface="Times New Roman" panose="02020603050405020304" pitchFamily="18" charset="0"/>
                <a:cs typeface="Times New Roman" panose="02020603050405020304" pitchFamily="18" charset="0"/>
              </a:rPr>
              <a:t> </a:t>
            </a:r>
            <a:r>
              <a:rPr lang="en-US" altLang="zh-TW" sz="3200" dirty="0">
                <a:solidFill>
                  <a:srgbClr val="0000FF"/>
                </a:solidFill>
                <a:latin typeface="Times New Roman" panose="02020603050405020304" pitchFamily="18" charset="0"/>
                <a:cs typeface="Times New Roman" panose="02020603050405020304" pitchFamily="18" charset="0"/>
              </a:rPr>
              <a:t>is NP-hardness.</a:t>
            </a:r>
          </a:p>
          <a:p>
            <a:r>
              <a:rPr lang="en-US" altLang="zh-TW" sz="3200" dirty="0">
                <a:solidFill>
                  <a:srgbClr val="FF0000"/>
                </a:solidFill>
                <a:latin typeface="Times New Roman" panose="02020603050405020304" pitchFamily="18" charset="0"/>
                <a:cs typeface="Times New Roman" panose="02020603050405020304" pitchFamily="18" charset="0"/>
              </a:rPr>
              <a:t>Maximize</a:t>
            </a:r>
            <a:r>
              <a:rPr lang="zh-TW" altLang="en-US" sz="3200" dirty="0">
                <a:solidFill>
                  <a:srgbClr val="FF0000"/>
                </a:solidFill>
                <a:latin typeface="Times New Roman" panose="02020603050405020304" pitchFamily="18" charset="0"/>
                <a:cs typeface="Times New Roman" panose="02020603050405020304" pitchFamily="18" charset="0"/>
              </a:rPr>
              <a:t> </a:t>
            </a:r>
            <a:r>
              <a:rPr lang="en-US" altLang="zh-TW" sz="3200" dirty="0">
                <a:solidFill>
                  <a:srgbClr val="0000FF"/>
                </a:solidFill>
                <a:latin typeface="Times New Roman" panose="02020603050405020304" pitchFamily="18" charset="0"/>
                <a:cs typeface="Times New Roman" panose="02020603050405020304" pitchFamily="18" charset="0"/>
              </a:rPr>
              <a:t>the clauses to</a:t>
            </a:r>
            <a:r>
              <a:rPr lang="zh-TW" altLang="en-US" sz="3200" dirty="0">
                <a:solidFill>
                  <a:srgbClr val="0000FF"/>
                </a:solidFill>
                <a:latin typeface="Times New Roman" panose="02020603050405020304" pitchFamily="18" charset="0"/>
                <a:cs typeface="Times New Roman" panose="02020603050405020304" pitchFamily="18" charset="0"/>
              </a:rPr>
              <a:t> </a:t>
            </a:r>
            <a:r>
              <a:rPr lang="en-US" altLang="zh-TW" sz="3200" dirty="0">
                <a:solidFill>
                  <a:srgbClr val="0000FF"/>
                </a:solidFill>
                <a:latin typeface="Times New Roman" panose="02020603050405020304" pitchFamily="18" charset="0"/>
                <a:cs typeface="Times New Roman" panose="02020603050405020304" pitchFamily="18" charset="0"/>
              </a:rPr>
              <a:t>be </a:t>
            </a:r>
            <a:r>
              <a:rPr lang="en-US" altLang="zh-TW" sz="3200" dirty="0">
                <a:solidFill>
                  <a:srgbClr val="FF0000"/>
                </a:solidFill>
                <a:latin typeface="Times New Roman" panose="02020603050405020304" pitchFamily="18" charset="0"/>
                <a:cs typeface="Times New Roman" panose="02020603050405020304" pitchFamily="18" charset="0"/>
              </a:rPr>
              <a:t>true</a:t>
            </a:r>
            <a:r>
              <a:rPr lang="en-US" altLang="zh-TW" sz="3200" dirty="0">
                <a:solidFill>
                  <a:srgbClr val="0000FF"/>
                </a:solidFill>
                <a:latin typeface="Times New Roman" panose="02020603050405020304" pitchFamily="18" charset="0"/>
                <a:cs typeface="Times New Roman" panose="02020603050405020304" pitchFamily="18" charset="0"/>
              </a:rPr>
              <a:t>.</a:t>
            </a:r>
            <a:endParaRPr lang="zh-TW" altLang="en-US" sz="3200" dirty="0">
              <a:solidFill>
                <a:srgbClr val="0000FF"/>
              </a:solidFill>
              <a:latin typeface="Times New Roman" panose="02020603050405020304" pitchFamily="18" charset="0"/>
              <a:cs typeface="Times New Roman" panose="02020603050405020304" pitchFamily="18" charset="0"/>
            </a:endParaRPr>
          </a:p>
        </p:txBody>
      </p:sp>
      <p:sp>
        <p:nvSpPr>
          <p:cNvPr id="15" name="矩形 14"/>
          <p:cNvSpPr/>
          <p:nvPr/>
        </p:nvSpPr>
        <p:spPr>
          <a:xfrm>
            <a:off x="8822371" y="4107375"/>
            <a:ext cx="360000" cy="403200"/>
          </a:xfrm>
          <a:prstGeom prst="rect">
            <a:avLst/>
          </a:prstGeom>
          <a:solidFill>
            <a:srgbClr val="ED7D31">
              <a:alpha val="40000"/>
            </a:srgbClr>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文字方塊 20"/>
          <p:cNvSpPr txBox="1"/>
          <p:nvPr/>
        </p:nvSpPr>
        <p:spPr>
          <a:xfrm>
            <a:off x="6612770" y="175953"/>
            <a:ext cx="5139201" cy="400110"/>
          </a:xfrm>
          <a:prstGeom prst="rect">
            <a:avLst/>
          </a:prstGeom>
          <a:noFill/>
        </p:spPr>
        <p:txBody>
          <a:bodyPr wrap="square" rtlCol="0">
            <a:spAutoFit/>
          </a:bodyPr>
          <a:lstStyle/>
          <a:p>
            <a:r>
              <a:rPr lang="en-US" altLang="zh-TW" sz="2000" dirty="0">
                <a:latin typeface="Times New Roman" panose="02020603050405020304" pitchFamily="18" charset="0"/>
                <a:cs typeface="Times New Roman" panose="02020603050405020304" pitchFamily="18" charset="0"/>
              </a:rPr>
              <a:t>Proof:  MAX</a:t>
            </a:r>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3SAT-3 </a:t>
            </a:r>
            <a:r>
              <a:rPr lang="en-US" altLang="zh-TW" sz="2000" dirty="0">
                <a:latin typeface="Times New Roman" panose="02020603050405020304" pitchFamily="18" charset="0"/>
                <a:cs typeface="Times New Roman" panose="02020603050405020304" pitchFamily="18" charset="0"/>
                <a:sym typeface="Symbol"/>
              </a:rPr>
              <a:t> P(ENL) </a:t>
            </a:r>
            <a:r>
              <a:rPr lang="en-US" altLang="zh-TW" dirty="0"/>
              <a:t>[Guan2000] </a:t>
            </a:r>
            <a:endParaRPr lang="zh-TW" altLang="en-US" sz="2000" dirty="0"/>
          </a:p>
        </p:txBody>
      </p:sp>
      <mc:AlternateContent xmlns:mc="http://schemas.openxmlformats.org/markup-compatibility/2006" xmlns:a14="http://schemas.microsoft.com/office/drawing/2010/main">
        <mc:Choice Requires="a14">
          <p:graphicFrame>
            <p:nvGraphicFramePr>
              <p:cNvPr id="2" name="表格 1"/>
              <p:cNvGraphicFramePr>
                <a:graphicFrameLocks noGrp="1"/>
              </p:cNvGraphicFramePr>
              <p:nvPr/>
            </p:nvGraphicFramePr>
            <p:xfrm>
              <a:off x="7319569" y="573700"/>
              <a:ext cx="3168000" cy="1872000"/>
            </p:xfrm>
            <a:graphic>
              <a:graphicData uri="http://schemas.openxmlformats.org/drawingml/2006/table">
                <a:tbl>
                  <a:tblPr firstRow="1" bandRow="1">
                    <a:tableStyleId>{5940675A-B579-460E-94D1-54222C63F5DA}</a:tableStyleId>
                  </a:tblPr>
                  <a:tblGrid>
                    <a:gridCol w="468000">
                      <a:extLst>
                        <a:ext uri="{9D8B030D-6E8A-4147-A177-3AD203B41FA5}">
                          <a16:colId xmlns:a16="http://schemas.microsoft.com/office/drawing/2014/main" val="1281707070"/>
                        </a:ext>
                      </a:extLst>
                    </a:gridCol>
                    <a:gridCol w="468000">
                      <a:extLst>
                        <a:ext uri="{9D8B030D-6E8A-4147-A177-3AD203B41FA5}">
                          <a16:colId xmlns:a16="http://schemas.microsoft.com/office/drawing/2014/main" val="3514700436"/>
                        </a:ext>
                      </a:extLst>
                    </a:gridCol>
                    <a:gridCol w="468000">
                      <a:extLst>
                        <a:ext uri="{9D8B030D-6E8A-4147-A177-3AD203B41FA5}">
                          <a16:colId xmlns:a16="http://schemas.microsoft.com/office/drawing/2014/main" val="1860103807"/>
                        </a:ext>
                      </a:extLst>
                    </a:gridCol>
                    <a:gridCol w="360000">
                      <a:extLst>
                        <a:ext uri="{9D8B030D-6E8A-4147-A177-3AD203B41FA5}">
                          <a16:colId xmlns:a16="http://schemas.microsoft.com/office/drawing/2014/main" val="2390354494"/>
                        </a:ext>
                      </a:extLst>
                    </a:gridCol>
                    <a:gridCol w="468000">
                      <a:extLst>
                        <a:ext uri="{9D8B030D-6E8A-4147-A177-3AD203B41FA5}">
                          <a16:colId xmlns:a16="http://schemas.microsoft.com/office/drawing/2014/main" val="682611296"/>
                        </a:ext>
                      </a:extLst>
                    </a:gridCol>
                    <a:gridCol w="468000">
                      <a:extLst>
                        <a:ext uri="{9D8B030D-6E8A-4147-A177-3AD203B41FA5}">
                          <a16:colId xmlns:a16="http://schemas.microsoft.com/office/drawing/2014/main" val="2960854431"/>
                        </a:ext>
                      </a:extLst>
                    </a:gridCol>
                    <a:gridCol w="468000">
                      <a:extLst>
                        <a:ext uri="{9D8B030D-6E8A-4147-A177-3AD203B41FA5}">
                          <a16:colId xmlns:a16="http://schemas.microsoft.com/office/drawing/2014/main" val="1775137844"/>
                        </a:ext>
                      </a:extLst>
                    </a:gridCol>
                  </a:tblGrid>
                  <a:tr h="468000">
                    <a:tc gridSpan="3">
                      <a:txBody>
                        <a:bodyPr/>
                        <a:lstStyle/>
                        <a:p>
                          <a:pPr algn="ctr"/>
                          <a:r>
                            <a:rPr lang="en-US" altLang="zh-TW" sz="2400" dirty="0">
                              <a:latin typeface="Times New Roman" panose="02020603050405020304" pitchFamily="18" charset="0"/>
                              <a:cs typeface="Times New Roman" panose="02020603050405020304" pitchFamily="18" charset="0"/>
                            </a:rPr>
                            <a:t>Matrix </a:t>
                          </a:r>
                          <a14:m>
                            <m:oMath xmlns:m="http://schemas.openxmlformats.org/officeDocument/2006/math">
                              <m:r>
                                <a:rPr lang="en-US" altLang="zh-TW" sz="2400" i="1" dirty="0" smtClean="0">
                                  <a:latin typeface="Cambria Math" panose="02040503050406030204" pitchFamily="18" charset="0"/>
                                </a:rPr>
                                <m:t>𝐴</m:t>
                              </m:r>
                            </m:oMath>
                          </a14:m>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zh-TW" altLang="en-US" dirty="0"/>
                        </a:p>
                      </a:txBody>
                      <a:tcPr/>
                    </a:tc>
                    <a:tc hMerge="1">
                      <a:txBody>
                        <a:bodyPr/>
                        <a:lstStyle/>
                        <a:p>
                          <a:endParaRPr lang="zh-TW" altLang="en-US" dirty="0"/>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3">
                      <a:txBody>
                        <a:bodyPr/>
                        <a:lstStyle/>
                        <a:p>
                          <a:pPr algn="ctr"/>
                          <a:r>
                            <a:rPr lang="en-US" altLang="zh-TW" sz="2400" dirty="0">
                              <a:latin typeface="Times New Roman" panose="02020603050405020304" pitchFamily="18" charset="0"/>
                              <a:cs typeface="Times New Roman" panose="02020603050405020304" pitchFamily="18" charset="0"/>
                            </a:rPr>
                            <a:t>Matrix </a:t>
                          </a:r>
                          <a14:m>
                            <m:oMath xmlns:m="http://schemas.openxmlformats.org/officeDocument/2006/math">
                              <m:r>
                                <a:rPr lang="en-US" altLang="zh-TW" sz="2400" i="1" dirty="0" smtClean="0">
                                  <a:latin typeface="Cambria Math" panose="02040503050406030204" pitchFamily="18" charset="0"/>
                                </a:rPr>
                                <m:t>𝐵</m:t>
                              </m:r>
                            </m:oMath>
                          </a14:m>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zh-TW" altLang="en-US" dirty="0"/>
                        </a:p>
                      </a:txBody>
                      <a:tcPr/>
                    </a:tc>
                    <a:tc hMerge="1">
                      <a:txBody>
                        <a:bodyPr/>
                        <a:lstStyle/>
                        <a:p>
                          <a:endParaRPr lang="zh-TW" altLang="en-US" dirty="0"/>
                        </a:p>
                      </a:txBody>
                      <a:tcPr/>
                    </a:tc>
                    <a:extLst>
                      <a:ext uri="{0D108BD9-81ED-4DB2-BD59-A6C34878D82A}">
                        <a16:rowId xmlns:a16="http://schemas.microsoft.com/office/drawing/2014/main" val="2109248052"/>
                      </a:ext>
                    </a:extLst>
                  </a:tr>
                  <a:tr h="468000">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b="1" dirty="0">
                            <a:solidFill>
                              <a:schemeClr val="accent2"/>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161773"/>
                      </a:ext>
                    </a:extLst>
                  </a:tr>
                  <a:tr h="468000">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zh-TW" altLang="en-US" sz="2400" b="1" i="1" smtClean="0">
                                    <a:solidFill>
                                      <a:schemeClr val="accent2"/>
                                    </a:solidFill>
                                    <a:latin typeface="Cambria Math" panose="02040503050406030204" pitchFamily="18" charset="0"/>
                                    <a:cs typeface="Times New Roman" panose="02020603050405020304" pitchFamily="18" charset="0"/>
                                  </a:rPr>
                                  <m:t>𝜶</m:t>
                                </m:r>
                              </m:oMath>
                            </m:oMathPara>
                          </a14:m>
                          <a:endParaRPr lang="zh-TW" altLang="en-US" sz="2400" b="1" dirty="0">
                            <a:solidFill>
                              <a:schemeClr val="accent2"/>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b="1" dirty="0">
                            <a:solidFill>
                              <a:schemeClr val="accent2"/>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zh-TW" altLang="en-US" sz="2400" b="1" i="1" smtClean="0">
                                    <a:solidFill>
                                      <a:schemeClr val="accent2"/>
                                    </a:solidFill>
                                    <a:latin typeface="Cambria Math" panose="02040503050406030204" pitchFamily="18" charset="0"/>
                                    <a:cs typeface="Times New Roman" panose="02020603050405020304" pitchFamily="18" charset="0"/>
                                  </a:rPr>
                                  <m:t>𝜶</m:t>
                                </m:r>
                              </m:oMath>
                            </m:oMathPara>
                          </a14:m>
                          <a:endParaRPr lang="zh-TW" altLang="en-US" sz="2400" b="1" dirty="0">
                            <a:solidFill>
                              <a:schemeClr val="accent2"/>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690569120"/>
                      </a:ext>
                    </a:extLst>
                  </a:tr>
                  <a:tr h="468000">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zh-TW" altLang="en-US" sz="2400" b="1" i="1" smtClean="0">
                                    <a:solidFill>
                                      <a:schemeClr val="accent1"/>
                                    </a:solidFill>
                                    <a:latin typeface="Cambria Math" panose="02040503050406030204" pitchFamily="18" charset="0"/>
                                    <a:cs typeface="Times New Roman" panose="02020603050405020304" pitchFamily="18" charset="0"/>
                                  </a:rPr>
                                  <m:t>𝜷</m:t>
                                </m:r>
                              </m:oMath>
                            </m:oMathPara>
                          </a14:m>
                          <a:endParaRPr lang="zh-TW" altLang="en-US" sz="2400" b="1" dirty="0">
                            <a:solidFill>
                              <a:schemeClr val="accent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2179576002"/>
                      </a:ext>
                    </a:extLst>
                  </a:tr>
                </a:tbl>
              </a:graphicData>
            </a:graphic>
          </p:graphicFrame>
        </mc:Choice>
        <mc:Fallback xmlns="">
          <p:graphicFrame>
            <p:nvGraphicFramePr>
              <p:cNvPr id="2" name="表格 1"/>
              <p:cNvGraphicFramePr>
                <a:graphicFrameLocks noGrp="1"/>
              </p:cNvGraphicFramePr>
              <p:nvPr/>
            </p:nvGraphicFramePr>
            <p:xfrm>
              <a:off x="7319569" y="573700"/>
              <a:ext cx="3168000" cy="1872000"/>
            </p:xfrm>
            <a:graphic>
              <a:graphicData uri="http://schemas.openxmlformats.org/drawingml/2006/table">
                <a:tbl>
                  <a:tblPr firstRow="1" bandRow="1">
                    <a:tableStyleId>{5940675A-B579-460E-94D1-54222C63F5DA}</a:tableStyleId>
                  </a:tblPr>
                  <a:tblGrid>
                    <a:gridCol w="468000">
                      <a:extLst>
                        <a:ext uri="{9D8B030D-6E8A-4147-A177-3AD203B41FA5}">
                          <a16:colId xmlns:a16="http://schemas.microsoft.com/office/drawing/2014/main" val="1281707070"/>
                        </a:ext>
                      </a:extLst>
                    </a:gridCol>
                    <a:gridCol w="468000">
                      <a:extLst>
                        <a:ext uri="{9D8B030D-6E8A-4147-A177-3AD203B41FA5}">
                          <a16:colId xmlns:a16="http://schemas.microsoft.com/office/drawing/2014/main" val="3514700436"/>
                        </a:ext>
                      </a:extLst>
                    </a:gridCol>
                    <a:gridCol w="468000">
                      <a:extLst>
                        <a:ext uri="{9D8B030D-6E8A-4147-A177-3AD203B41FA5}">
                          <a16:colId xmlns:a16="http://schemas.microsoft.com/office/drawing/2014/main" val="1860103807"/>
                        </a:ext>
                      </a:extLst>
                    </a:gridCol>
                    <a:gridCol w="360000">
                      <a:extLst>
                        <a:ext uri="{9D8B030D-6E8A-4147-A177-3AD203B41FA5}">
                          <a16:colId xmlns:a16="http://schemas.microsoft.com/office/drawing/2014/main" val="2390354494"/>
                        </a:ext>
                      </a:extLst>
                    </a:gridCol>
                    <a:gridCol w="468000">
                      <a:extLst>
                        <a:ext uri="{9D8B030D-6E8A-4147-A177-3AD203B41FA5}">
                          <a16:colId xmlns:a16="http://schemas.microsoft.com/office/drawing/2014/main" val="682611296"/>
                        </a:ext>
                      </a:extLst>
                    </a:gridCol>
                    <a:gridCol w="468000">
                      <a:extLst>
                        <a:ext uri="{9D8B030D-6E8A-4147-A177-3AD203B41FA5}">
                          <a16:colId xmlns:a16="http://schemas.microsoft.com/office/drawing/2014/main" val="2960854431"/>
                        </a:ext>
                      </a:extLst>
                    </a:gridCol>
                    <a:gridCol w="468000">
                      <a:extLst>
                        <a:ext uri="{9D8B030D-6E8A-4147-A177-3AD203B41FA5}">
                          <a16:colId xmlns:a16="http://schemas.microsoft.com/office/drawing/2014/main" val="1775137844"/>
                        </a:ext>
                      </a:extLst>
                    </a:gridCol>
                  </a:tblGrid>
                  <a:tr h="468000">
                    <a:tc gridSpan="3">
                      <a:txBody>
                        <a:bodyPr/>
                        <a:lstStyle/>
                        <a:p>
                          <a:endParaRPr lang="zh-TW"/>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6"/>
                          <a:stretch>
                            <a:fillRect l="-433" t="-9091" r="-126407" b="-316883"/>
                          </a:stretch>
                        </a:blipFill>
                      </a:tcPr>
                    </a:tc>
                    <a:tc hMerge="1">
                      <a:txBody>
                        <a:bodyPr/>
                        <a:lstStyle/>
                        <a:p>
                          <a:endParaRPr lang="zh-TW" altLang="en-US" dirty="0"/>
                        </a:p>
                      </a:txBody>
                      <a:tcPr/>
                    </a:tc>
                    <a:tc hMerge="1">
                      <a:txBody>
                        <a:bodyPr/>
                        <a:lstStyle/>
                        <a:p>
                          <a:endParaRPr lang="zh-TW" altLang="en-US" dirty="0"/>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3">
                      <a:txBody>
                        <a:bodyPr/>
                        <a:lstStyle/>
                        <a:p>
                          <a:endParaRPr lang="zh-TW"/>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6"/>
                          <a:stretch>
                            <a:fillRect l="-125974" t="-9091" r="-866" b="-316883"/>
                          </a:stretch>
                        </a:blipFill>
                      </a:tcPr>
                    </a:tc>
                    <a:tc hMerge="1">
                      <a:txBody>
                        <a:bodyPr/>
                        <a:lstStyle/>
                        <a:p>
                          <a:endParaRPr lang="zh-TW" altLang="en-US" dirty="0"/>
                        </a:p>
                      </a:txBody>
                      <a:tcPr/>
                    </a:tc>
                    <a:tc hMerge="1">
                      <a:txBody>
                        <a:bodyPr/>
                        <a:lstStyle/>
                        <a:p>
                          <a:endParaRPr lang="zh-TW" altLang="en-US" dirty="0"/>
                        </a:p>
                      </a:txBody>
                      <a:tcPr/>
                    </a:tc>
                    <a:extLst>
                      <a:ext uri="{0D108BD9-81ED-4DB2-BD59-A6C34878D82A}">
                        <a16:rowId xmlns:a16="http://schemas.microsoft.com/office/drawing/2014/main" val="2109248052"/>
                      </a:ext>
                    </a:extLst>
                  </a:tr>
                  <a:tr h="468000">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b="1" dirty="0">
                            <a:solidFill>
                              <a:schemeClr val="accent2"/>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161773"/>
                      </a:ext>
                    </a:extLst>
                  </a:tr>
                  <a:tr h="468000">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01299" t="-209091" r="-479221" b="-116883"/>
                          </a:stretch>
                        </a:blipFill>
                      </a:tcPr>
                    </a:tc>
                    <a:tc>
                      <a:txBody>
                        <a:bodyPr/>
                        <a:lstStyle/>
                        <a:p>
                          <a:pPr algn="ctr"/>
                          <a:endParaRPr lang="zh-TW" altLang="en-US"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b="1" dirty="0">
                            <a:solidFill>
                              <a:schemeClr val="accent2"/>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477922" t="-209091" r="-102597" b="-116883"/>
                          </a:stretch>
                        </a:blip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690569120"/>
                      </a:ext>
                    </a:extLst>
                  </a:tr>
                  <a:tr h="468000">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01299" t="-309091" r="-379221" b="-16883"/>
                          </a:stretch>
                        </a:blip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2179576002"/>
                      </a:ext>
                    </a:extLst>
                  </a:tr>
                </a:tbl>
              </a:graphicData>
            </a:graphic>
          </p:graphicFrame>
        </mc:Fallback>
      </mc:AlternateContent>
      <p:sp>
        <p:nvSpPr>
          <p:cNvPr id="23" name="矩形 22"/>
          <p:cNvSpPr/>
          <p:nvPr/>
        </p:nvSpPr>
        <p:spPr>
          <a:xfrm>
            <a:off x="3732000" y="3748239"/>
            <a:ext cx="360000" cy="403200"/>
          </a:xfrm>
          <a:prstGeom prst="rect">
            <a:avLst/>
          </a:prstGeom>
          <a:solidFill>
            <a:srgbClr val="ED7D31">
              <a:alpha val="40000"/>
            </a:srgbClr>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矩形 23"/>
          <p:cNvSpPr/>
          <p:nvPr/>
        </p:nvSpPr>
        <p:spPr>
          <a:xfrm>
            <a:off x="8462371" y="5206051"/>
            <a:ext cx="360000" cy="403200"/>
          </a:xfrm>
          <a:prstGeom prst="rect">
            <a:avLst/>
          </a:prstGeom>
          <a:solidFill>
            <a:schemeClr val="accent1">
              <a:alpha val="40000"/>
            </a:schemeClr>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矩形 24"/>
          <p:cNvSpPr/>
          <p:nvPr/>
        </p:nvSpPr>
        <p:spPr>
          <a:xfrm>
            <a:off x="8103908" y="4476789"/>
            <a:ext cx="360000" cy="403200"/>
          </a:xfrm>
          <a:prstGeom prst="rect">
            <a:avLst/>
          </a:prstGeom>
          <a:solidFill>
            <a:schemeClr val="accent6">
              <a:alpha val="40000"/>
            </a:schemeClr>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矩形 25"/>
          <p:cNvSpPr/>
          <p:nvPr/>
        </p:nvSpPr>
        <p:spPr>
          <a:xfrm>
            <a:off x="4092000" y="5585258"/>
            <a:ext cx="360000" cy="403200"/>
          </a:xfrm>
          <a:prstGeom prst="rect">
            <a:avLst/>
          </a:prstGeom>
          <a:solidFill>
            <a:schemeClr val="accent1">
              <a:alpha val="40000"/>
            </a:schemeClr>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矩形 26"/>
          <p:cNvSpPr/>
          <p:nvPr/>
        </p:nvSpPr>
        <p:spPr>
          <a:xfrm>
            <a:off x="4452000" y="4853651"/>
            <a:ext cx="360000" cy="403200"/>
          </a:xfrm>
          <a:prstGeom prst="rect">
            <a:avLst/>
          </a:prstGeom>
          <a:solidFill>
            <a:schemeClr val="accent6">
              <a:alpha val="40000"/>
            </a:schemeClr>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9" name="矩形 38"/>
          <p:cNvSpPr/>
          <p:nvPr/>
        </p:nvSpPr>
        <p:spPr>
          <a:xfrm>
            <a:off x="2829804" y="1930203"/>
            <a:ext cx="360000" cy="403200"/>
          </a:xfrm>
          <a:prstGeom prst="rect">
            <a:avLst/>
          </a:prstGeom>
          <a:solidFill>
            <a:srgbClr val="ED7D31">
              <a:alpha val="40000"/>
            </a:srgbClr>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0" name="矩形 39"/>
          <p:cNvSpPr/>
          <p:nvPr/>
        </p:nvSpPr>
        <p:spPr>
          <a:xfrm>
            <a:off x="3461209" y="1921944"/>
            <a:ext cx="360000" cy="403200"/>
          </a:xfrm>
          <a:prstGeom prst="rect">
            <a:avLst/>
          </a:prstGeom>
          <a:solidFill>
            <a:schemeClr val="accent1">
              <a:alpha val="40000"/>
            </a:schemeClr>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1" name="矩形 40"/>
          <p:cNvSpPr/>
          <p:nvPr/>
        </p:nvSpPr>
        <p:spPr>
          <a:xfrm>
            <a:off x="4069297" y="1931886"/>
            <a:ext cx="360000" cy="403200"/>
          </a:xfrm>
          <a:prstGeom prst="rect">
            <a:avLst/>
          </a:prstGeom>
          <a:solidFill>
            <a:schemeClr val="accent6">
              <a:alpha val="40000"/>
            </a:schemeClr>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91530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30"/>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0"/>
                                          </p:stCondLst>
                                        </p:cTn>
                                        <p:tgtEl>
                                          <p:spTgt spid="33"/>
                                        </p:tgtEl>
                                        <p:attrNameLst>
                                          <p:attrName>style.visibility</p:attrName>
                                        </p:attrNameLst>
                                      </p:cBhvr>
                                      <p:to>
                                        <p:strVal val="hidden"/>
                                      </p:to>
                                    </p:set>
                                  </p:childTnLst>
                                </p:cTn>
                              </p:par>
                              <p:par>
                                <p:cTn id="11" presetID="1" presetClass="exit"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hidden"/>
                                      </p:to>
                                    </p:set>
                                  </p:childTnLst>
                                </p:cTn>
                              </p:par>
                              <p:par>
                                <p:cTn id="13" presetID="1" presetClass="exit" presetSubtype="0" fill="hold" grpId="0" nodeType="withEffect">
                                  <p:stCondLst>
                                    <p:cond delay="0"/>
                                  </p:stCondLst>
                                  <p:childTnLst>
                                    <p:set>
                                      <p:cBhvr>
                                        <p:cTn id="14" dur="1" fill="hold">
                                          <p:stCondLst>
                                            <p:cond delay="0"/>
                                          </p:stCondLst>
                                        </p:cTn>
                                        <p:tgtEl>
                                          <p:spTgt spid="34"/>
                                        </p:tgtEl>
                                        <p:attrNameLst>
                                          <p:attrName>style.visibility</p:attrName>
                                        </p:attrNameLst>
                                      </p:cBhvr>
                                      <p:to>
                                        <p:strVal val="hidden"/>
                                      </p:to>
                                    </p:set>
                                  </p:childTnLst>
                                </p:cTn>
                              </p:par>
                              <p:par>
                                <p:cTn id="15" presetID="1" presetClass="exit" presetSubtype="0" fill="hold" grpId="0" nodeType="withEffect">
                                  <p:stCondLst>
                                    <p:cond delay="0"/>
                                  </p:stCondLst>
                                  <p:childTnLst>
                                    <p:set>
                                      <p:cBhvr>
                                        <p:cTn id="16" dur="1" fill="hold">
                                          <p:stCondLst>
                                            <p:cond delay="0"/>
                                          </p:stCondLst>
                                        </p:cTn>
                                        <p:tgtEl>
                                          <p:spTgt spid="35"/>
                                        </p:tgtEl>
                                        <p:attrNameLst>
                                          <p:attrName>style.visibility</p:attrName>
                                        </p:attrNameLst>
                                      </p:cBhvr>
                                      <p:to>
                                        <p:strVal val="hidden"/>
                                      </p:to>
                                    </p:set>
                                  </p:childTnLst>
                                </p:cTn>
                              </p:par>
                              <p:par>
                                <p:cTn id="17" presetID="1" presetClass="exit" presetSubtype="0" fill="hold" grpId="0" nodeType="withEffect">
                                  <p:stCondLst>
                                    <p:cond delay="0"/>
                                  </p:stCondLst>
                                  <p:childTnLst>
                                    <p:set>
                                      <p:cBhvr>
                                        <p:cTn id="18" dur="1" fill="hold">
                                          <p:stCondLst>
                                            <p:cond delay="0"/>
                                          </p:stCondLst>
                                        </p:cTn>
                                        <p:tgtEl>
                                          <p:spTgt spid="38"/>
                                        </p:tgtEl>
                                        <p:attrNameLst>
                                          <p:attrName>style.visibility</p:attrName>
                                        </p:attrNameLst>
                                      </p:cBhvr>
                                      <p:to>
                                        <p:strVal val="hidden"/>
                                      </p:to>
                                    </p:set>
                                  </p:childTnLst>
                                </p:cTn>
                              </p:par>
                              <p:par>
                                <p:cTn id="19" presetID="1" presetClass="exit" presetSubtype="0" fill="hold" grpId="0" nodeType="withEffect">
                                  <p:stCondLst>
                                    <p:cond delay="0"/>
                                  </p:stCondLst>
                                  <p:childTnLst>
                                    <p:set>
                                      <p:cBhvr>
                                        <p:cTn id="20" dur="1" fill="hold">
                                          <p:stCondLst>
                                            <p:cond delay="0"/>
                                          </p:stCondLst>
                                        </p:cTn>
                                        <p:tgtEl>
                                          <p:spTgt spid="37"/>
                                        </p:tgtEl>
                                        <p:attrNameLst>
                                          <p:attrName>style.visibility</p:attrName>
                                        </p:attrNameLst>
                                      </p:cBhvr>
                                      <p:to>
                                        <p:strVal val="hidden"/>
                                      </p:to>
                                    </p:set>
                                  </p:childTnLst>
                                </p:cTn>
                              </p:par>
                              <p:par>
                                <p:cTn id="21" presetID="1" presetClass="exit" presetSubtype="0" fill="hold" grpId="0" nodeType="withEffect">
                                  <p:stCondLst>
                                    <p:cond delay="0"/>
                                  </p:stCondLst>
                                  <p:childTnLst>
                                    <p:set>
                                      <p:cBhvr>
                                        <p:cTn id="22" dur="1" fill="hold">
                                          <p:stCondLst>
                                            <p:cond delay="0"/>
                                          </p:stCondLst>
                                        </p:cTn>
                                        <p:tgtEl>
                                          <p:spTgt spid="36"/>
                                        </p:tgtEl>
                                        <p:attrNameLst>
                                          <p:attrName>style.visibility</p:attrName>
                                        </p:attrNameLst>
                                      </p:cBhvr>
                                      <p:to>
                                        <p:strVal val="hidden"/>
                                      </p:to>
                                    </p:set>
                                  </p:childTnLst>
                                </p:cTn>
                              </p:par>
                              <p:par>
                                <p:cTn id="23" presetID="1" presetClass="entr" presetSubtype="0" fill="hold" grpId="0" nodeType="withEffect">
                                  <p:stCondLst>
                                    <p:cond delay="0"/>
                                  </p:stCondLst>
                                  <p:childTnLst>
                                    <p:set>
                                      <p:cBhvr>
                                        <p:cTn id="24" dur="1" fill="hold">
                                          <p:stCondLst>
                                            <p:cond delay="0"/>
                                          </p:stCondLst>
                                        </p:cTn>
                                        <p:tgtEl>
                                          <p:spTgt spid="4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33" grpId="0" animBg="1"/>
      <p:bldP spid="34" grpId="0" animBg="1"/>
      <p:bldP spid="35" grpId="0" animBg="1"/>
      <p:bldP spid="36" grpId="0" animBg="1"/>
      <p:bldP spid="37" grpId="0" animBg="1"/>
      <p:bldP spid="38" grpId="0" animBg="1"/>
      <p:bldP spid="15" grpId="0" animBg="1"/>
      <p:bldP spid="23" grpId="0" animBg="1"/>
      <p:bldP spid="24" grpId="0" animBg="1"/>
      <p:bldP spid="25" grpId="0" animBg="1"/>
      <p:bldP spid="26" grpId="0" animBg="1"/>
      <p:bldP spid="27" grpId="0" animBg="1"/>
      <p:bldP spid="39" grpId="0" animBg="1"/>
      <p:bldP spid="40" grpId="0" animBg="1"/>
      <p:bldP spid="4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 name="文字方塊 15"/>
              <p:cNvSpPr txBox="1"/>
              <p:nvPr/>
            </p:nvSpPr>
            <p:spPr>
              <a:xfrm>
                <a:off x="1970784" y="1148981"/>
                <a:ext cx="3076227" cy="1548437"/>
              </a:xfrm>
              <a:prstGeom prst="rect">
                <a:avLst/>
              </a:prstGeom>
              <a:noFill/>
            </p:spPr>
            <p:txBody>
              <a:bodyPr wrap="none" lIns="0" tIns="0" rIns="0" bIns="0" rtlCol="0">
                <a:spAutoFit/>
              </a:bodyPr>
              <a:lstStyle/>
              <a:p>
                <a14:m>
                  <m:oMath xmlns:m="http://schemas.openxmlformats.org/officeDocument/2006/math">
                    <m:r>
                      <a:rPr lang="en-US" altLang="zh-TW" sz="2400" i="1">
                        <a:latin typeface="Cambria Math" panose="02040503050406030204" pitchFamily="18" charset="0"/>
                      </a:rPr>
                      <m:t>𝑋</m:t>
                    </m:r>
                    <m:r>
                      <a:rPr lang="en-US" altLang="zh-TW" sz="2400" i="1">
                        <a:latin typeface="Cambria Math" panose="02040503050406030204" pitchFamily="18" charset="0"/>
                      </a:rPr>
                      <m:t>=</m:t>
                    </m:r>
                    <m:d>
                      <m:dPr>
                        <m:begChr m:val="{"/>
                        <m:endChr m:val="}"/>
                        <m:ctrlPr>
                          <a:rPr lang="en-US" altLang="zh-TW" sz="2400" i="1">
                            <a:latin typeface="Cambria Math" panose="02040503050406030204" pitchFamily="18" charset="0"/>
                          </a:rPr>
                        </m:ctrlPr>
                      </m:dPr>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1</m:t>
                            </m:r>
                          </m:sub>
                        </m:sSub>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2</m:t>
                            </m:r>
                          </m:sub>
                        </m:sSub>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3</m:t>
                            </m:r>
                          </m:sub>
                        </m:sSub>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4</m:t>
                            </m:r>
                          </m:sub>
                        </m:sSub>
                      </m:e>
                    </m:d>
                  </m:oMath>
                </a14:m>
                <a:r>
                  <a:rPr lang="en-US" altLang="zh-TW" sz="2400" dirty="0"/>
                  <a:t> </a:t>
                </a:r>
              </a:p>
              <a:p>
                <a:pPr/>
                <a14:m>
                  <m:oMathPara xmlns:m="http://schemas.openxmlformats.org/officeDocument/2006/math">
                    <m:oMathParaPr>
                      <m:jc m:val="left"/>
                    </m:oMathParaPr>
                    <m:oMath xmlns:m="http://schemas.openxmlformats.org/officeDocument/2006/math">
                      <m:r>
                        <a:rPr lang="en-US" altLang="zh-TW" sz="2400" i="1">
                          <a:latin typeface="Cambria Math" panose="02040503050406030204" pitchFamily="18" charset="0"/>
                        </a:rPr>
                        <m:t>𝐶</m:t>
                      </m:r>
                      <m:r>
                        <a:rPr lang="en-US" altLang="zh-TW" sz="2400" i="1">
                          <a:latin typeface="Cambria Math" panose="02040503050406030204" pitchFamily="18" charset="0"/>
                        </a:rPr>
                        <m:t>=</m:t>
                      </m:r>
                      <m:d>
                        <m:dPr>
                          <m:begChr m:val="{"/>
                          <m:endChr m:val="}"/>
                          <m:ctrlPr>
                            <a:rPr lang="en-US" altLang="zh-TW" sz="2400" i="1">
                              <a:latin typeface="Cambria Math" panose="02040503050406030204" pitchFamily="18" charset="0"/>
                            </a:rPr>
                          </m:ctrlPr>
                        </m:dPr>
                        <m:e>
                          <m:eqArr>
                            <m:eqArrPr>
                              <m:ctrlPr>
                                <a:rPr lang="en-US" altLang="zh-TW" sz="2400" i="1">
                                  <a:latin typeface="Cambria Math" panose="02040503050406030204" pitchFamily="18" charset="0"/>
                                </a:rPr>
                              </m:ctrlPr>
                            </m:eqArrPr>
                            <m:e>
                              <m:d>
                                <m:dPr>
                                  <m:ctrlPr>
                                    <a:rPr lang="en-US" altLang="zh-TW" sz="2400" i="1">
                                      <a:latin typeface="Cambria Math" panose="02040503050406030204" pitchFamily="18" charset="0"/>
                                    </a:rPr>
                                  </m:ctrlPr>
                                </m:dPr>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1</m:t>
                                      </m:r>
                                    </m:sub>
                                  </m:sSub>
                                  <m:r>
                                    <a:rPr lang="en-US" altLang="zh-TW" sz="2400" i="1">
                                      <a:latin typeface="Cambria Math" panose="02040503050406030204" pitchFamily="18" charset="0"/>
                                      <a:ea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2</m:t>
                                      </m:r>
                                    </m:sub>
                                  </m:sSub>
                                  <m:r>
                                    <a:rPr lang="en-US" altLang="zh-TW" sz="2400" i="1">
                                      <a:latin typeface="Cambria Math" panose="02040503050406030204" pitchFamily="18" charset="0"/>
                                      <a:ea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3</m:t>
                                      </m:r>
                                    </m:sub>
                                  </m:sSub>
                                </m:e>
                              </m:d>
                              <m:r>
                                <a:rPr lang="en-US" altLang="zh-TW" sz="2400" i="1">
                                  <a:latin typeface="Cambria Math" panose="02040503050406030204" pitchFamily="18" charset="0"/>
                                  <a:ea typeface="Cambria Math" panose="02040503050406030204" pitchFamily="18" charset="0"/>
                                </a:rPr>
                                <m:t>∧</m:t>
                              </m:r>
                            </m:e>
                            <m:e>
                              <m:d>
                                <m:dPr>
                                  <m:ctrlPr>
                                    <a:rPr lang="en-US" altLang="zh-TW" sz="2400" i="1">
                                      <a:latin typeface="Cambria Math" panose="02040503050406030204" pitchFamily="18" charset="0"/>
                                    </a:rPr>
                                  </m:ctrlPr>
                                </m:dPr>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1</m:t>
                                      </m:r>
                                    </m:sub>
                                  </m:sSub>
                                  <m:r>
                                    <a:rPr lang="en-US" altLang="zh-TW" sz="2400" i="1">
                                      <a:latin typeface="Cambria Math" panose="02040503050406030204" pitchFamily="18" charset="0"/>
                                      <a:ea typeface="Cambria Math" panose="02040503050406030204" pitchFamily="18" charset="0"/>
                                    </a:rPr>
                                    <m:t>∨</m:t>
                                  </m:r>
                                  <m:acc>
                                    <m:accPr>
                                      <m:chr m:val="̅"/>
                                      <m:ctrlPr>
                                        <a:rPr lang="en-US" altLang="zh-TW" sz="2400" i="1">
                                          <a:latin typeface="Cambria Math" panose="02040503050406030204" pitchFamily="18" charset="0"/>
                                        </a:rPr>
                                      </m:ctrlPr>
                                    </m:accPr>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3</m:t>
                                          </m:r>
                                        </m:sub>
                                      </m:sSub>
                                    </m:e>
                                  </m:acc>
                                  <m:r>
                                    <a:rPr lang="en-US" altLang="zh-TW" sz="2400" i="1">
                                      <a:latin typeface="Cambria Math" panose="02040503050406030204" pitchFamily="18" charset="0"/>
                                      <a:ea typeface="Cambria Math" panose="02040503050406030204" pitchFamily="18" charset="0"/>
                                    </a:rPr>
                                    <m:t>∨</m:t>
                                  </m:r>
                                  <m:acc>
                                    <m:accPr>
                                      <m:chr m:val="̅"/>
                                      <m:ctrlPr>
                                        <a:rPr lang="en-US" altLang="zh-TW" sz="2400" i="1">
                                          <a:latin typeface="Cambria Math" panose="02040503050406030204" pitchFamily="18" charset="0"/>
                                        </a:rPr>
                                      </m:ctrlPr>
                                    </m:accPr>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2</m:t>
                                          </m:r>
                                        </m:sub>
                                      </m:sSub>
                                    </m:e>
                                  </m:acc>
                                </m:e>
                              </m:d>
                              <m:r>
                                <a:rPr lang="en-US" altLang="zh-TW" sz="2400" i="1">
                                  <a:latin typeface="Cambria Math" panose="02040503050406030204" pitchFamily="18" charset="0"/>
                                  <a:ea typeface="Cambria Math" panose="02040503050406030204" pitchFamily="18" charset="0"/>
                                </a:rPr>
                                <m:t>∧</m:t>
                              </m:r>
                            </m:e>
                            <m:e>
                              <m:d>
                                <m:dPr>
                                  <m:ctrlPr>
                                    <a:rPr lang="en-US" altLang="zh-TW" sz="2400" i="1">
                                      <a:latin typeface="Cambria Math" panose="02040503050406030204" pitchFamily="18" charset="0"/>
                                    </a:rPr>
                                  </m:ctrlPr>
                                </m:dPr>
                                <m:e>
                                  <m:acc>
                                    <m:accPr>
                                      <m:chr m:val="̅"/>
                                      <m:ctrlPr>
                                        <a:rPr lang="en-US" altLang="zh-TW" sz="2400" i="1">
                                          <a:latin typeface="Cambria Math" panose="02040503050406030204" pitchFamily="18" charset="0"/>
                                        </a:rPr>
                                      </m:ctrlPr>
                                    </m:accPr>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1</m:t>
                                          </m:r>
                                        </m:sub>
                                      </m:sSub>
                                    </m:e>
                                  </m:acc>
                                  <m:r>
                                    <a:rPr lang="en-US" altLang="zh-TW" sz="2400" i="1">
                                      <a:latin typeface="Cambria Math" panose="02040503050406030204" pitchFamily="18" charset="0"/>
                                      <a:ea typeface="Cambria Math" panose="02040503050406030204" pitchFamily="18" charset="0"/>
                                    </a:rPr>
                                    <m:t>∨</m:t>
                                  </m:r>
                                  <m:acc>
                                    <m:accPr>
                                      <m:chr m:val="̅"/>
                                      <m:ctrlPr>
                                        <a:rPr lang="en-US" altLang="zh-TW" sz="2400" i="1">
                                          <a:latin typeface="Cambria Math" panose="02040503050406030204" pitchFamily="18" charset="0"/>
                                        </a:rPr>
                                      </m:ctrlPr>
                                    </m:accPr>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2</m:t>
                                          </m:r>
                                        </m:sub>
                                      </m:sSub>
                                    </m:e>
                                  </m:acc>
                                  <m:r>
                                    <a:rPr lang="en-US" altLang="zh-TW" sz="2400" i="1">
                                      <a:latin typeface="Cambria Math" panose="02040503050406030204" pitchFamily="18" charset="0"/>
                                      <a:ea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4</m:t>
                                      </m:r>
                                    </m:sub>
                                  </m:sSub>
                                </m:e>
                              </m:d>
                              <m:r>
                                <a:rPr lang="en-US" altLang="zh-TW" sz="2400" i="1">
                                  <a:solidFill>
                                    <a:schemeClr val="bg1"/>
                                  </a:solidFill>
                                  <a:latin typeface="Cambria Math" panose="02040503050406030204" pitchFamily="18" charset="0"/>
                                  <a:ea typeface="Cambria Math" panose="02040503050406030204" pitchFamily="18" charset="0"/>
                                </a:rPr>
                                <m:t>∧</m:t>
                              </m:r>
                            </m:e>
                          </m:eqArr>
                        </m:e>
                      </m:d>
                    </m:oMath>
                  </m:oMathPara>
                </a14:m>
                <a:endParaRPr lang="zh-TW" altLang="en-US" sz="2400" dirty="0"/>
              </a:p>
            </p:txBody>
          </p:sp>
        </mc:Choice>
        <mc:Fallback xmlns="">
          <p:sp>
            <p:nvSpPr>
              <p:cNvPr id="16" name="文字方塊 15"/>
              <p:cNvSpPr txBox="1">
                <a:spLocks noRot="1" noChangeAspect="1" noMove="1" noResize="1" noEditPoints="1" noAdjustHandles="1" noChangeArrowheads="1" noChangeShapeType="1" noTextEdit="1"/>
              </p:cNvSpPr>
              <p:nvPr/>
            </p:nvSpPr>
            <p:spPr>
              <a:xfrm>
                <a:off x="1970784" y="1148981"/>
                <a:ext cx="3076227" cy="1548437"/>
              </a:xfrm>
              <a:prstGeom prst="rect">
                <a:avLst/>
              </a:prstGeom>
              <a:blipFill>
                <a:blip r:embed="rId2"/>
                <a:stretch>
                  <a:fillRect l="-3366"/>
                </a:stretch>
              </a:blipFill>
            </p:spPr>
            <p:txBody>
              <a:bodyPr/>
              <a:lstStyle/>
              <a:p>
                <a:r>
                  <a:rPr lang="zh-TW" altLang="en-US">
                    <a:noFill/>
                  </a:rPr>
                  <a:t> </a:t>
                </a:r>
              </a:p>
            </p:txBody>
          </p:sp>
        </mc:Fallback>
      </mc:AlternateContent>
      <p:sp>
        <p:nvSpPr>
          <p:cNvPr id="17" name="文字方塊 16"/>
          <p:cNvSpPr txBox="1"/>
          <p:nvPr/>
        </p:nvSpPr>
        <p:spPr>
          <a:xfrm>
            <a:off x="1884001" y="90000"/>
            <a:ext cx="6169125" cy="1077218"/>
          </a:xfrm>
          <a:prstGeom prst="rect">
            <a:avLst/>
          </a:prstGeom>
          <a:noFill/>
        </p:spPr>
        <p:txBody>
          <a:bodyPr wrap="none" rtlCol="0">
            <a:spAutoFit/>
          </a:bodyPr>
          <a:lstStyle/>
          <a:p>
            <a:r>
              <a:rPr lang="en-US" altLang="zh-TW" sz="3200" dirty="0">
                <a:solidFill>
                  <a:srgbClr val="0000FF"/>
                </a:solidFill>
              </a:rPr>
              <a:t>If the variables are </a:t>
            </a:r>
            <a:r>
              <a:rPr lang="en-US" altLang="zh-TW" sz="3200" dirty="0">
                <a:solidFill>
                  <a:srgbClr val="FF0000"/>
                </a:solidFill>
              </a:rPr>
              <a:t>complementary</a:t>
            </a:r>
            <a:r>
              <a:rPr lang="en-US" altLang="zh-TW" sz="3200" dirty="0">
                <a:solidFill>
                  <a:srgbClr val="0000FF"/>
                </a:solidFill>
              </a:rPr>
              <a:t>, </a:t>
            </a:r>
          </a:p>
          <a:p>
            <a:r>
              <a:rPr lang="en-US" altLang="zh-TW" sz="3200" dirty="0">
                <a:solidFill>
                  <a:srgbClr val="0000FF"/>
                </a:solidFill>
              </a:rPr>
              <a:t>they </a:t>
            </a:r>
            <a:r>
              <a:rPr lang="en-US" altLang="zh-TW" sz="3200" dirty="0">
                <a:solidFill>
                  <a:srgbClr val="FF0000"/>
                </a:solidFill>
              </a:rPr>
              <a:t>cannot</a:t>
            </a:r>
            <a:r>
              <a:rPr lang="en-US" altLang="zh-TW" sz="3200" dirty="0">
                <a:solidFill>
                  <a:srgbClr val="0000FF"/>
                </a:solidFill>
              </a:rPr>
              <a:t> be </a:t>
            </a:r>
            <a:r>
              <a:rPr lang="en-US" altLang="zh-TW" sz="3200" dirty="0">
                <a:solidFill>
                  <a:srgbClr val="FF0000"/>
                </a:solidFill>
              </a:rPr>
              <a:t>both</a:t>
            </a:r>
            <a:r>
              <a:rPr lang="en-US" altLang="zh-TW" sz="3200" dirty="0">
                <a:solidFill>
                  <a:srgbClr val="0000FF"/>
                </a:solidFill>
              </a:rPr>
              <a:t> true.</a:t>
            </a:r>
            <a:endParaRPr lang="zh-TW" altLang="en-US" sz="3200" dirty="0">
              <a:solidFill>
                <a:srgbClr val="0000FF"/>
              </a:solidFill>
            </a:endParaRPr>
          </a:p>
        </p:txBody>
      </p:sp>
      <mc:AlternateContent xmlns:mc="http://schemas.openxmlformats.org/markup-compatibility/2006" xmlns:a14="http://schemas.microsoft.com/office/drawing/2010/main">
        <mc:Choice Requires="a14">
          <p:graphicFrame>
            <p:nvGraphicFramePr>
              <p:cNvPr id="25" name="表格 24"/>
              <p:cNvGraphicFramePr>
                <a:graphicFrameLocks noGrp="1"/>
              </p:cNvGraphicFramePr>
              <p:nvPr/>
            </p:nvGraphicFramePr>
            <p:xfrm>
              <a:off x="6300000" y="2724253"/>
              <a:ext cx="3960000" cy="3996374"/>
            </p:xfrm>
            <a:graphic>
              <a:graphicData uri="http://schemas.openxmlformats.org/drawingml/2006/table">
                <a:tbl>
                  <a:tblPr firstRow="1" bandRow="1">
                    <a:tableStyleId>{5940675A-B579-460E-94D1-54222C63F5DA}</a:tableStyleId>
                  </a:tblPr>
                  <a:tblGrid>
                    <a:gridCol w="360000">
                      <a:extLst>
                        <a:ext uri="{9D8B030D-6E8A-4147-A177-3AD203B41FA5}">
                          <a16:colId xmlns:a16="http://schemas.microsoft.com/office/drawing/2014/main" val="2702153692"/>
                        </a:ext>
                      </a:extLst>
                    </a:gridCol>
                    <a:gridCol w="360000">
                      <a:extLst>
                        <a:ext uri="{9D8B030D-6E8A-4147-A177-3AD203B41FA5}">
                          <a16:colId xmlns:a16="http://schemas.microsoft.com/office/drawing/2014/main" val="122811012"/>
                        </a:ext>
                      </a:extLst>
                    </a:gridCol>
                    <a:gridCol w="360000">
                      <a:extLst>
                        <a:ext uri="{9D8B030D-6E8A-4147-A177-3AD203B41FA5}">
                          <a16:colId xmlns:a16="http://schemas.microsoft.com/office/drawing/2014/main" val="835919203"/>
                        </a:ext>
                      </a:extLst>
                    </a:gridCol>
                    <a:gridCol w="360000">
                      <a:extLst>
                        <a:ext uri="{9D8B030D-6E8A-4147-A177-3AD203B41FA5}">
                          <a16:colId xmlns:a16="http://schemas.microsoft.com/office/drawing/2014/main" val="1619107429"/>
                        </a:ext>
                      </a:extLst>
                    </a:gridCol>
                    <a:gridCol w="360000">
                      <a:extLst>
                        <a:ext uri="{9D8B030D-6E8A-4147-A177-3AD203B41FA5}">
                          <a16:colId xmlns:a16="http://schemas.microsoft.com/office/drawing/2014/main" val="2000173800"/>
                        </a:ext>
                      </a:extLst>
                    </a:gridCol>
                    <a:gridCol w="360000">
                      <a:extLst>
                        <a:ext uri="{9D8B030D-6E8A-4147-A177-3AD203B41FA5}">
                          <a16:colId xmlns:a16="http://schemas.microsoft.com/office/drawing/2014/main" val="2936943231"/>
                        </a:ext>
                      </a:extLst>
                    </a:gridCol>
                    <a:gridCol w="360000">
                      <a:extLst>
                        <a:ext uri="{9D8B030D-6E8A-4147-A177-3AD203B41FA5}">
                          <a16:colId xmlns:a16="http://schemas.microsoft.com/office/drawing/2014/main" val="901059968"/>
                        </a:ext>
                      </a:extLst>
                    </a:gridCol>
                    <a:gridCol w="360000">
                      <a:extLst>
                        <a:ext uri="{9D8B030D-6E8A-4147-A177-3AD203B41FA5}">
                          <a16:colId xmlns:a16="http://schemas.microsoft.com/office/drawing/2014/main" val="3756777949"/>
                        </a:ext>
                      </a:extLst>
                    </a:gridCol>
                    <a:gridCol w="360000">
                      <a:extLst>
                        <a:ext uri="{9D8B030D-6E8A-4147-A177-3AD203B41FA5}">
                          <a16:colId xmlns:a16="http://schemas.microsoft.com/office/drawing/2014/main" val="2146270772"/>
                        </a:ext>
                      </a:extLst>
                    </a:gridCol>
                    <a:gridCol w="360000">
                      <a:extLst>
                        <a:ext uri="{9D8B030D-6E8A-4147-A177-3AD203B41FA5}">
                          <a16:colId xmlns:a16="http://schemas.microsoft.com/office/drawing/2014/main" val="4001691182"/>
                        </a:ext>
                      </a:extLst>
                    </a:gridCol>
                    <a:gridCol w="360000">
                      <a:extLst>
                        <a:ext uri="{9D8B030D-6E8A-4147-A177-3AD203B41FA5}">
                          <a16:colId xmlns:a16="http://schemas.microsoft.com/office/drawing/2014/main" val="1825885578"/>
                        </a:ext>
                      </a:extLst>
                    </a:gridCol>
                  </a:tblGrid>
                  <a:tr h="396000">
                    <a:tc>
                      <a:txBody>
                        <a:bodyPr/>
                        <a:lstStyle/>
                        <a:p>
                          <a:pPr algn="ctr"/>
                          <a:endParaRPr lang="zh-TW" altLang="en-US" sz="20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gridSpan="10">
                      <a:txBody>
                        <a:bodyPr/>
                        <a:lstStyle/>
                        <a:p>
                          <a:pPr algn="ctr"/>
                          <a:r>
                            <a:rPr lang="en-US" altLang="zh-TW" sz="2000" dirty="0"/>
                            <a:t>Matrix B</a:t>
                          </a:r>
                          <a:endParaRPr lang="zh-TW" altLang="en-US" sz="20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8429601"/>
                      </a:ext>
                    </a:extLst>
                  </a:tr>
                  <a:tr h="396000">
                    <a:tc>
                      <a:txBody>
                        <a:bodyPr/>
                        <a:lstStyle/>
                        <a:p>
                          <a:pPr algn="ctr"/>
                          <a:endParaRPr lang="zh-TW" altLang="en-US" sz="20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2000" dirty="0"/>
                            <a:t>1</a:t>
                          </a:r>
                          <a:endParaRPr lang="zh-TW" altLang="en-US" sz="20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t>2</a:t>
                          </a:r>
                          <a:endParaRPr lang="zh-TW" altLang="en-US" sz="20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t>3</a:t>
                          </a:r>
                          <a:endParaRPr lang="zh-TW" altLang="en-US" sz="20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t>4</a:t>
                          </a:r>
                          <a:endParaRPr lang="zh-TW" altLang="en-US" sz="20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t>5</a:t>
                          </a:r>
                          <a:endParaRPr lang="zh-TW" altLang="en-US" sz="20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t>6</a:t>
                          </a:r>
                          <a:endParaRPr lang="zh-TW" altLang="en-US" sz="20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t>7</a:t>
                          </a:r>
                          <a:endParaRPr lang="zh-TW" altLang="en-US" sz="20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t>8</a:t>
                          </a:r>
                          <a:endParaRPr lang="zh-TW" altLang="en-US" sz="20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t>9</a:t>
                          </a:r>
                          <a:endParaRPr lang="zh-TW" altLang="en-US" sz="20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98706228"/>
                      </a:ext>
                    </a:extLst>
                  </a:tr>
                  <a:tr h="396000">
                    <a:tc>
                      <a:txBody>
                        <a:bodyPr/>
                        <a:lstStyle/>
                        <a:p>
                          <a:pPr algn="ctr"/>
                          <a14:m>
                            <m:oMathPara xmlns:m="http://schemas.openxmlformats.org/officeDocument/2006/math">
                              <m:oMathParaPr>
                                <m:jc m:val="centerGroup"/>
                              </m:oMathParaPr>
                              <m:oMath xmlns:m="http://schemas.openxmlformats.org/officeDocument/2006/math">
                                <m:bar>
                                  <m:barPr>
                                    <m:pos m:val="top"/>
                                    <m:ctrlPr>
                                      <a:rPr lang="en-US" altLang="zh-TW" sz="2000" i="1" smtClean="0">
                                        <a:latin typeface="Cambria Math" panose="02040503050406030204" pitchFamily="18" charset="0"/>
                                      </a:rPr>
                                    </m:ctrlPr>
                                  </m:barPr>
                                  <m:e>
                                    <m:sSub>
                                      <m:sSubPr>
                                        <m:ctrlPr>
                                          <a:rPr lang="en-US" altLang="zh-TW" sz="2000" i="1" smtClean="0">
                                            <a:latin typeface="Cambria Math" panose="02040503050406030204" pitchFamily="18" charset="0"/>
                                          </a:rPr>
                                        </m:ctrlPr>
                                      </m:sSubPr>
                                      <m:e>
                                        <m:r>
                                          <a:rPr lang="en-US" altLang="zh-TW" sz="2000" b="0" i="1" smtClean="0">
                                            <a:latin typeface="Cambria Math" panose="02040503050406030204" pitchFamily="18" charset="0"/>
                                          </a:rPr>
                                          <m:t>𝑥</m:t>
                                        </m:r>
                                      </m:e>
                                      <m:sub>
                                        <m:r>
                                          <a:rPr lang="en-US" altLang="zh-TW" sz="2000" b="0" i="1" smtClean="0">
                                            <a:latin typeface="Cambria Math" panose="02040503050406030204" pitchFamily="18" charset="0"/>
                                          </a:rPr>
                                          <m:t>1</m:t>
                                        </m:r>
                                      </m:sub>
                                    </m:sSub>
                                  </m:e>
                                </m:bar>
                              </m:oMath>
                            </m:oMathPara>
                          </a14:m>
                          <a:endParaRPr lang="zh-TW" altLang="en-US" sz="2000" dirty="0"/>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2000" dirty="0"/>
                            <a:t>1</a:t>
                          </a:r>
                          <a:endParaRPr lang="zh-TW" altLang="en-US" sz="20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14:m>
                            <m:oMathPara xmlns:m="http://schemas.openxmlformats.org/officeDocument/2006/math">
                              <m:oMathParaPr>
                                <m:jc m:val="centerGroup"/>
                              </m:oMathParaPr>
                              <m:oMath xmlns:m="http://schemas.openxmlformats.org/officeDocument/2006/math">
                                <m:r>
                                  <a:rPr lang="zh-TW" altLang="en-US" sz="2000" i="1" smtClean="0">
                                    <a:latin typeface="Cambria Math" panose="02040503050406030204" pitchFamily="18" charset="0"/>
                                  </a:rPr>
                                  <m:t>𝛽</m:t>
                                </m:r>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Sup>
                                  <m:sSubSupPr>
                                    <m:ctrlPr>
                                      <a:rPr lang="en-US" altLang="zh-TW" sz="2000" i="1" smtClean="0">
                                        <a:latin typeface="Cambria Math" panose="02040503050406030204" pitchFamily="18" charset="0"/>
                                      </a:rPr>
                                    </m:ctrlPr>
                                  </m:sSubSupPr>
                                  <m:e>
                                    <m:r>
                                      <a:rPr lang="en-US" altLang="zh-TW" sz="2000" b="0" i="1" smtClean="0">
                                        <a:latin typeface="Cambria Math" panose="02040503050406030204" pitchFamily="18" charset="0"/>
                                      </a:rPr>
                                      <m:t>𝑙</m:t>
                                    </m:r>
                                  </m:e>
                                  <m:sub>
                                    <m:r>
                                      <a:rPr lang="en-US" altLang="zh-TW" sz="2000" b="0" i="1" smtClean="0">
                                        <a:latin typeface="Cambria Math" panose="02040503050406030204" pitchFamily="18" charset="0"/>
                                      </a:rPr>
                                      <m:t>1</m:t>
                                    </m:r>
                                  </m:sub>
                                  <m:sup>
                                    <m:r>
                                      <a:rPr lang="en-US" altLang="zh-TW" sz="2000" b="0" i="1" smtClean="0">
                                        <a:latin typeface="Cambria Math" panose="02040503050406030204" pitchFamily="18" charset="0"/>
                                      </a:rPr>
                                      <m:t>3</m:t>
                                    </m:r>
                                  </m:sup>
                                </m:sSubSup>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2121216"/>
                      </a:ext>
                    </a:extLst>
                  </a:tr>
                  <a:tr h="396000">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000" i="1" smtClean="0">
                                        <a:latin typeface="Cambria Math" panose="02040503050406030204" pitchFamily="18" charset="0"/>
                                      </a:rPr>
                                    </m:ctrlPr>
                                  </m:sSubPr>
                                  <m:e>
                                    <m:r>
                                      <a:rPr lang="en-US" altLang="zh-TW" sz="2000" b="0" i="1" smtClean="0">
                                        <a:latin typeface="Cambria Math" panose="02040503050406030204" pitchFamily="18" charset="0"/>
                                      </a:rPr>
                                      <m:t>𝑥</m:t>
                                    </m:r>
                                  </m:e>
                                  <m:sub>
                                    <m:r>
                                      <a:rPr lang="en-US" altLang="zh-TW" sz="2000" b="0" i="1" smtClean="0">
                                        <a:latin typeface="Cambria Math" panose="02040503050406030204" pitchFamily="18" charset="0"/>
                                      </a:rPr>
                                      <m:t>1</m:t>
                                    </m:r>
                                  </m:sub>
                                </m:sSub>
                              </m:oMath>
                            </m:oMathPara>
                          </a14:m>
                          <a:endParaRPr lang="zh-TW" altLang="en-US" sz="2000" dirty="0"/>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2000" dirty="0"/>
                            <a:t>2</a:t>
                          </a:r>
                          <a:endParaRPr lang="zh-TW" altLang="en-US" sz="20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Sup>
                                  <m:sSubSupPr>
                                    <m:ctrlPr>
                                      <a:rPr lang="en-US" altLang="zh-TW" sz="2000" i="1" smtClean="0">
                                        <a:latin typeface="Cambria Math" panose="02040503050406030204" pitchFamily="18" charset="0"/>
                                      </a:rPr>
                                    </m:ctrlPr>
                                  </m:sSubSupPr>
                                  <m:e>
                                    <m:r>
                                      <a:rPr lang="en-US" altLang="zh-TW" sz="2000" b="0" i="1" smtClean="0">
                                        <a:latin typeface="Cambria Math" panose="02040503050406030204" pitchFamily="18" charset="0"/>
                                      </a:rPr>
                                      <m:t>𝑙</m:t>
                                    </m:r>
                                  </m:e>
                                  <m:sub>
                                    <m:r>
                                      <a:rPr lang="en-US" altLang="zh-TW" sz="2000" b="0" i="1" smtClean="0">
                                        <a:latin typeface="Cambria Math" panose="02040503050406030204" pitchFamily="18" charset="0"/>
                                      </a:rPr>
                                      <m:t>1</m:t>
                                    </m:r>
                                  </m:sub>
                                  <m:sup>
                                    <m:r>
                                      <a:rPr lang="en-US" altLang="zh-TW" sz="2000" b="0" i="1" smtClean="0">
                                        <a:latin typeface="Cambria Math" panose="02040503050406030204" pitchFamily="18" charset="0"/>
                                      </a:rPr>
                                      <m:t>1</m:t>
                                    </m:r>
                                  </m:sup>
                                </m:sSubSup>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Sup>
                                  <m:sSubSupPr>
                                    <m:ctrlPr>
                                      <a:rPr lang="en-US" altLang="zh-TW" sz="2000" i="1" smtClean="0">
                                        <a:latin typeface="Cambria Math" panose="02040503050406030204" pitchFamily="18" charset="0"/>
                                      </a:rPr>
                                    </m:ctrlPr>
                                  </m:sSubSupPr>
                                  <m:e>
                                    <m:r>
                                      <a:rPr lang="en-US" altLang="zh-TW" sz="2000" b="0" i="1" smtClean="0">
                                        <a:latin typeface="Cambria Math" panose="02040503050406030204" pitchFamily="18" charset="0"/>
                                      </a:rPr>
                                      <m:t>𝑙</m:t>
                                    </m:r>
                                  </m:e>
                                  <m:sub>
                                    <m:r>
                                      <a:rPr lang="en-US" altLang="zh-TW" sz="2000" b="0" i="1" smtClean="0">
                                        <a:latin typeface="Cambria Math" panose="02040503050406030204" pitchFamily="18" charset="0"/>
                                      </a:rPr>
                                      <m:t>1</m:t>
                                    </m:r>
                                  </m:sub>
                                  <m:sup>
                                    <m:r>
                                      <a:rPr lang="en-US" altLang="zh-TW" sz="2000" b="0" i="1" smtClean="0">
                                        <a:latin typeface="Cambria Math" panose="02040503050406030204" pitchFamily="18" charset="0"/>
                                      </a:rPr>
                                      <m:t>2</m:t>
                                    </m:r>
                                  </m:sup>
                                </m:sSubSup>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2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92435610"/>
                      </a:ext>
                    </a:extLst>
                  </a:tr>
                  <a:tr h="396000">
                    <a:tc>
                      <a:txBody>
                        <a:bodyPr/>
                        <a:lstStyle/>
                        <a:p>
                          <a:pPr algn="ctr"/>
                          <a14:m>
                            <m:oMathPara xmlns:m="http://schemas.openxmlformats.org/officeDocument/2006/math">
                              <m:oMathParaPr>
                                <m:jc m:val="centerGroup"/>
                              </m:oMathParaPr>
                              <m:oMath xmlns:m="http://schemas.openxmlformats.org/officeDocument/2006/math">
                                <m:bar>
                                  <m:barPr>
                                    <m:pos m:val="top"/>
                                    <m:ctrlPr>
                                      <a:rPr lang="en-US" altLang="zh-TW" sz="2000" i="1" smtClean="0">
                                        <a:latin typeface="Cambria Math" panose="02040503050406030204" pitchFamily="18" charset="0"/>
                                      </a:rPr>
                                    </m:ctrlPr>
                                  </m:barPr>
                                  <m:e>
                                    <m:sSub>
                                      <m:sSubPr>
                                        <m:ctrlPr>
                                          <a:rPr lang="en-US" altLang="zh-TW" sz="2000" i="1" smtClean="0">
                                            <a:latin typeface="Cambria Math" panose="02040503050406030204" pitchFamily="18" charset="0"/>
                                          </a:rPr>
                                        </m:ctrlPr>
                                      </m:sSubPr>
                                      <m:e>
                                        <m:r>
                                          <a:rPr lang="en-US" altLang="zh-TW" sz="2000" b="0" i="1" smtClean="0">
                                            <a:latin typeface="Cambria Math" panose="02040503050406030204" pitchFamily="18" charset="0"/>
                                          </a:rPr>
                                          <m:t>𝑥</m:t>
                                        </m:r>
                                      </m:e>
                                      <m:sub>
                                        <m:r>
                                          <a:rPr lang="en-US" altLang="zh-TW" sz="2000" b="0" i="1" smtClean="0">
                                            <a:latin typeface="Cambria Math" panose="02040503050406030204" pitchFamily="18" charset="0"/>
                                          </a:rPr>
                                          <m:t>2</m:t>
                                        </m:r>
                                      </m:sub>
                                    </m:sSub>
                                  </m:e>
                                </m:bar>
                              </m:oMath>
                            </m:oMathPara>
                          </a14:m>
                          <a:endParaRPr lang="zh-TW" altLang="en-US" sz="2000" dirty="0"/>
                        </a:p>
                      </a:txBody>
                      <a:tcPr anchor="ctr">
                        <a:lnL w="12700" cmpd="sng">
                          <a:noFill/>
                        </a:lnL>
                        <a:lnR w="12700" cap="flat" cmpd="sng" algn="ctr">
                          <a:noFill/>
                          <a:prstDash val="solid"/>
                          <a:round/>
                          <a:headEnd type="none" w="med" len="med"/>
                          <a:tailEnd type="none" w="med" len="med"/>
                        </a:lnR>
                        <a:lnT w="12700" cmpd="sng">
                          <a:noFill/>
                        </a:lnT>
                        <a:lnB w="381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t>3</a:t>
                          </a:r>
                          <a:endParaRPr lang="zh-TW" altLang="en-US" sz="20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381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2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pPr marL="0" marR="0" lvl="0" indent="0" algn="ctr" defTabSz="575981"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TW" sz="2000" i="1" smtClean="0">
                                        <a:latin typeface="Cambria Math" panose="02040503050406030204" pitchFamily="18" charset="0"/>
                                      </a:rPr>
                                    </m:ctrlPr>
                                  </m:sSubSupPr>
                                  <m:e>
                                    <m:r>
                                      <a:rPr lang="en-US" altLang="zh-TW" sz="2000" b="0" i="1" smtClean="0">
                                        <a:latin typeface="Cambria Math" panose="02040503050406030204" pitchFamily="18" charset="0"/>
                                      </a:rPr>
                                      <m:t>𝑙</m:t>
                                    </m:r>
                                  </m:e>
                                  <m:sub>
                                    <m:r>
                                      <a:rPr lang="en-US" altLang="zh-TW" sz="2000" b="0" i="1" smtClean="0">
                                        <a:latin typeface="Cambria Math" panose="02040503050406030204" pitchFamily="18" charset="0"/>
                                      </a:rPr>
                                      <m:t>3</m:t>
                                    </m:r>
                                  </m:sub>
                                  <m:sup>
                                    <m:r>
                                      <a:rPr lang="en-US" altLang="zh-TW" sz="2000" b="0" i="1" smtClean="0">
                                        <a:latin typeface="Cambria Math" panose="02040503050406030204" pitchFamily="18" charset="0"/>
                                      </a:rPr>
                                      <m:t>2</m:t>
                                    </m:r>
                                  </m:sup>
                                </m:sSubSup>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Sup>
                                  <m:sSubSupPr>
                                    <m:ctrlPr>
                                      <a:rPr lang="en-US" altLang="zh-TW" sz="2000" i="1" smtClean="0">
                                        <a:latin typeface="Cambria Math" panose="02040503050406030204" pitchFamily="18" charset="0"/>
                                      </a:rPr>
                                    </m:ctrlPr>
                                  </m:sSubSupPr>
                                  <m:e>
                                    <m:r>
                                      <a:rPr lang="en-US" altLang="zh-TW" sz="2000" b="0" i="1" smtClean="0">
                                        <a:latin typeface="Cambria Math" panose="02040503050406030204" pitchFamily="18" charset="0"/>
                                      </a:rPr>
                                      <m:t>𝑙</m:t>
                                    </m:r>
                                  </m:e>
                                  <m:sub>
                                    <m:r>
                                      <a:rPr lang="en-US" altLang="zh-TW" sz="2000" b="0" i="1" smtClean="0">
                                        <a:latin typeface="Cambria Math" panose="02040503050406030204" pitchFamily="18" charset="0"/>
                                      </a:rPr>
                                      <m:t>2</m:t>
                                    </m:r>
                                  </m:sub>
                                  <m:sup>
                                    <m:r>
                                      <a:rPr lang="en-US" altLang="zh-TW" sz="2000" b="0" i="1" smtClean="0">
                                        <a:latin typeface="Cambria Math" panose="02040503050406030204" pitchFamily="18" charset="0"/>
                                      </a:rPr>
                                      <m:t>3</m:t>
                                    </m:r>
                                  </m:sup>
                                </m:sSubSup>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zh-TW" altLang="en-US" sz="2000" i="1" smtClean="0">
                                    <a:latin typeface="Cambria Math" panose="02040503050406030204" pitchFamily="18" charset="0"/>
                                  </a:rPr>
                                  <m:t>𝛽</m:t>
                                </m:r>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extLst>
                      <a:ext uri="{0D108BD9-81ED-4DB2-BD59-A6C34878D82A}">
                        <a16:rowId xmlns:a16="http://schemas.microsoft.com/office/drawing/2014/main" val="1454765373"/>
                      </a:ext>
                    </a:extLst>
                  </a:tr>
                  <a:tr h="396000">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000" i="1" smtClean="0">
                                        <a:latin typeface="Cambria Math" panose="02040503050406030204" pitchFamily="18" charset="0"/>
                                      </a:rPr>
                                    </m:ctrlPr>
                                  </m:sSubPr>
                                  <m:e>
                                    <m:r>
                                      <a:rPr lang="en-US" altLang="zh-TW" sz="2000" b="0" i="1" smtClean="0">
                                        <a:latin typeface="Cambria Math" panose="02040503050406030204" pitchFamily="18" charset="0"/>
                                      </a:rPr>
                                      <m:t>𝑥</m:t>
                                    </m:r>
                                  </m:e>
                                  <m:sub>
                                    <m:r>
                                      <a:rPr lang="en-US" altLang="zh-TW" sz="2000" b="0" i="1" smtClean="0">
                                        <a:latin typeface="Cambria Math" panose="02040503050406030204" pitchFamily="18" charset="0"/>
                                      </a:rPr>
                                      <m:t>2</m:t>
                                    </m:r>
                                  </m:sub>
                                </m:sSub>
                              </m:oMath>
                            </m:oMathPara>
                          </a14:m>
                          <a:endParaRPr lang="zh-TW" altLang="en-US" sz="2000" dirty="0"/>
                        </a:p>
                      </a:txBody>
                      <a:tcPr anchor="ctr">
                        <a:lnL w="12700" cmpd="sng">
                          <a:noFill/>
                        </a:lnL>
                        <a:lnR w="12700" cap="flat" cmpd="sng" algn="ctr">
                          <a:noFill/>
                          <a:prstDash val="solid"/>
                          <a:round/>
                          <a:headEnd type="none" w="med" len="med"/>
                          <a:tailEnd type="none" w="med" len="med"/>
                        </a:lnR>
                        <a:lnT w="38100" cap="flat" cmpd="sng" algn="ctr">
                          <a:solidFill>
                            <a:srgbClr val="FF0000"/>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sz="2000" dirty="0"/>
                            <a:t>4</a:t>
                          </a:r>
                          <a:endParaRPr lang="zh-TW" altLang="en-US" sz="20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Sup>
                                  <m:sSubSupPr>
                                    <m:ctrlPr>
                                      <a:rPr lang="en-US" altLang="zh-TW" sz="2000" i="1" smtClean="0">
                                        <a:latin typeface="Cambria Math" panose="02040503050406030204" pitchFamily="18" charset="0"/>
                                      </a:rPr>
                                    </m:ctrlPr>
                                  </m:sSubSupPr>
                                  <m:e>
                                    <m:r>
                                      <a:rPr lang="en-US" altLang="zh-TW" sz="2000" b="0" i="1" smtClean="0">
                                        <a:latin typeface="Cambria Math" panose="02040503050406030204" pitchFamily="18" charset="0"/>
                                      </a:rPr>
                                      <m:t>𝑙</m:t>
                                    </m:r>
                                  </m:e>
                                  <m:sub>
                                    <m:r>
                                      <a:rPr lang="en-US" altLang="zh-TW" sz="2000" b="0" i="1" smtClean="0">
                                        <a:latin typeface="Cambria Math" panose="02040503050406030204" pitchFamily="18" charset="0"/>
                                      </a:rPr>
                                      <m:t>2</m:t>
                                    </m:r>
                                  </m:sub>
                                  <m:sup>
                                    <m:r>
                                      <a:rPr lang="en-US" altLang="zh-TW" sz="2000" b="0" i="1" smtClean="0">
                                        <a:latin typeface="Cambria Math" panose="02040503050406030204" pitchFamily="18" charset="0"/>
                                      </a:rPr>
                                      <m:t>1</m:t>
                                    </m:r>
                                  </m:sup>
                                </m:sSubSup>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69180369"/>
                      </a:ext>
                    </a:extLst>
                  </a:tr>
                  <a:tr h="396000">
                    <a:tc>
                      <a:txBody>
                        <a:bodyPr/>
                        <a:lstStyle/>
                        <a:p>
                          <a:pPr algn="ctr"/>
                          <a14:m>
                            <m:oMathPara xmlns:m="http://schemas.openxmlformats.org/officeDocument/2006/math">
                              <m:oMathParaPr>
                                <m:jc m:val="centerGroup"/>
                              </m:oMathParaPr>
                              <m:oMath xmlns:m="http://schemas.openxmlformats.org/officeDocument/2006/math">
                                <m:bar>
                                  <m:barPr>
                                    <m:pos m:val="top"/>
                                    <m:ctrlPr>
                                      <a:rPr lang="en-US" altLang="zh-TW" sz="2000" i="1" smtClean="0">
                                        <a:latin typeface="Cambria Math" panose="02040503050406030204" pitchFamily="18" charset="0"/>
                                      </a:rPr>
                                    </m:ctrlPr>
                                  </m:barPr>
                                  <m:e>
                                    <m:sSub>
                                      <m:sSubPr>
                                        <m:ctrlPr>
                                          <a:rPr lang="en-US" altLang="zh-TW" sz="2000" i="1" smtClean="0">
                                            <a:latin typeface="Cambria Math" panose="02040503050406030204" pitchFamily="18" charset="0"/>
                                          </a:rPr>
                                        </m:ctrlPr>
                                      </m:sSubPr>
                                      <m:e>
                                        <m:r>
                                          <a:rPr lang="en-US" altLang="zh-TW" sz="2000" b="0" i="1" smtClean="0">
                                            <a:latin typeface="Cambria Math" panose="02040503050406030204" pitchFamily="18" charset="0"/>
                                          </a:rPr>
                                          <m:t>𝑥</m:t>
                                        </m:r>
                                      </m:e>
                                      <m:sub>
                                        <m:r>
                                          <a:rPr lang="en-US" altLang="zh-TW" sz="2000" b="0" i="1" smtClean="0">
                                            <a:latin typeface="Cambria Math" panose="02040503050406030204" pitchFamily="18" charset="0"/>
                                          </a:rPr>
                                          <m:t>3</m:t>
                                        </m:r>
                                      </m:sub>
                                    </m:sSub>
                                  </m:e>
                                </m:bar>
                              </m:oMath>
                            </m:oMathPara>
                          </a14:m>
                          <a:endParaRPr lang="zh-TW" altLang="en-US" sz="2000" dirty="0"/>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2000" dirty="0"/>
                            <a:t>5</a:t>
                          </a:r>
                          <a:endParaRPr lang="zh-TW" altLang="en-US" sz="20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2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Sup>
                                  <m:sSubSupPr>
                                    <m:ctrlPr>
                                      <a:rPr lang="en-US" altLang="zh-TW" sz="2000" i="1" smtClean="0">
                                        <a:latin typeface="Cambria Math" panose="02040503050406030204" pitchFamily="18" charset="0"/>
                                      </a:rPr>
                                    </m:ctrlPr>
                                  </m:sSubSupPr>
                                  <m:e>
                                    <m:r>
                                      <a:rPr lang="en-US" altLang="zh-TW" sz="2000" b="0" i="1" smtClean="0">
                                        <a:latin typeface="Cambria Math" panose="02040503050406030204" pitchFamily="18" charset="0"/>
                                      </a:rPr>
                                      <m:t>𝑙</m:t>
                                    </m:r>
                                  </m:e>
                                  <m:sub>
                                    <m:r>
                                      <a:rPr lang="en-US" altLang="zh-TW" sz="2000" b="0" i="1" smtClean="0">
                                        <a:latin typeface="Cambria Math" panose="02040503050406030204" pitchFamily="18" charset="0"/>
                                      </a:rPr>
                                      <m:t>2</m:t>
                                    </m:r>
                                  </m:sub>
                                  <m:sup>
                                    <m:r>
                                      <a:rPr lang="en-US" altLang="zh-TW" sz="2000" b="0" i="1" smtClean="0">
                                        <a:latin typeface="Cambria Math" panose="02040503050406030204" pitchFamily="18" charset="0"/>
                                      </a:rPr>
                                      <m:t>2</m:t>
                                    </m:r>
                                  </m:sup>
                                </m:sSubSup>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2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2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39250096"/>
                      </a:ext>
                    </a:extLst>
                  </a:tr>
                  <a:tr h="396000">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000" i="1" smtClean="0">
                                        <a:latin typeface="Cambria Math" panose="02040503050406030204" pitchFamily="18" charset="0"/>
                                      </a:rPr>
                                    </m:ctrlPr>
                                  </m:sSubPr>
                                  <m:e>
                                    <m:r>
                                      <a:rPr lang="en-US" altLang="zh-TW" sz="2000" b="0" i="1" smtClean="0">
                                        <a:latin typeface="Cambria Math" panose="02040503050406030204" pitchFamily="18" charset="0"/>
                                      </a:rPr>
                                      <m:t>𝑥</m:t>
                                    </m:r>
                                  </m:e>
                                  <m:sub>
                                    <m:r>
                                      <a:rPr lang="en-US" altLang="zh-TW" sz="2000" b="0" i="1" smtClean="0">
                                        <a:latin typeface="Cambria Math" panose="02040503050406030204" pitchFamily="18" charset="0"/>
                                      </a:rPr>
                                      <m:t>2</m:t>
                                    </m:r>
                                  </m:sub>
                                </m:sSub>
                              </m:oMath>
                            </m:oMathPara>
                          </a14:m>
                          <a:endParaRPr lang="zh-TW" altLang="en-US" sz="2000" dirty="0"/>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2000" dirty="0"/>
                            <a:t>6</a:t>
                          </a:r>
                          <a:endParaRPr lang="zh-TW" altLang="en-US" sz="20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14:m>
                            <m:oMathPara xmlns:m="http://schemas.openxmlformats.org/officeDocument/2006/math">
                              <m:oMathParaPr>
                                <m:jc m:val="centerGroup"/>
                              </m:oMathParaPr>
                              <m:oMath xmlns:m="http://schemas.openxmlformats.org/officeDocument/2006/math">
                                <m:sSubSup>
                                  <m:sSubSupPr>
                                    <m:ctrlPr>
                                      <a:rPr lang="en-US" altLang="zh-TW" sz="2000" i="1" smtClean="0">
                                        <a:latin typeface="Cambria Math" panose="02040503050406030204" pitchFamily="18" charset="0"/>
                                      </a:rPr>
                                    </m:ctrlPr>
                                  </m:sSubSupPr>
                                  <m:e>
                                    <m:r>
                                      <a:rPr lang="en-US" altLang="zh-TW" sz="2000" b="0" i="1" smtClean="0">
                                        <a:latin typeface="Cambria Math" panose="02040503050406030204" pitchFamily="18" charset="0"/>
                                      </a:rPr>
                                      <m:t>𝑙</m:t>
                                    </m:r>
                                  </m:e>
                                  <m:sub>
                                    <m:r>
                                      <a:rPr lang="en-US" altLang="zh-TW" sz="2000" b="0" i="1" smtClean="0">
                                        <a:latin typeface="Cambria Math" panose="02040503050406030204" pitchFamily="18" charset="0"/>
                                      </a:rPr>
                                      <m:t>3</m:t>
                                    </m:r>
                                  </m:sub>
                                  <m:sup>
                                    <m:r>
                                      <a:rPr lang="en-US" altLang="zh-TW" sz="2000" b="0" i="1" smtClean="0">
                                        <a:latin typeface="Cambria Math" panose="02040503050406030204" pitchFamily="18" charset="0"/>
                                      </a:rPr>
                                      <m:t>1</m:t>
                                    </m:r>
                                  </m:sup>
                                </m:sSubSup>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2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72840707"/>
                      </a:ext>
                    </a:extLst>
                  </a:tr>
                  <a:tr h="396000">
                    <a:tc>
                      <a:txBody>
                        <a:bodyPr/>
                        <a:lstStyle/>
                        <a:p>
                          <a:pPr algn="ctr"/>
                          <a14:m>
                            <m:oMathPara xmlns:m="http://schemas.openxmlformats.org/officeDocument/2006/math">
                              <m:oMathParaPr>
                                <m:jc m:val="centerGroup"/>
                              </m:oMathParaPr>
                              <m:oMath xmlns:m="http://schemas.openxmlformats.org/officeDocument/2006/math">
                                <m:bar>
                                  <m:barPr>
                                    <m:pos m:val="top"/>
                                    <m:ctrlPr>
                                      <a:rPr lang="en-US" altLang="zh-TW" sz="2000" i="1" smtClean="0">
                                        <a:latin typeface="Cambria Math" panose="02040503050406030204" pitchFamily="18" charset="0"/>
                                      </a:rPr>
                                    </m:ctrlPr>
                                  </m:barPr>
                                  <m:e>
                                    <m:sSub>
                                      <m:sSubPr>
                                        <m:ctrlPr>
                                          <a:rPr lang="en-US" altLang="zh-TW" sz="2000" i="1" smtClean="0">
                                            <a:latin typeface="Cambria Math" panose="02040503050406030204" pitchFamily="18" charset="0"/>
                                          </a:rPr>
                                        </m:ctrlPr>
                                      </m:sSubPr>
                                      <m:e>
                                        <m:r>
                                          <a:rPr lang="en-US" altLang="zh-TW" sz="2000" b="0" i="1" smtClean="0">
                                            <a:latin typeface="Cambria Math" panose="02040503050406030204" pitchFamily="18" charset="0"/>
                                          </a:rPr>
                                          <m:t>𝑥</m:t>
                                        </m:r>
                                      </m:e>
                                      <m:sub>
                                        <m:r>
                                          <a:rPr lang="en-US" altLang="zh-TW" sz="2000" b="0" i="1" smtClean="0">
                                            <a:latin typeface="Cambria Math" panose="02040503050406030204" pitchFamily="18" charset="0"/>
                                          </a:rPr>
                                          <m:t>1</m:t>
                                        </m:r>
                                      </m:sub>
                                    </m:sSub>
                                  </m:e>
                                </m:bar>
                              </m:oMath>
                            </m:oMathPara>
                          </a14:m>
                          <a:endParaRPr lang="zh-TW" altLang="en-US" sz="2000" dirty="0"/>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2000" dirty="0"/>
                            <a:t>7</a:t>
                          </a:r>
                          <a:endParaRPr lang="zh-TW" altLang="en-US" sz="20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2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2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2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2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2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2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19523155"/>
                      </a:ext>
                    </a:extLst>
                  </a:tr>
                  <a:tr h="396000">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000" i="1" smtClean="0">
                                        <a:latin typeface="Cambria Math" panose="02040503050406030204" pitchFamily="18" charset="0"/>
                                      </a:rPr>
                                    </m:ctrlPr>
                                  </m:sSubPr>
                                  <m:e>
                                    <m:r>
                                      <a:rPr lang="en-US" altLang="zh-TW" sz="2000" b="0" i="1" smtClean="0">
                                        <a:latin typeface="Cambria Math" panose="02040503050406030204" pitchFamily="18" charset="0"/>
                                      </a:rPr>
                                      <m:t>𝑥</m:t>
                                    </m:r>
                                  </m:e>
                                  <m:sub>
                                    <m:r>
                                      <a:rPr lang="en-US" altLang="zh-TW" sz="2000" b="0" i="1" smtClean="0">
                                        <a:latin typeface="Cambria Math" panose="02040503050406030204" pitchFamily="18" charset="0"/>
                                      </a:rPr>
                                      <m:t>2</m:t>
                                    </m:r>
                                  </m:sub>
                                </m:sSub>
                              </m:oMath>
                            </m:oMathPara>
                          </a14:m>
                          <a:endParaRPr lang="zh-TW" altLang="en-US" sz="2000" dirty="0"/>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2000" dirty="0"/>
                            <a:t>8</a:t>
                          </a:r>
                          <a:endParaRPr lang="zh-TW" altLang="en-US" sz="20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2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2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2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Sup>
                                  <m:sSubSupPr>
                                    <m:ctrlPr>
                                      <a:rPr lang="en-US" altLang="zh-TW" sz="2000" i="1" smtClean="0">
                                        <a:latin typeface="Cambria Math" panose="02040503050406030204" pitchFamily="18" charset="0"/>
                                      </a:rPr>
                                    </m:ctrlPr>
                                  </m:sSubSupPr>
                                  <m:e>
                                    <m:r>
                                      <a:rPr lang="en-US" altLang="zh-TW" sz="2000" b="0" i="1" smtClean="0">
                                        <a:latin typeface="Cambria Math" panose="02040503050406030204" pitchFamily="18" charset="0"/>
                                      </a:rPr>
                                      <m:t>𝑙</m:t>
                                    </m:r>
                                  </m:e>
                                  <m:sub>
                                    <m:r>
                                      <a:rPr lang="en-US" altLang="zh-TW" sz="2000" b="0" i="1" smtClean="0">
                                        <a:latin typeface="Cambria Math" panose="02040503050406030204" pitchFamily="18" charset="0"/>
                                      </a:rPr>
                                      <m:t>3</m:t>
                                    </m:r>
                                  </m:sub>
                                  <m:sup>
                                    <m:r>
                                      <a:rPr lang="en-US" altLang="zh-TW" sz="2000" b="0" i="1" smtClean="0">
                                        <a:latin typeface="Cambria Math" panose="02040503050406030204" pitchFamily="18" charset="0"/>
                                      </a:rPr>
                                      <m:t>3</m:t>
                                    </m:r>
                                  </m:sup>
                                </m:sSubSup>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2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01978662"/>
                      </a:ext>
                    </a:extLst>
                  </a:tr>
                </a:tbl>
              </a:graphicData>
            </a:graphic>
          </p:graphicFrame>
        </mc:Choice>
        <mc:Fallback xmlns="">
          <p:graphicFrame>
            <p:nvGraphicFramePr>
              <p:cNvPr id="25" name="表格 24"/>
              <p:cNvGraphicFramePr>
                <a:graphicFrameLocks noGrp="1"/>
              </p:cNvGraphicFramePr>
              <p:nvPr/>
            </p:nvGraphicFramePr>
            <p:xfrm>
              <a:off x="6300000" y="2724253"/>
              <a:ext cx="3960000" cy="3996374"/>
            </p:xfrm>
            <a:graphic>
              <a:graphicData uri="http://schemas.openxmlformats.org/drawingml/2006/table">
                <a:tbl>
                  <a:tblPr firstRow="1" bandRow="1">
                    <a:tableStyleId>{5940675A-B579-460E-94D1-54222C63F5DA}</a:tableStyleId>
                  </a:tblPr>
                  <a:tblGrid>
                    <a:gridCol w="360000">
                      <a:extLst>
                        <a:ext uri="{9D8B030D-6E8A-4147-A177-3AD203B41FA5}">
                          <a16:colId xmlns:a16="http://schemas.microsoft.com/office/drawing/2014/main" val="2702153692"/>
                        </a:ext>
                      </a:extLst>
                    </a:gridCol>
                    <a:gridCol w="360000">
                      <a:extLst>
                        <a:ext uri="{9D8B030D-6E8A-4147-A177-3AD203B41FA5}">
                          <a16:colId xmlns:a16="http://schemas.microsoft.com/office/drawing/2014/main" val="122811012"/>
                        </a:ext>
                      </a:extLst>
                    </a:gridCol>
                    <a:gridCol w="360000">
                      <a:extLst>
                        <a:ext uri="{9D8B030D-6E8A-4147-A177-3AD203B41FA5}">
                          <a16:colId xmlns:a16="http://schemas.microsoft.com/office/drawing/2014/main" val="835919203"/>
                        </a:ext>
                      </a:extLst>
                    </a:gridCol>
                    <a:gridCol w="360000">
                      <a:extLst>
                        <a:ext uri="{9D8B030D-6E8A-4147-A177-3AD203B41FA5}">
                          <a16:colId xmlns:a16="http://schemas.microsoft.com/office/drawing/2014/main" val="1619107429"/>
                        </a:ext>
                      </a:extLst>
                    </a:gridCol>
                    <a:gridCol w="360000">
                      <a:extLst>
                        <a:ext uri="{9D8B030D-6E8A-4147-A177-3AD203B41FA5}">
                          <a16:colId xmlns:a16="http://schemas.microsoft.com/office/drawing/2014/main" val="2000173800"/>
                        </a:ext>
                      </a:extLst>
                    </a:gridCol>
                    <a:gridCol w="360000">
                      <a:extLst>
                        <a:ext uri="{9D8B030D-6E8A-4147-A177-3AD203B41FA5}">
                          <a16:colId xmlns:a16="http://schemas.microsoft.com/office/drawing/2014/main" val="2936943231"/>
                        </a:ext>
                      </a:extLst>
                    </a:gridCol>
                    <a:gridCol w="360000">
                      <a:extLst>
                        <a:ext uri="{9D8B030D-6E8A-4147-A177-3AD203B41FA5}">
                          <a16:colId xmlns:a16="http://schemas.microsoft.com/office/drawing/2014/main" val="901059968"/>
                        </a:ext>
                      </a:extLst>
                    </a:gridCol>
                    <a:gridCol w="360000">
                      <a:extLst>
                        <a:ext uri="{9D8B030D-6E8A-4147-A177-3AD203B41FA5}">
                          <a16:colId xmlns:a16="http://schemas.microsoft.com/office/drawing/2014/main" val="3756777949"/>
                        </a:ext>
                      </a:extLst>
                    </a:gridCol>
                    <a:gridCol w="360000">
                      <a:extLst>
                        <a:ext uri="{9D8B030D-6E8A-4147-A177-3AD203B41FA5}">
                          <a16:colId xmlns:a16="http://schemas.microsoft.com/office/drawing/2014/main" val="2146270772"/>
                        </a:ext>
                      </a:extLst>
                    </a:gridCol>
                    <a:gridCol w="360000">
                      <a:extLst>
                        <a:ext uri="{9D8B030D-6E8A-4147-A177-3AD203B41FA5}">
                          <a16:colId xmlns:a16="http://schemas.microsoft.com/office/drawing/2014/main" val="4001691182"/>
                        </a:ext>
                      </a:extLst>
                    </a:gridCol>
                    <a:gridCol w="360000">
                      <a:extLst>
                        <a:ext uri="{9D8B030D-6E8A-4147-A177-3AD203B41FA5}">
                          <a16:colId xmlns:a16="http://schemas.microsoft.com/office/drawing/2014/main" val="1825885578"/>
                        </a:ext>
                      </a:extLst>
                    </a:gridCol>
                  </a:tblGrid>
                  <a:tr h="396240">
                    <a:tc>
                      <a:txBody>
                        <a:bodyPr/>
                        <a:lstStyle/>
                        <a:p>
                          <a:pPr algn="ctr"/>
                          <a:endParaRPr lang="zh-TW" altLang="en-US" sz="20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gridSpan="10">
                      <a:txBody>
                        <a:bodyPr/>
                        <a:lstStyle/>
                        <a:p>
                          <a:pPr algn="ctr"/>
                          <a:r>
                            <a:rPr lang="en-US" altLang="zh-TW" sz="2000" dirty="0"/>
                            <a:t>Matrix B</a:t>
                          </a:r>
                          <a:endParaRPr lang="zh-TW" altLang="en-US" sz="20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8429601"/>
                      </a:ext>
                    </a:extLst>
                  </a:tr>
                  <a:tr h="396240">
                    <a:tc>
                      <a:txBody>
                        <a:bodyPr/>
                        <a:lstStyle/>
                        <a:p>
                          <a:pPr algn="ctr"/>
                          <a:endParaRPr lang="zh-TW" altLang="en-US" sz="20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2000" dirty="0"/>
                            <a:t>1</a:t>
                          </a:r>
                          <a:endParaRPr lang="zh-TW" altLang="en-US" sz="20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t>2</a:t>
                          </a:r>
                          <a:endParaRPr lang="zh-TW" altLang="en-US" sz="20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t>3</a:t>
                          </a:r>
                          <a:endParaRPr lang="zh-TW" altLang="en-US" sz="20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t>4</a:t>
                          </a:r>
                          <a:endParaRPr lang="zh-TW" altLang="en-US" sz="20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t>5</a:t>
                          </a:r>
                          <a:endParaRPr lang="zh-TW" altLang="en-US" sz="20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t>6</a:t>
                          </a:r>
                          <a:endParaRPr lang="zh-TW" altLang="en-US" sz="20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t>7</a:t>
                          </a:r>
                          <a:endParaRPr lang="zh-TW" altLang="en-US" sz="20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t>8</a:t>
                          </a:r>
                          <a:endParaRPr lang="zh-TW" altLang="en-US" sz="20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t>9</a:t>
                          </a:r>
                          <a:endParaRPr lang="zh-TW" altLang="en-US" sz="20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98706228"/>
                      </a:ext>
                    </a:extLst>
                  </a:tr>
                  <a:tr h="401257">
                    <a:tc>
                      <a:txBody>
                        <a:bodyPr/>
                        <a:lstStyle/>
                        <a:p>
                          <a:endParaRPr lang="zh-TW"/>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blipFill>
                          <a:blip r:embed="rId3"/>
                          <a:stretch>
                            <a:fillRect t="-204545" r="-1010169" b="-724242"/>
                          </a:stretch>
                        </a:blipFill>
                      </a:tcPr>
                    </a:tc>
                    <a:tc>
                      <a:txBody>
                        <a:bodyPr/>
                        <a:lstStyle/>
                        <a:p>
                          <a:pPr algn="ctr"/>
                          <a:r>
                            <a:rPr lang="en-US" altLang="zh-TW" sz="2000" dirty="0"/>
                            <a:t>1</a:t>
                          </a:r>
                          <a:endParaRPr lang="zh-TW" altLang="en-US" sz="20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96667" t="-204545" r="-795000" b="-7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1695" t="-204545" r="-708475" b="-7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01695" t="-204545" r="-608475" b="-7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01695" t="-204545" r="-508475" b="-7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01695" t="-204545" r="-408475" b="-7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01695" t="-204545" r="-308475" b="-7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88333" t="-204545" r="-203333" b="-7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03390" t="-204545" r="-106780" b="-7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3390" t="-204545" r="-6780" b="-724242"/>
                          </a:stretch>
                        </a:blipFill>
                      </a:tcPr>
                    </a:tc>
                    <a:extLst>
                      <a:ext uri="{0D108BD9-81ED-4DB2-BD59-A6C34878D82A}">
                        <a16:rowId xmlns:a16="http://schemas.microsoft.com/office/drawing/2014/main" val="1642121216"/>
                      </a:ext>
                    </a:extLst>
                  </a:tr>
                  <a:tr h="399796">
                    <a:tc>
                      <a:txBody>
                        <a:bodyPr/>
                        <a:lstStyle/>
                        <a:p>
                          <a:endParaRPr lang="zh-TW"/>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blipFill>
                          <a:blip r:embed="rId3"/>
                          <a:stretch>
                            <a:fillRect t="-304545" r="-1010169" b="-624242"/>
                          </a:stretch>
                        </a:blipFill>
                      </a:tcPr>
                    </a:tc>
                    <a:tc>
                      <a:txBody>
                        <a:bodyPr/>
                        <a:lstStyle/>
                        <a:p>
                          <a:pPr algn="ctr"/>
                          <a:r>
                            <a:rPr lang="en-US" altLang="zh-TW" sz="2000" dirty="0"/>
                            <a:t>2</a:t>
                          </a:r>
                          <a:endParaRPr lang="zh-TW" altLang="en-US" sz="20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96667" t="-304545" r="-795000" b="-6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1695" t="-304545" r="-708475" b="-6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01695" t="-304545" r="-608475" b="-6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01695" t="-304545" r="-508475" b="-6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01695" t="-304545" r="-408475" b="-6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01695" t="-304545" r="-308475" b="-6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88333" t="-304545" r="-203333" b="-6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03390" t="-304545" r="-106780" b="-6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3390" t="-304545" r="-6780" b="-624242"/>
                          </a:stretch>
                        </a:blipFill>
                      </a:tcPr>
                    </a:tc>
                    <a:extLst>
                      <a:ext uri="{0D108BD9-81ED-4DB2-BD59-A6C34878D82A}">
                        <a16:rowId xmlns:a16="http://schemas.microsoft.com/office/drawing/2014/main" val="592435610"/>
                      </a:ext>
                    </a:extLst>
                  </a:tr>
                  <a:tr h="401892">
                    <a:tc>
                      <a:txBody>
                        <a:bodyPr/>
                        <a:lstStyle/>
                        <a:p>
                          <a:endParaRPr lang="zh-TW"/>
                        </a:p>
                      </a:txBody>
                      <a:tcPr anchor="ctr">
                        <a:lnL w="12700" cmpd="sng">
                          <a:noFill/>
                        </a:lnL>
                        <a:lnR w="12700" cap="flat" cmpd="sng" algn="ctr">
                          <a:noFill/>
                          <a:prstDash val="solid"/>
                          <a:round/>
                          <a:headEnd type="none" w="med" len="med"/>
                          <a:tailEnd type="none" w="med" len="med"/>
                        </a:lnR>
                        <a:lnT w="12700" cmpd="sng">
                          <a:noFill/>
                        </a:lnT>
                        <a:lnB w="381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blipFill>
                          <a:blip r:embed="rId3"/>
                          <a:stretch>
                            <a:fillRect t="-404545" r="-1010169" b="-524242"/>
                          </a:stretch>
                        </a:blipFill>
                      </a:tcPr>
                    </a:tc>
                    <a:tc>
                      <a:txBody>
                        <a:bodyPr/>
                        <a:lstStyle/>
                        <a:p>
                          <a:pPr algn="ctr"/>
                          <a:r>
                            <a:rPr lang="en-US" altLang="zh-TW" sz="2000" dirty="0"/>
                            <a:t>3</a:t>
                          </a:r>
                          <a:endParaRPr lang="zh-TW" altLang="en-US" sz="20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381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olid"/>
                          <a:round/>
                          <a:headEnd type="none" w="med" len="med"/>
                          <a:tailEnd type="none" w="med" len="med"/>
                        </a:lnB>
                        <a:blipFill>
                          <a:blip r:embed="rId3"/>
                          <a:stretch>
                            <a:fillRect l="-196667" t="-404545" r="-795000" b="-5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olid"/>
                          <a:round/>
                          <a:headEnd type="none" w="med" len="med"/>
                          <a:tailEnd type="none" w="med" len="med"/>
                        </a:lnB>
                        <a:blipFill>
                          <a:blip r:embed="rId3"/>
                          <a:stretch>
                            <a:fillRect l="-301695" t="-404545" r="-708475" b="-5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olid"/>
                          <a:round/>
                          <a:headEnd type="none" w="med" len="med"/>
                          <a:tailEnd type="none" w="med" len="med"/>
                        </a:lnB>
                        <a:blipFill>
                          <a:blip r:embed="rId3"/>
                          <a:stretch>
                            <a:fillRect l="-401695" t="-404545" r="-608475" b="-5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olid"/>
                          <a:round/>
                          <a:headEnd type="none" w="med" len="med"/>
                          <a:tailEnd type="none" w="med" len="med"/>
                        </a:lnB>
                        <a:blipFill>
                          <a:blip r:embed="rId3"/>
                          <a:stretch>
                            <a:fillRect l="-501695" t="-404545" r="-508475" b="-5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olid"/>
                          <a:round/>
                          <a:headEnd type="none" w="med" len="med"/>
                          <a:tailEnd type="none" w="med" len="med"/>
                        </a:lnB>
                        <a:blipFill>
                          <a:blip r:embed="rId3"/>
                          <a:stretch>
                            <a:fillRect l="-601695" t="-404545" r="-408475" b="-5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olid"/>
                          <a:round/>
                          <a:headEnd type="none" w="med" len="med"/>
                          <a:tailEnd type="none" w="med" len="med"/>
                        </a:lnB>
                        <a:blipFill>
                          <a:blip r:embed="rId3"/>
                          <a:stretch>
                            <a:fillRect l="-701695" t="-404545" r="-308475" b="-5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olid"/>
                          <a:round/>
                          <a:headEnd type="none" w="med" len="med"/>
                          <a:tailEnd type="none" w="med" len="med"/>
                        </a:lnB>
                        <a:blipFill>
                          <a:blip r:embed="rId3"/>
                          <a:stretch>
                            <a:fillRect l="-788333" t="-404545" r="-203333" b="-5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olid"/>
                          <a:round/>
                          <a:headEnd type="none" w="med" len="med"/>
                          <a:tailEnd type="none" w="med" len="med"/>
                        </a:lnB>
                        <a:blipFill>
                          <a:blip r:embed="rId3"/>
                          <a:stretch>
                            <a:fillRect l="-903390" t="-404545" r="-106780" b="-5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olid"/>
                          <a:round/>
                          <a:headEnd type="none" w="med" len="med"/>
                          <a:tailEnd type="none" w="med" len="med"/>
                        </a:lnB>
                        <a:blipFill>
                          <a:blip r:embed="rId3"/>
                          <a:stretch>
                            <a:fillRect l="-1003390" t="-404545" r="-6780" b="-524242"/>
                          </a:stretch>
                        </a:blipFill>
                      </a:tcPr>
                    </a:tc>
                    <a:extLst>
                      <a:ext uri="{0D108BD9-81ED-4DB2-BD59-A6C34878D82A}">
                        <a16:rowId xmlns:a16="http://schemas.microsoft.com/office/drawing/2014/main" val="1454765373"/>
                      </a:ext>
                    </a:extLst>
                  </a:tr>
                  <a:tr h="399669">
                    <a:tc>
                      <a:txBody>
                        <a:bodyPr/>
                        <a:lstStyle/>
                        <a:p>
                          <a:endParaRPr lang="zh-TW"/>
                        </a:p>
                      </a:txBody>
                      <a:tcPr anchor="ctr">
                        <a:lnL w="12700" cmpd="sng">
                          <a:noFill/>
                        </a:lnL>
                        <a:lnR w="12700" cap="flat" cmpd="sng" algn="ctr">
                          <a:noFill/>
                          <a:prstDash val="solid"/>
                          <a:round/>
                          <a:headEnd type="none" w="med" len="med"/>
                          <a:tailEnd type="none" w="med" len="med"/>
                        </a:lnR>
                        <a:lnT w="38100" cap="flat" cmpd="sng" algn="ctr">
                          <a:solidFill>
                            <a:srgbClr val="FF0000"/>
                          </a:solidFill>
                          <a:prstDash val="solid"/>
                          <a:round/>
                          <a:headEnd type="none" w="med" len="med"/>
                          <a:tailEnd type="none" w="med" len="med"/>
                        </a:lnT>
                        <a:lnB w="12700" cmpd="sng">
                          <a:noFill/>
                        </a:lnB>
                        <a:lnTlToBr w="12700" cmpd="sng">
                          <a:noFill/>
                          <a:prstDash val="solid"/>
                        </a:lnTlToBr>
                        <a:lnBlToTr w="12700" cmpd="sng">
                          <a:noFill/>
                          <a:prstDash val="solid"/>
                        </a:lnBlToTr>
                        <a:blipFill>
                          <a:blip r:embed="rId3"/>
                          <a:stretch>
                            <a:fillRect t="-504545" r="-1010169" b="-424242"/>
                          </a:stretch>
                        </a:blipFill>
                      </a:tcPr>
                    </a:tc>
                    <a:tc>
                      <a:txBody>
                        <a:bodyPr/>
                        <a:lstStyle/>
                        <a:p>
                          <a:pPr algn="ctr"/>
                          <a:r>
                            <a:rPr lang="en-US" altLang="zh-TW" sz="2000" dirty="0"/>
                            <a:t>4</a:t>
                          </a:r>
                          <a:endParaRPr lang="zh-TW" altLang="en-US" sz="20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96667" t="-504545" r="-795000" b="-4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1695" t="-504545" r="-708475" b="-4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01695" t="-504545" r="-608475" b="-4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01695" t="-504545" r="-508475" b="-4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01695" t="-504545" r="-408475" b="-4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01695" t="-504545" r="-308475" b="-4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88333" t="-504545" r="-203333" b="-4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03390" t="-504545" r="-106780" b="-4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3390" t="-504545" r="-6780" b="-424242"/>
                          </a:stretch>
                        </a:blipFill>
                      </a:tcPr>
                    </a:tc>
                    <a:extLst>
                      <a:ext uri="{0D108BD9-81ED-4DB2-BD59-A6C34878D82A}">
                        <a16:rowId xmlns:a16="http://schemas.microsoft.com/office/drawing/2014/main" val="1969180369"/>
                      </a:ext>
                    </a:extLst>
                  </a:tr>
                  <a:tr h="400304">
                    <a:tc>
                      <a:txBody>
                        <a:bodyPr/>
                        <a:lstStyle/>
                        <a:p>
                          <a:endParaRPr lang="zh-TW"/>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blipFill>
                          <a:blip r:embed="rId3"/>
                          <a:stretch>
                            <a:fillRect t="-604545" r="-1010169" b="-324242"/>
                          </a:stretch>
                        </a:blipFill>
                      </a:tcPr>
                    </a:tc>
                    <a:tc>
                      <a:txBody>
                        <a:bodyPr/>
                        <a:lstStyle/>
                        <a:p>
                          <a:pPr algn="ctr"/>
                          <a:r>
                            <a:rPr lang="en-US" altLang="zh-TW" sz="2000" dirty="0"/>
                            <a:t>5</a:t>
                          </a:r>
                          <a:endParaRPr lang="zh-TW" altLang="en-US" sz="20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96667" t="-604545" r="-795000" b="-3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1695" t="-604545" r="-708475" b="-3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01695" t="-604545" r="-608475" b="-3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01695" t="-604545" r="-508475" b="-3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01695" t="-604545" r="-408475" b="-3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01695" t="-604545" r="-308475" b="-3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88333" t="-604545" r="-203333" b="-3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03390" t="-604545" r="-106780" b="-3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3390" t="-604545" r="-6780" b="-324242"/>
                          </a:stretch>
                        </a:blipFill>
                      </a:tcPr>
                    </a:tc>
                    <a:extLst>
                      <a:ext uri="{0D108BD9-81ED-4DB2-BD59-A6C34878D82A}">
                        <a16:rowId xmlns:a16="http://schemas.microsoft.com/office/drawing/2014/main" val="539250096"/>
                      </a:ext>
                    </a:extLst>
                  </a:tr>
                  <a:tr h="401257">
                    <a:tc>
                      <a:txBody>
                        <a:bodyPr/>
                        <a:lstStyle/>
                        <a:p>
                          <a:endParaRPr lang="zh-TW"/>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blipFill>
                          <a:blip r:embed="rId3"/>
                          <a:stretch>
                            <a:fillRect t="-704545" r="-1010169" b="-224242"/>
                          </a:stretch>
                        </a:blipFill>
                      </a:tcPr>
                    </a:tc>
                    <a:tc>
                      <a:txBody>
                        <a:bodyPr/>
                        <a:lstStyle/>
                        <a:p>
                          <a:pPr algn="ctr"/>
                          <a:r>
                            <a:rPr lang="en-US" altLang="zh-TW" sz="2000" dirty="0"/>
                            <a:t>6</a:t>
                          </a:r>
                          <a:endParaRPr lang="zh-TW" altLang="en-US" sz="20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96667" t="-704545" r="-795000" b="-2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1695" t="-704545" r="-708475" b="-2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01695" t="-704545" r="-608475" b="-2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01695" t="-704545" r="-508475" b="-2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01695" t="-704545" r="-408475" b="-2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01695" t="-704545" r="-308475" b="-2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88333" t="-704545" r="-203333" b="-2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03390" t="-704545" r="-106780" b="-2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3390" t="-704545" r="-6780" b="-224242"/>
                          </a:stretch>
                        </a:blipFill>
                      </a:tcPr>
                    </a:tc>
                    <a:extLst>
                      <a:ext uri="{0D108BD9-81ED-4DB2-BD59-A6C34878D82A}">
                        <a16:rowId xmlns:a16="http://schemas.microsoft.com/office/drawing/2014/main" val="872840707"/>
                      </a:ext>
                    </a:extLst>
                  </a:tr>
                  <a:tr h="396240">
                    <a:tc>
                      <a:txBody>
                        <a:bodyPr/>
                        <a:lstStyle/>
                        <a:p>
                          <a:endParaRPr lang="zh-TW"/>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blipFill>
                          <a:blip r:embed="rId3"/>
                          <a:stretch>
                            <a:fillRect t="-816923" r="-1010169" b="-127692"/>
                          </a:stretch>
                        </a:blipFill>
                      </a:tcPr>
                    </a:tc>
                    <a:tc>
                      <a:txBody>
                        <a:bodyPr/>
                        <a:lstStyle/>
                        <a:p>
                          <a:pPr algn="ctr"/>
                          <a:r>
                            <a:rPr lang="en-US" altLang="zh-TW" sz="2000" dirty="0"/>
                            <a:t>7</a:t>
                          </a:r>
                          <a:endParaRPr lang="zh-TW" altLang="en-US" sz="20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96667" t="-816923" r="-795000" b="-12769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1695" t="-816923" r="-708475" b="-12769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01695" t="-816923" r="-608475" b="-12769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01695" t="-816923" r="-508475" b="-12769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01695" t="-816923" r="-408475" b="-12769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01695" t="-816923" r="-308475" b="-12769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88333" t="-816923" r="-203333" b="-12769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03390" t="-816923" r="-106780" b="-12769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3390" t="-816923" r="-6780" b="-127692"/>
                          </a:stretch>
                        </a:blipFill>
                      </a:tcPr>
                    </a:tc>
                    <a:extLst>
                      <a:ext uri="{0D108BD9-81ED-4DB2-BD59-A6C34878D82A}">
                        <a16:rowId xmlns:a16="http://schemas.microsoft.com/office/drawing/2014/main" val="3919523155"/>
                      </a:ext>
                    </a:extLst>
                  </a:tr>
                  <a:tr h="403479">
                    <a:tc>
                      <a:txBody>
                        <a:bodyPr/>
                        <a:lstStyle/>
                        <a:p>
                          <a:endParaRPr lang="zh-TW"/>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blipFill>
                          <a:blip r:embed="rId3"/>
                          <a:stretch>
                            <a:fillRect t="-903030" r="-1010169" b="-25758"/>
                          </a:stretch>
                        </a:blipFill>
                      </a:tcPr>
                    </a:tc>
                    <a:tc>
                      <a:txBody>
                        <a:bodyPr/>
                        <a:lstStyle/>
                        <a:p>
                          <a:pPr algn="ctr"/>
                          <a:r>
                            <a:rPr lang="en-US" altLang="zh-TW" sz="2000" dirty="0"/>
                            <a:t>8</a:t>
                          </a:r>
                          <a:endParaRPr lang="zh-TW" altLang="en-US" sz="20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96667" t="-903030" r="-795000" b="-25758"/>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1695" t="-903030" r="-708475" b="-25758"/>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01695" t="-903030" r="-608475" b="-25758"/>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01695" t="-903030" r="-508475" b="-25758"/>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01695" t="-903030" r="-408475" b="-25758"/>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01695" t="-903030" r="-308475" b="-25758"/>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88333" t="-903030" r="-203333" b="-25758"/>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03390" t="-903030" r="-106780" b="-25758"/>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3390" t="-903030" r="-6780" b="-25758"/>
                          </a:stretch>
                        </a:blipFill>
                      </a:tcPr>
                    </a:tc>
                    <a:extLst>
                      <a:ext uri="{0D108BD9-81ED-4DB2-BD59-A6C34878D82A}">
                        <a16:rowId xmlns:a16="http://schemas.microsoft.com/office/drawing/2014/main" val="1201978662"/>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26" name="表格 25"/>
              <p:cNvGraphicFramePr>
                <a:graphicFrameLocks noGrp="1"/>
              </p:cNvGraphicFramePr>
              <p:nvPr/>
            </p:nvGraphicFramePr>
            <p:xfrm>
              <a:off x="1932000" y="2724253"/>
              <a:ext cx="3960000" cy="3996374"/>
            </p:xfrm>
            <a:graphic>
              <a:graphicData uri="http://schemas.openxmlformats.org/drawingml/2006/table">
                <a:tbl>
                  <a:tblPr firstRow="1" bandRow="1">
                    <a:tableStyleId>{5940675A-B579-460E-94D1-54222C63F5DA}</a:tableStyleId>
                  </a:tblPr>
                  <a:tblGrid>
                    <a:gridCol w="360000">
                      <a:extLst>
                        <a:ext uri="{9D8B030D-6E8A-4147-A177-3AD203B41FA5}">
                          <a16:colId xmlns:a16="http://schemas.microsoft.com/office/drawing/2014/main" val="4073095714"/>
                        </a:ext>
                      </a:extLst>
                    </a:gridCol>
                    <a:gridCol w="360000">
                      <a:extLst>
                        <a:ext uri="{9D8B030D-6E8A-4147-A177-3AD203B41FA5}">
                          <a16:colId xmlns:a16="http://schemas.microsoft.com/office/drawing/2014/main" val="122811012"/>
                        </a:ext>
                      </a:extLst>
                    </a:gridCol>
                    <a:gridCol w="360000">
                      <a:extLst>
                        <a:ext uri="{9D8B030D-6E8A-4147-A177-3AD203B41FA5}">
                          <a16:colId xmlns:a16="http://schemas.microsoft.com/office/drawing/2014/main" val="835919203"/>
                        </a:ext>
                      </a:extLst>
                    </a:gridCol>
                    <a:gridCol w="360000">
                      <a:extLst>
                        <a:ext uri="{9D8B030D-6E8A-4147-A177-3AD203B41FA5}">
                          <a16:colId xmlns:a16="http://schemas.microsoft.com/office/drawing/2014/main" val="1619107429"/>
                        </a:ext>
                      </a:extLst>
                    </a:gridCol>
                    <a:gridCol w="360000">
                      <a:extLst>
                        <a:ext uri="{9D8B030D-6E8A-4147-A177-3AD203B41FA5}">
                          <a16:colId xmlns:a16="http://schemas.microsoft.com/office/drawing/2014/main" val="2000173800"/>
                        </a:ext>
                      </a:extLst>
                    </a:gridCol>
                    <a:gridCol w="360000">
                      <a:extLst>
                        <a:ext uri="{9D8B030D-6E8A-4147-A177-3AD203B41FA5}">
                          <a16:colId xmlns:a16="http://schemas.microsoft.com/office/drawing/2014/main" val="2936943231"/>
                        </a:ext>
                      </a:extLst>
                    </a:gridCol>
                    <a:gridCol w="360000">
                      <a:extLst>
                        <a:ext uri="{9D8B030D-6E8A-4147-A177-3AD203B41FA5}">
                          <a16:colId xmlns:a16="http://schemas.microsoft.com/office/drawing/2014/main" val="901059968"/>
                        </a:ext>
                      </a:extLst>
                    </a:gridCol>
                    <a:gridCol w="360000">
                      <a:extLst>
                        <a:ext uri="{9D8B030D-6E8A-4147-A177-3AD203B41FA5}">
                          <a16:colId xmlns:a16="http://schemas.microsoft.com/office/drawing/2014/main" val="3756777949"/>
                        </a:ext>
                      </a:extLst>
                    </a:gridCol>
                    <a:gridCol w="360000">
                      <a:extLst>
                        <a:ext uri="{9D8B030D-6E8A-4147-A177-3AD203B41FA5}">
                          <a16:colId xmlns:a16="http://schemas.microsoft.com/office/drawing/2014/main" val="2146270772"/>
                        </a:ext>
                      </a:extLst>
                    </a:gridCol>
                    <a:gridCol w="360000">
                      <a:extLst>
                        <a:ext uri="{9D8B030D-6E8A-4147-A177-3AD203B41FA5}">
                          <a16:colId xmlns:a16="http://schemas.microsoft.com/office/drawing/2014/main" val="4001691182"/>
                        </a:ext>
                      </a:extLst>
                    </a:gridCol>
                    <a:gridCol w="360000">
                      <a:extLst>
                        <a:ext uri="{9D8B030D-6E8A-4147-A177-3AD203B41FA5}">
                          <a16:colId xmlns:a16="http://schemas.microsoft.com/office/drawing/2014/main" val="1825885578"/>
                        </a:ext>
                      </a:extLst>
                    </a:gridCol>
                  </a:tblGrid>
                  <a:tr h="360000">
                    <a:tc>
                      <a:txBody>
                        <a:bodyPr/>
                        <a:lstStyle/>
                        <a:p>
                          <a:pPr algn="ctr"/>
                          <a:endParaRPr lang="zh-TW" altLang="en-US" sz="20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gridSpan="10">
                      <a:txBody>
                        <a:bodyPr/>
                        <a:lstStyle/>
                        <a:p>
                          <a:pPr algn="ctr"/>
                          <a:r>
                            <a:rPr lang="en-US" altLang="zh-TW" sz="2000" dirty="0"/>
                            <a:t>Matrix A</a:t>
                          </a:r>
                          <a:endParaRPr lang="zh-TW" altLang="en-US" sz="20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8429601"/>
                      </a:ext>
                    </a:extLst>
                  </a:tr>
                  <a:tr h="360000">
                    <a:tc>
                      <a:txBody>
                        <a:bodyPr/>
                        <a:lstStyle/>
                        <a:p>
                          <a:pPr algn="ctr"/>
                          <a:endParaRPr lang="zh-TW" altLang="en-US" sz="20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2000" dirty="0"/>
                            <a:t>1</a:t>
                          </a:r>
                          <a:endParaRPr lang="zh-TW" altLang="en-US" sz="20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t>2</a:t>
                          </a:r>
                          <a:endParaRPr lang="zh-TW" altLang="en-US" sz="20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t>3</a:t>
                          </a:r>
                          <a:endParaRPr lang="zh-TW" altLang="en-US" sz="20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t>4</a:t>
                          </a:r>
                          <a:endParaRPr lang="zh-TW" altLang="en-US" sz="20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t>5</a:t>
                          </a:r>
                          <a:endParaRPr lang="zh-TW" altLang="en-US" sz="20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t>6</a:t>
                          </a:r>
                          <a:endParaRPr lang="zh-TW" altLang="en-US" sz="20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t>7</a:t>
                          </a:r>
                          <a:endParaRPr lang="zh-TW" altLang="en-US" sz="20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t>8</a:t>
                          </a:r>
                          <a:endParaRPr lang="zh-TW" altLang="en-US" sz="20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t>9</a:t>
                          </a:r>
                          <a:endParaRPr lang="zh-TW" altLang="en-US" sz="20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98706228"/>
                      </a:ext>
                    </a:extLst>
                  </a:tr>
                  <a:tr h="360000">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000" i="1" smtClean="0">
                                        <a:latin typeface="Cambria Math" panose="02040503050406030204" pitchFamily="18" charset="0"/>
                                      </a:rPr>
                                    </m:ctrlPr>
                                  </m:sSubPr>
                                  <m:e>
                                    <m:r>
                                      <a:rPr lang="en-US" altLang="zh-TW" sz="2000" b="0" i="1" smtClean="0">
                                        <a:latin typeface="Cambria Math" panose="02040503050406030204" pitchFamily="18" charset="0"/>
                                      </a:rPr>
                                      <m:t>𝑥</m:t>
                                    </m:r>
                                  </m:e>
                                  <m:sub>
                                    <m:r>
                                      <a:rPr lang="en-US" altLang="zh-TW" sz="2000" b="0" i="1" smtClean="0">
                                        <a:latin typeface="Cambria Math" panose="02040503050406030204" pitchFamily="18" charset="0"/>
                                      </a:rPr>
                                      <m:t>1</m:t>
                                    </m:r>
                                  </m:sub>
                                </m:sSub>
                              </m:oMath>
                            </m:oMathPara>
                          </a14:m>
                          <a:endParaRPr lang="zh-TW" altLang="en-US" sz="2000" dirty="0"/>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2000" dirty="0"/>
                            <a:t>1</a:t>
                          </a:r>
                          <a:endParaRPr lang="zh-TW" altLang="en-US" sz="20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14:m>
                            <m:oMathPara xmlns:m="http://schemas.openxmlformats.org/officeDocument/2006/math">
                              <m:oMathParaPr>
                                <m:jc m:val="centerGroup"/>
                              </m:oMathParaPr>
                              <m:oMath xmlns:m="http://schemas.openxmlformats.org/officeDocument/2006/math">
                                <m:sSubSup>
                                  <m:sSubSupPr>
                                    <m:ctrlPr>
                                      <a:rPr lang="en-US" altLang="zh-TW" sz="2000" i="1" smtClean="0">
                                        <a:latin typeface="Cambria Math" panose="02040503050406030204" pitchFamily="18" charset="0"/>
                                      </a:rPr>
                                    </m:ctrlPr>
                                  </m:sSubSupPr>
                                  <m:e>
                                    <m:r>
                                      <a:rPr lang="en-US" altLang="zh-TW" sz="2000" b="0" i="1" smtClean="0">
                                        <a:latin typeface="Cambria Math" panose="02040503050406030204" pitchFamily="18" charset="0"/>
                                      </a:rPr>
                                      <m:t>𝑙</m:t>
                                    </m:r>
                                  </m:e>
                                  <m:sub>
                                    <m:r>
                                      <a:rPr lang="en-US" altLang="zh-TW" sz="2000" b="0" i="1" smtClean="0">
                                        <a:latin typeface="Cambria Math" panose="02040503050406030204" pitchFamily="18" charset="0"/>
                                      </a:rPr>
                                      <m:t>1</m:t>
                                    </m:r>
                                  </m:sub>
                                  <m:sup>
                                    <m:r>
                                      <a:rPr lang="en-US" altLang="zh-TW" sz="2000" b="0" i="1" smtClean="0">
                                        <a:latin typeface="Cambria Math" panose="02040503050406030204" pitchFamily="18" charset="0"/>
                                      </a:rPr>
                                      <m:t>1</m:t>
                                    </m:r>
                                  </m:sup>
                                </m:sSubSup>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zh-TW" altLang="en-US" sz="2000" i="1" smtClean="0">
                                    <a:latin typeface="Cambria Math" panose="02040503050406030204" pitchFamily="18" charset="0"/>
                                  </a:rPr>
                                  <m:t>𝛼</m:t>
                                </m:r>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20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Sup>
                                  <m:sSubSupPr>
                                    <m:ctrlPr>
                                      <a:rPr lang="en-US" altLang="zh-TW" sz="2000" i="1" smtClean="0">
                                        <a:latin typeface="Cambria Math" panose="02040503050406030204" pitchFamily="18" charset="0"/>
                                      </a:rPr>
                                    </m:ctrlPr>
                                  </m:sSubSupPr>
                                  <m:e>
                                    <m:r>
                                      <a:rPr lang="en-US" altLang="zh-TW" sz="2000" b="0" i="1" smtClean="0">
                                        <a:latin typeface="Cambria Math" panose="02040503050406030204" pitchFamily="18" charset="0"/>
                                      </a:rPr>
                                      <m:t>𝑙</m:t>
                                    </m:r>
                                  </m:e>
                                  <m:sub>
                                    <m:r>
                                      <a:rPr lang="en-US" altLang="zh-TW" sz="2000" b="0" i="1" smtClean="0">
                                        <a:latin typeface="Cambria Math" panose="02040503050406030204" pitchFamily="18" charset="0"/>
                                      </a:rPr>
                                      <m:t>1</m:t>
                                    </m:r>
                                  </m:sub>
                                  <m:sup>
                                    <m:r>
                                      <a:rPr lang="en-US" altLang="zh-TW" sz="2000" b="0" i="1" smtClean="0">
                                        <a:latin typeface="Cambria Math" panose="02040503050406030204" pitchFamily="18" charset="0"/>
                                      </a:rPr>
                                      <m:t>2</m:t>
                                    </m:r>
                                  </m:sup>
                                </m:sSubSup>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20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20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20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20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20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2121216"/>
                      </a:ext>
                    </a:extLst>
                  </a:tr>
                  <a:tr h="360000">
                    <a:tc>
                      <a:txBody>
                        <a:bodyPr/>
                        <a:lstStyle/>
                        <a:p>
                          <a:pPr algn="ctr"/>
                          <a14:m>
                            <m:oMathPara xmlns:m="http://schemas.openxmlformats.org/officeDocument/2006/math">
                              <m:oMathParaPr>
                                <m:jc m:val="centerGroup"/>
                              </m:oMathParaPr>
                              <m:oMath xmlns:m="http://schemas.openxmlformats.org/officeDocument/2006/math">
                                <m:bar>
                                  <m:barPr>
                                    <m:pos m:val="top"/>
                                    <m:ctrlPr>
                                      <a:rPr lang="en-US" altLang="zh-TW" sz="2000" i="1" smtClean="0">
                                        <a:latin typeface="Cambria Math" panose="02040503050406030204" pitchFamily="18" charset="0"/>
                                      </a:rPr>
                                    </m:ctrlPr>
                                  </m:barPr>
                                  <m:e>
                                    <m:sSub>
                                      <m:sSubPr>
                                        <m:ctrlPr>
                                          <a:rPr lang="en-US" altLang="zh-TW" sz="2000" i="1" smtClean="0">
                                            <a:latin typeface="Cambria Math" panose="02040503050406030204" pitchFamily="18" charset="0"/>
                                          </a:rPr>
                                        </m:ctrlPr>
                                      </m:sSubPr>
                                      <m:e>
                                        <m:r>
                                          <a:rPr lang="en-US" altLang="zh-TW" sz="2000" b="0" i="1" smtClean="0">
                                            <a:latin typeface="Cambria Math" panose="02040503050406030204" pitchFamily="18" charset="0"/>
                                          </a:rPr>
                                          <m:t>𝑥</m:t>
                                        </m:r>
                                      </m:e>
                                      <m:sub>
                                        <m:r>
                                          <a:rPr lang="en-US" altLang="zh-TW" sz="2000" b="0" i="1" smtClean="0">
                                            <a:latin typeface="Cambria Math" panose="02040503050406030204" pitchFamily="18" charset="0"/>
                                          </a:rPr>
                                          <m:t>1</m:t>
                                        </m:r>
                                      </m:sub>
                                    </m:sSub>
                                  </m:e>
                                </m:bar>
                              </m:oMath>
                            </m:oMathPara>
                          </a14:m>
                          <a:endParaRPr lang="zh-TW" altLang="en-US" sz="2000" dirty="0"/>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2000" dirty="0"/>
                            <a:t>2</a:t>
                          </a:r>
                          <a:endParaRPr lang="zh-TW" altLang="en-US" sz="20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20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zh-TW" altLang="en-US" sz="2000" i="1" smtClean="0">
                                    <a:latin typeface="Cambria Math" panose="02040503050406030204" pitchFamily="18" charset="0"/>
                                  </a:rPr>
                                  <m:t>𝛼</m:t>
                                </m:r>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20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20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20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zh-TW" altLang="en-US" sz="2000" i="1" smtClean="0">
                                    <a:latin typeface="Cambria Math" panose="02040503050406030204" pitchFamily="18" charset="0"/>
                                  </a:rPr>
                                  <m:t>𝛼</m:t>
                                </m:r>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Sup>
                                  <m:sSubSupPr>
                                    <m:ctrlPr>
                                      <a:rPr lang="en-US" altLang="zh-TW" sz="2000" i="1" smtClean="0">
                                        <a:latin typeface="Cambria Math" panose="02040503050406030204" pitchFamily="18" charset="0"/>
                                      </a:rPr>
                                    </m:ctrlPr>
                                  </m:sSubSupPr>
                                  <m:e>
                                    <m:r>
                                      <a:rPr lang="en-US" altLang="zh-TW" sz="2000" b="0" i="1" smtClean="0">
                                        <a:latin typeface="Cambria Math" panose="02040503050406030204" pitchFamily="18" charset="0"/>
                                      </a:rPr>
                                      <m:t>𝑙</m:t>
                                    </m:r>
                                  </m:e>
                                  <m:sub>
                                    <m:r>
                                      <a:rPr lang="en-US" altLang="zh-TW" sz="2000" b="0" i="1" smtClean="0">
                                        <a:latin typeface="Cambria Math" panose="02040503050406030204" pitchFamily="18" charset="0"/>
                                      </a:rPr>
                                      <m:t>1</m:t>
                                    </m:r>
                                  </m:sub>
                                  <m:sup>
                                    <m:r>
                                      <a:rPr lang="en-US" altLang="zh-TW" sz="2000" b="0" i="1" smtClean="0">
                                        <a:latin typeface="Cambria Math" panose="02040503050406030204" pitchFamily="18" charset="0"/>
                                      </a:rPr>
                                      <m:t>3</m:t>
                                    </m:r>
                                  </m:sup>
                                </m:sSubSup>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20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20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92435610"/>
                      </a:ext>
                    </a:extLst>
                  </a:tr>
                  <a:tr h="360000">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000" i="1" smtClean="0">
                                        <a:latin typeface="Cambria Math" panose="02040503050406030204" pitchFamily="18" charset="0"/>
                                      </a:rPr>
                                    </m:ctrlPr>
                                  </m:sSubPr>
                                  <m:e>
                                    <m:r>
                                      <a:rPr lang="en-US" altLang="zh-TW" sz="2000" b="0" i="1" smtClean="0">
                                        <a:latin typeface="Cambria Math" panose="02040503050406030204" pitchFamily="18" charset="0"/>
                                      </a:rPr>
                                      <m:t>𝑥</m:t>
                                    </m:r>
                                  </m:e>
                                  <m:sub>
                                    <m:r>
                                      <a:rPr lang="en-US" altLang="zh-TW" sz="2000" b="0" i="1" smtClean="0">
                                        <a:latin typeface="Cambria Math" panose="02040503050406030204" pitchFamily="18" charset="0"/>
                                      </a:rPr>
                                      <m:t>2</m:t>
                                    </m:r>
                                  </m:sub>
                                </m:sSub>
                              </m:oMath>
                            </m:oMathPara>
                          </a14:m>
                          <a:endParaRPr lang="zh-TW" altLang="en-US" sz="2000" dirty="0"/>
                        </a:p>
                      </a:txBody>
                      <a:tcPr anchor="ctr">
                        <a:lnL w="12700" cmpd="sng">
                          <a:noFill/>
                        </a:lnL>
                        <a:lnR w="12700" cap="flat" cmpd="sng" algn="ctr">
                          <a:noFill/>
                          <a:prstDash val="solid"/>
                          <a:round/>
                          <a:headEnd type="none" w="med" len="med"/>
                          <a:tailEnd type="none" w="med" len="med"/>
                        </a:lnR>
                        <a:lnT w="12700" cmpd="sng">
                          <a:noFill/>
                        </a:lnT>
                        <a:lnB w="381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t>3</a:t>
                          </a:r>
                          <a:endParaRPr lang="zh-TW" altLang="en-US" sz="20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381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20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Sup>
                                  <m:sSubSupPr>
                                    <m:ctrlPr>
                                      <a:rPr lang="en-US" altLang="zh-TW" sz="2000" i="1" smtClean="0">
                                        <a:latin typeface="Cambria Math" panose="02040503050406030204" pitchFamily="18" charset="0"/>
                                      </a:rPr>
                                    </m:ctrlPr>
                                  </m:sSubSupPr>
                                  <m:e>
                                    <m:r>
                                      <a:rPr lang="en-US" altLang="zh-TW" sz="2000" b="0" i="1" smtClean="0">
                                        <a:latin typeface="Cambria Math" panose="02040503050406030204" pitchFamily="18" charset="0"/>
                                      </a:rPr>
                                      <m:t>𝑙</m:t>
                                    </m:r>
                                  </m:e>
                                  <m:sub>
                                    <m:r>
                                      <a:rPr lang="en-US" altLang="zh-TW" sz="2000" b="0" i="1" smtClean="0">
                                        <a:latin typeface="Cambria Math" panose="02040503050406030204" pitchFamily="18" charset="0"/>
                                      </a:rPr>
                                      <m:t>2</m:t>
                                    </m:r>
                                  </m:sub>
                                  <m:sup>
                                    <m:r>
                                      <a:rPr lang="en-US" altLang="zh-TW" sz="2000" b="0" i="1" smtClean="0">
                                        <a:latin typeface="Cambria Math" panose="02040503050406030204" pitchFamily="18" charset="0"/>
                                      </a:rPr>
                                      <m:t>1</m:t>
                                    </m:r>
                                  </m:sup>
                                </m:sSubSup>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20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20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20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20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20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20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20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olid"/>
                          <a:round/>
                          <a:headEnd type="none" w="med" len="med"/>
                          <a:tailEnd type="none" w="med" len="med"/>
                        </a:lnB>
                      </a:tcPr>
                    </a:tc>
                    <a:extLst>
                      <a:ext uri="{0D108BD9-81ED-4DB2-BD59-A6C34878D82A}">
                        <a16:rowId xmlns:a16="http://schemas.microsoft.com/office/drawing/2014/main" val="1454765373"/>
                      </a:ext>
                    </a:extLst>
                  </a:tr>
                  <a:tr h="360000">
                    <a:tc>
                      <a:txBody>
                        <a:bodyPr/>
                        <a:lstStyle/>
                        <a:p>
                          <a:pPr algn="ctr"/>
                          <a14:m>
                            <m:oMathPara xmlns:m="http://schemas.openxmlformats.org/officeDocument/2006/math">
                              <m:oMathParaPr>
                                <m:jc m:val="centerGroup"/>
                              </m:oMathParaPr>
                              <m:oMath xmlns:m="http://schemas.openxmlformats.org/officeDocument/2006/math">
                                <m:bar>
                                  <m:barPr>
                                    <m:pos m:val="top"/>
                                    <m:ctrlPr>
                                      <a:rPr lang="en-US" altLang="zh-TW" sz="2000" i="1" smtClean="0">
                                        <a:latin typeface="Cambria Math" panose="02040503050406030204" pitchFamily="18" charset="0"/>
                                      </a:rPr>
                                    </m:ctrlPr>
                                  </m:barPr>
                                  <m:e>
                                    <m:sSub>
                                      <m:sSubPr>
                                        <m:ctrlPr>
                                          <a:rPr lang="en-US" altLang="zh-TW" sz="2000" i="1" smtClean="0">
                                            <a:latin typeface="Cambria Math" panose="02040503050406030204" pitchFamily="18" charset="0"/>
                                          </a:rPr>
                                        </m:ctrlPr>
                                      </m:sSubPr>
                                      <m:e>
                                        <m:r>
                                          <a:rPr lang="en-US" altLang="zh-TW" sz="2000" b="0" i="1" smtClean="0">
                                            <a:latin typeface="Cambria Math" panose="02040503050406030204" pitchFamily="18" charset="0"/>
                                          </a:rPr>
                                          <m:t>𝑥</m:t>
                                        </m:r>
                                      </m:e>
                                      <m:sub>
                                        <m:r>
                                          <a:rPr lang="en-US" altLang="zh-TW" sz="2000" b="0" i="1" smtClean="0">
                                            <a:latin typeface="Cambria Math" panose="02040503050406030204" pitchFamily="18" charset="0"/>
                                          </a:rPr>
                                          <m:t>2</m:t>
                                        </m:r>
                                      </m:sub>
                                    </m:sSub>
                                  </m:e>
                                </m:bar>
                              </m:oMath>
                            </m:oMathPara>
                          </a14:m>
                          <a:endParaRPr lang="zh-TW" altLang="en-US" sz="2000" dirty="0"/>
                        </a:p>
                      </a:txBody>
                      <a:tcPr anchor="ctr">
                        <a:lnL w="12700" cmpd="sng">
                          <a:noFill/>
                        </a:lnL>
                        <a:lnR w="12700" cap="flat" cmpd="sng" algn="ctr">
                          <a:noFill/>
                          <a:prstDash val="solid"/>
                          <a:round/>
                          <a:headEnd type="none" w="med" len="med"/>
                          <a:tailEnd type="none" w="med" len="med"/>
                        </a:lnR>
                        <a:lnT w="38100" cap="flat" cmpd="sng" algn="ctr">
                          <a:solidFill>
                            <a:srgbClr val="FF0000"/>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altLang="zh-TW" sz="2000" dirty="0"/>
                            <a:t>4</a:t>
                          </a:r>
                          <a:endParaRPr lang="zh-TW" altLang="en-US" sz="20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20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20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20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20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20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Sup>
                                  <m:sSubSupPr>
                                    <m:ctrlPr>
                                      <a:rPr lang="en-US" altLang="zh-TW" sz="2000" i="1" smtClean="0">
                                        <a:latin typeface="Cambria Math" panose="02040503050406030204" pitchFamily="18" charset="0"/>
                                      </a:rPr>
                                    </m:ctrlPr>
                                  </m:sSubSupPr>
                                  <m:e>
                                    <m:r>
                                      <a:rPr lang="en-US" altLang="zh-TW" sz="2000" b="0" i="1" smtClean="0">
                                        <a:latin typeface="Cambria Math" panose="02040503050406030204" pitchFamily="18" charset="0"/>
                                      </a:rPr>
                                      <m:t>𝑙</m:t>
                                    </m:r>
                                  </m:e>
                                  <m:sub>
                                    <m:r>
                                      <a:rPr lang="en-US" altLang="zh-TW" sz="2000" b="0" i="1" smtClean="0">
                                        <a:latin typeface="Cambria Math" panose="02040503050406030204" pitchFamily="18" charset="0"/>
                                      </a:rPr>
                                      <m:t>3</m:t>
                                    </m:r>
                                  </m:sub>
                                  <m:sup>
                                    <m:r>
                                      <a:rPr lang="en-US" altLang="zh-TW" sz="2000" b="0" i="1" smtClean="0">
                                        <a:latin typeface="Cambria Math" panose="02040503050406030204" pitchFamily="18" charset="0"/>
                                      </a:rPr>
                                      <m:t>2</m:t>
                                    </m:r>
                                  </m:sup>
                                </m:sSubSup>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zh-TW" altLang="en-US" sz="2000" i="1" smtClean="0">
                                    <a:latin typeface="Cambria Math" panose="02040503050406030204" pitchFamily="18" charset="0"/>
                                  </a:rPr>
                                  <m:t>𝛼</m:t>
                                </m:r>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Sup>
                                  <m:sSubSupPr>
                                    <m:ctrlPr>
                                      <a:rPr lang="en-US" altLang="zh-TW" sz="2000" i="1" smtClean="0">
                                        <a:latin typeface="Cambria Math" panose="02040503050406030204" pitchFamily="18" charset="0"/>
                                      </a:rPr>
                                    </m:ctrlPr>
                                  </m:sSubSupPr>
                                  <m:e>
                                    <m:r>
                                      <a:rPr lang="en-US" altLang="zh-TW" sz="2000" b="0" i="1" smtClean="0">
                                        <a:latin typeface="Cambria Math" panose="02040503050406030204" pitchFamily="18" charset="0"/>
                                      </a:rPr>
                                      <m:t>𝑙</m:t>
                                    </m:r>
                                  </m:e>
                                  <m:sub>
                                    <m:r>
                                      <a:rPr lang="en-US" altLang="zh-TW" sz="2000" b="0" i="1" smtClean="0">
                                        <a:latin typeface="Cambria Math" panose="02040503050406030204" pitchFamily="18" charset="0"/>
                                      </a:rPr>
                                      <m:t>2</m:t>
                                    </m:r>
                                  </m:sub>
                                  <m:sup>
                                    <m:r>
                                      <a:rPr lang="en-US" altLang="zh-TW" sz="2000" b="0" i="1" smtClean="0">
                                        <a:latin typeface="Cambria Math" panose="02040503050406030204" pitchFamily="18" charset="0"/>
                                      </a:rPr>
                                      <m:t>3</m:t>
                                    </m:r>
                                  </m:sup>
                                </m:sSubSup>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zh-TW" altLang="en-US" sz="2000" i="1" smtClean="0">
                                    <a:latin typeface="Cambria Math" panose="02040503050406030204" pitchFamily="18" charset="0"/>
                                  </a:rPr>
                                  <m:t>𝛼</m:t>
                                </m:r>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69180369"/>
                      </a:ext>
                    </a:extLst>
                  </a:tr>
                  <a:tr h="360000">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000" i="1" smtClean="0">
                                        <a:latin typeface="Cambria Math" panose="02040503050406030204" pitchFamily="18" charset="0"/>
                                      </a:rPr>
                                    </m:ctrlPr>
                                  </m:sSubPr>
                                  <m:e>
                                    <m:r>
                                      <a:rPr lang="en-US" altLang="zh-TW" sz="2000" b="0" i="1" smtClean="0">
                                        <a:latin typeface="Cambria Math" panose="02040503050406030204" pitchFamily="18" charset="0"/>
                                      </a:rPr>
                                      <m:t>𝑥</m:t>
                                    </m:r>
                                  </m:e>
                                  <m:sub>
                                    <m:r>
                                      <a:rPr lang="en-US" altLang="zh-TW" sz="2000" b="0" i="1" smtClean="0">
                                        <a:latin typeface="Cambria Math" panose="02040503050406030204" pitchFamily="18" charset="0"/>
                                      </a:rPr>
                                      <m:t>3</m:t>
                                    </m:r>
                                  </m:sub>
                                </m:sSub>
                              </m:oMath>
                            </m:oMathPara>
                          </a14:m>
                          <a:endParaRPr lang="zh-TW" altLang="en-US" sz="2000" dirty="0"/>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2000" dirty="0"/>
                            <a:t>5</a:t>
                          </a:r>
                          <a:endParaRPr lang="zh-TW" altLang="en-US" sz="20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20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20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Sup>
                                  <m:sSubSupPr>
                                    <m:ctrlPr>
                                      <a:rPr lang="en-US" altLang="zh-TW" sz="2000" i="1" smtClean="0">
                                        <a:latin typeface="Cambria Math" panose="02040503050406030204" pitchFamily="18" charset="0"/>
                                      </a:rPr>
                                    </m:ctrlPr>
                                  </m:sSubSupPr>
                                  <m:e>
                                    <m:r>
                                      <a:rPr lang="en-US" altLang="zh-TW" sz="2000" b="0" i="1" smtClean="0">
                                        <a:latin typeface="Cambria Math" panose="02040503050406030204" pitchFamily="18" charset="0"/>
                                      </a:rPr>
                                      <m:t>𝑙</m:t>
                                    </m:r>
                                  </m:e>
                                  <m:sub>
                                    <m:r>
                                      <a:rPr lang="en-US" altLang="zh-TW" sz="2000" b="0" i="1" smtClean="0">
                                        <a:latin typeface="Cambria Math" panose="02040503050406030204" pitchFamily="18" charset="0"/>
                                      </a:rPr>
                                      <m:t>3</m:t>
                                    </m:r>
                                  </m:sub>
                                  <m:sup>
                                    <m:r>
                                      <a:rPr lang="en-US" altLang="zh-TW" sz="2000" b="0" i="1" smtClean="0">
                                        <a:latin typeface="Cambria Math" panose="02040503050406030204" pitchFamily="18" charset="0"/>
                                      </a:rPr>
                                      <m:t>1</m:t>
                                    </m:r>
                                  </m:sup>
                                </m:sSubSup>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20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20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20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20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20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20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39250096"/>
                      </a:ext>
                    </a:extLst>
                  </a:tr>
                  <a:tr h="360000">
                    <a:tc>
                      <a:txBody>
                        <a:bodyPr/>
                        <a:lstStyle/>
                        <a:p>
                          <a:pPr algn="ctr"/>
                          <a14:m>
                            <m:oMathPara xmlns:m="http://schemas.openxmlformats.org/officeDocument/2006/math">
                              <m:oMathParaPr>
                                <m:jc m:val="centerGroup"/>
                              </m:oMathParaPr>
                              <m:oMath xmlns:m="http://schemas.openxmlformats.org/officeDocument/2006/math">
                                <m:bar>
                                  <m:barPr>
                                    <m:pos m:val="top"/>
                                    <m:ctrlPr>
                                      <a:rPr lang="en-US" altLang="zh-TW" sz="2000" i="1" smtClean="0">
                                        <a:latin typeface="Cambria Math" panose="02040503050406030204" pitchFamily="18" charset="0"/>
                                      </a:rPr>
                                    </m:ctrlPr>
                                  </m:barPr>
                                  <m:e>
                                    <m:sSub>
                                      <m:sSubPr>
                                        <m:ctrlPr>
                                          <a:rPr lang="en-US" altLang="zh-TW" sz="2000" i="1" smtClean="0">
                                            <a:latin typeface="Cambria Math" panose="02040503050406030204" pitchFamily="18" charset="0"/>
                                          </a:rPr>
                                        </m:ctrlPr>
                                      </m:sSubPr>
                                      <m:e>
                                        <m:r>
                                          <a:rPr lang="en-US" altLang="zh-TW" sz="2000" b="0" i="1" smtClean="0">
                                            <a:latin typeface="Cambria Math" panose="02040503050406030204" pitchFamily="18" charset="0"/>
                                          </a:rPr>
                                          <m:t>𝑥</m:t>
                                        </m:r>
                                      </m:e>
                                      <m:sub>
                                        <m:r>
                                          <a:rPr lang="en-US" altLang="zh-TW" sz="2000" b="0" i="1" smtClean="0">
                                            <a:latin typeface="Cambria Math" panose="02040503050406030204" pitchFamily="18" charset="0"/>
                                          </a:rPr>
                                          <m:t>3</m:t>
                                        </m:r>
                                      </m:sub>
                                    </m:sSub>
                                  </m:e>
                                </m:bar>
                              </m:oMath>
                            </m:oMathPara>
                          </a14:m>
                          <a:endParaRPr lang="zh-TW" altLang="en-US" sz="2000" dirty="0"/>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2000" dirty="0"/>
                            <a:t>6</a:t>
                          </a:r>
                          <a:endParaRPr lang="zh-TW" altLang="en-US" sz="20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20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20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20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20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Sup>
                                  <m:sSubSupPr>
                                    <m:ctrlPr>
                                      <a:rPr lang="en-US" altLang="zh-TW" sz="2000" i="1" smtClean="0">
                                        <a:latin typeface="Cambria Math" panose="02040503050406030204" pitchFamily="18" charset="0"/>
                                      </a:rPr>
                                    </m:ctrlPr>
                                  </m:sSubSupPr>
                                  <m:e>
                                    <m:r>
                                      <a:rPr lang="en-US" altLang="zh-TW" sz="2000" b="0" i="1" smtClean="0">
                                        <a:latin typeface="Cambria Math" panose="02040503050406030204" pitchFamily="18" charset="0"/>
                                      </a:rPr>
                                      <m:t>𝑙</m:t>
                                    </m:r>
                                  </m:e>
                                  <m:sub>
                                    <m:r>
                                      <a:rPr lang="en-US" altLang="zh-TW" sz="2000" b="0" i="1" smtClean="0">
                                        <a:latin typeface="Cambria Math" panose="02040503050406030204" pitchFamily="18" charset="0"/>
                                      </a:rPr>
                                      <m:t>2</m:t>
                                    </m:r>
                                  </m:sub>
                                  <m:sup>
                                    <m:r>
                                      <a:rPr lang="en-US" altLang="zh-TW" sz="2000" b="0" i="1" smtClean="0">
                                        <a:latin typeface="Cambria Math" panose="02040503050406030204" pitchFamily="18" charset="0"/>
                                      </a:rPr>
                                      <m:t>2</m:t>
                                    </m:r>
                                  </m:sup>
                                </m:sSubSup>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20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20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20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20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72840707"/>
                      </a:ext>
                    </a:extLst>
                  </a:tr>
                  <a:tr h="360000">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000" i="1" smtClean="0">
                                        <a:latin typeface="Cambria Math" panose="02040503050406030204" pitchFamily="18" charset="0"/>
                                      </a:rPr>
                                    </m:ctrlPr>
                                  </m:sSubPr>
                                  <m:e>
                                    <m:r>
                                      <a:rPr lang="en-US" altLang="zh-TW" sz="2000" b="0" i="1" smtClean="0">
                                        <a:latin typeface="Cambria Math" panose="02040503050406030204" pitchFamily="18" charset="0"/>
                                      </a:rPr>
                                      <m:t>𝑥</m:t>
                                    </m:r>
                                  </m:e>
                                  <m:sub>
                                    <m:r>
                                      <a:rPr lang="en-US" altLang="zh-TW" sz="2000" b="0" i="1" smtClean="0">
                                        <a:latin typeface="Cambria Math" panose="02040503050406030204" pitchFamily="18" charset="0"/>
                                      </a:rPr>
                                      <m:t>4</m:t>
                                    </m:r>
                                  </m:sub>
                                </m:sSub>
                              </m:oMath>
                            </m:oMathPara>
                          </a14:m>
                          <a:endParaRPr lang="zh-TW" altLang="en-US" sz="2000" dirty="0"/>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2000" dirty="0"/>
                            <a:t>7</a:t>
                          </a:r>
                          <a:endParaRPr lang="zh-TW" altLang="en-US" sz="20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20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20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20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20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20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20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20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20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Sup>
                                  <m:sSubSupPr>
                                    <m:ctrlPr>
                                      <a:rPr lang="en-US" altLang="zh-TW" sz="2000" i="1" smtClean="0">
                                        <a:latin typeface="Cambria Math" panose="02040503050406030204" pitchFamily="18" charset="0"/>
                                      </a:rPr>
                                    </m:ctrlPr>
                                  </m:sSubSupPr>
                                  <m:e>
                                    <m:r>
                                      <a:rPr lang="en-US" altLang="zh-TW" sz="2000" b="0" i="1" smtClean="0">
                                        <a:latin typeface="Cambria Math" panose="02040503050406030204" pitchFamily="18" charset="0"/>
                                      </a:rPr>
                                      <m:t>𝑙</m:t>
                                    </m:r>
                                  </m:e>
                                  <m:sub>
                                    <m:r>
                                      <a:rPr lang="en-US" altLang="zh-TW" sz="2000" b="0" i="1" smtClean="0">
                                        <a:latin typeface="Cambria Math" panose="02040503050406030204" pitchFamily="18" charset="0"/>
                                      </a:rPr>
                                      <m:t>3</m:t>
                                    </m:r>
                                  </m:sub>
                                  <m:sup>
                                    <m:r>
                                      <a:rPr lang="en-US" altLang="zh-TW" sz="2000" b="0" i="1" smtClean="0">
                                        <a:latin typeface="Cambria Math" panose="02040503050406030204" pitchFamily="18" charset="0"/>
                                      </a:rPr>
                                      <m:t>3</m:t>
                                    </m:r>
                                  </m:sup>
                                </m:sSubSup>
                              </m:oMath>
                            </m:oMathPara>
                          </a14:m>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19523155"/>
                      </a:ext>
                    </a:extLst>
                  </a:tr>
                  <a:tr h="360000">
                    <a:tc>
                      <a:txBody>
                        <a:bodyPr/>
                        <a:lstStyle/>
                        <a:p>
                          <a:pPr algn="ctr"/>
                          <a14:m>
                            <m:oMathPara xmlns:m="http://schemas.openxmlformats.org/officeDocument/2006/math">
                              <m:oMathParaPr>
                                <m:jc m:val="centerGroup"/>
                              </m:oMathParaPr>
                              <m:oMath xmlns:m="http://schemas.openxmlformats.org/officeDocument/2006/math">
                                <m:bar>
                                  <m:barPr>
                                    <m:pos m:val="top"/>
                                    <m:ctrlPr>
                                      <a:rPr lang="en-US" altLang="zh-TW" sz="2000" i="1" smtClean="0">
                                        <a:latin typeface="Cambria Math" panose="02040503050406030204" pitchFamily="18" charset="0"/>
                                      </a:rPr>
                                    </m:ctrlPr>
                                  </m:barPr>
                                  <m:e>
                                    <m:sSub>
                                      <m:sSubPr>
                                        <m:ctrlPr>
                                          <a:rPr lang="en-US" altLang="zh-TW" sz="2000" i="1" smtClean="0">
                                            <a:latin typeface="Cambria Math" panose="02040503050406030204" pitchFamily="18" charset="0"/>
                                          </a:rPr>
                                        </m:ctrlPr>
                                      </m:sSubPr>
                                      <m:e>
                                        <m:r>
                                          <a:rPr lang="en-US" altLang="zh-TW" sz="2000" b="0" i="1" smtClean="0">
                                            <a:latin typeface="Cambria Math" panose="02040503050406030204" pitchFamily="18" charset="0"/>
                                          </a:rPr>
                                          <m:t>𝑥</m:t>
                                        </m:r>
                                      </m:e>
                                      <m:sub>
                                        <m:r>
                                          <a:rPr lang="en-US" altLang="zh-TW" sz="2000" b="0" i="1" smtClean="0">
                                            <a:latin typeface="Cambria Math" panose="02040503050406030204" pitchFamily="18" charset="0"/>
                                          </a:rPr>
                                          <m:t>4</m:t>
                                        </m:r>
                                      </m:sub>
                                    </m:sSub>
                                  </m:e>
                                </m:bar>
                              </m:oMath>
                            </m:oMathPara>
                          </a14:m>
                          <a:endParaRPr lang="zh-TW" altLang="en-US" sz="2000" dirty="0"/>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2000" dirty="0"/>
                            <a:t>8</a:t>
                          </a:r>
                          <a:endParaRPr lang="zh-TW" altLang="en-US" sz="20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20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20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20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20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20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20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20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20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767913"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20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20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01978662"/>
                      </a:ext>
                    </a:extLst>
                  </a:tr>
                </a:tbl>
              </a:graphicData>
            </a:graphic>
          </p:graphicFrame>
        </mc:Choice>
        <mc:Fallback xmlns="">
          <p:graphicFrame>
            <p:nvGraphicFramePr>
              <p:cNvPr id="26" name="表格 25"/>
              <p:cNvGraphicFramePr>
                <a:graphicFrameLocks noGrp="1"/>
              </p:cNvGraphicFramePr>
              <p:nvPr/>
            </p:nvGraphicFramePr>
            <p:xfrm>
              <a:off x="1932000" y="2724253"/>
              <a:ext cx="3960000" cy="3996374"/>
            </p:xfrm>
            <a:graphic>
              <a:graphicData uri="http://schemas.openxmlformats.org/drawingml/2006/table">
                <a:tbl>
                  <a:tblPr firstRow="1" bandRow="1">
                    <a:tableStyleId>{5940675A-B579-460E-94D1-54222C63F5DA}</a:tableStyleId>
                  </a:tblPr>
                  <a:tblGrid>
                    <a:gridCol w="360000">
                      <a:extLst>
                        <a:ext uri="{9D8B030D-6E8A-4147-A177-3AD203B41FA5}">
                          <a16:colId xmlns:a16="http://schemas.microsoft.com/office/drawing/2014/main" val="4073095714"/>
                        </a:ext>
                      </a:extLst>
                    </a:gridCol>
                    <a:gridCol w="360000">
                      <a:extLst>
                        <a:ext uri="{9D8B030D-6E8A-4147-A177-3AD203B41FA5}">
                          <a16:colId xmlns:a16="http://schemas.microsoft.com/office/drawing/2014/main" val="122811012"/>
                        </a:ext>
                      </a:extLst>
                    </a:gridCol>
                    <a:gridCol w="360000">
                      <a:extLst>
                        <a:ext uri="{9D8B030D-6E8A-4147-A177-3AD203B41FA5}">
                          <a16:colId xmlns:a16="http://schemas.microsoft.com/office/drawing/2014/main" val="835919203"/>
                        </a:ext>
                      </a:extLst>
                    </a:gridCol>
                    <a:gridCol w="360000">
                      <a:extLst>
                        <a:ext uri="{9D8B030D-6E8A-4147-A177-3AD203B41FA5}">
                          <a16:colId xmlns:a16="http://schemas.microsoft.com/office/drawing/2014/main" val="1619107429"/>
                        </a:ext>
                      </a:extLst>
                    </a:gridCol>
                    <a:gridCol w="360000">
                      <a:extLst>
                        <a:ext uri="{9D8B030D-6E8A-4147-A177-3AD203B41FA5}">
                          <a16:colId xmlns:a16="http://schemas.microsoft.com/office/drawing/2014/main" val="2000173800"/>
                        </a:ext>
                      </a:extLst>
                    </a:gridCol>
                    <a:gridCol w="360000">
                      <a:extLst>
                        <a:ext uri="{9D8B030D-6E8A-4147-A177-3AD203B41FA5}">
                          <a16:colId xmlns:a16="http://schemas.microsoft.com/office/drawing/2014/main" val="2936943231"/>
                        </a:ext>
                      </a:extLst>
                    </a:gridCol>
                    <a:gridCol w="360000">
                      <a:extLst>
                        <a:ext uri="{9D8B030D-6E8A-4147-A177-3AD203B41FA5}">
                          <a16:colId xmlns:a16="http://schemas.microsoft.com/office/drawing/2014/main" val="901059968"/>
                        </a:ext>
                      </a:extLst>
                    </a:gridCol>
                    <a:gridCol w="360000">
                      <a:extLst>
                        <a:ext uri="{9D8B030D-6E8A-4147-A177-3AD203B41FA5}">
                          <a16:colId xmlns:a16="http://schemas.microsoft.com/office/drawing/2014/main" val="3756777949"/>
                        </a:ext>
                      </a:extLst>
                    </a:gridCol>
                    <a:gridCol w="360000">
                      <a:extLst>
                        <a:ext uri="{9D8B030D-6E8A-4147-A177-3AD203B41FA5}">
                          <a16:colId xmlns:a16="http://schemas.microsoft.com/office/drawing/2014/main" val="2146270772"/>
                        </a:ext>
                      </a:extLst>
                    </a:gridCol>
                    <a:gridCol w="360000">
                      <a:extLst>
                        <a:ext uri="{9D8B030D-6E8A-4147-A177-3AD203B41FA5}">
                          <a16:colId xmlns:a16="http://schemas.microsoft.com/office/drawing/2014/main" val="4001691182"/>
                        </a:ext>
                      </a:extLst>
                    </a:gridCol>
                    <a:gridCol w="360000">
                      <a:extLst>
                        <a:ext uri="{9D8B030D-6E8A-4147-A177-3AD203B41FA5}">
                          <a16:colId xmlns:a16="http://schemas.microsoft.com/office/drawing/2014/main" val="1825885578"/>
                        </a:ext>
                      </a:extLst>
                    </a:gridCol>
                  </a:tblGrid>
                  <a:tr h="396240">
                    <a:tc>
                      <a:txBody>
                        <a:bodyPr/>
                        <a:lstStyle/>
                        <a:p>
                          <a:pPr algn="ctr"/>
                          <a:endParaRPr lang="zh-TW" altLang="en-US" sz="20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gridSpan="10">
                      <a:txBody>
                        <a:bodyPr/>
                        <a:lstStyle/>
                        <a:p>
                          <a:pPr algn="ctr"/>
                          <a:r>
                            <a:rPr lang="en-US" altLang="zh-TW" sz="2000" dirty="0"/>
                            <a:t>Matrix A</a:t>
                          </a:r>
                          <a:endParaRPr lang="zh-TW" altLang="en-US" sz="20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400" dirty="0"/>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8429601"/>
                      </a:ext>
                    </a:extLst>
                  </a:tr>
                  <a:tr h="396240">
                    <a:tc>
                      <a:txBody>
                        <a:bodyPr/>
                        <a:lstStyle/>
                        <a:p>
                          <a:pPr algn="ctr"/>
                          <a:endParaRPr lang="zh-TW" altLang="en-US" sz="20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zh-TW" altLang="en-US" sz="20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TW" sz="2000" dirty="0"/>
                            <a:t>1</a:t>
                          </a:r>
                          <a:endParaRPr lang="zh-TW" altLang="en-US" sz="20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t>2</a:t>
                          </a:r>
                          <a:endParaRPr lang="zh-TW" altLang="en-US" sz="20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t>3</a:t>
                          </a:r>
                          <a:endParaRPr lang="zh-TW" altLang="en-US" sz="20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t>4</a:t>
                          </a:r>
                          <a:endParaRPr lang="zh-TW" altLang="en-US" sz="20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t>5</a:t>
                          </a:r>
                          <a:endParaRPr lang="zh-TW" altLang="en-US" sz="20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t>6</a:t>
                          </a:r>
                          <a:endParaRPr lang="zh-TW" altLang="en-US" sz="20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t>7</a:t>
                          </a:r>
                          <a:endParaRPr lang="zh-TW" altLang="en-US" sz="20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t>8</a:t>
                          </a:r>
                          <a:endParaRPr lang="zh-TW" altLang="en-US" sz="20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t>9</a:t>
                          </a:r>
                          <a:endParaRPr lang="zh-TW" altLang="en-US" sz="2000" dirty="0"/>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98706228"/>
                      </a:ext>
                    </a:extLst>
                  </a:tr>
                  <a:tr h="399796">
                    <a:tc>
                      <a:txBody>
                        <a:bodyPr/>
                        <a:lstStyle/>
                        <a:p>
                          <a:endParaRPr lang="zh-TW"/>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blipFill>
                          <a:blip r:embed="rId4"/>
                          <a:stretch>
                            <a:fillRect t="-204545" r="-1010169" b="-724242"/>
                          </a:stretch>
                        </a:blipFill>
                      </a:tcPr>
                    </a:tc>
                    <a:tc>
                      <a:txBody>
                        <a:bodyPr/>
                        <a:lstStyle/>
                        <a:p>
                          <a:pPr algn="ctr"/>
                          <a:r>
                            <a:rPr lang="en-US" altLang="zh-TW" sz="2000" dirty="0"/>
                            <a:t>1</a:t>
                          </a:r>
                          <a:endParaRPr lang="zh-TW" altLang="en-US" sz="20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96667" t="-204545" r="-795000" b="-7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01695" t="-204545" r="-708475" b="-7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01695" t="-204545" r="-608475" b="-7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01695" t="-204545" r="-508475" b="-7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01695" t="-204545" r="-408475" b="-7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01695" t="-204545" r="-308475" b="-7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88333" t="-204545" r="-203333" b="-7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03390" t="-204545" r="-106780" b="-7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3390" t="-204545" r="-6780" b="-724242"/>
                          </a:stretch>
                        </a:blipFill>
                      </a:tcPr>
                    </a:tc>
                    <a:extLst>
                      <a:ext uri="{0D108BD9-81ED-4DB2-BD59-A6C34878D82A}">
                        <a16:rowId xmlns:a16="http://schemas.microsoft.com/office/drawing/2014/main" val="1642121216"/>
                      </a:ext>
                    </a:extLst>
                  </a:tr>
                  <a:tr h="401257">
                    <a:tc>
                      <a:txBody>
                        <a:bodyPr/>
                        <a:lstStyle/>
                        <a:p>
                          <a:endParaRPr lang="zh-TW"/>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blipFill>
                          <a:blip r:embed="rId4"/>
                          <a:stretch>
                            <a:fillRect t="-304545" r="-1010169" b="-624242"/>
                          </a:stretch>
                        </a:blipFill>
                      </a:tcPr>
                    </a:tc>
                    <a:tc>
                      <a:txBody>
                        <a:bodyPr/>
                        <a:lstStyle/>
                        <a:p>
                          <a:pPr algn="ctr"/>
                          <a:r>
                            <a:rPr lang="en-US" altLang="zh-TW" sz="2000" dirty="0"/>
                            <a:t>2</a:t>
                          </a:r>
                          <a:endParaRPr lang="zh-TW" altLang="en-US" sz="20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96667" t="-304545" r="-795000" b="-6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01695" t="-304545" r="-708475" b="-6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01695" t="-304545" r="-608475" b="-6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01695" t="-304545" r="-508475" b="-6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01695" t="-304545" r="-408475" b="-6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01695" t="-304545" r="-308475" b="-6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88333" t="-304545" r="-203333" b="-6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03390" t="-304545" r="-106780" b="-6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3390" t="-304545" r="-6780" b="-624242"/>
                          </a:stretch>
                        </a:blipFill>
                      </a:tcPr>
                    </a:tc>
                    <a:extLst>
                      <a:ext uri="{0D108BD9-81ED-4DB2-BD59-A6C34878D82A}">
                        <a16:rowId xmlns:a16="http://schemas.microsoft.com/office/drawing/2014/main" val="592435610"/>
                      </a:ext>
                    </a:extLst>
                  </a:tr>
                  <a:tr h="399669">
                    <a:tc>
                      <a:txBody>
                        <a:bodyPr/>
                        <a:lstStyle/>
                        <a:p>
                          <a:endParaRPr lang="zh-TW"/>
                        </a:p>
                      </a:txBody>
                      <a:tcPr anchor="ctr">
                        <a:lnL w="12700" cmpd="sng">
                          <a:noFill/>
                        </a:lnL>
                        <a:lnR w="12700" cap="flat" cmpd="sng" algn="ctr">
                          <a:noFill/>
                          <a:prstDash val="solid"/>
                          <a:round/>
                          <a:headEnd type="none" w="med" len="med"/>
                          <a:tailEnd type="none" w="med" len="med"/>
                        </a:lnR>
                        <a:lnT w="12700" cmpd="sng">
                          <a:noFill/>
                        </a:lnT>
                        <a:lnB w="381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blipFill>
                          <a:blip r:embed="rId4"/>
                          <a:stretch>
                            <a:fillRect t="-404545" r="-1010169" b="-524242"/>
                          </a:stretch>
                        </a:blipFill>
                      </a:tcPr>
                    </a:tc>
                    <a:tc>
                      <a:txBody>
                        <a:bodyPr/>
                        <a:lstStyle/>
                        <a:p>
                          <a:pPr algn="ctr"/>
                          <a:r>
                            <a:rPr lang="en-US" altLang="zh-TW" sz="2000" dirty="0"/>
                            <a:t>3</a:t>
                          </a:r>
                          <a:endParaRPr lang="zh-TW" altLang="en-US" sz="20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381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olid"/>
                          <a:round/>
                          <a:headEnd type="none" w="med" len="med"/>
                          <a:tailEnd type="none" w="med" len="med"/>
                        </a:lnB>
                        <a:blipFill>
                          <a:blip r:embed="rId4"/>
                          <a:stretch>
                            <a:fillRect l="-196667" t="-404545" r="-795000" b="-5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olid"/>
                          <a:round/>
                          <a:headEnd type="none" w="med" len="med"/>
                          <a:tailEnd type="none" w="med" len="med"/>
                        </a:lnB>
                        <a:blipFill>
                          <a:blip r:embed="rId4"/>
                          <a:stretch>
                            <a:fillRect l="-301695" t="-404545" r="-708475" b="-5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olid"/>
                          <a:round/>
                          <a:headEnd type="none" w="med" len="med"/>
                          <a:tailEnd type="none" w="med" len="med"/>
                        </a:lnB>
                        <a:blipFill>
                          <a:blip r:embed="rId4"/>
                          <a:stretch>
                            <a:fillRect l="-401695" t="-404545" r="-608475" b="-5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olid"/>
                          <a:round/>
                          <a:headEnd type="none" w="med" len="med"/>
                          <a:tailEnd type="none" w="med" len="med"/>
                        </a:lnB>
                        <a:blipFill>
                          <a:blip r:embed="rId4"/>
                          <a:stretch>
                            <a:fillRect l="-501695" t="-404545" r="-508475" b="-5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olid"/>
                          <a:round/>
                          <a:headEnd type="none" w="med" len="med"/>
                          <a:tailEnd type="none" w="med" len="med"/>
                        </a:lnB>
                        <a:blipFill>
                          <a:blip r:embed="rId4"/>
                          <a:stretch>
                            <a:fillRect l="-601695" t="-404545" r="-408475" b="-5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olid"/>
                          <a:round/>
                          <a:headEnd type="none" w="med" len="med"/>
                          <a:tailEnd type="none" w="med" len="med"/>
                        </a:lnB>
                        <a:blipFill>
                          <a:blip r:embed="rId4"/>
                          <a:stretch>
                            <a:fillRect l="-701695" t="-404545" r="-308475" b="-5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olid"/>
                          <a:round/>
                          <a:headEnd type="none" w="med" len="med"/>
                          <a:tailEnd type="none" w="med" len="med"/>
                        </a:lnB>
                        <a:blipFill>
                          <a:blip r:embed="rId4"/>
                          <a:stretch>
                            <a:fillRect l="-788333" t="-404545" r="-203333" b="-5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olid"/>
                          <a:round/>
                          <a:headEnd type="none" w="med" len="med"/>
                          <a:tailEnd type="none" w="med" len="med"/>
                        </a:lnB>
                        <a:blipFill>
                          <a:blip r:embed="rId4"/>
                          <a:stretch>
                            <a:fillRect l="-903390" t="-404545" r="-106780" b="-5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olid"/>
                          <a:round/>
                          <a:headEnd type="none" w="med" len="med"/>
                          <a:tailEnd type="none" w="med" len="med"/>
                        </a:lnB>
                        <a:blipFill>
                          <a:blip r:embed="rId4"/>
                          <a:stretch>
                            <a:fillRect l="-1003390" t="-404545" r="-6780" b="-524242"/>
                          </a:stretch>
                        </a:blipFill>
                      </a:tcPr>
                    </a:tc>
                    <a:extLst>
                      <a:ext uri="{0D108BD9-81ED-4DB2-BD59-A6C34878D82A}">
                        <a16:rowId xmlns:a16="http://schemas.microsoft.com/office/drawing/2014/main" val="1454765373"/>
                      </a:ext>
                    </a:extLst>
                  </a:tr>
                  <a:tr h="401892">
                    <a:tc>
                      <a:txBody>
                        <a:bodyPr/>
                        <a:lstStyle/>
                        <a:p>
                          <a:endParaRPr lang="zh-TW"/>
                        </a:p>
                      </a:txBody>
                      <a:tcPr anchor="ctr">
                        <a:lnL w="12700" cmpd="sng">
                          <a:noFill/>
                        </a:lnL>
                        <a:lnR w="12700" cap="flat" cmpd="sng" algn="ctr">
                          <a:noFill/>
                          <a:prstDash val="solid"/>
                          <a:round/>
                          <a:headEnd type="none" w="med" len="med"/>
                          <a:tailEnd type="none" w="med" len="med"/>
                        </a:lnR>
                        <a:lnT w="38100" cap="flat" cmpd="sng" algn="ctr">
                          <a:solidFill>
                            <a:srgbClr val="FF0000"/>
                          </a:solidFill>
                          <a:prstDash val="solid"/>
                          <a:round/>
                          <a:headEnd type="none" w="med" len="med"/>
                          <a:tailEnd type="none" w="med" len="med"/>
                        </a:lnT>
                        <a:lnB w="12700" cmpd="sng">
                          <a:noFill/>
                        </a:lnB>
                        <a:lnTlToBr w="12700" cmpd="sng">
                          <a:noFill/>
                          <a:prstDash val="solid"/>
                        </a:lnTlToBr>
                        <a:lnBlToTr w="12700" cmpd="sng">
                          <a:noFill/>
                          <a:prstDash val="solid"/>
                        </a:lnBlToTr>
                        <a:blipFill>
                          <a:blip r:embed="rId4"/>
                          <a:stretch>
                            <a:fillRect t="-504545" r="-1010169" b="-424242"/>
                          </a:stretch>
                        </a:blipFill>
                      </a:tcPr>
                    </a:tc>
                    <a:tc>
                      <a:txBody>
                        <a:bodyPr/>
                        <a:lstStyle/>
                        <a:p>
                          <a:pPr algn="ctr"/>
                          <a:r>
                            <a:rPr lang="en-US" altLang="zh-TW" sz="2000" dirty="0"/>
                            <a:t>4</a:t>
                          </a:r>
                          <a:endParaRPr lang="zh-TW" altLang="en-US" sz="20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96667" t="-504545" r="-795000" b="-4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01695" t="-504545" r="-708475" b="-4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01695" t="-504545" r="-608475" b="-4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01695" t="-504545" r="-508475" b="-4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01695" t="-504545" r="-408475" b="-4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01695" t="-504545" r="-308475" b="-4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88333" t="-504545" r="-203333" b="-4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03390" t="-504545" r="-106780" b="-4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3390" t="-504545" r="-6780" b="-424242"/>
                          </a:stretch>
                        </a:blipFill>
                      </a:tcPr>
                    </a:tc>
                    <a:extLst>
                      <a:ext uri="{0D108BD9-81ED-4DB2-BD59-A6C34878D82A}">
                        <a16:rowId xmlns:a16="http://schemas.microsoft.com/office/drawing/2014/main" val="1969180369"/>
                      </a:ext>
                    </a:extLst>
                  </a:tr>
                  <a:tr h="401257">
                    <a:tc>
                      <a:txBody>
                        <a:bodyPr/>
                        <a:lstStyle/>
                        <a:p>
                          <a:endParaRPr lang="zh-TW"/>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blipFill>
                          <a:blip r:embed="rId4"/>
                          <a:stretch>
                            <a:fillRect t="-604545" r="-1010169" b="-324242"/>
                          </a:stretch>
                        </a:blipFill>
                      </a:tcPr>
                    </a:tc>
                    <a:tc>
                      <a:txBody>
                        <a:bodyPr/>
                        <a:lstStyle/>
                        <a:p>
                          <a:pPr algn="ctr"/>
                          <a:r>
                            <a:rPr lang="en-US" altLang="zh-TW" sz="2000" dirty="0"/>
                            <a:t>5</a:t>
                          </a:r>
                          <a:endParaRPr lang="zh-TW" altLang="en-US" sz="20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96667" t="-604545" r="-795000" b="-3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01695" t="-604545" r="-708475" b="-3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01695" t="-604545" r="-608475" b="-3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01695" t="-604545" r="-508475" b="-3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01695" t="-604545" r="-408475" b="-3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01695" t="-604545" r="-308475" b="-3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88333" t="-604545" r="-203333" b="-3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03390" t="-604545" r="-106780" b="-3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3390" t="-604545" r="-6780" b="-324242"/>
                          </a:stretch>
                        </a:blipFill>
                      </a:tcPr>
                    </a:tc>
                    <a:extLst>
                      <a:ext uri="{0D108BD9-81ED-4DB2-BD59-A6C34878D82A}">
                        <a16:rowId xmlns:a16="http://schemas.microsoft.com/office/drawing/2014/main" val="539250096"/>
                      </a:ext>
                    </a:extLst>
                  </a:tr>
                  <a:tr h="400304">
                    <a:tc>
                      <a:txBody>
                        <a:bodyPr/>
                        <a:lstStyle/>
                        <a:p>
                          <a:endParaRPr lang="zh-TW"/>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blipFill>
                          <a:blip r:embed="rId4"/>
                          <a:stretch>
                            <a:fillRect t="-704545" r="-1010169" b="-224242"/>
                          </a:stretch>
                        </a:blipFill>
                      </a:tcPr>
                    </a:tc>
                    <a:tc>
                      <a:txBody>
                        <a:bodyPr/>
                        <a:lstStyle/>
                        <a:p>
                          <a:pPr algn="ctr"/>
                          <a:r>
                            <a:rPr lang="en-US" altLang="zh-TW" sz="2000" dirty="0"/>
                            <a:t>6</a:t>
                          </a:r>
                          <a:endParaRPr lang="zh-TW" altLang="en-US" sz="20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96667" t="-704545" r="-795000" b="-2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01695" t="-704545" r="-708475" b="-2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01695" t="-704545" r="-608475" b="-2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01695" t="-704545" r="-508475" b="-2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01695" t="-704545" r="-408475" b="-2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01695" t="-704545" r="-308475" b="-2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88333" t="-704545" r="-203333" b="-2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03390" t="-704545" r="-106780" b="-2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3390" t="-704545" r="-6780" b="-224242"/>
                          </a:stretch>
                        </a:blipFill>
                      </a:tcPr>
                    </a:tc>
                    <a:extLst>
                      <a:ext uri="{0D108BD9-81ED-4DB2-BD59-A6C34878D82A}">
                        <a16:rowId xmlns:a16="http://schemas.microsoft.com/office/drawing/2014/main" val="872840707"/>
                      </a:ext>
                    </a:extLst>
                  </a:tr>
                  <a:tr h="403479">
                    <a:tc>
                      <a:txBody>
                        <a:bodyPr/>
                        <a:lstStyle/>
                        <a:p>
                          <a:endParaRPr lang="zh-TW"/>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blipFill>
                          <a:blip r:embed="rId4"/>
                          <a:stretch>
                            <a:fillRect t="-804545" r="-1010169" b="-124242"/>
                          </a:stretch>
                        </a:blipFill>
                      </a:tcPr>
                    </a:tc>
                    <a:tc>
                      <a:txBody>
                        <a:bodyPr/>
                        <a:lstStyle/>
                        <a:p>
                          <a:pPr algn="ctr"/>
                          <a:r>
                            <a:rPr lang="en-US" altLang="zh-TW" sz="2000" dirty="0"/>
                            <a:t>7</a:t>
                          </a:r>
                          <a:endParaRPr lang="zh-TW" altLang="en-US" sz="20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96667" t="-804545" r="-795000" b="-1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01695" t="-804545" r="-708475" b="-1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01695" t="-804545" r="-608475" b="-1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01695" t="-804545" r="-508475" b="-1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01695" t="-804545" r="-408475" b="-1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01695" t="-804545" r="-308475" b="-1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88333" t="-804545" r="-203333" b="-1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03390" t="-804545" r="-106780" b="-124242"/>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3390" t="-804545" r="-6780" b="-124242"/>
                          </a:stretch>
                        </a:blipFill>
                      </a:tcPr>
                    </a:tc>
                    <a:extLst>
                      <a:ext uri="{0D108BD9-81ED-4DB2-BD59-A6C34878D82A}">
                        <a16:rowId xmlns:a16="http://schemas.microsoft.com/office/drawing/2014/main" val="3919523155"/>
                      </a:ext>
                    </a:extLst>
                  </a:tr>
                  <a:tr h="396240">
                    <a:tc>
                      <a:txBody>
                        <a:bodyPr/>
                        <a:lstStyle/>
                        <a:p>
                          <a:endParaRPr lang="zh-TW"/>
                        </a:p>
                      </a:txBody>
                      <a:tcPr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blipFill>
                          <a:blip r:embed="rId4"/>
                          <a:stretch>
                            <a:fillRect t="-918462" r="-1010169" b="-26154"/>
                          </a:stretch>
                        </a:blipFill>
                      </a:tcPr>
                    </a:tc>
                    <a:tc>
                      <a:txBody>
                        <a:bodyPr/>
                        <a:lstStyle/>
                        <a:p>
                          <a:pPr algn="ctr"/>
                          <a:r>
                            <a:rPr lang="en-US" altLang="zh-TW" sz="2000" dirty="0"/>
                            <a:t>8</a:t>
                          </a:r>
                          <a:endParaRPr lang="zh-TW" altLang="en-US" sz="20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96667" t="-918462" r="-795000" b="-26154"/>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01695" t="-918462" r="-708475" b="-26154"/>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01695" t="-918462" r="-608475" b="-26154"/>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01695" t="-918462" r="-508475" b="-26154"/>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01695" t="-918462" r="-408475" b="-26154"/>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01695" t="-918462" r="-308475" b="-26154"/>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88333" t="-918462" r="-203333" b="-26154"/>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03390" t="-918462" r="-106780" b="-26154"/>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3390" t="-918462" r="-6780" b="-26154"/>
                          </a:stretch>
                        </a:blipFill>
                      </a:tcPr>
                    </a:tc>
                    <a:extLst>
                      <a:ext uri="{0D108BD9-81ED-4DB2-BD59-A6C34878D82A}">
                        <a16:rowId xmlns:a16="http://schemas.microsoft.com/office/drawing/2014/main" val="1201978662"/>
                      </a:ext>
                    </a:extLst>
                  </a:tr>
                </a:tbl>
              </a:graphicData>
            </a:graphic>
          </p:graphicFrame>
        </mc:Fallback>
      </mc:AlternateContent>
      <p:sp>
        <p:nvSpPr>
          <p:cNvPr id="27" name="矩形 26"/>
          <p:cNvSpPr/>
          <p:nvPr/>
        </p:nvSpPr>
        <p:spPr>
          <a:xfrm>
            <a:off x="3021625" y="4309615"/>
            <a:ext cx="360000" cy="403200"/>
          </a:xfrm>
          <a:prstGeom prst="rect">
            <a:avLst/>
          </a:prstGeom>
          <a:solidFill>
            <a:srgbClr val="ED7D31">
              <a:alpha val="40000"/>
            </a:srgbClr>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矩形 27"/>
          <p:cNvSpPr/>
          <p:nvPr/>
        </p:nvSpPr>
        <p:spPr>
          <a:xfrm>
            <a:off x="5172000" y="4712815"/>
            <a:ext cx="360000" cy="403200"/>
          </a:xfrm>
          <a:prstGeom prst="rect">
            <a:avLst/>
          </a:prstGeom>
          <a:solidFill>
            <a:schemeClr val="accent1">
              <a:alpha val="40000"/>
            </a:schemeClr>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矩形 28"/>
          <p:cNvSpPr/>
          <p:nvPr/>
        </p:nvSpPr>
        <p:spPr>
          <a:xfrm>
            <a:off x="4452000" y="4713951"/>
            <a:ext cx="360000" cy="403200"/>
          </a:xfrm>
          <a:prstGeom prst="rect">
            <a:avLst/>
          </a:prstGeom>
          <a:solidFill>
            <a:schemeClr val="accent6">
              <a:alpha val="40000"/>
            </a:schemeClr>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矩形 29"/>
          <p:cNvSpPr/>
          <p:nvPr/>
        </p:nvSpPr>
        <p:spPr>
          <a:xfrm>
            <a:off x="7387959" y="4722440"/>
            <a:ext cx="360000" cy="403200"/>
          </a:xfrm>
          <a:prstGeom prst="rect">
            <a:avLst/>
          </a:prstGeom>
          <a:solidFill>
            <a:srgbClr val="ED7D31">
              <a:alpha val="40000"/>
            </a:srgbClr>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矩形 32"/>
          <p:cNvSpPr/>
          <p:nvPr/>
        </p:nvSpPr>
        <p:spPr>
          <a:xfrm>
            <a:off x="9547958" y="4309615"/>
            <a:ext cx="360000" cy="403200"/>
          </a:xfrm>
          <a:prstGeom prst="rect">
            <a:avLst/>
          </a:prstGeom>
          <a:solidFill>
            <a:schemeClr val="accent1">
              <a:alpha val="40000"/>
            </a:schemeClr>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矩形 33"/>
          <p:cNvSpPr/>
          <p:nvPr/>
        </p:nvSpPr>
        <p:spPr>
          <a:xfrm>
            <a:off x="8106061" y="4310751"/>
            <a:ext cx="360000" cy="403200"/>
          </a:xfrm>
          <a:prstGeom prst="rect">
            <a:avLst/>
          </a:prstGeom>
          <a:solidFill>
            <a:schemeClr val="accent6">
              <a:alpha val="40000"/>
            </a:schemeClr>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矩形 34"/>
          <p:cNvSpPr/>
          <p:nvPr/>
        </p:nvSpPr>
        <p:spPr>
          <a:xfrm>
            <a:off x="3441521" y="1546325"/>
            <a:ext cx="360000" cy="403200"/>
          </a:xfrm>
          <a:prstGeom prst="rect">
            <a:avLst/>
          </a:prstGeom>
          <a:solidFill>
            <a:srgbClr val="ED7D31">
              <a:alpha val="40000"/>
            </a:srgbClr>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矩形 35"/>
          <p:cNvSpPr/>
          <p:nvPr/>
        </p:nvSpPr>
        <p:spPr>
          <a:xfrm>
            <a:off x="3451146" y="2319007"/>
            <a:ext cx="360000" cy="403200"/>
          </a:xfrm>
          <a:prstGeom prst="rect">
            <a:avLst/>
          </a:prstGeom>
          <a:solidFill>
            <a:schemeClr val="accent1">
              <a:alpha val="40000"/>
            </a:schemeClr>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矩形 36"/>
          <p:cNvSpPr/>
          <p:nvPr/>
        </p:nvSpPr>
        <p:spPr>
          <a:xfrm>
            <a:off x="4060429" y="1930275"/>
            <a:ext cx="360000" cy="403200"/>
          </a:xfrm>
          <a:prstGeom prst="rect">
            <a:avLst/>
          </a:prstGeom>
          <a:solidFill>
            <a:schemeClr val="accent6">
              <a:alpha val="40000"/>
            </a:schemeClr>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 name="文字方塊 37"/>
          <p:cNvSpPr txBox="1"/>
          <p:nvPr/>
        </p:nvSpPr>
        <p:spPr>
          <a:xfrm>
            <a:off x="8438554" y="249790"/>
            <a:ext cx="930031" cy="400110"/>
          </a:xfrm>
          <a:prstGeom prst="rect">
            <a:avLst/>
          </a:prstGeom>
          <a:noFill/>
        </p:spPr>
        <p:txBody>
          <a:bodyPr wrap="square" rtlCol="0">
            <a:spAutoFit/>
          </a:bodyPr>
          <a:lstStyle/>
          <a:p>
            <a:r>
              <a:rPr lang="en-US" altLang="zh-TW" sz="2000" dirty="0">
                <a:latin typeface="Times New Roman" panose="02020603050405020304" pitchFamily="18" charset="0"/>
                <a:cs typeface="Times New Roman" panose="02020603050405020304" pitchFamily="18" charset="0"/>
                <a:sym typeface="Symbol"/>
              </a:rPr>
              <a:t>P(ENL)</a:t>
            </a:r>
            <a:endParaRPr lang="zh-TW" altLang="en-US" sz="2000" dirty="0"/>
          </a:p>
        </p:txBody>
      </p:sp>
      <mc:AlternateContent xmlns:mc="http://schemas.openxmlformats.org/markup-compatibility/2006" xmlns:a14="http://schemas.microsoft.com/office/drawing/2010/main">
        <mc:Choice Requires="a14">
          <p:graphicFrame>
            <p:nvGraphicFramePr>
              <p:cNvPr id="40" name="表格 39"/>
              <p:cNvGraphicFramePr>
                <a:graphicFrameLocks noGrp="1"/>
              </p:cNvGraphicFramePr>
              <p:nvPr/>
            </p:nvGraphicFramePr>
            <p:xfrm>
              <a:off x="7319569" y="573700"/>
              <a:ext cx="3168000" cy="1872000"/>
            </p:xfrm>
            <a:graphic>
              <a:graphicData uri="http://schemas.openxmlformats.org/drawingml/2006/table">
                <a:tbl>
                  <a:tblPr firstRow="1" bandRow="1">
                    <a:tableStyleId>{5940675A-B579-460E-94D1-54222C63F5DA}</a:tableStyleId>
                  </a:tblPr>
                  <a:tblGrid>
                    <a:gridCol w="468000">
                      <a:extLst>
                        <a:ext uri="{9D8B030D-6E8A-4147-A177-3AD203B41FA5}">
                          <a16:colId xmlns:a16="http://schemas.microsoft.com/office/drawing/2014/main" val="1281707070"/>
                        </a:ext>
                      </a:extLst>
                    </a:gridCol>
                    <a:gridCol w="468000">
                      <a:extLst>
                        <a:ext uri="{9D8B030D-6E8A-4147-A177-3AD203B41FA5}">
                          <a16:colId xmlns:a16="http://schemas.microsoft.com/office/drawing/2014/main" val="3514700436"/>
                        </a:ext>
                      </a:extLst>
                    </a:gridCol>
                    <a:gridCol w="468000">
                      <a:extLst>
                        <a:ext uri="{9D8B030D-6E8A-4147-A177-3AD203B41FA5}">
                          <a16:colId xmlns:a16="http://schemas.microsoft.com/office/drawing/2014/main" val="1860103807"/>
                        </a:ext>
                      </a:extLst>
                    </a:gridCol>
                    <a:gridCol w="360000">
                      <a:extLst>
                        <a:ext uri="{9D8B030D-6E8A-4147-A177-3AD203B41FA5}">
                          <a16:colId xmlns:a16="http://schemas.microsoft.com/office/drawing/2014/main" val="2390354494"/>
                        </a:ext>
                      </a:extLst>
                    </a:gridCol>
                    <a:gridCol w="468000">
                      <a:extLst>
                        <a:ext uri="{9D8B030D-6E8A-4147-A177-3AD203B41FA5}">
                          <a16:colId xmlns:a16="http://schemas.microsoft.com/office/drawing/2014/main" val="682611296"/>
                        </a:ext>
                      </a:extLst>
                    </a:gridCol>
                    <a:gridCol w="468000">
                      <a:extLst>
                        <a:ext uri="{9D8B030D-6E8A-4147-A177-3AD203B41FA5}">
                          <a16:colId xmlns:a16="http://schemas.microsoft.com/office/drawing/2014/main" val="2960854431"/>
                        </a:ext>
                      </a:extLst>
                    </a:gridCol>
                    <a:gridCol w="468000">
                      <a:extLst>
                        <a:ext uri="{9D8B030D-6E8A-4147-A177-3AD203B41FA5}">
                          <a16:colId xmlns:a16="http://schemas.microsoft.com/office/drawing/2014/main" val="1775137844"/>
                        </a:ext>
                      </a:extLst>
                    </a:gridCol>
                  </a:tblGrid>
                  <a:tr h="468000">
                    <a:tc gridSpan="3">
                      <a:txBody>
                        <a:bodyPr/>
                        <a:lstStyle/>
                        <a:p>
                          <a:pPr algn="ctr"/>
                          <a:r>
                            <a:rPr lang="en-US" altLang="zh-TW" sz="2400" dirty="0">
                              <a:latin typeface="Times New Roman" panose="02020603050405020304" pitchFamily="18" charset="0"/>
                              <a:cs typeface="Times New Roman" panose="02020603050405020304" pitchFamily="18" charset="0"/>
                            </a:rPr>
                            <a:t>Matrix </a:t>
                          </a:r>
                          <a14:m>
                            <m:oMath xmlns:m="http://schemas.openxmlformats.org/officeDocument/2006/math">
                              <m:r>
                                <a:rPr lang="en-US" altLang="zh-TW" sz="2400" i="1" dirty="0" smtClean="0">
                                  <a:latin typeface="Cambria Math" panose="02040503050406030204" pitchFamily="18" charset="0"/>
                                </a:rPr>
                                <m:t>𝐴</m:t>
                              </m:r>
                            </m:oMath>
                          </a14:m>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zh-TW" altLang="en-US" dirty="0"/>
                        </a:p>
                      </a:txBody>
                      <a:tcPr/>
                    </a:tc>
                    <a:tc hMerge="1">
                      <a:txBody>
                        <a:bodyPr/>
                        <a:lstStyle/>
                        <a:p>
                          <a:endParaRPr lang="zh-TW" altLang="en-US" dirty="0"/>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3">
                      <a:txBody>
                        <a:bodyPr/>
                        <a:lstStyle/>
                        <a:p>
                          <a:pPr algn="ctr"/>
                          <a:r>
                            <a:rPr lang="en-US" altLang="zh-TW" sz="2400" dirty="0">
                              <a:latin typeface="Times New Roman" panose="02020603050405020304" pitchFamily="18" charset="0"/>
                              <a:cs typeface="Times New Roman" panose="02020603050405020304" pitchFamily="18" charset="0"/>
                            </a:rPr>
                            <a:t>Matrix </a:t>
                          </a:r>
                          <a14:m>
                            <m:oMath xmlns:m="http://schemas.openxmlformats.org/officeDocument/2006/math">
                              <m:r>
                                <a:rPr lang="en-US" altLang="zh-TW" sz="2400" i="1" dirty="0" smtClean="0">
                                  <a:latin typeface="Cambria Math" panose="02040503050406030204" pitchFamily="18" charset="0"/>
                                </a:rPr>
                                <m:t>𝐵</m:t>
                              </m:r>
                            </m:oMath>
                          </a14:m>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zh-TW" altLang="en-US" dirty="0"/>
                        </a:p>
                      </a:txBody>
                      <a:tcPr/>
                    </a:tc>
                    <a:tc hMerge="1">
                      <a:txBody>
                        <a:bodyPr/>
                        <a:lstStyle/>
                        <a:p>
                          <a:endParaRPr lang="zh-TW" altLang="en-US" dirty="0"/>
                        </a:p>
                      </a:txBody>
                      <a:tcPr/>
                    </a:tc>
                    <a:extLst>
                      <a:ext uri="{0D108BD9-81ED-4DB2-BD59-A6C34878D82A}">
                        <a16:rowId xmlns:a16="http://schemas.microsoft.com/office/drawing/2014/main" val="2109248052"/>
                      </a:ext>
                    </a:extLst>
                  </a:tr>
                  <a:tr h="468000">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b="1" dirty="0">
                            <a:solidFill>
                              <a:schemeClr val="accent2"/>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161773"/>
                      </a:ext>
                    </a:extLst>
                  </a:tr>
                  <a:tr h="468000">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zh-TW" altLang="en-US" sz="2400" b="1" i="1" smtClean="0">
                                    <a:solidFill>
                                      <a:schemeClr val="accent2"/>
                                    </a:solidFill>
                                    <a:latin typeface="Cambria Math" panose="02040503050406030204" pitchFamily="18" charset="0"/>
                                    <a:cs typeface="Times New Roman" panose="02020603050405020304" pitchFamily="18" charset="0"/>
                                  </a:rPr>
                                  <m:t>𝜶</m:t>
                                </m:r>
                              </m:oMath>
                            </m:oMathPara>
                          </a14:m>
                          <a:endParaRPr lang="zh-TW" altLang="en-US" sz="2400" b="1" dirty="0">
                            <a:solidFill>
                              <a:schemeClr val="accent2"/>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b="1" dirty="0">
                            <a:solidFill>
                              <a:schemeClr val="accent2"/>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zh-TW" altLang="en-US" sz="2400" b="1" i="1" smtClean="0">
                                    <a:solidFill>
                                      <a:schemeClr val="accent2"/>
                                    </a:solidFill>
                                    <a:latin typeface="Cambria Math" panose="02040503050406030204" pitchFamily="18" charset="0"/>
                                    <a:cs typeface="Times New Roman" panose="02020603050405020304" pitchFamily="18" charset="0"/>
                                  </a:rPr>
                                  <m:t>𝜶</m:t>
                                </m:r>
                              </m:oMath>
                            </m:oMathPara>
                          </a14:m>
                          <a:endParaRPr lang="zh-TW" altLang="en-US" sz="2400" b="1" dirty="0">
                            <a:solidFill>
                              <a:schemeClr val="accent2"/>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690569120"/>
                      </a:ext>
                    </a:extLst>
                  </a:tr>
                  <a:tr h="468000">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zh-TW" altLang="en-US" sz="2400" b="1" i="1" smtClean="0">
                                    <a:solidFill>
                                      <a:schemeClr val="accent1"/>
                                    </a:solidFill>
                                    <a:latin typeface="Cambria Math" panose="02040503050406030204" pitchFamily="18" charset="0"/>
                                    <a:cs typeface="Times New Roman" panose="02020603050405020304" pitchFamily="18" charset="0"/>
                                  </a:rPr>
                                  <m:t>𝜷</m:t>
                                </m:r>
                              </m:oMath>
                            </m:oMathPara>
                          </a14:m>
                          <a:endParaRPr lang="zh-TW" altLang="en-US" sz="2400" b="1" dirty="0">
                            <a:solidFill>
                              <a:schemeClr val="accent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2179576002"/>
                      </a:ext>
                    </a:extLst>
                  </a:tr>
                </a:tbl>
              </a:graphicData>
            </a:graphic>
          </p:graphicFrame>
        </mc:Choice>
        <mc:Fallback xmlns="">
          <p:graphicFrame>
            <p:nvGraphicFramePr>
              <p:cNvPr id="40" name="表格 39"/>
              <p:cNvGraphicFramePr>
                <a:graphicFrameLocks noGrp="1"/>
              </p:cNvGraphicFramePr>
              <p:nvPr/>
            </p:nvGraphicFramePr>
            <p:xfrm>
              <a:off x="7319569" y="573700"/>
              <a:ext cx="3168000" cy="1872000"/>
            </p:xfrm>
            <a:graphic>
              <a:graphicData uri="http://schemas.openxmlformats.org/drawingml/2006/table">
                <a:tbl>
                  <a:tblPr firstRow="1" bandRow="1">
                    <a:tableStyleId>{5940675A-B579-460E-94D1-54222C63F5DA}</a:tableStyleId>
                  </a:tblPr>
                  <a:tblGrid>
                    <a:gridCol w="468000">
                      <a:extLst>
                        <a:ext uri="{9D8B030D-6E8A-4147-A177-3AD203B41FA5}">
                          <a16:colId xmlns:a16="http://schemas.microsoft.com/office/drawing/2014/main" val="1281707070"/>
                        </a:ext>
                      </a:extLst>
                    </a:gridCol>
                    <a:gridCol w="468000">
                      <a:extLst>
                        <a:ext uri="{9D8B030D-6E8A-4147-A177-3AD203B41FA5}">
                          <a16:colId xmlns:a16="http://schemas.microsoft.com/office/drawing/2014/main" val="3514700436"/>
                        </a:ext>
                      </a:extLst>
                    </a:gridCol>
                    <a:gridCol w="468000">
                      <a:extLst>
                        <a:ext uri="{9D8B030D-6E8A-4147-A177-3AD203B41FA5}">
                          <a16:colId xmlns:a16="http://schemas.microsoft.com/office/drawing/2014/main" val="1860103807"/>
                        </a:ext>
                      </a:extLst>
                    </a:gridCol>
                    <a:gridCol w="360000">
                      <a:extLst>
                        <a:ext uri="{9D8B030D-6E8A-4147-A177-3AD203B41FA5}">
                          <a16:colId xmlns:a16="http://schemas.microsoft.com/office/drawing/2014/main" val="2390354494"/>
                        </a:ext>
                      </a:extLst>
                    </a:gridCol>
                    <a:gridCol w="468000">
                      <a:extLst>
                        <a:ext uri="{9D8B030D-6E8A-4147-A177-3AD203B41FA5}">
                          <a16:colId xmlns:a16="http://schemas.microsoft.com/office/drawing/2014/main" val="682611296"/>
                        </a:ext>
                      </a:extLst>
                    </a:gridCol>
                    <a:gridCol w="468000">
                      <a:extLst>
                        <a:ext uri="{9D8B030D-6E8A-4147-A177-3AD203B41FA5}">
                          <a16:colId xmlns:a16="http://schemas.microsoft.com/office/drawing/2014/main" val="2960854431"/>
                        </a:ext>
                      </a:extLst>
                    </a:gridCol>
                    <a:gridCol w="468000">
                      <a:extLst>
                        <a:ext uri="{9D8B030D-6E8A-4147-A177-3AD203B41FA5}">
                          <a16:colId xmlns:a16="http://schemas.microsoft.com/office/drawing/2014/main" val="1775137844"/>
                        </a:ext>
                      </a:extLst>
                    </a:gridCol>
                  </a:tblGrid>
                  <a:tr h="468000">
                    <a:tc gridSpan="3">
                      <a:txBody>
                        <a:bodyPr/>
                        <a:lstStyle/>
                        <a:p>
                          <a:endParaRPr lang="zh-TW"/>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433" t="-9091" r="-126407" b="-316883"/>
                          </a:stretch>
                        </a:blipFill>
                      </a:tcPr>
                    </a:tc>
                    <a:tc hMerge="1">
                      <a:txBody>
                        <a:bodyPr/>
                        <a:lstStyle/>
                        <a:p>
                          <a:endParaRPr lang="zh-TW" altLang="en-US" dirty="0"/>
                        </a:p>
                      </a:txBody>
                      <a:tcPr/>
                    </a:tc>
                    <a:tc hMerge="1">
                      <a:txBody>
                        <a:bodyPr/>
                        <a:lstStyle/>
                        <a:p>
                          <a:endParaRPr lang="zh-TW" altLang="en-US" dirty="0"/>
                        </a:p>
                      </a:txBody>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3">
                      <a:txBody>
                        <a:bodyPr/>
                        <a:lstStyle/>
                        <a:p>
                          <a:endParaRPr lang="zh-TW"/>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25974" t="-9091" r="-866" b="-316883"/>
                          </a:stretch>
                        </a:blipFill>
                      </a:tcPr>
                    </a:tc>
                    <a:tc hMerge="1">
                      <a:txBody>
                        <a:bodyPr/>
                        <a:lstStyle/>
                        <a:p>
                          <a:endParaRPr lang="zh-TW" altLang="en-US" dirty="0"/>
                        </a:p>
                      </a:txBody>
                      <a:tcPr/>
                    </a:tc>
                    <a:tc hMerge="1">
                      <a:txBody>
                        <a:bodyPr/>
                        <a:lstStyle/>
                        <a:p>
                          <a:endParaRPr lang="zh-TW" altLang="en-US" dirty="0"/>
                        </a:p>
                      </a:txBody>
                      <a:tcPr/>
                    </a:tc>
                    <a:extLst>
                      <a:ext uri="{0D108BD9-81ED-4DB2-BD59-A6C34878D82A}">
                        <a16:rowId xmlns:a16="http://schemas.microsoft.com/office/drawing/2014/main" val="2109248052"/>
                      </a:ext>
                    </a:extLst>
                  </a:tr>
                  <a:tr h="468000">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b="1" dirty="0">
                            <a:solidFill>
                              <a:schemeClr val="accent2"/>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161773"/>
                      </a:ext>
                    </a:extLst>
                  </a:tr>
                  <a:tr h="468000">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1299" t="-209091" r="-479221" b="-116883"/>
                          </a:stretch>
                        </a:blipFill>
                      </a:tcPr>
                    </a:tc>
                    <a:tc>
                      <a:txBody>
                        <a:bodyPr/>
                        <a:lstStyle/>
                        <a:p>
                          <a:pPr algn="ctr"/>
                          <a:endParaRPr lang="zh-TW" altLang="en-US" sz="2400" b="1"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b="1" dirty="0">
                            <a:solidFill>
                              <a:schemeClr val="accent2"/>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77922" t="-209091" r="-102597" b="-116883"/>
                          </a:stretch>
                        </a:blip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690569120"/>
                      </a:ext>
                    </a:extLst>
                  </a:tr>
                  <a:tr h="468000">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1299" t="-309091" r="-379221" b="-16883"/>
                          </a:stretch>
                        </a:blip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2179576002"/>
                      </a:ext>
                    </a:extLst>
                  </a:tr>
                </a:tbl>
              </a:graphicData>
            </a:graphic>
          </p:graphicFrame>
        </mc:Fallback>
      </mc:AlternateContent>
    </p:spTree>
    <p:extLst>
      <p:ext uri="{BB962C8B-B14F-4D97-AF65-F5344CB8AC3E}">
        <p14:creationId xmlns:p14="http://schemas.microsoft.com/office/powerpoint/2010/main" val="20003060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fld id="{74CF69EF-CDCC-4AA0-879A-908A954ADF7C}" type="slidenum">
              <a:rPr lang="zh-TW" altLang="en-US" smtClean="0"/>
              <a:t>16</a:t>
            </a:fld>
            <a:endParaRPr lang="zh-TW" altLang="en-US"/>
          </a:p>
        </p:txBody>
      </p:sp>
      <mc:AlternateContent xmlns:mc="http://schemas.openxmlformats.org/markup-compatibility/2006" xmlns:a14="http://schemas.microsoft.com/office/drawing/2010/main">
        <mc:Choice Requires="a14">
          <p:sp>
            <p:nvSpPr>
              <p:cNvPr id="5" name="文字方塊 4"/>
              <p:cNvSpPr txBox="1"/>
              <p:nvPr/>
            </p:nvSpPr>
            <p:spPr>
              <a:xfrm>
                <a:off x="1884000" y="90001"/>
                <a:ext cx="5185394" cy="769441"/>
              </a:xfrm>
              <a:prstGeom prst="rect">
                <a:avLst/>
              </a:prstGeom>
              <a:noFill/>
            </p:spPr>
            <p:txBody>
              <a:bodyPr wrap="none" rtlCol="0">
                <a:spAutoFit/>
              </a:bodyPr>
              <a:lstStyle/>
              <a:p>
                <a:r>
                  <a:rPr lang="en-US" altLang="zh-TW" sz="4400" dirty="0">
                    <a:solidFill>
                      <a:srgbClr val="0000FF"/>
                    </a:solidFill>
                    <a:latin typeface="Times New Roman" panose="02020603050405020304" pitchFamily="18" charset="0"/>
                    <a:cs typeface="Times New Roman" panose="02020603050405020304" pitchFamily="18" charset="0"/>
                  </a:rPr>
                  <a:t>P(ENL)</a:t>
                </a:r>
                <a:r>
                  <a:rPr lang="zh-TW" altLang="en-US" sz="4400" dirty="0">
                    <a:solidFill>
                      <a:srgbClr val="0000FF"/>
                    </a:solidFill>
                    <a:latin typeface="Times New Roman" panose="02020603050405020304" pitchFamily="18" charset="0"/>
                    <a:cs typeface="Times New Roman" panose="02020603050405020304" pitchFamily="18" charset="0"/>
                  </a:rPr>
                  <a:t> </a:t>
                </a:r>
                <a:r>
                  <a:rPr lang="en-US" altLang="zh-TW" sz="4400" dirty="0">
                    <a:solidFill>
                      <a:srgbClr val="0000FF"/>
                    </a:solidFill>
                    <a:latin typeface="Times New Roman" panose="02020603050405020304" pitchFamily="18" charset="0"/>
                    <a:cs typeface="Times New Roman" panose="02020603050405020304" pitchFamily="18" charset="0"/>
                  </a:rPr>
                  <a:t>is </a:t>
                </a:r>
                <a14:m>
                  <m:oMath xmlns:m="http://schemas.openxmlformats.org/officeDocument/2006/math">
                    <m:r>
                      <a:rPr lang="en-US" altLang="zh-TW" sz="4400" i="1" dirty="0">
                        <a:solidFill>
                          <a:srgbClr val="0000FF"/>
                        </a:solidFill>
                        <a:latin typeface="Cambria Math" panose="02040503050406030204" pitchFamily="18" charset="0"/>
                        <a:cs typeface="Times New Roman" panose="02020603050405020304" pitchFamily="18" charset="0"/>
                      </a:rPr>
                      <m:t>𝐴𝑃𝑋</m:t>
                    </m:r>
                  </m:oMath>
                </a14:m>
                <a:r>
                  <a:rPr lang="en-US" altLang="zh-TW" sz="4400" dirty="0">
                    <a:solidFill>
                      <a:srgbClr val="0000FF"/>
                    </a:solidFill>
                    <a:latin typeface="Times New Roman" panose="02020603050405020304" pitchFamily="18" charset="0"/>
                    <a:cs typeface="Times New Roman" panose="02020603050405020304" pitchFamily="18" charset="0"/>
                  </a:rPr>
                  <a:t>-hard.</a:t>
                </a:r>
                <a:endParaRPr lang="zh-TW" altLang="en-US" sz="4400" dirty="0">
                  <a:solidFill>
                    <a:srgbClr val="0000FF"/>
                  </a:solidFill>
                  <a:latin typeface="Times New Roman" panose="02020603050405020304" pitchFamily="18" charset="0"/>
                  <a:cs typeface="Times New Roman" panose="02020603050405020304" pitchFamily="18" charset="0"/>
                </a:endParaRPr>
              </a:p>
            </p:txBody>
          </p:sp>
        </mc:Choice>
        <mc:Fallback xmlns="">
          <p:sp>
            <p:nvSpPr>
              <p:cNvPr id="5" name="文字方塊 4"/>
              <p:cNvSpPr txBox="1">
                <a:spLocks noRot="1" noChangeAspect="1" noMove="1" noResize="1" noEditPoints="1" noAdjustHandles="1" noChangeArrowheads="1" noChangeShapeType="1" noTextEdit="1"/>
              </p:cNvSpPr>
              <p:nvPr/>
            </p:nvSpPr>
            <p:spPr>
              <a:xfrm>
                <a:off x="1884000" y="90001"/>
                <a:ext cx="5185394" cy="769441"/>
              </a:xfrm>
              <a:prstGeom prst="rect">
                <a:avLst/>
              </a:prstGeom>
              <a:blipFill>
                <a:blip r:embed="rId2"/>
                <a:stretch>
                  <a:fillRect l="-4700" t="-15873" r="-1058" b="-3809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內容版面配置區 2"/>
              <p:cNvSpPr txBox="1">
                <a:spLocks noGrp="1"/>
              </p:cNvSpPr>
              <p:nvPr>
                <p:ph idx="1"/>
              </p:nvPr>
            </p:nvSpPr>
            <p:spPr>
              <a:xfrm>
                <a:off x="1279961" y="1253331"/>
                <a:ext cx="10199276"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14:m>
                  <m:oMath xmlns:m="http://schemas.openxmlformats.org/officeDocument/2006/math">
                    <m:r>
                      <a:rPr lang="en-US" altLang="zh-TW" b="0" i="1" smtClean="0">
                        <a:latin typeface="Cambria Math" panose="02040503050406030204" pitchFamily="18" charset="0"/>
                      </a:rPr>
                      <m:t>|</m:t>
                    </m:r>
                    <m:sSub>
                      <m:sSubPr>
                        <m:ctrlPr>
                          <a:rPr lang="en-US" altLang="zh-TW" i="1" smtClean="0">
                            <a:latin typeface="Cambria Math" panose="02040503050406030204" pitchFamily="18" charset="0"/>
                          </a:rPr>
                        </m:ctrlPr>
                      </m:sSubPr>
                      <m:e>
                        <m:r>
                          <a:rPr lang="en-US" altLang="zh-TW" i="1">
                            <a:latin typeface="Cambria Math" panose="02040503050406030204" pitchFamily="18" charset="0"/>
                          </a:rPr>
                          <m:t>𝑜𝑝𝑡</m:t>
                        </m:r>
                      </m:e>
                      <m:sub>
                        <m:r>
                          <a:rPr lang="en-US" altLang="zh-TW" b="0" i="1" smtClean="0">
                            <a:latin typeface="Cambria Math" panose="02040503050406030204" pitchFamily="18" charset="0"/>
                          </a:rPr>
                          <m:t>𝐸𝑁𝐿</m:t>
                        </m:r>
                      </m:sub>
                    </m:sSub>
                    <m:r>
                      <a:rPr lang="en-US" altLang="zh-TW" b="0" i="1" smtClean="0">
                        <a:latin typeface="Cambria Math" panose="02040503050406030204" pitchFamily="18" charset="0"/>
                      </a:rPr>
                      <m:t>|</m:t>
                    </m:r>
                    <m:r>
                      <a:rPr lang="en-US" altLang="zh-TW" i="1">
                        <a:latin typeface="Cambria Math" panose="02040503050406030204" pitchFamily="18" charset="0"/>
                      </a:rPr>
                      <m:t>≤</m:t>
                    </m:r>
                    <m:r>
                      <a:rPr lang="zh-TW" altLang="en-US" i="1">
                        <a:latin typeface="Cambria Math" panose="02040503050406030204" pitchFamily="18" charset="0"/>
                      </a:rPr>
                      <m:t>𝛿</m:t>
                    </m:r>
                    <m:r>
                      <a:rPr lang="el-GR" altLang="zh-TW" i="1">
                        <a:latin typeface="Cambria Math" panose="02040503050406030204" pitchFamily="18" charset="0"/>
                        <a:ea typeface="Cambria Math" panose="02040503050406030204" pitchFamily="18" charset="0"/>
                      </a:rPr>
                      <m:t>∙</m:t>
                    </m:r>
                    <m:sSub>
                      <m:sSubPr>
                        <m:ctrlPr>
                          <a:rPr lang="el-GR" altLang="zh-TW" i="1">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𝑜𝑝𝑡</m:t>
                        </m:r>
                      </m:e>
                      <m:sub>
                        <m:r>
                          <a:rPr lang="en-US" altLang="zh-TW" i="1">
                            <a:latin typeface="Cambria Math" panose="02040503050406030204" pitchFamily="18" charset="0"/>
                            <a:ea typeface="Cambria Math" panose="02040503050406030204" pitchFamily="18" charset="0"/>
                          </a:rPr>
                          <m:t>𝑀𝐴𝑋</m:t>
                        </m:r>
                        <m:r>
                          <a:rPr lang="en-US" altLang="zh-TW" i="1">
                            <a:latin typeface="Cambria Math" panose="02040503050406030204" pitchFamily="18" charset="0"/>
                            <a:ea typeface="Cambria Math" panose="02040503050406030204" pitchFamily="18" charset="0"/>
                          </a:rPr>
                          <m:t> 3</m:t>
                        </m:r>
                        <m:r>
                          <a:rPr lang="en-US" altLang="zh-TW" b="0" i="1" smtClean="0">
                            <a:latin typeface="Cambria Math" panose="02040503050406030204" pitchFamily="18" charset="0"/>
                            <a:ea typeface="Cambria Math" panose="02040503050406030204" pitchFamily="18" charset="0"/>
                          </a:rPr>
                          <m:t>𝑆𝐴𝑇</m:t>
                        </m:r>
                        <m:r>
                          <a:rPr lang="en-US" altLang="zh-TW" i="1">
                            <a:latin typeface="Cambria Math" panose="02040503050406030204" pitchFamily="18" charset="0"/>
                            <a:ea typeface="Cambria Math" panose="02040503050406030204" pitchFamily="18" charset="0"/>
                          </a:rPr>
                          <m:t>−3</m:t>
                        </m:r>
                      </m:sub>
                    </m:sSub>
                    <m:r>
                      <a:rPr lang="en-US" altLang="zh-TW" b="0" i="1" smtClean="0">
                        <a:latin typeface="Cambria Math" panose="02040503050406030204" pitchFamily="18" charset="0"/>
                        <a:ea typeface="Cambria Math" panose="02040503050406030204" pitchFamily="18" charset="0"/>
                      </a:rPr>
                      <m:t>|</m:t>
                    </m:r>
                  </m:oMath>
                </a14:m>
                <a:endParaRPr lang="en-US" altLang="zh-TW" i="1" dirty="0">
                  <a:latin typeface="Times New Roman" panose="02020603050405020304" pitchFamily="18" charset="0"/>
                  <a:ea typeface="Cambria Math" panose="02040503050406030204" pitchFamily="18" charset="0"/>
                  <a:cs typeface="Times New Roman" panose="02020603050405020304" pitchFamily="18" charset="0"/>
                </a:endParaRPr>
              </a:p>
              <a:p>
                <a:pPr lvl="1">
                  <a:buSzPct val="50000"/>
                  <a:buFont typeface="Wingdings" panose="05000000000000000000" pitchFamily="2" charset="2"/>
                  <a:buChar char="p"/>
                </a:pPr>
                <a14:m>
                  <m:oMath xmlns:m="http://schemas.openxmlformats.org/officeDocument/2006/math">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m:t>
                        </m:r>
                        <m:r>
                          <a:rPr lang="en-US" altLang="zh-TW" sz="2800" i="1">
                            <a:latin typeface="Cambria Math" panose="02040503050406030204" pitchFamily="18" charset="0"/>
                          </a:rPr>
                          <m:t>𝑜𝑝𝑡</m:t>
                        </m:r>
                      </m:e>
                      <m:sub>
                        <m:r>
                          <a:rPr lang="en-US" altLang="zh-TW" sz="2800" i="1">
                            <a:latin typeface="Cambria Math" panose="02040503050406030204" pitchFamily="18" charset="0"/>
                          </a:rPr>
                          <m:t>𝐸𝑁𝐿</m:t>
                        </m:r>
                      </m:sub>
                    </m:sSub>
                    <m:d>
                      <m:dPr>
                        <m:ctrlPr>
                          <a:rPr lang="en-US" altLang="zh-TW" sz="2800" i="1">
                            <a:latin typeface="Cambria Math" panose="02040503050406030204" pitchFamily="18" charset="0"/>
                          </a:rPr>
                        </m:ctrlPr>
                      </m:dPr>
                      <m:e>
                        <m:r>
                          <a:rPr lang="en-US" altLang="zh-TW" sz="2800" i="1">
                            <a:latin typeface="Cambria Math" panose="02040503050406030204" pitchFamily="18" charset="0"/>
                          </a:rPr>
                          <m:t>𝐹</m:t>
                        </m:r>
                        <m:d>
                          <m:dPr>
                            <m:ctrlPr>
                              <a:rPr lang="en-US" altLang="zh-TW" sz="2800" i="1">
                                <a:latin typeface="Cambria Math" panose="02040503050406030204" pitchFamily="18" charset="0"/>
                              </a:rPr>
                            </m:ctrlPr>
                          </m:dPr>
                          <m:e>
                            <m:r>
                              <a:rPr lang="en-US" altLang="zh-TW" sz="2800" i="1">
                                <a:latin typeface="Cambria Math" panose="02040503050406030204" pitchFamily="18" charset="0"/>
                              </a:rPr>
                              <m:t>𝐼</m:t>
                            </m:r>
                          </m:e>
                        </m:d>
                      </m:e>
                    </m:d>
                    <m:r>
                      <a:rPr lang="en-US" altLang="zh-TW" sz="2800" i="1">
                        <a:latin typeface="Cambria Math" panose="02040503050406030204" pitchFamily="18" charset="0"/>
                      </a:rPr>
                      <m:t>|=</m:t>
                    </m:r>
                    <m:r>
                      <a:rPr lang="en-US" altLang="zh-TW" sz="2800" i="1">
                        <a:latin typeface="Cambria Math" panose="02040503050406030204" pitchFamily="18" charset="0"/>
                      </a:rPr>
                      <m:t>𝑘</m:t>
                    </m:r>
                    <m:r>
                      <a:rPr lang="en-US" altLang="zh-TW" sz="2800" i="1">
                        <a:latin typeface="Cambria Math" panose="02040503050406030204" pitchFamily="18" charset="0"/>
                      </a:rPr>
                      <m:t>=1∙|</m:t>
                    </m:r>
                    <m:sSub>
                      <m:sSubPr>
                        <m:ctrlPr>
                          <a:rPr lang="el-GR" altLang="zh-TW" sz="2800" i="1">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𝑜𝑝𝑡</m:t>
                        </m:r>
                      </m:e>
                      <m:sub>
                        <m:r>
                          <a:rPr lang="en-US" altLang="zh-TW" sz="2800" i="1">
                            <a:latin typeface="Cambria Math" panose="02040503050406030204" pitchFamily="18" charset="0"/>
                            <a:ea typeface="Cambria Math" panose="02040503050406030204" pitchFamily="18" charset="0"/>
                          </a:rPr>
                          <m:t>𝑀𝐴𝑋</m:t>
                        </m:r>
                        <m:r>
                          <a:rPr lang="en-US" altLang="zh-TW" sz="2800" i="1">
                            <a:latin typeface="Cambria Math" panose="02040503050406030204" pitchFamily="18" charset="0"/>
                            <a:ea typeface="Cambria Math" panose="02040503050406030204" pitchFamily="18" charset="0"/>
                          </a:rPr>
                          <m:t> 3</m:t>
                        </m:r>
                        <m:r>
                          <a:rPr lang="en-US" altLang="zh-TW" sz="2800" i="1">
                            <a:latin typeface="Cambria Math" panose="02040503050406030204" pitchFamily="18" charset="0"/>
                            <a:ea typeface="Cambria Math" panose="02040503050406030204" pitchFamily="18" charset="0"/>
                          </a:rPr>
                          <m:t>𝑆𝐴𝑇</m:t>
                        </m:r>
                        <m:r>
                          <a:rPr lang="en-US" altLang="zh-TW" sz="2800" i="1">
                            <a:latin typeface="Cambria Math" panose="02040503050406030204" pitchFamily="18" charset="0"/>
                            <a:ea typeface="Cambria Math" panose="02040503050406030204" pitchFamily="18" charset="0"/>
                          </a:rPr>
                          <m:t>−3</m:t>
                        </m:r>
                      </m:sub>
                    </m:sSub>
                    <m:d>
                      <m:dPr>
                        <m:ctrlPr>
                          <a:rPr lang="en-US" altLang="zh-TW" sz="2800" i="1">
                            <a:latin typeface="Cambria Math" panose="02040503050406030204" pitchFamily="18" charset="0"/>
                            <a:ea typeface="Cambria Math" panose="02040503050406030204" pitchFamily="18" charset="0"/>
                          </a:rPr>
                        </m:ctrlPr>
                      </m:dPr>
                      <m:e>
                        <m:r>
                          <a:rPr lang="en-US" altLang="zh-TW" sz="2800" i="1">
                            <a:latin typeface="Cambria Math" panose="02040503050406030204" pitchFamily="18" charset="0"/>
                            <a:ea typeface="Cambria Math" panose="02040503050406030204" pitchFamily="18" charset="0"/>
                          </a:rPr>
                          <m:t>𝐼</m:t>
                        </m:r>
                      </m:e>
                    </m:d>
                    <m:r>
                      <a:rPr lang="en-US" altLang="zh-TW" sz="2800" i="1">
                        <a:latin typeface="Cambria Math" panose="02040503050406030204" pitchFamily="18" charset="0"/>
                        <a:ea typeface="Cambria Math" panose="02040503050406030204" pitchFamily="18" charset="0"/>
                      </a:rPr>
                      <m:t>|</m:t>
                    </m:r>
                  </m:oMath>
                </a14:m>
                <a:endParaRPr lang="en-US" altLang="zh-TW" sz="2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14:m>
                  <m:oMath xmlns:m="http://schemas.openxmlformats.org/officeDocument/2006/math">
                    <m:d>
                      <m:dPr>
                        <m:begChr m:val="|"/>
                        <m:endChr m:val="|"/>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𝑜𝑝𝑡</m:t>
                            </m:r>
                          </m:e>
                          <m:sub>
                            <m:r>
                              <a:rPr lang="en-US" altLang="zh-TW" b="0" i="1" smtClean="0">
                                <a:latin typeface="Cambria Math" panose="02040503050406030204" pitchFamily="18" charset="0"/>
                              </a:rPr>
                              <m:t>𝑀𝐴𝑋</m:t>
                            </m:r>
                            <m:r>
                              <a:rPr lang="en-US" altLang="zh-TW" b="0" i="1" smtClean="0">
                                <a:latin typeface="Cambria Math" panose="02040503050406030204" pitchFamily="18" charset="0"/>
                              </a:rPr>
                              <m:t> 3</m:t>
                            </m:r>
                            <m:r>
                              <a:rPr lang="en-US" altLang="zh-TW" b="0" i="1" smtClean="0">
                                <a:latin typeface="Cambria Math" panose="02040503050406030204" pitchFamily="18" charset="0"/>
                              </a:rPr>
                              <m:t>𝑆𝐴𝑇</m:t>
                            </m:r>
                            <m:r>
                              <a:rPr lang="en-US" altLang="zh-TW" b="0" i="1" smtClean="0">
                                <a:latin typeface="Cambria Math" panose="02040503050406030204" pitchFamily="18" charset="0"/>
                              </a:rPr>
                              <m:t>−3</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𝑜𝑗</m:t>
                            </m:r>
                          </m:e>
                          <m:sub>
                            <m:r>
                              <a:rPr lang="en-US" altLang="zh-TW" b="0" i="1" smtClean="0">
                                <a:latin typeface="Cambria Math" panose="02040503050406030204" pitchFamily="18" charset="0"/>
                              </a:rPr>
                              <m:t>1</m:t>
                            </m:r>
                          </m:sub>
                        </m:sSub>
                      </m:e>
                    </m:d>
                    <m:r>
                      <a:rPr lang="en-US" altLang="zh-TW" b="0" i="1" smtClean="0">
                        <a:latin typeface="Cambria Math" panose="02040503050406030204" pitchFamily="18" charset="0"/>
                      </a:rPr>
                      <m:t>≤</m:t>
                    </m:r>
                    <m:r>
                      <a:rPr lang="zh-TW" altLang="en-US" b="0" i="1" smtClean="0">
                        <a:latin typeface="Cambria Math" panose="02040503050406030204" pitchFamily="18" charset="0"/>
                      </a:rPr>
                      <m:t>𝜇</m:t>
                    </m:r>
                    <m:r>
                      <a:rPr lang="zh-TW" altLang="en-US" b="0" i="1" smtClean="0">
                        <a:latin typeface="Cambria Math" panose="02040503050406030204" pitchFamily="18" charset="0"/>
                      </a:rPr>
                      <m:t>∙</m:t>
                    </m:r>
                    <m:d>
                      <m:dPr>
                        <m:begChr m:val="|"/>
                        <m:endChr m:val="|"/>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𝑜𝑝𝑡</m:t>
                            </m:r>
                          </m:e>
                          <m:sub>
                            <m:r>
                              <a:rPr lang="en-US" altLang="zh-TW" b="0" i="1" smtClean="0">
                                <a:latin typeface="Cambria Math" panose="02040503050406030204" pitchFamily="18" charset="0"/>
                              </a:rPr>
                              <m:t>𝐸𝑁𝐿</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𝑜𝑗</m:t>
                            </m:r>
                          </m:e>
                          <m:sub>
                            <m:r>
                              <a:rPr lang="en-US" altLang="zh-TW" b="0" i="1" smtClean="0">
                                <a:latin typeface="Cambria Math" panose="02040503050406030204" pitchFamily="18" charset="0"/>
                              </a:rPr>
                              <m:t>2</m:t>
                            </m:r>
                          </m:sub>
                        </m:sSub>
                      </m:e>
                    </m:d>
                  </m:oMath>
                </a14:m>
                <a:endParaRPr lang="en-US" altLang="zh-TW" dirty="0">
                  <a:latin typeface="Times New Roman" panose="02020603050405020304" pitchFamily="18" charset="0"/>
                  <a:cs typeface="Times New Roman" panose="02020603050405020304" pitchFamily="18" charset="0"/>
                </a:endParaRPr>
              </a:p>
              <a:p>
                <a:pPr lvl="1">
                  <a:buSzPct val="50000"/>
                  <a:buFont typeface="Wingdings" panose="05000000000000000000" pitchFamily="2" charset="2"/>
                  <a:buChar char="p"/>
                </a:pPr>
                <a14:m>
                  <m:oMath xmlns:m="http://schemas.openxmlformats.org/officeDocument/2006/math">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𝑜𝑗</m:t>
                        </m:r>
                      </m:e>
                      <m:sub>
                        <m:r>
                          <a:rPr lang="en-US" altLang="zh-TW" sz="2800" i="1">
                            <a:latin typeface="Cambria Math" panose="02040503050406030204" pitchFamily="18" charset="0"/>
                          </a:rPr>
                          <m:t>1</m:t>
                        </m:r>
                      </m:sub>
                    </m:sSub>
                    <m:r>
                      <a:rPr lang="en-US" altLang="zh-TW" sz="2800" i="1">
                        <a:latin typeface="Cambria Math" panose="02040503050406030204" pitchFamily="18" charset="0"/>
                      </a:rPr>
                      <m:t>=</m:t>
                    </m:r>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𝑜𝑗</m:t>
                        </m:r>
                      </m:e>
                      <m:sub>
                        <m:r>
                          <a:rPr lang="en-US" altLang="zh-TW" sz="2800" i="1">
                            <a:latin typeface="Cambria Math" panose="02040503050406030204" pitchFamily="18" charset="0"/>
                          </a:rPr>
                          <m:t>2</m:t>
                        </m:r>
                      </m:sub>
                    </m:sSub>
                  </m:oMath>
                </a14:m>
                <a:endParaRPr lang="en-US" altLang="zh-TW" sz="2800" i="1" dirty="0">
                  <a:latin typeface="Times New Roman" panose="02020603050405020304" pitchFamily="18" charset="0"/>
                  <a:cs typeface="Times New Roman" panose="02020603050405020304" pitchFamily="18" charset="0"/>
                </a:endParaRPr>
              </a:p>
              <a:p>
                <a:pPr lvl="1">
                  <a:buSzPct val="50000"/>
                  <a:buFont typeface="Wingdings" panose="05000000000000000000" pitchFamily="2" charset="2"/>
                  <a:buChar char="p"/>
                </a:pPr>
                <a14:m>
                  <m:oMath xmlns:m="http://schemas.openxmlformats.org/officeDocument/2006/math">
                    <m:d>
                      <m:dPr>
                        <m:begChr m:val="|"/>
                        <m:endChr m:val="|"/>
                        <m:ctrlPr>
                          <a:rPr lang="en-US" altLang="zh-TW" sz="2800" i="1">
                            <a:latin typeface="Cambria Math" panose="02040503050406030204" pitchFamily="18" charset="0"/>
                          </a:rPr>
                        </m:ctrlPr>
                      </m:dPr>
                      <m:e>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𝑜𝑝𝑡</m:t>
                            </m:r>
                          </m:e>
                          <m:sub>
                            <m:r>
                              <a:rPr lang="en-US" altLang="zh-TW" sz="2800" i="1">
                                <a:latin typeface="Cambria Math" panose="02040503050406030204" pitchFamily="18" charset="0"/>
                              </a:rPr>
                              <m:t>𝑀𝐴𝑋</m:t>
                            </m:r>
                            <m:r>
                              <a:rPr lang="en-US" altLang="zh-TW" sz="2800" i="1">
                                <a:latin typeface="Cambria Math" panose="02040503050406030204" pitchFamily="18" charset="0"/>
                              </a:rPr>
                              <m:t> 3</m:t>
                            </m:r>
                            <m:r>
                              <a:rPr lang="en-US" altLang="zh-TW" sz="2800" i="1">
                                <a:latin typeface="Cambria Math" panose="02040503050406030204" pitchFamily="18" charset="0"/>
                              </a:rPr>
                              <m:t>𝑆𝐴𝑇</m:t>
                            </m:r>
                            <m:r>
                              <a:rPr lang="en-US" altLang="zh-TW" sz="2800" i="1">
                                <a:latin typeface="Cambria Math" panose="02040503050406030204" pitchFamily="18" charset="0"/>
                              </a:rPr>
                              <m:t>−3</m:t>
                            </m:r>
                          </m:sub>
                        </m:sSub>
                        <m:r>
                          <a:rPr lang="en-US" altLang="zh-TW" sz="2800" i="1">
                            <a:latin typeface="Cambria Math" panose="02040503050406030204" pitchFamily="18" charset="0"/>
                          </a:rPr>
                          <m:t>−</m:t>
                        </m:r>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𝑜𝑗</m:t>
                            </m:r>
                          </m:e>
                          <m:sub>
                            <m:r>
                              <a:rPr lang="en-US" altLang="zh-TW" sz="2800" i="1">
                                <a:latin typeface="Cambria Math" panose="02040503050406030204" pitchFamily="18" charset="0"/>
                              </a:rPr>
                              <m:t>1</m:t>
                            </m:r>
                          </m:sub>
                        </m:sSub>
                      </m:e>
                    </m:d>
                    <m:r>
                      <a:rPr lang="en-US" altLang="zh-TW" sz="2800" i="1">
                        <a:latin typeface="Cambria Math" panose="02040503050406030204" pitchFamily="18" charset="0"/>
                      </a:rPr>
                      <m:t>=</m:t>
                    </m:r>
                    <m:r>
                      <a:rPr lang="en-US" altLang="zh-TW" sz="2800" i="1">
                        <a:latin typeface="Cambria Math" panose="02040503050406030204" pitchFamily="18" charset="0"/>
                      </a:rPr>
                      <m:t>𝑘</m:t>
                    </m:r>
                    <m:r>
                      <a:rPr lang="en-US" altLang="zh-TW" sz="2800" i="1">
                        <a:latin typeface="Cambria Math" panose="02040503050406030204" pitchFamily="18" charset="0"/>
                      </a:rPr>
                      <m:t>−</m:t>
                    </m:r>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𝑜𝑗</m:t>
                        </m:r>
                      </m:e>
                      <m:sub>
                        <m:r>
                          <a:rPr lang="en-US" altLang="zh-TW" sz="2800" i="1">
                            <a:latin typeface="Cambria Math" panose="02040503050406030204" pitchFamily="18" charset="0"/>
                          </a:rPr>
                          <m:t>1</m:t>
                        </m:r>
                      </m:sub>
                    </m:sSub>
                    <m:r>
                      <a:rPr lang="en-US" altLang="zh-TW" sz="2800" i="1">
                        <a:latin typeface="Cambria Math" panose="02040503050406030204" pitchFamily="18" charset="0"/>
                      </a:rPr>
                      <m:t>=</m:t>
                    </m:r>
                    <m:r>
                      <a:rPr lang="en-US" altLang="zh-TW" sz="2800" i="1">
                        <a:latin typeface="Cambria Math" panose="02040503050406030204" pitchFamily="18" charset="0"/>
                      </a:rPr>
                      <m:t>𝑘</m:t>
                    </m:r>
                    <m:r>
                      <a:rPr lang="en-US" altLang="zh-TW" sz="2800" i="1">
                        <a:latin typeface="Cambria Math" panose="02040503050406030204" pitchFamily="18" charset="0"/>
                      </a:rPr>
                      <m:t>−</m:t>
                    </m:r>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𝑜𝑗</m:t>
                        </m:r>
                      </m:e>
                      <m:sub>
                        <m:r>
                          <a:rPr lang="en-US" altLang="zh-TW" sz="2800" i="1">
                            <a:latin typeface="Cambria Math" panose="02040503050406030204" pitchFamily="18" charset="0"/>
                          </a:rPr>
                          <m:t>2</m:t>
                        </m:r>
                      </m:sub>
                    </m:sSub>
                    <m:r>
                      <a:rPr lang="en-US" altLang="zh-TW" sz="2800" i="1">
                        <a:latin typeface="Cambria Math" panose="02040503050406030204" pitchFamily="18" charset="0"/>
                      </a:rPr>
                      <m:t>=</m:t>
                    </m:r>
                    <m:r>
                      <a:rPr lang="en-US" altLang="zh-TW" sz="2800" i="1">
                        <a:solidFill>
                          <a:srgbClr val="FF0000"/>
                        </a:solidFill>
                        <a:latin typeface="Cambria Math" panose="02040503050406030204" pitchFamily="18" charset="0"/>
                      </a:rPr>
                      <m:t>1</m:t>
                    </m:r>
                    <m:r>
                      <a:rPr lang="zh-TW" altLang="en-US" sz="2800" i="1">
                        <a:latin typeface="Cambria Math" panose="02040503050406030204" pitchFamily="18" charset="0"/>
                      </a:rPr>
                      <m:t>∙</m:t>
                    </m:r>
                    <m:d>
                      <m:dPr>
                        <m:begChr m:val="|"/>
                        <m:endChr m:val="|"/>
                        <m:ctrlPr>
                          <a:rPr lang="en-US" altLang="zh-TW" sz="2800" i="1">
                            <a:latin typeface="Cambria Math" panose="02040503050406030204" pitchFamily="18" charset="0"/>
                          </a:rPr>
                        </m:ctrlPr>
                      </m:dPr>
                      <m:e>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𝑜𝑝𝑡</m:t>
                            </m:r>
                          </m:e>
                          <m:sub>
                            <m:r>
                              <a:rPr lang="en-US" altLang="zh-TW" sz="2800" i="1">
                                <a:latin typeface="Cambria Math" panose="02040503050406030204" pitchFamily="18" charset="0"/>
                              </a:rPr>
                              <m:t>𝐺</m:t>
                            </m:r>
                          </m:sub>
                        </m:sSub>
                        <m:r>
                          <a:rPr lang="en-US" altLang="zh-TW" sz="2800" i="1">
                            <a:latin typeface="Cambria Math" panose="02040503050406030204" pitchFamily="18" charset="0"/>
                          </a:rPr>
                          <m:t>−</m:t>
                        </m:r>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𝑜𝑗</m:t>
                            </m:r>
                          </m:e>
                          <m:sub>
                            <m:r>
                              <a:rPr lang="en-US" altLang="zh-TW" sz="2800" i="1">
                                <a:latin typeface="Cambria Math" panose="02040503050406030204" pitchFamily="18" charset="0"/>
                              </a:rPr>
                              <m:t>2</m:t>
                            </m:r>
                          </m:sub>
                        </m:sSub>
                      </m:e>
                    </m:d>
                  </m:oMath>
                </a14:m>
                <a:endParaRPr lang="en-US" altLang="zh-TW" sz="2800" dirty="0">
                  <a:latin typeface="Times New Roman" panose="02020603050405020304" pitchFamily="18" charset="0"/>
                </a:endParaRPr>
              </a:p>
              <a:p>
                <a:pPr>
                  <a:buFont typeface="Wingdings" panose="05000000000000000000" pitchFamily="2" charset="2"/>
                  <a:buChar char="Ø"/>
                </a:pPr>
                <a14:m>
                  <m:oMath xmlns:m="http://schemas.openxmlformats.org/officeDocument/2006/math">
                    <m:r>
                      <a:rPr lang="zh-TW" altLang="en-US" sz="3200" i="1">
                        <a:latin typeface="Cambria Math" panose="02040503050406030204" pitchFamily="18" charset="0"/>
                      </a:rPr>
                      <m:t>𝛿</m:t>
                    </m:r>
                    <m:r>
                      <a:rPr lang="en-US" altLang="zh-TW" sz="3200" i="1">
                        <a:latin typeface="Cambria Math" panose="02040503050406030204" pitchFamily="18" charset="0"/>
                      </a:rPr>
                      <m:t>=1, </m:t>
                    </m:r>
                    <m:r>
                      <a:rPr lang="zh-TW" altLang="en-US" sz="3200" i="1">
                        <a:latin typeface="Cambria Math" panose="02040503050406030204" pitchFamily="18" charset="0"/>
                      </a:rPr>
                      <m:t>𝜇</m:t>
                    </m:r>
                    <m:r>
                      <a:rPr lang="en-US" altLang="zh-TW" sz="3200" i="1">
                        <a:latin typeface="Cambria Math" panose="02040503050406030204" pitchFamily="18" charset="0"/>
                      </a:rPr>
                      <m:t>=1</m:t>
                    </m:r>
                  </m:oMath>
                </a14:m>
                <a:r>
                  <a:rPr lang="en-US" altLang="zh-TW" sz="32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TW" sz="3200" i="1">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l-GR" altLang="zh-TW" sz="3200" i="1">
                            <a:latin typeface="Cambria Math" panose="02040503050406030204" pitchFamily="18" charset="0"/>
                            <a:ea typeface="Cambria Math" panose="02040503050406030204" pitchFamily="18" charset="0"/>
                            <a:cs typeface="Times New Roman" panose="02020603050405020304" pitchFamily="18" charset="0"/>
                          </a:rPr>
                          <m:t>Γ</m:t>
                        </m:r>
                      </m:e>
                      <m:sub>
                        <m:r>
                          <a:rPr lang="en-US" altLang="zh-TW" sz="3200" i="1">
                            <a:latin typeface="Cambria Math" panose="02040503050406030204" pitchFamily="18" charset="0"/>
                            <a:ea typeface="Cambria Math" panose="02040503050406030204" pitchFamily="18" charset="0"/>
                            <a:cs typeface="Times New Roman" panose="02020603050405020304" pitchFamily="18" charset="0"/>
                          </a:rPr>
                          <m:t>𝐸𝑁𝐿</m:t>
                        </m:r>
                      </m:sub>
                    </m:sSub>
                  </m:oMath>
                </a14:m>
                <a:r>
                  <a:rPr lang="en-US" altLang="zh-TW" sz="3200" dirty="0">
                    <a:latin typeface="Times New Roman" panose="02020603050405020304" pitchFamily="18" charset="0"/>
                    <a:cs typeface="Times New Roman" panose="02020603050405020304" pitchFamily="18" charset="0"/>
                  </a:rPr>
                  <a:t> is a L-reduction.</a:t>
                </a:r>
              </a:p>
            </p:txBody>
          </p:sp>
        </mc:Choice>
        <mc:Fallback xmlns="">
          <p:sp>
            <p:nvSpPr>
              <p:cNvPr id="6" name="內容版面配置區 2"/>
              <p:cNvSpPr txBox="1">
                <a:spLocks noGrp="1" noRot="1" noChangeAspect="1" noMove="1" noResize="1" noEditPoints="1" noAdjustHandles="1" noChangeArrowheads="1" noChangeShapeType="1" noTextEdit="1"/>
              </p:cNvSpPr>
              <p:nvPr>
                <p:ph idx="1"/>
              </p:nvPr>
            </p:nvSpPr>
            <p:spPr>
              <a:xfrm>
                <a:off x="1279961" y="1253331"/>
                <a:ext cx="10199276" cy="4351338"/>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3269382" y="4880009"/>
                <a:ext cx="1953929" cy="654291"/>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latin typeface="Times New Roman" panose="02020603050405020304" pitchFamily="18" charset="0"/>
                    <a:cs typeface="Times New Roman" panose="02020603050405020304" pitchFamily="18" charset="0"/>
                  </a:rPr>
                  <a:t>Instance of </a:t>
                </a:r>
                <a14:m>
                  <m:oMath xmlns:m="http://schemas.openxmlformats.org/officeDocument/2006/math">
                    <m:r>
                      <a:rPr lang="en-US" altLang="zh-TW" sz="2000" i="1" dirty="0">
                        <a:solidFill>
                          <a:schemeClr val="tx1"/>
                        </a:solidFill>
                        <a:latin typeface="Cambria Math" panose="02040503050406030204" pitchFamily="18" charset="0"/>
                        <a:cs typeface="Times New Roman" panose="02020603050405020304" pitchFamily="18" charset="0"/>
                      </a:rPr>
                      <m:t>𝑀𝐴𝑋</m:t>
                    </m:r>
                    <m:r>
                      <a:rPr lang="en-US" altLang="zh-TW" sz="2000" i="1" dirty="0">
                        <a:solidFill>
                          <a:schemeClr val="tx1"/>
                        </a:solidFill>
                        <a:latin typeface="Cambria Math" panose="02040503050406030204" pitchFamily="18" charset="0"/>
                        <a:cs typeface="Times New Roman" panose="02020603050405020304" pitchFamily="18" charset="0"/>
                      </a:rPr>
                      <m:t> 3</m:t>
                    </m:r>
                    <m:r>
                      <a:rPr lang="en-US" altLang="zh-TW" sz="2000" i="1" dirty="0">
                        <a:solidFill>
                          <a:schemeClr val="tx1"/>
                        </a:solidFill>
                        <a:latin typeface="Cambria Math" panose="02040503050406030204" pitchFamily="18" charset="0"/>
                        <a:cs typeface="Times New Roman" panose="02020603050405020304" pitchFamily="18" charset="0"/>
                      </a:rPr>
                      <m:t>𝑆𝐴𝑇</m:t>
                    </m:r>
                    <m:r>
                      <a:rPr lang="en-US" altLang="zh-TW" sz="2000" i="1" dirty="0">
                        <a:solidFill>
                          <a:schemeClr val="tx1"/>
                        </a:solidFill>
                        <a:latin typeface="Cambria Math" panose="02040503050406030204" pitchFamily="18" charset="0"/>
                        <a:cs typeface="Times New Roman" panose="02020603050405020304" pitchFamily="18" charset="0"/>
                      </a:rPr>
                      <m:t>−3</m:t>
                    </m:r>
                  </m:oMath>
                </a14:m>
                <a:endParaRPr lang="zh-TW" altLang="en-US" sz="20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15" name="矩形 14"/>
              <p:cNvSpPr>
                <a:spLocks noRot="1" noChangeAspect="1" noMove="1" noResize="1" noEditPoints="1" noAdjustHandles="1" noChangeArrowheads="1" noChangeShapeType="1" noTextEdit="1"/>
              </p:cNvSpPr>
              <p:nvPr/>
            </p:nvSpPr>
            <p:spPr>
              <a:xfrm>
                <a:off x="3269382" y="4880009"/>
                <a:ext cx="1953929" cy="654291"/>
              </a:xfrm>
              <a:prstGeom prst="rect">
                <a:avLst/>
              </a:prstGeom>
              <a:blipFill>
                <a:blip r:embed="rId4"/>
                <a:stretch>
                  <a:fillRect t="-6195"/>
                </a:stretch>
              </a:blipFill>
              <a:ln w="38100">
                <a:solidFill>
                  <a:schemeClr val="accent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矩形 15"/>
              <p:cNvSpPr/>
              <p:nvPr/>
            </p:nvSpPr>
            <p:spPr>
              <a:xfrm>
                <a:off x="6968692" y="4880009"/>
                <a:ext cx="1953929" cy="654291"/>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latin typeface="Times New Roman" panose="02020603050405020304" pitchFamily="18" charset="0"/>
                    <a:cs typeface="Times New Roman" panose="02020603050405020304" pitchFamily="18" charset="0"/>
                  </a:rPr>
                  <a:t>Instance of </a:t>
                </a:r>
                <a14:m>
                  <m:oMath xmlns:m="http://schemas.openxmlformats.org/officeDocument/2006/math">
                    <m:r>
                      <m:rPr>
                        <m:sty m:val="p"/>
                      </m:rPr>
                      <a:rPr lang="en-US" altLang="zh-TW" sz="2000" dirty="0">
                        <a:solidFill>
                          <a:schemeClr val="tx1"/>
                        </a:solidFill>
                        <a:latin typeface="Cambria Math" panose="02040503050406030204" pitchFamily="18" charset="0"/>
                        <a:cs typeface="Times New Roman" panose="02020603050405020304" pitchFamily="18" charset="0"/>
                      </a:rPr>
                      <m:t>P</m:t>
                    </m:r>
                    <m:r>
                      <a:rPr lang="en-US" altLang="zh-TW" sz="2000" dirty="0">
                        <a:solidFill>
                          <a:schemeClr val="tx1"/>
                        </a:solidFill>
                        <a:latin typeface="Cambria Math" panose="02040503050406030204" pitchFamily="18" charset="0"/>
                        <a:cs typeface="Times New Roman" panose="02020603050405020304" pitchFamily="18" charset="0"/>
                      </a:rPr>
                      <m:t>(</m:t>
                    </m:r>
                    <m:r>
                      <a:rPr lang="en-US" altLang="zh-TW" sz="2000" i="1" dirty="0">
                        <a:solidFill>
                          <a:schemeClr val="tx1"/>
                        </a:solidFill>
                        <a:latin typeface="Cambria Math" panose="02040503050406030204" pitchFamily="18" charset="0"/>
                        <a:cs typeface="Times New Roman" panose="02020603050405020304" pitchFamily="18" charset="0"/>
                      </a:rPr>
                      <m:t>𝐸𝑁𝐿</m:t>
                    </m:r>
                    <m:r>
                      <a:rPr lang="en-US" altLang="zh-TW" sz="2000" i="1" dirty="0">
                        <a:solidFill>
                          <a:schemeClr val="tx1"/>
                        </a:solidFill>
                        <a:latin typeface="Cambria Math" panose="02040503050406030204" pitchFamily="18" charset="0"/>
                        <a:cs typeface="Times New Roman" panose="02020603050405020304" pitchFamily="18" charset="0"/>
                      </a:rPr>
                      <m:t>)</m:t>
                    </m:r>
                  </m:oMath>
                </a14:m>
                <a:endParaRPr lang="zh-TW" altLang="en-US" sz="20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16" name="矩形 15"/>
              <p:cNvSpPr>
                <a:spLocks noRot="1" noChangeAspect="1" noMove="1" noResize="1" noEditPoints="1" noAdjustHandles="1" noChangeArrowheads="1" noChangeShapeType="1" noTextEdit="1"/>
              </p:cNvSpPr>
              <p:nvPr/>
            </p:nvSpPr>
            <p:spPr>
              <a:xfrm>
                <a:off x="6968692" y="4880009"/>
                <a:ext cx="1953929" cy="654291"/>
              </a:xfrm>
              <a:prstGeom prst="rect">
                <a:avLst/>
              </a:prstGeom>
              <a:blipFill>
                <a:blip r:embed="rId5"/>
                <a:stretch>
                  <a:fillRect t="-6195" b="-10619"/>
                </a:stretch>
              </a:blipFill>
              <a:ln w="38100">
                <a:solidFill>
                  <a:schemeClr val="accent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 name="矩形 16"/>
              <p:cNvSpPr/>
              <p:nvPr/>
            </p:nvSpPr>
            <p:spPr>
              <a:xfrm>
                <a:off x="6968692" y="5902143"/>
                <a:ext cx="1953929" cy="654291"/>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800" i="1" dirty="0">
                          <a:solidFill>
                            <a:schemeClr val="tx1"/>
                          </a:solidFill>
                          <a:latin typeface="Cambria Math" panose="02040503050406030204" pitchFamily="18" charset="0"/>
                          <a:cs typeface="Times New Roman" panose="02020603050405020304" pitchFamily="18" charset="0"/>
                        </a:rPr>
                        <m:t>𝑜</m:t>
                      </m:r>
                      <m:sSub>
                        <m:sSubPr>
                          <m:ctrlPr>
                            <a:rPr lang="en-US" altLang="zh-TW" sz="2800" i="1" dirty="0">
                              <a:solidFill>
                                <a:schemeClr val="tx1"/>
                              </a:solidFill>
                              <a:latin typeface="Cambria Math" panose="02040503050406030204" pitchFamily="18" charset="0"/>
                              <a:cs typeface="Times New Roman" panose="02020603050405020304" pitchFamily="18" charset="0"/>
                            </a:rPr>
                          </m:ctrlPr>
                        </m:sSubPr>
                        <m:e>
                          <m:r>
                            <a:rPr lang="en-US" altLang="zh-TW" sz="2800" i="1" dirty="0">
                              <a:solidFill>
                                <a:schemeClr val="tx1"/>
                              </a:solidFill>
                              <a:latin typeface="Cambria Math" panose="02040503050406030204" pitchFamily="18" charset="0"/>
                              <a:cs typeface="Times New Roman" panose="02020603050405020304" pitchFamily="18" charset="0"/>
                            </a:rPr>
                            <m:t>𝑗</m:t>
                          </m:r>
                        </m:e>
                        <m:sub>
                          <m:r>
                            <a:rPr lang="en-US" altLang="zh-TW" sz="2800" i="1" dirty="0">
                              <a:solidFill>
                                <a:schemeClr val="tx1"/>
                              </a:solidFill>
                              <a:latin typeface="Cambria Math" panose="02040503050406030204" pitchFamily="18" charset="0"/>
                              <a:cs typeface="Times New Roman" panose="02020603050405020304" pitchFamily="18" charset="0"/>
                            </a:rPr>
                            <m:t>2</m:t>
                          </m:r>
                        </m:sub>
                      </m:sSub>
                    </m:oMath>
                  </m:oMathPara>
                </a14:m>
                <a:endParaRPr lang="zh-TW" altLang="en-US" sz="28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17" name="矩形 16"/>
              <p:cNvSpPr>
                <a:spLocks noRot="1" noChangeAspect="1" noMove="1" noResize="1" noEditPoints="1" noAdjustHandles="1" noChangeArrowheads="1" noChangeShapeType="1" noTextEdit="1"/>
              </p:cNvSpPr>
              <p:nvPr/>
            </p:nvSpPr>
            <p:spPr>
              <a:xfrm>
                <a:off x="6968692" y="5902143"/>
                <a:ext cx="1953929" cy="654291"/>
              </a:xfrm>
              <a:prstGeom prst="rect">
                <a:avLst/>
              </a:prstGeom>
              <a:blipFill>
                <a:blip r:embed="rId6"/>
                <a:stretch>
                  <a:fillRect/>
                </a:stretch>
              </a:blipFill>
              <a:ln w="38100">
                <a:solidFill>
                  <a:schemeClr val="accent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8" name="矩形 17"/>
              <p:cNvSpPr/>
              <p:nvPr/>
            </p:nvSpPr>
            <p:spPr>
              <a:xfrm>
                <a:off x="3269382" y="5902143"/>
                <a:ext cx="1953929" cy="654291"/>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800" i="1" dirty="0">
                          <a:solidFill>
                            <a:schemeClr val="tx1"/>
                          </a:solidFill>
                          <a:latin typeface="Cambria Math" panose="02040503050406030204" pitchFamily="18" charset="0"/>
                          <a:cs typeface="Times New Roman" panose="02020603050405020304" pitchFamily="18" charset="0"/>
                        </a:rPr>
                        <m:t>𝑜</m:t>
                      </m:r>
                      <m:sSub>
                        <m:sSubPr>
                          <m:ctrlPr>
                            <a:rPr lang="en-US" altLang="zh-TW" sz="2800" i="1" dirty="0">
                              <a:solidFill>
                                <a:schemeClr val="tx1"/>
                              </a:solidFill>
                              <a:latin typeface="Cambria Math" panose="02040503050406030204" pitchFamily="18" charset="0"/>
                              <a:cs typeface="Times New Roman" panose="02020603050405020304" pitchFamily="18" charset="0"/>
                            </a:rPr>
                          </m:ctrlPr>
                        </m:sSubPr>
                        <m:e>
                          <m:r>
                            <a:rPr lang="en-US" altLang="zh-TW" sz="2800" i="1" dirty="0">
                              <a:solidFill>
                                <a:schemeClr val="tx1"/>
                              </a:solidFill>
                              <a:latin typeface="Cambria Math" panose="02040503050406030204" pitchFamily="18" charset="0"/>
                              <a:cs typeface="Times New Roman" panose="02020603050405020304" pitchFamily="18" charset="0"/>
                            </a:rPr>
                            <m:t>𝑗</m:t>
                          </m:r>
                        </m:e>
                        <m:sub>
                          <m:r>
                            <a:rPr lang="en-US" altLang="zh-TW" sz="2800" i="1" dirty="0">
                              <a:solidFill>
                                <a:schemeClr val="tx1"/>
                              </a:solidFill>
                              <a:latin typeface="Cambria Math" panose="02040503050406030204" pitchFamily="18" charset="0"/>
                              <a:cs typeface="Times New Roman" panose="02020603050405020304" pitchFamily="18" charset="0"/>
                            </a:rPr>
                            <m:t>1</m:t>
                          </m:r>
                        </m:sub>
                      </m:sSub>
                    </m:oMath>
                  </m:oMathPara>
                </a14:m>
                <a:endParaRPr lang="zh-TW" altLang="en-US" sz="28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18" name="矩形 17"/>
              <p:cNvSpPr>
                <a:spLocks noRot="1" noChangeAspect="1" noMove="1" noResize="1" noEditPoints="1" noAdjustHandles="1" noChangeArrowheads="1" noChangeShapeType="1" noTextEdit="1"/>
              </p:cNvSpPr>
              <p:nvPr/>
            </p:nvSpPr>
            <p:spPr>
              <a:xfrm>
                <a:off x="3269382" y="5902143"/>
                <a:ext cx="1953929" cy="654291"/>
              </a:xfrm>
              <a:prstGeom prst="rect">
                <a:avLst/>
              </a:prstGeom>
              <a:blipFill>
                <a:blip r:embed="rId7"/>
                <a:stretch>
                  <a:fillRect/>
                </a:stretch>
              </a:blipFill>
              <a:ln w="38100">
                <a:solidFill>
                  <a:schemeClr val="accent1"/>
                </a:solidFill>
              </a:ln>
            </p:spPr>
            <p:txBody>
              <a:bodyPr/>
              <a:lstStyle/>
              <a:p>
                <a:r>
                  <a:rPr lang="zh-TW" altLang="en-US">
                    <a:noFill/>
                  </a:rPr>
                  <a:t> </a:t>
                </a:r>
              </a:p>
            </p:txBody>
          </p:sp>
        </mc:Fallback>
      </mc:AlternateContent>
      <p:cxnSp>
        <p:nvCxnSpPr>
          <p:cNvPr id="19" name="直線單箭頭接點 18"/>
          <p:cNvCxnSpPr>
            <a:stCxn id="15" idx="3"/>
            <a:endCxn id="16" idx="1"/>
          </p:cNvCxnSpPr>
          <p:nvPr/>
        </p:nvCxnSpPr>
        <p:spPr>
          <a:xfrm>
            <a:off x="5223311" y="5207154"/>
            <a:ext cx="1745381" cy="0"/>
          </a:xfrm>
          <a:prstGeom prst="straightConnector1">
            <a:avLst/>
          </a:prstGeom>
          <a:ln w="28575">
            <a:solidFill>
              <a:srgbClr val="FF0000"/>
            </a:solidFill>
            <a:prstDash val="dashDot"/>
            <a:tailEnd type="triangle"/>
          </a:ln>
        </p:spPr>
        <p:style>
          <a:lnRef idx="1">
            <a:schemeClr val="accent1"/>
          </a:lnRef>
          <a:fillRef idx="0">
            <a:schemeClr val="accent1"/>
          </a:fillRef>
          <a:effectRef idx="0">
            <a:schemeClr val="accent1"/>
          </a:effectRef>
          <a:fontRef idx="minor">
            <a:schemeClr val="tx1"/>
          </a:fontRef>
        </p:style>
      </p:cxnSp>
      <p:cxnSp>
        <p:nvCxnSpPr>
          <p:cNvPr id="20" name="直線單箭頭接點 19"/>
          <p:cNvCxnSpPr>
            <a:stCxn id="16" idx="2"/>
            <a:endCxn id="17" idx="0"/>
          </p:cNvCxnSpPr>
          <p:nvPr/>
        </p:nvCxnSpPr>
        <p:spPr>
          <a:xfrm>
            <a:off x="7945656" y="5534300"/>
            <a:ext cx="0" cy="367843"/>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線單箭頭接點 20"/>
          <p:cNvCxnSpPr>
            <a:stCxn id="17" idx="1"/>
            <a:endCxn id="18" idx="3"/>
          </p:cNvCxnSpPr>
          <p:nvPr/>
        </p:nvCxnSpPr>
        <p:spPr>
          <a:xfrm flipH="1">
            <a:off x="5223311" y="6229288"/>
            <a:ext cx="1745381" cy="0"/>
          </a:xfrm>
          <a:prstGeom prst="straightConnector1">
            <a:avLst/>
          </a:prstGeom>
          <a:ln w="28575">
            <a:solidFill>
              <a:srgbClr val="FF0000"/>
            </a:solidFill>
            <a:prstDash val="dash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80416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884000" y="90001"/>
            <a:ext cx="7886700" cy="1325563"/>
          </a:xfrm>
        </p:spPr>
        <p:txBody>
          <a:bodyPr>
            <a:normAutofit/>
          </a:bodyPr>
          <a:lstStyle/>
          <a:p>
            <a:r>
              <a:rPr lang="en-US" altLang="zh-TW" sz="3600" dirty="0">
                <a:solidFill>
                  <a:srgbClr val="0000FF"/>
                </a:solidFill>
                <a:latin typeface="Times New Roman" panose="02020603050405020304" pitchFamily="18" charset="0"/>
                <a:cs typeface="Times New Roman" panose="02020603050405020304" pitchFamily="18" charset="0"/>
              </a:rPr>
              <a:t>Maximum 3-dimensional Matching Bounded by 3 (MAX 3DM-3) Problem</a:t>
            </a:r>
            <a:endParaRPr lang="zh-TW" altLang="en-US" sz="3600" dirty="0">
              <a:solidFill>
                <a:srgbClr val="0000FF"/>
              </a:solidFill>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a:xfrm>
                <a:off x="838200" y="1649093"/>
                <a:ext cx="10515600" cy="4351338"/>
              </a:xfrm>
            </p:spPr>
            <p:txBody>
              <a:bodyPr/>
              <a:lstStyle/>
              <a:p>
                <a:r>
                  <a:rPr lang="en-US" altLang="zh-TW" dirty="0">
                    <a:latin typeface="Times New Roman" panose="02020603050405020304" pitchFamily="18" charset="0"/>
                    <a:cs typeface="Times New Roman" panose="02020603050405020304" pitchFamily="18" charset="0"/>
                  </a:rPr>
                  <a:t>Input:</a:t>
                </a:r>
              </a:p>
              <a:p>
                <a:pPr marL="457189" lvl="1" indent="0">
                  <a:buNone/>
                </a:pPr>
                <a:r>
                  <a:rPr lang="en-US" altLang="zh-TW" dirty="0">
                    <a:latin typeface="Times New Roman" panose="02020603050405020304" pitchFamily="18" charset="0"/>
                    <a:cs typeface="Times New Roman" panose="02020603050405020304" pitchFamily="18" charset="0"/>
                  </a:rPr>
                  <a:t>A set </a:t>
                </a:r>
                <a14:m>
                  <m:oMath xmlns:m="http://schemas.openxmlformats.org/officeDocument/2006/math">
                    <m:r>
                      <a:rPr lang="en-US" altLang="zh-TW" b="0" i="1" smtClean="0">
                        <a:latin typeface="Cambria Math" panose="02040503050406030204" pitchFamily="18" charset="0"/>
                      </a:rPr>
                      <m:t>𝑀</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𝑋</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𝑌</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𝑍</m:t>
                    </m:r>
                  </m:oMath>
                </a14:m>
                <a:r>
                  <a:rPr lang="en-US" altLang="zh-TW" dirty="0">
                    <a:latin typeface="Times New Roman" panose="02020603050405020304" pitchFamily="18" charset="0"/>
                    <a:cs typeface="Times New Roman" panose="02020603050405020304" pitchFamily="18" charset="0"/>
                  </a:rPr>
                  <a:t>, where </a:t>
                </a:r>
                <a14:m>
                  <m:oMath xmlns:m="http://schemas.openxmlformats.org/officeDocument/2006/math">
                    <m:r>
                      <a:rPr lang="en-US" altLang="zh-TW" i="1" dirty="0" smtClean="0">
                        <a:latin typeface="Cambria Math" panose="02040503050406030204" pitchFamily="18" charset="0"/>
                      </a:rPr>
                      <m:t>𝑋</m:t>
                    </m:r>
                  </m:oMath>
                </a14:m>
                <a:r>
                  <a:rPr lang="en-US" altLang="zh-TW" dirty="0">
                    <a:latin typeface="Times New Roman" panose="02020603050405020304" pitchFamily="18" charset="0"/>
                    <a:cs typeface="Times New Roman" panose="02020603050405020304" pitchFamily="18" charset="0"/>
                  </a:rPr>
                  <a:t>, </a:t>
                </a:r>
                <a14:m>
                  <m:oMath xmlns:m="http://schemas.openxmlformats.org/officeDocument/2006/math">
                    <m:r>
                      <a:rPr lang="en-US" altLang="zh-TW" i="1" dirty="0" smtClean="0">
                        <a:latin typeface="Cambria Math" panose="02040503050406030204" pitchFamily="18" charset="0"/>
                      </a:rPr>
                      <m:t>𝑌</m:t>
                    </m:r>
                  </m:oMath>
                </a14:m>
                <a:r>
                  <a:rPr lang="en-US" altLang="zh-TW" dirty="0">
                    <a:latin typeface="Times New Roman" panose="02020603050405020304" pitchFamily="18" charset="0"/>
                    <a:cs typeface="Times New Roman" panose="02020603050405020304" pitchFamily="18" charset="0"/>
                  </a:rPr>
                  <a:t> and </a:t>
                </a:r>
                <a14:m>
                  <m:oMath xmlns:m="http://schemas.openxmlformats.org/officeDocument/2006/math">
                    <m:r>
                      <a:rPr lang="en-US" altLang="zh-TW" i="1" dirty="0" smtClean="0">
                        <a:latin typeface="Cambria Math" panose="02040503050406030204" pitchFamily="18" charset="0"/>
                      </a:rPr>
                      <m:t>𝑍</m:t>
                    </m:r>
                  </m:oMath>
                </a14:m>
                <a:r>
                  <a:rPr lang="en-US" altLang="zh-TW" dirty="0">
                    <a:latin typeface="Times New Roman" panose="02020603050405020304" pitchFamily="18" charset="0"/>
                    <a:cs typeface="Times New Roman" panose="02020603050405020304" pitchFamily="18" charset="0"/>
                  </a:rPr>
                  <a:t> are disjoint finite sets.</a:t>
                </a:r>
                <a:r>
                  <a:rPr lang="en-US" altLang="zh-TW" dirty="0">
                    <a:effectLst/>
                    <a:latin typeface="Times New Roman" panose="02020603050405020304" pitchFamily="18" charset="0"/>
                    <a:cs typeface="Times New Roman" panose="02020603050405020304" pitchFamily="18" charset="0"/>
                  </a:rPr>
                  <a:t> The number of occurrences in </a:t>
                </a:r>
                <a14:m>
                  <m:oMath xmlns:m="http://schemas.openxmlformats.org/officeDocument/2006/math">
                    <m:r>
                      <a:rPr lang="en-US" altLang="zh-TW" i="1" dirty="0" smtClean="0">
                        <a:effectLst/>
                        <a:latin typeface="Cambria Math" panose="02040503050406030204" pitchFamily="18" charset="0"/>
                      </a:rPr>
                      <m:t>𝑀</m:t>
                    </m:r>
                  </m:oMath>
                </a14:m>
                <a:r>
                  <a:rPr lang="en-US" altLang="zh-TW" dirty="0">
                    <a:effectLst/>
                    <a:latin typeface="Times New Roman" panose="02020603050405020304" pitchFamily="18" charset="0"/>
                    <a:cs typeface="Times New Roman" panose="02020603050405020304" pitchFamily="18" charset="0"/>
                  </a:rPr>
                  <a:t> of an element in </a:t>
                </a:r>
                <a14:m>
                  <m:oMath xmlns:m="http://schemas.openxmlformats.org/officeDocument/2006/math">
                    <m:r>
                      <a:rPr lang="en-US" altLang="zh-TW" i="1" dirty="0" smtClean="0">
                        <a:effectLst/>
                        <a:latin typeface="Cambria Math" panose="02040503050406030204" pitchFamily="18" charset="0"/>
                      </a:rPr>
                      <m:t>𝑋</m:t>
                    </m:r>
                  </m:oMath>
                </a14:m>
                <a:r>
                  <a:rPr lang="en-US" altLang="zh-TW" dirty="0">
                    <a:effectLst/>
                    <a:latin typeface="Times New Roman" panose="02020603050405020304" pitchFamily="18" charset="0"/>
                    <a:cs typeface="Times New Roman" panose="02020603050405020304" pitchFamily="18" charset="0"/>
                  </a:rPr>
                  <a:t>, </a:t>
                </a:r>
                <a14:m>
                  <m:oMath xmlns:m="http://schemas.openxmlformats.org/officeDocument/2006/math">
                    <m:r>
                      <a:rPr lang="en-US" altLang="zh-TW" i="1" dirty="0" smtClean="0">
                        <a:effectLst/>
                        <a:latin typeface="Cambria Math" panose="02040503050406030204" pitchFamily="18" charset="0"/>
                      </a:rPr>
                      <m:t>𝑌</m:t>
                    </m:r>
                  </m:oMath>
                </a14:m>
                <a:r>
                  <a:rPr lang="en-US" altLang="zh-TW" dirty="0">
                    <a:effectLst/>
                    <a:latin typeface="Times New Roman" panose="02020603050405020304" pitchFamily="18" charset="0"/>
                    <a:cs typeface="Times New Roman" panose="02020603050405020304" pitchFamily="18" charset="0"/>
                  </a:rPr>
                  <a:t> or </a:t>
                </a:r>
                <a14:m>
                  <m:oMath xmlns:m="http://schemas.openxmlformats.org/officeDocument/2006/math">
                    <m:r>
                      <a:rPr lang="en-US" altLang="zh-TW" i="1" dirty="0" smtClean="0">
                        <a:effectLst/>
                        <a:latin typeface="Cambria Math" panose="02040503050406030204" pitchFamily="18" charset="0"/>
                      </a:rPr>
                      <m:t>𝑍</m:t>
                    </m:r>
                  </m:oMath>
                </a14:m>
                <a:r>
                  <a:rPr lang="en-US" altLang="zh-TW" dirty="0">
                    <a:effectLst/>
                    <a:latin typeface="Times New Roman" panose="02020603050405020304" pitchFamily="18" charset="0"/>
                    <a:cs typeface="Times New Roman" panose="02020603050405020304" pitchFamily="18" charset="0"/>
                  </a:rPr>
                  <a:t> is bounded by a constant 3.</a:t>
                </a: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Output: </a:t>
                </a:r>
              </a:p>
              <a:p>
                <a:pPr marL="457189" lvl="1" indent="0">
                  <a:buNone/>
                </a:pPr>
                <a:r>
                  <a:rPr lang="en-US" altLang="zh-TW" dirty="0">
                    <a:effectLst/>
                    <a:latin typeface="Times New Roman" panose="02020603050405020304" pitchFamily="18" charset="0"/>
                    <a:cs typeface="Times New Roman" panose="02020603050405020304" pitchFamily="18" charset="0"/>
                  </a:rPr>
                  <a:t>The largest number of 3-dimensional matching.</a:t>
                </a:r>
                <a:endParaRPr lang="en-US" altLang="zh-TW" dirty="0">
                  <a:latin typeface="Times New Roman" panose="02020603050405020304" pitchFamily="18" charset="0"/>
                  <a:cs typeface="Times New Roman" panose="02020603050405020304" pitchFamily="18" charset="0"/>
                </a:endParaRPr>
              </a:p>
              <a:p>
                <a:pPr marL="457189" lvl="1" indent="0">
                  <a:buNone/>
                </a:pPr>
                <a:endParaRPr lang="en-US" altLang="zh-TW" dirty="0">
                  <a:latin typeface="Times New Roman" panose="02020603050405020304" pitchFamily="18" charset="0"/>
                  <a:cs typeface="Times New Roman" panose="02020603050405020304" pitchFamily="18" charset="0"/>
                </a:endParaRP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838200" y="1649093"/>
                <a:ext cx="10515600" cy="4351338"/>
              </a:xfrm>
              <a:blipFill>
                <a:blip r:embed="rId2"/>
                <a:stretch>
                  <a:fillRect l="-1043" t="-2525"/>
                </a:stretch>
              </a:blipFill>
            </p:spPr>
            <p:txBody>
              <a:bodyPr/>
              <a:lstStyle/>
              <a:p>
                <a:r>
                  <a:rPr lang="zh-TW" altLang="en-US">
                    <a:noFill/>
                  </a:rPr>
                  <a:t> </a:t>
                </a:r>
              </a:p>
            </p:txBody>
          </p:sp>
        </mc:Fallback>
      </mc:AlternateContent>
      <p:sp>
        <p:nvSpPr>
          <p:cNvPr id="7" name="投影片編號版面配置區 6"/>
          <p:cNvSpPr>
            <a:spLocks noGrp="1"/>
          </p:cNvSpPr>
          <p:nvPr>
            <p:ph type="sldNum" sz="quarter" idx="12"/>
          </p:nvPr>
        </p:nvSpPr>
        <p:spPr/>
        <p:txBody>
          <a:bodyPr/>
          <a:lstStyle/>
          <a:p>
            <a:fld id="{94E68DAE-EF83-4FCC-B6FB-C1C4C9A086BA}" type="slidenum">
              <a:rPr lang="zh-TW" altLang="en-US" smtClean="0"/>
              <a:t>17</a:t>
            </a:fld>
            <a:endParaRPr lang="zh-TW" altLang="en-US"/>
          </a:p>
        </p:txBody>
      </p:sp>
      <mc:AlternateContent xmlns:mc="http://schemas.openxmlformats.org/markup-compatibility/2006">
        <mc:Choice xmlns:a14="http://schemas.microsoft.com/office/drawing/2010/main" Requires="a14">
          <p:sp>
            <p:nvSpPr>
              <p:cNvPr id="71" name="文字方塊 70"/>
              <p:cNvSpPr txBox="1"/>
              <p:nvPr/>
            </p:nvSpPr>
            <p:spPr>
              <a:xfrm>
                <a:off x="1884000" y="4098417"/>
                <a:ext cx="3037050" cy="177709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i="1">
                          <a:latin typeface="Cambria Math" panose="02040503050406030204" pitchFamily="18" charset="0"/>
                        </a:rPr>
                        <m:t>𝑀</m:t>
                      </m:r>
                      <m:r>
                        <a:rPr lang="en-US" altLang="zh-TW" sz="2800" i="1">
                          <a:latin typeface="Cambria Math" panose="02040503050406030204" pitchFamily="18" charset="0"/>
                        </a:rPr>
                        <m:t>=</m:t>
                      </m:r>
                      <m:d>
                        <m:dPr>
                          <m:begChr m:val="{"/>
                          <m:endChr m:val="}"/>
                          <m:ctrlPr>
                            <a:rPr lang="en-US" altLang="zh-TW" sz="2800" i="1">
                              <a:latin typeface="Cambria Math" panose="02040503050406030204" pitchFamily="18" charset="0"/>
                            </a:rPr>
                          </m:ctrlPr>
                        </m:dPr>
                        <m:e>
                          <m:eqArr>
                            <m:eqArrPr>
                              <m:ctrlPr>
                                <a:rPr lang="en-US" altLang="zh-TW" sz="2800" i="1">
                                  <a:latin typeface="Cambria Math" panose="02040503050406030204" pitchFamily="18" charset="0"/>
                                </a:rPr>
                              </m:ctrlPr>
                            </m:eqArrPr>
                            <m:e>
                              <m:d>
                                <m:dPr>
                                  <m:ctrlPr>
                                    <a:rPr lang="en-US" altLang="zh-TW" sz="2800" i="1">
                                      <a:solidFill>
                                        <a:srgbClr val="FF0000"/>
                                      </a:solidFill>
                                      <a:latin typeface="Cambria Math" panose="02040503050406030204" pitchFamily="18" charset="0"/>
                                    </a:rPr>
                                  </m:ctrlPr>
                                </m:dPr>
                                <m:e>
                                  <m:sSub>
                                    <m:sSubPr>
                                      <m:ctrlPr>
                                        <a:rPr lang="en-US" altLang="zh-TW" sz="2800" i="1">
                                          <a:solidFill>
                                            <a:srgbClr val="FF0000"/>
                                          </a:solidFill>
                                          <a:latin typeface="Cambria Math" panose="02040503050406030204" pitchFamily="18" charset="0"/>
                                        </a:rPr>
                                      </m:ctrlPr>
                                    </m:sSubPr>
                                    <m:e>
                                      <m:r>
                                        <a:rPr lang="en-US" altLang="zh-TW" sz="2800" i="1">
                                          <a:solidFill>
                                            <a:srgbClr val="FF0000"/>
                                          </a:solidFill>
                                          <a:latin typeface="Cambria Math" panose="02040503050406030204" pitchFamily="18" charset="0"/>
                                        </a:rPr>
                                        <m:t>𝑥</m:t>
                                      </m:r>
                                    </m:e>
                                    <m:sub>
                                      <m:r>
                                        <a:rPr lang="en-US" altLang="zh-TW" sz="2800" i="1">
                                          <a:solidFill>
                                            <a:srgbClr val="FF0000"/>
                                          </a:solidFill>
                                          <a:latin typeface="Cambria Math" panose="02040503050406030204" pitchFamily="18" charset="0"/>
                                        </a:rPr>
                                        <m:t>1</m:t>
                                      </m:r>
                                    </m:sub>
                                  </m:sSub>
                                  <m:r>
                                    <a:rPr lang="en-US" altLang="zh-TW" sz="2800" i="1">
                                      <a:solidFill>
                                        <a:srgbClr val="FF0000"/>
                                      </a:solidFill>
                                      <a:latin typeface="Cambria Math" panose="02040503050406030204" pitchFamily="18" charset="0"/>
                                    </a:rPr>
                                    <m:t>,</m:t>
                                  </m:r>
                                  <m:sSub>
                                    <m:sSubPr>
                                      <m:ctrlPr>
                                        <a:rPr lang="en-US" altLang="zh-TW" sz="2800" i="1">
                                          <a:solidFill>
                                            <a:srgbClr val="FF0000"/>
                                          </a:solidFill>
                                          <a:latin typeface="Cambria Math" panose="02040503050406030204" pitchFamily="18" charset="0"/>
                                        </a:rPr>
                                      </m:ctrlPr>
                                    </m:sSubPr>
                                    <m:e>
                                      <m:r>
                                        <a:rPr lang="en-US" altLang="zh-TW" sz="2800" i="1">
                                          <a:solidFill>
                                            <a:srgbClr val="FF0000"/>
                                          </a:solidFill>
                                          <a:latin typeface="Cambria Math" panose="02040503050406030204" pitchFamily="18" charset="0"/>
                                        </a:rPr>
                                        <m:t>𝑦</m:t>
                                      </m:r>
                                    </m:e>
                                    <m:sub>
                                      <m:r>
                                        <a:rPr lang="en-US" altLang="zh-TW" sz="2800" i="1">
                                          <a:solidFill>
                                            <a:srgbClr val="FF0000"/>
                                          </a:solidFill>
                                          <a:latin typeface="Cambria Math" panose="02040503050406030204" pitchFamily="18" charset="0"/>
                                        </a:rPr>
                                        <m:t>1</m:t>
                                      </m:r>
                                    </m:sub>
                                  </m:sSub>
                                  <m:r>
                                    <a:rPr lang="en-US" altLang="zh-TW" sz="2800" i="1">
                                      <a:solidFill>
                                        <a:srgbClr val="FF0000"/>
                                      </a:solidFill>
                                      <a:latin typeface="Cambria Math" panose="02040503050406030204" pitchFamily="18" charset="0"/>
                                    </a:rPr>
                                    <m:t>,</m:t>
                                  </m:r>
                                  <m:sSub>
                                    <m:sSubPr>
                                      <m:ctrlPr>
                                        <a:rPr lang="en-US" altLang="zh-TW" sz="2800" i="1">
                                          <a:solidFill>
                                            <a:srgbClr val="FF0000"/>
                                          </a:solidFill>
                                          <a:latin typeface="Cambria Math" panose="02040503050406030204" pitchFamily="18" charset="0"/>
                                        </a:rPr>
                                      </m:ctrlPr>
                                    </m:sSubPr>
                                    <m:e>
                                      <m:r>
                                        <a:rPr lang="en-US" altLang="zh-TW" sz="2800" i="1">
                                          <a:solidFill>
                                            <a:srgbClr val="FF0000"/>
                                          </a:solidFill>
                                          <a:latin typeface="Cambria Math" panose="02040503050406030204" pitchFamily="18" charset="0"/>
                                        </a:rPr>
                                        <m:t>𝑧</m:t>
                                      </m:r>
                                    </m:e>
                                    <m:sub>
                                      <m:r>
                                        <a:rPr lang="en-US" altLang="zh-TW" sz="2800" i="1">
                                          <a:solidFill>
                                            <a:srgbClr val="FF0000"/>
                                          </a:solidFill>
                                          <a:latin typeface="Cambria Math" panose="02040503050406030204" pitchFamily="18" charset="0"/>
                                        </a:rPr>
                                        <m:t>1</m:t>
                                      </m:r>
                                    </m:sub>
                                  </m:sSub>
                                </m:e>
                              </m:d>
                              <m:r>
                                <a:rPr lang="en-US" altLang="zh-TW" sz="2800" i="1">
                                  <a:latin typeface="Cambria Math" panose="02040503050406030204" pitchFamily="18" charset="0"/>
                                </a:rPr>
                                <m:t>,</m:t>
                              </m:r>
                            </m:e>
                            <m:e>
                              <m:d>
                                <m:dPr>
                                  <m:ctrlPr>
                                    <a:rPr lang="en-US" altLang="zh-TW" sz="2800" i="1">
                                      <a:solidFill>
                                        <a:srgbClr val="0000FF"/>
                                      </a:solidFill>
                                      <a:latin typeface="Cambria Math" panose="02040503050406030204" pitchFamily="18" charset="0"/>
                                    </a:rPr>
                                  </m:ctrlPr>
                                </m:dPr>
                                <m:e>
                                  <m:sSub>
                                    <m:sSubPr>
                                      <m:ctrlPr>
                                        <a:rPr lang="en-US" altLang="zh-TW" sz="2800" i="1">
                                          <a:solidFill>
                                            <a:srgbClr val="0000FF"/>
                                          </a:solidFill>
                                          <a:latin typeface="Cambria Math" panose="02040503050406030204" pitchFamily="18" charset="0"/>
                                        </a:rPr>
                                      </m:ctrlPr>
                                    </m:sSubPr>
                                    <m:e>
                                      <m:r>
                                        <a:rPr lang="en-US" altLang="zh-TW" sz="2800" i="1">
                                          <a:solidFill>
                                            <a:srgbClr val="0000FF"/>
                                          </a:solidFill>
                                          <a:latin typeface="Cambria Math" panose="02040503050406030204" pitchFamily="18" charset="0"/>
                                        </a:rPr>
                                        <m:t>𝑥</m:t>
                                      </m:r>
                                    </m:e>
                                    <m:sub>
                                      <m:r>
                                        <a:rPr lang="en-US" altLang="zh-TW" sz="2800" i="1">
                                          <a:solidFill>
                                            <a:srgbClr val="0000FF"/>
                                          </a:solidFill>
                                          <a:latin typeface="Cambria Math" panose="02040503050406030204" pitchFamily="18" charset="0"/>
                                        </a:rPr>
                                        <m:t>1</m:t>
                                      </m:r>
                                    </m:sub>
                                  </m:sSub>
                                  <m:r>
                                    <a:rPr lang="en-US" altLang="zh-TW" sz="2800" i="1">
                                      <a:solidFill>
                                        <a:srgbClr val="0000FF"/>
                                      </a:solidFill>
                                      <a:latin typeface="Cambria Math" panose="02040503050406030204" pitchFamily="18" charset="0"/>
                                    </a:rPr>
                                    <m:t>,</m:t>
                                  </m:r>
                                  <m:sSub>
                                    <m:sSubPr>
                                      <m:ctrlPr>
                                        <a:rPr lang="en-US" altLang="zh-TW" sz="2800" i="1">
                                          <a:solidFill>
                                            <a:srgbClr val="0000FF"/>
                                          </a:solidFill>
                                          <a:latin typeface="Cambria Math" panose="02040503050406030204" pitchFamily="18" charset="0"/>
                                        </a:rPr>
                                      </m:ctrlPr>
                                    </m:sSubPr>
                                    <m:e>
                                      <m:r>
                                        <a:rPr lang="en-US" altLang="zh-TW" sz="2800" i="1">
                                          <a:solidFill>
                                            <a:srgbClr val="0000FF"/>
                                          </a:solidFill>
                                          <a:latin typeface="Cambria Math" panose="02040503050406030204" pitchFamily="18" charset="0"/>
                                        </a:rPr>
                                        <m:t>𝑦</m:t>
                                      </m:r>
                                    </m:e>
                                    <m:sub>
                                      <m:r>
                                        <a:rPr lang="en-US" altLang="zh-TW" sz="2800" i="1">
                                          <a:solidFill>
                                            <a:srgbClr val="0000FF"/>
                                          </a:solidFill>
                                          <a:latin typeface="Cambria Math" panose="02040503050406030204" pitchFamily="18" charset="0"/>
                                        </a:rPr>
                                        <m:t>2</m:t>
                                      </m:r>
                                    </m:sub>
                                  </m:sSub>
                                  <m:r>
                                    <a:rPr lang="en-US" altLang="zh-TW" sz="2800" i="1">
                                      <a:solidFill>
                                        <a:srgbClr val="0000FF"/>
                                      </a:solidFill>
                                      <a:latin typeface="Cambria Math" panose="02040503050406030204" pitchFamily="18" charset="0"/>
                                    </a:rPr>
                                    <m:t>,</m:t>
                                  </m:r>
                                  <m:sSub>
                                    <m:sSubPr>
                                      <m:ctrlPr>
                                        <a:rPr lang="en-US" altLang="zh-TW" sz="2800" i="1">
                                          <a:solidFill>
                                            <a:srgbClr val="0000FF"/>
                                          </a:solidFill>
                                          <a:latin typeface="Cambria Math" panose="02040503050406030204" pitchFamily="18" charset="0"/>
                                        </a:rPr>
                                      </m:ctrlPr>
                                    </m:sSubPr>
                                    <m:e>
                                      <m:r>
                                        <a:rPr lang="en-US" altLang="zh-TW" sz="2800" i="1">
                                          <a:solidFill>
                                            <a:srgbClr val="0000FF"/>
                                          </a:solidFill>
                                          <a:latin typeface="Cambria Math" panose="02040503050406030204" pitchFamily="18" charset="0"/>
                                        </a:rPr>
                                        <m:t>𝑧</m:t>
                                      </m:r>
                                    </m:e>
                                    <m:sub>
                                      <m:r>
                                        <a:rPr lang="en-US" altLang="zh-TW" sz="2800" i="1">
                                          <a:solidFill>
                                            <a:srgbClr val="0000FF"/>
                                          </a:solidFill>
                                          <a:latin typeface="Cambria Math" panose="02040503050406030204" pitchFamily="18" charset="0"/>
                                        </a:rPr>
                                        <m:t>2</m:t>
                                      </m:r>
                                    </m:sub>
                                  </m:sSub>
                                </m:e>
                              </m:d>
                              <m:r>
                                <a:rPr lang="en-US" altLang="zh-TW" sz="2800" i="1">
                                  <a:latin typeface="Cambria Math" panose="02040503050406030204" pitchFamily="18" charset="0"/>
                                </a:rPr>
                                <m:t>,</m:t>
                              </m:r>
                            </m:e>
                            <m:e>
                              <m:d>
                                <m:dPr>
                                  <m:ctrlPr>
                                    <a:rPr lang="en-US" altLang="zh-TW" sz="2800" i="1">
                                      <a:solidFill>
                                        <a:schemeClr val="accent6"/>
                                      </a:solidFill>
                                      <a:latin typeface="Cambria Math" panose="02040503050406030204" pitchFamily="18" charset="0"/>
                                    </a:rPr>
                                  </m:ctrlPr>
                                </m:dPr>
                                <m:e>
                                  <m:sSub>
                                    <m:sSubPr>
                                      <m:ctrlPr>
                                        <a:rPr lang="en-US" altLang="zh-TW" sz="2800" i="1">
                                          <a:solidFill>
                                            <a:schemeClr val="accent6"/>
                                          </a:solidFill>
                                          <a:latin typeface="Cambria Math" panose="02040503050406030204" pitchFamily="18" charset="0"/>
                                        </a:rPr>
                                      </m:ctrlPr>
                                    </m:sSubPr>
                                    <m:e>
                                      <m:r>
                                        <a:rPr lang="en-US" altLang="zh-TW" sz="2800" i="1">
                                          <a:solidFill>
                                            <a:schemeClr val="accent6"/>
                                          </a:solidFill>
                                          <a:latin typeface="Cambria Math" panose="02040503050406030204" pitchFamily="18" charset="0"/>
                                        </a:rPr>
                                        <m:t>𝑥</m:t>
                                      </m:r>
                                    </m:e>
                                    <m:sub>
                                      <m:r>
                                        <a:rPr lang="en-US" altLang="zh-TW" sz="2800" i="1">
                                          <a:solidFill>
                                            <a:schemeClr val="accent6"/>
                                          </a:solidFill>
                                          <a:latin typeface="Cambria Math" panose="02040503050406030204" pitchFamily="18" charset="0"/>
                                        </a:rPr>
                                        <m:t>2</m:t>
                                      </m:r>
                                    </m:sub>
                                  </m:sSub>
                                  <m:r>
                                    <a:rPr lang="en-US" altLang="zh-TW" sz="2800" i="1">
                                      <a:solidFill>
                                        <a:schemeClr val="accent6"/>
                                      </a:solidFill>
                                      <a:latin typeface="Cambria Math" panose="02040503050406030204" pitchFamily="18" charset="0"/>
                                    </a:rPr>
                                    <m:t>,</m:t>
                                  </m:r>
                                  <m:sSub>
                                    <m:sSubPr>
                                      <m:ctrlPr>
                                        <a:rPr lang="en-US" altLang="zh-TW" sz="2800" i="1">
                                          <a:solidFill>
                                            <a:schemeClr val="accent6"/>
                                          </a:solidFill>
                                          <a:latin typeface="Cambria Math" panose="02040503050406030204" pitchFamily="18" charset="0"/>
                                        </a:rPr>
                                      </m:ctrlPr>
                                    </m:sSubPr>
                                    <m:e>
                                      <m:r>
                                        <a:rPr lang="en-US" altLang="zh-TW" sz="2800" i="1">
                                          <a:solidFill>
                                            <a:schemeClr val="accent6"/>
                                          </a:solidFill>
                                          <a:latin typeface="Cambria Math" panose="02040503050406030204" pitchFamily="18" charset="0"/>
                                        </a:rPr>
                                        <m:t>𝑦</m:t>
                                      </m:r>
                                    </m:e>
                                    <m:sub>
                                      <m:r>
                                        <a:rPr lang="en-US" altLang="zh-TW" sz="2800" i="1">
                                          <a:solidFill>
                                            <a:schemeClr val="accent6"/>
                                          </a:solidFill>
                                          <a:latin typeface="Cambria Math" panose="02040503050406030204" pitchFamily="18" charset="0"/>
                                        </a:rPr>
                                        <m:t>2</m:t>
                                      </m:r>
                                    </m:sub>
                                  </m:sSub>
                                  <m:r>
                                    <a:rPr lang="en-US" altLang="zh-TW" sz="2800" i="1">
                                      <a:solidFill>
                                        <a:schemeClr val="accent6"/>
                                      </a:solidFill>
                                      <a:latin typeface="Cambria Math" panose="02040503050406030204" pitchFamily="18" charset="0"/>
                                    </a:rPr>
                                    <m:t>,</m:t>
                                  </m:r>
                                  <m:sSub>
                                    <m:sSubPr>
                                      <m:ctrlPr>
                                        <a:rPr lang="en-US" altLang="zh-TW" sz="2800" i="1">
                                          <a:solidFill>
                                            <a:schemeClr val="accent6"/>
                                          </a:solidFill>
                                          <a:latin typeface="Cambria Math" panose="02040503050406030204" pitchFamily="18" charset="0"/>
                                        </a:rPr>
                                      </m:ctrlPr>
                                    </m:sSubPr>
                                    <m:e>
                                      <m:r>
                                        <a:rPr lang="en-US" altLang="zh-TW" sz="2800" i="1">
                                          <a:solidFill>
                                            <a:schemeClr val="accent6"/>
                                          </a:solidFill>
                                          <a:latin typeface="Cambria Math" panose="02040503050406030204" pitchFamily="18" charset="0"/>
                                        </a:rPr>
                                        <m:t>𝑧</m:t>
                                      </m:r>
                                    </m:e>
                                    <m:sub>
                                      <m:r>
                                        <a:rPr lang="en-US" altLang="zh-TW" sz="2800" i="1">
                                          <a:solidFill>
                                            <a:schemeClr val="accent6"/>
                                          </a:solidFill>
                                          <a:latin typeface="Cambria Math" panose="02040503050406030204" pitchFamily="18" charset="0"/>
                                        </a:rPr>
                                        <m:t>1</m:t>
                                      </m:r>
                                    </m:sub>
                                  </m:sSub>
                                </m:e>
                              </m:d>
                              <m:r>
                                <a:rPr lang="en-US" altLang="zh-TW" sz="2800" i="1">
                                  <a:latin typeface="Cambria Math" panose="02040503050406030204" pitchFamily="18" charset="0"/>
                                </a:rPr>
                                <m:t>,</m:t>
                              </m:r>
                            </m:e>
                            <m:e>
                              <m:d>
                                <m:dPr>
                                  <m:ctrlPr>
                                    <a:rPr lang="en-US" altLang="zh-TW" sz="2800" i="1">
                                      <a:latin typeface="Cambria Math" panose="02040503050406030204" pitchFamily="18" charset="0"/>
                                    </a:rPr>
                                  </m:ctrlPr>
                                </m:dPr>
                                <m:e>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𝑥</m:t>
                                      </m:r>
                                    </m:e>
                                    <m:sub>
                                      <m:r>
                                        <a:rPr lang="en-US" altLang="zh-TW" sz="2800" i="1">
                                          <a:latin typeface="Cambria Math" panose="02040503050406030204" pitchFamily="18" charset="0"/>
                                        </a:rPr>
                                        <m:t>3</m:t>
                                      </m:r>
                                    </m:sub>
                                  </m:sSub>
                                  <m:r>
                                    <a:rPr lang="en-US" altLang="zh-TW" sz="2800" i="1">
                                      <a:latin typeface="Cambria Math" panose="02040503050406030204" pitchFamily="18" charset="0"/>
                                    </a:rPr>
                                    <m:t>,</m:t>
                                  </m:r>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𝑦</m:t>
                                      </m:r>
                                    </m:e>
                                    <m:sub>
                                      <m:r>
                                        <a:rPr lang="en-US" altLang="zh-TW" sz="2800" i="1">
                                          <a:latin typeface="Cambria Math" panose="02040503050406030204" pitchFamily="18" charset="0"/>
                                        </a:rPr>
                                        <m:t>2</m:t>
                                      </m:r>
                                    </m:sub>
                                  </m:sSub>
                                  <m:r>
                                    <a:rPr lang="en-US" altLang="zh-TW" sz="2800" i="1">
                                      <a:latin typeface="Cambria Math" panose="02040503050406030204" pitchFamily="18" charset="0"/>
                                    </a:rPr>
                                    <m:t>,</m:t>
                                  </m:r>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𝑧</m:t>
                                      </m:r>
                                    </m:e>
                                    <m:sub>
                                      <m:r>
                                        <a:rPr lang="en-US" altLang="zh-TW" sz="2800" i="1">
                                          <a:latin typeface="Cambria Math" panose="02040503050406030204" pitchFamily="18" charset="0"/>
                                        </a:rPr>
                                        <m:t>3</m:t>
                                      </m:r>
                                    </m:sub>
                                  </m:sSub>
                                </m:e>
                              </m:d>
                              <m:r>
                                <a:rPr lang="en-US" altLang="zh-TW" sz="2800" i="1">
                                  <a:solidFill>
                                    <a:schemeClr val="bg1"/>
                                  </a:solidFill>
                                  <a:latin typeface="Cambria Math" panose="02040503050406030204" pitchFamily="18" charset="0"/>
                                </a:rPr>
                                <m:t>,</m:t>
                              </m:r>
                            </m:e>
                          </m:eqArr>
                        </m:e>
                      </m:d>
                    </m:oMath>
                  </m:oMathPara>
                </a14:m>
                <a:endParaRPr lang="zh-TW" altLang="en-US" sz="2800" dirty="0"/>
              </a:p>
            </p:txBody>
          </p:sp>
        </mc:Choice>
        <mc:Fallback>
          <p:sp>
            <p:nvSpPr>
              <p:cNvPr id="71" name="文字方塊 70"/>
              <p:cNvSpPr txBox="1">
                <a:spLocks noRot="1" noChangeAspect="1" noMove="1" noResize="1" noEditPoints="1" noAdjustHandles="1" noChangeArrowheads="1" noChangeShapeType="1" noTextEdit="1"/>
              </p:cNvSpPr>
              <p:nvPr/>
            </p:nvSpPr>
            <p:spPr>
              <a:xfrm>
                <a:off x="1884000" y="4098417"/>
                <a:ext cx="3037050" cy="1777090"/>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80" name="橢圓 79"/>
              <p:cNvSpPr/>
              <p:nvPr/>
            </p:nvSpPr>
            <p:spPr>
              <a:xfrm>
                <a:off x="5160224" y="4382031"/>
                <a:ext cx="388961" cy="388961"/>
              </a:xfrm>
              <a:prstGeom prst="ellipse">
                <a:avLst/>
              </a:prstGeom>
              <a:solidFill>
                <a:srgbClr val="ED7D31">
                  <a:alpha val="30196"/>
                </a:srgb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i="1">
                              <a:solidFill>
                                <a:sysClr val="windowText" lastClr="000000"/>
                              </a:solidFill>
                              <a:latin typeface="Cambria Math" panose="02040503050406030204" pitchFamily="18" charset="0"/>
                            </a:rPr>
                          </m:ctrlPr>
                        </m:sSubPr>
                        <m:e>
                          <m:r>
                            <a:rPr lang="en-US" altLang="zh-TW" i="1">
                              <a:solidFill>
                                <a:sysClr val="windowText" lastClr="000000"/>
                              </a:solidFill>
                              <a:latin typeface="Cambria Math" panose="02040503050406030204" pitchFamily="18" charset="0"/>
                            </a:rPr>
                            <m:t>𝑥</m:t>
                          </m:r>
                        </m:e>
                        <m:sub>
                          <m:r>
                            <a:rPr lang="en-US" altLang="zh-TW" i="1">
                              <a:solidFill>
                                <a:sysClr val="windowText" lastClr="000000"/>
                              </a:solidFill>
                              <a:latin typeface="Cambria Math" panose="02040503050406030204" pitchFamily="18" charset="0"/>
                            </a:rPr>
                            <m:t>1</m:t>
                          </m:r>
                        </m:sub>
                      </m:sSub>
                    </m:oMath>
                  </m:oMathPara>
                </a14:m>
                <a:endParaRPr lang="zh-TW" altLang="en-US" dirty="0"/>
              </a:p>
            </p:txBody>
          </p:sp>
        </mc:Choice>
        <mc:Fallback>
          <p:sp>
            <p:nvSpPr>
              <p:cNvPr id="80" name="橢圓 79"/>
              <p:cNvSpPr>
                <a:spLocks noRot="1" noChangeAspect="1" noMove="1" noResize="1" noEditPoints="1" noAdjustHandles="1" noChangeArrowheads="1" noChangeShapeType="1" noTextEdit="1"/>
              </p:cNvSpPr>
              <p:nvPr/>
            </p:nvSpPr>
            <p:spPr>
              <a:xfrm>
                <a:off x="5160224" y="4382031"/>
                <a:ext cx="388961" cy="388961"/>
              </a:xfrm>
              <a:prstGeom prst="ellipse">
                <a:avLst/>
              </a:prstGeom>
              <a:blipFill>
                <a:blip r:embed="rId4"/>
                <a:stretch>
                  <a:fillRect/>
                </a:stretch>
              </a:blipFill>
              <a:ln>
                <a:solidFill>
                  <a:schemeClr val="accent2"/>
                </a:solidFill>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81" name="橢圓 80"/>
              <p:cNvSpPr/>
              <p:nvPr/>
            </p:nvSpPr>
            <p:spPr>
              <a:xfrm>
                <a:off x="5160224" y="4950533"/>
                <a:ext cx="388961" cy="388961"/>
              </a:xfrm>
              <a:prstGeom prst="ellipse">
                <a:avLst/>
              </a:prstGeom>
              <a:solidFill>
                <a:srgbClr val="ED7D31">
                  <a:alpha val="30196"/>
                </a:srgb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i="1">
                              <a:solidFill>
                                <a:sysClr val="windowText" lastClr="000000"/>
                              </a:solidFill>
                              <a:latin typeface="Cambria Math" panose="02040503050406030204" pitchFamily="18" charset="0"/>
                            </a:rPr>
                          </m:ctrlPr>
                        </m:sSubPr>
                        <m:e>
                          <m:r>
                            <a:rPr lang="en-US" altLang="zh-TW" i="1">
                              <a:solidFill>
                                <a:sysClr val="windowText" lastClr="000000"/>
                              </a:solidFill>
                              <a:latin typeface="Cambria Math" panose="02040503050406030204" pitchFamily="18" charset="0"/>
                            </a:rPr>
                            <m:t>𝑥</m:t>
                          </m:r>
                        </m:e>
                        <m:sub>
                          <m:r>
                            <a:rPr lang="en-US" altLang="zh-TW" i="1">
                              <a:solidFill>
                                <a:sysClr val="windowText" lastClr="000000"/>
                              </a:solidFill>
                              <a:latin typeface="Cambria Math" panose="02040503050406030204" pitchFamily="18" charset="0"/>
                            </a:rPr>
                            <m:t>2</m:t>
                          </m:r>
                        </m:sub>
                      </m:sSub>
                    </m:oMath>
                  </m:oMathPara>
                </a14:m>
                <a:endParaRPr lang="zh-TW" altLang="en-US" dirty="0">
                  <a:solidFill>
                    <a:sysClr val="windowText" lastClr="000000"/>
                  </a:solidFill>
                </a:endParaRPr>
              </a:p>
            </p:txBody>
          </p:sp>
        </mc:Choice>
        <mc:Fallback>
          <p:sp>
            <p:nvSpPr>
              <p:cNvPr id="81" name="橢圓 80"/>
              <p:cNvSpPr>
                <a:spLocks noRot="1" noChangeAspect="1" noMove="1" noResize="1" noEditPoints="1" noAdjustHandles="1" noChangeArrowheads="1" noChangeShapeType="1" noTextEdit="1"/>
              </p:cNvSpPr>
              <p:nvPr/>
            </p:nvSpPr>
            <p:spPr>
              <a:xfrm>
                <a:off x="5160224" y="4950533"/>
                <a:ext cx="388961" cy="388961"/>
              </a:xfrm>
              <a:prstGeom prst="ellipse">
                <a:avLst/>
              </a:prstGeom>
              <a:blipFill>
                <a:blip r:embed="rId5"/>
                <a:stretch>
                  <a:fillRect/>
                </a:stretch>
              </a:blipFill>
              <a:ln>
                <a:solidFill>
                  <a:schemeClr val="accent2"/>
                </a:solidFill>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82" name="橢圓 81"/>
              <p:cNvSpPr/>
              <p:nvPr/>
            </p:nvSpPr>
            <p:spPr>
              <a:xfrm>
                <a:off x="5160224" y="5519035"/>
                <a:ext cx="388961" cy="388961"/>
              </a:xfrm>
              <a:prstGeom prst="ellipse">
                <a:avLst/>
              </a:prstGeom>
              <a:solidFill>
                <a:srgbClr val="ED7D31">
                  <a:alpha val="30196"/>
                </a:srgb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i="1">
                              <a:solidFill>
                                <a:sysClr val="windowText" lastClr="000000"/>
                              </a:solidFill>
                              <a:latin typeface="Cambria Math" panose="02040503050406030204" pitchFamily="18" charset="0"/>
                            </a:rPr>
                          </m:ctrlPr>
                        </m:sSubPr>
                        <m:e>
                          <m:r>
                            <a:rPr lang="en-US" altLang="zh-TW" i="1">
                              <a:solidFill>
                                <a:sysClr val="windowText" lastClr="000000"/>
                              </a:solidFill>
                              <a:latin typeface="Cambria Math" panose="02040503050406030204" pitchFamily="18" charset="0"/>
                            </a:rPr>
                            <m:t>𝑥</m:t>
                          </m:r>
                        </m:e>
                        <m:sub>
                          <m:r>
                            <a:rPr lang="en-US" altLang="zh-TW" i="1">
                              <a:solidFill>
                                <a:sysClr val="windowText" lastClr="000000"/>
                              </a:solidFill>
                              <a:latin typeface="Cambria Math" panose="02040503050406030204" pitchFamily="18" charset="0"/>
                            </a:rPr>
                            <m:t>3</m:t>
                          </m:r>
                        </m:sub>
                      </m:sSub>
                    </m:oMath>
                  </m:oMathPara>
                </a14:m>
                <a:endParaRPr lang="zh-TW" altLang="en-US" dirty="0">
                  <a:solidFill>
                    <a:sysClr val="windowText" lastClr="000000"/>
                  </a:solidFill>
                </a:endParaRPr>
              </a:p>
            </p:txBody>
          </p:sp>
        </mc:Choice>
        <mc:Fallback>
          <p:sp>
            <p:nvSpPr>
              <p:cNvPr id="82" name="橢圓 81"/>
              <p:cNvSpPr>
                <a:spLocks noRot="1" noChangeAspect="1" noMove="1" noResize="1" noEditPoints="1" noAdjustHandles="1" noChangeArrowheads="1" noChangeShapeType="1" noTextEdit="1"/>
              </p:cNvSpPr>
              <p:nvPr/>
            </p:nvSpPr>
            <p:spPr>
              <a:xfrm>
                <a:off x="5160224" y="5519035"/>
                <a:ext cx="388961" cy="388961"/>
              </a:xfrm>
              <a:prstGeom prst="ellipse">
                <a:avLst/>
              </a:prstGeom>
              <a:blipFill>
                <a:blip r:embed="rId6"/>
                <a:stretch>
                  <a:fillRect/>
                </a:stretch>
              </a:blipFill>
              <a:ln>
                <a:solidFill>
                  <a:schemeClr val="accent2"/>
                </a:solidFill>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83" name="橢圓 82"/>
              <p:cNvSpPr/>
              <p:nvPr/>
            </p:nvSpPr>
            <p:spPr>
              <a:xfrm>
                <a:off x="6083730" y="4382031"/>
                <a:ext cx="388961" cy="388961"/>
              </a:xfrm>
              <a:prstGeom prst="ellipse">
                <a:avLst/>
              </a:prstGeom>
              <a:solidFill>
                <a:schemeClr val="accent1">
                  <a:alpha val="30196"/>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i="1">
                              <a:solidFill>
                                <a:sysClr val="windowText" lastClr="000000"/>
                              </a:solidFill>
                              <a:latin typeface="Cambria Math" panose="02040503050406030204" pitchFamily="18" charset="0"/>
                            </a:rPr>
                          </m:ctrlPr>
                        </m:sSubPr>
                        <m:e>
                          <m:r>
                            <a:rPr lang="en-US" altLang="zh-TW" i="1">
                              <a:solidFill>
                                <a:sysClr val="windowText" lastClr="000000"/>
                              </a:solidFill>
                              <a:latin typeface="Cambria Math" panose="02040503050406030204" pitchFamily="18" charset="0"/>
                            </a:rPr>
                            <m:t>𝑦</m:t>
                          </m:r>
                        </m:e>
                        <m:sub>
                          <m:r>
                            <a:rPr lang="en-US" altLang="zh-TW" i="1">
                              <a:solidFill>
                                <a:sysClr val="windowText" lastClr="000000"/>
                              </a:solidFill>
                              <a:latin typeface="Cambria Math" panose="02040503050406030204" pitchFamily="18" charset="0"/>
                            </a:rPr>
                            <m:t>1</m:t>
                          </m:r>
                        </m:sub>
                      </m:sSub>
                    </m:oMath>
                  </m:oMathPara>
                </a14:m>
                <a:endParaRPr lang="zh-TW" altLang="en-US">
                  <a:solidFill>
                    <a:sysClr val="windowText" lastClr="000000"/>
                  </a:solidFill>
                </a:endParaRPr>
              </a:p>
            </p:txBody>
          </p:sp>
        </mc:Choice>
        <mc:Fallback>
          <p:sp>
            <p:nvSpPr>
              <p:cNvPr id="83" name="橢圓 82"/>
              <p:cNvSpPr>
                <a:spLocks noRot="1" noChangeAspect="1" noMove="1" noResize="1" noEditPoints="1" noAdjustHandles="1" noChangeArrowheads="1" noChangeShapeType="1" noTextEdit="1"/>
              </p:cNvSpPr>
              <p:nvPr/>
            </p:nvSpPr>
            <p:spPr>
              <a:xfrm>
                <a:off x="6083730" y="4382031"/>
                <a:ext cx="388961" cy="388961"/>
              </a:xfrm>
              <a:prstGeom prst="ellipse">
                <a:avLst/>
              </a:prstGeom>
              <a:blipFill>
                <a:blip r:embed="rId7"/>
                <a:stretch>
                  <a:fillRect l="-6061" b="-3030"/>
                </a:stretch>
              </a:blipFill>
              <a:ln>
                <a:solidFill>
                  <a:schemeClr val="accent1"/>
                </a:solidFill>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84" name="橢圓 83"/>
              <p:cNvSpPr/>
              <p:nvPr/>
            </p:nvSpPr>
            <p:spPr>
              <a:xfrm>
                <a:off x="6083729" y="4950532"/>
                <a:ext cx="388961" cy="388961"/>
              </a:xfrm>
              <a:prstGeom prst="ellipse">
                <a:avLst/>
              </a:prstGeom>
              <a:solidFill>
                <a:schemeClr val="accent1">
                  <a:alpha val="30196"/>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i="1">
                              <a:solidFill>
                                <a:sysClr val="windowText" lastClr="000000"/>
                              </a:solidFill>
                              <a:latin typeface="Cambria Math" panose="02040503050406030204" pitchFamily="18" charset="0"/>
                            </a:rPr>
                          </m:ctrlPr>
                        </m:sSubPr>
                        <m:e>
                          <m:r>
                            <a:rPr lang="en-US" altLang="zh-TW" i="1">
                              <a:solidFill>
                                <a:sysClr val="windowText" lastClr="000000"/>
                              </a:solidFill>
                              <a:latin typeface="Cambria Math" panose="02040503050406030204" pitchFamily="18" charset="0"/>
                            </a:rPr>
                            <m:t>𝑦</m:t>
                          </m:r>
                        </m:e>
                        <m:sub>
                          <m:r>
                            <a:rPr lang="en-US" altLang="zh-TW" i="1">
                              <a:solidFill>
                                <a:sysClr val="windowText" lastClr="000000"/>
                              </a:solidFill>
                              <a:latin typeface="Cambria Math" panose="02040503050406030204" pitchFamily="18" charset="0"/>
                            </a:rPr>
                            <m:t>2</m:t>
                          </m:r>
                        </m:sub>
                      </m:sSub>
                    </m:oMath>
                  </m:oMathPara>
                </a14:m>
                <a:endParaRPr lang="zh-TW" altLang="en-US">
                  <a:solidFill>
                    <a:sysClr val="windowText" lastClr="000000"/>
                  </a:solidFill>
                </a:endParaRPr>
              </a:p>
            </p:txBody>
          </p:sp>
        </mc:Choice>
        <mc:Fallback>
          <p:sp>
            <p:nvSpPr>
              <p:cNvPr id="84" name="橢圓 83"/>
              <p:cNvSpPr>
                <a:spLocks noRot="1" noChangeAspect="1" noMove="1" noResize="1" noEditPoints="1" noAdjustHandles="1" noChangeArrowheads="1" noChangeShapeType="1" noTextEdit="1"/>
              </p:cNvSpPr>
              <p:nvPr/>
            </p:nvSpPr>
            <p:spPr>
              <a:xfrm>
                <a:off x="6083729" y="4950532"/>
                <a:ext cx="388961" cy="388961"/>
              </a:xfrm>
              <a:prstGeom prst="ellipse">
                <a:avLst/>
              </a:prstGeom>
              <a:blipFill>
                <a:blip r:embed="rId8"/>
                <a:stretch>
                  <a:fillRect l="-6061" b="-3030"/>
                </a:stretch>
              </a:blipFill>
              <a:ln>
                <a:solidFill>
                  <a:schemeClr val="accent1"/>
                </a:solidFill>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85" name="橢圓 84"/>
              <p:cNvSpPr/>
              <p:nvPr/>
            </p:nvSpPr>
            <p:spPr>
              <a:xfrm>
                <a:off x="7009797" y="4382031"/>
                <a:ext cx="388961" cy="388961"/>
              </a:xfrm>
              <a:prstGeom prst="ellipse">
                <a:avLst/>
              </a:prstGeom>
              <a:solidFill>
                <a:schemeClr val="accent6">
                  <a:alpha val="30196"/>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i="1">
                              <a:solidFill>
                                <a:sysClr val="windowText" lastClr="000000"/>
                              </a:solidFill>
                              <a:latin typeface="Cambria Math" panose="02040503050406030204" pitchFamily="18" charset="0"/>
                            </a:rPr>
                          </m:ctrlPr>
                        </m:sSubPr>
                        <m:e>
                          <m:r>
                            <a:rPr lang="en-US" altLang="zh-TW" i="1">
                              <a:solidFill>
                                <a:sysClr val="windowText" lastClr="000000"/>
                              </a:solidFill>
                              <a:latin typeface="Cambria Math" panose="02040503050406030204" pitchFamily="18" charset="0"/>
                            </a:rPr>
                            <m:t>𝑧</m:t>
                          </m:r>
                        </m:e>
                        <m:sub>
                          <m:r>
                            <a:rPr lang="en-US" altLang="zh-TW" i="1">
                              <a:solidFill>
                                <a:sysClr val="windowText" lastClr="000000"/>
                              </a:solidFill>
                              <a:latin typeface="Cambria Math" panose="02040503050406030204" pitchFamily="18" charset="0"/>
                            </a:rPr>
                            <m:t>1</m:t>
                          </m:r>
                        </m:sub>
                      </m:sSub>
                    </m:oMath>
                  </m:oMathPara>
                </a14:m>
                <a:endParaRPr lang="zh-TW" altLang="en-US">
                  <a:solidFill>
                    <a:sysClr val="windowText" lastClr="000000"/>
                  </a:solidFill>
                </a:endParaRPr>
              </a:p>
            </p:txBody>
          </p:sp>
        </mc:Choice>
        <mc:Fallback>
          <p:sp>
            <p:nvSpPr>
              <p:cNvPr id="85" name="橢圓 84"/>
              <p:cNvSpPr>
                <a:spLocks noRot="1" noChangeAspect="1" noMove="1" noResize="1" noEditPoints="1" noAdjustHandles="1" noChangeArrowheads="1" noChangeShapeType="1" noTextEdit="1"/>
              </p:cNvSpPr>
              <p:nvPr/>
            </p:nvSpPr>
            <p:spPr>
              <a:xfrm>
                <a:off x="7009797" y="4382031"/>
                <a:ext cx="388961" cy="388961"/>
              </a:xfrm>
              <a:prstGeom prst="ellipse">
                <a:avLst/>
              </a:prstGeom>
              <a:blipFill>
                <a:blip r:embed="rId9"/>
                <a:stretch>
                  <a:fillRect/>
                </a:stretch>
              </a:blipFill>
              <a:ln>
                <a:solidFill>
                  <a:schemeClr val="accent6"/>
                </a:solidFill>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87" name="橢圓 86"/>
              <p:cNvSpPr/>
              <p:nvPr/>
            </p:nvSpPr>
            <p:spPr>
              <a:xfrm>
                <a:off x="6957823" y="4986157"/>
                <a:ext cx="388961" cy="388961"/>
              </a:xfrm>
              <a:prstGeom prst="ellipse">
                <a:avLst/>
              </a:prstGeom>
              <a:solidFill>
                <a:schemeClr val="accent6">
                  <a:alpha val="30196"/>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i="1">
                              <a:solidFill>
                                <a:sysClr val="windowText" lastClr="000000"/>
                              </a:solidFill>
                              <a:latin typeface="Cambria Math" panose="02040503050406030204" pitchFamily="18" charset="0"/>
                            </a:rPr>
                          </m:ctrlPr>
                        </m:sSubPr>
                        <m:e>
                          <m:r>
                            <a:rPr lang="en-US" altLang="zh-TW" i="1">
                              <a:solidFill>
                                <a:sysClr val="windowText" lastClr="000000"/>
                              </a:solidFill>
                              <a:latin typeface="Cambria Math" panose="02040503050406030204" pitchFamily="18" charset="0"/>
                            </a:rPr>
                            <m:t>𝑧</m:t>
                          </m:r>
                        </m:e>
                        <m:sub>
                          <m:r>
                            <a:rPr lang="en-US" altLang="zh-TW" i="1">
                              <a:solidFill>
                                <a:sysClr val="windowText" lastClr="000000"/>
                              </a:solidFill>
                              <a:latin typeface="Cambria Math" panose="02040503050406030204" pitchFamily="18" charset="0"/>
                            </a:rPr>
                            <m:t>2</m:t>
                          </m:r>
                        </m:sub>
                      </m:sSub>
                    </m:oMath>
                  </m:oMathPara>
                </a14:m>
                <a:endParaRPr lang="zh-TW" altLang="en-US" dirty="0">
                  <a:solidFill>
                    <a:sysClr val="windowText" lastClr="000000"/>
                  </a:solidFill>
                </a:endParaRPr>
              </a:p>
            </p:txBody>
          </p:sp>
        </mc:Choice>
        <mc:Fallback>
          <p:sp>
            <p:nvSpPr>
              <p:cNvPr id="87" name="橢圓 86"/>
              <p:cNvSpPr>
                <a:spLocks noRot="1" noChangeAspect="1" noMove="1" noResize="1" noEditPoints="1" noAdjustHandles="1" noChangeArrowheads="1" noChangeShapeType="1" noTextEdit="1"/>
              </p:cNvSpPr>
              <p:nvPr/>
            </p:nvSpPr>
            <p:spPr>
              <a:xfrm>
                <a:off x="6957823" y="4986157"/>
                <a:ext cx="388961" cy="388961"/>
              </a:xfrm>
              <a:prstGeom prst="ellipse">
                <a:avLst/>
              </a:prstGeom>
              <a:blipFill>
                <a:blip r:embed="rId10"/>
                <a:stretch>
                  <a:fillRect/>
                </a:stretch>
              </a:blipFill>
              <a:ln>
                <a:solidFill>
                  <a:schemeClr val="accent6"/>
                </a:solidFill>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88" name="橢圓 87"/>
              <p:cNvSpPr/>
              <p:nvPr/>
            </p:nvSpPr>
            <p:spPr>
              <a:xfrm>
                <a:off x="6957823" y="5555075"/>
                <a:ext cx="388961" cy="388961"/>
              </a:xfrm>
              <a:prstGeom prst="ellipse">
                <a:avLst/>
              </a:prstGeom>
              <a:solidFill>
                <a:schemeClr val="accent6">
                  <a:alpha val="30196"/>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i="1">
                              <a:solidFill>
                                <a:sysClr val="windowText" lastClr="000000"/>
                              </a:solidFill>
                              <a:latin typeface="Cambria Math" panose="02040503050406030204" pitchFamily="18" charset="0"/>
                            </a:rPr>
                          </m:ctrlPr>
                        </m:sSubPr>
                        <m:e>
                          <m:r>
                            <a:rPr lang="en-US" altLang="zh-TW" i="1">
                              <a:solidFill>
                                <a:sysClr val="windowText" lastClr="000000"/>
                              </a:solidFill>
                              <a:latin typeface="Cambria Math" panose="02040503050406030204" pitchFamily="18" charset="0"/>
                            </a:rPr>
                            <m:t>𝑧</m:t>
                          </m:r>
                        </m:e>
                        <m:sub>
                          <m:r>
                            <a:rPr lang="en-US" altLang="zh-TW" i="1">
                              <a:solidFill>
                                <a:sysClr val="windowText" lastClr="000000"/>
                              </a:solidFill>
                              <a:latin typeface="Cambria Math" panose="02040503050406030204" pitchFamily="18" charset="0"/>
                            </a:rPr>
                            <m:t>3</m:t>
                          </m:r>
                        </m:sub>
                      </m:sSub>
                    </m:oMath>
                  </m:oMathPara>
                </a14:m>
                <a:endParaRPr lang="zh-TW" altLang="en-US" dirty="0">
                  <a:solidFill>
                    <a:sysClr val="windowText" lastClr="000000"/>
                  </a:solidFill>
                </a:endParaRPr>
              </a:p>
            </p:txBody>
          </p:sp>
        </mc:Choice>
        <mc:Fallback>
          <p:sp>
            <p:nvSpPr>
              <p:cNvPr id="88" name="橢圓 87"/>
              <p:cNvSpPr>
                <a:spLocks noRot="1" noChangeAspect="1" noMove="1" noResize="1" noEditPoints="1" noAdjustHandles="1" noChangeArrowheads="1" noChangeShapeType="1" noTextEdit="1"/>
              </p:cNvSpPr>
              <p:nvPr/>
            </p:nvSpPr>
            <p:spPr>
              <a:xfrm>
                <a:off x="6957823" y="5555075"/>
                <a:ext cx="388961" cy="388961"/>
              </a:xfrm>
              <a:prstGeom prst="ellipse">
                <a:avLst/>
              </a:prstGeom>
              <a:blipFill>
                <a:blip r:embed="rId11"/>
                <a:stretch>
                  <a:fillRect/>
                </a:stretch>
              </a:blipFill>
              <a:ln>
                <a:solidFill>
                  <a:schemeClr val="accent6"/>
                </a:solidFill>
              </a:ln>
            </p:spPr>
            <p:txBody>
              <a:bodyPr/>
              <a:lstStyle/>
              <a:p>
                <a:r>
                  <a:rPr lang="zh-TW" altLang="en-US">
                    <a:noFill/>
                  </a:rPr>
                  <a:t> </a:t>
                </a:r>
              </a:p>
            </p:txBody>
          </p:sp>
        </mc:Fallback>
      </mc:AlternateContent>
      <p:cxnSp>
        <p:nvCxnSpPr>
          <p:cNvPr id="89" name="直線接點 88"/>
          <p:cNvCxnSpPr>
            <a:stCxn id="80" idx="6"/>
            <a:endCxn id="83" idx="2"/>
          </p:cNvCxnSpPr>
          <p:nvPr/>
        </p:nvCxnSpPr>
        <p:spPr>
          <a:xfrm>
            <a:off x="5549185" y="4576511"/>
            <a:ext cx="534545"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0" name="直線接點 89"/>
          <p:cNvCxnSpPr>
            <a:stCxn id="83" idx="6"/>
            <a:endCxn id="85" idx="2"/>
          </p:cNvCxnSpPr>
          <p:nvPr/>
        </p:nvCxnSpPr>
        <p:spPr>
          <a:xfrm>
            <a:off x="6472690" y="4576511"/>
            <a:ext cx="537106"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1" name="直線接點 90"/>
          <p:cNvCxnSpPr>
            <a:stCxn id="80" idx="6"/>
            <a:endCxn id="84" idx="2"/>
          </p:cNvCxnSpPr>
          <p:nvPr/>
        </p:nvCxnSpPr>
        <p:spPr>
          <a:xfrm>
            <a:off x="5549184" y="4576512"/>
            <a:ext cx="534544" cy="568501"/>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92" name="直線接點 91"/>
          <p:cNvCxnSpPr>
            <a:stCxn id="84" idx="6"/>
            <a:endCxn id="87" idx="2"/>
          </p:cNvCxnSpPr>
          <p:nvPr/>
        </p:nvCxnSpPr>
        <p:spPr>
          <a:xfrm>
            <a:off x="6472690" y="5145013"/>
            <a:ext cx="485133" cy="35625"/>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93" name="直線接點 92"/>
          <p:cNvCxnSpPr>
            <a:stCxn id="81" idx="6"/>
            <a:endCxn id="84" idx="2"/>
          </p:cNvCxnSpPr>
          <p:nvPr/>
        </p:nvCxnSpPr>
        <p:spPr>
          <a:xfrm flipV="1">
            <a:off x="5549184" y="5145013"/>
            <a:ext cx="534544" cy="1"/>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94" name="直線接點 93"/>
          <p:cNvCxnSpPr>
            <a:stCxn id="84" idx="6"/>
            <a:endCxn id="85" idx="2"/>
          </p:cNvCxnSpPr>
          <p:nvPr/>
        </p:nvCxnSpPr>
        <p:spPr>
          <a:xfrm flipV="1">
            <a:off x="6472690" y="4576512"/>
            <a:ext cx="537107" cy="568501"/>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95" name="直線接點 94"/>
          <p:cNvCxnSpPr>
            <a:stCxn id="82" idx="6"/>
            <a:endCxn id="84" idx="2"/>
          </p:cNvCxnSpPr>
          <p:nvPr/>
        </p:nvCxnSpPr>
        <p:spPr>
          <a:xfrm flipV="1">
            <a:off x="5549184" y="5145013"/>
            <a:ext cx="534544" cy="5685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直線接點 95"/>
          <p:cNvCxnSpPr>
            <a:stCxn id="84" idx="6"/>
            <a:endCxn id="88" idx="2"/>
          </p:cNvCxnSpPr>
          <p:nvPr/>
        </p:nvCxnSpPr>
        <p:spPr>
          <a:xfrm>
            <a:off x="6472690" y="5145013"/>
            <a:ext cx="485133" cy="60454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59" name="橢圓 58"/>
              <p:cNvSpPr/>
              <p:nvPr/>
            </p:nvSpPr>
            <p:spPr>
              <a:xfrm>
                <a:off x="7831917" y="4382031"/>
                <a:ext cx="388961" cy="388961"/>
              </a:xfrm>
              <a:prstGeom prst="ellipse">
                <a:avLst/>
              </a:prstGeom>
              <a:solidFill>
                <a:srgbClr val="ED7D31">
                  <a:alpha val="30196"/>
                </a:srgb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i="1">
                              <a:solidFill>
                                <a:sysClr val="windowText" lastClr="000000"/>
                              </a:solidFill>
                              <a:latin typeface="Cambria Math" panose="02040503050406030204" pitchFamily="18" charset="0"/>
                            </a:rPr>
                          </m:ctrlPr>
                        </m:sSubPr>
                        <m:e>
                          <m:r>
                            <a:rPr lang="en-US" altLang="zh-TW" i="1">
                              <a:solidFill>
                                <a:sysClr val="windowText" lastClr="000000"/>
                              </a:solidFill>
                              <a:latin typeface="Cambria Math" panose="02040503050406030204" pitchFamily="18" charset="0"/>
                            </a:rPr>
                            <m:t>𝑥</m:t>
                          </m:r>
                        </m:e>
                        <m:sub>
                          <m:r>
                            <a:rPr lang="en-US" altLang="zh-TW" i="1">
                              <a:solidFill>
                                <a:sysClr val="windowText" lastClr="000000"/>
                              </a:solidFill>
                              <a:latin typeface="Cambria Math" panose="02040503050406030204" pitchFamily="18" charset="0"/>
                            </a:rPr>
                            <m:t>1</m:t>
                          </m:r>
                        </m:sub>
                      </m:sSub>
                    </m:oMath>
                  </m:oMathPara>
                </a14:m>
                <a:endParaRPr lang="zh-TW" altLang="en-US" dirty="0"/>
              </a:p>
            </p:txBody>
          </p:sp>
        </mc:Choice>
        <mc:Fallback>
          <p:sp>
            <p:nvSpPr>
              <p:cNvPr id="59" name="橢圓 58"/>
              <p:cNvSpPr>
                <a:spLocks noRot="1" noChangeAspect="1" noMove="1" noResize="1" noEditPoints="1" noAdjustHandles="1" noChangeArrowheads="1" noChangeShapeType="1" noTextEdit="1"/>
              </p:cNvSpPr>
              <p:nvPr/>
            </p:nvSpPr>
            <p:spPr>
              <a:xfrm>
                <a:off x="7831917" y="4382031"/>
                <a:ext cx="388961" cy="388961"/>
              </a:xfrm>
              <a:prstGeom prst="ellipse">
                <a:avLst/>
              </a:prstGeom>
              <a:blipFill>
                <a:blip r:embed="rId12"/>
                <a:stretch>
                  <a:fillRect/>
                </a:stretch>
              </a:blipFill>
              <a:ln>
                <a:solidFill>
                  <a:schemeClr val="accent2"/>
                </a:solidFill>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60" name="橢圓 59"/>
              <p:cNvSpPr/>
              <p:nvPr/>
            </p:nvSpPr>
            <p:spPr>
              <a:xfrm>
                <a:off x="7831917" y="4950533"/>
                <a:ext cx="388961" cy="388961"/>
              </a:xfrm>
              <a:prstGeom prst="ellipse">
                <a:avLst/>
              </a:prstGeom>
              <a:solidFill>
                <a:srgbClr val="ED7D31">
                  <a:alpha val="30196"/>
                </a:srgb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i="1">
                              <a:solidFill>
                                <a:sysClr val="windowText" lastClr="000000"/>
                              </a:solidFill>
                              <a:latin typeface="Cambria Math" panose="02040503050406030204" pitchFamily="18" charset="0"/>
                            </a:rPr>
                          </m:ctrlPr>
                        </m:sSubPr>
                        <m:e>
                          <m:r>
                            <a:rPr lang="en-US" altLang="zh-TW" i="1">
                              <a:solidFill>
                                <a:sysClr val="windowText" lastClr="000000"/>
                              </a:solidFill>
                              <a:latin typeface="Cambria Math" panose="02040503050406030204" pitchFamily="18" charset="0"/>
                            </a:rPr>
                            <m:t>𝑥</m:t>
                          </m:r>
                        </m:e>
                        <m:sub>
                          <m:r>
                            <a:rPr lang="en-US" altLang="zh-TW" i="1">
                              <a:solidFill>
                                <a:sysClr val="windowText" lastClr="000000"/>
                              </a:solidFill>
                              <a:latin typeface="Cambria Math" panose="02040503050406030204" pitchFamily="18" charset="0"/>
                            </a:rPr>
                            <m:t>2</m:t>
                          </m:r>
                        </m:sub>
                      </m:sSub>
                    </m:oMath>
                  </m:oMathPara>
                </a14:m>
                <a:endParaRPr lang="zh-TW" altLang="en-US" dirty="0">
                  <a:solidFill>
                    <a:sysClr val="windowText" lastClr="000000"/>
                  </a:solidFill>
                </a:endParaRPr>
              </a:p>
            </p:txBody>
          </p:sp>
        </mc:Choice>
        <mc:Fallback>
          <p:sp>
            <p:nvSpPr>
              <p:cNvPr id="60" name="橢圓 59"/>
              <p:cNvSpPr>
                <a:spLocks noRot="1" noChangeAspect="1" noMove="1" noResize="1" noEditPoints="1" noAdjustHandles="1" noChangeArrowheads="1" noChangeShapeType="1" noTextEdit="1"/>
              </p:cNvSpPr>
              <p:nvPr/>
            </p:nvSpPr>
            <p:spPr>
              <a:xfrm>
                <a:off x="7831917" y="4950533"/>
                <a:ext cx="388961" cy="388961"/>
              </a:xfrm>
              <a:prstGeom prst="ellipse">
                <a:avLst/>
              </a:prstGeom>
              <a:blipFill>
                <a:blip r:embed="rId13"/>
                <a:stretch>
                  <a:fillRect l="-1515"/>
                </a:stretch>
              </a:blipFill>
              <a:ln>
                <a:solidFill>
                  <a:schemeClr val="accent2"/>
                </a:solidFill>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61" name="橢圓 60"/>
              <p:cNvSpPr/>
              <p:nvPr/>
            </p:nvSpPr>
            <p:spPr>
              <a:xfrm>
                <a:off x="7831917" y="5519035"/>
                <a:ext cx="388961" cy="388961"/>
              </a:xfrm>
              <a:prstGeom prst="ellipse">
                <a:avLst/>
              </a:prstGeom>
              <a:solidFill>
                <a:srgbClr val="ED7D31">
                  <a:alpha val="30196"/>
                </a:srgb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i="1">
                              <a:solidFill>
                                <a:sysClr val="windowText" lastClr="000000"/>
                              </a:solidFill>
                              <a:latin typeface="Cambria Math" panose="02040503050406030204" pitchFamily="18" charset="0"/>
                            </a:rPr>
                          </m:ctrlPr>
                        </m:sSubPr>
                        <m:e>
                          <m:r>
                            <a:rPr lang="en-US" altLang="zh-TW" i="1">
                              <a:solidFill>
                                <a:sysClr val="windowText" lastClr="000000"/>
                              </a:solidFill>
                              <a:latin typeface="Cambria Math" panose="02040503050406030204" pitchFamily="18" charset="0"/>
                            </a:rPr>
                            <m:t>𝑥</m:t>
                          </m:r>
                        </m:e>
                        <m:sub>
                          <m:r>
                            <a:rPr lang="en-US" altLang="zh-TW" i="1">
                              <a:solidFill>
                                <a:sysClr val="windowText" lastClr="000000"/>
                              </a:solidFill>
                              <a:latin typeface="Cambria Math" panose="02040503050406030204" pitchFamily="18" charset="0"/>
                            </a:rPr>
                            <m:t>3</m:t>
                          </m:r>
                        </m:sub>
                      </m:sSub>
                    </m:oMath>
                  </m:oMathPara>
                </a14:m>
                <a:endParaRPr lang="zh-TW" altLang="en-US" dirty="0">
                  <a:solidFill>
                    <a:sysClr val="windowText" lastClr="000000"/>
                  </a:solidFill>
                </a:endParaRPr>
              </a:p>
            </p:txBody>
          </p:sp>
        </mc:Choice>
        <mc:Fallback>
          <p:sp>
            <p:nvSpPr>
              <p:cNvPr id="61" name="橢圓 60"/>
              <p:cNvSpPr>
                <a:spLocks noRot="1" noChangeAspect="1" noMove="1" noResize="1" noEditPoints="1" noAdjustHandles="1" noChangeArrowheads="1" noChangeShapeType="1" noTextEdit="1"/>
              </p:cNvSpPr>
              <p:nvPr/>
            </p:nvSpPr>
            <p:spPr>
              <a:xfrm>
                <a:off x="7831917" y="5519035"/>
                <a:ext cx="388961" cy="388961"/>
              </a:xfrm>
              <a:prstGeom prst="ellipse">
                <a:avLst/>
              </a:prstGeom>
              <a:blipFill>
                <a:blip r:embed="rId14"/>
                <a:stretch>
                  <a:fillRect l="-1515"/>
                </a:stretch>
              </a:blipFill>
              <a:ln>
                <a:solidFill>
                  <a:schemeClr val="accent2"/>
                </a:solidFill>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62" name="橢圓 61"/>
              <p:cNvSpPr/>
              <p:nvPr/>
            </p:nvSpPr>
            <p:spPr>
              <a:xfrm>
                <a:off x="8755423" y="4382031"/>
                <a:ext cx="388961" cy="388961"/>
              </a:xfrm>
              <a:prstGeom prst="ellipse">
                <a:avLst/>
              </a:prstGeom>
              <a:solidFill>
                <a:schemeClr val="accent1">
                  <a:alpha val="30196"/>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i="1">
                              <a:solidFill>
                                <a:sysClr val="windowText" lastClr="000000"/>
                              </a:solidFill>
                              <a:latin typeface="Cambria Math" panose="02040503050406030204" pitchFamily="18" charset="0"/>
                            </a:rPr>
                          </m:ctrlPr>
                        </m:sSubPr>
                        <m:e>
                          <m:r>
                            <a:rPr lang="en-US" altLang="zh-TW" i="1">
                              <a:solidFill>
                                <a:sysClr val="windowText" lastClr="000000"/>
                              </a:solidFill>
                              <a:latin typeface="Cambria Math" panose="02040503050406030204" pitchFamily="18" charset="0"/>
                            </a:rPr>
                            <m:t>𝑦</m:t>
                          </m:r>
                        </m:e>
                        <m:sub>
                          <m:r>
                            <a:rPr lang="en-US" altLang="zh-TW" i="1">
                              <a:solidFill>
                                <a:sysClr val="windowText" lastClr="000000"/>
                              </a:solidFill>
                              <a:latin typeface="Cambria Math" panose="02040503050406030204" pitchFamily="18" charset="0"/>
                            </a:rPr>
                            <m:t>1</m:t>
                          </m:r>
                        </m:sub>
                      </m:sSub>
                    </m:oMath>
                  </m:oMathPara>
                </a14:m>
                <a:endParaRPr lang="zh-TW" altLang="en-US">
                  <a:solidFill>
                    <a:sysClr val="windowText" lastClr="000000"/>
                  </a:solidFill>
                </a:endParaRPr>
              </a:p>
            </p:txBody>
          </p:sp>
        </mc:Choice>
        <mc:Fallback>
          <p:sp>
            <p:nvSpPr>
              <p:cNvPr id="62" name="橢圓 61"/>
              <p:cNvSpPr>
                <a:spLocks noRot="1" noChangeAspect="1" noMove="1" noResize="1" noEditPoints="1" noAdjustHandles="1" noChangeArrowheads="1" noChangeShapeType="1" noTextEdit="1"/>
              </p:cNvSpPr>
              <p:nvPr/>
            </p:nvSpPr>
            <p:spPr>
              <a:xfrm>
                <a:off x="8755423" y="4382031"/>
                <a:ext cx="388961" cy="388961"/>
              </a:xfrm>
              <a:prstGeom prst="ellipse">
                <a:avLst/>
              </a:prstGeom>
              <a:blipFill>
                <a:blip r:embed="rId15"/>
                <a:stretch>
                  <a:fillRect l="-6061" b="-3030"/>
                </a:stretch>
              </a:blipFill>
              <a:ln>
                <a:solidFill>
                  <a:schemeClr val="accent1"/>
                </a:solidFill>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63" name="橢圓 62"/>
              <p:cNvSpPr/>
              <p:nvPr/>
            </p:nvSpPr>
            <p:spPr>
              <a:xfrm>
                <a:off x="8755422" y="4950532"/>
                <a:ext cx="388961" cy="388961"/>
              </a:xfrm>
              <a:prstGeom prst="ellipse">
                <a:avLst/>
              </a:prstGeom>
              <a:solidFill>
                <a:schemeClr val="accent1">
                  <a:alpha val="30196"/>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i="1">
                              <a:solidFill>
                                <a:sysClr val="windowText" lastClr="000000"/>
                              </a:solidFill>
                              <a:latin typeface="Cambria Math" panose="02040503050406030204" pitchFamily="18" charset="0"/>
                            </a:rPr>
                          </m:ctrlPr>
                        </m:sSubPr>
                        <m:e>
                          <m:r>
                            <a:rPr lang="en-US" altLang="zh-TW" i="1">
                              <a:solidFill>
                                <a:sysClr val="windowText" lastClr="000000"/>
                              </a:solidFill>
                              <a:latin typeface="Cambria Math" panose="02040503050406030204" pitchFamily="18" charset="0"/>
                            </a:rPr>
                            <m:t>𝑦</m:t>
                          </m:r>
                        </m:e>
                        <m:sub>
                          <m:r>
                            <a:rPr lang="en-US" altLang="zh-TW" i="1">
                              <a:solidFill>
                                <a:sysClr val="windowText" lastClr="000000"/>
                              </a:solidFill>
                              <a:latin typeface="Cambria Math" panose="02040503050406030204" pitchFamily="18" charset="0"/>
                            </a:rPr>
                            <m:t>2</m:t>
                          </m:r>
                        </m:sub>
                      </m:sSub>
                    </m:oMath>
                  </m:oMathPara>
                </a14:m>
                <a:endParaRPr lang="zh-TW" altLang="en-US">
                  <a:solidFill>
                    <a:sysClr val="windowText" lastClr="000000"/>
                  </a:solidFill>
                </a:endParaRPr>
              </a:p>
            </p:txBody>
          </p:sp>
        </mc:Choice>
        <mc:Fallback>
          <p:sp>
            <p:nvSpPr>
              <p:cNvPr id="63" name="橢圓 62"/>
              <p:cNvSpPr>
                <a:spLocks noRot="1" noChangeAspect="1" noMove="1" noResize="1" noEditPoints="1" noAdjustHandles="1" noChangeArrowheads="1" noChangeShapeType="1" noTextEdit="1"/>
              </p:cNvSpPr>
              <p:nvPr/>
            </p:nvSpPr>
            <p:spPr>
              <a:xfrm>
                <a:off x="8755422" y="4950532"/>
                <a:ext cx="388961" cy="388961"/>
              </a:xfrm>
              <a:prstGeom prst="ellipse">
                <a:avLst/>
              </a:prstGeom>
              <a:blipFill>
                <a:blip r:embed="rId16"/>
                <a:stretch>
                  <a:fillRect l="-6061" b="-3030"/>
                </a:stretch>
              </a:blipFill>
              <a:ln>
                <a:solidFill>
                  <a:schemeClr val="accent1"/>
                </a:solidFill>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64" name="橢圓 63"/>
              <p:cNvSpPr/>
              <p:nvPr/>
            </p:nvSpPr>
            <p:spPr>
              <a:xfrm>
                <a:off x="9681490" y="4382031"/>
                <a:ext cx="388961" cy="388961"/>
              </a:xfrm>
              <a:prstGeom prst="ellipse">
                <a:avLst/>
              </a:prstGeom>
              <a:solidFill>
                <a:schemeClr val="accent6">
                  <a:alpha val="30196"/>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i="1">
                              <a:solidFill>
                                <a:sysClr val="windowText" lastClr="000000"/>
                              </a:solidFill>
                              <a:latin typeface="Cambria Math" panose="02040503050406030204" pitchFamily="18" charset="0"/>
                            </a:rPr>
                          </m:ctrlPr>
                        </m:sSubPr>
                        <m:e>
                          <m:r>
                            <a:rPr lang="en-US" altLang="zh-TW" i="1">
                              <a:solidFill>
                                <a:sysClr val="windowText" lastClr="000000"/>
                              </a:solidFill>
                              <a:latin typeface="Cambria Math" panose="02040503050406030204" pitchFamily="18" charset="0"/>
                            </a:rPr>
                            <m:t>𝑧</m:t>
                          </m:r>
                        </m:e>
                        <m:sub>
                          <m:r>
                            <a:rPr lang="en-US" altLang="zh-TW" i="1">
                              <a:solidFill>
                                <a:sysClr val="windowText" lastClr="000000"/>
                              </a:solidFill>
                              <a:latin typeface="Cambria Math" panose="02040503050406030204" pitchFamily="18" charset="0"/>
                            </a:rPr>
                            <m:t>1</m:t>
                          </m:r>
                        </m:sub>
                      </m:sSub>
                    </m:oMath>
                  </m:oMathPara>
                </a14:m>
                <a:endParaRPr lang="zh-TW" altLang="en-US">
                  <a:solidFill>
                    <a:sysClr val="windowText" lastClr="000000"/>
                  </a:solidFill>
                </a:endParaRPr>
              </a:p>
            </p:txBody>
          </p:sp>
        </mc:Choice>
        <mc:Fallback>
          <p:sp>
            <p:nvSpPr>
              <p:cNvPr id="64" name="橢圓 63"/>
              <p:cNvSpPr>
                <a:spLocks noRot="1" noChangeAspect="1" noMove="1" noResize="1" noEditPoints="1" noAdjustHandles="1" noChangeArrowheads="1" noChangeShapeType="1" noTextEdit="1"/>
              </p:cNvSpPr>
              <p:nvPr/>
            </p:nvSpPr>
            <p:spPr>
              <a:xfrm>
                <a:off x="9681490" y="4382031"/>
                <a:ext cx="388961" cy="388961"/>
              </a:xfrm>
              <a:prstGeom prst="ellipse">
                <a:avLst/>
              </a:prstGeom>
              <a:blipFill>
                <a:blip r:embed="rId17"/>
                <a:stretch>
                  <a:fillRect/>
                </a:stretch>
              </a:blipFill>
              <a:ln>
                <a:solidFill>
                  <a:schemeClr val="accent6"/>
                </a:solidFill>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65" name="橢圓 64"/>
              <p:cNvSpPr/>
              <p:nvPr/>
            </p:nvSpPr>
            <p:spPr>
              <a:xfrm>
                <a:off x="9629516" y="4986157"/>
                <a:ext cx="388961" cy="388961"/>
              </a:xfrm>
              <a:prstGeom prst="ellipse">
                <a:avLst/>
              </a:prstGeom>
              <a:solidFill>
                <a:schemeClr val="accent6">
                  <a:alpha val="30196"/>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i="1">
                              <a:solidFill>
                                <a:sysClr val="windowText" lastClr="000000"/>
                              </a:solidFill>
                              <a:latin typeface="Cambria Math" panose="02040503050406030204" pitchFamily="18" charset="0"/>
                            </a:rPr>
                          </m:ctrlPr>
                        </m:sSubPr>
                        <m:e>
                          <m:r>
                            <a:rPr lang="en-US" altLang="zh-TW" i="1">
                              <a:solidFill>
                                <a:sysClr val="windowText" lastClr="000000"/>
                              </a:solidFill>
                              <a:latin typeface="Cambria Math" panose="02040503050406030204" pitchFamily="18" charset="0"/>
                            </a:rPr>
                            <m:t>𝑧</m:t>
                          </m:r>
                        </m:e>
                        <m:sub>
                          <m:r>
                            <a:rPr lang="en-US" altLang="zh-TW" i="1">
                              <a:solidFill>
                                <a:sysClr val="windowText" lastClr="000000"/>
                              </a:solidFill>
                              <a:latin typeface="Cambria Math" panose="02040503050406030204" pitchFamily="18" charset="0"/>
                            </a:rPr>
                            <m:t>2</m:t>
                          </m:r>
                        </m:sub>
                      </m:sSub>
                    </m:oMath>
                  </m:oMathPara>
                </a14:m>
                <a:endParaRPr lang="zh-TW" altLang="en-US" dirty="0">
                  <a:solidFill>
                    <a:sysClr val="windowText" lastClr="000000"/>
                  </a:solidFill>
                </a:endParaRPr>
              </a:p>
            </p:txBody>
          </p:sp>
        </mc:Choice>
        <mc:Fallback>
          <p:sp>
            <p:nvSpPr>
              <p:cNvPr id="65" name="橢圓 64"/>
              <p:cNvSpPr>
                <a:spLocks noRot="1" noChangeAspect="1" noMove="1" noResize="1" noEditPoints="1" noAdjustHandles="1" noChangeArrowheads="1" noChangeShapeType="1" noTextEdit="1"/>
              </p:cNvSpPr>
              <p:nvPr/>
            </p:nvSpPr>
            <p:spPr>
              <a:xfrm>
                <a:off x="9629516" y="4986157"/>
                <a:ext cx="388961" cy="388961"/>
              </a:xfrm>
              <a:prstGeom prst="ellipse">
                <a:avLst/>
              </a:prstGeom>
              <a:blipFill>
                <a:blip r:embed="rId18"/>
                <a:stretch>
                  <a:fillRect/>
                </a:stretch>
              </a:blipFill>
              <a:ln>
                <a:solidFill>
                  <a:schemeClr val="accent6"/>
                </a:solidFill>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66" name="橢圓 65"/>
              <p:cNvSpPr/>
              <p:nvPr/>
            </p:nvSpPr>
            <p:spPr>
              <a:xfrm>
                <a:off x="9629516" y="5555075"/>
                <a:ext cx="388961" cy="388961"/>
              </a:xfrm>
              <a:prstGeom prst="ellipse">
                <a:avLst/>
              </a:prstGeom>
              <a:solidFill>
                <a:schemeClr val="accent6">
                  <a:alpha val="30196"/>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TW" i="1">
                              <a:solidFill>
                                <a:sysClr val="windowText" lastClr="000000"/>
                              </a:solidFill>
                              <a:latin typeface="Cambria Math" panose="02040503050406030204" pitchFamily="18" charset="0"/>
                            </a:rPr>
                          </m:ctrlPr>
                        </m:sSubPr>
                        <m:e>
                          <m:r>
                            <a:rPr lang="en-US" altLang="zh-TW" i="1">
                              <a:solidFill>
                                <a:sysClr val="windowText" lastClr="000000"/>
                              </a:solidFill>
                              <a:latin typeface="Cambria Math" panose="02040503050406030204" pitchFamily="18" charset="0"/>
                            </a:rPr>
                            <m:t>𝑧</m:t>
                          </m:r>
                        </m:e>
                        <m:sub>
                          <m:r>
                            <a:rPr lang="en-US" altLang="zh-TW" i="1">
                              <a:solidFill>
                                <a:sysClr val="windowText" lastClr="000000"/>
                              </a:solidFill>
                              <a:latin typeface="Cambria Math" panose="02040503050406030204" pitchFamily="18" charset="0"/>
                            </a:rPr>
                            <m:t>3</m:t>
                          </m:r>
                        </m:sub>
                      </m:sSub>
                    </m:oMath>
                  </m:oMathPara>
                </a14:m>
                <a:endParaRPr lang="zh-TW" altLang="en-US" dirty="0">
                  <a:solidFill>
                    <a:sysClr val="windowText" lastClr="000000"/>
                  </a:solidFill>
                </a:endParaRPr>
              </a:p>
            </p:txBody>
          </p:sp>
        </mc:Choice>
        <mc:Fallback>
          <p:sp>
            <p:nvSpPr>
              <p:cNvPr id="66" name="橢圓 65"/>
              <p:cNvSpPr>
                <a:spLocks noRot="1" noChangeAspect="1" noMove="1" noResize="1" noEditPoints="1" noAdjustHandles="1" noChangeArrowheads="1" noChangeShapeType="1" noTextEdit="1"/>
              </p:cNvSpPr>
              <p:nvPr/>
            </p:nvSpPr>
            <p:spPr>
              <a:xfrm>
                <a:off x="9629516" y="5555075"/>
                <a:ext cx="388961" cy="388961"/>
              </a:xfrm>
              <a:prstGeom prst="ellipse">
                <a:avLst/>
              </a:prstGeom>
              <a:blipFill>
                <a:blip r:embed="rId19"/>
                <a:stretch>
                  <a:fillRect/>
                </a:stretch>
              </a:blipFill>
              <a:ln>
                <a:solidFill>
                  <a:schemeClr val="accent6"/>
                </a:solidFill>
              </a:ln>
            </p:spPr>
            <p:txBody>
              <a:bodyPr/>
              <a:lstStyle/>
              <a:p>
                <a:r>
                  <a:rPr lang="zh-TW" altLang="en-US">
                    <a:noFill/>
                  </a:rPr>
                  <a:t> </a:t>
                </a:r>
              </a:p>
            </p:txBody>
          </p:sp>
        </mc:Fallback>
      </mc:AlternateContent>
      <p:cxnSp>
        <p:nvCxnSpPr>
          <p:cNvPr id="67" name="直線接點 66"/>
          <p:cNvCxnSpPr>
            <a:stCxn id="59" idx="6"/>
            <a:endCxn id="62" idx="2"/>
          </p:cNvCxnSpPr>
          <p:nvPr/>
        </p:nvCxnSpPr>
        <p:spPr>
          <a:xfrm>
            <a:off x="8220878" y="4576511"/>
            <a:ext cx="534545"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8" name="直線接點 67"/>
          <p:cNvCxnSpPr>
            <a:stCxn id="62" idx="6"/>
            <a:endCxn id="64" idx="2"/>
          </p:cNvCxnSpPr>
          <p:nvPr/>
        </p:nvCxnSpPr>
        <p:spPr>
          <a:xfrm>
            <a:off x="9144383" y="4576511"/>
            <a:ext cx="537106"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4" name="直線接點 73"/>
          <p:cNvCxnSpPr>
            <a:stCxn id="61" idx="6"/>
            <a:endCxn id="63" idx="2"/>
          </p:cNvCxnSpPr>
          <p:nvPr/>
        </p:nvCxnSpPr>
        <p:spPr>
          <a:xfrm flipV="1">
            <a:off x="8220877" y="5145013"/>
            <a:ext cx="534544" cy="5685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直線接點 74"/>
          <p:cNvCxnSpPr>
            <a:stCxn id="63" idx="6"/>
            <a:endCxn id="66" idx="2"/>
          </p:cNvCxnSpPr>
          <p:nvPr/>
        </p:nvCxnSpPr>
        <p:spPr>
          <a:xfrm>
            <a:off x="9144383" y="5145013"/>
            <a:ext cx="485133" cy="60454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文字方塊 3"/>
          <p:cNvSpPr txBox="1"/>
          <p:nvPr/>
        </p:nvSpPr>
        <p:spPr>
          <a:xfrm>
            <a:off x="8341401" y="3877281"/>
            <a:ext cx="1217000"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Solution</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22253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矩形 1"/>
              <p:cNvSpPr/>
              <p:nvPr/>
            </p:nvSpPr>
            <p:spPr>
              <a:xfrm>
                <a:off x="3953554" y="1508693"/>
                <a:ext cx="1862113" cy="152734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sz="2800" i="1">
                              <a:latin typeface="Cambria Math" panose="02040503050406030204" pitchFamily="18" charset="0"/>
                            </a:rPr>
                          </m:ctrlPr>
                        </m:dPr>
                        <m:e>
                          <m:eqArr>
                            <m:eqArrPr>
                              <m:ctrlPr>
                                <a:rPr lang="en-US" altLang="zh-TW" sz="2800" i="1">
                                  <a:latin typeface="Cambria Math" panose="02040503050406030204" pitchFamily="18" charset="0"/>
                                </a:rPr>
                              </m:ctrlPr>
                            </m:eqArrPr>
                            <m:e>
                              <m:d>
                                <m:dPr>
                                  <m:ctrlPr>
                                    <a:rPr lang="en-US" altLang="zh-TW" sz="2800" i="1">
                                      <a:latin typeface="Cambria Math" panose="02040503050406030204" pitchFamily="18" charset="0"/>
                                    </a:rPr>
                                  </m:ctrlPr>
                                </m:dPr>
                                <m:e>
                                  <m:sSubSup>
                                    <m:sSubSupPr>
                                      <m:ctrlPr>
                                        <a:rPr lang="en-US" altLang="zh-TW" sz="2800" i="1">
                                          <a:latin typeface="Cambria Math" panose="02040503050406030204" pitchFamily="18" charset="0"/>
                                        </a:rPr>
                                      </m:ctrlPr>
                                    </m:sSubSupPr>
                                    <m:e>
                                      <m:r>
                                        <a:rPr lang="en-US" altLang="zh-TW" sz="2800" i="1">
                                          <a:latin typeface="Cambria Math" panose="02040503050406030204" pitchFamily="18" charset="0"/>
                                        </a:rPr>
                                        <m:t>𝑙</m:t>
                                      </m:r>
                                    </m:e>
                                    <m:sub>
                                      <m:r>
                                        <a:rPr lang="en-US" altLang="zh-TW" sz="2800" i="1">
                                          <a:latin typeface="Cambria Math" panose="02040503050406030204" pitchFamily="18" charset="0"/>
                                        </a:rPr>
                                        <m:t>1</m:t>
                                      </m:r>
                                    </m:sub>
                                    <m:sup>
                                      <m:r>
                                        <a:rPr lang="en-US" altLang="zh-TW" sz="2800" i="1">
                                          <a:latin typeface="Cambria Math" panose="02040503050406030204" pitchFamily="18" charset="0"/>
                                        </a:rPr>
                                        <m:t>1</m:t>
                                      </m:r>
                                    </m:sup>
                                  </m:sSubSup>
                                  <m:r>
                                    <a:rPr lang="en-US" altLang="zh-TW" sz="2800" i="1">
                                      <a:latin typeface="Cambria Math" panose="02040503050406030204" pitchFamily="18" charset="0"/>
                                    </a:rPr>
                                    <m:t>, </m:t>
                                  </m:r>
                                  <m:sSubSup>
                                    <m:sSubSupPr>
                                      <m:ctrlPr>
                                        <a:rPr lang="en-US" altLang="zh-TW" sz="2800" i="1">
                                          <a:latin typeface="Cambria Math" panose="02040503050406030204" pitchFamily="18" charset="0"/>
                                        </a:rPr>
                                      </m:ctrlPr>
                                    </m:sSubSupPr>
                                    <m:e>
                                      <m:r>
                                        <a:rPr lang="en-US" altLang="zh-TW" sz="2800" i="1">
                                          <a:latin typeface="Cambria Math" panose="02040503050406030204" pitchFamily="18" charset="0"/>
                                        </a:rPr>
                                        <m:t>𝑙</m:t>
                                      </m:r>
                                    </m:e>
                                    <m:sub>
                                      <m:r>
                                        <a:rPr lang="en-US" altLang="zh-TW" sz="2800" i="1">
                                          <a:latin typeface="Cambria Math" panose="02040503050406030204" pitchFamily="18" charset="0"/>
                                        </a:rPr>
                                        <m:t>2</m:t>
                                      </m:r>
                                    </m:sub>
                                    <m:sup>
                                      <m:r>
                                        <a:rPr lang="en-US" altLang="zh-TW" sz="2800" i="1">
                                          <a:latin typeface="Cambria Math" panose="02040503050406030204" pitchFamily="18" charset="0"/>
                                        </a:rPr>
                                        <m:t>1</m:t>
                                      </m:r>
                                    </m:sup>
                                  </m:sSubSup>
                                </m:e>
                              </m:d>
                              <m:r>
                                <a:rPr lang="en-US" altLang="zh-TW" sz="2800" i="1">
                                  <a:latin typeface="Cambria Math" panose="02040503050406030204" pitchFamily="18" charset="0"/>
                                </a:rPr>
                                <m:t>,</m:t>
                              </m:r>
                            </m:e>
                            <m:e>
                              <m:d>
                                <m:dPr>
                                  <m:ctrlPr>
                                    <a:rPr lang="en-US" altLang="zh-TW" sz="2800" i="1">
                                      <a:latin typeface="Cambria Math" panose="02040503050406030204" pitchFamily="18" charset="0"/>
                                    </a:rPr>
                                  </m:ctrlPr>
                                </m:dPr>
                                <m:e>
                                  <m:sSubSup>
                                    <m:sSubSupPr>
                                      <m:ctrlPr>
                                        <a:rPr lang="en-US" altLang="zh-TW" sz="2800" i="1">
                                          <a:latin typeface="Cambria Math" panose="02040503050406030204" pitchFamily="18" charset="0"/>
                                        </a:rPr>
                                      </m:ctrlPr>
                                    </m:sSubSupPr>
                                    <m:e>
                                      <m:r>
                                        <a:rPr lang="en-US" altLang="zh-TW" sz="2800" i="1">
                                          <a:latin typeface="Cambria Math" panose="02040503050406030204" pitchFamily="18" charset="0"/>
                                        </a:rPr>
                                        <m:t>𝑙</m:t>
                                      </m:r>
                                    </m:e>
                                    <m:sub>
                                      <m:r>
                                        <a:rPr lang="en-US" altLang="zh-TW" sz="2800" i="1">
                                          <a:latin typeface="Cambria Math" panose="02040503050406030204" pitchFamily="18" charset="0"/>
                                        </a:rPr>
                                        <m:t>1</m:t>
                                      </m:r>
                                    </m:sub>
                                    <m:sup>
                                      <m:r>
                                        <a:rPr lang="en-US" altLang="zh-TW" sz="2800" i="1">
                                          <a:latin typeface="Cambria Math" panose="02040503050406030204" pitchFamily="18" charset="0"/>
                                        </a:rPr>
                                        <m:t>2</m:t>
                                      </m:r>
                                    </m:sup>
                                  </m:sSubSup>
                                  <m:r>
                                    <a:rPr lang="en-US" altLang="zh-TW" sz="2800" i="1">
                                      <a:latin typeface="Cambria Math" panose="02040503050406030204" pitchFamily="18" charset="0"/>
                                    </a:rPr>
                                    <m:t>, </m:t>
                                  </m:r>
                                  <m:sSubSup>
                                    <m:sSubSupPr>
                                      <m:ctrlPr>
                                        <a:rPr lang="en-US" altLang="zh-TW" sz="2800" i="1">
                                          <a:latin typeface="Cambria Math" panose="02040503050406030204" pitchFamily="18" charset="0"/>
                                        </a:rPr>
                                      </m:ctrlPr>
                                    </m:sSubSupPr>
                                    <m:e>
                                      <m:r>
                                        <a:rPr lang="en-US" altLang="zh-TW" sz="2800" i="1">
                                          <a:latin typeface="Cambria Math" panose="02040503050406030204" pitchFamily="18" charset="0"/>
                                        </a:rPr>
                                        <m:t>𝑙</m:t>
                                      </m:r>
                                    </m:e>
                                    <m:sub>
                                      <m:r>
                                        <a:rPr lang="en-US" altLang="zh-TW" sz="2800" i="1">
                                          <a:latin typeface="Cambria Math" panose="02040503050406030204" pitchFamily="18" charset="0"/>
                                        </a:rPr>
                                        <m:t>2</m:t>
                                      </m:r>
                                    </m:sub>
                                    <m:sup>
                                      <m:r>
                                        <a:rPr lang="en-US" altLang="zh-TW" sz="2800" i="1">
                                          <a:latin typeface="Cambria Math" panose="02040503050406030204" pitchFamily="18" charset="0"/>
                                        </a:rPr>
                                        <m:t>2</m:t>
                                      </m:r>
                                    </m:sup>
                                  </m:sSubSup>
                                </m:e>
                              </m:d>
                              <m:r>
                                <a:rPr lang="en-US" altLang="zh-TW" sz="2800" i="1">
                                  <a:latin typeface="Cambria Math" panose="02040503050406030204" pitchFamily="18" charset="0"/>
                                </a:rPr>
                                <m:t>,</m:t>
                              </m:r>
                            </m:e>
                            <m:e>
                              <m:r>
                                <a:rPr lang="en-US" altLang="zh-TW" sz="2800" i="1">
                                  <a:latin typeface="Cambria Math" panose="02040503050406030204" pitchFamily="18" charset="0"/>
                                </a:rPr>
                                <m:t> </m:t>
                              </m:r>
                              <m:d>
                                <m:dPr>
                                  <m:ctrlPr>
                                    <a:rPr lang="en-US" altLang="zh-TW" sz="2800" i="1">
                                      <a:latin typeface="Cambria Math" panose="02040503050406030204" pitchFamily="18" charset="0"/>
                                    </a:rPr>
                                  </m:ctrlPr>
                                </m:dPr>
                                <m:e>
                                  <m:sSubSup>
                                    <m:sSubSupPr>
                                      <m:ctrlPr>
                                        <a:rPr lang="en-US" altLang="zh-TW" sz="2800" i="1">
                                          <a:latin typeface="Cambria Math" panose="02040503050406030204" pitchFamily="18" charset="0"/>
                                        </a:rPr>
                                      </m:ctrlPr>
                                    </m:sSubSupPr>
                                    <m:e>
                                      <m:r>
                                        <a:rPr lang="en-US" altLang="zh-TW" sz="2800" i="1">
                                          <a:latin typeface="Cambria Math" panose="02040503050406030204" pitchFamily="18" charset="0"/>
                                        </a:rPr>
                                        <m:t>𝑙</m:t>
                                      </m:r>
                                    </m:e>
                                    <m:sub>
                                      <m:r>
                                        <a:rPr lang="en-US" altLang="zh-TW" sz="2800" i="1">
                                          <a:latin typeface="Cambria Math" panose="02040503050406030204" pitchFamily="18" charset="0"/>
                                        </a:rPr>
                                        <m:t>1</m:t>
                                      </m:r>
                                    </m:sub>
                                    <m:sup>
                                      <m:r>
                                        <a:rPr lang="en-US" altLang="zh-TW" sz="2800" i="1">
                                          <a:latin typeface="Cambria Math" panose="02040503050406030204" pitchFamily="18" charset="0"/>
                                        </a:rPr>
                                        <m:t>3</m:t>
                                      </m:r>
                                    </m:sup>
                                  </m:sSubSup>
                                  <m:r>
                                    <a:rPr lang="en-US" altLang="zh-TW" sz="2800" i="1">
                                      <a:latin typeface="Cambria Math" panose="02040503050406030204" pitchFamily="18" charset="0"/>
                                    </a:rPr>
                                    <m:t>, </m:t>
                                  </m:r>
                                  <m:sSubSup>
                                    <m:sSubSupPr>
                                      <m:ctrlPr>
                                        <a:rPr lang="en-US" altLang="zh-TW" sz="2800" i="1">
                                          <a:latin typeface="Cambria Math" panose="02040503050406030204" pitchFamily="18" charset="0"/>
                                        </a:rPr>
                                      </m:ctrlPr>
                                    </m:sSubSupPr>
                                    <m:e>
                                      <m:r>
                                        <a:rPr lang="en-US" altLang="zh-TW" sz="2800" i="1">
                                          <a:latin typeface="Cambria Math" panose="02040503050406030204" pitchFamily="18" charset="0"/>
                                        </a:rPr>
                                        <m:t>𝑙</m:t>
                                      </m:r>
                                    </m:e>
                                    <m:sub>
                                      <m:r>
                                        <a:rPr lang="en-US" altLang="zh-TW" sz="2800" i="1">
                                          <a:latin typeface="Cambria Math" panose="02040503050406030204" pitchFamily="18" charset="0"/>
                                        </a:rPr>
                                        <m:t>2</m:t>
                                      </m:r>
                                    </m:sub>
                                    <m:sup>
                                      <m:r>
                                        <a:rPr lang="en-US" altLang="zh-TW" sz="2800" i="1">
                                          <a:latin typeface="Cambria Math" panose="02040503050406030204" pitchFamily="18" charset="0"/>
                                        </a:rPr>
                                        <m:t>3</m:t>
                                      </m:r>
                                    </m:sup>
                                  </m:sSubSup>
                                </m:e>
                              </m:d>
                              <m:r>
                                <a:rPr lang="en-US" altLang="zh-TW" sz="2800" i="1">
                                  <a:solidFill>
                                    <a:schemeClr val="bg1"/>
                                  </a:solidFill>
                                  <a:latin typeface="Cambria Math" panose="02040503050406030204" pitchFamily="18" charset="0"/>
                                </a:rPr>
                                <m:t>,</m:t>
                              </m:r>
                            </m:e>
                          </m:eqArr>
                        </m:e>
                      </m:d>
                    </m:oMath>
                  </m:oMathPara>
                </a14:m>
                <a:endParaRPr lang="zh-TW" altLang="en-US" sz="2800" dirty="0"/>
              </a:p>
            </p:txBody>
          </p:sp>
        </mc:Choice>
        <mc:Fallback xmlns="">
          <p:sp>
            <p:nvSpPr>
              <p:cNvPr id="2" name="矩形 1"/>
              <p:cNvSpPr>
                <a:spLocks noRot="1" noChangeAspect="1" noMove="1" noResize="1" noEditPoints="1" noAdjustHandles="1" noChangeArrowheads="1" noChangeShapeType="1" noTextEdit="1"/>
              </p:cNvSpPr>
              <p:nvPr/>
            </p:nvSpPr>
            <p:spPr>
              <a:xfrm>
                <a:off x="3953554" y="1508693"/>
                <a:ext cx="1862113" cy="1527341"/>
              </a:xfrm>
              <a:prstGeom prst="rect">
                <a:avLst/>
              </a:prstGeom>
              <a:blipFill>
                <a:blip r:embed="rId2"/>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15" name="表格 14"/>
              <p:cNvGraphicFramePr>
                <a:graphicFrameLocks noGrp="1"/>
              </p:cNvGraphicFramePr>
              <p:nvPr/>
            </p:nvGraphicFramePr>
            <p:xfrm>
              <a:off x="1692309" y="2944921"/>
              <a:ext cx="3960000" cy="1800000"/>
            </p:xfrm>
            <a:graphic>
              <a:graphicData uri="http://schemas.openxmlformats.org/drawingml/2006/table">
                <a:tbl>
                  <a:tblPr firstRow="1" bandRow="1">
                    <a:tableStyleId>{2D5ABB26-0587-4C30-8999-92F81FD0307C}</a:tableStyleId>
                  </a:tblPr>
                  <a:tblGrid>
                    <a:gridCol w="396000">
                      <a:extLst>
                        <a:ext uri="{9D8B030D-6E8A-4147-A177-3AD203B41FA5}">
                          <a16:colId xmlns:a16="http://schemas.microsoft.com/office/drawing/2014/main" val="451846825"/>
                        </a:ext>
                      </a:extLst>
                    </a:gridCol>
                    <a:gridCol w="396000">
                      <a:extLst>
                        <a:ext uri="{9D8B030D-6E8A-4147-A177-3AD203B41FA5}">
                          <a16:colId xmlns:a16="http://schemas.microsoft.com/office/drawing/2014/main" val="798062128"/>
                        </a:ext>
                      </a:extLst>
                    </a:gridCol>
                    <a:gridCol w="396000">
                      <a:extLst>
                        <a:ext uri="{9D8B030D-6E8A-4147-A177-3AD203B41FA5}">
                          <a16:colId xmlns:a16="http://schemas.microsoft.com/office/drawing/2014/main" val="3057808090"/>
                        </a:ext>
                      </a:extLst>
                    </a:gridCol>
                    <a:gridCol w="396000">
                      <a:extLst>
                        <a:ext uri="{9D8B030D-6E8A-4147-A177-3AD203B41FA5}">
                          <a16:colId xmlns:a16="http://schemas.microsoft.com/office/drawing/2014/main" val="1300489013"/>
                        </a:ext>
                      </a:extLst>
                    </a:gridCol>
                    <a:gridCol w="396000">
                      <a:extLst>
                        <a:ext uri="{9D8B030D-6E8A-4147-A177-3AD203B41FA5}">
                          <a16:colId xmlns:a16="http://schemas.microsoft.com/office/drawing/2014/main" val="1566772811"/>
                        </a:ext>
                      </a:extLst>
                    </a:gridCol>
                    <a:gridCol w="396000">
                      <a:extLst>
                        <a:ext uri="{9D8B030D-6E8A-4147-A177-3AD203B41FA5}">
                          <a16:colId xmlns:a16="http://schemas.microsoft.com/office/drawing/2014/main" val="2976447670"/>
                        </a:ext>
                      </a:extLst>
                    </a:gridCol>
                    <a:gridCol w="396000">
                      <a:extLst>
                        <a:ext uri="{9D8B030D-6E8A-4147-A177-3AD203B41FA5}">
                          <a16:colId xmlns:a16="http://schemas.microsoft.com/office/drawing/2014/main" val="813797407"/>
                        </a:ext>
                      </a:extLst>
                    </a:gridCol>
                    <a:gridCol w="396000">
                      <a:extLst>
                        <a:ext uri="{9D8B030D-6E8A-4147-A177-3AD203B41FA5}">
                          <a16:colId xmlns:a16="http://schemas.microsoft.com/office/drawing/2014/main" val="2611524455"/>
                        </a:ext>
                      </a:extLst>
                    </a:gridCol>
                    <a:gridCol w="396000">
                      <a:extLst>
                        <a:ext uri="{9D8B030D-6E8A-4147-A177-3AD203B41FA5}">
                          <a16:colId xmlns:a16="http://schemas.microsoft.com/office/drawing/2014/main" val="3905324345"/>
                        </a:ext>
                      </a:extLst>
                    </a:gridCol>
                    <a:gridCol w="396000">
                      <a:extLst>
                        <a:ext uri="{9D8B030D-6E8A-4147-A177-3AD203B41FA5}">
                          <a16:colId xmlns:a16="http://schemas.microsoft.com/office/drawing/2014/main" val="2498274354"/>
                        </a:ext>
                      </a:extLst>
                    </a:gridCol>
                  </a:tblGrid>
                  <a:tr h="360000">
                    <a:tc gridSpan="10">
                      <a:txBody>
                        <a:bodyPr/>
                        <a:lstStyle/>
                        <a:p>
                          <a:pPr algn="ctr"/>
                          <a:r>
                            <a:rPr lang="en-US" altLang="zh-TW" sz="1600" dirty="0"/>
                            <a:t>Matrix </a:t>
                          </a:r>
                          <a14:m>
                            <m:oMath xmlns:m="http://schemas.openxmlformats.org/officeDocument/2006/math">
                              <m:r>
                                <a:rPr lang="en-US" altLang="zh-TW" sz="1600" b="0" i="1" dirty="0" smtClean="0">
                                  <a:latin typeface="Cambria Math" panose="02040503050406030204" pitchFamily="18" charset="0"/>
                                </a:rPr>
                                <m:t>𝐴</m:t>
                              </m:r>
                            </m:oMath>
                          </a14:m>
                          <a:endParaRPr lang="zh-TW" altLang="en-US" sz="1600" dirty="0"/>
                        </a:p>
                      </a:txBody>
                      <a:tcPr anchor="ctr">
                        <a:lnB>
                          <a:noFill/>
                        </a:lnB>
                      </a:tcPr>
                    </a:tc>
                    <a:tc hMerge="1">
                      <a:txBody>
                        <a:bodyPr/>
                        <a:lstStyle/>
                        <a:p>
                          <a:pPr algn="ctr"/>
                          <a:endParaRPr lang="zh-TW" altLang="en-US" sz="2400" dirty="0"/>
                        </a:p>
                      </a:txBody>
                      <a:tcPr anchor="ctr">
                        <a:lnB w="12700" cap="flat" cmpd="sng" algn="ctr">
                          <a:noFill/>
                          <a:prstDash val="solid"/>
                          <a:round/>
                          <a:headEnd type="none" w="med" len="med"/>
                          <a:tailEnd type="none" w="med" len="med"/>
                        </a:lnB>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B w="12700" cap="flat" cmpd="sng" algn="ctr">
                          <a:noFill/>
                          <a:prstDash val="solid"/>
                          <a:round/>
                          <a:headEnd type="none" w="med" len="med"/>
                          <a:tailEnd type="none" w="med" len="med"/>
                        </a:lnB>
                      </a:tcPr>
                    </a:tc>
                    <a:tc hMerge="1">
                      <a:txBody>
                        <a:bodyPr/>
                        <a:lstStyle/>
                        <a:p>
                          <a:endParaRPr lang="zh-TW" altLang="en-US"/>
                        </a:p>
                      </a:txBody>
                      <a:tcPr/>
                    </a:tc>
                    <a:tc hMerge="1">
                      <a:txBody>
                        <a:bodyPr/>
                        <a:lstStyle/>
                        <a:p>
                          <a:pPr algn="ctr"/>
                          <a:endParaRPr lang="zh-TW" altLang="en-US" sz="2400" dirty="0"/>
                        </a:p>
                      </a:txBody>
                      <a:tcPr anchor="ctr">
                        <a:lnB w="12700" cap="flat" cmpd="sng" algn="ctr">
                          <a:noFill/>
                          <a:prstDash val="solid"/>
                          <a:round/>
                          <a:headEnd type="none" w="med" len="med"/>
                          <a:tailEnd type="none" w="med" len="med"/>
                        </a:lnB>
                      </a:tcPr>
                    </a:tc>
                    <a:tc hMerge="1">
                      <a:txBody>
                        <a:bodyPr/>
                        <a:lstStyle/>
                        <a:p>
                          <a:pPr algn="ctr"/>
                          <a:endParaRPr lang="zh-TW" altLang="en-US" sz="2400"/>
                        </a:p>
                      </a:txBody>
                      <a:tcPr anchor="ctr">
                        <a:lnB w="12700" cap="flat" cmpd="sng" algn="ctr">
                          <a:noFill/>
                          <a:prstDash val="solid"/>
                          <a:round/>
                          <a:headEnd type="none" w="med" len="med"/>
                          <a:tailEnd type="none" w="med" len="med"/>
                        </a:lnB>
                      </a:tcPr>
                    </a:tc>
                    <a:tc hMerge="1">
                      <a:txBody>
                        <a:bodyPr/>
                        <a:lstStyle/>
                        <a:p>
                          <a:pPr algn="ctr"/>
                          <a:endParaRPr lang="zh-TW" altLang="en-US" sz="2400"/>
                        </a:p>
                      </a:txBody>
                      <a:tcPr anchor="ctr">
                        <a:lnB w="12700" cap="flat" cmpd="sng" algn="ctr">
                          <a:noFill/>
                          <a:prstDash val="solid"/>
                          <a:round/>
                          <a:headEnd type="none" w="med" len="med"/>
                          <a:tailEnd type="none" w="med" len="med"/>
                        </a:lnB>
                      </a:tcPr>
                    </a:tc>
                    <a:tc hMerge="1">
                      <a:txBody>
                        <a:bodyPr/>
                        <a:lstStyle/>
                        <a:p>
                          <a:pPr algn="ctr"/>
                          <a:endParaRPr lang="zh-TW" altLang="en-US" sz="2400" dirty="0"/>
                        </a:p>
                      </a:txBody>
                      <a:tcPr anchor="ctr">
                        <a:lnB w="12700" cap="flat" cmpd="sng" algn="ctr">
                          <a:noFill/>
                          <a:prstDash val="solid"/>
                          <a:round/>
                          <a:headEnd type="none" w="med" len="med"/>
                          <a:tailEnd type="none" w="med" len="med"/>
                        </a:lnB>
                      </a:tcPr>
                    </a:tc>
                    <a:tc hMerge="1">
                      <a:txBody>
                        <a:bodyPr/>
                        <a:lstStyle/>
                        <a:p>
                          <a:pPr algn="ctr"/>
                          <a:endParaRPr lang="zh-TW" altLang="en-US" sz="2400"/>
                        </a:p>
                      </a:txBody>
                      <a:tcPr anchor="ctr">
                        <a:lnB w="12700" cap="flat" cmpd="sng" algn="ctr">
                          <a:noFill/>
                          <a:prstDash val="solid"/>
                          <a:round/>
                          <a:headEnd type="none" w="med" len="med"/>
                          <a:tailEnd type="none" w="med" len="med"/>
                        </a:lnB>
                      </a:tcPr>
                    </a:tc>
                    <a:tc hMerge="1">
                      <a:txBody>
                        <a:bodyPr/>
                        <a:lstStyle/>
                        <a:p>
                          <a:pPr algn="ctr"/>
                          <a:endParaRPr lang="zh-TW" altLang="en-US" sz="2400" dirty="0"/>
                        </a:p>
                      </a:txBody>
                      <a:tcPr anchor="ctr">
                        <a:lnB w="12700" cap="flat" cmpd="sng" algn="ctr">
                          <a:noFill/>
                          <a:prstDash val="solid"/>
                          <a:round/>
                          <a:headEnd type="none" w="med" len="med"/>
                          <a:tailEnd type="none" w="med" len="med"/>
                        </a:lnB>
                      </a:tcPr>
                    </a:tc>
                    <a:extLst>
                      <a:ext uri="{0D108BD9-81ED-4DB2-BD59-A6C34878D82A}">
                        <a16:rowId xmlns:a16="http://schemas.microsoft.com/office/drawing/2014/main" val="1445322297"/>
                      </a:ext>
                    </a:extLst>
                  </a:tr>
                  <a:tr h="360000">
                    <a:tc>
                      <a:txBody>
                        <a:bodyPr/>
                        <a:lstStyle/>
                        <a:p>
                          <a:pPr algn="ctr"/>
                          <a:endParaRPr lang="zh-TW" altLang="en-US" sz="1600" dirty="0"/>
                        </a:p>
                      </a:txBody>
                      <a:tcPr anchor="ctr">
                        <a:lnT>
                          <a:noFill/>
                        </a:lnT>
                      </a:tcPr>
                    </a:tc>
                    <a:tc>
                      <a:txBody>
                        <a:bodyPr/>
                        <a:lstStyle/>
                        <a:p>
                          <a:pPr algn="ctr"/>
                          <a:r>
                            <a:rPr lang="en-US" altLang="zh-TW" sz="1600" dirty="0"/>
                            <a:t>1</a:t>
                          </a:r>
                          <a:endParaRPr lang="zh-TW" altLang="en-US" sz="1600" dirty="0"/>
                        </a:p>
                      </a:txBody>
                      <a:tcPr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a:t>
                          </a:r>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600" dirty="0"/>
                        </a:p>
                      </a:txBody>
                      <a:tcPr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t>7</a:t>
                          </a:r>
                          <a:endParaRPr lang="zh-TW" altLang="en-US" sz="1600" dirty="0"/>
                        </a:p>
                      </a:txBody>
                      <a:tcPr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t>8</a:t>
                          </a:r>
                          <a:endParaRPr lang="zh-TW" altLang="en-US" sz="1600" dirty="0"/>
                        </a:p>
                      </a:txBody>
                      <a:tcPr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t>9</a:t>
                          </a:r>
                          <a:endParaRPr lang="zh-TW" altLang="en-US" sz="1600" dirty="0"/>
                        </a:p>
                      </a:txBody>
                      <a:tcPr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t>10</a:t>
                          </a:r>
                          <a:endParaRPr lang="zh-TW" altLang="en-US" sz="1600" dirty="0"/>
                        </a:p>
                      </a:txBody>
                      <a:tcPr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t>11</a:t>
                          </a:r>
                          <a:endParaRPr lang="zh-TW" altLang="en-US" sz="1600" dirty="0"/>
                        </a:p>
                      </a:txBody>
                      <a:tcPr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t>12</a:t>
                          </a:r>
                          <a:endParaRPr lang="zh-TW" altLang="en-US" sz="1600" dirty="0"/>
                        </a:p>
                      </a:txBody>
                      <a:tcPr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7596911"/>
                      </a:ext>
                    </a:extLst>
                  </a:tr>
                  <a:tr h="360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𝑙</m:t>
                                    </m:r>
                                  </m:e>
                                  <m:sub>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b>
                                  <m:sup>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p>
                                </m:sSubSup>
                              </m:oMath>
                            </m:oMathPara>
                          </a14:m>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𝑙</m:t>
                                    </m:r>
                                  </m:e>
                                  <m:sub>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sub>
                                  <m:sup>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p>
                                </m:sSubSup>
                              </m:oMath>
                            </m:oMathPara>
                          </a14:m>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77658" marR="77658" marT="38829" marB="38829"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𝑙</m:t>
                                    </m:r>
                                  </m:e>
                                  <m:sub>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sub>
                                  <m:sup>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p>
                                </m:sSubSup>
                              </m:oMath>
                            </m:oMathPara>
                          </a14:m>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77658" marR="77658" marT="38829" marB="38829" anchor="ctr">
                        <a:lnL w="12700" cap="flat" cmpd="sng" algn="ctr">
                          <a:solidFill>
                            <a:schemeClr val="tx1"/>
                          </a:solidFill>
                          <a:prstDash val="sysDashDot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𝑙</m:t>
                                    </m:r>
                                  </m:e>
                                  <m:sub>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𝑦</m:t>
                                    </m:r>
                                  </m:sub>
                                  <m:sup>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p>
                                </m:sSubSup>
                              </m:oMath>
                            </m:oMathPara>
                          </a14:m>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𝑙</m:t>
                                    </m:r>
                                  </m:e>
                                  <m:sub>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𝑧</m:t>
                                    </m:r>
                                  </m:sub>
                                  <m:sup>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p>
                                </m:sSubSup>
                              </m:oMath>
                            </m:oMathPara>
                          </a14:m>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90952343"/>
                      </a:ext>
                    </a:extLst>
                  </a:tr>
                  <a:tr h="360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a:t>
                          </a:r>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77658" marR="77658" marT="38829" marB="38829"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𝑙</m:t>
                                    </m:r>
                                  </m:e>
                                  <m:sub>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sub>
                                  <m:sup>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sup>
                                </m:sSubSup>
                              </m:oMath>
                            </m:oMathPara>
                          </a14:m>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77658" marR="77658" marT="38829" marB="38829" anchor="ctr">
                        <a:lnL w="12700" cap="flat" cmpd="sng" algn="ctr">
                          <a:solidFill>
                            <a:schemeClr val="tx1"/>
                          </a:solidFill>
                          <a:prstDash val="sysDashDot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𝑙</m:t>
                                    </m:r>
                                  </m:e>
                                  <m:sub>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𝑦</m:t>
                                    </m:r>
                                  </m:sub>
                                  <m:sup>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sup>
                                </m:sSubSup>
                              </m:oMath>
                            </m:oMathPara>
                          </a14:m>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𝑙</m:t>
                                    </m:r>
                                  </m:e>
                                  <m:sub>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𝑧</m:t>
                                    </m:r>
                                  </m:sub>
                                  <m:sup>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sup>
                                </m:sSubSup>
                              </m:oMath>
                            </m:oMathPara>
                          </a14:m>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59104109"/>
                      </a:ext>
                    </a:extLst>
                  </a:tr>
                  <a:tr h="360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77658" marR="77658" marT="38829" marB="38829"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77658" marR="77658" marT="38829" marB="38829" anchor="ctr">
                        <a:lnL w="12700" cap="flat" cmpd="sng" algn="ctr">
                          <a:solidFill>
                            <a:schemeClr val="tx1"/>
                          </a:solidFill>
                          <a:prstDash val="sysDashDot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𝑙</m:t>
                                    </m:r>
                                  </m:e>
                                  <m:sub>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sub>
                                  <m:sup>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3</m:t>
                                    </m:r>
                                  </m:sup>
                                </m:sSubSup>
                              </m:oMath>
                            </m:oMathPara>
                          </a14:m>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𝑙</m:t>
                                    </m:r>
                                  </m:e>
                                  <m:sub>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𝑦</m:t>
                                    </m:r>
                                  </m:sub>
                                  <m:sup>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3</m:t>
                                    </m:r>
                                  </m:sup>
                                </m:sSubSup>
                              </m:oMath>
                            </m:oMathPara>
                          </a14:m>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𝑙</m:t>
                                    </m:r>
                                  </m:e>
                                  <m:sub>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𝑧</m:t>
                                    </m:r>
                                  </m:sub>
                                  <m:sup>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3</m:t>
                                    </m:r>
                                  </m:sup>
                                </m:sSubSup>
                              </m:oMath>
                            </m:oMathPara>
                          </a14:m>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93340570"/>
                      </a:ext>
                    </a:extLst>
                  </a:tr>
                </a:tbl>
              </a:graphicData>
            </a:graphic>
          </p:graphicFrame>
        </mc:Choice>
        <mc:Fallback xmlns="">
          <p:graphicFrame>
            <p:nvGraphicFramePr>
              <p:cNvPr id="15" name="表格 14"/>
              <p:cNvGraphicFramePr>
                <a:graphicFrameLocks noGrp="1"/>
              </p:cNvGraphicFramePr>
              <p:nvPr/>
            </p:nvGraphicFramePr>
            <p:xfrm>
              <a:off x="1692309" y="2944921"/>
              <a:ext cx="3960000" cy="1800000"/>
            </p:xfrm>
            <a:graphic>
              <a:graphicData uri="http://schemas.openxmlformats.org/drawingml/2006/table">
                <a:tbl>
                  <a:tblPr firstRow="1" bandRow="1">
                    <a:tableStyleId>{2D5ABB26-0587-4C30-8999-92F81FD0307C}</a:tableStyleId>
                  </a:tblPr>
                  <a:tblGrid>
                    <a:gridCol w="396000">
                      <a:extLst>
                        <a:ext uri="{9D8B030D-6E8A-4147-A177-3AD203B41FA5}">
                          <a16:colId xmlns:a16="http://schemas.microsoft.com/office/drawing/2014/main" val="451846825"/>
                        </a:ext>
                      </a:extLst>
                    </a:gridCol>
                    <a:gridCol w="396000">
                      <a:extLst>
                        <a:ext uri="{9D8B030D-6E8A-4147-A177-3AD203B41FA5}">
                          <a16:colId xmlns:a16="http://schemas.microsoft.com/office/drawing/2014/main" val="798062128"/>
                        </a:ext>
                      </a:extLst>
                    </a:gridCol>
                    <a:gridCol w="396000">
                      <a:extLst>
                        <a:ext uri="{9D8B030D-6E8A-4147-A177-3AD203B41FA5}">
                          <a16:colId xmlns:a16="http://schemas.microsoft.com/office/drawing/2014/main" val="3057808090"/>
                        </a:ext>
                      </a:extLst>
                    </a:gridCol>
                    <a:gridCol w="396000">
                      <a:extLst>
                        <a:ext uri="{9D8B030D-6E8A-4147-A177-3AD203B41FA5}">
                          <a16:colId xmlns:a16="http://schemas.microsoft.com/office/drawing/2014/main" val="1300489013"/>
                        </a:ext>
                      </a:extLst>
                    </a:gridCol>
                    <a:gridCol w="396000">
                      <a:extLst>
                        <a:ext uri="{9D8B030D-6E8A-4147-A177-3AD203B41FA5}">
                          <a16:colId xmlns:a16="http://schemas.microsoft.com/office/drawing/2014/main" val="1566772811"/>
                        </a:ext>
                      </a:extLst>
                    </a:gridCol>
                    <a:gridCol w="396000">
                      <a:extLst>
                        <a:ext uri="{9D8B030D-6E8A-4147-A177-3AD203B41FA5}">
                          <a16:colId xmlns:a16="http://schemas.microsoft.com/office/drawing/2014/main" val="2976447670"/>
                        </a:ext>
                      </a:extLst>
                    </a:gridCol>
                    <a:gridCol w="396000">
                      <a:extLst>
                        <a:ext uri="{9D8B030D-6E8A-4147-A177-3AD203B41FA5}">
                          <a16:colId xmlns:a16="http://schemas.microsoft.com/office/drawing/2014/main" val="813797407"/>
                        </a:ext>
                      </a:extLst>
                    </a:gridCol>
                    <a:gridCol w="396000">
                      <a:extLst>
                        <a:ext uri="{9D8B030D-6E8A-4147-A177-3AD203B41FA5}">
                          <a16:colId xmlns:a16="http://schemas.microsoft.com/office/drawing/2014/main" val="2611524455"/>
                        </a:ext>
                      </a:extLst>
                    </a:gridCol>
                    <a:gridCol w="396000">
                      <a:extLst>
                        <a:ext uri="{9D8B030D-6E8A-4147-A177-3AD203B41FA5}">
                          <a16:colId xmlns:a16="http://schemas.microsoft.com/office/drawing/2014/main" val="3905324345"/>
                        </a:ext>
                      </a:extLst>
                    </a:gridCol>
                    <a:gridCol w="396000">
                      <a:extLst>
                        <a:ext uri="{9D8B030D-6E8A-4147-A177-3AD203B41FA5}">
                          <a16:colId xmlns:a16="http://schemas.microsoft.com/office/drawing/2014/main" val="2498274354"/>
                        </a:ext>
                      </a:extLst>
                    </a:gridCol>
                  </a:tblGrid>
                  <a:tr h="360000">
                    <a:tc gridSpan="10">
                      <a:txBody>
                        <a:bodyPr/>
                        <a:lstStyle/>
                        <a:p>
                          <a:endParaRPr lang="zh-TW"/>
                        </a:p>
                      </a:txBody>
                      <a:tcPr anchor="ctr">
                        <a:lnB>
                          <a:noFill/>
                        </a:lnB>
                        <a:blipFill>
                          <a:blip r:embed="rId3"/>
                          <a:stretch>
                            <a:fillRect t="-1695" r="-307" b="-418644"/>
                          </a:stretch>
                        </a:blipFill>
                      </a:tcPr>
                    </a:tc>
                    <a:tc hMerge="1">
                      <a:txBody>
                        <a:bodyPr/>
                        <a:lstStyle/>
                        <a:p>
                          <a:pPr algn="ctr"/>
                          <a:endParaRPr lang="zh-TW" altLang="en-US" sz="2400" dirty="0"/>
                        </a:p>
                      </a:txBody>
                      <a:tcPr anchor="ctr">
                        <a:lnB w="12700" cap="flat" cmpd="sng" algn="ctr">
                          <a:noFill/>
                          <a:prstDash val="solid"/>
                          <a:round/>
                          <a:headEnd type="none" w="med" len="med"/>
                          <a:tailEnd type="none" w="med" len="med"/>
                        </a:lnB>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B w="12700" cap="flat" cmpd="sng" algn="ctr">
                          <a:noFill/>
                          <a:prstDash val="solid"/>
                          <a:round/>
                          <a:headEnd type="none" w="med" len="med"/>
                          <a:tailEnd type="none" w="med" len="med"/>
                        </a:lnB>
                      </a:tcPr>
                    </a:tc>
                    <a:tc hMerge="1">
                      <a:txBody>
                        <a:bodyPr/>
                        <a:lstStyle/>
                        <a:p>
                          <a:endParaRPr lang="zh-TW" altLang="en-US"/>
                        </a:p>
                      </a:txBody>
                      <a:tcPr/>
                    </a:tc>
                    <a:tc hMerge="1">
                      <a:txBody>
                        <a:bodyPr/>
                        <a:lstStyle/>
                        <a:p>
                          <a:pPr algn="ctr"/>
                          <a:endParaRPr lang="zh-TW" altLang="en-US" sz="2400" dirty="0"/>
                        </a:p>
                      </a:txBody>
                      <a:tcPr anchor="ctr">
                        <a:lnB w="12700" cap="flat" cmpd="sng" algn="ctr">
                          <a:noFill/>
                          <a:prstDash val="solid"/>
                          <a:round/>
                          <a:headEnd type="none" w="med" len="med"/>
                          <a:tailEnd type="none" w="med" len="med"/>
                        </a:lnB>
                      </a:tcPr>
                    </a:tc>
                    <a:tc hMerge="1">
                      <a:txBody>
                        <a:bodyPr/>
                        <a:lstStyle/>
                        <a:p>
                          <a:pPr algn="ctr"/>
                          <a:endParaRPr lang="zh-TW" altLang="en-US" sz="2400"/>
                        </a:p>
                      </a:txBody>
                      <a:tcPr anchor="ctr">
                        <a:lnB w="12700" cap="flat" cmpd="sng" algn="ctr">
                          <a:noFill/>
                          <a:prstDash val="solid"/>
                          <a:round/>
                          <a:headEnd type="none" w="med" len="med"/>
                          <a:tailEnd type="none" w="med" len="med"/>
                        </a:lnB>
                      </a:tcPr>
                    </a:tc>
                    <a:tc hMerge="1">
                      <a:txBody>
                        <a:bodyPr/>
                        <a:lstStyle/>
                        <a:p>
                          <a:pPr algn="ctr"/>
                          <a:endParaRPr lang="zh-TW" altLang="en-US" sz="2400"/>
                        </a:p>
                      </a:txBody>
                      <a:tcPr anchor="ctr">
                        <a:lnB w="12700" cap="flat" cmpd="sng" algn="ctr">
                          <a:noFill/>
                          <a:prstDash val="solid"/>
                          <a:round/>
                          <a:headEnd type="none" w="med" len="med"/>
                          <a:tailEnd type="none" w="med" len="med"/>
                        </a:lnB>
                      </a:tcPr>
                    </a:tc>
                    <a:tc hMerge="1">
                      <a:txBody>
                        <a:bodyPr/>
                        <a:lstStyle/>
                        <a:p>
                          <a:pPr algn="ctr"/>
                          <a:endParaRPr lang="zh-TW" altLang="en-US" sz="2400" dirty="0"/>
                        </a:p>
                      </a:txBody>
                      <a:tcPr anchor="ctr">
                        <a:lnB w="12700" cap="flat" cmpd="sng" algn="ctr">
                          <a:noFill/>
                          <a:prstDash val="solid"/>
                          <a:round/>
                          <a:headEnd type="none" w="med" len="med"/>
                          <a:tailEnd type="none" w="med" len="med"/>
                        </a:lnB>
                      </a:tcPr>
                    </a:tc>
                    <a:tc hMerge="1">
                      <a:txBody>
                        <a:bodyPr/>
                        <a:lstStyle/>
                        <a:p>
                          <a:pPr algn="ctr"/>
                          <a:endParaRPr lang="zh-TW" altLang="en-US" sz="2400"/>
                        </a:p>
                      </a:txBody>
                      <a:tcPr anchor="ctr">
                        <a:lnB w="12700" cap="flat" cmpd="sng" algn="ctr">
                          <a:noFill/>
                          <a:prstDash val="solid"/>
                          <a:round/>
                          <a:headEnd type="none" w="med" len="med"/>
                          <a:tailEnd type="none" w="med" len="med"/>
                        </a:lnB>
                      </a:tcPr>
                    </a:tc>
                    <a:tc hMerge="1">
                      <a:txBody>
                        <a:bodyPr/>
                        <a:lstStyle/>
                        <a:p>
                          <a:pPr algn="ctr"/>
                          <a:endParaRPr lang="zh-TW" altLang="en-US" sz="2400" dirty="0"/>
                        </a:p>
                      </a:txBody>
                      <a:tcPr anchor="ctr">
                        <a:lnB w="12700" cap="flat" cmpd="sng" algn="ctr">
                          <a:noFill/>
                          <a:prstDash val="solid"/>
                          <a:round/>
                          <a:headEnd type="none" w="med" len="med"/>
                          <a:tailEnd type="none" w="med" len="med"/>
                        </a:lnB>
                      </a:tcPr>
                    </a:tc>
                    <a:extLst>
                      <a:ext uri="{0D108BD9-81ED-4DB2-BD59-A6C34878D82A}">
                        <a16:rowId xmlns:a16="http://schemas.microsoft.com/office/drawing/2014/main" val="1445322297"/>
                      </a:ext>
                    </a:extLst>
                  </a:tr>
                  <a:tr h="360000">
                    <a:tc>
                      <a:txBody>
                        <a:bodyPr/>
                        <a:lstStyle/>
                        <a:p>
                          <a:pPr algn="ctr"/>
                          <a:endParaRPr lang="zh-TW" altLang="en-US" sz="1600" dirty="0"/>
                        </a:p>
                      </a:txBody>
                      <a:tcPr anchor="ctr">
                        <a:lnT>
                          <a:noFill/>
                        </a:lnT>
                      </a:tcPr>
                    </a:tc>
                    <a:tc>
                      <a:txBody>
                        <a:bodyPr/>
                        <a:lstStyle/>
                        <a:p>
                          <a:pPr algn="ctr"/>
                          <a:r>
                            <a:rPr lang="en-US" altLang="zh-TW" sz="1600" dirty="0"/>
                            <a:t>1</a:t>
                          </a:r>
                          <a:endParaRPr lang="zh-TW" altLang="en-US" sz="1600" dirty="0"/>
                        </a:p>
                      </a:txBody>
                      <a:tcPr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a:t>
                          </a:r>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600" dirty="0"/>
                        </a:p>
                      </a:txBody>
                      <a:tcPr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t>7</a:t>
                          </a:r>
                          <a:endParaRPr lang="zh-TW" altLang="en-US" sz="1600" dirty="0"/>
                        </a:p>
                      </a:txBody>
                      <a:tcPr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t>8</a:t>
                          </a:r>
                          <a:endParaRPr lang="zh-TW" altLang="en-US" sz="1600" dirty="0"/>
                        </a:p>
                      </a:txBody>
                      <a:tcPr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t>9</a:t>
                          </a:r>
                          <a:endParaRPr lang="zh-TW" altLang="en-US" sz="1600" dirty="0"/>
                        </a:p>
                      </a:txBody>
                      <a:tcPr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t>10</a:t>
                          </a:r>
                          <a:endParaRPr lang="zh-TW" altLang="en-US" sz="1600" dirty="0"/>
                        </a:p>
                      </a:txBody>
                      <a:tcPr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t>11</a:t>
                          </a:r>
                          <a:endParaRPr lang="zh-TW" altLang="en-US" sz="1600" dirty="0"/>
                        </a:p>
                      </a:txBody>
                      <a:tcPr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t>12</a:t>
                          </a:r>
                          <a:endParaRPr lang="zh-TW" altLang="en-US" sz="1600" dirty="0"/>
                        </a:p>
                      </a:txBody>
                      <a:tcPr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7596911"/>
                      </a:ext>
                    </a:extLst>
                  </a:tr>
                  <a:tr h="360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zh-TW"/>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000" t="-198333" r="-804615" b="-213333"/>
                          </a:stretch>
                        </a:blipFill>
                      </a:tcPr>
                    </a:tc>
                    <a:tc>
                      <a:txBody>
                        <a:bodyPr/>
                        <a:lstStyle/>
                        <a:p>
                          <a:endParaRPr lang="zh-TW"/>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000" t="-198333" r="-704615" b="-213333"/>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77658" marR="77658" marT="38829" marB="38829"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p>
                      </a:txBody>
                      <a:tcPr marL="77658" marR="77658" marT="38829" marB="38829" anchor="ctr">
                        <a:lnL w="12700" cap="flat" cmpd="sng" algn="ctr">
                          <a:solidFill>
                            <a:schemeClr val="tx1"/>
                          </a:solidFill>
                          <a:prstDash val="sysDashDot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93939" t="-198333" r="-495455" b="-213333"/>
                          </a:stretch>
                        </a:blipFill>
                      </a:tcPr>
                    </a:tc>
                    <a:tc>
                      <a:txBody>
                        <a:bodyPr/>
                        <a:lstStyle/>
                        <a:p>
                          <a:endParaRPr lang="zh-TW"/>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01538" t="-198333" r="-403077" b="-213333"/>
                          </a:stretch>
                        </a:blipFill>
                      </a:tcPr>
                    </a:tc>
                    <a:tc>
                      <a:txBody>
                        <a:bodyPr/>
                        <a:lstStyle/>
                        <a:p>
                          <a:endParaRPr lang="zh-TW"/>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01538" t="-198333" r="-303077" b="-213333"/>
                          </a:stretch>
                        </a:blipFill>
                      </a:tcPr>
                    </a:tc>
                    <a:tc>
                      <a:txBody>
                        <a:bodyPr/>
                        <a:lstStyle/>
                        <a:p>
                          <a:endParaRPr lang="zh-TW"/>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01538" t="-198333" r="-203077" b="-213333"/>
                          </a:stretch>
                        </a:blipFill>
                      </a:tcPr>
                    </a:tc>
                    <a:tc>
                      <a:txBody>
                        <a:bodyPr/>
                        <a:lstStyle/>
                        <a:p>
                          <a:endParaRPr lang="zh-TW"/>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801538" t="-198333" r="-103077" b="-213333"/>
                          </a:stretch>
                        </a:blipFill>
                      </a:tcPr>
                    </a:tc>
                    <a:tc>
                      <a:txBody>
                        <a:bodyPr/>
                        <a:lstStyle/>
                        <a:p>
                          <a:endParaRPr lang="zh-TW"/>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01538" t="-198333" r="-3077" b="-213333"/>
                          </a:stretch>
                        </a:blipFill>
                      </a:tcPr>
                    </a:tc>
                    <a:extLst>
                      <a:ext uri="{0D108BD9-81ED-4DB2-BD59-A6C34878D82A}">
                        <a16:rowId xmlns:a16="http://schemas.microsoft.com/office/drawing/2014/main" val="1290952343"/>
                      </a:ext>
                    </a:extLst>
                  </a:tr>
                  <a:tr h="360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a:t>
                          </a:r>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zh-TW"/>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000" t="-303390" r="-804615" b="-116949"/>
                          </a:stretch>
                        </a:blipFill>
                      </a:tcPr>
                    </a:tc>
                    <a:tc>
                      <a:txBody>
                        <a:bodyPr/>
                        <a:lstStyle/>
                        <a:p>
                          <a:endParaRPr lang="zh-TW"/>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000" t="-303390" r="-704615" b="-116949"/>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77658" marR="77658" marT="38829" marB="38829"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p>
                      </a:txBody>
                      <a:tcPr marL="77658" marR="77658" marT="38829" marB="38829" anchor="ctr">
                        <a:lnL w="12700" cap="flat" cmpd="sng" algn="ctr">
                          <a:solidFill>
                            <a:schemeClr val="tx1"/>
                          </a:solidFill>
                          <a:prstDash val="sysDashDot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93939" t="-303390" r="-495455" b="-116949"/>
                          </a:stretch>
                        </a:blipFill>
                      </a:tcPr>
                    </a:tc>
                    <a:tc>
                      <a:txBody>
                        <a:bodyPr/>
                        <a:lstStyle/>
                        <a:p>
                          <a:endParaRPr lang="zh-TW"/>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01538" t="-303390" r="-403077" b="-116949"/>
                          </a:stretch>
                        </a:blipFill>
                      </a:tcPr>
                    </a:tc>
                    <a:tc>
                      <a:txBody>
                        <a:bodyPr/>
                        <a:lstStyle/>
                        <a:p>
                          <a:endParaRPr lang="zh-TW"/>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01538" t="-303390" r="-303077" b="-116949"/>
                          </a:stretch>
                        </a:blipFill>
                      </a:tcPr>
                    </a:tc>
                    <a:tc>
                      <a:txBody>
                        <a:bodyPr/>
                        <a:lstStyle/>
                        <a:p>
                          <a:endParaRPr lang="zh-TW"/>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01538" t="-303390" r="-203077" b="-116949"/>
                          </a:stretch>
                        </a:blipFill>
                      </a:tcPr>
                    </a:tc>
                    <a:tc>
                      <a:txBody>
                        <a:bodyPr/>
                        <a:lstStyle/>
                        <a:p>
                          <a:endParaRPr lang="zh-TW"/>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801538" t="-303390" r="-103077" b="-116949"/>
                          </a:stretch>
                        </a:blipFill>
                      </a:tcPr>
                    </a:tc>
                    <a:tc>
                      <a:txBody>
                        <a:bodyPr/>
                        <a:lstStyle/>
                        <a:p>
                          <a:endParaRPr lang="zh-TW"/>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01538" t="-303390" r="-3077" b="-116949"/>
                          </a:stretch>
                        </a:blipFill>
                      </a:tcPr>
                    </a:tc>
                    <a:extLst>
                      <a:ext uri="{0D108BD9-81ED-4DB2-BD59-A6C34878D82A}">
                        <a16:rowId xmlns:a16="http://schemas.microsoft.com/office/drawing/2014/main" val="4159104109"/>
                      </a:ext>
                    </a:extLst>
                  </a:tr>
                  <a:tr h="360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zh-TW"/>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000" t="-403390" r="-804615" b="-16949"/>
                          </a:stretch>
                        </a:blipFill>
                      </a:tcPr>
                    </a:tc>
                    <a:tc>
                      <a:txBody>
                        <a:bodyPr/>
                        <a:lstStyle/>
                        <a:p>
                          <a:endParaRPr lang="zh-TW"/>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000" t="-403390" r="-704615" b="-16949"/>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77658" marR="77658" marT="38829" marB="38829"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p>
                      </a:txBody>
                      <a:tcPr marL="77658" marR="77658" marT="38829" marB="38829" anchor="ctr">
                        <a:lnL w="12700" cap="flat" cmpd="sng" algn="ctr">
                          <a:solidFill>
                            <a:schemeClr val="tx1"/>
                          </a:solidFill>
                          <a:prstDash val="sysDashDot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93939" t="-403390" r="-495455" b="-16949"/>
                          </a:stretch>
                        </a:blipFill>
                      </a:tcPr>
                    </a:tc>
                    <a:tc>
                      <a:txBody>
                        <a:bodyPr/>
                        <a:lstStyle/>
                        <a:p>
                          <a:endParaRPr lang="zh-TW"/>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01538" t="-403390" r="-403077" b="-16949"/>
                          </a:stretch>
                        </a:blipFill>
                      </a:tcPr>
                    </a:tc>
                    <a:tc>
                      <a:txBody>
                        <a:bodyPr/>
                        <a:lstStyle/>
                        <a:p>
                          <a:endParaRPr lang="zh-TW"/>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01538" t="-403390" r="-303077" b="-16949"/>
                          </a:stretch>
                        </a:blipFill>
                      </a:tcPr>
                    </a:tc>
                    <a:tc>
                      <a:txBody>
                        <a:bodyPr/>
                        <a:lstStyle/>
                        <a:p>
                          <a:endParaRPr lang="zh-TW"/>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01538" t="-403390" r="-203077" b="-16949"/>
                          </a:stretch>
                        </a:blipFill>
                      </a:tcPr>
                    </a:tc>
                    <a:tc>
                      <a:txBody>
                        <a:bodyPr/>
                        <a:lstStyle/>
                        <a:p>
                          <a:endParaRPr lang="zh-TW"/>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801538" t="-403390" r="-103077" b="-16949"/>
                          </a:stretch>
                        </a:blipFill>
                      </a:tcPr>
                    </a:tc>
                    <a:tc>
                      <a:txBody>
                        <a:bodyPr/>
                        <a:lstStyle/>
                        <a:p>
                          <a:endParaRPr lang="zh-TW"/>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01538" t="-403390" r="-3077" b="-16949"/>
                          </a:stretch>
                        </a:blipFill>
                      </a:tcPr>
                    </a:tc>
                    <a:extLst>
                      <a:ext uri="{0D108BD9-81ED-4DB2-BD59-A6C34878D82A}">
                        <a16:rowId xmlns:a16="http://schemas.microsoft.com/office/drawing/2014/main" val="3093340570"/>
                      </a:ext>
                    </a:extLst>
                  </a:tr>
                </a:tbl>
              </a:graphicData>
            </a:graphic>
          </p:graphicFrame>
        </mc:Fallback>
      </mc:AlternateContent>
      <mc:AlternateContent xmlns:mc="http://schemas.openxmlformats.org/markup-compatibility/2006" xmlns:a14="http://schemas.microsoft.com/office/drawing/2010/main">
        <mc:Choice Requires="a14">
          <p:sp>
            <p:nvSpPr>
              <p:cNvPr id="16" name="文字方塊 15"/>
              <p:cNvSpPr txBox="1"/>
              <p:nvPr/>
            </p:nvSpPr>
            <p:spPr>
              <a:xfrm>
                <a:off x="1921744" y="1569289"/>
                <a:ext cx="2190215" cy="1375633"/>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en-US" altLang="zh-TW" sz="2800" i="1">
                              <a:latin typeface="Cambria Math" panose="02040503050406030204" pitchFamily="18" charset="0"/>
                            </a:rPr>
                          </m:ctrlPr>
                        </m:dPr>
                        <m:e>
                          <m:eqArr>
                            <m:eqArrPr>
                              <m:ctrlPr>
                                <a:rPr lang="en-US" altLang="zh-TW" sz="2800" i="1">
                                  <a:latin typeface="Cambria Math" panose="02040503050406030204" pitchFamily="18" charset="0"/>
                                </a:rPr>
                              </m:ctrlPr>
                            </m:eqArrPr>
                            <m:e>
                              <m:d>
                                <m:dPr>
                                  <m:ctrlPr>
                                    <a:rPr lang="en-US" altLang="zh-TW" sz="2800" i="1">
                                      <a:latin typeface="Cambria Math" panose="02040503050406030204" pitchFamily="18" charset="0"/>
                                    </a:rPr>
                                  </m:ctrlPr>
                                </m:dPr>
                                <m:e>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𝑥</m:t>
                                      </m:r>
                                    </m:e>
                                    <m:sub>
                                      <m:r>
                                        <a:rPr lang="en-US" altLang="zh-TW" sz="2800" i="1">
                                          <a:latin typeface="Cambria Math" panose="02040503050406030204" pitchFamily="18" charset="0"/>
                                        </a:rPr>
                                        <m:t>1</m:t>
                                      </m:r>
                                    </m:sub>
                                  </m:sSub>
                                  <m:r>
                                    <a:rPr lang="en-US" altLang="zh-TW" sz="2800" i="1">
                                      <a:latin typeface="Cambria Math" panose="02040503050406030204" pitchFamily="18" charset="0"/>
                                    </a:rPr>
                                    <m:t>,</m:t>
                                  </m:r>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𝑦</m:t>
                                      </m:r>
                                    </m:e>
                                    <m:sub>
                                      <m:r>
                                        <a:rPr lang="en-US" altLang="zh-TW" sz="2800" i="1">
                                          <a:latin typeface="Cambria Math" panose="02040503050406030204" pitchFamily="18" charset="0"/>
                                        </a:rPr>
                                        <m:t>1</m:t>
                                      </m:r>
                                    </m:sub>
                                  </m:sSub>
                                  <m:r>
                                    <a:rPr lang="en-US" altLang="zh-TW" sz="2800" i="1">
                                      <a:latin typeface="Cambria Math" panose="02040503050406030204" pitchFamily="18" charset="0"/>
                                    </a:rPr>
                                    <m:t>,</m:t>
                                  </m:r>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𝑧</m:t>
                                      </m:r>
                                    </m:e>
                                    <m:sub>
                                      <m:r>
                                        <a:rPr lang="en-US" altLang="zh-TW" sz="2800" i="1">
                                          <a:latin typeface="Cambria Math" panose="02040503050406030204" pitchFamily="18" charset="0"/>
                                        </a:rPr>
                                        <m:t>1</m:t>
                                      </m:r>
                                    </m:sub>
                                  </m:sSub>
                                </m:e>
                              </m:d>
                              <m:r>
                                <a:rPr lang="en-US" altLang="zh-TW" sz="2800" i="1">
                                  <a:latin typeface="Cambria Math" panose="02040503050406030204" pitchFamily="18" charset="0"/>
                                </a:rPr>
                                <m:t>,</m:t>
                              </m:r>
                            </m:e>
                            <m:e>
                              <m:d>
                                <m:dPr>
                                  <m:ctrlPr>
                                    <a:rPr lang="en-US" altLang="zh-TW" sz="2800" i="1">
                                      <a:latin typeface="Cambria Math" panose="02040503050406030204" pitchFamily="18" charset="0"/>
                                    </a:rPr>
                                  </m:ctrlPr>
                                </m:dPr>
                                <m:e>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𝑥</m:t>
                                      </m:r>
                                    </m:e>
                                    <m:sub>
                                      <m:r>
                                        <a:rPr lang="en-US" altLang="zh-TW" sz="2800" i="1">
                                          <a:latin typeface="Cambria Math" panose="02040503050406030204" pitchFamily="18" charset="0"/>
                                        </a:rPr>
                                        <m:t>1</m:t>
                                      </m:r>
                                    </m:sub>
                                  </m:sSub>
                                  <m:r>
                                    <a:rPr lang="en-US" altLang="zh-TW" sz="2800" i="1">
                                      <a:latin typeface="Cambria Math" panose="02040503050406030204" pitchFamily="18" charset="0"/>
                                    </a:rPr>
                                    <m:t>,</m:t>
                                  </m:r>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𝑦</m:t>
                                      </m:r>
                                    </m:e>
                                    <m:sub>
                                      <m:r>
                                        <a:rPr lang="en-US" altLang="zh-TW" sz="2800" i="1">
                                          <a:latin typeface="Cambria Math" panose="02040503050406030204" pitchFamily="18" charset="0"/>
                                        </a:rPr>
                                        <m:t>2</m:t>
                                      </m:r>
                                    </m:sub>
                                  </m:sSub>
                                  <m:r>
                                    <a:rPr lang="en-US" altLang="zh-TW" sz="2800" i="1">
                                      <a:latin typeface="Cambria Math" panose="02040503050406030204" pitchFamily="18" charset="0"/>
                                    </a:rPr>
                                    <m:t>,</m:t>
                                  </m:r>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𝑧</m:t>
                                      </m:r>
                                    </m:e>
                                    <m:sub>
                                      <m:r>
                                        <a:rPr lang="en-US" altLang="zh-TW" sz="2800" i="1">
                                          <a:latin typeface="Cambria Math" panose="02040503050406030204" pitchFamily="18" charset="0"/>
                                        </a:rPr>
                                        <m:t>1</m:t>
                                      </m:r>
                                    </m:sub>
                                  </m:sSub>
                                </m:e>
                              </m:d>
                              <m:r>
                                <a:rPr lang="en-US" altLang="zh-TW" sz="2800" i="1">
                                  <a:latin typeface="Cambria Math" panose="02040503050406030204" pitchFamily="18" charset="0"/>
                                </a:rPr>
                                <m:t>,</m:t>
                              </m:r>
                            </m:e>
                            <m:e>
                              <m:d>
                                <m:dPr>
                                  <m:ctrlPr>
                                    <a:rPr lang="en-US" altLang="zh-TW" sz="2800" i="1">
                                      <a:latin typeface="Cambria Math" panose="02040503050406030204" pitchFamily="18" charset="0"/>
                                    </a:rPr>
                                  </m:ctrlPr>
                                </m:dPr>
                                <m:e>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𝑥</m:t>
                                      </m:r>
                                    </m:e>
                                    <m:sub>
                                      <m:r>
                                        <a:rPr lang="en-US" altLang="zh-TW" sz="2800" i="1">
                                          <a:latin typeface="Cambria Math" panose="02040503050406030204" pitchFamily="18" charset="0"/>
                                        </a:rPr>
                                        <m:t>2</m:t>
                                      </m:r>
                                    </m:sub>
                                  </m:sSub>
                                  <m:r>
                                    <a:rPr lang="en-US" altLang="zh-TW" sz="2800" i="1">
                                      <a:latin typeface="Cambria Math" panose="02040503050406030204" pitchFamily="18" charset="0"/>
                                    </a:rPr>
                                    <m:t>,</m:t>
                                  </m:r>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𝑦</m:t>
                                      </m:r>
                                    </m:e>
                                    <m:sub>
                                      <m:r>
                                        <a:rPr lang="en-US" altLang="zh-TW" sz="2800" i="1">
                                          <a:latin typeface="Cambria Math" panose="02040503050406030204" pitchFamily="18" charset="0"/>
                                        </a:rPr>
                                        <m:t>2</m:t>
                                      </m:r>
                                    </m:sub>
                                  </m:sSub>
                                  <m:r>
                                    <a:rPr lang="en-US" altLang="zh-TW" sz="2800" i="1">
                                      <a:latin typeface="Cambria Math" panose="02040503050406030204" pitchFamily="18" charset="0"/>
                                    </a:rPr>
                                    <m:t>,</m:t>
                                  </m:r>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𝑧</m:t>
                                      </m:r>
                                    </m:e>
                                    <m:sub>
                                      <m:r>
                                        <a:rPr lang="en-US" altLang="zh-TW" sz="2800" i="1">
                                          <a:latin typeface="Cambria Math" panose="02040503050406030204" pitchFamily="18" charset="0"/>
                                        </a:rPr>
                                        <m:t>2</m:t>
                                      </m:r>
                                    </m:sub>
                                  </m:sSub>
                                </m:e>
                              </m:d>
                              <m:r>
                                <a:rPr lang="en-US" altLang="zh-TW" sz="2800" i="1">
                                  <a:solidFill>
                                    <a:schemeClr val="bg1"/>
                                  </a:solidFill>
                                  <a:latin typeface="Cambria Math" panose="02040503050406030204" pitchFamily="18" charset="0"/>
                                </a:rPr>
                                <m:t>,</m:t>
                              </m:r>
                            </m:e>
                          </m:eqArr>
                        </m:e>
                      </m:d>
                    </m:oMath>
                  </m:oMathPara>
                </a14:m>
                <a:endParaRPr lang="zh-TW" altLang="en-US" sz="2800" dirty="0"/>
              </a:p>
            </p:txBody>
          </p:sp>
        </mc:Choice>
        <mc:Fallback xmlns="">
          <p:sp>
            <p:nvSpPr>
              <p:cNvPr id="16" name="文字方塊 15"/>
              <p:cNvSpPr txBox="1">
                <a:spLocks noRot="1" noChangeAspect="1" noMove="1" noResize="1" noEditPoints="1" noAdjustHandles="1" noChangeArrowheads="1" noChangeShapeType="1" noTextEdit="1"/>
              </p:cNvSpPr>
              <p:nvPr/>
            </p:nvSpPr>
            <p:spPr>
              <a:xfrm>
                <a:off x="1921744" y="1569289"/>
                <a:ext cx="2190215" cy="1375633"/>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6" name="表格 5"/>
              <p:cNvGraphicFramePr>
                <a:graphicFrameLocks noGrp="1"/>
              </p:cNvGraphicFramePr>
              <p:nvPr/>
            </p:nvGraphicFramePr>
            <p:xfrm>
              <a:off x="5916855" y="-34775"/>
              <a:ext cx="4680000" cy="682560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1387076958"/>
                        </a:ext>
                      </a:extLst>
                    </a:gridCol>
                    <a:gridCol w="360000">
                      <a:extLst>
                        <a:ext uri="{9D8B030D-6E8A-4147-A177-3AD203B41FA5}">
                          <a16:colId xmlns:a16="http://schemas.microsoft.com/office/drawing/2014/main" val="2153631969"/>
                        </a:ext>
                      </a:extLst>
                    </a:gridCol>
                    <a:gridCol w="360000">
                      <a:extLst>
                        <a:ext uri="{9D8B030D-6E8A-4147-A177-3AD203B41FA5}">
                          <a16:colId xmlns:a16="http://schemas.microsoft.com/office/drawing/2014/main" val="1595096996"/>
                        </a:ext>
                      </a:extLst>
                    </a:gridCol>
                    <a:gridCol w="360000">
                      <a:extLst>
                        <a:ext uri="{9D8B030D-6E8A-4147-A177-3AD203B41FA5}">
                          <a16:colId xmlns:a16="http://schemas.microsoft.com/office/drawing/2014/main" val="3008651153"/>
                        </a:ext>
                      </a:extLst>
                    </a:gridCol>
                    <a:gridCol w="360000">
                      <a:extLst>
                        <a:ext uri="{9D8B030D-6E8A-4147-A177-3AD203B41FA5}">
                          <a16:colId xmlns:a16="http://schemas.microsoft.com/office/drawing/2014/main" val="135324811"/>
                        </a:ext>
                      </a:extLst>
                    </a:gridCol>
                    <a:gridCol w="360000">
                      <a:extLst>
                        <a:ext uri="{9D8B030D-6E8A-4147-A177-3AD203B41FA5}">
                          <a16:colId xmlns:a16="http://schemas.microsoft.com/office/drawing/2014/main" val="3441802756"/>
                        </a:ext>
                      </a:extLst>
                    </a:gridCol>
                    <a:gridCol w="360000">
                      <a:extLst>
                        <a:ext uri="{9D8B030D-6E8A-4147-A177-3AD203B41FA5}">
                          <a16:colId xmlns:a16="http://schemas.microsoft.com/office/drawing/2014/main" val="1615431031"/>
                        </a:ext>
                      </a:extLst>
                    </a:gridCol>
                    <a:gridCol w="360000">
                      <a:extLst>
                        <a:ext uri="{9D8B030D-6E8A-4147-A177-3AD203B41FA5}">
                          <a16:colId xmlns:a16="http://schemas.microsoft.com/office/drawing/2014/main" val="695535024"/>
                        </a:ext>
                      </a:extLst>
                    </a:gridCol>
                    <a:gridCol w="360000">
                      <a:extLst>
                        <a:ext uri="{9D8B030D-6E8A-4147-A177-3AD203B41FA5}">
                          <a16:colId xmlns:a16="http://schemas.microsoft.com/office/drawing/2014/main" val="2612606182"/>
                        </a:ext>
                      </a:extLst>
                    </a:gridCol>
                    <a:gridCol w="360000">
                      <a:extLst>
                        <a:ext uri="{9D8B030D-6E8A-4147-A177-3AD203B41FA5}">
                          <a16:colId xmlns:a16="http://schemas.microsoft.com/office/drawing/2014/main" val="2968137960"/>
                        </a:ext>
                      </a:extLst>
                    </a:gridCol>
                    <a:gridCol w="360000">
                      <a:extLst>
                        <a:ext uri="{9D8B030D-6E8A-4147-A177-3AD203B41FA5}">
                          <a16:colId xmlns:a16="http://schemas.microsoft.com/office/drawing/2014/main" val="2378456948"/>
                        </a:ext>
                      </a:extLst>
                    </a:gridCol>
                    <a:gridCol w="360000">
                      <a:extLst>
                        <a:ext uri="{9D8B030D-6E8A-4147-A177-3AD203B41FA5}">
                          <a16:colId xmlns:a16="http://schemas.microsoft.com/office/drawing/2014/main" val="4089029598"/>
                        </a:ext>
                      </a:extLst>
                    </a:gridCol>
                    <a:gridCol w="360000">
                      <a:extLst>
                        <a:ext uri="{9D8B030D-6E8A-4147-A177-3AD203B41FA5}">
                          <a16:colId xmlns:a16="http://schemas.microsoft.com/office/drawing/2014/main" val="3024970534"/>
                        </a:ext>
                      </a:extLst>
                    </a:gridCol>
                  </a:tblGrid>
                  <a:tr h="288000">
                    <a:tc>
                      <a:txBody>
                        <a:bodyPr/>
                        <a:lstStyle/>
                        <a:p>
                          <a:pPr algn="ctr"/>
                          <a:endParaRPr lang="zh-TW" altLang="en-US" sz="1400" dirty="0">
                            <a:latin typeface="Times New Roman" panose="02020603050405020304" pitchFamily="18" charset="0"/>
                            <a:cs typeface="Times New Roman" panose="02020603050405020304" pitchFamily="18" charset="0"/>
                          </a:endParaRPr>
                        </a:p>
                      </a:txBody>
                      <a:tcPr anchor="ctr"/>
                    </a:tc>
                    <a:tc gridSpan="12">
                      <a:txBody>
                        <a:bodyPr/>
                        <a:lstStyle/>
                        <a:p>
                          <a:pPr algn="ctr"/>
                          <a:r>
                            <a:rPr lang="en-US" altLang="zh-TW" sz="1400" dirty="0">
                              <a:latin typeface="Times New Roman" panose="02020603050405020304" pitchFamily="18" charset="0"/>
                              <a:cs typeface="Times New Roman" panose="02020603050405020304" pitchFamily="18" charset="0"/>
                            </a:rPr>
                            <a:t>Matrix </a:t>
                          </a:r>
                          <a14:m>
                            <m:oMath xmlns:m="http://schemas.openxmlformats.org/officeDocument/2006/math">
                              <m:r>
                                <a:rPr lang="en-US" altLang="zh-TW" sz="1400" i="1" dirty="0" smtClean="0">
                                  <a:latin typeface="Cambria Math" panose="02040503050406030204" pitchFamily="18" charset="0"/>
                                </a:rPr>
                                <m:t>𝐵</m:t>
                              </m:r>
                            </m:oMath>
                          </a14:m>
                          <a:endParaRPr lang="zh-TW" altLang="en-US" sz="1400" dirty="0">
                            <a:latin typeface="Times New Roman" panose="02020603050405020304" pitchFamily="18" charset="0"/>
                            <a:cs typeface="Times New Roman" panose="02020603050405020304" pitchFamily="18" charset="0"/>
                          </a:endParaRPr>
                        </a:p>
                      </a:txBody>
                      <a:tcPr anchor="ct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2277614982"/>
                      </a:ext>
                    </a:extLst>
                  </a:tr>
                  <a:tr h="216000">
                    <a:tc>
                      <a:txBody>
                        <a:bodyPr/>
                        <a:lstStyle/>
                        <a:p>
                          <a:pPr algn="ctr"/>
                          <a:endParaRPr lang="zh-TW" altLang="en-US" sz="140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sz="140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TW" sz="1400" b="0" i="1" smtClean="0">
                                    <a:solidFill>
                                      <a:srgbClr val="FF0000"/>
                                    </a:solidFill>
                                    <a:latin typeface="Cambria Math" panose="02040503050406030204" pitchFamily="18" charset="0"/>
                                  </a:rPr>
                                  <m:t>𝑥</m:t>
                                </m:r>
                              </m:oMath>
                            </m:oMathPara>
                          </a14:m>
                          <a:endParaRPr lang="zh-TW" altLang="en-US" sz="1400" dirty="0">
                            <a:solidFill>
                              <a:srgbClr val="FF0000"/>
                            </a:solidFill>
                            <a:latin typeface="Times New Roman" panose="02020603050405020304" pitchFamily="18" charset="0"/>
                            <a:cs typeface="Times New Roman" panose="02020603050405020304" pitchFamily="18" charset="0"/>
                          </a:endParaRPr>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TW" sz="1400" b="0" i="1" smtClean="0">
                                    <a:solidFill>
                                      <a:srgbClr val="FF0000"/>
                                    </a:solidFill>
                                    <a:latin typeface="Cambria Math" panose="02040503050406030204" pitchFamily="18" charset="0"/>
                                  </a:rPr>
                                  <m:t>𝑦</m:t>
                                </m:r>
                              </m:oMath>
                            </m:oMathPara>
                          </a14:m>
                          <a:endParaRPr lang="zh-TW" altLang="en-US" sz="1400" dirty="0">
                            <a:solidFill>
                              <a:srgbClr val="FF0000"/>
                            </a:solidFill>
                            <a:latin typeface="Times New Roman" panose="02020603050405020304" pitchFamily="18" charset="0"/>
                            <a:cs typeface="Times New Roman" panose="02020603050405020304" pitchFamily="18" charset="0"/>
                          </a:endParaRPr>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TW" sz="1400" b="0" i="1" smtClean="0">
                                    <a:solidFill>
                                      <a:srgbClr val="FF0000"/>
                                    </a:solidFill>
                                    <a:latin typeface="Cambria Math" panose="02040503050406030204" pitchFamily="18" charset="0"/>
                                  </a:rPr>
                                  <m:t>𝑧</m:t>
                                </m:r>
                              </m:oMath>
                            </m:oMathPara>
                          </a14:m>
                          <a:endParaRPr lang="zh-TW" altLang="en-US" sz="1400" dirty="0">
                            <a:solidFill>
                              <a:srgbClr val="FF0000"/>
                            </a:solidFill>
                            <a:latin typeface="Times New Roman" panose="02020603050405020304" pitchFamily="18" charset="0"/>
                            <a:cs typeface="Times New Roman" panose="02020603050405020304" pitchFamily="18" charset="0"/>
                          </a:endParaRPr>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1400" b="0" i="1" smtClean="0">
                                        <a:solidFill>
                                          <a:srgbClr val="FF0000"/>
                                        </a:solidFill>
                                        <a:latin typeface="Cambria Math" panose="02040503050406030204" pitchFamily="18" charset="0"/>
                                      </a:rPr>
                                    </m:ctrlPr>
                                  </m:sSubPr>
                                  <m:e>
                                    <m:r>
                                      <a:rPr lang="en-US" altLang="zh-TW" sz="1400" b="0" i="1" smtClean="0">
                                        <a:solidFill>
                                          <a:srgbClr val="FF0000"/>
                                        </a:solidFill>
                                        <a:latin typeface="Cambria Math" panose="02040503050406030204" pitchFamily="18" charset="0"/>
                                      </a:rPr>
                                      <m:t>𝑙</m:t>
                                    </m:r>
                                  </m:e>
                                  <m:sub>
                                    <m:r>
                                      <a:rPr lang="en-US" altLang="zh-TW" sz="1400" b="0" i="1" smtClean="0">
                                        <a:solidFill>
                                          <a:srgbClr val="FF0000"/>
                                        </a:solidFill>
                                        <a:latin typeface="Cambria Math" panose="02040503050406030204" pitchFamily="18" charset="0"/>
                                      </a:rPr>
                                      <m:t>1</m:t>
                                    </m:r>
                                  </m:sub>
                                </m:sSub>
                              </m:oMath>
                            </m:oMathPara>
                          </a14:m>
                          <a:endParaRPr lang="zh-TW" altLang="en-US" sz="1400" dirty="0">
                            <a:solidFill>
                              <a:srgbClr val="FF0000"/>
                            </a:solidFill>
                            <a:latin typeface="Times New Roman" panose="02020603050405020304" pitchFamily="18" charset="0"/>
                            <a:cs typeface="Times New Roman" panose="02020603050405020304" pitchFamily="18" charset="0"/>
                          </a:endParaRPr>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1400" b="0" i="1" smtClean="0">
                                        <a:solidFill>
                                          <a:srgbClr val="FF0000"/>
                                        </a:solidFill>
                                        <a:latin typeface="Cambria Math" panose="02040503050406030204" pitchFamily="18" charset="0"/>
                                      </a:rPr>
                                    </m:ctrlPr>
                                  </m:sSubPr>
                                  <m:e>
                                    <m:r>
                                      <a:rPr lang="en-US" altLang="zh-TW" sz="1400" b="0" i="1" smtClean="0">
                                        <a:solidFill>
                                          <a:srgbClr val="FF0000"/>
                                        </a:solidFill>
                                        <a:latin typeface="Cambria Math" panose="02040503050406030204" pitchFamily="18" charset="0"/>
                                      </a:rPr>
                                      <m:t>𝑙</m:t>
                                    </m:r>
                                  </m:e>
                                  <m:sub>
                                    <m:r>
                                      <a:rPr lang="en-US" altLang="zh-TW" sz="1400" b="0" i="1" smtClean="0">
                                        <a:solidFill>
                                          <a:srgbClr val="FF0000"/>
                                        </a:solidFill>
                                        <a:latin typeface="Cambria Math" panose="02040503050406030204" pitchFamily="18" charset="0"/>
                                      </a:rPr>
                                      <m:t>2</m:t>
                                    </m:r>
                                  </m:sub>
                                </m:sSub>
                              </m:oMath>
                            </m:oMathPara>
                          </a14:m>
                          <a:endParaRPr lang="zh-TW" altLang="en-US" sz="1400" dirty="0">
                            <a:solidFill>
                              <a:srgbClr val="FF0000"/>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021729477"/>
                      </a:ext>
                    </a:extLst>
                  </a:tr>
                  <a:tr h="288000">
                    <a:tc>
                      <a:txBody>
                        <a:bodyPr/>
                        <a:lstStyle/>
                        <a:p>
                          <a:pPr algn="ctr"/>
                          <a:endParaRPr lang="zh-TW" altLang="en-US" sz="1400">
                            <a:latin typeface="Times New Roman" panose="02020603050405020304" pitchFamily="18" charset="0"/>
                            <a:cs typeface="Times New Roman" panose="02020603050405020304" pitchFamily="18" charset="0"/>
                          </a:endParaRPr>
                        </a:p>
                      </a:txBody>
                      <a:tcPr anchor="ctr">
                        <a:lnB>
                          <a:noFill/>
                        </a:lnB>
                      </a:tcPr>
                    </a:tc>
                    <a:tc>
                      <a:txBody>
                        <a:bodyPr/>
                        <a:lstStyle/>
                        <a:p>
                          <a:pPr algn="ctr"/>
                          <a:endParaRPr lang="zh-TW" altLang="en-US" sz="140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a:latin typeface="Times New Roman" panose="02020603050405020304" pitchFamily="18" charset="0"/>
                              <a:cs typeface="Times New Roman" panose="02020603050405020304" pitchFamily="18" charset="0"/>
                            </a:rPr>
                            <a:t>1</a:t>
                          </a:r>
                          <a:endParaRPr lang="zh-TW" altLang="en-US" sz="14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1400" dirty="0">
                              <a:latin typeface="Times New Roman" panose="02020603050405020304" pitchFamily="18" charset="0"/>
                              <a:cs typeface="Times New Roman" panose="02020603050405020304" pitchFamily="18" charset="0"/>
                            </a:rPr>
                            <a:t>2</a:t>
                          </a:r>
                          <a:endParaRPr lang="zh-TW" altLang="en-US" sz="14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1400" dirty="0">
                              <a:latin typeface="Times New Roman" panose="02020603050405020304" pitchFamily="18" charset="0"/>
                              <a:cs typeface="Times New Roman" panose="02020603050405020304" pitchFamily="18" charset="0"/>
                            </a:rPr>
                            <a:t>3</a:t>
                          </a:r>
                          <a:endParaRPr lang="zh-TW" altLang="en-US" sz="14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1400" dirty="0">
                              <a:latin typeface="Times New Roman" panose="02020603050405020304" pitchFamily="18" charset="0"/>
                              <a:cs typeface="Times New Roman" panose="02020603050405020304" pitchFamily="18" charset="0"/>
                            </a:rPr>
                            <a:t>4</a:t>
                          </a:r>
                          <a:endParaRPr lang="zh-TW" altLang="en-US" sz="14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1400" dirty="0">
                              <a:latin typeface="Times New Roman" panose="02020603050405020304" pitchFamily="18" charset="0"/>
                              <a:cs typeface="Times New Roman" panose="02020603050405020304" pitchFamily="18" charset="0"/>
                            </a:rPr>
                            <a:t>5</a:t>
                          </a:r>
                          <a:endParaRPr lang="zh-TW" altLang="en-US" sz="14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tc>
                      <a:txBody>
                        <a:bodyPr/>
                        <a:lstStyle/>
                        <a:p>
                          <a:pPr algn="ctr"/>
                          <a:endParaRPr lang="zh-TW" altLang="en-US" sz="14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1200" dirty="0">
                              <a:latin typeface="Times New Roman" panose="02020603050405020304" pitchFamily="18" charset="0"/>
                              <a:cs typeface="Times New Roman" panose="02020603050405020304" pitchFamily="18" charset="0"/>
                            </a:rPr>
                            <a:t>11</a:t>
                          </a:r>
                          <a:endParaRPr lang="zh-TW" altLang="en-US" sz="12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1200" dirty="0">
                              <a:latin typeface="Times New Roman" panose="02020603050405020304" pitchFamily="18" charset="0"/>
                              <a:cs typeface="Times New Roman" panose="02020603050405020304" pitchFamily="18" charset="0"/>
                            </a:rPr>
                            <a:t>12</a:t>
                          </a:r>
                          <a:endParaRPr lang="zh-TW" altLang="en-US" sz="12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1200" dirty="0">
                              <a:latin typeface="Times New Roman" panose="02020603050405020304" pitchFamily="18" charset="0"/>
                              <a:cs typeface="Times New Roman" panose="02020603050405020304" pitchFamily="18" charset="0"/>
                            </a:rPr>
                            <a:t>13</a:t>
                          </a:r>
                          <a:endParaRPr lang="zh-TW" altLang="en-US" sz="12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1200" dirty="0">
                              <a:latin typeface="Times New Roman" panose="02020603050405020304" pitchFamily="18" charset="0"/>
                              <a:cs typeface="Times New Roman" panose="02020603050405020304" pitchFamily="18" charset="0"/>
                            </a:rPr>
                            <a:t>14</a:t>
                          </a:r>
                          <a:endParaRPr lang="zh-TW" altLang="en-US" sz="12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1200" dirty="0">
                              <a:latin typeface="Times New Roman" panose="02020603050405020304" pitchFamily="18" charset="0"/>
                              <a:cs typeface="Times New Roman" panose="02020603050405020304" pitchFamily="18" charset="0"/>
                            </a:rPr>
                            <a:t>15</a:t>
                          </a:r>
                          <a:endParaRPr lang="zh-TW" altLang="en-US" sz="12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43982887"/>
                      </a:ext>
                    </a:extLst>
                  </a:tr>
                  <a:tr h="288000">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1400" b="0" i="1" smtClean="0">
                                        <a:latin typeface="Cambria Math" panose="02040503050406030204" pitchFamily="18" charset="0"/>
                                        <a:cs typeface="Times New Roman" panose="02020603050405020304" pitchFamily="18" charset="0"/>
                                      </a:rPr>
                                    </m:ctrlPr>
                                  </m:sSubPr>
                                  <m:e>
                                    <m:r>
                                      <a:rPr lang="en-US" altLang="zh-TW" sz="1400" b="0" i="1" smtClean="0">
                                        <a:latin typeface="Cambria Math" panose="02040503050406030204" pitchFamily="18" charset="0"/>
                                        <a:cs typeface="Times New Roman" panose="02020603050405020304" pitchFamily="18" charset="0"/>
                                      </a:rPr>
                                      <m:t>𝑀</m:t>
                                    </m:r>
                                  </m:e>
                                  <m:sub>
                                    <m:r>
                                      <a:rPr lang="en-US" altLang="zh-TW" sz="1400" b="0" i="1" smtClean="0">
                                        <a:latin typeface="Cambria Math" panose="02040503050406030204" pitchFamily="18" charset="0"/>
                                        <a:cs typeface="Times New Roman" panose="02020603050405020304" pitchFamily="18" charset="0"/>
                                      </a:rPr>
                                      <m:t>1</m:t>
                                    </m:r>
                                  </m:sub>
                                </m:sSub>
                              </m:oMath>
                            </m:oMathPara>
                          </a14:m>
                          <a:endParaRPr lang="zh-TW" altLang="en-US" sz="1400" dirty="0">
                            <a:latin typeface="Times New Roman" panose="02020603050405020304" pitchFamily="18" charset="0"/>
                            <a:cs typeface="Times New Roman" panose="02020603050405020304" pitchFamily="18"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altLang="zh-TW" sz="1400" dirty="0">
                              <a:latin typeface="Times New Roman" panose="02020603050405020304" pitchFamily="18" charset="0"/>
                              <a:cs typeface="Times New Roman" panose="02020603050405020304" pitchFamily="18" charset="0"/>
                            </a:rPr>
                            <a:t>1</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𝑙</m:t>
                                    </m:r>
                                  </m:e>
                                  <m:sub>
                                    <m: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b>
                                  <m:sup>
                                    <m: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p>
                                </m:sSubSup>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𝑙</m:t>
                                    </m:r>
                                  </m:e>
                                  <m:sub>
                                    <m: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sub>
                                  <m:sup>
                                    <m: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p>
                                </m:sSubSup>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23125657"/>
                      </a:ext>
                    </a:extLst>
                  </a:tr>
                  <a:tr h="288000">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1400" b="0" i="1" smtClean="0">
                                        <a:latin typeface="Cambria Math" panose="02040503050406030204" pitchFamily="18" charset="0"/>
                                        <a:cs typeface="Times New Roman" panose="02020603050405020304" pitchFamily="18" charset="0"/>
                                      </a:rPr>
                                    </m:ctrlPr>
                                  </m:sSubPr>
                                  <m:e>
                                    <m:r>
                                      <a:rPr lang="en-US" altLang="zh-TW" sz="1400" b="0" i="1" smtClean="0">
                                        <a:latin typeface="Cambria Math" panose="02040503050406030204" pitchFamily="18" charset="0"/>
                                        <a:cs typeface="Times New Roman" panose="02020603050405020304" pitchFamily="18" charset="0"/>
                                      </a:rPr>
                                      <m:t>𝑀</m:t>
                                    </m:r>
                                  </m:e>
                                  <m:sub>
                                    <m:r>
                                      <a:rPr lang="en-US" altLang="zh-TW" sz="1400" b="0" i="1" smtClean="0">
                                        <a:latin typeface="Cambria Math" panose="02040503050406030204" pitchFamily="18" charset="0"/>
                                        <a:cs typeface="Times New Roman" panose="02020603050405020304" pitchFamily="18" charset="0"/>
                                      </a:rPr>
                                      <m:t>2</m:t>
                                    </m:r>
                                  </m:sub>
                                </m:sSub>
                              </m:oMath>
                            </m:oMathPara>
                          </a14:m>
                          <a:endParaRPr lang="zh-TW" altLang="en-US" sz="1400" dirty="0">
                            <a:latin typeface="Times New Roman" panose="02020603050405020304" pitchFamily="18" charset="0"/>
                            <a:cs typeface="Times New Roman" panose="02020603050405020304" pitchFamily="18"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altLang="zh-TW" sz="1400" dirty="0">
                              <a:latin typeface="Times New Roman" panose="02020603050405020304" pitchFamily="18" charset="0"/>
                              <a:cs typeface="Times New Roman" panose="02020603050405020304" pitchFamily="18" charset="0"/>
                            </a:rPr>
                            <a:t>2</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6858302"/>
                      </a:ext>
                    </a:extLst>
                  </a:tr>
                  <a:tr h="288000">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1400" b="0" i="1" smtClean="0">
                                        <a:latin typeface="Cambria Math" panose="02040503050406030204" pitchFamily="18" charset="0"/>
                                        <a:cs typeface="Times New Roman" panose="02020603050405020304" pitchFamily="18" charset="0"/>
                                      </a:rPr>
                                    </m:ctrlPr>
                                  </m:sSubPr>
                                  <m:e>
                                    <m:r>
                                      <a:rPr lang="en-US" altLang="zh-TW" sz="1400" b="0" i="1" smtClean="0">
                                        <a:latin typeface="Cambria Math" panose="02040503050406030204" pitchFamily="18" charset="0"/>
                                        <a:cs typeface="Times New Roman" panose="02020603050405020304" pitchFamily="18" charset="0"/>
                                      </a:rPr>
                                      <m:t>𝑀</m:t>
                                    </m:r>
                                  </m:e>
                                  <m:sub>
                                    <m:r>
                                      <a:rPr lang="en-US" altLang="zh-TW" sz="1400" b="0" i="1" smtClean="0">
                                        <a:latin typeface="Cambria Math" panose="02040503050406030204" pitchFamily="18" charset="0"/>
                                        <a:cs typeface="Times New Roman" panose="02020603050405020304" pitchFamily="18" charset="0"/>
                                      </a:rPr>
                                      <m:t>3</m:t>
                                    </m:r>
                                  </m:sub>
                                </m:sSub>
                              </m:oMath>
                            </m:oMathPara>
                          </a14:m>
                          <a:endParaRPr lang="zh-TW" altLang="en-US" sz="1400" dirty="0">
                            <a:latin typeface="Times New Roman" panose="02020603050405020304" pitchFamily="18" charset="0"/>
                            <a:cs typeface="Times New Roman" panose="02020603050405020304" pitchFamily="18"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altLang="zh-TW" sz="1400" dirty="0">
                              <a:latin typeface="Times New Roman" panose="02020603050405020304" pitchFamily="18" charset="0"/>
                              <a:cs typeface="Times New Roman" panose="02020603050405020304" pitchFamily="18" charset="0"/>
                            </a:rPr>
                            <a:t>3</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𝑙</m:t>
                                    </m:r>
                                  </m:e>
                                  <m:sub>
                                    <m: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b>
                                  <m:sup>
                                    <m: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3</m:t>
                                    </m:r>
                                  </m:sup>
                                </m:sSubSup>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𝑙</m:t>
                                    </m:r>
                                  </m:e>
                                  <m:sub>
                                    <m: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sub>
                                  <m:sup>
                                    <m: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3</m:t>
                                    </m:r>
                                  </m:sup>
                                </m:sSubSup>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2558973"/>
                      </a:ext>
                    </a:extLst>
                  </a:tr>
                  <a:tr h="288000">
                    <a:tc>
                      <a:txBody>
                        <a:bodyPr/>
                        <a:lstStyle/>
                        <a:p>
                          <a:pPr algn="ctr"/>
                          <a:endParaRPr lang="zh-TW" altLang="en-US" sz="1400" dirty="0">
                            <a:latin typeface="Times New Roman" panose="02020603050405020304" pitchFamily="18" charset="0"/>
                            <a:cs typeface="Times New Roman" panose="02020603050405020304" pitchFamily="18"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altLang="zh-TW" sz="1400" dirty="0">
                              <a:latin typeface="Times New Roman" panose="02020603050405020304" pitchFamily="18" charset="0"/>
                              <a:cs typeface="Times New Roman" panose="02020603050405020304" pitchFamily="18" charset="0"/>
                            </a:rPr>
                            <a:t>4</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8639852"/>
                      </a:ext>
                    </a:extLst>
                  </a:tr>
                  <a:tr h="288000">
                    <a:tc>
                      <a:txBody>
                        <a:bodyPr/>
                        <a:lstStyle/>
                        <a:p>
                          <a:pPr algn="ctr"/>
                          <a:endParaRPr lang="zh-TW" altLang="en-US" sz="1400" dirty="0">
                            <a:latin typeface="Times New Roman" panose="02020603050405020304" pitchFamily="18" charset="0"/>
                            <a:cs typeface="Times New Roman" panose="02020603050405020304" pitchFamily="18"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altLang="zh-TW" sz="1400" dirty="0">
                              <a:latin typeface="Times New Roman" panose="02020603050405020304" pitchFamily="18" charset="0"/>
                              <a:cs typeface="Times New Roman" panose="02020603050405020304" pitchFamily="18" charset="0"/>
                            </a:rPr>
                            <a:t>5</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71178406"/>
                      </a:ext>
                    </a:extLst>
                  </a:tr>
                  <a:tr h="288000">
                    <a:tc>
                      <a:txBody>
                        <a:bodyPr/>
                        <a:lstStyle/>
                        <a:p>
                          <a:pPr algn="ctr"/>
                          <a:endParaRPr lang="zh-TW" altLang="en-US" sz="1400" dirty="0">
                            <a:latin typeface="Times New Roman" panose="02020603050405020304" pitchFamily="18" charset="0"/>
                            <a:cs typeface="Times New Roman" panose="02020603050405020304" pitchFamily="18"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altLang="zh-TW" sz="1400" dirty="0">
                              <a:latin typeface="Times New Roman" panose="02020603050405020304" pitchFamily="18" charset="0"/>
                              <a:cs typeface="Times New Roman" panose="02020603050405020304" pitchFamily="18" charset="0"/>
                            </a:rPr>
                            <a:t>6</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𝑙</m:t>
                                    </m:r>
                                  </m:e>
                                  <m:sub>
                                    <m: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sub>
                                  <m:sup>
                                    <m: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p>
                                </m:sSubSup>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11404706"/>
                      </a:ext>
                    </a:extLst>
                  </a:tr>
                  <a:tr h="288000">
                    <a:tc>
                      <a:txBody>
                        <a:bodyPr/>
                        <a:lstStyle/>
                        <a:p>
                          <a:pPr algn="ctr"/>
                          <a:endParaRPr lang="zh-TW" altLang="en-US" sz="1400" dirty="0">
                            <a:latin typeface="Times New Roman" panose="02020603050405020304" pitchFamily="18" charset="0"/>
                            <a:cs typeface="Times New Roman" panose="02020603050405020304" pitchFamily="18"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altLang="zh-TW" sz="1400" dirty="0">
                              <a:latin typeface="Times New Roman" panose="02020603050405020304" pitchFamily="18" charset="0"/>
                              <a:cs typeface="Times New Roman" panose="02020603050405020304" pitchFamily="18" charset="0"/>
                            </a:rPr>
                            <a:t>7</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𝑙</m:t>
                                    </m:r>
                                  </m:e>
                                  <m:sub>
                                    <m: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sub>
                                  <m:sup>
                                    <m: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3</m:t>
                                    </m:r>
                                  </m:sup>
                                </m:sSubSup>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990075"/>
                      </a:ext>
                    </a:extLst>
                  </a:tr>
                  <a:tr h="288000">
                    <a:tc>
                      <a:txBody>
                        <a:bodyPr/>
                        <a:lstStyle/>
                        <a:p>
                          <a:pPr algn="ctr"/>
                          <a:endParaRPr lang="zh-TW" altLang="en-US" sz="1400" dirty="0">
                            <a:latin typeface="Times New Roman" panose="02020603050405020304" pitchFamily="18" charset="0"/>
                            <a:cs typeface="Times New Roman" panose="02020603050405020304" pitchFamily="18"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altLang="zh-TW" sz="1400" dirty="0">
                              <a:latin typeface="Times New Roman" panose="02020603050405020304" pitchFamily="18" charset="0"/>
                              <a:cs typeface="Times New Roman" panose="02020603050405020304" pitchFamily="18" charset="0"/>
                            </a:rPr>
                            <a:t>8</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99197756"/>
                      </a:ext>
                    </a:extLst>
                  </a:tr>
                  <a:tr h="288000">
                    <a:tc>
                      <a:txBody>
                        <a:bodyPr/>
                        <a:lstStyle/>
                        <a:p>
                          <a:pPr algn="ctr"/>
                          <a:endParaRPr lang="zh-TW" altLang="en-US" sz="1400" dirty="0">
                            <a:latin typeface="Times New Roman" panose="02020603050405020304" pitchFamily="18" charset="0"/>
                            <a:cs typeface="Times New Roman" panose="02020603050405020304" pitchFamily="18"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altLang="zh-TW" sz="1400" dirty="0">
                              <a:latin typeface="Times New Roman" panose="02020603050405020304" pitchFamily="18" charset="0"/>
                              <a:cs typeface="Times New Roman" panose="02020603050405020304" pitchFamily="18" charset="0"/>
                            </a:rPr>
                            <a:t>9</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2285656"/>
                      </a:ext>
                    </a:extLst>
                  </a:tr>
                  <a:tr h="288000">
                    <a:tc>
                      <a:txBody>
                        <a:bodyPr/>
                        <a:lstStyle/>
                        <a:p>
                          <a:pPr algn="ctr"/>
                          <a:endParaRPr lang="zh-TW" altLang="en-US" sz="1200" dirty="0">
                            <a:latin typeface="Times New Roman" panose="02020603050405020304" pitchFamily="18" charset="0"/>
                            <a:cs typeface="Times New Roman" panose="02020603050405020304" pitchFamily="18"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altLang="zh-TW" sz="1200" dirty="0">
                              <a:latin typeface="Times New Roman" panose="02020603050405020304" pitchFamily="18" charset="0"/>
                              <a:cs typeface="Times New Roman" panose="02020603050405020304" pitchFamily="18" charset="0"/>
                            </a:rPr>
                            <a:t>10</a:t>
                          </a:r>
                          <a:endParaRPr lang="zh-TW" altLang="en-US" sz="12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70218796"/>
                      </a:ext>
                    </a:extLst>
                  </a:tr>
                  <a:tr h="288000">
                    <a:tc>
                      <a:txBody>
                        <a:bodyPr/>
                        <a:lstStyle/>
                        <a:p>
                          <a:pPr algn="ctr"/>
                          <a:endParaRPr lang="zh-TW" altLang="en-US" sz="1200" dirty="0">
                            <a:latin typeface="Times New Roman" panose="02020603050405020304" pitchFamily="18" charset="0"/>
                            <a:cs typeface="Times New Roman" panose="02020603050405020304" pitchFamily="18"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altLang="zh-TW" sz="1200" dirty="0">
                              <a:latin typeface="Times New Roman" panose="02020603050405020304" pitchFamily="18" charset="0"/>
                              <a:cs typeface="Times New Roman" panose="02020603050405020304" pitchFamily="18" charset="0"/>
                            </a:rPr>
                            <a:t>11</a:t>
                          </a:r>
                          <a:endParaRPr lang="zh-TW" altLang="en-US" sz="12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84362165"/>
                      </a:ext>
                    </a:extLst>
                  </a:tr>
                  <a:tr h="288000">
                    <a:tc>
                      <a:txBody>
                        <a:bodyPr/>
                        <a:lstStyle/>
                        <a:p>
                          <a:pPr algn="ctr"/>
                          <a:endParaRPr lang="zh-TW" altLang="en-US" sz="1200" dirty="0">
                            <a:latin typeface="Times New Roman" panose="02020603050405020304" pitchFamily="18" charset="0"/>
                            <a:cs typeface="Times New Roman" panose="02020603050405020304" pitchFamily="18"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altLang="zh-TW" sz="1200" dirty="0">
                              <a:latin typeface="Times New Roman" panose="02020603050405020304" pitchFamily="18" charset="0"/>
                              <a:cs typeface="Times New Roman" panose="02020603050405020304" pitchFamily="18" charset="0"/>
                            </a:rPr>
                            <a:t>12</a:t>
                          </a:r>
                          <a:endParaRPr lang="zh-TW" altLang="en-US" sz="12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𝑙</m:t>
                                    </m:r>
                                  </m:e>
                                  <m:sub>
                                    <m: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𝑦</m:t>
                                    </m:r>
                                  </m:sub>
                                  <m:sup>
                                    <m: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p>
                                </m:sSubSup>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02963591"/>
                      </a:ext>
                    </a:extLst>
                  </a:tr>
                  <a:tr h="288000">
                    <a:tc>
                      <a:txBody>
                        <a:bodyPr/>
                        <a:lstStyle/>
                        <a:p>
                          <a:pPr algn="ctr"/>
                          <a:endParaRPr lang="zh-TW" altLang="en-US" sz="1200" dirty="0">
                            <a:latin typeface="Times New Roman" panose="02020603050405020304" pitchFamily="18" charset="0"/>
                            <a:cs typeface="Times New Roman" panose="02020603050405020304" pitchFamily="18"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altLang="zh-TW" sz="1200" dirty="0">
                              <a:latin typeface="Times New Roman" panose="02020603050405020304" pitchFamily="18" charset="0"/>
                              <a:cs typeface="Times New Roman" panose="02020603050405020304" pitchFamily="18" charset="0"/>
                            </a:rPr>
                            <a:t>13</a:t>
                          </a:r>
                          <a:endParaRPr lang="zh-TW" altLang="en-US" sz="12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𝑙</m:t>
                                    </m:r>
                                  </m:e>
                                  <m:sub>
                                    <m: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𝑦</m:t>
                                    </m:r>
                                  </m:sub>
                                  <m:sup>
                                    <m: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3</m:t>
                                    </m:r>
                                  </m:sup>
                                </m:sSubSup>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38028935"/>
                      </a:ext>
                    </a:extLst>
                  </a:tr>
                  <a:tr h="288000">
                    <a:tc>
                      <a:txBody>
                        <a:bodyPr/>
                        <a:lstStyle/>
                        <a:p>
                          <a:pPr algn="ctr"/>
                          <a:endParaRPr lang="zh-TW" altLang="en-US" sz="1200" dirty="0">
                            <a:latin typeface="Times New Roman" panose="02020603050405020304" pitchFamily="18" charset="0"/>
                            <a:cs typeface="Times New Roman" panose="02020603050405020304" pitchFamily="18"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altLang="zh-TW" sz="1200" dirty="0">
                              <a:latin typeface="Times New Roman" panose="02020603050405020304" pitchFamily="18" charset="0"/>
                              <a:cs typeface="Times New Roman" panose="02020603050405020304" pitchFamily="18" charset="0"/>
                            </a:rPr>
                            <a:t>14</a:t>
                          </a:r>
                          <a:endParaRPr lang="zh-TW" altLang="en-US" sz="12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07011822"/>
                      </a:ext>
                    </a:extLst>
                  </a:tr>
                  <a:tr h="288000">
                    <a:tc>
                      <a:txBody>
                        <a:bodyPr/>
                        <a:lstStyle/>
                        <a:p>
                          <a:pPr algn="ctr"/>
                          <a:endParaRPr lang="zh-TW" altLang="en-US" sz="1200" dirty="0">
                            <a:latin typeface="Times New Roman" panose="02020603050405020304" pitchFamily="18" charset="0"/>
                            <a:cs typeface="Times New Roman" panose="02020603050405020304" pitchFamily="18"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altLang="zh-TW" sz="1200" dirty="0">
                              <a:latin typeface="Times New Roman" panose="02020603050405020304" pitchFamily="18" charset="0"/>
                              <a:cs typeface="Times New Roman" panose="02020603050405020304" pitchFamily="18" charset="0"/>
                            </a:rPr>
                            <a:t>15</a:t>
                          </a:r>
                          <a:endParaRPr lang="zh-TW" altLang="en-US" sz="12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6459192"/>
                      </a:ext>
                    </a:extLst>
                  </a:tr>
                  <a:tr h="288000">
                    <a:tc>
                      <a:txBody>
                        <a:bodyPr/>
                        <a:lstStyle/>
                        <a:p>
                          <a:pPr algn="ctr"/>
                          <a:endParaRPr lang="zh-TW" altLang="en-US" sz="1200" dirty="0">
                            <a:latin typeface="Times New Roman" panose="02020603050405020304" pitchFamily="18" charset="0"/>
                            <a:cs typeface="Times New Roman" panose="02020603050405020304" pitchFamily="18"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altLang="zh-TW" sz="1200" dirty="0">
                              <a:latin typeface="Times New Roman" panose="02020603050405020304" pitchFamily="18" charset="0"/>
                              <a:cs typeface="Times New Roman" panose="02020603050405020304" pitchFamily="18" charset="0"/>
                            </a:rPr>
                            <a:t>16</a:t>
                          </a:r>
                          <a:endParaRPr lang="zh-TW" altLang="en-US" sz="12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6034555"/>
                      </a:ext>
                    </a:extLst>
                  </a:tr>
                  <a:tr h="288000">
                    <a:tc>
                      <a:txBody>
                        <a:bodyPr/>
                        <a:lstStyle/>
                        <a:p>
                          <a:pPr algn="ctr"/>
                          <a:endParaRPr lang="zh-TW" altLang="en-US" sz="1200" dirty="0">
                            <a:latin typeface="Times New Roman" panose="02020603050405020304" pitchFamily="18" charset="0"/>
                            <a:cs typeface="Times New Roman" panose="02020603050405020304" pitchFamily="18"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altLang="zh-TW" sz="1200" dirty="0">
                              <a:latin typeface="Times New Roman" panose="02020603050405020304" pitchFamily="18" charset="0"/>
                              <a:cs typeface="Times New Roman" panose="02020603050405020304" pitchFamily="18" charset="0"/>
                            </a:rPr>
                            <a:t>17</a:t>
                          </a:r>
                          <a:endParaRPr lang="zh-TW" altLang="en-US" sz="12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7072742"/>
                      </a:ext>
                    </a:extLst>
                  </a:tr>
                  <a:tr h="288000">
                    <a:tc>
                      <a:txBody>
                        <a:bodyPr/>
                        <a:lstStyle/>
                        <a:p>
                          <a:pPr algn="ctr"/>
                          <a:endParaRPr lang="zh-TW" altLang="en-US" sz="1200" dirty="0">
                            <a:latin typeface="Times New Roman" panose="02020603050405020304" pitchFamily="18" charset="0"/>
                            <a:cs typeface="Times New Roman" panose="02020603050405020304" pitchFamily="18"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altLang="zh-TW" sz="1200" dirty="0">
                              <a:latin typeface="Times New Roman" panose="02020603050405020304" pitchFamily="18" charset="0"/>
                              <a:cs typeface="Times New Roman" panose="02020603050405020304" pitchFamily="18" charset="0"/>
                            </a:rPr>
                            <a:t>18</a:t>
                          </a:r>
                          <a:endParaRPr lang="zh-TW" altLang="en-US" sz="12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ashDotDot"/>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ashDotDot"/>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ashDotDot"/>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ashDotDot"/>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ashDotDot"/>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ashDotDot"/>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ashDotDot"/>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ashDotDot"/>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𝑙</m:t>
                                    </m:r>
                                  </m:e>
                                  <m:sub>
                                    <m: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𝑧</m:t>
                                    </m:r>
                                  </m:sub>
                                  <m:sup>
                                    <m: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p>
                                </m:sSubSup>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ashDotDot"/>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ashDotDot"/>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ashDotDot"/>
                          <a:round/>
                          <a:headEnd type="none" w="med" len="med"/>
                          <a:tailEnd type="none" w="med" len="med"/>
                        </a:lnB>
                      </a:tcPr>
                    </a:tc>
                    <a:extLst>
                      <a:ext uri="{0D108BD9-81ED-4DB2-BD59-A6C34878D82A}">
                        <a16:rowId xmlns:a16="http://schemas.microsoft.com/office/drawing/2014/main" val="322196585"/>
                      </a:ext>
                    </a:extLst>
                  </a:tr>
                  <a:tr h="288000">
                    <a:tc>
                      <a:txBody>
                        <a:bodyPr/>
                        <a:lstStyle/>
                        <a:p>
                          <a:pPr algn="ctr"/>
                          <a:endParaRPr lang="zh-TW" altLang="en-US" sz="1200" dirty="0">
                            <a:latin typeface="Times New Roman" panose="02020603050405020304" pitchFamily="18" charset="0"/>
                            <a:cs typeface="Times New Roman" panose="02020603050405020304" pitchFamily="18"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endParaRPr lang="zh-TW" altLang="en-US" sz="12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vert="ea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ysDashDotDot"/>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vert="ea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ysDashDotDot"/>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vert="ea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ysDashDotDot"/>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vert="ea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ysDashDotDot"/>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vert="eaVert" anchor="ctr">
                        <a:lnL w="12700" cap="flat" cmpd="sng" algn="ctr">
                          <a:solidFill>
                            <a:schemeClr val="tx1"/>
                          </a:solidFill>
                          <a:prstDash val="solid"/>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ysDashDotDot"/>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ysDashDotDot"/>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vert="eaVert" anchor="ctr">
                        <a:lnL w="12700" cap="flat" cmpd="sng" algn="ctr">
                          <a:solidFill>
                            <a:schemeClr val="tx1"/>
                          </a:solidFill>
                          <a:prstDash val="sysDashDot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ysDashDotDot"/>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vert="ea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ysDashDotDot"/>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vert="ea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ysDashDotDot"/>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vert="ea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ysDashDotDot"/>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vert="ea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ysDashDotDot"/>
                          <a:round/>
                          <a:headEnd type="none" w="med" len="med"/>
                          <a:tailEnd type="none" w="med" len="med"/>
                        </a:lnB>
                      </a:tcPr>
                    </a:tc>
                    <a:extLst>
                      <a:ext uri="{0D108BD9-81ED-4DB2-BD59-A6C34878D82A}">
                        <a16:rowId xmlns:a16="http://schemas.microsoft.com/office/drawing/2014/main" val="3733153582"/>
                      </a:ext>
                    </a:extLst>
                  </a:tr>
                  <a:tr h="288000">
                    <a:tc>
                      <a:txBody>
                        <a:bodyPr/>
                        <a:lstStyle/>
                        <a:p>
                          <a:pPr algn="ctr"/>
                          <a:endParaRPr lang="zh-TW" altLang="en-US" sz="1200" dirty="0">
                            <a:latin typeface="Times New Roman" panose="02020603050405020304" pitchFamily="18" charset="0"/>
                            <a:cs typeface="Times New Roman" panose="02020603050405020304" pitchFamily="18"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altLang="zh-TW" sz="1200" dirty="0">
                              <a:latin typeface="Times New Roman" panose="02020603050405020304" pitchFamily="18" charset="0"/>
                              <a:cs typeface="Times New Roman" panose="02020603050405020304" pitchFamily="18" charset="0"/>
                            </a:rPr>
                            <a:t>21</a:t>
                          </a:r>
                          <a:endParaRPr lang="zh-TW" altLang="en-US" sz="12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3544476"/>
                      </a:ext>
                    </a:extLst>
                  </a:tr>
                </a:tbl>
              </a:graphicData>
            </a:graphic>
          </p:graphicFrame>
        </mc:Choice>
        <mc:Fallback xmlns="">
          <p:graphicFrame>
            <p:nvGraphicFramePr>
              <p:cNvPr id="6" name="表格 5"/>
              <p:cNvGraphicFramePr>
                <a:graphicFrameLocks noGrp="1"/>
              </p:cNvGraphicFramePr>
              <p:nvPr/>
            </p:nvGraphicFramePr>
            <p:xfrm>
              <a:off x="5916855" y="-34775"/>
              <a:ext cx="4680000" cy="682560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1387076958"/>
                        </a:ext>
                      </a:extLst>
                    </a:gridCol>
                    <a:gridCol w="360000">
                      <a:extLst>
                        <a:ext uri="{9D8B030D-6E8A-4147-A177-3AD203B41FA5}">
                          <a16:colId xmlns:a16="http://schemas.microsoft.com/office/drawing/2014/main" val="2153631969"/>
                        </a:ext>
                      </a:extLst>
                    </a:gridCol>
                    <a:gridCol w="360000">
                      <a:extLst>
                        <a:ext uri="{9D8B030D-6E8A-4147-A177-3AD203B41FA5}">
                          <a16:colId xmlns:a16="http://schemas.microsoft.com/office/drawing/2014/main" val="1595096996"/>
                        </a:ext>
                      </a:extLst>
                    </a:gridCol>
                    <a:gridCol w="360000">
                      <a:extLst>
                        <a:ext uri="{9D8B030D-6E8A-4147-A177-3AD203B41FA5}">
                          <a16:colId xmlns:a16="http://schemas.microsoft.com/office/drawing/2014/main" val="3008651153"/>
                        </a:ext>
                      </a:extLst>
                    </a:gridCol>
                    <a:gridCol w="360000">
                      <a:extLst>
                        <a:ext uri="{9D8B030D-6E8A-4147-A177-3AD203B41FA5}">
                          <a16:colId xmlns:a16="http://schemas.microsoft.com/office/drawing/2014/main" val="135324811"/>
                        </a:ext>
                      </a:extLst>
                    </a:gridCol>
                    <a:gridCol w="360000">
                      <a:extLst>
                        <a:ext uri="{9D8B030D-6E8A-4147-A177-3AD203B41FA5}">
                          <a16:colId xmlns:a16="http://schemas.microsoft.com/office/drawing/2014/main" val="3441802756"/>
                        </a:ext>
                      </a:extLst>
                    </a:gridCol>
                    <a:gridCol w="360000">
                      <a:extLst>
                        <a:ext uri="{9D8B030D-6E8A-4147-A177-3AD203B41FA5}">
                          <a16:colId xmlns:a16="http://schemas.microsoft.com/office/drawing/2014/main" val="1615431031"/>
                        </a:ext>
                      </a:extLst>
                    </a:gridCol>
                    <a:gridCol w="360000">
                      <a:extLst>
                        <a:ext uri="{9D8B030D-6E8A-4147-A177-3AD203B41FA5}">
                          <a16:colId xmlns:a16="http://schemas.microsoft.com/office/drawing/2014/main" val="695535024"/>
                        </a:ext>
                      </a:extLst>
                    </a:gridCol>
                    <a:gridCol w="360000">
                      <a:extLst>
                        <a:ext uri="{9D8B030D-6E8A-4147-A177-3AD203B41FA5}">
                          <a16:colId xmlns:a16="http://schemas.microsoft.com/office/drawing/2014/main" val="2612606182"/>
                        </a:ext>
                      </a:extLst>
                    </a:gridCol>
                    <a:gridCol w="360000">
                      <a:extLst>
                        <a:ext uri="{9D8B030D-6E8A-4147-A177-3AD203B41FA5}">
                          <a16:colId xmlns:a16="http://schemas.microsoft.com/office/drawing/2014/main" val="2968137960"/>
                        </a:ext>
                      </a:extLst>
                    </a:gridCol>
                    <a:gridCol w="360000">
                      <a:extLst>
                        <a:ext uri="{9D8B030D-6E8A-4147-A177-3AD203B41FA5}">
                          <a16:colId xmlns:a16="http://schemas.microsoft.com/office/drawing/2014/main" val="2378456948"/>
                        </a:ext>
                      </a:extLst>
                    </a:gridCol>
                    <a:gridCol w="360000">
                      <a:extLst>
                        <a:ext uri="{9D8B030D-6E8A-4147-A177-3AD203B41FA5}">
                          <a16:colId xmlns:a16="http://schemas.microsoft.com/office/drawing/2014/main" val="4089029598"/>
                        </a:ext>
                      </a:extLst>
                    </a:gridCol>
                    <a:gridCol w="360000">
                      <a:extLst>
                        <a:ext uri="{9D8B030D-6E8A-4147-A177-3AD203B41FA5}">
                          <a16:colId xmlns:a16="http://schemas.microsoft.com/office/drawing/2014/main" val="3024970534"/>
                        </a:ext>
                      </a:extLst>
                    </a:gridCol>
                  </a:tblGrid>
                  <a:tr h="304800">
                    <a:tc>
                      <a:txBody>
                        <a:bodyPr/>
                        <a:lstStyle/>
                        <a:p>
                          <a:pPr algn="ctr"/>
                          <a:endParaRPr lang="zh-TW" altLang="en-US" sz="1400" dirty="0">
                            <a:latin typeface="Times New Roman" panose="02020603050405020304" pitchFamily="18" charset="0"/>
                            <a:cs typeface="Times New Roman" panose="02020603050405020304" pitchFamily="18" charset="0"/>
                          </a:endParaRPr>
                        </a:p>
                      </a:txBody>
                      <a:tcPr anchor="ctr"/>
                    </a:tc>
                    <a:tc gridSpan="12">
                      <a:txBody>
                        <a:bodyPr/>
                        <a:lstStyle/>
                        <a:p>
                          <a:endParaRPr lang="zh-TW"/>
                        </a:p>
                      </a:txBody>
                      <a:tcPr anchor="ctr">
                        <a:blipFill>
                          <a:blip r:embed="rId5"/>
                          <a:stretch>
                            <a:fillRect l="-8310" t="-2000" r="-282" b="-2164000"/>
                          </a:stretch>
                        </a:blip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2277614982"/>
                      </a:ext>
                    </a:extLst>
                  </a:tr>
                  <a:tr h="304800">
                    <a:tc>
                      <a:txBody>
                        <a:bodyPr/>
                        <a:lstStyle/>
                        <a:p>
                          <a:pPr algn="ctr"/>
                          <a:endParaRPr lang="zh-TW" altLang="en-US" sz="140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sz="140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sz="1400" dirty="0">
                            <a:latin typeface="Times New Roman" panose="02020603050405020304" pitchFamily="18" charset="0"/>
                            <a:cs typeface="Times New Roman" panose="02020603050405020304" pitchFamily="18" charset="0"/>
                          </a:endParaRPr>
                        </a:p>
                      </a:txBody>
                      <a:tcPr anchor="ctr"/>
                    </a:tc>
                    <a:tc>
                      <a:txBody>
                        <a:bodyPr/>
                        <a:lstStyle/>
                        <a:p>
                          <a:endParaRPr lang="zh-TW"/>
                        </a:p>
                      </a:txBody>
                      <a:tcPr anchor="ctr">
                        <a:blipFill>
                          <a:blip r:embed="rId5"/>
                          <a:stretch>
                            <a:fillRect l="-801695" t="-102000" r="-405085" b="-2064000"/>
                          </a:stretch>
                        </a:blipFill>
                      </a:tcPr>
                    </a:tc>
                    <a:tc>
                      <a:txBody>
                        <a:bodyPr/>
                        <a:lstStyle/>
                        <a:p>
                          <a:endParaRPr lang="zh-TW"/>
                        </a:p>
                      </a:txBody>
                      <a:tcPr anchor="ctr">
                        <a:blipFill>
                          <a:blip r:embed="rId5"/>
                          <a:stretch>
                            <a:fillRect l="-886667" t="-102000" r="-298333" b="-2064000"/>
                          </a:stretch>
                        </a:blipFill>
                      </a:tcPr>
                    </a:tc>
                    <a:tc>
                      <a:txBody>
                        <a:bodyPr/>
                        <a:lstStyle/>
                        <a:p>
                          <a:endParaRPr lang="zh-TW"/>
                        </a:p>
                      </a:txBody>
                      <a:tcPr anchor="ctr">
                        <a:blipFill>
                          <a:blip r:embed="rId5"/>
                          <a:stretch>
                            <a:fillRect l="-1003390" t="-102000" r="-203390" b="-2064000"/>
                          </a:stretch>
                        </a:blipFill>
                      </a:tcPr>
                    </a:tc>
                    <a:tc>
                      <a:txBody>
                        <a:bodyPr/>
                        <a:lstStyle/>
                        <a:p>
                          <a:endParaRPr lang="zh-TW"/>
                        </a:p>
                      </a:txBody>
                      <a:tcPr anchor="ctr">
                        <a:blipFill>
                          <a:blip r:embed="rId5"/>
                          <a:stretch>
                            <a:fillRect l="-1103390" t="-102000" r="-103390" b="-2064000"/>
                          </a:stretch>
                        </a:blipFill>
                      </a:tcPr>
                    </a:tc>
                    <a:tc>
                      <a:txBody>
                        <a:bodyPr/>
                        <a:lstStyle/>
                        <a:p>
                          <a:endParaRPr lang="zh-TW"/>
                        </a:p>
                      </a:txBody>
                      <a:tcPr anchor="ctr">
                        <a:blipFill>
                          <a:blip r:embed="rId5"/>
                          <a:stretch>
                            <a:fillRect l="-1203390" t="-102000" r="-3390" b="-2064000"/>
                          </a:stretch>
                        </a:blipFill>
                      </a:tcPr>
                    </a:tc>
                    <a:extLst>
                      <a:ext uri="{0D108BD9-81ED-4DB2-BD59-A6C34878D82A}">
                        <a16:rowId xmlns:a16="http://schemas.microsoft.com/office/drawing/2014/main" val="2021729477"/>
                      </a:ext>
                    </a:extLst>
                  </a:tr>
                  <a:tr h="304800">
                    <a:tc>
                      <a:txBody>
                        <a:bodyPr/>
                        <a:lstStyle/>
                        <a:p>
                          <a:pPr algn="ctr"/>
                          <a:endParaRPr lang="zh-TW" altLang="en-US" sz="1400">
                            <a:latin typeface="Times New Roman" panose="02020603050405020304" pitchFamily="18" charset="0"/>
                            <a:cs typeface="Times New Roman" panose="02020603050405020304" pitchFamily="18" charset="0"/>
                          </a:endParaRPr>
                        </a:p>
                      </a:txBody>
                      <a:tcPr anchor="ctr">
                        <a:lnB>
                          <a:noFill/>
                        </a:lnB>
                      </a:tcPr>
                    </a:tc>
                    <a:tc>
                      <a:txBody>
                        <a:bodyPr/>
                        <a:lstStyle/>
                        <a:p>
                          <a:pPr algn="ctr"/>
                          <a:endParaRPr lang="zh-TW" altLang="en-US" sz="1400">
                            <a:latin typeface="Times New Roman" panose="02020603050405020304" pitchFamily="18" charset="0"/>
                            <a:cs typeface="Times New Roman" panose="02020603050405020304" pitchFamily="18" charset="0"/>
                          </a:endParaRPr>
                        </a:p>
                      </a:txBody>
                      <a:tcPr anchor="ctr"/>
                    </a:tc>
                    <a:tc>
                      <a:txBody>
                        <a:bodyPr/>
                        <a:lstStyle/>
                        <a:p>
                          <a:pPr algn="ctr"/>
                          <a:r>
                            <a:rPr lang="en-US" altLang="zh-TW" sz="1400" dirty="0">
                              <a:latin typeface="Times New Roman" panose="02020603050405020304" pitchFamily="18" charset="0"/>
                              <a:cs typeface="Times New Roman" panose="02020603050405020304" pitchFamily="18" charset="0"/>
                            </a:rPr>
                            <a:t>1</a:t>
                          </a:r>
                          <a:endParaRPr lang="zh-TW" altLang="en-US" sz="14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1400" dirty="0">
                              <a:latin typeface="Times New Roman" panose="02020603050405020304" pitchFamily="18" charset="0"/>
                              <a:cs typeface="Times New Roman" panose="02020603050405020304" pitchFamily="18" charset="0"/>
                            </a:rPr>
                            <a:t>2</a:t>
                          </a:r>
                          <a:endParaRPr lang="zh-TW" altLang="en-US" sz="14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1400" dirty="0">
                              <a:latin typeface="Times New Roman" panose="02020603050405020304" pitchFamily="18" charset="0"/>
                              <a:cs typeface="Times New Roman" panose="02020603050405020304" pitchFamily="18" charset="0"/>
                            </a:rPr>
                            <a:t>3</a:t>
                          </a:r>
                          <a:endParaRPr lang="zh-TW" altLang="en-US" sz="14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1400" dirty="0">
                              <a:latin typeface="Times New Roman" panose="02020603050405020304" pitchFamily="18" charset="0"/>
                              <a:cs typeface="Times New Roman" panose="02020603050405020304" pitchFamily="18" charset="0"/>
                            </a:rPr>
                            <a:t>4</a:t>
                          </a:r>
                          <a:endParaRPr lang="zh-TW" altLang="en-US" sz="14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1400" dirty="0">
                              <a:latin typeface="Times New Roman" panose="02020603050405020304" pitchFamily="18" charset="0"/>
                              <a:cs typeface="Times New Roman" panose="02020603050405020304" pitchFamily="18" charset="0"/>
                            </a:rPr>
                            <a:t>5</a:t>
                          </a:r>
                          <a:endParaRPr lang="zh-TW" altLang="en-US" sz="14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tc>
                      <a:txBody>
                        <a:bodyPr/>
                        <a:lstStyle/>
                        <a:p>
                          <a:pPr algn="ctr"/>
                          <a:endParaRPr lang="zh-TW" altLang="en-US" sz="14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1200" dirty="0">
                              <a:latin typeface="Times New Roman" panose="02020603050405020304" pitchFamily="18" charset="0"/>
                              <a:cs typeface="Times New Roman" panose="02020603050405020304" pitchFamily="18" charset="0"/>
                            </a:rPr>
                            <a:t>11</a:t>
                          </a:r>
                          <a:endParaRPr lang="zh-TW" altLang="en-US" sz="12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1200" dirty="0">
                              <a:latin typeface="Times New Roman" panose="02020603050405020304" pitchFamily="18" charset="0"/>
                              <a:cs typeface="Times New Roman" panose="02020603050405020304" pitchFamily="18" charset="0"/>
                            </a:rPr>
                            <a:t>12</a:t>
                          </a:r>
                          <a:endParaRPr lang="zh-TW" altLang="en-US" sz="12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1200" dirty="0">
                              <a:latin typeface="Times New Roman" panose="02020603050405020304" pitchFamily="18" charset="0"/>
                              <a:cs typeface="Times New Roman" panose="02020603050405020304" pitchFamily="18" charset="0"/>
                            </a:rPr>
                            <a:t>13</a:t>
                          </a:r>
                          <a:endParaRPr lang="zh-TW" altLang="en-US" sz="12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1200" dirty="0">
                              <a:latin typeface="Times New Roman" panose="02020603050405020304" pitchFamily="18" charset="0"/>
                              <a:cs typeface="Times New Roman" panose="02020603050405020304" pitchFamily="18" charset="0"/>
                            </a:rPr>
                            <a:t>14</a:t>
                          </a:r>
                          <a:endParaRPr lang="zh-TW" altLang="en-US" sz="12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1200" dirty="0">
                              <a:latin typeface="Times New Roman" panose="02020603050405020304" pitchFamily="18" charset="0"/>
                              <a:cs typeface="Times New Roman" panose="02020603050405020304" pitchFamily="18" charset="0"/>
                            </a:rPr>
                            <a:t>15</a:t>
                          </a:r>
                          <a:endParaRPr lang="zh-TW" altLang="en-US" sz="12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43982887"/>
                      </a:ext>
                    </a:extLst>
                  </a:tr>
                  <a:tr h="304800">
                    <a:tc>
                      <a:txBody>
                        <a:bodyPr/>
                        <a:lstStyle/>
                        <a:p>
                          <a:endParaRPr lang="zh-TW"/>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blipFill>
                          <a:blip r:embed="rId5"/>
                          <a:stretch>
                            <a:fillRect t="-302000" r="-1206780" b="-1864000"/>
                          </a:stretch>
                        </a:blipFill>
                      </a:tcPr>
                    </a:tc>
                    <a:tc>
                      <a:txBody>
                        <a:bodyPr/>
                        <a:lstStyle/>
                        <a:p>
                          <a:pPr algn="ctr"/>
                          <a:r>
                            <a:rPr lang="en-US" altLang="zh-TW" sz="1400" dirty="0">
                              <a:latin typeface="Times New Roman" panose="02020603050405020304" pitchFamily="18" charset="0"/>
                              <a:cs typeface="Times New Roman" panose="02020603050405020304" pitchFamily="18" charset="0"/>
                            </a:rPr>
                            <a:t>1</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0000" t="-302000" r="-1006780" b="-18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95000" t="-302000" r="-890000" b="-18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01695" t="-302000" r="-805085" b="-18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501695" t="-302000" r="-705085" b="-18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601695" t="-302000" r="-605085" b="-1864000"/>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801695" t="-302000" r="-405085" b="-18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886667" t="-302000" r="-298333" b="-18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3390" t="-302000" r="-203390" b="-1864000"/>
                          </a:stretch>
                        </a:blipFill>
                      </a:tcPr>
                    </a:tc>
                    <a:tc>
                      <a:txBody>
                        <a:bodyPr/>
                        <a:lstStyle/>
                        <a:p>
                          <a:endParaRPr lang="zh-TW"/>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103390" t="-302000" r="-103390" b="-1864000"/>
                          </a:stretch>
                        </a:blipFill>
                      </a:tcPr>
                    </a:tc>
                    <a:tc>
                      <a:txBody>
                        <a:bodyPr/>
                        <a:lstStyle/>
                        <a:p>
                          <a:endParaRPr lang="zh-TW"/>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203390" t="-302000" r="-3390" b="-1864000"/>
                          </a:stretch>
                        </a:blipFill>
                      </a:tcPr>
                    </a:tc>
                    <a:extLst>
                      <a:ext uri="{0D108BD9-81ED-4DB2-BD59-A6C34878D82A}">
                        <a16:rowId xmlns:a16="http://schemas.microsoft.com/office/drawing/2014/main" val="623125657"/>
                      </a:ext>
                    </a:extLst>
                  </a:tr>
                  <a:tr h="304800">
                    <a:tc>
                      <a:txBody>
                        <a:bodyPr/>
                        <a:lstStyle/>
                        <a:p>
                          <a:endParaRPr lang="zh-TW"/>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blipFill>
                          <a:blip r:embed="rId5"/>
                          <a:stretch>
                            <a:fillRect t="-402000" r="-1206780" b="-1764000"/>
                          </a:stretch>
                        </a:blipFill>
                      </a:tcPr>
                    </a:tc>
                    <a:tc>
                      <a:txBody>
                        <a:bodyPr/>
                        <a:lstStyle/>
                        <a:p>
                          <a:pPr algn="ctr"/>
                          <a:r>
                            <a:rPr lang="en-US" altLang="zh-TW" sz="1400" dirty="0">
                              <a:latin typeface="Times New Roman" panose="02020603050405020304" pitchFamily="18" charset="0"/>
                              <a:cs typeface="Times New Roman" panose="02020603050405020304" pitchFamily="18" charset="0"/>
                            </a:rPr>
                            <a:t>2</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0000" t="-402000" r="-1006780" b="-17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95000" t="-402000" r="-890000" b="-17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01695" t="-402000" r="-805085" b="-17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501695" t="-402000" r="-705085" b="-17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601695" t="-402000" r="-605085" b="-1764000"/>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801695" t="-402000" r="-405085" b="-17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886667" t="-402000" r="-298333" b="-17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3390" t="-402000" r="-203390" b="-17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103390" t="-402000" r="-103390" b="-17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203390" t="-402000" r="-3390" b="-1764000"/>
                          </a:stretch>
                        </a:blipFill>
                      </a:tcPr>
                    </a:tc>
                    <a:extLst>
                      <a:ext uri="{0D108BD9-81ED-4DB2-BD59-A6C34878D82A}">
                        <a16:rowId xmlns:a16="http://schemas.microsoft.com/office/drawing/2014/main" val="386858302"/>
                      </a:ext>
                    </a:extLst>
                  </a:tr>
                  <a:tr h="304800">
                    <a:tc>
                      <a:txBody>
                        <a:bodyPr/>
                        <a:lstStyle/>
                        <a:p>
                          <a:endParaRPr lang="zh-TW"/>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blipFill>
                          <a:blip r:embed="rId5"/>
                          <a:stretch>
                            <a:fillRect t="-502000" r="-1206780" b="-1664000"/>
                          </a:stretch>
                        </a:blipFill>
                      </a:tcPr>
                    </a:tc>
                    <a:tc>
                      <a:txBody>
                        <a:bodyPr/>
                        <a:lstStyle/>
                        <a:p>
                          <a:pPr algn="ctr"/>
                          <a:r>
                            <a:rPr lang="en-US" altLang="zh-TW" sz="1400" dirty="0">
                              <a:latin typeface="Times New Roman" panose="02020603050405020304" pitchFamily="18" charset="0"/>
                              <a:cs typeface="Times New Roman" panose="02020603050405020304" pitchFamily="18" charset="0"/>
                            </a:rPr>
                            <a:t>3</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0000" t="-502000" r="-1006780" b="-16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95000" t="-502000" r="-890000" b="-16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01695" t="-502000" r="-805085" b="-1664000"/>
                          </a:stretch>
                        </a:blipFill>
                      </a:tcPr>
                    </a:tc>
                    <a:tc>
                      <a:txBody>
                        <a:bodyPr/>
                        <a:lstStyle/>
                        <a:p>
                          <a:endParaRPr lang="zh-TW"/>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501695" t="-502000" r="-705085" b="-1664000"/>
                          </a:stretch>
                        </a:blipFill>
                      </a:tcPr>
                    </a:tc>
                    <a:tc>
                      <a:txBody>
                        <a:bodyPr/>
                        <a:lstStyle/>
                        <a:p>
                          <a:endParaRPr lang="zh-TW"/>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601695" t="-502000" r="-605085" b="-1664000"/>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801695" t="-502000" r="-405085" b="-16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886667" t="-502000" r="-298333" b="-16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3390" t="-502000" r="-203390" b="-16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103390" t="-502000" r="-103390" b="-16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203390" t="-502000" r="-3390" b="-1664000"/>
                          </a:stretch>
                        </a:blipFill>
                      </a:tcPr>
                    </a:tc>
                    <a:extLst>
                      <a:ext uri="{0D108BD9-81ED-4DB2-BD59-A6C34878D82A}">
                        <a16:rowId xmlns:a16="http://schemas.microsoft.com/office/drawing/2014/main" val="3142558973"/>
                      </a:ext>
                    </a:extLst>
                  </a:tr>
                  <a:tr h="304800">
                    <a:tc>
                      <a:txBody>
                        <a:bodyPr/>
                        <a:lstStyle/>
                        <a:p>
                          <a:pPr algn="ctr"/>
                          <a:endParaRPr lang="zh-TW" altLang="en-US" sz="1400" dirty="0">
                            <a:latin typeface="Times New Roman" panose="02020603050405020304" pitchFamily="18" charset="0"/>
                            <a:cs typeface="Times New Roman" panose="02020603050405020304" pitchFamily="18"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altLang="zh-TW" sz="1400" dirty="0">
                              <a:latin typeface="Times New Roman" panose="02020603050405020304" pitchFamily="18" charset="0"/>
                              <a:cs typeface="Times New Roman" panose="02020603050405020304" pitchFamily="18" charset="0"/>
                            </a:rPr>
                            <a:t>4</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0000" t="-602000" r="-1006780" b="-15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95000" t="-602000" r="-890000" b="-15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01695" t="-602000" r="-805085" b="-15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501695" t="-602000" r="-705085" b="-15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601695" t="-602000" r="-605085" b="-1564000"/>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801695" t="-602000" r="-405085" b="-15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886667" t="-602000" r="-298333" b="-15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3390" t="-602000" r="-203390" b="-15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103390" t="-602000" r="-103390" b="-15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203390" t="-602000" r="-3390" b="-1564000"/>
                          </a:stretch>
                        </a:blipFill>
                      </a:tcPr>
                    </a:tc>
                    <a:extLst>
                      <a:ext uri="{0D108BD9-81ED-4DB2-BD59-A6C34878D82A}">
                        <a16:rowId xmlns:a16="http://schemas.microsoft.com/office/drawing/2014/main" val="1638639852"/>
                      </a:ext>
                    </a:extLst>
                  </a:tr>
                  <a:tr h="304800">
                    <a:tc>
                      <a:txBody>
                        <a:bodyPr/>
                        <a:lstStyle/>
                        <a:p>
                          <a:pPr algn="ctr"/>
                          <a:endParaRPr lang="zh-TW" altLang="en-US" sz="1400" dirty="0">
                            <a:latin typeface="Times New Roman" panose="02020603050405020304" pitchFamily="18" charset="0"/>
                            <a:cs typeface="Times New Roman" panose="02020603050405020304" pitchFamily="18"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altLang="zh-TW" sz="1400" dirty="0">
                              <a:latin typeface="Times New Roman" panose="02020603050405020304" pitchFamily="18" charset="0"/>
                              <a:cs typeface="Times New Roman" panose="02020603050405020304" pitchFamily="18" charset="0"/>
                            </a:rPr>
                            <a:t>5</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0000" t="-702000" r="-1006780" b="-14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95000" t="-702000" r="-890000" b="-14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01695" t="-702000" r="-805085" b="-14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501695" t="-702000" r="-705085" b="-14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601695" t="-702000" r="-605085" b="-1464000"/>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801695" t="-702000" r="-405085" b="-14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886667" t="-702000" r="-298333" b="-14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3390" t="-702000" r="-203390" b="-14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103390" t="-702000" r="-103390" b="-14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203390" t="-702000" r="-3390" b="-1464000"/>
                          </a:stretch>
                        </a:blipFill>
                      </a:tcPr>
                    </a:tc>
                    <a:extLst>
                      <a:ext uri="{0D108BD9-81ED-4DB2-BD59-A6C34878D82A}">
                        <a16:rowId xmlns:a16="http://schemas.microsoft.com/office/drawing/2014/main" val="1671178406"/>
                      </a:ext>
                    </a:extLst>
                  </a:tr>
                  <a:tr h="304800">
                    <a:tc>
                      <a:txBody>
                        <a:bodyPr/>
                        <a:lstStyle/>
                        <a:p>
                          <a:pPr algn="ctr"/>
                          <a:endParaRPr lang="zh-TW" altLang="en-US" sz="1400" dirty="0">
                            <a:latin typeface="Times New Roman" panose="02020603050405020304" pitchFamily="18" charset="0"/>
                            <a:cs typeface="Times New Roman" panose="02020603050405020304" pitchFamily="18"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altLang="zh-TW" sz="1400" dirty="0">
                              <a:latin typeface="Times New Roman" panose="02020603050405020304" pitchFamily="18" charset="0"/>
                              <a:cs typeface="Times New Roman" panose="02020603050405020304" pitchFamily="18" charset="0"/>
                            </a:rPr>
                            <a:t>6</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0000" t="-802000" r="-1006780" b="-13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95000" t="-802000" r="-890000" b="-13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01695" t="-802000" r="-805085" b="-13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501695" t="-802000" r="-705085" b="-13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601695" t="-802000" r="-605085" b="-1364000"/>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801695" t="-802000" r="-405085" b="-13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886667" t="-802000" r="-298333" b="-13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3390" t="-802000" r="-203390" b="-13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103390" t="-802000" r="-103390" b="-13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203390" t="-802000" r="-3390" b="-1364000"/>
                          </a:stretch>
                        </a:blipFill>
                      </a:tcPr>
                    </a:tc>
                    <a:extLst>
                      <a:ext uri="{0D108BD9-81ED-4DB2-BD59-A6C34878D82A}">
                        <a16:rowId xmlns:a16="http://schemas.microsoft.com/office/drawing/2014/main" val="3911404706"/>
                      </a:ext>
                    </a:extLst>
                  </a:tr>
                  <a:tr h="304800">
                    <a:tc>
                      <a:txBody>
                        <a:bodyPr/>
                        <a:lstStyle/>
                        <a:p>
                          <a:pPr algn="ctr"/>
                          <a:endParaRPr lang="zh-TW" altLang="en-US" sz="1400" dirty="0">
                            <a:latin typeface="Times New Roman" panose="02020603050405020304" pitchFamily="18" charset="0"/>
                            <a:cs typeface="Times New Roman" panose="02020603050405020304" pitchFamily="18"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altLang="zh-TW" sz="1400" dirty="0">
                              <a:latin typeface="Times New Roman" panose="02020603050405020304" pitchFamily="18" charset="0"/>
                              <a:cs typeface="Times New Roman" panose="02020603050405020304" pitchFamily="18" charset="0"/>
                            </a:rPr>
                            <a:t>7</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0000" t="-902000" r="-1006780" b="-12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95000" t="-902000" r="-890000" b="-12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01695" t="-902000" r="-805085" b="-12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501695" t="-902000" r="-705085" b="-12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601695" t="-902000" r="-605085" b="-1264000"/>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801695" t="-902000" r="-405085" b="-12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886667" t="-902000" r="-298333" b="-12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3390" t="-902000" r="-203390" b="-12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103390" t="-902000" r="-103390" b="-12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203390" t="-902000" r="-3390" b="-1264000"/>
                          </a:stretch>
                        </a:blipFill>
                      </a:tcPr>
                    </a:tc>
                    <a:extLst>
                      <a:ext uri="{0D108BD9-81ED-4DB2-BD59-A6C34878D82A}">
                        <a16:rowId xmlns:a16="http://schemas.microsoft.com/office/drawing/2014/main" val="72990075"/>
                      </a:ext>
                    </a:extLst>
                  </a:tr>
                  <a:tr h="304800">
                    <a:tc>
                      <a:txBody>
                        <a:bodyPr/>
                        <a:lstStyle/>
                        <a:p>
                          <a:pPr algn="ctr"/>
                          <a:endParaRPr lang="zh-TW" altLang="en-US" sz="1400" dirty="0">
                            <a:latin typeface="Times New Roman" panose="02020603050405020304" pitchFamily="18" charset="0"/>
                            <a:cs typeface="Times New Roman" panose="02020603050405020304" pitchFamily="18"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altLang="zh-TW" sz="1400" dirty="0">
                              <a:latin typeface="Times New Roman" panose="02020603050405020304" pitchFamily="18" charset="0"/>
                              <a:cs typeface="Times New Roman" panose="02020603050405020304" pitchFamily="18" charset="0"/>
                            </a:rPr>
                            <a:t>8</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0000" t="-1002000" r="-1006780" b="-11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95000" t="-1002000" r="-890000" b="-11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01695" t="-1002000" r="-805085" b="-11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501695" t="-1002000" r="-705085" b="-11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601695" t="-1002000" r="-605085" b="-1164000"/>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801695" t="-1002000" r="-405085" b="-11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886667" t="-1002000" r="-298333" b="-11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3390" t="-1002000" r="-203390" b="-11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103390" t="-1002000" r="-103390" b="-11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203390" t="-1002000" r="-3390" b="-1164000"/>
                          </a:stretch>
                        </a:blipFill>
                      </a:tcPr>
                    </a:tc>
                    <a:extLst>
                      <a:ext uri="{0D108BD9-81ED-4DB2-BD59-A6C34878D82A}">
                        <a16:rowId xmlns:a16="http://schemas.microsoft.com/office/drawing/2014/main" val="1399197756"/>
                      </a:ext>
                    </a:extLst>
                  </a:tr>
                  <a:tr h="304800">
                    <a:tc>
                      <a:txBody>
                        <a:bodyPr/>
                        <a:lstStyle/>
                        <a:p>
                          <a:pPr algn="ctr"/>
                          <a:endParaRPr lang="zh-TW" altLang="en-US" sz="1400" dirty="0">
                            <a:latin typeface="Times New Roman" panose="02020603050405020304" pitchFamily="18" charset="0"/>
                            <a:cs typeface="Times New Roman" panose="02020603050405020304" pitchFamily="18"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altLang="zh-TW" sz="1400" dirty="0">
                              <a:latin typeface="Times New Roman" panose="02020603050405020304" pitchFamily="18" charset="0"/>
                              <a:cs typeface="Times New Roman" panose="02020603050405020304" pitchFamily="18" charset="0"/>
                            </a:rPr>
                            <a:t>9</a:t>
                          </a:r>
                          <a:endParaRPr lang="zh-TW" altLang="en-US" sz="1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0000" t="-1102000" r="-1006780" b="-10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95000" t="-1102000" r="-890000" b="-10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01695" t="-1102000" r="-805085" b="-10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501695" t="-1102000" r="-705085" b="-10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601695" t="-1102000" r="-605085" b="-1064000"/>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801695" t="-1102000" r="-405085" b="-10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886667" t="-1102000" r="-298333" b="-10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3390" t="-1102000" r="-203390" b="-10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103390" t="-1102000" r="-103390" b="-106400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203390" t="-1102000" r="-3390" b="-1064000"/>
                          </a:stretch>
                        </a:blipFill>
                      </a:tcPr>
                    </a:tc>
                    <a:extLst>
                      <a:ext uri="{0D108BD9-81ED-4DB2-BD59-A6C34878D82A}">
                        <a16:rowId xmlns:a16="http://schemas.microsoft.com/office/drawing/2014/main" val="1252285656"/>
                      </a:ext>
                    </a:extLst>
                  </a:tr>
                  <a:tr h="288000">
                    <a:tc>
                      <a:txBody>
                        <a:bodyPr/>
                        <a:lstStyle/>
                        <a:p>
                          <a:pPr algn="ctr"/>
                          <a:endParaRPr lang="zh-TW" altLang="en-US" sz="1200" dirty="0">
                            <a:latin typeface="Times New Roman" panose="02020603050405020304" pitchFamily="18" charset="0"/>
                            <a:cs typeface="Times New Roman" panose="02020603050405020304" pitchFamily="18"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altLang="zh-TW" sz="1200" dirty="0">
                              <a:latin typeface="Times New Roman" panose="02020603050405020304" pitchFamily="18" charset="0"/>
                              <a:cs typeface="Times New Roman" panose="02020603050405020304" pitchFamily="18" charset="0"/>
                            </a:rPr>
                            <a:t>10</a:t>
                          </a:r>
                          <a:endParaRPr lang="zh-TW" altLang="en-US" sz="12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0000" t="-1278723" r="-1006780" b="-1031915"/>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95000" t="-1278723" r="-890000" b="-1031915"/>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01695" t="-1278723" r="-805085" b="-1031915"/>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501695" t="-1278723" r="-705085" b="-1031915"/>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601695" t="-1278723" r="-605085" b="-1031915"/>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801695" t="-1278723" r="-405085" b="-1031915"/>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886667" t="-1278723" r="-298333" b="-1031915"/>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3390" t="-1278723" r="-203390" b="-1031915"/>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103390" t="-1278723" r="-103390" b="-1031915"/>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203390" t="-1278723" r="-3390" b="-1031915"/>
                          </a:stretch>
                        </a:blipFill>
                      </a:tcPr>
                    </a:tc>
                    <a:extLst>
                      <a:ext uri="{0D108BD9-81ED-4DB2-BD59-A6C34878D82A}">
                        <a16:rowId xmlns:a16="http://schemas.microsoft.com/office/drawing/2014/main" val="870218796"/>
                      </a:ext>
                    </a:extLst>
                  </a:tr>
                  <a:tr h="288000">
                    <a:tc>
                      <a:txBody>
                        <a:bodyPr/>
                        <a:lstStyle/>
                        <a:p>
                          <a:pPr algn="ctr"/>
                          <a:endParaRPr lang="zh-TW" altLang="en-US" sz="1200" dirty="0">
                            <a:latin typeface="Times New Roman" panose="02020603050405020304" pitchFamily="18" charset="0"/>
                            <a:cs typeface="Times New Roman" panose="02020603050405020304" pitchFamily="18"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altLang="zh-TW" sz="1200" dirty="0">
                              <a:latin typeface="Times New Roman" panose="02020603050405020304" pitchFamily="18" charset="0"/>
                              <a:cs typeface="Times New Roman" panose="02020603050405020304" pitchFamily="18" charset="0"/>
                            </a:rPr>
                            <a:t>11</a:t>
                          </a:r>
                          <a:endParaRPr lang="zh-TW" altLang="en-US" sz="12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0000" t="-1350000" r="-1006780" b="-910417"/>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95000" t="-1350000" r="-890000" b="-910417"/>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01695" t="-1350000" r="-805085" b="-910417"/>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501695" t="-1350000" r="-705085" b="-910417"/>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601695" t="-1350000" r="-605085" b="-910417"/>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801695" t="-1350000" r="-405085" b="-910417"/>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886667" t="-1350000" r="-298333" b="-910417"/>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3390" t="-1350000" r="-203390" b="-910417"/>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103390" t="-1350000" r="-103390" b="-910417"/>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203390" t="-1350000" r="-3390" b="-910417"/>
                          </a:stretch>
                        </a:blipFill>
                      </a:tcPr>
                    </a:tc>
                    <a:extLst>
                      <a:ext uri="{0D108BD9-81ED-4DB2-BD59-A6C34878D82A}">
                        <a16:rowId xmlns:a16="http://schemas.microsoft.com/office/drawing/2014/main" val="1984362165"/>
                      </a:ext>
                    </a:extLst>
                  </a:tr>
                  <a:tr h="288000">
                    <a:tc>
                      <a:txBody>
                        <a:bodyPr/>
                        <a:lstStyle/>
                        <a:p>
                          <a:pPr algn="ctr"/>
                          <a:endParaRPr lang="zh-TW" altLang="en-US" sz="1200" dirty="0">
                            <a:latin typeface="Times New Roman" panose="02020603050405020304" pitchFamily="18" charset="0"/>
                            <a:cs typeface="Times New Roman" panose="02020603050405020304" pitchFamily="18"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altLang="zh-TW" sz="1200" dirty="0">
                              <a:latin typeface="Times New Roman" panose="02020603050405020304" pitchFamily="18" charset="0"/>
                              <a:cs typeface="Times New Roman" panose="02020603050405020304" pitchFamily="18" charset="0"/>
                            </a:rPr>
                            <a:t>12</a:t>
                          </a:r>
                          <a:endParaRPr lang="zh-TW" altLang="en-US" sz="12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0000" t="-1480851" r="-1006780" b="-829787"/>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95000" t="-1480851" r="-890000" b="-829787"/>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01695" t="-1480851" r="-805085" b="-829787"/>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501695" t="-1480851" r="-705085" b="-829787"/>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601695" t="-1480851" r="-605085" b="-829787"/>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801695" t="-1480851" r="-405085" b="-829787"/>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886667" t="-1480851" r="-298333" b="-829787"/>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3390" t="-1480851" r="-203390" b="-829787"/>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103390" t="-1480851" r="-103390" b="-829787"/>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203390" t="-1480851" r="-3390" b="-829787"/>
                          </a:stretch>
                        </a:blipFill>
                      </a:tcPr>
                    </a:tc>
                    <a:extLst>
                      <a:ext uri="{0D108BD9-81ED-4DB2-BD59-A6C34878D82A}">
                        <a16:rowId xmlns:a16="http://schemas.microsoft.com/office/drawing/2014/main" val="3702963591"/>
                      </a:ext>
                    </a:extLst>
                  </a:tr>
                  <a:tr h="288000">
                    <a:tc>
                      <a:txBody>
                        <a:bodyPr/>
                        <a:lstStyle/>
                        <a:p>
                          <a:pPr algn="ctr"/>
                          <a:endParaRPr lang="zh-TW" altLang="en-US" sz="1200" dirty="0">
                            <a:latin typeface="Times New Roman" panose="02020603050405020304" pitchFamily="18" charset="0"/>
                            <a:cs typeface="Times New Roman" panose="02020603050405020304" pitchFamily="18"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altLang="zh-TW" sz="1200" dirty="0">
                              <a:latin typeface="Times New Roman" panose="02020603050405020304" pitchFamily="18" charset="0"/>
                              <a:cs typeface="Times New Roman" panose="02020603050405020304" pitchFamily="18" charset="0"/>
                            </a:rPr>
                            <a:t>13</a:t>
                          </a:r>
                          <a:endParaRPr lang="zh-TW" altLang="en-US" sz="12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0000" t="-1580851" r="-1006780" b="-729787"/>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95000" t="-1580851" r="-890000" b="-729787"/>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01695" t="-1580851" r="-805085" b="-729787"/>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501695" t="-1580851" r="-705085" b="-729787"/>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601695" t="-1580851" r="-605085" b="-729787"/>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801695" t="-1580851" r="-405085" b="-729787"/>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886667" t="-1580851" r="-298333" b="-729787"/>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3390" t="-1580851" r="-203390" b="-729787"/>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103390" t="-1580851" r="-103390" b="-729787"/>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203390" t="-1580851" r="-3390" b="-729787"/>
                          </a:stretch>
                        </a:blipFill>
                      </a:tcPr>
                    </a:tc>
                    <a:extLst>
                      <a:ext uri="{0D108BD9-81ED-4DB2-BD59-A6C34878D82A}">
                        <a16:rowId xmlns:a16="http://schemas.microsoft.com/office/drawing/2014/main" val="4238028935"/>
                      </a:ext>
                    </a:extLst>
                  </a:tr>
                  <a:tr h="288000">
                    <a:tc>
                      <a:txBody>
                        <a:bodyPr/>
                        <a:lstStyle/>
                        <a:p>
                          <a:pPr algn="ctr"/>
                          <a:endParaRPr lang="zh-TW" altLang="en-US" sz="1200" dirty="0">
                            <a:latin typeface="Times New Roman" panose="02020603050405020304" pitchFamily="18" charset="0"/>
                            <a:cs typeface="Times New Roman" panose="02020603050405020304" pitchFamily="18"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altLang="zh-TW" sz="1200" dirty="0">
                              <a:latin typeface="Times New Roman" panose="02020603050405020304" pitchFamily="18" charset="0"/>
                              <a:cs typeface="Times New Roman" panose="02020603050405020304" pitchFamily="18" charset="0"/>
                            </a:rPr>
                            <a:t>14</a:t>
                          </a:r>
                          <a:endParaRPr lang="zh-TW" altLang="en-US" sz="12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0000" t="-1680851" r="-1006780" b="-629787"/>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95000" t="-1680851" r="-890000" b="-629787"/>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01695" t="-1680851" r="-805085" b="-629787"/>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501695" t="-1680851" r="-705085" b="-629787"/>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601695" t="-1680851" r="-605085" b="-629787"/>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801695" t="-1680851" r="-405085" b="-629787"/>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886667" t="-1680851" r="-298333" b="-629787"/>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3390" t="-1680851" r="-203390" b="-629787"/>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103390" t="-1680851" r="-103390" b="-629787"/>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203390" t="-1680851" r="-3390" b="-629787"/>
                          </a:stretch>
                        </a:blipFill>
                      </a:tcPr>
                    </a:tc>
                    <a:extLst>
                      <a:ext uri="{0D108BD9-81ED-4DB2-BD59-A6C34878D82A}">
                        <a16:rowId xmlns:a16="http://schemas.microsoft.com/office/drawing/2014/main" val="2007011822"/>
                      </a:ext>
                    </a:extLst>
                  </a:tr>
                  <a:tr h="288000">
                    <a:tc>
                      <a:txBody>
                        <a:bodyPr/>
                        <a:lstStyle/>
                        <a:p>
                          <a:pPr algn="ctr"/>
                          <a:endParaRPr lang="zh-TW" altLang="en-US" sz="1200" dirty="0">
                            <a:latin typeface="Times New Roman" panose="02020603050405020304" pitchFamily="18" charset="0"/>
                            <a:cs typeface="Times New Roman" panose="02020603050405020304" pitchFamily="18"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altLang="zh-TW" sz="1200" dirty="0">
                              <a:latin typeface="Times New Roman" panose="02020603050405020304" pitchFamily="18" charset="0"/>
                              <a:cs typeface="Times New Roman" panose="02020603050405020304" pitchFamily="18" charset="0"/>
                            </a:rPr>
                            <a:t>15</a:t>
                          </a:r>
                          <a:endParaRPr lang="zh-TW" altLang="en-US" sz="12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0000" t="-1743750" r="-1006780" b="-516667"/>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95000" t="-1743750" r="-890000" b="-516667"/>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01695" t="-1743750" r="-805085" b="-516667"/>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501695" t="-1743750" r="-705085" b="-516667"/>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601695" t="-1743750" r="-605085" b="-516667"/>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801695" t="-1743750" r="-405085" b="-516667"/>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886667" t="-1743750" r="-298333" b="-516667"/>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3390" t="-1743750" r="-203390" b="-516667"/>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103390" t="-1743750" r="-103390" b="-516667"/>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203390" t="-1743750" r="-3390" b="-516667"/>
                          </a:stretch>
                        </a:blipFill>
                      </a:tcPr>
                    </a:tc>
                    <a:extLst>
                      <a:ext uri="{0D108BD9-81ED-4DB2-BD59-A6C34878D82A}">
                        <a16:rowId xmlns:a16="http://schemas.microsoft.com/office/drawing/2014/main" val="176459192"/>
                      </a:ext>
                    </a:extLst>
                  </a:tr>
                  <a:tr h="288000">
                    <a:tc>
                      <a:txBody>
                        <a:bodyPr/>
                        <a:lstStyle/>
                        <a:p>
                          <a:pPr algn="ctr"/>
                          <a:endParaRPr lang="zh-TW" altLang="en-US" sz="1200" dirty="0">
                            <a:latin typeface="Times New Roman" panose="02020603050405020304" pitchFamily="18" charset="0"/>
                            <a:cs typeface="Times New Roman" panose="02020603050405020304" pitchFamily="18"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altLang="zh-TW" sz="1200" dirty="0">
                              <a:latin typeface="Times New Roman" panose="02020603050405020304" pitchFamily="18" charset="0"/>
                              <a:cs typeface="Times New Roman" panose="02020603050405020304" pitchFamily="18" charset="0"/>
                            </a:rPr>
                            <a:t>16</a:t>
                          </a:r>
                          <a:endParaRPr lang="zh-TW" altLang="en-US" sz="12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0000" t="-1882979" r="-1006780" b="-42766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95000" t="-1882979" r="-890000" b="-42766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01695" t="-1882979" r="-805085" b="-42766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501695" t="-1882979" r="-705085" b="-42766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601695" t="-1882979" r="-605085" b="-427660"/>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801695" t="-1882979" r="-405085" b="-42766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886667" t="-1882979" r="-298333" b="-42766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3390" t="-1882979" r="-203390" b="-42766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103390" t="-1882979" r="-103390" b="-42766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203390" t="-1882979" r="-3390" b="-427660"/>
                          </a:stretch>
                        </a:blipFill>
                      </a:tcPr>
                    </a:tc>
                    <a:extLst>
                      <a:ext uri="{0D108BD9-81ED-4DB2-BD59-A6C34878D82A}">
                        <a16:rowId xmlns:a16="http://schemas.microsoft.com/office/drawing/2014/main" val="2126034555"/>
                      </a:ext>
                    </a:extLst>
                  </a:tr>
                  <a:tr h="288000">
                    <a:tc>
                      <a:txBody>
                        <a:bodyPr/>
                        <a:lstStyle/>
                        <a:p>
                          <a:pPr algn="ctr"/>
                          <a:endParaRPr lang="zh-TW" altLang="en-US" sz="1200" dirty="0">
                            <a:latin typeface="Times New Roman" panose="02020603050405020304" pitchFamily="18" charset="0"/>
                            <a:cs typeface="Times New Roman" panose="02020603050405020304" pitchFamily="18"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altLang="zh-TW" sz="1200" dirty="0">
                              <a:latin typeface="Times New Roman" panose="02020603050405020304" pitchFamily="18" charset="0"/>
                              <a:cs typeface="Times New Roman" panose="02020603050405020304" pitchFamily="18" charset="0"/>
                            </a:rPr>
                            <a:t>17</a:t>
                          </a:r>
                          <a:endParaRPr lang="zh-TW" altLang="en-US" sz="12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0000" t="-1982979" r="-1006780" b="-32766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95000" t="-1982979" r="-890000" b="-32766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01695" t="-1982979" r="-805085" b="-32766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501695" t="-1982979" r="-705085" b="-32766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601695" t="-1982979" r="-605085" b="-327660"/>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801695" t="-1982979" r="-405085" b="-32766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886667" t="-1982979" r="-298333" b="-32766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3390" t="-1982979" r="-203390" b="-32766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103390" t="-1982979" r="-103390" b="-32766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203390" t="-1982979" r="-3390" b="-327660"/>
                          </a:stretch>
                        </a:blipFill>
                      </a:tcPr>
                    </a:tc>
                    <a:extLst>
                      <a:ext uri="{0D108BD9-81ED-4DB2-BD59-A6C34878D82A}">
                        <a16:rowId xmlns:a16="http://schemas.microsoft.com/office/drawing/2014/main" val="3847072742"/>
                      </a:ext>
                    </a:extLst>
                  </a:tr>
                  <a:tr h="288000">
                    <a:tc>
                      <a:txBody>
                        <a:bodyPr/>
                        <a:lstStyle/>
                        <a:p>
                          <a:pPr algn="ctr"/>
                          <a:endParaRPr lang="zh-TW" altLang="en-US" sz="1200" dirty="0">
                            <a:latin typeface="Times New Roman" panose="02020603050405020304" pitchFamily="18" charset="0"/>
                            <a:cs typeface="Times New Roman" panose="02020603050405020304" pitchFamily="18"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altLang="zh-TW" sz="1200" dirty="0">
                              <a:latin typeface="Times New Roman" panose="02020603050405020304" pitchFamily="18" charset="0"/>
                              <a:cs typeface="Times New Roman" panose="02020603050405020304" pitchFamily="18" charset="0"/>
                            </a:rPr>
                            <a:t>18</a:t>
                          </a:r>
                          <a:endParaRPr lang="zh-TW" altLang="en-US" sz="12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ashDotDot"/>
                          <a:round/>
                          <a:headEnd type="none" w="med" len="med"/>
                          <a:tailEnd type="none" w="med" len="med"/>
                        </a:lnB>
                        <a:blipFill>
                          <a:blip r:embed="rId5"/>
                          <a:stretch>
                            <a:fillRect l="-200000" t="-2082979" r="-1006780" b="-22766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ashDotDot"/>
                          <a:round/>
                          <a:headEnd type="none" w="med" len="med"/>
                          <a:tailEnd type="none" w="med" len="med"/>
                        </a:lnB>
                        <a:blipFill>
                          <a:blip r:embed="rId5"/>
                          <a:stretch>
                            <a:fillRect l="-295000" t="-2082979" r="-890000" b="-22766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ashDotDot"/>
                          <a:round/>
                          <a:headEnd type="none" w="med" len="med"/>
                          <a:tailEnd type="none" w="med" len="med"/>
                        </a:lnB>
                        <a:blipFill>
                          <a:blip r:embed="rId5"/>
                          <a:stretch>
                            <a:fillRect l="-401695" t="-2082979" r="-805085" b="-22766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ashDotDot"/>
                          <a:round/>
                          <a:headEnd type="none" w="med" len="med"/>
                          <a:tailEnd type="none" w="med" len="med"/>
                        </a:lnB>
                        <a:blipFill>
                          <a:blip r:embed="rId5"/>
                          <a:stretch>
                            <a:fillRect l="-501695" t="-2082979" r="-705085" b="-22766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ashDotDot"/>
                          <a:round/>
                          <a:headEnd type="none" w="med" len="med"/>
                          <a:tailEnd type="none" w="med" len="med"/>
                        </a:lnB>
                        <a:blipFill>
                          <a:blip r:embed="rId5"/>
                          <a:stretch>
                            <a:fillRect l="-601695" t="-2082979" r="-605085" b="-227660"/>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ashDotDot"/>
                          <a:round/>
                          <a:headEnd type="none" w="med" len="med"/>
                          <a:tailEnd type="none" w="med" len="med"/>
                        </a:lnB>
                      </a:tcPr>
                    </a:tc>
                    <a:tc>
                      <a:txBody>
                        <a:bodyPr/>
                        <a:lstStyle/>
                        <a:p>
                          <a:endParaRPr lang="zh-TW"/>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ashDotDot"/>
                          <a:round/>
                          <a:headEnd type="none" w="med" len="med"/>
                          <a:tailEnd type="none" w="med" len="med"/>
                        </a:lnB>
                        <a:blipFill>
                          <a:blip r:embed="rId5"/>
                          <a:stretch>
                            <a:fillRect l="-801695" t="-2082979" r="-405085" b="-22766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ashDotDot"/>
                          <a:round/>
                          <a:headEnd type="none" w="med" len="med"/>
                          <a:tailEnd type="none" w="med" len="med"/>
                        </a:lnB>
                        <a:blipFill>
                          <a:blip r:embed="rId5"/>
                          <a:stretch>
                            <a:fillRect l="-886667" t="-2082979" r="-298333" b="-22766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ashDotDot"/>
                          <a:round/>
                          <a:headEnd type="none" w="med" len="med"/>
                          <a:tailEnd type="none" w="med" len="med"/>
                        </a:lnB>
                        <a:blipFill>
                          <a:blip r:embed="rId5"/>
                          <a:stretch>
                            <a:fillRect l="-1003390" t="-2082979" r="-203390" b="-22766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ashDotDot"/>
                          <a:round/>
                          <a:headEnd type="none" w="med" len="med"/>
                          <a:tailEnd type="none" w="med" len="med"/>
                        </a:lnB>
                        <a:blipFill>
                          <a:blip r:embed="rId5"/>
                          <a:stretch>
                            <a:fillRect l="-1103390" t="-2082979" r="-103390" b="-227660"/>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ashDotDot"/>
                          <a:round/>
                          <a:headEnd type="none" w="med" len="med"/>
                          <a:tailEnd type="none" w="med" len="med"/>
                        </a:lnB>
                        <a:blipFill>
                          <a:blip r:embed="rId5"/>
                          <a:stretch>
                            <a:fillRect l="-1203390" t="-2082979" r="-3390" b="-227660"/>
                          </a:stretch>
                        </a:blipFill>
                      </a:tcPr>
                    </a:tc>
                    <a:extLst>
                      <a:ext uri="{0D108BD9-81ED-4DB2-BD59-A6C34878D82A}">
                        <a16:rowId xmlns:a16="http://schemas.microsoft.com/office/drawing/2014/main" val="322196585"/>
                      </a:ext>
                    </a:extLst>
                  </a:tr>
                  <a:tr h="288000">
                    <a:tc>
                      <a:txBody>
                        <a:bodyPr/>
                        <a:lstStyle/>
                        <a:p>
                          <a:pPr algn="ctr"/>
                          <a:endParaRPr lang="zh-TW" altLang="en-US" sz="1200" dirty="0">
                            <a:latin typeface="Times New Roman" panose="02020603050405020304" pitchFamily="18" charset="0"/>
                            <a:cs typeface="Times New Roman" panose="02020603050405020304" pitchFamily="18"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endParaRPr lang="zh-TW" altLang="en-US" sz="12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vert="ea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ysDashDotDot"/>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vert="ea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ysDashDotDot"/>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vert="ea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ysDashDotDot"/>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vert="ea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ysDashDotDot"/>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vert="eaVert" anchor="ctr">
                        <a:lnL w="12700" cap="flat" cmpd="sng" algn="ctr">
                          <a:solidFill>
                            <a:schemeClr val="tx1"/>
                          </a:solidFill>
                          <a:prstDash val="solid"/>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ysDashDotDot"/>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ysDashDotDot"/>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vert="eaVert" anchor="ctr">
                        <a:lnL w="12700" cap="flat" cmpd="sng" algn="ctr">
                          <a:solidFill>
                            <a:schemeClr val="tx1"/>
                          </a:solidFill>
                          <a:prstDash val="sysDashDot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ysDashDotDot"/>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vert="ea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ysDashDotDot"/>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vert="ea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ysDashDotDot"/>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vert="ea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ysDashDotDot"/>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vert="ea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ysDashDotDot"/>
                          <a:round/>
                          <a:headEnd type="none" w="med" len="med"/>
                          <a:tailEnd type="none" w="med" len="med"/>
                        </a:lnB>
                      </a:tcPr>
                    </a:tc>
                    <a:extLst>
                      <a:ext uri="{0D108BD9-81ED-4DB2-BD59-A6C34878D82A}">
                        <a16:rowId xmlns:a16="http://schemas.microsoft.com/office/drawing/2014/main" val="3733153582"/>
                      </a:ext>
                    </a:extLst>
                  </a:tr>
                  <a:tr h="288000">
                    <a:tc>
                      <a:txBody>
                        <a:bodyPr/>
                        <a:lstStyle/>
                        <a:p>
                          <a:pPr algn="ctr"/>
                          <a:endParaRPr lang="zh-TW" altLang="en-US" sz="1200" dirty="0">
                            <a:latin typeface="Times New Roman" panose="02020603050405020304" pitchFamily="18" charset="0"/>
                            <a:cs typeface="Times New Roman" panose="02020603050405020304" pitchFamily="18"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altLang="zh-TW" sz="1200" dirty="0">
                              <a:latin typeface="Times New Roman" panose="02020603050405020304" pitchFamily="18" charset="0"/>
                              <a:cs typeface="Times New Roman" panose="02020603050405020304" pitchFamily="18" charset="0"/>
                            </a:rPr>
                            <a:t>21</a:t>
                          </a:r>
                          <a:endParaRPr lang="zh-TW" altLang="en-US" sz="12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0000" t="-2285106" r="-1006780" b="-25532"/>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95000" t="-2285106" r="-890000" b="-25532"/>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01695" t="-2285106" r="-805085" b="-25532"/>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501695" t="-2285106" r="-705085" b="-25532"/>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601695" t="-2285106" r="-605085" b="-25532"/>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t>…</a:t>
                          </a:r>
                          <a:endParaRPr kumimoji="0" lang="zh-TW"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801695" t="-2285106" r="-405085" b="-25532"/>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886667" t="-2285106" r="-298333" b="-25532"/>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3390" t="-2285106" r="-203390" b="-25532"/>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103390" t="-2285106" r="-103390" b="-25532"/>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203390" t="-2285106" r="-3390" b="-25532"/>
                          </a:stretch>
                        </a:blipFill>
                      </a:tcPr>
                    </a:tc>
                    <a:extLst>
                      <a:ext uri="{0D108BD9-81ED-4DB2-BD59-A6C34878D82A}">
                        <a16:rowId xmlns:a16="http://schemas.microsoft.com/office/drawing/2014/main" val="3683544476"/>
                      </a:ext>
                    </a:extLst>
                  </a:tr>
                </a:tbl>
              </a:graphicData>
            </a:graphic>
          </p:graphicFrame>
        </mc:Fallback>
      </mc:AlternateContent>
      <p:sp>
        <p:nvSpPr>
          <p:cNvPr id="17" name="文字方塊 16"/>
          <p:cNvSpPr txBox="1"/>
          <p:nvPr/>
        </p:nvSpPr>
        <p:spPr>
          <a:xfrm>
            <a:off x="1608651" y="29010"/>
            <a:ext cx="4089004" cy="1446550"/>
          </a:xfrm>
          <a:prstGeom prst="rect">
            <a:avLst/>
          </a:prstGeom>
          <a:noFill/>
        </p:spPr>
        <p:txBody>
          <a:bodyPr wrap="none" rtlCol="0">
            <a:spAutoFit/>
          </a:bodyPr>
          <a:lstStyle/>
          <a:p>
            <a:r>
              <a:rPr lang="en-US" altLang="zh-TW" sz="3200" dirty="0">
                <a:solidFill>
                  <a:srgbClr val="0000FF"/>
                </a:solidFill>
                <a:latin typeface="Times New Roman" panose="02020603050405020304" pitchFamily="18" charset="0"/>
                <a:cs typeface="Times New Roman" panose="02020603050405020304" pitchFamily="18" charset="0"/>
              </a:rPr>
              <a:t>P(LOL) is NP-hard. </a:t>
            </a:r>
          </a:p>
          <a:p>
            <a:r>
              <a:rPr lang="en-US" altLang="zh-TW" sz="2800" dirty="0">
                <a:solidFill>
                  <a:srgbClr val="FF0000"/>
                </a:solidFill>
                <a:latin typeface="Times New Roman" panose="02020603050405020304" pitchFamily="18" charset="0"/>
                <a:cs typeface="Times New Roman" panose="02020603050405020304" pitchFamily="18" charset="0"/>
              </a:rPr>
              <a:t>3 elements </a:t>
            </a:r>
            <a:r>
              <a:rPr lang="en-US" altLang="zh-TW" sz="2800" dirty="0">
                <a:solidFill>
                  <a:srgbClr val="0000FF"/>
                </a:solidFill>
                <a:latin typeface="Times New Roman" panose="02020603050405020304" pitchFamily="18" charset="0"/>
                <a:cs typeface="Times New Roman" panose="02020603050405020304" pitchFamily="18" charset="0"/>
              </a:rPr>
              <a:t>of a matching </a:t>
            </a:r>
          </a:p>
          <a:p>
            <a:r>
              <a:rPr lang="en-US" altLang="zh-TW" sz="2800" dirty="0">
                <a:solidFill>
                  <a:srgbClr val="0000FF"/>
                </a:solidFill>
                <a:latin typeface="Times New Roman" panose="02020603050405020304" pitchFamily="18" charset="0"/>
                <a:cs typeface="Times New Roman" panose="02020603050405020304" pitchFamily="18" charset="0"/>
              </a:rPr>
              <a:t>should be </a:t>
            </a:r>
            <a:r>
              <a:rPr lang="en-US" altLang="zh-TW" sz="2800" dirty="0">
                <a:solidFill>
                  <a:srgbClr val="FF0000"/>
                </a:solidFill>
                <a:latin typeface="Times New Roman" panose="02020603050405020304" pitchFamily="18" charset="0"/>
                <a:cs typeface="Times New Roman" panose="02020603050405020304" pitchFamily="18" charset="0"/>
              </a:rPr>
              <a:t>all</a:t>
            </a:r>
            <a:r>
              <a:rPr lang="en-US" altLang="zh-TW" sz="2800" dirty="0">
                <a:solidFill>
                  <a:srgbClr val="0000FF"/>
                </a:solidFill>
                <a:latin typeface="Times New Roman" panose="02020603050405020304" pitchFamily="18" charset="0"/>
                <a:cs typeface="Times New Roman" panose="02020603050405020304" pitchFamily="18" charset="0"/>
              </a:rPr>
              <a:t> in the answer.</a:t>
            </a:r>
            <a:endParaRPr lang="zh-TW" altLang="en-US" sz="2800" dirty="0">
              <a:solidFill>
                <a:srgbClr val="0000FF"/>
              </a:solidFill>
              <a:latin typeface="Times New Roman" panose="02020603050405020304" pitchFamily="18" charset="0"/>
              <a:cs typeface="Times New Roman" panose="02020603050405020304" pitchFamily="18" charset="0"/>
            </a:endParaRPr>
          </a:p>
        </p:txBody>
      </p:sp>
      <p:sp>
        <p:nvSpPr>
          <p:cNvPr id="27" name="矩形 26"/>
          <p:cNvSpPr/>
          <p:nvPr/>
        </p:nvSpPr>
        <p:spPr>
          <a:xfrm>
            <a:off x="8789280" y="889843"/>
            <a:ext cx="1800000" cy="5900983"/>
          </a:xfrm>
          <a:prstGeom prst="rect">
            <a:avLst/>
          </a:prstGeom>
          <a:solidFill>
            <a:srgbClr val="ED7D31">
              <a:alpha val="40000"/>
            </a:srgb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文字方塊 29"/>
          <p:cNvSpPr txBox="1"/>
          <p:nvPr/>
        </p:nvSpPr>
        <p:spPr>
          <a:xfrm>
            <a:off x="4964007" y="78448"/>
            <a:ext cx="3044550"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Proof:  3DM </a:t>
            </a:r>
            <a:r>
              <a:rPr lang="en-US" altLang="zh-TW" sz="2400" dirty="0">
                <a:latin typeface="Times New Roman" panose="02020603050405020304" pitchFamily="18" charset="0"/>
                <a:cs typeface="Times New Roman" panose="02020603050405020304" pitchFamily="18" charset="0"/>
                <a:sym typeface="Symbol"/>
              </a:rPr>
              <a:t> P(LOL)</a:t>
            </a:r>
            <a:r>
              <a:rPr lang="en-US" altLang="zh-TW" sz="2400" dirty="0"/>
              <a:t> </a:t>
            </a:r>
            <a:endParaRPr lang="zh-TW" altLang="en-US" sz="2400" dirty="0"/>
          </a:p>
        </p:txBody>
      </p:sp>
      <p:sp>
        <p:nvSpPr>
          <p:cNvPr id="33" name="矩形 32"/>
          <p:cNvSpPr/>
          <p:nvPr/>
        </p:nvSpPr>
        <p:spPr>
          <a:xfrm>
            <a:off x="2126099" y="1550238"/>
            <a:ext cx="3381375" cy="525536"/>
          </a:xfrm>
          <a:prstGeom prst="rect">
            <a:avLst/>
          </a:prstGeom>
          <a:solidFill>
            <a:srgbClr val="ED7D31">
              <a:alpha val="40000"/>
            </a:srgbClr>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矩形 35"/>
          <p:cNvSpPr/>
          <p:nvPr/>
        </p:nvSpPr>
        <p:spPr>
          <a:xfrm>
            <a:off x="2088738" y="3664921"/>
            <a:ext cx="3564000" cy="360000"/>
          </a:xfrm>
          <a:prstGeom prst="rect">
            <a:avLst/>
          </a:prstGeom>
          <a:solidFill>
            <a:srgbClr val="ED7D31">
              <a:alpha val="40000"/>
            </a:srgb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9" name="矩形 38"/>
          <p:cNvSpPr/>
          <p:nvPr/>
        </p:nvSpPr>
        <p:spPr>
          <a:xfrm>
            <a:off x="2140893" y="1571247"/>
            <a:ext cx="1600202" cy="525536"/>
          </a:xfrm>
          <a:prstGeom prst="rect">
            <a:avLst/>
          </a:prstGeom>
          <a:solidFill>
            <a:schemeClr val="accent1">
              <a:alpha val="40000"/>
            </a:schemeClr>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0" name="矩形 39"/>
          <p:cNvSpPr/>
          <p:nvPr/>
        </p:nvSpPr>
        <p:spPr>
          <a:xfrm>
            <a:off x="4329415" y="1550238"/>
            <a:ext cx="1054234" cy="525536"/>
          </a:xfrm>
          <a:prstGeom prst="rect">
            <a:avLst/>
          </a:prstGeom>
          <a:solidFill>
            <a:schemeClr val="accent2">
              <a:alpha val="40000"/>
            </a:schemeClr>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1" name="矩形 40"/>
          <p:cNvSpPr/>
          <p:nvPr/>
        </p:nvSpPr>
        <p:spPr>
          <a:xfrm>
            <a:off x="9873134" y="889842"/>
            <a:ext cx="720000" cy="306000"/>
          </a:xfrm>
          <a:prstGeom prst="rect">
            <a:avLst/>
          </a:prstGeom>
          <a:solidFill>
            <a:schemeClr val="accent2">
              <a:alpha val="40000"/>
            </a:schemeClr>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2" name="矩形 41"/>
          <p:cNvSpPr/>
          <p:nvPr/>
        </p:nvSpPr>
        <p:spPr>
          <a:xfrm>
            <a:off x="8785426" y="2401168"/>
            <a:ext cx="360000" cy="306000"/>
          </a:xfrm>
          <a:prstGeom prst="rect">
            <a:avLst/>
          </a:prstGeom>
          <a:solidFill>
            <a:schemeClr val="accent1">
              <a:alpha val="40000"/>
            </a:schemeClr>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3" name="矩形 42"/>
          <p:cNvSpPr/>
          <p:nvPr/>
        </p:nvSpPr>
        <p:spPr>
          <a:xfrm>
            <a:off x="9145426" y="4201023"/>
            <a:ext cx="360000" cy="306000"/>
          </a:xfrm>
          <a:prstGeom prst="rect">
            <a:avLst/>
          </a:prstGeom>
          <a:solidFill>
            <a:schemeClr val="accent1">
              <a:alpha val="40000"/>
            </a:schemeClr>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4" name="矩形 43"/>
          <p:cNvSpPr/>
          <p:nvPr/>
        </p:nvSpPr>
        <p:spPr>
          <a:xfrm>
            <a:off x="9505426" y="5915893"/>
            <a:ext cx="360000" cy="306000"/>
          </a:xfrm>
          <a:prstGeom prst="rect">
            <a:avLst/>
          </a:prstGeom>
          <a:solidFill>
            <a:schemeClr val="accent1">
              <a:alpha val="40000"/>
            </a:schemeClr>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5" name="矩形 44"/>
          <p:cNvSpPr/>
          <p:nvPr/>
        </p:nvSpPr>
        <p:spPr>
          <a:xfrm>
            <a:off x="3266784" y="3664921"/>
            <a:ext cx="396000" cy="360000"/>
          </a:xfrm>
          <a:prstGeom prst="rect">
            <a:avLst/>
          </a:prstGeom>
          <a:solidFill>
            <a:schemeClr val="accent1">
              <a:alpha val="40000"/>
            </a:schemeClr>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6" name="矩形 45"/>
          <p:cNvSpPr/>
          <p:nvPr/>
        </p:nvSpPr>
        <p:spPr>
          <a:xfrm>
            <a:off x="4058784" y="3664921"/>
            <a:ext cx="396000" cy="360000"/>
          </a:xfrm>
          <a:prstGeom prst="rect">
            <a:avLst/>
          </a:prstGeom>
          <a:solidFill>
            <a:schemeClr val="accent1">
              <a:alpha val="40000"/>
            </a:schemeClr>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7" name="矩形 46"/>
          <p:cNvSpPr/>
          <p:nvPr/>
        </p:nvSpPr>
        <p:spPr>
          <a:xfrm>
            <a:off x="4850355" y="3664921"/>
            <a:ext cx="396000" cy="360000"/>
          </a:xfrm>
          <a:prstGeom prst="rect">
            <a:avLst/>
          </a:prstGeom>
          <a:solidFill>
            <a:schemeClr val="accent1">
              <a:alpha val="40000"/>
            </a:schemeClr>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8" name="矩形 47"/>
          <p:cNvSpPr/>
          <p:nvPr/>
        </p:nvSpPr>
        <p:spPr>
          <a:xfrm>
            <a:off x="2095154" y="3672410"/>
            <a:ext cx="792000" cy="360000"/>
          </a:xfrm>
          <a:prstGeom prst="rect">
            <a:avLst/>
          </a:prstGeom>
          <a:solidFill>
            <a:schemeClr val="accent2">
              <a:alpha val="40000"/>
            </a:schemeClr>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mc:AlternateContent xmlns:mc="http://schemas.openxmlformats.org/markup-compatibility/2006" xmlns:a14="http://schemas.microsoft.com/office/drawing/2010/main">
        <mc:Choice Requires="a14">
          <p:graphicFrame>
            <p:nvGraphicFramePr>
              <p:cNvPr id="49" name="表格 48"/>
              <p:cNvGraphicFramePr>
                <a:graphicFrameLocks noGrp="1"/>
              </p:cNvGraphicFramePr>
              <p:nvPr/>
            </p:nvGraphicFramePr>
            <p:xfrm>
              <a:off x="2108590" y="5123413"/>
              <a:ext cx="2772000" cy="1584960"/>
            </p:xfrm>
            <a:graphic>
              <a:graphicData uri="http://schemas.openxmlformats.org/drawingml/2006/table">
                <a:tbl>
                  <a:tblPr firstRow="1" bandRow="1">
                    <a:tableStyleId>{5940675A-B579-460E-94D1-54222C63F5DA}</a:tableStyleId>
                  </a:tblPr>
                  <a:tblGrid>
                    <a:gridCol w="396000">
                      <a:extLst>
                        <a:ext uri="{9D8B030D-6E8A-4147-A177-3AD203B41FA5}">
                          <a16:colId xmlns:a16="http://schemas.microsoft.com/office/drawing/2014/main" val="1281707070"/>
                        </a:ext>
                      </a:extLst>
                    </a:gridCol>
                    <a:gridCol w="396000">
                      <a:extLst>
                        <a:ext uri="{9D8B030D-6E8A-4147-A177-3AD203B41FA5}">
                          <a16:colId xmlns:a16="http://schemas.microsoft.com/office/drawing/2014/main" val="3514700436"/>
                        </a:ext>
                      </a:extLst>
                    </a:gridCol>
                    <a:gridCol w="396000">
                      <a:extLst>
                        <a:ext uri="{9D8B030D-6E8A-4147-A177-3AD203B41FA5}">
                          <a16:colId xmlns:a16="http://schemas.microsoft.com/office/drawing/2014/main" val="1860103807"/>
                        </a:ext>
                      </a:extLst>
                    </a:gridCol>
                    <a:gridCol w="396000">
                      <a:extLst>
                        <a:ext uri="{9D8B030D-6E8A-4147-A177-3AD203B41FA5}">
                          <a16:colId xmlns:a16="http://schemas.microsoft.com/office/drawing/2014/main" val="2390354494"/>
                        </a:ext>
                      </a:extLst>
                    </a:gridCol>
                    <a:gridCol w="396000">
                      <a:extLst>
                        <a:ext uri="{9D8B030D-6E8A-4147-A177-3AD203B41FA5}">
                          <a16:colId xmlns:a16="http://schemas.microsoft.com/office/drawing/2014/main" val="682611296"/>
                        </a:ext>
                      </a:extLst>
                    </a:gridCol>
                    <a:gridCol w="396000">
                      <a:extLst>
                        <a:ext uri="{9D8B030D-6E8A-4147-A177-3AD203B41FA5}">
                          <a16:colId xmlns:a16="http://schemas.microsoft.com/office/drawing/2014/main" val="2960854431"/>
                        </a:ext>
                      </a:extLst>
                    </a:gridCol>
                    <a:gridCol w="396000">
                      <a:extLst>
                        <a:ext uri="{9D8B030D-6E8A-4147-A177-3AD203B41FA5}">
                          <a16:colId xmlns:a16="http://schemas.microsoft.com/office/drawing/2014/main" val="1775137844"/>
                        </a:ext>
                      </a:extLst>
                    </a:gridCol>
                  </a:tblGrid>
                  <a:tr h="396000">
                    <a:tc gridSpan="3">
                      <a:txBody>
                        <a:bodyPr/>
                        <a:lstStyle/>
                        <a:p>
                          <a:pPr algn="ctr"/>
                          <a:r>
                            <a:rPr lang="en-US" altLang="zh-TW" sz="2000" dirty="0">
                              <a:latin typeface="Times New Roman" panose="02020603050405020304" pitchFamily="18" charset="0"/>
                              <a:cs typeface="Times New Roman" panose="02020603050405020304" pitchFamily="18" charset="0"/>
                            </a:rPr>
                            <a:t>Matrix </a:t>
                          </a:r>
                          <a14:m>
                            <m:oMath xmlns:m="http://schemas.openxmlformats.org/officeDocument/2006/math">
                              <m:r>
                                <a:rPr lang="en-US" altLang="zh-TW" sz="2000" i="1" dirty="0" smtClean="0">
                                  <a:latin typeface="Cambria Math" panose="02040503050406030204" pitchFamily="18" charset="0"/>
                                </a:rPr>
                                <m:t>𝐴</m:t>
                              </m:r>
                            </m:oMath>
                          </a14:m>
                          <a:endParaRPr lang="zh-TW" altLang="en-US" sz="20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zh-TW" altLang="en-US" dirty="0"/>
                        </a:p>
                      </a:txBody>
                      <a:tcPr/>
                    </a:tc>
                    <a:tc hMerge="1">
                      <a:txBody>
                        <a:bodyPr/>
                        <a:lstStyle/>
                        <a:p>
                          <a:endParaRPr lang="zh-TW" altLang="en-US" dirty="0"/>
                        </a:p>
                      </a:txBody>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3">
                      <a:txBody>
                        <a:bodyPr/>
                        <a:lstStyle/>
                        <a:p>
                          <a:pPr algn="ctr"/>
                          <a:r>
                            <a:rPr lang="en-US" altLang="zh-TW" sz="2000" dirty="0">
                              <a:latin typeface="Times New Roman" panose="02020603050405020304" pitchFamily="18" charset="0"/>
                              <a:cs typeface="Times New Roman" panose="02020603050405020304" pitchFamily="18" charset="0"/>
                            </a:rPr>
                            <a:t>Matrix </a:t>
                          </a:r>
                          <a14:m>
                            <m:oMath xmlns:m="http://schemas.openxmlformats.org/officeDocument/2006/math">
                              <m:r>
                                <a:rPr lang="en-US" altLang="zh-TW" sz="2000" i="1" dirty="0" smtClean="0">
                                  <a:latin typeface="Cambria Math" panose="02040503050406030204" pitchFamily="18" charset="0"/>
                                </a:rPr>
                                <m:t>𝐵</m:t>
                              </m:r>
                            </m:oMath>
                          </a14:m>
                          <a:endParaRPr lang="zh-TW" altLang="en-US" sz="20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zh-TW" altLang="en-US" dirty="0"/>
                        </a:p>
                      </a:txBody>
                      <a:tcPr/>
                    </a:tc>
                    <a:tc hMerge="1">
                      <a:txBody>
                        <a:bodyPr/>
                        <a:lstStyle/>
                        <a:p>
                          <a:endParaRPr lang="zh-TW" altLang="en-US" dirty="0"/>
                        </a:p>
                      </a:txBody>
                      <a:tcPr/>
                    </a:tc>
                    <a:extLst>
                      <a:ext uri="{0D108BD9-81ED-4DB2-BD59-A6C34878D82A}">
                        <a16:rowId xmlns:a16="http://schemas.microsoft.com/office/drawing/2014/main" val="2109248052"/>
                      </a:ext>
                    </a:extLst>
                  </a:tr>
                  <a:tr h="396000">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000" b="1" dirty="0">
                            <a:solidFill>
                              <a:schemeClr val="accent2"/>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271161773"/>
                      </a:ext>
                    </a:extLst>
                  </a:tr>
                  <a:tr h="396000">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zh-TW" altLang="en-US" sz="2000" b="1" i="1" smtClean="0">
                                    <a:solidFill>
                                      <a:schemeClr val="accent2"/>
                                    </a:solidFill>
                                    <a:latin typeface="Cambria Math" panose="02040503050406030204" pitchFamily="18" charset="0"/>
                                    <a:cs typeface="Times New Roman" panose="02020603050405020304" pitchFamily="18" charset="0"/>
                                  </a:rPr>
                                  <m:t>𝜶</m:t>
                                </m:r>
                              </m:oMath>
                            </m:oMathPara>
                          </a14:m>
                          <a:endParaRPr lang="zh-TW" altLang="en-US" sz="2000" b="1" dirty="0">
                            <a:solidFill>
                              <a:schemeClr val="accent2"/>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zh-TW" altLang="en-US" sz="2000" b="1" i="1" smtClean="0">
                                    <a:solidFill>
                                      <a:schemeClr val="accent1"/>
                                    </a:solidFill>
                                    <a:latin typeface="Cambria Math" panose="02040503050406030204" pitchFamily="18" charset="0"/>
                                    <a:cs typeface="Times New Roman" panose="02020603050405020304" pitchFamily="18" charset="0"/>
                                  </a:rPr>
                                  <m:t>𝜷</m:t>
                                </m:r>
                              </m:oMath>
                            </m:oMathPara>
                          </a14:m>
                          <a:endParaRPr lang="zh-TW" altLang="en-US" sz="2000" b="1" dirty="0">
                            <a:solidFill>
                              <a:schemeClr val="accent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b="1" dirty="0">
                            <a:solidFill>
                              <a:schemeClr val="accent2"/>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zh-TW" altLang="en-US" sz="2000" b="1" i="1" smtClean="0">
                                    <a:solidFill>
                                      <a:schemeClr val="accent2"/>
                                    </a:solidFill>
                                    <a:latin typeface="Cambria Math" panose="02040503050406030204" pitchFamily="18" charset="0"/>
                                    <a:cs typeface="Times New Roman" panose="02020603050405020304" pitchFamily="18" charset="0"/>
                                  </a:rPr>
                                  <m:t>𝜶</m:t>
                                </m:r>
                              </m:oMath>
                            </m:oMathPara>
                          </a14:m>
                          <a:endParaRPr lang="zh-TW" altLang="en-US" sz="2000" b="1" dirty="0">
                            <a:solidFill>
                              <a:schemeClr val="accent2"/>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690569120"/>
                      </a:ext>
                    </a:extLst>
                  </a:tr>
                  <a:tr h="396000">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000" b="1" dirty="0">
                            <a:solidFill>
                              <a:schemeClr val="accent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2179576002"/>
                      </a:ext>
                    </a:extLst>
                  </a:tr>
                </a:tbl>
              </a:graphicData>
            </a:graphic>
          </p:graphicFrame>
        </mc:Choice>
        <mc:Fallback xmlns="">
          <p:graphicFrame>
            <p:nvGraphicFramePr>
              <p:cNvPr id="49" name="表格 48"/>
              <p:cNvGraphicFramePr>
                <a:graphicFrameLocks noGrp="1"/>
              </p:cNvGraphicFramePr>
              <p:nvPr/>
            </p:nvGraphicFramePr>
            <p:xfrm>
              <a:off x="2108590" y="5123413"/>
              <a:ext cx="2772000" cy="1584960"/>
            </p:xfrm>
            <a:graphic>
              <a:graphicData uri="http://schemas.openxmlformats.org/drawingml/2006/table">
                <a:tbl>
                  <a:tblPr firstRow="1" bandRow="1">
                    <a:tableStyleId>{5940675A-B579-460E-94D1-54222C63F5DA}</a:tableStyleId>
                  </a:tblPr>
                  <a:tblGrid>
                    <a:gridCol w="396000">
                      <a:extLst>
                        <a:ext uri="{9D8B030D-6E8A-4147-A177-3AD203B41FA5}">
                          <a16:colId xmlns:a16="http://schemas.microsoft.com/office/drawing/2014/main" val="1281707070"/>
                        </a:ext>
                      </a:extLst>
                    </a:gridCol>
                    <a:gridCol w="396000">
                      <a:extLst>
                        <a:ext uri="{9D8B030D-6E8A-4147-A177-3AD203B41FA5}">
                          <a16:colId xmlns:a16="http://schemas.microsoft.com/office/drawing/2014/main" val="3514700436"/>
                        </a:ext>
                      </a:extLst>
                    </a:gridCol>
                    <a:gridCol w="396000">
                      <a:extLst>
                        <a:ext uri="{9D8B030D-6E8A-4147-A177-3AD203B41FA5}">
                          <a16:colId xmlns:a16="http://schemas.microsoft.com/office/drawing/2014/main" val="1860103807"/>
                        </a:ext>
                      </a:extLst>
                    </a:gridCol>
                    <a:gridCol w="396000">
                      <a:extLst>
                        <a:ext uri="{9D8B030D-6E8A-4147-A177-3AD203B41FA5}">
                          <a16:colId xmlns:a16="http://schemas.microsoft.com/office/drawing/2014/main" val="2390354494"/>
                        </a:ext>
                      </a:extLst>
                    </a:gridCol>
                    <a:gridCol w="396000">
                      <a:extLst>
                        <a:ext uri="{9D8B030D-6E8A-4147-A177-3AD203B41FA5}">
                          <a16:colId xmlns:a16="http://schemas.microsoft.com/office/drawing/2014/main" val="682611296"/>
                        </a:ext>
                      </a:extLst>
                    </a:gridCol>
                    <a:gridCol w="396000">
                      <a:extLst>
                        <a:ext uri="{9D8B030D-6E8A-4147-A177-3AD203B41FA5}">
                          <a16:colId xmlns:a16="http://schemas.microsoft.com/office/drawing/2014/main" val="2960854431"/>
                        </a:ext>
                      </a:extLst>
                    </a:gridCol>
                    <a:gridCol w="396000">
                      <a:extLst>
                        <a:ext uri="{9D8B030D-6E8A-4147-A177-3AD203B41FA5}">
                          <a16:colId xmlns:a16="http://schemas.microsoft.com/office/drawing/2014/main" val="1775137844"/>
                        </a:ext>
                      </a:extLst>
                    </a:gridCol>
                  </a:tblGrid>
                  <a:tr h="396240">
                    <a:tc gridSpan="3">
                      <a:txBody>
                        <a:bodyPr/>
                        <a:lstStyle/>
                        <a:p>
                          <a:endParaRPr lang="zh-TW"/>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6"/>
                          <a:stretch>
                            <a:fillRect l="-513" t="-7692" r="-134872" b="-304615"/>
                          </a:stretch>
                        </a:blipFill>
                      </a:tcPr>
                    </a:tc>
                    <a:tc hMerge="1">
                      <a:txBody>
                        <a:bodyPr/>
                        <a:lstStyle/>
                        <a:p>
                          <a:endParaRPr lang="zh-TW" altLang="en-US" dirty="0"/>
                        </a:p>
                      </a:txBody>
                      <a:tcPr/>
                    </a:tc>
                    <a:tc hMerge="1">
                      <a:txBody>
                        <a:bodyPr/>
                        <a:lstStyle/>
                        <a:p>
                          <a:endParaRPr lang="zh-TW" altLang="en-US" dirty="0"/>
                        </a:p>
                      </a:txBody>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3">
                      <a:txBody>
                        <a:bodyPr/>
                        <a:lstStyle/>
                        <a:p>
                          <a:endParaRPr lang="zh-TW"/>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6"/>
                          <a:stretch>
                            <a:fillRect l="-134359" t="-7692" r="-1026" b="-304615"/>
                          </a:stretch>
                        </a:blipFill>
                      </a:tcPr>
                    </a:tc>
                    <a:tc hMerge="1">
                      <a:txBody>
                        <a:bodyPr/>
                        <a:lstStyle/>
                        <a:p>
                          <a:endParaRPr lang="zh-TW" altLang="en-US" dirty="0"/>
                        </a:p>
                      </a:txBody>
                      <a:tcPr/>
                    </a:tc>
                    <a:tc hMerge="1">
                      <a:txBody>
                        <a:bodyPr/>
                        <a:lstStyle/>
                        <a:p>
                          <a:endParaRPr lang="zh-TW" altLang="en-US" dirty="0"/>
                        </a:p>
                      </a:txBody>
                      <a:tcPr/>
                    </a:tc>
                    <a:extLst>
                      <a:ext uri="{0D108BD9-81ED-4DB2-BD59-A6C34878D82A}">
                        <a16:rowId xmlns:a16="http://schemas.microsoft.com/office/drawing/2014/main" val="2109248052"/>
                      </a:ext>
                    </a:extLst>
                  </a:tr>
                  <a:tr h="396240">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000" b="1" dirty="0">
                            <a:solidFill>
                              <a:schemeClr val="accent2"/>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271161773"/>
                      </a:ext>
                    </a:extLst>
                  </a:tr>
                  <a:tr h="396240">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01538" t="-209231" r="-504615" b="-103077"/>
                          </a:stretch>
                        </a:blip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01538" t="-209231" r="-404615" b="-103077"/>
                          </a:stretch>
                        </a:blipFill>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b="1" dirty="0">
                            <a:solidFill>
                              <a:schemeClr val="accent2"/>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503077" t="-209231" r="-103077" b="-103077"/>
                          </a:stretch>
                        </a:blipFill>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690569120"/>
                      </a:ext>
                    </a:extLst>
                  </a:tr>
                  <a:tr h="396240">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000" b="1" dirty="0">
                            <a:solidFill>
                              <a:schemeClr val="accent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2179576002"/>
                      </a:ext>
                    </a:extLst>
                  </a:tr>
                </a:tbl>
              </a:graphicData>
            </a:graphic>
          </p:graphicFrame>
        </mc:Fallback>
      </mc:AlternateContent>
      <p:sp>
        <p:nvSpPr>
          <p:cNvPr id="50" name="矩形 49"/>
          <p:cNvSpPr/>
          <p:nvPr/>
        </p:nvSpPr>
        <p:spPr>
          <a:xfrm>
            <a:off x="6629280" y="889842"/>
            <a:ext cx="2160000" cy="288000"/>
          </a:xfrm>
          <a:prstGeom prst="rect">
            <a:avLst/>
          </a:prstGeom>
          <a:solidFill>
            <a:srgbClr val="ED7D31">
              <a:alpha val="40000"/>
            </a:srgb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51" name="文字方塊 50"/>
              <p:cNvSpPr txBox="1"/>
              <p:nvPr/>
            </p:nvSpPr>
            <p:spPr>
              <a:xfrm>
                <a:off x="2956462" y="4813458"/>
                <a:ext cx="1076257"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sz="2000" i="1" dirty="0">
                          <a:latin typeface="Cambria Math" panose="02040503050406030204" pitchFamily="18" charset="0"/>
                          <a:cs typeface="Times New Roman" panose="02020603050405020304" pitchFamily="18" charset="0"/>
                        </a:rPr>
                        <m:t>𝑃</m:t>
                      </m:r>
                      <m:r>
                        <a:rPr lang="en-US" altLang="zh-TW" sz="2000" i="1" dirty="0">
                          <a:latin typeface="Cambria Math" panose="02040503050406030204" pitchFamily="18" charset="0"/>
                          <a:cs typeface="Times New Roman" panose="02020603050405020304" pitchFamily="18" charset="0"/>
                        </a:rPr>
                        <m:t>(</m:t>
                      </m:r>
                      <m:r>
                        <a:rPr lang="en-US" altLang="zh-TW" sz="2000" i="1" dirty="0">
                          <a:latin typeface="Cambria Math" panose="02040503050406030204" pitchFamily="18" charset="0"/>
                          <a:cs typeface="Times New Roman" panose="02020603050405020304" pitchFamily="18" charset="0"/>
                        </a:rPr>
                        <m:t>𝐿𝑂𝐿</m:t>
                      </m:r>
                      <m:r>
                        <a:rPr lang="en-US" altLang="zh-TW" sz="2000" i="1" dirty="0">
                          <a:latin typeface="Cambria Math" panose="02040503050406030204" pitchFamily="18" charset="0"/>
                          <a:cs typeface="Times New Roman" panose="02020603050405020304" pitchFamily="18" charset="0"/>
                        </a:rPr>
                        <m:t>)</m:t>
                      </m:r>
                    </m:oMath>
                  </m:oMathPara>
                </a14:m>
                <a:endParaRPr lang="zh-TW" altLang="en-US" sz="2000" dirty="0">
                  <a:latin typeface="Times New Roman" panose="02020603050405020304" pitchFamily="18" charset="0"/>
                  <a:cs typeface="Times New Roman" panose="02020603050405020304" pitchFamily="18" charset="0"/>
                </a:endParaRPr>
              </a:p>
            </p:txBody>
          </p:sp>
        </mc:Choice>
        <mc:Fallback xmlns="">
          <p:sp>
            <p:nvSpPr>
              <p:cNvPr id="51" name="文字方塊 50"/>
              <p:cNvSpPr txBox="1">
                <a:spLocks noRot="1" noChangeAspect="1" noMove="1" noResize="1" noEditPoints="1" noAdjustHandles="1" noChangeArrowheads="1" noChangeShapeType="1" noTextEdit="1"/>
              </p:cNvSpPr>
              <p:nvPr/>
            </p:nvSpPr>
            <p:spPr>
              <a:xfrm>
                <a:off x="2956462" y="4813458"/>
                <a:ext cx="1076257" cy="400110"/>
              </a:xfrm>
              <a:prstGeom prst="rect">
                <a:avLst/>
              </a:prstGeom>
              <a:blipFill>
                <a:blip r:embed="rId7"/>
                <a:stretch>
                  <a:fillRect b="-1692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45771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1"/>
                                        </p:tgtEl>
                                        <p:attrNameLst>
                                          <p:attrName>style.visibility</p:attrName>
                                        </p:attrNameLst>
                                      </p:cBhvr>
                                      <p:to>
                                        <p:strVal val="visible"/>
                                      </p:to>
                                    </p:set>
                                  </p:childTnLst>
                                </p:cTn>
                              </p:par>
                              <p:par>
                                <p:cTn id="25" presetID="1" presetClass="exit" presetSubtype="0" fill="hold" grpId="0" nodeType="withEffect">
                                  <p:stCondLst>
                                    <p:cond delay="0"/>
                                  </p:stCondLst>
                                  <p:childTnLst>
                                    <p:set>
                                      <p:cBhvr>
                                        <p:cTn id="26" dur="1" fill="hold">
                                          <p:stCondLst>
                                            <p:cond delay="0"/>
                                          </p:stCondLst>
                                        </p:cTn>
                                        <p:tgtEl>
                                          <p:spTgt spid="33"/>
                                        </p:tgtEl>
                                        <p:attrNameLst>
                                          <p:attrName>style.visibility</p:attrName>
                                        </p:attrNameLst>
                                      </p:cBhvr>
                                      <p:to>
                                        <p:strVal val="hidden"/>
                                      </p:to>
                                    </p:set>
                                  </p:childTnLst>
                                </p:cTn>
                              </p:par>
                              <p:par>
                                <p:cTn id="27" presetID="1" presetClass="exit" presetSubtype="0" fill="hold" grpId="0" nodeType="withEffect">
                                  <p:stCondLst>
                                    <p:cond delay="0"/>
                                  </p:stCondLst>
                                  <p:childTnLst>
                                    <p:set>
                                      <p:cBhvr>
                                        <p:cTn id="28" dur="1" fill="hold">
                                          <p:stCondLst>
                                            <p:cond delay="0"/>
                                          </p:stCondLst>
                                        </p:cTn>
                                        <p:tgtEl>
                                          <p:spTgt spid="36"/>
                                        </p:tgtEl>
                                        <p:attrNameLst>
                                          <p:attrName>style.visibility</p:attrName>
                                        </p:attrNameLst>
                                      </p:cBhvr>
                                      <p:to>
                                        <p:strVal val="hidden"/>
                                      </p:to>
                                    </p:set>
                                  </p:childTnLst>
                                </p:cTn>
                              </p:par>
                              <p:par>
                                <p:cTn id="29" presetID="1" presetClass="exit" presetSubtype="0" fill="hold" grpId="0" nodeType="withEffect">
                                  <p:stCondLst>
                                    <p:cond delay="0"/>
                                  </p:stCondLst>
                                  <p:childTnLst>
                                    <p:set>
                                      <p:cBhvr>
                                        <p:cTn id="30" dur="1" fill="hold">
                                          <p:stCondLst>
                                            <p:cond delay="0"/>
                                          </p:stCondLst>
                                        </p:cTn>
                                        <p:tgtEl>
                                          <p:spTgt spid="27"/>
                                        </p:tgtEl>
                                        <p:attrNameLst>
                                          <p:attrName>style.visibility</p:attrName>
                                        </p:attrNameLst>
                                      </p:cBhvr>
                                      <p:to>
                                        <p:strVal val="hidden"/>
                                      </p:to>
                                    </p:set>
                                  </p:childTnLst>
                                </p:cTn>
                              </p:par>
                              <p:par>
                                <p:cTn id="31" presetID="1" presetClass="entr" presetSubtype="0" fill="hold" grpId="0" nodeType="withEffect">
                                  <p:stCondLst>
                                    <p:cond delay="0"/>
                                  </p:stCondLst>
                                  <p:childTnLst>
                                    <p:set>
                                      <p:cBhvr>
                                        <p:cTn id="32" dur="1" fill="hold">
                                          <p:stCondLst>
                                            <p:cond delay="0"/>
                                          </p:stCondLst>
                                        </p:cTn>
                                        <p:tgtEl>
                                          <p:spTgt spid="50"/>
                                        </p:tgtEl>
                                        <p:attrNameLst>
                                          <p:attrName>style.visibility</p:attrName>
                                        </p:attrNameLst>
                                      </p:cBhvr>
                                      <p:to>
                                        <p:strVal val="visible"/>
                                      </p:to>
                                    </p:set>
                                  </p:childTnLst>
                                </p:cTn>
                              </p:par>
                              <p:par>
                                <p:cTn id="33" presetID="1" presetClass="exit" presetSubtype="0" fill="hold" grpId="1" nodeType="withEffect">
                                  <p:stCondLst>
                                    <p:cond delay="0"/>
                                  </p:stCondLst>
                                  <p:childTnLst>
                                    <p:set>
                                      <p:cBhvr>
                                        <p:cTn id="34" dur="1" fill="hold">
                                          <p:stCondLst>
                                            <p:cond delay="0"/>
                                          </p:stCondLst>
                                        </p:cTn>
                                        <p:tgtEl>
                                          <p:spTgt spid="5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33" grpId="0" animBg="1"/>
      <p:bldP spid="36"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50" grpId="0" animBg="1"/>
      <p:bldP spid="50"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7" name="表格 6"/>
              <p:cNvGraphicFramePr>
                <a:graphicFrameLocks noGrp="1"/>
              </p:cNvGraphicFramePr>
              <p:nvPr/>
            </p:nvGraphicFramePr>
            <p:xfrm>
              <a:off x="1638300" y="2496286"/>
              <a:ext cx="3736280" cy="216000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703582646"/>
                        </a:ext>
                      </a:extLst>
                    </a:gridCol>
                    <a:gridCol w="208280">
                      <a:extLst>
                        <a:ext uri="{9D8B030D-6E8A-4147-A177-3AD203B41FA5}">
                          <a16:colId xmlns:a16="http://schemas.microsoft.com/office/drawing/2014/main" val="451846825"/>
                        </a:ext>
                      </a:extLst>
                    </a:gridCol>
                    <a:gridCol w="396000">
                      <a:extLst>
                        <a:ext uri="{9D8B030D-6E8A-4147-A177-3AD203B41FA5}">
                          <a16:colId xmlns:a16="http://schemas.microsoft.com/office/drawing/2014/main" val="2110606804"/>
                        </a:ext>
                      </a:extLst>
                    </a:gridCol>
                    <a:gridCol w="396000">
                      <a:extLst>
                        <a:ext uri="{9D8B030D-6E8A-4147-A177-3AD203B41FA5}">
                          <a16:colId xmlns:a16="http://schemas.microsoft.com/office/drawing/2014/main" val="2538855921"/>
                        </a:ext>
                      </a:extLst>
                    </a:gridCol>
                    <a:gridCol w="396000">
                      <a:extLst>
                        <a:ext uri="{9D8B030D-6E8A-4147-A177-3AD203B41FA5}">
                          <a16:colId xmlns:a16="http://schemas.microsoft.com/office/drawing/2014/main" val="1566772811"/>
                        </a:ext>
                      </a:extLst>
                    </a:gridCol>
                    <a:gridCol w="396000">
                      <a:extLst>
                        <a:ext uri="{9D8B030D-6E8A-4147-A177-3AD203B41FA5}">
                          <a16:colId xmlns:a16="http://schemas.microsoft.com/office/drawing/2014/main" val="2976447670"/>
                        </a:ext>
                      </a:extLst>
                    </a:gridCol>
                    <a:gridCol w="396000">
                      <a:extLst>
                        <a:ext uri="{9D8B030D-6E8A-4147-A177-3AD203B41FA5}">
                          <a16:colId xmlns:a16="http://schemas.microsoft.com/office/drawing/2014/main" val="813797407"/>
                        </a:ext>
                      </a:extLst>
                    </a:gridCol>
                    <a:gridCol w="396000">
                      <a:extLst>
                        <a:ext uri="{9D8B030D-6E8A-4147-A177-3AD203B41FA5}">
                          <a16:colId xmlns:a16="http://schemas.microsoft.com/office/drawing/2014/main" val="2611524455"/>
                        </a:ext>
                      </a:extLst>
                    </a:gridCol>
                    <a:gridCol w="396000">
                      <a:extLst>
                        <a:ext uri="{9D8B030D-6E8A-4147-A177-3AD203B41FA5}">
                          <a16:colId xmlns:a16="http://schemas.microsoft.com/office/drawing/2014/main" val="3905324345"/>
                        </a:ext>
                      </a:extLst>
                    </a:gridCol>
                    <a:gridCol w="396000">
                      <a:extLst>
                        <a:ext uri="{9D8B030D-6E8A-4147-A177-3AD203B41FA5}">
                          <a16:colId xmlns:a16="http://schemas.microsoft.com/office/drawing/2014/main" val="2498274354"/>
                        </a:ext>
                      </a:extLst>
                    </a:gridCol>
                  </a:tblGrid>
                  <a:tr h="360000">
                    <a:tc>
                      <a:txBody>
                        <a:bodyPr/>
                        <a:lstStyle/>
                        <a:p>
                          <a:pPr algn="ctr"/>
                          <a:endParaRPr lang="zh-TW" altLang="en-US" sz="1600" dirty="0"/>
                        </a:p>
                      </a:txBody>
                      <a:tcPr anchor="ctr">
                        <a:lnL>
                          <a:noFill/>
                        </a:lnL>
                        <a:lnR>
                          <a:noFill/>
                        </a:lnR>
                        <a:lnT>
                          <a:noFill/>
                        </a:lnT>
                        <a:lnB>
                          <a:noFill/>
                        </a:lnB>
                        <a:lnTlToBr w="12700" cmpd="sng">
                          <a:noFill/>
                          <a:prstDash val="solid"/>
                        </a:lnTlToBr>
                        <a:lnBlToTr w="12700" cmpd="sng">
                          <a:noFill/>
                          <a:prstDash val="solid"/>
                        </a:lnBlToTr>
                      </a:tcPr>
                    </a:tc>
                    <a:tc gridSpan="9">
                      <a:txBody>
                        <a:bodyPr/>
                        <a:lstStyle/>
                        <a:p>
                          <a:pPr algn="ctr"/>
                          <a:r>
                            <a:rPr lang="en-US" altLang="zh-TW" sz="1600" dirty="0"/>
                            <a:t>Matrix </a:t>
                          </a:r>
                          <a14:m>
                            <m:oMath xmlns:m="http://schemas.openxmlformats.org/officeDocument/2006/math">
                              <m:r>
                                <a:rPr lang="en-US" altLang="zh-TW" sz="1600" b="0" i="1" dirty="0" smtClean="0">
                                  <a:latin typeface="Cambria Math" panose="02040503050406030204" pitchFamily="18" charset="0"/>
                                </a:rPr>
                                <m:t>𝐴</m:t>
                              </m:r>
                            </m:oMath>
                          </a14:m>
                          <a:endParaRPr lang="zh-TW" altLang="en-US" sz="1600" dirty="0"/>
                        </a:p>
                      </a:txBody>
                      <a:tcPr anchor="ctr">
                        <a:lnL>
                          <a:noFill/>
                        </a:lnL>
                        <a:lnB>
                          <a:noFill/>
                        </a:lnB>
                      </a:tcPr>
                    </a:tc>
                    <a:tc hMerge="1">
                      <a:txBody>
                        <a:bodyPr/>
                        <a:lstStyle/>
                        <a:p>
                          <a:endParaRPr lang="zh-TW" altLang="en-US"/>
                        </a:p>
                      </a:txBody>
                      <a:tcPr/>
                    </a:tc>
                    <a:tc hMerge="1">
                      <a:txBody>
                        <a:bodyPr/>
                        <a:lstStyle/>
                        <a:p>
                          <a:endParaRPr lang="zh-TW" altLang="en-US"/>
                        </a:p>
                      </a:txBody>
                      <a:tcPr/>
                    </a:tc>
                    <a:tc hMerge="1">
                      <a:txBody>
                        <a:bodyPr/>
                        <a:lstStyle/>
                        <a:p>
                          <a:pPr algn="ctr"/>
                          <a:endParaRPr lang="zh-TW" altLang="en-US" sz="2400" dirty="0"/>
                        </a:p>
                      </a:txBody>
                      <a:tcPr anchor="ctr">
                        <a:lnB w="12700" cap="flat" cmpd="sng" algn="ctr">
                          <a:noFill/>
                          <a:prstDash val="solid"/>
                          <a:round/>
                          <a:headEnd type="none" w="med" len="med"/>
                          <a:tailEnd type="none" w="med" len="med"/>
                        </a:lnB>
                      </a:tcPr>
                    </a:tc>
                    <a:tc hMerge="1">
                      <a:txBody>
                        <a:bodyPr/>
                        <a:lstStyle/>
                        <a:p>
                          <a:pPr algn="ctr"/>
                          <a:endParaRPr lang="zh-TW" altLang="en-US" sz="2400"/>
                        </a:p>
                      </a:txBody>
                      <a:tcPr anchor="ctr">
                        <a:lnB w="12700" cap="flat" cmpd="sng" algn="ctr">
                          <a:noFill/>
                          <a:prstDash val="solid"/>
                          <a:round/>
                          <a:headEnd type="none" w="med" len="med"/>
                          <a:tailEnd type="none" w="med" len="med"/>
                        </a:lnB>
                      </a:tcPr>
                    </a:tc>
                    <a:tc hMerge="1">
                      <a:txBody>
                        <a:bodyPr/>
                        <a:lstStyle/>
                        <a:p>
                          <a:pPr algn="ctr"/>
                          <a:endParaRPr lang="zh-TW" altLang="en-US" sz="2400"/>
                        </a:p>
                      </a:txBody>
                      <a:tcPr anchor="ctr">
                        <a:lnB w="12700" cap="flat" cmpd="sng" algn="ctr">
                          <a:noFill/>
                          <a:prstDash val="solid"/>
                          <a:round/>
                          <a:headEnd type="none" w="med" len="med"/>
                          <a:tailEnd type="none" w="med" len="med"/>
                        </a:lnB>
                      </a:tcPr>
                    </a:tc>
                    <a:tc hMerge="1">
                      <a:txBody>
                        <a:bodyPr/>
                        <a:lstStyle/>
                        <a:p>
                          <a:pPr algn="ctr"/>
                          <a:endParaRPr lang="zh-TW" altLang="en-US" sz="2400" dirty="0"/>
                        </a:p>
                      </a:txBody>
                      <a:tcPr anchor="ctr">
                        <a:lnB w="12700" cap="flat" cmpd="sng" algn="ctr">
                          <a:noFill/>
                          <a:prstDash val="solid"/>
                          <a:round/>
                          <a:headEnd type="none" w="med" len="med"/>
                          <a:tailEnd type="none" w="med" len="med"/>
                        </a:lnB>
                      </a:tcPr>
                    </a:tc>
                    <a:tc hMerge="1">
                      <a:txBody>
                        <a:bodyPr/>
                        <a:lstStyle/>
                        <a:p>
                          <a:pPr algn="ctr"/>
                          <a:endParaRPr lang="zh-TW" altLang="en-US" sz="2400"/>
                        </a:p>
                      </a:txBody>
                      <a:tcPr anchor="ctr">
                        <a:lnB w="12700" cap="flat" cmpd="sng" algn="ctr">
                          <a:noFill/>
                          <a:prstDash val="solid"/>
                          <a:round/>
                          <a:headEnd type="none" w="med" len="med"/>
                          <a:tailEnd type="none" w="med" len="med"/>
                        </a:lnB>
                      </a:tcPr>
                    </a:tc>
                    <a:tc hMerge="1">
                      <a:txBody>
                        <a:bodyPr/>
                        <a:lstStyle/>
                        <a:p>
                          <a:pPr algn="ctr"/>
                          <a:endParaRPr lang="zh-TW" altLang="en-US" sz="2400" dirty="0"/>
                        </a:p>
                      </a:txBody>
                      <a:tcPr anchor="ctr">
                        <a:lnB w="12700" cap="flat" cmpd="sng" algn="ctr">
                          <a:noFill/>
                          <a:prstDash val="solid"/>
                          <a:round/>
                          <a:headEnd type="none" w="med" len="med"/>
                          <a:tailEnd type="none" w="med" len="med"/>
                        </a:lnB>
                      </a:tcPr>
                    </a:tc>
                    <a:extLst>
                      <a:ext uri="{0D108BD9-81ED-4DB2-BD59-A6C34878D82A}">
                        <a16:rowId xmlns:a16="http://schemas.microsoft.com/office/drawing/2014/main" val="1445322297"/>
                      </a:ext>
                    </a:extLst>
                  </a:tr>
                  <a:tr h="360000">
                    <a:tc>
                      <a:txBody>
                        <a:bodyPr/>
                        <a:lstStyle/>
                        <a:p>
                          <a:pPr algn="ctr"/>
                          <a:endParaRPr lang="zh-TW" altLang="en-US" sz="1600" dirty="0"/>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a:endParaRPr lang="zh-TW" altLang="en-US" sz="1600" dirty="0"/>
                        </a:p>
                      </a:txBody>
                      <a:tcPr anchor="ctr">
                        <a:lnL>
                          <a:noFill/>
                        </a:lnL>
                        <a:lnT>
                          <a:noFill/>
                        </a:lnT>
                        <a:lnB>
                          <a:noFill/>
                        </a:lnB>
                      </a:tcPr>
                    </a:tc>
                    <a:tc>
                      <a:txBody>
                        <a:bodyPr/>
                        <a:lstStyle/>
                        <a:p>
                          <a:pPr algn="ctr"/>
                          <a:endParaRPr lang="zh-TW" altLang="en-US" sz="1600" dirty="0"/>
                        </a:p>
                      </a:txBody>
                      <a:tcPr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1600" dirty="0"/>
                        </a:p>
                      </a:txBody>
                      <a:tcPr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1600" b="0" i="1" smtClean="0">
                                        <a:latin typeface="Cambria Math" panose="02040503050406030204" pitchFamily="18" charset="0"/>
                                      </a:rPr>
                                    </m:ctrlPr>
                                  </m:sSubPr>
                                  <m:e>
                                    <m:r>
                                      <a:rPr lang="en-US" altLang="zh-TW" sz="1600" b="0" i="1" smtClean="0">
                                        <a:latin typeface="Cambria Math" panose="02040503050406030204" pitchFamily="18" charset="0"/>
                                      </a:rPr>
                                      <m:t>𝑥</m:t>
                                    </m:r>
                                  </m:e>
                                  <m:sub>
                                    <m:r>
                                      <a:rPr lang="en-US" altLang="zh-TW" sz="1600" b="0" i="1" smtClean="0">
                                        <a:latin typeface="Cambria Math" panose="02040503050406030204" pitchFamily="18" charset="0"/>
                                      </a:rPr>
                                      <m:t>1</m:t>
                                    </m:r>
                                  </m:sub>
                                </m:sSub>
                              </m:oMath>
                            </m:oMathPara>
                          </a14:m>
                          <a:endParaRPr lang="zh-TW" altLang="en-US" sz="1600" dirty="0"/>
                        </a:p>
                      </a:txBody>
                      <a:tcPr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1600" b="0" i="1" smtClean="0">
                                        <a:latin typeface="Cambria Math" panose="02040503050406030204" pitchFamily="18" charset="0"/>
                                      </a:rPr>
                                    </m:ctrlPr>
                                  </m:sSubPr>
                                  <m:e>
                                    <m:r>
                                      <a:rPr lang="en-US" altLang="zh-TW" sz="1600" b="0" i="1" smtClean="0">
                                        <a:latin typeface="Cambria Math" panose="02040503050406030204" pitchFamily="18" charset="0"/>
                                      </a:rPr>
                                      <m:t>𝑥</m:t>
                                    </m:r>
                                  </m:e>
                                  <m:sub>
                                    <m:r>
                                      <a:rPr lang="en-US" altLang="zh-TW" sz="1600" b="0" i="1" smtClean="0">
                                        <a:latin typeface="Cambria Math" panose="02040503050406030204" pitchFamily="18" charset="0"/>
                                      </a:rPr>
                                      <m:t>2</m:t>
                                    </m:r>
                                  </m:sub>
                                </m:sSub>
                              </m:oMath>
                            </m:oMathPara>
                          </a14:m>
                          <a:endParaRPr lang="zh-TW" altLang="en-US" sz="1600" dirty="0"/>
                        </a:p>
                      </a:txBody>
                      <a:tcPr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1600" b="0" i="1" smtClean="0">
                                        <a:latin typeface="Cambria Math" panose="02040503050406030204" pitchFamily="18" charset="0"/>
                                      </a:rPr>
                                    </m:ctrlPr>
                                  </m:sSubPr>
                                  <m:e>
                                    <m:r>
                                      <a:rPr lang="en-US" altLang="zh-TW" sz="1600" b="0" i="1" smtClean="0">
                                        <a:latin typeface="Cambria Math" panose="02040503050406030204" pitchFamily="18" charset="0"/>
                                      </a:rPr>
                                      <m:t>𝑦</m:t>
                                    </m:r>
                                  </m:e>
                                  <m:sub>
                                    <m:r>
                                      <a:rPr lang="en-US" altLang="zh-TW" sz="1600" b="0" i="1" smtClean="0">
                                        <a:latin typeface="Cambria Math" panose="02040503050406030204" pitchFamily="18" charset="0"/>
                                      </a:rPr>
                                      <m:t>1</m:t>
                                    </m:r>
                                  </m:sub>
                                </m:sSub>
                              </m:oMath>
                            </m:oMathPara>
                          </a14:m>
                          <a:endParaRPr lang="zh-TW" altLang="en-US" sz="1600" dirty="0"/>
                        </a:p>
                      </a:txBody>
                      <a:tcPr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1600" b="0" i="1" smtClean="0">
                                        <a:latin typeface="Cambria Math" panose="02040503050406030204" pitchFamily="18" charset="0"/>
                                      </a:rPr>
                                    </m:ctrlPr>
                                  </m:sSubPr>
                                  <m:e>
                                    <m:r>
                                      <a:rPr lang="en-US" altLang="zh-TW" sz="1600" b="0" i="1" smtClean="0">
                                        <a:latin typeface="Cambria Math" panose="02040503050406030204" pitchFamily="18" charset="0"/>
                                      </a:rPr>
                                      <m:t>𝑦</m:t>
                                    </m:r>
                                  </m:e>
                                  <m:sub>
                                    <m:r>
                                      <a:rPr lang="en-US" altLang="zh-TW" sz="1600" b="0" i="1" smtClean="0">
                                        <a:latin typeface="Cambria Math" panose="02040503050406030204" pitchFamily="18" charset="0"/>
                                      </a:rPr>
                                      <m:t>2</m:t>
                                    </m:r>
                                  </m:sub>
                                </m:sSub>
                              </m:oMath>
                            </m:oMathPara>
                          </a14:m>
                          <a:endParaRPr lang="zh-TW" altLang="en-US" sz="1600" dirty="0"/>
                        </a:p>
                      </a:txBody>
                      <a:tcPr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1600" b="0" i="1" smtClean="0">
                                        <a:latin typeface="Cambria Math" panose="02040503050406030204" pitchFamily="18" charset="0"/>
                                      </a:rPr>
                                    </m:ctrlPr>
                                  </m:sSubPr>
                                  <m:e>
                                    <m:r>
                                      <a:rPr lang="en-US" altLang="zh-TW" sz="1600" b="0" i="1" smtClean="0">
                                        <a:latin typeface="Cambria Math" panose="02040503050406030204" pitchFamily="18" charset="0"/>
                                      </a:rPr>
                                      <m:t>𝑧</m:t>
                                    </m:r>
                                  </m:e>
                                  <m:sub>
                                    <m:r>
                                      <a:rPr lang="en-US" altLang="zh-TW" sz="1600" b="0" i="1" smtClean="0">
                                        <a:latin typeface="Cambria Math" panose="02040503050406030204" pitchFamily="18" charset="0"/>
                                      </a:rPr>
                                      <m:t>1</m:t>
                                    </m:r>
                                  </m:sub>
                                </m:sSub>
                              </m:oMath>
                            </m:oMathPara>
                          </a14:m>
                          <a:endParaRPr lang="zh-TW" altLang="en-US" sz="1600" dirty="0"/>
                        </a:p>
                      </a:txBody>
                      <a:tcPr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1600" b="0" i="1" smtClean="0">
                                        <a:latin typeface="Cambria Math" panose="02040503050406030204" pitchFamily="18" charset="0"/>
                                      </a:rPr>
                                    </m:ctrlPr>
                                  </m:sSubPr>
                                  <m:e>
                                    <m:r>
                                      <a:rPr lang="en-US" altLang="zh-TW" sz="1600" b="0" i="1" smtClean="0">
                                        <a:latin typeface="Cambria Math" panose="02040503050406030204" pitchFamily="18" charset="0"/>
                                      </a:rPr>
                                      <m:t>𝑧</m:t>
                                    </m:r>
                                  </m:e>
                                  <m:sub>
                                    <m:r>
                                      <a:rPr lang="en-US" altLang="zh-TW" sz="1600" b="0" i="1" smtClean="0">
                                        <a:latin typeface="Cambria Math" panose="02040503050406030204" pitchFamily="18" charset="0"/>
                                      </a:rPr>
                                      <m:t>2</m:t>
                                    </m:r>
                                  </m:sub>
                                </m:sSub>
                              </m:oMath>
                            </m:oMathPara>
                          </a14:m>
                          <a:endParaRPr lang="zh-TW" altLang="en-US" sz="1600" dirty="0"/>
                        </a:p>
                      </a:txBody>
                      <a:tcPr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160950718"/>
                      </a:ext>
                    </a:extLst>
                  </a:tr>
                  <a:tr h="360000">
                    <a:tc>
                      <a:txBody>
                        <a:bodyPr/>
                        <a:lstStyle/>
                        <a:p>
                          <a:pPr algn="ctr"/>
                          <a:endParaRPr lang="zh-TW" altLang="en-US" sz="1600" dirty="0"/>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a:endParaRPr lang="zh-TW" altLang="en-US" sz="1600" dirty="0"/>
                        </a:p>
                      </a:txBody>
                      <a:tcPr anchor="ctr">
                        <a:lnL>
                          <a:noFill/>
                        </a:lnL>
                        <a:lnT>
                          <a:noFill/>
                        </a:lnT>
                      </a:tcPr>
                    </a:tc>
                    <a:tc>
                      <a:txBody>
                        <a:bodyPr/>
                        <a:lstStyle/>
                        <a:p>
                          <a:pPr algn="ctr"/>
                          <a:r>
                            <a:rPr lang="en-US" altLang="zh-TW" sz="1600" dirty="0"/>
                            <a:t>1</a:t>
                          </a:r>
                          <a:endParaRPr lang="zh-TW" altLang="en-US" sz="1600" dirty="0"/>
                        </a:p>
                      </a:txBody>
                      <a:tcPr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600" dirty="0"/>
                        </a:p>
                      </a:txBody>
                      <a:tcPr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t>7</a:t>
                          </a:r>
                          <a:endParaRPr lang="zh-TW" altLang="en-US" sz="1600" dirty="0"/>
                        </a:p>
                      </a:txBody>
                      <a:tcPr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t>8</a:t>
                          </a:r>
                          <a:endParaRPr lang="zh-TW" altLang="en-US" sz="1600" dirty="0"/>
                        </a:p>
                      </a:txBody>
                      <a:tcPr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t>9</a:t>
                          </a:r>
                          <a:endParaRPr lang="zh-TW" altLang="en-US" sz="1600" dirty="0"/>
                        </a:p>
                      </a:txBody>
                      <a:tcPr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t>10</a:t>
                          </a:r>
                          <a:endParaRPr lang="zh-TW" altLang="en-US" sz="1600" dirty="0"/>
                        </a:p>
                      </a:txBody>
                      <a:tcPr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t>11</a:t>
                          </a:r>
                          <a:endParaRPr lang="zh-TW" altLang="en-US" sz="1600" dirty="0"/>
                        </a:p>
                      </a:txBody>
                      <a:tcPr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t>12</a:t>
                          </a:r>
                          <a:endParaRPr lang="zh-TW" altLang="en-US" sz="1600" dirty="0"/>
                        </a:p>
                      </a:txBody>
                      <a:tcPr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7596911"/>
                      </a:ext>
                    </a:extLst>
                  </a:tr>
                  <a:tr h="360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ea typeface="新細明體" panose="02020500000000000000" pitchFamily="18" charset="-120"/>
                                        <a:cs typeface="+mn-cs"/>
                                      </a:rPr>
                                    </m:ctrlPr>
                                  </m:sSubPr>
                                  <m:e>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ea typeface="新細明體" panose="02020500000000000000" pitchFamily="18" charset="-120"/>
                                        <a:cs typeface="+mn-cs"/>
                                      </a:rPr>
                                      <m:t>𝑀</m:t>
                                    </m:r>
                                  </m:e>
                                  <m:sub>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ea typeface="新細明體" panose="02020500000000000000" pitchFamily="18" charset="-120"/>
                                        <a:cs typeface="+mn-cs"/>
                                      </a:rPr>
                                      <m:t>1</m:t>
                                    </m:r>
                                  </m:sub>
                                </m:sSub>
                              </m:oMath>
                            </m:oMathPara>
                          </a14:m>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𝑙</m:t>
                                    </m:r>
                                  </m:e>
                                  <m:sub>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b>
                                  <m:sup>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p>
                                </m:sSubSup>
                              </m:oMath>
                            </m:oMathPara>
                          </a14:m>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77658" marR="77658" marT="38829" marB="38829"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𝑙</m:t>
                                    </m:r>
                                  </m:e>
                                  <m:sub>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sub>
                                  <m:sup>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p>
                                </m:sSubSup>
                              </m:oMath>
                            </m:oMathPara>
                          </a14:m>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77658" marR="77658" marT="38829" marB="38829" anchor="ctr">
                        <a:lnL w="12700" cap="flat" cmpd="sng" algn="ctr">
                          <a:solidFill>
                            <a:schemeClr val="tx1"/>
                          </a:solidFill>
                          <a:prstDash val="sysDashDot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𝑙</m:t>
                                    </m:r>
                                  </m:e>
                                  <m:sub>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𝑦</m:t>
                                    </m:r>
                                  </m:sub>
                                  <m:sup>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p>
                                </m:sSubSup>
                              </m:oMath>
                            </m:oMathPara>
                          </a14:m>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𝑙</m:t>
                                    </m:r>
                                  </m:e>
                                  <m:sub>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𝑧</m:t>
                                    </m:r>
                                  </m:sub>
                                  <m:sup>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p>
                                </m:sSubSup>
                              </m:oMath>
                            </m:oMathPara>
                          </a14:m>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90952343"/>
                      </a:ext>
                    </a:extLst>
                  </a:tr>
                  <a:tr h="360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ea typeface="新細明體" panose="02020500000000000000" pitchFamily="18" charset="-120"/>
                                        <a:cs typeface="+mn-cs"/>
                                      </a:rPr>
                                    </m:ctrlPr>
                                  </m:sSubPr>
                                  <m:e>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ea typeface="新細明體" panose="02020500000000000000" pitchFamily="18" charset="-120"/>
                                        <a:cs typeface="+mn-cs"/>
                                      </a:rPr>
                                      <m:t>𝑀</m:t>
                                    </m:r>
                                  </m:e>
                                  <m:sub>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ea typeface="新細明體" panose="02020500000000000000" pitchFamily="18" charset="-120"/>
                                        <a:cs typeface="+mn-cs"/>
                                      </a:rPr>
                                      <m:t>2</m:t>
                                    </m:r>
                                  </m:sub>
                                </m:sSub>
                              </m:oMath>
                            </m:oMathPara>
                          </a14:m>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a:t>
                          </a:r>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77658" marR="77658" marT="38829" marB="38829"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𝑙</m:t>
                                    </m:r>
                                  </m:e>
                                  <m:sub>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sub>
                                  <m:sup>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sup>
                                </m:sSubSup>
                              </m:oMath>
                            </m:oMathPara>
                          </a14:m>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77658" marR="77658" marT="38829" marB="38829" anchor="ctr">
                        <a:lnL w="12700" cap="flat" cmpd="sng" algn="ctr">
                          <a:solidFill>
                            <a:schemeClr val="tx1"/>
                          </a:solidFill>
                          <a:prstDash val="sysDashDot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𝑙</m:t>
                                    </m:r>
                                  </m:e>
                                  <m:sub>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𝑦</m:t>
                                    </m:r>
                                  </m:sub>
                                  <m:sup>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sup>
                                </m:sSubSup>
                              </m:oMath>
                            </m:oMathPara>
                          </a14:m>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𝑙</m:t>
                                    </m:r>
                                  </m:e>
                                  <m:sub>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𝑧</m:t>
                                    </m:r>
                                  </m:sub>
                                  <m:sup>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sup>
                                </m:sSubSup>
                              </m:oMath>
                            </m:oMathPara>
                          </a14:m>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59104109"/>
                      </a:ext>
                    </a:extLst>
                  </a:tr>
                  <a:tr h="360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ea typeface="新細明體" panose="02020500000000000000" pitchFamily="18" charset="-120"/>
                                        <a:cs typeface="+mn-cs"/>
                                      </a:rPr>
                                    </m:ctrlPr>
                                  </m:sSubPr>
                                  <m:e>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ea typeface="新細明體" panose="02020500000000000000" pitchFamily="18" charset="-120"/>
                                        <a:cs typeface="+mn-cs"/>
                                      </a:rPr>
                                      <m:t>𝑀</m:t>
                                    </m:r>
                                  </m:e>
                                  <m:sub>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ea typeface="新細明體" panose="02020500000000000000" pitchFamily="18" charset="-120"/>
                                        <a:cs typeface="+mn-cs"/>
                                      </a:rPr>
                                      <m:t>3</m:t>
                                    </m:r>
                                  </m:sub>
                                </m:sSub>
                              </m:oMath>
                            </m:oMathPara>
                          </a14:m>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77658" marR="77658" marT="38829" marB="38829"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77658" marR="77658" marT="38829" marB="38829" anchor="ctr">
                        <a:lnL w="12700" cap="flat" cmpd="sng" algn="ctr">
                          <a:solidFill>
                            <a:schemeClr val="tx1"/>
                          </a:solidFill>
                          <a:prstDash val="sysDashDot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𝑙</m:t>
                                    </m:r>
                                  </m:e>
                                  <m:sub>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sub>
                                  <m:sup>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3</m:t>
                                    </m:r>
                                  </m:sup>
                                </m:sSubSup>
                              </m:oMath>
                            </m:oMathPara>
                          </a14:m>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𝑙</m:t>
                                    </m:r>
                                  </m:e>
                                  <m:sub>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𝑦</m:t>
                                    </m:r>
                                  </m:sub>
                                  <m:sup>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3</m:t>
                                    </m:r>
                                  </m:sup>
                                </m:sSubSup>
                              </m:oMath>
                            </m:oMathPara>
                          </a14:m>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𝛼</m:t>
                                </m:r>
                              </m:oMath>
                            </m:oMathPara>
                          </a14:m>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𝑙</m:t>
                                    </m:r>
                                  </m:e>
                                  <m:sub>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𝑧</m:t>
                                    </m:r>
                                  </m:sub>
                                  <m:sup>
                                    <m:r>
                                      <a:rPr kumimoji="0" lang="en-US" altLang="zh-TW"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t>3</m:t>
                                    </m:r>
                                  </m:sup>
                                </m:sSubSup>
                              </m:oMath>
                            </m:oMathPara>
                          </a14:m>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93340570"/>
                      </a:ext>
                    </a:extLst>
                  </a:tr>
                </a:tbl>
              </a:graphicData>
            </a:graphic>
          </p:graphicFrame>
        </mc:Choice>
        <mc:Fallback xmlns="">
          <p:graphicFrame>
            <p:nvGraphicFramePr>
              <p:cNvPr id="7" name="表格 6"/>
              <p:cNvGraphicFramePr>
                <a:graphicFrameLocks noGrp="1"/>
              </p:cNvGraphicFramePr>
              <p:nvPr/>
            </p:nvGraphicFramePr>
            <p:xfrm>
              <a:off x="1638300" y="2496286"/>
              <a:ext cx="3736280" cy="2160000"/>
            </p:xfrm>
            <a:graphic>
              <a:graphicData uri="http://schemas.openxmlformats.org/drawingml/2006/table">
                <a:tbl>
                  <a:tblPr firstRow="1" bandRow="1">
                    <a:tableStyleId>{2D5ABB26-0587-4C30-8999-92F81FD0307C}</a:tableStyleId>
                  </a:tblPr>
                  <a:tblGrid>
                    <a:gridCol w="360000">
                      <a:extLst>
                        <a:ext uri="{9D8B030D-6E8A-4147-A177-3AD203B41FA5}">
                          <a16:colId xmlns:a16="http://schemas.microsoft.com/office/drawing/2014/main" val="703582646"/>
                        </a:ext>
                      </a:extLst>
                    </a:gridCol>
                    <a:gridCol w="208280">
                      <a:extLst>
                        <a:ext uri="{9D8B030D-6E8A-4147-A177-3AD203B41FA5}">
                          <a16:colId xmlns:a16="http://schemas.microsoft.com/office/drawing/2014/main" val="451846825"/>
                        </a:ext>
                      </a:extLst>
                    </a:gridCol>
                    <a:gridCol w="396000">
                      <a:extLst>
                        <a:ext uri="{9D8B030D-6E8A-4147-A177-3AD203B41FA5}">
                          <a16:colId xmlns:a16="http://schemas.microsoft.com/office/drawing/2014/main" val="2110606804"/>
                        </a:ext>
                      </a:extLst>
                    </a:gridCol>
                    <a:gridCol w="396000">
                      <a:extLst>
                        <a:ext uri="{9D8B030D-6E8A-4147-A177-3AD203B41FA5}">
                          <a16:colId xmlns:a16="http://schemas.microsoft.com/office/drawing/2014/main" val="2538855921"/>
                        </a:ext>
                      </a:extLst>
                    </a:gridCol>
                    <a:gridCol w="396000">
                      <a:extLst>
                        <a:ext uri="{9D8B030D-6E8A-4147-A177-3AD203B41FA5}">
                          <a16:colId xmlns:a16="http://schemas.microsoft.com/office/drawing/2014/main" val="1566772811"/>
                        </a:ext>
                      </a:extLst>
                    </a:gridCol>
                    <a:gridCol w="396000">
                      <a:extLst>
                        <a:ext uri="{9D8B030D-6E8A-4147-A177-3AD203B41FA5}">
                          <a16:colId xmlns:a16="http://schemas.microsoft.com/office/drawing/2014/main" val="2976447670"/>
                        </a:ext>
                      </a:extLst>
                    </a:gridCol>
                    <a:gridCol w="396000">
                      <a:extLst>
                        <a:ext uri="{9D8B030D-6E8A-4147-A177-3AD203B41FA5}">
                          <a16:colId xmlns:a16="http://schemas.microsoft.com/office/drawing/2014/main" val="813797407"/>
                        </a:ext>
                      </a:extLst>
                    </a:gridCol>
                    <a:gridCol w="396000">
                      <a:extLst>
                        <a:ext uri="{9D8B030D-6E8A-4147-A177-3AD203B41FA5}">
                          <a16:colId xmlns:a16="http://schemas.microsoft.com/office/drawing/2014/main" val="2611524455"/>
                        </a:ext>
                      </a:extLst>
                    </a:gridCol>
                    <a:gridCol w="396000">
                      <a:extLst>
                        <a:ext uri="{9D8B030D-6E8A-4147-A177-3AD203B41FA5}">
                          <a16:colId xmlns:a16="http://schemas.microsoft.com/office/drawing/2014/main" val="3905324345"/>
                        </a:ext>
                      </a:extLst>
                    </a:gridCol>
                    <a:gridCol w="396000">
                      <a:extLst>
                        <a:ext uri="{9D8B030D-6E8A-4147-A177-3AD203B41FA5}">
                          <a16:colId xmlns:a16="http://schemas.microsoft.com/office/drawing/2014/main" val="2498274354"/>
                        </a:ext>
                      </a:extLst>
                    </a:gridCol>
                  </a:tblGrid>
                  <a:tr h="360000">
                    <a:tc>
                      <a:txBody>
                        <a:bodyPr/>
                        <a:lstStyle/>
                        <a:p>
                          <a:pPr algn="ctr"/>
                          <a:endParaRPr lang="zh-TW" altLang="en-US" sz="1600" dirty="0"/>
                        </a:p>
                      </a:txBody>
                      <a:tcPr anchor="ctr">
                        <a:lnL>
                          <a:noFill/>
                        </a:lnL>
                        <a:lnR>
                          <a:noFill/>
                        </a:lnR>
                        <a:lnT>
                          <a:noFill/>
                        </a:lnT>
                        <a:lnB>
                          <a:noFill/>
                        </a:lnB>
                        <a:lnTlToBr w="12700" cmpd="sng">
                          <a:noFill/>
                          <a:prstDash val="solid"/>
                        </a:lnTlToBr>
                        <a:lnBlToTr w="12700" cmpd="sng">
                          <a:noFill/>
                          <a:prstDash val="solid"/>
                        </a:lnBlToTr>
                      </a:tcPr>
                    </a:tc>
                    <a:tc gridSpan="9">
                      <a:txBody>
                        <a:bodyPr/>
                        <a:lstStyle/>
                        <a:p>
                          <a:endParaRPr lang="zh-TW"/>
                        </a:p>
                      </a:txBody>
                      <a:tcPr anchor="ctr">
                        <a:lnL>
                          <a:noFill/>
                        </a:lnL>
                        <a:lnB>
                          <a:noFill/>
                        </a:lnB>
                        <a:blipFill>
                          <a:blip r:embed="rId2"/>
                          <a:stretch>
                            <a:fillRect l="-10631" r="-360" b="-520339"/>
                          </a:stretch>
                        </a:blipFill>
                      </a:tcPr>
                    </a:tc>
                    <a:tc hMerge="1">
                      <a:txBody>
                        <a:bodyPr/>
                        <a:lstStyle/>
                        <a:p>
                          <a:endParaRPr lang="zh-TW" altLang="en-US"/>
                        </a:p>
                      </a:txBody>
                      <a:tcPr/>
                    </a:tc>
                    <a:tc hMerge="1">
                      <a:txBody>
                        <a:bodyPr/>
                        <a:lstStyle/>
                        <a:p>
                          <a:endParaRPr lang="zh-TW" altLang="en-US"/>
                        </a:p>
                      </a:txBody>
                      <a:tcPr/>
                    </a:tc>
                    <a:tc hMerge="1">
                      <a:txBody>
                        <a:bodyPr/>
                        <a:lstStyle/>
                        <a:p>
                          <a:pPr algn="ctr"/>
                          <a:endParaRPr lang="zh-TW" altLang="en-US" sz="2400" dirty="0"/>
                        </a:p>
                      </a:txBody>
                      <a:tcPr anchor="ctr">
                        <a:lnB w="12700" cap="flat" cmpd="sng" algn="ctr">
                          <a:noFill/>
                          <a:prstDash val="solid"/>
                          <a:round/>
                          <a:headEnd type="none" w="med" len="med"/>
                          <a:tailEnd type="none" w="med" len="med"/>
                        </a:lnB>
                      </a:tcPr>
                    </a:tc>
                    <a:tc hMerge="1">
                      <a:txBody>
                        <a:bodyPr/>
                        <a:lstStyle/>
                        <a:p>
                          <a:pPr algn="ctr"/>
                          <a:endParaRPr lang="zh-TW" altLang="en-US" sz="2400"/>
                        </a:p>
                      </a:txBody>
                      <a:tcPr anchor="ctr">
                        <a:lnB w="12700" cap="flat" cmpd="sng" algn="ctr">
                          <a:noFill/>
                          <a:prstDash val="solid"/>
                          <a:round/>
                          <a:headEnd type="none" w="med" len="med"/>
                          <a:tailEnd type="none" w="med" len="med"/>
                        </a:lnB>
                      </a:tcPr>
                    </a:tc>
                    <a:tc hMerge="1">
                      <a:txBody>
                        <a:bodyPr/>
                        <a:lstStyle/>
                        <a:p>
                          <a:pPr algn="ctr"/>
                          <a:endParaRPr lang="zh-TW" altLang="en-US" sz="2400"/>
                        </a:p>
                      </a:txBody>
                      <a:tcPr anchor="ctr">
                        <a:lnB w="12700" cap="flat" cmpd="sng" algn="ctr">
                          <a:noFill/>
                          <a:prstDash val="solid"/>
                          <a:round/>
                          <a:headEnd type="none" w="med" len="med"/>
                          <a:tailEnd type="none" w="med" len="med"/>
                        </a:lnB>
                      </a:tcPr>
                    </a:tc>
                    <a:tc hMerge="1">
                      <a:txBody>
                        <a:bodyPr/>
                        <a:lstStyle/>
                        <a:p>
                          <a:pPr algn="ctr"/>
                          <a:endParaRPr lang="zh-TW" altLang="en-US" sz="2400" dirty="0"/>
                        </a:p>
                      </a:txBody>
                      <a:tcPr anchor="ctr">
                        <a:lnB w="12700" cap="flat" cmpd="sng" algn="ctr">
                          <a:noFill/>
                          <a:prstDash val="solid"/>
                          <a:round/>
                          <a:headEnd type="none" w="med" len="med"/>
                          <a:tailEnd type="none" w="med" len="med"/>
                        </a:lnB>
                      </a:tcPr>
                    </a:tc>
                    <a:tc hMerge="1">
                      <a:txBody>
                        <a:bodyPr/>
                        <a:lstStyle/>
                        <a:p>
                          <a:pPr algn="ctr"/>
                          <a:endParaRPr lang="zh-TW" altLang="en-US" sz="2400"/>
                        </a:p>
                      </a:txBody>
                      <a:tcPr anchor="ctr">
                        <a:lnB w="12700" cap="flat" cmpd="sng" algn="ctr">
                          <a:noFill/>
                          <a:prstDash val="solid"/>
                          <a:round/>
                          <a:headEnd type="none" w="med" len="med"/>
                          <a:tailEnd type="none" w="med" len="med"/>
                        </a:lnB>
                      </a:tcPr>
                    </a:tc>
                    <a:tc hMerge="1">
                      <a:txBody>
                        <a:bodyPr/>
                        <a:lstStyle/>
                        <a:p>
                          <a:pPr algn="ctr"/>
                          <a:endParaRPr lang="zh-TW" altLang="en-US" sz="2400" dirty="0"/>
                        </a:p>
                      </a:txBody>
                      <a:tcPr anchor="ctr">
                        <a:lnB w="12700" cap="flat" cmpd="sng" algn="ctr">
                          <a:noFill/>
                          <a:prstDash val="solid"/>
                          <a:round/>
                          <a:headEnd type="none" w="med" len="med"/>
                          <a:tailEnd type="none" w="med" len="med"/>
                        </a:lnB>
                      </a:tcPr>
                    </a:tc>
                    <a:extLst>
                      <a:ext uri="{0D108BD9-81ED-4DB2-BD59-A6C34878D82A}">
                        <a16:rowId xmlns:a16="http://schemas.microsoft.com/office/drawing/2014/main" val="1445322297"/>
                      </a:ext>
                    </a:extLst>
                  </a:tr>
                  <a:tr h="360000">
                    <a:tc>
                      <a:txBody>
                        <a:bodyPr/>
                        <a:lstStyle/>
                        <a:p>
                          <a:pPr algn="ctr"/>
                          <a:endParaRPr lang="zh-TW" altLang="en-US" sz="1600" dirty="0"/>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a:endParaRPr lang="zh-TW" altLang="en-US" sz="1600" dirty="0"/>
                        </a:p>
                      </a:txBody>
                      <a:tcPr anchor="ctr">
                        <a:lnL>
                          <a:noFill/>
                        </a:lnL>
                        <a:lnT>
                          <a:noFill/>
                        </a:lnT>
                        <a:lnB>
                          <a:noFill/>
                        </a:lnB>
                      </a:tcPr>
                    </a:tc>
                    <a:tc>
                      <a:txBody>
                        <a:bodyPr/>
                        <a:lstStyle/>
                        <a:p>
                          <a:pPr algn="ctr"/>
                          <a:endParaRPr lang="zh-TW" altLang="en-US" sz="1600" dirty="0"/>
                        </a:p>
                      </a:txBody>
                      <a:tcPr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zh-TW" altLang="en-US" sz="1600" dirty="0"/>
                        </a:p>
                      </a:txBody>
                      <a:tcPr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endParaRPr lang="zh-TW"/>
                        </a:p>
                      </a:txBody>
                      <a:tcPr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blipFill>
                          <a:blip r:embed="rId2"/>
                          <a:stretch>
                            <a:fillRect l="-344615" t="-100000" r="-503077" b="-420339"/>
                          </a:stretch>
                        </a:blipFill>
                      </a:tcPr>
                    </a:tc>
                    <a:tc>
                      <a:txBody>
                        <a:bodyPr/>
                        <a:lstStyle/>
                        <a:p>
                          <a:endParaRPr lang="zh-TW"/>
                        </a:p>
                      </a:txBody>
                      <a:tcPr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blipFill>
                          <a:blip r:embed="rId2"/>
                          <a:stretch>
                            <a:fillRect l="-444615" t="-100000" r="-403077" b="-420339"/>
                          </a:stretch>
                        </a:blipFill>
                      </a:tcPr>
                    </a:tc>
                    <a:tc>
                      <a:txBody>
                        <a:bodyPr/>
                        <a:lstStyle/>
                        <a:p>
                          <a:endParaRPr lang="zh-TW"/>
                        </a:p>
                      </a:txBody>
                      <a:tcPr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blipFill>
                          <a:blip r:embed="rId2"/>
                          <a:stretch>
                            <a:fillRect l="-544615" t="-100000" r="-303077" b="-420339"/>
                          </a:stretch>
                        </a:blipFill>
                      </a:tcPr>
                    </a:tc>
                    <a:tc>
                      <a:txBody>
                        <a:bodyPr/>
                        <a:lstStyle/>
                        <a:p>
                          <a:endParaRPr lang="zh-TW"/>
                        </a:p>
                      </a:txBody>
                      <a:tcPr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blipFill>
                          <a:blip r:embed="rId2"/>
                          <a:stretch>
                            <a:fillRect l="-644615" t="-100000" r="-203077" b="-420339"/>
                          </a:stretch>
                        </a:blipFill>
                      </a:tcPr>
                    </a:tc>
                    <a:tc>
                      <a:txBody>
                        <a:bodyPr/>
                        <a:lstStyle/>
                        <a:p>
                          <a:endParaRPr lang="zh-TW"/>
                        </a:p>
                      </a:txBody>
                      <a:tcPr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blipFill>
                          <a:blip r:embed="rId2"/>
                          <a:stretch>
                            <a:fillRect l="-744615" t="-100000" r="-103077" b="-420339"/>
                          </a:stretch>
                        </a:blipFill>
                      </a:tcPr>
                    </a:tc>
                    <a:tc>
                      <a:txBody>
                        <a:bodyPr/>
                        <a:lstStyle/>
                        <a:p>
                          <a:endParaRPr lang="zh-TW"/>
                        </a:p>
                      </a:txBody>
                      <a:tcPr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blipFill>
                          <a:blip r:embed="rId2"/>
                          <a:stretch>
                            <a:fillRect l="-844615" t="-100000" r="-3077" b="-420339"/>
                          </a:stretch>
                        </a:blipFill>
                      </a:tcPr>
                    </a:tc>
                    <a:extLst>
                      <a:ext uri="{0D108BD9-81ED-4DB2-BD59-A6C34878D82A}">
                        <a16:rowId xmlns:a16="http://schemas.microsoft.com/office/drawing/2014/main" val="2160950718"/>
                      </a:ext>
                    </a:extLst>
                  </a:tr>
                  <a:tr h="360000">
                    <a:tc>
                      <a:txBody>
                        <a:bodyPr/>
                        <a:lstStyle/>
                        <a:p>
                          <a:pPr algn="ctr"/>
                          <a:endParaRPr lang="zh-TW" altLang="en-US" sz="1600" dirty="0"/>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a:endParaRPr lang="zh-TW" altLang="en-US" sz="1600" dirty="0"/>
                        </a:p>
                      </a:txBody>
                      <a:tcPr anchor="ctr">
                        <a:lnL>
                          <a:noFill/>
                        </a:lnL>
                        <a:lnT>
                          <a:noFill/>
                        </a:lnT>
                      </a:tcPr>
                    </a:tc>
                    <a:tc>
                      <a:txBody>
                        <a:bodyPr/>
                        <a:lstStyle/>
                        <a:p>
                          <a:pPr algn="ctr"/>
                          <a:r>
                            <a:rPr lang="en-US" altLang="zh-TW" sz="1600" dirty="0"/>
                            <a:t>1</a:t>
                          </a:r>
                          <a:endParaRPr lang="zh-TW" altLang="en-US" sz="1600" dirty="0"/>
                        </a:p>
                      </a:txBody>
                      <a:tcPr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600" dirty="0"/>
                        </a:p>
                      </a:txBody>
                      <a:tcPr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t>7</a:t>
                          </a:r>
                          <a:endParaRPr lang="zh-TW" altLang="en-US" sz="1600" dirty="0"/>
                        </a:p>
                      </a:txBody>
                      <a:tcPr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t>8</a:t>
                          </a:r>
                          <a:endParaRPr lang="zh-TW" altLang="en-US" sz="1600" dirty="0"/>
                        </a:p>
                      </a:txBody>
                      <a:tcPr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t>9</a:t>
                          </a:r>
                          <a:endParaRPr lang="zh-TW" altLang="en-US" sz="1600" dirty="0"/>
                        </a:p>
                      </a:txBody>
                      <a:tcPr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t>10</a:t>
                          </a:r>
                          <a:endParaRPr lang="zh-TW" altLang="en-US" sz="1600" dirty="0"/>
                        </a:p>
                      </a:txBody>
                      <a:tcPr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t>11</a:t>
                          </a:r>
                          <a:endParaRPr lang="zh-TW" altLang="en-US" sz="1600" dirty="0"/>
                        </a:p>
                      </a:txBody>
                      <a:tcPr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600" dirty="0"/>
                            <a:t>12</a:t>
                          </a:r>
                          <a:endParaRPr lang="zh-TW" altLang="en-US" sz="1600" dirty="0"/>
                        </a:p>
                      </a:txBody>
                      <a:tcPr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7596911"/>
                      </a:ext>
                    </a:extLst>
                  </a:tr>
                  <a:tr h="360000">
                    <a:tc>
                      <a:txBody>
                        <a:bodyPr/>
                        <a:lstStyle/>
                        <a:p>
                          <a:endParaRPr lang="zh-TW"/>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blipFill>
                          <a:blip r:embed="rId2"/>
                          <a:stretch>
                            <a:fillRect t="-301695" r="-944068" b="-218644"/>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1</a:t>
                          </a:r>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zh-TW"/>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43077" t="-301695" r="-704615" b="-218644"/>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77658" marR="77658" marT="38829" marB="38829"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p>
                      </a:txBody>
                      <a:tcPr marL="77658" marR="77658" marT="38829" marB="38829" anchor="ctr">
                        <a:lnL w="12700" cap="flat" cmpd="sng" algn="ctr">
                          <a:solidFill>
                            <a:schemeClr val="tx1"/>
                          </a:solidFill>
                          <a:prstDash val="sysDashDot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44615" t="-301695" r="-503077" b="-218644"/>
                          </a:stretch>
                        </a:blipFill>
                      </a:tcPr>
                    </a:tc>
                    <a:tc>
                      <a:txBody>
                        <a:bodyPr/>
                        <a:lstStyle/>
                        <a:p>
                          <a:endParaRPr lang="zh-TW"/>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44615" t="-301695" r="-403077" b="-218644"/>
                          </a:stretch>
                        </a:blipFill>
                      </a:tcPr>
                    </a:tc>
                    <a:tc>
                      <a:txBody>
                        <a:bodyPr/>
                        <a:lstStyle/>
                        <a:p>
                          <a:endParaRPr lang="zh-TW"/>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544615" t="-301695" r="-303077" b="-218644"/>
                          </a:stretch>
                        </a:blipFill>
                      </a:tcPr>
                    </a:tc>
                    <a:tc>
                      <a:txBody>
                        <a:bodyPr/>
                        <a:lstStyle/>
                        <a:p>
                          <a:endParaRPr lang="zh-TW"/>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644615" t="-301695" r="-203077" b="-218644"/>
                          </a:stretch>
                        </a:blipFill>
                      </a:tcPr>
                    </a:tc>
                    <a:tc>
                      <a:txBody>
                        <a:bodyPr/>
                        <a:lstStyle/>
                        <a:p>
                          <a:endParaRPr lang="zh-TW"/>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744615" t="-301695" r="-103077" b="-218644"/>
                          </a:stretch>
                        </a:blipFill>
                      </a:tcPr>
                    </a:tc>
                    <a:tc>
                      <a:txBody>
                        <a:bodyPr/>
                        <a:lstStyle/>
                        <a:p>
                          <a:endParaRPr lang="zh-TW"/>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44615" t="-301695" r="-3077" b="-218644"/>
                          </a:stretch>
                        </a:blipFill>
                      </a:tcPr>
                    </a:tc>
                    <a:extLst>
                      <a:ext uri="{0D108BD9-81ED-4DB2-BD59-A6C34878D82A}">
                        <a16:rowId xmlns:a16="http://schemas.microsoft.com/office/drawing/2014/main" val="1290952343"/>
                      </a:ext>
                    </a:extLst>
                  </a:tr>
                  <a:tr h="360000">
                    <a:tc>
                      <a:txBody>
                        <a:bodyPr/>
                        <a:lstStyle/>
                        <a:p>
                          <a:endParaRPr lang="zh-TW"/>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blipFill>
                          <a:blip r:embed="rId2"/>
                          <a:stretch>
                            <a:fillRect t="-401695" r="-944068" b="-118644"/>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2</a:t>
                          </a:r>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zh-TW"/>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43077" t="-401695" r="-704615" b="-118644"/>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77658" marR="77658" marT="38829" marB="38829"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p>
                      </a:txBody>
                      <a:tcPr marL="77658" marR="77658" marT="38829" marB="38829" anchor="ctr">
                        <a:lnL w="12700" cap="flat" cmpd="sng" algn="ctr">
                          <a:solidFill>
                            <a:schemeClr val="tx1"/>
                          </a:solidFill>
                          <a:prstDash val="sysDashDot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44615" t="-401695" r="-503077" b="-118644"/>
                          </a:stretch>
                        </a:blipFill>
                      </a:tcPr>
                    </a:tc>
                    <a:tc>
                      <a:txBody>
                        <a:bodyPr/>
                        <a:lstStyle/>
                        <a:p>
                          <a:endParaRPr lang="zh-TW"/>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44615" t="-401695" r="-403077" b="-118644"/>
                          </a:stretch>
                        </a:blipFill>
                      </a:tcPr>
                    </a:tc>
                    <a:tc>
                      <a:txBody>
                        <a:bodyPr/>
                        <a:lstStyle/>
                        <a:p>
                          <a:endParaRPr lang="zh-TW"/>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544615" t="-401695" r="-303077" b="-118644"/>
                          </a:stretch>
                        </a:blipFill>
                      </a:tcPr>
                    </a:tc>
                    <a:tc>
                      <a:txBody>
                        <a:bodyPr/>
                        <a:lstStyle/>
                        <a:p>
                          <a:endParaRPr lang="zh-TW"/>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644615" t="-401695" r="-203077" b="-118644"/>
                          </a:stretch>
                        </a:blipFill>
                      </a:tcPr>
                    </a:tc>
                    <a:tc>
                      <a:txBody>
                        <a:bodyPr/>
                        <a:lstStyle/>
                        <a:p>
                          <a:endParaRPr lang="zh-TW"/>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744615" t="-401695" r="-103077" b="-118644"/>
                          </a:stretch>
                        </a:blipFill>
                      </a:tcPr>
                    </a:tc>
                    <a:tc>
                      <a:txBody>
                        <a:bodyPr/>
                        <a:lstStyle/>
                        <a:p>
                          <a:endParaRPr lang="zh-TW"/>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44615" t="-401695" r="-3077" b="-118644"/>
                          </a:stretch>
                        </a:blipFill>
                      </a:tcPr>
                    </a:tc>
                    <a:extLst>
                      <a:ext uri="{0D108BD9-81ED-4DB2-BD59-A6C34878D82A}">
                        <a16:rowId xmlns:a16="http://schemas.microsoft.com/office/drawing/2014/main" val="4159104109"/>
                      </a:ext>
                    </a:extLst>
                  </a:tr>
                  <a:tr h="360000">
                    <a:tc>
                      <a:txBody>
                        <a:bodyPr/>
                        <a:lstStyle/>
                        <a:p>
                          <a:endParaRPr lang="zh-TW"/>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blipFill>
                          <a:blip r:embed="rId2"/>
                          <a:stretch>
                            <a:fillRect t="-501695" r="-944068" b="-18644"/>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3</a:t>
                          </a:r>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zh-TW"/>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43077" t="-501695" r="-704615" b="-18644"/>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77658" marR="77658" marT="38829" marB="38829"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p>
                      </a:txBody>
                      <a:tcPr marL="77658" marR="77658" marT="38829" marB="38829" anchor="ctr">
                        <a:lnL w="12700" cap="flat" cmpd="sng" algn="ctr">
                          <a:solidFill>
                            <a:schemeClr val="tx1"/>
                          </a:solidFill>
                          <a:prstDash val="sysDashDot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44615" t="-501695" r="-503077" b="-18644"/>
                          </a:stretch>
                        </a:blipFill>
                      </a:tcPr>
                    </a:tc>
                    <a:tc>
                      <a:txBody>
                        <a:bodyPr/>
                        <a:lstStyle/>
                        <a:p>
                          <a:endParaRPr lang="zh-TW"/>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44615" t="-501695" r="-403077" b="-18644"/>
                          </a:stretch>
                        </a:blipFill>
                      </a:tcPr>
                    </a:tc>
                    <a:tc>
                      <a:txBody>
                        <a:bodyPr/>
                        <a:lstStyle/>
                        <a:p>
                          <a:endParaRPr lang="zh-TW"/>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544615" t="-501695" r="-303077" b="-18644"/>
                          </a:stretch>
                        </a:blipFill>
                      </a:tcPr>
                    </a:tc>
                    <a:tc>
                      <a:txBody>
                        <a:bodyPr/>
                        <a:lstStyle/>
                        <a:p>
                          <a:endParaRPr lang="zh-TW"/>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644615" t="-501695" r="-203077" b="-18644"/>
                          </a:stretch>
                        </a:blipFill>
                      </a:tcPr>
                    </a:tc>
                    <a:tc>
                      <a:txBody>
                        <a:bodyPr/>
                        <a:lstStyle/>
                        <a:p>
                          <a:endParaRPr lang="zh-TW"/>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744615" t="-501695" r="-103077" b="-18644"/>
                          </a:stretch>
                        </a:blipFill>
                      </a:tcPr>
                    </a:tc>
                    <a:tc>
                      <a:txBody>
                        <a:bodyPr/>
                        <a:lstStyle/>
                        <a:p>
                          <a:endParaRPr lang="zh-TW"/>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44615" t="-501695" r="-3077" b="-18644"/>
                          </a:stretch>
                        </a:blipFill>
                      </a:tcPr>
                    </a:tc>
                    <a:extLst>
                      <a:ext uri="{0D108BD9-81ED-4DB2-BD59-A6C34878D82A}">
                        <a16:rowId xmlns:a16="http://schemas.microsoft.com/office/drawing/2014/main" val="3093340570"/>
                      </a:ext>
                    </a:extLst>
                  </a:tr>
                </a:tbl>
              </a:graphicData>
            </a:graphic>
          </p:graphicFrame>
        </mc:Fallback>
      </mc:AlternateContent>
      <mc:AlternateContent xmlns:mc="http://schemas.openxmlformats.org/markup-compatibility/2006" xmlns:a14="http://schemas.microsoft.com/office/drawing/2010/main">
        <mc:Choice Requires="a14">
          <p:sp>
            <p:nvSpPr>
              <p:cNvPr id="8" name="文字方塊 7"/>
              <p:cNvSpPr txBox="1"/>
              <p:nvPr/>
            </p:nvSpPr>
            <p:spPr>
              <a:xfrm>
                <a:off x="1884001" y="909477"/>
                <a:ext cx="2972417" cy="137563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i="1">
                          <a:latin typeface="Cambria Math" panose="02040503050406030204" pitchFamily="18" charset="0"/>
                        </a:rPr>
                        <m:t>𝑀</m:t>
                      </m:r>
                      <m:r>
                        <a:rPr lang="en-US" altLang="zh-TW" sz="2800" i="1">
                          <a:latin typeface="Cambria Math" panose="02040503050406030204" pitchFamily="18" charset="0"/>
                        </a:rPr>
                        <m:t>=</m:t>
                      </m:r>
                      <m:d>
                        <m:dPr>
                          <m:begChr m:val="{"/>
                          <m:endChr m:val="}"/>
                          <m:ctrlPr>
                            <a:rPr lang="en-US" altLang="zh-TW" sz="2800" i="1">
                              <a:latin typeface="Cambria Math" panose="02040503050406030204" pitchFamily="18" charset="0"/>
                            </a:rPr>
                          </m:ctrlPr>
                        </m:dPr>
                        <m:e>
                          <m:eqArr>
                            <m:eqArrPr>
                              <m:ctrlPr>
                                <a:rPr lang="en-US" altLang="zh-TW" sz="2800" i="1">
                                  <a:latin typeface="Cambria Math" panose="02040503050406030204" pitchFamily="18" charset="0"/>
                                </a:rPr>
                              </m:ctrlPr>
                            </m:eqArrPr>
                            <m:e>
                              <m:d>
                                <m:dPr>
                                  <m:ctrlPr>
                                    <a:rPr lang="en-US" altLang="zh-TW" sz="2800" i="1">
                                      <a:latin typeface="Cambria Math" panose="02040503050406030204" pitchFamily="18" charset="0"/>
                                    </a:rPr>
                                  </m:ctrlPr>
                                </m:dPr>
                                <m:e>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𝑥</m:t>
                                      </m:r>
                                    </m:e>
                                    <m:sub>
                                      <m:r>
                                        <a:rPr lang="en-US" altLang="zh-TW" sz="2800" i="1">
                                          <a:latin typeface="Cambria Math" panose="02040503050406030204" pitchFamily="18" charset="0"/>
                                        </a:rPr>
                                        <m:t>1</m:t>
                                      </m:r>
                                    </m:sub>
                                  </m:sSub>
                                  <m:r>
                                    <a:rPr lang="en-US" altLang="zh-TW" sz="2800" i="1">
                                      <a:latin typeface="Cambria Math" panose="02040503050406030204" pitchFamily="18" charset="0"/>
                                    </a:rPr>
                                    <m:t>,</m:t>
                                  </m:r>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𝑦</m:t>
                                      </m:r>
                                    </m:e>
                                    <m:sub>
                                      <m:r>
                                        <a:rPr lang="en-US" altLang="zh-TW" sz="2800" i="1">
                                          <a:latin typeface="Cambria Math" panose="02040503050406030204" pitchFamily="18" charset="0"/>
                                        </a:rPr>
                                        <m:t>1</m:t>
                                      </m:r>
                                    </m:sub>
                                  </m:sSub>
                                  <m:r>
                                    <a:rPr lang="en-US" altLang="zh-TW" sz="2800" i="1">
                                      <a:latin typeface="Cambria Math" panose="02040503050406030204" pitchFamily="18" charset="0"/>
                                    </a:rPr>
                                    <m:t>,</m:t>
                                  </m:r>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𝑧</m:t>
                                      </m:r>
                                    </m:e>
                                    <m:sub>
                                      <m:r>
                                        <a:rPr lang="en-US" altLang="zh-TW" sz="2800" i="1">
                                          <a:latin typeface="Cambria Math" panose="02040503050406030204" pitchFamily="18" charset="0"/>
                                        </a:rPr>
                                        <m:t>1</m:t>
                                      </m:r>
                                    </m:sub>
                                  </m:sSub>
                                </m:e>
                              </m:d>
                              <m:r>
                                <a:rPr lang="en-US" altLang="zh-TW" sz="2800" i="1">
                                  <a:latin typeface="Cambria Math" panose="02040503050406030204" pitchFamily="18" charset="0"/>
                                </a:rPr>
                                <m:t>,</m:t>
                              </m:r>
                            </m:e>
                            <m:e>
                              <m:d>
                                <m:dPr>
                                  <m:ctrlPr>
                                    <a:rPr lang="en-US" altLang="zh-TW" sz="2800" i="1">
                                      <a:latin typeface="Cambria Math" panose="02040503050406030204" pitchFamily="18" charset="0"/>
                                    </a:rPr>
                                  </m:ctrlPr>
                                </m:dPr>
                                <m:e>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𝑥</m:t>
                                      </m:r>
                                    </m:e>
                                    <m:sub>
                                      <m:r>
                                        <a:rPr lang="en-US" altLang="zh-TW" sz="2800" i="1">
                                          <a:latin typeface="Cambria Math" panose="02040503050406030204" pitchFamily="18" charset="0"/>
                                        </a:rPr>
                                        <m:t>1</m:t>
                                      </m:r>
                                    </m:sub>
                                  </m:sSub>
                                  <m:r>
                                    <a:rPr lang="en-US" altLang="zh-TW" sz="2800" i="1">
                                      <a:latin typeface="Cambria Math" panose="02040503050406030204" pitchFamily="18" charset="0"/>
                                    </a:rPr>
                                    <m:t>,</m:t>
                                  </m:r>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𝑦</m:t>
                                      </m:r>
                                    </m:e>
                                    <m:sub>
                                      <m:r>
                                        <a:rPr lang="en-US" altLang="zh-TW" sz="2800" i="1">
                                          <a:latin typeface="Cambria Math" panose="02040503050406030204" pitchFamily="18" charset="0"/>
                                        </a:rPr>
                                        <m:t>2</m:t>
                                      </m:r>
                                    </m:sub>
                                  </m:sSub>
                                  <m:r>
                                    <a:rPr lang="en-US" altLang="zh-TW" sz="2800" i="1">
                                      <a:latin typeface="Cambria Math" panose="02040503050406030204" pitchFamily="18" charset="0"/>
                                    </a:rPr>
                                    <m:t>,</m:t>
                                  </m:r>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𝑧</m:t>
                                      </m:r>
                                    </m:e>
                                    <m:sub>
                                      <m:r>
                                        <a:rPr lang="en-US" altLang="zh-TW" sz="2800" i="1">
                                          <a:latin typeface="Cambria Math" panose="02040503050406030204" pitchFamily="18" charset="0"/>
                                        </a:rPr>
                                        <m:t>1</m:t>
                                      </m:r>
                                    </m:sub>
                                  </m:sSub>
                                </m:e>
                              </m:d>
                              <m:r>
                                <a:rPr lang="en-US" altLang="zh-TW" sz="2800" i="1">
                                  <a:latin typeface="Cambria Math" panose="02040503050406030204" pitchFamily="18" charset="0"/>
                                </a:rPr>
                                <m:t>,</m:t>
                              </m:r>
                            </m:e>
                            <m:e>
                              <m:d>
                                <m:dPr>
                                  <m:ctrlPr>
                                    <a:rPr lang="en-US" altLang="zh-TW" sz="2800" i="1">
                                      <a:latin typeface="Cambria Math" panose="02040503050406030204" pitchFamily="18" charset="0"/>
                                    </a:rPr>
                                  </m:ctrlPr>
                                </m:dPr>
                                <m:e>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𝑥</m:t>
                                      </m:r>
                                    </m:e>
                                    <m:sub>
                                      <m:r>
                                        <a:rPr lang="en-US" altLang="zh-TW" sz="2800" i="1">
                                          <a:latin typeface="Cambria Math" panose="02040503050406030204" pitchFamily="18" charset="0"/>
                                        </a:rPr>
                                        <m:t>2</m:t>
                                      </m:r>
                                    </m:sub>
                                  </m:sSub>
                                  <m:r>
                                    <a:rPr lang="en-US" altLang="zh-TW" sz="2800" i="1">
                                      <a:latin typeface="Cambria Math" panose="02040503050406030204" pitchFamily="18" charset="0"/>
                                    </a:rPr>
                                    <m:t>,</m:t>
                                  </m:r>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𝑦</m:t>
                                      </m:r>
                                    </m:e>
                                    <m:sub>
                                      <m:r>
                                        <a:rPr lang="en-US" altLang="zh-TW" sz="2800" i="1">
                                          <a:latin typeface="Cambria Math" panose="02040503050406030204" pitchFamily="18" charset="0"/>
                                        </a:rPr>
                                        <m:t>2</m:t>
                                      </m:r>
                                    </m:sub>
                                  </m:sSub>
                                  <m:r>
                                    <a:rPr lang="en-US" altLang="zh-TW" sz="2800" i="1">
                                      <a:latin typeface="Cambria Math" panose="02040503050406030204" pitchFamily="18" charset="0"/>
                                    </a:rPr>
                                    <m:t>,</m:t>
                                  </m:r>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𝑧</m:t>
                                      </m:r>
                                    </m:e>
                                    <m:sub>
                                      <m:r>
                                        <a:rPr lang="en-US" altLang="zh-TW" sz="2800" i="1">
                                          <a:latin typeface="Cambria Math" panose="02040503050406030204" pitchFamily="18" charset="0"/>
                                        </a:rPr>
                                        <m:t>2</m:t>
                                      </m:r>
                                    </m:sub>
                                  </m:sSub>
                                </m:e>
                              </m:d>
                              <m:r>
                                <a:rPr lang="en-US" altLang="zh-TW" sz="2800" i="1">
                                  <a:solidFill>
                                    <a:schemeClr val="bg1"/>
                                  </a:solidFill>
                                  <a:latin typeface="Cambria Math" panose="02040503050406030204" pitchFamily="18" charset="0"/>
                                </a:rPr>
                                <m:t>,</m:t>
                              </m:r>
                            </m:e>
                          </m:eqArr>
                        </m:e>
                      </m:d>
                    </m:oMath>
                  </m:oMathPara>
                </a14:m>
                <a:endParaRPr lang="zh-TW" altLang="en-US" sz="2800" dirty="0"/>
              </a:p>
            </p:txBody>
          </p:sp>
        </mc:Choice>
        <mc:Fallback xmlns="">
          <p:sp>
            <p:nvSpPr>
              <p:cNvPr id="8" name="文字方塊 7"/>
              <p:cNvSpPr txBox="1">
                <a:spLocks noRot="1" noChangeAspect="1" noMove="1" noResize="1" noEditPoints="1" noAdjustHandles="1" noChangeArrowheads="1" noChangeShapeType="1" noTextEdit="1"/>
              </p:cNvSpPr>
              <p:nvPr/>
            </p:nvSpPr>
            <p:spPr>
              <a:xfrm>
                <a:off x="1884001" y="909477"/>
                <a:ext cx="2972417" cy="1375633"/>
              </a:xfrm>
              <a:prstGeom prst="rect">
                <a:avLst/>
              </a:prstGeom>
              <a:blipFill>
                <a:blip r:embed="rId3"/>
                <a:stretch>
                  <a:fillRect/>
                </a:stretch>
              </a:blipFill>
            </p:spPr>
            <p:txBody>
              <a:bodyPr/>
              <a:lstStyle/>
              <a:p>
                <a:r>
                  <a:rPr lang="zh-TW" altLang="en-US">
                    <a:noFill/>
                  </a:rPr>
                  <a:t> </a:t>
                </a:r>
              </a:p>
            </p:txBody>
          </p:sp>
        </mc:Fallback>
      </mc:AlternateContent>
      <p:sp>
        <p:nvSpPr>
          <p:cNvPr id="19" name="文字方塊 18"/>
          <p:cNvSpPr txBox="1"/>
          <p:nvPr/>
        </p:nvSpPr>
        <p:spPr>
          <a:xfrm>
            <a:off x="1884001" y="90001"/>
            <a:ext cx="8286243" cy="584775"/>
          </a:xfrm>
          <a:prstGeom prst="rect">
            <a:avLst/>
          </a:prstGeom>
          <a:noFill/>
        </p:spPr>
        <p:txBody>
          <a:bodyPr wrap="none" rtlCol="0">
            <a:spAutoFit/>
          </a:bodyPr>
          <a:lstStyle/>
          <a:p>
            <a:r>
              <a:rPr lang="en-US" altLang="zh-TW" sz="3200" dirty="0">
                <a:solidFill>
                  <a:srgbClr val="0000FF"/>
                </a:solidFill>
                <a:latin typeface="Times New Roman" panose="02020603050405020304" pitchFamily="18" charset="0"/>
                <a:cs typeface="Times New Roman" panose="02020603050405020304" pitchFamily="18" charset="0"/>
              </a:rPr>
              <a:t>Two </a:t>
            </a:r>
            <a:r>
              <a:rPr lang="en-US" altLang="zh-TW" sz="3200" dirty="0">
                <a:solidFill>
                  <a:srgbClr val="FF0000"/>
                </a:solidFill>
                <a:latin typeface="Times New Roman" panose="02020603050405020304" pitchFamily="18" charset="0"/>
                <a:cs typeface="Times New Roman" panose="02020603050405020304" pitchFamily="18" charset="0"/>
              </a:rPr>
              <a:t>same</a:t>
            </a:r>
            <a:r>
              <a:rPr lang="en-US" altLang="zh-TW" sz="3200" dirty="0">
                <a:solidFill>
                  <a:srgbClr val="0000FF"/>
                </a:solidFill>
                <a:latin typeface="Times New Roman" panose="02020603050405020304" pitchFamily="18" charset="0"/>
                <a:cs typeface="Times New Roman" panose="02020603050405020304" pitchFamily="18" charset="0"/>
              </a:rPr>
              <a:t> </a:t>
            </a:r>
            <a:r>
              <a:rPr lang="en-US" altLang="zh-TW" sz="3200" dirty="0">
                <a:solidFill>
                  <a:srgbClr val="FF0000"/>
                </a:solidFill>
                <a:latin typeface="Times New Roman" panose="02020603050405020304" pitchFamily="18" charset="0"/>
                <a:cs typeface="Times New Roman" panose="02020603050405020304" pitchFamily="18" charset="0"/>
              </a:rPr>
              <a:t>variables</a:t>
            </a:r>
            <a:r>
              <a:rPr lang="en-US" altLang="zh-TW" sz="3200" dirty="0">
                <a:solidFill>
                  <a:srgbClr val="0000FF"/>
                </a:solidFill>
                <a:latin typeface="Times New Roman" panose="02020603050405020304" pitchFamily="18" charset="0"/>
                <a:cs typeface="Times New Roman" panose="02020603050405020304" pitchFamily="18" charset="0"/>
              </a:rPr>
              <a:t> </a:t>
            </a:r>
            <a:r>
              <a:rPr lang="en-US" altLang="zh-TW" sz="3200" dirty="0">
                <a:solidFill>
                  <a:srgbClr val="FF0000"/>
                </a:solidFill>
                <a:latin typeface="Times New Roman" panose="02020603050405020304" pitchFamily="18" charset="0"/>
                <a:cs typeface="Times New Roman" panose="02020603050405020304" pitchFamily="18" charset="0"/>
              </a:rPr>
              <a:t>cannot</a:t>
            </a:r>
            <a:r>
              <a:rPr lang="en-US" altLang="zh-TW" sz="3200" dirty="0">
                <a:solidFill>
                  <a:srgbClr val="0000FF"/>
                </a:solidFill>
                <a:latin typeface="Times New Roman" panose="02020603050405020304" pitchFamily="18" charset="0"/>
                <a:cs typeface="Times New Roman" panose="02020603050405020304" pitchFamily="18" charset="0"/>
              </a:rPr>
              <a:t> be </a:t>
            </a:r>
            <a:r>
              <a:rPr lang="en-US" altLang="zh-TW" sz="3200" dirty="0">
                <a:solidFill>
                  <a:srgbClr val="FF0000"/>
                </a:solidFill>
                <a:latin typeface="Times New Roman" panose="02020603050405020304" pitchFamily="18" charset="0"/>
                <a:cs typeface="Times New Roman" panose="02020603050405020304" pitchFamily="18" charset="0"/>
              </a:rPr>
              <a:t>both</a:t>
            </a:r>
            <a:r>
              <a:rPr lang="en-US" altLang="zh-TW" sz="3200" dirty="0">
                <a:solidFill>
                  <a:srgbClr val="0000FF"/>
                </a:solidFill>
                <a:latin typeface="Times New Roman" panose="02020603050405020304" pitchFamily="18" charset="0"/>
                <a:cs typeface="Times New Roman" panose="02020603050405020304" pitchFamily="18" charset="0"/>
              </a:rPr>
              <a:t> in the answer.</a:t>
            </a:r>
            <a:endParaRPr lang="zh-TW" altLang="en-US" sz="3200" dirty="0">
              <a:solidFill>
                <a:srgbClr val="0000FF"/>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21" name="表格 20"/>
              <p:cNvGraphicFramePr>
                <a:graphicFrameLocks noGrp="1"/>
              </p:cNvGraphicFramePr>
              <p:nvPr/>
            </p:nvGraphicFramePr>
            <p:xfrm>
              <a:off x="5071050" y="689372"/>
              <a:ext cx="5544000" cy="6105120"/>
            </p:xfrm>
            <a:graphic>
              <a:graphicData uri="http://schemas.openxmlformats.org/drawingml/2006/table">
                <a:tbl>
                  <a:tblPr firstRow="1" bandRow="1">
                    <a:tableStyleId>{2D5ABB26-0587-4C30-8999-92F81FD0307C}</a:tableStyleId>
                  </a:tblPr>
                  <a:tblGrid>
                    <a:gridCol w="864000">
                      <a:extLst>
                        <a:ext uri="{9D8B030D-6E8A-4147-A177-3AD203B41FA5}">
                          <a16:colId xmlns:a16="http://schemas.microsoft.com/office/drawing/2014/main" val="665302035"/>
                        </a:ext>
                      </a:extLst>
                    </a:gridCol>
                    <a:gridCol w="360000">
                      <a:extLst>
                        <a:ext uri="{9D8B030D-6E8A-4147-A177-3AD203B41FA5}">
                          <a16:colId xmlns:a16="http://schemas.microsoft.com/office/drawing/2014/main" val="2153631969"/>
                        </a:ext>
                      </a:extLst>
                    </a:gridCol>
                    <a:gridCol w="360000">
                      <a:extLst>
                        <a:ext uri="{9D8B030D-6E8A-4147-A177-3AD203B41FA5}">
                          <a16:colId xmlns:a16="http://schemas.microsoft.com/office/drawing/2014/main" val="1595096996"/>
                        </a:ext>
                      </a:extLst>
                    </a:gridCol>
                    <a:gridCol w="360000">
                      <a:extLst>
                        <a:ext uri="{9D8B030D-6E8A-4147-A177-3AD203B41FA5}">
                          <a16:colId xmlns:a16="http://schemas.microsoft.com/office/drawing/2014/main" val="2095761553"/>
                        </a:ext>
                      </a:extLst>
                    </a:gridCol>
                    <a:gridCol w="360000">
                      <a:extLst>
                        <a:ext uri="{9D8B030D-6E8A-4147-A177-3AD203B41FA5}">
                          <a16:colId xmlns:a16="http://schemas.microsoft.com/office/drawing/2014/main" val="681670930"/>
                        </a:ext>
                      </a:extLst>
                    </a:gridCol>
                    <a:gridCol w="360000">
                      <a:extLst>
                        <a:ext uri="{9D8B030D-6E8A-4147-A177-3AD203B41FA5}">
                          <a16:colId xmlns:a16="http://schemas.microsoft.com/office/drawing/2014/main" val="540747862"/>
                        </a:ext>
                      </a:extLst>
                    </a:gridCol>
                    <a:gridCol w="360000">
                      <a:extLst>
                        <a:ext uri="{9D8B030D-6E8A-4147-A177-3AD203B41FA5}">
                          <a16:colId xmlns:a16="http://schemas.microsoft.com/office/drawing/2014/main" val="1174193760"/>
                        </a:ext>
                      </a:extLst>
                    </a:gridCol>
                    <a:gridCol w="360000">
                      <a:extLst>
                        <a:ext uri="{9D8B030D-6E8A-4147-A177-3AD203B41FA5}">
                          <a16:colId xmlns:a16="http://schemas.microsoft.com/office/drawing/2014/main" val="2040868736"/>
                        </a:ext>
                      </a:extLst>
                    </a:gridCol>
                    <a:gridCol w="360000">
                      <a:extLst>
                        <a:ext uri="{9D8B030D-6E8A-4147-A177-3AD203B41FA5}">
                          <a16:colId xmlns:a16="http://schemas.microsoft.com/office/drawing/2014/main" val="1538012115"/>
                        </a:ext>
                      </a:extLst>
                    </a:gridCol>
                    <a:gridCol w="360000">
                      <a:extLst>
                        <a:ext uri="{9D8B030D-6E8A-4147-A177-3AD203B41FA5}">
                          <a16:colId xmlns:a16="http://schemas.microsoft.com/office/drawing/2014/main" val="2612606182"/>
                        </a:ext>
                      </a:extLst>
                    </a:gridCol>
                    <a:gridCol w="360000">
                      <a:extLst>
                        <a:ext uri="{9D8B030D-6E8A-4147-A177-3AD203B41FA5}">
                          <a16:colId xmlns:a16="http://schemas.microsoft.com/office/drawing/2014/main" val="2968137960"/>
                        </a:ext>
                      </a:extLst>
                    </a:gridCol>
                    <a:gridCol w="360000">
                      <a:extLst>
                        <a:ext uri="{9D8B030D-6E8A-4147-A177-3AD203B41FA5}">
                          <a16:colId xmlns:a16="http://schemas.microsoft.com/office/drawing/2014/main" val="2378456948"/>
                        </a:ext>
                      </a:extLst>
                    </a:gridCol>
                    <a:gridCol w="360000">
                      <a:extLst>
                        <a:ext uri="{9D8B030D-6E8A-4147-A177-3AD203B41FA5}">
                          <a16:colId xmlns:a16="http://schemas.microsoft.com/office/drawing/2014/main" val="4089029598"/>
                        </a:ext>
                      </a:extLst>
                    </a:gridCol>
                    <a:gridCol w="360000">
                      <a:extLst>
                        <a:ext uri="{9D8B030D-6E8A-4147-A177-3AD203B41FA5}">
                          <a16:colId xmlns:a16="http://schemas.microsoft.com/office/drawing/2014/main" val="3024970534"/>
                        </a:ext>
                      </a:extLst>
                    </a:gridCol>
                  </a:tblGrid>
                  <a:tr h="324000">
                    <a:tc>
                      <a:txBody>
                        <a:bodyPr/>
                        <a:lstStyle/>
                        <a:p>
                          <a:pPr algn="r"/>
                          <a:endParaRPr lang="zh-TW" altLang="en-US" sz="1600" dirty="0"/>
                        </a:p>
                      </a:txBody>
                      <a:tcPr anchor="ctr">
                        <a:lnB>
                          <a:noFill/>
                        </a:lnB>
                      </a:tcPr>
                    </a:tc>
                    <a:tc>
                      <a:txBody>
                        <a:bodyPr/>
                        <a:lstStyle/>
                        <a:p>
                          <a:pPr algn="ctr"/>
                          <a:endParaRPr lang="zh-TW" altLang="en-US" sz="1400"/>
                        </a:p>
                      </a:txBody>
                      <a:tcPr anchor="ctr"/>
                    </a:tc>
                    <a:tc>
                      <a:txBody>
                        <a:bodyPr/>
                        <a:lstStyle/>
                        <a:p>
                          <a:pPr algn="ctr"/>
                          <a:r>
                            <a:rPr lang="en-US" altLang="zh-TW" sz="1400" dirty="0"/>
                            <a:t>1</a:t>
                          </a:r>
                          <a:endParaRPr lang="zh-TW" altLang="en-US" sz="1400" dirty="0"/>
                        </a:p>
                      </a:txBody>
                      <a:tcPr anchor="ctr">
                        <a:lnB w="12700" cap="flat" cmpd="sng" algn="ctr">
                          <a:solidFill>
                            <a:schemeClr val="tx1"/>
                          </a:solidFill>
                          <a:prstDash val="solid"/>
                          <a:round/>
                          <a:headEnd type="none" w="med" len="med"/>
                          <a:tailEnd type="none" w="med" len="med"/>
                        </a:lnB>
                      </a:tcPr>
                    </a:tc>
                    <a:tc>
                      <a:txBody>
                        <a:bodyPr/>
                        <a:lstStyle/>
                        <a:p>
                          <a:pPr algn="ctr"/>
                          <a:endParaRPr lang="zh-TW" altLang="en-US" sz="1400" dirty="0"/>
                        </a:p>
                      </a:txBody>
                      <a:tcPr anchor="ctr">
                        <a:lnB w="12700" cap="flat" cmpd="sng" algn="ctr">
                          <a:solidFill>
                            <a:schemeClr val="tx1"/>
                          </a:solidFill>
                          <a:prstDash val="sysDashDotDot"/>
                          <a:round/>
                          <a:headEnd type="none" w="med" len="med"/>
                          <a:tailEnd type="none" w="med" len="med"/>
                        </a:lnB>
                        <a:noFill/>
                      </a:tcPr>
                    </a:tc>
                    <a:tc>
                      <a:txBody>
                        <a:bodyPr/>
                        <a:lstStyle/>
                        <a:p>
                          <a:pPr algn="ctr"/>
                          <a:r>
                            <a:rPr lang="en-US" altLang="zh-TW" sz="1400" dirty="0"/>
                            <a:t>6</a:t>
                          </a:r>
                          <a:endParaRPr lang="zh-TW" altLang="en-US" sz="1400" dirty="0"/>
                        </a:p>
                      </a:txBody>
                      <a:tcPr anchor="ctr">
                        <a:lnB w="12700" cap="flat" cmpd="sng" algn="ctr">
                          <a:solidFill>
                            <a:schemeClr val="tx1"/>
                          </a:solidFill>
                          <a:prstDash val="solid"/>
                          <a:round/>
                          <a:headEnd type="none" w="med" len="med"/>
                          <a:tailEnd type="none" w="med" len="med"/>
                        </a:lnB>
                        <a:noFill/>
                      </a:tcPr>
                    </a:tc>
                    <a:tc>
                      <a:txBody>
                        <a:bodyPr/>
                        <a:lstStyle/>
                        <a:p>
                          <a:pPr algn="ctr"/>
                          <a:r>
                            <a:rPr lang="en-US" altLang="zh-TW" sz="1400" dirty="0"/>
                            <a:t>7</a:t>
                          </a:r>
                          <a:endParaRPr lang="zh-TW" altLang="en-US" sz="1400" dirty="0"/>
                        </a:p>
                      </a:txBody>
                      <a:tcPr anchor="ctr">
                        <a:lnB w="12700" cap="flat" cmpd="sng" algn="ctr">
                          <a:solidFill>
                            <a:schemeClr val="tx1"/>
                          </a:solidFill>
                          <a:prstDash val="solid"/>
                          <a:round/>
                          <a:headEnd type="none" w="med" len="med"/>
                          <a:tailEnd type="none" w="med" len="med"/>
                        </a:lnB>
                        <a:noFill/>
                      </a:tcPr>
                    </a:tc>
                    <a:tc>
                      <a:txBody>
                        <a:bodyPr/>
                        <a:lstStyle/>
                        <a:p>
                          <a:pPr algn="ctr"/>
                          <a:r>
                            <a:rPr lang="en-US" altLang="zh-TW" sz="1400" dirty="0"/>
                            <a:t>8</a:t>
                          </a:r>
                          <a:endParaRPr lang="zh-TW" altLang="en-US" sz="1400" dirty="0"/>
                        </a:p>
                      </a:txBody>
                      <a:tcPr anchor="ctr">
                        <a:lnB w="12700" cap="flat" cmpd="sng" algn="ctr">
                          <a:solidFill>
                            <a:schemeClr val="tx1"/>
                          </a:solidFill>
                          <a:prstDash val="solid"/>
                          <a:round/>
                          <a:headEnd type="none" w="med" len="med"/>
                          <a:tailEnd type="none" w="med" len="med"/>
                        </a:lnB>
                        <a:noFill/>
                      </a:tcPr>
                    </a:tc>
                    <a:tc>
                      <a:txBody>
                        <a:bodyPr/>
                        <a:lstStyle/>
                        <a:p>
                          <a:pPr algn="ctr"/>
                          <a:r>
                            <a:rPr lang="en-US" altLang="zh-TW" sz="1400" dirty="0"/>
                            <a:t>9</a:t>
                          </a:r>
                          <a:endParaRPr lang="zh-TW" altLang="en-US" sz="1400" dirty="0"/>
                        </a:p>
                      </a:txBody>
                      <a:tcPr anchor="ctr">
                        <a:lnB w="12700" cap="flat" cmpd="sng" algn="ctr">
                          <a:solidFill>
                            <a:schemeClr val="tx1"/>
                          </a:solidFill>
                          <a:prstDash val="solid"/>
                          <a:round/>
                          <a:headEnd type="none" w="med" len="med"/>
                          <a:tailEnd type="none" w="med" len="med"/>
                        </a:lnB>
                        <a:noFill/>
                      </a:tcPr>
                    </a:tc>
                    <a:tc>
                      <a:txBody>
                        <a:bodyPr/>
                        <a:lstStyle/>
                        <a:p>
                          <a:pPr algn="ctr"/>
                          <a:r>
                            <a:rPr lang="en-US" altLang="zh-TW" sz="1200" dirty="0"/>
                            <a:t>10</a:t>
                          </a:r>
                          <a:endParaRPr lang="zh-TW" altLang="en-US" sz="1200" dirty="0"/>
                        </a:p>
                      </a:txBody>
                      <a:tcPr anchor="ctr">
                        <a:lnB w="12700" cap="flat" cmpd="sng" algn="ctr">
                          <a:solidFill>
                            <a:schemeClr val="tx1"/>
                          </a:solidFill>
                          <a:prstDash val="solid"/>
                          <a:round/>
                          <a:headEnd type="none" w="med" len="med"/>
                          <a:tailEnd type="none" w="med" len="med"/>
                        </a:lnB>
                        <a:noFill/>
                      </a:tcPr>
                    </a:tc>
                    <a:tc>
                      <a:txBody>
                        <a:bodyPr/>
                        <a:lstStyle/>
                        <a:p>
                          <a:pPr algn="ctr"/>
                          <a:r>
                            <a:rPr lang="en-US" altLang="zh-TW" sz="1200" dirty="0"/>
                            <a:t>11</a:t>
                          </a:r>
                          <a:endParaRPr lang="zh-TW" altLang="en-US" sz="1200"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1200" dirty="0"/>
                            <a:t>12</a:t>
                          </a:r>
                          <a:endParaRPr lang="zh-TW" altLang="en-US" sz="1200"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1200" dirty="0"/>
                            <a:t>13</a:t>
                          </a:r>
                          <a:endParaRPr lang="zh-TW" altLang="en-US" sz="1200"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1200" dirty="0"/>
                            <a:t>14</a:t>
                          </a:r>
                          <a:endParaRPr lang="zh-TW" altLang="en-US" sz="1200"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1200" dirty="0"/>
                            <a:t>15</a:t>
                          </a:r>
                          <a:endParaRPr lang="zh-TW" altLang="en-US" sz="1200" dirty="0"/>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43982887"/>
                      </a:ext>
                    </a:extLst>
                  </a:tr>
                  <a:tr h="324000">
                    <a:tc rowSpan="3">
                      <a:txBody>
                        <a:bodyPr/>
                        <a:lstStyle/>
                        <a:p>
                          <a:pPr algn="r"/>
                          <a:endParaRPr lang="zh-TW" altLang="en-US" sz="1800" dirty="0"/>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altLang="zh-TW" sz="1800" dirty="0"/>
                            <a:t>1</a:t>
                          </a:r>
                          <a:endParaRPr lang="zh-TW" altLang="en-US" sz="18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ysDashDotDot"/>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𝑙</m:t>
                                    </m:r>
                                  </m:e>
                                  <m:sub>
                                    <m: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b>
                                  <m:sup>
                                    <m: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p>
                                </m:sSubSup>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𝑙</m:t>
                                    </m:r>
                                  </m:e>
                                  <m:sub>
                                    <m: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sub>
                                  <m:sup>
                                    <m: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p>
                                </m:sSubSup>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23125657"/>
                      </a:ext>
                    </a:extLst>
                  </a:tr>
                  <a:tr h="324000">
                    <a:tc vMerge="1">
                      <a:txBody>
                        <a:bodyPr/>
                        <a:lstStyle/>
                        <a:p>
                          <a:pPr algn="ctr"/>
                          <a:endParaRPr lang="zh-TW" altLang="en-US" sz="1400" dirty="0"/>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altLang="zh-TW" sz="1800" dirty="0"/>
                            <a:t>2</a:t>
                          </a:r>
                          <a:endParaRPr lang="zh-TW" altLang="en-US" sz="18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ysDashDotDot"/>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𝑙</m:t>
                                    </m:r>
                                  </m:e>
                                  <m:sub>
                                    <m: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b>
                                  <m:sup>
                                    <m: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sup>
                                </m:sSubSup>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𝑙</m:t>
                                    </m:r>
                                  </m:e>
                                  <m:sub>
                                    <m: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sub>
                                  <m:sup>
                                    <m: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sup>
                                </m:sSubSup>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6858302"/>
                      </a:ext>
                    </a:extLst>
                  </a:tr>
                  <a:tr h="324000">
                    <a:tc vMerge="1">
                      <a:txBody>
                        <a:bodyPr/>
                        <a:lstStyle/>
                        <a:p>
                          <a:pPr algn="ctr"/>
                          <a:endParaRPr lang="zh-TW" altLang="en-US" sz="1400" dirty="0"/>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altLang="zh-TW" sz="1800" dirty="0"/>
                            <a:t>3</a:t>
                          </a:r>
                          <a:endParaRPr lang="zh-TW" altLang="en-US" sz="18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ysDashDotDot"/>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2558973"/>
                      </a:ext>
                    </a:extLst>
                  </a:tr>
                  <a:tr h="324000">
                    <a:tc rowSpan="3">
                      <a:txBody>
                        <a:bodyPr/>
                        <a:lstStyle/>
                        <a:p>
                          <a:pPr algn="just"/>
                          <a14:m>
                            <m:oMathPara xmlns:m="http://schemas.openxmlformats.org/officeDocument/2006/math">
                              <m:oMathParaPr>
                                <m:jc m:val="right"/>
                              </m:oMathParaPr>
                              <m:oMath xmlns:m="http://schemas.openxmlformats.org/officeDocument/2006/math">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𝑥</m:t>
                                    </m:r>
                                  </m:e>
                                  <m:sub>
                                    <m:r>
                                      <a:rPr lang="en-US" altLang="zh-TW" sz="2000" b="0" i="1" smtClean="0">
                                        <a:latin typeface="Cambria Math" panose="02040503050406030204" pitchFamily="18" charset="0"/>
                                      </a:rPr>
                                      <m:t>1</m:t>
                                    </m:r>
                                  </m:sub>
                                </m:sSub>
                                <m:d>
                                  <m:dPr>
                                    <m:begChr m:val="{"/>
                                    <m:endChr m:val=""/>
                                    <m:ctrlPr>
                                      <a:rPr lang="en-US" altLang="zh-TW" sz="2000" b="0" i="1" smtClean="0">
                                        <a:latin typeface="Cambria Math" panose="02040503050406030204" pitchFamily="18" charset="0"/>
                                      </a:rPr>
                                    </m:ctrlPr>
                                  </m:dPr>
                                  <m:e>
                                    <m:eqArr>
                                      <m:eqArrPr>
                                        <m:ctrlPr>
                                          <a:rPr lang="en-US" altLang="zh-TW" sz="2000" b="0" i="1" smtClean="0">
                                            <a:latin typeface="Cambria Math" panose="02040503050406030204" pitchFamily="18" charset="0"/>
                                          </a:rPr>
                                        </m:ctrlPr>
                                      </m:eqArrPr>
                                      <m:e>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𝑀</m:t>
                                            </m:r>
                                          </m:e>
                                          <m:sub>
                                            <m:r>
                                              <a:rPr lang="en-US" altLang="zh-TW" sz="2000" b="0" i="1" smtClean="0">
                                                <a:latin typeface="Cambria Math" panose="02040503050406030204" pitchFamily="18" charset="0"/>
                                              </a:rPr>
                                              <m:t>3</m:t>
                                            </m:r>
                                          </m:sub>
                                        </m:sSub>
                                      </m:e>
                                      <m:e>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𝑀</m:t>
                                            </m:r>
                                          </m:e>
                                          <m:sub>
                                            <m:r>
                                              <a:rPr lang="en-US" altLang="zh-TW" sz="2000" b="0" i="1" smtClean="0">
                                                <a:latin typeface="Cambria Math" panose="02040503050406030204" pitchFamily="18" charset="0"/>
                                              </a:rPr>
                                              <m:t>2</m:t>
                                            </m:r>
                                          </m:sub>
                                        </m:sSub>
                                      </m:e>
                                      <m:e>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𝑀</m:t>
                                            </m:r>
                                          </m:e>
                                          <m:sub>
                                            <m:r>
                                              <a:rPr lang="en-US" altLang="zh-TW" sz="2000" b="0" i="1" smtClean="0">
                                                <a:latin typeface="Cambria Math" panose="02040503050406030204" pitchFamily="18" charset="0"/>
                                              </a:rPr>
                                              <m:t>1</m:t>
                                            </m:r>
                                          </m:sub>
                                        </m:sSub>
                                      </m:e>
                                    </m:eqArr>
                                  </m:e>
                                </m:d>
                              </m:oMath>
                            </m:oMathPara>
                          </a14:m>
                          <a:endParaRPr lang="zh-TW" altLang="en-US" sz="2000" dirty="0"/>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altLang="zh-TW" sz="1800" dirty="0"/>
                            <a:t>4</a:t>
                          </a:r>
                          <a:endParaRPr lang="zh-TW" altLang="en-US" sz="18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ysDashDotDot"/>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8639852"/>
                      </a:ext>
                    </a:extLst>
                  </a:tr>
                  <a:tr h="324000">
                    <a:tc vMerge="1">
                      <a:txBody>
                        <a:bodyPr/>
                        <a:lstStyle/>
                        <a:p>
                          <a:pPr algn="ctr"/>
                          <a:endParaRPr lang="zh-TW" altLang="en-US" sz="1400" dirty="0"/>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altLang="zh-TW" sz="1800" dirty="0"/>
                            <a:t>5</a:t>
                          </a:r>
                          <a:endParaRPr lang="zh-TW" altLang="en-US" sz="18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ysDashDotDot"/>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𝑙</m:t>
                                    </m:r>
                                  </m:e>
                                  <m:sub>
                                    <m: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sub>
                                  <m:sup>
                                    <m: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sup>
                                </m:sSubSup>
                              </m:oMath>
                            </m:oMathPara>
                          </a14:m>
                          <a:endParaRPr kumimoji="0" lang="zh-TW" altLang="en-US" sz="1400" b="0" i="0" u="none" strike="noStrike" kern="1200" cap="none" spc="0" normalizeH="0" baseline="0" noProof="0" dirty="0">
                            <a:ln>
                              <a:noFill/>
                            </a:ln>
                            <a:solidFill>
                              <a:prstClr val="black"/>
                            </a:solidFill>
                            <a:effectLst/>
                            <a:uLnTx/>
                            <a:uFillTx/>
                            <a:latin typeface="+mn-lt"/>
                            <a:ea typeface="+mn-ea"/>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71178406"/>
                      </a:ext>
                    </a:extLst>
                  </a:tr>
                  <a:tr h="324000">
                    <a:tc vMerge="1">
                      <a:txBody>
                        <a:bodyPr/>
                        <a:lstStyle/>
                        <a:p>
                          <a:pPr algn="ctr"/>
                          <a:endParaRPr lang="zh-TW" altLang="en-US" sz="1400" dirty="0"/>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altLang="zh-TW" sz="1800" dirty="0"/>
                            <a:t>6</a:t>
                          </a:r>
                          <a:endParaRPr lang="zh-TW" altLang="en-US" sz="18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ysDashDotDot"/>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𝑙</m:t>
                                    </m:r>
                                  </m:e>
                                  <m:sub>
                                    <m: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sub>
                                  <m:sup>
                                    <m: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p>
                                </m:sSubSup>
                              </m:oMath>
                            </m:oMathPara>
                          </a14:m>
                          <a:endParaRPr kumimoji="0" lang="zh-TW" altLang="en-US" sz="1400" b="0" i="0" u="none" strike="noStrike" kern="1200" cap="none" spc="0" normalizeH="0" baseline="0" noProof="0" dirty="0">
                            <a:ln>
                              <a:noFill/>
                            </a:ln>
                            <a:solidFill>
                              <a:prstClr val="black"/>
                            </a:solidFill>
                            <a:effectLst/>
                            <a:uLnTx/>
                            <a:uFillTx/>
                            <a:latin typeface="+mn-lt"/>
                            <a:ea typeface="+mn-ea"/>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11404706"/>
                      </a:ext>
                    </a:extLst>
                  </a:tr>
                  <a:tr h="324000">
                    <a:tc rowSpan="3" gridSpan="2">
                      <a:txBody>
                        <a:bodyPr/>
                        <a:lstStyle/>
                        <a:p>
                          <a:pPr algn="r"/>
                          <a14:m>
                            <m:oMath xmlns:m="http://schemas.openxmlformats.org/officeDocument/2006/math">
                              <m:sSub>
                                <m:sSubPr>
                                  <m:ctrlPr>
                                    <a:rPr lang="en-US" altLang="zh-TW" sz="1800" b="0" i="1" smtClean="0">
                                      <a:latin typeface="Cambria Math" panose="02040503050406030204" pitchFamily="18" charset="0"/>
                                    </a:rPr>
                                  </m:ctrlPr>
                                </m:sSubPr>
                                <m:e>
                                  <m:r>
                                    <a:rPr lang="en-US" altLang="zh-TW" sz="1800" b="0" i="1" smtClean="0">
                                      <a:latin typeface="Cambria Math" panose="02040503050406030204" pitchFamily="18" charset="0"/>
                                    </a:rPr>
                                    <m:t>𝑥</m:t>
                                  </m:r>
                                </m:e>
                                <m:sub>
                                  <m:r>
                                    <a:rPr lang="en-US" altLang="zh-TW" sz="1800" b="0" i="1" smtClean="0">
                                      <a:latin typeface="Cambria Math" panose="02040503050406030204" pitchFamily="18" charset="0"/>
                                    </a:rPr>
                                    <m:t>2</m:t>
                                  </m:r>
                                </m:sub>
                              </m:sSub>
                              <m:d>
                                <m:dPr>
                                  <m:begChr m:val="{"/>
                                  <m:endChr m:val=""/>
                                  <m:ctrlPr>
                                    <a:rPr lang="en-US" altLang="zh-TW" sz="1800" b="0" i="1" smtClean="0">
                                      <a:latin typeface="Cambria Math" panose="02040503050406030204" pitchFamily="18" charset="0"/>
                                    </a:rPr>
                                  </m:ctrlPr>
                                </m:dPr>
                                <m:e>
                                  <m:eqArr>
                                    <m:eqArrPr>
                                      <m:ctrlPr>
                                        <a:rPr lang="en-US" altLang="zh-TW" sz="1800" b="0" i="1" smtClean="0">
                                          <a:latin typeface="Cambria Math" panose="02040503050406030204" pitchFamily="18" charset="0"/>
                                        </a:rPr>
                                      </m:ctrlPr>
                                    </m:eqArrPr>
                                    <m:e>
                                      <m:r>
                                        <a:rPr lang="en-US" altLang="zh-TW" sz="1800" b="0" i="1" smtClean="0">
                                          <a:latin typeface="Cambria Math" panose="02040503050406030204" pitchFamily="18" charset="0"/>
                                        </a:rPr>
                                        <m:t>7</m:t>
                                      </m:r>
                                    </m:e>
                                    <m:e>
                                      <m:r>
                                        <a:rPr lang="en-US" altLang="zh-TW" sz="1800" b="0" i="1" smtClean="0">
                                          <a:latin typeface="Cambria Math" panose="02040503050406030204" pitchFamily="18" charset="0"/>
                                        </a:rPr>
                                        <m:t>8</m:t>
                                      </m:r>
                                    </m:e>
                                    <m:e>
                                      <m:r>
                                        <a:rPr lang="en-US" altLang="zh-TW" sz="1800" b="0" i="1" smtClean="0">
                                          <a:latin typeface="Cambria Math" panose="02040503050406030204" pitchFamily="18" charset="0"/>
                                        </a:rPr>
                                        <m:t>9</m:t>
                                      </m:r>
                                    </m:e>
                                  </m:eqArr>
                                </m:e>
                              </m:d>
                            </m:oMath>
                          </a14:m>
                          <a:r>
                            <a:rPr lang="zh-TW" altLang="en-US" sz="1800" dirty="0"/>
                            <a:t> </a:t>
                          </a:r>
                        </a:p>
                      </a:txBody>
                      <a:tcPr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rowSpan="3" hMerge="1">
                      <a:txBody>
                        <a:bodyPr/>
                        <a:lstStyle/>
                        <a:p>
                          <a:pPr algn="ctr"/>
                          <a:endParaRPr lang="zh-TW" altLang="en-US" sz="1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𝑙</m:t>
                                    </m:r>
                                  </m:e>
                                  <m:sub>
                                    <m: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sub>
                                  <m:sup>
                                    <m: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3</m:t>
                                    </m:r>
                                  </m:sup>
                                </m:sSubSup>
                              </m:oMath>
                            </m:oMathPara>
                          </a14:m>
                          <a:endParaRPr kumimoji="0" lang="zh-TW" altLang="en-US" sz="1400" b="0" i="0" u="none" strike="noStrike" kern="1200" cap="none" spc="0" normalizeH="0" baseline="0" noProof="0" dirty="0">
                            <a:ln>
                              <a:noFill/>
                            </a:ln>
                            <a:solidFill>
                              <a:prstClr val="black"/>
                            </a:solidFill>
                            <a:effectLst/>
                            <a:uLnTx/>
                            <a:uFillTx/>
                            <a:latin typeface="+mn-lt"/>
                            <a:ea typeface="+mn-ea"/>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ysDashDotDot"/>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990075"/>
                      </a:ext>
                    </a:extLst>
                  </a:tr>
                  <a:tr h="324000">
                    <a:tc gridSpan="2" vMerge="1">
                      <a:txBody>
                        <a:bodyPr/>
                        <a:lstStyle/>
                        <a:p>
                          <a:pPr algn="ctr"/>
                          <a:endParaRPr lang="zh-TW" altLang="en-US" sz="1400" dirty="0"/>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hMerge="1" vMerge="1">
                      <a:txBody>
                        <a:bodyPr/>
                        <a:lstStyle/>
                        <a:p>
                          <a:pPr algn="ctr"/>
                          <a:endParaRPr lang="zh-TW" altLang="en-US" sz="1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ysDashDotDot"/>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99197756"/>
                      </a:ext>
                    </a:extLst>
                  </a:tr>
                  <a:tr h="324000">
                    <a:tc gridSpan="2" vMerge="1">
                      <a:txBody>
                        <a:bodyPr/>
                        <a:lstStyle/>
                        <a:p>
                          <a:pPr algn="ctr"/>
                          <a:endParaRPr lang="zh-TW" altLang="en-US" sz="1400" dirty="0"/>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hMerge="1" vMerge="1">
                      <a:txBody>
                        <a:bodyPr/>
                        <a:lstStyle/>
                        <a:p>
                          <a:pPr algn="ctr"/>
                          <a:endParaRPr lang="zh-TW" altLang="en-US" sz="1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ysDashDotDot"/>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2285656"/>
                      </a:ext>
                    </a:extLst>
                  </a:tr>
                  <a:tr h="324000">
                    <a:tc rowSpan="3" gridSpan="2">
                      <a:txBody>
                        <a:bodyPr/>
                        <a:lstStyle/>
                        <a:p>
                          <a:pPr algn="r"/>
                          <a14:m>
                            <m:oMath xmlns:m="http://schemas.openxmlformats.org/officeDocument/2006/math">
                              <m:sSub>
                                <m:sSubPr>
                                  <m:ctrlPr>
                                    <a:rPr lang="en-US" altLang="zh-TW" sz="1800" b="0" i="1" smtClean="0">
                                      <a:latin typeface="Cambria Math" panose="02040503050406030204" pitchFamily="18" charset="0"/>
                                    </a:rPr>
                                  </m:ctrlPr>
                                </m:sSubPr>
                                <m:e>
                                  <m:r>
                                    <a:rPr lang="en-US" altLang="zh-TW" sz="1800" b="0" i="1" smtClean="0">
                                      <a:latin typeface="Cambria Math" panose="02040503050406030204" pitchFamily="18" charset="0"/>
                                    </a:rPr>
                                    <m:t>𝑦</m:t>
                                  </m:r>
                                </m:e>
                                <m:sub>
                                  <m:r>
                                    <a:rPr lang="en-US" altLang="zh-TW" sz="1800" b="0" i="1" smtClean="0">
                                      <a:latin typeface="Cambria Math" panose="02040503050406030204" pitchFamily="18" charset="0"/>
                                    </a:rPr>
                                    <m:t>1</m:t>
                                  </m:r>
                                </m:sub>
                              </m:sSub>
                              <m:d>
                                <m:dPr>
                                  <m:begChr m:val="{"/>
                                  <m:endChr m:val=""/>
                                  <m:ctrlPr>
                                    <a:rPr lang="en-US" altLang="zh-TW" sz="1800" b="0" i="1" smtClean="0">
                                      <a:latin typeface="Cambria Math" panose="02040503050406030204" pitchFamily="18" charset="0"/>
                                    </a:rPr>
                                  </m:ctrlPr>
                                </m:dPr>
                                <m:e>
                                  <m:eqArr>
                                    <m:eqArrPr>
                                      <m:ctrlPr>
                                        <a:rPr lang="en-US" altLang="zh-TW" sz="1800" b="0" i="1" smtClean="0">
                                          <a:latin typeface="Cambria Math" panose="02040503050406030204" pitchFamily="18" charset="0"/>
                                        </a:rPr>
                                      </m:ctrlPr>
                                    </m:eqArrPr>
                                    <m:e>
                                      <m:r>
                                        <a:rPr lang="en-US" altLang="zh-TW" sz="1800" b="0" i="1" smtClean="0">
                                          <a:latin typeface="Cambria Math" panose="02040503050406030204" pitchFamily="18" charset="0"/>
                                        </a:rPr>
                                        <m:t>10</m:t>
                                      </m:r>
                                    </m:e>
                                    <m:e>
                                      <m:r>
                                        <a:rPr lang="en-US" altLang="zh-TW" sz="1800" b="0" i="1" smtClean="0">
                                          <a:latin typeface="Cambria Math" panose="02040503050406030204" pitchFamily="18" charset="0"/>
                                        </a:rPr>
                                        <m:t>11</m:t>
                                      </m:r>
                                    </m:e>
                                    <m:e>
                                      <m:r>
                                        <a:rPr lang="en-US" altLang="zh-TW" sz="1800" b="0" i="1" smtClean="0">
                                          <a:latin typeface="Cambria Math" panose="02040503050406030204" pitchFamily="18" charset="0"/>
                                        </a:rPr>
                                        <m:t>12</m:t>
                                      </m:r>
                                    </m:e>
                                  </m:eqArr>
                                </m:e>
                              </m:d>
                            </m:oMath>
                          </a14:m>
                          <a:r>
                            <a:rPr lang="zh-TW" altLang="en-US" sz="1800" dirty="0"/>
                            <a:t> </a:t>
                          </a:r>
                        </a:p>
                      </a:txBody>
                      <a:tcPr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rowSpan="3" hMerge="1">
                      <a:txBody>
                        <a:bodyPr/>
                        <a:lstStyle/>
                        <a:p>
                          <a:pPr algn="ctr"/>
                          <a:endParaRPr lang="zh-TW" altLang="en-US" sz="12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ysDashDotDot"/>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70218796"/>
                      </a:ext>
                    </a:extLst>
                  </a:tr>
                  <a:tr h="324000">
                    <a:tc gridSpan="2" vMerge="1">
                      <a:txBody>
                        <a:bodyPr/>
                        <a:lstStyle/>
                        <a:p>
                          <a:pPr algn="ctr"/>
                          <a:endParaRPr lang="zh-TW" altLang="en-US" sz="1200" dirty="0"/>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hMerge="1" vMerge="1">
                      <a:txBody>
                        <a:bodyPr/>
                        <a:lstStyle/>
                        <a:p>
                          <a:pPr algn="ctr"/>
                          <a:endParaRPr lang="zh-TW" altLang="en-US" sz="12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ysDashDotDot"/>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84362165"/>
                      </a:ext>
                    </a:extLst>
                  </a:tr>
                  <a:tr h="324000">
                    <a:tc gridSpan="2" vMerge="1">
                      <a:txBody>
                        <a:bodyPr/>
                        <a:lstStyle/>
                        <a:p>
                          <a:pPr algn="ctr"/>
                          <a:endParaRPr lang="zh-TW" altLang="en-US" sz="1200" dirty="0"/>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hMerge="1" vMerge="1">
                      <a:txBody>
                        <a:bodyPr/>
                        <a:lstStyle/>
                        <a:p>
                          <a:pPr algn="ctr"/>
                          <a:endParaRPr lang="zh-TW" altLang="en-US" sz="12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ysDashDotDot"/>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𝑙</m:t>
                                    </m:r>
                                  </m:e>
                                  <m:sub>
                                    <m: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𝑦</m:t>
                                    </m:r>
                                  </m:sub>
                                  <m:sup>
                                    <m: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p>
                                </m:sSubSup>
                              </m:oMath>
                            </m:oMathPara>
                          </a14:m>
                          <a:endParaRPr kumimoji="0" lang="zh-TW" altLang="en-US" sz="1400" b="0" i="0" u="none" strike="noStrike" kern="1200" cap="none" spc="0" normalizeH="0" baseline="0" noProof="0" dirty="0">
                            <a:ln>
                              <a:noFill/>
                            </a:ln>
                            <a:solidFill>
                              <a:prstClr val="black"/>
                            </a:solidFill>
                            <a:effectLst/>
                            <a:uLnTx/>
                            <a:uFillTx/>
                            <a:latin typeface="+mn-lt"/>
                            <a:ea typeface="+mn-ea"/>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02963591"/>
                      </a:ext>
                    </a:extLst>
                  </a:tr>
                  <a:tr h="324000">
                    <a:tc rowSpan="3" gridSpan="2">
                      <a:txBody>
                        <a:bodyPr/>
                        <a:lstStyle/>
                        <a:p>
                          <a:pPr algn="r"/>
                          <a14:m>
                            <m:oMath xmlns:m="http://schemas.openxmlformats.org/officeDocument/2006/math">
                              <m:sSub>
                                <m:sSubPr>
                                  <m:ctrlPr>
                                    <a:rPr lang="en-US" altLang="zh-TW" sz="1800" b="0" i="1" smtClean="0">
                                      <a:latin typeface="Cambria Math" panose="02040503050406030204" pitchFamily="18" charset="0"/>
                                    </a:rPr>
                                  </m:ctrlPr>
                                </m:sSubPr>
                                <m:e>
                                  <m:r>
                                    <a:rPr lang="en-US" altLang="zh-TW" sz="1800" b="0" i="1" smtClean="0">
                                      <a:latin typeface="Cambria Math" panose="02040503050406030204" pitchFamily="18" charset="0"/>
                                    </a:rPr>
                                    <m:t>𝑦</m:t>
                                  </m:r>
                                </m:e>
                                <m:sub>
                                  <m:r>
                                    <a:rPr lang="en-US" altLang="zh-TW" sz="1800" b="0" i="1" smtClean="0">
                                      <a:latin typeface="Cambria Math" panose="02040503050406030204" pitchFamily="18" charset="0"/>
                                    </a:rPr>
                                    <m:t>2</m:t>
                                  </m:r>
                                </m:sub>
                              </m:sSub>
                              <m:d>
                                <m:dPr>
                                  <m:begChr m:val="{"/>
                                  <m:endChr m:val=""/>
                                  <m:ctrlPr>
                                    <a:rPr lang="en-US" altLang="zh-TW" sz="1800" b="0" i="1" smtClean="0">
                                      <a:latin typeface="Cambria Math" panose="02040503050406030204" pitchFamily="18" charset="0"/>
                                    </a:rPr>
                                  </m:ctrlPr>
                                </m:dPr>
                                <m:e>
                                  <m:eqArr>
                                    <m:eqArrPr>
                                      <m:ctrlPr>
                                        <a:rPr lang="en-US" altLang="zh-TW" sz="1800" b="0" i="1" smtClean="0">
                                          <a:latin typeface="Cambria Math" panose="02040503050406030204" pitchFamily="18" charset="0"/>
                                        </a:rPr>
                                      </m:ctrlPr>
                                    </m:eqArrPr>
                                    <m:e>
                                      <m:r>
                                        <a:rPr lang="en-US" altLang="zh-TW" sz="1800" b="0" i="1" smtClean="0">
                                          <a:latin typeface="Cambria Math" panose="02040503050406030204" pitchFamily="18" charset="0"/>
                                        </a:rPr>
                                        <m:t>13</m:t>
                                      </m:r>
                                    </m:e>
                                    <m:e>
                                      <m:r>
                                        <a:rPr lang="en-US" altLang="zh-TW" sz="1800" b="0" i="1" smtClean="0">
                                          <a:latin typeface="Cambria Math" panose="02040503050406030204" pitchFamily="18" charset="0"/>
                                        </a:rPr>
                                        <m:t>14</m:t>
                                      </m:r>
                                    </m:e>
                                    <m:e>
                                      <m:r>
                                        <a:rPr lang="en-US" altLang="zh-TW" sz="1800" b="0" i="1" smtClean="0">
                                          <a:latin typeface="Cambria Math" panose="02040503050406030204" pitchFamily="18" charset="0"/>
                                        </a:rPr>
                                        <m:t>15</m:t>
                                      </m:r>
                                    </m:e>
                                  </m:eqArr>
                                </m:e>
                              </m:d>
                            </m:oMath>
                          </a14:m>
                          <a:r>
                            <a:rPr lang="zh-TW" altLang="en-US" sz="1800" dirty="0"/>
                            <a:t> </a:t>
                          </a:r>
                        </a:p>
                      </a:txBody>
                      <a:tcPr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rowSpan="3" hMerge="1">
                      <a:txBody>
                        <a:bodyPr/>
                        <a:lstStyle/>
                        <a:p>
                          <a:pPr algn="ctr"/>
                          <a:endParaRPr lang="zh-TW" altLang="en-US" sz="12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ysDashDotDot"/>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8028935"/>
                      </a:ext>
                    </a:extLst>
                  </a:tr>
                  <a:tr h="324000">
                    <a:tc gridSpan="2" vMerge="1">
                      <a:txBody>
                        <a:bodyPr/>
                        <a:lstStyle/>
                        <a:p>
                          <a:pPr algn="ctr"/>
                          <a:endParaRPr lang="zh-TW" altLang="en-US" sz="1200" dirty="0"/>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hMerge="1" vMerge="1">
                      <a:txBody>
                        <a:bodyPr/>
                        <a:lstStyle/>
                        <a:p>
                          <a:pPr algn="ctr"/>
                          <a:endParaRPr lang="zh-TW" altLang="en-US" sz="12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ysDashDotDot"/>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𝑙</m:t>
                                    </m:r>
                                  </m:e>
                                  <m:sub>
                                    <m: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𝑦</m:t>
                                    </m:r>
                                  </m:sub>
                                  <m:sup>
                                    <m:r>
                                      <a:rPr kumimoji="0" lang="en-US" altLang="zh-TW"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sup>
                                </m:sSubSup>
                              </m:oMath>
                            </m:oMathPara>
                          </a14:m>
                          <a:endParaRPr kumimoji="0" lang="zh-TW" altLang="en-US" sz="1400" b="0" i="0" u="none" strike="noStrike" kern="1200" cap="none" spc="0" normalizeH="0" baseline="0" noProof="0" dirty="0">
                            <a:ln>
                              <a:noFill/>
                            </a:ln>
                            <a:solidFill>
                              <a:prstClr val="black"/>
                            </a:solidFill>
                            <a:effectLst/>
                            <a:uLnTx/>
                            <a:uFillTx/>
                            <a:latin typeface="+mn-lt"/>
                            <a:ea typeface="+mn-ea"/>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07011822"/>
                      </a:ext>
                    </a:extLst>
                  </a:tr>
                  <a:tr h="324000">
                    <a:tc gridSpan="2" vMerge="1">
                      <a:txBody>
                        <a:bodyPr/>
                        <a:lstStyle/>
                        <a:p>
                          <a:pPr algn="ctr"/>
                          <a:endParaRPr lang="zh-TW" altLang="en-US" sz="1200" dirty="0"/>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hMerge="1" vMerge="1">
                      <a:txBody>
                        <a:bodyPr/>
                        <a:lstStyle/>
                        <a:p>
                          <a:pPr algn="ctr"/>
                          <a:endParaRPr lang="zh-TW" altLang="en-US" sz="12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ysDashDotDot"/>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6459192"/>
                      </a:ext>
                    </a:extLst>
                  </a:tr>
                  <a:tr h="324000">
                    <a:tc>
                      <a:txBody>
                        <a:bodyPr/>
                        <a:lstStyle/>
                        <a:p>
                          <a:pPr algn="r"/>
                          <a:endParaRPr lang="zh-TW" altLang="en-US" sz="1600" dirty="0"/>
                        </a:p>
                      </a:txBody>
                      <a:tcPr anchor="ctr">
                        <a:lnL>
                          <a:noFill/>
                        </a:lnL>
                        <a:lnR w="12700" cap="flat" cmpd="sng" algn="ctr">
                          <a:noFill/>
                          <a:prstDash val="sysDashDotDot"/>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endParaRPr lang="zh-TW" altLang="en-US" sz="1200" dirty="0"/>
                        </a:p>
                      </a:txBody>
                      <a:tcPr anchor="ctr">
                        <a:lnL w="12700" cap="flat" cmpd="sng" algn="ctr">
                          <a:no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vert="eaVert"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ysDashDotDot"/>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vert="eaVert"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vert="eaVert"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vert="eaVert"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vert="eaVert"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vert="eaVert"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vert="eaVert"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vert="eaVert"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vert="eaVert"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vert="eaVert"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vert="eaVert"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42368780"/>
                      </a:ext>
                    </a:extLst>
                  </a:tr>
                  <a:tr h="324000">
                    <a:tc>
                      <a:txBody>
                        <a:bodyPr/>
                        <a:lstStyle/>
                        <a:p>
                          <a:pPr algn="ctr"/>
                          <a:endParaRPr lang="zh-TW" altLang="en-US" sz="1400" dirty="0"/>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altLang="zh-TW" sz="1200" dirty="0"/>
                            <a:t>21</a:t>
                          </a:r>
                          <a:endParaRPr lang="zh-TW" altLang="en-US" sz="12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ysDashDotDot"/>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TW" altLang="en-US"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𝛽</m:t>
                                </m:r>
                              </m:oMath>
                            </m:oMathPara>
                          </a14:m>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3544476"/>
                      </a:ext>
                    </a:extLst>
                  </a:tr>
                </a:tbl>
              </a:graphicData>
            </a:graphic>
          </p:graphicFrame>
        </mc:Choice>
        <mc:Fallback xmlns="">
          <p:graphicFrame>
            <p:nvGraphicFramePr>
              <p:cNvPr id="21" name="表格 20"/>
              <p:cNvGraphicFramePr>
                <a:graphicFrameLocks noGrp="1"/>
              </p:cNvGraphicFramePr>
              <p:nvPr/>
            </p:nvGraphicFramePr>
            <p:xfrm>
              <a:off x="5071050" y="689372"/>
              <a:ext cx="5544000" cy="6105120"/>
            </p:xfrm>
            <a:graphic>
              <a:graphicData uri="http://schemas.openxmlformats.org/drawingml/2006/table">
                <a:tbl>
                  <a:tblPr firstRow="1" bandRow="1">
                    <a:tableStyleId>{2D5ABB26-0587-4C30-8999-92F81FD0307C}</a:tableStyleId>
                  </a:tblPr>
                  <a:tblGrid>
                    <a:gridCol w="864000">
                      <a:extLst>
                        <a:ext uri="{9D8B030D-6E8A-4147-A177-3AD203B41FA5}">
                          <a16:colId xmlns:a16="http://schemas.microsoft.com/office/drawing/2014/main" val="665302035"/>
                        </a:ext>
                      </a:extLst>
                    </a:gridCol>
                    <a:gridCol w="360000">
                      <a:extLst>
                        <a:ext uri="{9D8B030D-6E8A-4147-A177-3AD203B41FA5}">
                          <a16:colId xmlns:a16="http://schemas.microsoft.com/office/drawing/2014/main" val="2153631969"/>
                        </a:ext>
                      </a:extLst>
                    </a:gridCol>
                    <a:gridCol w="360000">
                      <a:extLst>
                        <a:ext uri="{9D8B030D-6E8A-4147-A177-3AD203B41FA5}">
                          <a16:colId xmlns:a16="http://schemas.microsoft.com/office/drawing/2014/main" val="1595096996"/>
                        </a:ext>
                      </a:extLst>
                    </a:gridCol>
                    <a:gridCol w="360000">
                      <a:extLst>
                        <a:ext uri="{9D8B030D-6E8A-4147-A177-3AD203B41FA5}">
                          <a16:colId xmlns:a16="http://schemas.microsoft.com/office/drawing/2014/main" val="2095761553"/>
                        </a:ext>
                      </a:extLst>
                    </a:gridCol>
                    <a:gridCol w="360000">
                      <a:extLst>
                        <a:ext uri="{9D8B030D-6E8A-4147-A177-3AD203B41FA5}">
                          <a16:colId xmlns:a16="http://schemas.microsoft.com/office/drawing/2014/main" val="681670930"/>
                        </a:ext>
                      </a:extLst>
                    </a:gridCol>
                    <a:gridCol w="360000">
                      <a:extLst>
                        <a:ext uri="{9D8B030D-6E8A-4147-A177-3AD203B41FA5}">
                          <a16:colId xmlns:a16="http://schemas.microsoft.com/office/drawing/2014/main" val="540747862"/>
                        </a:ext>
                      </a:extLst>
                    </a:gridCol>
                    <a:gridCol w="360000">
                      <a:extLst>
                        <a:ext uri="{9D8B030D-6E8A-4147-A177-3AD203B41FA5}">
                          <a16:colId xmlns:a16="http://schemas.microsoft.com/office/drawing/2014/main" val="1174193760"/>
                        </a:ext>
                      </a:extLst>
                    </a:gridCol>
                    <a:gridCol w="360000">
                      <a:extLst>
                        <a:ext uri="{9D8B030D-6E8A-4147-A177-3AD203B41FA5}">
                          <a16:colId xmlns:a16="http://schemas.microsoft.com/office/drawing/2014/main" val="2040868736"/>
                        </a:ext>
                      </a:extLst>
                    </a:gridCol>
                    <a:gridCol w="360000">
                      <a:extLst>
                        <a:ext uri="{9D8B030D-6E8A-4147-A177-3AD203B41FA5}">
                          <a16:colId xmlns:a16="http://schemas.microsoft.com/office/drawing/2014/main" val="1538012115"/>
                        </a:ext>
                      </a:extLst>
                    </a:gridCol>
                    <a:gridCol w="360000">
                      <a:extLst>
                        <a:ext uri="{9D8B030D-6E8A-4147-A177-3AD203B41FA5}">
                          <a16:colId xmlns:a16="http://schemas.microsoft.com/office/drawing/2014/main" val="2612606182"/>
                        </a:ext>
                      </a:extLst>
                    </a:gridCol>
                    <a:gridCol w="360000">
                      <a:extLst>
                        <a:ext uri="{9D8B030D-6E8A-4147-A177-3AD203B41FA5}">
                          <a16:colId xmlns:a16="http://schemas.microsoft.com/office/drawing/2014/main" val="2968137960"/>
                        </a:ext>
                      </a:extLst>
                    </a:gridCol>
                    <a:gridCol w="360000">
                      <a:extLst>
                        <a:ext uri="{9D8B030D-6E8A-4147-A177-3AD203B41FA5}">
                          <a16:colId xmlns:a16="http://schemas.microsoft.com/office/drawing/2014/main" val="2378456948"/>
                        </a:ext>
                      </a:extLst>
                    </a:gridCol>
                    <a:gridCol w="360000">
                      <a:extLst>
                        <a:ext uri="{9D8B030D-6E8A-4147-A177-3AD203B41FA5}">
                          <a16:colId xmlns:a16="http://schemas.microsoft.com/office/drawing/2014/main" val="4089029598"/>
                        </a:ext>
                      </a:extLst>
                    </a:gridCol>
                    <a:gridCol w="360000">
                      <a:extLst>
                        <a:ext uri="{9D8B030D-6E8A-4147-A177-3AD203B41FA5}">
                          <a16:colId xmlns:a16="http://schemas.microsoft.com/office/drawing/2014/main" val="3024970534"/>
                        </a:ext>
                      </a:extLst>
                    </a:gridCol>
                  </a:tblGrid>
                  <a:tr h="335280">
                    <a:tc>
                      <a:txBody>
                        <a:bodyPr/>
                        <a:lstStyle/>
                        <a:p>
                          <a:pPr algn="r"/>
                          <a:endParaRPr lang="zh-TW" altLang="en-US" sz="1600" dirty="0"/>
                        </a:p>
                      </a:txBody>
                      <a:tcPr anchor="ctr">
                        <a:lnB>
                          <a:noFill/>
                        </a:lnB>
                      </a:tcPr>
                    </a:tc>
                    <a:tc>
                      <a:txBody>
                        <a:bodyPr/>
                        <a:lstStyle/>
                        <a:p>
                          <a:pPr algn="ctr"/>
                          <a:endParaRPr lang="zh-TW" altLang="en-US" sz="1400"/>
                        </a:p>
                      </a:txBody>
                      <a:tcPr anchor="ctr"/>
                    </a:tc>
                    <a:tc>
                      <a:txBody>
                        <a:bodyPr/>
                        <a:lstStyle/>
                        <a:p>
                          <a:pPr algn="ctr"/>
                          <a:r>
                            <a:rPr lang="en-US" altLang="zh-TW" sz="1400" dirty="0"/>
                            <a:t>1</a:t>
                          </a:r>
                          <a:endParaRPr lang="zh-TW" altLang="en-US" sz="1400" dirty="0"/>
                        </a:p>
                      </a:txBody>
                      <a:tcPr anchor="ctr">
                        <a:lnB w="12700" cap="flat" cmpd="sng" algn="ctr">
                          <a:solidFill>
                            <a:schemeClr val="tx1"/>
                          </a:solidFill>
                          <a:prstDash val="solid"/>
                          <a:round/>
                          <a:headEnd type="none" w="med" len="med"/>
                          <a:tailEnd type="none" w="med" len="med"/>
                        </a:lnB>
                      </a:tcPr>
                    </a:tc>
                    <a:tc>
                      <a:txBody>
                        <a:bodyPr/>
                        <a:lstStyle/>
                        <a:p>
                          <a:pPr algn="ctr"/>
                          <a:endParaRPr lang="zh-TW" altLang="en-US" sz="1400" dirty="0"/>
                        </a:p>
                      </a:txBody>
                      <a:tcPr anchor="ctr">
                        <a:lnB w="12700" cap="flat" cmpd="sng" algn="ctr">
                          <a:solidFill>
                            <a:schemeClr val="tx1"/>
                          </a:solidFill>
                          <a:prstDash val="sysDashDotDot"/>
                          <a:round/>
                          <a:headEnd type="none" w="med" len="med"/>
                          <a:tailEnd type="none" w="med" len="med"/>
                        </a:lnB>
                        <a:noFill/>
                      </a:tcPr>
                    </a:tc>
                    <a:tc>
                      <a:txBody>
                        <a:bodyPr/>
                        <a:lstStyle/>
                        <a:p>
                          <a:pPr algn="ctr"/>
                          <a:r>
                            <a:rPr lang="en-US" altLang="zh-TW" sz="1400" dirty="0"/>
                            <a:t>6</a:t>
                          </a:r>
                          <a:endParaRPr lang="zh-TW" altLang="en-US" sz="1400" dirty="0"/>
                        </a:p>
                      </a:txBody>
                      <a:tcPr anchor="ctr">
                        <a:lnB w="12700" cap="flat" cmpd="sng" algn="ctr">
                          <a:solidFill>
                            <a:schemeClr val="tx1"/>
                          </a:solidFill>
                          <a:prstDash val="solid"/>
                          <a:round/>
                          <a:headEnd type="none" w="med" len="med"/>
                          <a:tailEnd type="none" w="med" len="med"/>
                        </a:lnB>
                        <a:noFill/>
                      </a:tcPr>
                    </a:tc>
                    <a:tc>
                      <a:txBody>
                        <a:bodyPr/>
                        <a:lstStyle/>
                        <a:p>
                          <a:pPr algn="ctr"/>
                          <a:r>
                            <a:rPr lang="en-US" altLang="zh-TW" sz="1400" dirty="0"/>
                            <a:t>7</a:t>
                          </a:r>
                          <a:endParaRPr lang="zh-TW" altLang="en-US" sz="1400" dirty="0"/>
                        </a:p>
                      </a:txBody>
                      <a:tcPr anchor="ctr">
                        <a:lnB w="12700" cap="flat" cmpd="sng" algn="ctr">
                          <a:solidFill>
                            <a:schemeClr val="tx1"/>
                          </a:solidFill>
                          <a:prstDash val="solid"/>
                          <a:round/>
                          <a:headEnd type="none" w="med" len="med"/>
                          <a:tailEnd type="none" w="med" len="med"/>
                        </a:lnB>
                        <a:noFill/>
                      </a:tcPr>
                    </a:tc>
                    <a:tc>
                      <a:txBody>
                        <a:bodyPr/>
                        <a:lstStyle/>
                        <a:p>
                          <a:pPr algn="ctr"/>
                          <a:r>
                            <a:rPr lang="en-US" altLang="zh-TW" sz="1400" dirty="0"/>
                            <a:t>8</a:t>
                          </a:r>
                          <a:endParaRPr lang="zh-TW" altLang="en-US" sz="1400" dirty="0"/>
                        </a:p>
                      </a:txBody>
                      <a:tcPr anchor="ctr">
                        <a:lnB w="12700" cap="flat" cmpd="sng" algn="ctr">
                          <a:solidFill>
                            <a:schemeClr val="tx1"/>
                          </a:solidFill>
                          <a:prstDash val="solid"/>
                          <a:round/>
                          <a:headEnd type="none" w="med" len="med"/>
                          <a:tailEnd type="none" w="med" len="med"/>
                        </a:lnB>
                        <a:noFill/>
                      </a:tcPr>
                    </a:tc>
                    <a:tc>
                      <a:txBody>
                        <a:bodyPr/>
                        <a:lstStyle/>
                        <a:p>
                          <a:pPr algn="ctr"/>
                          <a:r>
                            <a:rPr lang="en-US" altLang="zh-TW" sz="1400" dirty="0"/>
                            <a:t>9</a:t>
                          </a:r>
                          <a:endParaRPr lang="zh-TW" altLang="en-US" sz="1400" dirty="0"/>
                        </a:p>
                      </a:txBody>
                      <a:tcPr anchor="ctr">
                        <a:lnB w="12700" cap="flat" cmpd="sng" algn="ctr">
                          <a:solidFill>
                            <a:schemeClr val="tx1"/>
                          </a:solidFill>
                          <a:prstDash val="solid"/>
                          <a:round/>
                          <a:headEnd type="none" w="med" len="med"/>
                          <a:tailEnd type="none" w="med" len="med"/>
                        </a:lnB>
                        <a:noFill/>
                      </a:tcPr>
                    </a:tc>
                    <a:tc>
                      <a:txBody>
                        <a:bodyPr/>
                        <a:lstStyle/>
                        <a:p>
                          <a:pPr algn="ctr"/>
                          <a:r>
                            <a:rPr lang="en-US" altLang="zh-TW" sz="1200" dirty="0"/>
                            <a:t>10</a:t>
                          </a:r>
                          <a:endParaRPr lang="zh-TW" altLang="en-US" sz="1200" dirty="0"/>
                        </a:p>
                      </a:txBody>
                      <a:tcPr anchor="ctr">
                        <a:lnB w="12700" cap="flat" cmpd="sng" algn="ctr">
                          <a:solidFill>
                            <a:schemeClr val="tx1"/>
                          </a:solidFill>
                          <a:prstDash val="solid"/>
                          <a:round/>
                          <a:headEnd type="none" w="med" len="med"/>
                          <a:tailEnd type="none" w="med" len="med"/>
                        </a:lnB>
                        <a:noFill/>
                      </a:tcPr>
                    </a:tc>
                    <a:tc>
                      <a:txBody>
                        <a:bodyPr/>
                        <a:lstStyle/>
                        <a:p>
                          <a:pPr algn="ctr"/>
                          <a:r>
                            <a:rPr lang="en-US" altLang="zh-TW" sz="1200" dirty="0"/>
                            <a:t>11</a:t>
                          </a:r>
                          <a:endParaRPr lang="zh-TW" altLang="en-US" sz="1200"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1200" dirty="0"/>
                            <a:t>12</a:t>
                          </a:r>
                          <a:endParaRPr lang="zh-TW" altLang="en-US" sz="1200"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1200" dirty="0"/>
                            <a:t>13</a:t>
                          </a:r>
                          <a:endParaRPr lang="zh-TW" altLang="en-US" sz="1200"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1200" dirty="0"/>
                            <a:t>14</a:t>
                          </a:r>
                          <a:endParaRPr lang="zh-TW" altLang="en-US" sz="1200" dirty="0"/>
                        </a:p>
                      </a:txBody>
                      <a:tcPr anchor="ctr">
                        <a:lnB w="12700" cap="flat" cmpd="sng" algn="ctr">
                          <a:solidFill>
                            <a:schemeClr val="tx1"/>
                          </a:solidFill>
                          <a:prstDash val="solid"/>
                          <a:round/>
                          <a:headEnd type="none" w="med" len="med"/>
                          <a:tailEnd type="none" w="med" len="med"/>
                        </a:lnB>
                      </a:tcPr>
                    </a:tc>
                    <a:tc>
                      <a:txBody>
                        <a:bodyPr/>
                        <a:lstStyle/>
                        <a:p>
                          <a:pPr algn="ctr"/>
                          <a:r>
                            <a:rPr lang="en-US" altLang="zh-TW" sz="1200" dirty="0"/>
                            <a:t>15</a:t>
                          </a:r>
                          <a:endParaRPr lang="zh-TW" altLang="en-US" sz="1200" dirty="0"/>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43982887"/>
                      </a:ext>
                    </a:extLst>
                  </a:tr>
                  <a:tr h="365760">
                    <a:tc rowSpan="3">
                      <a:txBody>
                        <a:bodyPr/>
                        <a:lstStyle/>
                        <a:p>
                          <a:pPr algn="r"/>
                          <a:endParaRPr lang="zh-TW" altLang="en-US" sz="1800" dirty="0"/>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altLang="zh-TW" sz="1800" dirty="0"/>
                            <a:t>1</a:t>
                          </a:r>
                          <a:endParaRPr lang="zh-TW" altLang="en-US" sz="18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40678" t="-91667" r="-1106780" b="-1493333"/>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ysDashDotDot"/>
                          <a:round/>
                          <a:headEnd type="none" w="med" len="med"/>
                          <a:tailEnd type="none" w="med" len="med"/>
                        </a:lnB>
                        <a:no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31667" t="-91667" r="-890000" b="-1493333"/>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42373" t="-91667" r="-805085" b="-1493333"/>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42373" t="-91667" r="-705085" b="-1493333"/>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842373" t="-91667" r="-605085" b="-1493333"/>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42373" t="-91667" r="-505085" b="-1493333"/>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42373" t="-91667" r="-405085" b="-1493333"/>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123333" t="-91667" r="-298333" b="-1493333"/>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244068" t="-91667" r="-203390" b="-1493333"/>
                          </a:stretch>
                        </a:blipFill>
                      </a:tcPr>
                    </a:tc>
                    <a:tc>
                      <a:txBody>
                        <a:bodyPr/>
                        <a:lstStyle/>
                        <a:p>
                          <a:endParaRPr lang="zh-TW"/>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344068" t="-91667" r="-103390" b="-1493333"/>
                          </a:stretch>
                        </a:blipFill>
                      </a:tcPr>
                    </a:tc>
                    <a:tc>
                      <a:txBody>
                        <a:bodyPr/>
                        <a:lstStyle/>
                        <a:p>
                          <a:endParaRPr lang="zh-TW"/>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444068" t="-91667" r="-3390" b="-1493333"/>
                          </a:stretch>
                        </a:blipFill>
                      </a:tcPr>
                    </a:tc>
                    <a:extLst>
                      <a:ext uri="{0D108BD9-81ED-4DB2-BD59-A6C34878D82A}">
                        <a16:rowId xmlns:a16="http://schemas.microsoft.com/office/drawing/2014/main" val="623125657"/>
                      </a:ext>
                    </a:extLst>
                  </a:tr>
                  <a:tr h="365760">
                    <a:tc vMerge="1">
                      <a:txBody>
                        <a:bodyPr/>
                        <a:lstStyle/>
                        <a:p>
                          <a:pPr algn="ctr"/>
                          <a:endParaRPr lang="zh-TW" altLang="en-US" sz="1400" dirty="0"/>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altLang="zh-TW" sz="1800" dirty="0"/>
                            <a:t>2</a:t>
                          </a:r>
                          <a:endParaRPr lang="zh-TW" altLang="en-US" sz="18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40678" t="-191667" r="-1106780" b="-1393333"/>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ysDashDotDot"/>
                          <a:round/>
                          <a:headEnd type="none" w="med" len="med"/>
                          <a:tailEnd type="none" w="med" len="med"/>
                        </a:lnB>
                        <a:no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31667" t="-191667" r="-890000" b="-1393333"/>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42373" t="-191667" r="-805085" b="-1393333"/>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42373" t="-191667" r="-705085" b="-1393333"/>
                          </a:stretch>
                        </a:blipFill>
                      </a:tcPr>
                    </a:tc>
                    <a:tc>
                      <a:txBody>
                        <a:bodyPr/>
                        <a:lstStyle/>
                        <a:p>
                          <a:endParaRPr lang="zh-TW"/>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842373" t="-191667" r="-605085" b="-1393333"/>
                          </a:stretch>
                        </a:blipFill>
                      </a:tcPr>
                    </a:tc>
                    <a:tc>
                      <a:txBody>
                        <a:bodyPr/>
                        <a:lstStyle/>
                        <a:p>
                          <a:endParaRPr lang="zh-TW"/>
                        </a:p>
                      </a:txBody>
                      <a:tcPr marL="77658" marR="77658" marT="38829" marB="38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42373" t="-191667" r="-505085" b="-1393333"/>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42373" t="-191667" r="-405085" b="-1393333"/>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123333" t="-191667" r="-298333" b="-1393333"/>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244068" t="-191667" r="-203390" b="-1393333"/>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344068" t="-191667" r="-103390" b="-1393333"/>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444068" t="-191667" r="-3390" b="-1393333"/>
                          </a:stretch>
                        </a:blipFill>
                      </a:tcPr>
                    </a:tc>
                    <a:extLst>
                      <a:ext uri="{0D108BD9-81ED-4DB2-BD59-A6C34878D82A}">
                        <a16:rowId xmlns:a16="http://schemas.microsoft.com/office/drawing/2014/main" val="386858302"/>
                      </a:ext>
                    </a:extLst>
                  </a:tr>
                  <a:tr h="365760">
                    <a:tc vMerge="1">
                      <a:txBody>
                        <a:bodyPr/>
                        <a:lstStyle/>
                        <a:p>
                          <a:pPr algn="ctr"/>
                          <a:endParaRPr lang="zh-TW" altLang="en-US" sz="1400" dirty="0"/>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altLang="zh-TW" sz="1800" dirty="0"/>
                            <a:t>3</a:t>
                          </a:r>
                          <a:endParaRPr lang="zh-TW" altLang="en-US" sz="18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40678" t="-291667" r="-1106780" b="-1293333"/>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ysDashDotDot"/>
                          <a:round/>
                          <a:headEnd type="none" w="med" len="med"/>
                          <a:tailEnd type="none" w="med" len="med"/>
                        </a:lnB>
                        <a:no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31667" t="-291667" r="-890000" b="-1293333"/>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42373" t="-291667" r="-805085" b="-1293333"/>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42373" t="-291667" r="-705085" b="-1293333"/>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842373" t="-291667" r="-605085" b="-1293333"/>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42373" t="-291667" r="-505085" b="-1293333"/>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42373" t="-291667" r="-405085" b="-1293333"/>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123333" t="-291667" r="-298333" b="-1293333"/>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244068" t="-291667" r="-203390" b="-1293333"/>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344068" t="-291667" r="-103390" b="-1293333"/>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444068" t="-291667" r="-3390" b="-1293333"/>
                          </a:stretch>
                        </a:blipFill>
                      </a:tcPr>
                    </a:tc>
                    <a:extLst>
                      <a:ext uri="{0D108BD9-81ED-4DB2-BD59-A6C34878D82A}">
                        <a16:rowId xmlns:a16="http://schemas.microsoft.com/office/drawing/2014/main" val="3142558973"/>
                      </a:ext>
                    </a:extLst>
                  </a:tr>
                  <a:tr h="365760">
                    <a:tc rowSpan="3">
                      <a:txBody>
                        <a:bodyPr/>
                        <a:lstStyle/>
                        <a:p>
                          <a:endParaRPr lang="zh-TW"/>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blipFill>
                          <a:blip r:embed="rId4"/>
                          <a:stretch>
                            <a:fillRect t="-130556" r="-542958" b="-331111"/>
                          </a:stretch>
                        </a:blipFill>
                      </a:tcPr>
                    </a:tc>
                    <a:tc>
                      <a:txBody>
                        <a:bodyPr/>
                        <a:lstStyle/>
                        <a:p>
                          <a:pPr algn="ctr"/>
                          <a:r>
                            <a:rPr lang="en-US" altLang="zh-TW" sz="1800" dirty="0"/>
                            <a:t>4</a:t>
                          </a:r>
                          <a:endParaRPr lang="zh-TW" altLang="en-US" sz="18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40678" t="-391667" r="-1106780" b="-1193333"/>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ysDashDotDot"/>
                          <a:round/>
                          <a:headEnd type="none" w="med" len="med"/>
                          <a:tailEnd type="none" w="med" len="med"/>
                        </a:lnB>
                        <a:no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31667" t="-391667" r="-890000" b="-1193333"/>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42373" t="-391667" r="-805085" b="-1193333"/>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42373" t="-391667" r="-705085" b="-1193333"/>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842373" t="-391667" r="-605085" b="-1193333"/>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42373" t="-391667" r="-505085" b="-1193333"/>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42373" t="-391667" r="-405085" b="-1193333"/>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123333" t="-391667" r="-298333" b="-1193333"/>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244068" t="-391667" r="-203390" b="-1193333"/>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344068" t="-391667" r="-103390" b="-1193333"/>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444068" t="-391667" r="-3390" b="-1193333"/>
                          </a:stretch>
                        </a:blipFill>
                      </a:tcPr>
                    </a:tc>
                    <a:extLst>
                      <a:ext uri="{0D108BD9-81ED-4DB2-BD59-A6C34878D82A}">
                        <a16:rowId xmlns:a16="http://schemas.microsoft.com/office/drawing/2014/main" val="1638639852"/>
                      </a:ext>
                    </a:extLst>
                  </a:tr>
                  <a:tr h="365760">
                    <a:tc vMerge="1">
                      <a:txBody>
                        <a:bodyPr/>
                        <a:lstStyle/>
                        <a:p>
                          <a:pPr algn="ctr"/>
                          <a:endParaRPr lang="zh-TW" altLang="en-US" sz="1400" dirty="0"/>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altLang="zh-TW" sz="1800" dirty="0"/>
                            <a:t>5</a:t>
                          </a:r>
                          <a:endParaRPr lang="zh-TW" altLang="en-US" sz="18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40678" t="-491667" r="-1106780" b="-1093333"/>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ysDashDotDot"/>
                          <a:round/>
                          <a:headEnd type="none" w="med" len="med"/>
                          <a:tailEnd type="none" w="med" len="med"/>
                        </a:lnB>
                        <a:no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31667" t="-491667" r="-890000" b="-1093333"/>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42373" t="-491667" r="-805085" b="-1093333"/>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42373" t="-491667" r="-705085" b="-1093333"/>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842373" t="-491667" r="-605085" b="-1093333"/>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42373" t="-491667" r="-505085" b="-1093333"/>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42373" t="-491667" r="-405085" b="-1093333"/>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123333" t="-491667" r="-298333" b="-1093333"/>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244068" t="-491667" r="-203390" b="-1093333"/>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344068" t="-491667" r="-103390" b="-1093333"/>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444068" t="-491667" r="-3390" b="-1093333"/>
                          </a:stretch>
                        </a:blipFill>
                      </a:tcPr>
                    </a:tc>
                    <a:extLst>
                      <a:ext uri="{0D108BD9-81ED-4DB2-BD59-A6C34878D82A}">
                        <a16:rowId xmlns:a16="http://schemas.microsoft.com/office/drawing/2014/main" val="1671178406"/>
                      </a:ext>
                    </a:extLst>
                  </a:tr>
                  <a:tr h="365760">
                    <a:tc vMerge="1">
                      <a:txBody>
                        <a:bodyPr/>
                        <a:lstStyle/>
                        <a:p>
                          <a:pPr algn="ctr"/>
                          <a:endParaRPr lang="zh-TW" altLang="en-US" sz="1400" dirty="0"/>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altLang="zh-TW" sz="1800" dirty="0"/>
                            <a:t>6</a:t>
                          </a:r>
                          <a:endParaRPr lang="zh-TW" altLang="en-US" sz="18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40678" t="-591667" r="-1106780" b="-993333"/>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ysDashDotDot"/>
                          <a:round/>
                          <a:headEnd type="none" w="med" len="med"/>
                          <a:tailEnd type="none" w="med" len="med"/>
                        </a:lnB>
                        <a:no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31667" t="-591667" r="-890000" b="-993333"/>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42373" t="-591667" r="-805085" b="-993333"/>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42373" t="-591667" r="-705085" b="-993333"/>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842373" t="-591667" r="-605085" b="-993333"/>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42373" t="-591667" r="-505085" b="-993333"/>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42373" t="-591667" r="-405085" b="-993333"/>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123333" t="-591667" r="-298333" b="-993333"/>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244068" t="-591667" r="-203390" b="-993333"/>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344068" t="-591667" r="-103390" b="-993333"/>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444068" t="-591667" r="-3390" b="-993333"/>
                          </a:stretch>
                        </a:blipFill>
                      </a:tcPr>
                    </a:tc>
                    <a:extLst>
                      <a:ext uri="{0D108BD9-81ED-4DB2-BD59-A6C34878D82A}">
                        <a16:rowId xmlns:a16="http://schemas.microsoft.com/office/drawing/2014/main" val="3911404706"/>
                      </a:ext>
                    </a:extLst>
                  </a:tr>
                  <a:tr h="324000">
                    <a:tc rowSpan="3" gridSpan="2">
                      <a:txBody>
                        <a:bodyPr/>
                        <a:lstStyle/>
                        <a:p>
                          <a:endParaRPr lang="zh-TW"/>
                        </a:p>
                      </a:txBody>
                      <a:tcPr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blipFill>
                          <a:blip r:embed="rId4"/>
                          <a:stretch>
                            <a:fillRect t="-259375" r="-354229" b="-272500"/>
                          </a:stretch>
                        </a:blipFill>
                      </a:tcPr>
                    </a:tc>
                    <a:tc rowSpan="3" hMerge="1">
                      <a:txBody>
                        <a:bodyPr/>
                        <a:lstStyle/>
                        <a:p>
                          <a:pPr algn="ctr"/>
                          <a:endParaRPr lang="zh-TW" altLang="en-US" sz="1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40678" t="-783019" r="-1106780" b="-1024528"/>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ysDashDotDot"/>
                          <a:round/>
                          <a:headEnd type="none" w="med" len="med"/>
                          <a:tailEnd type="none" w="med" len="med"/>
                        </a:lnB>
                        <a:no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31667" t="-783019" r="-890000" b="-1024528"/>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42373" t="-783019" r="-805085" b="-1024528"/>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42373" t="-783019" r="-705085" b="-1024528"/>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842373" t="-783019" r="-605085" b="-1024528"/>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42373" t="-783019" r="-505085" b="-1024528"/>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42373" t="-783019" r="-405085" b="-1024528"/>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123333" t="-783019" r="-298333" b="-1024528"/>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244068" t="-783019" r="-203390" b="-1024528"/>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344068" t="-783019" r="-103390" b="-1024528"/>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444068" t="-783019" r="-3390" b="-1024528"/>
                          </a:stretch>
                        </a:blipFill>
                      </a:tcPr>
                    </a:tc>
                    <a:extLst>
                      <a:ext uri="{0D108BD9-81ED-4DB2-BD59-A6C34878D82A}">
                        <a16:rowId xmlns:a16="http://schemas.microsoft.com/office/drawing/2014/main" val="72990075"/>
                      </a:ext>
                    </a:extLst>
                  </a:tr>
                  <a:tr h="324000">
                    <a:tc gridSpan="2" vMerge="1">
                      <a:txBody>
                        <a:bodyPr/>
                        <a:lstStyle/>
                        <a:p>
                          <a:pPr algn="ctr"/>
                          <a:endParaRPr lang="zh-TW" altLang="en-US" sz="1400" dirty="0"/>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hMerge="1" vMerge="1">
                      <a:txBody>
                        <a:bodyPr/>
                        <a:lstStyle/>
                        <a:p>
                          <a:pPr algn="ctr"/>
                          <a:endParaRPr lang="zh-TW" altLang="en-US" sz="1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40678" t="-866667" r="-1106780" b="-905556"/>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ysDashDotDot"/>
                          <a:round/>
                          <a:headEnd type="none" w="med" len="med"/>
                          <a:tailEnd type="none" w="med" len="med"/>
                        </a:lnB>
                        <a:no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31667" t="-866667" r="-890000" b="-905556"/>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42373" t="-866667" r="-805085" b="-905556"/>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42373" t="-866667" r="-705085" b="-905556"/>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842373" t="-866667" r="-605085" b="-905556"/>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42373" t="-866667" r="-505085" b="-905556"/>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42373" t="-866667" r="-405085" b="-905556"/>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123333" t="-866667" r="-298333" b="-905556"/>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244068" t="-866667" r="-203390" b="-905556"/>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344068" t="-866667" r="-103390" b="-905556"/>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444068" t="-866667" r="-3390" b="-905556"/>
                          </a:stretch>
                        </a:blipFill>
                      </a:tcPr>
                    </a:tc>
                    <a:extLst>
                      <a:ext uri="{0D108BD9-81ED-4DB2-BD59-A6C34878D82A}">
                        <a16:rowId xmlns:a16="http://schemas.microsoft.com/office/drawing/2014/main" val="1399197756"/>
                      </a:ext>
                    </a:extLst>
                  </a:tr>
                  <a:tr h="324000">
                    <a:tc gridSpan="2" vMerge="1">
                      <a:txBody>
                        <a:bodyPr/>
                        <a:lstStyle/>
                        <a:p>
                          <a:pPr algn="ctr"/>
                          <a:endParaRPr lang="zh-TW" altLang="en-US" sz="1400" dirty="0"/>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hMerge="1" vMerge="1">
                      <a:txBody>
                        <a:bodyPr/>
                        <a:lstStyle/>
                        <a:p>
                          <a:pPr algn="ctr"/>
                          <a:endParaRPr lang="zh-TW" altLang="en-US" sz="14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40678" t="-984906" r="-1106780" b="-822642"/>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ysDashDotDot"/>
                          <a:round/>
                          <a:headEnd type="none" w="med" len="med"/>
                          <a:tailEnd type="none" w="med" len="med"/>
                        </a:lnB>
                        <a:no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31667" t="-984906" r="-890000" b="-822642"/>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42373" t="-984906" r="-805085" b="-822642"/>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42373" t="-984906" r="-705085" b="-822642"/>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842373" t="-984906" r="-605085" b="-822642"/>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42373" t="-984906" r="-505085" b="-822642"/>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42373" t="-984906" r="-405085" b="-822642"/>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123333" t="-984906" r="-298333" b="-822642"/>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244068" t="-984906" r="-203390" b="-822642"/>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344068" t="-984906" r="-103390" b="-822642"/>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444068" t="-984906" r="-3390" b="-822642"/>
                          </a:stretch>
                        </a:blipFill>
                      </a:tcPr>
                    </a:tc>
                    <a:extLst>
                      <a:ext uri="{0D108BD9-81ED-4DB2-BD59-A6C34878D82A}">
                        <a16:rowId xmlns:a16="http://schemas.microsoft.com/office/drawing/2014/main" val="1252285656"/>
                      </a:ext>
                    </a:extLst>
                  </a:tr>
                  <a:tr h="324000">
                    <a:tc rowSpan="3" gridSpan="2">
                      <a:txBody>
                        <a:bodyPr/>
                        <a:lstStyle/>
                        <a:p>
                          <a:endParaRPr lang="zh-TW"/>
                        </a:p>
                      </a:txBody>
                      <a:tcPr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blipFill>
                          <a:blip r:embed="rId4"/>
                          <a:stretch>
                            <a:fillRect t="-361635" r="-354229" b="-174214"/>
                          </a:stretch>
                        </a:blipFill>
                      </a:tcPr>
                    </a:tc>
                    <a:tc rowSpan="3" hMerge="1">
                      <a:txBody>
                        <a:bodyPr/>
                        <a:lstStyle/>
                        <a:p>
                          <a:pPr algn="ctr"/>
                          <a:endParaRPr lang="zh-TW" altLang="en-US" sz="12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40678" t="-1084906" r="-1106780" b="-722642"/>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ysDashDotDot"/>
                          <a:round/>
                          <a:headEnd type="none" w="med" len="med"/>
                          <a:tailEnd type="none" w="med" len="med"/>
                        </a:lnB>
                        <a:no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31667" t="-1084906" r="-890000" b="-722642"/>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42373" t="-1084906" r="-805085" b="-722642"/>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42373" t="-1084906" r="-705085" b="-722642"/>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842373" t="-1084906" r="-605085" b="-722642"/>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42373" t="-1084906" r="-505085" b="-722642"/>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42373" t="-1084906" r="-405085" b="-722642"/>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123333" t="-1084906" r="-298333" b="-722642"/>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244068" t="-1084906" r="-203390" b="-722642"/>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344068" t="-1084906" r="-103390" b="-722642"/>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444068" t="-1084906" r="-3390" b="-722642"/>
                          </a:stretch>
                        </a:blipFill>
                      </a:tcPr>
                    </a:tc>
                    <a:extLst>
                      <a:ext uri="{0D108BD9-81ED-4DB2-BD59-A6C34878D82A}">
                        <a16:rowId xmlns:a16="http://schemas.microsoft.com/office/drawing/2014/main" val="870218796"/>
                      </a:ext>
                    </a:extLst>
                  </a:tr>
                  <a:tr h="324000">
                    <a:tc gridSpan="2" vMerge="1">
                      <a:txBody>
                        <a:bodyPr/>
                        <a:lstStyle/>
                        <a:p>
                          <a:pPr algn="ctr"/>
                          <a:endParaRPr lang="zh-TW" altLang="en-US" sz="1200" dirty="0"/>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hMerge="1" vMerge="1">
                      <a:txBody>
                        <a:bodyPr/>
                        <a:lstStyle/>
                        <a:p>
                          <a:pPr algn="ctr"/>
                          <a:endParaRPr lang="zh-TW" altLang="en-US" sz="12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40678" t="-1184906" r="-1106780" b="-622642"/>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ysDashDotDot"/>
                          <a:round/>
                          <a:headEnd type="none" w="med" len="med"/>
                          <a:tailEnd type="none" w="med" len="med"/>
                        </a:lnB>
                        <a:no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31667" t="-1184906" r="-890000" b="-622642"/>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42373" t="-1184906" r="-805085" b="-622642"/>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42373" t="-1184906" r="-705085" b="-622642"/>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842373" t="-1184906" r="-605085" b="-622642"/>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42373" t="-1184906" r="-505085" b="-622642"/>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42373" t="-1184906" r="-405085" b="-622642"/>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123333" t="-1184906" r="-298333" b="-622642"/>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244068" t="-1184906" r="-203390" b="-622642"/>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344068" t="-1184906" r="-103390" b="-622642"/>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444068" t="-1184906" r="-3390" b="-622642"/>
                          </a:stretch>
                        </a:blipFill>
                      </a:tcPr>
                    </a:tc>
                    <a:extLst>
                      <a:ext uri="{0D108BD9-81ED-4DB2-BD59-A6C34878D82A}">
                        <a16:rowId xmlns:a16="http://schemas.microsoft.com/office/drawing/2014/main" val="1984362165"/>
                      </a:ext>
                    </a:extLst>
                  </a:tr>
                  <a:tr h="324000">
                    <a:tc gridSpan="2" vMerge="1">
                      <a:txBody>
                        <a:bodyPr/>
                        <a:lstStyle/>
                        <a:p>
                          <a:pPr algn="ctr"/>
                          <a:endParaRPr lang="zh-TW" altLang="en-US" sz="1200" dirty="0"/>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hMerge="1" vMerge="1">
                      <a:txBody>
                        <a:bodyPr/>
                        <a:lstStyle/>
                        <a:p>
                          <a:pPr algn="ctr"/>
                          <a:endParaRPr lang="zh-TW" altLang="en-US" sz="12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40678" t="-1284906" r="-1106780" b="-522642"/>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ysDashDotDot"/>
                          <a:round/>
                          <a:headEnd type="none" w="med" len="med"/>
                          <a:tailEnd type="none" w="med" len="med"/>
                        </a:lnB>
                        <a:no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31667" t="-1284906" r="-890000" b="-522642"/>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42373" t="-1284906" r="-805085" b="-522642"/>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42373" t="-1284906" r="-705085" b="-522642"/>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842373" t="-1284906" r="-605085" b="-522642"/>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42373" t="-1284906" r="-505085" b="-522642"/>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42373" t="-1284906" r="-405085" b="-522642"/>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123333" t="-1284906" r="-298333" b="-522642"/>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244068" t="-1284906" r="-203390" b="-522642"/>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344068" t="-1284906" r="-103390" b="-522642"/>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444068" t="-1284906" r="-3390" b="-522642"/>
                          </a:stretch>
                        </a:blipFill>
                      </a:tcPr>
                    </a:tc>
                    <a:extLst>
                      <a:ext uri="{0D108BD9-81ED-4DB2-BD59-A6C34878D82A}">
                        <a16:rowId xmlns:a16="http://schemas.microsoft.com/office/drawing/2014/main" val="3702963591"/>
                      </a:ext>
                    </a:extLst>
                  </a:tr>
                  <a:tr h="324000">
                    <a:tc rowSpan="3" gridSpan="2">
                      <a:txBody>
                        <a:bodyPr/>
                        <a:lstStyle/>
                        <a:p>
                          <a:endParaRPr lang="zh-TW"/>
                        </a:p>
                      </a:txBody>
                      <a:tcPr anchor="ctr">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blipFill>
                          <a:blip r:embed="rId4"/>
                          <a:stretch>
                            <a:fillRect t="-458750" r="-354229" b="-73125"/>
                          </a:stretch>
                        </a:blipFill>
                      </a:tcPr>
                    </a:tc>
                    <a:tc rowSpan="3" hMerge="1">
                      <a:txBody>
                        <a:bodyPr/>
                        <a:lstStyle/>
                        <a:p>
                          <a:pPr algn="ctr"/>
                          <a:endParaRPr lang="zh-TW" altLang="en-US" sz="12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40678" t="-1384906" r="-1106780" b="-422642"/>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ysDashDotDot"/>
                          <a:round/>
                          <a:headEnd type="none" w="med" len="med"/>
                          <a:tailEnd type="none" w="med" len="med"/>
                        </a:lnB>
                        <a:no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31667" t="-1384906" r="-890000" b="-422642"/>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42373" t="-1384906" r="-805085" b="-422642"/>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42373" t="-1384906" r="-705085" b="-422642"/>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842373" t="-1384906" r="-605085" b="-422642"/>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42373" t="-1384906" r="-505085" b="-422642"/>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42373" t="-1384906" r="-405085" b="-422642"/>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123333" t="-1384906" r="-298333" b="-422642"/>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244068" t="-1384906" r="-203390" b="-422642"/>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344068" t="-1384906" r="-103390" b="-422642"/>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444068" t="-1384906" r="-3390" b="-422642"/>
                          </a:stretch>
                        </a:blipFill>
                      </a:tcPr>
                    </a:tc>
                    <a:extLst>
                      <a:ext uri="{0D108BD9-81ED-4DB2-BD59-A6C34878D82A}">
                        <a16:rowId xmlns:a16="http://schemas.microsoft.com/office/drawing/2014/main" val="4238028935"/>
                      </a:ext>
                    </a:extLst>
                  </a:tr>
                  <a:tr h="324000">
                    <a:tc gridSpan="2" vMerge="1">
                      <a:txBody>
                        <a:bodyPr/>
                        <a:lstStyle/>
                        <a:p>
                          <a:pPr algn="ctr"/>
                          <a:endParaRPr lang="zh-TW" altLang="en-US" sz="1200" dirty="0"/>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hMerge="1" vMerge="1">
                      <a:txBody>
                        <a:bodyPr/>
                        <a:lstStyle/>
                        <a:p>
                          <a:pPr algn="ctr"/>
                          <a:endParaRPr lang="zh-TW" altLang="en-US" sz="12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40678" t="-1457407" r="-1106780" b="-314815"/>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ysDashDotDot"/>
                          <a:round/>
                          <a:headEnd type="none" w="med" len="med"/>
                          <a:tailEnd type="none" w="med" len="med"/>
                        </a:lnB>
                        <a:no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31667" t="-1457407" r="-890000" b="-314815"/>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42373" t="-1457407" r="-805085" b="-314815"/>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42373" t="-1457407" r="-705085" b="-314815"/>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842373" t="-1457407" r="-605085" b="-314815"/>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42373" t="-1457407" r="-505085" b="-314815"/>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42373" t="-1457407" r="-405085" b="-314815"/>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123333" t="-1457407" r="-298333" b="-314815"/>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244068" t="-1457407" r="-203390" b="-314815"/>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344068" t="-1457407" r="-103390" b="-314815"/>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444068" t="-1457407" r="-3390" b="-314815"/>
                          </a:stretch>
                        </a:blipFill>
                      </a:tcPr>
                    </a:tc>
                    <a:extLst>
                      <a:ext uri="{0D108BD9-81ED-4DB2-BD59-A6C34878D82A}">
                        <a16:rowId xmlns:a16="http://schemas.microsoft.com/office/drawing/2014/main" val="2007011822"/>
                      </a:ext>
                    </a:extLst>
                  </a:tr>
                  <a:tr h="324000">
                    <a:tc gridSpan="2" vMerge="1">
                      <a:txBody>
                        <a:bodyPr/>
                        <a:lstStyle/>
                        <a:p>
                          <a:pPr algn="ctr"/>
                          <a:endParaRPr lang="zh-TW" altLang="en-US" sz="1200" dirty="0"/>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hMerge="1" vMerge="1">
                      <a:txBody>
                        <a:bodyPr/>
                        <a:lstStyle/>
                        <a:p>
                          <a:pPr algn="ctr"/>
                          <a:endParaRPr lang="zh-TW" altLang="en-US" sz="12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40678" t="-1586792" r="-1106780" b="-220755"/>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ysDashDotDot"/>
                          <a:round/>
                          <a:headEnd type="none" w="med" len="med"/>
                          <a:tailEnd type="none" w="med" len="med"/>
                        </a:lnB>
                        <a:no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31667" t="-1586792" r="-890000" b="-220755"/>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42373" t="-1586792" r="-805085" b="-220755"/>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42373" t="-1586792" r="-705085" b="-220755"/>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842373" t="-1586792" r="-605085" b="-220755"/>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42373" t="-1586792" r="-505085" b="-220755"/>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42373" t="-1586792" r="-405085" b="-220755"/>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123333" t="-1586792" r="-298333" b="-220755"/>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244068" t="-1586792" r="-203390" b="-220755"/>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344068" t="-1586792" r="-103390" b="-220755"/>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444068" t="-1586792" r="-3390" b="-220755"/>
                          </a:stretch>
                        </a:blipFill>
                      </a:tcPr>
                    </a:tc>
                    <a:extLst>
                      <a:ext uri="{0D108BD9-81ED-4DB2-BD59-A6C34878D82A}">
                        <a16:rowId xmlns:a16="http://schemas.microsoft.com/office/drawing/2014/main" val="176459192"/>
                      </a:ext>
                    </a:extLst>
                  </a:tr>
                  <a:tr h="335280">
                    <a:tc>
                      <a:txBody>
                        <a:bodyPr/>
                        <a:lstStyle/>
                        <a:p>
                          <a:pPr algn="r"/>
                          <a:endParaRPr lang="zh-TW" altLang="en-US" sz="1600" dirty="0"/>
                        </a:p>
                      </a:txBody>
                      <a:tcPr anchor="ctr">
                        <a:lnL>
                          <a:noFill/>
                        </a:lnL>
                        <a:lnR w="12700" cap="flat" cmpd="sng" algn="ctr">
                          <a:noFill/>
                          <a:prstDash val="sysDashDotDot"/>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endParaRPr lang="zh-TW" altLang="en-US" sz="1200" dirty="0"/>
                        </a:p>
                      </a:txBody>
                      <a:tcPr anchor="ctr">
                        <a:lnL w="12700" cap="flat" cmpd="sng" algn="ctr">
                          <a:no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vert="eaVert"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ysDashDotDot"/>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vert="eaVert"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vert="eaVert"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vert="eaVert"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vert="eaVert"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vert="eaVert"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vert="eaVert"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vert="eaVert"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vert="eaVert"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vert="eaVert"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vert="eaVert" anchor="ctr">
                        <a:lnL w="12700" cap="flat" cmpd="sng" algn="ctr">
                          <a:solidFill>
                            <a:schemeClr val="tx1"/>
                          </a:solidFill>
                          <a:prstDash val="sysDashDotDot"/>
                          <a:round/>
                          <a:headEnd type="none" w="med" len="med"/>
                          <a:tailEnd type="none" w="med" len="med"/>
                        </a:lnL>
                        <a:lnR w="12700" cap="flat" cmpd="sng" algn="ctr">
                          <a:solidFill>
                            <a:schemeClr val="tx1"/>
                          </a:solidFill>
                          <a:prstDash val="sysDashDot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42368780"/>
                      </a:ext>
                    </a:extLst>
                  </a:tr>
                  <a:tr h="324000">
                    <a:tc>
                      <a:txBody>
                        <a:bodyPr/>
                        <a:lstStyle/>
                        <a:p>
                          <a:pPr algn="ctr"/>
                          <a:endParaRPr lang="zh-TW" altLang="en-US" sz="1400" dirty="0"/>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altLang="zh-TW" sz="1200" dirty="0"/>
                            <a:t>21</a:t>
                          </a:r>
                          <a:endParaRPr lang="zh-TW" altLang="en-US" sz="12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40678" t="-1790566" r="-1106780" b="-16981"/>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1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ashDotDot"/>
                          <a:round/>
                          <a:headEnd type="none" w="med" len="med"/>
                          <a:tailEnd type="none" w="med" len="med"/>
                        </a:lnT>
                        <a:lnB w="12700" cap="flat" cmpd="sng" algn="ctr">
                          <a:solidFill>
                            <a:schemeClr val="tx1"/>
                          </a:solidFill>
                          <a:prstDash val="sysDashDotDot"/>
                          <a:round/>
                          <a:headEnd type="none" w="med" len="med"/>
                          <a:tailEnd type="none" w="med" len="med"/>
                        </a:lnB>
                        <a:no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31667" t="-1790566" r="-890000" b="-16981"/>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42373" t="-1790566" r="-805085" b="-16981"/>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42373" t="-1790566" r="-705085" b="-16981"/>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842373" t="-1790566" r="-605085" b="-16981"/>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42373" t="-1790566" r="-505085" b="-16981"/>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42373" t="-1790566" r="-405085" b="-16981"/>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123333" t="-1790566" r="-298333" b="-16981"/>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244068" t="-1790566" r="-203390" b="-16981"/>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344068" t="-1790566" r="-103390" b="-16981"/>
                          </a:stretch>
                        </a:blipFill>
                      </a:tcPr>
                    </a:tc>
                    <a:tc>
                      <a:txBody>
                        <a:bodyPr/>
                        <a:lstStyle/>
                        <a:p>
                          <a:endParaRPr lang="zh-TW"/>
                        </a:p>
                      </a:txBody>
                      <a:tcPr marL="46582" marR="46582" marT="23291" marB="232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444068" t="-1790566" r="-3390" b="-16981"/>
                          </a:stretch>
                        </a:blipFill>
                      </a:tcPr>
                    </a:tc>
                    <a:extLst>
                      <a:ext uri="{0D108BD9-81ED-4DB2-BD59-A6C34878D82A}">
                        <a16:rowId xmlns:a16="http://schemas.microsoft.com/office/drawing/2014/main" val="368354447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3" name="表格 32"/>
              <p:cNvGraphicFramePr>
                <a:graphicFrameLocks noGrp="1"/>
              </p:cNvGraphicFramePr>
              <p:nvPr/>
            </p:nvGraphicFramePr>
            <p:xfrm>
              <a:off x="2108590" y="5123413"/>
              <a:ext cx="2772000" cy="1584960"/>
            </p:xfrm>
            <a:graphic>
              <a:graphicData uri="http://schemas.openxmlformats.org/drawingml/2006/table">
                <a:tbl>
                  <a:tblPr firstRow="1" bandRow="1">
                    <a:tableStyleId>{5940675A-B579-460E-94D1-54222C63F5DA}</a:tableStyleId>
                  </a:tblPr>
                  <a:tblGrid>
                    <a:gridCol w="396000">
                      <a:extLst>
                        <a:ext uri="{9D8B030D-6E8A-4147-A177-3AD203B41FA5}">
                          <a16:colId xmlns:a16="http://schemas.microsoft.com/office/drawing/2014/main" val="1281707070"/>
                        </a:ext>
                      </a:extLst>
                    </a:gridCol>
                    <a:gridCol w="396000">
                      <a:extLst>
                        <a:ext uri="{9D8B030D-6E8A-4147-A177-3AD203B41FA5}">
                          <a16:colId xmlns:a16="http://schemas.microsoft.com/office/drawing/2014/main" val="3514700436"/>
                        </a:ext>
                      </a:extLst>
                    </a:gridCol>
                    <a:gridCol w="396000">
                      <a:extLst>
                        <a:ext uri="{9D8B030D-6E8A-4147-A177-3AD203B41FA5}">
                          <a16:colId xmlns:a16="http://schemas.microsoft.com/office/drawing/2014/main" val="1860103807"/>
                        </a:ext>
                      </a:extLst>
                    </a:gridCol>
                    <a:gridCol w="396000">
                      <a:extLst>
                        <a:ext uri="{9D8B030D-6E8A-4147-A177-3AD203B41FA5}">
                          <a16:colId xmlns:a16="http://schemas.microsoft.com/office/drawing/2014/main" val="2390354494"/>
                        </a:ext>
                      </a:extLst>
                    </a:gridCol>
                    <a:gridCol w="396000">
                      <a:extLst>
                        <a:ext uri="{9D8B030D-6E8A-4147-A177-3AD203B41FA5}">
                          <a16:colId xmlns:a16="http://schemas.microsoft.com/office/drawing/2014/main" val="682611296"/>
                        </a:ext>
                      </a:extLst>
                    </a:gridCol>
                    <a:gridCol w="396000">
                      <a:extLst>
                        <a:ext uri="{9D8B030D-6E8A-4147-A177-3AD203B41FA5}">
                          <a16:colId xmlns:a16="http://schemas.microsoft.com/office/drawing/2014/main" val="2960854431"/>
                        </a:ext>
                      </a:extLst>
                    </a:gridCol>
                    <a:gridCol w="396000">
                      <a:extLst>
                        <a:ext uri="{9D8B030D-6E8A-4147-A177-3AD203B41FA5}">
                          <a16:colId xmlns:a16="http://schemas.microsoft.com/office/drawing/2014/main" val="1775137844"/>
                        </a:ext>
                      </a:extLst>
                    </a:gridCol>
                  </a:tblGrid>
                  <a:tr h="396000">
                    <a:tc gridSpan="3">
                      <a:txBody>
                        <a:bodyPr/>
                        <a:lstStyle/>
                        <a:p>
                          <a:pPr algn="ctr"/>
                          <a:r>
                            <a:rPr lang="en-US" altLang="zh-TW" sz="2000" dirty="0">
                              <a:latin typeface="Times New Roman" panose="02020603050405020304" pitchFamily="18" charset="0"/>
                              <a:cs typeface="Times New Roman" panose="02020603050405020304" pitchFamily="18" charset="0"/>
                            </a:rPr>
                            <a:t>Matrix </a:t>
                          </a:r>
                          <a14:m>
                            <m:oMath xmlns:m="http://schemas.openxmlformats.org/officeDocument/2006/math">
                              <m:r>
                                <a:rPr lang="en-US" altLang="zh-TW" sz="2000" i="1" dirty="0" smtClean="0">
                                  <a:latin typeface="Cambria Math" panose="02040503050406030204" pitchFamily="18" charset="0"/>
                                </a:rPr>
                                <m:t>𝐴</m:t>
                              </m:r>
                            </m:oMath>
                          </a14:m>
                          <a:endParaRPr lang="zh-TW" altLang="en-US" sz="20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zh-TW" altLang="en-US" dirty="0"/>
                        </a:p>
                      </a:txBody>
                      <a:tcPr/>
                    </a:tc>
                    <a:tc hMerge="1">
                      <a:txBody>
                        <a:bodyPr/>
                        <a:lstStyle/>
                        <a:p>
                          <a:endParaRPr lang="zh-TW" altLang="en-US" dirty="0"/>
                        </a:p>
                      </a:txBody>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3">
                      <a:txBody>
                        <a:bodyPr/>
                        <a:lstStyle/>
                        <a:p>
                          <a:pPr algn="ctr"/>
                          <a:r>
                            <a:rPr lang="en-US" altLang="zh-TW" sz="2000" dirty="0">
                              <a:latin typeface="Times New Roman" panose="02020603050405020304" pitchFamily="18" charset="0"/>
                              <a:cs typeface="Times New Roman" panose="02020603050405020304" pitchFamily="18" charset="0"/>
                            </a:rPr>
                            <a:t>Matrix </a:t>
                          </a:r>
                          <a14:m>
                            <m:oMath xmlns:m="http://schemas.openxmlformats.org/officeDocument/2006/math">
                              <m:r>
                                <a:rPr lang="en-US" altLang="zh-TW" sz="2000" i="1" dirty="0" smtClean="0">
                                  <a:latin typeface="Cambria Math" panose="02040503050406030204" pitchFamily="18" charset="0"/>
                                </a:rPr>
                                <m:t>𝐵</m:t>
                              </m:r>
                            </m:oMath>
                          </a14:m>
                          <a:endParaRPr lang="zh-TW" altLang="en-US" sz="20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zh-TW" altLang="en-US" dirty="0"/>
                        </a:p>
                      </a:txBody>
                      <a:tcPr/>
                    </a:tc>
                    <a:tc hMerge="1">
                      <a:txBody>
                        <a:bodyPr/>
                        <a:lstStyle/>
                        <a:p>
                          <a:endParaRPr lang="zh-TW" altLang="en-US" dirty="0"/>
                        </a:p>
                      </a:txBody>
                      <a:tcPr/>
                    </a:tc>
                    <a:extLst>
                      <a:ext uri="{0D108BD9-81ED-4DB2-BD59-A6C34878D82A}">
                        <a16:rowId xmlns:a16="http://schemas.microsoft.com/office/drawing/2014/main" val="2109248052"/>
                      </a:ext>
                    </a:extLst>
                  </a:tr>
                  <a:tr h="396000">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000" b="1" dirty="0">
                            <a:solidFill>
                              <a:schemeClr val="accent2"/>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1161773"/>
                      </a:ext>
                    </a:extLst>
                  </a:tr>
                  <a:tr h="396000">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zh-TW" altLang="en-US" sz="2000" b="1" i="1" smtClean="0">
                                    <a:solidFill>
                                      <a:schemeClr val="accent2"/>
                                    </a:solidFill>
                                    <a:latin typeface="Cambria Math" panose="02040503050406030204" pitchFamily="18" charset="0"/>
                                    <a:cs typeface="Times New Roman" panose="02020603050405020304" pitchFamily="18" charset="0"/>
                                  </a:rPr>
                                  <m:t>𝜶</m:t>
                                </m:r>
                              </m:oMath>
                            </m:oMathPara>
                          </a14:m>
                          <a:endParaRPr lang="zh-TW" altLang="en-US" sz="2000" b="1" dirty="0">
                            <a:solidFill>
                              <a:schemeClr val="accent2"/>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b="1" dirty="0">
                            <a:solidFill>
                              <a:schemeClr val="accent2"/>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zh-TW" altLang="en-US" sz="2000" b="1" i="1" smtClean="0">
                                    <a:solidFill>
                                      <a:schemeClr val="accent2"/>
                                    </a:solidFill>
                                    <a:latin typeface="Cambria Math" panose="02040503050406030204" pitchFamily="18" charset="0"/>
                                    <a:cs typeface="Times New Roman" panose="02020603050405020304" pitchFamily="18" charset="0"/>
                                  </a:rPr>
                                  <m:t>𝜶</m:t>
                                </m:r>
                              </m:oMath>
                            </m:oMathPara>
                          </a14:m>
                          <a:endParaRPr lang="zh-TW" altLang="en-US" sz="2000" b="1" dirty="0">
                            <a:solidFill>
                              <a:schemeClr val="accent2"/>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0569120"/>
                      </a:ext>
                    </a:extLst>
                  </a:tr>
                  <a:tr h="396000">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zh-TW" altLang="en-US" sz="2000" b="1" i="1" smtClean="0">
                                    <a:solidFill>
                                      <a:schemeClr val="accent1"/>
                                    </a:solidFill>
                                    <a:latin typeface="Cambria Math" panose="02040503050406030204" pitchFamily="18" charset="0"/>
                                    <a:cs typeface="Times New Roman" panose="02020603050405020304" pitchFamily="18" charset="0"/>
                                  </a:rPr>
                                  <m:t>𝜷</m:t>
                                </m:r>
                              </m:oMath>
                            </m:oMathPara>
                          </a14:m>
                          <a:endParaRPr lang="zh-TW" altLang="en-US" sz="2000" b="1" dirty="0">
                            <a:solidFill>
                              <a:schemeClr val="accent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000" b="1" dirty="0">
                            <a:solidFill>
                              <a:schemeClr val="accent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2179576002"/>
                      </a:ext>
                    </a:extLst>
                  </a:tr>
                </a:tbl>
              </a:graphicData>
            </a:graphic>
          </p:graphicFrame>
        </mc:Choice>
        <mc:Fallback xmlns="">
          <p:graphicFrame>
            <p:nvGraphicFramePr>
              <p:cNvPr id="33" name="表格 32"/>
              <p:cNvGraphicFramePr>
                <a:graphicFrameLocks noGrp="1"/>
              </p:cNvGraphicFramePr>
              <p:nvPr/>
            </p:nvGraphicFramePr>
            <p:xfrm>
              <a:off x="2108590" y="5123413"/>
              <a:ext cx="2772000" cy="1584960"/>
            </p:xfrm>
            <a:graphic>
              <a:graphicData uri="http://schemas.openxmlformats.org/drawingml/2006/table">
                <a:tbl>
                  <a:tblPr firstRow="1" bandRow="1">
                    <a:tableStyleId>{5940675A-B579-460E-94D1-54222C63F5DA}</a:tableStyleId>
                  </a:tblPr>
                  <a:tblGrid>
                    <a:gridCol w="396000">
                      <a:extLst>
                        <a:ext uri="{9D8B030D-6E8A-4147-A177-3AD203B41FA5}">
                          <a16:colId xmlns:a16="http://schemas.microsoft.com/office/drawing/2014/main" val="1281707070"/>
                        </a:ext>
                      </a:extLst>
                    </a:gridCol>
                    <a:gridCol w="396000">
                      <a:extLst>
                        <a:ext uri="{9D8B030D-6E8A-4147-A177-3AD203B41FA5}">
                          <a16:colId xmlns:a16="http://schemas.microsoft.com/office/drawing/2014/main" val="3514700436"/>
                        </a:ext>
                      </a:extLst>
                    </a:gridCol>
                    <a:gridCol w="396000">
                      <a:extLst>
                        <a:ext uri="{9D8B030D-6E8A-4147-A177-3AD203B41FA5}">
                          <a16:colId xmlns:a16="http://schemas.microsoft.com/office/drawing/2014/main" val="1860103807"/>
                        </a:ext>
                      </a:extLst>
                    </a:gridCol>
                    <a:gridCol w="396000">
                      <a:extLst>
                        <a:ext uri="{9D8B030D-6E8A-4147-A177-3AD203B41FA5}">
                          <a16:colId xmlns:a16="http://schemas.microsoft.com/office/drawing/2014/main" val="2390354494"/>
                        </a:ext>
                      </a:extLst>
                    </a:gridCol>
                    <a:gridCol w="396000">
                      <a:extLst>
                        <a:ext uri="{9D8B030D-6E8A-4147-A177-3AD203B41FA5}">
                          <a16:colId xmlns:a16="http://schemas.microsoft.com/office/drawing/2014/main" val="682611296"/>
                        </a:ext>
                      </a:extLst>
                    </a:gridCol>
                    <a:gridCol w="396000">
                      <a:extLst>
                        <a:ext uri="{9D8B030D-6E8A-4147-A177-3AD203B41FA5}">
                          <a16:colId xmlns:a16="http://schemas.microsoft.com/office/drawing/2014/main" val="2960854431"/>
                        </a:ext>
                      </a:extLst>
                    </a:gridCol>
                    <a:gridCol w="396000">
                      <a:extLst>
                        <a:ext uri="{9D8B030D-6E8A-4147-A177-3AD203B41FA5}">
                          <a16:colId xmlns:a16="http://schemas.microsoft.com/office/drawing/2014/main" val="1775137844"/>
                        </a:ext>
                      </a:extLst>
                    </a:gridCol>
                  </a:tblGrid>
                  <a:tr h="396240">
                    <a:tc gridSpan="3">
                      <a:txBody>
                        <a:bodyPr/>
                        <a:lstStyle/>
                        <a:p>
                          <a:endParaRPr lang="zh-TW"/>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513" t="-7692" r="-134872" b="-316923"/>
                          </a:stretch>
                        </a:blipFill>
                      </a:tcPr>
                    </a:tc>
                    <a:tc hMerge="1">
                      <a:txBody>
                        <a:bodyPr/>
                        <a:lstStyle/>
                        <a:p>
                          <a:endParaRPr lang="zh-TW" altLang="en-US" dirty="0"/>
                        </a:p>
                      </a:txBody>
                      <a:tcPr/>
                    </a:tc>
                    <a:tc hMerge="1">
                      <a:txBody>
                        <a:bodyPr/>
                        <a:lstStyle/>
                        <a:p>
                          <a:endParaRPr lang="zh-TW" altLang="en-US" dirty="0"/>
                        </a:p>
                      </a:txBody>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3">
                      <a:txBody>
                        <a:bodyPr/>
                        <a:lstStyle/>
                        <a:p>
                          <a:endParaRPr lang="zh-TW"/>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34359" t="-7692" r="-1026" b="-316923"/>
                          </a:stretch>
                        </a:blipFill>
                      </a:tcPr>
                    </a:tc>
                    <a:tc hMerge="1">
                      <a:txBody>
                        <a:bodyPr/>
                        <a:lstStyle/>
                        <a:p>
                          <a:endParaRPr lang="zh-TW" altLang="en-US" dirty="0"/>
                        </a:p>
                      </a:txBody>
                      <a:tcPr/>
                    </a:tc>
                    <a:tc hMerge="1">
                      <a:txBody>
                        <a:bodyPr/>
                        <a:lstStyle/>
                        <a:p>
                          <a:endParaRPr lang="zh-TW" altLang="en-US" dirty="0"/>
                        </a:p>
                      </a:txBody>
                      <a:tcPr/>
                    </a:tc>
                    <a:extLst>
                      <a:ext uri="{0D108BD9-81ED-4DB2-BD59-A6C34878D82A}">
                        <a16:rowId xmlns:a16="http://schemas.microsoft.com/office/drawing/2014/main" val="2109248052"/>
                      </a:ext>
                    </a:extLst>
                  </a:tr>
                  <a:tr h="396240">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000" b="1" dirty="0">
                            <a:solidFill>
                              <a:schemeClr val="accent2"/>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1161773"/>
                      </a:ext>
                    </a:extLst>
                  </a:tr>
                  <a:tr h="396240">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1538" t="-209231" r="-504615" b="-115385"/>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000" b="1" dirty="0">
                            <a:solidFill>
                              <a:schemeClr val="accent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b="1" dirty="0">
                            <a:solidFill>
                              <a:schemeClr val="accent2"/>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503077" t="-209231" r="-103077" b="-115385"/>
                          </a:stretch>
                        </a:blipFill>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0569120"/>
                      </a:ext>
                    </a:extLst>
                  </a:tr>
                  <a:tr h="396240">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1538" t="-309231" r="-504615" b="-15385"/>
                          </a:stretch>
                        </a:blipFill>
                      </a:tcPr>
                    </a:tc>
                    <a:tc>
                      <a:txBody>
                        <a:bodyPr/>
                        <a:lstStyle/>
                        <a:p>
                          <a:pPr algn="ctr"/>
                          <a:endParaRPr lang="zh-TW" altLang="en-US" sz="2000" b="1" dirty="0">
                            <a:solidFill>
                              <a:schemeClr val="accent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2179576002"/>
                      </a:ext>
                    </a:extLst>
                  </a:tr>
                </a:tbl>
              </a:graphicData>
            </a:graphic>
          </p:graphicFrame>
        </mc:Fallback>
      </mc:AlternateContent>
      <p:sp>
        <p:nvSpPr>
          <p:cNvPr id="34" name="矩形 33"/>
          <p:cNvSpPr/>
          <p:nvPr/>
        </p:nvSpPr>
        <p:spPr>
          <a:xfrm>
            <a:off x="2977198" y="965207"/>
            <a:ext cx="458440" cy="428625"/>
          </a:xfrm>
          <a:prstGeom prst="rect">
            <a:avLst/>
          </a:prstGeom>
          <a:solidFill>
            <a:srgbClr val="ED7D31">
              <a:alpha val="40000"/>
            </a:srgbClr>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矩形 34"/>
          <p:cNvSpPr/>
          <p:nvPr/>
        </p:nvSpPr>
        <p:spPr>
          <a:xfrm>
            <a:off x="2983836" y="1440037"/>
            <a:ext cx="458440" cy="428625"/>
          </a:xfrm>
          <a:prstGeom prst="rect">
            <a:avLst/>
          </a:prstGeom>
          <a:solidFill>
            <a:schemeClr val="accent1">
              <a:alpha val="40000"/>
            </a:schemeClr>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矩形 35"/>
          <p:cNvSpPr/>
          <p:nvPr/>
        </p:nvSpPr>
        <p:spPr>
          <a:xfrm>
            <a:off x="2996006" y="3576286"/>
            <a:ext cx="396000" cy="360000"/>
          </a:xfrm>
          <a:prstGeom prst="rect">
            <a:avLst/>
          </a:prstGeom>
          <a:solidFill>
            <a:srgbClr val="ED7D31">
              <a:alpha val="40000"/>
            </a:srgbClr>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矩形 36"/>
          <p:cNvSpPr/>
          <p:nvPr/>
        </p:nvSpPr>
        <p:spPr>
          <a:xfrm>
            <a:off x="2996006" y="3933513"/>
            <a:ext cx="396000" cy="360000"/>
          </a:xfrm>
          <a:prstGeom prst="rect">
            <a:avLst/>
          </a:prstGeom>
          <a:solidFill>
            <a:schemeClr val="accent1">
              <a:alpha val="40000"/>
            </a:schemeClr>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 name="矩形 37"/>
          <p:cNvSpPr/>
          <p:nvPr/>
        </p:nvSpPr>
        <p:spPr>
          <a:xfrm>
            <a:off x="7022436" y="2505086"/>
            <a:ext cx="360000" cy="324000"/>
          </a:xfrm>
          <a:prstGeom prst="rect">
            <a:avLst/>
          </a:prstGeom>
          <a:solidFill>
            <a:schemeClr val="accent1">
              <a:alpha val="40000"/>
            </a:schemeClr>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9" name="矩形 38"/>
          <p:cNvSpPr/>
          <p:nvPr/>
        </p:nvSpPr>
        <p:spPr>
          <a:xfrm>
            <a:off x="8799830" y="2848136"/>
            <a:ext cx="396000" cy="360000"/>
          </a:xfrm>
          <a:prstGeom prst="rect">
            <a:avLst/>
          </a:prstGeom>
          <a:solidFill>
            <a:srgbClr val="ED7D31">
              <a:alpha val="40000"/>
            </a:srgbClr>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3" name="文字方塊 2"/>
              <p:cNvSpPr txBox="1"/>
              <p:nvPr/>
            </p:nvSpPr>
            <p:spPr>
              <a:xfrm>
                <a:off x="2956462" y="4813458"/>
                <a:ext cx="1076257"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sz="2000" i="1" dirty="0">
                          <a:latin typeface="Cambria Math" panose="02040503050406030204" pitchFamily="18" charset="0"/>
                          <a:cs typeface="Times New Roman" panose="02020603050405020304" pitchFamily="18" charset="0"/>
                        </a:rPr>
                        <m:t>𝑃</m:t>
                      </m:r>
                      <m:r>
                        <a:rPr lang="en-US" altLang="zh-TW" sz="2000" i="1" dirty="0">
                          <a:latin typeface="Cambria Math" panose="02040503050406030204" pitchFamily="18" charset="0"/>
                          <a:cs typeface="Times New Roman" panose="02020603050405020304" pitchFamily="18" charset="0"/>
                        </a:rPr>
                        <m:t>(</m:t>
                      </m:r>
                      <m:r>
                        <a:rPr lang="en-US" altLang="zh-TW" sz="2000" i="1" dirty="0">
                          <a:latin typeface="Cambria Math" panose="02040503050406030204" pitchFamily="18" charset="0"/>
                          <a:cs typeface="Times New Roman" panose="02020603050405020304" pitchFamily="18" charset="0"/>
                        </a:rPr>
                        <m:t>𝐿𝑂𝐿</m:t>
                      </m:r>
                      <m:r>
                        <a:rPr lang="en-US" altLang="zh-TW" sz="2000" i="1" dirty="0">
                          <a:latin typeface="Cambria Math" panose="02040503050406030204" pitchFamily="18" charset="0"/>
                          <a:cs typeface="Times New Roman" panose="02020603050405020304" pitchFamily="18" charset="0"/>
                        </a:rPr>
                        <m:t>)</m:t>
                      </m:r>
                    </m:oMath>
                  </m:oMathPara>
                </a14:m>
                <a:endParaRPr lang="zh-TW" altLang="en-US" sz="2000" dirty="0">
                  <a:latin typeface="Times New Roman" panose="02020603050405020304" pitchFamily="18" charset="0"/>
                  <a:cs typeface="Times New Roman" panose="02020603050405020304" pitchFamily="18" charset="0"/>
                </a:endParaRPr>
              </a:p>
            </p:txBody>
          </p:sp>
        </mc:Choice>
        <mc:Fallback xmlns="">
          <p:sp>
            <p:nvSpPr>
              <p:cNvPr id="3" name="文字方塊 2"/>
              <p:cNvSpPr txBox="1">
                <a:spLocks noRot="1" noChangeAspect="1" noMove="1" noResize="1" noEditPoints="1" noAdjustHandles="1" noChangeArrowheads="1" noChangeShapeType="1" noTextEdit="1"/>
              </p:cNvSpPr>
              <p:nvPr/>
            </p:nvSpPr>
            <p:spPr>
              <a:xfrm>
                <a:off x="2956462" y="4813458"/>
                <a:ext cx="1076257" cy="400110"/>
              </a:xfrm>
              <a:prstGeom prst="rect">
                <a:avLst/>
              </a:prstGeom>
              <a:blipFill>
                <a:blip r:embed="rId6"/>
                <a:stretch>
                  <a:fillRect b="-1692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9597506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fld id="{74CF69EF-CDCC-4AA0-879A-908A954ADF7C}" type="slidenum">
              <a:rPr lang="zh-TW" altLang="en-US" smtClean="0"/>
              <a:t>20</a:t>
            </a:fld>
            <a:endParaRPr lang="zh-TW" altLang="en-US"/>
          </a:p>
        </p:txBody>
      </p:sp>
      <mc:AlternateContent xmlns:mc="http://schemas.openxmlformats.org/markup-compatibility/2006">
        <mc:Choice xmlns:a14="http://schemas.microsoft.com/office/drawing/2010/main" Requires="a14">
          <p:sp>
            <p:nvSpPr>
              <p:cNvPr id="7" name="文字方塊 6"/>
              <p:cNvSpPr txBox="1"/>
              <p:nvPr/>
            </p:nvSpPr>
            <p:spPr>
              <a:xfrm>
                <a:off x="6061885" y="2521436"/>
                <a:ext cx="3845733" cy="3158557"/>
              </a:xfrm>
              <a:prstGeom prst="rect">
                <a:avLst/>
              </a:prstGeom>
              <a:noFill/>
            </p:spPr>
            <p:txBody>
              <a:bodyPr wrap="square" lIns="0" tIns="0" rIns="0" bIns="0" rtlCol="0">
                <a:spAutoFit/>
              </a:bodyPr>
              <a:lstStyle/>
              <a:p>
                <a:pPr algn="ctr"/>
                <a:r>
                  <a:rPr lang="en-US" altLang="zh-TW" sz="2800" i="1" dirty="0">
                    <a:latin typeface="Cambria Math" panose="02040503050406030204" pitchFamily="18" charset="0"/>
                  </a:rPr>
                  <a:t>P(LOL)</a:t>
                </a:r>
              </a:p>
              <a:p>
                <a:pPr algn="ctr"/>
                <a14:m>
                  <m:oMathPara xmlns:m="http://schemas.openxmlformats.org/officeDocument/2006/math">
                    <m:oMathParaPr>
                      <m:jc m:val="centerGroup"/>
                    </m:oMathParaPr>
                    <m:oMath xmlns:m="http://schemas.openxmlformats.org/officeDocument/2006/math">
                      <m:d>
                        <m:dPr>
                          <m:begChr m:val="{"/>
                          <m:endChr m:val="}"/>
                          <m:ctrlPr>
                            <a:rPr lang="en-US" altLang="zh-TW" sz="2800" i="1">
                              <a:latin typeface="Cambria Math" panose="02040503050406030204" pitchFamily="18" charset="0"/>
                            </a:rPr>
                          </m:ctrlPr>
                        </m:dPr>
                        <m:e>
                          <m:eqArr>
                            <m:eqArrPr>
                              <m:ctrlPr>
                                <a:rPr lang="en-US" altLang="zh-TW" sz="2800" i="1">
                                  <a:latin typeface="Cambria Math" panose="02040503050406030204" pitchFamily="18" charset="0"/>
                                </a:rPr>
                              </m:ctrlPr>
                            </m:eqArrPr>
                            <m:e>
                              <m:d>
                                <m:dPr>
                                  <m:ctrlPr>
                                    <a:rPr lang="en-US" altLang="zh-TW" sz="2800" i="1">
                                      <a:solidFill>
                                        <a:srgbClr val="FF0000"/>
                                      </a:solidFill>
                                      <a:latin typeface="Cambria Math" panose="02040503050406030204" pitchFamily="18" charset="0"/>
                                    </a:rPr>
                                  </m:ctrlPr>
                                </m:dPr>
                                <m:e>
                                  <m:sSub>
                                    <m:sSubPr>
                                      <m:ctrlPr>
                                        <a:rPr lang="en-US" altLang="zh-TW" sz="2800" i="1">
                                          <a:solidFill>
                                            <a:srgbClr val="FF0000"/>
                                          </a:solidFill>
                                          <a:latin typeface="Cambria Math" panose="02040503050406030204" pitchFamily="18" charset="0"/>
                                        </a:rPr>
                                      </m:ctrlPr>
                                    </m:sSubPr>
                                    <m:e>
                                      <m:r>
                                        <a:rPr lang="en-US" altLang="zh-TW" sz="2800" i="1">
                                          <a:solidFill>
                                            <a:srgbClr val="FF0000"/>
                                          </a:solidFill>
                                          <a:latin typeface="Cambria Math" panose="02040503050406030204" pitchFamily="18" charset="0"/>
                                        </a:rPr>
                                        <m:t>𝑥</m:t>
                                      </m:r>
                                    </m:e>
                                    <m:sub>
                                      <m:r>
                                        <a:rPr lang="en-US" altLang="zh-TW" sz="2800" i="1">
                                          <a:solidFill>
                                            <a:srgbClr val="FF0000"/>
                                          </a:solidFill>
                                          <a:latin typeface="Cambria Math" panose="02040503050406030204" pitchFamily="18" charset="0"/>
                                        </a:rPr>
                                        <m:t>1</m:t>
                                      </m:r>
                                    </m:sub>
                                  </m:sSub>
                                  <m:r>
                                    <a:rPr lang="en-US" altLang="zh-TW" sz="2800" i="1">
                                      <a:solidFill>
                                        <a:srgbClr val="FF0000"/>
                                      </a:solidFill>
                                      <a:latin typeface="Cambria Math" panose="02040503050406030204" pitchFamily="18" charset="0"/>
                                    </a:rPr>
                                    <m:t>,</m:t>
                                  </m:r>
                                  <m:sSub>
                                    <m:sSubPr>
                                      <m:ctrlPr>
                                        <a:rPr lang="en-US" altLang="zh-TW" sz="2800" i="1">
                                          <a:solidFill>
                                            <a:srgbClr val="FF0000"/>
                                          </a:solidFill>
                                          <a:latin typeface="Cambria Math" panose="02040503050406030204" pitchFamily="18" charset="0"/>
                                        </a:rPr>
                                      </m:ctrlPr>
                                    </m:sSubPr>
                                    <m:e>
                                      <m:r>
                                        <a:rPr lang="en-US" altLang="zh-TW" sz="2800" i="1">
                                          <a:solidFill>
                                            <a:srgbClr val="FF0000"/>
                                          </a:solidFill>
                                          <a:latin typeface="Cambria Math" panose="02040503050406030204" pitchFamily="18" charset="0"/>
                                        </a:rPr>
                                        <m:t>𝑦</m:t>
                                      </m:r>
                                    </m:e>
                                    <m:sub>
                                      <m:r>
                                        <a:rPr lang="en-US" altLang="zh-TW" sz="2800" i="1">
                                          <a:solidFill>
                                            <a:srgbClr val="FF0000"/>
                                          </a:solidFill>
                                          <a:latin typeface="Cambria Math" panose="02040503050406030204" pitchFamily="18" charset="0"/>
                                        </a:rPr>
                                        <m:t>1</m:t>
                                      </m:r>
                                    </m:sub>
                                  </m:sSub>
                                  <m:r>
                                    <a:rPr lang="en-US" altLang="zh-TW" sz="2800" i="1">
                                      <a:solidFill>
                                        <a:srgbClr val="FF0000"/>
                                      </a:solidFill>
                                      <a:latin typeface="Cambria Math" panose="02040503050406030204" pitchFamily="18" charset="0"/>
                                    </a:rPr>
                                    <m:t>,</m:t>
                                  </m:r>
                                  <m:sSub>
                                    <m:sSubPr>
                                      <m:ctrlPr>
                                        <a:rPr lang="en-US" altLang="zh-TW" sz="2800" i="1">
                                          <a:solidFill>
                                            <a:srgbClr val="FF0000"/>
                                          </a:solidFill>
                                          <a:latin typeface="Cambria Math" panose="02040503050406030204" pitchFamily="18" charset="0"/>
                                        </a:rPr>
                                      </m:ctrlPr>
                                    </m:sSubPr>
                                    <m:e>
                                      <m:r>
                                        <a:rPr lang="en-US" altLang="zh-TW" sz="2800" i="1">
                                          <a:solidFill>
                                            <a:srgbClr val="FF0000"/>
                                          </a:solidFill>
                                          <a:latin typeface="Cambria Math" panose="02040503050406030204" pitchFamily="18" charset="0"/>
                                        </a:rPr>
                                        <m:t>𝑧</m:t>
                                      </m:r>
                                    </m:e>
                                    <m:sub>
                                      <m:r>
                                        <a:rPr lang="en-US" altLang="zh-TW" sz="2800" i="1">
                                          <a:solidFill>
                                            <a:srgbClr val="FF0000"/>
                                          </a:solidFill>
                                          <a:latin typeface="Cambria Math" panose="02040503050406030204" pitchFamily="18" charset="0"/>
                                        </a:rPr>
                                        <m:t>1</m:t>
                                      </m:r>
                                    </m:sub>
                                  </m:sSub>
                                </m:e>
                              </m:d>
                              <m:r>
                                <a:rPr lang="en-US" altLang="zh-TW" sz="2800" i="1">
                                  <a:latin typeface="Cambria Math" panose="02040503050406030204" pitchFamily="18" charset="0"/>
                                </a:rPr>
                                <m:t>,</m:t>
                              </m:r>
                            </m:e>
                            <m:e>
                              <m:d>
                                <m:dPr>
                                  <m:ctrlPr>
                                    <a:rPr lang="en-US" altLang="zh-TW" sz="2800" i="1">
                                      <a:latin typeface="Cambria Math" panose="02040503050406030204" pitchFamily="18" charset="0"/>
                                    </a:rPr>
                                  </m:ctrlPr>
                                </m:dPr>
                                <m:e>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𝑥</m:t>
                                      </m:r>
                                    </m:e>
                                    <m:sub>
                                      <m:r>
                                        <a:rPr lang="en-US" altLang="zh-TW" sz="2800" i="1">
                                          <a:latin typeface="Cambria Math" panose="02040503050406030204" pitchFamily="18" charset="0"/>
                                        </a:rPr>
                                        <m:t>1</m:t>
                                      </m:r>
                                    </m:sub>
                                  </m:sSub>
                                  <m:r>
                                    <a:rPr lang="en-US" altLang="zh-TW" sz="2800" i="1">
                                      <a:latin typeface="Cambria Math" panose="02040503050406030204" pitchFamily="18" charset="0"/>
                                    </a:rPr>
                                    <m:t>,</m:t>
                                  </m:r>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𝑦</m:t>
                                      </m:r>
                                    </m:e>
                                    <m:sub>
                                      <m:r>
                                        <a:rPr lang="en-US" altLang="zh-TW" sz="2800" i="1">
                                          <a:latin typeface="Cambria Math" panose="02040503050406030204" pitchFamily="18" charset="0"/>
                                        </a:rPr>
                                        <m:t>2</m:t>
                                      </m:r>
                                    </m:sub>
                                  </m:sSub>
                                  <m:r>
                                    <a:rPr lang="en-US" altLang="zh-TW" sz="2800" i="1">
                                      <a:latin typeface="Cambria Math" panose="02040503050406030204" pitchFamily="18" charset="0"/>
                                    </a:rPr>
                                    <m:t>,</m:t>
                                  </m:r>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𝑧</m:t>
                                      </m:r>
                                    </m:e>
                                    <m:sub>
                                      <m:r>
                                        <a:rPr lang="en-US" altLang="zh-TW" sz="2800" i="1">
                                          <a:latin typeface="Cambria Math" panose="02040503050406030204" pitchFamily="18" charset="0"/>
                                        </a:rPr>
                                        <m:t>1</m:t>
                                      </m:r>
                                    </m:sub>
                                  </m:sSub>
                                </m:e>
                              </m:d>
                              <m:r>
                                <a:rPr lang="en-US" altLang="zh-TW" sz="2800" i="1">
                                  <a:latin typeface="Cambria Math" panose="02040503050406030204" pitchFamily="18" charset="0"/>
                                </a:rPr>
                                <m:t>,</m:t>
                              </m:r>
                            </m:e>
                            <m:e>
                              <m:d>
                                <m:dPr>
                                  <m:ctrlPr>
                                    <a:rPr lang="en-US" altLang="zh-TW" sz="2800" i="1">
                                      <a:solidFill>
                                        <a:srgbClr val="FF0000"/>
                                      </a:solidFill>
                                      <a:latin typeface="Cambria Math" panose="02040503050406030204" pitchFamily="18" charset="0"/>
                                    </a:rPr>
                                  </m:ctrlPr>
                                </m:dPr>
                                <m:e>
                                  <m:sSub>
                                    <m:sSubPr>
                                      <m:ctrlPr>
                                        <a:rPr lang="en-US" altLang="zh-TW" sz="2800" i="1">
                                          <a:solidFill>
                                            <a:srgbClr val="FF0000"/>
                                          </a:solidFill>
                                          <a:latin typeface="Cambria Math" panose="02040503050406030204" pitchFamily="18" charset="0"/>
                                        </a:rPr>
                                      </m:ctrlPr>
                                    </m:sSubPr>
                                    <m:e>
                                      <m:r>
                                        <a:rPr lang="en-US" altLang="zh-TW" sz="2800" i="1">
                                          <a:solidFill>
                                            <a:srgbClr val="FF0000"/>
                                          </a:solidFill>
                                          <a:latin typeface="Cambria Math" panose="02040503050406030204" pitchFamily="18" charset="0"/>
                                        </a:rPr>
                                        <m:t>𝑥</m:t>
                                      </m:r>
                                    </m:e>
                                    <m:sub>
                                      <m:r>
                                        <a:rPr lang="en-US" altLang="zh-TW" sz="2800" i="1">
                                          <a:solidFill>
                                            <a:srgbClr val="FF0000"/>
                                          </a:solidFill>
                                          <a:latin typeface="Cambria Math" panose="02040503050406030204" pitchFamily="18" charset="0"/>
                                        </a:rPr>
                                        <m:t>2</m:t>
                                      </m:r>
                                    </m:sub>
                                  </m:sSub>
                                  <m:r>
                                    <a:rPr lang="en-US" altLang="zh-TW" sz="2800" i="1">
                                      <a:solidFill>
                                        <a:srgbClr val="FF0000"/>
                                      </a:solidFill>
                                      <a:latin typeface="Cambria Math" panose="02040503050406030204" pitchFamily="18" charset="0"/>
                                    </a:rPr>
                                    <m:t>,</m:t>
                                  </m:r>
                                  <m:sSub>
                                    <m:sSubPr>
                                      <m:ctrlPr>
                                        <a:rPr lang="en-US" altLang="zh-TW" sz="2800" i="1">
                                          <a:solidFill>
                                            <a:srgbClr val="FF0000"/>
                                          </a:solidFill>
                                          <a:latin typeface="Cambria Math" panose="02040503050406030204" pitchFamily="18" charset="0"/>
                                        </a:rPr>
                                      </m:ctrlPr>
                                    </m:sSubPr>
                                    <m:e>
                                      <m:r>
                                        <a:rPr lang="en-US" altLang="zh-TW" sz="2800" i="1">
                                          <a:solidFill>
                                            <a:srgbClr val="FF0000"/>
                                          </a:solidFill>
                                          <a:latin typeface="Cambria Math" panose="02040503050406030204" pitchFamily="18" charset="0"/>
                                        </a:rPr>
                                        <m:t>𝑦</m:t>
                                      </m:r>
                                    </m:e>
                                    <m:sub>
                                      <m:r>
                                        <a:rPr lang="en-US" altLang="zh-TW" sz="2800" i="1">
                                          <a:solidFill>
                                            <a:srgbClr val="FF0000"/>
                                          </a:solidFill>
                                          <a:latin typeface="Cambria Math" panose="02040503050406030204" pitchFamily="18" charset="0"/>
                                        </a:rPr>
                                        <m:t>2</m:t>
                                      </m:r>
                                    </m:sub>
                                  </m:sSub>
                                  <m:r>
                                    <a:rPr lang="en-US" altLang="zh-TW" sz="2800" i="1">
                                      <a:solidFill>
                                        <a:srgbClr val="FF0000"/>
                                      </a:solidFill>
                                      <a:latin typeface="Cambria Math" panose="02040503050406030204" pitchFamily="18" charset="0"/>
                                    </a:rPr>
                                    <m:t>,</m:t>
                                  </m:r>
                                  <m:sSub>
                                    <m:sSubPr>
                                      <m:ctrlPr>
                                        <a:rPr lang="en-US" altLang="zh-TW" sz="2800" i="1">
                                          <a:solidFill>
                                            <a:srgbClr val="FF0000"/>
                                          </a:solidFill>
                                          <a:latin typeface="Cambria Math" panose="02040503050406030204" pitchFamily="18" charset="0"/>
                                        </a:rPr>
                                      </m:ctrlPr>
                                    </m:sSubPr>
                                    <m:e>
                                      <m:r>
                                        <a:rPr lang="en-US" altLang="zh-TW" sz="2800" i="1">
                                          <a:solidFill>
                                            <a:srgbClr val="FF0000"/>
                                          </a:solidFill>
                                          <a:latin typeface="Cambria Math" panose="02040503050406030204" pitchFamily="18" charset="0"/>
                                        </a:rPr>
                                        <m:t>𝑧</m:t>
                                      </m:r>
                                    </m:e>
                                    <m:sub>
                                      <m:r>
                                        <a:rPr lang="en-US" altLang="zh-TW" sz="2800" i="1">
                                          <a:solidFill>
                                            <a:srgbClr val="FF0000"/>
                                          </a:solidFill>
                                          <a:latin typeface="Cambria Math" panose="02040503050406030204" pitchFamily="18" charset="0"/>
                                        </a:rPr>
                                        <m:t>2</m:t>
                                      </m:r>
                                    </m:sub>
                                  </m:sSub>
                                </m:e>
                              </m:d>
                              <m:r>
                                <a:rPr lang="en-US" altLang="zh-TW" sz="2800" i="1">
                                  <a:solidFill>
                                    <a:schemeClr val="bg1"/>
                                  </a:solidFill>
                                  <a:latin typeface="Cambria Math" panose="02040503050406030204" pitchFamily="18" charset="0"/>
                                </a:rPr>
                                <m:t>,</m:t>
                              </m:r>
                            </m:e>
                          </m:eqArr>
                        </m:e>
                      </m:d>
                      <m:d>
                        <m:dPr>
                          <m:begChr m:val="{"/>
                          <m:endChr m:val="}"/>
                          <m:ctrlPr>
                            <a:rPr lang="en-US" altLang="zh-TW" sz="2800" i="1">
                              <a:latin typeface="Cambria Math" panose="02040503050406030204" pitchFamily="18" charset="0"/>
                            </a:rPr>
                          </m:ctrlPr>
                        </m:dPr>
                        <m:e>
                          <m:eqArr>
                            <m:eqArrPr>
                              <m:ctrlPr>
                                <a:rPr lang="en-US" altLang="zh-TW" sz="2800" i="1">
                                  <a:latin typeface="Cambria Math" panose="02040503050406030204" pitchFamily="18" charset="0"/>
                                </a:rPr>
                              </m:ctrlPr>
                            </m:eqArrPr>
                            <m:e>
                              <m:d>
                                <m:dPr>
                                  <m:ctrlPr>
                                    <a:rPr lang="en-US" altLang="zh-TW" sz="2800" i="1">
                                      <a:latin typeface="Cambria Math" panose="02040503050406030204" pitchFamily="18" charset="0"/>
                                    </a:rPr>
                                  </m:ctrlPr>
                                </m:dPr>
                                <m:e>
                                  <m:sSubSup>
                                    <m:sSubSupPr>
                                      <m:ctrlPr>
                                        <a:rPr lang="en-US" altLang="zh-TW" sz="2800" i="1">
                                          <a:latin typeface="Cambria Math" panose="02040503050406030204" pitchFamily="18" charset="0"/>
                                        </a:rPr>
                                      </m:ctrlPr>
                                    </m:sSubSupPr>
                                    <m:e>
                                      <m:r>
                                        <a:rPr lang="en-US" altLang="zh-TW" sz="2800" i="1">
                                          <a:latin typeface="Cambria Math" panose="02040503050406030204" pitchFamily="18" charset="0"/>
                                        </a:rPr>
                                        <m:t>𝑙</m:t>
                                      </m:r>
                                    </m:e>
                                    <m:sub>
                                      <m:r>
                                        <a:rPr lang="en-US" altLang="zh-TW" sz="2800" i="1">
                                          <a:latin typeface="Cambria Math" panose="02040503050406030204" pitchFamily="18" charset="0"/>
                                        </a:rPr>
                                        <m:t>1</m:t>
                                      </m:r>
                                    </m:sub>
                                    <m:sup>
                                      <m:r>
                                        <a:rPr lang="en-US" altLang="zh-TW" sz="2800" i="1">
                                          <a:latin typeface="Cambria Math" panose="02040503050406030204" pitchFamily="18" charset="0"/>
                                        </a:rPr>
                                        <m:t>1</m:t>
                                      </m:r>
                                    </m:sup>
                                  </m:sSubSup>
                                  <m:r>
                                    <a:rPr lang="en-US" altLang="zh-TW" sz="2800" i="1">
                                      <a:latin typeface="Cambria Math" panose="02040503050406030204" pitchFamily="18" charset="0"/>
                                    </a:rPr>
                                    <m:t>, </m:t>
                                  </m:r>
                                  <m:sSubSup>
                                    <m:sSubSupPr>
                                      <m:ctrlPr>
                                        <a:rPr lang="en-US" altLang="zh-TW" sz="2800" i="1">
                                          <a:latin typeface="Cambria Math" panose="02040503050406030204" pitchFamily="18" charset="0"/>
                                        </a:rPr>
                                      </m:ctrlPr>
                                    </m:sSubSupPr>
                                    <m:e>
                                      <m:r>
                                        <a:rPr lang="en-US" altLang="zh-TW" sz="2800" i="1">
                                          <a:latin typeface="Cambria Math" panose="02040503050406030204" pitchFamily="18" charset="0"/>
                                        </a:rPr>
                                        <m:t>𝑙</m:t>
                                      </m:r>
                                    </m:e>
                                    <m:sub>
                                      <m:r>
                                        <a:rPr lang="en-US" altLang="zh-TW" sz="2800" i="1">
                                          <a:latin typeface="Cambria Math" panose="02040503050406030204" pitchFamily="18" charset="0"/>
                                        </a:rPr>
                                        <m:t>2</m:t>
                                      </m:r>
                                    </m:sub>
                                    <m:sup>
                                      <m:r>
                                        <a:rPr lang="en-US" altLang="zh-TW" sz="2800" i="1">
                                          <a:latin typeface="Cambria Math" panose="02040503050406030204" pitchFamily="18" charset="0"/>
                                        </a:rPr>
                                        <m:t>1</m:t>
                                      </m:r>
                                    </m:sup>
                                  </m:sSubSup>
                                </m:e>
                              </m:d>
                              <m:r>
                                <a:rPr lang="en-US" altLang="zh-TW" sz="2800" i="1">
                                  <a:latin typeface="Cambria Math" panose="02040503050406030204" pitchFamily="18" charset="0"/>
                                </a:rPr>
                                <m:t>,</m:t>
                              </m:r>
                            </m:e>
                            <m:e>
                              <m:d>
                                <m:dPr>
                                  <m:ctrlPr>
                                    <a:rPr lang="en-US" altLang="zh-TW" sz="2800" i="1">
                                      <a:solidFill>
                                        <a:srgbClr val="FF0000"/>
                                      </a:solidFill>
                                      <a:latin typeface="Cambria Math" panose="02040503050406030204" pitchFamily="18" charset="0"/>
                                    </a:rPr>
                                  </m:ctrlPr>
                                </m:dPr>
                                <m:e>
                                  <m:sSubSup>
                                    <m:sSubSupPr>
                                      <m:ctrlPr>
                                        <a:rPr lang="en-US" altLang="zh-TW" sz="2800" i="1">
                                          <a:solidFill>
                                            <a:srgbClr val="FF0000"/>
                                          </a:solidFill>
                                          <a:latin typeface="Cambria Math" panose="02040503050406030204" pitchFamily="18" charset="0"/>
                                        </a:rPr>
                                      </m:ctrlPr>
                                    </m:sSubSupPr>
                                    <m:e>
                                      <m:r>
                                        <a:rPr lang="en-US" altLang="zh-TW" sz="2800" i="1">
                                          <a:solidFill>
                                            <a:srgbClr val="FF0000"/>
                                          </a:solidFill>
                                          <a:latin typeface="Cambria Math" panose="02040503050406030204" pitchFamily="18" charset="0"/>
                                        </a:rPr>
                                        <m:t>𝑙</m:t>
                                      </m:r>
                                    </m:e>
                                    <m:sub>
                                      <m:r>
                                        <a:rPr lang="en-US" altLang="zh-TW" sz="2800" i="1">
                                          <a:solidFill>
                                            <a:srgbClr val="FF0000"/>
                                          </a:solidFill>
                                          <a:latin typeface="Cambria Math" panose="02040503050406030204" pitchFamily="18" charset="0"/>
                                        </a:rPr>
                                        <m:t>1</m:t>
                                      </m:r>
                                    </m:sub>
                                    <m:sup>
                                      <m:r>
                                        <a:rPr lang="en-US" altLang="zh-TW" sz="2800" i="1">
                                          <a:solidFill>
                                            <a:srgbClr val="FF0000"/>
                                          </a:solidFill>
                                          <a:latin typeface="Cambria Math" panose="02040503050406030204" pitchFamily="18" charset="0"/>
                                        </a:rPr>
                                        <m:t>2</m:t>
                                      </m:r>
                                    </m:sup>
                                  </m:sSubSup>
                                  <m:r>
                                    <a:rPr lang="en-US" altLang="zh-TW" sz="2800" i="1">
                                      <a:solidFill>
                                        <a:srgbClr val="FF0000"/>
                                      </a:solidFill>
                                      <a:latin typeface="Cambria Math" panose="02040503050406030204" pitchFamily="18" charset="0"/>
                                    </a:rPr>
                                    <m:t>, </m:t>
                                  </m:r>
                                  <m:sSubSup>
                                    <m:sSubSupPr>
                                      <m:ctrlPr>
                                        <a:rPr lang="en-US" altLang="zh-TW" sz="2800" i="1">
                                          <a:solidFill>
                                            <a:srgbClr val="FF0000"/>
                                          </a:solidFill>
                                          <a:latin typeface="Cambria Math" panose="02040503050406030204" pitchFamily="18" charset="0"/>
                                        </a:rPr>
                                      </m:ctrlPr>
                                    </m:sSubSupPr>
                                    <m:e>
                                      <m:r>
                                        <a:rPr lang="en-US" altLang="zh-TW" sz="2800" i="1">
                                          <a:solidFill>
                                            <a:srgbClr val="FF0000"/>
                                          </a:solidFill>
                                          <a:latin typeface="Cambria Math" panose="02040503050406030204" pitchFamily="18" charset="0"/>
                                        </a:rPr>
                                        <m:t>𝑙</m:t>
                                      </m:r>
                                    </m:e>
                                    <m:sub>
                                      <m:r>
                                        <a:rPr lang="en-US" altLang="zh-TW" sz="2800" i="1">
                                          <a:solidFill>
                                            <a:srgbClr val="FF0000"/>
                                          </a:solidFill>
                                          <a:latin typeface="Cambria Math" panose="02040503050406030204" pitchFamily="18" charset="0"/>
                                        </a:rPr>
                                        <m:t>2</m:t>
                                      </m:r>
                                    </m:sub>
                                    <m:sup>
                                      <m:r>
                                        <a:rPr lang="en-US" altLang="zh-TW" sz="2800" i="1">
                                          <a:solidFill>
                                            <a:srgbClr val="FF0000"/>
                                          </a:solidFill>
                                          <a:latin typeface="Cambria Math" panose="02040503050406030204" pitchFamily="18" charset="0"/>
                                        </a:rPr>
                                        <m:t>2</m:t>
                                      </m:r>
                                    </m:sup>
                                  </m:sSubSup>
                                </m:e>
                              </m:d>
                              <m:r>
                                <a:rPr lang="en-US" altLang="zh-TW" sz="2800" i="1">
                                  <a:latin typeface="Cambria Math" panose="02040503050406030204" pitchFamily="18" charset="0"/>
                                </a:rPr>
                                <m:t>,</m:t>
                              </m:r>
                            </m:e>
                            <m:e>
                              <m:r>
                                <a:rPr lang="en-US" altLang="zh-TW" sz="2800" i="1">
                                  <a:latin typeface="Cambria Math" panose="02040503050406030204" pitchFamily="18" charset="0"/>
                                </a:rPr>
                                <m:t> </m:t>
                              </m:r>
                              <m:d>
                                <m:dPr>
                                  <m:ctrlPr>
                                    <a:rPr lang="en-US" altLang="zh-TW" sz="2800" i="1">
                                      <a:latin typeface="Cambria Math" panose="02040503050406030204" pitchFamily="18" charset="0"/>
                                    </a:rPr>
                                  </m:ctrlPr>
                                </m:dPr>
                                <m:e>
                                  <m:sSubSup>
                                    <m:sSubSupPr>
                                      <m:ctrlPr>
                                        <a:rPr lang="en-US" altLang="zh-TW" sz="2800" i="1">
                                          <a:latin typeface="Cambria Math" panose="02040503050406030204" pitchFamily="18" charset="0"/>
                                        </a:rPr>
                                      </m:ctrlPr>
                                    </m:sSubSupPr>
                                    <m:e>
                                      <m:r>
                                        <a:rPr lang="en-US" altLang="zh-TW" sz="2800" i="1">
                                          <a:latin typeface="Cambria Math" panose="02040503050406030204" pitchFamily="18" charset="0"/>
                                        </a:rPr>
                                        <m:t>𝑙</m:t>
                                      </m:r>
                                    </m:e>
                                    <m:sub>
                                      <m:r>
                                        <a:rPr lang="en-US" altLang="zh-TW" sz="2800" i="1">
                                          <a:latin typeface="Cambria Math" panose="02040503050406030204" pitchFamily="18" charset="0"/>
                                        </a:rPr>
                                        <m:t>1</m:t>
                                      </m:r>
                                    </m:sub>
                                    <m:sup>
                                      <m:r>
                                        <a:rPr lang="en-US" altLang="zh-TW" sz="2800" i="1">
                                          <a:latin typeface="Cambria Math" panose="02040503050406030204" pitchFamily="18" charset="0"/>
                                        </a:rPr>
                                        <m:t>3</m:t>
                                      </m:r>
                                    </m:sup>
                                  </m:sSubSup>
                                  <m:r>
                                    <a:rPr lang="en-US" altLang="zh-TW" sz="2800" i="1">
                                      <a:latin typeface="Cambria Math" panose="02040503050406030204" pitchFamily="18" charset="0"/>
                                    </a:rPr>
                                    <m:t>, </m:t>
                                  </m:r>
                                  <m:sSubSup>
                                    <m:sSubSupPr>
                                      <m:ctrlPr>
                                        <a:rPr lang="en-US" altLang="zh-TW" sz="2800" i="1">
                                          <a:latin typeface="Cambria Math" panose="02040503050406030204" pitchFamily="18" charset="0"/>
                                        </a:rPr>
                                      </m:ctrlPr>
                                    </m:sSubSupPr>
                                    <m:e>
                                      <m:r>
                                        <a:rPr lang="en-US" altLang="zh-TW" sz="2800" i="1">
                                          <a:latin typeface="Cambria Math" panose="02040503050406030204" pitchFamily="18" charset="0"/>
                                        </a:rPr>
                                        <m:t>𝑙</m:t>
                                      </m:r>
                                    </m:e>
                                    <m:sub>
                                      <m:r>
                                        <a:rPr lang="en-US" altLang="zh-TW" sz="2800" i="1">
                                          <a:latin typeface="Cambria Math" panose="02040503050406030204" pitchFamily="18" charset="0"/>
                                        </a:rPr>
                                        <m:t>2</m:t>
                                      </m:r>
                                    </m:sub>
                                    <m:sup>
                                      <m:r>
                                        <a:rPr lang="en-US" altLang="zh-TW" sz="2800" i="1">
                                          <a:latin typeface="Cambria Math" panose="02040503050406030204" pitchFamily="18" charset="0"/>
                                        </a:rPr>
                                        <m:t>3</m:t>
                                      </m:r>
                                    </m:sup>
                                  </m:sSubSup>
                                </m:e>
                              </m:d>
                              <m:r>
                                <a:rPr lang="en-US" altLang="zh-TW" sz="2800" i="1">
                                  <a:solidFill>
                                    <a:schemeClr val="bg1"/>
                                  </a:solidFill>
                                  <a:latin typeface="Cambria Math" panose="02040503050406030204" pitchFamily="18" charset="0"/>
                                </a:rPr>
                                <m:t>,</m:t>
                              </m:r>
                            </m:e>
                          </m:eqArr>
                        </m:e>
                      </m:d>
                    </m:oMath>
                  </m:oMathPara>
                </a14:m>
                <a:endParaRPr lang="en-US" altLang="zh-TW" sz="2800" dirty="0"/>
              </a:p>
              <a:p>
                <a:pPr algn="ctr"/>
                <a:endParaRPr lang="en-US" altLang="zh-TW" sz="2800" dirty="0"/>
              </a:p>
              <a:p>
                <a:pPr algn="ctr"/>
                <a14:m>
                  <m:oMathPara xmlns:m="http://schemas.openxmlformats.org/officeDocument/2006/math">
                    <m:oMathParaPr>
                      <m:jc m:val="centerGroup"/>
                    </m:oMathParaPr>
                    <m:oMath xmlns:m="http://schemas.openxmlformats.org/officeDocument/2006/math">
                      <m:r>
                        <a:rPr lang="en-US" altLang="zh-TW" sz="2800" i="1">
                          <a:latin typeface="Cambria Math" panose="02040503050406030204" pitchFamily="18" charset="0"/>
                        </a:rPr>
                        <m:t>2</m:t>
                      </m:r>
                      <m:r>
                        <a:rPr lang="en-US" altLang="zh-TW" sz="2800" b="0" i="1" smtClean="0">
                          <a:latin typeface="Cambria Math" panose="02040503050406030204" pitchFamily="18" charset="0"/>
                        </a:rPr>
                        <m:t>(</m:t>
                      </m:r>
                      <m:r>
                        <a:rPr lang="en-US" altLang="zh-TW" sz="2800" i="1">
                          <a:latin typeface="Cambria Math" panose="02040503050406030204" pitchFamily="18" charset="0"/>
                        </a:rPr>
                        <m:t>𝑚</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𝑘</m:t>
                      </m:r>
                      <m:r>
                        <a:rPr lang="en-US" altLang="zh-TW" sz="2800" b="0" i="1" smtClean="0">
                          <a:latin typeface="Cambria Math" panose="02040503050406030204" pitchFamily="18" charset="0"/>
                        </a:rPr>
                        <m:t>)+3</m:t>
                      </m:r>
                      <m:r>
                        <a:rPr lang="en-US" altLang="zh-TW" sz="2800" i="1">
                          <a:latin typeface="Cambria Math" panose="02040503050406030204" pitchFamily="18" charset="0"/>
                        </a:rPr>
                        <m:t>𝑘</m:t>
                      </m:r>
                      <m:r>
                        <a:rPr lang="en-US" altLang="zh-TW" sz="2800" i="1">
                          <a:latin typeface="Cambria Math" panose="02040503050406030204" pitchFamily="18" charset="0"/>
                        </a:rPr>
                        <m:t>=</m:t>
                      </m:r>
                    </m:oMath>
                  </m:oMathPara>
                </a14:m>
                <a:endParaRPr lang="en-US" altLang="zh-TW" sz="2800" i="1" dirty="0">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altLang="zh-TW" sz="2800" i="1">
                          <a:latin typeface="Cambria Math" panose="02040503050406030204" pitchFamily="18" charset="0"/>
                        </a:rPr>
                        <m:t>2</m:t>
                      </m:r>
                      <m:r>
                        <a:rPr lang="en-US" altLang="zh-TW" sz="2800" i="1">
                          <a:latin typeface="Cambria Math" panose="02040503050406030204" pitchFamily="18" charset="0"/>
                          <a:ea typeface="Cambria Math" panose="02040503050406030204" pitchFamily="18" charset="0"/>
                        </a:rPr>
                        <m:t>×</m:t>
                      </m:r>
                      <m:r>
                        <a:rPr lang="en-US" altLang="zh-TW" sz="2800" b="0" i="1" smtClean="0">
                          <a:latin typeface="Cambria Math" panose="02040503050406030204" pitchFamily="18" charset="0"/>
                          <a:ea typeface="Cambria Math" panose="02040503050406030204" pitchFamily="18" charset="0"/>
                        </a:rPr>
                        <m:t>1</m:t>
                      </m:r>
                      <m:r>
                        <a:rPr lang="en-US" altLang="zh-TW" sz="2800" i="1">
                          <a:latin typeface="Cambria Math" panose="02040503050406030204" pitchFamily="18" charset="0"/>
                          <a:ea typeface="Cambria Math" panose="02040503050406030204" pitchFamily="18" charset="0"/>
                        </a:rPr>
                        <m:t>+</m:t>
                      </m:r>
                      <m:r>
                        <a:rPr lang="en-US" altLang="zh-TW" sz="2800" b="0" i="1" smtClean="0">
                          <a:latin typeface="Cambria Math" panose="02040503050406030204" pitchFamily="18" charset="0"/>
                          <a:ea typeface="Cambria Math" panose="02040503050406030204" pitchFamily="18" charset="0"/>
                        </a:rPr>
                        <m:t>6</m:t>
                      </m:r>
                    </m:oMath>
                  </m:oMathPara>
                </a14:m>
                <a:endParaRPr lang="zh-TW" altLang="en-US" sz="2800" dirty="0"/>
              </a:p>
            </p:txBody>
          </p:sp>
        </mc:Choice>
        <mc:Fallback>
          <p:sp>
            <p:nvSpPr>
              <p:cNvPr id="7" name="文字方塊 6"/>
              <p:cNvSpPr txBox="1">
                <a:spLocks noRot="1" noChangeAspect="1" noMove="1" noResize="1" noEditPoints="1" noAdjustHandles="1" noChangeArrowheads="1" noChangeShapeType="1" noTextEdit="1"/>
              </p:cNvSpPr>
              <p:nvPr/>
            </p:nvSpPr>
            <p:spPr>
              <a:xfrm>
                <a:off x="6061885" y="2521436"/>
                <a:ext cx="3845733" cy="3158557"/>
              </a:xfrm>
              <a:prstGeom prst="rect">
                <a:avLst/>
              </a:prstGeom>
              <a:blipFill>
                <a:blip r:embed="rId2"/>
                <a:stretch>
                  <a:fillRect t="-347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2236662" y="2521436"/>
                <a:ext cx="2612638" cy="3191515"/>
              </a:xfrm>
              <a:prstGeom prst="rect">
                <a:avLst/>
              </a:prstGeom>
            </p:spPr>
            <p:txBody>
              <a:bodyPr wrap="none">
                <a:spAutoFit/>
              </a:bodyPr>
              <a:lstStyle/>
              <a:p>
                <a:pPr algn="ctr"/>
                <a:r>
                  <a:rPr lang="en-US" altLang="zh-TW" sz="2800" i="1" dirty="0">
                    <a:latin typeface="Cambria Math" panose="02040503050406030204" pitchFamily="18" charset="0"/>
                  </a:rPr>
                  <a:t>3DM</a:t>
                </a:r>
              </a:p>
              <a:p>
                <a:pPr/>
                <a14:m>
                  <m:oMathPara xmlns:m="http://schemas.openxmlformats.org/officeDocument/2006/math">
                    <m:oMathParaPr>
                      <m:jc m:val="centerGroup"/>
                    </m:oMathParaPr>
                    <m:oMath xmlns:m="http://schemas.openxmlformats.org/officeDocument/2006/math">
                      <m:d>
                        <m:dPr>
                          <m:begChr m:val="{"/>
                          <m:endChr m:val="}"/>
                          <m:ctrlPr>
                            <a:rPr lang="en-US" altLang="zh-TW" sz="2800" i="1">
                              <a:latin typeface="Cambria Math" panose="02040503050406030204" pitchFamily="18" charset="0"/>
                            </a:rPr>
                          </m:ctrlPr>
                        </m:dPr>
                        <m:e>
                          <m:eqArr>
                            <m:eqArrPr>
                              <m:ctrlPr>
                                <a:rPr lang="en-US" altLang="zh-TW" sz="2800" i="1">
                                  <a:latin typeface="Cambria Math" panose="02040503050406030204" pitchFamily="18" charset="0"/>
                                </a:rPr>
                              </m:ctrlPr>
                            </m:eqArrPr>
                            <m:e>
                              <m:d>
                                <m:dPr>
                                  <m:ctrlPr>
                                    <a:rPr lang="en-US" altLang="zh-TW" sz="2800" i="1">
                                      <a:solidFill>
                                        <a:srgbClr val="FF0000"/>
                                      </a:solidFill>
                                      <a:latin typeface="Cambria Math" panose="02040503050406030204" pitchFamily="18" charset="0"/>
                                    </a:rPr>
                                  </m:ctrlPr>
                                </m:dPr>
                                <m:e>
                                  <m:sSub>
                                    <m:sSubPr>
                                      <m:ctrlPr>
                                        <a:rPr lang="en-US" altLang="zh-TW" sz="2800" i="1">
                                          <a:solidFill>
                                            <a:srgbClr val="FF0000"/>
                                          </a:solidFill>
                                          <a:latin typeface="Cambria Math" panose="02040503050406030204" pitchFamily="18" charset="0"/>
                                        </a:rPr>
                                      </m:ctrlPr>
                                    </m:sSubPr>
                                    <m:e>
                                      <m:r>
                                        <a:rPr lang="en-US" altLang="zh-TW" sz="2800" i="1">
                                          <a:solidFill>
                                            <a:srgbClr val="FF0000"/>
                                          </a:solidFill>
                                          <a:latin typeface="Cambria Math" panose="02040503050406030204" pitchFamily="18" charset="0"/>
                                        </a:rPr>
                                        <m:t>𝑥</m:t>
                                      </m:r>
                                    </m:e>
                                    <m:sub>
                                      <m:r>
                                        <a:rPr lang="en-US" altLang="zh-TW" sz="2800" i="1">
                                          <a:solidFill>
                                            <a:srgbClr val="FF0000"/>
                                          </a:solidFill>
                                          <a:latin typeface="Cambria Math" panose="02040503050406030204" pitchFamily="18" charset="0"/>
                                        </a:rPr>
                                        <m:t>1</m:t>
                                      </m:r>
                                    </m:sub>
                                  </m:sSub>
                                  <m:r>
                                    <a:rPr lang="en-US" altLang="zh-TW" sz="2800" i="1">
                                      <a:solidFill>
                                        <a:srgbClr val="FF0000"/>
                                      </a:solidFill>
                                      <a:latin typeface="Cambria Math" panose="02040503050406030204" pitchFamily="18" charset="0"/>
                                    </a:rPr>
                                    <m:t>,</m:t>
                                  </m:r>
                                  <m:sSub>
                                    <m:sSubPr>
                                      <m:ctrlPr>
                                        <a:rPr lang="en-US" altLang="zh-TW" sz="2800" i="1">
                                          <a:solidFill>
                                            <a:srgbClr val="FF0000"/>
                                          </a:solidFill>
                                          <a:latin typeface="Cambria Math" panose="02040503050406030204" pitchFamily="18" charset="0"/>
                                        </a:rPr>
                                      </m:ctrlPr>
                                    </m:sSubPr>
                                    <m:e>
                                      <m:r>
                                        <a:rPr lang="en-US" altLang="zh-TW" sz="2800" i="1">
                                          <a:solidFill>
                                            <a:srgbClr val="FF0000"/>
                                          </a:solidFill>
                                          <a:latin typeface="Cambria Math" panose="02040503050406030204" pitchFamily="18" charset="0"/>
                                        </a:rPr>
                                        <m:t>𝑦</m:t>
                                      </m:r>
                                    </m:e>
                                    <m:sub>
                                      <m:r>
                                        <a:rPr lang="en-US" altLang="zh-TW" sz="2800" i="1">
                                          <a:solidFill>
                                            <a:srgbClr val="FF0000"/>
                                          </a:solidFill>
                                          <a:latin typeface="Cambria Math" panose="02040503050406030204" pitchFamily="18" charset="0"/>
                                        </a:rPr>
                                        <m:t>1</m:t>
                                      </m:r>
                                    </m:sub>
                                  </m:sSub>
                                  <m:r>
                                    <a:rPr lang="en-US" altLang="zh-TW" sz="2800" i="1">
                                      <a:solidFill>
                                        <a:srgbClr val="FF0000"/>
                                      </a:solidFill>
                                      <a:latin typeface="Cambria Math" panose="02040503050406030204" pitchFamily="18" charset="0"/>
                                    </a:rPr>
                                    <m:t>,</m:t>
                                  </m:r>
                                  <m:sSub>
                                    <m:sSubPr>
                                      <m:ctrlPr>
                                        <a:rPr lang="en-US" altLang="zh-TW" sz="2800" i="1">
                                          <a:solidFill>
                                            <a:srgbClr val="FF0000"/>
                                          </a:solidFill>
                                          <a:latin typeface="Cambria Math" panose="02040503050406030204" pitchFamily="18" charset="0"/>
                                        </a:rPr>
                                      </m:ctrlPr>
                                    </m:sSubPr>
                                    <m:e>
                                      <m:r>
                                        <a:rPr lang="en-US" altLang="zh-TW" sz="2800" i="1">
                                          <a:solidFill>
                                            <a:srgbClr val="FF0000"/>
                                          </a:solidFill>
                                          <a:latin typeface="Cambria Math" panose="02040503050406030204" pitchFamily="18" charset="0"/>
                                        </a:rPr>
                                        <m:t>𝑧</m:t>
                                      </m:r>
                                    </m:e>
                                    <m:sub>
                                      <m:r>
                                        <a:rPr lang="en-US" altLang="zh-TW" sz="2800" i="1">
                                          <a:solidFill>
                                            <a:srgbClr val="FF0000"/>
                                          </a:solidFill>
                                          <a:latin typeface="Cambria Math" panose="02040503050406030204" pitchFamily="18" charset="0"/>
                                        </a:rPr>
                                        <m:t>1</m:t>
                                      </m:r>
                                    </m:sub>
                                  </m:sSub>
                                </m:e>
                              </m:d>
                              <m:r>
                                <a:rPr lang="en-US" altLang="zh-TW" sz="2800" i="1">
                                  <a:latin typeface="Cambria Math" panose="02040503050406030204" pitchFamily="18" charset="0"/>
                                </a:rPr>
                                <m:t>,</m:t>
                              </m:r>
                            </m:e>
                            <m:e>
                              <m:d>
                                <m:dPr>
                                  <m:ctrlPr>
                                    <a:rPr lang="en-US" altLang="zh-TW" sz="2800" i="1">
                                      <a:latin typeface="Cambria Math" panose="02040503050406030204" pitchFamily="18" charset="0"/>
                                    </a:rPr>
                                  </m:ctrlPr>
                                </m:dPr>
                                <m:e>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𝑥</m:t>
                                      </m:r>
                                    </m:e>
                                    <m:sub>
                                      <m:r>
                                        <a:rPr lang="en-US" altLang="zh-TW" sz="2800" i="1">
                                          <a:latin typeface="Cambria Math" panose="02040503050406030204" pitchFamily="18" charset="0"/>
                                        </a:rPr>
                                        <m:t>1</m:t>
                                      </m:r>
                                    </m:sub>
                                  </m:sSub>
                                  <m:r>
                                    <a:rPr lang="en-US" altLang="zh-TW" sz="2800" i="1">
                                      <a:latin typeface="Cambria Math" panose="02040503050406030204" pitchFamily="18" charset="0"/>
                                    </a:rPr>
                                    <m:t>,</m:t>
                                  </m:r>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𝑦</m:t>
                                      </m:r>
                                    </m:e>
                                    <m:sub>
                                      <m:r>
                                        <a:rPr lang="en-US" altLang="zh-TW" sz="2800" i="1">
                                          <a:latin typeface="Cambria Math" panose="02040503050406030204" pitchFamily="18" charset="0"/>
                                        </a:rPr>
                                        <m:t>2</m:t>
                                      </m:r>
                                    </m:sub>
                                  </m:sSub>
                                  <m:r>
                                    <a:rPr lang="en-US" altLang="zh-TW" sz="2800" i="1">
                                      <a:latin typeface="Cambria Math" panose="02040503050406030204" pitchFamily="18" charset="0"/>
                                    </a:rPr>
                                    <m:t>,</m:t>
                                  </m:r>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𝑧</m:t>
                                      </m:r>
                                    </m:e>
                                    <m:sub>
                                      <m:r>
                                        <a:rPr lang="en-US" altLang="zh-TW" sz="2800" i="1">
                                          <a:latin typeface="Cambria Math" panose="02040503050406030204" pitchFamily="18" charset="0"/>
                                        </a:rPr>
                                        <m:t>1</m:t>
                                      </m:r>
                                    </m:sub>
                                  </m:sSub>
                                </m:e>
                              </m:d>
                              <m:r>
                                <a:rPr lang="en-US" altLang="zh-TW" sz="2800" i="1">
                                  <a:latin typeface="Cambria Math" panose="02040503050406030204" pitchFamily="18" charset="0"/>
                                </a:rPr>
                                <m:t>,</m:t>
                              </m:r>
                            </m:e>
                            <m:e>
                              <m:d>
                                <m:dPr>
                                  <m:ctrlPr>
                                    <a:rPr lang="en-US" altLang="zh-TW" sz="2800" i="1">
                                      <a:solidFill>
                                        <a:srgbClr val="FF0000"/>
                                      </a:solidFill>
                                      <a:latin typeface="Cambria Math" panose="02040503050406030204" pitchFamily="18" charset="0"/>
                                    </a:rPr>
                                  </m:ctrlPr>
                                </m:dPr>
                                <m:e>
                                  <m:sSub>
                                    <m:sSubPr>
                                      <m:ctrlPr>
                                        <a:rPr lang="en-US" altLang="zh-TW" sz="2800" i="1">
                                          <a:solidFill>
                                            <a:srgbClr val="FF0000"/>
                                          </a:solidFill>
                                          <a:latin typeface="Cambria Math" panose="02040503050406030204" pitchFamily="18" charset="0"/>
                                        </a:rPr>
                                      </m:ctrlPr>
                                    </m:sSubPr>
                                    <m:e>
                                      <m:r>
                                        <a:rPr lang="en-US" altLang="zh-TW" sz="2800" i="1">
                                          <a:solidFill>
                                            <a:srgbClr val="FF0000"/>
                                          </a:solidFill>
                                          <a:latin typeface="Cambria Math" panose="02040503050406030204" pitchFamily="18" charset="0"/>
                                        </a:rPr>
                                        <m:t>𝑥</m:t>
                                      </m:r>
                                    </m:e>
                                    <m:sub>
                                      <m:r>
                                        <a:rPr lang="en-US" altLang="zh-TW" sz="2800" i="1">
                                          <a:solidFill>
                                            <a:srgbClr val="FF0000"/>
                                          </a:solidFill>
                                          <a:latin typeface="Cambria Math" panose="02040503050406030204" pitchFamily="18" charset="0"/>
                                        </a:rPr>
                                        <m:t>2</m:t>
                                      </m:r>
                                    </m:sub>
                                  </m:sSub>
                                  <m:r>
                                    <a:rPr lang="en-US" altLang="zh-TW" sz="2800" i="1">
                                      <a:solidFill>
                                        <a:srgbClr val="FF0000"/>
                                      </a:solidFill>
                                      <a:latin typeface="Cambria Math" panose="02040503050406030204" pitchFamily="18" charset="0"/>
                                    </a:rPr>
                                    <m:t>,</m:t>
                                  </m:r>
                                  <m:sSub>
                                    <m:sSubPr>
                                      <m:ctrlPr>
                                        <a:rPr lang="en-US" altLang="zh-TW" sz="2800" i="1">
                                          <a:solidFill>
                                            <a:srgbClr val="FF0000"/>
                                          </a:solidFill>
                                          <a:latin typeface="Cambria Math" panose="02040503050406030204" pitchFamily="18" charset="0"/>
                                        </a:rPr>
                                      </m:ctrlPr>
                                    </m:sSubPr>
                                    <m:e>
                                      <m:r>
                                        <a:rPr lang="en-US" altLang="zh-TW" sz="2800" i="1">
                                          <a:solidFill>
                                            <a:srgbClr val="FF0000"/>
                                          </a:solidFill>
                                          <a:latin typeface="Cambria Math" panose="02040503050406030204" pitchFamily="18" charset="0"/>
                                        </a:rPr>
                                        <m:t>𝑦</m:t>
                                      </m:r>
                                    </m:e>
                                    <m:sub>
                                      <m:r>
                                        <a:rPr lang="en-US" altLang="zh-TW" sz="2800" i="1">
                                          <a:solidFill>
                                            <a:srgbClr val="FF0000"/>
                                          </a:solidFill>
                                          <a:latin typeface="Cambria Math" panose="02040503050406030204" pitchFamily="18" charset="0"/>
                                        </a:rPr>
                                        <m:t>2</m:t>
                                      </m:r>
                                    </m:sub>
                                  </m:sSub>
                                  <m:r>
                                    <a:rPr lang="en-US" altLang="zh-TW" sz="2800" i="1">
                                      <a:solidFill>
                                        <a:srgbClr val="FF0000"/>
                                      </a:solidFill>
                                      <a:latin typeface="Cambria Math" panose="02040503050406030204" pitchFamily="18" charset="0"/>
                                    </a:rPr>
                                    <m:t>,</m:t>
                                  </m:r>
                                  <m:sSub>
                                    <m:sSubPr>
                                      <m:ctrlPr>
                                        <a:rPr lang="en-US" altLang="zh-TW" sz="2800" i="1">
                                          <a:solidFill>
                                            <a:srgbClr val="FF0000"/>
                                          </a:solidFill>
                                          <a:latin typeface="Cambria Math" panose="02040503050406030204" pitchFamily="18" charset="0"/>
                                        </a:rPr>
                                      </m:ctrlPr>
                                    </m:sSubPr>
                                    <m:e>
                                      <m:r>
                                        <a:rPr lang="en-US" altLang="zh-TW" sz="2800" i="1">
                                          <a:solidFill>
                                            <a:srgbClr val="FF0000"/>
                                          </a:solidFill>
                                          <a:latin typeface="Cambria Math" panose="02040503050406030204" pitchFamily="18" charset="0"/>
                                        </a:rPr>
                                        <m:t>𝑧</m:t>
                                      </m:r>
                                    </m:e>
                                    <m:sub>
                                      <m:r>
                                        <a:rPr lang="en-US" altLang="zh-TW" sz="2800" i="1">
                                          <a:solidFill>
                                            <a:srgbClr val="FF0000"/>
                                          </a:solidFill>
                                          <a:latin typeface="Cambria Math" panose="02040503050406030204" pitchFamily="18" charset="0"/>
                                        </a:rPr>
                                        <m:t>2</m:t>
                                      </m:r>
                                    </m:sub>
                                  </m:sSub>
                                </m:e>
                              </m:d>
                              <m:r>
                                <a:rPr lang="en-US" altLang="zh-TW" sz="2800" i="1">
                                  <a:solidFill>
                                    <a:schemeClr val="bg1"/>
                                  </a:solidFill>
                                  <a:latin typeface="Cambria Math" panose="02040503050406030204" pitchFamily="18" charset="0"/>
                                </a:rPr>
                                <m:t>,</m:t>
                              </m:r>
                            </m:e>
                          </m:eqArr>
                        </m:e>
                      </m:d>
                    </m:oMath>
                  </m:oMathPara>
                </a14:m>
                <a:endParaRPr lang="en-US" altLang="zh-TW" sz="2800" dirty="0"/>
              </a:p>
              <a:p>
                <a:endParaRPr lang="en-US" altLang="zh-TW" sz="2800" dirty="0"/>
              </a:p>
              <a:p>
                <a:pPr/>
                <a14:m>
                  <m:oMathPara xmlns:m="http://schemas.openxmlformats.org/officeDocument/2006/math">
                    <m:oMathParaPr>
                      <m:jc m:val="centerGroup"/>
                    </m:oMathParaPr>
                    <m:oMath xmlns:m="http://schemas.openxmlformats.org/officeDocument/2006/math">
                      <m:r>
                        <a:rPr lang="en-US" altLang="zh-TW" sz="2800" i="1">
                          <a:latin typeface="Cambria Math" panose="02040503050406030204" pitchFamily="18" charset="0"/>
                        </a:rPr>
                        <m:t>𝑚</m:t>
                      </m:r>
                      <m:r>
                        <a:rPr lang="en-US" altLang="zh-TW" sz="2800" i="1">
                          <a:latin typeface="Cambria Math" panose="02040503050406030204" pitchFamily="18" charset="0"/>
                        </a:rPr>
                        <m:t>=3</m:t>
                      </m:r>
                    </m:oMath>
                  </m:oMathPara>
                </a14:m>
                <a:endParaRPr lang="en-US" altLang="zh-TW" sz="2800" dirty="0"/>
              </a:p>
              <a:p>
                <a:pPr/>
                <a14:m>
                  <m:oMathPara xmlns:m="http://schemas.openxmlformats.org/officeDocument/2006/math">
                    <m:oMathParaPr>
                      <m:jc m:val="centerGroup"/>
                    </m:oMathParaPr>
                    <m:oMath xmlns:m="http://schemas.openxmlformats.org/officeDocument/2006/math">
                      <m:r>
                        <a:rPr lang="en-US" altLang="zh-TW" sz="2800" i="1">
                          <a:latin typeface="Cambria Math" panose="02040503050406030204" pitchFamily="18" charset="0"/>
                        </a:rPr>
                        <m:t>𝑘</m:t>
                      </m:r>
                      <m:r>
                        <a:rPr lang="en-US" altLang="zh-TW" sz="2800" i="1">
                          <a:latin typeface="Cambria Math" panose="02040503050406030204" pitchFamily="18" charset="0"/>
                        </a:rPr>
                        <m:t>=2</m:t>
                      </m:r>
                    </m:oMath>
                  </m:oMathPara>
                </a14:m>
                <a:endParaRPr lang="zh-TW" altLang="en-US" sz="2800" dirty="0"/>
              </a:p>
            </p:txBody>
          </p:sp>
        </mc:Choice>
        <mc:Fallback xmlns="">
          <p:sp>
            <p:nvSpPr>
              <p:cNvPr id="9" name="矩形 8"/>
              <p:cNvSpPr>
                <a:spLocks noRot="1" noChangeAspect="1" noMove="1" noResize="1" noEditPoints="1" noAdjustHandles="1" noChangeArrowheads="1" noChangeShapeType="1" noTextEdit="1"/>
              </p:cNvSpPr>
              <p:nvPr/>
            </p:nvSpPr>
            <p:spPr>
              <a:xfrm>
                <a:off x="2236662" y="2521436"/>
                <a:ext cx="2612638" cy="3191515"/>
              </a:xfrm>
              <a:prstGeom prst="rect">
                <a:avLst/>
              </a:prstGeom>
              <a:blipFill>
                <a:blip r:embed="rId3"/>
                <a:stretch>
                  <a:fillRect t="-210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文字方塊 10"/>
              <p:cNvSpPr txBox="1"/>
              <p:nvPr/>
            </p:nvSpPr>
            <p:spPr>
              <a:xfrm>
                <a:off x="1884001" y="90001"/>
                <a:ext cx="6990247" cy="2431435"/>
              </a:xfrm>
              <a:prstGeom prst="rect">
                <a:avLst/>
              </a:prstGeom>
              <a:noFill/>
            </p:spPr>
            <p:txBody>
              <a:bodyPr wrap="none" rtlCol="0">
                <a:spAutoFit/>
              </a:bodyPr>
              <a:lstStyle/>
              <a:p>
                <a:r>
                  <a:rPr lang="en-US" altLang="zh-TW" sz="4400" dirty="0">
                    <a:solidFill>
                      <a:srgbClr val="0000FF"/>
                    </a:solidFill>
                    <a:latin typeface="Times New Roman" panose="02020603050405020304" pitchFamily="18" charset="0"/>
                    <a:cs typeface="Times New Roman" panose="02020603050405020304" pitchFamily="18" charset="0"/>
                  </a:rPr>
                  <a:t>P(LOL)</a:t>
                </a:r>
                <a:r>
                  <a:rPr lang="zh-TW" altLang="en-US" sz="4400" dirty="0">
                    <a:solidFill>
                      <a:srgbClr val="0000FF"/>
                    </a:solidFill>
                    <a:latin typeface="Times New Roman" panose="02020603050405020304" pitchFamily="18" charset="0"/>
                    <a:cs typeface="Times New Roman" panose="02020603050405020304" pitchFamily="18" charset="0"/>
                  </a:rPr>
                  <a:t> </a:t>
                </a:r>
                <a:r>
                  <a:rPr lang="en-US" altLang="zh-TW" sz="4400" dirty="0">
                    <a:solidFill>
                      <a:srgbClr val="0000FF"/>
                    </a:solidFill>
                    <a:latin typeface="Times New Roman" panose="02020603050405020304" pitchFamily="18" charset="0"/>
                    <a:cs typeface="Times New Roman" panose="02020603050405020304" pitchFamily="18" charset="0"/>
                  </a:rPr>
                  <a:t>is </a:t>
                </a:r>
                <a14:m>
                  <m:oMath xmlns:m="http://schemas.openxmlformats.org/officeDocument/2006/math">
                    <m:r>
                      <a:rPr lang="en-US" altLang="zh-TW" sz="4400" i="1" dirty="0">
                        <a:solidFill>
                          <a:srgbClr val="0000FF"/>
                        </a:solidFill>
                        <a:latin typeface="Cambria Math" panose="02040503050406030204" pitchFamily="18" charset="0"/>
                        <a:cs typeface="Times New Roman" panose="02020603050405020304" pitchFamily="18" charset="0"/>
                      </a:rPr>
                      <m:t>𝑁𝑃</m:t>
                    </m:r>
                  </m:oMath>
                </a14:m>
                <a:r>
                  <a:rPr lang="en-US" altLang="zh-TW" sz="4400" dirty="0">
                    <a:solidFill>
                      <a:srgbClr val="0000FF"/>
                    </a:solidFill>
                    <a:latin typeface="Times New Roman" panose="02020603050405020304" pitchFamily="18" charset="0"/>
                    <a:cs typeface="Times New Roman" panose="02020603050405020304" pitchFamily="18" charset="0"/>
                  </a:rPr>
                  <a:t>-hard.</a:t>
                </a:r>
              </a:p>
              <a:p>
                <a:r>
                  <a:rPr lang="en-US" altLang="zh-TW" sz="3200" dirty="0">
                    <a:solidFill>
                      <a:srgbClr val="0000FF"/>
                    </a:solidFill>
                  </a:rPr>
                  <a:t>The answer of </a:t>
                </a:r>
                <a14:m>
                  <m:oMath xmlns:m="http://schemas.openxmlformats.org/officeDocument/2006/math">
                    <m:r>
                      <a:rPr lang="en-US" altLang="zh-TW" sz="3200" i="1" dirty="0">
                        <a:solidFill>
                          <a:srgbClr val="FF0000"/>
                        </a:solidFill>
                        <a:latin typeface="Cambria Math" panose="02040503050406030204" pitchFamily="18" charset="0"/>
                      </a:rPr>
                      <m:t>𝑃</m:t>
                    </m:r>
                    <m:r>
                      <a:rPr lang="en-US" altLang="zh-TW" sz="3200" i="1" dirty="0">
                        <a:solidFill>
                          <a:srgbClr val="FF0000"/>
                        </a:solidFill>
                        <a:latin typeface="Cambria Math" panose="02040503050406030204" pitchFamily="18" charset="0"/>
                      </a:rPr>
                      <m:t>(</m:t>
                    </m:r>
                    <m:r>
                      <a:rPr lang="en-US" altLang="zh-TW" sz="3200" i="1" dirty="0">
                        <a:solidFill>
                          <a:srgbClr val="FF0000"/>
                        </a:solidFill>
                        <a:latin typeface="Cambria Math" panose="02040503050406030204" pitchFamily="18" charset="0"/>
                      </a:rPr>
                      <m:t>𝐿𝑂𝐿</m:t>
                    </m:r>
                    <m:r>
                      <a:rPr lang="en-US" altLang="zh-TW" sz="3200" i="1" dirty="0">
                        <a:solidFill>
                          <a:srgbClr val="FF0000"/>
                        </a:solidFill>
                        <a:latin typeface="Cambria Math" panose="02040503050406030204" pitchFamily="18" charset="0"/>
                      </a:rPr>
                      <m:t>)</m:t>
                    </m:r>
                  </m:oMath>
                </a14:m>
                <a:r>
                  <a:rPr lang="en-US" altLang="zh-TW" sz="3200" dirty="0">
                    <a:solidFill>
                      <a:srgbClr val="FF0000"/>
                    </a:solidFill>
                  </a:rPr>
                  <a:t> </a:t>
                </a:r>
                <a:r>
                  <a:rPr lang="en-US" altLang="zh-TW" sz="3200" dirty="0">
                    <a:solidFill>
                      <a:srgbClr val="0000FF"/>
                    </a:solidFill>
                  </a:rPr>
                  <a:t>with size </a:t>
                </a:r>
                <a14:m>
                  <m:oMath xmlns:m="http://schemas.openxmlformats.org/officeDocument/2006/math">
                    <m:r>
                      <a:rPr lang="en-US" altLang="zh-TW" sz="3200" dirty="0">
                        <a:solidFill>
                          <a:srgbClr val="FF0000"/>
                        </a:solidFill>
                        <a:latin typeface="Cambria Math" panose="02040503050406030204" pitchFamily="18" charset="0"/>
                      </a:rPr>
                      <m:t>2</m:t>
                    </m:r>
                    <m:r>
                      <m:rPr>
                        <m:sty m:val="p"/>
                      </m:rPr>
                      <a:rPr lang="en-US" altLang="zh-TW" sz="3200" dirty="0">
                        <a:solidFill>
                          <a:srgbClr val="FF0000"/>
                        </a:solidFill>
                        <a:latin typeface="Cambria Math" panose="02040503050406030204" pitchFamily="18" charset="0"/>
                      </a:rPr>
                      <m:t>m</m:t>
                    </m:r>
                    <m:r>
                      <a:rPr lang="en-US" altLang="zh-TW" sz="3200" dirty="0">
                        <a:solidFill>
                          <a:srgbClr val="FF0000"/>
                        </a:solidFill>
                        <a:latin typeface="Cambria Math" panose="02040503050406030204" pitchFamily="18" charset="0"/>
                      </a:rPr>
                      <m:t>+</m:t>
                    </m:r>
                    <m:r>
                      <a:rPr lang="en-US" altLang="zh-TW" sz="3200" i="1" dirty="0">
                        <a:solidFill>
                          <a:srgbClr val="FF0000"/>
                        </a:solidFill>
                        <a:latin typeface="Cambria Math" panose="02040503050406030204" pitchFamily="18" charset="0"/>
                      </a:rPr>
                      <m:t>𝑘</m:t>
                    </m:r>
                  </m:oMath>
                </a14:m>
                <a:r>
                  <a:rPr lang="en-US" altLang="zh-TW" sz="3200" dirty="0">
                    <a:solidFill>
                      <a:srgbClr val="0000FF"/>
                    </a:solidFill>
                  </a:rPr>
                  <a:t>,</a:t>
                </a:r>
              </a:p>
              <a:p>
                <a:r>
                  <a:rPr lang="en-US" altLang="zh-TW" sz="3200" dirty="0">
                    <a:solidFill>
                      <a:srgbClr val="0000FF"/>
                    </a:solidFill>
                  </a:rPr>
                  <a:t>then the answer of </a:t>
                </a:r>
                <a14:m>
                  <m:oMath xmlns:m="http://schemas.openxmlformats.org/officeDocument/2006/math">
                    <m:r>
                      <a:rPr lang="en-US" altLang="zh-TW" sz="3200" i="1" dirty="0">
                        <a:solidFill>
                          <a:srgbClr val="FF0000"/>
                        </a:solidFill>
                        <a:latin typeface="Cambria Math" panose="02040503050406030204" pitchFamily="18" charset="0"/>
                      </a:rPr>
                      <m:t>3</m:t>
                    </m:r>
                    <m:r>
                      <a:rPr lang="en-US" altLang="zh-TW" sz="3200" i="1" dirty="0">
                        <a:solidFill>
                          <a:srgbClr val="FF0000"/>
                        </a:solidFill>
                        <a:latin typeface="Cambria Math" panose="02040503050406030204" pitchFamily="18" charset="0"/>
                      </a:rPr>
                      <m:t>𝐷𝑀</m:t>
                    </m:r>
                  </m:oMath>
                </a14:m>
                <a:r>
                  <a:rPr lang="en-US" altLang="zh-TW" sz="3200" dirty="0">
                    <a:solidFill>
                      <a:srgbClr val="0000FF"/>
                    </a:solidFill>
                  </a:rPr>
                  <a:t> with size </a:t>
                </a:r>
                <a14:m>
                  <m:oMath xmlns:m="http://schemas.openxmlformats.org/officeDocument/2006/math">
                    <m:r>
                      <a:rPr lang="en-US" altLang="zh-TW" sz="3200" i="1" dirty="0">
                        <a:solidFill>
                          <a:srgbClr val="FF0000"/>
                        </a:solidFill>
                        <a:latin typeface="Cambria Math" panose="02040503050406030204" pitchFamily="18" charset="0"/>
                      </a:rPr>
                      <m:t>𝑘</m:t>
                    </m:r>
                  </m:oMath>
                </a14:m>
                <a:r>
                  <a:rPr lang="en-US" altLang="zh-TW" sz="3200" dirty="0">
                    <a:solidFill>
                      <a:srgbClr val="0000FF"/>
                    </a:solidFill>
                  </a:rPr>
                  <a:t>.</a:t>
                </a:r>
                <a:endParaRPr lang="zh-TW" altLang="en-US" sz="3200" dirty="0">
                  <a:solidFill>
                    <a:srgbClr val="0000FF"/>
                  </a:solidFill>
                </a:endParaRPr>
              </a:p>
              <a:p>
                <a:endParaRPr lang="zh-TW" altLang="en-US" sz="4400" dirty="0">
                  <a:solidFill>
                    <a:srgbClr val="0000FF"/>
                  </a:solidFill>
                  <a:latin typeface="Times New Roman" panose="02020603050405020304" pitchFamily="18" charset="0"/>
                  <a:cs typeface="Times New Roman" panose="02020603050405020304" pitchFamily="18" charset="0"/>
                </a:endParaRPr>
              </a:p>
            </p:txBody>
          </p:sp>
        </mc:Choice>
        <mc:Fallback xmlns="">
          <p:sp>
            <p:nvSpPr>
              <p:cNvPr id="11" name="文字方塊 10"/>
              <p:cNvSpPr txBox="1">
                <a:spLocks noRot="1" noChangeAspect="1" noMove="1" noResize="1" noEditPoints="1" noAdjustHandles="1" noChangeArrowheads="1" noChangeShapeType="1" noTextEdit="1"/>
              </p:cNvSpPr>
              <p:nvPr/>
            </p:nvSpPr>
            <p:spPr>
              <a:xfrm>
                <a:off x="1884001" y="90001"/>
                <a:ext cx="6990247" cy="2431435"/>
              </a:xfrm>
              <a:prstGeom prst="rect">
                <a:avLst/>
              </a:prstGeom>
              <a:blipFill>
                <a:blip r:embed="rId4"/>
                <a:stretch>
                  <a:fillRect l="-3487" t="-5013" r="-191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8113910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7" name="內容版面配置區 6"/>
              <p:cNvSpPr>
                <a:spLocks noGrp="1"/>
              </p:cNvSpPr>
              <p:nvPr>
                <p:ph idx="1"/>
              </p:nvPr>
            </p:nvSpPr>
            <p:spPr>
              <a:xfrm>
                <a:off x="2152650" y="1464871"/>
                <a:ext cx="7886700" cy="4351338"/>
              </a:xfrm>
            </p:spPr>
            <p:txBody>
              <a:bodyPr>
                <a:noAutofit/>
              </a:bodyPr>
              <a:lstStyle/>
              <a:p>
                <a:pPr>
                  <a:buFont typeface="Wingdings" panose="05000000000000000000" pitchFamily="2" charset="2"/>
                  <a:buChar char="Ø"/>
                </a:pPr>
                <a14:m>
                  <m:oMath xmlns:m="http://schemas.openxmlformats.org/officeDocument/2006/math">
                    <m:r>
                      <a:rPr lang="en-US" altLang="zh-TW"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𝑜𝑝𝑡</m:t>
                        </m:r>
                      </m:e>
                      <m:sub>
                        <m:r>
                          <a:rPr lang="en-US" altLang="zh-TW" i="1">
                            <a:latin typeface="Cambria Math" panose="02040503050406030204" pitchFamily="18" charset="0"/>
                          </a:rPr>
                          <m:t>𝐿𝑂𝐿</m:t>
                        </m:r>
                      </m:sub>
                    </m:sSub>
                    <m:r>
                      <a:rPr lang="en-US" altLang="zh-TW" i="1">
                        <a:latin typeface="Cambria Math" panose="02040503050406030204" pitchFamily="18" charset="0"/>
                      </a:rPr>
                      <m:t>|≤</m:t>
                    </m:r>
                    <m:r>
                      <a:rPr lang="zh-TW" altLang="en-US" i="1">
                        <a:latin typeface="Cambria Math" panose="02040503050406030204" pitchFamily="18" charset="0"/>
                      </a:rPr>
                      <m:t>𝛿</m:t>
                    </m:r>
                    <m:r>
                      <a:rPr lang="el-GR" altLang="zh-TW" i="1">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m:t>
                    </m:r>
                    <m:sSub>
                      <m:sSubPr>
                        <m:ctrlPr>
                          <a:rPr lang="el-GR" altLang="zh-TW" i="1">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Cambria Math" panose="02040503050406030204" pitchFamily="18" charset="0"/>
                          </a:rPr>
                          <m:t>𝑜𝑝𝑡</m:t>
                        </m:r>
                      </m:e>
                      <m:sub>
                        <m:r>
                          <a:rPr lang="en-US" altLang="zh-TW" i="1">
                            <a:latin typeface="Cambria Math" panose="02040503050406030204" pitchFamily="18" charset="0"/>
                            <a:ea typeface="Cambria Math" panose="02040503050406030204" pitchFamily="18" charset="0"/>
                          </a:rPr>
                          <m:t>𝑀𝐴𝑋</m:t>
                        </m:r>
                        <m:r>
                          <a:rPr lang="en-US" altLang="zh-TW" i="1">
                            <a:latin typeface="Cambria Math" panose="02040503050406030204" pitchFamily="18" charset="0"/>
                            <a:ea typeface="Cambria Math" panose="02040503050406030204" pitchFamily="18" charset="0"/>
                          </a:rPr>
                          <m:t> 3</m:t>
                        </m:r>
                        <m:r>
                          <a:rPr lang="en-US" altLang="zh-TW" i="1">
                            <a:latin typeface="Cambria Math" panose="02040503050406030204" pitchFamily="18" charset="0"/>
                            <a:ea typeface="Cambria Math" panose="02040503050406030204" pitchFamily="18" charset="0"/>
                          </a:rPr>
                          <m:t>𝐷𝑀</m:t>
                        </m:r>
                        <m:r>
                          <a:rPr lang="en-US" altLang="zh-TW" i="1">
                            <a:latin typeface="Cambria Math" panose="02040503050406030204" pitchFamily="18" charset="0"/>
                            <a:ea typeface="Cambria Math" panose="02040503050406030204" pitchFamily="18" charset="0"/>
                          </a:rPr>
                          <m:t>−3</m:t>
                        </m:r>
                      </m:sub>
                    </m:sSub>
                    <m:r>
                      <a:rPr lang="en-US" altLang="zh-TW" i="1">
                        <a:latin typeface="Cambria Math" panose="02040503050406030204" pitchFamily="18" charset="0"/>
                        <a:ea typeface="Cambria Math" panose="02040503050406030204" pitchFamily="18" charset="0"/>
                      </a:rPr>
                      <m:t>|</m:t>
                    </m:r>
                  </m:oMath>
                </a14:m>
                <a:endParaRPr lang="zh-TW" altLang="en-US" dirty="0"/>
              </a:p>
              <a:p>
                <a:pPr lvl="1">
                  <a:buSzPct val="50000"/>
                  <a:buFont typeface="Wingdings" panose="05000000000000000000" pitchFamily="2" charset="2"/>
                  <a:buChar char="p"/>
                </a:pPr>
                <a14:m>
                  <m:oMath xmlns:m="http://schemas.openxmlformats.org/officeDocument/2006/math">
                    <m:r>
                      <a:rPr lang="en-US" altLang="zh-TW" i="1">
                        <a:latin typeface="Cambria Math" panose="02040503050406030204" pitchFamily="18" charset="0"/>
                      </a:rPr>
                      <m:t>𝑚</m:t>
                    </m:r>
                    <m:r>
                      <a:rPr lang="en-US" altLang="zh-TW" i="1">
                        <a:latin typeface="Cambria Math" panose="02040503050406030204" pitchFamily="18" charset="0"/>
                      </a:rPr>
                      <m:t>≤7</m:t>
                    </m:r>
                    <m:r>
                      <a:rPr lang="en-US" altLang="zh-TW" i="1">
                        <a:latin typeface="Cambria Math" panose="02040503050406030204" pitchFamily="18" charset="0"/>
                      </a:rPr>
                      <m:t>𝑘</m:t>
                    </m:r>
                  </m:oMath>
                </a14:m>
                <a:endParaRPr lang="en-US" altLang="zh-TW" i="1" dirty="0">
                  <a:latin typeface="Cambria Math" panose="02040503050406030204" pitchFamily="18" charset="0"/>
                </a:endParaRPr>
              </a:p>
              <a:p>
                <a:pPr lvl="1">
                  <a:buSzPct val="50000"/>
                  <a:buFont typeface="Wingdings" panose="05000000000000000000" pitchFamily="2" charset="2"/>
                  <a:buChar char="p"/>
                </a:pPr>
                <a14:m>
                  <m:oMath xmlns:m="http://schemas.openxmlformats.org/officeDocument/2006/math">
                    <m:d>
                      <m:dPr>
                        <m:begChr m:val="|"/>
                        <m:endChr m:val="|"/>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𝑜𝑝𝑡</m:t>
                            </m:r>
                          </m:e>
                          <m:sub>
                            <m:r>
                              <a:rPr lang="en-US" altLang="zh-TW" i="1">
                                <a:latin typeface="Cambria Math" panose="02040503050406030204" pitchFamily="18" charset="0"/>
                              </a:rPr>
                              <m:t>𝐿𝑂𝐿</m:t>
                            </m:r>
                          </m:sub>
                        </m:sSub>
                      </m:e>
                    </m:d>
                    <m:r>
                      <a:rPr lang="en-US" altLang="zh-TW" i="1">
                        <a:latin typeface="Cambria Math" panose="02040503050406030204" pitchFamily="18" charset="0"/>
                      </a:rPr>
                      <m:t>=2</m:t>
                    </m:r>
                    <m:r>
                      <a:rPr lang="en-US" altLang="zh-TW" i="1">
                        <a:latin typeface="Cambria Math" panose="02040503050406030204" pitchFamily="18" charset="0"/>
                      </a:rPr>
                      <m:t>𝑚</m:t>
                    </m:r>
                    <m:r>
                      <a:rPr lang="en-US" altLang="zh-TW" i="1">
                        <a:latin typeface="Cambria Math" panose="02040503050406030204" pitchFamily="18" charset="0"/>
                      </a:rPr>
                      <m:t>+</m:t>
                    </m:r>
                    <m:r>
                      <a:rPr lang="en-US" altLang="zh-TW" i="1">
                        <a:latin typeface="Cambria Math" panose="02040503050406030204" pitchFamily="18" charset="0"/>
                      </a:rPr>
                      <m:t>𝑘</m:t>
                    </m:r>
                    <m:r>
                      <a:rPr lang="en-US" altLang="zh-TW" i="1">
                        <a:latin typeface="Cambria Math" panose="02040503050406030204" pitchFamily="18" charset="0"/>
                      </a:rPr>
                      <m:t>≤14</m:t>
                    </m:r>
                    <m:r>
                      <a:rPr lang="en-US" altLang="zh-TW" i="1">
                        <a:latin typeface="Cambria Math" panose="02040503050406030204" pitchFamily="18" charset="0"/>
                      </a:rPr>
                      <m:t>𝑘</m:t>
                    </m:r>
                    <m:r>
                      <a:rPr lang="en-US" altLang="zh-TW" i="1">
                        <a:latin typeface="Cambria Math" panose="02040503050406030204" pitchFamily="18" charset="0"/>
                      </a:rPr>
                      <m:t>+</m:t>
                    </m:r>
                    <m:r>
                      <a:rPr lang="en-US" altLang="zh-TW" i="1">
                        <a:latin typeface="Cambria Math" panose="02040503050406030204" pitchFamily="18" charset="0"/>
                      </a:rPr>
                      <m:t>𝑘</m:t>
                    </m:r>
                    <m:r>
                      <a:rPr lang="en-US" altLang="zh-TW" i="1">
                        <a:latin typeface="Cambria Math" panose="02040503050406030204" pitchFamily="18" charset="0"/>
                      </a:rPr>
                      <m:t>=</m:t>
                    </m:r>
                  </m:oMath>
                </a14:m>
                <a:endParaRPr lang="en-US" altLang="zh-TW" i="1" dirty="0">
                  <a:latin typeface="Cambria Math" panose="02040503050406030204" pitchFamily="18" charset="0"/>
                </a:endParaRPr>
              </a:p>
              <a:p>
                <a:pPr lvl="1">
                  <a:buClr>
                    <a:schemeClr val="bg1"/>
                  </a:buClr>
                  <a:buSzPct val="50000"/>
                  <a:buFont typeface="Wingdings" panose="05000000000000000000" pitchFamily="2" charset="2"/>
                  <a:buChar char="p"/>
                </a:pPr>
                <a14:m>
                  <m:oMath xmlns:m="http://schemas.openxmlformats.org/officeDocument/2006/math">
                    <m:r>
                      <a:rPr lang="en-US" altLang="zh-TW" i="1">
                        <a:latin typeface="Cambria Math" panose="02040503050406030204" pitchFamily="18" charset="0"/>
                      </a:rPr>
                      <m:t>15</m:t>
                    </m:r>
                    <m:r>
                      <a:rPr lang="en-US" altLang="zh-TW" i="1">
                        <a:latin typeface="Cambria Math" panose="02040503050406030204" pitchFamily="18" charset="0"/>
                      </a:rPr>
                      <m:t>𝑘</m:t>
                    </m:r>
                    <m:r>
                      <a:rPr lang="en-US" altLang="zh-TW" i="1">
                        <a:latin typeface="Cambria Math" panose="02040503050406030204" pitchFamily="18" charset="0"/>
                      </a:rPr>
                      <m:t>= 15∙|</m:t>
                    </m:r>
                    <m:sSub>
                      <m:sSubPr>
                        <m:ctrlPr>
                          <a:rPr lang="el-GR" altLang="zh-TW" i="1">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Cambria Math" panose="02040503050406030204" pitchFamily="18" charset="0"/>
                          </a:rPr>
                          <m:t>𝑜𝑝𝑡</m:t>
                        </m:r>
                      </m:e>
                      <m:sub>
                        <m:r>
                          <a:rPr lang="en-US" altLang="zh-TW" i="1">
                            <a:latin typeface="Cambria Math" panose="02040503050406030204" pitchFamily="18" charset="0"/>
                            <a:ea typeface="Cambria Math" panose="02040503050406030204" pitchFamily="18" charset="0"/>
                          </a:rPr>
                          <m:t>𝑀𝐴𝑋</m:t>
                        </m:r>
                        <m:r>
                          <a:rPr lang="en-US" altLang="zh-TW" i="1">
                            <a:latin typeface="Cambria Math" panose="02040503050406030204" pitchFamily="18" charset="0"/>
                            <a:ea typeface="Cambria Math" panose="02040503050406030204" pitchFamily="18" charset="0"/>
                          </a:rPr>
                          <m:t> 3</m:t>
                        </m:r>
                        <m:r>
                          <a:rPr lang="en-US" altLang="zh-TW" i="1">
                            <a:latin typeface="Cambria Math" panose="02040503050406030204" pitchFamily="18" charset="0"/>
                            <a:ea typeface="Cambria Math" panose="02040503050406030204" pitchFamily="18" charset="0"/>
                          </a:rPr>
                          <m:t>𝐷𝑀</m:t>
                        </m:r>
                        <m:r>
                          <a:rPr lang="en-US" altLang="zh-TW" i="1">
                            <a:latin typeface="Cambria Math" panose="02040503050406030204" pitchFamily="18" charset="0"/>
                            <a:ea typeface="Cambria Math" panose="02040503050406030204" pitchFamily="18" charset="0"/>
                          </a:rPr>
                          <m:t>−3</m:t>
                        </m:r>
                      </m:sub>
                    </m:sSub>
                    <m:r>
                      <a:rPr lang="en-US" altLang="zh-TW" i="1">
                        <a:latin typeface="Cambria Math" panose="02040503050406030204" pitchFamily="18" charset="0"/>
                        <a:ea typeface="Cambria Math" panose="02040503050406030204" pitchFamily="18" charset="0"/>
                      </a:rPr>
                      <m:t>|</m:t>
                    </m:r>
                  </m:oMath>
                </a14:m>
                <a:endParaRPr lang="en-US" altLang="zh-TW" sz="2800" dirty="0"/>
              </a:p>
              <a:p>
                <a:pPr>
                  <a:buFont typeface="Wingdings" panose="05000000000000000000" pitchFamily="2" charset="2"/>
                  <a:buChar char="Ø"/>
                </a:pPr>
                <a14:m>
                  <m:oMath xmlns:m="http://schemas.openxmlformats.org/officeDocument/2006/math">
                    <m:d>
                      <m:dPr>
                        <m:begChr m:val="|"/>
                        <m:endChr m:val="|"/>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𝑜𝑝𝑡</m:t>
                            </m:r>
                          </m:e>
                          <m:sub>
                            <m:r>
                              <a:rPr lang="en-US" altLang="zh-TW" i="1">
                                <a:latin typeface="Cambria Math" panose="02040503050406030204" pitchFamily="18" charset="0"/>
                              </a:rPr>
                              <m:t>𝑀𝐴𝑋</m:t>
                            </m:r>
                            <m:r>
                              <a:rPr lang="en-US" altLang="zh-TW" i="1">
                                <a:latin typeface="Cambria Math" panose="02040503050406030204" pitchFamily="18" charset="0"/>
                              </a:rPr>
                              <m:t> 3</m:t>
                            </m:r>
                            <m:r>
                              <a:rPr lang="en-US" altLang="zh-TW" i="1">
                                <a:latin typeface="Cambria Math" panose="02040503050406030204" pitchFamily="18" charset="0"/>
                              </a:rPr>
                              <m:t>𝐷𝑀</m:t>
                            </m:r>
                            <m:r>
                              <a:rPr lang="en-US" altLang="zh-TW" i="1">
                                <a:latin typeface="Cambria Math" panose="02040503050406030204" pitchFamily="18" charset="0"/>
                              </a:rPr>
                              <m:t>−3</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𝑜𝑗</m:t>
                            </m:r>
                          </m:e>
                          <m:sub>
                            <m:r>
                              <a:rPr lang="en-US" altLang="zh-TW" i="1">
                                <a:latin typeface="Cambria Math" panose="02040503050406030204" pitchFamily="18" charset="0"/>
                              </a:rPr>
                              <m:t>1</m:t>
                            </m:r>
                          </m:sub>
                        </m:sSub>
                      </m:e>
                    </m:d>
                    <m:r>
                      <a:rPr lang="en-US" altLang="zh-TW" i="1">
                        <a:latin typeface="Cambria Math" panose="02040503050406030204" pitchFamily="18" charset="0"/>
                      </a:rPr>
                      <m:t>≤</m:t>
                    </m:r>
                    <m:r>
                      <a:rPr lang="zh-TW" altLang="en-US" i="1">
                        <a:latin typeface="Cambria Math" panose="02040503050406030204" pitchFamily="18" charset="0"/>
                      </a:rPr>
                      <m:t>𝜇</m:t>
                    </m:r>
                    <m:r>
                      <a:rPr lang="zh-TW" altLang="en-US" i="1">
                        <a:latin typeface="Cambria Math" panose="02040503050406030204" pitchFamily="18" charset="0"/>
                      </a:rPr>
                      <m:t>∙</m:t>
                    </m:r>
                    <m:d>
                      <m:dPr>
                        <m:begChr m:val="|"/>
                        <m:endChr m:val="|"/>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𝑜𝑝𝑡</m:t>
                            </m:r>
                          </m:e>
                          <m:sub>
                            <m:r>
                              <a:rPr lang="en-US" altLang="zh-TW" i="1">
                                <a:latin typeface="Cambria Math" panose="02040503050406030204" pitchFamily="18" charset="0"/>
                              </a:rPr>
                              <m:t>𝐿𝑂𝐿</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𝑜𝑗</m:t>
                            </m:r>
                          </m:e>
                          <m:sub>
                            <m:r>
                              <a:rPr lang="en-US" altLang="zh-TW" i="1">
                                <a:latin typeface="Cambria Math" panose="02040503050406030204" pitchFamily="18" charset="0"/>
                              </a:rPr>
                              <m:t>2</m:t>
                            </m:r>
                          </m:sub>
                        </m:sSub>
                      </m:e>
                    </m:d>
                  </m:oMath>
                </a14:m>
                <a:endParaRPr lang="en-US" altLang="zh-TW" dirty="0"/>
              </a:p>
              <a:p>
                <a:pPr lvl="1">
                  <a:buSzPct val="50000"/>
                  <a:buFont typeface="Wingdings" panose="05000000000000000000" pitchFamily="2" charset="2"/>
                  <a:buChar char="p"/>
                </a:pP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𝑜𝑗</m:t>
                        </m:r>
                      </m:e>
                      <m:sub>
                        <m:r>
                          <a:rPr lang="en-US" altLang="zh-TW" i="1">
                            <a:latin typeface="Cambria Math" panose="02040503050406030204" pitchFamily="18" charset="0"/>
                          </a:rPr>
                          <m:t>1</m:t>
                        </m:r>
                      </m:sub>
                    </m:sSub>
                    <m:r>
                      <a:rPr lang="en-US" altLang="zh-TW" b="0"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𝑜𝑗</m:t>
                        </m:r>
                      </m:e>
                      <m:sub>
                        <m:r>
                          <a:rPr lang="en-US" altLang="zh-TW" i="1">
                            <a:latin typeface="Cambria Math" panose="02040503050406030204" pitchFamily="18" charset="0"/>
                          </a:rPr>
                          <m:t>2</m:t>
                        </m:r>
                      </m:sub>
                    </m:sSub>
                    <m:r>
                      <a:rPr lang="en-US" altLang="zh-TW" b="0" i="1" smtClean="0">
                        <a:latin typeface="Cambria Math" panose="02040503050406030204" pitchFamily="18" charset="0"/>
                      </a:rPr>
                      <m:t>−2</m:t>
                    </m:r>
                    <m:r>
                      <a:rPr lang="en-US" altLang="zh-TW" b="0" i="1" smtClean="0">
                        <a:latin typeface="Cambria Math" panose="02040503050406030204" pitchFamily="18" charset="0"/>
                      </a:rPr>
                      <m:t>𝑚</m:t>
                    </m:r>
                  </m:oMath>
                </a14:m>
                <a:endParaRPr lang="en-US" altLang="zh-TW" b="0" i="1" dirty="0">
                  <a:latin typeface="Cambria Math" panose="02040503050406030204" pitchFamily="18" charset="0"/>
                </a:endParaRPr>
              </a:p>
              <a:p>
                <a:pPr lvl="1">
                  <a:buSzPct val="50000"/>
                  <a:buFont typeface="Wingdings" panose="05000000000000000000" pitchFamily="2" charset="2"/>
                  <a:buChar char="p"/>
                </a:pPr>
                <a14:m>
                  <m:oMath xmlns:m="http://schemas.openxmlformats.org/officeDocument/2006/math">
                    <m:d>
                      <m:dPr>
                        <m:begChr m:val="|"/>
                        <m:endChr m:val="|"/>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𝑜𝑝𝑡</m:t>
                            </m:r>
                          </m:e>
                          <m:sub>
                            <m:r>
                              <a:rPr lang="en-US" altLang="zh-TW" i="1">
                                <a:latin typeface="Cambria Math" panose="02040503050406030204" pitchFamily="18" charset="0"/>
                              </a:rPr>
                              <m:t>𝑀𝐴𝑋</m:t>
                            </m:r>
                            <m:r>
                              <a:rPr lang="en-US" altLang="zh-TW" i="1">
                                <a:latin typeface="Cambria Math" panose="02040503050406030204" pitchFamily="18" charset="0"/>
                              </a:rPr>
                              <m:t> 3</m:t>
                            </m:r>
                            <m:r>
                              <a:rPr lang="en-US" altLang="zh-TW" i="1">
                                <a:latin typeface="Cambria Math" panose="02040503050406030204" pitchFamily="18" charset="0"/>
                              </a:rPr>
                              <m:t>𝐷𝑀</m:t>
                            </m:r>
                            <m:r>
                              <a:rPr lang="en-US" altLang="zh-TW" i="1">
                                <a:latin typeface="Cambria Math" panose="02040503050406030204" pitchFamily="18" charset="0"/>
                              </a:rPr>
                              <m:t>−3</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𝑜𝑗</m:t>
                            </m:r>
                          </m:e>
                          <m:sub>
                            <m:r>
                              <a:rPr lang="en-US" altLang="zh-TW" i="1">
                                <a:latin typeface="Cambria Math" panose="02040503050406030204" pitchFamily="18" charset="0"/>
                              </a:rPr>
                              <m:t>1</m:t>
                            </m:r>
                          </m:sub>
                        </m:sSub>
                      </m:e>
                    </m:d>
                    <m:r>
                      <a:rPr lang="en-US" altLang="zh-TW" i="1">
                        <a:latin typeface="Cambria Math" panose="02040503050406030204" pitchFamily="18" charset="0"/>
                      </a:rPr>
                      <m:t>=</m:t>
                    </m:r>
                    <m:r>
                      <a:rPr lang="en-US" altLang="zh-TW" i="1">
                        <a:latin typeface="Cambria Math" panose="02040503050406030204" pitchFamily="18" charset="0"/>
                      </a:rPr>
                      <m:t>𝑘</m:t>
                    </m:r>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𝑜𝑗</m:t>
                        </m:r>
                      </m:e>
                      <m:sub>
                        <m:r>
                          <a:rPr lang="en-US" altLang="zh-TW" i="1">
                            <a:latin typeface="Cambria Math" panose="02040503050406030204" pitchFamily="18" charset="0"/>
                          </a:rPr>
                          <m:t>1</m:t>
                        </m:r>
                      </m:sub>
                    </m:sSub>
                    <m:r>
                      <a:rPr lang="en-US" altLang="zh-TW" i="1">
                        <a:latin typeface="Cambria Math" panose="02040503050406030204" pitchFamily="18" charset="0"/>
                      </a:rPr>
                      <m:t>≤</m:t>
                    </m:r>
                    <m:r>
                      <a:rPr lang="en-US" altLang="zh-TW" i="1">
                        <a:latin typeface="Cambria Math" panose="02040503050406030204" pitchFamily="18" charset="0"/>
                      </a:rPr>
                      <m:t>𝑘</m:t>
                    </m:r>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𝑜𝑗</m:t>
                        </m:r>
                      </m:e>
                      <m:sub>
                        <m:r>
                          <a:rPr lang="en-US" altLang="zh-TW" i="1">
                            <a:latin typeface="Cambria Math" panose="02040503050406030204" pitchFamily="18" charset="0"/>
                          </a:rPr>
                          <m:t>2</m:t>
                        </m:r>
                      </m:sub>
                    </m:sSub>
                    <m:r>
                      <a:rPr lang="en-US" altLang="zh-TW" b="0" i="1" smtClean="0">
                        <a:latin typeface="Cambria Math" panose="02040503050406030204" pitchFamily="18" charset="0"/>
                      </a:rPr>
                      <m:t>−2</m:t>
                    </m:r>
                    <m:r>
                      <a:rPr lang="en-US" altLang="zh-TW" b="0" i="1" smtClean="0">
                        <a:latin typeface="Cambria Math" panose="02040503050406030204" pitchFamily="18" charset="0"/>
                      </a:rPr>
                      <m:t>𝑚</m:t>
                    </m:r>
                    <m:r>
                      <a:rPr lang="en-US" altLang="zh-TW" b="0" i="1" smtClean="0">
                        <a:latin typeface="Cambria Math" panose="02040503050406030204" pitchFamily="18" charset="0"/>
                      </a:rPr>
                      <m:t>)=</m:t>
                    </m:r>
                  </m:oMath>
                </a14:m>
                <a:endParaRPr lang="en-US" altLang="zh-TW" i="1" dirty="0">
                  <a:latin typeface="Cambria Math" panose="02040503050406030204" pitchFamily="18" charset="0"/>
                </a:endParaRPr>
              </a:p>
              <a:p>
                <a:pPr lvl="1">
                  <a:buClr>
                    <a:schemeClr val="bg1"/>
                  </a:buClr>
                  <a:buSzPct val="50000"/>
                  <a:buFont typeface="Wingdings" panose="05000000000000000000" pitchFamily="2" charset="2"/>
                  <a:buChar char="p"/>
                </a:pPr>
                <a14:m>
                  <m:oMath xmlns:m="http://schemas.openxmlformats.org/officeDocument/2006/math">
                    <m:r>
                      <a:rPr lang="en-US" altLang="zh-TW" b="0" i="1" smtClean="0">
                        <a:solidFill>
                          <a:schemeClr val="tx1"/>
                        </a:solidFill>
                        <a:latin typeface="Cambria Math" panose="02040503050406030204" pitchFamily="18" charset="0"/>
                      </a:rPr>
                      <m:t>2</m:t>
                    </m:r>
                    <m:r>
                      <a:rPr lang="en-US" altLang="zh-TW" b="0" i="1" smtClean="0">
                        <a:solidFill>
                          <a:schemeClr val="tx1"/>
                        </a:solidFill>
                        <a:latin typeface="Cambria Math" panose="02040503050406030204" pitchFamily="18" charset="0"/>
                      </a:rPr>
                      <m:t>𝑚</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𝑘</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𝑜</m:t>
                    </m:r>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panose="02040503050406030204" pitchFamily="18" charset="0"/>
                          </a:rPr>
                          <m:t>𝑗</m:t>
                        </m:r>
                      </m:e>
                      <m:sub>
                        <m:r>
                          <a:rPr lang="en-US" altLang="zh-TW" b="0" i="1" smtClean="0">
                            <a:solidFill>
                              <a:schemeClr val="tx1"/>
                            </a:solidFill>
                            <a:latin typeface="Cambria Math" panose="02040503050406030204" pitchFamily="18" charset="0"/>
                          </a:rPr>
                          <m:t>2</m:t>
                        </m:r>
                      </m:sub>
                    </m:sSub>
                    <m:r>
                      <a:rPr lang="en-US" altLang="zh-TW" b="0" i="1" smtClean="0">
                        <a:solidFill>
                          <a:schemeClr val="tx1"/>
                        </a:solidFill>
                        <a:latin typeface="Cambria Math" panose="02040503050406030204" pitchFamily="18" charset="0"/>
                      </a:rPr>
                      <m:t>=</m:t>
                    </m:r>
                    <m:r>
                      <a:rPr lang="en-US" altLang="zh-TW" i="1">
                        <a:solidFill>
                          <a:srgbClr val="FF0000"/>
                        </a:solidFill>
                        <a:latin typeface="Cambria Math" panose="02040503050406030204" pitchFamily="18" charset="0"/>
                      </a:rPr>
                      <m:t>1</m:t>
                    </m:r>
                    <m:r>
                      <a:rPr lang="zh-TW" altLang="en-US" i="1">
                        <a:latin typeface="Cambria Math" panose="02040503050406030204" pitchFamily="18" charset="0"/>
                      </a:rPr>
                      <m:t>∙</m:t>
                    </m:r>
                    <m:d>
                      <m:dPr>
                        <m:begChr m:val="|"/>
                        <m:endChr m:val="|"/>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𝑜𝑝𝑡</m:t>
                            </m:r>
                          </m:e>
                          <m:sub>
                            <m:r>
                              <a:rPr lang="en-US" altLang="zh-TW" i="1">
                                <a:latin typeface="Cambria Math" panose="02040503050406030204" pitchFamily="18" charset="0"/>
                              </a:rPr>
                              <m:t>𝐿𝑂𝐿</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𝑜𝑗</m:t>
                            </m:r>
                          </m:e>
                          <m:sub>
                            <m:r>
                              <a:rPr lang="en-US" altLang="zh-TW" i="1">
                                <a:latin typeface="Cambria Math" panose="02040503050406030204" pitchFamily="18" charset="0"/>
                              </a:rPr>
                              <m:t>2</m:t>
                            </m:r>
                          </m:sub>
                        </m:sSub>
                      </m:e>
                    </m:d>
                  </m:oMath>
                </a14:m>
                <a:endParaRPr lang="en-US" altLang="zh-TW" sz="2800" dirty="0"/>
              </a:p>
              <a:p>
                <a:pPr>
                  <a:buSzPct val="100000"/>
                  <a:buFont typeface="Wingdings" panose="05000000000000000000" pitchFamily="2" charset="2"/>
                  <a:buChar char="Ø"/>
                </a:pPr>
                <a14:m>
                  <m:oMath xmlns:m="http://schemas.openxmlformats.org/officeDocument/2006/math">
                    <m:r>
                      <a:rPr lang="zh-TW" altLang="en-US" i="1" smtClean="0">
                        <a:solidFill>
                          <a:schemeClr val="tx1"/>
                        </a:solidFill>
                        <a:latin typeface="Cambria Math" panose="02040503050406030204" pitchFamily="18" charset="0"/>
                      </a:rPr>
                      <m:t>𝛿</m:t>
                    </m:r>
                    <m:r>
                      <a:rPr lang="en-US" altLang="zh-TW" i="1">
                        <a:solidFill>
                          <a:schemeClr val="tx1"/>
                        </a:solidFill>
                        <a:latin typeface="Cambria Math" panose="02040503050406030204" pitchFamily="18" charset="0"/>
                      </a:rPr>
                      <m:t>=1</m:t>
                    </m:r>
                    <m:r>
                      <a:rPr lang="en-US" altLang="zh-TW" b="0" i="1" smtClean="0">
                        <a:solidFill>
                          <a:schemeClr val="tx1"/>
                        </a:solidFill>
                        <a:latin typeface="Cambria Math" panose="02040503050406030204" pitchFamily="18" charset="0"/>
                      </a:rPr>
                      <m:t>5</m:t>
                    </m:r>
                    <m:r>
                      <a:rPr lang="en-US" altLang="zh-TW" i="1">
                        <a:solidFill>
                          <a:schemeClr val="tx1"/>
                        </a:solidFill>
                        <a:latin typeface="Cambria Math" panose="02040503050406030204" pitchFamily="18" charset="0"/>
                      </a:rPr>
                      <m:t>, </m:t>
                    </m:r>
                    <m:r>
                      <a:rPr lang="zh-TW" altLang="en-US" i="1">
                        <a:solidFill>
                          <a:schemeClr val="tx1"/>
                        </a:solidFill>
                        <a:latin typeface="Cambria Math" panose="02040503050406030204" pitchFamily="18" charset="0"/>
                      </a:rPr>
                      <m:t>𝜇</m:t>
                    </m:r>
                    <m:r>
                      <a:rPr lang="en-US" altLang="zh-TW" i="1">
                        <a:solidFill>
                          <a:schemeClr val="tx1"/>
                        </a:solidFill>
                        <a:latin typeface="Cambria Math" panose="02040503050406030204" pitchFamily="18" charset="0"/>
                      </a:rPr>
                      <m:t>=1</m:t>
                    </m:r>
                  </m:oMath>
                </a14:m>
                <a:r>
                  <a:rPr lang="en-US" altLang="zh-TW"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TW"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l-GR" altLang="zh-TW"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Γ</m:t>
                        </m:r>
                      </m:e>
                      <m:sub>
                        <m:r>
                          <a:rPr lang="en-US" altLang="zh-TW"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𝐿𝑂</m:t>
                        </m:r>
                        <m:r>
                          <a:rPr lang="en-US" altLang="zh-TW"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𝐿</m:t>
                        </m:r>
                      </m:sub>
                    </m:sSub>
                  </m:oMath>
                </a14:m>
                <a:r>
                  <a:rPr lang="en-US" altLang="zh-TW" dirty="0">
                    <a:solidFill>
                      <a:schemeClr val="tx1"/>
                    </a:solidFill>
                    <a:latin typeface="Times New Roman" panose="02020603050405020304" pitchFamily="18" charset="0"/>
                    <a:cs typeface="Times New Roman" panose="02020603050405020304" pitchFamily="18" charset="0"/>
                  </a:rPr>
                  <a:t> is a L-reduction</a:t>
                </a:r>
                <a:r>
                  <a:rPr lang="en-US" altLang="zh-TW" dirty="0">
                    <a:latin typeface="Times New Roman" panose="02020603050405020304" pitchFamily="18" charset="0"/>
                    <a:cs typeface="Times New Roman" panose="02020603050405020304" pitchFamily="18" charset="0"/>
                  </a:rPr>
                  <a:t>.</a:t>
                </a:r>
                <a:endParaRPr lang="en-US" altLang="zh-TW" dirty="0"/>
              </a:p>
              <a:p>
                <a:pPr lvl="1">
                  <a:buSzPct val="50000"/>
                  <a:buFont typeface="Wingdings" panose="05000000000000000000" pitchFamily="2" charset="2"/>
                  <a:buChar char="p"/>
                </a:pPr>
                <a:endParaRPr lang="zh-TW" altLang="en-US" sz="2800" dirty="0"/>
              </a:p>
            </p:txBody>
          </p:sp>
        </mc:Choice>
        <mc:Fallback>
          <p:sp>
            <p:nvSpPr>
              <p:cNvPr id="7" name="內容版面配置區 6"/>
              <p:cNvSpPr>
                <a:spLocks noGrp="1" noRot="1" noChangeAspect="1" noMove="1" noResize="1" noEditPoints="1" noAdjustHandles="1" noChangeArrowheads="1" noChangeShapeType="1" noTextEdit="1"/>
              </p:cNvSpPr>
              <p:nvPr>
                <p:ph idx="1"/>
              </p:nvPr>
            </p:nvSpPr>
            <p:spPr>
              <a:xfrm>
                <a:off x="2152650" y="1464871"/>
                <a:ext cx="7886700" cy="4351338"/>
              </a:xfrm>
              <a:blipFill>
                <a:blip r:embed="rId2"/>
                <a:stretch>
                  <a:fillRect/>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74CF69EF-CDCC-4AA0-879A-908A954ADF7C}" type="slidenum">
              <a:rPr lang="zh-TW" altLang="en-US" smtClean="0"/>
              <a:t>21</a:t>
            </a:fld>
            <a:endParaRPr lang="zh-TW" altLang="en-US" dirty="0"/>
          </a:p>
        </p:txBody>
      </p:sp>
      <mc:AlternateContent xmlns:mc="http://schemas.openxmlformats.org/markup-compatibility/2006">
        <mc:Choice xmlns:a14="http://schemas.microsoft.com/office/drawing/2010/main" Requires="a14">
          <p:sp>
            <p:nvSpPr>
              <p:cNvPr id="5" name="文字方塊 4"/>
              <p:cNvSpPr txBox="1"/>
              <p:nvPr/>
            </p:nvSpPr>
            <p:spPr>
              <a:xfrm>
                <a:off x="1884000" y="190668"/>
                <a:ext cx="5044330" cy="769441"/>
              </a:xfrm>
              <a:prstGeom prst="rect">
                <a:avLst/>
              </a:prstGeom>
              <a:noFill/>
            </p:spPr>
            <p:txBody>
              <a:bodyPr wrap="none" rtlCol="0">
                <a:spAutoFit/>
              </a:bodyPr>
              <a:lstStyle/>
              <a:p>
                <a:r>
                  <a:rPr lang="en-US" altLang="zh-TW" sz="4400" dirty="0">
                    <a:solidFill>
                      <a:srgbClr val="0000FF"/>
                    </a:solidFill>
                    <a:latin typeface="Times New Roman" panose="02020603050405020304" pitchFamily="18" charset="0"/>
                    <a:cs typeface="Times New Roman" panose="02020603050405020304" pitchFamily="18" charset="0"/>
                  </a:rPr>
                  <a:t>P(LOL)</a:t>
                </a:r>
                <a:r>
                  <a:rPr lang="zh-TW" altLang="en-US" sz="4400" dirty="0">
                    <a:solidFill>
                      <a:srgbClr val="0000FF"/>
                    </a:solidFill>
                    <a:latin typeface="Times New Roman" panose="02020603050405020304" pitchFamily="18" charset="0"/>
                    <a:cs typeface="Times New Roman" panose="02020603050405020304" pitchFamily="18" charset="0"/>
                  </a:rPr>
                  <a:t> </a:t>
                </a:r>
                <a:r>
                  <a:rPr lang="en-US" altLang="zh-TW" sz="4400" dirty="0">
                    <a:solidFill>
                      <a:srgbClr val="0000FF"/>
                    </a:solidFill>
                    <a:latin typeface="Times New Roman" panose="02020603050405020304" pitchFamily="18" charset="0"/>
                    <a:cs typeface="Times New Roman" panose="02020603050405020304" pitchFamily="18" charset="0"/>
                  </a:rPr>
                  <a:t>is </a:t>
                </a:r>
                <a14:m>
                  <m:oMath xmlns:m="http://schemas.openxmlformats.org/officeDocument/2006/math">
                    <m:r>
                      <a:rPr lang="en-US" altLang="zh-TW" sz="4400" i="1" dirty="0">
                        <a:solidFill>
                          <a:srgbClr val="0000FF"/>
                        </a:solidFill>
                        <a:latin typeface="Cambria Math" panose="02040503050406030204" pitchFamily="18" charset="0"/>
                        <a:cs typeface="Times New Roman" panose="02020603050405020304" pitchFamily="18" charset="0"/>
                      </a:rPr>
                      <m:t>𝐴𝑃𝑋</m:t>
                    </m:r>
                  </m:oMath>
                </a14:m>
                <a:r>
                  <a:rPr lang="en-US" altLang="zh-TW" sz="4400" dirty="0">
                    <a:solidFill>
                      <a:srgbClr val="0000FF"/>
                    </a:solidFill>
                    <a:latin typeface="Times New Roman" panose="02020603050405020304" pitchFamily="18" charset="0"/>
                    <a:cs typeface="Times New Roman" panose="02020603050405020304" pitchFamily="18" charset="0"/>
                  </a:rPr>
                  <a:t>-hard.</a:t>
                </a:r>
                <a:endParaRPr lang="zh-TW" altLang="en-US" sz="4400" dirty="0">
                  <a:solidFill>
                    <a:srgbClr val="0000FF"/>
                  </a:solidFill>
                  <a:latin typeface="Times New Roman" panose="02020603050405020304" pitchFamily="18" charset="0"/>
                  <a:cs typeface="Times New Roman" panose="02020603050405020304" pitchFamily="18" charset="0"/>
                </a:endParaRPr>
              </a:p>
            </p:txBody>
          </p:sp>
        </mc:Choice>
        <mc:Fallback>
          <p:sp>
            <p:nvSpPr>
              <p:cNvPr id="5" name="文字方塊 4"/>
              <p:cNvSpPr txBox="1">
                <a:spLocks noRot="1" noChangeAspect="1" noMove="1" noResize="1" noEditPoints="1" noAdjustHandles="1" noChangeArrowheads="1" noChangeShapeType="1" noTextEdit="1"/>
              </p:cNvSpPr>
              <p:nvPr/>
            </p:nvSpPr>
            <p:spPr>
              <a:xfrm>
                <a:off x="1884000" y="190668"/>
                <a:ext cx="5044330" cy="769441"/>
              </a:xfrm>
              <a:prstGeom prst="rect">
                <a:avLst/>
              </a:prstGeom>
              <a:blipFill>
                <a:blip r:embed="rId3"/>
                <a:stretch>
                  <a:fillRect l="-4831" t="-15079" r="-3865" b="-3809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8" name="表格 7"/>
              <p:cNvGraphicFramePr>
                <a:graphicFrameLocks noGrp="1"/>
              </p:cNvGraphicFramePr>
              <p:nvPr/>
            </p:nvGraphicFramePr>
            <p:xfrm>
              <a:off x="7601855" y="960109"/>
              <a:ext cx="2036560" cy="3627120"/>
            </p:xfrm>
            <a:graphic>
              <a:graphicData uri="http://schemas.openxmlformats.org/drawingml/2006/table">
                <a:tbl>
                  <a:tblPr firstRow="1" bandRow="1">
                    <a:tableStyleId>{2D5ABB26-0587-4C30-8999-92F81FD0307C}</a:tableStyleId>
                  </a:tblPr>
                  <a:tblGrid>
                    <a:gridCol w="208280">
                      <a:extLst>
                        <a:ext uri="{9D8B030D-6E8A-4147-A177-3AD203B41FA5}">
                          <a16:colId xmlns:a16="http://schemas.microsoft.com/office/drawing/2014/main" val="740383727"/>
                        </a:ext>
                      </a:extLst>
                    </a:gridCol>
                    <a:gridCol w="540000">
                      <a:extLst>
                        <a:ext uri="{9D8B030D-6E8A-4147-A177-3AD203B41FA5}">
                          <a16:colId xmlns:a16="http://schemas.microsoft.com/office/drawing/2014/main" val="837528011"/>
                        </a:ext>
                      </a:extLst>
                    </a:gridCol>
                    <a:gridCol w="540000">
                      <a:extLst>
                        <a:ext uri="{9D8B030D-6E8A-4147-A177-3AD203B41FA5}">
                          <a16:colId xmlns:a16="http://schemas.microsoft.com/office/drawing/2014/main" val="1400488088"/>
                        </a:ext>
                      </a:extLst>
                    </a:gridCol>
                    <a:gridCol w="540000">
                      <a:extLst>
                        <a:ext uri="{9D8B030D-6E8A-4147-A177-3AD203B41FA5}">
                          <a16:colId xmlns:a16="http://schemas.microsoft.com/office/drawing/2014/main" val="1735538751"/>
                        </a:ext>
                      </a:extLst>
                    </a:gridCol>
                    <a:gridCol w="208280">
                      <a:extLst>
                        <a:ext uri="{9D8B030D-6E8A-4147-A177-3AD203B41FA5}">
                          <a16:colId xmlns:a16="http://schemas.microsoft.com/office/drawing/2014/main" val="3015935861"/>
                        </a:ext>
                      </a:extLst>
                    </a:gridCol>
                  </a:tblGrid>
                  <a:tr h="504000">
                    <a:tc>
                      <a:txBody>
                        <a:bodyPr/>
                        <a:lstStyle/>
                        <a:p>
                          <a:pPr algn="ctr"/>
                          <a:r>
                            <a:rPr lang="en-US" altLang="zh-TW" sz="2800" dirty="0">
                              <a:solidFill>
                                <a:srgbClr val="FF0000"/>
                              </a:solidFill>
                            </a:rPr>
                            <a:t>(</a:t>
                          </a:r>
                          <a:endParaRPr lang="zh-TW" altLang="en-US" sz="2800" dirty="0">
                            <a:solidFill>
                              <a:srgbClr val="FF0000"/>
                            </a:solidFill>
                          </a:endParaRPr>
                        </a:p>
                      </a:txBody>
                      <a:tcPr anchor="ctr"/>
                    </a:tc>
                    <a:tc>
                      <a:txBody>
                        <a:bodyPr/>
                        <a:lstStyle/>
                        <a:p>
                          <a:pPr algn="ctr"/>
                          <a14:m>
                            <m:oMath xmlns:m="http://schemas.openxmlformats.org/officeDocument/2006/math">
                              <m:sSub>
                                <m:sSubPr>
                                  <m:ctrlPr>
                                    <a:rPr lang="en-US" altLang="zh-TW" sz="2800" i="1" smtClean="0">
                                      <a:solidFill>
                                        <a:srgbClr val="FF0000"/>
                                      </a:solidFill>
                                      <a:latin typeface="Cambria Math" panose="02040503050406030204" pitchFamily="18" charset="0"/>
                                    </a:rPr>
                                  </m:ctrlPr>
                                </m:sSubPr>
                                <m:e>
                                  <m:r>
                                    <a:rPr lang="en-US" altLang="zh-TW" sz="2800">
                                      <a:solidFill>
                                        <a:srgbClr val="FF0000"/>
                                      </a:solidFill>
                                      <a:latin typeface="Cambria Math" panose="02040503050406030204" pitchFamily="18" charset="0"/>
                                    </a:rPr>
                                    <m:t>𝑥</m:t>
                                  </m:r>
                                </m:e>
                                <m:sub>
                                  <m:r>
                                    <a:rPr lang="en-US" altLang="zh-TW" sz="2800">
                                      <a:solidFill>
                                        <a:srgbClr val="FF0000"/>
                                      </a:solidFill>
                                      <a:latin typeface="Cambria Math" panose="02040503050406030204" pitchFamily="18" charset="0"/>
                                    </a:rPr>
                                    <m:t>0</m:t>
                                  </m:r>
                                </m:sub>
                              </m:sSub>
                            </m:oMath>
                          </a14:m>
                          <a:r>
                            <a:rPr lang="en-US" altLang="zh-TW" sz="2800" dirty="0">
                              <a:solidFill>
                                <a:srgbClr val="FF0000"/>
                              </a:solidFill>
                            </a:rPr>
                            <a:t>,</a:t>
                          </a:r>
                          <a:endParaRPr lang="zh-TW" altLang="en-US" sz="2800" dirty="0">
                            <a:solidFill>
                              <a:srgbClr val="FF0000"/>
                            </a:solidFill>
                          </a:endParaRPr>
                        </a:p>
                      </a:txBody>
                      <a:tcPr anchor="ctr"/>
                    </a:tc>
                    <a:tc>
                      <a:txBody>
                        <a:bodyPr/>
                        <a:lstStyle/>
                        <a:p>
                          <a:pPr algn="ctr"/>
                          <a14:m>
                            <m:oMath xmlns:m="http://schemas.openxmlformats.org/officeDocument/2006/math">
                              <m:sSub>
                                <m:sSubPr>
                                  <m:ctrlPr>
                                    <a:rPr lang="en-US" altLang="zh-TW" sz="2800" i="1" smtClean="0">
                                      <a:solidFill>
                                        <a:srgbClr val="FF0000"/>
                                      </a:solidFill>
                                      <a:latin typeface="Cambria Math" panose="02040503050406030204" pitchFamily="18" charset="0"/>
                                    </a:rPr>
                                  </m:ctrlPr>
                                </m:sSubPr>
                                <m:e>
                                  <m:r>
                                    <a:rPr lang="en-US" altLang="zh-TW" sz="2800" smtClean="0">
                                      <a:solidFill>
                                        <a:srgbClr val="FF0000"/>
                                      </a:solidFill>
                                      <a:latin typeface="Cambria Math" panose="02040503050406030204" pitchFamily="18" charset="0"/>
                                    </a:rPr>
                                    <m:t>𝑦</m:t>
                                  </m:r>
                                </m:e>
                                <m:sub>
                                  <m:r>
                                    <a:rPr lang="en-US" altLang="zh-TW" sz="2800" smtClean="0">
                                      <a:solidFill>
                                        <a:srgbClr val="FF0000"/>
                                      </a:solidFill>
                                      <a:latin typeface="Cambria Math" panose="02040503050406030204" pitchFamily="18" charset="0"/>
                                    </a:rPr>
                                    <m:t>0</m:t>
                                  </m:r>
                                </m:sub>
                              </m:sSub>
                            </m:oMath>
                          </a14:m>
                          <a:r>
                            <a:rPr lang="en-US" altLang="zh-TW" sz="2800" dirty="0">
                              <a:solidFill>
                                <a:srgbClr val="FF0000"/>
                              </a:solidFill>
                            </a:rPr>
                            <a:t>,</a:t>
                          </a:r>
                          <a:endParaRPr lang="zh-TW" altLang="en-US" sz="2800" dirty="0">
                            <a:solidFill>
                              <a:srgbClr val="FF0000"/>
                            </a:solidFill>
                          </a:endParaRPr>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800" i="1" smtClean="0">
                                        <a:solidFill>
                                          <a:srgbClr val="FF0000"/>
                                        </a:solidFill>
                                        <a:latin typeface="Cambria Math" panose="02040503050406030204" pitchFamily="18" charset="0"/>
                                      </a:rPr>
                                    </m:ctrlPr>
                                  </m:sSubPr>
                                  <m:e>
                                    <m:r>
                                      <a:rPr lang="en-US" altLang="zh-TW" sz="2800">
                                        <a:solidFill>
                                          <a:srgbClr val="FF0000"/>
                                        </a:solidFill>
                                        <a:latin typeface="Cambria Math" panose="02040503050406030204" pitchFamily="18" charset="0"/>
                                      </a:rPr>
                                      <m:t>𝑧</m:t>
                                    </m:r>
                                  </m:e>
                                  <m:sub>
                                    <m:r>
                                      <a:rPr lang="en-US" altLang="zh-TW" sz="2800">
                                        <a:solidFill>
                                          <a:srgbClr val="FF0000"/>
                                        </a:solidFill>
                                        <a:latin typeface="Cambria Math" panose="02040503050406030204" pitchFamily="18" charset="0"/>
                                      </a:rPr>
                                      <m:t>0</m:t>
                                    </m:r>
                                  </m:sub>
                                </m:sSub>
                              </m:oMath>
                            </m:oMathPara>
                          </a14:m>
                          <a:endParaRPr lang="zh-TW" altLang="en-US" sz="2800" dirty="0">
                            <a:solidFill>
                              <a:srgbClr val="FF0000"/>
                            </a:solidFill>
                          </a:endParaRPr>
                        </a:p>
                      </a:txBody>
                      <a:tcPr anchor="ctr"/>
                    </a:tc>
                    <a:tc>
                      <a:txBody>
                        <a:bodyPr/>
                        <a:lstStyle/>
                        <a:p>
                          <a:pPr algn="ctr"/>
                          <a:r>
                            <a:rPr lang="en-US" altLang="zh-TW" sz="2800" dirty="0">
                              <a:solidFill>
                                <a:srgbClr val="FF0000"/>
                              </a:solidFill>
                            </a:rPr>
                            <a:t>)</a:t>
                          </a:r>
                          <a:endParaRPr lang="zh-TW" altLang="en-US" sz="2800" dirty="0">
                            <a:solidFill>
                              <a:srgbClr val="FF0000"/>
                            </a:solidFill>
                          </a:endParaRPr>
                        </a:p>
                      </a:txBody>
                      <a:tcPr anchor="ctr"/>
                    </a:tc>
                    <a:extLst>
                      <a:ext uri="{0D108BD9-81ED-4DB2-BD59-A6C34878D82A}">
                        <a16:rowId xmlns:a16="http://schemas.microsoft.com/office/drawing/2014/main" val="2441375336"/>
                      </a:ext>
                    </a:extLst>
                  </a:tr>
                  <a:tr h="504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u="none" strike="noStrike" kern="1200" cap="none" spc="0" normalizeH="0" baseline="0" noProof="0" dirty="0">
                              <a:ln>
                                <a:noFill/>
                              </a:ln>
                              <a:effectLst/>
                              <a:uLnTx/>
                              <a:uFillTx/>
                            </a:rPr>
                            <a:t>(</a:t>
                          </a:r>
                          <a:endParaRPr kumimoji="0" lang="zh-TW" altLang="en-US" sz="2800" b="1"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a:txBody>
                      <a:tcPr anchor="ctr"/>
                    </a:tc>
                    <a:tc>
                      <a:txBody>
                        <a:bodyPr/>
                        <a:lstStyle/>
                        <a:p>
                          <a:pPr algn="ctr"/>
                          <a14:m>
                            <m:oMath xmlns:m="http://schemas.openxmlformats.org/officeDocument/2006/math">
                              <m:sSub>
                                <m:sSubPr>
                                  <m:ctrlPr>
                                    <a:rPr lang="en-US" altLang="zh-TW" sz="2800" i="1" smtClean="0">
                                      <a:latin typeface="Cambria Math" panose="02040503050406030204" pitchFamily="18" charset="0"/>
                                    </a:rPr>
                                  </m:ctrlPr>
                                </m:sSubPr>
                                <m:e>
                                  <m:r>
                                    <a:rPr lang="en-US" altLang="zh-TW" sz="2800">
                                      <a:latin typeface="Cambria Math" panose="02040503050406030204" pitchFamily="18" charset="0"/>
                                    </a:rPr>
                                    <m:t>𝑥</m:t>
                                  </m:r>
                                </m:e>
                                <m:sub>
                                  <m:r>
                                    <a:rPr lang="en-US" altLang="zh-TW" sz="2800">
                                      <a:latin typeface="Cambria Math" panose="02040503050406030204" pitchFamily="18" charset="0"/>
                                    </a:rPr>
                                    <m:t>0</m:t>
                                  </m:r>
                                </m:sub>
                              </m:sSub>
                            </m:oMath>
                          </a14:m>
                          <a:r>
                            <a:rPr lang="en-US" altLang="zh-TW" sz="2800" dirty="0"/>
                            <a:t>,</a:t>
                          </a:r>
                          <a:endParaRPr lang="zh-TW" altLang="en-US" sz="2800" dirty="0"/>
                        </a:p>
                      </a:txBody>
                      <a:tcPr anchor="ctr"/>
                    </a:tc>
                    <a:tc>
                      <a:txBody>
                        <a:bodyPr/>
                        <a:lstStyle/>
                        <a:p>
                          <a:pPr algn="ctr"/>
                          <a:r>
                            <a:rPr lang="en-US" altLang="zh-TW" sz="2800" dirty="0"/>
                            <a:t>*,</a:t>
                          </a:r>
                          <a:endParaRPr lang="zh-TW" altLang="en-US" sz="2800" dirty="0"/>
                        </a:p>
                      </a:txBody>
                      <a:tcPr anchor="ctr"/>
                    </a:tc>
                    <a:tc>
                      <a:txBody>
                        <a:bodyPr/>
                        <a:lstStyle/>
                        <a:p>
                          <a:pPr algn="ctr"/>
                          <a:r>
                            <a:rPr lang="en-US" altLang="zh-TW" sz="2800" dirty="0"/>
                            <a:t>*</a:t>
                          </a:r>
                          <a:endParaRPr lang="zh-TW" altLang="en-US" sz="28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u="none" strike="noStrike" kern="1200" cap="none" spc="0" normalizeH="0" baseline="0" noProof="0" dirty="0">
                              <a:ln>
                                <a:noFill/>
                              </a:ln>
                              <a:effectLst/>
                              <a:uLnTx/>
                              <a:uFillTx/>
                            </a:rPr>
                            <a:t>)</a:t>
                          </a:r>
                          <a:endParaRPr kumimoji="0" lang="zh-TW" altLang="en-US" sz="2800" b="1"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a:txBody>
                      <a:tcPr anchor="ctr"/>
                    </a:tc>
                    <a:extLst>
                      <a:ext uri="{0D108BD9-81ED-4DB2-BD59-A6C34878D82A}">
                        <a16:rowId xmlns:a16="http://schemas.microsoft.com/office/drawing/2014/main" val="1792328680"/>
                      </a:ext>
                    </a:extLst>
                  </a:tr>
                  <a:tr h="504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u="none" strike="noStrike" kern="1200" cap="none" spc="0" normalizeH="0" baseline="0" noProof="0" dirty="0">
                              <a:ln>
                                <a:noFill/>
                              </a:ln>
                              <a:effectLst/>
                              <a:uLnTx/>
                              <a:uFillTx/>
                            </a:rPr>
                            <a:t>(</a:t>
                          </a:r>
                          <a:endParaRPr kumimoji="0" lang="zh-TW" altLang="en-US" sz="2800" b="1"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a:txBody>
                      <a:tcPr anchor="ctr"/>
                    </a:tc>
                    <a:tc>
                      <a:txBody>
                        <a:bodyPr/>
                        <a:lstStyle/>
                        <a:p>
                          <a:pPr algn="ctr"/>
                          <a14:m>
                            <m:oMath xmlns:m="http://schemas.openxmlformats.org/officeDocument/2006/math">
                              <m:sSub>
                                <m:sSubPr>
                                  <m:ctrlPr>
                                    <a:rPr lang="en-US" altLang="zh-TW" sz="2800" i="1" smtClean="0">
                                      <a:latin typeface="Cambria Math" panose="02040503050406030204" pitchFamily="18" charset="0"/>
                                    </a:rPr>
                                  </m:ctrlPr>
                                </m:sSubPr>
                                <m:e>
                                  <m:r>
                                    <a:rPr lang="en-US" altLang="zh-TW" sz="2800">
                                      <a:latin typeface="Cambria Math" panose="02040503050406030204" pitchFamily="18" charset="0"/>
                                    </a:rPr>
                                    <m:t>𝑥</m:t>
                                  </m:r>
                                </m:e>
                                <m:sub>
                                  <m:r>
                                    <a:rPr lang="en-US" altLang="zh-TW" sz="2800">
                                      <a:latin typeface="Cambria Math" panose="02040503050406030204" pitchFamily="18" charset="0"/>
                                    </a:rPr>
                                    <m:t>0</m:t>
                                  </m:r>
                                </m:sub>
                              </m:sSub>
                            </m:oMath>
                          </a14:m>
                          <a:r>
                            <a:rPr lang="en-US" altLang="zh-TW" sz="2800" dirty="0"/>
                            <a:t>,</a:t>
                          </a:r>
                          <a:endParaRPr lang="zh-TW" altLang="en-US" sz="2800" dirty="0"/>
                        </a:p>
                      </a:txBody>
                      <a:tcPr anchor="ctr"/>
                    </a:tc>
                    <a:tc>
                      <a:txBody>
                        <a:bodyPr/>
                        <a:lstStyle/>
                        <a:p>
                          <a:pPr algn="ctr"/>
                          <a:r>
                            <a:rPr lang="en-US" altLang="zh-TW" sz="2800" dirty="0"/>
                            <a:t>*,</a:t>
                          </a:r>
                          <a:endParaRPr lang="zh-TW" altLang="en-US" sz="2800" dirty="0"/>
                        </a:p>
                      </a:txBody>
                      <a:tcPr anchor="ctr"/>
                    </a:tc>
                    <a:tc>
                      <a:txBody>
                        <a:bodyPr/>
                        <a:lstStyle/>
                        <a:p>
                          <a:pPr algn="ctr"/>
                          <a:r>
                            <a:rPr lang="en-US" altLang="zh-TW" sz="2800" dirty="0"/>
                            <a:t>*</a:t>
                          </a:r>
                          <a:endParaRPr lang="zh-TW" altLang="en-US" sz="28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u="none" strike="noStrike" kern="1200" cap="none" spc="0" normalizeH="0" baseline="0" noProof="0" dirty="0">
                              <a:ln>
                                <a:noFill/>
                              </a:ln>
                              <a:effectLst/>
                              <a:uLnTx/>
                              <a:uFillTx/>
                            </a:rPr>
                            <a:t>)</a:t>
                          </a:r>
                          <a:endParaRPr kumimoji="0" lang="zh-TW" altLang="en-US" sz="2800" b="1"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a:txBody>
                      <a:tcPr anchor="ctr"/>
                    </a:tc>
                    <a:extLst>
                      <a:ext uri="{0D108BD9-81ED-4DB2-BD59-A6C34878D82A}">
                        <a16:rowId xmlns:a16="http://schemas.microsoft.com/office/drawing/2014/main" val="2122725156"/>
                      </a:ext>
                    </a:extLst>
                  </a:tr>
                  <a:tr h="504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u="none" strike="noStrike" kern="1200" cap="none" spc="0" normalizeH="0" baseline="0" noProof="0" dirty="0">
                              <a:ln>
                                <a:noFill/>
                              </a:ln>
                              <a:effectLst/>
                              <a:uLnTx/>
                              <a:uFillTx/>
                            </a:rPr>
                            <a:t>(</a:t>
                          </a:r>
                          <a:endParaRPr kumimoji="0" lang="zh-TW" altLang="en-US" sz="2800" b="1"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a:txBody>
                      <a:tcPr anchor="ctr"/>
                    </a:tc>
                    <a:tc>
                      <a:txBody>
                        <a:bodyPr/>
                        <a:lstStyle/>
                        <a:p>
                          <a:pPr algn="ctr"/>
                          <a:r>
                            <a:rPr lang="en-US" altLang="zh-TW" sz="2800" dirty="0"/>
                            <a:t>*,</a:t>
                          </a:r>
                          <a:endParaRPr lang="zh-TW" altLang="en-US" sz="2800" dirty="0"/>
                        </a:p>
                      </a:txBody>
                      <a:tcPr anchor="ctr"/>
                    </a:tc>
                    <a:tc>
                      <a:txBody>
                        <a:bodyPr/>
                        <a:lstStyle/>
                        <a:p>
                          <a:pPr algn="ctr"/>
                          <a14:m>
                            <m:oMath xmlns:m="http://schemas.openxmlformats.org/officeDocument/2006/math">
                              <m:sSub>
                                <m:sSubPr>
                                  <m:ctrlPr>
                                    <a:rPr kumimoji="0" lang="en-US" altLang="zh-TW" sz="2800" i="1" u="none" strike="noStrike" kern="1200" cap="none" spc="0" normalizeH="0" baseline="0" noProof="0" smtClean="0">
                                      <a:ln>
                                        <a:noFill/>
                                      </a:ln>
                                      <a:effectLst/>
                                      <a:uLnTx/>
                                      <a:uFillTx/>
                                      <a:latin typeface="Cambria Math" panose="02040503050406030204" pitchFamily="18" charset="0"/>
                                    </a:rPr>
                                  </m:ctrlPr>
                                </m:sSubPr>
                                <m:e>
                                  <m:r>
                                    <a:rPr kumimoji="0" lang="en-US" altLang="zh-TW" sz="2800" u="none" strike="noStrike" kern="1200" cap="none" spc="0" normalizeH="0" baseline="0" noProof="0" smtClean="0">
                                      <a:ln>
                                        <a:noFill/>
                                      </a:ln>
                                      <a:effectLst/>
                                      <a:uLnTx/>
                                      <a:uFillTx/>
                                      <a:latin typeface="Cambria Math" panose="02040503050406030204" pitchFamily="18" charset="0"/>
                                    </a:rPr>
                                    <m:t>𝑦</m:t>
                                  </m:r>
                                </m:e>
                                <m:sub>
                                  <m:r>
                                    <a:rPr kumimoji="0" lang="en-US" altLang="zh-TW" sz="2800" u="none" strike="noStrike" kern="1200" cap="none" spc="0" normalizeH="0" baseline="0" noProof="0" smtClean="0">
                                      <a:ln>
                                        <a:noFill/>
                                      </a:ln>
                                      <a:effectLst/>
                                      <a:uLnTx/>
                                      <a:uFillTx/>
                                      <a:latin typeface="Cambria Math" panose="02040503050406030204" pitchFamily="18" charset="0"/>
                                    </a:rPr>
                                    <m:t>0</m:t>
                                  </m:r>
                                </m:sub>
                              </m:sSub>
                            </m:oMath>
                          </a14:m>
                          <a:r>
                            <a:rPr lang="en-US" altLang="zh-TW" sz="2800" dirty="0"/>
                            <a:t>,</a:t>
                          </a:r>
                          <a:endParaRPr lang="zh-TW" altLang="en-US" sz="2800" dirty="0"/>
                        </a:p>
                      </a:txBody>
                      <a:tcPr anchor="ctr"/>
                    </a:tc>
                    <a:tc>
                      <a:txBody>
                        <a:bodyPr/>
                        <a:lstStyle/>
                        <a:p>
                          <a:pPr algn="ctr"/>
                          <a:r>
                            <a:rPr lang="en-US" altLang="zh-TW" sz="2800" dirty="0"/>
                            <a:t>*</a:t>
                          </a:r>
                          <a:endParaRPr lang="zh-TW" altLang="en-US" sz="28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u="none" strike="noStrike" kern="1200" cap="none" spc="0" normalizeH="0" baseline="0" noProof="0" dirty="0">
                              <a:ln>
                                <a:noFill/>
                              </a:ln>
                              <a:effectLst/>
                              <a:uLnTx/>
                              <a:uFillTx/>
                            </a:rPr>
                            <a:t>)</a:t>
                          </a:r>
                          <a:endParaRPr kumimoji="0" lang="zh-TW" altLang="en-US" sz="2800" b="1"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a:txBody>
                      <a:tcPr anchor="ctr"/>
                    </a:tc>
                    <a:extLst>
                      <a:ext uri="{0D108BD9-81ED-4DB2-BD59-A6C34878D82A}">
                        <a16:rowId xmlns:a16="http://schemas.microsoft.com/office/drawing/2014/main" val="3093549187"/>
                      </a:ext>
                    </a:extLst>
                  </a:tr>
                  <a:tr h="504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u="none" strike="noStrike" kern="1200" cap="none" spc="0" normalizeH="0" baseline="0" noProof="0" dirty="0">
                              <a:ln>
                                <a:noFill/>
                              </a:ln>
                              <a:effectLst/>
                              <a:uLnTx/>
                              <a:uFillTx/>
                            </a:rPr>
                            <a:t>(</a:t>
                          </a:r>
                          <a:endParaRPr kumimoji="0" lang="zh-TW" altLang="en-US" sz="2800" b="1"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a:txBody>
                      <a:tcPr anchor="ctr"/>
                    </a:tc>
                    <a:tc>
                      <a:txBody>
                        <a:bodyPr/>
                        <a:lstStyle/>
                        <a:p>
                          <a:pPr algn="ctr"/>
                          <a:r>
                            <a:rPr lang="en-US" altLang="zh-TW" sz="2800" dirty="0"/>
                            <a:t>*,</a:t>
                          </a:r>
                          <a:endParaRPr lang="zh-TW" altLang="en-US" sz="2800" dirty="0"/>
                        </a:p>
                      </a:txBody>
                      <a:tcPr anchor="ctr"/>
                    </a:tc>
                    <a:tc>
                      <a:txBody>
                        <a:bodyPr/>
                        <a:lstStyle/>
                        <a:p>
                          <a:pPr algn="ctr"/>
                          <a14:m>
                            <m:oMath xmlns:m="http://schemas.openxmlformats.org/officeDocument/2006/math">
                              <m:sSub>
                                <m:sSubPr>
                                  <m:ctrlPr>
                                    <a:rPr kumimoji="0" lang="en-US" altLang="zh-TW" sz="2800" i="1" u="none" strike="noStrike" kern="1200" cap="none" spc="0" normalizeH="0" baseline="0" noProof="0" smtClean="0">
                                      <a:ln>
                                        <a:noFill/>
                                      </a:ln>
                                      <a:effectLst/>
                                      <a:uLnTx/>
                                      <a:uFillTx/>
                                      <a:latin typeface="Cambria Math" panose="02040503050406030204" pitchFamily="18" charset="0"/>
                                    </a:rPr>
                                  </m:ctrlPr>
                                </m:sSubPr>
                                <m:e>
                                  <m:r>
                                    <a:rPr kumimoji="0" lang="en-US" altLang="zh-TW" sz="2800" u="none" strike="noStrike" kern="1200" cap="none" spc="0" normalizeH="0" baseline="0" noProof="0" smtClean="0">
                                      <a:ln>
                                        <a:noFill/>
                                      </a:ln>
                                      <a:effectLst/>
                                      <a:uLnTx/>
                                      <a:uFillTx/>
                                      <a:latin typeface="Cambria Math" panose="02040503050406030204" pitchFamily="18" charset="0"/>
                                    </a:rPr>
                                    <m:t>𝑦</m:t>
                                  </m:r>
                                </m:e>
                                <m:sub>
                                  <m:r>
                                    <a:rPr kumimoji="0" lang="en-US" altLang="zh-TW" sz="2800" u="none" strike="noStrike" kern="1200" cap="none" spc="0" normalizeH="0" baseline="0" noProof="0" smtClean="0">
                                      <a:ln>
                                        <a:noFill/>
                                      </a:ln>
                                      <a:effectLst/>
                                      <a:uLnTx/>
                                      <a:uFillTx/>
                                      <a:latin typeface="Cambria Math" panose="02040503050406030204" pitchFamily="18" charset="0"/>
                                    </a:rPr>
                                    <m:t>0</m:t>
                                  </m:r>
                                </m:sub>
                              </m:sSub>
                            </m:oMath>
                          </a14:m>
                          <a:r>
                            <a:rPr lang="en-US" altLang="zh-TW" sz="2800" dirty="0"/>
                            <a:t>,</a:t>
                          </a:r>
                          <a:endParaRPr lang="zh-TW" altLang="en-US" sz="2800" dirty="0"/>
                        </a:p>
                      </a:txBody>
                      <a:tcPr anchor="ctr"/>
                    </a:tc>
                    <a:tc>
                      <a:txBody>
                        <a:bodyPr/>
                        <a:lstStyle/>
                        <a:p>
                          <a:pPr algn="ctr"/>
                          <a:r>
                            <a:rPr lang="en-US" altLang="zh-TW" sz="2800" dirty="0"/>
                            <a:t>*</a:t>
                          </a:r>
                          <a:endParaRPr lang="zh-TW" altLang="en-US" sz="28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u="none" strike="noStrike" kern="1200" cap="none" spc="0" normalizeH="0" baseline="0" noProof="0" dirty="0">
                              <a:ln>
                                <a:noFill/>
                              </a:ln>
                              <a:effectLst/>
                              <a:uLnTx/>
                              <a:uFillTx/>
                            </a:rPr>
                            <a:t>)</a:t>
                          </a:r>
                          <a:endParaRPr kumimoji="0" lang="zh-TW" altLang="en-US" sz="2800" b="1"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a:txBody>
                      <a:tcPr anchor="ctr"/>
                    </a:tc>
                    <a:extLst>
                      <a:ext uri="{0D108BD9-81ED-4DB2-BD59-A6C34878D82A}">
                        <a16:rowId xmlns:a16="http://schemas.microsoft.com/office/drawing/2014/main" val="210468333"/>
                      </a:ext>
                    </a:extLst>
                  </a:tr>
                  <a:tr h="504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u="none" strike="noStrike" kern="1200" cap="none" spc="0" normalizeH="0" baseline="0" noProof="0" dirty="0">
                              <a:ln>
                                <a:noFill/>
                              </a:ln>
                              <a:effectLst/>
                              <a:uLnTx/>
                              <a:uFillTx/>
                            </a:rPr>
                            <a:t>(</a:t>
                          </a:r>
                          <a:endParaRPr kumimoji="0" lang="zh-TW" altLang="en-US" sz="2800" b="1"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a:txBody>
                      <a:tcPr anchor="ctr"/>
                    </a:tc>
                    <a:tc>
                      <a:txBody>
                        <a:bodyPr/>
                        <a:lstStyle/>
                        <a:p>
                          <a:pPr algn="ctr"/>
                          <a:r>
                            <a:rPr lang="en-US" altLang="zh-TW" sz="2800" dirty="0"/>
                            <a:t>*,</a:t>
                          </a:r>
                          <a:endParaRPr lang="zh-TW" altLang="en-US" sz="2800" dirty="0"/>
                        </a:p>
                      </a:txBody>
                      <a:tcPr anchor="ctr"/>
                    </a:tc>
                    <a:tc>
                      <a:txBody>
                        <a:bodyPr/>
                        <a:lstStyle/>
                        <a:p>
                          <a:pPr algn="ctr"/>
                          <a:r>
                            <a:rPr lang="en-US" altLang="zh-TW" sz="2800" dirty="0"/>
                            <a:t>*,</a:t>
                          </a:r>
                          <a:endParaRPr lang="zh-TW" altLang="en-US" sz="2800" dirty="0"/>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kumimoji="0" lang="en-US" altLang="zh-TW" sz="2800" i="1" u="none" strike="noStrike" kern="1200" cap="none" spc="0" normalizeH="0" baseline="0" noProof="0" smtClean="0">
                                        <a:ln>
                                          <a:noFill/>
                                        </a:ln>
                                        <a:effectLst/>
                                        <a:uLnTx/>
                                        <a:uFillTx/>
                                        <a:latin typeface="Cambria Math" panose="02040503050406030204" pitchFamily="18" charset="0"/>
                                      </a:rPr>
                                    </m:ctrlPr>
                                  </m:sSubPr>
                                  <m:e>
                                    <m:r>
                                      <a:rPr kumimoji="0" lang="en-US" altLang="zh-TW" sz="2800" u="none" strike="noStrike" kern="1200" cap="none" spc="0" normalizeH="0" baseline="0" noProof="0">
                                        <a:ln>
                                          <a:noFill/>
                                        </a:ln>
                                        <a:effectLst/>
                                        <a:uLnTx/>
                                        <a:uFillTx/>
                                        <a:latin typeface="Cambria Math" panose="02040503050406030204" pitchFamily="18" charset="0"/>
                                      </a:rPr>
                                      <m:t>𝑧</m:t>
                                    </m:r>
                                  </m:e>
                                  <m:sub>
                                    <m:r>
                                      <a:rPr kumimoji="0" lang="en-US" altLang="zh-TW" sz="2800" u="none" strike="noStrike" kern="1200" cap="none" spc="0" normalizeH="0" baseline="0" noProof="0">
                                        <a:ln>
                                          <a:noFill/>
                                        </a:ln>
                                        <a:effectLst/>
                                        <a:uLnTx/>
                                        <a:uFillTx/>
                                        <a:latin typeface="Cambria Math" panose="02040503050406030204" pitchFamily="18" charset="0"/>
                                      </a:rPr>
                                      <m:t>0</m:t>
                                    </m:r>
                                  </m:sub>
                                </m:sSub>
                              </m:oMath>
                            </m:oMathPara>
                          </a14:m>
                          <a:endParaRPr lang="zh-TW" altLang="en-US" sz="28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u="none" strike="noStrike" kern="1200" cap="none" spc="0" normalizeH="0" baseline="0" noProof="0" dirty="0">
                              <a:ln>
                                <a:noFill/>
                              </a:ln>
                              <a:effectLst/>
                              <a:uLnTx/>
                              <a:uFillTx/>
                            </a:rPr>
                            <a:t>)</a:t>
                          </a:r>
                          <a:endParaRPr kumimoji="0" lang="zh-TW" altLang="en-US" sz="2800" b="1"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a:txBody>
                      <a:tcPr anchor="ctr"/>
                    </a:tc>
                    <a:extLst>
                      <a:ext uri="{0D108BD9-81ED-4DB2-BD59-A6C34878D82A}">
                        <a16:rowId xmlns:a16="http://schemas.microsoft.com/office/drawing/2014/main" val="1538556793"/>
                      </a:ext>
                    </a:extLst>
                  </a:tr>
                  <a:tr h="504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u="none" strike="noStrike" kern="1200" cap="none" spc="0" normalizeH="0" baseline="0" noProof="0" dirty="0">
                              <a:ln>
                                <a:noFill/>
                              </a:ln>
                              <a:effectLst/>
                              <a:uLnTx/>
                              <a:uFillTx/>
                            </a:rPr>
                            <a:t>(</a:t>
                          </a:r>
                          <a:endParaRPr kumimoji="0" lang="zh-TW" altLang="en-US" sz="2800" b="1"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a:txBody>
                      <a:tcPr anchor="ctr"/>
                    </a:tc>
                    <a:tc>
                      <a:txBody>
                        <a:bodyPr/>
                        <a:lstStyle/>
                        <a:p>
                          <a:pPr algn="ctr"/>
                          <a:r>
                            <a:rPr lang="en-US" altLang="zh-TW" sz="2800" dirty="0"/>
                            <a:t>*,</a:t>
                          </a:r>
                          <a:endParaRPr lang="zh-TW" altLang="en-US" sz="2800" dirty="0"/>
                        </a:p>
                      </a:txBody>
                      <a:tcPr anchor="ctr"/>
                    </a:tc>
                    <a:tc>
                      <a:txBody>
                        <a:bodyPr/>
                        <a:lstStyle/>
                        <a:p>
                          <a:pPr algn="ctr"/>
                          <a:r>
                            <a:rPr lang="en-US" altLang="zh-TW" sz="2800" dirty="0"/>
                            <a:t>*,</a:t>
                          </a:r>
                          <a:endParaRPr lang="zh-TW" altLang="en-US" sz="2800" dirty="0"/>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kumimoji="0" lang="en-US" altLang="zh-TW" sz="2800" i="1" u="none" strike="noStrike" kern="1200" cap="none" spc="0" normalizeH="0" baseline="0" noProof="0" smtClean="0">
                                        <a:ln>
                                          <a:noFill/>
                                        </a:ln>
                                        <a:effectLst/>
                                        <a:uLnTx/>
                                        <a:uFillTx/>
                                        <a:latin typeface="Cambria Math" panose="02040503050406030204" pitchFamily="18" charset="0"/>
                                      </a:rPr>
                                    </m:ctrlPr>
                                  </m:sSubPr>
                                  <m:e>
                                    <m:r>
                                      <a:rPr kumimoji="0" lang="en-US" altLang="zh-TW" sz="2800" u="none" strike="noStrike" kern="1200" cap="none" spc="0" normalizeH="0" baseline="0" noProof="0">
                                        <a:ln>
                                          <a:noFill/>
                                        </a:ln>
                                        <a:effectLst/>
                                        <a:uLnTx/>
                                        <a:uFillTx/>
                                        <a:latin typeface="Cambria Math" panose="02040503050406030204" pitchFamily="18" charset="0"/>
                                      </a:rPr>
                                      <m:t>𝑧</m:t>
                                    </m:r>
                                  </m:e>
                                  <m:sub>
                                    <m:r>
                                      <a:rPr kumimoji="0" lang="en-US" altLang="zh-TW" sz="2800" u="none" strike="noStrike" kern="1200" cap="none" spc="0" normalizeH="0" baseline="0" noProof="0">
                                        <a:ln>
                                          <a:noFill/>
                                        </a:ln>
                                        <a:effectLst/>
                                        <a:uLnTx/>
                                        <a:uFillTx/>
                                        <a:latin typeface="Cambria Math" panose="02040503050406030204" pitchFamily="18" charset="0"/>
                                      </a:rPr>
                                      <m:t>0</m:t>
                                    </m:r>
                                  </m:sub>
                                </m:sSub>
                              </m:oMath>
                            </m:oMathPara>
                          </a14:m>
                          <a:endParaRPr lang="zh-TW" altLang="en-US" sz="28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u="none" strike="noStrike" kern="1200" cap="none" spc="0" normalizeH="0" baseline="0" noProof="0" dirty="0">
                              <a:ln>
                                <a:noFill/>
                              </a:ln>
                              <a:effectLst/>
                              <a:uLnTx/>
                              <a:uFillTx/>
                            </a:rPr>
                            <a:t>)</a:t>
                          </a:r>
                          <a:endParaRPr kumimoji="0" lang="zh-TW" altLang="en-US" sz="2800" b="1"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a:txBody>
                      <a:tcPr anchor="ctr"/>
                    </a:tc>
                    <a:extLst>
                      <a:ext uri="{0D108BD9-81ED-4DB2-BD59-A6C34878D82A}">
                        <a16:rowId xmlns:a16="http://schemas.microsoft.com/office/drawing/2014/main" val="3268723976"/>
                      </a:ext>
                    </a:extLst>
                  </a:tr>
                </a:tbl>
              </a:graphicData>
            </a:graphic>
          </p:graphicFrame>
        </mc:Choice>
        <mc:Fallback xmlns="">
          <p:graphicFrame>
            <p:nvGraphicFramePr>
              <p:cNvPr id="8" name="表格 7"/>
              <p:cNvGraphicFramePr>
                <a:graphicFrameLocks noGrp="1"/>
              </p:cNvGraphicFramePr>
              <p:nvPr/>
            </p:nvGraphicFramePr>
            <p:xfrm>
              <a:off x="7601855" y="960109"/>
              <a:ext cx="2036560" cy="3627120"/>
            </p:xfrm>
            <a:graphic>
              <a:graphicData uri="http://schemas.openxmlformats.org/drawingml/2006/table">
                <a:tbl>
                  <a:tblPr firstRow="1" bandRow="1">
                    <a:tableStyleId>{2D5ABB26-0587-4C30-8999-92F81FD0307C}</a:tableStyleId>
                  </a:tblPr>
                  <a:tblGrid>
                    <a:gridCol w="208280">
                      <a:extLst>
                        <a:ext uri="{9D8B030D-6E8A-4147-A177-3AD203B41FA5}">
                          <a16:colId xmlns:a16="http://schemas.microsoft.com/office/drawing/2014/main" val="740383727"/>
                        </a:ext>
                      </a:extLst>
                    </a:gridCol>
                    <a:gridCol w="540000">
                      <a:extLst>
                        <a:ext uri="{9D8B030D-6E8A-4147-A177-3AD203B41FA5}">
                          <a16:colId xmlns:a16="http://schemas.microsoft.com/office/drawing/2014/main" val="837528011"/>
                        </a:ext>
                      </a:extLst>
                    </a:gridCol>
                    <a:gridCol w="540000">
                      <a:extLst>
                        <a:ext uri="{9D8B030D-6E8A-4147-A177-3AD203B41FA5}">
                          <a16:colId xmlns:a16="http://schemas.microsoft.com/office/drawing/2014/main" val="1400488088"/>
                        </a:ext>
                      </a:extLst>
                    </a:gridCol>
                    <a:gridCol w="540000">
                      <a:extLst>
                        <a:ext uri="{9D8B030D-6E8A-4147-A177-3AD203B41FA5}">
                          <a16:colId xmlns:a16="http://schemas.microsoft.com/office/drawing/2014/main" val="1735538751"/>
                        </a:ext>
                      </a:extLst>
                    </a:gridCol>
                    <a:gridCol w="208280">
                      <a:extLst>
                        <a:ext uri="{9D8B030D-6E8A-4147-A177-3AD203B41FA5}">
                          <a16:colId xmlns:a16="http://schemas.microsoft.com/office/drawing/2014/main" val="3015935861"/>
                        </a:ext>
                      </a:extLst>
                    </a:gridCol>
                  </a:tblGrid>
                  <a:tr h="518160">
                    <a:tc>
                      <a:txBody>
                        <a:bodyPr/>
                        <a:lstStyle/>
                        <a:p>
                          <a:pPr algn="ctr"/>
                          <a:r>
                            <a:rPr lang="en-US" altLang="zh-TW" sz="2800" dirty="0">
                              <a:solidFill>
                                <a:srgbClr val="FF0000"/>
                              </a:solidFill>
                            </a:rPr>
                            <a:t>(</a:t>
                          </a:r>
                          <a:endParaRPr lang="zh-TW" altLang="en-US" sz="2800" dirty="0">
                            <a:solidFill>
                              <a:srgbClr val="FF0000"/>
                            </a:solidFill>
                          </a:endParaRPr>
                        </a:p>
                      </a:txBody>
                      <a:tcPr anchor="ctr"/>
                    </a:tc>
                    <a:tc>
                      <a:txBody>
                        <a:bodyPr/>
                        <a:lstStyle/>
                        <a:p>
                          <a:endParaRPr lang="zh-TW"/>
                        </a:p>
                      </a:txBody>
                      <a:tcPr anchor="ctr">
                        <a:blipFill>
                          <a:blip r:embed="rId4"/>
                          <a:stretch>
                            <a:fillRect l="-38202" t="-11765" r="-238202" b="-632941"/>
                          </a:stretch>
                        </a:blipFill>
                      </a:tcPr>
                    </a:tc>
                    <a:tc>
                      <a:txBody>
                        <a:bodyPr/>
                        <a:lstStyle/>
                        <a:p>
                          <a:endParaRPr lang="zh-TW"/>
                        </a:p>
                      </a:txBody>
                      <a:tcPr anchor="ctr">
                        <a:blipFill>
                          <a:blip r:embed="rId4"/>
                          <a:stretch>
                            <a:fillRect l="-138202" t="-11765" r="-138202" b="-632941"/>
                          </a:stretch>
                        </a:blipFill>
                      </a:tcPr>
                    </a:tc>
                    <a:tc>
                      <a:txBody>
                        <a:bodyPr/>
                        <a:lstStyle/>
                        <a:p>
                          <a:endParaRPr lang="zh-TW"/>
                        </a:p>
                      </a:txBody>
                      <a:tcPr anchor="ctr">
                        <a:blipFill>
                          <a:blip r:embed="rId4"/>
                          <a:stretch>
                            <a:fillRect l="-238202" t="-11765" r="-38202" b="-632941"/>
                          </a:stretch>
                        </a:blipFill>
                      </a:tcPr>
                    </a:tc>
                    <a:tc>
                      <a:txBody>
                        <a:bodyPr/>
                        <a:lstStyle/>
                        <a:p>
                          <a:pPr algn="ctr"/>
                          <a:r>
                            <a:rPr lang="en-US" altLang="zh-TW" sz="2800" dirty="0">
                              <a:solidFill>
                                <a:srgbClr val="FF0000"/>
                              </a:solidFill>
                            </a:rPr>
                            <a:t>)</a:t>
                          </a:r>
                          <a:endParaRPr lang="zh-TW" altLang="en-US" sz="2800" dirty="0">
                            <a:solidFill>
                              <a:srgbClr val="FF0000"/>
                            </a:solidFill>
                          </a:endParaRPr>
                        </a:p>
                      </a:txBody>
                      <a:tcPr anchor="ctr"/>
                    </a:tc>
                    <a:extLst>
                      <a:ext uri="{0D108BD9-81ED-4DB2-BD59-A6C34878D82A}">
                        <a16:rowId xmlns:a16="http://schemas.microsoft.com/office/drawing/2014/main" val="2441375336"/>
                      </a:ext>
                    </a:extLst>
                  </a:tr>
                  <a:tr h="5181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u="none" strike="noStrike" kern="1200" cap="none" spc="0" normalizeH="0" baseline="0" noProof="0" dirty="0">
                              <a:ln>
                                <a:noFill/>
                              </a:ln>
                              <a:effectLst/>
                              <a:uLnTx/>
                              <a:uFillTx/>
                            </a:rPr>
                            <a:t>(</a:t>
                          </a:r>
                          <a:endParaRPr kumimoji="0" lang="zh-TW" altLang="en-US" sz="2800" b="1"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a:txBody>
                      <a:tcPr anchor="ctr"/>
                    </a:tc>
                    <a:tc>
                      <a:txBody>
                        <a:bodyPr/>
                        <a:lstStyle/>
                        <a:p>
                          <a:endParaRPr lang="zh-TW"/>
                        </a:p>
                      </a:txBody>
                      <a:tcPr anchor="ctr">
                        <a:blipFill>
                          <a:blip r:embed="rId4"/>
                          <a:stretch>
                            <a:fillRect l="-38202" t="-111765" r="-238202" b="-532941"/>
                          </a:stretch>
                        </a:blipFill>
                      </a:tcPr>
                    </a:tc>
                    <a:tc>
                      <a:txBody>
                        <a:bodyPr/>
                        <a:lstStyle/>
                        <a:p>
                          <a:pPr algn="ctr"/>
                          <a:r>
                            <a:rPr lang="en-US" altLang="zh-TW" sz="2800" dirty="0"/>
                            <a:t>*,</a:t>
                          </a:r>
                          <a:endParaRPr lang="zh-TW" altLang="en-US" sz="2800" dirty="0"/>
                        </a:p>
                      </a:txBody>
                      <a:tcPr anchor="ctr"/>
                    </a:tc>
                    <a:tc>
                      <a:txBody>
                        <a:bodyPr/>
                        <a:lstStyle/>
                        <a:p>
                          <a:pPr algn="ctr"/>
                          <a:r>
                            <a:rPr lang="en-US" altLang="zh-TW" sz="2800" dirty="0"/>
                            <a:t>*</a:t>
                          </a:r>
                          <a:endParaRPr lang="zh-TW" altLang="en-US" sz="28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u="none" strike="noStrike" kern="1200" cap="none" spc="0" normalizeH="0" baseline="0" noProof="0" dirty="0">
                              <a:ln>
                                <a:noFill/>
                              </a:ln>
                              <a:effectLst/>
                              <a:uLnTx/>
                              <a:uFillTx/>
                            </a:rPr>
                            <a:t>)</a:t>
                          </a:r>
                          <a:endParaRPr kumimoji="0" lang="zh-TW" altLang="en-US" sz="2800" b="1"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a:txBody>
                      <a:tcPr anchor="ctr"/>
                    </a:tc>
                    <a:extLst>
                      <a:ext uri="{0D108BD9-81ED-4DB2-BD59-A6C34878D82A}">
                        <a16:rowId xmlns:a16="http://schemas.microsoft.com/office/drawing/2014/main" val="1792328680"/>
                      </a:ext>
                    </a:extLst>
                  </a:tr>
                  <a:tr h="5181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u="none" strike="noStrike" kern="1200" cap="none" spc="0" normalizeH="0" baseline="0" noProof="0" dirty="0">
                              <a:ln>
                                <a:noFill/>
                              </a:ln>
                              <a:effectLst/>
                              <a:uLnTx/>
                              <a:uFillTx/>
                            </a:rPr>
                            <a:t>(</a:t>
                          </a:r>
                          <a:endParaRPr kumimoji="0" lang="zh-TW" altLang="en-US" sz="2800" b="1"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a:txBody>
                      <a:tcPr anchor="ctr"/>
                    </a:tc>
                    <a:tc>
                      <a:txBody>
                        <a:bodyPr/>
                        <a:lstStyle/>
                        <a:p>
                          <a:endParaRPr lang="zh-TW"/>
                        </a:p>
                      </a:txBody>
                      <a:tcPr anchor="ctr">
                        <a:blipFill>
                          <a:blip r:embed="rId4"/>
                          <a:stretch>
                            <a:fillRect l="-38202" t="-211765" r="-238202" b="-432941"/>
                          </a:stretch>
                        </a:blipFill>
                      </a:tcPr>
                    </a:tc>
                    <a:tc>
                      <a:txBody>
                        <a:bodyPr/>
                        <a:lstStyle/>
                        <a:p>
                          <a:pPr algn="ctr"/>
                          <a:r>
                            <a:rPr lang="en-US" altLang="zh-TW" sz="2800" dirty="0"/>
                            <a:t>*,</a:t>
                          </a:r>
                          <a:endParaRPr lang="zh-TW" altLang="en-US" sz="2800" dirty="0"/>
                        </a:p>
                      </a:txBody>
                      <a:tcPr anchor="ctr"/>
                    </a:tc>
                    <a:tc>
                      <a:txBody>
                        <a:bodyPr/>
                        <a:lstStyle/>
                        <a:p>
                          <a:pPr algn="ctr"/>
                          <a:r>
                            <a:rPr lang="en-US" altLang="zh-TW" sz="2800" dirty="0"/>
                            <a:t>*</a:t>
                          </a:r>
                          <a:endParaRPr lang="zh-TW" altLang="en-US" sz="28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u="none" strike="noStrike" kern="1200" cap="none" spc="0" normalizeH="0" baseline="0" noProof="0" dirty="0">
                              <a:ln>
                                <a:noFill/>
                              </a:ln>
                              <a:effectLst/>
                              <a:uLnTx/>
                              <a:uFillTx/>
                            </a:rPr>
                            <a:t>)</a:t>
                          </a:r>
                          <a:endParaRPr kumimoji="0" lang="zh-TW" altLang="en-US" sz="2800" b="1"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a:txBody>
                      <a:tcPr anchor="ctr"/>
                    </a:tc>
                    <a:extLst>
                      <a:ext uri="{0D108BD9-81ED-4DB2-BD59-A6C34878D82A}">
                        <a16:rowId xmlns:a16="http://schemas.microsoft.com/office/drawing/2014/main" val="2122725156"/>
                      </a:ext>
                    </a:extLst>
                  </a:tr>
                  <a:tr h="5181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u="none" strike="noStrike" kern="1200" cap="none" spc="0" normalizeH="0" baseline="0" noProof="0" dirty="0">
                              <a:ln>
                                <a:noFill/>
                              </a:ln>
                              <a:effectLst/>
                              <a:uLnTx/>
                              <a:uFillTx/>
                            </a:rPr>
                            <a:t>(</a:t>
                          </a:r>
                          <a:endParaRPr kumimoji="0" lang="zh-TW" altLang="en-US" sz="2800" b="1"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a:txBody>
                      <a:tcPr anchor="ctr"/>
                    </a:tc>
                    <a:tc>
                      <a:txBody>
                        <a:bodyPr/>
                        <a:lstStyle/>
                        <a:p>
                          <a:pPr algn="ctr"/>
                          <a:r>
                            <a:rPr lang="en-US" altLang="zh-TW" sz="2800" dirty="0"/>
                            <a:t>*,</a:t>
                          </a:r>
                          <a:endParaRPr lang="zh-TW" altLang="en-US" sz="2800" dirty="0"/>
                        </a:p>
                      </a:txBody>
                      <a:tcPr anchor="ctr"/>
                    </a:tc>
                    <a:tc>
                      <a:txBody>
                        <a:bodyPr/>
                        <a:lstStyle/>
                        <a:p>
                          <a:endParaRPr lang="zh-TW"/>
                        </a:p>
                      </a:txBody>
                      <a:tcPr anchor="ctr">
                        <a:blipFill>
                          <a:blip r:embed="rId4"/>
                          <a:stretch>
                            <a:fillRect l="-138202" t="-308140" r="-138202" b="-327907"/>
                          </a:stretch>
                        </a:blipFill>
                      </a:tcPr>
                    </a:tc>
                    <a:tc>
                      <a:txBody>
                        <a:bodyPr/>
                        <a:lstStyle/>
                        <a:p>
                          <a:pPr algn="ctr"/>
                          <a:r>
                            <a:rPr lang="en-US" altLang="zh-TW" sz="2800" dirty="0"/>
                            <a:t>*</a:t>
                          </a:r>
                          <a:endParaRPr lang="zh-TW" altLang="en-US" sz="28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u="none" strike="noStrike" kern="1200" cap="none" spc="0" normalizeH="0" baseline="0" noProof="0" dirty="0">
                              <a:ln>
                                <a:noFill/>
                              </a:ln>
                              <a:effectLst/>
                              <a:uLnTx/>
                              <a:uFillTx/>
                            </a:rPr>
                            <a:t>)</a:t>
                          </a:r>
                          <a:endParaRPr kumimoji="0" lang="zh-TW" altLang="en-US" sz="2800" b="1"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a:txBody>
                      <a:tcPr anchor="ctr"/>
                    </a:tc>
                    <a:extLst>
                      <a:ext uri="{0D108BD9-81ED-4DB2-BD59-A6C34878D82A}">
                        <a16:rowId xmlns:a16="http://schemas.microsoft.com/office/drawing/2014/main" val="3093549187"/>
                      </a:ext>
                    </a:extLst>
                  </a:tr>
                  <a:tr h="5181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u="none" strike="noStrike" kern="1200" cap="none" spc="0" normalizeH="0" baseline="0" noProof="0" dirty="0">
                              <a:ln>
                                <a:noFill/>
                              </a:ln>
                              <a:effectLst/>
                              <a:uLnTx/>
                              <a:uFillTx/>
                            </a:rPr>
                            <a:t>(</a:t>
                          </a:r>
                          <a:endParaRPr kumimoji="0" lang="zh-TW" altLang="en-US" sz="2800" b="1"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a:txBody>
                      <a:tcPr anchor="ctr"/>
                    </a:tc>
                    <a:tc>
                      <a:txBody>
                        <a:bodyPr/>
                        <a:lstStyle/>
                        <a:p>
                          <a:pPr algn="ctr"/>
                          <a:r>
                            <a:rPr lang="en-US" altLang="zh-TW" sz="2800" dirty="0"/>
                            <a:t>*,</a:t>
                          </a:r>
                          <a:endParaRPr lang="zh-TW" altLang="en-US" sz="2800" dirty="0"/>
                        </a:p>
                      </a:txBody>
                      <a:tcPr anchor="ctr"/>
                    </a:tc>
                    <a:tc>
                      <a:txBody>
                        <a:bodyPr/>
                        <a:lstStyle/>
                        <a:p>
                          <a:endParaRPr lang="zh-TW"/>
                        </a:p>
                      </a:txBody>
                      <a:tcPr anchor="ctr">
                        <a:blipFill>
                          <a:blip r:embed="rId4"/>
                          <a:stretch>
                            <a:fillRect l="-138202" t="-412941" r="-138202" b="-231765"/>
                          </a:stretch>
                        </a:blipFill>
                      </a:tcPr>
                    </a:tc>
                    <a:tc>
                      <a:txBody>
                        <a:bodyPr/>
                        <a:lstStyle/>
                        <a:p>
                          <a:pPr algn="ctr"/>
                          <a:r>
                            <a:rPr lang="en-US" altLang="zh-TW" sz="2800" dirty="0"/>
                            <a:t>*</a:t>
                          </a:r>
                          <a:endParaRPr lang="zh-TW" altLang="en-US" sz="28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u="none" strike="noStrike" kern="1200" cap="none" spc="0" normalizeH="0" baseline="0" noProof="0" dirty="0">
                              <a:ln>
                                <a:noFill/>
                              </a:ln>
                              <a:effectLst/>
                              <a:uLnTx/>
                              <a:uFillTx/>
                            </a:rPr>
                            <a:t>)</a:t>
                          </a:r>
                          <a:endParaRPr kumimoji="0" lang="zh-TW" altLang="en-US" sz="2800" b="1"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a:txBody>
                      <a:tcPr anchor="ctr"/>
                    </a:tc>
                    <a:extLst>
                      <a:ext uri="{0D108BD9-81ED-4DB2-BD59-A6C34878D82A}">
                        <a16:rowId xmlns:a16="http://schemas.microsoft.com/office/drawing/2014/main" val="210468333"/>
                      </a:ext>
                    </a:extLst>
                  </a:tr>
                  <a:tr h="5181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u="none" strike="noStrike" kern="1200" cap="none" spc="0" normalizeH="0" baseline="0" noProof="0" dirty="0">
                              <a:ln>
                                <a:noFill/>
                              </a:ln>
                              <a:effectLst/>
                              <a:uLnTx/>
                              <a:uFillTx/>
                            </a:rPr>
                            <a:t>(</a:t>
                          </a:r>
                          <a:endParaRPr kumimoji="0" lang="zh-TW" altLang="en-US" sz="2800" b="1"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a:txBody>
                      <a:tcPr anchor="ctr"/>
                    </a:tc>
                    <a:tc>
                      <a:txBody>
                        <a:bodyPr/>
                        <a:lstStyle/>
                        <a:p>
                          <a:pPr algn="ctr"/>
                          <a:r>
                            <a:rPr lang="en-US" altLang="zh-TW" sz="2800" dirty="0"/>
                            <a:t>*,</a:t>
                          </a:r>
                          <a:endParaRPr lang="zh-TW" altLang="en-US" sz="2800" dirty="0"/>
                        </a:p>
                      </a:txBody>
                      <a:tcPr anchor="ctr"/>
                    </a:tc>
                    <a:tc>
                      <a:txBody>
                        <a:bodyPr/>
                        <a:lstStyle/>
                        <a:p>
                          <a:pPr algn="ctr"/>
                          <a:r>
                            <a:rPr lang="en-US" altLang="zh-TW" sz="2800" dirty="0"/>
                            <a:t>*,</a:t>
                          </a:r>
                          <a:endParaRPr lang="zh-TW" altLang="en-US" sz="2800" dirty="0"/>
                        </a:p>
                      </a:txBody>
                      <a:tcPr anchor="ctr"/>
                    </a:tc>
                    <a:tc>
                      <a:txBody>
                        <a:bodyPr/>
                        <a:lstStyle/>
                        <a:p>
                          <a:endParaRPr lang="zh-TW"/>
                        </a:p>
                      </a:txBody>
                      <a:tcPr anchor="ctr">
                        <a:blipFill>
                          <a:blip r:embed="rId4"/>
                          <a:stretch>
                            <a:fillRect l="-238202" t="-512941" r="-38202" b="-131765"/>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u="none" strike="noStrike" kern="1200" cap="none" spc="0" normalizeH="0" baseline="0" noProof="0" dirty="0">
                              <a:ln>
                                <a:noFill/>
                              </a:ln>
                              <a:effectLst/>
                              <a:uLnTx/>
                              <a:uFillTx/>
                            </a:rPr>
                            <a:t>)</a:t>
                          </a:r>
                          <a:endParaRPr kumimoji="0" lang="zh-TW" altLang="en-US" sz="2800" b="1"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a:txBody>
                      <a:tcPr anchor="ctr"/>
                    </a:tc>
                    <a:extLst>
                      <a:ext uri="{0D108BD9-81ED-4DB2-BD59-A6C34878D82A}">
                        <a16:rowId xmlns:a16="http://schemas.microsoft.com/office/drawing/2014/main" val="1538556793"/>
                      </a:ext>
                    </a:extLst>
                  </a:tr>
                  <a:tr h="5181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u="none" strike="noStrike" kern="1200" cap="none" spc="0" normalizeH="0" baseline="0" noProof="0" dirty="0">
                              <a:ln>
                                <a:noFill/>
                              </a:ln>
                              <a:effectLst/>
                              <a:uLnTx/>
                              <a:uFillTx/>
                            </a:rPr>
                            <a:t>(</a:t>
                          </a:r>
                          <a:endParaRPr kumimoji="0" lang="zh-TW" altLang="en-US" sz="2800" b="1"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a:txBody>
                      <a:tcPr anchor="ctr"/>
                    </a:tc>
                    <a:tc>
                      <a:txBody>
                        <a:bodyPr/>
                        <a:lstStyle/>
                        <a:p>
                          <a:pPr algn="ctr"/>
                          <a:r>
                            <a:rPr lang="en-US" altLang="zh-TW" sz="2800" dirty="0"/>
                            <a:t>*,</a:t>
                          </a:r>
                          <a:endParaRPr lang="zh-TW" altLang="en-US" sz="2800" dirty="0"/>
                        </a:p>
                      </a:txBody>
                      <a:tcPr anchor="ctr"/>
                    </a:tc>
                    <a:tc>
                      <a:txBody>
                        <a:bodyPr/>
                        <a:lstStyle/>
                        <a:p>
                          <a:pPr algn="ctr"/>
                          <a:r>
                            <a:rPr lang="en-US" altLang="zh-TW" sz="2800" dirty="0"/>
                            <a:t>*,</a:t>
                          </a:r>
                          <a:endParaRPr lang="zh-TW" altLang="en-US" sz="2800" dirty="0"/>
                        </a:p>
                      </a:txBody>
                      <a:tcPr anchor="ctr"/>
                    </a:tc>
                    <a:tc>
                      <a:txBody>
                        <a:bodyPr/>
                        <a:lstStyle/>
                        <a:p>
                          <a:endParaRPr lang="zh-TW"/>
                        </a:p>
                      </a:txBody>
                      <a:tcPr anchor="ctr">
                        <a:blipFill>
                          <a:blip r:embed="rId4"/>
                          <a:stretch>
                            <a:fillRect l="-238202" t="-612941" r="-38202" b="-31765"/>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2800" u="none" strike="noStrike" kern="1200" cap="none" spc="0" normalizeH="0" baseline="0" noProof="0" dirty="0">
                              <a:ln>
                                <a:noFill/>
                              </a:ln>
                              <a:effectLst/>
                              <a:uLnTx/>
                              <a:uFillTx/>
                            </a:rPr>
                            <a:t>)</a:t>
                          </a:r>
                          <a:endParaRPr kumimoji="0" lang="zh-TW" altLang="en-US" sz="2800" b="1"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a:txBody>
                      <a:tcPr anchor="ctr"/>
                    </a:tc>
                    <a:extLst>
                      <a:ext uri="{0D108BD9-81ED-4DB2-BD59-A6C34878D82A}">
                        <a16:rowId xmlns:a16="http://schemas.microsoft.com/office/drawing/2014/main" val="3268723976"/>
                      </a:ext>
                    </a:extLst>
                  </a:tr>
                </a:tbl>
              </a:graphicData>
            </a:graphic>
          </p:graphicFrame>
        </mc:Fallback>
      </mc:AlternateContent>
    </p:spTree>
    <p:extLst>
      <p:ext uri="{BB962C8B-B14F-4D97-AF65-F5344CB8AC3E}">
        <p14:creationId xmlns:p14="http://schemas.microsoft.com/office/powerpoint/2010/main" val="1872995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childTnLst>
                                </p:cTn>
                              </p:par>
                              <p:par>
                                <p:cTn id="17" presetID="1" presetClass="exit" presetSubtype="0" fill="hold" nodeType="withEffect">
                                  <p:stCondLst>
                                    <p:cond delay="0"/>
                                  </p:stCondLst>
                                  <p:childTnLst>
                                    <p:set>
                                      <p:cBhvr>
                                        <p:cTn id="18" dur="1" fill="hold">
                                          <p:stCondLst>
                                            <p:cond delay="0"/>
                                          </p:stCondLst>
                                        </p:cTn>
                                        <p:tgtEl>
                                          <p:spTgt spid="8"/>
                                        </p:tgtEl>
                                        <p:attrNameLst>
                                          <p:attrName>style.visibility</p:attrName>
                                        </p:attrNameLst>
                                      </p:cBhvr>
                                      <p:to>
                                        <p:strVal val="hidden"/>
                                      </p:to>
                                    </p:set>
                                  </p:childTnLst>
                                </p:cTn>
                              </p:par>
                              <p:par>
                                <p:cTn id="19" presetID="1" presetClass="entr" presetSubtype="0" fill="hold" grpId="0" nodeType="withEffect">
                                  <p:stCondLst>
                                    <p:cond delay="0"/>
                                  </p:stCondLst>
                                  <p:childTnLst>
                                    <p:set>
                                      <p:cBhvr>
                                        <p:cTn id="20" dur="1" fill="hold">
                                          <p:stCondLst>
                                            <p:cond delay="0"/>
                                          </p:stCondLst>
                                        </p:cTn>
                                        <p:tgtEl>
                                          <p:spTgt spid="7">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2F6C27-D817-4B3C-93CC-09695B0AA6C8}"/>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3168C277-A77A-40B2-96DE-422285F56E78}"/>
              </a:ext>
            </a:extLst>
          </p:cNvPr>
          <p:cNvSpPr>
            <a:spLocks noGrp="1"/>
          </p:cNvSpPr>
          <p:nvPr>
            <p:ph idx="1"/>
          </p:nvPr>
        </p:nvSpPr>
        <p:spPr/>
        <p:txBody>
          <a:bodyPr/>
          <a:lstStyle/>
          <a:p>
            <a:endParaRPr lang="zh-TW" altLang="en-US"/>
          </a:p>
        </p:txBody>
      </p:sp>
    </p:spTree>
    <p:extLst>
      <p:ext uri="{BB962C8B-B14F-4D97-AF65-F5344CB8AC3E}">
        <p14:creationId xmlns:p14="http://schemas.microsoft.com/office/powerpoint/2010/main" val="30563924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52CD1DA-A98C-406F-A2C0-CF4D59861B47}"/>
              </a:ext>
            </a:extLst>
          </p:cNvPr>
          <p:cNvSpPr>
            <a:spLocks noGrp="1"/>
          </p:cNvSpPr>
          <p:nvPr>
            <p:ph type="title"/>
          </p:nvPr>
        </p:nvSpPr>
        <p:spPr/>
        <p:txBody>
          <a:bodyPr/>
          <a:lstStyle/>
          <a:p>
            <a:r>
              <a:rPr lang="en-US" altLang="zh-TW" dirty="0"/>
              <a:t>Proofs</a:t>
            </a:r>
            <a:endParaRPr lang="zh-TW" altLang="en-US" dirty="0"/>
          </a:p>
        </p:txBody>
      </p:sp>
      <p:sp>
        <p:nvSpPr>
          <p:cNvPr id="3" name="內容版面配置區 2">
            <a:extLst>
              <a:ext uri="{FF2B5EF4-FFF2-40B4-BE49-F238E27FC236}">
                <a16:creationId xmlns:a16="http://schemas.microsoft.com/office/drawing/2014/main" id="{B500F552-7C54-4E51-99D1-B032F9513662}"/>
              </a:ext>
            </a:extLst>
          </p:cNvPr>
          <p:cNvSpPr>
            <a:spLocks noGrp="1"/>
          </p:cNvSpPr>
          <p:nvPr>
            <p:ph idx="1"/>
          </p:nvPr>
        </p:nvSpPr>
        <p:spPr/>
        <p:txBody>
          <a:bodyPr/>
          <a:lstStyle/>
          <a:p>
            <a:pPr marL="0" indent="0">
              <a:buNone/>
            </a:pPr>
            <a:endParaRPr lang="en-US" altLang="zh-TW" dirty="0"/>
          </a:p>
          <a:p>
            <a:r>
              <a:rPr lang="en-US" altLang="zh-TW" dirty="0"/>
              <a:t>Only 4 versions are valid: P(ENL), P(ENE), P(LOL), P(LOE)</a:t>
            </a:r>
          </a:p>
          <a:p>
            <a:endParaRPr lang="en-US" altLang="zh-TW" dirty="0"/>
          </a:p>
          <a:p>
            <a:r>
              <a:rPr lang="en-US" altLang="zh-TW" dirty="0"/>
              <a:t>Prove P(ENL), P(ENE), P(LOL), P(LOE) are NP-hard and APX-hard</a:t>
            </a:r>
          </a:p>
          <a:p>
            <a:endParaRPr lang="zh-TW" altLang="en-US" dirty="0"/>
          </a:p>
        </p:txBody>
      </p:sp>
    </p:spTree>
    <p:extLst>
      <p:ext uri="{BB962C8B-B14F-4D97-AF65-F5344CB8AC3E}">
        <p14:creationId xmlns:p14="http://schemas.microsoft.com/office/powerpoint/2010/main" val="15041557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0E56B5-7A8C-4819-8F71-33630925E4FD}"/>
              </a:ext>
            </a:extLst>
          </p:cNvPr>
          <p:cNvSpPr>
            <a:spLocks noGrp="1"/>
          </p:cNvSpPr>
          <p:nvPr>
            <p:ph type="title"/>
          </p:nvPr>
        </p:nvSpPr>
        <p:spPr/>
        <p:txBody>
          <a:bodyPr/>
          <a:lstStyle/>
          <a:p>
            <a:r>
              <a:rPr lang="en-US" altLang="zh-TW" dirty="0"/>
              <a:t>Example of P(ENL) </a:t>
            </a:r>
            <a:endParaRPr lang="zh-TW" altLang="en-US" dirty="0"/>
          </a:p>
        </p:txBody>
      </p:sp>
      <p:sp>
        <p:nvSpPr>
          <p:cNvPr id="3" name="內容版面配置區 2">
            <a:extLst>
              <a:ext uri="{FF2B5EF4-FFF2-40B4-BE49-F238E27FC236}">
                <a16:creationId xmlns:a16="http://schemas.microsoft.com/office/drawing/2014/main" id="{CBE42507-2EF6-422A-8E89-4D6141F5E140}"/>
              </a:ext>
            </a:extLst>
          </p:cNvPr>
          <p:cNvSpPr>
            <a:spLocks noGrp="1"/>
          </p:cNvSpPr>
          <p:nvPr>
            <p:ph idx="1"/>
          </p:nvPr>
        </p:nvSpPr>
        <p:spPr/>
        <p:txBody>
          <a:bodyPr/>
          <a:lstStyle/>
          <a:p>
            <a:endParaRPr lang="zh-TW" altLang="en-US"/>
          </a:p>
        </p:txBody>
      </p:sp>
      <p:pic>
        <p:nvPicPr>
          <p:cNvPr id="5" name="圖片 4">
            <a:extLst>
              <a:ext uri="{FF2B5EF4-FFF2-40B4-BE49-F238E27FC236}">
                <a16:creationId xmlns:a16="http://schemas.microsoft.com/office/drawing/2014/main" id="{3C4FA93A-C870-4AA2-93B8-85B3DDBE88E4}"/>
              </a:ext>
            </a:extLst>
          </p:cNvPr>
          <p:cNvPicPr>
            <a:picLocks noChangeAspect="1"/>
          </p:cNvPicPr>
          <p:nvPr/>
        </p:nvPicPr>
        <p:blipFill>
          <a:blip r:embed="rId2"/>
          <a:stretch>
            <a:fillRect/>
          </a:stretch>
        </p:blipFill>
        <p:spPr>
          <a:xfrm>
            <a:off x="3193257" y="2349667"/>
            <a:ext cx="5683457" cy="3134088"/>
          </a:xfrm>
          <a:prstGeom prst="rect">
            <a:avLst/>
          </a:prstGeom>
        </p:spPr>
      </p:pic>
    </p:spTree>
    <p:extLst>
      <p:ext uri="{BB962C8B-B14F-4D97-AF65-F5344CB8AC3E}">
        <p14:creationId xmlns:p14="http://schemas.microsoft.com/office/powerpoint/2010/main" val="5369888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F6A766F-1AC9-4D6E-9041-E36C1625A514}"/>
              </a:ext>
            </a:extLst>
          </p:cNvPr>
          <p:cNvSpPr>
            <a:spLocks noGrp="1"/>
          </p:cNvSpPr>
          <p:nvPr>
            <p:ph type="title"/>
          </p:nvPr>
        </p:nvSpPr>
        <p:spPr/>
        <p:txBody>
          <a:bodyPr/>
          <a:lstStyle/>
          <a:p>
            <a:r>
              <a:rPr lang="en-US" altLang="zh-TW" dirty="0"/>
              <a:t>P(ENL) is an NP problem</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E3C62084-F57C-4B51-BF51-B97A9CDA1BC1}"/>
                  </a:ext>
                </a:extLst>
              </p:cNvPr>
              <p:cNvSpPr>
                <a:spLocks noGrp="1"/>
              </p:cNvSpPr>
              <p:nvPr>
                <p:ph idx="1"/>
              </p:nvPr>
            </p:nvSpPr>
            <p:spPr>
              <a:xfrm>
                <a:off x="4738394" y="4520937"/>
                <a:ext cx="2116014" cy="863962"/>
              </a:xfrm>
            </p:spPr>
            <p:txBody>
              <a:bodyPr>
                <a:normAutofit/>
              </a:bodyPr>
              <a:lstStyle/>
              <a:p>
                <a:pPr marL="0" indent="0">
                  <a:buNone/>
                </a:pPr>
                <a14:m>
                  <m:oMath xmlns:m="http://schemas.openxmlformats.org/officeDocument/2006/math">
                    <m:sSup>
                      <m:sSupPr>
                        <m:ctrlPr>
                          <a:rPr lang="en-US" altLang="zh-TW" sz="3600" b="0" i="1" smtClean="0">
                            <a:latin typeface="Cambria Math" panose="02040503050406030204" pitchFamily="18" charset="0"/>
                          </a:rPr>
                        </m:ctrlPr>
                      </m:sSupPr>
                      <m:e>
                        <m:r>
                          <a:rPr lang="en-US" altLang="zh-TW" sz="3600" b="0" i="1" smtClean="0">
                            <a:latin typeface="Cambria Math" panose="02040503050406030204" pitchFamily="18" charset="0"/>
                          </a:rPr>
                          <m:t>2</m:t>
                        </m:r>
                      </m:e>
                      <m:sup>
                        <m:sSup>
                          <m:sSupPr>
                            <m:ctrlPr>
                              <a:rPr lang="en-US" altLang="zh-TW" sz="3600" b="0" i="1" smtClean="0">
                                <a:latin typeface="Cambria Math" panose="02040503050406030204" pitchFamily="18" charset="0"/>
                              </a:rPr>
                            </m:ctrlPr>
                          </m:sSupPr>
                          <m:e>
                            <m:r>
                              <a:rPr lang="en-US" altLang="zh-TW" sz="3600" b="0" i="1" smtClean="0">
                                <a:latin typeface="Cambria Math" panose="02040503050406030204" pitchFamily="18" charset="0"/>
                              </a:rPr>
                              <m:t>𝑛</m:t>
                            </m:r>
                          </m:e>
                          <m:sup>
                            <m:r>
                              <a:rPr lang="en-US" altLang="zh-TW" sz="3600" b="0" i="1" smtClean="0">
                                <a:latin typeface="Cambria Math" panose="02040503050406030204" pitchFamily="18" charset="0"/>
                              </a:rPr>
                              <m:t>2</m:t>
                            </m:r>
                          </m:sup>
                        </m:sSup>
                      </m:sup>
                    </m:sSup>
                  </m:oMath>
                </a14:m>
                <a:r>
                  <a:rPr lang="zh-TW" altLang="en-US" sz="3600" dirty="0"/>
                  <a:t> </a:t>
                </a:r>
                <a:r>
                  <a:rPr lang="en-US" altLang="zh-TW" sz="3600" dirty="0"/>
                  <a:t>cases</a:t>
                </a:r>
                <a:endParaRPr lang="zh-TW" altLang="en-US" sz="3600" dirty="0"/>
              </a:p>
            </p:txBody>
          </p:sp>
        </mc:Choice>
        <mc:Fallback xmlns="">
          <p:sp>
            <p:nvSpPr>
              <p:cNvPr id="3" name="內容版面配置區 2">
                <a:extLst>
                  <a:ext uri="{FF2B5EF4-FFF2-40B4-BE49-F238E27FC236}">
                    <a16:creationId xmlns:a16="http://schemas.microsoft.com/office/drawing/2014/main" id="{E3C62084-F57C-4B51-BF51-B97A9CDA1BC1}"/>
                  </a:ext>
                </a:extLst>
              </p:cNvPr>
              <p:cNvSpPr>
                <a:spLocks noGrp="1" noRot="1" noChangeAspect="1" noMove="1" noResize="1" noEditPoints="1" noAdjustHandles="1" noChangeArrowheads="1" noChangeShapeType="1" noTextEdit="1"/>
              </p:cNvSpPr>
              <p:nvPr>
                <p:ph idx="1"/>
              </p:nvPr>
            </p:nvSpPr>
            <p:spPr>
              <a:xfrm>
                <a:off x="4738394" y="4520937"/>
                <a:ext cx="2116014" cy="863962"/>
              </a:xfrm>
              <a:blipFill>
                <a:blip r:embed="rId2"/>
                <a:stretch>
                  <a:fillRect t="-9929" b="-2837"/>
                </a:stretch>
              </a:blipFill>
            </p:spPr>
            <p:txBody>
              <a:bodyPr/>
              <a:lstStyle/>
              <a:p>
                <a:r>
                  <a:rPr lang="zh-TW" altLang="en-US">
                    <a:noFill/>
                  </a:rPr>
                  <a:t> </a:t>
                </a:r>
              </a:p>
            </p:txBody>
          </p:sp>
        </mc:Fallback>
      </mc:AlternateContent>
      <p:pic>
        <p:nvPicPr>
          <p:cNvPr id="4" name="圖片 3">
            <a:extLst>
              <a:ext uri="{FF2B5EF4-FFF2-40B4-BE49-F238E27FC236}">
                <a16:creationId xmlns:a16="http://schemas.microsoft.com/office/drawing/2014/main" id="{EDFC2E0E-1222-4B0F-AA19-1FAECF939F3C}"/>
              </a:ext>
            </a:extLst>
          </p:cNvPr>
          <p:cNvPicPr>
            <a:picLocks noChangeAspect="1"/>
          </p:cNvPicPr>
          <p:nvPr/>
        </p:nvPicPr>
        <p:blipFill>
          <a:blip r:embed="rId3"/>
          <a:stretch>
            <a:fillRect/>
          </a:stretch>
        </p:blipFill>
        <p:spPr>
          <a:xfrm>
            <a:off x="2167450" y="2303926"/>
            <a:ext cx="2854717" cy="1603773"/>
          </a:xfrm>
          <a:prstGeom prst="rect">
            <a:avLst/>
          </a:prstGeom>
        </p:spPr>
      </p:pic>
      <p:pic>
        <p:nvPicPr>
          <p:cNvPr id="5" name="圖片 4">
            <a:extLst>
              <a:ext uri="{FF2B5EF4-FFF2-40B4-BE49-F238E27FC236}">
                <a16:creationId xmlns:a16="http://schemas.microsoft.com/office/drawing/2014/main" id="{5B3FBF13-942F-4371-B01F-E6CC471594AA}"/>
              </a:ext>
            </a:extLst>
          </p:cNvPr>
          <p:cNvPicPr>
            <a:picLocks noChangeAspect="1"/>
          </p:cNvPicPr>
          <p:nvPr/>
        </p:nvPicPr>
        <p:blipFill>
          <a:blip r:embed="rId4"/>
          <a:stretch>
            <a:fillRect/>
          </a:stretch>
        </p:blipFill>
        <p:spPr>
          <a:xfrm>
            <a:off x="6570636" y="2315031"/>
            <a:ext cx="2827798" cy="1592668"/>
          </a:xfrm>
          <a:prstGeom prst="rect">
            <a:avLst/>
          </a:prstGeom>
        </p:spPr>
      </p:pic>
      <p:sp>
        <p:nvSpPr>
          <p:cNvPr id="6" name="箭號: 向右 5">
            <a:extLst>
              <a:ext uri="{FF2B5EF4-FFF2-40B4-BE49-F238E27FC236}">
                <a16:creationId xmlns:a16="http://schemas.microsoft.com/office/drawing/2014/main" id="{C9BC2518-629D-4A67-8B1E-1FD8AB789A51}"/>
              </a:ext>
            </a:extLst>
          </p:cNvPr>
          <p:cNvSpPr/>
          <p:nvPr/>
        </p:nvSpPr>
        <p:spPr>
          <a:xfrm>
            <a:off x="5430641" y="3108317"/>
            <a:ext cx="731520" cy="28135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8642268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5538DC1-95E7-4129-B152-EA38B9FEA756}"/>
              </a:ext>
            </a:extLst>
          </p:cNvPr>
          <p:cNvSpPr>
            <a:spLocks noGrp="1"/>
          </p:cNvSpPr>
          <p:nvPr>
            <p:ph type="title"/>
          </p:nvPr>
        </p:nvSpPr>
        <p:spPr/>
        <p:txBody>
          <a:bodyPr/>
          <a:lstStyle/>
          <a:p>
            <a:r>
              <a:rPr lang="en-US" altLang="zh-TW" dirty="0"/>
              <a:t>Proof  of  NPC</a:t>
            </a:r>
            <a:endParaRPr lang="zh-TW" altLang="en-US" dirty="0"/>
          </a:p>
        </p:txBody>
      </p:sp>
      <p:sp>
        <p:nvSpPr>
          <p:cNvPr id="3" name="內容版面配置區 2">
            <a:extLst>
              <a:ext uri="{FF2B5EF4-FFF2-40B4-BE49-F238E27FC236}">
                <a16:creationId xmlns:a16="http://schemas.microsoft.com/office/drawing/2014/main" id="{BE7D5AA3-F97E-47CC-99EA-6B54E179BAD8}"/>
              </a:ext>
            </a:extLst>
          </p:cNvPr>
          <p:cNvSpPr>
            <a:spLocks noGrp="1"/>
          </p:cNvSpPr>
          <p:nvPr>
            <p:ph idx="1"/>
          </p:nvPr>
        </p:nvSpPr>
        <p:spPr/>
        <p:txBody>
          <a:bodyPr>
            <a:normAutofit/>
          </a:bodyPr>
          <a:lstStyle/>
          <a:p>
            <a:r>
              <a:rPr lang="en-US" altLang="zh-TW" sz="3200" dirty="0"/>
              <a:t>To show that A is NP-complete</a:t>
            </a:r>
          </a:p>
          <a:p>
            <a:pPr>
              <a:buFont typeface="Wingdings" panose="05000000000000000000" pitchFamily="2" charset="2"/>
              <a:buNone/>
            </a:pPr>
            <a:r>
              <a:rPr lang="en-US" altLang="zh-TW" sz="3200" dirty="0"/>
              <a:t>	(I)</a:t>
            </a:r>
            <a:r>
              <a:rPr lang="en-US" altLang="zh-TW" sz="3200" dirty="0">
                <a:latin typeface="Times New Roman" panose="02020603050405020304" pitchFamily="18" charset="0"/>
                <a:cs typeface="Times New Roman" panose="02020603050405020304" pitchFamily="18" charset="0"/>
              </a:rPr>
              <a:t> </a:t>
            </a:r>
            <a:r>
              <a:rPr lang="en-US" altLang="zh-TW" sz="3200" u="sng" dirty="0">
                <a:solidFill>
                  <a:srgbClr val="FF0000"/>
                </a:solidFill>
              </a:rPr>
              <a:t>Prove that A is an NP problem.</a:t>
            </a:r>
            <a:r>
              <a:rPr lang="en-US" altLang="zh-TW" sz="3200" dirty="0">
                <a:solidFill>
                  <a:srgbClr val="FF0000"/>
                </a:solidFill>
              </a:rPr>
              <a:t> </a:t>
            </a:r>
          </a:p>
          <a:p>
            <a:pPr>
              <a:buFont typeface="Wingdings" panose="05000000000000000000" pitchFamily="2" charset="2"/>
              <a:buNone/>
            </a:pPr>
            <a:r>
              <a:rPr lang="en-US" altLang="zh-TW" sz="3200" dirty="0"/>
              <a:t>	(II)</a:t>
            </a:r>
            <a:r>
              <a:rPr lang="en-US" altLang="zh-TW" sz="3200" dirty="0">
                <a:latin typeface="Times New Roman" panose="02020603050405020304" pitchFamily="18" charset="0"/>
                <a:cs typeface="Times New Roman" panose="02020603050405020304" pitchFamily="18" charset="0"/>
              </a:rPr>
              <a:t> </a:t>
            </a:r>
            <a:r>
              <a:rPr lang="en-US" altLang="zh-TW" sz="3200" u="sng" dirty="0">
                <a:solidFill>
                  <a:srgbClr val="FF0000"/>
                </a:solidFill>
              </a:rPr>
              <a:t>Prove that </a:t>
            </a:r>
            <a:r>
              <a:rPr lang="en-US" altLang="zh-TW" sz="3200" u="sng" dirty="0">
                <a:solidFill>
                  <a:srgbClr val="FF0000"/>
                </a:solidFill>
                <a:latin typeface="新細明體" panose="02020500000000000000" pitchFamily="18" charset="-120"/>
                <a:sym typeface="Symbol" panose="05050102010706020507" pitchFamily="18" charset="2"/>
              </a:rPr>
              <a:t></a:t>
            </a:r>
            <a:r>
              <a:rPr lang="en-US" altLang="zh-TW" sz="3200" u="sng" dirty="0">
                <a:solidFill>
                  <a:srgbClr val="FF0000"/>
                </a:solidFill>
              </a:rPr>
              <a:t> B </a:t>
            </a:r>
            <a:r>
              <a:rPr lang="en-US" altLang="zh-TW" sz="3200" u="sng" dirty="0">
                <a:solidFill>
                  <a:srgbClr val="FF0000"/>
                </a:solidFill>
                <a:latin typeface="新細明體" panose="02020500000000000000" pitchFamily="18" charset="-120"/>
                <a:sym typeface="Symbol" panose="05050102010706020507" pitchFamily="18" charset="2"/>
              </a:rPr>
              <a:t></a:t>
            </a:r>
            <a:r>
              <a:rPr lang="en-US" altLang="zh-TW" sz="3200" u="sng" dirty="0">
                <a:solidFill>
                  <a:srgbClr val="FF0000"/>
                </a:solidFill>
              </a:rPr>
              <a:t> NPC, B </a:t>
            </a:r>
            <a:r>
              <a:rPr lang="en-US" altLang="zh-TW" sz="3200" u="sng" dirty="0">
                <a:solidFill>
                  <a:srgbClr val="FF0000"/>
                </a:solidFill>
                <a:latin typeface="新細明體" panose="02020500000000000000" pitchFamily="18" charset="-120"/>
                <a:sym typeface="Symbol" panose="05050102010706020507" pitchFamily="18" charset="2"/>
              </a:rPr>
              <a:t></a:t>
            </a:r>
            <a:r>
              <a:rPr lang="en-US" altLang="zh-TW" sz="3200" u="sng" dirty="0">
                <a:solidFill>
                  <a:srgbClr val="FF0000"/>
                </a:solidFill>
              </a:rPr>
              <a:t> A.</a:t>
            </a:r>
          </a:p>
          <a:p>
            <a:pPr>
              <a:buFont typeface="Wingdings" panose="05000000000000000000" pitchFamily="2" charset="2"/>
              <a:buNone/>
            </a:pPr>
            <a:r>
              <a:rPr lang="en-US" altLang="zh-TW" sz="3200" dirty="0">
                <a:latin typeface="新細明體" panose="02020500000000000000" pitchFamily="18" charset="-120"/>
                <a:sym typeface="Symbol" panose="05050102010706020507" pitchFamily="18" charset="2"/>
              </a:rPr>
              <a:t>   </a:t>
            </a:r>
            <a:r>
              <a:rPr lang="en-US" altLang="zh-TW" sz="3200" dirty="0"/>
              <a:t> A </a:t>
            </a:r>
            <a:r>
              <a:rPr lang="en-US" altLang="zh-TW" sz="3200" dirty="0">
                <a:latin typeface="新細明體" panose="02020500000000000000" pitchFamily="18" charset="-120"/>
                <a:sym typeface="Symbol" panose="05050102010706020507" pitchFamily="18" charset="2"/>
              </a:rPr>
              <a:t></a:t>
            </a:r>
            <a:r>
              <a:rPr lang="en-US" altLang="zh-TW" sz="3200" dirty="0"/>
              <a:t> NPC</a:t>
            </a:r>
            <a:endParaRPr lang="en-US" altLang="zh-TW" sz="3200" dirty="0">
              <a:solidFill>
                <a:schemeClr val="hlink"/>
              </a:solidFill>
            </a:endParaRPr>
          </a:p>
        </p:txBody>
      </p:sp>
      <p:pic>
        <p:nvPicPr>
          <p:cNvPr id="4" name="Picture 4">
            <a:extLst>
              <a:ext uri="{FF2B5EF4-FFF2-40B4-BE49-F238E27FC236}">
                <a16:creationId xmlns:a16="http://schemas.microsoft.com/office/drawing/2014/main" id="{1A02B62D-650F-48B6-98E8-17B008C706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48897" y="4001294"/>
            <a:ext cx="4038600" cy="20304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2809759"/>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訂 6">
      <a:majorFont>
        <a:latin typeface="Times New Roman"/>
        <a:ea typeface="標楷體"/>
        <a:cs typeface=""/>
      </a:majorFont>
      <a:minorFont>
        <a:latin typeface="Times New Roman"/>
        <a:ea typeface="新細明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1316</TotalTime>
  <Words>2355</Words>
  <Application>Microsoft Office PowerPoint</Application>
  <PresentationFormat>寬螢幕</PresentationFormat>
  <Paragraphs>1229</Paragraphs>
  <Slides>26</Slides>
  <Notes>1</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26</vt:i4>
      </vt:variant>
    </vt:vector>
  </HeadingPairs>
  <TitlesOfParts>
    <vt:vector size="33" baseType="lpstr">
      <vt:lpstr>新細明體</vt:lpstr>
      <vt:lpstr>Arial</vt:lpstr>
      <vt:lpstr>Calibri</vt:lpstr>
      <vt:lpstr>Cambria Math</vt:lpstr>
      <vt:lpstr>Times New Roman</vt:lpstr>
      <vt:lpstr>Wingdings</vt:lpstr>
      <vt:lpstr>Office 佈景主題</vt:lpstr>
      <vt:lpstr>PowerPoint 簡報</vt:lpstr>
      <vt:lpstr>Abstract </vt:lpstr>
      <vt:lpstr>2D-LCS problem by Amir et al.(2008)</vt:lpstr>
      <vt:lpstr>2D-LCS ≡ 2D string relation by Chang et al.(1987) </vt:lpstr>
      <vt:lpstr>One dimensional LCS</vt:lpstr>
      <vt:lpstr>Corner</vt:lpstr>
      <vt:lpstr>Side</vt:lpstr>
      <vt:lpstr>8 versions TLCS problems</vt:lpstr>
      <vt:lpstr>PowerPoint 簡報</vt:lpstr>
      <vt:lpstr>Invalid cases</vt:lpstr>
      <vt:lpstr>NP optimization (NPO)</vt:lpstr>
      <vt:lpstr>Approximability(APX) problem</vt:lpstr>
      <vt:lpstr>PowerPoint 簡報</vt:lpstr>
      <vt:lpstr>PowerPoint 簡報</vt:lpstr>
      <vt:lpstr>PowerPoint 簡報</vt:lpstr>
      <vt:lpstr>PowerPoint 簡報</vt:lpstr>
      <vt:lpstr>Maximum 3-dimensional Matching Bounded by 3 (MAX 3DM-3) Problem</vt:lpstr>
      <vt:lpstr>PowerPoint 簡報</vt:lpstr>
      <vt:lpstr>PowerPoint 簡報</vt:lpstr>
      <vt:lpstr>PowerPoint 簡報</vt:lpstr>
      <vt:lpstr>PowerPoint 簡報</vt:lpstr>
      <vt:lpstr>PowerPoint 簡報</vt:lpstr>
      <vt:lpstr>Proofs</vt:lpstr>
      <vt:lpstr>Example of P(ENL) </vt:lpstr>
      <vt:lpstr>P(ENL) is an NP problem</vt:lpstr>
      <vt:lpstr>Proof  of  NPC</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pplabeveryone</dc:creator>
  <cp:lastModifiedBy>pplabeveryone</cp:lastModifiedBy>
  <cp:revision>36</cp:revision>
  <dcterms:created xsi:type="dcterms:W3CDTF">2020-01-06T17:08:32Z</dcterms:created>
  <dcterms:modified xsi:type="dcterms:W3CDTF">2020-01-14T06:08:22Z</dcterms:modified>
</cp:coreProperties>
</file>