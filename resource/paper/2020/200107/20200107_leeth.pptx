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21" r:id="rId2"/>
    <p:sldId id="311" r:id="rId3"/>
    <p:sldId id="354" r:id="rId4"/>
    <p:sldId id="306" r:id="rId5"/>
    <p:sldId id="355" r:id="rId6"/>
    <p:sldId id="356" r:id="rId7"/>
    <p:sldId id="357" r:id="rId8"/>
    <p:sldId id="347" r:id="rId9"/>
    <p:sldId id="348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6" r:id="rId18"/>
    <p:sldId id="365" r:id="rId19"/>
    <p:sldId id="367" r:id="rId20"/>
    <p:sldId id="35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3971" autoAdjust="0"/>
  </p:normalViewPr>
  <p:slideViewPr>
    <p:cSldViewPr snapToGrid="0">
      <p:cViewPr varScale="1">
        <p:scale>
          <a:sx n="68" d="100"/>
          <a:sy n="68" d="100"/>
        </p:scale>
        <p:origin x="146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institution/University_of_Engineering_and_Technology_Taxila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University of Engineering and Technology, Taxila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Islamabad, Pakistan</a:t>
            </a:r>
            <a:br>
              <a:rPr lang="en-US" altLang="zh-TW" dirty="0"/>
            </a:b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敲乎李 </a:t>
            </a:r>
            <a:r>
              <a:rPr lang="en-US" altLang="zh-TW" dirty="0"/>
              <a:t>ate </a:t>
            </a:r>
            <a:r>
              <a:rPr lang="zh-TW" altLang="en-US" dirty="0"/>
              <a:t>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敲乎李 </a:t>
            </a:r>
            <a:r>
              <a:rPr lang="en-US" altLang="zh-TW" dirty="0"/>
              <a:t>ate </a:t>
            </a:r>
            <a:r>
              <a:rPr lang="zh-TW" altLang="en-US" dirty="0"/>
              <a:t>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194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413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344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024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138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074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202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612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265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22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819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354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741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195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Aligning distance matrices for structural alignment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347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k, l are matching positions in A and B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Hence if we define the set of 2D points (</a:t>
            </a:r>
            <a:r>
              <a:rPr lang="en-US" altLang="zh-TW" sz="1200" b="0" i="1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)to consist of the set of matching position pairs between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then solve the MDNRS problem, 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solution list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describes a set of rectangles with maximum nesting depth, 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characters that correspond to the lower-left and upper-right corner matching position pairs define an LCPS between the input strings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altLang="zh-TW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50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908" y="2247166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Image Retrieval and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Automatic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Annotation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Weighted Average of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Triangular Histograms Using Support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Machine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843" y="3535109"/>
            <a:ext cx="8536249" cy="717223"/>
          </a:xfrm>
        </p:spPr>
        <p:txBody>
          <a:bodyPr>
            <a:noAutofit/>
          </a:bodyPr>
          <a:lstStyle/>
          <a:p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Zahid Mehmood,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Toqeer Mahmood, Muhammad Arshad Javid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-Hsu Lee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 : Jun. 07, 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252332"/>
            <a:ext cx="9091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Intelligence, January 2018, Volume 48, Issue 1, pp 166–181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844067"/>
            <a:ext cx="9004993" cy="6114402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years, the rapid growth of multimedia content makes content-based image retrieval (CBIR) a challenging research problem. The content-based attributes of the image are associated with the position of objects and regions within the image. The addition of image content-based attributes to image retrieval enhances its performance. In the last few years, the bag-of-visual-words 	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BoVW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image representation model gained attention and significantly improved the efficiency and effectiveness of CBIR. In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BoVW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image representation model, an image is represented as an order-less histogram of visual words by ignoring the spatial attributes. In this paper, we present a novel image representation based on the weighted average of triangular histograms (WATH) of visual words. </a:t>
            </a: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844067"/>
            <a:ext cx="9004993" cy="6114402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adds the image spatial contents to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inverted index of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BoVW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reduces overfitting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on larger sizes of the dictionary and semantic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issues between high-level image semantic and low-level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features. The qualitative and quantitative analysis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on three image benchmarks demonstrates the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of the proposed approach based on WATH.</a:t>
            </a:r>
          </a:p>
        </p:txBody>
      </p:sp>
    </p:spTree>
    <p:extLst>
      <p:ext uri="{BB962C8B-B14F-4D97-AF65-F5344CB8AC3E}">
        <p14:creationId xmlns:p14="http://schemas.microsoft.com/office/powerpoint/2010/main" val="21807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CBIR(content-based image retrieval)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71" y="1470227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represented in the form of feature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 that consist of low-level visual features that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based on shape, color, and texture.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 world applications of CBIR</a:t>
            </a:r>
          </a:p>
        </p:txBody>
      </p:sp>
    </p:spTree>
    <p:extLst>
      <p:ext uri="{BB962C8B-B14F-4D97-AF65-F5344CB8AC3E}">
        <p14:creationId xmlns:p14="http://schemas.microsoft.com/office/powerpoint/2010/main" val="113081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BoVW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(bag-of-visual-words)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8" name="內容版面配置區 5">
            <a:extLst>
              <a:ext uri="{FF2B5EF4-FFF2-40B4-BE49-F238E27FC236}">
                <a16:creationId xmlns:a16="http://schemas.microsoft.com/office/drawing/2014/main" id="{62B6D9F5-7C48-45A6-9E5E-5A23183C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54" y="1376302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descriptors are used for the extraction of image features.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of visual words are the feature vectors of images.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524309F-C801-49DF-ACF5-3323997CF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66" y="3349705"/>
            <a:ext cx="8491867" cy="196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7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D6565E9-1D79-4F7F-B149-1A2B69697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9" y="725858"/>
            <a:ext cx="8104762" cy="4438095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F1F85185-C45E-44F6-BBA4-D2DC11C9C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560" y="5163953"/>
            <a:ext cx="7887821" cy="14744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content-based spatial triangular relationship between the images of the Corel image database.</a:t>
            </a:r>
          </a:p>
        </p:txBody>
      </p:sp>
    </p:spTree>
    <p:extLst>
      <p:ext uri="{BB962C8B-B14F-4D97-AF65-F5344CB8AC3E}">
        <p14:creationId xmlns:p14="http://schemas.microsoft.com/office/powerpoint/2010/main" val="197640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8098262-F922-4DC5-AEE9-3FD12B53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72" y="0"/>
            <a:ext cx="52378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95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parameters and results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058837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weight W = 0.25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size and percentage of features for the dictionary construction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scale of dense features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pixel stride or step size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89EE07B-CD61-4170-9942-0813BC6BF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376" y="3236053"/>
            <a:ext cx="4627245" cy="334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8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measures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96A88F-ADFB-4721-9699-FCBEFC463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57" y="1291236"/>
            <a:ext cx="1999278" cy="758762"/>
          </a:xfrm>
          <a:prstGeom prst="rect">
            <a:avLst/>
          </a:prstGeom>
        </p:spPr>
      </p:pic>
      <p:sp>
        <p:nvSpPr>
          <p:cNvPr id="9" name="內容版面配置區 5">
            <a:extLst>
              <a:ext uri="{FF2B5EF4-FFF2-40B4-BE49-F238E27FC236}">
                <a16:creationId xmlns:a16="http://schemas.microsoft.com/office/drawing/2014/main" id="{4A13F2FA-0378-4542-AA43-B6E9FC591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2136839"/>
            <a:ext cx="7887821" cy="845602"/>
          </a:xfrm>
        </p:spPr>
        <p:txBody>
          <a:bodyPr>
            <a:no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total number of correctly retrieved images.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 is the total number of retrieved images.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8C65D60-9205-44EB-997A-04852DC69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57" y="3252519"/>
            <a:ext cx="1627736" cy="911047"/>
          </a:xfrm>
          <a:prstGeom prst="rect">
            <a:avLst/>
          </a:prstGeom>
        </p:spPr>
      </p:pic>
      <p:sp>
        <p:nvSpPr>
          <p:cNvPr id="11" name="內容版面配置區 5">
            <a:extLst>
              <a:ext uri="{FF2B5EF4-FFF2-40B4-BE49-F238E27FC236}">
                <a16:creationId xmlns:a16="http://schemas.microsoft.com/office/drawing/2014/main" id="{581FBB71-E17D-44CC-BA07-13D55879890F}"/>
              </a:ext>
            </a:extLst>
          </p:cNvPr>
          <p:cNvSpPr txBox="1">
            <a:spLocks/>
          </p:cNvSpPr>
          <p:nvPr/>
        </p:nvSpPr>
        <p:spPr>
          <a:xfrm>
            <a:off x="734957" y="4261474"/>
            <a:ext cx="7887821" cy="8456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 is the total number of images in the semantic class s.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correctly retrieved images.</a:t>
            </a:r>
          </a:p>
        </p:txBody>
      </p:sp>
    </p:spTree>
    <p:extLst>
      <p:ext uri="{BB962C8B-B14F-4D97-AF65-F5344CB8AC3E}">
        <p14:creationId xmlns:p14="http://schemas.microsoft.com/office/powerpoint/2010/main" val="182684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2BA1A0-9D89-4B91-A9C0-9F8A79525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90" y="2447630"/>
            <a:ext cx="7847619" cy="2161905"/>
          </a:xfrm>
          <a:prstGeom prst="rect">
            <a:avLst/>
          </a:prstGeom>
        </p:spPr>
      </p:pic>
      <p:sp>
        <p:nvSpPr>
          <p:cNvPr id="9" name="內容版面配置區 5">
            <a:extLst>
              <a:ext uri="{FF2B5EF4-FFF2-40B4-BE49-F238E27FC236}">
                <a16:creationId xmlns:a16="http://schemas.microsoft.com/office/drawing/2014/main" id="{C8A59B82-AF3E-4D10-BBDC-C0E2242E8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5" y="4494822"/>
            <a:ext cx="7887821" cy="385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 from 10 semantic classes of the Corel-A image database</a:t>
            </a:r>
          </a:p>
        </p:txBody>
      </p:sp>
    </p:spTree>
    <p:extLst>
      <p:ext uri="{BB962C8B-B14F-4D97-AF65-F5344CB8AC3E}">
        <p14:creationId xmlns:p14="http://schemas.microsoft.com/office/powerpoint/2010/main" val="1537428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6404016-49B2-4482-9B12-F3520377B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092" y="1265043"/>
            <a:ext cx="4867825" cy="509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3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98521AE-120A-450F-B810-12C0D8AA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01" y="1305876"/>
            <a:ext cx="6500189" cy="4106407"/>
          </a:xfrm>
          <a:prstGeom prst="rect">
            <a:avLst/>
          </a:prstGeom>
        </p:spPr>
      </p:pic>
      <p:sp>
        <p:nvSpPr>
          <p:cNvPr id="7" name="內容版面配置區 5">
            <a:extLst>
              <a:ext uri="{FF2B5EF4-FFF2-40B4-BE49-F238E27FC236}">
                <a16:creationId xmlns:a16="http://schemas.microsoft.com/office/drawing/2014/main" id="{4AB5167D-60BA-4643-A5CC-02201A0A8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5" y="5537788"/>
            <a:ext cx="7887821" cy="385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of MAP on the Corel-A image database with a dense pixel stride of 5</a:t>
            </a:r>
          </a:p>
        </p:txBody>
      </p:sp>
    </p:spTree>
    <p:extLst>
      <p:ext uri="{BB962C8B-B14F-4D97-AF65-F5344CB8AC3E}">
        <p14:creationId xmlns:p14="http://schemas.microsoft.com/office/powerpoint/2010/main" val="295035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7" name="內容版面配置區 5">
            <a:extLst>
              <a:ext uri="{FF2B5EF4-FFF2-40B4-BE49-F238E27FC236}">
                <a16:creationId xmlns:a16="http://schemas.microsoft.com/office/drawing/2014/main" id="{4AB5167D-60BA-4643-A5CC-02201A0A8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5" y="5399326"/>
            <a:ext cx="7887821" cy="385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 of MAP for top-20 image retrievals on the Corel-A image database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AA3A53-41B2-48A4-BFF9-37E64BE21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177" y="1409373"/>
            <a:ext cx="6323809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14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7" name="內容版面配置區 5">
            <a:extLst>
              <a:ext uri="{FF2B5EF4-FFF2-40B4-BE49-F238E27FC236}">
                <a16:creationId xmlns:a16="http://schemas.microsoft.com/office/drawing/2014/main" id="{4AB5167D-60BA-4643-A5CC-02201A0A8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5" y="5399326"/>
            <a:ext cx="7887821" cy="385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 of recall for top-20 image retrievals on the Corel-A image database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A6E804C-114C-4DD2-8AFE-80458AA63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29" y="1336735"/>
            <a:ext cx="6276190" cy="3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80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F09B608-CE15-48CA-BF8F-6FD5E5853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30" y="1289226"/>
            <a:ext cx="7782339" cy="42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C6514CD-5828-4D4F-9EAB-B45805D2C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93" y="1092681"/>
            <a:ext cx="8033213" cy="46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73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5775938-B8B9-4E95-BC56-F12F5D1F5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41" y="1993757"/>
            <a:ext cx="8539318" cy="346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09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133" y="433635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on the Corel-A image database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1C2FC33-23EE-4566-B5B6-1321A37AE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68" y="1905397"/>
            <a:ext cx="8595463" cy="363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52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058837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Pentium (R) Core i7 2.4 GHz microprocessor, 2 GB GPU, and 8 GB RAM using Windows 7 operating system, and implemented in MATLAB 2015a.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5F0B22-8C65-4C81-9470-BE541E049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617" y="2220249"/>
            <a:ext cx="6304762" cy="13238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3F07C0A-902F-4101-962D-75C2F88C2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712" y="4013566"/>
            <a:ext cx="6228571" cy="2047619"/>
          </a:xfrm>
          <a:prstGeom prst="rect">
            <a:avLst/>
          </a:prstGeom>
        </p:spPr>
      </p:pic>
      <p:sp>
        <p:nvSpPr>
          <p:cNvPr id="8" name="內容版面配置區 5">
            <a:extLst>
              <a:ext uri="{FF2B5EF4-FFF2-40B4-BE49-F238E27FC236}">
                <a16:creationId xmlns:a16="http://schemas.microsoft.com/office/drawing/2014/main" id="{E6989FAF-A92C-4882-A956-F9D7685DEA1A}"/>
              </a:ext>
            </a:extLst>
          </p:cNvPr>
          <p:cNvSpPr txBox="1">
            <a:spLocks/>
          </p:cNvSpPr>
          <p:nvPr/>
        </p:nvSpPr>
        <p:spPr>
          <a:xfrm>
            <a:off x="1457712" y="3451444"/>
            <a:ext cx="7887821" cy="3858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computational cost (in seconds) required for feature extraction only</a:t>
            </a:r>
          </a:p>
        </p:txBody>
      </p:sp>
      <p:sp>
        <p:nvSpPr>
          <p:cNvPr id="9" name="內容版面配置區 5">
            <a:extLst>
              <a:ext uri="{FF2B5EF4-FFF2-40B4-BE49-F238E27FC236}">
                <a16:creationId xmlns:a16="http://schemas.microsoft.com/office/drawing/2014/main" id="{364208FD-7844-4AD3-9647-214A97FE3EEE}"/>
              </a:ext>
            </a:extLst>
          </p:cNvPr>
          <p:cNvSpPr txBox="1">
            <a:spLocks/>
          </p:cNvSpPr>
          <p:nvPr/>
        </p:nvSpPr>
        <p:spPr>
          <a:xfrm>
            <a:off x="1036979" y="6077376"/>
            <a:ext cx="7887821" cy="3858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computational cost (in seconds) of the proposed approach  with state-of-the-art CBIR approaches</a:t>
            </a:r>
          </a:p>
        </p:txBody>
      </p:sp>
    </p:spTree>
    <p:extLst>
      <p:ext uri="{BB962C8B-B14F-4D97-AF65-F5344CB8AC3E}">
        <p14:creationId xmlns:p14="http://schemas.microsoft.com/office/powerpoint/2010/main" val="3024929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7" y="350951"/>
            <a:ext cx="8491867" cy="583367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directions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31" y="5537789"/>
            <a:ext cx="312390" cy="385893"/>
          </a:xfrm>
          <a:prstGeom prst="rect">
            <a:avLst/>
          </a:prstGeom>
        </p:spPr>
      </p:pic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3CA8D1D5-6B20-4285-BB0C-86AEE0942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9" y="1376302"/>
            <a:ext cx="7887821" cy="4354433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based on the WATH outperforms state-of-the-art CBIR approaches.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will evaluate the performance of proposed approach using deep learning for large-scale image retrieval 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ImageCLEF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databases.</a:t>
            </a:r>
          </a:p>
        </p:txBody>
      </p:sp>
    </p:spTree>
    <p:extLst>
      <p:ext uri="{BB962C8B-B14F-4D97-AF65-F5344CB8AC3E}">
        <p14:creationId xmlns:p14="http://schemas.microsoft.com/office/powerpoint/2010/main" val="334190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88588</TotalTime>
  <Words>830</Words>
  <Application>Microsoft Office PowerPoint</Application>
  <PresentationFormat>如螢幕大小 (4:3)</PresentationFormat>
  <Paragraphs>87</Paragraphs>
  <Slides>20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佈景主題</vt:lpstr>
      <vt:lpstr>Content-based Image Retrieval and Semantic Automatic Image Annotation Based on the Weighted Average of Triangular Histograms Using Support Vector Machine</vt:lpstr>
      <vt:lpstr>Abstract(1/2)</vt:lpstr>
      <vt:lpstr>Abstract(2/2)</vt:lpstr>
      <vt:lpstr>CBIR(content-based image retrieval)</vt:lpstr>
      <vt:lpstr>BoVW(bag-of-visual-words)</vt:lpstr>
      <vt:lpstr>PowerPoint 簡報</vt:lpstr>
      <vt:lpstr>PowerPoint 簡報</vt:lpstr>
      <vt:lpstr>Experimental parameters and results</vt:lpstr>
      <vt:lpstr>Evaluation measures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Performance evaluation on the Corel-A image database</vt:lpstr>
      <vt:lpstr>Computational complexity</vt:lpstr>
      <vt:lpstr>Conclusion and future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pplab</cp:lastModifiedBy>
  <cp:revision>805</cp:revision>
  <dcterms:created xsi:type="dcterms:W3CDTF">2017-09-25T08:45:50Z</dcterms:created>
  <dcterms:modified xsi:type="dcterms:W3CDTF">2020-01-07T12:26:19Z</dcterms:modified>
</cp:coreProperties>
</file>