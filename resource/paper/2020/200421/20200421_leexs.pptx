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3" r:id="rId7"/>
    <p:sldId id="285" r:id="rId8"/>
    <p:sldId id="261" r:id="rId9"/>
    <p:sldId id="264" r:id="rId10"/>
    <p:sldId id="265" r:id="rId11"/>
    <p:sldId id="28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6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950B5-82BB-426E-82CD-5CBB98D0A131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FA484-080D-46E8-9734-669FB6BCD2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886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266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298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51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895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568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14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065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405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0114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413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334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4935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93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008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08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559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531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5023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FA484-080D-46E8-9734-669FB6BCD201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9786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1042C-17E2-47A3-BADC-9D199D40A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C47F51-44AF-423A-A880-E48BCCB21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F14BBA-7562-4CC0-86C2-40F06F458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BDECE4-EB9B-4964-9C0F-ADAB156A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E650E5-F9E5-4E9F-A76F-831F298F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478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01739-3858-4BF4-A4FE-0FB01D9A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306963-10E9-421C-8F71-DD605127B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7F3C1-C09E-4211-8577-4B899D36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6BC59E-8298-46A4-B7C0-59E43B20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359AA9-67D2-4CEA-A17C-A76CBA9C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24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1C0F9-D249-4EA5-B4D8-B0E766250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F82F1D-91AF-4EE3-8B8F-F3A09732C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D471EF-B513-451D-BF49-39FD3EAB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D2B9A3-22EC-4021-BDED-70CE96C4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51AB9D-66F4-478D-8935-B8774DEA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12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4CB99D-AFA1-4F21-81EE-62B17925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015859-8ACA-48D5-A253-D67B6E80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20881E-CE4C-4BE8-8846-7FB626948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AAF41C-C0B8-4726-9FFB-DF1CBC13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38CF84-6AE0-46D4-9744-ADB34404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D5E44E-7625-4159-88E2-342682A8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61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C412BA-B9F3-43F4-A2EB-74DED529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590357-8686-4798-BAE9-812A1C2FA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21A69A-EB0E-4386-B657-BC02F3B92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78C3495-281F-4645-A8CE-30BE25077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0F7E23-1D5E-4380-BEAF-7E0E64659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A4D412A-0CD5-43C4-9C48-A4B30287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C2AB0B7-395D-4142-8168-6B5DB7BC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6A4615A-58E0-4369-9AA1-62FC58D9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89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B472A8-FE79-4D4B-BA90-4AD46BA0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F4EC058-DCD1-42EF-8D67-542FE1AC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B328F8E-002F-4B1A-8E81-99827A8E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1B04D3-456F-4D9E-9453-5DA287B4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091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AFCF812-B558-4B53-B925-8AF4A956C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092206C-0A89-48F9-BD62-A1AC2BAC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A4DFD-6D16-4950-A36C-D57887A2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55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7096A-0D3B-43D0-A277-001BA4CDC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FAB1B0-0C55-41A8-92E5-0AB48ACF1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63AD27D-AF01-4F1E-A41A-85B76B99E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D273EA-DFC4-44BF-8BF8-09DBBE4A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6EA995-D765-44A2-8AF6-61055716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495334-DF63-4DA3-8F0A-7586BF8B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65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E4013A-92CF-4CD7-8A9A-0857F213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3B9444-2CE2-4015-A524-886218672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983805-A16D-4879-B07E-9870D9982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2222C8-BF41-49C3-8ED3-529C4F7D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5335C1-614A-4883-8C38-9383D090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88D78A-3CD2-4FDD-B665-6A802BDD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62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605F95-11B5-467C-B787-69CA76D3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839459A-D800-42AF-B42B-66785D04B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574FF-9721-45CD-812E-51D4976E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9810D3-71CB-4581-AC21-C4D2571A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941D6E-CC18-42C0-B1F3-C01CBA70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78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E6D38C-CB3E-4045-B8AF-A673047FB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D6F842-8178-4250-9A74-87B619BE4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AD3051-6FB9-472E-89E7-015DF786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B3FA3B-CC2A-4511-8400-869E2E4A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7A122B-8BAA-41FE-9C27-09FE01B3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5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DD3B427-186D-43C0-9704-F42B52593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758839-6885-4590-BC49-FC7811C9E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4A8254-AC7B-40F0-A2E5-CFBC573C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FA6CB-31E7-47D0-AACE-82AAD66BF70A}" type="datetimeFigureOut">
              <a:rPr lang="zh-TW" altLang="en-US" smtClean="0"/>
              <a:t>2020/4/21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5DEDB6-503D-40E5-B997-F7EAE06E2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6D4E3E-C0C3-4889-9878-73429B54F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5773C-D305-4746-8403-98C4D2A77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80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896409-E407-40C9-AE56-E688816A0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642" y="2097039"/>
            <a:ext cx="9910713" cy="800705"/>
          </a:xfrm>
        </p:spPr>
        <p:txBody>
          <a:bodyPr>
            <a:normAutofit fontScale="90000"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Common Substring Alignment Problem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BD117A-181C-4B7C-8DE6-939712F1D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690354"/>
            <a:ext cx="9144000" cy="2486320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Gad M. Landau, Michal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Ziv-Ukelson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Algorithms 41, 338–359 (2001)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E417BB-EFC2-4D01-B027-B33617259BBD}"/>
              </a:ext>
            </a:extLst>
          </p:cNvPr>
          <p:cNvSpPr/>
          <p:nvPr/>
        </p:nvSpPr>
        <p:spPr>
          <a:xfrm>
            <a:off x="8251595" y="5367846"/>
            <a:ext cx="35601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Apr. 21, 2020</a:t>
            </a:r>
          </a:p>
        </p:txBody>
      </p:sp>
    </p:spTree>
    <p:extLst>
      <p:ext uri="{BB962C8B-B14F-4D97-AF65-F5344CB8AC3E}">
        <p14:creationId xmlns:p14="http://schemas.microsoft.com/office/powerpoint/2010/main" val="184647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C2EF86B-BF9A-4342-B633-22B6E89B1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213" y="1140645"/>
                <a:ext cx="11039573" cy="524130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Common Substring Alignment Problem is defined as follows: Given a set of one or more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 target string </a:t>
                </a:r>
                <a14:m>
                  <m:oMath xmlns:m="http://schemas.openxmlformats.org/officeDocument/2006/math"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common substring of all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goal is to compute the similarity of all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without computing the part of </a:t>
                </a:r>
                <a14:m>
                  <m:oMath xmlns:m="http://schemas.openxmlformats.org/officeDocument/2006/math"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again and again. Using the classical dynamic programming  tables, each appearance of </a:t>
                </a:r>
                <a14:m>
                  <m:oMath xmlns:m="http://schemas.openxmlformats.org/officeDocument/2006/math"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source string would require the computation of all the values in a dynamic programming table of size </a:t>
                </a:r>
                <a14:m>
                  <m:oMath xmlns:m="http://schemas.openxmlformats.org/officeDocument/2006/math"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6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size of </a:t>
                </a:r>
                <a14:m>
                  <m:oMath xmlns:m="http://schemas.openxmlformats.org/officeDocument/2006/math">
                    <m:r>
                      <a:rPr lang="en-US" altLang="zh-TW" sz="2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Here we describe an algorithm which is composed of an encoding stage and an alignment stage. </a:t>
                </a:r>
                <a:endParaRPr lang="zh-TW" altLang="en-US" sz="26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C2EF86B-BF9A-4342-B633-22B6E89B1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213" y="1140645"/>
                <a:ext cx="11039573" cy="5241302"/>
              </a:xfrm>
              <a:blipFill>
                <a:blip r:embed="rId2"/>
                <a:stretch>
                  <a:fillRect l="-994" r="-1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B8F074DA-6C52-4040-B426-D5BFC700C759}"/>
              </a:ext>
            </a:extLst>
          </p:cNvPr>
          <p:cNvSpPr/>
          <p:nvPr/>
        </p:nvSpPr>
        <p:spPr>
          <a:xfrm>
            <a:off x="576213" y="476053"/>
            <a:ext cx="23727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599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A1B621-B08F-4F00-8ED7-B1C079AEA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213" y="1366452"/>
                <a:ext cx="1079447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During the first stage, a data structure is constructed which encodes the comparison of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Then, during the alignment stage, for each comparison of a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precompiled data structure is used to speed up the part of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We show how to reduce the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6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alignment work, for each appearance of the common substring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source string, to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-at the cost of </a:t>
                </a:r>
                <a14:m>
                  <m:oMath xmlns:m="http://schemas.openxmlformats.org/officeDocument/2006/math"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6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encoding work, which is executed only once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A1B621-B08F-4F00-8ED7-B1C079AEA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213" y="1366452"/>
                <a:ext cx="10794476" cy="4351338"/>
              </a:xfrm>
              <a:blipFill>
                <a:blip r:embed="rId2"/>
                <a:stretch>
                  <a:fillRect l="-1017" r="-15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1A56122D-A720-42FD-B599-E6F72AAC09E6}"/>
              </a:ext>
            </a:extLst>
          </p:cNvPr>
          <p:cNvSpPr/>
          <p:nvPr/>
        </p:nvSpPr>
        <p:spPr>
          <a:xfrm>
            <a:off x="576213" y="476053"/>
            <a:ext cx="23727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21562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DF0D57C-16D6-445D-9CF8-F997CC4F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98" y="2295723"/>
            <a:ext cx="10031042" cy="194343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0236CAC-86FE-4983-8AB4-F2117A7EB234}"/>
              </a:ext>
            </a:extLst>
          </p:cNvPr>
          <p:cNvSpPr/>
          <p:nvPr/>
        </p:nvSpPr>
        <p:spPr>
          <a:xfrm>
            <a:off x="576213" y="476053"/>
            <a:ext cx="67151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Substring Alignment Problem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6329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FFB6FA9-5AE4-44E8-8C2B-7D6BFECCE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807" y="144394"/>
            <a:ext cx="5532385" cy="65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7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B394C1E-5AD6-431B-9693-B053F332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166" y="1425524"/>
            <a:ext cx="6730288" cy="383713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82558A6-2698-4CAD-9019-930705F42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8949" y="1017053"/>
            <a:ext cx="5944115" cy="5006774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0B38E73-CD73-468E-8D7B-869F4F2AA1B9}"/>
              </a:ext>
            </a:extLst>
          </p:cNvPr>
          <p:cNvCxnSpPr>
            <a:cxnSpLocks/>
          </p:cNvCxnSpPr>
          <p:nvPr/>
        </p:nvCxnSpPr>
        <p:spPr>
          <a:xfrm>
            <a:off x="1915211" y="908621"/>
            <a:ext cx="0" cy="4509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AE5C952-998C-4C8E-8B4A-A6B30AD4CD4A}"/>
              </a:ext>
            </a:extLst>
          </p:cNvPr>
          <p:cNvCxnSpPr>
            <a:cxnSpLocks/>
          </p:cNvCxnSpPr>
          <p:nvPr/>
        </p:nvCxnSpPr>
        <p:spPr>
          <a:xfrm>
            <a:off x="3019719" y="4539512"/>
            <a:ext cx="0" cy="5321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橢圓 10">
            <a:extLst>
              <a:ext uri="{FF2B5EF4-FFF2-40B4-BE49-F238E27FC236}">
                <a16:creationId xmlns:a16="http://schemas.microsoft.com/office/drawing/2014/main" id="{F8815219-AD10-4E1D-BABE-EBC818A536A4}"/>
              </a:ext>
            </a:extLst>
          </p:cNvPr>
          <p:cNvSpPr/>
          <p:nvPr/>
        </p:nvSpPr>
        <p:spPr>
          <a:xfrm>
            <a:off x="7579150" y="2450969"/>
            <a:ext cx="320511" cy="367645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0FA29D4-A58F-40BE-9571-9B27E552A72E}"/>
              </a:ext>
            </a:extLst>
          </p:cNvPr>
          <p:cNvCxnSpPr>
            <a:cxnSpLocks/>
          </p:cNvCxnSpPr>
          <p:nvPr/>
        </p:nvCxnSpPr>
        <p:spPr>
          <a:xfrm flipH="1">
            <a:off x="1897927" y="1636056"/>
            <a:ext cx="1" cy="7394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C4890B4-F556-437B-8354-A9AF552E6E08}"/>
              </a:ext>
            </a:extLst>
          </p:cNvPr>
          <p:cNvCxnSpPr>
            <a:cxnSpLocks/>
          </p:cNvCxnSpPr>
          <p:nvPr/>
        </p:nvCxnSpPr>
        <p:spPr>
          <a:xfrm flipH="1">
            <a:off x="1897927" y="2375555"/>
            <a:ext cx="17286" cy="6315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807C507-3820-4F14-9C70-0ABC99DC7CC4}"/>
              </a:ext>
            </a:extLst>
          </p:cNvPr>
          <p:cNvCxnSpPr>
            <a:cxnSpLocks/>
          </p:cNvCxnSpPr>
          <p:nvPr/>
        </p:nvCxnSpPr>
        <p:spPr>
          <a:xfrm>
            <a:off x="2443108" y="3751868"/>
            <a:ext cx="576611" cy="61274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5C9073C-9325-438D-9140-F4B383834712}"/>
              </a:ext>
            </a:extLst>
          </p:cNvPr>
          <p:cNvCxnSpPr>
            <a:cxnSpLocks/>
          </p:cNvCxnSpPr>
          <p:nvPr/>
        </p:nvCxnSpPr>
        <p:spPr>
          <a:xfrm>
            <a:off x="1879065" y="3037722"/>
            <a:ext cx="564043" cy="696335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76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B394C1E-5AD6-431B-9693-B053F332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166" y="1425524"/>
            <a:ext cx="6730288" cy="383713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82558A6-2698-4CAD-9019-930705F42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8949" y="1017053"/>
            <a:ext cx="5944115" cy="5006774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0B38E73-CD73-468E-8D7B-869F4F2AA1B9}"/>
              </a:ext>
            </a:extLst>
          </p:cNvPr>
          <p:cNvCxnSpPr>
            <a:cxnSpLocks/>
          </p:cNvCxnSpPr>
          <p:nvPr/>
        </p:nvCxnSpPr>
        <p:spPr>
          <a:xfrm>
            <a:off x="1293042" y="974609"/>
            <a:ext cx="0" cy="4509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AE5C952-998C-4C8E-8B4A-A6B30AD4CD4A}"/>
              </a:ext>
            </a:extLst>
          </p:cNvPr>
          <p:cNvCxnSpPr>
            <a:cxnSpLocks/>
          </p:cNvCxnSpPr>
          <p:nvPr/>
        </p:nvCxnSpPr>
        <p:spPr>
          <a:xfrm>
            <a:off x="4056668" y="4548938"/>
            <a:ext cx="0" cy="5321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橢圓 10">
            <a:extLst>
              <a:ext uri="{FF2B5EF4-FFF2-40B4-BE49-F238E27FC236}">
                <a16:creationId xmlns:a16="http://schemas.microsoft.com/office/drawing/2014/main" id="{F8815219-AD10-4E1D-BABE-EBC818A536A4}"/>
              </a:ext>
            </a:extLst>
          </p:cNvPr>
          <p:cNvSpPr/>
          <p:nvPr/>
        </p:nvSpPr>
        <p:spPr>
          <a:xfrm>
            <a:off x="8594608" y="2121031"/>
            <a:ext cx="320511" cy="367645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0FA29D4-A58F-40BE-9571-9B27E552A72E}"/>
              </a:ext>
            </a:extLst>
          </p:cNvPr>
          <p:cNvCxnSpPr>
            <a:cxnSpLocks/>
          </p:cNvCxnSpPr>
          <p:nvPr/>
        </p:nvCxnSpPr>
        <p:spPr>
          <a:xfrm flipH="1">
            <a:off x="1315027" y="1636056"/>
            <a:ext cx="1" cy="7394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C4890B4-F556-437B-8354-A9AF552E6E08}"/>
              </a:ext>
            </a:extLst>
          </p:cNvPr>
          <p:cNvCxnSpPr>
            <a:cxnSpLocks/>
          </p:cNvCxnSpPr>
          <p:nvPr/>
        </p:nvCxnSpPr>
        <p:spPr>
          <a:xfrm flipV="1">
            <a:off x="3516205" y="4401066"/>
            <a:ext cx="540463" cy="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5C9073C-9325-438D-9140-F4B383834712}"/>
              </a:ext>
            </a:extLst>
          </p:cNvPr>
          <p:cNvCxnSpPr>
            <a:cxnSpLocks/>
          </p:cNvCxnSpPr>
          <p:nvPr/>
        </p:nvCxnSpPr>
        <p:spPr>
          <a:xfrm>
            <a:off x="1293042" y="2375555"/>
            <a:ext cx="554612" cy="61900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5F31A65-BEC8-4532-8F96-D8CD43B9C181}"/>
              </a:ext>
            </a:extLst>
          </p:cNvPr>
          <p:cNvCxnSpPr>
            <a:cxnSpLocks/>
          </p:cNvCxnSpPr>
          <p:nvPr/>
        </p:nvCxnSpPr>
        <p:spPr>
          <a:xfrm>
            <a:off x="1932495" y="3127354"/>
            <a:ext cx="510613" cy="582717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B597AA1-BA6B-49B2-9FE9-01741CF25530}"/>
              </a:ext>
            </a:extLst>
          </p:cNvPr>
          <p:cNvCxnSpPr>
            <a:cxnSpLocks/>
          </p:cNvCxnSpPr>
          <p:nvPr/>
        </p:nvCxnSpPr>
        <p:spPr>
          <a:xfrm>
            <a:off x="3019719" y="3710071"/>
            <a:ext cx="468199" cy="696335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807C507-3820-4F14-9C70-0ABC99DC7CC4}"/>
              </a:ext>
            </a:extLst>
          </p:cNvPr>
          <p:cNvCxnSpPr>
            <a:cxnSpLocks/>
          </p:cNvCxnSpPr>
          <p:nvPr/>
        </p:nvCxnSpPr>
        <p:spPr>
          <a:xfrm>
            <a:off x="2443108" y="3730646"/>
            <a:ext cx="63368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28F9DAC-91C7-4A73-A07F-352000304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625" y="0"/>
            <a:ext cx="5734303" cy="67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54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3D95202-3209-4E05-91E4-6B786350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92" y="1748740"/>
            <a:ext cx="6592098" cy="336051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E0C60E3-2FAE-4B83-A6C6-8DD0E440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890" y="1543313"/>
            <a:ext cx="4616630" cy="327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80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5E2B74C-DCF8-4F80-BD24-77CE2166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32" y="787024"/>
            <a:ext cx="8900155" cy="52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27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48E0852-DA92-4B01-AC64-674C3D3A6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807" y="144394"/>
            <a:ext cx="5532385" cy="65692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96A5F8E-E5B9-4334-A153-5EACBCC3F883}"/>
              </a:ext>
            </a:extLst>
          </p:cNvPr>
          <p:cNvSpPr/>
          <p:nvPr/>
        </p:nvSpPr>
        <p:spPr>
          <a:xfrm>
            <a:off x="3808429" y="5326144"/>
            <a:ext cx="3808429" cy="622169"/>
          </a:xfrm>
          <a:prstGeom prst="rect">
            <a:avLst/>
          </a:prstGeom>
          <a:noFill/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43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267956"/>
              </p:ext>
            </p:extLst>
          </p:nvPr>
        </p:nvGraphicFramePr>
        <p:xfrm>
          <a:off x="1889760" y="62288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3ABF9016-5A03-41A5-9447-63698FAB7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675" y="5908365"/>
            <a:ext cx="5067565" cy="8972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600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600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11912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02717E-6284-4B2A-B700-9977CC289ED2}"/>
              </a:ext>
            </a:extLst>
          </p:cNvPr>
          <p:cNvSpPr/>
          <p:nvPr/>
        </p:nvSpPr>
        <p:spPr>
          <a:xfrm>
            <a:off x="8615680" y="2012609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A42839-2854-4B6B-A05F-18B6F7117F31}"/>
              </a:ext>
            </a:extLst>
          </p:cNvPr>
          <p:cNvSpPr/>
          <p:nvPr/>
        </p:nvSpPr>
        <p:spPr>
          <a:xfrm>
            <a:off x="8615680" y="2136247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AC054A-33B8-4FB4-8370-6EF9A7AB613E}"/>
              </a:ext>
            </a:extLst>
          </p:cNvPr>
          <p:cNvSpPr/>
          <p:nvPr/>
        </p:nvSpPr>
        <p:spPr>
          <a:xfrm>
            <a:off x="9458960" y="4089299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3B3E52-4AA9-4009-976C-7103BFECDF5B}"/>
              </a:ext>
            </a:extLst>
          </p:cNvPr>
          <p:cNvSpPr/>
          <p:nvPr/>
        </p:nvSpPr>
        <p:spPr>
          <a:xfrm>
            <a:off x="9458960" y="4211307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724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606214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410073-1330-4141-AD4D-D3F8C844E567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C755A5-1093-45D8-ACBD-FB173BAD4411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BCB403-E7A5-4942-BB3F-AA16E3EFDC41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A17A96-2DE0-4DDA-B083-4E0903348341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1010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557513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7D8CFC-4257-4AA0-BFE7-86406E02576E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7A0A7A-063D-44D7-B677-FD294E39F8A8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C00ED6-45B9-4420-8A74-C18CBB0B07AB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BACCB2-8A57-4E91-B8B7-E5F3BF3C5322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158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880297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02AE89-6CA5-4B2B-A77C-B4A36ECC78AE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F3799-9E39-4DEE-9CE4-5492DF161493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76F4D8-5BF9-4DE0-AE74-5EF92734CE0A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833F0C-AFB6-4BAC-9A98-502CEFCB33DF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805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225111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AAE1A9-E8D3-4584-BE2F-008F103FE351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C7F157-A3FF-4BED-82E8-02EE34600A9B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4B7145-3DA1-42DE-A896-FB679FD54156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D03E5D-4667-4B1C-B131-E991689EAD60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9964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36905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FD4004-8616-40ED-B18A-FAED138BACC2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436120-6F9E-445B-8A8C-F9742E2D12F3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D5F8F2-A46E-48FA-936D-B056F8F47B2F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A95200-5C2D-4CBD-BBF3-4DDD906DC628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2033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8154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CEF9BB-C5AB-4753-9471-D638E6E33626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6060AE-3723-4991-9981-C378D8FD19AD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C51BDA-6076-4EF2-A345-E846EA444996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C2626A-540D-43B1-B620-475BB3F71C36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598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758747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2DE813-AEC8-4B67-95CD-C3928384E4C0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440F5F-3DEC-4C8B-B747-C366564D8F65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8382A5-8D36-4B4B-841E-ABD9B6FA6F98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CFFC84-5B96-47E7-9D17-97F0EAD6C682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742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333973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352883-DBF2-4226-B4A9-DF7F9C3F48F6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1E19ED-40FD-4731-8581-0D6183570F53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F0FE8D-114C-4C42-9707-A0021543AF2E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38FD25-BB71-44BE-989C-14034EFD9665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698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713259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E94D8B-C374-40B1-BF9F-752F5E5FED17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22CC93-23E5-4E2D-BC09-28D0439EFCC6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A1B7C2-1132-4935-8B56-14F045785FC2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255B3E-E5D6-49E0-AF78-63E317AEA285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490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400236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FC914A-EC51-4A1B-B283-41EC1B2485C8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C434F0-EAA5-46B1-BFFA-99E605C08BF7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E9CB60-90D8-453F-86F4-FFD0BCDE6877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D46A7F-7D60-4D00-B697-226D226FE979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666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95706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C90AC3-EAF3-46A3-8A88-B80A36DF5CC5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34127A-BDD5-4BDF-8FCF-D140A6594500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7D01AD-56B8-4887-ABF8-8AF1D4196341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0617AA-F735-46B8-A61B-0B87A8B21018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112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485630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5/2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7/0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ED4ACB-C8E5-4546-88FB-B3FC144B198A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04185-19B4-43B2-95BD-72DE09D5E1E1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7038F7-68F4-463B-84EB-7299D323B90B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275B9C-168F-4CF8-8742-7FD618769F40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84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015202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5745D9D-4CD5-4A18-B3C1-289A7D795BD6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480665-B7D2-453B-93C6-62BB24D6EC4F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06F71D-C84C-4A1C-B965-BE1E7A43A1A9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FB12C5-4DC7-4CE0-9366-7AF4823B6355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467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471286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6BEAB6-A675-4E5A-9067-6573FDD8D341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E8D5F5-1F96-4D12-8617-872BBDDE1319}"/>
              </a:ext>
            </a:extLst>
          </p:cNvPr>
          <p:cNvSpPr/>
          <p:nvPr/>
        </p:nvSpPr>
        <p:spPr>
          <a:xfrm>
            <a:off x="9458960" y="433786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1A905C-840D-4164-8E2F-5D59E355BDE9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992327-20DD-4B8F-A093-199EDE9F0859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468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736324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7/2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9/0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92CCC2-FAA0-4F1F-B672-450C58AE7CC5}"/>
              </a:ext>
            </a:extLst>
          </p:cNvPr>
          <p:cNvSpPr/>
          <p:nvPr/>
        </p:nvSpPr>
        <p:spPr>
          <a:xfrm>
            <a:off x="9458960" y="449035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DFCDD3-EDA4-4230-BD6A-663CEB7646CA}"/>
              </a:ext>
            </a:extLst>
          </p:cNvPr>
          <p:cNvSpPr/>
          <p:nvPr/>
        </p:nvSpPr>
        <p:spPr>
          <a:xfrm>
            <a:off x="9458960" y="433786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66726D-E613-4702-A454-F0448C3D22D7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13CBEA-EB14-4088-8D6D-504444FFB251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80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8355948-4046-4426-A7DA-8AFCFA0C1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62462"/>
              </p:ext>
            </p:extLst>
          </p:nvPr>
        </p:nvGraphicFramePr>
        <p:xfrm>
          <a:off x="1889760" y="866725"/>
          <a:ext cx="8412480" cy="512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262">
                  <a:extLst>
                    <a:ext uri="{9D8B030D-6E8A-4147-A177-3AD203B41FA5}">
                      <a16:colId xmlns:a16="http://schemas.microsoft.com/office/drawing/2014/main" val="3114868097"/>
                    </a:ext>
                  </a:extLst>
                </a:gridCol>
                <a:gridCol w="838234">
                  <a:extLst>
                    <a:ext uri="{9D8B030D-6E8A-4147-A177-3AD203B41FA5}">
                      <a16:colId xmlns:a16="http://schemas.microsoft.com/office/drawing/2014/main" val="55804257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82762122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49456806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31675724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42790846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306506031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60442326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58495132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1976034345"/>
                    </a:ext>
                  </a:extLst>
                </a:gridCol>
              </a:tblGrid>
              <a:tr h="51245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22078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656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29109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09525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6/-1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76487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57451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5/0</a:t>
                      </a:r>
                      <a:endParaRPr lang="zh-TW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9112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770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40883"/>
                  </a:ext>
                </a:extLst>
              </a:tr>
              <a:tr h="512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5227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9DCC9D-D386-4F75-9A84-39979325122B}"/>
              </a:ext>
            </a:extLst>
          </p:cNvPr>
          <p:cNvSpPr/>
          <p:nvPr/>
        </p:nvSpPr>
        <p:spPr>
          <a:xfrm>
            <a:off x="692912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77089-FFD0-45F5-BA3C-219C6EE0DD22}"/>
              </a:ext>
            </a:extLst>
          </p:cNvPr>
          <p:cNvSpPr/>
          <p:nvPr/>
        </p:nvSpPr>
        <p:spPr>
          <a:xfrm>
            <a:off x="7772400" y="28295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D17A04-D554-4E47-812B-BD62CBA13742}"/>
              </a:ext>
            </a:extLst>
          </p:cNvPr>
          <p:cNvSpPr/>
          <p:nvPr/>
        </p:nvSpPr>
        <p:spPr>
          <a:xfrm>
            <a:off x="7772400" y="3362960"/>
            <a:ext cx="843280" cy="13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FF5095-4F4D-4963-811B-023A71A9A587}"/>
              </a:ext>
            </a:extLst>
          </p:cNvPr>
          <p:cNvSpPr/>
          <p:nvPr/>
        </p:nvSpPr>
        <p:spPr>
          <a:xfrm>
            <a:off x="9458960" y="4510554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9E0EEE-730E-41DD-9CC5-EE8C9F8A0D68}"/>
              </a:ext>
            </a:extLst>
          </p:cNvPr>
          <p:cNvSpPr/>
          <p:nvPr/>
        </p:nvSpPr>
        <p:spPr>
          <a:xfrm>
            <a:off x="9458960" y="4358062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C6F47-3B40-4967-95AD-11C8117E4BA4}"/>
              </a:ext>
            </a:extLst>
          </p:cNvPr>
          <p:cNvSpPr/>
          <p:nvPr/>
        </p:nvSpPr>
        <p:spPr>
          <a:xfrm>
            <a:off x="8615680" y="2428240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53A9FC-7340-484F-BB03-5CE4E270A3B4}"/>
              </a:ext>
            </a:extLst>
          </p:cNvPr>
          <p:cNvSpPr/>
          <p:nvPr/>
        </p:nvSpPr>
        <p:spPr>
          <a:xfrm>
            <a:off x="8615680" y="2275748"/>
            <a:ext cx="843280" cy="8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870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48E0852-DA92-4B01-AC64-674C3D3A6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25" y="82250"/>
            <a:ext cx="5532385" cy="65692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96A5F8E-E5B9-4334-A153-5EACBCC3F883}"/>
              </a:ext>
            </a:extLst>
          </p:cNvPr>
          <p:cNvSpPr/>
          <p:nvPr/>
        </p:nvSpPr>
        <p:spPr>
          <a:xfrm>
            <a:off x="1384825" y="5264000"/>
            <a:ext cx="3808429" cy="622169"/>
          </a:xfrm>
          <a:prstGeom prst="rect">
            <a:avLst/>
          </a:prstGeom>
          <a:noFill/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91014E8-0DFF-478D-A343-8D130C33E650}"/>
                  </a:ext>
                </a:extLst>
              </p:cNvPr>
              <p:cNvSpPr/>
              <p:nvPr/>
            </p:nvSpPr>
            <p:spPr>
              <a:xfrm>
                <a:off x="6720395" y="4835579"/>
                <a:ext cx="5024761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DIST matrix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en-US" altLang="zh-TW" sz="2800" dirty="0"/>
              </a:p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Borderline Points :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8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Encoding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: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8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91014E8-0DFF-478D-A343-8D130C33E6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395" y="4835579"/>
                <a:ext cx="5024761" cy="1384995"/>
              </a:xfrm>
              <a:prstGeom prst="rect">
                <a:avLst/>
              </a:prstGeom>
              <a:blipFill>
                <a:blip r:embed="rId3"/>
                <a:stretch>
                  <a:fillRect l="-2424" t="-4846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54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1407</Words>
  <Application>Microsoft Office PowerPoint</Application>
  <PresentationFormat>寬螢幕</PresentationFormat>
  <Paragraphs>1105</Paragraphs>
  <Slides>29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Times New Roman</vt:lpstr>
      <vt:lpstr>Office 佈景主題</vt:lpstr>
      <vt:lpstr>On the Common Substring Alignment Problem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the Common Substring Alignment Problem </dc:title>
  <dc:creator>M083040080</dc:creator>
  <cp:lastModifiedBy>GaryC</cp:lastModifiedBy>
  <cp:revision>20</cp:revision>
  <dcterms:created xsi:type="dcterms:W3CDTF">2020-04-20T12:08:29Z</dcterms:created>
  <dcterms:modified xsi:type="dcterms:W3CDTF">2020-04-21T11:20:08Z</dcterms:modified>
</cp:coreProperties>
</file>