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321" r:id="rId2"/>
    <p:sldId id="311" r:id="rId3"/>
    <p:sldId id="323" r:id="rId4"/>
    <p:sldId id="344" r:id="rId5"/>
    <p:sldId id="324" r:id="rId6"/>
    <p:sldId id="325" r:id="rId7"/>
    <p:sldId id="332" r:id="rId8"/>
    <p:sldId id="333" r:id="rId9"/>
    <p:sldId id="335" r:id="rId10"/>
    <p:sldId id="334" r:id="rId11"/>
    <p:sldId id="326" r:id="rId12"/>
    <p:sldId id="329" r:id="rId13"/>
    <p:sldId id="328" r:id="rId14"/>
    <p:sldId id="331" r:id="rId15"/>
    <p:sldId id="345" r:id="rId16"/>
    <p:sldId id="346" r:id="rId17"/>
    <p:sldId id="337" r:id="rId18"/>
    <p:sldId id="338" r:id="rId19"/>
    <p:sldId id="339" r:id="rId20"/>
    <p:sldId id="340" r:id="rId21"/>
    <p:sldId id="341" r:id="rId22"/>
    <p:sldId id="34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3971" autoAdjust="0"/>
  </p:normalViewPr>
  <p:slideViewPr>
    <p:cSldViewPr snapToGrid="0">
      <p:cViewPr varScale="1">
        <p:scale>
          <a:sx n="108" d="100"/>
          <a:sy n="108" d="100"/>
        </p:scale>
        <p:origin x="1734"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2020/4/21</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398507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2020/4/21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2020/4/21</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424181" y="221943"/>
            <a:ext cx="8348184" cy="2392124"/>
          </a:xfrm>
        </p:spPr>
        <p:txBody>
          <a:bodyPr>
            <a:noAutofit/>
          </a:bodyPr>
          <a:lstStyle/>
          <a:p>
            <a:r>
              <a:rPr lang="zh-TW" altLang="en-US" sz="3600" dirty="0">
                <a:latin typeface="Times New Roman" panose="02020603050405020304" pitchFamily="18" charset="0"/>
                <a:cs typeface="Times New Roman" panose="02020603050405020304" pitchFamily="18" charset="0"/>
              </a:rPr>
              <a:t>兼顧工作負載和資源規模之 工作流程排程方法</a:t>
            </a:r>
            <a:r>
              <a:rPr lang="zh-TW" altLang="en-US" sz="3600" dirty="0" smtClean="0">
                <a:latin typeface="Times New Roman" panose="02020603050405020304" pitchFamily="18" charset="0"/>
                <a:cs typeface="Times New Roman" panose="02020603050405020304" pitchFamily="18" charset="0"/>
              </a:rPr>
              <a:t>研究</a:t>
            </a:r>
            <a:r>
              <a:rPr lang="en-US" altLang="zh-TW" sz="3600" dirty="0" smtClean="0">
                <a:latin typeface="Times New Roman" panose="02020603050405020304" pitchFamily="18" charset="0"/>
                <a:cs typeface="Times New Roman" panose="02020603050405020304" pitchFamily="18" charset="0"/>
              </a:rPr>
              <a:t/>
            </a:r>
            <a:br>
              <a:rPr lang="en-US" altLang="zh-TW" sz="3600" dirty="0" smtClean="0">
                <a:latin typeface="Times New Roman" panose="02020603050405020304" pitchFamily="18" charset="0"/>
                <a:cs typeface="Times New Roman" panose="02020603050405020304" pitchFamily="18" charset="0"/>
              </a:rPr>
            </a:br>
            <a:r>
              <a:rPr lang="en-US" altLang="zh-TW" sz="3600" dirty="0" smtClean="0">
                <a:latin typeface="Times New Roman" panose="02020603050405020304" pitchFamily="18" charset="0"/>
                <a:cs typeface="Times New Roman" panose="02020603050405020304" pitchFamily="18" charset="0"/>
              </a:rPr>
              <a:t>Workload- </a:t>
            </a:r>
            <a:r>
              <a:rPr lang="en-US" altLang="zh-TW" sz="3600" dirty="0">
                <a:latin typeface="Times New Roman" panose="02020603050405020304" pitchFamily="18" charset="0"/>
                <a:cs typeface="Times New Roman" panose="02020603050405020304" pitchFamily="18" charset="0"/>
              </a:rPr>
              <a:t>and Resource-Aware</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List-Based Workflow Scheduling</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6" y="3014440"/>
            <a:ext cx="8536249" cy="927245"/>
          </a:xfrm>
        </p:spPr>
        <p:txBody>
          <a:bodyPr>
            <a:noAutofit/>
          </a:bodyPr>
          <a:lstStyle/>
          <a:p>
            <a:r>
              <a:rPr lang="zh-TW" altLang="en-US" dirty="0" smtClean="0">
                <a:latin typeface="Times New Roman" panose="02020603050405020304" pitchFamily="18" charset="0"/>
                <a:cs typeface="Times New Roman" panose="02020603050405020304" pitchFamily="18" charset="0"/>
              </a:rPr>
              <a:t>陳冠甫 </a:t>
            </a:r>
            <a:endParaRPr lang="zh-TW" altLang="en-US" dirty="0">
              <a:latin typeface="Times New Roman" panose="02020603050405020304" pitchFamily="18" charset="0"/>
              <a:cs typeface="Times New Roman" panose="02020603050405020304" pitchFamily="18" charset="0"/>
            </a:endParaRPr>
          </a:p>
          <a:p>
            <a:r>
              <a:rPr lang="zh-TW" altLang="en-US" dirty="0">
                <a:latin typeface="Times New Roman" panose="02020603050405020304" pitchFamily="18" charset="0"/>
                <a:cs typeface="Times New Roman" panose="02020603050405020304" pitchFamily="18" charset="0"/>
              </a:rPr>
              <a:t> 指導教授：黃國展 博士 </a:t>
            </a:r>
            <a:endParaRPr lang="en-US" altLang="zh-TW"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APR.21,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5" y="4370376"/>
            <a:ext cx="8079570" cy="461665"/>
          </a:xfrm>
          <a:prstGeom prst="rect">
            <a:avLst/>
          </a:prstGeom>
        </p:spPr>
        <p:txBody>
          <a:bodyPr wrap="square">
            <a:spAutoFit/>
          </a:bodyPr>
          <a:lstStyle/>
          <a:p>
            <a:r>
              <a:rPr lang="zh-TW" altLang="en-US" sz="2400" dirty="0">
                <a:latin typeface="+mn-ea"/>
                <a:cs typeface="Times New Roman" panose="02020603050405020304" pitchFamily="18" charset="0"/>
              </a:rPr>
              <a:t>國立臺中教育大學資訊工程學系碩士班碩士</a:t>
            </a:r>
            <a:r>
              <a:rPr lang="zh-TW" altLang="en-US" sz="2400" dirty="0" smtClean="0">
                <a:latin typeface="+mn-ea"/>
                <a:cs typeface="Times New Roman" panose="02020603050405020304" pitchFamily="18" charset="0"/>
              </a:rPr>
              <a:t>論文 </a:t>
            </a:r>
            <a:r>
              <a:rPr lang="en-US" altLang="zh-TW" dirty="0" smtClean="0">
                <a:latin typeface="+mn-ea"/>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July, 2019 </a:t>
            </a:r>
            <a:endParaRPr lang="zh-TW" alt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a:t>
            </a:r>
            <a:r>
              <a:rPr lang="zh-TW" altLang="en-US" sz="3200" b="1" dirty="0" smtClean="0">
                <a:latin typeface="Times New Roman" panose="02020603050405020304" pitchFamily="18" charset="0"/>
                <a:cs typeface="Times New Roman" panose="02020603050405020304" pitchFamily="18" charset="0"/>
              </a:rPr>
              <a:t> </a:t>
            </a:r>
            <a:r>
              <a:rPr lang="en-US" altLang="zh-TW" sz="3200" b="1" dirty="0" smtClean="0">
                <a:latin typeface="Times New Roman" panose="02020603050405020304" pitchFamily="18" charset="0"/>
                <a:cs typeface="Times New Roman" panose="02020603050405020304" pitchFamily="18" charset="0"/>
              </a:rPr>
              <a: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03575"/>
            <a:ext cx="9004993" cy="5131633"/>
          </a:xfrm>
        </p:spPr>
        <p:txBody>
          <a:bodyPr>
            <a:noAutofit/>
          </a:bodyPr>
          <a:lstStyle/>
          <a:p>
            <a:pPr marL="0" indent="0">
              <a:lnSpc>
                <a:spcPts val="3200"/>
              </a:lnSpc>
              <a:buNone/>
            </a:pPr>
            <a:r>
              <a:rPr lang="en-US" altLang="zh-TW" sz="2400" dirty="0">
                <a:latin typeface="Times New Roman" panose="02020603050405020304" pitchFamily="18" charset="0"/>
                <a:cs typeface="Times New Roman" panose="02020603050405020304" pitchFamily="18" charset="0"/>
              </a:rPr>
              <a:t>Workflow scheduling is an NP-complete problem, and has always been an important research topic on parallel job scheduling. Different types of scheduling heuristics have been developed for tackling the challenging workflow scheduling problem. List-based scheduling is one of the most widely used categories for different workflow structures and optimization goals. Among various list-based workflow scheduling algorithms, HEFT and PEFT are two typical and well-known representatives with important innovations. However, none of them can consistently retain advantage over the other across various workflow properties and system scales. </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03575"/>
            <a:ext cx="9004993" cy="5131633"/>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That motivated our research work in this thesis, focusing on the problem of task-parallel workflow scheduling on homogeneous parallel systems which have become feasible and common on current cloud computing platforms with virtualization technology. Based on thorough experimental analysis of HEFT and PEFT, we found drawbacks of them, and then developed a new </a:t>
            </a:r>
            <a:r>
              <a:rPr lang="en-US" altLang="zh-TW" sz="2400" dirty="0" smtClean="0">
                <a:latin typeface="Times New Roman" panose="02020603050405020304" pitchFamily="18" charset="0"/>
                <a:cs typeface="Times New Roman" panose="02020603050405020304" pitchFamily="18" charset="0"/>
              </a:rPr>
              <a:t>workload </a:t>
            </a:r>
            <a:r>
              <a:rPr lang="en-US" altLang="zh-TW" sz="2400" dirty="0">
                <a:latin typeface="Times New Roman" panose="02020603050405020304" pitchFamily="18" charset="0"/>
                <a:cs typeface="Times New Roman" panose="02020603050405020304" pitchFamily="18" charset="0"/>
              </a:rPr>
              <a:t>and resource-aware list-based workflow scheduling approach featuring three new mechanisms, including structural task ranking, task ranking based on allocated critical path, and adaptable task allocation. The proposed approach was evaluated with a series of simulation experiments based on both synthetic workflow structures and real-world workflow models, and compared to HEFT and PEFT. The experimental results demonstrate that our approach can achieve significantly superior performance in most circumstances in terms of both average </a:t>
            </a:r>
            <a:r>
              <a:rPr lang="en-US" altLang="zh-TW" sz="2400" dirty="0" err="1">
                <a:latin typeface="Times New Roman" panose="02020603050405020304" pitchFamily="18" charset="0"/>
                <a:cs typeface="Times New Roman" panose="02020603050405020304" pitchFamily="18" charset="0"/>
              </a:rPr>
              <a:t>makespan</a:t>
            </a:r>
            <a:r>
              <a:rPr lang="en-US" altLang="zh-TW" sz="2400" dirty="0">
                <a:latin typeface="Times New Roman" panose="02020603050405020304" pitchFamily="18" charset="0"/>
                <a:cs typeface="Times New Roman" panose="02020603050405020304" pitchFamily="18" charset="0"/>
              </a:rPr>
              <a:t> and best ratio.</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8302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8010" y="2013826"/>
            <a:ext cx="6847980" cy="4644113"/>
          </a:xfrm>
          <a:prstGeom prst="rect">
            <a:avLst/>
          </a:prstGeom>
        </p:spPr>
      </p:pic>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Comparative Analysis of HEFT and PEFT</a:t>
            </a:r>
            <a:endParaRPr lang="zh-TW" altLang="en-US" dirty="0"/>
          </a:p>
        </p:txBody>
      </p:sp>
      <p:sp>
        <p:nvSpPr>
          <p:cNvPr id="3" name="內容版面配置區 2"/>
          <p:cNvSpPr>
            <a:spLocks noGrp="1"/>
          </p:cNvSpPr>
          <p:nvPr>
            <p:ph idx="1"/>
          </p:nvPr>
        </p:nvSpPr>
        <p:spPr/>
        <p:txBody>
          <a:bodyPr/>
          <a:lstStyle/>
          <a:p>
            <a:pPr marL="0" indent="0">
              <a:buNone/>
            </a:pPr>
            <a:r>
              <a:rPr lang="en-US" altLang="zh-TW" dirty="0" smtClean="0">
                <a:latin typeface="Times New Roman" panose="02020603050405020304" pitchFamily="18" charset="0"/>
                <a:cs typeface="Times New Roman" panose="02020603050405020304" pitchFamily="18" charset="0"/>
              </a:rPr>
              <a:t>CCR ( Communication to </a:t>
            </a:r>
            <a:r>
              <a:rPr lang="en-US" altLang="zh-TW" dirty="0">
                <a:latin typeface="Times New Roman" panose="02020603050405020304" pitchFamily="18" charset="0"/>
                <a:cs typeface="Times New Roman" panose="02020603050405020304" pitchFamily="18" charset="0"/>
              </a:rPr>
              <a:t>Computation Ratio </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58596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Comparative Analysis of HEFT and PEFT</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9922" y="1585442"/>
            <a:ext cx="5374663" cy="5128594"/>
          </a:xfrm>
        </p:spPr>
      </p:pic>
    </p:spTree>
    <p:extLst>
      <p:ext uri="{BB962C8B-B14F-4D97-AF65-F5344CB8AC3E}">
        <p14:creationId xmlns:p14="http://schemas.microsoft.com/office/powerpoint/2010/main" val="42046358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2939" y="236520"/>
            <a:ext cx="5515829" cy="6107925"/>
          </a:xfrm>
        </p:spPr>
      </p:pic>
    </p:spTree>
    <p:extLst>
      <p:ext uri="{BB962C8B-B14F-4D97-AF65-F5344CB8AC3E}">
        <p14:creationId xmlns:p14="http://schemas.microsoft.com/office/powerpoint/2010/main" val="409276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7135" y="644895"/>
            <a:ext cx="6859301" cy="5666758"/>
          </a:xfrm>
        </p:spPr>
      </p:pic>
    </p:spTree>
    <p:extLst>
      <p:ext uri="{BB962C8B-B14F-4D97-AF65-F5344CB8AC3E}">
        <p14:creationId xmlns:p14="http://schemas.microsoft.com/office/powerpoint/2010/main" val="2759654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7781" y="644895"/>
            <a:ext cx="6821302" cy="5640692"/>
          </a:xfrm>
        </p:spPr>
      </p:pic>
    </p:spTree>
    <p:extLst>
      <p:ext uri="{BB962C8B-B14F-4D97-AF65-F5344CB8AC3E}">
        <p14:creationId xmlns:p14="http://schemas.microsoft.com/office/powerpoint/2010/main" val="4294432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5976" y="618262"/>
            <a:ext cx="6659185" cy="6064476"/>
          </a:xfrm>
          <a:prstGeom prst="rect">
            <a:avLst/>
          </a:prstGeom>
        </p:spPr>
      </p:pic>
    </p:spTree>
    <p:extLst>
      <p:ext uri="{BB962C8B-B14F-4D97-AF65-F5344CB8AC3E}">
        <p14:creationId xmlns:p14="http://schemas.microsoft.com/office/powerpoint/2010/main" val="849127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3454" y="218766"/>
            <a:ext cx="6287055" cy="6420256"/>
          </a:xfrm>
        </p:spPr>
      </p:pic>
    </p:spTree>
    <p:extLst>
      <p:ext uri="{BB962C8B-B14F-4D97-AF65-F5344CB8AC3E}">
        <p14:creationId xmlns:p14="http://schemas.microsoft.com/office/powerpoint/2010/main" val="2664286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Structural Task Ranking</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725680"/>
            <a:ext cx="6022725" cy="3076123"/>
          </a:xfr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996" y="5426919"/>
            <a:ext cx="7920354" cy="947247"/>
          </a:xfrm>
          <a:prstGeom prst="rect">
            <a:avLst/>
          </a:prstGeom>
        </p:spPr>
      </p:pic>
    </p:spTree>
    <p:extLst>
      <p:ext uri="{BB962C8B-B14F-4D97-AF65-F5344CB8AC3E}">
        <p14:creationId xmlns:p14="http://schemas.microsoft.com/office/powerpoint/2010/main" val="40768807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Structural Task Ranking</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525193"/>
            <a:ext cx="4143375" cy="971550"/>
          </a:xfrm>
          <a:prstGeom prst="rect">
            <a:avLst/>
          </a:prstGeom>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549" y="3078554"/>
            <a:ext cx="4219575" cy="904875"/>
          </a:xfrm>
          <a:prstGeom prst="rect">
            <a:avLst/>
          </a:prstGeom>
        </p:spPr>
      </p:pic>
      <p:pic>
        <p:nvPicPr>
          <p:cNvPr id="9" name="內容版面配置區 3"/>
          <p:cNvPicPr>
            <a:picLocks noGrp="1" noChangeAspect="1"/>
          </p:cNvPicPr>
          <p:nvPr>
            <p:ph idx="1"/>
          </p:nvPr>
        </p:nvPicPr>
        <p:blipFill rotWithShape="1">
          <a:blip r:embed="rId4">
            <a:extLst>
              <a:ext uri="{28A0092B-C50C-407E-A947-70E740481C1C}">
                <a14:useLocalDpi xmlns:a14="http://schemas.microsoft.com/office/drawing/2010/main" val="0"/>
              </a:ext>
            </a:extLst>
          </a:blip>
          <a:srcRect l="51913" b="51338"/>
          <a:stretch/>
        </p:blipFill>
        <p:spPr>
          <a:xfrm>
            <a:off x="4848225" y="1433853"/>
            <a:ext cx="2896121" cy="1496914"/>
          </a:xfrm>
        </p:spPr>
      </p:pic>
      <p:pic>
        <p:nvPicPr>
          <p:cNvPr id="10" name="內容版面配置區 3"/>
          <p:cNvPicPr>
            <a:picLocks noChangeAspect="1"/>
          </p:cNvPicPr>
          <p:nvPr/>
        </p:nvPicPr>
        <p:blipFill rotWithShape="1">
          <a:blip r:embed="rId4">
            <a:extLst>
              <a:ext uri="{28A0092B-C50C-407E-A947-70E740481C1C}">
                <a14:useLocalDpi xmlns:a14="http://schemas.microsoft.com/office/drawing/2010/main" val="0"/>
              </a:ext>
            </a:extLst>
          </a:blip>
          <a:srcRect t="47398" r="64242" b="4443"/>
          <a:stretch/>
        </p:blipFill>
        <p:spPr>
          <a:xfrm>
            <a:off x="4886324" y="2930767"/>
            <a:ext cx="2153668" cy="1481435"/>
          </a:xfrm>
          <a:prstGeom prst="rect">
            <a:avLst/>
          </a:prstGeom>
        </p:spPr>
      </p:pic>
      <p:pic>
        <p:nvPicPr>
          <p:cNvPr id="11" name="內容版面配置區 3"/>
          <p:cNvPicPr>
            <a:picLocks noChangeAspect="1"/>
          </p:cNvPicPr>
          <p:nvPr/>
        </p:nvPicPr>
        <p:blipFill rotWithShape="1">
          <a:blip r:embed="rId4">
            <a:extLst>
              <a:ext uri="{28A0092B-C50C-407E-A947-70E740481C1C}">
                <a14:useLocalDpi xmlns:a14="http://schemas.microsoft.com/office/drawing/2010/main" val="0"/>
              </a:ext>
            </a:extLst>
          </a:blip>
          <a:srcRect l="53977" t="49240"/>
          <a:stretch/>
        </p:blipFill>
        <p:spPr>
          <a:xfrm>
            <a:off x="6296285" y="5296547"/>
            <a:ext cx="2771833" cy="1561453"/>
          </a:xfrm>
          <a:prstGeom prst="rect">
            <a:avLst/>
          </a:prstGeom>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923" y="5177614"/>
            <a:ext cx="6503964" cy="658267"/>
          </a:xfrm>
          <a:prstGeom prst="rect">
            <a:avLst/>
          </a:prstGeom>
        </p:spPr>
      </p:pic>
    </p:spTree>
    <p:extLst>
      <p:ext uri="{BB962C8B-B14F-4D97-AF65-F5344CB8AC3E}">
        <p14:creationId xmlns:p14="http://schemas.microsoft.com/office/powerpoint/2010/main" val="289155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8532" y="365126"/>
            <a:ext cx="7326935" cy="6315474"/>
          </a:xfrm>
        </p:spPr>
      </p:pic>
    </p:spTree>
    <p:extLst>
      <p:ext uri="{BB962C8B-B14F-4D97-AF65-F5344CB8AC3E}">
        <p14:creationId xmlns:p14="http://schemas.microsoft.com/office/powerpoint/2010/main" val="2417144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1825" y="708309"/>
            <a:ext cx="5525722" cy="5632427"/>
          </a:xfrm>
        </p:spPr>
      </p:pic>
    </p:spTree>
    <p:extLst>
      <p:ext uri="{BB962C8B-B14F-4D97-AF65-F5344CB8AC3E}">
        <p14:creationId xmlns:p14="http://schemas.microsoft.com/office/powerpoint/2010/main" val="4277041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9624" y="888909"/>
            <a:ext cx="6303790" cy="5503014"/>
          </a:xfrm>
        </p:spPr>
      </p:pic>
    </p:spTree>
    <p:extLst>
      <p:ext uri="{BB962C8B-B14F-4D97-AF65-F5344CB8AC3E}">
        <p14:creationId xmlns:p14="http://schemas.microsoft.com/office/powerpoint/2010/main" val="2898203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419" y="1853530"/>
            <a:ext cx="9410240" cy="4511759"/>
          </a:xfrm>
        </p:spPr>
      </p:pic>
    </p:spTree>
    <p:extLst>
      <p:ext uri="{BB962C8B-B14F-4D97-AF65-F5344CB8AC3E}">
        <p14:creationId xmlns:p14="http://schemas.microsoft.com/office/powerpoint/2010/main" val="3435466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9383" y="458463"/>
            <a:ext cx="6836496" cy="5640495"/>
          </a:xfrm>
        </p:spPr>
      </p:pic>
    </p:spTree>
    <p:extLst>
      <p:ext uri="{BB962C8B-B14F-4D97-AF65-F5344CB8AC3E}">
        <p14:creationId xmlns:p14="http://schemas.microsoft.com/office/powerpoint/2010/main" val="3334881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4103" y="1383012"/>
            <a:ext cx="7811247" cy="4582781"/>
          </a:xfrm>
        </p:spPr>
      </p:pic>
    </p:spTree>
    <p:extLst>
      <p:ext uri="{BB962C8B-B14F-4D97-AF65-F5344CB8AC3E}">
        <p14:creationId xmlns:p14="http://schemas.microsoft.com/office/powerpoint/2010/main" val="3799061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3024" y="1372864"/>
            <a:ext cx="6980801" cy="4351338"/>
          </a:xfrm>
        </p:spPr>
      </p:pic>
    </p:spTree>
    <p:extLst>
      <p:ext uri="{BB962C8B-B14F-4D97-AF65-F5344CB8AC3E}">
        <p14:creationId xmlns:p14="http://schemas.microsoft.com/office/powerpoint/2010/main" val="204974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6358" y="911225"/>
            <a:ext cx="5896378" cy="4351338"/>
          </a:xfrm>
        </p:spPr>
      </p:pic>
    </p:spTree>
    <p:extLst>
      <p:ext uri="{BB962C8B-B14F-4D97-AF65-F5344CB8AC3E}">
        <p14:creationId xmlns:p14="http://schemas.microsoft.com/office/powerpoint/2010/main" val="38610103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364" y="2165385"/>
            <a:ext cx="8909271" cy="1882832"/>
          </a:xfrm>
        </p:spPr>
      </p:pic>
    </p:spTree>
    <p:extLst>
      <p:ext uri="{BB962C8B-B14F-4D97-AF65-F5344CB8AC3E}">
        <p14:creationId xmlns:p14="http://schemas.microsoft.com/office/powerpoint/2010/main" val="13258750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2115" y="1257452"/>
            <a:ext cx="6639769" cy="4734973"/>
          </a:xfrm>
        </p:spPr>
      </p:pic>
    </p:spTree>
    <p:extLst>
      <p:ext uri="{BB962C8B-B14F-4D97-AF65-F5344CB8AC3E}">
        <p14:creationId xmlns:p14="http://schemas.microsoft.com/office/powerpoint/2010/main" val="23736364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88320</TotalTime>
  <Words>314</Words>
  <Application>Microsoft Office PowerPoint</Application>
  <PresentationFormat>如螢幕大小 (4:3)</PresentationFormat>
  <Paragraphs>18</Paragraphs>
  <Slides>22</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22</vt:i4>
      </vt:variant>
    </vt:vector>
  </HeadingPairs>
  <TitlesOfParts>
    <vt:vector size="29" baseType="lpstr">
      <vt:lpstr>新細明體</vt:lpstr>
      <vt:lpstr>標楷體</vt:lpstr>
      <vt:lpstr>Arial</vt:lpstr>
      <vt:lpstr>Calibri</vt:lpstr>
      <vt:lpstr>Calibri Light</vt:lpstr>
      <vt:lpstr>Times New Roman</vt:lpstr>
      <vt:lpstr>Office 佈景主題</vt:lpstr>
      <vt:lpstr>兼顧工作負載和資源規模之 工作流程排程方法研究 Workload- and Resource-Aware List-Based Workflow Scheduling</vt:lpstr>
      <vt:lpstr>Abstract (1/2)</vt:lpstr>
      <vt:lpstr>Abstract(2/2)</vt:lpstr>
      <vt:lpstr>Comparative Analysis of HEFT and PEFT</vt:lpstr>
      <vt:lpstr>Comparative Analysis of HEFT and PEFT</vt:lpstr>
      <vt:lpstr>PowerPoint 簡報</vt:lpstr>
      <vt:lpstr>PowerPoint 簡報</vt:lpstr>
      <vt:lpstr>PowerPoint 簡報</vt:lpstr>
      <vt:lpstr>PowerPoint 簡報</vt:lpstr>
      <vt:lpstr>PowerPoint 簡報</vt:lpstr>
      <vt:lpstr>Structural Task Ranking</vt:lpstr>
      <vt:lpstr>Structural Task Ranking</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智愷 吳</cp:lastModifiedBy>
  <cp:revision>765</cp:revision>
  <dcterms:created xsi:type="dcterms:W3CDTF">2017-09-25T08:45:50Z</dcterms:created>
  <dcterms:modified xsi:type="dcterms:W3CDTF">2020-04-21T10:14:46Z</dcterms:modified>
</cp:coreProperties>
</file>