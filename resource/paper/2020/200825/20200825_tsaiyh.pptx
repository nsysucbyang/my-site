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258" r:id="rId3"/>
    <p:sldId id="259" r:id="rId4"/>
    <p:sldId id="260" r:id="rId5"/>
    <p:sldId id="262" r:id="rId6"/>
    <p:sldId id="263" r:id="rId7"/>
    <p:sldId id="261" r:id="rId8"/>
    <p:sldId id="264" r:id="rId9"/>
    <p:sldId id="265" r:id="rId10"/>
    <p:sldId id="266" r:id="rId11"/>
    <p:sldId id="268" r:id="rId12"/>
    <p:sldId id="269" r:id="rId13"/>
    <p:sldId id="270" r:id="rId14"/>
    <p:sldId id="271" r:id="rId15"/>
    <p:sldId id="272" r:id="rId16"/>
    <p:sldId id="273" r:id="rId17"/>
    <p:sldId id="274" r:id="rId18"/>
    <p:sldId id="275" r:id="rId19"/>
    <p:sldId id="276" r:id="rId20"/>
    <p:sldId id="277" r:id="rId21"/>
    <p:sldId id="278" r:id="rId22"/>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2020/8/24</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 xmlns:p14="http://schemas.microsoft.com/office/powerpoint/2010/main" val="1491878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65A18BCC-D1EA-4D8A-929C-D092EA2B4393}" type="slidenum">
              <a:rPr lang="zh-TW" altLang="en-US" smtClean="0"/>
              <a:pPr/>
              <a:t>7</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2020/8/24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2020/8/24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2020/8/24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2020/8/24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2020/8/24</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2020/8/24</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2020/8/24</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2020/8/24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2020/8/24</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2020/8/24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2020/8/24</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2020/8/24</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smtClean="0">
                <a:latin typeface="Times New Roman" pitchFamily="18" charset="0"/>
                <a:cs typeface="Times New Roman" pitchFamily="18" charset="0"/>
              </a:rPr>
              <a:t>MPSAGA: a matrix-based pair-wise sequence alignment algorithm for global alignment with position based sequence representation</a:t>
            </a:r>
          </a:p>
        </p:txBody>
      </p:sp>
      <p:sp>
        <p:nvSpPr>
          <p:cNvPr id="3" name="副標題 2">
            <a:extLst>
              <a:ext uri="{FF2B5EF4-FFF2-40B4-BE49-F238E27FC236}">
                <a16:creationId xmlns="" xmlns:a16="http://schemas.microsoft.com/office/drawing/2014/main" id="{7DA53B5D-3737-4D8B-A009-A9D02CAEE169}"/>
              </a:ext>
            </a:extLst>
          </p:cNvPr>
          <p:cNvSpPr>
            <a:spLocks noGrp="1"/>
          </p:cNvSpPr>
          <p:nvPr>
            <p:ph type="subTitle" idx="1"/>
          </p:nvPr>
        </p:nvSpPr>
        <p:spPr>
          <a:xfrm>
            <a:off x="323528" y="3003984"/>
            <a:ext cx="8640959" cy="425017"/>
          </a:xfrm>
        </p:spPr>
        <p:txBody>
          <a:bodyPr>
            <a:noAutofit/>
          </a:bodyPr>
          <a:lstStyle/>
          <a:p>
            <a:pPr fontAlgn="ctr"/>
            <a:r>
              <a:rPr lang="en-US" altLang="zh-TW" sz="2000" dirty="0" err="1" smtClean="0">
                <a:solidFill>
                  <a:schemeClr val="tx1"/>
                </a:solidFill>
                <a:latin typeface="Times New Roman" pitchFamily="18" charset="0"/>
                <a:cs typeface="Times New Roman" pitchFamily="18" charset="0"/>
              </a:rPr>
              <a:t>Jyoti</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Lakhani</a:t>
            </a:r>
            <a:r>
              <a:rPr lang="en-US" altLang="zh-TW" sz="2000" dirty="0" smtClean="0">
                <a:solidFill>
                  <a:schemeClr val="tx1"/>
                </a:solidFill>
                <a:latin typeface="Times New Roman" pitchFamily="18" charset="0"/>
                <a:cs typeface="Times New Roman" pitchFamily="18" charset="0"/>
              </a:rPr>
              <a:t>, </a:t>
            </a:r>
            <a:r>
              <a:rPr lang="en-US" altLang="zh-TW" sz="2000" dirty="0" smtClean="0">
                <a:solidFill>
                  <a:schemeClr val="tx1"/>
                </a:solidFill>
                <a:latin typeface="Times New Roman" pitchFamily="18" charset="0"/>
                <a:cs typeface="Times New Roman" pitchFamily="18" charset="0"/>
              </a:rPr>
              <a:t>Ajay </a:t>
            </a:r>
            <a:r>
              <a:rPr lang="en-US" altLang="zh-TW" sz="2000" dirty="0" err="1" smtClean="0">
                <a:solidFill>
                  <a:schemeClr val="tx1"/>
                </a:solidFill>
                <a:latin typeface="Times New Roman" pitchFamily="18" charset="0"/>
                <a:cs typeface="Times New Roman" pitchFamily="18" charset="0"/>
              </a:rPr>
              <a:t>Khunteta</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Anupama</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Choudhary</a:t>
            </a:r>
            <a:r>
              <a:rPr lang="en-US" altLang="zh-TW" sz="2000" dirty="0" smtClean="0">
                <a:solidFill>
                  <a:schemeClr val="tx1"/>
                </a:solidFill>
                <a:latin typeface="Times New Roman" pitchFamily="18" charset="0"/>
                <a:cs typeface="Times New Roman" pitchFamily="18" charset="0"/>
              </a:rPr>
              <a:t> &amp; </a:t>
            </a:r>
            <a:r>
              <a:rPr lang="en-US" altLang="zh-TW" sz="2000" dirty="0" err="1" smtClean="0">
                <a:solidFill>
                  <a:schemeClr val="tx1"/>
                </a:solidFill>
                <a:latin typeface="Times New Roman" pitchFamily="18" charset="0"/>
                <a:cs typeface="Times New Roman" pitchFamily="18" charset="0"/>
              </a:rPr>
              <a:t>Dharmesh</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Harwani</a:t>
            </a:r>
            <a:endParaRPr lang="en-US" altLang="zh-TW" sz="2000" dirty="0" smtClean="0">
              <a:solidFill>
                <a:schemeClr val="tx1"/>
              </a:solidFill>
              <a:latin typeface="Times New Roman" pitchFamily="18" charset="0"/>
              <a:cs typeface="Times New Roman" pitchFamily="18" charset="0"/>
            </a:endParaRPr>
          </a:p>
        </p:txBody>
      </p:sp>
      <p:sp>
        <p:nvSpPr>
          <p:cNvPr id="8" name="文字方塊 7">
            <a:extLst>
              <a:ext uri="{FF2B5EF4-FFF2-40B4-BE49-F238E27FC236}">
                <a16:creationId xmlns="" xmlns:a16="http://schemas.microsoft.com/office/drawing/2014/main" id="{8F2527E8-BB8F-41FB-8AF1-03DCC96BC069}"/>
              </a:ext>
            </a:extLst>
          </p:cNvPr>
          <p:cNvSpPr txBox="1"/>
          <p:nvPr/>
        </p:nvSpPr>
        <p:spPr>
          <a:xfrm>
            <a:off x="1252093" y="3873343"/>
            <a:ext cx="6214202" cy="800219"/>
          </a:xfrm>
          <a:prstGeom prst="rect">
            <a:avLst/>
          </a:prstGeom>
          <a:noFill/>
        </p:spPr>
        <p:txBody>
          <a:bodyPr wrap="none" rtlCol="0">
            <a:spAutoFit/>
          </a:bodyPr>
          <a:lstStyle/>
          <a:p>
            <a:pPr algn="ctr"/>
            <a:r>
              <a:rPr lang="en-US" altLang="zh-TW" sz="2400" dirty="0" err="1" smtClean="0">
                <a:latin typeface="Times New Roman" panose="02020603050405020304" pitchFamily="18" charset="0"/>
                <a:cs typeface="Times New Roman" panose="02020603050405020304" pitchFamily="18" charset="0"/>
              </a:rPr>
              <a:t>Sādhanā</a:t>
            </a:r>
            <a:r>
              <a:rPr lang="en-US" altLang="zh-TW" sz="2400" dirty="0" smtClean="0">
                <a:latin typeface="Times New Roman" panose="02020603050405020304" pitchFamily="18" charset="0"/>
                <a:cs typeface="Times New Roman" panose="02020603050405020304" pitchFamily="18" charset="0"/>
              </a:rPr>
              <a:t>,</a:t>
            </a:r>
            <a:r>
              <a:rPr lang="en-US" altLang="zh-TW" sz="2400" dirty="0" smtClean="0">
                <a:latin typeface="Times New Roman" panose="02020603050405020304" pitchFamily="18" charset="0"/>
                <a:cs typeface="Times New Roman" panose="02020603050405020304" pitchFamily="18" charset="0"/>
              </a:rPr>
              <a:t> volume 44, Article number: 171 (2019)</a:t>
            </a:r>
            <a:endParaRPr lang="en-US" sz="2400" dirty="0">
              <a:latin typeface="Times New Roman" panose="02020603050405020304" pitchFamily="18" charset="0"/>
              <a:cs typeface="Times New Roman" panose="02020603050405020304" pitchFamily="18" charset="0"/>
            </a:endParaRPr>
          </a:p>
          <a:p>
            <a:pPr algn="ctr"/>
            <a:endParaRPr lang="en-US" altLang="zh-TW" sz="2200" dirty="0">
              <a:latin typeface="+mj-lt"/>
              <a:cs typeface="Times New Roman" pitchFamily="18" charset="0"/>
            </a:endParaRPr>
          </a:p>
        </p:txBody>
      </p:sp>
      <p:sp>
        <p:nvSpPr>
          <p:cNvPr id="9" name="文字方塊 8">
            <a:extLst>
              <a:ext uri="{FF2B5EF4-FFF2-40B4-BE49-F238E27FC236}">
                <a16:creationId xmlns="" xmlns:a16="http://schemas.microsoft.com/office/drawing/2014/main"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Yuan-Hsiu Tsai</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 xmlns:a16="http://schemas.microsoft.com/office/drawing/2014/main" id="{52A0654C-2F84-4026-9FCF-04C8DF590D5F}"/>
              </a:ext>
            </a:extLst>
          </p:cNvPr>
          <p:cNvSpPr txBox="1"/>
          <p:nvPr/>
        </p:nvSpPr>
        <p:spPr>
          <a:xfrm>
            <a:off x="5652120" y="5824855"/>
            <a:ext cx="2671565"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a:t>
            </a:r>
            <a:r>
              <a:rPr lang="en-US" altLang="zh-TW" dirty="0" smtClean="0"/>
              <a:t>Aug</a:t>
            </a:r>
            <a:r>
              <a:rPr lang="en-US" altLang="zh-TW" dirty="0" smtClean="0"/>
              <a:t>. 25, 2020</a:t>
            </a:r>
            <a:endParaRPr lang="zh-TW" altLang="en-US" dirty="0"/>
          </a:p>
        </p:txBody>
      </p:sp>
    </p:spTree>
    <p:extLst>
      <p:ext uri="{BB962C8B-B14F-4D97-AF65-F5344CB8AC3E}">
        <p14:creationId xmlns="" xmlns:p14="http://schemas.microsoft.com/office/powerpoint/2010/main"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5E26DCC3-1991-4383-BF81-99FF895536EE}"/>
              </a:ext>
            </a:extLst>
          </p:cNvPr>
          <p:cNvSpPr>
            <a:spLocks noGrp="1"/>
          </p:cNvSpPr>
          <p:nvPr>
            <p:ph idx="1"/>
          </p:nvPr>
        </p:nvSpPr>
        <p:spPr>
          <a:xfrm>
            <a:off x="139007" y="692696"/>
            <a:ext cx="9004993" cy="5347657"/>
          </a:xfrm>
        </p:spPr>
        <p:txBody>
          <a:bodyPr>
            <a:noAutofit/>
          </a:bodyPr>
          <a:lstStyle/>
          <a:p>
            <a:pPr marL="0" indent="0">
              <a:lnSpc>
                <a:spcPts val="3200"/>
              </a:lnSpc>
              <a:buNone/>
            </a:pPr>
            <a:r>
              <a:rPr lang="en-US" altLang="zh-TW" sz="2800" dirty="0" smtClean="0">
                <a:latin typeface="Times New Roman" pitchFamily="18" charset="0"/>
                <a:cs typeface="Times New Roman" pitchFamily="18" charset="0"/>
              </a:rPr>
              <a:t>The proposed algorithm is a novel matrix-based global pair-wise sequence alignment with a de novo sequence representation. Needleman–</a:t>
            </a:r>
            <a:r>
              <a:rPr lang="en-US" altLang="zh-TW" sz="2800" dirty="0" err="1" smtClean="0">
                <a:latin typeface="Times New Roman" pitchFamily="18" charset="0"/>
                <a:cs typeface="Times New Roman" pitchFamily="18" charset="0"/>
              </a:rPr>
              <a:t>Wunsch</a:t>
            </a:r>
            <a:r>
              <a:rPr lang="en-US" altLang="zh-TW" sz="2800" dirty="0" smtClean="0">
                <a:latin typeface="Times New Roman" pitchFamily="18" charset="0"/>
                <a:cs typeface="Times New Roman" pitchFamily="18" charset="0"/>
              </a:rPr>
              <a:t>, noblest, Emboss-Needle, ALIGN, LALIGN, FOGSAA, DIALIGN, ACANA, </a:t>
            </a:r>
            <a:r>
              <a:rPr lang="en-US" altLang="zh-TW" sz="2800" dirty="0" err="1" smtClean="0">
                <a:latin typeface="Times New Roman" pitchFamily="18" charset="0"/>
                <a:cs typeface="Times New Roman" pitchFamily="18" charset="0"/>
              </a:rPr>
              <a:t>MUMmer</a:t>
            </a:r>
            <a:r>
              <a:rPr lang="en-US" altLang="zh-TW" sz="2800" dirty="0" smtClean="0">
                <a:latin typeface="Times New Roman" pitchFamily="18" charset="0"/>
                <a:cs typeface="Times New Roman" pitchFamily="18" charset="0"/>
              </a:rPr>
              <a:t>, etc. are few other algorithms that are most commonly used for global pair-wise sequence alignment. Needleman–</a:t>
            </a:r>
            <a:r>
              <a:rPr lang="en-US" altLang="zh-TW" sz="2800" dirty="0" err="1" smtClean="0">
                <a:latin typeface="Times New Roman" pitchFamily="18" charset="0"/>
                <a:cs typeface="Times New Roman" pitchFamily="18" charset="0"/>
              </a:rPr>
              <a:t>Wunsch</a:t>
            </a:r>
            <a:r>
              <a:rPr lang="en-US" altLang="zh-TW" sz="2800" dirty="0" smtClean="0">
                <a:latin typeface="Times New Roman" pitchFamily="18" charset="0"/>
                <a:cs typeface="Times New Roman" pitchFamily="18" charset="0"/>
              </a:rPr>
              <a:t> algorithm is one of the most popular algorithms that provides the best possible pair-wise sequence alignment, but the algorithm output is associated with high time and space complexities. To resolve these complex issues, researchers have proposed several algorithms to reduce time and space complexities in the pair-wise sequence alignment. Most of these algorithms provide solutions, but compromise the optimal result in favor of plummeting time and space complexities.</a:t>
            </a:r>
            <a:endParaRPr lang="fr-FR" altLang="zh-TW" sz="2800" dirty="0">
              <a:latin typeface="Times New Roman" pitchFamily="18" charset="0"/>
              <a:cs typeface="Times New Roman" pitchFamily="18" charset="0"/>
            </a:endParaRPr>
          </a:p>
        </p:txBody>
      </p:sp>
    </p:spTree>
    <p:extLst>
      <p:ext uri="{BB962C8B-B14F-4D97-AF65-F5344CB8AC3E}">
        <p14:creationId xmlns="" xmlns:p14="http://schemas.microsoft.com/office/powerpoint/2010/main"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5E26DCC3-1991-4383-BF81-99FF895536EE}"/>
              </a:ext>
            </a:extLst>
          </p:cNvPr>
          <p:cNvSpPr>
            <a:spLocks noGrp="1"/>
          </p:cNvSpPr>
          <p:nvPr>
            <p:ph idx="1"/>
          </p:nvPr>
        </p:nvSpPr>
        <p:spPr>
          <a:xfrm>
            <a:off x="139007" y="692696"/>
            <a:ext cx="9004993" cy="5246795"/>
          </a:xfrm>
        </p:spPr>
        <p:txBody>
          <a:bodyPr>
            <a:noAutofit/>
          </a:bodyPr>
          <a:lstStyle/>
          <a:p>
            <a:pPr marL="0" indent="0">
              <a:lnSpc>
                <a:spcPts val="3200"/>
              </a:lnSpc>
              <a:buNone/>
            </a:pPr>
            <a:r>
              <a:rPr lang="en-US" altLang="zh-TW" sz="2800" dirty="0" smtClean="0">
                <a:latin typeface="Times New Roman" pitchFamily="18" charset="0"/>
                <a:cs typeface="Times New Roman" pitchFamily="18" charset="0"/>
              </a:rPr>
              <a:t>An attempt has been made in the present research to develop MPSAGA and a completely unique positional matrix (PM) based sequence representation to deal with the time and space complexities without compromising sequence alignment results (MPSAGA is in public domain available at https://github.com/JyotiLakhani1/MPSAGA). A benchmarking of the proposed algorithm has also been performed with other popular pair-wise sequence alignment algorithms with and without positional matrix-based sequence representation. The use of an integer instead of string data type and exclusive clustering method in MPSAGA with positional matrix based sequence representation resulted in a noteworthy reduction in the memory usage (space) and execution time in the pair-wise alignment of biological sequences.</a:t>
            </a:r>
            <a:endParaRPr lang="fr-FR" altLang="zh-TW" sz="2800" dirty="0">
              <a:latin typeface="Times New Roman" pitchFamily="18" charset="0"/>
              <a:cs typeface="Times New Roman" pitchFamily="18" charset="0"/>
            </a:endParaRPr>
          </a:p>
        </p:txBody>
      </p:sp>
    </p:spTree>
    <p:extLst>
      <p:ext uri="{BB962C8B-B14F-4D97-AF65-F5344CB8AC3E}">
        <p14:creationId xmlns="" xmlns:p14="http://schemas.microsoft.com/office/powerpoint/2010/main" val="3994483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PNG"/>
          <p:cNvPicPr>
            <a:picLocks noGrp="1" noChangeAspect="1"/>
          </p:cNvPicPr>
          <p:nvPr>
            <p:ph idx="1"/>
          </p:nvPr>
        </p:nvPicPr>
        <p:blipFill>
          <a:blip r:embed="rId2" cstate="print"/>
          <a:stretch>
            <a:fillRect/>
          </a:stretch>
        </p:blipFill>
        <p:spPr>
          <a:xfrm>
            <a:off x="323528" y="116632"/>
            <a:ext cx="8584417" cy="6696744"/>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Position matrix</a:t>
            </a:r>
            <a:endParaRPr lang="zh-TW" altLang="en-US" dirty="0"/>
          </a:p>
        </p:txBody>
      </p:sp>
      <p:pic>
        <p:nvPicPr>
          <p:cNvPr id="4" name="內容版面配置區 3" descr="3.PNG"/>
          <p:cNvPicPr>
            <a:picLocks noGrp="1" noChangeAspect="1"/>
          </p:cNvPicPr>
          <p:nvPr>
            <p:ph idx="1"/>
          </p:nvPr>
        </p:nvPicPr>
        <p:blipFill>
          <a:blip r:embed="rId2" cstate="print"/>
          <a:stretch>
            <a:fillRect/>
          </a:stretch>
        </p:blipFill>
        <p:spPr>
          <a:xfrm>
            <a:off x="1043608" y="1268760"/>
            <a:ext cx="7451503" cy="5328592"/>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4.PNG"/>
          <p:cNvPicPr>
            <a:picLocks noGrp="1" noChangeAspect="1"/>
          </p:cNvPicPr>
          <p:nvPr>
            <p:ph idx="1"/>
          </p:nvPr>
        </p:nvPicPr>
        <p:blipFill>
          <a:blip r:embed="rId2" cstate="print"/>
          <a:stretch>
            <a:fillRect/>
          </a:stretch>
        </p:blipFill>
        <p:spPr>
          <a:xfrm>
            <a:off x="620594" y="1600200"/>
            <a:ext cx="7902811" cy="4525963"/>
          </a:xfr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2.PNG"/>
          <p:cNvPicPr>
            <a:picLocks noGrp="1" noChangeAspect="1"/>
          </p:cNvPicPr>
          <p:nvPr>
            <p:ph idx="1"/>
          </p:nvPr>
        </p:nvPicPr>
        <p:blipFill>
          <a:blip r:embed="rId3" cstate="print"/>
          <a:stretch>
            <a:fillRect/>
          </a:stretch>
        </p:blipFill>
        <p:spPr>
          <a:xfrm>
            <a:off x="539552" y="116632"/>
            <a:ext cx="8136904" cy="6745579"/>
          </a:xfr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Shift based on position matrix</a:t>
            </a:r>
            <a:endParaRPr lang="zh-TW" altLang="en-US" dirty="0"/>
          </a:p>
        </p:txBody>
      </p:sp>
      <p:pic>
        <p:nvPicPr>
          <p:cNvPr id="4" name="內容版面配置區 3" descr="5.PNG"/>
          <p:cNvPicPr>
            <a:picLocks noGrp="1" noChangeAspect="1"/>
          </p:cNvPicPr>
          <p:nvPr>
            <p:ph idx="1"/>
          </p:nvPr>
        </p:nvPicPr>
        <p:blipFill>
          <a:blip r:embed="rId2" cstate="print"/>
          <a:stretch>
            <a:fillRect/>
          </a:stretch>
        </p:blipFill>
        <p:spPr>
          <a:xfrm>
            <a:off x="0" y="1484784"/>
            <a:ext cx="9207991" cy="3600400"/>
          </a:xfr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6.PNG"/>
          <p:cNvPicPr>
            <a:picLocks noGrp="1" noChangeAspect="1"/>
          </p:cNvPicPr>
          <p:nvPr>
            <p:ph idx="1"/>
          </p:nvPr>
        </p:nvPicPr>
        <p:blipFill>
          <a:blip r:embed="rId2" cstate="print"/>
          <a:stretch>
            <a:fillRect/>
          </a:stretch>
        </p:blipFill>
        <p:spPr>
          <a:xfrm>
            <a:off x="0" y="548680"/>
            <a:ext cx="9107161" cy="6264696"/>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7.PNG"/>
          <p:cNvPicPr>
            <a:picLocks noGrp="1" noChangeAspect="1"/>
          </p:cNvPicPr>
          <p:nvPr>
            <p:ph idx="1"/>
          </p:nvPr>
        </p:nvPicPr>
        <p:blipFill>
          <a:blip r:embed="rId2" cstate="print"/>
          <a:stretch>
            <a:fillRect/>
          </a:stretch>
        </p:blipFill>
        <p:spPr>
          <a:xfrm>
            <a:off x="899592" y="1"/>
            <a:ext cx="7237348" cy="6858000"/>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8.PNG"/>
          <p:cNvPicPr>
            <a:picLocks noGrp="1" noChangeAspect="1"/>
          </p:cNvPicPr>
          <p:nvPr>
            <p:ph idx="1"/>
          </p:nvPr>
        </p:nvPicPr>
        <p:blipFill>
          <a:blip r:embed="rId2" cstate="print"/>
          <a:stretch>
            <a:fillRect/>
          </a:stretch>
        </p:blipFill>
        <p:spPr>
          <a:xfrm>
            <a:off x="-21735" y="1484784"/>
            <a:ext cx="9058231" cy="3241130"/>
          </a:xfr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9.PNG"/>
          <p:cNvPicPr>
            <a:picLocks noGrp="1" noChangeAspect="1"/>
          </p:cNvPicPr>
          <p:nvPr>
            <p:ph idx="1"/>
          </p:nvPr>
        </p:nvPicPr>
        <p:blipFill>
          <a:blip r:embed="rId2" cstate="print"/>
          <a:stretch>
            <a:fillRect/>
          </a:stretch>
        </p:blipFill>
        <p:spPr>
          <a:xfrm>
            <a:off x="-1" y="908720"/>
            <a:ext cx="9112755" cy="4248472"/>
          </a:xfr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0.PNG"/>
          <p:cNvPicPr>
            <a:picLocks noGrp="1" noChangeAspect="1"/>
          </p:cNvPicPr>
          <p:nvPr>
            <p:ph idx="1"/>
          </p:nvPr>
        </p:nvPicPr>
        <p:blipFill>
          <a:blip r:embed="rId2" cstate="print"/>
          <a:stretch>
            <a:fillRect/>
          </a:stretch>
        </p:blipFill>
        <p:spPr>
          <a:xfrm>
            <a:off x="0" y="1268759"/>
            <a:ext cx="9102006" cy="3746293"/>
          </a:xfr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1.PNG"/>
          <p:cNvPicPr>
            <a:picLocks noGrp="1" noChangeAspect="1"/>
          </p:cNvPicPr>
          <p:nvPr>
            <p:ph idx="1"/>
          </p:nvPr>
        </p:nvPicPr>
        <p:blipFill>
          <a:blip r:embed="rId2" cstate="print"/>
          <a:stretch>
            <a:fillRect/>
          </a:stretch>
        </p:blipFill>
        <p:spPr>
          <a:xfrm>
            <a:off x="-1" y="1412776"/>
            <a:ext cx="9116485" cy="3960440"/>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2.PNG"/>
          <p:cNvPicPr>
            <a:picLocks noGrp="1" noChangeAspect="1"/>
          </p:cNvPicPr>
          <p:nvPr>
            <p:ph idx="1"/>
          </p:nvPr>
        </p:nvPicPr>
        <p:blipFill>
          <a:blip r:embed="rId2" cstate="print"/>
          <a:stretch>
            <a:fillRect/>
          </a:stretch>
        </p:blipFill>
        <p:spPr>
          <a:xfrm>
            <a:off x="-1" y="1412776"/>
            <a:ext cx="9057499" cy="4032448"/>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3.PNG"/>
          <p:cNvPicPr>
            <a:picLocks noGrp="1" noChangeAspect="1"/>
          </p:cNvPicPr>
          <p:nvPr>
            <p:ph idx="1"/>
          </p:nvPr>
        </p:nvPicPr>
        <p:blipFill>
          <a:blip r:embed="rId2" cstate="print"/>
          <a:stretch>
            <a:fillRect/>
          </a:stretch>
        </p:blipFill>
        <p:spPr>
          <a:xfrm>
            <a:off x="0" y="1296624"/>
            <a:ext cx="9139442" cy="4220608"/>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4.PNG"/>
          <p:cNvPicPr>
            <a:picLocks noGrp="1" noChangeAspect="1"/>
          </p:cNvPicPr>
          <p:nvPr>
            <p:ph idx="1"/>
          </p:nvPr>
        </p:nvPicPr>
        <p:blipFill>
          <a:blip r:embed="rId2" cstate="print"/>
          <a:stretch>
            <a:fillRect/>
          </a:stretch>
        </p:blipFill>
        <p:spPr>
          <a:xfrm>
            <a:off x="0" y="1196752"/>
            <a:ext cx="9169530" cy="4536504"/>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5.PNG"/>
          <p:cNvPicPr>
            <a:picLocks noGrp="1" noChangeAspect="1"/>
          </p:cNvPicPr>
          <p:nvPr>
            <p:ph idx="1"/>
          </p:nvPr>
        </p:nvPicPr>
        <p:blipFill>
          <a:blip r:embed="rId2" cstate="print"/>
          <a:stretch>
            <a:fillRect/>
          </a:stretch>
        </p:blipFill>
        <p:spPr>
          <a:xfrm>
            <a:off x="-1" y="1628800"/>
            <a:ext cx="9149483" cy="3960440"/>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6.PNG"/>
          <p:cNvPicPr>
            <a:picLocks noGrp="1" noChangeAspect="1"/>
          </p:cNvPicPr>
          <p:nvPr>
            <p:ph idx="1"/>
          </p:nvPr>
        </p:nvPicPr>
        <p:blipFill>
          <a:blip r:embed="rId2" cstate="print"/>
          <a:stretch>
            <a:fillRect/>
          </a:stretch>
        </p:blipFill>
        <p:spPr>
          <a:xfrm>
            <a:off x="1187624" y="0"/>
            <a:ext cx="6516216" cy="3689464"/>
          </a:xfrm>
        </p:spPr>
      </p:pic>
      <p:pic>
        <p:nvPicPr>
          <p:cNvPr id="5" name="圖片 4" descr="17.PNG"/>
          <p:cNvPicPr>
            <a:picLocks noChangeAspect="1"/>
          </p:cNvPicPr>
          <p:nvPr/>
        </p:nvPicPr>
        <p:blipFill>
          <a:blip r:embed="rId3" cstate="print"/>
          <a:stretch>
            <a:fillRect/>
          </a:stretch>
        </p:blipFill>
        <p:spPr>
          <a:xfrm>
            <a:off x="971600" y="3780995"/>
            <a:ext cx="6830379" cy="307700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8.PNG"/>
          <p:cNvPicPr>
            <a:picLocks noGrp="1" noChangeAspect="1"/>
          </p:cNvPicPr>
          <p:nvPr>
            <p:ph idx="1"/>
          </p:nvPr>
        </p:nvPicPr>
        <p:blipFill>
          <a:blip r:embed="rId2" cstate="print"/>
          <a:stretch>
            <a:fillRect/>
          </a:stretch>
        </p:blipFill>
        <p:spPr>
          <a:xfrm>
            <a:off x="1115616" y="0"/>
            <a:ext cx="6468378" cy="3734321"/>
          </a:xfrm>
        </p:spPr>
      </p:pic>
      <p:pic>
        <p:nvPicPr>
          <p:cNvPr id="5" name="圖片 4" descr="19.PNG"/>
          <p:cNvPicPr>
            <a:picLocks noChangeAspect="1"/>
          </p:cNvPicPr>
          <p:nvPr/>
        </p:nvPicPr>
        <p:blipFill>
          <a:blip r:embed="rId3" cstate="print"/>
          <a:stretch>
            <a:fillRect/>
          </a:stretch>
        </p:blipFill>
        <p:spPr>
          <a:xfrm>
            <a:off x="1187624" y="3676206"/>
            <a:ext cx="6849431" cy="318179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20.PNG"/>
          <p:cNvPicPr>
            <a:picLocks noGrp="1" noChangeAspect="1"/>
          </p:cNvPicPr>
          <p:nvPr>
            <p:ph idx="1"/>
          </p:nvPr>
        </p:nvPicPr>
        <p:blipFill>
          <a:blip r:embed="rId2" cstate="print"/>
          <a:stretch>
            <a:fillRect/>
          </a:stretch>
        </p:blipFill>
        <p:spPr>
          <a:xfrm>
            <a:off x="1691681" y="1"/>
            <a:ext cx="5688631" cy="3596848"/>
          </a:xfrm>
        </p:spPr>
      </p:pic>
      <p:pic>
        <p:nvPicPr>
          <p:cNvPr id="5" name="圖片 4" descr="21.PNG"/>
          <p:cNvPicPr>
            <a:picLocks noChangeAspect="1"/>
          </p:cNvPicPr>
          <p:nvPr/>
        </p:nvPicPr>
        <p:blipFill>
          <a:blip r:embed="rId3" cstate="print"/>
          <a:stretch>
            <a:fillRect/>
          </a:stretch>
        </p:blipFill>
        <p:spPr>
          <a:xfrm>
            <a:off x="1547665" y="3635489"/>
            <a:ext cx="6408712" cy="3222511"/>
          </a:xfrm>
          <a:prstGeom prst="rect">
            <a:avLst/>
          </a:prstGeom>
        </p:spPr>
      </p:pic>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497</TotalTime>
  <Words>220</Words>
  <Application>Microsoft Office PowerPoint</Application>
  <PresentationFormat>如螢幕大小 (4:3)</PresentationFormat>
  <Paragraphs>15</Paragraphs>
  <Slides>21</Slides>
  <Notes>4</Notes>
  <HiddenSlides>0</HiddenSlides>
  <MMClips>0</MMClips>
  <ScaleCrop>false</ScaleCrop>
  <HeadingPairs>
    <vt:vector size="4" baseType="variant">
      <vt:variant>
        <vt:lpstr>佈景主題</vt:lpstr>
      </vt:variant>
      <vt:variant>
        <vt:i4>1</vt:i4>
      </vt:variant>
      <vt:variant>
        <vt:lpstr>投影片標題</vt:lpstr>
      </vt:variant>
      <vt:variant>
        <vt:i4>21</vt:i4>
      </vt:variant>
    </vt:vector>
  </HeadingPairs>
  <TitlesOfParts>
    <vt:vector size="22" baseType="lpstr">
      <vt:lpstr>Office 佈景主題</vt:lpstr>
      <vt:lpstr>MPSAGA: a matrix-based pair-wise sequence alignment algorithm for global alignment with position based sequence representation</vt:lpstr>
      <vt:lpstr>Abstract(1/2)</vt:lpstr>
      <vt:lpstr>Abstract(2/2)</vt:lpstr>
      <vt:lpstr>投影片 4</vt:lpstr>
      <vt:lpstr>Position matrix</vt:lpstr>
      <vt:lpstr>投影片 6</vt:lpstr>
      <vt:lpstr>投影片 7</vt:lpstr>
      <vt:lpstr>Shift based on position matrix</vt:lpstr>
      <vt:lpstr>投影片 9</vt:lpstr>
      <vt:lpstr>投影片 10</vt:lpstr>
      <vt:lpstr>投影片 11</vt:lpstr>
      <vt:lpstr>投影片 12</vt:lpstr>
      <vt:lpstr>投影片 13</vt:lpstr>
      <vt:lpstr>投影片 14</vt:lpstr>
      <vt:lpstr>投影片 15</vt:lpstr>
      <vt:lpstr>投影片 16</vt:lpstr>
      <vt:lpstr>投影片 17</vt:lpstr>
      <vt:lpstr>投影片 18</vt:lpstr>
      <vt:lpstr>投影片 19</vt:lpstr>
      <vt:lpstr>投影片 20</vt:lpstr>
      <vt:lpstr>投影片 21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Indexed Dynamic Programming to Boost Edit Distance and LCSS Computation</dc:title>
  <dc:creator>阿修</dc:creator>
  <cp:lastModifiedBy>阿修</cp:lastModifiedBy>
  <cp:revision>58</cp:revision>
  <dcterms:created xsi:type="dcterms:W3CDTF">2019-09-15T07:43:36Z</dcterms:created>
  <dcterms:modified xsi:type="dcterms:W3CDTF">2020-08-24T16:05:49Z</dcterms:modified>
</cp:coreProperties>
</file>