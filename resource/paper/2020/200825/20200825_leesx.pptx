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1" r:id="rId6"/>
    <p:sldId id="260" r:id="rId7"/>
    <p:sldId id="262" r:id="rId8"/>
    <p:sldId id="263" r:id="rId9"/>
    <p:sldId id="265" r:id="rId10"/>
    <p:sldId id="266" r:id="rId11"/>
    <p:sldId id="267" r:id="rId12"/>
    <p:sldId id="268" r:id="rId13"/>
    <p:sldId id="269" r:id="rId14"/>
    <p:sldId id="270" r:id="rId15"/>
    <p:sldId id="273" r:id="rId16"/>
    <p:sldId id="271" r:id="rId17"/>
    <p:sldId id="272"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napToGrid="0">
      <p:cViewPr>
        <p:scale>
          <a:sx n="66" d="100"/>
          <a:sy n="66" d="100"/>
        </p:scale>
        <p:origin x="1301"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F06BB-17BF-4938-84B0-D7EFA08A47F4}" type="datetimeFigureOut">
              <a:rPr lang="zh-TW" altLang="en-US" smtClean="0"/>
              <a:t>2020/8/25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4725F-80BE-4ED2-BFEF-72590049D585}" type="slidenum">
              <a:rPr lang="zh-TW" altLang="en-US" smtClean="0"/>
              <a:t>‹#›</a:t>
            </a:fld>
            <a:endParaRPr lang="zh-TW" altLang="en-US"/>
          </a:p>
        </p:txBody>
      </p:sp>
    </p:spTree>
    <p:extLst>
      <p:ext uri="{BB962C8B-B14F-4D97-AF65-F5344CB8AC3E}">
        <p14:creationId xmlns:p14="http://schemas.microsoft.com/office/powerpoint/2010/main" val="3580615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3E4725F-80BE-4ED2-BFEF-72590049D585}" type="slidenum">
              <a:rPr lang="zh-TW" altLang="en-US" smtClean="0"/>
              <a:t>3</a:t>
            </a:fld>
            <a:endParaRPr lang="zh-TW" altLang="en-US"/>
          </a:p>
        </p:txBody>
      </p:sp>
    </p:spTree>
    <p:extLst>
      <p:ext uri="{BB962C8B-B14F-4D97-AF65-F5344CB8AC3E}">
        <p14:creationId xmlns:p14="http://schemas.microsoft.com/office/powerpoint/2010/main" val="3839778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Chen, Y., Wan, A., and Liu, W. (2006). A fast parallel algorithm for finding the longest common sequence of multiple </a:t>
            </a:r>
            <a:r>
              <a:rPr lang="en-US" altLang="zh-TW" dirty="0" err="1"/>
              <a:t>biosequences</a:t>
            </a:r>
            <a:r>
              <a:rPr lang="en-US" altLang="zh-TW" dirty="0"/>
              <a:t>. BMC BIOINFORMATICS, 7(4). Symposium of Computations in Bioinformatics and Bioscience in Conjunction with the International </a:t>
            </a:r>
            <a:r>
              <a:rPr lang="en-US" altLang="zh-TW" dirty="0" err="1"/>
              <a:t>Mult</a:t>
            </a:r>
            <a:r>
              <a:rPr lang="en-US" altLang="zh-TW" dirty="0"/>
              <a:t>-Symposium on Computer and Computational Sciences, Hangzhou, PEOPLES R CHINA, JUN 20-24, 2006</a:t>
            </a:r>
            <a:endParaRPr lang="zh-TW" altLang="en-US" dirty="0"/>
          </a:p>
        </p:txBody>
      </p:sp>
      <p:sp>
        <p:nvSpPr>
          <p:cNvPr id="4" name="投影片編號版面配置區 3"/>
          <p:cNvSpPr>
            <a:spLocks noGrp="1"/>
          </p:cNvSpPr>
          <p:nvPr>
            <p:ph type="sldNum" sz="quarter" idx="5"/>
          </p:nvPr>
        </p:nvSpPr>
        <p:spPr/>
        <p:txBody>
          <a:bodyPr/>
          <a:lstStyle/>
          <a:p>
            <a:fld id="{33E4725F-80BE-4ED2-BFEF-72590049D585}" type="slidenum">
              <a:rPr lang="zh-TW" altLang="en-US" smtClean="0"/>
              <a:t>17</a:t>
            </a:fld>
            <a:endParaRPr lang="zh-TW" altLang="en-US"/>
          </a:p>
        </p:txBody>
      </p:sp>
    </p:spTree>
    <p:extLst>
      <p:ext uri="{BB962C8B-B14F-4D97-AF65-F5344CB8AC3E}">
        <p14:creationId xmlns:p14="http://schemas.microsoft.com/office/powerpoint/2010/main" val="869852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E81315-B4EA-4572-8D48-E9DF253F757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F34725C5-3827-4212-9A8A-01B989A797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29E098D-40BC-4F5E-8BFC-F6D032E86015}"/>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385A1FF0-1139-4BF0-8D63-2FEA9E42FB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6A93282-3541-4676-8584-B28E3C3F8320}"/>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769111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40BF6E-6EB5-42C3-BF4E-A46A194EE68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87359C4-2A02-4606-A983-3524BAAB639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C7B416A-8892-4999-9E2C-0A49746BF050}"/>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31DAAA62-33A5-44BA-AB08-D0A4FA3806E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B0BCA6D-D49C-43AC-ABF0-C976CF7FF51F}"/>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2656160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CAAEE6-044A-4B6F-9BC4-3A97093FAEFE}"/>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815E4C2-A554-4C67-99F3-C2D04A150C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3FAD089-17D8-4E05-A8DC-7408C1F9A527}"/>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B56A135C-1E4C-4C28-B634-FCB9C0DB11B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C2CE616-21AD-4AA7-9E03-47928EAF951D}"/>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1057638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283AA7-70D2-4688-8719-FC1A0958855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826FA7F-6D59-4FB7-9C15-9CD3C435E56A}"/>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B160449-C4D9-4B3E-8A96-3B7598ABE03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24AE06D-2B03-4ADF-AED7-241C1B1E0004}"/>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6" name="頁尾版面配置區 5">
            <a:extLst>
              <a:ext uri="{FF2B5EF4-FFF2-40B4-BE49-F238E27FC236}">
                <a16:creationId xmlns:a16="http://schemas.microsoft.com/office/drawing/2014/main" id="{EC0262DD-4F1E-4763-9A05-436C55BCAF1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655E95F-7DD7-480B-BCF1-61BB09649DC5}"/>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2899059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295B6D-CF47-4098-B8BD-D7C4D4F9535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5D3B84-6F00-4315-9D70-7A1128CB55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9C6CBBD-47EE-4DF2-8144-558D31D298C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39E2AA-9C46-432E-BEA1-1B98FD5E60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66E4FA97-6A9B-460E-B985-2D392B835BD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FD8E793-4568-45CD-A153-E528827F1FE5}"/>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8" name="頁尾版面配置區 7">
            <a:extLst>
              <a:ext uri="{FF2B5EF4-FFF2-40B4-BE49-F238E27FC236}">
                <a16:creationId xmlns:a16="http://schemas.microsoft.com/office/drawing/2014/main" id="{EAC1CE88-BA46-446F-A0F6-C48BB9BE3C7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ED664D4-146D-4080-9C23-59DACE726A22}"/>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71231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BB996D-7308-4184-9E26-15A34EBEA386}"/>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5C96DB0-A781-4947-B7AF-2C240025661A}"/>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4" name="頁尾版面配置區 3">
            <a:extLst>
              <a:ext uri="{FF2B5EF4-FFF2-40B4-BE49-F238E27FC236}">
                <a16:creationId xmlns:a16="http://schemas.microsoft.com/office/drawing/2014/main" id="{6C6502C8-E426-4BFB-909E-AA9B2067F439}"/>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AE48CB6-F953-4EAD-B20A-39662D015698}"/>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398802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DBBACC4-8E2A-4F47-9EDE-CE15F99E7705}"/>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3" name="頁尾版面配置區 2">
            <a:extLst>
              <a:ext uri="{FF2B5EF4-FFF2-40B4-BE49-F238E27FC236}">
                <a16:creationId xmlns:a16="http://schemas.microsoft.com/office/drawing/2014/main" id="{803F9C7C-2009-47A3-98DB-5B6897DA7FF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8EB9E29-3D10-475C-BBCE-EDBF1684C482}"/>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204432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A5BA0-44D9-4527-AC1A-9D0BDD6F190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EA2DFC2-64BB-4A07-81A7-A760FEEF99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D2A3E0B1-DA47-4B0A-B345-092E7F6803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9A16024-C16D-4E53-A040-E5C12A85F246}"/>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6" name="頁尾版面配置區 5">
            <a:extLst>
              <a:ext uri="{FF2B5EF4-FFF2-40B4-BE49-F238E27FC236}">
                <a16:creationId xmlns:a16="http://schemas.microsoft.com/office/drawing/2014/main" id="{D95BF053-862D-4ABB-8F3A-D410373934F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6BDB29B-4D2D-4E41-8FDB-CAFD5E4D308F}"/>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2175346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155483-31AD-455D-91AE-F41DC8B22F4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3AA83A5-5DCD-4862-AFD3-1E90249142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E5078FD-5BD1-404B-9ECB-084CDF424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47D87E0-1101-429F-BF49-D1277B584B77}"/>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6" name="頁尾版面配置區 5">
            <a:extLst>
              <a:ext uri="{FF2B5EF4-FFF2-40B4-BE49-F238E27FC236}">
                <a16:creationId xmlns:a16="http://schemas.microsoft.com/office/drawing/2014/main" id="{2E696222-2792-44E1-B33C-07C4BDE6D8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49CC47F-3347-428B-8906-7409E8B9EBF0}"/>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2362039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02028-97D3-4365-A6F9-F19B2650DAB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79BC152-F367-474F-A5F0-92292074CB7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4842D1D-E616-4B0F-BF46-3F145F09653B}"/>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F7A72FCD-FF94-4759-8589-78B2BC1340A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167B75-B6DE-42C5-96A0-5A1D48C6C5AD}"/>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425725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CEB40EF-CF98-4E29-8846-943B0BEFB32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608F7DB-7D35-4A3C-92D4-C511138141C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B4F8379-65CE-4E93-B0F0-D2403F1CAE2B}"/>
              </a:ext>
            </a:extLst>
          </p:cNvPr>
          <p:cNvSpPr>
            <a:spLocks noGrp="1"/>
          </p:cNvSpPr>
          <p:nvPr>
            <p:ph type="dt" sz="half" idx="10"/>
          </p:nvPr>
        </p:nvSpPr>
        <p:spPr/>
        <p:txBody>
          <a:bodyPr/>
          <a:lstStyle/>
          <a:p>
            <a:fld id="{7375D198-E43B-46CA-8EF7-22D4E749FF26}"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591CB798-4ADD-4810-AF8A-DF031E915E7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4C94E32-5838-46DE-87B8-531FCC871188}"/>
              </a:ext>
            </a:extLst>
          </p:cNvPr>
          <p:cNvSpPr>
            <a:spLocks noGrp="1"/>
          </p:cNvSpPr>
          <p:nvPr>
            <p:ph type="sldNum" sz="quarter" idx="12"/>
          </p:nvPr>
        </p:nvSpPr>
        <p:spPr/>
        <p:txBody>
          <a:body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3791071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1BE29E7-BB0B-4BBA-9F1F-CA6BA59A86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15337FB-55D2-4219-8BEF-D23B40F337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0B2CE68-1884-4FC3-883B-7418C01A3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75D198-E43B-46CA-8EF7-22D4E749FF26}"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D223C560-023C-4E67-BE1A-26B8C3F229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AF9FA53-4179-4519-A313-357EECD958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426EE-6561-4493-930E-F22DC7CFAFE1}" type="slidenum">
              <a:rPr lang="zh-TW" altLang="en-US" smtClean="0"/>
              <a:t>‹#›</a:t>
            </a:fld>
            <a:endParaRPr lang="zh-TW" altLang="en-US"/>
          </a:p>
        </p:txBody>
      </p:sp>
    </p:spTree>
    <p:extLst>
      <p:ext uri="{BB962C8B-B14F-4D97-AF65-F5344CB8AC3E}">
        <p14:creationId xmlns:p14="http://schemas.microsoft.com/office/powerpoint/2010/main" val="2234751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EADD15-3B1D-4CFA-8E0E-1FC5488F06A1}"/>
              </a:ext>
            </a:extLst>
          </p:cNvPr>
          <p:cNvSpPr>
            <a:spLocks noGrp="1"/>
          </p:cNvSpPr>
          <p:nvPr>
            <p:ph type="ctrTitle"/>
          </p:nvPr>
        </p:nvSpPr>
        <p:spPr>
          <a:xfrm>
            <a:off x="1524000" y="1513762"/>
            <a:ext cx="9144000" cy="1247530"/>
          </a:xfrm>
        </p:spPr>
        <p:txBody>
          <a:bodyPr>
            <a:normAutofit/>
          </a:bodyPr>
          <a:lstStyle/>
          <a:p>
            <a:r>
              <a:rPr lang="en-US" altLang="zh-TW" sz="4000" dirty="0">
                <a:latin typeface="Times New Roman" panose="02020603050405020304" pitchFamily="18" charset="0"/>
                <a:cs typeface="Times New Roman" panose="02020603050405020304" pitchFamily="18" charset="0"/>
              </a:rPr>
              <a:t>A Path Recorder Algorithm for Multiple Longest Common Subsequences Problems</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D08A4202-F43E-42B6-93D0-72997B77075B}"/>
              </a:ext>
            </a:extLst>
          </p:cNvPr>
          <p:cNvSpPr>
            <a:spLocks noGrp="1"/>
          </p:cNvSpPr>
          <p:nvPr>
            <p:ph type="subTitle" idx="1"/>
          </p:nvPr>
        </p:nvSpPr>
        <p:spPr>
          <a:xfrm>
            <a:off x="1524000" y="3231800"/>
            <a:ext cx="9144000" cy="1006311"/>
          </a:xfrm>
        </p:spPr>
        <p:txBody>
          <a:bodyPr/>
          <a:lstStyle/>
          <a:p>
            <a:r>
              <a:rPr lang="en-US" altLang="zh-TW" dirty="0" err="1">
                <a:latin typeface="Times New Roman" panose="02020603050405020304" pitchFamily="18" charset="0"/>
                <a:cs typeface="Times New Roman" panose="02020603050405020304" pitchFamily="18" charset="0"/>
              </a:rPr>
              <a:t>Shiwei</a:t>
            </a:r>
            <a:r>
              <a:rPr lang="en-US" altLang="zh-TW" dirty="0">
                <a:latin typeface="Times New Roman" panose="02020603050405020304" pitchFamily="18" charset="0"/>
                <a:cs typeface="Times New Roman" panose="02020603050405020304" pitchFamily="18" charset="0"/>
              </a:rPr>
              <a:t> Wei ,</a:t>
            </a:r>
            <a:r>
              <a:rPr lang="en-US" altLang="zh-TW" dirty="0" err="1">
                <a:latin typeface="Times New Roman" panose="02020603050405020304" pitchFamily="18" charset="0"/>
                <a:cs typeface="Times New Roman" panose="02020603050405020304" pitchFamily="18" charset="0"/>
              </a:rPr>
              <a:t>Yuping</a:t>
            </a:r>
            <a:r>
              <a:rPr lang="en-US" altLang="zh-TW" dirty="0">
                <a:latin typeface="Times New Roman" panose="02020603050405020304" pitchFamily="18" charset="0"/>
                <a:cs typeface="Times New Roman" panose="02020603050405020304" pitchFamily="18" charset="0"/>
              </a:rPr>
              <a:t> Wang, </a:t>
            </a:r>
            <a:r>
              <a:rPr lang="en-US" altLang="zh-TW" dirty="0" err="1">
                <a:latin typeface="Times New Roman" panose="02020603050405020304" pitchFamily="18" charset="0"/>
                <a:cs typeface="Times New Roman" panose="02020603050405020304" pitchFamily="18" charset="0"/>
              </a:rPr>
              <a:t>Yuanchao</a:t>
            </a:r>
            <a:r>
              <a:rPr lang="en-US" altLang="zh-TW" dirty="0">
                <a:latin typeface="Times New Roman" panose="02020603050405020304" pitchFamily="18" charset="0"/>
                <a:cs typeface="Times New Roman" panose="02020603050405020304" pitchFamily="18" charset="0"/>
              </a:rPr>
              <a:t> Yang and Sen Liu</a:t>
            </a:r>
          </a:p>
          <a:p>
            <a:r>
              <a:rPr lang="en-US" altLang="zh-TW" b="0" dirty="0">
                <a:solidFill>
                  <a:srgbClr val="2A2A2A"/>
                </a:solidFill>
                <a:effectLst/>
                <a:latin typeface="Times New Roman" panose="02020603050405020304" pitchFamily="18" charset="0"/>
                <a:cs typeface="Times New Roman" panose="02020603050405020304" pitchFamily="18" charset="0"/>
              </a:rPr>
              <a:t>Bioinformatics</a:t>
            </a:r>
            <a:r>
              <a:rPr lang="en-US" altLang="zh-TW" b="0" i="0" dirty="0">
                <a:solidFill>
                  <a:srgbClr val="2A2A2A"/>
                </a:solidFill>
                <a:effectLst/>
                <a:latin typeface="Times New Roman" panose="02020603050405020304" pitchFamily="18" charset="0"/>
                <a:cs typeface="Times New Roman" panose="02020603050405020304" pitchFamily="18" charset="0"/>
              </a:rPr>
              <a:t>, Volume 36, Issue 10, 15 May 2020, Pages 3035–3042.</a:t>
            </a:r>
            <a:endParaRPr lang="zh-TW" altLang="en-US"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01082611-C910-43BA-82A9-FB37793D5905}"/>
              </a:ext>
            </a:extLst>
          </p:cNvPr>
          <p:cNvSpPr/>
          <p:nvPr/>
        </p:nvSpPr>
        <p:spPr>
          <a:xfrm>
            <a:off x="8355290" y="5590419"/>
            <a:ext cx="3626178"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Presenter: Shao-Xuan Lee</a:t>
            </a:r>
          </a:p>
          <a:p>
            <a:r>
              <a:rPr lang="en-US" altLang="zh-TW" sz="2400" dirty="0">
                <a:latin typeface="Times New Roman" panose="02020603050405020304" pitchFamily="18" charset="0"/>
                <a:cs typeface="Times New Roman" panose="02020603050405020304" pitchFamily="18" charset="0"/>
              </a:rPr>
              <a:t>Date: Aug. 25, 2020</a:t>
            </a:r>
          </a:p>
        </p:txBody>
      </p:sp>
    </p:spTree>
    <p:extLst>
      <p:ext uri="{BB962C8B-B14F-4D97-AF65-F5344CB8AC3E}">
        <p14:creationId xmlns:p14="http://schemas.microsoft.com/office/powerpoint/2010/main" val="387950701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9B7CA3D-88AE-4367-9C12-F4B448CB280E}"/>
              </a:ext>
            </a:extLst>
          </p:cNvPr>
          <p:cNvSpPr/>
          <p:nvPr/>
        </p:nvSpPr>
        <p:spPr>
          <a:xfrm>
            <a:off x="408297" y="344078"/>
            <a:ext cx="2372765" cy="584775"/>
          </a:xfrm>
          <a:prstGeom prst="rect">
            <a:avLst/>
          </a:prstGeom>
        </p:spPr>
        <p:txBody>
          <a:bodyPr wrap="none">
            <a:spAutoFit/>
          </a:bodyPr>
          <a:lstStyle/>
          <a:p>
            <a:r>
              <a:rPr lang="en-US" altLang="zh-TW" sz="3200" dirty="0">
                <a:latin typeface="Times New Roman" panose="02020603050405020304" pitchFamily="18" charset="0"/>
                <a:cs typeface="Times New Roman" panose="02020603050405020304" pitchFamily="18" charset="0"/>
              </a:rPr>
              <a:t>Abstract(1/2)</a:t>
            </a:r>
            <a:endParaRPr lang="zh-TW" altLang="en-US" sz="3200" dirty="0"/>
          </a:p>
        </p:txBody>
      </p:sp>
      <p:sp>
        <p:nvSpPr>
          <p:cNvPr id="7" name="文字方塊 6">
            <a:extLst>
              <a:ext uri="{FF2B5EF4-FFF2-40B4-BE49-F238E27FC236}">
                <a16:creationId xmlns:a16="http://schemas.microsoft.com/office/drawing/2014/main" id="{6B0C15B7-5DA4-41CE-AD6F-B712E860AA51}"/>
              </a:ext>
            </a:extLst>
          </p:cNvPr>
          <p:cNvSpPr txBox="1"/>
          <p:nvPr/>
        </p:nvSpPr>
        <p:spPr>
          <a:xfrm>
            <a:off x="408297" y="1233720"/>
            <a:ext cx="10809795" cy="3539430"/>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Motivation: Searching the Longest Common Subsequences of many sequences is called a Multiple Longest Common Subsequence (MLCS) problem which is a very fundamental and challenging problem in many fields of data mining. The existing algorithms cannot not applicable to problems with long and large-scale sequences due to their huge time and space consumption. To efficiently handle large-scale MLCS problems, a Path Recorder Directed Acyclic Graph (PRDAG) model and a novel Path Recorder Algorithm (PRA) are proposed.</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6086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DCA9F36-FB6A-45BA-8BBB-64B1B4E28286}"/>
              </a:ext>
            </a:extLst>
          </p:cNvPr>
          <p:cNvSpPr/>
          <p:nvPr/>
        </p:nvSpPr>
        <p:spPr>
          <a:xfrm>
            <a:off x="430392" y="504333"/>
            <a:ext cx="2372765" cy="584775"/>
          </a:xfrm>
          <a:prstGeom prst="rect">
            <a:avLst/>
          </a:prstGeom>
        </p:spPr>
        <p:txBody>
          <a:bodyPr wrap="none">
            <a:spAutoFit/>
          </a:bodyPr>
          <a:lstStyle/>
          <a:p>
            <a:r>
              <a:rPr lang="en-US" altLang="zh-TW" sz="3200" dirty="0">
                <a:latin typeface="Times New Roman" panose="02020603050405020304" pitchFamily="18" charset="0"/>
                <a:cs typeface="Times New Roman" panose="02020603050405020304" pitchFamily="18" charset="0"/>
              </a:rPr>
              <a:t>Abstract(2/2)</a:t>
            </a:r>
            <a:endParaRPr lang="zh-TW" altLang="en-US" sz="3200" dirty="0"/>
          </a:p>
        </p:txBody>
      </p:sp>
      <p:sp>
        <p:nvSpPr>
          <p:cNvPr id="9" name="文字方塊 8">
            <a:extLst>
              <a:ext uri="{FF2B5EF4-FFF2-40B4-BE49-F238E27FC236}">
                <a16:creationId xmlns:a16="http://schemas.microsoft.com/office/drawing/2014/main" id="{5BDFD545-AC75-475D-855F-01B4F111AD13}"/>
              </a:ext>
            </a:extLst>
          </p:cNvPr>
          <p:cNvSpPr txBox="1"/>
          <p:nvPr/>
        </p:nvSpPr>
        <p:spPr>
          <a:xfrm>
            <a:off x="430392" y="1323297"/>
            <a:ext cx="11494516" cy="4832092"/>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Results: In PRDAG, we transform the MLCS problem into searching the longest path from the Directed Acyclic Graph (DAG), where each longest path in DAG corresponds to an MLCS. To tackle the problem efficiently, we eliminate all redundant and repeated nodes during the construction of DAG, and for each node, we only maintain the longest paths from the source node to it but ignore all non-longest </a:t>
            </a:r>
            <a:r>
              <a:rPr lang="en-US" altLang="zh-TW" sz="2800" dirty="0" err="1">
                <a:latin typeface="Times New Roman" panose="02020603050405020304" pitchFamily="18" charset="0"/>
                <a:cs typeface="Times New Roman" panose="02020603050405020304" pitchFamily="18" charset="0"/>
              </a:rPr>
              <a:t>pathes</a:t>
            </a:r>
            <a:r>
              <a:rPr lang="en-US" altLang="zh-TW" sz="2800" dirty="0">
                <a:latin typeface="Times New Roman" panose="02020603050405020304" pitchFamily="18" charset="0"/>
                <a:cs typeface="Times New Roman" panose="02020603050405020304" pitchFamily="18" charset="0"/>
              </a:rPr>
              <a:t>. As a result, the size of the DAG becomes very small, and the memory space and search time will be greatly saved. Empirical experiments have been performed on a standard benchmark set of both DNA sequences and protein sequences. The experimental results demonstrate that our model and algorithm outperform the related leading algorithms, especially for large-scale MLCS problems. </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64957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DBF197A-979A-487C-95CC-8959245C34CB}"/>
              </a:ext>
            </a:extLst>
          </p:cNvPr>
          <p:cNvPicPr>
            <a:picLocks noChangeAspect="1"/>
          </p:cNvPicPr>
          <p:nvPr/>
        </p:nvPicPr>
        <p:blipFill>
          <a:blip r:embed="rId2"/>
          <a:stretch>
            <a:fillRect/>
          </a:stretch>
        </p:blipFill>
        <p:spPr>
          <a:xfrm>
            <a:off x="3660984" y="888055"/>
            <a:ext cx="7620660" cy="5890770"/>
          </a:xfrm>
          <a:prstGeom prst="rect">
            <a:avLst/>
          </a:prstGeom>
        </p:spPr>
      </p:pic>
      <p:sp>
        <p:nvSpPr>
          <p:cNvPr id="7" name="文字方塊 6">
            <a:extLst>
              <a:ext uri="{FF2B5EF4-FFF2-40B4-BE49-F238E27FC236}">
                <a16:creationId xmlns:a16="http://schemas.microsoft.com/office/drawing/2014/main" id="{E7426C5F-0B1A-4208-80F4-D9ED97DC4168}"/>
              </a:ext>
            </a:extLst>
          </p:cNvPr>
          <p:cNvSpPr txBox="1"/>
          <p:nvPr/>
        </p:nvSpPr>
        <p:spPr>
          <a:xfrm>
            <a:off x="481819" y="303280"/>
            <a:ext cx="6094378" cy="584775"/>
          </a:xfrm>
          <a:prstGeom prst="rect">
            <a:avLst/>
          </a:prstGeom>
          <a:noFill/>
        </p:spPr>
        <p:txBody>
          <a:bodyPr wrap="square">
            <a:spAutoFit/>
          </a:bodyPr>
          <a:lstStyle/>
          <a:p>
            <a:r>
              <a:rPr lang="en-US" altLang="zh-TW" sz="3200" dirty="0">
                <a:latin typeface="Times New Roman" panose="02020603050405020304" pitchFamily="18" charset="0"/>
                <a:cs typeface="Times New Roman" panose="02020603050405020304" pitchFamily="18" charset="0"/>
              </a:rPr>
              <a:t>Directed Acyclic Graph (DAG)</a:t>
            </a:r>
            <a:endParaRPr lang="zh-TW" altLang="en-US" sz="32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CA30EC3C-38DB-4330-A172-875BDB603FC9}"/>
              </a:ext>
            </a:extLst>
          </p:cNvPr>
          <p:cNvSpPr txBox="1"/>
          <p:nvPr/>
        </p:nvSpPr>
        <p:spPr>
          <a:xfrm>
            <a:off x="579418" y="1602557"/>
            <a:ext cx="2949590" cy="830997"/>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p:txBody>
      </p:sp>
    </p:spTree>
    <p:extLst>
      <p:ext uri="{BB962C8B-B14F-4D97-AF65-F5344CB8AC3E}">
        <p14:creationId xmlns:p14="http://schemas.microsoft.com/office/powerpoint/2010/main" val="9741230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橢圓 19">
            <a:extLst>
              <a:ext uri="{FF2B5EF4-FFF2-40B4-BE49-F238E27FC236}">
                <a16:creationId xmlns:a16="http://schemas.microsoft.com/office/drawing/2014/main" id="{088799B5-A499-4B97-BBA3-FB0FD1944716}"/>
              </a:ext>
            </a:extLst>
          </p:cNvPr>
          <p:cNvSpPr/>
          <p:nvPr/>
        </p:nvSpPr>
        <p:spPr>
          <a:xfrm>
            <a:off x="5891106" y="4264360"/>
            <a:ext cx="945852" cy="703760"/>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7918612" y="5842535"/>
            <a:ext cx="945852" cy="703760"/>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036A965D-F650-401C-AD96-14F24C2BBC4D}"/>
              </a:ext>
            </a:extLst>
          </p:cNvPr>
          <p:cNvSpPr/>
          <p:nvPr/>
        </p:nvSpPr>
        <p:spPr>
          <a:xfrm>
            <a:off x="7918612" y="4821699"/>
            <a:ext cx="945852" cy="703760"/>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7918612" y="3800863"/>
            <a:ext cx="945852" cy="703760"/>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DCC29369-01DD-4661-A316-D53204BF861B}"/>
              </a:ext>
            </a:extLst>
          </p:cNvPr>
          <p:cNvSpPr/>
          <p:nvPr/>
        </p:nvSpPr>
        <p:spPr>
          <a:xfrm>
            <a:off x="7918612" y="2780027"/>
            <a:ext cx="945852" cy="703760"/>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 name="文字方塊 4">
            <a:extLst>
              <a:ext uri="{FF2B5EF4-FFF2-40B4-BE49-F238E27FC236}">
                <a16:creationId xmlns:a16="http://schemas.microsoft.com/office/drawing/2014/main" id="{AF5226C1-CD72-48B7-A652-273D82628CE5}"/>
              </a:ext>
            </a:extLst>
          </p:cNvPr>
          <p:cNvSpPr txBox="1"/>
          <p:nvPr/>
        </p:nvSpPr>
        <p:spPr>
          <a:xfrm>
            <a:off x="728220" y="311705"/>
            <a:ext cx="9528143" cy="523220"/>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The Path Recorder Directed Acyclic Graph Model (PRDAG)</a:t>
            </a:r>
            <a:endParaRPr lang="zh-TW" altLang="en-US" sz="28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D20AB223-69EE-4A6D-B06D-B1E376D4F4E2}"/>
              </a:ext>
            </a:extLst>
          </p:cNvPr>
          <p:cNvSpPr txBox="1"/>
          <p:nvPr/>
        </p:nvSpPr>
        <p:spPr>
          <a:xfrm>
            <a:off x="579418" y="1046376"/>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3687C970-164F-4ED6-AEB0-3BD4C1698961}"/>
              </a:ext>
            </a:extLst>
          </p:cNvPr>
          <p:cNvSpPr txBox="1"/>
          <p:nvPr/>
        </p:nvSpPr>
        <p:spPr>
          <a:xfrm>
            <a:off x="904973" y="2702269"/>
            <a:ext cx="40748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10" name="表格 10">
            <a:extLst>
              <a:ext uri="{FF2B5EF4-FFF2-40B4-BE49-F238E27FC236}">
                <a16:creationId xmlns:a16="http://schemas.microsoft.com/office/drawing/2014/main" id="{70B3D51C-3D4D-46F7-86F4-2447EB8103EA}"/>
              </a:ext>
            </a:extLst>
          </p:cNvPr>
          <p:cNvGraphicFramePr>
            <a:graphicFrameLocks noGrp="1"/>
          </p:cNvGraphicFramePr>
          <p:nvPr/>
        </p:nvGraphicFramePr>
        <p:xfrm>
          <a:off x="1459387" y="2672748"/>
          <a:ext cx="738826" cy="640080"/>
        </p:xfrm>
        <a:graphic>
          <a:graphicData uri="http://schemas.openxmlformats.org/drawingml/2006/table">
            <a:tbl>
              <a:tblPr firstRow="1" bandRow="1">
                <a:tableStyleId>{5940675A-B579-460E-94D1-54222C63F5DA}</a:tableStyleId>
              </a:tblPr>
              <a:tblGrid>
                <a:gridCol w="738826">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O</a:t>
                      </a:r>
                    </a:p>
                    <a:p>
                      <a:pPr algn="ctr"/>
                      <a:r>
                        <a:rPr lang="en-US" altLang="zh-TW" dirty="0">
                          <a:latin typeface="Times New Roman" panose="02020603050405020304" pitchFamily="18" charset="0"/>
                          <a:cs typeface="Times New Roman" panose="02020603050405020304" pitchFamily="18" charset="0"/>
                        </a:rPr>
                        <a:t>(0,0)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1" name="橢圓 10">
            <a:extLst>
              <a:ext uri="{FF2B5EF4-FFF2-40B4-BE49-F238E27FC236}">
                <a16:creationId xmlns:a16="http://schemas.microsoft.com/office/drawing/2014/main" id="{BAC0FFD4-9196-4B3F-A2F5-DCCE3476A74A}"/>
              </a:ext>
            </a:extLst>
          </p:cNvPr>
          <p:cNvSpPr/>
          <p:nvPr/>
        </p:nvSpPr>
        <p:spPr>
          <a:xfrm>
            <a:off x="1216058" y="4215370"/>
            <a:ext cx="1168923" cy="791851"/>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nvGraphicFramePr>
        <p:xfrm>
          <a:off x="6080288" y="4326680"/>
          <a:ext cx="567488" cy="579120"/>
        </p:xfrm>
        <a:graphic>
          <a:graphicData uri="http://schemas.openxmlformats.org/drawingml/2006/table">
            <a:tbl>
              <a:tblPr firstRow="1" bandRow="1">
                <a:tableStyleId>{5940675A-B579-460E-94D1-54222C63F5DA}</a:tableStyleId>
              </a:tblPr>
              <a:tblGrid>
                <a:gridCol w="567488">
                  <a:extLst>
                    <a:ext uri="{9D8B030D-6E8A-4147-A177-3AD203B41FA5}">
                      <a16:colId xmlns:a16="http://schemas.microsoft.com/office/drawing/2014/main" val="2029496448"/>
                    </a:ext>
                  </a:extLst>
                </a:gridCol>
              </a:tblGrid>
              <a:tr h="461665">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nvGraphicFramePr>
        <p:xfrm>
          <a:off x="6451724" y="1701744"/>
          <a:ext cx="2933776"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gridCol w="733444">
                  <a:extLst>
                    <a:ext uri="{9D8B030D-6E8A-4147-A177-3AD203B41FA5}">
                      <a16:colId xmlns:a16="http://schemas.microsoft.com/office/drawing/2014/main" val="835653023"/>
                    </a:ext>
                  </a:extLst>
                </a:gridCol>
                <a:gridCol w="733444">
                  <a:extLst>
                    <a:ext uri="{9D8B030D-6E8A-4147-A177-3AD203B41FA5}">
                      <a16:colId xmlns:a16="http://schemas.microsoft.com/office/drawing/2014/main" val="21786586"/>
                    </a:ext>
                  </a:extLst>
                </a:gridCol>
                <a:gridCol w="733444">
                  <a:extLst>
                    <a:ext uri="{9D8B030D-6E8A-4147-A177-3AD203B41FA5}">
                      <a16:colId xmlns:a16="http://schemas.microsoft.com/office/drawing/2014/main" val="2750282425"/>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(2,1)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C</a:t>
                      </a:r>
                    </a:p>
                    <a:p>
                      <a:pPr algn="ctr"/>
                      <a:r>
                        <a:rPr lang="en-US" altLang="zh-TW" dirty="0">
                          <a:latin typeface="Times New Roman" panose="02020603050405020304" pitchFamily="18" charset="0"/>
                          <a:cs typeface="Times New Roman" panose="02020603050405020304" pitchFamily="18" charset="0"/>
                        </a:rPr>
                        <a:t>(5,4)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(7,3)</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5803384" y="1744635"/>
            <a:ext cx="40748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nvGraphicFramePr>
        <p:xfrm>
          <a:off x="8022125" y="2842347"/>
          <a:ext cx="738826" cy="579120"/>
        </p:xfrm>
        <a:graphic>
          <a:graphicData uri="http://schemas.openxmlformats.org/drawingml/2006/table">
            <a:tbl>
              <a:tblPr firstRow="1" bandRow="1">
                <a:tableStyleId>{5940675A-B579-460E-94D1-54222C63F5DA}</a:tableStyleId>
              </a:tblPr>
              <a:tblGrid>
                <a:gridCol w="738826">
                  <a:extLst>
                    <a:ext uri="{9D8B030D-6E8A-4147-A177-3AD203B41FA5}">
                      <a16:colId xmlns:a16="http://schemas.microsoft.com/office/drawing/2014/main" val="2029496448"/>
                    </a:ext>
                  </a:extLst>
                </a:gridCol>
              </a:tblGrid>
              <a:tr h="461665">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nvGraphicFramePr>
        <p:xfrm>
          <a:off x="8022125" y="3863183"/>
          <a:ext cx="738826" cy="579120"/>
        </p:xfrm>
        <a:graphic>
          <a:graphicData uri="http://schemas.openxmlformats.org/drawingml/2006/table">
            <a:tbl>
              <a:tblPr firstRow="1" bandRow="1">
                <a:tableStyleId>{5940675A-B579-460E-94D1-54222C63F5DA}</a:tableStyleId>
              </a:tblPr>
              <a:tblGrid>
                <a:gridCol w="738826">
                  <a:extLst>
                    <a:ext uri="{9D8B030D-6E8A-4147-A177-3AD203B41FA5}">
                      <a16:colId xmlns:a16="http://schemas.microsoft.com/office/drawing/2014/main" val="2029496448"/>
                    </a:ext>
                  </a:extLst>
                </a:gridCol>
              </a:tblGrid>
              <a:tr h="461665">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1920588474"/>
              </p:ext>
            </p:extLst>
          </p:nvPr>
        </p:nvGraphicFramePr>
        <p:xfrm>
          <a:off x="8022125" y="4884019"/>
          <a:ext cx="738826" cy="579120"/>
        </p:xfrm>
        <a:graphic>
          <a:graphicData uri="http://schemas.openxmlformats.org/drawingml/2006/table">
            <a:tbl>
              <a:tblPr firstRow="1" bandRow="1">
                <a:tableStyleId>{5940675A-B579-460E-94D1-54222C63F5DA}</a:tableStyleId>
              </a:tblPr>
              <a:tblGrid>
                <a:gridCol w="738826">
                  <a:extLst>
                    <a:ext uri="{9D8B030D-6E8A-4147-A177-3AD203B41FA5}">
                      <a16:colId xmlns:a16="http://schemas.microsoft.com/office/drawing/2014/main" val="2029496448"/>
                    </a:ext>
                  </a:extLst>
                </a:gridCol>
              </a:tblGrid>
              <a:tr h="461665">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nvGraphicFramePr>
        <p:xfrm>
          <a:off x="8022125" y="5904855"/>
          <a:ext cx="738826" cy="579120"/>
        </p:xfrm>
        <a:graphic>
          <a:graphicData uri="http://schemas.openxmlformats.org/drawingml/2006/table">
            <a:tbl>
              <a:tblPr firstRow="1" bandRow="1">
                <a:tableStyleId>{5940675A-B579-460E-94D1-54222C63F5DA}</a:tableStyleId>
              </a:tblPr>
              <a:tblGrid>
                <a:gridCol w="738826">
                  <a:extLst>
                    <a:ext uri="{9D8B030D-6E8A-4147-A177-3AD203B41FA5}">
                      <a16:colId xmlns:a16="http://schemas.microsoft.com/office/drawing/2014/main" val="2029496448"/>
                    </a:ext>
                  </a:extLst>
                </a:gridCol>
              </a:tblGrid>
              <a:tr h="461665">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8" name="表格 10">
            <a:extLst>
              <a:ext uri="{FF2B5EF4-FFF2-40B4-BE49-F238E27FC236}">
                <a16:creationId xmlns:a16="http://schemas.microsoft.com/office/drawing/2014/main" id="{6938ED13-9E3E-47D1-B880-5B3848A58DC3}"/>
              </a:ext>
            </a:extLst>
          </p:cNvPr>
          <p:cNvGraphicFramePr>
            <a:graphicFrameLocks noGrp="1"/>
          </p:cNvGraphicFramePr>
          <p:nvPr/>
        </p:nvGraphicFramePr>
        <p:xfrm>
          <a:off x="1516775" y="4259676"/>
          <a:ext cx="567488" cy="640080"/>
        </p:xfrm>
        <a:graphic>
          <a:graphicData uri="http://schemas.openxmlformats.org/drawingml/2006/table">
            <a:tbl>
              <a:tblPr firstRow="1" bandRow="1">
                <a:tableStyleId>{5940675A-B579-460E-94D1-54222C63F5DA}</a:tableStyleId>
              </a:tblPr>
              <a:tblGrid>
                <a:gridCol w="567488">
                  <a:extLst>
                    <a:ext uri="{9D8B030D-6E8A-4147-A177-3AD203B41FA5}">
                      <a16:colId xmlns:a16="http://schemas.microsoft.com/office/drawing/2014/main" val="2029496448"/>
                    </a:ext>
                  </a:extLst>
                </a:gridCol>
              </a:tblGrid>
              <a:tr h="461665">
                <a:tc>
                  <a:txBody>
                    <a:bodyPr/>
                    <a:lstStyle/>
                    <a:p>
                      <a:pPr algn="ctr"/>
                      <a:r>
                        <a:rPr lang="en-US" altLang="zh-TW" sz="1800" dirty="0">
                          <a:latin typeface="Times New Roman" panose="02020603050405020304" pitchFamily="18" charset="0"/>
                          <a:cs typeface="Times New Roman" panose="02020603050405020304" pitchFamily="18" charset="0"/>
                        </a:rPr>
                        <a:t>O</a:t>
                      </a:r>
                    </a:p>
                    <a:p>
                      <a:pPr algn="ctr"/>
                      <a:r>
                        <a:rPr lang="en-US" altLang="zh-TW" sz="1800" dirty="0">
                          <a:latin typeface="Times New Roman" panose="02020603050405020304" pitchFamily="18" charset="0"/>
                          <a:cs typeface="Times New Roman" panose="02020603050405020304" pitchFamily="18" charset="0"/>
                        </a:rPr>
                        <a:t>(0,0)</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stCxn id="20" idx="7"/>
          </p:cNvCxnSpPr>
          <p:nvPr/>
        </p:nvCxnSpPr>
        <p:spPr>
          <a:xfrm flipV="1">
            <a:off x="6698441" y="3248079"/>
            <a:ext cx="1220171" cy="11193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直線單箭頭接點 40">
            <a:extLst>
              <a:ext uri="{FF2B5EF4-FFF2-40B4-BE49-F238E27FC236}">
                <a16:creationId xmlns:a16="http://schemas.microsoft.com/office/drawing/2014/main" id="{BC2C2A84-6DFA-419E-855F-FA401E6CEE61}"/>
              </a:ext>
            </a:extLst>
          </p:cNvPr>
          <p:cNvCxnSpPr>
            <a:cxnSpLocks/>
            <a:endCxn id="28" idx="2"/>
          </p:cNvCxnSpPr>
          <p:nvPr/>
        </p:nvCxnSpPr>
        <p:spPr>
          <a:xfrm flipV="1">
            <a:off x="6843243" y="4152743"/>
            <a:ext cx="1075369" cy="40568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endCxn id="32" idx="2"/>
          </p:cNvCxnSpPr>
          <p:nvPr/>
        </p:nvCxnSpPr>
        <p:spPr>
          <a:xfrm>
            <a:off x="6826799" y="4684499"/>
            <a:ext cx="1091813" cy="48908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9" name="直線單箭頭接點 48">
            <a:extLst>
              <a:ext uri="{FF2B5EF4-FFF2-40B4-BE49-F238E27FC236}">
                <a16:creationId xmlns:a16="http://schemas.microsoft.com/office/drawing/2014/main" id="{0C4C3316-847F-449B-A50C-A38FCE93AA3D}"/>
              </a:ext>
            </a:extLst>
          </p:cNvPr>
          <p:cNvCxnSpPr>
            <a:cxnSpLocks/>
            <a:endCxn id="36" idx="2"/>
          </p:cNvCxnSpPr>
          <p:nvPr/>
        </p:nvCxnSpPr>
        <p:spPr>
          <a:xfrm>
            <a:off x="6724586" y="4850158"/>
            <a:ext cx="1194026" cy="134425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文字方塊 1">
            <a:extLst>
              <a:ext uri="{FF2B5EF4-FFF2-40B4-BE49-F238E27FC236}">
                <a16:creationId xmlns:a16="http://schemas.microsoft.com/office/drawing/2014/main" id="{14391BDD-0AF0-4EFD-B380-CF0C2F06F8AF}"/>
              </a:ext>
            </a:extLst>
          </p:cNvPr>
          <p:cNvSpPr txBox="1"/>
          <p:nvPr/>
        </p:nvSpPr>
        <p:spPr>
          <a:xfrm>
            <a:off x="7818434" y="3260619"/>
            <a:ext cx="301686"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1ADC732A-7BCD-4DFB-9868-1E69BB127F6F}"/>
              </a:ext>
            </a:extLst>
          </p:cNvPr>
          <p:cNvSpPr txBox="1"/>
          <p:nvPr/>
        </p:nvSpPr>
        <p:spPr>
          <a:xfrm>
            <a:off x="7778222" y="4236541"/>
            <a:ext cx="301686"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0A5FF595-E5E1-4271-95E1-E29F0B66ADB9}"/>
              </a:ext>
            </a:extLst>
          </p:cNvPr>
          <p:cNvSpPr txBox="1"/>
          <p:nvPr/>
        </p:nvSpPr>
        <p:spPr>
          <a:xfrm>
            <a:off x="7818434" y="5308067"/>
            <a:ext cx="301686"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93058D3E-BE82-49B2-BB2B-7598015D882B}"/>
              </a:ext>
            </a:extLst>
          </p:cNvPr>
          <p:cNvSpPr txBox="1"/>
          <p:nvPr/>
        </p:nvSpPr>
        <p:spPr>
          <a:xfrm>
            <a:off x="7780067" y="6261993"/>
            <a:ext cx="301686"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5737B901-46E2-4B76-994E-3EC5EBE339D9}"/>
              </a:ext>
            </a:extLst>
          </p:cNvPr>
          <p:cNvSpPr txBox="1"/>
          <p:nvPr/>
        </p:nvSpPr>
        <p:spPr>
          <a:xfrm>
            <a:off x="6236058" y="4988913"/>
            <a:ext cx="300082"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E0F2E40-2ACE-4F6C-B217-008766F065CC}"/>
              </a:ext>
            </a:extLst>
          </p:cNvPr>
          <p:cNvSpPr txBox="1"/>
          <p:nvPr/>
        </p:nvSpPr>
        <p:spPr>
          <a:xfrm>
            <a:off x="1677957" y="5017840"/>
            <a:ext cx="300082"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94305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橢圓 23">
            <a:extLst>
              <a:ext uri="{FF2B5EF4-FFF2-40B4-BE49-F238E27FC236}">
                <a16:creationId xmlns:a16="http://schemas.microsoft.com/office/drawing/2014/main" id="{DCC29369-01DD-4661-A316-D53204BF861B}"/>
              </a:ext>
            </a:extLst>
          </p:cNvPr>
          <p:cNvSpPr/>
          <p:nvPr/>
        </p:nvSpPr>
        <p:spPr>
          <a:xfrm>
            <a:off x="4157453" y="2561649"/>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6298588" y="2922848"/>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6241114" y="1799649"/>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4157453" y="5624157"/>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4157453" y="3582485"/>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extLst>
              <p:ext uri="{D42A27DB-BD31-4B8C-83A1-F6EECF244321}">
                <p14:modId xmlns:p14="http://schemas.microsoft.com/office/powerpoint/2010/main" val="2536607468"/>
              </p:ext>
            </p:extLst>
          </p:nvPr>
        </p:nvGraphicFramePr>
        <p:xfrm>
          <a:off x="7391926" y="5260392"/>
          <a:ext cx="4099035" cy="809211"/>
        </p:xfrm>
        <a:graphic>
          <a:graphicData uri="http://schemas.openxmlformats.org/drawingml/2006/table">
            <a:tbl>
              <a:tblPr firstRow="1" bandRow="1">
                <a:tableStyleId>{5940675A-B579-460E-94D1-54222C63F5DA}</a:tableStyleId>
              </a:tblPr>
              <a:tblGrid>
                <a:gridCol w="819807">
                  <a:extLst>
                    <a:ext uri="{9D8B030D-6E8A-4147-A177-3AD203B41FA5}">
                      <a16:colId xmlns:a16="http://schemas.microsoft.com/office/drawing/2014/main" val="835653023"/>
                    </a:ext>
                  </a:extLst>
                </a:gridCol>
                <a:gridCol w="819807">
                  <a:extLst>
                    <a:ext uri="{9D8B030D-6E8A-4147-A177-3AD203B41FA5}">
                      <a16:colId xmlns:a16="http://schemas.microsoft.com/office/drawing/2014/main" val="21786586"/>
                    </a:ext>
                  </a:extLst>
                </a:gridCol>
                <a:gridCol w="819807">
                  <a:extLst>
                    <a:ext uri="{9D8B030D-6E8A-4147-A177-3AD203B41FA5}">
                      <a16:colId xmlns:a16="http://schemas.microsoft.com/office/drawing/2014/main" val="2750282425"/>
                    </a:ext>
                  </a:extLst>
                </a:gridCol>
                <a:gridCol w="819807">
                  <a:extLst>
                    <a:ext uri="{9D8B030D-6E8A-4147-A177-3AD203B41FA5}">
                      <a16:colId xmlns:a16="http://schemas.microsoft.com/office/drawing/2014/main" val="593668910"/>
                    </a:ext>
                  </a:extLst>
                </a:gridCol>
                <a:gridCol w="819807">
                  <a:extLst>
                    <a:ext uri="{9D8B030D-6E8A-4147-A177-3AD203B41FA5}">
                      <a16:colId xmlns:a16="http://schemas.microsoft.com/office/drawing/2014/main" val="1338126439"/>
                    </a:ext>
                  </a:extLst>
                </a:gridCol>
              </a:tblGrid>
              <a:tr h="809211">
                <a:tc>
                  <a:txBody>
                    <a:bodyPr/>
                    <a:lstStyle/>
                    <a:p>
                      <a:pPr algn="ctr"/>
                      <a:r>
                        <a:rPr lang="en-US" altLang="zh-TW" dirty="0">
                          <a:latin typeface="Times New Roman" panose="02020603050405020304" pitchFamily="18" charset="0"/>
                          <a:cs typeface="Times New Roman" panose="02020603050405020304" pitchFamily="18" charset="0"/>
                        </a:rPr>
                        <a:t>C</a:t>
                      </a:r>
                    </a:p>
                    <a:p>
                      <a:pPr algn="ctr"/>
                      <a:r>
                        <a:rPr lang="en-US" altLang="zh-TW" dirty="0">
                          <a:latin typeface="Times New Roman" panose="02020603050405020304" pitchFamily="18" charset="0"/>
                          <a:cs typeface="Times New Roman" panose="02020603050405020304" pitchFamily="18" charset="0"/>
                        </a:rPr>
                        <a:t>(5,4)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(3,7)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6743586" y="5304860"/>
            <a:ext cx="42969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327890268"/>
              </p:ext>
            </p:extLst>
          </p:nvPr>
        </p:nvGraphicFramePr>
        <p:xfrm>
          <a:off x="4248907" y="2537357"/>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2446403951"/>
              </p:ext>
            </p:extLst>
          </p:nvPr>
        </p:nvGraphicFramePr>
        <p:xfrm>
          <a:off x="4228371" y="3537985"/>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2179225514"/>
              </p:ext>
            </p:extLst>
          </p:nvPr>
        </p:nvGraphicFramePr>
        <p:xfrm>
          <a:off x="4253452" y="458705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32" name="橢圓 31">
            <a:extLst>
              <a:ext uri="{FF2B5EF4-FFF2-40B4-BE49-F238E27FC236}">
                <a16:creationId xmlns:a16="http://schemas.microsoft.com/office/drawing/2014/main" id="{036A965D-F650-401C-AD96-14F24C2BBC4D}"/>
              </a:ext>
            </a:extLst>
          </p:cNvPr>
          <p:cNvSpPr/>
          <p:nvPr/>
        </p:nvSpPr>
        <p:spPr>
          <a:xfrm>
            <a:off x="4157453" y="4603321"/>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2370679312"/>
              </p:ext>
            </p:extLst>
          </p:nvPr>
        </p:nvGraphicFramePr>
        <p:xfrm>
          <a:off x="4259956" y="558326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2792225" y="2844201"/>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2905854" y="4328534"/>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格 10">
            <a:extLst>
              <a:ext uri="{FF2B5EF4-FFF2-40B4-BE49-F238E27FC236}">
                <a16:creationId xmlns:a16="http://schemas.microsoft.com/office/drawing/2014/main" id="{68EF8AB8-1C5F-4D3A-A1C1-B8DBE2B1F5C0}"/>
              </a:ext>
            </a:extLst>
          </p:cNvPr>
          <p:cNvGraphicFramePr>
            <a:graphicFrameLocks noGrp="1"/>
          </p:cNvGraphicFramePr>
          <p:nvPr>
            <p:extLst>
              <p:ext uri="{D42A27DB-BD31-4B8C-83A1-F6EECF244321}">
                <p14:modId xmlns:p14="http://schemas.microsoft.com/office/powerpoint/2010/main" val="3842336734"/>
              </p:ext>
            </p:extLst>
          </p:nvPr>
        </p:nvGraphicFramePr>
        <p:xfrm>
          <a:off x="3975631" y="608790"/>
          <a:ext cx="733444"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(2,1)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55" name="文字方塊 54">
            <a:extLst>
              <a:ext uri="{FF2B5EF4-FFF2-40B4-BE49-F238E27FC236}">
                <a16:creationId xmlns:a16="http://schemas.microsoft.com/office/drawing/2014/main" id="{C071B2CC-0665-4BA8-88BA-9075D93AA131}"/>
              </a:ext>
            </a:extLst>
          </p:cNvPr>
          <p:cNvSpPr txBox="1"/>
          <p:nvPr/>
        </p:nvSpPr>
        <p:spPr>
          <a:xfrm>
            <a:off x="4967504" y="535024"/>
            <a:ext cx="4099034"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Successors : </a:t>
            </a:r>
          </a:p>
          <a:p>
            <a:r>
              <a:rPr lang="en-US" altLang="zh-TW" sz="2000" dirty="0">
                <a:latin typeface="Times New Roman" panose="02020603050405020304" pitchFamily="18" charset="0"/>
                <a:cs typeface="Times New Roman" panose="02020603050405020304" pitchFamily="18" charset="0"/>
              </a:rPr>
              <a:t>A(3, 7), </a:t>
            </a:r>
            <a:r>
              <a:rPr lang="en-US" altLang="zh-TW" sz="2000" dirty="0">
                <a:solidFill>
                  <a:schemeClr val="accent2"/>
                </a:solidFill>
                <a:latin typeface="Times New Roman" panose="02020603050405020304" pitchFamily="18" charset="0"/>
                <a:cs typeface="Times New Roman" panose="02020603050405020304" pitchFamily="18" charset="0"/>
              </a:rPr>
              <a:t>C(5, 4)</a:t>
            </a:r>
            <a:r>
              <a:rPr lang="en-US" altLang="zh-TW" sz="2000" dirty="0">
                <a:latin typeface="Times New Roman" panose="02020603050405020304" pitchFamily="18" charset="0"/>
                <a:cs typeface="Times New Roman" panose="02020603050405020304" pitchFamily="18" charset="0"/>
              </a:rPr>
              <a:t>, G(4, 2) ,</a:t>
            </a:r>
            <a:r>
              <a:rPr lang="en-US" altLang="zh-TW" sz="2000" dirty="0">
                <a:solidFill>
                  <a:schemeClr val="accent2"/>
                </a:solidFill>
                <a:latin typeface="Times New Roman" panose="02020603050405020304" pitchFamily="18" charset="0"/>
                <a:cs typeface="Times New Roman" panose="02020603050405020304" pitchFamily="18" charset="0"/>
              </a:rPr>
              <a:t>T(7, 3)</a:t>
            </a:r>
            <a:endParaRPr lang="zh-TW" altLang="en-US" sz="2000" dirty="0">
              <a:solidFill>
                <a:schemeClr val="accent2"/>
              </a:solidFill>
              <a:latin typeface="Times New Roman" panose="02020603050405020304" pitchFamily="18" charset="0"/>
              <a:cs typeface="Times New Roman" panose="02020603050405020304" pitchFamily="18" charset="0"/>
            </a:endParaRPr>
          </a:p>
        </p:txBody>
      </p:sp>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3946662760"/>
              </p:ext>
            </p:extLst>
          </p:nvPr>
        </p:nvGraphicFramePr>
        <p:xfrm>
          <a:off x="2223057" y="4002820"/>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2129947" y="404598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2398917" y="460720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4058367" y="2977291"/>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4004572" y="5051161"/>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4044609" y="606960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4015616" y="3995355"/>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extLst>
              <p:ext uri="{D42A27DB-BD31-4B8C-83A1-F6EECF244321}">
                <p14:modId xmlns:p14="http://schemas.microsoft.com/office/powerpoint/2010/main" val="933405940"/>
              </p:ext>
            </p:extLst>
          </p:nvPr>
        </p:nvGraphicFramePr>
        <p:xfrm>
          <a:off x="6326791" y="175396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2134549097"/>
              </p:ext>
            </p:extLst>
          </p:nvPr>
        </p:nvGraphicFramePr>
        <p:xfrm>
          <a:off x="6368513" y="289117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p:cNvCxnSpPr>
          <p:nvPr/>
        </p:nvCxnSpPr>
        <p:spPr>
          <a:xfrm flipV="1">
            <a:off x="4880465" y="2068856"/>
            <a:ext cx="1362175" cy="6398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p:cNvCxnSpPr>
          <p:nvPr/>
        </p:nvCxnSpPr>
        <p:spPr>
          <a:xfrm>
            <a:off x="4891638" y="2977291"/>
            <a:ext cx="1435153" cy="22135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5" name="手繪多邊形: 圖案 124">
            <a:extLst>
              <a:ext uri="{FF2B5EF4-FFF2-40B4-BE49-F238E27FC236}">
                <a16:creationId xmlns:a16="http://schemas.microsoft.com/office/drawing/2014/main" id="{D8B2CCE5-4B04-4F40-9175-B332E088CD3E}"/>
              </a:ext>
            </a:extLst>
          </p:cNvPr>
          <p:cNvSpPr/>
          <p:nvPr/>
        </p:nvSpPr>
        <p:spPr>
          <a:xfrm>
            <a:off x="4819731" y="3043611"/>
            <a:ext cx="447484" cy="2735580"/>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ln>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TW" altLang="en-US" dirty="0"/>
          </a:p>
        </p:txBody>
      </p:sp>
      <p:cxnSp>
        <p:nvCxnSpPr>
          <p:cNvPr id="126" name="直線單箭頭接點 125">
            <a:extLst>
              <a:ext uri="{FF2B5EF4-FFF2-40B4-BE49-F238E27FC236}">
                <a16:creationId xmlns:a16="http://schemas.microsoft.com/office/drawing/2014/main" id="{A4F7A862-3CC0-4CD5-BD52-464240837711}"/>
              </a:ext>
            </a:extLst>
          </p:cNvPr>
          <p:cNvCxnSpPr>
            <a:cxnSpLocks/>
            <a:endCxn id="28" idx="0"/>
          </p:cNvCxnSpPr>
          <p:nvPr/>
        </p:nvCxnSpPr>
        <p:spPr>
          <a:xfrm>
            <a:off x="4531410" y="3139270"/>
            <a:ext cx="13997" cy="44321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6100424" y="221175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132" name="文字方塊 131">
            <a:extLst>
              <a:ext uri="{FF2B5EF4-FFF2-40B4-BE49-F238E27FC236}">
                <a16:creationId xmlns:a16="http://schemas.microsoft.com/office/drawing/2014/main" id="{5CAE0AEE-A250-4D74-B248-E65177D152FA}"/>
              </a:ext>
            </a:extLst>
          </p:cNvPr>
          <p:cNvSpPr txBox="1"/>
          <p:nvPr/>
        </p:nvSpPr>
        <p:spPr>
          <a:xfrm>
            <a:off x="6250465" y="342509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037FE4C1-995D-4988-9849-2F731D600B9D}"/>
              </a:ext>
            </a:extLst>
          </p:cNvPr>
          <p:cNvSpPr txBox="1"/>
          <p:nvPr/>
        </p:nvSpPr>
        <p:spPr>
          <a:xfrm>
            <a:off x="8675805" y="805937"/>
            <a:ext cx="2600392" cy="461665"/>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Hash table : O(1)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61339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橢圓 27">
            <a:extLst>
              <a:ext uri="{FF2B5EF4-FFF2-40B4-BE49-F238E27FC236}">
                <a16:creationId xmlns:a16="http://schemas.microsoft.com/office/drawing/2014/main" id="{C5392AC8-835E-4AEF-B4B9-3A1CE5EC8C90}"/>
              </a:ext>
            </a:extLst>
          </p:cNvPr>
          <p:cNvSpPr/>
          <p:nvPr/>
        </p:nvSpPr>
        <p:spPr>
          <a:xfrm>
            <a:off x="2620483" y="3536023"/>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4704144" y="260475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4704144" y="175318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2620483" y="5577695"/>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extLst>
              <p:ext uri="{D42A27DB-BD31-4B8C-83A1-F6EECF244321}">
                <p14:modId xmlns:p14="http://schemas.microsoft.com/office/powerpoint/2010/main" val="2242584703"/>
              </p:ext>
            </p:extLst>
          </p:nvPr>
        </p:nvGraphicFramePr>
        <p:xfrm>
          <a:off x="6269968" y="5711314"/>
          <a:ext cx="5628805" cy="809211"/>
        </p:xfrm>
        <a:graphic>
          <a:graphicData uri="http://schemas.openxmlformats.org/drawingml/2006/table">
            <a:tbl>
              <a:tblPr firstRow="1" bandRow="1">
                <a:tableStyleId>{5940675A-B579-460E-94D1-54222C63F5DA}</a:tableStyleId>
              </a:tblPr>
              <a:tblGrid>
                <a:gridCol w="804115">
                  <a:extLst>
                    <a:ext uri="{9D8B030D-6E8A-4147-A177-3AD203B41FA5}">
                      <a16:colId xmlns:a16="http://schemas.microsoft.com/office/drawing/2014/main" val="21786586"/>
                    </a:ext>
                  </a:extLst>
                </a:gridCol>
                <a:gridCol w="804115">
                  <a:extLst>
                    <a:ext uri="{9D8B030D-6E8A-4147-A177-3AD203B41FA5}">
                      <a16:colId xmlns:a16="http://schemas.microsoft.com/office/drawing/2014/main" val="2750282425"/>
                    </a:ext>
                  </a:extLst>
                </a:gridCol>
                <a:gridCol w="804115">
                  <a:extLst>
                    <a:ext uri="{9D8B030D-6E8A-4147-A177-3AD203B41FA5}">
                      <a16:colId xmlns:a16="http://schemas.microsoft.com/office/drawing/2014/main" val="593668910"/>
                    </a:ext>
                  </a:extLst>
                </a:gridCol>
                <a:gridCol w="804115">
                  <a:extLst>
                    <a:ext uri="{9D8B030D-6E8A-4147-A177-3AD203B41FA5}">
                      <a16:colId xmlns:a16="http://schemas.microsoft.com/office/drawing/2014/main" val="1338126439"/>
                    </a:ext>
                  </a:extLst>
                </a:gridCol>
                <a:gridCol w="804115">
                  <a:extLst>
                    <a:ext uri="{9D8B030D-6E8A-4147-A177-3AD203B41FA5}">
                      <a16:colId xmlns:a16="http://schemas.microsoft.com/office/drawing/2014/main" val="2424760010"/>
                    </a:ext>
                  </a:extLst>
                </a:gridCol>
                <a:gridCol w="804115">
                  <a:extLst>
                    <a:ext uri="{9D8B030D-6E8A-4147-A177-3AD203B41FA5}">
                      <a16:colId xmlns:a16="http://schemas.microsoft.com/office/drawing/2014/main" val="3161565675"/>
                    </a:ext>
                  </a:extLst>
                </a:gridCol>
                <a:gridCol w="804115">
                  <a:extLst>
                    <a:ext uri="{9D8B030D-6E8A-4147-A177-3AD203B41FA5}">
                      <a16:colId xmlns:a16="http://schemas.microsoft.com/office/drawing/2014/main" val="3405450045"/>
                    </a:ext>
                  </a:extLst>
                </a:gridCol>
              </a:tblGrid>
              <a:tr h="809211">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(3,7)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(8,7)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(6,6)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5721265" y="5885086"/>
            <a:ext cx="42969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1914025798"/>
              </p:ext>
            </p:extLst>
          </p:nvPr>
        </p:nvGraphicFramePr>
        <p:xfrm>
          <a:off x="2711937" y="2490895"/>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4" name="橢圓 23">
            <a:extLst>
              <a:ext uri="{FF2B5EF4-FFF2-40B4-BE49-F238E27FC236}">
                <a16:creationId xmlns:a16="http://schemas.microsoft.com/office/drawing/2014/main" id="{DCC29369-01DD-4661-A316-D53204BF861B}"/>
              </a:ext>
            </a:extLst>
          </p:cNvPr>
          <p:cNvSpPr/>
          <p:nvPr/>
        </p:nvSpPr>
        <p:spPr>
          <a:xfrm>
            <a:off x="2620483" y="251518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2496727210"/>
              </p:ext>
            </p:extLst>
          </p:nvPr>
        </p:nvGraphicFramePr>
        <p:xfrm>
          <a:off x="2691401" y="3491523"/>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2312054220"/>
              </p:ext>
            </p:extLst>
          </p:nvPr>
        </p:nvGraphicFramePr>
        <p:xfrm>
          <a:off x="2716482" y="454059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32" name="橢圓 31">
            <a:extLst>
              <a:ext uri="{FF2B5EF4-FFF2-40B4-BE49-F238E27FC236}">
                <a16:creationId xmlns:a16="http://schemas.microsoft.com/office/drawing/2014/main" id="{036A965D-F650-401C-AD96-14F24C2BBC4D}"/>
              </a:ext>
            </a:extLst>
          </p:cNvPr>
          <p:cNvSpPr/>
          <p:nvPr/>
        </p:nvSpPr>
        <p:spPr>
          <a:xfrm>
            <a:off x="2620483" y="45568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24081916"/>
              </p:ext>
            </p:extLst>
          </p:nvPr>
        </p:nvGraphicFramePr>
        <p:xfrm>
          <a:off x="2722986" y="553680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1255255" y="2797739"/>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1368884" y="4282072"/>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格 10">
            <a:extLst>
              <a:ext uri="{FF2B5EF4-FFF2-40B4-BE49-F238E27FC236}">
                <a16:creationId xmlns:a16="http://schemas.microsoft.com/office/drawing/2014/main" id="{68EF8AB8-1C5F-4D3A-A1C1-B8DBE2B1F5C0}"/>
              </a:ext>
            </a:extLst>
          </p:cNvPr>
          <p:cNvGraphicFramePr>
            <a:graphicFrameLocks noGrp="1"/>
          </p:cNvGraphicFramePr>
          <p:nvPr>
            <p:extLst>
              <p:ext uri="{D42A27DB-BD31-4B8C-83A1-F6EECF244321}">
                <p14:modId xmlns:p14="http://schemas.microsoft.com/office/powerpoint/2010/main" val="1435678290"/>
              </p:ext>
            </p:extLst>
          </p:nvPr>
        </p:nvGraphicFramePr>
        <p:xfrm>
          <a:off x="3975631" y="608790"/>
          <a:ext cx="733444"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C</a:t>
                      </a:r>
                    </a:p>
                    <a:p>
                      <a:pPr algn="ctr"/>
                      <a:r>
                        <a:rPr lang="en-US" altLang="zh-TW" dirty="0">
                          <a:latin typeface="Times New Roman" panose="02020603050405020304" pitchFamily="18" charset="0"/>
                          <a:cs typeface="Times New Roman" panose="02020603050405020304" pitchFamily="18" charset="0"/>
                        </a:rPr>
                        <a:t>(5,4)</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55" name="文字方塊 54">
            <a:extLst>
              <a:ext uri="{FF2B5EF4-FFF2-40B4-BE49-F238E27FC236}">
                <a16:creationId xmlns:a16="http://schemas.microsoft.com/office/drawing/2014/main" id="{C071B2CC-0665-4BA8-88BA-9075D93AA131}"/>
              </a:ext>
            </a:extLst>
          </p:cNvPr>
          <p:cNvSpPr txBox="1"/>
          <p:nvPr/>
        </p:nvSpPr>
        <p:spPr>
          <a:xfrm>
            <a:off x="5043473" y="539720"/>
            <a:ext cx="2864115"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Successors : </a:t>
            </a:r>
          </a:p>
          <a:p>
            <a:r>
              <a:rPr lang="en-US" altLang="zh-TW" sz="2000" dirty="0">
                <a:latin typeface="Times New Roman" panose="02020603050405020304" pitchFamily="18" charset="0"/>
                <a:cs typeface="Times New Roman" panose="02020603050405020304" pitchFamily="18" charset="0"/>
              </a:rPr>
              <a:t>A(8, 7), G(6, 6) ,T(7, 5)</a:t>
            </a:r>
            <a:endParaRPr lang="zh-TW" altLang="en-US" sz="2000" dirty="0">
              <a:latin typeface="Times New Roman" panose="02020603050405020304" pitchFamily="18" charset="0"/>
              <a:cs typeface="Times New Roman" panose="02020603050405020304" pitchFamily="18" charset="0"/>
            </a:endParaRPr>
          </a:p>
        </p:txBody>
      </p:sp>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3572745441"/>
              </p:ext>
            </p:extLst>
          </p:nvPr>
        </p:nvGraphicFramePr>
        <p:xfrm>
          <a:off x="686087" y="3956358"/>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592977" y="3999520"/>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861947" y="45607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2521397" y="293082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2467602" y="500469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2507639" y="60231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2478646" y="394889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extLst>
              <p:ext uri="{D42A27DB-BD31-4B8C-83A1-F6EECF244321}">
                <p14:modId xmlns:p14="http://schemas.microsoft.com/office/powerpoint/2010/main" val="158369703"/>
              </p:ext>
            </p:extLst>
          </p:nvPr>
        </p:nvGraphicFramePr>
        <p:xfrm>
          <a:off x="4789821" y="170749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3896046308"/>
              </p:ext>
            </p:extLst>
          </p:nvPr>
        </p:nvGraphicFramePr>
        <p:xfrm>
          <a:off x="4774069" y="257308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p:cNvCxnSpPr>
          <p:nvPr/>
        </p:nvCxnSpPr>
        <p:spPr>
          <a:xfrm flipV="1">
            <a:off x="3343495" y="2022394"/>
            <a:ext cx="1362175" cy="63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a:off x="3396390" y="2797739"/>
            <a:ext cx="1307754" cy="89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手繪多邊形: 圖案 124">
            <a:extLst>
              <a:ext uri="{FF2B5EF4-FFF2-40B4-BE49-F238E27FC236}">
                <a16:creationId xmlns:a16="http://schemas.microsoft.com/office/drawing/2014/main" id="{D8B2CCE5-4B04-4F40-9175-B332E088CD3E}"/>
              </a:ext>
            </a:extLst>
          </p:cNvPr>
          <p:cNvSpPr/>
          <p:nvPr/>
        </p:nvSpPr>
        <p:spPr>
          <a:xfrm>
            <a:off x="3282761" y="2997149"/>
            <a:ext cx="447484" cy="2735580"/>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126" name="直線單箭頭接點 125">
            <a:extLst>
              <a:ext uri="{FF2B5EF4-FFF2-40B4-BE49-F238E27FC236}">
                <a16:creationId xmlns:a16="http://schemas.microsoft.com/office/drawing/2014/main" id="{A4F7A862-3CC0-4CD5-BD52-464240837711}"/>
              </a:ext>
            </a:extLst>
          </p:cNvPr>
          <p:cNvCxnSpPr>
            <a:cxnSpLocks/>
            <a:endCxn id="28" idx="0"/>
          </p:cNvCxnSpPr>
          <p:nvPr/>
        </p:nvCxnSpPr>
        <p:spPr>
          <a:xfrm>
            <a:off x="2994440" y="3092808"/>
            <a:ext cx="13997" cy="44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4563454" y="216529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132" name="文字方塊 131">
            <a:extLst>
              <a:ext uri="{FF2B5EF4-FFF2-40B4-BE49-F238E27FC236}">
                <a16:creationId xmlns:a16="http://schemas.microsoft.com/office/drawing/2014/main" id="{5CAE0AEE-A250-4D74-B248-E65177D152FA}"/>
              </a:ext>
            </a:extLst>
          </p:cNvPr>
          <p:cNvSpPr txBox="1"/>
          <p:nvPr/>
        </p:nvSpPr>
        <p:spPr>
          <a:xfrm>
            <a:off x="4545110" y="300598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3396390" y="3628402"/>
            <a:ext cx="1258401" cy="19017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4647989" y="4044601"/>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4654791" y="3345850"/>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extLst>
              <p:ext uri="{D42A27DB-BD31-4B8C-83A1-F6EECF244321}">
                <p14:modId xmlns:p14="http://schemas.microsoft.com/office/powerpoint/2010/main" val="2113442896"/>
              </p:ext>
            </p:extLst>
          </p:nvPr>
        </p:nvGraphicFramePr>
        <p:xfrm>
          <a:off x="4740468" y="3300161"/>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extLst>
              <p:ext uri="{D42A27DB-BD31-4B8C-83A1-F6EECF244321}">
                <p14:modId xmlns:p14="http://schemas.microsoft.com/office/powerpoint/2010/main" val="2399330720"/>
              </p:ext>
            </p:extLst>
          </p:nvPr>
        </p:nvGraphicFramePr>
        <p:xfrm>
          <a:off x="4724716" y="399965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4655519" y="4808928"/>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2549294027"/>
              </p:ext>
            </p:extLst>
          </p:nvPr>
        </p:nvGraphicFramePr>
        <p:xfrm>
          <a:off x="4732246" y="476397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3396390" y="3818575"/>
            <a:ext cx="1251599" cy="50857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endCxn id="13" idx="2"/>
          </p:cNvCxnSpPr>
          <p:nvPr/>
        </p:nvCxnSpPr>
        <p:spPr>
          <a:xfrm>
            <a:off x="3303288" y="4013469"/>
            <a:ext cx="1352231" cy="10780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4489103" y="514992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4464390" y="3651225"/>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4432164" y="436780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48916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橢圓 31">
            <a:extLst>
              <a:ext uri="{FF2B5EF4-FFF2-40B4-BE49-F238E27FC236}">
                <a16:creationId xmlns:a16="http://schemas.microsoft.com/office/drawing/2014/main" id="{036A965D-F650-401C-AD96-14F24C2BBC4D}"/>
              </a:ext>
            </a:extLst>
          </p:cNvPr>
          <p:cNvSpPr/>
          <p:nvPr/>
        </p:nvSpPr>
        <p:spPr>
          <a:xfrm>
            <a:off x="2620483" y="4556859"/>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2620483" y="3536023"/>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4783250" y="2146124"/>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4783250" y="12945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2620483" y="5577695"/>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extLst>
              <p:ext uri="{D42A27DB-BD31-4B8C-83A1-F6EECF244321}">
                <p14:modId xmlns:p14="http://schemas.microsoft.com/office/powerpoint/2010/main" val="1893286253"/>
              </p:ext>
            </p:extLst>
          </p:nvPr>
        </p:nvGraphicFramePr>
        <p:xfrm>
          <a:off x="6644702" y="5821688"/>
          <a:ext cx="5035112" cy="787796"/>
        </p:xfrm>
        <a:graphic>
          <a:graphicData uri="http://schemas.openxmlformats.org/drawingml/2006/table">
            <a:tbl>
              <a:tblPr firstRow="1" bandRow="1">
                <a:tableStyleId>{5940675A-B579-460E-94D1-54222C63F5DA}</a:tableStyleId>
              </a:tblPr>
              <a:tblGrid>
                <a:gridCol w="629389">
                  <a:extLst>
                    <a:ext uri="{9D8B030D-6E8A-4147-A177-3AD203B41FA5}">
                      <a16:colId xmlns:a16="http://schemas.microsoft.com/office/drawing/2014/main" val="2750282425"/>
                    </a:ext>
                  </a:extLst>
                </a:gridCol>
                <a:gridCol w="629389">
                  <a:extLst>
                    <a:ext uri="{9D8B030D-6E8A-4147-A177-3AD203B41FA5}">
                      <a16:colId xmlns:a16="http://schemas.microsoft.com/office/drawing/2014/main" val="593668910"/>
                    </a:ext>
                  </a:extLst>
                </a:gridCol>
                <a:gridCol w="629389">
                  <a:extLst>
                    <a:ext uri="{9D8B030D-6E8A-4147-A177-3AD203B41FA5}">
                      <a16:colId xmlns:a16="http://schemas.microsoft.com/office/drawing/2014/main" val="1338126439"/>
                    </a:ext>
                  </a:extLst>
                </a:gridCol>
                <a:gridCol w="629389">
                  <a:extLst>
                    <a:ext uri="{9D8B030D-6E8A-4147-A177-3AD203B41FA5}">
                      <a16:colId xmlns:a16="http://schemas.microsoft.com/office/drawing/2014/main" val="2424760010"/>
                    </a:ext>
                  </a:extLst>
                </a:gridCol>
                <a:gridCol w="629389">
                  <a:extLst>
                    <a:ext uri="{9D8B030D-6E8A-4147-A177-3AD203B41FA5}">
                      <a16:colId xmlns:a16="http://schemas.microsoft.com/office/drawing/2014/main" val="3161565675"/>
                    </a:ext>
                  </a:extLst>
                </a:gridCol>
                <a:gridCol w="629389">
                  <a:extLst>
                    <a:ext uri="{9D8B030D-6E8A-4147-A177-3AD203B41FA5}">
                      <a16:colId xmlns:a16="http://schemas.microsoft.com/office/drawing/2014/main" val="3405450045"/>
                    </a:ext>
                  </a:extLst>
                </a:gridCol>
                <a:gridCol w="629389">
                  <a:extLst>
                    <a:ext uri="{9D8B030D-6E8A-4147-A177-3AD203B41FA5}">
                      <a16:colId xmlns:a16="http://schemas.microsoft.com/office/drawing/2014/main" val="2937260713"/>
                    </a:ext>
                  </a:extLst>
                </a:gridCol>
                <a:gridCol w="629389">
                  <a:extLst>
                    <a:ext uri="{9D8B030D-6E8A-4147-A177-3AD203B41FA5}">
                      <a16:colId xmlns:a16="http://schemas.microsoft.com/office/drawing/2014/main" val="2679745760"/>
                    </a:ext>
                  </a:extLst>
                </a:gridCol>
              </a:tblGrid>
              <a:tr h="787796">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(3,7)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(8,7)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(6,6)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(4,6)</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6096000" y="5986263"/>
            <a:ext cx="37245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934807342"/>
              </p:ext>
            </p:extLst>
          </p:nvPr>
        </p:nvGraphicFramePr>
        <p:xfrm>
          <a:off x="2711937" y="2490895"/>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4" name="橢圓 23">
            <a:extLst>
              <a:ext uri="{FF2B5EF4-FFF2-40B4-BE49-F238E27FC236}">
                <a16:creationId xmlns:a16="http://schemas.microsoft.com/office/drawing/2014/main" id="{DCC29369-01DD-4661-A316-D53204BF861B}"/>
              </a:ext>
            </a:extLst>
          </p:cNvPr>
          <p:cNvSpPr/>
          <p:nvPr/>
        </p:nvSpPr>
        <p:spPr>
          <a:xfrm>
            <a:off x="2620483" y="251518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678270591"/>
              </p:ext>
            </p:extLst>
          </p:nvPr>
        </p:nvGraphicFramePr>
        <p:xfrm>
          <a:off x="2682337" y="3492563"/>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3244283433"/>
              </p:ext>
            </p:extLst>
          </p:nvPr>
        </p:nvGraphicFramePr>
        <p:xfrm>
          <a:off x="2705397" y="451555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1654970688"/>
              </p:ext>
            </p:extLst>
          </p:nvPr>
        </p:nvGraphicFramePr>
        <p:xfrm>
          <a:off x="2693810" y="5529369"/>
          <a:ext cx="620509" cy="579120"/>
        </p:xfrm>
        <a:graphic>
          <a:graphicData uri="http://schemas.openxmlformats.org/drawingml/2006/table">
            <a:tbl>
              <a:tblPr firstRow="1" bandRow="1">
                <a:tableStyleId>{5940675A-B579-460E-94D1-54222C63F5DA}</a:tableStyleId>
              </a:tblPr>
              <a:tblGrid>
                <a:gridCol w="620509">
                  <a:extLst>
                    <a:ext uri="{9D8B030D-6E8A-4147-A177-3AD203B41FA5}">
                      <a16:colId xmlns:a16="http://schemas.microsoft.com/office/drawing/2014/main" val="2029496448"/>
                    </a:ext>
                  </a:extLst>
                </a:gridCol>
              </a:tblGrid>
              <a:tr h="446512">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1255255" y="2797739"/>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1368884" y="4282072"/>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格 10">
            <a:extLst>
              <a:ext uri="{FF2B5EF4-FFF2-40B4-BE49-F238E27FC236}">
                <a16:creationId xmlns:a16="http://schemas.microsoft.com/office/drawing/2014/main" id="{68EF8AB8-1C5F-4D3A-A1C1-B8DBE2B1F5C0}"/>
              </a:ext>
            </a:extLst>
          </p:cNvPr>
          <p:cNvGraphicFramePr>
            <a:graphicFrameLocks noGrp="1"/>
          </p:cNvGraphicFramePr>
          <p:nvPr>
            <p:extLst>
              <p:ext uri="{D42A27DB-BD31-4B8C-83A1-F6EECF244321}">
                <p14:modId xmlns:p14="http://schemas.microsoft.com/office/powerpoint/2010/main" val="1974769729"/>
              </p:ext>
            </p:extLst>
          </p:nvPr>
        </p:nvGraphicFramePr>
        <p:xfrm>
          <a:off x="5751256" y="257511"/>
          <a:ext cx="733444"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3047167033"/>
              </p:ext>
            </p:extLst>
          </p:nvPr>
        </p:nvGraphicFramePr>
        <p:xfrm>
          <a:off x="686087" y="3956358"/>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592977" y="3999520"/>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861947" y="45607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2521397" y="293082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2467602" y="500469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2507639" y="60231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2478646" y="394889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extLst>
              <p:ext uri="{D42A27DB-BD31-4B8C-83A1-F6EECF244321}">
                <p14:modId xmlns:p14="http://schemas.microsoft.com/office/powerpoint/2010/main" val="3937022489"/>
              </p:ext>
            </p:extLst>
          </p:nvPr>
        </p:nvGraphicFramePr>
        <p:xfrm>
          <a:off x="4853175" y="12482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1700223098"/>
              </p:ext>
            </p:extLst>
          </p:nvPr>
        </p:nvGraphicFramePr>
        <p:xfrm>
          <a:off x="4853175" y="211445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a:endCxn id="81" idx="2"/>
          </p:cNvCxnSpPr>
          <p:nvPr/>
        </p:nvCxnSpPr>
        <p:spPr>
          <a:xfrm flipV="1">
            <a:off x="3343495" y="1577111"/>
            <a:ext cx="1439755" cy="108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flipV="1">
            <a:off x="3396390" y="2428676"/>
            <a:ext cx="1386860" cy="36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手繪多邊形: 圖案 124">
            <a:extLst>
              <a:ext uri="{FF2B5EF4-FFF2-40B4-BE49-F238E27FC236}">
                <a16:creationId xmlns:a16="http://schemas.microsoft.com/office/drawing/2014/main" id="{D8B2CCE5-4B04-4F40-9175-B332E088CD3E}"/>
              </a:ext>
            </a:extLst>
          </p:cNvPr>
          <p:cNvSpPr/>
          <p:nvPr/>
        </p:nvSpPr>
        <p:spPr>
          <a:xfrm>
            <a:off x="3282761" y="2997149"/>
            <a:ext cx="447484" cy="2735580"/>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126" name="直線單箭頭接點 125">
            <a:extLst>
              <a:ext uri="{FF2B5EF4-FFF2-40B4-BE49-F238E27FC236}">
                <a16:creationId xmlns:a16="http://schemas.microsoft.com/office/drawing/2014/main" id="{A4F7A862-3CC0-4CD5-BD52-464240837711}"/>
              </a:ext>
            </a:extLst>
          </p:cNvPr>
          <p:cNvCxnSpPr>
            <a:cxnSpLocks/>
            <a:endCxn id="28" idx="0"/>
          </p:cNvCxnSpPr>
          <p:nvPr/>
        </p:nvCxnSpPr>
        <p:spPr>
          <a:xfrm>
            <a:off x="2994440" y="3092808"/>
            <a:ext cx="13997" cy="44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4642560" y="170666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132" name="文字方塊 131">
            <a:extLst>
              <a:ext uri="{FF2B5EF4-FFF2-40B4-BE49-F238E27FC236}">
                <a16:creationId xmlns:a16="http://schemas.microsoft.com/office/drawing/2014/main" id="{5CAE0AEE-A250-4D74-B248-E65177D152FA}"/>
              </a:ext>
            </a:extLst>
          </p:cNvPr>
          <p:cNvSpPr txBox="1"/>
          <p:nvPr/>
        </p:nvSpPr>
        <p:spPr>
          <a:xfrm>
            <a:off x="4624216" y="254735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3396390" y="3169774"/>
            <a:ext cx="1337507" cy="64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4727095" y="3585973"/>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4733897" y="28872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extLst>
              <p:ext uri="{D42A27DB-BD31-4B8C-83A1-F6EECF244321}">
                <p14:modId xmlns:p14="http://schemas.microsoft.com/office/powerpoint/2010/main" val="3426916559"/>
              </p:ext>
            </p:extLst>
          </p:nvPr>
        </p:nvGraphicFramePr>
        <p:xfrm>
          <a:off x="4819574" y="284153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extLst>
              <p:ext uri="{D42A27DB-BD31-4B8C-83A1-F6EECF244321}">
                <p14:modId xmlns:p14="http://schemas.microsoft.com/office/powerpoint/2010/main" val="1144173640"/>
              </p:ext>
            </p:extLst>
          </p:nvPr>
        </p:nvGraphicFramePr>
        <p:xfrm>
          <a:off x="4803822" y="35410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4734625" y="429557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4159863216"/>
              </p:ext>
            </p:extLst>
          </p:nvPr>
        </p:nvGraphicFramePr>
        <p:xfrm>
          <a:off x="4811352" y="425063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3396390" y="3818575"/>
            <a:ext cx="1330705" cy="49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stCxn id="32" idx="6"/>
            <a:endCxn id="44" idx="2"/>
          </p:cNvCxnSpPr>
          <p:nvPr/>
        </p:nvCxnSpPr>
        <p:spPr>
          <a:xfrm>
            <a:off x="3396390" y="4839411"/>
            <a:ext cx="1330350" cy="5251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4568209" y="4636572"/>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4543496" y="319259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4511270" y="390918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9FED995B-C91A-4FA2-95B2-D6412091C97B}"/>
              </a:ext>
            </a:extLst>
          </p:cNvPr>
          <p:cNvSpPr txBox="1"/>
          <p:nvPr/>
        </p:nvSpPr>
        <p:spPr>
          <a:xfrm>
            <a:off x="6782877" y="189705"/>
            <a:ext cx="3726453"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Successors : </a:t>
            </a:r>
          </a:p>
          <a:p>
            <a:r>
              <a:rPr lang="en-US" altLang="zh-TW" sz="2000" dirty="0">
                <a:latin typeface="Times New Roman" panose="02020603050405020304" pitchFamily="18" charset="0"/>
                <a:cs typeface="Times New Roman" panose="02020603050405020304" pitchFamily="18" charset="0"/>
              </a:rPr>
              <a:t>A(2, 7), </a:t>
            </a:r>
            <a:r>
              <a:rPr lang="en-US" altLang="zh-TW" sz="2000" dirty="0">
                <a:solidFill>
                  <a:schemeClr val="accent2"/>
                </a:solidFill>
                <a:latin typeface="Times New Roman" panose="02020603050405020304" pitchFamily="18" charset="0"/>
                <a:cs typeface="Times New Roman" panose="02020603050405020304" pitchFamily="18" charset="0"/>
              </a:rPr>
              <a:t>C(5, 4)</a:t>
            </a:r>
            <a:r>
              <a:rPr lang="en-US" altLang="zh-TW" sz="2000" dirty="0">
                <a:latin typeface="Times New Roman" panose="02020603050405020304" pitchFamily="18" charset="0"/>
                <a:cs typeface="Times New Roman" panose="02020603050405020304" pitchFamily="18" charset="0"/>
              </a:rPr>
              <a:t>, G(4, 6), </a:t>
            </a:r>
            <a:r>
              <a:rPr lang="en-US" altLang="zh-TW" sz="2000" dirty="0">
                <a:solidFill>
                  <a:schemeClr val="accent2"/>
                </a:solidFill>
                <a:latin typeface="Times New Roman" panose="02020603050405020304" pitchFamily="18" charset="0"/>
                <a:cs typeface="Times New Roman" panose="02020603050405020304" pitchFamily="18" charset="0"/>
              </a:rPr>
              <a:t>T(7, 3)</a:t>
            </a:r>
            <a:endParaRPr lang="zh-TW" altLang="en-US" sz="2000" dirty="0">
              <a:solidFill>
                <a:schemeClr val="accent2"/>
              </a:solidFill>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CB203398-AB9C-4D95-9589-8E6327546D7E}"/>
              </a:ext>
            </a:extLst>
          </p:cNvPr>
          <p:cNvSpPr/>
          <p:nvPr/>
        </p:nvSpPr>
        <p:spPr>
          <a:xfrm>
            <a:off x="4726740" y="5082022"/>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5" name="表格 10">
            <a:extLst>
              <a:ext uri="{FF2B5EF4-FFF2-40B4-BE49-F238E27FC236}">
                <a16:creationId xmlns:a16="http://schemas.microsoft.com/office/drawing/2014/main" id="{0EDAA0E9-3575-4D02-B2F9-BE2A132C5EB1}"/>
              </a:ext>
            </a:extLst>
          </p:cNvPr>
          <p:cNvGraphicFramePr>
            <a:graphicFrameLocks noGrp="1"/>
          </p:cNvGraphicFramePr>
          <p:nvPr>
            <p:extLst>
              <p:ext uri="{D42A27DB-BD31-4B8C-83A1-F6EECF244321}">
                <p14:modId xmlns:p14="http://schemas.microsoft.com/office/powerpoint/2010/main" val="1878815931"/>
              </p:ext>
            </p:extLst>
          </p:nvPr>
        </p:nvGraphicFramePr>
        <p:xfrm>
          <a:off x="4803467" y="503707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48" name="橢圓 47">
            <a:extLst>
              <a:ext uri="{FF2B5EF4-FFF2-40B4-BE49-F238E27FC236}">
                <a16:creationId xmlns:a16="http://schemas.microsoft.com/office/drawing/2014/main" id="{5A6E4ACB-0700-4FDC-92DC-204101F25BED}"/>
              </a:ext>
            </a:extLst>
          </p:cNvPr>
          <p:cNvSpPr/>
          <p:nvPr/>
        </p:nvSpPr>
        <p:spPr>
          <a:xfrm>
            <a:off x="4734270" y="5791628"/>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9" name="表格 10">
            <a:extLst>
              <a:ext uri="{FF2B5EF4-FFF2-40B4-BE49-F238E27FC236}">
                <a16:creationId xmlns:a16="http://schemas.microsoft.com/office/drawing/2014/main" id="{3C64440F-BDA8-40DA-920B-D09AFB3DBB1A}"/>
              </a:ext>
            </a:extLst>
          </p:cNvPr>
          <p:cNvGraphicFramePr>
            <a:graphicFrameLocks noGrp="1"/>
          </p:cNvGraphicFramePr>
          <p:nvPr>
            <p:extLst>
              <p:ext uri="{D42A27DB-BD31-4B8C-83A1-F6EECF244321}">
                <p14:modId xmlns:p14="http://schemas.microsoft.com/office/powerpoint/2010/main" val="1272303188"/>
              </p:ext>
            </p:extLst>
          </p:nvPr>
        </p:nvGraphicFramePr>
        <p:xfrm>
          <a:off x="4810997" y="574667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78" name="直線單箭頭接點 77">
            <a:extLst>
              <a:ext uri="{FF2B5EF4-FFF2-40B4-BE49-F238E27FC236}">
                <a16:creationId xmlns:a16="http://schemas.microsoft.com/office/drawing/2014/main" id="{2CC92708-7BE4-48F3-A130-F29C581F19EF}"/>
              </a:ext>
            </a:extLst>
          </p:cNvPr>
          <p:cNvCxnSpPr>
            <a:cxnSpLocks/>
            <a:stCxn id="32" idx="5"/>
            <a:endCxn id="48" idx="2"/>
          </p:cNvCxnSpPr>
          <p:nvPr/>
        </p:nvCxnSpPr>
        <p:spPr>
          <a:xfrm>
            <a:off x="3282761" y="5039205"/>
            <a:ext cx="1451509" cy="103497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8" name="文字方塊 57">
            <a:extLst>
              <a:ext uri="{FF2B5EF4-FFF2-40B4-BE49-F238E27FC236}">
                <a16:creationId xmlns:a16="http://schemas.microsoft.com/office/drawing/2014/main" id="{A1F2A683-EFF0-4F3D-ACD7-1595CBFD0236}"/>
              </a:ext>
            </a:extLst>
          </p:cNvPr>
          <p:cNvSpPr txBox="1"/>
          <p:nvPr/>
        </p:nvSpPr>
        <p:spPr>
          <a:xfrm>
            <a:off x="4559034" y="5378775"/>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FF788C15-3F7E-446C-ABF2-71516201D750}"/>
              </a:ext>
            </a:extLst>
          </p:cNvPr>
          <p:cNvSpPr txBox="1"/>
          <p:nvPr/>
        </p:nvSpPr>
        <p:spPr>
          <a:xfrm>
            <a:off x="4583411" y="621558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87" name="直線單箭頭接點 86">
            <a:extLst>
              <a:ext uri="{FF2B5EF4-FFF2-40B4-BE49-F238E27FC236}">
                <a16:creationId xmlns:a16="http://schemas.microsoft.com/office/drawing/2014/main" id="{3014EC4D-43EA-4517-B55B-7017A0E736D6}"/>
              </a:ext>
            </a:extLst>
          </p:cNvPr>
          <p:cNvCxnSpPr>
            <a:cxnSpLocks/>
            <a:stCxn id="32" idx="0"/>
            <a:endCxn id="28" idx="4"/>
          </p:cNvCxnSpPr>
          <p:nvPr/>
        </p:nvCxnSpPr>
        <p:spPr>
          <a:xfrm flipV="1">
            <a:off x="3008437" y="4101126"/>
            <a:ext cx="0" cy="45573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2" name="直線單箭頭接點 91">
            <a:extLst>
              <a:ext uri="{FF2B5EF4-FFF2-40B4-BE49-F238E27FC236}">
                <a16:creationId xmlns:a16="http://schemas.microsoft.com/office/drawing/2014/main" id="{52C52A58-97F1-448A-9FC9-C1A3FFACAF1C}"/>
              </a:ext>
            </a:extLst>
          </p:cNvPr>
          <p:cNvCxnSpPr>
            <a:cxnSpLocks/>
            <a:stCxn id="32" idx="4"/>
            <a:endCxn id="36" idx="0"/>
          </p:cNvCxnSpPr>
          <p:nvPr/>
        </p:nvCxnSpPr>
        <p:spPr>
          <a:xfrm>
            <a:off x="3008437" y="5121962"/>
            <a:ext cx="0" cy="45573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2" name="直線單箭頭接點 121">
            <a:extLst>
              <a:ext uri="{FF2B5EF4-FFF2-40B4-BE49-F238E27FC236}">
                <a16:creationId xmlns:a16="http://schemas.microsoft.com/office/drawing/2014/main" id="{F5985E5A-9EF1-4098-9079-92C8182CB0F4}"/>
              </a:ext>
            </a:extLst>
          </p:cNvPr>
          <p:cNvCxnSpPr>
            <a:cxnSpLocks/>
            <a:stCxn id="28" idx="5"/>
            <a:endCxn id="13" idx="2"/>
          </p:cNvCxnSpPr>
          <p:nvPr/>
        </p:nvCxnSpPr>
        <p:spPr>
          <a:xfrm>
            <a:off x="3282761" y="4018369"/>
            <a:ext cx="1451864" cy="559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16898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橢圓 31">
            <a:extLst>
              <a:ext uri="{FF2B5EF4-FFF2-40B4-BE49-F238E27FC236}">
                <a16:creationId xmlns:a16="http://schemas.microsoft.com/office/drawing/2014/main" id="{036A965D-F650-401C-AD96-14F24C2BBC4D}"/>
              </a:ext>
            </a:extLst>
          </p:cNvPr>
          <p:cNvSpPr/>
          <p:nvPr/>
        </p:nvSpPr>
        <p:spPr>
          <a:xfrm>
            <a:off x="2620483" y="45568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2620483" y="3536023"/>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4783250" y="2146124"/>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4783250" y="12945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2620483" y="5577695"/>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extLst>
              <p:ext uri="{D42A27DB-BD31-4B8C-83A1-F6EECF244321}">
                <p14:modId xmlns:p14="http://schemas.microsoft.com/office/powerpoint/2010/main" val="2319412062"/>
              </p:ext>
            </p:extLst>
          </p:nvPr>
        </p:nvGraphicFramePr>
        <p:xfrm>
          <a:off x="7358744" y="5821688"/>
          <a:ext cx="4405723" cy="787796"/>
        </p:xfrm>
        <a:graphic>
          <a:graphicData uri="http://schemas.openxmlformats.org/drawingml/2006/table">
            <a:tbl>
              <a:tblPr firstRow="1" bandRow="1">
                <a:tableStyleId>{5940675A-B579-460E-94D1-54222C63F5DA}</a:tableStyleId>
              </a:tblPr>
              <a:tblGrid>
                <a:gridCol w="629389">
                  <a:extLst>
                    <a:ext uri="{9D8B030D-6E8A-4147-A177-3AD203B41FA5}">
                      <a16:colId xmlns:a16="http://schemas.microsoft.com/office/drawing/2014/main" val="593668910"/>
                    </a:ext>
                  </a:extLst>
                </a:gridCol>
                <a:gridCol w="629389">
                  <a:extLst>
                    <a:ext uri="{9D8B030D-6E8A-4147-A177-3AD203B41FA5}">
                      <a16:colId xmlns:a16="http://schemas.microsoft.com/office/drawing/2014/main" val="1338126439"/>
                    </a:ext>
                  </a:extLst>
                </a:gridCol>
                <a:gridCol w="629389">
                  <a:extLst>
                    <a:ext uri="{9D8B030D-6E8A-4147-A177-3AD203B41FA5}">
                      <a16:colId xmlns:a16="http://schemas.microsoft.com/office/drawing/2014/main" val="2424760010"/>
                    </a:ext>
                  </a:extLst>
                </a:gridCol>
                <a:gridCol w="629389">
                  <a:extLst>
                    <a:ext uri="{9D8B030D-6E8A-4147-A177-3AD203B41FA5}">
                      <a16:colId xmlns:a16="http://schemas.microsoft.com/office/drawing/2014/main" val="3161565675"/>
                    </a:ext>
                  </a:extLst>
                </a:gridCol>
                <a:gridCol w="629389">
                  <a:extLst>
                    <a:ext uri="{9D8B030D-6E8A-4147-A177-3AD203B41FA5}">
                      <a16:colId xmlns:a16="http://schemas.microsoft.com/office/drawing/2014/main" val="3405450045"/>
                    </a:ext>
                  </a:extLst>
                </a:gridCol>
                <a:gridCol w="629389">
                  <a:extLst>
                    <a:ext uri="{9D8B030D-6E8A-4147-A177-3AD203B41FA5}">
                      <a16:colId xmlns:a16="http://schemas.microsoft.com/office/drawing/2014/main" val="2937260713"/>
                    </a:ext>
                  </a:extLst>
                </a:gridCol>
                <a:gridCol w="629389">
                  <a:extLst>
                    <a:ext uri="{9D8B030D-6E8A-4147-A177-3AD203B41FA5}">
                      <a16:colId xmlns:a16="http://schemas.microsoft.com/office/drawing/2014/main" val="2679745760"/>
                    </a:ext>
                  </a:extLst>
                </a:gridCol>
              </a:tblGrid>
              <a:tr h="787796">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(3,7)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(8,7)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(6,6)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(4,6)</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6810042" y="5986263"/>
            <a:ext cx="37245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1222270206"/>
              </p:ext>
            </p:extLst>
          </p:nvPr>
        </p:nvGraphicFramePr>
        <p:xfrm>
          <a:off x="2711937" y="2490895"/>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4" name="橢圓 23">
            <a:extLst>
              <a:ext uri="{FF2B5EF4-FFF2-40B4-BE49-F238E27FC236}">
                <a16:creationId xmlns:a16="http://schemas.microsoft.com/office/drawing/2014/main" id="{DCC29369-01DD-4661-A316-D53204BF861B}"/>
              </a:ext>
            </a:extLst>
          </p:cNvPr>
          <p:cNvSpPr/>
          <p:nvPr/>
        </p:nvSpPr>
        <p:spPr>
          <a:xfrm>
            <a:off x="2620483" y="251518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3130683345"/>
              </p:ext>
            </p:extLst>
          </p:nvPr>
        </p:nvGraphicFramePr>
        <p:xfrm>
          <a:off x="2693810" y="3510953"/>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3416566347"/>
              </p:ext>
            </p:extLst>
          </p:nvPr>
        </p:nvGraphicFramePr>
        <p:xfrm>
          <a:off x="2705397" y="451555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4030304636"/>
              </p:ext>
            </p:extLst>
          </p:nvPr>
        </p:nvGraphicFramePr>
        <p:xfrm>
          <a:off x="2693810" y="5529369"/>
          <a:ext cx="620509" cy="579120"/>
        </p:xfrm>
        <a:graphic>
          <a:graphicData uri="http://schemas.openxmlformats.org/drawingml/2006/table">
            <a:tbl>
              <a:tblPr firstRow="1" bandRow="1">
                <a:tableStyleId>{5940675A-B579-460E-94D1-54222C63F5DA}</a:tableStyleId>
              </a:tblPr>
              <a:tblGrid>
                <a:gridCol w="620509">
                  <a:extLst>
                    <a:ext uri="{9D8B030D-6E8A-4147-A177-3AD203B41FA5}">
                      <a16:colId xmlns:a16="http://schemas.microsoft.com/office/drawing/2014/main" val="2029496448"/>
                    </a:ext>
                  </a:extLst>
                </a:gridCol>
              </a:tblGrid>
              <a:tr h="446512">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1255255" y="2797739"/>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1368884" y="4282072"/>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格 10">
            <a:extLst>
              <a:ext uri="{FF2B5EF4-FFF2-40B4-BE49-F238E27FC236}">
                <a16:creationId xmlns:a16="http://schemas.microsoft.com/office/drawing/2014/main" id="{68EF8AB8-1C5F-4D3A-A1C1-B8DBE2B1F5C0}"/>
              </a:ext>
            </a:extLst>
          </p:cNvPr>
          <p:cNvGraphicFramePr>
            <a:graphicFrameLocks noGrp="1"/>
          </p:cNvGraphicFramePr>
          <p:nvPr>
            <p:extLst>
              <p:ext uri="{D42A27DB-BD31-4B8C-83A1-F6EECF244321}">
                <p14:modId xmlns:p14="http://schemas.microsoft.com/office/powerpoint/2010/main" val="2968345023"/>
              </p:ext>
            </p:extLst>
          </p:nvPr>
        </p:nvGraphicFramePr>
        <p:xfrm>
          <a:off x="5934956" y="418079"/>
          <a:ext cx="733444"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(7,3)</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430859085"/>
              </p:ext>
            </p:extLst>
          </p:nvPr>
        </p:nvGraphicFramePr>
        <p:xfrm>
          <a:off x="686087" y="3956358"/>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592977" y="3999520"/>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861947" y="45607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2521397" y="293082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2467602" y="500469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2507639" y="60231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2478646" y="394889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extLst>
              <p:ext uri="{D42A27DB-BD31-4B8C-83A1-F6EECF244321}">
                <p14:modId xmlns:p14="http://schemas.microsoft.com/office/powerpoint/2010/main" val="2516082785"/>
              </p:ext>
            </p:extLst>
          </p:nvPr>
        </p:nvGraphicFramePr>
        <p:xfrm>
          <a:off x="4853175" y="12482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2519687548"/>
              </p:ext>
            </p:extLst>
          </p:nvPr>
        </p:nvGraphicFramePr>
        <p:xfrm>
          <a:off x="4853175" y="211445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a:endCxn id="81" idx="2"/>
          </p:cNvCxnSpPr>
          <p:nvPr/>
        </p:nvCxnSpPr>
        <p:spPr>
          <a:xfrm flipV="1">
            <a:off x="3343495" y="1577111"/>
            <a:ext cx="1439755" cy="108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flipV="1">
            <a:off x="3396390" y="2428676"/>
            <a:ext cx="1386860" cy="36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手繪多邊形: 圖案 124">
            <a:extLst>
              <a:ext uri="{FF2B5EF4-FFF2-40B4-BE49-F238E27FC236}">
                <a16:creationId xmlns:a16="http://schemas.microsoft.com/office/drawing/2014/main" id="{D8B2CCE5-4B04-4F40-9175-B332E088CD3E}"/>
              </a:ext>
            </a:extLst>
          </p:cNvPr>
          <p:cNvSpPr/>
          <p:nvPr/>
        </p:nvSpPr>
        <p:spPr>
          <a:xfrm>
            <a:off x="3309067" y="2997149"/>
            <a:ext cx="421178" cy="2725471"/>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126" name="直線單箭頭接點 125">
            <a:extLst>
              <a:ext uri="{FF2B5EF4-FFF2-40B4-BE49-F238E27FC236}">
                <a16:creationId xmlns:a16="http://schemas.microsoft.com/office/drawing/2014/main" id="{A4F7A862-3CC0-4CD5-BD52-464240837711}"/>
              </a:ext>
            </a:extLst>
          </p:cNvPr>
          <p:cNvCxnSpPr>
            <a:cxnSpLocks/>
            <a:endCxn id="28" idx="0"/>
          </p:cNvCxnSpPr>
          <p:nvPr/>
        </p:nvCxnSpPr>
        <p:spPr>
          <a:xfrm>
            <a:off x="2994440" y="3092808"/>
            <a:ext cx="13997" cy="44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4642560" y="170666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132" name="文字方塊 131">
            <a:extLst>
              <a:ext uri="{FF2B5EF4-FFF2-40B4-BE49-F238E27FC236}">
                <a16:creationId xmlns:a16="http://schemas.microsoft.com/office/drawing/2014/main" id="{5CAE0AEE-A250-4D74-B248-E65177D152FA}"/>
              </a:ext>
            </a:extLst>
          </p:cNvPr>
          <p:cNvSpPr txBox="1"/>
          <p:nvPr/>
        </p:nvSpPr>
        <p:spPr>
          <a:xfrm>
            <a:off x="4624216" y="254735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3396390" y="3169774"/>
            <a:ext cx="1337507" cy="64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4727095" y="3585973"/>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4733897" y="28872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extLst>
              <p:ext uri="{D42A27DB-BD31-4B8C-83A1-F6EECF244321}">
                <p14:modId xmlns:p14="http://schemas.microsoft.com/office/powerpoint/2010/main" val="1041700998"/>
              </p:ext>
            </p:extLst>
          </p:nvPr>
        </p:nvGraphicFramePr>
        <p:xfrm>
          <a:off x="4819574" y="284153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extLst>
              <p:ext uri="{D42A27DB-BD31-4B8C-83A1-F6EECF244321}">
                <p14:modId xmlns:p14="http://schemas.microsoft.com/office/powerpoint/2010/main" val="1145037569"/>
              </p:ext>
            </p:extLst>
          </p:nvPr>
        </p:nvGraphicFramePr>
        <p:xfrm>
          <a:off x="4803822" y="35410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4734625" y="4295579"/>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389856026"/>
              </p:ext>
            </p:extLst>
          </p:nvPr>
        </p:nvGraphicFramePr>
        <p:xfrm>
          <a:off x="4825861" y="425108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3396390" y="3818575"/>
            <a:ext cx="1330705" cy="49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stCxn id="32" idx="6"/>
            <a:endCxn id="44" idx="2"/>
          </p:cNvCxnSpPr>
          <p:nvPr/>
        </p:nvCxnSpPr>
        <p:spPr>
          <a:xfrm>
            <a:off x="3396390" y="4839411"/>
            <a:ext cx="1330350" cy="525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4576699" y="470930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4543496" y="319259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4511270" y="390918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9FED995B-C91A-4FA2-95B2-D6412091C97B}"/>
              </a:ext>
            </a:extLst>
          </p:cNvPr>
          <p:cNvSpPr txBox="1"/>
          <p:nvPr/>
        </p:nvSpPr>
        <p:spPr>
          <a:xfrm>
            <a:off x="6963407" y="350273"/>
            <a:ext cx="3726453"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Successors : </a:t>
            </a:r>
          </a:p>
          <a:p>
            <a:r>
              <a:rPr lang="en-US" altLang="zh-TW" sz="2000" dirty="0">
                <a:solidFill>
                  <a:schemeClr val="accent2"/>
                </a:solidFill>
                <a:latin typeface="Times New Roman" panose="02020603050405020304" pitchFamily="18" charset="0"/>
                <a:cs typeface="Times New Roman" panose="02020603050405020304" pitchFamily="18" charset="0"/>
              </a:rPr>
              <a:t>A(8, 7)</a:t>
            </a:r>
            <a:endParaRPr lang="zh-TW" altLang="en-US" sz="2000" dirty="0">
              <a:solidFill>
                <a:schemeClr val="accent2"/>
              </a:solidFill>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CB203398-AB9C-4D95-9589-8E6327546D7E}"/>
              </a:ext>
            </a:extLst>
          </p:cNvPr>
          <p:cNvSpPr/>
          <p:nvPr/>
        </p:nvSpPr>
        <p:spPr>
          <a:xfrm>
            <a:off x="4726740" y="50820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5" name="表格 10">
            <a:extLst>
              <a:ext uri="{FF2B5EF4-FFF2-40B4-BE49-F238E27FC236}">
                <a16:creationId xmlns:a16="http://schemas.microsoft.com/office/drawing/2014/main" id="{0EDAA0E9-3575-4D02-B2F9-BE2A132C5EB1}"/>
              </a:ext>
            </a:extLst>
          </p:cNvPr>
          <p:cNvGraphicFramePr>
            <a:graphicFrameLocks noGrp="1"/>
          </p:cNvGraphicFramePr>
          <p:nvPr>
            <p:extLst>
              <p:ext uri="{D42A27DB-BD31-4B8C-83A1-F6EECF244321}">
                <p14:modId xmlns:p14="http://schemas.microsoft.com/office/powerpoint/2010/main" val="1748335922"/>
              </p:ext>
            </p:extLst>
          </p:nvPr>
        </p:nvGraphicFramePr>
        <p:xfrm>
          <a:off x="4803467" y="503707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48" name="橢圓 47">
            <a:extLst>
              <a:ext uri="{FF2B5EF4-FFF2-40B4-BE49-F238E27FC236}">
                <a16:creationId xmlns:a16="http://schemas.microsoft.com/office/drawing/2014/main" id="{5A6E4ACB-0700-4FDC-92DC-204101F25BED}"/>
              </a:ext>
            </a:extLst>
          </p:cNvPr>
          <p:cNvSpPr/>
          <p:nvPr/>
        </p:nvSpPr>
        <p:spPr>
          <a:xfrm>
            <a:off x="4734270" y="5791628"/>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9" name="表格 10">
            <a:extLst>
              <a:ext uri="{FF2B5EF4-FFF2-40B4-BE49-F238E27FC236}">
                <a16:creationId xmlns:a16="http://schemas.microsoft.com/office/drawing/2014/main" id="{3C64440F-BDA8-40DA-920B-D09AFB3DBB1A}"/>
              </a:ext>
            </a:extLst>
          </p:cNvPr>
          <p:cNvGraphicFramePr>
            <a:graphicFrameLocks noGrp="1"/>
          </p:cNvGraphicFramePr>
          <p:nvPr>
            <p:extLst>
              <p:ext uri="{D42A27DB-BD31-4B8C-83A1-F6EECF244321}">
                <p14:modId xmlns:p14="http://schemas.microsoft.com/office/powerpoint/2010/main" val="974735544"/>
              </p:ext>
            </p:extLst>
          </p:nvPr>
        </p:nvGraphicFramePr>
        <p:xfrm>
          <a:off x="4810997" y="574667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78" name="直線單箭頭接點 77">
            <a:extLst>
              <a:ext uri="{FF2B5EF4-FFF2-40B4-BE49-F238E27FC236}">
                <a16:creationId xmlns:a16="http://schemas.microsoft.com/office/drawing/2014/main" id="{2CC92708-7BE4-48F3-A130-F29C581F19EF}"/>
              </a:ext>
            </a:extLst>
          </p:cNvPr>
          <p:cNvCxnSpPr>
            <a:cxnSpLocks/>
            <a:stCxn id="32" idx="5"/>
            <a:endCxn id="48" idx="2"/>
          </p:cNvCxnSpPr>
          <p:nvPr/>
        </p:nvCxnSpPr>
        <p:spPr>
          <a:xfrm>
            <a:off x="3282761" y="5039205"/>
            <a:ext cx="1451509" cy="103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A1F2A683-EFF0-4F3D-ACD7-1595CBFD0236}"/>
              </a:ext>
            </a:extLst>
          </p:cNvPr>
          <p:cNvSpPr txBox="1"/>
          <p:nvPr/>
        </p:nvSpPr>
        <p:spPr>
          <a:xfrm>
            <a:off x="4559034" y="5378775"/>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FF788C15-3F7E-446C-ABF2-71516201D750}"/>
              </a:ext>
            </a:extLst>
          </p:cNvPr>
          <p:cNvSpPr txBox="1"/>
          <p:nvPr/>
        </p:nvSpPr>
        <p:spPr>
          <a:xfrm>
            <a:off x="4583411" y="621558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87" name="直線單箭頭接點 86">
            <a:extLst>
              <a:ext uri="{FF2B5EF4-FFF2-40B4-BE49-F238E27FC236}">
                <a16:creationId xmlns:a16="http://schemas.microsoft.com/office/drawing/2014/main" id="{3014EC4D-43EA-4517-B55B-7017A0E736D6}"/>
              </a:ext>
            </a:extLst>
          </p:cNvPr>
          <p:cNvCxnSpPr>
            <a:cxnSpLocks/>
            <a:stCxn id="32" idx="0"/>
            <a:endCxn id="28" idx="4"/>
          </p:cNvCxnSpPr>
          <p:nvPr/>
        </p:nvCxnSpPr>
        <p:spPr>
          <a:xfrm flipV="1">
            <a:off x="3008437" y="4101126"/>
            <a:ext cx="0" cy="45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52C52A58-97F1-448A-9FC9-C1A3FFACAF1C}"/>
              </a:ext>
            </a:extLst>
          </p:cNvPr>
          <p:cNvCxnSpPr>
            <a:cxnSpLocks/>
            <a:stCxn id="32" idx="4"/>
            <a:endCxn id="36" idx="0"/>
          </p:cNvCxnSpPr>
          <p:nvPr/>
        </p:nvCxnSpPr>
        <p:spPr>
          <a:xfrm>
            <a:off x="3008437" y="5121962"/>
            <a:ext cx="0" cy="45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0BACBB1A-F68D-43BE-A49F-267AEC2340AA}"/>
              </a:ext>
            </a:extLst>
          </p:cNvPr>
          <p:cNvCxnSpPr>
            <a:cxnSpLocks/>
          </p:cNvCxnSpPr>
          <p:nvPr/>
        </p:nvCxnSpPr>
        <p:spPr>
          <a:xfrm>
            <a:off x="3282761" y="4018369"/>
            <a:ext cx="1451864" cy="559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1534B3EF-F39F-4B97-A1AC-38911027A0BC}"/>
              </a:ext>
            </a:extLst>
          </p:cNvPr>
          <p:cNvCxnSpPr>
            <a:cxnSpLocks/>
            <a:stCxn id="36" idx="6"/>
            <a:endCxn id="13" idx="3"/>
          </p:cNvCxnSpPr>
          <p:nvPr/>
        </p:nvCxnSpPr>
        <p:spPr>
          <a:xfrm flipV="1">
            <a:off x="3396390" y="4777925"/>
            <a:ext cx="1451864" cy="108232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0821104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橢圓 31">
            <a:extLst>
              <a:ext uri="{FF2B5EF4-FFF2-40B4-BE49-F238E27FC236}">
                <a16:creationId xmlns:a16="http://schemas.microsoft.com/office/drawing/2014/main" id="{036A965D-F650-401C-AD96-14F24C2BBC4D}"/>
              </a:ext>
            </a:extLst>
          </p:cNvPr>
          <p:cNvSpPr/>
          <p:nvPr/>
        </p:nvSpPr>
        <p:spPr>
          <a:xfrm>
            <a:off x="2620483" y="45568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2620483" y="3536023"/>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4783250" y="2146124"/>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4783250" y="1294559"/>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2620483" y="5577695"/>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extLst>
              <p:ext uri="{D42A27DB-BD31-4B8C-83A1-F6EECF244321}">
                <p14:modId xmlns:p14="http://schemas.microsoft.com/office/powerpoint/2010/main" val="3232593295"/>
              </p:ext>
            </p:extLst>
          </p:nvPr>
        </p:nvGraphicFramePr>
        <p:xfrm>
          <a:off x="7358744" y="5821688"/>
          <a:ext cx="4405723" cy="787796"/>
        </p:xfrm>
        <a:graphic>
          <a:graphicData uri="http://schemas.openxmlformats.org/drawingml/2006/table">
            <a:tbl>
              <a:tblPr firstRow="1" bandRow="1">
                <a:tableStyleId>{5940675A-B579-460E-94D1-54222C63F5DA}</a:tableStyleId>
              </a:tblPr>
              <a:tblGrid>
                <a:gridCol w="629389">
                  <a:extLst>
                    <a:ext uri="{9D8B030D-6E8A-4147-A177-3AD203B41FA5}">
                      <a16:colId xmlns:a16="http://schemas.microsoft.com/office/drawing/2014/main" val="593668910"/>
                    </a:ext>
                  </a:extLst>
                </a:gridCol>
                <a:gridCol w="629389">
                  <a:extLst>
                    <a:ext uri="{9D8B030D-6E8A-4147-A177-3AD203B41FA5}">
                      <a16:colId xmlns:a16="http://schemas.microsoft.com/office/drawing/2014/main" val="1338126439"/>
                    </a:ext>
                  </a:extLst>
                </a:gridCol>
                <a:gridCol w="629389">
                  <a:extLst>
                    <a:ext uri="{9D8B030D-6E8A-4147-A177-3AD203B41FA5}">
                      <a16:colId xmlns:a16="http://schemas.microsoft.com/office/drawing/2014/main" val="2424760010"/>
                    </a:ext>
                  </a:extLst>
                </a:gridCol>
                <a:gridCol w="629389">
                  <a:extLst>
                    <a:ext uri="{9D8B030D-6E8A-4147-A177-3AD203B41FA5}">
                      <a16:colId xmlns:a16="http://schemas.microsoft.com/office/drawing/2014/main" val="3161565675"/>
                    </a:ext>
                  </a:extLst>
                </a:gridCol>
                <a:gridCol w="629389">
                  <a:extLst>
                    <a:ext uri="{9D8B030D-6E8A-4147-A177-3AD203B41FA5}">
                      <a16:colId xmlns:a16="http://schemas.microsoft.com/office/drawing/2014/main" val="3405450045"/>
                    </a:ext>
                  </a:extLst>
                </a:gridCol>
                <a:gridCol w="629389">
                  <a:extLst>
                    <a:ext uri="{9D8B030D-6E8A-4147-A177-3AD203B41FA5}">
                      <a16:colId xmlns:a16="http://schemas.microsoft.com/office/drawing/2014/main" val="2937260713"/>
                    </a:ext>
                  </a:extLst>
                </a:gridCol>
                <a:gridCol w="629389">
                  <a:extLst>
                    <a:ext uri="{9D8B030D-6E8A-4147-A177-3AD203B41FA5}">
                      <a16:colId xmlns:a16="http://schemas.microsoft.com/office/drawing/2014/main" val="2679745760"/>
                    </a:ext>
                  </a:extLst>
                </a:gridCol>
              </a:tblGrid>
              <a:tr h="787796">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(8,7)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(6,6)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C</a:t>
                      </a:r>
                    </a:p>
                    <a:p>
                      <a:pPr algn="ctr"/>
                      <a:r>
                        <a:rPr lang="en-US" altLang="zh-TW" dirty="0">
                          <a:latin typeface="Times New Roman" panose="02020603050405020304" pitchFamily="18" charset="0"/>
                          <a:cs typeface="Times New Roman" panose="02020603050405020304" pitchFamily="18" charset="0"/>
                        </a:rPr>
                        <a:t>(5,8)</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6810042" y="5986263"/>
            <a:ext cx="37245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3084998657"/>
              </p:ext>
            </p:extLst>
          </p:nvPr>
        </p:nvGraphicFramePr>
        <p:xfrm>
          <a:off x="2711937" y="2490895"/>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4" name="橢圓 23">
            <a:extLst>
              <a:ext uri="{FF2B5EF4-FFF2-40B4-BE49-F238E27FC236}">
                <a16:creationId xmlns:a16="http://schemas.microsoft.com/office/drawing/2014/main" id="{DCC29369-01DD-4661-A316-D53204BF861B}"/>
              </a:ext>
            </a:extLst>
          </p:cNvPr>
          <p:cNvSpPr/>
          <p:nvPr/>
        </p:nvSpPr>
        <p:spPr>
          <a:xfrm>
            <a:off x="2620483" y="251518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2931941741"/>
              </p:ext>
            </p:extLst>
          </p:nvPr>
        </p:nvGraphicFramePr>
        <p:xfrm>
          <a:off x="2693810" y="3510953"/>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897949365"/>
              </p:ext>
            </p:extLst>
          </p:nvPr>
        </p:nvGraphicFramePr>
        <p:xfrm>
          <a:off x="2705397" y="451555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1768178326"/>
              </p:ext>
            </p:extLst>
          </p:nvPr>
        </p:nvGraphicFramePr>
        <p:xfrm>
          <a:off x="2693810" y="5529369"/>
          <a:ext cx="620509" cy="579120"/>
        </p:xfrm>
        <a:graphic>
          <a:graphicData uri="http://schemas.openxmlformats.org/drawingml/2006/table">
            <a:tbl>
              <a:tblPr firstRow="1" bandRow="1">
                <a:tableStyleId>{5940675A-B579-460E-94D1-54222C63F5DA}</a:tableStyleId>
              </a:tblPr>
              <a:tblGrid>
                <a:gridCol w="620509">
                  <a:extLst>
                    <a:ext uri="{9D8B030D-6E8A-4147-A177-3AD203B41FA5}">
                      <a16:colId xmlns:a16="http://schemas.microsoft.com/office/drawing/2014/main" val="2029496448"/>
                    </a:ext>
                  </a:extLst>
                </a:gridCol>
              </a:tblGrid>
              <a:tr h="446512">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1255255" y="2797739"/>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1368884" y="4282072"/>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格 10">
            <a:extLst>
              <a:ext uri="{FF2B5EF4-FFF2-40B4-BE49-F238E27FC236}">
                <a16:creationId xmlns:a16="http://schemas.microsoft.com/office/drawing/2014/main" id="{68EF8AB8-1C5F-4D3A-A1C1-B8DBE2B1F5C0}"/>
              </a:ext>
            </a:extLst>
          </p:cNvPr>
          <p:cNvGraphicFramePr>
            <a:graphicFrameLocks noGrp="1"/>
          </p:cNvGraphicFramePr>
          <p:nvPr>
            <p:extLst>
              <p:ext uri="{D42A27DB-BD31-4B8C-83A1-F6EECF244321}">
                <p14:modId xmlns:p14="http://schemas.microsoft.com/office/powerpoint/2010/main" val="1336172656"/>
              </p:ext>
            </p:extLst>
          </p:nvPr>
        </p:nvGraphicFramePr>
        <p:xfrm>
          <a:off x="5934956" y="418079"/>
          <a:ext cx="733444"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(3,7)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855342483"/>
              </p:ext>
            </p:extLst>
          </p:nvPr>
        </p:nvGraphicFramePr>
        <p:xfrm>
          <a:off x="686087" y="3956358"/>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592977" y="3999520"/>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861947" y="45607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2521397" y="293082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2467602" y="500469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2507639" y="60231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2478646" y="394889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nvGraphicFramePr>
        <p:xfrm>
          <a:off x="4853175" y="12482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938161515"/>
              </p:ext>
            </p:extLst>
          </p:nvPr>
        </p:nvGraphicFramePr>
        <p:xfrm>
          <a:off x="4853175" y="211445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a:endCxn id="81" idx="2"/>
          </p:cNvCxnSpPr>
          <p:nvPr/>
        </p:nvCxnSpPr>
        <p:spPr>
          <a:xfrm flipV="1">
            <a:off x="3343495" y="1577111"/>
            <a:ext cx="1439755" cy="108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flipV="1">
            <a:off x="3396390" y="2428676"/>
            <a:ext cx="1386860" cy="36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手繪多邊形: 圖案 124">
            <a:extLst>
              <a:ext uri="{FF2B5EF4-FFF2-40B4-BE49-F238E27FC236}">
                <a16:creationId xmlns:a16="http://schemas.microsoft.com/office/drawing/2014/main" id="{D8B2CCE5-4B04-4F40-9175-B332E088CD3E}"/>
              </a:ext>
            </a:extLst>
          </p:cNvPr>
          <p:cNvSpPr/>
          <p:nvPr/>
        </p:nvSpPr>
        <p:spPr>
          <a:xfrm>
            <a:off x="3309067" y="2997149"/>
            <a:ext cx="421178" cy="2725471"/>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126" name="直線單箭頭接點 125">
            <a:extLst>
              <a:ext uri="{FF2B5EF4-FFF2-40B4-BE49-F238E27FC236}">
                <a16:creationId xmlns:a16="http://schemas.microsoft.com/office/drawing/2014/main" id="{A4F7A862-3CC0-4CD5-BD52-464240837711}"/>
              </a:ext>
            </a:extLst>
          </p:cNvPr>
          <p:cNvCxnSpPr>
            <a:cxnSpLocks/>
            <a:endCxn id="28" idx="0"/>
          </p:cNvCxnSpPr>
          <p:nvPr/>
        </p:nvCxnSpPr>
        <p:spPr>
          <a:xfrm>
            <a:off x="2994440" y="3092808"/>
            <a:ext cx="13997" cy="44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4642560" y="170666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132" name="文字方塊 131">
            <a:extLst>
              <a:ext uri="{FF2B5EF4-FFF2-40B4-BE49-F238E27FC236}">
                <a16:creationId xmlns:a16="http://schemas.microsoft.com/office/drawing/2014/main" id="{5CAE0AEE-A250-4D74-B248-E65177D152FA}"/>
              </a:ext>
            </a:extLst>
          </p:cNvPr>
          <p:cNvSpPr txBox="1"/>
          <p:nvPr/>
        </p:nvSpPr>
        <p:spPr>
          <a:xfrm>
            <a:off x="4624216" y="254735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3396390" y="3169774"/>
            <a:ext cx="1337507" cy="64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4727095" y="3585973"/>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4733897" y="28872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extLst>
              <p:ext uri="{D42A27DB-BD31-4B8C-83A1-F6EECF244321}">
                <p14:modId xmlns:p14="http://schemas.microsoft.com/office/powerpoint/2010/main" val="157624470"/>
              </p:ext>
            </p:extLst>
          </p:nvPr>
        </p:nvGraphicFramePr>
        <p:xfrm>
          <a:off x="4819574" y="284153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extLst>
              <p:ext uri="{D42A27DB-BD31-4B8C-83A1-F6EECF244321}">
                <p14:modId xmlns:p14="http://schemas.microsoft.com/office/powerpoint/2010/main" val="3091747711"/>
              </p:ext>
            </p:extLst>
          </p:nvPr>
        </p:nvGraphicFramePr>
        <p:xfrm>
          <a:off x="4803822" y="35410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4734625" y="429557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2460141304"/>
              </p:ext>
            </p:extLst>
          </p:nvPr>
        </p:nvGraphicFramePr>
        <p:xfrm>
          <a:off x="4825861" y="425108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3396390" y="3818575"/>
            <a:ext cx="1330705" cy="49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stCxn id="32" idx="6"/>
            <a:endCxn id="44" idx="2"/>
          </p:cNvCxnSpPr>
          <p:nvPr/>
        </p:nvCxnSpPr>
        <p:spPr>
          <a:xfrm>
            <a:off x="3396390" y="4839411"/>
            <a:ext cx="1330350" cy="525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4576699" y="470930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4543496" y="319259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4511270" y="390918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9FED995B-C91A-4FA2-95B2-D6412091C97B}"/>
              </a:ext>
            </a:extLst>
          </p:cNvPr>
          <p:cNvSpPr txBox="1"/>
          <p:nvPr/>
        </p:nvSpPr>
        <p:spPr>
          <a:xfrm>
            <a:off x="6963407" y="350273"/>
            <a:ext cx="3726453"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Successors : </a:t>
            </a:r>
          </a:p>
          <a:p>
            <a:r>
              <a:rPr lang="en-US" altLang="zh-TW" sz="2000" dirty="0">
                <a:latin typeface="Times New Roman" panose="02020603050405020304" pitchFamily="18" charset="0"/>
                <a:cs typeface="Times New Roman" panose="02020603050405020304" pitchFamily="18" charset="0"/>
              </a:rPr>
              <a:t>C(5,8)</a:t>
            </a:r>
            <a:endParaRPr lang="zh-TW" altLang="en-US" sz="2000" dirty="0">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CB203398-AB9C-4D95-9589-8E6327546D7E}"/>
              </a:ext>
            </a:extLst>
          </p:cNvPr>
          <p:cNvSpPr/>
          <p:nvPr/>
        </p:nvSpPr>
        <p:spPr>
          <a:xfrm>
            <a:off x="4726740" y="50820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5" name="表格 10">
            <a:extLst>
              <a:ext uri="{FF2B5EF4-FFF2-40B4-BE49-F238E27FC236}">
                <a16:creationId xmlns:a16="http://schemas.microsoft.com/office/drawing/2014/main" id="{0EDAA0E9-3575-4D02-B2F9-BE2A132C5EB1}"/>
              </a:ext>
            </a:extLst>
          </p:cNvPr>
          <p:cNvGraphicFramePr>
            <a:graphicFrameLocks noGrp="1"/>
          </p:cNvGraphicFramePr>
          <p:nvPr>
            <p:extLst>
              <p:ext uri="{D42A27DB-BD31-4B8C-83A1-F6EECF244321}">
                <p14:modId xmlns:p14="http://schemas.microsoft.com/office/powerpoint/2010/main" val="245675558"/>
              </p:ext>
            </p:extLst>
          </p:nvPr>
        </p:nvGraphicFramePr>
        <p:xfrm>
          <a:off x="4803467" y="503707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48" name="橢圓 47">
            <a:extLst>
              <a:ext uri="{FF2B5EF4-FFF2-40B4-BE49-F238E27FC236}">
                <a16:creationId xmlns:a16="http://schemas.microsoft.com/office/drawing/2014/main" id="{5A6E4ACB-0700-4FDC-92DC-204101F25BED}"/>
              </a:ext>
            </a:extLst>
          </p:cNvPr>
          <p:cNvSpPr/>
          <p:nvPr/>
        </p:nvSpPr>
        <p:spPr>
          <a:xfrm>
            <a:off x="4734270" y="5791628"/>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9" name="表格 10">
            <a:extLst>
              <a:ext uri="{FF2B5EF4-FFF2-40B4-BE49-F238E27FC236}">
                <a16:creationId xmlns:a16="http://schemas.microsoft.com/office/drawing/2014/main" id="{3C64440F-BDA8-40DA-920B-D09AFB3DBB1A}"/>
              </a:ext>
            </a:extLst>
          </p:cNvPr>
          <p:cNvGraphicFramePr>
            <a:graphicFrameLocks noGrp="1"/>
          </p:cNvGraphicFramePr>
          <p:nvPr>
            <p:extLst>
              <p:ext uri="{D42A27DB-BD31-4B8C-83A1-F6EECF244321}">
                <p14:modId xmlns:p14="http://schemas.microsoft.com/office/powerpoint/2010/main" val="1257712018"/>
              </p:ext>
            </p:extLst>
          </p:nvPr>
        </p:nvGraphicFramePr>
        <p:xfrm>
          <a:off x="4810997" y="574667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78" name="直線單箭頭接點 77">
            <a:extLst>
              <a:ext uri="{FF2B5EF4-FFF2-40B4-BE49-F238E27FC236}">
                <a16:creationId xmlns:a16="http://schemas.microsoft.com/office/drawing/2014/main" id="{2CC92708-7BE4-48F3-A130-F29C581F19EF}"/>
              </a:ext>
            </a:extLst>
          </p:cNvPr>
          <p:cNvCxnSpPr>
            <a:cxnSpLocks/>
            <a:stCxn id="32" idx="5"/>
            <a:endCxn id="48" idx="2"/>
          </p:cNvCxnSpPr>
          <p:nvPr/>
        </p:nvCxnSpPr>
        <p:spPr>
          <a:xfrm>
            <a:off x="3282761" y="5039205"/>
            <a:ext cx="1451509" cy="103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A1F2A683-EFF0-4F3D-ACD7-1595CBFD0236}"/>
              </a:ext>
            </a:extLst>
          </p:cNvPr>
          <p:cNvSpPr txBox="1"/>
          <p:nvPr/>
        </p:nvSpPr>
        <p:spPr>
          <a:xfrm>
            <a:off x="4559034" y="5378775"/>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FF788C15-3F7E-446C-ABF2-71516201D750}"/>
              </a:ext>
            </a:extLst>
          </p:cNvPr>
          <p:cNvSpPr txBox="1"/>
          <p:nvPr/>
        </p:nvSpPr>
        <p:spPr>
          <a:xfrm>
            <a:off x="4583411" y="621558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87" name="直線單箭頭接點 86">
            <a:extLst>
              <a:ext uri="{FF2B5EF4-FFF2-40B4-BE49-F238E27FC236}">
                <a16:creationId xmlns:a16="http://schemas.microsoft.com/office/drawing/2014/main" id="{3014EC4D-43EA-4517-B55B-7017A0E736D6}"/>
              </a:ext>
            </a:extLst>
          </p:cNvPr>
          <p:cNvCxnSpPr>
            <a:cxnSpLocks/>
            <a:stCxn id="32" idx="0"/>
            <a:endCxn id="28" idx="4"/>
          </p:cNvCxnSpPr>
          <p:nvPr/>
        </p:nvCxnSpPr>
        <p:spPr>
          <a:xfrm flipV="1">
            <a:off x="3008437" y="4101126"/>
            <a:ext cx="0" cy="45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52C52A58-97F1-448A-9FC9-C1A3FFACAF1C}"/>
              </a:ext>
            </a:extLst>
          </p:cNvPr>
          <p:cNvCxnSpPr>
            <a:cxnSpLocks/>
            <a:stCxn id="32" idx="4"/>
            <a:endCxn id="36" idx="0"/>
          </p:cNvCxnSpPr>
          <p:nvPr/>
        </p:nvCxnSpPr>
        <p:spPr>
          <a:xfrm>
            <a:off x="3008437" y="5121962"/>
            <a:ext cx="0" cy="45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0BACBB1A-F68D-43BE-A49F-267AEC2340AA}"/>
              </a:ext>
            </a:extLst>
          </p:cNvPr>
          <p:cNvCxnSpPr>
            <a:cxnSpLocks/>
          </p:cNvCxnSpPr>
          <p:nvPr/>
        </p:nvCxnSpPr>
        <p:spPr>
          <a:xfrm>
            <a:off x="3282761" y="4018369"/>
            <a:ext cx="1451864" cy="559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1534B3EF-F39F-4B97-A1AC-38911027A0BC}"/>
              </a:ext>
            </a:extLst>
          </p:cNvPr>
          <p:cNvCxnSpPr>
            <a:cxnSpLocks/>
            <a:stCxn id="36" idx="6"/>
            <a:endCxn id="13" idx="3"/>
          </p:cNvCxnSpPr>
          <p:nvPr/>
        </p:nvCxnSpPr>
        <p:spPr>
          <a:xfrm flipV="1">
            <a:off x="3396390" y="4777925"/>
            <a:ext cx="1451864" cy="1082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橢圓 2">
            <a:extLst>
              <a:ext uri="{FF2B5EF4-FFF2-40B4-BE49-F238E27FC236}">
                <a16:creationId xmlns:a16="http://schemas.microsoft.com/office/drawing/2014/main" id="{44FA5299-7056-463B-B6B0-18C740328BB6}"/>
              </a:ext>
            </a:extLst>
          </p:cNvPr>
          <p:cNvSpPr/>
          <p:nvPr/>
        </p:nvSpPr>
        <p:spPr>
          <a:xfrm>
            <a:off x="6430449" y="1318690"/>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10">
            <a:extLst>
              <a:ext uri="{FF2B5EF4-FFF2-40B4-BE49-F238E27FC236}">
                <a16:creationId xmlns:a16="http://schemas.microsoft.com/office/drawing/2014/main" id="{1E1EB256-55D1-41C5-83FA-3A01B9BE8E91}"/>
              </a:ext>
            </a:extLst>
          </p:cNvPr>
          <p:cNvGraphicFramePr>
            <a:graphicFrameLocks noGrp="1"/>
          </p:cNvGraphicFramePr>
          <p:nvPr>
            <p:extLst>
              <p:ext uri="{D42A27DB-BD31-4B8C-83A1-F6EECF244321}">
                <p14:modId xmlns:p14="http://schemas.microsoft.com/office/powerpoint/2010/main" val="2248800858"/>
              </p:ext>
            </p:extLst>
          </p:nvPr>
        </p:nvGraphicFramePr>
        <p:xfrm>
          <a:off x="6492013" y="125833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(5,8)</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2" name="直線單箭頭接點 61">
            <a:extLst>
              <a:ext uri="{FF2B5EF4-FFF2-40B4-BE49-F238E27FC236}">
                <a16:creationId xmlns:a16="http://schemas.microsoft.com/office/drawing/2014/main" id="{187F08D3-693D-4831-8324-81F44B25F722}"/>
              </a:ext>
            </a:extLst>
          </p:cNvPr>
          <p:cNvCxnSpPr>
            <a:cxnSpLocks/>
            <a:stCxn id="81" idx="6"/>
            <a:endCxn id="3" idx="2"/>
          </p:cNvCxnSpPr>
          <p:nvPr/>
        </p:nvCxnSpPr>
        <p:spPr>
          <a:xfrm>
            <a:off x="5559157" y="1577111"/>
            <a:ext cx="871292" cy="2413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1" name="文字方塊 20">
            <a:extLst>
              <a:ext uri="{FF2B5EF4-FFF2-40B4-BE49-F238E27FC236}">
                <a16:creationId xmlns:a16="http://schemas.microsoft.com/office/drawing/2014/main" id="{1BD6DAA6-A0BB-479B-8F1D-7D089016D64D}"/>
              </a:ext>
            </a:extLst>
          </p:cNvPr>
          <p:cNvSpPr txBox="1"/>
          <p:nvPr/>
        </p:nvSpPr>
        <p:spPr>
          <a:xfrm>
            <a:off x="6201132" y="164267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6278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橢圓 31">
            <a:extLst>
              <a:ext uri="{FF2B5EF4-FFF2-40B4-BE49-F238E27FC236}">
                <a16:creationId xmlns:a16="http://schemas.microsoft.com/office/drawing/2014/main" id="{036A965D-F650-401C-AD96-14F24C2BBC4D}"/>
              </a:ext>
            </a:extLst>
          </p:cNvPr>
          <p:cNvSpPr/>
          <p:nvPr/>
        </p:nvSpPr>
        <p:spPr>
          <a:xfrm>
            <a:off x="2620483" y="45568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2620483" y="3536023"/>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4783250" y="2146124"/>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4783250" y="1294559"/>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2620483" y="5577695"/>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G</a:t>
            </a:r>
            <a:r>
              <a:rPr lang="en-US" altLang="zh-TW" sz="2400" dirty="0">
                <a:latin typeface="Times New Roman" panose="02020603050405020304" pitchFamily="18" charset="0"/>
                <a:cs typeface="Times New Roman" panose="02020603050405020304" pitchFamily="18" charset="0"/>
              </a:rPr>
              <a:t> C G T A </a:t>
            </a:r>
          </a:p>
          <a:p>
            <a:r>
              <a:rPr lang="en-US" altLang="zh-TW" sz="2400" dirty="0">
                <a:latin typeface="Times New Roman" panose="02020603050405020304" pitchFamily="18" charset="0"/>
                <a:cs typeface="Times New Roman" panose="02020603050405020304" pitchFamily="18" charset="0"/>
              </a:rPr>
              <a:t>B = A </a:t>
            </a:r>
            <a:r>
              <a:rPr lang="en-US" altLang="zh-TW" sz="2400" dirty="0">
                <a:solidFill>
                  <a:srgbClr val="FF0000"/>
                </a:solidFill>
                <a:latin typeface="Times New Roman" panose="02020603050405020304" pitchFamily="18" charset="0"/>
                <a:cs typeface="Times New Roman" panose="02020603050405020304" pitchFamily="18" charset="0"/>
              </a:rPr>
              <a:t>G</a:t>
            </a:r>
            <a:r>
              <a:rPr lang="en-US" altLang="zh-TW" sz="2400" dirty="0">
                <a:latin typeface="Times New Roman" panose="02020603050405020304" pitchFamily="18" charset="0"/>
                <a:cs typeface="Times New Roman" panose="02020603050405020304" pitchFamily="18" charset="0"/>
              </a:rPr>
              <a:t>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16" name="表格 10">
            <a:extLst>
              <a:ext uri="{FF2B5EF4-FFF2-40B4-BE49-F238E27FC236}">
                <a16:creationId xmlns:a16="http://schemas.microsoft.com/office/drawing/2014/main" id="{31D3C09A-A610-41BE-8188-E00D3D521CDD}"/>
              </a:ext>
            </a:extLst>
          </p:cNvPr>
          <p:cNvGraphicFramePr>
            <a:graphicFrameLocks noGrp="1"/>
          </p:cNvGraphicFramePr>
          <p:nvPr>
            <p:extLst>
              <p:ext uri="{D42A27DB-BD31-4B8C-83A1-F6EECF244321}">
                <p14:modId xmlns:p14="http://schemas.microsoft.com/office/powerpoint/2010/main" val="3314885756"/>
              </p:ext>
            </p:extLst>
          </p:nvPr>
        </p:nvGraphicFramePr>
        <p:xfrm>
          <a:off x="7358744" y="5821688"/>
          <a:ext cx="3776334" cy="787796"/>
        </p:xfrm>
        <a:graphic>
          <a:graphicData uri="http://schemas.openxmlformats.org/drawingml/2006/table">
            <a:tbl>
              <a:tblPr firstRow="1" bandRow="1">
                <a:tableStyleId>{5940675A-B579-460E-94D1-54222C63F5DA}</a:tableStyleId>
              </a:tblPr>
              <a:tblGrid>
                <a:gridCol w="629389">
                  <a:extLst>
                    <a:ext uri="{9D8B030D-6E8A-4147-A177-3AD203B41FA5}">
                      <a16:colId xmlns:a16="http://schemas.microsoft.com/office/drawing/2014/main" val="1338126439"/>
                    </a:ext>
                  </a:extLst>
                </a:gridCol>
                <a:gridCol w="629389">
                  <a:extLst>
                    <a:ext uri="{9D8B030D-6E8A-4147-A177-3AD203B41FA5}">
                      <a16:colId xmlns:a16="http://schemas.microsoft.com/office/drawing/2014/main" val="2424760010"/>
                    </a:ext>
                  </a:extLst>
                </a:gridCol>
                <a:gridCol w="629389">
                  <a:extLst>
                    <a:ext uri="{9D8B030D-6E8A-4147-A177-3AD203B41FA5}">
                      <a16:colId xmlns:a16="http://schemas.microsoft.com/office/drawing/2014/main" val="3161565675"/>
                    </a:ext>
                  </a:extLst>
                </a:gridCol>
                <a:gridCol w="629389">
                  <a:extLst>
                    <a:ext uri="{9D8B030D-6E8A-4147-A177-3AD203B41FA5}">
                      <a16:colId xmlns:a16="http://schemas.microsoft.com/office/drawing/2014/main" val="3405450045"/>
                    </a:ext>
                  </a:extLst>
                </a:gridCol>
                <a:gridCol w="629389">
                  <a:extLst>
                    <a:ext uri="{9D8B030D-6E8A-4147-A177-3AD203B41FA5}">
                      <a16:colId xmlns:a16="http://schemas.microsoft.com/office/drawing/2014/main" val="2937260713"/>
                    </a:ext>
                  </a:extLst>
                </a:gridCol>
                <a:gridCol w="629389">
                  <a:extLst>
                    <a:ext uri="{9D8B030D-6E8A-4147-A177-3AD203B41FA5}">
                      <a16:colId xmlns:a16="http://schemas.microsoft.com/office/drawing/2014/main" val="2679745760"/>
                    </a:ext>
                  </a:extLst>
                </a:gridCol>
              </a:tblGrid>
              <a:tr h="787796">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(8,7)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(6,6)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T</a:t>
                      </a:r>
                    </a:p>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
                      </a:r>
                    </a:p>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C</a:t>
                      </a:r>
                    </a:p>
                    <a:p>
                      <a:pPr algn="ctr"/>
                      <a:r>
                        <a:rPr lang="en-US" altLang="zh-TW" dirty="0">
                          <a:latin typeface="Times New Roman" panose="02020603050405020304" pitchFamily="18" charset="0"/>
                          <a:cs typeface="Times New Roman" panose="02020603050405020304" pitchFamily="18" charset="0"/>
                        </a:rPr>
                        <a:t>(5,8)</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sp>
        <p:nvSpPr>
          <p:cNvPr id="18" name="文字方塊 17">
            <a:extLst>
              <a:ext uri="{FF2B5EF4-FFF2-40B4-BE49-F238E27FC236}">
                <a16:creationId xmlns:a16="http://schemas.microsoft.com/office/drawing/2014/main" id="{CE32232F-AA5D-4E59-BD85-5B8CD5E5F3EA}"/>
              </a:ext>
            </a:extLst>
          </p:cNvPr>
          <p:cNvSpPr txBox="1"/>
          <p:nvPr/>
        </p:nvSpPr>
        <p:spPr>
          <a:xfrm>
            <a:off x="6810042" y="5986263"/>
            <a:ext cx="37245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nvGraphicFramePr>
        <p:xfrm>
          <a:off x="2711937" y="2490895"/>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4" name="橢圓 23">
            <a:extLst>
              <a:ext uri="{FF2B5EF4-FFF2-40B4-BE49-F238E27FC236}">
                <a16:creationId xmlns:a16="http://schemas.microsoft.com/office/drawing/2014/main" id="{DCC29369-01DD-4661-A316-D53204BF861B}"/>
              </a:ext>
            </a:extLst>
          </p:cNvPr>
          <p:cNvSpPr/>
          <p:nvPr/>
        </p:nvSpPr>
        <p:spPr>
          <a:xfrm>
            <a:off x="2620483" y="251518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2087449600"/>
              </p:ext>
            </p:extLst>
          </p:nvPr>
        </p:nvGraphicFramePr>
        <p:xfrm>
          <a:off x="2682337" y="3503799"/>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nvGraphicFramePr>
        <p:xfrm>
          <a:off x="2705397" y="451555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3183104676"/>
              </p:ext>
            </p:extLst>
          </p:nvPr>
        </p:nvGraphicFramePr>
        <p:xfrm>
          <a:off x="2723448" y="5540114"/>
          <a:ext cx="620509" cy="579120"/>
        </p:xfrm>
        <a:graphic>
          <a:graphicData uri="http://schemas.openxmlformats.org/drawingml/2006/table">
            <a:tbl>
              <a:tblPr firstRow="1" bandRow="1">
                <a:tableStyleId>{5940675A-B579-460E-94D1-54222C63F5DA}</a:tableStyleId>
              </a:tblPr>
              <a:tblGrid>
                <a:gridCol w="620509">
                  <a:extLst>
                    <a:ext uri="{9D8B030D-6E8A-4147-A177-3AD203B41FA5}">
                      <a16:colId xmlns:a16="http://schemas.microsoft.com/office/drawing/2014/main" val="2029496448"/>
                    </a:ext>
                  </a:extLst>
                </a:gridCol>
              </a:tblGrid>
              <a:tr h="446512">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1255255" y="2797739"/>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1368884" y="4282072"/>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格 10">
            <a:extLst>
              <a:ext uri="{FF2B5EF4-FFF2-40B4-BE49-F238E27FC236}">
                <a16:creationId xmlns:a16="http://schemas.microsoft.com/office/drawing/2014/main" id="{68EF8AB8-1C5F-4D3A-A1C1-B8DBE2B1F5C0}"/>
              </a:ext>
            </a:extLst>
          </p:cNvPr>
          <p:cNvGraphicFramePr>
            <a:graphicFrameLocks noGrp="1"/>
          </p:cNvGraphicFramePr>
          <p:nvPr>
            <p:extLst>
              <p:ext uri="{D42A27DB-BD31-4B8C-83A1-F6EECF244321}">
                <p14:modId xmlns:p14="http://schemas.microsoft.com/office/powerpoint/2010/main" val="3544726016"/>
              </p:ext>
            </p:extLst>
          </p:nvPr>
        </p:nvGraphicFramePr>
        <p:xfrm>
          <a:off x="5934956" y="418079"/>
          <a:ext cx="733444" cy="640080"/>
        </p:xfrm>
        <a:graphic>
          <a:graphicData uri="http://schemas.openxmlformats.org/drawingml/2006/table">
            <a:tbl>
              <a:tblPr firstRow="1" bandRow="1">
                <a:tableStyleId>{5940675A-B579-460E-94D1-54222C63F5DA}</a:tableStyleId>
              </a:tblPr>
              <a:tblGrid>
                <a:gridCol w="733444">
                  <a:extLst>
                    <a:ext uri="{9D8B030D-6E8A-4147-A177-3AD203B41FA5}">
                      <a16:colId xmlns:a16="http://schemas.microsoft.com/office/drawing/2014/main" val="2029496448"/>
                    </a:ext>
                  </a:extLst>
                </a:gridCol>
              </a:tblGrid>
              <a:tr h="461665">
                <a:tc>
                  <a:txBody>
                    <a:bodyPr/>
                    <a:lstStyle/>
                    <a:p>
                      <a:pPr algn="ctr"/>
                      <a:r>
                        <a:rPr lang="en-US" altLang="zh-TW" dirty="0">
                          <a:latin typeface="Times New Roman" panose="02020603050405020304" pitchFamily="18" charset="0"/>
                          <a:cs typeface="Times New Roman" panose="02020603050405020304" pitchFamily="18" charset="0"/>
                        </a:rPr>
                        <a:t>G</a:t>
                      </a:r>
                    </a:p>
                    <a:p>
                      <a:pPr algn="ctr"/>
                      <a:r>
                        <a:rPr lang="en-US" altLang="zh-TW" dirty="0">
                          <a:latin typeface="Times New Roman" panose="02020603050405020304" pitchFamily="18" charset="0"/>
                          <a:cs typeface="Times New Roman" panose="02020603050405020304" pitchFamily="18" charset="0"/>
                        </a:rPr>
                        <a:t>(4,2)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6011996"/>
                  </a:ext>
                </a:extLst>
              </a:tr>
            </a:tbl>
          </a:graphicData>
        </a:graphic>
      </p:graphicFrame>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nvGraphicFramePr>
        <p:xfrm>
          <a:off x="686087" y="3956358"/>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592977" y="3999520"/>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861947" y="456074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2521397" y="293082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2467602" y="5004699"/>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2507639" y="6023141"/>
            <a:ext cx="300082"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3</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2478646" y="3948893"/>
            <a:ext cx="300082"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3</a:t>
            </a:r>
            <a:endParaRPr lang="zh-TW" alt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extLst>
              <p:ext uri="{D42A27DB-BD31-4B8C-83A1-F6EECF244321}">
                <p14:modId xmlns:p14="http://schemas.microsoft.com/office/powerpoint/2010/main" val="231360579"/>
              </p:ext>
            </p:extLst>
          </p:nvPr>
        </p:nvGraphicFramePr>
        <p:xfrm>
          <a:off x="4853175" y="12482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919418009"/>
              </p:ext>
            </p:extLst>
          </p:nvPr>
        </p:nvGraphicFramePr>
        <p:xfrm>
          <a:off x="4868164" y="2121215"/>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a:endCxn id="81" idx="2"/>
          </p:cNvCxnSpPr>
          <p:nvPr/>
        </p:nvCxnSpPr>
        <p:spPr>
          <a:xfrm flipV="1">
            <a:off x="3343495" y="1577111"/>
            <a:ext cx="1439755" cy="108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flipV="1">
            <a:off x="3396390" y="2428676"/>
            <a:ext cx="1386860" cy="36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手繪多邊形: 圖案 124">
            <a:extLst>
              <a:ext uri="{FF2B5EF4-FFF2-40B4-BE49-F238E27FC236}">
                <a16:creationId xmlns:a16="http://schemas.microsoft.com/office/drawing/2014/main" id="{D8B2CCE5-4B04-4F40-9175-B332E088CD3E}"/>
              </a:ext>
            </a:extLst>
          </p:cNvPr>
          <p:cNvSpPr/>
          <p:nvPr/>
        </p:nvSpPr>
        <p:spPr>
          <a:xfrm rot="180451">
            <a:off x="5497179" y="2504978"/>
            <a:ext cx="431292" cy="2016418"/>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w="190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solidFill>
                <a:schemeClr val="accent2"/>
              </a:solidFill>
            </a:endParaRPr>
          </a:p>
        </p:txBody>
      </p:sp>
      <p:sp>
        <p:nvSpPr>
          <p:cNvPr id="130" name="文字方塊 129">
            <a:extLst>
              <a:ext uri="{FF2B5EF4-FFF2-40B4-BE49-F238E27FC236}">
                <a16:creationId xmlns:a16="http://schemas.microsoft.com/office/drawing/2014/main" id="{DFE52B30-5D11-416D-832B-C7AD83A0D642}"/>
              </a:ext>
            </a:extLst>
          </p:cNvPr>
          <p:cNvSpPr txBox="1"/>
          <p:nvPr/>
        </p:nvSpPr>
        <p:spPr>
          <a:xfrm>
            <a:off x="4642560" y="170666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3396390" y="3169774"/>
            <a:ext cx="1337507" cy="64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4727095" y="3585973"/>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4733897" y="28872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nvGraphicFramePr>
        <p:xfrm>
          <a:off x="4819574" y="284153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nvGraphicFramePr>
        <p:xfrm>
          <a:off x="4803822" y="3541024"/>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4734625" y="4295579"/>
            <a:ext cx="775907" cy="565103"/>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nvGraphicFramePr>
        <p:xfrm>
          <a:off x="4825861" y="425108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3396390" y="3818575"/>
            <a:ext cx="1330705" cy="49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stCxn id="32" idx="6"/>
            <a:endCxn id="44" idx="2"/>
          </p:cNvCxnSpPr>
          <p:nvPr/>
        </p:nvCxnSpPr>
        <p:spPr>
          <a:xfrm>
            <a:off x="3396390" y="4839411"/>
            <a:ext cx="1330350" cy="525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4576699" y="470930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4543496" y="3192597"/>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4511270" y="390918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9FED995B-C91A-4FA2-95B2-D6412091C97B}"/>
              </a:ext>
            </a:extLst>
          </p:cNvPr>
          <p:cNvSpPr txBox="1"/>
          <p:nvPr/>
        </p:nvSpPr>
        <p:spPr>
          <a:xfrm>
            <a:off x="6963407" y="350273"/>
            <a:ext cx="3726453" cy="1015663"/>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Successors :</a:t>
            </a:r>
          </a:p>
          <a:p>
            <a:r>
              <a:rPr lang="en-US" altLang="zh-TW" sz="2000" dirty="0">
                <a:solidFill>
                  <a:schemeClr val="accent2"/>
                </a:solidFill>
                <a:latin typeface="Times New Roman" panose="02020603050405020304" pitchFamily="18" charset="0"/>
                <a:cs typeface="Times New Roman" panose="02020603050405020304" pitchFamily="18" charset="0"/>
              </a:rPr>
              <a:t>A(8, 7), C(5, 4), G(6, 6), T(7, 3)</a:t>
            </a:r>
            <a:endParaRPr lang="zh-TW" altLang="en-US" sz="2000" dirty="0">
              <a:solidFill>
                <a:schemeClr val="accent2"/>
              </a:solidFill>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 </a:t>
            </a:r>
          </a:p>
        </p:txBody>
      </p:sp>
      <p:sp>
        <p:nvSpPr>
          <p:cNvPr id="44" name="橢圓 43">
            <a:extLst>
              <a:ext uri="{FF2B5EF4-FFF2-40B4-BE49-F238E27FC236}">
                <a16:creationId xmlns:a16="http://schemas.microsoft.com/office/drawing/2014/main" id="{CB203398-AB9C-4D95-9589-8E6327546D7E}"/>
              </a:ext>
            </a:extLst>
          </p:cNvPr>
          <p:cNvSpPr/>
          <p:nvPr/>
        </p:nvSpPr>
        <p:spPr>
          <a:xfrm>
            <a:off x="4726740" y="508202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5" name="表格 10">
            <a:extLst>
              <a:ext uri="{FF2B5EF4-FFF2-40B4-BE49-F238E27FC236}">
                <a16:creationId xmlns:a16="http://schemas.microsoft.com/office/drawing/2014/main" id="{0EDAA0E9-3575-4D02-B2F9-BE2A132C5EB1}"/>
              </a:ext>
            </a:extLst>
          </p:cNvPr>
          <p:cNvGraphicFramePr>
            <a:graphicFrameLocks noGrp="1"/>
          </p:cNvGraphicFramePr>
          <p:nvPr/>
        </p:nvGraphicFramePr>
        <p:xfrm>
          <a:off x="4803467" y="5037073"/>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48" name="橢圓 47">
            <a:extLst>
              <a:ext uri="{FF2B5EF4-FFF2-40B4-BE49-F238E27FC236}">
                <a16:creationId xmlns:a16="http://schemas.microsoft.com/office/drawing/2014/main" id="{5A6E4ACB-0700-4FDC-92DC-204101F25BED}"/>
              </a:ext>
            </a:extLst>
          </p:cNvPr>
          <p:cNvSpPr/>
          <p:nvPr/>
        </p:nvSpPr>
        <p:spPr>
          <a:xfrm>
            <a:off x="4734270" y="5791628"/>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9" name="表格 10">
            <a:extLst>
              <a:ext uri="{FF2B5EF4-FFF2-40B4-BE49-F238E27FC236}">
                <a16:creationId xmlns:a16="http://schemas.microsoft.com/office/drawing/2014/main" id="{3C64440F-BDA8-40DA-920B-D09AFB3DBB1A}"/>
              </a:ext>
            </a:extLst>
          </p:cNvPr>
          <p:cNvGraphicFramePr>
            <a:graphicFrameLocks noGrp="1"/>
          </p:cNvGraphicFramePr>
          <p:nvPr/>
        </p:nvGraphicFramePr>
        <p:xfrm>
          <a:off x="4810997" y="574667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78" name="直線單箭頭接點 77">
            <a:extLst>
              <a:ext uri="{FF2B5EF4-FFF2-40B4-BE49-F238E27FC236}">
                <a16:creationId xmlns:a16="http://schemas.microsoft.com/office/drawing/2014/main" id="{2CC92708-7BE4-48F3-A130-F29C581F19EF}"/>
              </a:ext>
            </a:extLst>
          </p:cNvPr>
          <p:cNvCxnSpPr>
            <a:cxnSpLocks/>
            <a:stCxn id="32" idx="5"/>
            <a:endCxn id="48" idx="2"/>
          </p:cNvCxnSpPr>
          <p:nvPr/>
        </p:nvCxnSpPr>
        <p:spPr>
          <a:xfrm>
            <a:off x="3282761" y="5039205"/>
            <a:ext cx="1451509" cy="103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A1F2A683-EFF0-4F3D-ACD7-1595CBFD0236}"/>
              </a:ext>
            </a:extLst>
          </p:cNvPr>
          <p:cNvSpPr txBox="1"/>
          <p:nvPr/>
        </p:nvSpPr>
        <p:spPr>
          <a:xfrm>
            <a:off x="4559034" y="5378775"/>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FF788C15-3F7E-446C-ABF2-71516201D750}"/>
              </a:ext>
            </a:extLst>
          </p:cNvPr>
          <p:cNvSpPr txBox="1"/>
          <p:nvPr/>
        </p:nvSpPr>
        <p:spPr>
          <a:xfrm>
            <a:off x="4583411" y="621558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87" name="直線單箭頭接點 86">
            <a:extLst>
              <a:ext uri="{FF2B5EF4-FFF2-40B4-BE49-F238E27FC236}">
                <a16:creationId xmlns:a16="http://schemas.microsoft.com/office/drawing/2014/main" id="{3014EC4D-43EA-4517-B55B-7017A0E736D6}"/>
              </a:ext>
            </a:extLst>
          </p:cNvPr>
          <p:cNvCxnSpPr>
            <a:cxnSpLocks/>
            <a:stCxn id="32" idx="0"/>
            <a:endCxn id="28" idx="4"/>
          </p:cNvCxnSpPr>
          <p:nvPr/>
        </p:nvCxnSpPr>
        <p:spPr>
          <a:xfrm flipV="1">
            <a:off x="3008437" y="4101126"/>
            <a:ext cx="0" cy="45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0BACBB1A-F68D-43BE-A49F-267AEC2340AA}"/>
              </a:ext>
            </a:extLst>
          </p:cNvPr>
          <p:cNvCxnSpPr>
            <a:cxnSpLocks/>
          </p:cNvCxnSpPr>
          <p:nvPr/>
        </p:nvCxnSpPr>
        <p:spPr>
          <a:xfrm>
            <a:off x="3282761" y="4018369"/>
            <a:ext cx="1451864" cy="559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1534B3EF-F39F-4B97-A1AC-38911027A0BC}"/>
              </a:ext>
            </a:extLst>
          </p:cNvPr>
          <p:cNvCxnSpPr>
            <a:cxnSpLocks/>
            <a:stCxn id="36" idx="6"/>
            <a:endCxn id="13" idx="3"/>
          </p:cNvCxnSpPr>
          <p:nvPr/>
        </p:nvCxnSpPr>
        <p:spPr>
          <a:xfrm flipV="1">
            <a:off x="3396390" y="4777925"/>
            <a:ext cx="1451864" cy="1082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橢圓 2">
            <a:extLst>
              <a:ext uri="{FF2B5EF4-FFF2-40B4-BE49-F238E27FC236}">
                <a16:creationId xmlns:a16="http://schemas.microsoft.com/office/drawing/2014/main" id="{44FA5299-7056-463B-B6B0-18C740328BB6}"/>
              </a:ext>
            </a:extLst>
          </p:cNvPr>
          <p:cNvSpPr/>
          <p:nvPr/>
        </p:nvSpPr>
        <p:spPr>
          <a:xfrm>
            <a:off x="6430449" y="1291472"/>
            <a:ext cx="799910" cy="592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10">
            <a:extLst>
              <a:ext uri="{FF2B5EF4-FFF2-40B4-BE49-F238E27FC236}">
                <a16:creationId xmlns:a16="http://schemas.microsoft.com/office/drawing/2014/main" id="{1E1EB256-55D1-41C5-83FA-3A01B9BE8E91}"/>
              </a:ext>
            </a:extLst>
          </p:cNvPr>
          <p:cNvGraphicFramePr>
            <a:graphicFrameLocks noGrp="1"/>
          </p:cNvGraphicFramePr>
          <p:nvPr>
            <p:extLst>
              <p:ext uri="{D42A27DB-BD31-4B8C-83A1-F6EECF244321}">
                <p14:modId xmlns:p14="http://schemas.microsoft.com/office/powerpoint/2010/main" val="3976190677"/>
              </p:ext>
            </p:extLst>
          </p:nvPr>
        </p:nvGraphicFramePr>
        <p:xfrm>
          <a:off x="6527365" y="128755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(5,8)</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2" name="直線單箭頭接點 61">
            <a:extLst>
              <a:ext uri="{FF2B5EF4-FFF2-40B4-BE49-F238E27FC236}">
                <a16:creationId xmlns:a16="http://schemas.microsoft.com/office/drawing/2014/main" id="{187F08D3-693D-4831-8324-81F44B25F722}"/>
              </a:ext>
            </a:extLst>
          </p:cNvPr>
          <p:cNvCxnSpPr>
            <a:cxnSpLocks/>
            <a:stCxn id="81" idx="6"/>
            <a:endCxn id="3" idx="2"/>
          </p:cNvCxnSpPr>
          <p:nvPr/>
        </p:nvCxnSpPr>
        <p:spPr>
          <a:xfrm>
            <a:off x="5559157" y="1577111"/>
            <a:ext cx="871292" cy="10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手繪多邊形: 圖案 16">
            <a:extLst>
              <a:ext uri="{FF2B5EF4-FFF2-40B4-BE49-F238E27FC236}">
                <a16:creationId xmlns:a16="http://schemas.microsoft.com/office/drawing/2014/main" id="{D170BD3E-FF52-4932-B646-9259B5340C1E}"/>
              </a:ext>
            </a:extLst>
          </p:cNvPr>
          <p:cNvSpPr/>
          <p:nvPr/>
        </p:nvSpPr>
        <p:spPr>
          <a:xfrm rot="180451">
            <a:off x="5503245" y="2519917"/>
            <a:ext cx="214607" cy="1306982"/>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w="190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66" name="直線單箭頭接點 65">
            <a:extLst>
              <a:ext uri="{FF2B5EF4-FFF2-40B4-BE49-F238E27FC236}">
                <a16:creationId xmlns:a16="http://schemas.microsoft.com/office/drawing/2014/main" id="{9B350F29-B617-4BB0-B1F9-BBA996FBED02}"/>
              </a:ext>
            </a:extLst>
          </p:cNvPr>
          <p:cNvCxnSpPr>
            <a:cxnSpLocks/>
            <a:stCxn id="85" idx="3"/>
            <a:endCxn id="28" idx="7"/>
          </p:cNvCxnSpPr>
          <p:nvPr/>
        </p:nvCxnSpPr>
        <p:spPr>
          <a:xfrm flipH="1">
            <a:off x="3282761" y="2628470"/>
            <a:ext cx="1614118" cy="9903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直線單箭頭接點 72">
            <a:extLst>
              <a:ext uri="{FF2B5EF4-FFF2-40B4-BE49-F238E27FC236}">
                <a16:creationId xmlns:a16="http://schemas.microsoft.com/office/drawing/2014/main" id="{A1DEBB04-C4C8-4139-AF98-1563B005EB89}"/>
              </a:ext>
            </a:extLst>
          </p:cNvPr>
          <p:cNvCxnSpPr>
            <a:cxnSpLocks/>
            <a:stCxn id="85" idx="3"/>
            <a:endCxn id="36" idx="7"/>
          </p:cNvCxnSpPr>
          <p:nvPr/>
        </p:nvCxnSpPr>
        <p:spPr>
          <a:xfrm flipH="1">
            <a:off x="3282761" y="2628470"/>
            <a:ext cx="1614118" cy="30319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2" name="文字方塊 131">
            <a:extLst>
              <a:ext uri="{FF2B5EF4-FFF2-40B4-BE49-F238E27FC236}">
                <a16:creationId xmlns:a16="http://schemas.microsoft.com/office/drawing/2014/main" id="{5CAE0AEE-A250-4D74-B248-E65177D152FA}"/>
              </a:ext>
            </a:extLst>
          </p:cNvPr>
          <p:cNvSpPr txBox="1"/>
          <p:nvPr/>
        </p:nvSpPr>
        <p:spPr>
          <a:xfrm>
            <a:off x="4615081" y="253971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788029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橢圓 31">
            <a:extLst>
              <a:ext uri="{FF2B5EF4-FFF2-40B4-BE49-F238E27FC236}">
                <a16:creationId xmlns:a16="http://schemas.microsoft.com/office/drawing/2014/main" id="{036A965D-F650-401C-AD96-14F24C2BBC4D}"/>
              </a:ext>
            </a:extLst>
          </p:cNvPr>
          <p:cNvSpPr/>
          <p:nvPr/>
        </p:nvSpPr>
        <p:spPr>
          <a:xfrm>
            <a:off x="4068283" y="430971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4068283" y="3288876"/>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6231050" y="1898977"/>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6231050" y="104741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4068283" y="5330548"/>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4107908100"/>
              </p:ext>
            </p:extLst>
          </p:nvPr>
        </p:nvGraphicFramePr>
        <p:xfrm>
          <a:off x="4159737" y="224374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4" name="橢圓 23">
            <a:extLst>
              <a:ext uri="{FF2B5EF4-FFF2-40B4-BE49-F238E27FC236}">
                <a16:creationId xmlns:a16="http://schemas.microsoft.com/office/drawing/2014/main" id="{DCC29369-01DD-4661-A316-D53204BF861B}"/>
              </a:ext>
            </a:extLst>
          </p:cNvPr>
          <p:cNvSpPr/>
          <p:nvPr/>
        </p:nvSpPr>
        <p:spPr>
          <a:xfrm>
            <a:off x="4068283" y="2268040"/>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791534179"/>
              </p:ext>
            </p:extLst>
          </p:nvPr>
        </p:nvGraphicFramePr>
        <p:xfrm>
          <a:off x="4130137" y="3256652"/>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extLst>
              <p:ext uri="{D42A27DB-BD31-4B8C-83A1-F6EECF244321}">
                <p14:modId xmlns:p14="http://schemas.microsoft.com/office/powerpoint/2010/main" val="1865482305"/>
              </p:ext>
            </p:extLst>
          </p:nvPr>
        </p:nvGraphicFramePr>
        <p:xfrm>
          <a:off x="4153197" y="426840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extLst>
              <p:ext uri="{D42A27DB-BD31-4B8C-83A1-F6EECF244321}">
                <p14:modId xmlns:p14="http://schemas.microsoft.com/office/powerpoint/2010/main" val="3300435353"/>
              </p:ext>
            </p:extLst>
          </p:nvPr>
        </p:nvGraphicFramePr>
        <p:xfrm>
          <a:off x="4171248" y="5292967"/>
          <a:ext cx="620509" cy="579120"/>
        </p:xfrm>
        <a:graphic>
          <a:graphicData uri="http://schemas.openxmlformats.org/drawingml/2006/table">
            <a:tbl>
              <a:tblPr firstRow="1" bandRow="1">
                <a:tableStyleId>{5940675A-B579-460E-94D1-54222C63F5DA}</a:tableStyleId>
              </a:tblPr>
              <a:tblGrid>
                <a:gridCol w="620509">
                  <a:extLst>
                    <a:ext uri="{9D8B030D-6E8A-4147-A177-3AD203B41FA5}">
                      <a16:colId xmlns:a16="http://schemas.microsoft.com/office/drawing/2014/main" val="2029496448"/>
                    </a:ext>
                  </a:extLst>
                </a:gridCol>
              </a:tblGrid>
              <a:tr h="446512">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2703055" y="2550592"/>
            <a:ext cx="1365228" cy="12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2816684" y="4034925"/>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4036928936"/>
              </p:ext>
            </p:extLst>
          </p:nvPr>
        </p:nvGraphicFramePr>
        <p:xfrm>
          <a:off x="2133887" y="3709211"/>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20" name="橢圓 19">
            <a:extLst>
              <a:ext uri="{FF2B5EF4-FFF2-40B4-BE49-F238E27FC236}">
                <a16:creationId xmlns:a16="http://schemas.microsoft.com/office/drawing/2014/main" id="{088799B5-A499-4B97-BBA3-FB0FD1944716}"/>
              </a:ext>
            </a:extLst>
          </p:cNvPr>
          <p:cNvSpPr/>
          <p:nvPr/>
        </p:nvSpPr>
        <p:spPr>
          <a:xfrm>
            <a:off x="2040777" y="3752373"/>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B7028D8F-BE2A-4A2A-8FA9-90CA0D3B82E2}"/>
              </a:ext>
            </a:extLst>
          </p:cNvPr>
          <p:cNvSpPr txBox="1"/>
          <p:nvPr/>
        </p:nvSpPr>
        <p:spPr>
          <a:xfrm>
            <a:off x="2309747" y="4313594"/>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3969197" y="2683682"/>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3915402" y="4757552"/>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3955439" y="5775994"/>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3926446" y="370174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extLst>
              <p:ext uri="{D42A27DB-BD31-4B8C-83A1-F6EECF244321}">
                <p14:modId xmlns:p14="http://schemas.microsoft.com/office/powerpoint/2010/main" val="277475554"/>
              </p:ext>
            </p:extLst>
          </p:nvPr>
        </p:nvGraphicFramePr>
        <p:xfrm>
          <a:off x="6300975" y="1001077"/>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1158425454"/>
              </p:ext>
            </p:extLst>
          </p:nvPr>
        </p:nvGraphicFramePr>
        <p:xfrm>
          <a:off x="6315964" y="187406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a:endCxn id="81" idx="2"/>
          </p:cNvCxnSpPr>
          <p:nvPr/>
        </p:nvCxnSpPr>
        <p:spPr>
          <a:xfrm flipV="1">
            <a:off x="4791295" y="1329964"/>
            <a:ext cx="1439755" cy="108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flipV="1">
            <a:off x="4844190" y="2181529"/>
            <a:ext cx="1386860" cy="36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6090360" y="145952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4844190" y="2922627"/>
            <a:ext cx="1337507" cy="64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6174895" y="3338826"/>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6181697" y="2640075"/>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extLst>
              <p:ext uri="{D42A27DB-BD31-4B8C-83A1-F6EECF244321}">
                <p14:modId xmlns:p14="http://schemas.microsoft.com/office/powerpoint/2010/main" val="3211329826"/>
              </p:ext>
            </p:extLst>
          </p:nvPr>
        </p:nvGraphicFramePr>
        <p:xfrm>
          <a:off x="6267374" y="259438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extLst>
              <p:ext uri="{D42A27DB-BD31-4B8C-83A1-F6EECF244321}">
                <p14:modId xmlns:p14="http://schemas.microsoft.com/office/powerpoint/2010/main" val="3913677168"/>
              </p:ext>
            </p:extLst>
          </p:nvPr>
        </p:nvGraphicFramePr>
        <p:xfrm>
          <a:off x="6251267" y="332449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6181697" y="4150215"/>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449842246"/>
              </p:ext>
            </p:extLst>
          </p:nvPr>
        </p:nvGraphicFramePr>
        <p:xfrm>
          <a:off x="6265592" y="410034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4844190" y="3571428"/>
            <a:ext cx="1330705" cy="49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stCxn id="32" idx="6"/>
            <a:endCxn id="44" idx="2"/>
          </p:cNvCxnSpPr>
          <p:nvPr/>
        </p:nvCxnSpPr>
        <p:spPr>
          <a:xfrm>
            <a:off x="4844190" y="4592264"/>
            <a:ext cx="1330350" cy="525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6024499" y="446216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5</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5991296" y="294545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4</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5959070" y="366203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4</a:t>
            </a:r>
            <a:endParaRPr lang="zh-TW" altLang="en-US" b="1" dirty="0">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CB203398-AB9C-4D95-9589-8E6327546D7E}"/>
              </a:ext>
            </a:extLst>
          </p:cNvPr>
          <p:cNvSpPr/>
          <p:nvPr/>
        </p:nvSpPr>
        <p:spPr>
          <a:xfrm>
            <a:off x="6174540" y="4834875"/>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5" name="表格 10">
            <a:extLst>
              <a:ext uri="{FF2B5EF4-FFF2-40B4-BE49-F238E27FC236}">
                <a16:creationId xmlns:a16="http://schemas.microsoft.com/office/drawing/2014/main" id="{0EDAA0E9-3575-4D02-B2F9-BE2A132C5EB1}"/>
              </a:ext>
            </a:extLst>
          </p:cNvPr>
          <p:cNvGraphicFramePr>
            <a:graphicFrameLocks noGrp="1"/>
          </p:cNvGraphicFramePr>
          <p:nvPr>
            <p:extLst>
              <p:ext uri="{D42A27DB-BD31-4B8C-83A1-F6EECF244321}">
                <p14:modId xmlns:p14="http://schemas.microsoft.com/office/powerpoint/2010/main" val="2671050280"/>
              </p:ext>
            </p:extLst>
          </p:nvPr>
        </p:nvGraphicFramePr>
        <p:xfrm>
          <a:off x="6251267" y="478992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48" name="橢圓 47">
            <a:extLst>
              <a:ext uri="{FF2B5EF4-FFF2-40B4-BE49-F238E27FC236}">
                <a16:creationId xmlns:a16="http://schemas.microsoft.com/office/drawing/2014/main" id="{5A6E4ACB-0700-4FDC-92DC-204101F25BED}"/>
              </a:ext>
            </a:extLst>
          </p:cNvPr>
          <p:cNvSpPr/>
          <p:nvPr/>
        </p:nvSpPr>
        <p:spPr>
          <a:xfrm>
            <a:off x="6182070" y="5544481"/>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9" name="表格 10">
            <a:extLst>
              <a:ext uri="{FF2B5EF4-FFF2-40B4-BE49-F238E27FC236}">
                <a16:creationId xmlns:a16="http://schemas.microsoft.com/office/drawing/2014/main" id="{3C64440F-BDA8-40DA-920B-D09AFB3DBB1A}"/>
              </a:ext>
            </a:extLst>
          </p:cNvPr>
          <p:cNvGraphicFramePr>
            <a:graphicFrameLocks noGrp="1"/>
          </p:cNvGraphicFramePr>
          <p:nvPr>
            <p:extLst>
              <p:ext uri="{D42A27DB-BD31-4B8C-83A1-F6EECF244321}">
                <p14:modId xmlns:p14="http://schemas.microsoft.com/office/powerpoint/2010/main" val="380444225"/>
              </p:ext>
            </p:extLst>
          </p:nvPr>
        </p:nvGraphicFramePr>
        <p:xfrm>
          <a:off x="6258797" y="549953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78" name="直線單箭頭接點 77">
            <a:extLst>
              <a:ext uri="{FF2B5EF4-FFF2-40B4-BE49-F238E27FC236}">
                <a16:creationId xmlns:a16="http://schemas.microsoft.com/office/drawing/2014/main" id="{2CC92708-7BE4-48F3-A130-F29C581F19EF}"/>
              </a:ext>
            </a:extLst>
          </p:cNvPr>
          <p:cNvCxnSpPr>
            <a:cxnSpLocks/>
            <a:stCxn id="32" idx="5"/>
            <a:endCxn id="48" idx="2"/>
          </p:cNvCxnSpPr>
          <p:nvPr/>
        </p:nvCxnSpPr>
        <p:spPr>
          <a:xfrm>
            <a:off x="4730561" y="4792058"/>
            <a:ext cx="1451509" cy="103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A1F2A683-EFF0-4F3D-ACD7-1595CBFD0236}"/>
              </a:ext>
            </a:extLst>
          </p:cNvPr>
          <p:cNvSpPr txBox="1"/>
          <p:nvPr/>
        </p:nvSpPr>
        <p:spPr>
          <a:xfrm>
            <a:off x="6006834" y="513162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FF788C15-3F7E-446C-ABF2-71516201D750}"/>
              </a:ext>
            </a:extLst>
          </p:cNvPr>
          <p:cNvSpPr txBox="1"/>
          <p:nvPr/>
        </p:nvSpPr>
        <p:spPr>
          <a:xfrm>
            <a:off x="6031211" y="5968439"/>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3" name="橢圓 2">
            <a:extLst>
              <a:ext uri="{FF2B5EF4-FFF2-40B4-BE49-F238E27FC236}">
                <a16:creationId xmlns:a16="http://schemas.microsoft.com/office/drawing/2014/main" id="{44FA5299-7056-463B-B6B0-18C740328BB6}"/>
              </a:ext>
            </a:extLst>
          </p:cNvPr>
          <p:cNvSpPr/>
          <p:nvPr/>
        </p:nvSpPr>
        <p:spPr>
          <a:xfrm>
            <a:off x="8230500" y="4399394"/>
            <a:ext cx="799910" cy="592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10">
            <a:extLst>
              <a:ext uri="{FF2B5EF4-FFF2-40B4-BE49-F238E27FC236}">
                <a16:creationId xmlns:a16="http://schemas.microsoft.com/office/drawing/2014/main" id="{1E1EB256-55D1-41C5-83FA-3A01B9BE8E91}"/>
              </a:ext>
            </a:extLst>
          </p:cNvPr>
          <p:cNvGraphicFramePr>
            <a:graphicFrameLocks noGrp="1"/>
          </p:cNvGraphicFramePr>
          <p:nvPr>
            <p:extLst>
              <p:ext uri="{D42A27DB-BD31-4B8C-83A1-F6EECF244321}">
                <p14:modId xmlns:p14="http://schemas.microsoft.com/office/powerpoint/2010/main" val="2431901251"/>
              </p:ext>
            </p:extLst>
          </p:nvPr>
        </p:nvGraphicFramePr>
        <p:xfrm>
          <a:off x="8323120" y="438892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(5,8)</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2" name="直線單箭頭接點 61">
            <a:extLst>
              <a:ext uri="{FF2B5EF4-FFF2-40B4-BE49-F238E27FC236}">
                <a16:creationId xmlns:a16="http://schemas.microsoft.com/office/drawing/2014/main" id="{187F08D3-693D-4831-8324-81F44B25F722}"/>
              </a:ext>
            </a:extLst>
          </p:cNvPr>
          <p:cNvCxnSpPr>
            <a:cxnSpLocks/>
            <a:stCxn id="81" idx="6"/>
            <a:endCxn id="3" idx="0"/>
          </p:cNvCxnSpPr>
          <p:nvPr/>
        </p:nvCxnSpPr>
        <p:spPr>
          <a:xfrm>
            <a:off x="7006957" y="1329964"/>
            <a:ext cx="1623498" cy="3069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手繪多邊形: 圖案 16">
            <a:extLst>
              <a:ext uri="{FF2B5EF4-FFF2-40B4-BE49-F238E27FC236}">
                <a16:creationId xmlns:a16="http://schemas.microsoft.com/office/drawing/2014/main" id="{D170BD3E-FF52-4932-B646-9259B5340C1E}"/>
              </a:ext>
            </a:extLst>
          </p:cNvPr>
          <p:cNvSpPr/>
          <p:nvPr/>
        </p:nvSpPr>
        <p:spPr>
          <a:xfrm>
            <a:off x="6947391" y="2961435"/>
            <a:ext cx="202641" cy="1427487"/>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66" name="直線單箭頭接點 65">
            <a:extLst>
              <a:ext uri="{FF2B5EF4-FFF2-40B4-BE49-F238E27FC236}">
                <a16:creationId xmlns:a16="http://schemas.microsoft.com/office/drawing/2014/main" id="{9B350F29-B617-4BB0-B1F9-BBA996FBED02}"/>
              </a:ext>
            </a:extLst>
          </p:cNvPr>
          <p:cNvCxnSpPr>
            <a:cxnSpLocks/>
            <a:stCxn id="85" idx="3"/>
            <a:endCxn id="28" idx="7"/>
          </p:cNvCxnSpPr>
          <p:nvPr/>
        </p:nvCxnSpPr>
        <p:spPr>
          <a:xfrm flipH="1">
            <a:off x="4730561" y="2381323"/>
            <a:ext cx="1614118" cy="990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a16="http://schemas.microsoft.com/office/drawing/2014/main" id="{A1DEBB04-C4C8-4139-AF98-1563B005EB89}"/>
              </a:ext>
            </a:extLst>
          </p:cNvPr>
          <p:cNvCxnSpPr>
            <a:cxnSpLocks/>
            <a:stCxn id="85" idx="3"/>
            <a:endCxn id="36" idx="7"/>
          </p:cNvCxnSpPr>
          <p:nvPr/>
        </p:nvCxnSpPr>
        <p:spPr>
          <a:xfrm flipH="1">
            <a:off x="4730561" y="2381323"/>
            <a:ext cx="1614118" cy="3031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文字方塊 131">
            <a:extLst>
              <a:ext uri="{FF2B5EF4-FFF2-40B4-BE49-F238E27FC236}">
                <a16:creationId xmlns:a16="http://schemas.microsoft.com/office/drawing/2014/main" id="{5CAE0AEE-A250-4D74-B248-E65177D152FA}"/>
              </a:ext>
            </a:extLst>
          </p:cNvPr>
          <p:cNvSpPr txBox="1"/>
          <p:nvPr/>
        </p:nvSpPr>
        <p:spPr>
          <a:xfrm>
            <a:off x="6062881" y="229256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63" name="直線單箭頭接點 62">
            <a:extLst>
              <a:ext uri="{FF2B5EF4-FFF2-40B4-BE49-F238E27FC236}">
                <a16:creationId xmlns:a16="http://schemas.microsoft.com/office/drawing/2014/main" id="{4AB9F97E-3CE8-4988-8BF5-C1A1A22771CB}"/>
              </a:ext>
            </a:extLst>
          </p:cNvPr>
          <p:cNvCxnSpPr>
            <a:cxnSpLocks/>
            <a:stCxn id="44" idx="6"/>
            <a:endCxn id="3" idx="2"/>
          </p:cNvCxnSpPr>
          <p:nvPr/>
        </p:nvCxnSpPr>
        <p:spPr>
          <a:xfrm flipV="1">
            <a:off x="6950447" y="4695555"/>
            <a:ext cx="1280053" cy="421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47637CAD-93A6-4173-8595-067452607270}"/>
              </a:ext>
            </a:extLst>
          </p:cNvPr>
          <p:cNvCxnSpPr>
            <a:cxnSpLocks/>
            <a:stCxn id="48" idx="6"/>
            <a:endCxn id="3" idx="3"/>
          </p:cNvCxnSpPr>
          <p:nvPr/>
        </p:nvCxnSpPr>
        <p:spPr>
          <a:xfrm flipV="1">
            <a:off x="6957977" y="4904972"/>
            <a:ext cx="1389667" cy="922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B2CD5875-EF8A-4D1B-872B-5C3A41E33B39}"/>
              </a:ext>
            </a:extLst>
          </p:cNvPr>
          <p:cNvCxnSpPr>
            <a:cxnSpLocks/>
            <a:stCxn id="4" idx="4"/>
            <a:endCxn id="13" idx="0"/>
          </p:cNvCxnSpPr>
          <p:nvPr/>
        </p:nvCxnSpPr>
        <p:spPr>
          <a:xfrm>
            <a:off x="6562849" y="3903929"/>
            <a:ext cx="6802" cy="246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橢圓 38">
            <a:extLst>
              <a:ext uri="{FF2B5EF4-FFF2-40B4-BE49-F238E27FC236}">
                <a16:creationId xmlns:a16="http://schemas.microsoft.com/office/drawing/2014/main" id="{92E968CE-BB76-4594-BDD1-569B83DAE19D}"/>
              </a:ext>
            </a:extLst>
          </p:cNvPr>
          <p:cNvSpPr/>
          <p:nvPr/>
        </p:nvSpPr>
        <p:spPr>
          <a:xfrm>
            <a:off x="9825620" y="3308094"/>
            <a:ext cx="799910" cy="592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1" name="表格 10">
            <a:extLst>
              <a:ext uri="{FF2B5EF4-FFF2-40B4-BE49-F238E27FC236}">
                <a16:creationId xmlns:a16="http://schemas.microsoft.com/office/drawing/2014/main" id="{912F5946-798D-46B2-8770-3124BAE7AA6A}"/>
              </a:ext>
            </a:extLst>
          </p:cNvPr>
          <p:cNvGraphicFramePr>
            <a:graphicFrameLocks noGrp="1"/>
          </p:cNvGraphicFramePr>
          <p:nvPr>
            <p:extLst>
              <p:ext uri="{D42A27DB-BD31-4B8C-83A1-F6EECF244321}">
                <p14:modId xmlns:p14="http://schemas.microsoft.com/office/powerpoint/2010/main" val="2682236942"/>
              </p:ext>
            </p:extLst>
          </p:nvPr>
        </p:nvGraphicFramePr>
        <p:xfrm>
          <a:off x="9825187" y="3363893"/>
          <a:ext cx="799910" cy="465020"/>
        </p:xfrm>
        <a:graphic>
          <a:graphicData uri="http://schemas.openxmlformats.org/drawingml/2006/table">
            <a:tbl>
              <a:tblPr firstRow="1" bandRow="1">
                <a:tableStyleId>{5940675A-B579-460E-94D1-54222C63F5DA}</a:tableStyleId>
              </a:tblPr>
              <a:tblGrid>
                <a:gridCol w="799910">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t>
                      </a:r>
                      <a:r>
                        <a:rPr lang="zh-TW" altLang="en-US" sz="1800" b="0" i="0" kern="1200" dirty="0">
                          <a:solidFill>
                            <a:schemeClr val="tx1"/>
                          </a:solidFill>
                          <a:effectLst/>
                          <a:latin typeface="+mn-lt"/>
                          <a:ea typeface="+mn-ea"/>
                          <a:cs typeface="+mn-cs"/>
                        </a:rPr>
                        <a:t>∞</a:t>
                      </a:r>
                      <a:r>
                        <a:rPr lang="en-US" altLang="zh-TW" sz="1600" b="0" i="0" kern="1200" dirty="0">
                          <a:solidFill>
                            <a:schemeClr val="tx1"/>
                          </a:solidFill>
                          <a:effectLst/>
                          <a:latin typeface="Times New Roman" panose="02020603050405020304" pitchFamily="18" charset="0"/>
                          <a:ea typeface="+mn-ea"/>
                          <a:cs typeface="Times New Roman" panose="02020603050405020304" pitchFamily="18" charset="0"/>
                        </a:rPr>
                        <a:t>,</a:t>
                      </a:r>
                      <a:r>
                        <a:rPr lang="zh-TW" altLang="en-US" sz="1800" b="0" i="0" kern="1200" dirty="0">
                          <a:solidFill>
                            <a:schemeClr val="tx1"/>
                          </a:solidFill>
                          <a:effectLst/>
                          <a:latin typeface="+mn-lt"/>
                          <a:ea typeface="+mn-ea"/>
                          <a:cs typeface="+mn-cs"/>
                        </a:rPr>
                        <a:t>∞</a:t>
                      </a: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2" name="直線單箭頭接點 81">
            <a:extLst>
              <a:ext uri="{FF2B5EF4-FFF2-40B4-BE49-F238E27FC236}">
                <a16:creationId xmlns:a16="http://schemas.microsoft.com/office/drawing/2014/main" id="{2911C8FA-07DB-43A9-B63D-8C1AF8E4D451}"/>
              </a:ext>
            </a:extLst>
          </p:cNvPr>
          <p:cNvCxnSpPr>
            <a:cxnSpLocks/>
            <a:stCxn id="13" idx="6"/>
            <a:endCxn id="39" idx="2"/>
          </p:cNvCxnSpPr>
          <p:nvPr/>
        </p:nvCxnSpPr>
        <p:spPr>
          <a:xfrm flipV="1">
            <a:off x="6957604" y="3604255"/>
            <a:ext cx="2868016" cy="828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id="{4197F844-00A8-40B6-8135-63A25FF09219}"/>
              </a:ext>
            </a:extLst>
          </p:cNvPr>
          <p:cNvSpPr txBox="1"/>
          <p:nvPr/>
        </p:nvSpPr>
        <p:spPr>
          <a:xfrm>
            <a:off x="8298687" y="495752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57" name="文字方塊 56">
            <a:extLst>
              <a:ext uri="{FF2B5EF4-FFF2-40B4-BE49-F238E27FC236}">
                <a16:creationId xmlns:a16="http://schemas.microsoft.com/office/drawing/2014/main" id="{1CC048EA-2539-45CA-BFAF-11D4CEA81443}"/>
              </a:ext>
            </a:extLst>
          </p:cNvPr>
          <p:cNvSpPr txBox="1"/>
          <p:nvPr/>
        </p:nvSpPr>
        <p:spPr>
          <a:xfrm>
            <a:off x="9902700" y="3918999"/>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6</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817067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橢圓 23">
            <a:extLst>
              <a:ext uri="{FF2B5EF4-FFF2-40B4-BE49-F238E27FC236}">
                <a16:creationId xmlns:a16="http://schemas.microsoft.com/office/drawing/2014/main" id="{DCC29369-01DD-4661-A316-D53204BF861B}"/>
              </a:ext>
            </a:extLst>
          </p:cNvPr>
          <p:cNvSpPr/>
          <p:nvPr/>
        </p:nvSpPr>
        <p:spPr>
          <a:xfrm>
            <a:off x="4068283" y="2268040"/>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088799B5-A499-4B97-BBA3-FB0FD1944716}"/>
              </a:ext>
            </a:extLst>
          </p:cNvPr>
          <p:cNvSpPr/>
          <p:nvPr/>
        </p:nvSpPr>
        <p:spPr>
          <a:xfrm>
            <a:off x="2040777" y="3752373"/>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036A965D-F650-401C-AD96-14F24C2BBC4D}"/>
              </a:ext>
            </a:extLst>
          </p:cNvPr>
          <p:cNvSpPr/>
          <p:nvPr/>
        </p:nvSpPr>
        <p:spPr>
          <a:xfrm>
            <a:off x="4068283" y="430971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4068283" y="3288876"/>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6231050" y="1898977"/>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F4D9875-FEDE-456D-AD37-0CB5C8768377}"/>
              </a:ext>
            </a:extLst>
          </p:cNvPr>
          <p:cNvSpPr/>
          <p:nvPr/>
        </p:nvSpPr>
        <p:spPr>
          <a:xfrm>
            <a:off x="6231050" y="1047412"/>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BDA00901-1E96-4D54-90F6-B4C068371929}"/>
              </a:ext>
            </a:extLst>
          </p:cNvPr>
          <p:cNvSpPr/>
          <p:nvPr/>
        </p:nvSpPr>
        <p:spPr>
          <a:xfrm>
            <a:off x="4068283" y="5330548"/>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400308" y="40091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nvGraphicFramePr>
        <p:xfrm>
          <a:off x="4159737" y="224374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nvGraphicFramePr>
        <p:xfrm>
          <a:off x="4130137" y="3256652"/>
          <a:ext cx="624205" cy="579120"/>
        </p:xfrm>
        <a:graphic>
          <a:graphicData uri="http://schemas.openxmlformats.org/drawingml/2006/table">
            <a:tbl>
              <a:tblPr firstRow="1" bandRow="1">
                <a:tableStyleId>{5940675A-B579-460E-94D1-54222C63F5DA}</a:tableStyleId>
              </a:tblPr>
              <a:tblGrid>
                <a:gridCol w="624205">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0" name="表格 10">
            <a:extLst>
              <a:ext uri="{FF2B5EF4-FFF2-40B4-BE49-F238E27FC236}">
                <a16:creationId xmlns:a16="http://schemas.microsoft.com/office/drawing/2014/main" id="{DD154713-12E8-4B4E-8800-8FD2A78B5C72}"/>
              </a:ext>
            </a:extLst>
          </p:cNvPr>
          <p:cNvGraphicFramePr>
            <a:graphicFrameLocks noGrp="1"/>
          </p:cNvGraphicFramePr>
          <p:nvPr/>
        </p:nvGraphicFramePr>
        <p:xfrm>
          <a:off x="4153197" y="4268409"/>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(1,2)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34" name="表格 10">
            <a:extLst>
              <a:ext uri="{FF2B5EF4-FFF2-40B4-BE49-F238E27FC236}">
                <a16:creationId xmlns:a16="http://schemas.microsoft.com/office/drawing/2014/main" id="{01E5CD66-BF7B-48C3-90B2-7EBBCDE048C8}"/>
              </a:ext>
            </a:extLst>
          </p:cNvPr>
          <p:cNvGraphicFramePr>
            <a:graphicFrameLocks noGrp="1"/>
          </p:cNvGraphicFramePr>
          <p:nvPr/>
        </p:nvGraphicFramePr>
        <p:xfrm>
          <a:off x="4171248" y="5292967"/>
          <a:ext cx="620509" cy="579120"/>
        </p:xfrm>
        <a:graphic>
          <a:graphicData uri="http://schemas.openxmlformats.org/drawingml/2006/table">
            <a:tbl>
              <a:tblPr firstRow="1" bandRow="1">
                <a:tableStyleId>{5940675A-B579-460E-94D1-54222C63F5DA}</a:tableStyleId>
              </a:tblPr>
              <a:tblGrid>
                <a:gridCol w="620509">
                  <a:extLst>
                    <a:ext uri="{9D8B030D-6E8A-4147-A177-3AD203B41FA5}">
                      <a16:colId xmlns:a16="http://schemas.microsoft.com/office/drawing/2014/main" val="2029496448"/>
                    </a:ext>
                  </a:extLst>
                </a:gridCol>
              </a:tblGrid>
              <a:tr h="446512">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(7,3)</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0" idx="7"/>
            <a:endCxn id="24" idx="2"/>
          </p:cNvCxnSpPr>
          <p:nvPr/>
        </p:nvCxnSpPr>
        <p:spPr>
          <a:xfrm flipV="1">
            <a:off x="2703055" y="2550592"/>
            <a:ext cx="1365228" cy="12845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直線單箭頭接點 42">
            <a:extLst>
              <a:ext uri="{FF2B5EF4-FFF2-40B4-BE49-F238E27FC236}">
                <a16:creationId xmlns:a16="http://schemas.microsoft.com/office/drawing/2014/main" id="{A77A5881-80EB-42F8-B17F-5F14AF94195C}"/>
              </a:ext>
            </a:extLst>
          </p:cNvPr>
          <p:cNvCxnSpPr>
            <a:cxnSpLocks/>
            <a:stCxn id="20" idx="6"/>
            <a:endCxn id="32" idx="2"/>
          </p:cNvCxnSpPr>
          <p:nvPr/>
        </p:nvCxnSpPr>
        <p:spPr>
          <a:xfrm>
            <a:off x="2816684" y="4034925"/>
            <a:ext cx="1251599" cy="55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nvGraphicFramePr>
        <p:xfrm>
          <a:off x="2133887" y="3709211"/>
          <a:ext cx="577982" cy="579120"/>
        </p:xfrm>
        <a:graphic>
          <a:graphicData uri="http://schemas.openxmlformats.org/drawingml/2006/table">
            <a:tbl>
              <a:tblPr firstRow="1" bandRow="1">
                <a:tableStyleId>{5940675A-B579-460E-94D1-54222C63F5DA}</a:tableStyleId>
              </a:tblPr>
              <a:tblGrid>
                <a:gridCol w="577982">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68" name="文字方塊 67">
            <a:extLst>
              <a:ext uri="{FF2B5EF4-FFF2-40B4-BE49-F238E27FC236}">
                <a16:creationId xmlns:a16="http://schemas.microsoft.com/office/drawing/2014/main" id="{B7028D8F-BE2A-4A2A-8FA9-90CA0D3B82E2}"/>
              </a:ext>
            </a:extLst>
          </p:cNvPr>
          <p:cNvSpPr txBox="1"/>
          <p:nvPr/>
        </p:nvSpPr>
        <p:spPr>
          <a:xfrm>
            <a:off x="2309747" y="4313594"/>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3969197" y="2683682"/>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2" name="文字方塊 71">
            <a:extLst>
              <a:ext uri="{FF2B5EF4-FFF2-40B4-BE49-F238E27FC236}">
                <a16:creationId xmlns:a16="http://schemas.microsoft.com/office/drawing/2014/main" id="{4DAD668A-0BA5-4834-972E-62DD1026E406}"/>
              </a:ext>
            </a:extLst>
          </p:cNvPr>
          <p:cNvSpPr txBox="1"/>
          <p:nvPr/>
        </p:nvSpPr>
        <p:spPr>
          <a:xfrm>
            <a:off x="3915402" y="4757552"/>
            <a:ext cx="301686"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4" name="文字方塊 73">
            <a:extLst>
              <a:ext uri="{FF2B5EF4-FFF2-40B4-BE49-F238E27FC236}">
                <a16:creationId xmlns:a16="http://schemas.microsoft.com/office/drawing/2014/main" id="{CCD91F64-720C-4FED-8C2F-F481968ECAB1}"/>
              </a:ext>
            </a:extLst>
          </p:cNvPr>
          <p:cNvSpPr txBox="1"/>
          <p:nvPr/>
        </p:nvSpPr>
        <p:spPr>
          <a:xfrm>
            <a:off x="3955439" y="5775994"/>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3926446" y="370174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graphicFrame>
        <p:nvGraphicFramePr>
          <p:cNvPr id="79" name="表格 10">
            <a:extLst>
              <a:ext uri="{FF2B5EF4-FFF2-40B4-BE49-F238E27FC236}">
                <a16:creationId xmlns:a16="http://schemas.microsoft.com/office/drawing/2014/main" id="{A83A317D-A888-41DC-9DDD-20D01295DA0E}"/>
              </a:ext>
            </a:extLst>
          </p:cNvPr>
          <p:cNvGraphicFramePr>
            <a:graphicFrameLocks noGrp="1"/>
          </p:cNvGraphicFramePr>
          <p:nvPr/>
        </p:nvGraphicFramePr>
        <p:xfrm>
          <a:off x="6300975" y="1001077"/>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(3,7)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nvGraphicFramePr>
        <p:xfrm>
          <a:off x="6315964" y="1874068"/>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6" name="直線單箭頭接點 85">
            <a:extLst>
              <a:ext uri="{FF2B5EF4-FFF2-40B4-BE49-F238E27FC236}">
                <a16:creationId xmlns:a16="http://schemas.microsoft.com/office/drawing/2014/main" id="{18CA9D7E-B628-4138-B5B0-E2EC962A2184}"/>
              </a:ext>
            </a:extLst>
          </p:cNvPr>
          <p:cNvCxnSpPr>
            <a:cxnSpLocks/>
            <a:endCxn id="81" idx="2"/>
          </p:cNvCxnSpPr>
          <p:nvPr/>
        </p:nvCxnSpPr>
        <p:spPr>
          <a:xfrm flipV="1">
            <a:off x="4791295" y="1329964"/>
            <a:ext cx="1439755" cy="108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968790DC-E6FD-4E94-8A8E-A84ECCBACD00}"/>
              </a:ext>
            </a:extLst>
          </p:cNvPr>
          <p:cNvCxnSpPr>
            <a:cxnSpLocks/>
            <a:stCxn id="24" idx="6"/>
            <a:endCxn id="85" idx="2"/>
          </p:cNvCxnSpPr>
          <p:nvPr/>
        </p:nvCxnSpPr>
        <p:spPr>
          <a:xfrm flipV="1">
            <a:off x="4844190" y="2181529"/>
            <a:ext cx="1386860" cy="3690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0" name="文字方塊 129">
            <a:extLst>
              <a:ext uri="{FF2B5EF4-FFF2-40B4-BE49-F238E27FC236}">
                <a16:creationId xmlns:a16="http://schemas.microsoft.com/office/drawing/2014/main" id="{DFE52B30-5D11-416D-832B-C7AD83A0D642}"/>
              </a:ext>
            </a:extLst>
          </p:cNvPr>
          <p:cNvSpPr txBox="1"/>
          <p:nvPr/>
        </p:nvSpPr>
        <p:spPr>
          <a:xfrm>
            <a:off x="6090360" y="1459521"/>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9D6CAFD6-E044-4AAD-947B-BFB78C319E1E}"/>
              </a:ext>
            </a:extLst>
          </p:cNvPr>
          <p:cNvCxnSpPr>
            <a:cxnSpLocks/>
            <a:stCxn id="28" idx="6"/>
            <a:endCxn id="5" idx="2"/>
          </p:cNvCxnSpPr>
          <p:nvPr/>
        </p:nvCxnSpPr>
        <p:spPr>
          <a:xfrm flipV="1">
            <a:off x="4844190" y="2922627"/>
            <a:ext cx="1337507" cy="6488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6174895" y="3338826"/>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6181697" y="2640075"/>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nvGraphicFramePr>
        <p:xfrm>
          <a:off x="6267374" y="259438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nvGraphicFramePr>
        <p:xfrm>
          <a:off x="6251267" y="3324490"/>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6181697" y="4150215"/>
            <a:ext cx="775907" cy="565103"/>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550486069"/>
              </p:ext>
            </p:extLst>
          </p:nvPr>
        </p:nvGraphicFramePr>
        <p:xfrm>
          <a:off x="6265770" y="411282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28" idx="6"/>
            <a:endCxn id="4" idx="2"/>
          </p:cNvCxnSpPr>
          <p:nvPr/>
        </p:nvCxnSpPr>
        <p:spPr>
          <a:xfrm>
            <a:off x="4844190" y="3571428"/>
            <a:ext cx="1330705" cy="499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4" name="直線單箭頭接點 63">
            <a:extLst>
              <a:ext uri="{FF2B5EF4-FFF2-40B4-BE49-F238E27FC236}">
                <a16:creationId xmlns:a16="http://schemas.microsoft.com/office/drawing/2014/main" id="{16D63264-05D0-4EF5-A864-31EABD9C0CB3}"/>
              </a:ext>
            </a:extLst>
          </p:cNvPr>
          <p:cNvCxnSpPr>
            <a:cxnSpLocks/>
            <a:stCxn id="32" idx="6"/>
            <a:endCxn id="44" idx="2"/>
          </p:cNvCxnSpPr>
          <p:nvPr/>
        </p:nvCxnSpPr>
        <p:spPr>
          <a:xfrm>
            <a:off x="4844190" y="4592264"/>
            <a:ext cx="1330350" cy="525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6024499" y="446216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5</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5991296" y="294545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4</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5959070" y="3662033"/>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4</a:t>
            </a:r>
            <a:endParaRPr lang="zh-TW" altLang="en-US" b="1" dirty="0">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CB203398-AB9C-4D95-9589-8E6327546D7E}"/>
              </a:ext>
            </a:extLst>
          </p:cNvPr>
          <p:cNvSpPr/>
          <p:nvPr/>
        </p:nvSpPr>
        <p:spPr>
          <a:xfrm>
            <a:off x="6174540" y="4834875"/>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5" name="表格 10">
            <a:extLst>
              <a:ext uri="{FF2B5EF4-FFF2-40B4-BE49-F238E27FC236}">
                <a16:creationId xmlns:a16="http://schemas.microsoft.com/office/drawing/2014/main" id="{0EDAA0E9-3575-4D02-B2F9-BE2A132C5EB1}"/>
              </a:ext>
            </a:extLst>
          </p:cNvPr>
          <p:cNvGraphicFramePr>
            <a:graphicFrameLocks noGrp="1"/>
          </p:cNvGraphicFramePr>
          <p:nvPr/>
        </p:nvGraphicFramePr>
        <p:xfrm>
          <a:off x="6251267" y="4789926"/>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48" name="橢圓 47">
            <a:extLst>
              <a:ext uri="{FF2B5EF4-FFF2-40B4-BE49-F238E27FC236}">
                <a16:creationId xmlns:a16="http://schemas.microsoft.com/office/drawing/2014/main" id="{5A6E4ACB-0700-4FDC-92DC-204101F25BED}"/>
              </a:ext>
            </a:extLst>
          </p:cNvPr>
          <p:cNvSpPr/>
          <p:nvPr/>
        </p:nvSpPr>
        <p:spPr>
          <a:xfrm>
            <a:off x="6182070" y="5544481"/>
            <a:ext cx="775907" cy="5651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9" name="表格 10">
            <a:extLst>
              <a:ext uri="{FF2B5EF4-FFF2-40B4-BE49-F238E27FC236}">
                <a16:creationId xmlns:a16="http://schemas.microsoft.com/office/drawing/2014/main" id="{3C64440F-BDA8-40DA-920B-D09AFB3DBB1A}"/>
              </a:ext>
            </a:extLst>
          </p:cNvPr>
          <p:cNvGraphicFramePr>
            <a:graphicFrameLocks noGrp="1"/>
          </p:cNvGraphicFramePr>
          <p:nvPr/>
        </p:nvGraphicFramePr>
        <p:xfrm>
          <a:off x="6258797" y="549953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78" name="直線單箭頭接點 77">
            <a:extLst>
              <a:ext uri="{FF2B5EF4-FFF2-40B4-BE49-F238E27FC236}">
                <a16:creationId xmlns:a16="http://schemas.microsoft.com/office/drawing/2014/main" id="{2CC92708-7BE4-48F3-A130-F29C581F19EF}"/>
              </a:ext>
            </a:extLst>
          </p:cNvPr>
          <p:cNvCxnSpPr>
            <a:cxnSpLocks/>
            <a:stCxn id="32" idx="5"/>
            <a:endCxn id="48" idx="2"/>
          </p:cNvCxnSpPr>
          <p:nvPr/>
        </p:nvCxnSpPr>
        <p:spPr>
          <a:xfrm>
            <a:off x="4730561" y="4792058"/>
            <a:ext cx="1451509" cy="103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A1F2A683-EFF0-4F3D-ACD7-1595CBFD0236}"/>
              </a:ext>
            </a:extLst>
          </p:cNvPr>
          <p:cNvSpPr txBox="1"/>
          <p:nvPr/>
        </p:nvSpPr>
        <p:spPr>
          <a:xfrm>
            <a:off x="6006834" y="5131628"/>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FF788C15-3F7E-446C-ABF2-71516201D750}"/>
              </a:ext>
            </a:extLst>
          </p:cNvPr>
          <p:cNvSpPr txBox="1"/>
          <p:nvPr/>
        </p:nvSpPr>
        <p:spPr>
          <a:xfrm>
            <a:off x="6031211" y="5968439"/>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3" name="橢圓 2">
            <a:extLst>
              <a:ext uri="{FF2B5EF4-FFF2-40B4-BE49-F238E27FC236}">
                <a16:creationId xmlns:a16="http://schemas.microsoft.com/office/drawing/2014/main" id="{44FA5299-7056-463B-B6B0-18C740328BB6}"/>
              </a:ext>
            </a:extLst>
          </p:cNvPr>
          <p:cNvSpPr/>
          <p:nvPr/>
        </p:nvSpPr>
        <p:spPr>
          <a:xfrm>
            <a:off x="8230500" y="4399394"/>
            <a:ext cx="799910" cy="592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10">
            <a:extLst>
              <a:ext uri="{FF2B5EF4-FFF2-40B4-BE49-F238E27FC236}">
                <a16:creationId xmlns:a16="http://schemas.microsoft.com/office/drawing/2014/main" id="{1E1EB256-55D1-41C5-83FA-3A01B9BE8E91}"/>
              </a:ext>
            </a:extLst>
          </p:cNvPr>
          <p:cNvGraphicFramePr>
            <a:graphicFrameLocks noGrp="1"/>
          </p:cNvGraphicFramePr>
          <p:nvPr/>
        </p:nvGraphicFramePr>
        <p:xfrm>
          <a:off x="8323120" y="4388922"/>
          <a:ext cx="606078" cy="579120"/>
        </p:xfrm>
        <a:graphic>
          <a:graphicData uri="http://schemas.openxmlformats.org/drawingml/2006/table">
            <a:tbl>
              <a:tblPr firstRow="1" bandRow="1">
                <a:tableStyleId>{5940675A-B579-460E-94D1-54222C63F5DA}</a:tableStyleId>
              </a:tblPr>
              <a:tblGrid>
                <a:gridCol w="606078">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(5,8)</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2" name="直線單箭頭接點 61">
            <a:extLst>
              <a:ext uri="{FF2B5EF4-FFF2-40B4-BE49-F238E27FC236}">
                <a16:creationId xmlns:a16="http://schemas.microsoft.com/office/drawing/2014/main" id="{187F08D3-693D-4831-8324-81F44B25F722}"/>
              </a:ext>
            </a:extLst>
          </p:cNvPr>
          <p:cNvCxnSpPr>
            <a:cxnSpLocks/>
            <a:stCxn id="81" idx="6"/>
            <a:endCxn id="3" idx="0"/>
          </p:cNvCxnSpPr>
          <p:nvPr/>
        </p:nvCxnSpPr>
        <p:spPr>
          <a:xfrm>
            <a:off x="7006957" y="1329964"/>
            <a:ext cx="1623498" cy="3069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手繪多邊形: 圖案 16">
            <a:extLst>
              <a:ext uri="{FF2B5EF4-FFF2-40B4-BE49-F238E27FC236}">
                <a16:creationId xmlns:a16="http://schemas.microsoft.com/office/drawing/2014/main" id="{D170BD3E-FF52-4932-B646-9259B5340C1E}"/>
              </a:ext>
            </a:extLst>
          </p:cNvPr>
          <p:cNvSpPr/>
          <p:nvPr/>
        </p:nvSpPr>
        <p:spPr>
          <a:xfrm>
            <a:off x="6947391" y="2961435"/>
            <a:ext cx="202641" cy="1427487"/>
          </a:xfrm>
          <a:custGeom>
            <a:avLst/>
            <a:gdLst>
              <a:gd name="connsiteX0" fmla="*/ 0 w 937723"/>
              <a:gd name="connsiteY0" fmla="*/ 0 h 2735580"/>
              <a:gd name="connsiteX1" fmla="*/ 937260 w 937723"/>
              <a:gd name="connsiteY1" fmla="*/ 1341120 h 2735580"/>
              <a:gd name="connsiteX2" fmla="*/ 99060 w 937723"/>
              <a:gd name="connsiteY2" fmla="*/ 2735580 h 2735580"/>
            </a:gdLst>
            <a:ahLst/>
            <a:cxnLst>
              <a:cxn ang="0">
                <a:pos x="connsiteX0" y="connsiteY0"/>
              </a:cxn>
              <a:cxn ang="0">
                <a:pos x="connsiteX1" y="connsiteY1"/>
              </a:cxn>
              <a:cxn ang="0">
                <a:pos x="connsiteX2" y="connsiteY2"/>
              </a:cxn>
            </a:cxnLst>
            <a:rect l="l" t="t" r="r" b="b"/>
            <a:pathLst>
              <a:path w="937723" h="2735580">
                <a:moveTo>
                  <a:pt x="0" y="0"/>
                </a:moveTo>
                <a:cubicBezTo>
                  <a:pt x="460375" y="442595"/>
                  <a:pt x="920750" y="885190"/>
                  <a:pt x="937260" y="1341120"/>
                </a:cubicBezTo>
                <a:cubicBezTo>
                  <a:pt x="953770" y="1797050"/>
                  <a:pt x="526415" y="2266315"/>
                  <a:pt x="99060" y="2735580"/>
                </a:cubicBezTo>
              </a:path>
            </a:pathLst>
          </a:custGeom>
          <a:noFill/>
          <a:ln w="190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66" name="直線單箭頭接點 65">
            <a:extLst>
              <a:ext uri="{FF2B5EF4-FFF2-40B4-BE49-F238E27FC236}">
                <a16:creationId xmlns:a16="http://schemas.microsoft.com/office/drawing/2014/main" id="{9B350F29-B617-4BB0-B1F9-BBA996FBED02}"/>
              </a:ext>
            </a:extLst>
          </p:cNvPr>
          <p:cNvCxnSpPr>
            <a:cxnSpLocks/>
            <a:stCxn id="85" idx="3"/>
            <a:endCxn id="28" idx="7"/>
          </p:cNvCxnSpPr>
          <p:nvPr/>
        </p:nvCxnSpPr>
        <p:spPr>
          <a:xfrm flipH="1">
            <a:off x="4730561" y="2381323"/>
            <a:ext cx="1614118" cy="9903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直線單箭頭接點 72">
            <a:extLst>
              <a:ext uri="{FF2B5EF4-FFF2-40B4-BE49-F238E27FC236}">
                <a16:creationId xmlns:a16="http://schemas.microsoft.com/office/drawing/2014/main" id="{A1DEBB04-C4C8-4139-AF98-1563B005EB89}"/>
              </a:ext>
            </a:extLst>
          </p:cNvPr>
          <p:cNvCxnSpPr>
            <a:cxnSpLocks/>
            <a:stCxn id="85" idx="3"/>
            <a:endCxn id="36" idx="7"/>
          </p:cNvCxnSpPr>
          <p:nvPr/>
        </p:nvCxnSpPr>
        <p:spPr>
          <a:xfrm flipH="1">
            <a:off x="4730561" y="2381323"/>
            <a:ext cx="1614118" cy="3031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文字方塊 131">
            <a:extLst>
              <a:ext uri="{FF2B5EF4-FFF2-40B4-BE49-F238E27FC236}">
                <a16:creationId xmlns:a16="http://schemas.microsoft.com/office/drawing/2014/main" id="{5CAE0AEE-A250-4D74-B248-E65177D152FA}"/>
              </a:ext>
            </a:extLst>
          </p:cNvPr>
          <p:cNvSpPr txBox="1"/>
          <p:nvPr/>
        </p:nvSpPr>
        <p:spPr>
          <a:xfrm>
            <a:off x="6062881" y="2292566"/>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cxnSp>
        <p:nvCxnSpPr>
          <p:cNvPr id="63" name="直線單箭頭接點 62">
            <a:extLst>
              <a:ext uri="{FF2B5EF4-FFF2-40B4-BE49-F238E27FC236}">
                <a16:creationId xmlns:a16="http://schemas.microsoft.com/office/drawing/2014/main" id="{4AB9F97E-3CE8-4988-8BF5-C1A1A22771CB}"/>
              </a:ext>
            </a:extLst>
          </p:cNvPr>
          <p:cNvCxnSpPr>
            <a:cxnSpLocks/>
            <a:stCxn id="44" idx="6"/>
            <a:endCxn id="3" idx="2"/>
          </p:cNvCxnSpPr>
          <p:nvPr/>
        </p:nvCxnSpPr>
        <p:spPr>
          <a:xfrm flipV="1">
            <a:off x="6950447" y="4695555"/>
            <a:ext cx="1280053" cy="421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47637CAD-93A6-4173-8595-067452607270}"/>
              </a:ext>
            </a:extLst>
          </p:cNvPr>
          <p:cNvCxnSpPr>
            <a:cxnSpLocks/>
            <a:stCxn id="48" idx="6"/>
            <a:endCxn id="3" idx="3"/>
          </p:cNvCxnSpPr>
          <p:nvPr/>
        </p:nvCxnSpPr>
        <p:spPr>
          <a:xfrm flipV="1">
            <a:off x="6957977" y="4904972"/>
            <a:ext cx="1389667" cy="922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B2CD5875-EF8A-4D1B-872B-5C3A41E33B39}"/>
              </a:ext>
            </a:extLst>
          </p:cNvPr>
          <p:cNvCxnSpPr>
            <a:cxnSpLocks/>
            <a:stCxn id="4" idx="4"/>
            <a:endCxn id="13" idx="0"/>
          </p:cNvCxnSpPr>
          <p:nvPr/>
        </p:nvCxnSpPr>
        <p:spPr>
          <a:xfrm>
            <a:off x="6562849" y="3903929"/>
            <a:ext cx="6802" cy="24628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9" name="橢圓 38">
            <a:extLst>
              <a:ext uri="{FF2B5EF4-FFF2-40B4-BE49-F238E27FC236}">
                <a16:creationId xmlns:a16="http://schemas.microsoft.com/office/drawing/2014/main" id="{92E968CE-BB76-4594-BDD1-569B83DAE19D}"/>
              </a:ext>
            </a:extLst>
          </p:cNvPr>
          <p:cNvSpPr/>
          <p:nvPr/>
        </p:nvSpPr>
        <p:spPr>
          <a:xfrm>
            <a:off x="9825620" y="3308094"/>
            <a:ext cx="799910" cy="59232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1" name="表格 10">
            <a:extLst>
              <a:ext uri="{FF2B5EF4-FFF2-40B4-BE49-F238E27FC236}">
                <a16:creationId xmlns:a16="http://schemas.microsoft.com/office/drawing/2014/main" id="{912F5946-798D-46B2-8770-3124BAE7AA6A}"/>
              </a:ext>
            </a:extLst>
          </p:cNvPr>
          <p:cNvGraphicFramePr>
            <a:graphicFrameLocks noGrp="1"/>
          </p:cNvGraphicFramePr>
          <p:nvPr/>
        </p:nvGraphicFramePr>
        <p:xfrm>
          <a:off x="9825187" y="3363893"/>
          <a:ext cx="799910" cy="465020"/>
        </p:xfrm>
        <a:graphic>
          <a:graphicData uri="http://schemas.openxmlformats.org/drawingml/2006/table">
            <a:tbl>
              <a:tblPr firstRow="1" bandRow="1">
                <a:tableStyleId>{5940675A-B579-460E-94D1-54222C63F5DA}</a:tableStyleId>
              </a:tblPr>
              <a:tblGrid>
                <a:gridCol w="799910">
                  <a:extLst>
                    <a:ext uri="{9D8B030D-6E8A-4147-A177-3AD203B41FA5}">
                      <a16:colId xmlns:a16="http://schemas.microsoft.com/office/drawing/2014/main" val="2029496448"/>
                    </a:ext>
                  </a:extLst>
                </a:gridCol>
              </a:tblGrid>
              <a:tr h="465020">
                <a:tc>
                  <a:txBody>
                    <a:bodyPr/>
                    <a:lstStyle/>
                    <a:p>
                      <a:pPr algn="ctr"/>
                      <a:r>
                        <a:rPr lang="en-US" altLang="zh-TW" sz="1600" dirty="0">
                          <a:latin typeface="Times New Roman" panose="02020603050405020304" pitchFamily="18" charset="0"/>
                          <a:cs typeface="Times New Roman" panose="02020603050405020304" pitchFamily="18" charset="0"/>
                        </a:rPr>
                        <a:t>(</a:t>
                      </a:r>
                      <a:r>
                        <a:rPr lang="zh-TW" altLang="en-US" sz="1800" b="0" i="0" kern="1200" dirty="0">
                          <a:solidFill>
                            <a:schemeClr val="tx1"/>
                          </a:solidFill>
                          <a:effectLst/>
                          <a:latin typeface="+mn-lt"/>
                          <a:ea typeface="+mn-ea"/>
                          <a:cs typeface="+mn-cs"/>
                        </a:rPr>
                        <a:t>∞</a:t>
                      </a:r>
                      <a:r>
                        <a:rPr lang="en-US" altLang="zh-TW" sz="1600" b="0" i="0" kern="1200" dirty="0">
                          <a:solidFill>
                            <a:schemeClr val="tx1"/>
                          </a:solidFill>
                          <a:effectLst/>
                          <a:latin typeface="Times New Roman" panose="02020603050405020304" pitchFamily="18" charset="0"/>
                          <a:ea typeface="+mn-ea"/>
                          <a:cs typeface="Times New Roman" panose="02020603050405020304" pitchFamily="18" charset="0"/>
                        </a:rPr>
                        <a:t>,</a:t>
                      </a:r>
                      <a:r>
                        <a:rPr lang="zh-TW" altLang="en-US" sz="1800" b="0" i="0" kern="1200" dirty="0">
                          <a:solidFill>
                            <a:schemeClr val="tx1"/>
                          </a:solidFill>
                          <a:effectLst/>
                          <a:latin typeface="+mn-lt"/>
                          <a:ea typeface="+mn-ea"/>
                          <a:cs typeface="+mn-cs"/>
                        </a:rPr>
                        <a:t>∞</a:t>
                      </a: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2" name="直線單箭頭接點 81">
            <a:extLst>
              <a:ext uri="{FF2B5EF4-FFF2-40B4-BE49-F238E27FC236}">
                <a16:creationId xmlns:a16="http://schemas.microsoft.com/office/drawing/2014/main" id="{2911C8FA-07DB-43A9-B63D-8C1AF8E4D451}"/>
              </a:ext>
            </a:extLst>
          </p:cNvPr>
          <p:cNvCxnSpPr>
            <a:cxnSpLocks/>
            <a:stCxn id="13" idx="6"/>
            <a:endCxn id="39" idx="2"/>
          </p:cNvCxnSpPr>
          <p:nvPr/>
        </p:nvCxnSpPr>
        <p:spPr>
          <a:xfrm flipV="1">
            <a:off x="6957604" y="3604255"/>
            <a:ext cx="2868016" cy="8285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3" name="文字方塊 52">
            <a:extLst>
              <a:ext uri="{FF2B5EF4-FFF2-40B4-BE49-F238E27FC236}">
                <a16:creationId xmlns:a16="http://schemas.microsoft.com/office/drawing/2014/main" id="{4197F844-00A8-40B6-8135-63A25FF09219}"/>
              </a:ext>
            </a:extLst>
          </p:cNvPr>
          <p:cNvSpPr txBox="1"/>
          <p:nvPr/>
        </p:nvSpPr>
        <p:spPr>
          <a:xfrm>
            <a:off x="8298687" y="4957520"/>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sp>
        <p:nvSpPr>
          <p:cNvPr id="57" name="文字方塊 56">
            <a:extLst>
              <a:ext uri="{FF2B5EF4-FFF2-40B4-BE49-F238E27FC236}">
                <a16:creationId xmlns:a16="http://schemas.microsoft.com/office/drawing/2014/main" id="{1CC048EA-2539-45CA-BFAF-11D4CEA81443}"/>
              </a:ext>
            </a:extLst>
          </p:cNvPr>
          <p:cNvSpPr txBox="1"/>
          <p:nvPr/>
        </p:nvSpPr>
        <p:spPr>
          <a:xfrm>
            <a:off x="9902700" y="3918999"/>
            <a:ext cx="30008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6</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62836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橢圓 23">
            <a:extLst>
              <a:ext uri="{FF2B5EF4-FFF2-40B4-BE49-F238E27FC236}">
                <a16:creationId xmlns:a16="http://schemas.microsoft.com/office/drawing/2014/main" id="{DCC29369-01DD-4661-A316-D53204BF861B}"/>
              </a:ext>
            </a:extLst>
          </p:cNvPr>
          <p:cNvSpPr/>
          <p:nvPr/>
        </p:nvSpPr>
        <p:spPr>
          <a:xfrm>
            <a:off x="2131222" y="3154867"/>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088799B5-A499-4B97-BBA3-FB0FD1944716}"/>
              </a:ext>
            </a:extLst>
          </p:cNvPr>
          <p:cNvSpPr/>
          <p:nvPr/>
        </p:nvSpPr>
        <p:spPr>
          <a:xfrm>
            <a:off x="790563" y="3154867"/>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C5392AC8-835E-4AEF-B4B9-3A1CE5EC8C90}"/>
              </a:ext>
            </a:extLst>
          </p:cNvPr>
          <p:cNvSpPr/>
          <p:nvPr/>
        </p:nvSpPr>
        <p:spPr>
          <a:xfrm>
            <a:off x="5232989" y="3151439"/>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EBBB421-652F-4AB9-BDC5-6DBE52F2E532}"/>
              </a:ext>
            </a:extLst>
          </p:cNvPr>
          <p:cNvSpPr/>
          <p:nvPr/>
        </p:nvSpPr>
        <p:spPr>
          <a:xfrm>
            <a:off x="3626726" y="3144155"/>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20AB223-69EE-4A6D-B06D-B1E376D4F4E2}"/>
              </a:ext>
            </a:extLst>
          </p:cNvPr>
          <p:cNvSpPr txBox="1"/>
          <p:nvPr/>
        </p:nvSpPr>
        <p:spPr>
          <a:xfrm>
            <a:off x="812367" y="608303"/>
            <a:ext cx="296506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 = G A </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G C G T A </a:t>
            </a:r>
          </a:p>
          <a:p>
            <a:r>
              <a:rPr lang="en-US" altLang="zh-TW" sz="2400" dirty="0">
                <a:latin typeface="Times New Roman" panose="02020603050405020304" pitchFamily="18" charset="0"/>
                <a:cs typeface="Times New Roman" panose="02020603050405020304" pitchFamily="18" charset="0"/>
              </a:rPr>
              <a:t>B = A G T C T G A C</a:t>
            </a:r>
          </a:p>
          <a:p>
            <a:r>
              <a:rPr lang="en-US" altLang="zh-TW" sz="24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1   2  3  4   5  6  7  8</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22" name="表格 10">
            <a:extLst>
              <a:ext uri="{FF2B5EF4-FFF2-40B4-BE49-F238E27FC236}">
                <a16:creationId xmlns:a16="http://schemas.microsoft.com/office/drawing/2014/main" id="{5C67AAFD-1132-4519-B3C6-791EFC834FF1}"/>
              </a:ext>
            </a:extLst>
          </p:cNvPr>
          <p:cNvGraphicFramePr>
            <a:graphicFrameLocks noGrp="1"/>
          </p:cNvGraphicFramePr>
          <p:nvPr>
            <p:extLst>
              <p:ext uri="{D42A27DB-BD31-4B8C-83A1-F6EECF244321}">
                <p14:modId xmlns:p14="http://schemas.microsoft.com/office/powerpoint/2010/main" val="3479950237"/>
              </p:ext>
            </p:extLst>
          </p:nvPr>
        </p:nvGraphicFramePr>
        <p:xfrm>
          <a:off x="2231654" y="3113693"/>
          <a:ext cx="719040" cy="801263"/>
        </p:xfrm>
        <a:graphic>
          <a:graphicData uri="http://schemas.openxmlformats.org/drawingml/2006/table">
            <a:tbl>
              <a:tblPr firstRow="1" bandRow="1">
                <a:tableStyleId>{5940675A-B579-460E-94D1-54222C63F5DA}</a:tableStyleId>
              </a:tblPr>
              <a:tblGrid>
                <a:gridCol w="719040">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(2,1)</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26" name="表格 10">
            <a:extLst>
              <a:ext uri="{FF2B5EF4-FFF2-40B4-BE49-F238E27FC236}">
                <a16:creationId xmlns:a16="http://schemas.microsoft.com/office/drawing/2014/main" id="{D82D1A17-F21E-4B86-9891-3A2F2B66F3EB}"/>
              </a:ext>
            </a:extLst>
          </p:cNvPr>
          <p:cNvGraphicFramePr>
            <a:graphicFrameLocks noGrp="1"/>
          </p:cNvGraphicFramePr>
          <p:nvPr>
            <p:extLst>
              <p:ext uri="{D42A27DB-BD31-4B8C-83A1-F6EECF244321}">
                <p14:modId xmlns:p14="http://schemas.microsoft.com/office/powerpoint/2010/main" val="3876524867"/>
              </p:ext>
            </p:extLst>
          </p:nvPr>
        </p:nvGraphicFramePr>
        <p:xfrm>
          <a:off x="5275560" y="3113693"/>
          <a:ext cx="777519" cy="801263"/>
        </p:xfrm>
        <a:graphic>
          <a:graphicData uri="http://schemas.openxmlformats.org/drawingml/2006/table">
            <a:tbl>
              <a:tblPr firstRow="1" bandRow="1">
                <a:tableStyleId>{5940675A-B579-460E-94D1-54222C63F5DA}</a:tableStyleId>
              </a:tblPr>
              <a:tblGrid>
                <a:gridCol w="777519">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C</a:t>
                      </a:r>
                    </a:p>
                    <a:p>
                      <a:pPr algn="ctr"/>
                      <a:r>
                        <a:rPr lang="en-US" altLang="zh-TW" sz="1600" dirty="0">
                          <a:latin typeface="Times New Roman" panose="02020603050405020304" pitchFamily="18" charset="0"/>
                          <a:cs typeface="Times New Roman" panose="02020603050405020304" pitchFamily="18" charset="0"/>
                        </a:rPr>
                        <a:t>(5,4)</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40" name="直線單箭頭接點 39">
            <a:extLst>
              <a:ext uri="{FF2B5EF4-FFF2-40B4-BE49-F238E27FC236}">
                <a16:creationId xmlns:a16="http://schemas.microsoft.com/office/drawing/2014/main" id="{59435186-FCA3-4C2F-9120-12B8191C66BB}"/>
              </a:ext>
            </a:extLst>
          </p:cNvPr>
          <p:cNvCxnSpPr>
            <a:cxnSpLocks/>
            <a:stCxn id="24" idx="2"/>
            <a:endCxn id="20" idx="6"/>
          </p:cNvCxnSpPr>
          <p:nvPr/>
        </p:nvCxnSpPr>
        <p:spPr>
          <a:xfrm flipH="1">
            <a:off x="1711085" y="3545802"/>
            <a:ext cx="42013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14" name="表格 10">
            <a:extLst>
              <a:ext uri="{FF2B5EF4-FFF2-40B4-BE49-F238E27FC236}">
                <a16:creationId xmlns:a16="http://schemas.microsoft.com/office/drawing/2014/main" id="{3F63C3D9-7708-4073-BBBD-D20A111276FE}"/>
              </a:ext>
            </a:extLst>
          </p:cNvPr>
          <p:cNvGraphicFramePr>
            <a:graphicFrameLocks noGrp="1"/>
          </p:cNvGraphicFramePr>
          <p:nvPr>
            <p:extLst>
              <p:ext uri="{D42A27DB-BD31-4B8C-83A1-F6EECF244321}">
                <p14:modId xmlns:p14="http://schemas.microsoft.com/office/powerpoint/2010/main" val="3154191534"/>
              </p:ext>
            </p:extLst>
          </p:nvPr>
        </p:nvGraphicFramePr>
        <p:xfrm>
          <a:off x="883672" y="3106328"/>
          <a:ext cx="685707" cy="801263"/>
        </p:xfrm>
        <a:graphic>
          <a:graphicData uri="http://schemas.openxmlformats.org/drawingml/2006/table">
            <a:tbl>
              <a:tblPr firstRow="1" bandRow="1">
                <a:tableStyleId>{5940675A-B579-460E-94D1-54222C63F5DA}</a:tableStyleId>
              </a:tblPr>
              <a:tblGrid>
                <a:gridCol w="685707">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O</a:t>
                      </a:r>
                    </a:p>
                    <a:p>
                      <a:pPr algn="ctr"/>
                      <a:r>
                        <a:rPr lang="en-US" altLang="zh-TW" sz="1600" dirty="0">
                          <a:latin typeface="Times New Roman" panose="02020603050405020304" pitchFamily="18" charset="0"/>
                          <a:cs typeface="Times New Roman" panose="02020603050405020304" pitchFamily="18" charset="0"/>
                        </a:rPr>
                        <a:t>(0,0)</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68" name="文字方塊 67">
            <a:extLst>
              <a:ext uri="{FF2B5EF4-FFF2-40B4-BE49-F238E27FC236}">
                <a16:creationId xmlns:a16="http://schemas.microsoft.com/office/drawing/2014/main" id="{B7028D8F-BE2A-4A2A-8FA9-90CA0D3B82E2}"/>
              </a:ext>
            </a:extLst>
          </p:cNvPr>
          <p:cNvSpPr txBox="1"/>
          <p:nvPr/>
        </p:nvSpPr>
        <p:spPr>
          <a:xfrm>
            <a:off x="1125843" y="4012926"/>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0</a:t>
            </a:r>
            <a:endParaRPr lang="zh-TW" altLang="en-US" b="1" dirty="0">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2B944DD1-8EC5-4323-864C-E52674456C7E}"/>
              </a:ext>
            </a:extLst>
          </p:cNvPr>
          <p:cNvSpPr txBox="1"/>
          <p:nvPr/>
        </p:nvSpPr>
        <p:spPr>
          <a:xfrm>
            <a:off x="2435972" y="4018075"/>
            <a:ext cx="357915"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8BB7BF88-C712-427B-B46B-07A08325585C}"/>
              </a:ext>
            </a:extLst>
          </p:cNvPr>
          <p:cNvSpPr txBox="1"/>
          <p:nvPr/>
        </p:nvSpPr>
        <p:spPr>
          <a:xfrm>
            <a:off x="5510852" y="4109326"/>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3</a:t>
            </a:r>
            <a:endParaRPr lang="zh-TW" altLang="en-US" b="1" dirty="0">
              <a:latin typeface="Times New Roman" panose="02020603050405020304" pitchFamily="18" charset="0"/>
              <a:cs typeface="Times New Roman" panose="02020603050405020304" pitchFamily="18" charset="0"/>
            </a:endParaRPr>
          </a:p>
        </p:txBody>
      </p:sp>
      <p:graphicFrame>
        <p:nvGraphicFramePr>
          <p:cNvPr id="83" name="表格 10">
            <a:extLst>
              <a:ext uri="{FF2B5EF4-FFF2-40B4-BE49-F238E27FC236}">
                <a16:creationId xmlns:a16="http://schemas.microsoft.com/office/drawing/2014/main" id="{E17ABB0D-2F5E-43AF-892B-7AA9C8C6A72C}"/>
              </a:ext>
            </a:extLst>
          </p:cNvPr>
          <p:cNvGraphicFramePr>
            <a:graphicFrameLocks noGrp="1"/>
          </p:cNvGraphicFramePr>
          <p:nvPr>
            <p:extLst>
              <p:ext uri="{D42A27DB-BD31-4B8C-83A1-F6EECF244321}">
                <p14:modId xmlns:p14="http://schemas.microsoft.com/office/powerpoint/2010/main" val="1367817043"/>
              </p:ext>
            </p:extLst>
          </p:nvPr>
        </p:nvGraphicFramePr>
        <p:xfrm>
          <a:off x="3720157" y="3113693"/>
          <a:ext cx="719040" cy="801263"/>
        </p:xfrm>
        <a:graphic>
          <a:graphicData uri="http://schemas.openxmlformats.org/drawingml/2006/table">
            <a:tbl>
              <a:tblPr firstRow="1" bandRow="1">
                <a:tableStyleId>{5940675A-B579-460E-94D1-54222C63F5DA}</a:tableStyleId>
              </a:tblPr>
              <a:tblGrid>
                <a:gridCol w="719040">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(4,2)</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88" name="直線單箭頭接點 87">
            <a:extLst>
              <a:ext uri="{FF2B5EF4-FFF2-40B4-BE49-F238E27FC236}">
                <a16:creationId xmlns:a16="http://schemas.microsoft.com/office/drawing/2014/main" id="{968790DC-E6FD-4E94-8A8E-A84ECCBACD00}"/>
              </a:ext>
            </a:extLst>
          </p:cNvPr>
          <p:cNvCxnSpPr>
            <a:cxnSpLocks/>
            <a:stCxn id="85" idx="2"/>
            <a:endCxn id="24" idx="6"/>
          </p:cNvCxnSpPr>
          <p:nvPr/>
        </p:nvCxnSpPr>
        <p:spPr>
          <a:xfrm flipH="1">
            <a:off x="3051744" y="3535090"/>
            <a:ext cx="574982" cy="107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7" name="直線單箭頭接點 36">
            <a:extLst>
              <a:ext uri="{FF2B5EF4-FFF2-40B4-BE49-F238E27FC236}">
                <a16:creationId xmlns:a16="http://schemas.microsoft.com/office/drawing/2014/main" id="{9D6CAFD6-E044-4AAD-947B-BFB78C319E1E}"/>
              </a:ext>
            </a:extLst>
          </p:cNvPr>
          <p:cNvCxnSpPr>
            <a:cxnSpLocks/>
            <a:stCxn id="5" idx="2"/>
            <a:endCxn id="28" idx="6"/>
          </p:cNvCxnSpPr>
          <p:nvPr/>
        </p:nvCxnSpPr>
        <p:spPr>
          <a:xfrm flipH="1">
            <a:off x="6153511" y="2830555"/>
            <a:ext cx="892146" cy="71181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橢圓 3">
            <a:extLst>
              <a:ext uri="{FF2B5EF4-FFF2-40B4-BE49-F238E27FC236}">
                <a16:creationId xmlns:a16="http://schemas.microsoft.com/office/drawing/2014/main" id="{65EB9933-798C-4003-AC5D-B049F403B8A0}"/>
              </a:ext>
            </a:extLst>
          </p:cNvPr>
          <p:cNvSpPr/>
          <p:nvPr/>
        </p:nvSpPr>
        <p:spPr>
          <a:xfrm>
            <a:off x="6991410" y="3949079"/>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70E3F067-D41F-40A4-95D3-9460E76C324A}"/>
              </a:ext>
            </a:extLst>
          </p:cNvPr>
          <p:cNvSpPr/>
          <p:nvPr/>
        </p:nvSpPr>
        <p:spPr>
          <a:xfrm>
            <a:off x="7045657" y="2439620"/>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10">
            <a:extLst>
              <a:ext uri="{FF2B5EF4-FFF2-40B4-BE49-F238E27FC236}">
                <a16:creationId xmlns:a16="http://schemas.microsoft.com/office/drawing/2014/main" id="{B03AD1C9-DABE-4088-8B27-713A355F24D7}"/>
              </a:ext>
            </a:extLst>
          </p:cNvPr>
          <p:cNvGraphicFramePr>
            <a:graphicFrameLocks noGrp="1"/>
          </p:cNvGraphicFramePr>
          <p:nvPr>
            <p:extLst>
              <p:ext uri="{D42A27DB-BD31-4B8C-83A1-F6EECF244321}">
                <p14:modId xmlns:p14="http://schemas.microsoft.com/office/powerpoint/2010/main" val="1860113667"/>
              </p:ext>
            </p:extLst>
          </p:nvPr>
        </p:nvGraphicFramePr>
        <p:xfrm>
          <a:off x="7156799" y="2414525"/>
          <a:ext cx="719040" cy="801263"/>
        </p:xfrm>
        <a:graphic>
          <a:graphicData uri="http://schemas.openxmlformats.org/drawingml/2006/table">
            <a:tbl>
              <a:tblPr firstRow="1" bandRow="1">
                <a:tableStyleId>{5940675A-B579-460E-94D1-54222C63F5DA}</a:tableStyleId>
              </a:tblPr>
              <a:tblGrid>
                <a:gridCol w="719040">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T</a:t>
                      </a:r>
                    </a:p>
                    <a:p>
                      <a:pPr algn="ctr"/>
                      <a:r>
                        <a:rPr lang="en-US" altLang="zh-TW" sz="1600" dirty="0">
                          <a:latin typeface="Times New Roman" panose="02020603050405020304" pitchFamily="18" charset="0"/>
                          <a:cs typeface="Times New Roman" panose="02020603050405020304" pitchFamily="18" charset="0"/>
                        </a:rPr>
                        <a:t>(7,5)</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graphicFrame>
        <p:nvGraphicFramePr>
          <p:cNvPr id="8" name="表格 10">
            <a:extLst>
              <a:ext uri="{FF2B5EF4-FFF2-40B4-BE49-F238E27FC236}">
                <a16:creationId xmlns:a16="http://schemas.microsoft.com/office/drawing/2014/main" id="{B4B9E89C-4697-4C07-8375-DE05BF961B23}"/>
              </a:ext>
            </a:extLst>
          </p:cNvPr>
          <p:cNvGraphicFramePr>
            <a:graphicFrameLocks noGrp="1"/>
          </p:cNvGraphicFramePr>
          <p:nvPr>
            <p:extLst>
              <p:ext uri="{D42A27DB-BD31-4B8C-83A1-F6EECF244321}">
                <p14:modId xmlns:p14="http://schemas.microsoft.com/office/powerpoint/2010/main" val="3518055483"/>
              </p:ext>
            </p:extLst>
          </p:nvPr>
        </p:nvGraphicFramePr>
        <p:xfrm>
          <a:off x="7102785" y="3912490"/>
          <a:ext cx="719040" cy="801263"/>
        </p:xfrm>
        <a:graphic>
          <a:graphicData uri="http://schemas.openxmlformats.org/drawingml/2006/table">
            <a:tbl>
              <a:tblPr firstRow="1" bandRow="1">
                <a:tableStyleId>{5940675A-B579-460E-94D1-54222C63F5DA}</a:tableStyleId>
              </a:tblPr>
              <a:tblGrid>
                <a:gridCol w="719040">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G</a:t>
                      </a:r>
                    </a:p>
                    <a:p>
                      <a:pPr algn="ctr"/>
                      <a:r>
                        <a:rPr lang="en-US" altLang="zh-TW" sz="1600" dirty="0">
                          <a:latin typeface="Times New Roman" panose="02020603050405020304" pitchFamily="18" charset="0"/>
                          <a:cs typeface="Times New Roman" panose="02020603050405020304" pitchFamily="18" charset="0"/>
                        </a:rPr>
                        <a:t>(6,6)</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13" name="橢圓 12">
            <a:extLst>
              <a:ext uri="{FF2B5EF4-FFF2-40B4-BE49-F238E27FC236}">
                <a16:creationId xmlns:a16="http://schemas.microsoft.com/office/drawing/2014/main" id="{548F3952-A966-40CB-9E72-B725DA39CFAF}"/>
              </a:ext>
            </a:extLst>
          </p:cNvPr>
          <p:cNvSpPr/>
          <p:nvPr/>
        </p:nvSpPr>
        <p:spPr>
          <a:xfrm>
            <a:off x="9004168" y="3186065"/>
            <a:ext cx="920522" cy="781869"/>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0">
            <a:extLst>
              <a:ext uri="{FF2B5EF4-FFF2-40B4-BE49-F238E27FC236}">
                <a16:creationId xmlns:a16="http://schemas.microsoft.com/office/drawing/2014/main" id="{A490D651-93CA-4E91-B029-E907A69A9C02}"/>
              </a:ext>
            </a:extLst>
          </p:cNvPr>
          <p:cNvGraphicFramePr>
            <a:graphicFrameLocks noGrp="1"/>
          </p:cNvGraphicFramePr>
          <p:nvPr>
            <p:extLst>
              <p:ext uri="{D42A27DB-BD31-4B8C-83A1-F6EECF244321}">
                <p14:modId xmlns:p14="http://schemas.microsoft.com/office/powerpoint/2010/main" val="2957439178"/>
              </p:ext>
            </p:extLst>
          </p:nvPr>
        </p:nvGraphicFramePr>
        <p:xfrm>
          <a:off x="9079362" y="3125144"/>
          <a:ext cx="719040" cy="801263"/>
        </p:xfrm>
        <a:graphic>
          <a:graphicData uri="http://schemas.openxmlformats.org/drawingml/2006/table">
            <a:tbl>
              <a:tblPr firstRow="1" bandRow="1">
                <a:tableStyleId>{5940675A-B579-460E-94D1-54222C63F5DA}</a:tableStyleId>
              </a:tblPr>
              <a:tblGrid>
                <a:gridCol w="719040">
                  <a:extLst>
                    <a:ext uri="{9D8B030D-6E8A-4147-A177-3AD203B41FA5}">
                      <a16:colId xmlns:a16="http://schemas.microsoft.com/office/drawing/2014/main" val="2029496448"/>
                    </a:ext>
                  </a:extLst>
                </a:gridCol>
              </a:tblGrid>
              <a:tr h="801263">
                <a:tc>
                  <a:txBody>
                    <a:bodyPr/>
                    <a:lstStyle/>
                    <a:p>
                      <a:pPr algn="ctr"/>
                      <a:r>
                        <a:rPr lang="en-US" altLang="zh-TW" sz="1600" dirty="0">
                          <a:latin typeface="Times New Roman" panose="02020603050405020304" pitchFamily="18" charset="0"/>
                          <a:cs typeface="Times New Roman" panose="02020603050405020304" pitchFamily="18" charset="0"/>
                        </a:rPr>
                        <a:t>A</a:t>
                      </a:r>
                    </a:p>
                    <a:p>
                      <a:pPr algn="ctr"/>
                      <a:r>
                        <a:rPr lang="en-US" altLang="zh-TW" sz="1600" dirty="0">
                          <a:latin typeface="Times New Roman" panose="02020603050405020304" pitchFamily="18" charset="0"/>
                          <a:cs typeface="Times New Roman" panose="02020603050405020304" pitchFamily="18" charset="0"/>
                        </a:rPr>
                        <a:t>(8,7)</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cxnSp>
        <p:nvCxnSpPr>
          <p:cNvPr id="60" name="直線單箭頭接點 59">
            <a:extLst>
              <a:ext uri="{FF2B5EF4-FFF2-40B4-BE49-F238E27FC236}">
                <a16:creationId xmlns:a16="http://schemas.microsoft.com/office/drawing/2014/main" id="{2A5FB81C-99F7-4323-97B5-723331A2CED3}"/>
              </a:ext>
            </a:extLst>
          </p:cNvPr>
          <p:cNvCxnSpPr>
            <a:cxnSpLocks/>
            <a:stCxn id="4" idx="2"/>
            <a:endCxn id="28" idx="6"/>
          </p:cNvCxnSpPr>
          <p:nvPr/>
        </p:nvCxnSpPr>
        <p:spPr>
          <a:xfrm flipH="1" flipV="1">
            <a:off x="6153511" y="3542374"/>
            <a:ext cx="837899" cy="7976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5" name="文字方塊 34">
            <a:extLst>
              <a:ext uri="{FF2B5EF4-FFF2-40B4-BE49-F238E27FC236}">
                <a16:creationId xmlns:a16="http://schemas.microsoft.com/office/drawing/2014/main" id="{946745DB-1ACE-4371-8383-D98AD2674D6E}"/>
              </a:ext>
            </a:extLst>
          </p:cNvPr>
          <p:cNvSpPr txBox="1"/>
          <p:nvPr/>
        </p:nvSpPr>
        <p:spPr>
          <a:xfrm>
            <a:off x="9286423" y="4071251"/>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5</a:t>
            </a:r>
            <a:endParaRPr lang="zh-TW" altLang="en-US"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28E074C1-DAFF-44B0-8FB9-675820BA3D29}"/>
              </a:ext>
            </a:extLst>
          </p:cNvPr>
          <p:cNvSpPr txBox="1"/>
          <p:nvPr/>
        </p:nvSpPr>
        <p:spPr>
          <a:xfrm>
            <a:off x="7362661" y="3232927"/>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4</a:t>
            </a:r>
            <a:endParaRPr lang="zh-TW" altLang="en-US" b="1"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3CACFAC7-7413-46DF-8A69-C9CA58296BEB}"/>
              </a:ext>
            </a:extLst>
          </p:cNvPr>
          <p:cNvSpPr txBox="1"/>
          <p:nvPr/>
        </p:nvSpPr>
        <p:spPr>
          <a:xfrm>
            <a:off x="7312848" y="4765800"/>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4</a:t>
            </a:r>
            <a:endParaRPr lang="zh-TW" altLang="en-US" b="1" dirty="0">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9B350F29-B617-4BB0-B1F9-BBA996FBED02}"/>
              </a:ext>
            </a:extLst>
          </p:cNvPr>
          <p:cNvCxnSpPr>
            <a:cxnSpLocks/>
            <a:stCxn id="28" idx="2"/>
            <a:endCxn id="85" idx="6"/>
          </p:cNvCxnSpPr>
          <p:nvPr/>
        </p:nvCxnSpPr>
        <p:spPr>
          <a:xfrm flipH="1" flipV="1">
            <a:off x="4547248" y="3535090"/>
            <a:ext cx="685741" cy="728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2" name="文字方塊 131">
            <a:extLst>
              <a:ext uri="{FF2B5EF4-FFF2-40B4-BE49-F238E27FC236}">
                <a16:creationId xmlns:a16="http://schemas.microsoft.com/office/drawing/2014/main" id="{5CAE0AEE-A250-4D74-B248-E65177D152FA}"/>
              </a:ext>
            </a:extLst>
          </p:cNvPr>
          <p:cNvSpPr txBox="1"/>
          <p:nvPr/>
        </p:nvSpPr>
        <p:spPr>
          <a:xfrm>
            <a:off x="3978063" y="4046748"/>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sp>
        <p:nvSpPr>
          <p:cNvPr id="39" name="橢圓 38">
            <a:extLst>
              <a:ext uri="{FF2B5EF4-FFF2-40B4-BE49-F238E27FC236}">
                <a16:creationId xmlns:a16="http://schemas.microsoft.com/office/drawing/2014/main" id="{92E968CE-BB76-4594-BDD1-569B83DAE19D}"/>
              </a:ext>
            </a:extLst>
          </p:cNvPr>
          <p:cNvSpPr/>
          <p:nvPr/>
        </p:nvSpPr>
        <p:spPr>
          <a:xfrm>
            <a:off x="10715173" y="3125144"/>
            <a:ext cx="948999" cy="819527"/>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1" name="表格 10">
            <a:extLst>
              <a:ext uri="{FF2B5EF4-FFF2-40B4-BE49-F238E27FC236}">
                <a16:creationId xmlns:a16="http://schemas.microsoft.com/office/drawing/2014/main" id="{912F5946-798D-46B2-8770-3124BAE7AA6A}"/>
              </a:ext>
            </a:extLst>
          </p:cNvPr>
          <p:cNvGraphicFramePr>
            <a:graphicFrameLocks noGrp="1"/>
          </p:cNvGraphicFramePr>
          <p:nvPr>
            <p:extLst>
              <p:ext uri="{D42A27DB-BD31-4B8C-83A1-F6EECF244321}">
                <p14:modId xmlns:p14="http://schemas.microsoft.com/office/powerpoint/2010/main" val="1936033081"/>
              </p:ext>
            </p:extLst>
          </p:nvPr>
        </p:nvGraphicFramePr>
        <p:xfrm>
          <a:off x="10696685" y="3235694"/>
          <a:ext cx="948999" cy="643395"/>
        </p:xfrm>
        <a:graphic>
          <a:graphicData uri="http://schemas.openxmlformats.org/drawingml/2006/table">
            <a:tbl>
              <a:tblPr firstRow="1" bandRow="1">
                <a:tableStyleId>{5940675A-B579-460E-94D1-54222C63F5DA}</a:tableStyleId>
              </a:tblPr>
              <a:tblGrid>
                <a:gridCol w="948999">
                  <a:extLst>
                    <a:ext uri="{9D8B030D-6E8A-4147-A177-3AD203B41FA5}">
                      <a16:colId xmlns:a16="http://schemas.microsoft.com/office/drawing/2014/main" val="2029496448"/>
                    </a:ext>
                  </a:extLst>
                </a:gridCol>
              </a:tblGrid>
              <a:tr h="643395">
                <a:tc>
                  <a:txBody>
                    <a:bodyPr/>
                    <a:lstStyle/>
                    <a:p>
                      <a:pPr algn="ctr"/>
                      <a:r>
                        <a:rPr lang="en-US" altLang="zh-TW" sz="1600" dirty="0">
                          <a:latin typeface="Times New Roman" panose="02020603050405020304" pitchFamily="18" charset="0"/>
                          <a:cs typeface="Times New Roman" panose="02020603050405020304" pitchFamily="18" charset="0"/>
                        </a:rPr>
                        <a:t>(</a:t>
                      </a:r>
                      <a:r>
                        <a:rPr lang="zh-TW" altLang="en-US" sz="1800" b="0" i="0" kern="1200" dirty="0">
                          <a:solidFill>
                            <a:schemeClr val="tx1"/>
                          </a:solidFill>
                          <a:effectLst/>
                          <a:latin typeface="+mn-lt"/>
                          <a:ea typeface="+mn-ea"/>
                          <a:cs typeface="+mn-cs"/>
                        </a:rPr>
                        <a:t>∞</a:t>
                      </a:r>
                      <a:r>
                        <a:rPr lang="en-US" altLang="zh-TW" sz="1600" b="0" i="0" kern="1200" dirty="0">
                          <a:solidFill>
                            <a:schemeClr val="tx1"/>
                          </a:solidFill>
                          <a:effectLst/>
                          <a:latin typeface="Times New Roman" panose="02020603050405020304" pitchFamily="18" charset="0"/>
                          <a:ea typeface="+mn-ea"/>
                          <a:cs typeface="Times New Roman" panose="02020603050405020304" pitchFamily="18" charset="0"/>
                        </a:rPr>
                        <a:t>,</a:t>
                      </a:r>
                      <a:r>
                        <a:rPr lang="zh-TW" altLang="en-US" sz="1800" b="0" i="0" kern="1200" dirty="0">
                          <a:solidFill>
                            <a:schemeClr val="tx1"/>
                          </a:solidFill>
                          <a:effectLst/>
                          <a:latin typeface="+mn-lt"/>
                          <a:ea typeface="+mn-ea"/>
                          <a:cs typeface="+mn-cs"/>
                        </a:rPr>
                        <a:t>∞</a:t>
                      </a: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6011996"/>
                  </a:ext>
                </a:extLst>
              </a:tr>
            </a:tbl>
          </a:graphicData>
        </a:graphic>
      </p:graphicFrame>
      <p:sp>
        <p:nvSpPr>
          <p:cNvPr id="57" name="文字方塊 56">
            <a:extLst>
              <a:ext uri="{FF2B5EF4-FFF2-40B4-BE49-F238E27FC236}">
                <a16:creationId xmlns:a16="http://schemas.microsoft.com/office/drawing/2014/main" id="{1CC048EA-2539-45CA-BFAF-11D4CEA81443}"/>
              </a:ext>
            </a:extLst>
          </p:cNvPr>
          <p:cNvSpPr txBox="1"/>
          <p:nvPr/>
        </p:nvSpPr>
        <p:spPr>
          <a:xfrm>
            <a:off x="10967491" y="4060978"/>
            <a:ext cx="35601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6</a:t>
            </a:r>
            <a:endParaRPr lang="zh-TW" altLang="en-US" b="1" dirty="0">
              <a:latin typeface="Times New Roman" panose="02020603050405020304" pitchFamily="18" charset="0"/>
              <a:cs typeface="Times New Roman" panose="02020603050405020304" pitchFamily="18" charset="0"/>
            </a:endParaRPr>
          </a:p>
        </p:txBody>
      </p:sp>
      <p:cxnSp>
        <p:nvCxnSpPr>
          <p:cNvPr id="137" name="直線單箭頭接點 136">
            <a:extLst>
              <a:ext uri="{FF2B5EF4-FFF2-40B4-BE49-F238E27FC236}">
                <a16:creationId xmlns:a16="http://schemas.microsoft.com/office/drawing/2014/main" id="{CE2C3BB7-D822-4E8B-BA75-004F672D4FF4}"/>
              </a:ext>
            </a:extLst>
          </p:cNvPr>
          <p:cNvCxnSpPr>
            <a:cxnSpLocks/>
            <a:stCxn id="13" idx="2"/>
            <a:endCxn id="4" idx="6"/>
          </p:cNvCxnSpPr>
          <p:nvPr/>
        </p:nvCxnSpPr>
        <p:spPr>
          <a:xfrm flipH="1">
            <a:off x="7911932" y="3577000"/>
            <a:ext cx="1092236" cy="7630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1" name="直線單箭頭接點 140">
            <a:extLst>
              <a:ext uri="{FF2B5EF4-FFF2-40B4-BE49-F238E27FC236}">
                <a16:creationId xmlns:a16="http://schemas.microsoft.com/office/drawing/2014/main" id="{E36D0428-9726-4CFB-81BD-3AE9873DD5A4}"/>
              </a:ext>
            </a:extLst>
          </p:cNvPr>
          <p:cNvCxnSpPr>
            <a:cxnSpLocks/>
            <a:stCxn id="13" idx="2"/>
            <a:endCxn id="5" idx="6"/>
          </p:cNvCxnSpPr>
          <p:nvPr/>
        </p:nvCxnSpPr>
        <p:spPr>
          <a:xfrm flipH="1" flipV="1">
            <a:off x="7966179" y="2830555"/>
            <a:ext cx="1037989" cy="74644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4" name="直線單箭頭接點 143">
            <a:extLst>
              <a:ext uri="{FF2B5EF4-FFF2-40B4-BE49-F238E27FC236}">
                <a16:creationId xmlns:a16="http://schemas.microsoft.com/office/drawing/2014/main" id="{321A0737-AEE7-4AC6-B8FA-F9BA4F214A03}"/>
              </a:ext>
            </a:extLst>
          </p:cNvPr>
          <p:cNvCxnSpPr>
            <a:cxnSpLocks/>
            <a:stCxn id="39" idx="2"/>
            <a:endCxn id="13" idx="6"/>
          </p:cNvCxnSpPr>
          <p:nvPr/>
        </p:nvCxnSpPr>
        <p:spPr>
          <a:xfrm flipH="1">
            <a:off x="9924690" y="3534908"/>
            <a:ext cx="790483" cy="4209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7" name="文字方塊 176">
            <a:extLst>
              <a:ext uri="{FF2B5EF4-FFF2-40B4-BE49-F238E27FC236}">
                <a16:creationId xmlns:a16="http://schemas.microsoft.com/office/drawing/2014/main" id="{E83DD6CD-C59D-425A-8609-5A409ADA54AB}"/>
              </a:ext>
            </a:extLst>
          </p:cNvPr>
          <p:cNvSpPr txBox="1"/>
          <p:nvPr/>
        </p:nvSpPr>
        <p:spPr>
          <a:xfrm>
            <a:off x="597399" y="5784796"/>
            <a:ext cx="6761327" cy="584775"/>
          </a:xfrm>
          <a:prstGeom prst="rect">
            <a:avLst/>
          </a:prstGeom>
          <a:noFill/>
        </p:spPr>
        <p:txBody>
          <a:bodyPr wrap="square">
            <a:spAutoFit/>
          </a:bodyPr>
          <a:lstStyle/>
          <a:p>
            <a:r>
              <a:rPr lang="en-US" altLang="zh-TW" sz="3200" dirty="0">
                <a:latin typeface="Times New Roman" panose="02020603050405020304" pitchFamily="18" charset="0"/>
                <a:cs typeface="Times New Roman" panose="02020603050405020304" pitchFamily="18" charset="0"/>
              </a:rPr>
              <a:t>MLCSs :  A G C G A  and  A G C T A </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4055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A80942A-AB9D-4601-BD18-71A91C92ED26}"/>
              </a:ext>
            </a:extLst>
          </p:cNvPr>
          <p:cNvSpPr>
            <a:spLocks noGrp="1"/>
          </p:cNvSpPr>
          <p:nvPr>
            <p:ph idx="1"/>
          </p:nvPr>
        </p:nvSpPr>
        <p:spPr>
          <a:xfrm>
            <a:off x="587924" y="1173014"/>
            <a:ext cx="11510914" cy="5546090"/>
          </a:xfrm>
        </p:spPr>
        <p:txBody>
          <a:bodyPr>
            <a:normAutofit fontScale="77500" lnSpcReduction="20000"/>
          </a:bodyPr>
          <a:lstStyle/>
          <a:p>
            <a:pPr>
              <a:lnSpc>
                <a:spcPct val="170000"/>
              </a:lnSpc>
            </a:pPr>
            <a:r>
              <a:rPr lang="en-US" altLang="zh-TW" sz="3000" dirty="0">
                <a:latin typeface="Times New Roman" panose="02020603050405020304" pitchFamily="18" charset="0"/>
                <a:cs typeface="Times New Roman" panose="02020603050405020304" pitchFamily="18" charset="0"/>
              </a:rPr>
              <a:t>Y. Chen, A. Wan, and W. Liu. “A fast parallel algorithm for finding the  longest common sequence of multiple </a:t>
            </a:r>
            <a:r>
              <a:rPr lang="en-US" altLang="zh-TW" sz="3000" dirty="0" err="1">
                <a:latin typeface="Times New Roman" panose="02020603050405020304" pitchFamily="18" charset="0"/>
                <a:cs typeface="Times New Roman" panose="02020603050405020304" pitchFamily="18" charset="0"/>
              </a:rPr>
              <a:t>biosequences</a:t>
            </a:r>
            <a:r>
              <a:rPr lang="en-US" altLang="zh-TW" sz="3000" dirty="0">
                <a:latin typeface="Times New Roman" panose="02020603050405020304" pitchFamily="18" charset="0"/>
                <a:cs typeface="Times New Roman" panose="02020603050405020304" pitchFamily="18" charset="0"/>
              </a:rPr>
              <a:t>.”, BMC </a:t>
            </a:r>
            <a:r>
              <a:rPr lang="en-US" altLang="zh-TW" sz="3000" dirty="0" err="1">
                <a:latin typeface="Times New Roman" panose="02020603050405020304" pitchFamily="18" charset="0"/>
                <a:cs typeface="Times New Roman" panose="02020603050405020304" pitchFamily="18" charset="0"/>
              </a:rPr>
              <a:t>Bioinformatics,vol</a:t>
            </a:r>
            <a:r>
              <a:rPr lang="en-US" altLang="zh-TW" sz="3000" dirty="0">
                <a:latin typeface="Times New Roman" panose="02020603050405020304" pitchFamily="18" charset="0"/>
                <a:cs typeface="Times New Roman" panose="02020603050405020304" pitchFamily="18" charset="0"/>
              </a:rPr>
              <a:t>. 7, no. 4, 2006.</a:t>
            </a:r>
          </a:p>
          <a:p>
            <a:pPr>
              <a:lnSpc>
                <a:spcPct val="170000"/>
              </a:lnSpc>
            </a:pPr>
            <a:r>
              <a:rPr lang="en-US" altLang="zh-TW" sz="3000" dirty="0">
                <a:latin typeface="Times New Roman" panose="02020603050405020304" pitchFamily="18" charset="0"/>
                <a:cs typeface="Times New Roman" panose="02020603050405020304" pitchFamily="18" charset="0"/>
              </a:rPr>
              <a:t>Q. Wang, D. </a:t>
            </a:r>
            <a:r>
              <a:rPr lang="en-US" altLang="zh-TW" sz="3000" dirty="0" err="1">
                <a:latin typeface="Times New Roman" panose="02020603050405020304" pitchFamily="18" charset="0"/>
                <a:cs typeface="Times New Roman" panose="02020603050405020304" pitchFamily="18" charset="0"/>
              </a:rPr>
              <a:t>Korkin</a:t>
            </a:r>
            <a:r>
              <a:rPr lang="en-US" altLang="zh-TW" sz="3000" dirty="0">
                <a:latin typeface="Times New Roman" panose="02020603050405020304" pitchFamily="18" charset="0"/>
                <a:cs typeface="Times New Roman" panose="02020603050405020304" pitchFamily="18" charset="0"/>
              </a:rPr>
              <a:t>, and Y. Shang, “A Fast Multiple Longest Common Subsequence (MLCS) Algorithm,” IEEE Trans. Knowledge and Data Eng., vol. 23, no. 3, pp. 321-334, Mar. 2011</a:t>
            </a:r>
          </a:p>
          <a:p>
            <a:pPr>
              <a:lnSpc>
                <a:spcPct val="170000"/>
              </a:lnSpc>
            </a:pPr>
            <a:r>
              <a:rPr lang="en-US" altLang="zh-TW" sz="3000" dirty="0">
                <a:latin typeface="Times New Roman" panose="02020603050405020304" pitchFamily="18" charset="0"/>
                <a:cs typeface="Times New Roman" panose="02020603050405020304" pitchFamily="18" charset="0"/>
              </a:rPr>
              <a:t>Y. Li, Y. Wang, Z. Zhang, Y. Wang, D. Ma, and J. Huang, “A novel fast and memory efficient parallel </a:t>
            </a:r>
            <a:r>
              <a:rPr lang="en-US" altLang="zh-TW" sz="3000" dirty="0" err="1">
                <a:latin typeface="Times New Roman" panose="02020603050405020304" pitchFamily="18" charset="0"/>
                <a:cs typeface="Times New Roman" panose="02020603050405020304" pitchFamily="18" charset="0"/>
              </a:rPr>
              <a:t>mlcs</a:t>
            </a:r>
            <a:r>
              <a:rPr lang="en-US" altLang="zh-TW" sz="3000" dirty="0">
                <a:latin typeface="Times New Roman" panose="02020603050405020304" pitchFamily="18" charset="0"/>
                <a:cs typeface="Times New Roman" panose="02020603050405020304" pitchFamily="18" charset="0"/>
              </a:rPr>
              <a:t> algorithm for long and largescale sequences alignments,” Data Engineering (ICDE), 2016 IEEE 32nd International Conference on, pp. 1170–1181, 2016.</a:t>
            </a:r>
          </a:p>
          <a:p>
            <a:pPr>
              <a:lnSpc>
                <a:spcPct val="170000"/>
              </a:lnSpc>
            </a:pPr>
            <a:endParaRPr lang="en-US" altLang="zh-TW" sz="3000" dirty="0">
              <a:latin typeface="Times New Roman" panose="02020603050405020304" pitchFamily="18" charset="0"/>
              <a:cs typeface="Times New Roman" panose="02020603050405020304" pitchFamily="18" charset="0"/>
            </a:endParaRPr>
          </a:p>
          <a:p>
            <a:endParaRPr lang="en-US" altLang="zh-TW" dirty="0"/>
          </a:p>
          <a:p>
            <a:endParaRPr lang="zh-TW" altLang="en-US" dirty="0"/>
          </a:p>
        </p:txBody>
      </p:sp>
      <p:sp>
        <p:nvSpPr>
          <p:cNvPr id="5" name="文字方塊 4">
            <a:extLst>
              <a:ext uri="{FF2B5EF4-FFF2-40B4-BE49-F238E27FC236}">
                <a16:creationId xmlns:a16="http://schemas.microsoft.com/office/drawing/2014/main" id="{7F64F38E-F9C0-4388-B3EA-9BC7A86B6649}"/>
              </a:ext>
            </a:extLst>
          </p:cNvPr>
          <p:cNvSpPr txBox="1"/>
          <p:nvPr/>
        </p:nvSpPr>
        <p:spPr>
          <a:xfrm>
            <a:off x="341601" y="247115"/>
            <a:ext cx="6094378" cy="523220"/>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Experiments</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9613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672ABAC9-CAB3-456F-A0E3-2064061AEBD3}"/>
              </a:ext>
            </a:extLst>
          </p:cNvPr>
          <p:cNvPicPr>
            <a:picLocks noChangeAspect="1"/>
          </p:cNvPicPr>
          <p:nvPr/>
        </p:nvPicPr>
        <p:blipFill>
          <a:blip r:embed="rId2"/>
          <a:stretch>
            <a:fillRect/>
          </a:stretch>
        </p:blipFill>
        <p:spPr>
          <a:xfrm>
            <a:off x="1314216" y="1255848"/>
            <a:ext cx="6547993" cy="5405149"/>
          </a:xfrm>
          <a:prstGeom prst="rect">
            <a:avLst/>
          </a:prstGeom>
        </p:spPr>
      </p:pic>
      <p:sp>
        <p:nvSpPr>
          <p:cNvPr id="7" name="文字方塊 6">
            <a:extLst>
              <a:ext uri="{FF2B5EF4-FFF2-40B4-BE49-F238E27FC236}">
                <a16:creationId xmlns:a16="http://schemas.microsoft.com/office/drawing/2014/main" id="{50A5256D-CC60-4948-8554-D344D57CEF97}"/>
              </a:ext>
            </a:extLst>
          </p:cNvPr>
          <p:cNvSpPr txBox="1"/>
          <p:nvPr/>
        </p:nvSpPr>
        <p:spPr>
          <a:xfrm>
            <a:off x="332174" y="209408"/>
            <a:ext cx="6094378" cy="523220"/>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Experiments</a:t>
            </a:r>
            <a:endParaRPr lang="zh-TW" altLang="en-US" sz="28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67B5CD2-6015-4DCF-ADD4-EB4566BF9848}"/>
              </a:ext>
            </a:extLst>
          </p:cNvPr>
          <p:cNvSpPr txBox="1"/>
          <p:nvPr/>
        </p:nvSpPr>
        <p:spPr>
          <a:xfrm>
            <a:off x="332174" y="732628"/>
            <a:ext cx="9528143" cy="461665"/>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(1) Fix the sequence length and change the number of sequences</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3D4DD153-1C36-4136-96A8-AD2506F2BE0B}"/>
              </a:ext>
            </a:extLst>
          </p:cNvPr>
          <p:cNvSpPr txBox="1"/>
          <p:nvPr/>
        </p:nvSpPr>
        <p:spPr>
          <a:xfrm>
            <a:off x="7998396" y="3429000"/>
            <a:ext cx="4122267" cy="707886"/>
          </a:xfrm>
          <a:prstGeom prst="rect">
            <a:avLst/>
          </a:prstGeom>
          <a:noFill/>
        </p:spPr>
        <p:txBody>
          <a:bodyPr wrap="square">
            <a:spAutoFit/>
          </a:bodyPr>
          <a:lstStyle/>
          <a:p>
            <a:r>
              <a:rPr lang="en-US" altLang="zh-TW" sz="2000" dirty="0">
                <a:latin typeface="Times New Roman" panose="02020603050405020304" pitchFamily="18" charset="0"/>
                <a:cs typeface="Times New Roman" panose="02020603050405020304" pitchFamily="18" charset="0"/>
              </a:rPr>
              <a:t>d : the number of sequences </a:t>
            </a:r>
          </a:p>
          <a:p>
            <a:r>
              <a:rPr lang="en-US" altLang="zh-TW" sz="2000" dirty="0">
                <a:latin typeface="Times New Roman" panose="02020603050405020304" pitchFamily="18" charset="0"/>
                <a:cs typeface="Times New Roman" panose="02020603050405020304" pitchFamily="18" charset="0"/>
              </a:rPr>
              <a:t> l : the length of the obtained MLCS</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1564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C566806-F5FE-46E9-9984-FFE3AA43F3D5}"/>
              </a:ext>
            </a:extLst>
          </p:cNvPr>
          <p:cNvPicPr>
            <a:picLocks noChangeAspect="1"/>
          </p:cNvPicPr>
          <p:nvPr/>
        </p:nvPicPr>
        <p:blipFill>
          <a:blip r:embed="rId3"/>
          <a:stretch>
            <a:fillRect/>
          </a:stretch>
        </p:blipFill>
        <p:spPr>
          <a:xfrm>
            <a:off x="789169" y="1586010"/>
            <a:ext cx="8031675" cy="5041782"/>
          </a:xfrm>
          <a:prstGeom prst="rect">
            <a:avLst/>
          </a:prstGeom>
        </p:spPr>
      </p:pic>
      <p:sp>
        <p:nvSpPr>
          <p:cNvPr id="7" name="文字方塊 6">
            <a:extLst>
              <a:ext uri="{FF2B5EF4-FFF2-40B4-BE49-F238E27FC236}">
                <a16:creationId xmlns:a16="http://schemas.microsoft.com/office/drawing/2014/main" id="{5934CD58-2E29-4CB3-B85E-45629240BB7F}"/>
              </a:ext>
            </a:extLst>
          </p:cNvPr>
          <p:cNvSpPr txBox="1"/>
          <p:nvPr/>
        </p:nvSpPr>
        <p:spPr>
          <a:xfrm>
            <a:off x="341697" y="340213"/>
            <a:ext cx="6094378" cy="523220"/>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Experiments</a:t>
            </a:r>
            <a:endParaRPr lang="zh-TW" altLang="en-US" sz="28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6A3B9971-C955-44F4-9586-5ED372FE3DBF}"/>
              </a:ext>
            </a:extLst>
          </p:cNvPr>
          <p:cNvSpPr txBox="1"/>
          <p:nvPr/>
        </p:nvSpPr>
        <p:spPr>
          <a:xfrm>
            <a:off x="341697" y="993889"/>
            <a:ext cx="9349033" cy="461665"/>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(2) Fix the number of sequences and change the length of sequences</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251C2379-416E-4AEB-8D86-DAC6FFB625BD}"/>
              </a:ext>
            </a:extLst>
          </p:cNvPr>
          <p:cNvSpPr txBox="1"/>
          <p:nvPr/>
        </p:nvSpPr>
        <p:spPr>
          <a:xfrm>
            <a:off x="8086117" y="3584643"/>
            <a:ext cx="3917815" cy="707886"/>
          </a:xfrm>
          <a:prstGeom prst="rect">
            <a:avLst/>
          </a:prstGeom>
          <a:noFill/>
        </p:spPr>
        <p:txBody>
          <a:bodyPr wrap="square">
            <a:spAutoFit/>
          </a:bodyPr>
          <a:lstStyle/>
          <a:p>
            <a:r>
              <a:rPr lang="en-US" altLang="zh-TW" sz="2000" dirty="0">
                <a:latin typeface="Times New Roman" panose="02020603050405020304" pitchFamily="18" charset="0"/>
                <a:cs typeface="Times New Roman" panose="02020603050405020304" pitchFamily="18" charset="0"/>
              </a:rPr>
              <a:t>L : the Length of sequences</a:t>
            </a:r>
          </a:p>
          <a:p>
            <a:r>
              <a:rPr lang="en-US" altLang="zh-TW" sz="2000" dirty="0">
                <a:latin typeface="Times New Roman" panose="02020603050405020304" pitchFamily="18" charset="0"/>
                <a:cs typeface="Times New Roman" panose="02020603050405020304" pitchFamily="18" charset="0"/>
              </a:rPr>
              <a:t> l : the length of the obtained MLCS</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57562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1774</Words>
  <Application>Microsoft Office PowerPoint</Application>
  <PresentationFormat>寬螢幕</PresentationFormat>
  <Paragraphs>507</Paragraphs>
  <Slides>17</Slides>
  <Notes>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Arial</vt:lpstr>
      <vt:lpstr>Calibri</vt:lpstr>
      <vt:lpstr>Calibri Light</vt:lpstr>
      <vt:lpstr>Times New Roman</vt:lpstr>
      <vt:lpstr>Office 佈景主題</vt:lpstr>
      <vt:lpstr>A Path Recorder Algorithm for Multiple Longest Common Subsequences Problems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Path Recorder Algorithm for Multiple Longest Common Subsequences Problems</dc:title>
  <dc:creator>M083040080</dc:creator>
  <cp:lastModifiedBy>M083040080</cp:lastModifiedBy>
  <cp:revision>23</cp:revision>
  <dcterms:created xsi:type="dcterms:W3CDTF">2020-08-24T02:40:01Z</dcterms:created>
  <dcterms:modified xsi:type="dcterms:W3CDTF">2020-08-25T04:41:44Z</dcterms:modified>
</cp:coreProperties>
</file>