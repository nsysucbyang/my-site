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1" r:id="rId2"/>
    <p:sldId id="365" r:id="rId3"/>
    <p:sldId id="311" r:id="rId4"/>
    <p:sldId id="352" r:id="rId5"/>
    <p:sldId id="366" r:id="rId6"/>
    <p:sldId id="333" r:id="rId7"/>
    <p:sldId id="367" r:id="rId8"/>
    <p:sldId id="368" r:id="rId9"/>
    <p:sldId id="369" r:id="rId10"/>
    <p:sldId id="370" r:id="rId11"/>
    <p:sldId id="371" r:id="rId12"/>
    <p:sldId id="372" r:id="rId13"/>
    <p:sldId id="373" r:id="rId14"/>
    <p:sldId id="374" r:id="rId15"/>
    <p:sldId id="375" r:id="rId16"/>
    <p:sldId id="376" r:id="rId17"/>
    <p:sldId id="37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5948" autoAdjust="0"/>
  </p:normalViewPr>
  <p:slideViewPr>
    <p:cSldViewPr snapToGrid="0">
      <p:cViewPr varScale="1">
        <p:scale>
          <a:sx n="98" d="100"/>
          <a:sy n="98" d="100"/>
        </p:scale>
        <p:origin x="2004"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工作表1!$B$1</c:f>
              <c:strCache>
                <c:ptCount val="1"/>
                <c:pt idx="0">
                  <c:v>pei chart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75A8-494E-8572-215967BDFE26}"/>
              </c:ext>
            </c:extLst>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zh-TW"/>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工作表1!$A$2:$A$5</c:f>
              <c:strCache>
                <c:ptCount val="4"/>
                <c:pt idx="0">
                  <c:v>P(S1)</c:v>
                </c:pt>
                <c:pt idx="1">
                  <c:v>P(S2)</c:v>
                </c:pt>
                <c:pt idx="2">
                  <c:v>P(S3)</c:v>
                </c:pt>
                <c:pt idx="3">
                  <c:v>P(S4)</c:v>
                </c:pt>
              </c:strCache>
            </c:strRef>
          </c:cat>
          <c:val>
            <c:numRef>
              <c:f>工作表1!$B$2:$B$5</c:f>
              <c:numCache>
                <c:formatCode>0.00_);[Red]\(0.00\)</c:formatCode>
                <c:ptCount val="4"/>
                <c:pt idx="0">
                  <c:v>0.26315789473684209</c:v>
                </c:pt>
                <c:pt idx="1">
                  <c:v>0.15789473684210525</c:v>
                </c:pt>
                <c:pt idx="2">
                  <c:v>0.21052631578947367</c:v>
                </c:pt>
                <c:pt idx="3">
                  <c:v>0.36842105263157893</c:v>
                </c:pt>
              </c:numCache>
            </c:numRef>
          </c:val>
          <c:extLst>
            <c:ext xmlns:c16="http://schemas.microsoft.com/office/drawing/2014/chart" uri="{C3380CC4-5D6E-409C-BE32-E72D297353CC}">
              <c16:uniqueId val="{00000000-75A8-494E-8572-215967BDFE2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2020/9/8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662194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858248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159295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937315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686345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289381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260377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169793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400460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1622835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624693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1710064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1940101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2020/9/8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905" y="126216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Messy Genetic Algorithms:</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Motivation, Analysis, and First Results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71"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David E. Goldberg, Bradley </a:t>
            </a:r>
            <a:r>
              <a:rPr lang="en-US" altLang="zh-TW" sz="2800" dirty="0" err="1">
                <a:latin typeface="Times New Roman" panose="02020603050405020304" pitchFamily="18" charset="0"/>
                <a:cs typeface="Times New Roman" panose="02020603050405020304" pitchFamily="18" charset="0"/>
              </a:rPr>
              <a:t>Korb</a:t>
            </a:r>
            <a:r>
              <a:rPr lang="en-US" altLang="zh-TW" sz="2800" dirty="0">
                <a:latin typeface="Times New Roman" panose="02020603050405020304" pitchFamily="18" charset="0"/>
                <a:cs typeface="Times New Roman" panose="02020603050405020304" pitchFamily="18" charset="0"/>
              </a:rPr>
              <a:t>, and </a:t>
            </a:r>
            <a:r>
              <a:rPr lang="en-US" altLang="zh-TW" sz="2800" dirty="0" err="1">
                <a:latin typeface="Times New Roman" panose="02020603050405020304" pitchFamily="18" charset="0"/>
                <a:cs typeface="Times New Roman" panose="02020603050405020304" pitchFamily="18" charset="0"/>
              </a:rPr>
              <a:t>Kalyanmoy</a:t>
            </a:r>
            <a:r>
              <a:rPr lang="en-US" altLang="zh-TW" sz="2800" dirty="0">
                <a:latin typeface="Times New Roman" panose="02020603050405020304" pitchFamily="18" charset="0"/>
                <a:cs typeface="Times New Roman" panose="02020603050405020304" pitchFamily="18" charset="0"/>
              </a:rPr>
              <a:t> Deb</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Sep. 08,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52" y="4206132"/>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Complex systems, 1989, Vol. 3, No. 5, pp.493-530. </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903" y="1544306"/>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Rapid, Accurate Optimization of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Difficult Problems Using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Fast Messy Genetic Algorithms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9" y="3000733"/>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David E. Goldberg, </a:t>
            </a:r>
            <a:r>
              <a:rPr lang="en-US" altLang="zh-TW" sz="2800" dirty="0" err="1">
                <a:latin typeface="Times New Roman" panose="02020603050405020304" pitchFamily="18" charset="0"/>
                <a:cs typeface="Times New Roman" panose="02020603050405020304" pitchFamily="18" charset="0"/>
              </a:rPr>
              <a:t>Kalyanmoy</a:t>
            </a:r>
            <a:r>
              <a:rPr lang="en-US" altLang="zh-TW" sz="2800" dirty="0">
                <a:latin typeface="Times New Roman" panose="02020603050405020304" pitchFamily="18" charset="0"/>
                <a:cs typeface="Times New Roman" panose="02020603050405020304" pitchFamily="18" charset="0"/>
              </a:rPr>
              <a:t> Deb, </a:t>
            </a:r>
            <a:r>
              <a:rPr lang="en-US" altLang="zh-TW" sz="2800" dirty="0" err="1">
                <a:latin typeface="Times New Roman" panose="02020603050405020304" pitchFamily="18" charset="0"/>
                <a:cs typeface="Times New Roman" panose="02020603050405020304" pitchFamily="18" charset="0"/>
              </a:rPr>
              <a:t>Hillol</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Kargupta</a:t>
            </a:r>
            <a:r>
              <a:rPr lang="en-US" altLang="zh-TW" sz="2800" dirty="0">
                <a:latin typeface="Times New Roman" panose="02020603050405020304" pitchFamily="18" charset="0"/>
                <a:cs typeface="Times New Roman" panose="02020603050405020304" pitchFamily="18" charset="0"/>
              </a:rPr>
              <a:t>, </a:t>
            </a:r>
          </a:p>
          <a:p>
            <a:r>
              <a:rPr lang="en-US" altLang="zh-TW" sz="2800" dirty="0">
                <a:latin typeface="Times New Roman" panose="02020603050405020304" pitchFamily="18" charset="0"/>
                <a:cs typeface="Times New Roman" panose="02020603050405020304" pitchFamily="18" charset="0"/>
              </a:rPr>
              <a:t>and Georges </a:t>
            </a:r>
            <a:r>
              <a:rPr lang="en-US" altLang="zh-TW" sz="2800" dirty="0" err="1">
                <a:latin typeface="Times New Roman" panose="02020603050405020304" pitchFamily="18" charset="0"/>
                <a:cs typeface="Times New Roman" panose="02020603050405020304" pitchFamily="18" charset="0"/>
              </a:rPr>
              <a:t>Harik</a:t>
            </a:r>
            <a:r>
              <a:rPr lang="en-US" altLang="zh-TW" sz="2800" dirty="0">
                <a:latin typeface="Times New Roman" panose="02020603050405020304" pitchFamily="18" charset="0"/>
                <a:cs typeface="Times New Roman" panose="02020603050405020304" pitchFamily="18" charset="0"/>
              </a:rPr>
              <a:t> </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Sep. 08,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50" y="4384765"/>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Proceedings of the 5th International Conference on Genetic Algorithms, 1993, pp.56-64. </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75634"/>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Researchers have long sought genetic algorithms (GAs) that can solve difficult search, optimization, and machine learning problems quickly. Despite years of work on simple GAs and their variants it is still unknown how difficult a problem simple GAs can solve, how quickly they can solve it, and with what reliability. More radical design departures than these have been taken, however, and the messy GA(</a:t>
            </a:r>
            <a:r>
              <a:rPr lang="en-US" altLang="zh-TW" dirty="0" err="1">
                <a:latin typeface="Times New Roman" panose="02020603050405020304" pitchFamily="18" charset="0"/>
                <a:cs typeface="Times New Roman" panose="02020603050405020304" pitchFamily="18" charset="0"/>
              </a:rPr>
              <a:t>mGA</a:t>
            </a:r>
            <a:r>
              <a:rPr lang="en-US" altLang="zh-TW" dirty="0">
                <a:latin typeface="Times New Roman" panose="02020603050405020304" pitchFamily="18" charset="0"/>
                <a:cs typeface="Times New Roman" panose="02020603050405020304" pitchFamily="18" charset="0"/>
              </a:rPr>
              <a:t>) approach has attempted to solve problems of bounded difficulty quickly and reliably by taking the notion of building-block linkage quite seriously. Early efforts were apparently successful in achieving polynomial convergence on some difficult problems, but the initialization bottleneck that required a large initial population was thought to be the primary obstacle to faster </a:t>
            </a:r>
            <a:r>
              <a:rPr lang="en-US" altLang="zh-TW" dirty="0" err="1">
                <a:latin typeface="Times New Roman" panose="02020603050405020304" pitchFamily="18" charset="0"/>
                <a:cs typeface="Times New Roman" panose="02020603050405020304" pitchFamily="18" charset="0"/>
              </a:rPr>
              <a:t>mGA</a:t>
            </a:r>
            <a:r>
              <a:rPr lang="en-US" altLang="zh-TW" dirty="0">
                <a:latin typeface="Times New Roman" panose="02020603050405020304" pitchFamily="18" charset="0"/>
                <a:cs typeface="Times New Roman" panose="02020603050405020304" pitchFamily="18" charset="0"/>
              </a:rPr>
              <a:t> performance.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89420"/>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This paper replaces the partially enumerative initialization and selective primordial phase of the original messy GA with probabilistically complete initialization and a primordial phase that performs building-block filtering via selection and random gene deletion. In this way, the fast </a:t>
            </a:r>
            <a:r>
              <a:rPr lang="en-US" altLang="zh-TW" dirty="0" err="1">
                <a:latin typeface="Times New Roman" panose="02020603050405020304" pitchFamily="18" charset="0"/>
                <a:cs typeface="Times New Roman" panose="02020603050405020304" pitchFamily="18" charset="0"/>
              </a:rPr>
              <a:t>mGA</a:t>
            </a:r>
            <a:r>
              <a:rPr lang="en-US" altLang="zh-TW" dirty="0">
                <a:latin typeface="Times New Roman" panose="02020603050405020304" pitchFamily="18" charset="0"/>
                <a:cs typeface="Times New Roman" panose="02020603050405020304" pitchFamily="18" charset="0"/>
              </a:rPr>
              <a:t> is able to evaluate the best building blocks from modestly sized populations of longer strings, thereafter cutting down the string length by throwing off the genes of lesser importance. Design calculations are performed for population sizing, selection-deletion timing, and genic thresholding. On problems of bounded difficulty, ranging from 30-bits to 150-bits, the fast </a:t>
            </a:r>
            <a:r>
              <a:rPr lang="en-US" altLang="zh-TW" dirty="0" err="1">
                <a:latin typeface="Times New Roman" panose="02020603050405020304" pitchFamily="18" charset="0"/>
                <a:cs typeface="Times New Roman" panose="02020603050405020304" pitchFamily="18" charset="0"/>
              </a:rPr>
              <a:t>mGA</a:t>
            </a:r>
            <a:r>
              <a:rPr lang="en-US" altLang="zh-TW" dirty="0">
                <a:latin typeface="Times New Roman" panose="02020603050405020304" pitchFamily="18" charset="0"/>
                <a:cs typeface="Times New Roman" panose="02020603050405020304" pitchFamily="18" charset="0"/>
              </a:rPr>
              <a:t> finds global optima reliably in a time that both theoretically and empirically grows no more quickly than a </a:t>
            </a:r>
            <a:r>
              <a:rPr lang="en-US" altLang="zh-TW" dirty="0" err="1">
                <a:latin typeface="Times New Roman" panose="02020603050405020304" pitchFamily="18" charset="0"/>
                <a:cs typeface="Times New Roman" panose="02020603050405020304" pitchFamily="18" charset="0"/>
              </a:rPr>
              <a:t>subquadratic</a:t>
            </a:r>
            <a:r>
              <a:rPr lang="en-US" altLang="zh-TW" dirty="0">
                <a:latin typeface="Times New Roman" panose="02020603050405020304" pitchFamily="18" charset="0"/>
                <a:cs typeface="Times New Roman" panose="02020603050405020304" pitchFamily="18" charset="0"/>
              </a:rPr>
              <a:t> function of the number of decision variables. </a:t>
            </a:r>
          </a:p>
        </p:txBody>
      </p:sp>
    </p:spTree>
    <p:extLst>
      <p:ext uri="{BB962C8B-B14F-4D97-AF65-F5344CB8AC3E}">
        <p14:creationId xmlns:p14="http://schemas.microsoft.com/office/powerpoint/2010/main" val="11198267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Abstract(3/3)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44067"/>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paper outlines the key remaining challenges and suggests extension of the technique to other-than-binary structures.</a:t>
            </a:r>
          </a:p>
        </p:txBody>
      </p:sp>
    </p:spTree>
    <p:extLst>
      <p:ext uri="{BB962C8B-B14F-4D97-AF65-F5344CB8AC3E}">
        <p14:creationId xmlns:p14="http://schemas.microsoft.com/office/powerpoint/2010/main" val="10272367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Genetic algorithm (GA) (1/3)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442603" y="1128406"/>
                <a:ext cx="8642836" cy="5964838"/>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Initial population :</a:t>
                </a:r>
              </a:p>
              <a:p>
                <a:pPr lvl="1"/>
                <a:r>
                  <a:rPr lang="en-US" altLang="zh-TW" sz="2000" dirty="0">
                    <a:latin typeface="Times New Roman" panose="02020603050405020304" pitchFamily="18" charset="0"/>
                    <a:ea typeface="Tahoma" panose="020B0604030504040204" pitchFamily="34" charset="0"/>
                    <a:cs typeface="Times New Roman" panose="02020603050405020304" pitchFamily="18" charset="0"/>
                  </a:rPr>
                  <a:t>Population size = 4</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1 (S1) : 1 0 0 1 1 1 0 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2 (S2) : 0 0 0 0 1 1 0 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3 (S3) : 1 1 0 0 0 0 1 1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4 (S4) : 0 1 1 1 1 1 1 1</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Fitness function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f(x) = </a:t>
                </a:r>
                <a14:m>
                  <m:oMath xmlns:m="http://schemas.openxmlformats.org/officeDocument/2006/math">
                    <m:nary>
                      <m:naryPr>
                        <m:chr m:val="∑"/>
                        <m:limLoc m:val="undOvr"/>
                        <m:grow m:val="on"/>
                        <m:ctrlPr>
                          <a:rPr lang="en-US" altLang="zh-TW" sz="2000" dirty="0" smtClean="0">
                            <a:latin typeface="Cambria Math" panose="02040503050406030204" pitchFamily="18" charset="0"/>
                          </a:rPr>
                        </m:ctrlPr>
                      </m:naryPr>
                      <m:sub>
                        <m:r>
                          <a:rPr lang="en-US" altLang="zh-TW" sz="2000" i="1" dirty="0" smtClean="0">
                            <a:latin typeface="Cambria Math" panose="02040503050406030204" pitchFamily="18" charset="0"/>
                          </a:rPr>
                          <m:t>𝑖</m:t>
                        </m:r>
                        <m:r>
                          <a:rPr lang="en-US" altLang="zh-TW" sz="2000" i="0" dirty="0" smtClean="0">
                            <a:latin typeface="Cambria Math" panose="02040503050406030204" pitchFamily="18" charset="0"/>
                          </a:rPr>
                          <m:t>=1</m:t>
                        </m:r>
                      </m:sub>
                      <m:sup>
                        <m:r>
                          <a:rPr lang="en-US" altLang="zh-TW" sz="2000" i="1" dirty="0" smtClean="0">
                            <a:latin typeface="Cambria Math" panose="02040503050406030204" pitchFamily="18" charset="0"/>
                          </a:rPr>
                          <m:t>𝑑</m:t>
                        </m:r>
                      </m:sup>
                      <m:e>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𝜒</m:t>
                            </m:r>
                          </m:e>
                          <m:sub>
                            <m:r>
                              <a:rPr lang="en-US" altLang="zh-TW" sz="2000" i="1" dirty="0" smtClean="0">
                                <a:latin typeface="Cambria Math" panose="02040503050406030204" pitchFamily="18" charset="0"/>
                              </a:rPr>
                              <m:t>𝑖</m:t>
                            </m:r>
                          </m:sub>
                        </m:sSub>
                      </m:e>
                    </m:nary>
                  </m:oMath>
                </a14:m>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f(S1) = 5</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f(S2) = 3</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f(S3) = 4</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f(S4) = 7</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Target : find the point that can make f(x) have maximum.</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442603" y="1128406"/>
                <a:ext cx="8642836" cy="5964838"/>
              </a:xfrm>
              <a:prstGeom prst="rect">
                <a:avLst/>
              </a:prstGeom>
              <a:blipFill>
                <a:blip r:embed="rId4"/>
                <a:stretch>
                  <a:fillRect l="-635" t="-5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Genetic algorithm (GA) (2/3)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442603" y="945243"/>
                <a:ext cx="8642836" cy="7469161"/>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Selection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Roulette Wheel Selection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f(S1) = 5, f(S2) = 3, f(S3) = 4, f(S4) = 7</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r>
                      <a:rPr lang="en-US" altLang="zh-TW" sz="2000" i="1" dirty="0" smtClean="0">
                        <a:latin typeface="Cambria Math" panose="02040503050406030204" pitchFamily="18" charset="0"/>
                      </a:rPr>
                      <m:t>𝑝</m:t>
                    </m:r>
                    <m:d>
                      <m:dPr>
                        <m:ctrlPr>
                          <a:rPr lang="en-US" altLang="zh-TW" sz="2000" i="1" dirty="0" smtClean="0">
                            <a:latin typeface="Cambria Math" panose="02040503050406030204" pitchFamily="18" charset="0"/>
                          </a:rPr>
                        </m:ctrlPr>
                      </m:dPr>
                      <m:e>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𝑠</m:t>
                            </m:r>
                          </m:e>
                          <m:sub>
                            <m:r>
                              <a:rPr lang="en-US" altLang="zh-TW" sz="2000" i="1" dirty="0" smtClean="0">
                                <a:latin typeface="Cambria Math" panose="02040503050406030204" pitchFamily="18" charset="0"/>
                              </a:rPr>
                              <m:t>𝑗</m:t>
                            </m:r>
                          </m:sub>
                        </m:sSub>
                      </m:e>
                    </m:d>
                    <m:r>
                      <a:rPr lang="en-US" altLang="zh-TW" sz="2000" i="0" dirty="0" smtClean="0">
                        <a:latin typeface="Cambria Math" panose="02040503050406030204" pitchFamily="18" charset="0"/>
                      </a:rPr>
                      <m:t>=</m:t>
                    </m:r>
                    <m:f>
                      <m:fPr>
                        <m:ctrlPr>
                          <a:rPr lang="en-US" altLang="zh-TW" sz="2000" i="1" dirty="0" smtClean="0">
                            <a:latin typeface="Cambria Math" panose="02040503050406030204" pitchFamily="18" charset="0"/>
                          </a:rPr>
                        </m:ctrlPr>
                      </m:fPr>
                      <m:num>
                        <m:r>
                          <a:rPr lang="en-US" altLang="zh-TW" sz="2000" i="1" dirty="0" smtClean="0">
                            <a:latin typeface="Cambria Math" panose="02040503050406030204" pitchFamily="18" charset="0"/>
                          </a:rPr>
                          <m:t>𝑓</m:t>
                        </m:r>
                        <m:d>
                          <m:dPr>
                            <m:ctrlPr>
                              <a:rPr lang="en-US" altLang="zh-TW" sz="2000" i="1" dirty="0" smtClean="0">
                                <a:latin typeface="Cambria Math" panose="02040503050406030204" pitchFamily="18" charset="0"/>
                              </a:rPr>
                            </m:ctrlPr>
                          </m:dPr>
                          <m:e>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𝑠</m:t>
                                </m:r>
                              </m:e>
                              <m:sub>
                                <m:r>
                                  <a:rPr lang="en-US" altLang="zh-TW" sz="2000" i="1" dirty="0" smtClean="0">
                                    <a:latin typeface="Cambria Math" panose="02040503050406030204" pitchFamily="18" charset="0"/>
                                  </a:rPr>
                                  <m:t>𝑗</m:t>
                                </m:r>
                              </m:sub>
                            </m:sSub>
                          </m:e>
                        </m:d>
                      </m:num>
                      <m:den>
                        <m:nary>
                          <m:naryPr>
                            <m:chr m:val="∑"/>
                            <m:limLoc m:val="undOvr"/>
                            <m:grow m:val="on"/>
                            <m:ctrlPr>
                              <a:rPr lang="en-US" altLang="zh-TW" sz="2000" i="1" dirty="0" smtClean="0">
                                <a:latin typeface="Cambria Math" panose="02040503050406030204" pitchFamily="18" charset="0"/>
                              </a:rPr>
                            </m:ctrlPr>
                          </m:naryPr>
                          <m:sub>
                            <m:r>
                              <a:rPr lang="en-US" altLang="zh-TW" sz="2000" i="1" dirty="0" smtClean="0">
                                <a:latin typeface="Cambria Math" panose="02040503050406030204" pitchFamily="18" charset="0"/>
                              </a:rPr>
                              <m:t>𝑖</m:t>
                            </m:r>
                            <m:r>
                              <a:rPr lang="en-US" altLang="zh-TW" sz="2000" i="0" dirty="0" smtClean="0">
                                <a:latin typeface="Cambria Math" panose="02040503050406030204" pitchFamily="18" charset="0"/>
                              </a:rPr>
                              <m:t>=1</m:t>
                            </m:r>
                          </m:sub>
                          <m:sup>
                            <m:r>
                              <a:rPr lang="en-US" altLang="zh-TW" sz="2000" i="1" dirty="0" smtClean="0">
                                <a:latin typeface="Cambria Math" panose="02040503050406030204" pitchFamily="18" charset="0"/>
                              </a:rPr>
                              <m:t>𝑛</m:t>
                            </m:r>
                          </m:sup>
                          <m:e>
                            <m:r>
                              <a:rPr lang="en-US" altLang="zh-TW" sz="2000" i="1" dirty="0" smtClean="0">
                                <a:latin typeface="Cambria Math" panose="02040503050406030204" pitchFamily="18" charset="0"/>
                              </a:rPr>
                              <m:t>𝑓</m:t>
                            </m:r>
                            <m:d>
                              <m:dPr>
                                <m:ctrlPr>
                                  <a:rPr lang="en-US" altLang="zh-TW" sz="2000" i="1" dirty="0" smtClean="0">
                                    <a:latin typeface="Cambria Math" panose="02040503050406030204" pitchFamily="18" charset="0"/>
                                  </a:rPr>
                                </m:ctrlPr>
                              </m:dPr>
                              <m:e>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𝑆</m:t>
                                    </m:r>
                                  </m:e>
                                  <m:sub>
                                    <m:r>
                                      <a:rPr lang="en-US" altLang="zh-TW" sz="2000" i="1" dirty="0" smtClean="0">
                                        <a:latin typeface="Cambria Math" panose="02040503050406030204" pitchFamily="18" charset="0"/>
                                      </a:rPr>
                                      <m:t>𝑖</m:t>
                                    </m:r>
                                  </m:sub>
                                </m:sSub>
                              </m:e>
                            </m:d>
                          </m:e>
                        </m:nary>
                      </m:den>
                    </m:f>
                    <m:r>
                      <a:rPr lang="en-US" altLang="zh-TW" sz="2000" b="0" i="0" dirty="0" smtClean="0">
                        <a:latin typeface="Cambria Math" panose="02040503050406030204" pitchFamily="18" charset="0"/>
                      </a:rPr>
                      <m:t> , </m:t>
                    </m:r>
                    <m:r>
                      <m:rPr>
                        <m:sty m:val="p"/>
                      </m:rPr>
                      <a:rPr lang="en-US" altLang="zh-TW" sz="2000" b="0" i="0" dirty="0" smtClean="0">
                        <a:latin typeface="Cambria Math" panose="02040503050406030204" pitchFamily="18" charset="0"/>
                      </a:rPr>
                      <m:t>j</m:t>
                    </m:r>
                    <m:r>
                      <a:rPr lang="en-US" altLang="zh-TW" sz="2000" dirty="0" smtClean="0">
                        <a:latin typeface="Cambria Math" panose="02040503050406030204" pitchFamily="18" charset="0"/>
                      </a:rPr>
                      <m:t>∈</m:t>
                    </m:r>
                    <m:r>
                      <a:rPr lang="en-US" altLang="zh-TW" sz="2000" b="0" i="0" dirty="0" smtClean="0">
                        <a:latin typeface="Cambria Math" panose="02040503050406030204" pitchFamily="18" charset="0"/>
                      </a:rPr>
                      <m:t>1,2,…,</m:t>
                    </m:r>
                    <m:r>
                      <m:rPr>
                        <m:sty m:val="p"/>
                      </m:rPr>
                      <a:rPr lang="en-US" altLang="zh-TW" sz="2000" b="0" i="0" dirty="0" smtClean="0">
                        <a:latin typeface="Cambria Math" panose="02040503050406030204" pitchFamily="18" charset="0"/>
                      </a:rPr>
                      <m:t>n</m:t>
                    </m:r>
                  </m:oMath>
                </a14:m>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Crossover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Single-point crossover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0 0 1 1 1 0 1           1 0 0 1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b : 0 1 1 1 1 1 1 1           0 1 1 1 1 1 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 Double-point crossover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0 0 1 1 1 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1           1 0 1 1 1 1 0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b : 0 1 1 1 1 1 1 1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0 1 0 1 1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1 0 1</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3. Uniform-point crossover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0 0 1 1 1 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1           1 1 1 1 1 1 0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b : 0 1 1 1 1 1 1 1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0 0 0 1 1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1 1 1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w = 01101001(random)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442603" y="945243"/>
                <a:ext cx="8642836" cy="7469161"/>
              </a:xfrm>
              <a:prstGeom prst="rect">
                <a:avLst/>
              </a:prstGeom>
              <a:blipFill>
                <a:blip r:embed="rId4"/>
                <a:stretch>
                  <a:fillRect l="-635" t="-408"/>
                </a:stretch>
              </a:blipFill>
            </p:spPr>
            <p:txBody>
              <a:bodyPr/>
              <a:lstStyle/>
              <a:p>
                <a:r>
                  <a:rPr lang="zh-TW" altLang="en-US">
                    <a:noFill/>
                  </a:rPr>
                  <a:t> </a:t>
                </a:r>
              </a:p>
            </p:txBody>
          </p:sp>
        </mc:Fallback>
      </mc:AlternateContent>
      <p:graphicFrame>
        <p:nvGraphicFramePr>
          <p:cNvPr id="7" name="圖表 6">
            <a:extLst>
              <a:ext uri="{FF2B5EF4-FFF2-40B4-BE49-F238E27FC236}">
                <a16:creationId xmlns:a16="http://schemas.microsoft.com/office/drawing/2014/main" id="{B928465F-20DB-4DE3-99C5-6DCB0D55BD83}"/>
              </a:ext>
            </a:extLst>
          </p:cNvPr>
          <p:cNvGraphicFramePr/>
          <p:nvPr>
            <p:extLst>
              <p:ext uri="{D42A27DB-BD31-4B8C-83A1-F6EECF244321}">
                <p14:modId xmlns:p14="http://schemas.microsoft.com/office/powerpoint/2010/main" val="2442440487"/>
              </p:ext>
            </p:extLst>
          </p:nvPr>
        </p:nvGraphicFramePr>
        <p:xfrm>
          <a:off x="4983804" y="477736"/>
          <a:ext cx="4536332" cy="2951264"/>
        </p:xfrm>
        <a:graphic>
          <a:graphicData uri="http://schemas.openxmlformats.org/drawingml/2006/chart">
            <c:chart xmlns:c="http://schemas.openxmlformats.org/drawingml/2006/chart" xmlns:r="http://schemas.openxmlformats.org/officeDocument/2006/relationships" r:id="rId5"/>
          </a:graphicData>
        </a:graphic>
      </p:graphicFrame>
      <p:cxnSp>
        <p:nvCxnSpPr>
          <p:cNvPr id="9" name="直線接點 8">
            <a:extLst>
              <a:ext uri="{FF2B5EF4-FFF2-40B4-BE49-F238E27FC236}">
                <a16:creationId xmlns:a16="http://schemas.microsoft.com/office/drawing/2014/main" id="{F18E2F10-2C24-46E6-A487-4E909A1EC2C2}"/>
              </a:ext>
            </a:extLst>
          </p:cNvPr>
          <p:cNvCxnSpPr/>
          <p:nvPr/>
        </p:nvCxnSpPr>
        <p:spPr>
          <a:xfrm>
            <a:off x="3142033" y="3429000"/>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箭號: 向右 9">
            <a:extLst>
              <a:ext uri="{FF2B5EF4-FFF2-40B4-BE49-F238E27FC236}">
                <a16:creationId xmlns:a16="http://schemas.microsoft.com/office/drawing/2014/main" id="{4210C3B0-D8B2-4B90-92B7-9919690B6FF5}"/>
              </a:ext>
            </a:extLst>
          </p:cNvPr>
          <p:cNvSpPr/>
          <p:nvPr/>
        </p:nvSpPr>
        <p:spPr>
          <a:xfrm>
            <a:off x="4319079" y="3649159"/>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接點 12">
            <a:extLst>
              <a:ext uri="{FF2B5EF4-FFF2-40B4-BE49-F238E27FC236}">
                <a16:creationId xmlns:a16="http://schemas.microsoft.com/office/drawing/2014/main" id="{1F2CAC5B-BCC0-49D8-97A3-121F3661A030}"/>
              </a:ext>
            </a:extLst>
          </p:cNvPr>
          <p:cNvCxnSpPr/>
          <p:nvPr/>
        </p:nvCxnSpPr>
        <p:spPr>
          <a:xfrm>
            <a:off x="2934510" y="4613465"/>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4B67F24F-D344-43CB-B38D-D7680DC4B5A0}"/>
              </a:ext>
            </a:extLst>
          </p:cNvPr>
          <p:cNvCxnSpPr/>
          <p:nvPr/>
        </p:nvCxnSpPr>
        <p:spPr>
          <a:xfrm>
            <a:off x="3508442" y="4618338"/>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箭號: 向右 10">
            <a:extLst>
              <a:ext uri="{FF2B5EF4-FFF2-40B4-BE49-F238E27FC236}">
                <a16:creationId xmlns:a16="http://schemas.microsoft.com/office/drawing/2014/main" id="{F6D2C7DB-2219-4C7C-8C02-967C88AC3F3D}"/>
              </a:ext>
            </a:extLst>
          </p:cNvPr>
          <p:cNvSpPr/>
          <p:nvPr/>
        </p:nvSpPr>
        <p:spPr>
          <a:xfrm>
            <a:off x="4319079" y="4878412"/>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a:extLst>
              <a:ext uri="{FF2B5EF4-FFF2-40B4-BE49-F238E27FC236}">
                <a16:creationId xmlns:a16="http://schemas.microsoft.com/office/drawing/2014/main" id="{72583564-344C-481E-AE8C-6BF30D0AFE30}"/>
              </a:ext>
            </a:extLst>
          </p:cNvPr>
          <p:cNvCxnSpPr/>
          <p:nvPr/>
        </p:nvCxnSpPr>
        <p:spPr>
          <a:xfrm>
            <a:off x="5304816" y="3428999"/>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C9668350-7902-4A2A-9048-CD873E470DD4}"/>
              </a:ext>
            </a:extLst>
          </p:cNvPr>
          <p:cNvCxnSpPr/>
          <p:nvPr/>
        </p:nvCxnSpPr>
        <p:spPr>
          <a:xfrm>
            <a:off x="5119991" y="4613465"/>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A3929B7F-EFA3-41F2-A558-CBF0CB0FDF9D}"/>
              </a:ext>
            </a:extLst>
          </p:cNvPr>
          <p:cNvCxnSpPr/>
          <p:nvPr/>
        </p:nvCxnSpPr>
        <p:spPr>
          <a:xfrm>
            <a:off x="5693923" y="4618338"/>
            <a:ext cx="0" cy="621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箭號: 向右 21">
            <a:extLst>
              <a:ext uri="{FF2B5EF4-FFF2-40B4-BE49-F238E27FC236}">
                <a16:creationId xmlns:a16="http://schemas.microsoft.com/office/drawing/2014/main" id="{2BB5B3B5-6A85-43EF-B1F2-BD929AA84FA1}"/>
              </a:ext>
            </a:extLst>
          </p:cNvPr>
          <p:cNvSpPr/>
          <p:nvPr/>
        </p:nvSpPr>
        <p:spPr>
          <a:xfrm>
            <a:off x="4319079" y="6108297"/>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515219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Genetic algorithm (GA) (3/3)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442603" y="1128406"/>
                <a:ext cx="8642836" cy="5324535"/>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Mutation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Simple mutation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1 1 0 1           1 0 0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b :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1 1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c :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1 1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1           1 0 0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    (change)</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 Uniform mutation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x </a:t>
                </a:r>
                <a14:m>
                  <m:oMath xmlns:m="http://schemas.openxmlformats.org/officeDocument/2006/math">
                    <m: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[0,3]</m:t>
                    </m:r>
                  </m:oMath>
                </a14:m>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3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2 2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0</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1 3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2</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2 2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2</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3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(random)</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442603" y="1128406"/>
                <a:ext cx="8642836" cy="5324535"/>
              </a:xfrm>
              <a:prstGeom prst="rect">
                <a:avLst/>
              </a:prstGeom>
              <a:blipFill>
                <a:blip r:embed="rId4"/>
                <a:stretch>
                  <a:fillRect l="-635" t="-572"/>
                </a:stretch>
              </a:blipFill>
            </p:spPr>
            <p:txBody>
              <a:bodyPr/>
              <a:lstStyle/>
              <a:p>
                <a:r>
                  <a:rPr lang="zh-TW" altLang="en-US">
                    <a:noFill/>
                  </a:rPr>
                  <a:t> </a:t>
                </a:r>
              </a:p>
            </p:txBody>
          </p:sp>
        </mc:Fallback>
      </mc:AlternateContent>
      <p:sp>
        <p:nvSpPr>
          <p:cNvPr id="10" name="箭號: 向右 9">
            <a:extLst>
              <a:ext uri="{FF2B5EF4-FFF2-40B4-BE49-F238E27FC236}">
                <a16:creationId xmlns:a16="http://schemas.microsoft.com/office/drawing/2014/main" id="{4210C3B0-D8B2-4B90-92B7-9919690B6FF5}"/>
              </a:ext>
            </a:extLst>
          </p:cNvPr>
          <p:cNvSpPr/>
          <p:nvPr/>
        </p:nvSpPr>
        <p:spPr>
          <a:xfrm>
            <a:off x="4302867" y="2477697"/>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箭號: 向右 3">
            <a:extLst>
              <a:ext uri="{FF2B5EF4-FFF2-40B4-BE49-F238E27FC236}">
                <a16:creationId xmlns:a16="http://schemas.microsoft.com/office/drawing/2014/main" id="{FB430062-B58D-4E00-903F-994E036FFA05}"/>
              </a:ext>
            </a:extLst>
          </p:cNvPr>
          <p:cNvSpPr/>
          <p:nvPr/>
        </p:nvSpPr>
        <p:spPr>
          <a:xfrm>
            <a:off x="4302868" y="2779021"/>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箭號: 向右 4">
            <a:extLst>
              <a:ext uri="{FF2B5EF4-FFF2-40B4-BE49-F238E27FC236}">
                <a16:creationId xmlns:a16="http://schemas.microsoft.com/office/drawing/2014/main" id="{C3B238F9-394D-4985-A01B-A92FEAD7FD19}"/>
              </a:ext>
            </a:extLst>
          </p:cNvPr>
          <p:cNvSpPr/>
          <p:nvPr/>
        </p:nvSpPr>
        <p:spPr>
          <a:xfrm>
            <a:off x="4302866" y="3080345"/>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箭號: 向右 5">
            <a:extLst>
              <a:ext uri="{FF2B5EF4-FFF2-40B4-BE49-F238E27FC236}">
                <a16:creationId xmlns:a16="http://schemas.microsoft.com/office/drawing/2014/main" id="{DFCA6A48-48FF-41B1-8E3B-894F4F0D043D}"/>
              </a:ext>
            </a:extLst>
          </p:cNvPr>
          <p:cNvSpPr/>
          <p:nvPr/>
        </p:nvSpPr>
        <p:spPr>
          <a:xfrm>
            <a:off x="4302865" y="4615981"/>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733511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Messy genetic algorithm (MGA) (1/4)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5324535"/>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Deceptive Problem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S0 : 1 1 1 1 1 1 1 1 1 1 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S3</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 * * * * *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S1 : 1 1 1 * * * * * * * *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S4</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 * * * * *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S2</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 * * * * * * * *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S5</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0</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fitness(S1) &gt; avg(fitness), fitness(S2) &gt; avg(fitness)</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crossover(S1,S2)</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=&gt;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S3</a:t>
            </a: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fitness(S3) &lt; fitness(S4)</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if S0 is the best solution, then GA will converge to S5 not S0.</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Destroy good building blocks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 * * * * * * 1 : good building blocks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a : 1 0 0 0 0 0 0 0 1            1 0 0 0 0 0 0 0 0</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Chromosome b : 0 0 0 0 0 0 0 0 0            0 0 0 0 0 0 0 0 1</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箭號: 向右 3">
            <a:extLst>
              <a:ext uri="{FF2B5EF4-FFF2-40B4-BE49-F238E27FC236}">
                <a16:creationId xmlns:a16="http://schemas.microsoft.com/office/drawing/2014/main" id="{FE0616CC-DDA7-4289-8374-E95909B93560}"/>
              </a:ext>
            </a:extLst>
          </p:cNvPr>
          <p:cNvSpPr/>
          <p:nvPr/>
        </p:nvSpPr>
        <p:spPr>
          <a:xfrm>
            <a:off x="4425890" y="5767577"/>
            <a:ext cx="252919" cy="136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338882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Messy genetic algorithm (MGA) (2/4)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4708981"/>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Messy chromosome representation :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under</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specification</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Messy chromosome : (3,0)    (1,1)    (5,0)    (7,1)</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Actual chromosome :            1 0 0 1 0 0 1 1 1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Template chromosome :        1 0 1 1 1 0 0 1 1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2.</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over</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specification</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Messy chromosome : (3,0)(1,1)(3,1)(7,1)(5,0)(4,1)(8,0)(9,1)(6,0)(2,1)(5,1)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Actual chromosome :            1 1 0 1 0 0 1 0 1</a:t>
            </a:r>
          </a:p>
        </p:txBody>
      </p:sp>
      <p:cxnSp>
        <p:nvCxnSpPr>
          <p:cNvPr id="6" name="直線單箭頭接點 5">
            <a:extLst>
              <a:ext uri="{FF2B5EF4-FFF2-40B4-BE49-F238E27FC236}">
                <a16:creationId xmlns:a16="http://schemas.microsoft.com/office/drawing/2014/main" id="{D44D1B61-E0FF-4BB6-8FC6-86853F5B59D2}"/>
              </a:ext>
            </a:extLst>
          </p:cNvPr>
          <p:cNvCxnSpPr/>
          <p:nvPr/>
        </p:nvCxnSpPr>
        <p:spPr>
          <a:xfrm>
            <a:off x="3521412" y="2810828"/>
            <a:ext cx="836579" cy="2918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E0683AE6-FD65-4A19-A021-DAE74A85C1A5}"/>
              </a:ext>
            </a:extLst>
          </p:cNvPr>
          <p:cNvCxnSpPr/>
          <p:nvPr/>
        </p:nvCxnSpPr>
        <p:spPr>
          <a:xfrm flipH="1">
            <a:off x="4007795" y="2828084"/>
            <a:ext cx="350196" cy="2918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80EC00F6-10FE-4305-B5BA-932728E1D59B}"/>
              </a:ext>
            </a:extLst>
          </p:cNvPr>
          <p:cNvCxnSpPr/>
          <p:nvPr/>
        </p:nvCxnSpPr>
        <p:spPr>
          <a:xfrm flipH="1">
            <a:off x="4805659" y="2806611"/>
            <a:ext cx="106809" cy="2918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67CF5D00-A08D-4A75-9725-E45CE4E640AB}"/>
              </a:ext>
            </a:extLst>
          </p:cNvPr>
          <p:cNvCxnSpPr/>
          <p:nvPr/>
        </p:nvCxnSpPr>
        <p:spPr>
          <a:xfrm flipH="1">
            <a:off x="5194570" y="2806611"/>
            <a:ext cx="476655" cy="2918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1A16E215-FAE0-46EB-B313-7DB135D98B6A}"/>
              </a:ext>
            </a:extLst>
          </p:cNvPr>
          <p:cNvCxnSpPr>
            <a:cxnSpLocks/>
          </p:cNvCxnSpPr>
          <p:nvPr/>
        </p:nvCxnSpPr>
        <p:spPr>
          <a:xfrm flipV="1">
            <a:off x="4221804" y="3429000"/>
            <a:ext cx="0" cy="272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EBAA5008-F87D-4B6E-B5DF-520506342986}"/>
              </a:ext>
            </a:extLst>
          </p:cNvPr>
          <p:cNvCxnSpPr/>
          <p:nvPr/>
        </p:nvCxnSpPr>
        <p:spPr>
          <a:xfrm flipV="1">
            <a:off x="4601184" y="3429000"/>
            <a:ext cx="0" cy="262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8D2540DD-767F-4DB9-90EA-A8FD263E0E1D}"/>
              </a:ext>
            </a:extLst>
          </p:cNvPr>
          <p:cNvCxnSpPr>
            <a:cxnSpLocks/>
          </p:cNvCxnSpPr>
          <p:nvPr/>
        </p:nvCxnSpPr>
        <p:spPr>
          <a:xfrm flipV="1">
            <a:off x="4989899" y="3419273"/>
            <a:ext cx="0" cy="272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7836A7A4-91C4-48A7-BD04-3C171EBF8225}"/>
              </a:ext>
            </a:extLst>
          </p:cNvPr>
          <p:cNvCxnSpPr/>
          <p:nvPr/>
        </p:nvCxnSpPr>
        <p:spPr>
          <a:xfrm flipV="1">
            <a:off x="5356699" y="3429000"/>
            <a:ext cx="0" cy="272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a:extLst>
              <a:ext uri="{FF2B5EF4-FFF2-40B4-BE49-F238E27FC236}">
                <a16:creationId xmlns:a16="http://schemas.microsoft.com/office/drawing/2014/main" id="{337E56F1-8655-4FB3-8B16-533BC87A363D}"/>
              </a:ext>
            </a:extLst>
          </p:cNvPr>
          <p:cNvCxnSpPr/>
          <p:nvPr/>
        </p:nvCxnSpPr>
        <p:spPr>
          <a:xfrm flipV="1">
            <a:off x="5560979" y="3419273"/>
            <a:ext cx="0" cy="272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2BA9BA3D-07A6-49E8-9335-D37A27B17CB3}"/>
              </a:ext>
            </a:extLst>
          </p:cNvPr>
          <p:cNvCxnSpPr>
            <a:cxnSpLocks/>
          </p:cNvCxnSpPr>
          <p:nvPr/>
        </p:nvCxnSpPr>
        <p:spPr>
          <a:xfrm>
            <a:off x="4221804" y="5097294"/>
            <a:ext cx="5422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3CE37249-8426-427B-9BAD-B2B1E0BC620F}"/>
              </a:ext>
            </a:extLst>
          </p:cNvPr>
          <p:cNvCxnSpPr>
            <a:cxnSpLocks/>
          </p:cNvCxnSpPr>
          <p:nvPr/>
        </p:nvCxnSpPr>
        <p:spPr>
          <a:xfrm>
            <a:off x="8090170" y="5097294"/>
            <a:ext cx="54221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6383713B-2DC5-477D-BAAD-13521BA4467E}"/>
              </a:ext>
            </a:extLst>
          </p:cNvPr>
          <p:cNvCxnSpPr/>
          <p:nvPr/>
        </p:nvCxnSpPr>
        <p:spPr>
          <a:xfrm>
            <a:off x="3521412" y="5252936"/>
            <a:ext cx="836579" cy="284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F329A8FF-9FED-48B0-9275-192C44635F52}"/>
              </a:ext>
            </a:extLst>
          </p:cNvPr>
          <p:cNvCxnSpPr/>
          <p:nvPr/>
        </p:nvCxnSpPr>
        <p:spPr>
          <a:xfrm flipH="1">
            <a:off x="4805659" y="5243209"/>
            <a:ext cx="627238" cy="294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9879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Messy genetic algorithm (MGA) (3/4)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4093428"/>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Cut and splice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cut probability : </a:t>
                </a:r>
                <a14:m>
                  <m:oMath xmlns:m="http://schemas.openxmlformats.org/officeDocument/2006/math">
                    <m:sSub>
                      <m:sSubPr>
                        <m:ctrlPr>
                          <a:rPr lang="en-US" altLang="zh-TW" sz="2000" smtClean="0">
                            <a:latin typeface="Cambria Math" panose="02040503050406030204" pitchFamily="18" charset="0"/>
                          </a:rPr>
                        </m:ctrlPr>
                      </m:sSubPr>
                      <m:e>
                        <m:r>
                          <a:rPr lang="en-US" altLang="zh-TW" sz="2000" i="1" smtClean="0">
                            <a:latin typeface="Cambria Math" panose="02040503050406030204" pitchFamily="18" charset="0"/>
                          </a:rPr>
                          <m:t>𝑃</m:t>
                        </m:r>
                      </m:e>
                      <m:sub>
                        <m:r>
                          <a:rPr lang="en-US" altLang="zh-TW" sz="2000" i="1" smtClean="0">
                            <a:latin typeface="Cambria Math" panose="02040503050406030204" pitchFamily="18" charset="0"/>
                          </a:rPr>
                          <m:t>𝑐</m:t>
                        </m:r>
                      </m:sub>
                    </m:sSub>
                    <m:r>
                      <a:rPr lang="en-US" altLang="zh-TW" sz="2000" i="0" smtClean="0">
                        <a:latin typeface="Cambria Math" panose="02040503050406030204" pitchFamily="18" charset="0"/>
                      </a:rPr>
                      <m:t>=</m:t>
                    </m:r>
                    <m:sSub>
                      <m:sSubPr>
                        <m:ctrlPr>
                          <a:rPr lang="en-US" altLang="zh-TW" sz="2000" i="1" smtClean="0">
                            <a:latin typeface="Cambria Math" panose="02040503050406030204" pitchFamily="18" charset="0"/>
                          </a:rPr>
                        </m:ctrlPr>
                      </m:sSubPr>
                      <m:e>
                        <m:r>
                          <a:rPr lang="en-US" altLang="zh-TW" sz="2000" i="1" smtClean="0">
                            <a:latin typeface="Cambria Math" panose="02040503050406030204" pitchFamily="18" charset="0"/>
                          </a:rPr>
                          <m:t>𝑃</m:t>
                        </m:r>
                      </m:e>
                      <m:sub>
                        <m:r>
                          <a:rPr lang="en-US" altLang="zh-TW" sz="2000" i="1" smtClean="0">
                            <a:latin typeface="Cambria Math" panose="02040503050406030204" pitchFamily="18" charset="0"/>
                          </a:rPr>
                          <m:t>𝑘</m:t>
                        </m:r>
                      </m:sub>
                    </m:sSub>
                    <m:d>
                      <m:dPr>
                        <m:ctrlPr>
                          <a:rPr lang="en-US" altLang="zh-TW" sz="2000" i="1" smtClean="0">
                            <a:latin typeface="Cambria Math" panose="02040503050406030204" pitchFamily="18" charset="0"/>
                          </a:rPr>
                        </m:ctrlPr>
                      </m:dPr>
                      <m:e>
                        <m:r>
                          <a:rPr lang="en-US" altLang="zh-TW" sz="2000" i="1" smtClean="0">
                            <a:latin typeface="Cambria Math" panose="02040503050406030204" pitchFamily="18" charset="0"/>
                          </a:rPr>
                          <m:t>𝜆</m:t>
                        </m:r>
                        <m:r>
                          <a:rPr lang="en-US" altLang="zh-TW" sz="2000" i="0" smtClean="0">
                            <a:latin typeface="Cambria Math" panose="02040503050406030204" pitchFamily="18" charset="0"/>
                          </a:rPr>
                          <m:t>−1</m:t>
                        </m:r>
                      </m:e>
                    </m:d>
                  </m:oMath>
                </a14:m>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splice probability : </a:t>
                </a:r>
                <a14:m>
                  <m:oMath xmlns:m="http://schemas.openxmlformats.org/officeDocument/2006/math">
                    <m:sSub>
                      <m:sSubPr>
                        <m:ctrlPr>
                          <a:rPr lang="en-US" altLang="zh-TW" sz="2000" smtClean="0">
                            <a:latin typeface="Cambria Math" panose="02040503050406030204" pitchFamily="18" charset="0"/>
                          </a:rPr>
                        </m:ctrlPr>
                      </m:sSubPr>
                      <m:e>
                        <m:r>
                          <a:rPr lang="en-US" altLang="zh-TW" sz="2000" i="1" smtClean="0">
                            <a:latin typeface="Cambria Math" panose="02040503050406030204" pitchFamily="18" charset="0"/>
                          </a:rPr>
                          <m:t>𝑃</m:t>
                        </m:r>
                      </m:e>
                      <m:sub>
                        <m:r>
                          <a:rPr lang="en-US" altLang="zh-TW" sz="2000" i="1" smtClean="0">
                            <a:latin typeface="Cambria Math" panose="02040503050406030204" pitchFamily="18" charset="0"/>
                          </a:rPr>
                          <m:t>𝑠</m:t>
                        </m:r>
                      </m:sub>
                    </m:sSub>
                  </m:oMath>
                </a14:m>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A = (2,1)(4,1)(3,0)(1,1)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(5,0)(6,1)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B = (2,1)(4,1)</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(3,0)(1,1)(5,1)(7,0)(6,1)</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a:t>
                </a:r>
                <a14:m>
                  <m:oMath xmlns:m="http://schemas.openxmlformats.org/officeDocument/2006/math">
                    <m:sSup>
                      <m:sSupPr>
                        <m:ctrlPr>
                          <a:rPr lang="en-US" altLang="zh-TW" sz="2000" dirty="0" smtClean="0">
                            <a:latin typeface="Cambria Math" panose="02040503050406030204" pitchFamily="18" charset="0"/>
                          </a:rPr>
                        </m:ctrlPr>
                      </m:sSupPr>
                      <m:e>
                        <m:r>
                          <a:rPr lang="en-US" altLang="zh-TW" sz="2000" i="1" dirty="0" smtClean="0">
                            <a:latin typeface="Cambria Math" panose="02040503050406030204" pitchFamily="18" charset="0"/>
                          </a:rPr>
                          <m:t>𝐴</m:t>
                        </m:r>
                      </m:e>
                      <m:sup>
                        <m:r>
                          <a:rPr lang="en-US" altLang="zh-TW" sz="2000" i="0" dirty="0" smtClean="0">
                            <a:latin typeface="Cambria Math" panose="02040503050406030204" pitchFamily="18" charset="0"/>
                          </a:rPr>
                          <m:t>′</m:t>
                        </m:r>
                      </m:sup>
                    </m:sSup>
                  </m:oMath>
                </a14:m>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(2,1)(4,1)(3,0)(1,1)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(3,0)(1,1)(5,1)(7,0)(6,1)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a:t>
                </a:r>
                <a14:m>
                  <m:oMath xmlns:m="http://schemas.openxmlformats.org/officeDocument/2006/math">
                    <m:sSup>
                      <m:sSupPr>
                        <m:ctrlPr>
                          <a:rPr lang="en-US" altLang="zh-TW" sz="2000" smtClean="0">
                            <a:latin typeface="Cambria Math" panose="02040503050406030204" pitchFamily="18" charset="0"/>
                          </a:rPr>
                        </m:ctrlPr>
                      </m:sSupPr>
                      <m:e>
                        <m:r>
                          <a:rPr lang="en-US" altLang="zh-TW" sz="2000" i="1" smtClean="0">
                            <a:latin typeface="Cambria Math" panose="02040503050406030204" pitchFamily="18" charset="0"/>
                          </a:rPr>
                          <m:t>𝐵</m:t>
                        </m:r>
                      </m:e>
                      <m:sup>
                        <m:r>
                          <a:rPr lang="en-US" altLang="zh-TW" sz="2000" i="0" smtClean="0">
                            <a:latin typeface="Cambria Math" panose="02040503050406030204" pitchFamily="18" charset="0"/>
                          </a:rPr>
                          <m:t>′</m:t>
                        </m:r>
                      </m:sup>
                    </m:sSup>
                  </m:oMath>
                </a14:m>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(2,1)(4,1)</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(5,0)(6,1)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367119" y="1225682"/>
                <a:ext cx="8642836" cy="4093428"/>
              </a:xfrm>
              <a:prstGeom prst="rect">
                <a:avLst/>
              </a:prstGeom>
              <a:blipFill>
                <a:blip r:embed="rId4"/>
                <a:stretch>
                  <a:fillRect l="-635" t="-74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196831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Messy genetic algorithm (MGA) (4/4)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4612738"/>
              </a:xfrm>
              <a:prstGeom prst="rect">
                <a:avLst/>
              </a:prstGeom>
            </p:spPr>
            <p:txBody>
              <a:bodyPr wrap="square">
                <a:spAutoFit/>
              </a:bodyPr>
              <a:lstStyle/>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Random generate template chromosome</a:t>
                </a: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Outer loop (epoch start with 0 end when k) </a:t>
                </a: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Inner loop (era start with 0 end when t)</a:t>
                </a: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Initialization : random generate n population, n = </a:t>
                </a:r>
                <a14:m>
                  <m:oMath xmlns:m="http://schemas.openxmlformats.org/officeDocument/2006/math">
                    <m:sSup>
                      <m:sSupPr>
                        <m:ctrlPr>
                          <a:rPr lang="en-US" altLang="zh-TW" sz="2000" dirty="0" smtClean="0">
                            <a:latin typeface="Cambria Math" panose="02040503050406030204" pitchFamily="18" charset="0"/>
                          </a:rPr>
                        </m:ctrlPr>
                      </m:sSupPr>
                      <m:e>
                        <m:r>
                          <a:rPr lang="en-US" altLang="zh-TW" sz="2000" dirty="0" smtClean="0">
                            <a:latin typeface="Cambria Math" panose="02040503050406030204" pitchFamily="18" charset="0"/>
                          </a:rPr>
                          <m:t>2</m:t>
                        </m:r>
                      </m:e>
                      <m:sup>
                        <m:r>
                          <a:rPr lang="en-US" altLang="zh-TW" sz="2000" i="1" dirty="0" smtClean="0">
                            <a:latin typeface="Cambria Math" panose="02040503050406030204" pitchFamily="18" charset="0"/>
                          </a:rPr>
                          <m:t>𝑘</m:t>
                        </m:r>
                      </m:sup>
                    </m:sSup>
                    <m:d>
                      <m:dPr>
                        <m:ctrlPr>
                          <a:rPr lang="en-US" altLang="zh-TW" sz="2000" i="1" dirty="0" smtClean="0">
                            <a:latin typeface="Cambria Math" panose="02040503050406030204" pitchFamily="18" charset="0"/>
                          </a:rPr>
                        </m:ctrlPr>
                      </m:dPr>
                      <m:e>
                        <m:m>
                          <m:mPr>
                            <m:plcHide m:val="on"/>
                            <m:mcs>
                              <m:mc>
                                <m:mcPr>
                                  <m:count m:val="1"/>
                                  <m:mcJc m:val="center"/>
                                </m:mcPr>
                              </m:mc>
                            </m:mcs>
                            <m:ctrlPr>
                              <a:rPr lang="en-US" altLang="zh-TW" sz="2000" i="1" dirty="0" smtClean="0">
                                <a:latin typeface="Cambria Math" panose="02040503050406030204" pitchFamily="18" charset="0"/>
                              </a:rPr>
                            </m:ctrlPr>
                          </m:mPr>
                          <m:mr>
                            <m:e>
                              <m:r>
                                <a:rPr lang="en-US" altLang="zh-TW" sz="2000" i="1" dirty="0" smtClean="0">
                                  <a:latin typeface="Cambria Math" panose="02040503050406030204" pitchFamily="18" charset="0"/>
                                </a:rPr>
                                <m:t>𝑙</m:t>
                              </m:r>
                            </m:e>
                          </m:mr>
                          <m:mr>
                            <m:e>
                              <m:r>
                                <a:rPr lang="en-US" altLang="zh-TW" sz="2000" i="1" dirty="0" smtClean="0">
                                  <a:latin typeface="Cambria Math" panose="02040503050406030204" pitchFamily="18" charset="0"/>
                                </a:rPr>
                                <m:t>𝑘</m:t>
                              </m:r>
                            </m:e>
                          </m:mr>
                        </m:m>
                      </m:e>
                    </m:d>
                  </m:oMath>
                </a14:m>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Primordial phase : use tournament selection to reduce population size</a:t>
                </a: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err="1">
                    <a:latin typeface="Times New Roman" panose="02020603050405020304" pitchFamily="18" charset="0"/>
                    <a:ea typeface="Tahoma" panose="020B0604030504040204" pitchFamily="34" charset="0"/>
                    <a:cs typeface="Times New Roman" panose="02020603050405020304" pitchFamily="18" charset="0"/>
                  </a:rPr>
                  <a:t>Juxtapositional</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phase : cut-and-splice operator</a:t>
                </a:r>
              </a:p>
              <a:p>
                <a:pPr marL="457200" indent="-457200">
                  <a:buAutoNum type="arabicPeriod"/>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Replace the template chromosome</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367119" y="1225682"/>
                <a:ext cx="8642836" cy="4612738"/>
              </a:xfrm>
              <a:prstGeom prst="rect">
                <a:avLst/>
              </a:prstGeom>
              <a:blipFill>
                <a:blip r:embed="rId4"/>
                <a:stretch>
                  <a:fillRect l="-564" t="-66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014796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Fast Messy genetic algorithm (FMGA) (1/3)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4788234"/>
              </a:xfrm>
              <a:prstGeom prst="rect">
                <a:avLst/>
              </a:prstGeom>
            </p:spPr>
            <p:txBody>
              <a:bodyPr wrap="square">
                <a:spAutoFit/>
              </a:bodyPr>
              <a:lstStyle/>
              <a:p>
                <a:pPr marL="457200" indent="-4572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Time complexity : </a:t>
                </a:r>
              </a:p>
              <a:p>
                <a:pPr marL="457200" indent="-4572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Initialization : </a:t>
                </a:r>
                <a14:m>
                  <m:oMath xmlns:m="http://schemas.openxmlformats.org/officeDocument/2006/math">
                    <m:r>
                      <m:rPr>
                        <m:sty m:val="p"/>
                      </m:rPr>
                      <a:rPr lang="en-US" altLang="zh-TW" sz="2000" dirty="0">
                        <a:latin typeface="Cambria Math" panose="02040503050406030204" pitchFamily="18" charset="0"/>
                      </a:rPr>
                      <m:t>O</m:t>
                    </m:r>
                    <m:d>
                      <m:dPr>
                        <m:ctrlPr>
                          <a:rPr lang="en-US" altLang="zh-TW" sz="2000" i="1" dirty="0" smtClean="0">
                            <a:latin typeface="Cambria Math" panose="02040503050406030204" pitchFamily="18" charset="0"/>
                          </a:rPr>
                        </m:ctrlPr>
                      </m:dPr>
                      <m:e>
                        <m:sSup>
                          <m:sSupPr>
                            <m:ctrlPr>
                              <a:rPr lang="en-US" altLang="zh-TW" sz="2000" i="1" dirty="0">
                                <a:latin typeface="Cambria Math" panose="02040503050406030204" pitchFamily="18" charset="0"/>
                              </a:rPr>
                            </m:ctrlPr>
                          </m:sSupPr>
                          <m:e>
                            <m:r>
                              <a:rPr lang="en-US" altLang="zh-TW" sz="2000" i="1" dirty="0">
                                <a:latin typeface="Cambria Math" panose="02040503050406030204" pitchFamily="18" charset="0"/>
                              </a:rPr>
                              <m:t>𝑙</m:t>
                            </m:r>
                          </m:e>
                          <m:sup>
                            <m:r>
                              <a:rPr lang="en-US" altLang="zh-TW" sz="2000" i="1" dirty="0">
                                <a:latin typeface="Cambria Math" panose="02040503050406030204" pitchFamily="18" charset="0"/>
                              </a:rPr>
                              <m:t>𝑘</m:t>
                            </m:r>
                          </m:sup>
                        </m:sSup>
                      </m:e>
                    </m:d>
                  </m:oMath>
                </a14:m>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Primordial : 0</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err="1">
                    <a:latin typeface="Times New Roman" panose="02020603050405020304" pitchFamily="18" charset="0"/>
                    <a:ea typeface="Tahoma" panose="020B0604030504040204" pitchFamily="34" charset="0"/>
                    <a:cs typeface="Times New Roman" panose="02020603050405020304" pitchFamily="18" charset="0"/>
                  </a:rPr>
                  <a:t>Juxtapositional</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 </a:t>
                </a:r>
                <a14:m>
                  <m:oMath xmlns:m="http://schemas.openxmlformats.org/officeDocument/2006/math">
                    <m:r>
                      <m:rPr>
                        <m:sty m:val="p"/>
                      </m:rPr>
                      <a:rPr lang="en-US" altLang="zh-TW" sz="2000">
                        <a:latin typeface="Cambria Math" panose="02040503050406030204" pitchFamily="18" charset="0"/>
                      </a:rPr>
                      <m:t>O</m:t>
                    </m:r>
                    <m:d>
                      <m:dPr>
                        <m:ctrlPr>
                          <a:rPr lang="en-US" altLang="zh-TW" sz="2000" i="1" smtClean="0">
                            <a:latin typeface="Cambria Math" panose="02040503050406030204" pitchFamily="18" charset="0"/>
                          </a:rPr>
                        </m:ctrlPr>
                      </m:dPr>
                      <m:e>
                        <m:r>
                          <a:rPr lang="en-US" altLang="zh-TW" sz="2000" i="1" smtClean="0">
                            <a:latin typeface="Cambria Math" panose="02040503050406030204" pitchFamily="18" charset="0"/>
                          </a:rPr>
                          <m:t>𝑙</m:t>
                        </m:r>
                        <m:func>
                          <m:funcPr>
                            <m:ctrlPr>
                              <a:rPr lang="en-US" altLang="zh-TW" sz="2000" i="1" smtClean="0">
                                <a:latin typeface="Cambria Math" panose="02040503050406030204" pitchFamily="18" charset="0"/>
                              </a:rPr>
                            </m:ctrlPr>
                          </m:funcPr>
                          <m:fName>
                            <m:r>
                              <m:rPr>
                                <m:sty m:val="p"/>
                              </m:rPr>
                              <a:rPr lang="en-US" altLang="zh-TW" sz="2000" i="0" smtClean="0">
                                <a:latin typeface="Cambria Math" panose="02040503050406030204" pitchFamily="18" charset="0"/>
                              </a:rPr>
                              <m:t>log</m:t>
                            </m:r>
                          </m:fName>
                          <m:e>
                            <m:r>
                              <a:rPr lang="en-US" altLang="zh-TW" sz="2000" i="1" smtClean="0">
                                <a:latin typeface="Cambria Math" panose="02040503050406030204" pitchFamily="18" charset="0"/>
                              </a:rPr>
                              <m:t>𝑙</m:t>
                            </m:r>
                          </m:e>
                        </m:func>
                      </m:e>
                    </m:d>
                  </m:oMath>
                </a14:m>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Total : </a:t>
                </a:r>
                <a14:m>
                  <m:oMath xmlns:m="http://schemas.openxmlformats.org/officeDocument/2006/math">
                    <m:r>
                      <m:rPr>
                        <m:sty m:val="p"/>
                      </m:rPr>
                      <a:rPr lang="en-US" altLang="zh-TW" sz="2000" dirty="0">
                        <a:latin typeface="Cambria Math" panose="02040503050406030204" pitchFamily="18" charset="0"/>
                      </a:rPr>
                      <m:t>O</m:t>
                    </m:r>
                    <m:d>
                      <m:dPr>
                        <m:ctrlPr>
                          <a:rPr lang="en-US" altLang="zh-TW" sz="2000" i="1" dirty="0">
                            <a:latin typeface="Cambria Math" panose="02040503050406030204" pitchFamily="18" charset="0"/>
                          </a:rPr>
                        </m:ctrlPr>
                      </m:dPr>
                      <m:e>
                        <m:sSup>
                          <m:sSupPr>
                            <m:ctrlPr>
                              <a:rPr lang="en-US" altLang="zh-TW" sz="2000" i="1" dirty="0">
                                <a:latin typeface="Cambria Math" panose="02040503050406030204" pitchFamily="18" charset="0"/>
                              </a:rPr>
                            </m:ctrlPr>
                          </m:sSupPr>
                          <m:e>
                            <m:r>
                              <a:rPr lang="en-US" altLang="zh-TW" sz="2000" i="1" dirty="0">
                                <a:latin typeface="Cambria Math" panose="02040503050406030204" pitchFamily="18" charset="0"/>
                              </a:rPr>
                              <m:t>𝑙</m:t>
                            </m:r>
                          </m:e>
                          <m:sup>
                            <m:r>
                              <a:rPr lang="en-US" altLang="zh-TW" sz="2000" i="1" dirty="0">
                                <a:latin typeface="Cambria Math" panose="02040503050406030204" pitchFamily="18" charset="0"/>
                              </a:rPr>
                              <m:t>𝑘</m:t>
                            </m:r>
                          </m:sup>
                        </m:sSup>
                      </m:e>
                    </m:d>
                  </m:oMath>
                </a14:m>
                <a:endParaRPr lang="en-US" altLang="zh-TW" sz="2000" dirty="0">
                  <a:latin typeface="Times New Roman" panose="02020603050405020304" pitchFamily="18" charset="0"/>
                </a:endParaRP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Modifications :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1. Initialization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Probabilistically complete initialization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367119" y="1225682"/>
                <a:ext cx="8642836" cy="4788234"/>
              </a:xfrm>
              <a:prstGeom prst="rect">
                <a:avLst/>
              </a:prstGeom>
              <a:blipFill>
                <a:blip r:embed="rId4"/>
                <a:stretch>
                  <a:fillRect l="-635" t="-636"/>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3F6ABF7E-5035-4D78-8ED0-16220D961742}"/>
              </a:ext>
            </a:extLst>
          </p:cNvPr>
          <p:cNvPicPr>
            <a:picLocks noChangeAspect="1"/>
          </p:cNvPicPr>
          <p:nvPr/>
        </p:nvPicPr>
        <p:blipFill>
          <a:blip r:embed="rId5"/>
          <a:stretch>
            <a:fillRect/>
          </a:stretch>
        </p:blipFill>
        <p:spPr>
          <a:xfrm>
            <a:off x="5282365" y="4314159"/>
            <a:ext cx="2295238" cy="1133333"/>
          </a:xfrm>
          <a:prstGeom prst="rect">
            <a:avLst/>
          </a:prstGeom>
        </p:spPr>
      </p:pic>
    </p:spTree>
    <p:extLst>
      <p:ext uri="{BB962C8B-B14F-4D97-AF65-F5344CB8AC3E}">
        <p14:creationId xmlns:p14="http://schemas.microsoft.com/office/powerpoint/2010/main" val="25881827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Fast Messy genetic algorithm (FMGA) (2/3)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4275979"/>
              </a:xfrm>
              <a:prstGeom prst="rect">
                <a:avLst/>
              </a:prstGeom>
            </p:spPr>
            <p:txBody>
              <a:bodyPr wrap="square">
                <a:spAutoFit/>
              </a:bodyPr>
              <a:lstStyle/>
              <a:p>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2. Primordial phase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Building-block filtering via selection and deletion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 Threshold selection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a = (0,1)(3,1)(5,0)(2,1)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Messy chromosome b = (3,0)(5,1)(0,0)(6,1)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M = 3, if M &gt; </a:t>
                </a:r>
                <a14:m>
                  <m:oMath xmlns:m="http://schemas.openxmlformats.org/officeDocument/2006/math">
                    <m:r>
                      <a:rPr lang="en-US" altLang="zh-TW" sz="2000" i="1" dirty="0" smtClean="0">
                        <a:latin typeface="Cambria Math" panose="02040503050406030204" pitchFamily="18" charset="0"/>
                      </a:rPr>
                      <m:t>𝜃</m:t>
                    </m:r>
                  </m:oMath>
                </a14:m>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then compare a and b,</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where </a:t>
                </a:r>
                <a14:m>
                  <m:oMath xmlns:m="http://schemas.openxmlformats.org/officeDocument/2006/math">
                    <m:r>
                      <a:rPr lang="en-US" altLang="zh-TW" sz="2000" i="1" dirty="0" smtClean="0">
                        <a:latin typeface="Cambria Math" panose="02040503050406030204" pitchFamily="18" charset="0"/>
                      </a:rPr>
                      <m:t>𝜃</m:t>
                    </m:r>
                  </m:oMath>
                </a14:m>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 </a:t>
                </a:r>
                <a14:m>
                  <m:oMath xmlns:m="http://schemas.openxmlformats.org/officeDocument/2006/math">
                    <m:d>
                      <m:dPr>
                        <m:begChr m:val="["/>
                        <m:endChr m:val="]"/>
                        <m:ctrlPr>
                          <a:rPr lang="en-US" altLang="zh-TW" sz="2000" dirty="0" smtClean="0">
                            <a:latin typeface="Cambria Math" panose="02040503050406030204" pitchFamily="18" charset="0"/>
                          </a:rPr>
                        </m:ctrlPr>
                      </m:dPr>
                      <m:e>
                        <m:f>
                          <m:fPr>
                            <m:ctrlPr>
                              <a:rPr lang="en-US" altLang="zh-TW" sz="2000" dirty="0" smtClean="0">
                                <a:latin typeface="Cambria Math" panose="02040503050406030204" pitchFamily="18" charset="0"/>
                              </a:rPr>
                            </m:ctrlPr>
                          </m:fPr>
                          <m:num>
                            <m:sSub>
                              <m:sSubPr>
                                <m:ctrlPr>
                                  <a:rPr lang="en-US" altLang="zh-TW" sz="2000"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0" dirty="0" smtClean="0">
                                    <a:latin typeface="Cambria Math" panose="02040503050406030204" pitchFamily="18" charset="0"/>
                                  </a:rPr>
                                  <m:t>1</m:t>
                                </m:r>
                              </m:sub>
                            </m:sSub>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0" dirty="0" smtClean="0">
                                    <a:latin typeface="Cambria Math" panose="02040503050406030204" pitchFamily="18" charset="0"/>
                                  </a:rPr>
                                  <m:t>2</m:t>
                                </m:r>
                              </m:sub>
                            </m:sSub>
                          </m:num>
                          <m:den>
                            <m:r>
                              <a:rPr lang="en-US" altLang="zh-TW" sz="2000" i="1" dirty="0" smtClean="0">
                                <a:latin typeface="Cambria Math" panose="02040503050406030204" pitchFamily="18" charset="0"/>
                              </a:rPr>
                              <m:t>𝑙</m:t>
                            </m:r>
                          </m:den>
                        </m:f>
                        <m:r>
                          <a:rPr lang="en-US" altLang="zh-TW" sz="2000" i="0" dirty="0" smtClean="0">
                            <a:latin typeface="Cambria Math" panose="02040503050406030204" pitchFamily="18" charset="0"/>
                          </a:rPr>
                          <m:t>+</m:t>
                        </m:r>
                        <m:sSup>
                          <m:sSupPr>
                            <m:ctrlPr>
                              <a:rPr lang="en-US" altLang="zh-TW" sz="2000" i="1" dirty="0" smtClean="0">
                                <a:latin typeface="Cambria Math" panose="02040503050406030204" pitchFamily="18" charset="0"/>
                              </a:rPr>
                            </m:ctrlPr>
                          </m:sSupPr>
                          <m:e>
                            <m:r>
                              <a:rPr lang="en-US" altLang="zh-TW" sz="2000" i="1" dirty="0" smtClean="0">
                                <a:latin typeface="Cambria Math" panose="02040503050406030204" pitchFamily="18" charset="0"/>
                              </a:rPr>
                              <m:t>𝑐</m:t>
                            </m:r>
                          </m:e>
                          <m:sup>
                            <m:r>
                              <a:rPr lang="en-US" altLang="zh-TW" sz="2000" i="0" dirty="0" smtClean="0">
                                <a:latin typeface="Cambria Math" panose="02040503050406030204" pitchFamily="18" charset="0"/>
                              </a:rPr>
                              <m:t>′</m:t>
                            </m:r>
                          </m:sup>
                        </m:sSup>
                        <m:d>
                          <m:dPr>
                            <m:ctrlPr>
                              <a:rPr lang="en-US" altLang="zh-TW" sz="2000" i="1" dirty="0" smtClean="0">
                                <a:latin typeface="Cambria Math" panose="02040503050406030204" pitchFamily="18" charset="0"/>
                              </a:rPr>
                            </m:ctrlPr>
                          </m:dPr>
                          <m:e>
                            <m:sSup>
                              <m:sSupPr>
                                <m:ctrlPr>
                                  <a:rPr lang="en-US" altLang="zh-TW" sz="2000" i="1" dirty="0" smtClean="0">
                                    <a:latin typeface="Cambria Math" panose="02040503050406030204" pitchFamily="18" charset="0"/>
                                  </a:rPr>
                                </m:ctrlPr>
                              </m:sSupPr>
                              <m:e>
                                <m:r>
                                  <a:rPr lang="en-US" altLang="zh-TW" sz="2000" i="1" dirty="0" smtClean="0">
                                    <a:latin typeface="Cambria Math" panose="02040503050406030204" pitchFamily="18" charset="0"/>
                                  </a:rPr>
                                  <m:t>𝛼</m:t>
                                </m:r>
                              </m:e>
                              <m:sup>
                                <m:r>
                                  <a:rPr lang="en-US" altLang="zh-TW" sz="2000" i="0" dirty="0" smtClean="0">
                                    <a:latin typeface="Cambria Math" panose="02040503050406030204" pitchFamily="18" charset="0"/>
                                  </a:rPr>
                                  <m:t>′</m:t>
                                </m:r>
                              </m:sup>
                            </m:sSup>
                          </m:e>
                        </m:d>
                        <m:r>
                          <a:rPr lang="en-US" altLang="zh-TW" sz="2000" i="1" dirty="0" smtClean="0">
                            <a:latin typeface="Cambria Math" panose="02040503050406030204" pitchFamily="18" charset="0"/>
                          </a:rPr>
                          <m:t>𝜎</m:t>
                        </m:r>
                      </m:e>
                    </m:d>
                    <m:r>
                      <a:rPr lang="en-US" altLang="zh-TW" sz="2000" b="0" i="0" dirty="0" smtClean="0">
                        <a:latin typeface="Cambria Math" panose="02040503050406030204" pitchFamily="18" charset="0"/>
                      </a:rPr>
                      <m:t> ,</m:t>
                    </m:r>
                    <m:sSup>
                      <m:sSupPr>
                        <m:ctrlPr>
                          <a:rPr lang="en-US" altLang="zh-TW" sz="2000" dirty="0" smtClean="0">
                            <a:latin typeface="Cambria Math" panose="02040503050406030204" pitchFamily="18" charset="0"/>
                          </a:rPr>
                        </m:ctrlPr>
                      </m:sSupPr>
                      <m:e>
                        <m:r>
                          <a:rPr lang="en-US" altLang="zh-TW" sz="2000" i="1" dirty="0" smtClean="0">
                            <a:latin typeface="Cambria Math" panose="02040503050406030204" pitchFamily="18" charset="0"/>
                          </a:rPr>
                          <m:t>𝜎</m:t>
                        </m:r>
                      </m:e>
                      <m:sup>
                        <m:r>
                          <a:rPr lang="en-US" altLang="zh-TW" sz="2000" i="0" dirty="0" smtClean="0">
                            <a:latin typeface="Cambria Math" panose="02040503050406030204" pitchFamily="18" charset="0"/>
                          </a:rPr>
                          <m:t>2</m:t>
                        </m:r>
                      </m:sup>
                    </m:sSup>
                    <m:r>
                      <a:rPr lang="en-US" altLang="zh-TW" sz="2000" i="0" dirty="0" smtClean="0">
                        <a:latin typeface="Cambria Math" panose="02040503050406030204" pitchFamily="18" charset="0"/>
                      </a:rPr>
                      <m:t>=</m:t>
                    </m:r>
                    <m:f>
                      <m:fPr>
                        <m:ctrlPr>
                          <a:rPr lang="en-US" altLang="zh-TW" sz="2000" i="1" dirty="0" smtClean="0">
                            <a:latin typeface="Cambria Math" panose="02040503050406030204" pitchFamily="18" charset="0"/>
                          </a:rPr>
                        </m:ctrlPr>
                      </m:fPr>
                      <m:num>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1" dirty="0" smtClean="0">
                                <a:latin typeface="Cambria Math" panose="02040503050406030204" pitchFamily="18" charset="0"/>
                              </a:rPr>
                              <m:t>1</m:t>
                            </m:r>
                          </m:sub>
                        </m:sSub>
                        <m:d>
                          <m:dPr>
                            <m:ctrlPr>
                              <a:rPr lang="en-US" altLang="zh-TW" sz="2000" i="1" dirty="0" smtClean="0">
                                <a:latin typeface="Cambria Math" panose="02040503050406030204" pitchFamily="18" charset="0"/>
                              </a:rPr>
                            </m:ctrlPr>
                          </m:dPr>
                          <m:e>
                            <m:r>
                              <a:rPr lang="en-US" altLang="zh-TW" sz="2000" i="1" dirty="0" smtClean="0">
                                <a:latin typeface="Cambria Math" panose="02040503050406030204" pitchFamily="18" charset="0"/>
                              </a:rPr>
                              <m:t>𝑙</m:t>
                            </m:r>
                            <m:r>
                              <a:rPr lang="en-US" altLang="zh-TW" sz="2000" i="1" dirty="0" smtClean="0">
                                <a:latin typeface="Cambria Math" panose="02040503050406030204" pitchFamily="18" charset="0"/>
                              </a:rPr>
                              <m:t>−</m:t>
                            </m:r>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1" dirty="0" smtClean="0">
                                    <a:latin typeface="Cambria Math" panose="02040503050406030204" pitchFamily="18" charset="0"/>
                                  </a:rPr>
                                  <m:t>1</m:t>
                                </m:r>
                              </m:sub>
                            </m:sSub>
                          </m:e>
                        </m:d>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1" dirty="0" smtClean="0">
                                <a:latin typeface="Cambria Math" panose="02040503050406030204" pitchFamily="18" charset="0"/>
                              </a:rPr>
                              <m:t>2</m:t>
                            </m:r>
                          </m:sub>
                        </m:sSub>
                        <m:d>
                          <m:dPr>
                            <m:ctrlPr>
                              <a:rPr lang="en-US" altLang="zh-TW" sz="2000" i="1" dirty="0" smtClean="0">
                                <a:latin typeface="Cambria Math" panose="02040503050406030204" pitchFamily="18" charset="0"/>
                              </a:rPr>
                            </m:ctrlPr>
                          </m:dPr>
                          <m:e>
                            <m:r>
                              <a:rPr lang="en-US" altLang="zh-TW" sz="2000" i="1" dirty="0" smtClean="0">
                                <a:latin typeface="Cambria Math" panose="02040503050406030204" pitchFamily="18" charset="0"/>
                              </a:rPr>
                              <m:t>𝑙</m:t>
                            </m:r>
                            <m:r>
                              <a:rPr lang="en-US" altLang="zh-TW" sz="2000" i="1" dirty="0" smtClean="0">
                                <a:latin typeface="Cambria Math" panose="02040503050406030204" pitchFamily="18" charset="0"/>
                              </a:rPr>
                              <m:t>−</m:t>
                            </m:r>
                            <m:sSub>
                              <m:sSubPr>
                                <m:ctrlPr>
                                  <a:rPr lang="en-US" altLang="zh-TW" sz="2000" i="1" dirty="0" smtClean="0">
                                    <a:latin typeface="Cambria Math" panose="02040503050406030204" pitchFamily="18" charset="0"/>
                                  </a:rPr>
                                </m:ctrlPr>
                              </m:sSubPr>
                              <m:e>
                                <m:r>
                                  <a:rPr lang="en-US" altLang="zh-TW" sz="2000" i="1" dirty="0" smtClean="0">
                                    <a:latin typeface="Cambria Math" panose="02040503050406030204" pitchFamily="18" charset="0"/>
                                  </a:rPr>
                                  <m:t>𝑙</m:t>
                                </m:r>
                              </m:e>
                              <m:sub>
                                <m:r>
                                  <a:rPr lang="en-US" altLang="zh-TW" sz="2000" i="1" dirty="0" smtClean="0">
                                    <a:latin typeface="Cambria Math" panose="02040503050406030204" pitchFamily="18" charset="0"/>
                                  </a:rPr>
                                  <m:t>2</m:t>
                                </m:r>
                              </m:sub>
                            </m:sSub>
                          </m:e>
                        </m:d>
                      </m:num>
                      <m:den>
                        <m:sSup>
                          <m:sSupPr>
                            <m:ctrlPr>
                              <a:rPr lang="en-US" altLang="zh-TW" sz="2000" i="1" dirty="0" smtClean="0">
                                <a:latin typeface="Cambria Math" panose="02040503050406030204" pitchFamily="18" charset="0"/>
                              </a:rPr>
                            </m:ctrlPr>
                          </m:sSupPr>
                          <m:e>
                            <m:r>
                              <a:rPr lang="en-US" altLang="zh-TW" sz="2000" i="1" dirty="0">
                                <a:latin typeface="Cambria Math" panose="02040503050406030204" pitchFamily="18" charset="0"/>
                              </a:rPr>
                              <m:t>𝑙</m:t>
                            </m:r>
                          </m:e>
                          <m:sup>
                            <m:r>
                              <a:rPr lang="en-US" altLang="zh-TW" sz="2000" i="0" dirty="0" smtClean="0">
                                <a:latin typeface="Cambria Math" panose="02040503050406030204" pitchFamily="18" charset="0"/>
                              </a:rPr>
                              <m:t>2</m:t>
                            </m:r>
                          </m:sup>
                        </m:sSup>
                        <m:d>
                          <m:dPr>
                            <m:ctrlPr>
                              <a:rPr lang="en-US" altLang="zh-TW" sz="2000" i="1" dirty="0" smtClean="0">
                                <a:latin typeface="Cambria Math" panose="02040503050406030204" pitchFamily="18" charset="0"/>
                              </a:rPr>
                            </m:ctrlPr>
                          </m:dPr>
                          <m:e>
                            <m:r>
                              <a:rPr lang="en-US" altLang="zh-TW" sz="2000" i="1" dirty="0">
                                <a:latin typeface="Cambria Math" panose="02040503050406030204" pitchFamily="18" charset="0"/>
                              </a:rPr>
                              <m:t>𝑙</m:t>
                            </m:r>
                            <m:r>
                              <a:rPr lang="en-US" altLang="zh-TW" sz="2000" i="0" dirty="0" smtClean="0">
                                <a:latin typeface="Cambria Math" panose="02040503050406030204" pitchFamily="18" charset="0"/>
                              </a:rPr>
                              <m:t>−1</m:t>
                            </m:r>
                          </m:e>
                        </m:d>
                      </m:den>
                    </m:f>
                  </m:oMath>
                </a14:m>
                <a:endParaRPr lang="en-US" altLang="zh-TW" sz="2000" dirty="0">
                  <a:latin typeface="Times New Roman" panose="02020603050405020304" pitchFamily="18" charset="0"/>
                </a:endParaRPr>
              </a:p>
              <a:p>
                <a:endParaRPr lang="en-US" altLang="zh-TW" sz="2000" dirty="0">
                  <a:latin typeface="Times New Roman" panose="02020603050405020304" pitchFamily="18" charset="0"/>
                </a:endParaRPr>
              </a:p>
              <a:p>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mc:Choice>
        <mc:Fallback>
          <p:sp>
            <p:nvSpPr>
              <p:cNvPr id="3" name="矩形 2">
                <a:extLst>
                  <a:ext uri="{FF2B5EF4-FFF2-40B4-BE49-F238E27FC236}">
                    <a16:creationId xmlns:a16="http://schemas.microsoft.com/office/drawing/2014/main" id="{4CA99AB1-8A34-44D9-B883-1F9E543CC7C7}"/>
                  </a:ext>
                </a:extLst>
              </p:cNvPr>
              <p:cNvSpPr>
                <a:spLocks noRot="1" noChangeAspect="1" noMove="1" noResize="1" noEditPoints="1" noAdjustHandles="1" noChangeArrowheads="1" noChangeShapeType="1" noTextEdit="1"/>
              </p:cNvSpPr>
              <p:nvPr/>
            </p:nvSpPr>
            <p:spPr>
              <a:xfrm>
                <a:off x="367119" y="1225682"/>
                <a:ext cx="8642836" cy="4275979"/>
              </a:xfrm>
              <a:prstGeom prst="rect">
                <a:avLst/>
              </a:prstGeom>
              <a:blipFill>
                <a:blip r:embed="rId4"/>
                <a:stretch>
                  <a:fillRect t="-71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567703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Fast Messy genetic algorithm (FMGA) (3/3)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1015663"/>
          </a:xfrm>
          <a:prstGeom prst="rect">
            <a:avLst/>
          </a:prstGeom>
        </p:spPr>
        <p:txBody>
          <a:bodyPr wrap="square">
            <a:spAutoFit/>
          </a:bodyPr>
          <a:lstStyle/>
          <a:p>
            <a:r>
              <a:rPr lang="en-US" altLang="zh-TW" sz="2000" dirty="0">
                <a:latin typeface="Times New Roman" panose="02020603050405020304" pitchFamily="18" charset="0"/>
              </a:rPr>
              <a:t>	 b. Deletion : </a:t>
            </a:r>
          </a:p>
          <a:p>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4" name="圖片 3">
            <a:extLst>
              <a:ext uri="{FF2B5EF4-FFF2-40B4-BE49-F238E27FC236}">
                <a16:creationId xmlns:a16="http://schemas.microsoft.com/office/drawing/2014/main" id="{9F8D1C02-C8F7-4FE1-B380-6773AC2A010C}"/>
              </a:ext>
            </a:extLst>
          </p:cNvPr>
          <p:cNvPicPr>
            <a:picLocks noChangeAspect="1"/>
          </p:cNvPicPr>
          <p:nvPr/>
        </p:nvPicPr>
        <p:blipFill>
          <a:blip r:embed="rId4"/>
          <a:stretch>
            <a:fillRect/>
          </a:stretch>
        </p:blipFill>
        <p:spPr>
          <a:xfrm>
            <a:off x="2693180" y="1733513"/>
            <a:ext cx="3757640" cy="4060066"/>
          </a:xfrm>
          <a:prstGeom prst="rect">
            <a:avLst/>
          </a:prstGeom>
        </p:spPr>
      </p:pic>
    </p:spTree>
    <p:extLst>
      <p:ext uri="{BB962C8B-B14F-4D97-AF65-F5344CB8AC3E}">
        <p14:creationId xmlns:p14="http://schemas.microsoft.com/office/powerpoint/2010/main" val="11638567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69026"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Results(1/2)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707886"/>
          </a:xfrm>
          <a:prstGeom prst="rect">
            <a:avLst/>
          </a:prstGeom>
        </p:spPr>
        <p:txBody>
          <a:bodyPr wrap="square">
            <a:spAutoFit/>
          </a:bodyPr>
          <a:lstStyle/>
          <a:p>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5" name="圖片 4">
            <a:extLst>
              <a:ext uri="{FF2B5EF4-FFF2-40B4-BE49-F238E27FC236}">
                <a16:creationId xmlns:a16="http://schemas.microsoft.com/office/drawing/2014/main" id="{7838DE7A-F321-45FD-B02F-BA1A6C2E1FA6}"/>
              </a:ext>
            </a:extLst>
          </p:cNvPr>
          <p:cNvPicPr>
            <a:picLocks noChangeAspect="1"/>
          </p:cNvPicPr>
          <p:nvPr/>
        </p:nvPicPr>
        <p:blipFill>
          <a:blip r:embed="rId4"/>
          <a:stretch>
            <a:fillRect/>
          </a:stretch>
        </p:blipFill>
        <p:spPr>
          <a:xfrm>
            <a:off x="1252698" y="1502947"/>
            <a:ext cx="6638603" cy="4227788"/>
          </a:xfrm>
          <a:prstGeom prst="rect">
            <a:avLst/>
          </a:prstGeom>
        </p:spPr>
      </p:pic>
    </p:spTree>
    <p:extLst>
      <p:ext uri="{BB962C8B-B14F-4D97-AF65-F5344CB8AC3E}">
        <p14:creationId xmlns:p14="http://schemas.microsoft.com/office/powerpoint/2010/main" val="46788148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69026"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3" name="矩形 2">
            <a:extLst>
              <a:ext uri="{FF2B5EF4-FFF2-40B4-BE49-F238E27FC236}">
                <a16:creationId xmlns:a16="http://schemas.microsoft.com/office/drawing/2014/main" id="{4CA99AB1-8A34-44D9-B883-1F9E543CC7C7}"/>
              </a:ext>
            </a:extLst>
          </p:cNvPr>
          <p:cNvSpPr/>
          <p:nvPr/>
        </p:nvSpPr>
        <p:spPr>
          <a:xfrm>
            <a:off x="367119" y="1225682"/>
            <a:ext cx="8642836" cy="707886"/>
          </a:xfrm>
          <a:prstGeom prst="rect">
            <a:avLst/>
          </a:prstGeom>
        </p:spPr>
        <p:txBody>
          <a:bodyPr wrap="square">
            <a:spAutoFit/>
          </a:bodyPr>
          <a:lstStyle/>
          <a:p>
            <a:endParaRPr lang="en-US" altLang="zh-TW" sz="2000" dirty="0">
              <a:latin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7" name="圖片 6">
            <a:extLst>
              <a:ext uri="{FF2B5EF4-FFF2-40B4-BE49-F238E27FC236}">
                <a16:creationId xmlns:a16="http://schemas.microsoft.com/office/drawing/2014/main" id="{481767C1-FB9B-4B04-B8F0-03887570BF13}"/>
              </a:ext>
            </a:extLst>
          </p:cNvPr>
          <p:cNvPicPr>
            <a:picLocks noChangeAspect="1"/>
          </p:cNvPicPr>
          <p:nvPr/>
        </p:nvPicPr>
        <p:blipFill>
          <a:blip r:embed="rId4"/>
          <a:stretch>
            <a:fillRect/>
          </a:stretch>
        </p:blipFill>
        <p:spPr>
          <a:xfrm>
            <a:off x="1429143" y="1289461"/>
            <a:ext cx="6285714" cy="4342857"/>
          </a:xfrm>
          <a:prstGeom prst="rect">
            <a:avLst/>
          </a:prstGeom>
        </p:spPr>
      </p:pic>
    </p:spTree>
    <p:extLst>
      <p:ext uri="{BB962C8B-B14F-4D97-AF65-F5344CB8AC3E}">
        <p14:creationId xmlns:p14="http://schemas.microsoft.com/office/powerpoint/2010/main" val="35299299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91895</TotalTime>
  <Words>1530</Words>
  <Application>Microsoft Office PowerPoint</Application>
  <PresentationFormat>如螢幕大小 (4:3)</PresentationFormat>
  <Paragraphs>199</Paragraphs>
  <Slides>17</Slides>
  <Notes>17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Arial</vt:lpstr>
      <vt:lpstr>Calibri</vt:lpstr>
      <vt:lpstr>Calibri Light</vt:lpstr>
      <vt:lpstr>Cambria Math</vt:lpstr>
      <vt:lpstr>Times New Roman</vt:lpstr>
      <vt:lpstr>Office 佈景主題</vt:lpstr>
      <vt:lpstr>Messy Genetic Algorithms: Motivation, Analysis, and First Results</vt:lpstr>
      <vt:lpstr>Rapid, Accurate Optimization of  Difficult Problems Using  Fast Messy Genetic Algorithms</vt:lpstr>
      <vt:lpstr>Abstract(1/3)</vt:lpstr>
      <vt:lpstr>Abstract(2/3)</vt:lpstr>
      <vt:lpstr>Abstract(3/3)</vt:lpstr>
      <vt:lpstr>Genetic algorithm (GA) (1/3)</vt:lpstr>
      <vt:lpstr>Genetic algorithm (GA) (2/3)</vt:lpstr>
      <vt:lpstr>Genetic algorithm (GA) (3/3)</vt:lpstr>
      <vt:lpstr>Messy genetic algorithm (MGA) (1/4)</vt:lpstr>
      <vt:lpstr>Messy genetic algorithm (MGA) (2/4)</vt:lpstr>
      <vt:lpstr>Messy genetic algorithm (MGA) (3/4)</vt:lpstr>
      <vt:lpstr>Messy genetic algorithm (MGA) (4/4)</vt:lpstr>
      <vt:lpstr>Fast Messy genetic algorithm (FMGA) (1/3)</vt:lpstr>
      <vt:lpstr>Fast Messy genetic algorithm (FMGA) (2/3)</vt:lpstr>
      <vt:lpstr>Fast Messy genetic algorithm (FMGA) (3/3)</vt:lpstr>
      <vt:lpstr>Results(1/2)</vt:lpstr>
      <vt:lpstr>Results(2/2)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936</cp:revision>
  <dcterms:created xsi:type="dcterms:W3CDTF">2017-09-25T08:45:50Z</dcterms:created>
  <dcterms:modified xsi:type="dcterms:W3CDTF">2020-09-08T07:07:58Z</dcterms:modified>
</cp:coreProperties>
</file>