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7" r:id="rId2"/>
    <p:sldId id="258" r:id="rId3"/>
    <p:sldId id="259" r:id="rId4"/>
    <p:sldId id="286" r:id="rId5"/>
    <p:sldId id="260" r:id="rId6"/>
    <p:sldId id="261" r:id="rId7"/>
    <p:sldId id="262" r:id="rId8"/>
    <p:sldId id="285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69" autoAdjust="0"/>
    <p:restoredTop sz="94598" autoAdjust="0"/>
  </p:normalViewPr>
  <p:slideViewPr>
    <p:cSldViewPr snapToGrid="0">
      <p:cViewPr varScale="1">
        <p:scale>
          <a:sx n="68" d="100"/>
          <a:sy n="68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7F08D8-1C3C-45A3-BFAF-38E9ED0D810D}" type="datetimeFigureOut">
              <a:rPr lang="zh-TW" altLang="en-US" smtClean="0"/>
              <a:t>2020/9/8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1A5DE9-89BE-41EB-A915-C356772D38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7142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假設我要計算</a:t>
            </a:r>
            <a:r>
              <a:rPr lang="en-US" altLang="zh-TW" dirty="0"/>
              <a:t>3-common</a:t>
            </a:r>
            <a:r>
              <a:rPr lang="en-US" altLang="zh-TW" baseline="0" dirty="0"/>
              <a:t> substring problem,</a:t>
            </a:r>
            <a:r>
              <a:rPr lang="zh-TW" altLang="en-US" baseline="0" dirty="0"/>
              <a:t>最簡單的方法就是找到一個區間</a:t>
            </a:r>
            <a:r>
              <a:rPr lang="en-US" altLang="zh-TW" baseline="0" dirty="0" err="1"/>
              <a:t>p,q</a:t>
            </a:r>
            <a:r>
              <a:rPr lang="zh-TW" altLang="en-US" baseline="0" dirty="0"/>
              <a:t>，且區間內的</a:t>
            </a:r>
            <a:r>
              <a:rPr lang="en-US" altLang="zh-TW" baseline="0" dirty="0"/>
              <a:t>text</a:t>
            </a:r>
            <a:r>
              <a:rPr lang="zh-TW" altLang="en-US" baseline="0" dirty="0"/>
              <a:t>必須包含</a:t>
            </a:r>
            <a:r>
              <a:rPr lang="en-US" altLang="zh-TW" baseline="0" dirty="0"/>
              <a:t>text[</a:t>
            </a:r>
            <a:r>
              <a:rPr lang="en-US" altLang="zh-TW" baseline="0" dirty="0" err="1"/>
              <a:t>i</a:t>
            </a:r>
            <a:r>
              <a:rPr lang="en-US" altLang="zh-TW" baseline="0" dirty="0"/>
              <a:t>]=1</a:t>
            </a:r>
            <a:r>
              <a:rPr lang="zh-TW" altLang="en-US" baseline="0" dirty="0"/>
              <a:t> </a:t>
            </a:r>
            <a:r>
              <a:rPr lang="en-US" altLang="zh-TW" baseline="0" dirty="0"/>
              <a:t>2</a:t>
            </a:r>
            <a:r>
              <a:rPr lang="zh-TW" altLang="en-US" baseline="0" dirty="0"/>
              <a:t> </a:t>
            </a:r>
            <a:r>
              <a:rPr lang="en-US" altLang="zh-TW" baseline="0" dirty="0"/>
              <a:t>3</a:t>
            </a:r>
            <a:r>
              <a:rPr lang="zh-TW" altLang="en-US" baseline="0" dirty="0"/>
              <a:t>，接著我計算</a:t>
            </a:r>
            <a:r>
              <a:rPr lang="en-US" altLang="zh-TW" baseline="0" dirty="0"/>
              <a:t>RMQ(LCP[p+1]….LCP[q]),</a:t>
            </a:r>
            <a:r>
              <a:rPr lang="zh-TW" altLang="en-US" baseline="0" dirty="0"/>
              <a:t>依序計算就可以找到</a:t>
            </a:r>
            <a:r>
              <a:rPr lang="en-US" altLang="zh-TW" dirty="0"/>
              <a:t>3-common</a:t>
            </a:r>
            <a:r>
              <a:rPr lang="en-US" altLang="zh-TW" baseline="0" dirty="0"/>
              <a:t> substring </a:t>
            </a:r>
            <a:r>
              <a:rPr lang="zh-TW" altLang="en-US" baseline="0" dirty="0"/>
              <a:t>的最大值了。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1A5DE9-89BE-41EB-A915-C356772D380F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38294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F7B90-660C-4E87-90F9-148068A1474E}" type="datetimeFigureOut">
              <a:rPr lang="zh-TW" altLang="en-US" smtClean="0"/>
              <a:t>2020/9/8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1EE17-6D92-4962-96DD-E78DD39AF5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8539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F7B90-660C-4E87-90F9-148068A1474E}" type="datetimeFigureOut">
              <a:rPr lang="zh-TW" altLang="en-US" smtClean="0"/>
              <a:t>2020/9/8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1EE17-6D92-4962-96DD-E78DD39AF5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496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F7B90-660C-4E87-90F9-148068A1474E}" type="datetimeFigureOut">
              <a:rPr lang="zh-TW" altLang="en-US" smtClean="0"/>
              <a:t>2020/9/8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1EE17-6D92-4962-96DD-E78DD39AF5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6078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F7B90-660C-4E87-90F9-148068A1474E}" type="datetimeFigureOut">
              <a:rPr lang="zh-TW" altLang="en-US" smtClean="0"/>
              <a:t>2020/9/8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1EE17-6D92-4962-96DD-E78DD39AF5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8726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F7B90-660C-4E87-90F9-148068A1474E}" type="datetimeFigureOut">
              <a:rPr lang="zh-TW" altLang="en-US" smtClean="0"/>
              <a:t>2020/9/8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1EE17-6D92-4962-96DD-E78DD39AF5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3837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F7B90-660C-4E87-90F9-148068A1474E}" type="datetimeFigureOut">
              <a:rPr lang="zh-TW" altLang="en-US" smtClean="0"/>
              <a:t>2020/9/8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1EE17-6D92-4962-96DD-E78DD39AF5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038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F7B90-660C-4E87-90F9-148068A1474E}" type="datetimeFigureOut">
              <a:rPr lang="zh-TW" altLang="en-US" smtClean="0"/>
              <a:t>2020/9/8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1EE17-6D92-4962-96DD-E78DD39AF5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649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F7B90-660C-4E87-90F9-148068A1474E}" type="datetimeFigureOut">
              <a:rPr lang="zh-TW" altLang="en-US" smtClean="0"/>
              <a:t>2020/9/8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1EE17-6D92-4962-96DD-E78DD39AF5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7396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F7B90-660C-4E87-90F9-148068A1474E}" type="datetimeFigureOut">
              <a:rPr lang="zh-TW" altLang="en-US" smtClean="0"/>
              <a:t>2020/9/8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1EE17-6D92-4962-96DD-E78DD39AF5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7529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F7B90-660C-4E87-90F9-148068A1474E}" type="datetimeFigureOut">
              <a:rPr lang="zh-TW" altLang="en-US" smtClean="0"/>
              <a:t>2020/9/8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1EE17-6D92-4962-96DD-E78DD39AF5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3057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F7B90-660C-4E87-90F9-148068A1474E}" type="datetimeFigureOut">
              <a:rPr lang="zh-TW" altLang="en-US" smtClean="0"/>
              <a:t>2020/9/8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1EE17-6D92-4962-96DD-E78DD39AF5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5553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1F7B90-660C-4E87-90F9-148068A1474E}" type="datetimeFigureOut">
              <a:rPr lang="zh-TW" altLang="en-US" smtClean="0"/>
              <a:t>2020/9/8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D1EE17-6D92-4962-96DD-E78DD39AF5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1220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Time Algorithms for Generalizations of the Longest Common Substring Problem </a:t>
            </a:r>
            <a:endParaRPr lang="zh-TW" alt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Michael Arnold, Enno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Ohlebusch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Algorithmica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(2011) 60: 806–818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1"/>
          <p:cNvSpPr>
            <a:spLocks noChangeArrowheads="1"/>
          </p:cNvSpPr>
          <p:nvPr/>
        </p:nvSpPr>
        <p:spPr bwMode="auto">
          <a:xfrm>
            <a:off x="8883004" y="5876925"/>
            <a:ext cx="2646363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</a:t>
            </a:r>
            <a:r>
              <a:rPr lang="en-US" altLang="zh-TW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-An Song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Sept 8, 2020</a:t>
            </a:r>
          </a:p>
        </p:txBody>
      </p:sp>
    </p:spTree>
    <p:extLst>
      <p:ext uri="{BB962C8B-B14F-4D97-AF65-F5344CB8AC3E}">
        <p14:creationId xmlns:p14="http://schemas.microsoft.com/office/powerpoint/2010/main" val="3239128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Abstract(1/2)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its simplest form, the longest common substring problem is to find a longest substring common to two or multiple strings. Using (generalized) suffix trees, this problem can be solved in linear time and space. 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first generalization is the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k-common substring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 Given m strings of total length n, for all k with 2 ≤ k ≤ m simultaneously find a longest substring common to at least k of the strings. It is known that the k-common substring problem can also be solved in O(n) time.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3221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Abstract(2/2)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further generalization is the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k-common repeated substring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 Given m strings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,...,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(m)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total length n and m positive integers x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,...,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for all k with 1 ≤ k ≤ m simultaneously find a longest string ω for which there are at least k strings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</a:t>
            </a:r>
            <a:r>
              <a:rPr lang="en-US" altLang="zh-TW" sz="18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</a:t>
            </a:r>
            <a:r>
              <a:rPr lang="en-US" altLang="zh-TW" sz="18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,...,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i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1800" i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 ≤ i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i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··· &lt;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≤ m) such that ω occurs at least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times in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i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zh-TW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j with 1 ≤ j ≤ k. (For x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=···=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1, we have the k-common substring problem.) In this paper, we present the first O(n) time algorithm for the k-common repeated substring problem. Our solution is based on a new linear time algorithm for the k-common substring problem.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0816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0A10B9-5C9C-4DB9-9981-0A1C3CA62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substring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7C12365-55B8-44D8-9506-6CE20772E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acacc</a:t>
            </a:r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accaa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Longest common substring </a:t>
            </a:r>
          </a:p>
          <a:p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endParaRPr lang="en-US" altLang="zh-TW" dirty="0"/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dirty="0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21699404-CC90-4131-8C30-4FDB498777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7100028"/>
              </p:ext>
            </p:extLst>
          </p:nvPr>
        </p:nvGraphicFramePr>
        <p:xfrm>
          <a:off x="1561484" y="3815873"/>
          <a:ext cx="413798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7596">
                  <a:extLst>
                    <a:ext uri="{9D8B030D-6E8A-4147-A177-3AD203B41FA5}">
                      <a16:colId xmlns:a16="http://schemas.microsoft.com/office/drawing/2014/main" val="984931933"/>
                    </a:ext>
                  </a:extLst>
                </a:gridCol>
                <a:gridCol w="827596">
                  <a:extLst>
                    <a:ext uri="{9D8B030D-6E8A-4147-A177-3AD203B41FA5}">
                      <a16:colId xmlns:a16="http://schemas.microsoft.com/office/drawing/2014/main" val="573061131"/>
                    </a:ext>
                  </a:extLst>
                </a:gridCol>
                <a:gridCol w="827596">
                  <a:extLst>
                    <a:ext uri="{9D8B030D-6E8A-4147-A177-3AD203B41FA5}">
                      <a16:colId xmlns:a16="http://schemas.microsoft.com/office/drawing/2014/main" val="813842109"/>
                    </a:ext>
                  </a:extLst>
                </a:gridCol>
                <a:gridCol w="827596">
                  <a:extLst>
                    <a:ext uri="{9D8B030D-6E8A-4147-A177-3AD203B41FA5}">
                      <a16:colId xmlns:a16="http://schemas.microsoft.com/office/drawing/2014/main" val="1251272600"/>
                    </a:ext>
                  </a:extLst>
                </a:gridCol>
                <a:gridCol w="827596">
                  <a:extLst>
                    <a:ext uri="{9D8B030D-6E8A-4147-A177-3AD203B41FA5}">
                      <a16:colId xmlns:a16="http://schemas.microsoft.com/office/drawing/2014/main" val="38466558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8190509"/>
                  </a:ext>
                </a:extLst>
              </a:tr>
            </a:tbl>
          </a:graphicData>
        </a:graphic>
      </p:graphicFrame>
      <p:graphicFrame>
        <p:nvGraphicFramePr>
          <p:cNvPr id="6" name="表格 4">
            <a:extLst>
              <a:ext uri="{FF2B5EF4-FFF2-40B4-BE49-F238E27FC236}">
                <a16:creationId xmlns:a16="http://schemas.microsoft.com/office/drawing/2014/main" id="{2C5E3B8D-C056-4754-BAA9-429B7907E1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5613195"/>
              </p:ext>
            </p:extLst>
          </p:nvPr>
        </p:nvGraphicFramePr>
        <p:xfrm>
          <a:off x="1561484" y="4810998"/>
          <a:ext cx="413798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7596">
                  <a:extLst>
                    <a:ext uri="{9D8B030D-6E8A-4147-A177-3AD203B41FA5}">
                      <a16:colId xmlns:a16="http://schemas.microsoft.com/office/drawing/2014/main" val="984931933"/>
                    </a:ext>
                  </a:extLst>
                </a:gridCol>
                <a:gridCol w="827596">
                  <a:extLst>
                    <a:ext uri="{9D8B030D-6E8A-4147-A177-3AD203B41FA5}">
                      <a16:colId xmlns:a16="http://schemas.microsoft.com/office/drawing/2014/main" val="573061131"/>
                    </a:ext>
                  </a:extLst>
                </a:gridCol>
                <a:gridCol w="827596">
                  <a:extLst>
                    <a:ext uri="{9D8B030D-6E8A-4147-A177-3AD203B41FA5}">
                      <a16:colId xmlns:a16="http://schemas.microsoft.com/office/drawing/2014/main" val="813842109"/>
                    </a:ext>
                  </a:extLst>
                </a:gridCol>
                <a:gridCol w="827596">
                  <a:extLst>
                    <a:ext uri="{9D8B030D-6E8A-4147-A177-3AD203B41FA5}">
                      <a16:colId xmlns:a16="http://schemas.microsoft.com/office/drawing/2014/main" val="1251272600"/>
                    </a:ext>
                  </a:extLst>
                </a:gridCol>
                <a:gridCol w="827596">
                  <a:extLst>
                    <a:ext uri="{9D8B030D-6E8A-4147-A177-3AD203B41FA5}">
                      <a16:colId xmlns:a16="http://schemas.microsoft.com/office/drawing/2014/main" val="38466558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8190509"/>
                  </a:ext>
                </a:extLst>
              </a:tr>
            </a:tbl>
          </a:graphicData>
        </a:graphic>
      </p:graphicFrame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9526CF9D-00AB-4E3C-B753-424C4F551E99}"/>
              </a:ext>
            </a:extLst>
          </p:cNvPr>
          <p:cNvCxnSpPr/>
          <p:nvPr/>
        </p:nvCxnSpPr>
        <p:spPr>
          <a:xfrm flipH="1">
            <a:off x="2015231" y="4186713"/>
            <a:ext cx="1615243" cy="62428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D6797CA5-A45E-46FE-AEF9-B4FC85942A03}"/>
              </a:ext>
            </a:extLst>
          </p:cNvPr>
          <p:cNvCxnSpPr/>
          <p:nvPr/>
        </p:nvCxnSpPr>
        <p:spPr>
          <a:xfrm flipH="1">
            <a:off x="2822852" y="4186713"/>
            <a:ext cx="1615243" cy="62428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912974EE-D97B-457D-AD79-9EC1DB274931}"/>
              </a:ext>
            </a:extLst>
          </p:cNvPr>
          <p:cNvCxnSpPr/>
          <p:nvPr/>
        </p:nvCxnSpPr>
        <p:spPr>
          <a:xfrm flipH="1">
            <a:off x="3634542" y="4186713"/>
            <a:ext cx="1615243" cy="62428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0063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k-common substring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acac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aac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caac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2-common substring :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                                                    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3-common substring :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0089021"/>
              </p:ext>
            </p:extLst>
          </p:nvPr>
        </p:nvGraphicFramePr>
        <p:xfrm>
          <a:off x="2320325" y="4447833"/>
          <a:ext cx="227638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0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0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90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90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923384"/>
              </p:ext>
            </p:extLst>
          </p:nvPr>
        </p:nvGraphicFramePr>
        <p:xfrm>
          <a:off x="2320325" y="4052279"/>
          <a:ext cx="1707291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0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0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90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590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9504201"/>
              </p:ext>
            </p:extLst>
          </p:nvPr>
        </p:nvGraphicFramePr>
        <p:xfrm>
          <a:off x="2320324" y="5679255"/>
          <a:ext cx="1707291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0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0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90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590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1165468"/>
              </p:ext>
            </p:extLst>
          </p:nvPr>
        </p:nvGraphicFramePr>
        <p:xfrm>
          <a:off x="2320325" y="6096656"/>
          <a:ext cx="227638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0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0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90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90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1656444"/>
              </p:ext>
            </p:extLst>
          </p:nvPr>
        </p:nvGraphicFramePr>
        <p:xfrm>
          <a:off x="2320324" y="5256774"/>
          <a:ext cx="227638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0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0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90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90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0845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k-common repeated substring problem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acac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x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acccac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x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caaac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x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2-common repeated substring :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                                                    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3-common repeated substring :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3349702"/>
              </p:ext>
            </p:extLst>
          </p:nvPr>
        </p:nvGraphicFramePr>
        <p:xfrm>
          <a:off x="2320323" y="4447833"/>
          <a:ext cx="341321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88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8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88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88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88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8524373"/>
              </p:ext>
            </p:extLst>
          </p:nvPr>
        </p:nvGraphicFramePr>
        <p:xfrm>
          <a:off x="2320323" y="4052279"/>
          <a:ext cx="22763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0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0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90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90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590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2872875"/>
              </p:ext>
            </p:extLst>
          </p:nvPr>
        </p:nvGraphicFramePr>
        <p:xfrm>
          <a:off x="2320323" y="5700765"/>
          <a:ext cx="341321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88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8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88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88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88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8035976"/>
              </p:ext>
            </p:extLst>
          </p:nvPr>
        </p:nvGraphicFramePr>
        <p:xfrm>
          <a:off x="2320323" y="5305211"/>
          <a:ext cx="22763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0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0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90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90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590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3401707"/>
              </p:ext>
            </p:extLst>
          </p:nvPr>
        </p:nvGraphicFramePr>
        <p:xfrm>
          <a:off x="2320323" y="6108081"/>
          <a:ext cx="284434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88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8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88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88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4161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prefix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Lexicographic ordering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acacac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lvl="2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LCP[1] = 0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accc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LCP[2] = 2 , T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acac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T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cc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accdac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LCP[3] = 3 , T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T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dac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accdad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LCP[4] = 4 , T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accd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T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accd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sz="24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62764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prefix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LCP[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: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i-1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longest common prefix</a:t>
            </a:r>
            <a:endParaRPr lang="en-US" altLang="zh-TW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8185150"/>
              </p:ext>
            </p:extLst>
          </p:nvPr>
        </p:nvGraphicFramePr>
        <p:xfrm>
          <a:off x="2018142" y="2434101"/>
          <a:ext cx="378414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06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6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06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06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06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0240916"/>
              </p:ext>
            </p:extLst>
          </p:nvPr>
        </p:nvGraphicFramePr>
        <p:xfrm>
          <a:off x="2018142" y="2939878"/>
          <a:ext cx="25227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06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6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06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0883185"/>
              </p:ext>
            </p:extLst>
          </p:nvPr>
        </p:nvGraphicFramePr>
        <p:xfrm>
          <a:off x="2018142" y="3445655"/>
          <a:ext cx="378414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06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6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06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06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06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9857978"/>
              </p:ext>
            </p:extLst>
          </p:nvPr>
        </p:nvGraphicFramePr>
        <p:xfrm>
          <a:off x="2018142" y="3951432"/>
          <a:ext cx="378414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06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6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06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06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06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1349272" y="2434101"/>
            <a:ext cx="402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1347233" y="2938370"/>
            <a:ext cx="402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dirty="0"/>
          </a:p>
        </p:txBody>
      </p:sp>
      <p:sp>
        <p:nvSpPr>
          <p:cNvPr id="10" name="矩形 9"/>
          <p:cNvSpPr/>
          <p:nvPr/>
        </p:nvSpPr>
        <p:spPr>
          <a:xfrm>
            <a:off x="1347233" y="3442639"/>
            <a:ext cx="402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1347233" y="3932664"/>
            <a:ext cx="402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5397800" y="2434101"/>
            <a:ext cx="21611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2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LCP[1] = 0</a:t>
            </a:r>
          </a:p>
        </p:txBody>
      </p:sp>
      <p:sp>
        <p:nvSpPr>
          <p:cNvPr id="13" name="矩形 12"/>
          <p:cNvSpPr/>
          <p:nvPr/>
        </p:nvSpPr>
        <p:spPr>
          <a:xfrm>
            <a:off x="5397799" y="2938370"/>
            <a:ext cx="21611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2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LCP[2] = 2</a:t>
            </a:r>
          </a:p>
        </p:txBody>
      </p:sp>
      <p:sp>
        <p:nvSpPr>
          <p:cNvPr id="14" name="矩形 13"/>
          <p:cNvSpPr/>
          <p:nvPr/>
        </p:nvSpPr>
        <p:spPr>
          <a:xfrm>
            <a:off x="5397798" y="3441131"/>
            <a:ext cx="21611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2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LCP[3] = 3</a:t>
            </a:r>
          </a:p>
        </p:txBody>
      </p:sp>
      <p:sp>
        <p:nvSpPr>
          <p:cNvPr id="15" name="矩形 14"/>
          <p:cNvSpPr/>
          <p:nvPr/>
        </p:nvSpPr>
        <p:spPr>
          <a:xfrm>
            <a:off x="5397797" y="3943892"/>
            <a:ext cx="21611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2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LCP[4] = 4</a:t>
            </a:r>
          </a:p>
        </p:txBody>
      </p:sp>
      <p:sp>
        <p:nvSpPr>
          <p:cNvPr id="17" name="矩形 16"/>
          <p:cNvSpPr/>
          <p:nvPr/>
        </p:nvSpPr>
        <p:spPr>
          <a:xfrm>
            <a:off x="456899" y="4777788"/>
            <a:ext cx="856875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prefix between T</a:t>
            </a:r>
            <a:r>
              <a:rPr lang="en-US" altLang="zh-TW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… T</a:t>
            </a:r>
            <a:r>
              <a:rPr lang="en-US" altLang="zh-TW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min{ LCP[2] = 2 , LCP[3] = 3} = 2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190063B0-6D54-4CFB-8E59-3CD560CE5429}"/>
              </a:ext>
            </a:extLst>
          </p:cNvPr>
          <p:cNvSpPr txBox="1"/>
          <p:nvPr/>
        </p:nvSpPr>
        <p:spPr>
          <a:xfrm>
            <a:off x="838200" y="5205472"/>
            <a:ext cx="806798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longest common prefix between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….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min{LCP[i+1],LCP[i+2]….LCP[j]}</a:t>
            </a:r>
          </a:p>
        </p:txBody>
      </p:sp>
    </p:spTree>
    <p:extLst>
      <p:ext uri="{BB962C8B-B14F-4D97-AF65-F5344CB8AC3E}">
        <p14:creationId xmlns:p14="http://schemas.microsoft.com/office/powerpoint/2010/main" val="628157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k-common substring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acac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T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aac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T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caac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= acac#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aac#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caac#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1516" y="2373046"/>
            <a:ext cx="6872309" cy="4484954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D3E2A0C2-1B19-40F1-A3DA-79E856F7A775}"/>
              </a:ext>
            </a:extLst>
          </p:cNvPr>
          <p:cNvSpPr txBox="1"/>
          <p:nvPr/>
        </p:nvSpPr>
        <p:spPr>
          <a:xfrm>
            <a:off x="923278" y="3293616"/>
            <a:ext cx="3195961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Suffix array :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SA[1] =  acac#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aac#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caac#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SA[2] =   cac#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aac#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caac#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SA[3] =    ac#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aac#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caac#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SA[4] =     c#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aac#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caac#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SA[14] =                       #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  <a:p>
            <a:endParaRPr lang="en-US" altLang="zh-TW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5834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k-common substring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403" y="1791155"/>
            <a:ext cx="6872309" cy="4484954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471352" y="3898668"/>
            <a:ext cx="6829360" cy="8728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3" name="直線單箭頭接點 12"/>
          <p:cNvCxnSpPr/>
          <p:nvPr/>
        </p:nvCxnSpPr>
        <p:spPr>
          <a:xfrm>
            <a:off x="731520" y="4031673"/>
            <a:ext cx="60682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>
          <a:xfrm>
            <a:off x="731520" y="4632960"/>
            <a:ext cx="60682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/>
          <p:cNvSpPr txBox="1"/>
          <p:nvPr/>
        </p:nvSpPr>
        <p:spPr>
          <a:xfrm>
            <a:off x="331817" y="3847007"/>
            <a:ext cx="399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31817" y="4402173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8656326" y="4159298"/>
            <a:ext cx="32592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RMQ(LCP[p+1]….LCP[q])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330149"/>
              </p:ext>
            </p:extLst>
          </p:nvPr>
        </p:nvGraphicFramePr>
        <p:xfrm>
          <a:off x="8706651" y="2111633"/>
          <a:ext cx="227638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0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0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90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90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" name="表格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627271"/>
              </p:ext>
            </p:extLst>
          </p:nvPr>
        </p:nvGraphicFramePr>
        <p:xfrm>
          <a:off x="8706651" y="3037671"/>
          <a:ext cx="227638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0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0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90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90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" name="表格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9579463"/>
              </p:ext>
            </p:extLst>
          </p:nvPr>
        </p:nvGraphicFramePr>
        <p:xfrm>
          <a:off x="8706651" y="2574652"/>
          <a:ext cx="170729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0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0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90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4" name="直線單箭頭接點 23"/>
          <p:cNvCxnSpPr/>
          <p:nvPr/>
        </p:nvCxnSpPr>
        <p:spPr>
          <a:xfrm flipV="1">
            <a:off x="7946968" y="2366265"/>
            <a:ext cx="673331" cy="22666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/>
          <p:nvPr/>
        </p:nvCxnSpPr>
        <p:spPr>
          <a:xfrm flipV="1">
            <a:off x="7955281" y="3223091"/>
            <a:ext cx="640079" cy="11286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/>
          <p:nvPr/>
        </p:nvCxnSpPr>
        <p:spPr>
          <a:xfrm flipV="1">
            <a:off x="7963594" y="2842953"/>
            <a:ext cx="631766" cy="11887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39127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k-common substring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9615873"/>
              </p:ext>
            </p:extLst>
          </p:nvPr>
        </p:nvGraphicFramePr>
        <p:xfrm>
          <a:off x="1167476" y="2086495"/>
          <a:ext cx="40363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8673" y="2086495"/>
            <a:ext cx="5922992" cy="3865418"/>
          </a:xfrm>
          <a:prstGeom prst="rect">
            <a:avLst/>
          </a:prstGeom>
        </p:spPr>
      </p:pic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6604990"/>
              </p:ext>
            </p:extLst>
          </p:nvPr>
        </p:nvGraphicFramePr>
        <p:xfrm>
          <a:off x="1810327" y="2086495"/>
          <a:ext cx="40363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1781424"/>
              </p:ext>
            </p:extLst>
          </p:nvPr>
        </p:nvGraphicFramePr>
        <p:xfrm>
          <a:off x="2453178" y="2086495"/>
          <a:ext cx="40363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6325547"/>
              </p:ext>
            </p:extLst>
          </p:nvPr>
        </p:nvGraphicFramePr>
        <p:xfrm>
          <a:off x="1353127" y="3471566"/>
          <a:ext cx="131802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3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3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3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2" name="直線單箭頭接點 11"/>
          <p:cNvCxnSpPr>
            <a:endCxn id="4" idx="2"/>
          </p:cNvCxnSpPr>
          <p:nvPr/>
        </p:nvCxnSpPr>
        <p:spPr>
          <a:xfrm flipH="1" flipV="1">
            <a:off x="1369291" y="2828175"/>
            <a:ext cx="201815" cy="6433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>
            <a:endCxn id="6" idx="2"/>
          </p:cNvCxnSpPr>
          <p:nvPr/>
        </p:nvCxnSpPr>
        <p:spPr>
          <a:xfrm flipV="1">
            <a:off x="2012141" y="2828175"/>
            <a:ext cx="1" cy="6433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>
            <a:endCxn id="7" idx="2"/>
          </p:cNvCxnSpPr>
          <p:nvPr/>
        </p:nvCxnSpPr>
        <p:spPr>
          <a:xfrm flipV="1">
            <a:off x="2453178" y="2828175"/>
            <a:ext cx="201815" cy="6433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>
          <a:xfrm flipH="1">
            <a:off x="2213957" y="2297855"/>
            <a:ext cx="23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>
          <a:xfrm flipH="1">
            <a:off x="1571106" y="2306167"/>
            <a:ext cx="23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/>
          <p:nvPr/>
        </p:nvCxnSpPr>
        <p:spPr>
          <a:xfrm>
            <a:off x="1571106" y="2622051"/>
            <a:ext cx="23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/>
          <p:nvPr/>
        </p:nvCxnSpPr>
        <p:spPr>
          <a:xfrm>
            <a:off x="2213957" y="2622051"/>
            <a:ext cx="23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字方塊 24"/>
          <p:cNvSpPr txBox="1"/>
          <p:nvPr/>
        </p:nvSpPr>
        <p:spPr>
          <a:xfrm>
            <a:off x="838200" y="4389120"/>
            <a:ext cx="46883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= 3 : SA[1] SA[2] SA[3] ‘s LCP = 0 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= 2 : SA[2] SA[3] ‘s LCP = 0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/>
              <a:t> 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6178673" y="2402378"/>
            <a:ext cx="5922992" cy="7474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28" name="表格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0767093"/>
              </p:ext>
            </p:extLst>
          </p:nvPr>
        </p:nvGraphicFramePr>
        <p:xfrm>
          <a:off x="1111597" y="5583613"/>
          <a:ext cx="2038926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6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96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96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913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lcs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86824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k-common substring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219935"/>
              </p:ext>
            </p:extLst>
          </p:nvPr>
        </p:nvGraphicFramePr>
        <p:xfrm>
          <a:off x="477521" y="2086495"/>
          <a:ext cx="40363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8673" y="2086495"/>
            <a:ext cx="5922992" cy="3865418"/>
          </a:xfrm>
          <a:prstGeom prst="rect">
            <a:avLst/>
          </a:prstGeom>
        </p:spPr>
      </p:pic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7456092"/>
              </p:ext>
            </p:extLst>
          </p:nvPr>
        </p:nvGraphicFramePr>
        <p:xfrm>
          <a:off x="1120372" y="2086495"/>
          <a:ext cx="40363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7870870"/>
              </p:ext>
            </p:extLst>
          </p:nvPr>
        </p:nvGraphicFramePr>
        <p:xfrm>
          <a:off x="1763223" y="2086495"/>
          <a:ext cx="40363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9603534"/>
              </p:ext>
            </p:extLst>
          </p:nvPr>
        </p:nvGraphicFramePr>
        <p:xfrm>
          <a:off x="663172" y="3471566"/>
          <a:ext cx="131802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3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3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3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2" name="直線單箭頭接點 11"/>
          <p:cNvCxnSpPr>
            <a:endCxn id="4" idx="2"/>
          </p:cNvCxnSpPr>
          <p:nvPr/>
        </p:nvCxnSpPr>
        <p:spPr>
          <a:xfrm flipH="1" flipV="1">
            <a:off x="679336" y="2828175"/>
            <a:ext cx="201815" cy="6433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>
            <a:endCxn id="6" idx="2"/>
          </p:cNvCxnSpPr>
          <p:nvPr/>
        </p:nvCxnSpPr>
        <p:spPr>
          <a:xfrm flipV="1">
            <a:off x="1322186" y="2828175"/>
            <a:ext cx="1" cy="6433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>
            <a:endCxn id="7" idx="2"/>
          </p:cNvCxnSpPr>
          <p:nvPr/>
        </p:nvCxnSpPr>
        <p:spPr>
          <a:xfrm flipV="1">
            <a:off x="1763223" y="2828175"/>
            <a:ext cx="201815" cy="6433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>
          <a:xfrm flipH="1">
            <a:off x="1524002" y="2297855"/>
            <a:ext cx="23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>
          <a:xfrm flipH="1">
            <a:off x="881151" y="2306167"/>
            <a:ext cx="23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/>
          <p:nvPr/>
        </p:nvCxnSpPr>
        <p:spPr>
          <a:xfrm>
            <a:off x="881151" y="2622051"/>
            <a:ext cx="23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/>
          <p:nvPr/>
        </p:nvCxnSpPr>
        <p:spPr>
          <a:xfrm>
            <a:off x="1524002" y="2622051"/>
            <a:ext cx="23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6178673" y="3125585"/>
            <a:ext cx="5922992" cy="2902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9897698"/>
              </p:ext>
            </p:extLst>
          </p:nvPr>
        </p:nvGraphicFramePr>
        <p:xfrm>
          <a:off x="1111597" y="5583613"/>
          <a:ext cx="2038926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6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96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96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913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lcs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8391197"/>
              </p:ext>
            </p:extLst>
          </p:nvPr>
        </p:nvGraphicFramePr>
        <p:xfrm>
          <a:off x="2967647" y="2086495"/>
          <a:ext cx="40363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表格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9095158"/>
              </p:ext>
            </p:extLst>
          </p:nvPr>
        </p:nvGraphicFramePr>
        <p:xfrm>
          <a:off x="3610498" y="2086495"/>
          <a:ext cx="40363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415896"/>
              </p:ext>
            </p:extLst>
          </p:nvPr>
        </p:nvGraphicFramePr>
        <p:xfrm>
          <a:off x="4253349" y="2086495"/>
          <a:ext cx="40363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152035"/>
              </p:ext>
            </p:extLst>
          </p:nvPr>
        </p:nvGraphicFramePr>
        <p:xfrm>
          <a:off x="3153298" y="3471566"/>
          <a:ext cx="131802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3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3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3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8" name="直線單箭頭接點 27"/>
          <p:cNvCxnSpPr>
            <a:endCxn id="19" idx="2"/>
          </p:cNvCxnSpPr>
          <p:nvPr/>
        </p:nvCxnSpPr>
        <p:spPr>
          <a:xfrm flipH="1" flipV="1">
            <a:off x="3169462" y="2828175"/>
            <a:ext cx="201815" cy="6433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>
            <a:endCxn id="37" idx="2"/>
          </p:cNvCxnSpPr>
          <p:nvPr/>
        </p:nvCxnSpPr>
        <p:spPr>
          <a:xfrm flipV="1">
            <a:off x="3887129" y="2832395"/>
            <a:ext cx="1201884" cy="6391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>
            <a:endCxn id="23" idx="2"/>
          </p:cNvCxnSpPr>
          <p:nvPr/>
        </p:nvCxnSpPr>
        <p:spPr>
          <a:xfrm flipV="1">
            <a:off x="4253349" y="2828175"/>
            <a:ext cx="201815" cy="6433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/>
          <p:nvPr/>
        </p:nvCxnSpPr>
        <p:spPr>
          <a:xfrm flipH="1">
            <a:off x="3371277" y="2297855"/>
            <a:ext cx="8820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/>
          <p:cNvCxnSpPr/>
          <p:nvPr/>
        </p:nvCxnSpPr>
        <p:spPr>
          <a:xfrm>
            <a:off x="3371277" y="2622051"/>
            <a:ext cx="8820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H="1">
            <a:off x="3443324" y="1953960"/>
            <a:ext cx="663165" cy="1092849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表格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4340892"/>
              </p:ext>
            </p:extLst>
          </p:nvPr>
        </p:nvGraphicFramePr>
        <p:xfrm>
          <a:off x="4887198" y="2090715"/>
          <a:ext cx="40363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9" name="直線單箭頭接點 38"/>
          <p:cNvCxnSpPr/>
          <p:nvPr/>
        </p:nvCxnSpPr>
        <p:spPr>
          <a:xfrm flipH="1">
            <a:off x="4647977" y="2306167"/>
            <a:ext cx="23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/>
          <p:nvPr/>
        </p:nvCxnSpPr>
        <p:spPr>
          <a:xfrm>
            <a:off x="4656979" y="2622051"/>
            <a:ext cx="23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字方塊 41"/>
          <p:cNvSpPr txBox="1"/>
          <p:nvPr/>
        </p:nvSpPr>
        <p:spPr>
          <a:xfrm>
            <a:off x="838199" y="4389120"/>
            <a:ext cx="51137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= 3 : SA[1] SA[3] SA[4] ‘s LCP = min{0,0} = 0 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= 2 : SA[3] SA[4] ‘s LCP = min{1,0} = 0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/>
              <a:t> </a:t>
            </a:r>
            <a:endParaRPr lang="zh-TW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69AF2CD-DACB-4762-9104-96BBA0B0E39F}"/>
              </a:ext>
            </a:extLst>
          </p:cNvPr>
          <p:cNvSpPr/>
          <p:nvPr/>
        </p:nvSpPr>
        <p:spPr>
          <a:xfrm>
            <a:off x="4253349" y="2086495"/>
            <a:ext cx="403630" cy="7416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53A99C6-CEAB-4BDF-BD79-55BB170812EE}"/>
              </a:ext>
            </a:extLst>
          </p:cNvPr>
          <p:cNvSpPr/>
          <p:nvPr/>
        </p:nvSpPr>
        <p:spPr>
          <a:xfrm>
            <a:off x="2964761" y="2086723"/>
            <a:ext cx="403630" cy="7416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9991015D-39D7-4D0A-9241-FBE9E643279C}"/>
              </a:ext>
            </a:extLst>
          </p:cNvPr>
          <p:cNvCxnSpPr>
            <a:cxnSpLocks/>
            <a:stCxn id="19" idx="0"/>
          </p:cNvCxnSpPr>
          <p:nvPr/>
        </p:nvCxnSpPr>
        <p:spPr>
          <a:xfrm flipV="1">
            <a:off x="3169462" y="568171"/>
            <a:ext cx="4642888" cy="15183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ECF7EBCA-D69E-44B8-8085-78CDF68823F2}"/>
              </a:ext>
            </a:extLst>
          </p:cNvPr>
          <p:cNvSpPr txBox="1"/>
          <p:nvPr/>
        </p:nvSpPr>
        <p:spPr>
          <a:xfrm>
            <a:off x="7954392" y="365125"/>
            <a:ext cx="44020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Longest common prefix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min{LCP[2],LCP[3],LCP[4]}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min{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min{LCP[2],LCP[3]}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LCP[4]}}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84787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k-common substring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477521" y="2086495"/>
          <a:ext cx="40363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8673" y="2086495"/>
            <a:ext cx="5922992" cy="3865418"/>
          </a:xfrm>
          <a:prstGeom prst="rect">
            <a:avLst/>
          </a:prstGeom>
        </p:spPr>
      </p:pic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3908711"/>
              </p:ext>
            </p:extLst>
          </p:nvPr>
        </p:nvGraphicFramePr>
        <p:xfrm>
          <a:off x="1120372" y="2086495"/>
          <a:ext cx="40363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6445095"/>
              </p:ext>
            </p:extLst>
          </p:nvPr>
        </p:nvGraphicFramePr>
        <p:xfrm>
          <a:off x="1763223" y="2086495"/>
          <a:ext cx="40363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663172" y="3471566"/>
          <a:ext cx="131802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3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3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3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2" name="直線單箭頭接點 11"/>
          <p:cNvCxnSpPr>
            <a:endCxn id="4" idx="2"/>
          </p:cNvCxnSpPr>
          <p:nvPr/>
        </p:nvCxnSpPr>
        <p:spPr>
          <a:xfrm flipH="1" flipV="1">
            <a:off x="679336" y="2828175"/>
            <a:ext cx="201815" cy="6433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>
            <a:endCxn id="7" idx="2"/>
          </p:cNvCxnSpPr>
          <p:nvPr/>
        </p:nvCxnSpPr>
        <p:spPr>
          <a:xfrm flipV="1">
            <a:off x="1322186" y="2828175"/>
            <a:ext cx="642852" cy="6433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>
            <a:endCxn id="6" idx="2"/>
          </p:cNvCxnSpPr>
          <p:nvPr/>
        </p:nvCxnSpPr>
        <p:spPr>
          <a:xfrm flipH="1" flipV="1">
            <a:off x="1322187" y="2828175"/>
            <a:ext cx="441037" cy="6433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>
          <a:xfrm flipH="1">
            <a:off x="1524002" y="2297855"/>
            <a:ext cx="23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>
          <a:xfrm flipH="1">
            <a:off x="881151" y="2306167"/>
            <a:ext cx="23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/>
          <p:nvPr/>
        </p:nvCxnSpPr>
        <p:spPr>
          <a:xfrm>
            <a:off x="881151" y="2622051"/>
            <a:ext cx="23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/>
          <p:nvPr/>
        </p:nvCxnSpPr>
        <p:spPr>
          <a:xfrm>
            <a:off x="1524002" y="2622051"/>
            <a:ext cx="23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6178673" y="3374967"/>
            <a:ext cx="5922992" cy="2902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5877798"/>
              </p:ext>
            </p:extLst>
          </p:nvPr>
        </p:nvGraphicFramePr>
        <p:xfrm>
          <a:off x="1111597" y="5583613"/>
          <a:ext cx="2038926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6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96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96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913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lcs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/>
        </p:nvGraphicFramePr>
        <p:xfrm>
          <a:off x="2967647" y="2086495"/>
          <a:ext cx="40363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表格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3459156"/>
              </p:ext>
            </p:extLst>
          </p:nvPr>
        </p:nvGraphicFramePr>
        <p:xfrm>
          <a:off x="3610498" y="2086495"/>
          <a:ext cx="40363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6103261"/>
              </p:ext>
            </p:extLst>
          </p:nvPr>
        </p:nvGraphicFramePr>
        <p:xfrm>
          <a:off x="4253349" y="2086495"/>
          <a:ext cx="40363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7" name="表格 26"/>
          <p:cNvGraphicFramePr>
            <a:graphicFrameLocks noGrp="1"/>
          </p:cNvGraphicFramePr>
          <p:nvPr/>
        </p:nvGraphicFramePr>
        <p:xfrm>
          <a:off x="3153298" y="3471566"/>
          <a:ext cx="131802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3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3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3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8" name="直線單箭頭接點 27"/>
          <p:cNvCxnSpPr>
            <a:endCxn id="19" idx="2"/>
          </p:cNvCxnSpPr>
          <p:nvPr/>
        </p:nvCxnSpPr>
        <p:spPr>
          <a:xfrm flipH="1" flipV="1">
            <a:off x="3169462" y="2828175"/>
            <a:ext cx="201815" cy="6433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>
            <a:endCxn id="23" idx="2"/>
          </p:cNvCxnSpPr>
          <p:nvPr/>
        </p:nvCxnSpPr>
        <p:spPr>
          <a:xfrm flipV="1">
            <a:off x="3887129" y="2828175"/>
            <a:ext cx="568035" cy="6433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>
            <a:endCxn id="37" idx="2"/>
          </p:cNvCxnSpPr>
          <p:nvPr/>
        </p:nvCxnSpPr>
        <p:spPr>
          <a:xfrm flipV="1">
            <a:off x="4253349" y="2832395"/>
            <a:ext cx="835664" cy="6391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/>
          <p:nvPr/>
        </p:nvCxnSpPr>
        <p:spPr>
          <a:xfrm flipH="1">
            <a:off x="3371277" y="2297855"/>
            <a:ext cx="8820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/>
          <p:cNvCxnSpPr/>
          <p:nvPr/>
        </p:nvCxnSpPr>
        <p:spPr>
          <a:xfrm>
            <a:off x="3371277" y="2622051"/>
            <a:ext cx="8820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H="1">
            <a:off x="3485357" y="1947054"/>
            <a:ext cx="663165" cy="1092849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表格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3304754"/>
              </p:ext>
            </p:extLst>
          </p:nvPr>
        </p:nvGraphicFramePr>
        <p:xfrm>
          <a:off x="4887198" y="2090715"/>
          <a:ext cx="40363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9" name="直線單箭頭接點 38"/>
          <p:cNvCxnSpPr/>
          <p:nvPr/>
        </p:nvCxnSpPr>
        <p:spPr>
          <a:xfrm flipH="1">
            <a:off x="4647977" y="2306167"/>
            <a:ext cx="23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/>
          <p:nvPr/>
        </p:nvCxnSpPr>
        <p:spPr>
          <a:xfrm>
            <a:off x="4656979" y="2622051"/>
            <a:ext cx="23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字方塊 41"/>
          <p:cNvSpPr txBox="1"/>
          <p:nvPr/>
        </p:nvSpPr>
        <p:spPr>
          <a:xfrm>
            <a:off x="838199" y="4389120"/>
            <a:ext cx="51137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= 3 : SA[1] SA[4] SA[5] ‘s LCP = min{0,4} = 0 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= 2 : SA[4] SA[5] ‘s LCP = min{6,3} = 3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/>
              <a:t>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881809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k-common substring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477521" y="2086495"/>
          <a:ext cx="40363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8673" y="2086495"/>
            <a:ext cx="5922992" cy="3865418"/>
          </a:xfrm>
          <a:prstGeom prst="rect">
            <a:avLst/>
          </a:prstGeom>
        </p:spPr>
      </p:pic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1501405"/>
              </p:ext>
            </p:extLst>
          </p:nvPr>
        </p:nvGraphicFramePr>
        <p:xfrm>
          <a:off x="1120372" y="2086495"/>
          <a:ext cx="40363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341995"/>
              </p:ext>
            </p:extLst>
          </p:nvPr>
        </p:nvGraphicFramePr>
        <p:xfrm>
          <a:off x="1763223" y="2086495"/>
          <a:ext cx="40363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663172" y="3471566"/>
          <a:ext cx="131802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3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3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3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2" name="直線單箭頭接點 11"/>
          <p:cNvCxnSpPr>
            <a:endCxn id="4" idx="2"/>
          </p:cNvCxnSpPr>
          <p:nvPr/>
        </p:nvCxnSpPr>
        <p:spPr>
          <a:xfrm flipH="1" flipV="1">
            <a:off x="679336" y="2828175"/>
            <a:ext cx="201815" cy="6433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>
            <a:endCxn id="6" idx="2"/>
          </p:cNvCxnSpPr>
          <p:nvPr/>
        </p:nvCxnSpPr>
        <p:spPr>
          <a:xfrm flipV="1">
            <a:off x="1322186" y="2828175"/>
            <a:ext cx="1" cy="6433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>
            <a:endCxn id="7" idx="2"/>
          </p:cNvCxnSpPr>
          <p:nvPr/>
        </p:nvCxnSpPr>
        <p:spPr>
          <a:xfrm flipV="1">
            <a:off x="1763225" y="2828175"/>
            <a:ext cx="201813" cy="6433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>
          <a:xfrm flipH="1">
            <a:off x="1524002" y="2297855"/>
            <a:ext cx="23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>
          <a:xfrm flipH="1">
            <a:off x="881151" y="2306167"/>
            <a:ext cx="23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/>
          <p:nvPr/>
        </p:nvCxnSpPr>
        <p:spPr>
          <a:xfrm>
            <a:off x="881151" y="2622051"/>
            <a:ext cx="23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/>
          <p:nvPr/>
        </p:nvCxnSpPr>
        <p:spPr>
          <a:xfrm>
            <a:off x="1524002" y="2622051"/>
            <a:ext cx="23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6178673" y="3632661"/>
            <a:ext cx="5922992" cy="2902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9746090"/>
              </p:ext>
            </p:extLst>
          </p:nvPr>
        </p:nvGraphicFramePr>
        <p:xfrm>
          <a:off x="1111597" y="5583613"/>
          <a:ext cx="2038926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6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96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96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913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lcs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/>
        </p:nvGraphicFramePr>
        <p:xfrm>
          <a:off x="2967647" y="2086495"/>
          <a:ext cx="40363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表格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3905574"/>
              </p:ext>
            </p:extLst>
          </p:nvPr>
        </p:nvGraphicFramePr>
        <p:xfrm>
          <a:off x="3610498" y="2086495"/>
          <a:ext cx="40363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3273375"/>
              </p:ext>
            </p:extLst>
          </p:nvPr>
        </p:nvGraphicFramePr>
        <p:xfrm>
          <a:off x="4253349" y="2086495"/>
          <a:ext cx="40363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7" name="表格 26"/>
          <p:cNvGraphicFramePr>
            <a:graphicFrameLocks noGrp="1"/>
          </p:cNvGraphicFramePr>
          <p:nvPr/>
        </p:nvGraphicFramePr>
        <p:xfrm>
          <a:off x="3153298" y="3471566"/>
          <a:ext cx="131802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3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3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3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8" name="直線單箭頭接點 27"/>
          <p:cNvCxnSpPr>
            <a:endCxn id="37" idx="2"/>
          </p:cNvCxnSpPr>
          <p:nvPr/>
        </p:nvCxnSpPr>
        <p:spPr>
          <a:xfrm flipV="1">
            <a:off x="3371278" y="2832395"/>
            <a:ext cx="1731243" cy="6391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>
            <a:endCxn id="21" idx="2"/>
          </p:cNvCxnSpPr>
          <p:nvPr/>
        </p:nvCxnSpPr>
        <p:spPr>
          <a:xfrm flipH="1" flipV="1">
            <a:off x="3812313" y="2828175"/>
            <a:ext cx="74816" cy="6433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>
            <a:endCxn id="23" idx="2"/>
          </p:cNvCxnSpPr>
          <p:nvPr/>
        </p:nvCxnSpPr>
        <p:spPr>
          <a:xfrm flipV="1">
            <a:off x="4253349" y="2828175"/>
            <a:ext cx="201815" cy="6433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/>
          <p:nvPr/>
        </p:nvCxnSpPr>
        <p:spPr>
          <a:xfrm flipH="1">
            <a:off x="4014128" y="2297855"/>
            <a:ext cx="2392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/>
          <p:cNvCxnSpPr/>
          <p:nvPr/>
        </p:nvCxnSpPr>
        <p:spPr>
          <a:xfrm>
            <a:off x="4014128" y="2622051"/>
            <a:ext cx="23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H="1">
            <a:off x="2827722" y="1919940"/>
            <a:ext cx="663165" cy="1092849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表格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206083"/>
              </p:ext>
            </p:extLst>
          </p:nvPr>
        </p:nvGraphicFramePr>
        <p:xfrm>
          <a:off x="4887199" y="2090715"/>
          <a:ext cx="43064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6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9" name="直線單箭頭接點 38"/>
          <p:cNvCxnSpPr/>
          <p:nvPr/>
        </p:nvCxnSpPr>
        <p:spPr>
          <a:xfrm flipH="1">
            <a:off x="4647977" y="2306167"/>
            <a:ext cx="23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/>
          <p:nvPr/>
        </p:nvCxnSpPr>
        <p:spPr>
          <a:xfrm>
            <a:off x="4656979" y="2622051"/>
            <a:ext cx="23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字方塊 41"/>
          <p:cNvSpPr txBox="1"/>
          <p:nvPr/>
        </p:nvSpPr>
        <p:spPr>
          <a:xfrm>
            <a:off x="838199" y="4389120"/>
            <a:ext cx="51137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= 3 : SA[4] SA[5] SA[6] ‘s LCP = min{0,1} = 0 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= 2 : SA[5] SA[6] ‘s LCP = min{6,1} = 1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/>
              <a:t> </a:t>
            </a:r>
            <a:endParaRPr lang="zh-TW" altLang="en-US" dirty="0"/>
          </a:p>
        </p:txBody>
      </p:sp>
      <p:cxnSp>
        <p:nvCxnSpPr>
          <p:cNvPr id="41" name="直線單箭頭接點 40"/>
          <p:cNvCxnSpPr/>
          <p:nvPr/>
        </p:nvCxnSpPr>
        <p:spPr>
          <a:xfrm flipH="1">
            <a:off x="3371275" y="2297855"/>
            <a:ext cx="2392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42"/>
          <p:cNvCxnSpPr/>
          <p:nvPr/>
        </p:nvCxnSpPr>
        <p:spPr>
          <a:xfrm>
            <a:off x="3371275" y="2622051"/>
            <a:ext cx="23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03303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k-common substring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2597103"/>
              </p:ext>
            </p:extLst>
          </p:nvPr>
        </p:nvGraphicFramePr>
        <p:xfrm>
          <a:off x="477521" y="2086495"/>
          <a:ext cx="40363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8673" y="2086495"/>
            <a:ext cx="5922992" cy="3865418"/>
          </a:xfrm>
          <a:prstGeom prst="rect">
            <a:avLst/>
          </a:prstGeom>
        </p:spPr>
      </p:pic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9585154"/>
              </p:ext>
            </p:extLst>
          </p:nvPr>
        </p:nvGraphicFramePr>
        <p:xfrm>
          <a:off x="1120372" y="2086495"/>
          <a:ext cx="40363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8452575"/>
              </p:ext>
            </p:extLst>
          </p:nvPr>
        </p:nvGraphicFramePr>
        <p:xfrm>
          <a:off x="1763223" y="2086495"/>
          <a:ext cx="43640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64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663172" y="3471566"/>
          <a:ext cx="131802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3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3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3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2" name="直線單箭頭接點 11"/>
          <p:cNvCxnSpPr>
            <a:endCxn id="7" idx="2"/>
          </p:cNvCxnSpPr>
          <p:nvPr/>
        </p:nvCxnSpPr>
        <p:spPr>
          <a:xfrm flipV="1">
            <a:off x="881152" y="2828175"/>
            <a:ext cx="1100274" cy="6433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>
            <a:endCxn id="4" idx="2"/>
          </p:cNvCxnSpPr>
          <p:nvPr/>
        </p:nvCxnSpPr>
        <p:spPr>
          <a:xfrm flipH="1" flipV="1">
            <a:off x="679336" y="2828175"/>
            <a:ext cx="642850" cy="6433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>
            <a:endCxn id="6" idx="2"/>
          </p:cNvCxnSpPr>
          <p:nvPr/>
        </p:nvCxnSpPr>
        <p:spPr>
          <a:xfrm flipH="1" flipV="1">
            <a:off x="1322187" y="2828175"/>
            <a:ext cx="441038" cy="6433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>
          <a:xfrm flipH="1">
            <a:off x="1524002" y="2297855"/>
            <a:ext cx="23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>
          <a:xfrm flipH="1">
            <a:off x="881151" y="2306167"/>
            <a:ext cx="23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/>
          <p:nvPr/>
        </p:nvCxnSpPr>
        <p:spPr>
          <a:xfrm>
            <a:off x="881151" y="2622051"/>
            <a:ext cx="23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/>
          <p:nvPr/>
        </p:nvCxnSpPr>
        <p:spPr>
          <a:xfrm>
            <a:off x="1524002" y="2622051"/>
            <a:ext cx="23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6178673" y="3882044"/>
            <a:ext cx="5922992" cy="2902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5829034"/>
              </p:ext>
            </p:extLst>
          </p:nvPr>
        </p:nvGraphicFramePr>
        <p:xfrm>
          <a:off x="1111597" y="5583613"/>
          <a:ext cx="2038926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6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96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96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913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lcs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9755639"/>
              </p:ext>
            </p:extLst>
          </p:nvPr>
        </p:nvGraphicFramePr>
        <p:xfrm>
          <a:off x="2967647" y="2086495"/>
          <a:ext cx="40363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表格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1609103"/>
              </p:ext>
            </p:extLst>
          </p:nvPr>
        </p:nvGraphicFramePr>
        <p:xfrm>
          <a:off x="3610498" y="2086495"/>
          <a:ext cx="40363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1453727"/>
              </p:ext>
            </p:extLst>
          </p:nvPr>
        </p:nvGraphicFramePr>
        <p:xfrm>
          <a:off x="4253348" y="2086495"/>
          <a:ext cx="393023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0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7" name="表格 26"/>
          <p:cNvGraphicFramePr>
            <a:graphicFrameLocks noGrp="1"/>
          </p:cNvGraphicFramePr>
          <p:nvPr/>
        </p:nvGraphicFramePr>
        <p:xfrm>
          <a:off x="3153298" y="3471566"/>
          <a:ext cx="131802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3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3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3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8" name="直線單箭頭接點 27"/>
          <p:cNvCxnSpPr>
            <a:endCxn id="19" idx="2"/>
          </p:cNvCxnSpPr>
          <p:nvPr/>
        </p:nvCxnSpPr>
        <p:spPr>
          <a:xfrm flipH="1" flipV="1">
            <a:off x="3169462" y="2828175"/>
            <a:ext cx="225593" cy="6433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>
            <a:stCxn id="27" idx="0"/>
            <a:endCxn id="37" idx="2"/>
          </p:cNvCxnSpPr>
          <p:nvPr/>
        </p:nvCxnSpPr>
        <p:spPr>
          <a:xfrm flipV="1">
            <a:off x="3812312" y="2832395"/>
            <a:ext cx="1328539" cy="6391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>
            <a:endCxn id="23" idx="2"/>
          </p:cNvCxnSpPr>
          <p:nvPr/>
        </p:nvCxnSpPr>
        <p:spPr>
          <a:xfrm flipV="1">
            <a:off x="4253349" y="2828175"/>
            <a:ext cx="196510" cy="6433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/>
          <p:nvPr/>
        </p:nvCxnSpPr>
        <p:spPr>
          <a:xfrm flipH="1">
            <a:off x="4014128" y="2297855"/>
            <a:ext cx="2392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/>
          <p:cNvCxnSpPr/>
          <p:nvPr/>
        </p:nvCxnSpPr>
        <p:spPr>
          <a:xfrm>
            <a:off x="4014128" y="2622051"/>
            <a:ext cx="23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H="1">
            <a:off x="2885893" y="1885943"/>
            <a:ext cx="663165" cy="1092849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表格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1782578"/>
              </p:ext>
            </p:extLst>
          </p:nvPr>
        </p:nvGraphicFramePr>
        <p:xfrm>
          <a:off x="4928760" y="2090715"/>
          <a:ext cx="424183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4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9" name="直線單箭頭接點 38"/>
          <p:cNvCxnSpPr/>
          <p:nvPr/>
        </p:nvCxnSpPr>
        <p:spPr>
          <a:xfrm flipH="1">
            <a:off x="4654438" y="2306167"/>
            <a:ext cx="23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/>
          <p:nvPr/>
        </p:nvCxnSpPr>
        <p:spPr>
          <a:xfrm>
            <a:off x="4654438" y="2622051"/>
            <a:ext cx="23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字方塊 41"/>
          <p:cNvSpPr txBox="1"/>
          <p:nvPr/>
        </p:nvSpPr>
        <p:spPr>
          <a:xfrm>
            <a:off x="838199" y="4389120"/>
            <a:ext cx="51137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= 3 : SA[5] SA[6] SA[7] ‘s LCP = min{1,2} = 1 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= 2 : SA[6] SA[7] ‘s LCP = min{12,2} = 2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/>
              <a:t> </a:t>
            </a:r>
            <a:endParaRPr lang="zh-TW" altLang="en-US" dirty="0"/>
          </a:p>
        </p:txBody>
      </p:sp>
      <p:cxnSp>
        <p:nvCxnSpPr>
          <p:cNvPr id="55" name="直線單箭頭接點 54"/>
          <p:cNvCxnSpPr/>
          <p:nvPr/>
        </p:nvCxnSpPr>
        <p:spPr>
          <a:xfrm>
            <a:off x="3371277" y="2622051"/>
            <a:ext cx="23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單箭頭接點 55"/>
          <p:cNvCxnSpPr/>
          <p:nvPr/>
        </p:nvCxnSpPr>
        <p:spPr>
          <a:xfrm flipH="1">
            <a:off x="3371273" y="2297855"/>
            <a:ext cx="2392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94585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k-common substring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0939359"/>
              </p:ext>
            </p:extLst>
          </p:nvPr>
        </p:nvGraphicFramePr>
        <p:xfrm>
          <a:off x="477521" y="2086495"/>
          <a:ext cx="40363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8673" y="2086495"/>
            <a:ext cx="5922992" cy="3865418"/>
          </a:xfrm>
          <a:prstGeom prst="rect">
            <a:avLst/>
          </a:prstGeom>
        </p:spPr>
      </p:pic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6801291"/>
              </p:ext>
            </p:extLst>
          </p:nvPr>
        </p:nvGraphicFramePr>
        <p:xfrm>
          <a:off x="1120372" y="2086495"/>
          <a:ext cx="40363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0276243"/>
              </p:ext>
            </p:extLst>
          </p:nvPr>
        </p:nvGraphicFramePr>
        <p:xfrm>
          <a:off x="1763223" y="2086495"/>
          <a:ext cx="43640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64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663172" y="3471566"/>
          <a:ext cx="131802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3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3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3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2" name="直線單箭頭接點 11"/>
          <p:cNvCxnSpPr>
            <a:endCxn id="4" idx="2"/>
          </p:cNvCxnSpPr>
          <p:nvPr/>
        </p:nvCxnSpPr>
        <p:spPr>
          <a:xfrm flipH="1" flipV="1">
            <a:off x="679336" y="2828175"/>
            <a:ext cx="201815" cy="6433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>
            <a:endCxn id="7" idx="2"/>
          </p:cNvCxnSpPr>
          <p:nvPr/>
        </p:nvCxnSpPr>
        <p:spPr>
          <a:xfrm flipV="1">
            <a:off x="1322186" y="2828175"/>
            <a:ext cx="659240" cy="6433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>
            <a:endCxn id="6" idx="2"/>
          </p:cNvCxnSpPr>
          <p:nvPr/>
        </p:nvCxnSpPr>
        <p:spPr>
          <a:xfrm flipH="1" flipV="1">
            <a:off x="1322187" y="2828175"/>
            <a:ext cx="441038" cy="6433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>
          <a:xfrm flipH="1">
            <a:off x="1524002" y="2297855"/>
            <a:ext cx="23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>
          <a:xfrm flipH="1">
            <a:off x="881151" y="2306167"/>
            <a:ext cx="23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/>
          <p:nvPr/>
        </p:nvCxnSpPr>
        <p:spPr>
          <a:xfrm>
            <a:off x="881151" y="2622051"/>
            <a:ext cx="23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/>
          <p:nvPr/>
        </p:nvCxnSpPr>
        <p:spPr>
          <a:xfrm>
            <a:off x="1524002" y="2622051"/>
            <a:ext cx="23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6178673" y="4139739"/>
            <a:ext cx="5922992" cy="2902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6848068"/>
              </p:ext>
            </p:extLst>
          </p:nvPr>
        </p:nvGraphicFramePr>
        <p:xfrm>
          <a:off x="1111597" y="5583613"/>
          <a:ext cx="2038926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6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96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96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913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lcs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7518089"/>
              </p:ext>
            </p:extLst>
          </p:nvPr>
        </p:nvGraphicFramePr>
        <p:xfrm>
          <a:off x="2967647" y="2086495"/>
          <a:ext cx="40363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表格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211659"/>
              </p:ext>
            </p:extLst>
          </p:nvPr>
        </p:nvGraphicFramePr>
        <p:xfrm>
          <a:off x="3610498" y="2086495"/>
          <a:ext cx="40363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3640987"/>
              </p:ext>
            </p:extLst>
          </p:nvPr>
        </p:nvGraphicFramePr>
        <p:xfrm>
          <a:off x="4253348" y="2086495"/>
          <a:ext cx="393023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0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7" name="表格 26"/>
          <p:cNvGraphicFramePr>
            <a:graphicFrameLocks noGrp="1"/>
          </p:cNvGraphicFramePr>
          <p:nvPr/>
        </p:nvGraphicFramePr>
        <p:xfrm>
          <a:off x="3153298" y="3471566"/>
          <a:ext cx="131802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3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3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3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8" name="直線單箭頭接點 27"/>
          <p:cNvCxnSpPr>
            <a:endCxn id="19" idx="2"/>
          </p:cNvCxnSpPr>
          <p:nvPr/>
        </p:nvCxnSpPr>
        <p:spPr>
          <a:xfrm flipH="1" flipV="1">
            <a:off x="3169462" y="2828175"/>
            <a:ext cx="211447" cy="6433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>
            <a:stCxn id="27" idx="0"/>
            <a:endCxn id="23" idx="2"/>
          </p:cNvCxnSpPr>
          <p:nvPr/>
        </p:nvCxnSpPr>
        <p:spPr>
          <a:xfrm flipV="1">
            <a:off x="3812312" y="2828175"/>
            <a:ext cx="637547" cy="6433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>
            <a:endCxn id="37" idx="2"/>
          </p:cNvCxnSpPr>
          <p:nvPr/>
        </p:nvCxnSpPr>
        <p:spPr>
          <a:xfrm flipV="1">
            <a:off x="4253349" y="2832395"/>
            <a:ext cx="887502" cy="6391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/>
          <p:nvPr/>
        </p:nvCxnSpPr>
        <p:spPr>
          <a:xfrm flipH="1">
            <a:off x="3395055" y="2297855"/>
            <a:ext cx="85829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/>
          <p:cNvCxnSpPr/>
          <p:nvPr/>
        </p:nvCxnSpPr>
        <p:spPr>
          <a:xfrm>
            <a:off x="3371277" y="2622051"/>
            <a:ext cx="8820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H="1">
            <a:off x="3465846" y="1896811"/>
            <a:ext cx="663165" cy="1092849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表格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3124363"/>
              </p:ext>
            </p:extLst>
          </p:nvPr>
        </p:nvGraphicFramePr>
        <p:xfrm>
          <a:off x="4928760" y="2090715"/>
          <a:ext cx="424183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4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9" name="直線單箭頭接點 38"/>
          <p:cNvCxnSpPr/>
          <p:nvPr/>
        </p:nvCxnSpPr>
        <p:spPr>
          <a:xfrm flipH="1">
            <a:off x="4654438" y="2306167"/>
            <a:ext cx="23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/>
          <p:nvPr/>
        </p:nvCxnSpPr>
        <p:spPr>
          <a:xfrm>
            <a:off x="4654438" y="2622051"/>
            <a:ext cx="23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字方塊 41"/>
          <p:cNvSpPr txBox="1"/>
          <p:nvPr/>
        </p:nvSpPr>
        <p:spPr>
          <a:xfrm>
            <a:off x="838199" y="4389120"/>
            <a:ext cx="51137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= 3 : SA[5] SA[7] SA[8] ‘s LCP = min{1,2} = 0 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= 2 : SA[7] SA[8] ‘s LCP = min{2,3} = 2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/>
              <a:t>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522939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k-common substring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477521" y="2086495"/>
          <a:ext cx="40363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8673" y="2086495"/>
            <a:ext cx="5922992" cy="3865418"/>
          </a:xfrm>
          <a:prstGeom prst="rect">
            <a:avLst/>
          </a:prstGeom>
        </p:spPr>
      </p:pic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9516883"/>
              </p:ext>
            </p:extLst>
          </p:nvPr>
        </p:nvGraphicFramePr>
        <p:xfrm>
          <a:off x="1120372" y="2086495"/>
          <a:ext cx="40363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5727089"/>
              </p:ext>
            </p:extLst>
          </p:nvPr>
        </p:nvGraphicFramePr>
        <p:xfrm>
          <a:off x="1763223" y="2086495"/>
          <a:ext cx="43640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64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663172" y="3471566"/>
          <a:ext cx="131802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3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3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3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2" name="直線單箭頭接點 11"/>
          <p:cNvCxnSpPr>
            <a:endCxn id="4" idx="2"/>
          </p:cNvCxnSpPr>
          <p:nvPr/>
        </p:nvCxnSpPr>
        <p:spPr>
          <a:xfrm flipH="1" flipV="1">
            <a:off x="679336" y="2828175"/>
            <a:ext cx="201815" cy="6433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>
            <a:endCxn id="6" idx="2"/>
          </p:cNvCxnSpPr>
          <p:nvPr/>
        </p:nvCxnSpPr>
        <p:spPr>
          <a:xfrm flipV="1">
            <a:off x="1322186" y="2828175"/>
            <a:ext cx="1" cy="6433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>
            <a:endCxn id="7" idx="2"/>
          </p:cNvCxnSpPr>
          <p:nvPr/>
        </p:nvCxnSpPr>
        <p:spPr>
          <a:xfrm flipV="1">
            <a:off x="1763225" y="2828175"/>
            <a:ext cx="218201" cy="6433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>
          <a:xfrm flipH="1">
            <a:off x="1524002" y="2297855"/>
            <a:ext cx="23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>
          <a:xfrm flipH="1">
            <a:off x="881151" y="2306167"/>
            <a:ext cx="23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/>
          <p:nvPr/>
        </p:nvCxnSpPr>
        <p:spPr>
          <a:xfrm>
            <a:off x="881151" y="2622051"/>
            <a:ext cx="23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/>
          <p:nvPr/>
        </p:nvCxnSpPr>
        <p:spPr>
          <a:xfrm>
            <a:off x="1524002" y="2622051"/>
            <a:ext cx="23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6178673" y="4397433"/>
            <a:ext cx="5922992" cy="2902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3808021"/>
              </p:ext>
            </p:extLst>
          </p:nvPr>
        </p:nvGraphicFramePr>
        <p:xfrm>
          <a:off x="1111597" y="5583613"/>
          <a:ext cx="2038926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6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96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96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913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lcs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/>
        </p:nvGraphicFramePr>
        <p:xfrm>
          <a:off x="2967647" y="2086495"/>
          <a:ext cx="40363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表格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8297197"/>
              </p:ext>
            </p:extLst>
          </p:nvPr>
        </p:nvGraphicFramePr>
        <p:xfrm>
          <a:off x="3610498" y="2086495"/>
          <a:ext cx="40363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1824964"/>
              </p:ext>
            </p:extLst>
          </p:nvPr>
        </p:nvGraphicFramePr>
        <p:xfrm>
          <a:off x="4253348" y="2086495"/>
          <a:ext cx="393023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0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7" name="表格 26"/>
          <p:cNvGraphicFramePr>
            <a:graphicFrameLocks noGrp="1"/>
          </p:cNvGraphicFramePr>
          <p:nvPr/>
        </p:nvGraphicFramePr>
        <p:xfrm>
          <a:off x="3153298" y="3471566"/>
          <a:ext cx="131802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3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3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3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8" name="直線單箭頭接點 27"/>
          <p:cNvCxnSpPr>
            <a:endCxn id="37" idx="2"/>
          </p:cNvCxnSpPr>
          <p:nvPr/>
        </p:nvCxnSpPr>
        <p:spPr>
          <a:xfrm flipV="1">
            <a:off x="3380910" y="2832395"/>
            <a:ext cx="1759941" cy="6391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>
            <a:stCxn id="27" idx="0"/>
            <a:endCxn id="21" idx="2"/>
          </p:cNvCxnSpPr>
          <p:nvPr/>
        </p:nvCxnSpPr>
        <p:spPr>
          <a:xfrm flipV="1">
            <a:off x="3812312" y="2828175"/>
            <a:ext cx="1" cy="6433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>
            <a:endCxn id="23" idx="2"/>
          </p:cNvCxnSpPr>
          <p:nvPr/>
        </p:nvCxnSpPr>
        <p:spPr>
          <a:xfrm flipV="1">
            <a:off x="4253349" y="2828175"/>
            <a:ext cx="196510" cy="6433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/>
          <p:nvPr/>
        </p:nvCxnSpPr>
        <p:spPr>
          <a:xfrm flipH="1">
            <a:off x="4014128" y="2297855"/>
            <a:ext cx="2392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/>
          <p:cNvCxnSpPr/>
          <p:nvPr/>
        </p:nvCxnSpPr>
        <p:spPr>
          <a:xfrm>
            <a:off x="3371277" y="2622051"/>
            <a:ext cx="23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H="1">
            <a:off x="2856815" y="1887483"/>
            <a:ext cx="663165" cy="1092849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表格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423091"/>
              </p:ext>
            </p:extLst>
          </p:nvPr>
        </p:nvGraphicFramePr>
        <p:xfrm>
          <a:off x="4928760" y="2090715"/>
          <a:ext cx="424183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4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9" name="直線單箭頭接點 38"/>
          <p:cNvCxnSpPr/>
          <p:nvPr/>
        </p:nvCxnSpPr>
        <p:spPr>
          <a:xfrm flipH="1">
            <a:off x="4654438" y="2306167"/>
            <a:ext cx="23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/>
          <p:nvPr/>
        </p:nvCxnSpPr>
        <p:spPr>
          <a:xfrm>
            <a:off x="4654438" y="2622051"/>
            <a:ext cx="23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字方塊 41"/>
          <p:cNvSpPr txBox="1"/>
          <p:nvPr/>
        </p:nvSpPr>
        <p:spPr>
          <a:xfrm>
            <a:off x="838199" y="4389120"/>
            <a:ext cx="51137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= 3 : SA[7] SA[8] SA[9] ‘s LCP = min{2,2} = 2 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= 2 : SA[8] SA[9] ‘s LCP = min{2,3} = 2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/>
              <a:t> </a:t>
            </a:r>
            <a:endParaRPr lang="zh-TW" altLang="en-US" dirty="0"/>
          </a:p>
        </p:txBody>
      </p:sp>
      <p:cxnSp>
        <p:nvCxnSpPr>
          <p:cNvPr id="38" name="直線單箭頭接點 37"/>
          <p:cNvCxnSpPr/>
          <p:nvPr/>
        </p:nvCxnSpPr>
        <p:spPr>
          <a:xfrm>
            <a:off x="4014128" y="2622051"/>
            <a:ext cx="23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/>
          <p:cNvCxnSpPr/>
          <p:nvPr/>
        </p:nvCxnSpPr>
        <p:spPr>
          <a:xfrm flipH="1">
            <a:off x="3371273" y="2287542"/>
            <a:ext cx="2392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75713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k-common substring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9163904"/>
              </p:ext>
            </p:extLst>
          </p:nvPr>
        </p:nvGraphicFramePr>
        <p:xfrm>
          <a:off x="477521" y="2086495"/>
          <a:ext cx="40363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8673" y="2086495"/>
            <a:ext cx="5922992" cy="3865418"/>
          </a:xfrm>
          <a:prstGeom prst="rect">
            <a:avLst/>
          </a:prstGeom>
        </p:spPr>
      </p:pic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2164115"/>
              </p:ext>
            </p:extLst>
          </p:nvPr>
        </p:nvGraphicFramePr>
        <p:xfrm>
          <a:off x="1120372" y="2086495"/>
          <a:ext cx="40363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3512065"/>
              </p:ext>
            </p:extLst>
          </p:nvPr>
        </p:nvGraphicFramePr>
        <p:xfrm>
          <a:off x="1763223" y="2086495"/>
          <a:ext cx="43640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64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663172" y="3471566"/>
          <a:ext cx="131802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3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3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3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2" name="直線單箭頭接點 11"/>
          <p:cNvCxnSpPr>
            <a:endCxn id="7" idx="2"/>
          </p:cNvCxnSpPr>
          <p:nvPr/>
        </p:nvCxnSpPr>
        <p:spPr>
          <a:xfrm flipV="1">
            <a:off x="881152" y="2828175"/>
            <a:ext cx="1100274" cy="6433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>
            <a:endCxn id="4" idx="2"/>
          </p:cNvCxnSpPr>
          <p:nvPr/>
        </p:nvCxnSpPr>
        <p:spPr>
          <a:xfrm flipH="1" flipV="1">
            <a:off x="679336" y="2828175"/>
            <a:ext cx="642850" cy="6433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>
            <a:endCxn id="6" idx="2"/>
          </p:cNvCxnSpPr>
          <p:nvPr/>
        </p:nvCxnSpPr>
        <p:spPr>
          <a:xfrm flipH="1" flipV="1">
            <a:off x="1322187" y="2828175"/>
            <a:ext cx="441038" cy="6433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>
          <a:xfrm flipH="1">
            <a:off x="1524002" y="2297855"/>
            <a:ext cx="23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>
          <a:xfrm flipH="1">
            <a:off x="881151" y="2306167"/>
            <a:ext cx="23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/>
          <p:nvPr/>
        </p:nvCxnSpPr>
        <p:spPr>
          <a:xfrm>
            <a:off x="881151" y="2622051"/>
            <a:ext cx="23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/>
          <p:nvPr/>
        </p:nvCxnSpPr>
        <p:spPr>
          <a:xfrm>
            <a:off x="1524002" y="2622051"/>
            <a:ext cx="23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6178673" y="4655127"/>
            <a:ext cx="5922992" cy="2902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8179110"/>
              </p:ext>
            </p:extLst>
          </p:nvPr>
        </p:nvGraphicFramePr>
        <p:xfrm>
          <a:off x="1111597" y="5583613"/>
          <a:ext cx="2038926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6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96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96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913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lcs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2662536"/>
              </p:ext>
            </p:extLst>
          </p:nvPr>
        </p:nvGraphicFramePr>
        <p:xfrm>
          <a:off x="2967647" y="2086495"/>
          <a:ext cx="40363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表格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1576564"/>
              </p:ext>
            </p:extLst>
          </p:nvPr>
        </p:nvGraphicFramePr>
        <p:xfrm>
          <a:off x="3610498" y="2086495"/>
          <a:ext cx="40363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7588409"/>
              </p:ext>
            </p:extLst>
          </p:nvPr>
        </p:nvGraphicFramePr>
        <p:xfrm>
          <a:off x="4253348" y="2086495"/>
          <a:ext cx="43140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4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7" name="表格 26"/>
          <p:cNvGraphicFramePr>
            <a:graphicFrameLocks noGrp="1"/>
          </p:cNvGraphicFramePr>
          <p:nvPr/>
        </p:nvGraphicFramePr>
        <p:xfrm>
          <a:off x="3153298" y="3471566"/>
          <a:ext cx="131802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3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3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3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8" name="直線單箭頭接點 27"/>
          <p:cNvCxnSpPr>
            <a:endCxn id="37" idx="2"/>
          </p:cNvCxnSpPr>
          <p:nvPr/>
        </p:nvCxnSpPr>
        <p:spPr>
          <a:xfrm flipV="1">
            <a:off x="3380910" y="2832395"/>
            <a:ext cx="1759941" cy="6391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>
            <a:stCxn id="27" idx="0"/>
            <a:endCxn id="19" idx="2"/>
          </p:cNvCxnSpPr>
          <p:nvPr/>
        </p:nvCxnSpPr>
        <p:spPr>
          <a:xfrm flipH="1" flipV="1">
            <a:off x="3169462" y="2828175"/>
            <a:ext cx="642850" cy="6433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>
            <a:endCxn id="21" idx="2"/>
          </p:cNvCxnSpPr>
          <p:nvPr/>
        </p:nvCxnSpPr>
        <p:spPr>
          <a:xfrm flipH="1" flipV="1">
            <a:off x="3812313" y="2828175"/>
            <a:ext cx="441036" cy="6433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/>
          <p:nvPr/>
        </p:nvCxnSpPr>
        <p:spPr>
          <a:xfrm flipH="1">
            <a:off x="4014128" y="2297855"/>
            <a:ext cx="2392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/>
          <p:cNvCxnSpPr/>
          <p:nvPr/>
        </p:nvCxnSpPr>
        <p:spPr>
          <a:xfrm>
            <a:off x="3371277" y="2622051"/>
            <a:ext cx="23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H="1">
            <a:off x="4110667" y="1910910"/>
            <a:ext cx="663165" cy="1092849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表格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0559277"/>
              </p:ext>
            </p:extLst>
          </p:nvPr>
        </p:nvGraphicFramePr>
        <p:xfrm>
          <a:off x="4928760" y="2090715"/>
          <a:ext cx="424183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4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9" name="直線單箭頭接點 38"/>
          <p:cNvCxnSpPr/>
          <p:nvPr/>
        </p:nvCxnSpPr>
        <p:spPr>
          <a:xfrm flipH="1">
            <a:off x="4684752" y="2297855"/>
            <a:ext cx="244008" cy="83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/>
          <p:nvPr/>
        </p:nvCxnSpPr>
        <p:spPr>
          <a:xfrm>
            <a:off x="4689539" y="2622051"/>
            <a:ext cx="23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字方塊 41"/>
          <p:cNvSpPr txBox="1"/>
          <p:nvPr/>
        </p:nvSpPr>
        <p:spPr>
          <a:xfrm>
            <a:off x="838199" y="4389120"/>
            <a:ext cx="51137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= 3 : SA[7] SA[8] SA[10] ‘s LCP = min{2,0} = 0 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= 2 : SA[8] SA[10] ‘s LCP = min{2,0} = 0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/>
              <a:t> </a:t>
            </a:r>
            <a:endParaRPr lang="zh-TW" altLang="en-US" dirty="0"/>
          </a:p>
        </p:txBody>
      </p:sp>
      <p:cxnSp>
        <p:nvCxnSpPr>
          <p:cNvPr id="38" name="直線單箭頭接點 37"/>
          <p:cNvCxnSpPr/>
          <p:nvPr/>
        </p:nvCxnSpPr>
        <p:spPr>
          <a:xfrm>
            <a:off x="4014128" y="2622051"/>
            <a:ext cx="23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/>
          <p:cNvCxnSpPr/>
          <p:nvPr/>
        </p:nvCxnSpPr>
        <p:spPr>
          <a:xfrm flipH="1">
            <a:off x="3371273" y="2287542"/>
            <a:ext cx="2392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06626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k-common substring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8730917"/>
              </p:ext>
            </p:extLst>
          </p:nvPr>
        </p:nvGraphicFramePr>
        <p:xfrm>
          <a:off x="477521" y="2086495"/>
          <a:ext cx="40363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8673" y="2086495"/>
            <a:ext cx="5922992" cy="3865418"/>
          </a:xfrm>
          <a:prstGeom prst="rect">
            <a:avLst/>
          </a:prstGeom>
        </p:spPr>
      </p:pic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5190615"/>
              </p:ext>
            </p:extLst>
          </p:nvPr>
        </p:nvGraphicFramePr>
        <p:xfrm>
          <a:off x="1120372" y="2086495"/>
          <a:ext cx="40363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223121"/>
              </p:ext>
            </p:extLst>
          </p:nvPr>
        </p:nvGraphicFramePr>
        <p:xfrm>
          <a:off x="1763223" y="2086495"/>
          <a:ext cx="43640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64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663172" y="3471566"/>
          <a:ext cx="131802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3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3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3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2" name="直線單箭頭接點 11"/>
          <p:cNvCxnSpPr>
            <a:endCxn id="7" idx="2"/>
          </p:cNvCxnSpPr>
          <p:nvPr/>
        </p:nvCxnSpPr>
        <p:spPr>
          <a:xfrm flipV="1">
            <a:off x="881152" y="2828175"/>
            <a:ext cx="1100274" cy="6433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>
            <a:endCxn id="4" idx="2"/>
          </p:cNvCxnSpPr>
          <p:nvPr/>
        </p:nvCxnSpPr>
        <p:spPr>
          <a:xfrm flipH="1" flipV="1">
            <a:off x="679336" y="2828175"/>
            <a:ext cx="642850" cy="6433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>
            <a:endCxn id="6" idx="2"/>
          </p:cNvCxnSpPr>
          <p:nvPr/>
        </p:nvCxnSpPr>
        <p:spPr>
          <a:xfrm flipH="1" flipV="1">
            <a:off x="1322187" y="2828175"/>
            <a:ext cx="441038" cy="6433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>
          <a:xfrm flipH="1">
            <a:off x="1524002" y="2297855"/>
            <a:ext cx="23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>
          <a:xfrm flipH="1">
            <a:off x="881151" y="2306167"/>
            <a:ext cx="23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/>
          <p:nvPr/>
        </p:nvCxnSpPr>
        <p:spPr>
          <a:xfrm>
            <a:off x="881151" y="2622051"/>
            <a:ext cx="23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/>
          <p:nvPr/>
        </p:nvCxnSpPr>
        <p:spPr>
          <a:xfrm>
            <a:off x="1524002" y="2622051"/>
            <a:ext cx="23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6178673" y="4896195"/>
            <a:ext cx="5922992" cy="2902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7" name="表格 16"/>
          <p:cNvGraphicFramePr>
            <a:graphicFrameLocks noGrp="1"/>
          </p:cNvGraphicFramePr>
          <p:nvPr/>
        </p:nvGraphicFramePr>
        <p:xfrm>
          <a:off x="1111597" y="5583613"/>
          <a:ext cx="2038926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6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96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96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913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lcs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5815760"/>
              </p:ext>
            </p:extLst>
          </p:nvPr>
        </p:nvGraphicFramePr>
        <p:xfrm>
          <a:off x="2967647" y="2086495"/>
          <a:ext cx="40363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表格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4313784"/>
              </p:ext>
            </p:extLst>
          </p:nvPr>
        </p:nvGraphicFramePr>
        <p:xfrm>
          <a:off x="3610498" y="2086495"/>
          <a:ext cx="40363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2385497"/>
              </p:ext>
            </p:extLst>
          </p:nvPr>
        </p:nvGraphicFramePr>
        <p:xfrm>
          <a:off x="4253348" y="2086495"/>
          <a:ext cx="43140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4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7" name="表格 26"/>
          <p:cNvGraphicFramePr>
            <a:graphicFrameLocks noGrp="1"/>
          </p:cNvGraphicFramePr>
          <p:nvPr/>
        </p:nvGraphicFramePr>
        <p:xfrm>
          <a:off x="3153298" y="3471566"/>
          <a:ext cx="131802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3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3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3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8" name="直線單箭頭接點 27"/>
          <p:cNvCxnSpPr>
            <a:endCxn id="23" idx="2"/>
          </p:cNvCxnSpPr>
          <p:nvPr/>
        </p:nvCxnSpPr>
        <p:spPr>
          <a:xfrm flipV="1">
            <a:off x="3380910" y="2828175"/>
            <a:ext cx="1088140" cy="6433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>
            <a:stCxn id="27" idx="0"/>
            <a:endCxn id="37" idx="2"/>
          </p:cNvCxnSpPr>
          <p:nvPr/>
        </p:nvCxnSpPr>
        <p:spPr>
          <a:xfrm flipV="1">
            <a:off x="3812312" y="2832395"/>
            <a:ext cx="1328539" cy="6391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>
            <a:endCxn id="21" idx="2"/>
          </p:cNvCxnSpPr>
          <p:nvPr/>
        </p:nvCxnSpPr>
        <p:spPr>
          <a:xfrm flipH="1" flipV="1">
            <a:off x="3812313" y="2828175"/>
            <a:ext cx="441036" cy="6433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/>
          <p:nvPr/>
        </p:nvCxnSpPr>
        <p:spPr>
          <a:xfrm flipH="1">
            <a:off x="4014128" y="2297855"/>
            <a:ext cx="2392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/>
          <p:cNvCxnSpPr/>
          <p:nvPr/>
        </p:nvCxnSpPr>
        <p:spPr>
          <a:xfrm>
            <a:off x="3371277" y="2622051"/>
            <a:ext cx="23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H="1">
            <a:off x="2837876" y="1947054"/>
            <a:ext cx="663165" cy="1092849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表格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9654963"/>
              </p:ext>
            </p:extLst>
          </p:nvPr>
        </p:nvGraphicFramePr>
        <p:xfrm>
          <a:off x="4928760" y="2090715"/>
          <a:ext cx="424183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4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9" name="直線單箭頭接點 38"/>
          <p:cNvCxnSpPr/>
          <p:nvPr/>
        </p:nvCxnSpPr>
        <p:spPr>
          <a:xfrm flipH="1">
            <a:off x="4684752" y="2297855"/>
            <a:ext cx="244008" cy="83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/>
          <p:nvPr/>
        </p:nvCxnSpPr>
        <p:spPr>
          <a:xfrm>
            <a:off x="4689539" y="2622051"/>
            <a:ext cx="23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字方塊 41"/>
          <p:cNvSpPr txBox="1"/>
          <p:nvPr/>
        </p:nvSpPr>
        <p:spPr>
          <a:xfrm>
            <a:off x="838199" y="4389120"/>
            <a:ext cx="51137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= 3 : SA[8] SA[10] SA[11] ‘s LCP = min{0,1} = 0 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= 2 : SA[10] SA[11] ‘s LCP = min{1,1} =1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/>
              <a:t> </a:t>
            </a:r>
            <a:endParaRPr lang="zh-TW" altLang="en-US" dirty="0"/>
          </a:p>
        </p:txBody>
      </p:sp>
      <p:cxnSp>
        <p:nvCxnSpPr>
          <p:cNvPr id="38" name="直線單箭頭接點 37"/>
          <p:cNvCxnSpPr/>
          <p:nvPr/>
        </p:nvCxnSpPr>
        <p:spPr>
          <a:xfrm>
            <a:off x="4014128" y="2622051"/>
            <a:ext cx="23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/>
          <p:cNvCxnSpPr/>
          <p:nvPr/>
        </p:nvCxnSpPr>
        <p:spPr>
          <a:xfrm flipH="1">
            <a:off x="3371273" y="2287542"/>
            <a:ext cx="2392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22320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k-common substring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4436841"/>
              </p:ext>
            </p:extLst>
          </p:nvPr>
        </p:nvGraphicFramePr>
        <p:xfrm>
          <a:off x="477521" y="2086495"/>
          <a:ext cx="40363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8673" y="2086495"/>
            <a:ext cx="5922992" cy="3865418"/>
          </a:xfrm>
          <a:prstGeom prst="rect">
            <a:avLst/>
          </a:prstGeom>
        </p:spPr>
      </p:pic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6684988"/>
              </p:ext>
            </p:extLst>
          </p:nvPr>
        </p:nvGraphicFramePr>
        <p:xfrm>
          <a:off x="1082966" y="2086495"/>
          <a:ext cx="44103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1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9834717"/>
              </p:ext>
            </p:extLst>
          </p:nvPr>
        </p:nvGraphicFramePr>
        <p:xfrm>
          <a:off x="1763223" y="2086495"/>
          <a:ext cx="43640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64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663172" y="3471566"/>
          <a:ext cx="131802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3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3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3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2" name="直線單箭頭接點 11"/>
          <p:cNvCxnSpPr>
            <a:endCxn id="6" idx="2"/>
          </p:cNvCxnSpPr>
          <p:nvPr/>
        </p:nvCxnSpPr>
        <p:spPr>
          <a:xfrm flipV="1">
            <a:off x="881152" y="2828175"/>
            <a:ext cx="422332" cy="6433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>
            <a:endCxn id="7" idx="2"/>
          </p:cNvCxnSpPr>
          <p:nvPr/>
        </p:nvCxnSpPr>
        <p:spPr>
          <a:xfrm flipV="1">
            <a:off x="1322186" y="2828175"/>
            <a:ext cx="659240" cy="6433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>
            <a:endCxn id="4" idx="2"/>
          </p:cNvCxnSpPr>
          <p:nvPr/>
        </p:nvCxnSpPr>
        <p:spPr>
          <a:xfrm flipH="1" flipV="1">
            <a:off x="679336" y="2828175"/>
            <a:ext cx="1083890" cy="6433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>
          <a:xfrm flipH="1">
            <a:off x="1524002" y="2297855"/>
            <a:ext cx="23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/>
          <p:nvPr/>
        </p:nvCxnSpPr>
        <p:spPr>
          <a:xfrm>
            <a:off x="881151" y="2622051"/>
            <a:ext cx="2018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/>
          <p:nvPr/>
        </p:nvCxnSpPr>
        <p:spPr>
          <a:xfrm>
            <a:off x="1524002" y="2622051"/>
            <a:ext cx="23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6178673" y="5145576"/>
            <a:ext cx="5922992" cy="2902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7" name="表格 16"/>
          <p:cNvGraphicFramePr>
            <a:graphicFrameLocks noGrp="1"/>
          </p:cNvGraphicFramePr>
          <p:nvPr/>
        </p:nvGraphicFramePr>
        <p:xfrm>
          <a:off x="1111597" y="5583613"/>
          <a:ext cx="2038926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6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96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96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913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lcs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9127389"/>
              </p:ext>
            </p:extLst>
          </p:nvPr>
        </p:nvGraphicFramePr>
        <p:xfrm>
          <a:off x="2967647" y="2086495"/>
          <a:ext cx="40363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表格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0672625"/>
              </p:ext>
            </p:extLst>
          </p:nvPr>
        </p:nvGraphicFramePr>
        <p:xfrm>
          <a:off x="3581547" y="2086495"/>
          <a:ext cx="43258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5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6594074"/>
              </p:ext>
            </p:extLst>
          </p:nvPr>
        </p:nvGraphicFramePr>
        <p:xfrm>
          <a:off x="4253348" y="2086495"/>
          <a:ext cx="43140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4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7" name="表格 26"/>
          <p:cNvGraphicFramePr>
            <a:graphicFrameLocks noGrp="1"/>
          </p:cNvGraphicFramePr>
          <p:nvPr/>
        </p:nvGraphicFramePr>
        <p:xfrm>
          <a:off x="3153298" y="3471566"/>
          <a:ext cx="131802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3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3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3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8" name="直線單箭頭接點 27"/>
          <p:cNvCxnSpPr>
            <a:endCxn id="21" idx="2"/>
          </p:cNvCxnSpPr>
          <p:nvPr/>
        </p:nvCxnSpPr>
        <p:spPr>
          <a:xfrm flipV="1">
            <a:off x="3380910" y="2828175"/>
            <a:ext cx="416927" cy="6433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>
            <a:stCxn id="27" idx="0"/>
            <a:endCxn id="23" idx="2"/>
          </p:cNvCxnSpPr>
          <p:nvPr/>
        </p:nvCxnSpPr>
        <p:spPr>
          <a:xfrm flipV="1">
            <a:off x="3812312" y="2828175"/>
            <a:ext cx="656738" cy="6433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>
            <a:endCxn id="37" idx="2"/>
          </p:cNvCxnSpPr>
          <p:nvPr/>
        </p:nvCxnSpPr>
        <p:spPr>
          <a:xfrm flipV="1">
            <a:off x="4253349" y="2832395"/>
            <a:ext cx="887502" cy="6391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/>
          <p:nvPr/>
        </p:nvCxnSpPr>
        <p:spPr>
          <a:xfrm flipH="1">
            <a:off x="4014128" y="2297855"/>
            <a:ext cx="2392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/>
          <p:cNvCxnSpPr/>
          <p:nvPr/>
        </p:nvCxnSpPr>
        <p:spPr>
          <a:xfrm>
            <a:off x="3354651" y="2622051"/>
            <a:ext cx="23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H="1">
            <a:off x="2874143" y="1896811"/>
            <a:ext cx="663165" cy="1092849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表格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5969026"/>
              </p:ext>
            </p:extLst>
          </p:nvPr>
        </p:nvGraphicFramePr>
        <p:xfrm>
          <a:off x="4928760" y="2090715"/>
          <a:ext cx="424183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4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9" name="直線單箭頭接點 38"/>
          <p:cNvCxnSpPr/>
          <p:nvPr/>
        </p:nvCxnSpPr>
        <p:spPr>
          <a:xfrm flipH="1">
            <a:off x="4684752" y="2297855"/>
            <a:ext cx="244008" cy="83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/>
          <p:nvPr/>
        </p:nvCxnSpPr>
        <p:spPr>
          <a:xfrm>
            <a:off x="4689539" y="2622051"/>
            <a:ext cx="23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字方塊 41"/>
          <p:cNvSpPr txBox="1"/>
          <p:nvPr/>
        </p:nvSpPr>
        <p:spPr>
          <a:xfrm>
            <a:off x="838199" y="4389120"/>
            <a:ext cx="51137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= 3 : SA[10] SA[11] SA[12] ‘s LCP = min{1,1} = 1 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= 2 : SA[11] SA[12] ‘s LCP = min{7,1} =1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/>
              <a:t> </a:t>
            </a:r>
            <a:endParaRPr lang="zh-TW" altLang="en-US" dirty="0"/>
          </a:p>
        </p:txBody>
      </p:sp>
      <p:cxnSp>
        <p:nvCxnSpPr>
          <p:cNvPr id="38" name="直線單箭頭接點 37"/>
          <p:cNvCxnSpPr/>
          <p:nvPr/>
        </p:nvCxnSpPr>
        <p:spPr>
          <a:xfrm>
            <a:off x="4014128" y="2622051"/>
            <a:ext cx="23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/>
          <p:cNvCxnSpPr/>
          <p:nvPr/>
        </p:nvCxnSpPr>
        <p:spPr>
          <a:xfrm flipH="1">
            <a:off x="3354648" y="2287542"/>
            <a:ext cx="2268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/>
          <p:nvPr/>
        </p:nvCxnSpPr>
        <p:spPr>
          <a:xfrm flipH="1">
            <a:off x="871519" y="2320793"/>
            <a:ext cx="2114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53198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k-common substring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1290673"/>
              </p:ext>
            </p:extLst>
          </p:nvPr>
        </p:nvGraphicFramePr>
        <p:xfrm>
          <a:off x="421442" y="2086495"/>
          <a:ext cx="45970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8673" y="2086495"/>
            <a:ext cx="5922992" cy="3865418"/>
          </a:xfrm>
          <a:prstGeom prst="rect">
            <a:avLst/>
          </a:prstGeom>
        </p:spPr>
      </p:pic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9780499"/>
              </p:ext>
            </p:extLst>
          </p:nvPr>
        </p:nvGraphicFramePr>
        <p:xfrm>
          <a:off x="1082966" y="2086495"/>
          <a:ext cx="44103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1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198928"/>
              </p:ext>
            </p:extLst>
          </p:nvPr>
        </p:nvGraphicFramePr>
        <p:xfrm>
          <a:off x="1763223" y="2086495"/>
          <a:ext cx="43640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64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663172" y="3471566"/>
          <a:ext cx="131802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3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3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3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2" name="直線單箭頭接點 11"/>
          <p:cNvCxnSpPr>
            <a:endCxn id="4" idx="2"/>
          </p:cNvCxnSpPr>
          <p:nvPr/>
        </p:nvCxnSpPr>
        <p:spPr>
          <a:xfrm flipH="1" flipV="1">
            <a:off x="651296" y="2828175"/>
            <a:ext cx="229856" cy="6433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>
            <a:endCxn id="6" idx="2"/>
          </p:cNvCxnSpPr>
          <p:nvPr/>
        </p:nvCxnSpPr>
        <p:spPr>
          <a:xfrm flipH="1" flipV="1">
            <a:off x="1303484" y="2828175"/>
            <a:ext cx="18702" cy="6433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>
            <a:endCxn id="7" idx="2"/>
          </p:cNvCxnSpPr>
          <p:nvPr/>
        </p:nvCxnSpPr>
        <p:spPr>
          <a:xfrm flipV="1">
            <a:off x="1763226" y="2828175"/>
            <a:ext cx="218200" cy="6433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>
          <a:xfrm flipH="1">
            <a:off x="1524002" y="2297855"/>
            <a:ext cx="23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/>
          <p:nvPr/>
        </p:nvCxnSpPr>
        <p:spPr>
          <a:xfrm>
            <a:off x="881151" y="2622051"/>
            <a:ext cx="2018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/>
          <p:nvPr/>
        </p:nvCxnSpPr>
        <p:spPr>
          <a:xfrm>
            <a:off x="1524002" y="2622051"/>
            <a:ext cx="23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6178673" y="5403271"/>
            <a:ext cx="5922992" cy="2902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7" name="表格 16"/>
          <p:cNvGraphicFramePr>
            <a:graphicFrameLocks noGrp="1"/>
          </p:cNvGraphicFramePr>
          <p:nvPr/>
        </p:nvGraphicFramePr>
        <p:xfrm>
          <a:off x="1111597" y="5583613"/>
          <a:ext cx="2038926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6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96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96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913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lcs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5061946"/>
              </p:ext>
            </p:extLst>
          </p:nvPr>
        </p:nvGraphicFramePr>
        <p:xfrm>
          <a:off x="2948329" y="2086495"/>
          <a:ext cx="42294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9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表格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1140655"/>
              </p:ext>
            </p:extLst>
          </p:nvPr>
        </p:nvGraphicFramePr>
        <p:xfrm>
          <a:off x="3581547" y="2086495"/>
          <a:ext cx="43258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5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0259026"/>
              </p:ext>
            </p:extLst>
          </p:nvPr>
        </p:nvGraphicFramePr>
        <p:xfrm>
          <a:off x="4253348" y="2086495"/>
          <a:ext cx="43140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4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7" name="表格 26"/>
          <p:cNvGraphicFramePr>
            <a:graphicFrameLocks noGrp="1"/>
          </p:cNvGraphicFramePr>
          <p:nvPr/>
        </p:nvGraphicFramePr>
        <p:xfrm>
          <a:off x="3153298" y="3471566"/>
          <a:ext cx="131802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3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3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3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8" name="直線單箭頭接點 27"/>
          <p:cNvCxnSpPr>
            <a:endCxn id="19" idx="2"/>
          </p:cNvCxnSpPr>
          <p:nvPr/>
        </p:nvCxnSpPr>
        <p:spPr>
          <a:xfrm flipH="1" flipV="1">
            <a:off x="3159803" y="2828175"/>
            <a:ext cx="221107" cy="6433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>
            <a:stCxn id="27" idx="0"/>
            <a:endCxn id="21" idx="2"/>
          </p:cNvCxnSpPr>
          <p:nvPr/>
        </p:nvCxnSpPr>
        <p:spPr>
          <a:xfrm flipH="1" flipV="1">
            <a:off x="3797837" y="2828175"/>
            <a:ext cx="14475" cy="6433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>
            <a:endCxn id="37" idx="2"/>
          </p:cNvCxnSpPr>
          <p:nvPr/>
        </p:nvCxnSpPr>
        <p:spPr>
          <a:xfrm flipV="1">
            <a:off x="4253349" y="2832395"/>
            <a:ext cx="887502" cy="6391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/>
          <p:nvPr/>
        </p:nvCxnSpPr>
        <p:spPr>
          <a:xfrm flipH="1">
            <a:off x="4014128" y="2297855"/>
            <a:ext cx="2392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/>
          <p:cNvCxnSpPr/>
          <p:nvPr/>
        </p:nvCxnSpPr>
        <p:spPr>
          <a:xfrm>
            <a:off x="3354651" y="2622051"/>
            <a:ext cx="23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H="1">
            <a:off x="4218749" y="1859767"/>
            <a:ext cx="663165" cy="1092849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表格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0141445"/>
              </p:ext>
            </p:extLst>
          </p:nvPr>
        </p:nvGraphicFramePr>
        <p:xfrm>
          <a:off x="4928760" y="2090715"/>
          <a:ext cx="424183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4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9" name="直線單箭頭接點 38"/>
          <p:cNvCxnSpPr/>
          <p:nvPr/>
        </p:nvCxnSpPr>
        <p:spPr>
          <a:xfrm flipH="1">
            <a:off x="4684752" y="2297855"/>
            <a:ext cx="244008" cy="83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/>
          <p:nvPr/>
        </p:nvCxnSpPr>
        <p:spPr>
          <a:xfrm>
            <a:off x="4689539" y="2622051"/>
            <a:ext cx="23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字方塊 41"/>
          <p:cNvSpPr txBox="1"/>
          <p:nvPr/>
        </p:nvSpPr>
        <p:spPr>
          <a:xfrm>
            <a:off x="838199" y="4389120"/>
            <a:ext cx="51137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= 3 : SA[10] SA[11] SA[13] ‘s LCP = min{1,1} = 1 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= 2 : SA[11] SA[13] ‘s LCP = min{1,1} =1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/>
              <a:t> </a:t>
            </a:r>
            <a:endParaRPr lang="zh-TW" altLang="en-US" dirty="0"/>
          </a:p>
        </p:txBody>
      </p:sp>
      <p:cxnSp>
        <p:nvCxnSpPr>
          <p:cNvPr id="38" name="直線單箭頭接點 37"/>
          <p:cNvCxnSpPr/>
          <p:nvPr/>
        </p:nvCxnSpPr>
        <p:spPr>
          <a:xfrm>
            <a:off x="4014128" y="2622051"/>
            <a:ext cx="23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/>
          <p:cNvCxnSpPr/>
          <p:nvPr/>
        </p:nvCxnSpPr>
        <p:spPr>
          <a:xfrm flipH="1">
            <a:off x="3354648" y="2287542"/>
            <a:ext cx="2268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/>
          <p:nvPr/>
        </p:nvCxnSpPr>
        <p:spPr>
          <a:xfrm flipH="1">
            <a:off x="871519" y="2320793"/>
            <a:ext cx="2114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70472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k-common substring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421442" y="2086495"/>
          <a:ext cx="45970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8673" y="2086495"/>
            <a:ext cx="5922992" cy="3865418"/>
          </a:xfrm>
          <a:prstGeom prst="rect">
            <a:avLst/>
          </a:prstGeom>
        </p:spPr>
      </p:pic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082966" y="2086495"/>
          <a:ext cx="44103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1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2880460"/>
              </p:ext>
            </p:extLst>
          </p:nvPr>
        </p:nvGraphicFramePr>
        <p:xfrm>
          <a:off x="1763223" y="2086495"/>
          <a:ext cx="43640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64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663172" y="3471566"/>
          <a:ext cx="131802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3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3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3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2" name="直線單箭頭接點 11"/>
          <p:cNvCxnSpPr>
            <a:endCxn id="4" idx="2"/>
          </p:cNvCxnSpPr>
          <p:nvPr/>
        </p:nvCxnSpPr>
        <p:spPr>
          <a:xfrm flipH="1" flipV="1">
            <a:off x="651296" y="2828175"/>
            <a:ext cx="229856" cy="6433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>
            <a:endCxn id="6" idx="2"/>
          </p:cNvCxnSpPr>
          <p:nvPr/>
        </p:nvCxnSpPr>
        <p:spPr>
          <a:xfrm flipH="1" flipV="1">
            <a:off x="1303484" y="2828175"/>
            <a:ext cx="18702" cy="6433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>
            <a:endCxn id="7" idx="2"/>
          </p:cNvCxnSpPr>
          <p:nvPr/>
        </p:nvCxnSpPr>
        <p:spPr>
          <a:xfrm flipV="1">
            <a:off x="1763226" y="2828175"/>
            <a:ext cx="218200" cy="6433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>
          <a:xfrm flipH="1">
            <a:off x="1524002" y="2297855"/>
            <a:ext cx="23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/>
          <p:nvPr/>
        </p:nvCxnSpPr>
        <p:spPr>
          <a:xfrm>
            <a:off x="881151" y="2622051"/>
            <a:ext cx="2018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/>
          <p:nvPr/>
        </p:nvCxnSpPr>
        <p:spPr>
          <a:xfrm>
            <a:off x="1524002" y="2622051"/>
            <a:ext cx="23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6178673" y="5660967"/>
            <a:ext cx="5922992" cy="2902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7" name="表格 16"/>
          <p:cNvGraphicFramePr>
            <a:graphicFrameLocks noGrp="1"/>
          </p:cNvGraphicFramePr>
          <p:nvPr/>
        </p:nvGraphicFramePr>
        <p:xfrm>
          <a:off x="1111597" y="5583613"/>
          <a:ext cx="2038926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6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96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96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913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lcs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/>
        </p:nvGraphicFramePr>
        <p:xfrm>
          <a:off x="2948329" y="2086495"/>
          <a:ext cx="42294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9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表格 20"/>
          <p:cNvGraphicFramePr>
            <a:graphicFrameLocks noGrp="1"/>
          </p:cNvGraphicFramePr>
          <p:nvPr/>
        </p:nvGraphicFramePr>
        <p:xfrm>
          <a:off x="3581547" y="2086495"/>
          <a:ext cx="43258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5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6722140"/>
              </p:ext>
            </p:extLst>
          </p:nvPr>
        </p:nvGraphicFramePr>
        <p:xfrm>
          <a:off x="4253348" y="2086495"/>
          <a:ext cx="43140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4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7" name="表格 26"/>
          <p:cNvGraphicFramePr>
            <a:graphicFrameLocks noGrp="1"/>
          </p:cNvGraphicFramePr>
          <p:nvPr/>
        </p:nvGraphicFramePr>
        <p:xfrm>
          <a:off x="3153298" y="3471566"/>
          <a:ext cx="131802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3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3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3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8" name="直線單箭頭接點 27"/>
          <p:cNvCxnSpPr>
            <a:endCxn id="37" idx="2"/>
          </p:cNvCxnSpPr>
          <p:nvPr/>
        </p:nvCxnSpPr>
        <p:spPr>
          <a:xfrm flipV="1">
            <a:off x="3380911" y="2832395"/>
            <a:ext cx="1759940" cy="6391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>
            <a:stCxn id="27" idx="0"/>
            <a:endCxn id="21" idx="2"/>
          </p:cNvCxnSpPr>
          <p:nvPr/>
        </p:nvCxnSpPr>
        <p:spPr>
          <a:xfrm flipH="1" flipV="1">
            <a:off x="3797837" y="2828175"/>
            <a:ext cx="14475" cy="6433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>
            <a:endCxn id="23" idx="2"/>
          </p:cNvCxnSpPr>
          <p:nvPr/>
        </p:nvCxnSpPr>
        <p:spPr>
          <a:xfrm flipV="1">
            <a:off x="4253349" y="2828175"/>
            <a:ext cx="215701" cy="6433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/>
          <p:nvPr/>
        </p:nvCxnSpPr>
        <p:spPr>
          <a:xfrm flipH="1">
            <a:off x="4014128" y="2297855"/>
            <a:ext cx="2392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/>
          <p:cNvCxnSpPr/>
          <p:nvPr/>
        </p:nvCxnSpPr>
        <p:spPr>
          <a:xfrm>
            <a:off x="3354651" y="2622051"/>
            <a:ext cx="23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H="1">
            <a:off x="2856815" y="1822974"/>
            <a:ext cx="663165" cy="1092849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表格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9022046"/>
              </p:ext>
            </p:extLst>
          </p:nvPr>
        </p:nvGraphicFramePr>
        <p:xfrm>
          <a:off x="4928760" y="2090715"/>
          <a:ext cx="424183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4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9" name="直線單箭頭接點 38"/>
          <p:cNvCxnSpPr/>
          <p:nvPr/>
        </p:nvCxnSpPr>
        <p:spPr>
          <a:xfrm flipH="1">
            <a:off x="4684752" y="2297855"/>
            <a:ext cx="244008" cy="83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/>
          <p:nvPr/>
        </p:nvCxnSpPr>
        <p:spPr>
          <a:xfrm>
            <a:off x="4689539" y="2622051"/>
            <a:ext cx="23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字方塊 41"/>
          <p:cNvSpPr txBox="1"/>
          <p:nvPr/>
        </p:nvSpPr>
        <p:spPr>
          <a:xfrm>
            <a:off x="838199" y="4389120"/>
            <a:ext cx="51137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= 3 : SA[11] SA[13] SA[14] ‘s LCP = min{1,2} = 1 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= 2 : SA[13] SA[14] ‘s LCP = min{2,2} =2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/>
              <a:t> </a:t>
            </a:r>
            <a:endParaRPr lang="zh-TW" altLang="en-US" dirty="0"/>
          </a:p>
        </p:txBody>
      </p:sp>
      <p:cxnSp>
        <p:nvCxnSpPr>
          <p:cNvPr id="38" name="直線單箭頭接點 37"/>
          <p:cNvCxnSpPr/>
          <p:nvPr/>
        </p:nvCxnSpPr>
        <p:spPr>
          <a:xfrm>
            <a:off x="4014128" y="2622051"/>
            <a:ext cx="23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/>
          <p:cNvCxnSpPr/>
          <p:nvPr/>
        </p:nvCxnSpPr>
        <p:spPr>
          <a:xfrm flipH="1">
            <a:off x="3354648" y="2287542"/>
            <a:ext cx="2268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/>
          <p:nvPr/>
        </p:nvCxnSpPr>
        <p:spPr>
          <a:xfrm flipH="1">
            <a:off x="871519" y="2320793"/>
            <a:ext cx="2114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80651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 : k-common substring</a:t>
            </a:r>
            <a:r>
              <a:rPr lang="en-US" altLang="zh-TW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zh-TW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TW" alt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O(m*n)</a:t>
                </a:r>
              </a:p>
              <a:p>
                <a:pPr lvl="1"/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 : string</a:t>
                </a:r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的數量</a:t>
                </a:r>
              </a:p>
              <a:p>
                <a:pPr lvl="1"/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 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TW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p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</m:e>
                    </m:nary>
                  </m:oMath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51734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k-common substring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endParaRPr lang="zh-TW" altLang="en-US" dirty="0"/>
          </a:p>
        </p:txBody>
      </p:sp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4811258"/>
              </p:ext>
            </p:extLst>
          </p:nvPr>
        </p:nvGraphicFramePr>
        <p:xfrm>
          <a:off x="1334456" y="2194796"/>
          <a:ext cx="45970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4" name="表格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8558162"/>
              </p:ext>
            </p:extLst>
          </p:nvPr>
        </p:nvGraphicFramePr>
        <p:xfrm>
          <a:off x="1854395" y="2194796"/>
          <a:ext cx="45970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147185"/>
              </p:ext>
            </p:extLst>
          </p:nvPr>
        </p:nvGraphicFramePr>
        <p:xfrm>
          <a:off x="2389050" y="2194796"/>
          <a:ext cx="45970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6" name="表格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6367368"/>
              </p:ext>
            </p:extLst>
          </p:nvPr>
        </p:nvGraphicFramePr>
        <p:xfrm>
          <a:off x="2923705" y="2194796"/>
          <a:ext cx="45970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6758059"/>
              </p:ext>
            </p:extLst>
          </p:nvPr>
        </p:nvGraphicFramePr>
        <p:xfrm>
          <a:off x="3458360" y="2194796"/>
          <a:ext cx="45970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8" name="表格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7759805"/>
              </p:ext>
            </p:extLst>
          </p:nvPr>
        </p:nvGraphicFramePr>
        <p:xfrm>
          <a:off x="1525910" y="4236492"/>
          <a:ext cx="2185390" cy="3676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70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0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0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70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70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768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9" name="直線單箭頭接點 28"/>
          <p:cNvCxnSpPr>
            <a:endCxn id="25" idx="2"/>
          </p:cNvCxnSpPr>
          <p:nvPr/>
        </p:nvCxnSpPr>
        <p:spPr>
          <a:xfrm flipV="1">
            <a:off x="1779448" y="2936476"/>
            <a:ext cx="839456" cy="12968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/>
          <p:cNvCxnSpPr>
            <a:endCxn id="26" idx="2"/>
          </p:cNvCxnSpPr>
          <p:nvPr/>
        </p:nvCxnSpPr>
        <p:spPr>
          <a:xfrm flipV="1">
            <a:off x="2190519" y="2936476"/>
            <a:ext cx="963040" cy="12968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>
            <a:stCxn id="28" idx="0"/>
            <a:endCxn id="24" idx="2"/>
          </p:cNvCxnSpPr>
          <p:nvPr/>
        </p:nvCxnSpPr>
        <p:spPr>
          <a:xfrm flipH="1" flipV="1">
            <a:off x="2084249" y="2936476"/>
            <a:ext cx="534356" cy="13000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>
            <a:endCxn id="17" idx="2"/>
          </p:cNvCxnSpPr>
          <p:nvPr/>
        </p:nvCxnSpPr>
        <p:spPr>
          <a:xfrm flipH="1" flipV="1">
            <a:off x="1564310" y="2936476"/>
            <a:ext cx="1470497" cy="12968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/>
          <p:nvPr/>
        </p:nvCxnSpPr>
        <p:spPr>
          <a:xfrm flipV="1">
            <a:off x="3494516" y="2936475"/>
            <a:ext cx="184523" cy="12968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2" name="表格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4014921"/>
              </p:ext>
            </p:extLst>
          </p:nvPr>
        </p:nvGraphicFramePr>
        <p:xfrm>
          <a:off x="5810856" y="3145442"/>
          <a:ext cx="96401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2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0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3" name="表格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7331180"/>
              </p:ext>
            </p:extLst>
          </p:nvPr>
        </p:nvGraphicFramePr>
        <p:xfrm>
          <a:off x="6999576" y="3145441"/>
          <a:ext cx="83101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55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5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4" name="表格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3491922"/>
              </p:ext>
            </p:extLst>
          </p:nvPr>
        </p:nvGraphicFramePr>
        <p:xfrm>
          <a:off x="8146606" y="3145441"/>
          <a:ext cx="45970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9" name="表格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3719467"/>
              </p:ext>
            </p:extLst>
          </p:nvPr>
        </p:nvGraphicFramePr>
        <p:xfrm>
          <a:off x="5806812" y="2155266"/>
          <a:ext cx="2572416" cy="3676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7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87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87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87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768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1" name="直線單箭頭接點 50"/>
          <p:cNvCxnSpPr/>
          <p:nvPr/>
        </p:nvCxnSpPr>
        <p:spPr>
          <a:xfrm>
            <a:off x="6026727" y="2522952"/>
            <a:ext cx="23159" cy="6224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單箭頭接點 52"/>
          <p:cNvCxnSpPr/>
          <p:nvPr/>
        </p:nvCxnSpPr>
        <p:spPr>
          <a:xfrm>
            <a:off x="6489992" y="2512526"/>
            <a:ext cx="712985" cy="6329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單箭頭接點 54"/>
          <p:cNvCxnSpPr>
            <a:endCxn id="44" idx="0"/>
          </p:cNvCxnSpPr>
          <p:nvPr/>
        </p:nvCxnSpPr>
        <p:spPr>
          <a:xfrm>
            <a:off x="6876122" y="2512525"/>
            <a:ext cx="1500338" cy="6329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3" name="表格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333016"/>
              </p:ext>
            </p:extLst>
          </p:nvPr>
        </p:nvGraphicFramePr>
        <p:xfrm>
          <a:off x="5806812" y="5187138"/>
          <a:ext cx="2185390" cy="3676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70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0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0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70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70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768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4" name="直線單箭頭接點 63"/>
          <p:cNvCxnSpPr/>
          <p:nvPr/>
        </p:nvCxnSpPr>
        <p:spPr>
          <a:xfrm flipV="1">
            <a:off x="6060350" y="3888699"/>
            <a:ext cx="1137331" cy="12952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單箭頭接點 64"/>
          <p:cNvCxnSpPr/>
          <p:nvPr/>
        </p:nvCxnSpPr>
        <p:spPr>
          <a:xfrm flipV="1">
            <a:off x="6471421" y="3883967"/>
            <a:ext cx="1138366" cy="13000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單箭頭接點 65"/>
          <p:cNvCxnSpPr>
            <a:stCxn id="63" idx="0"/>
          </p:cNvCxnSpPr>
          <p:nvPr/>
        </p:nvCxnSpPr>
        <p:spPr>
          <a:xfrm flipH="1" flipV="1">
            <a:off x="6521705" y="3888699"/>
            <a:ext cx="377802" cy="12984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單箭頭接點 66"/>
          <p:cNvCxnSpPr/>
          <p:nvPr/>
        </p:nvCxnSpPr>
        <p:spPr>
          <a:xfrm flipH="1" flipV="1">
            <a:off x="6026727" y="3888698"/>
            <a:ext cx="1288983" cy="12952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單箭頭接點 67"/>
          <p:cNvCxnSpPr>
            <a:endCxn id="44" idx="2"/>
          </p:cNvCxnSpPr>
          <p:nvPr/>
        </p:nvCxnSpPr>
        <p:spPr>
          <a:xfrm flipV="1">
            <a:off x="7775418" y="3887121"/>
            <a:ext cx="601042" cy="12968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文字方塊 74"/>
          <p:cNvSpPr txBox="1"/>
          <p:nvPr/>
        </p:nvSpPr>
        <p:spPr>
          <a:xfrm>
            <a:off x="5012144" y="2128916"/>
            <a:ext cx="715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intptr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文字方塊 75"/>
          <p:cNvSpPr txBox="1"/>
          <p:nvPr/>
        </p:nvSpPr>
        <p:spPr>
          <a:xfrm>
            <a:off x="4910969" y="5183983"/>
            <a:ext cx="929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textptr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84633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k-common substring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6003829"/>
              </p:ext>
            </p:extLst>
          </p:nvPr>
        </p:nvGraphicFramePr>
        <p:xfrm>
          <a:off x="1738087" y="3178693"/>
          <a:ext cx="96401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2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0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0882995"/>
              </p:ext>
            </p:extLst>
          </p:nvPr>
        </p:nvGraphicFramePr>
        <p:xfrm>
          <a:off x="2926807" y="3178692"/>
          <a:ext cx="83101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55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5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0182652"/>
              </p:ext>
            </p:extLst>
          </p:nvPr>
        </p:nvGraphicFramePr>
        <p:xfrm>
          <a:off x="4073837" y="3178692"/>
          <a:ext cx="45970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9864619"/>
              </p:ext>
            </p:extLst>
          </p:nvPr>
        </p:nvGraphicFramePr>
        <p:xfrm>
          <a:off x="1734043" y="2188517"/>
          <a:ext cx="2572416" cy="3676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7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87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87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87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768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8" name="直線單箭頭接點 7"/>
          <p:cNvCxnSpPr/>
          <p:nvPr/>
        </p:nvCxnSpPr>
        <p:spPr>
          <a:xfrm>
            <a:off x="1953958" y="2556203"/>
            <a:ext cx="23159" cy="6224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單箭頭接點 8"/>
          <p:cNvCxnSpPr/>
          <p:nvPr/>
        </p:nvCxnSpPr>
        <p:spPr>
          <a:xfrm>
            <a:off x="2417223" y="2545777"/>
            <a:ext cx="712985" cy="6329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>
            <a:endCxn id="6" idx="0"/>
          </p:cNvCxnSpPr>
          <p:nvPr/>
        </p:nvCxnSpPr>
        <p:spPr>
          <a:xfrm>
            <a:off x="3668642" y="2557779"/>
            <a:ext cx="635049" cy="6209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1484930"/>
              </p:ext>
            </p:extLst>
          </p:nvPr>
        </p:nvGraphicFramePr>
        <p:xfrm>
          <a:off x="1734043" y="5220389"/>
          <a:ext cx="2185390" cy="3676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70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0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0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70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70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768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2" name="直線單箭頭接點 11"/>
          <p:cNvCxnSpPr/>
          <p:nvPr/>
        </p:nvCxnSpPr>
        <p:spPr>
          <a:xfrm flipV="1">
            <a:off x="1987581" y="3921950"/>
            <a:ext cx="1137331" cy="12952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 flipV="1">
            <a:off x="2398652" y="3917218"/>
            <a:ext cx="1138366" cy="13000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>
            <a:stCxn id="11" idx="0"/>
            <a:endCxn id="19" idx="2"/>
          </p:cNvCxnSpPr>
          <p:nvPr/>
        </p:nvCxnSpPr>
        <p:spPr>
          <a:xfrm flipV="1">
            <a:off x="2826738" y="3917218"/>
            <a:ext cx="2316408" cy="13031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>
          <a:xfrm flipH="1" flipV="1">
            <a:off x="1953958" y="3921949"/>
            <a:ext cx="1288983" cy="12952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>
            <a:endCxn id="6" idx="2"/>
          </p:cNvCxnSpPr>
          <p:nvPr/>
        </p:nvCxnSpPr>
        <p:spPr>
          <a:xfrm flipV="1">
            <a:off x="3702649" y="3920372"/>
            <a:ext cx="601042" cy="12968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/>
          <p:cNvSpPr txBox="1"/>
          <p:nvPr/>
        </p:nvSpPr>
        <p:spPr>
          <a:xfrm>
            <a:off x="939375" y="2162167"/>
            <a:ext cx="715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intptr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838200" y="5217234"/>
            <a:ext cx="929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textptr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3630558"/>
              </p:ext>
            </p:extLst>
          </p:nvPr>
        </p:nvGraphicFramePr>
        <p:xfrm>
          <a:off x="4913292" y="3175538"/>
          <a:ext cx="45970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" name="文字方塊 19"/>
          <p:cNvSpPr txBox="1"/>
          <p:nvPr/>
        </p:nvSpPr>
        <p:spPr>
          <a:xfrm>
            <a:off x="939375" y="6144764"/>
            <a:ext cx="2291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LCP(SA[e],SA[f]) = 0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1" name="表格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3410540"/>
              </p:ext>
            </p:extLst>
          </p:nvPr>
        </p:nvGraphicFramePr>
        <p:xfrm>
          <a:off x="7401825" y="3178693"/>
          <a:ext cx="48200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2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" name="表格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2375767"/>
              </p:ext>
            </p:extLst>
          </p:nvPr>
        </p:nvGraphicFramePr>
        <p:xfrm>
          <a:off x="8590545" y="3178692"/>
          <a:ext cx="83101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55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5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8975693"/>
              </p:ext>
            </p:extLst>
          </p:nvPr>
        </p:nvGraphicFramePr>
        <p:xfrm>
          <a:off x="9737575" y="3178692"/>
          <a:ext cx="45970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4" name="表格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9398923"/>
              </p:ext>
            </p:extLst>
          </p:nvPr>
        </p:nvGraphicFramePr>
        <p:xfrm>
          <a:off x="7397781" y="2188517"/>
          <a:ext cx="2572416" cy="3676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7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87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87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87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768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5" name="直線單箭頭接點 24"/>
          <p:cNvCxnSpPr/>
          <p:nvPr/>
        </p:nvCxnSpPr>
        <p:spPr>
          <a:xfrm>
            <a:off x="7617696" y="2556203"/>
            <a:ext cx="23159" cy="6224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表格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9788031"/>
              </p:ext>
            </p:extLst>
          </p:nvPr>
        </p:nvGraphicFramePr>
        <p:xfrm>
          <a:off x="7397781" y="5220389"/>
          <a:ext cx="2185390" cy="3676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70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0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0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70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70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768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9" name="直線單箭頭接點 28"/>
          <p:cNvCxnSpPr/>
          <p:nvPr/>
        </p:nvCxnSpPr>
        <p:spPr>
          <a:xfrm flipV="1">
            <a:off x="7651319" y="3921950"/>
            <a:ext cx="1137331" cy="12952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/>
          <p:nvPr/>
        </p:nvCxnSpPr>
        <p:spPr>
          <a:xfrm flipV="1">
            <a:off x="8062390" y="3917218"/>
            <a:ext cx="1138366" cy="13000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>
            <a:stCxn id="28" idx="0"/>
            <a:endCxn id="36" idx="2"/>
          </p:cNvCxnSpPr>
          <p:nvPr/>
        </p:nvCxnSpPr>
        <p:spPr>
          <a:xfrm flipV="1">
            <a:off x="8490476" y="3917218"/>
            <a:ext cx="2316408" cy="130317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/>
          <p:cNvCxnSpPr/>
          <p:nvPr/>
        </p:nvCxnSpPr>
        <p:spPr>
          <a:xfrm flipH="1" flipV="1">
            <a:off x="7617696" y="3921949"/>
            <a:ext cx="1288983" cy="12952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/>
          <p:cNvCxnSpPr>
            <a:endCxn id="23" idx="2"/>
          </p:cNvCxnSpPr>
          <p:nvPr/>
        </p:nvCxnSpPr>
        <p:spPr>
          <a:xfrm flipV="1">
            <a:off x="9366387" y="3920372"/>
            <a:ext cx="601042" cy="12968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字方塊 33"/>
          <p:cNvSpPr txBox="1"/>
          <p:nvPr/>
        </p:nvSpPr>
        <p:spPr>
          <a:xfrm>
            <a:off x="6603113" y="2162167"/>
            <a:ext cx="715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intptr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6501938" y="5217234"/>
            <a:ext cx="929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textptr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6" name="表格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7521512"/>
              </p:ext>
            </p:extLst>
          </p:nvPr>
        </p:nvGraphicFramePr>
        <p:xfrm>
          <a:off x="10577030" y="3175538"/>
          <a:ext cx="45970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1" name="矩形 40"/>
          <p:cNvSpPr/>
          <p:nvPr/>
        </p:nvSpPr>
        <p:spPr>
          <a:xfrm>
            <a:off x="8490476" y="3075709"/>
            <a:ext cx="1825619" cy="9393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矩形 41"/>
          <p:cNvSpPr/>
          <p:nvPr/>
        </p:nvSpPr>
        <p:spPr>
          <a:xfrm>
            <a:off x="7107382" y="2862234"/>
            <a:ext cx="3350029" cy="13273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3" name="直線接點 42"/>
          <p:cNvCxnSpPr/>
          <p:nvPr/>
        </p:nvCxnSpPr>
        <p:spPr>
          <a:xfrm flipH="1">
            <a:off x="2110550" y="3007838"/>
            <a:ext cx="663165" cy="1092849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/>
          <p:cNvCxnSpPr/>
          <p:nvPr/>
        </p:nvCxnSpPr>
        <p:spPr>
          <a:xfrm>
            <a:off x="8060217" y="2542623"/>
            <a:ext cx="712985" cy="6329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46"/>
          <p:cNvCxnSpPr/>
          <p:nvPr/>
        </p:nvCxnSpPr>
        <p:spPr>
          <a:xfrm>
            <a:off x="9349383" y="2559052"/>
            <a:ext cx="635049" cy="6209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04898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k-common substring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endParaRPr lang="zh-TW" altLang="en-US" dirty="0"/>
          </a:p>
        </p:txBody>
      </p:sp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5646462"/>
              </p:ext>
            </p:extLst>
          </p:nvPr>
        </p:nvGraphicFramePr>
        <p:xfrm>
          <a:off x="4101672" y="3145442"/>
          <a:ext cx="48200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2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表格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7515928"/>
              </p:ext>
            </p:extLst>
          </p:nvPr>
        </p:nvGraphicFramePr>
        <p:xfrm>
          <a:off x="4586356" y="3142287"/>
          <a:ext cx="83101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55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5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" name="表格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9595501"/>
              </p:ext>
            </p:extLst>
          </p:nvPr>
        </p:nvGraphicFramePr>
        <p:xfrm>
          <a:off x="5416403" y="3145517"/>
          <a:ext cx="45970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3783831"/>
              </p:ext>
            </p:extLst>
          </p:nvPr>
        </p:nvGraphicFramePr>
        <p:xfrm>
          <a:off x="4097628" y="2155266"/>
          <a:ext cx="2572416" cy="3676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7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87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87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87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768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4" name="直線單箭頭接點 23"/>
          <p:cNvCxnSpPr/>
          <p:nvPr/>
        </p:nvCxnSpPr>
        <p:spPr>
          <a:xfrm>
            <a:off x="4317543" y="2522952"/>
            <a:ext cx="23159" cy="6224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6678661"/>
              </p:ext>
            </p:extLst>
          </p:nvPr>
        </p:nvGraphicFramePr>
        <p:xfrm>
          <a:off x="4097628" y="5187138"/>
          <a:ext cx="2185390" cy="3676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70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0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0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70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70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768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6" name="直線單箭頭接點 25"/>
          <p:cNvCxnSpPr/>
          <p:nvPr/>
        </p:nvCxnSpPr>
        <p:spPr>
          <a:xfrm flipV="1">
            <a:off x="4351166" y="3883967"/>
            <a:ext cx="470216" cy="13000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/>
          <p:nvPr/>
        </p:nvCxnSpPr>
        <p:spPr>
          <a:xfrm flipV="1">
            <a:off x="4762237" y="3883967"/>
            <a:ext cx="428086" cy="13000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/>
          <p:cNvCxnSpPr>
            <a:stCxn id="25" idx="0"/>
            <a:endCxn id="33" idx="2"/>
          </p:cNvCxnSpPr>
          <p:nvPr/>
        </p:nvCxnSpPr>
        <p:spPr>
          <a:xfrm flipV="1">
            <a:off x="5190323" y="3883967"/>
            <a:ext cx="1609827" cy="130317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/>
          <p:nvPr/>
        </p:nvCxnSpPr>
        <p:spPr>
          <a:xfrm flipH="1" flipV="1">
            <a:off x="4317543" y="3888698"/>
            <a:ext cx="1288983" cy="12952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>
            <a:endCxn id="22" idx="2"/>
          </p:cNvCxnSpPr>
          <p:nvPr/>
        </p:nvCxnSpPr>
        <p:spPr>
          <a:xfrm flipH="1" flipV="1">
            <a:off x="5646257" y="3887197"/>
            <a:ext cx="402973" cy="12967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/>
          <p:cNvSpPr txBox="1"/>
          <p:nvPr/>
        </p:nvSpPr>
        <p:spPr>
          <a:xfrm>
            <a:off x="3302960" y="2128916"/>
            <a:ext cx="715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intptr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3201785" y="5183983"/>
            <a:ext cx="929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textptr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0366750"/>
              </p:ext>
            </p:extLst>
          </p:nvPr>
        </p:nvGraphicFramePr>
        <p:xfrm>
          <a:off x="6570296" y="3142287"/>
          <a:ext cx="45970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62845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 : Improve k-common substring</a:t>
            </a:r>
            <a:r>
              <a:rPr lang="en-US" altLang="zh-TW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zh-TW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每個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Interval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最多只會被</a:t>
            </a:r>
            <a:r>
              <a: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生成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以及</a:t>
            </a:r>
            <a:r>
              <a: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被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一次，所以至多執行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2n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次，因此時間複雜度為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8832657"/>
              </p:ext>
            </p:extLst>
          </p:nvPr>
        </p:nvGraphicFramePr>
        <p:xfrm>
          <a:off x="1923738" y="4367413"/>
          <a:ext cx="48200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2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7979522"/>
              </p:ext>
            </p:extLst>
          </p:nvPr>
        </p:nvGraphicFramePr>
        <p:xfrm>
          <a:off x="3112458" y="4367412"/>
          <a:ext cx="83101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55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5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4256864"/>
              </p:ext>
            </p:extLst>
          </p:nvPr>
        </p:nvGraphicFramePr>
        <p:xfrm>
          <a:off x="4259488" y="4367412"/>
          <a:ext cx="45970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6607953"/>
              </p:ext>
            </p:extLst>
          </p:nvPr>
        </p:nvGraphicFramePr>
        <p:xfrm>
          <a:off x="1919694" y="3377237"/>
          <a:ext cx="2572416" cy="3676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7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87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87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87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768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8" name="直線單箭頭接點 7"/>
          <p:cNvCxnSpPr/>
          <p:nvPr/>
        </p:nvCxnSpPr>
        <p:spPr>
          <a:xfrm>
            <a:off x="2139609" y="3744923"/>
            <a:ext cx="23159" cy="6224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3353018"/>
              </p:ext>
            </p:extLst>
          </p:nvPr>
        </p:nvGraphicFramePr>
        <p:xfrm>
          <a:off x="1919694" y="6409109"/>
          <a:ext cx="2185390" cy="3676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70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0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0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70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70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768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直線單箭頭接點 9"/>
          <p:cNvCxnSpPr/>
          <p:nvPr/>
        </p:nvCxnSpPr>
        <p:spPr>
          <a:xfrm flipV="1">
            <a:off x="2173232" y="5110670"/>
            <a:ext cx="1137331" cy="12952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/>
          <p:nvPr/>
        </p:nvCxnSpPr>
        <p:spPr>
          <a:xfrm flipV="1">
            <a:off x="2584303" y="5105938"/>
            <a:ext cx="1138366" cy="13000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>
            <a:stCxn id="9" idx="0"/>
            <a:endCxn id="17" idx="2"/>
          </p:cNvCxnSpPr>
          <p:nvPr/>
        </p:nvCxnSpPr>
        <p:spPr>
          <a:xfrm flipV="1">
            <a:off x="3012389" y="5105938"/>
            <a:ext cx="2316408" cy="130317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 flipH="1" flipV="1">
            <a:off x="2139609" y="5110669"/>
            <a:ext cx="1288983" cy="12952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>
            <a:endCxn id="6" idx="2"/>
          </p:cNvCxnSpPr>
          <p:nvPr/>
        </p:nvCxnSpPr>
        <p:spPr>
          <a:xfrm flipV="1">
            <a:off x="3888300" y="5109092"/>
            <a:ext cx="601042" cy="12968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/>
          <p:cNvSpPr txBox="1"/>
          <p:nvPr/>
        </p:nvSpPr>
        <p:spPr>
          <a:xfrm>
            <a:off x="1125026" y="3350887"/>
            <a:ext cx="715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intptr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1023851" y="6405954"/>
            <a:ext cx="929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textptr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088893"/>
              </p:ext>
            </p:extLst>
          </p:nvPr>
        </p:nvGraphicFramePr>
        <p:xfrm>
          <a:off x="5098943" y="4364258"/>
          <a:ext cx="45970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" name="矩形 17"/>
          <p:cNvSpPr/>
          <p:nvPr/>
        </p:nvSpPr>
        <p:spPr>
          <a:xfrm>
            <a:off x="3012389" y="4264429"/>
            <a:ext cx="1825619" cy="9393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/>
          <p:cNvSpPr/>
          <p:nvPr/>
        </p:nvSpPr>
        <p:spPr>
          <a:xfrm>
            <a:off x="1629295" y="4050954"/>
            <a:ext cx="3350029" cy="13273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" name="直線單箭頭接點 19"/>
          <p:cNvCxnSpPr/>
          <p:nvPr/>
        </p:nvCxnSpPr>
        <p:spPr>
          <a:xfrm>
            <a:off x="2582130" y="3731343"/>
            <a:ext cx="712985" cy="6329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>
          <a:xfrm>
            <a:off x="3871296" y="3747772"/>
            <a:ext cx="635049" cy="6209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85618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k-common repeated substring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0535969"/>
              </p:ext>
            </p:extLst>
          </p:nvPr>
        </p:nvGraphicFramePr>
        <p:xfrm>
          <a:off x="1542274" y="4098410"/>
          <a:ext cx="45970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059482"/>
              </p:ext>
            </p:extLst>
          </p:nvPr>
        </p:nvGraphicFramePr>
        <p:xfrm>
          <a:off x="2062213" y="4098410"/>
          <a:ext cx="45970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8238961"/>
              </p:ext>
            </p:extLst>
          </p:nvPr>
        </p:nvGraphicFramePr>
        <p:xfrm>
          <a:off x="2596868" y="4098410"/>
          <a:ext cx="45970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4826372"/>
              </p:ext>
            </p:extLst>
          </p:nvPr>
        </p:nvGraphicFramePr>
        <p:xfrm>
          <a:off x="3131523" y="4098410"/>
          <a:ext cx="45970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3578222"/>
              </p:ext>
            </p:extLst>
          </p:nvPr>
        </p:nvGraphicFramePr>
        <p:xfrm>
          <a:off x="3666178" y="4098410"/>
          <a:ext cx="45970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3978993"/>
              </p:ext>
            </p:extLst>
          </p:nvPr>
        </p:nvGraphicFramePr>
        <p:xfrm>
          <a:off x="2162639" y="5212077"/>
          <a:ext cx="1311234" cy="3676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70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0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0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768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文字方塊 9"/>
          <p:cNvSpPr txBox="1"/>
          <p:nvPr/>
        </p:nvSpPr>
        <p:spPr>
          <a:xfrm>
            <a:off x="955963" y="1690688"/>
            <a:ext cx="655042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longest common substring with T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 , T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中的 </a:t>
            </a:r>
            <a:r>
              <a:rPr lang="el-G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需要出現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次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中的 </a:t>
            </a:r>
            <a:r>
              <a:rPr lang="el-G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需要出現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次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中的 </a:t>
            </a:r>
            <a:r>
              <a:rPr lang="el-G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需要出現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次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095837" y="1690688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acac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acccac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caaac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2122016"/>
              </p:ext>
            </p:extLst>
          </p:nvPr>
        </p:nvGraphicFramePr>
        <p:xfrm>
          <a:off x="7188657" y="3411805"/>
          <a:ext cx="341321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88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8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88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88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88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935339"/>
              </p:ext>
            </p:extLst>
          </p:nvPr>
        </p:nvGraphicFramePr>
        <p:xfrm>
          <a:off x="7188657" y="3016251"/>
          <a:ext cx="22763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0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0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90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90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590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4684827"/>
              </p:ext>
            </p:extLst>
          </p:nvPr>
        </p:nvGraphicFramePr>
        <p:xfrm>
          <a:off x="7188657" y="3819121"/>
          <a:ext cx="284434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88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8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88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88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7" name="直線單箭頭接點 16"/>
          <p:cNvCxnSpPr>
            <a:endCxn id="4" idx="2"/>
          </p:cNvCxnSpPr>
          <p:nvPr/>
        </p:nvCxnSpPr>
        <p:spPr>
          <a:xfrm flipH="1" flipV="1">
            <a:off x="1772128" y="4840090"/>
            <a:ext cx="615472" cy="3719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>
            <a:endCxn id="7" idx="2"/>
          </p:cNvCxnSpPr>
          <p:nvPr/>
        </p:nvCxnSpPr>
        <p:spPr>
          <a:xfrm flipV="1">
            <a:off x="2521922" y="4840090"/>
            <a:ext cx="839455" cy="3719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>
            <a:endCxn id="5" idx="2"/>
          </p:cNvCxnSpPr>
          <p:nvPr/>
        </p:nvCxnSpPr>
        <p:spPr>
          <a:xfrm flipH="1" flipV="1">
            <a:off x="2292067" y="4840090"/>
            <a:ext cx="544266" cy="3719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>
            <a:stCxn id="9" idx="0"/>
            <a:endCxn id="6" idx="2"/>
          </p:cNvCxnSpPr>
          <p:nvPr/>
        </p:nvCxnSpPr>
        <p:spPr>
          <a:xfrm flipV="1">
            <a:off x="2818256" y="4840090"/>
            <a:ext cx="8466" cy="3719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>
            <a:endCxn id="8" idx="2"/>
          </p:cNvCxnSpPr>
          <p:nvPr/>
        </p:nvCxnSpPr>
        <p:spPr>
          <a:xfrm flipV="1">
            <a:off x="3242733" y="4840090"/>
            <a:ext cx="653299" cy="3719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955963" y="5977831"/>
            <a:ext cx="61845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 : k-common repeated substring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: O(n)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366345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586</TotalTime>
  <Words>2046</Words>
  <Application>Microsoft Office PowerPoint</Application>
  <PresentationFormat>寬螢幕</PresentationFormat>
  <Paragraphs>686</Paragraphs>
  <Slides>28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28</vt:i4>
      </vt:variant>
    </vt:vector>
  </HeadingPairs>
  <TitlesOfParts>
    <vt:vector size="34" baseType="lpstr">
      <vt:lpstr>Arial</vt:lpstr>
      <vt:lpstr>Calibri</vt:lpstr>
      <vt:lpstr>Calibri Light</vt:lpstr>
      <vt:lpstr>Cambria Math</vt:lpstr>
      <vt:lpstr>Times New Roman</vt:lpstr>
      <vt:lpstr>Office 佈景主題</vt:lpstr>
      <vt:lpstr>Linear Time Algorithms for Generalizations of the Longest Common Substring Problem </vt:lpstr>
      <vt:lpstr>Abstract(1/2)</vt:lpstr>
      <vt:lpstr>Abstract(2/2)</vt:lpstr>
      <vt:lpstr>Longest common substring</vt:lpstr>
      <vt:lpstr>k-common substring problem</vt:lpstr>
      <vt:lpstr>k-common repeated substring problem</vt:lpstr>
      <vt:lpstr>Longest common prefix </vt:lpstr>
      <vt:lpstr>Longest common prefix </vt:lpstr>
      <vt:lpstr>k-common substring problem</vt:lpstr>
      <vt:lpstr>k-common substring problem</vt:lpstr>
      <vt:lpstr>k-common substring problem</vt:lpstr>
      <vt:lpstr>k-common substring problem</vt:lpstr>
      <vt:lpstr>k-common substring problem</vt:lpstr>
      <vt:lpstr>k-common substring problem</vt:lpstr>
      <vt:lpstr>k-common substring problem</vt:lpstr>
      <vt:lpstr>k-common substring problem</vt:lpstr>
      <vt:lpstr>k-common substring problem</vt:lpstr>
      <vt:lpstr>k-common substring problem</vt:lpstr>
      <vt:lpstr>k-common substring problem</vt:lpstr>
      <vt:lpstr>k-common substring problem</vt:lpstr>
      <vt:lpstr>k-common substring problem</vt:lpstr>
      <vt:lpstr>k-common substring problem</vt:lpstr>
      <vt:lpstr>Time complexity : k-common substring problem </vt:lpstr>
      <vt:lpstr>Improve k-common substring problem</vt:lpstr>
      <vt:lpstr>Improve k-common substring problem</vt:lpstr>
      <vt:lpstr>Improve k-common substring problem</vt:lpstr>
      <vt:lpstr>Time complexity : Improve k-common substring problem </vt:lpstr>
      <vt:lpstr>k-common repeated substring problem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Time Algorithms for Generalizations of the Longest Common Substring Problem</dc:title>
  <dc:creator>Alex</dc:creator>
  <cp:lastModifiedBy>pplab</cp:lastModifiedBy>
  <cp:revision>45</cp:revision>
  <dcterms:created xsi:type="dcterms:W3CDTF">2020-09-07T07:18:54Z</dcterms:created>
  <dcterms:modified xsi:type="dcterms:W3CDTF">2020-09-08T11:36:33Z</dcterms:modified>
</cp:coreProperties>
</file>