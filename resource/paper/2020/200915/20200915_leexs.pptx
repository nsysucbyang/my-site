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373" r:id="rId4"/>
    <p:sldId id="257" r:id="rId5"/>
    <p:sldId id="258" r:id="rId6"/>
    <p:sldId id="259" r:id="rId7"/>
    <p:sldId id="260" r:id="rId8"/>
    <p:sldId id="261" r:id="rId9"/>
    <p:sldId id="384" r:id="rId10"/>
    <p:sldId id="383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836" autoAdjust="0"/>
  </p:normalViewPr>
  <p:slideViewPr>
    <p:cSldViewPr snapToGrid="0">
      <p:cViewPr varScale="1">
        <p:scale>
          <a:sx n="81" d="100"/>
          <a:sy n="81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E300D3-02A7-411C-9CBA-378B77D9A9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D1417BE-1C9E-43A9-A3E2-2814ABE863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23D673-BAAB-473E-AD23-408B4753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B02A-9BD5-49FC-8F9D-B42EA14D362A}" type="datetimeFigureOut">
              <a:rPr lang="zh-TW" altLang="en-US" smtClean="0"/>
              <a:t>2020/9/15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03EA66-5A23-4058-BDC9-57014CDC2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B5AC94-384A-457F-BC3D-0191A182C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00CE-C816-48B1-986D-9C5C063FD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6370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079BFF-B393-4FF6-A084-661B320D8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6E9D15-5E49-484C-8F5C-05088BEFC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CB2F34-1BD0-4951-9D61-98A587DD9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B02A-9BD5-49FC-8F9D-B42EA14D362A}" type="datetimeFigureOut">
              <a:rPr lang="zh-TW" altLang="en-US" smtClean="0"/>
              <a:t>2020/9/15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CEDAFC-0764-46BA-9B1A-63395C819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BFF2C25-B759-40E1-912B-252D64DD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00CE-C816-48B1-986D-9C5C063FD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615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0DBD06-F078-4CBF-B360-1B8C2A033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2CBB278-1A6E-4DD2-99FD-8D67A3603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00A3D4-4C26-454F-9BCE-DEDF8DAB1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B02A-9BD5-49FC-8F9D-B42EA14D362A}" type="datetimeFigureOut">
              <a:rPr lang="zh-TW" altLang="en-US" smtClean="0"/>
              <a:t>2020/9/15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FE6E31-F287-4AC8-818B-AAC358302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E51CFF-DE65-49A6-9C09-A8E47E556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00CE-C816-48B1-986D-9C5C063FD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297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0565F6-AD40-4D1A-B7DD-8378143D7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20AF78-DD9B-48EA-B36D-F8402BC4D5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C2C49B1-0FFB-4FAC-8668-9A4B5287C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8649E6-C65B-4F69-85C1-472FFA13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B02A-9BD5-49FC-8F9D-B42EA14D362A}" type="datetimeFigureOut">
              <a:rPr lang="zh-TW" altLang="en-US" smtClean="0"/>
              <a:t>2020/9/15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9B0F45A-FD97-4526-940A-E0EA38AD4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233FF57-A0AA-41FA-BC58-DFA110846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00CE-C816-48B1-986D-9C5C063FD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9250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0E1721-D6BE-46DE-B89A-CDE531F61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617F082-179F-4C0B-968B-99987E9F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BD765B3-EE24-4C7B-8494-6B00D9581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87A30D0-2E85-460C-9D6E-F518FE841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C5C58E1-E542-4CE3-A0F5-1FE552836F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3775C77-851E-4BFA-A227-2C0D8C3AA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B02A-9BD5-49FC-8F9D-B42EA14D362A}" type="datetimeFigureOut">
              <a:rPr lang="zh-TW" altLang="en-US" smtClean="0"/>
              <a:t>2020/9/15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FB18234-D58D-41D5-A51F-D7C3EE2D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425AC52-321C-4E6E-B3E2-4FC26C45F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00CE-C816-48B1-986D-9C5C063FD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5569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C3339C-248A-495A-AA31-A1CDED689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14FA940-051B-48CA-B846-14DC19046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B02A-9BD5-49FC-8F9D-B42EA14D362A}" type="datetimeFigureOut">
              <a:rPr lang="zh-TW" altLang="en-US" smtClean="0"/>
              <a:t>2020/9/15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C37E1B-AF55-4ECA-8DE7-6C2C81D77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6F766A-5A48-4BAA-A16C-2DC66D915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00CE-C816-48B1-986D-9C5C063FD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9292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AB560A0-4B1B-4FE2-9F6E-3CD55E147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B02A-9BD5-49FC-8F9D-B42EA14D362A}" type="datetimeFigureOut">
              <a:rPr lang="zh-TW" altLang="en-US" smtClean="0"/>
              <a:t>2020/9/15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7510044-01AD-4A79-9E91-336489091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B86D6F-9BCE-4EAC-95FA-E2B830250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00CE-C816-48B1-986D-9C5C063FD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9852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C6DE50-B05A-4446-9A84-B8C8FDBFE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F0C5FA-F90C-4944-87F1-0A00718F0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03B771B-C69C-44C6-A66B-A60DCE9C0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8967DFA-B84B-4B35-A97B-119F07331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B02A-9BD5-49FC-8F9D-B42EA14D362A}" type="datetimeFigureOut">
              <a:rPr lang="zh-TW" altLang="en-US" smtClean="0"/>
              <a:t>2020/9/15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73FF2C-7CEB-4EC5-93E7-BE384FDFB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5CC2B94-23CA-4AF8-8E7B-32376953E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00CE-C816-48B1-986D-9C5C063FD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713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DEC59F-0740-4A12-8C43-78491BACD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726AF4F-AD53-4897-A49D-2E103CC95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87EA29-BF3E-4439-ADBE-AB8DA625F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CAC1694-0743-41E9-B9EA-DD687C674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B02A-9BD5-49FC-8F9D-B42EA14D362A}" type="datetimeFigureOut">
              <a:rPr lang="zh-TW" altLang="en-US" smtClean="0"/>
              <a:t>2020/9/15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0DEE212-E872-4424-9546-EDCC698C0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CAA726-43E0-404A-86D4-8BFD0DB7C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00CE-C816-48B1-986D-9C5C063FD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817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F5BDF2-F875-4DD0-BE74-498B41523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071E340-7FC3-42A5-8565-856467A3A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1EEE0C-2B1F-4464-948E-420C38C52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B02A-9BD5-49FC-8F9D-B42EA14D362A}" type="datetimeFigureOut">
              <a:rPr lang="zh-TW" altLang="en-US" smtClean="0"/>
              <a:t>2020/9/15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ABA86A-C405-4E49-8727-FCE2AF27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FC04558-6318-4D39-B93A-446EEED3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00CE-C816-48B1-986D-9C5C063FD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2578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637120A-1F01-4AA6-A4E4-FCB79A2C9C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BA9818D-B1C8-4126-8B19-E80FA363E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AC3103-0E2E-4D46-8A09-03B934BD7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B02A-9BD5-49FC-8F9D-B42EA14D362A}" type="datetimeFigureOut">
              <a:rPr lang="zh-TW" altLang="en-US" smtClean="0"/>
              <a:t>2020/9/15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2BC0F0-75A6-4B66-9BDB-008D9A1C9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4E3EB4-CD72-49C7-A7A4-5979FE06C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00CE-C816-48B1-986D-9C5C063FD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9459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592E8BD-7859-4E27-BBBA-46F28291E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16A9B4-CDD9-4DEC-8FB9-EE3DC8128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F66D1C-84D9-4438-9271-51C5898A3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CB02A-9BD5-49FC-8F9D-B42EA14D362A}" type="datetimeFigureOut">
              <a:rPr lang="zh-TW" altLang="en-US" smtClean="0"/>
              <a:t>2020/9/15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A93B76-8DDC-4A10-97A4-FAAA0552F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596A5E-F3F1-46A2-BE73-984212CC9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700CE-C816-48B1-986D-9C5C063FD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582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5218E7-55DB-4716-8073-FDA827EE2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3663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Resequencing a Set of Strings Based on a Target String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343B4AD-6C49-478E-B872-1846DA0E1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Chih-En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Yue-Li Wang · Jia-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Liu · Ming-Tat Ko</a:t>
            </a:r>
            <a:endParaRPr lang="en-US" altLang="zh-TW" sz="240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baseline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Algorithmica</a:t>
            </a:r>
            <a:r>
              <a:rPr lang="en-US" altLang="zh-TW" sz="240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72, No. 2, pp. 430-449, 2015.</a:t>
            </a:r>
          </a:p>
          <a:p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DF9996-C38A-489D-A84B-F0B48A69D75F}"/>
              </a:ext>
            </a:extLst>
          </p:cNvPr>
          <p:cNvSpPr/>
          <p:nvPr/>
        </p:nvSpPr>
        <p:spPr>
          <a:xfrm>
            <a:off x="8251595" y="5367846"/>
            <a:ext cx="35601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Shao-Xuan Lee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Sep. 15, 2020</a:t>
            </a:r>
          </a:p>
        </p:txBody>
      </p:sp>
    </p:spTree>
    <p:extLst>
      <p:ext uri="{BB962C8B-B14F-4D97-AF65-F5344CB8AC3E}">
        <p14:creationId xmlns:p14="http://schemas.microsoft.com/office/powerpoint/2010/main" val="405114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內容版面配置區 2">
                <a:extLst>
                  <a:ext uri="{FF2B5EF4-FFF2-40B4-BE49-F238E27FC236}">
                    <a16:creationId xmlns:a16="http://schemas.microsoft.com/office/drawing/2014/main" id="{B735891F-66D7-4B18-9230-A95B21A2EB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195" y="759314"/>
                <a:ext cx="10751609" cy="4692242"/>
              </a:xfrm>
              <a:prstGeom prst="rect">
                <a:avLst/>
              </a:prstGeom>
            </p:spPr>
            <p:txBody>
              <a:bodyPr vert="horz" lIns="91440" tIns="45720" rIns="91440" bIns="45720" rtlCol="0" anchor="t" anchorCtr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set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. . . ,</m:t>
                    </m:r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strings, a text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a natural number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find a string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which is a concatenation of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strings (not necessarily distinct, i.e., a string in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may occur more than once in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from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whose longest common subsequence with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largest, where a string in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may occur more than once in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Such a string is called a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-inlay. The resequencing longest common subsequence problem is to find a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-inlay for each query with parameter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given. In this paper, we propose an algorithm for solving this problem which takes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𝑛𝑚𝑙</m:t>
                        </m:r>
                      </m:e>
                    </m:d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preprocessing time and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𝜗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query time for each query with parameter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length of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maximal length of strings in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𝜗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length of the longest common subsequence between a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-inlay and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Font typeface="Arial" panose="020B0604020202020204" pitchFamily="34" charset="0"/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內容版面配置區 2">
                <a:extLst>
                  <a:ext uri="{FF2B5EF4-FFF2-40B4-BE49-F238E27FC236}">
                    <a16:creationId xmlns:a16="http://schemas.microsoft.com/office/drawing/2014/main" id="{B735891F-66D7-4B18-9230-A95B21A2E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95" y="759314"/>
                <a:ext cx="10751609" cy="4692242"/>
              </a:xfrm>
              <a:prstGeom prst="rect">
                <a:avLst/>
              </a:prstGeom>
              <a:blipFill>
                <a:blip r:embed="rId2"/>
                <a:stretch>
                  <a:fillRect l="-850" r="-907" b="-206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1">
            <a:extLst>
              <a:ext uri="{FF2B5EF4-FFF2-40B4-BE49-F238E27FC236}">
                <a16:creationId xmlns:a16="http://schemas.microsoft.com/office/drawing/2014/main" id="{BD02D264-FCDA-4EB0-AD75-1AD7029BE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15" y="0"/>
            <a:ext cx="1653233" cy="95210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29440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Mosaic LCS problem (Resequencing LCS problem)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3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40714F94-0A18-45FC-8914-E664801697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005012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={</m:t>
                    </m:r>
                    <m:r>
                      <a:rPr lang="en-US" altLang="zh-TW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𝑎𝑔𝑐</m:t>
                    </m:r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𝑎𝑐𝑡</m:t>
                    </m:r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𝑎𝑎𝑡𝑔</m:t>
                    </m:r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𝑡𝑡𝑐𝑔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𝑎𝑔𝑎𝑐𝑡𝑎𝑔𝑡𝑐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4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𝑎𝑔𝑐</m:t>
                    </m:r>
                    <m:r>
                      <a:rPr lang="en-US" altLang="zh-TW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𝑎𝑐𝑡</m:t>
                    </m:r>
                    <m:r>
                      <a:rPr lang="en-US" altLang="zh-TW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𝑎𝑔𝑐</m:t>
                    </m:r>
                    <m:r>
                      <a:rPr lang="en-US" altLang="zh-TW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𝑡𝑡𝑐𝑔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LCS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𝜗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=9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40714F94-0A18-45FC-8914-E66480169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05012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8863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ACC099D-C45E-4447-918C-7AACC1306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006" y="1714548"/>
            <a:ext cx="6433946" cy="4533900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19C94640-45CB-4C8A-98B8-9C3AB9FEEAAA}"/>
              </a:ext>
            </a:extLst>
          </p:cNvPr>
          <p:cNvSpPr txBox="1">
            <a:spLocks/>
          </p:cNvSpPr>
          <p:nvPr/>
        </p:nvSpPr>
        <p:spPr>
          <a:xfrm>
            <a:off x="567528" y="365126"/>
            <a:ext cx="3613412" cy="7849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Formosa1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D15671A-1A50-4AF7-BAE8-932AA1C2D64E}"/>
              </a:ext>
            </a:extLst>
          </p:cNvPr>
          <p:cNvSpPr txBox="1"/>
          <p:nvPr/>
        </p:nvSpPr>
        <p:spPr>
          <a:xfrm>
            <a:off x="5232871" y="359517"/>
            <a:ext cx="6633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Huang, K.S., Yang, C.B., Tseng, K.T., Peng, Y.H., Ann, H.Y., Dynamic programming algorithms for the mosaic longest common subsequence problem. (2007)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7835D8-C252-4691-8ACA-8A610527083F}"/>
                  </a:ext>
                </a:extLst>
              </p:cNvPr>
              <p:cNvSpPr txBox="1"/>
              <p:nvPr/>
            </p:nvSpPr>
            <p:spPr>
              <a:xfrm>
                <a:off x="629841" y="1209664"/>
                <a:ext cx="609361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={</m:t>
                      </m:r>
                      <m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𝑎𝑔𝑐</m:t>
                      </m:r>
                      <m:r>
                        <a:rPr lang="en-US" altLang="zh-TW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𝑎𝑐𝑡</m:t>
                      </m:r>
                      <m:r>
                        <a:rPr lang="en-US" altLang="zh-TW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𝑎𝑎𝑡𝑔</m:t>
                      </m:r>
                      <m:r>
                        <a:rPr lang="en-US" altLang="zh-TW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𝑡𝑡𝑐𝑔</m:t>
                      </m:r>
                      <m:r>
                        <a:rPr lang="en-US" altLang="zh-TW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𝑎𝑔𝑎𝑐𝑡𝑎𝑔𝑡𝑐</m:t>
                      </m:r>
                    </m:oMath>
                  </m:oMathPara>
                </a14:m>
                <a:endPara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97835D8-C252-4691-8ACA-8A6105270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41" y="1209664"/>
                <a:ext cx="6093618" cy="830997"/>
              </a:xfrm>
              <a:prstGeom prst="rect">
                <a:avLst/>
              </a:prstGeom>
              <a:blipFill>
                <a:blip r:embed="rId3"/>
                <a:stretch>
                  <a:fillRect l="-200" b="-80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6A367EFA-E6CC-4D5B-B6B5-8ECE280B1255}"/>
                  </a:ext>
                </a:extLst>
              </p:cNvPr>
              <p:cNvSpPr txBox="1"/>
              <p:nvPr/>
            </p:nvSpPr>
            <p:spPr>
              <a:xfrm>
                <a:off x="653895" y="5922334"/>
                <a:ext cx="4037815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TW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400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𝑚𝑙</m:t>
                        </m:r>
                      </m:e>
                    </m:d>
                  </m:oMath>
                </a14:m>
                <a:br>
                  <a:rPr lang="en-US" altLang="zh-TW" sz="2800" b="0" i="0" dirty="0">
                    <a:latin typeface="Cambria Math" panose="02040503050406030204" pitchFamily="18" charset="0"/>
                  </a:rPr>
                </a:br>
                <a:endParaRPr lang="en-US" altLang="zh-TW" sz="2800" b="0" dirty="0"/>
              </a:p>
            </p:txBody>
          </p:sp>
        </mc:Choice>
        <mc:Fallback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6A367EFA-E6CC-4D5B-B6B5-8ECE280B1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95" y="5922334"/>
                <a:ext cx="4037815" cy="892552"/>
              </a:xfrm>
              <a:prstGeom prst="rect">
                <a:avLst/>
              </a:prstGeom>
              <a:blipFill>
                <a:blip r:embed="rId4"/>
                <a:stretch>
                  <a:fillRect l="-2262" t="-54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9476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C0A0D82-4CB8-4214-BC35-737B89632E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245140"/>
            <a:ext cx="5837519" cy="4171800"/>
          </a:xfr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781D220-4062-4F46-A756-FB07D9217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81" y="157487"/>
            <a:ext cx="8093667" cy="208765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3A3757C-35B2-46BB-96C1-3F2689F5E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81" y="2179853"/>
            <a:ext cx="5837519" cy="41136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E170172-96EE-41D3-8628-98DD2B04AEC1}"/>
                  </a:ext>
                </a:extLst>
              </p:cNvPr>
              <p:cNvSpPr txBox="1"/>
              <p:nvPr/>
            </p:nvSpPr>
            <p:spPr>
              <a:xfrm>
                <a:off x="6755641" y="1306361"/>
                <a:ext cx="47630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unc>
                      <m:func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func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800" b="0" dirty="0"/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E170172-96EE-41D3-8628-98DD2B04A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641" y="1306361"/>
                <a:ext cx="4763099" cy="523220"/>
              </a:xfrm>
              <a:prstGeom prst="rect">
                <a:avLst/>
              </a:prstGeom>
              <a:blipFill>
                <a:blip r:embed="rId5"/>
                <a:stretch>
                  <a:fillRect l="-2558" t="-12791" b="-302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橢圓 9">
            <a:extLst>
              <a:ext uri="{FF2B5EF4-FFF2-40B4-BE49-F238E27FC236}">
                <a16:creationId xmlns:a16="http://schemas.microsoft.com/office/drawing/2014/main" id="{B296C946-79C4-4422-9426-6F9709CF4B34}"/>
              </a:ext>
            </a:extLst>
          </p:cNvPr>
          <p:cNvSpPr/>
          <p:nvPr/>
        </p:nvSpPr>
        <p:spPr>
          <a:xfrm>
            <a:off x="9014759" y="2856322"/>
            <a:ext cx="471340" cy="43363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7B44483-64A2-4FD0-849B-BC055E41870E}"/>
              </a:ext>
            </a:extLst>
          </p:cNvPr>
          <p:cNvSpPr/>
          <p:nvPr/>
        </p:nvSpPr>
        <p:spPr>
          <a:xfrm>
            <a:off x="1767117" y="2922309"/>
            <a:ext cx="448181" cy="367646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744389E-50F7-424C-B359-5284678285ED}"/>
              </a:ext>
            </a:extLst>
          </p:cNvPr>
          <p:cNvSpPr/>
          <p:nvPr/>
        </p:nvSpPr>
        <p:spPr>
          <a:xfrm>
            <a:off x="3129116" y="3256961"/>
            <a:ext cx="448181" cy="325225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C40D9F4C-FDCF-4AB0-9C05-AB8F3188AA10}"/>
              </a:ext>
            </a:extLst>
          </p:cNvPr>
          <p:cNvSpPr/>
          <p:nvPr/>
        </p:nvSpPr>
        <p:spPr>
          <a:xfrm>
            <a:off x="2215298" y="2919952"/>
            <a:ext cx="448181" cy="367646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E631674A-4D5F-4132-B45D-AFB6C506D38B}"/>
              </a:ext>
            </a:extLst>
          </p:cNvPr>
          <p:cNvSpPr/>
          <p:nvPr/>
        </p:nvSpPr>
        <p:spPr>
          <a:xfrm>
            <a:off x="3129116" y="3582186"/>
            <a:ext cx="448181" cy="276199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190BE32C-499A-4CC8-8E42-3D1EC7298C93}"/>
              </a:ext>
            </a:extLst>
          </p:cNvPr>
          <p:cNvSpPr/>
          <p:nvPr/>
        </p:nvSpPr>
        <p:spPr>
          <a:xfrm>
            <a:off x="2680935" y="2910526"/>
            <a:ext cx="448181" cy="367646"/>
          </a:xfrm>
          <a:prstGeom prst="ellipse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4EF7EC9B-E2A9-4ACD-B05B-D7AE7BA598CA}"/>
              </a:ext>
            </a:extLst>
          </p:cNvPr>
          <p:cNvSpPr/>
          <p:nvPr/>
        </p:nvSpPr>
        <p:spPr>
          <a:xfrm>
            <a:off x="3129115" y="3869011"/>
            <a:ext cx="448181" cy="367646"/>
          </a:xfrm>
          <a:prstGeom prst="ellipse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F197B82A-C84D-48E9-9217-EC14C5451219}"/>
              </a:ext>
            </a:extLst>
          </p:cNvPr>
          <p:cNvSpPr/>
          <p:nvPr/>
        </p:nvSpPr>
        <p:spPr>
          <a:xfrm>
            <a:off x="3129115" y="2908168"/>
            <a:ext cx="448181" cy="367646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0DBFF836-10F6-48BB-AA17-670879B45518}"/>
              </a:ext>
            </a:extLst>
          </p:cNvPr>
          <p:cNvSpPr/>
          <p:nvPr/>
        </p:nvSpPr>
        <p:spPr>
          <a:xfrm>
            <a:off x="3129115" y="4183610"/>
            <a:ext cx="448181" cy="367646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3429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1942181-C050-42DC-A6F7-694462CCD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782" y="1460375"/>
            <a:ext cx="3349096" cy="4839915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8C3CDEE5-6435-4508-BACA-6A79820968C6}"/>
              </a:ext>
            </a:extLst>
          </p:cNvPr>
          <p:cNvSpPr txBox="1">
            <a:spLocks/>
          </p:cNvSpPr>
          <p:nvPr/>
        </p:nvSpPr>
        <p:spPr>
          <a:xfrm>
            <a:off x="592793" y="383505"/>
            <a:ext cx="6328331" cy="8799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mosaic1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BBBCB70-D807-4607-869E-113766B65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23" y="1626960"/>
            <a:ext cx="6223879" cy="4385870"/>
          </a:xfrm>
          <a:prstGeom prst="rect">
            <a:avLst/>
          </a:prstGeom>
        </p:spPr>
      </p:pic>
      <p:sp>
        <p:nvSpPr>
          <p:cNvPr id="8" name="箭號: 向右 7">
            <a:extLst>
              <a:ext uri="{FF2B5EF4-FFF2-40B4-BE49-F238E27FC236}">
                <a16:creationId xmlns:a16="http://schemas.microsoft.com/office/drawing/2014/main" id="{4997CA3F-5D8E-41B6-B321-5EA302788382}"/>
              </a:ext>
            </a:extLst>
          </p:cNvPr>
          <p:cNvSpPr/>
          <p:nvPr/>
        </p:nvSpPr>
        <p:spPr>
          <a:xfrm>
            <a:off x="6921124" y="3553905"/>
            <a:ext cx="724014" cy="2733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CDC3D6E-9220-45D2-B91F-270A5D2E69E5}"/>
                  </a:ext>
                </a:extLst>
              </p:cNvPr>
              <p:cNvSpPr txBox="1"/>
              <p:nvPr/>
            </p:nvSpPr>
            <p:spPr>
              <a:xfrm>
                <a:off x="592793" y="6012830"/>
                <a:ext cx="40378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𝑛𝑚𝑙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CDC3D6E-9220-45D2-B91F-270A5D2E6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93" y="6012830"/>
                <a:ext cx="4037815" cy="461665"/>
              </a:xfrm>
              <a:prstGeom prst="rect">
                <a:avLst/>
              </a:prstGeom>
              <a:blipFill>
                <a:blip r:embed="rId4"/>
                <a:stretch>
                  <a:fillRect l="-2262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30E9B07D-7455-4E9F-8967-4E24AC1D07BE}"/>
              </a:ext>
            </a:extLst>
          </p:cNvPr>
          <p:cNvSpPr txBox="1"/>
          <p:nvPr/>
        </p:nvSpPr>
        <p:spPr>
          <a:xfrm>
            <a:off x="5504778" y="383505"/>
            <a:ext cx="65709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Alves, C.E.R.,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Cáceres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E.N., Song, S.W., An all-substrings common subsequence algorithm (2008)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155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E10133A9-A51C-4B3D-9151-651F6924F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03" y="522904"/>
            <a:ext cx="2982684" cy="431039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6885E2B-FB5F-44E5-8E9C-A42CE441C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113" y="221084"/>
            <a:ext cx="6135137" cy="420464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827F311-7534-4AF1-B444-4EC5CF032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2766" y="3898864"/>
            <a:ext cx="4023949" cy="2236567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F027D5E-3708-4805-B94D-3C53B796A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908674"/>
              </p:ext>
            </p:extLst>
          </p:nvPr>
        </p:nvGraphicFramePr>
        <p:xfrm>
          <a:off x="5158178" y="6054398"/>
          <a:ext cx="282633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1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590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39D2724D-7663-452E-9C3F-304328F276B5}"/>
              </a:ext>
            </a:extLst>
          </p:cNvPr>
          <p:cNvSpPr/>
          <p:nvPr/>
        </p:nvSpPr>
        <p:spPr>
          <a:xfrm>
            <a:off x="5158178" y="6054398"/>
            <a:ext cx="2826330" cy="365760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5731C4C-2703-4600-96C2-371967E4880C}"/>
              </a:ext>
            </a:extLst>
          </p:cNvPr>
          <p:cNvSpPr/>
          <p:nvPr/>
        </p:nvSpPr>
        <p:spPr>
          <a:xfrm>
            <a:off x="6677899" y="638666"/>
            <a:ext cx="448181" cy="367646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DEB44629-A4A1-4CA7-BE21-D97EF05E0255}"/>
              </a:ext>
            </a:extLst>
          </p:cNvPr>
          <p:cNvSpPr/>
          <p:nvPr/>
        </p:nvSpPr>
        <p:spPr>
          <a:xfrm>
            <a:off x="7216797" y="638666"/>
            <a:ext cx="448182" cy="367646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FC790843-8AB3-49F3-BBC3-9E375741577D}"/>
              </a:ext>
            </a:extLst>
          </p:cNvPr>
          <p:cNvSpPr/>
          <p:nvPr/>
        </p:nvSpPr>
        <p:spPr>
          <a:xfrm>
            <a:off x="8216715" y="638666"/>
            <a:ext cx="448181" cy="367646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1C2C7CE5-9BF9-445F-A004-BC6B63B19C2C}"/>
              </a:ext>
            </a:extLst>
          </p:cNvPr>
          <p:cNvSpPr/>
          <p:nvPr/>
        </p:nvSpPr>
        <p:spPr>
          <a:xfrm>
            <a:off x="9705982" y="638666"/>
            <a:ext cx="448181" cy="367646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1411D1B-B90A-48AB-8D07-F86014B36DB5}"/>
                  </a:ext>
                </a:extLst>
              </p:cNvPr>
              <p:cNvSpPr txBox="1"/>
              <p:nvPr/>
            </p:nvSpPr>
            <p:spPr>
              <a:xfrm>
                <a:off x="241244" y="6135431"/>
                <a:ext cx="60944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: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𝜗</m:t>
                        </m:r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1411D1B-B90A-48AB-8D07-F86014B36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44" y="6135431"/>
                <a:ext cx="6094428" cy="461665"/>
              </a:xfrm>
              <a:prstGeom prst="rect">
                <a:avLst/>
              </a:prstGeom>
              <a:blipFill>
                <a:blip r:embed="rId5"/>
                <a:stretch>
                  <a:fillRect l="-1602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680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417C6790-E2E0-4827-B613-9EEF7FD65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1595" y="1223243"/>
            <a:ext cx="4508699" cy="4644577"/>
          </a:xfr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0EEE9F2-EEB6-490B-B254-79982F6BC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727" y="941121"/>
            <a:ext cx="3349096" cy="483991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7D9D113-15DA-4FC7-9621-402DE3F0AB96}"/>
              </a:ext>
            </a:extLst>
          </p:cNvPr>
          <p:cNvSpPr/>
          <p:nvPr/>
        </p:nvSpPr>
        <p:spPr>
          <a:xfrm>
            <a:off x="7701699" y="1953738"/>
            <a:ext cx="2884606" cy="365760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A2FC5590-083C-46BD-8C0B-537D729801C1}"/>
              </a:ext>
            </a:extLst>
          </p:cNvPr>
          <p:cNvSpPr/>
          <p:nvPr/>
        </p:nvSpPr>
        <p:spPr>
          <a:xfrm>
            <a:off x="5196392" y="3087702"/>
            <a:ext cx="724014" cy="2733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66DFD7F4-D7AF-4BA3-89FB-F882E8841DCC}"/>
                  </a:ext>
                </a:extLst>
              </p:cNvPr>
              <p:cNvSpPr/>
              <p:nvPr/>
            </p:nvSpPr>
            <p:spPr>
              <a:xfrm>
                <a:off x="4937652" y="3545531"/>
                <a:ext cx="124149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𝑂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66DFD7F4-D7AF-4BA3-89FB-F882E8841D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652" y="3545531"/>
                <a:ext cx="1241494" cy="461665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49B17A5B-874C-4D2E-A283-E224017BB561}"/>
                  </a:ext>
                </a:extLst>
              </p:cNvPr>
              <p:cNvSpPr txBox="1"/>
              <p:nvPr/>
            </p:nvSpPr>
            <p:spPr>
              <a:xfrm>
                <a:off x="3603396" y="6052272"/>
                <a:ext cx="60944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: </a:t>
                </a:r>
                <a14:m>
                  <m:oMath xmlns:m="http://schemas.openxmlformats.org/officeDocument/2006/math"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zh-TW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𝜗</m:t>
                        </m:r>
                      </m:e>
                      <m:sub>
                        <m:r>
                          <a:rPr lang="en-US" altLang="zh-TW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func>
                      <m:funcPr>
                        <m:ctrlPr>
                          <a:rPr lang="en-US" altLang="zh-TW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func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49B17A5B-874C-4D2E-A283-E224017BB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396" y="6052272"/>
                <a:ext cx="6094428" cy="523220"/>
              </a:xfrm>
              <a:prstGeom prst="rect">
                <a:avLst/>
              </a:prstGeom>
              <a:blipFill>
                <a:blip r:embed="rId5"/>
                <a:stretch>
                  <a:fillRect l="-2000" t="-12791" b="-3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8756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7372" y="36804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mosaic2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/>
              <p:cNvSpPr txBox="1"/>
              <p:nvPr/>
            </p:nvSpPr>
            <p:spPr>
              <a:xfrm>
                <a:off x="1581506" y="1816158"/>
                <a:ext cx="7921501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Preprocessing time : </a:t>
                </a:r>
                <a14:m>
                  <m:oMath xmlns:m="http://schemas.openxmlformats.org/officeDocument/2006/math"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8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𝑛𝑚𝑙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Query time : </a:t>
                </a:r>
                <a14:m>
                  <m:oMath xmlns:m="http://schemas.openxmlformats.org/officeDocument/2006/math"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𝜗</m:t>
                        </m:r>
                      </m:e>
                      <m:sub>
                        <m:r>
                          <a:rPr lang="en-US" altLang="zh-TW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</a:t>
                </a:r>
                <a14:m>
                  <m:oMath xmlns:m="http://schemas.openxmlformats.org/officeDocument/2006/math"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any prefix of </a:t>
                </a:r>
                <a14:m>
                  <m:oMath xmlns:m="http://schemas.openxmlformats.org/officeDocument/2006/math"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506" y="1816158"/>
                <a:ext cx="7921501" cy="2677656"/>
              </a:xfrm>
              <a:prstGeom prst="rect">
                <a:avLst/>
              </a:prstGeom>
              <a:blipFill>
                <a:blip r:embed="rId2"/>
                <a:stretch>
                  <a:fillRect l="-1385" t="-25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3707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38747"/>
                <a:ext cx="10515600" cy="3434532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Formosa1 :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𝑚𝑙</m:t>
                    </m:r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func>
                      <m:func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func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Mosaic1 :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𝑛𝑚𝑙</m:t>
                    </m:r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𝜗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func>
                      <m:func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func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𝑚𝑜𝑠𝑎𝑖𝑐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all substrings of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endPara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Mosaic2 :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𝑛𝑚𝑙</m:t>
                    </m:r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𝜗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Find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𝑚𝑜𝑠𝑎𝑖𝑐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</m:t>
                    </m:r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all prefix of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endPara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38747"/>
                <a:ext cx="10515600" cy="3434532"/>
              </a:xfrm>
              <a:blipFill>
                <a:blip r:embed="rId2"/>
                <a:stretch>
                  <a:fillRect l="-812" t="-24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2110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486</Words>
  <Application>Microsoft Office PowerPoint</Application>
  <PresentationFormat>寬螢幕</PresentationFormat>
  <Paragraphs>50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Office 佈景主題</vt:lpstr>
      <vt:lpstr>Resequencing a Set of Strings Based on a Target String</vt:lpstr>
      <vt:lpstr>Abstract</vt:lpstr>
      <vt:lpstr>Mosaic LCS problem (Resequencing LCS problem)</vt:lpstr>
      <vt:lpstr>PowerPoint 簡報</vt:lpstr>
      <vt:lpstr>PowerPoint 簡報</vt:lpstr>
      <vt:lpstr>PowerPoint 簡報</vt:lpstr>
      <vt:lpstr>PowerPoint 簡報</vt:lpstr>
      <vt:lpstr>PowerPoint 簡報</vt:lpstr>
      <vt:lpstr>Algorithm mosaic2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Resequencing a Set of Strings Based on a Target String</dc:title>
  <dc:creator>M083040080</dc:creator>
  <cp:lastModifiedBy>M083040080</cp:lastModifiedBy>
  <cp:revision>9</cp:revision>
  <dcterms:created xsi:type="dcterms:W3CDTF">2020-09-15T04:07:43Z</dcterms:created>
  <dcterms:modified xsi:type="dcterms:W3CDTF">2020-09-15T09:59:55Z</dcterms:modified>
</cp:coreProperties>
</file>