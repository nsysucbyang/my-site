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258" r:id="rId4"/>
    <p:sldId id="259" r:id="rId5"/>
    <p:sldId id="260" r:id="rId6"/>
    <p:sldId id="261" r:id="rId7"/>
    <p:sldId id="262" r:id="rId8"/>
    <p:sldId id="264" r:id="rId9"/>
    <p:sldId id="265" r:id="rId10"/>
    <p:sldId id="267" r:id="rId11"/>
    <p:sldId id="266" r:id="rId12"/>
    <p:sldId id="268" r:id="rId13"/>
    <p:sldId id="269" r:id="rId14"/>
    <p:sldId id="270"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樣式 2 - 輔色 5/輔色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notesViewPr>
    <p:cSldViewPr>
      <p:cViewPr varScale="1">
        <p:scale>
          <a:sx n="71" d="100"/>
          <a:sy n="71" d="100"/>
        </p:scale>
        <p:origin x="-1524"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166B7FD-63D6-4CAD-AE61-AEEB541CE378}" type="datetimeFigureOut">
              <a:rPr lang="zh-TW" altLang="en-US" smtClean="0"/>
              <a:pPr/>
              <a:t>2020/9/15</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7E2EEE5-A926-4A46-B52C-E399A6E6D7FB}" type="slidenum">
              <a:rPr lang="zh-TW" altLang="en-US" smtClean="0"/>
              <a:pPr/>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1FAC6A-9D50-4376-B17E-FEEBC3DE55DA}" type="datetimeFigureOut">
              <a:rPr lang="zh-TW" altLang="en-US" smtClean="0"/>
              <a:pPr/>
              <a:t>2020/9/15</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FE4497-9F05-47FD-AD59-8B45AECA419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dirty="0"/>
          </a:p>
        </p:txBody>
      </p:sp>
      <p:sp>
        <p:nvSpPr>
          <p:cNvPr id="4" name="投影片編號版面配置區 3"/>
          <p:cNvSpPr>
            <a:spLocks noGrp="1"/>
          </p:cNvSpPr>
          <p:nvPr>
            <p:ph type="sldNum" sz="quarter" idx="10"/>
          </p:nvPr>
        </p:nvSpPr>
        <p:spPr/>
        <p:txBody>
          <a:bodyPr/>
          <a:lstStyle/>
          <a:p>
            <a:fld id="{BBFE4497-9F05-47FD-AD59-8B45AECA419C}" type="slidenum">
              <a:rPr lang="zh-TW" altLang="en-US" smtClean="0"/>
              <a:pPr/>
              <a:t>3</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2020/9/15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2020/9/15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14348" y="1214422"/>
            <a:ext cx="7772400" cy="1470025"/>
          </a:xfrm>
        </p:spPr>
        <p:txBody>
          <a:bodyPr>
            <a:normAutofit fontScale="90000"/>
          </a:bodyPr>
          <a:lstStyle/>
          <a:p>
            <a:r>
              <a:rPr lang="en-US" altLang="zh-TW" dirty="0">
                <a:latin typeface="Times New Roman" pitchFamily="18" charset="0"/>
                <a:cs typeface="Times New Roman" pitchFamily="18" charset="0"/>
              </a:rPr>
              <a:t>A Parallel </a:t>
            </a:r>
            <a:r>
              <a:rPr lang="en-US" altLang="zh-TW" dirty="0" err="1">
                <a:latin typeface="Times New Roman" pitchFamily="18" charset="0"/>
                <a:cs typeface="Times New Roman" pitchFamily="18" charset="0"/>
              </a:rPr>
              <a:t>Pairwise</a:t>
            </a:r>
            <a:r>
              <a:rPr lang="en-US" altLang="zh-TW" dirty="0">
                <a:latin typeface="Times New Roman" pitchFamily="18" charset="0"/>
                <a:cs typeface="Times New Roman" pitchFamily="18" charset="0"/>
              </a:rPr>
              <a:t> Local Sequence</a:t>
            </a:r>
            <a:br>
              <a:rPr lang="en-US" altLang="zh-TW" dirty="0">
                <a:latin typeface="Times New Roman" pitchFamily="18" charset="0"/>
                <a:cs typeface="Times New Roman" pitchFamily="18" charset="0"/>
              </a:rPr>
            </a:br>
            <a:r>
              <a:rPr lang="en-US" altLang="zh-TW" dirty="0">
                <a:latin typeface="Times New Roman" pitchFamily="18" charset="0"/>
                <a:cs typeface="Times New Roman" pitchFamily="18" charset="0"/>
              </a:rPr>
              <a:t>Alignment Algorithm</a:t>
            </a:r>
            <a:endParaRPr lang="zh-TW" altLang="en-US" dirty="0">
              <a:latin typeface="Times New Roman" pitchFamily="18" charset="0"/>
              <a:cs typeface="Times New Roman" pitchFamily="18" charset="0"/>
            </a:endParaRPr>
          </a:p>
        </p:txBody>
      </p:sp>
      <p:sp>
        <p:nvSpPr>
          <p:cNvPr id="3" name="副標題 2"/>
          <p:cNvSpPr>
            <a:spLocks noGrp="1"/>
          </p:cNvSpPr>
          <p:nvPr>
            <p:ph type="subTitle" idx="1"/>
          </p:nvPr>
        </p:nvSpPr>
        <p:spPr>
          <a:xfrm>
            <a:off x="1429298" y="3229506"/>
            <a:ext cx="6599086" cy="2071702"/>
          </a:xfrm>
        </p:spPr>
        <p:txBody>
          <a:bodyPr>
            <a:normAutofit/>
          </a:bodyPr>
          <a:lstStyle/>
          <a:p>
            <a:r>
              <a:rPr lang="en-US" altLang="zh-TW" sz="2400" dirty="0" err="1">
                <a:solidFill>
                  <a:schemeClr val="tx1"/>
                </a:solidFill>
                <a:latin typeface="Times New Roman" pitchFamily="18" charset="0"/>
                <a:cs typeface="Times New Roman" pitchFamily="18" charset="0"/>
              </a:rPr>
              <a:t>Sanghamitra</a:t>
            </a:r>
            <a:r>
              <a:rPr lang="en-US" altLang="zh-TW" sz="2400" dirty="0">
                <a:solidFill>
                  <a:schemeClr val="tx1"/>
                </a:solidFill>
                <a:latin typeface="Times New Roman" pitchFamily="18" charset="0"/>
                <a:cs typeface="Times New Roman" pitchFamily="18" charset="0"/>
              </a:rPr>
              <a:t> Bandyopadhyay and </a:t>
            </a:r>
            <a:r>
              <a:rPr lang="en-US" altLang="zh-TW" sz="2400" dirty="0" err="1">
                <a:solidFill>
                  <a:schemeClr val="tx1"/>
                </a:solidFill>
                <a:latin typeface="Times New Roman" pitchFamily="18" charset="0"/>
                <a:cs typeface="Times New Roman" pitchFamily="18" charset="0"/>
              </a:rPr>
              <a:t>Ramkrishna</a:t>
            </a:r>
            <a:r>
              <a:rPr lang="en-US" altLang="zh-TW" sz="2400" dirty="0">
                <a:solidFill>
                  <a:schemeClr val="tx1"/>
                </a:solidFill>
                <a:latin typeface="Times New Roman" pitchFamily="18" charset="0"/>
                <a:cs typeface="Times New Roman" pitchFamily="18" charset="0"/>
              </a:rPr>
              <a:t> Mitra</a:t>
            </a:r>
          </a:p>
          <a:p>
            <a:endParaRPr lang="en-US" altLang="zh-TW" sz="2400" dirty="0">
              <a:solidFill>
                <a:schemeClr val="tx1"/>
              </a:solidFill>
              <a:latin typeface="Times New Roman" pitchFamily="18" charset="0"/>
              <a:cs typeface="Times New Roman" pitchFamily="18" charset="0"/>
            </a:endParaRPr>
          </a:p>
          <a:p>
            <a:r>
              <a:rPr lang="fr-FR" altLang="zh-TW" sz="2000" dirty="0">
                <a:solidFill>
                  <a:schemeClr val="tx1"/>
                </a:solidFill>
                <a:latin typeface="Times New Roman" pitchFamily="18" charset="0"/>
                <a:cs typeface="Times New Roman" pitchFamily="18" charset="0"/>
              </a:rPr>
              <a:t>IEEE TRANSACTIONS ON NANOBIOSCIENCE</a:t>
            </a:r>
            <a:r>
              <a:rPr lang="fr-FR" altLang="zh-TW" sz="2000">
                <a:solidFill>
                  <a:schemeClr val="tx1"/>
                </a:solidFill>
                <a:latin typeface="Times New Roman" pitchFamily="18" charset="0"/>
                <a:cs typeface="Times New Roman" pitchFamily="18" charset="0"/>
              </a:rPr>
              <a:t>, </a:t>
            </a:r>
          </a:p>
          <a:p>
            <a:r>
              <a:rPr lang="fr-FR" altLang="zh-TW" sz="2000">
                <a:solidFill>
                  <a:schemeClr val="tx1"/>
                </a:solidFill>
                <a:latin typeface="Times New Roman" pitchFamily="18" charset="0"/>
                <a:cs typeface="Times New Roman" pitchFamily="18" charset="0"/>
              </a:rPr>
              <a:t>VOL</a:t>
            </a:r>
            <a:r>
              <a:rPr lang="fr-FR" altLang="zh-TW" sz="2000" dirty="0">
                <a:solidFill>
                  <a:schemeClr val="tx1"/>
                </a:solidFill>
                <a:latin typeface="Times New Roman" pitchFamily="18" charset="0"/>
                <a:cs typeface="Times New Roman" pitchFamily="18" charset="0"/>
              </a:rPr>
              <a:t>. 8, NO. 2, JUNE 2009, pp. 139-146</a:t>
            </a:r>
            <a:endParaRPr lang="zh-TW" altLang="en-US" sz="2000" dirty="0">
              <a:solidFill>
                <a:schemeClr val="tx1"/>
              </a:solidFill>
              <a:latin typeface="Times New Roman" pitchFamily="18" charset="0"/>
              <a:cs typeface="Times New Roman" pitchFamily="18" charset="0"/>
            </a:endParaRPr>
          </a:p>
        </p:txBody>
      </p:sp>
      <p:sp>
        <p:nvSpPr>
          <p:cNvPr id="4" name="副標題 2"/>
          <p:cNvSpPr txBox="1">
            <a:spLocks/>
          </p:cNvSpPr>
          <p:nvPr/>
        </p:nvSpPr>
        <p:spPr>
          <a:xfrm>
            <a:off x="5786446" y="5643578"/>
            <a:ext cx="3114652" cy="1038220"/>
          </a:xfrm>
          <a:prstGeom prst="rect">
            <a:avLst/>
          </a:prstGeom>
        </p:spPr>
        <p:txBody>
          <a:bodyPr vert="horz" lIns="91440" tIns="45720" rIns="91440" bIns="45720" rtlCol="0">
            <a:normAutofit/>
          </a:bodyPr>
          <a:lstStyle/>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lang="en-US" altLang="zh-TW" sz="2000" dirty="0">
                <a:latin typeface="Times New Roman" pitchFamily="18" charset="0"/>
                <a:cs typeface="Times New Roman" pitchFamily="18" charset="0"/>
              </a:rPr>
              <a:t>Presenter: Shin-Cheng Lin</a:t>
            </a: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altLang="zh-TW"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rPr>
              <a:t>Date:</a:t>
            </a:r>
            <a:r>
              <a:rPr kumimoji="0" lang="en-US" altLang="zh-TW" sz="2000" b="0" i="0" u="none" strike="noStrike" kern="1200" cap="none" spc="0" normalizeH="0" noProof="0" dirty="0">
                <a:ln>
                  <a:noFill/>
                </a:ln>
                <a:solidFill>
                  <a:schemeClr val="tx1"/>
                </a:solidFill>
                <a:effectLst/>
                <a:uLnTx/>
                <a:uFillTx/>
                <a:latin typeface="Times New Roman" pitchFamily="18" charset="0"/>
                <a:ea typeface="+mn-ea"/>
                <a:cs typeface="Times New Roman" pitchFamily="18" charset="0"/>
              </a:rPr>
              <a:t> Sept. 15 2020</a:t>
            </a:r>
            <a:endParaRPr kumimoji="0" lang="zh-TW" altLang="en-US" sz="20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Abstract(1/2)</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fontScale="92500" lnSpcReduction="20000"/>
          </a:bodyPr>
          <a:lstStyle/>
          <a:p>
            <a:r>
              <a:rPr lang="en-US" altLang="zh-TW" dirty="0">
                <a:latin typeface="Times New Roman" pitchFamily="18" charset="0"/>
                <a:cs typeface="Times New Roman" pitchFamily="18" charset="0"/>
              </a:rPr>
              <a:t>Researchers are compelled to use heuristic-based </a:t>
            </a:r>
            <a:r>
              <a:rPr lang="en-US" altLang="zh-TW" dirty="0" err="1">
                <a:latin typeface="Times New Roman" pitchFamily="18" charset="0"/>
                <a:cs typeface="Times New Roman" pitchFamily="18" charset="0"/>
              </a:rPr>
              <a:t>pairwise</a:t>
            </a:r>
            <a:r>
              <a:rPr lang="en-US" altLang="zh-TW" dirty="0">
                <a:latin typeface="Times New Roman" pitchFamily="18" charset="0"/>
                <a:cs typeface="Times New Roman" pitchFamily="18" charset="0"/>
              </a:rPr>
              <a:t> sequence alignment tools instead of Smith–Waterman (SW) algorithm due to space and time constraints, thereby losing significant amount of sensitivity. Parallelization is a possible solution, though, till date, the parallelization is restricted to database searching through database fragmentation. In this paper, the power of a cluster computer is utilized for developing a parallel algorithm, </a:t>
            </a:r>
            <a:r>
              <a:rPr lang="en-US" altLang="zh-TW" dirty="0" err="1">
                <a:latin typeface="Times New Roman" pitchFamily="18" charset="0"/>
                <a:cs typeface="Times New Roman" pitchFamily="18" charset="0"/>
              </a:rPr>
              <a:t>RPAlign</a:t>
            </a:r>
            <a:r>
              <a:rPr lang="en-US" altLang="zh-TW" dirty="0">
                <a:latin typeface="Times New Roman" pitchFamily="18" charset="0"/>
                <a:cs typeface="Times New Roman" pitchFamily="18" charset="0"/>
              </a:rPr>
              <a:t>, involving, first, the detection of regions that are potentially </a:t>
            </a:r>
            <a:r>
              <a:rPr lang="en-US" altLang="zh-TW" dirty="0" err="1">
                <a:latin typeface="Times New Roman" pitchFamily="18" charset="0"/>
                <a:cs typeface="Times New Roman" pitchFamily="18" charset="0"/>
              </a:rPr>
              <a:t>alignable</a:t>
            </a:r>
            <a:r>
              <a:rPr lang="en-US" altLang="zh-TW" dirty="0">
                <a:latin typeface="Times New Roman" pitchFamily="18" charset="0"/>
                <a:cs typeface="Times New Roman" pitchFamily="18" charset="0"/>
              </a:rPr>
              <a:t>, followed by their actual alignment.</a:t>
            </a:r>
            <a:endParaRPr lang="zh-TW" altLang="en-US"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Abstract(2/2)</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fontScale="92500" lnSpcReduction="20000"/>
          </a:bodyPr>
          <a:lstStyle/>
          <a:p>
            <a:r>
              <a:rPr lang="en-US" altLang="zh-TW" dirty="0" err="1">
                <a:latin typeface="Times New Roman" pitchFamily="18" charset="0"/>
                <a:cs typeface="Times New Roman" pitchFamily="18" charset="0"/>
              </a:rPr>
              <a:t>RPAlign</a:t>
            </a:r>
            <a:r>
              <a:rPr lang="en-US" altLang="zh-TW" dirty="0">
                <a:latin typeface="Times New Roman" pitchFamily="18" charset="0"/>
                <a:cs typeface="Times New Roman" pitchFamily="18" charset="0"/>
              </a:rPr>
              <a:t> is found to reduce the timing requirement by a factor of </a:t>
            </a:r>
            <a:r>
              <a:rPr lang="en-US" altLang="zh-TW" dirty="0" err="1">
                <a:latin typeface="Times New Roman" pitchFamily="18" charset="0"/>
                <a:cs typeface="Times New Roman" pitchFamily="18" charset="0"/>
              </a:rPr>
              <a:t>upto</a:t>
            </a:r>
            <a:r>
              <a:rPr lang="en-US" altLang="zh-TW" dirty="0">
                <a:latin typeface="Times New Roman" pitchFamily="18" charset="0"/>
                <a:cs typeface="Times New Roman" pitchFamily="18" charset="0"/>
              </a:rPr>
              <a:t> 9 and 99 when used with the basic local alignment search tool (BLAST) and SW, respectively, while keeping the sensitivity similar to the corresponding method. For distantly related sequences, which remain undetected by BLAST, </a:t>
            </a:r>
            <a:r>
              <a:rPr lang="en-US" altLang="zh-TW" dirty="0" err="1">
                <a:latin typeface="Times New Roman" pitchFamily="18" charset="0"/>
                <a:cs typeface="Times New Roman" pitchFamily="18" charset="0"/>
              </a:rPr>
              <a:t>RPAlign</a:t>
            </a:r>
            <a:r>
              <a:rPr lang="en-US" altLang="zh-TW" dirty="0">
                <a:latin typeface="Times New Roman" pitchFamily="18" charset="0"/>
                <a:cs typeface="Times New Roman" pitchFamily="18" charset="0"/>
              </a:rPr>
              <a:t> with SW can be used. Again, for </a:t>
            </a:r>
            <a:r>
              <a:rPr lang="en-US" altLang="zh-TW" dirty="0" err="1">
                <a:latin typeface="Times New Roman" pitchFamily="18" charset="0"/>
                <a:cs typeface="Times New Roman" pitchFamily="18" charset="0"/>
              </a:rPr>
              <a:t>megabase</a:t>
            </a:r>
            <a:r>
              <a:rPr lang="en-US" altLang="zh-TW" dirty="0">
                <a:latin typeface="Times New Roman" pitchFamily="18" charset="0"/>
                <a:cs typeface="Times New Roman" pitchFamily="18" charset="0"/>
              </a:rPr>
              <a:t>-scale sequences, when SW becomes computationally intractable, the proposed method can still align them reasonably fast with high sensitivity.</a:t>
            </a:r>
            <a:endParaRPr lang="zh-TW" altLang="en-US"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2050" name="Picture 2"/>
          <p:cNvPicPr>
            <a:picLocks noGrp="1" noChangeAspect="1" noChangeArrowheads="1"/>
          </p:cNvPicPr>
          <p:nvPr>
            <p:ph idx="1"/>
          </p:nvPr>
        </p:nvPicPr>
        <p:blipFill>
          <a:blip r:embed="rId2"/>
          <a:srcRect/>
          <a:stretch>
            <a:fillRect/>
          </a:stretch>
        </p:blipFill>
        <p:spPr bwMode="auto">
          <a:xfrm>
            <a:off x="4429124" y="1928802"/>
            <a:ext cx="4468025" cy="3307580"/>
          </a:xfrm>
          <a:prstGeom prst="rect">
            <a:avLst/>
          </a:prstGeom>
          <a:noFill/>
          <a:ln w="9525">
            <a:noFill/>
            <a:miter lim="800000"/>
            <a:headEnd/>
            <a:tailEnd/>
          </a:ln>
          <a:effectLst/>
        </p:spPr>
      </p:pic>
      <p:sp>
        <p:nvSpPr>
          <p:cNvPr id="6" name="內容版面配置區 2"/>
          <p:cNvSpPr txBox="1">
            <a:spLocks/>
          </p:cNvSpPr>
          <p:nvPr/>
        </p:nvSpPr>
        <p:spPr>
          <a:xfrm>
            <a:off x="457200" y="1600200"/>
            <a:ext cx="8229600" cy="4525963"/>
          </a:xfrm>
          <a:prstGeom prst="rect">
            <a:avLst/>
          </a:prstGeom>
        </p:spPr>
        <p:txBody>
          <a:bodyPr vert="horz" lIns="91440" tIns="45720" rIns="91440" bIns="45720" rtlCol="0">
            <a:normAutofit/>
          </a:bodyPr>
          <a:lstStyle/>
          <a:p>
            <a:pPr marL="342900" lvl="0" indent="-342900">
              <a:spcBef>
                <a:spcPct val="20000"/>
              </a:spcBef>
              <a:buFont typeface="Arial" pitchFamily="34" charset="0"/>
              <a:buChar char="•"/>
            </a:pPr>
            <a:r>
              <a:rPr lang="en-US" altLang="zh-TW" sz="2800" dirty="0">
                <a:latin typeface="Times New Roman" pitchFamily="18" charset="0"/>
                <a:cs typeface="Times New Roman" pitchFamily="18" charset="0"/>
              </a:rPr>
              <a:t>|</a:t>
            </a:r>
            <a:r>
              <a:rPr lang="en-US" altLang="zh-TW" sz="2800" dirty="0" err="1">
                <a:latin typeface="Times New Roman" pitchFamily="18" charset="0"/>
                <a:cs typeface="Times New Roman" pitchFamily="18" charset="0"/>
              </a:rPr>
              <a:t>S</a:t>
            </a:r>
            <a:r>
              <a:rPr lang="en-US" altLang="zh-TW" sz="2800" baseline="-25000" dirty="0" err="1">
                <a:latin typeface="Times New Roman" pitchFamily="18" charset="0"/>
                <a:cs typeface="Times New Roman" pitchFamily="18" charset="0"/>
              </a:rPr>
              <a:t>l</a:t>
            </a:r>
            <a:r>
              <a:rPr lang="en-US" altLang="zh-TW" sz="2800" dirty="0">
                <a:latin typeface="Times New Roman" pitchFamily="18" charset="0"/>
                <a:cs typeface="Times New Roman" pitchFamily="18" charset="0"/>
              </a:rPr>
              <a:t>|</a:t>
            </a:r>
            <a:r>
              <a:rPr lang="zh-TW" altLang="en-US" sz="2800" dirty="0">
                <a:latin typeface="Times New Roman" pitchFamily="18" charset="0"/>
                <a:cs typeface="Times New Roman" pitchFamily="18" charset="0"/>
              </a:rPr>
              <a:t>＞</a:t>
            </a:r>
            <a:r>
              <a:rPr lang="en-US" altLang="zh-TW" sz="2800" dirty="0">
                <a:latin typeface="Times New Roman" pitchFamily="18" charset="0"/>
                <a:cs typeface="Times New Roman" pitchFamily="18" charset="0"/>
              </a:rPr>
              <a:t>|S</a:t>
            </a:r>
            <a:r>
              <a:rPr lang="en-US" altLang="zh-TW" sz="2800" baseline="-25000" dirty="0">
                <a:latin typeface="Times New Roman" pitchFamily="18" charset="0"/>
                <a:cs typeface="Times New Roman" pitchFamily="18" charset="0"/>
              </a:rPr>
              <a:t>s</a:t>
            </a:r>
            <a:r>
              <a:rPr lang="en-US" altLang="zh-TW" sz="2800" dirty="0">
                <a:latin typeface="Times New Roman" pitchFamily="18" charset="0"/>
                <a:cs typeface="Times New Roman" pitchFamily="18" charset="0"/>
              </a:rPr>
              <a:t>|</a:t>
            </a:r>
            <a:endParaRPr kumimoji="0" lang="en-US" altLang="zh-TW" sz="2800" b="0" i="0" u="none" strike="noStrike" kern="1200" cap="none" spc="0" normalizeH="0" baseline="0" noProof="0" dirty="0">
              <a:ln>
                <a:noFill/>
              </a:ln>
              <a:solidFill>
                <a:schemeClr val="tx1"/>
              </a:solidFill>
              <a:effectLst/>
              <a:uLnTx/>
              <a:uFillTx/>
              <a:latin typeface="Times New Roman" pitchFamily="18" charset="0"/>
              <a:cs typeface="Times New Roman" pitchFamily="18" charset="0"/>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TW" sz="2800" b="0"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1</a:t>
            </a:r>
            <a:r>
              <a:rPr kumimoji="0" lang="en-US" altLang="zh-TW" sz="2800" b="0" i="0" u="none" strike="noStrike" kern="1200" cap="none" spc="0" normalizeH="0" noProof="0" dirty="0">
                <a:ln>
                  <a:noFill/>
                </a:ln>
                <a:solidFill>
                  <a:schemeClr val="tx1"/>
                </a:solidFill>
                <a:effectLst/>
                <a:uLnTx/>
                <a:uFillTx/>
                <a:latin typeface="Times New Roman" pitchFamily="18" charset="0"/>
                <a:cs typeface="Times New Roman" pitchFamily="18" charset="0"/>
              </a:rPr>
              <a:t> master processor(MP)</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altLang="zh-TW" sz="2800" baseline="0" dirty="0">
                <a:latin typeface="Times New Roman" pitchFamily="18" charset="0"/>
                <a:cs typeface="Times New Roman" pitchFamily="18" charset="0"/>
              </a:rPr>
              <a:t>(n-1) worker processors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內容版面配置區 25"/>
          <p:cNvSpPr>
            <a:spLocks noGrp="1"/>
          </p:cNvSpPr>
          <p:nvPr>
            <p:ph idx="1"/>
          </p:nvPr>
        </p:nvSpPr>
        <p:spPr>
          <a:xfrm>
            <a:off x="457200" y="428604"/>
            <a:ext cx="8229600" cy="5697559"/>
          </a:xfrm>
        </p:spPr>
        <p:txBody>
          <a:bodyPr/>
          <a:lstStyle/>
          <a:p>
            <a:r>
              <a:rPr lang="en-US" altLang="zh-TW" sz="2400" dirty="0" err="1">
                <a:latin typeface="Times New Roman" pitchFamily="18" charset="0"/>
                <a:cs typeface="Times New Roman" pitchFamily="18" charset="0"/>
              </a:rPr>
              <a:t>S</a:t>
            </a:r>
            <a:r>
              <a:rPr lang="en-US" altLang="zh-TW" sz="2400" baseline="-25000" dirty="0" err="1">
                <a:latin typeface="Times New Roman" pitchFamily="18" charset="0"/>
                <a:cs typeface="Times New Roman" pitchFamily="18" charset="0"/>
              </a:rPr>
              <a:t>l</a:t>
            </a:r>
            <a:r>
              <a:rPr lang="en-US" altLang="zh-TW" sz="2400" dirty="0">
                <a:latin typeface="Times New Roman" pitchFamily="18" charset="0"/>
                <a:cs typeface="Times New Roman" pitchFamily="18" charset="0"/>
              </a:rPr>
              <a:t> =ATCGATCGA</a:t>
            </a:r>
          </a:p>
          <a:p>
            <a:r>
              <a:rPr lang="en-US" altLang="zh-TW" sz="2400" dirty="0">
                <a:latin typeface="Times New Roman" pitchFamily="18" charset="0"/>
                <a:cs typeface="Times New Roman" pitchFamily="18" charset="0"/>
              </a:rPr>
              <a:t>S</a:t>
            </a:r>
            <a:r>
              <a:rPr lang="en-US" altLang="zh-TW" sz="2400" baseline="-25000" dirty="0">
                <a:latin typeface="Times New Roman" pitchFamily="18" charset="0"/>
                <a:cs typeface="Times New Roman" pitchFamily="18" charset="0"/>
              </a:rPr>
              <a:t>s</a:t>
            </a:r>
            <a:r>
              <a:rPr lang="en-US" altLang="zh-TW" sz="2400" dirty="0">
                <a:latin typeface="Times New Roman" pitchFamily="18" charset="0"/>
                <a:cs typeface="Times New Roman" pitchFamily="18" charset="0"/>
              </a:rPr>
              <a:t> =ATCGAT</a:t>
            </a:r>
          </a:p>
          <a:p>
            <a:r>
              <a:rPr lang="en-US" altLang="zh-TW" sz="2400" dirty="0">
                <a:latin typeface="Times New Roman" pitchFamily="18" charset="0"/>
                <a:cs typeface="Times New Roman" pitchFamily="18" charset="0"/>
              </a:rPr>
              <a:t>3 processor</a:t>
            </a:r>
          </a:p>
          <a:p>
            <a:pPr lvl="0"/>
            <a:r>
              <a:rPr lang="en-US" altLang="zh-TW" sz="2400">
                <a:latin typeface="Times New Roman" pitchFamily="18" charset="0"/>
                <a:cs typeface="Times New Roman" pitchFamily="18" charset="0"/>
              </a:rPr>
              <a:t>Overlapping </a:t>
            </a:r>
            <a:r>
              <a:rPr lang="en-US" altLang="zh-TW" sz="2400" dirty="0">
                <a:latin typeface="Times New Roman" pitchFamily="18" charset="0"/>
                <a:cs typeface="Times New Roman" pitchFamily="18" charset="0"/>
              </a:rPr>
              <a:t>window w=2</a:t>
            </a:r>
          </a:p>
          <a:p>
            <a:r>
              <a:rPr lang="en-US" altLang="zh-TW" sz="2400" dirty="0">
                <a:latin typeface="Times New Roman" pitchFamily="18" charset="0"/>
                <a:cs typeface="Times New Roman" pitchFamily="18" charset="0"/>
              </a:rPr>
              <a:t>|</a:t>
            </a:r>
            <a:r>
              <a:rPr lang="en-US" altLang="zh-TW" sz="2400" dirty="0" err="1">
                <a:latin typeface="Times New Roman" pitchFamily="18" charset="0"/>
                <a:cs typeface="Times New Roman" pitchFamily="18" charset="0"/>
              </a:rPr>
              <a:t>F</a:t>
            </a:r>
            <a:r>
              <a:rPr lang="en-US" altLang="zh-TW" sz="2400" baseline="-25000" dirty="0" err="1">
                <a:latin typeface="Times New Roman" pitchFamily="18" charset="0"/>
                <a:cs typeface="Times New Roman" pitchFamily="18" charset="0"/>
              </a:rPr>
              <a:t>i</a:t>
            </a:r>
            <a:r>
              <a:rPr lang="en-US" altLang="zh-TW" sz="2400" dirty="0">
                <a:latin typeface="Times New Roman" pitchFamily="18" charset="0"/>
                <a:cs typeface="Times New Roman" pitchFamily="18" charset="0"/>
              </a:rPr>
              <a:t>|= |</a:t>
            </a:r>
            <a:r>
              <a:rPr lang="en-US" altLang="zh-TW" sz="2400" dirty="0" err="1">
                <a:latin typeface="Times New Roman" pitchFamily="18" charset="0"/>
                <a:cs typeface="Times New Roman" pitchFamily="18" charset="0"/>
              </a:rPr>
              <a:t>S</a:t>
            </a:r>
            <a:r>
              <a:rPr lang="en-US" altLang="zh-TW" sz="2400" baseline="-25000" dirty="0" err="1">
                <a:latin typeface="Times New Roman" pitchFamily="18" charset="0"/>
                <a:cs typeface="Times New Roman" pitchFamily="18" charset="0"/>
              </a:rPr>
              <a:t>l</a:t>
            </a:r>
            <a:r>
              <a:rPr lang="en-US" altLang="zh-TW" sz="2400" dirty="0">
                <a:latin typeface="Times New Roman" pitchFamily="18" charset="0"/>
                <a:cs typeface="Times New Roman" pitchFamily="18" charset="0"/>
              </a:rPr>
              <a:t>|/</a:t>
            </a:r>
            <a:r>
              <a:rPr lang="en-US" altLang="zh-TW" sz="2400" dirty="0" err="1">
                <a:latin typeface="Times New Roman" pitchFamily="18" charset="0"/>
                <a:cs typeface="Times New Roman" pitchFamily="18" charset="0"/>
              </a:rPr>
              <a:t>n+w</a:t>
            </a:r>
            <a:endParaRPr lang="en-US" altLang="zh-TW" sz="2400" dirty="0">
              <a:latin typeface="Times New Roman" pitchFamily="18" charset="0"/>
              <a:cs typeface="Times New Roman" pitchFamily="18" charset="0"/>
            </a:endParaRPr>
          </a:p>
          <a:p>
            <a:endParaRPr lang="en-US" altLang="zh-TW" sz="2400" dirty="0">
              <a:latin typeface="Times New Roman" pitchFamily="18" charset="0"/>
              <a:cs typeface="Times New Roman" pitchFamily="18" charset="0"/>
            </a:endParaRPr>
          </a:p>
          <a:p>
            <a:r>
              <a:rPr lang="en-US" altLang="zh-TW" sz="2400" dirty="0">
                <a:latin typeface="Times New Roman" pitchFamily="18" charset="0"/>
                <a:cs typeface="Times New Roman" pitchFamily="18" charset="0"/>
              </a:rPr>
              <a:t>F</a:t>
            </a:r>
            <a:r>
              <a:rPr lang="en-US" altLang="zh-TW" sz="2400" baseline="-25000" dirty="0">
                <a:latin typeface="Times New Roman" pitchFamily="18" charset="0"/>
                <a:cs typeface="Times New Roman" pitchFamily="18" charset="0"/>
              </a:rPr>
              <a:t>1 </a:t>
            </a:r>
            <a:r>
              <a:rPr lang="en-US" altLang="zh-TW" sz="2400" dirty="0">
                <a:latin typeface="Times New Roman" pitchFamily="18" charset="0"/>
                <a:cs typeface="Times New Roman" pitchFamily="18" charset="0"/>
              </a:rPr>
              <a:t>=ATCGA</a:t>
            </a:r>
          </a:p>
          <a:p>
            <a:r>
              <a:rPr lang="en-US" altLang="zh-TW" sz="2400" dirty="0">
                <a:latin typeface="Times New Roman" pitchFamily="18" charset="0"/>
                <a:cs typeface="Times New Roman" pitchFamily="18" charset="0"/>
              </a:rPr>
              <a:t>F</a:t>
            </a:r>
            <a:r>
              <a:rPr lang="en-US" altLang="zh-TW" sz="2400" baseline="-25000" dirty="0">
                <a:latin typeface="Times New Roman" pitchFamily="18" charset="0"/>
                <a:cs typeface="Times New Roman" pitchFamily="18" charset="0"/>
              </a:rPr>
              <a:t>2 </a:t>
            </a:r>
            <a:r>
              <a:rPr lang="en-US" altLang="zh-TW" sz="2400" dirty="0">
                <a:latin typeface="Times New Roman" pitchFamily="18" charset="0"/>
                <a:cs typeface="Times New Roman" pitchFamily="18" charset="0"/>
              </a:rPr>
              <a:t>=GATCG</a:t>
            </a:r>
          </a:p>
          <a:p>
            <a:r>
              <a:rPr lang="en-US" altLang="zh-TW" sz="2400" dirty="0">
                <a:latin typeface="Times New Roman" pitchFamily="18" charset="0"/>
                <a:cs typeface="Times New Roman" pitchFamily="18" charset="0"/>
              </a:rPr>
              <a:t>F</a:t>
            </a:r>
            <a:r>
              <a:rPr lang="en-US" altLang="zh-TW" sz="2400" baseline="-25000" dirty="0">
                <a:latin typeface="Times New Roman" pitchFamily="18" charset="0"/>
                <a:cs typeface="Times New Roman" pitchFamily="18" charset="0"/>
              </a:rPr>
              <a:t>3 </a:t>
            </a:r>
            <a:r>
              <a:rPr lang="en-US" altLang="zh-TW" sz="2400" dirty="0">
                <a:latin typeface="Times New Roman" pitchFamily="18" charset="0"/>
                <a:cs typeface="Times New Roman" pitchFamily="18" charset="0"/>
              </a:rPr>
              <a:t>=CGA</a:t>
            </a:r>
            <a:endParaRPr lang="en-US" altLang="zh-TW" sz="2400" baseline="-25000" dirty="0">
              <a:latin typeface="Times New Roman" pitchFamily="18" charset="0"/>
              <a:cs typeface="Times New Roman" pitchFamily="18" charset="0"/>
            </a:endParaRPr>
          </a:p>
          <a:p>
            <a:endParaRPr lang="en-US" altLang="zh-TW" sz="2400" baseline="-25000"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p:txBody>
      </p:sp>
      <p:pic>
        <p:nvPicPr>
          <p:cNvPr id="27" name="Picture 2"/>
          <p:cNvPicPr>
            <a:picLocks noChangeAspect="1" noChangeArrowheads="1"/>
          </p:cNvPicPr>
          <p:nvPr/>
        </p:nvPicPr>
        <p:blipFill>
          <a:blip r:embed="rId2"/>
          <a:srcRect r="39152"/>
          <a:stretch>
            <a:fillRect/>
          </a:stretch>
        </p:blipFill>
        <p:spPr bwMode="auto">
          <a:xfrm>
            <a:off x="4857752" y="428603"/>
            <a:ext cx="3714776" cy="4519419"/>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457200" y="428604"/>
            <a:ext cx="4829180" cy="5697559"/>
          </a:xfrm>
        </p:spPr>
        <p:txBody>
          <a:bodyPr>
            <a:normAutofit/>
          </a:bodyPr>
          <a:lstStyle/>
          <a:p>
            <a:r>
              <a:rPr lang="en-US" altLang="zh-TW" sz="2400" dirty="0">
                <a:latin typeface="Times New Roman" pitchFamily="18" charset="0"/>
                <a:cs typeface="Times New Roman" pitchFamily="18" charset="0"/>
              </a:rPr>
              <a:t>S</a:t>
            </a:r>
            <a:r>
              <a:rPr lang="en-US" altLang="zh-TW" sz="2400" baseline="-25000" dirty="0">
                <a:latin typeface="Times New Roman" pitchFamily="18" charset="0"/>
                <a:cs typeface="Times New Roman" pitchFamily="18" charset="0"/>
              </a:rPr>
              <a:t>s</a:t>
            </a:r>
            <a:r>
              <a:rPr lang="en-US" altLang="zh-TW" sz="2400" dirty="0">
                <a:latin typeface="Times New Roman" pitchFamily="18" charset="0"/>
                <a:cs typeface="Times New Roman" pitchFamily="18" charset="0"/>
              </a:rPr>
              <a:t> =ATCGAT</a:t>
            </a:r>
          </a:p>
          <a:p>
            <a:r>
              <a:rPr lang="en-US" altLang="zh-TW" sz="2400" dirty="0">
                <a:latin typeface="Times New Roman" pitchFamily="18" charset="0"/>
                <a:cs typeface="Times New Roman" pitchFamily="18" charset="0"/>
              </a:rPr>
              <a:t>F</a:t>
            </a:r>
            <a:r>
              <a:rPr lang="en-US" altLang="zh-TW" sz="2400" baseline="-25000" dirty="0">
                <a:latin typeface="Times New Roman" pitchFamily="18" charset="0"/>
                <a:cs typeface="Times New Roman" pitchFamily="18" charset="0"/>
              </a:rPr>
              <a:t>1 </a:t>
            </a:r>
            <a:r>
              <a:rPr lang="en-US" altLang="zh-TW" sz="2400" dirty="0">
                <a:latin typeface="Times New Roman" pitchFamily="18" charset="0"/>
                <a:cs typeface="Times New Roman" pitchFamily="18" charset="0"/>
              </a:rPr>
              <a:t>=ATCGA</a:t>
            </a:r>
          </a:p>
          <a:p>
            <a:r>
              <a:rPr lang="en-US" altLang="zh-TW" sz="2400" dirty="0" err="1">
                <a:latin typeface="Times New Roman" pitchFamily="18" charset="0"/>
                <a:cs typeface="Times New Roman" pitchFamily="18" charset="0"/>
              </a:rPr>
              <a:t>F</a:t>
            </a:r>
            <a:r>
              <a:rPr lang="en-US" altLang="zh-TW" sz="2400" baseline="-25000" dirty="0" err="1">
                <a:latin typeface="Times New Roman" pitchFamily="18" charset="0"/>
                <a:cs typeface="Times New Roman" pitchFamily="18" charset="0"/>
              </a:rPr>
              <a:t>ij</a:t>
            </a:r>
            <a:r>
              <a:rPr lang="en-US" altLang="zh-TW" sz="2400" dirty="0">
                <a:latin typeface="Times New Roman" pitchFamily="18" charset="0"/>
                <a:cs typeface="Times New Roman" pitchFamily="18" charset="0"/>
              </a:rPr>
              <a:t> , j=1,2,…,|</a:t>
            </a:r>
            <a:r>
              <a:rPr lang="en-US" altLang="zh-TW" sz="2400" dirty="0" err="1">
                <a:latin typeface="Times New Roman" pitchFamily="18" charset="0"/>
                <a:cs typeface="Times New Roman" pitchFamily="18" charset="0"/>
              </a:rPr>
              <a:t>F</a:t>
            </a:r>
            <a:r>
              <a:rPr lang="en-US" altLang="zh-TW" sz="2400" baseline="-25000" dirty="0" err="1">
                <a:latin typeface="Times New Roman" pitchFamily="18" charset="0"/>
                <a:cs typeface="Times New Roman" pitchFamily="18" charset="0"/>
              </a:rPr>
              <a:t>i</a:t>
            </a:r>
            <a:r>
              <a:rPr lang="en-US" altLang="zh-TW" sz="2400" dirty="0">
                <a:latin typeface="Times New Roman" pitchFamily="18" charset="0"/>
                <a:cs typeface="Times New Roman" pitchFamily="18" charset="0"/>
              </a:rPr>
              <a:t>| </a:t>
            </a:r>
            <a:r>
              <a:rPr lang="zh-TW" altLang="en-US" sz="2400" dirty="0">
                <a:latin typeface="Times New Roman" pitchFamily="18" charset="0"/>
                <a:cs typeface="Times New Roman" pitchFamily="18" charset="0"/>
              </a:rPr>
              <a:t>－ </a:t>
            </a:r>
            <a:r>
              <a:rPr lang="en-US" altLang="zh-TW" sz="2400" dirty="0">
                <a:latin typeface="Times New Roman" pitchFamily="18" charset="0"/>
                <a:cs typeface="Times New Roman" pitchFamily="18" charset="0"/>
              </a:rPr>
              <a:t>w </a:t>
            </a:r>
            <a:r>
              <a:rPr lang="zh-TW" altLang="en-US" sz="2400" dirty="0">
                <a:latin typeface="Times New Roman" pitchFamily="18" charset="0"/>
                <a:cs typeface="Times New Roman" pitchFamily="18" charset="0"/>
              </a:rPr>
              <a:t>＋ </a:t>
            </a:r>
            <a:r>
              <a:rPr lang="en-US" altLang="zh-TW" sz="2400" dirty="0">
                <a:latin typeface="Times New Roman" pitchFamily="18" charset="0"/>
                <a:cs typeface="Times New Roman" pitchFamily="18" charset="0"/>
              </a:rPr>
              <a:t>1</a:t>
            </a:r>
          </a:p>
          <a:p>
            <a:r>
              <a:rPr lang="en-US" altLang="zh-TW" sz="2400" dirty="0">
                <a:latin typeface="Times New Roman" pitchFamily="18" charset="0"/>
                <a:cs typeface="Times New Roman" pitchFamily="18" charset="0"/>
              </a:rPr>
              <a:t>F</a:t>
            </a:r>
            <a:r>
              <a:rPr lang="en-US" altLang="zh-TW" sz="2400" baseline="-25000" dirty="0">
                <a:latin typeface="Times New Roman" pitchFamily="18" charset="0"/>
                <a:cs typeface="Times New Roman" pitchFamily="18" charset="0"/>
              </a:rPr>
              <a:t>11 </a:t>
            </a:r>
            <a:r>
              <a:rPr lang="en-US" altLang="zh-TW" sz="2400" dirty="0">
                <a:latin typeface="Times New Roman" pitchFamily="18" charset="0"/>
                <a:cs typeface="Times New Roman" pitchFamily="18" charset="0"/>
              </a:rPr>
              <a:t>=AT</a:t>
            </a:r>
          </a:p>
          <a:p>
            <a:r>
              <a:rPr lang="en-US" altLang="zh-TW" sz="2400" dirty="0">
                <a:latin typeface="Times New Roman" pitchFamily="18" charset="0"/>
                <a:cs typeface="Times New Roman" pitchFamily="18" charset="0"/>
              </a:rPr>
              <a:t>F</a:t>
            </a:r>
            <a:r>
              <a:rPr lang="en-US" altLang="zh-TW" sz="2400" baseline="-25000" dirty="0">
                <a:latin typeface="Times New Roman" pitchFamily="18" charset="0"/>
                <a:cs typeface="Times New Roman" pitchFamily="18" charset="0"/>
              </a:rPr>
              <a:t>12 </a:t>
            </a:r>
            <a:r>
              <a:rPr lang="en-US" altLang="zh-TW" sz="2400" dirty="0">
                <a:latin typeface="Times New Roman" pitchFamily="18" charset="0"/>
                <a:cs typeface="Times New Roman" pitchFamily="18" charset="0"/>
              </a:rPr>
              <a:t>=TC</a:t>
            </a:r>
          </a:p>
          <a:p>
            <a:r>
              <a:rPr lang="en-US" altLang="zh-TW" sz="2400" dirty="0" err="1">
                <a:latin typeface="Times New Roman" pitchFamily="18" charset="0"/>
                <a:cs typeface="Times New Roman" pitchFamily="18" charset="0"/>
              </a:rPr>
              <a:t>S</a:t>
            </a:r>
            <a:r>
              <a:rPr lang="en-US" altLang="zh-TW" sz="2400" baseline="-25000" dirty="0" err="1">
                <a:latin typeface="Times New Roman" pitchFamily="18" charset="0"/>
                <a:cs typeface="Times New Roman" pitchFamily="18" charset="0"/>
              </a:rPr>
              <a:t>sk</a:t>
            </a:r>
            <a:r>
              <a:rPr lang="en-US" altLang="zh-TW" sz="2400" baseline="-25000" dirty="0">
                <a:latin typeface="Times New Roman" pitchFamily="18" charset="0"/>
                <a:cs typeface="Times New Roman" pitchFamily="18" charset="0"/>
              </a:rPr>
              <a:t> </a:t>
            </a:r>
            <a:r>
              <a:rPr lang="en-US" altLang="zh-TW" sz="2400" dirty="0">
                <a:latin typeface="Times New Roman" pitchFamily="18" charset="0"/>
                <a:cs typeface="Times New Roman" pitchFamily="18" charset="0"/>
              </a:rPr>
              <a:t> , k=1,2,…,</a:t>
            </a:r>
            <a:r>
              <a:rPr lang="en-US" altLang="zh-TW" sz="2400" baseline="30000" dirty="0">
                <a:latin typeface="Times New Roman" pitchFamily="18" charset="0"/>
                <a:cs typeface="Times New Roman" pitchFamily="18" charset="0"/>
              </a:rPr>
              <a:t>┌</a:t>
            </a:r>
            <a:r>
              <a:rPr lang="en-US" altLang="zh-TW" sz="2400" dirty="0">
                <a:latin typeface="Times New Roman" pitchFamily="18" charset="0"/>
                <a:cs typeface="Times New Roman" pitchFamily="18" charset="0"/>
              </a:rPr>
              <a:t>|S</a:t>
            </a:r>
            <a:r>
              <a:rPr lang="en-US" altLang="zh-TW" sz="2400" baseline="-25000" dirty="0">
                <a:latin typeface="Times New Roman" pitchFamily="18" charset="0"/>
                <a:cs typeface="Times New Roman" pitchFamily="18" charset="0"/>
              </a:rPr>
              <a:t>s</a:t>
            </a:r>
            <a:r>
              <a:rPr lang="en-US" altLang="zh-TW" sz="2400" dirty="0">
                <a:latin typeface="Times New Roman" pitchFamily="18" charset="0"/>
                <a:cs typeface="Times New Roman" pitchFamily="18" charset="0"/>
              </a:rPr>
              <a:t>|/w</a:t>
            </a:r>
            <a:r>
              <a:rPr lang="en-US" altLang="zh-TW" sz="2400" baseline="30000" dirty="0">
                <a:latin typeface="Times New Roman" pitchFamily="18" charset="0"/>
                <a:cs typeface="Times New Roman" pitchFamily="18" charset="0"/>
              </a:rPr>
              <a:t>┐</a:t>
            </a:r>
          </a:p>
          <a:p>
            <a:r>
              <a:rPr lang="en-US" altLang="zh-TW" sz="2400" dirty="0" err="1">
                <a:latin typeface="Times New Roman" pitchFamily="18" charset="0"/>
                <a:cs typeface="Times New Roman" pitchFamily="18" charset="0"/>
              </a:rPr>
              <a:t>f</a:t>
            </a:r>
            <a:r>
              <a:rPr lang="en-US" altLang="zh-TW" sz="2400" baseline="-25000" dirty="0" err="1">
                <a:latin typeface="Times New Roman" pitchFamily="18" charset="0"/>
                <a:cs typeface="Times New Roman" pitchFamily="18" charset="0"/>
              </a:rPr>
              <a:t>e</a:t>
            </a:r>
            <a:r>
              <a:rPr lang="en-US" altLang="zh-TW" sz="2400" dirty="0">
                <a:latin typeface="Times New Roman" pitchFamily="18" charset="0"/>
                <a:cs typeface="Times New Roman" pitchFamily="18" charset="0"/>
              </a:rPr>
              <a:t>(</a:t>
            </a:r>
            <a:r>
              <a:rPr lang="en-US" altLang="zh-TW" sz="2400" dirty="0" err="1">
                <a:latin typeface="Times New Roman" pitchFamily="18" charset="0"/>
                <a:cs typeface="Times New Roman" pitchFamily="18" charset="0"/>
              </a:rPr>
              <a:t>F</a:t>
            </a:r>
            <a:r>
              <a:rPr lang="en-US" altLang="zh-TW" sz="2400" baseline="-25000" dirty="0" err="1">
                <a:latin typeface="Times New Roman" pitchFamily="18" charset="0"/>
                <a:cs typeface="Times New Roman" pitchFamily="18" charset="0"/>
              </a:rPr>
              <a:t>ij</a:t>
            </a:r>
            <a:r>
              <a:rPr lang="en-US" altLang="zh-TW" sz="2400" dirty="0">
                <a:latin typeface="Times New Roman" pitchFamily="18" charset="0"/>
                <a:cs typeface="Times New Roman" pitchFamily="18" charset="0"/>
              </a:rPr>
              <a:t>) or </a:t>
            </a:r>
            <a:r>
              <a:rPr lang="en-US" altLang="zh-TW" sz="2400" dirty="0" err="1">
                <a:latin typeface="Times New Roman" pitchFamily="18" charset="0"/>
                <a:cs typeface="Times New Roman" pitchFamily="18" charset="0"/>
              </a:rPr>
              <a:t>f</a:t>
            </a:r>
            <a:r>
              <a:rPr lang="en-US" altLang="zh-TW" sz="2400" baseline="-25000" dirty="0" err="1">
                <a:latin typeface="Times New Roman" pitchFamily="18" charset="0"/>
                <a:cs typeface="Times New Roman" pitchFamily="18" charset="0"/>
              </a:rPr>
              <a:t>e</a:t>
            </a:r>
            <a:r>
              <a:rPr lang="en-US" altLang="zh-TW" sz="2400" dirty="0">
                <a:latin typeface="Times New Roman" pitchFamily="18" charset="0"/>
                <a:cs typeface="Times New Roman" pitchFamily="18" charset="0"/>
              </a:rPr>
              <a:t>(</a:t>
            </a:r>
            <a:r>
              <a:rPr lang="en-US" altLang="zh-TW" sz="2400" dirty="0" err="1">
                <a:latin typeface="Times New Roman" pitchFamily="18" charset="0"/>
                <a:cs typeface="Times New Roman" pitchFamily="18" charset="0"/>
              </a:rPr>
              <a:t>S</a:t>
            </a:r>
            <a:r>
              <a:rPr lang="en-US" altLang="zh-TW" sz="2400" baseline="-25000" dirty="0" err="1">
                <a:latin typeface="Times New Roman" pitchFamily="18" charset="0"/>
                <a:cs typeface="Times New Roman" pitchFamily="18" charset="0"/>
              </a:rPr>
              <a:t>sk</a:t>
            </a:r>
            <a:r>
              <a:rPr lang="en-US" altLang="zh-TW" sz="2400" dirty="0">
                <a:latin typeface="Times New Roman" pitchFamily="18" charset="0"/>
                <a:cs typeface="Times New Roman" pitchFamily="18" charset="0"/>
              </a:rPr>
              <a:t>) is the frequencies of each type of element</a:t>
            </a:r>
          </a:p>
          <a:p>
            <a:r>
              <a:rPr lang="nn-NO" altLang="zh-TW" sz="2400" dirty="0">
                <a:latin typeface="Times New Roman" pitchFamily="18" charset="0"/>
                <a:cs typeface="Times New Roman" pitchFamily="18" charset="0"/>
              </a:rPr>
              <a:t>e = 1, 2, . . . , 5 for DNA ( A,T,C,G,N(unknow) )</a:t>
            </a:r>
          </a:p>
          <a:p>
            <a:r>
              <a:rPr lang="nn-NO" altLang="zh-TW" sz="2400" dirty="0">
                <a:latin typeface="Times New Roman" pitchFamily="18" charset="0"/>
                <a:cs typeface="Times New Roman" pitchFamily="18" charset="0"/>
              </a:rPr>
              <a:t>e = 1,2,...,20 for </a:t>
            </a:r>
            <a:r>
              <a:rPr lang="en-US" altLang="zh-TW" sz="2400" dirty="0">
                <a:latin typeface="Times New Roman" pitchFamily="18" charset="0"/>
                <a:cs typeface="Times New Roman" pitchFamily="18" charset="0"/>
              </a:rPr>
              <a:t>protein</a:t>
            </a:r>
          </a:p>
        </p:txBody>
      </p:sp>
      <p:pic>
        <p:nvPicPr>
          <p:cNvPr id="4" name="Picture 2"/>
          <p:cNvPicPr>
            <a:picLocks noChangeAspect="1" noChangeArrowheads="1"/>
          </p:cNvPicPr>
          <p:nvPr/>
        </p:nvPicPr>
        <p:blipFill>
          <a:blip r:embed="rId2"/>
          <a:srcRect r="39152"/>
          <a:stretch>
            <a:fillRect/>
          </a:stretch>
        </p:blipFill>
        <p:spPr bwMode="auto">
          <a:xfrm>
            <a:off x="5286380" y="1142984"/>
            <a:ext cx="3362461" cy="4090791"/>
          </a:xfrm>
          <a:prstGeom prst="rect">
            <a:avLst/>
          </a:prstGeom>
          <a:noFill/>
          <a:ln w="9525">
            <a:noFill/>
            <a:miter lim="800000"/>
            <a:headEnd/>
            <a:tailEnd/>
          </a:ln>
          <a:effectLst/>
        </p:spPr>
      </p:pic>
      <p:sp>
        <p:nvSpPr>
          <p:cNvPr id="6" name="矩形 5"/>
          <p:cNvSpPr/>
          <p:nvPr/>
        </p:nvSpPr>
        <p:spPr>
          <a:xfrm>
            <a:off x="5214942" y="1000108"/>
            <a:ext cx="2071702" cy="14287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algn="l"/>
            <a:r>
              <a:rPr lang="en-US" altLang="zh-TW" dirty="0">
                <a:latin typeface="Times New Roman" pitchFamily="18" charset="0"/>
                <a:cs typeface="Times New Roman" pitchFamily="18" charset="0"/>
              </a:rPr>
              <a:t>Composite score (CS)</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a:bodyPr>
          <a:lstStyle/>
          <a:p>
            <a:r>
              <a:rPr lang="en-US" altLang="zh-TW" dirty="0">
                <a:latin typeface="Times New Roman" pitchFamily="18" charset="0"/>
                <a:cs typeface="Times New Roman" pitchFamily="18" charset="0"/>
              </a:rPr>
              <a:t>Protein:</a:t>
            </a:r>
          </a:p>
          <a:p>
            <a:endParaRPr lang="en-US" altLang="zh-TW" dirty="0">
              <a:latin typeface="Times New Roman" pitchFamily="18" charset="0"/>
              <a:cs typeface="Times New Roman" pitchFamily="18" charset="0"/>
            </a:endParaRPr>
          </a:p>
          <a:p>
            <a:endParaRPr lang="en-US" altLang="zh-TW" dirty="0"/>
          </a:p>
          <a:p>
            <a:pPr lvl="1"/>
            <a:r>
              <a:rPr lang="en-US" altLang="zh-TW" dirty="0" err="1">
                <a:latin typeface="Times New Roman" pitchFamily="18" charset="0"/>
                <a:cs typeface="Times New Roman" pitchFamily="18" charset="0"/>
              </a:rPr>
              <a:t>Mat_Score</a:t>
            </a:r>
            <a:r>
              <a:rPr lang="en-US" altLang="zh-TW" dirty="0">
                <a:latin typeface="Times New Roman" pitchFamily="18" charset="0"/>
                <a:cs typeface="Times New Roman" pitchFamily="18" charset="0"/>
              </a:rPr>
              <a:t> can use BLOSUM62 or BLOSUM50</a:t>
            </a:r>
          </a:p>
          <a:p>
            <a:r>
              <a:rPr lang="en-US" altLang="zh-TW" dirty="0">
                <a:latin typeface="Times New Roman" pitchFamily="18" charset="0"/>
                <a:cs typeface="Times New Roman" pitchFamily="18" charset="0"/>
              </a:rPr>
              <a:t>DNA:</a:t>
            </a:r>
            <a:endParaRPr lang="en-US" altLang="zh-TW" dirty="0"/>
          </a:p>
          <a:p>
            <a:endParaRPr lang="en-US" altLang="zh-TW" dirty="0"/>
          </a:p>
          <a:p>
            <a:endParaRPr lang="zh-TW" altLang="en-US" dirty="0"/>
          </a:p>
        </p:txBody>
      </p:sp>
      <p:pic>
        <p:nvPicPr>
          <p:cNvPr id="4101" name="Picture 5"/>
          <p:cNvPicPr>
            <a:picLocks noChangeAspect="1" noChangeArrowheads="1"/>
          </p:cNvPicPr>
          <p:nvPr/>
        </p:nvPicPr>
        <p:blipFill>
          <a:blip r:embed="rId2"/>
          <a:srcRect/>
          <a:stretch>
            <a:fillRect/>
          </a:stretch>
        </p:blipFill>
        <p:spPr bwMode="auto">
          <a:xfrm>
            <a:off x="1643042" y="4476205"/>
            <a:ext cx="6215106" cy="1095935"/>
          </a:xfrm>
          <a:prstGeom prst="rect">
            <a:avLst/>
          </a:prstGeom>
          <a:noFill/>
          <a:ln w="9525">
            <a:noFill/>
            <a:miter lim="800000"/>
            <a:headEnd/>
            <a:tailEnd/>
          </a:ln>
          <a:effectLst/>
        </p:spPr>
      </p:pic>
      <p:pic>
        <p:nvPicPr>
          <p:cNvPr id="4102" name="Picture 6"/>
          <p:cNvPicPr>
            <a:picLocks noChangeAspect="1" noChangeArrowheads="1"/>
          </p:cNvPicPr>
          <p:nvPr/>
        </p:nvPicPr>
        <p:blipFill>
          <a:blip r:embed="rId3"/>
          <a:srcRect/>
          <a:stretch>
            <a:fillRect/>
          </a:stretch>
        </p:blipFill>
        <p:spPr bwMode="auto">
          <a:xfrm>
            <a:off x="1785918" y="2143116"/>
            <a:ext cx="6802686" cy="928694"/>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BINARY Matrix</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cs typeface="Times New Roman" pitchFamily="18" charset="0"/>
              </a:rPr>
              <a:t>(</a:t>
            </a:r>
            <a:r>
              <a:rPr lang="en-US" altLang="zh-TW" baseline="30000" dirty="0">
                <a:latin typeface="Times New Roman" pitchFamily="18" charset="0"/>
                <a:cs typeface="Times New Roman" pitchFamily="18" charset="0"/>
              </a:rPr>
              <a:t>┌</a:t>
            </a:r>
            <a:r>
              <a:rPr lang="en-US" altLang="zh-TW" dirty="0">
                <a:latin typeface="Times New Roman" pitchFamily="18" charset="0"/>
                <a:cs typeface="Times New Roman" pitchFamily="18" charset="0"/>
              </a:rPr>
              <a:t>|S</a:t>
            </a:r>
            <a:r>
              <a:rPr lang="en-US" altLang="zh-TW" baseline="-25000" dirty="0">
                <a:latin typeface="Times New Roman" pitchFamily="18" charset="0"/>
                <a:cs typeface="Times New Roman" pitchFamily="18" charset="0"/>
              </a:rPr>
              <a:t>s</a:t>
            </a:r>
            <a:r>
              <a:rPr lang="en-US" altLang="zh-TW" dirty="0">
                <a:latin typeface="Times New Roman" pitchFamily="18" charset="0"/>
                <a:cs typeface="Times New Roman" pitchFamily="18" charset="0"/>
              </a:rPr>
              <a:t>|/w</a:t>
            </a:r>
            <a:r>
              <a:rPr lang="en-US" altLang="zh-TW" baseline="30000" dirty="0">
                <a:latin typeface="Times New Roman" pitchFamily="18" charset="0"/>
                <a:cs typeface="Times New Roman" pitchFamily="18" charset="0"/>
              </a:rPr>
              <a:t>┐</a:t>
            </a:r>
            <a:r>
              <a:rPr lang="en-US" altLang="zh-TW" dirty="0">
                <a:latin typeface="Times New Roman" pitchFamily="18" charset="0"/>
                <a:cs typeface="Times New Roman" pitchFamily="18" charset="0"/>
              </a:rPr>
              <a:t>) × (</a:t>
            </a:r>
            <a:r>
              <a:rPr lang="en-US" altLang="zh-TW" baseline="30000" dirty="0">
                <a:latin typeface="Times New Roman" pitchFamily="18" charset="0"/>
                <a:cs typeface="Times New Roman" pitchFamily="18" charset="0"/>
              </a:rPr>
              <a:t>┌</a:t>
            </a:r>
            <a:r>
              <a:rPr lang="en-US" altLang="zh-TW" dirty="0">
                <a:latin typeface="Times New Roman" pitchFamily="18" charset="0"/>
                <a:cs typeface="Times New Roman" pitchFamily="18" charset="0"/>
              </a:rPr>
              <a:t>|</a:t>
            </a:r>
            <a:r>
              <a:rPr lang="en-US" altLang="zh-TW" dirty="0" err="1">
                <a:latin typeface="Times New Roman" pitchFamily="18" charset="0"/>
                <a:cs typeface="Times New Roman" pitchFamily="18" charset="0"/>
              </a:rPr>
              <a:t>F</a:t>
            </a:r>
            <a:r>
              <a:rPr lang="en-US" altLang="zh-TW" baseline="-25000" dirty="0" err="1">
                <a:latin typeface="Times New Roman" pitchFamily="18" charset="0"/>
                <a:cs typeface="Times New Roman" pitchFamily="18" charset="0"/>
              </a:rPr>
              <a:t>i</a:t>
            </a:r>
            <a:r>
              <a:rPr lang="en-US" altLang="zh-TW" dirty="0">
                <a:latin typeface="Times New Roman" pitchFamily="18" charset="0"/>
                <a:cs typeface="Times New Roman" pitchFamily="18" charset="0"/>
              </a:rPr>
              <a:t>|/w</a:t>
            </a:r>
            <a:r>
              <a:rPr lang="en-US" altLang="zh-TW" baseline="30000" dirty="0">
                <a:latin typeface="Times New Roman" pitchFamily="18" charset="0"/>
                <a:cs typeface="Times New Roman" pitchFamily="18" charset="0"/>
              </a:rPr>
              <a:t>┐</a:t>
            </a:r>
            <a:r>
              <a:rPr lang="en-US" altLang="zh-TW" dirty="0">
                <a:latin typeface="Times New Roman" pitchFamily="18" charset="0"/>
                <a:cs typeface="Times New Roman" pitchFamily="18" charset="0"/>
              </a:rPr>
              <a:t>)  </a:t>
            </a:r>
            <a:endParaRPr lang="en-US" altLang="zh-TW" baseline="-25000"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zh-TW" altLang="en-US" dirty="0"/>
          </a:p>
        </p:txBody>
      </p:sp>
      <p:pic>
        <p:nvPicPr>
          <p:cNvPr id="5123" name="Picture 3"/>
          <p:cNvPicPr>
            <a:picLocks noChangeAspect="1" noChangeArrowheads="1"/>
          </p:cNvPicPr>
          <p:nvPr/>
        </p:nvPicPr>
        <p:blipFill>
          <a:blip r:embed="rId2"/>
          <a:srcRect/>
          <a:stretch>
            <a:fillRect/>
          </a:stretch>
        </p:blipFill>
        <p:spPr bwMode="auto">
          <a:xfrm>
            <a:off x="642910" y="2643182"/>
            <a:ext cx="8278688" cy="359100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BINARY Matrix</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5114948"/>
          </a:xfrm>
        </p:spPr>
        <p:txBody>
          <a:bodyPr>
            <a:normAutofit lnSpcReduction="10000"/>
          </a:bodyPr>
          <a:lstStyle/>
          <a:p>
            <a:r>
              <a:rPr lang="en-US" altLang="zh-TW" sz="2800" dirty="0">
                <a:latin typeface="Times New Roman" pitchFamily="18" charset="0"/>
                <a:cs typeface="Times New Roman" pitchFamily="18" charset="0"/>
              </a:rPr>
              <a:t>F</a:t>
            </a:r>
            <a:r>
              <a:rPr lang="en-US" altLang="zh-TW" sz="2800" baseline="-25000" dirty="0">
                <a:latin typeface="Times New Roman" pitchFamily="18" charset="0"/>
                <a:cs typeface="Times New Roman" pitchFamily="18" charset="0"/>
              </a:rPr>
              <a:t>1 </a:t>
            </a:r>
            <a:r>
              <a:rPr lang="en-US" altLang="zh-TW" sz="2800" dirty="0">
                <a:latin typeface="Times New Roman" pitchFamily="18" charset="0"/>
                <a:cs typeface="Times New Roman" pitchFamily="18" charset="0"/>
              </a:rPr>
              <a:t>=ATCGA</a:t>
            </a:r>
          </a:p>
          <a:p>
            <a:r>
              <a:rPr lang="en-US" altLang="zh-TW" sz="2800" dirty="0">
                <a:latin typeface="Times New Roman" pitchFamily="18" charset="0"/>
                <a:cs typeface="Times New Roman" pitchFamily="18" charset="0"/>
              </a:rPr>
              <a:t>S</a:t>
            </a:r>
            <a:r>
              <a:rPr lang="en-US" altLang="zh-TW" sz="2800" baseline="-25000" dirty="0">
                <a:latin typeface="Times New Roman" pitchFamily="18" charset="0"/>
                <a:cs typeface="Times New Roman" pitchFamily="18" charset="0"/>
              </a:rPr>
              <a:t>s</a:t>
            </a:r>
            <a:r>
              <a:rPr lang="en-US" altLang="zh-TW" sz="2800" dirty="0">
                <a:latin typeface="Times New Roman" pitchFamily="18" charset="0"/>
                <a:cs typeface="Times New Roman" pitchFamily="18" charset="0"/>
              </a:rPr>
              <a:t> =ATCGAT</a:t>
            </a:r>
          </a:p>
          <a:p>
            <a:r>
              <a:rPr lang="en-US" altLang="zh-TW" sz="2800" dirty="0">
                <a:latin typeface="Times New Roman" pitchFamily="18" charset="0"/>
                <a:cs typeface="Times New Roman" pitchFamily="18" charset="0"/>
              </a:rPr>
              <a:t>When k=1, j=1</a:t>
            </a:r>
          </a:p>
          <a:p>
            <a:r>
              <a:rPr lang="en-US" altLang="zh-TW" sz="2800" dirty="0">
                <a:latin typeface="Times New Roman" pitchFamily="18" charset="0"/>
                <a:cs typeface="Times New Roman" pitchFamily="18" charset="0"/>
              </a:rPr>
              <a:t>F</a:t>
            </a:r>
            <a:r>
              <a:rPr lang="en-US" altLang="zh-TW" sz="2800" baseline="-25000" dirty="0">
                <a:latin typeface="Times New Roman" pitchFamily="18" charset="0"/>
                <a:cs typeface="Times New Roman" pitchFamily="18" charset="0"/>
              </a:rPr>
              <a:t>11 </a:t>
            </a:r>
            <a:r>
              <a:rPr lang="en-US" altLang="zh-TW" sz="2800" dirty="0">
                <a:latin typeface="Times New Roman" pitchFamily="18" charset="0"/>
                <a:cs typeface="Times New Roman" pitchFamily="18" charset="0"/>
              </a:rPr>
              <a:t>=AT , </a:t>
            </a:r>
            <a:r>
              <a:rPr lang="en-US" altLang="zh-TW" sz="2800" dirty="0" err="1">
                <a:latin typeface="Times New Roman" pitchFamily="18" charset="0"/>
                <a:cs typeface="Times New Roman" pitchFamily="18" charset="0"/>
              </a:rPr>
              <a:t>f</a:t>
            </a:r>
            <a:r>
              <a:rPr lang="en-US" altLang="zh-TW" sz="2800" baseline="-25000" dirty="0" err="1">
                <a:latin typeface="Times New Roman" pitchFamily="18" charset="0"/>
                <a:cs typeface="Times New Roman" pitchFamily="18" charset="0"/>
              </a:rPr>
              <a:t>e</a:t>
            </a:r>
            <a:r>
              <a:rPr lang="en-US" altLang="zh-TW" sz="2800" dirty="0">
                <a:latin typeface="Times New Roman" pitchFamily="18" charset="0"/>
                <a:cs typeface="Times New Roman" pitchFamily="18" charset="0"/>
              </a:rPr>
              <a:t>(F</a:t>
            </a:r>
            <a:r>
              <a:rPr lang="en-US" altLang="zh-TW" sz="2800" baseline="-25000" dirty="0">
                <a:latin typeface="Times New Roman" pitchFamily="18" charset="0"/>
                <a:cs typeface="Times New Roman" pitchFamily="18" charset="0"/>
              </a:rPr>
              <a:t>11</a:t>
            </a:r>
            <a:r>
              <a:rPr lang="en-US" altLang="zh-TW" sz="2800" dirty="0">
                <a:latin typeface="Times New Roman" pitchFamily="18" charset="0"/>
                <a:cs typeface="Times New Roman" pitchFamily="18" charset="0"/>
              </a:rPr>
              <a:t>)=[1,1,0,0,0]</a:t>
            </a:r>
          </a:p>
          <a:p>
            <a:r>
              <a:rPr lang="en-US" altLang="zh-TW" sz="2800" dirty="0">
                <a:latin typeface="Times New Roman" pitchFamily="18" charset="0"/>
                <a:cs typeface="Times New Roman" pitchFamily="18" charset="0"/>
              </a:rPr>
              <a:t>F</a:t>
            </a:r>
            <a:r>
              <a:rPr lang="en-US" altLang="zh-TW" sz="2800" baseline="-25000" dirty="0">
                <a:latin typeface="Times New Roman" pitchFamily="18" charset="0"/>
                <a:cs typeface="Times New Roman" pitchFamily="18" charset="0"/>
              </a:rPr>
              <a:t>12 </a:t>
            </a:r>
            <a:r>
              <a:rPr lang="en-US" altLang="zh-TW" sz="2800" dirty="0">
                <a:latin typeface="Times New Roman" pitchFamily="18" charset="0"/>
                <a:cs typeface="Times New Roman" pitchFamily="18" charset="0"/>
              </a:rPr>
              <a:t>=TC , </a:t>
            </a:r>
            <a:r>
              <a:rPr lang="en-US" altLang="zh-TW" sz="2800" dirty="0" err="1">
                <a:latin typeface="Times New Roman" pitchFamily="18" charset="0"/>
                <a:cs typeface="Times New Roman" pitchFamily="18" charset="0"/>
              </a:rPr>
              <a:t>f</a:t>
            </a:r>
            <a:r>
              <a:rPr lang="en-US" altLang="zh-TW" sz="2800" baseline="-25000" dirty="0" err="1">
                <a:latin typeface="Times New Roman" pitchFamily="18" charset="0"/>
                <a:cs typeface="Times New Roman" pitchFamily="18" charset="0"/>
              </a:rPr>
              <a:t>e</a:t>
            </a:r>
            <a:r>
              <a:rPr lang="en-US" altLang="zh-TW" sz="2800" dirty="0">
                <a:latin typeface="Times New Roman" pitchFamily="18" charset="0"/>
                <a:cs typeface="Times New Roman" pitchFamily="18" charset="0"/>
              </a:rPr>
              <a:t>(F</a:t>
            </a:r>
            <a:r>
              <a:rPr lang="en-US" altLang="zh-TW" sz="2800" baseline="-25000" dirty="0">
                <a:latin typeface="Times New Roman" pitchFamily="18" charset="0"/>
                <a:cs typeface="Times New Roman" pitchFamily="18" charset="0"/>
              </a:rPr>
              <a:t>12</a:t>
            </a:r>
            <a:r>
              <a:rPr lang="en-US" altLang="zh-TW" sz="2800" dirty="0">
                <a:latin typeface="Times New Roman" pitchFamily="18" charset="0"/>
                <a:cs typeface="Times New Roman" pitchFamily="18" charset="0"/>
              </a:rPr>
              <a:t>)=[0,1,1,0,0]</a:t>
            </a:r>
          </a:p>
          <a:p>
            <a:r>
              <a:rPr lang="en-US" altLang="zh-TW" sz="2800" dirty="0">
                <a:latin typeface="Times New Roman" pitchFamily="18" charset="0"/>
                <a:cs typeface="Times New Roman" pitchFamily="18" charset="0"/>
              </a:rPr>
              <a:t>S</a:t>
            </a:r>
            <a:r>
              <a:rPr lang="en-US" altLang="zh-TW" sz="2800" baseline="-25000" dirty="0">
                <a:latin typeface="Times New Roman" pitchFamily="18" charset="0"/>
                <a:cs typeface="Times New Roman" pitchFamily="18" charset="0"/>
              </a:rPr>
              <a:t>s1</a:t>
            </a:r>
            <a:r>
              <a:rPr lang="en-US" altLang="zh-TW" sz="2800" dirty="0">
                <a:latin typeface="Times New Roman" pitchFamily="18" charset="0"/>
                <a:cs typeface="Times New Roman" pitchFamily="18" charset="0"/>
              </a:rPr>
              <a:t> =AT , </a:t>
            </a:r>
            <a:r>
              <a:rPr lang="en-US" altLang="zh-TW" sz="2800" dirty="0" err="1">
                <a:latin typeface="Times New Roman" pitchFamily="18" charset="0"/>
                <a:cs typeface="Times New Roman" pitchFamily="18" charset="0"/>
              </a:rPr>
              <a:t>f</a:t>
            </a:r>
            <a:r>
              <a:rPr lang="en-US" altLang="zh-TW" sz="2800" baseline="-25000" dirty="0" err="1">
                <a:latin typeface="Times New Roman" pitchFamily="18" charset="0"/>
                <a:cs typeface="Times New Roman" pitchFamily="18" charset="0"/>
              </a:rPr>
              <a:t>e</a:t>
            </a:r>
            <a:r>
              <a:rPr lang="en-US" altLang="zh-TW" sz="2800" dirty="0">
                <a:latin typeface="Times New Roman" pitchFamily="18" charset="0"/>
                <a:cs typeface="Times New Roman" pitchFamily="18" charset="0"/>
              </a:rPr>
              <a:t>(S</a:t>
            </a:r>
            <a:r>
              <a:rPr lang="en-US" altLang="zh-TW" sz="2800" baseline="-25000" dirty="0">
                <a:latin typeface="Times New Roman" pitchFamily="18" charset="0"/>
                <a:cs typeface="Times New Roman" pitchFamily="18" charset="0"/>
              </a:rPr>
              <a:t>s1</a:t>
            </a:r>
            <a:r>
              <a:rPr lang="en-US" altLang="zh-TW" sz="2800" dirty="0">
                <a:latin typeface="Times New Roman" pitchFamily="18" charset="0"/>
                <a:cs typeface="Times New Roman" pitchFamily="18" charset="0"/>
              </a:rPr>
              <a:t>)=[1,1,0,0,0]</a:t>
            </a:r>
          </a:p>
          <a:p>
            <a:r>
              <a:rPr lang="en-US" altLang="zh-TW" sz="2800" dirty="0" err="1">
                <a:latin typeface="Times New Roman" pitchFamily="18" charset="0"/>
                <a:cs typeface="Times New Roman" pitchFamily="18" charset="0"/>
              </a:rPr>
              <a:t>CS</a:t>
            </a:r>
            <a:r>
              <a:rPr lang="en-US" altLang="zh-TW" sz="2800" baseline="30000" dirty="0" err="1">
                <a:latin typeface="Times New Roman" pitchFamily="18" charset="0"/>
                <a:cs typeface="Times New Roman" pitchFamily="18" charset="0"/>
              </a:rPr>
              <a:t>l</a:t>
            </a:r>
            <a:r>
              <a:rPr lang="en-US" altLang="zh-TW" sz="2800" dirty="0">
                <a:latin typeface="Times New Roman" pitchFamily="18" charset="0"/>
                <a:cs typeface="Times New Roman" pitchFamily="18" charset="0"/>
              </a:rPr>
              <a:t> =CS(F</a:t>
            </a:r>
            <a:r>
              <a:rPr lang="en-US" altLang="zh-TW" sz="2800" baseline="-25000" dirty="0">
                <a:latin typeface="Times New Roman" pitchFamily="18" charset="0"/>
                <a:cs typeface="Times New Roman" pitchFamily="18" charset="0"/>
              </a:rPr>
              <a:t>11,</a:t>
            </a:r>
            <a:r>
              <a:rPr lang="en-US" altLang="zh-TW" sz="2800" dirty="0">
                <a:latin typeface="Times New Roman" pitchFamily="18" charset="0"/>
                <a:cs typeface="Times New Roman" pitchFamily="18" charset="0"/>
              </a:rPr>
              <a:t> S</a:t>
            </a:r>
            <a:r>
              <a:rPr lang="en-US" altLang="zh-TW" sz="2800" baseline="-25000" dirty="0">
                <a:latin typeface="Times New Roman" pitchFamily="18" charset="0"/>
                <a:cs typeface="Times New Roman" pitchFamily="18" charset="0"/>
              </a:rPr>
              <a:t>s1</a:t>
            </a:r>
            <a:r>
              <a:rPr lang="en-US" altLang="zh-TW" sz="2800" dirty="0">
                <a:latin typeface="Times New Roman" pitchFamily="18" charset="0"/>
                <a:cs typeface="Times New Roman" pitchFamily="18" charset="0"/>
              </a:rPr>
              <a:t>)=2</a:t>
            </a:r>
          </a:p>
          <a:p>
            <a:r>
              <a:rPr lang="en-US" altLang="zh-TW" sz="2800" dirty="0">
                <a:latin typeface="Times New Roman" pitchFamily="18" charset="0"/>
                <a:cs typeface="Times New Roman" pitchFamily="18" charset="0"/>
              </a:rPr>
              <a:t>CS</a:t>
            </a:r>
            <a:r>
              <a:rPr lang="en-US" altLang="zh-TW" sz="2800" baseline="30000" dirty="0">
                <a:latin typeface="Times New Roman" pitchFamily="18" charset="0"/>
                <a:cs typeface="Times New Roman" pitchFamily="18" charset="0"/>
              </a:rPr>
              <a:t>2</a:t>
            </a:r>
            <a:r>
              <a:rPr lang="en-US" altLang="zh-TW" sz="2800" dirty="0">
                <a:latin typeface="Times New Roman" pitchFamily="18" charset="0"/>
                <a:cs typeface="Times New Roman" pitchFamily="18" charset="0"/>
              </a:rPr>
              <a:t> =CS(F</a:t>
            </a:r>
            <a:r>
              <a:rPr lang="en-US" altLang="zh-TW" sz="2800" baseline="-25000" dirty="0">
                <a:latin typeface="Times New Roman" pitchFamily="18" charset="0"/>
                <a:cs typeface="Times New Roman" pitchFamily="18" charset="0"/>
              </a:rPr>
              <a:t>12,</a:t>
            </a:r>
            <a:r>
              <a:rPr lang="en-US" altLang="zh-TW" sz="2800" dirty="0">
                <a:latin typeface="Times New Roman" pitchFamily="18" charset="0"/>
                <a:cs typeface="Times New Roman" pitchFamily="18" charset="0"/>
              </a:rPr>
              <a:t> S</a:t>
            </a:r>
            <a:r>
              <a:rPr lang="en-US" altLang="zh-TW" sz="2800" baseline="-25000" dirty="0">
                <a:latin typeface="Times New Roman" pitchFamily="18" charset="0"/>
                <a:cs typeface="Times New Roman" pitchFamily="18" charset="0"/>
              </a:rPr>
              <a:t>s1</a:t>
            </a:r>
            <a:r>
              <a:rPr lang="en-US" altLang="zh-TW" sz="2800" dirty="0">
                <a:latin typeface="Times New Roman" pitchFamily="18" charset="0"/>
                <a:cs typeface="Times New Roman" pitchFamily="18" charset="0"/>
              </a:rPr>
              <a:t>)=1</a:t>
            </a:r>
          </a:p>
          <a:p>
            <a:r>
              <a:rPr lang="en-US" altLang="zh-TW" sz="2800" dirty="0">
                <a:latin typeface="Times New Roman" pitchFamily="18" charset="0"/>
                <a:cs typeface="Times New Roman" pitchFamily="18" charset="0"/>
              </a:rPr>
              <a:t>[</a:t>
            </a:r>
            <a:r>
              <a:rPr lang="en-US" altLang="zh-TW" sz="2800" dirty="0" err="1">
                <a:latin typeface="Times New Roman" pitchFamily="18" charset="0"/>
                <a:cs typeface="Times New Roman" pitchFamily="18" charset="0"/>
              </a:rPr>
              <a:t>CS</a:t>
            </a:r>
            <a:r>
              <a:rPr lang="en-US" altLang="zh-TW" sz="2800" baseline="30000" dirty="0" err="1">
                <a:latin typeface="Times New Roman" pitchFamily="18" charset="0"/>
                <a:cs typeface="Times New Roman" pitchFamily="18" charset="0"/>
              </a:rPr>
              <a:t>l</a:t>
            </a:r>
            <a:r>
              <a:rPr lang="en-US" altLang="zh-TW" sz="2800" baseline="30000"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,CS</a:t>
            </a:r>
            <a:r>
              <a:rPr lang="en-US" altLang="zh-TW" sz="2800" baseline="30000" dirty="0">
                <a:latin typeface="Times New Roman" pitchFamily="18" charset="0"/>
                <a:cs typeface="Times New Roman" pitchFamily="18" charset="0"/>
              </a:rPr>
              <a:t>2</a:t>
            </a:r>
            <a:r>
              <a:rPr lang="en-US" altLang="zh-TW" sz="2800" dirty="0">
                <a:latin typeface="Times New Roman" pitchFamily="18" charset="0"/>
                <a:cs typeface="Times New Roman" pitchFamily="18" charset="0"/>
              </a:rPr>
              <a:t>]</a:t>
            </a:r>
            <a:r>
              <a:rPr lang="en-US" altLang="zh-TW" sz="2800" baseline="30000"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=[2,1] </a:t>
            </a:r>
          </a:p>
          <a:p>
            <a:r>
              <a:rPr lang="en-US" altLang="zh-TW" sz="2800" dirty="0">
                <a:latin typeface="Times New Roman" pitchFamily="18" charset="0"/>
                <a:cs typeface="Times New Roman" pitchFamily="18" charset="0"/>
              </a:rPr>
              <a:t>MAX([</a:t>
            </a:r>
            <a:r>
              <a:rPr lang="en-US" altLang="zh-TW" sz="2800" dirty="0" err="1">
                <a:latin typeface="Times New Roman" pitchFamily="18" charset="0"/>
                <a:cs typeface="Times New Roman" pitchFamily="18" charset="0"/>
              </a:rPr>
              <a:t>CS</a:t>
            </a:r>
            <a:r>
              <a:rPr lang="en-US" altLang="zh-TW" sz="2800" baseline="30000" dirty="0" err="1">
                <a:latin typeface="Times New Roman" pitchFamily="18" charset="0"/>
                <a:cs typeface="Times New Roman" pitchFamily="18" charset="0"/>
              </a:rPr>
              <a:t>l</a:t>
            </a:r>
            <a:r>
              <a:rPr lang="en-US" altLang="zh-TW" sz="2800" baseline="30000"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,CS</a:t>
            </a:r>
            <a:r>
              <a:rPr lang="en-US" altLang="zh-TW" sz="2800" baseline="30000" dirty="0">
                <a:latin typeface="Times New Roman" pitchFamily="18" charset="0"/>
                <a:cs typeface="Times New Roman" pitchFamily="18" charset="0"/>
              </a:rPr>
              <a:t>2</a:t>
            </a:r>
            <a:r>
              <a:rPr lang="en-US" altLang="zh-TW" sz="2800" dirty="0">
                <a:latin typeface="Times New Roman" pitchFamily="18" charset="0"/>
                <a:cs typeface="Times New Roman" pitchFamily="18" charset="0"/>
              </a:rPr>
              <a:t>]</a:t>
            </a:r>
            <a:r>
              <a:rPr lang="en-US" altLang="zh-TW" sz="2800" baseline="30000"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)=2</a:t>
            </a:r>
            <a:endParaRPr lang="en-US" altLang="zh-TW" sz="2800" baseline="30000"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baseline="-25000"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zh-TW" altLang="en-US" dirty="0"/>
          </a:p>
        </p:txBody>
      </p:sp>
      <p:pic>
        <p:nvPicPr>
          <p:cNvPr id="5123" name="Picture 3"/>
          <p:cNvPicPr>
            <a:picLocks noChangeAspect="1" noChangeArrowheads="1"/>
          </p:cNvPicPr>
          <p:nvPr/>
        </p:nvPicPr>
        <p:blipFill>
          <a:blip r:embed="rId2"/>
          <a:srcRect/>
          <a:stretch>
            <a:fillRect/>
          </a:stretch>
        </p:blipFill>
        <p:spPr bwMode="auto">
          <a:xfrm>
            <a:off x="4401256" y="500042"/>
            <a:ext cx="4742744" cy="2057236"/>
          </a:xfrm>
          <a:prstGeom prst="rect">
            <a:avLst/>
          </a:prstGeom>
          <a:noFill/>
          <a:ln w="9525">
            <a:noFill/>
            <a:miter lim="800000"/>
            <a:headEnd/>
            <a:tailEnd/>
          </a:ln>
          <a:effectLst/>
        </p:spPr>
      </p:pic>
      <p:pic>
        <p:nvPicPr>
          <p:cNvPr id="5" name="Picture 5"/>
          <p:cNvPicPr>
            <a:picLocks noChangeAspect="1" noChangeArrowheads="1"/>
          </p:cNvPicPr>
          <p:nvPr/>
        </p:nvPicPr>
        <p:blipFill>
          <a:blip r:embed="rId3"/>
          <a:srcRect/>
          <a:stretch>
            <a:fillRect/>
          </a:stretch>
        </p:blipFill>
        <p:spPr bwMode="auto">
          <a:xfrm>
            <a:off x="4690437" y="5181800"/>
            <a:ext cx="4239281" cy="74753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BINARY Matrix</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457200" y="1600200"/>
            <a:ext cx="8229600" cy="5114948"/>
          </a:xfrm>
        </p:spPr>
        <p:txBody>
          <a:bodyPr/>
          <a:lstStyle/>
          <a:p>
            <a:r>
              <a:rPr lang="en-US" altLang="zh-TW" sz="2800" dirty="0">
                <a:latin typeface="Times New Roman" pitchFamily="18" charset="0"/>
                <a:cs typeface="Times New Roman" pitchFamily="18" charset="0"/>
              </a:rPr>
              <a:t>F</a:t>
            </a:r>
            <a:r>
              <a:rPr lang="en-US" altLang="zh-TW" sz="2800" baseline="-25000" dirty="0">
                <a:latin typeface="Times New Roman" pitchFamily="18" charset="0"/>
                <a:cs typeface="Times New Roman" pitchFamily="18" charset="0"/>
              </a:rPr>
              <a:t>1 </a:t>
            </a:r>
            <a:r>
              <a:rPr lang="en-US" altLang="zh-TW" sz="2800" dirty="0">
                <a:latin typeface="Times New Roman" pitchFamily="18" charset="0"/>
                <a:cs typeface="Times New Roman" pitchFamily="18" charset="0"/>
              </a:rPr>
              <a:t>=ATCGA</a:t>
            </a:r>
          </a:p>
          <a:p>
            <a:r>
              <a:rPr lang="en-US" altLang="zh-TW" sz="2800" dirty="0">
                <a:latin typeface="Times New Roman" pitchFamily="18" charset="0"/>
                <a:cs typeface="Times New Roman" pitchFamily="18" charset="0"/>
              </a:rPr>
              <a:t>S</a:t>
            </a:r>
            <a:r>
              <a:rPr lang="en-US" altLang="zh-TW" sz="2800" baseline="-25000" dirty="0">
                <a:latin typeface="Times New Roman" pitchFamily="18" charset="0"/>
                <a:cs typeface="Times New Roman" pitchFamily="18" charset="0"/>
              </a:rPr>
              <a:t>s</a:t>
            </a:r>
            <a:r>
              <a:rPr lang="en-US" altLang="zh-TW" sz="2800" dirty="0">
                <a:latin typeface="Times New Roman" pitchFamily="18" charset="0"/>
                <a:cs typeface="Times New Roman" pitchFamily="18" charset="0"/>
              </a:rPr>
              <a:t> =ATCGAT</a:t>
            </a:r>
          </a:p>
          <a:p>
            <a:r>
              <a:rPr lang="en-US" altLang="zh-TW" sz="2800" dirty="0">
                <a:latin typeface="Times New Roman" pitchFamily="18" charset="0"/>
                <a:cs typeface="Times New Roman" pitchFamily="18" charset="0"/>
              </a:rPr>
              <a:t>MAX ([</a:t>
            </a:r>
            <a:r>
              <a:rPr lang="en-US" altLang="zh-TW" sz="2800" dirty="0" err="1">
                <a:latin typeface="Times New Roman" pitchFamily="18" charset="0"/>
                <a:cs typeface="Times New Roman" pitchFamily="18" charset="0"/>
              </a:rPr>
              <a:t>CS</a:t>
            </a:r>
            <a:r>
              <a:rPr lang="en-US" altLang="zh-TW" sz="2800" baseline="30000" dirty="0" err="1">
                <a:latin typeface="Times New Roman" pitchFamily="18" charset="0"/>
                <a:cs typeface="Times New Roman" pitchFamily="18" charset="0"/>
              </a:rPr>
              <a:t>l</a:t>
            </a:r>
            <a:r>
              <a:rPr lang="en-US" altLang="zh-TW" sz="2800" baseline="30000"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,CS</a:t>
            </a:r>
            <a:r>
              <a:rPr lang="en-US" altLang="zh-TW" sz="2800" baseline="30000" dirty="0">
                <a:latin typeface="Times New Roman" pitchFamily="18" charset="0"/>
                <a:cs typeface="Times New Roman" pitchFamily="18" charset="0"/>
              </a:rPr>
              <a:t>2</a:t>
            </a:r>
            <a:r>
              <a:rPr lang="en-US" altLang="zh-TW" sz="2800" dirty="0">
                <a:latin typeface="Times New Roman" pitchFamily="18" charset="0"/>
                <a:cs typeface="Times New Roman" pitchFamily="18" charset="0"/>
              </a:rPr>
              <a:t>]</a:t>
            </a:r>
            <a:r>
              <a:rPr lang="en-US" altLang="zh-TW" sz="2800" baseline="30000"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)=2</a:t>
            </a:r>
          </a:p>
          <a:p>
            <a:r>
              <a:rPr lang="en-US" altLang="zh-TW" sz="2800" dirty="0">
                <a:latin typeface="Times New Roman" pitchFamily="18" charset="0"/>
                <a:cs typeface="Times New Roman" pitchFamily="18" charset="0"/>
              </a:rPr>
              <a:t>A threshold </a:t>
            </a:r>
            <a:r>
              <a:rPr lang="el-GR" altLang="zh-TW" sz="2800" dirty="0">
                <a:latin typeface="Times New Roman" pitchFamily="18" charset="0"/>
                <a:cs typeface="Times New Roman" pitchFamily="18" charset="0"/>
              </a:rPr>
              <a:t>θ</a:t>
            </a:r>
            <a:endParaRPr lang="en-US" altLang="zh-TW" sz="2800" dirty="0">
              <a:latin typeface="Times New Roman" pitchFamily="18" charset="0"/>
              <a:cs typeface="Times New Roman" pitchFamily="18" charset="0"/>
            </a:endParaRPr>
          </a:p>
          <a:p>
            <a:r>
              <a:rPr lang="en-US" altLang="zh-TW" sz="2800" dirty="0">
                <a:latin typeface="Times New Roman" pitchFamily="18" charset="0"/>
                <a:cs typeface="Times New Roman" pitchFamily="18" charset="0"/>
              </a:rPr>
              <a:t>If  MAX ([</a:t>
            </a:r>
            <a:r>
              <a:rPr lang="en-US" altLang="zh-TW" sz="2800" dirty="0" err="1">
                <a:latin typeface="Times New Roman" pitchFamily="18" charset="0"/>
                <a:cs typeface="Times New Roman" pitchFamily="18" charset="0"/>
              </a:rPr>
              <a:t>CS</a:t>
            </a:r>
            <a:r>
              <a:rPr lang="en-US" altLang="zh-TW" sz="2800" baseline="30000" dirty="0" err="1">
                <a:latin typeface="Times New Roman" pitchFamily="18" charset="0"/>
                <a:cs typeface="Times New Roman" pitchFamily="18" charset="0"/>
              </a:rPr>
              <a:t>l</a:t>
            </a:r>
            <a:r>
              <a:rPr lang="en-US" altLang="zh-TW" sz="2800" baseline="30000" dirty="0">
                <a:latin typeface="Times New Roman" pitchFamily="18" charset="0"/>
                <a:cs typeface="Times New Roman" pitchFamily="18" charset="0"/>
              </a:rPr>
              <a:t> </a:t>
            </a:r>
            <a:r>
              <a:rPr lang="en-US" altLang="zh-TW" sz="2800" dirty="0">
                <a:latin typeface="Times New Roman" pitchFamily="18" charset="0"/>
                <a:cs typeface="Times New Roman" pitchFamily="18" charset="0"/>
              </a:rPr>
              <a:t>,CS</a:t>
            </a:r>
            <a:r>
              <a:rPr lang="en-US" altLang="zh-TW" sz="2800" baseline="30000" dirty="0">
                <a:latin typeface="Times New Roman" pitchFamily="18" charset="0"/>
                <a:cs typeface="Times New Roman" pitchFamily="18" charset="0"/>
              </a:rPr>
              <a:t>2</a:t>
            </a:r>
            <a:r>
              <a:rPr lang="en-US" altLang="zh-TW" sz="2800" dirty="0">
                <a:latin typeface="Times New Roman" pitchFamily="18" charset="0"/>
                <a:cs typeface="Times New Roman" pitchFamily="18" charset="0"/>
              </a:rPr>
              <a:t>]) &gt; </a:t>
            </a:r>
            <a:r>
              <a:rPr lang="el-GR" altLang="zh-TW" sz="2800" dirty="0">
                <a:latin typeface="Times New Roman" pitchFamily="18" charset="0"/>
                <a:cs typeface="Times New Roman" pitchFamily="18" charset="0"/>
              </a:rPr>
              <a:t>θ</a:t>
            </a:r>
            <a:r>
              <a:rPr lang="en-US" altLang="zh-TW" sz="2800" dirty="0">
                <a:latin typeface="Times New Roman" pitchFamily="18" charset="0"/>
                <a:cs typeface="Times New Roman" pitchFamily="18" charset="0"/>
              </a:rPr>
              <a:t> ,BINARY(</a:t>
            </a:r>
            <a:r>
              <a:rPr lang="en-US" altLang="zh-TW" sz="2800" dirty="0" err="1">
                <a:latin typeface="Times New Roman" pitchFamily="18" charset="0"/>
                <a:cs typeface="Times New Roman" pitchFamily="18" charset="0"/>
              </a:rPr>
              <a:t>k,j</a:t>
            </a:r>
            <a:r>
              <a:rPr lang="en-US" altLang="zh-TW" sz="2800" dirty="0">
                <a:latin typeface="Times New Roman" pitchFamily="18" charset="0"/>
                <a:cs typeface="Times New Roman" pitchFamily="18" charset="0"/>
              </a:rPr>
              <a:t>)=BINARY(k,j+1)=1 </a:t>
            </a:r>
          </a:p>
          <a:p>
            <a:endParaRPr lang="en-US" altLang="zh-TW" sz="2800" dirty="0">
              <a:latin typeface="Times New Roman" pitchFamily="18" charset="0"/>
              <a:cs typeface="Times New Roman" pitchFamily="18" charset="0"/>
            </a:endParaRPr>
          </a:p>
          <a:p>
            <a:endParaRPr lang="en-US" altLang="zh-TW" sz="2800" baseline="30000"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baseline="-25000"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en-US" altLang="zh-TW" dirty="0">
              <a:latin typeface="Times New Roman" pitchFamily="18" charset="0"/>
              <a:cs typeface="Times New Roman" pitchFamily="18" charset="0"/>
            </a:endParaRPr>
          </a:p>
          <a:p>
            <a:endParaRPr lang="zh-TW" altLang="en-US" dirty="0"/>
          </a:p>
        </p:txBody>
      </p:sp>
      <p:pic>
        <p:nvPicPr>
          <p:cNvPr id="5123" name="Picture 3"/>
          <p:cNvPicPr>
            <a:picLocks noChangeAspect="1" noChangeArrowheads="1"/>
          </p:cNvPicPr>
          <p:nvPr/>
        </p:nvPicPr>
        <p:blipFill>
          <a:blip r:embed="rId2"/>
          <a:srcRect/>
          <a:stretch>
            <a:fillRect/>
          </a:stretch>
        </p:blipFill>
        <p:spPr bwMode="auto">
          <a:xfrm>
            <a:off x="4401256" y="500042"/>
            <a:ext cx="4742744" cy="2057236"/>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Merging and Redistribution</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cs typeface="Times New Roman" pitchFamily="18" charset="0"/>
              </a:rPr>
              <a:t>Transmit BINARY </a:t>
            </a:r>
            <a:r>
              <a:rPr lang="en-US" altLang="zh-TW" dirty="0" err="1">
                <a:latin typeface="Times New Roman" pitchFamily="18" charset="0"/>
                <a:cs typeface="Times New Roman" pitchFamily="18" charset="0"/>
              </a:rPr>
              <a:t>Matrice</a:t>
            </a:r>
            <a:r>
              <a:rPr lang="en-US" altLang="zh-TW" dirty="0">
                <a:latin typeface="Times New Roman" pitchFamily="18" charset="0"/>
                <a:cs typeface="Times New Roman" pitchFamily="18" charset="0"/>
              </a:rPr>
              <a:t> to the MP</a:t>
            </a:r>
          </a:p>
          <a:p>
            <a:r>
              <a:rPr lang="en-US" altLang="zh-TW" dirty="0">
                <a:latin typeface="Times New Roman" pitchFamily="18" charset="0"/>
                <a:cs typeface="Times New Roman" pitchFamily="18" charset="0"/>
              </a:rPr>
              <a:t>The matrices are collated side by side to make the RPA_DETECTION matrix.</a:t>
            </a:r>
          </a:p>
          <a:p>
            <a:r>
              <a:rPr lang="en-US" altLang="zh-TW" dirty="0">
                <a:latin typeface="Times New Roman" pitchFamily="18" charset="0"/>
                <a:cs typeface="Times New Roman" pitchFamily="18" charset="0"/>
              </a:rPr>
              <a:t>Diagonals that are strings of all 1’s are The positions of the RPAs</a:t>
            </a:r>
          </a:p>
          <a:p>
            <a:r>
              <a:rPr lang="en-US" altLang="zh-TW" dirty="0">
                <a:latin typeface="Times New Roman" pitchFamily="18" charset="0"/>
                <a:cs typeface="Times New Roman" pitchFamily="18" charset="0"/>
              </a:rPr>
              <a:t>Redistribute RPAs to each node to align by BLAST or by SW</a:t>
            </a:r>
          </a:p>
          <a:p>
            <a:endParaRPr lang="zh-TW" altLang="en-US"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Parameters</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altLang="zh-TW" dirty="0">
                <a:latin typeface="Times New Roman" pitchFamily="18" charset="0"/>
                <a:cs typeface="Times New Roman" pitchFamily="18" charset="0"/>
              </a:rPr>
              <a:t>Overlapping window length w is min(|</a:t>
            </a:r>
            <a:r>
              <a:rPr lang="en-US" altLang="zh-TW" dirty="0" err="1">
                <a:latin typeface="Times New Roman" pitchFamily="18" charset="0"/>
                <a:cs typeface="Times New Roman" pitchFamily="18" charset="0"/>
              </a:rPr>
              <a:t>S</a:t>
            </a:r>
            <a:r>
              <a:rPr lang="en-US" altLang="zh-TW" baseline="-25000" dirty="0" err="1">
                <a:latin typeface="Times New Roman" pitchFamily="18" charset="0"/>
                <a:cs typeface="Times New Roman" pitchFamily="18" charset="0"/>
              </a:rPr>
              <a:t>l</a:t>
            </a:r>
            <a:r>
              <a:rPr lang="en-US" altLang="zh-TW" dirty="0">
                <a:latin typeface="Times New Roman" pitchFamily="18" charset="0"/>
                <a:cs typeface="Times New Roman" pitchFamily="18" charset="0"/>
              </a:rPr>
              <a:t>| /40, 25 000)  for DNA in general </a:t>
            </a:r>
          </a:p>
          <a:p>
            <a:r>
              <a:rPr lang="en-US" altLang="zh-TW" dirty="0">
                <a:latin typeface="Times New Roman" pitchFamily="18" charset="0"/>
                <a:cs typeface="Times New Roman" pitchFamily="18" charset="0"/>
              </a:rPr>
              <a:t>And for protein sequences of length &gt;3 kb, w = 500 is recommended.</a:t>
            </a:r>
          </a:p>
          <a:p>
            <a:r>
              <a:rPr lang="en-US" altLang="zh-TW" dirty="0">
                <a:latin typeface="Times New Roman" pitchFamily="18" charset="0"/>
                <a:cs typeface="Times New Roman" pitchFamily="18" charset="0"/>
              </a:rPr>
              <a:t>Threshold </a:t>
            </a:r>
            <a:r>
              <a:rPr lang="el-GR" altLang="zh-TW" dirty="0">
                <a:latin typeface="Times New Roman" pitchFamily="18" charset="0"/>
                <a:cs typeface="Times New Roman" pitchFamily="18" charset="0"/>
              </a:rPr>
              <a:t>θ</a:t>
            </a:r>
            <a:r>
              <a:rPr lang="en-US" altLang="zh-TW" dirty="0">
                <a:latin typeface="Times New Roman" pitchFamily="18" charset="0"/>
                <a:cs typeface="Times New Roman" pitchFamily="18" charset="0"/>
              </a:rPr>
              <a:t> , </a:t>
            </a:r>
            <a:r>
              <a:rPr lang="el-GR" altLang="zh-TW" dirty="0">
                <a:latin typeface="Times New Roman" pitchFamily="18" charset="0"/>
                <a:cs typeface="Times New Roman" pitchFamily="18" charset="0"/>
              </a:rPr>
              <a:t>θ</a:t>
            </a:r>
            <a:r>
              <a:rPr lang="en-US" altLang="zh-TW" dirty="0">
                <a:latin typeface="Times New Roman" pitchFamily="18" charset="0"/>
                <a:cs typeface="Times New Roman" pitchFamily="18" charset="0"/>
              </a:rPr>
              <a:t>/w≒0.9</a:t>
            </a:r>
            <a:endParaRPr lang="zh-TW" altLang="en-US"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Result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285720" y="5357826"/>
            <a:ext cx="8572560" cy="1357322"/>
          </a:xfrm>
        </p:spPr>
        <p:txBody>
          <a:bodyPr>
            <a:normAutofit fontScale="92500" lnSpcReduction="10000"/>
          </a:bodyPr>
          <a:lstStyle/>
          <a:p>
            <a:pPr>
              <a:buNone/>
            </a:pPr>
            <a:r>
              <a:rPr lang="en-US" altLang="zh-TW" sz="2000" dirty="0">
                <a:latin typeface="Times New Roman" panose="02020603050405020304" pitchFamily="18" charset="0"/>
                <a:cs typeface="Times New Roman" pitchFamily="18" charset="0"/>
              </a:rPr>
              <a:t>E()</a:t>
            </a:r>
            <a:r>
              <a:rPr lang="zh-TW" altLang="en-US" sz="2000" dirty="0">
                <a:latin typeface="Times New Roman" panose="02020603050405020304" pitchFamily="18" charset="0"/>
                <a:cs typeface="Times New Roman" pitchFamily="18" charset="0"/>
              </a:rPr>
              <a:t> </a:t>
            </a:r>
            <a:r>
              <a:rPr lang="en-US" altLang="zh-TW" sz="2000" dirty="0">
                <a:latin typeface="Times New Roman" pitchFamily="18" charset="0"/>
                <a:cs typeface="Times New Roman" pitchFamily="18" charset="0"/>
              </a:rPr>
              <a:t>: the expected frequency of chance occurrence of the RPA having similarity score S (or higher).</a:t>
            </a:r>
          </a:p>
          <a:p>
            <a:pPr>
              <a:buNone/>
            </a:pPr>
            <a:r>
              <a:rPr lang="en-US" altLang="zh-TW" sz="2000" dirty="0">
                <a:latin typeface="Times New Roman" pitchFamily="18" charset="0"/>
                <a:cs typeface="Times New Roman" pitchFamily="18" charset="0"/>
              </a:rPr>
              <a:t>G/O,G/E</a:t>
            </a:r>
            <a:r>
              <a:rPr lang="zh-TW" altLang="en-US" sz="2000" dirty="0">
                <a:latin typeface="Times New Roman" panose="02020603050405020304" pitchFamily="18" charset="0"/>
                <a:cs typeface="Times New Roman" pitchFamily="18" charset="0"/>
              </a:rPr>
              <a:t> </a:t>
            </a:r>
            <a:r>
              <a:rPr lang="en-US" altLang="zh-TW" sz="2000" dirty="0">
                <a:latin typeface="Times New Roman" panose="02020603050405020304" pitchFamily="18" charset="0"/>
                <a:cs typeface="Times New Roman" pitchFamily="18" charset="0"/>
              </a:rPr>
              <a:t>:</a:t>
            </a:r>
            <a:r>
              <a:rPr lang="zh-TW" altLang="en-US" sz="2000" dirty="0">
                <a:latin typeface="Times New Roman" panose="02020603050405020304" pitchFamily="18" charset="0"/>
                <a:cs typeface="Times New Roman" pitchFamily="18" charset="0"/>
              </a:rPr>
              <a:t> </a:t>
            </a:r>
            <a:r>
              <a:rPr lang="en-US" altLang="zh-TW" sz="2000" dirty="0">
                <a:latin typeface="Times New Roman" pitchFamily="18" charset="0"/>
                <a:cs typeface="Times New Roman" pitchFamily="18" charset="0"/>
              </a:rPr>
              <a:t>gap penalty</a:t>
            </a:r>
          </a:p>
          <a:p>
            <a:pPr>
              <a:buNone/>
            </a:pPr>
            <a:r>
              <a:rPr lang="en-US" altLang="zh-TW" sz="2000" dirty="0">
                <a:latin typeface="Times New Roman" pitchFamily="18" charset="0"/>
                <a:cs typeface="Times New Roman" pitchFamily="18" charset="0"/>
              </a:rPr>
              <a:t>K,</a:t>
            </a:r>
            <a:r>
              <a:rPr lang="el-GR" altLang="zh-TW" sz="2000" dirty="0">
                <a:latin typeface="Times New Roman" panose="02020603050405020304" pitchFamily="18" charset="0"/>
                <a:cs typeface="Times New Roman" pitchFamily="18" charset="0"/>
              </a:rPr>
              <a:t> λ</a:t>
            </a:r>
            <a:r>
              <a:rPr lang="en-US" altLang="zh-TW" sz="2000" dirty="0">
                <a:latin typeface="Times New Roman" panose="02020603050405020304" pitchFamily="18" charset="0"/>
                <a:cs typeface="Times New Roman" pitchFamily="18" charset="0"/>
              </a:rPr>
              <a:t> : </a:t>
            </a:r>
            <a:r>
              <a:rPr lang="en-US" altLang="zh-TW" sz="2000" dirty="0" err="1">
                <a:latin typeface="Times New Roman" panose="02020603050405020304" pitchFamily="18" charset="0"/>
                <a:cs typeface="Times New Roman" panose="02020603050405020304" pitchFamily="18" charset="0"/>
              </a:rPr>
              <a:t>Karlin–Altschul</a:t>
            </a:r>
            <a:r>
              <a:rPr lang="en-US" altLang="zh-TW" sz="2000" dirty="0">
                <a:latin typeface="Times New Roman" panose="02020603050405020304" pitchFamily="18" charset="0"/>
                <a:cs typeface="Times New Roman" panose="02020603050405020304" pitchFamily="18" charset="0"/>
              </a:rPr>
              <a:t> parameters(parameters of BLAST)</a:t>
            </a:r>
            <a:endParaRPr lang="zh-TW" altLang="en-US" sz="2000" dirty="0">
              <a:latin typeface="Times New Roman" panose="02020603050405020304" pitchFamily="18" charset="0"/>
              <a:cs typeface="Times New Roman" pitchFamily="18" charset="0"/>
            </a:endParaRPr>
          </a:p>
        </p:txBody>
      </p:sp>
      <p:pic>
        <p:nvPicPr>
          <p:cNvPr id="1026" name="Picture 2"/>
          <p:cNvPicPr>
            <a:picLocks noChangeAspect="1" noChangeArrowheads="1"/>
          </p:cNvPicPr>
          <p:nvPr/>
        </p:nvPicPr>
        <p:blipFill>
          <a:blip r:embed="rId2"/>
          <a:srcRect/>
          <a:stretch>
            <a:fillRect/>
          </a:stretch>
        </p:blipFill>
        <p:spPr bwMode="auto">
          <a:xfrm>
            <a:off x="214281" y="1571612"/>
            <a:ext cx="8715437" cy="3680307"/>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a:latin typeface="Times New Roman" pitchFamily="18" charset="0"/>
                <a:cs typeface="Times New Roman" pitchFamily="18" charset="0"/>
              </a:rPr>
              <a:t>Timing Analysis</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endParaRPr lang="zh-TW" altLang="en-US" dirty="0"/>
          </a:p>
        </p:txBody>
      </p:sp>
      <p:pic>
        <p:nvPicPr>
          <p:cNvPr id="2050" name="Picture 2"/>
          <p:cNvPicPr>
            <a:picLocks noChangeAspect="1" noChangeArrowheads="1"/>
          </p:cNvPicPr>
          <p:nvPr/>
        </p:nvPicPr>
        <p:blipFill>
          <a:blip r:embed="rId2"/>
          <a:srcRect/>
          <a:stretch>
            <a:fillRect/>
          </a:stretch>
        </p:blipFill>
        <p:spPr bwMode="auto">
          <a:xfrm>
            <a:off x="1000100" y="1428736"/>
            <a:ext cx="6823006" cy="500066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訂 1">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3491</TotalTime>
  <Words>666</Words>
  <Application>Microsoft Office PowerPoint</Application>
  <PresentationFormat>如螢幕大小 (4:3)</PresentationFormat>
  <Paragraphs>89</Paragraphs>
  <Slides>14</Slides>
  <Notes>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14</vt:i4>
      </vt:variant>
    </vt:vector>
  </HeadingPairs>
  <TitlesOfParts>
    <vt:vector size="18" baseType="lpstr">
      <vt:lpstr>Arial</vt:lpstr>
      <vt:lpstr>Calibri</vt:lpstr>
      <vt:lpstr>Times New Roman</vt:lpstr>
      <vt:lpstr>Office 佈景主題</vt:lpstr>
      <vt:lpstr>A Parallel Pairwise Local Sequence Alignment Algorithm</vt:lpstr>
      <vt:lpstr>Abstract(1/2)</vt:lpstr>
      <vt:lpstr>Abstract(2/2)</vt:lpstr>
      <vt:lpstr>PowerPoint 簡報</vt:lpstr>
      <vt:lpstr>PowerPoint 簡報</vt:lpstr>
      <vt:lpstr>PowerPoint 簡報</vt:lpstr>
      <vt:lpstr>Composite score (CS)</vt:lpstr>
      <vt:lpstr>BINARY Matrix</vt:lpstr>
      <vt:lpstr>BINARY Matrix</vt:lpstr>
      <vt:lpstr>BINARY Matrix</vt:lpstr>
      <vt:lpstr>Merging and Redistribution</vt:lpstr>
      <vt:lpstr>Parameters</vt:lpstr>
      <vt:lpstr>Result</vt:lpstr>
      <vt:lpstr>Timing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Parallel Pairwise Local Sequence Alignment Algorithm</dc:title>
  <dc:creator>super</dc:creator>
  <cp:lastModifiedBy>pplab</cp:lastModifiedBy>
  <cp:revision>453</cp:revision>
  <dcterms:created xsi:type="dcterms:W3CDTF">2020-09-11T11:13:53Z</dcterms:created>
  <dcterms:modified xsi:type="dcterms:W3CDTF">2020-09-15T10:44:05Z</dcterms:modified>
</cp:coreProperties>
</file>