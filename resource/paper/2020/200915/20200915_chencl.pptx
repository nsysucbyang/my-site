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1"/>
  </p:notesMasterIdLst>
  <p:sldIdLst>
    <p:sldId id="256" r:id="rId4"/>
    <p:sldId id="257" r:id="rId5"/>
    <p:sldId id="267" r:id="rId6"/>
    <p:sldId id="258" r:id="rId7"/>
    <p:sldId id="268" r:id="rId8"/>
    <p:sldId id="270" r:id="rId9"/>
    <p:sldId id="269" r:id="rId10"/>
    <p:sldId id="271" r:id="rId11"/>
    <p:sldId id="272" r:id="rId12"/>
    <p:sldId id="273" r:id="rId13"/>
    <p:sldId id="259" r:id="rId14"/>
    <p:sldId id="260" r:id="rId15"/>
    <p:sldId id="261" r:id="rId16"/>
    <p:sldId id="262" r:id="rId17"/>
    <p:sldId id="263" r:id="rId18"/>
    <p:sldId id="264" r:id="rId19"/>
    <p:sldId id="266" r:id="rId2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p:restoredTop sz="74939"/>
  </p:normalViewPr>
  <p:slideViewPr>
    <p:cSldViewPr snapToGrid="0" snapToObjects="1">
      <p:cViewPr varScale="1">
        <p:scale>
          <a:sx n="54" d="100"/>
          <a:sy n="54" d="100"/>
        </p:scale>
        <p:origin x="135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3"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zh-TW" sz="1800" b="0" strike="noStrike" spc="-1">
                <a:solidFill>
                  <a:srgbClr val="000000"/>
                </a:solidFill>
                <a:latin typeface="Calibri"/>
              </a:rPr>
              <a:t>請按這裡移動投影片</a:t>
            </a:r>
          </a:p>
        </p:txBody>
      </p:sp>
      <p:sp>
        <p:nvSpPr>
          <p:cNvPr id="124" name="PlaceHolder 2"/>
          <p:cNvSpPr>
            <a:spLocks noGrp="1"/>
          </p:cNvSpPr>
          <p:nvPr>
            <p:ph type="body"/>
          </p:nvPr>
        </p:nvSpPr>
        <p:spPr>
          <a:xfrm>
            <a:off x="756000" y="5078520"/>
            <a:ext cx="6047640" cy="4811040"/>
          </a:xfrm>
          <a:prstGeom prst="rect">
            <a:avLst/>
          </a:prstGeom>
        </p:spPr>
        <p:txBody>
          <a:bodyPr lIns="0" tIns="0" rIns="0" bIns="0"/>
          <a:lstStyle/>
          <a:p>
            <a:r>
              <a:rPr lang="en-US" sz="2000" b="0" strike="noStrike" spc="-1">
                <a:latin typeface="Arial"/>
              </a:rPr>
              <a:t>請按這裡編輯備註格式</a:t>
            </a:r>
          </a:p>
        </p:txBody>
      </p:sp>
      <p:sp>
        <p:nvSpPr>
          <p:cNvPr id="125" name="PlaceHolder 3"/>
          <p:cNvSpPr>
            <a:spLocks noGrp="1"/>
          </p:cNvSpPr>
          <p:nvPr>
            <p:ph type="hdr"/>
          </p:nvPr>
        </p:nvSpPr>
        <p:spPr>
          <a:xfrm>
            <a:off x="0" y="0"/>
            <a:ext cx="3280680" cy="534240"/>
          </a:xfrm>
          <a:prstGeom prst="rect">
            <a:avLst/>
          </a:prstGeom>
        </p:spPr>
        <p:txBody>
          <a:bodyPr lIns="0" tIns="0" rIns="0" bIns="0"/>
          <a:lstStyle/>
          <a:p>
            <a:r>
              <a:rPr lang="en-US" sz="1400" b="0" strike="noStrike" spc="-1">
                <a:latin typeface="Times New Roman"/>
              </a:rPr>
              <a:t> </a:t>
            </a:r>
          </a:p>
        </p:txBody>
      </p:sp>
      <p:sp>
        <p:nvSpPr>
          <p:cNvPr id="126" name="PlaceHolder 4"/>
          <p:cNvSpPr>
            <a:spLocks noGrp="1"/>
          </p:cNvSpPr>
          <p:nvPr>
            <p:ph type="dt"/>
          </p:nvPr>
        </p:nvSpPr>
        <p:spPr>
          <a:xfrm>
            <a:off x="4278960" y="0"/>
            <a:ext cx="3280680" cy="534240"/>
          </a:xfrm>
          <a:prstGeom prst="rect">
            <a:avLst/>
          </a:prstGeom>
        </p:spPr>
        <p:txBody>
          <a:bodyPr lIns="0" tIns="0" rIns="0" bIns="0"/>
          <a:lstStyle/>
          <a:p>
            <a:pPr algn="r"/>
            <a:r>
              <a:rPr lang="en-US" sz="1400" b="0" strike="noStrike" spc="-1">
                <a:latin typeface="Times New Roman"/>
              </a:rPr>
              <a:t> </a:t>
            </a:r>
          </a:p>
        </p:txBody>
      </p:sp>
      <p:sp>
        <p:nvSpPr>
          <p:cNvPr id="127" name="PlaceHolder 5"/>
          <p:cNvSpPr>
            <a:spLocks noGrp="1"/>
          </p:cNvSpPr>
          <p:nvPr>
            <p:ph type="ftr"/>
          </p:nvPr>
        </p:nvSpPr>
        <p:spPr>
          <a:xfrm>
            <a:off x="0" y="10157400"/>
            <a:ext cx="3280680" cy="534240"/>
          </a:xfrm>
          <a:prstGeom prst="rect">
            <a:avLst/>
          </a:prstGeom>
        </p:spPr>
        <p:txBody>
          <a:bodyPr lIns="0" tIns="0" rIns="0" bIns="0" anchor="b"/>
          <a:lstStyle/>
          <a:p>
            <a:r>
              <a:rPr lang="en-US" sz="1400" b="0" strike="noStrike" spc="-1">
                <a:latin typeface="Times New Roman"/>
              </a:rPr>
              <a:t> </a:t>
            </a:r>
          </a:p>
        </p:txBody>
      </p:sp>
      <p:sp>
        <p:nvSpPr>
          <p:cNvPr id="128" name="PlaceHolder 6"/>
          <p:cNvSpPr>
            <a:spLocks noGrp="1"/>
          </p:cNvSpPr>
          <p:nvPr>
            <p:ph type="sldNum"/>
          </p:nvPr>
        </p:nvSpPr>
        <p:spPr>
          <a:xfrm>
            <a:off x="4278960" y="10157400"/>
            <a:ext cx="3280680" cy="534240"/>
          </a:xfrm>
          <a:prstGeom prst="rect">
            <a:avLst/>
          </a:prstGeom>
        </p:spPr>
        <p:txBody>
          <a:bodyPr lIns="0" tIns="0" rIns="0" bIns="0" anchor="b"/>
          <a:lstStyle/>
          <a:p>
            <a:pPr algn="r"/>
            <a:fld id="{7A97349B-A5F9-45A8-A94D-91F718FCB022}"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noRot="1" noChangeAspect="1"/>
          </p:cNvSpPr>
          <p:nvPr>
            <p:ph type="sldImg"/>
          </p:nvPr>
        </p:nvSpPr>
        <p:spPr>
          <a:xfrm>
            <a:off x="685800" y="1143000"/>
            <a:ext cx="5486400" cy="3086100"/>
          </a:xfrm>
          <a:prstGeom prst="rect">
            <a:avLst/>
          </a:prstGeom>
        </p:spPr>
      </p:sp>
      <p:sp>
        <p:nvSpPr>
          <p:cNvPr id="184" name="PlaceHolder 2"/>
          <p:cNvSpPr>
            <a:spLocks noGrp="1"/>
          </p:cNvSpPr>
          <p:nvPr>
            <p:ph type="body"/>
          </p:nvPr>
        </p:nvSpPr>
        <p:spPr>
          <a:xfrm>
            <a:off x="685800" y="4400640"/>
            <a:ext cx="5486040" cy="36000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sz="1200" b="0" i="0" u="none" strike="noStrike" kern="1200" dirty="0">
                <a:solidFill>
                  <a:schemeClr val="tx1"/>
                </a:solidFill>
                <a:effectLst/>
                <a:latin typeface="+mn-lt"/>
                <a:ea typeface="+mn-ea"/>
                <a:cs typeface="+mn-cs"/>
              </a:rPr>
              <a:t>Duquesne University</a:t>
            </a:r>
            <a:r>
              <a:rPr lang="en-US" altLang="zh-TW" sz="2000" b="0" i="0" u="none" strike="noStrike" kern="1200" spc="-1" dirty="0">
                <a:solidFill>
                  <a:schemeClr val="tx1"/>
                </a:solidFill>
                <a:effectLst/>
                <a:latin typeface="Arial"/>
                <a:ea typeface="+mn-ea"/>
                <a:cs typeface="+mn-cs"/>
              </a:rPr>
              <a:t>, </a:t>
            </a:r>
            <a:r>
              <a:rPr lang="zh-TW" altLang="en-US" sz="2000" b="0" i="0" u="none" strike="noStrike" kern="1200" spc="-1" dirty="0">
                <a:solidFill>
                  <a:schemeClr val="tx1"/>
                </a:solidFill>
                <a:effectLst/>
                <a:latin typeface="Arial"/>
                <a:ea typeface="+mn-ea"/>
                <a:cs typeface="+mn-cs"/>
              </a:rPr>
              <a:t>美國賓州</a:t>
            </a:r>
            <a:endParaRPr lang="en" altLang="zh-TW" sz="1200" b="0" i="0" u="none" strike="noStrike" kern="1200" dirty="0">
              <a:solidFill>
                <a:schemeClr val="tx1"/>
              </a:solidFill>
              <a:effectLst/>
              <a:latin typeface="+mn-lt"/>
              <a:ea typeface="+mn-ea"/>
              <a:cs typeface="+mn-cs"/>
            </a:endParaRPr>
          </a:p>
        </p:txBody>
      </p:sp>
      <p:sp>
        <p:nvSpPr>
          <p:cNvPr id="185" name="TextShape 3"/>
          <p:cNvSpPr txBox="1"/>
          <p:nvPr/>
        </p:nvSpPr>
        <p:spPr>
          <a:xfrm>
            <a:off x="3884760" y="8685360"/>
            <a:ext cx="2971440" cy="458280"/>
          </a:xfrm>
          <a:prstGeom prst="rect">
            <a:avLst/>
          </a:prstGeom>
          <a:noFill/>
          <a:ln>
            <a:noFill/>
          </a:ln>
        </p:spPr>
        <p:txBody>
          <a:bodyPr anchor="b"/>
          <a:lstStyle/>
          <a:p>
            <a:pPr algn="r">
              <a:lnSpc>
                <a:spcPct val="100000"/>
              </a:lnSpc>
            </a:pPr>
            <a:fld id="{FEF418A5-3379-4025-84EF-7EDB94BA8588}" type="slidenum">
              <a:rPr lang="en-US" sz="1200" b="0" strike="noStrike" spc="-1">
                <a:latin typeface="Times New Roman"/>
              </a:rPr>
              <a:t>1</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kumimoji="1" lang="zh-TW" altLang="en-US" dirty="0"/>
              <a:t>第二本作者疑似是</a:t>
            </a:r>
            <a:r>
              <a:rPr kumimoji="1" lang="en-US" altLang="zh-TW" dirty="0"/>
              <a:t>Michael</a:t>
            </a:r>
            <a:r>
              <a:rPr kumimoji="1" lang="zh-TW" altLang="en-US" dirty="0"/>
              <a:t>美國</a:t>
            </a:r>
            <a:r>
              <a:rPr kumimoji="1" lang="en-US" altLang="zh-TW" dirty="0"/>
              <a:t>CIA</a:t>
            </a:r>
            <a:r>
              <a:rPr kumimoji="1" lang="zh-TW" altLang="en-US" dirty="0"/>
              <a:t>的幹員，作者認為如果這本書是他寫的，那這本書信譽度大增。</a:t>
            </a:r>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6</a:t>
            </a:fld>
            <a:endParaRPr lang="en-US" sz="1400" b="0" strike="noStrike" spc="-1">
              <a:latin typeface="Times New Roman"/>
            </a:endParaRPr>
          </a:p>
        </p:txBody>
      </p:sp>
    </p:spTree>
    <p:extLst>
      <p:ext uri="{BB962C8B-B14F-4D97-AF65-F5344CB8AC3E}">
        <p14:creationId xmlns:p14="http://schemas.microsoft.com/office/powerpoint/2010/main" val="2351902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kumimoji="1" lang="zh-TW" altLang="en-US" dirty="0"/>
              <a:t>名詞片語可用</a:t>
            </a:r>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7</a:t>
            </a:fld>
            <a:endParaRPr lang="en-US" sz="1400" b="0" strike="noStrike" spc="-1">
              <a:latin typeface="Times New Roman"/>
            </a:endParaRPr>
          </a:p>
        </p:txBody>
      </p:sp>
    </p:spTree>
    <p:extLst>
      <p:ext uri="{BB962C8B-B14F-4D97-AF65-F5344CB8AC3E}">
        <p14:creationId xmlns:p14="http://schemas.microsoft.com/office/powerpoint/2010/main" val="2882505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kumimoji="1" lang="en-US" altLang="zh-TW" dirty="0"/>
              <a:t>2-gram</a:t>
            </a:r>
            <a:r>
              <a:rPr kumimoji="1" lang="zh-TW" altLang="en-US" dirty="0"/>
              <a:t>公式</a:t>
            </a:r>
            <a:endParaRPr kumimoji="1" lang="en-US" altLang="zh-TW" dirty="0"/>
          </a:p>
          <a:p>
            <a:r>
              <a:rPr kumimoji="1" lang="en-US" altLang="zh-TW" dirty="0"/>
              <a:t>N-gram</a:t>
            </a:r>
            <a:r>
              <a:rPr kumimoji="1" lang="zh-TW" altLang="en-US" dirty="0"/>
              <a:t>公式</a:t>
            </a:r>
            <a:endParaRPr kumimoji="1" lang="en-US" altLang="zh-TW" dirty="0"/>
          </a:p>
          <a:p>
            <a:r>
              <a:rPr kumimoji="1" lang="en-US" altLang="zh-TW" dirty="0"/>
              <a:t>Code style</a:t>
            </a:r>
            <a:r>
              <a:rPr kumimoji="1" lang="zh-TW" altLang="en-US" dirty="0"/>
              <a:t>不同的例子</a:t>
            </a:r>
            <a:endParaRPr kumimoji="1" lang="en-US" altLang="zh-TW" dirty="0"/>
          </a:p>
          <a:p>
            <a:endParaRPr kumimoji="1" lang="en-US" altLang="zh-TW" dirty="0"/>
          </a:p>
          <a:p>
            <a:r>
              <a:rPr kumimoji="1" lang="zh-TW" altLang="en-US" dirty="0"/>
              <a:t>第五章例子</a:t>
            </a:r>
            <a:r>
              <a:rPr kumimoji="1" lang="en-US" altLang="zh-TW" dirty="0"/>
              <a:t>-</a:t>
            </a:r>
            <a:r>
              <a:rPr kumimoji="1" lang="zh-TW" altLang="en-US" dirty="0"/>
              <a:t>詞頻的</a:t>
            </a:r>
            <a:r>
              <a:rPr kumimoji="1" lang="en-US" altLang="zh-TW" dirty="0"/>
              <a:t>PCA,</a:t>
            </a:r>
            <a:r>
              <a:rPr kumimoji="1" lang="zh-TW" altLang="en-US" dirty="0"/>
              <a:t>三維降成二維</a:t>
            </a:r>
            <a:endParaRPr kumimoji="1" lang="en-US" altLang="zh-TW" dirty="0"/>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3041453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TW" dirty="0"/>
              <a:t>Example of</a:t>
            </a:r>
          </a:p>
          <a:p>
            <a:r>
              <a:rPr lang="en-US" altLang="zh-TW" dirty="0"/>
              <a:t>Cluster</a:t>
            </a:r>
          </a:p>
          <a:p>
            <a:r>
              <a:rPr lang="en-US" altLang="zh-TW" dirty="0"/>
              <a:t>Supervised </a:t>
            </a:r>
            <a:endParaRPr lang="zh-TW" altLang="en-US" dirty="0"/>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9</a:t>
            </a:fld>
            <a:endParaRPr lang="en-US" sz="1400" b="0" strike="noStrike" spc="-1">
              <a:latin typeface="Times New Roman"/>
            </a:endParaRPr>
          </a:p>
        </p:txBody>
      </p:sp>
    </p:spTree>
    <p:extLst>
      <p:ext uri="{BB962C8B-B14F-4D97-AF65-F5344CB8AC3E}">
        <p14:creationId xmlns:p14="http://schemas.microsoft.com/office/powerpoint/2010/main" val="2493216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kumimoji="1" lang="zh-TW" altLang="en-US" dirty="0"/>
              <a:t>最靠近重心者當重心</a:t>
            </a:r>
            <a:r>
              <a:rPr kumimoji="1" lang="en-US" altLang="zh-TW" dirty="0"/>
              <a:t>,loop</a:t>
            </a:r>
            <a:r>
              <a:rPr kumimoji="1" lang="zh-TW" altLang="en-US" dirty="0"/>
              <a:t>看是否為真正重心</a:t>
            </a:r>
          </a:p>
        </p:txBody>
      </p:sp>
      <p:sp>
        <p:nvSpPr>
          <p:cNvPr id="4" name="投影片編號版面配置區 3"/>
          <p:cNvSpPr>
            <a:spLocks noGrp="1"/>
          </p:cNvSpPr>
          <p:nvPr>
            <p:ph type="sldNum"/>
          </p:nvPr>
        </p:nvSpPr>
        <p:spPr/>
        <p:txBody>
          <a:bodyPr/>
          <a:lstStyle/>
          <a:p>
            <a:pPr algn="r"/>
            <a:fld id="{7A97349B-A5F9-45A8-A94D-91F718FCB022}" type="slidenum">
              <a:rPr lang="en-US" sz="1400" b="0" strike="noStrike" spc="-1" smtClean="0">
                <a:latin typeface="Times New Roman"/>
              </a:rPr>
              <a:t>15</a:t>
            </a:fld>
            <a:endParaRPr lang="en-US" sz="1400" b="0" strike="noStrike" spc="-1">
              <a:latin typeface="Times New Roman"/>
            </a:endParaRPr>
          </a:p>
        </p:txBody>
      </p:sp>
    </p:spTree>
    <p:extLst>
      <p:ext uri="{BB962C8B-B14F-4D97-AF65-F5344CB8AC3E}">
        <p14:creationId xmlns:p14="http://schemas.microsoft.com/office/powerpoint/2010/main" val="3281893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 name="PlaceHolder 2"/>
          <p:cNvSpPr>
            <a:spLocks noGrp="1"/>
          </p:cNvSpPr>
          <p:nvPr>
            <p:ph type="subTitle"/>
          </p:nvPr>
        </p:nvSpPr>
        <p:spPr>
          <a:xfrm>
            <a:off x="831960" y="4589640"/>
            <a:ext cx="10515240" cy="14997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8" name="PlaceHolder 2"/>
          <p:cNvSpPr>
            <a:spLocks noGrp="1"/>
          </p:cNvSpPr>
          <p:nvPr>
            <p:ph type="body"/>
          </p:nvPr>
        </p:nvSpPr>
        <p:spPr>
          <a:xfrm>
            <a:off x="831960" y="4589640"/>
            <a:ext cx="1051524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1960" y="1709640"/>
            <a:ext cx="10515240" cy="1322280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5"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6"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7"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9"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0"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1" name="PlaceHolder 4"/>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23"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4"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5" name="PlaceHolder 4"/>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27" name="PlaceHolder 2"/>
          <p:cNvSpPr>
            <a:spLocks noGrp="1"/>
          </p:cNvSpPr>
          <p:nvPr>
            <p:ph type="body"/>
          </p:nvPr>
        </p:nvSpPr>
        <p:spPr>
          <a:xfrm>
            <a:off x="831960" y="458964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28" name="PlaceHolder 3"/>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30"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1"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2"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3" name="PlaceHolder 5"/>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35" name="PlaceHolder 2"/>
          <p:cNvSpPr>
            <a:spLocks noGrp="1"/>
          </p:cNvSpPr>
          <p:nvPr>
            <p:ph type="body"/>
          </p:nvPr>
        </p:nvSpPr>
        <p:spPr>
          <a:xfrm>
            <a:off x="83196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6" name="PlaceHolder 3"/>
          <p:cNvSpPr>
            <a:spLocks noGrp="1"/>
          </p:cNvSpPr>
          <p:nvPr>
            <p:ph type="body"/>
          </p:nvPr>
        </p:nvSpPr>
        <p:spPr>
          <a:xfrm>
            <a:off x="438732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7" name="PlaceHolder 4"/>
          <p:cNvSpPr>
            <a:spLocks noGrp="1"/>
          </p:cNvSpPr>
          <p:nvPr>
            <p:ph type="body"/>
          </p:nvPr>
        </p:nvSpPr>
        <p:spPr>
          <a:xfrm>
            <a:off x="794304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8" name="PlaceHolder 5"/>
          <p:cNvSpPr>
            <a:spLocks noGrp="1"/>
          </p:cNvSpPr>
          <p:nvPr>
            <p:ph type="body"/>
          </p:nvPr>
        </p:nvSpPr>
        <p:spPr>
          <a:xfrm>
            <a:off x="83196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39" name="PlaceHolder 6"/>
          <p:cNvSpPr>
            <a:spLocks noGrp="1"/>
          </p:cNvSpPr>
          <p:nvPr>
            <p:ph type="body"/>
          </p:nvPr>
        </p:nvSpPr>
        <p:spPr>
          <a:xfrm>
            <a:off x="438732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40" name="PlaceHolder 7"/>
          <p:cNvSpPr>
            <a:spLocks noGrp="1"/>
          </p:cNvSpPr>
          <p:nvPr>
            <p:ph type="body"/>
          </p:nvPr>
        </p:nvSpPr>
        <p:spPr>
          <a:xfrm>
            <a:off x="794304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47" name="PlaceHolder 2"/>
          <p:cNvSpPr>
            <a:spLocks noGrp="1"/>
          </p:cNvSpPr>
          <p:nvPr>
            <p:ph type="subTitle"/>
          </p:nvPr>
        </p:nvSpPr>
        <p:spPr>
          <a:xfrm>
            <a:off x="831960" y="4589640"/>
            <a:ext cx="10515240" cy="14997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49" name="PlaceHolder 2"/>
          <p:cNvSpPr>
            <a:spLocks noGrp="1"/>
          </p:cNvSpPr>
          <p:nvPr>
            <p:ph type="body"/>
          </p:nvPr>
        </p:nvSpPr>
        <p:spPr>
          <a:xfrm>
            <a:off x="831960" y="4589640"/>
            <a:ext cx="1051524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51"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52"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1960" y="1709640"/>
            <a:ext cx="10515240" cy="1322280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56"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57"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58"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0"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1"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2" name="PlaceHolder 4"/>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4"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5"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6" name="PlaceHolder 4"/>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68" name="PlaceHolder 2"/>
          <p:cNvSpPr>
            <a:spLocks noGrp="1"/>
          </p:cNvSpPr>
          <p:nvPr>
            <p:ph type="body"/>
          </p:nvPr>
        </p:nvSpPr>
        <p:spPr>
          <a:xfrm>
            <a:off x="831960" y="458964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69" name="PlaceHolder 3"/>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71"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2"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3"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4" name="PlaceHolder 5"/>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76" name="PlaceHolder 2"/>
          <p:cNvSpPr>
            <a:spLocks noGrp="1"/>
          </p:cNvSpPr>
          <p:nvPr>
            <p:ph type="body"/>
          </p:nvPr>
        </p:nvSpPr>
        <p:spPr>
          <a:xfrm>
            <a:off x="83196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7" name="PlaceHolder 3"/>
          <p:cNvSpPr>
            <a:spLocks noGrp="1"/>
          </p:cNvSpPr>
          <p:nvPr>
            <p:ph type="body"/>
          </p:nvPr>
        </p:nvSpPr>
        <p:spPr>
          <a:xfrm>
            <a:off x="438732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8" name="PlaceHolder 4"/>
          <p:cNvSpPr>
            <a:spLocks noGrp="1"/>
          </p:cNvSpPr>
          <p:nvPr>
            <p:ph type="body"/>
          </p:nvPr>
        </p:nvSpPr>
        <p:spPr>
          <a:xfrm>
            <a:off x="794304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79" name="PlaceHolder 5"/>
          <p:cNvSpPr>
            <a:spLocks noGrp="1"/>
          </p:cNvSpPr>
          <p:nvPr>
            <p:ph type="body"/>
          </p:nvPr>
        </p:nvSpPr>
        <p:spPr>
          <a:xfrm>
            <a:off x="83196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80" name="PlaceHolder 6"/>
          <p:cNvSpPr>
            <a:spLocks noGrp="1"/>
          </p:cNvSpPr>
          <p:nvPr>
            <p:ph type="body"/>
          </p:nvPr>
        </p:nvSpPr>
        <p:spPr>
          <a:xfrm>
            <a:off x="438732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81" name="PlaceHolder 7"/>
          <p:cNvSpPr>
            <a:spLocks noGrp="1"/>
          </p:cNvSpPr>
          <p:nvPr>
            <p:ph type="body"/>
          </p:nvPr>
        </p:nvSpPr>
        <p:spPr>
          <a:xfrm>
            <a:off x="794304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88" name="PlaceHolder 2"/>
          <p:cNvSpPr>
            <a:spLocks noGrp="1"/>
          </p:cNvSpPr>
          <p:nvPr>
            <p:ph type="subTitle"/>
          </p:nvPr>
        </p:nvSpPr>
        <p:spPr>
          <a:xfrm>
            <a:off x="831960" y="4589640"/>
            <a:ext cx="10515240" cy="14997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90" name="PlaceHolder 2"/>
          <p:cNvSpPr>
            <a:spLocks noGrp="1"/>
          </p:cNvSpPr>
          <p:nvPr>
            <p:ph type="body"/>
          </p:nvPr>
        </p:nvSpPr>
        <p:spPr>
          <a:xfrm>
            <a:off x="831960" y="4589640"/>
            <a:ext cx="1051524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92"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93"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831960" y="1709640"/>
            <a:ext cx="10515240" cy="1322280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97"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98" name="PlaceHolder 3"/>
          <p:cNvSpPr>
            <a:spLocks noGrp="1"/>
          </p:cNvSpPr>
          <p:nvPr>
            <p:ph type="body"/>
          </p:nvPr>
        </p:nvSpPr>
        <p:spPr>
          <a:xfrm>
            <a:off x="622008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99"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1" name="PlaceHolder 2"/>
          <p:cNvSpPr>
            <a:spLocks noGrp="1"/>
          </p:cNvSpPr>
          <p:nvPr>
            <p:ph type="body"/>
          </p:nvPr>
        </p:nvSpPr>
        <p:spPr>
          <a:xfrm>
            <a:off x="831960" y="4589640"/>
            <a:ext cx="5131080" cy="149976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2"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3" name="PlaceHolder 4"/>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5"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6"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07" name="PlaceHolder 4"/>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09" name="PlaceHolder 2"/>
          <p:cNvSpPr>
            <a:spLocks noGrp="1"/>
          </p:cNvSpPr>
          <p:nvPr>
            <p:ph type="body"/>
          </p:nvPr>
        </p:nvSpPr>
        <p:spPr>
          <a:xfrm>
            <a:off x="831960" y="458964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0" name="PlaceHolder 3"/>
          <p:cNvSpPr>
            <a:spLocks noGrp="1"/>
          </p:cNvSpPr>
          <p:nvPr>
            <p:ph type="body"/>
          </p:nvPr>
        </p:nvSpPr>
        <p:spPr>
          <a:xfrm>
            <a:off x="831960" y="5373360"/>
            <a:ext cx="1051524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12" name="PlaceHolder 2"/>
          <p:cNvSpPr>
            <a:spLocks noGrp="1"/>
          </p:cNvSpPr>
          <p:nvPr>
            <p:ph type="body"/>
          </p:nvPr>
        </p:nvSpPr>
        <p:spPr>
          <a:xfrm>
            <a:off x="83196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3" name="PlaceHolder 3"/>
          <p:cNvSpPr>
            <a:spLocks noGrp="1"/>
          </p:cNvSpPr>
          <p:nvPr>
            <p:ph type="body"/>
          </p:nvPr>
        </p:nvSpPr>
        <p:spPr>
          <a:xfrm>
            <a:off x="6220080" y="458964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4" name="PlaceHolder 4"/>
          <p:cNvSpPr>
            <a:spLocks noGrp="1"/>
          </p:cNvSpPr>
          <p:nvPr>
            <p:ph type="body"/>
          </p:nvPr>
        </p:nvSpPr>
        <p:spPr>
          <a:xfrm>
            <a:off x="83196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5" name="PlaceHolder 5"/>
          <p:cNvSpPr>
            <a:spLocks noGrp="1"/>
          </p:cNvSpPr>
          <p:nvPr>
            <p:ph type="body"/>
          </p:nvPr>
        </p:nvSpPr>
        <p:spPr>
          <a:xfrm>
            <a:off x="6220080" y="5373360"/>
            <a:ext cx="513108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831960" y="1709640"/>
            <a:ext cx="10515240" cy="2852280"/>
          </a:xfrm>
          <a:prstGeom prst="rect">
            <a:avLst/>
          </a:prstGeom>
        </p:spPr>
        <p:txBody>
          <a:bodyPr lIns="0" tIns="0" rIns="0" bIns="0" anchor="ctr"/>
          <a:lstStyle/>
          <a:p>
            <a:endParaRPr lang="zh-TW" sz="1800" b="0" strike="noStrike" spc="-1">
              <a:solidFill>
                <a:srgbClr val="000000"/>
              </a:solidFill>
              <a:latin typeface="Calibri"/>
            </a:endParaRPr>
          </a:p>
        </p:txBody>
      </p:sp>
      <p:sp>
        <p:nvSpPr>
          <p:cNvPr id="117" name="PlaceHolder 2"/>
          <p:cNvSpPr>
            <a:spLocks noGrp="1"/>
          </p:cNvSpPr>
          <p:nvPr>
            <p:ph type="body"/>
          </p:nvPr>
        </p:nvSpPr>
        <p:spPr>
          <a:xfrm>
            <a:off x="83196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8" name="PlaceHolder 3"/>
          <p:cNvSpPr>
            <a:spLocks noGrp="1"/>
          </p:cNvSpPr>
          <p:nvPr>
            <p:ph type="body"/>
          </p:nvPr>
        </p:nvSpPr>
        <p:spPr>
          <a:xfrm>
            <a:off x="438732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19" name="PlaceHolder 4"/>
          <p:cNvSpPr>
            <a:spLocks noGrp="1"/>
          </p:cNvSpPr>
          <p:nvPr>
            <p:ph type="body"/>
          </p:nvPr>
        </p:nvSpPr>
        <p:spPr>
          <a:xfrm>
            <a:off x="7943040" y="458964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20" name="PlaceHolder 5"/>
          <p:cNvSpPr>
            <a:spLocks noGrp="1"/>
          </p:cNvSpPr>
          <p:nvPr>
            <p:ph type="body"/>
          </p:nvPr>
        </p:nvSpPr>
        <p:spPr>
          <a:xfrm>
            <a:off x="83196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21" name="PlaceHolder 6"/>
          <p:cNvSpPr>
            <a:spLocks noGrp="1"/>
          </p:cNvSpPr>
          <p:nvPr>
            <p:ph type="body"/>
          </p:nvPr>
        </p:nvSpPr>
        <p:spPr>
          <a:xfrm>
            <a:off x="438732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
        <p:nvSpPr>
          <p:cNvPr id="122" name="PlaceHolder 7"/>
          <p:cNvSpPr>
            <a:spLocks noGrp="1"/>
          </p:cNvSpPr>
          <p:nvPr>
            <p:ph type="body"/>
          </p:nvPr>
        </p:nvSpPr>
        <p:spPr>
          <a:xfrm>
            <a:off x="7943040" y="5373360"/>
            <a:ext cx="3385800" cy="715320"/>
          </a:xfrm>
          <a:prstGeom prst="rect">
            <a:avLst/>
          </a:prstGeom>
        </p:spPr>
        <p:txBody>
          <a:bodyPr lIns="0" tIns="0" rIns="0" bIns="0">
            <a:normAutofit/>
          </a:bodyPr>
          <a:lstStyle/>
          <a:p>
            <a:endParaRPr lang="zh-TW"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lstStyle/>
          <a:p>
            <a:pPr algn="ctr">
              <a:lnSpc>
                <a:spcPct val="90000"/>
              </a:lnSpc>
            </a:pPr>
            <a:r>
              <a:rPr lang="zh-TW" sz="6000" b="0" strike="noStrike" spc="-1">
                <a:solidFill>
                  <a:srgbClr val="000000"/>
                </a:solidFill>
                <a:latin typeface="Calibri Light"/>
              </a:rPr>
              <a:t>按一下以編輯母片標題樣式</a:t>
            </a:r>
            <a:endParaRPr lang="zh-TW" sz="6000" b="0" strike="noStrike" spc="-1">
              <a:solidFill>
                <a:srgbClr val="000000"/>
              </a:solid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lstStyle/>
          <a:p>
            <a:pPr>
              <a:lnSpc>
                <a:spcPct val="100000"/>
              </a:lnSpc>
            </a:pPr>
            <a:fld id="{663214FC-22D9-434A-AF3C-CA0F7EC63C77}" type="datetime">
              <a:rPr lang="en-US" sz="1200" b="0" strike="noStrike" spc="-1">
                <a:solidFill>
                  <a:srgbClr val="8B8B8B"/>
                </a:solidFill>
                <a:latin typeface="Calibri"/>
              </a:rPr>
              <a:t>9/15/2020</a:t>
            </a:fld>
            <a:endParaRPr lang="en-US" sz="1200" b="0" strike="noStrike" spc="-1">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2B784026-DA04-44D8-85CF-EDDF729FCCC9}"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zh-TW" sz="2800" b="0" strike="noStrike" spc="-1">
                <a:solidFill>
                  <a:srgbClr val="000000"/>
                </a:solidFill>
                <a:latin typeface="Calibri"/>
              </a:rPr>
              <a:t>請按這裡編輯大綱文字格式</a:t>
            </a:r>
          </a:p>
          <a:p>
            <a:pPr marL="864000" lvl="1" indent="-324000">
              <a:spcBef>
                <a:spcPts val="1134"/>
              </a:spcBef>
              <a:buClr>
                <a:srgbClr val="000000"/>
              </a:buClr>
              <a:buSzPct val="75000"/>
              <a:buFont typeface="Symbol" charset="2"/>
              <a:buChar char=""/>
            </a:pPr>
            <a:r>
              <a:rPr lang="zh-TW" sz="2000" b="0" strike="noStrike" spc="-1">
                <a:solidFill>
                  <a:srgbClr val="000000"/>
                </a:solidFill>
                <a:latin typeface="Calibri"/>
              </a:rPr>
              <a:t>第二個大綱層次</a:t>
            </a:r>
          </a:p>
          <a:p>
            <a:pPr marL="1296000" lvl="2" indent="-288000">
              <a:spcBef>
                <a:spcPts val="850"/>
              </a:spcBef>
              <a:buClr>
                <a:srgbClr val="000000"/>
              </a:buClr>
              <a:buSzPct val="45000"/>
              <a:buFont typeface="Wingdings" charset="2"/>
              <a:buChar char=""/>
            </a:pPr>
            <a:r>
              <a:rPr lang="zh-TW" sz="1800" b="0" strike="noStrike" spc="-1">
                <a:solidFill>
                  <a:srgbClr val="000000"/>
                </a:solidFill>
                <a:latin typeface="Calibri"/>
              </a:rPr>
              <a:t>第三個大綱層次</a:t>
            </a:r>
          </a:p>
          <a:p>
            <a:pPr marL="1728000" lvl="3" indent="-216000">
              <a:spcBef>
                <a:spcPts val="567"/>
              </a:spcBef>
              <a:buClr>
                <a:srgbClr val="000000"/>
              </a:buClr>
              <a:buSzPct val="75000"/>
              <a:buFont typeface="Symbol" charset="2"/>
              <a:buChar char=""/>
            </a:pPr>
            <a:r>
              <a:rPr lang="zh-TW" sz="1800" b="0" strike="noStrike" spc="-1">
                <a:solidFill>
                  <a:srgbClr val="000000"/>
                </a:solidFill>
                <a:latin typeface="Calibri"/>
              </a:rPr>
              <a:t>第四個大綱層次</a:t>
            </a: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zh-TW" sz="4400" b="0" strike="noStrike" spc="-1">
                <a:solidFill>
                  <a:srgbClr val="000000"/>
                </a:solidFill>
                <a:latin typeface="Calibri Light"/>
              </a:rPr>
              <a:t>按一下以編輯母片標題樣式</a:t>
            </a:r>
            <a:endParaRPr lang="zh-TW"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lstStyle/>
          <a:p>
            <a:pPr marL="228600" indent="-228240">
              <a:lnSpc>
                <a:spcPct val="90000"/>
              </a:lnSpc>
              <a:spcBef>
                <a:spcPts val="1001"/>
              </a:spcBef>
              <a:buClr>
                <a:srgbClr val="000000"/>
              </a:buClr>
              <a:buFont typeface="Arial"/>
              <a:buChar char="•"/>
            </a:pPr>
            <a:r>
              <a:rPr lang="zh-TW" sz="2800" b="0" strike="noStrike" spc="-1">
                <a:solidFill>
                  <a:srgbClr val="000000"/>
                </a:solidFill>
                <a:latin typeface="Calibri"/>
              </a:rPr>
              <a:t>按一下以編輯母片文字樣式</a:t>
            </a:r>
          </a:p>
          <a:p>
            <a:pPr marL="685800" lvl="1" indent="-228240">
              <a:lnSpc>
                <a:spcPct val="90000"/>
              </a:lnSpc>
              <a:spcBef>
                <a:spcPts val="499"/>
              </a:spcBef>
              <a:buClr>
                <a:srgbClr val="000000"/>
              </a:buClr>
              <a:buFont typeface="Arial"/>
              <a:buChar char="•"/>
            </a:pPr>
            <a:r>
              <a:rPr lang="zh-TW" sz="2400" b="0" strike="noStrike" spc="-1">
                <a:solidFill>
                  <a:srgbClr val="000000"/>
                </a:solidFill>
                <a:latin typeface="Calibri"/>
              </a:rPr>
              <a:t>第二層</a:t>
            </a:r>
          </a:p>
          <a:p>
            <a:pPr marL="1143000" lvl="2" indent="-228240">
              <a:lnSpc>
                <a:spcPct val="90000"/>
              </a:lnSpc>
              <a:spcBef>
                <a:spcPts val="499"/>
              </a:spcBef>
              <a:buClr>
                <a:srgbClr val="000000"/>
              </a:buClr>
              <a:buFont typeface="Arial"/>
              <a:buChar char="•"/>
            </a:pPr>
            <a:r>
              <a:rPr lang="zh-TW" sz="2000" b="0" strike="noStrike" spc="-1">
                <a:solidFill>
                  <a:srgbClr val="000000"/>
                </a:solidFill>
                <a:latin typeface="Calibri"/>
              </a:rPr>
              <a:t>第三層</a:t>
            </a:r>
          </a:p>
          <a:p>
            <a:pPr marL="1600200" lvl="3" indent="-228240">
              <a:lnSpc>
                <a:spcPct val="90000"/>
              </a:lnSpc>
              <a:spcBef>
                <a:spcPts val="499"/>
              </a:spcBef>
              <a:buClr>
                <a:srgbClr val="000000"/>
              </a:buClr>
              <a:buFont typeface="Arial"/>
              <a:buChar char="•"/>
            </a:pPr>
            <a:r>
              <a:rPr lang="zh-TW" sz="1800" b="0" strike="noStrike" spc="-1">
                <a:solidFill>
                  <a:srgbClr val="000000"/>
                </a:solidFill>
                <a:latin typeface="Calibri"/>
              </a:rPr>
              <a:t>第四層</a:t>
            </a:r>
          </a:p>
          <a:p>
            <a:pPr marL="2057400" lvl="4" indent="-228240">
              <a:lnSpc>
                <a:spcPct val="90000"/>
              </a:lnSpc>
              <a:spcBef>
                <a:spcPts val="499"/>
              </a:spcBef>
              <a:buClr>
                <a:srgbClr val="000000"/>
              </a:buClr>
              <a:buFont typeface="Arial"/>
              <a:buChar char="•"/>
            </a:pPr>
            <a:r>
              <a:rPr lang="zh-TW" sz="1800" b="0" strike="noStrike" spc="-1">
                <a:solidFill>
                  <a:srgbClr val="000000"/>
                </a:solidFill>
                <a:latin typeface="Calibri"/>
              </a:rPr>
              <a:t>第五層</a:t>
            </a:r>
          </a:p>
        </p:txBody>
      </p:sp>
      <p:sp>
        <p:nvSpPr>
          <p:cNvPr id="43" name="PlaceHolder 3"/>
          <p:cNvSpPr>
            <a:spLocks noGrp="1"/>
          </p:cNvSpPr>
          <p:nvPr>
            <p:ph type="dt"/>
          </p:nvPr>
        </p:nvSpPr>
        <p:spPr>
          <a:xfrm>
            <a:off x="838080" y="6356520"/>
            <a:ext cx="2742840" cy="364680"/>
          </a:xfrm>
          <a:prstGeom prst="rect">
            <a:avLst/>
          </a:prstGeom>
        </p:spPr>
        <p:txBody>
          <a:bodyPr anchor="ctr"/>
          <a:lstStyle/>
          <a:p>
            <a:pPr>
              <a:lnSpc>
                <a:spcPct val="100000"/>
              </a:lnSpc>
            </a:pPr>
            <a:fld id="{4463930C-9F0D-49A3-B35A-D29BF10E72F5}" type="datetime">
              <a:rPr lang="en-US" sz="1200" b="0" strike="noStrike" spc="-1">
                <a:solidFill>
                  <a:srgbClr val="8B8B8B"/>
                </a:solidFill>
                <a:latin typeface="Calibri"/>
              </a:rPr>
              <a:t>9/15/2020</a:t>
            </a:fld>
            <a:endParaRPr lang="en-US" sz="1200" b="0" strike="noStrike" spc="-1">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5141500D-BB92-4513-80C7-F5A0B6D4389E}"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831960" y="1709640"/>
            <a:ext cx="10515240" cy="2852280"/>
          </a:xfrm>
          <a:prstGeom prst="rect">
            <a:avLst/>
          </a:prstGeom>
        </p:spPr>
        <p:txBody>
          <a:bodyPr anchor="b"/>
          <a:lstStyle/>
          <a:p>
            <a:pPr>
              <a:lnSpc>
                <a:spcPct val="90000"/>
              </a:lnSpc>
            </a:pPr>
            <a:r>
              <a:rPr lang="zh-TW" sz="6000" b="0" strike="noStrike" spc="-1">
                <a:solidFill>
                  <a:srgbClr val="000000"/>
                </a:solidFill>
                <a:latin typeface="Calibri Light"/>
              </a:rPr>
              <a:t>按一下以編輯母片標題樣式</a:t>
            </a:r>
            <a:endParaRPr lang="zh-TW" sz="6000" b="0" strike="noStrike" spc="-1">
              <a:solidFill>
                <a:srgbClr val="000000"/>
              </a:solidFill>
              <a:latin typeface="Calibri"/>
            </a:endParaRPr>
          </a:p>
        </p:txBody>
      </p:sp>
      <p:sp>
        <p:nvSpPr>
          <p:cNvPr id="83" name="PlaceHolder 2"/>
          <p:cNvSpPr>
            <a:spLocks noGrp="1"/>
          </p:cNvSpPr>
          <p:nvPr>
            <p:ph type="body"/>
          </p:nvPr>
        </p:nvSpPr>
        <p:spPr>
          <a:xfrm>
            <a:off x="831960" y="4589640"/>
            <a:ext cx="10515240" cy="1499760"/>
          </a:xfrm>
          <a:prstGeom prst="rect">
            <a:avLst/>
          </a:prstGeom>
        </p:spPr>
        <p:txBody>
          <a:bodyPr/>
          <a:lstStyle/>
          <a:p>
            <a:pPr>
              <a:lnSpc>
                <a:spcPct val="90000"/>
              </a:lnSpc>
              <a:spcBef>
                <a:spcPts val="1001"/>
              </a:spcBef>
            </a:pPr>
            <a:r>
              <a:rPr lang="zh-TW" sz="2400" b="0" strike="noStrike" spc="-1">
                <a:solidFill>
                  <a:srgbClr val="8B8B8B"/>
                </a:solidFill>
                <a:latin typeface="Calibri"/>
              </a:rPr>
              <a:t>按一下以編輯母片文字樣式</a:t>
            </a:r>
            <a:endParaRPr lang="zh-TW" sz="2400" b="0" strike="noStrike" spc="-1">
              <a:solidFill>
                <a:srgbClr val="000000"/>
              </a:solidFill>
              <a:latin typeface="Calibri"/>
            </a:endParaRPr>
          </a:p>
        </p:txBody>
      </p:sp>
      <p:sp>
        <p:nvSpPr>
          <p:cNvPr id="84" name="PlaceHolder 3"/>
          <p:cNvSpPr>
            <a:spLocks noGrp="1"/>
          </p:cNvSpPr>
          <p:nvPr>
            <p:ph type="dt"/>
          </p:nvPr>
        </p:nvSpPr>
        <p:spPr>
          <a:xfrm>
            <a:off x="838080" y="6356520"/>
            <a:ext cx="2742840" cy="364680"/>
          </a:xfrm>
          <a:prstGeom prst="rect">
            <a:avLst/>
          </a:prstGeom>
        </p:spPr>
        <p:txBody>
          <a:bodyPr anchor="ctr"/>
          <a:lstStyle/>
          <a:p>
            <a:pPr>
              <a:lnSpc>
                <a:spcPct val="100000"/>
              </a:lnSpc>
            </a:pPr>
            <a:fld id="{7C8C9CAE-CBB2-48EC-B8A3-93722385D573}" type="datetime">
              <a:rPr lang="en-US" sz="1200" b="0" strike="noStrike" spc="-1">
                <a:solidFill>
                  <a:srgbClr val="8B8B8B"/>
                </a:solidFill>
                <a:latin typeface="Calibri"/>
              </a:rPr>
              <a:t>9/15/2020</a:t>
            </a:fld>
            <a:endParaRPr lang="en-US" sz="1200" b="0" strike="noStrike" spc="-1">
              <a:latin typeface="Times New Roman"/>
            </a:endParaRPr>
          </a:p>
        </p:txBody>
      </p:sp>
      <p:sp>
        <p:nvSpPr>
          <p:cNvPr id="85"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86"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009E6D13-B238-40D5-931A-39EB5D519B82}"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aicbt.com/authorship-attribution/online-software/" TargetMode="Externa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Shape 1"/>
          <p:cNvSpPr txBox="1"/>
          <p:nvPr/>
        </p:nvSpPr>
        <p:spPr>
          <a:xfrm>
            <a:off x="358588" y="189720"/>
            <a:ext cx="11968560" cy="2387160"/>
          </a:xfrm>
          <a:prstGeom prst="rect">
            <a:avLst/>
          </a:prstGeom>
          <a:noFill/>
          <a:ln>
            <a:noFill/>
          </a:ln>
        </p:spPr>
        <p:txBody>
          <a:bodyPr anchor="b">
            <a:normAutofit/>
          </a:bodyPr>
          <a:lstStyle/>
          <a:p>
            <a:pPr algn="ctr">
              <a:lnSpc>
                <a:spcPct val="90000"/>
              </a:lnSpc>
            </a:pPr>
            <a:r>
              <a:rPr lang="zh-TW" sz="6000" b="0" strike="noStrike" spc="-1" dirty="0">
                <a:solidFill>
                  <a:srgbClr val="000000"/>
                </a:solidFill>
                <a:latin typeface="Calibri Light"/>
              </a:rPr>
              <a:t>Authorship Attribution</a:t>
            </a:r>
            <a:endParaRPr lang="zh-TW" sz="6000" b="0" strike="noStrike" spc="-1" dirty="0">
              <a:solidFill>
                <a:srgbClr val="000000"/>
              </a:solidFill>
              <a:latin typeface="Calibri"/>
            </a:endParaRPr>
          </a:p>
        </p:txBody>
      </p:sp>
      <p:sp>
        <p:nvSpPr>
          <p:cNvPr id="130" name="TextShape 2"/>
          <p:cNvSpPr txBox="1"/>
          <p:nvPr/>
        </p:nvSpPr>
        <p:spPr>
          <a:xfrm>
            <a:off x="1146600" y="3602160"/>
            <a:ext cx="9898560" cy="1655280"/>
          </a:xfrm>
          <a:prstGeom prst="rect">
            <a:avLst/>
          </a:prstGeom>
          <a:noFill/>
          <a:ln>
            <a:noFill/>
          </a:ln>
        </p:spPr>
        <p:txBody>
          <a:bodyPr/>
          <a:lstStyle/>
          <a:p>
            <a:pPr algn="ctr">
              <a:lnSpc>
                <a:spcPct val="90000"/>
              </a:lnSpc>
              <a:spcBef>
                <a:spcPts val="1001"/>
              </a:spcBef>
            </a:pPr>
            <a:r>
              <a:rPr lang="en-US" sz="2800" b="0" strike="noStrike" spc="-1" dirty="0">
                <a:solidFill>
                  <a:srgbClr val="000000"/>
                </a:solidFill>
                <a:latin typeface="Calibri"/>
              </a:rPr>
              <a:t>Patrick </a:t>
            </a:r>
            <a:r>
              <a:rPr lang="en-US" sz="2800" b="0" strike="noStrike" spc="-1" dirty="0" err="1">
                <a:solidFill>
                  <a:srgbClr val="000000"/>
                </a:solidFill>
                <a:latin typeface="Calibri"/>
              </a:rPr>
              <a:t>Juola</a:t>
            </a:r>
            <a:endParaRPr lang="en-US" sz="2800" b="0" strike="noStrike" spc="-1" dirty="0">
              <a:latin typeface="Arial"/>
            </a:endParaRPr>
          </a:p>
          <a:p>
            <a:pPr algn="ctr">
              <a:lnSpc>
                <a:spcPct val="90000"/>
              </a:lnSpc>
              <a:spcBef>
                <a:spcPts val="1001"/>
              </a:spcBef>
            </a:pPr>
            <a:r>
              <a:rPr lang="en-US" sz="2400" b="0" strike="noStrike" spc="-1" dirty="0">
                <a:solidFill>
                  <a:srgbClr val="000000"/>
                </a:solidFill>
                <a:latin typeface="Calibri"/>
              </a:rPr>
              <a:t>March 2008</a:t>
            </a:r>
            <a:endParaRPr lang="en-US" sz="2400" b="0" strike="noStrike" spc="-1" dirty="0">
              <a:latin typeface="Arial"/>
            </a:endParaRPr>
          </a:p>
          <a:p>
            <a:pPr algn="ctr">
              <a:lnSpc>
                <a:spcPct val="90000"/>
              </a:lnSpc>
              <a:spcBef>
                <a:spcPts val="1001"/>
              </a:spcBef>
            </a:pPr>
            <a:r>
              <a:rPr lang="en-US" sz="2400" b="0" strike="noStrike" spc="-1" dirty="0">
                <a:solidFill>
                  <a:srgbClr val="000000"/>
                </a:solidFill>
                <a:latin typeface="Calibri"/>
              </a:rPr>
              <a:t>Foundations and Trends in Information Retrieval, Vol.1, No.3, pp.233-334</a:t>
            </a:r>
            <a:endParaRPr lang="en-US" sz="2400" b="0" strike="noStrike" spc="-1" dirty="0">
              <a:latin typeface="Arial"/>
            </a:endParaRPr>
          </a:p>
          <a:p>
            <a:pPr algn="ctr">
              <a:lnSpc>
                <a:spcPct val="90000"/>
              </a:lnSpc>
              <a:spcBef>
                <a:spcPts val="1001"/>
              </a:spcBef>
            </a:pPr>
            <a:endParaRPr lang="en-US" sz="2400" b="0" strike="noStrike" spc="-1" dirty="0">
              <a:latin typeface="Arial"/>
            </a:endParaRPr>
          </a:p>
        </p:txBody>
      </p:sp>
      <p:sp>
        <p:nvSpPr>
          <p:cNvPr id="131" name="CustomShape 3"/>
          <p:cNvSpPr/>
          <p:nvPr/>
        </p:nvSpPr>
        <p:spPr>
          <a:xfrm>
            <a:off x="9488160" y="6029280"/>
            <a:ext cx="260280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000000"/>
                </a:solidFill>
                <a:latin typeface="Calibri"/>
              </a:rPr>
              <a:t>Present: Chia-Lin Chen</a:t>
            </a:r>
            <a:endParaRPr lang="en-US" sz="1800" b="0" strike="noStrike" spc="-1" dirty="0">
              <a:latin typeface="Arial"/>
            </a:endParaRPr>
          </a:p>
          <a:p>
            <a:pPr>
              <a:lnSpc>
                <a:spcPct val="100000"/>
              </a:lnSpc>
            </a:pPr>
            <a:r>
              <a:rPr lang="en-US" sz="1800" b="0" strike="noStrike" spc="-1" dirty="0">
                <a:solidFill>
                  <a:srgbClr val="000000"/>
                </a:solidFill>
                <a:latin typeface="Calibri"/>
              </a:rPr>
              <a:t>Date: Sept. 15th, 2020</a:t>
            </a:r>
            <a:endParaRPr lang="en-US" sz="18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Abstract</a:t>
            </a:r>
            <a:r>
              <a:rPr lang="en-US" altLang="zh-TW" sz="4400" b="0" strike="noStrike" spc="-1" dirty="0">
                <a:solidFill>
                  <a:srgbClr val="000000"/>
                </a:solidFill>
                <a:latin typeface="Calibri Light"/>
              </a:rPr>
              <a:t>(1/2)</a:t>
            </a:r>
            <a:endParaRPr lang="zh-TW" sz="4400" b="0" strike="noStrike" spc="-1" dirty="0">
              <a:solidFill>
                <a:srgbClr val="000000"/>
              </a:solidFill>
              <a:latin typeface="Calibri"/>
            </a:endParaRPr>
          </a:p>
        </p:txBody>
      </p:sp>
      <p:sp>
        <p:nvSpPr>
          <p:cNvPr id="133" name="TextShape 2"/>
          <p:cNvSpPr txBox="1"/>
          <p:nvPr/>
        </p:nvSpPr>
        <p:spPr>
          <a:xfrm>
            <a:off x="223200" y="1494360"/>
            <a:ext cx="11663640" cy="4998240"/>
          </a:xfrm>
          <a:prstGeom prst="rect">
            <a:avLst/>
          </a:prstGeom>
          <a:noFill/>
          <a:ln>
            <a:noFill/>
          </a:ln>
        </p:spPr>
        <p:txBody>
          <a:bodyPr>
            <a:normAutofit/>
          </a:bodyPr>
          <a:lstStyle/>
          <a:p>
            <a:pPr>
              <a:lnSpc>
                <a:spcPct val="90000"/>
              </a:lnSpc>
              <a:spcBef>
                <a:spcPts val="1001"/>
              </a:spcBef>
            </a:pPr>
            <a:r>
              <a:rPr lang="zh-TW" sz="3600" b="0" strike="noStrike" spc="-1" dirty="0">
                <a:solidFill>
                  <a:srgbClr val="000000"/>
                </a:solidFill>
                <a:latin typeface="Calibri"/>
              </a:rPr>
              <a:t>Authorship attribution, the science of inferring characteristics of the author from the characteristics of documents written by that author, is a problem with a long history and a wide range of application. Recent work in“non-traditional” authorship attribution demonstrates the practicality of automatically analyzing documents based on authorial style, but the state of the art is confusing. Analyses are difficult to apply, little is known about type or rate of errors, and few “best practices” are available. </a:t>
            </a: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Abstract</a:t>
            </a:r>
            <a:r>
              <a:rPr lang="en-US" altLang="zh-TW" sz="4400" b="0" strike="noStrike" spc="-1" dirty="0">
                <a:solidFill>
                  <a:srgbClr val="000000"/>
                </a:solidFill>
                <a:latin typeface="Calibri Light"/>
              </a:rPr>
              <a:t>(2/2)</a:t>
            </a:r>
            <a:endParaRPr lang="zh-TW" sz="4400" b="0" strike="noStrike" spc="-1" dirty="0">
              <a:solidFill>
                <a:srgbClr val="000000"/>
              </a:solidFill>
              <a:latin typeface="Calibri"/>
            </a:endParaRPr>
          </a:p>
        </p:txBody>
      </p:sp>
      <p:sp>
        <p:nvSpPr>
          <p:cNvPr id="133" name="TextShape 2"/>
          <p:cNvSpPr txBox="1"/>
          <p:nvPr/>
        </p:nvSpPr>
        <p:spPr>
          <a:xfrm>
            <a:off x="223200" y="1494360"/>
            <a:ext cx="11663640" cy="4998240"/>
          </a:xfrm>
          <a:prstGeom prst="rect">
            <a:avLst/>
          </a:prstGeom>
          <a:noFill/>
          <a:ln>
            <a:noFill/>
          </a:ln>
        </p:spPr>
        <p:txBody>
          <a:bodyPr>
            <a:normAutofit lnSpcReduction="10000"/>
          </a:bodyPr>
          <a:lstStyle/>
          <a:p>
            <a:pPr>
              <a:lnSpc>
                <a:spcPct val="90000"/>
              </a:lnSpc>
              <a:spcBef>
                <a:spcPts val="1001"/>
              </a:spcBef>
            </a:pPr>
            <a:r>
              <a:rPr lang="zh-TW" sz="3600" b="0" strike="noStrike" spc="-1" dirty="0">
                <a:solidFill>
                  <a:srgbClr val="000000"/>
                </a:solidFill>
                <a:latin typeface="Calibri"/>
              </a:rPr>
              <a:t>In part because of this confusion, the field has perhaps had less uptake and general acceptance than is its due. This review surveys the history and present state of the discipline, presenting some comparative results when available. It shows, first, that the discipline is quite successful, even in difficult cases involving small documents in unfamiliar and less studied languages; it further analyzes the types of analysis and features used and tries to determine characteristics of well-performing systems, finally formulating these in a set of recommendations for best practices. </a:t>
            </a:r>
          </a:p>
          <a:p>
            <a:pPr>
              <a:lnSpc>
                <a:spcPct val="90000"/>
              </a:lnSpc>
              <a:spcBef>
                <a:spcPts val="1001"/>
              </a:spcBef>
            </a:pPr>
            <a:endParaRPr lang="zh-TW" sz="3600" b="0" strike="noStrike" spc="-1" dirty="0">
              <a:solidFill>
                <a:srgbClr val="000000"/>
              </a:solidFill>
              <a:latin typeface="Calibri"/>
            </a:endParaRPr>
          </a:p>
        </p:txBody>
      </p:sp>
    </p:spTree>
    <p:extLst>
      <p:ext uri="{BB962C8B-B14F-4D97-AF65-F5344CB8AC3E}">
        <p14:creationId xmlns:p14="http://schemas.microsoft.com/office/powerpoint/2010/main" val="332593413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4" name="CustomShape 1"/>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35" name="TextShape 2"/>
          <p:cNvSpPr txBox="1"/>
          <p:nvPr/>
        </p:nvSpPr>
        <p:spPr>
          <a:xfrm>
            <a:off x="912600" y="681840"/>
            <a:ext cx="10178640" cy="1328400"/>
          </a:xfrm>
          <a:prstGeom prst="rect">
            <a:avLst/>
          </a:prstGeom>
          <a:noFill/>
          <a:ln>
            <a:noFill/>
          </a:ln>
        </p:spPr>
        <p:txBody>
          <a:bodyPr anchor="b">
            <a:normAutofit fontScale="70000" lnSpcReduction="20000"/>
          </a:bodyPr>
          <a:lstStyle/>
          <a:p>
            <a:pPr algn="ctr">
              <a:lnSpc>
                <a:spcPct val="90000"/>
              </a:lnSpc>
            </a:pPr>
            <a:r>
              <a:rPr lang="zh-TW" sz="5200" b="0" strike="noStrike" spc="-1" dirty="0">
                <a:solidFill>
                  <a:srgbClr val="000000"/>
                </a:solidFill>
                <a:latin typeface="Calibri Light"/>
              </a:rPr>
              <a:t>Keywords—</a:t>
            </a:r>
            <a:br>
              <a:rPr dirty="0"/>
            </a:br>
            <a:r>
              <a:rPr lang="zh-TW" sz="5200" b="0" strike="noStrike" spc="-1" dirty="0">
                <a:solidFill>
                  <a:srgbClr val="000000"/>
                </a:solidFill>
                <a:latin typeface="Calibri Light"/>
              </a:rPr>
              <a:t>author </a:t>
            </a:r>
            <a:r>
              <a:rPr lang="zh-TW" sz="5700" b="0" strike="noStrike" spc="-1" dirty="0">
                <a:solidFill>
                  <a:srgbClr val="000000"/>
                </a:solidFill>
                <a:latin typeface="Calibri Light"/>
              </a:rPr>
              <a:t>identify</a:t>
            </a:r>
            <a:r>
              <a:rPr lang="zh-TW" sz="5200" b="0" strike="noStrike" spc="-1" dirty="0">
                <a:solidFill>
                  <a:srgbClr val="000000"/>
                </a:solidFill>
                <a:latin typeface="Calibri Light"/>
              </a:rPr>
              <a:t> </a:t>
            </a:r>
            <a:r>
              <a:rPr lang="zh-TW" sz="5200" b="0" strike="noStrike" spc="-1" dirty="0">
                <a:solidFill>
                  <a:srgbClr val="FF0000"/>
                </a:solidFill>
                <a:latin typeface="Calibri Light"/>
              </a:rPr>
              <a:t>v.s.</a:t>
            </a:r>
            <a:r>
              <a:rPr lang="zh-TW" sz="5200" b="0" strike="noStrike" spc="-1" dirty="0">
                <a:solidFill>
                  <a:srgbClr val="000000"/>
                </a:solidFill>
                <a:latin typeface="Calibri Light"/>
              </a:rPr>
              <a:t> author attribution</a:t>
            </a:r>
            <a:br>
              <a:rPr dirty="0"/>
            </a:br>
            <a:r>
              <a:rPr lang="zh-TW" sz="5200" b="0" strike="noStrike" spc="-1" dirty="0">
                <a:solidFill>
                  <a:srgbClr val="000000"/>
                </a:solidFill>
                <a:latin typeface="Calibri Light"/>
              </a:rPr>
              <a:t>(partial covered)      (fully covered)</a:t>
            </a:r>
            <a:endParaRPr lang="zh-TW" sz="5200" b="0" strike="noStrike" spc="-1" dirty="0">
              <a:solidFill>
                <a:srgbClr val="000000"/>
              </a:solidFill>
              <a:latin typeface="Calibri"/>
            </a:endParaRPr>
          </a:p>
        </p:txBody>
      </p:sp>
      <p:pic>
        <p:nvPicPr>
          <p:cNvPr id="136" name="圖片 4"/>
          <p:cNvPicPr/>
          <p:nvPr/>
        </p:nvPicPr>
        <p:blipFill>
          <a:blip r:embed="rId2"/>
          <a:srcRect l="2760" r="24520"/>
          <a:stretch/>
        </p:blipFill>
        <p:spPr>
          <a:xfrm>
            <a:off x="198720" y="2410560"/>
            <a:ext cx="5802840" cy="3890160"/>
          </a:xfrm>
          <a:prstGeom prst="rect">
            <a:avLst/>
          </a:prstGeom>
          <a:ln>
            <a:noFill/>
          </a:ln>
        </p:spPr>
      </p:pic>
      <p:pic>
        <p:nvPicPr>
          <p:cNvPr id="137" name="內容版面配置區 3"/>
          <p:cNvPicPr/>
          <p:nvPr/>
        </p:nvPicPr>
        <p:blipFill>
          <a:blip r:embed="rId3"/>
          <a:srcRect l="4344" r="21443"/>
          <a:stretch/>
        </p:blipFill>
        <p:spPr>
          <a:xfrm>
            <a:off x="6189840" y="2410560"/>
            <a:ext cx="5802840" cy="3890160"/>
          </a:xfrm>
          <a:prstGeom prst="rect">
            <a:avLst/>
          </a:prstGeom>
          <a:ln>
            <a:noFill/>
          </a:ln>
        </p:spPr>
      </p:pic>
      <p:sp>
        <p:nvSpPr>
          <p:cNvPr id="138" name="CustomShape 3"/>
          <p:cNvSpPr/>
          <p:nvPr/>
        </p:nvSpPr>
        <p:spPr>
          <a:xfrm>
            <a:off x="9091440" y="3010680"/>
            <a:ext cx="1122480" cy="66888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
        <p:nvSpPr>
          <p:cNvPr id="139" name="CustomShape 4"/>
          <p:cNvSpPr/>
          <p:nvPr/>
        </p:nvSpPr>
        <p:spPr>
          <a:xfrm>
            <a:off x="8124840" y="4124160"/>
            <a:ext cx="729000" cy="67032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
        <p:nvSpPr>
          <p:cNvPr id="140" name="CustomShape 5"/>
          <p:cNvSpPr/>
          <p:nvPr/>
        </p:nvSpPr>
        <p:spPr>
          <a:xfrm>
            <a:off x="9849960" y="4079880"/>
            <a:ext cx="729000" cy="67032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
        <p:nvSpPr>
          <p:cNvPr id="141" name="CustomShape 6"/>
          <p:cNvSpPr/>
          <p:nvPr/>
        </p:nvSpPr>
        <p:spPr>
          <a:xfrm>
            <a:off x="2393280" y="3010680"/>
            <a:ext cx="729000" cy="67032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
        <p:nvSpPr>
          <p:cNvPr id="142" name="CustomShape 7"/>
          <p:cNvSpPr/>
          <p:nvPr/>
        </p:nvSpPr>
        <p:spPr>
          <a:xfrm>
            <a:off x="2685960" y="4148280"/>
            <a:ext cx="729000" cy="67032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
        <p:nvSpPr>
          <p:cNvPr id="143" name="CustomShape 8"/>
          <p:cNvSpPr/>
          <p:nvPr/>
        </p:nvSpPr>
        <p:spPr>
          <a:xfrm>
            <a:off x="1478160" y="5148000"/>
            <a:ext cx="729000" cy="67032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
        <p:nvSpPr>
          <p:cNvPr id="144" name="CustomShape 9"/>
          <p:cNvSpPr/>
          <p:nvPr/>
        </p:nvSpPr>
        <p:spPr>
          <a:xfrm>
            <a:off x="6916680" y="5038560"/>
            <a:ext cx="1207800" cy="667440"/>
          </a:xfrm>
          <a:prstGeom prst="rect">
            <a:avLst/>
          </a:prstGeom>
          <a:noFill/>
          <a:ln w="76320">
            <a:solidFill>
              <a:schemeClr val="accent1"/>
            </a:solidFill>
            <a:round/>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838380" y="474840"/>
            <a:ext cx="10515240" cy="1325160"/>
          </a:xfrm>
          <a:prstGeom prst="rect">
            <a:avLst/>
          </a:prstGeom>
          <a:noFill/>
          <a:ln>
            <a:noFill/>
          </a:ln>
        </p:spPr>
        <p:txBody>
          <a:bodyPr anchor="ctr"/>
          <a:lstStyle/>
          <a:p>
            <a:pPr>
              <a:lnSpc>
                <a:spcPct val="90000"/>
              </a:lnSpc>
            </a:pPr>
            <a:r>
              <a:rPr lang="en-US" altLang="zh-TW" sz="4400" b="0" strike="noStrike" spc="-1" dirty="0">
                <a:solidFill>
                  <a:srgbClr val="000000"/>
                </a:solidFill>
                <a:latin typeface="Calibri"/>
              </a:rPr>
              <a:t>C</a:t>
            </a:r>
            <a:r>
              <a:rPr lang="en-US" altLang="zh-TW" sz="4400" spc="-1" dirty="0">
                <a:solidFill>
                  <a:srgbClr val="000000"/>
                </a:solidFill>
                <a:latin typeface="Calibri"/>
              </a:rPr>
              <a:t>ontext of the book(1/6)</a:t>
            </a:r>
            <a:endParaRPr lang="zh-TW" sz="4400" b="0" strike="noStrike" spc="-1" dirty="0">
              <a:solidFill>
                <a:srgbClr val="000000"/>
              </a:solidFill>
              <a:latin typeface="Calibri"/>
            </a:endParaRPr>
          </a:p>
        </p:txBody>
      </p:sp>
      <p:sp>
        <p:nvSpPr>
          <p:cNvPr id="146" name="TextShape 2"/>
          <p:cNvSpPr txBox="1"/>
          <p:nvPr/>
        </p:nvSpPr>
        <p:spPr>
          <a:xfrm>
            <a:off x="648000" y="180000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altLang="zh-TW" sz="2800" b="0" strike="noStrike" spc="-1" dirty="0">
                <a:solidFill>
                  <a:srgbClr val="000000"/>
                </a:solidFill>
                <a:latin typeface="Calibri"/>
              </a:rPr>
              <a:t>Chapter1: Introduction</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Chapter2: Background and History</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Chapter3: Linguistic and Mathematical Background</a:t>
            </a:r>
            <a:endParaRPr lang="en-US" altLang="zh-TW" sz="2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Chapter4: Linguistic Feature</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Chapter5: Attributional Analysis</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Chapter6: Empirical Testing</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Chapter7: Other Applications of Authorship Attribution </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Chapter8: Special Problems of Linguistic Forensics </a:t>
            </a:r>
            <a:endParaRPr lang="zh-TW" altLang="zh-TW" sz="2800" spc="-1" dirty="0">
              <a:solidFill>
                <a:srgbClr val="000000"/>
              </a:solidFill>
              <a:latin typeface="Calibri"/>
            </a:endParaRPr>
          </a:p>
          <a:p>
            <a:pPr marL="228600" indent="-228240">
              <a:lnSpc>
                <a:spcPct val="90000"/>
              </a:lnSpc>
              <a:spcBef>
                <a:spcPts val="1001"/>
              </a:spcBef>
              <a:buClr>
                <a:srgbClr val="000000"/>
              </a:buClr>
              <a:buFont typeface="Arial"/>
              <a:buChar char="•"/>
            </a:pPr>
            <a:r>
              <a:rPr lang="en-US" altLang="zh-TW" sz="2800" b="0" strike="noStrike" spc="-1" dirty="0">
                <a:solidFill>
                  <a:srgbClr val="000000"/>
                </a:solidFill>
                <a:latin typeface="Calibri"/>
              </a:rPr>
              <a:t>Chapter9</a:t>
            </a:r>
            <a:r>
              <a:rPr lang="en-US" altLang="zh-TW" sz="2800" spc="-1" dirty="0">
                <a:solidFill>
                  <a:srgbClr val="000000"/>
                </a:solidFill>
                <a:latin typeface="Calibri"/>
              </a:rPr>
              <a:t>: Recommendations</a:t>
            </a:r>
          </a:p>
        </p:txBody>
      </p:sp>
    </p:spTree>
    <p:extLst>
      <p:ext uri="{BB962C8B-B14F-4D97-AF65-F5344CB8AC3E}">
        <p14:creationId xmlns:p14="http://schemas.microsoft.com/office/powerpoint/2010/main" val="373745900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838380" y="474840"/>
            <a:ext cx="10515240" cy="1325160"/>
          </a:xfrm>
          <a:prstGeom prst="rect">
            <a:avLst/>
          </a:prstGeom>
          <a:noFill/>
          <a:ln>
            <a:noFill/>
          </a:ln>
        </p:spPr>
        <p:txBody>
          <a:bodyPr anchor="ctr"/>
          <a:lstStyle/>
          <a:p>
            <a:pPr>
              <a:lnSpc>
                <a:spcPct val="90000"/>
              </a:lnSpc>
            </a:pPr>
            <a:r>
              <a:rPr lang="en-US" altLang="zh-TW" sz="4400" b="0" strike="noStrike" spc="-1" dirty="0">
                <a:solidFill>
                  <a:srgbClr val="000000"/>
                </a:solidFill>
                <a:latin typeface="Calibri"/>
              </a:rPr>
              <a:t>C</a:t>
            </a:r>
            <a:r>
              <a:rPr lang="en-US" altLang="zh-TW" sz="4400" spc="-1" dirty="0">
                <a:solidFill>
                  <a:srgbClr val="000000"/>
                </a:solidFill>
                <a:latin typeface="Calibri"/>
              </a:rPr>
              <a:t>ontext of the book(2/6)</a:t>
            </a:r>
            <a:endParaRPr lang="zh-TW" sz="4400" b="0" strike="noStrike" spc="-1" dirty="0">
              <a:solidFill>
                <a:srgbClr val="000000"/>
              </a:solidFill>
              <a:latin typeface="Calibri"/>
            </a:endParaRPr>
          </a:p>
        </p:txBody>
      </p:sp>
      <p:sp>
        <p:nvSpPr>
          <p:cNvPr id="146" name="TextShape 2"/>
          <p:cNvSpPr txBox="1"/>
          <p:nvPr/>
        </p:nvSpPr>
        <p:spPr>
          <a:xfrm>
            <a:off x="671340" y="155616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altLang="zh-TW" sz="2800" b="0" strike="noStrike" spc="-1" dirty="0">
                <a:solidFill>
                  <a:srgbClr val="000000"/>
                </a:solidFill>
                <a:latin typeface="Calibri"/>
              </a:rPr>
              <a:t>Chapter1: Introduction</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2004, Michael Scheuer </a:t>
            </a:r>
            <a:r>
              <a:rPr lang="en-US" altLang="zh-TW" sz="2800" i="1" spc="-1" dirty="0">
                <a:solidFill>
                  <a:srgbClr val="000000"/>
                </a:solidFill>
                <a:latin typeface="Calibri"/>
              </a:rPr>
              <a:t>”Imperial Hubris: Why the West is Losing the War on Terror”</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2003 Michael Scheuer “</a:t>
            </a:r>
            <a:r>
              <a:rPr lang="en-US" altLang="zh-TW" sz="2800" i="1" spc="-1" dirty="0">
                <a:solidFill>
                  <a:srgbClr val="000000"/>
                </a:solidFill>
                <a:latin typeface="Calibri"/>
              </a:rPr>
              <a:t>Through Our Enemies’ Eyes”</a:t>
            </a:r>
            <a:endParaRPr lang="en-US" altLang="zh-TW" sz="2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Chapter2: Background and History</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Three problem set:</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Closet class: give an example to classify which one of author</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Open class: tell if any, tell who wrote it</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Third class: does the document singly or multiply written? Was the writer naïve English speaker(color/</a:t>
            </a:r>
            <a:r>
              <a:rPr lang="en-US" altLang="zh-TW" sz="2800" spc="-1" dirty="0" err="1">
                <a:solidFill>
                  <a:srgbClr val="000000"/>
                </a:solidFill>
                <a:latin typeface="Calibri"/>
              </a:rPr>
              <a:t>colour</a:t>
            </a:r>
            <a:r>
              <a:rPr lang="en-US" altLang="zh-TW" sz="2800" spc="-1" dirty="0">
                <a:solidFill>
                  <a:srgbClr val="000000"/>
                </a:solidFill>
                <a:latin typeface="Calibri"/>
              </a:rPr>
              <a:t>)? A man/woman?</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Method: vocabulary frequency, weighted frequency, cum, </a:t>
            </a:r>
            <a:r>
              <a:rPr lang="en-US" altLang="zh-TW" sz="2800" spc="-1" dirty="0" err="1">
                <a:solidFill>
                  <a:srgbClr val="000000"/>
                </a:solidFill>
                <a:latin typeface="Calibri"/>
              </a:rPr>
              <a:t>mulative</a:t>
            </a:r>
            <a:endParaRPr lang="en-US" altLang="zh-TW" sz="2800" spc="-1" dirty="0">
              <a:solidFill>
                <a:srgbClr val="000000"/>
              </a:solidFill>
              <a:latin typeface="Calibri"/>
            </a:endParaRPr>
          </a:p>
          <a:p>
            <a:pPr marL="914760" lvl="2">
              <a:lnSpc>
                <a:spcPct val="90000"/>
              </a:lnSpc>
              <a:spcBef>
                <a:spcPts val="1001"/>
              </a:spcBef>
              <a:buClr>
                <a:srgbClr val="000000"/>
              </a:buClr>
            </a:pPr>
            <a:endParaRPr lang="en-US" altLang="zh-TW" sz="2800" b="0" strike="noStrike" spc="-1" dirty="0">
              <a:solidFill>
                <a:srgbClr val="000000"/>
              </a:solidFill>
              <a:latin typeface="Calibri"/>
            </a:endParaRPr>
          </a:p>
          <a:p>
            <a:pPr marL="685800" lvl="1" indent="-228240">
              <a:lnSpc>
                <a:spcPct val="90000"/>
              </a:lnSpc>
              <a:spcBef>
                <a:spcPts val="1001"/>
              </a:spcBef>
              <a:buClr>
                <a:srgbClr val="000000"/>
              </a:buClr>
              <a:buFont typeface="Arial"/>
              <a:buChar char="•"/>
            </a:pPr>
            <a:endParaRPr lang="en-US" altLang="zh-TW" sz="2800" b="0" strike="noStrike" spc="-1" dirty="0">
              <a:solidFill>
                <a:srgbClr val="000000"/>
              </a:solidFill>
              <a:latin typeface="Calibri"/>
            </a:endParaRPr>
          </a:p>
        </p:txBody>
      </p:sp>
    </p:spTree>
    <p:extLst>
      <p:ext uri="{BB962C8B-B14F-4D97-AF65-F5344CB8AC3E}">
        <p14:creationId xmlns:p14="http://schemas.microsoft.com/office/powerpoint/2010/main" val="358469991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Shape 2"/>
          <p:cNvSpPr txBox="1"/>
          <p:nvPr/>
        </p:nvSpPr>
        <p:spPr>
          <a:xfrm>
            <a:off x="648000" y="180000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Chapter3: Linguistic and Mathematical Background</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Language replacement:</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(PP)in Monday morning-&gt;on Monday</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(NP)the monkey-&gt;monkey(NOUN)</a:t>
            </a:r>
          </a:p>
          <a:p>
            <a:pPr marL="1143000" lvl="2" indent="-228240">
              <a:lnSpc>
                <a:spcPct val="90000"/>
              </a:lnSpc>
              <a:spcBef>
                <a:spcPts val="1001"/>
              </a:spcBef>
              <a:buClr>
                <a:srgbClr val="000000"/>
              </a:buClr>
              <a:buFont typeface="Arial"/>
              <a:buChar char="•"/>
            </a:pPr>
            <a:r>
              <a:rPr lang="en-US" altLang="zh-TW" sz="2800" spc="-1" dirty="0">
                <a:solidFill>
                  <a:srgbClr val="000000"/>
                </a:solidFill>
                <a:latin typeface="Calibri"/>
              </a:rPr>
              <a:t>(NP)the monkey-&gt;Naughty monkey(ART NOUN)</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Entropy, Cross entropy</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Matrices, Vector Space, PCA, LDA</a:t>
            </a:r>
          </a:p>
        </p:txBody>
      </p:sp>
      <p:sp>
        <p:nvSpPr>
          <p:cNvPr id="4" name="TextShape 1">
            <a:extLst>
              <a:ext uri="{FF2B5EF4-FFF2-40B4-BE49-F238E27FC236}">
                <a16:creationId xmlns:a16="http://schemas.microsoft.com/office/drawing/2014/main" id="{847B8F7A-EF43-4F41-9B03-07228E4C090E}"/>
              </a:ext>
            </a:extLst>
          </p:cNvPr>
          <p:cNvSpPr txBox="1"/>
          <p:nvPr/>
        </p:nvSpPr>
        <p:spPr>
          <a:xfrm>
            <a:off x="838380" y="474840"/>
            <a:ext cx="10515240" cy="1325160"/>
          </a:xfrm>
          <a:prstGeom prst="rect">
            <a:avLst/>
          </a:prstGeom>
          <a:noFill/>
          <a:ln>
            <a:noFill/>
          </a:ln>
        </p:spPr>
        <p:txBody>
          <a:bodyPr anchor="ctr"/>
          <a:lstStyle/>
          <a:p>
            <a:pPr>
              <a:lnSpc>
                <a:spcPct val="90000"/>
              </a:lnSpc>
            </a:pPr>
            <a:r>
              <a:rPr lang="en-US" altLang="zh-TW" sz="4400" b="0" strike="noStrike" spc="-1" dirty="0">
                <a:solidFill>
                  <a:srgbClr val="000000"/>
                </a:solidFill>
                <a:latin typeface="Calibri"/>
              </a:rPr>
              <a:t>C</a:t>
            </a:r>
            <a:r>
              <a:rPr lang="en-US" altLang="zh-TW" sz="4400" spc="-1" dirty="0">
                <a:solidFill>
                  <a:srgbClr val="000000"/>
                </a:solidFill>
                <a:latin typeface="Calibri"/>
              </a:rPr>
              <a:t>ontext of the book(3/6)</a:t>
            </a:r>
            <a:endParaRPr lang="zh-TW" sz="4400" b="0" strike="noStrike" spc="-1" dirty="0">
              <a:solidFill>
                <a:srgbClr val="000000"/>
              </a:solidFill>
              <a:latin typeface="Calibri"/>
            </a:endParaRPr>
          </a:p>
        </p:txBody>
      </p:sp>
      <p:pic>
        <p:nvPicPr>
          <p:cNvPr id="2" name="圖片 1">
            <a:extLst>
              <a:ext uri="{FF2B5EF4-FFF2-40B4-BE49-F238E27FC236}">
                <a16:creationId xmlns:a16="http://schemas.microsoft.com/office/drawing/2014/main" id="{54C90FE1-CC9C-0743-9BC6-1F37B7AD129A}"/>
              </a:ext>
            </a:extLst>
          </p:cNvPr>
          <p:cNvPicPr>
            <a:picLocks noChangeAspect="1"/>
          </p:cNvPicPr>
          <p:nvPr/>
        </p:nvPicPr>
        <p:blipFill>
          <a:blip r:embed="rId3"/>
          <a:stretch>
            <a:fillRect/>
          </a:stretch>
        </p:blipFill>
        <p:spPr>
          <a:xfrm>
            <a:off x="8635700" y="1994860"/>
            <a:ext cx="2908300" cy="1130300"/>
          </a:xfrm>
          <a:prstGeom prst="rect">
            <a:avLst/>
          </a:prstGeom>
        </p:spPr>
      </p:pic>
      <p:pic>
        <p:nvPicPr>
          <p:cNvPr id="3" name="圖片 2">
            <a:extLst>
              <a:ext uri="{FF2B5EF4-FFF2-40B4-BE49-F238E27FC236}">
                <a16:creationId xmlns:a16="http://schemas.microsoft.com/office/drawing/2014/main" id="{2085F6A2-398A-3A40-87B0-BEAC90CE718C}"/>
              </a:ext>
            </a:extLst>
          </p:cNvPr>
          <p:cNvPicPr>
            <a:picLocks noChangeAspect="1"/>
          </p:cNvPicPr>
          <p:nvPr/>
        </p:nvPicPr>
        <p:blipFill>
          <a:blip r:embed="rId4"/>
          <a:stretch>
            <a:fillRect/>
          </a:stretch>
        </p:blipFill>
        <p:spPr>
          <a:xfrm>
            <a:off x="6391020" y="3854315"/>
            <a:ext cx="4962600" cy="2296645"/>
          </a:xfrm>
          <a:prstGeom prst="rect">
            <a:avLst/>
          </a:prstGeom>
        </p:spPr>
      </p:pic>
    </p:spTree>
    <p:extLst>
      <p:ext uri="{BB962C8B-B14F-4D97-AF65-F5344CB8AC3E}">
        <p14:creationId xmlns:p14="http://schemas.microsoft.com/office/powerpoint/2010/main" val="389847796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838380" y="474840"/>
            <a:ext cx="10515240" cy="1325160"/>
          </a:xfrm>
          <a:prstGeom prst="rect">
            <a:avLst/>
          </a:prstGeom>
          <a:noFill/>
          <a:ln>
            <a:noFill/>
          </a:ln>
        </p:spPr>
        <p:txBody>
          <a:bodyPr anchor="ctr"/>
          <a:lstStyle/>
          <a:p>
            <a:pPr>
              <a:lnSpc>
                <a:spcPct val="90000"/>
              </a:lnSpc>
            </a:pPr>
            <a:r>
              <a:rPr lang="en-US" altLang="zh-TW" sz="4400" b="0" strike="noStrike" spc="-1" dirty="0">
                <a:solidFill>
                  <a:srgbClr val="000000"/>
                </a:solidFill>
                <a:latin typeface="Calibri"/>
              </a:rPr>
              <a:t>C</a:t>
            </a:r>
            <a:r>
              <a:rPr lang="en-US" altLang="zh-TW" sz="4400" spc="-1" dirty="0">
                <a:solidFill>
                  <a:srgbClr val="000000"/>
                </a:solidFill>
                <a:latin typeface="Calibri"/>
              </a:rPr>
              <a:t>ontext of the book(4/6)</a:t>
            </a:r>
            <a:endParaRPr lang="zh-TW" sz="4400" b="0" strike="noStrike" spc="-1" dirty="0">
              <a:solidFill>
                <a:srgbClr val="000000"/>
              </a:solidFill>
              <a:latin typeface="Calibri"/>
            </a:endParaRPr>
          </a:p>
        </p:txBody>
      </p:sp>
      <p:sp>
        <p:nvSpPr>
          <p:cNvPr id="146" name="TextShape 2"/>
          <p:cNvSpPr txBox="1"/>
          <p:nvPr/>
        </p:nvSpPr>
        <p:spPr>
          <a:xfrm>
            <a:off x="648000" y="180000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Chapter4: Linguistic Feature</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Vocabulary to integer numbers</a:t>
            </a:r>
          </a:p>
          <a:p>
            <a:pPr marL="685800" lvl="1" indent="-228240">
              <a:lnSpc>
                <a:spcPct val="90000"/>
              </a:lnSpc>
              <a:spcBef>
                <a:spcPts val="1001"/>
              </a:spcBef>
              <a:buClr>
                <a:srgbClr val="000000"/>
              </a:buClr>
              <a:buFont typeface="Arial"/>
              <a:buChar char="•"/>
            </a:pPr>
            <a:r>
              <a:rPr lang="en-US" altLang="zh-TW" sz="2800" spc="-1" dirty="0">
                <a:solidFill>
                  <a:srgbClr val="000000"/>
                </a:solidFill>
                <a:latin typeface="Calibri"/>
              </a:rPr>
              <a:t>N-gram: e.g. </a:t>
            </a:r>
            <a:r>
              <a:rPr lang="en-US" altLang="zh-TW" sz="2800" spc="-1" dirty="0" err="1">
                <a:solidFill>
                  <a:srgbClr val="000000"/>
                </a:solidFill>
                <a:latin typeface="Calibri"/>
              </a:rPr>
              <a:t>danc</a:t>
            </a:r>
            <a:r>
              <a:rPr lang="en-US" altLang="zh-TW" sz="2800" spc="-1" dirty="0">
                <a:solidFill>
                  <a:srgbClr val="000000"/>
                </a:solidFill>
                <a:latin typeface="Calibri"/>
              </a:rPr>
              <a:t>( 4-gram ): dance, dancing, dancer</a:t>
            </a:r>
          </a:p>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Chapter5: Attributional Analysis</a:t>
            </a:r>
          </a:p>
          <a:p>
            <a:pPr marL="228600" indent="-228240">
              <a:lnSpc>
                <a:spcPct val="90000"/>
              </a:lnSpc>
              <a:spcBef>
                <a:spcPts val="1001"/>
              </a:spcBef>
              <a:buClr>
                <a:srgbClr val="000000"/>
              </a:buClr>
              <a:buFont typeface="Arial"/>
              <a:buChar char="•"/>
            </a:pPr>
            <a:endParaRPr lang="en-US" altLang="zh-TW" sz="2800" spc="-1" dirty="0">
              <a:solidFill>
                <a:srgbClr val="000000"/>
              </a:solidFill>
              <a:latin typeface="Calibri"/>
            </a:endParaRPr>
          </a:p>
        </p:txBody>
      </p:sp>
      <p:pic>
        <p:nvPicPr>
          <p:cNvPr id="2" name="圖片 1">
            <a:extLst>
              <a:ext uri="{FF2B5EF4-FFF2-40B4-BE49-F238E27FC236}">
                <a16:creationId xmlns:a16="http://schemas.microsoft.com/office/drawing/2014/main" id="{71D802C5-BC3B-DC4F-A1C6-A51A803838A2}"/>
              </a:ext>
            </a:extLst>
          </p:cNvPr>
          <p:cNvPicPr>
            <a:picLocks noChangeAspect="1"/>
          </p:cNvPicPr>
          <p:nvPr/>
        </p:nvPicPr>
        <p:blipFill>
          <a:blip r:embed="rId3"/>
          <a:stretch>
            <a:fillRect/>
          </a:stretch>
        </p:blipFill>
        <p:spPr>
          <a:xfrm>
            <a:off x="9613720" y="1304700"/>
            <a:ext cx="1739900" cy="495300"/>
          </a:xfrm>
          <a:prstGeom prst="rect">
            <a:avLst/>
          </a:prstGeom>
        </p:spPr>
      </p:pic>
      <p:pic>
        <p:nvPicPr>
          <p:cNvPr id="3" name="圖片 2">
            <a:extLst>
              <a:ext uri="{FF2B5EF4-FFF2-40B4-BE49-F238E27FC236}">
                <a16:creationId xmlns:a16="http://schemas.microsoft.com/office/drawing/2014/main" id="{F523B9BB-F204-8E4B-8856-3B9386079AAD}"/>
              </a:ext>
            </a:extLst>
          </p:cNvPr>
          <p:cNvPicPr>
            <a:picLocks noChangeAspect="1"/>
          </p:cNvPicPr>
          <p:nvPr/>
        </p:nvPicPr>
        <p:blipFill>
          <a:blip r:embed="rId4"/>
          <a:stretch>
            <a:fillRect/>
          </a:stretch>
        </p:blipFill>
        <p:spPr>
          <a:xfrm>
            <a:off x="9004120" y="2022250"/>
            <a:ext cx="2959100" cy="546100"/>
          </a:xfrm>
          <a:prstGeom prst="rect">
            <a:avLst/>
          </a:prstGeom>
        </p:spPr>
      </p:pic>
      <p:pic>
        <p:nvPicPr>
          <p:cNvPr id="4" name="圖片 3">
            <a:extLst>
              <a:ext uri="{FF2B5EF4-FFF2-40B4-BE49-F238E27FC236}">
                <a16:creationId xmlns:a16="http://schemas.microsoft.com/office/drawing/2014/main" id="{33A1F46E-5B88-A046-83A3-5A0766A75A7D}"/>
              </a:ext>
            </a:extLst>
          </p:cNvPr>
          <p:cNvPicPr>
            <a:picLocks noChangeAspect="1"/>
          </p:cNvPicPr>
          <p:nvPr/>
        </p:nvPicPr>
        <p:blipFill>
          <a:blip r:embed="rId5"/>
          <a:stretch>
            <a:fillRect/>
          </a:stretch>
        </p:blipFill>
        <p:spPr>
          <a:xfrm>
            <a:off x="9207320" y="3063650"/>
            <a:ext cx="2552700" cy="2844800"/>
          </a:xfrm>
          <a:prstGeom prst="rect">
            <a:avLst/>
          </a:prstGeom>
        </p:spPr>
      </p:pic>
      <p:pic>
        <p:nvPicPr>
          <p:cNvPr id="5" name="圖片 4">
            <a:extLst>
              <a:ext uri="{FF2B5EF4-FFF2-40B4-BE49-F238E27FC236}">
                <a16:creationId xmlns:a16="http://schemas.microsoft.com/office/drawing/2014/main" id="{3E141F1F-E0D5-A546-806F-69E9928CA8EA}"/>
              </a:ext>
            </a:extLst>
          </p:cNvPr>
          <p:cNvPicPr>
            <a:picLocks noChangeAspect="1"/>
          </p:cNvPicPr>
          <p:nvPr/>
        </p:nvPicPr>
        <p:blipFill>
          <a:blip r:embed="rId6"/>
          <a:stretch>
            <a:fillRect/>
          </a:stretch>
        </p:blipFill>
        <p:spPr>
          <a:xfrm>
            <a:off x="838380" y="3750647"/>
            <a:ext cx="3914440" cy="2895613"/>
          </a:xfrm>
          <a:prstGeom prst="rect">
            <a:avLst/>
          </a:prstGeom>
        </p:spPr>
      </p:pic>
      <p:pic>
        <p:nvPicPr>
          <p:cNvPr id="6" name="圖片 5">
            <a:extLst>
              <a:ext uri="{FF2B5EF4-FFF2-40B4-BE49-F238E27FC236}">
                <a16:creationId xmlns:a16="http://schemas.microsoft.com/office/drawing/2014/main" id="{246EDAAE-8CD0-F04A-B90B-CE9AFFD23FB7}"/>
              </a:ext>
            </a:extLst>
          </p:cNvPr>
          <p:cNvPicPr>
            <a:picLocks noChangeAspect="1"/>
          </p:cNvPicPr>
          <p:nvPr/>
        </p:nvPicPr>
        <p:blipFill>
          <a:blip r:embed="rId7"/>
          <a:stretch>
            <a:fillRect/>
          </a:stretch>
        </p:blipFill>
        <p:spPr>
          <a:xfrm>
            <a:off x="5381944" y="3750646"/>
            <a:ext cx="3196252" cy="2895614"/>
          </a:xfrm>
          <a:prstGeom prst="rect">
            <a:avLst/>
          </a:prstGeom>
        </p:spPr>
      </p:pic>
    </p:spTree>
    <p:extLst>
      <p:ext uri="{BB962C8B-B14F-4D97-AF65-F5344CB8AC3E}">
        <p14:creationId xmlns:p14="http://schemas.microsoft.com/office/powerpoint/2010/main" val="26593115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838380" y="474840"/>
            <a:ext cx="10515240" cy="1325160"/>
          </a:xfrm>
          <a:prstGeom prst="rect">
            <a:avLst/>
          </a:prstGeom>
          <a:noFill/>
          <a:ln>
            <a:noFill/>
          </a:ln>
        </p:spPr>
        <p:txBody>
          <a:bodyPr anchor="ctr"/>
          <a:lstStyle/>
          <a:p>
            <a:pPr>
              <a:lnSpc>
                <a:spcPct val="90000"/>
              </a:lnSpc>
            </a:pPr>
            <a:r>
              <a:rPr lang="en-US" altLang="zh-TW" sz="4400" b="0" strike="noStrike" spc="-1" dirty="0">
                <a:solidFill>
                  <a:srgbClr val="000000"/>
                </a:solidFill>
                <a:latin typeface="Calibri"/>
              </a:rPr>
              <a:t>C</a:t>
            </a:r>
            <a:r>
              <a:rPr lang="en-US" altLang="zh-TW" sz="4400" spc="-1" dirty="0">
                <a:solidFill>
                  <a:srgbClr val="000000"/>
                </a:solidFill>
                <a:latin typeface="Calibri"/>
              </a:rPr>
              <a:t>ontext of the book(5/6)</a:t>
            </a:r>
            <a:endParaRPr lang="zh-TW" sz="4400" b="0" strike="noStrike" spc="-1" dirty="0">
              <a:solidFill>
                <a:srgbClr val="000000"/>
              </a:solidFill>
              <a:latin typeface="Calibri"/>
            </a:endParaRPr>
          </a:p>
        </p:txBody>
      </p:sp>
      <p:sp>
        <p:nvSpPr>
          <p:cNvPr id="146" name="TextShape 2"/>
          <p:cNvSpPr txBox="1"/>
          <p:nvPr/>
        </p:nvSpPr>
        <p:spPr>
          <a:xfrm>
            <a:off x="648000" y="180000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Chapter5: Attributional Analysis</a:t>
            </a:r>
          </a:p>
          <a:p>
            <a:pPr marL="360">
              <a:lnSpc>
                <a:spcPct val="90000"/>
              </a:lnSpc>
              <a:spcBef>
                <a:spcPts val="1001"/>
              </a:spcBef>
              <a:buClr>
                <a:srgbClr val="000000"/>
              </a:buClr>
            </a:pPr>
            <a:endParaRPr lang="en-US" altLang="zh-TW" sz="2800" spc="-1" dirty="0">
              <a:solidFill>
                <a:srgbClr val="000000"/>
              </a:solidFill>
              <a:latin typeface="Calibri"/>
            </a:endParaRPr>
          </a:p>
        </p:txBody>
      </p:sp>
      <p:pic>
        <p:nvPicPr>
          <p:cNvPr id="3" name="圖片 2">
            <a:extLst>
              <a:ext uri="{FF2B5EF4-FFF2-40B4-BE49-F238E27FC236}">
                <a16:creationId xmlns:a16="http://schemas.microsoft.com/office/drawing/2014/main" id="{23CCCFB5-A8B7-6F40-B1E2-6D19F9BF7204}"/>
              </a:ext>
            </a:extLst>
          </p:cNvPr>
          <p:cNvPicPr>
            <a:picLocks noChangeAspect="1"/>
          </p:cNvPicPr>
          <p:nvPr/>
        </p:nvPicPr>
        <p:blipFill>
          <a:blip r:embed="rId3"/>
          <a:stretch>
            <a:fillRect/>
          </a:stretch>
        </p:blipFill>
        <p:spPr>
          <a:xfrm>
            <a:off x="422920" y="2662060"/>
            <a:ext cx="5588000" cy="3771900"/>
          </a:xfrm>
          <a:prstGeom prst="rect">
            <a:avLst/>
          </a:prstGeom>
        </p:spPr>
      </p:pic>
      <p:pic>
        <p:nvPicPr>
          <p:cNvPr id="4" name="圖片 3">
            <a:extLst>
              <a:ext uri="{FF2B5EF4-FFF2-40B4-BE49-F238E27FC236}">
                <a16:creationId xmlns:a16="http://schemas.microsoft.com/office/drawing/2014/main" id="{16A99BF3-EF05-4A4F-BF95-C84D62ED8EA2}"/>
              </a:ext>
            </a:extLst>
          </p:cNvPr>
          <p:cNvPicPr>
            <a:picLocks noChangeAspect="1"/>
          </p:cNvPicPr>
          <p:nvPr/>
        </p:nvPicPr>
        <p:blipFill>
          <a:blip r:embed="rId4"/>
          <a:stretch>
            <a:fillRect/>
          </a:stretch>
        </p:blipFill>
        <p:spPr>
          <a:xfrm>
            <a:off x="6096000" y="2590957"/>
            <a:ext cx="5486400" cy="3873500"/>
          </a:xfrm>
          <a:prstGeom prst="rect">
            <a:avLst/>
          </a:prstGeom>
        </p:spPr>
      </p:pic>
    </p:spTree>
    <p:extLst>
      <p:ext uri="{BB962C8B-B14F-4D97-AF65-F5344CB8AC3E}">
        <p14:creationId xmlns:p14="http://schemas.microsoft.com/office/powerpoint/2010/main" val="248202076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838380" y="474840"/>
            <a:ext cx="10515240" cy="1325160"/>
          </a:xfrm>
          <a:prstGeom prst="rect">
            <a:avLst/>
          </a:prstGeom>
          <a:noFill/>
          <a:ln>
            <a:noFill/>
          </a:ln>
        </p:spPr>
        <p:txBody>
          <a:bodyPr anchor="ctr"/>
          <a:lstStyle/>
          <a:p>
            <a:pPr>
              <a:lnSpc>
                <a:spcPct val="90000"/>
              </a:lnSpc>
            </a:pPr>
            <a:r>
              <a:rPr lang="en-US" altLang="zh-TW" sz="4400" b="0" strike="noStrike" spc="-1" dirty="0">
                <a:solidFill>
                  <a:srgbClr val="000000"/>
                </a:solidFill>
                <a:latin typeface="Calibri"/>
              </a:rPr>
              <a:t>C</a:t>
            </a:r>
            <a:r>
              <a:rPr lang="en-US" altLang="zh-TW" sz="4400" spc="-1" dirty="0">
                <a:solidFill>
                  <a:srgbClr val="000000"/>
                </a:solidFill>
                <a:latin typeface="Calibri"/>
              </a:rPr>
              <a:t>ontext of the book(6/6)</a:t>
            </a:r>
            <a:endParaRPr lang="zh-TW" sz="4400" b="0" strike="noStrike" spc="-1" dirty="0">
              <a:solidFill>
                <a:srgbClr val="000000"/>
              </a:solidFill>
              <a:latin typeface="Calibri"/>
            </a:endParaRPr>
          </a:p>
        </p:txBody>
      </p:sp>
      <p:sp>
        <p:nvSpPr>
          <p:cNvPr id="146" name="TextShape 2"/>
          <p:cNvSpPr txBox="1"/>
          <p:nvPr/>
        </p:nvSpPr>
        <p:spPr>
          <a:xfrm>
            <a:off x="648000" y="180000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en-US" altLang="zh-TW" sz="2800" spc="-1" dirty="0">
                <a:solidFill>
                  <a:srgbClr val="000000"/>
                </a:solidFill>
                <a:latin typeface="Calibri"/>
              </a:rPr>
              <a:t>Chapter6: Empirical Testing</a:t>
            </a:r>
          </a:p>
        </p:txBody>
      </p:sp>
      <p:pic>
        <p:nvPicPr>
          <p:cNvPr id="3" name="圖片 2">
            <a:extLst>
              <a:ext uri="{FF2B5EF4-FFF2-40B4-BE49-F238E27FC236}">
                <a16:creationId xmlns:a16="http://schemas.microsoft.com/office/drawing/2014/main" id="{9AF2EB5E-9840-814A-A5FA-524673CCEF83}"/>
              </a:ext>
            </a:extLst>
          </p:cNvPr>
          <p:cNvPicPr>
            <a:picLocks noChangeAspect="1"/>
          </p:cNvPicPr>
          <p:nvPr/>
        </p:nvPicPr>
        <p:blipFill>
          <a:blip r:embed="rId2"/>
          <a:stretch>
            <a:fillRect/>
          </a:stretch>
        </p:blipFill>
        <p:spPr>
          <a:xfrm>
            <a:off x="522760" y="2513727"/>
            <a:ext cx="5549900" cy="2984500"/>
          </a:xfrm>
          <a:prstGeom prst="rect">
            <a:avLst/>
          </a:prstGeom>
        </p:spPr>
      </p:pic>
      <p:pic>
        <p:nvPicPr>
          <p:cNvPr id="4" name="圖片 3">
            <a:extLst>
              <a:ext uri="{FF2B5EF4-FFF2-40B4-BE49-F238E27FC236}">
                <a16:creationId xmlns:a16="http://schemas.microsoft.com/office/drawing/2014/main" id="{FFF35163-05B7-2745-9937-18F78134E513}"/>
              </a:ext>
            </a:extLst>
          </p:cNvPr>
          <p:cNvPicPr>
            <a:picLocks noChangeAspect="1"/>
          </p:cNvPicPr>
          <p:nvPr/>
        </p:nvPicPr>
        <p:blipFill>
          <a:blip r:embed="rId3"/>
          <a:stretch>
            <a:fillRect/>
          </a:stretch>
        </p:blipFill>
        <p:spPr>
          <a:xfrm>
            <a:off x="6284440" y="2624761"/>
            <a:ext cx="5384800" cy="3149600"/>
          </a:xfrm>
          <a:prstGeom prst="rect">
            <a:avLst/>
          </a:prstGeom>
        </p:spPr>
      </p:pic>
    </p:spTree>
    <p:extLst>
      <p:ext uri="{BB962C8B-B14F-4D97-AF65-F5344CB8AC3E}">
        <p14:creationId xmlns:p14="http://schemas.microsoft.com/office/powerpoint/2010/main" val="259818934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a:solidFill>
                  <a:srgbClr val="000000"/>
                </a:solidFill>
                <a:latin typeface="Calibri Light"/>
              </a:rPr>
              <a:t>Extend application (1/3)</a:t>
            </a:r>
            <a:endParaRPr lang="zh-TW" sz="4400" b="0" strike="noStrike" spc="-1">
              <a:solidFill>
                <a:srgbClr val="000000"/>
              </a:solidFill>
              <a:latin typeface="Calibri"/>
            </a:endParaRPr>
          </a:p>
        </p:txBody>
      </p:sp>
      <p:sp>
        <p:nvSpPr>
          <p:cNvPr id="146" name="TextShape 2"/>
          <p:cNvSpPr txBox="1"/>
          <p:nvPr/>
        </p:nvSpPr>
        <p:spPr>
          <a:xfrm>
            <a:off x="648000" y="1800000"/>
            <a:ext cx="10849320" cy="4350960"/>
          </a:xfrm>
          <a:prstGeom prst="rect">
            <a:avLst/>
          </a:prstGeom>
          <a:noFill/>
          <a:ln>
            <a:noFill/>
          </a:ln>
        </p:spPr>
        <p:txBody>
          <a:bodyPr/>
          <a:lstStyle/>
          <a:p>
            <a:pPr marL="228600" indent="-228240">
              <a:lnSpc>
                <a:spcPct val="90000"/>
              </a:lnSpc>
              <a:spcBef>
                <a:spcPts val="1001"/>
              </a:spcBef>
              <a:buClr>
                <a:srgbClr val="000000"/>
              </a:buClr>
              <a:buFont typeface="Arial"/>
              <a:buChar char="•"/>
            </a:pPr>
            <a:r>
              <a:rPr lang="zh-TW" sz="2800" b="0" strike="noStrike" spc="-1">
                <a:solidFill>
                  <a:srgbClr val="000000"/>
                </a:solidFill>
                <a:latin typeface="Calibri"/>
              </a:rPr>
              <a:t>Detect Unknown Author by learning Author1/Author2.</a:t>
            </a:r>
          </a:p>
          <a:p>
            <a:pPr>
              <a:lnSpc>
                <a:spcPct val="90000"/>
              </a:lnSpc>
              <a:spcBef>
                <a:spcPts val="1001"/>
              </a:spcBef>
            </a:pPr>
            <a:r>
              <a:rPr lang="zh-TW" sz="2800" b="0" strike="noStrike" spc="-1">
                <a:solidFill>
                  <a:srgbClr val="000000"/>
                </a:solidFill>
                <a:latin typeface="Calibri"/>
              </a:rPr>
              <a:t>(</a:t>
            </a:r>
            <a:r>
              <a:rPr lang="zh-TW" sz="2800" b="0" u="sng" strike="noStrike" spc="-1">
                <a:solidFill>
                  <a:srgbClr val="0563C1"/>
                </a:solidFill>
                <a:uFillTx/>
                <a:latin typeface="Calibri"/>
                <a:hlinkClick r:id="rId2"/>
              </a:rPr>
              <a:t>http://www.aicbt.com/authorship-attribution/online-software/</a:t>
            </a:r>
            <a:r>
              <a:rPr lang="zh-TW" sz="2800" b="0" strike="noStrike" spc="-1">
                <a:solidFill>
                  <a:srgbClr val="000000"/>
                </a:solidFill>
                <a:latin typeface="Calibri"/>
              </a:rPr>
              <a:t>)</a:t>
            </a:r>
          </a:p>
          <a:p>
            <a:pPr>
              <a:lnSpc>
                <a:spcPct val="90000"/>
              </a:lnSpc>
              <a:spcBef>
                <a:spcPts val="1001"/>
              </a:spcBef>
            </a:pPr>
            <a:r>
              <a:rPr lang="zh-TW" sz="2800" b="0" strike="noStrike" spc="-1">
                <a:solidFill>
                  <a:srgbClr val="000000"/>
                </a:solidFill>
                <a:latin typeface="Calibri"/>
              </a:rPr>
              <a:t>( Randomly choose CNN author, correct; Unfortunately it cannot read Chinese. )</a:t>
            </a:r>
          </a:p>
        </p:txBody>
      </p:sp>
      <p:pic>
        <p:nvPicPr>
          <p:cNvPr id="147" name="圖片 2"/>
          <p:cNvPicPr/>
          <p:nvPr/>
        </p:nvPicPr>
        <p:blipFill>
          <a:blip r:embed="rId3"/>
          <a:stretch/>
        </p:blipFill>
        <p:spPr>
          <a:xfrm>
            <a:off x="838080" y="4001400"/>
            <a:ext cx="9486720" cy="19555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a:solidFill>
                  <a:srgbClr val="000000"/>
                </a:solidFill>
                <a:latin typeface="Calibri Light"/>
              </a:rPr>
              <a:t>Extend application (2/3)</a:t>
            </a:r>
            <a:endParaRPr lang="zh-TW" sz="4400" b="0" strike="noStrike" spc="-1">
              <a:solidFill>
                <a:srgbClr val="000000"/>
              </a:solidFill>
              <a:latin typeface="Calibri"/>
            </a:endParaRPr>
          </a:p>
        </p:txBody>
      </p:sp>
      <p:pic>
        <p:nvPicPr>
          <p:cNvPr id="149" name="圖片 4"/>
          <p:cNvPicPr/>
          <p:nvPr/>
        </p:nvPicPr>
        <p:blipFill>
          <a:blip r:embed="rId2"/>
          <a:stretch/>
        </p:blipFill>
        <p:spPr>
          <a:xfrm>
            <a:off x="1378080" y="1628640"/>
            <a:ext cx="9435600" cy="48636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a:solidFill>
                  <a:srgbClr val="000000"/>
                </a:solidFill>
                <a:latin typeface="Calibri Light"/>
              </a:rPr>
              <a:t>Extend application (3/3)</a:t>
            </a:r>
            <a:endParaRPr lang="zh-TW" sz="4400" b="0" strike="noStrike" spc="-1">
              <a:solidFill>
                <a:srgbClr val="000000"/>
              </a:solidFill>
              <a:latin typeface="Calibri"/>
            </a:endParaRPr>
          </a:p>
        </p:txBody>
      </p:sp>
      <p:pic>
        <p:nvPicPr>
          <p:cNvPr id="151" name="圖片 4"/>
          <p:cNvPicPr/>
          <p:nvPr/>
        </p:nvPicPr>
        <p:blipFill>
          <a:blip r:embed="rId2"/>
          <a:stretch/>
        </p:blipFill>
        <p:spPr>
          <a:xfrm>
            <a:off x="247680" y="2028600"/>
            <a:ext cx="11570760" cy="37623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extShape 1"/>
          <p:cNvSpPr txBox="1"/>
          <p:nvPr/>
        </p:nvSpPr>
        <p:spPr>
          <a:xfrm>
            <a:off x="838080" y="365040"/>
            <a:ext cx="10515240" cy="13251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My thesis (1/</a:t>
            </a:r>
            <a:r>
              <a:rPr lang="en-US" altLang="zh-TW" sz="4400" b="0" strike="noStrike" spc="-1" dirty="0">
                <a:solidFill>
                  <a:srgbClr val="000000"/>
                </a:solidFill>
                <a:latin typeface="Calibri Light"/>
              </a:rPr>
              <a:t>3</a:t>
            </a:r>
            <a:r>
              <a:rPr lang="zh-TW" sz="4400" b="0" strike="noStrike" spc="-1" dirty="0">
                <a:solidFill>
                  <a:srgbClr val="000000"/>
                </a:solidFill>
                <a:latin typeface="Calibri Light"/>
              </a:rPr>
              <a:t>)--#words,</a:t>
            </a:r>
            <a:r>
              <a:rPr lang="zh-TW" altLang="en-US" sz="4400" b="0" strike="noStrike" spc="-1" dirty="0">
                <a:solidFill>
                  <a:srgbClr val="000000"/>
                </a:solidFill>
                <a:latin typeface="Calibri Light"/>
              </a:rPr>
              <a:t> </a:t>
            </a:r>
            <a:r>
              <a:rPr lang="zh-TW" sz="4400" b="0" strike="noStrike" spc="-1" dirty="0">
                <a:solidFill>
                  <a:srgbClr val="000000"/>
                </a:solidFill>
                <a:latin typeface="Calibri Light"/>
              </a:rPr>
              <a:t>#function words(13), #names(28) in each ariticle(120)</a:t>
            </a:r>
            <a:endParaRPr lang="zh-TW" sz="4400" b="0" strike="noStrike" spc="-1" dirty="0">
              <a:solidFill>
                <a:srgbClr val="000000"/>
              </a:solidFill>
              <a:latin typeface="Calibri"/>
            </a:endParaRPr>
          </a:p>
        </p:txBody>
      </p:sp>
      <p:pic>
        <p:nvPicPr>
          <p:cNvPr id="153" name="圖片 152"/>
          <p:cNvPicPr/>
          <p:nvPr/>
        </p:nvPicPr>
        <p:blipFill>
          <a:blip r:embed="rId2"/>
          <a:stretch/>
        </p:blipFill>
        <p:spPr>
          <a:xfrm>
            <a:off x="3072960" y="1872000"/>
            <a:ext cx="6143040" cy="44722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extShape 1"/>
          <p:cNvSpPr txBox="1"/>
          <p:nvPr/>
        </p:nvSpPr>
        <p:spPr>
          <a:xfrm>
            <a:off x="356760" y="42840"/>
            <a:ext cx="10515240" cy="13251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My thesis (2/</a:t>
            </a:r>
            <a:r>
              <a:rPr lang="en-US" altLang="zh-TW" sz="4400" b="0" strike="noStrike" spc="-1" dirty="0">
                <a:solidFill>
                  <a:srgbClr val="000000"/>
                </a:solidFill>
                <a:latin typeface="Calibri Light"/>
              </a:rPr>
              <a:t>3</a:t>
            </a:r>
            <a:r>
              <a:rPr lang="zh-TW" sz="4400" b="0" strike="noStrike" spc="-1" dirty="0">
                <a:solidFill>
                  <a:srgbClr val="000000"/>
                </a:solidFill>
                <a:latin typeface="Calibri Light"/>
              </a:rPr>
              <a:t>)</a:t>
            </a:r>
            <a:r>
              <a:rPr lang="en-US" altLang="zh-TW" sz="4400" b="0" strike="noStrike" spc="-1" dirty="0">
                <a:solidFill>
                  <a:srgbClr val="000000"/>
                </a:solidFill>
                <a:latin typeface="Calibri Light"/>
              </a:rPr>
              <a:t>—Clustering, </a:t>
            </a:r>
            <a:r>
              <a:rPr lang="zh-TW" sz="4400" b="0" strike="noStrike" spc="-1" dirty="0">
                <a:solidFill>
                  <a:srgbClr val="000000"/>
                </a:solidFill>
                <a:latin typeface="Calibri Light"/>
              </a:rPr>
              <a:t>k-means(k=2)</a:t>
            </a:r>
            <a:endParaRPr lang="zh-TW" sz="4400" b="0" strike="noStrike" spc="-1" dirty="0">
              <a:solidFill>
                <a:srgbClr val="000000"/>
              </a:solidFill>
              <a:latin typeface="Calibri"/>
            </a:endParaRPr>
          </a:p>
        </p:txBody>
      </p:sp>
      <p:sp>
        <p:nvSpPr>
          <p:cNvPr id="155" name="CustomShape 2"/>
          <p:cNvSpPr/>
          <p:nvPr/>
        </p:nvSpPr>
        <p:spPr>
          <a:xfrm>
            <a:off x="6696000" y="1063800"/>
            <a:ext cx="1584000" cy="432000"/>
          </a:xfrm>
          <a:prstGeom prst="ellipse">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r>
              <a:rPr lang="en-US" sz="1800" b="0" strike="noStrike" spc="-1">
                <a:latin typeface="Arial"/>
              </a:rPr>
              <a:t>start</a:t>
            </a:r>
          </a:p>
        </p:txBody>
      </p:sp>
      <p:sp>
        <p:nvSpPr>
          <p:cNvPr id="156" name="CustomShape 3"/>
          <p:cNvSpPr/>
          <p:nvPr/>
        </p:nvSpPr>
        <p:spPr>
          <a:xfrm>
            <a:off x="5760000" y="1639800"/>
            <a:ext cx="3600000" cy="504000"/>
          </a:xfrm>
          <a:prstGeom prst="rect">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r>
              <a:rPr lang="en-US" sz="1800" b="0" strike="noStrike" spc="-1">
                <a:latin typeface="Arial"/>
              </a:rPr>
              <a:t>Randomly choose 2 points</a:t>
            </a:r>
          </a:p>
          <a:p>
            <a:pPr algn="ctr"/>
            <a:r>
              <a:rPr lang="en-US" sz="1800" b="0" strike="noStrike" spc="-1">
                <a:latin typeface="Arial"/>
              </a:rPr>
              <a:t>as 2 centers of gravity </a:t>
            </a:r>
          </a:p>
        </p:txBody>
      </p:sp>
      <p:sp>
        <p:nvSpPr>
          <p:cNvPr id="157" name="CustomShape 4"/>
          <p:cNvSpPr/>
          <p:nvPr/>
        </p:nvSpPr>
        <p:spPr>
          <a:xfrm>
            <a:off x="5616000" y="2287800"/>
            <a:ext cx="3888000" cy="576000"/>
          </a:xfrm>
          <a:prstGeom prst="rect">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r>
              <a:rPr lang="en-US" sz="1800" b="0" strike="noStrike" spc="-1">
                <a:latin typeface="Arial"/>
              </a:rPr>
              <a:t>Update gravity table and</a:t>
            </a:r>
          </a:p>
          <a:p>
            <a:pPr algn="ctr"/>
            <a:r>
              <a:rPr lang="en-US" sz="1800" b="0" strike="noStrike" spc="-1">
                <a:latin typeface="Arial"/>
              </a:rPr>
              <a:t>decide who is new 2 centers</a:t>
            </a:r>
          </a:p>
        </p:txBody>
      </p:sp>
      <p:sp>
        <p:nvSpPr>
          <p:cNvPr id="158" name="CustomShape 5"/>
          <p:cNvSpPr/>
          <p:nvPr/>
        </p:nvSpPr>
        <p:spPr>
          <a:xfrm>
            <a:off x="4536000" y="3151800"/>
            <a:ext cx="6336000" cy="2304000"/>
          </a:xfrm>
          <a:custGeom>
            <a:avLst/>
            <a:gdLst/>
            <a:ahLst/>
            <a:cxnLst/>
            <a:rect l="l" t="t" r="r" b="b"/>
            <a:pathLst>
              <a:path w="21600" h="21600">
                <a:moveTo>
                  <a:pt x="10800" y="0"/>
                </a:moveTo>
                <a:lnTo>
                  <a:pt x="21600" y="10800"/>
                </a:lnTo>
                <a:lnTo>
                  <a:pt x="10800" y="21600"/>
                </a:lnTo>
                <a:lnTo>
                  <a:pt x="0" y="10800"/>
                </a:lnTo>
                <a:lnTo>
                  <a:pt x="10800" y="0"/>
                </a:lnTo>
                <a:close/>
              </a:path>
            </a:pathLst>
          </a:cu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r>
              <a:rPr lang="en-US" sz="1800" b="0" strike="noStrike" spc="-1" dirty="0">
                <a:latin typeface="Arial"/>
              </a:rPr>
              <a:t>( If 1 or 2 or 3 )</a:t>
            </a:r>
          </a:p>
          <a:p>
            <a:pPr algn="ctr"/>
            <a:r>
              <a:rPr lang="en-US" sz="1800" b="0" strike="noStrike" spc="-1" dirty="0">
                <a:latin typeface="Arial"/>
              </a:rPr>
              <a:t>1. Distances of points to 2 centers</a:t>
            </a:r>
          </a:p>
          <a:p>
            <a:pPr algn="ctr"/>
            <a:r>
              <a:rPr lang="en-US" sz="1800" b="0" strike="noStrike" spc="-1">
                <a:latin typeface="Arial"/>
              </a:rPr>
              <a:t>are </a:t>
            </a:r>
            <a:r>
              <a:rPr lang="en-US" sz="1800" b="0" strike="noStrike" spc="-1" dirty="0">
                <a:latin typeface="Arial"/>
              </a:rPr>
              <a:t>the same</a:t>
            </a:r>
          </a:p>
          <a:p>
            <a:pPr algn="ctr"/>
            <a:r>
              <a:rPr lang="en-US" sz="1800" b="0" strike="noStrike" spc="-1" dirty="0">
                <a:latin typeface="Arial"/>
              </a:rPr>
              <a:t>2. Reach MAX_ITER</a:t>
            </a:r>
          </a:p>
          <a:p>
            <a:pPr algn="ctr"/>
            <a:r>
              <a:rPr lang="en-US" sz="1800" b="0" strike="noStrike" spc="-1" dirty="0">
                <a:latin typeface="Arial"/>
                <a:ea typeface="Noto Sans CJK TC"/>
              </a:rPr>
              <a:t>3. D</a:t>
            </a:r>
            <a:r>
              <a:rPr lang="en-US" sz="1800" b="0" strike="noStrike" spc="-1" dirty="0">
                <a:latin typeface="Arial"/>
              </a:rPr>
              <a:t>istances of points to 2 centers are </a:t>
            </a:r>
          </a:p>
          <a:p>
            <a:pPr algn="ctr"/>
            <a:r>
              <a:rPr lang="en-US" sz="1800" b="0" strike="noStrike" spc="-1" dirty="0">
                <a:latin typeface="Arial"/>
              </a:rPr>
              <a:t>same as the last iteration</a:t>
            </a:r>
          </a:p>
        </p:txBody>
      </p:sp>
      <p:sp>
        <p:nvSpPr>
          <p:cNvPr id="159" name="CustomShape 6"/>
          <p:cNvSpPr/>
          <p:nvPr/>
        </p:nvSpPr>
        <p:spPr>
          <a:xfrm>
            <a:off x="6696360" y="1064160"/>
            <a:ext cx="1584000" cy="432000"/>
          </a:xfrm>
          <a:prstGeom prst="ellipse">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r>
              <a:rPr lang="en-US" sz="1800" b="0" strike="noStrike" spc="-1">
                <a:latin typeface="Arial"/>
              </a:rPr>
              <a:t>Start</a:t>
            </a:r>
          </a:p>
        </p:txBody>
      </p:sp>
      <p:sp>
        <p:nvSpPr>
          <p:cNvPr id="160" name="CustomShape 7"/>
          <p:cNvSpPr/>
          <p:nvPr/>
        </p:nvSpPr>
        <p:spPr>
          <a:xfrm>
            <a:off x="6984000" y="5815800"/>
            <a:ext cx="1584000" cy="432000"/>
          </a:xfrm>
          <a:prstGeom prst="ellipse">
            <a:avLst/>
          </a:prstGeom>
          <a:solidFill>
            <a:srgbClr val="729FCF"/>
          </a:solidFill>
          <a:ln>
            <a:solidFill>
              <a:srgbClr val="3465A4"/>
            </a:solidFill>
          </a:ln>
        </p:spPr>
        <p:style>
          <a:lnRef idx="0">
            <a:scrgbClr r="0" g="0" b="0"/>
          </a:lnRef>
          <a:fillRef idx="0">
            <a:scrgbClr r="0" g="0" b="0"/>
          </a:fillRef>
          <a:effectRef idx="0">
            <a:scrgbClr r="0" g="0" b="0"/>
          </a:effectRef>
          <a:fontRef idx="minor"/>
        </p:style>
        <p:txBody>
          <a:bodyPr wrap="none" lIns="90000" tIns="45000" rIns="90000" bIns="45000" anchor="ctr"/>
          <a:lstStyle/>
          <a:p>
            <a:pPr algn="ctr"/>
            <a:r>
              <a:rPr lang="en-US" sz="1800" b="0" strike="noStrike" spc="-1">
                <a:latin typeface="Arial"/>
              </a:rPr>
              <a:t>End</a:t>
            </a:r>
          </a:p>
        </p:txBody>
      </p:sp>
      <p:sp>
        <p:nvSpPr>
          <p:cNvPr id="161" name="Line 8"/>
          <p:cNvSpPr/>
          <p:nvPr/>
        </p:nvSpPr>
        <p:spPr>
          <a:xfrm>
            <a:off x="7704000" y="5455800"/>
            <a:ext cx="0" cy="432000"/>
          </a:xfrm>
          <a:prstGeom prst="line">
            <a:avLst/>
          </a:prstGeom>
          <a:ln>
            <a:solidFill>
              <a:srgbClr val="000000"/>
            </a:solidFill>
            <a:tailEnd type="triangle" w="med" len="med"/>
          </a:ln>
        </p:spPr>
        <p:style>
          <a:lnRef idx="0">
            <a:scrgbClr r="0" g="0" b="0"/>
          </a:lnRef>
          <a:fillRef idx="0">
            <a:scrgbClr r="0" g="0" b="0"/>
          </a:fillRef>
          <a:effectRef idx="0">
            <a:scrgbClr r="0" g="0" b="0"/>
          </a:effectRef>
          <a:fontRef idx="minor"/>
        </p:style>
      </p:sp>
      <p:cxnSp>
        <p:nvCxnSpPr>
          <p:cNvPr id="162" name="Line 9"/>
          <p:cNvCxnSpPr/>
          <p:nvPr/>
        </p:nvCxnSpPr>
        <p:spPr>
          <a:xfrm>
            <a:off x="0" y="0"/>
            <a:ext cx="360" cy="360"/>
          </a:xfrm>
          <a:prstGeom prst="line">
            <a:avLst/>
          </a:prstGeom>
          <a:ln>
            <a:solidFill>
              <a:srgbClr val="3465A4"/>
            </a:solidFill>
          </a:ln>
        </p:spPr>
      </p:cxnSp>
      <p:sp>
        <p:nvSpPr>
          <p:cNvPr id="164" name="Line 11"/>
          <p:cNvSpPr/>
          <p:nvPr/>
        </p:nvSpPr>
        <p:spPr>
          <a:xfrm>
            <a:off x="7488000" y="1496160"/>
            <a:ext cx="0" cy="215640"/>
          </a:xfrm>
          <a:prstGeom prst="line">
            <a:avLst/>
          </a:prstGeom>
          <a:ln>
            <a:solidFill>
              <a:srgbClr val="000000"/>
            </a:solidFill>
            <a:tailEnd type="triangle" w="med" len="med"/>
          </a:ln>
        </p:spPr>
        <p:style>
          <a:lnRef idx="0">
            <a:scrgbClr r="0" g="0" b="0"/>
          </a:lnRef>
          <a:fillRef idx="0">
            <a:scrgbClr r="0" g="0" b="0"/>
          </a:fillRef>
          <a:effectRef idx="0">
            <a:scrgbClr r="0" g="0" b="0"/>
          </a:effectRef>
          <a:fontRef idx="minor"/>
        </p:style>
      </p:sp>
      <p:sp>
        <p:nvSpPr>
          <p:cNvPr id="165" name="Line 12"/>
          <p:cNvSpPr/>
          <p:nvPr/>
        </p:nvSpPr>
        <p:spPr>
          <a:xfrm>
            <a:off x="7488000" y="1496160"/>
            <a:ext cx="0" cy="215640"/>
          </a:xfrm>
          <a:prstGeom prst="line">
            <a:avLst/>
          </a:prstGeom>
          <a:ln>
            <a:solidFill>
              <a:srgbClr val="000000"/>
            </a:solidFill>
            <a:tailEnd type="triangle" w="med" len="med"/>
          </a:ln>
        </p:spPr>
        <p:style>
          <a:lnRef idx="0">
            <a:scrgbClr r="0" g="0" b="0"/>
          </a:lnRef>
          <a:fillRef idx="0">
            <a:scrgbClr r="0" g="0" b="0"/>
          </a:fillRef>
          <a:effectRef idx="0">
            <a:scrgbClr r="0" g="0" b="0"/>
          </a:effectRef>
          <a:fontRef idx="minor"/>
        </p:style>
      </p:sp>
      <p:sp>
        <p:nvSpPr>
          <p:cNvPr id="166" name="Line 13"/>
          <p:cNvSpPr/>
          <p:nvPr/>
        </p:nvSpPr>
        <p:spPr>
          <a:xfrm>
            <a:off x="7704000" y="1999800"/>
            <a:ext cx="0" cy="288000"/>
          </a:xfrm>
          <a:prstGeom prst="line">
            <a:avLst/>
          </a:prstGeom>
          <a:ln>
            <a:solidFill>
              <a:srgbClr val="000000"/>
            </a:solidFill>
            <a:tailEnd type="triangle" w="med" len="med"/>
          </a:ln>
        </p:spPr>
        <p:style>
          <a:lnRef idx="0">
            <a:scrgbClr r="0" g="0" b="0"/>
          </a:lnRef>
          <a:fillRef idx="0">
            <a:scrgbClr r="0" g="0" b="0"/>
          </a:fillRef>
          <a:effectRef idx="0">
            <a:scrgbClr r="0" g="0" b="0"/>
          </a:effectRef>
          <a:fontRef idx="minor"/>
        </p:style>
      </p:sp>
      <p:sp>
        <p:nvSpPr>
          <p:cNvPr id="167" name="Line 14"/>
          <p:cNvSpPr/>
          <p:nvPr/>
        </p:nvSpPr>
        <p:spPr>
          <a:xfrm>
            <a:off x="7719840" y="2775600"/>
            <a:ext cx="0" cy="360000"/>
          </a:xfrm>
          <a:prstGeom prst="line">
            <a:avLst/>
          </a:prstGeom>
          <a:ln>
            <a:solidFill>
              <a:srgbClr val="000000"/>
            </a:solidFill>
            <a:tailEnd type="triangle" w="med" len="med"/>
          </a:ln>
        </p:spPr>
        <p:style>
          <a:lnRef idx="0">
            <a:scrgbClr r="0" g="0" b="0"/>
          </a:lnRef>
          <a:fillRef idx="0">
            <a:scrgbClr r="0" g="0" b="0"/>
          </a:fillRef>
          <a:effectRef idx="0">
            <a:scrgbClr r="0" g="0" b="0"/>
          </a:effectRef>
          <a:fontRef idx="minor"/>
        </p:style>
      </p:sp>
      <p:sp>
        <p:nvSpPr>
          <p:cNvPr id="168" name="TextShape 15"/>
          <p:cNvSpPr txBox="1"/>
          <p:nvPr/>
        </p:nvSpPr>
        <p:spPr>
          <a:xfrm>
            <a:off x="7848359" y="5469480"/>
            <a:ext cx="719631" cy="346320"/>
          </a:xfrm>
          <a:prstGeom prst="rect">
            <a:avLst/>
          </a:prstGeom>
          <a:noFill/>
          <a:ln>
            <a:noFill/>
          </a:ln>
        </p:spPr>
        <p:txBody>
          <a:bodyPr lIns="90000" tIns="45000" rIns="90000" bIns="45000"/>
          <a:lstStyle/>
          <a:p>
            <a:r>
              <a:rPr lang="en-US" sz="1800" b="0" strike="noStrike" spc="-1" dirty="0">
                <a:latin typeface="Arial"/>
              </a:rPr>
              <a:t>Yes</a:t>
            </a:r>
          </a:p>
        </p:txBody>
      </p:sp>
      <p:sp>
        <p:nvSpPr>
          <p:cNvPr id="169" name="TextShape 16"/>
          <p:cNvSpPr txBox="1"/>
          <p:nvPr/>
        </p:nvSpPr>
        <p:spPr>
          <a:xfrm>
            <a:off x="9968040" y="5743800"/>
            <a:ext cx="552600" cy="346320"/>
          </a:xfrm>
          <a:prstGeom prst="rect">
            <a:avLst/>
          </a:prstGeom>
          <a:noFill/>
          <a:ln>
            <a:noFill/>
          </a:ln>
        </p:spPr>
        <p:txBody>
          <a:bodyPr lIns="90000" tIns="45000" rIns="90000" bIns="45000"/>
          <a:lstStyle/>
          <a:p>
            <a:r>
              <a:rPr lang="en-US" sz="1800" b="0" strike="noStrike" spc="-1" dirty="0">
                <a:latin typeface="Arial"/>
              </a:rPr>
              <a:t>No</a:t>
            </a:r>
          </a:p>
        </p:txBody>
      </p:sp>
      <p:pic>
        <p:nvPicPr>
          <p:cNvPr id="170" name="圖片 169"/>
          <p:cNvPicPr/>
          <p:nvPr/>
        </p:nvPicPr>
        <p:blipFill>
          <a:blip r:embed="rId3"/>
          <a:stretch/>
        </p:blipFill>
        <p:spPr>
          <a:xfrm>
            <a:off x="163444" y="1063800"/>
            <a:ext cx="4084510" cy="5751360"/>
          </a:xfrm>
          <a:prstGeom prst="rect">
            <a:avLst/>
          </a:prstGeom>
          <a:ln>
            <a:noFill/>
          </a:ln>
        </p:spPr>
      </p:pic>
      <p:cxnSp>
        <p:nvCxnSpPr>
          <p:cNvPr id="5" name="肘形接點 4">
            <a:extLst>
              <a:ext uri="{FF2B5EF4-FFF2-40B4-BE49-F238E27FC236}">
                <a16:creationId xmlns:a16="http://schemas.microsoft.com/office/drawing/2014/main" id="{8E42123F-9C2A-7E47-889D-9D29E2619E8C}"/>
              </a:ext>
            </a:extLst>
          </p:cNvPr>
          <p:cNvCxnSpPr>
            <a:stCxn id="160" idx="6"/>
            <a:endCxn id="157" idx="3"/>
          </p:cNvCxnSpPr>
          <p:nvPr/>
        </p:nvCxnSpPr>
        <p:spPr>
          <a:xfrm flipV="1">
            <a:off x="8568000" y="2575800"/>
            <a:ext cx="936000" cy="3456000"/>
          </a:xfrm>
          <a:prstGeom prst="bentConnector3">
            <a:avLst>
              <a:gd name="adj1" fmla="val 298098"/>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extShape 1"/>
          <p:cNvSpPr txBox="1"/>
          <p:nvPr/>
        </p:nvSpPr>
        <p:spPr>
          <a:xfrm>
            <a:off x="190080" y="-72000"/>
            <a:ext cx="10825920" cy="1362960"/>
          </a:xfrm>
          <a:prstGeom prst="rect">
            <a:avLst/>
          </a:prstGeom>
          <a:noFill/>
          <a:ln>
            <a:noFill/>
          </a:ln>
        </p:spPr>
        <p:txBody>
          <a:bodyPr anchor="ctr"/>
          <a:lstStyle/>
          <a:p>
            <a:pPr>
              <a:lnSpc>
                <a:spcPct val="90000"/>
              </a:lnSpc>
            </a:pPr>
            <a:r>
              <a:rPr lang="zh-TW" sz="4400" b="0" strike="noStrike" spc="-1" dirty="0">
                <a:solidFill>
                  <a:srgbClr val="000000"/>
                </a:solidFill>
                <a:latin typeface="Calibri Light"/>
              </a:rPr>
              <a:t>My thesis (3/</a:t>
            </a:r>
            <a:r>
              <a:rPr lang="en-US" altLang="zh-TW" sz="4400" b="0" strike="noStrike" spc="-1" dirty="0">
                <a:solidFill>
                  <a:srgbClr val="000000"/>
                </a:solidFill>
                <a:latin typeface="Calibri Light"/>
              </a:rPr>
              <a:t>3</a:t>
            </a:r>
            <a:r>
              <a:rPr lang="zh-TW" sz="4400" b="0" strike="noStrike" spc="-1" dirty="0">
                <a:solidFill>
                  <a:srgbClr val="000000"/>
                </a:solidFill>
                <a:latin typeface="Calibri Light"/>
              </a:rPr>
              <a:t>)--K-means(K=2)</a:t>
            </a:r>
            <a:endParaRPr lang="zh-TW" sz="4400" b="0" strike="noStrike" spc="-1" dirty="0">
              <a:solidFill>
                <a:srgbClr val="000000"/>
              </a:solidFill>
              <a:latin typeface="Calibri"/>
            </a:endParaRPr>
          </a:p>
        </p:txBody>
      </p:sp>
      <p:pic>
        <p:nvPicPr>
          <p:cNvPr id="172" name="圖片 171"/>
          <p:cNvPicPr/>
          <p:nvPr/>
        </p:nvPicPr>
        <p:blipFill>
          <a:blip r:embed="rId2"/>
          <a:stretch/>
        </p:blipFill>
        <p:spPr>
          <a:xfrm>
            <a:off x="8103600" y="936000"/>
            <a:ext cx="3848400" cy="2736000"/>
          </a:xfrm>
          <a:prstGeom prst="rect">
            <a:avLst/>
          </a:prstGeom>
          <a:ln>
            <a:noFill/>
          </a:ln>
        </p:spPr>
      </p:pic>
      <p:pic>
        <p:nvPicPr>
          <p:cNvPr id="173" name="圖片 172"/>
          <p:cNvPicPr/>
          <p:nvPr/>
        </p:nvPicPr>
        <p:blipFill>
          <a:blip r:embed="rId3"/>
          <a:stretch/>
        </p:blipFill>
        <p:spPr>
          <a:xfrm>
            <a:off x="180000" y="3987000"/>
            <a:ext cx="3492000" cy="2421000"/>
          </a:xfrm>
          <a:prstGeom prst="rect">
            <a:avLst/>
          </a:prstGeom>
          <a:ln>
            <a:noFill/>
          </a:ln>
        </p:spPr>
      </p:pic>
      <p:pic>
        <p:nvPicPr>
          <p:cNvPr id="174" name="圖片 173"/>
          <p:cNvPicPr/>
          <p:nvPr/>
        </p:nvPicPr>
        <p:blipFill>
          <a:blip r:embed="rId4"/>
          <a:stretch/>
        </p:blipFill>
        <p:spPr>
          <a:xfrm>
            <a:off x="7474320" y="6175440"/>
            <a:ext cx="4505040" cy="304560"/>
          </a:xfrm>
          <a:prstGeom prst="rect">
            <a:avLst/>
          </a:prstGeom>
          <a:ln>
            <a:noFill/>
          </a:ln>
        </p:spPr>
      </p:pic>
      <p:pic>
        <p:nvPicPr>
          <p:cNvPr id="175" name="圖片 174"/>
          <p:cNvPicPr/>
          <p:nvPr/>
        </p:nvPicPr>
        <p:blipFill>
          <a:blip r:embed="rId5"/>
          <a:stretch/>
        </p:blipFill>
        <p:spPr>
          <a:xfrm>
            <a:off x="7488000" y="6410520"/>
            <a:ext cx="4438440" cy="285480"/>
          </a:xfrm>
          <a:prstGeom prst="rect">
            <a:avLst/>
          </a:prstGeom>
          <a:ln>
            <a:noFill/>
          </a:ln>
        </p:spPr>
      </p:pic>
      <p:pic>
        <p:nvPicPr>
          <p:cNvPr id="176" name="圖片 175"/>
          <p:cNvPicPr/>
          <p:nvPr/>
        </p:nvPicPr>
        <p:blipFill>
          <a:blip r:embed="rId6"/>
          <a:stretch/>
        </p:blipFill>
        <p:spPr>
          <a:xfrm>
            <a:off x="4176000" y="3888000"/>
            <a:ext cx="3298320" cy="2392560"/>
          </a:xfrm>
          <a:prstGeom prst="rect">
            <a:avLst/>
          </a:prstGeom>
          <a:ln>
            <a:noFill/>
          </a:ln>
        </p:spPr>
      </p:pic>
      <p:pic>
        <p:nvPicPr>
          <p:cNvPr id="177" name="圖片 176"/>
          <p:cNvPicPr/>
          <p:nvPr/>
        </p:nvPicPr>
        <p:blipFill>
          <a:blip r:embed="rId7"/>
          <a:stretch/>
        </p:blipFill>
        <p:spPr>
          <a:xfrm>
            <a:off x="8222760" y="3672000"/>
            <a:ext cx="3558600" cy="2520000"/>
          </a:xfrm>
          <a:prstGeom prst="rect">
            <a:avLst/>
          </a:prstGeom>
          <a:ln>
            <a:noFill/>
          </a:ln>
        </p:spPr>
      </p:pic>
      <p:pic>
        <p:nvPicPr>
          <p:cNvPr id="178" name="圖片 177"/>
          <p:cNvPicPr/>
          <p:nvPr/>
        </p:nvPicPr>
        <p:blipFill>
          <a:blip r:embed="rId8"/>
          <a:stretch/>
        </p:blipFill>
        <p:spPr>
          <a:xfrm>
            <a:off x="7488000" y="6624000"/>
            <a:ext cx="4514400" cy="294840"/>
          </a:xfrm>
          <a:prstGeom prst="rect">
            <a:avLst/>
          </a:prstGeom>
          <a:ln>
            <a:noFill/>
          </a:ln>
        </p:spPr>
      </p:pic>
      <p:pic>
        <p:nvPicPr>
          <p:cNvPr id="179" name="圖片 178"/>
          <p:cNvPicPr/>
          <p:nvPr/>
        </p:nvPicPr>
        <p:blipFill>
          <a:blip r:embed="rId9"/>
          <a:stretch/>
        </p:blipFill>
        <p:spPr>
          <a:xfrm>
            <a:off x="4392000" y="1080000"/>
            <a:ext cx="3201480" cy="2304000"/>
          </a:xfrm>
          <a:prstGeom prst="rect">
            <a:avLst/>
          </a:prstGeom>
          <a:ln>
            <a:noFill/>
          </a:ln>
        </p:spPr>
      </p:pic>
      <p:pic>
        <p:nvPicPr>
          <p:cNvPr id="180" name="圖片 179"/>
          <p:cNvPicPr/>
          <p:nvPr/>
        </p:nvPicPr>
        <p:blipFill>
          <a:blip r:embed="rId10"/>
          <a:stretch/>
        </p:blipFill>
        <p:spPr>
          <a:xfrm>
            <a:off x="475920" y="1194120"/>
            <a:ext cx="3484080" cy="24058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Shape 1"/>
          <p:cNvSpPr txBox="1"/>
          <p:nvPr/>
        </p:nvSpPr>
        <p:spPr>
          <a:xfrm>
            <a:off x="838080" y="1138320"/>
            <a:ext cx="10515240" cy="2852280"/>
          </a:xfrm>
          <a:prstGeom prst="rect">
            <a:avLst/>
          </a:prstGeom>
          <a:noFill/>
          <a:ln>
            <a:noFill/>
          </a:ln>
        </p:spPr>
        <p:txBody>
          <a:bodyPr anchor="b"/>
          <a:lstStyle/>
          <a:p>
            <a:pPr algn="ctr">
              <a:lnSpc>
                <a:spcPct val="90000"/>
              </a:lnSpc>
            </a:pPr>
            <a:r>
              <a:rPr lang="zh-TW" sz="6000" b="0" strike="noStrike" spc="-1">
                <a:solidFill>
                  <a:srgbClr val="000000"/>
                </a:solidFill>
                <a:latin typeface="Calibri Light"/>
              </a:rPr>
              <a:t>Thank you!</a:t>
            </a:r>
            <a:endParaRPr lang="zh-TW" sz="6000" b="0" strike="noStrike" spc="-1">
              <a:solidFill>
                <a:srgbClr val="000000"/>
              </a:solidFill>
              <a:latin typeface="Calibri"/>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404</TotalTime>
  <Words>857</Words>
  <Application>Microsoft Office PowerPoint</Application>
  <PresentationFormat>寬螢幕</PresentationFormat>
  <Paragraphs>91</Paragraphs>
  <Slides>17</Slides>
  <Notes>6</Notes>
  <HiddenSlides>0</HiddenSlides>
  <MMClips>0</MMClips>
  <ScaleCrop>false</ScaleCrop>
  <HeadingPairs>
    <vt:vector size="6" baseType="variant">
      <vt:variant>
        <vt:lpstr>使用字型</vt:lpstr>
      </vt:variant>
      <vt:variant>
        <vt:i4>6</vt:i4>
      </vt:variant>
      <vt:variant>
        <vt:lpstr>佈景主題</vt:lpstr>
      </vt:variant>
      <vt:variant>
        <vt:i4>3</vt:i4>
      </vt:variant>
      <vt:variant>
        <vt:lpstr>投影片標題</vt:lpstr>
      </vt:variant>
      <vt:variant>
        <vt:i4>17</vt:i4>
      </vt:variant>
    </vt:vector>
  </HeadingPairs>
  <TitlesOfParts>
    <vt:vector size="26" baseType="lpstr">
      <vt:lpstr>Arial</vt:lpstr>
      <vt:lpstr>Calibri</vt:lpstr>
      <vt:lpstr>Calibri Light</vt:lpstr>
      <vt:lpstr>Symbol</vt:lpstr>
      <vt:lpstr>Times New Roman</vt:lpstr>
      <vt:lpstr>Wingdings</vt:lpstr>
      <vt:lpstr>Office Theme</vt:lpstr>
      <vt:lpstr>Office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Authorship attribution</dc:title>
  <dc:subject/>
  <dc:creator>M073040105</dc:creator>
  <dc:description/>
  <cp:lastModifiedBy>pplab</cp:lastModifiedBy>
  <cp:revision>214</cp:revision>
  <dcterms:created xsi:type="dcterms:W3CDTF">2020-09-14T16:39:58Z</dcterms:created>
  <dcterms:modified xsi:type="dcterms:W3CDTF">2020-09-15T11:29:07Z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寬螢幕</vt:lpwstr>
  </property>
  <property fmtid="{D5CDD505-2E9C-101B-9397-08002B2CF9AE}" pid="9" name="ScaleCrop">
    <vt:bool>false</vt:bool>
  </property>
  <property fmtid="{D5CDD505-2E9C-101B-9397-08002B2CF9AE}" pid="10" name="ShareDoc">
    <vt:bool>false</vt:bool>
  </property>
  <property fmtid="{D5CDD505-2E9C-101B-9397-08002B2CF9AE}" pid="11" name="Slides">
    <vt:i4>7</vt:i4>
  </property>
</Properties>
</file>