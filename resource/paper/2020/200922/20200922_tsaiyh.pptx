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Default Extension="bin" ContentType="application/vnd.openxmlformats-officedocument.oleObject"/>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7" r:id="rId2"/>
    <p:sldId id="258" r:id="rId3"/>
    <p:sldId id="259" r:id="rId4"/>
    <p:sldId id="260" r:id="rId5"/>
    <p:sldId id="278" r:id="rId6"/>
    <p:sldId id="279" r:id="rId7"/>
    <p:sldId id="280" r:id="rId8"/>
    <p:sldId id="286" r:id="rId9"/>
    <p:sldId id="287" r:id="rId10"/>
    <p:sldId id="281" r:id="rId11"/>
    <p:sldId id="282" r:id="rId12"/>
    <p:sldId id="283" r:id="rId13"/>
    <p:sldId id="284" r:id="rId14"/>
    <p:sldId id="285"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9" d="100"/>
          <a:sy n="109" d="100"/>
        </p:scale>
        <p:origin x="-1662" y="-7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8EC598C-8F50-4D8A-A257-9F9A3D6EE20F}" type="datetimeFigureOut">
              <a:rPr lang="zh-TW" altLang="en-US" smtClean="0"/>
              <a:pPr/>
              <a:t>2020/9/22</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5A18BCC-D1EA-4D8A-929C-D092EA2B4393}"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58745C38-81A3-45D4-9959-4EF52C41C41F}" type="slidenum">
              <a:rPr lang="zh-TW" altLang="en-US" smtClean="0"/>
              <a:pPr/>
              <a:t>1</a:t>
            </a:fld>
            <a:endParaRPr lang="zh-TW" altLang="en-US"/>
          </a:p>
        </p:txBody>
      </p:sp>
    </p:spTree>
    <p:extLst>
      <p:ext uri="{BB962C8B-B14F-4D97-AF65-F5344CB8AC3E}">
        <p14:creationId xmlns="" xmlns:p14="http://schemas.microsoft.com/office/powerpoint/2010/main" val="2703819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2</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pPr/>
              <a:t>3</a:t>
            </a:fld>
            <a:endParaRPr lang="zh-TW" altLang="en-US"/>
          </a:p>
        </p:txBody>
      </p:sp>
    </p:spTree>
    <p:extLst>
      <p:ext uri="{BB962C8B-B14F-4D97-AF65-F5344CB8AC3E}">
        <p14:creationId xmlns="" xmlns:p14="http://schemas.microsoft.com/office/powerpoint/2010/main" val="1491878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a:t>按一下以編輯母片標題樣式</a:t>
            </a:r>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a:t>按一下以編輯母片標題樣式</a:t>
            </a:r>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a:t>按一下以編輯母片標題樣式</a:t>
            </a:r>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a:t>按一下以編輯母片標題樣式</a:t>
            </a:r>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a:t>按一下以編輯母片標題樣式</a:t>
            </a:r>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25BD1462-57C0-4459-9390-560953396E85}" type="datetimeFigureOut">
              <a:rPr lang="zh-TW" altLang="en-US" smtClean="0"/>
              <a:pPr/>
              <a:t>2020/9/22</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F689265B-D561-4CD1-972E-9E84754BEC82}"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BD1462-57C0-4459-9390-560953396E85}" type="datetimeFigureOut">
              <a:rPr lang="zh-TW" altLang="en-US" smtClean="0"/>
              <a:pPr/>
              <a:t>2020/9/22</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89265B-D561-4CD1-972E-9E84754BEC82}"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40B6A882-00D3-47EF-9E00-5F5448FB3E79}"/>
              </a:ext>
            </a:extLst>
          </p:cNvPr>
          <p:cNvSpPr>
            <a:spLocks noGrp="1"/>
          </p:cNvSpPr>
          <p:nvPr>
            <p:ph type="ctrTitle"/>
          </p:nvPr>
        </p:nvSpPr>
        <p:spPr>
          <a:xfrm>
            <a:off x="654342" y="1715999"/>
            <a:ext cx="7890145" cy="649317"/>
          </a:xfrm>
        </p:spPr>
        <p:txBody>
          <a:bodyPr>
            <a:noAutofit/>
          </a:bodyPr>
          <a:lstStyle/>
          <a:p>
            <a:r>
              <a:rPr lang="en-US" altLang="zh-TW" sz="3200" dirty="0" err="1" smtClean="0">
                <a:latin typeface="Times New Roman" pitchFamily="18" charset="0"/>
                <a:cs typeface="Times New Roman" pitchFamily="18" charset="0"/>
              </a:rPr>
              <a:t>conLSH</a:t>
            </a:r>
            <a:r>
              <a:rPr lang="en-US" altLang="zh-TW" sz="3200" dirty="0" smtClean="0">
                <a:latin typeface="Times New Roman" pitchFamily="18" charset="0"/>
                <a:cs typeface="Times New Roman" pitchFamily="18" charset="0"/>
              </a:rPr>
              <a:t>: Context based Locality Sensitive Hashing for mapping of noisy SMRT reads</a:t>
            </a:r>
          </a:p>
        </p:txBody>
      </p:sp>
      <p:sp>
        <p:nvSpPr>
          <p:cNvPr id="3" name="副標題 2">
            <a:extLst>
              <a:ext uri="{FF2B5EF4-FFF2-40B4-BE49-F238E27FC236}">
                <a16:creationId xmlns="" xmlns:a16="http://schemas.microsoft.com/office/drawing/2014/main" id="{7DA53B5D-3737-4D8B-A009-A9D02CAEE169}"/>
              </a:ext>
            </a:extLst>
          </p:cNvPr>
          <p:cNvSpPr>
            <a:spLocks noGrp="1"/>
          </p:cNvSpPr>
          <p:nvPr>
            <p:ph type="subTitle" idx="1"/>
          </p:nvPr>
        </p:nvSpPr>
        <p:spPr>
          <a:xfrm>
            <a:off x="1142999" y="3003984"/>
            <a:ext cx="6858000" cy="425017"/>
          </a:xfrm>
        </p:spPr>
        <p:txBody>
          <a:bodyPr>
            <a:noAutofit/>
          </a:bodyPr>
          <a:lstStyle/>
          <a:p>
            <a:pPr fontAlgn="ctr"/>
            <a:r>
              <a:rPr lang="en-US" altLang="zh-TW" sz="2000" dirty="0" err="1" smtClean="0">
                <a:solidFill>
                  <a:schemeClr val="tx1"/>
                </a:solidFill>
                <a:latin typeface="Times New Roman" pitchFamily="18" charset="0"/>
                <a:cs typeface="Times New Roman" pitchFamily="18" charset="0"/>
              </a:rPr>
              <a:t>Angana</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Chakraborty</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Sanghamitra</a:t>
            </a:r>
            <a:r>
              <a:rPr lang="en-US" altLang="zh-TW" sz="2000" dirty="0" smtClean="0">
                <a:solidFill>
                  <a:schemeClr val="tx1"/>
                </a:solidFill>
                <a:latin typeface="Times New Roman" pitchFamily="18" charset="0"/>
                <a:cs typeface="Times New Roman" pitchFamily="18" charset="0"/>
              </a:rPr>
              <a:t> </a:t>
            </a:r>
            <a:r>
              <a:rPr lang="en-US" altLang="zh-TW" sz="2000" dirty="0" err="1" smtClean="0">
                <a:solidFill>
                  <a:schemeClr val="tx1"/>
                </a:solidFill>
                <a:latin typeface="Times New Roman" pitchFamily="18" charset="0"/>
                <a:cs typeface="Times New Roman" pitchFamily="18" charset="0"/>
              </a:rPr>
              <a:t>Bandyopadhyay</a:t>
            </a:r>
            <a:endParaRPr lang="en-US" altLang="zh-TW" dirty="0"/>
          </a:p>
        </p:txBody>
      </p:sp>
      <p:sp>
        <p:nvSpPr>
          <p:cNvPr id="8" name="文字方塊 7">
            <a:extLst>
              <a:ext uri="{FF2B5EF4-FFF2-40B4-BE49-F238E27FC236}">
                <a16:creationId xmlns="" xmlns:a16="http://schemas.microsoft.com/office/drawing/2014/main" id="{8F2527E8-BB8F-41FB-8AF1-03DCC96BC069}"/>
              </a:ext>
            </a:extLst>
          </p:cNvPr>
          <p:cNvSpPr txBox="1"/>
          <p:nvPr/>
        </p:nvSpPr>
        <p:spPr>
          <a:xfrm>
            <a:off x="2071670" y="3929066"/>
            <a:ext cx="4956806" cy="1169551"/>
          </a:xfrm>
          <a:prstGeom prst="rect">
            <a:avLst/>
          </a:prstGeom>
          <a:noFill/>
        </p:spPr>
        <p:txBody>
          <a:bodyPr wrap="none" rtlCol="0">
            <a:spAutoFit/>
          </a:bodyPr>
          <a:lstStyle/>
          <a:p>
            <a:pPr algn="ctr"/>
            <a:r>
              <a:rPr lang="en-US" altLang="zh-TW" sz="2400" dirty="0" smtClean="0">
                <a:latin typeface="Times New Roman" panose="02020603050405020304" pitchFamily="18" charset="0"/>
                <a:cs typeface="Times New Roman" panose="02020603050405020304" pitchFamily="18" charset="0"/>
              </a:rPr>
              <a:t>Computational Biology and Chemistry</a:t>
            </a:r>
          </a:p>
          <a:p>
            <a:pPr algn="ctr"/>
            <a:r>
              <a:rPr lang="en-US" altLang="zh-TW" sz="2400" dirty="0" smtClean="0">
                <a:latin typeface="Times New Roman" panose="02020603050405020304" pitchFamily="18" charset="0"/>
                <a:cs typeface="Times New Roman" panose="02020603050405020304" pitchFamily="18" charset="0"/>
              </a:rPr>
              <a:t>Volume 85, April 2020, 107206</a:t>
            </a:r>
          </a:p>
          <a:p>
            <a:pPr algn="ctr"/>
            <a:endParaRPr lang="en-US" altLang="zh-TW" sz="2200" dirty="0">
              <a:latin typeface="+mj-lt"/>
              <a:cs typeface="Times New Roman" pitchFamily="18" charset="0"/>
            </a:endParaRPr>
          </a:p>
        </p:txBody>
      </p:sp>
      <p:sp>
        <p:nvSpPr>
          <p:cNvPr id="9" name="文字方塊 8">
            <a:extLst>
              <a:ext uri="{FF2B5EF4-FFF2-40B4-BE49-F238E27FC236}">
                <a16:creationId xmlns="" xmlns:a16="http://schemas.microsoft.com/office/drawing/2014/main" id="{6BC92671-3184-4146-A361-F82079153C2E}"/>
              </a:ext>
            </a:extLst>
          </p:cNvPr>
          <p:cNvSpPr txBox="1"/>
          <p:nvPr/>
        </p:nvSpPr>
        <p:spPr>
          <a:xfrm>
            <a:off x="5580112" y="5357171"/>
            <a:ext cx="3375796" cy="461665"/>
          </a:xfrm>
          <a:prstGeom prst="rect">
            <a:avLst/>
          </a:prstGeom>
          <a:noFill/>
        </p:spPr>
        <p:txBody>
          <a:bodyPr wrap="none" rtlCol="0">
            <a:spAutoFit/>
          </a:bodyPr>
          <a:lstStyle/>
          <a:p>
            <a:r>
              <a:rPr lang="en-US" altLang="zh-TW" sz="2400" dirty="0">
                <a:latin typeface="Times New Roman" panose="02020603050405020304" pitchFamily="18" charset="0"/>
                <a:cs typeface="Times New Roman" panose="02020603050405020304" pitchFamily="18" charset="0"/>
              </a:rPr>
              <a:t>Presenter: Yuan-Hsiu Tsai</a:t>
            </a:r>
            <a:endParaRPr lang="zh-TW" altLang="en-US" sz="2400" dirty="0">
              <a:latin typeface="Times New Roman" panose="02020603050405020304" pitchFamily="18" charset="0"/>
              <a:cs typeface="Times New Roman" panose="02020603050405020304" pitchFamily="18" charset="0"/>
            </a:endParaRPr>
          </a:p>
        </p:txBody>
      </p:sp>
      <p:sp>
        <p:nvSpPr>
          <p:cNvPr id="10" name="文字方塊 9">
            <a:extLst>
              <a:ext uri="{FF2B5EF4-FFF2-40B4-BE49-F238E27FC236}">
                <a16:creationId xmlns="" xmlns:a16="http://schemas.microsoft.com/office/drawing/2014/main" id="{52A0654C-2F84-4026-9FCF-04C8DF590D5F}"/>
              </a:ext>
            </a:extLst>
          </p:cNvPr>
          <p:cNvSpPr txBox="1"/>
          <p:nvPr/>
        </p:nvSpPr>
        <p:spPr>
          <a:xfrm>
            <a:off x="5652120" y="5824855"/>
            <a:ext cx="2704587" cy="461665"/>
          </a:xfrm>
          <a:prstGeom prst="rect">
            <a:avLst/>
          </a:prstGeom>
          <a:noFill/>
        </p:spPr>
        <p:txBody>
          <a:bodyPr wrap="none" rtlCol="0">
            <a:spAutoFit/>
          </a:bodyPr>
          <a:lstStyle>
            <a:defPPr>
              <a:defRPr lang="zh-TW"/>
            </a:defPPr>
            <a:lvl1pPr>
              <a:defRPr sz="2400">
                <a:latin typeface="Times New Roman" panose="02020603050405020304" pitchFamily="18" charset="0"/>
                <a:cs typeface="Times New Roman" panose="02020603050405020304" pitchFamily="18" charset="0"/>
              </a:defRPr>
            </a:lvl1pPr>
          </a:lstStyle>
          <a:p>
            <a:r>
              <a:rPr lang="en-US" altLang="zh-TW" dirty="0"/>
              <a:t>Date: Sept. </a:t>
            </a:r>
            <a:r>
              <a:rPr lang="en-US" altLang="zh-TW" dirty="0" smtClean="0"/>
              <a:t>22, 2020</a:t>
            </a:r>
            <a:endParaRPr lang="zh-TW" altLang="en-US" dirty="0"/>
          </a:p>
        </p:txBody>
      </p:sp>
    </p:spTree>
    <p:extLst>
      <p:ext uri="{BB962C8B-B14F-4D97-AF65-F5344CB8AC3E}">
        <p14:creationId xmlns="" xmlns:p14="http://schemas.microsoft.com/office/powerpoint/2010/main" val="3557049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817647"/>
            <a:ext cx="9004993" cy="5347657"/>
          </a:xfrm>
        </p:spPr>
        <p:txBody>
          <a:bodyPr>
            <a:noAutofit/>
          </a:bodyPr>
          <a:lstStyle/>
          <a:p>
            <a:pPr marL="0" indent="0">
              <a:lnSpc>
                <a:spcPts val="3200"/>
              </a:lnSpc>
              <a:buNone/>
            </a:pPr>
            <a:r>
              <a:rPr lang="en-US" altLang="zh-TW" sz="2800" dirty="0" smtClean="0">
                <a:latin typeface="Times New Roman" pitchFamily="18" charset="0"/>
                <a:cs typeface="Times New Roman" pitchFamily="18" charset="0"/>
              </a:rPr>
              <a:t>Single Molecule Real-Time (SMRT) sequencing is a recent advancement of Next Gen technology developed by Pacific Bio (</a:t>
            </a:r>
            <a:r>
              <a:rPr lang="en-US" altLang="zh-TW" sz="2800" dirty="0" err="1" smtClean="0">
                <a:latin typeface="Times New Roman" pitchFamily="18" charset="0"/>
                <a:cs typeface="Times New Roman" pitchFamily="18" charset="0"/>
              </a:rPr>
              <a:t>PacBio</a:t>
            </a:r>
            <a:r>
              <a:rPr lang="en-US" altLang="zh-TW" sz="2800" dirty="0" smtClean="0">
                <a:latin typeface="Times New Roman" pitchFamily="18" charset="0"/>
                <a:cs typeface="Times New Roman" pitchFamily="18" charset="0"/>
              </a:rPr>
              <a:t>). It comes with an explosion of long and noisy reads demanding cutting edge research to get most out of it. To deal with the high error probability of SMRT data, a novel contextual Locality Sensitive Hashing (</a:t>
            </a:r>
            <a:r>
              <a:rPr lang="en-US" altLang="zh-TW" sz="2800" dirty="0" err="1" smtClean="0">
                <a:latin typeface="Times New Roman" pitchFamily="18" charset="0"/>
                <a:cs typeface="Times New Roman" pitchFamily="18" charset="0"/>
              </a:rPr>
              <a:t>conLSH</a:t>
            </a:r>
            <a:r>
              <a:rPr lang="en-US" altLang="zh-TW" sz="2800" dirty="0" smtClean="0">
                <a:latin typeface="Times New Roman" pitchFamily="18" charset="0"/>
                <a:cs typeface="Times New Roman" pitchFamily="18" charset="0"/>
              </a:rPr>
              <a:t>) based algorithm is proposed in this article, which can effectively align the noisy SMRT reads to the reference genome. Here, sequences are hashed together based not only on their closeness, but also on similarity of context. The algorithm has</a:t>
            </a:r>
            <a:br>
              <a:rPr lang="en-US" altLang="zh-TW" sz="2800" dirty="0" smtClean="0">
                <a:latin typeface="Times New Roman" pitchFamily="18" charset="0"/>
                <a:cs typeface="Times New Roman" pitchFamily="18" charset="0"/>
              </a:rPr>
            </a:br>
            <a:r>
              <a:rPr lang="en-US" altLang="zh-TW" sz="2800" dirty="0" smtClean="0">
                <a:latin typeface="Times New Roman" pitchFamily="18" charset="0"/>
                <a:cs typeface="Times New Roman" pitchFamily="18" charset="0"/>
              </a:rPr>
              <a:t>	 space requirement, where n is the number of sequences in the corpus and ρ is a constant. </a:t>
            </a:r>
            <a:endParaRPr lang="fr-FR" altLang="zh-TW" sz="2800" dirty="0">
              <a:latin typeface="Times New Roman" pitchFamily="18" charset="0"/>
              <a:cs typeface="Times New Roman" pitchFamily="18" charset="0"/>
            </a:endParaRPr>
          </a:p>
        </p:txBody>
      </p:sp>
      <p:graphicFrame>
        <p:nvGraphicFramePr>
          <p:cNvPr id="1033" name="Object 9"/>
          <p:cNvGraphicFramePr>
            <a:graphicFrameLocks noChangeAspect="1"/>
          </p:cNvGraphicFramePr>
          <p:nvPr/>
        </p:nvGraphicFramePr>
        <p:xfrm>
          <a:off x="179512" y="5013176"/>
          <a:ext cx="936104" cy="360040"/>
        </p:xfrm>
        <a:graphic>
          <a:graphicData uri="http://schemas.openxmlformats.org/presentationml/2006/ole">
            <p:oleObj spid="_x0000_s1033" name="Equation" r:id="rId4" imgW="507960" imgH="228600" progId="Equation.DSMT4">
              <p:embed/>
            </p:oleObj>
          </a:graphicData>
        </a:graphic>
      </p:graphicFrame>
    </p:spTree>
    <p:extLst>
      <p:ext uri="{BB962C8B-B14F-4D97-AF65-F5344CB8AC3E}">
        <p14:creationId xmlns="" xmlns:p14="http://schemas.microsoft.com/office/powerpoint/2010/main" val="39944839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 xmlns:a16="http://schemas.microsoft.com/office/drawing/2014/main" id="{94B01AB9-0651-4F6D-A93A-D571F0BAE9A7}"/>
              </a:ext>
            </a:extLst>
          </p:cNvPr>
          <p:cNvSpPr>
            <a:spLocks noGrp="1"/>
          </p:cNvSpPr>
          <p:nvPr>
            <p:ph type="title"/>
          </p:nvPr>
        </p:nvSpPr>
        <p:spPr>
          <a:xfrm>
            <a:off x="139007" y="116632"/>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 xmlns:a16="http://schemas.microsoft.com/office/drawing/2014/main" id="{5E26DCC3-1991-4383-BF81-99FF895536EE}"/>
              </a:ext>
            </a:extLst>
          </p:cNvPr>
          <p:cNvSpPr>
            <a:spLocks noGrp="1"/>
          </p:cNvSpPr>
          <p:nvPr>
            <p:ph idx="1"/>
          </p:nvPr>
        </p:nvSpPr>
        <p:spPr>
          <a:xfrm>
            <a:off x="139007" y="774493"/>
            <a:ext cx="9004993" cy="5246795"/>
          </a:xfrm>
        </p:spPr>
        <p:txBody>
          <a:bodyPr>
            <a:noAutofit/>
          </a:bodyPr>
          <a:lstStyle/>
          <a:p>
            <a:pPr marL="0" indent="0">
              <a:lnSpc>
                <a:spcPts val="3200"/>
              </a:lnSpc>
              <a:buNone/>
            </a:pPr>
            <a:r>
              <a:rPr lang="en-US" altLang="zh-TW" sz="2800" dirty="0" smtClean="0">
                <a:latin typeface="Times New Roman" pitchFamily="18" charset="0"/>
                <a:cs typeface="Times New Roman" pitchFamily="18" charset="0"/>
              </a:rPr>
              <a:t>The indexing time and querying time are bounded by</a:t>
            </a:r>
          </a:p>
          <a:p>
            <a:pPr marL="0" indent="0">
              <a:lnSpc>
                <a:spcPts val="3200"/>
              </a:lnSpc>
              <a:buNone/>
            </a:pPr>
            <a:endParaRPr lang="en-US" altLang="zh-TW" sz="2800" dirty="0" smtClean="0">
              <a:latin typeface="Times New Roman" pitchFamily="18" charset="0"/>
              <a:cs typeface="Times New Roman" pitchFamily="18" charset="0"/>
            </a:endParaRPr>
          </a:p>
          <a:p>
            <a:pPr marL="0" indent="0">
              <a:lnSpc>
                <a:spcPts val="3200"/>
              </a:lnSpc>
              <a:buNone/>
            </a:pPr>
            <a:r>
              <a:rPr lang="en-US" altLang="zh-TW" sz="2800" dirty="0" smtClean="0">
                <a:latin typeface="Times New Roman" pitchFamily="18" charset="0"/>
                <a:cs typeface="Times New Roman" pitchFamily="18" charset="0"/>
              </a:rPr>
              <a:t>	        and 		respectively, where P</a:t>
            </a:r>
            <a:r>
              <a:rPr lang="en-US" altLang="zh-TW" sz="2800" baseline="-25000" dirty="0" smtClean="0">
                <a:latin typeface="Times New Roman" pitchFamily="18" charset="0"/>
                <a:cs typeface="Times New Roman" pitchFamily="18" charset="0"/>
              </a:rPr>
              <a:t>2</a:t>
            </a:r>
            <a:r>
              <a:rPr lang="en-US" altLang="zh-TW" sz="2800" dirty="0" smtClean="0">
                <a:latin typeface="Times New Roman" pitchFamily="18" charset="0"/>
                <a:cs typeface="Times New Roman" pitchFamily="18" charset="0"/>
              </a:rPr>
              <a:t> &gt; 0, is a probability value. This algorithm is particularly useful for retrieving similar sequences, a widely used task in biology. The proposed </a:t>
            </a:r>
            <a:r>
              <a:rPr lang="en-US" altLang="zh-TW" sz="2800" dirty="0" err="1" smtClean="0">
                <a:latin typeface="Times New Roman" pitchFamily="18" charset="0"/>
                <a:cs typeface="Times New Roman" pitchFamily="18" charset="0"/>
              </a:rPr>
              <a:t>conLSH</a:t>
            </a:r>
            <a:r>
              <a:rPr lang="en-US" altLang="zh-TW" sz="2800" dirty="0" smtClean="0">
                <a:latin typeface="Times New Roman" pitchFamily="18" charset="0"/>
                <a:cs typeface="Times New Roman" pitchFamily="18" charset="0"/>
              </a:rPr>
              <a:t> based aligner is compared with </a:t>
            </a:r>
            <a:r>
              <a:rPr lang="en-US" altLang="zh-TW" sz="2800" dirty="0" err="1" smtClean="0">
                <a:latin typeface="Times New Roman" pitchFamily="18" charset="0"/>
                <a:cs typeface="Times New Roman" pitchFamily="18" charset="0"/>
              </a:rPr>
              <a:t>rHAT</a:t>
            </a:r>
            <a:r>
              <a:rPr lang="en-US" altLang="zh-TW" sz="2800" dirty="0" smtClean="0">
                <a:latin typeface="Times New Roman" pitchFamily="18" charset="0"/>
                <a:cs typeface="Times New Roman" pitchFamily="18" charset="0"/>
              </a:rPr>
              <a:t>, popularly used for aligning SMRT reads, and is found to comprehensively beat it in speed as well as in memory requirements. In particular, it takes approximately 24.2% less processing time, while saving about 70.3% in peak memory requirement for </a:t>
            </a:r>
            <a:r>
              <a:rPr lang="en-US" altLang="zh-TW" sz="2800" i="1" dirty="0" err="1" smtClean="0">
                <a:latin typeface="Times New Roman" pitchFamily="18" charset="0"/>
                <a:cs typeface="Times New Roman" pitchFamily="18" charset="0"/>
              </a:rPr>
              <a:t>H.sapiens</a:t>
            </a:r>
            <a:r>
              <a:rPr lang="en-US" altLang="zh-TW" sz="2800" dirty="0" smtClean="0">
                <a:latin typeface="Times New Roman" pitchFamily="18" charset="0"/>
                <a:cs typeface="Times New Roman" pitchFamily="18" charset="0"/>
              </a:rPr>
              <a:t> </a:t>
            </a:r>
            <a:r>
              <a:rPr lang="en-US" altLang="zh-TW" sz="2800" dirty="0" err="1" smtClean="0">
                <a:latin typeface="Times New Roman" pitchFamily="18" charset="0"/>
                <a:cs typeface="Times New Roman" pitchFamily="18" charset="0"/>
              </a:rPr>
              <a:t>PacBio</a:t>
            </a:r>
            <a:r>
              <a:rPr lang="en-US" altLang="zh-TW" sz="2800" dirty="0" smtClean="0">
                <a:latin typeface="Times New Roman" pitchFamily="18" charset="0"/>
                <a:cs typeface="Times New Roman" pitchFamily="18" charset="0"/>
              </a:rPr>
              <a:t> dataset.</a:t>
            </a:r>
            <a:endParaRPr lang="fr-FR" altLang="zh-TW" sz="2800" dirty="0">
              <a:latin typeface="Times New Roman" pitchFamily="18" charset="0"/>
              <a:cs typeface="Times New Roman" pitchFamily="18" charset="0"/>
            </a:endParaRPr>
          </a:p>
        </p:txBody>
      </p:sp>
      <p:graphicFrame>
        <p:nvGraphicFramePr>
          <p:cNvPr id="23554" name="Object 2"/>
          <p:cNvGraphicFramePr>
            <a:graphicFrameLocks noChangeAspect="1"/>
          </p:cNvGraphicFramePr>
          <p:nvPr/>
        </p:nvGraphicFramePr>
        <p:xfrm>
          <a:off x="179512" y="1412776"/>
          <a:ext cx="1619712" cy="864096"/>
        </p:xfrm>
        <a:graphic>
          <a:graphicData uri="http://schemas.openxmlformats.org/presentationml/2006/ole">
            <p:oleObj spid="_x0000_s23554" name="Equation" r:id="rId4" imgW="825480" imgH="507960" progId="Equation.DSMT4">
              <p:embed/>
            </p:oleObj>
          </a:graphicData>
        </a:graphic>
      </p:graphicFrame>
      <p:graphicFrame>
        <p:nvGraphicFramePr>
          <p:cNvPr id="23555" name="Object 3"/>
          <p:cNvGraphicFramePr>
            <a:graphicFrameLocks noChangeAspect="1"/>
          </p:cNvGraphicFramePr>
          <p:nvPr/>
        </p:nvGraphicFramePr>
        <p:xfrm>
          <a:off x="2627784" y="1628800"/>
          <a:ext cx="1081387" cy="504056"/>
        </p:xfrm>
        <a:graphic>
          <a:graphicData uri="http://schemas.openxmlformats.org/presentationml/2006/ole">
            <p:oleObj spid="_x0000_s23555" name="Equation" r:id="rId5" imgW="419040" imgH="228600" progId="Equation.DSMT4">
              <p:embed/>
            </p:oleObj>
          </a:graphicData>
        </a:graphic>
      </p:graphicFrame>
    </p:spTree>
    <p:extLst>
      <p:ext uri="{BB962C8B-B14F-4D97-AF65-F5344CB8AC3E}">
        <p14:creationId xmlns="" xmlns:p14="http://schemas.microsoft.com/office/powerpoint/2010/main" val="39944839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dirty="0" smtClean="0">
                <a:latin typeface="Times New Roman" pitchFamily="18" charset="0"/>
                <a:cs typeface="Times New Roman" pitchFamily="18" charset="0"/>
              </a:rPr>
              <a:t>Introduction- LSH</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a:xfrm>
            <a:off x="0" y="1600200"/>
            <a:ext cx="9144000" cy="4525963"/>
          </a:xfrm>
        </p:spPr>
        <p:txBody>
          <a:bodyPr>
            <a:normAutofit/>
          </a:bodyPr>
          <a:lstStyle/>
          <a:p>
            <a:pPr>
              <a:buNone/>
            </a:pPr>
            <a:r>
              <a:rPr lang="en-US" altLang="zh-TW" dirty="0" smtClean="0">
                <a:latin typeface="FangSong" pitchFamily="49" charset="-122"/>
                <a:ea typeface="FangSong" pitchFamily="49" charset="-122"/>
                <a:cs typeface="Times New Roman" pitchFamily="18" charset="0"/>
              </a:rPr>
              <a:t>S = ACBCBAB</a:t>
            </a:r>
          </a:p>
          <a:p>
            <a:pPr>
              <a:buNone/>
            </a:pPr>
            <a:r>
              <a:rPr lang="en-US" altLang="zh-TW" dirty="0" smtClean="0">
                <a:latin typeface="FangSong" pitchFamily="49" charset="-122"/>
                <a:ea typeface="FangSong" pitchFamily="49" charset="-122"/>
                <a:cs typeface="Times New Roman" pitchFamily="18" charset="0"/>
              </a:rPr>
              <a:t>I = 1234567 </a:t>
            </a:r>
            <a:r>
              <a:rPr lang="en-US" altLang="zh-TW" dirty="0" smtClean="0">
                <a:latin typeface="Times New Roman" pitchFamily="18" charset="0"/>
                <a:ea typeface="FangSong" pitchFamily="49" charset="-122"/>
                <a:cs typeface="Times New Roman" pitchFamily="18" charset="0"/>
              </a:rPr>
              <a:t>(index)</a:t>
            </a:r>
          </a:p>
          <a:p>
            <a:pPr>
              <a:buNone/>
            </a:pPr>
            <a:endParaRPr lang="en-US" altLang="zh-TW" dirty="0" smtClean="0">
              <a:latin typeface="Times New Roman" pitchFamily="18" charset="0"/>
              <a:cs typeface="Times New Roman" pitchFamily="18" charset="0"/>
            </a:endParaRPr>
          </a:p>
          <a:p>
            <a:pPr>
              <a:buNone/>
            </a:pPr>
            <a:r>
              <a:rPr lang="en-US" altLang="zh-TW" dirty="0" smtClean="0">
                <a:latin typeface="Times New Roman" pitchFamily="18" charset="0"/>
                <a:cs typeface="Times New Roman" pitchFamily="18" charset="0"/>
              </a:rPr>
              <a:t>We have a function F to index the char of S</a:t>
            </a:r>
          </a:p>
          <a:p>
            <a:pPr>
              <a:buFont typeface="Symbol"/>
              <a:buChar char="Þ"/>
            </a:pPr>
            <a:r>
              <a:rPr lang="en-US" altLang="zh-TW" dirty="0" smtClean="0">
                <a:latin typeface="Times New Roman" pitchFamily="18" charset="0"/>
                <a:cs typeface="Times New Roman" pitchFamily="18" charset="0"/>
              </a:rPr>
              <a:t>F(1) = F(6) = the position of ‘A’ in LSH Table</a:t>
            </a:r>
          </a:p>
          <a:p>
            <a:pPr>
              <a:buFont typeface="Symbol"/>
              <a:buChar char="Þ"/>
            </a:pPr>
            <a:endParaRPr lang="en-US" altLang="zh-TW" dirty="0" smtClean="0">
              <a:latin typeface="Times New Roman" pitchFamily="18" charset="0"/>
              <a:cs typeface="Times New Roman" pitchFamily="18" charset="0"/>
            </a:endParaRPr>
          </a:p>
          <a:p>
            <a:pPr>
              <a:buFont typeface="Symbol"/>
              <a:buChar char="Þ"/>
            </a:pPr>
            <a:r>
              <a:rPr lang="en-US" altLang="zh-TW" dirty="0" smtClean="0">
                <a:latin typeface="Times New Roman" pitchFamily="18" charset="0"/>
                <a:cs typeface="Times New Roman" pitchFamily="18" charset="0"/>
              </a:rPr>
              <a:t>So, after do this, we can get same char index fast.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1.PNG"/>
          <p:cNvPicPr>
            <a:picLocks noGrp="1" noChangeAspect="1"/>
          </p:cNvPicPr>
          <p:nvPr>
            <p:ph idx="1"/>
          </p:nvPr>
        </p:nvPicPr>
        <p:blipFill>
          <a:blip r:embed="rId2" cstate="print"/>
          <a:stretch>
            <a:fillRect/>
          </a:stretch>
        </p:blipFill>
        <p:spPr>
          <a:xfrm>
            <a:off x="-1" y="0"/>
            <a:ext cx="9144001" cy="6858000"/>
          </a:xfr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30722" name="Picture 2" descr="C:\Users\蔡元堯\Desktop\meeting論文PPT\20200407-2\1.PNG"/>
          <p:cNvPicPr>
            <a:picLocks noChangeAspect="1" noChangeArrowheads="1"/>
          </p:cNvPicPr>
          <p:nvPr/>
        </p:nvPicPr>
        <p:blipFill>
          <a:blip r:embed="rId2" cstate="print"/>
          <a:srcRect/>
          <a:stretch>
            <a:fillRect/>
          </a:stretch>
        </p:blipFill>
        <p:spPr bwMode="auto">
          <a:xfrm>
            <a:off x="-108520" y="0"/>
            <a:ext cx="9536207" cy="6858000"/>
          </a:xfrm>
          <a:prstGeom prst="rect">
            <a:avLst/>
          </a:prstGeom>
          <a:noFill/>
        </p:spPr>
      </p:pic>
      <p:sp>
        <p:nvSpPr>
          <p:cNvPr id="5" name="文字方塊 4"/>
          <p:cNvSpPr txBox="1"/>
          <p:nvPr/>
        </p:nvSpPr>
        <p:spPr>
          <a:xfrm>
            <a:off x="2500298" y="0"/>
            <a:ext cx="4251870" cy="769441"/>
          </a:xfrm>
          <a:prstGeom prst="rect">
            <a:avLst/>
          </a:prstGeom>
          <a:noFill/>
        </p:spPr>
        <p:txBody>
          <a:bodyPr wrap="none" rtlCol="0">
            <a:spAutoFit/>
          </a:bodyPr>
          <a:lstStyle/>
          <a:p>
            <a:r>
              <a:rPr lang="en-US" altLang="zh-TW" sz="4400" dirty="0" smtClean="0">
                <a:latin typeface="Times New Roman" pitchFamily="18" charset="0"/>
                <a:ea typeface="標楷體" pitchFamily="65" charset="-120"/>
                <a:cs typeface="Times New Roman" pitchFamily="18" charset="0"/>
              </a:rPr>
              <a:t>FASTA </a:t>
            </a:r>
            <a:r>
              <a:rPr lang="zh-TW" altLang="en-US" sz="4400" dirty="0" smtClean="0">
                <a:latin typeface="Times New Roman" pitchFamily="18" charset="0"/>
                <a:ea typeface="標楷體" pitchFamily="65" charset="-120"/>
                <a:cs typeface="Times New Roman" pitchFamily="18" charset="0"/>
              </a:rPr>
              <a:t>選取方式</a:t>
            </a:r>
            <a:endParaRPr lang="zh-TW" altLang="en-US" sz="4400" dirty="0">
              <a:latin typeface="Times New Roman" pitchFamily="18" charset="0"/>
              <a:ea typeface="標楷體" pitchFamily="65" charset="-12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2.PNG"/>
          <p:cNvPicPr>
            <a:picLocks noGrp="1" noChangeAspect="1"/>
          </p:cNvPicPr>
          <p:nvPr>
            <p:ph idx="1"/>
          </p:nvPr>
        </p:nvPicPr>
        <p:blipFill>
          <a:blip r:embed="rId2" cstate="print"/>
          <a:stretch>
            <a:fillRect/>
          </a:stretch>
        </p:blipFill>
        <p:spPr>
          <a:xfrm>
            <a:off x="0" y="0"/>
            <a:ext cx="9144000" cy="6858000"/>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8.PNG"/>
          <p:cNvPicPr>
            <a:picLocks noGrp="1" noChangeAspect="1"/>
          </p:cNvPicPr>
          <p:nvPr>
            <p:ph idx="1"/>
          </p:nvPr>
        </p:nvPicPr>
        <p:blipFill>
          <a:blip r:embed="rId2"/>
          <a:stretch>
            <a:fillRect/>
          </a:stretch>
        </p:blipFill>
        <p:spPr>
          <a:xfrm>
            <a:off x="-1" y="928670"/>
            <a:ext cx="9168071" cy="5357850"/>
          </a:xfr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4" name="內容版面配置區 3" descr="9.PNG"/>
          <p:cNvPicPr>
            <a:picLocks noGrp="1" noChangeAspect="1"/>
          </p:cNvPicPr>
          <p:nvPr>
            <p:ph idx="1"/>
          </p:nvPr>
        </p:nvPicPr>
        <p:blipFill>
          <a:blip r:embed="rId2"/>
          <a:stretch>
            <a:fillRect/>
          </a:stretch>
        </p:blipFill>
        <p:spPr>
          <a:xfrm>
            <a:off x="-1" y="1285860"/>
            <a:ext cx="9005593" cy="4572032"/>
          </a:xfr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表格 4"/>
          <p:cNvGraphicFramePr>
            <a:graphicFrameLocks noGrp="1"/>
          </p:cNvGraphicFramePr>
          <p:nvPr/>
        </p:nvGraphicFramePr>
        <p:xfrm>
          <a:off x="107504" y="0"/>
          <a:ext cx="9036495" cy="6857999"/>
        </p:xfrm>
        <a:graphic>
          <a:graphicData uri="http://schemas.openxmlformats.org/drawingml/2006/table">
            <a:tbl>
              <a:tblPr firstRow="1" firstCol="1" bandRow="1">
                <a:tableStyleId>{5C22544A-7EE6-4342-B048-85BDC9FD1C3A}</a:tableStyleId>
              </a:tblPr>
              <a:tblGrid>
                <a:gridCol w="1807299"/>
                <a:gridCol w="1807299"/>
                <a:gridCol w="1807299"/>
                <a:gridCol w="1807299"/>
                <a:gridCol w="1807299"/>
              </a:tblGrid>
              <a:tr h="888549">
                <a:tc>
                  <a:txBody>
                    <a:bodyPr/>
                    <a:lstStyle/>
                    <a:p>
                      <a:pPr algn="ctr"/>
                      <a:r>
                        <a:rPr lang="en-US" altLang="zh-TW" dirty="0" smtClean="0"/>
                        <a:t>Function</a:t>
                      </a:r>
                    </a:p>
                    <a:p>
                      <a:pPr algn="ctr"/>
                      <a:r>
                        <a:rPr lang="en-US" altLang="zh-TW" dirty="0" smtClean="0"/>
                        <a:t>/Dataset</a:t>
                      </a:r>
                      <a:endParaRPr lang="zh-TW" altLang="en-US" dirty="0"/>
                    </a:p>
                  </a:txBody>
                  <a:tcPr/>
                </a:tc>
                <a:tc>
                  <a:txBody>
                    <a:bodyPr/>
                    <a:lstStyle/>
                    <a:p>
                      <a:pPr algn="ctr"/>
                      <a:r>
                        <a:rPr lang="en-US" altLang="zh-TW" dirty="0" err="1" smtClean="0"/>
                        <a:t>conLSH</a:t>
                      </a:r>
                      <a:endParaRPr lang="zh-TW" altLang="en-US" dirty="0"/>
                    </a:p>
                  </a:txBody>
                  <a:tcPr/>
                </a:tc>
                <a:tc>
                  <a:txBody>
                    <a:bodyPr/>
                    <a:lstStyle/>
                    <a:p>
                      <a:pPr algn="ctr"/>
                      <a:r>
                        <a:rPr lang="en-US" altLang="zh-TW" dirty="0" smtClean="0"/>
                        <a:t>rHAT1</a:t>
                      </a:r>
                      <a:endParaRPr lang="zh-TW" altLang="en-US" dirty="0"/>
                    </a:p>
                  </a:txBody>
                  <a:tcPr/>
                </a:tc>
                <a:tc>
                  <a:txBody>
                    <a:bodyPr/>
                    <a:lstStyle/>
                    <a:p>
                      <a:pPr algn="ctr"/>
                      <a:r>
                        <a:rPr lang="en-US" altLang="zh-TW" dirty="0" smtClean="0"/>
                        <a:t>rHAT2</a:t>
                      </a:r>
                      <a:endParaRPr lang="zh-TW" altLang="en-US" dirty="0"/>
                    </a:p>
                  </a:txBody>
                  <a:tcPr/>
                </a:tc>
                <a:tc>
                  <a:txBody>
                    <a:bodyPr/>
                    <a:lstStyle/>
                    <a:p>
                      <a:pPr algn="ctr"/>
                      <a:r>
                        <a:rPr lang="en-US" altLang="zh-TW" dirty="0" smtClean="0"/>
                        <a:t>BWA</a:t>
                      </a:r>
                      <a:endParaRPr lang="zh-TW" altLang="en-US" dirty="0"/>
                    </a:p>
                  </a:txBody>
                  <a:tcPr/>
                </a:tc>
              </a:tr>
              <a:tr h="444275">
                <a:tc rowSpan="2">
                  <a:txBody>
                    <a:bodyPr/>
                    <a:lstStyle/>
                    <a:p>
                      <a:pPr algn="ctr"/>
                      <a:r>
                        <a:rPr lang="en-US" altLang="zh-TW" dirty="0" err="1" smtClean="0"/>
                        <a:t>E.coli</a:t>
                      </a:r>
                      <a:endParaRPr lang="zh-TW" altLang="en-US" dirty="0"/>
                    </a:p>
                  </a:txBody>
                  <a:tcPr/>
                </a:tc>
                <a:tc>
                  <a:txBody>
                    <a:bodyPr/>
                    <a:lstStyle/>
                    <a:p>
                      <a:pPr algn="ctr"/>
                      <a:r>
                        <a:rPr lang="en-US" altLang="zh-TW" dirty="0" smtClean="0"/>
                        <a:t>1.38 (MB)</a:t>
                      </a:r>
                      <a:endParaRPr lang="zh-TW" altLang="en-US" dirty="0"/>
                    </a:p>
                  </a:txBody>
                  <a:tcPr/>
                </a:tc>
                <a:tc>
                  <a:txBody>
                    <a:bodyPr/>
                    <a:lstStyle/>
                    <a:p>
                      <a:pPr algn="ctr"/>
                      <a:r>
                        <a:rPr lang="en-US" altLang="zh-TW" dirty="0" smtClean="0"/>
                        <a:t>290</a:t>
                      </a:r>
                      <a:endParaRPr lang="zh-TW" altLang="en-US" dirty="0"/>
                    </a:p>
                  </a:txBody>
                  <a:tcPr/>
                </a:tc>
                <a:tc>
                  <a:txBody>
                    <a:bodyPr/>
                    <a:lstStyle/>
                    <a:p>
                      <a:pPr algn="ctr"/>
                      <a:r>
                        <a:rPr lang="en-US" altLang="zh-TW" dirty="0" smtClean="0"/>
                        <a:t>4317</a:t>
                      </a:r>
                      <a:endParaRPr lang="zh-TW" altLang="en-US" dirty="0"/>
                    </a:p>
                  </a:txBody>
                  <a:tcPr/>
                </a:tc>
                <a:tc>
                  <a:txBody>
                    <a:bodyPr/>
                    <a:lstStyle/>
                    <a:p>
                      <a:pPr algn="ctr"/>
                      <a:r>
                        <a:rPr lang="en-US" altLang="zh-TW" dirty="0" smtClean="0"/>
                        <a:t>9.7</a:t>
                      </a:r>
                      <a:endParaRPr lang="zh-TW" altLang="en-US" dirty="0"/>
                    </a:p>
                  </a:txBody>
                  <a:tcPr/>
                </a:tc>
              </a:tr>
              <a:tr h="749615">
                <a:tc vMerge="1">
                  <a:txBody>
                    <a:bodyPr/>
                    <a:lstStyle/>
                    <a:p>
                      <a:endParaRPr lang="zh-TW" altLang="en-US"/>
                    </a:p>
                  </a:txBody>
                  <a:tcPr/>
                </a:tc>
                <a:tc>
                  <a:txBody>
                    <a:bodyPr/>
                    <a:lstStyle/>
                    <a:p>
                      <a:pPr algn="ctr"/>
                      <a:r>
                        <a:rPr lang="en-US" altLang="zh-TW" dirty="0" smtClean="0"/>
                        <a:t>0.01 (S)</a:t>
                      </a:r>
                      <a:endParaRPr lang="zh-TW" altLang="en-US" dirty="0"/>
                    </a:p>
                  </a:txBody>
                  <a:tcPr/>
                </a:tc>
                <a:tc>
                  <a:txBody>
                    <a:bodyPr/>
                    <a:lstStyle/>
                    <a:p>
                      <a:pPr algn="ctr"/>
                      <a:r>
                        <a:rPr lang="en-US" altLang="zh-TW" dirty="0" smtClean="0"/>
                        <a:t>4</a:t>
                      </a:r>
                      <a:endParaRPr lang="zh-TW" altLang="en-US" dirty="0"/>
                    </a:p>
                  </a:txBody>
                  <a:tcPr/>
                </a:tc>
                <a:tc>
                  <a:txBody>
                    <a:bodyPr/>
                    <a:lstStyle/>
                    <a:p>
                      <a:pPr algn="ctr"/>
                      <a:r>
                        <a:rPr lang="en-US" altLang="zh-TW" dirty="0" smtClean="0"/>
                        <a:t>49</a:t>
                      </a:r>
                      <a:endParaRPr lang="zh-TW" altLang="en-US" dirty="0"/>
                    </a:p>
                  </a:txBody>
                  <a:tcPr/>
                </a:tc>
                <a:tc>
                  <a:txBody>
                    <a:bodyPr/>
                    <a:lstStyle/>
                    <a:p>
                      <a:pPr algn="ctr"/>
                      <a:r>
                        <a:rPr lang="en-US" altLang="zh-TW" dirty="0" smtClean="0"/>
                        <a:t>8.7</a:t>
                      </a:r>
                    </a:p>
                    <a:p>
                      <a:pPr algn="ctr"/>
                      <a:endParaRPr lang="zh-TW" altLang="en-US" dirty="0"/>
                    </a:p>
                  </a:txBody>
                  <a:tcPr/>
                </a:tc>
              </a:tr>
              <a:tr h="444275">
                <a:tc rowSpan="2">
                  <a:txBody>
                    <a:bodyPr/>
                    <a:lstStyle/>
                    <a:p>
                      <a:pPr algn="ctr"/>
                      <a:r>
                        <a:rPr lang="en-US" altLang="zh-TW" dirty="0" err="1" smtClean="0"/>
                        <a:t>H.sapiens</a:t>
                      </a:r>
                      <a:endParaRPr lang="zh-TW" altLang="en-US" dirty="0"/>
                    </a:p>
                  </a:txBody>
                  <a:tcPr/>
                </a:tc>
                <a:tc>
                  <a:txBody>
                    <a:bodyPr/>
                    <a:lstStyle/>
                    <a:p>
                      <a:pPr algn="ctr"/>
                      <a:r>
                        <a:rPr lang="en-US" altLang="zh-TW" dirty="0" smtClean="0"/>
                        <a:t>724.32</a:t>
                      </a:r>
                      <a:endParaRPr lang="zh-TW" altLang="en-US" dirty="0"/>
                    </a:p>
                  </a:txBody>
                  <a:tcPr/>
                </a:tc>
                <a:tc>
                  <a:txBody>
                    <a:bodyPr/>
                    <a:lstStyle/>
                    <a:p>
                      <a:pPr algn="ctr"/>
                      <a:r>
                        <a:rPr lang="en-US" altLang="zh-TW" dirty="0" smtClean="0"/>
                        <a:t>11755.34</a:t>
                      </a:r>
                      <a:endParaRPr lang="zh-TW" altLang="en-US" dirty="0"/>
                    </a:p>
                  </a:txBody>
                  <a:tcPr/>
                </a:tc>
                <a:tc>
                  <a:txBody>
                    <a:bodyPr/>
                    <a:lstStyle/>
                    <a:p>
                      <a:pPr algn="ctr"/>
                      <a:r>
                        <a:rPr lang="en-US" altLang="zh-TW" dirty="0" smtClean="0"/>
                        <a:t>15806.77</a:t>
                      </a:r>
                      <a:endParaRPr lang="zh-TW" altLang="en-US" dirty="0"/>
                    </a:p>
                  </a:txBody>
                  <a:tcPr/>
                </a:tc>
                <a:tc>
                  <a:txBody>
                    <a:bodyPr/>
                    <a:lstStyle/>
                    <a:p>
                      <a:pPr algn="ctr"/>
                      <a:r>
                        <a:rPr lang="en-US" altLang="zh-TW" dirty="0" smtClean="0"/>
                        <a:t>4523</a:t>
                      </a:r>
                      <a:endParaRPr lang="zh-TW" altLang="en-US" dirty="0"/>
                    </a:p>
                  </a:txBody>
                  <a:tcPr/>
                </a:tc>
              </a:tr>
              <a:tr h="749615">
                <a:tc vMerge="1">
                  <a:txBody>
                    <a:bodyPr/>
                    <a:lstStyle/>
                    <a:p>
                      <a:endParaRPr lang="zh-TW" altLang="en-US"/>
                    </a:p>
                  </a:txBody>
                  <a:tcPr/>
                </a:tc>
                <a:tc>
                  <a:txBody>
                    <a:bodyPr/>
                    <a:lstStyle/>
                    <a:p>
                      <a:pPr algn="ctr"/>
                      <a:r>
                        <a:rPr lang="en-US" altLang="zh-TW" dirty="0" smtClean="0"/>
                        <a:t>49</a:t>
                      </a:r>
                      <a:endParaRPr lang="zh-TW" altLang="en-US"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TW" dirty="0" smtClean="0"/>
                        <a:t>785</a:t>
                      </a:r>
                      <a:endParaRPr lang="zh-TW" altLang="en-US" dirty="0" smtClean="0"/>
                    </a:p>
                  </a:txBody>
                  <a:tcPr/>
                </a:tc>
                <a:tc>
                  <a:txBody>
                    <a:bodyPr/>
                    <a:lstStyle/>
                    <a:p>
                      <a:pPr algn="ctr"/>
                      <a:r>
                        <a:rPr lang="en-US" altLang="zh-TW" dirty="0" smtClean="0"/>
                        <a:t>1166</a:t>
                      </a:r>
                      <a:endParaRPr lang="zh-TW" altLang="en-US" dirty="0"/>
                    </a:p>
                  </a:txBody>
                  <a:tcPr/>
                </a:tc>
                <a:tc>
                  <a:txBody>
                    <a:bodyPr/>
                    <a:lstStyle/>
                    <a:p>
                      <a:pPr algn="ctr"/>
                      <a:r>
                        <a:rPr lang="en-US" altLang="zh-TW" dirty="0" smtClean="0"/>
                        <a:t>3904</a:t>
                      </a:r>
                    </a:p>
                    <a:p>
                      <a:pPr algn="ctr"/>
                      <a:endParaRPr lang="zh-TW" altLang="en-US" dirty="0"/>
                    </a:p>
                  </a:txBody>
                  <a:tcPr/>
                </a:tc>
              </a:tr>
              <a:tr h="444275">
                <a:tc rowSpan="2">
                  <a:txBody>
                    <a:bodyPr/>
                    <a:lstStyle/>
                    <a:p>
                      <a:pPr algn="ctr"/>
                      <a:r>
                        <a:rPr lang="en-US" altLang="zh-TW" dirty="0" err="1" smtClean="0"/>
                        <a:t>A.thaliana</a:t>
                      </a:r>
                      <a:endParaRPr lang="zh-TW" altLang="en-US" dirty="0"/>
                    </a:p>
                  </a:txBody>
                  <a:tcPr/>
                </a:tc>
                <a:tc>
                  <a:txBody>
                    <a:bodyPr/>
                    <a:lstStyle/>
                    <a:p>
                      <a:pPr algn="ctr"/>
                      <a:r>
                        <a:rPr lang="en-US" altLang="zh-TW" dirty="0" smtClean="0"/>
                        <a:t>29.87</a:t>
                      </a:r>
                      <a:endParaRPr lang="zh-TW" altLang="en-US" dirty="0"/>
                    </a:p>
                  </a:txBody>
                  <a:tcPr/>
                </a:tc>
                <a:tc>
                  <a:txBody>
                    <a:bodyPr/>
                    <a:lstStyle/>
                    <a:p>
                      <a:pPr algn="ctr"/>
                      <a:r>
                        <a:rPr lang="en-US" altLang="zh-TW" dirty="0" smtClean="0"/>
                        <a:t>742.84</a:t>
                      </a:r>
                      <a:endParaRPr lang="zh-TW" altLang="en-US" dirty="0"/>
                    </a:p>
                  </a:txBody>
                  <a:tcPr/>
                </a:tc>
                <a:tc>
                  <a:txBody>
                    <a:bodyPr/>
                    <a:lstStyle/>
                    <a:p>
                      <a:pPr algn="ctr"/>
                      <a:r>
                        <a:rPr lang="en-US" altLang="zh-TW" dirty="0" smtClean="0"/>
                        <a:t>4770.16</a:t>
                      </a:r>
                      <a:endParaRPr lang="zh-TW" altLang="en-US" dirty="0"/>
                    </a:p>
                  </a:txBody>
                  <a:tcPr/>
                </a:tc>
                <a:tc>
                  <a:txBody>
                    <a:bodyPr/>
                    <a:lstStyle/>
                    <a:p>
                      <a:pPr algn="ctr"/>
                      <a:r>
                        <a:rPr lang="en-US" altLang="zh-TW" dirty="0" smtClean="0"/>
                        <a:t>209</a:t>
                      </a:r>
                      <a:endParaRPr lang="zh-TW" altLang="en-US" dirty="0"/>
                    </a:p>
                  </a:txBody>
                  <a:tcPr/>
                </a:tc>
              </a:tr>
              <a:tr h="749615">
                <a:tc vMerge="1">
                  <a:txBody>
                    <a:bodyPr/>
                    <a:lstStyle/>
                    <a:p>
                      <a:endParaRPr lang="zh-TW" altLang="en-US"/>
                    </a:p>
                  </a:txBody>
                  <a:tcPr/>
                </a:tc>
                <a:tc>
                  <a:txBody>
                    <a:bodyPr/>
                    <a:lstStyle/>
                    <a:p>
                      <a:pPr algn="ctr"/>
                      <a:r>
                        <a:rPr lang="en-US" altLang="zh-TW" dirty="0" smtClean="0"/>
                        <a:t>1</a:t>
                      </a:r>
                      <a:endParaRPr lang="zh-TW" altLang="en-US" dirty="0"/>
                    </a:p>
                  </a:txBody>
                  <a:tcPr/>
                </a:tc>
                <a:tc>
                  <a:txBody>
                    <a:bodyPr/>
                    <a:lstStyle/>
                    <a:p>
                      <a:pPr algn="ctr"/>
                      <a:r>
                        <a:rPr lang="en-US" altLang="zh-TW" dirty="0" smtClean="0"/>
                        <a:t>35</a:t>
                      </a:r>
                      <a:endParaRPr lang="zh-TW" altLang="en-US" dirty="0"/>
                    </a:p>
                  </a:txBody>
                  <a:tcPr/>
                </a:tc>
                <a:tc>
                  <a:txBody>
                    <a:bodyPr/>
                    <a:lstStyle/>
                    <a:p>
                      <a:pPr algn="ctr"/>
                      <a:r>
                        <a:rPr lang="en-US" altLang="zh-TW" dirty="0" smtClean="0"/>
                        <a:t>115</a:t>
                      </a:r>
                      <a:endParaRPr lang="zh-TW" altLang="en-US" dirty="0"/>
                    </a:p>
                  </a:txBody>
                  <a:tcPr/>
                </a:tc>
                <a:tc>
                  <a:txBody>
                    <a:bodyPr/>
                    <a:lstStyle/>
                    <a:p>
                      <a:pPr algn="ctr"/>
                      <a:r>
                        <a:rPr lang="en-US" altLang="zh-TW" dirty="0" smtClean="0"/>
                        <a:t>114.7</a:t>
                      </a:r>
                    </a:p>
                    <a:p>
                      <a:pPr algn="ctr"/>
                      <a:endParaRPr lang="zh-TW" altLang="en-US" dirty="0"/>
                    </a:p>
                  </a:txBody>
                  <a:tcPr/>
                </a:tc>
              </a:tr>
              <a:tr h="444275">
                <a:tc rowSpan="2">
                  <a:txBody>
                    <a:bodyPr/>
                    <a:lstStyle/>
                    <a:p>
                      <a:pPr algn="ctr"/>
                      <a:r>
                        <a:rPr lang="en-US" altLang="zh-TW" dirty="0" err="1" smtClean="0"/>
                        <a:t>S.cerevisiae</a:t>
                      </a:r>
                      <a:endParaRPr lang="zh-TW" altLang="en-US" dirty="0"/>
                    </a:p>
                  </a:txBody>
                  <a:tcPr/>
                </a:tc>
                <a:tc>
                  <a:txBody>
                    <a:bodyPr/>
                    <a:lstStyle/>
                    <a:p>
                      <a:pPr algn="ctr"/>
                      <a:r>
                        <a:rPr lang="en-US" altLang="zh-TW" dirty="0" smtClean="0"/>
                        <a:t>3.03</a:t>
                      </a:r>
                      <a:endParaRPr lang="zh-TW" altLang="en-US" dirty="0"/>
                    </a:p>
                  </a:txBody>
                  <a:tcPr/>
                </a:tc>
                <a:tc>
                  <a:txBody>
                    <a:bodyPr/>
                    <a:lstStyle/>
                    <a:p>
                      <a:pPr algn="ctr"/>
                      <a:r>
                        <a:rPr lang="en-US" altLang="zh-TW" dirty="0" smtClean="0"/>
                        <a:t>316.91</a:t>
                      </a:r>
                      <a:endParaRPr lang="zh-TW" altLang="en-US" dirty="0"/>
                    </a:p>
                  </a:txBody>
                  <a:tcPr/>
                </a:tc>
                <a:tc>
                  <a:txBody>
                    <a:bodyPr/>
                    <a:lstStyle/>
                    <a:p>
                      <a:pPr algn="ctr"/>
                      <a:r>
                        <a:rPr lang="en-US" altLang="zh-TW" dirty="0" smtClean="0"/>
                        <a:t>4343.47</a:t>
                      </a:r>
                      <a:endParaRPr lang="zh-TW" altLang="en-US" dirty="0"/>
                    </a:p>
                  </a:txBody>
                  <a:tcPr/>
                </a:tc>
                <a:tc>
                  <a:txBody>
                    <a:bodyPr/>
                    <a:lstStyle/>
                    <a:p>
                      <a:pPr algn="ctr"/>
                      <a:r>
                        <a:rPr lang="en-US" altLang="zh-TW" dirty="0" smtClean="0"/>
                        <a:t>21.3</a:t>
                      </a:r>
                      <a:endParaRPr lang="zh-TW" altLang="en-US" dirty="0"/>
                    </a:p>
                  </a:txBody>
                  <a:tcPr/>
                </a:tc>
              </a:tr>
              <a:tr h="749615">
                <a:tc vMerge="1">
                  <a:txBody>
                    <a:bodyPr/>
                    <a:lstStyle/>
                    <a:p>
                      <a:endParaRPr lang="zh-TW" altLang="en-US"/>
                    </a:p>
                  </a:txBody>
                  <a:tcPr/>
                </a:tc>
                <a:tc>
                  <a:txBody>
                    <a:bodyPr/>
                    <a:lstStyle/>
                    <a:p>
                      <a:pPr algn="ctr"/>
                      <a:r>
                        <a:rPr lang="en-US" altLang="zh-TW" dirty="0" smtClean="0"/>
                        <a:t>0.01</a:t>
                      </a:r>
                      <a:endParaRPr lang="zh-TW" altLang="en-US" dirty="0"/>
                    </a:p>
                  </a:txBody>
                  <a:tcPr/>
                </a:tc>
                <a:tc>
                  <a:txBody>
                    <a:bodyPr/>
                    <a:lstStyle/>
                    <a:p>
                      <a:pPr algn="ctr"/>
                      <a:r>
                        <a:rPr lang="en-US" altLang="zh-TW" dirty="0" smtClean="0"/>
                        <a:t>3</a:t>
                      </a:r>
                      <a:endParaRPr lang="zh-TW" altLang="en-US" dirty="0"/>
                    </a:p>
                  </a:txBody>
                  <a:tcPr/>
                </a:tc>
                <a:tc>
                  <a:txBody>
                    <a:bodyPr/>
                    <a:lstStyle/>
                    <a:p>
                      <a:pPr algn="ctr"/>
                      <a:r>
                        <a:rPr lang="en-US" altLang="zh-TW" dirty="0" smtClean="0"/>
                        <a:t>50</a:t>
                      </a:r>
                      <a:endParaRPr lang="zh-TW" altLang="en-US" dirty="0"/>
                    </a:p>
                  </a:txBody>
                  <a:tcPr/>
                </a:tc>
                <a:tc>
                  <a:txBody>
                    <a:bodyPr/>
                    <a:lstStyle/>
                    <a:p>
                      <a:pPr algn="ctr"/>
                      <a:r>
                        <a:rPr lang="en-US" altLang="zh-TW" dirty="0" smtClean="0"/>
                        <a:t>10.16</a:t>
                      </a:r>
                    </a:p>
                    <a:p>
                      <a:pPr algn="ctr"/>
                      <a:endParaRPr lang="zh-TW" altLang="en-US" dirty="0"/>
                    </a:p>
                  </a:txBody>
                  <a:tcPr/>
                </a:tc>
              </a:tr>
              <a:tr h="444275">
                <a:tc rowSpan="2">
                  <a:txBody>
                    <a:bodyPr/>
                    <a:lstStyle/>
                    <a:p>
                      <a:pPr algn="ctr"/>
                      <a:r>
                        <a:rPr lang="en-US" altLang="zh-TW" dirty="0" err="1" smtClean="0"/>
                        <a:t>O.sativa</a:t>
                      </a:r>
                      <a:endParaRPr lang="zh-TW" altLang="en-US" dirty="0"/>
                    </a:p>
                  </a:txBody>
                  <a:tcPr/>
                </a:tc>
                <a:tc>
                  <a:txBody>
                    <a:bodyPr/>
                    <a:lstStyle/>
                    <a:p>
                      <a:pPr algn="ctr"/>
                      <a:r>
                        <a:rPr lang="en-US" altLang="zh-TW" dirty="0" smtClean="0"/>
                        <a:t>93.18</a:t>
                      </a:r>
                      <a:endParaRPr lang="zh-TW" altLang="en-US" dirty="0"/>
                    </a:p>
                  </a:txBody>
                  <a:tcPr/>
                </a:tc>
                <a:tc>
                  <a:txBody>
                    <a:bodyPr/>
                    <a:lstStyle/>
                    <a:p>
                      <a:pPr algn="ctr"/>
                      <a:r>
                        <a:rPr lang="en-US" altLang="zh-TW" dirty="0" smtClean="0"/>
                        <a:t>1744.08</a:t>
                      </a:r>
                      <a:endParaRPr lang="zh-TW" altLang="en-US" dirty="0"/>
                    </a:p>
                  </a:txBody>
                  <a:tcPr/>
                </a:tc>
                <a:tc>
                  <a:txBody>
                    <a:bodyPr/>
                    <a:lstStyle/>
                    <a:p>
                      <a:pPr algn="ctr"/>
                      <a:r>
                        <a:rPr lang="en-US" altLang="zh-TW" dirty="0" smtClean="0"/>
                        <a:t>5804</a:t>
                      </a:r>
                      <a:endParaRPr lang="zh-TW" altLang="en-US" dirty="0"/>
                    </a:p>
                  </a:txBody>
                  <a:tcPr/>
                </a:tc>
                <a:tc>
                  <a:txBody>
                    <a:bodyPr/>
                    <a:lstStyle/>
                    <a:p>
                      <a:pPr algn="ctr"/>
                      <a:r>
                        <a:rPr lang="en-US" altLang="zh-TW" dirty="0" smtClean="0"/>
                        <a:t>652.4</a:t>
                      </a:r>
                      <a:endParaRPr lang="zh-TW" altLang="en-US" dirty="0"/>
                    </a:p>
                  </a:txBody>
                  <a:tcPr/>
                </a:tc>
              </a:tr>
              <a:tr h="749615">
                <a:tc vMerge="1">
                  <a:txBody>
                    <a:bodyPr/>
                    <a:lstStyle/>
                    <a:p>
                      <a:endParaRPr lang="zh-TW" altLang="en-US"/>
                    </a:p>
                  </a:txBody>
                  <a:tcPr/>
                </a:tc>
                <a:tc>
                  <a:txBody>
                    <a:bodyPr/>
                    <a:lstStyle/>
                    <a:p>
                      <a:pPr algn="ctr"/>
                      <a:r>
                        <a:rPr lang="en-US" altLang="zh-TW" dirty="0" smtClean="0"/>
                        <a:t>7</a:t>
                      </a:r>
                      <a:endParaRPr lang="zh-TW" altLang="en-US" dirty="0"/>
                    </a:p>
                  </a:txBody>
                  <a:tcPr/>
                </a:tc>
                <a:tc>
                  <a:txBody>
                    <a:bodyPr/>
                    <a:lstStyle/>
                    <a:p>
                      <a:pPr algn="ctr"/>
                      <a:r>
                        <a:rPr lang="en-US" altLang="zh-TW" dirty="0" smtClean="0"/>
                        <a:t>122</a:t>
                      </a:r>
                      <a:endParaRPr lang="zh-TW" altLang="en-US" dirty="0"/>
                    </a:p>
                  </a:txBody>
                  <a:tcPr/>
                </a:tc>
                <a:tc>
                  <a:txBody>
                    <a:bodyPr/>
                    <a:lstStyle/>
                    <a:p>
                      <a:pPr algn="ctr"/>
                      <a:r>
                        <a:rPr lang="en-US" altLang="zh-TW" dirty="0" smtClean="0"/>
                        <a:t>253</a:t>
                      </a:r>
                      <a:endParaRPr lang="zh-TW" altLang="en-US" dirty="0"/>
                    </a:p>
                  </a:txBody>
                  <a:tcPr/>
                </a:tc>
                <a:tc>
                  <a:txBody>
                    <a:bodyPr/>
                    <a:lstStyle/>
                    <a:p>
                      <a:pPr algn="ctr"/>
                      <a:r>
                        <a:rPr lang="en-US" altLang="zh-TW" dirty="0" smtClean="0"/>
                        <a:t>543.3</a:t>
                      </a:r>
                    </a:p>
                    <a:p>
                      <a:pPr algn="ctr"/>
                      <a:endParaRPr lang="zh-TW" altLang="en-US" dirty="0"/>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Experiment</a:t>
            </a:r>
            <a:endParaRPr lang="zh-TW" altLang="en-US" dirty="0">
              <a:latin typeface="Times New Roman" pitchFamily="18" charset="0"/>
              <a:cs typeface="Times New Roman" pitchFamily="18" charset="0"/>
            </a:endParaRPr>
          </a:p>
        </p:txBody>
      </p:sp>
      <p:graphicFrame>
        <p:nvGraphicFramePr>
          <p:cNvPr id="7" name="表格 6"/>
          <p:cNvGraphicFramePr>
            <a:graphicFrameLocks noGrp="1"/>
          </p:cNvGraphicFramePr>
          <p:nvPr/>
        </p:nvGraphicFramePr>
        <p:xfrm>
          <a:off x="1" y="1754189"/>
          <a:ext cx="8929716" cy="4460893"/>
        </p:xfrm>
        <a:graphic>
          <a:graphicData uri="http://schemas.openxmlformats.org/drawingml/2006/table">
            <a:tbl>
              <a:tblPr firstRow="1" firstCol="1" bandRow="1">
                <a:tableStyleId>{5C22544A-7EE6-4342-B048-85BDC9FD1C3A}</a:tableStyleId>
              </a:tblPr>
              <a:tblGrid>
                <a:gridCol w="2232429"/>
                <a:gridCol w="2232429"/>
                <a:gridCol w="2232429"/>
                <a:gridCol w="2232429"/>
              </a:tblGrid>
              <a:tr h="882374">
                <a:tc>
                  <a:txBody>
                    <a:bodyPr/>
                    <a:lstStyle/>
                    <a:p>
                      <a:r>
                        <a:rPr lang="en-US" altLang="zh-TW" dirty="0" smtClean="0"/>
                        <a:t>Method</a:t>
                      </a:r>
                      <a:endParaRPr lang="zh-TW" altLang="en-US" dirty="0"/>
                    </a:p>
                  </a:txBody>
                  <a:tcPr/>
                </a:tc>
                <a:tc>
                  <a:txBody>
                    <a:bodyPr/>
                    <a:lstStyle/>
                    <a:p>
                      <a:r>
                        <a:rPr lang="en-US" altLang="zh-TW" dirty="0" smtClean="0"/>
                        <a:t>Time Taken (Sec)</a:t>
                      </a:r>
                      <a:endParaRPr lang="zh-TW" altLang="en-US" dirty="0"/>
                    </a:p>
                  </a:txBody>
                  <a:tcPr/>
                </a:tc>
                <a:tc>
                  <a:txBody>
                    <a:bodyPr/>
                    <a:lstStyle/>
                    <a:p>
                      <a:r>
                        <a:rPr lang="en-US" altLang="zh-TW" dirty="0" smtClean="0"/>
                        <a:t>%</a:t>
                      </a:r>
                      <a:r>
                        <a:rPr lang="en-US" altLang="zh-TW" baseline="0" dirty="0" smtClean="0"/>
                        <a:t> of Reads Aligned</a:t>
                      </a:r>
                      <a:endParaRPr lang="zh-TW" altLang="en-US" dirty="0"/>
                    </a:p>
                  </a:txBody>
                  <a:tcPr/>
                </a:tc>
                <a:tc>
                  <a:txBody>
                    <a:bodyPr/>
                    <a:lstStyle/>
                    <a:p>
                      <a:r>
                        <a:rPr lang="en-US" altLang="zh-TW" dirty="0" smtClean="0"/>
                        <a:t>Peak</a:t>
                      </a:r>
                      <a:r>
                        <a:rPr lang="en-US" altLang="zh-TW" baseline="0" dirty="0" smtClean="0"/>
                        <a:t> Memory Footprint</a:t>
                      </a:r>
                      <a:endParaRPr lang="zh-TW" altLang="en-US" dirty="0"/>
                    </a:p>
                  </a:txBody>
                  <a:tcPr/>
                </a:tc>
              </a:tr>
              <a:tr h="511217">
                <a:tc>
                  <a:txBody>
                    <a:bodyPr/>
                    <a:lstStyle/>
                    <a:p>
                      <a:r>
                        <a:rPr lang="en-US" altLang="zh-TW" dirty="0" smtClean="0"/>
                        <a:t>rHAT1 (13)</a:t>
                      </a:r>
                      <a:endParaRPr lang="zh-TW" altLang="en-US" dirty="0"/>
                    </a:p>
                  </a:txBody>
                  <a:tcPr/>
                </a:tc>
                <a:tc>
                  <a:txBody>
                    <a:bodyPr/>
                    <a:lstStyle/>
                    <a:p>
                      <a:r>
                        <a:rPr lang="en-US" altLang="zh-TW" dirty="0" smtClean="0"/>
                        <a:t>210839</a:t>
                      </a:r>
                      <a:endParaRPr lang="zh-TW" altLang="en-US" dirty="0"/>
                    </a:p>
                  </a:txBody>
                  <a:tcPr/>
                </a:tc>
                <a:tc>
                  <a:txBody>
                    <a:bodyPr/>
                    <a:lstStyle/>
                    <a:p>
                      <a:r>
                        <a:rPr lang="en-US" altLang="zh-TW" dirty="0" smtClean="0"/>
                        <a:t>99.8</a:t>
                      </a:r>
                      <a:endParaRPr lang="zh-TW" altLang="en-US" dirty="0"/>
                    </a:p>
                  </a:txBody>
                  <a:tcPr/>
                </a:tc>
                <a:tc>
                  <a:txBody>
                    <a:bodyPr/>
                    <a:lstStyle/>
                    <a:p>
                      <a:r>
                        <a:rPr lang="en-US" altLang="zh-TW" dirty="0" smtClean="0"/>
                        <a:t>14562</a:t>
                      </a:r>
                      <a:endParaRPr lang="zh-TW" altLang="en-US" dirty="0"/>
                    </a:p>
                  </a:txBody>
                  <a:tcPr/>
                </a:tc>
              </a:tr>
              <a:tr h="511217">
                <a:tc>
                  <a:txBody>
                    <a:bodyPr/>
                    <a:lstStyle/>
                    <a:p>
                      <a:r>
                        <a:rPr lang="en-US" altLang="zh-TW" dirty="0" smtClean="0"/>
                        <a:t>rHAT2 (15)</a:t>
                      </a:r>
                      <a:endParaRPr lang="zh-TW" altLang="en-US" dirty="0"/>
                    </a:p>
                  </a:txBody>
                  <a:tcPr/>
                </a:tc>
                <a:tc>
                  <a:txBody>
                    <a:bodyPr/>
                    <a:lstStyle/>
                    <a:p>
                      <a:r>
                        <a:rPr lang="en-US" altLang="zh-TW" dirty="0" smtClean="0"/>
                        <a:t>667280</a:t>
                      </a:r>
                      <a:endParaRPr lang="zh-TW" altLang="en-US" dirty="0"/>
                    </a:p>
                  </a:txBody>
                  <a:tcPr/>
                </a:tc>
                <a:tc>
                  <a:txBody>
                    <a:bodyPr/>
                    <a:lstStyle/>
                    <a:p>
                      <a:r>
                        <a:rPr lang="en-US" altLang="zh-TW" b="1" i="1" dirty="0" smtClean="0"/>
                        <a:t>100</a:t>
                      </a:r>
                      <a:endParaRPr lang="zh-TW" altLang="en-US" b="1" i="1" dirty="0"/>
                    </a:p>
                  </a:txBody>
                  <a:tcPr/>
                </a:tc>
                <a:tc>
                  <a:txBody>
                    <a:bodyPr/>
                    <a:lstStyle/>
                    <a:p>
                      <a:r>
                        <a:rPr lang="en-US" altLang="zh-TW" dirty="0" smtClean="0"/>
                        <a:t>15746</a:t>
                      </a:r>
                      <a:endParaRPr lang="zh-TW" altLang="en-US" dirty="0"/>
                    </a:p>
                  </a:txBody>
                  <a:tcPr/>
                </a:tc>
              </a:tr>
              <a:tr h="511217">
                <a:tc>
                  <a:txBody>
                    <a:bodyPr/>
                    <a:lstStyle/>
                    <a:p>
                      <a:r>
                        <a:rPr lang="en-US" altLang="zh-TW" dirty="0" err="1" smtClean="0"/>
                        <a:t>conLSH</a:t>
                      </a:r>
                      <a:endParaRPr lang="zh-TW" altLang="en-US" dirty="0"/>
                    </a:p>
                  </a:txBody>
                  <a:tcPr/>
                </a:tc>
                <a:tc>
                  <a:txBody>
                    <a:bodyPr/>
                    <a:lstStyle/>
                    <a:p>
                      <a:r>
                        <a:rPr lang="en-US" altLang="zh-TW" b="1" i="1" dirty="0" smtClean="0"/>
                        <a:t>159888</a:t>
                      </a:r>
                      <a:endParaRPr lang="zh-TW" altLang="en-US" b="1" i="1" dirty="0"/>
                    </a:p>
                  </a:txBody>
                  <a:tcPr/>
                </a:tc>
                <a:tc>
                  <a:txBody>
                    <a:bodyPr/>
                    <a:lstStyle/>
                    <a:p>
                      <a:r>
                        <a:rPr lang="en-US" altLang="zh-TW" dirty="0" smtClean="0"/>
                        <a:t>99.8</a:t>
                      </a:r>
                      <a:endParaRPr lang="zh-TW" altLang="en-US" dirty="0"/>
                    </a:p>
                  </a:txBody>
                  <a:tcPr/>
                </a:tc>
                <a:tc>
                  <a:txBody>
                    <a:bodyPr/>
                    <a:lstStyle/>
                    <a:p>
                      <a:r>
                        <a:rPr lang="en-US" altLang="zh-TW" dirty="0" smtClean="0"/>
                        <a:t>4327</a:t>
                      </a:r>
                      <a:endParaRPr lang="zh-TW" altLang="en-US" dirty="0"/>
                    </a:p>
                  </a:txBody>
                  <a:tcPr/>
                </a:tc>
              </a:tr>
              <a:tr h="511217">
                <a:tc>
                  <a:txBody>
                    <a:bodyPr/>
                    <a:lstStyle/>
                    <a:p>
                      <a:r>
                        <a:rPr lang="en-US" altLang="zh-TW" dirty="0" smtClean="0"/>
                        <a:t>BLASR(BWT)</a:t>
                      </a:r>
                      <a:endParaRPr lang="zh-TW" altLang="en-US" dirty="0"/>
                    </a:p>
                  </a:txBody>
                  <a:tcPr/>
                </a:tc>
                <a:tc>
                  <a:txBody>
                    <a:bodyPr/>
                    <a:lstStyle/>
                    <a:p>
                      <a:r>
                        <a:rPr lang="en-US" altLang="zh-TW" dirty="0" smtClean="0"/>
                        <a:t>724304</a:t>
                      </a:r>
                      <a:endParaRPr lang="zh-TW" altLang="en-US" dirty="0"/>
                    </a:p>
                  </a:txBody>
                  <a:tcPr/>
                </a:tc>
                <a:tc>
                  <a:txBody>
                    <a:bodyPr/>
                    <a:lstStyle/>
                    <a:p>
                      <a:r>
                        <a:rPr lang="en-US" altLang="zh-TW" dirty="0" smtClean="0"/>
                        <a:t>99.7</a:t>
                      </a:r>
                      <a:endParaRPr lang="zh-TW" altLang="en-US" dirty="0"/>
                    </a:p>
                  </a:txBody>
                  <a:tcPr/>
                </a:tc>
                <a:tc>
                  <a:txBody>
                    <a:bodyPr/>
                    <a:lstStyle/>
                    <a:p>
                      <a:r>
                        <a:rPr lang="en-US" altLang="zh-TW" dirty="0" smtClean="0"/>
                        <a:t>8100</a:t>
                      </a:r>
                      <a:endParaRPr lang="zh-TW" altLang="en-US" dirty="0"/>
                    </a:p>
                  </a:txBody>
                  <a:tcPr/>
                </a:tc>
              </a:tr>
              <a:tr h="511217">
                <a:tc>
                  <a:txBody>
                    <a:bodyPr/>
                    <a:lstStyle/>
                    <a:p>
                      <a:r>
                        <a:rPr lang="en-US" altLang="zh-TW" dirty="0" smtClean="0"/>
                        <a:t>BLASR(SA)</a:t>
                      </a:r>
                      <a:endParaRPr lang="zh-TW" altLang="en-US" dirty="0"/>
                    </a:p>
                  </a:txBody>
                  <a:tcPr/>
                </a:tc>
                <a:tc>
                  <a:txBody>
                    <a:bodyPr/>
                    <a:lstStyle/>
                    <a:p>
                      <a:r>
                        <a:rPr lang="en-US" altLang="zh-TW" dirty="0" smtClean="0"/>
                        <a:t>848602</a:t>
                      </a:r>
                      <a:endParaRPr lang="zh-TW" altLang="en-US" dirty="0"/>
                    </a:p>
                  </a:txBody>
                  <a:tcPr/>
                </a:tc>
                <a:tc>
                  <a:txBody>
                    <a:bodyPr/>
                    <a:lstStyle/>
                    <a:p>
                      <a:r>
                        <a:rPr lang="en-US" altLang="zh-TW" dirty="0" smtClean="0"/>
                        <a:t>99.8</a:t>
                      </a:r>
                      <a:endParaRPr lang="zh-TW" altLang="en-US" dirty="0"/>
                    </a:p>
                  </a:txBody>
                  <a:tcPr/>
                </a:tc>
                <a:tc>
                  <a:txBody>
                    <a:bodyPr/>
                    <a:lstStyle/>
                    <a:p>
                      <a:r>
                        <a:rPr lang="en-US" altLang="zh-TW" dirty="0" smtClean="0"/>
                        <a:t>14700</a:t>
                      </a:r>
                      <a:endParaRPr lang="zh-TW" altLang="en-US" dirty="0"/>
                    </a:p>
                  </a:txBody>
                  <a:tcPr/>
                </a:tc>
              </a:tr>
              <a:tr h="511217">
                <a:tc>
                  <a:txBody>
                    <a:bodyPr/>
                    <a:lstStyle/>
                    <a:p>
                      <a:r>
                        <a:rPr lang="en-US" altLang="zh-TW" dirty="0" smtClean="0"/>
                        <a:t>BWA-MEM</a:t>
                      </a:r>
                      <a:endParaRPr lang="zh-TW" altLang="en-US" dirty="0"/>
                    </a:p>
                  </a:txBody>
                  <a:tcPr/>
                </a:tc>
                <a:tc>
                  <a:txBody>
                    <a:bodyPr/>
                    <a:lstStyle/>
                    <a:p>
                      <a:r>
                        <a:rPr lang="en-US" altLang="zh-TW" dirty="0" smtClean="0"/>
                        <a:t>372782</a:t>
                      </a:r>
                      <a:endParaRPr lang="zh-TW" altLang="en-US" dirty="0"/>
                    </a:p>
                  </a:txBody>
                  <a:tcPr/>
                </a:tc>
                <a:tc>
                  <a:txBody>
                    <a:bodyPr/>
                    <a:lstStyle/>
                    <a:p>
                      <a:r>
                        <a:rPr lang="en-US" altLang="zh-TW" dirty="0" smtClean="0"/>
                        <a:t>99.7</a:t>
                      </a:r>
                      <a:endParaRPr lang="zh-TW" altLang="en-US" dirty="0"/>
                    </a:p>
                  </a:txBody>
                  <a:tcPr/>
                </a:tc>
                <a:tc>
                  <a:txBody>
                    <a:bodyPr/>
                    <a:lstStyle/>
                    <a:p>
                      <a:r>
                        <a:rPr lang="en-US" altLang="zh-TW" dirty="0" smtClean="0"/>
                        <a:t>5200</a:t>
                      </a:r>
                      <a:endParaRPr lang="zh-TW" altLang="en-US" dirty="0"/>
                    </a:p>
                  </a:txBody>
                  <a:tcPr/>
                </a:tc>
              </a:tr>
              <a:tr h="511217">
                <a:tc>
                  <a:txBody>
                    <a:bodyPr/>
                    <a:lstStyle/>
                    <a:p>
                      <a:r>
                        <a:rPr lang="en-US" altLang="zh-TW" dirty="0" smtClean="0"/>
                        <a:t>BWA-SW</a:t>
                      </a:r>
                      <a:endParaRPr lang="zh-TW" altLang="en-US" dirty="0"/>
                    </a:p>
                  </a:txBody>
                  <a:tcPr/>
                </a:tc>
                <a:tc>
                  <a:txBody>
                    <a:bodyPr/>
                    <a:lstStyle/>
                    <a:p>
                      <a:r>
                        <a:rPr lang="en-US" altLang="zh-TW" dirty="0" smtClean="0"/>
                        <a:t>1145150</a:t>
                      </a:r>
                      <a:endParaRPr lang="zh-TW" altLang="en-US" dirty="0"/>
                    </a:p>
                  </a:txBody>
                  <a:tcPr/>
                </a:tc>
                <a:tc>
                  <a:txBody>
                    <a:bodyPr/>
                    <a:lstStyle/>
                    <a:p>
                      <a:r>
                        <a:rPr lang="en-US" altLang="zh-TW" dirty="0" smtClean="0"/>
                        <a:t>99.76</a:t>
                      </a:r>
                      <a:endParaRPr lang="zh-TW" altLang="en-US" dirty="0"/>
                    </a:p>
                  </a:txBody>
                  <a:tcPr/>
                </a:tc>
                <a:tc>
                  <a:txBody>
                    <a:bodyPr/>
                    <a:lstStyle/>
                    <a:p>
                      <a:r>
                        <a:rPr lang="en-US" altLang="zh-TW" dirty="0" smtClean="0"/>
                        <a:t>7100</a:t>
                      </a:r>
                      <a:endParaRPr lang="zh-TW" altLang="en-US" dirty="0"/>
                    </a:p>
                  </a:txBody>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9" name="內容版面配置區 8"/>
          <p:cNvSpPr>
            <a:spLocks noGrp="1"/>
          </p:cNvSpPr>
          <p:nvPr>
            <p:ph idx="1"/>
          </p:nvPr>
        </p:nvSpPr>
        <p:spPr/>
        <p:txBody>
          <a:bodyPr/>
          <a:lstStyle/>
          <a:p>
            <a:endParaRPr lang="zh-TW" altLang="en-US"/>
          </a:p>
        </p:txBody>
      </p:sp>
      <p:graphicFrame>
        <p:nvGraphicFramePr>
          <p:cNvPr id="11" name="表格 10"/>
          <p:cNvGraphicFramePr>
            <a:graphicFrameLocks noGrp="1"/>
          </p:cNvGraphicFramePr>
          <p:nvPr/>
        </p:nvGraphicFramePr>
        <p:xfrm>
          <a:off x="0" y="142852"/>
          <a:ext cx="9144000" cy="6715142"/>
        </p:xfrm>
        <a:graphic>
          <a:graphicData uri="http://schemas.openxmlformats.org/drawingml/2006/table">
            <a:tbl>
              <a:tblPr firstRow="1" firstCol="1" bandRow="1">
                <a:tableStyleId>{5C22544A-7EE6-4342-B048-85BDC9FD1C3A}</a:tableStyleId>
              </a:tblPr>
              <a:tblGrid>
                <a:gridCol w="1828800"/>
                <a:gridCol w="1828800"/>
                <a:gridCol w="1828800"/>
                <a:gridCol w="1828800"/>
                <a:gridCol w="1828800"/>
              </a:tblGrid>
              <a:tr h="701582">
                <a:tc>
                  <a:txBody>
                    <a:bodyPr/>
                    <a:lstStyle/>
                    <a:p>
                      <a:pPr algn="ctr"/>
                      <a:r>
                        <a:rPr lang="en-US" altLang="zh-TW" dirty="0" smtClean="0"/>
                        <a:t>Function</a:t>
                      </a:r>
                    </a:p>
                    <a:p>
                      <a:pPr algn="ctr"/>
                      <a:r>
                        <a:rPr lang="en-US" altLang="zh-TW" dirty="0" smtClean="0"/>
                        <a:t>/Dataset</a:t>
                      </a:r>
                      <a:endParaRPr lang="zh-TW" altLang="en-US" dirty="0"/>
                    </a:p>
                  </a:txBody>
                  <a:tcPr/>
                </a:tc>
                <a:tc>
                  <a:txBody>
                    <a:bodyPr/>
                    <a:lstStyle/>
                    <a:p>
                      <a:pPr algn="ctr"/>
                      <a:r>
                        <a:rPr lang="en-US" altLang="zh-TW" dirty="0" smtClean="0"/>
                        <a:t>Method</a:t>
                      </a:r>
                      <a:endParaRPr lang="zh-TW" altLang="en-US" dirty="0"/>
                    </a:p>
                  </a:txBody>
                  <a:tcPr/>
                </a:tc>
                <a:tc>
                  <a:txBody>
                    <a:bodyPr/>
                    <a:lstStyle/>
                    <a:p>
                      <a:pPr algn="ctr"/>
                      <a:r>
                        <a:rPr lang="en-US" altLang="zh-TW" dirty="0" smtClean="0"/>
                        <a:t>Time Taken(Sec)</a:t>
                      </a:r>
                      <a:endParaRPr lang="zh-TW" altLang="en-US" dirty="0"/>
                    </a:p>
                  </a:txBody>
                  <a:tcPr/>
                </a:tc>
                <a:tc>
                  <a:txBody>
                    <a:bodyPr/>
                    <a:lstStyle/>
                    <a:p>
                      <a:pPr algn="ctr"/>
                      <a:r>
                        <a:rPr lang="en-US" altLang="zh-TW" dirty="0" smtClean="0"/>
                        <a:t>% of Reads</a:t>
                      </a:r>
                      <a:r>
                        <a:rPr lang="en-US" altLang="zh-TW" baseline="0" dirty="0" smtClean="0"/>
                        <a:t> Aligned</a:t>
                      </a:r>
                      <a:endParaRPr lang="zh-TW" altLang="en-US" dirty="0"/>
                    </a:p>
                  </a:txBody>
                  <a:tcPr/>
                </a:tc>
                <a:tc>
                  <a:txBody>
                    <a:bodyPr/>
                    <a:lstStyle/>
                    <a:p>
                      <a:pPr algn="ctr"/>
                      <a:r>
                        <a:rPr lang="en-US" altLang="zh-TW" dirty="0" smtClean="0"/>
                        <a:t>Peak Memory Footprint (MB)</a:t>
                      </a:r>
                      <a:endParaRPr lang="zh-TW" altLang="en-US" dirty="0"/>
                    </a:p>
                  </a:txBody>
                  <a:tcPr/>
                </a:tc>
              </a:tr>
              <a:tr h="400904">
                <a:tc rowSpan="3">
                  <a:txBody>
                    <a:bodyPr/>
                    <a:lstStyle/>
                    <a:p>
                      <a:pPr algn="ctr"/>
                      <a:r>
                        <a:rPr lang="en-US" altLang="zh-TW" dirty="0" err="1" smtClean="0"/>
                        <a:t>E.coli_sim</a:t>
                      </a:r>
                      <a:endParaRPr lang="zh-TW" altLang="en-US" dirty="0"/>
                    </a:p>
                  </a:txBody>
                  <a:tcPr/>
                </a:tc>
                <a:tc>
                  <a:txBody>
                    <a:bodyPr/>
                    <a:lstStyle/>
                    <a:p>
                      <a:pPr algn="ctr"/>
                      <a:r>
                        <a:rPr lang="en-US" altLang="zh-TW" dirty="0" smtClean="0"/>
                        <a:t>rHAT1</a:t>
                      </a:r>
                      <a:endParaRPr lang="zh-TW" altLang="en-US" dirty="0"/>
                    </a:p>
                  </a:txBody>
                  <a:tcPr/>
                </a:tc>
                <a:tc>
                  <a:txBody>
                    <a:bodyPr/>
                    <a:lstStyle/>
                    <a:p>
                      <a:pPr algn="ctr"/>
                      <a:r>
                        <a:rPr lang="en-US" altLang="zh-TW" dirty="0" smtClean="0"/>
                        <a:t>6</a:t>
                      </a:r>
                      <a:endParaRPr lang="zh-TW" altLang="en-US" dirty="0"/>
                    </a:p>
                  </a:txBody>
                  <a:tcPr/>
                </a:tc>
                <a:tc>
                  <a:txBody>
                    <a:bodyPr/>
                    <a:lstStyle/>
                    <a:p>
                      <a:pPr algn="ctr"/>
                      <a:r>
                        <a:rPr lang="en-US" altLang="zh-TW" dirty="0" smtClean="0"/>
                        <a:t>94.8</a:t>
                      </a:r>
                      <a:endParaRPr lang="zh-TW" altLang="en-US" dirty="0"/>
                    </a:p>
                  </a:txBody>
                  <a:tcPr/>
                </a:tc>
                <a:tc>
                  <a:txBody>
                    <a:bodyPr/>
                    <a:lstStyle/>
                    <a:p>
                      <a:pPr algn="ctr"/>
                      <a:r>
                        <a:rPr lang="en-US" altLang="zh-TW" dirty="0" smtClean="0"/>
                        <a:t>294</a:t>
                      </a:r>
                      <a:endParaRPr lang="zh-TW" altLang="en-US" dirty="0"/>
                    </a:p>
                  </a:txBody>
                  <a:tcPr/>
                </a:tc>
              </a:tr>
              <a:tr h="400904">
                <a:tc vMerge="1">
                  <a:txBody>
                    <a:bodyPr/>
                    <a:lstStyle/>
                    <a:p>
                      <a:endParaRPr lang="zh-TW" altLang="en-US"/>
                    </a:p>
                  </a:txBody>
                  <a:tcPr/>
                </a:tc>
                <a:tc>
                  <a:txBody>
                    <a:bodyPr/>
                    <a:lstStyle/>
                    <a:p>
                      <a:pPr algn="ctr"/>
                      <a:r>
                        <a:rPr lang="en-US" altLang="zh-TW" dirty="0" smtClean="0"/>
                        <a:t>rHAT2</a:t>
                      </a:r>
                      <a:endParaRPr lang="zh-TW" altLang="en-US" dirty="0"/>
                    </a:p>
                  </a:txBody>
                  <a:tcPr/>
                </a:tc>
                <a:tc>
                  <a:txBody>
                    <a:bodyPr/>
                    <a:lstStyle/>
                    <a:p>
                      <a:pPr algn="ctr"/>
                      <a:r>
                        <a:rPr lang="en-US" altLang="zh-TW" dirty="0" smtClean="0"/>
                        <a:t>59</a:t>
                      </a:r>
                      <a:endParaRPr lang="zh-TW" altLang="en-US" dirty="0"/>
                    </a:p>
                  </a:txBody>
                  <a:tcPr/>
                </a:tc>
                <a:tc>
                  <a:txBody>
                    <a:bodyPr/>
                    <a:lstStyle/>
                    <a:p>
                      <a:pPr algn="ctr"/>
                      <a:r>
                        <a:rPr lang="en-US" altLang="zh-TW" dirty="0" smtClean="0"/>
                        <a:t>100</a:t>
                      </a:r>
                      <a:endParaRPr lang="zh-TW" altLang="en-US" dirty="0"/>
                    </a:p>
                  </a:txBody>
                  <a:tcPr/>
                </a:tc>
                <a:tc>
                  <a:txBody>
                    <a:bodyPr/>
                    <a:lstStyle/>
                    <a:p>
                      <a:pPr algn="ctr"/>
                      <a:r>
                        <a:rPr lang="en-US" altLang="zh-TW" dirty="0" smtClean="0"/>
                        <a:t>4225</a:t>
                      </a:r>
                      <a:endParaRPr lang="zh-TW" altLang="en-US" dirty="0"/>
                    </a:p>
                  </a:txBody>
                  <a:tcPr/>
                </a:tc>
              </a:tr>
              <a:tr h="701582">
                <a:tc vMerge="1">
                  <a:txBody>
                    <a:bodyPr/>
                    <a:lstStyle/>
                    <a:p>
                      <a:endParaRPr lang="zh-TW" altLang="en-US"/>
                    </a:p>
                  </a:txBody>
                  <a:tcPr/>
                </a:tc>
                <a:tc>
                  <a:txBody>
                    <a:bodyPr/>
                    <a:lstStyle/>
                    <a:p>
                      <a:pPr algn="ctr"/>
                      <a:r>
                        <a:rPr lang="en-US" altLang="zh-TW" dirty="0" err="1" smtClean="0"/>
                        <a:t>conLSH</a:t>
                      </a:r>
                      <a:endParaRPr lang="zh-TW" altLang="en-US" dirty="0"/>
                    </a:p>
                  </a:txBody>
                  <a:tcPr/>
                </a:tc>
                <a:tc>
                  <a:txBody>
                    <a:bodyPr/>
                    <a:lstStyle/>
                    <a:p>
                      <a:pPr algn="ctr"/>
                      <a:r>
                        <a:rPr lang="en-US" altLang="zh-TW" dirty="0" smtClean="0"/>
                        <a:t>15</a:t>
                      </a:r>
                      <a:endParaRPr lang="zh-TW" altLang="en-US" dirty="0"/>
                    </a:p>
                  </a:txBody>
                  <a:tcPr/>
                </a:tc>
                <a:tc>
                  <a:txBody>
                    <a:bodyPr/>
                    <a:lstStyle/>
                    <a:p>
                      <a:pPr algn="ctr"/>
                      <a:r>
                        <a:rPr lang="en-US" altLang="zh-TW" dirty="0" smtClean="0"/>
                        <a:t>100</a:t>
                      </a:r>
                      <a:endParaRPr lang="zh-TW" altLang="en-US" dirty="0"/>
                    </a:p>
                  </a:txBody>
                  <a:tcPr/>
                </a:tc>
                <a:tc>
                  <a:txBody>
                    <a:bodyPr/>
                    <a:lstStyle/>
                    <a:p>
                      <a:pPr algn="ctr"/>
                      <a:r>
                        <a:rPr lang="en-US" altLang="zh-TW" dirty="0" smtClean="0"/>
                        <a:t>85</a:t>
                      </a:r>
                    </a:p>
                    <a:p>
                      <a:pPr algn="ctr"/>
                      <a:endParaRPr lang="zh-TW" altLang="en-US" dirty="0"/>
                    </a:p>
                  </a:txBody>
                  <a:tcPr/>
                </a:tc>
              </a:tr>
              <a:tr h="400904">
                <a:tc rowSpan="3">
                  <a:txBody>
                    <a:bodyPr/>
                    <a:lstStyle/>
                    <a:p>
                      <a:pPr algn="ctr"/>
                      <a:r>
                        <a:rPr lang="en-US" altLang="zh-TW" dirty="0" err="1" smtClean="0"/>
                        <a:t>S.cerevisiae_sim</a:t>
                      </a:r>
                      <a:endParaRPr lang="zh-TW" altLang="en-US" dirty="0"/>
                    </a:p>
                  </a:txBody>
                  <a:tcPr/>
                </a:tc>
                <a:tc>
                  <a:txBody>
                    <a:bodyPr/>
                    <a:lstStyle/>
                    <a:p>
                      <a:pPr algn="ctr"/>
                      <a:r>
                        <a:rPr lang="en-US" altLang="zh-TW" dirty="0" smtClean="0"/>
                        <a:t>rHAT1</a:t>
                      </a:r>
                      <a:endParaRPr lang="zh-TW" altLang="en-US" dirty="0"/>
                    </a:p>
                  </a:txBody>
                  <a:tcPr/>
                </a:tc>
                <a:tc>
                  <a:txBody>
                    <a:bodyPr/>
                    <a:lstStyle/>
                    <a:p>
                      <a:pPr algn="ctr"/>
                      <a:r>
                        <a:rPr lang="en-US" altLang="zh-TW" dirty="0" smtClean="0"/>
                        <a:t>9</a:t>
                      </a:r>
                      <a:endParaRPr lang="zh-TW" altLang="en-US" dirty="0" smtClean="0"/>
                    </a:p>
                  </a:txBody>
                  <a:tcPr/>
                </a:tc>
                <a:tc>
                  <a:txBody>
                    <a:bodyPr/>
                    <a:lstStyle/>
                    <a:p>
                      <a:pPr algn="ctr"/>
                      <a:r>
                        <a:rPr lang="en-US" altLang="zh-TW" dirty="0" smtClean="0"/>
                        <a:t>100</a:t>
                      </a:r>
                      <a:endParaRPr lang="zh-TW" altLang="en-US" dirty="0"/>
                    </a:p>
                  </a:txBody>
                  <a:tcPr/>
                </a:tc>
                <a:tc>
                  <a:txBody>
                    <a:bodyPr/>
                    <a:lstStyle/>
                    <a:p>
                      <a:pPr algn="ctr"/>
                      <a:r>
                        <a:rPr lang="en-US" altLang="zh-TW" dirty="0" smtClean="0"/>
                        <a:t>326</a:t>
                      </a:r>
                      <a:endParaRPr lang="zh-TW" altLang="en-US" dirty="0"/>
                    </a:p>
                  </a:txBody>
                  <a:tcPr/>
                </a:tc>
              </a:tr>
              <a:tr h="400904">
                <a:tc vMerge="1">
                  <a:txBody>
                    <a:bodyPr/>
                    <a:lstStyle/>
                    <a:p>
                      <a:endParaRPr lang="zh-TW" altLang="en-US"/>
                    </a:p>
                  </a:txBody>
                  <a:tcPr/>
                </a:tc>
                <a:tc>
                  <a:txBody>
                    <a:bodyPr/>
                    <a:lstStyle/>
                    <a:p>
                      <a:pPr algn="ctr"/>
                      <a:r>
                        <a:rPr lang="en-US" altLang="zh-TW" dirty="0" smtClean="0"/>
                        <a:t>rHAT2</a:t>
                      </a:r>
                      <a:endParaRPr lang="zh-TW" altLang="en-US" dirty="0"/>
                    </a:p>
                  </a:txBody>
                  <a:tcPr/>
                </a:tc>
                <a:tc>
                  <a:txBody>
                    <a:bodyPr/>
                    <a:lstStyle/>
                    <a:p>
                      <a:pPr algn="ctr"/>
                      <a:r>
                        <a:rPr lang="en-US" altLang="zh-TW" dirty="0" smtClean="0"/>
                        <a:t>85</a:t>
                      </a:r>
                      <a:endParaRPr lang="zh-TW" altLang="en-US" dirty="0" smtClean="0"/>
                    </a:p>
                  </a:txBody>
                  <a:tcPr/>
                </a:tc>
                <a:tc>
                  <a:txBody>
                    <a:bodyPr/>
                    <a:lstStyle/>
                    <a:p>
                      <a:pPr algn="ctr"/>
                      <a:r>
                        <a:rPr lang="en-US" altLang="zh-TW" dirty="0" smtClean="0"/>
                        <a:t>100</a:t>
                      </a:r>
                      <a:endParaRPr lang="zh-TW" altLang="en-US" dirty="0"/>
                    </a:p>
                  </a:txBody>
                  <a:tcPr/>
                </a:tc>
                <a:tc>
                  <a:txBody>
                    <a:bodyPr/>
                    <a:lstStyle/>
                    <a:p>
                      <a:pPr algn="ctr"/>
                      <a:r>
                        <a:rPr lang="en-US" altLang="zh-TW" dirty="0" smtClean="0"/>
                        <a:t>4259</a:t>
                      </a:r>
                      <a:endParaRPr lang="zh-TW" altLang="en-US" dirty="0"/>
                    </a:p>
                  </a:txBody>
                  <a:tcPr/>
                </a:tc>
              </a:tr>
              <a:tr h="701582">
                <a:tc vMerge="1">
                  <a:txBody>
                    <a:bodyPr/>
                    <a:lstStyle/>
                    <a:p>
                      <a:endParaRPr lang="zh-TW" altLang="en-US"/>
                    </a:p>
                  </a:txBody>
                  <a:tcPr/>
                </a:tc>
                <a:tc>
                  <a:txBody>
                    <a:bodyPr/>
                    <a:lstStyle/>
                    <a:p>
                      <a:pPr algn="ctr"/>
                      <a:r>
                        <a:rPr lang="en-US" altLang="zh-TW" dirty="0" err="1" smtClean="0"/>
                        <a:t>conLSH</a:t>
                      </a:r>
                      <a:endParaRPr lang="zh-TW" altLang="en-US" dirty="0"/>
                    </a:p>
                  </a:txBody>
                  <a:tcPr/>
                </a:tc>
                <a:tc>
                  <a:txBody>
                    <a:bodyPr/>
                    <a:lstStyle/>
                    <a:p>
                      <a:pPr algn="ctr"/>
                      <a:r>
                        <a:rPr lang="en-US" altLang="zh-TW" dirty="0" smtClean="0"/>
                        <a:t>45</a:t>
                      </a:r>
                      <a:endParaRPr lang="zh-TW" altLang="en-US" dirty="0" smtClean="0"/>
                    </a:p>
                  </a:txBody>
                  <a:tcPr/>
                </a:tc>
                <a:tc>
                  <a:txBody>
                    <a:bodyPr/>
                    <a:lstStyle/>
                    <a:p>
                      <a:pPr algn="ctr"/>
                      <a:r>
                        <a:rPr lang="en-US" altLang="zh-TW" dirty="0" smtClean="0"/>
                        <a:t>100</a:t>
                      </a:r>
                      <a:endParaRPr lang="zh-TW" altLang="en-US" dirty="0"/>
                    </a:p>
                  </a:txBody>
                  <a:tcPr/>
                </a:tc>
                <a:tc>
                  <a:txBody>
                    <a:bodyPr/>
                    <a:lstStyle/>
                    <a:p>
                      <a:pPr algn="ctr"/>
                      <a:r>
                        <a:rPr lang="en-US" altLang="zh-TW" dirty="0" smtClean="0"/>
                        <a:t>156</a:t>
                      </a:r>
                    </a:p>
                    <a:p>
                      <a:pPr algn="ctr"/>
                      <a:endParaRPr lang="zh-TW" altLang="en-US" dirty="0"/>
                    </a:p>
                  </a:txBody>
                  <a:tcPr/>
                </a:tc>
              </a:tr>
              <a:tr h="400904">
                <a:tc rowSpan="3">
                  <a:txBody>
                    <a:bodyPr/>
                    <a:lstStyle/>
                    <a:p>
                      <a:pPr algn="ctr"/>
                      <a:r>
                        <a:rPr lang="en-US" altLang="zh-TW" dirty="0" err="1" smtClean="0"/>
                        <a:t>A.thaliana_sim</a:t>
                      </a:r>
                      <a:endParaRPr lang="zh-TW" altLang="en-US" dirty="0"/>
                    </a:p>
                  </a:txBody>
                  <a:tcPr/>
                </a:tc>
                <a:tc>
                  <a:txBody>
                    <a:bodyPr/>
                    <a:lstStyle/>
                    <a:p>
                      <a:pPr algn="ctr"/>
                      <a:r>
                        <a:rPr lang="en-US" altLang="zh-TW" dirty="0" smtClean="0"/>
                        <a:t>rHAT1</a:t>
                      </a:r>
                      <a:endParaRPr lang="zh-TW" altLang="en-US" dirty="0"/>
                    </a:p>
                  </a:txBody>
                  <a:tcPr/>
                </a:tc>
                <a:tc>
                  <a:txBody>
                    <a:bodyPr/>
                    <a:lstStyle/>
                    <a:p>
                      <a:pPr algn="ctr"/>
                      <a:r>
                        <a:rPr lang="en-US" altLang="zh-TW" dirty="0" smtClean="0"/>
                        <a:t>89</a:t>
                      </a:r>
                      <a:endParaRPr lang="zh-TW" altLang="en-US" dirty="0"/>
                    </a:p>
                  </a:txBody>
                  <a:tcPr/>
                </a:tc>
                <a:tc>
                  <a:txBody>
                    <a:bodyPr/>
                    <a:lstStyle/>
                    <a:p>
                      <a:pPr algn="ctr"/>
                      <a:r>
                        <a:rPr lang="en-US" altLang="zh-TW" dirty="0" smtClean="0"/>
                        <a:t>100</a:t>
                      </a:r>
                      <a:endParaRPr lang="zh-TW" altLang="en-US" dirty="0"/>
                    </a:p>
                  </a:txBody>
                  <a:tcPr/>
                </a:tc>
                <a:tc>
                  <a:txBody>
                    <a:bodyPr/>
                    <a:lstStyle/>
                    <a:p>
                      <a:pPr algn="ctr"/>
                      <a:r>
                        <a:rPr lang="en-US" altLang="zh-TW" dirty="0" smtClean="0"/>
                        <a:t>849</a:t>
                      </a:r>
                      <a:endParaRPr lang="zh-TW" altLang="en-US" dirty="0"/>
                    </a:p>
                  </a:txBody>
                  <a:tcPr/>
                </a:tc>
              </a:tr>
              <a:tr h="400904">
                <a:tc vMerge="1">
                  <a:txBody>
                    <a:bodyPr/>
                    <a:lstStyle/>
                    <a:p>
                      <a:endParaRPr lang="zh-TW" altLang="en-US"/>
                    </a:p>
                  </a:txBody>
                  <a:tcPr/>
                </a:tc>
                <a:tc>
                  <a:txBody>
                    <a:bodyPr/>
                    <a:lstStyle/>
                    <a:p>
                      <a:pPr algn="ctr"/>
                      <a:r>
                        <a:rPr lang="en-US" altLang="zh-TW" dirty="0" smtClean="0"/>
                        <a:t>rHAT2</a:t>
                      </a:r>
                      <a:endParaRPr lang="zh-TW" altLang="en-US" dirty="0"/>
                    </a:p>
                  </a:txBody>
                  <a:tcPr/>
                </a:tc>
                <a:tc>
                  <a:txBody>
                    <a:bodyPr/>
                    <a:lstStyle/>
                    <a:p>
                      <a:pPr algn="ctr"/>
                      <a:r>
                        <a:rPr lang="en-US" altLang="zh-TW" dirty="0" smtClean="0"/>
                        <a:t>372</a:t>
                      </a:r>
                      <a:endParaRPr lang="zh-TW" altLang="en-US" dirty="0"/>
                    </a:p>
                  </a:txBody>
                  <a:tcPr/>
                </a:tc>
                <a:tc>
                  <a:txBody>
                    <a:bodyPr/>
                    <a:lstStyle/>
                    <a:p>
                      <a:pPr algn="ctr"/>
                      <a:r>
                        <a:rPr lang="en-US" altLang="zh-TW" dirty="0" smtClean="0"/>
                        <a:t>100</a:t>
                      </a:r>
                      <a:endParaRPr lang="zh-TW" altLang="en-US" dirty="0"/>
                    </a:p>
                  </a:txBody>
                  <a:tcPr/>
                </a:tc>
                <a:tc>
                  <a:txBody>
                    <a:bodyPr/>
                    <a:lstStyle/>
                    <a:p>
                      <a:pPr algn="ctr"/>
                      <a:r>
                        <a:rPr lang="en-US" altLang="zh-TW" dirty="0" smtClean="0"/>
                        <a:t>4781</a:t>
                      </a:r>
                      <a:endParaRPr lang="zh-TW" altLang="en-US" dirty="0"/>
                    </a:p>
                  </a:txBody>
                  <a:tcPr/>
                </a:tc>
              </a:tr>
              <a:tr h="701582">
                <a:tc vMerge="1">
                  <a:txBody>
                    <a:bodyPr/>
                    <a:lstStyle/>
                    <a:p>
                      <a:endParaRPr lang="zh-TW" altLang="en-US"/>
                    </a:p>
                  </a:txBody>
                  <a:tcPr/>
                </a:tc>
                <a:tc>
                  <a:txBody>
                    <a:bodyPr/>
                    <a:lstStyle/>
                    <a:p>
                      <a:pPr algn="ctr"/>
                      <a:r>
                        <a:rPr lang="en-US" altLang="zh-TW" dirty="0" err="1" smtClean="0"/>
                        <a:t>conLSH</a:t>
                      </a:r>
                      <a:endParaRPr lang="zh-TW" altLang="en-US" dirty="0"/>
                    </a:p>
                  </a:txBody>
                  <a:tcPr/>
                </a:tc>
                <a:tc>
                  <a:txBody>
                    <a:bodyPr/>
                    <a:lstStyle/>
                    <a:p>
                      <a:pPr algn="ctr"/>
                      <a:r>
                        <a:rPr lang="en-US" altLang="zh-TW" dirty="0" smtClean="0"/>
                        <a:t>337</a:t>
                      </a:r>
                      <a:endParaRPr lang="zh-TW" altLang="en-US" dirty="0"/>
                    </a:p>
                  </a:txBody>
                  <a:tcPr/>
                </a:tc>
                <a:tc>
                  <a:txBody>
                    <a:bodyPr/>
                    <a:lstStyle/>
                    <a:p>
                      <a:pPr algn="ctr"/>
                      <a:r>
                        <a:rPr lang="en-US" altLang="zh-TW" dirty="0" smtClean="0"/>
                        <a:t>99.9</a:t>
                      </a:r>
                      <a:endParaRPr lang="zh-TW" altLang="en-US" dirty="0"/>
                    </a:p>
                  </a:txBody>
                  <a:tcPr/>
                </a:tc>
                <a:tc>
                  <a:txBody>
                    <a:bodyPr/>
                    <a:lstStyle/>
                    <a:p>
                      <a:pPr algn="ctr"/>
                      <a:r>
                        <a:rPr lang="en-US" altLang="zh-TW" dirty="0" smtClean="0"/>
                        <a:t>574</a:t>
                      </a:r>
                    </a:p>
                    <a:p>
                      <a:pPr algn="ctr"/>
                      <a:endParaRPr lang="zh-TW" altLang="en-US" dirty="0"/>
                    </a:p>
                  </a:txBody>
                  <a:tcPr/>
                </a:tc>
              </a:tr>
              <a:tr h="400904">
                <a:tc rowSpan="3">
                  <a:txBody>
                    <a:bodyPr/>
                    <a:lstStyle/>
                    <a:p>
                      <a:pPr algn="ctr"/>
                      <a:r>
                        <a:rPr lang="en-US" altLang="zh-TW" dirty="0" err="1" smtClean="0"/>
                        <a:t>D.melanogaster_sim</a:t>
                      </a:r>
                      <a:endParaRPr lang="zh-TW" altLang="en-US" dirty="0"/>
                    </a:p>
                  </a:txBody>
                  <a:tcPr/>
                </a:tc>
                <a:tc>
                  <a:txBody>
                    <a:bodyPr/>
                    <a:lstStyle/>
                    <a:p>
                      <a:pPr algn="ctr"/>
                      <a:r>
                        <a:rPr lang="en-US" altLang="zh-TW" dirty="0" smtClean="0"/>
                        <a:t>rHAT1</a:t>
                      </a:r>
                      <a:endParaRPr lang="zh-TW" altLang="en-US" dirty="0"/>
                    </a:p>
                  </a:txBody>
                  <a:tcPr/>
                </a:tc>
                <a:tc>
                  <a:txBody>
                    <a:bodyPr/>
                    <a:lstStyle/>
                    <a:p>
                      <a:pPr algn="ctr"/>
                      <a:r>
                        <a:rPr lang="en-US" altLang="zh-TW" dirty="0" smtClean="0"/>
                        <a:t>139</a:t>
                      </a:r>
                      <a:endParaRPr lang="zh-TW" altLang="en-US" dirty="0"/>
                    </a:p>
                  </a:txBody>
                  <a:tcPr/>
                </a:tc>
                <a:tc>
                  <a:txBody>
                    <a:bodyPr/>
                    <a:lstStyle/>
                    <a:p>
                      <a:pPr algn="ctr"/>
                      <a:r>
                        <a:rPr lang="en-US" altLang="zh-TW" dirty="0" smtClean="0"/>
                        <a:t>100</a:t>
                      </a:r>
                      <a:endParaRPr lang="zh-TW" altLang="en-US" dirty="0"/>
                    </a:p>
                  </a:txBody>
                  <a:tcPr/>
                </a:tc>
                <a:tc>
                  <a:txBody>
                    <a:bodyPr/>
                    <a:lstStyle/>
                    <a:p>
                      <a:pPr algn="ctr"/>
                      <a:r>
                        <a:rPr lang="en-US" altLang="zh-TW" dirty="0" smtClean="0"/>
                        <a:t>1054</a:t>
                      </a:r>
                      <a:endParaRPr lang="zh-TW" altLang="en-US" dirty="0"/>
                    </a:p>
                  </a:txBody>
                  <a:tcPr/>
                </a:tc>
              </a:tr>
              <a:tr h="400904">
                <a:tc vMerge="1">
                  <a:txBody>
                    <a:bodyPr/>
                    <a:lstStyle/>
                    <a:p>
                      <a:endParaRPr lang="zh-TW" altLang="en-US"/>
                    </a:p>
                  </a:txBody>
                  <a:tcPr/>
                </a:tc>
                <a:tc>
                  <a:txBody>
                    <a:bodyPr/>
                    <a:lstStyle/>
                    <a:p>
                      <a:pPr algn="ctr"/>
                      <a:r>
                        <a:rPr lang="en-US" altLang="zh-TW" dirty="0" smtClean="0"/>
                        <a:t>rHAT2</a:t>
                      </a:r>
                      <a:endParaRPr lang="zh-TW" altLang="en-US" dirty="0"/>
                    </a:p>
                  </a:txBody>
                  <a:tcPr/>
                </a:tc>
                <a:tc>
                  <a:txBody>
                    <a:bodyPr/>
                    <a:lstStyle/>
                    <a:p>
                      <a:pPr algn="ctr"/>
                      <a:r>
                        <a:rPr lang="en-US" altLang="zh-TW" dirty="0" smtClean="0"/>
                        <a:t>223</a:t>
                      </a:r>
                      <a:endParaRPr lang="zh-TW" altLang="en-US" dirty="0"/>
                    </a:p>
                  </a:txBody>
                  <a:tcPr/>
                </a:tc>
                <a:tc>
                  <a:txBody>
                    <a:bodyPr/>
                    <a:lstStyle/>
                    <a:p>
                      <a:pPr algn="ctr"/>
                      <a:r>
                        <a:rPr lang="en-US" altLang="zh-TW" dirty="0" smtClean="0"/>
                        <a:t>98</a:t>
                      </a:r>
                      <a:endParaRPr lang="zh-TW" altLang="en-US" dirty="0"/>
                    </a:p>
                  </a:txBody>
                  <a:tcPr/>
                </a:tc>
                <a:tc>
                  <a:txBody>
                    <a:bodyPr/>
                    <a:lstStyle/>
                    <a:p>
                      <a:pPr algn="ctr"/>
                      <a:r>
                        <a:rPr lang="en-US" altLang="zh-TW" dirty="0" smtClean="0"/>
                        <a:t>4987</a:t>
                      </a:r>
                      <a:endParaRPr lang="zh-TW" altLang="en-US" dirty="0"/>
                    </a:p>
                  </a:txBody>
                  <a:tcPr/>
                </a:tc>
              </a:tr>
              <a:tr h="701582">
                <a:tc vMerge="1">
                  <a:txBody>
                    <a:bodyPr/>
                    <a:lstStyle/>
                    <a:p>
                      <a:endParaRPr lang="zh-TW" altLang="en-US"/>
                    </a:p>
                  </a:txBody>
                  <a:tcPr/>
                </a:tc>
                <a:tc>
                  <a:txBody>
                    <a:bodyPr/>
                    <a:lstStyle/>
                    <a:p>
                      <a:pPr algn="ctr"/>
                      <a:r>
                        <a:rPr lang="en-US" altLang="zh-TW" dirty="0" err="1" smtClean="0"/>
                        <a:t>conLSH</a:t>
                      </a:r>
                      <a:endParaRPr lang="zh-TW" altLang="en-US" dirty="0"/>
                    </a:p>
                  </a:txBody>
                  <a:tcPr/>
                </a:tc>
                <a:tc>
                  <a:txBody>
                    <a:bodyPr/>
                    <a:lstStyle/>
                    <a:p>
                      <a:pPr algn="ctr"/>
                      <a:r>
                        <a:rPr lang="en-US" altLang="zh-TW" dirty="0" smtClean="0"/>
                        <a:t>395</a:t>
                      </a:r>
                      <a:endParaRPr lang="zh-TW" altLang="en-US" dirty="0"/>
                    </a:p>
                  </a:txBody>
                  <a:tcPr/>
                </a:tc>
                <a:tc>
                  <a:txBody>
                    <a:bodyPr/>
                    <a:lstStyle/>
                    <a:p>
                      <a:pPr algn="ctr"/>
                      <a:r>
                        <a:rPr lang="en-US" altLang="zh-TW" dirty="0" smtClean="0"/>
                        <a:t>99</a:t>
                      </a:r>
                      <a:endParaRPr lang="zh-TW" altLang="en-US" dirty="0"/>
                    </a:p>
                  </a:txBody>
                  <a:tcPr/>
                </a:tc>
                <a:tc>
                  <a:txBody>
                    <a:bodyPr/>
                    <a:lstStyle/>
                    <a:p>
                      <a:pPr algn="ctr"/>
                      <a:r>
                        <a:rPr lang="en-US" altLang="zh-TW" dirty="0" smtClean="0"/>
                        <a:t>705</a:t>
                      </a:r>
                    </a:p>
                    <a:p>
                      <a:pPr algn="ctr"/>
                      <a:endParaRPr lang="zh-TW" altLang="en-US" dirty="0"/>
                    </a:p>
                  </a:txBody>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9" name="內容版面配置區 8" descr="10.PNG"/>
          <p:cNvPicPr>
            <a:picLocks noGrp="1" noChangeAspect="1"/>
          </p:cNvPicPr>
          <p:nvPr>
            <p:ph idx="1"/>
          </p:nvPr>
        </p:nvPicPr>
        <p:blipFill>
          <a:blip r:embed="rId2"/>
          <a:stretch>
            <a:fillRect/>
          </a:stretch>
        </p:blipFill>
        <p:spPr>
          <a:xfrm>
            <a:off x="1928794" y="0"/>
            <a:ext cx="5179888" cy="3429000"/>
          </a:xfrm>
        </p:spPr>
      </p:pic>
      <p:pic>
        <p:nvPicPr>
          <p:cNvPr id="10" name="圖片 9" descr="11.PNG"/>
          <p:cNvPicPr>
            <a:picLocks noChangeAspect="1"/>
          </p:cNvPicPr>
          <p:nvPr/>
        </p:nvPicPr>
        <p:blipFill>
          <a:blip r:embed="rId3"/>
          <a:stretch>
            <a:fillRect/>
          </a:stretch>
        </p:blipFill>
        <p:spPr>
          <a:xfrm>
            <a:off x="1928794" y="3455898"/>
            <a:ext cx="5143536" cy="340212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l"/>
            <a:r>
              <a:rPr lang="en-US" altLang="zh-TW" dirty="0" smtClean="0">
                <a:latin typeface="Times New Roman" pitchFamily="18" charset="0"/>
                <a:cs typeface="Times New Roman" pitchFamily="18" charset="0"/>
              </a:rPr>
              <a:t>Experiment</a:t>
            </a:r>
            <a:endParaRPr lang="zh-TW" altLang="en-US" dirty="0">
              <a:latin typeface="Times New Roman" pitchFamily="18" charset="0"/>
              <a:cs typeface="Times New Roman" pitchFamily="18" charset="0"/>
            </a:endParaRPr>
          </a:p>
        </p:txBody>
      </p:sp>
      <p:pic>
        <p:nvPicPr>
          <p:cNvPr id="4" name="內容版面配置區 3" descr="7.PNG"/>
          <p:cNvPicPr>
            <a:picLocks noGrp="1" noChangeAspect="1"/>
          </p:cNvPicPr>
          <p:nvPr>
            <p:ph idx="1"/>
          </p:nvPr>
        </p:nvPicPr>
        <p:blipFill>
          <a:blip r:embed="rId2"/>
          <a:stretch>
            <a:fillRect/>
          </a:stretch>
        </p:blipFill>
        <p:spPr>
          <a:xfrm>
            <a:off x="0" y="1571612"/>
            <a:ext cx="9217324" cy="4143404"/>
          </a:xfrm>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674</TotalTime>
  <Words>340</Words>
  <Application>Microsoft Office PowerPoint</Application>
  <PresentationFormat>如螢幕大小 (4:3)</PresentationFormat>
  <Paragraphs>167</Paragraphs>
  <Slides>14</Slides>
  <Notes>3</Notes>
  <HiddenSlides>0</HiddenSlides>
  <MMClips>0</MMClips>
  <ScaleCrop>false</ScaleCrop>
  <HeadingPairs>
    <vt:vector size="6" baseType="variant">
      <vt:variant>
        <vt:lpstr>佈景主題</vt:lpstr>
      </vt:variant>
      <vt:variant>
        <vt:i4>1</vt:i4>
      </vt:variant>
      <vt:variant>
        <vt:lpstr>內嵌 OLE 伺服程式</vt:lpstr>
      </vt:variant>
      <vt:variant>
        <vt:i4>1</vt:i4>
      </vt:variant>
      <vt:variant>
        <vt:lpstr>投影片標題</vt:lpstr>
      </vt:variant>
      <vt:variant>
        <vt:i4>14</vt:i4>
      </vt:variant>
    </vt:vector>
  </HeadingPairs>
  <TitlesOfParts>
    <vt:vector size="16" baseType="lpstr">
      <vt:lpstr>Office 佈景主題</vt:lpstr>
      <vt:lpstr>Equation</vt:lpstr>
      <vt:lpstr>conLSH: Context based Locality Sensitive Hashing for mapping of noisy SMRT reads</vt:lpstr>
      <vt:lpstr>Abstract(1/2)</vt:lpstr>
      <vt:lpstr>Abstract(2/2)</vt:lpstr>
      <vt:lpstr>Introduction- LSH</vt:lpstr>
      <vt:lpstr>投影片 5</vt:lpstr>
      <vt:lpstr>投影片 6</vt:lpstr>
      <vt:lpstr>投影片 7</vt:lpstr>
      <vt:lpstr>投影片 8</vt:lpstr>
      <vt:lpstr>投影片 9</vt:lpstr>
      <vt:lpstr>投影片 10</vt:lpstr>
      <vt:lpstr>Experiment</vt:lpstr>
      <vt:lpstr>投影片 12</vt:lpstr>
      <vt:lpstr>投影片 13</vt:lpstr>
      <vt:lpstr>Experiment</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Indexed Dynamic Programming to Boost Edit Distance and LCSS Computation</dc:title>
  <dc:creator>阿修</dc:creator>
  <cp:lastModifiedBy>rshow</cp:lastModifiedBy>
  <cp:revision>77</cp:revision>
  <dcterms:created xsi:type="dcterms:W3CDTF">2019-09-15T07:43:36Z</dcterms:created>
  <dcterms:modified xsi:type="dcterms:W3CDTF">2020-09-22T07:23:11Z</dcterms:modified>
</cp:coreProperties>
</file>