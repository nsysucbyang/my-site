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7" r:id="rId4"/>
    <p:sldId id="258" r:id="rId5"/>
    <p:sldId id="278" r:id="rId6"/>
    <p:sldId id="279" r:id="rId7"/>
    <p:sldId id="280" r:id="rId8"/>
    <p:sldId id="283" r:id="rId9"/>
    <p:sldId id="282" r:id="rId10"/>
    <p:sldId id="281" r:id="rId11"/>
    <p:sldId id="285" r:id="rId12"/>
    <p:sldId id="284" r:id="rId13"/>
    <p:sldId id="286" r:id="rId14"/>
    <p:sldId id="287" r:id="rId15"/>
    <p:sldId id="288" r:id="rId16"/>
    <p:sldId id="289" r:id="rId17"/>
    <p:sldId id="291" r:id="rId18"/>
    <p:sldId id="292" r:id="rId19"/>
    <p:sldId id="293" r:id="rId20"/>
    <p:sldId id="290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6186186C-64BA-44FD-9B78-555D693B99E1}">
          <p14:sldIdLst>
            <p14:sldId id="256"/>
            <p14:sldId id="257"/>
            <p14:sldId id="277"/>
            <p14:sldId id="258"/>
            <p14:sldId id="278"/>
            <p14:sldId id="279"/>
            <p14:sldId id="280"/>
            <p14:sldId id="283"/>
            <p14:sldId id="282"/>
            <p14:sldId id="281"/>
            <p14:sldId id="285"/>
            <p14:sldId id="284"/>
            <p14:sldId id="286"/>
            <p14:sldId id="287"/>
            <p14:sldId id="288"/>
            <p14:sldId id="289"/>
            <p14:sldId id="291"/>
            <p14:sldId id="292"/>
            <p14:sldId id="293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FFFF"/>
    <a:srgbClr val="B381D9"/>
    <a:srgbClr val="934B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8" autoAdjust="0"/>
    <p:restoredTop sz="89059" autoAdjust="0"/>
  </p:normalViewPr>
  <p:slideViewPr>
    <p:cSldViewPr snapToGrid="0">
      <p:cViewPr varScale="1">
        <p:scale>
          <a:sx n="64" d="100"/>
          <a:sy n="64" d="100"/>
        </p:scale>
        <p:origin x="864" y="66"/>
      </p:cViewPr>
      <p:guideLst/>
    </p:cSldViewPr>
  </p:slideViewPr>
  <p:outlineViewPr>
    <p:cViewPr>
      <p:scale>
        <a:sx n="33" d="100"/>
        <a:sy n="33" d="100"/>
      </p:scale>
      <p:origin x="0" y="-954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2430692257217836E-2"/>
          <c:y val="1.5113872917309486E-2"/>
          <c:w val="0.95756930774278215"/>
          <c:h val="0.91514798640803841"/>
        </c:manualLayout>
      </c:layout>
      <c:lineChart>
        <c:grouping val="stack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數列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5.658792650918616E-3"/>
                  <c:y val="9.9155568921469577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F0C-4E4E-B13D-794FCBCEF679}"/>
                </c:ext>
              </c:extLst>
            </c:dLbl>
            <c:dLbl>
              <c:idx val="6"/>
              <c:layout>
                <c:manualLayout>
                  <c:x val="8.783792650918559E-3"/>
                  <c:y val="-4.5672001556122553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F0C-4E4E-B13D-794FCBCEF679}"/>
                </c:ext>
              </c:extLst>
            </c:dLbl>
            <c:dLbl>
              <c:idx val="8"/>
              <c:layout>
                <c:manualLayout>
                  <c:x val="-3.5471538820293379E-2"/>
                  <c:y val="2.291984145569914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F0C-4E4E-B13D-794FCBCEF679}"/>
                </c:ext>
              </c:extLst>
            </c:dLbl>
            <c:dLbl>
              <c:idx val="10"/>
              <c:layout>
                <c:manualLayout>
                  <c:x val="4.6171259842518924E-3"/>
                  <c:y val="3.7086610145358658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F0C-4E4E-B13D-794FCBCEF67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工作表1!$A$2:$A$14</c:f>
              <c:numCache>
                <c:formatCode>General</c:formatCode>
                <c:ptCount val="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</c:numCache>
            </c:numRef>
          </c:cat>
          <c:val>
            <c:numRef>
              <c:f>工作表1!$B$2:$B$14</c:f>
              <c:numCache>
                <c:formatCode>General</c:formatCode>
                <c:ptCount val="13"/>
                <c:pt idx="0">
                  <c:v>4</c:v>
                </c:pt>
                <c:pt idx="1">
                  <c:v>2</c:v>
                </c:pt>
                <c:pt idx="2">
                  <c:v>12</c:v>
                </c:pt>
                <c:pt idx="3">
                  <c:v>6</c:v>
                </c:pt>
                <c:pt idx="4">
                  <c:v>5</c:v>
                </c:pt>
                <c:pt idx="5">
                  <c:v>9</c:v>
                </c:pt>
                <c:pt idx="6">
                  <c:v>3</c:v>
                </c:pt>
                <c:pt idx="7">
                  <c:v>15</c:v>
                </c:pt>
                <c:pt idx="8">
                  <c:v>2</c:v>
                </c:pt>
                <c:pt idx="9">
                  <c:v>5</c:v>
                </c:pt>
                <c:pt idx="10">
                  <c:v>7</c:v>
                </c:pt>
                <c:pt idx="11">
                  <c:v>20</c:v>
                </c:pt>
                <c:pt idx="12">
                  <c:v>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EF0C-4E4E-B13D-794FCBCEF67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232968"/>
        <c:axId val="486233624"/>
      </c:lineChart>
      <c:catAx>
        <c:axId val="4862329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86233624"/>
        <c:crosses val="autoZero"/>
        <c:auto val="1"/>
        <c:lblAlgn val="ctr"/>
        <c:lblOffset val="100"/>
        <c:noMultiLvlLbl val="0"/>
      </c:catAx>
      <c:valAx>
        <c:axId val="486233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862329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526990534125475E-2"/>
          <c:y val="3.4075954109451932E-2"/>
          <c:w val="0.95756930774278215"/>
          <c:h val="0.91514798640803841"/>
        </c:manualLayout>
      </c:layout>
      <c:lineChart>
        <c:grouping val="stack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數列 1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dLbls>
            <c:dLbl>
              <c:idx val="1"/>
              <c:layout>
                <c:manualLayout>
                  <c:x val="5.658792650918616E-3"/>
                  <c:y val="9.9155568921469577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000-4414-A606-AB8DC009F3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工作表1!$A$2:$A$4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工作表1!$B$2:$B$4</c:f>
              <c:numCache>
                <c:formatCode>General</c:formatCode>
                <c:ptCount val="3"/>
                <c:pt idx="0">
                  <c:v>4</c:v>
                </c:pt>
                <c:pt idx="1">
                  <c:v>2</c:v>
                </c:pt>
                <c:pt idx="2">
                  <c:v>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000-4414-A606-AB8DC009F31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232968"/>
        <c:axId val="486233624"/>
      </c:lineChart>
      <c:catAx>
        <c:axId val="4862329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86233624"/>
        <c:crosses val="autoZero"/>
        <c:auto val="1"/>
        <c:lblAlgn val="ctr"/>
        <c:lblOffset val="100"/>
        <c:noMultiLvlLbl val="0"/>
      </c:catAx>
      <c:valAx>
        <c:axId val="486233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862329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033D0-5A25-41C7-969A-EF5F7C649CD4}" type="datetimeFigureOut">
              <a:rPr lang="zh-TW" altLang="en-US" smtClean="0"/>
              <a:t>2020/9/22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9F1D4-CE95-410B-B0BC-C775142743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3862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000" b="0" i="0" u="non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25</a:t>
            </a:r>
            <a:r>
              <a:rPr lang="zh-TW" altLang="en-US" sz="2000" b="0" i="0" u="non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屆組數研討會</a:t>
            </a:r>
            <a:r>
              <a:rPr lang="en-US" altLang="zh-TW" sz="2000" b="0" i="0" u="non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zh-TW" altLang="en-US" sz="2000" b="0" i="0" u="non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TW" sz="2000" b="0" i="0" u="non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http://par.cse.nsysu.edu.tw/~algo/paper/paper_list08.htm</a:t>
            </a:r>
          </a:p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Hsuan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zh-TW" altLang="en-US" sz="2000" b="0" i="0" u="none" dirty="0">
                <a:solidFill>
                  <a:srgbClr val="4D5156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TW" sz="2000" b="0" i="0" u="none" dirty="0">
                <a:solidFill>
                  <a:srgbClr val="4D5156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TW" altLang="en-US" sz="2000" b="0" i="0" u="none" dirty="0">
                <a:solidFill>
                  <a:srgbClr val="4D5156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 也是 </a:t>
            </a:r>
            <a:r>
              <a:rPr lang="en-US" altLang="zh-TW" sz="2000" b="0" i="0" u="none" dirty="0">
                <a:solidFill>
                  <a:srgbClr val="4D5156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LCIS</a:t>
            </a:r>
            <a:r>
              <a:rPr lang="zh-TW" altLang="en-US" sz="2000" b="0" i="0" u="none" dirty="0">
                <a:solidFill>
                  <a:srgbClr val="4D5156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TW" sz="2000" b="0" i="0" u="none" dirty="0">
                <a:solidFill>
                  <a:srgbClr val="4D5156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O(</a:t>
            </a:r>
            <a:r>
              <a:rPr lang="en-US" altLang="zh-TW" sz="2000" b="0" i="0" u="none" dirty="0" err="1">
                <a:solidFill>
                  <a:srgbClr val="4D5156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mn</a:t>
            </a:r>
            <a:r>
              <a:rPr lang="en-US" altLang="zh-TW" sz="2000" b="0" i="0" u="none" dirty="0">
                <a:solidFill>
                  <a:srgbClr val="4D5156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) time &amp; space</a:t>
            </a:r>
            <a:r>
              <a:rPr lang="zh-TW" altLang="en-US" sz="2000" b="0" i="0" u="none" dirty="0">
                <a:solidFill>
                  <a:srgbClr val="4D5156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 的作者</a:t>
            </a:r>
            <a:endParaRPr lang="en-US" altLang="zh-TW" sz="2000" b="0" i="0" u="none" dirty="0">
              <a:solidFill>
                <a:srgbClr val="4D5156"/>
              </a:solidFill>
              <a:effectLst/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zh-TW" altLang="en-US" sz="2000" b="0" i="0" u="none" dirty="0">
                <a:solidFill>
                  <a:srgbClr val="4D5156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台灣大學</a:t>
            </a:r>
            <a:endParaRPr lang="en-US" altLang="zh-TW" sz="2000" b="0" i="0" u="none" dirty="0">
              <a:solidFill>
                <a:srgbClr val="4D515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2474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3972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7043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857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4000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5893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Convex Combination: https://zh.wikipedia.org/wiki/%E5%87%B8%E7%BB%84%E5%90%88 (WIKI)</a:t>
            </a:r>
          </a:p>
          <a:p>
            <a:r>
              <a:rPr lang="zh-TW" altLang="en-US" dirty="0"/>
              <a:t>在凸包內，的任何點，可以由頂點組合而成 </a:t>
            </a:r>
            <a:r>
              <a:rPr lang="en-US" altLang="zh-TW" dirty="0"/>
              <a:t>(</a:t>
            </a:r>
            <a:r>
              <a:rPr lang="zh-TW" altLang="en-US" dirty="0"/>
              <a:t>係數都是分數，但係數和是</a:t>
            </a:r>
            <a:r>
              <a:rPr lang="en-US" altLang="zh-TW" dirty="0"/>
              <a:t>1)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1734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5D6350-B6ED-41FC-9D7E-7F401D1D3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0C62AA-5FAB-4981-A45A-1A8517CA6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50ED99-A302-4A55-B3DF-54415272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377494-B569-42CD-88D2-0988ED58F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7DF940-0364-4C9B-9D2E-F53DCBCFE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4640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292AC1-9699-4F08-B315-69E76AA04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8B8D7B-403B-4E87-82BF-F03CE7156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124561-057D-4469-9AB5-4C6597D38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CA6533-3974-4E64-AB88-349851F80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1307E2-178E-4165-A305-28B315270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283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54F4D4-9F65-4A3C-90CA-5E6012D4A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05989C-B6AE-485E-B909-2AACC4420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F143C1-A721-46A9-8DA4-CBAF6D76D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B4BB70-EBF3-4E15-B0D9-362EC6358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2C94A2-8B8A-4F73-8AB7-9086E29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6695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CF601E-8FD2-4C96-84ED-A1535992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658968-2AA4-47D9-8EE7-25EB5B574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CB8EEDE-671F-4288-8102-60AF3949E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7C4633D-0EA1-483A-BCAE-A2C11947C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2020/9/22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89957CD-A76F-4E8A-A600-37A8E89B3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0CD5A3C-70C9-4468-805A-3216FAD54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28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98B42B-89C1-47C8-B9DF-997A8833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3EC08FF-5F84-4CC0-B4E9-D623E4AC3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A51DA6E-7A90-4DB0-9126-5CC8C4B06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A7D7BB7-2FC8-4BE2-A1A4-57D098F584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64E82F7-2C0E-4490-AD80-0749C7C5B1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137E754-7BA1-463B-94AE-949313510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2020/9/22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380C5EB-E691-4156-928C-26330C6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1A806DF-D52B-4FB1-971E-F10E0C2D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4638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C3BD06-DAE3-4E3E-B6B3-648191629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7A04491-282C-4221-A3EF-28A94F786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2020/9/22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71379CA-0E38-42B7-BE99-6B584783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B7507D-DFF5-48B7-9C10-7C05EE38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372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B1D52D3-FF08-4F05-AE9A-D07E40E7A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2020/9/22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2090C79-D9CF-4D2A-85D5-EBCD12C0C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EFD9B8-B153-43FE-B1B0-FDFA1939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6377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17D1F5-4F45-434A-9699-03158D529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4CFA46-9726-4680-8164-F1258B007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88E2037-0EFD-4F48-A629-1F43D084A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9FA2B0E-7569-4EE9-B847-3B3B3E00C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2020/9/22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2A74A09-DF0D-4516-9B6E-A1BA4FA50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AE58F68-574D-4991-AB67-979AE7EC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6713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4A608B-EB2D-43E3-806D-315F7F6C6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17BB9D9-6CF8-47E2-9613-CFC9E5CFB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DAE305B-85A6-42D3-BDFE-E012EAD5A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333906F-B54E-487C-A495-4EE49A68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2020/9/22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FDA8D6-DFC2-44AD-AB91-CCEF45799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F7815D7-84B9-4D45-8E5A-58AFEF382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817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763308-F782-4AC8-A223-E354635B3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73B59CF-1B41-495A-93CF-6101A5CE7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B80BB1-A83C-4652-BAC8-2B3F681B2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07E1EE-E900-4925-B1A8-EE7DD6AF4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1F960C-8C3A-496F-B3A0-26297D92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0139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0B6D235-6449-4393-9C71-2079D2809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D2B0F98-2672-4DE5-827E-1F7351B7F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3C27C8-C683-4B57-A443-2B79354B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24A34C-43DD-4DF5-84E9-8562F9B9B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67B5B2-0E14-4C16-8BB2-353A2AA0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0112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747F35C-0173-40E0-88F5-5C85ABA0C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18B1AB-6AFD-4952-BDFB-11797FAB9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BCFE33-872D-4C90-867C-8B41F7A908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9E770-9C80-4ED4-983E-8A15F27ADAA7}" type="datetimeFigureOut">
              <a:rPr lang="zh-TW" altLang="en-US" smtClean="0"/>
              <a:t>2020/9/22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0F5102-CD48-4F14-B5B2-F49CC9C34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21C4BF-8ADC-4392-A585-48B57FAFA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0820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684BF-5890-4FC5-B196-08274D50E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1493" y="1604685"/>
            <a:ext cx="9829014" cy="1348065"/>
          </a:xfrm>
        </p:spPr>
        <p:txBody>
          <a:bodyPr>
            <a:norm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Algorithms For the Constrained Longest Increasing</a:t>
            </a:r>
            <a:r>
              <a:rPr lang="zh-TW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 Problems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5B088C0-E697-4363-A21A-D66DFFC16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656415"/>
            <a:ext cx="11163299" cy="1655762"/>
          </a:xfrm>
        </p:spPr>
        <p:txBody>
          <a:bodyPr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Hsuan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and Yi-Ching Chen</a:t>
            </a:r>
          </a:p>
          <a:p>
            <a:endParaRPr lang="de-DE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25th Workshop on Combinatorial Mathematics and Computation Theory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April 25-26 2008, Pages 226 - 231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AEC4D25-9ABF-4EA3-BD8D-ACD84E94CF46}"/>
              </a:ext>
            </a:extLst>
          </p:cNvPr>
          <p:cNvSpPr txBox="1"/>
          <p:nvPr/>
        </p:nvSpPr>
        <p:spPr>
          <a:xfrm>
            <a:off x="8942664" y="5933983"/>
            <a:ext cx="3249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Yu-Cheng Chang</a:t>
            </a:r>
          </a:p>
          <a:p>
            <a:pPr algn="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Sept. 22, 2020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90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175771A-477F-4B4A-9278-972CA4C51B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lnSpc>
                    <a:spcPts val="4500"/>
                  </a:lnSpc>
                  <a:spcBef>
                    <a:spcPts val="1800"/>
                  </a:spcBef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〈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. . . ,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〉 be a sequence of comparable elements.  In this paper, we study two constrained versions of the longest increasing subsequence (LIS) problem. The first problem is the range-constrained longest increasing subsequence (RLIS) problem. Given 0 &lt;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≤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0 ≤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≤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the objective of the RLIS problem is to deliver a maximum-length increasing subsequence 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. . 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sub>
                        </m:sSub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〉 satisfying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 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≤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≤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1 ≤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We give an O(</a:t>
                </a:r>
                <a:r>
                  <a:rPr lang="en-US" altLang="zh-TW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−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))-time and O(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)-space algorithm for solving the RLIS problem. 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175771A-477F-4B4A-9278-972CA4C51B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r="-16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7580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175771A-477F-4B4A-9278-972CA4C51B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lnSpc>
                    <a:spcPts val="4500"/>
                  </a:lnSpc>
                  <a:spcBef>
                    <a:spcPts val="1800"/>
                  </a:spcBef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second problem is the slope-constrained longest increasing subsequence (SLIS) problem. Given a nonnegative slope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objective of the SLIS problem is to obtain a maximum-length increasing subsequence 〈</a:t>
                </a:r>
                <a:r>
                  <a:rPr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. . 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sub>
                        </m:sSub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〉 satisfying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 </m:t>
                            </m:r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b>
                            </m:sSub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 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≥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1 ≤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Our algorithm for the SLIS problem runs in O(</a:t>
                </a:r>
                <a:r>
                  <a:rPr lang="en-US" altLang="zh-TW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</a:t>
                </a:r>
                <a:r>
                  <a:rPr lang="en-US" altLang="zh-TW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time and O(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space, where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length of an SLIS.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175771A-477F-4B4A-9278-972CA4C51B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r="-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9817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75771A-477F-4B4A-9278-972CA4C51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{4 , 2 , 12 , 6 , 5 , 9 , 3 , 15 , 2 , 5 , 7 , 20 , 19 }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LIS(A) = {{2 , 3 , 5 , 7 , 19} , {2 , 3 , 5 , 7 , 20}}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length of LIS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loglog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with van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Emde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Boas Tree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BFC4C44F-B3CB-49F7-894B-28334BACE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719064"/>
              </p:ext>
            </p:extLst>
          </p:nvPr>
        </p:nvGraphicFramePr>
        <p:xfrm>
          <a:off x="7880350" y="457200"/>
          <a:ext cx="3616325" cy="594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3265">
                  <a:extLst>
                    <a:ext uri="{9D8B030D-6E8A-4147-A177-3AD203B41FA5}">
                      <a16:colId xmlns:a16="http://schemas.microsoft.com/office/drawing/2014/main" val="2532748870"/>
                    </a:ext>
                  </a:extLst>
                </a:gridCol>
                <a:gridCol w="723265">
                  <a:extLst>
                    <a:ext uri="{9D8B030D-6E8A-4147-A177-3AD203B41FA5}">
                      <a16:colId xmlns:a16="http://schemas.microsoft.com/office/drawing/2014/main" val="1131770543"/>
                    </a:ext>
                  </a:extLst>
                </a:gridCol>
                <a:gridCol w="723265">
                  <a:extLst>
                    <a:ext uri="{9D8B030D-6E8A-4147-A177-3AD203B41FA5}">
                      <a16:colId xmlns:a16="http://schemas.microsoft.com/office/drawing/2014/main" val="1998843447"/>
                    </a:ext>
                  </a:extLst>
                </a:gridCol>
                <a:gridCol w="723265">
                  <a:extLst>
                    <a:ext uri="{9D8B030D-6E8A-4147-A177-3AD203B41FA5}">
                      <a16:colId xmlns:a16="http://schemas.microsoft.com/office/drawing/2014/main" val="3943619365"/>
                    </a:ext>
                  </a:extLst>
                </a:gridCol>
                <a:gridCol w="723265">
                  <a:extLst>
                    <a:ext uri="{9D8B030D-6E8A-4147-A177-3AD203B41FA5}">
                      <a16:colId xmlns:a16="http://schemas.microsoft.com/office/drawing/2014/main" val="1391309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022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717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715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91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030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195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377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776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841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912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780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034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354128"/>
                  </a:ext>
                </a:extLst>
              </a:tr>
            </a:tbl>
          </a:graphicData>
        </a:graphic>
      </p:graphicFrame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D5382CC0-5880-4081-AF0F-F103A2D308C9}"/>
              </a:ext>
            </a:extLst>
          </p:cNvPr>
          <p:cNvCxnSpPr>
            <a:cxnSpLocks/>
          </p:cNvCxnSpPr>
          <p:nvPr/>
        </p:nvCxnSpPr>
        <p:spPr>
          <a:xfrm flipH="1">
            <a:off x="10572751" y="6176963"/>
            <a:ext cx="323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67C9ADF4-41D9-46AF-950C-40567FD566B3}"/>
              </a:ext>
            </a:extLst>
          </p:cNvPr>
          <p:cNvCxnSpPr>
            <a:cxnSpLocks/>
          </p:cNvCxnSpPr>
          <p:nvPr/>
        </p:nvCxnSpPr>
        <p:spPr>
          <a:xfrm flipH="1">
            <a:off x="9867901" y="5262563"/>
            <a:ext cx="323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5D02531B-5C0C-47D2-8C00-272C47E5D468}"/>
              </a:ext>
            </a:extLst>
          </p:cNvPr>
          <p:cNvCxnSpPr>
            <a:cxnSpLocks/>
          </p:cNvCxnSpPr>
          <p:nvPr/>
        </p:nvCxnSpPr>
        <p:spPr>
          <a:xfrm flipH="1">
            <a:off x="9153526" y="4786313"/>
            <a:ext cx="323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6434307-1B92-4402-8021-91428237F63F}"/>
              </a:ext>
            </a:extLst>
          </p:cNvPr>
          <p:cNvCxnSpPr>
            <a:cxnSpLocks/>
          </p:cNvCxnSpPr>
          <p:nvPr/>
        </p:nvCxnSpPr>
        <p:spPr>
          <a:xfrm flipH="1">
            <a:off x="8429626" y="3429000"/>
            <a:ext cx="323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91DE1B72-680A-46DC-A852-7A02434A6243}"/>
              </a:ext>
            </a:extLst>
          </p:cNvPr>
          <p:cNvCxnSpPr>
            <a:cxnSpLocks/>
          </p:cNvCxnSpPr>
          <p:nvPr/>
        </p:nvCxnSpPr>
        <p:spPr>
          <a:xfrm flipH="1">
            <a:off x="10572750" y="5691188"/>
            <a:ext cx="32384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2656071B-4299-482F-87D9-063B91E12D26}"/>
              </a:ext>
            </a:extLst>
          </p:cNvPr>
          <p:cNvCxnSpPr>
            <a:cxnSpLocks/>
          </p:cNvCxnSpPr>
          <p:nvPr/>
        </p:nvCxnSpPr>
        <p:spPr>
          <a:xfrm flipH="1">
            <a:off x="9867900" y="5157788"/>
            <a:ext cx="32384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2F2A8B8A-D2FD-459B-A3E7-AEC828B7E2A7}"/>
              </a:ext>
            </a:extLst>
          </p:cNvPr>
          <p:cNvCxnSpPr>
            <a:cxnSpLocks/>
          </p:cNvCxnSpPr>
          <p:nvPr/>
        </p:nvCxnSpPr>
        <p:spPr>
          <a:xfrm flipH="1">
            <a:off x="9153525" y="4681538"/>
            <a:ext cx="32384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460F500D-C13C-43BA-88DD-6759E7203C47}"/>
              </a:ext>
            </a:extLst>
          </p:cNvPr>
          <p:cNvCxnSpPr>
            <a:cxnSpLocks/>
          </p:cNvCxnSpPr>
          <p:nvPr/>
        </p:nvCxnSpPr>
        <p:spPr>
          <a:xfrm flipH="1">
            <a:off x="8429626" y="3319463"/>
            <a:ext cx="32384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97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F73371-6529-4308-AA75-685CDCB95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58550" cy="132556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Range-constrained Longest Increasing Subsequence (RLIS)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BF55BD-7DEA-4D17-BF12-56BFD406D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 4 ,</a:t>
            </a:r>
            <a:r>
              <a:rPr lang="en-US" altLang="zh-TW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12 ,</a:t>
            </a:r>
            <a:r>
              <a:rPr lang="en-US" altLang="zh-TW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6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8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9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 ,</a:t>
            </a:r>
            <a:r>
              <a:rPr lang="en-US" altLang="zh-TW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15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 , 5 , 7 ,</a:t>
            </a:r>
            <a:r>
              <a:rPr lang="en-US" altLang="zh-TW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20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 }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 of index = [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[2,5]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 of value = [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[3,10]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RLIS(A,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{{ 2 , 6 , 9 , 15 , 20 }, { 2 , 6 , 9 , 15 , 19 },…}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57366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F73371-6529-4308-AA75-685CDCB95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58550" cy="132556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Range-constrained Longest Increasing Subsequence (RLIS)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BF55BD-7DEA-4D17-BF12-56BFD406D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6746" y="4157662"/>
            <a:ext cx="3810000" cy="1009650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 of index = [2,5]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 of value = [3,10]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966F32F-F33C-4621-B5FD-32E5844A3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95385"/>
              </p:ext>
            </p:extLst>
          </p:nvPr>
        </p:nvGraphicFramePr>
        <p:xfrm>
          <a:off x="22800" y="1690688"/>
          <a:ext cx="121464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7600">
                  <a:extLst>
                    <a:ext uri="{9D8B030D-6E8A-4147-A177-3AD203B41FA5}">
                      <a16:colId xmlns:a16="http://schemas.microsoft.com/office/drawing/2014/main" val="2385698894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102216827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25231156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48259191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184170882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411251258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359364292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1582764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87165051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126263177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11664760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52266575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401129716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66461788"/>
                    </a:ext>
                  </a:extLst>
                </a:gridCol>
              </a:tblGrid>
              <a:tr h="3677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278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642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zh-TW" altLang="en-US" sz="24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867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82644"/>
                  </a:ext>
                </a:extLst>
              </a:tr>
            </a:tbl>
          </a:graphicData>
        </a:graphic>
      </p:graphicFrame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F3FBF88E-0F8D-440A-A028-AACE021E968C}"/>
              </a:ext>
            </a:extLst>
          </p:cNvPr>
          <p:cNvSpPr txBox="1">
            <a:spLocks/>
          </p:cNvSpPr>
          <p:nvPr/>
        </p:nvSpPr>
        <p:spPr>
          <a:xfrm>
            <a:off x="838200" y="4352925"/>
            <a:ext cx="10515600" cy="1900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DB95BC5-E2A3-4611-B436-3752D377CA28}"/>
              </a:ext>
            </a:extLst>
          </p:cNvPr>
          <p:cNvSpPr txBox="1"/>
          <p:nvPr/>
        </p:nvSpPr>
        <p:spPr>
          <a:xfrm>
            <a:off x="22800" y="4246988"/>
            <a:ext cx="56197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AVL Tree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are O(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)-time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2A0D6CC1-6FFC-449C-8D7F-4A817A7FDAF7}"/>
              </a:ext>
            </a:extLst>
          </p:cNvPr>
          <p:cNvCxnSpPr/>
          <p:nvPr/>
        </p:nvCxnSpPr>
        <p:spPr>
          <a:xfrm flipV="1">
            <a:off x="438150" y="3429000"/>
            <a:ext cx="0" cy="81798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588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F73371-6529-4308-AA75-685CDCB95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58550" cy="132556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Range-constrained Longest Increasing Subsequence (RLIS)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DD7A13C5-E270-43C4-947B-0CC5345A7DAC}"/>
              </a:ext>
            </a:extLst>
          </p:cNvPr>
          <p:cNvSpPr txBox="1">
            <a:spLocks/>
          </p:cNvSpPr>
          <p:nvPr/>
        </p:nvSpPr>
        <p:spPr>
          <a:xfrm>
            <a:off x="8286746" y="4157662"/>
            <a:ext cx="3810000" cy="1009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Bound of index = [2,5]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Bound of value = [3,10]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13F4C1D-0694-40DB-83AF-B1228D683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51102"/>
              </p:ext>
            </p:extLst>
          </p:nvPr>
        </p:nvGraphicFramePr>
        <p:xfrm>
          <a:off x="22800" y="1690688"/>
          <a:ext cx="121464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7600">
                  <a:extLst>
                    <a:ext uri="{9D8B030D-6E8A-4147-A177-3AD203B41FA5}">
                      <a16:colId xmlns:a16="http://schemas.microsoft.com/office/drawing/2014/main" val="2385698894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102216827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25231156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48259191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184170882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411251258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359364292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1582764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87165051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126263177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11664760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52266575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401129716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66461788"/>
                    </a:ext>
                  </a:extLst>
                </a:gridCol>
              </a:tblGrid>
              <a:tr h="3677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278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642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zh-TW" altLang="en-US" sz="24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867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82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847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F73371-6529-4308-AA75-685CDCB95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58550" cy="132556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Range-constrained Longest Increasing Subsequence (RLIS)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BF55BD-7DEA-4D17-BF12-56BFD406D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17193"/>
            <a:ext cx="10515600" cy="1900237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12 –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[ 12 – 10 , 12 – 3 ]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[ 2 , 9 ]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BBA04FFE-BD76-4009-AC38-057A41F999FA}"/>
              </a:ext>
            </a:extLst>
          </p:cNvPr>
          <p:cNvSpPr txBox="1">
            <a:spLocks/>
          </p:cNvSpPr>
          <p:nvPr/>
        </p:nvSpPr>
        <p:spPr>
          <a:xfrm>
            <a:off x="8286746" y="4157662"/>
            <a:ext cx="3810000" cy="1009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Bound of index = [2,5]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Bound of value = [3,10]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ED186BA-214D-4C2D-A829-A1DA42A079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901650"/>
              </p:ext>
            </p:extLst>
          </p:nvPr>
        </p:nvGraphicFramePr>
        <p:xfrm>
          <a:off x="22800" y="1690688"/>
          <a:ext cx="121464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7600">
                  <a:extLst>
                    <a:ext uri="{9D8B030D-6E8A-4147-A177-3AD203B41FA5}">
                      <a16:colId xmlns:a16="http://schemas.microsoft.com/office/drawing/2014/main" val="2385698894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102216827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25231156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48259191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184170882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411251258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359364292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1582764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87165051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126263177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11664760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52266575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401129716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66461788"/>
                    </a:ext>
                  </a:extLst>
                </a:gridCol>
              </a:tblGrid>
              <a:tr h="3677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278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642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zh-TW" altLang="en-US" sz="24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867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82644"/>
                  </a:ext>
                </a:extLst>
              </a:tr>
            </a:tbl>
          </a:graphicData>
        </a:graphic>
      </p:graphicFrame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FD10FC0E-8FA9-430A-BAA4-BD5565C0C496}"/>
              </a:ext>
            </a:extLst>
          </p:cNvPr>
          <p:cNvCxnSpPr/>
          <p:nvPr/>
        </p:nvCxnSpPr>
        <p:spPr>
          <a:xfrm>
            <a:off x="1619250" y="2990850"/>
            <a:ext cx="1133475" cy="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148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F73371-6529-4308-AA75-685CDCB95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58550" cy="132556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Range-constrained Longest Increasing Subsequence (RLIS)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BF55BD-7DEA-4D17-BF12-56BFD406D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17193"/>
            <a:ext cx="10515600" cy="1900237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6 –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[ 6 – 10 , 6 – 3 ]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[ -4 , 3 ]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BBA04FFE-BD76-4009-AC38-057A41F999FA}"/>
              </a:ext>
            </a:extLst>
          </p:cNvPr>
          <p:cNvSpPr txBox="1">
            <a:spLocks/>
          </p:cNvSpPr>
          <p:nvPr/>
        </p:nvSpPr>
        <p:spPr>
          <a:xfrm>
            <a:off x="8286746" y="4157662"/>
            <a:ext cx="3810000" cy="1009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Bound of index = [2,5]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Bound of value = [3,10]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AC0FACD-C53C-44E7-8459-7406E916A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173715"/>
              </p:ext>
            </p:extLst>
          </p:nvPr>
        </p:nvGraphicFramePr>
        <p:xfrm>
          <a:off x="22800" y="1690688"/>
          <a:ext cx="121464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7600">
                  <a:extLst>
                    <a:ext uri="{9D8B030D-6E8A-4147-A177-3AD203B41FA5}">
                      <a16:colId xmlns:a16="http://schemas.microsoft.com/office/drawing/2014/main" val="2385698894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102216827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25231156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48259191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184170882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411251258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359364292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1582764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87165051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126263177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11664760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52266575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401129716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66461788"/>
                    </a:ext>
                  </a:extLst>
                </a:gridCol>
              </a:tblGrid>
              <a:tr h="3677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278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642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zh-TW" altLang="en-US" sz="24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867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(2,1)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82644"/>
                  </a:ext>
                </a:extLst>
              </a:tr>
            </a:tbl>
          </a:graphicData>
        </a:graphic>
      </p:graphicFrame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E0D0AA4C-A22D-4F33-A151-611E91A6AFC6}"/>
              </a:ext>
            </a:extLst>
          </p:cNvPr>
          <p:cNvCxnSpPr/>
          <p:nvPr/>
        </p:nvCxnSpPr>
        <p:spPr>
          <a:xfrm>
            <a:off x="2505075" y="3009900"/>
            <a:ext cx="1133475" cy="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810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F73371-6529-4308-AA75-685CDCB95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58550" cy="132556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Range-constrained Longest Increasing Subsequence (RLIS)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BF55BD-7DEA-4D17-BF12-56BFD406D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17193"/>
            <a:ext cx="10515600" cy="1900237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3 –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[ 3 – 10 , 3 – 3 ]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[ -7 , 0 ]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BBA04FFE-BD76-4009-AC38-057A41F999FA}"/>
              </a:ext>
            </a:extLst>
          </p:cNvPr>
          <p:cNvSpPr txBox="1">
            <a:spLocks/>
          </p:cNvSpPr>
          <p:nvPr/>
        </p:nvSpPr>
        <p:spPr>
          <a:xfrm>
            <a:off x="8286746" y="4157662"/>
            <a:ext cx="3810000" cy="1009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Bound of index = [2,5]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Bound of value = [3,10]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B60F889-1FEA-4E57-8697-49DF313C29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295256"/>
              </p:ext>
            </p:extLst>
          </p:nvPr>
        </p:nvGraphicFramePr>
        <p:xfrm>
          <a:off x="22800" y="1690688"/>
          <a:ext cx="121464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7600">
                  <a:extLst>
                    <a:ext uri="{9D8B030D-6E8A-4147-A177-3AD203B41FA5}">
                      <a16:colId xmlns:a16="http://schemas.microsoft.com/office/drawing/2014/main" val="2385698894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102216827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25231156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48259191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184170882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411251258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359364292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1582764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87165051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126263177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11664760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52266575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401129716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66461788"/>
                    </a:ext>
                  </a:extLst>
                </a:gridCol>
              </a:tblGrid>
              <a:tr h="3677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278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642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zh-TW" altLang="en-US" sz="24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867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(2,1)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(12,2)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(6,2)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(5,2)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82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4691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F73371-6529-4308-AA75-685CDCB95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58550" cy="132556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Range-constrained Longest Increasing Subsequence (RLIS)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BF55BD-7DEA-4D17-BF12-56BFD406D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17193"/>
            <a:ext cx="10515600" cy="1900237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15 –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[ 15 – 10 , 15 – 3 ]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[ 5 , 12 ]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BBA04FFE-BD76-4009-AC38-057A41F999FA}"/>
              </a:ext>
            </a:extLst>
          </p:cNvPr>
          <p:cNvSpPr txBox="1">
            <a:spLocks/>
          </p:cNvSpPr>
          <p:nvPr/>
        </p:nvSpPr>
        <p:spPr>
          <a:xfrm>
            <a:off x="8286746" y="4157662"/>
            <a:ext cx="3810000" cy="1009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Bound of index = [2,5]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Bound of value = [3,10]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45329EB-16F6-4830-9039-EE0B949AAC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612681"/>
              </p:ext>
            </p:extLst>
          </p:nvPr>
        </p:nvGraphicFramePr>
        <p:xfrm>
          <a:off x="22800" y="1690688"/>
          <a:ext cx="121464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7600">
                  <a:extLst>
                    <a:ext uri="{9D8B030D-6E8A-4147-A177-3AD203B41FA5}">
                      <a16:colId xmlns:a16="http://schemas.microsoft.com/office/drawing/2014/main" val="2385698894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102216827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25231156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48259191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184170882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411251258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359364292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1582764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87165051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126263177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11664760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52266575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401129716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66461788"/>
                    </a:ext>
                  </a:extLst>
                </a:gridCol>
              </a:tblGrid>
              <a:tr h="3677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278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642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zh-TW" altLang="en-US" sz="24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867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(2,1)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(12,2)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(6,2)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(5,2)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(9,3)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82644"/>
                  </a:ext>
                </a:extLst>
              </a:tr>
            </a:tbl>
          </a:graphicData>
        </a:graphic>
      </p:graphicFrame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AE3BAB29-0C56-4E75-A2E9-213CB81F486E}"/>
              </a:ext>
            </a:extLst>
          </p:cNvPr>
          <p:cNvCxnSpPr>
            <a:cxnSpLocks/>
          </p:cNvCxnSpPr>
          <p:nvPr/>
        </p:nvCxnSpPr>
        <p:spPr>
          <a:xfrm>
            <a:off x="5724525" y="3019425"/>
            <a:ext cx="1409700" cy="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192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F73371-6529-4308-AA75-685CDCB95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58550" cy="132556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Range-constrained Longest Increasing Subsequence (RLIS)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BBA04FFE-BD76-4009-AC38-057A41F999FA}"/>
              </a:ext>
            </a:extLst>
          </p:cNvPr>
          <p:cNvSpPr txBox="1">
            <a:spLocks/>
          </p:cNvSpPr>
          <p:nvPr/>
        </p:nvSpPr>
        <p:spPr>
          <a:xfrm>
            <a:off x="8382000" y="4662487"/>
            <a:ext cx="3810000" cy="1009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Bound of index = [2,5]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Bound of value = [3,10]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A4B2E903-2EA3-4D59-80B1-7B583E9F0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86199"/>
            <a:ext cx="10515600" cy="24098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RLIS(A) = {{ 2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, 6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9 , 15 , 20 }, { 2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, 6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9 , 15 , 19 },…}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Complexity: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))-time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O(|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|+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)-space = O(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)-space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1766E21-906D-4F46-8463-2501A7271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156597"/>
              </p:ext>
            </p:extLst>
          </p:nvPr>
        </p:nvGraphicFramePr>
        <p:xfrm>
          <a:off x="22800" y="1690688"/>
          <a:ext cx="121464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7600">
                  <a:extLst>
                    <a:ext uri="{9D8B030D-6E8A-4147-A177-3AD203B41FA5}">
                      <a16:colId xmlns:a16="http://schemas.microsoft.com/office/drawing/2014/main" val="2385698894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102216827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25231156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48259191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184170882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411251258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359364292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1582764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87165051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126263177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11664760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52266575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401129716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66461788"/>
                    </a:ext>
                  </a:extLst>
                </a:gridCol>
              </a:tblGrid>
              <a:tr h="3677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278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642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zh-TW" altLang="en-US" sz="24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867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(15,4)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(2,1)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(5,1)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(7,2)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82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7735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7FFD0E-C6B9-4173-8A5E-08AB0AB6B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sz="28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{ 4 , 2 , 12 , 6 , 5 , 9 , 3 , 15 , 2 , 5 , 7 , 20 , 19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{2 , 5 , 7 , 19}</a:t>
            </a: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8EED0730-3552-4CE3-A2F4-CC882E00893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12585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Slope-constrained Longest Increasing Subsequence (SLIS)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圖表 18">
            <a:extLst>
              <a:ext uri="{FF2B5EF4-FFF2-40B4-BE49-F238E27FC236}">
                <a16:creationId xmlns:a16="http://schemas.microsoft.com/office/drawing/2014/main" id="{DC591458-4CB7-439E-B1F6-5CEE8C3BE0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730358"/>
              </p:ext>
            </p:extLst>
          </p:nvPr>
        </p:nvGraphicFramePr>
        <p:xfrm>
          <a:off x="4848224" y="2506660"/>
          <a:ext cx="7343775" cy="43513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3591BC77-FACE-491C-8A9F-BD2BFD970AB1}"/>
              </a:ext>
            </a:extLst>
          </p:cNvPr>
          <p:cNvCxnSpPr>
            <a:cxnSpLocks/>
          </p:cNvCxnSpPr>
          <p:nvPr/>
        </p:nvCxnSpPr>
        <p:spPr>
          <a:xfrm flipV="1">
            <a:off x="9810750" y="5875734"/>
            <a:ext cx="476250" cy="4278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364003D8-05A6-4BCC-B566-ECF0B1918ACA}"/>
              </a:ext>
            </a:extLst>
          </p:cNvPr>
          <p:cNvCxnSpPr>
            <a:cxnSpLocks/>
          </p:cNvCxnSpPr>
          <p:nvPr/>
        </p:nvCxnSpPr>
        <p:spPr>
          <a:xfrm flipV="1">
            <a:off x="10363200" y="5504656"/>
            <a:ext cx="557212" cy="30361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ABECF1B8-5516-4B6D-BF25-AF1797178FFA}"/>
              </a:ext>
            </a:extLst>
          </p:cNvPr>
          <p:cNvCxnSpPr>
            <a:cxnSpLocks/>
          </p:cNvCxnSpPr>
          <p:nvPr/>
        </p:nvCxnSpPr>
        <p:spPr>
          <a:xfrm flipV="1">
            <a:off x="10937081" y="3581400"/>
            <a:ext cx="959644" cy="174109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0690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F73371-6529-4308-AA75-685CDCB95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58550" cy="132556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Slope-constrained Longest Increasing Subsequence (SLIS)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CCD02B8-A580-4513-BD6E-1D90FBD7D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498224"/>
              </p:ext>
            </p:extLst>
          </p:nvPr>
        </p:nvGraphicFramePr>
        <p:xfrm>
          <a:off x="22800" y="3200400"/>
          <a:ext cx="1732084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6042">
                  <a:extLst>
                    <a:ext uri="{9D8B030D-6E8A-4147-A177-3AD203B41FA5}">
                      <a16:colId xmlns:a16="http://schemas.microsoft.com/office/drawing/2014/main" val="2449140971"/>
                    </a:ext>
                  </a:extLst>
                </a:gridCol>
                <a:gridCol w="866042">
                  <a:extLst>
                    <a:ext uri="{9D8B030D-6E8A-4147-A177-3AD203B41FA5}">
                      <a16:colId xmlns:a16="http://schemas.microsoft.com/office/drawing/2014/main" val="42245209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43076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2659906-EF60-4D10-B8BB-BFDE3CBD00BF}"/>
                  </a:ext>
                </a:extLst>
              </p:cNvPr>
              <p:cNvSpPr txBox="1"/>
              <p:nvPr/>
            </p:nvSpPr>
            <p:spPr>
              <a:xfrm>
                <a:off x="8919559" y="6002060"/>
                <a:ext cx="3272441" cy="855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8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sz="28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 </m:t>
                            </m:r>
                            <m:sSub>
                              <m:sSubPr>
                                <m:ctrlP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b>
                            </m:sSub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8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 </m:t>
                        </m:r>
                        <m:sSub>
                          <m:sSub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≥ </a:t>
                </a:r>
                <a:r>
                  <a:rPr lang="en-US" altLang="zh-TW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, m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 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2659906-EF60-4D10-B8BB-BFDE3CBD0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9559" y="6002060"/>
                <a:ext cx="3272441" cy="855940"/>
              </a:xfrm>
              <a:prstGeom prst="rect">
                <a:avLst/>
              </a:prstGeom>
              <a:blipFill>
                <a:blip r:embed="rId2"/>
                <a:stretch>
                  <a:fillRect r="-2793" b="-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373601BA-9600-4C8B-A5A7-92548907F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172322"/>
              </p:ext>
            </p:extLst>
          </p:nvPr>
        </p:nvGraphicFramePr>
        <p:xfrm>
          <a:off x="22800" y="1690688"/>
          <a:ext cx="121464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7600">
                  <a:extLst>
                    <a:ext uri="{9D8B030D-6E8A-4147-A177-3AD203B41FA5}">
                      <a16:colId xmlns:a16="http://schemas.microsoft.com/office/drawing/2014/main" val="2385698894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102216827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25231156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48259191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184170882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411251258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359364292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1582764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87165051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126263177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11664760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52266575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401129716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66461788"/>
                    </a:ext>
                  </a:extLst>
                </a:gridCol>
              </a:tblGrid>
              <a:tr h="3677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278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642374"/>
                  </a:ext>
                </a:extLst>
              </a:tr>
            </a:tbl>
          </a:graphicData>
        </a:graphic>
      </p:graphicFrame>
      <p:sp>
        <p:nvSpPr>
          <p:cNvPr id="13" name="文字方塊 12">
            <a:extLst>
              <a:ext uri="{FF2B5EF4-FFF2-40B4-BE49-F238E27FC236}">
                <a16:creationId xmlns:a16="http://schemas.microsoft.com/office/drawing/2014/main" id="{19CFE965-7740-4AC1-8D1D-E262A0647EC7}"/>
              </a:ext>
            </a:extLst>
          </p:cNvPr>
          <p:cNvSpPr txBox="1"/>
          <p:nvPr/>
        </p:nvSpPr>
        <p:spPr>
          <a:xfrm>
            <a:off x="2495550" y="4022080"/>
            <a:ext cx="510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Critical Point(s):</a:t>
            </a:r>
          </a:p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最後一個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insert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進來的元素</a:t>
            </a: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A1A91AF8-F266-46BB-AC9A-E1D786EB1FBB}"/>
              </a:ext>
            </a:extLst>
          </p:cNvPr>
          <p:cNvCxnSpPr/>
          <p:nvPr/>
        </p:nvCxnSpPr>
        <p:spPr>
          <a:xfrm flipH="1" flipV="1">
            <a:off x="1657350" y="3581400"/>
            <a:ext cx="876300" cy="49134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39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F73371-6529-4308-AA75-685CDCB95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58550" cy="132556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Slope-constrained Longest Increasing Subsequence (SLIS)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18150BCD-8BD2-45D6-B6F7-C4859D89308E}"/>
                  </a:ext>
                </a:extLst>
              </p:cNvPr>
              <p:cNvSpPr txBox="1"/>
              <p:nvPr/>
            </p:nvSpPr>
            <p:spPr>
              <a:xfrm>
                <a:off x="8919559" y="6002060"/>
                <a:ext cx="3272441" cy="855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8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sz="28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 </m:t>
                            </m:r>
                            <m:sSub>
                              <m:sSubPr>
                                <m:ctrlP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b>
                            </m:sSub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8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 </m:t>
                        </m:r>
                        <m:sSub>
                          <m:sSub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≥ </a:t>
                </a:r>
                <a:r>
                  <a:rPr lang="en-US" altLang="zh-TW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, m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 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18150BCD-8BD2-45D6-B6F7-C4859D893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9559" y="6002060"/>
                <a:ext cx="3272441" cy="855940"/>
              </a:xfrm>
              <a:prstGeom prst="rect">
                <a:avLst/>
              </a:prstGeom>
              <a:blipFill>
                <a:blip r:embed="rId2"/>
                <a:stretch>
                  <a:fillRect r="-2793" b="-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C5EF583-367D-46AB-B461-461DBA13A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30583"/>
              </p:ext>
            </p:extLst>
          </p:nvPr>
        </p:nvGraphicFramePr>
        <p:xfrm>
          <a:off x="22800" y="3200400"/>
          <a:ext cx="26028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7600">
                  <a:extLst>
                    <a:ext uri="{9D8B030D-6E8A-4147-A177-3AD203B41FA5}">
                      <a16:colId xmlns:a16="http://schemas.microsoft.com/office/drawing/2014/main" val="2449140971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224520994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7267051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430769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9BD041F5-62D8-4FD0-99B6-9D9FAE95F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057826"/>
              </p:ext>
            </p:extLst>
          </p:nvPr>
        </p:nvGraphicFramePr>
        <p:xfrm>
          <a:off x="22800" y="1690688"/>
          <a:ext cx="121464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7600">
                  <a:extLst>
                    <a:ext uri="{9D8B030D-6E8A-4147-A177-3AD203B41FA5}">
                      <a16:colId xmlns:a16="http://schemas.microsoft.com/office/drawing/2014/main" val="2385698894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102216827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25231156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48259191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184170882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411251258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359364292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1582764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87165051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126263177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11664760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52266575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401129716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66461788"/>
                    </a:ext>
                  </a:extLst>
                </a:gridCol>
              </a:tblGrid>
              <a:tr h="3677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278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642374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98D9ED2A-FB3E-49E2-92B2-1BDDF1C15174}"/>
              </a:ext>
            </a:extLst>
          </p:cNvPr>
          <p:cNvSpPr txBox="1"/>
          <p:nvPr/>
        </p:nvSpPr>
        <p:spPr>
          <a:xfrm>
            <a:off x="2495549" y="4022080"/>
            <a:ext cx="5381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Critical Point(s):</a:t>
            </a:r>
          </a:p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最後一個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insert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進來的元素</a:t>
            </a: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FCC89F06-7267-468E-8B59-E79C3CE9C848}"/>
              </a:ext>
            </a:extLst>
          </p:cNvPr>
          <p:cNvCxnSpPr>
            <a:cxnSpLocks/>
          </p:cNvCxnSpPr>
          <p:nvPr/>
        </p:nvCxnSpPr>
        <p:spPr>
          <a:xfrm flipH="1" flipV="1">
            <a:off x="2381250" y="3657600"/>
            <a:ext cx="152400" cy="4151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1010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F73371-6529-4308-AA75-685CDCB95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58550" cy="132556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Slope-constrained Longest Increasing Subsequence (SLIS)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BC012051-83F9-4C47-A436-261231749BD2}"/>
                  </a:ext>
                </a:extLst>
              </p:cNvPr>
              <p:cNvSpPr txBox="1"/>
              <p:nvPr/>
            </p:nvSpPr>
            <p:spPr>
              <a:xfrm>
                <a:off x="8919559" y="6002060"/>
                <a:ext cx="3272441" cy="855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8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sz="28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 </m:t>
                            </m:r>
                            <m:sSub>
                              <m:sSubPr>
                                <m:ctrlP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b>
                            </m:sSub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8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 </m:t>
                        </m:r>
                        <m:sSub>
                          <m:sSub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≥ </a:t>
                </a:r>
                <a:r>
                  <a:rPr lang="en-US" altLang="zh-TW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, m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 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BC012051-83F9-4C47-A436-261231749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9559" y="6002060"/>
                <a:ext cx="3272441" cy="855940"/>
              </a:xfrm>
              <a:prstGeom prst="rect">
                <a:avLst/>
              </a:prstGeom>
              <a:blipFill>
                <a:blip r:embed="rId2"/>
                <a:stretch>
                  <a:fillRect r="-2793" b="-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2C5A66C5-1A33-4BD5-BA46-C0ECD1AC5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936752"/>
              </p:ext>
            </p:extLst>
          </p:nvPr>
        </p:nvGraphicFramePr>
        <p:xfrm>
          <a:off x="22800" y="1690688"/>
          <a:ext cx="121464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7600">
                  <a:extLst>
                    <a:ext uri="{9D8B030D-6E8A-4147-A177-3AD203B41FA5}">
                      <a16:colId xmlns:a16="http://schemas.microsoft.com/office/drawing/2014/main" val="2385698894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102216827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25231156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48259191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184170882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411251258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359364292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1582764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87165051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126263177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11664760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52266575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401129716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66461788"/>
                    </a:ext>
                  </a:extLst>
                </a:gridCol>
              </a:tblGrid>
              <a:tr h="3677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278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642374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DA9E0B07-459B-4D06-8514-7A44FC0F2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161560"/>
              </p:ext>
            </p:extLst>
          </p:nvPr>
        </p:nvGraphicFramePr>
        <p:xfrm>
          <a:off x="22800" y="3200400"/>
          <a:ext cx="26028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7600">
                  <a:extLst>
                    <a:ext uri="{9D8B030D-6E8A-4147-A177-3AD203B41FA5}">
                      <a16:colId xmlns:a16="http://schemas.microsoft.com/office/drawing/2014/main" val="2449140971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224520994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7267051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430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776553"/>
                  </a:ext>
                </a:extLst>
              </a:tr>
            </a:tbl>
          </a:graphicData>
        </a:graphic>
      </p:graphicFrame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39C556B3-2EAD-4BBC-A995-860BC034596B}"/>
              </a:ext>
            </a:extLst>
          </p:cNvPr>
          <p:cNvCxnSpPr/>
          <p:nvPr/>
        </p:nvCxnSpPr>
        <p:spPr>
          <a:xfrm flipV="1">
            <a:off x="1619250" y="3519487"/>
            <a:ext cx="304800" cy="2762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31B8C17-022E-422B-B044-91B292AC0E71}"/>
              </a:ext>
            </a:extLst>
          </p:cNvPr>
          <p:cNvSpPr txBox="1"/>
          <p:nvPr/>
        </p:nvSpPr>
        <p:spPr>
          <a:xfrm>
            <a:off x="3686174" y="4236392"/>
            <a:ext cx="3990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Critical Point(s)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727A18B3-59FA-40C3-B86E-89B2A1CA9444}"/>
              </a:ext>
            </a:extLst>
          </p:cNvPr>
          <p:cNvCxnSpPr>
            <a:cxnSpLocks/>
          </p:cNvCxnSpPr>
          <p:nvPr/>
        </p:nvCxnSpPr>
        <p:spPr>
          <a:xfrm flipH="1" flipV="1">
            <a:off x="2543175" y="3519487"/>
            <a:ext cx="1181100" cy="76756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6A026756-EA57-42E6-8CC9-BD7C3FF3729B}"/>
              </a:ext>
            </a:extLst>
          </p:cNvPr>
          <p:cNvCxnSpPr>
            <a:cxnSpLocks/>
          </p:cNvCxnSpPr>
          <p:nvPr/>
        </p:nvCxnSpPr>
        <p:spPr>
          <a:xfrm flipH="1" flipV="1">
            <a:off x="1685925" y="4036494"/>
            <a:ext cx="2038350" cy="25056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0BA7F149-BFC9-419D-904C-31B5CBCC4CB8}"/>
              </a:ext>
            </a:extLst>
          </p:cNvPr>
          <p:cNvCxnSpPr>
            <a:cxnSpLocks/>
          </p:cNvCxnSpPr>
          <p:nvPr/>
        </p:nvCxnSpPr>
        <p:spPr>
          <a:xfrm flipV="1">
            <a:off x="1619250" y="3519486"/>
            <a:ext cx="0" cy="276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764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F73371-6529-4308-AA75-685CDCB95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58550" cy="132556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Slope-constrained Longest Increasing Subsequence (SLIS)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E71A927-C675-4F97-84B7-7C56AB9C5E0F}"/>
                  </a:ext>
                </a:extLst>
              </p:cNvPr>
              <p:cNvSpPr txBox="1"/>
              <p:nvPr/>
            </p:nvSpPr>
            <p:spPr>
              <a:xfrm>
                <a:off x="8919559" y="6002060"/>
                <a:ext cx="3272441" cy="855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8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sz="28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 </m:t>
                            </m:r>
                            <m:sSub>
                              <m:sSubPr>
                                <m:ctrlP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b>
                            </m:sSub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8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 </m:t>
                        </m:r>
                        <m:sSub>
                          <m:sSub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≥ </a:t>
                </a:r>
                <a:r>
                  <a:rPr lang="en-US" altLang="zh-TW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, m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 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E71A927-C675-4F97-84B7-7C56AB9C5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9559" y="6002060"/>
                <a:ext cx="3272441" cy="855940"/>
              </a:xfrm>
              <a:prstGeom prst="rect">
                <a:avLst/>
              </a:prstGeom>
              <a:blipFill>
                <a:blip r:embed="rId2"/>
                <a:stretch>
                  <a:fillRect r="-2793" b="-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97309B63-3C30-4A1E-A328-C8ECBA825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315140"/>
              </p:ext>
            </p:extLst>
          </p:nvPr>
        </p:nvGraphicFramePr>
        <p:xfrm>
          <a:off x="22800" y="1690688"/>
          <a:ext cx="121464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7600">
                  <a:extLst>
                    <a:ext uri="{9D8B030D-6E8A-4147-A177-3AD203B41FA5}">
                      <a16:colId xmlns:a16="http://schemas.microsoft.com/office/drawing/2014/main" val="2385698894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102216827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25231156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48259191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184170882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411251258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359364292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1582764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87165051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126263177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11664760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52266575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401129716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66461788"/>
                    </a:ext>
                  </a:extLst>
                </a:gridCol>
              </a:tblGrid>
              <a:tr h="3677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278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642374"/>
                  </a:ext>
                </a:extLst>
              </a:tr>
            </a:tbl>
          </a:graphicData>
        </a:graphic>
      </p:graphicFrame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4E5F2D62-0C7F-404C-BAA5-41132AD7E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842642"/>
              </p:ext>
            </p:extLst>
          </p:nvPr>
        </p:nvGraphicFramePr>
        <p:xfrm>
          <a:off x="22800" y="3200400"/>
          <a:ext cx="26028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7600">
                  <a:extLst>
                    <a:ext uri="{9D8B030D-6E8A-4147-A177-3AD203B41FA5}">
                      <a16:colId xmlns:a16="http://schemas.microsoft.com/office/drawing/2014/main" val="2449140971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224520994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7267051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430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776553"/>
                  </a:ext>
                </a:extLst>
              </a:tr>
            </a:tbl>
          </a:graphicData>
        </a:graphic>
      </p:graphicFrame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5639D0F6-A935-4F2C-B164-7266D94F11D2}"/>
              </a:ext>
            </a:extLst>
          </p:cNvPr>
          <p:cNvCxnSpPr/>
          <p:nvPr/>
        </p:nvCxnSpPr>
        <p:spPr>
          <a:xfrm flipV="1">
            <a:off x="1619250" y="3519487"/>
            <a:ext cx="304800" cy="2762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5A42B341-A6DF-4B57-B09F-3F74031ACE4E}"/>
              </a:ext>
            </a:extLst>
          </p:cNvPr>
          <p:cNvCxnSpPr>
            <a:cxnSpLocks/>
          </p:cNvCxnSpPr>
          <p:nvPr/>
        </p:nvCxnSpPr>
        <p:spPr>
          <a:xfrm flipV="1">
            <a:off x="2377950" y="3519487"/>
            <a:ext cx="0" cy="276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0C901634-3EE8-429E-97FF-58179DE387E0}"/>
              </a:ext>
            </a:extLst>
          </p:cNvPr>
          <p:cNvSpPr txBox="1"/>
          <p:nvPr/>
        </p:nvSpPr>
        <p:spPr>
          <a:xfrm>
            <a:off x="3686175" y="4236392"/>
            <a:ext cx="3638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Critical Points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996F824C-2416-413A-B78D-B9B5A107E68A}"/>
              </a:ext>
            </a:extLst>
          </p:cNvPr>
          <p:cNvCxnSpPr>
            <a:cxnSpLocks/>
          </p:cNvCxnSpPr>
          <p:nvPr/>
        </p:nvCxnSpPr>
        <p:spPr>
          <a:xfrm flipH="1" flipV="1">
            <a:off x="2543175" y="3519487"/>
            <a:ext cx="1181100" cy="76756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5344FE12-4624-4CB5-BF05-C5761674A080}"/>
              </a:ext>
            </a:extLst>
          </p:cNvPr>
          <p:cNvCxnSpPr>
            <a:cxnSpLocks/>
          </p:cNvCxnSpPr>
          <p:nvPr/>
        </p:nvCxnSpPr>
        <p:spPr>
          <a:xfrm flipH="1" flipV="1">
            <a:off x="2514600" y="4000500"/>
            <a:ext cx="1209675" cy="2865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D195A6CD-AC4A-4405-8404-02832BA1C879}"/>
              </a:ext>
            </a:extLst>
          </p:cNvPr>
          <p:cNvCxnSpPr>
            <a:cxnSpLocks/>
          </p:cNvCxnSpPr>
          <p:nvPr/>
        </p:nvCxnSpPr>
        <p:spPr>
          <a:xfrm flipV="1">
            <a:off x="1619250" y="3519487"/>
            <a:ext cx="0" cy="276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713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F73371-6529-4308-AA75-685CDCB95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58550" cy="132556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Slope-constrained Longest Increasing Subsequence (SLIS)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E71A927-C675-4F97-84B7-7C56AB9C5E0F}"/>
                  </a:ext>
                </a:extLst>
              </p:cNvPr>
              <p:cNvSpPr txBox="1"/>
              <p:nvPr/>
            </p:nvSpPr>
            <p:spPr>
              <a:xfrm>
                <a:off x="8919559" y="6002060"/>
                <a:ext cx="3272441" cy="855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8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sz="28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 </m:t>
                            </m:r>
                            <m:sSub>
                              <m:sSubPr>
                                <m:ctrlP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b>
                            </m:sSub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8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 </m:t>
                        </m:r>
                        <m:sSub>
                          <m:sSub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≥ </a:t>
                </a:r>
                <a:r>
                  <a:rPr lang="en-US" altLang="zh-TW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, m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 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E71A927-C675-4F97-84B7-7C56AB9C5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9559" y="6002060"/>
                <a:ext cx="3272441" cy="855940"/>
              </a:xfrm>
              <a:prstGeom prst="rect">
                <a:avLst/>
              </a:prstGeom>
              <a:blipFill>
                <a:blip r:embed="rId2"/>
                <a:stretch>
                  <a:fillRect r="-2793" b="-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97309B63-3C30-4A1E-A328-C8ECBA825024}"/>
              </a:ext>
            </a:extLst>
          </p:cNvPr>
          <p:cNvGraphicFramePr>
            <a:graphicFrameLocks noGrp="1"/>
          </p:cNvGraphicFramePr>
          <p:nvPr/>
        </p:nvGraphicFramePr>
        <p:xfrm>
          <a:off x="22800" y="1690688"/>
          <a:ext cx="121464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7600">
                  <a:extLst>
                    <a:ext uri="{9D8B030D-6E8A-4147-A177-3AD203B41FA5}">
                      <a16:colId xmlns:a16="http://schemas.microsoft.com/office/drawing/2014/main" val="2385698894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102216827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25231156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48259191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184170882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411251258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359364292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1582764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87165051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126263177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11664760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52266575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401129716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66461788"/>
                    </a:ext>
                  </a:extLst>
                </a:gridCol>
              </a:tblGrid>
              <a:tr h="3677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278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642374"/>
                  </a:ext>
                </a:extLst>
              </a:tr>
            </a:tbl>
          </a:graphicData>
        </a:graphic>
      </p:graphicFrame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4E5F2D62-0C7F-404C-BAA5-41132AD7E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78781"/>
              </p:ext>
            </p:extLst>
          </p:nvPr>
        </p:nvGraphicFramePr>
        <p:xfrm>
          <a:off x="22800" y="3200400"/>
          <a:ext cx="52056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7600">
                  <a:extLst>
                    <a:ext uri="{9D8B030D-6E8A-4147-A177-3AD203B41FA5}">
                      <a16:colId xmlns:a16="http://schemas.microsoft.com/office/drawing/2014/main" val="2449140971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224520994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72670512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85749066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361300228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3897347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430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776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66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R4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25399"/>
                  </a:ext>
                </a:extLst>
              </a:tr>
            </a:tbl>
          </a:graphicData>
        </a:graphic>
      </p:graphicFrame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5639D0F6-A935-4F2C-B164-7266D94F11D2}"/>
              </a:ext>
            </a:extLst>
          </p:cNvPr>
          <p:cNvCxnSpPr/>
          <p:nvPr/>
        </p:nvCxnSpPr>
        <p:spPr>
          <a:xfrm flipV="1">
            <a:off x="1619250" y="3519487"/>
            <a:ext cx="304800" cy="2762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3C70AA4F-31DB-46EE-B4DF-EA0465681493}"/>
              </a:ext>
            </a:extLst>
          </p:cNvPr>
          <p:cNvCxnSpPr>
            <a:cxnSpLocks/>
          </p:cNvCxnSpPr>
          <p:nvPr/>
        </p:nvCxnSpPr>
        <p:spPr>
          <a:xfrm flipV="1">
            <a:off x="2377950" y="3519487"/>
            <a:ext cx="0" cy="276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B8612E50-820B-4B25-B0B7-951B200B59D3}"/>
              </a:ext>
            </a:extLst>
          </p:cNvPr>
          <p:cNvCxnSpPr>
            <a:cxnSpLocks/>
          </p:cNvCxnSpPr>
          <p:nvPr/>
        </p:nvCxnSpPr>
        <p:spPr>
          <a:xfrm flipV="1">
            <a:off x="3273300" y="3519486"/>
            <a:ext cx="0" cy="276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DB0DADB5-43C2-4FEB-AE6A-347B0F2C02BD}"/>
              </a:ext>
            </a:extLst>
          </p:cNvPr>
          <p:cNvCxnSpPr>
            <a:cxnSpLocks/>
          </p:cNvCxnSpPr>
          <p:nvPr/>
        </p:nvCxnSpPr>
        <p:spPr>
          <a:xfrm flipV="1">
            <a:off x="1619250" y="4010025"/>
            <a:ext cx="1123950" cy="2428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F89E200C-B4ED-4DBE-8AC7-6713DF2D98E6}"/>
              </a:ext>
            </a:extLst>
          </p:cNvPr>
          <p:cNvCxnSpPr/>
          <p:nvPr/>
        </p:nvCxnSpPr>
        <p:spPr>
          <a:xfrm flipV="1">
            <a:off x="4227450" y="3519487"/>
            <a:ext cx="304800" cy="2762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AD7538AE-1565-4E37-9B57-B9AD0ED8A915}"/>
              </a:ext>
            </a:extLst>
          </p:cNvPr>
          <p:cNvCxnSpPr>
            <a:cxnSpLocks/>
          </p:cNvCxnSpPr>
          <p:nvPr/>
        </p:nvCxnSpPr>
        <p:spPr>
          <a:xfrm flipV="1">
            <a:off x="2497425" y="4010025"/>
            <a:ext cx="1123950" cy="2428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B2089D16-32C7-4F92-A9EC-F4FD608AB83E}"/>
              </a:ext>
            </a:extLst>
          </p:cNvPr>
          <p:cNvCxnSpPr/>
          <p:nvPr/>
        </p:nvCxnSpPr>
        <p:spPr>
          <a:xfrm flipV="1">
            <a:off x="1619250" y="4433886"/>
            <a:ext cx="304800" cy="2762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23593C2B-5CB6-461A-98E0-7E37EAA887E8}"/>
              </a:ext>
            </a:extLst>
          </p:cNvPr>
          <p:cNvCxnSpPr>
            <a:cxnSpLocks/>
          </p:cNvCxnSpPr>
          <p:nvPr/>
        </p:nvCxnSpPr>
        <p:spPr>
          <a:xfrm flipV="1">
            <a:off x="2377950" y="4433886"/>
            <a:ext cx="0" cy="276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BACF6706-9193-40E9-8FB8-1C39FFDEE54C}"/>
              </a:ext>
            </a:extLst>
          </p:cNvPr>
          <p:cNvCxnSpPr>
            <a:cxnSpLocks/>
          </p:cNvCxnSpPr>
          <p:nvPr/>
        </p:nvCxnSpPr>
        <p:spPr>
          <a:xfrm flipV="1">
            <a:off x="1619250" y="3519486"/>
            <a:ext cx="0" cy="276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F40CC7F-77B8-4E50-9863-C4D8F8FBFA3C}"/>
              </a:ext>
            </a:extLst>
          </p:cNvPr>
          <p:cNvCxnSpPr/>
          <p:nvPr/>
        </p:nvCxnSpPr>
        <p:spPr>
          <a:xfrm flipV="1">
            <a:off x="1619250" y="3976684"/>
            <a:ext cx="304800" cy="2762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011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F73371-6529-4308-AA75-685CDCB95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58550" cy="132556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point (proof)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97309B63-3C30-4A1E-A328-C8ECBA825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172163"/>
              </p:ext>
            </p:extLst>
          </p:nvPr>
        </p:nvGraphicFramePr>
        <p:xfrm>
          <a:off x="255750" y="1690688"/>
          <a:ext cx="34704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7600">
                  <a:extLst>
                    <a:ext uri="{9D8B030D-6E8A-4147-A177-3AD203B41FA5}">
                      <a16:colId xmlns:a16="http://schemas.microsoft.com/office/drawing/2014/main" val="2385698894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102216827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252311563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248259191"/>
                    </a:ext>
                  </a:extLst>
                </a:gridCol>
              </a:tblGrid>
              <a:tr h="3677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278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642374"/>
                  </a:ext>
                </a:extLst>
              </a:tr>
            </a:tbl>
          </a:graphicData>
        </a:graphic>
      </p:graphicFrame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742BEA97-8F73-4B80-9D27-C399B5F55D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7628793"/>
              </p:ext>
            </p:extLst>
          </p:nvPr>
        </p:nvGraphicFramePr>
        <p:xfrm>
          <a:off x="6819900" y="935035"/>
          <a:ext cx="5276850" cy="2722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B0D528D-BE14-49E6-92BF-AEE14094A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908423"/>
              </p:ext>
            </p:extLst>
          </p:nvPr>
        </p:nvGraphicFramePr>
        <p:xfrm>
          <a:off x="3840450" y="1690688"/>
          <a:ext cx="26028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7600">
                  <a:extLst>
                    <a:ext uri="{9D8B030D-6E8A-4147-A177-3AD203B41FA5}">
                      <a16:colId xmlns:a16="http://schemas.microsoft.com/office/drawing/2014/main" val="2449140971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4224520994"/>
                    </a:ext>
                  </a:extLst>
                </a:gridCol>
                <a:gridCol w="867600">
                  <a:extLst>
                    <a:ext uri="{9D8B030D-6E8A-4147-A177-3AD203B41FA5}">
                      <a16:colId xmlns:a16="http://schemas.microsoft.com/office/drawing/2014/main" val="17267051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430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776553"/>
                  </a:ext>
                </a:extLst>
              </a:tr>
            </a:tbl>
          </a:graphicData>
        </a:graphic>
      </p:graphicFrame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D0589044-6CDF-45A5-954A-62074C05719A}"/>
              </a:ext>
            </a:extLst>
          </p:cNvPr>
          <p:cNvCxnSpPr/>
          <p:nvPr/>
        </p:nvCxnSpPr>
        <p:spPr>
          <a:xfrm flipV="1">
            <a:off x="7943850" y="1352550"/>
            <a:ext cx="3343275" cy="13335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110F4B0-9749-4125-BF3E-F97F6F301C54}"/>
              </a:ext>
            </a:extLst>
          </p:cNvPr>
          <p:cNvSpPr txBox="1"/>
          <p:nvPr/>
        </p:nvSpPr>
        <p:spPr>
          <a:xfrm>
            <a:off x="7505700" y="2424440"/>
            <a:ext cx="438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57245F0-1786-4CBD-8FBE-470C46530ADB}"/>
              </a:ext>
            </a:extLst>
          </p:cNvPr>
          <p:cNvSpPr txBox="1"/>
          <p:nvPr/>
        </p:nvSpPr>
        <p:spPr>
          <a:xfrm>
            <a:off x="9091613" y="2863535"/>
            <a:ext cx="438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56EEE729-1BE9-49FB-AFE9-7F1B3E8D2AF9}"/>
              </a:ext>
            </a:extLst>
          </p:cNvPr>
          <p:cNvSpPr txBox="1"/>
          <p:nvPr/>
        </p:nvSpPr>
        <p:spPr>
          <a:xfrm>
            <a:off x="10715625" y="952500"/>
            <a:ext cx="438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7DA611E-A571-4D59-8430-B521B5D6190B}"/>
              </a:ext>
            </a:extLst>
          </p:cNvPr>
          <p:cNvSpPr txBox="1"/>
          <p:nvPr/>
        </p:nvSpPr>
        <p:spPr>
          <a:xfrm>
            <a:off x="228600" y="3125145"/>
            <a:ext cx="90106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因為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x dominates y,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故 </a:t>
            </a:r>
            <a:r>
              <a:rPr lang="en-US" altLang="zh-TW" sz="2400" i="1" dirty="0" err="1">
                <a:highlight>
                  <a:srgbClr val="00FFFF"/>
                </a:highlight>
                <a:latin typeface="Times New Roman" panose="02020603050405020304" pitchFamily="18" charset="0"/>
                <a:ea typeface="標楷體" panose="03000509000000000000" pitchFamily="65" charset="-120"/>
              </a:rPr>
              <a:t>m</a:t>
            </a:r>
            <a:r>
              <a:rPr lang="en-US" altLang="zh-TW" sz="2400" baseline="-25000" dirty="0" err="1">
                <a:highlight>
                  <a:srgbClr val="00FFFF"/>
                </a:highlight>
                <a:latin typeface="Times New Roman" panose="02020603050405020304" pitchFamily="18" charset="0"/>
                <a:ea typeface="標楷體" panose="03000509000000000000" pitchFamily="65" charset="-120"/>
              </a:rPr>
              <a:t>xy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≥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</a:p>
          <a:p>
            <a:endParaRPr lang="en-US" altLang="zh-TW" sz="2400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假設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z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無法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dominate y,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則 </a:t>
            </a:r>
            <a:r>
              <a:rPr lang="en-US" altLang="zh-TW" sz="2400" i="1" dirty="0" err="1">
                <a:highlight>
                  <a:srgbClr val="00FF00"/>
                </a:highlight>
                <a:latin typeface="Times New Roman" panose="02020603050405020304" pitchFamily="18" charset="0"/>
                <a:ea typeface="標楷體" panose="03000509000000000000" pitchFamily="65" charset="-120"/>
              </a:rPr>
              <a:t>m</a:t>
            </a:r>
            <a:r>
              <a:rPr lang="en-US" altLang="zh-TW" sz="2400" baseline="-25000" dirty="0" err="1">
                <a:highlight>
                  <a:srgbClr val="00FF00"/>
                </a:highlight>
                <a:latin typeface="Times New Roman" panose="02020603050405020304" pitchFamily="18" charset="0"/>
                <a:ea typeface="標楷體" panose="03000509000000000000" pitchFamily="65" charset="-120"/>
              </a:rPr>
              <a:t>zy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&lt;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m</a:t>
            </a:r>
          </a:p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因為 </a:t>
            </a:r>
            <a:r>
              <a:rPr lang="en-US" altLang="zh-TW" sz="2400" i="1" dirty="0" err="1">
                <a:highlight>
                  <a:srgbClr val="00FFFF"/>
                </a:highlight>
                <a:latin typeface="Times New Roman" panose="02020603050405020304" pitchFamily="18" charset="0"/>
                <a:ea typeface="標楷體" panose="03000509000000000000" pitchFamily="65" charset="-120"/>
              </a:rPr>
              <a:t>m</a:t>
            </a:r>
            <a:r>
              <a:rPr lang="en-US" altLang="zh-TW" sz="2400" baseline="-25000" dirty="0" err="1">
                <a:highlight>
                  <a:srgbClr val="00FFFF"/>
                </a:highlight>
                <a:latin typeface="Times New Roman" panose="02020603050405020304" pitchFamily="18" charset="0"/>
                <a:ea typeface="標楷體" panose="03000509000000000000" pitchFamily="65" charset="-120"/>
              </a:rPr>
              <a:t>xy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是 </a:t>
            </a:r>
            <a:r>
              <a:rPr lang="en-US" altLang="zh-TW" sz="2400" i="1" dirty="0" err="1"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</a:rPr>
              <a:t>m</a:t>
            </a:r>
            <a:r>
              <a:rPr lang="en-US" altLang="zh-TW" sz="2400" baseline="-25000" dirty="0" err="1"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</a:rPr>
              <a:t>xz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, </a:t>
            </a:r>
            <a:r>
              <a:rPr lang="en-US" altLang="zh-TW" sz="2400" i="1" dirty="0" err="1">
                <a:highlight>
                  <a:srgbClr val="00FF00"/>
                </a:highlight>
                <a:latin typeface="Times New Roman" panose="02020603050405020304" pitchFamily="18" charset="0"/>
                <a:ea typeface="標楷體" panose="03000509000000000000" pitchFamily="65" charset="-120"/>
              </a:rPr>
              <a:t>m</a:t>
            </a:r>
            <a:r>
              <a:rPr lang="en-US" altLang="zh-TW" sz="2400" baseline="-25000" dirty="0" err="1">
                <a:highlight>
                  <a:srgbClr val="00FF00"/>
                </a:highlight>
                <a:latin typeface="Times New Roman" panose="02020603050405020304" pitchFamily="18" charset="0"/>
                <a:ea typeface="標楷體" panose="03000509000000000000" pitchFamily="65" charset="-120"/>
              </a:rPr>
              <a:t>zy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的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convex combination</a:t>
            </a:r>
          </a:p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故 </a:t>
            </a:r>
            <a:r>
              <a:rPr lang="en-US" altLang="zh-TW" sz="2400" i="1" dirty="0" err="1"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</a:rPr>
              <a:t>m</a:t>
            </a:r>
            <a:r>
              <a:rPr lang="en-US" altLang="zh-TW" sz="2400" baseline="-25000" dirty="0" err="1"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</a:rPr>
              <a:t>xz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≥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這代表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 dominates z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z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的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Rank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會比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大，明顯矛盾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故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z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可以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dominates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y, </a:t>
            </a:r>
            <a:r>
              <a:rPr lang="en-US" altLang="zh-TW" sz="2400" i="1" dirty="0" err="1">
                <a:highlight>
                  <a:srgbClr val="00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400" baseline="-25000" dirty="0" err="1">
                <a:highlight>
                  <a:srgbClr val="00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zy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  <a:p>
            <a:endParaRPr lang="en-US" altLang="zh-TW" sz="2400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所以只要記錄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Critical points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即可完成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SLIS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，且具遞移性。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如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R1 dominates R2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R2 dominates R3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，可得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R1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dominates R3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。</a:t>
            </a: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88211454-B452-47FD-A883-A53D9964E8CC}"/>
              </a:ext>
            </a:extLst>
          </p:cNvPr>
          <p:cNvCxnSpPr>
            <a:cxnSpLocks/>
          </p:cNvCxnSpPr>
          <p:nvPr/>
        </p:nvCxnSpPr>
        <p:spPr>
          <a:xfrm>
            <a:off x="7943850" y="2686050"/>
            <a:ext cx="1671637" cy="35497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3E292560-8916-4D07-A447-AA27ED592B43}"/>
              </a:ext>
            </a:extLst>
          </p:cNvPr>
          <p:cNvCxnSpPr>
            <a:cxnSpLocks/>
          </p:cNvCxnSpPr>
          <p:nvPr/>
        </p:nvCxnSpPr>
        <p:spPr>
          <a:xfrm flipV="1">
            <a:off x="9615488" y="1352550"/>
            <a:ext cx="1671637" cy="168847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611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966F32F-F33C-4621-B5FD-32E5844A3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204492"/>
              </p:ext>
            </p:extLst>
          </p:nvPr>
        </p:nvGraphicFramePr>
        <p:xfrm>
          <a:off x="7766538" y="228600"/>
          <a:ext cx="4330212" cy="640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1702">
                  <a:extLst>
                    <a:ext uri="{9D8B030D-6E8A-4147-A177-3AD203B41FA5}">
                      <a16:colId xmlns:a16="http://schemas.microsoft.com/office/drawing/2014/main" val="2385698894"/>
                    </a:ext>
                  </a:extLst>
                </a:gridCol>
                <a:gridCol w="721702">
                  <a:extLst>
                    <a:ext uri="{9D8B030D-6E8A-4147-A177-3AD203B41FA5}">
                      <a16:colId xmlns:a16="http://schemas.microsoft.com/office/drawing/2014/main" val="2102216827"/>
                    </a:ext>
                  </a:extLst>
                </a:gridCol>
                <a:gridCol w="721702">
                  <a:extLst>
                    <a:ext uri="{9D8B030D-6E8A-4147-A177-3AD203B41FA5}">
                      <a16:colId xmlns:a16="http://schemas.microsoft.com/office/drawing/2014/main" val="4252311563"/>
                    </a:ext>
                  </a:extLst>
                </a:gridCol>
                <a:gridCol w="721702">
                  <a:extLst>
                    <a:ext uri="{9D8B030D-6E8A-4147-A177-3AD203B41FA5}">
                      <a16:colId xmlns:a16="http://schemas.microsoft.com/office/drawing/2014/main" val="248259191"/>
                    </a:ext>
                  </a:extLst>
                </a:gridCol>
                <a:gridCol w="721702">
                  <a:extLst>
                    <a:ext uri="{9D8B030D-6E8A-4147-A177-3AD203B41FA5}">
                      <a16:colId xmlns:a16="http://schemas.microsoft.com/office/drawing/2014/main" val="4184170882"/>
                    </a:ext>
                  </a:extLst>
                </a:gridCol>
                <a:gridCol w="721702">
                  <a:extLst>
                    <a:ext uri="{9D8B030D-6E8A-4147-A177-3AD203B41FA5}">
                      <a16:colId xmlns:a16="http://schemas.microsoft.com/office/drawing/2014/main" val="3301643562"/>
                    </a:ext>
                  </a:extLst>
                </a:gridCol>
              </a:tblGrid>
              <a:tr h="3915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278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642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746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319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667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240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349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346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224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3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309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702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964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508030"/>
                  </a:ext>
                </a:extLst>
              </a:tr>
            </a:tbl>
          </a:graphicData>
        </a:graphic>
      </p:graphicFrame>
      <p:sp>
        <p:nvSpPr>
          <p:cNvPr id="11" name="標題 1">
            <a:extLst>
              <a:ext uri="{FF2B5EF4-FFF2-40B4-BE49-F238E27FC236}">
                <a16:creationId xmlns:a16="http://schemas.microsoft.com/office/drawing/2014/main" id="{44886D4C-A7BC-4FB2-AA0D-638B8D7A0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58550" cy="132556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ED5D71E-7B38-4762-A874-53BC7E2D86DA}"/>
              </a:ext>
            </a:extLst>
          </p:cNvPr>
          <p:cNvSpPr txBox="1"/>
          <p:nvPr/>
        </p:nvSpPr>
        <p:spPr>
          <a:xfrm>
            <a:off x="266700" y="1576685"/>
            <a:ext cx="749983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sz="28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{ 4 , 2 , 12 , 6 , 5 , 9 , 3 , 15 , 2 , 5 , 7 , 20 , 19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</a:p>
          <a:p>
            <a:pPr marL="0" indent="0"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SLIS(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{ 2 , 5 , 7 , 19}</a:t>
            </a:r>
          </a:p>
          <a:p>
            <a:pPr marL="0" indent="0">
              <a:buNone/>
            </a:pP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Complexity:</a:t>
            </a:r>
          </a:p>
          <a:p>
            <a:pPr marL="0" indent="0">
              <a:buNone/>
            </a:pP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)-time, 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output size</a:t>
            </a:r>
          </a:p>
          <a:p>
            <a:pPr marL="0" indent="0"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)-space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60802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3680</TotalTime>
  <Words>1781</Words>
  <Application>Microsoft Office PowerPoint</Application>
  <PresentationFormat>寬螢幕</PresentationFormat>
  <Paragraphs>677</Paragraphs>
  <Slides>20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7" baseType="lpstr">
      <vt:lpstr>Arial</vt:lpstr>
      <vt:lpstr>Arial</vt:lpstr>
      <vt:lpstr>Calibri</vt:lpstr>
      <vt:lpstr>Calibri Light</vt:lpstr>
      <vt:lpstr>Cambria Math</vt:lpstr>
      <vt:lpstr>Times New Roman</vt:lpstr>
      <vt:lpstr>Office 佈景主題</vt:lpstr>
      <vt:lpstr>Fast Algorithms For the Constrained Longest Increasing Subsequence Problems</vt:lpstr>
      <vt:lpstr>Abstract(1/2)</vt:lpstr>
      <vt:lpstr>Abstract(2/2)</vt:lpstr>
      <vt:lpstr>LIS</vt:lpstr>
      <vt:lpstr>Range-constrained Longest Increasing Subsequence (RLIS)</vt:lpstr>
      <vt:lpstr>Range-constrained Longest Increasing Subsequence (RLIS)</vt:lpstr>
      <vt:lpstr>Range-constrained Longest Increasing Subsequence (RLIS)</vt:lpstr>
      <vt:lpstr>Range-constrained Longest Increasing Subsequence (RLIS)</vt:lpstr>
      <vt:lpstr>Range-constrained Longest Increasing Subsequence (RLIS)</vt:lpstr>
      <vt:lpstr>Range-constrained Longest Increasing Subsequence (RLIS)</vt:lpstr>
      <vt:lpstr>Range-constrained Longest Increasing Subsequence (RLIS)</vt:lpstr>
      <vt:lpstr>Range-constrained Longest Increasing Subsequence (RLIS)</vt:lpstr>
      <vt:lpstr>PowerPoint 簡報</vt:lpstr>
      <vt:lpstr>Slope-constrained Longest Increasing Subsequence (SLIS)</vt:lpstr>
      <vt:lpstr>Slope-constrained Longest Increasing Subsequence (SLIS)</vt:lpstr>
      <vt:lpstr>Slope-constrained Longest Increasing Subsequence (SLIS)</vt:lpstr>
      <vt:lpstr>Slope-constrained Longest Increasing Subsequence (SLIS)</vt:lpstr>
      <vt:lpstr>Slope-constrained Longest Increasing Subsequence (SLIS)</vt:lpstr>
      <vt:lpstr>Critical point (proof)</vt:lpstr>
      <vt:lpstr>SLIS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String Matching Algorithm Based on Logical Indexing</dc:title>
  <dc:creator>育誠 張</dc:creator>
  <cp:lastModifiedBy>pplab</cp:lastModifiedBy>
  <cp:revision>1207</cp:revision>
  <dcterms:created xsi:type="dcterms:W3CDTF">2020-01-13T05:19:55Z</dcterms:created>
  <dcterms:modified xsi:type="dcterms:W3CDTF">2020-09-22T10:49:32Z</dcterms:modified>
</cp:coreProperties>
</file>