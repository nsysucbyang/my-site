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6" r:id="rId3"/>
    <p:sldId id="258" r:id="rId4"/>
    <p:sldId id="260" r:id="rId5"/>
    <p:sldId id="259" r:id="rId6"/>
    <p:sldId id="261" r:id="rId7"/>
    <p:sldId id="263" r:id="rId8"/>
    <p:sldId id="262" r:id="rId9"/>
    <p:sldId id="264" r:id="rId10"/>
    <p:sldId id="265" r:id="rId11"/>
    <p:sldId id="266"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BE488-5366-48E6-93D7-364AC264916B}" type="datetimeFigureOut">
              <a:rPr lang="zh-TW" altLang="en-US" smtClean="0"/>
              <a:t>2020/10/14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67589-BF3D-4CDC-99E8-E337A49CC31B}" type="slidenum">
              <a:rPr lang="zh-TW" altLang="en-US" smtClean="0"/>
              <a:t>‹#›</a:t>
            </a:fld>
            <a:endParaRPr lang="zh-TW" altLang="en-US"/>
          </a:p>
        </p:txBody>
      </p:sp>
    </p:spTree>
    <p:extLst>
      <p:ext uri="{BB962C8B-B14F-4D97-AF65-F5344CB8AC3E}">
        <p14:creationId xmlns:p14="http://schemas.microsoft.com/office/powerpoint/2010/main" val="2326005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5D67589-BF3D-4CDC-99E8-E337A49CC31B}" type="slidenum">
              <a:rPr lang="zh-TW" altLang="en-US" smtClean="0"/>
              <a:t>10</a:t>
            </a:fld>
            <a:endParaRPr lang="zh-TW" altLang="en-US"/>
          </a:p>
        </p:txBody>
      </p:sp>
    </p:spTree>
    <p:extLst>
      <p:ext uri="{BB962C8B-B14F-4D97-AF65-F5344CB8AC3E}">
        <p14:creationId xmlns:p14="http://schemas.microsoft.com/office/powerpoint/2010/main" val="174273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8A2E04-4372-4261-930D-4F29E945992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94A3750-DC24-4F4F-A302-3FC1D9B21A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08E4CDC-43F1-4C22-A638-70792F355C42}"/>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5" name="頁尾版面配置區 4">
            <a:extLst>
              <a:ext uri="{FF2B5EF4-FFF2-40B4-BE49-F238E27FC236}">
                <a16:creationId xmlns:a16="http://schemas.microsoft.com/office/drawing/2014/main" id="{0F23C7BA-2714-480C-8489-EE568DAB797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1A55455-AC34-4DD8-A25A-EC2850359ABA}"/>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728381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7C12E4-D56E-4514-95A5-3413960120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87CA2D1-3081-4420-B957-09819F309E2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CCA1B5-800D-4197-B6B4-2DA0DB87C1D1}"/>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5" name="頁尾版面配置區 4">
            <a:extLst>
              <a:ext uri="{FF2B5EF4-FFF2-40B4-BE49-F238E27FC236}">
                <a16:creationId xmlns:a16="http://schemas.microsoft.com/office/drawing/2014/main" id="{A9B3ECB2-35CC-4A47-A333-8BA5888E1C9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7A0818-8974-4304-BDB6-C82772B17C2D}"/>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4111154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4BA5BD-5C0D-4331-8B9C-D742EAE0802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4D4E6B37-1EE1-4C43-BFB4-DA2005EFA5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E2CE03A-7D02-470C-B598-78EDEE5B07BA}"/>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5" name="頁尾版面配置區 4">
            <a:extLst>
              <a:ext uri="{FF2B5EF4-FFF2-40B4-BE49-F238E27FC236}">
                <a16:creationId xmlns:a16="http://schemas.microsoft.com/office/drawing/2014/main" id="{E1A6B0F5-9ABD-413E-BDD8-AC25A4B92F6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285AE1B-A773-4DD7-ABF1-1019D202D92A}"/>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3151365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BB1630-4544-4DF7-B4D9-115FBF6FA84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6783209-5839-4E14-A83A-44B06BAE1D6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681EB0F9-8100-43E9-B763-1F97597B495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B98471B-DFC4-4D0C-9403-AA16C128FAA3}"/>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6" name="頁尾版面配置區 5">
            <a:extLst>
              <a:ext uri="{FF2B5EF4-FFF2-40B4-BE49-F238E27FC236}">
                <a16:creationId xmlns:a16="http://schemas.microsoft.com/office/drawing/2014/main" id="{0949C45B-8D59-49E9-A5A7-F4C84F9F3D8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C9EF499-333F-4472-8B44-4AC1F0DD8955}"/>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3296742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6B285E-77D4-4F81-AA00-5C12485AF82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BCA1675-D236-4BDB-BEA1-28A03EE9DE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37BE914F-BBF2-4407-8A21-7FC7E5D51E4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42D1434-880C-4816-B5E4-407273C1A2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870DA5B-9872-43A3-B947-33F42902D10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1982C41-3EB3-4633-8540-426D849E617C}"/>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8" name="頁尾版面配置區 7">
            <a:extLst>
              <a:ext uri="{FF2B5EF4-FFF2-40B4-BE49-F238E27FC236}">
                <a16:creationId xmlns:a16="http://schemas.microsoft.com/office/drawing/2014/main" id="{99A0FE20-6532-4984-B68B-0CB7C2FB56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04AA4A5-B4FC-4FF8-AEE8-75DE06D4FFEC}"/>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926219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9CDBE5-99F3-4192-910E-5C81B0899A2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CFA54A8-6554-4E18-818C-4FB404C945A4}"/>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4" name="頁尾版面配置區 3">
            <a:extLst>
              <a:ext uri="{FF2B5EF4-FFF2-40B4-BE49-F238E27FC236}">
                <a16:creationId xmlns:a16="http://schemas.microsoft.com/office/drawing/2014/main" id="{F3DAD549-2752-4E43-9684-553A8A3E8799}"/>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C6DB852-02CE-4431-8EA1-96BC0BE0623F}"/>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4190539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B81EEB4-1CA0-4557-A2C3-3B3C982D7B26}"/>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3" name="頁尾版面配置區 2">
            <a:extLst>
              <a:ext uri="{FF2B5EF4-FFF2-40B4-BE49-F238E27FC236}">
                <a16:creationId xmlns:a16="http://schemas.microsoft.com/office/drawing/2014/main" id="{98979D46-82DC-4847-A4B4-F30F08EE222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6419DC3-B370-4A90-9AF0-4BFB01025458}"/>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2366505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99EF85-CCCC-4651-879B-8BE6D689A44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4E2B68A-CFD1-4CC1-B206-493DF0B2E2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93A8F2A-DE99-423D-A909-BA03DD6F50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F866F41-CF54-44FA-8096-0D6E38319BB8}"/>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6" name="頁尾版面配置區 5">
            <a:extLst>
              <a:ext uri="{FF2B5EF4-FFF2-40B4-BE49-F238E27FC236}">
                <a16:creationId xmlns:a16="http://schemas.microsoft.com/office/drawing/2014/main" id="{05E2D0C5-B25A-4D94-850F-181946797E6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D9AEF65-1123-4939-B9CE-46E28EC665F4}"/>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3183726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518048-DD8A-4A80-BC09-DEBDA543E7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65DE4153-64D0-4AAE-B78F-6D2ADAF41F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2B90B1B-6522-4F77-AA37-06AFDEAA6A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42B0F55-FA67-4E7B-BAC7-29D5308EACE5}"/>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6" name="頁尾版面配置區 5">
            <a:extLst>
              <a:ext uri="{FF2B5EF4-FFF2-40B4-BE49-F238E27FC236}">
                <a16:creationId xmlns:a16="http://schemas.microsoft.com/office/drawing/2014/main" id="{6F1BB5B1-1F90-4391-907D-8F6F6885932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ED6E91A-21BD-4D95-8483-32F7B71947F3}"/>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829660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FA4F35-A106-4BA1-A689-FF85BC4723B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536F9D4-C66A-46C8-BCBA-EA6A8DC355B9}"/>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9AEADCC-2914-4ED3-BAF2-BB5D7149904F}"/>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5" name="頁尾版面配置區 4">
            <a:extLst>
              <a:ext uri="{FF2B5EF4-FFF2-40B4-BE49-F238E27FC236}">
                <a16:creationId xmlns:a16="http://schemas.microsoft.com/office/drawing/2014/main" id="{E4DA3353-E1C4-4531-8BB8-9A019F41902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7471C4-A01A-41CC-B142-5DC308EA78E3}"/>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3529358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6733BB6-A3CA-42B7-9754-FF4DDB74914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E03BCD0-0A43-434F-AF3D-BBA2D114135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B2BB6C-97BE-490B-BADC-E0E43391AA61}"/>
              </a:ext>
            </a:extLst>
          </p:cNvPr>
          <p:cNvSpPr>
            <a:spLocks noGrp="1"/>
          </p:cNvSpPr>
          <p:nvPr>
            <p:ph type="dt" sz="half" idx="10"/>
          </p:nvPr>
        </p:nvSpPr>
        <p:spPr/>
        <p:txBody>
          <a:bodyPr/>
          <a:lstStyle/>
          <a:p>
            <a:fld id="{EA7A8C37-6FAA-45C5-8DFB-F748A72BAAD1}" type="datetimeFigureOut">
              <a:rPr lang="zh-TW" altLang="en-US" smtClean="0"/>
              <a:t>2020/10/14</a:t>
            </a:fld>
            <a:endParaRPr lang="zh-TW" altLang="en-US"/>
          </a:p>
        </p:txBody>
      </p:sp>
      <p:sp>
        <p:nvSpPr>
          <p:cNvPr id="5" name="頁尾版面配置區 4">
            <a:extLst>
              <a:ext uri="{FF2B5EF4-FFF2-40B4-BE49-F238E27FC236}">
                <a16:creationId xmlns:a16="http://schemas.microsoft.com/office/drawing/2014/main" id="{BD7B4077-3E5C-4E7E-82AF-C33AB3A35B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7AAC698-E618-4FE1-AD82-6D6CFBE714EB}"/>
              </a:ext>
            </a:extLst>
          </p:cNvPr>
          <p:cNvSpPr>
            <a:spLocks noGrp="1"/>
          </p:cNvSpPr>
          <p:nvPr>
            <p:ph type="sldNum" sz="quarter" idx="12"/>
          </p:nvPr>
        </p:nvSpPr>
        <p:spPr/>
        <p:txBody>
          <a:body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3258839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1397950-3F4A-4F5D-A465-5E6FA86DB9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B48FF81-79C5-4095-B68A-DDE775AAF9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21F4AEF-853D-4C23-8894-F793912D7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A8C37-6FAA-45C5-8DFB-F748A72BAAD1}" type="datetimeFigureOut">
              <a:rPr lang="zh-TW" altLang="en-US" smtClean="0"/>
              <a:t>2020/10/14</a:t>
            </a:fld>
            <a:endParaRPr lang="zh-TW" altLang="en-US"/>
          </a:p>
        </p:txBody>
      </p:sp>
      <p:sp>
        <p:nvSpPr>
          <p:cNvPr id="5" name="頁尾版面配置區 4">
            <a:extLst>
              <a:ext uri="{FF2B5EF4-FFF2-40B4-BE49-F238E27FC236}">
                <a16:creationId xmlns:a16="http://schemas.microsoft.com/office/drawing/2014/main" id="{82812827-29AB-4CCF-BD79-7BDD74318F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8385768-3391-4A83-9ABF-5B91597271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329E9A-A479-435B-BFE1-4DC0AA7C96F1}" type="slidenum">
              <a:rPr lang="zh-TW" altLang="en-US" smtClean="0"/>
              <a:t>‹#›</a:t>
            </a:fld>
            <a:endParaRPr lang="zh-TW" altLang="en-US"/>
          </a:p>
        </p:txBody>
      </p:sp>
    </p:spTree>
    <p:extLst>
      <p:ext uri="{BB962C8B-B14F-4D97-AF65-F5344CB8AC3E}">
        <p14:creationId xmlns:p14="http://schemas.microsoft.com/office/powerpoint/2010/main" val="3273559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E1A3921-8266-4325-9610-46CA01BF1E1F}"/>
              </a:ext>
            </a:extLst>
          </p:cNvPr>
          <p:cNvSpPr txBox="1"/>
          <p:nvPr/>
        </p:nvSpPr>
        <p:spPr>
          <a:xfrm>
            <a:off x="831129" y="1617465"/>
            <a:ext cx="10680569" cy="1200329"/>
          </a:xfrm>
          <a:prstGeom prst="rect">
            <a:avLst/>
          </a:prstGeom>
          <a:noFill/>
        </p:spPr>
        <p:txBody>
          <a:bodyPr wrap="square">
            <a:spAutoFit/>
          </a:bodyPr>
          <a:lstStyle/>
          <a:p>
            <a:pPr algn="ctr"/>
            <a:r>
              <a:rPr lang="en-US" altLang="zh-TW" sz="3600" dirty="0">
                <a:latin typeface="Times New Roman" panose="02020603050405020304" pitchFamily="18" charset="0"/>
                <a:cs typeface="Times New Roman" panose="02020603050405020304" pitchFamily="18" charset="0"/>
              </a:rPr>
              <a:t>A Novel Efficient Graph Model for the Multiple Longest Common Subsequences (MLCS) Problem</a:t>
            </a:r>
            <a:endParaRPr lang="zh-TW" altLang="en-US" sz="36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88EEAB4F-69B3-4730-B25D-1EB0C3ED366A}"/>
              </a:ext>
            </a:extLst>
          </p:cNvPr>
          <p:cNvSpPr txBox="1"/>
          <p:nvPr/>
        </p:nvSpPr>
        <p:spPr>
          <a:xfrm>
            <a:off x="1906963" y="3567499"/>
            <a:ext cx="8528902" cy="461665"/>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Zhan Peng and </a:t>
            </a:r>
            <a:r>
              <a:rPr lang="en-US" altLang="zh-TW" sz="2400" dirty="0" err="1">
                <a:latin typeface="Times New Roman" panose="02020603050405020304" pitchFamily="18" charset="0"/>
                <a:cs typeface="Times New Roman" panose="02020603050405020304" pitchFamily="18" charset="0"/>
              </a:rPr>
              <a:t>Yuping</a:t>
            </a:r>
            <a:r>
              <a:rPr lang="en-US" altLang="zh-TW" sz="2400" dirty="0">
                <a:latin typeface="Times New Roman" panose="02020603050405020304" pitchFamily="18" charset="0"/>
                <a:cs typeface="Times New Roman" panose="02020603050405020304" pitchFamily="18" charset="0"/>
              </a:rPr>
              <a:t> Wang, Frontiers in Genetics, 8:104, 2017</a:t>
            </a:r>
            <a:endParaRPr lang="zh-TW" altLang="en-US" sz="24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CE365C05-E166-49B2-9011-858173944BCA}"/>
              </a:ext>
            </a:extLst>
          </p:cNvPr>
          <p:cNvSpPr/>
          <p:nvPr/>
        </p:nvSpPr>
        <p:spPr>
          <a:xfrm>
            <a:off x="8355289" y="5528573"/>
            <a:ext cx="3560191"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Presenter: Shao-Xuan Lee</a:t>
            </a:r>
          </a:p>
          <a:p>
            <a:r>
              <a:rPr lang="en-US" altLang="zh-TW" sz="2400" dirty="0">
                <a:latin typeface="Times New Roman" panose="02020603050405020304" pitchFamily="18" charset="0"/>
                <a:cs typeface="Times New Roman" panose="02020603050405020304" pitchFamily="18" charset="0"/>
              </a:rPr>
              <a:t>Date: Oct. 14, 2020</a:t>
            </a:r>
          </a:p>
        </p:txBody>
      </p:sp>
    </p:spTree>
    <p:extLst>
      <p:ext uri="{BB962C8B-B14F-4D97-AF65-F5344CB8AC3E}">
        <p14:creationId xmlns:p14="http://schemas.microsoft.com/office/powerpoint/2010/main" val="1259400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48E0898A-9748-4072-87BA-509B4F81AFAA}"/>
              </a:ext>
            </a:extLst>
          </p:cNvPr>
          <p:cNvSpPr txBox="1"/>
          <p:nvPr/>
        </p:nvSpPr>
        <p:spPr>
          <a:xfrm>
            <a:off x="496479" y="1206630"/>
            <a:ext cx="11387578" cy="4832092"/>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Searching for the Multiple Longest Common Subsequences (MLCS) of multiple sequences is a classical NP-hard problem, which has been used in many applications. One of the most effective exact approaches for the MLCS problem is based on dominant point graph, which is a kind of directed acyclic graph (DAG). However, the time and space efficiency of the leading dominant point graph based approaches is still unsatisfactory: constructing the dominated point graph used by these approaches requires a huge amount of time and space, which hinders the applications of these approaches to large-scale and long sequences. To address this issue, in this paper, we propose a new time and space efficient graph model called the Leveled-DAG for the MLCS problem. </a:t>
            </a:r>
            <a:endParaRPr lang="zh-TW" altLang="en-US" sz="28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B638D97B-97C0-4326-99AC-B01838FEB931}"/>
              </a:ext>
            </a:extLst>
          </p:cNvPr>
          <p:cNvSpPr txBox="1">
            <a:spLocks/>
          </p:cNvSpPr>
          <p:nvPr/>
        </p:nvSpPr>
        <p:spPr>
          <a:xfrm>
            <a:off x="496479" y="424207"/>
            <a:ext cx="2642647" cy="70701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Abstract(1/2)</a:t>
            </a:r>
            <a:endParaRPr lang="zh-TW" altLang="en-US" sz="3200" dirty="0"/>
          </a:p>
        </p:txBody>
      </p:sp>
    </p:spTree>
    <p:extLst>
      <p:ext uri="{BB962C8B-B14F-4D97-AF65-F5344CB8AC3E}">
        <p14:creationId xmlns:p14="http://schemas.microsoft.com/office/powerpoint/2010/main" val="21064170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916718F5-D33A-401E-B0E9-672BE5AA7FC9}"/>
              </a:ext>
            </a:extLst>
          </p:cNvPr>
          <p:cNvSpPr txBox="1"/>
          <p:nvPr/>
        </p:nvSpPr>
        <p:spPr>
          <a:xfrm>
            <a:off x="511403" y="1172820"/>
            <a:ext cx="11451211" cy="4832092"/>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The Leveled-DAG can timely eliminate all the nodes in the graph that cannot contribute to the construction of MLCS during constructing. At any moment, only the current level and some previously generated nodes in the graph need to be kept in memory, which can greatly reduce the memory consumption. Also, the final graph contains only one node in which all of the wanted MLCS are saved, thus, no additional operations for searching the MLCS are needed. The experiments are conducted on real biological sequences with different numbers and lengths respectively, and the proposed algorithm is compared with three state-of-the-art algorithms. The experimental results show that the time and space needed for the Leveled-DAG approach are smaller than those for the compared algorithms especially on large-scale and long sequences</a:t>
            </a:r>
            <a:endParaRPr lang="zh-TW" altLang="en-US" sz="2800" dirty="0"/>
          </a:p>
        </p:txBody>
      </p:sp>
      <p:sp>
        <p:nvSpPr>
          <p:cNvPr id="7" name="標題 1">
            <a:extLst>
              <a:ext uri="{FF2B5EF4-FFF2-40B4-BE49-F238E27FC236}">
                <a16:creationId xmlns:a16="http://schemas.microsoft.com/office/drawing/2014/main" id="{7CA01EFB-DCEC-4790-B68A-4ED9C769E806}"/>
              </a:ext>
            </a:extLst>
          </p:cNvPr>
          <p:cNvSpPr txBox="1">
            <a:spLocks/>
          </p:cNvSpPr>
          <p:nvPr/>
        </p:nvSpPr>
        <p:spPr>
          <a:xfrm>
            <a:off x="411638" y="422201"/>
            <a:ext cx="2642647" cy="70701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Abstract(2/2)</a:t>
            </a:r>
            <a:endParaRPr lang="zh-TW" altLang="en-US" sz="3200" dirty="0"/>
          </a:p>
        </p:txBody>
      </p:sp>
    </p:spTree>
    <p:extLst>
      <p:ext uri="{BB962C8B-B14F-4D97-AF65-F5344CB8AC3E}">
        <p14:creationId xmlns:p14="http://schemas.microsoft.com/office/powerpoint/2010/main" val="10294916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00117640-2425-4F2D-959D-FB82295C83EA}"/>
              </a:ext>
            </a:extLst>
          </p:cNvPr>
          <p:cNvSpPr txBox="1"/>
          <p:nvPr/>
        </p:nvSpPr>
        <p:spPr>
          <a:xfrm>
            <a:off x="466012" y="437501"/>
            <a:ext cx="11029361" cy="584775"/>
          </a:xfrm>
          <a:prstGeom prst="rect">
            <a:avLst/>
          </a:prstGeom>
          <a:noFill/>
        </p:spPr>
        <p:txBody>
          <a:bodyPr wrap="square">
            <a:spAutoFit/>
          </a:bodyPr>
          <a:lstStyle/>
          <a:p>
            <a:r>
              <a:rPr lang="en-US" altLang="zh-TW" sz="3200" dirty="0">
                <a:latin typeface="Times New Roman" panose="02020603050405020304" pitchFamily="18" charset="0"/>
                <a:cs typeface="Times New Roman" panose="02020603050405020304" pitchFamily="18" charset="0"/>
              </a:rPr>
              <a:t>Multiple Longest Common Subsequences (MLCS) problem</a:t>
            </a:r>
            <a:endParaRPr lang="zh-TW" altLang="en-US" sz="32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0E0125BC-EB31-4633-8DF6-3628C2B95896}"/>
              </a:ext>
            </a:extLst>
          </p:cNvPr>
          <p:cNvSpPr txBox="1"/>
          <p:nvPr/>
        </p:nvSpPr>
        <p:spPr>
          <a:xfrm>
            <a:off x="707011" y="1555421"/>
            <a:ext cx="4353499" cy="2554545"/>
          </a:xfrm>
          <a:prstGeom prst="rect">
            <a:avLst/>
          </a:prstGeom>
          <a:noFill/>
        </p:spPr>
        <p:txBody>
          <a:bodyPr wrap="none" rtlCol="0">
            <a:spAutoFit/>
          </a:bodyPr>
          <a:lstStyle/>
          <a:p>
            <a:pPr marL="285750" indent="-285750">
              <a:buFont typeface="Arial" panose="020B0604020202020204" pitchFamily="34" charset="0"/>
              <a:buChar char="•"/>
            </a:pPr>
            <a:r>
              <a:rPr lang="en-US" altLang="zh-TW" sz="3200" dirty="0">
                <a:latin typeface="Times New Roman" panose="02020603050405020304" pitchFamily="18" charset="0"/>
                <a:cs typeface="Times New Roman" panose="02020603050405020304" pitchFamily="18" charset="0"/>
              </a:rPr>
              <a:t>A = </a:t>
            </a:r>
            <a:r>
              <a:rPr lang="en-US" altLang="zh-TW" sz="3200" dirty="0">
                <a:solidFill>
                  <a:srgbClr val="FF0000"/>
                </a:solidFill>
                <a:latin typeface="Times New Roman" panose="02020603050405020304" pitchFamily="18" charset="0"/>
                <a:cs typeface="Times New Roman" panose="02020603050405020304" pitchFamily="18" charset="0"/>
              </a:rPr>
              <a:t>A</a:t>
            </a:r>
            <a:r>
              <a:rPr lang="en-US" altLang="zh-TW" sz="3200" dirty="0">
                <a:latin typeface="Times New Roman" panose="02020603050405020304" pitchFamily="18" charset="0"/>
                <a:cs typeface="Times New Roman" panose="02020603050405020304" pitchFamily="18" charset="0"/>
              </a:rPr>
              <a:t> </a:t>
            </a:r>
            <a:r>
              <a:rPr lang="en-US" altLang="zh-TW" sz="3200" dirty="0">
                <a:solidFill>
                  <a:srgbClr val="FF0000"/>
                </a:solidFill>
                <a:latin typeface="Times New Roman" panose="02020603050405020304" pitchFamily="18" charset="0"/>
                <a:cs typeface="Times New Roman" panose="02020603050405020304" pitchFamily="18" charset="0"/>
              </a:rPr>
              <a:t>C</a:t>
            </a:r>
            <a:r>
              <a:rPr lang="en-US" altLang="zh-TW" sz="3200" dirty="0">
                <a:latin typeface="Times New Roman" panose="02020603050405020304" pitchFamily="18" charset="0"/>
                <a:cs typeface="Times New Roman" panose="02020603050405020304" pitchFamily="18" charset="0"/>
              </a:rPr>
              <a:t> B </a:t>
            </a:r>
            <a:r>
              <a:rPr lang="en-US" altLang="zh-TW" sz="3200" dirty="0">
                <a:solidFill>
                  <a:srgbClr val="FF0000"/>
                </a:solidFill>
                <a:latin typeface="Times New Roman" panose="02020603050405020304" pitchFamily="18" charset="0"/>
                <a:cs typeface="Times New Roman" panose="02020603050405020304" pitchFamily="18" charset="0"/>
              </a:rPr>
              <a:t>A</a:t>
            </a:r>
            <a:r>
              <a:rPr lang="en-US" altLang="zh-TW" sz="3200" dirty="0">
                <a:latin typeface="Times New Roman" panose="02020603050405020304" pitchFamily="18" charset="0"/>
                <a:cs typeface="Times New Roman" panose="02020603050405020304" pitchFamily="18" charset="0"/>
              </a:rPr>
              <a:t> B</a:t>
            </a:r>
          </a:p>
          <a:p>
            <a:pPr marL="285750" indent="-285750">
              <a:buFont typeface="Arial" panose="020B0604020202020204" pitchFamily="34" charset="0"/>
              <a:buChar char="•"/>
            </a:pPr>
            <a:r>
              <a:rPr lang="en-US" altLang="zh-TW" sz="3200" dirty="0">
                <a:latin typeface="Times New Roman" panose="02020603050405020304" pitchFamily="18" charset="0"/>
                <a:cs typeface="Times New Roman" panose="02020603050405020304" pitchFamily="18" charset="0"/>
              </a:rPr>
              <a:t>B = B </a:t>
            </a:r>
            <a:r>
              <a:rPr lang="en-US" altLang="zh-TW" sz="3200" dirty="0">
                <a:solidFill>
                  <a:srgbClr val="FF0000"/>
                </a:solidFill>
                <a:latin typeface="Times New Roman" panose="02020603050405020304" pitchFamily="18" charset="0"/>
                <a:cs typeface="Times New Roman" panose="02020603050405020304" pitchFamily="18" charset="0"/>
              </a:rPr>
              <a:t>A</a:t>
            </a:r>
            <a:r>
              <a:rPr lang="en-US" altLang="zh-TW" sz="3200" dirty="0">
                <a:latin typeface="Times New Roman" panose="02020603050405020304" pitchFamily="18" charset="0"/>
                <a:cs typeface="Times New Roman" panose="02020603050405020304" pitchFamily="18" charset="0"/>
              </a:rPr>
              <a:t> </a:t>
            </a:r>
            <a:r>
              <a:rPr lang="en-US" altLang="zh-TW" sz="3200" dirty="0">
                <a:solidFill>
                  <a:srgbClr val="FF0000"/>
                </a:solidFill>
                <a:latin typeface="Times New Roman" panose="02020603050405020304" pitchFamily="18" charset="0"/>
                <a:cs typeface="Times New Roman" panose="02020603050405020304" pitchFamily="18" charset="0"/>
              </a:rPr>
              <a:t>C</a:t>
            </a:r>
            <a:r>
              <a:rPr lang="en-US" altLang="zh-TW" sz="3200" dirty="0">
                <a:latin typeface="Times New Roman" panose="02020603050405020304" pitchFamily="18" charset="0"/>
                <a:cs typeface="Times New Roman" panose="02020603050405020304" pitchFamily="18" charset="0"/>
              </a:rPr>
              <a:t> C </a:t>
            </a:r>
            <a:r>
              <a:rPr lang="en-US" altLang="zh-TW" sz="3200" dirty="0">
                <a:solidFill>
                  <a:srgbClr val="FF0000"/>
                </a:solidFill>
                <a:latin typeface="Times New Roman" panose="02020603050405020304" pitchFamily="18" charset="0"/>
                <a:cs typeface="Times New Roman" panose="02020603050405020304" pitchFamily="18" charset="0"/>
              </a:rPr>
              <a:t>A</a:t>
            </a:r>
          </a:p>
          <a:p>
            <a:pPr marL="285750" indent="-285750">
              <a:buFont typeface="Arial" panose="020B0604020202020204" pitchFamily="34" charset="0"/>
              <a:buChar char="•"/>
            </a:pPr>
            <a:r>
              <a:rPr lang="en-US" altLang="zh-TW" sz="3200" dirty="0">
                <a:latin typeface="Times New Roman" panose="02020603050405020304" pitchFamily="18" charset="0"/>
                <a:cs typeface="Times New Roman" panose="02020603050405020304" pitchFamily="18" charset="0"/>
              </a:rPr>
              <a:t>C = </a:t>
            </a:r>
            <a:r>
              <a:rPr lang="en-US" altLang="zh-TW" sz="3200" dirty="0">
                <a:solidFill>
                  <a:srgbClr val="FF0000"/>
                </a:solidFill>
                <a:latin typeface="Times New Roman" panose="02020603050405020304" pitchFamily="18" charset="0"/>
                <a:cs typeface="Times New Roman" panose="02020603050405020304" pitchFamily="18" charset="0"/>
              </a:rPr>
              <a:t>A</a:t>
            </a:r>
            <a:r>
              <a:rPr lang="en-US" altLang="zh-TW" sz="3200" dirty="0">
                <a:latin typeface="Times New Roman" panose="02020603050405020304" pitchFamily="18" charset="0"/>
                <a:cs typeface="Times New Roman" panose="02020603050405020304" pitchFamily="18" charset="0"/>
              </a:rPr>
              <a:t> C</a:t>
            </a:r>
            <a:r>
              <a:rPr lang="en-US" altLang="zh-TW" sz="3200" dirty="0">
                <a:solidFill>
                  <a:srgbClr val="FF0000"/>
                </a:solidFill>
                <a:latin typeface="Times New Roman" panose="02020603050405020304" pitchFamily="18" charset="0"/>
                <a:cs typeface="Times New Roman" panose="02020603050405020304" pitchFamily="18" charset="0"/>
              </a:rPr>
              <a:t> C</a:t>
            </a:r>
            <a:r>
              <a:rPr lang="en-US" altLang="zh-TW" sz="3200" dirty="0">
                <a:latin typeface="Times New Roman" panose="02020603050405020304" pitchFamily="18" charset="0"/>
                <a:cs typeface="Times New Roman" panose="02020603050405020304" pitchFamily="18" charset="0"/>
              </a:rPr>
              <a:t> B </a:t>
            </a:r>
            <a:r>
              <a:rPr lang="en-US" altLang="zh-TW" sz="3200" dirty="0">
                <a:solidFill>
                  <a:srgbClr val="FF0000"/>
                </a:solidFill>
                <a:latin typeface="Times New Roman" panose="02020603050405020304" pitchFamily="18" charset="0"/>
                <a:cs typeface="Times New Roman" panose="02020603050405020304" pitchFamily="18" charset="0"/>
              </a:rPr>
              <a:t>A</a:t>
            </a:r>
          </a:p>
          <a:p>
            <a:pPr marL="285750" indent="-285750">
              <a:buFont typeface="Arial" panose="020B0604020202020204" pitchFamily="34" charset="0"/>
              <a:buChar char="•"/>
            </a:pPr>
            <a:endParaRPr lang="en-US" altLang="zh-TW"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sz="3200" dirty="0">
                <a:latin typeface="Times New Roman" panose="02020603050405020304" pitchFamily="18" charset="0"/>
                <a:cs typeface="Times New Roman" panose="02020603050405020304" pitchFamily="18" charset="0"/>
              </a:rPr>
              <a:t>MLCS(A,B,C) = </a:t>
            </a:r>
            <a:r>
              <a:rPr lang="en-US" altLang="zh-TW" sz="3200" dirty="0">
                <a:solidFill>
                  <a:srgbClr val="FF0000"/>
                </a:solidFill>
                <a:latin typeface="Times New Roman" panose="02020603050405020304" pitchFamily="18" charset="0"/>
                <a:cs typeface="Times New Roman" panose="02020603050405020304" pitchFamily="18" charset="0"/>
              </a:rPr>
              <a:t>A C A</a:t>
            </a:r>
          </a:p>
        </p:txBody>
      </p:sp>
    </p:spTree>
    <p:extLst>
      <p:ext uri="{BB962C8B-B14F-4D97-AF65-F5344CB8AC3E}">
        <p14:creationId xmlns:p14="http://schemas.microsoft.com/office/powerpoint/2010/main" val="19331271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A23DD7EF-9EA4-427A-9B25-E8DD9B75C586}"/>
              </a:ext>
            </a:extLst>
          </p:cNvPr>
          <p:cNvSpPr txBox="1"/>
          <p:nvPr/>
        </p:nvSpPr>
        <p:spPr>
          <a:xfrm>
            <a:off x="496451" y="364546"/>
            <a:ext cx="9075655" cy="523220"/>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Dynamic Programming Based Approaches </a:t>
            </a:r>
            <a:endParaRPr lang="zh-TW" altLang="en-US" sz="28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1E6DA3B6-DEAD-44B5-9443-0B2C9DB37CC5}"/>
              </a:ext>
            </a:extLst>
          </p:cNvPr>
          <p:cNvPicPr>
            <a:picLocks noChangeAspect="1"/>
          </p:cNvPicPr>
          <p:nvPr/>
        </p:nvPicPr>
        <p:blipFill>
          <a:blip r:embed="rId2"/>
          <a:stretch>
            <a:fillRect/>
          </a:stretch>
        </p:blipFill>
        <p:spPr>
          <a:xfrm>
            <a:off x="651753" y="967661"/>
            <a:ext cx="7153954" cy="2338957"/>
          </a:xfrm>
          <a:prstGeom prst="rect">
            <a:avLst/>
          </a:prstGeom>
        </p:spPr>
      </p:pic>
      <p:pic>
        <p:nvPicPr>
          <p:cNvPr id="7" name="圖片 6">
            <a:extLst>
              <a:ext uri="{FF2B5EF4-FFF2-40B4-BE49-F238E27FC236}">
                <a16:creationId xmlns:a16="http://schemas.microsoft.com/office/drawing/2014/main" id="{E7E165C6-6578-42A1-AEDB-02D367B8FD69}"/>
              </a:ext>
            </a:extLst>
          </p:cNvPr>
          <p:cNvPicPr>
            <a:picLocks noChangeAspect="1"/>
          </p:cNvPicPr>
          <p:nvPr/>
        </p:nvPicPr>
        <p:blipFill>
          <a:blip r:embed="rId3"/>
          <a:stretch>
            <a:fillRect/>
          </a:stretch>
        </p:blipFill>
        <p:spPr>
          <a:xfrm>
            <a:off x="4484451" y="2865729"/>
            <a:ext cx="7600855" cy="3789762"/>
          </a:xfrm>
          <a:prstGeom prst="rect">
            <a:avLst/>
          </a:prstGeom>
        </p:spPr>
      </p:pic>
    </p:spTree>
    <p:extLst>
      <p:ext uri="{BB962C8B-B14F-4D97-AF65-F5344CB8AC3E}">
        <p14:creationId xmlns:p14="http://schemas.microsoft.com/office/powerpoint/2010/main" val="14685487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5AE32F8A-5110-4DC3-9641-D7C69A15DF16}"/>
              </a:ext>
            </a:extLst>
          </p:cNvPr>
          <p:cNvSpPr txBox="1"/>
          <p:nvPr/>
        </p:nvSpPr>
        <p:spPr>
          <a:xfrm>
            <a:off x="311085" y="237184"/>
            <a:ext cx="7878375" cy="584775"/>
          </a:xfrm>
          <a:prstGeom prst="rect">
            <a:avLst/>
          </a:prstGeom>
          <a:noFill/>
        </p:spPr>
        <p:txBody>
          <a:bodyPr wrap="square">
            <a:spAutoFit/>
          </a:bodyPr>
          <a:lstStyle/>
          <a:p>
            <a:r>
              <a:rPr lang="en-US" altLang="zh-TW" sz="3200" dirty="0">
                <a:latin typeface="Times New Roman" panose="02020603050405020304" pitchFamily="18" charset="0"/>
                <a:cs typeface="Times New Roman" panose="02020603050405020304" pitchFamily="18" charset="0"/>
              </a:rPr>
              <a:t>Dominant Point Based Approaches</a:t>
            </a:r>
            <a:endParaRPr lang="zh-TW" altLang="en-US" sz="32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5943D8E-AEF0-4EF5-A567-41D4FC0FD835}"/>
              </a:ext>
            </a:extLst>
          </p:cNvPr>
          <p:cNvPicPr>
            <a:picLocks noChangeAspect="1"/>
          </p:cNvPicPr>
          <p:nvPr/>
        </p:nvPicPr>
        <p:blipFill>
          <a:blip r:embed="rId2"/>
          <a:stretch>
            <a:fillRect/>
          </a:stretch>
        </p:blipFill>
        <p:spPr>
          <a:xfrm>
            <a:off x="4451301" y="821959"/>
            <a:ext cx="5216575" cy="5537048"/>
          </a:xfrm>
          <a:prstGeom prst="rect">
            <a:avLst/>
          </a:prstGeom>
        </p:spPr>
      </p:pic>
      <p:sp>
        <p:nvSpPr>
          <p:cNvPr id="2" name="文字方塊 1">
            <a:extLst>
              <a:ext uri="{FF2B5EF4-FFF2-40B4-BE49-F238E27FC236}">
                <a16:creationId xmlns:a16="http://schemas.microsoft.com/office/drawing/2014/main" id="{D671B2AC-424B-44E4-A616-492FC4DF37C4}"/>
              </a:ext>
            </a:extLst>
          </p:cNvPr>
          <p:cNvSpPr txBox="1"/>
          <p:nvPr/>
        </p:nvSpPr>
        <p:spPr>
          <a:xfrm>
            <a:off x="807867" y="2183906"/>
            <a:ext cx="2839432" cy="830997"/>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 = </a:t>
            </a:r>
            <a:r>
              <a:rPr lang="en-US" altLang="zh-TW" sz="2400" b="0" i="1" u="none" strike="noStrike" baseline="0" dirty="0">
                <a:latin typeface="Times New Roman" panose="02020603050405020304" pitchFamily="18" charset="0"/>
                <a:cs typeface="Times New Roman" panose="02020603050405020304" pitchFamily="18" charset="0"/>
              </a:rPr>
              <a:t>A C T A G C T A </a:t>
            </a:r>
            <a:endParaRPr lang="en-US" altLang="zh-TW" sz="2400" b="0" i="0" u="none" strike="noStrike" baseline="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B =</a:t>
            </a:r>
            <a:r>
              <a:rPr lang="en-US" altLang="zh-TW" sz="2400" b="0" i="0" u="none" strike="noStrike" baseline="0" dirty="0">
                <a:latin typeface="Times New Roman" panose="02020603050405020304" pitchFamily="18" charset="0"/>
                <a:cs typeface="Times New Roman" panose="02020603050405020304" pitchFamily="18" charset="0"/>
              </a:rPr>
              <a:t> </a:t>
            </a:r>
            <a:r>
              <a:rPr lang="en-US" altLang="zh-TW" sz="2400" b="0" i="1" u="none" strike="noStrike" baseline="0" dirty="0">
                <a:latin typeface="Times New Roman" panose="02020603050405020304" pitchFamily="18" charset="0"/>
                <a:cs typeface="Times New Roman" panose="02020603050405020304" pitchFamily="18" charset="0"/>
              </a:rPr>
              <a:t>T C A G </a:t>
            </a:r>
            <a:r>
              <a:rPr lang="en-US" altLang="zh-TW" sz="2400" b="0" i="1" u="none" strike="noStrike" baseline="0" dirty="0" err="1">
                <a:latin typeface="Times New Roman" panose="02020603050405020304" pitchFamily="18" charset="0"/>
                <a:cs typeface="Times New Roman" panose="02020603050405020304" pitchFamily="18" charset="0"/>
              </a:rPr>
              <a:t>G</a:t>
            </a:r>
            <a:r>
              <a:rPr lang="en-US" altLang="zh-TW" sz="2400" b="0" i="1" u="none" strike="noStrike" baseline="0" dirty="0">
                <a:latin typeface="Times New Roman" panose="02020603050405020304" pitchFamily="18" charset="0"/>
                <a:cs typeface="Times New Roman" panose="02020603050405020304" pitchFamily="18" charset="0"/>
              </a:rPr>
              <a:t> T A T</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2482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AA0ED22C-44DF-407D-844A-7BF1C15A70AA}"/>
              </a:ext>
            </a:extLst>
          </p:cNvPr>
          <p:cNvSpPr txBox="1"/>
          <p:nvPr/>
        </p:nvSpPr>
        <p:spPr>
          <a:xfrm>
            <a:off x="494147" y="274891"/>
            <a:ext cx="6094378" cy="584775"/>
          </a:xfrm>
          <a:prstGeom prst="rect">
            <a:avLst/>
          </a:prstGeom>
          <a:noFill/>
        </p:spPr>
        <p:txBody>
          <a:bodyPr wrap="square">
            <a:spAutoFit/>
          </a:bodyPr>
          <a:lstStyle/>
          <a:p>
            <a:r>
              <a:rPr lang="en-US" altLang="zh-TW" sz="3200" dirty="0">
                <a:latin typeface="Times New Roman" panose="02020603050405020304" pitchFamily="18" charset="0"/>
                <a:cs typeface="Times New Roman" panose="02020603050405020304" pitchFamily="18" charset="0"/>
              </a:rPr>
              <a:t>Leveled-DAG Algorithm</a:t>
            </a:r>
            <a:endParaRPr lang="zh-TW" altLang="en-US" sz="32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21BE7029-13D4-4783-8980-7E2F83195A99}"/>
              </a:ext>
            </a:extLst>
          </p:cNvPr>
          <p:cNvPicPr>
            <a:picLocks noChangeAspect="1"/>
          </p:cNvPicPr>
          <p:nvPr/>
        </p:nvPicPr>
        <p:blipFill>
          <a:blip r:embed="rId2"/>
          <a:stretch>
            <a:fillRect/>
          </a:stretch>
        </p:blipFill>
        <p:spPr>
          <a:xfrm>
            <a:off x="824887" y="2718880"/>
            <a:ext cx="10033650" cy="2582693"/>
          </a:xfrm>
          <a:prstGeom prst="rect">
            <a:avLst/>
          </a:prstGeom>
        </p:spPr>
      </p:pic>
      <p:sp>
        <p:nvSpPr>
          <p:cNvPr id="6" name="文字方塊 5">
            <a:extLst>
              <a:ext uri="{FF2B5EF4-FFF2-40B4-BE49-F238E27FC236}">
                <a16:creationId xmlns:a16="http://schemas.microsoft.com/office/drawing/2014/main" id="{85B7DA6E-4FE6-49CC-9781-FF0DB546E546}"/>
              </a:ext>
            </a:extLst>
          </p:cNvPr>
          <p:cNvSpPr txBox="1"/>
          <p:nvPr/>
        </p:nvSpPr>
        <p:spPr>
          <a:xfrm>
            <a:off x="1001950" y="1313335"/>
            <a:ext cx="3114122" cy="830997"/>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 = A C T A G C T A</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B = T C A G </a:t>
            </a:r>
            <a:r>
              <a:rPr lang="en-US" altLang="zh-TW" sz="2400" dirty="0" err="1">
                <a:latin typeface="Times New Roman" panose="02020603050405020304" pitchFamily="18" charset="0"/>
                <a:cs typeface="Times New Roman" panose="02020603050405020304" pitchFamily="18" charset="0"/>
              </a:rPr>
              <a:t>G</a:t>
            </a:r>
            <a:r>
              <a:rPr lang="en-US" altLang="zh-TW" sz="2400" dirty="0">
                <a:latin typeface="Times New Roman" panose="02020603050405020304" pitchFamily="18" charset="0"/>
                <a:cs typeface="Times New Roman" panose="02020603050405020304" pitchFamily="18" charset="0"/>
              </a:rPr>
              <a:t> T A 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173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56A86F9E-A11B-452F-B9D6-CAF236D946E7}"/>
              </a:ext>
            </a:extLst>
          </p:cNvPr>
          <p:cNvPicPr>
            <a:picLocks noChangeAspect="1"/>
          </p:cNvPicPr>
          <p:nvPr/>
        </p:nvPicPr>
        <p:blipFill>
          <a:blip r:embed="rId2"/>
          <a:stretch>
            <a:fillRect/>
          </a:stretch>
        </p:blipFill>
        <p:spPr>
          <a:xfrm>
            <a:off x="268924" y="1184715"/>
            <a:ext cx="2918713" cy="4488569"/>
          </a:xfrm>
          <a:prstGeom prst="rect">
            <a:avLst/>
          </a:prstGeom>
        </p:spPr>
      </p:pic>
      <p:pic>
        <p:nvPicPr>
          <p:cNvPr id="7" name="圖片 6">
            <a:extLst>
              <a:ext uri="{FF2B5EF4-FFF2-40B4-BE49-F238E27FC236}">
                <a16:creationId xmlns:a16="http://schemas.microsoft.com/office/drawing/2014/main" id="{79CD1C55-2654-414C-856D-1F7009D6A996}"/>
              </a:ext>
            </a:extLst>
          </p:cNvPr>
          <p:cNvPicPr>
            <a:picLocks noChangeAspect="1"/>
          </p:cNvPicPr>
          <p:nvPr/>
        </p:nvPicPr>
        <p:blipFill>
          <a:blip r:embed="rId3"/>
          <a:stretch>
            <a:fillRect/>
          </a:stretch>
        </p:blipFill>
        <p:spPr>
          <a:xfrm>
            <a:off x="4134526" y="834164"/>
            <a:ext cx="3086367" cy="5189670"/>
          </a:xfrm>
          <a:prstGeom prst="rect">
            <a:avLst/>
          </a:prstGeom>
        </p:spPr>
      </p:pic>
      <p:pic>
        <p:nvPicPr>
          <p:cNvPr id="9" name="圖片 8">
            <a:extLst>
              <a:ext uri="{FF2B5EF4-FFF2-40B4-BE49-F238E27FC236}">
                <a16:creationId xmlns:a16="http://schemas.microsoft.com/office/drawing/2014/main" id="{DF3C6AFE-7949-4825-B537-876834B3675B}"/>
              </a:ext>
            </a:extLst>
          </p:cNvPr>
          <p:cNvPicPr>
            <a:picLocks noChangeAspect="1"/>
          </p:cNvPicPr>
          <p:nvPr/>
        </p:nvPicPr>
        <p:blipFill>
          <a:blip r:embed="rId4"/>
          <a:stretch>
            <a:fillRect/>
          </a:stretch>
        </p:blipFill>
        <p:spPr>
          <a:xfrm>
            <a:off x="7379538" y="834164"/>
            <a:ext cx="4359018" cy="5143946"/>
          </a:xfrm>
          <a:prstGeom prst="rect">
            <a:avLst/>
          </a:prstGeom>
        </p:spPr>
      </p:pic>
    </p:spTree>
    <p:extLst>
      <p:ext uri="{BB962C8B-B14F-4D97-AF65-F5344CB8AC3E}">
        <p14:creationId xmlns:p14="http://schemas.microsoft.com/office/powerpoint/2010/main" val="562044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A05F347-B0E2-4BAC-A776-E6B356F2ABF6}"/>
              </a:ext>
            </a:extLst>
          </p:cNvPr>
          <p:cNvPicPr>
            <a:picLocks noChangeAspect="1"/>
          </p:cNvPicPr>
          <p:nvPr/>
        </p:nvPicPr>
        <p:blipFill>
          <a:blip r:embed="rId2"/>
          <a:stretch>
            <a:fillRect/>
          </a:stretch>
        </p:blipFill>
        <p:spPr>
          <a:xfrm>
            <a:off x="1037103" y="623563"/>
            <a:ext cx="4359018" cy="5143946"/>
          </a:xfrm>
          <a:prstGeom prst="rect">
            <a:avLst/>
          </a:prstGeom>
        </p:spPr>
      </p:pic>
      <p:pic>
        <p:nvPicPr>
          <p:cNvPr id="5" name="圖片 4">
            <a:extLst>
              <a:ext uri="{FF2B5EF4-FFF2-40B4-BE49-F238E27FC236}">
                <a16:creationId xmlns:a16="http://schemas.microsoft.com/office/drawing/2014/main" id="{5C87EB5C-DAC0-40A3-A8B1-25A2E39FE9FA}"/>
              </a:ext>
            </a:extLst>
          </p:cNvPr>
          <p:cNvPicPr>
            <a:picLocks noChangeAspect="1"/>
          </p:cNvPicPr>
          <p:nvPr/>
        </p:nvPicPr>
        <p:blipFill>
          <a:blip r:embed="rId3"/>
          <a:stretch>
            <a:fillRect/>
          </a:stretch>
        </p:blipFill>
        <p:spPr>
          <a:xfrm>
            <a:off x="6359159" y="890286"/>
            <a:ext cx="3977985" cy="4877223"/>
          </a:xfrm>
          <a:prstGeom prst="rect">
            <a:avLst/>
          </a:prstGeom>
        </p:spPr>
      </p:pic>
    </p:spTree>
    <p:extLst>
      <p:ext uri="{BB962C8B-B14F-4D97-AF65-F5344CB8AC3E}">
        <p14:creationId xmlns:p14="http://schemas.microsoft.com/office/powerpoint/2010/main" val="3398705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B52CA8D-F2BF-414D-8069-2794FE109407}"/>
              </a:ext>
            </a:extLst>
          </p:cNvPr>
          <p:cNvPicPr>
            <a:picLocks noChangeAspect="1"/>
          </p:cNvPicPr>
          <p:nvPr/>
        </p:nvPicPr>
        <p:blipFill>
          <a:blip r:embed="rId3"/>
          <a:stretch>
            <a:fillRect/>
          </a:stretch>
        </p:blipFill>
        <p:spPr>
          <a:xfrm>
            <a:off x="498045" y="990388"/>
            <a:ext cx="3977985" cy="4877223"/>
          </a:xfrm>
          <a:prstGeom prst="rect">
            <a:avLst/>
          </a:prstGeom>
        </p:spPr>
      </p:pic>
      <p:pic>
        <p:nvPicPr>
          <p:cNvPr id="5" name="圖片 4">
            <a:extLst>
              <a:ext uri="{FF2B5EF4-FFF2-40B4-BE49-F238E27FC236}">
                <a16:creationId xmlns:a16="http://schemas.microsoft.com/office/drawing/2014/main" id="{B320E5C0-6041-4DFB-9C19-2A0A18CF7383}"/>
              </a:ext>
            </a:extLst>
          </p:cNvPr>
          <p:cNvPicPr>
            <a:picLocks noChangeAspect="1"/>
          </p:cNvPicPr>
          <p:nvPr/>
        </p:nvPicPr>
        <p:blipFill>
          <a:blip r:embed="rId4"/>
          <a:stretch>
            <a:fillRect/>
          </a:stretch>
        </p:blipFill>
        <p:spPr>
          <a:xfrm>
            <a:off x="4708712" y="650923"/>
            <a:ext cx="3618164" cy="5216688"/>
          </a:xfrm>
          <a:prstGeom prst="rect">
            <a:avLst/>
          </a:prstGeom>
        </p:spPr>
      </p:pic>
      <p:pic>
        <p:nvPicPr>
          <p:cNvPr id="7" name="圖片 6">
            <a:extLst>
              <a:ext uri="{FF2B5EF4-FFF2-40B4-BE49-F238E27FC236}">
                <a16:creationId xmlns:a16="http://schemas.microsoft.com/office/drawing/2014/main" id="{ADC447D6-570A-4CE3-A954-E180F8F120FC}"/>
              </a:ext>
            </a:extLst>
          </p:cNvPr>
          <p:cNvPicPr>
            <a:picLocks noChangeAspect="1"/>
          </p:cNvPicPr>
          <p:nvPr/>
        </p:nvPicPr>
        <p:blipFill>
          <a:blip r:embed="rId5"/>
          <a:stretch>
            <a:fillRect/>
          </a:stretch>
        </p:blipFill>
        <p:spPr>
          <a:xfrm>
            <a:off x="8705473" y="454172"/>
            <a:ext cx="3411045" cy="3751230"/>
          </a:xfrm>
          <a:prstGeom prst="rect">
            <a:avLst/>
          </a:prstGeom>
        </p:spPr>
      </p:pic>
    </p:spTree>
    <p:extLst>
      <p:ext uri="{BB962C8B-B14F-4D97-AF65-F5344CB8AC3E}">
        <p14:creationId xmlns:p14="http://schemas.microsoft.com/office/powerpoint/2010/main" val="4280245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32183141-1322-44F3-A560-19225BC5B950}"/>
              </a:ext>
            </a:extLst>
          </p:cNvPr>
          <p:cNvSpPr txBox="1"/>
          <p:nvPr/>
        </p:nvSpPr>
        <p:spPr>
          <a:xfrm>
            <a:off x="348448" y="279192"/>
            <a:ext cx="6094520" cy="584775"/>
          </a:xfrm>
          <a:prstGeom prst="rect">
            <a:avLst/>
          </a:prstGeom>
          <a:noFill/>
        </p:spPr>
        <p:txBody>
          <a:bodyPr wrap="square">
            <a:spAutoFit/>
          </a:bodyPr>
          <a:lstStyle/>
          <a:p>
            <a:pPr algn="l"/>
            <a:r>
              <a:rPr lang="en-US" altLang="zh-TW" sz="3200" b="0" i="0" u="none" strike="noStrike" baseline="0" dirty="0">
                <a:latin typeface="HelveticaNeueLTStd-Bd"/>
              </a:rPr>
              <a:t>Conclusion</a:t>
            </a:r>
          </a:p>
        </p:txBody>
      </p:sp>
      <p:sp>
        <p:nvSpPr>
          <p:cNvPr id="4" name="文字方塊 3">
            <a:extLst>
              <a:ext uri="{FF2B5EF4-FFF2-40B4-BE49-F238E27FC236}">
                <a16:creationId xmlns:a16="http://schemas.microsoft.com/office/drawing/2014/main" id="{7E4CE139-810D-4E27-A7D6-21585A1638A4}"/>
              </a:ext>
            </a:extLst>
          </p:cNvPr>
          <p:cNvSpPr txBox="1"/>
          <p:nvPr/>
        </p:nvSpPr>
        <p:spPr>
          <a:xfrm>
            <a:off x="665825" y="1384917"/>
            <a:ext cx="7015062" cy="2215991"/>
          </a:xfrm>
          <a:prstGeom prst="rect">
            <a:avLst/>
          </a:prstGeom>
          <a:noFill/>
        </p:spPr>
        <p:txBody>
          <a:bodyPr wrap="none" rtlCol="0">
            <a:spAutoFit/>
          </a:bodyPr>
          <a:lstStyle/>
          <a:p>
            <a:pPr algn="l"/>
            <a:r>
              <a:rPr lang="en-US" altLang="zh-TW" sz="2400" dirty="0">
                <a:latin typeface="Times New Roman" panose="02020603050405020304" pitchFamily="18" charset="0"/>
                <a:cs typeface="Times New Roman" panose="02020603050405020304" pitchFamily="18" charset="0"/>
              </a:rPr>
              <a:t>T</a:t>
            </a:r>
            <a:r>
              <a:rPr lang="en-US" altLang="zh-TW" sz="2400" b="0" i="0" u="none" strike="noStrike" baseline="0" dirty="0">
                <a:latin typeface="Times New Roman" panose="02020603050405020304" pitchFamily="18" charset="0"/>
                <a:cs typeface="Times New Roman" panose="02020603050405020304" pitchFamily="18" charset="0"/>
              </a:rPr>
              <a:t>ime complexity</a:t>
            </a:r>
          </a:p>
          <a:p>
            <a:pPr marL="285750" indent="-285750" algn="l">
              <a:buFont typeface="Arial" panose="020B0604020202020204" pitchFamily="34" charset="0"/>
              <a:buChar char="•"/>
            </a:pPr>
            <a:r>
              <a:rPr lang="en-US" altLang="zh-TW" sz="2400" b="0" i="0" u="none" strike="noStrike" baseline="0" dirty="0">
                <a:latin typeface="Times New Roman" panose="02020603050405020304" pitchFamily="18" charset="0"/>
                <a:cs typeface="Times New Roman" panose="02020603050405020304" pitchFamily="18" charset="0"/>
              </a:rPr>
              <a:t>Build the successor table = O( d | </a:t>
            </a:r>
            <a:r>
              <a:rPr lang="el-GR" altLang="zh-TW" sz="2400" b="0" i="0" dirty="0">
                <a:solidFill>
                  <a:srgbClr val="111111"/>
                </a:solidFill>
                <a:effectLst/>
                <a:latin typeface="Times New Roman" panose="02020603050405020304" pitchFamily="18" charset="0"/>
                <a:cs typeface="Times New Roman" panose="02020603050405020304" pitchFamily="18" charset="0"/>
              </a:rPr>
              <a:t>Σ</a:t>
            </a:r>
            <a:r>
              <a:rPr lang="en-US" altLang="zh-TW" sz="2400" dirty="0">
                <a:solidFill>
                  <a:srgbClr val="111111"/>
                </a:solidFill>
                <a:effectLst/>
                <a:latin typeface="Times New Roman" panose="02020603050405020304" pitchFamily="18" charset="0"/>
                <a:cs typeface="Times New Roman" panose="02020603050405020304" pitchFamily="18" charset="0"/>
              </a:rPr>
              <a:t> </a:t>
            </a:r>
            <a:r>
              <a:rPr lang="en-US" altLang="zh-TW" sz="2400" b="0" i="0" u="none" strike="noStrike" baseline="0" dirty="0">
                <a:latin typeface="Times New Roman" panose="02020603050405020304" pitchFamily="18" charset="0"/>
                <a:cs typeface="Times New Roman" panose="02020603050405020304" pitchFamily="18" charset="0"/>
              </a:rPr>
              <a:t>| n )</a:t>
            </a:r>
          </a:p>
          <a:p>
            <a:pPr marL="285750" indent="-285750" algn="l">
              <a:buFont typeface="Arial" panose="020B0604020202020204" pitchFamily="34" charset="0"/>
              <a:buChar char="•"/>
            </a:pPr>
            <a:r>
              <a:rPr lang="en-US" altLang="zh-TW" sz="2400" b="0" i="0" u="none" strike="noStrike" baseline="0" dirty="0">
                <a:latin typeface="Times New Roman" panose="02020603050405020304" pitchFamily="18" charset="0"/>
                <a:cs typeface="Times New Roman" panose="02020603050405020304" pitchFamily="18" charset="0"/>
              </a:rPr>
              <a:t>Construct the Leveled-DAG graph = O ( 2 | Nodes | )</a:t>
            </a:r>
          </a:p>
          <a:p>
            <a:pPr marL="285750" indent="-285750" algn="l">
              <a:buFont typeface="Arial" panose="020B0604020202020204" pitchFamily="34" charset="0"/>
              <a:buChar char="•"/>
            </a:pPr>
            <a:endParaRPr lang="en-US" altLang="zh-TW" sz="2400" b="0" i="0" u="none" strike="noStrike" baseline="0" dirty="0">
              <a:latin typeface="Times New Roman" panose="02020603050405020304" pitchFamily="18" charset="0"/>
              <a:cs typeface="Times New Roman" panose="02020603050405020304" pitchFamily="18" charset="0"/>
            </a:endParaRPr>
          </a:p>
          <a:p>
            <a:pPr algn="l"/>
            <a:r>
              <a:rPr lang="en-US" altLang="zh-TW" sz="2400" dirty="0">
                <a:latin typeface="Times New Roman" panose="02020603050405020304" pitchFamily="18" charset="0"/>
                <a:cs typeface="Times New Roman" panose="02020603050405020304" pitchFamily="18" charset="0"/>
              </a:rPr>
              <a:t>S</a:t>
            </a:r>
            <a:r>
              <a:rPr lang="en-US" altLang="zh-TW" sz="2400" b="0" i="0" u="none" strike="noStrike" baseline="0" dirty="0">
                <a:latin typeface="Times New Roman" panose="02020603050405020304" pitchFamily="18" charset="0"/>
                <a:cs typeface="Times New Roman" panose="02020603050405020304" pitchFamily="18" charset="0"/>
              </a:rPr>
              <a:t>pace complexity = O ( | </a:t>
            </a:r>
            <a:r>
              <a:rPr lang="en-US" altLang="zh-TW" sz="2400" b="0" i="0" u="none" strike="noStrike" baseline="0" dirty="0" err="1">
                <a:latin typeface="Times New Roman" panose="02020603050405020304" pitchFamily="18" charset="0"/>
                <a:cs typeface="Times New Roman" panose="02020603050405020304" pitchFamily="18" charset="0"/>
              </a:rPr>
              <a:t>Max_Level</a:t>
            </a:r>
            <a:r>
              <a:rPr lang="en-US" altLang="zh-TW" sz="2400" b="0" i="0" u="none" strike="noStrike" baseline="0" dirty="0">
                <a:latin typeface="Times New Roman" panose="02020603050405020304" pitchFamily="18" charset="0"/>
                <a:cs typeface="Times New Roman" panose="02020603050405020304" pitchFamily="18" charset="0"/>
              </a:rPr>
              <a:t> | )</a:t>
            </a:r>
          </a:p>
          <a:p>
            <a:pPr algn="l"/>
            <a:endParaRPr lang="en-US" altLang="zh-TW" sz="1800" b="0" i="0" u="none" strike="noStrike" baseline="0" dirty="0">
              <a:latin typeface="MinionPro-Regular"/>
            </a:endParaRPr>
          </a:p>
        </p:txBody>
      </p:sp>
    </p:spTree>
    <p:extLst>
      <p:ext uri="{BB962C8B-B14F-4D97-AF65-F5344CB8AC3E}">
        <p14:creationId xmlns:p14="http://schemas.microsoft.com/office/powerpoint/2010/main" val="126993315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449</Words>
  <Application>Microsoft Office PowerPoint</Application>
  <PresentationFormat>寬螢幕</PresentationFormat>
  <Paragraphs>28</Paragraphs>
  <Slides>11</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HelveticaNeueLTStd-Bd</vt:lpstr>
      <vt:lpstr>MinionPro-Regular</vt: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M083040080@o365.student.nsysu.edu.tw</dc:creator>
  <cp:lastModifiedBy>pplab</cp:lastModifiedBy>
  <cp:revision>12</cp:revision>
  <dcterms:created xsi:type="dcterms:W3CDTF">2020-10-13T04:35:32Z</dcterms:created>
  <dcterms:modified xsi:type="dcterms:W3CDTF">2020-10-14T12:17:00Z</dcterms:modified>
</cp:coreProperties>
</file>