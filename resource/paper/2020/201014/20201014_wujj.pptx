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7" r:id="rId6"/>
    <p:sldId id="273" r:id="rId7"/>
    <p:sldId id="275" r:id="rId8"/>
    <p:sldId id="266" r:id="rId9"/>
    <p:sldId id="276" r:id="rId10"/>
    <p:sldId id="265" r:id="rId11"/>
    <p:sldId id="272" r:id="rId12"/>
    <p:sldId id="271"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67822" autoAdjust="0"/>
  </p:normalViewPr>
  <p:slideViewPr>
    <p:cSldViewPr snapToGrid="0">
      <p:cViewPr varScale="1">
        <p:scale>
          <a:sx n="49" d="100"/>
          <a:sy n="49" d="100"/>
        </p:scale>
        <p:origin x="1536" y="36"/>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DB784E-F7C0-4BC6-8692-189632E8A93D}" type="datetimeFigureOut">
              <a:rPr lang="zh-TW" altLang="en-US" smtClean="0"/>
              <a:t>2020/10/14</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E2C8E8-A9ED-4FC8-A9BD-912FA49017D9}" type="slidenum">
              <a:rPr lang="zh-TW" altLang="en-US" smtClean="0"/>
              <a:t>‹#›</a:t>
            </a:fld>
            <a:endParaRPr lang="zh-TW" altLang="en-US"/>
          </a:p>
        </p:txBody>
      </p:sp>
    </p:spTree>
    <p:extLst>
      <p:ext uri="{BB962C8B-B14F-4D97-AF65-F5344CB8AC3E}">
        <p14:creationId xmlns:p14="http://schemas.microsoft.com/office/powerpoint/2010/main" val="967931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researchgate.net/institution/Menoufia_University"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Temple_F._Smith"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en.wikipedia.org/wiki/Michael_S._Waterman"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a:solidFill>
                  <a:schemeClr val="tx1"/>
                </a:solidFill>
                <a:effectLst/>
                <a:latin typeface="+mn-lt"/>
                <a:ea typeface="+mn-ea"/>
                <a:cs typeface="+mn-cs"/>
              </a:rPr>
              <a:t>計算機學院的教授梅努菲亞大學</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在埃及</a:t>
            </a:r>
            <a:r>
              <a:rPr lang="en-US" altLang="zh-TW" sz="1200" b="0" i="0" u="sng" kern="1200" dirty="0" err="1">
                <a:solidFill>
                  <a:schemeClr val="tx1"/>
                </a:solidFill>
                <a:effectLst/>
                <a:latin typeface="+mn-lt"/>
                <a:ea typeface="+mn-ea"/>
                <a:cs typeface="+mn-cs"/>
                <a:hlinkClick r:id="rId3"/>
              </a:rPr>
              <a:t>Menoufia</a:t>
            </a:r>
            <a:r>
              <a:rPr lang="en-US" altLang="zh-TW" sz="1200" b="0" i="0" u="sng" kern="1200" dirty="0">
                <a:solidFill>
                  <a:schemeClr val="tx1"/>
                </a:solidFill>
                <a:effectLst/>
                <a:latin typeface="+mn-lt"/>
                <a:ea typeface="+mn-ea"/>
                <a:cs typeface="+mn-cs"/>
                <a:hlinkClick r:id="rId3"/>
              </a:rPr>
              <a:t> University · Department of Computer Science and Engineering</a:t>
            </a:r>
          </a:p>
          <a:p>
            <a:endParaRPr lang="zh-TW" altLang="en-US" dirty="0"/>
          </a:p>
        </p:txBody>
      </p:sp>
      <p:sp>
        <p:nvSpPr>
          <p:cNvPr id="4" name="投影片編號版面配置區 3"/>
          <p:cNvSpPr>
            <a:spLocks noGrp="1"/>
          </p:cNvSpPr>
          <p:nvPr>
            <p:ph type="sldNum" sz="quarter" idx="10"/>
          </p:nvPr>
        </p:nvSpPr>
        <p:spPr/>
        <p:txBody>
          <a:bodyPr/>
          <a:lstStyle/>
          <a:p>
            <a:fld id="{BBE2C8E8-A9ED-4FC8-A9BD-912FA49017D9}" type="slidenum">
              <a:rPr lang="zh-TW" altLang="en-US" smtClean="0"/>
              <a:t>1</a:t>
            </a:fld>
            <a:endParaRPr lang="zh-TW" altLang="en-US"/>
          </a:p>
        </p:txBody>
      </p:sp>
    </p:spTree>
    <p:extLst>
      <p:ext uri="{BB962C8B-B14F-4D97-AF65-F5344CB8AC3E}">
        <p14:creationId xmlns:p14="http://schemas.microsoft.com/office/powerpoint/2010/main" val="2532268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E2C8E8-A9ED-4FC8-A9BD-912FA49017D9}" type="slidenum">
              <a:rPr lang="zh-TW" altLang="en-US" smtClean="0"/>
              <a:t>3</a:t>
            </a:fld>
            <a:endParaRPr lang="zh-TW" altLang="en-US"/>
          </a:p>
        </p:txBody>
      </p:sp>
    </p:spTree>
    <p:extLst>
      <p:ext uri="{BB962C8B-B14F-4D97-AF65-F5344CB8AC3E}">
        <p14:creationId xmlns:p14="http://schemas.microsoft.com/office/powerpoint/2010/main" val="3570137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生物序列 </a:t>
            </a:r>
            <a:r>
              <a:rPr lang="en-US" altLang="zh-TW" dirty="0"/>
              <a:t>dynamic</a:t>
            </a:r>
            <a:r>
              <a:rPr lang="en-US" altLang="zh-TW" baseline="0" dirty="0"/>
              <a:t> </a:t>
            </a:r>
            <a:r>
              <a:rPr lang="zh-TW" altLang="en-US" dirty="0"/>
              <a:t>最早期的幾個實例之一。該算法是由 </a:t>
            </a:r>
            <a:r>
              <a:rPr lang="en-US" altLang="zh-TW" dirty="0"/>
              <a:t>Saul B. </a:t>
            </a:r>
            <a:r>
              <a:rPr lang="en-US" altLang="zh-TW" dirty="0" err="1"/>
              <a:t>Needlman</a:t>
            </a:r>
            <a:r>
              <a:rPr lang="zh-TW" altLang="en-US" dirty="0"/>
              <a:t>和 </a:t>
            </a:r>
            <a:r>
              <a:rPr lang="en-US" altLang="zh-TW" dirty="0"/>
              <a:t>Christian D. </a:t>
            </a:r>
            <a:r>
              <a:rPr lang="en-US" altLang="zh-TW" dirty="0" err="1"/>
              <a:t>Wunsch</a:t>
            </a:r>
            <a:r>
              <a:rPr lang="en-US" altLang="zh-TW" dirty="0"/>
              <a:t> </a:t>
            </a:r>
            <a:r>
              <a:rPr lang="zh-TW" altLang="en-US" dirty="0"/>
              <a:t>於</a:t>
            </a:r>
            <a:r>
              <a:rPr lang="en-US" altLang="zh-TW" dirty="0"/>
              <a:t>1970</a:t>
            </a:r>
            <a:r>
              <a:rPr lang="zh-TW" altLang="en-US" dirty="0"/>
              <a:t>年發明的。</a:t>
            </a:r>
            <a:endParaRPr lang="en-US" altLang="zh-TW" dirty="0"/>
          </a:p>
          <a:p>
            <a:r>
              <a:rPr lang="zh-TW" altLang="en-US" dirty="0"/>
              <a:t>找兩條序列最佳解  ，數學問題分解為一系列小問題，從小問題的解決方法重建大問題的解決方法。</a:t>
            </a:r>
            <a:endParaRPr lang="en-US" altLang="zh-TW" dirty="0"/>
          </a:p>
          <a:p>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箭頭代表在我們對準，插入，缺失。</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a:t>
            </a:r>
            <a:r>
              <a:rPr lang="en-US" altLang="zh-TW" dirty="0"/>
              <a:t>Needleman-</a:t>
            </a:r>
            <a:r>
              <a:rPr lang="en-US" altLang="zh-TW" dirty="0" err="1"/>
              <a:t>Wunsch</a:t>
            </a:r>
            <a:r>
              <a:rPr lang="zh-TW" altLang="en-US" dirty="0"/>
              <a:t>（全局性）算法中，分數跟蹤系統是基於得分矩陣的右下角開始的。</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r>
              <a:rPr lang="zh-TW" altLang="en-US" sz="1200" b="0" i="0" kern="1200" dirty="0">
                <a:solidFill>
                  <a:schemeClr val="tx1"/>
                </a:solidFill>
                <a:effectLst/>
                <a:latin typeface="+mn-lt"/>
                <a:ea typeface="+mn-ea"/>
                <a:cs typeface="+mn-cs"/>
              </a:rPr>
              <a:t>水平的箭頭表示會有一個縱</a:t>
            </a:r>
            <a:r>
              <a:rPr lang="en-US" altLang="zh-TW" sz="1200" b="0" i="0" kern="1200" dirty="0">
                <a:solidFill>
                  <a:schemeClr val="tx1"/>
                </a:solidFill>
                <a:effectLst/>
                <a:latin typeface="+mn-lt"/>
                <a:ea typeface="+mn-ea"/>
                <a:cs typeface="+mn-cs"/>
              </a:rPr>
              <a:t>(-&gt;)</a:t>
            </a:r>
            <a:r>
              <a:rPr lang="zh-TW" altLang="en-US" sz="1200" b="0" i="0" kern="1200" dirty="0">
                <a:solidFill>
                  <a:schemeClr val="tx1"/>
                </a:solidFill>
                <a:effectLst/>
                <a:latin typeface="+mn-lt"/>
                <a:ea typeface="+mn-ea"/>
                <a:cs typeface="+mn-cs"/>
              </a:rPr>
              <a:t>向序列的間隔</a:t>
            </a:r>
            <a:r>
              <a:rPr lang="en-US" altLang="zh-TW" sz="1200" b="0" i="0" kern="1200" dirty="0">
                <a:solidFill>
                  <a:schemeClr val="tx1"/>
                </a:solidFill>
                <a:effectLst/>
                <a:latin typeface="+mn-lt"/>
                <a:ea typeface="+mn-ea"/>
                <a:cs typeface="+mn-cs"/>
              </a:rPr>
              <a:t>gap(A)</a:t>
            </a:r>
          </a:p>
          <a:p>
            <a:r>
              <a:rPr lang="en-US" altLang="zh-TW" sz="1200" b="0" i="0" kern="1200" dirty="0">
                <a:solidFill>
                  <a:schemeClr val="tx1"/>
                </a:solidFill>
                <a:effectLst/>
                <a:latin typeface="+mn-lt"/>
                <a:ea typeface="+mn-ea"/>
                <a:cs typeface="+mn-cs"/>
              </a:rPr>
              <a:t>O(n</a:t>
            </a:r>
            <a:r>
              <a:rPr lang="zh-TW" altLang="en-US" sz="1200" b="0" i="0" kern="1200" dirty="0">
                <a:solidFill>
                  <a:schemeClr val="tx1"/>
                </a:solidFill>
                <a:effectLst/>
                <a:latin typeface="+mn-lt"/>
                <a:ea typeface="+mn-ea"/>
                <a:cs typeface="+mn-cs"/>
              </a:rPr>
              <a:t>三次方</a:t>
            </a:r>
            <a:r>
              <a:rPr lang="en-US" altLang="zh-TW" sz="1200" b="0" i="0" kern="1200" dirty="0">
                <a:solidFill>
                  <a:schemeClr val="tx1"/>
                </a:solidFill>
                <a:effectLst/>
                <a:latin typeface="+mn-lt"/>
                <a:ea typeface="+mn-ea"/>
                <a:cs typeface="+mn-cs"/>
              </a:rPr>
              <a:t>) </a:t>
            </a:r>
            <a:endParaRPr lang="zh-TW" altLang="en-US" dirty="0"/>
          </a:p>
        </p:txBody>
      </p:sp>
      <p:sp>
        <p:nvSpPr>
          <p:cNvPr id="4" name="投影片編號版面配置區 3"/>
          <p:cNvSpPr>
            <a:spLocks noGrp="1"/>
          </p:cNvSpPr>
          <p:nvPr>
            <p:ph type="sldNum" sz="quarter" idx="10"/>
          </p:nvPr>
        </p:nvSpPr>
        <p:spPr/>
        <p:txBody>
          <a:bodyPr/>
          <a:lstStyle/>
          <a:p>
            <a:fld id="{BBE2C8E8-A9ED-4FC8-A9BD-912FA49017D9}" type="slidenum">
              <a:rPr lang="zh-TW" altLang="en-US" smtClean="0"/>
              <a:t>4</a:t>
            </a:fld>
            <a:endParaRPr lang="zh-TW" altLang="en-US"/>
          </a:p>
        </p:txBody>
      </p:sp>
    </p:spTree>
    <p:extLst>
      <p:ext uri="{BB962C8B-B14F-4D97-AF65-F5344CB8AC3E}">
        <p14:creationId xmlns:p14="http://schemas.microsoft.com/office/powerpoint/2010/main" val="1998700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該演算法由</a:t>
            </a:r>
            <a:r>
              <a:rPr lang="en-US" altLang="zh-TW" sz="1200" b="0" i="0" kern="1200" dirty="0">
                <a:solidFill>
                  <a:schemeClr val="tx1"/>
                </a:solidFill>
                <a:effectLst/>
                <a:latin typeface="+mn-lt"/>
                <a:ea typeface="+mn-ea"/>
                <a:cs typeface="+mn-cs"/>
              </a:rPr>
              <a:t> </a:t>
            </a:r>
            <a:r>
              <a:rPr lang="en-US" altLang="zh-TW" sz="1200" b="0" i="0" u="none" strike="noStrike" kern="1200" dirty="0">
                <a:solidFill>
                  <a:schemeClr val="tx1"/>
                </a:solidFill>
                <a:effectLst/>
                <a:latin typeface="+mn-lt"/>
                <a:ea typeface="+mn-ea"/>
                <a:cs typeface="+mn-cs"/>
                <a:hlinkClick r:id="rId3" tooltip="Temple F. Smith"/>
              </a:rPr>
              <a:t>Temple F. Smith</a:t>
            </a:r>
            <a:r>
              <a:rPr lang="en-US" altLang="zh-TW" sz="1200" b="0" i="0" kern="1200" dirty="0">
                <a:solidFill>
                  <a:schemeClr val="tx1"/>
                </a:solidFill>
                <a:effectLst/>
                <a:latin typeface="+mn-lt"/>
                <a:ea typeface="+mn-ea"/>
                <a:cs typeface="+mn-cs"/>
              </a:rPr>
              <a:t> and </a:t>
            </a:r>
            <a:r>
              <a:rPr lang="en-US" altLang="zh-TW" sz="1200" b="0" i="0" u="sng" kern="1200" dirty="0">
                <a:solidFill>
                  <a:schemeClr val="tx1"/>
                </a:solidFill>
                <a:effectLst/>
                <a:latin typeface="+mn-lt"/>
                <a:ea typeface="+mn-ea"/>
                <a:cs typeface="+mn-cs"/>
                <a:hlinkClick r:id="rId4" tooltip="Michael S. Waterman"/>
              </a:rPr>
              <a:t>Michael S. Waterman</a:t>
            </a:r>
            <a:r>
              <a:rPr lang="en-US" altLang="zh-TW" sz="1200" b="0" i="0" kern="1200" dirty="0">
                <a:solidFill>
                  <a:schemeClr val="tx1"/>
                </a:solidFill>
                <a:effectLst/>
                <a:latin typeface="+mn-lt"/>
                <a:ea typeface="+mn-ea"/>
                <a:cs typeface="+mn-cs"/>
              </a:rPr>
              <a:t> </a:t>
            </a:r>
            <a:r>
              <a:rPr lang="zh-TW" altLang="en-US" dirty="0"/>
              <a:t>於</a:t>
            </a:r>
            <a:r>
              <a:rPr lang="en-US" altLang="zh-TW" dirty="0"/>
              <a:t>1981</a:t>
            </a:r>
            <a:r>
              <a:rPr lang="zh-TW" altLang="en-US" dirty="0"/>
              <a:t>年提出。</a:t>
            </a:r>
            <a:r>
              <a:rPr lang="en-US" altLang="zh-TW" sz="1200" b="0" i="0" kern="1200" dirty="0">
                <a:solidFill>
                  <a:schemeClr val="tx1"/>
                </a:solidFill>
                <a:effectLst/>
                <a:latin typeface="+mn-lt"/>
                <a:ea typeface="+mn-ea"/>
                <a:cs typeface="+mn-cs"/>
              </a:rPr>
              <a:t> DP</a:t>
            </a:r>
            <a:r>
              <a:rPr lang="zh-TW" altLang="en-US" dirty="0"/>
              <a:t>一個變體</a:t>
            </a:r>
            <a:endParaRPr lang="en-US" altLang="zh-TW" dirty="0"/>
          </a:p>
          <a:p>
            <a:endParaRPr lang="en-US" altLang="zh-TW" dirty="0"/>
          </a:p>
          <a:p>
            <a:r>
              <a:rPr lang="zh-TW" altLang="en-US" dirty="0"/>
              <a:t>區別</a:t>
            </a:r>
            <a:r>
              <a:rPr lang="en-US" altLang="zh-TW" dirty="0"/>
              <a:t>:</a:t>
            </a:r>
            <a:r>
              <a:rPr lang="zh-TW" altLang="en-US" dirty="0"/>
              <a:t>不存在負分（負分被替換為零），回溯從分數最高的矩陣元素開始</a:t>
            </a:r>
            <a:r>
              <a:rPr lang="en-US" altLang="zh-TW" dirty="0"/>
              <a:t>(</a:t>
            </a:r>
            <a:r>
              <a:rPr lang="zh-TW" altLang="en-US" dirty="0"/>
              <a:t>不一定是從右下角開始</a:t>
            </a:r>
            <a:r>
              <a:rPr lang="en-US" altLang="zh-TW" dirty="0"/>
              <a:t>)</a:t>
            </a:r>
            <a:r>
              <a:rPr lang="zh-TW" altLang="en-US" dirty="0"/>
              <a:t>，局部是成立的。</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通常無法實際應用於大規模問題，因此被替換為通用性較低但計算效率更高的替代方法</a:t>
            </a:r>
            <a:endParaRPr lang="en-US" altLang="zh-TW" dirty="0"/>
          </a:p>
          <a:p>
            <a:r>
              <a:rPr lang="en-US" altLang="zh-TW" dirty="0"/>
              <a:t>O(</a:t>
            </a:r>
            <a:r>
              <a:rPr lang="zh-TW" altLang="en-US" dirty="0"/>
              <a:t>某個序列</a:t>
            </a:r>
            <a:r>
              <a:rPr lang="en-US" altLang="zh-TW" dirty="0" err="1"/>
              <a:t>m,n</a:t>
            </a:r>
            <a:r>
              <a:rPr lang="en-US" altLang="zh-TW" baseline="0" dirty="0"/>
              <a:t> </a:t>
            </a:r>
            <a:r>
              <a:rPr lang="zh-TW" altLang="en-US" baseline="0" dirty="0"/>
              <a:t>則時間來到</a:t>
            </a:r>
            <a:r>
              <a:rPr lang="en-US" altLang="zh-TW" baseline="0" dirty="0"/>
              <a:t>n*m)</a:t>
            </a:r>
          </a:p>
          <a:p>
            <a:endParaRPr lang="zh-TW" altLang="en-US" dirty="0"/>
          </a:p>
        </p:txBody>
      </p:sp>
      <p:sp>
        <p:nvSpPr>
          <p:cNvPr id="4" name="投影片編號版面配置區 3"/>
          <p:cNvSpPr>
            <a:spLocks noGrp="1"/>
          </p:cNvSpPr>
          <p:nvPr>
            <p:ph type="sldNum" sz="quarter" idx="10"/>
          </p:nvPr>
        </p:nvSpPr>
        <p:spPr/>
        <p:txBody>
          <a:bodyPr/>
          <a:lstStyle/>
          <a:p>
            <a:fld id="{BBE2C8E8-A9ED-4FC8-A9BD-912FA49017D9}" type="slidenum">
              <a:rPr lang="zh-TW" altLang="en-US" smtClean="0"/>
              <a:t>5</a:t>
            </a:fld>
            <a:endParaRPr lang="zh-TW" altLang="en-US"/>
          </a:p>
        </p:txBody>
      </p:sp>
    </p:spTree>
    <p:extLst>
      <p:ext uri="{BB962C8B-B14F-4D97-AF65-F5344CB8AC3E}">
        <p14:creationId xmlns:p14="http://schemas.microsoft.com/office/powerpoint/2010/main" val="2535523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蛋白質氨基酸序列的相似性</a:t>
            </a:r>
            <a:endParaRPr lang="en-US" altLang="zh-TW" dirty="0"/>
          </a:p>
          <a:p>
            <a:r>
              <a:rPr lang="en-US" altLang="zh-TW" dirty="0"/>
              <a:t>(</a:t>
            </a:r>
            <a:r>
              <a:rPr lang="zh-TW" altLang="en-US" dirty="0"/>
              <a:t>全部的序列納入考慮範圍之內後進行的序列配對</a:t>
            </a:r>
            <a:r>
              <a:rPr lang="en-US" altLang="zh-TW" dirty="0"/>
              <a:t>)</a:t>
            </a:r>
            <a:r>
              <a:rPr lang="zh-TW" altLang="en-US" dirty="0"/>
              <a:t>整個序列（從起始端到結束端）來進行配對</a:t>
            </a:r>
            <a:endParaRPr lang="en-US" altLang="zh-TW" dirty="0"/>
          </a:p>
          <a:p>
            <a:pPr marL="0" indent="0">
              <a:buNone/>
            </a:pPr>
            <a:r>
              <a:rPr lang="zh-TW" altLang="en-US" dirty="0"/>
              <a:t>局部性配對用於在非同源性的基因序列中尋找具有相似性的同源的基因域</a:t>
            </a:r>
            <a:r>
              <a:rPr lang="en-US" altLang="zh-TW" dirty="0"/>
              <a:t>(</a:t>
            </a:r>
            <a:r>
              <a:rPr lang="zh-TW" altLang="en-US" dirty="0"/>
              <a:t>序列的一小部分進行優先比對</a:t>
            </a:r>
            <a:r>
              <a:rPr lang="en-US" altLang="zh-TW"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長度不一致</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當兩序列長度相差很大時，造成配對含有很長的</a:t>
            </a:r>
            <a:r>
              <a:rPr lang="en-US" altLang="zh-TW" dirty="0"/>
              <a:t>gap</a:t>
            </a:r>
            <a:r>
              <a:rPr lang="zh-TW" altLang="en-US" dirty="0"/>
              <a:t>。儘管在某處配對序列和參考序列的匹配程度相當高，在全局性配對時，將不會把這兩個片段直接進行配對，而是儘量嘗試讓參考序列內的所有鹼基都參與匹配，造成結果與局部性配對方法有極大差別。</a:t>
            </a:r>
          </a:p>
          <a:p>
            <a:endParaRPr lang="zh-TW" altLang="en-US" dirty="0"/>
          </a:p>
        </p:txBody>
      </p:sp>
      <p:sp>
        <p:nvSpPr>
          <p:cNvPr id="4" name="投影片編號版面配置區 3"/>
          <p:cNvSpPr>
            <a:spLocks noGrp="1"/>
          </p:cNvSpPr>
          <p:nvPr>
            <p:ph type="sldNum" sz="quarter" idx="10"/>
          </p:nvPr>
        </p:nvSpPr>
        <p:spPr/>
        <p:txBody>
          <a:bodyPr/>
          <a:lstStyle/>
          <a:p>
            <a:fld id="{BBE2C8E8-A9ED-4FC8-A9BD-912FA49017D9}" type="slidenum">
              <a:rPr lang="zh-TW" altLang="en-US" smtClean="0"/>
              <a:t>6</a:t>
            </a:fld>
            <a:endParaRPr lang="zh-TW" altLang="en-US"/>
          </a:p>
        </p:txBody>
      </p:sp>
    </p:spTree>
    <p:extLst>
      <p:ext uri="{BB962C8B-B14F-4D97-AF65-F5344CB8AC3E}">
        <p14:creationId xmlns:p14="http://schemas.microsoft.com/office/powerpoint/2010/main" val="2090028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不看先前的 就看有沒有</a:t>
            </a:r>
            <a:r>
              <a:rPr lang="en-US" altLang="zh-TW" dirty="0"/>
              <a:t>match </a:t>
            </a:r>
            <a:r>
              <a:rPr lang="zh-TW" altLang="en-US" dirty="0"/>
              <a:t>或 </a:t>
            </a:r>
            <a:r>
              <a:rPr lang="en-US" altLang="zh-TW" dirty="0"/>
              <a:t>mismatch</a:t>
            </a:r>
            <a:r>
              <a:rPr lang="zh-TW" altLang="en-US" dirty="0"/>
              <a:t> </a:t>
            </a:r>
            <a:endParaRPr lang="en-US" altLang="zh-TW" dirty="0"/>
          </a:p>
          <a:p>
            <a:r>
              <a:rPr lang="en-US" altLang="zh-TW" dirty="0"/>
              <a:t>Match </a:t>
            </a:r>
            <a:r>
              <a:rPr lang="zh-TW" altLang="en-US" dirty="0"/>
              <a:t>就會試斜角線</a:t>
            </a:r>
            <a:r>
              <a:rPr lang="en-US" altLang="zh-TW" dirty="0"/>
              <a:t>+1</a:t>
            </a:r>
            <a:r>
              <a:rPr lang="zh-TW" altLang="en-US" dirty="0"/>
              <a:t> ，</a:t>
            </a:r>
            <a:r>
              <a:rPr lang="en-US" altLang="zh-TW" dirty="0"/>
              <a:t>mismatch</a:t>
            </a:r>
            <a:r>
              <a:rPr lang="en-US" altLang="zh-TW" baseline="0" dirty="0"/>
              <a:t> </a:t>
            </a:r>
            <a:r>
              <a:rPr lang="zh-TW" altLang="en-US" baseline="0" dirty="0"/>
              <a:t>就會是看上面或左邊取</a:t>
            </a:r>
            <a:r>
              <a:rPr lang="en-US" altLang="zh-TW" baseline="0" dirty="0"/>
              <a:t>max</a:t>
            </a:r>
            <a:r>
              <a:rPr lang="zh-TW" altLang="en-US" baseline="0" dirty="0"/>
              <a:t>值，沒有</a:t>
            </a:r>
            <a:r>
              <a:rPr lang="en-US" altLang="zh-TW" baseline="0" dirty="0"/>
              <a:t>gap</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左邊一個  和右邊一個，兩個，三個</a:t>
            </a:r>
            <a:r>
              <a:rPr lang="en-US" altLang="zh-TW" dirty="0"/>
              <a:t>…..</a:t>
            </a:r>
          </a:p>
          <a:p>
            <a:r>
              <a:rPr lang="zh-TW" altLang="en-US" dirty="0"/>
              <a:t>左邊兩個  和</a:t>
            </a:r>
            <a:r>
              <a:rPr lang="en-US" altLang="zh-TW" dirty="0"/>
              <a:t>….</a:t>
            </a:r>
          </a:p>
          <a:p>
            <a:r>
              <a:rPr lang="zh-TW" altLang="en-US" dirty="0"/>
              <a:t>到左邊全部  和</a:t>
            </a:r>
            <a:r>
              <a:rPr lang="en-US" altLang="zh-TW" dirty="0"/>
              <a:t>…..</a:t>
            </a:r>
            <a:endParaRPr lang="zh-TW" altLang="en-US" dirty="0"/>
          </a:p>
        </p:txBody>
      </p:sp>
      <p:sp>
        <p:nvSpPr>
          <p:cNvPr id="4" name="投影片編號版面配置區 3"/>
          <p:cNvSpPr>
            <a:spLocks noGrp="1"/>
          </p:cNvSpPr>
          <p:nvPr>
            <p:ph type="sldNum" sz="quarter" idx="10"/>
          </p:nvPr>
        </p:nvSpPr>
        <p:spPr/>
        <p:txBody>
          <a:bodyPr/>
          <a:lstStyle/>
          <a:p>
            <a:fld id="{BBE2C8E8-A9ED-4FC8-A9BD-912FA49017D9}" type="slidenum">
              <a:rPr lang="zh-TW" altLang="en-US" smtClean="0"/>
              <a:t>7</a:t>
            </a:fld>
            <a:endParaRPr lang="zh-TW" altLang="en-US"/>
          </a:p>
        </p:txBody>
      </p:sp>
    </p:spTree>
    <p:extLst>
      <p:ext uri="{BB962C8B-B14F-4D97-AF65-F5344CB8AC3E}">
        <p14:creationId xmlns:p14="http://schemas.microsoft.com/office/powerpoint/2010/main" val="20637069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latin typeface="Times New Roman" panose="02020603050405020304" pitchFamily="18" charset="0"/>
                <a:cs typeface="Times New Roman" panose="02020603050405020304" pitchFamily="18" charset="0"/>
              </a:rPr>
              <a:t>不連續</a:t>
            </a:r>
          </a:p>
          <a:p>
            <a:r>
              <a:rPr lang="zh-TW" altLang="en-US" dirty="0"/>
              <a:t>左邊一個  和右邊一個，兩個，三個</a:t>
            </a:r>
            <a:r>
              <a:rPr lang="en-US" altLang="zh-TW" dirty="0"/>
              <a:t>…..</a:t>
            </a:r>
          </a:p>
          <a:p>
            <a:r>
              <a:rPr lang="en-US" altLang="zh-TW" dirty="0"/>
              <a:t>Match</a:t>
            </a:r>
            <a:r>
              <a:rPr lang="zh-TW" altLang="en-US" dirty="0"/>
              <a:t>就是斜線加</a:t>
            </a:r>
            <a:r>
              <a:rPr lang="en-US" altLang="zh-TW" dirty="0"/>
              <a:t>1</a:t>
            </a:r>
            <a:r>
              <a:rPr lang="zh-TW" altLang="en-US" dirty="0"/>
              <a:t>，左邊大 或是上面大</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BBE2C8E8-A9ED-4FC8-A9BD-912FA49017D9}" type="slidenum">
              <a:rPr lang="zh-TW" altLang="en-US" smtClean="0"/>
              <a:t>8</a:t>
            </a:fld>
            <a:endParaRPr lang="zh-TW" altLang="en-US"/>
          </a:p>
        </p:txBody>
      </p:sp>
    </p:spTree>
    <p:extLst>
      <p:ext uri="{BB962C8B-B14F-4D97-AF65-F5344CB8AC3E}">
        <p14:creationId xmlns:p14="http://schemas.microsoft.com/office/powerpoint/2010/main" val="4153607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latin typeface="Times New Roman" panose="02020603050405020304" pitchFamily="18" charset="0"/>
                <a:cs typeface="Times New Roman" panose="02020603050405020304" pitchFamily="18" charset="0"/>
              </a:rPr>
              <a:t>EDAGSA algorithm </a:t>
            </a:r>
            <a:r>
              <a:rPr lang="zh-TW" altLang="en-US" sz="1200" dirty="0">
                <a:latin typeface="Times New Roman" panose="02020603050405020304" pitchFamily="18" charset="0"/>
                <a:cs typeface="Times New Roman" panose="02020603050405020304" pitchFamily="18" charset="0"/>
              </a:rPr>
              <a:t>是找</a:t>
            </a:r>
            <a:r>
              <a:rPr lang="en-US" altLang="zh-TW" sz="1200" dirty="0">
                <a:latin typeface="Times New Roman" panose="02020603050405020304" pitchFamily="18" charset="0"/>
                <a:cs typeface="Times New Roman" panose="02020603050405020304" pitchFamily="18" charset="0"/>
              </a:rPr>
              <a:t>global</a:t>
            </a:r>
            <a:r>
              <a:rPr lang="zh-TW" altLang="en-US" sz="1200" dirty="0">
                <a:latin typeface="Times New Roman" panose="02020603050405020304" pitchFamily="18" charset="0"/>
                <a:cs typeface="Times New Roman" panose="02020603050405020304" pitchFamily="18" charset="0"/>
              </a:rPr>
              <a:t> </a:t>
            </a:r>
            <a:r>
              <a:rPr lang="en-US" altLang="zh-TW" sz="1200" dirty="0" err="1">
                <a:latin typeface="Times New Roman" panose="02020603050405020304" pitchFamily="18" charset="0"/>
                <a:cs typeface="Times New Roman" panose="02020603050405020304" pitchFamily="18" charset="0"/>
              </a:rPr>
              <a:t>apigment</a:t>
            </a:r>
            <a:r>
              <a:rPr lang="zh-TW" altLang="en-US" sz="1200" dirty="0">
                <a:latin typeface="Times New Roman" panose="02020603050405020304" pitchFamily="18" charset="0"/>
                <a:cs typeface="Times New Roman" panose="02020603050405020304" pitchFamily="18" charset="0"/>
              </a:rPr>
              <a:t> </a:t>
            </a:r>
            <a:r>
              <a:rPr lang="en-US" altLang="zh-TW" sz="1200" dirty="0">
                <a:latin typeface="Times New Roman" panose="02020603050405020304" pitchFamily="18" charset="0"/>
                <a:cs typeface="Times New Roman" panose="02020603050405020304" pitchFamily="18" charset="0"/>
              </a:rPr>
              <a:t>DP</a:t>
            </a:r>
            <a:r>
              <a:rPr lang="zh-TW" altLang="en-US" sz="1200" dirty="0">
                <a:latin typeface="Times New Roman" panose="02020603050405020304" pitchFamily="18" charset="0"/>
                <a:cs typeface="Times New Roman" panose="02020603050405020304" pitchFamily="18" charset="0"/>
              </a:rPr>
              <a:t>的最佳解</a:t>
            </a:r>
            <a:endParaRPr lang="en-US" altLang="zh-TW" sz="1200" dirty="0">
              <a:latin typeface="Times New Roman" panose="02020603050405020304" pitchFamily="18" charset="0"/>
              <a:cs typeface="Times New Roman" panose="02020603050405020304" pitchFamily="18" charset="0"/>
            </a:endParaRPr>
          </a:p>
          <a:p>
            <a:pPr marL="0" indent="0">
              <a:buNone/>
            </a:pPr>
            <a:r>
              <a:rPr lang="zh-TW" altLang="en-US" sz="1200" dirty="0">
                <a:latin typeface="Times New Roman" panose="02020603050405020304" pitchFamily="18" charset="0"/>
                <a:cs typeface="Times New Roman" panose="02020603050405020304" pitchFamily="18" charset="0"/>
              </a:rPr>
              <a:t>他也用來找</a:t>
            </a:r>
            <a:r>
              <a:rPr lang="en-US" altLang="zh-TW" sz="1200" dirty="0" err="1">
                <a:latin typeface="Times New Roman" panose="02020603050405020304" pitchFamily="18" charset="0"/>
                <a:cs typeface="Times New Roman" panose="02020603050405020304" pitchFamily="18" charset="0"/>
              </a:rPr>
              <a:t>lcs</a:t>
            </a:r>
            <a:r>
              <a:rPr lang="zh-TW" altLang="en-US" sz="1200" dirty="0">
                <a:latin typeface="Times New Roman" panose="02020603050405020304" pitchFamily="18" charset="0"/>
                <a:cs typeface="Times New Roman" panose="02020603050405020304" pitchFamily="18" charset="0"/>
              </a:rPr>
              <a:t> 他主要是忽略其他沒被使用到的</a:t>
            </a:r>
            <a:r>
              <a:rPr lang="en-US" altLang="zh-TW" sz="1200" dirty="0">
                <a:latin typeface="Times New Roman" panose="02020603050405020304" pitchFamily="18" charset="0"/>
                <a:cs typeface="Times New Roman" panose="02020603050405020304" pitchFamily="18" charset="0"/>
              </a:rPr>
              <a:t>data</a:t>
            </a:r>
            <a:r>
              <a:rPr lang="zh-TW" altLang="en-US" sz="1200" dirty="0">
                <a:latin typeface="Times New Roman" panose="02020603050405020304" pitchFamily="18" charset="0"/>
                <a:cs typeface="Times New Roman" panose="02020603050405020304" pitchFamily="18" charset="0"/>
              </a:rPr>
              <a:t>，他可以簡化執行時間和增加效率</a:t>
            </a:r>
            <a:endParaRPr lang="en-US" altLang="zh-TW" sz="1200" dirty="0">
              <a:latin typeface="Times New Roman" panose="02020603050405020304" pitchFamily="18" charset="0"/>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10"/>
          </p:nvPr>
        </p:nvSpPr>
        <p:spPr/>
        <p:txBody>
          <a:bodyPr/>
          <a:lstStyle/>
          <a:p>
            <a:fld id="{BBE2C8E8-A9ED-4FC8-A9BD-912FA49017D9}" type="slidenum">
              <a:rPr lang="zh-TW" altLang="en-US" smtClean="0"/>
              <a:t>9</a:t>
            </a:fld>
            <a:endParaRPr lang="zh-TW" altLang="en-US"/>
          </a:p>
        </p:txBody>
      </p:sp>
    </p:spTree>
    <p:extLst>
      <p:ext uri="{BB962C8B-B14F-4D97-AF65-F5344CB8AC3E}">
        <p14:creationId xmlns:p14="http://schemas.microsoft.com/office/powerpoint/2010/main" val="3166172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latin typeface="Times New Roman" panose="02020603050405020304" pitchFamily="18" charset="0"/>
                    <a:cs typeface="Times New Roman" panose="02020603050405020304" pitchFamily="18" charset="0"/>
                  </a:rPr>
                  <a:t>Needleman-</a:t>
                </a:r>
                <a:r>
                  <a:rPr lang="en-US" altLang="zh-TW" sz="1200" dirty="0" err="1">
                    <a:latin typeface="Times New Roman" panose="02020603050405020304" pitchFamily="18" charset="0"/>
                    <a:cs typeface="Times New Roman" panose="02020603050405020304" pitchFamily="18" charset="0"/>
                  </a:rPr>
                  <a:t>Wunsch</a:t>
                </a:r>
                <a:r>
                  <a:rPr lang="en-US" altLang="zh-TW" sz="1200" dirty="0">
                    <a:latin typeface="Times New Roman" panose="02020603050405020304" pitchFamily="18" charset="0"/>
                    <a:cs typeface="Times New Roman" panose="02020603050405020304" pitchFamily="18" charset="0"/>
                  </a:rPr>
                  <a:t>  O(</a:t>
                </a:r>
                <a14:m>
                  <m:oMath xmlns:m="http://schemas.openxmlformats.org/officeDocument/2006/math">
                    <m:sSup>
                      <m:sSupPr>
                        <m:ctrlPr>
                          <a:rPr lang="en-US" altLang="zh-TW" sz="1200" i="1" smtClean="0">
                            <a:latin typeface="Cambria Math" panose="02040503050406030204" pitchFamily="18" charset="0"/>
                          </a:rPr>
                        </m:ctrlPr>
                      </m:sSupPr>
                      <m:e>
                        <m:r>
                          <a:rPr lang="en-US" altLang="zh-TW" sz="1200" b="0" i="1" smtClean="0">
                            <a:latin typeface="Cambria Math" panose="02040503050406030204" pitchFamily="18" charset="0"/>
                          </a:rPr>
                          <m:t>𝑛</m:t>
                        </m:r>
                      </m:e>
                      <m:sup>
                        <m:r>
                          <a:rPr lang="en-US" altLang="zh-TW" sz="1200" b="0" i="1" smtClean="0">
                            <a:latin typeface="Cambria Math" panose="02040503050406030204" pitchFamily="18" charset="0"/>
                          </a:rPr>
                          <m:t>3</m:t>
                        </m:r>
                      </m:sup>
                    </m:sSup>
                  </m:oMath>
                </a14:m>
                <a:r>
                  <a:rPr lang="en-US" altLang="zh-TW" sz="1200" dirty="0">
                    <a:latin typeface="Times New Roman" panose="02020603050405020304" pitchFamily="18" charset="0"/>
                    <a:cs typeface="Times New Roman" panose="02020603050405020304" pitchFamily="18" charset="0"/>
                  </a:rPr>
                  <a:t>)  </a:t>
                </a:r>
                <a:r>
                  <a:rPr lang="zh-TW" altLang="en-US" sz="1200" dirty="0">
                    <a:latin typeface="Times New Roman" panose="02020603050405020304" pitchFamily="18" charset="0"/>
                    <a:cs typeface="Times New Roman" panose="02020603050405020304" pitchFamily="18" charset="0"/>
                  </a:rPr>
                  <a:t>長度依樣</a:t>
                </a:r>
                <a:br>
                  <a:rPr lang="en-US" altLang="zh-TW" sz="1200" dirty="0">
                    <a:latin typeface="Times New Roman" panose="02020603050405020304" pitchFamily="18" charset="0"/>
                    <a:cs typeface="Times New Roman" panose="02020603050405020304" pitchFamily="18" charset="0"/>
                  </a:rPr>
                </a:br>
                <a:r>
                  <a:rPr lang="en-US" altLang="zh-TW" sz="1200" dirty="0">
                    <a:latin typeface="Times New Roman" panose="02020603050405020304" pitchFamily="18" charset="0"/>
                    <a:cs typeface="Times New Roman" panose="02020603050405020304" pitchFamily="18" charset="0"/>
                  </a:rPr>
                  <a:t>Smith-Waterman  O(</a:t>
                </a:r>
                <a:r>
                  <a:rPr lang="en-US" altLang="zh-TW" sz="1200" dirty="0" err="1">
                    <a:latin typeface="Times New Roman" panose="02020603050405020304" pitchFamily="18" charset="0"/>
                    <a:cs typeface="Times New Roman" panose="02020603050405020304" pitchFamily="18" charset="0"/>
                  </a:rPr>
                  <a:t>mn</a:t>
                </a:r>
                <a:r>
                  <a:rPr lang="en-US" altLang="zh-TW" sz="1200" dirty="0">
                    <a:latin typeface="Times New Roman" panose="02020603050405020304" pitchFamily="18" charset="0"/>
                    <a:cs typeface="Times New Roman" panose="02020603050405020304" pitchFamily="18" charset="0"/>
                  </a:rPr>
                  <a:t>(</a:t>
                </a:r>
                <a:r>
                  <a:rPr lang="en-US" altLang="zh-TW" sz="1200" dirty="0" err="1">
                    <a:latin typeface="Times New Roman" panose="02020603050405020304" pitchFamily="18" charset="0"/>
                    <a:cs typeface="Times New Roman" panose="02020603050405020304" pitchFamily="18" charset="0"/>
                  </a:rPr>
                  <a:t>m+n</a:t>
                </a:r>
                <a:r>
                  <a:rPr lang="en-US" altLang="zh-TW" sz="1200" dirty="0">
                    <a:latin typeface="Times New Roman" panose="02020603050405020304" pitchFamily="18" charset="0"/>
                    <a:cs typeface="Times New Roman" panose="02020603050405020304" pitchFamily="18" charset="0"/>
                  </a:rPr>
                  <a:t>))</a:t>
                </a:r>
                <a:r>
                  <a:rPr lang="zh-TW" altLang="en-US" sz="1200" baseline="0" dirty="0">
                    <a:latin typeface="Times New Roman" panose="02020603050405020304" pitchFamily="18" charset="0"/>
                    <a:cs typeface="Times New Roman" panose="02020603050405020304" pitchFamily="18" charset="0"/>
                  </a:rPr>
                  <a:t> </a:t>
                </a:r>
                <a:r>
                  <a:rPr lang="en-US" altLang="zh-TW" sz="1200" dirty="0">
                    <a:latin typeface="Times New Roman" panose="02020603050405020304" pitchFamily="18" charset="0"/>
                    <a:cs typeface="Times New Roman" panose="02020603050405020304" pitchFamily="18" charset="0"/>
                  </a:rPr>
                  <a:t>=</a:t>
                </a:r>
                <a:r>
                  <a:rPr lang="en-US" altLang="zh-TW" sz="1200" b="0"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𝑚</m:t>
                        </m:r>
                      </m:e>
                      <m:sup>
                        <m:r>
                          <a:rPr lang="en-US" altLang="zh-TW" sz="1200" b="0" i="1" smtClean="0">
                            <a:latin typeface="Cambria Math" panose="02040503050406030204" pitchFamily="18" charset="0"/>
                          </a:rPr>
                          <m:t>2</m:t>
                        </m:r>
                      </m:sup>
                    </m:sSup>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oMath>
                </a14:m>
                <a:endParaRPr lang="zh-TW" alt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dirty="0" err="1">
                    <a:latin typeface="Times New Roman" panose="02020603050405020304" pitchFamily="18" charset="0"/>
                    <a:cs typeface="Times New Roman" panose="02020603050405020304" pitchFamily="18" charset="0"/>
                  </a:rPr>
                  <a:t>Lcs</a:t>
                </a:r>
                <a:r>
                  <a:rPr lang="en-US" altLang="zh-TW" sz="1200" b="0" i="0" dirty="0">
                    <a:latin typeface="Times New Roman" panose="02020603050405020304" pitchFamily="18" charset="0"/>
                    <a:cs typeface="Times New Roman" panose="02020603050405020304" pitchFamily="18" charset="0"/>
                  </a:rPr>
                  <a:t>                O(</a:t>
                </a:r>
                <a:r>
                  <a:rPr lang="en-US" altLang="zh-TW" sz="1200" b="0" i="0" dirty="0" err="1">
                    <a:latin typeface="Times New Roman" panose="02020603050405020304" pitchFamily="18" charset="0"/>
                    <a:cs typeface="Times New Roman" panose="02020603050405020304" pitchFamily="18" charset="0"/>
                  </a:rPr>
                  <a:t>mn</a:t>
                </a:r>
                <a14:m>
                  <m:oMath xmlns:m="http://schemas.openxmlformats.org/officeDocument/2006/math">
                    <m:r>
                      <a:rPr lang="en-US" altLang="zh-TW" sz="1200" b="0" i="1" smtClean="0">
                        <a:latin typeface="Cambria Math" panose="02040503050406030204" pitchFamily="18" charset="0"/>
                      </a:rPr>
                      <m:t>)</m:t>
                    </m:r>
                  </m:oMath>
                </a14:m>
                <a:r>
                  <a:rPr lang="zh-TW" altLang="en-US" sz="1200" dirty="0">
                    <a:latin typeface="Times New Roman" panose="02020603050405020304" pitchFamily="18" charset="0"/>
                    <a:cs typeface="Times New Roman" panose="02020603050405020304" pitchFamily="18" charset="0"/>
                  </a:rPr>
                  <a:t> </a:t>
                </a: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latin typeface="Times New Roman" panose="02020603050405020304" pitchFamily="18" charset="0"/>
                    <a:cs typeface="Times New Roman" panose="02020603050405020304" pitchFamily="18" charset="0"/>
                  </a:rPr>
                  <a:t>EDAGSA      O(3*M+1)</a:t>
                </a:r>
                <a:endParaRPr lang="zh-TW" altLang="en-US" sz="1200" dirty="0">
                  <a:latin typeface="Times New Roman" panose="02020603050405020304" pitchFamily="18" charset="0"/>
                  <a:cs typeface="Times New Roman" panose="02020603050405020304" pitchFamily="18" charset="0"/>
                </a:endParaRPr>
              </a:p>
              <a:p>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latin typeface="Times New Roman" panose="02020603050405020304" pitchFamily="18" charset="0"/>
                    <a:cs typeface="Times New Roman" panose="02020603050405020304" pitchFamily="18" charset="0"/>
                  </a:rPr>
                  <a:t>Needleman-</a:t>
                </a:r>
                <a:r>
                  <a:rPr lang="en-US" altLang="zh-TW" sz="1200" dirty="0" err="1" smtClean="0">
                    <a:latin typeface="Times New Roman" panose="02020603050405020304" pitchFamily="18" charset="0"/>
                    <a:cs typeface="Times New Roman" panose="02020603050405020304" pitchFamily="18" charset="0"/>
                  </a:rPr>
                  <a:t>Wunsch</a:t>
                </a:r>
                <a:r>
                  <a:rPr lang="en-US" altLang="zh-TW" sz="1200" dirty="0" smtClean="0">
                    <a:latin typeface="Times New Roman" panose="02020603050405020304" pitchFamily="18" charset="0"/>
                    <a:cs typeface="Times New Roman" panose="02020603050405020304" pitchFamily="18" charset="0"/>
                  </a:rPr>
                  <a:t>  O(</a:t>
                </a:r>
                <a:r>
                  <a:rPr lang="en-US" altLang="zh-TW" sz="1200" b="0" i="0" smtClean="0">
                    <a:latin typeface="Cambria Math" panose="02040503050406030204" pitchFamily="18" charset="0"/>
                  </a:rPr>
                  <a:t>𝑛^3</a:t>
                </a:r>
                <a:r>
                  <a:rPr lang="en-US" altLang="zh-TW" sz="1200" dirty="0" smtClean="0">
                    <a:latin typeface="Times New Roman" panose="02020603050405020304" pitchFamily="18" charset="0"/>
                    <a:cs typeface="Times New Roman" panose="02020603050405020304" pitchFamily="18" charset="0"/>
                  </a:rPr>
                  <a:t>)  </a:t>
                </a:r>
                <a:r>
                  <a:rPr lang="zh-TW" altLang="en-US" sz="1200" dirty="0" smtClean="0">
                    <a:latin typeface="Times New Roman" panose="02020603050405020304" pitchFamily="18" charset="0"/>
                    <a:cs typeface="Times New Roman" panose="02020603050405020304" pitchFamily="18" charset="0"/>
                  </a:rPr>
                  <a:t>長度依樣</a:t>
                </a:r>
                <a:r>
                  <a:rPr lang="en-US" altLang="zh-TW" sz="1200" dirty="0" smtClean="0">
                    <a:latin typeface="Times New Roman" panose="02020603050405020304" pitchFamily="18" charset="0"/>
                    <a:cs typeface="Times New Roman" panose="02020603050405020304" pitchFamily="18" charset="0"/>
                  </a:rPr>
                  <a:t/>
                </a:r>
                <a:br>
                  <a:rPr lang="en-US" altLang="zh-TW" sz="1200" dirty="0" smtClean="0">
                    <a:latin typeface="Times New Roman" panose="02020603050405020304" pitchFamily="18" charset="0"/>
                    <a:cs typeface="Times New Roman" panose="02020603050405020304" pitchFamily="18" charset="0"/>
                  </a:rPr>
                </a:br>
                <a:r>
                  <a:rPr lang="en-US" altLang="zh-TW" sz="1200" dirty="0" smtClean="0">
                    <a:latin typeface="Times New Roman" panose="02020603050405020304" pitchFamily="18" charset="0"/>
                    <a:cs typeface="Times New Roman" panose="02020603050405020304" pitchFamily="18" charset="0"/>
                  </a:rPr>
                  <a:t>Smith-Waterman  O(</a:t>
                </a:r>
                <a:r>
                  <a:rPr lang="en-US" altLang="zh-TW" sz="1200" dirty="0" err="1" smtClean="0">
                    <a:latin typeface="Times New Roman" panose="02020603050405020304" pitchFamily="18" charset="0"/>
                    <a:cs typeface="Times New Roman" panose="02020603050405020304" pitchFamily="18" charset="0"/>
                  </a:rPr>
                  <a:t>mn</a:t>
                </a:r>
                <a:r>
                  <a:rPr lang="en-US" altLang="zh-TW" sz="1200" dirty="0" smtClean="0">
                    <a:latin typeface="Times New Roman" panose="02020603050405020304" pitchFamily="18" charset="0"/>
                    <a:cs typeface="Times New Roman" panose="02020603050405020304" pitchFamily="18" charset="0"/>
                  </a:rPr>
                  <a:t>(</a:t>
                </a:r>
                <a:r>
                  <a:rPr lang="en-US" altLang="zh-TW" sz="1200" dirty="0" err="1" smtClean="0">
                    <a:latin typeface="Times New Roman" panose="02020603050405020304" pitchFamily="18" charset="0"/>
                    <a:cs typeface="Times New Roman" panose="02020603050405020304" pitchFamily="18" charset="0"/>
                  </a:rPr>
                  <a:t>m+n</a:t>
                </a:r>
                <a:r>
                  <a:rPr lang="en-US" altLang="zh-TW" sz="1200" dirty="0" smtClean="0">
                    <a:latin typeface="Times New Roman" panose="02020603050405020304" pitchFamily="18" charset="0"/>
                    <a:cs typeface="Times New Roman" panose="02020603050405020304" pitchFamily="18" charset="0"/>
                  </a:rPr>
                  <a:t>))</a:t>
                </a:r>
                <a:r>
                  <a:rPr lang="zh-TW" altLang="en-US" sz="1200" baseline="0" dirty="0" smtClean="0">
                    <a:latin typeface="Times New Roman" panose="02020603050405020304" pitchFamily="18" charset="0"/>
                    <a:cs typeface="Times New Roman" panose="02020603050405020304" pitchFamily="18" charset="0"/>
                  </a:rPr>
                  <a:t> </a:t>
                </a:r>
                <a:r>
                  <a:rPr lang="en-US" altLang="zh-TW" sz="1200" dirty="0" smtClean="0">
                    <a:latin typeface="Times New Roman" panose="02020603050405020304" pitchFamily="18" charset="0"/>
                    <a:cs typeface="Times New Roman" panose="02020603050405020304" pitchFamily="18" charset="0"/>
                  </a:rPr>
                  <a:t>=</a:t>
                </a:r>
                <a:r>
                  <a:rPr lang="en-US" altLang="zh-TW" sz="1200" b="0" dirty="0" smtClean="0">
                    <a:latin typeface="Times New Roman" panose="02020603050405020304" pitchFamily="18" charset="0"/>
                    <a:cs typeface="Times New Roman" panose="02020603050405020304" pitchFamily="18" charset="0"/>
                  </a:rPr>
                  <a:t>O(</a:t>
                </a:r>
                <a:r>
                  <a:rPr lang="en-US" altLang="zh-TW" sz="1200" b="0" i="0" smtClean="0">
                    <a:latin typeface="Cambria Math" panose="02040503050406030204" pitchFamily="18" charset="0"/>
                  </a:rPr>
                  <a:t>𝑚^2 𝑛)</a:t>
                </a:r>
                <a:endParaRPr lang="zh-TW" altLang="en-US" sz="1200" dirty="0" smtClean="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dirty="0" err="1" smtClean="0">
                    <a:latin typeface="Times New Roman" panose="02020603050405020304" pitchFamily="18" charset="0"/>
                    <a:cs typeface="Times New Roman" panose="02020603050405020304" pitchFamily="18" charset="0"/>
                  </a:rPr>
                  <a:t>Lcs</a:t>
                </a:r>
                <a:r>
                  <a:rPr lang="en-US" altLang="zh-TW" sz="1200" b="0" i="0" dirty="0" smtClean="0">
                    <a:latin typeface="Times New Roman" panose="02020603050405020304" pitchFamily="18" charset="0"/>
                    <a:cs typeface="Times New Roman" panose="02020603050405020304" pitchFamily="18" charset="0"/>
                  </a:rPr>
                  <a:t>                O(</a:t>
                </a:r>
                <a:r>
                  <a:rPr lang="en-US" altLang="zh-TW" sz="1200" b="0" i="0" dirty="0" err="1" smtClean="0">
                    <a:latin typeface="Times New Roman" panose="02020603050405020304" pitchFamily="18" charset="0"/>
                    <a:cs typeface="Times New Roman" panose="02020603050405020304" pitchFamily="18" charset="0"/>
                  </a:rPr>
                  <a:t>mn</a:t>
                </a:r>
                <a:r>
                  <a:rPr lang="en-US" altLang="zh-TW" sz="1200" b="0" i="0" smtClean="0">
                    <a:latin typeface="Cambria Math" panose="02040503050406030204" pitchFamily="18" charset="0"/>
                  </a:rPr>
                  <a:t>)</a:t>
                </a:r>
                <a:r>
                  <a:rPr lang="zh-TW" altLang="en-US" sz="1200" dirty="0" smtClean="0">
                    <a:latin typeface="Times New Roman" panose="02020603050405020304" pitchFamily="18" charset="0"/>
                    <a:cs typeface="Times New Roman" panose="02020603050405020304" pitchFamily="18" charset="0"/>
                  </a:rPr>
                  <a:t> </a:t>
                </a:r>
                <a:endParaRPr lang="en-US" altLang="zh-TW" sz="1200" dirty="0" smtClean="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smtClean="0">
                    <a:latin typeface="Times New Roman" panose="02020603050405020304" pitchFamily="18" charset="0"/>
                    <a:cs typeface="Times New Roman" panose="02020603050405020304" pitchFamily="18" charset="0"/>
                  </a:rPr>
                  <a:t>EDAGSA      O(3*M+1)</a:t>
                </a:r>
                <a:endParaRPr lang="zh-TW" altLang="en-US" sz="1200" dirty="0">
                  <a:latin typeface="Times New Roman" panose="02020603050405020304" pitchFamily="18" charset="0"/>
                  <a:cs typeface="Times New Roman" panose="02020603050405020304" pitchFamily="18" charset="0"/>
                </a:endParaRPr>
              </a:p>
              <a:p>
                <a:endParaRPr lang="zh-TW" altLang="en-US" sz="1200" dirty="0">
                  <a:latin typeface="Times New Roman" panose="02020603050405020304" pitchFamily="18" charset="0"/>
                  <a:cs typeface="Times New Roman" panose="02020603050405020304" pitchFamily="18" charset="0"/>
                </a:endParaRPr>
              </a:p>
            </p:txBody>
          </p:sp>
        </mc:Fallback>
      </mc:AlternateContent>
      <p:sp>
        <p:nvSpPr>
          <p:cNvPr id="4" name="投影片編號版面配置區 3"/>
          <p:cNvSpPr>
            <a:spLocks noGrp="1"/>
          </p:cNvSpPr>
          <p:nvPr>
            <p:ph type="sldNum" sz="quarter" idx="10"/>
          </p:nvPr>
        </p:nvSpPr>
        <p:spPr/>
        <p:txBody>
          <a:bodyPr/>
          <a:lstStyle/>
          <a:p>
            <a:fld id="{BBE2C8E8-A9ED-4FC8-A9BD-912FA49017D9}" type="slidenum">
              <a:rPr lang="zh-TW" altLang="en-US" smtClean="0"/>
              <a:t>10</a:t>
            </a:fld>
            <a:endParaRPr lang="zh-TW" altLang="en-US"/>
          </a:p>
        </p:txBody>
      </p:sp>
    </p:spTree>
    <p:extLst>
      <p:ext uri="{BB962C8B-B14F-4D97-AF65-F5344CB8AC3E}">
        <p14:creationId xmlns:p14="http://schemas.microsoft.com/office/powerpoint/2010/main" val="3544726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他發表了</a:t>
            </a:r>
            <a:r>
              <a:rPr lang="en-US" altLang="zh-TW" dirty="0"/>
              <a:t>EDAGS</a:t>
            </a:r>
            <a:r>
              <a:rPr lang="zh-TW" altLang="en-US" dirty="0"/>
              <a:t>Ａ　忽略不使用的資料</a:t>
            </a:r>
            <a:endParaRPr lang="en-US" altLang="zh-TW" dirty="0"/>
          </a:p>
          <a:p>
            <a:r>
              <a:rPr lang="zh-TW" altLang="en-US" dirty="0"/>
              <a:t>只計算來自三個方向的數值 來減少執行時間 ，增加效率，減少記憶體配置</a:t>
            </a:r>
          </a:p>
        </p:txBody>
      </p:sp>
      <p:sp>
        <p:nvSpPr>
          <p:cNvPr id="4" name="投影片編號版面配置區 3"/>
          <p:cNvSpPr>
            <a:spLocks noGrp="1"/>
          </p:cNvSpPr>
          <p:nvPr>
            <p:ph type="sldNum" sz="quarter" idx="10"/>
          </p:nvPr>
        </p:nvSpPr>
        <p:spPr/>
        <p:txBody>
          <a:bodyPr/>
          <a:lstStyle/>
          <a:p>
            <a:fld id="{BBE2C8E8-A9ED-4FC8-A9BD-912FA49017D9}" type="slidenum">
              <a:rPr lang="zh-TW" altLang="en-US" smtClean="0"/>
              <a:t>11</a:t>
            </a:fld>
            <a:endParaRPr lang="zh-TW" altLang="en-US"/>
          </a:p>
        </p:txBody>
      </p:sp>
    </p:spTree>
    <p:extLst>
      <p:ext uri="{BB962C8B-B14F-4D97-AF65-F5344CB8AC3E}">
        <p14:creationId xmlns:p14="http://schemas.microsoft.com/office/powerpoint/2010/main" val="2600424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1289378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2043183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3588079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2356418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1500277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560673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2674117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118055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143046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219924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F31B5A03-6780-483B-B324-4B0CB408AC0D}" type="datetimeFigureOut">
              <a:rPr lang="zh-TW" altLang="en-US" smtClean="0"/>
              <a:t>2020/10/14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755506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1B5A03-6780-483B-B324-4B0CB408AC0D}" type="datetimeFigureOut">
              <a:rPr lang="zh-TW" altLang="en-US" smtClean="0"/>
              <a:t>2020/10/14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55F44F-D3B5-44D5-8A19-3B4F0028CE4E}" type="slidenum">
              <a:rPr lang="zh-TW" altLang="en-US" smtClean="0"/>
              <a:t>‹#›</a:t>
            </a:fld>
            <a:endParaRPr lang="zh-TW" altLang="en-US"/>
          </a:p>
        </p:txBody>
      </p:sp>
    </p:spTree>
    <p:extLst>
      <p:ext uri="{BB962C8B-B14F-4D97-AF65-F5344CB8AC3E}">
        <p14:creationId xmlns:p14="http://schemas.microsoft.com/office/powerpoint/2010/main" val="879161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t>Enhanced Dynamic Algorithm of Genome Sequence Alignments</a:t>
            </a:r>
            <a:br>
              <a:rPr lang="en-US" altLang="zh-TW" dirty="0"/>
            </a:br>
            <a:endParaRPr lang="zh-TW" altLang="en-US" dirty="0"/>
          </a:p>
        </p:txBody>
      </p:sp>
      <p:sp>
        <p:nvSpPr>
          <p:cNvPr id="3" name="副標題 2"/>
          <p:cNvSpPr>
            <a:spLocks noGrp="1"/>
          </p:cNvSpPr>
          <p:nvPr>
            <p:ph type="subTitle" idx="1"/>
          </p:nvPr>
        </p:nvSpPr>
        <p:spPr>
          <a:xfrm>
            <a:off x="1107831" y="3077308"/>
            <a:ext cx="9560169" cy="2180492"/>
          </a:xfrm>
        </p:spPr>
        <p:txBody>
          <a:bodyPr>
            <a:normAutofit/>
          </a:bodyPr>
          <a:lstStyle/>
          <a:p>
            <a:r>
              <a:rPr lang="en-US" altLang="zh-TW" sz="2800" b="1" dirty="0" err="1"/>
              <a:t>Arabi</a:t>
            </a:r>
            <a:r>
              <a:rPr lang="en-US" altLang="zh-TW" sz="2800" b="1" dirty="0"/>
              <a:t> E. </a:t>
            </a:r>
            <a:r>
              <a:rPr lang="en-US" altLang="zh-TW" sz="2800" b="1" dirty="0" err="1"/>
              <a:t>keshk</a:t>
            </a:r>
            <a:endParaRPr lang="en-US" altLang="zh-TW" sz="2800" b="1" dirty="0"/>
          </a:p>
          <a:p>
            <a:r>
              <a:rPr lang="en-US" altLang="zh-TW" sz="2800" i="1" dirty="0">
                <a:latin typeface="Times New Roman" panose="02020603050405020304" pitchFamily="18" charset="0"/>
                <a:cs typeface="Times New Roman" panose="02020603050405020304" pitchFamily="18" charset="0"/>
              </a:rPr>
              <a:t>International Journal of Information Technology and Computer Science, </a:t>
            </a:r>
            <a:r>
              <a:rPr lang="en-US" altLang="zh-TW" sz="2800" dirty="0">
                <a:latin typeface="Times New Roman" panose="02020603050405020304" pitchFamily="18" charset="0"/>
                <a:cs typeface="Times New Roman" panose="02020603050405020304" pitchFamily="18" charset="0"/>
              </a:rPr>
              <a:t>2014, vol.06,no.6, pp.40-46</a:t>
            </a:r>
            <a:endParaRPr lang="zh-TW" altLang="en-US" sz="2800"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7913077" y="5257800"/>
            <a:ext cx="4079631" cy="830997"/>
          </a:xfrm>
          <a:prstGeom prst="rect">
            <a:avLst/>
          </a:prstGeom>
          <a:noFill/>
        </p:spPr>
        <p:txBody>
          <a:bodyPr wrap="square" rtlCol="0">
            <a:spAutoFit/>
          </a:bodyPr>
          <a:lstStyle/>
          <a:p>
            <a:pPr lvl="1"/>
            <a:r>
              <a:rPr lang="en-US" altLang="zh-TW" sz="2400" dirty="0">
                <a:latin typeface="Times New Roman" panose="02020603050405020304" pitchFamily="18" charset="0"/>
                <a:cs typeface="Times New Roman" panose="02020603050405020304" pitchFamily="18" charset="0"/>
              </a:rPr>
              <a:t>Presenter: </a:t>
            </a:r>
            <a:r>
              <a:rPr lang="en-US" altLang="zh-TW" sz="2400" dirty="0" err="1">
                <a:latin typeface="Times New Roman" panose="02020603050405020304" pitchFamily="18" charset="0"/>
                <a:cs typeface="Times New Roman" panose="02020603050405020304" pitchFamily="18" charset="0"/>
              </a:rPr>
              <a:t>Jue</a:t>
            </a:r>
            <a:r>
              <a:rPr lang="en-US" altLang="zh-TW" sz="2400" dirty="0">
                <a:latin typeface="Times New Roman" panose="02020603050405020304" pitchFamily="18" charset="0"/>
                <a:cs typeface="Times New Roman" panose="02020603050405020304" pitchFamily="18" charset="0"/>
              </a:rPr>
              <a:t>-Jun Wu</a:t>
            </a:r>
          </a:p>
          <a:p>
            <a:pPr lvl="1"/>
            <a:r>
              <a:rPr lang="en-US" altLang="zh-TW" sz="2400" dirty="0">
                <a:latin typeface="Times New Roman" panose="02020603050405020304" pitchFamily="18" charset="0"/>
                <a:cs typeface="Times New Roman" panose="02020603050405020304" pitchFamily="18" charset="0"/>
              </a:rPr>
              <a:t>Date: Oct. 14,2020</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4527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600" dirty="0">
                <a:latin typeface="Times New Roman" panose="02020603050405020304" pitchFamily="18" charset="0"/>
                <a:cs typeface="Times New Roman" panose="02020603050405020304" pitchFamily="18" charset="0"/>
              </a:rPr>
              <a:t>Abstract(1/2)</a:t>
            </a:r>
            <a:br>
              <a:rPr lang="en-US" altLang="zh-TW" dirty="0">
                <a:latin typeface="Times New Roman" panose="02020603050405020304" pitchFamily="18" charset="0"/>
                <a:cs typeface="Times New Roman" panose="02020603050405020304" pitchFamily="18" charset="0"/>
              </a:rPr>
            </a:b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1070873" y="1348297"/>
            <a:ext cx="10515600" cy="4351338"/>
          </a:xfrm>
        </p:spPr>
        <p:txBody>
          <a:bodyPr>
            <a:noAutofit/>
          </a:bodyPr>
          <a:lstStyle/>
          <a:p>
            <a:pPr marL="0" indent="0">
              <a:buNone/>
            </a:pP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The merging of biology and computer science has created a new field called computational biology that explore the capacities of computers to gain knowledge from biological data, bioinformatics. Computational biology is rooted in life sciences as well as computers, information sciences, and technologies. The main problem in computational biology is sequence alignment that is a way of arranging the sequences of DNA, RNA or protein to identify the region of similarity and relationship between sequences. This paper introduces an enhancement of dynamic algorithm of genome sequence alignment, which called EDAGSA.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0711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Abstract(2/2)</a:t>
            </a:r>
            <a:endParaRPr lang="zh-TW" altLang="en-US" sz="36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0" indent="0">
              <a:buNone/>
            </a:pPr>
            <a:r>
              <a:rPr lang="en-US" altLang="zh-TW" dirty="0"/>
              <a:t>	</a:t>
            </a:r>
            <a:r>
              <a:rPr lang="en-US" altLang="zh-TW" dirty="0">
                <a:latin typeface="Times New Roman" panose="02020603050405020304" pitchFamily="18" charset="0"/>
                <a:cs typeface="Times New Roman" panose="02020603050405020304" pitchFamily="18" charset="0"/>
              </a:rPr>
              <a:t>It is filling the three main diagonals without filling the entire matrix by the unused data. It gets the optimal solution with decreasing the execution time and therefore the performance is increased. </a:t>
            </a:r>
            <a:br>
              <a:rPr lang="en-US" altLang="zh-TW" dirty="0">
                <a:latin typeface="Times New Roman" panose="02020603050405020304" pitchFamily="18" charset="0"/>
                <a:cs typeface="Times New Roman" panose="02020603050405020304" pitchFamily="18" charset="0"/>
              </a:rPr>
            </a:br>
            <a:r>
              <a:rPr lang="en-US" altLang="zh-TW" dirty="0">
                <a:latin typeface="Times New Roman" panose="02020603050405020304" pitchFamily="18" charset="0"/>
                <a:cs typeface="Times New Roman" panose="02020603050405020304" pitchFamily="18" charset="0"/>
              </a:rPr>
              <a:t>To illustrate the effectiveness of optimizing the performance of the proposed algorithm, it is compared with the traditional methods such as Needleman-</a:t>
            </a:r>
            <a:r>
              <a:rPr lang="en-US" altLang="zh-TW" dirty="0" err="1">
                <a:latin typeface="Times New Roman" panose="02020603050405020304" pitchFamily="18" charset="0"/>
                <a:cs typeface="Times New Roman" panose="02020603050405020304" pitchFamily="18" charset="0"/>
              </a:rPr>
              <a:t>Wunsch</a:t>
            </a:r>
            <a:r>
              <a:rPr lang="en-US" altLang="zh-TW" dirty="0">
                <a:latin typeface="Times New Roman" panose="02020603050405020304" pitchFamily="18" charset="0"/>
                <a:cs typeface="Times New Roman" panose="02020603050405020304" pitchFamily="18" charset="0"/>
              </a:rPr>
              <a:t>, Smith-Waterman and longest common subsequence algorithms. Also, database is implemented for using the algorithm in multi-sequence alignments for searching the optimal sequence that matches the given sequence.</a:t>
            </a:r>
          </a:p>
          <a:p>
            <a:endParaRPr lang="zh-TW" altLang="en-US" dirty="0"/>
          </a:p>
        </p:txBody>
      </p:sp>
    </p:spTree>
    <p:extLst>
      <p:ext uri="{BB962C8B-B14F-4D97-AF65-F5344CB8AC3E}">
        <p14:creationId xmlns:p14="http://schemas.microsoft.com/office/powerpoint/2010/main" val="3768453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25365" y="457382"/>
            <a:ext cx="10515600" cy="1325563"/>
          </a:xfrm>
        </p:spPr>
        <p:txBody>
          <a:bodyPr/>
          <a:lstStyle/>
          <a:p>
            <a:r>
              <a:rPr lang="en-US" altLang="zh-TW" dirty="0" err="1"/>
              <a:t>Needlman</a:t>
            </a:r>
            <a:r>
              <a:rPr lang="en-US" altLang="zh-TW" dirty="0"/>
              <a:t> – </a:t>
            </a:r>
            <a:r>
              <a:rPr lang="en-US" altLang="zh-TW" dirty="0" err="1"/>
              <a:t>Wunsch</a:t>
            </a:r>
            <a:r>
              <a:rPr lang="en-US" altLang="zh-TW" dirty="0"/>
              <a:t> Algorithm</a:t>
            </a:r>
            <a:br>
              <a:rPr lang="en-US" altLang="zh-TW" dirty="0"/>
            </a:br>
            <a:endParaRPr lang="zh-TW" altLang="en-US" dirty="0"/>
          </a:p>
        </p:txBody>
      </p:sp>
      <p:pic>
        <p:nvPicPr>
          <p:cNvPr id="4" name="內容版面配置區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45251" y="1949705"/>
            <a:ext cx="5905500" cy="4057650"/>
          </a:xfrm>
        </p:spPr>
      </p:pic>
      <mc:AlternateContent xmlns:mc="http://schemas.openxmlformats.org/markup-compatibility/2006">
        <mc:Choice xmlns:a14="http://schemas.microsoft.com/office/drawing/2010/main" Requires="a14">
          <p:sp>
            <p:nvSpPr>
              <p:cNvPr id="5" name="文字方塊 4"/>
              <p:cNvSpPr txBox="1"/>
              <p:nvPr/>
            </p:nvSpPr>
            <p:spPr>
              <a:xfrm>
                <a:off x="311284" y="2122459"/>
                <a:ext cx="5156827" cy="4062651"/>
              </a:xfrm>
              <a:prstGeom prst="rect">
                <a:avLst/>
              </a:prstGeom>
              <a:noFill/>
            </p:spPr>
            <p:txBody>
              <a:bodyPr wrap="square" rtlCol="0">
                <a:spAutoFit/>
              </a:bodyPr>
              <a:lstStyle/>
              <a:p>
                <a:r>
                  <a:rPr lang="en-US" altLang="zh-TW" sz="2000" dirty="0"/>
                  <a:t>Scoring table :match:+1;mistach:-1;gap:-1</a:t>
                </a:r>
              </a:p>
              <a:p>
                <a:endParaRPr lang="en-US" altLang="zh-TW" sz="2000" dirty="0"/>
              </a:p>
              <a:p>
                <a:endParaRPr lang="en-US" altLang="zh-TW" sz="2000" dirty="0"/>
              </a:p>
              <a:p>
                <a:endParaRPr lang="en-US" altLang="zh-TW" sz="2000" dirty="0"/>
              </a:p>
              <a:p>
                <a:endParaRPr lang="en-US" altLang="zh-TW" sz="2000" dirty="0"/>
              </a:p>
              <a:p>
                <a:r>
                  <a:rPr lang="pl-PL" altLang="zh-TW" sz="2000" dirty="0"/>
                  <a:t>M [i, j] = max {M [i -1, j -1] + sub (A[i], B[j]);</a:t>
                </a:r>
              </a:p>
              <a:p>
                <a:r>
                  <a:rPr lang="en-US" altLang="zh-TW" sz="2000" dirty="0"/>
                  <a:t>M [</a:t>
                </a:r>
                <a:r>
                  <a:rPr lang="en-US" altLang="zh-TW" sz="2000" dirty="0" err="1"/>
                  <a:t>i</a:t>
                </a:r>
                <a:r>
                  <a:rPr lang="en-US" altLang="zh-TW" sz="2000" dirty="0"/>
                  <a:t> -1, j] + del (A[</a:t>
                </a:r>
                <a:r>
                  <a:rPr lang="en-US" altLang="zh-TW" sz="2000" dirty="0" err="1"/>
                  <a:t>i</a:t>
                </a:r>
                <a:r>
                  <a:rPr lang="en-US" altLang="zh-TW" sz="2000" dirty="0"/>
                  <a:t>] ); M [</a:t>
                </a:r>
                <a:r>
                  <a:rPr lang="en-US" altLang="zh-TW" sz="2000" dirty="0" err="1"/>
                  <a:t>i</a:t>
                </a:r>
                <a:r>
                  <a:rPr lang="en-US" altLang="zh-TW" sz="2000" dirty="0"/>
                  <a:t>, j -1] + ins ( B[j])}</a:t>
                </a:r>
              </a:p>
              <a:p>
                <a:endParaRPr lang="en-US" altLang="zh-TW" sz="2000" dirty="0"/>
              </a:p>
              <a:p>
                <a:endParaRPr lang="en-US" altLang="zh-TW" sz="2000" dirty="0"/>
              </a:p>
              <a:p>
                <a:endParaRPr lang="en-US" altLang="zh-TW" sz="2000" dirty="0"/>
              </a:p>
              <a:p>
                <a:r>
                  <a:rPr lang="en-US" altLang="zh-TW" sz="2000"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sz="2000" i="1">
                            <a:latin typeface="Cambria Math" panose="02040503050406030204" pitchFamily="18" charset="0"/>
                          </a:rPr>
                        </m:ctrlPr>
                      </m:sSupPr>
                      <m:e>
                        <m:r>
                          <a:rPr lang="en-US" altLang="zh-TW" sz="2000" i="1">
                            <a:latin typeface="Cambria Math" panose="02040503050406030204" pitchFamily="18" charset="0"/>
                          </a:rPr>
                          <m:t>𝑛</m:t>
                        </m:r>
                      </m:e>
                      <m:sup>
                        <m:r>
                          <a:rPr lang="en-US" altLang="zh-TW" sz="2000" i="1">
                            <a:latin typeface="Cambria Math" panose="02040503050406030204" pitchFamily="18" charset="0"/>
                          </a:rPr>
                          <m:t>3</m:t>
                        </m:r>
                      </m:sup>
                    </m:sSup>
                  </m:oMath>
                </a14:m>
                <a:r>
                  <a:rPr lang="en-US" altLang="zh-TW" sz="2000" dirty="0">
                    <a:latin typeface="Times New Roman" panose="02020603050405020304" pitchFamily="18" charset="0"/>
                    <a:cs typeface="Times New Roman" panose="02020603050405020304" pitchFamily="18" charset="0"/>
                  </a:rPr>
                  <a:t>)</a:t>
                </a:r>
                <a:br>
                  <a:rPr lang="en-US" altLang="zh-TW" sz="2000" dirty="0">
                    <a:latin typeface="Times New Roman" panose="02020603050405020304" pitchFamily="18" charset="0"/>
                    <a:cs typeface="Times New Roman" panose="02020603050405020304" pitchFamily="18" charset="0"/>
                  </a:rPr>
                </a:br>
                <a:endParaRPr lang="zh-TW" altLang="en-US" sz="2000" dirty="0">
                  <a:latin typeface="Times New Roman" panose="02020603050405020304" pitchFamily="18" charset="0"/>
                  <a:cs typeface="Times New Roman" panose="02020603050405020304" pitchFamily="18" charset="0"/>
                </a:endParaRPr>
              </a:p>
              <a:p>
                <a:endParaRPr lang="zh-TW" altLang="en-US" dirty="0"/>
              </a:p>
            </p:txBody>
          </p:sp>
        </mc:Choice>
        <mc:Fallback>
          <p:sp>
            <p:nvSpPr>
              <p:cNvPr id="5" name="文字方塊 4"/>
              <p:cNvSpPr txBox="1">
                <a:spLocks noRot="1" noChangeAspect="1" noMove="1" noResize="1" noEditPoints="1" noAdjustHandles="1" noChangeArrowheads="1" noChangeShapeType="1" noTextEdit="1"/>
              </p:cNvSpPr>
              <p:nvPr/>
            </p:nvSpPr>
            <p:spPr>
              <a:xfrm>
                <a:off x="311284" y="2122459"/>
                <a:ext cx="5156827" cy="4062651"/>
              </a:xfrm>
              <a:prstGeom prst="rect">
                <a:avLst/>
              </a:prstGeom>
              <a:blipFill>
                <a:blip r:embed="rId4"/>
                <a:stretch>
                  <a:fillRect l="-1182" t="-750"/>
                </a:stretch>
              </a:blipFill>
            </p:spPr>
            <p:txBody>
              <a:bodyPr/>
              <a:lstStyle/>
              <a:p>
                <a:r>
                  <a:rPr lang="zh-TW" altLang="en-US">
                    <a:noFill/>
                  </a:rPr>
                  <a:t> </a:t>
                </a:r>
              </a:p>
            </p:txBody>
          </p:sp>
        </mc:Fallback>
      </mc:AlternateContent>
      <p:sp>
        <p:nvSpPr>
          <p:cNvPr id="6" name="文字方塊 5"/>
          <p:cNvSpPr txBox="1"/>
          <p:nvPr/>
        </p:nvSpPr>
        <p:spPr>
          <a:xfrm>
            <a:off x="350813" y="5056632"/>
            <a:ext cx="5117299" cy="1609344"/>
          </a:xfrm>
          <a:prstGeom prst="rect">
            <a:avLst/>
          </a:prstGeom>
          <a:noFill/>
        </p:spPr>
        <p:txBody>
          <a:bodyPr wrap="square" rtlCol="0">
            <a:spAutoFit/>
          </a:bodyPr>
          <a:lstStyle/>
          <a:p>
            <a:endParaRPr lang="zh-TW" altLang="en-US" dirty="0"/>
          </a:p>
        </p:txBody>
      </p:sp>
      <p:pic>
        <p:nvPicPr>
          <p:cNvPr id="7" name="圖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8183" y="4765930"/>
            <a:ext cx="4563020" cy="1530115"/>
          </a:xfrm>
          <a:prstGeom prst="rect">
            <a:avLst/>
          </a:prstGeom>
        </p:spPr>
      </p:pic>
    </p:spTree>
    <p:extLst>
      <p:ext uri="{BB962C8B-B14F-4D97-AF65-F5344CB8AC3E}">
        <p14:creationId xmlns:p14="http://schemas.microsoft.com/office/powerpoint/2010/main" val="225386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Smith Waterman 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240323" y="1895963"/>
                <a:ext cx="10515600" cy="4351338"/>
              </a:xfrm>
            </p:spPr>
            <p:txBody>
              <a:bodyPr/>
              <a:lstStyle/>
              <a:p>
                <a:pPr marL="0" indent="0">
                  <a:buNone/>
                </a:pPr>
                <a:r>
                  <a:rPr lang="pl-PL" altLang="zh-TW" dirty="0"/>
                  <a:t>M (i, j) = MAX{ 0;</a:t>
                </a:r>
                <a:endParaRPr lang="en-US" altLang="zh-TW" dirty="0"/>
              </a:p>
              <a:p>
                <a:pPr marL="0" indent="0">
                  <a:buNone/>
                </a:pPr>
                <a:r>
                  <a:rPr lang="en-US" altLang="zh-TW" dirty="0"/>
                  <a:t>		</a:t>
                </a:r>
                <a:r>
                  <a:rPr lang="pl-PL" altLang="zh-TW" dirty="0"/>
                  <a:t>M (i-1, j-1) + sub (A(i), B(j));</a:t>
                </a:r>
              </a:p>
              <a:p>
                <a:pPr marL="0" indent="0">
                  <a:buNone/>
                </a:pPr>
                <a:r>
                  <a:rPr lang="en-US" altLang="zh-TW" dirty="0"/>
                  <a:t>		M(i-1,j) + del(A(</a:t>
                </a:r>
                <a:r>
                  <a:rPr lang="en-US" altLang="zh-TW" dirty="0" err="1"/>
                  <a:t>i</a:t>
                </a:r>
                <a:r>
                  <a:rPr lang="en-US" altLang="zh-TW" dirty="0"/>
                  <a:t>)); </a:t>
                </a:r>
              </a:p>
              <a:p>
                <a:pPr marL="0" indent="0">
                  <a:buNone/>
                </a:pPr>
                <a:r>
                  <a:rPr lang="en-US" altLang="zh-TW" dirty="0"/>
                  <a:t>		M(i,j-1) +ins (B(j))}</a:t>
                </a:r>
              </a:p>
              <a:p>
                <a:endParaRPr lang="en-US" altLang="zh-TW" dirty="0"/>
              </a:p>
              <a:p>
                <a:pPr marL="0" indent="0">
                  <a:buNone/>
                </a:pPr>
                <a:r>
                  <a:rPr lang="en-US" altLang="zh-TW" dirty="0"/>
                  <a:t>Scoring table :match:+1;mistach:-1;gap:0</a:t>
                </a:r>
                <a:endParaRPr lang="zh-TW" altLang="en-US" dirty="0"/>
              </a:p>
              <a:p>
                <a:pPr marL="0" indent="0">
                  <a:buNone/>
                </a:pPr>
                <a:r>
                  <a:rPr lang="en-US" altLang="zh-TW" dirty="0"/>
                  <a:t>O(</a:t>
                </a:r>
                <a14:m>
                  <m:oMath xmlns:m="http://schemas.openxmlformats.org/officeDocument/2006/math">
                    <m:sSup>
                      <m:sSupPr>
                        <m:ctrlPr>
                          <a:rPr lang="en-US" altLang="zh-TW" i="1">
                            <a:latin typeface="Cambria Math" panose="02040503050406030204" pitchFamily="18" charset="0"/>
                          </a:rPr>
                        </m:ctrlPr>
                      </m:sSupPr>
                      <m:e>
                        <m:r>
                          <a:rPr lang="en-US" altLang="zh-TW" i="1">
                            <a:latin typeface="Cambria Math" panose="02040503050406030204" pitchFamily="18" charset="0"/>
                          </a:rPr>
                          <m:t>𝑚</m:t>
                        </m:r>
                      </m:e>
                      <m:sup>
                        <m:r>
                          <a:rPr lang="en-US" altLang="zh-TW" i="1">
                            <a:latin typeface="Cambria Math" panose="02040503050406030204" pitchFamily="18" charset="0"/>
                          </a:rPr>
                          <m:t>2</m:t>
                        </m:r>
                      </m:sup>
                    </m:sSup>
                    <m:r>
                      <a:rPr lang="en-US" altLang="zh-TW" i="1">
                        <a:latin typeface="Cambria Math" panose="02040503050406030204" pitchFamily="18" charset="0"/>
                      </a:rPr>
                      <m:t>𝑛</m:t>
                    </m:r>
                    <m:r>
                      <a:rPr lang="en-US" altLang="zh-TW" i="1">
                        <a:latin typeface="Cambria Math" panose="02040503050406030204" pitchFamily="18" charset="0"/>
                      </a:rPr>
                      <m:t>)</m:t>
                    </m:r>
                    <m:r>
                      <a:rPr lang="en-US" altLang="zh-TW" i="1">
                        <a:latin typeface="Cambria Math" panose="02040503050406030204" pitchFamily="18" charset="0"/>
                      </a:rPr>
                      <m:t>𝑡𝑖𝑚𝑒</m:t>
                    </m:r>
                  </m:oMath>
                </a14:m>
                <a:endParaRPr lang="zh-TW" altLang="en-US"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240323" y="1895963"/>
                <a:ext cx="10515600" cy="4351338"/>
              </a:xfrm>
              <a:blipFill rotWithShape="0">
                <a:blip r:embed="rId3"/>
                <a:stretch>
                  <a:fillRect l="-1159" t="-2241"/>
                </a:stretch>
              </a:blipFill>
            </p:spPr>
            <p:txBody>
              <a:bodyPr/>
              <a:lstStyle/>
              <a:p>
                <a:r>
                  <a:rPr lang="zh-TW" altLang="en-US">
                    <a:noFill/>
                  </a:rPr>
                  <a:t> </a:t>
                </a:r>
              </a:p>
            </p:txBody>
          </p:sp>
        </mc:Fallback>
      </mc:AlternateContent>
      <p:pic>
        <p:nvPicPr>
          <p:cNvPr id="4" name="圖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0415" y="1988527"/>
            <a:ext cx="5600700" cy="4705350"/>
          </a:xfrm>
          <a:prstGeom prst="rect">
            <a:avLst/>
          </a:prstGeom>
        </p:spPr>
      </p:pic>
    </p:spTree>
    <p:extLst>
      <p:ext uri="{BB962C8B-B14F-4D97-AF65-F5344CB8AC3E}">
        <p14:creationId xmlns:p14="http://schemas.microsoft.com/office/powerpoint/2010/main" val="2908048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a:xfrm>
            <a:off x="838200" y="1825625"/>
            <a:ext cx="10515600" cy="5243390"/>
          </a:xfrm>
        </p:spPr>
        <p:txBody>
          <a:bodyPr>
            <a:normAutofit/>
          </a:bodyPr>
          <a:lstStyle/>
          <a:p>
            <a:pPr marL="0" indent="0">
              <a:buNone/>
            </a:pPr>
            <a:endParaRPr lang="en-US" altLang="zh-TW" dirty="0"/>
          </a:p>
          <a:p>
            <a:pPr marL="0" indent="0">
              <a:buNone/>
            </a:pPr>
            <a:endParaRPr lang="en-US" altLang="zh-TW" dirty="0"/>
          </a:p>
          <a:p>
            <a:pPr marL="0" indent="0">
              <a:buNone/>
            </a:pPr>
            <a:endParaRPr lang="en-US" altLang="zh-TW" dirty="0"/>
          </a:p>
          <a:p>
            <a:pPr marL="0" indent="0">
              <a:buNone/>
            </a:pPr>
            <a:endParaRPr lang="en-US" altLang="zh-TW" dirty="0"/>
          </a:p>
          <a:p>
            <a:pPr marL="0" indent="0">
              <a:buNone/>
            </a:pPr>
            <a:endParaRPr lang="en-US" altLang="zh-TW" dirty="0"/>
          </a:p>
          <a:p>
            <a:pPr marL="0" indent="0">
              <a:buNone/>
            </a:pPr>
            <a:r>
              <a:rPr lang="en-US" altLang="zh-TW" dirty="0"/>
              <a:t>  match:+5 mismatch:-1gap:-1</a:t>
            </a:r>
          </a:p>
          <a:p>
            <a:pPr marL="0" indent="0">
              <a:buNone/>
            </a:pPr>
            <a:r>
              <a:rPr lang="en-US" altLang="zh-TW" dirty="0"/>
              <a:t>  global :   6*5 + (-1)*15  =  15</a:t>
            </a:r>
            <a:br>
              <a:rPr lang="zh-TW" altLang="en-US" dirty="0"/>
            </a:br>
            <a:r>
              <a:rPr lang="zh-TW" altLang="en-US" dirty="0"/>
              <a:t>  </a:t>
            </a:r>
            <a:r>
              <a:rPr lang="en-US" altLang="zh-TW" dirty="0"/>
              <a:t>local    :   5*5 + (-1)*7    =  18</a:t>
            </a:r>
            <a:endParaRPr lang="zh-TW" altLang="en-US" dirty="0"/>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00" y="2252936"/>
            <a:ext cx="6570137" cy="1849164"/>
          </a:xfrm>
          <a:prstGeom prst="rect">
            <a:avLst/>
          </a:prstGeom>
        </p:spPr>
      </p:pic>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l="35374" t="-14" r="15335" b="2"/>
          <a:stretch/>
        </p:blipFill>
        <p:spPr>
          <a:xfrm>
            <a:off x="7594600" y="2216400"/>
            <a:ext cx="3302001" cy="1885700"/>
          </a:xfrm>
          <a:prstGeom prst="rect">
            <a:avLst/>
          </a:prstGeom>
        </p:spPr>
      </p:pic>
    </p:spTree>
    <p:extLst>
      <p:ext uri="{BB962C8B-B14F-4D97-AF65-F5344CB8AC3E}">
        <p14:creationId xmlns:p14="http://schemas.microsoft.com/office/powerpoint/2010/main" val="926448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longest common subsequence problem</a:t>
            </a:r>
            <a:endParaRPr lang="zh-TW" altLang="en-US" dirty="0"/>
          </a:p>
        </p:txBody>
      </p:sp>
      <p:sp>
        <p:nvSpPr>
          <p:cNvPr id="3" name="內容版面配置區 2"/>
          <p:cNvSpPr>
            <a:spLocks noGrp="1"/>
          </p:cNvSpPr>
          <p:nvPr>
            <p:ph idx="1"/>
          </p:nvPr>
        </p:nvSpPr>
        <p:spPr>
          <a:xfrm>
            <a:off x="241300" y="1986800"/>
            <a:ext cx="10515600" cy="4351338"/>
          </a:xfrm>
        </p:spPr>
        <p:txBody>
          <a:bodyPr/>
          <a:lstStyle/>
          <a:p>
            <a:r>
              <a:rPr lang="pl-PL" altLang="zh-TW" dirty="0">
                <a:latin typeface="Times New Roman" panose="02020603050405020304" pitchFamily="18" charset="0"/>
                <a:cs typeface="Times New Roman" panose="02020603050405020304" pitchFamily="18" charset="0"/>
              </a:rPr>
              <a:t>M (i, j) =  </a:t>
            </a:r>
            <a:r>
              <a:rPr lang="en-US" altLang="zh-TW" dirty="0">
                <a:latin typeface="Times New Roman" panose="02020603050405020304" pitchFamily="18" charset="0"/>
                <a:cs typeface="Times New Roman" panose="02020603050405020304" pitchFamily="18" charset="0"/>
              </a:rPr>
              <a:t>  { </a:t>
            </a:r>
            <a:r>
              <a:rPr lang="pl-PL" altLang="zh-TW" dirty="0">
                <a:latin typeface="Times New Roman" panose="02020603050405020304" pitchFamily="18" charset="0"/>
                <a:cs typeface="Times New Roman" panose="02020603050405020304" pitchFamily="18" charset="0"/>
              </a:rPr>
              <a:t>0;</a:t>
            </a:r>
            <a:r>
              <a:rPr lang="zh-TW" altLang="en-US" dirty="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 (i-1, j-1) + </a:t>
            </a:r>
            <a:r>
              <a:rPr lang="en-US" altLang="zh-TW" dirty="0">
                <a:latin typeface="Times New Roman" panose="02020603050405020304" pitchFamily="18" charset="0"/>
                <a:cs typeface="Times New Roman" panose="02020603050405020304" pitchFamily="18" charset="0"/>
              </a:rPr>
              <a:t>1</a:t>
            </a:r>
            <a:r>
              <a:rPr lang="pl-PL"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		max{ M(i-1,j) , M(i,j-1) }</a:t>
            </a:r>
          </a:p>
          <a:p>
            <a:endParaRPr lang="zh-TW" altLang="en-US" dirty="0"/>
          </a:p>
        </p:txBody>
      </p:sp>
      <p:graphicFrame>
        <p:nvGraphicFramePr>
          <p:cNvPr id="6" name="表格 5"/>
          <p:cNvGraphicFramePr>
            <a:graphicFrameLocks noGrp="1"/>
          </p:cNvGraphicFramePr>
          <p:nvPr>
            <p:extLst>
              <p:ext uri="{D42A27DB-BD31-4B8C-83A1-F6EECF244321}">
                <p14:modId xmlns:p14="http://schemas.microsoft.com/office/powerpoint/2010/main" val="2012694386"/>
              </p:ext>
            </p:extLst>
          </p:nvPr>
        </p:nvGraphicFramePr>
        <p:xfrm>
          <a:off x="6096005" y="1447799"/>
          <a:ext cx="5880094" cy="5429340"/>
        </p:xfrm>
        <a:graphic>
          <a:graphicData uri="http://schemas.openxmlformats.org/drawingml/2006/table">
            <a:tbl>
              <a:tblPr firstRow="1" bandRow="1">
                <a:tableStyleId>{5940675A-B579-460E-94D1-54222C63F5DA}</a:tableStyleId>
              </a:tblPr>
              <a:tblGrid>
                <a:gridCol w="534554">
                  <a:extLst>
                    <a:ext uri="{9D8B030D-6E8A-4147-A177-3AD203B41FA5}">
                      <a16:colId xmlns:a16="http://schemas.microsoft.com/office/drawing/2014/main" val="20000"/>
                    </a:ext>
                  </a:extLst>
                </a:gridCol>
                <a:gridCol w="534554">
                  <a:extLst>
                    <a:ext uri="{9D8B030D-6E8A-4147-A177-3AD203B41FA5}">
                      <a16:colId xmlns:a16="http://schemas.microsoft.com/office/drawing/2014/main" val="20001"/>
                    </a:ext>
                  </a:extLst>
                </a:gridCol>
                <a:gridCol w="534554">
                  <a:extLst>
                    <a:ext uri="{9D8B030D-6E8A-4147-A177-3AD203B41FA5}">
                      <a16:colId xmlns:a16="http://schemas.microsoft.com/office/drawing/2014/main" val="20002"/>
                    </a:ext>
                  </a:extLst>
                </a:gridCol>
                <a:gridCol w="534554">
                  <a:extLst>
                    <a:ext uri="{9D8B030D-6E8A-4147-A177-3AD203B41FA5}">
                      <a16:colId xmlns:a16="http://schemas.microsoft.com/office/drawing/2014/main" val="20003"/>
                    </a:ext>
                  </a:extLst>
                </a:gridCol>
                <a:gridCol w="534554">
                  <a:extLst>
                    <a:ext uri="{9D8B030D-6E8A-4147-A177-3AD203B41FA5}">
                      <a16:colId xmlns:a16="http://schemas.microsoft.com/office/drawing/2014/main" val="20004"/>
                    </a:ext>
                  </a:extLst>
                </a:gridCol>
                <a:gridCol w="534554">
                  <a:extLst>
                    <a:ext uri="{9D8B030D-6E8A-4147-A177-3AD203B41FA5}">
                      <a16:colId xmlns:a16="http://schemas.microsoft.com/office/drawing/2014/main" val="20005"/>
                    </a:ext>
                  </a:extLst>
                </a:gridCol>
                <a:gridCol w="534554">
                  <a:extLst>
                    <a:ext uri="{9D8B030D-6E8A-4147-A177-3AD203B41FA5}">
                      <a16:colId xmlns:a16="http://schemas.microsoft.com/office/drawing/2014/main" val="20006"/>
                    </a:ext>
                  </a:extLst>
                </a:gridCol>
                <a:gridCol w="534554">
                  <a:extLst>
                    <a:ext uri="{9D8B030D-6E8A-4147-A177-3AD203B41FA5}">
                      <a16:colId xmlns:a16="http://schemas.microsoft.com/office/drawing/2014/main" val="20007"/>
                    </a:ext>
                  </a:extLst>
                </a:gridCol>
                <a:gridCol w="534554">
                  <a:extLst>
                    <a:ext uri="{9D8B030D-6E8A-4147-A177-3AD203B41FA5}">
                      <a16:colId xmlns:a16="http://schemas.microsoft.com/office/drawing/2014/main" val="20008"/>
                    </a:ext>
                  </a:extLst>
                </a:gridCol>
                <a:gridCol w="534554">
                  <a:extLst>
                    <a:ext uri="{9D8B030D-6E8A-4147-A177-3AD203B41FA5}">
                      <a16:colId xmlns:a16="http://schemas.microsoft.com/office/drawing/2014/main" val="20009"/>
                    </a:ext>
                  </a:extLst>
                </a:gridCol>
                <a:gridCol w="534554">
                  <a:extLst>
                    <a:ext uri="{9D8B030D-6E8A-4147-A177-3AD203B41FA5}">
                      <a16:colId xmlns:a16="http://schemas.microsoft.com/office/drawing/2014/main" val="20010"/>
                    </a:ext>
                  </a:extLst>
                </a:gridCol>
              </a:tblGrid>
              <a:tr h="542934">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T</a:t>
                      </a:r>
                      <a:endParaRPr lang="zh-TW" altLang="en-US" dirty="0"/>
                    </a:p>
                  </a:txBody>
                  <a:tcPr/>
                </a:tc>
                <a:tc>
                  <a:txBody>
                    <a:bodyPr/>
                    <a:lstStyle/>
                    <a:p>
                      <a:pPr algn="ctr"/>
                      <a:r>
                        <a:rPr lang="en-US" altLang="zh-TW" dirty="0"/>
                        <a:t>A</a:t>
                      </a:r>
                      <a:endParaRPr lang="zh-TW" altLang="en-US" dirty="0"/>
                    </a:p>
                  </a:txBody>
                  <a:tcPr/>
                </a:tc>
                <a:tc>
                  <a:txBody>
                    <a:bodyPr/>
                    <a:lstStyle/>
                    <a:p>
                      <a:pPr algn="ctr"/>
                      <a:r>
                        <a:rPr lang="en-US" altLang="zh-TW" dirty="0"/>
                        <a:t>G</a:t>
                      </a:r>
                      <a:endParaRPr lang="zh-TW" altLang="en-US" dirty="0"/>
                    </a:p>
                  </a:txBody>
                  <a:tcPr/>
                </a:tc>
                <a:tc>
                  <a:txBody>
                    <a:bodyPr/>
                    <a:lstStyle/>
                    <a:p>
                      <a:pPr algn="ctr"/>
                      <a:r>
                        <a:rPr lang="en-US" altLang="zh-TW" dirty="0"/>
                        <a:t>C</a:t>
                      </a:r>
                      <a:endParaRPr lang="zh-TW" altLang="en-US" dirty="0"/>
                    </a:p>
                  </a:txBody>
                  <a:tcPr/>
                </a:tc>
                <a:tc>
                  <a:txBody>
                    <a:bodyPr/>
                    <a:lstStyle/>
                    <a:p>
                      <a:pPr algn="ctr"/>
                      <a:r>
                        <a:rPr lang="en-US" altLang="zh-TW" dirty="0"/>
                        <a:t>G</a:t>
                      </a:r>
                      <a:endParaRPr lang="zh-TW" altLang="en-US" dirty="0"/>
                    </a:p>
                  </a:txBody>
                  <a:tcPr/>
                </a:tc>
                <a:extLst>
                  <a:ext uri="{0D108BD9-81ED-4DB2-BD59-A6C34878D82A}">
                    <a16:rowId xmlns:a16="http://schemas.microsoft.com/office/drawing/2014/main" val="10000"/>
                  </a:ext>
                </a:extLst>
              </a:tr>
              <a:tr h="542934">
                <a:tc>
                  <a:txBody>
                    <a:bodyPr/>
                    <a:lstStyle/>
                    <a:p>
                      <a:pPr algn="ct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0001"/>
                  </a:ext>
                </a:extLst>
              </a:tr>
              <a:tr h="542934">
                <a:tc>
                  <a:txBody>
                    <a:bodyPr/>
                    <a:lstStyle/>
                    <a:p>
                      <a:pPr algn="ctr"/>
                      <a:r>
                        <a:rPr lang="en-US" altLang="zh-TW" dirty="0"/>
                        <a:t>G</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1</a:t>
                      </a:r>
                      <a:endParaRPr lang="zh-TW" altLang="en-US" dirty="0"/>
                    </a:p>
                  </a:txBody>
                  <a:tcPr/>
                </a:tc>
                <a:extLst>
                  <a:ext uri="{0D108BD9-81ED-4DB2-BD59-A6C34878D82A}">
                    <a16:rowId xmlns:a16="http://schemas.microsoft.com/office/drawing/2014/main" val="10002"/>
                  </a:ext>
                </a:extLst>
              </a:tr>
              <a:tr h="542934">
                <a:tc>
                  <a:txBody>
                    <a:bodyPr/>
                    <a:lstStyle/>
                    <a:p>
                      <a:pPr algn="ctr"/>
                      <a:r>
                        <a:rPr lang="en-US" altLang="zh-TW" dirty="0"/>
                        <a:t>C</a:t>
                      </a:r>
                      <a:endParaRPr lang="zh-TW" altLang="en-US" dirty="0"/>
                    </a:p>
                  </a:txBody>
                  <a:tcPr/>
                </a:tc>
                <a:tc>
                  <a:txBody>
                    <a:bodyPr/>
                    <a:lstStyle/>
                    <a:p>
                      <a:pPr algn="ctr"/>
                      <a:r>
                        <a:rPr lang="en-US" altLang="zh-TW" dirty="0"/>
                        <a:t>0</a:t>
                      </a:r>
                      <a:endParaRPr lang="zh-TW" altLang="en-US" dirty="0"/>
                    </a:p>
                  </a:txBody>
                  <a:tcPr/>
                </a:tc>
                <a:tc>
                  <a:txBody>
                    <a:bodyPr/>
                    <a:lstStyle/>
                    <a:p>
                      <a:pPr algn="ctr"/>
                      <a:r>
                        <a:rPr lang="en-US" altLang="zh-TW" dirty="0"/>
                        <a:t>1</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tc>
                  <a:txBody>
                    <a:bodyPr/>
                    <a:lstStyle/>
                    <a:p>
                      <a:pPr algn="ctr"/>
                      <a:r>
                        <a:rPr lang="en-US" altLang="zh-TW" dirty="0"/>
                        <a:t>2</a:t>
                      </a:r>
                      <a:endParaRPr lang="zh-TW" altLang="en-US" dirty="0"/>
                    </a:p>
                  </a:txBody>
                  <a:tcPr/>
                </a:tc>
                <a:extLst>
                  <a:ext uri="{0D108BD9-81ED-4DB2-BD59-A6C34878D82A}">
                    <a16:rowId xmlns:a16="http://schemas.microsoft.com/office/drawing/2014/main" val="10003"/>
                  </a:ext>
                </a:extLst>
              </a:tr>
              <a:tr h="542934">
                <a:tc>
                  <a:txBody>
                    <a:bodyPr/>
                    <a:lstStyle/>
                    <a:p>
                      <a:pPr algn="ctr"/>
                      <a:r>
                        <a:rPr lang="en-US" altLang="zh-TW" dirty="0"/>
                        <a:t>G</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0004"/>
                  </a:ext>
                </a:extLst>
              </a:tr>
              <a:tr h="542934">
                <a:tc>
                  <a:txBody>
                    <a:bodyPr/>
                    <a:lstStyle/>
                    <a:p>
                      <a:pPr algn="ctr"/>
                      <a:r>
                        <a:rPr lang="en-US" altLang="zh-TW" dirty="0"/>
                        <a:t>G</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0005"/>
                  </a:ext>
                </a:extLst>
              </a:tr>
              <a:tr h="542934">
                <a:tc>
                  <a:txBody>
                    <a:bodyPr/>
                    <a:lstStyle/>
                    <a:p>
                      <a:pPr algn="ctr"/>
                      <a:r>
                        <a:rPr lang="en-US" altLang="zh-TW" dirty="0"/>
                        <a:t>A</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0006"/>
                  </a:ext>
                </a:extLst>
              </a:tr>
              <a:tr h="542934">
                <a:tc>
                  <a:txBody>
                    <a:bodyPr/>
                    <a:lstStyle/>
                    <a:p>
                      <a:pPr algn="ctr"/>
                      <a:r>
                        <a:rPr lang="en-US" altLang="zh-TW" dirty="0"/>
                        <a:t>A</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extLst>
                  <a:ext uri="{0D108BD9-81ED-4DB2-BD59-A6C34878D82A}">
                    <a16:rowId xmlns:a16="http://schemas.microsoft.com/office/drawing/2014/main" val="10007"/>
                  </a:ext>
                </a:extLst>
              </a:tr>
              <a:tr h="542934">
                <a:tc>
                  <a:txBody>
                    <a:bodyPr/>
                    <a:lstStyle/>
                    <a:p>
                      <a:pPr algn="ctr"/>
                      <a:r>
                        <a:rPr lang="en-US" altLang="zh-TW" dirty="0"/>
                        <a:t>T</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extLst>
                  <a:ext uri="{0D108BD9-81ED-4DB2-BD59-A6C34878D82A}">
                    <a16:rowId xmlns:a16="http://schemas.microsoft.com/office/drawing/2014/main" val="10008"/>
                  </a:ext>
                </a:extLst>
              </a:tr>
              <a:tr h="542934">
                <a:tc>
                  <a:txBody>
                    <a:bodyPr/>
                    <a:lstStyle/>
                    <a:p>
                      <a:pPr algn="ctr"/>
                      <a:r>
                        <a:rPr lang="en-US" altLang="zh-TW" dirty="0"/>
                        <a:t>G</a:t>
                      </a:r>
                      <a:endParaRPr lang="zh-TW" altLang="en-US" dirty="0"/>
                    </a:p>
                  </a:txBody>
                  <a:tcPr/>
                </a:tc>
                <a:tc>
                  <a:txBody>
                    <a:bodyPr/>
                    <a:lstStyle/>
                    <a:p>
                      <a:pPr algn="ctr"/>
                      <a:r>
                        <a:rPr lang="en-US" altLang="zh-TW" dirty="0"/>
                        <a:t>0</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extLst>
                  <a:ext uri="{0D108BD9-81ED-4DB2-BD59-A6C34878D82A}">
                    <a16:rowId xmlns:a16="http://schemas.microsoft.com/office/drawing/2014/main" val="10009"/>
                  </a:ext>
                </a:extLst>
              </a:tr>
            </a:tbl>
          </a:graphicData>
        </a:graphic>
      </p:graphicFrame>
      <p:cxnSp>
        <p:nvCxnSpPr>
          <p:cNvPr id="10" name="直線單箭頭接點 9"/>
          <p:cNvCxnSpPr/>
          <p:nvPr/>
        </p:nvCxnSpPr>
        <p:spPr>
          <a:xfrm flipH="1" flipV="1">
            <a:off x="7010400" y="2420939"/>
            <a:ext cx="304800" cy="28892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2" name="直線單箭頭接點 11"/>
          <p:cNvCxnSpPr/>
          <p:nvPr/>
        </p:nvCxnSpPr>
        <p:spPr>
          <a:xfrm flipH="1" flipV="1">
            <a:off x="10223500" y="2372476"/>
            <a:ext cx="254000" cy="28892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6" name="直線單箭頭接點 15"/>
          <p:cNvCxnSpPr/>
          <p:nvPr/>
        </p:nvCxnSpPr>
        <p:spPr>
          <a:xfrm flipH="1" flipV="1">
            <a:off x="7480305" y="2897190"/>
            <a:ext cx="406400" cy="38417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9" name="直線單箭頭接點 18"/>
          <p:cNvCxnSpPr/>
          <p:nvPr/>
        </p:nvCxnSpPr>
        <p:spPr>
          <a:xfrm flipH="1" flipV="1">
            <a:off x="8077205" y="2968624"/>
            <a:ext cx="304800" cy="28892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0" name="直線單箭頭接點 19"/>
          <p:cNvCxnSpPr/>
          <p:nvPr/>
        </p:nvCxnSpPr>
        <p:spPr>
          <a:xfrm flipH="1" flipV="1">
            <a:off x="10680700" y="2968624"/>
            <a:ext cx="304800" cy="28892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3" name="直線單箭頭接點 22"/>
          <p:cNvCxnSpPr/>
          <p:nvPr/>
        </p:nvCxnSpPr>
        <p:spPr>
          <a:xfrm flipH="1">
            <a:off x="8623300" y="2765440"/>
            <a:ext cx="355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直線單箭頭接點 23"/>
          <p:cNvCxnSpPr/>
          <p:nvPr/>
        </p:nvCxnSpPr>
        <p:spPr>
          <a:xfrm flipH="1">
            <a:off x="9702800" y="2754320"/>
            <a:ext cx="355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直線單箭頭接點 24"/>
          <p:cNvCxnSpPr/>
          <p:nvPr/>
        </p:nvCxnSpPr>
        <p:spPr>
          <a:xfrm flipH="1">
            <a:off x="10756900" y="2732100"/>
            <a:ext cx="355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直線單箭頭接點 25"/>
          <p:cNvCxnSpPr/>
          <p:nvPr/>
        </p:nvCxnSpPr>
        <p:spPr>
          <a:xfrm flipH="1">
            <a:off x="9105900" y="2738460"/>
            <a:ext cx="355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直線單箭頭接點 26"/>
          <p:cNvCxnSpPr/>
          <p:nvPr/>
        </p:nvCxnSpPr>
        <p:spPr>
          <a:xfrm flipH="1">
            <a:off x="8077205" y="2771780"/>
            <a:ext cx="355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直線單箭頭接點 28"/>
          <p:cNvCxnSpPr/>
          <p:nvPr/>
        </p:nvCxnSpPr>
        <p:spPr>
          <a:xfrm flipH="1">
            <a:off x="11290295" y="3257547"/>
            <a:ext cx="355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直線單箭頭接點 29"/>
          <p:cNvCxnSpPr/>
          <p:nvPr/>
        </p:nvCxnSpPr>
        <p:spPr>
          <a:xfrm flipH="1">
            <a:off x="10223500" y="3281365"/>
            <a:ext cx="355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直線單箭頭接點 30"/>
          <p:cNvCxnSpPr/>
          <p:nvPr/>
        </p:nvCxnSpPr>
        <p:spPr>
          <a:xfrm flipH="1">
            <a:off x="9702800" y="3257547"/>
            <a:ext cx="355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2" name="直線單箭頭接點 31"/>
          <p:cNvCxnSpPr/>
          <p:nvPr/>
        </p:nvCxnSpPr>
        <p:spPr>
          <a:xfrm flipH="1">
            <a:off x="9105900" y="3298827"/>
            <a:ext cx="355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直線單箭頭接點 32"/>
          <p:cNvCxnSpPr/>
          <p:nvPr/>
        </p:nvCxnSpPr>
        <p:spPr>
          <a:xfrm flipH="1" flipV="1">
            <a:off x="11290295" y="2372475"/>
            <a:ext cx="304800" cy="28892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34" name="直線單箭頭接點 33"/>
          <p:cNvCxnSpPr/>
          <p:nvPr/>
        </p:nvCxnSpPr>
        <p:spPr>
          <a:xfrm flipH="1" flipV="1">
            <a:off x="8578852" y="2968624"/>
            <a:ext cx="304800" cy="28892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410661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longest common subsequence problem</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0" y="2369527"/>
            <a:ext cx="5600700" cy="4705350"/>
          </a:xfrm>
          <a:prstGeom prst="rect">
            <a:avLst/>
          </a:prstGeom>
        </p:spPr>
      </p:pic>
      <p:sp>
        <p:nvSpPr>
          <p:cNvPr id="6" name="內容版面配置區 5"/>
          <p:cNvSpPr>
            <a:spLocks noGrp="1"/>
          </p:cNvSpPr>
          <p:nvPr>
            <p:ph idx="1"/>
          </p:nvPr>
        </p:nvSpPr>
        <p:spPr>
          <a:xfrm>
            <a:off x="139700" y="1690687"/>
            <a:ext cx="10515600" cy="5384189"/>
          </a:xfrm>
        </p:spPr>
        <p:txBody>
          <a:bodyPr>
            <a:normAutofit fontScale="85000" lnSpcReduction="20000"/>
          </a:bodyPr>
          <a:lstStyle/>
          <a:p>
            <a:r>
              <a:rPr lang="pl-PL" altLang="zh-TW" dirty="0">
                <a:latin typeface="Times New Roman" panose="02020603050405020304" pitchFamily="18" charset="0"/>
                <a:cs typeface="Times New Roman" panose="02020603050405020304" pitchFamily="18" charset="0"/>
              </a:rPr>
              <a:t>M (i, j) =  </a:t>
            </a:r>
            <a:r>
              <a:rPr lang="en-US" altLang="zh-TW" dirty="0">
                <a:latin typeface="Times New Roman" panose="02020603050405020304" pitchFamily="18" charset="0"/>
                <a:cs typeface="Times New Roman" panose="02020603050405020304" pitchFamily="18" charset="0"/>
              </a:rPr>
              <a:t>  { </a:t>
            </a:r>
            <a:r>
              <a:rPr lang="pl-PL" altLang="zh-TW" dirty="0">
                <a:latin typeface="Times New Roman" panose="02020603050405020304" pitchFamily="18" charset="0"/>
                <a:cs typeface="Times New Roman" panose="02020603050405020304" pitchFamily="18" charset="0"/>
              </a:rPr>
              <a:t>0;</a:t>
            </a:r>
            <a:r>
              <a:rPr lang="zh-TW" altLang="en-US" dirty="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r>
              <a:rPr lang="pl-PL" altLang="zh-TW" dirty="0">
                <a:latin typeface="Times New Roman" panose="02020603050405020304" pitchFamily="18" charset="0"/>
                <a:cs typeface="Times New Roman" panose="02020603050405020304" pitchFamily="18" charset="0"/>
              </a:rPr>
              <a:t>M (i-1, j-1) + </a:t>
            </a:r>
            <a:r>
              <a:rPr lang="en-US" altLang="zh-TW" dirty="0">
                <a:latin typeface="Times New Roman" panose="02020603050405020304" pitchFamily="18" charset="0"/>
                <a:cs typeface="Times New Roman" panose="02020603050405020304" pitchFamily="18" charset="0"/>
              </a:rPr>
              <a:t>1</a:t>
            </a:r>
            <a:r>
              <a:rPr lang="pl-PL" altLang="zh-TW" dirty="0">
                <a:latin typeface="Times New Roman" panose="02020603050405020304" pitchFamily="18" charset="0"/>
                <a:cs typeface="Times New Roman" panose="02020603050405020304" pitchFamily="18" charset="0"/>
              </a:rPr>
              <a:t>;</a:t>
            </a:r>
          </a:p>
          <a:p>
            <a:pPr marL="0" indent="0">
              <a:buNone/>
            </a:pPr>
            <a:r>
              <a:rPr lang="en-US" altLang="zh-TW" dirty="0">
                <a:latin typeface="Times New Roman" panose="02020603050405020304" pitchFamily="18" charset="0"/>
                <a:cs typeface="Times New Roman" panose="02020603050405020304" pitchFamily="18" charset="0"/>
              </a:rPr>
              <a:t>		max{ M(i-1,j) , M(i,j-1) }</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It is found the score of LCS alignment = 5.</a:t>
            </a:r>
          </a:p>
          <a:p>
            <a:pPr marL="0" indent="0">
              <a:buNone/>
            </a:pPr>
            <a:endParaRPr lang="en-US" altLang="zh-TW" b="1" dirty="0">
              <a:latin typeface="Times New Roman" panose="02020603050405020304" pitchFamily="18" charset="0"/>
              <a:cs typeface="Times New Roman" panose="02020603050405020304" pitchFamily="18" charset="0"/>
            </a:endParaRPr>
          </a:p>
          <a:p>
            <a:pPr marL="0" indent="0">
              <a:buNone/>
            </a:pPr>
            <a:r>
              <a:rPr lang="en-US" altLang="zh-TW" b="1" dirty="0">
                <a:latin typeface="Times New Roman" panose="02020603050405020304" pitchFamily="18" charset="0"/>
                <a:cs typeface="Times New Roman" panose="02020603050405020304" pitchFamily="18" charset="0"/>
              </a:rPr>
              <a:t>Performance: </a:t>
            </a:r>
          </a:p>
          <a:p>
            <a:pPr marL="0" indent="0">
              <a:buNone/>
            </a:pPr>
            <a:r>
              <a:rPr lang="en-US" altLang="zh-TW" b="1"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time Complexity is O (M*N) as it is</a:t>
            </a:r>
          </a:p>
          <a:p>
            <a:pPr marL="0" indent="0">
              <a:buNone/>
            </a:pPr>
            <a:r>
              <a:rPr lang="en-US" altLang="zh-TW" dirty="0">
                <a:latin typeface="Times New Roman" panose="02020603050405020304" pitchFamily="18" charset="0"/>
                <a:cs typeface="Times New Roman" panose="02020603050405020304" pitchFamily="18" charset="0"/>
              </a:rPr>
              <a:t>	time of backing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trace is (M+N).</a:t>
            </a:r>
          </a:p>
          <a:p>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1769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Enhanced Dynamic Algorithm of Genome Sequence </a:t>
            </a:r>
            <a:r>
              <a:rPr lang="en-US" altLang="zh-TW" dirty="0" err="1">
                <a:latin typeface="Times New Roman" panose="02020603050405020304" pitchFamily="18" charset="0"/>
                <a:cs typeface="Times New Roman" panose="02020603050405020304" pitchFamily="18" charset="0"/>
              </a:rPr>
              <a:t>Aligments</a:t>
            </a:r>
            <a:r>
              <a:rPr lang="en-US" altLang="zh-TW" dirty="0">
                <a:latin typeface="Times New Roman" panose="02020603050405020304" pitchFamily="18" charset="0"/>
                <a:cs typeface="Times New Roman" panose="02020603050405020304" pitchFamily="18" charset="0"/>
              </a:rPr>
              <a:t>(EDAGSA) algorithm</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4" name="內容版面配置區 3"/>
          <p:cNvPicPr>
            <a:picLocks noChangeAspect="1"/>
          </p:cNvPicPr>
          <p:nvPr/>
        </p:nvPicPr>
        <p:blipFill rotWithShape="1">
          <a:blip r:embed="rId3">
            <a:extLst>
              <a:ext uri="{28A0092B-C50C-407E-A947-70E740481C1C}">
                <a14:useLocalDpi xmlns:a14="http://schemas.microsoft.com/office/drawing/2010/main" val="0"/>
              </a:ext>
            </a:extLst>
          </a:blip>
          <a:srcRect t="4562" r="353"/>
          <a:stretch/>
        </p:blipFill>
        <p:spPr>
          <a:xfrm>
            <a:off x="132798" y="2089745"/>
            <a:ext cx="5010702" cy="4052094"/>
          </a:xfrm>
          <a:prstGeom prst="rect">
            <a:avLst/>
          </a:prstGeom>
        </p:spPr>
      </p:pic>
      <p:pic>
        <p:nvPicPr>
          <p:cNvPr id="5" name="內容版面配置區 3"/>
          <p:cNvPicPr>
            <a:picLocks noChangeAspect="1"/>
          </p:cNvPicPr>
          <p:nvPr/>
        </p:nvPicPr>
        <p:blipFill rotWithShape="1">
          <a:blip r:embed="rId4">
            <a:extLst>
              <a:ext uri="{28A0092B-C50C-407E-A947-70E740481C1C}">
                <a14:useLocalDpi xmlns:a14="http://schemas.microsoft.com/office/drawing/2010/main" val="0"/>
              </a:ext>
            </a:extLst>
          </a:blip>
          <a:srcRect r="-202" b="7404"/>
          <a:stretch/>
        </p:blipFill>
        <p:spPr>
          <a:xfrm>
            <a:off x="5295900" y="1919684"/>
            <a:ext cx="6917545" cy="4392216"/>
          </a:xfrm>
          <a:prstGeom prst="rect">
            <a:avLst/>
          </a:prstGeom>
        </p:spPr>
      </p:pic>
    </p:spTree>
    <p:extLst>
      <p:ext uri="{BB962C8B-B14F-4D97-AF65-F5344CB8AC3E}">
        <p14:creationId xmlns:p14="http://schemas.microsoft.com/office/powerpoint/2010/main" val="2727902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Times New Roman" panose="02020603050405020304" pitchFamily="18" charset="0"/>
                <a:cs typeface="Times New Roman" panose="02020603050405020304" pitchFamily="18" charset="0"/>
              </a:rPr>
              <a:t>Enhanced Dynamic Algorithm of Genome Sequence </a:t>
            </a:r>
            <a:r>
              <a:rPr lang="en-US" altLang="zh-TW" sz="3600" dirty="0" err="1">
                <a:latin typeface="Times New Roman" panose="02020603050405020304" pitchFamily="18" charset="0"/>
                <a:cs typeface="Times New Roman" panose="02020603050405020304" pitchFamily="18" charset="0"/>
              </a:rPr>
              <a:t>Aligments</a:t>
            </a:r>
            <a:r>
              <a:rPr lang="en-US" altLang="zh-TW" sz="3600" dirty="0">
                <a:latin typeface="Times New Roman" panose="02020603050405020304" pitchFamily="18" charset="0"/>
                <a:cs typeface="Times New Roman" panose="02020603050405020304" pitchFamily="18" charset="0"/>
              </a:rPr>
              <a:t>(EDAGSA) algorithm</a:t>
            </a:r>
            <a:endParaRPr lang="zh-TW" altLang="en-US" sz="3600"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858384" y="1796256"/>
            <a:ext cx="5028448" cy="4245769"/>
          </a:xfrm>
        </p:spPr>
      </p:pic>
      <p:sp>
        <p:nvSpPr>
          <p:cNvPr id="6" name="內容版面配置區 2"/>
          <p:cNvSpPr txBox="1">
            <a:spLocks/>
          </p:cNvSpPr>
          <p:nvPr/>
        </p:nvSpPr>
        <p:spPr>
          <a:xfrm>
            <a:off x="228216" y="1690688"/>
            <a:ext cx="113665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TW" altLang="en-US" dirty="0"/>
          </a:p>
        </p:txBody>
      </p:sp>
      <p:sp>
        <p:nvSpPr>
          <p:cNvPr id="3" name="文字方塊 2"/>
          <p:cNvSpPr txBox="1"/>
          <p:nvPr/>
        </p:nvSpPr>
        <p:spPr>
          <a:xfrm>
            <a:off x="228216" y="4359097"/>
            <a:ext cx="6350000" cy="1569660"/>
          </a:xfrm>
          <a:prstGeom prst="rect">
            <a:avLst/>
          </a:prstGeom>
          <a:noFill/>
        </p:spPr>
        <p:txBody>
          <a:bodyPr wrap="square" rtlCol="0">
            <a:spAutoFit/>
          </a:bodyPr>
          <a:lstStyle/>
          <a:p>
            <a:r>
              <a:rPr lang="zh-TW" altLang="en-US" sz="2400" dirty="0">
                <a:latin typeface="Times New Roman" panose="02020603050405020304" pitchFamily="18" charset="0"/>
                <a:cs typeface="Times New Roman" panose="02020603050405020304" pitchFamily="18" charset="0"/>
              </a:rPr>
              <a:t>以這個實例來說</a:t>
            </a:r>
            <a:r>
              <a:rPr lang="en-US" altLang="zh-TW" sz="2400" dirty="0">
                <a:latin typeface="Times New Roman" panose="02020603050405020304" pitchFamily="18" charset="0"/>
                <a:cs typeface="Times New Roman" panose="02020603050405020304" pitchFamily="18" charset="0"/>
              </a:rPr>
              <a:t>:</a:t>
            </a:r>
            <a:r>
              <a:rPr lang="zh-TW" altLang="en-US" sz="2400" dirty="0">
                <a:latin typeface="Times New Roman" panose="02020603050405020304" pitchFamily="18" charset="0"/>
                <a:cs typeface="Times New Roman" panose="02020603050405020304" pitchFamily="18" charset="0"/>
              </a:rPr>
              <a:t> 直的</a:t>
            </a:r>
            <a:r>
              <a:rPr lang="en-US" altLang="zh-TW" sz="2400" dirty="0">
                <a:latin typeface="Times New Roman" panose="02020603050405020304" pitchFamily="18" charset="0"/>
                <a:cs typeface="Times New Roman" panose="02020603050405020304" pitchFamily="18" charset="0"/>
              </a:rPr>
              <a:t>12</a:t>
            </a:r>
            <a:r>
              <a:rPr lang="zh-TW" altLang="en-US" sz="2400" dirty="0">
                <a:latin typeface="Times New Roman" panose="02020603050405020304" pitchFamily="18" charset="0"/>
                <a:cs typeface="Times New Roman" panose="02020603050405020304" pitchFamily="18" charset="0"/>
              </a:rPr>
              <a:t>個 橫的</a:t>
            </a:r>
            <a:r>
              <a:rPr lang="en-US" altLang="zh-TW" sz="2400" dirty="0">
                <a:latin typeface="Times New Roman" panose="02020603050405020304" pitchFamily="18" charset="0"/>
                <a:cs typeface="Times New Roman" panose="02020603050405020304" pitchFamily="18" charset="0"/>
              </a:rPr>
              <a:t>12</a:t>
            </a:r>
            <a:r>
              <a:rPr lang="zh-TW" altLang="en-US" sz="2400" dirty="0">
                <a:latin typeface="Times New Roman" panose="02020603050405020304" pitchFamily="18" charset="0"/>
                <a:cs typeface="Times New Roman" panose="02020603050405020304" pitchFamily="18" charset="0"/>
              </a:rPr>
              <a:t>個</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Time = O(3*M+1) = O(37) </a:t>
            </a:r>
          </a:p>
          <a:p>
            <a:r>
              <a:rPr lang="en-US" altLang="zh-TW" sz="2400" dirty="0">
                <a:latin typeface="Times New Roman" panose="02020603050405020304" pitchFamily="18" charset="0"/>
                <a:cs typeface="Times New Roman" panose="02020603050405020304" pitchFamily="18" charset="0"/>
              </a:rPr>
              <a:t> </a:t>
            </a:r>
          </a:p>
          <a:p>
            <a:r>
              <a:rPr lang="en-US" altLang="zh-TW" sz="2400" b="1" dirty="0">
                <a:latin typeface="Times New Roman" panose="02020603050405020304" pitchFamily="18" charset="0"/>
                <a:cs typeface="Times New Roman" panose="02020603050405020304" pitchFamily="18" charset="0"/>
              </a:rPr>
              <a:t>Space: </a:t>
            </a:r>
            <a:r>
              <a:rPr lang="en-US" altLang="zh-TW" sz="2400" i="1" dirty="0">
                <a:latin typeface="Times New Roman" panose="02020603050405020304" pitchFamily="18" charset="0"/>
                <a:cs typeface="Times New Roman" panose="02020603050405020304" pitchFamily="18" charset="0"/>
              </a:rPr>
              <a:t>O </a:t>
            </a:r>
            <a:r>
              <a:rPr lang="en-US" altLang="zh-TW" sz="2400" dirty="0">
                <a:latin typeface="Times New Roman" panose="02020603050405020304" pitchFamily="18" charset="0"/>
                <a:cs typeface="Times New Roman" panose="02020603050405020304" pitchFamily="18" charset="0"/>
              </a:rPr>
              <a:t>(3</a:t>
            </a:r>
            <a:r>
              <a:rPr lang="en-US" altLang="zh-TW" sz="2400" i="1" dirty="0">
                <a:latin typeface="Times New Roman" panose="02020603050405020304" pitchFamily="18" charset="0"/>
                <a:cs typeface="Times New Roman" panose="02020603050405020304" pitchFamily="18" charset="0"/>
              </a:rPr>
              <a:t>M </a:t>
            </a:r>
            <a:r>
              <a:rPr lang="en-US" altLang="zh-TW" sz="2400" dirty="0">
                <a:latin typeface="Times New Roman" panose="02020603050405020304" pitchFamily="18" charset="0"/>
                <a:cs typeface="Times New Roman" panose="02020603050405020304" pitchFamily="18" charset="0"/>
              </a:rPr>
              <a:t>+ 1) space =O(3*12+1) = O(37)</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7019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 Result</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5" name="內容版面配置區 4"/>
              <p:cNvGraphicFramePr>
                <a:graphicFrameLocks noGrp="1"/>
              </p:cNvGraphicFramePr>
              <p:nvPr>
                <p:ph idx="1"/>
                <p:extLst>
                  <p:ext uri="{D42A27DB-BD31-4B8C-83A1-F6EECF244321}">
                    <p14:modId xmlns:p14="http://schemas.microsoft.com/office/powerpoint/2010/main" val="2235641581"/>
                  </p:ext>
                </p:extLst>
              </p:nvPr>
            </p:nvGraphicFramePr>
            <p:xfrm>
              <a:off x="838198" y="1825625"/>
              <a:ext cx="10908324" cy="4408463"/>
            </p:xfrm>
            <a:graphic>
              <a:graphicData uri="http://schemas.openxmlformats.org/drawingml/2006/table">
                <a:tbl>
                  <a:tblPr firstRow="1" bandRow="1">
                    <a:tableStyleId>{5940675A-B579-460E-94D1-54222C63F5DA}</a:tableStyleId>
                  </a:tblPr>
                  <a:tblGrid>
                    <a:gridCol w="2159616">
                      <a:extLst>
                        <a:ext uri="{9D8B030D-6E8A-4147-A177-3AD203B41FA5}">
                          <a16:colId xmlns:a16="http://schemas.microsoft.com/office/drawing/2014/main" val="20000"/>
                        </a:ext>
                      </a:extLst>
                    </a:gridCol>
                    <a:gridCol w="2450486">
                      <a:extLst>
                        <a:ext uri="{9D8B030D-6E8A-4147-A177-3AD203B41FA5}">
                          <a16:colId xmlns:a16="http://schemas.microsoft.com/office/drawing/2014/main" val="20001"/>
                        </a:ext>
                      </a:extLst>
                    </a:gridCol>
                    <a:gridCol w="2692400">
                      <a:extLst>
                        <a:ext uri="{9D8B030D-6E8A-4147-A177-3AD203B41FA5}">
                          <a16:colId xmlns:a16="http://schemas.microsoft.com/office/drawing/2014/main" val="20002"/>
                        </a:ext>
                      </a:extLst>
                    </a:gridCol>
                    <a:gridCol w="1917700">
                      <a:extLst>
                        <a:ext uri="{9D8B030D-6E8A-4147-A177-3AD203B41FA5}">
                          <a16:colId xmlns:a16="http://schemas.microsoft.com/office/drawing/2014/main" val="20003"/>
                        </a:ext>
                      </a:extLst>
                    </a:gridCol>
                    <a:gridCol w="1688122">
                      <a:extLst>
                        <a:ext uri="{9D8B030D-6E8A-4147-A177-3AD203B41FA5}">
                          <a16:colId xmlns:a16="http://schemas.microsoft.com/office/drawing/2014/main" val="20004"/>
                        </a:ext>
                      </a:extLst>
                    </a:gridCol>
                  </a:tblGrid>
                  <a:tr h="970329">
                    <a:tc>
                      <a:txBody>
                        <a:bodyPr/>
                        <a:lstStyle/>
                        <a:p>
                          <a:r>
                            <a:rPr lang="en-US" altLang="zh-TW" sz="2000" dirty="0">
                              <a:latin typeface="Times New Roman" panose="02020603050405020304" pitchFamily="18" charset="0"/>
                              <a:cs typeface="Times New Roman" panose="02020603050405020304" pitchFamily="18" charset="0"/>
                            </a:rPr>
                            <a:t>Algorithm</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Execution time (</a:t>
                          </a:r>
                          <a:r>
                            <a:rPr lang="en-US" altLang="zh-TW" sz="2000" dirty="0" err="1">
                              <a:latin typeface="Times New Roman" panose="02020603050405020304" pitchFamily="18" charset="0"/>
                              <a:cs typeface="Times New Roman" panose="02020603050405020304" pitchFamily="18" charset="0"/>
                            </a:rPr>
                            <a:t>mesc</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dirty="0">
                              <a:latin typeface="Times New Roman" panose="02020603050405020304" pitchFamily="18" charset="0"/>
                              <a:cs typeface="Times New Roman" panose="02020603050405020304" pitchFamily="18" charset="0"/>
                            </a:rPr>
                            <a:t>Execution time(</a:t>
                          </a:r>
                          <a:r>
                            <a:rPr lang="en-US" altLang="zh-TW" sz="2000" dirty="0" err="1">
                              <a:latin typeface="Times New Roman" panose="02020603050405020304" pitchFamily="18" charset="0"/>
                              <a:cs typeface="Times New Roman" panose="02020603050405020304" pitchFamily="18" charset="0"/>
                            </a:rPr>
                            <a:t>msec</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p>
                          <a:r>
                            <a:rPr lang="en-US" altLang="zh-TW" sz="2000" dirty="0">
                              <a:latin typeface="Times New Roman" panose="02020603050405020304" pitchFamily="18" charset="0"/>
                              <a:cs typeface="Times New Roman" panose="02020603050405020304" pitchFamily="18" charset="0"/>
                            </a:rPr>
                            <a:t>EST’S</a:t>
                          </a:r>
                          <a:r>
                            <a:rPr lang="en-US" altLang="zh-TW" sz="2000" baseline="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sequence</a:t>
                          </a:r>
                        </a:p>
                        <a:p>
                          <a:r>
                            <a:rPr lang="en-US" altLang="zh-TW" sz="2000" dirty="0">
                              <a:latin typeface="Times New Roman" panose="02020603050405020304" pitchFamily="18" charset="0"/>
                              <a:cs typeface="Times New Roman" panose="02020603050405020304" pitchFamily="18" charset="0"/>
                            </a:rPr>
                            <a:t>(length 231)</a:t>
                          </a:r>
                        </a:p>
                      </a:txBody>
                      <a:tcPr/>
                    </a:tc>
                    <a:tc>
                      <a:txBody>
                        <a:bodyPr/>
                        <a:lstStyle/>
                        <a:p>
                          <a:r>
                            <a:rPr lang="en-US" altLang="zh-TW" sz="2000" dirty="0">
                              <a:latin typeface="Times New Roman" panose="02020603050405020304" pitchFamily="18" charset="0"/>
                              <a:cs typeface="Times New Roman" panose="02020603050405020304" pitchFamily="18" charset="0"/>
                            </a:rPr>
                            <a:t>time</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Space</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826477">
                    <a:tc>
                      <a:txBody>
                        <a:bodyPr/>
                        <a:lstStyle/>
                        <a:p>
                          <a:r>
                            <a:rPr lang="en-US" altLang="zh-TW" sz="2000" dirty="0">
                              <a:latin typeface="Times New Roman" panose="02020603050405020304" pitchFamily="18" charset="0"/>
                              <a:cs typeface="Times New Roman" panose="02020603050405020304" pitchFamily="18" charset="0"/>
                            </a:rPr>
                            <a:t>Needleman-</a:t>
                          </a:r>
                          <a:r>
                            <a:rPr lang="en-US" altLang="zh-TW" sz="2000" dirty="0" err="1">
                              <a:latin typeface="Times New Roman" panose="02020603050405020304" pitchFamily="18" charset="0"/>
                              <a:cs typeface="Times New Roman" panose="02020603050405020304" pitchFamily="18" charset="0"/>
                            </a:rPr>
                            <a:t>Wunsch</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0.7929783 </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4.4839166</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marL="0" indent="0">
                            <a:buNone/>
                          </a:pPr>
                          <a:r>
                            <a:rPr lang="en-US" altLang="zh-TW" sz="2000"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sz="2000" i="1" smtClean="0">
                                      <a:latin typeface="Cambria Math" panose="02040503050406030204" pitchFamily="18" charset="0"/>
                                    </a:rPr>
                                  </m:ctrlPr>
                                </m:sSupPr>
                                <m:e>
                                  <m:r>
                                    <a:rPr lang="en-US" altLang="zh-TW" sz="2000" b="0" i="1" smtClean="0">
                                      <a:latin typeface="Cambria Math" panose="02040503050406030204" pitchFamily="18" charset="0"/>
                                    </a:rPr>
                                    <m:t>𝑛</m:t>
                                  </m:r>
                                </m:e>
                                <m:sup>
                                  <m:r>
                                    <a:rPr lang="en-US" altLang="zh-TW" sz="2000" b="0" i="1" smtClean="0">
                                      <a:latin typeface="Cambria Math" panose="02040503050406030204" pitchFamily="18" charset="0"/>
                                    </a:rPr>
                                    <m:t>3</m:t>
                                  </m:r>
                                </m:sup>
                              </m:sSup>
                            </m:oMath>
                          </a14:m>
                          <a:r>
                            <a:rPr lang="en-US" altLang="zh-TW" sz="2000" dirty="0">
                              <a:latin typeface="Times New Roman" panose="02020603050405020304" pitchFamily="18" charset="0"/>
                              <a:cs typeface="Times New Roman" panose="02020603050405020304" pitchFamily="18" charset="0"/>
                            </a:rPr>
                            <a:t>)</a:t>
                          </a:r>
                          <a:br>
                            <a:rPr lang="en-US" altLang="zh-TW" sz="2000" dirty="0">
                              <a:latin typeface="Times New Roman" panose="02020603050405020304" pitchFamily="18" charset="0"/>
                              <a:cs typeface="Times New Roman" panose="02020603050405020304" pitchFamily="18" charset="0"/>
                            </a:rPr>
                          </a:b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O(</a:t>
                          </a:r>
                          <a:r>
                            <a:rPr lang="en-US" altLang="zh-TW" sz="2000" dirty="0" err="1">
                              <a:latin typeface="Times New Roman" panose="02020603050405020304" pitchFamily="18" charset="0"/>
                              <a:cs typeface="Times New Roman" panose="02020603050405020304" pitchFamily="18" charset="0"/>
                            </a:rPr>
                            <a:t>mn</a:t>
                          </a:r>
                          <a:r>
                            <a:rPr lang="en-US" altLang="zh-TW" sz="2000" dirty="0">
                              <a:latin typeface="Times New Roman" panose="02020603050405020304" pitchFamily="18" charset="0"/>
                              <a:cs typeface="Times New Roman" panose="02020603050405020304" pitchFamily="18" charset="0"/>
                            </a:rPr>
                            <a:t>)</a:t>
                          </a:r>
                        </a:p>
                        <a:p>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844062">
                    <a:tc>
                      <a:txBody>
                        <a:bodyPr/>
                        <a:lstStyle/>
                        <a:p>
                          <a:r>
                            <a:rPr lang="en-US" altLang="zh-TW" sz="2000" dirty="0">
                              <a:latin typeface="Times New Roman" panose="02020603050405020304" pitchFamily="18" charset="0"/>
                              <a:cs typeface="Times New Roman" panose="02020603050405020304" pitchFamily="18" charset="0"/>
                            </a:rPr>
                            <a:t>Smith-Waterman</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0.5368433</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4.3071470</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dirty="0">
                              <a:latin typeface="Times New Roman" panose="02020603050405020304" pitchFamily="18" charset="0"/>
                              <a:cs typeface="Times New Roman" panose="02020603050405020304" pitchFamily="18" charset="0"/>
                            </a:rPr>
                            <a:t>O(</a:t>
                          </a:r>
                          <a:r>
                            <a:rPr lang="en-US" altLang="zh-TW" sz="2000" dirty="0" err="1">
                              <a:latin typeface="Times New Roman" panose="02020603050405020304" pitchFamily="18" charset="0"/>
                              <a:cs typeface="Times New Roman" panose="02020603050405020304" pitchFamily="18" charset="0"/>
                            </a:rPr>
                            <a:t>mn</a:t>
                          </a:r>
                          <a:r>
                            <a:rPr lang="en-US" altLang="zh-TW" sz="2000" dirty="0">
                              <a:latin typeface="Times New Roman" panose="02020603050405020304" pitchFamily="18" charset="0"/>
                              <a:cs typeface="Times New Roman" panose="02020603050405020304" pitchFamily="18" charset="0"/>
                            </a:rPr>
                            <a:t>(</a:t>
                          </a:r>
                          <a:r>
                            <a:rPr lang="en-US" altLang="zh-TW" sz="2000" dirty="0" err="1">
                              <a:latin typeface="Times New Roman" panose="02020603050405020304" pitchFamily="18" charset="0"/>
                              <a:cs typeface="Times New Roman" panose="02020603050405020304" pitchFamily="18" charset="0"/>
                            </a:rPr>
                            <a:t>m+n</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dirty="0">
                              <a:latin typeface="Times New Roman" panose="02020603050405020304" pitchFamily="18" charset="0"/>
                              <a:cs typeface="Times New Roman" panose="02020603050405020304" pitchFamily="18" charset="0"/>
                            </a:rPr>
                            <a:t>=</a:t>
                          </a:r>
                          <a:r>
                            <a:rPr lang="en-US" altLang="zh-TW" sz="2000" b="0"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altLang="zh-TW" sz="2000" b="0" i="1" smtClean="0">
                                      <a:latin typeface="Cambria Math" panose="02040503050406030204" pitchFamily="18" charset="0"/>
                                    </a:rPr>
                                  </m:ctrlPr>
                                </m:sSupPr>
                                <m:e>
                                  <m:r>
                                    <a:rPr lang="en-US" altLang="zh-TW" sz="2000" b="0" i="1" smtClean="0">
                                      <a:latin typeface="Cambria Math" panose="02040503050406030204" pitchFamily="18" charset="0"/>
                                    </a:rPr>
                                    <m:t>𝑚</m:t>
                                  </m:r>
                                </m:e>
                                <m:sup>
                                  <m:r>
                                    <a:rPr lang="en-US" altLang="zh-TW" sz="2000" b="0" i="1" smtClean="0">
                                      <a:latin typeface="Cambria Math" panose="02040503050406030204" pitchFamily="18" charset="0"/>
                                    </a:rPr>
                                    <m:t>2</m:t>
                                  </m:r>
                                </m:sup>
                              </m:sSup>
                              <m:r>
                                <a:rPr lang="en-US" altLang="zh-TW" sz="2000" b="0" i="1" smtClean="0">
                                  <a:latin typeface="Cambria Math" panose="02040503050406030204" pitchFamily="18" charset="0"/>
                                </a:rPr>
                                <m:t>𝑛</m:t>
                              </m:r>
                              <m:r>
                                <a:rPr lang="en-US" altLang="zh-TW" sz="2000" b="0" i="1" smtClean="0">
                                  <a:latin typeface="Cambria Math" panose="02040503050406030204" pitchFamily="18" charset="0"/>
                                </a:rPr>
                                <m:t>)</m:t>
                              </m:r>
                            </m:oMath>
                          </a14:m>
                          <a:endParaRPr lang="en-US" altLang="zh-TW"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O(</a:t>
                          </a:r>
                          <a:r>
                            <a:rPr lang="en-US" altLang="zh-TW" sz="2000" dirty="0" err="1">
                              <a:latin typeface="Times New Roman" panose="02020603050405020304" pitchFamily="18" charset="0"/>
                              <a:cs typeface="Times New Roman" panose="02020603050405020304" pitchFamily="18" charset="0"/>
                            </a:rPr>
                            <a:t>mn</a:t>
                          </a:r>
                          <a:r>
                            <a:rPr lang="en-US" altLang="zh-TW" sz="2000" dirty="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859552">
                    <a:tc>
                      <a:txBody>
                        <a:bodyPr/>
                        <a:lstStyle/>
                        <a:p>
                          <a:r>
                            <a:rPr lang="en-US" altLang="zh-TW" sz="2000" dirty="0">
                              <a:latin typeface="Times New Roman" panose="02020603050405020304" pitchFamily="18" charset="0"/>
                              <a:cs typeface="Times New Roman" panose="02020603050405020304" pitchFamily="18" charset="0"/>
                            </a:rPr>
                            <a:t>Longest Common </a:t>
                          </a:r>
                          <a:r>
                            <a:rPr lang="en-US" altLang="zh-TW" sz="2000" dirty="0" err="1">
                              <a:latin typeface="Times New Roman" panose="02020603050405020304" pitchFamily="18" charset="0"/>
                              <a:cs typeface="Times New Roman" panose="02020603050405020304" pitchFamily="18" charset="0"/>
                            </a:rPr>
                            <a:t>Subsequense</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0.4060487</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3.0585219</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b="0" i="0" dirty="0">
                              <a:latin typeface="Times New Roman" panose="02020603050405020304" pitchFamily="18" charset="0"/>
                              <a:cs typeface="Times New Roman" panose="02020603050405020304" pitchFamily="18" charset="0"/>
                            </a:rPr>
                            <a:t>O(mn</a:t>
                          </a:r>
                          <a14:m>
                            <m:oMath xmlns:m="http://schemas.openxmlformats.org/officeDocument/2006/math">
                              <m:r>
                                <a:rPr lang="en-US" altLang="zh-TW" sz="2000" b="0" i="1" smtClean="0">
                                  <a:latin typeface="Cambria Math" panose="02040503050406030204" pitchFamily="18" charset="0"/>
                                </a:rPr>
                                <m:t>)</m:t>
                              </m:r>
                            </m:oMath>
                          </a14:m>
                          <a:r>
                            <a:rPr lang="zh-TW" altLang="en-US" sz="2000" dirty="0">
                              <a:latin typeface="Times New Roman" panose="02020603050405020304" pitchFamily="18" charset="0"/>
                              <a:cs typeface="Times New Roman" panose="02020603050405020304" pitchFamily="18" charset="0"/>
                            </a:rPr>
                            <a:t> </a:t>
                          </a:r>
                        </a:p>
                        <a:p>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O(n)</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872532">
                    <a:tc>
                      <a:txBody>
                        <a:bodyPr/>
                        <a:lstStyle/>
                        <a:p>
                          <a:r>
                            <a:rPr lang="en-US" altLang="zh-TW" sz="2000" dirty="0">
                              <a:latin typeface="Times New Roman" panose="02020603050405020304" pitchFamily="18" charset="0"/>
                              <a:cs typeface="Times New Roman" panose="02020603050405020304" pitchFamily="18" charset="0"/>
                            </a:rPr>
                            <a:t>EDAGSA</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0.2605421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2.2647422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3m+1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a:latin typeface="Times New Roman" panose="02020603050405020304" pitchFamily="18" charset="0"/>
                              <a:cs typeface="Times New Roman" panose="02020603050405020304" pitchFamily="18" charset="0"/>
                            </a:rPr>
                            <a:t>3m+1</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mc:Choice>
        <mc:Fallback xmlns="">
          <p:graphicFrame>
            <p:nvGraphicFramePr>
              <p:cNvPr id="5" name="內容版面配置區 4"/>
              <p:cNvGraphicFramePr>
                <a:graphicFrameLocks noGrp="1"/>
              </p:cNvGraphicFramePr>
              <p:nvPr>
                <p:ph idx="1"/>
                <p:extLst>
                  <p:ext uri="{D42A27DB-BD31-4B8C-83A1-F6EECF244321}">
                    <p14:modId xmlns:p14="http://schemas.microsoft.com/office/powerpoint/2010/main" val="2235641581"/>
                  </p:ext>
                </p:extLst>
              </p:nvPr>
            </p:nvGraphicFramePr>
            <p:xfrm>
              <a:off x="838198" y="1825625"/>
              <a:ext cx="10908324" cy="4408463"/>
            </p:xfrm>
            <a:graphic>
              <a:graphicData uri="http://schemas.openxmlformats.org/drawingml/2006/table">
                <a:tbl>
                  <a:tblPr firstRow="1" bandRow="1">
                    <a:tableStyleId>{5940675A-B579-460E-94D1-54222C63F5DA}</a:tableStyleId>
                  </a:tblPr>
                  <a:tblGrid>
                    <a:gridCol w="2159616"/>
                    <a:gridCol w="2450486"/>
                    <a:gridCol w="2692400"/>
                    <a:gridCol w="1917700"/>
                    <a:gridCol w="1688122"/>
                  </a:tblGrid>
                  <a:tr h="1005840">
                    <a:tc>
                      <a:txBody>
                        <a:bodyPr/>
                        <a:lstStyle/>
                        <a:p>
                          <a:r>
                            <a:rPr lang="en-US" altLang="zh-TW" sz="2000" dirty="0" smtClean="0">
                              <a:latin typeface="Times New Roman" panose="02020603050405020304" pitchFamily="18" charset="0"/>
                              <a:cs typeface="Times New Roman" panose="02020603050405020304" pitchFamily="18" charset="0"/>
                            </a:rPr>
                            <a:t>Algorithm</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Execution time (</a:t>
                          </a:r>
                          <a:r>
                            <a:rPr lang="en-US" altLang="zh-TW" sz="2000" dirty="0" err="1" smtClean="0">
                              <a:latin typeface="Times New Roman" panose="02020603050405020304" pitchFamily="18" charset="0"/>
                              <a:cs typeface="Times New Roman" panose="02020603050405020304" pitchFamily="18" charset="0"/>
                            </a:rPr>
                            <a:t>mesc</a:t>
                          </a:r>
                          <a:r>
                            <a:rPr lang="en-US" altLang="zh-TW" sz="2000" dirty="0" smtClean="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000" dirty="0" smtClean="0">
                              <a:latin typeface="Times New Roman" panose="02020603050405020304" pitchFamily="18" charset="0"/>
                              <a:cs typeface="Times New Roman" panose="02020603050405020304" pitchFamily="18" charset="0"/>
                            </a:rPr>
                            <a:t>Execution time(</a:t>
                          </a:r>
                          <a:r>
                            <a:rPr lang="en-US" altLang="zh-TW" sz="2000" dirty="0" err="1" smtClean="0">
                              <a:latin typeface="Times New Roman" panose="02020603050405020304" pitchFamily="18" charset="0"/>
                              <a:cs typeface="Times New Roman" panose="02020603050405020304" pitchFamily="18" charset="0"/>
                            </a:rPr>
                            <a:t>msec</a:t>
                          </a:r>
                          <a:r>
                            <a:rPr lang="en-US" altLang="zh-TW" sz="2000" dirty="0" smtClean="0">
                              <a:latin typeface="Times New Roman" panose="02020603050405020304" pitchFamily="18" charset="0"/>
                              <a:cs typeface="Times New Roman" panose="02020603050405020304" pitchFamily="18" charset="0"/>
                            </a:rPr>
                            <a:t>)</a:t>
                          </a:r>
                          <a:endParaRPr lang="zh-TW" altLang="en-US" sz="2000" dirty="0" smtClean="0">
                            <a:latin typeface="Times New Roman" panose="02020603050405020304" pitchFamily="18" charset="0"/>
                            <a:cs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EST’S</a:t>
                          </a:r>
                          <a:r>
                            <a:rPr lang="en-US" altLang="zh-TW" sz="2000" baseline="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sequence</a:t>
                          </a:r>
                        </a:p>
                        <a:p>
                          <a:r>
                            <a:rPr lang="en-US" altLang="zh-TW" sz="2000" dirty="0" smtClean="0">
                              <a:latin typeface="Times New Roman" panose="02020603050405020304" pitchFamily="18" charset="0"/>
                              <a:cs typeface="Times New Roman" panose="02020603050405020304" pitchFamily="18" charset="0"/>
                            </a:rPr>
                            <a:t>(length 231)</a:t>
                          </a:r>
                        </a:p>
                      </a:txBody>
                      <a:tcPr/>
                    </a:tc>
                    <a:tc>
                      <a:txBody>
                        <a:bodyPr/>
                        <a:lstStyle/>
                        <a:p>
                          <a:r>
                            <a:rPr lang="en-US" altLang="zh-TW" sz="2000" dirty="0" smtClean="0">
                              <a:latin typeface="Times New Roman" panose="02020603050405020304" pitchFamily="18" charset="0"/>
                              <a:cs typeface="Times New Roman" panose="02020603050405020304" pitchFamily="18" charset="0"/>
                            </a:rPr>
                            <a:t>time</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Space</a:t>
                          </a:r>
                          <a:endParaRPr lang="zh-TW" altLang="en-US" sz="2000" dirty="0">
                            <a:latin typeface="Times New Roman" panose="02020603050405020304" pitchFamily="18" charset="0"/>
                            <a:cs typeface="Times New Roman" panose="02020603050405020304" pitchFamily="18" charset="0"/>
                          </a:endParaRPr>
                        </a:p>
                      </a:txBody>
                      <a:tcPr/>
                    </a:tc>
                  </a:tr>
                  <a:tr h="826477">
                    <a:tc>
                      <a:txBody>
                        <a:bodyPr/>
                        <a:lstStyle/>
                        <a:p>
                          <a:r>
                            <a:rPr lang="en-US" altLang="zh-TW" sz="2000" dirty="0" smtClean="0">
                              <a:latin typeface="Times New Roman" panose="02020603050405020304" pitchFamily="18" charset="0"/>
                              <a:cs typeface="Times New Roman" panose="02020603050405020304" pitchFamily="18" charset="0"/>
                            </a:rPr>
                            <a:t>Needleman-</a:t>
                          </a:r>
                          <a:r>
                            <a:rPr lang="en-US" altLang="zh-TW" sz="2000" dirty="0" err="1" smtClean="0">
                              <a:latin typeface="Times New Roman" panose="02020603050405020304" pitchFamily="18" charset="0"/>
                              <a:cs typeface="Times New Roman" panose="02020603050405020304" pitchFamily="18" charset="0"/>
                            </a:rPr>
                            <a:t>Wunsch</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0.7929783 </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4.4839166</a:t>
                          </a:r>
                          <a:endParaRPr lang="zh-TW" altLang="en-US" sz="2000" dirty="0">
                            <a:latin typeface="Times New Roman" panose="02020603050405020304" pitchFamily="18" charset="0"/>
                            <a:cs typeface="Times New Roman" panose="02020603050405020304" pitchFamily="18" charset="0"/>
                          </a:endParaRPr>
                        </a:p>
                      </a:txBody>
                      <a:tcPr/>
                    </a:tc>
                    <a:tc>
                      <a:txBody>
                        <a:bodyPr/>
                        <a:lstStyle/>
                        <a:p>
                          <a:endParaRPr lang="zh-TW"/>
                        </a:p>
                      </a:txBody>
                      <a:tcPr>
                        <a:blipFill rotWithShape="0">
                          <a:blip r:embed="rId3"/>
                          <a:stretch>
                            <a:fillRect l="-380635" t="-125000" r="-88889" b="-312500"/>
                          </a:stretch>
                        </a:blipFill>
                      </a:tcPr>
                    </a:tc>
                    <a:tc>
                      <a:txBody>
                        <a:bodyPr/>
                        <a:lstStyle/>
                        <a:p>
                          <a:r>
                            <a:rPr lang="en-US" altLang="zh-TW" sz="2000" dirty="0" smtClean="0">
                              <a:latin typeface="Times New Roman" panose="02020603050405020304" pitchFamily="18" charset="0"/>
                              <a:cs typeface="Times New Roman" panose="02020603050405020304" pitchFamily="18" charset="0"/>
                            </a:rPr>
                            <a:t>O(</a:t>
                          </a:r>
                          <a:r>
                            <a:rPr lang="en-US" altLang="zh-TW" sz="2000" dirty="0" err="1" smtClean="0">
                              <a:latin typeface="Times New Roman" panose="02020603050405020304" pitchFamily="18" charset="0"/>
                              <a:cs typeface="Times New Roman" panose="02020603050405020304" pitchFamily="18" charset="0"/>
                            </a:rPr>
                            <a:t>mn</a:t>
                          </a:r>
                          <a:r>
                            <a:rPr lang="en-US" altLang="zh-TW" sz="2000" dirty="0" smtClean="0">
                              <a:latin typeface="Times New Roman" panose="02020603050405020304" pitchFamily="18" charset="0"/>
                              <a:cs typeface="Times New Roman" panose="02020603050405020304" pitchFamily="18" charset="0"/>
                            </a:rPr>
                            <a:t>)</a:t>
                          </a:r>
                        </a:p>
                        <a:p>
                          <a:endParaRPr lang="zh-TW" altLang="en-US" sz="2000" dirty="0">
                            <a:latin typeface="Times New Roman" panose="02020603050405020304" pitchFamily="18" charset="0"/>
                            <a:cs typeface="Times New Roman" panose="02020603050405020304" pitchFamily="18" charset="0"/>
                          </a:endParaRPr>
                        </a:p>
                      </a:txBody>
                      <a:tcPr/>
                    </a:tc>
                  </a:tr>
                  <a:tr h="844062">
                    <a:tc>
                      <a:txBody>
                        <a:bodyPr/>
                        <a:lstStyle/>
                        <a:p>
                          <a:r>
                            <a:rPr lang="en-US" altLang="zh-TW" sz="2000" dirty="0" smtClean="0">
                              <a:latin typeface="Times New Roman" panose="02020603050405020304" pitchFamily="18" charset="0"/>
                              <a:cs typeface="Times New Roman" panose="02020603050405020304" pitchFamily="18" charset="0"/>
                            </a:rPr>
                            <a:t>Smith-Waterman</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0.5368433</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4.3071470</a:t>
                          </a:r>
                          <a:endParaRPr lang="zh-TW" altLang="en-US" sz="2000" dirty="0">
                            <a:latin typeface="Times New Roman" panose="02020603050405020304" pitchFamily="18" charset="0"/>
                            <a:cs typeface="Times New Roman" panose="02020603050405020304" pitchFamily="18" charset="0"/>
                          </a:endParaRPr>
                        </a:p>
                      </a:txBody>
                      <a:tcPr/>
                    </a:tc>
                    <a:tc>
                      <a:txBody>
                        <a:bodyPr/>
                        <a:lstStyle/>
                        <a:p>
                          <a:endParaRPr lang="zh-TW"/>
                        </a:p>
                      </a:txBody>
                      <a:tcPr>
                        <a:blipFill rotWithShape="0">
                          <a:blip r:embed="rId3"/>
                          <a:stretch>
                            <a:fillRect l="-380635" t="-220144" r="-88889" b="-205755"/>
                          </a:stretch>
                        </a:blipFill>
                      </a:tcPr>
                    </a:tc>
                    <a:tc>
                      <a:txBody>
                        <a:bodyPr/>
                        <a:lstStyle/>
                        <a:p>
                          <a:r>
                            <a:rPr lang="en-US" altLang="zh-TW" sz="2000" dirty="0" smtClean="0">
                              <a:latin typeface="Times New Roman" panose="02020603050405020304" pitchFamily="18" charset="0"/>
                              <a:cs typeface="Times New Roman" panose="02020603050405020304" pitchFamily="18" charset="0"/>
                            </a:rPr>
                            <a:t>O(</a:t>
                          </a:r>
                          <a:r>
                            <a:rPr lang="en-US" altLang="zh-TW" sz="2000" dirty="0" err="1" smtClean="0">
                              <a:latin typeface="Times New Roman" panose="02020603050405020304" pitchFamily="18" charset="0"/>
                              <a:cs typeface="Times New Roman" panose="02020603050405020304" pitchFamily="18" charset="0"/>
                            </a:rPr>
                            <a:t>mn</a:t>
                          </a:r>
                          <a:r>
                            <a:rPr lang="en-US" altLang="zh-TW" sz="2000" dirty="0" smtClean="0">
                              <a:latin typeface="Times New Roman" panose="02020603050405020304" pitchFamily="18" charset="0"/>
                              <a:cs typeface="Times New Roman" panose="02020603050405020304" pitchFamily="18" charset="0"/>
                            </a:rPr>
                            <a:t>)</a:t>
                          </a:r>
                          <a:endParaRPr lang="zh-TW" altLang="en-US" sz="2000" dirty="0">
                            <a:latin typeface="Times New Roman" panose="02020603050405020304" pitchFamily="18" charset="0"/>
                            <a:cs typeface="Times New Roman" panose="02020603050405020304" pitchFamily="18" charset="0"/>
                          </a:endParaRPr>
                        </a:p>
                      </a:txBody>
                      <a:tcPr/>
                    </a:tc>
                  </a:tr>
                  <a:tr h="859552">
                    <a:tc>
                      <a:txBody>
                        <a:bodyPr/>
                        <a:lstStyle/>
                        <a:p>
                          <a:r>
                            <a:rPr lang="en-US" altLang="zh-TW" sz="2000" dirty="0" smtClean="0">
                              <a:latin typeface="Times New Roman" panose="02020603050405020304" pitchFamily="18" charset="0"/>
                              <a:cs typeface="Times New Roman" panose="02020603050405020304" pitchFamily="18" charset="0"/>
                            </a:rPr>
                            <a:t>Longest </a:t>
                          </a:r>
                          <a:r>
                            <a:rPr lang="en-US" altLang="zh-TW" sz="2000" dirty="0" smtClean="0">
                              <a:latin typeface="Times New Roman" panose="02020603050405020304" pitchFamily="18" charset="0"/>
                              <a:cs typeface="Times New Roman" panose="02020603050405020304" pitchFamily="18" charset="0"/>
                            </a:rPr>
                            <a:t>Common </a:t>
                          </a:r>
                          <a:r>
                            <a:rPr lang="en-US" altLang="zh-TW" sz="2000" dirty="0" err="1" smtClean="0">
                              <a:latin typeface="Times New Roman" panose="02020603050405020304" pitchFamily="18" charset="0"/>
                              <a:cs typeface="Times New Roman" panose="02020603050405020304" pitchFamily="18" charset="0"/>
                            </a:rPr>
                            <a:t>Subsequense</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0.4060487</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3.0585219</a:t>
                          </a:r>
                          <a:endParaRPr lang="zh-TW" altLang="en-US" sz="2000" dirty="0">
                            <a:latin typeface="Times New Roman" panose="02020603050405020304" pitchFamily="18" charset="0"/>
                            <a:cs typeface="Times New Roman" panose="02020603050405020304" pitchFamily="18" charset="0"/>
                          </a:endParaRPr>
                        </a:p>
                      </a:txBody>
                      <a:tcPr/>
                    </a:tc>
                    <a:tc>
                      <a:txBody>
                        <a:bodyPr/>
                        <a:lstStyle/>
                        <a:p>
                          <a:endParaRPr lang="zh-TW"/>
                        </a:p>
                      </a:txBody>
                      <a:tcPr>
                        <a:blipFill rotWithShape="0">
                          <a:blip r:embed="rId3"/>
                          <a:stretch>
                            <a:fillRect l="-380635" t="-315603" r="-88889" b="-102837"/>
                          </a:stretch>
                        </a:blipFill>
                      </a:tcPr>
                    </a:tc>
                    <a:tc>
                      <a:txBody>
                        <a:bodyPr/>
                        <a:lstStyle/>
                        <a:p>
                          <a:r>
                            <a:rPr lang="en-US" altLang="zh-TW" sz="2000" dirty="0" smtClean="0">
                              <a:latin typeface="Times New Roman" panose="02020603050405020304" pitchFamily="18" charset="0"/>
                              <a:cs typeface="Times New Roman" panose="02020603050405020304" pitchFamily="18" charset="0"/>
                            </a:rPr>
                            <a:t>O(n)</a:t>
                          </a:r>
                          <a:endParaRPr lang="zh-TW" altLang="en-US" sz="2000" dirty="0">
                            <a:latin typeface="Times New Roman" panose="02020603050405020304" pitchFamily="18" charset="0"/>
                            <a:cs typeface="Times New Roman" panose="02020603050405020304" pitchFamily="18" charset="0"/>
                          </a:endParaRPr>
                        </a:p>
                      </a:txBody>
                      <a:tcPr/>
                    </a:tc>
                  </a:tr>
                  <a:tr h="872532">
                    <a:tc>
                      <a:txBody>
                        <a:bodyPr/>
                        <a:lstStyle/>
                        <a:p>
                          <a:r>
                            <a:rPr lang="en-US" altLang="zh-TW" sz="2000" dirty="0" smtClean="0">
                              <a:latin typeface="Times New Roman" panose="02020603050405020304" pitchFamily="18" charset="0"/>
                              <a:cs typeface="Times New Roman" panose="02020603050405020304" pitchFamily="18" charset="0"/>
                            </a:rPr>
                            <a:t>EDAGSA</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0.2605421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2.2647422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3m+1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r>
                            <a:rPr lang="en-US" altLang="zh-TW" sz="2000" dirty="0" smtClean="0">
                              <a:latin typeface="Times New Roman" panose="02020603050405020304" pitchFamily="18" charset="0"/>
                              <a:cs typeface="Times New Roman" panose="02020603050405020304" pitchFamily="18" charset="0"/>
                            </a:rPr>
                            <a:t>3m+1</a:t>
                          </a:r>
                          <a:endParaRPr lang="zh-TW" altLang="en-US" sz="2000" dirty="0">
                            <a:latin typeface="Times New Roman" panose="02020603050405020304" pitchFamily="18" charset="0"/>
                            <a:cs typeface="Times New Roman" panose="02020603050405020304" pitchFamily="18" charset="0"/>
                          </a:endParaRPr>
                        </a:p>
                      </a:txBody>
                      <a:tcPr/>
                    </a:tc>
                  </a:tr>
                </a:tbl>
              </a:graphicData>
            </a:graphic>
          </p:graphicFrame>
        </mc:Fallback>
      </mc:AlternateContent>
    </p:spTree>
    <p:extLst>
      <p:ext uri="{BB962C8B-B14F-4D97-AF65-F5344CB8AC3E}">
        <p14:creationId xmlns:p14="http://schemas.microsoft.com/office/powerpoint/2010/main" val="938958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4" name="內容版面配置區 3"/>
          <p:cNvSpPr>
            <a:spLocks noGrp="1"/>
          </p:cNvSpPr>
          <p:nvPr>
            <p:ph idx="1"/>
          </p:nvPr>
        </p:nvSpPr>
        <p:spPr/>
        <p:txBody>
          <a:bodyPr/>
          <a:lstStyle/>
          <a:p>
            <a:pPr marL="0" indent="0">
              <a:buNone/>
            </a:pPr>
            <a:endParaRPr lang="en-US" altLang="zh-TW" dirty="0"/>
          </a:p>
          <a:p>
            <a:pPr marL="0" indent="0">
              <a:buNone/>
            </a:pPr>
            <a:endParaRPr lang="en-US" altLang="zh-TW" dirty="0"/>
          </a:p>
          <a:p>
            <a:pPr marL="0" indent="0">
              <a:buNone/>
            </a:pPr>
            <a:r>
              <a:rPr lang="en-US" altLang="zh-TW" dirty="0"/>
              <a:t> 			</a:t>
            </a:r>
            <a:r>
              <a:rPr lang="en-US" altLang="zh-TW" sz="4000" dirty="0">
                <a:latin typeface="Times New Roman" panose="02020603050405020304" pitchFamily="18" charset="0"/>
                <a:cs typeface="Times New Roman" panose="02020603050405020304" pitchFamily="18" charset="0"/>
              </a:rPr>
              <a:t>	the end </a:t>
            </a:r>
          </a:p>
          <a:p>
            <a:pPr marL="0" indent="0">
              <a:buNone/>
            </a:pPr>
            <a:endParaRPr lang="en-US" altLang="zh-TW" sz="4000" dirty="0">
              <a:latin typeface="Times New Roman" panose="02020603050405020304" pitchFamily="18" charset="0"/>
              <a:cs typeface="Times New Roman" panose="02020603050405020304" pitchFamily="18" charset="0"/>
            </a:endParaRPr>
          </a:p>
          <a:p>
            <a:pPr marL="0" indent="0">
              <a:buNone/>
            </a:pPr>
            <a:r>
              <a:rPr lang="en-US" altLang="zh-TW" sz="4000" dirty="0">
                <a:latin typeface="Times New Roman" panose="02020603050405020304" pitchFamily="18" charset="0"/>
                <a:cs typeface="Times New Roman" panose="02020603050405020304" pitchFamily="18" charset="0"/>
              </a:rPr>
              <a:t>			thanks for listening</a:t>
            </a:r>
            <a:endParaRPr lang="zh-TW" alt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079991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2721</TotalTime>
  <Words>1338</Words>
  <Application>Microsoft Office PowerPoint</Application>
  <PresentationFormat>寬螢幕</PresentationFormat>
  <Paragraphs>192</Paragraphs>
  <Slides>12</Slides>
  <Notes>10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12</vt:i4>
      </vt:variant>
    </vt:vector>
  </HeadingPairs>
  <TitlesOfParts>
    <vt:vector size="18" baseType="lpstr">
      <vt:lpstr>Arial</vt:lpstr>
      <vt:lpstr>Calibri</vt:lpstr>
      <vt:lpstr>Calibri Light</vt:lpstr>
      <vt:lpstr>Cambria Math</vt:lpstr>
      <vt:lpstr>Times New Roman</vt:lpstr>
      <vt:lpstr>Office 佈景主題</vt:lpstr>
      <vt:lpstr>Enhanced Dynamic Algorithm of Genome Sequence Alignments </vt:lpstr>
      <vt:lpstr>Abstract(1/2) </vt:lpstr>
      <vt:lpstr>Abstract(2/2)</vt:lpstr>
      <vt:lpstr>Needlman – Wunsch Algorithm </vt:lpstr>
      <vt:lpstr>Smith Waterman Algorithm</vt:lpstr>
      <vt:lpstr>PowerPoint 簡報</vt:lpstr>
      <vt:lpstr>longest common subsequence problem</vt:lpstr>
      <vt:lpstr>longest common subsequence problem</vt:lpstr>
      <vt:lpstr>Enhanced Dynamic Algorithm of Genome Sequence Aligments(EDAGSA) algorithm</vt:lpstr>
      <vt:lpstr>Enhanced Dynamic Algorithm of Genome Sequence Aligments(EDAGSA) algorithm</vt:lpstr>
      <vt:lpstr>Experimental Result</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吳老爵</dc:creator>
  <cp:lastModifiedBy>pplab</cp:lastModifiedBy>
  <cp:revision>58</cp:revision>
  <dcterms:created xsi:type="dcterms:W3CDTF">2020-10-01T17:54:23Z</dcterms:created>
  <dcterms:modified xsi:type="dcterms:W3CDTF">2020-10-14T10:27:39Z</dcterms:modified>
</cp:coreProperties>
</file>