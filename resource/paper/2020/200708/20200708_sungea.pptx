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258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6" r:id="rId23"/>
    <p:sldId id="288" r:id="rId24"/>
    <p:sldId id="282" r:id="rId25"/>
    <p:sldId id="283" r:id="rId26"/>
    <p:sldId id="284" r:id="rId27"/>
    <p:sldId id="285" r:id="rId28"/>
    <p:sldId id="287" r:id="rId29"/>
    <p:sldId id="289" r:id="rId30"/>
    <p:sldId id="290" r:id="rId31"/>
    <p:sldId id="292" r:id="rId32"/>
    <p:sldId id="291" r:id="rId33"/>
    <p:sldId id="293" r:id="rId34"/>
    <p:sldId id="294" r:id="rId35"/>
    <p:sldId id="300" r:id="rId36"/>
    <p:sldId id="301" r:id="rId37"/>
    <p:sldId id="298" r:id="rId38"/>
    <p:sldId id="299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A3E9E-CFFD-4277-A0F8-79FD74000E08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21A3B-E69A-4512-A023-3BFFF3A9D5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6271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471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7089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‘a’</a:t>
            </a:r>
            <a:r>
              <a:rPr lang="zh-TW" altLang="en-US" dirty="0" smtClean="0"/>
              <a:t> </a:t>
            </a:r>
            <a:r>
              <a:rPr lang="en-US" altLang="zh-TW" dirty="0" smtClean="0"/>
              <a:t>match </a:t>
            </a:r>
            <a:r>
              <a:rPr lang="zh-TW" altLang="en-US" dirty="0" smtClean="0"/>
              <a:t>，這時候假設將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納入為解答的話，是否還能符合這個表格的條件</a:t>
            </a:r>
            <a:r>
              <a:rPr lang="en-US" altLang="zh-TW" dirty="0" smtClean="0"/>
              <a:t>(k=0)</a:t>
            </a:r>
          </a:p>
          <a:p>
            <a:r>
              <a:rPr lang="zh-TW" altLang="en-US" dirty="0" smtClean="0"/>
              <a:t>而從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個表格的做延伸發現沒有一個加完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後</a:t>
            </a:r>
            <a:r>
              <a:rPr lang="en-US" altLang="zh-TW" dirty="0" smtClean="0"/>
              <a:t>k=0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883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‘a’</a:t>
            </a:r>
            <a:r>
              <a:rPr lang="zh-TW" altLang="en-US" dirty="0" smtClean="0"/>
              <a:t> </a:t>
            </a:r>
            <a:r>
              <a:rPr lang="en-US" altLang="zh-TW" dirty="0" smtClean="0"/>
              <a:t>match </a:t>
            </a:r>
            <a:r>
              <a:rPr lang="zh-TW" altLang="en-US" dirty="0" smtClean="0"/>
              <a:t>，這時候假設將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納入為解答的話，是否還能符合這個表格的條件</a:t>
            </a:r>
            <a:r>
              <a:rPr lang="en-US" altLang="zh-TW" dirty="0" smtClean="0"/>
              <a:t>(k=0)</a:t>
            </a:r>
          </a:p>
          <a:p>
            <a:r>
              <a:rPr lang="zh-TW" altLang="en-US" dirty="0" smtClean="0"/>
              <a:t>而從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個表格的做延伸發現沒有一個加完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後</a:t>
            </a:r>
            <a:r>
              <a:rPr lang="en-US" altLang="zh-TW" dirty="0" smtClean="0"/>
              <a:t>k=0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647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‘a’</a:t>
            </a:r>
            <a:r>
              <a:rPr lang="zh-TW" altLang="en-US" dirty="0" smtClean="0"/>
              <a:t> </a:t>
            </a:r>
            <a:r>
              <a:rPr lang="en-US" altLang="zh-TW" dirty="0" smtClean="0"/>
              <a:t>match </a:t>
            </a:r>
            <a:r>
              <a:rPr lang="zh-TW" altLang="en-US" dirty="0" smtClean="0"/>
              <a:t>，這時候假設將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納入為解答的話，是否還能符合這個表格的條件</a:t>
            </a:r>
            <a:r>
              <a:rPr lang="en-US" altLang="zh-TW" dirty="0" smtClean="0"/>
              <a:t>(k=0)</a:t>
            </a:r>
          </a:p>
          <a:p>
            <a:r>
              <a:rPr lang="zh-TW" altLang="en-US" dirty="0" smtClean="0"/>
              <a:t>而從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個表格的做延伸發現沒有一個加完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後</a:t>
            </a:r>
            <a:r>
              <a:rPr lang="en-US" altLang="zh-TW" dirty="0" smtClean="0"/>
              <a:t>k=0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142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‘a’</a:t>
            </a:r>
            <a:r>
              <a:rPr lang="zh-TW" altLang="en-US" dirty="0" smtClean="0"/>
              <a:t> </a:t>
            </a:r>
            <a:r>
              <a:rPr lang="en-US" altLang="zh-TW" dirty="0" smtClean="0"/>
              <a:t>match </a:t>
            </a:r>
            <a:r>
              <a:rPr lang="zh-TW" altLang="en-US" dirty="0" smtClean="0"/>
              <a:t>，這時候假設將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納入為解答的話，是否還能符合這個表格的條件</a:t>
            </a:r>
            <a:r>
              <a:rPr lang="en-US" altLang="zh-TW" dirty="0" smtClean="0"/>
              <a:t>(k=0)</a:t>
            </a:r>
          </a:p>
          <a:p>
            <a:r>
              <a:rPr lang="zh-TW" altLang="en-US" dirty="0" smtClean="0"/>
              <a:t>而從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個表格的做延伸發現沒有一個加完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後</a:t>
            </a:r>
            <a:r>
              <a:rPr lang="en-US" altLang="zh-TW" dirty="0" smtClean="0"/>
              <a:t>k=0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8904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‘a’</a:t>
            </a:r>
            <a:r>
              <a:rPr lang="zh-TW" altLang="en-US" dirty="0" smtClean="0"/>
              <a:t> </a:t>
            </a:r>
            <a:r>
              <a:rPr lang="en-US" altLang="zh-TW" dirty="0" smtClean="0"/>
              <a:t>match </a:t>
            </a:r>
            <a:r>
              <a:rPr lang="zh-TW" altLang="en-US" dirty="0" smtClean="0"/>
              <a:t>，這時候假設將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納入為解答的話，是否還能符合這個表格的條件</a:t>
            </a:r>
            <a:r>
              <a:rPr lang="en-US" altLang="zh-TW" dirty="0" smtClean="0"/>
              <a:t>(k=0)</a:t>
            </a:r>
          </a:p>
          <a:p>
            <a:r>
              <a:rPr lang="zh-TW" altLang="en-US" dirty="0" smtClean="0"/>
              <a:t>而從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個表格的做延伸發現沒有一個加完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後</a:t>
            </a:r>
            <a:r>
              <a:rPr lang="en-US" altLang="zh-TW" dirty="0" smtClean="0"/>
              <a:t>k=0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748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‘a’</a:t>
            </a:r>
            <a:r>
              <a:rPr lang="zh-TW" altLang="en-US" dirty="0" smtClean="0"/>
              <a:t> </a:t>
            </a:r>
            <a:r>
              <a:rPr lang="en-US" altLang="zh-TW" dirty="0" smtClean="0"/>
              <a:t>match </a:t>
            </a:r>
            <a:r>
              <a:rPr lang="zh-TW" altLang="en-US" dirty="0" smtClean="0"/>
              <a:t>，這時候假設將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納入為解答的話，是否還能符合這個表格的條件</a:t>
            </a:r>
            <a:r>
              <a:rPr lang="en-US" altLang="zh-TW" dirty="0" smtClean="0"/>
              <a:t>(k=0)</a:t>
            </a:r>
          </a:p>
          <a:p>
            <a:r>
              <a:rPr lang="zh-TW" altLang="en-US" dirty="0" smtClean="0"/>
              <a:t>而從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個表格的做延伸發現沒有一個加完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後</a:t>
            </a:r>
            <a:r>
              <a:rPr lang="en-US" altLang="zh-TW" dirty="0" smtClean="0"/>
              <a:t>k=0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7895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‘a’</a:t>
            </a:r>
            <a:r>
              <a:rPr lang="zh-TW" altLang="en-US" dirty="0" smtClean="0"/>
              <a:t> </a:t>
            </a:r>
            <a:r>
              <a:rPr lang="en-US" altLang="zh-TW" dirty="0" smtClean="0"/>
              <a:t>match </a:t>
            </a:r>
            <a:r>
              <a:rPr lang="zh-TW" altLang="en-US" dirty="0" smtClean="0"/>
              <a:t>，這時候假設將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納入為解答的話，是否還能符合這個表格的條件</a:t>
            </a:r>
            <a:r>
              <a:rPr lang="en-US" altLang="zh-TW" dirty="0" smtClean="0"/>
              <a:t>(k=0)</a:t>
            </a:r>
          </a:p>
          <a:p>
            <a:r>
              <a:rPr lang="zh-TW" altLang="en-US" dirty="0" smtClean="0"/>
              <a:t>而從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個表格的做延伸發現沒有一個加完</a:t>
            </a:r>
            <a:r>
              <a:rPr lang="en-US" altLang="zh-TW" dirty="0" smtClean="0"/>
              <a:t>’a’</a:t>
            </a:r>
            <a:r>
              <a:rPr lang="zh-TW" altLang="en-US" dirty="0" smtClean="0"/>
              <a:t>後</a:t>
            </a:r>
            <a:r>
              <a:rPr lang="en-US" altLang="zh-TW" dirty="0" smtClean="0"/>
              <a:t>k=0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663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2668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632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8167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92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9182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7558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835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26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29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6221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097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1954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83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888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853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190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225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39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DA1F7-96D9-46CF-A821-7BB1ED703636}" type="datetimeFigureOut">
              <a:rPr lang="zh-TW" altLang="en-US" smtClean="0"/>
              <a:t>2020/7/7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FEF73-A185-4048-987F-1E6426125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49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polynomial-time algorithms for the constrained LCS problem with strings exclusion</a:t>
            </a:r>
            <a:endParaRPr lang="en-US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859733"/>
            <a:ext cx="9144000" cy="1898516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Hsing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-Yen Ann, Chang-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Biau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&amp;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Chiou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-Ting Tseng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EN-AN SONG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July 08, 2020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36108" y="437754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Combinatorial Optimization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(2014)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ISSN 1382-6905 Volume 28 Number 4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922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paper, we revisit a recent variant of the longest common subsequence (LCS) problem, the string-excluding constrained LCS(STR-EC-LCS)  problem, which was ﬁrst addressed by Chen and Chao (J Comb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21(3):383–392, 2011). Given two sequences X and Y of lengths m and n, respectively, and a constraint string P of length r, we are to ﬁnd a common subsequence Z of X and Y which excludes P as a substring and the length of Z is maximized. In fact, this problem cannot be correctly solved by the previously proposed algorithm. Thus, we give a correct algorithm with  O(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mnr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to solve it. Then, we revisit the STR-EC-LCS problem with multiple constraints{P</a:t>
                </a:r>
                <a:r>
                  <a:rPr lang="en-US" altLang="zh-TW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</a:t>
                </a:r>
                <a:r>
                  <a:rPr lang="en-US" altLang="zh-TW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,...,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 We propose a polynomial-time algorithm which runs in O(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mnR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time, where R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𝑃𝑖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thus it overthrows the previous claim of NP-hardness.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081" r="-15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21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ababba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ababaa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= aba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ababa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STR-EC-LCS(X,Y,P)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06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 3 tables :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1 : LCS that suffix = ‘a’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2 : LCS that suffix = ‘ab’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0 : LCS that suffix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‘a’ or suffix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‘ab’ </a:t>
            </a: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61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234766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571289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29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954791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755458"/>
              </p:ext>
            </p:extLst>
          </p:nvPr>
        </p:nvGraphicFramePr>
        <p:xfrm>
          <a:off x="4571289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172868"/>
              </p:ext>
            </p:extLst>
          </p:nvPr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" name="直線單箭頭接點 2"/>
          <p:cNvCxnSpPr/>
          <p:nvPr/>
        </p:nvCxnSpPr>
        <p:spPr>
          <a:xfrm>
            <a:off x="5634681" y="2273643"/>
            <a:ext cx="0" cy="321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5305168" y="2660822"/>
            <a:ext cx="296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21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590469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224111"/>
              </p:ext>
            </p:extLst>
          </p:nvPr>
        </p:nvGraphicFramePr>
        <p:xfrm>
          <a:off x="4571289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870909" y="5509997"/>
          <a:ext cx="113584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/>
                <a:gridCol w="378614"/>
                <a:gridCol w="37861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663398" y="5987988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右大括弧 9"/>
          <p:cNvSpPr/>
          <p:nvPr/>
        </p:nvSpPr>
        <p:spPr>
          <a:xfrm>
            <a:off x="6890558" y="5509997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1" name="矩形 10"/>
          <p:cNvSpPr/>
          <p:nvPr/>
        </p:nvSpPr>
        <p:spPr>
          <a:xfrm>
            <a:off x="7162801" y="5792363"/>
            <a:ext cx="5549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433014" y="5509997"/>
          <a:ext cx="75722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/>
                <a:gridCol w="37861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827272" y="5972849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右大括弧 16"/>
          <p:cNvSpPr/>
          <p:nvPr/>
        </p:nvSpPr>
        <p:spPr>
          <a:xfrm>
            <a:off x="3097647" y="5491148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8" name="矩形 17"/>
          <p:cNvSpPr/>
          <p:nvPr/>
        </p:nvSpPr>
        <p:spPr>
          <a:xfrm>
            <a:off x="3382506" y="5773514"/>
            <a:ext cx="5549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8776530" y="5485600"/>
          <a:ext cx="15350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54"/>
                <a:gridCol w="383754"/>
                <a:gridCol w="383754"/>
                <a:gridCol w="38375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9168622" y="5962285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1" name="右大括弧 20"/>
          <p:cNvSpPr/>
          <p:nvPr/>
        </p:nvSpPr>
        <p:spPr>
          <a:xfrm>
            <a:off x="10796181" y="5485600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22" name="矩形 21"/>
          <p:cNvSpPr/>
          <p:nvPr/>
        </p:nvSpPr>
        <p:spPr>
          <a:xfrm>
            <a:off x="11068424" y="5767966"/>
            <a:ext cx="8322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1672281" y="2290119"/>
            <a:ext cx="3830595" cy="387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48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497668"/>
              </p:ext>
            </p:extLst>
          </p:nvPr>
        </p:nvGraphicFramePr>
        <p:xfrm>
          <a:off x="4571289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30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403161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2418735" y="2753032"/>
            <a:ext cx="0" cy="226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2133600" y="3067665"/>
            <a:ext cx="1868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89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020163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5236800" y="5724883"/>
          <a:ext cx="113584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/>
                <a:gridCol w="378614"/>
                <a:gridCol w="37861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629214" y="6227271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右大括弧 10"/>
          <p:cNvSpPr/>
          <p:nvPr/>
        </p:nvSpPr>
        <p:spPr>
          <a:xfrm>
            <a:off x="6856374" y="5749280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2" name="矩形 11"/>
          <p:cNvSpPr/>
          <p:nvPr/>
        </p:nvSpPr>
        <p:spPr>
          <a:xfrm>
            <a:off x="7128617" y="6031646"/>
            <a:ext cx="8322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TW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1031637" y="5755786"/>
          <a:ext cx="75722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/>
                <a:gridCol w="37861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1793088" y="6212132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右大括弧 14"/>
          <p:cNvSpPr/>
          <p:nvPr/>
        </p:nvSpPr>
        <p:spPr>
          <a:xfrm>
            <a:off x="3063463" y="5730431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6" name="矩形 15"/>
          <p:cNvSpPr/>
          <p:nvPr/>
        </p:nvSpPr>
        <p:spPr>
          <a:xfrm>
            <a:off x="3348322" y="6012797"/>
            <a:ext cx="5998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/>
          </p:nvPr>
        </p:nvGraphicFramePr>
        <p:xfrm>
          <a:off x="8406235" y="5724084"/>
          <a:ext cx="15350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54"/>
                <a:gridCol w="383754"/>
                <a:gridCol w="383754"/>
                <a:gridCol w="38375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/>
          </p:nvPr>
        </p:nvGraphicFramePr>
        <p:xfrm>
          <a:off x="9941251" y="6208987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右大括弧 18"/>
          <p:cNvSpPr/>
          <p:nvPr/>
        </p:nvSpPr>
        <p:spPr>
          <a:xfrm>
            <a:off x="11117532" y="5730431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20" name="矩形 19"/>
          <p:cNvSpPr/>
          <p:nvPr/>
        </p:nvSpPr>
        <p:spPr>
          <a:xfrm>
            <a:off x="11389775" y="6012797"/>
            <a:ext cx="5549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2094271" y="2792361"/>
            <a:ext cx="235974" cy="186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1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91511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38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91511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296016"/>
              </p:ext>
            </p:extLst>
          </p:nvPr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9733935" y="2743200"/>
            <a:ext cx="9833" cy="216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9379974" y="3057832"/>
            <a:ext cx="235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26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069447"/>
              </p:ext>
            </p:extLst>
          </p:nvPr>
        </p:nvGraphicFramePr>
        <p:xfrm>
          <a:off x="91511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632607"/>
              </p:ext>
            </p:extLst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320621"/>
              </p:ext>
            </p:extLst>
          </p:nvPr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5236800" y="5724883"/>
          <a:ext cx="113584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/>
                <a:gridCol w="378614"/>
                <a:gridCol w="37861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5629214" y="6227271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右大括弧 28"/>
          <p:cNvSpPr/>
          <p:nvPr/>
        </p:nvSpPr>
        <p:spPr>
          <a:xfrm>
            <a:off x="6856374" y="5749280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30" name="矩形 29"/>
          <p:cNvSpPr/>
          <p:nvPr/>
        </p:nvSpPr>
        <p:spPr>
          <a:xfrm>
            <a:off x="7128617" y="6031646"/>
            <a:ext cx="5549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>
            <p:extLst/>
          </p:nvPr>
        </p:nvGraphicFramePr>
        <p:xfrm>
          <a:off x="1031637" y="5755786"/>
          <a:ext cx="75722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/>
                <a:gridCol w="37861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1793088" y="6212132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右大括弧 32"/>
          <p:cNvSpPr/>
          <p:nvPr/>
        </p:nvSpPr>
        <p:spPr>
          <a:xfrm>
            <a:off x="3063463" y="5730431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34" name="矩形 33"/>
          <p:cNvSpPr/>
          <p:nvPr/>
        </p:nvSpPr>
        <p:spPr>
          <a:xfrm>
            <a:off x="3348322" y="6012797"/>
            <a:ext cx="8322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/>
          </p:nvPr>
        </p:nvGraphicFramePr>
        <p:xfrm>
          <a:off x="8337867" y="5724084"/>
          <a:ext cx="15350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54"/>
                <a:gridCol w="383754"/>
                <a:gridCol w="383754"/>
                <a:gridCol w="38375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9872883" y="6208987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" name="右大括弧 36"/>
          <p:cNvSpPr/>
          <p:nvPr/>
        </p:nvSpPr>
        <p:spPr>
          <a:xfrm>
            <a:off x="11049164" y="5730431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38" name="矩形 37"/>
          <p:cNvSpPr/>
          <p:nvPr/>
        </p:nvSpPr>
        <p:spPr>
          <a:xfrm>
            <a:off x="11321407" y="6012797"/>
            <a:ext cx="8322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 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TW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5708591" y="2760292"/>
            <a:ext cx="3913204" cy="345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31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511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822746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52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91511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844298"/>
              </p:ext>
            </p:extLst>
          </p:nvPr>
        </p:nvGraphicFramePr>
        <p:xfrm>
          <a:off x="4571289" y="1463145"/>
          <a:ext cx="3443240" cy="40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822746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6507892" y="3459892"/>
            <a:ext cx="0" cy="214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6178378" y="3797643"/>
            <a:ext cx="2224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6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511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167476"/>
              </p:ext>
            </p:extLst>
          </p:nvPr>
        </p:nvGraphicFramePr>
        <p:xfrm>
          <a:off x="4571289" y="1463145"/>
          <a:ext cx="3443240" cy="40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822746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>
            <a:off x="6195701" y="3418318"/>
            <a:ext cx="213645" cy="213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2512464" y="3196127"/>
            <a:ext cx="3896882" cy="538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4870909" y="5646733"/>
          <a:ext cx="113584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/>
                <a:gridCol w="378614"/>
                <a:gridCol w="37861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5663398" y="6124724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右大括弧 15"/>
          <p:cNvSpPr/>
          <p:nvPr/>
        </p:nvSpPr>
        <p:spPr>
          <a:xfrm>
            <a:off x="6890558" y="5646733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7" name="矩形 16"/>
          <p:cNvSpPr/>
          <p:nvPr/>
        </p:nvSpPr>
        <p:spPr>
          <a:xfrm>
            <a:off x="7162801" y="5929099"/>
            <a:ext cx="5549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/>
          </p:nvPr>
        </p:nvGraphicFramePr>
        <p:xfrm>
          <a:off x="1433014" y="5646733"/>
          <a:ext cx="75722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/>
                <a:gridCol w="37861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1827272" y="6109585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右大括弧 19"/>
          <p:cNvSpPr/>
          <p:nvPr/>
        </p:nvSpPr>
        <p:spPr>
          <a:xfrm>
            <a:off x="3097647" y="5627884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21" name="矩形 20"/>
          <p:cNvSpPr/>
          <p:nvPr/>
        </p:nvSpPr>
        <p:spPr>
          <a:xfrm>
            <a:off x="3382506" y="5910250"/>
            <a:ext cx="5549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/>
          </p:nvPr>
        </p:nvGraphicFramePr>
        <p:xfrm>
          <a:off x="8776530" y="5622336"/>
          <a:ext cx="15350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54"/>
                <a:gridCol w="383754"/>
                <a:gridCol w="383754"/>
                <a:gridCol w="383754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/>
          </p:nvPr>
        </p:nvGraphicFramePr>
        <p:xfrm>
          <a:off x="9168622" y="6099021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/>
                <a:gridCol w="380975"/>
                <a:gridCol w="380975"/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4" name="右大括弧 23"/>
          <p:cNvSpPr/>
          <p:nvPr/>
        </p:nvSpPr>
        <p:spPr>
          <a:xfrm>
            <a:off x="10796181" y="5622336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25" name="矩形 24"/>
          <p:cNvSpPr/>
          <p:nvPr/>
        </p:nvSpPr>
        <p:spPr>
          <a:xfrm>
            <a:off x="11068424" y="5904702"/>
            <a:ext cx="8322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63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511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4571289" y="1463145"/>
          <a:ext cx="3443240" cy="418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822746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60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915114" y="1463145"/>
          <a:ext cx="3443240" cy="418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4571289" y="1463145"/>
          <a:ext cx="3443240" cy="4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8227464" y="1463145"/>
          <a:ext cx="3443240" cy="40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 flipH="1">
            <a:off x="3401226" y="3717421"/>
            <a:ext cx="6665720" cy="538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07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915114" y="1463145"/>
          <a:ext cx="3443240" cy="418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4571289" y="1463145"/>
          <a:ext cx="3443240" cy="4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8227464" y="1463145"/>
          <a:ext cx="3443240" cy="418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>
            <a:off x="6597353" y="3785787"/>
            <a:ext cx="3871245" cy="44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30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915114" y="1463145"/>
          <a:ext cx="3443240" cy="470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4571289" y="1463145"/>
          <a:ext cx="3443240" cy="4421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8227464" y="1463145"/>
          <a:ext cx="3443240" cy="470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3384135" y="5170206"/>
            <a:ext cx="3862699" cy="29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64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915114" y="1463145"/>
          <a:ext cx="3443240" cy="470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223048"/>
              </p:ext>
            </p:extLst>
          </p:nvPr>
        </p:nvGraphicFramePr>
        <p:xfrm>
          <a:off x="4571289" y="1463145"/>
          <a:ext cx="3443240" cy="4421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6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8227464" y="1463145"/>
          <a:ext cx="3443240" cy="470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  <a:gridCol w="430405"/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929449" y="5445211"/>
            <a:ext cx="428905" cy="7141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585624" y="5162280"/>
            <a:ext cx="428905" cy="7223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1241799" y="5436973"/>
            <a:ext cx="428905" cy="7223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96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632627"/>
              </p:ext>
            </p:extLst>
          </p:nvPr>
        </p:nvGraphicFramePr>
        <p:xfrm>
          <a:off x="1761146" y="3055739"/>
          <a:ext cx="393120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800"/>
                <a:gridCol w="982800"/>
                <a:gridCol w="982800"/>
                <a:gridCol w="982800"/>
              </a:tblGrid>
              <a:tr h="299299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761146" y="2012084"/>
            <a:ext cx="1098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= aba</a:t>
            </a:r>
            <a:endParaRPr lang="zh-TW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2734962" y="3055739"/>
            <a:ext cx="2957384" cy="3547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761147" y="3410465"/>
            <a:ext cx="973816" cy="7527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072735" y="2686407"/>
            <a:ext cx="232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6573" y="3577944"/>
            <a:ext cx="3128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character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25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4933" y="1690688"/>
            <a:ext cx="570787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mnr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: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X’s length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n: String Y’s length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: String P’s length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: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String P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 : Alphabet type amounts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784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 with multiple constraints</a:t>
            </a:r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ababba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ababaa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aba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ababa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STR-EC-LCS(X,Y,P)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baa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66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‘he’ P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‘hers’ P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=‘his’ P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=‘she’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 with multiple constraints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b="1545"/>
          <a:stretch/>
        </p:blipFill>
        <p:spPr>
          <a:xfrm>
            <a:off x="1637270" y="2503275"/>
            <a:ext cx="2752916" cy="367368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276988" y="6300572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115" y="2579656"/>
            <a:ext cx="2549150" cy="352092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248400" y="6176963"/>
            <a:ext cx="1665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failure function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1434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1589903" y="1814256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/>
          <p:cNvCxnSpPr>
            <a:stCxn id="4" idx="4"/>
          </p:cNvCxnSpPr>
          <p:nvPr/>
        </p:nvCxnSpPr>
        <p:spPr>
          <a:xfrm flipH="1">
            <a:off x="1219200" y="2323071"/>
            <a:ext cx="630195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4" idx="4"/>
          </p:cNvCxnSpPr>
          <p:nvPr/>
        </p:nvCxnSpPr>
        <p:spPr>
          <a:xfrm>
            <a:off x="1849395" y="2323071"/>
            <a:ext cx="638432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237737" y="2221468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232454" y="2221468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046206" y="2998013"/>
            <a:ext cx="972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hers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232454" y="2998013"/>
            <a:ext cx="972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3954161" y="1814256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單箭頭接點 19"/>
          <p:cNvCxnSpPr>
            <a:stCxn id="19" idx="4"/>
          </p:cNvCxnSpPr>
          <p:nvPr/>
        </p:nvCxnSpPr>
        <p:spPr>
          <a:xfrm flipH="1">
            <a:off x="3583458" y="2323071"/>
            <a:ext cx="630195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9" idx="4"/>
          </p:cNvCxnSpPr>
          <p:nvPr/>
        </p:nvCxnSpPr>
        <p:spPr>
          <a:xfrm>
            <a:off x="4213653" y="2323071"/>
            <a:ext cx="638432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601995" y="2221468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596712" y="2221468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596712" y="2998013"/>
            <a:ext cx="972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256006" y="2867172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單箭頭接點 28"/>
          <p:cNvCxnSpPr/>
          <p:nvPr/>
        </p:nvCxnSpPr>
        <p:spPr>
          <a:xfrm flipH="1">
            <a:off x="3519615" y="3385884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3519615" y="3385884"/>
            <a:ext cx="638432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3192462" y="3457062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902674" y="3284281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295434" y="3886144"/>
            <a:ext cx="6072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hers</a:t>
            </a:r>
          </a:p>
        </p:txBody>
      </p:sp>
      <p:sp>
        <p:nvSpPr>
          <p:cNvPr id="36" name="矩形 35"/>
          <p:cNvSpPr/>
          <p:nvPr/>
        </p:nvSpPr>
        <p:spPr>
          <a:xfrm>
            <a:off x="3931062" y="3894698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6311939" y="1814256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單箭頭接點 37"/>
          <p:cNvCxnSpPr>
            <a:stCxn id="37" idx="4"/>
          </p:cNvCxnSpPr>
          <p:nvPr/>
        </p:nvCxnSpPr>
        <p:spPr>
          <a:xfrm flipH="1">
            <a:off x="5941236" y="2323071"/>
            <a:ext cx="630195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37" idx="4"/>
          </p:cNvCxnSpPr>
          <p:nvPr/>
        </p:nvCxnSpPr>
        <p:spPr>
          <a:xfrm>
            <a:off x="6571431" y="2323071"/>
            <a:ext cx="638432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5959773" y="2221468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6954490" y="2221468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5613784" y="2867172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5" name="直線單箭頭接點 44"/>
          <p:cNvCxnSpPr/>
          <p:nvPr/>
        </p:nvCxnSpPr>
        <p:spPr>
          <a:xfrm flipH="1">
            <a:off x="5877393" y="3385884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5877393" y="3385884"/>
            <a:ext cx="638432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5550240" y="3457062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256335" y="3391506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288840" y="3894698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橢圓 50"/>
          <p:cNvSpPr/>
          <p:nvPr/>
        </p:nvSpPr>
        <p:spPr>
          <a:xfrm>
            <a:off x="5613783" y="4002418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5156384" y="4072159"/>
            <a:ext cx="402674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</a:p>
        </p:txBody>
      </p:sp>
      <p:cxnSp>
        <p:nvCxnSpPr>
          <p:cNvPr id="54" name="直線單箭頭接點 53"/>
          <p:cNvCxnSpPr/>
          <p:nvPr/>
        </p:nvCxnSpPr>
        <p:spPr>
          <a:xfrm flipH="1">
            <a:off x="5873274" y="4518505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5568776" y="4566030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橢圓 55"/>
          <p:cNvSpPr/>
          <p:nvPr/>
        </p:nvSpPr>
        <p:spPr>
          <a:xfrm>
            <a:off x="5636737" y="5166183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/>
          <p:cNvSpPr/>
          <p:nvPr/>
        </p:nvSpPr>
        <p:spPr>
          <a:xfrm>
            <a:off x="8916447" y="1814256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0" name="直線單箭頭接點 59"/>
          <p:cNvCxnSpPr>
            <a:stCxn id="59" idx="4"/>
          </p:cNvCxnSpPr>
          <p:nvPr/>
        </p:nvCxnSpPr>
        <p:spPr>
          <a:xfrm flipH="1">
            <a:off x="8545744" y="2323071"/>
            <a:ext cx="630195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59" idx="4"/>
          </p:cNvCxnSpPr>
          <p:nvPr/>
        </p:nvCxnSpPr>
        <p:spPr>
          <a:xfrm>
            <a:off x="9175939" y="2323071"/>
            <a:ext cx="638432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8564281" y="2221468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9558998" y="2221468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橢圓 64"/>
          <p:cNvSpPr/>
          <p:nvPr/>
        </p:nvSpPr>
        <p:spPr>
          <a:xfrm>
            <a:off x="8218292" y="2867172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 flipH="1">
            <a:off x="8481901" y="3385884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endCxn id="80" idx="0"/>
          </p:cNvCxnSpPr>
          <p:nvPr/>
        </p:nvCxnSpPr>
        <p:spPr>
          <a:xfrm>
            <a:off x="8481901" y="3385884"/>
            <a:ext cx="738833" cy="602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8154748" y="3457062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8860841" y="3416014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橢圓 71"/>
          <p:cNvSpPr/>
          <p:nvPr/>
        </p:nvSpPr>
        <p:spPr>
          <a:xfrm>
            <a:off x="8218291" y="4002418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7760892" y="4072159"/>
            <a:ext cx="402674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</a:p>
        </p:txBody>
      </p:sp>
      <p:cxnSp>
        <p:nvCxnSpPr>
          <p:cNvPr id="75" name="直線單箭頭接點 74"/>
          <p:cNvCxnSpPr/>
          <p:nvPr/>
        </p:nvCxnSpPr>
        <p:spPr>
          <a:xfrm flipH="1">
            <a:off x="8477782" y="4518505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8173284" y="4566030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橢圓 76"/>
          <p:cNvSpPr/>
          <p:nvPr/>
        </p:nvSpPr>
        <p:spPr>
          <a:xfrm>
            <a:off x="8241245" y="5166183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8961242" y="3988691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3" name="直線單箭頭接點 82"/>
          <p:cNvCxnSpPr/>
          <p:nvPr/>
        </p:nvCxnSpPr>
        <p:spPr>
          <a:xfrm flipH="1">
            <a:off x="9220733" y="4504778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8916235" y="4552303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橢圓 84"/>
          <p:cNvSpPr/>
          <p:nvPr/>
        </p:nvSpPr>
        <p:spPr>
          <a:xfrm>
            <a:off x="8967912" y="5167889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矩形 88"/>
          <p:cNvSpPr/>
          <p:nvPr/>
        </p:nvSpPr>
        <p:spPr>
          <a:xfrm>
            <a:off x="9026255" y="5699418"/>
            <a:ext cx="45397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</a:t>
            </a:r>
          </a:p>
        </p:txBody>
      </p:sp>
      <p:sp>
        <p:nvSpPr>
          <p:cNvPr id="90" name="橢圓 89"/>
          <p:cNvSpPr/>
          <p:nvPr/>
        </p:nvSpPr>
        <p:spPr>
          <a:xfrm>
            <a:off x="9646375" y="2867172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1" name="直線單箭頭接點 90"/>
          <p:cNvCxnSpPr>
            <a:endCxn id="94" idx="0"/>
          </p:cNvCxnSpPr>
          <p:nvPr/>
        </p:nvCxnSpPr>
        <p:spPr>
          <a:xfrm flipH="1">
            <a:off x="9905866" y="3385884"/>
            <a:ext cx="4120" cy="6165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字方塊 91"/>
          <p:cNvSpPr txBox="1"/>
          <p:nvPr/>
        </p:nvSpPr>
        <p:spPr>
          <a:xfrm>
            <a:off x="9636588" y="3457062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橢圓 93"/>
          <p:cNvSpPr/>
          <p:nvPr/>
        </p:nvSpPr>
        <p:spPr>
          <a:xfrm>
            <a:off x="9646374" y="4002418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9601367" y="4566030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橢圓 96"/>
          <p:cNvSpPr/>
          <p:nvPr/>
        </p:nvSpPr>
        <p:spPr>
          <a:xfrm>
            <a:off x="9659643" y="5168482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矩形 97"/>
          <p:cNvSpPr/>
          <p:nvPr/>
        </p:nvSpPr>
        <p:spPr>
          <a:xfrm>
            <a:off x="9659643" y="5699418"/>
            <a:ext cx="49244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</a:p>
        </p:txBody>
      </p:sp>
      <p:cxnSp>
        <p:nvCxnSpPr>
          <p:cNvPr id="100" name="直線單箭頭接點 99"/>
          <p:cNvCxnSpPr/>
          <p:nvPr/>
        </p:nvCxnSpPr>
        <p:spPr>
          <a:xfrm flipH="1">
            <a:off x="9906060" y="4501824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字方塊 100"/>
          <p:cNvSpPr txBox="1"/>
          <p:nvPr/>
        </p:nvSpPr>
        <p:spPr>
          <a:xfrm>
            <a:off x="9033835" y="1852067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8326216" y="2914949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8346278" y="4064568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772835" y="2910001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9772650" y="4072159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9776633" y="5207975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字方塊 106"/>
          <p:cNvSpPr txBox="1"/>
          <p:nvPr/>
        </p:nvSpPr>
        <p:spPr>
          <a:xfrm>
            <a:off x="9082717" y="4057261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9078130" y="5207253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直線單箭頭接點 108"/>
          <p:cNvCxnSpPr/>
          <p:nvPr/>
        </p:nvCxnSpPr>
        <p:spPr>
          <a:xfrm flipH="1">
            <a:off x="5873274" y="5672917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橢圓 109"/>
          <p:cNvSpPr/>
          <p:nvPr/>
        </p:nvSpPr>
        <p:spPr>
          <a:xfrm>
            <a:off x="5636736" y="6319502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/>
          <p:cNvSpPr txBox="1"/>
          <p:nvPr/>
        </p:nvSpPr>
        <p:spPr>
          <a:xfrm>
            <a:off x="5568776" y="5721153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4999389" y="6389243"/>
            <a:ext cx="56938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hers</a:t>
            </a:r>
          </a:p>
        </p:txBody>
      </p:sp>
      <p:cxnSp>
        <p:nvCxnSpPr>
          <p:cNvPr id="114" name="直線單箭頭接點 113"/>
          <p:cNvCxnSpPr/>
          <p:nvPr/>
        </p:nvCxnSpPr>
        <p:spPr>
          <a:xfrm flipH="1">
            <a:off x="8493956" y="5672917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橢圓 114"/>
          <p:cNvSpPr/>
          <p:nvPr/>
        </p:nvSpPr>
        <p:spPr>
          <a:xfrm>
            <a:off x="8257418" y="6319502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文字方塊 115"/>
          <p:cNvSpPr txBox="1"/>
          <p:nvPr/>
        </p:nvSpPr>
        <p:spPr>
          <a:xfrm>
            <a:off x="8189458" y="5721153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620071" y="6389243"/>
            <a:ext cx="56938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hers</a:t>
            </a:r>
          </a:p>
        </p:txBody>
      </p:sp>
      <p:sp>
        <p:nvSpPr>
          <p:cNvPr id="118" name="文字方塊 117"/>
          <p:cNvSpPr txBox="1"/>
          <p:nvPr/>
        </p:nvSpPr>
        <p:spPr>
          <a:xfrm>
            <a:off x="8345221" y="5218624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8353508" y="6374024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6990165" y="2924218"/>
            <a:ext cx="972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52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1864858" y="1843088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>
            <a:stCxn id="5" idx="4"/>
          </p:cNvCxnSpPr>
          <p:nvPr/>
        </p:nvCxnSpPr>
        <p:spPr>
          <a:xfrm flipH="1">
            <a:off x="1494155" y="2351903"/>
            <a:ext cx="630195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>
            <a:stCxn id="5" idx="4"/>
          </p:cNvCxnSpPr>
          <p:nvPr/>
        </p:nvCxnSpPr>
        <p:spPr>
          <a:xfrm>
            <a:off x="2124350" y="2351903"/>
            <a:ext cx="638432" cy="535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512692" y="2250300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507409" y="2250300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1166703" y="2896004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1430312" y="3414716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endCxn id="20" idx="0"/>
          </p:cNvCxnSpPr>
          <p:nvPr/>
        </p:nvCxnSpPr>
        <p:spPr>
          <a:xfrm>
            <a:off x="1430312" y="3414716"/>
            <a:ext cx="738833" cy="602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103159" y="3485894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809252" y="3444846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166702" y="4031250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709303" y="4100991"/>
            <a:ext cx="402674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</a:p>
        </p:txBody>
      </p:sp>
      <p:cxnSp>
        <p:nvCxnSpPr>
          <p:cNvPr id="17" name="直線單箭頭接點 16"/>
          <p:cNvCxnSpPr/>
          <p:nvPr/>
        </p:nvCxnSpPr>
        <p:spPr>
          <a:xfrm flipH="1">
            <a:off x="1426193" y="4547337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1121695" y="4594862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1189656" y="5195015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1909653" y="4017523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/>
          <p:cNvCxnSpPr/>
          <p:nvPr/>
        </p:nvCxnSpPr>
        <p:spPr>
          <a:xfrm flipH="1">
            <a:off x="2169144" y="4533610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1864646" y="4581135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1916323" y="5196721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974666" y="5728250"/>
            <a:ext cx="45397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</a:t>
            </a:r>
          </a:p>
        </p:txBody>
      </p:sp>
      <p:sp>
        <p:nvSpPr>
          <p:cNvPr id="25" name="橢圓 24"/>
          <p:cNvSpPr/>
          <p:nvPr/>
        </p:nvSpPr>
        <p:spPr>
          <a:xfrm>
            <a:off x="2594786" y="2896004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25"/>
          <p:cNvCxnSpPr>
            <a:endCxn id="28" idx="0"/>
          </p:cNvCxnSpPr>
          <p:nvPr/>
        </p:nvCxnSpPr>
        <p:spPr>
          <a:xfrm flipH="1">
            <a:off x="2854277" y="3414716"/>
            <a:ext cx="4120" cy="6165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2584999" y="3485894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2594785" y="4031250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549778" y="4594862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2608054" y="5197314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2608054" y="5728250"/>
            <a:ext cx="49244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</a:p>
        </p:txBody>
      </p:sp>
      <p:cxnSp>
        <p:nvCxnSpPr>
          <p:cNvPr id="32" name="直線單箭頭接點 31"/>
          <p:cNvCxnSpPr/>
          <p:nvPr/>
        </p:nvCxnSpPr>
        <p:spPr>
          <a:xfrm flipH="1">
            <a:off x="2854471" y="4530656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1982246" y="1880899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1274627" y="2943781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1294689" y="4093400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721246" y="2938833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2721061" y="4100991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725044" y="5236807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031128" y="4086093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2026541" y="5236085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線單箭頭接點 40"/>
          <p:cNvCxnSpPr/>
          <p:nvPr/>
        </p:nvCxnSpPr>
        <p:spPr>
          <a:xfrm flipH="1">
            <a:off x="1442367" y="5701749"/>
            <a:ext cx="1" cy="625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橢圓 41"/>
          <p:cNvSpPr/>
          <p:nvPr/>
        </p:nvSpPr>
        <p:spPr>
          <a:xfrm>
            <a:off x="1205829" y="6348334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1137869" y="5749985"/>
            <a:ext cx="17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8482" y="6418075"/>
            <a:ext cx="56938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hers</a:t>
            </a:r>
          </a:p>
        </p:txBody>
      </p:sp>
      <p:sp>
        <p:nvSpPr>
          <p:cNvPr id="45" name="文字方塊 44"/>
          <p:cNvSpPr txBox="1"/>
          <p:nvPr/>
        </p:nvSpPr>
        <p:spPr>
          <a:xfrm>
            <a:off x="1293632" y="5247456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1301919" y="6402856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5560540" y="1757932"/>
            <a:ext cx="336103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1 : suffix = ‘h’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2 : suffix = ‘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3 : suffix = ‘s’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4 : suffix = ‘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5 : suffix = ‘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6 : suffix = ‘hi’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7 : suffix = ‘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8 : suffix = ‘her’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9 : suffix = ‘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0 : else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056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Failure function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7"/>
            <a:ext cx="3256005" cy="4497245"/>
          </a:xfrm>
          <a:prstGeom prst="rect">
            <a:avLst/>
          </a:prstGeom>
        </p:spPr>
      </p:pic>
      <p:sp>
        <p:nvSpPr>
          <p:cNvPr id="5" name="橢圓 4"/>
          <p:cNvSpPr/>
          <p:nvPr/>
        </p:nvSpPr>
        <p:spPr>
          <a:xfrm>
            <a:off x="3039763" y="3822358"/>
            <a:ext cx="420130" cy="40365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680052"/>
              </p:ext>
            </p:extLst>
          </p:nvPr>
        </p:nvGraphicFramePr>
        <p:xfrm>
          <a:off x="6936262" y="1145133"/>
          <a:ext cx="143372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909"/>
                <a:gridCol w="477909"/>
                <a:gridCol w="47790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H="1">
            <a:off x="6019563" y="1563570"/>
            <a:ext cx="1648887" cy="9918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366986" y="1700855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‘e’ </a:t>
            </a:r>
            <a:endParaRPr lang="zh-TW" alt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822839"/>
              </p:ext>
            </p:extLst>
          </p:nvPr>
        </p:nvGraphicFramePr>
        <p:xfrm>
          <a:off x="5023057" y="3077833"/>
          <a:ext cx="189504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762"/>
                <a:gridCol w="473762"/>
                <a:gridCol w="473762"/>
                <a:gridCol w="47376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5660330" y="2631965"/>
            <a:ext cx="71846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5 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7293892" y="654025"/>
            <a:ext cx="71846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4 </a:t>
            </a:r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424937"/>
              </p:ext>
            </p:extLst>
          </p:nvPr>
        </p:nvGraphicFramePr>
        <p:xfrm>
          <a:off x="8657888" y="3071598"/>
          <a:ext cx="146649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831"/>
                <a:gridCol w="488831"/>
                <a:gridCol w="488831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7" name="矩形 16"/>
          <p:cNvSpPr/>
          <p:nvPr/>
        </p:nvSpPr>
        <p:spPr>
          <a:xfrm>
            <a:off x="9031902" y="2631965"/>
            <a:ext cx="71846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1 </a:t>
            </a:r>
            <a:endParaRPr lang="zh-TW" altLang="en-US" dirty="0"/>
          </a:p>
        </p:txBody>
      </p:sp>
      <p:cxnSp>
        <p:nvCxnSpPr>
          <p:cNvPr id="29" name="直線單箭頭接點 28"/>
          <p:cNvCxnSpPr/>
          <p:nvPr/>
        </p:nvCxnSpPr>
        <p:spPr>
          <a:xfrm>
            <a:off x="7668451" y="1545761"/>
            <a:ext cx="1722684" cy="1035828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8649130" y="1700855"/>
            <a:ext cx="4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endParaRPr lang="zh-TW" alt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 flipH="1">
            <a:off x="9391134" y="3507782"/>
            <a:ext cx="1450" cy="9554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910831"/>
              </p:ext>
            </p:extLst>
          </p:nvPr>
        </p:nvGraphicFramePr>
        <p:xfrm>
          <a:off x="8402673" y="5118177"/>
          <a:ext cx="20979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476"/>
                <a:gridCol w="524476"/>
                <a:gridCol w="524476"/>
                <a:gridCol w="52447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7" name="矩形 36"/>
          <p:cNvSpPr/>
          <p:nvPr/>
        </p:nvSpPr>
        <p:spPr>
          <a:xfrm>
            <a:off x="9092392" y="4633602"/>
            <a:ext cx="71846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= 6 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9528737" y="3800855"/>
            <a:ext cx="44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endParaRPr lang="zh-TW" alt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55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877440"/>
              </p:ext>
            </p:extLst>
          </p:nvPr>
        </p:nvGraphicFramePr>
        <p:xfrm>
          <a:off x="838200" y="2421922"/>
          <a:ext cx="6870358" cy="3426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022" y="1632305"/>
            <a:ext cx="3370616" cy="465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9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aba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STR-EC-LCS(X,Y,P)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6633647" y="5780725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9118387" y="5738598"/>
            <a:ext cx="1665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function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6785345" y="1360826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/>
          <p:cNvSpPr txBox="1"/>
          <p:nvPr/>
        </p:nvSpPr>
        <p:spPr>
          <a:xfrm>
            <a:off x="6897547" y="1431276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直線單箭頭接點 50"/>
          <p:cNvCxnSpPr>
            <a:stCxn id="8" idx="4"/>
            <a:endCxn id="52" idx="0"/>
          </p:cNvCxnSpPr>
          <p:nvPr/>
        </p:nvCxnSpPr>
        <p:spPr>
          <a:xfrm flipH="1">
            <a:off x="7044836" y="1869641"/>
            <a:ext cx="1" cy="44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/>
          <p:cNvSpPr/>
          <p:nvPr/>
        </p:nvSpPr>
        <p:spPr>
          <a:xfrm>
            <a:off x="6785344" y="2314634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6897546" y="2411834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095805" y="1885164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dirty="0"/>
          </a:p>
        </p:txBody>
      </p:sp>
      <p:cxnSp>
        <p:nvCxnSpPr>
          <p:cNvPr id="60" name="直線單箭頭接點 59"/>
          <p:cNvCxnSpPr/>
          <p:nvPr/>
        </p:nvCxnSpPr>
        <p:spPr>
          <a:xfrm flipH="1">
            <a:off x="7044834" y="2834837"/>
            <a:ext cx="1" cy="44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7095805" y="280778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dirty="0"/>
          </a:p>
        </p:txBody>
      </p:sp>
      <p:sp>
        <p:nvSpPr>
          <p:cNvPr id="67" name="橢圓 66"/>
          <p:cNvSpPr/>
          <p:nvPr/>
        </p:nvSpPr>
        <p:spPr>
          <a:xfrm>
            <a:off x="6785344" y="3291218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6897545" y="3371866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線單箭頭接點 68"/>
          <p:cNvCxnSpPr/>
          <p:nvPr/>
        </p:nvCxnSpPr>
        <p:spPr>
          <a:xfrm flipH="1">
            <a:off x="7044833" y="3821846"/>
            <a:ext cx="1" cy="44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>
            <a:off x="7044834" y="3811189"/>
            <a:ext cx="725946" cy="455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7456945" y="367701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7046300" y="3864472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dirty="0"/>
          </a:p>
        </p:txBody>
      </p:sp>
      <p:sp>
        <p:nvSpPr>
          <p:cNvPr id="74" name="橢圓 73"/>
          <p:cNvSpPr/>
          <p:nvPr/>
        </p:nvSpPr>
        <p:spPr>
          <a:xfrm>
            <a:off x="6785344" y="4259047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文字方塊 74"/>
          <p:cNvSpPr txBox="1"/>
          <p:nvPr/>
        </p:nvSpPr>
        <p:spPr>
          <a:xfrm>
            <a:off x="6897545" y="4339695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橢圓 75"/>
          <p:cNvSpPr/>
          <p:nvPr/>
        </p:nvSpPr>
        <p:spPr>
          <a:xfrm>
            <a:off x="7563272" y="4269953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文字方塊 76"/>
          <p:cNvSpPr txBox="1"/>
          <p:nvPr/>
        </p:nvSpPr>
        <p:spPr>
          <a:xfrm>
            <a:off x="7686816" y="4333347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764453" y="4817942"/>
            <a:ext cx="50526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7589036" y="4817942"/>
            <a:ext cx="518091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9246818" y="1318699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文字方塊 100"/>
          <p:cNvSpPr txBox="1"/>
          <p:nvPr/>
        </p:nvSpPr>
        <p:spPr>
          <a:xfrm>
            <a:off x="9359020" y="1389149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線單箭頭接點 101"/>
          <p:cNvCxnSpPr>
            <a:stCxn id="100" idx="4"/>
            <a:endCxn id="103" idx="0"/>
          </p:cNvCxnSpPr>
          <p:nvPr/>
        </p:nvCxnSpPr>
        <p:spPr>
          <a:xfrm flipH="1">
            <a:off x="9506309" y="1827514"/>
            <a:ext cx="1" cy="44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橢圓 102"/>
          <p:cNvSpPr/>
          <p:nvPr/>
        </p:nvSpPr>
        <p:spPr>
          <a:xfrm>
            <a:off x="9246817" y="2272507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文字方塊 103"/>
          <p:cNvSpPr txBox="1"/>
          <p:nvPr/>
        </p:nvSpPr>
        <p:spPr>
          <a:xfrm>
            <a:off x="9359019" y="2369707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9557278" y="1843037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dirty="0"/>
          </a:p>
        </p:txBody>
      </p:sp>
      <p:cxnSp>
        <p:nvCxnSpPr>
          <p:cNvPr id="106" name="直線單箭頭接點 105"/>
          <p:cNvCxnSpPr/>
          <p:nvPr/>
        </p:nvCxnSpPr>
        <p:spPr>
          <a:xfrm flipH="1">
            <a:off x="9506307" y="2792710"/>
            <a:ext cx="1" cy="44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9557278" y="276565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dirty="0"/>
          </a:p>
        </p:txBody>
      </p:sp>
      <p:sp>
        <p:nvSpPr>
          <p:cNvPr id="108" name="橢圓 107"/>
          <p:cNvSpPr/>
          <p:nvPr/>
        </p:nvSpPr>
        <p:spPr>
          <a:xfrm>
            <a:off x="9246817" y="3249091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文字方塊 108"/>
          <p:cNvSpPr txBox="1"/>
          <p:nvPr/>
        </p:nvSpPr>
        <p:spPr>
          <a:xfrm>
            <a:off x="9359018" y="3329739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線單箭頭接點 109"/>
          <p:cNvCxnSpPr/>
          <p:nvPr/>
        </p:nvCxnSpPr>
        <p:spPr>
          <a:xfrm flipH="1">
            <a:off x="9506306" y="3779719"/>
            <a:ext cx="1" cy="44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/>
          <p:nvPr/>
        </p:nvCxnSpPr>
        <p:spPr>
          <a:xfrm>
            <a:off x="9506307" y="3769062"/>
            <a:ext cx="725946" cy="455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/>
          <p:cNvSpPr/>
          <p:nvPr/>
        </p:nvSpPr>
        <p:spPr>
          <a:xfrm>
            <a:off x="9918418" y="363489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dirty="0"/>
          </a:p>
        </p:txBody>
      </p:sp>
      <p:sp>
        <p:nvSpPr>
          <p:cNvPr id="113" name="矩形 112"/>
          <p:cNvSpPr/>
          <p:nvPr/>
        </p:nvSpPr>
        <p:spPr>
          <a:xfrm>
            <a:off x="9507773" y="3822345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dirty="0"/>
          </a:p>
        </p:txBody>
      </p:sp>
      <p:sp>
        <p:nvSpPr>
          <p:cNvPr id="114" name="橢圓 113"/>
          <p:cNvSpPr/>
          <p:nvPr/>
        </p:nvSpPr>
        <p:spPr>
          <a:xfrm>
            <a:off x="9246817" y="4216920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文字方塊 114"/>
          <p:cNvSpPr txBox="1"/>
          <p:nvPr/>
        </p:nvSpPr>
        <p:spPr>
          <a:xfrm>
            <a:off x="9359018" y="4297568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橢圓 115"/>
          <p:cNvSpPr/>
          <p:nvPr/>
        </p:nvSpPr>
        <p:spPr>
          <a:xfrm>
            <a:off x="10024745" y="4227826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文字方塊 116"/>
          <p:cNvSpPr txBox="1"/>
          <p:nvPr/>
        </p:nvSpPr>
        <p:spPr>
          <a:xfrm>
            <a:off x="10148289" y="4291220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9225926" y="4775815"/>
            <a:ext cx="50526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10050509" y="4775815"/>
            <a:ext cx="518091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5" name="直線接點 124"/>
          <p:cNvCxnSpPr>
            <a:stCxn id="114" idx="2"/>
          </p:cNvCxnSpPr>
          <p:nvPr/>
        </p:nvCxnSpPr>
        <p:spPr>
          <a:xfrm flipH="1" flipV="1">
            <a:off x="8839200" y="4471327"/>
            <a:ext cx="407617" cy="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接點 126"/>
          <p:cNvCxnSpPr/>
          <p:nvPr/>
        </p:nvCxnSpPr>
        <p:spPr>
          <a:xfrm flipV="1">
            <a:off x="8847063" y="2463114"/>
            <a:ext cx="12037" cy="200821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/>
          <p:nvPr/>
        </p:nvCxnSpPr>
        <p:spPr>
          <a:xfrm>
            <a:off x="8866963" y="2461148"/>
            <a:ext cx="399755" cy="1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/>
          <p:cNvCxnSpPr>
            <a:stCxn id="100" idx="0"/>
          </p:cNvCxnSpPr>
          <p:nvPr/>
        </p:nvCxnSpPr>
        <p:spPr>
          <a:xfrm flipH="1" flipV="1">
            <a:off x="9506306" y="856735"/>
            <a:ext cx="4" cy="46196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接點 134"/>
          <p:cNvCxnSpPr/>
          <p:nvPr/>
        </p:nvCxnSpPr>
        <p:spPr>
          <a:xfrm>
            <a:off x="9506306" y="856735"/>
            <a:ext cx="19460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/>
          <p:cNvCxnSpPr/>
          <p:nvPr/>
        </p:nvCxnSpPr>
        <p:spPr>
          <a:xfrm flipH="1">
            <a:off x="9651402" y="856735"/>
            <a:ext cx="55917" cy="46196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接點 138"/>
          <p:cNvCxnSpPr>
            <a:stCxn id="108" idx="2"/>
          </p:cNvCxnSpPr>
          <p:nvPr/>
        </p:nvCxnSpPr>
        <p:spPr>
          <a:xfrm flipH="1">
            <a:off x="8575339" y="3503499"/>
            <a:ext cx="671478" cy="1631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接點 139"/>
          <p:cNvCxnSpPr/>
          <p:nvPr/>
        </p:nvCxnSpPr>
        <p:spPr>
          <a:xfrm flipV="1">
            <a:off x="8587571" y="1545422"/>
            <a:ext cx="7667" cy="195807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>
            <a:endCxn id="100" idx="2"/>
          </p:cNvCxnSpPr>
          <p:nvPr/>
        </p:nvCxnSpPr>
        <p:spPr>
          <a:xfrm>
            <a:off x="8575338" y="1571218"/>
            <a:ext cx="671480" cy="188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接點 154"/>
          <p:cNvCxnSpPr/>
          <p:nvPr/>
        </p:nvCxnSpPr>
        <p:spPr>
          <a:xfrm flipH="1" flipV="1">
            <a:off x="10929233" y="1631092"/>
            <a:ext cx="13512" cy="283581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接點 155"/>
          <p:cNvCxnSpPr/>
          <p:nvPr/>
        </p:nvCxnSpPr>
        <p:spPr>
          <a:xfrm flipH="1" flipV="1">
            <a:off x="10522118" y="4479088"/>
            <a:ext cx="407617" cy="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9795031" y="1618908"/>
            <a:ext cx="1147715" cy="1218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單箭頭接點 162"/>
          <p:cNvCxnSpPr/>
          <p:nvPr/>
        </p:nvCxnSpPr>
        <p:spPr>
          <a:xfrm flipV="1">
            <a:off x="9414749" y="1828263"/>
            <a:ext cx="1" cy="444993"/>
          </a:xfrm>
          <a:prstGeom prst="straightConnector1">
            <a:avLst/>
          </a:prstGeom>
          <a:ln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312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Example(Pre-processing)</a:t>
            </a:r>
            <a:endParaRPr lang="zh-TW" altLang="en-US" dirty="0"/>
          </a:p>
        </p:txBody>
      </p:sp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3508442"/>
              </p:ext>
            </p:extLst>
          </p:nvPr>
        </p:nvGraphicFramePr>
        <p:xfrm>
          <a:off x="1443987" y="2916826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橢圓 5"/>
          <p:cNvSpPr/>
          <p:nvPr/>
        </p:nvSpPr>
        <p:spPr>
          <a:xfrm>
            <a:off x="7813434" y="1944774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7925636" y="2015224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7"/>
          <p:cNvCxnSpPr>
            <a:stCxn id="6" idx="4"/>
            <a:endCxn id="9" idx="0"/>
          </p:cNvCxnSpPr>
          <p:nvPr/>
        </p:nvCxnSpPr>
        <p:spPr>
          <a:xfrm flipH="1">
            <a:off x="8072925" y="2453589"/>
            <a:ext cx="1" cy="44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7813433" y="2898582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925635" y="2995782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23894" y="2469112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dirty="0"/>
          </a:p>
        </p:txBody>
      </p:sp>
      <p:cxnSp>
        <p:nvCxnSpPr>
          <p:cNvPr id="12" name="直線單箭頭接點 11"/>
          <p:cNvCxnSpPr/>
          <p:nvPr/>
        </p:nvCxnSpPr>
        <p:spPr>
          <a:xfrm flipH="1">
            <a:off x="8072923" y="3418785"/>
            <a:ext cx="1" cy="44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123894" y="339172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dirty="0"/>
          </a:p>
        </p:txBody>
      </p:sp>
      <p:sp>
        <p:nvSpPr>
          <p:cNvPr id="14" name="橢圓 13"/>
          <p:cNvSpPr/>
          <p:nvPr/>
        </p:nvSpPr>
        <p:spPr>
          <a:xfrm>
            <a:off x="7813433" y="3875166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7925634" y="3955814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/>
          <p:cNvCxnSpPr/>
          <p:nvPr/>
        </p:nvCxnSpPr>
        <p:spPr>
          <a:xfrm flipH="1">
            <a:off x="8072922" y="4405794"/>
            <a:ext cx="1" cy="444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8072923" y="4395137"/>
            <a:ext cx="725946" cy="455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485034" y="426096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074389" y="4448420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dirty="0"/>
          </a:p>
        </p:txBody>
      </p:sp>
      <p:sp>
        <p:nvSpPr>
          <p:cNvPr id="20" name="橢圓 19"/>
          <p:cNvSpPr/>
          <p:nvPr/>
        </p:nvSpPr>
        <p:spPr>
          <a:xfrm>
            <a:off x="7813433" y="4842995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7925634" y="4923643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8591361" y="4853901"/>
            <a:ext cx="518983" cy="5088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8714905" y="4917295"/>
            <a:ext cx="3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792542" y="5401890"/>
            <a:ext cx="50526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617125" y="5401890"/>
            <a:ext cx="518091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線接點 25"/>
          <p:cNvCxnSpPr>
            <a:stCxn id="20" idx="2"/>
          </p:cNvCxnSpPr>
          <p:nvPr/>
        </p:nvCxnSpPr>
        <p:spPr>
          <a:xfrm flipH="1" flipV="1">
            <a:off x="7405816" y="5097402"/>
            <a:ext cx="407617" cy="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7413679" y="3089189"/>
            <a:ext cx="12037" cy="200821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7433579" y="3087223"/>
            <a:ext cx="399755" cy="1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6" idx="0"/>
          </p:cNvCxnSpPr>
          <p:nvPr/>
        </p:nvCxnSpPr>
        <p:spPr>
          <a:xfrm flipH="1" flipV="1">
            <a:off x="8072922" y="1482810"/>
            <a:ext cx="4" cy="46196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8072922" y="1482810"/>
            <a:ext cx="19460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endCxn id="6" idx="7"/>
          </p:cNvCxnSpPr>
          <p:nvPr/>
        </p:nvCxnSpPr>
        <p:spPr>
          <a:xfrm flipH="1">
            <a:off x="8256414" y="1482810"/>
            <a:ext cx="17522" cy="53647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14" idx="2"/>
          </p:cNvCxnSpPr>
          <p:nvPr/>
        </p:nvCxnSpPr>
        <p:spPr>
          <a:xfrm flipH="1">
            <a:off x="7141955" y="4129574"/>
            <a:ext cx="671478" cy="1631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7154187" y="2171497"/>
            <a:ext cx="7667" cy="195807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6" idx="2"/>
          </p:cNvCxnSpPr>
          <p:nvPr/>
        </p:nvCxnSpPr>
        <p:spPr>
          <a:xfrm>
            <a:off x="7141954" y="2197293"/>
            <a:ext cx="671480" cy="188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 flipH="1" flipV="1">
            <a:off x="9495849" y="2257167"/>
            <a:ext cx="13512" cy="283581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 flipH="1" flipV="1">
            <a:off x="9088734" y="5105163"/>
            <a:ext cx="407617" cy="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H="1" flipV="1">
            <a:off x="8361647" y="2244983"/>
            <a:ext cx="1147715" cy="1218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189710" y="3723964"/>
            <a:ext cx="3128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character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43" name="直線單箭頭接點 42"/>
          <p:cNvCxnSpPr/>
          <p:nvPr/>
        </p:nvCxnSpPr>
        <p:spPr>
          <a:xfrm flipV="1">
            <a:off x="7925633" y="2439568"/>
            <a:ext cx="1" cy="444993"/>
          </a:xfrm>
          <a:prstGeom prst="straightConnector1">
            <a:avLst/>
          </a:prstGeom>
          <a:ln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89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887007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11926"/>
              </p:ext>
            </p:extLst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291305"/>
              </p:ext>
            </p:extLst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344375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822298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3066375"/>
              </p:ext>
            </p:extLst>
          </p:nvPr>
        </p:nvGraphicFramePr>
        <p:xfrm>
          <a:off x="3816485" y="4811528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309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035444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91691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46589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4924188"/>
              </p:ext>
            </p:extLst>
          </p:nvPr>
        </p:nvGraphicFramePr>
        <p:xfrm>
          <a:off x="3816485" y="4811528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>
            <a:off x="1589903" y="2100649"/>
            <a:ext cx="0" cy="230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1367481" y="2471351"/>
            <a:ext cx="2059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703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603536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284814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221594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/>
        </p:nvGraphicFramePr>
        <p:xfrm>
          <a:off x="3816485" y="4811528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783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884766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532236"/>
              </p:ext>
            </p:extLst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692756"/>
              </p:ext>
            </p:extLst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42945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126384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1460093"/>
              </p:ext>
            </p:extLst>
          </p:nvPr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11" name="直線單箭頭接點 10"/>
          <p:cNvCxnSpPr/>
          <p:nvPr/>
        </p:nvCxnSpPr>
        <p:spPr>
          <a:xfrm>
            <a:off x="1622854" y="2446638"/>
            <a:ext cx="164757" cy="197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1902941" y="2430162"/>
            <a:ext cx="0" cy="263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1622854" y="2850292"/>
            <a:ext cx="2224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60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447473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616711"/>
              </p:ext>
            </p:extLst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06940"/>
              </p:ext>
            </p:extLst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327249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44823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/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922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834860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140759"/>
              </p:ext>
            </p:extLst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311203"/>
              </p:ext>
            </p:extLst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622884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197314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2207948"/>
              </p:ext>
            </p:extLst>
          </p:nvPr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>
            <a:off x="3764692" y="2446638"/>
            <a:ext cx="2331308" cy="247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6096000" y="2496065"/>
            <a:ext cx="0" cy="172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5873578" y="2809103"/>
            <a:ext cx="2224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5902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66493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597238"/>
              </p:ext>
            </p:extLst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353033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966654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8621484"/>
              </p:ext>
            </p:extLst>
          </p:nvPr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1830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71707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648506"/>
              </p:ext>
            </p:extLst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735044"/>
              </p:ext>
            </p:extLst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815121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562481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6943670"/>
              </p:ext>
            </p:extLst>
          </p:nvPr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>
            <a:off x="3987114" y="2842054"/>
            <a:ext cx="189470" cy="172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4275438" y="2833816"/>
            <a:ext cx="8238" cy="230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3987114" y="3212757"/>
            <a:ext cx="2636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1911178" y="2833816"/>
            <a:ext cx="2265406" cy="296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3728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174231"/>
              </p:ext>
            </p:extLst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065673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328792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6476385"/>
              </p:ext>
            </p:extLst>
          </p:nvPr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48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080114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633098"/>
              </p:ext>
            </p:extLst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606665"/>
              </p:ext>
            </p:extLst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169028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769218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4761672"/>
              </p:ext>
            </p:extLst>
          </p:nvPr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>
          <a:xfrm>
            <a:off x="2397211" y="3245708"/>
            <a:ext cx="0" cy="18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2158314" y="3566984"/>
            <a:ext cx="156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2158314" y="3245708"/>
            <a:ext cx="156518" cy="18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3562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524778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497260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34213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6467879"/>
              </p:ext>
            </p:extLst>
          </p:nvPr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936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194863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523113"/>
              </p:ext>
            </p:extLst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065153"/>
              </p:ext>
            </p:extLst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090643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677610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1104895"/>
              </p:ext>
            </p:extLst>
          </p:nvPr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>
            <a:off x="4267200" y="3163330"/>
            <a:ext cx="2240692" cy="255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575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326405"/>
              </p:ext>
            </p:extLst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344395"/>
              </p:ext>
            </p:extLst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380853"/>
              </p:ext>
            </p:extLst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42101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403242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0582890"/>
              </p:ext>
            </p:extLst>
          </p:nvPr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3" name="直線單箭頭接點 12"/>
          <p:cNvCxnSpPr/>
          <p:nvPr/>
        </p:nvCxnSpPr>
        <p:spPr>
          <a:xfrm>
            <a:off x="4761470" y="3954162"/>
            <a:ext cx="172995" cy="181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197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97277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230398"/>
              </p:ext>
            </p:extLst>
          </p:nvPr>
        </p:nvGraphicFramePr>
        <p:xfrm>
          <a:off x="309196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086626"/>
              </p:ext>
            </p:extLst>
          </p:nvPr>
        </p:nvGraphicFramePr>
        <p:xfrm>
          <a:off x="521114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558290"/>
              </p:ext>
            </p:extLst>
          </p:nvPr>
        </p:nvGraphicFramePr>
        <p:xfrm>
          <a:off x="7330332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35899"/>
              </p:ext>
            </p:extLst>
          </p:nvPr>
        </p:nvGraphicFramePr>
        <p:xfrm>
          <a:off x="9449517" y="1455447"/>
          <a:ext cx="19846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  <a:gridCol w="248076"/>
              </a:tblGrid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2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9866201"/>
              </p:ext>
            </p:extLst>
          </p:nvPr>
        </p:nvGraphicFramePr>
        <p:xfrm>
          <a:off x="3709800" y="4687961"/>
          <a:ext cx="3747468" cy="17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578"/>
                <a:gridCol w="624578"/>
                <a:gridCol w="624578"/>
                <a:gridCol w="624578"/>
                <a:gridCol w="624578"/>
                <a:gridCol w="624578"/>
              </a:tblGrid>
              <a:tr h="57115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2710249" y="4020065"/>
            <a:ext cx="247136" cy="36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829434" y="4020065"/>
            <a:ext cx="247136" cy="36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6948619" y="4020065"/>
            <a:ext cx="247136" cy="36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9067804" y="4020065"/>
            <a:ext cx="247136" cy="36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1186989" y="4020065"/>
            <a:ext cx="247136" cy="36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6084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974933" y="1690688"/>
                <a:ext cx="5707878" cy="38448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Table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mnR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: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X’s length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Y’s length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Pre-processing :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Rl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: Alphabet type amounts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933" y="1690688"/>
                <a:ext cx="5707878" cy="3844899"/>
              </a:xfrm>
              <a:prstGeom prst="rect">
                <a:avLst/>
              </a:prstGeom>
              <a:blipFill rotWithShape="0">
                <a:blip r:embed="rId2"/>
                <a:stretch>
                  <a:fillRect l="-1709" t="-12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425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7319</Words>
  <Application>Microsoft Office PowerPoint</Application>
  <PresentationFormat>寬螢幕</PresentationFormat>
  <Paragraphs>5765</Paragraphs>
  <Slides>46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Efficient polynomial-time algorithms for the constrained LCS problem with strings exclusion</vt:lpstr>
      <vt:lpstr>Abstract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Pre-processing</vt:lpstr>
      <vt:lpstr>Conclusion</vt:lpstr>
      <vt:lpstr>STR-EC-LCS with multiple constraints</vt:lpstr>
      <vt:lpstr>PowerPoint 簡報</vt:lpstr>
      <vt:lpstr>Goto function</vt:lpstr>
      <vt:lpstr>PowerPoint 簡報</vt:lpstr>
      <vt:lpstr>Failure function</vt:lpstr>
      <vt:lpstr>Pre-processing</vt:lpstr>
      <vt:lpstr>Example</vt:lpstr>
      <vt:lpstr>Example(Pre-processing)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polynomial-time algorithms for the constrained LCS problem with strings exclusion</dc:title>
  <dc:creator>Alex</dc:creator>
  <cp:lastModifiedBy>Alex</cp:lastModifiedBy>
  <cp:revision>33</cp:revision>
  <dcterms:created xsi:type="dcterms:W3CDTF">2020-07-06T13:53:57Z</dcterms:created>
  <dcterms:modified xsi:type="dcterms:W3CDTF">2020-07-08T05:50:44Z</dcterms:modified>
</cp:coreProperties>
</file>