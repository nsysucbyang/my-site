
<file path=[Content_Types].xml><?xml version="1.0" encoding="utf-8"?>
<Types xmlns="http://schemas.openxmlformats.org/package/2006/content-types">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321" r:id="rId2"/>
    <p:sldId id="311" r:id="rId3"/>
    <p:sldId id="333" r:id="rId4"/>
    <p:sldId id="306" r:id="rId5"/>
    <p:sldId id="345" r:id="rId6"/>
    <p:sldId id="338" r:id="rId7"/>
    <p:sldId id="342" r:id="rId8"/>
    <p:sldId id="343" r:id="rId9"/>
    <p:sldId id="344" r:id="rId10"/>
    <p:sldId id="341" r:id="rId11"/>
    <p:sldId id="346" r:id="rId12"/>
    <p:sldId id="347" r:id="rId13"/>
    <p:sldId id="348"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豐仰 蔡" initials="豐仰" lastIdx="1" clrIdx="0">
    <p:extLst>
      <p:ext uri="{19B8F6BF-5375-455C-9EA6-DF929625EA0E}">
        <p15:presenceInfo xmlns:p15="http://schemas.microsoft.com/office/powerpoint/2012/main" userId="8fbda77307fba9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0AFE"/>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2272" autoAdjust="0"/>
  </p:normalViewPr>
  <p:slideViewPr>
    <p:cSldViewPr snapToGrid="0">
      <p:cViewPr varScale="1">
        <p:scale>
          <a:sx n="105" d="100"/>
          <a:sy n="105" d="100"/>
        </p:scale>
        <p:origin x="1824" y="114"/>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2020/7/8</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zh-TW" altLang="en-US" sz="1200" b="0" i="0" kern="1200" dirty="0">
                <a:solidFill>
                  <a:schemeClr val="tx1"/>
                </a:solidFill>
                <a:effectLst/>
                <a:latin typeface="+mn-lt"/>
                <a:ea typeface="+mn-ea"/>
                <a:cs typeface="+mn-cs"/>
              </a:rPr>
              <a:t>各位老師同學學長大家好，我是今天的報告者李子旭，今天我要報告的主題是，作者是，他是維吉尼亞大學的生物化學和分子遺傳學的教授，在美國，他是以開發</a:t>
            </a:r>
            <a:r>
              <a:rPr lang="en-US" altLang="zh-TW" sz="1200" b="0" i="0" kern="1200" dirty="0">
                <a:solidFill>
                  <a:schemeClr val="tx1"/>
                </a:solidFill>
                <a:effectLst/>
                <a:latin typeface="+mn-lt"/>
                <a:ea typeface="+mn-ea"/>
                <a:cs typeface="+mn-cs"/>
              </a:rPr>
              <a:t>FASTA</a:t>
            </a:r>
            <a:r>
              <a:rPr lang="zh-TW" altLang="en-US" sz="1200" b="0" i="0" kern="1200" dirty="0">
                <a:solidFill>
                  <a:schemeClr val="tx1"/>
                </a:solidFill>
                <a:effectLst/>
                <a:latin typeface="+mn-lt"/>
                <a:ea typeface="+mn-ea"/>
                <a:cs typeface="+mn-cs"/>
              </a:rPr>
              <a:t>而聞名，那我先開始念一下摘要。</a:t>
            </a:r>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31141255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zh-TW" altLang="en-US" dirty="0"/>
              <a:t>這篇主要在說生物的同源性，先從相似性推論到同源性，再從同源性推論到功能性，然後也說明怎樣能夠有效率的來識別是否為同源。</a:t>
            </a: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b="0" i="0" u="none" strike="noStrike" kern="1200" baseline="0" dirty="0">
                <a:solidFill>
                  <a:schemeClr val="tx1"/>
                </a:solidFill>
                <a:latin typeface="+mn-lt"/>
                <a:ea typeface="+mn-ea"/>
                <a:cs typeface="+mn-cs"/>
              </a:rPr>
              <a:t>Pearson</a:t>
            </a:r>
            <a:r>
              <a:rPr lang="zh-TW" altLang="en-US" sz="1200" b="0" i="0" u="none" strike="noStrike" kern="1200" baseline="0" dirty="0">
                <a:solidFill>
                  <a:schemeClr val="tx1"/>
                </a:solidFill>
                <a:latin typeface="+mn-lt"/>
                <a:ea typeface="+mn-ea"/>
                <a:cs typeface="+mn-cs"/>
              </a:rPr>
              <a:t>的</a:t>
            </a:r>
            <a:r>
              <a:rPr lang="en-US" altLang="zh-TW" sz="1200" b="0" i="0" u="none" strike="noStrike" kern="1200" baseline="0" dirty="0">
                <a:solidFill>
                  <a:schemeClr val="tx1"/>
                </a:solidFill>
                <a:latin typeface="+mn-lt"/>
                <a:ea typeface="+mn-ea"/>
                <a:cs typeface="+mn-cs"/>
              </a:rPr>
              <a:t>database</a:t>
            </a:r>
            <a:r>
              <a:rPr lang="zh-TW" altLang="en-US" sz="1200" b="0" i="0" u="none" strike="noStrike" kern="1200" baseline="0" dirty="0">
                <a:solidFill>
                  <a:schemeClr val="tx1"/>
                </a:solidFill>
                <a:latin typeface="+mn-lt"/>
                <a:ea typeface="+mn-ea"/>
                <a:cs typeface="+mn-cs"/>
              </a:rPr>
              <a:t>是</a:t>
            </a:r>
            <a:r>
              <a:rPr lang="en-US" altLang="zh-TW" sz="1200" b="0" i="0" u="none" strike="noStrike" kern="1200" baseline="0" dirty="0">
                <a:solidFill>
                  <a:schemeClr val="tx1"/>
                </a:solidFill>
                <a:latin typeface="+mn-lt"/>
                <a:ea typeface="+mn-ea"/>
                <a:cs typeface="+mn-cs"/>
              </a:rPr>
              <a:t>PIR</a:t>
            </a:r>
          </a:p>
          <a:p>
            <a:r>
              <a:rPr lang="en-US" altLang="zh-TW" sz="1200" b="0" i="0" u="none" strike="noStrike" kern="1200" baseline="0" dirty="0" err="1">
                <a:solidFill>
                  <a:schemeClr val="tx1"/>
                </a:solidFill>
                <a:latin typeface="+mn-lt"/>
                <a:ea typeface="+mn-ea"/>
                <a:cs typeface="+mn-cs"/>
              </a:rPr>
              <a:t>Henikoff</a:t>
            </a:r>
            <a:r>
              <a:rPr lang="zh-TW" altLang="en-US" sz="1200" b="0" i="0" u="none" strike="noStrike" kern="1200" baseline="0" dirty="0">
                <a:solidFill>
                  <a:schemeClr val="tx1"/>
                </a:solidFill>
                <a:latin typeface="+mn-lt"/>
                <a:ea typeface="+mn-ea"/>
                <a:cs typeface="+mn-cs"/>
              </a:rPr>
              <a:t>是評價</a:t>
            </a:r>
            <a:r>
              <a:rPr lang="en-US" altLang="zh-TW" sz="1200" b="0" i="0" u="none" strike="noStrike" kern="1200" baseline="0" dirty="0">
                <a:solidFill>
                  <a:schemeClr val="tx1"/>
                </a:solidFill>
                <a:latin typeface="+mn-lt"/>
                <a:ea typeface="+mn-ea"/>
                <a:cs typeface="+mn-cs"/>
              </a:rPr>
              <a:t>BLAST</a:t>
            </a:r>
            <a:r>
              <a:rPr lang="zh-TW" altLang="en-US" sz="1200" b="0" i="0" u="none" strike="noStrike" kern="1200" baseline="0" dirty="0">
                <a:solidFill>
                  <a:schemeClr val="tx1"/>
                </a:solidFill>
                <a:latin typeface="+mn-lt"/>
                <a:ea typeface="+mn-ea"/>
                <a:cs typeface="+mn-cs"/>
              </a:rPr>
              <a:t>和</a:t>
            </a:r>
            <a:r>
              <a:rPr lang="en-US" altLang="zh-TW" sz="1200" b="0" i="0" u="none" strike="noStrike" kern="1200" baseline="0" dirty="0">
                <a:solidFill>
                  <a:schemeClr val="tx1"/>
                </a:solidFill>
                <a:latin typeface="+mn-lt"/>
                <a:ea typeface="+mn-ea"/>
                <a:cs typeface="+mn-cs"/>
              </a:rPr>
              <a:t>FASTA</a:t>
            </a:r>
            <a:r>
              <a:rPr lang="zh-TW" altLang="en-US" sz="1200" b="0" i="0" u="none" strike="noStrike" kern="1200" baseline="0" dirty="0">
                <a:solidFill>
                  <a:schemeClr val="tx1"/>
                </a:solidFill>
                <a:latin typeface="+mn-lt"/>
                <a:ea typeface="+mn-ea"/>
                <a:cs typeface="+mn-cs"/>
              </a:rPr>
              <a:t>的效能，用的是</a:t>
            </a:r>
            <a:r>
              <a:rPr lang="en-US" altLang="zh-TW" sz="1200" b="0" i="0" u="none" strike="noStrike" kern="1200" baseline="0" dirty="0">
                <a:solidFill>
                  <a:schemeClr val="tx1"/>
                </a:solidFill>
                <a:latin typeface="+mn-lt"/>
                <a:ea typeface="+mn-ea"/>
                <a:cs typeface="+mn-cs"/>
              </a:rPr>
              <a:t>SWISS-PROT database</a:t>
            </a:r>
          </a:p>
          <a:p>
            <a:r>
              <a:rPr lang="en-US" altLang="zh-TW" sz="1200" dirty="0">
                <a:latin typeface="Times New Roman" panose="02020603050405020304" pitchFamily="18" charset="0"/>
                <a:cs typeface="Times New Roman" panose="02020603050405020304" pitchFamily="18" charset="0"/>
              </a:rPr>
              <a:t>Sander and Schneider</a:t>
            </a:r>
            <a:r>
              <a:rPr lang="zh-TW" altLang="en-US" sz="1200" dirty="0">
                <a:latin typeface="Times New Roman" panose="02020603050405020304" pitchFamily="18" charset="0"/>
                <a:cs typeface="Times New Roman" panose="02020603050405020304" pitchFamily="18" charset="0"/>
              </a:rPr>
              <a:t>用蛋白質結構來評估</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17464900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kern="1200" dirty="0">
                <a:solidFill>
                  <a:schemeClr val="tx1"/>
                </a:solidFill>
                <a:latin typeface="+mn-lt"/>
                <a:ea typeface="+mn-ea"/>
                <a:cs typeface="+mn-cs"/>
              </a:rPr>
              <a:t>血紅蛋白和肌紅蛋白雖然序列並不相似，但他們是非常接近的，所以看結構和功能會比看序列來得好。</a:t>
            </a:r>
            <a:endParaRPr lang="en-US" altLang="zh-TW" sz="1200" kern="1200" dirty="0">
              <a:solidFill>
                <a:schemeClr val="tx1"/>
              </a:solidFill>
              <a:latin typeface="+mn-lt"/>
              <a:ea typeface="+mn-ea"/>
              <a:cs typeface="+mn-cs"/>
            </a:endParaRPr>
          </a:p>
          <a:p>
            <a:r>
              <a:rPr lang="zh-TW" altLang="en-US" sz="1200" b="0" i="0" kern="1200" dirty="0">
                <a:solidFill>
                  <a:schemeClr val="tx1"/>
                </a:solidFill>
                <a:effectLst/>
                <a:latin typeface="+mn-lt"/>
                <a:ea typeface="+mn-ea"/>
                <a:cs typeface="+mn-cs"/>
              </a:rPr>
              <a:t>蛋白質結構分類數據庫主要是根據蛋白質結構域的結構和氨基酸序列的相似性對蛋白質結構域進行手動分類。進行這種分類的動機是確定蛋白質之間的進化關係。具有相同形狀但幾乎沒有序列或功能相似性的蛋白質被置於不同的超家族中，並且被認為僅具有非常遙遠的共同祖先。</a:t>
            </a:r>
            <a:endParaRPr lang="en-US" altLang="zh-TW" sz="1200" b="0" i="0" kern="1200" dirty="0">
              <a:solidFill>
                <a:schemeClr val="tx1"/>
              </a:solidFill>
              <a:effectLst/>
              <a:latin typeface="+mn-lt"/>
              <a:ea typeface="+mn-ea"/>
              <a:cs typeface="+mn-cs"/>
            </a:endParaRPr>
          </a:p>
          <a:p>
            <a:r>
              <a:rPr lang="en-US" altLang="zh-TW" sz="1200" dirty="0">
                <a:latin typeface="Times New Roman" panose="02020603050405020304" pitchFamily="18" charset="0"/>
                <a:cs typeface="Times New Roman" panose="02020603050405020304" pitchFamily="18" charset="0"/>
              </a:rPr>
              <a:t>PDB40D-B</a:t>
            </a:r>
            <a:r>
              <a:rPr lang="zh-TW" altLang="en-US" sz="1200" dirty="0">
                <a:latin typeface="Times New Roman" panose="02020603050405020304" pitchFamily="18" charset="0"/>
                <a:cs typeface="Times New Roman" panose="02020603050405020304" pitchFamily="18" charset="0"/>
              </a:rPr>
              <a:t>有</a:t>
            </a:r>
            <a:r>
              <a:rPr lang="en-US" altLang="zh-TW" sz="1200" dirty="0">
                <a:latin typeface="Times New Roman" panose="02020603050405020304" pitchFamily="18" charset="0"/>
                <a:cs typeface="Times New Roman" panose="02020603050405020304" pitchFamily="18" charset="0"/>
              </a:rPr>
              <a:t>1323</a:t>
            </a:r>
            <a:r>
              <a:rPr lang="zh-TW" altLang="en-US" sz="1200" dirty="0">
                <a:latin typeface="Times New Roman" panose="02020603050405020304" pitchFamily="18" charset="0"/>
                <a:cs typeface="Times New Roman" panose="02020603050405020304" pitchFamily="18" charset="0"/>
              </a:rPr>
              <a:t>個</a:t>
            </a:r>
            <a:r>
              <a:rPr lang="en-US" altLang="zh-TW" sz="1200" dirty="0">
                <a:latin typeface="Times New Roman" panose="02020603050405020304" pitchFamily="18" charset="0"/>
                <a:cs typeface="Times New Roman" panose="02020603050405020304" pitchFamily="18" charset="0"/>
              </a:rPr>
              <a:t>domain</a:t>
            </a:r>
            <a:r>
              <a:rPr lang="zh-TW" altLang="en-US" sz="1200" dirty="0">
                <a:latin typeface="Times New Roman" panose="02020603050405020304" pitchFamily="18" charset="0"/>
                <a:cs typeface="Times New Roman" panose="02020603050405020304" pitchFamily="18" charset="0"/>
              </a:rPr>
              <a:t>，</a:t>
            </a:r>
            <a:r>
              <a:rPr lang="en-US" altLang="zh-TW" sz="1200" dirty="0">
                <a:latin typeface="Times New Roman" panose="02020603050405020304" pitchFamily="18" charset="0"/>
                <a:cs typeface="Times New Roman" panose="02020603050405020304" pitchFamily="18" charset="0"/>
              </a:rPr>
              <a:t>9044</a:t>
            </a:r>
            <a:r>
              <a:rPr lang="zh-TW" altLang="en-US" sz="1200" dirty="0">
                <a:latin typeface="Times New Roman" panose="02020603050405020304" pitchFamily="18" charset="0"/>
                <a:cs typeface="Times New Roman" panose="02020603050405020304" pitchFamily="18" charset="0"/>
              </a:rPr>
              <a:t>個有序的遠距離關係列</a:t>
            </a:r>
            <a:endParaRPr lang="en-US" altLang="zh-TW"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dirty="0">
                <a:latin typeface="Times New Roman" panose="02020603050405020304" pitchFamily="18" charset="0"/>
                <a:cs typeface="Times New Roman" panose="02020603050405020304" pitchFamily="18" charset="0"/>
              </a:rPr>
              <a:t>PDB90D-B</a:t>
            </a:r>
            <a:r>
              <a:rPr lang="zh-TW" altLang="en-US" sz="1200" dirty="0">
                <a:latin typeface="Times New Roman" panose="02020603050405020304" pitchFamily="18" charset="0"/>
                <a:cs typeface="Times New Roman" panose="02020603050405020304" pitchFamily="18" charset="0"/>
              </a:rPr>
              <a:t>有</a:t>
            </a:r>
            <a:r>
              <a:rPr lang="en-US" altLang="zh-TW" sz="1200" dirty="0">
                <a:latin typeface="Times New Roman" panose="02020603050405020304" pitchFamily="18" charset="0"/>
                <a:cs typeface="Times New Roman" panose="02020603050405020304" pitchFamily="18" charset="0"/>
              </a:rPr>
              <a:t>2079</a:t>
            </a:r>
            <a:r>
              <a:rPr lang="zh-TW" altLang="en-US" sz="1200" dirty="0">
                <a:latin typeface="Times New Roman" panose="02020603050405020304" pitchFamily="18" charset="0"/>
                <a:cs typeface="Times New Roman" panose="02020603050405020304" pitchFamily="18" charset="0"/>
              </a:rPr>
              <a:t>個</a:t>
            </a:r>
            <a:r>
              <a:rPr lang="en-US" altLang="zh-TW" sz="1200" dirty="0">
                <a:latin typeface="Times New Roman" panose="02020603050405020304" pitchFamily="18" charset="0"/>
                <a:cs typeface="Times New Roman" panose="02020603050405020304" pitchFamily="18" charset="0"/>
              </a:rPr>
              <a:t>domain</a:t>
            </a:r>
            <a:r>
              <a:rPr lang="zh-TW" altLang="en-US" sz="1200" dirty="0">
                <a:latin typeface="Times New Roman" panose="02020603050405020304" pitchFamily="18" charset="0"/>
                <a:cs typeface="Times New Roman" panose="02020603050405020304" pitchFamily="18" charset="0"/>
              </a:rPr>
              <a:t>，</a:t>
            </a:r>
            <a:r>
              <a:rPr lang="en-US" altLang="zh-TW" sz="1200" dirty="0">
                <a:latin typeface="Times New Roman" panose="02020603050405020304" pitchFamily="18" charset="0"/>
                <a:cs typeface="Times New Roman" panose="02020603050405020304" pitchFamily="18" charset="0"/>
              </a:rPr>
              <a:t>53988</a:t>
            </a:r>
            <a:r>
              <a:rPr lang="zh-TW" altLang="en-US" sz="1200" dirty="0">
                <a:latin typeface="Times New Roman" panose="02020603050405020304" pitchFamily="18" charset="0"/>
                <a:cs typeface="Times New Roman" panose="02020603050405020304" pitchFamily="18" charset="0"/>
              </a:rPr>
              <a:t>個有序的遠距離關係列</a:t>
            </a:r>
            <a:endParaRPr lang="zh-TW" altLang="en-US" b="1" dirty="0"/>
          </a:p>
          <a:p>
            <a:r>
              <a:rPr lang="zh-TW" altLang="en-US" b="0" dirty="0"/>
              <a:t>但是</a:t>
            </a:r>
            <a:r>
              <a:rPr lang="en-US" altLang="zh-TW" b="0" dirty="0"/>
              <a:t>PDB40D-B</a:t>
            </a:r>
            <a:r>
              <a:rPr lang="zh-TW" altLang="en-US" b="0" dirty="0"/>
              <a:t>著眼於遠距離相關的蛋白質，減少了少數家族在</a:t>
            </a:r>
            <a:r>
              <a:rPr lang="en-US" altLang="zh-TW" b="0" dirty="0"/>
              <a:t>PDB</a:t>
            </a:r>
            <a:r>
              <a:rPr lang="zh-TW" altLang="en-US" b="0" dirty="0"/>
              <a:t>中的過度表達，而</a:t>
            </a:r>
            <a:r>
              <a:rPr lang="en-US" altLang="zh-TW" b="0" dirty="0"/>
              <a:t>PDB90D-B</a:t>
            </a:r>
            <a:r>
              <a:rPr lang="zh-TW" altLang="en-US" b="0" dirty="0"/>
              <a:t>（具有更多的序列）改善了對統計數據的評估</a:t>
            </a: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13704134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b="0" i="0" u="none" strike="noStrike" kern="1200" baseline="0" dirty="0">
                <a:solidFill>
                  <a:schemeClr val="tx1"/>
                </a:solidFill>
                <a:latin typeface="+mn-lt"/>
                <a:ea typeface="+mn-ea"/>
                <a:cs typeface="+mn-cs"/>
              </a:rPr>
              <a:t>Pearson</a:t>
            </a:r>
            <a:r>
              <a:rPr lang="zh-TW" altLang="en-US" sz="1200" b="0" i="0" u="none" strike="noStrike" kern="1200" baseline="0" dirty="0">
                <a:solidFill>
                  <a:schemeClr val="tx1"/>
                </a:solidFill>
                <a:latin typeface="+mn-lt"/>
                <a:ea typeface="+mn-ea"/>
                <a:cs typeface="+mn-cs"/>
              </a:rPr>
              <a:t>的</a:t>
            </a:r>
            <a:r>
              <a:rPr lang="en-US" altLang="zh-TW" sz="1200" b="0" i="0" u="none" strike="noStrike" kern="1200" baseline="0" dirty="0">
                <a:solidFill>
                  <a:schemeClr val="tx1"/>
                </a:solidFill>
                <a:latin typeface="+mn-lt"/>
                <a:ea typeface="+mn-ea"/>
                <a:cs typeface="+mn-cs"/>
              </a:rPr>
              <a:t>database</a:t>
            </a:r>
            <a:r>
              <a:rPr lang="zh-TW" altLang="en-US" sz="1200" b="0" i="0" u="none" strike="noStrike" kern="1200" baseline="0" dirty="0">
                <a:solidFill>
                  <a:schemeClr val="tx1"/>
                </a:solidFill>
                <a:latin typeface="+mn-lt"/>
                <a:ea typeface="+mn-ea"/>
                <a:cs typeface="+mn-cs"/>
              </a:rPr>
              <a:t>是</a:t>
            </a:r>
            <a:r>
              <a:rPr lang="en-US" altLang="zh-TW" sz="1200" b="0" i="0" u="none" strike="noStrike" kern="1200" baseline="0" dirty="0">
                <a:solidFill>
                  <a:schemeClr val="tx1"/>
                </a:solidFill>
                <a:latin typeface="+mn-lt"/>
                <a:ea typeface="+mn-ea"/>
                <a:cs typeface="+mn-cs"/>
              </a:rPr>
              <a:t>PIR</a:t>
            </a:r>
          </a:p>
          <a:p>
            <a:r>
              <a:rPr lang="en-US" altLang="zh-TW" sz="1200" b="0" i="0" u="none" strike="noStrike" kern="1200" baseline="0" dirty="0" err="1">
                <a:solidFill>
                  <a:schemeClr val="tx1"/>
                </a:solidFill>
                <a:latin typeface="+mn-lt"/>
                <a:ea typeface="+mn-ea"/>
                <a:cs typeface="+mn-cs"/>
              </a:rPr>
              <a:t>Henikoff</a:t>
            </a:r>
            <a:r>
              <a:rPr lang="zh-TW" altLang="en-US" sz="1200" b="0" i="0" u="none" strike="noStrike" kern="1200" baseline="0" dirty="0">
                <a:solidFill>
                  <a:schemeClr val="tx1"/>
                </a:solidFill>
                <a:latin typeface="+mn-lt"/>
                <a:ea typeface="+mn-ea"/>
                <a:cs typeface="+mn-cs"/>
              </a:rPr>
              <a:t>是評價</a:t>
            </a:r>
            <a:r>
              <a:rPr lang="en-US" altLang="zh-TW" sz="1200" b="0" i="0" u="none" strike="noStrike" kern="1200" baseline="0" dirty="0">
                <a:solidFill>
                  <a:schemeClr val="tx1"/>
                </a:solidFill>
                <a:latin typeface="+mn-lt"/>
                <a:ea typeface="+mn-ea"/>
                <a:cs typeface="+mn-cs"/>
              </a:rPr>
              <a:t>BLAST</a:t>
            </a:r>
            <a:r>
              <a:rPr lang="zh-TW" altLang="en-US" sz="1200" b="0" i="0" u="none" strike="noStrike" kern="1200" baseline="0" dirty="0">
                <a:solidFill>
                  <a:schemeClr val="tx1"/>
                </a:solidFill>
                <a:latin typeface="+mn-lt"/>
                <a:ea typeface="+mn-ea"/>
                <a:cs typeface="+mn-cs"/>
              </a:rPr>
              <a:t>和</a:t>
            </a:r>
            <a:r>
              <a:rPr lang="en-US" altLang="zh-TW" sz="1200" b="0" i="0" u="none" strike="noStrike" kern="1200" baseline="0" dirty="0">
                <a:solidFill>
                  <a:schemeClr val="tx1"/>
                </a:solidFill>
                <a:latin typeface="+mn-lt"/>
                <a:ea typeface="+mn-ea"/>
                <a:cs typeface="+mn-cs"/>
              </a:rPr>
              <a:t>FASTA</a:t>
            </a:r>
            <a:r>
              <a:rPr lang="zh-TW" altLang="en-US" sz="1200" b="0" i="0" u="none" strike="noStrike" kern="1200" baseline="0" dirty="0">
                <a:solidFill>
                  <a:schemeClr val="tx1"/>
                </a:solidFill>
                <a:latin typeface="+mn-lt"/>
                <a:ea typeface="+mn-ea"/>
                <a:cs typeface="+mn-cs"/>
              </a:rPr>
              <a:t>的效能，用的是</a:t>
            </a:r>
            <a:r>
              <a:rPr lang="en-US" altLang="zh-TW" sz="1200" b="0" i="0" u="none" strike="noStrike" kern="1200" baseline="0" dirty="0">
                <a:solidFill>
                  <a:schemeClr val="tx1"/>
                </a:solidFill>
                <a:latin typeface="+mn-lt"/>
                <a:ea typeface="+mn-ea"/>
                <a:cs typeface="+mn-cs"/>
              </a:rPr>
              <a:t>SWISS-PROT database</a:t>
            </a:r>
          </a:p>
          <a:p>
            <a:r>
              <a:rPr lang="en-US" altLang="zh-TW" sz="1200" dirty="0">
                <a:latin typeface="Times New Roman" panose="02020603050405020304" pitchFamily="18" charset="0"/>
                <a:cs typeface="Times New Roman" panose="02020603050405020304" pitchFamily="18" charset="0"/>
              </a:rPr>
              <a:t>Sander and Schneider</a:t>
            </a:r>
            <a:r>
              <a:rPr lang="zh-TW" altLang="en-US" sz="1200" dirty="0">
                <a:latin typeface="Times New Roman" panose="02020603050405020304" pitchFamily="18" charset="0"/>
                <a:cs typeface="Times New Roman" panose="02020603050405020304" pitchFamily="18" charset="0"/>
              </a:rPr>
              <a:t>用蛋白質結構來評估</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4931604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2.10</a:t>
            </a:r>
          </a:p>
          <a:p>
            <a:r>
              <a:rPr lang="en-US" altLang="zh-TW" dirty="0"/>
              <a:t>36</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30170392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2.10</a:t>
            </a:r>
          </a:p>
          <a:p>
            <a:r>
              <a:rPr lang="en-US" altLang="zh-TW" dirty="0"/>
              <a:t>36</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7</a:t>
            </a:fld>
            <a:endParaRPr lang="zh-TW" altLang="en-US"/>
          </a:p>
        </p:txBody>
      </p:sp>
    </p:spTree>
    <p:extLst>
      <p:ext uri="{BB962C8B-B14F-4D97-AF65-F5344CB8AC3E}">
        <p14:creationId xmlns:p14="http://schemas.microsoft.com/office/powerpoint/2010/main" val="14587708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2.10</a:t>
            </a:r>
          </a:p>
          <a:p>
            <a:r>
              <a:rPr lang="en-US" altLang="zh-TW" dirty="0"/>
              <a:t>36</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35723126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2.10</a:t>
            </a:r>
          </a:p>
          <a:p>
            <a:r>
              <a:rPr lang="en-US" altLang="zh-TW" dirty="0"/>
              <a:t>36</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36771965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10</a:t>
            </a:fld>
            <a:endParaRPr lang="zh-TW" altLang="en-US"/>
          </a:p>
        </p:txBody>
      </p:sp>
    </p:spTree>
    <p:extLst>
      <p:ext uri="{BB962C8B-B14F-4D97-AF65-F5344CB8AC3E}">
        <p14:creationId xmlns:p14="http://schemas.microsoft.com/office/powerpoint/2010/main" val="32226932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11</a:t>
            </a:fld>
            <a:endParaRPr lang="zh-TW" altLang="en-US"/>
          </a:p>
        </p:txBody>
      </p:sp>
    </p:spTree>
    <p:extLst>
      <p:ext uri="{BB962C8B-B14F-4D97-AF65-F5344CB8AC3E}">
        <p14:creationId xmlns:p14="http://schemas.microsoft.com/office/powerpoint/2010/main" val="17179986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12</a:t>
            </a:fld>
            <a:endParaRPr lang="zh-TW" altLang="en-US"/>
          </a:p>
        </p:txBody>
      </p:sp>
    </p:spTree>
    <p:extLst>
      <p:ext uri="{BB962C8B-B14F-4D97-AF65-F5344CB8AC3E}">
        <p14:creationId xmlns:p14="http://schemas.microsoft.com/office/powerpoint/2010/main" val="16408130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13</a:t>
            </a:fld>
            <a:endParaRPr lang="zh-TW" altLang="en-US"/>
          </a:p>
        </p:txBody>
      </p:sp>
    </p:spTree>
    <p:extLst>
      <p:ext uri="{BB962C8B-B14F-4D97-AF65-F5344CB8AC3E}">
        <p14:creationId xmlns:p14="http://schemas.microsoft.com/office/powerpoint/2010/main" val="18809403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2020/7/8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2020/7/8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FA6EFCFE-425C-4696-9D05-22E06C3112FC}" type="datetimeFigureOut">
              <a:rPr lang="zh-TW" altLang="en-US" smtClean="0"/>
              <a:t>2020/7/8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FA6EFCFE-425C-4696-9D05-22E06C3112FC}" type="datetimeFigureOut">
              <a:rPr lang="zh-TW" altLang="en-US" smtClean="0"/>
              <a:t>2020/7/8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6EFCFE-425C-4696-9D05-22E06C3112FC}" type="datetimeFigureOut">
              <a:rPr lang="zh-TW" altLang="en-US" smtClean="0"/>
              <a:t>2020/7/8</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FA6EFCFE-425C-4696-9D05-22E06C3112FC}" type="datetimeFigureOut">
              <a:rPr lang="zh-TW" altLang="en-US" smtClean="0"/>
              <a:t>2020/7/8</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6EFCFE-425C-4696-9D05-22E06C3112FC}" type="datetimeFigureOut">
              <a:rPr lang="zh-TW" altLang="en-US" smtClean="0"/>
              <a:t>2020/7/8</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2020/7/8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2020/7/8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2020/7/8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2020/7/8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6EFCFE-425C-4696-9D05-22E06C3112FC}" type="datetimeFigureOut">
              <a:rPr lang="zh-TW" altLang="en-US" smtClean="0"/>
              <a:t>2020/7/8</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tif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47A32-0D96-4B57-86B2-82EC84E8995E}"/>
              </a:ext>
            </a:extLst>
          </p:cNvPr>
          <p:cNvSpPr>
            <a:spLocks noGrp="1"/>
          </p:cNvSpPr>
          <p:nvPr>
            <p:ph type="ctrTitle"/>
          </p:nvPr>
        </p:nvSpPr>
        <p:spPr>
          <a:xfrm>
            <a:off x="330142" y="1223707"/>
            <a:ext cx="8348184" cy="877881"/>
          </a:xfrm>
        </p:spPr>
        <p:txBody>
          <a:bodyPr>
            <a:noAutofit/>
          </a:bodyPr>
          <a:lstStyle/>
          <a:p>
            <a:r>
              <a:rPr lang="en-US" altLang="zh-TW" sz="3600" dirty="0">
                <a:latin typeface="Times New Roman" panose="02020603050405020304" pitchFamily="18" charset="0"/>
                <a:cs typeface="Times New Roman" panose="02020603050405020304" pitchFamily="18" charset="0"/>
              </a:rPr>
              <a:t>Firefly Algorithm, </a:t>
            </a:r>
            <a:r>
              <a:rPr lang="en-US" altLang="zh-TW" sz="3600" dirty="0" err="1">
                <a:latin typeface="Times New Roman" panose="02020603050405020304" pitchFamily="18" charset="0"/>
                <a:cs typeface="Times New Roman" panose="02020603050405020304" pitchFamily="18" charset="0"/>
              </a:rPr>
              <a:t>L´evy</a:t>
            </a:r>
            <a:r>
              <a:rPr lang="en-US" altLang="zh-TW" sz="3600" dirty="0">
                <a:latin typeface="Times New Roman" panose="02020603050405020304" pitchFamily="18" charset="0"/>
                <a:cs typeface="Times New Roman" panose="02020603050405020304" pitchFamily="18" charset="0"/>
              </a:rPr>
              <a:t> Flights and </a:t>
            </a:r>
            <a:br>
              <a:rPr lang="en-US" altLang="zh-TW" sz="3600" dirty="0">
                <a:latin typeface="Times New Roman" panose="02020603050405020304" pitchFamily="18" charset="0"/>
                <a:cs typeface="Times New Roman" panose="02020603050405020304" pitchFamily="18" charset="0"/>
              </a:rPr>
            </a:br>
            <a:r>
              <a:rPr lang="en-US" altLang="zh-TW" sz="3600" dirty="0">
                <a:latin typeface="Times New Roman" panose="02020603050405020304" pitchFamily="18" charset="0"/>
                <a:cs typeface="Times New Roman" panose="02020603050405020304" pitchFamily="18" charset="0"/>
              </a:rPr>
              <a:t>Global</a:t>
            </a:r>
            <a:r>
              <a:rPr lang="zh-TW" altLang="en-US"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Optimization</a:t>
            </a:r>
          </a:p>
        </p:txBody>
      </p:sp>
      <p:sp>
        <p:nvSpPr>
          <p:cNvPr id="3" name="副標題 2">
            <a:extLst>
              <a:ext uri="{FF2B5EF4-FFF2-40B4-BE49-F238E27FC236}">
                <a16:creationId xmlns:a16="http://schemas.microsoft.com/office/drawing/2014/main" id="{61456E59-5D91-4093-B1A4-6F308EA967FD}"/>
              </a:ext>
            </a:extLst>
          </p:cNvPr>
          <p:cNvSpPr>
            <a:spLocks noGrp="1"/>
          </p:cNvSpPr>
          <p:nvPr>
            <p:ph type="subTitle" idx="1"/>
          </p:nvPr>
        </p:nvSpPr>
        <p:spPr>
          <a:xfrm>
            <a:off x="236110" y="3070388"/>
            <a:ext cx="8536249" cy="717223"/>
          </a:xfrm>
        </p:spPr>
        <p:txBody>
          <a:bodyPr>
            <a:noAutofit/>
          </a:bodyPr>
          <a:lstStyle/>
          <a:p>
            <a:r>
              <a:rPr lang="en-US" altLang="zh-TW" sz="2800" dirty="0">
                <a:latin typeface="Times New Roman" panose="02020603050405020304" pitchFamily="18" charset="0"/>
                <a:cs typeface="Times New Roman" panose="02020603050405020304" pitchFamily="18" charset="0"/>
              </a:rPr>
              <a:t>Yang, Xin-She</a:t>
            </a:r>
            <a:endParaRPr lang="fr-FR" altLang="zh-TW" sz="2800"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A64E0364-4674-4930-835E-A413D880DCDB}"/>
              </a:ext>
            </a:extLst>
          </p:cNvPr>
          <p:cNvSpPr txBox="1">
            <a:spLocks/>
          </p:cNvSpPr>
          <p:nvPr/>
        </p:nvSpPr>
        <p:spPr>
          <a:xfrm>
            <a:off x="4761182" y="5443584"/>
            <a:ext cx="3486173" cy="85647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cs typeface="Times New Roman" panose="02020603050405020304" pitchFamily="18" charset="0"/>
              </a:rPr>
              <a:t>Presenter</a:t>
            </a:r>
            <a:r>
              <a:rPr lang="en-US" altLang="zh-TW" sz="1800" dirty="0"/>
              <a:t> </a:t>
            </a: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800" dirty="0">
                <a:latin typeface="Times New Roman" panose="02020603050405020304" pitchFamily="18" charset="0"/>
                <a:cs typeface="Times New Roman" panose="02020603050405020304" pitchFamily="18" charset="0"/>
              </a:rPr>
              <a:t> </a:t>
            </a:r>
            <a:r>
              <a:rPr lang="en-US" altLang="zh-TW" sz="1800" dirty="0" err="1">
                <a:latin typeface="Times New Roman" panose="02020603050405020304" pitchFamily="18" charset="0"/>
                <a:cs typeface="Times New Roman" panose="02020603050405020304" pitchFamily="18" charset="0"/>
              </a:rPr>
              <a:t>Tz</a:t>
            </a:r>
            <a:r>
              <a:rPr lang="en-US" altLang="zh-TW" sz="1800" dirty="0">
                <a:latin typeface="Times New Roman" panose="02020603050405020304" pitchFamily="18" charset="0"/>
                <a:cs typeface="Times New Roman" panose="02020603050405020304" pitchFamily="18" charset="0"/>
              </a:rPr>
              <a:t>-Hsu Lee</a:t>
            </a:r>
          </a:p>
          <a:p>
            <a:pPr algn="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Date : Jul 08, 2020.</a:t>
            </a:r>
            <a:endParaRPr lang="zh-TW" altLang="en-US" sz="1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 name="矩形 5">
            <a:extLst>
              <a:ext uri="{FF2B5EF4-FFF2-40B4-BE49-F238E27FC236}">
                <a16:creationId xmlns:a16="http://schemas.microsoft.com/office/drawing/2014/main" id="{198F8570-D18F-4FAE-A5A6-644CF99DDEB2}"/>
              </a:ext>
            </a:extLst>
          </p:cNvPr>
          <p:cNvSpPr/>
          <p:nvPr/>
        </p:nvSpPr>
        <p:spPr>
          <a:xfrm>
            <a:off x="692791" y="3997050"/>
            <a:ext cx="7622889" cy="830997"/>
          </a:xfrm>
          <a:prstGeom prst="rect">
            <a:avLst/>
          </a:prstGeom>
        </p:spPr>
        <p:txBody>
          <a:bodyPr wrap="square">
            <a:spAutoFit/>
          </a:bodyPr>
          <a:lstStyle/>
          <a:p>
            <a:pPr algn="ctr"/>
            <a:r>
              <a:rPr lang="en-US" altLang="zh-TW" sz="2400" dirty="0">
                <a:latin typeface="Times New Roman" panose="02020603050405020304" pitchFamily="18" charset="0"/>
                <a:ea typeface="Tahoma" panose="020B0604030504040204" pitchFamily="34" charset="0"/>
                <a:cs typeface="Times New Roman" panose="02020603050405020304" pitchFamily="18" charset="0"/>
              </a:rPr>
              <a:t>Research and development in intelligent systems XXVI. Springer, London, 2010. p. 209-218.</a:t>
            </a:r>
          </a:p>
        </p:txBody>
      </p:sp>
    </p:spTree>
    <p:extLst>
      <p:ext uri="{BB962C8B-B14F-4D97-AF65-F5344CB8AC3E}">
        <p14:creationId xmlns:p14="http://schemas.microsoft.com/office/powerpoint/2010/main" val="829859479"/>
      </p:ext>
    </p:extLst>
  </p:cSld>
  <p:clrMapOvr>
    <a:masterClrMapping/>
  </p:clrMapOvr>
  <mc:AlternateContent xmlns:mc="http://schemas.openxmlformats.org/markup-compatibility/2006" xmlns:p14="http://schemas.microsoft.com/office/powerpoint/2010/main">
    <mc:Choice Requires="p14">
      <p:transition spd="slow" p14:dur="2000" advTm="2519">
        <p:cut/>
      </p:transition>
    </mc:Choice>
    <mc:Fallback xmlns="">
      <p:transition spd="slow" advTm="2519">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6070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961795"/>
            <a:ext cx="9004993"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Nature-inspired algorithms such as Particle Swarm Optimization and Fire-fly Algorithm are among the most powerful algorithms for optimization. In this paper, we intend to formulate a new metaheuristic algorithm by combining </a:t>
            </a:r>
            <a:r>
              <a:rPr lang="en-US" altLang="zh-TW" dirty="0" err="1">
                <a:latin typeface="Times New Roman" panose="02020603050405020304" pitchFamily="18" charset="0"/>
                <a:cs typeface="Times New Roman" panose="02020603050405020304" pitchFamily="18" charset="0"/>
              </a:rPr>
              <a:t>L´evy</a:t>
            </a:r>
            <a:r>
              <a:rPr lang="en-US" altLang="zh-TW" dirty="0">
                <a:latin typeface="Times New Roman" panose="02020603050405020304" pitchFamily="18" charset="0"/>
                <a:cs typeface="Times New Roman" panose="02020603050405020304" pitchFamily="18" charset="0"/>
              </a:rPr>
              <a:t> flights with the search strategy via the Firefly Algorithm. Numerical studies and results suggest that the proposed </a:t>
            </a:r>
            <a:r>
              <a:rPr lang="en-US" altLang="zh-TW" dirty="0" err="1">
                <a:latin typeface="Times New Roman" panose="02020603050405020304" pitchFamily="18" charset="0"/>
                <a:cs typeface="Times New Roman" panose="02020603050405020304" pitchFamily="18" charset="0"/>
              </a:rPr>
              <a:t>L´evy</a:t>
            </a:r>
            <a:r>
              <a:rPr lang="en-US" altLang="zh-TW" dirty="0">
                <a:latin typeface="Times New Roman" panose="02020603050405020304" pitchFamily="18" charset="0"/>
                <a:cs typeface="Times New Roman" panose="02020603050405020304" pitchFamily="18" charset="0"/>
              </a:rPr>
              <a:t>-flight firefly algorithm is superior to existing metaheuristic algorithms. Finally implications for further research and wider applications will be discussed.</a:t>
            </a:r>
          </a:p>
        </p:txBody>
      </p:sp>
    </p:spTree>
    <p:extLst>
      <p:ext uri="{BB962C8B-B14F-4D97-AF65-F5344CB8AC3E}">
        <p14:creationId xmlns:p14="http://schemas.microsoft.com/office/powerpoint/2010/main" val="399448398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62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Firefly Algorithm</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sp>
        <p:nvSpPr>
          <p:cNvPr id="5" name="內容版面配置區 5">
            <a:extLst>
              <a:ext uri="{FF2B5EF4-FFF2-40B4-BE49-F238E27FC236}">
                <a16:creationId xmlns:a16="http://schemas.microsoft.com/office/drawing/2014/main" id="{3CA8D1D5-6B20-4285-BB0C-86AEE094246D}"/>
              </a:ext>
            </a:extLst>
          </p:cNvPr>
          <p:cNvSpPr>
            <a:spLocks noGrp="1"/>
          </p:cNvSpPr>
          <p:nvPr>
            <p:ph idx="1"/>
          </p:nvPr>
        </p:nvSpPr>
        <p:spPr>
          <a:xfrm>
            <a:off x="628088" y="1376302"/>
            <a:ext cx="7887821" cy="4354433"/>
          </a:xfrm>
        </p:spPr>
        <p:txBody>
          <a:bodyPr>
            <a:noAutofit/>
          </a:bodyPr>
          <a:lstStyle/>
          <a:p>
            <a:r>
              <a:rPr lang="en-US" altLang="zh-TW" sz="2400" dirty="0">
                <a:latin typeface="Times New Roman" panose="02020603050405020304" pitchFamily="18" charset="0"/>
                <a:cs typeface="Times New Roman" panose="02020603050405020304" pitchFamily="18" charset="0"/>
              </a:rPr>
              <a:t>All fireflies are unisex so that one firefly will be attracted to other fireflies regardless of their sex</a:t>
            </a: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For any two flashing fireflies, the less brighter one will move towards the brighter one.</a:t>
            </a: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The brightness of a firefly is affected or determined by the landscape of the objective function</a:t>
            </a:r>
          </a:p>
          <a:p>
            <a:pPr marL="0" indent="0">
              <a:buNone/>
            </a:pPr>
            <a:endParaRPr lang="en-US" altLang="zh-TW" sz="2400" dirty="0">
              <a:solidFill>
                <a:srgbClr val="FF0000"/>
              </a:solidFill>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285388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734957" y="350951"/>
            <a:ext cx="8491867" cy="583367"/>
          </a:xfrm>
        </p:spPr>
        <p:txBody>
          <a:bodyPr>
            <a:noAutofit/>
          </a:bodyPr>
          <a:lstStyle/>
          <a:p>
            <a:r>
              <a:rPr lang="en-US" altLang="zh-TW" sz="3200" b="1" dirty="0" err="1">
                <a:latin typeface="Times New Roman" panose="02020603050405020304" pitchFamily="18" charset="0"/>
                <a:cs typeface="Times New Roman" panose="02020603050405020304" pitchFamily="18" charset="0"/>
              </a:rPr>
              <a:t>L´evy</a:t>
            </a:r>
            <a:r>
              <a:rPr lang="en-US" altLang="zh-TW" sz="3200" b="1" dirty="0">
                <a:latin typeface="Times New Roman" panose="02020603050405020304" pitchFamily="18" charset="0"/>
                <a:cs typeface="Times New Roman" panose="02020603050405020304" pitchFamily="18" charset="0"/>
              </a:rPr>
              <a:t>-Flight Firefly Algorithm(1/2)</a:t>
            </a:r>
          </a:p>
        </p:txBody>
      </p:sp>
      <p:pic>
        <p:nvPicPr>
          <p:cNvPr id="12" name="圖片 11"/>
          <p:cNvPicPr>
            <a:picLocks noChangeAspect="1"/>
          </p:cNvPicPr>
          <p:nvPr/>
        </p:nvPicPr>
        <p:blipFill>
          <a:blip r:embed="rId3"/>
          <a:stretch>
            <a:fillRect/>
          </a:stretch>
        </p:blipFill>
        <p:spPr>
          <a:xfrm>
            <a:off x="1960395" y="5551917"/>
            <a:ext cx="312390" cy="385893"/>
          </a:xfrm>
          <a:prstGeom prst="rect">
            <a:avLst/>
          </a:prstGeom>
        </p:spPr>
      </p:pic>
      <p:pic>
        <p:nvPicPr>
          <p:cNvPr id="6" name="圖片 5">
            <a:extLst>
              <a:ext uri="{FF2B5EF4-FFF2-40B4-BE49-F238E27FC236}">
                <a16:creationId xmlns:a16="http://schemas.microsoft.com/office/drawing/2014/main" id="{E95FF815-C66A-483C-B9CB-125CF60A11DF}"/>
              </a:ext>
            </a:extLst>
          </p:cNvPr>
          <p:cNvPicPr>
            <a:picLocks noChangeAspect="1"/>
          </p:cNvPicPr>
          <p:nvPr/>
        </p:nvPicPr>
        <p:blipFill>
          <a:blip r:embed="rId4"/>
          <a:stretch>
            <a:fillRect/>
          </a:stretch>
        </p:blipFill>
        <p:spPr>
          <a:xfrm>
            <a:off x="1432707" y="1166012"/>
            <a:ext cx="6278586" cy="4942180"/>
          </a:xfrm>
          <a:prstGeom prst="rect">
            <a:avLst/>
          </a:prstGeom>
          <a:solidFill>
            <a:schemeClr val="accent2"/>
          </a:solidFill>
        </p:spPr>
      </p:pic>
    </p:spTree>
    <p:extLst>
      <p:ext uri="{BB962C8B-B14F-4D97-AF65-F5344CB8AC3E}">
        <p14:creationId xmlns:p14="http://schemas.microsoft.com/office/powerpoint/2010/main" val="113081170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628088" y="350951"/>
            <a:ext cx="8491867" cy="583367"/>
          </a:xfrm>
        </p:spPr>
        <p:txBody>
          <a:bodyPr>
            <a:noAutofit/>
          </a:bodyPr>
          <a:lstStyle/>
          <a:p>
            <a:r>
              <a:rPr lang="en-US" altLang="zh-TW" sz="3200" b="1" dirty="0" err="1">
                <a:latin typeface="Times New Roman" panose="02020603050405020304" pitchFamily="18" charset="0"/>
                <a:cs typeface="Times New Roman" panose="02020603050405020304" pitchFamily="18" charset="0"/>
              </a:rPr>
              <a:t>L´evy</a:t>
            </a:r>
            <a:r>
              <a:rPr lang="en-US" altLang="zh-TW" sz="3200" b="1" dirty="0">
                <a:latin typeface="Times New Roman" panose="02020603050405020304" pitchFamily="18" charset="0"/>
                <a:cs typeface="Times New Roman" panose="02020603050405020304" pitchFamily="18" charset="0"/>
              </a:rPr>
              <a:t>-Flight Firefly Algorithm(2/2)</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mc:AlternateContent xmlns:mc="http://schemas.openxmlformats.org/markup-compatibility/2006">
        <mc:Choice xmlns:a14="http://schemas.microsoft.com/office/drawing/2010/main" Requires="a14">
          <p:sp>
            <p:nvSpPr>
              <p:cNvPr id="5" name="內容版面配置區 5">
                <a:extLst>
                  <a:ext uri="{FF2B5EF4-FFF2-40B4-BE49-F238E27FC236}">
                    <a16:creationId xmlns:a16="http://schemas.microsoft.com/office/drawing/2014/main" id="{3CA8D1D5-6B20-4285-BB0C-86AEE094246D}"/>
                  </a:ext>
                </a:extLst>
              </p:cNvPr>
              <p:cNvSpPr>
                <a:spLocks noGrp="1"/>
              </p:cNvSpPr>
              <p:nvPr>
                <p:ph idx="1"/>
              </p:nvPr>
            </p:nvSpPr>
            <p:spPr>
              <a:xfrm>
                <a:off x="628088" y="1376303"/>
                <a:ext cx="7887821" cy="2253866"/>
              </a:xfrm>
            </p:spPr>
            <p:txBody>
              <a:bodyPr>
                <a:noAutofit/>
              </a:bodyPr>
              <a:lstStyle/>
              <a:p>
                <a:r>
                  <a:rPr lang="en-US" altLang="zh-TW" sz="2400" dirty="0">
                    <a:latin typeface="Times New Roman" panose="02020603050405020304" pitchFamily="18" charset="0"/>
                    <a:cs typeface="Times New Roman" panose="02020603050405020304" pitchFamily="18" charset="0"/>
                  </a:rPr>
                  <a:t>Parameters : </a:t>
                </a:r>
                <a14:m>
                  <m:oMath xmlns:m="http://schemas.openxmlformats.org/officeDocument/2006/math">
                    <m:sSub>
                      <m:sSubPr>
                        <m:ctrlPr>
                          <a:rPr lang="en-US" altLang="zh-TW" sz="2400" dirty="0" smtClean="0">
                            <a:latin typeface="Cambria Math" panose="02040503050406030204" pitchFamily="18" charset="0"/>
                          </a:rPr>
                        </m:ctrlPr>
                      </m:sSubPr>
                      <m:e>
                        <m:r>
                          <a:rPr lang="en-US" altLang="zh-TW" sz="2400" i="1" dirty="0">
                            <a:latin typeface="Cambria Math" panose="02040503050406030204" pitchFamily="18" charset="0"/>
                          </a:rPr>
                          <m:t>𝛽</m:t>
                        </m:r>
                      </m:e>
                      <m:sub>
                        <m:r>
                          <a:rPr lang="en-US" altLang="zh-TW" sz="2400" i="0" dirty="0">
                            <a:latin typeface="Cambria Math" panose="02040503050406030204" pitchFamily="18" charset="0"/>
                          </a:rPr>
                          <m:t>0</m:t>
                        </m:r>
                      </m:sub>
                    </m:sSub>
                  </m:oMath>
                </a14:m>
                <a:r>
                  <a:rPr lang="zh-TW" altLang="en-US" sz="2400" dirty="0">
                    <a:latin typeface="Times New Roman" panose="02020603050405020304" pitchFamily="18" charset="0"/>
                    <a:cs typeface="Times New Roman" panose="02020603050405020304" pitchFamily="18" charset="0"/>
                  </a:rPr>
                  <a:t>、</a:t>
                </a:r>
                <a14:m>
                  <m:oMath xmlns:m="http://schemas.openxmlformats.org/officeDocument/2006/math">
                    <m:r>
                      <a:rPr lang="en-US" altLang="zh-TW" sz="2400" i="1" dirty="0" smtClean="0">
                        <a:latin typeface="Cambria Math" panose="02040503050406030204" pitchFamily="18" charset="0"/>
                      </a:rPr>
                      <m:t>𝛼</m:t>
                    </m:r>
                    <m:r>
                      <a:rPr lang="zh-TW" altLang="en-US" sz="2400" i="1" dirty="0">
                        <a:latin typeface="Cambria Math" panose="02040503050406030204" pitchFamily="18" charset="0"/>
                      </a:rPr>
                      <m:t>、</m:t>
                    </m:r>
                    <m:r>
                      <a:rPr lang="en-US" altLang="zh-TW" sz="2400" i="1" dirty="0" smtClean="0">
                        <a:latin typeface="Cambria Math" panose="02040503050406030204" pitchFamily="18" charset="0"/>
                      </a:rPr>
                      <m:t>𝜆</m:t>
                    </m:r>
                  </m:oMath>
                </a14:m>
                <a:r>
                  <a:rPr lang="zh-TW" altLang="en-US" sz="2400" dirty="0">
                    <a:latin typeface="Times New Roman" panose="02020603050405020304" pitchFamily="18" charset="0"/>
                    <a:cs typeface="Times New Roman" panose="02020603050405020304" pitchFamily="18" charset="0"/>
                  </a:rPr>
                  <a:t>、</a:t>
                </a:r>
                <a14:m>
                  <m:oMath xmlns:m="http://schemas.openxmlformats.org/officeDocument/2006/math">
                    <m:r>
                      <a:rPr lang="en-US" altLang="zh-TW" sz="2400" i="1" dirty="0" smtClean="0">
                        <a:latin typeface="Cambria Math" panose="02040503050406030204" pitchFamily="18" charset="0"/>
                      </a:rPr>
                      <m:t>𝛾</m:t>
                    </m:r>
                  </m:oMath>
                </a14:m>
                <a:endParaRPr lang="en-US" altLang="zh-TW" sz="2400" dirty="0">
                  <a:latin typeface="Times New Roman" panose="02020603050405020304" pitchFamily="18" charset="0"/>
                  <a:cs typeface="Times New Roman" panose="02020603050405020304" pitchFamily="18" charset="0"/>
                </a:endParaRP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Move :</a:t>
                </a: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p:txBody>
          </p:sp>
        </mc:Choice>
        <mc:Fallback>
          <p:sp>
            <p:nvSpPr>
              <p:cNvPr id="5" name="內容版面配置區 5">
                <a:extLst>
                  <a:ext uri="{FF2B5EF4-FFF2-40B4-BE49-F238E27FC236}">
                    <a16:creationId xmlns:a16="http://schemas.microsoft.com/office/drawing/2014/main" id="{3CA8D1D5-6B20-4285-BB0C-86AEE094246D}"/>
                  </a:ext>
                </a:extLst>
              </p:cNvPr>
              <p:cNvSpPr>
                <a:spLocks noGrp="1" noRot="1" noChangeAspect="1" noMove="1" noResize="1" noEditPoints="1" noAdjustHandles="1" noChangeArrowheads="1" noChangeShapeType="1" noTextEdit="1"/>
              </p:cNvSpPr>
              <p:nvPr>
                <p:ph idx="1"/>
              </p:nvPr>
            </p:nvSpPr>
            <p:spPr>
              <a:xfrm>
                <a:off x="628088" y="1376303"/>
                <a:ext cx="7887821" cy="2253866"/>
              </a:xfrm>
              <a:blipFill>
                <a:blip r:embed="rId4"/>
                <a:stretch>
                  <a:fillRect l="-1005" t="-3784"/>
                </a:stretch>
              </a:blipFill>
            </p:spPr>
            <p:txBody>
              <a:bodyPr/>
              <a:lstStyle/>
              <a:p>
                <a:r>
                  <a:rPr lang="zh-TW" altLang="en-US">
                    <a:noFill/>
                  </a:rPr>
                  <a:t> </a:t>
                </a:r>
              </a:p>
            </p:txBody>
          </p:sp>
        </mc:Fallback>
      </mc:AlternateContent>
      <p:pic>
        <p:nvPicPr>
          <p:cNvPr id="3" name="圖片 2">
            <a:extLst>
              <a:ext uri="{FF2B5EF4-FFF2-40B4-BE49-F238E27FC236}">
                <a16:creationId xmlns:a16="http://schemas.microsoft.com/office/drawing/2014/main" id="{078C87AB-2CD1-4DEE-B5D4-25915862CB6D}"/>
              </a:ext>
            </a:extLst>
          </p:cNvPr>
          <p:cNvPicPr>
            <a:picLocks noChangeAspect="1"/>
          </p:cNvPicPr>
          <p:nvPr/>
        </p:nvPicPr>
        <p:blipFill>
          <a:blip r:embed="rId5"/>
          <a:stretch>
            <a:fillRect/>
          </a:stretch>
        </p:blipFill>
        <p:spPr>
          <a:xfrm>
            <a:off x="1176322" y="3026590"/>
            <a:ext cx="6791351" cy="804819"/>
          </a:xfrm>
          <a:prstGeom prst="rect">
            <a:avLst/>
          </a:prstGeom>
        </p:spPr>
      </p:pic>
      <p:pic>
        <p:nvPicPr>
          <p:cNvPr id="4" name="圖片 3">
            <a:extLst>
              <a:ext uri="{FF2B5EF4-FFF2-40B4-BE49-F238E27FC236}">
                <a16:creationId xmlns:a16="http://schemas.microsoft.com/office/drawing/2014/main" id="{E5DF8B55-2B5A-442F-90EB-C7D24937877B}"/>
              </a:ext>
            </a:extLst>
          </p:cNvPr>
          <p:cNvPicPr>
            <a:picLocks noChangeAspect="1"/>
          </p:cNvPicPr>
          <p:nvPr/>
        </p:nvPicPr>
        <p:blipFill>
          <a:blip r:embed="rId6"/>
          <a:stretch>
            <a:fillRect/>
          </a:stretch>
        </p:blipFill>
        <p:spPr>
          <a:xfrm>
            <a:off x="1176322" y="4317720"/>
            <a:ext cx="4057143" cy="971429"/>
          </a:xfrm>
          <a:prstGeom prst="rect">
            <a:avLst/>
          </a:prstGeom>
        </p:spPr>
      </p:pic>
    </p:spTree>
    <p:extLst>
      <p:ext uri="{BB962C8B-B14F-4D97-AF65-F5344CB8AC3E}">
        <p14:creationId xmlns:p14="http://schemas.microsoft.com/office/powerpoint/2010/main" val="97164383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734957" y="350951"/>
            <a:ext cx="8491867" cy="583367"/>
          </a:xfrm>
        </p:spPr>
        <p:txBody>
          <a:bodyPr>
            <a:noAutofit/>
          </a:bodyPr>
          <a:lstStyle/>
          <a:p>
            <a:r>
              <a:rPr lang="en-US" altLang="zh-TW" sz="3200" b="1" dirty="0" err="1">
                <a:latin typeface="Times New Roman" panose="02020603050405020304" pitchFamily="18" charset="0"/>
                <a:cs typeface="Times New Roman" panose="02020603050405020304" pitchFamily="18" charset="0"/>
              </a:rPr>
              <a:t>L´evy</a:t>
            </a:r>
            <a:r>
              <a:rPr lang="en-US" altLang="zh-TW" sz="3200" b="1" dirty="0">
                <a:latin typeface="Times New Roman" panose="02020603050405020304" pitchFamily="18" charset="0"/>
                <a:cs typeface="Times New Roman" panose="02020603050405020304" pitchFamily="18" charset="0"/>
              </a:rPr>
              <a:t>-Flight(1/4)</a:t>
            </a:r>
            <a:endParaRPr lang="zh-TW" altLang="en-US" sz="3200" b="1" dirty="0">
              <a:latin typeface="Times New Roman" panose="02020603050405020304" pitchFamily="18" charset="0"/>
              <a:cs typeface="Times New Roman" panose="02020603050405020304" pitchFamily="18" charset="0"/>
            </a:endParaRPr>
          </a:p>
        </p:txBody>
      </p:sp>
      <p:sp>
        <p:nvSpPr>
          <p:cNvPr id="5" name="內容版面配置區 5">
            <a:extLst>
              <a:ext uri="{FF2B5EF4-FFF2-40B4-BE49-F238E27FC236}">
                <a16:creationId xmlns:a16="http://schemas.microsoft.com/office/drawing/2014/main" id="{3CA8D1D5-6B20-4285-BB0C-86AEE094246D}"/>
              </a:ext>
            </a:extLst>
          </p:cNvPr>
          <p:cNvSpPr>
            <a:spLocks noGrp="1"/>
          </p:cNvSpPr>
          <p:nvPr>
            <p:ph idx="1"/>
          </p:nvPr>
        </p:nvSpPr>
        <p:spPr>
          <a:xfrm>
            <a:off x="628089" y="1376302"/>
            <a:ext cx="7887821" cy="4354433"/>
          </a:xfrm>
        </p:spPr>
        <p:txBody>
          <a:bodyPr>
            <a:noAutofit/>
          </a:bodyPr>
          <a:lstStyle/>
          <a:p>
            <a:r>
              <a:rPr lang="en-US" altLang="zh-TW" sz="2400" dirty="0">
                <a:latin typeface="Times New Roman" panose="02020603050405020304" pitchFamily="18" charset="0"/>
                <a:cs typeface="Times New Roman" panose="02020603050405020304" pitchFamily="18" charset="0"/>
              </a:rPr>
              <a:t>Levy flights process a step length which be calculated by using Mantegna’s algorithm :</a:t>
            </a:r>
          </a:p>
          <a:p>
            <a:endParaRPr lang="en-US" altLang="zh-TW" sz="2400" dirty="0">
              <a:latin typeface="Times New Roman" panose="02020603050405020304" pitchFamily="18" charset="0"/>
              <a:cs typeface="Times New Roman" panose="02020603050405020304" pitchFamily="18" charset="0"/>
            </a:endParaRPr>
          </a:p>
          <a:p>
            <a:pPr marL="0" indent="0">
              <a:buNone/>
            </a:pPr>
            <a:r>
              <a:rPr lang="en-US" altLang="zh-TW" sz="2400" dirty="0">
                <a:latin typeface="Times New Roman" panose="02020603050405020304" pitchFamily="18" charset="0"/>
                <a:cs typeface="Times New Roman" panose="02020603050405020304" pitchFamily="18" charset="0"/>
              </a:rPr>
              <a:t>                </a:t>
            </a: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r>
              <a:rPr lang="zh-TW" altLang="en-US" sz="2400" dirty="0">
                <a:latin typeface="Times New Roman" panose="02020603050405020304" pitchFamily="18" charset="0"/>
                <a:cs typeface="Times New Roman" panose="02020603050405020304" pitchFamily="18" charset="0"/>
              </a:rPr>
              <a:t>𝑤 </a:t>
            </a:r>
            <a:r>
              <a:rPr lang="en-US" altLang="zh-TW" sz="2400" dirty="0">
                <a:latin typeface="Times New Roman" panose="02020603050405020304" pitchFamily="18" charset="0"/>
                <a:cs typeface="Times New Roman" panose="02020603050405020304" pitchFamily="18" charset="0"/>
              </a:rPr>
              <a:t>and </a:t>
            </a:r>
            <a:r>
              <a:rPr lang="zh-TW" altLang="en-US" sz="2400" dirty="0">
                <a:latin typeface="Times New Roman" panose="02020603050405020304" pitchFamily="18" charset="0"/>
                <a:cs typeface="Times New Roman" panose="02020603050405020304" pitchFamily="18" charset="0"/>
              </a:rPr>
              <a:t>𝑢 </a:t>
            </a:r>
            <a:r>
              <a:rPr lang="en-US" altLang="zh-TW" sz="2400" dirty="0">
                <a:latin typeface="Times New Roman" panose="02020603050405020304" pitchFamily="18" charset="0"/>
                <a:cs typeface="Times New Roman" panose="02020603050405020304" pitchFamily="18" charset="0"/>
              </a:rPr>
              <a:t>are described from normal distribution :</a:t>
            </a:r>
          </a:p>
        </p:txBody>
      </p:sp>
      <mc:AlternateContent xmlns:mc="http://schemas.openxmlformats.org/markup-compatibility/2006">
        <mc:Choice xmlns:a14="http://schemas.microsoft.com/office/drawing/2010/main" Requires="a14">
          <p:sp>
            <p:nvSpPr>
              <p:cNvPr id="6" name="文字方塊 8">
                <a:extLst>
                  <a:ext uri="{FF2B5EF4-FFF2-40B4-BE49-F238E27FC236}">
                    <a16:creationId xmlns:a16="http://schemas.microsoft.com/office/drawing/2014/main" id="{84B5F2C0-AB1A-4217-9684-B0563FBCA794}"/>
                  </a:ext>
                </a:extLst>
              </p:cNvPr>
              <p:cNvSpPr txBox="1"/>
              <p:nvPr/>
            </p:nvSpPr>
            <p:spPr>
              <a:xfrm>
                <a:off x="3912256" y="2300967"/>
                <a:ext cx="943207" cy="691471"/>
              </a:xfrm>
              <a:prstGeom prst="rect">
                <a:avLst/>
              </a:prstGeom>
              <a:noFill/>
            </p:spPr>
            <p:txBody>
              <a:bodyPr wrap="none" lIns="0" tIns="0" rIns="0" bIns="0"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𝑆</m:t>
                      </m:r>
                      <m:r>
                        <a:rPr lang="en-US" altLang="zh-TW" b="0" i="1" smtClean="0">
                          <a:latin typeface="Cambria Math" panose="02040503050406030204" pitchFamily="18" charset="0"/>
                        </a:rPr>
                        <m:t>=</m:t>
                      </m:r>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𝑤</m:t>
                          </m:r>
                        </m:num>
                        <m:den>
                          <m:sSup>
                            <m:sSupPr>
                              <m:ctrlPr>
                                <a:rPr lang="en-US" altLang="zh-TW" b="0" i="1" smtClean="0">
                                  <a:latin typeface="Cambria Math" panose="02040503050406030204" pitchFamily="18" charset="0"/>
                                </a:rPr>
                              </m:ctrlPr>
                            </m:sSupPr>
                            <m:e>
                              <m:r>
                                <a:rPr lang="en-US" altLang="zh-TW" i="1">
                                  <a:latin typeface="Cambria Math" panose="02040503050406030204" pitchFamily="18" charset="0"/>
                                </a:rPr>
                                <m:t>|</m:t>
                              </m:r>
                              <m:r>
                                <a:rPr lang="en-US" altLang="zh-TW" i="1">
                                  <a:latin typeface="Cambria Math" panose="02040503050406030204" pitchFamily="18" charset="0"/>
                                </a:rPr>
                                <m:t>𝑢</m:t>
                              </m:r>
                              <m:r>
                                <a:rPr lang="en-US" altLang="zh-TW" i="1">
                                  <a:latin typeface="Cambria Math" panose="02040503050406030204" pitchFamily="18" charset="0"/>
                                </a:rPr>
                                <m:t>|</m:t>
                              </m:r>
                            </m:e>
                            <m:sup>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1</m:t>
                                  </m:r>
                                </m:num>
                                <m:den>
                                  <m:r>
                                    <a:rPr lang="zh-TW" altLang="en-US" b="0" i="1" smtClean="0">
                                      <a:latin typeface="Cambria Math" panose="02040503050406030204" pitchFamily="18" charset="0"/>
                                    </a:rPr>
                                    <m:t>𝛽</m:t>
                                  </m:r>
                                </m:den>
                              </m:f>
                            </m:sup>
                          </m:sSup>
                        </m:den>
                      </m:f>
                    </m:oMath>
                  </m:oMathPara>
                </a14:m>
                <a:endParaRPr lang="zh-TW" altLang="en-US" dirty="0"/>
              </a:p>
            </p:txBody>
          </p:sp>
        </mc:Choice>
        <mc:Fallback>
          <p:sp>
            <p:nvSpPr>
              <p:cNvPr id="6" name="文字方塊 8">
                <a:extLst>
                  <a:ext uri="{FF2B5EF4-FFF2-40B4-BE49-F238E27FC236}">
                    <a16:creationId xmlns:a16="http://schemas.microsoft.com/office/drawing/2014/main" id="{84B5F2C0-AB1A-4217-9684-B0563FBCA794}"/>
                  </a:ext>
                </a:extLst>
              </p:cNvPr>
              <p:cNvSpPr txBox="1">
                <a:spLocks noRot="1" noChangeAspect="1" noMove="1" noResize="1" noEditPoints="1" noAdjustHandles="1" noChangeArrowheads="1" noChangeShapeType="1" noTextEdit="1"/>
              </p:cNvSpPr>
              <p:nvPr/>
            </p:nvSpPr>
            <p:spPr>
              <a:xfrm>
                <a:off x="3912256" y="2300967"/>
                <a:ext cx="943207" cy="691471"/>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0" name="文字方塊 13">
                <a:extLst>
                  <a:ext uri="{FF2B5EF4-FFF2-40B4-BE49-F238E27FC236}">
                    <a16:creationId xmlns:a16="http://schemas.microsoft.com/office/drawing/2014/main" id="{6F1C17AE-080D-4F00-BEE7-2070FE1F8931}"/>
                  </a:ext>
                </a:extLst>
              </p:cNvPr>
              <p:cNvSpPr txBox="1"/>
              <p:nvPr/>
            </p:nvSpPr>
            <p:spPr>
              <a:xfrm>
                <a:off x="757965" y="4890438"/>
                <a:ext cx="1257587" cy="276999"/>
              </a:xfrm>
              <a:prstGeom prst="rect">
                <a:avLst/>
              </a:prstGeom>
              <a:noFill/>
            </p:spPr>
            <p:txBody>
              <a:bodyPr wrap="none" lIns="0" tIns="0" rIns="0" bIns="0"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𝑤</m:t>
                      </m:r>
                      <m:r>
                        <a:rPr lang="en-US" altLang="zh-TW" b="0" i="1" smtClean="0">
                          <a:latin typeface="Cambria Math" panose="02040503050406030204" pitchFamily="18" charset="0"/>
                        </a:rPr>
                        <m:t>~</m:t>
                      </m:r>
                      <m:r>
                        <a:rPr lang="en-US" altLang="zh-TW" b="0" i="1" smtClean="0">
                          <a:latin typeface="Cambria Math" panose="02040503050406030204" pitchFamily="18" charset="0"/>
                        </a:rPr>
                        <m:t>𝑁</m:t>
                      </m:r>
                      <m:r>
                        <a:rPr lang="en-US" altLang="zh-TW" b="0" i="1" smtClean="0">
                          <a:latin typeface="Cambria Math" panose="02040503050406030204" pitchFamily="18" charset="0"/>
                        </a:rPr>
                        <m:t>(0,</m:t>
                      </m:r>
                      <m:sSubSup>
                        <m:sSubSupPr>
                          <m:ctrlPr>
                            <a:rPr lang="en-US" altLang="zh-TW" b="0" i="1" smtClean="0">
                              <a:latin typeface="Cambria Math" panose="02040503050406030204" pitchFamily="18" charset="0"/>
                            </a:rPr>
                          </m:ctrlPr>
                        </m:sSubSupPr>
                        <m:e>
                          <m:r>
                            <a:rPr lang="zh-TW" altLang="en-US" b="0" i="1" smtClean="0">
                              <a:latin typeface="Cambria Math" panose="02040503050406030204" pitchFamily="18" charset="0"/>
                            </a:rPr>
                            <m:t>𝜎</m:t>
                          </m:r>
                        </m:e>
                        <m:sub>
                          <m:r>
                            <a:rPr lang="en-US" altLang="zh-TW" b="0" i="1" smtClean="0">
                              <a:latin typeface="Cambria Math" panose="02040503050406030204" pitchFamily="18" charset="0"/>
                            </a:rPr>
                            <m:t>𝑤</m:t>
                          </m:r>
                        </m:sub>
                        <m:sup>
                          <m:r>
                            <a:rPr lang="en-US" altLang="zh-TW" b="0" i="1" smtClean="0">
                              <a:latin typeface="Cambria Math" panose="02040503050406030204" pitchFamily="18" charset="0"/>
                            </a:rPr>
                            <m:t>2</m:t>
                          </m:r>
                        </m:sup>
                      </m:sSubSup>
                      <m:r>
                        <a:rPr lang="en-US" altLang="zh-TW" b="0" i="1" smtClean="0">
                          <a:latin typeface="Cambria Math" panose="02040503050406030204" pitchFamily="18" charset="0"/>
                        </a:rPr>
                        <m:t>)</m:t>
                      </m:r>
                    </m:oMath>
                  </m:oMathPara>
                </a14:m>
                <a:endParaRPr lang="zh-TW" altLang="en-US" dirty="0"/>
              </a:p>
            </p:txBody>
          </p:sp>
        </mc:Choice>
        <mc:Fallback>
          <p:sp>
            <p:nvSpPr>
              <p:cNvPr id="10" name="文字方塊 13">
                <a:extLst>
                  <a:ext uri="{FF2B5EF4-FFF2-40B4-BE49-F238E27FC236}">
                    <a16:creationId xmlns:a16="http://schemas.microsoft.com/office/drawing/2014/main" id="{6F1C17AE-080D-4F00-BEE7-2070FE1F8931}"/>
                  </a:ext>
                </a:extLst>
              </p:cNvPr>
              <p:cNvSpPr txBox="1">
                <a:spLocks noRot="1" noChangeAspect="1" noMove="1" noResize="1" noEditPoints="1" noAdjustHandles="1" noChangeArrowheads="1" noChangeShapeType="1" noTextEdit="1"/>
              </p:cNvSpPr>
              <p:nvPr/>
            </p:nvSpPr>
            <p:spPr>
              <a:xfrm>
                <a:off x="757965" y="4890438"/>
                <a:ext cx="1257587" cy="276999"/>
              </a:xfrm>
              <a:prstGeom prst="rect">
                <a:avLst/>
              </a:prstGeom>
              <a:blipFill>
                <a:blip r:embed="rId4"/>
                <a:stretch>
                  <a:fillRect l="-1932" t="-4348" r="-5797" b="-32609"/>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1" name="文字方塊 28">
                <a:extLst>
                  <a:ext uri="{FF2B5EF4-FFF2-40B4-BE49-F238E27FC236}">
                    <a16:creationId xmlns:a16="http://schemas.microsoft.com/office/drawing/2014/main" id="{E02CCA71-145A-4D30-942D-1A2CFDB55331}"/>
                  </a:ext>
                </a:extLst>
              </p:cNvPr>
              <p:cNvSpPr txBox="1"/>
              <p:nvPr/>
            </p:nvSpPr>
            <p:spPr>
              <a:xfrm>
                <a:off x="2294549" y="4883437"/>
                <a:ext cx="1192762" cy="276999"/>
              </a:xfrm>
              <a:prstGeom prst="rect">
                <a:avLst/>
              </a:prstGeom>
              <a:noFill/>
            </p:spPr>
            <p:txBody>
              <a:bodyPr wrap="none" lIns="0" tIns="0" rIns="0" bIns="0"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𝑢</m:t>
                      </m:r>
                      <m:r>
                        <a:rPr lang="en-US" altLang="zh-TW" b="0" i="1" smtClean="0">
                          <a:latin typeface="Cambria Math" panose="02040503050406030204" pitchFamily="18" charset="0"/>
                        </a:rPr>
                        <m:t>~</m:t>
                      </m:r>
                      <m:r>
                        <a:rPr lang="en-US" altLang="zh-TW" b="0" i="1" smtClean="0">
                          <a:latin typeface="Cambria Math" panose="02040503050406030204" pitchFamily="18" charset="0"/>
                        </a:rPr>
                        <m:t>𝑁</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0,</m:t>
                          </m:r>
                          <m:sSubSup>
                            <m:sSubSupPr>
                              <m:ctrlPr>
                                <a:rPr lang="en-US" altLang="zh-TW" b="0" i="1" smtClean="0">
                                  <a:latin typeface="Cambria Math" panose="02040503050406030204" pitchFamily="18" charset="0"/>
                                </a:rPr>
                              </m:ctrlPr>
                            </m:sSubSupPr>
                            <m:e>
                              <m:r>
                                <a:rPr lang="zh-TW" altLang="en-US" b="0" i="1" smtClean="0">
                                  <a:latin typeface="Cambria Math" panose="02040503050406030204" pitchFamily="18" charset="0"/>
                                </a:rPr>
                                <m:t>𝜎</m:t>
                              </m:r>
                            </m:e>
                            <m:sub>
                              <m:r>
                                <a:rPr lang="en-US" altLang="zh-TW" b="0" i="1" smtClean="0">
                                  <a:latin typeface="Cambria Math" panose="02040503050406030204" pitchFamily="18" charset="0"/>
                                </a:rPr>
                                <m:t>𝑢</m:t>
                              </m:r>
                            </m:sub>
                            <m:sup>
                              <m:r>
                                <a:rPr lang="en-US" altLang="zh-TW" b="0" i="1" smtClean="0">
                                  <a:latin typeface="Cambria Math" panose="02040503050406030204" pitchFamily="18" charset="0"/>
                                </a:rPr>
                                <m:t>2</m:t>
                              </m:r>
                            </m:sup>
                          </m:sSubSup>
                        </m:e>
                      </m:d>
                    </m:oMath>
                  </m:oMathPara>
                </a14:m>
                <a:endParaRPr lang="zh-TW" altLang="en-US" dirty="0"/>
              </a:p>
            </p:txBody>
          </p:sp>
        </mc:Choice>
        <mc:Fallback>
          <p:sp>
            <p:nvSpPr>
              <p:cNvPr id="11" name="文字方塊 28">
                <a:extLst>
                  <a:ext uri="{FF2B5EF4-FFF2-40B4-BE49-F238E27FC236}">
                    <a16:creationId xmlns:a16="http://schemas.microsoft.com/office/drawing/2014/main" id="{E02CCA71-145A-4D30-942D-1A2CFDB55331}"/>
                  </a:ext>
                </a:extLst>
              </p:cNvPr>
              <p:cNvSpPr txBox="1">
                <a:spLocks noRot="1" noChangeAspect="1" noMove="1" noResize="1" noEditPoints="1" noAdjustHandles="1" noChangeArrowheads="1" noChangeShapeType="1" noTextEdit="1"/>
              </p:cNvSpPr>
              <p:nvPr/>
            </p:nvSpPr>
            <p:spPr>
              <a:xfrm>
                <a:off x="2294549" y="4883437"/>
                <a:ext cx="1192762" cy="276999"/>
              </a:xfrm>
              <a:prstGeom prst="rect">
                <a:avLst/>
              </a:prstGeom>
              <a:blipFill>
                <a:blip r:embed="rId5"/>
                <a:stretch>
                  <a:fillRect l="-2551" t="-4348" b="-10870"/>
                </a:stretch>
              </a:blipFill>
            </p:spPr>
            <p:txBody>
              <a:bodyPr/>
              <a:lstStyle/>
              <a:p>
                <a:r>
                  <a:rPr lang="zh-TW" altLang="en-US">
                    <a:noFill/>
                  </a:rPr>
                  <a:t> </a:t>
                </a:r>
              </a:p>
            </p:txBody>
          </p:sp>
        </mc:Fallback>
      </mc:AlternateContent>
      <p:sp>
        <p:nvSpPr>
          <p:cNvPr id="13" name="矩形 12">
            <a:extLst>
              <a:ext uri="{FF2B5EF4-FFF2-40B4-BE49-F238E27FC236}">
                <a16:creationId xmlns:a16="http://schemas.microsoft.com/office/drawing/2014/main" id="{A09CA9B7-FF09-4740-87D7-E4B52DB789D2}"/>
              </a:ext>
            </a:extLst>
          </p:cNvPr>
          <p:cNvSpPr/>
          <p:nvPr/>
        </p:nvSpPr>
        <p:spPr>
          <a:xfrm>
            <a:off x="1995366" y="4909040"/>
            <a:ext cx="214298" cy="369332"/>
          </a:xfrm>
          <a:prstGeom prst="rect">
            <a:avLst/>
          </a:prstGeom>
        </p:spPr>
        <p:txBody>
          <a:bodyPr wrap="square">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TW"/>
              <a:t>,</a:t>
            </a:r>
            <a:endParaRPr lang="zh-TW" altLang="en-US"/>
          </a:p>
        </p:txBody>
      </p:sp>
      <p:grpSp>
        <p:nvGrpSpPr>
          <p:cNvPr id="15" name="群組 14">
            <a:extLst>
              <a:ext uri="{FF2B5EF4-FFF2-40B4-BE49-F238E27FC236}">
                <a16:creationId xmlns:a16="http://schemas.microsoft.com/office/drawing/2014/main" id="{EAC625F6-8847-4052-93D9-A060E508721B}"/>
              </a:ext>
            </a:extLst>
          </p:cNvPr>
          <p:cNvGrpSpPr/>
          <p:nvPr/>
        </p:nvGrpSpPr>
        <p:grpSpPr>
          <a:xfrm>
            <a:off x="3746248" y="4353754"/>
            <a:ext cx="4769662" cy="1270541"/>
            <a:chOff x="1780104" y="4526407"/>
            <a:chExt cx="4769662" cy="1270541"/>
          </a:xfrm>
        </p:grpSpPr>
        <mc:AlternateContent xmlns:mc="http://schemas.openxmlformats.org/markup-compatibility/2006">
          <mc:Choice xmlns:a14="http://schemas.microsoft.com/office/drawing/2010/main" Requires="a14">
            <p:sp>
              <p:nvSpPr>
                <p:cNvPr id="16" name="矩形 15">
                  <a:extLst>
                    <a:ext uri="{FF2B5EF4-FFF2-40B4-BE49-F238E27FC236}">
                      <a16:creationId xmlns:a16="http://schemas.microsoft.com/office/drawing/2014/main" id="{1CECB3D0-888B-495A-9A56-915632CA582C}"/>
                    </a:ext>
                  </a:extLst>
                </p:cNvPr>
                <p:cNvSpPr/>
                <p:nvPr/>
              </p:nvSpPr>
              <p:spPr>
                <a:xfrm>
                  <a:off x="2383867" y="4526407"/>
                  <a:ext cx="3028008" cy="1270541"/>
                </a:xfrm>
                <a:prstGeom prst="rect">
                  <a:avLst/>
                </a:prstGeom>
              </p:spPr>
              <p:txBody>
                <a:bodyPr wrap="none">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Sup>
                          <m:sSubSupPr>
                            <m:ctrlPr>
                              <a:rPr lang="en-US" altLang="zh-TW" i="1" smtClean="0">
                                <a:latin typeface="Cambria Math" panose="02040503050406030204" pitchFamily="18" charset="0"/>
                              </a:rPr>
                            </m:ctrlPr>
                          </m:sSubSupPr>
                          <m:e>
                            <m:r>
                              <a:rPr lang="zh-TW" altLang="en-US" i="1">
                                <a:latin typeface="Cambria Math" panose="02040503050406030204" pitchFamily="18" charset="0"/>
                              </a:rPr>
                              <m:t>𝜎</m:t>
                            </m:r>
                          </m:e>
                          <m:sub>
                            <m:r>
                              <a:rPr lang="en-US" altLang="zh-TW" i="1">
                                <a:latin typeface="Cambria Math" panose="02040503050406030204" pitchFamily="18" charset="0"/>
                              </a:rPr>
                              <m:t>𝑤</m:t>
                            </m:r>
                          </m:sub>
                          <m:sup/>
                        </m:sSubSup>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d>
                              <m:dPr>
                                <m:begChr m:val="{"/>
                                <m:endChr m:val="}"/>
                                <m:ctrlPr>
                                  <a:rPr lang="en-US" altLang="zh-TW" i="1">
                                    <a:latin typeface="Cambria Math" panose="02040503050406030204" pitchFamily="18" charset="0"/>
                                  </a:rPr>
                                </m:ctrlPr>
                              </m:dPr>
                              <m:e>
                                <m:r>
                                  <a:rPr lang="en-US" altLang="zh-TW" i="1">
                                    <a:latin typeface="Cambria Math" panose="02040503050406030204" pitchFamily="18" charset="0"/>
                                  </a:rPr>
                                  <m:t> </m:t>
                                </m:r>
                                <m:f>
                                  <m:fPr>
                                    <m:ctrlPr>
                                      <a:rPr lang="en-US" altLang="zh-TW" i="1">
                                        <a:latin typeface="Cambria Math" panose="02040503050406030204" pitchFamily="18" charset="0"/>
                                      </a:rPr>
                                    </m:ctrlPr>
                                  </m:fPr>
                                  <m:num>
                                    <m:r>
                                      <a:rPr lang="zh-TW" altLang="en-US" i="1">
                                        <a:latin typeface="Cambria Math" panose="02040503050406030204" pitchFamily="18" charset="0"/>
                                      </a:rPr>
                                      <m:t>𝜏</m:t>
                                    </m:r>
                                    <m:r>
                                      <a:rPr lang="en-US" altLang="zh-TW" i="1">
                                        <a:latin typeface="Cambria Math" panose="02040503050406030204" pitchFamily="18" charset="0"/>
                                      </a:rPr>
                                      <m:t>(1+</m:t>
                                    </m:r>
                                    <m:r>
                                      <a:rPr lang="zh-TW" altLang="en-US" i="1">
                                        <a:latin typeface="Cambria Math" panose="02040503050406030204" pitchFamily="18" charset="0"/>
                                      </a:rPr>
                                      <m:t>𝛽</m:t>
                                    </m:r>
                                    <m:r>
                                      <a:rPr lang="en-US" altLang="zh-TW" i="1">
                                        <a:latin typeface="Cambria Math" panose="02040503050406030204" pitchFamily="18" charset="0"/>
                                      </a:rPr>
                                      <m:t>)</m:t>
                                    </m:r>
                                    <m:func>
                                      <m:funcPr>
                                        <m:ctrlPr>
                                          <a:rPr lang="en-US" altLang="zh-TW" i="1">
                                            <a:latin typeface="Cambria Math" panose="02040503050406030204" pitchFamily="18" charset="0"/>
                                          </a:rPr>
                                        </m:ctrlPr>
                                      </m:funcPr>
                                      <m:fName>
                                        <m:r>
                                          <m:rPr>
                                            <m:sty m:val="p"/>
                                          </m:rPr>
                                          <a:rPr lang="en-US" altLang="zh-TW">
                                            <a:latin typeface="Cambria Math" panose="02040503050406030204" pitchFamily="18" charset="0"/>
                                          </a:rPr>
                                          <m:t>sin</m:t>
                                        </m:r>
                                      </m:fName>
                                      <m:e>
                                        <m:f>
                                          <m:fPr>
                                            <m:ctrlPr>
                                              <a:rPr lang="en-US" altLang="zh-TW" i="1">
                                                <a:latin typeface="Cambria Math" panose="02040503050406030204" pitchFamily="18" charset="0"/>
                                              </a:rPr>
                                            </m:ctrlPr>
                                          </m:fPr>
                                          <m:num>
                                            <m:r>
                                              <a:rPr lang="zh-TW" altLang="en-US" i="1">
                                                <a:latin typeface="Cambria Math" panose="02040503050406030204" pitchFamily="18" charset="0"/>
                                              </a:rPr>
                                              <m:t>𝜋𝛽</m:t>
                                            </m:r>
                                          </m:num>
                                          <m:den>
                                            <m:r>
                                              <a:rPr lang="en-US" altLang="zh-TW" i="1">
                                                <a:latin typeface="Cambria Math" panose="02040503050406030204" pitchFamily="18" charset="0"/>
                                              </a:rPr>
                                              <m:t>2</m:t>
                                            </m:r>
                                          </m:den>
                                        </m:f>
                                      </m:e>
                                    </m:func>
                                  </m:num>
                                  <m:den>
                                    <m:r>
                                      <a:rPr lang="zh-TW" altLang="en-US" i="1">
                                        <a:latin typeface="Cambria Math" panose="02040503050406030204" pitchFamily="18" charset="0"/>
                                      </a:rPr>
                                      <m:t>𝜏</m:t>
                                    </m:r>
                                    <m:r>
                                      <a:rPr lang="en-US" altLang="zh-TW" i="1">
                                        <a:latin typeface="Cambria Math" panose="02040503050406030204" pitchFamily="18" charset="0"/>
                                      </a:rPr>
                                      <m:t>[</m:t>
                                    </m:r>
                                    <m:f>
                                      <m:fPr>
                                        <m:ctrlPr>
                                          <a:rPr lang="en-US" altLang="zh-TW" i="1">
                                            <a:latin typeface="Cambria Math" panose="02040503050406030204" pitchFamily="18" charset="0"/>
                                          </a:rPr>
                                        </m:ctrlPr>
                                      </m:fPr>
                                      <m:num>
                                        <m:r>
                                          <a:rPr lang="en-US" altLang="zh-TW" i="1">
                                            <a:latin typeface="Cambria Math" panose="02040503050406030204" pitchFamily="18" charset="0"/>
                                          </a:rPr>
                                          <m:t>(1+</m:t>
                                        </m:r>
                                        <m:r>
                                          <a:rPr lang="zh-TW" altLang="en-US" i="1">
                                            <a:latin typeface="Cambria Math" panose="02040503050406030204" pitchFamily="18" charset="0"/>
                                          </a:rPr>
                                          <m:t>𝛽</m:t>
                                        </m:r>
                                        <m:r>
                                          <a:rPr lang="en-US" altLang="zh-TW" i="1">
                                            <a:latin typeface="Cambria Math" panose="02040503050406030204" pitchFamily="18" charset="0"/>
                                          </a:rPr>
                                          <m:t>)</m:t>
                                        </m:r>
                                      </m:num>
                                      <m:den>
                                        <m:r>
                                          <a:rPr lang="en-US" altLang="zh-TW" i="1">
                                            <a:latin typeface="Cambria Math" panose="02040503050406030204" pitchFamily="18" charset="0"/>
                                          </a:rPr>
                                          <m:t>2</m:t>
                                        </m:r>
                                      </m:den>
                                    </m:f>
                                    <m:r>
                                      <a:rPr lang="en-US" altLang="zh-TW" i="1">
                                        <a:latin typeface="Cambria Math" panose="02040503050406030204" pitchFamily="18" charset="0"/>
                                      </a:rPr>
                                      <m:t>]</m:t>
                                    </m:r>
                                    <m:r>
                                      <a:rPr lang="zh-TW" altLang="en-US" i="1">
                                        <a:latin typeface="Cambria Math" panose="02040503050406030204" pitchFamily="18" charset="0"/>
                                      </a:rPr>
                                      <m:t>𝛽</m:t>
                                    </m:r>
                                    <m:sSup>
                                      <m:sSupPr>
                                        <m:ctrlPr>
                                          <a:rPr lang="en-US" altLang="zh-TW" i="1">
                                            <a:latin typeface="Cambria Math" panose="02040503050406030204" pitchFamily="18" charset="0"/>
                                          </a:rPr>
                                        </m:ctrlPr>
                                      </m:sSupPr>
                                      <m:e>
                                        <m:r>
                                          <a:rPr lang="en-US" altLang="zh-TW" i="1">
                                            <a:latin typeface="Cambria Math" panose="02040503050406030204" pitchFamily="18" charset="0"/>
                                          </a:rPr>
                                          <m:t>2</m:t>
                                        </m:r>
                                      </m:e>
                                      <m:sup>
                                        <m:f>
                                          <m:fPr>
                                            <m:ctrlPr>
                                              <a:rPr lang="en-US" altLang="zh-TW" i="1">
                                                <a:latin typeface="Cambria Math" panose="02040503050406030204" pitchFamily="18" charset="0"/>
                                              </a:rPr>
                                            </m:ctrlPr>
                                          </m:fPr>
                                          <m:num>
                                            <m:r>
                                              <a:rPr lang="zh-TW" altLang="en-US" i="1">
                                                <a:latin typeface="Cambria Math" panose="02040503050406030204" pitchFamily="18" charset="0"/>
                                              </a:rPr>
                                              <m:t>𝛽</m:t>
                                            </m:r>
                                            <m:r>
                                              <a:rPr lang="en-US" altLang="zh-TW" i="1">
                                                <a:latin typeface="Cambria Math" panose="02040503050406030204" pitchFamily="18" charset="0"/>
                                              </a:rPr>
                                              <m:t>−1</m:t>
                                            </m:r>
                                          </m:num>
                                          <m:den>
                                            <m:r>
                                              <a:rPr lang="en-US" altLang="zh-TW" i="1">
                                                <a:latin typeface="Cambria Math" panose="02040503050406030204" pitchFamily="18" charset="0"/>
                                              </a:rPr>
                                              <m:t>2</m:t>
                                            </m:r>
                                          </m:den>
                                        </m:f>
                                      </m:sup>
                                    </m:sSup>
                                  </m:den>
                                </m:f>
                              </m:e>
                            </m:d>
                          </m:e>
                          <m:sup>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1</m:t>
                                </m:r>
                              </m:num>
                              <m:den>
                                <m:r>
                                  <a:rPr lang="zh-TW" altLang="en-US" b="0" i="1" smtClean="0">
                                    <a:latin typeface="Cambria Math" panose="02040503050406030204" pitchFamily="18" charset="0"/>
                                  </a:rPr>
                                  <m:t>𝛽</m:t>
                                </m:r>
                              </m:den>
                            </m:f>
                          </m:sup>
                        </m:sSup>
                      </m:oMath>
                    </m:oMathPara>
                  </a14:m>
                  <a:endParaRPr lang="zh-TW" altLang="en-US" dirty="0"/>
                </a:p>
              </p:txBody>
            </p:sp>
          </mc:Choice>
          <mc:Fallback>
            <p:sp>
              <p:nvSpPr>
                <p:cNvPr id="16" name="矩形 15">
                  <a:extLst>
                    <a:ext uri="{FF2B5EF4-FFF2-40B4-BE49-F238E27FC236}">
                      <a16:creationId xmlns:a16="http://schemas.microsoft.com/office/drawing/2014/main" id="{1CECB3D0-888B-495A-9A56-915632CA582C}"/>
                    </a:ext>
                  </a:extLst>
                </p:cNvPr>
                <p:cNvSpPr>
                  <a:spLocks noRot="1" noChangeAspect="1" noMove="1" noResize="1" noEditPoints="1" noAdjustHandles="1" noChangeArrowheads="1" noChangeShapeType="1" noTextEdit="1"/>
                </p:cNvSpPr>
                <p:nvPr/>
              </p:nvSpPr>
              <p:spPr>
                <a:xfrm>
                  <a:off x="2383867" y="4526407"/>
                  <a:ext cx="3028008" cy="1270541"/>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7" name="矩形 16">
                  <a:extLst>
                    <a:ext uri="{FF2B5EF4-FFF2-40B4-BE49-F238E27FC236}">
                      <a16:creationId xmlns:a16="http://schemas.microsoft.com/office/drawing/2014/main" id="{51E3762B-9589-4A92-9045-30243B47C35A}"/>
                    </a:ext>
                  </a:extLst>
                </p:cNvPr>
                <p:cNvSpPr/>
                <p:nvPr/>
              </p:nvSpPr>
              <p:spPr>
                <a:xfrm>
                  <a:off x="5558148" y="4977011"/>
                  <a:ext cx="991618" cy="392993"/>
                </a:xfrm>
                <a:prstGeom prst="rect">
                  <a:avLst/>
                </a:prstGeom>
              </p:spPr>
              <p:txBody>
                <a:bodyPr wrap="none">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Sup>
                          <m:sSubSupPr>
                            <m:ctrlPr>
                              <a:rPr lang="en-US" altLang="zh-TW" i="1" smtClean="0">
                                <a:latin typeface="Cambria Math" panose="02040503050406030204" pitchFamily="18" charset="0"/>
                              </a:rPr>
                            </m:ctrlPr>
                          </m:sSubSupPr>
                          <m:e>
                            <m:r>
                              <a:rPr lang="zh-TW" altLang="en-US" i="1">
                                <a:latin typeface="Cambria Math" panose="02040503050406030204" pitchFamily="18" charset="0"/>
                              </a:rPr>
                              <m:t>𝜎</m:t>
                            </m:r>
                          </m:e>
                          <m:sub>
                            <m:r>
                              <a:rPr lang="en-US" altLang="zh-TW" i="1">
                                <a:latin typeface="Cambria Math" panose="02040503050406030204" pitchFamily="18" charset="0"/>
                              </a:rPr>
                              <m:t>𝑢</m:t>
                            </m:r>
                          </m:sub>
                          <m:sup/>
                        </m:sSubSup>
                        <m:r>
                          <a:rPr lang="en-US" altLang="zh-TW" b="0" i="1" smtClean="0">
                            <a:latin typeface="Cambria Math" panose="02040503050406030204" pitchFamily="18" charset="0"/>
                          </a:rPr>
                          <m:t>=1</m:t>
                        </m:r>
                      </m:oMath>
                    </m:oMathPara>
                  </a14:m>
                  <a:endParaRPr lang="zh-TW" altLang="en-US" dirty="0"/>
                </a:p>
              </p:txBody>
            </p:sp>
          </mc:Choice>
          <mc:Fallback>
            <p:sp>
              <p:nvSpPr>
                <p:cNvPr id="17" name="矩形 16">
                  <a:extLst>
                    <a:ext uri="{FF2B5EF4-FFF2-40B4-BE49-F238E27FC236}">
                      <a16:creationId xmlns:a16="http://schemas.microsoft.com/office/drawing/2014/main" id="{51E3762B-9589-4A92-9045-30243B47C35A}"/>
                    </a:ext>
                  </a:extLst>
                </p:cNvPr>
                <p:cNvSpPr>
                  <a:spLocks noRot="1" noChangeAspect="1" noMove="1" noResize="1" noEditPoints="1" noAdjustHandles="1" noChangeArrowheads="1" noChangeShapeType="1" noTextEdit="1"/>
                </p:cNvSpPr>
                <p:nvPr/>
              </p:nvSpPr>
              <p:spPr>
                <a:xfrm>
                  <a:off x="5558148" y="4977011"/>
                  <a:ext cx="991618" cy="392993"/>
                </a:xfrm>
                <a:prstGeom prst="rect">
                  <a:avLst/>
                </a:prstGeom>
                <a:blipFill>
                  <a:blip r:embed="rId7"/>
                  <a:stretch>
                    <a:fillRect/>
                  </a:stretch>
                </a:blipFill>
              </p:spPr>
              <p:txBody>
                <a:bodyPr/>
                <a:lstStyle/>
                <a:p>
                  <a:r>
                    <a:rPr lang="zh-TW" altLang="en-US">
                      <a:noFill/>
                    </a:rPr>
                    <a:t> </a:t>
                  </a:r>
                </a:p>
              </p:txBody>
            </p:sp>
          </mc:Fallback>
        </mc:AlternateContent>
        <p:sp>
          <p:nvSpPr>
            <p:cNvPr id="18" name="矩形 17">
              <a:extLst>
                <a:ext uri="{FF2B5EF4-FFF2-40B4-BE49-F238E27FC236}">
                  <a16:creationId xmlns:a16="http://schemas.microsoft.com/office/drawing/2014/main" id="{8A1F8BC1-F1A6-4E1A-9F5B-10CF3C1359F9}"/>
                </a:ext>
              </a:extLst>
            </p:cNvPr>
            <p:cNvSpPr/>
            <p:nvPr/>
          </p:nvSpPr>
          <p:spPr>
            <a:xfrm>
              <a:off x="1780104" y="5019514"/>
              <a:ext cx="601447" cy="369332"/>
            </a:xfrm>
            <a:prstGeom prst="rect">
              <a:avLst/>
            </a:prstGeom>
          </p:spPr>
          <p:txBody>
            <a:bodyPr wrap="none">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TW" dirty="0">
                  <a:latin typeface="STIX-Regular"/>
                </a:rPr>
                <a:t>with</a:t>
              </a:r>
              <a:endParaRPr lang="zh-TW" altLang="en-US" dirty="0"/>
            </a:p>
          </p:txBody>
        </p:sp>
        <p:sp>
          <p:nvSpPr>
            <p:cNvPr id="19" name="矩形 18">
              <a:extLst>
                <a:ext uri="{FF2B5EF4-FFF2-40B4-BE49-F238E27FC236}">
                  <a16:creationId xmlns:a16="http://schemas.microsoft.com/office/drawing/2014/main" id="{66794209-2094-4E2B-909F-8F4CF3312F1E}"/>
                </a:ext>
              </a:extLst>
            </p:cNvPr>
            <p:cNvSpPr/>
            <p:nvPr/>
          </p:nvSpPr>
          <p:spPr>
            <a:xfrm>
              <a:off x="5287482" y="5019514"/>
              <a:ext cx="248786" cy="369332"/>
            </a:xfrm>
            <a:prstGeom prst="rect">
              <a:avLst/>
            </a:prstGeom>
          </p:spPr>
          <p:txBody>
            <a:bodyPr wrap="none">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TW"/>
                <a:t>,</a:t>
              </a:r>
              <a:endParaRPr lang="zh-TW" altLang="en-US"/>
            </a:p>
          </p:txBody>
        </p:sp>
      </p:grpSp>
    </p:spTree>
    <p:extLst>
      <p:ext uri="{BB962C8B-B14F-4D97-AF65-F5344CB8AC3E}">
        <p14:creationId xmlns:p14="http://schemas.microsoft.com/office/powerpoint/2010/main" val="361120548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734957" y="350951"/>
            <a:ext cx="8491867" cy="583367"/>
          </a:xfrm>
        </p:spPr>
        <p:txBody>
          <a:bodyPr>
            <a:noAutofit/>
          </a:bodyPr>
          <a:lstStyle/>
          <a:p>
            <a:r>
              <a:rPr lang="en-US" altLang="zh-TW" sz="3200" b="1" dirty="0" err="1">
                <a:latin typeface="Times New Roman" panose="02020603050405020304" pitchFamily="18" charset="0"/>
                <a:cs typeface="Times New Roman" panose="02020603050405020304" pitchFamily="18" charset="0"/>
              </a:rPr>
              <a:t>L´evy</a:t>
            </a:r>
            <a:r>
              <a:rPr lang="en-US" altLang="zh-TW" sz="3200" b="1" dirty="0">
                <a:latin typeface="Times New Roman" panose="02020603050405020304" pitchFamily="18" charset="0"/>
                <a:cs typeface="Times New Roman" panose="02020603050405020304" pitchFamily="18" charset="0"/>
              </a:rPr>
              <a:t>-Flight(2/4)</a:t>
            </a:r>
            <a:endParaRPr lang="zh-TW" altLang="en-US" sz="3200" b="1" dirty="0">
              <a:latin typeface="Times New Roman" panose="02020603050405020304" pitchFamily="18" charset="0"/>
              <a:cs typeface="Times New Roman" panose="02020603050405020304" pitchFamily="18" charset="0"/>
            </a:endParaRPr>
          </a:p>
        </p:txBody>
      </p:sp>
      <p:pic>
        <p:nvPicPr>
          <p:cNvPr id="28" name="Picture 2" descr="「levy distribution」的圖片搜尋結果">
            <a:extLst>
              <a:ext uri="{FF2B5EF4-FFF2-40B4-BE49-F238E27FC236}">
                <a16:creationId xmlns:a16="http://schemas.microsoft.com/office/drawing/2014/main" id="{9E61A0F3-F50B-4616-A9EB-996273F123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1663" y="1344983"/>
            <a:ext cx="6020674" cy="45155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463378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734957" y="350951"/>
            <a:ext cx="8491867" cy="583367"/>
          </a:xfrm>
        </p:spPr>
        <p:txBody>
          <a:bodyPr>
            <a:noAutofit/>
          </a:bodyPr>
          <a:lstStyle/>
          <a:p>
            <a:r>
              <a:rPr lang="en-US" altLang="zh-TW" sz="3200" b="1" dirty="0" err="1">
                <a:latin typeface="Times New Roman" panose="02020603050405020304" pitchFamily="18" charset="0"/>
                <a:cs typeface="Times New Roman" panose="02020603050405020304" pitchFamily="18" charset="0"/>
              </a:rPr>
              <a:t>L´evy</a:t>
            </a:r>
            <a:r>
              <a:rPr lang="en-US" altLang="zh-TW" sz="3200" b="1" dirty="0">
                <a:latin typeface="Times New Roman" panose="02020603050405020304" pitchFamily="18" charset="0"/>
                <a:cs typeface="Times New Roman" panose="02020603050405020304" pitchFamily="18" charset="0"/>
              </a:rPr>
              <a:t>-Flight(3/4)</a:t>
            </a:r>
            <a:endParaRPr lang="zh-TW" altLang="en-US" sz="3200" b="1" dirty="0">
              <a:latin typeface="Times New Roman" panose="02020603050405020304" pitchFamily="18" charset="0"/>
              <a:cs typeface="Times New Roman" panose="02020603050405020304" pitchFamily="18" charset="0"/>
            </a:endParaRPr>
          </a:p>
        </p:txBody>
      </p:sp>
      <p:sp>
        <p:nvSpPr>
          <p:cNvPr id="5" name="內容版面配置區 5">
            <a:extLst>
              <a:ext uri="{FF2B5EF4-FFF2-40B4-BE49-F238E27FC236}">
                <a16:creationId xmlns:a16="http://schemas.microsoft.com/office/drawing/2014/main" id="{3CA8D1D5-6B20-4285-BB0C-86AEE094246D}"/>
              </a:ext>
            </a:extLst>
          </p:cNvPr>
          <p:cNvSpPr>
            <a:spLocks noGrp="1"/>
          </p:cNvSpPr>
          <p:nvPr>
            <p:ph idx="1"/>
          </p:nvPr>
        </p:nvSpPr>
        <p:spPr>
          <a:xfrm>
            <a:off x="628089" y="1101982"/>
            <a:ext cx="7887821" cy="4354433"/>
          </a:xfrm>
        </p:spPr>
        <p:txBody>
          <a:bodyPr>
            <a:noAutofit/>
          </a:bodyPr>
          <a:lstStyle/>
          <a:p>
            <a:r>
              <a:rPr lang="en-US" altLang="zh-TW" sz="2400" dirty="0">
                <a:latin typeface="Times New Roman" panose="02020603050405020304" pitchFamily="18" charset="0"/>
                <a:cs typeface="Times New Roman" panose="02020603050405020304" pitchFamily="18" charset="0"/>
              </a:rPr>
              <a:t>Large </a:t>
            </a:r>
            <a:r>
              <a:rPr lang="el-GR" altLang="zh-TW" sz="2400" dirty="0">
                <a:latin typeface="Times New Roman" panose="02020603050405020304" pitchFamily="18" charset="0"/>
                <a:cs typeface="Times New Roman" panose="02020603050405020304" pitchFamily="18" charset="0"/>
              </a:rPr>
              <a:t>β </a:t>
            </a:r>
            <a:r>
              <a:rPr lang="en-US" altLang="zh-TW" sz="2400" dirty="0">
                <a:latin typeface="Times New Roman" panose="02020603050405020304" pitchFamily="18" charset="0"/>
                <a:cs typeface="Times New Roman" panose="02020603050405020304" pitchFamily="18" charset="0"/>
              </a:rPr>
              <a:t>of </a:t>
            </a:r>
            <a:r>
              <a:rPr lang="zh-TW" altLang="en-US" sz="2400" dirty="0">
                <a:latin typeface="Times New Roman" panose="02020603050405020304" pitchFamily="18" charset="0"/>
                <a:cs typeface="Times New Roman" panose="02020603050405020304" pitchFamily="18" charset="0"/>
              </a:rPr>
              <a:t>𝐿𝑒𝑣𝑦 𝐹𝑙𝑖𝑔</a:t>
            </a:r>
            <a:r>
              <a:rPr lang="en-US" altLang="zh-TW" sz="2400" dirty="0">
                <a:latin typeface="Times New Roman" panose="02020603050405020304" pitchFamily="18" charset="0"/>
                <a:cs typeface="Times New Roman" panose="02020603050405020304" pitchFamily="18" charset="0"/>
              </a:rPr>
              <a:t>ℎ</a:t>
            </a:r>
            <a:r>
              <a:rPr lang="zh-TW" altLang="en-US" sz="2400" dirty="0">
                <a:latin typeface="Times New Roman" panose="02020603050405020304" pitchFamily="18" charset="0"/>
                <a:cs typeface="Times New Roman" panose="02020603050405020304" pitchFamily="18" charset="0"/>
              </a:rPr>
              <a:t>𝑡𝑠 </a:t>
            </a:r>
            <a:r>
              <a:rPr lang="en-US" altLang="zh-TW" sz="2400" dirty="0">
                <a:latin typeface="Times New Roman" panose="02020603050405020304" pitchFamily="18" charset="0"/>
                <a:cs typeface="Times New Roman" panose="02020603050405020304" pitchFamily="18" charset="0"/>
              </a:rPr>
              <a:t>: more often to cause big jumps to unexplored areas (higher exploration), and it prevent getting stuck in local optimums.</a:t>
            </a:r>
          </a:p>
          <a:p>
            <a:r>
              <a:rPr lang="en-US" altLang="zh-TW" sz="2400" dirty="0">
                <a:latin typeface="Times New Roman" panose="02020603050405020304" pitchFamily="18" charset="0"/>
                <a:cs typeface="Times New Roman" panose="02020603050405020304" pitchFamily="18" charset="0"/>
              </a:rPr>
              <a:t>Small </a:t>
            </a:r>
            <a:r>
              <a:rPr lang="el-GR" altLang="zh-TW" sz="2400" dirty="0">
                <a:latin typeface="Times New Roman" panose="02020603050405020304" pitchFamily="18" charset="0"/>
                <a:cs typeface="Times New Roman" panose="02020603050405020304" pitchFamily="18" charset="0"/>
              </a:rPr>
              <a:t>β </a:t>
            </a:r>
            <a:r>
              <a:rPr lang="en-US" altLang="zh-TW" sz="2400" dirty="0">
                <a:latin typeface="Times New Roman" panose="02020603050405020304" pitchFamily="18" charset="0"/>
                <a:cs typeface="Times New Roman" panose="02020603050405020304" pitchFamily="18" charset="0"/>
              </a:rPr>
              <a:t>of </a:t>
            </a:r>
            <a:r>
              <a:rPr lang="zh-TW" altLang="en-US" sz="2400" dirty="0">
                <a:latin typeface="Times New Roman" panose="02020603050405020304" pitchFamily="18" charset="0"/>
                <a:cs typeface="Times New Roman" panose="02020603050405020304" pitchFamily="18" charset="0"/>
              </a:rPr>
              <a:t>𝐿𝑒𝑣𝑦 𝐹𝑙𝑖𝑔</a:t>
            </a:r>
            <a:r>
              <a:rPr lang="en-US" altLang="zh-TW" sz="2400" dirty="0">
                <a:latin typeface="Times New Roman" panose="02020603050405020304" pitchFamily="18" charset="0"/>
                <a:cs typeface="Times New Roman" panose="02020603050405020304" pitchFamily="18" charset="0"/>
              </a:rPr>
              <a:t>ℎ</a:t>
            </a:r>
            <a:r>
              <a:rPr lang="zh-TW" altLang="en-US" sz="2400" dirty="0">
                <a:latin typeface="Times New Roman" panose="02020603050405020304" pitchFamily="18" charset="0"/>
                <a:cs typeface="Times New Roman" panose="02020603050405020304" pitchFamily="18" charset="0"/>
              </a:rPr>
              <a:t>𝑡𝑠 </a:t>
            </a:r>
            <a:r>
              <a:rPr lang="en-US" altLang="zh-TW" sz="2400" dirty="0">
                <a:latin typeface="Times New Roman" panose="02020603050405020304" pitchFamily="18" charset="0"/>
                <a:cs typeface="Times New Roman" panose="02020603050405020304" pitchFamily="18" charset="0"/>
              </a:rPr>
              <a:t>: more often to considered new solution near the current solutions (higher exploitation), that help finding a better solution more efficiently.</a:t>
            </a:r>
          </a:p>
          <a:p>
            <a:endParaRPr lang="en-US" altLang="zh-TW" sz="2400" dirty="0">
              <a:latin typeface="Times New Roman" panose="02020603050405020304" pitchFamily="18" charset="0"/>
              <a:cs typeface="Times New Roman" panose="02020603050405020304" pitchFamily="18" charset="0"/>
            </a:endParaRPr>
          </a:p>
          <a:p>
            <a:pPr marL="0" indent="0">
              <a:buNone/>
            </a:pPr>
            <a:r>
              <a:rPr lang="en-US" altLang="zh-TW" sz="2400" dirty="0">
                <a:latin typeface="Times New Roman" panose="02020603050405020304" pitchFamily="18" charset="0"/>
                <a:cs typeface="Times New Roman" panose="02020603050405020304" pitchFamily="18" charset="0"/>
              </a:rPr>
              <a:t>               </a:t>
            </a:r>
          </a:p>
        </p:txBody>
      </p:sp>
      <p:pic>
        <p:nvPicPr>
          <p:cNvPr id="24" name="圖片 23">
            <a:extLst>
              <a:ext uri="{FF2B5EF4-FFF2-40B4-BE49-F238E27FC236}">
                <a16:creationId xmlns:a16="http://schemas.microsoft.com/office/drawing/2014/main" id="{D9115AAD-47FF-2647-9828-7B32B50298A7}"/>
              </a:ext>
            </a:extLst>
          </p:cNvPr>
          <p:cNvPicPr>
            <a:picLocks noChangeAspect="1"/>
          </p:cNvPicPr>
          <p:nvPr/>
        </p:nvPicPr>
        <p:blipFill rotWithShape="1">
          <a:blip r:embed="rId3"/>
          <a:srcRect l="1975" t="15297" r="2428" b="9317"/>
          <a:stretch/>
        </p:blipFill>
        <p:spPr>
          <a:xfrm>
            <a:off x="2277034" y="3602736"/>
            <a:ext cx="4589930" cy="2617695"/>
          </a:xfrm>
          <a:prstGeom prst="rect">
            <a:avLst/>
          </a:prstGeom>
        </p:spPr>
      </p:pic>
    </p:spTree>
    <p:extLst>
      <p:ext uri="{BB962C8B-B14F-4D97-AF65-F5344CB8AC3E}">
        <p14:creationId xmlns:p14="http://schemas.microsoft.com/office/powerpoint/2010/main" val="166491364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734957" y="350951"/>
            <a:ext cx="8491867" cy="583367"/>
          </a:xfrm>
        </p:spPr>
        <p:txBody>
          <a:bodyPr>
            <a:noAutofit/>
          </a:bodyPr>
          <a:lstStyle/>
          <a:p>
            <a:r>
              <a:rPr lang="en-US" altLang="zh-TW" sz="3200" b="1" dirty="0" err="1">
                <a:latin typeface="Times New Roman" panose="02020603050405020304" pitchFamily="18" charset="0"/>
                <a:cs typeface="Times New Roman" panose="02020603050405020304" pitchFamily="18" charset="0"/>
              </a:rPr>
              <a:t>L´evy</a:t>
            </a:r>
            <a:r>
              <a:rPr lang="en-US" altLang="zh-TW" sz="3200" b="1" dirty="0">
                <a:latin typeface="Times New Roman" panose="02020603050405020304" pitchFamily="18" charset="0"/>
                <a:cs typeface="Times New Roman" panose="02020603050405020304" pitchFamily="18" charset="0"/>
              </a:rPr>
              <a:t>-Flight(4/4)</a:t>
            </a:r>
            <a:endParaRPr lang="zh-TW" altLang="en-US" sz="3200" b="1" dirty="0">
              <a:latin typeface="Times New Roman" panose="02020603050405020304" pitchFamily="18" charset="0"/>
              <a:cs typeface="Times New Roman" panose="02020603050405020304" pitchFamily="18" charset="0"/>
            </a:endParaRPr>
          </a:p>
        </p:txBody>
      </p:sp>
      <p:grpSp>
        <p:nvGrpSpPr>
          <p:cNvPr id="3" name="群組 2">
            <a:extLst>
              <a:ext uri="{FF2B5EF4-FFF2-40B4-BE49-F238E27FC236}">
                <a16:creationId xmlns:a16="http://schemas.microsoft.com/office/drawing/2014/main" id="{5289140F-9D90-4606-904C-D0D789F8F583}"/>
              </a:ext>
            </a:extLst>
          </p:cNvPr>
          <p:cNvGrpSpPr/>
          <p:nvPr/>
        </p:nvGrpSpPr>
        <p:grpSpPr>
          <a:xfrm>
            <a:off x="559929" y="1231972"/>
            <a:ext cx="4042534" cy="4394055"/>
            <a:chOff x="2550733" y="1231973"/>
            <a:chExt cx="4042534" cy="4394055"/>
          </a:xfrm>
        </p:grpSpPr>
        <p:pic>
          <p:nvPicPr>
            <p:cNvPr id="4" name="Picture 2">
              <a:extLst>
                <a:ext uri="{FF2B5EF4-FFF2-40B4-BE49-F238E27FC236}">
                  <a16:creationId xmlns:a16="http://schemas.microsoft.com/office/drawing/2014/main" id="{BD52B8E2-1DA3-4756-B8FE-0981F7CE64F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50733" y="1231973"/>
              <a:ext cx="4042534" cy="3932390"/>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a:extLst>
                <a:ext uri="{FF2B5EF4-FFF2-40B4-BE49-F238E27FC236}">
                  <a16:creationId xmlns:a16="http://schemas.microsoft.com/office/drawing/2014/main" id="{BF43968B-CA95-474E-99F7-7CB79ABFFC34}"/>
                </a:ext>
              </a:extLst>
            </p:cNvPr>
            <p:cNvSpPr/>
            <p:nvPr/>
          </p:nvSpPr>
          <p:spPr>
            <a:xfrm>
              <a:off x="3037765" y="5164363"/>
              <a:ext cx="3068469" cy="461665"/>
            </a:xfrm>
            <a:prstGeom prst="rect">
              <a:avLst/>
            </a:prstGeom>
          </p:spPr>
          <p:txBody>
            <a:bodyPr wrap="none">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TW" sz="1200">
                  <a:solidFill>
                    <a:srgbClr val="222222"/>
                  </a:solidFill>
                  <a:latin typeface="Arial" panose="020B0604020202020204" pitchFamily="34" charset="0"/>
                </a:rPr>
                <a:t>Lévy flight in two dimensions</a:t>
              </a:r>
            </a:p>
            <a:p>
              <a:pPr algn="ctr"/>
              <a:r>
                <a:rPr lang="en-US" altLang="zh-TW" sz="1200"/>
                <a:t>step size is distributed according to a Lévy</a:t>
              </a:r>
              <a:endParaRPr lang="zh-TW" altLang="en-US" sz="1200"/>
            </a:p>
          </p:txBody>
        </p:sp>
        <p:sp>
          <p:nvSpPr>
            <p:cNvPr id="6" name="橢圓 5">
              <a:extLst>
                <a:ext uri="{FF2B5EF4-FFF2-40B4-BE49-F238E27FC236}">
                  <a16:creationId xmlns:a16="http://schemas.microsoft.com/office/drawing/2014/main" id="{A3BA3905-E1C7-C54D-835D-C72A1617EA18}"/>
                </a:ext>
              </a:extLst>
            </p:cNvPr>
            <p:cNvSpPr/>
            <p:nvPr/>
          </p:nvSpPr>
          <p:spPr>
            <a:xfrm rot="959473">
              <a:off x="3231208" y="2944612"/>
              <a:ext cx="2053485" cy="426770"/>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TW" altLang="en-US"/>
            </a:p>
          </p:txBody>
        </p:sp>
        <p:sp>
          <p:nvSpPr>
            <p:cNvPr id="7" name="橢圓 6">
              <a:extLst>
                <a:ext uri="{FF2B5EF4-FFF2-40B4-BE49-F238E27FC236}">
                  <a16:creationId xmlns:a16="http://schemas.microsoft.com/office/drawing/2014/main" id="{A52B9F74-DDC4-C342-A650-9F3EF1AD16E7}"/>
                </a:ext>
              </a:extLst>
            </p:cNvPr>
            <p:cNvSpPr/>
            <p:nvPr/>
          </p:nvSpPr>
          <p:spPr>
            <a:xfrm rot="959473">
              <a:off x="3361938" y="2165187"/>
              <a:ext cx="394160" cy="45942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TW" altLang="en-US">
                <a:solidFill>
                  <a:srgbClr val="00B050"/>
                </a:solidFill>
              </a:endParaRPr>
            </a:p>
          </p:txBody>
        </p:sp>
      </p:grpSp>
      <p:grpSp>
        <p:nvGrpSpPr>
          <p:cNvPr id="8" name="群組 7">
            <a:extLst>
              <a:ext uri="{FF2B5EF4-FFF2-40B4-BE49-F238E27FC236}">
                <a16:creationId xmlns:a16="http://schemas.microsoft.com/office/drawing/2014/main" id="{9D9EF617-50CC-4763-A3A9-0D246A1FF995}"/>
              </a:ext>
            </a:extLst>
          </p:cNvPr>
          <p:cNvGrpSpPr/>
          <p:nvPr/>
        </p:nvGrpSpPr>
        <p:grpSpPr>
          <a:xfrm>
            <a:off x="4713948" y="1302652"/>
            <a:ext cx="4626341" cy="4394055"/>
            <a:chOff x="2258830" y="1231973"/>
            <a:chExt cx="4626341" cy="4394055"/>
          </a:xfrm>
        </p:grpSpPr>
        <p:pic>
          <p:nvPicPr>
            <p:cNvPr id="9" name="Picture 4">
              <a:extLst>
                <a:ext uri="{FF2B5EF4-FFF2-40B4-BE49-F238E27FC236}">
                  <a16:creationId xmlns:a16="http://schemas.microsoft.com/office/drawing/2014/main" id="{D1B794F5-F4B2-43ED-8A94-55D3743D01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58830" y="1231973"/>
              <a:ext cx="4626341" cy="393239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a:extLst>
                <a:ext uri="{FF2B5EF4-FFF2-40B4-BE49-F238E27FC236}">
                  <a16:creationId xmlns:a16="http://schemas.microsoft.com/office/drawing/2014/main" id="{82378540-8237-42D6-9BD0-05E26CF9BCCD}"/>
                </a:ext>
              </a:extLst>
            </p:cNvPr>
            <p:cNvSpPr/>
            <p:nvPr/>
          </p:nvSpPr>
          <p:spPr>
            <a:xfrm>
              <a:off x="2374136" y="5164363"/>
              <a:ext cx="3996608" cy="461665"/>
            </a:xfrm>
            <a:prstGeom prst="rect">
              <a:avLst/>
            </a:prstGeom>
          </p:spPr>
          <p:txBody>
            <a:bodyPr wrap="none">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TW" sz="1200">
                  <a:solidFill>
                    <a:srgbClr val="222222"/>
                  </a:solidFill>
                  <a:latin typeface="Arial" panose="020B0604020202020204" pitchFamily="34" charset="0"/>
                </a:rPr>
                <a:t>Brownian motion in two dimensions</a:t>
              </a:r>
            </a:p>
            <a:p>
              <a:pPr algn="ctr"/>
              <a:r>
                <a:rPr lang="en-US" altLang="zh-TW" sz="1200"/>
                <a:t>step size is distributed according to a normal distribution</a:t>
              </a:r>
              <a:endParaRPr lang="zh-TW" altLang="en-US" sz="1200"/>
            </a:p>
          </p:txBody>
        </p:sp>
        <p:sp>
          <p:nvSpPr>
            <p:cNvPr id="11" name="橢圓 10">
              <a:extLst>
                <a:ext uri="{FF2B5EF4-FFF2-40B4-BE49-F238E27FC236}">
                  <a16:creationId xmlns:a16="http://schemas.microsoft.com/office/drawing/2014/main" id="{3E2DF529-9CB3-8F4E-9F61-4121005B7DAF}"/>
                </a:ext>
              </a:extLst>
            </p:cNvPr>
            <p:cNvSpPr/>
            <p:nvPr/>
          </p:nvSpPr>
          <p:spPr>
            <a:xfrm rot="959473">
              <a:off x="3937006" y="2038839"/>
              <a:ext cx="449663" cy="44766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TW" altLang="en-US">
                <a:solidFill>
                  <a:srgbClr val="00B050"/>
                </a:solidFill>
              </a:endParaRPr>
            </a:p>
          </p:txBody>
        </p:sp>
        <p:sp>
          <p:nvSpPr>
            <p:cNvPr id="12" name="橢圓 11">
              <a:extLst>
                <a:ext uri="{FF2B5EF4-FFF2-40B4-BE49-F238E27FC236}">
                  <a16:creationId xmlns:a16="http://schemas.microsoft.com/office/drawing/2014/main" id="{AB9B86FF-BE8E-8F4C-90C3-5C194A6ADEAC}"/>
                </a:ext>
              </a:extLst>
            </p:cNvPr>
            <p:cNvSpPr/>
            <p:nvPr/>
          </p:nvSpPr>
          <p:spPr>
            <a:xfrm rot="959473">
              <a:off x="4815547" y="3745883"/>
              <a:ext cx="449663" cy="447668"/>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TW" altLang="en-US">
                <a:solidFill>
                  <a:srgbClr val="00B050"/>
                </a:solidFill>
              </a:endParaRPr>
            </a:p>
          </p:txBody>
        </p:sp>
      </p:grpSp>
    </p:spTree>
    <p:extLst>
      <p:ext uri="{BB962C8B-B14F-4D97-AF65-F5344CB8AC3E}">
        <p14:creationId xmlns:p14="http://schemas.microsoft.com/office/powerpoint/2010/main" val="74928383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734957"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Simulations and Results(1/4)</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pic>
        <p:nvPicPr>
          <p:cNvPr id="7" name="圖片 6">
            <a:extLst>
              <a:ext uri="{FF2B5EF4-FFF2-40B4-BE49-F238E27FC236}">
                <a16:creationId xmlns:a16="http://schemas.microsoft.com/office/drawing/2014/main" id="{CB18B19B-3537-4C61-8D42-A343195153E3}"/>
              </a:ext>
            </a:extLst>
          </p:cNvPr>
          <p:cNvPicPr>
            <a:picLocks noChangeAspect="1"/>
          </p:cNvPicPr>
          <p:nvPr/>
        </p:nvPicPr>
        <p:blipFill>
          <a:blip r:embed="rId4"/>
          <a:stretch>
            <a:fillRect/>
          </a:stretch>
        </p:blipFill>
        <p:spPr>
          <a:xfrm>
            <a:off x="624041" y="1671313"/>
            <a:ext cx="7886203" cy="2785063"/>
          </a:xfrm>
          <a:prstGeom prst="rect">
            <a:avLst/>
          </a:prstGeom>
        </p:spPr>
      </p:pic>
      <p:sp>
        <p:nvSpPr>
          <p:cNvPr id="9" name="內容版面配置區 5">
            <a:extLst>
              <a:ext uri="{FF2B5EF4-FFF2-40B4-BE49-F238E27FC236}">
                <a16:creationId xmlns:a16="http://schemas.microsoft.com/office/drawing/2014/main" id="{3F38B5B3-7C52-41FA-A32C-81FA2C9FDE34}"/>
              </a:ext>
            </a:extLst>
          </p:cNvPr>
          <p:cNvSpPr>
            <a:spLocks noGrp="1"/>
          </p:cNvSpPr>
          <p:nvPr>
            <p:ph idx="1"/>
          </p:nvPr>
        </p:nvSpPr>
        <p:spPr>
          <a:xfrm>
            <a:off x="589984" y="4558432"/>
            <a:ext cx="7887821" cy="4354433"/>
          </a:xfrm>
        </p:spPr>
        <p:txBody>
          <a:bodyPr>
            <a:noAutofit/>
          </a:bodyPr>
          <a:lstStyle/>
          <a:p>
            <a:pPr marL="0" indent="0">
              <a:buNone/>
            </a:pPr>
            <a:r>
              <a:rPr lang="en-US" altLang="zh-TW" sz="2400" dirty="0">
                <a:latin typeface="Times New Roman" panose="02020603050405020304" pitchFamily="18" charset="0"/>
                <a:cs typeface="Times New Roman" panose="02020603050405020304" pitchFamily="18" charset="0"/>
              </a:rPr>
              <a:t>Ackley function :  </a:t>
            </a: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r>
              <a:rPr lang="en-US" altLang="zh-TW" sz="2400" dirty="0">
                <a:latin typeface="Times New Roman" panose="02020603050405020304" pitchFamily="18" charset="0"/>
                <a:cs typeface="Times New Roman" panose="02020603050405020304" pitchFamily="18" charset="0"/>
              </a:rPr>
              <a:t>               </a:t>
            </a:r>
          </a:p>
        </p:txBody>
      </p:sp>
      <p:pic>
        <p:nvPicPr>
          <p:cNvPr id="8" name="圖片 7">
            <a:extLst>
              <a:ext uri="{FF2B5EF4-FFF2-40B4-BE49-F238E27FC236}">
                <a16:creationId xmlns:a16="http://schemas.microsoft.com/office/drawing/2014/main" id="{B1935D81-F038-4C91-B281-66F5051773E2}"/>
              </a:ext>
            </a:extLst>
          </p:cNvPr>
          <p:cNvPicPr>
            <a:picLocks noChangeAspect="1"/>
          </p:cNvPicPr>
          <p:nvPr/>
        </p:nvPicPr>
        <p:blipFill>
          <a:blip r:embed="rId5"/>
          <a:stretch>
            <a:fillRect/>
          </a:stretch>
        </p:blipFill>
        <p:spPr>
          <a:xfrm>
            <a:off x="1167143" y="5184420"/>
            <a:ext cx="6800000" cy="961905"/>
          </a:xfrm>
          <a:prstGeom prst="rect">
            <a:avLst/>
          </a:prstGeom>
        </p:spPr>
      </p:pic>
      <mc:AlternateContent xmlns:mc="http://schemas.openxmlformats.org/markup-compatibility/2006">
        <mc:Choice xmlns:a14="http://schemas.microsoft.com/office/drawing/2010/main" Requires="a14">
          <p:sp>
            <p:nvSpPr>
              <p:cNvPr id="15" name="內容版面配置區 5">
                <a:extLst>
                  <a:ext uri="{FF2B5EF4-FFF2-40B4-BE49-F238E27FC236}">
                    <a16:creationId xmlns:a16="http://schemas.microsoft.com/office/drawing/2014/main" id="{0C80DB42-57D2-4E32-AD22-2F48D9AA8D2F}"/>
                  </a:ext>
                </a:extLst>
              </p:cNvPr>
              <p:cNvSpPr txBox="1">
                <a:spLocks/>
              </p:cNvSpPr>
              <p:nvPr/>
            </p:nvSpPr>
            <p:spPr>
              <a:xfrm>
                <a:off x="626470" y="1081300"/>
                <a:ext cx="7887821" cy="435443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sSub>
                      <m:sSubPr>
                        <m:ctrlPr>
                          <a:rPr lang="zh-TW" altLang="en-US" sz="2400" smtClean="0">
                            <a:latin typeface="Cambria Math" panose="02040503050406030204" pitchFamily="18" charset="0"/>
                          </a:rPr>
                        </m:ctrlPr>
                      </m:sSubPr>
                      <m:e>
                        <m:r>
                          <a:rPr lang="zh-TW" altLang="en-US" sz="2400" i="1" smtClean="0">
                            <a:latin typeface="Cambria Math" panose="02040503050406030204" pitchFamily="18" charset="0"/>
                          </a:rPr>
                          <m:t>𝛽</m:t>
                        </m:r>
                      </m:e>
                      <m:sub>
                        <m:r>
                          <a:rPr lang="zh-TW" altLang="en-US" sz="2400" i="0" smtClean="0">
                            <a:latin typeface="Cambria Math" panose="02040503050406030204" pitchFamily="18" charset="0"/>
                          </a:rPr>
                          <m:t>0</m:t>
                        </m:r>
                      </m:sub>
                    </m:sSub>
                  </m:oMath>
                </a14:m>
                <a:r>
                  <a:rPr lang="en-US" altLang="zh-TW" sz="2400" dirty="0">
                    <a:latin typeface="Times New Roman" panose="02020603050405020304" pitchFamily="18" charset="0"/>
                    <a:cs typeface="Times New Roman" panose="02020603050405020304" pitchFamily="18" charset="0"/>
                  </a:rPr>
                  <a:t>=1</a:t>
                </a:r>
                <a:r>
                  <a:rPr lang="zh-TW" altLang="en-US" sz="2400" dirty="0">
                    <a:latin typeface="Times New Roman" panose="02020603050405020304" pitchFamily="18" charset="0"/>
                    <a:cs typeface="Times New Roman" panose="02020603050405020304" pitchFamily="18" charset="0"/>
                  </a:rPr>
                  <a:t>、𝛼</a:t>
                </a:r>
                <a:r>
                  <a:rPr lang="en-US" altLang="zh-TW" sz="2400" dirty="0">
                    <a:latin typeface="Times New Roman" panose="02020603050405020304" pitchFamily="18" charset="0"/>
                    <a:cs typeface="Times New Roman" panose="02020603050405020304" pitchFamily="18" charset="0"/>
                  </a:rPr>
                  <a:t>=0.2</a:t>
                </a:r>
                <a:r>
                  <a:rPr lang="zh-TW" altLang="en-US" sz="2400" dirty="0">
                    <a:latin typeface="Times New Roman" panose="02020603050405020304" pitchFamily="18" charset="0"/>
                    <a:cs typeface="Times New Roman" panose="02020603050405020304" pitchFamily="18" charset="0"/>
                  </a:rPr>
                  <a:t>、𝜆</a:t>
                </a:r>
                <a:r>
                  <a:rPr lang="en-US" altLang="zh-TW" sz="2400" dirty="0">
                    <a:latin typeface="Times New Roman" panose="02020603050405020304" pitchFamily="18" charset="0"/>
                    <a:cs typeface="Times New Roman" panose="02020603050405020304" pitchFamily="18" charset="0"/>
                  </a:rPr>
                  <a:t>=1.5</a:t>
                </a:r>
                <a:r>
                  <a:rPr lang="zh-TW" altLang="en-US" sz="2400" dirty="0">
                    <a:latin typeface="Times New Roman" panose="02020603050405020304" pitchFamily="18" charset="0"/>
                    <a:cs typeface="Times New Roman" panose="02020603050405020304" pitchFamily="18" charset="0"/>
                  </a:rPr>
                  <a:t>、𝛾</a:t>
                </a:r>
                <a:r>
                  <a:rPr lang="en-US" altLang="zh-TW" sz="2400" dirty="0">
                    <a:latin typeface="Times New Roman" panose="02020603050405020304" pitchFamily="18" charset="0"/>
                    <a:cs typeface="Times New Roman" panose="02020603050405020304" pitchFamily="18" charset="0"/>
                  </a:rPr>
                  <a:t>=1</a:t>
                </a:r>
              </a:p>
              <a:p>
                <a:pPr marL="0" indent="0">
                  <a:buFont typeface="Arial" panose="020B0604020202020204" pitchFamily="34" charset="0"/>
                  <a:buNone/>
                </a:pPr>
                <a:endParaRPr lang="en-US" altLang="zh-TW"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zh-TW" sz="2400" dirty="0">
                    <a:latin typeface="Times New Roman" panose="02020603050405020304" pitchFamily="18" charset="0"/>
                    <a:cs typeface="Times New Roman" panose="02020603050405020304" pitchFamily="18" charset="0"/>
                  </a:rPr>
                  <a:t>               </a:t>
                </a:r>
              </a:p>
            </p:txBody>
          </p:sp>
        </mc:Choice>
        <mc:Fallback>
          <p:sp>
            <p:nvSpPr>
              <p:cNvPr id="15" name="內容版面配置區 5">
                <a:extLst>
                  <a:ext uri="{FF2B5EF4-FFF2-40B4-BE49-F238E27FC236}">
                    <a16:creationId xmlns:a16="http://schemas.microsoft.com/office/drawing/2014/main" id="{0C80DB42-57D2-4E32-AD22-2F48D9AA8D2F}"/>
                  </a:ext>
                </a:extLst>
              </p:cNvPr>
              <p:cNvSpPr txBox="1">
                <a:spLocks noRot="1" noChangeAspect="1" noMove="1" noResize="1" noEditPoints="1" noAdjustHandles="1" noChangeArrowheads="1" noChangeShapeType="1" noTextEdit="1"/>
              </p:cNvSpPr>
              <p:nvPr/>
            </p:nvSpPr>
            <p:spPr>
              <a:xfrm>
                <a:off x="626470" y="1081300"/>
                <a:ext cx="7887821" cy="4354433"/>
              </a:xfrm>
              <a:prstGeom prst="rect">
                <a:avLst/>
              </a:prstGeom>
              <a:blipFill>
                <a:blip r:embed="rId6"/>
                <a:stretch>
                  <a:fillRect l="-1082" t="-209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78179683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734957"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Simulations and Results(2/4)</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sp>
        <p:nvSpPr>
          <p:cNvPr id="10" name="內容版面配置區 5">
            <a:extLst>
              <a:ext uri="{FF2B5EF4-FFF2-40B4-BE49-F238E27FC236}">
                <a16:creationId xmlns:a16="http://schemas.microsoft.com/office/drawing/2014/main" id="{3F2D9A98-5B6A-4D4F-926B-D5A8A82D35CF}"/>
              </a:ext>
            </a:extLst>
          </p:cNvPr>
          <p:cNvSpPr>
            <a:spLocks noGrp="1"/>
          </p:cNvSpPr>
          <p:nvPr>
            <p:ph idx="1"/>
          </p:nvPr>
        </p:nvSpPr>
        <p:spPr>
          <a:xfrm>
            <a:off x="628089" y="1101982"/>
            <a:ext cx="7887821" cy="4354433"/>
          </a:xfrm>
        </p:spPr>
        <p:txBody>
          <a:bodyPr>
            <a:noAutofit/>
          </a:bodyPr>
          <a:lstStyle/>
          <a:p>
            <a:r>
              <a:rPr lang="en-US" altLang="zh-TW" sz="2400" dirty="0" err="1">
                <a:latin typeface="Times New Roman" panose="02020603050405020304" pitchFamily="18" charset="0"/>
                <a:cs typeface="Times New Roman" panose="02020603050405020304" pitchFamily="18" charset="0"/>
              </a:rPr>
              <a:t>Michalewicz</a:t>
            </a:r>
            <a:r>
              <a:rPr lang="en-US" altLang="zh-TW" sz="2400" dirty="0">
                <a:latin typeface="Times New Roman" panose="02020603050405020304" pitchFamily="18" charset="0"/>
                <a:cs typeface="Times New Roman" panose="02020603050405020304" pitchFamily="18" charset="0"/>
              </a:rPr>
              <a:t>(d=30)               </a:t>
            </a:r>
          </a:p>
        </p:txBody>
      </p:sp>
      <p:pic>
        <p:nvPicPr>
          <p:cNvPr id="6" name="圖片 5">
            <a:extLst>
              <a:ext uri="{FF2B5EF4-FFF2-40B4-BE49-F238E27FC236}">
                <a16:creationId xmlns:a16="http://schemas.microsoft.com/office/drawing/2014/main" id="{DD137980-6575-4196-BB04-ACBDC8024A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385" y="1881111"/>
            <a:ext cx="4767072" cy="3575304"/>
          </a:xfrm>
          <a:prstGeom prst="rect">
            <a:avLst/>
          </a:prstGeom>
        </p:spPr>
      </p:pic>
      <p:pic>
        <p:nvPicPr>
          <p:cNvPr id="13" name="圖片 12">
            <a:extLst>
              <a:ext uri="{FF2B5EF4-FFF2-40B4-BE49-F238E27FC236}">
                <a16:creationId xmlns:a16="http://schemas.microsoft.com/office/drawing/2014/main" id="{9C2CFFA2-DF9F-442B-90BF-9C0BD86CAF8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54010" y="2023036"/>
            <a:ext cx="4388604" cy="3291453"/>
          </a:xfrm>
          <a:prstGeom prst="rect">
            <a:avLst/>
          </a:prstGeom>
        </p:spPr>
      </p:pic>
    </p:spTree>
    <p:extLst>
      <p:ext uri="{BB962C8B-B14F-4D97-AF65-F5344CB8AC3E}">
        <p14:creationId xmlns:p14="http://schemas.microsoft.com/office/powerpoint/2010/main" val="426217709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734957"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Simulations and Results(3/4)</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sp>
        <p:nvSpPr>
          <p:cNvPr id="10" name="內容版面配置區 5">
            <a:extLst>
              <a:ext uri="{FF2B5EF4-FFF2-40B4-BE49-F238E27FC236}">
                <a16:creationId xmlns:a16="http://schemas.microsoft.com/office/drawing/2014/main" id="{3F2D9A98-5B6A-4D4F-926B-D5A8A82D35CF}"/>
              </a:ext>
            </a:extLst>
          </p:cNvPr>
          <p:cNvSpPr>
            <a:spLocks noGrp="1"/>
          </p:cNvSpPr>
          <p:nvPr>
            <p:ph idx="1"/>
          </p:nvPr>
        </p:nvSpPr>
        <p:spPr>
          <a:xfrm>
            <a:off x="628089" y="1101982"/>
            <a:ext cx="7887821" cy="4354433"/>
          </a:xfrm>
        </p:spPr>
        <p:txBody>
          <a:bodyPr>
            <a:noAutofit/>
          </a:bodyPr>
          <a:lstStyle/>
          <a:p>
            <a:r>
              <a:rPr lang="en-US" altLang="zh-TW" sz="2400" dirty="0">
                <a:latin typeface="Times New Roman" panose="02020603050405020304" pitchFamily="18" charset="0"/>
                <a:cs typeface="Times New Roman" panose="02020603050405020304" pitchFamily="18" charset="0"/>
              </a:rPr>
              <a:t>Ackley(d=2)               </a:t>
            </a:r>
          </a:p>
        </p:txBody>
      </p:sp>
      <p:pic>
        <p:nvPicPr>
          <p:cNvPr id="4" name="圖片 3">
            <a:extLst>
              <a:ext uri="{FF2B5EF4-FFF2-40B4-BE49-F238E27FC236}">
                <a16:creationId xmlns:a16="http://schemas.microsoft.com/office/drawing/2014/main" id="{F053503A-AB42-41D0-8D0B-E2A2E55DA5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044213"/>
            <a:ext cx="4773156" cy="3579866"/>
          </a:xfrm>
          <a:prstGeom prst="rect">
            <a:avLst/>
          </a:prstGeom>
        </p:spPr>
      </p:pic>
      <p:pic>
        <p:nvPicPr>
          <p:cNvPr id="7" name="圖片 6">
            <a:extLst>
              <a:ext uri="{FF2B5EF4-FFF2-40B4-BE49-F238E27FC236}">
                <a16:creationId xmlns:a16="http://schemas.microsoft.com/office/drawing/2014/main" id="{054F541C-CBF2-458E-9807-D4654B8C83E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13306" y="2151059"/>
            <a:ext cx="4630693" cy="3473020"/>
          </a:xfrm>
          <a:prstGeom prst="rect">
            <a:avLst/>
          </a:prstGeom>
        </p:spPr>
      </p:pic>
    </p:spTree>
    <p:extLst>
      <p:ext uri="{BB962C8B-B14F-4D97-AF65-F5344CB8AC3E}">
        <p14:creationId xmlns:p14="http://schemas.microsoft.com/office/powerpoint/2010/main" val="352002070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734957"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Simulations and Results(4/4)</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sp>
        <p:nvSpPr>
          <p:cNvPr id="10" name="內容版面配置區 5">
            <a:extLst>
              <a:ext uri="{FF2B5EF4-FFF2-40B4-BE49-F238E27FC236}">
                <a16:creationId xmlns:a16="http://schemas.microsoft.com/office/drawing/2014/main" id="{3F2D9A98-5B6A-4D4F-926B-D5A8A82D35CF}"/>
              </a:ext>
            </a:extLst>
          </p:cNvPr>
          <p:cNvSpPr>
            <a:spLocks noGrp="1"/>
          </p:cNvSpPr>
          <p:nvPr>
            <p:ph idx="1"/>
          </p:nvPr>
        </p:nvSpPr>
        <p:spPr>
          <a:xfrm>
            <a:off x="628089" y="1101982"/>
            <a:ext cx="7887821" cy="4354433"/>
          </a:xfrm>
        </p:spPr>
        <p:txBody>
          <a:bodyPr>
            <a:noAutofit/>
          </a:bodyPr>
          <a:lstStyle/>
          <a:p>
            <a:r>
              <a:rPr lang="en-US" altLang="zh-TW" sz="2400" dirty="0">
                <a:latin typeface="Times New Roman" panose="02020603050405020304" pitchFamily="18" charset="0"/>
                <a:cs typeface="Times New Roman" panose="02020603050405020304" pitchFamily="18" charset="0"/>
              </a:rPr>
              <a:t>Ackley(d=30)               </a:t>
            </a:r>
          </a:p>
        </p:txBody>
      </p:sp>
      <p:pic>
        <p:nvPicPr>
          <p:cNvPr id="4" name="圖片 3">
            <a:extLst>
              <a:ext uri="{FF2B5EF4-FFF2-40B4-BE49-F238E27FC236}">
                <a16:creationId xmlns:a16="http://schemas.microsoft.com/office/drawing/2014/main" id="{5BCB5026-9829-4FF1-A4A8-CF0ACB288F0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958368"/>
            <a:ext cx="4718310" cy="3538733"/>
          </a:xfrm>
          <a:prstGeom prst="rect">
            <a:avLst/>
          </a:prstGeom>
        </p:spPr>
      </p:pic>
      <p:pic>
        <p:nvPicPr>
          <p:cNvPr id="7" name="圖片 6">
            <a:extLst>
              <a:ext uri="{FF2B5EF4-FFF2-40B4-BE49-F238E27FC236}">
                <a16:creationId xmlns:a16="http://schemas.microsoft.com/office/drawing/2014/main" id="{8FCADDB2-44B1-4A25-B677-A1808F84275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98847" y="2047759"/>
            <a:ext cx="4572000" cy="3428999"/>
          </a:xfrm>
          <a:prstGeom prst="rect">
            <a:avLst/>
          </a:prstGeom>
        </p:spPr>
      </p:pic>
    </p:spTree>
    <p:extLst>
      <p:ext uri="{BB962C8B-B14F-4D97-AF65-F5344CB8AC3E}">
        <p14:creationId xmlns:p14="http://schemas.microsoft.com/office/powerpoint/2010/main" val="276467366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90392</TotalTime>
  <Words>787</Words>
  <Application>Microsoft Office PowerPoint</Application>
  <PresentationFormat>如螢幕大小 (4:3)</PresentationFormat>
  <Paragraphs>95</Paragraphs>
  <Slides>13</Slides>
  <Notes>13</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13</vt:i4>
      </vt:variant>
    </vt:vector>
  </HeadingPairs>
  <TitlesOfParts>
    <vt:vector size="20" baseType="lpstr">
      <vt:lpstr>STIX-Regular</vt:lpstr>
      <vt:lpstr>Arial</vt:lpstr>
      <vt:lpstr>Calibri</vt:lpstr>
      <vt:lpstr>Calibri Light</vt:lpstr>
      <vt:lpstr>Cambria Math</vt:lpstr>
      <vt:lpstr>Times New Roman</vt:lpstr>
      <vt:lpstr>Office 佈景主題</vt:lpstr>
      <vt:lpstr>Firefly Algorithm, L´evy Flights and  Global Optimization</vt:lpstr>
      <vt:lpstr>Abstract</vt:lpstr>
      <vt:lpstr>Firefly Algorithm</vt:lpstr>
      <vt:lpstr>L´evy-Flight Firefly Algorithm(1/2)</vt:lpstr>
      <vt:lpstr>L´evy-Flight Firefly Algorithm(2/2)</vt:lpstr>
      <vt:lpstr>L´evy-Flight(1/4)</vt:lpstr>
      <vt:lpstr>L´evy-Flight(2/4)</vt:lpstr>
      <vt:lpstr>L´evy-Flight(3/4)</vt:lpstr>
      <vt:lpstr>L´evy-Flight(4/4)</vt:lpstr>
      <vt:lpstr>Simulations and Results(1/4)</vt:lpstr>
      <vt:lpstr>Simulations and Results(2/4)</vt:lpstr>
      <vt:lpstr>Simulations and Results(3/4)</vt:lpstr>
      <vt:lpstr>Simulations and Results(4/4)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
  <cp:lastModifiedBy>BBOBBOX</cp:lastModifiedBy>
  <cp:revision>869</cp:revision>
  <dcterms:created xsi:type="dcterms:W3CDTF">2017-09-25T08:45:50Z</dcterms:created>
  <dcterms:modified xsi:type="dcterms:W3CDTF">2020-07-07T20:14:30Z</dcterms:modified>
</cp:coreProperties>
</file>