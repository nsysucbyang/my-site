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21" r:id="rId2"/>
    <p:sldId id="311" r:id="rId3"/>
    <p:sldId id="322" r:id="rId4"/>
    <p:sldId id="323" r:id="rId5"/>
    <p:sldId id="325" r:id="rId6"/>
    <p:sldId id="326" r:id="rId7"/>
    <p:sldId id="328" r:id="rId8"/>
    <p:sldId id="333" r:id="rId9"/>
    <p:sldId id="332" r:id="rId10"/>
    <p:sldId id="330" r:id="rId11"/>
    <p:sldId id="334" r:id="rId12"/>
    <p:sldId id="335" r:id="rId13"/>
    <p:sldId id="32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3971" autoAdjust="0"/>
  </p:normalViewPr>
  <p:slideViewPr>
    <p:cSldViewPr snapToGrid="0">
      <p:cViewPr varScale="1">
        <p:scale>
          <a:sx n="108" d="100"/>
          <a:sy n="108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聖胡安是美國自治領地波多黎各的首府和最大城市</a:t>
            </a:r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1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2020/6/16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148" y="985421"/>
            <a:ext cx="8348184" cy="1175884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Ranking and Allocation Heuristics for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Schedules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993" y="2819042"/>
            <a:ext cx="8536249" cy="927245"/>
          </a:xfrm>
        </p:spPr>
        <p:txBody>
          <a:bodyPr>
            <a:no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Kuo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-Chan Huang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-Han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Tsai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192159" y="5487972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Chih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-Kai Wu</a:t>
            </a:r>
          </a:p>
          <a:p>
            <a:pPr algn="r"/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6.15, 2020.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4277" y="4003914"/>
            <a:ext cx="82244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2016 International Computer Symposium (ICS), 15-17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Dec, </a:t>
            </a:r>
            <a:r>
              <a:rPr lang="es-E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Chiayi, </a:t>
            </a:r>
            <a:r>
              <a:rPr lang="es-E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Taiwan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5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844067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ranking and allocation are two major steps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list-based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scheduling. This paper explores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various possibilities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evaluates recent approaches in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literature, and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several new task ranking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heuristics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series of simulation experiments have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been conducted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proposed heuristics.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 that effectiveness of task ranking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allocation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heuristics largely depends on the characteristics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workflows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scheduled, and our new scheduling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heuristics can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 previous methods when dealing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workflows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high CCR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Communication-to-Computation Ratio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values.</a:t>
            </a:r>
            <a:endParaRPr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15855" cy="1348264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Earliest Finish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Time(PEFT)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713390"/>
                <a:ext cx="8753383" cy="45683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Rank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的排名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𝑟𝑎𝑛𝑘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𝑜𝑐𝑡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𝑂𝐶𝑇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𝑠𝑢𝑐𝑐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𝑂𝐶𝑇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選擇放入哪個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Processors</a:t>
                </a:r>
              </a:p>
              <a:p>
                <a:pPr marL="0" indent="0">
                  <a:buNone/>
                </a:pP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𝐸𝐹𝑇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𝐸𝐹𝑇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713390"/>
                <a:ext cx="8753383" cy="4568333"/>
              </a:xfrm>
              <a:blipFill>
                <a:blip r:embed="rId2"/>
                <a:stretch>
                  <a:fillRect l="-1045" t="-18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753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Min-Max OCT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68551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Rank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的排名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𝑟𝑎𝑛𝑘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𝑜𝑐𝑡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𝑂𝐶𝑇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altLang="zh-TW" sz="24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sz="24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𝑠𝑢𝑐𝑐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b="0" i="0" smtClean="0">
                                          <a:latin typeface="Cambria Math" panose="02040503050406030204" pitchFamily="18" charset="0"/>
                                        </a:rPr>
                                        <m:t>ax</m:t>
                                      </m:r>
                                    </m:e>
                                    <m:lim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𝑂𝐶𝑇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選擇放入哪個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Processors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𝐸𝐹𝑇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𝐸𝐹𝑇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sz="16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685514"/>
              </a:xfrm>
              <a:blipFill>
                <a:blip r:embed="rId2"/>
                <a:stretch>
                  <a:fillRect l="-1074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740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42" y="1690689"/>
            <a:ext cx="4538029" cy="4351338"/>
          </a:xfrm>
        </p:spPr>
      </p:pic>
    </p:spTree>
    <p:extLst>
      <p:ext uri="{BB962C8B-B14F-4D97-AF65-F5344CB8AC3E}">
        <p14:creationId xmlns:p14="http://schemas.microsoft.com/office/powerpoint/2010/main" val="369878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3" t="1131" r="2226" b="-1131"/>
          <a:stretch/>
        </p:blipFill>
        <p:spPr>
          <a:xfrm>
            <a:off x="0" y="2874216"/>
            <a:ext cx="9167055" cy="2603305"/>
          </a:xfrm>
        </p:spPr>
      </p:pic>
    </p:spTree>
    <p:extLst>
      <p:ext uri="{BB962C8B-B14F-4D97-AF65-F5344CB8AC3E}">
        <p14:creationId xmlns:p14="http://schemas.microsoft.com/office/powerpoint/2010/main" val="76550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 (PEFT)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內容版面配置區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55" y="1690689"/>
            <a:ext cx="4665684" cy="4239594"/>
          </a:xfrm>
        </p:spPr>
      </p:pic>
    </p:spTree>
    <p:extLst>
      <p:ext uri="{BB962C8B-B14F-4D97-AF65-F5344CB8AC3E}">
        <p14:creationId xmlns:p14="http://schemas.microsoft.com/office/powerpoint/2010/main" val="269530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(PEFT)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" y="1852257"/>
                <a:ext cx="9028590" cy="416680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 smtClean="0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1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𝑠𝑢𝑐𝑐</m:t>
                              </m:r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10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𝑂𝐶𝑇</m:t>
                                  </m:r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1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16,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1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0+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altLang="zh-TW" sz="210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+0,0+50+173,0+54+173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  <m:t>58</m:t>
                              </m:r>
                            </m:e>
                          </m:d>
                        </m:e>
                      </m:func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=58</m:t>
                      </m:r>
                    </m:oMath>
                  </m:oMathPara>
                </a14:m>
                <a:endParaRPr lang="en-US" altLang="zh-TW" sz="21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1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58+70+0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,5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60+482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,5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4+65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482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</m:d>
                        </m:e>
                      </m:func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altLang="zh-TW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375</m:t>
                      </m:r>
                    </m:oMath>
                  </m:oMathPara>
                </a14:m>
                <a:endParaRPr lang="en-US" altLang="zh-TW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491</m:t>
                      </m:r>
                    </m:oMath>
                  </m:oMathPara>
                </a14:m>
                <a:endParaRPr lang="en-US" altLang="zh-TW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10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𝑂𝐶𝑇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1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10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TW" sz="21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unc>
                                    <m:func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2100">
                                              <a:latin typeface="Cambria Math" panose="02040503050406030204" pitchFamily="18" charset="0"/>
                                            </a:rPr>
                                            <m:t>min</m:t>
                                          </m:r>
                                        </m:e>
                                        <m:lim>
                                          <m:sSub>
                                            <m:sSub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𝑂𝐶𝑇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sz="21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8</m:t>
                                              </m:r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sz="21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8</m:t>
                                              </m:r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1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375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0+0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 321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94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+82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4 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 347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102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+82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1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491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0+0 , 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21+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4+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332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 , 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459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37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332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(485,531)</m:t>
                          </m:r>
                        </m:e>
                      </m:fun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852257"/>
                <a:ext cx="9028590" cy="41668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80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(PEFT)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627" y="1779394"/>
            <a:ext cx="9232627" cy="1008195"/>
          </a:xfrm>
        </p:spPr>
      </p:pic>
    </p:spTree>
    <p:extLst>
      <p:ext uri="{BB962C8B-B14F-4D97-AF65-F5344CB8AC3E}">
        <p14:creationId xmlns:p14="http://schemas.microsoft.com/office/powerpoint/2010/main" val="96978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(Min-Max OCT)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71" y="1772582"/>
            <a:ext cx="4762916" cy="4328937"/>
          </a:xfrm>
        </p:spPr>
      </p:pic>
    </p:spTree>
    <p:extLst>
      <p:ext uri="{BB962C8B-B14F-4D97-AF65-F5344CB8AC3E}">
        <p14:creationId xmlns:p14="http://schemas.microsoft.com/office/powerpoint/2010/main" val="77797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Min-Max OCT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" y="1852257"/>
                <a:ext cx="9028590" cy="416680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 smtClean="0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1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100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𝑠𝑢𝑐𝑐</m:t>
                              </m:r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10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100" b="0" i="0" smtClean="0">
                                          <a:latin typeface="Cambria Math" panose="02040503050406030204" pitchFamily="18" charset="0"/>
                                        </a:rPr>
                                        <m:t>ax</m:t>
                                      </m:r>
                                    </m:e>
                                    <m:lim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𝑂𝐶𝑇</m:t>
                                  </m:r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1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sz="2100" i="1">
                        <a:latin typeface="Cambria Math" panose="02040503050406030204" pitchFamily="18" charset="0"/>
                      </a:rPr>
                      <m:t>𝑂𝐶𝑇</m:t>
                    </m:r>
                    <m:d>
                      <m:dPr>
                        <m:ctrlP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  <m:t>16,</m:t>
                        </m:r>
                        <m:sSub>
                          <m:sSubPr>
                            <m:ctrlPr>
                              <a:rPr lang="en-US" altLang="zh-TW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1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1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1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1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TW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100" b="0" i="1" smtClean="0">
                                        <a:latin typeface="Cambria Math" panose="02040503050406030204" pitchFamily="18" charset="0"/>
                                      </a:rPr>
                                      <m:t>0+</m:t>
                                    </m:r>
                                    <m:r>
                                      <a:rPr lang="en-US" altLang="zh-TW" sz="21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altLang="zh-TW" sz="210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altLang="zh-TW" sz="2100" b="0" i="1" smtClean="0">
                                        <a:latin typeface="Cambria Math" panose="02040503050406030204" pitchFamily="18" charset="0"/>
                                      </a:rPr>
                                      <m:t>+0,0+50+173,0+54+173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  <m:r>
                      <a:rPr lang="en-US" altLang="zh-TW" sz="21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sz="2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1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sz="2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100" b="0" i="1" smtClean="0">
                                <a:latin typeface="Cambria Math" panose="02040503050406030204" pitchFamily="18" charset="0"/>
                              </a:rPr>
                              <m:t>227</m:t>
                            </m:r>
                          </m:e>
                        </m:d>
                      </m:e>
                    </m:func>
                    <m:r>
                      <a:rPr lang="en-US" altLang="zh-TW" sz="21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227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1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227+70+0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231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60+482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10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31+65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482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  <m:t>778</m:t>
                              </m:r>
                            </m:e>
                          </m:d>
                        </m:e>
                      </m:func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77</m:t>
                      </m:r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altLang="zh-TW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2539</m:t>
                      </m:r>
                    </m:oMath>
                  </m:oMathPara>
                </a14:m>
                <a:endParaRPr lang="en-US" altLang="zh-TW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1750</m:t>
                      </m:r>
                    </m:oMath>
                  </m:oMathPara>
                </a14:m>
                <a:endParaRPr lang="en-US" altLang="zh-TW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𝑂𝐶𝑇</m:t>
                      </m:r>
                      <m:d>
                        <m:d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altLang="zh-TW" sz="21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10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100" b="0" i="0" smtClean="0">
                                          <a:latin typeface="Cambria Math" panose="02040503050406030204" pitchFamily="18" charset="0"/>
                                        </a:rPr>
                                        <m:t>ax</m:t>
                                      </m:r>
                                    </m:e>
                                    <m:lim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𝑂𝐶𝑇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10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TW" sz="21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unc>
                                    <m:func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2100">
                                              <a:latin typeface="Cambria Math" panose="02040503050406030204" pitchFamily="18" charset="0"/>
                                            </a:rPr>
                                            <m:t>m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2100" b="0" i="0" smtClean="0">
                                              <a:latin typeface="Cambria Math" panose="02040503050406030204" pitchFamily="18" charset="0"/>
                                            </a:rPr>
                                            <m:t>ax</m:t>
                                          </m:r>
                                        </m:e>
                                        <m:lim>
                                          <m:sSub>
                                            <m:sSub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𝑂𝐶𝑇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sz="21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8</m:t>
                                              </m:r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sz="21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8</m:t>
                                              </m:r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1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TW" sz="21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21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altLang="zh-TW" sz="21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10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100" b="0" i="0" smtClean="0">
                                      <a:latin typeface="Cambria Math" panose="02040503050406030204" pitchFamily="18" charset="0"/>
                                    </a:rPr>
                                    <m:t>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2539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0+0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 2544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94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+82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4 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 2544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102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+82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unc>
                                <m:funcPr>
                                  <m:ctrlPr>
                                    <a:rPr lang="en-US" altLang="zh-TW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10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100" b="0" i="0" smtClean="0">
                                      <a:latin typeface="Cambria Math" panose="02040503050406030204" pitchFamily="18" charset="0"/>
                                    </a:rPr>
                                    <m:t>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1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1750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0+0 , 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1750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4+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332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 , 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1746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37</m:t>
                                      </m:r>
                                      <m:r>
                                        <a:rPr lang="en-US" altLang="zh-TW" sz="2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100" b="0" i="1" smtClean="0">
                                          <a:latin typeface="Cambria Math" panose="02040503050406030204" pitchFamily="18" charset="0"/>
                                        </a:rPr>
                                        <m:t>332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10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altLang="zh-TW" sz="21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100" b="0" i="1" smtClean="0">
                                  <a:latin typeface="Cambria Math" panose="02040503050406030204" pitchFamily="18" charset="0"/>
                                </a:rPr>
                                <m:t>3470,2116</m:t>
                              </m:r>
                            </m:e>
                          </m:d>
                          <m:r>
                            <a:rPr lang="en-US" altLang="zh-TW" sz="2100" b="0" i="1" smtClean="0">
                              <a:latin typeface="Cambria Math" panose="02040503050406030204" pitchFamily="18" charset="0"/>
                            </a:rPr>
                            <m:t>=2116</m:t>
                          </m:r>
                        </m:e>
                      </m:fun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852257"/>
                <a:ext cx="9028590" cy="41668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89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(Min-Max OCT)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711" y="1840131"/>
            <a:ext cx="9439421" cy="7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36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2" t="4386" r="6636" b="2036"/>
          <a:stretch/>
        </p:blipFill>
        <p:spPr>
          <a:xfrm>
            <a:off x="1597981" y="1686757"/>
            <a:ext cx="4181382" cy="222829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" t="1526" r="4834" b="3639"/>
          <a:stretch/>
        </p:blipFill>
        <p:spPr>
          <a:xfrm>
            <a:off x="1576775" y="4128117"/>
            <a:ext cx="4184833" cy="238809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35590" y="1686757"/>
            <a:ext cx="1064715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CCR=10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CCR=0.1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688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89170</TotalTime>
  <Words>197</Words>
  <Application>Microsoft Office PowerPoint</Application>
  <PresentationFormat>如螢幕大小 (4:3)</PresentationFormat>
  <Paragraphs>61</Paragraphs>
  <Slides>13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Task Ranking and Allocation Heuristics for Efficient Workflow Schedules</vt:lpstr>
      <vt:lpstr>Abstract </vt:lpstr>
      <vt:lpstr>Predict Earliest Finish Time(PEFT)</vt:lpstr>
      <vt:lpstr>Min-Max OCT</vt:lpstr>
      <vt:lpstr>Evaluation</vt:lpstr>
      <vt:lpstr>Evaluation</vt:lpstr>
      <vt:lpstr>Evaluation  (PEFT)</vt:lpstr>
      <vt:lpstr>Evaluation (PEFT)</vt:lpstr>
      <vt:lpstr>Evaluation (PEFT)</vt:lpstr>
      <vt:lpstr>Evaluation (Min-Max OCT)</vt:lpstr>
      <vt:lpstr>Evaluation (Min-Max OCT)</vt:lpstr>
      <vt:lpstr>Evaluation (Min-Max OCT)</vt:lpstr>
      <vt:lpstr>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智愷 吳</cp:lastModifiedBy>
  <cp:revision>799</cp:revision>
  <dcterms:created xsi:type="dcterms:W3CDTF">2017-09-25T08:45:50Z</dcterms:created>
  <dcterms:modified xsi:type="dcterms:W3CDTF">2020-06-16T10:32:42Z</dcterms:modified>
</cp:coreProperties>
</file>