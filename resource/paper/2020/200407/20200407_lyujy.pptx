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3" r:id="rId3"/>
    <p:sldId id="257" r:id="rId4"/>
    <p:sldId id="341" r:id="rId5"/>
    <p:sldId id="338" r:id="rId6"/>
    <p:sldId id="339" r:id="rId7"/>
    <p:sldId id="330" r:id="rId8"/>
    <p:sldId id="283" r:id="rId9"/>
    <p:sldId id="312" r:id="rId10"/>
    <p:sldId id="340"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2"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235" autoAdjust="0"/>
  </p:normalViewPr>
  <p:slideViewPr>
    <p:cSldViewPr snapToGrid="0">
      <p:cViewPr varScale="1">
        <p:scale>
          <a:sx n="81" d="100"/>
          <a:sy n="81" d="100"/>
        </p:scale>
        <p:origin x="60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2020/4/7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384542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770397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267827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618691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4000792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2237441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2020/4/7</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2020/4/7</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367552" y="357189"/>
            <a:ext cx="10979804" cy="1826615"/>
          </a:xfrm>
        </p:spPr>
        <p:txBody>
          <a:bodyPr>
            <a:normAutofit/>
          </a:bodyPr>
          <a:lstStyle/>
          <a:p>
            <a:r>
              <a:rPr lang="en-US" altLang="zh-TW" sz="3200" b="1" dirty="0">
                <a:latin typeface="Times New Roman" panose="02020603050405020304" pitchFamily="18" charset="0"/>
                <a:cs typeface="Times New Roman" panose="02020603050405020304" pitchFamily="18" charset="0"/>
              </a:rPr>
              <a:t>Predicting MicroRNA-Disease Associations Using Network Topological Similarity Based on DeepWalk</a:t>
            </a:r>
            <a:endParaRPr lang="zh-TW" altLang="en-US" sz="32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530878" y="2183804"/>
            <a:ext cx="10979804" cy="1697113"/>
          </a:xfrm>
        </p:spPr>
        <p:txBody>
          <a:bodyPr>
            <a:normAutofit/>
          </a:bodyPr>
          <a:lstStyle/>
          <a:p>
            <a:endParaRPr lang="en-US" altLang="zh-TW" dirty="0"/>
          </a:p>
          <a:p>
            <a:r>
              <a:rPr lang="en-US" altLang="zh-TW" sz="2800" dirty="0"/>
              <a:t>Guanghui Li, Jiawei Luo, Qiu Xiao, Cheng Liang, Pingjian Ding, Buwen Cao</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367552" y="3987993"/>
            <a:ext cx="11591366" cy="138186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IEEE Access, Volume 5, 2017</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Jheng-Yan Lyu</a:t>
            </a: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Apr. 7, 2020</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80913" y="27469"/>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338460" y="584551"/>
            <a:ext cx="11370610" cy="6136924"/>
          </a:xfrm>
        </p:spPr>
        <p:txBody>
          <a:bodyPr>
            <a:noAutofit/>
          </a:bodyPr>
          <a:lstStyle/>
          <a:p>
            <a:pPr marL="0" indent="0" algn="just">
              <a:lnSpc>
                <a:spcPct val="150000"/>
              </a:lnSpc>
              <a:buNone/>
            </a:pPr>
            <a:r>
              <a:rPr lang="en-US" altLang="zh-TW" sz="2500" spc="-150" dirty="0">
                <a:latin typeface="Times New Roman" panose="02020603050405020304" pitchFamily="18" charset="0"/>
                <a:cs typeface="Times New Roman" panose="02020603050405020304" pitchFamily="18" charset="0"/>
              </a:rPr>
              <a:t>Recently, increasing experimental studies have shown that microRNAs (miRNAs) involved in multiple physiological processes are connected with several complex human diseases. Identifying human disease-related miRNAs will be useful in uncovering novel prognostic markers for cancer. Currently, several computational approaches have been developed for miRNA-disease association prediction based on the integration of additional biological information of diseases and miRNAs, such as disease semantic similarity and miRNA functional similarity. However, these methods do not work well when this information is unavailable. In this paper, we present a similarity-based miRNA-disease prediction method that enhances the existing association discovery methods through a topology-based similarity measure. DeepWalk, a deep learning method, is utilized in this paper to calculate similarities within a miRNA-disease association network.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7271" y="14569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17271" y="888513"/>
            <a:ext cx="11455990" cy="5652136"/>
          </a:xfrm>
        </p:spPr>
        <p:txBody>
          <a:bodyPr vert="horz" lIns="91440" tIns="45720" rIns="91440" bIns="45720" rtlCol="0">
            <a:noAutofit/>
          </a:bodyPr>
          <a:lstStyle/>
          <a:p>
            <a:pPr marL="0" indent="0" algn="just">
              <a:lnSpc>
                <a:spcPct val="150000"/>
              </a:lnSpc>
              <a:buNone/>
            </a:pPr>
            <a:r>
              <a:rPr lang="en-US" altLang="zh-TW" sz="2600" spc="-150" dirty="0">
                <a:latin typeface="Times New Roman" panose="02020603050405020304" pitchFamily="18" charset="0"/>
                <a:cs typeface="Times New Roman" panose="02020603050405020304" pitchFamily="18" charset="0"/>
              </a:rPr>
              <a:t>It shows superior predictive performance for 22 complex diseases, with area under the ROC curve scores ranging from 0.805 to 0.937 by using five-fold cross-validation. In addition, case studies on breast cancer, lung cancer, and prostatic cancer further justify the use of our method to discover latent miRNA-disease pairs.</a:t>
            </a: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Workflow</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endParaRPr lang="en-US" altLang="zh-TW" dirty="0"/>
          </a:p>
          <a:p>
            <a:endParaRPr lang="en-US" altLang="zh-TW" dirty="0"/>
          </a:p>
          <a:p>
            <a:endParaRPr lang="en-US" altLang="zh-TW" dirty="0"/>
          </a:p>
          <a:p>
            <a:endParaRPr lang="en-US" altLang="zh-TW" dirty="0"/>
          </a:p>
          <a:p>
            <a:pPr marL="0" indent="0">
              <a:buNone/>
            </a:pPr>
            <a:r>
              <a:rPr lang="en-US" altLang="zh-TW" dirty="0"/>
              <a:t>  </a:t>
            </a:r>
            <a:endParaRPr lang="zh-TW" altLang="en-US" dirty="0"/>
          </a:p>
        </p:txBody>
      </p:sp>
      <p:pic>
        <p:nvPicPr>
          <p:cNvPr id="5" name="圖片 4" descr="一張含有 文字, 地圖 的圖片&#10;&#10;自動產生的描述">
            <a:extLst>
              <a:ext uri="{FF2B5EF4-FFF2-40B4-BE49-F238E27FC236}">
                <a16:creationId xmlns:a16="http://schemas.microsoft.com/office/drawing/2014/main" id="{830897E4-D54A-4318-B0C8-8CCF55C2E0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7092" y="1051594"/>
            <a:ext cx="6641861" cy="5669881"/>
          </a:xfrm>
          <a:prstGeom prst="rect">
            <a:avLst/>
          </a:prstGeom>
        </p:spPr>
      </p:pic>
    </p:spTree>
    <p:extLst>
      <p:ext uri="{BB962C8B-B14F-4D97-AF65-F5344CB8AC3E}">
        <p14:creationId xmlns:p14="http://schemas.microsoft.com/office/powerpoint/2010/main" val="575776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Similarity Learning</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endParaRPr lang="en-US" altLang="zh-TW" dirty="0"/>
          </a:p>
          <a:p>
            <a:r>
              <a:rPr lang="en-US" altLang="zh-TW" dirty="0"/>
              <a:t>   </a:t>
            </a:r>
            <a:endParaRPr lang="zh-TW" altLang="en-US" dirty="0"/>
          </a:p>
        </p:txBody>
      </p:sp>
      <p:pic>
        <p:nvPicPr>
          <p:cNvPr id="6" name="圖片 5" descr="一張含有 螢幕擷取畫面 的圖片&#10;&#10;自動產生的描述">
            <a:extLst>
              <a:ext uri="{FF2B5EF4-FFF2-40B4-BE49-F238E27FC236}">
                <a16:creationId xmlns:a16="http://schemas.microsoft.com/office/drawing/2014/main" id="{9E9A8D92-DE38-4BA4-AA66-05B968796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254" y="1375501"/>
            <a:ext cx="6211452" cy="4715401"/>
          </a:xfrm>
          <a:prstGeom prst="rect">
            <a:avLst/>
          </a:prstGeom>
        </p:spPr>
      </p:pic>
      <p:pic>
        <p:nvPicPr>
          <p:cNvPr id="9" name="圖片 8" descr="一張含有 螢幕擷取畫面, 鳥 的圖片&#10;&#10;自動產生的描述">
            <a:extLst>
              <a:ext uri="{FF2B5EF4-FFF2-40B4-BE49-F238E27FC236}">
                <a16:creationId xmlns:a16="http://schemas.microsoft.com/office/drawing/2014/main" id="{6F6724AE-5FAE-4FE6-9E99-E950D307CA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13949" y="2265218"/>
            <a:ext cx="6383614" cy="2327564"/>
          </a:xfrm>
          <a:prstGeom prst="rect">
            <a:avLst/>
          </a:prstGeom>
        </p:spPr>
      </p:pic>
    </p:spTree>
    <p:extLst>
      <p:ext uri="{BB962C8B-B14F-4D97-AF65-F5344CB8AC3E}">
        <p14:creationId xmlns:p14="http://schemas.microsoft.com/office/powerpoint/2010/main" val="2680327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Similarity Learning</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r>
              <a:rPr lang="en-US" altLang="zh-TW" dirty="0"/>
              <a:t>2123</a:t>
            </a:r>
            <a:endParaRPr lang="zh-TW" altLang="en-US" dirty="0"/>
          </a:p>
        </p:txBody>
      </p:sp>
      <p:pic>
        <p:nvPicPr>
          <p:cNvPr id="5" name="圖片 4" descr="一張含有 地圖 的圖片&#10;&#10;自動產生的描述">
            <a:extLst>
              <a:ext uri="{FF2B5EF4-FFF2-40B4-BE49-F238E27FC236}">
                <a16:creationId xmlns:a16="http://schemas.microsoft.com/office/drawing/2014/main" id="{214A523B-12D3-47E0-895A-427A575397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8" y="1225755"/>
            <a:ext cx="12290961" cy="5313157"/>
          </a:xfrm>
          <a:prstGeom prst="rect">
            <a:avLst/>
          </a:prstGeom>
        </p:spPr>
      </p:pic>
    </p:spTree>
    <p:extLst>
      <p:ext uri="{BB962C8B-B14F-4D97-AF65-F5344CB8AC3E}">
        <p14:creationId xmlns:p14="http://schemas.microsoft.com/office/powerpoint/2010/main" val="82869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Similarity Learning</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endParaRPr lang="en-US" altLang="zh-TW" dirty="0"/>
          </a:p>
          <a:p>
            <a:endParaRPr lang="en-US" altLang="zh-TW" dirty="0"/>
          </a:p>
          <a:p>
            <a:endParaRPr lang="en-US" altLang="zh-TW" dirty="0"/>
          </a:p>
          <a:p>
            <a:endParaRPr lang="en-US" altLang="zh-TW" dirty="0"/>
          </a:p>
          <a:p>
            <a:endParaRPr lang="zh-TW" altLang="en-US" dirty="0"/>
          </a:p>
        </p:txBody>
      </p:sp>
      <p:pic>
        <p:nvPicPr>
          <p:cNvPr id="5" name="圖片 4" descr="一張含有 時鐘 的圖片&#10;&#10;自動產生的描述">
            <a:extLst>
              <a:ext uri="{FF2B5EF4-FFF2-40B4-BE49-F238E27FC236}">
                <a16:creationId xmlns:a16="http://schemas.microsoft.com/office/drawing/2014/main" id="{87FAECBE-6455-4C06-9592-6026C17B98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4795" y="1994674"/>
            <a:ext cx="7278116" cy="1200318"/>
          </a:xfrm>
          <a:prstGeom prst="rect">
            <a:avLst/>
          </a:prstGeom>
        </p:spPr>
      </p:pic>
      <p:pic>
        <p:nvPicPr>
          <p:cNvPr id="8" name="圖片 7" descr="一張含有 物件, 時鐘 的圖片&#10;&#10;自動產生的描述">
            <a:extLst>
              <a:ext uri="{FF2B5EF4-FFF2-40B4-BE49-F238E27FC236}">
                <a16:creationId xmlns:a16="http://schemas.microsoft.com/office/drawing/2014/main" id="{4544AF09-2D59-4CE5-9D19-BB56F0E140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68322" y="3564846"/>
            <a:ext cx="6477904" cy="1133633"/>
          </a:xfrm>
          <a:prstGeom prst="rect">
            <a:avLst/>
          </a:prstGeom>
        </p:spPr>
      </p:pic>
    </p:spTree>
    <p:extLst>
      <p:ext uri="{BB962C8B-B14F-4D97-AF65-F5344CB8AC3E}">
        <p14:creationId xmlns:p14="http://schemas.microsoft.com/office/powerpoint/2010/main" val="1962186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Similarity Learning</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199" y="1161825"/>
            <a:ext cx="11111753" cy="4996927"/>
          </a:xfrm>
        </p:spPr>
        <p:txBody>
          <a:bodyPr/>
          <a:lstStyle/>
          <a:p>
            <a:endParaRPr lang="en-US" altLang="zh-TW" dirty="0"/>
          </a:p>
          <a:p>
            <a:endParaRPr lang="en-US" altLang="zh-TW" dirty="0"/>
          </a:p>
          <a:p>
            <a:endParaRPr lang="en-US" altLang="zh-TW" dirty="0"/>
          </a:p>
          <a:p>
            <a:endParaRPr lang="en-US" altLang="zh-TW" dirty="0"/>
          </a:p>
          <a:p>
            <a:endParaRPr lang="en-US" altLang="zh-TW" dirty="0"/>
          </a:p>
          <a:p>
            <a:r>
              <a:rPr lang="en-US" altLang="zh-TW" dirty="0">
                <a:latin typeface="Times New Roman" panose="02020603050405020304" pitchFamily="18" charset="0"/>
                <a:cs typeface="Times New Roman" panose="02020603050405020304" pitchFamily="18" charset="0"/>
              </a:rPr>
              <a:t>Disease-Based Similarity Inference</a:t>
            </a:r>
            <a:endParaRPr lang="en-US" altLang="zh-TW" dirty="0"/>
          </a:p>
        </p:txBody>
      </p:sp>
      <p:pic>
        <p:nvPicPr>
          <p:cNvPr id="5" name="圖片 4" descr="一張含有 物件, 桌 的圖片&#10;&#10;自動產生的描述">
            <a:extLst>
              <a:ext uri="{FF2B5EF4-FFF2-40B4-BE49-F238E27FC236}">
                <a16:creationId xmlns:a16="http://schemas.microsoft.com/office/drawing/2014/main" id="{A16EB026-6938-477F-9BD9-2832CC4EA2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67240" y="1307189"/>
            <a:ext cx="7512385" cy="2194558"/>
          </a:xfrm>
          <a:prstGeom prst="rect">
            <a:avLst/>
          </a:prstGeom>
        </p:spPr>
      </p:pic>
      <p:pic>
        <p:nvPicPr>
          <p:cNvPr id="8" name="圖片 7" descr="一張含有 刀 的圖片&#10;&#10;自動產生的描述">
            <a:extLst>
              <a:ext uri="{FF2B5EF4-FFF2-40B4-BE49-F238E27FC236}">
                <a16:creationId xmlns:a16="http://schemas.microsoft.com/office/drawing/2014/main" id="{B81B5769-4552-4960-823A-51EE4FA07A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0074" y="4508052"/>
            <a:ext cx="7390221" cy="2085518"/>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200" dirty="0">
                <a:latin typeface="Times New Roman" panose="02020603050405020304" pitchFamily="18" charset="0"/>
                <a:cs typeface="Times New Roman" panose="02020603050405020304" pitchFamily="18" charset="0"/>
              </a:rPr>
              <a:t>Results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pic>
        <p:nvPicPr>
          <p:cNvPr id="10" name="圖片 9" descr="一張含有 螢幕擷取畫面 的圖片&#10;&#10;自動產生的描述">
            <a:extLst>
              <a:ext uri="{FF2B5EF4-FFF2-40B4-BE49-F238E27FC236}">
                <a16:creationId xmlns:a16="http://schemas.microsoft.com/office/drawing/2014/main" id="{C1412107-99FA-4AA2-B324-1092649DDC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9511" y="1265572"/>
            <a:ext cx="6682338" cy="4963497"/>
          </a:xfrm>
          <a:prstGeom prst="rect">
            <a:avLst/>
          </a:prstGeom>
        </p:spPr>
      </p:pic>
      <p:pic>
        <p:nvPicPr>
          <p:cNvPr id="8" name="內容版面配置區 7" descr="一張含有 文字, 地圖 的圖片&#10;&#10;自動產生的描述">
            <a:extLst>
              <a:ext uri="{FF2B5EF4-FFF2-40B4-BE49-F238E27FC236}">
                <a16:creationId xmlns:a16="http://schemas.microsoft.com/office/drawing/2014/main" id="{9D3E4215-8EF1-4D69-9EC7-1614521B2FED}"/>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87004" y="1265572"/>
            <a:ext cx="5965021" cy="4850220"/>
          </a:xfrm>
        </p:spPr>
      </p:pic>
    </p:spTree>
    <p:extLst>
      <p:ext uri="{BB962C8B-B14F-4D97-AF65-F5344CB8AC3E}">
        <p14:creationId xmlns:p14="http://schemas.microsoft.com/office/powerpoint/2010/main" val="42214974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200" dirty="0">
                <a:latin typeface="Times New Roman" panose="02020603050405020304" pitchFamily="18" charset="0"/>
                <a:cs typeface="Times New Roman" panose="02020603050405020304" pitchFamily="18" charset="0"/>
              </a:rPr>
              <a:t>Results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pic>
        <p:nvPicPr>
          <p:cNvPr id="5" name="內容版面配置區 4" descr="一張含有 螢幕擷取畫面 的圖片&#10;&#10;自動產生的描述">
            <a:extLst>
              <a:ext uri="{FF2B5EF4-FFF2-40B4-BE49-F238E27FC236}">
                <a16:creationId xmlns:a16="http://schemas.microsoft.com/office/drawing/2014/main" id="{0A3347EA-DF51-411E-A454-FE23CEB61E3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54290" y="1265572"/>
            <a:ext cx="10112251" cy="5090778"/>
          </a:xfrm>
        </p:spPr>
      </p:pic>
    </p:spTree>
    <p:extLst>
      <p:ext uri="{BB962C8B-B14F-4D97-AF65-F5344CB8AC3E}">
        <p14:creationId xmlns:p14="http://schemas.microsoft.com/office/powerpoint/2010/main" val="379659601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8541</TotalTime>
  <Words>277</Words>
  <Application>Microsoft Office PowerPoint</Application>
  <PresentationFormat>寬螢幕</PresentationFormat>
  <Paragraphs>52</Paragraphs>
  <Slides>10</Slides>
  <Notes>9</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10</vt:i4>
      </vt:variant>
    </vt:vector>
  </HeadingPairs>
  <TitlesOfParts>
    <vt:vector size="15" baseType="lpstr">
      <vt:lpstr>Arial</vt:lpstr>
      <vt:lpstr>Calibri</vt:lpstr>
      <vt:lpstr>Calibri Light</vt:lpstr>
      <vt:lpstr>Times New Roman</vt:lpstr>
      <vt:lpstr>Office 佈景主題</vt:lpstr>
      <vt:lpstr>Predicting MicroRNA-Disease Associations Using Network Topological Similarity Based on DeepWalk</vt:lpstr>
      <vt:lpstr>Abstract (1/2)</vt:lpstr>
      <vt:lpstr>Abstract (2/2)</vt:lpstr>
      <vt:lpstr>Workflow</vt:lpstr>
      <vt:lpstr>Similarity Learning</vt:lpstr>
      <vt:lpstr>Similarity Learning</vt:lpstr>
      <vt:lpstr>Similarity Learning</vt:lpstr>
      <vt:lpstr>Similarity Learning</vt:lpstr>
      <vt:lpstr>Results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M073040026</cp:lastModifiedBy>
  <cp:revision>1815</cp:revision>
  <dcterms:created xsi:type="dcterms:W3CDTF">2018-10-30T09:09:31Z</dcterms:created>
  <dcterms:modified xsi:type="dcterms:W3CDTF">2020-04-07T10:32:48Z</dcterms:modified>
</cp:coreProperties>
</file>