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3"/>
  </p:notesMasterIdLst>
  <p:sldIdLst>
    <p:sldId id="256" r:id="rId2"/>
    <p:sldId id="258" r:id="rId3"/>
    <p:sldId id="269" r:id="rId4"/>
    <p:sldId id="279" r:id="rId5"/>
    <p:sldId id="281" r:id="rId6"/>
    <p:sldId id="280" r:id="rId7"/>
    <p:sldId id="282" r:id="rId8"/>
    <p:sldId id="260" r:id="rId9"/>
    <p:sldId id="278" r:id="rId10"/>
    <p:sldId id="263" r:id="rId11"/>
    <p:sldId id="267" r:id="rId12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678"/>
    <p:restoredTop sz="89587"/>
  </p:normalViewPr>
  <p:slideViewPr>
    <p:cSldViewPr snapToGrid="0" snapToObjects="1">
      <p:cViewPr varScale="1">
        <p:scale>
          <a:sx n="85" d="100"/>
          <a:sy n="85" d="100"/>
        </p:scale>
        <p:origin x="110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3B8289-430C-634B-956C-93A1DD092B20}" type="datetimeFigureOut">
              <a:rPr kumimoji="1" lang="zh-TW" altLang="en-US" smtClean="0"/>
              <a:t>2020/4/7</a:t>
            </a:fld>
            <a:endParaRPr kumimoji="1" lang="zh-TW" altLang="en-US"/>
          </a:p>
        </p:txBody>
      </p:sp>
      <p:sp>
        <p:nvSpPr>
          <p:cNvPr id="4" name="投影片影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E94397-36E2-2E45-87E6-E091B69B03A8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17386072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zh-TW" altLang="en-US" dirty="0"/>
              <a:t>該</a:t>
            </a:r>
            <a:r>
              <a:rPr lang="en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IJCAI-11</a:t>
            </a:r>
            <a:r>
              <a:rPr kumimoji="1" lang="zh-TW" altLang="en-US" dirty="0"/>
              <a:t>會議在</a:t>
            </a:r>
            <a:r>
              <a:rPr lang="en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July 19, 2011 – July 22, 2011</a:t>
            </a:r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西班牙</a:t>
            </a:r>
            <a:r>
              <a:rPr lang="en" altLang="zh-TW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Barcelona</a:t>
            </a:r>
            <a:r>
              <a:rPr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巴賽隆納</a:t>
            </a:r>
            <a:endParaRPr kumimoji="1" lang="en-US" altLang="zh-CN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kumimoji="1" lang="zh-CN" alt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作者皆為中國人</a:t>
            </a: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1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22509408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" altLang="zh-TW" dirty="0">
                <a:latin typeface="NimbusRomNo9L"/>
              </a:rPr>
              <a:t>assume there are </a:t>
            </a:r>
            <a:r>
              <a:rPr lang="en" altLang="zh-TW" dirty="0">
                <a:latin typeface="CMR10"/>
              </a:rPr>
              <a:t>6 </a:t>
            </a:r>
            <a:r>
              <a:rPr lang="en" altLang="zh-TW" dirty="0">
                <a:latin typeface="NimbusRomNo9L"/>
              </a:rPr>
              <a:t>short texts,</a:t>
            </a:r>
          </a:p>
          <a:p>
            <a:r>
              <a:rPr lang="en" altLang="zh-TW" dirty="0">
                <a:latin typeface="NimbusRomNo9L"/>
              </a:rPr>
              <a:t> belonging to </a:t>
            </a:r>
            <a:r>
              <a:rPr lang="en" altLang="zh-TW" dirty="0">
                <a:latin typeface="CMR10"/>
              </a:rPr>
              <a:t>3 </a:t>
            </a:r>
            <a:r>
              <a:rPr lang="en" altLang="zh-TW" dirty="0">
                <a:latin typeface="NimbusRomNo9L"/>
              </a:rPr>
              <a:t>categories </a:t>
            </a:r>
            <a:endParaRPr lang="en" altLang="zh-TW" dirty="0"/>
          </a:p>
          <a:p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4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509440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投影片影像版面配置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備忘稿版面配置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EE94397-36E2-2E45-87E6-E091B69B03A8}" type="slidenum">
              <a:rPr kumimoji="1" lang="zh-TW" altLang="en-US" smtClean="0"/>
              <a:t>8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28630743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B84393E-5897-C742-9642-D9A052990A5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DC489EF9-A837-B54B-ACE9-C89FA3F852D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DD925F08-ED4D-DE4A-83C5-B40BA9D8D4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75561CD-17B8-2540-BD15-C9AB75C5A3F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7D7148B7-4B3B-F04F-94F3-3CAADFCC58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0247643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1061955D-0911-7F46-89A2-7B0AB9EEB6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2F87528-564D-1F4A-8902-02B0E2EB54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5724E2D-8E8D-9644-8C9D-DB1D1C78AB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E49D19FE-BC05-EE4D-AA8B-62522E6FB1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60C529EA-3208-654A-B77F-29C8F3F87F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28851735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86C73DE-6531-1248-9B32-37D78C629DB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1800AA4-3B62-BF4E-A750-7421D33FC25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31AF15-5B94-4840-AAF4-8C88249C39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490CED8-7F54-174E-98C3-FD57308E9B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704C7D3-D0B0-3D4A-ACCF-E2C5D65DED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396481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EB0910-0EB1-8D47-8A8A-C6DA98B9C46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A4EFAE1D-32F5-C744-BE03-A08D08208FC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C703AFFD-DD14-2249-87EA-D4D0F4D8A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FA9D9CF-AC65-7547-937C-462CB4B87E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2020/4/7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AD11A880-A8B0-8C45-9BBA-599FC8395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86075468-71C7-564B-AD7A-5361E550A9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324377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5C3852D-F421-7747-8DBB-0DB6DBC72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34D16B6-A3BC-F74C-95A3-90442D97E75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0FA2C45-D986-F543-82AE-0CA924B6E49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A14E94A-A453-F24C-9F3D-6509D772D2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72294A5F-C2BE-1E4A-A1B8-115A18F0B1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FF9AE945-0A1E-F844-9F27-0E69C6467A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2020/4/7</a:t>
            </a:fld>
            <a:endParaRPr kumimoji="1"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A85A71B7-7896-6444-BE7D-61E604E6BB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704A0783-9D55-FE44-831C-3B9D3276CC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19657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1641A76-0788-DF4B-AA7D-78E4E40FBB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C4F88631-6170-E741-893F-034159CE7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2020/4/7</a:t>
            </a:fld>
            <a:endParaRPr kumimoji="1"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62996335-0723-1747-9227-55FEB623B5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F42CB33A-6712-FB46-9E30-E0CEB6960B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72886931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F6D90877-E774-A949-BB52-79612810FC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2020/4/7</a:t>
            </a:fld>
            <a:endParaRPr kumimoji="1"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9EB10E54-D05D-AC49-9434-8CEBCA7907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26BDD14E-F21A-3942-85C4-674F30305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3928851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0D07E89-25A4-3F4A-88C3-2C93348345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7B6940F6-FE29-6648-A2BE-7504DBF6B4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7B68625D-6DF6-D942-A625-2C47CAC2C11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F6FFD26C-D0BD-3741-A99D-EF6E615C69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2020/4/7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B4063BE9-7877-2A4C-8EFD-CEA183E54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7F208AFB-457C-CC45-8298-46F2DA47E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52168729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7F157BA1-6B48-DE4F-9C0A-09422C6F7A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05C9B1AF-140D-3845-B81F-42558E147DD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57EB01ED-FD15-C34B-B1FC-2E35B27602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2CBCB2AB-9052-5D4E-A22E-DF5D21D448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2020/4/7</a:t>
            </a:fld>
            <a:endParaRPr kumimoji="1"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D4923C13-AB2A-9B43-850E-220EB44225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E2BA8FE-CD93-F24F-870A-60F2CACA7AB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41814185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21FBC41-076D-604D-9767-145047CFE6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220D5BC6-792B-E749-B7E0-08A763B7750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A2EF182E-7140-5D4D-88A7-840ED68907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6E41427-E252-3343-A75E-B1BA8D182E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2930D2C8-9823-1049-BDD9-711EE5734A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681265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E1840DD2-A5F5-7344-BB1C-BEBDBFDF775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4F95D08A-70C7-7245-88A1-DED901775BE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7B7C2F8-DA6F-284E-8686-4FBCAC5D47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F9C24E8-FD77-674B-9940-5378D0BFF31E}" type="datetimeFigureOut">
              <a:rPr kumimoji="1" lang="zh-TW" altLang="en-US" smtClean="0"/>
              <a:t>2020/4/7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DEFA0B-7671-7F4B-AC38-12B670365EC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44EC7011-F710-9243-8FF5-1777A21D66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238974904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81D70FF8-812F-1849-95D4-3632E65D7A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490DFF90-9F2B-6F45-AB9D-B9B660DFB2A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TW" altLang="en-US"/>
              <a:t>按一下以編輯母片文字樣式</a:t>
            </a:r>
          </a:p>
          <a:p>
            <a:pPr lvl="1"/>
            <a:r>
              <a:rPr kumimoji="1" lang="zh-TW" altLang="en-US"/>
              <a:t>第二層</a:t>
            </a:r>
          </a:p>
          <a:p>
            <a:pPr lvl="2"/>
            <a:r>
              <a:rPr kumimoji="1" lang="zh-TW" altLang="en-US"/>
              <a:t>第三層</a:t>
            </a:r>
          </a:p>
          <a:p>
            <a:pPr lvl="3"/>
            <a:r>
              <a:rPr kumimoji="1" lang="zh-TW" altLang="en-US"/>
              <a:t>第四層</a:t>
            </a:r>
          </a:p>
          <a:p>
            <a:pPr lvl="4"/>
            <a:r>
              <a:rPr kumimoji="1"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295609CE-15C5-6643-A5A9-FBB1F99B63C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F9C24E8-FD77-674B-9940-5378D0BFF31E}" type="datetimeFigureOut">
              <a:rPr kumimoji="1" lang="zh-TW" altLang="en-US" smtClean="0"/>
              <a:t>2020/4/7</a:t>
            </a:fld>
            <a:endParaRPr kumimoji="1"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44CB14FC-524A-6C4E-AA1D-1443A956A2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ED0285D5-567D-A74A-BA02-000936A8A1E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F2C09-F0D9-2B4A-AA05-75A050A60A76}" type="slidenum">
              <a:rPr kumimoji="1" lang="zh-TW" altLang="en-US" smtClean="0"/>
              <a:t>‹#›</a:t>
            </a:fld>
            <a:endParaRPr kumimoji="1" lang="zh-TW" altLang="en-US"/>
          </a:p>
        </p:txBody>
      </p:sp>
    </p:spTree>
    <p:extLst>
      <p:ext uri="{BB962C8B-B14F-4D97-AF65-F5344CB8AC3E}">
        <p14:creationId xmlns:p14="http://schemas.microsoft.com/office/powerpoint/2010/main" val="1950692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1D67D7F-00E7-9344-8042-5D9F2C926F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672420"/>
            <a:ext cx="9144000" cy="2387600"/>
          </a:xfrm>
        </p:spPr>
        <p:txBody>
          <a:bodyPr>
            <a:normAutofit fontScale="90000"/>
          </a:bodyPr>
          <a:lstStyle/>
          <a:p>
            <a:r>
              <a:rPr lang="en" altLang="zh-TW" dirty="0"/>
              <a:t>Short Text Classification Improved by Learning </a:t>
            </a:r>
            <a:br>
              <a:rPr lang="en" altLang="zh-TW" dirty="0"/>
            </a:br>
            <a:r>
              <a:rPr lang="en" altLang="zh-TW" dirty="0"/>
              <a:t>Multi-Granularity Topics 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943C5B20-21F7-DC41-814C-7D9F6199BD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6628" y="3602038"/>
            <a:ext cx="9898743" cy="1655762"/>
          </a:xfrm>
        </p:spPr>
        <p:txBody>
          <a:bodyPr>
            <a:normAutofit fontScale="92500" lnSpcReduction="10000"/>
          </a:bodyPr>
          <a:lstStyle/>
          <a:p>
            <a:r>
              <a:rPr lang="en" altLang="zh-TW" sz="2800" dirty="0"/>
              <a:t>Proceedings of the Twenty-Second International Joint Conference on Artificial Intelligence </a:t>
            </a:r>
          </a:p>
          <a:p>
            <a:endParaRPr lang="en" altLang="zh-TW" sz="2800" dirty="0"/>
          </a:p>
          <a:p>
            <a:r>
              <a:rPr lang="en" altLang="zh-TW" sz="2800" dirty="0"/>
              <a:t>Mengen Chen, </a:t>
            </a:r>
            <a:r>
              <a:rPr lang="en" altLang="zh-TW" sz="2800" dirty="0" err="1"/>
              <a:t>Xiaoming</a:t>
            </a:r>
            <a:r>
              <a:rPr lang="en" altLang="zh-TW" sz="2800" dirty="0"/>
              <a:t> </a:t>
            </a:r>
            <a:r>
              <a:rPr lang="en" altLang="zh-TW" sz="2800" dirty="0" err="1"/>
              <a:t>Jin</a:t>
            </a:r>
            <a:r>
              <a:rPr lang="en" altLang="zh-TW" sz="2800" dirty="0"/>
              <a:t>, Dou Shen</a:t>
            </a:r>
          </a:p>
        </p:txBody>
      </p:sp>
      <p:sp>
        <p:nvSpPr>
          <p:cNvPr id="5" name="文字方塊 4">
            <a:extLst>
              <a:ext uri="{FF2B5EF4-FFF2-40B4-BE49-F238E27FC236}">
                <a16:creationId xmlns:a16="http://schemas.microsoft.com/office/drawing/2014/main" id="{EEB66EE6-AF71-1643-8388-238FADD7E896}"/>
              </a:ext>
            </a:extLst>
          </p:cNvPr>
          <p:cNvSpPr txBox="1"/>
          <p:nvPr/>
        </p:nvSpPr>
        <p:spPr>
          <a:xfrm>
            <a:off x="9610725" y="6029325"/>
            <a:ext cx="23580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kumimoji="1" lang="en-US" altLang="zh-TW" dirty="0"/>
              <a:t>Present: Chia-Lin, Chen</a:t>
            </a:r>
          </a:p>
          <a:p>
            <a:r>
              <a:rPr kumimoji="1" lang="en-US" altLang="zh-TW" dirty="0"/>
              <a:t>Date: April. 7</a:t>
            </a:r>
            <a:r>
              <a:rPr kumimoji="1" lang="en-US" altLang="zh-TW" baseline="30000" dirty="0"/>
              <a:t>th</a:t>
            </a:r>
            <a:r>
              <a:rPr kumimoji="1" lang="en-US" altLang="zh-TW" dirty="0"/>
              <a:t> , 2020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2752382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DC68A8-0E16-1C4B-B914-ACA13A583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Abstract(1/2)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1BC5A51-D5D2-5543-BC8E-27CAD4E54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90688"/>
            <a:ext cx="10515600" cy="4351338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" altLang="zh-TW" dirty="0"/>
              <a:t>Understanding the rapidly growing short text is very important. </a:t>
            </a:r>
          </a:p>
          <a:p>
            <a:pPr marL="0" indent="0">
              <a:buNone/>
            </a:pPr>
            <a:r>
              <a:rPr lang="en" altLang="zh-TW" dirty="0"/>
              <a:t>Short text is different from traditional documents in its shortness</a:t>
            </a:r>
          </a:p>
          <a:p>
            <a:pPr marL="0" indent="0">
              <a:buNone/>
            </a:pPr>
            <a:r>
              <a:rPr lang="en" altLang="zh-TW" dirty="0"/>
              <a:t>and sparsity, which hinders the application of conventional machine</a:t>
            </a:r>
          </a:p>
          <a:p>
            <a:pPr marL="0" indent="0">
              <a:buNone/>
            </a:pPr>
            <a:r>
              <a:rPr lang="en" altLang="zh-TW" dirty="0"/>
              <a:t>learning and text mining algorithms. Two major approaches have been</a:t>
            </a:r>
          </a:p>
          <a:p>
            <a:pPr marL="0" indent="0">
              <a:buNone/>
            </a:pPr>
            <a:r>
              <a:rPr lang="en" altLang="zh-TW" dirty="0"/>
              <a:t>exploited to enrich the representation of short text. One is to fetch</a:t>
            </a:r>
          </a:p>
          <a:p>
            <a:pPr marL="0" indent="0">
              <a:buNone/>
            </a:pPr>
            <a:r>
              <a:rPr lang="en" altLang="zh-TW" dirty="0"/>
              <a:t>contextual information of a short text to directly add more text;</a:t>
            </a:r>
          </a:p>
          <a:p>
            <a:pPr marL="0" indent="0">
              <a:buNone/>
            </a:pPr>
            <a:r>
              <a:rPr lang="en" altLang="zh-TW" dirty="0"/>
              <a:t>the other is to derive latent topics from existing large corpus,</a:t>
            </a:r>
          </a:p>
          <a:p>
            <a:pPr marL="0" indent="0">
              <a:buNone/>
            </a:pPr>
            <a:r>
              <a:rPr lang="en" altLang="zh-TW" dirty="0"/>
              <a:t>which are used as features to enrich the representation of short text.</a:t>
            </a:r>
          </a:p>
          <a:p>
            <a:pPr marL="0" indent="0">
              <a:buNone/>
            </a:pPr>
            <a:r>
              <a:rPr lang="en" altLang="zh-TW" dirty="0"/>
              <a:t>The latter approach is elegant and efficient in most cases. </a:t>
            </a:r>
            <a:endParaRPr lang="en" altLang="zh-TW" sz="3200" dirty="0"/>
          </a:p>
        </p:txBody>
      </p:sp>
    </p:spTree>
    <p:extLst>
      <p:ext uri="{BB962C8B-B14F-4D97-AF65-F5344CB8AC3E}">
        <p14:creationId xmlns:p14="http://schemas.microsoft.com/office/powerpoint/2010/main" val="35060458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4DC68A8-0E16-1C4B-B914-ACA13A583E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Abstract(2/2)</a:t>
            </a:r>
            <a:endParaRPr kumimoji="1" lang="zh-TW" altLang="en-US" dirty="0"/>
          </a:p>
        </p:txBody>
      </p:sp>
      <p:sp>
        <p:nvSpPr>
          <p:cNvPr id="5" name="內容版面配置區 4">
            <a:extLst>
              <a:ext uri="{FF2B5EF4-FFF2-40B4-BE49-F238E27FC236}">
                <a16:creationId xmlns:a16="http://schemas.microsoft.com/office/drawing/2014/main" id="{21BC5A51-D5D2-5543-BC8E-27CAD4E541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15659"/>
            <a:ext cx="10515600" cy="5124984"/>
          </a:xfrm>
        </p:spPr>
        <p:txBody>
          <a:bodyPr>
            <a:normAutofit fontScale="92500" lnSpcReduction="10000"/>
          </a:bodyPr>
          <a:lstStyle/>
          <a:p>
            <a:pPr marL="0" indent="0">
              <a:buNone/>
            </a:pPr>
            <a:r>
              <a:rPr lang="en" altLang="zh-TW" sz="3200" dirty="0"/>
              <a:t>The major trend along this direction is to derive latent topics of</a:t>
            </a:r>
          </a:p>
          <a:p>
            <a:pPr marL="0" indent="0">
              <a:buNone/>
            </a:pPr>
            <a:r>
              <a:rPr lang="en" altLang="zh-TW" sz="3200" dirty="0"/>
              <a:t>certain granularity through well-known topic models such as latent</a:t>
            </a:r>
          </a:p>
          <a:p>
            <a:pPr marL="0" indent="0">
              <a:buNone/>
            </a:pPr>
            <a:r>
              <a:rPr lang="en" altLang="zh-TW" sz="3200" dirty="0"/>
              <a:t>Dirichlet allocation (LDA). However, topics of certain granularity</a:t>
            </a:r>
          </a:p>
          <a:p>
            <a:pPr marL="0" indent="0">
              <a:buNone/>
            </a:pPr>
            <a:r>
              <a:rPr lang="en" altLang="zh-TW" sz="3200" dirty="0"/>
              <a:t>are usually not sufficient to set up effective feature spaces. </a:t>
            </a:r>
          </a:p>
          <a:p>
            <a:pPr marL="0" indent="0">
              <a:buNone/>
            </a:pPr>
            <a:r>
              <a:rPr lang="en" altLang="zh-TW" sz="3200" dirty="0"/>
              <a:t>In this paper, we move forward along this direction by proposing</a:t>
            </a:r>
          </a:p>
          <a:p>
            <a:pPr marL="0" indent="0">
              <a:buNone/>
            </a:pPr>
            <a:r>
              <a:rPr lang="en" altLang="zh-TW" sz="3200" dirty="0"/>
              <a:t>an method to leverage topics at multiple granularity, which can</a:t>
            </a:r>
          </a:p>
          <a:p>
            <a:pPr marL="0" indent="0">
              <a:buNone/>
            </a:pPr>
            <a:r>
              <a:rPr lang="en" altLang="zh-TW" sz="3200" dirty="0"/>
              <a:t>model the short text more precisely. Taking short text classification</a:t>
            </a:r>
          </a:p>
          <a:p>
            <a:pPr marL="0" indent="0">
              <a:buNone/>
            </a:pPr>
            <a:r>
              <a:rPr lang="en" altLang="zh-TW" sz="3200" dirty="0"/>
              <a:t>as an example, we compared our proposed method with the state-of-the-art baseline over one open data set. Our method reduced the classification error by 20.25 % and 16.68 % respectively on two classifiers.</a:t>
            </a:r>
            <a:endParaRPr lang="zh-TW" altLang="en-US" sz="3200" dirty="0"/>
          </a:p>
        </p:txBody>
      </p:sp>
    </p:spTree>
    <p:extLst>
      <p:ext uri="{BB962C8B-B14F-4D97-AF65-F5344CB8AC3E}">
        <p14:creationId xmlns:p14="http://schemas.microsoft.com/office/powerpoint/2010/main" val="37291394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E3D7E9-33E9-5A4D-BA5C-4B97D26CE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/>
              <a:t>Multi-Granularity Framework(1/2) </a:t>
            </a:r>
            <a:endParaRPr kumimoji="1" lang="zh-TW" altLang="en-US" dirty="0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D97EE816-1DA1-E24D-BAB0-2852E3D1C46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9293" y="2098623"/>
            <a:ext cx="10130863" cy="42211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243925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EE3D7E9-33E9-5A4D-BA5C-4B97D26CED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" altLang="zh-TW" dirty="0"/>
              <a:t>Multi-Granularity Framework(2/2) </a:t>
            </a:r>
            <a:endParaRPr kumimoji="1" lang="zh-TW" altLang="en-US" dirty="0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1CB60B54-D15F-8D43-B9BD-B0A3C8B1C2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69874" y="1603572"/>
            <a:ext cx="6544145" cy="488930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758278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圖片 3">
            <a:extLst>
              <a:ext uri="{FF2B5EF4-FFF2-40B4-BE49-F238E27FC236}">
                <a16:creationId xmlns:a16="http://schemas.microsoft.com/office/drawing/2014/main" id="{638D9102-266B-8D44-8268-ABDE60B88A4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49211" y="110551"/>
            <a:ext cx="5458460" cy="4026733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82048B76-43A4-9646-A073-53096CB71DA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4331" y="0"/>
            <a:ext cx="5458460" cy="4714762"/>
          </a:xfrm>
          <a:prstGeom prst="rect">
            <a:avLst/>
          </a:prstGeom>
        </p:spPr>
      </p:pic>
      <p:pic>
        <p:nvPicPr>
          <p:cNvPr id="6" name="圖片 5">
            <a:extLst>
              <a:ext uri="{FF2B5EF4-FFF2-40B4-BE49-F238E27FC236}">
                <a16:creationId xmlns:a16="http://schemas.microsoft.com/office/drawing/2014/main" id="{6638C52A-BAF9-2C46-B1BE-907CD66BF457}"/>
              </a:ext>
            </a:extLst>
          </p:cNvPr>
          <p:cNvPicPr>
            <a:picLocks noChangeAspect="1"/>
          </p:cNvPicPr>
          <p:nvPr/>
        </p:nvPicPr>
        <p:blipFill rotWithShape="1">
          <a:blip r:embed="rId4"/>
          <a:srcRect t="18033"/>
          <a:stretch/>
        </p:blipFill>
        <p:spPr>
          <a:xfrm>
            <a:off x="217076" y="5261547"/>
            <a:ext cx="5419351" cy="419725"/>
          </a:xfrm>
          <a:prstGeom prst="rect">
            <a:avLst/>
          </a:prstGeom>
        </p:spPr>
      </p:pic>
      <p:pic>
        <p:nvPicPr>
          <p:cNvPr id="7" name="圖片 6">
            <a:extLst>
              <a:ext uri="{FF2B5EF4-FFF2-40B4-BE49-F238E27FC236}">
                <a16:creationId xmlns:a16="http://schemas.microsoft.com/office/drawing/2014/main" id="{D1B26AAB-CDE8-A540-9115-808ED9A14BD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49126" y="5137265"/>
            <a:ext cx="4821058" cy="60084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26566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圖片 5">
            <a:extLst>
              <a:ext uri="{FF2B5EF4-FFF2-40B4-BE49-F238E27FC236}">
                <a16:creationId xmlns:a16="http://schemas.microsoft.com/office/drawing/2014/main" id="{C07CA58F-D183-F34A-B3BE-927D21BA8CE6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2590" b="21479"/>
          <a:stretch/>
        </p:blipFill>
        <p:spPr>
          <a:xfrm>
            <a:off x="1628271" y="3374312"/>
            <a:ext cx="8935457" cy="10456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28648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97DD19-D6AD-E544-A66E-E6650810D5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4186" y="31048"/>
            <a:ext cx="4327716" cy="1108204"/>
          </a:xfrm>
        </p:spPr>
        <p:txBody>
          <a:bodyPr/>
          <a:lstStyle/>
          <a:p>
            <a:r>
              <a:rPr kumimoji="1" lang="en-US" altLang="zh-TW" dirty="0"/>
              <a:t>Experiment(1/3)</a:t>
            </a:r>
            <a:endParaRPr kumimoji="1" lang="zh-TW" altLang="en-US" dirty="0"/>
          </a:p>
        </p:txBody>
      </p:sp>
      <p:pic>
        <p:nvPicPr>
          <p:cNvPr id="9" name="圖片 8">
            <a:extLst>
              <a:ext uri="{FF2B5EF4-FFF2-40B4-BE49-F238E27FC236}">
                <a16:creationId xmlns:a16="http://schemas.microsoft.com/office/drawing/2014/main" id="{C8AF6A28-345D-5A45-AC13-D401C3B338E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17179" y="1139252"/>
            <a:ext cx="6557641" cy="53903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6131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標題 1">
            <a:extLst>
              <a:ext uri="{FF2B5EF4-FFF2-40B4-BE49-F238E27FC236}">
                <a16:creationId xmlns:a16="http://schemas.microsoft.com/office/drawing/2014/main" id="{E573A73E-6C21-AB4D-9AE7-33EE8EA721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1617" y="293959"/>
            <a:ext cx="8197747" cy="1031604"/>
          </a:xfrm>
        </p:spPr>
        <p:txBody>
          <a:bodyPr/>
          <a:lstStyle/>
          <a:p>
            <a:r>
              <a:rPr kumimoji="1" lang="en-US" altLang="zh-TW" dirty="0"/>
              <a:t>Experiment(2/3)</a:t>
            </a:r>
            <a:endParaRPr kumimoji="1" lang="zh-TW" altLang="en-US" dirty="0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D5E750E3-807D-D34D-9CD4-6FC8539DD71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617" y="1325563"/>
            <a:ext cx="11408765" cy="1428196"/>
          </a:xfrm>
          <a:prstGeom prst="rect">
            <a:avLst/>
          </a:prstGeom>
        </p:spPr>
      </p:pic>
      <p:pic>
        <p:nvPicPr>
          <p:cNvPr id="5" name="圖片 4">
            <a:extLst>
              <a:ext uri="{FF2B5EF4-FFF2-40B4-BE49-F238E27FC236}">
                <a16:creationId xmlns:a16="http://schemas.microsoft.com/office/drawing/2014/main" id="{5C60B253-FB38-0E4C-90AD-D775A2CDB1A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942" b="50271"/>
          <a:stretch/>
        </p:blipFill>
        <p:spPr>
          <a:xfrm>
            <a:off x="199504" y="3143416"/>
            <a:ext cx="5602780" cy="265886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02A03084-43CF-EE41-8EA0-0C1845DAEBB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3884" t="51437"/>
          <a:stretch/>
        </p:blipFill>
        <p:spPr>
          <a:xfrm>
            <a:off x="6389716" y="3143416"/>
            <a:ext cx="5602780" cy="259492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7411269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697DD19-D6AD-E544-A66E-E6650810D5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zh-TW" dirty="0"/>
              <a:t>Experiment(3/3)</a:t>
            </a:r>
            <a:endParaRPr kumimoji="1" lang="zh-TW" altLang="en-US" dirty="0"/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FB321979-B9CF-FF42-9F76-8EA399EA83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699" y="2098623"/>
            <a:ext cx="11716202" cy="2537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590405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C90D893F-EB37-6D4E-9A98-47C41E2985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38238"/>
            <a:ext cx="10515600" cy="2852737"/>
          </a:xfrm>
        </p:spPr>
        <p:txBody>
          <a:bodyPr/>
          <a:lstStyle/>
          <a:p>
            <a:pPr algn="ctr"/>
            <a:r>
              <a:rPr kumimoji="1" lang="en-US" altLang="zh-TW" dirty="0"/>
              <a:t>Thank you!</a:t>
            </a:r>
            <a:endParaRPr kumimoji="1"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40104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1170</TotalTime>
  <Words>326</Words>
  <Application>Microsoft Macintosh PowerPoint</Application>
  <PresentationFormat>寬螢幕</PresentationFormat>
  <Paragraphs>39</Paragraphs>
  <Slides>11</Slides>
  <Notes>3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11</vt:i4>
      </vt:variant>
    </vt:vector>
  </HeadingPairs>
  <TitlesOfParts>
    <vt:vector size="17" baseType="lpstr">
      <vt:lpstr>CMR10</vt:lpstr>
      <vt:lpstr>NimbusRomNo9L</vt:lpstr>
      <vt:lpstr>Arial</vt:lpstr>
      <vt:lpstr>Calibri</vt:lpstr>
      <vt:lpstr>Calibri Light</vt:lpstr>
      <vt:lpstr>Office 佈景主題</vt:lpstr>
      <vt:lpstr>Short Text Classification Improved by Learning  Multi-Granularity Topics </vt:lpstr>
      <vt:lpstr>Abstract(1/2)</vt:lpstr>
      <vt:lpstr>Abstract(2/2)</vt:lpstr>
      <vt:lpstr>Multi-Granularity Framework(1/2) </vt:lpstr>
      <vt:lpstr>Multi-Granularity Framework(2/2) </vt:lpstr>
      <vt:lpstr>PowerPoint 簡報</vt:lpstr>
      <vt:lpstr>PowerPoint 簡報</vt:lpstr>
      <vt:lpstr>Experiment(1/3)</vt:lpstr>
      <vt:lpstr>Experiment(2/3)</vt:lpstr>
      <vt:lpstr>Experiment(3/3)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APPROXIMATE K-NEAREST NEIGHBOUR BASED SPATIAL CLUSTERING USING K-D TREE </dc:title>
  <dc:creator>M073040105</dc:creator>
  <cp:lastModifiedBy>M073040105</cp:lastModifiedBy>
  <cp:revision>263</cp:revision>
  <dcterms:created xsi:type="dcterms:W3CDTF">2020-01-08T16:42:43Z</dcterms:created>
  <dcterms:modified xsi:type="dcterms:W3CDTF">2020-04-07T09:34:37Z</dcterms:modified>
</cp:coreProperties>
</file>