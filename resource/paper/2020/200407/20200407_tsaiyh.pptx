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78" r:id="rId6"/>
    <p:sldId id="262" r:id="rId7"/>
    <p:sldId id="281" r:id="rId8"/>
    <p:sldId id="279" r:id="rId9"/>
    <p:sldId id="283" r:id="rId10"/>
    <p:sldId id="280" r:id="rId11"/>
    <p:sldId id="282" r:id="rId12"/>
    <p:sldId id="268" r:id="rId13"/>
    <p:sldId id="284" r:id="rId14"/>
    <p:sldId id="285" r:id="rId15"/>
    <p:sldId id="286" r:id="rId16"/>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62"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2020/4/7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xmlns=""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2020/4/7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2020/4/7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ea typeface="標楷體" pitchFamily="65" charset="-120"/>
                <a:cs typeface="Times New Roman" pitchFamily="18" charset="0"/>
              </a:rPr>
              <a:t>Selecting the Right Similarity-Scoring Matrix</a:t>
            </a:r>
            <a:endParaRPr lang="en-US" altLang="zh-TW" sz="3200" dirty="0">
              <a:latin typeface="Times New Roman" pitchFamily="18" charset="0"/>
              <a:ea typeface="標楷體" pitchFamily="65" charset="-120"/>
              <a:cs typeface="Times New Roman" pitchFamily="18" charset="0"/>
            </a:endParaRPr>
          </a:p>
        </p:txBody>
      </p:sp>
      <p:sp>
        <p:nvSpPr>
          <p:cNvPr id="3" name="副標題 2">
            <a:extLst>
              <a:ext uri="{FF2B5EF4-FFF2-40B4-BE49-F238E27FC236}">
                <a16:creationId xmlns:a16="http://schemas.microsoft.com/office/drawing/2014/main" xmlns=""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sz="2000" dirty="0" smtClean="0">
                <a:solidFill>
                  <a:schemeClr val="tx1"/>
                </a:solidFill>
                <a:latin typeface="Times New Roman" pitchFamily="18" charset="0"/>
                <a:ea typeface="標楷體" pitchFamily="65" charset="-120"/>
                <a:cs typeface="Times New Roman" pitchFamily="18" charset="0"/>
              </a:rPr>
              <a:t>William R. Pearson</a:t>
            </a:r>
            <a:endParaRPr lang="en-US" altLang="zh-TW" dirty="0">
              <a:solidFill>
                <a:schemeClr val="tx1"/>
              </a:solidFill>
              <a:latin typeface="Times New Roman" pitchFamily="18" charset="0"/>
              <a:ea typeface="標楷體" pitchFamily="65" charset="-120"/>
              <a:cs typeface="Times New Roman" pitchFamily="18" charset="0"/>
            </a:endParaRPr>
          </a:p>
        </p:txBody>
      </p:sp>
      <p:sp>
        <p:nvSpPr>
          <p:cNvPr id="8" name="文字方塊 7">
            <a:extLst>
              <a:ext uri="{FF2B5EF4-FFF2-40B4-BE49-F238E27FC236}">
                <a16:creationId xmlns:a16="http://schemas.microsoft.com/office/drawing/2014/main" xmlns="" id="{8F2527E8-BB8F-41FB-8AF1-03DCC96BC069}"/>
              </a:ext>
            </a:extLst>
          </p:cNvPr>
          <p:cNvSpPr txBox="1"/>
          <p:nvPr/>
        </p:nvSpPr>
        <p:spPr>
          <a:xfrm>
            <a:off x="928662" y="3873343"/>
            <a:ext cx="7847021" cy="461665"/>
          </a:xfrm>
          <a:prstGeom prst="rect">
            <a:avLst/>
          </a:prstGeom>
          <a:noFill/>
        </p:spPr>
        <p:txBody>
          <a:bodyPr wrap="none" rtlCol="0">
            <a:spAutoFit/>
          </a:bodyPr>
          <a:lstStyle/>
          <a:p>
            <a:pPr algn="ctr"/>
            <a:r>
              <a:rPr lang="en-US" sz="2400" dirty="0" smtClean="0">
                <a:latin typeface="Times New Roman" pitchFamily="18" charset="0"/>
                <a:cs typeface="Times New Roman" pitchFamily="18" charset="0"/>
              </a:rPr>
              <a:t>Current Protocols </a:t>
            </a:r>
            <a:r>
              <a:rPr lang="en-US" sz="2400" smtClean="0">
                <a:latin typeface="Times New Roman" pitchFamily="18" charset="0"/>
                <a:cs typeface="Times New Roman" pitchFamily="18" charset="0"/>
              </a:rPr>
              <a:t>in </a:t>
            </a:r>
            <a:r>
              <a:rPr lang="en-US" sz="2400" smtClean="0">
                <a:latin typeface="Times New Roman" pitchFamily="18" charset="0"/>
                <a:cs typeface="Times New Roman" pitchFamily="18" charset="0"/>
              </a:rPr>
              <a:t>Bioinformatics 3.5.1-3.5.9</a:t>
            </a:r>
            <a:r>
              <a:rPr lang="en-US" sz="2400" dirty="0" smtClean="0">
                <a:latin typeface="Times New Roman" pitchFamily="18" charset="0"/>
                <a:cs typeface="Times New Roman" pitchFamily="18" charset="0"/>
              </a:rPr>
              <a:t>, October 2013</a:t>
            </a:r>
            <a:endParaRPr lang="en-US" altLang="zh-TW" sz="2200" dirty="0">
              <a:latin typeface="Times New Roman" pitchFamily="18" charset="0"/>
              <a:ea typeface="標楷體" pitchFamily="65" charset="-120"/>
              <a:cs typeface="Times New Roman" pitchFamily="18" charset="0"/>
            </a:endParaRPr>
          </a:p>
        </p:txBody>
      </p:sp>
      <p:sp>
        <p:nvSpPr>
          <p:cNvPr id="9" name="文字方塊 8">
            <a:extLst>
              <a:ext uri="{FF2B5EF4-FFF2-40B4-BE49-F238E27FC236}">
                <a16:creationId xmlns:a16="http://schemas.microsoft.com/office/drawing/2014/main" xmlns=""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itchFamily="18" charset="0"/>
                <a:ea typeface="標楷體" pitchFamily="65" charset="-120"/>
                <a:cs typeface="Times New Roman" pitchFamily="18" charset="0"/>
              </a:rPr>
              <a:t>Presenter: Yuan-Hsiu Tsai</a:t>
            </a:r>
            <a:endParaRPr lang="zh-TW" altLang="en-US" sz="2400" dirty="0">
              <a:latin typeface="Times New Roman" pitchFamily="18" charset="0"/>
              <a:ea typeface="標楷體" pitchFamily="65" charset="-120"/>
              <a:cs typeface="Times New Roman" pitchFamily="18" charset="0"/>
            </a:endParaRPr>
          </a:p>
        </p:txBody>
      </p:sp>
      <p:sp>
        <p:nvSpPr>
          <p:cNvPr id="10" name="文字方塊 9">
            <a:extLst>
              <a:ext uri="{FF2B5EF4-FFF2-40B4-BE49-F238E27FC236}">
                <a16:creationId xmlns:a16="http://schemas.microsoft.com/office/drawing/2014/main" xmlns="" id="{52A0654C-2F84-4026-9FCF-04C8DF590D5F}"/>
              </a:ext>
            </a:extLst>
          </p:cNvPr>
          <p:cNvSpPr txBox="1"/>
          <p:nvPr/>
        </p:nvSpPr>
        <p:spPr>
          <a:xfrm>
            <a:off x="5652120" y="5824855"/>
            <a:ext cx="2551339"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ea typeface="標楷體" pitchFamily="65" charset="-120"/>
              </a:rPr>
              <a:t>Date: </a:t>
            </a:r>
            <a:r>
              <a:rPr lang="en-US" altLang="zh-TW" dirty="0" err="1" smtClean="0">
                <a:ea typeface="標楷體" pitchFamily="65" charset="-120"/>
              </a:rPr>
              <a:t>Apri</a:t>
            </a:r>
            <a:r>
              <a:rPr lang="en-US" altLang="zh-TW" dirty="0" smtClean="0">
                <a:ea typeface="標楷體" pitchFamily="65" charset="-120"/>
              </a:rPr>
              <a:t>. 7, 2020</a:t>
            </a:r>
            <a:endParaRPr lang="zh-TW" altLang="en-US" dirty="0">
              <a:ea typeface="標楷體" pitchFamily="65" charset="-120"/>
            </a:endParaRPr>
          </a:p>
        </p:txBody>
      </p:sp>
    </p:spTree>
    <p:extLst>
      <p:ext uri="{BB962C8B-B14F-4D97-AF65-F5344CB8AC3E}">
        <p14:creationId xmlns:p14="http://schemas.microsoft.com/office/powerpoint/2010/main" xmlns=""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sz="2800" dirty="0" smtClean="0">
                <a:latin typeface="Times New Roman" pitchFamily="18" charset="0"/>
                <a:cs typeface="Times New Roman" pitchFamily="18" charset="0"/>
              </a:rPr>
              <a:t>Protein sequence similarity searching programs like BLASTP, SSEARCH, and FASTA use scoring matrices that are designed to identify distant evolutionary relationships (BLOSUM62 for BLAST, BLOSUM50 for SSEARCH and FASTA). Different similarity scoring matrices are most effective at different evolutionary distances. “Deep” scoring matrices like BLOSUM62 andBLOSUM50 target alignments with 20% to 30% identity, while “shallow” scoring matrices (e.g.,VTML10 to VTML80) target alignments that share 90% to 50% identity, reflecting much less evolutionary change. While “deep” matrices provide very sensitive similarity searches, they also require longer sequence alignments and can sometimes produce alignment overextension into </a:t>
            </a:r>
            <a:r>
              <a:rPr lang="en-US" sz="2800" dirty="0" err="1" smtClean="0">
                <a:latin typeface="Times New Roman" pitchFamily="18" charset="0"/>
                <a:cs typeface="Times New Roman" pitchFamily="18" charset="0"/>
              </a:rPr>
              <a:t>nonhomologous</a:t>
            </a:r>
            <a:r>
              <a:rPr lang="en-US" sz="2800" dirty="0" smtClean="0">
                <a:latin typeface="Times New Roman" pitchFamily="18" charset="0"/>
                <a:cs typeface="Times New Roman" pitchFamily="18" charset="0"/>
              </a:rPr>
              <a:t> regions. </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774493"/>
            <a:ext cx="9004993" cy="5246795"/>
          </a:xfrm>
        </p:spPr>
        <p:txBody>
          <a:bodyPr>
            <a:noAutofit/>
          </a:bodyPr>
          <a:lstStyle/>
          <a:p>
            <a:pPr marL="0" indent="0">
              <a:lnSpc>
                <a:spcPts val="3200"/>
              </a:lnSpc>
              <a:buNone/>
            </a:pPr>
            <a:r>
              <a:rPr lang="en-US" sz="2800" dirty="0" smtClean="0">
                <a:latin typeface="Times New Roman" pitchFamily="18" charset="0"/>
                <a:cs typeface="Times New Roman" pitchFamily="18" charset="0"/>
              </a:rPr>
              <a:t>Shallower scoring matrices are more effective when searching for short protein domains, or when the goal is to limit the scope of the search to sequences that are likely to be  </a:t>
            </a:r>
            <a:r>
              <a:rPr lang="en-US" sz="2800" dirty="0" err="1" smtClean="0">
                <a:latin typeface="Times New Roman" pitchFamily="18" charset="0"/>
                <a:cs typeface="Times New Roman" pitchFamily="18" charset="0"/>
              </a:rPr>
              <a:t>orthologous</a:t>
            </a:r>
            <a:r>
              <a:rPr lang="en-US" sz="2800" dirty="0" smtClean="0">
                <a:latin typeface="Times New Roman" pitchFamily="18" charset="0"/>
                <a:cs typeface="Times New Roman" pitchFamily="18" charset="0"/>
              </a:rPr>
              <a:t> between recently diverged organisms. Likewise, in DNA searches, the match and mismatch parameters set evolutionary look-back times and domain boundaries. In this  unit, we will discuss the theoretical foundations that drive practical choices of protein and DNA similarity scoring matrices and gap penalties. Deep scoring matrices (BLOSUM62 and BLOSUM50)should be used for sensitive searches with full-length protein sequences, but short domains or restricted evolutionary look-back require shallower scoring matrices.</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ea typeface="標楷體" pitchFamily="65" charset="-120"/>
                <a:cs typeface="Times New Roman" pitchFamily="18" charset="0"/>
              </a:rPr>
              <a:t>Scoring Matrix</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They are used to determine the relative score made by matching</a:t>
            </a:r>
            <a:r>
              <a:rPr lang="en-US" dirty="0" smtClean="0"/>
              <a:t> </a:t>
            </a:r>
            <a:r>
              <a:rPr lang="en-US" dirty="0" smtClean="0">
                <a:latin typeface="Times New Roman" pitchFamily="18" charset="0"/>
                <a:cs typeface="Times New Roman" pitchFamily="18" charset="0"/>
              </a:rPr>
              <a:t>two characters in a sequence alignment.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If some amino acids replace frequently, then the score of this match would lower.</a:t>
            </a:r>
            <a:endParaRPr lang="en-US" altLang="zh-TW" dirty="0">
              <a:latin typeface="Times New Roman" pitchFamily="18" charset="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ea typeface="標楷體" pitchFamily="65" charset="-120"/>
                <a:cs typeface="Times New Roman" pitchFamily="18" charset="0"/>
              </a:rPr>
              <a:t>Scoring Matrix</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There are two main type</a:t>
            </a:r>
            <a:r>
              <a:rPr lang="zh-TW" altLang="en-US" dirty="0" smtClean="0">
                <a:latin typeface="Times New Roman" pitchFamily="18" charset="0"/>
                <a:ea typeface="標楷體" pitchFamily="65" charset="-120"/>
                <a:cs typeface="Times New Roman" pitchFamily="18" charset="0"/>
              </a:rPr>
              <a:t>：</a:t>
            </a: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1.</a:t>
            </a:r>
            <a:r>
              <a:rPr lang="zh-TW" altLang="en-US" dirty="0" smtClean="0">
                <a:latin typeface="Times New Roman" pitchFamily="18" charset="0"/>
                <a:ea typeface="標楷體" pitchFamily="65" charset="-120"/>
                <a:cs typeface="Times New Roman" pitchFamily="18" charset="0"/>
              </a:rPr>
              <a:t> </a:t>
            </a:r>
            <a:r>
              <a:rPr lang="en-US" altLang="zh-TW" dirty="0" smtClean="0">
                <a:latin typeface="Times New Roman" pitchFamily="18" charset="0"/>
                <a:ea typeface="標楷體" pitchFamily="65" charset="-120"/>
                <a:cs typeface="Times New Roman" pitchFamily="18" charset="0"/>
              </a:rPr>
              <a:t>deep scoring matrix</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2. shallow scoring matrix</a:t>
            </a:r>
            <a:endParaRPr lang="en-US" altLang="zh-TW" dirty="0">
              <a:latin typeface="標楷體" pitchFamily="65" charset="-120"/>
              <a:ea typeface="標楷體" pitchFamily="65" charset="-12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normAutofit/>
          </a:bodyPr>
          <a:lstStyle/>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Deep scoring matrix</a:t>
            </a:r>
            <a:r>
              <a:rPr lang="zh-TW" altLang="en-US" dirty="0" smtClean="0">
                <a:latin typeface="Times New Roman" pitchFamily="18" charset="0"/>
                <a:ea typeface="標楷體" pitchFamily="65" charset="-120"/>
                <a:cs typeface="Times New Roman" pitchFamily="18" charset="0"/>
              </a:rPr>
              <a:t>：</a:t>
            </a: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1. used in longer sequence alignment</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2. high sensitivity for homologous and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overextension into </a:t>
            </a:r>
            <a:r>
              <a:rPr lang="en-US" altLang="zh-TW" dirty="0" err="1" smtClean="0">
                <a:latin typeface="Times New Roman" pitchFamily="18" charset="0"/>
                <a:ea typeface="標楷體" pitchFamily="65" charset="-120"/>
                <a:cs typeface="Times New Roman" pitchFamily="18" charset="0"/>
              </a:rPr>
              <a:t>nonhomologous</a:t>
            </a:r>
            <a:r>
              <a:rPr lang="en-US" altLang="zh-TW" dirty="0" smtClean="0">
                <a:latin typeface="Times New Roman" pitchFamily="18" charset="0"/>
                <a:ea typeface="標楷體" pitchFamily="65" charset="-120"/>
                <a:cs typeface="Times New Roman" pitchFamily="18" charset="0"/>
              </a:rPr>
              <a:t> sometimes</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3. scoring matrix are always conservative.</a:t>
            </a:r>
            <a:br>
              <a:rPr lang="en-US" altLang="zh-TW" dirty="0" smtClean="0">
                <a:latin typeface="Times New Roman" pitchFamily="18" charset="0"/>
                <a:ea typeface="標楷體" pitchFamily="65" charset="-120"/>
                <a:cs typeface="Times New Roman" pitchFamily="18" charset="0"/>
              </a:rPr>
            </a:br>
            <a:endParaRPr lang="zh-TW" altLang="en-US" dirty="0">
              <a:latin typeface="Times New Roman" pitchFamily="18" charset="0"/>
              <a:ea typeface="標楷體" pitchFamily="65" charset="-12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2.PNG"/>
          <p:cNvPicPr>
            <a:picLocks noGrp="1" noChangeAspect="1"/>
          </p:cNvPicPr>
          <p:nvPr>
            <p:ph idx="1"/>
          </p:nvPr>
        </p:nvPicPr>
        <p:blipFill>
          <a:blip r:embed="rId2"/>
          <a:stretch>
            <a:fillRect/>
          </a:stretch>
        </p:blipFill>
        <p:spPr>
          <a:xfrm>
            <a:off x="785786" y="-24"/>
            <a:ext cx="7864916" cy="6715172"/>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normAutofit/>
          </a:bodyPr>
          <a:lstStyle/>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Shallow scoring matrix</a:t>
            </a:r>
            <a:r>
              <a:rPr lang="zh-TW" altLang="en-US" dirty="0" smtClean="0">
                <a:latin typeface="Times New Roman" pitchFamily="18" charset="0"/>
                <a:ea typeface="標楷體" pitchFamily="65" charset="-120"/>
                <a:cs typeface="Times New Roman" pitchFamily="18" charset="0"/>
              </a:rPr>
              <a:t>：</a:t>
            </a: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1. used in short sequence alignment</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2. used to search </a:t>
            </a:r>
            <a:r>
              <a:rPr lang="en-US" altLang="zh-TW" dirty="0" err="1" smtClean="0">
                <a:latin typeface="Times New Roman" pitchFamily="18" charset="0"/>
                <a:ea typeface="標楷體" pitchFamily="65" charset="-120"/>
                <a:cs typeface="Times New Roman" pitchFamily="18" charset="0"/>
              </a:rPr>
              <a:t>orthologous</a:t>
            </a: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
            </a:r>
            <a:br>
              <a:rPr lang="en-US" altLang="zh-TW" dirty="0" smtClean="0">
                <a:latin typeface="Times New Roman" pitchFamily="18" charset="0"/>
                <a:ea typeface="標楷體" pitchFamily="65" charset="-120"/>
                <a:cs typeface="Times New Roman" pitchFamily="18" charset="0"/>
              </a:rPr>
            </a:br>
            <a:r>
              <a:rPr lang="en-US" altLang="zh-TW" dirty="0" smtClean="0">
                <a:latin typeface="Times New Roman" pitchFamily="18" charset="0"/>
                <a:ea typeface="標楷體" pitchFamily="65" charset="-120"/>
                <a:cs typeface="Times New Roman" pitchFamily="18" charset="0"/>
              </a:rPr>
              <a:t>3. same residue match have very high positive score and different residue match usually have high negative score</a:t>
            </a:r>
          </a:p>
          <a:p>
            <a:pPr marL="342900" lvl="1" indent="-342900">
              <a:buFont typeface="Arial" pitchFamily="34" charset="0"/>
              <a:buChar char="•"/>
            </a:pPr>
            <a:endParaRPr lang="en-US" altLang="zh-TW" dirty="0" smtClean="0">
              <a:latin typeface="Times New Roman" pitchFamily="18" charset="0"/>
              <a:ea typeface="標楷體" pitchFamily="65" charset="-120"/>
              <a:cs typeface="Times New Roman" pitchFamily="18" charset="0"/>
            </a:endParaRPr>
          </a:p>
          <a:p>
            <a:pPr marL="342900" lvl="1" indent="-342900">
              <a:buNone/>
            </a:pPr>
            <a:endParaRPr lang="zh-TW" altLang="en-US" dirty="0">
              <a:latin typeface="Times New Roman" pitchFamily="18" charset="0"/>
              <a:ea typeface="標楷體" pitchFamily="65" charset="-12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3.PNG"/>
          <p:cNvPicPr>
            <a:picLocks noGrp="1" noChangeAspect="1"/>
          </p:cNvPicPr>
          <p:nvPr>
            <p:ph idx="1"/>
          </p:nvPr>
        </p:nvPicPr>
        <p:blipFill>
          <a:blip r:embed="rId2"/>
          <a:stretch>
            <a:fillRect/>
          </a:stretch>
        </p:blipFill>
        <p:spPr>
          <a:xfrm>
            <a:off x="-1" y="928670"/>
            <a:ext cx="9124813" cy="4572032"/>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PNG"/>
          <p:cNvPicPr>
            <a:picLocks noGrp="1" noChangeAspect="1"/>
          </p:cNvPicPr>
          <p:nvPr>
            <p:ph idx="1"/>
          </p:nvPr>
        </p:nvPicPr>
        <p:blipFill>
          <a:blip r:embed="rId2"/>
          <a:stretch>
            <a:fillRect/>
          </a:stretch>
        </p:blipFill>
        <p:spPr>
          <a:xfrm>
            <a:off x="1500166" y="104012"/>
            <a:ext cx="6715172" cy="6667206"/>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4.PNG"/>
          <p:cNvPicPr>
            <a:picLocks noGrp="1" noChangeAspect="1"/>
          </p:cNvPicPr>
          <p:nvPr>
            <p:ph idx="1"/>
          </p:nvPr>
        </p:nvPicPr>
        <p:blipFill>
          <a:blip r:embed="rId2"/>
          <a:stretch>
            <a:fillRect/>
          </a:stretch>
        </p:blipFill>
        <p:spPr>
          <a:xfrm>
            <a:off x="1132535" y="0"/>
            <a:ext cx="7368555" cy="68580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Improvement</a:t>
            </a:r>
            <a:endParaRPr lang="zh-TW" altLang="en-US" dirty="0">
              <a:latin typeface="Times New Roman" pitchFamily="18" charset="0"/>
              <a:cs typeface="Times New Roman" pitchFamily="18" charset="0"/>
            </a:endParaRPr>
          </a:p>
        </p:txBody>
      </p:sp>
      <p:sp>
        <p:nvSpPr>
          <p:cNvPr id="6" name="內容版面配置區 5"/>
          <p:cNvSpPr>
            <a:spLocks noGrp="1"/>
          </p:cNvSpPr>
          <p:nvPr>
            <p:ph idx="1"/>
          </p:nvPr>
        </p:nvSpPr>
        <p:spPr/>
        <p:txBody>
          <a:bodyPr>
            <a:normAutofit/>
          </a:bodyPr>
          <a:lstStyle/>
          <a:p>
            <a:r>
              <a:rPr lang="en-US" altLang="zh-TW" dirty="0" smtClean="0">
                <a:latin typeface="Times New Roman" pitchFamily="18" charset="0"/>
                <a:cs typeface="Times New Roman" pitchFamily="18" charset="0"/>
              </a:rPr>
              <a:t>Gap penalty</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1. It always be negative score</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2. Continue gap will get more penalty</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    Ex: -15-4(x-1)   x:continue gap number</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 It can decrease the match number very much</a:t>
            </a:r>
          </a:p>
          <a:p>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Improvement</a:t>
            </a:r>
            <a:endParaRPr lang="zh-TW" altLang="en-US" dirty="0">
              <a:latin typeface="Times New Roman" pitchFamily="18" charset="0"/>
              <a:cs typeface="Times New Roman" pitchFamily="18" charset="0"/>
            </a:endParaRPr>
          </a:p>
        </p:txBody>
      </p:sp>
      <p:sp>
        <p:nvSpPr>
          <p:cNvPr id="6" name="內容版面配置區 5"/>
          <p:cNvSpPr>
            <a:spLocks noGrp="1"/>
          </p:cNvSpPr>
          <p:nvPr>
            <p:ph idx="1"/>
          </p:nvPr>
        </p:nvSpPr>
        <p:spPr/>
        <p:txBody>
          <a:bodyPr>
            <a:normAutofit/>
          </a:bodyPr>
          <a:lstStyle/>
          <a:p>
            <a:r>
              <a:rPr lang="en-US" altLang="zh-TW" dirty="0" smtClean="0">
                <a:latin typeface="Times New Roman" pitchFamily="18" charset="0"/>
                <a:cs typeface="Times New Roman" pitchFamily="18" charset="0"/>
              </a:rPr>
              <a:t>Gap penalty</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In short sequence alignment, if gap penalty is too low, it will cause the low efficiency.</a:t>
            </a:r>
          </a:p>
          <a:p>
            <a:endParaRPr lang="en-US" altLang="zh-TW" dirty="0" smtClean="0">
              <a:latin typeface="Times New Roman" pitchFamily="18" charset="0"/>
              <a:cs typeface="Times New Roman" pitchFamily="18" charset="0"/>
            </a:endParaRPr>
          </a:p>
          <a:p>
            <a:endParaRPr lang="zh-TW" altLang="en-US"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Scoring matrix for DNA</a:t>
            </a:r>
            <a:endParaRPr lang="zh-TW" altLang="en-US" dirty="0">
              <a:latin typeface="Times New Roman" pitchFamily="18" charset="0"/>
              <a:cs typeface="Times New Roman" pitchFamily="18" charset="0"/>
            </a:endParaRPr>
          </a:p>
        </p:txBody>
      </p:sp>
      <p:sp>
        <p:nvSpPr>
          <p:cNvPr id="6" name="內容版面配置區 5"/>
          <p:cNvSpPr>
            <a:spLocks noGrp="1"/>
          </p:cNvSpPr>
          <p:nvPr>
            <p:ph idx="1"/>
          </p:nvPr>
        </p:nvSpPr>
        <p:spPr/>
        <p:txBody>
          <a:bodyPr>
            <a:normAutofit/>
          </a:bodyPr>
          <a:lstStyle/>
          <a:p>
            <a:r>
              <a:rPr lang="en-US" altLang="zh-TW" dirty="0" smtClean="0">
                <a:latin typeface="Times New Roman" pitchFamily="18" charset="0"/>
                <a:cs typeface="Times New Roman" pitchFamily="18" charset="0"/>
              </a:rPr>
              <a:t>In BLASTN, it use +2 / -3</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In FASTA, it use +5 / -4</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It is mush less sensitive than protein sequence comparison.</a:t>
            </a:r>
            <a:endParaRPr lang="zh-TW" altLang="en-US"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Summary</a:t>
            </a:r>
            <a:endParaRPr lang="zh-TW" altLang="en-US" dirty="0">
              <a:latin typeface="Times New Roman" pitchFamily="18" charset="0"/>
              <a:cs typeface="Times New Roman" pitchFamily="18" charset="0"/>
            </a:endParaRPr>
          </a:p>
        </p:txBody>
      </p:sp>
      <p:sp>
        <p:nvSpPr>
          <p:cNvPr id="6" name="內容版面配置區 5"/>
          <p:cNvSpPr>
            <a:spLocks noGrp="1"/>
          </p:cNvSpPr>
          <p:nvPr>
            <p:ph idx="1"/>
          </p:nvPr>
        </p:nvSpPr>
        <p:spPr/>
        <p:txBody>
          <a:bodyPr>
            <a:normAutofit/>
          </a:bodyPr>
          <a:lstStyle/>
          <a:p>
            <a:r>
              <a:rPr lang="en-US" altLang="zh-TW" dirty="0" smtClean="0">
                <a:latin typeface="Times New Roman" pitchFamily="18" charset="0"/>
                <a:cs typeface="Times New Roman" pitchFamily="18" charset="0"/>
              </a:rPr>
              <a:t>If we use the wrong scoring matrix, it can`t produce significant match to a </a:t>
            </a:r>
            <a:r>
              <a:rPr lang="en-US" altLang="zh-TW" dirty="0" err="1" smtClean="0">
                <a:latin typeface="Times New Roman" pitchFamily="18" charset="0"/>
                <a:cs typeface="Times New Roman" pitchFamily="18" charset="0"/>
              </a:rPr>
              <a:t>nonhomologous</a:t>
            </a:r>
            <a:r>
              <a:rPr lang="en-US" altLang="zh-TW" smtClean="0">
                <a:latin typeface="Times New Roman" pitchFamily="18" charset="0"/>
                <a:cs typeface="Times New Roman" pitchFamily="18" charset="0"/>
              </a:rPr>
              <a:t> protein, </a:t>
            </a:r>
            <a:r>
              <a:rPr lang="en-US" altLang="zh-TW" dirty="0" smtClean="0">
                <a:latin typeface="Times New Roman" pitchFamily="18" charset="0"/>
                <a:cs typeface="Times New Roman" pitchFamily="18" charset="0"/>
              </a:rPr>
              <a:t>but the wrong matrix can loss some short homologous region and produce overextension in </a:t>
            </a:r>
            <a:r>
              <a:rPr lang="en-US" altLang="zh-TW" dirty="0" err="1" smtClean="0">
                <a:latin typeface="Times New Roman" pitchFamily="18" charset="0"/>
                <a:cs typeface="Times New Roman" pitchFamily="18" charset="0"/>
              </a:rPr>
              <a:t>nonhomologous</a:t>
            </a:r>
            <a:r>
              <a:rPr lang="en-US" altLang="zh-TW" dirty="0" smtClean="0">
                <a:latin typeface="Times New Roman" pitchFamily="18" charset="0"/>
                <a:cs typeface="Times New Roman" pitchFamily="18" charset="0"/>
              </a:rPr>
              <a:t> region. </a:t>
            </a: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TotalTime>
  <Words>339</Words>
  <Application>Microsoft Office PowerPoint</Application>
  <PresentationFormat>如螢幕大小 (4:3)</PresentationFormat>
  <Paragraphs>33</Paragraphs>
  <Slides>15</Slides>
  <Notes>3</Notes>
  <HiddenSlides>0</HiddenSlides>
  <MMClips>0</MMClips>
  <ScaleCrop>false</ScaleCrop>
  <HeadingPairs>
    <vt:vector size="4" baseType="variant">
      <vt:variant>
        <vt:lpstr>佈景主題</vt:lpstr>
      </vt:variant>
      <vt:variant>
        <vt:i4>1</vt:i4>
      </vt:variant>
      <vt:variant>
        <vt:lpstr>投影片標題</vt:lpstr>
      </vt:variant>
      <vt:variant>
        <vt:i4>15</vt:i4>
      </vt:variant>
    </vt:vector>
  </HeadingPairs>
  <TitlesOfParts>
    <vt:vector size="16" baseType="lpstr">
      <vt:lpstr>Office 佈景主題</vt:lpstr>
      <vt:lpstr>Selecting the Right Similarity-Scoring Matrix</vt:lpstr>
      <vt:lpstr>Abstract(1/2)</vt:lpstr>
      <vt:lpstr>Abstract(2/2)</vt:lpstr>
      <vt:lpstr>Introduction</vt:lpstr>
      <vt:lpstr>Introduction</vt:lpstr>
      <vt:lpstr>Introduction</vt:lpstr>
      <vt:lpstr>投影片 7</vt:lpstr>
      <vt:lpstr>Introduction</vt:lpstr>
      <vt:lpstr>投影片 9</vt:lpstr>
      <vt:lpstr>投影片 10</vt:lpstr>
      <vt:lpstr>投影片 11</vt:lpstr>
      <vt:lpstr>Improvement</vt:lpstr>
      <vt:lpstr>Improvement</vt:lpstr>
      <vt:lpstr>Scoring matrix for DNA</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71</cp:revision>
  <dcterms:created xsi:type="dcterms:W3CDTF">2019-09-15T07:43:36Z</dcterms:created>
  <dcterms:modified xsi:type="dcterms:W3CDTF">2020-04-07T08:09:07Z</dcterms:modified>
</cp:coreProperties>
</file>