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321" r:id="rId2"/>
    <p:sldId id="311" r:id="rId3"/>
    <p:sldId id="322" r:id="rId4"/>
    <p:sldId id="324" r:id="rId5"/>
    <p:sldId id="325" r:id="rId6"/>
    <p:sldId id="326" r:id="rId7"/>
    <p:sldId id="327" r:id="rId8"/>
    <p:sldId id="328" r:id="rId9"/>
    <p:sldId id="329" r:id="rId10"/>
    <p:sldId id="333" r:id="rId11"/>
    <p:sldId id="334" r:id="rId12"/>
    <p:sldId id="335" r:id="rId13"/>
    <p:sldId id="336" r:id="rId14"/>
    <p:sldId id="341" r:id="rId15"/>
    <p:sldId id="340" r:id="rId16"/>
    <p:sldId id="337"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83275" autoAdjust="0"/>
  </p:normalViewPr>
  <p:slideViewPr>
    <p:cSldViewPr snapToGrid="0">
      <p:cViewPr varScale="1">
        <p:scale>
          <a:sx n="96" d="100"/>
          <a:sy n="96" d="100"/>
        </p:scale>
        <p:origin x="2076" y="8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2020/9/29</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smtClean="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smtClean="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1445501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685155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1058798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2172789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3845961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dirty="0" smtClean="0"/>
              <a:t>通過選擇</a:t>
            </a:r>
            <a:r>
              <a:rPr lang="en-US" altLang="zh-TW" dirty="0" smtClean="0"/>
              <a:t>α&gt;&gt; 1.0</a:t>
            </a:r>
            <a:r>
              <a:rPr lang="zh-TW" altLang="en-US" dirty="0" smtClean="0"/>
              <a:t>可以生成密集圖（具有較高並行度的較短圖）如果</a:t>
            </a:r>
            <a:r>
              <a:rPr lang="en-US" altLang="zh-TW" dirty="0" smtClean="0"/>
              <a:t>α&lt;&lt; 1.0</a:t>
            </a:r>
            <a:r>
              <a:rPr lang="zh-TW" altLang="en-US" dirty="0" smtClean="0"/>
              <a:t>，將生成一個較低並行度的較長圖形。</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2811414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2020/9/29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2020/9/29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2020/9/29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2020/9/29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2020/9/29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2020/9/29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2020/9/29</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2020/9/29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2020/9/29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2020/9/29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2020/9/29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2020/9/29</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gif"/><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244993" y="461639"/>
            <a:ext cx="8433339" cy="1699666"/>
          </a:xfrm>
        </p:spPr>
        <p:txBody>
          <a:bodyPr>
            <a:noAutofit/>
          </a:bodyPr>
          <a:lstStyle/>
          <a:p>
            <a:r>
              <a:rPr lang="en-US" altLang="zh-TW" sz="3600" dirty="0">
                <a:latin typeface="Times New Roman" panose="02020603050405020304" pitchFamily="18" charset="0"/>
                <a:cs typeface="Times New Roman" panose="02020603050405020304" pitchFamily="18" charset="0"/>
              </a:rPr>
              <a:t>A task duplication based bottom-up scheduling algorithm for heterogeneous environments</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44993" y="2819042"/>
            <a:ext cx="8536249" cy="927245"/>
          </a:xfrm>
        </p:spPr>
        <p:txBody>
          <a:bodyPr>
            <a:noAutofit/>
          </a:bodyPr>
          <a:lstStyle/>
          <a:p>
            <a:r>
              <a:rPr lang="en-US" altLang="zh-TW" dirty="0" smtClean="0">
                <a:latin typeface="Times New Roman" panose="02020603050405020304" pitchFamily="18" charset="0"/>
                <a:cs typeface="Times New Roman" panose="02020603050405020304" pitchFamily="18" charset="0"/>
              </a:rPr>
              <a:t>D</a:t>
            </a:r>
            <a:r>
              <a:rPr lang="en-US" altLang="zh-TW" dirty="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Bozdag</a:t>
            </a:r>
            <a:r>
              <a:rPr lang="en-US" altLang="zh-TW" dirty="0" smtClean="0">
                <a:latin typeface="Times New Roman" panose="02020603050405020304" pitchFamily="18" charset="0"/>
                <a:cs typeface="Times New Roman" panose="02020603050405020304" pitchFamily="18" charset="0"/>
              </a:rPr>
              <a:t>, U</a:t>
            </a:r>
            <a:r>
              <a:rPr lang="en-US" altLang="zh-TW" dirty="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Catalyurek</a:t>
            </a:r>
            <a:r>
              <a:rPr lang="en-US" altLang="zh-TW" dirty="0" smtClean="0">
                <a:latin typeface="Times New Roman" panose="02020603050405020304" pitchFamily="18" charset="0"/>
                <a:cs typeface="Times New Roman" panose="02020603050405020304" pitchFamily="18" charset="0"/>
              </a:rPr>
              <a:t> and F</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Ozgune</a:t>
            </a:r>
            <a:endParaRPr lang="en-US" altLang="zh-TW"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192159" y="5487972"/>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smtClean="0">
                <a:latin typeface="Times New Roman" panose="02020603050405020304" pitchFamily="18" charset="0"/>
                <a:cs typeface="Times New Roman" panose="02020603050405020304" pitchFamily="18" charset="0"/>
              </a:rPr>
              <a:t> </a:t>
            </a:r>
            <a:r>
              <a:rPr lang="en-US" altLang="zh-TW" sz="1800" dirty="0" err="1" smtClean="0">
                <a:latin typeface="Times New Roman" panose="02020603050405020304" pitchFamily="18" charset="0"/>
                <a:cs typeface="Times New Roman" panose="02020603050405020304" pitchFamily="18" charset="0"/>
              </a:rPr>
              <a:t>Chih</a:t>
            </a:r>
            <a:r>
              <a:rPr lang="en-US" altLang="zh-TW" sz="1800" dirty="0" smtClean="0">
                <a:latin typeface="Times New Roman" panose="02020603050405020304" pitchFamily="18" charset="0"/>
                <a:cs typeface="Times New Roman" panose="02020603050405020304" pitchFamily="18" charset="0"/>
              </a:rPr>
              <a:t>-Kai Wu</a:t>
            </a:r>
          </a:p>
          <a:p>
            <a:pPr algn="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Date: Sept.29,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244993" y="3977196"/>
            <a:ext cx="8703699" cy="707886"/>
          </a:xfrm>
          <a:prstGeom prst="rect">
            <a:avLst/>
          </a:prstGeom>
        </p:spPr>
        <p:txBody>
          <a:bodyPr wrap="square">
            <a:spAutoFit/>
          </a:bodyPr>
          <a:lstStyle/>
          <a:p>
            <a:r>
              <a:rPr lang="en-US" altLang="zh-TW" sz="2000" dirty="0" smtClean="0">
                <a:latin typeface="Times New Roman" panose="02020603050405020304" pitchFamily="18" charset="0"/>
                <a:cs typeface="Times New Roman" panose="02020603050405020304" pitchFamily="18" charset="0"/>
              </a:rPr>
              <a:t>Proceedings </a:t>
            </a:r>
            <a:r>
              <a:rPr lang="en-US" altLang="zh-TW" sz="2000" dirty="0">
                <a:latin typeface="Times New Roman" panose="02020603050405020304" pitchFamily="18" charset="0"/>
                <a:cs typeface="Times New Roman" panose="02020603050405020304" pitchFamily="18" charset="0"/>
              </a:rPr>
              <a:t>20th IEEE International Parallel &amp; Distributed Processing Symposium</a:t>
            </a:r>
            <a:r>
              <a:rPr lang="en-US" altLang="zh-TW" sz="2000" dirty="0">
                <a:latin typeface="Times New Roman" panose="02020603050405020304" pitchFamily="18" charset="0"/>
                <a:cs typeface="Times New Roman" panose="02020603050405020304" pitchFamily="18" charset="0"/>
              </a:rPr>
              <a:t>, </a:t>
            </a:r>
            <a:r>
              <a:rPr lang="zh-TW" altLang="en-US" sz="2000" dirty="0" smtClean="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26 </a:t>
            </a:r>
            <a:r>
              <a:rPr lang="en-US" altLang="zh-TW" sz="2000" dirty="0">
                <a:latin typeface="Times New Roman" panose="02020603050405020304" pitchFamily="18" charset="0"/>
                <a:cs typeface="Times New Roman" panose="02020603050405020304" pitchFamily="18" charset="0"/>
              </a:rPr>
              <a:t>June </a:t>
            </a:r>
            <a:r>
              <a:rPr lang="en-US" altLang="zh-TW" sz="2000" dirty="0" smtClean="0">
                <a:latin typeface="Times New Roman" panose="02020603050405020304" pitchFamily="18" charset="0"/>
                <a:cs typeface="Times New Roman" panose="02020603050405020304" pitchFamily="18" charset="0"/>
              </a:rPr>
              <a:t>2006</a:t>
            </a:r>
            <a:r>
              <a:rPr lang="en-US" altLang="zh-TW" sz="2000" dirty="0">
                <a:latin typeface="Times New Roman" panose="02020603050405020304" pitchFamily="18" charset="0"/>
                <a:cs typeface="Times New Roman" panose="02020603050405020304" pitchFamily="18" charset="0"/>
              </a:rPr>
              <a:t>, Rhodes Island, Greece</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122362"/>
            <a:ext cx="9004993" cy="5944661"/>
          </a:xfrm>
        </p:spPr>
        <p:txBody>
          <a:bodyPr>
            <a:no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We propose a new duplication-based DAG scheduling algorithm for heterogeneous computing environments. Contrary to the traditional approaches, proposed algorithm traverses the DAG in a bottom-up fashion while taking advantage of task duplication and task insertion. Experimental results on random DAGs and three different application DAGs show that the </a:t>
            </a:r>
            <a:r>
              <a:rPr lang="en-US" altLang="zh-TW" sz="2400" dirty="0" err="1">
                <a:latin typeface="Times New Roman" panose="02020603050405020304" pitchFamily="18" charset="0"/>
                <a:cs typeface="Times New Roman" panose="02020603050405020304" pitchFamily="18" charset="0"/>
              </a:rPr>
              <a:t>makespans</a:t>
            </a:r>
            <a:r>
              <a:rPr lang="en-US" altLang="zh-TW" sz="2400" dirty="0">
                <a:latin typeface="Times New Roman" panose="02020603050405020304" pitchFamily="18" charset="0"/>
                <a:cs typeface="Times New Roman" panose="02020603050405020304" pitchFamily="18" charset="0"/>
              </a:rPr>
              <a:t> generated by the proposed DBUS algorithm are much better than those generated by the existing algorithms, HEFT, HCPFD and HCNF.</a:t>
            </a:r>
            <a:endParaRPr lang="fr-FR"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483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2" y="2791178"/>
            <a:ext cx="5368433" cy="3908481"/>
          </a:xfrm>
          <a:prstGeom prst="rect">
            <a:avLst/>
          </a:prstGeom>
        </p:spPr>
      </p:pic>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6215" y="0"/>
            <a:ext cx="3261004" cy="1452439"/>
          </a:xfrm>
          <a:prstGeom prst="rect">
            <a:avLst/>
          </a:prstGeom>
        </p:spPr>
      </p:pic>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extLst>
                  <p:ext uri="{D42A27DB-BD31-4B8C-83A1-F6EECF244321}">
                    <p14:modId xmlns:p14="http://schemas.microsoft.com/office/powerpoint/2010/main" val="1009428250"/>
                  </p:ext>
                </p:extLst>
              </p:nvPr>
            </p:nvGraphicFramePr>
            <p:xfrm>
              <a:off x="99392" y="-12552"/>
              <a:ext cx="5576823" cy="2714212"/>
            </p:xfrm>
            <a:graphic>
              <a:graphicData uri="http://schemas.openxmlformats.org/drawingml/2006/table">
                <a:tbl>
                  <a:tblPr firstRow="1" bandRow="1">
                    <a:tableStyleId>{5C22544A-7EE6-4342-B048-85BDC9FD1C3A}</a:tableStyleId>
                  </a:tblPr>
                  <a:tblGrid>
                    <a:gridCol w="796689">
                      <a:extLst>
                        <a:ext uri="{9D8B030D-6E8A-4147-A177-3AD203B41FA5}">
                          <a16:colId xmlns:a16="http://schemas.microsoft.com/office/drawing/2014/main" val="3005756486"/>
                        </a:ext>
                      </a:extLst>
                    </a:gridCol>
                    <a:gridCol w="796689">
                      <a:extLst>
                        <a:ext uri="{9D8B030D-6E8A-4147-A177-3AD203B41FA5}">
                          <a16:colId xmlns:a16="http://schemas.microsoft.com/office/drawing/2014/main" val="1319460335"/>
                        </a:ext>
                      </a:extLst>
                    </a:gridCol>
                    <a:gridCol w="796689">
                      <a:extLst>
                        <a:ext uri="{9D8B030D-6E8A-4147-A177-3AD203B41FA5}">
                          <a16:colId xmlns:a16="http://schemas.microsoft.com/office/drawing/2014/main" val="309870850"/>
                        </a:ext>
                      </a:extLst>
                    </a:gridCol>
                    <a:gridCol w="796689">
                      <a:extLst>
                        <a:ext uri="{9D8B030D-6E8A-4147-A177-3AD203B41FA5}">
                          <a16:colId xmlns:a16="http://schemas.microsoft.com/office/drawing/2014/main" val="2391818414"/>
                        </a:ext>
                      </a:extLst>
                    </a:gridCol>
                    <a:gridCol w="796689">
                      <a:extLst>
                        <a:ext uri="{9D8B030D-6E8A-4147-A177-3AD203B41FA5}">
                          <a16:colId xmlns:a16="http://schemas.microsoft.com/office/drawing/2014/main" val="271036067"/>
                        </a:ext>
                      </a:extLst>
                    </a:gridCol>
                    <a:gridCol w="796689">
                      <a:extLst>
                        <a:ext uri="{9D8B030D-6E8A-4147-A177-3AD203B41FA5}">
                          <a16:colId xmlns:a16="http://schemas.microsoft.com/office/drawing/2014/main" val="740358161"/>
                        </a:ext>
                      </a:extLst>
                    </a:gridCol>
                    <a:gridCol w="796689">
                      <a:extLst>
                        <a:ext uri="{9D8B030D-6E8A-4147-A177-3AD203B41FA5}">
                          <a16:colId xmlns:a16="http://schemas.microsoft.com/office/drawing/2014/main" val="2853678467"/>
                        </a:ext>
                      </a:extLst>
                    </a:gridCol>
                  </a:tblGrid>
                  <a:tr h="447262">
                    <a:tc>
                      <a:txBody>
                        <a:bodyPr/>
                        <a:lstStyle/>
                        <a:p>
                          <a:pPr algn="ctr"/>
                          <a:endParaRPr lang="zh-TW" altLang="en-US" dirty="0"/>
                        </a:p>
                      </a:txBody>
                      <a:tcPr/>
                    </a:tc>
                    <a:tc>
                      <a:txBody>
                        <a:bodyPr/>
                        <a:lstStyle/>
                        <a:p>
                          <a:pPr algn="ctr"/>
                          <a:r>
                            <a:rPr lang="en-US" altLang="zh-TW" dirty="0" smtClean="0"/>
                            <a:t>P1&gt;P2</a:t>
                          </a:r>
                          <a:endParaRPr lang="zh-TW" altLang="en-US" dirty="0"/>
                        </a:p>
                      </a:txBody>
                      <a:tcPr/>
                    </a:tc>
                    <a:tc>
                      <a:txBody>
                        <a:bodyPr/>
                        <a:lstStyle/>
                        <a:p>
                          <a:pPr algn="ctr"/>
                          <a:r>
                            <a:rPr lang="en-US" altLang="zh-TW" dirty="0" smtClean="0"/>
                            <a:t>P1&gt;P3</a:t>
                          </a:r>
                        </a:p>
                      </a:txBody>
                      <a:tcPr/>
                    </a:tc>
                    <a:tc>
                      <a:txBody>
                        <a:bodyPr/>
                        <a:lstStyle/>
                        <a:p>
                          <a:pPr algn="ctr"/>
                          <a:r>
                            <a:rPr lang="en-US" altLang="zh-TW" dirty="0" smtClean="0"/>
                            <a:t>P2&gt;P1</a:t>
                          </a:r>
                          <a:endParaRPr lang="zh-TW" altLang="en-US" dirty="0"/>
                        </a:p>
                      </a:txBody>
                      <a:tcPr/>
                    </a:tc>
                    <a:tc>
                      <a:txBody>
                        <a:bodyPr/>
                        <a:lstStyle/>
                        <a:p>
                          <a:pPr algn="ctr"/>
                          <a:r>
                            <a:rPr lang="en-US" altLang="zh-TW" dirty="0" smtClean="0"/>
                            <a:t>P2&gt;P3</a:t>
                          </a:r>
                          <a:endParaRPr lang="zh-TW" altLang="en-US" dirty="0"/>
                        </a:p>
                      </a:txBody>
                      <a:tcPr/>
                    </a:tc>
                    <a:tc>
                      <a:txBody>
                        <a:bodyPr/>
                        <a:lstStyle/>
                        <a:p>
                          <a:pPr algn="ctr"/>
                          <a:r>
                            <a:rPr lang="en-US" altLang="zh-TW" dirty="0" smtClean="0"/>
                            <a:t>P3&gt;P1</a:t>
                          </a:r>
                          <a:endParaRPr lang="zh-TW" altLang="en-US" dirty="0"/>
                        </a:p>
                      </a:txBody>
                      <a:tcPr/>
                    </a:tc>
                    <a:tc>
                      <a:txBody>
                        <a:bodyPr/>
                        <a:lstStyle/>
                        <a:p>
                          <a:pPr algn="ctr"/>
                          <a:r>
                            <a:rPr lang="en-US" altLang="zh-TW" dirty="0" smtClean="0"/>
                            <a:t>P3&gt;P2</a:t>
                          </a:r>
                          <a:endParaRPr lang="zh-TW" altLang="en-US" dirty="0"/>
                        </a:p>
                      </a:txBody>
                      <a:tcPr/>
                    </a:tc>
                    <a:extLst>
                      <a:ext uri="{0D108BD9-81ED-4DB2-BD59-A6C34878D82A}">
                        <a16:rowId xmlns:a16="http://schemas.microsoft.com/office/drawing/2014/main" val="3976323430"/>
                      </a:ext>
                    </a:extLst>
                  </a:tr>
                  <a:tr h="352963">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1,2</m:t>
                                    </m:r>
                                  </m:sub>
                                </m:sSub>
                              </m:oMath>
                            </m:oMathPara>
                          </a14:m>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extLst>
                      <a:ext uri="{0D108BD9-81ED-4DB2-BD59-A6C34878D82A}">
                        <a16:rowId xmlns:a16="http://schemas.microsoft.com/office/drawing/2014/main" val="2204238058"/>
                      </a:ext>
                    </a:extLst>
                  </a:tr>
                  <a:tr h="352963">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1,4</m:t>
                                    </m:r>
                                  </m:sub>
                                </m:sSub>
                              </m:oMath>
                            </m:oMathPara>
                          </a14:m>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0.5</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0.5</a:t>
                          </a:r>
                          <a:endParaRPr lang="zh-TW" altLang="en-US" dirty="0"/>
                        </a:p>
                      </a:txBody>
                      <a:tcPr/>
                    </a:tc>
                    <a:tc>
                      <a:txBody>
                        <a:bodyPr/>
                        <a:lstStyle/>
                        <a:p>
                          <a:pPr algn="ctr"/>
                          <a:r>
                            <a:rPr lang="en-US" altLang="zh-TW" dirty="0" smtClean="0"/>
                            <a:t>1</a:t>
                          </a:r>
                          <a:endParaRPr lang="zh-TW" altLang="en-US" dirty="0"/>
                        </a:p>
                      </a:txBody>
                      <a:tcPr/>
                    </a:tc>
                    <a:extLst>
                      <a:ext uri="{0D108BD9-81ED-4DB2-BD59-A6C34878D82A}">
                        <a16:rowId xmlns:a16="http://schemas.microsoft.com/office/drawing/2014/main" val="2045507442"/>
                      </a:ext>
                    </a:extLst>
                  </a:tr>
                  <a:tr h="352963">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1,5</m:t>
                                    </m:r>
                                  </m:sub>
                                </m:sSub>
                              </m:oMath>
                            </m:oMathPara>
                          </a14:m>
                          <a:endParaRPr lang="zh-TW" altLang="en-US" dirty="0"/>
                        </a:p>
                      </a:txBody>
                      <a:tcPr/>
                    </a:tc>
                    <a:tc>
                      <a:txBody>
                        <a:bodyPr/>
                        <a:lstStyle/>
                        <a:p>
                          <a:pPr algn="ctr"/>
                          <a:r>
                            <a:rPr lang="en-US" altLang="zh-TW" dirty="0" smtClean="0"/>
                            <a:t>12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12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extLst>
                      <a:ext uri="{0D108BD9-81ED-4DB2-BD59-A6C34878D82A}">
                        <a16:rowId xmlns:a16="http://schemas.microsoft.com/office/drawing/2014/main" val="3756843146"/>
                      </a:ext>
                    </a:extLst>
                  </a:tr>
                  <a:tr h="352963">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2,5</m:t>
                                    </m:r>
                                  </m:sub>
                                </m:sSub>
                              </m:oMath>
                            </m:oMathPara>
                          </a14:m>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1.5</a:t>
                          </a:r>
                          <a:endParaRPr lang="zh-TW" altLang="en-US" dirty="0"/>
                        </a:p>
                      </a:txBody>
                      <a:tcPr/>
                    </a:tc>
                    <a:tc>
                      <a:txBody>
                        <a:bodyPr/>
                        <a:lstStyle/>
                        <a:p>
                          <a:pPr algn="ctr"/>
                          <a:r>
                            <a:rPr lang="en-US" altLang="zh-TW" dirty="0" smtClean="0"/>
                            <a:t>3</a:t>
                          </a:r>
                          <a:endParaRPr lang="zh-TW" altLang="en-US" dirty="0"/>
                        </a:p>
                      </a:txBody>
                      <a:tcPr/>
                    </a:tc>
                    <a:extLst>
                      <a:ext uri="{0D108BD9-81ED-4DB2-BD59-A6C34878D82A}">
                        <a16:rowId xmlns:a16="http://schemas.microsoft.com/office/drawing/2014/main" val="528688867"/>
                      </a:ext>
                    </a:extLst>
                  </a:tr>
                  <a:tr h="352963">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4,5</m:t>
                                    </m:r>
                                  </m:sub>
                                </m:sSub>
                              </m:oMath>
                            </m:oMathPara>
                          </a14:m>
                          <a:endParaRPr lang="zh-TW" altLang="en-US" dirty="0"/>
                        </a:p>
                      </a:txBody>
                      <a:tcPr/>
                    </a:tc>
                    <a:tc>
                      <a:txBody>
                        <a:bodyPr/>
                        <a:lstStyle/>
                        <a:p>
                          <a:pPr algn="ctr"/>
                          <a:r>
                            <a:rPr lang="en-US" altLang="zh-TW" dirty="0" smtClean="0"/>
                            <a:t>24</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24</a:t>
                          </a:r>
                          <a:endParaRPr lang="zh-TW" altLang="en-US" dirty="0"/>
                        </a:p>
                      </a:txBody>
                      <a:tcPr/>
                    </a:tc>
                    <a:tc>
                      <a:txBody>
                        <a:bodyPr/>
                        <a:lstStyle/>
                        <a:p>
                          <a:pPr algn="ctr"/>
                          <a:r>
                            <a:rPr lang="en-US" altLang="zh-TW" dirty="0" smtClean="0"/>
                            <a:t>12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12</a:t>
                          </a:r>
                          <a:endParaRPr lang="zh-TW" altLang="en-US" dirty="0"/>
                        </a:p>
                      </a:txBody>
                      <a:tcPr/>
                    </a:tc>
                    <a:extLst>
                      <a:ext uri="{0D108BD9-81ED-4DB2-BD59-A6C34878D82A}">
                        <a16:rowId xmlns:a16="http://schemas.microsoft.com/office/drawing/2014/main" val="3934336742"/>
                      </a:ext>
                    </a:extLst>
                  </a:tr>
                  <a:tr h="352963">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3,5</m:t>
                                    </m:r>
                                  </m:sub>
                                </m:sSub>
                              </m:oMath>
                            </m:oMathPara>
                          </a14:m>
                          <a:endParaRPr lang="zh-TW" altLang="en-US" dirty="0"/>
                        </a:p>
                      </a:txBody>
                      <a:tcPr/>
                    </a:tc>
                    <a:tc>
                      <a:txBody>
                        <a:bodyPr/>
                        <a:lstStyle/>
                        <a:p>
                          <a:pPr algn="ctr"/>
                          <a:r>
                            <a:rPr lang="en-US" altLang="zh-TW" dirty="0" smtClean="0"/>
                            <a:t>40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40</a:t>
                          </a:r>
                          <a:endParaRPr lang="zh-TW" altLang="en-US" dirty="0"/>
                        </a:p>
                      </a:txBody>
                      <a:tcPr/>
                    </a:tc>
                    <a:tc>
                      <a:txBody>
                        <a:bodyPr/>
                        <a:lstStyle/>
                        <a:p>
                          <a:pPr algn="ctr"/>
                          <a:r>
                            <a:rPr lang="en-US" altLang="zh-TW" dirty="0" smtClean="0"/>
                            <a:t>20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20</a:t>
                          </a:r>
                          <a:endParaRPr lang="zh-TW" altLang="en-US" dirty="0"/>
                        </a:p>
                      </a:txBody>
                      <a:tcPr/>
                    </a:tc>
                    <a:extLst>
                      <a:ext uri="{0D108BD9-81ED-4DB2-BD59-A6C34878D82A}">
                        <a16:rowId xmlns:a16="http://schemas.microsoft.com/office/drawing/2014/main" val="552159340"/>
                      </a:ext>
                    </a:extLst>
                  </a:tr>
                </a:tbl>
              </a:graphicData>
            </a:graphic>
          </p:graphicFrame>
        </mc:Choice>
        <mc:Fallback xmlns="">
          <p:graphicFrame>
            <p:nvGraphicFramePr>
              <p:cNvPr id="2" name="表格 1"/>
              <p:cNvGraphicFramePr>
                <a:graphicFrameLocks noGrp="1"/>
              </p:cNvGraphicFramePr>
              <p:nvPr>
                <p:extLst>
                  <p:ext uri="{D42A27DB-BD31-4B8C-83A1-F6EECF244321}">
                    <p14:modId xmlns:p14="http://schemas.microsoft.com/office/powerpoint/2010/main" val="1009428250"/>
                  </p:ext>
                </p:extLst>
              </p:nvPr>
            </p:nvGraphicFramePr>
            <p:xfrm>
              <a:off x="99392" y="-12552"/>
              <a:ext cx="5576823" cy="2714212"/>
            </p:xfrm>
            <a:graphic>
              <a:graphicData uri="http://schemas.openxmlformats.org/drawingml/2006/table">
                <a:tbl>
                  <a:tblPr firstRow="1" bandRow="1">
                    <a:tableStyleId>{5C22544A-7EE6-4342-B048-85BDC9FD1C3A}</a:tableStyleId>
                  </a:tblPr>
                  <a:tblGrid>
                    <a:gridCol w="796689">
                      <a:extLst>
                        <a:ext uri="{9D8B030D-6E8A-4147-A177-3AD203B41FA5}">
                          <a16:colId xmlns:a16="http://schemas.microsoft.com/office/drawing/2014/main" val="3005756486"/>
                        </a:ext>
                      </a:extLst>
                    </a:gridCol>
                    <a:gridCol w="796689">
                      <a:extLst>
                        <a:ext uri="{9D8B030D-6E8A-4147-A177-3AD203B41FA5}">
                          <a16:colId xmlns:a16="http://schemas.microsoft.com/office/drawing/2014/main" val="1319460335"/>
                        </a:ext>
                      </a:extLst>
                    </a:gridCol>
                    <a:gridCol w="796689">
                      <a:extLst>
                        <a:ext uri="{9D8B030D-6E8A-4147-A177-3AD203B41FA5}">
                          <a16:colId xmlns:a16="http://schemas.microsoft.com/office/drawing/2014/main" val="309870850"/>
                        </a:ext>
                      </a:extLst>
                    </a:gridCol>
                    <a:gridCol w="796689">
                      <a:extLst>
                        <a:ext uri="{9D8B030D-6E8A-4147-A177-3AD203B41FA5}">
                          <a16:colId xmlns:a16="http://schemas.microsoft.com/office/drawing/2014/main" val="2391818414"/>
                        </a:ext>
                      </a:extLst>
                    </a:gridCol>
                    <a:gridCol w="796689">
                      <a:extLst>
                        <a:ext uri="{9D8B030D-6E8A-4147-A177-3AD203B41FA5}">
                          <a16:colId xmlns:a16="http://schemas.microsoft.com/office/drawing/2014/main" val="271036067"/>
                        </a:ext>
                      </a:extLst>
                    </a:gridCol>
                    <a:gridCol w="796689">
                      <a:extLst>
                        <a:ext uri="{9D8B030D-6E8A-4147-A177-3AD203B41FA5}">
                          <a16:colId xmlns:a16="http://schemas.microsoft.com/office/drawing/2014/main" val="740358161"/>
                        </a:ext>
                      </a:extLst>
                    </a:gridCol>
                    <a:gridCol w="796689">
                      <a:extLst>
                        <a:ext uri="{9D8B030D-6E8A-4147-A177-3AD203B41FA5}">
                          <a16:colId xmlns:a16="http://schemas.microsoft.com/office/drawing/2014/main" val="2853678467"/>
                        </a:ext>
                      </a:extLst>
                    </a:gridCol>
                  </a:tblGrid>
                  <a:tr h="447262">
                    <a:tc>
                      <a:txBody>
                        <a:bodyPr/>
                        <a:lstStyle/>
                        <a:p>
                          <a:pPr algn="ctr"/>
                          <a:endParaRPr lang="zh-TW" altLang="en-US" dirty="0"/>
                        </a:p>
                      </a:txBody>
                      <a:tcPr/>
                    </a:tc>
                    <a:tc>
                      <a:txBody>
                        <a:bodyPr/>
                        <a:lstStyle/>
                        <a:p>
                          <a:pPr algn="ctr"/>
                          <a:r>
                            <a:rPr lang="en-US" altLang="zh-TW" dirty="0" smtClean="0"/>
                            <a:t>P1&gt;P2</a:t>
                          </a:r>
                          <a:endParaRPr lang="zh-TW" altLang="en-US" dirty="0"/>
                        </a:p>
                      </a:txBody>
                      <a:tcPr/>
                    </a:tc>
                    <a:tc>
                      <a:txBody>
                        <a:bodyPr/>
                        <a:lstStyle/>
                        <a:p>
                          <a:pPr algn="ctr"/>
                          <a:r>
                            <a:rPr lang="en-US" altLang="zh-TW" dirty="0" smtClean="0"/>
                            <a:t>P1&gt;P3</a:t>
                          </a:r>
                        </a:p>
                      </a:txBody>
                      <a:tcPr/>
                    </a:tc>
                    <a:tc>
                      <a:txBody>
                        <a:bodyPr/>
                        <a:lstStyle/>
                        <a:p>
                          <a:pPr algn="ctr"/>
                          <a:r>
                            <a:rPr lang="en-US" altLang="zh-TW" dirty="0" smtClean="0"/>
                            <a:t>P2&gt;P1</a:t>
                          </a:r>
                          <a:endParaRPr lang="zh-TW" altLang="en-US" dirty="0"/>
                        </a:p>
                      </a:txBody>
                      <a:tcPr/>
                    </a:tc>
                    <a:tc>
                      <a:txBody>
                        <a:bodyPr/>
                        <a:lstStyle/>
                        <a:p>
                          <a:pPr algn="ctr"/>
                          <a:r>
                            <a:rPr lang="en-US" altLang="zh-TW" dirty="0" smtClean="0"/>
                            <a:t>P2&gt;P3</a:t>
                          </a:r>
                          <a:endParaRPr lang="zh-TW" altLang="en-US" dirty="0"/>
                        </a:p>
                      </a:txBody>
                      <a:tcPr/>
                    </a:tc>
                    <a:tc>
                      <a:txBody>
                        <a:bodyPr/>
                        <a:lstStyle/>
                        <a:p>
                          <a:pPr algn="ctr"/>
                          <a:r>
                            <a:rPr lang="en-US" altLang="zh-TW" dirty="0" smtClean="0"/>
                            <a:t>P3&gt;P1</a:t>
                          </a:r>
                          <a:endParaRPr lang="zh-TW" altLang="en-US" dirty="0"/>
                        </a:p>
                      </a:txBody>
                      <a:tcPr/>
                    </a:tc>
                    <a:tc>
                      <a:txBody>
                        <a:bodyPr/>
                        <a:lstStyle/>
                        <a:p>
                          <a:pPr algn="ctr"/>
                          <a:r>
                            <a:rPr lang="en-US" altLang="zh-TW" dirty="0" smtClean="0"/>
                            <a:t>P3&gt;P2</a:t>
                          </a:r>
                          <a:endParaRPr lang="zh-TW" altLang="en-US" dirty="0"/>
                        </a:p>
                      </a:txBody>
                      <a:tcPr/>
                    </a:tc>
                    <a:extLst>
                      <a:ext uri="{0D108BD9-81ED-4DB2-BD59-A6C34878D82A}">
                        <a16:rowId xmlns:a16="http://schemas.microsoft.com/office/drawing/2014/main" val="3976323430"/>
                      </a:ext>
                    </a:extLst>
                  </a:tr>
                  <a:tr h="377825">
                    <a:tc>
                      <a:txBody>
                        <a:bodyPr/>
                        <a:lstStyle/>
                        <a:p>
                          <a:endParaRPr lang="zh-TW"/>
                        </a:p>
                      </a:txBody>
                      <a:tcPr>
                        <a:blipFill>
                          <a:blip r:embed="rId4"/>
                          <a:stretch>
                            <a:fillRect l="-763" t="-127419" r="-602290" b="-522581"/>
                          </a:stretch>
                        </a:blipFill>
                      </a:tcPr>
                    </a:tc>
                    <a:tc>
                      <a:txBody>
                        <a:bodyPr/>
                        <a:lstStyle/>
                        <a:p>
                          <a:pPr algn="ctr"/>
                          <a:r>
                            <a:rPr lang="en-US" altLang="zh-TW" dirty="0" smtClean="0"/>
                            <a:t>8</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extLst>
                      <a:ext uri="{0D108BD9-81ED-4DB2-BD59-A6C34878D82A}">
                        <a16:rowId xmlns:a16="http://schemas.microsoft.com/office/drawing/2014/main" val="2204238058"/>
                      </a:ext>
                    </a:extLst>
                  </a:tr>
                  <a:tr h="377825">
                    <a:tc>
                      <a:txBody>
                        <a:bodyPr/>
                        <a:lstStyle/>
                        <a:p>
                          <a:endParaRPr lang="zh-TW"/>
                        </a:p>
                      </a:txBody>
                      <a:tcPr>
                        <a:blipFill>
                          <a:blip r:embed="rId4"/>
                          <a:stretch>
                            <a:fillRect l="-763" t="-227419" r="-602290" b="-422581"/>
                          </a:stretch>
                        </a:blipFill>
                      </a:tcPr>
                    </a:tc>
                    <a:tc>
                      <a:txBody>
                        <a:bodyPr/>
                        <a:lstStyle/>
                        <a:p>
                          <a:pPr algn="ctr"/>
                          <a:r>
                            <a:rPr lang="en-US" altLang="zh-TW" dirty="0" smtClean="0"/>
                            <a:t>2</a:t>
                          </a:r>
                          <a:endParaRPr lang="zh-TW" altLang="en-US" dirty="0"/>
                        </a:p>
                      </a:txBody>
                      <a:tcPr/>
                    </a:tc>
                    <a:tc>
                      <a:txBody>
                        <a:bodyPr/>
                        <a:lstStyle/>
                        <a:p>
                          <a:pPr algn="ctr"/>
                          <a:r>
                            <a:rPr lang="en-US" altLang="zh-TW" dirty="0" smtClean="0"/>
                            <a:t>0.5</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0.5</a:t>
                          </a:r>
                          <a:endParaRPr lang="zh-TW" altLang="en-US" dirty="0"/>
                        </a:p>
                      </a:txBody>
                      <a:tcPr/>
                    </a:tc>
                    <a:tc>
                      <a:txBody>
                        <a:bodyPr/>
                        <a:lstStyle/>
                        <a:p>
                          <a:pPr algn="ctr"/>
                          <a:r>
                            <a:rPr lang="en-US" altLang="zh-TW" dirty="0" smtClean="0"/>
                            <a:t>1</a:t>
                          </a:r>
                          <a:endParaRPr lang="zh-TW" altLang="en-US" dirty="0"/>
                        </a:p>
                      </a:txBody>
                      <a:tcPr/>
                    </a:tc>
                    <a:extLst>
                      <a:ext uri="{0D108BD9-81ED-4DB2-BD59-A6C34878D82A}">
                        <a16:rowId xmlns:a16="http://schemas.microsoft.com/office/drawing/2014/main" val="2045507442"/>
                      </a:ext>
                    </a:extLst>
                  </a:tr>
                  <a:tr h="377825">
                    <a:tc>
                      <a:txBody>
                        <a:bodyPr/>
                        <a:lstStyle/>
                        <a:p>
                          <a:endParaRPr lang="zh-TW"/>
                        </a:p>
                      </a:txBody>
                      <a:tcPr>
                        <a:blipFill>
                          <a:blip r:embed="rId4"/>
                          <a:stretch>
                            <a:fillRect l="-763" t="-327419" r="-602290" b="-322581"/>
                          </a:stretch>
                        </a:blipFill>
                      </a:tcPr>
                    </a:tc>
                    <a:tc>
                      <a:txBody>
                        <a:bodyPr/>
                        <a:lstStyle/>
                        <a:p>
                          <a:pPr algn="ctr"/>
                          <a:r>
                            <a:rPr lang="en-US" altLang="zh-TW" dirty="0" smtClean="0"/>
                            <a:t>12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12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extLst>
                      <a:ext uri="{0D108BD9-81ED-4DB2-BD59-A6C34878D82A}">
                        <a16:rowId xmlns:a16="http://schemas.microsoft.com/office/drawing/2014/main" val="3756843146"/>
                      </a:ext>
                    </a:extLst>
                  </a:tr>
                  <a:tr h="377825">
                    <a:tc>
                      <a:txBody>
                        <a:bodyPr/>
                        <a:lstStyle/>
                        <a:p>
                          <a:endParaRPr lang="zh-TW"/>
                        </a:p>
                      </a:txBody>
                      <a:tcPr>
                        <a:blipFill>
                          <a:blip r:embed="rId4"/>
                          <a:stretch>
                            <a:fillRect l="-763" t="-420635" r="-602290" b="-217460"/>
                          </a:stretch>
                        </a:blipFill>
                      </a:tcPr>
                    </a:tc>
                    <a:tc>
                      <a:txBody>
                        <a:bodyPr/>
                        <a:lstStyle/>
                        <a:p>
                          <a:pPr algn="ctr"/>
                          <a:r>
                            <a:rPr lang="en-US" altLang="zh-TW" dirty="0" smtClean="0"/>
                            <a:t>6</a:t>
                          </a:r>
                          <a:endParaRPr lang="zh-TW" altLang="en-US" dirty="0"/>
                        </a:p>
                      </a:txBody>
                      <a:tcPr/>
                    </a:tc>
                    <a:tc>
                      <a:txBody>
                        <a:bodyPr/>
                        <a:lstStyle/>
                        <a:p>
                          <a:pPr algn="ctr"/>
                          <a:r>
                            <a:rPr lang="en-US" altLang="zh-TW" dirty="0" smtClean="0"/>
                            <a:t>1.5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1.5</a:t>
                          </a:r>
                          <a:endParaRPr lang="zh-TW" altLang="en-US" dirty="0"/>
                        </a:p>
                      </a:txBody>
                      <a:tcPr/>
                    </a:tc>
                    <a:tc>
                      <a:txBody>
                        <a:bodyPr/>
                        <a:lstStyle/>
                        <a:p>
                          <a:pPr algn="ctr"/>
                          <a:r>
                            <a:rPr lang="en-US" altLang="zh-TW" dirty="0" smtClean="0"/>
                            <a:t>3</a:t>
                          </a:r>
                          <a:endParaRPr lang="zh-TW" altLang="en-US" dirty="0"/>
                        </a:p>
                      </a:txBody>
                      <a:tcPr/>
                    </a:tc>
                    <a:extLst>
                      <a:ext uri="{0D108BD9-81ED-4DB2-BD59-A6C34878D82A}">
                        <a16:rowId xmlns:a16="http://schemas.microsoft.com/office/drawing/2014/main" val="528688867"/>
                      </a:ext>
                    </a:extLst>
                  </a:tr>
                  <a:tr h="377825">
                    <a:tc>
                      <a:txBody>
                        <a:bodyPr/>
                        <a:lstStyle/>
                        <a:p>
                          <a:endParaRPr lang="zh-TW"/>
                        </a:p>
                      </a:txBody>
                      <a:tcPr>
                        <a:blipFill>
                          <a:blip r:embed="rId4"/>
                          <a:stretch>
                            <a:fillRect l="-763" t="-529032" r="-602290" b="-120968"/>
                          </a:stretch>
                        </a:blipFill>
                      </a:tcPr>
                    </a:tc>
                    <a:tc>
                      <a:txBody>
                        <a:bodyPr/>
                        <a:lstStyle/>
                        <a:p>
                          <a:pPr algn="ctr"/>
                          <a:r>
                            <a:rPr lang="en-US" altLang="zh-TW" dirty="0" smtClean="0"/>
                            <a:t>24</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24</a:t>
                          </a:r>
                          <a:endParaRPr lang="zh-TW" altLang="en-US" dirty="0"/>
                        </a:p>
                      </a:txBody>
                      <a:tcPr/>
                    </a:tc>
                    <a:tc>
                      <a:txBody>
                        <a:bodyPr/>
                        <a:lstStyle/>
                        <a:p>
                          <a:pPr algn="ctr"/>
                          <a:r>
                            <a:rPr lang="en-US" altLang="zh-TW" dirty="0" smtClean="0"/>
                            <a:t>12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12</a:t>
                          </a:r>
                          <a:endParaRPr lang="zh-TW" altLang="en-US" dirty="0"/>
                        </a:p>
                      </a:txBody>
                      <a:tcPr/>
                    </a:tc>
                    <a:extLst>
                      <a:ext uri="{0D108BD9-81ED-4DB2-BD59-A6C34878D82A}">
                        <a16:rowId xmlns:a16="http://schemas.microsoft.com/office/drawing/2014/main" val="3934336742"/>
                      </a:ext>
                    </a:extLst>
                  </a:tr>
                  <a:tr h="377825">
                    <a:tc>
                      <a:txBody>
                        <a:bodyPr/>
                        <a:lstStyle/>
                        <a:p>
                          <a:endParaRPr lang="zh-TW"/>
                        </a:p>
                      </a:txBody>
                      <a:tcPr>
                        <a:blipFill>
                          <a:blip r:embed="rId4"/>
                          <a:stretch>
                            <a:fillRect l="-763" t="-629032" r="-602290" b="-20968"/>
                          </a:stretch>
                        </a:blipFill>
                      </a:tcPr>
                    </a:tc>
                    <a:tc>
                      <a:txBody>
                        <a:bodyPr/>
                        <a:lstStyle/>
                        <a:p>
                          <a:pPr algn="ctr"/>
                          <a:r>
                            <a:rPr lang="en-US" altLang="zh-TW" dirty="0" smtClean="0"/>
                            <a:t>40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40</a:t>
                          </a:r>
                          <a:endParaRPr lang="zh-TW" altLang="en-US" dirty="0"/>
                        </a:p>
                      </a:txBody>
                      <a:tcPr/>
                    </a:tc>
                    <a:tc>
                      <a:txBody>
                        <a:bodyPr/>
                        <a:lstStyle/>
                        <a:p>
                          <a:pPr algn="ctr"/>
                          <a:r>
                            <a:rPr lang="en-US" altLang="zh-TW" dirty="0" smtClean="0"/>
                            <a:t>20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20</a:t>
                          </a:r>
                          <a:endParaRPr lang="zh-TW" altLang="en-US" dirty="0"/>
                        </a:p>
                      </a:txBody>
                      <a:tcPr/>
                    </a:tc>
                    <a:extLst>
                      <a:ext uri="{0D108BD9-81ED-4DB2-BD59-A6C34878D82A}">
                        <a16:rowId xmlns:a16="http://schemas.microsoft.com/office/drawing/2014/main" val="552159340"/>
                      </a:ext>
                    </a:extLst>
                  </a:tr>
                </a:tbl>
              </a:graphicData>
            </a:graphic>
          </p:graphicFrame>
        </mc:Fallback>
      </mc:AlternateContent>
      <p:pic>
        <p:nvPicPr>
          <p:cNvPr id="4" name="內容版面配置區 3"/>
          <p:cNvPicPr>
            <a:picLocks noGrp="1" noChangeAspect="1"/>
          </p:cNvPicPr>
          <p:nvPr>
            <p:ph idx="1"/>
          </p:nvPr>
        </p:nvPicPr>
        <p:blipFill rotWithShape="1">
          <a:blip r:embed="rId5">
            <a:extLst>
              <a:ext uri="{28A0092B-C50C-407E-A947-70E740481C1C}">
                <a14:useLocalDpi xmlns:a14="http://schemas.microsoft.com/office/drawing/2010/main" val="0"/>
              </a:ext>
            </a:extLst>
          </a:blip>
          <a:srcRect l="642" t="2775"/>
          <a:stretch/>
        </p:blipFill>
        <p:spPr>
          <a:xfrm>
            <a:off x="4780722" y="4644670"/>
            <a:ext cx="4264856" cy="2144507"/>
          </a:xfrm>
        </p:spPr>
      </p:pic>
    </p:spTree>
    <p:extLst>
      <p:ext uri="{BB962C8B-B14F-4D97-AF65-F5344CB8AC3E}">
        <p14:creationId xmlns:p14="http://schemas.microsoft.com/office/powerpoint/2010/main" val="229507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4472" y="1982650"/>
            <a:ext cx="4913889" cy="4875350"/>
          </a:xfrm>
          <a:prstGeom prst="rect">
            <a:avLst/>
          </a:prstGeo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2332" y="2154332"/>
            <a:ext cx="2754474" cy="4533149"/>
          </a:xfrm>
          <a:prstGeom prst="rect">
            <a:avLst/>
          </a:prstGeom>
        </p:spPr>
      </p:pic>
      <p:pic>
        <p:nvPicPr>
          <p:cNvPr id="3" name="圖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013" y="133304"/>
            <a:ext cx="7925524" cy="1789206"/>
          </a:xfrm>
          <a:prstGeom prst="rect">
            <a:avLst/>
          </a:prstGeom>
        </p:spPr>
      </p:pic>
    </p:spTree>
    <p:extLst>
      <p:ext uri="{BB962C8B-B14F-4D97-AF65-F5344CB8AC3E}">
        <p14:creationId xmlns:p14="http://schemas.microsoft.com/office/powerpoint/2010/main" val="1785619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540" y="2592396"/>
            <a:ext cx="4876031" cy="3549988"/>
          </a:xfrm>
          <a:prstGeom prst="rect">
            <a:avLst/>
          </a:prstGeom>
        </p:spPr>
      </p:pic>
      <p:pic>
        <p:nvPicPr>
          <p:cNvPr id="5" name="內容版面配置區 3"/>
          <p:cNvPicPr>
            <a:picLocks noGrp="1" noChangeAspect="1"/>
          </p:cNvPicPr>
          <p:nvPr>
            <p:ph idx="1"/>
          </p:nvPr>
        </p:nvPicPr>
        <p:blipFill rotWithShape="1">
          <a:blip r:embed="rId3">
            <a:extLst>
              <a:ext uri="{28A0092B-C50C-407E-A947-70E740481C1C}">
                <a14:useLocalDpi xmlns:a14="http://schemas.microsoft.com/office/drawing/2010/main" val="0"/>
              </a:ext>
            </a:extLst>
          </a:blip>
          <a:srcRect l="642" t="2775"/>
          <a:stretch/>
        </p:blipFill>
        <p:spPr>
          <a:xfrm>
            <a:off x="99392" y="0"/>
            <a:ext cx="4264856" cy="2144507"/>
          </a:xfrm>
        </p:spPr>
      </p:pic>
      <p:graphicFrame>
        <p:nvGraphicFramePr>
          <p:cNvPr id="7" name="表格 6"/>
          <p:cNvGraphicFramePr>
            <a:graphicFrameLocks noGrp="1"/>
          </p:cNvGraphicFramePr>
          <p:nvPr>
            <p:extLst>
              <p:ext uri="{D42A27DB-BD31-4B8C-83A1-F6EECF244321}">
                <p14:modId xmlns:p14="http://schemas.microsoft.com/office/powerpoint/2010/main" val="2529850173"/>
              </p:ext>
            </p:extLst>
          </p:nvPr>
        </p:nvGraphicFramePr>
        <p:xfrm>
          <a:off x="6470372" y="89452"/>
          <a:ext cx="1530628" cy="5496338"/>
        </p:xfrm>
        <a:graphic>
          <a:graphicData uri="http://schemas.openxmlformats.org/drawingml/2006/table">
            <a:tbl>
              <a:tblPr firstRow="1" bandRow="1">
                <a:tableStyleId>{5C22544A-7EE6-4342-B048-85BDC9FD1C3A}</a:tableStyleId>
              </a:tblPr>
              <a:tblGrid>
                <a:gridCol w="716784">
                  <a:extLst>
                    <a:ext uri="{9D8B030D-6E8A-4147-A177-3AD203B41FA5}">
                      <a16:colId xmlns:a16="http://schemas.microsoft.com/office/drawing/2014/main" val="658340919"/>
                    </a:ext>
                  </a:extLst>
                </a:gridCol>
                <a:gridCol w="813844">
                  <a:extLst>
                    <a:ext uri="{9D8B030D-6E8A-4147-A177-3AD203B41FA5}">
                      <a16:colId xmlns:a16="http://schemas.microsoft.com/office/drawing/2014/main" val="1461931103"/>
                    </a:ext>
                  </a:extLst>
                </a:gridCol>
              </a:tblGrid>
              <a:tr h="961633">
                <a:tc>
                  <a:txBody>
                    <a:bodyPr/>
                    <a:lstStyle/>
                    <a:p>
                      <a:r>
                        <a:rPr lang="en-US" altLang="zh-TW" dirty="0" smtClean="0"/>
                        <a:t>Task</a:t>
                      </a:r>
                      <a:endParaRPr lang="zh-TW" altLang="en-US" dirty="0"/>
                    </a:p>
                  </a:txBody>
                  <a:tcPr/>
                </a:tc>
                <a:tc>
                  <a:txBody>
                    <a:bodyPr/>
                    <a:lstStyle/>
                    <a:p>
                      <a:r>
                        <a:rPr lang="en-US" altLang="zh-TW" dirty="0" smtClean="0"/>
                        <a:t>Rank</a:t>
                      </a:r>
                      <a:endParaRPr lang="zh-TW" altLang="en-US" dirty="0"/>
                    </a:p>
                  </a:txBody>
                  <a:tcPr/>
                </a:tc>
                <a:extLst>
                  <a:ext uri="{0D108BD9-81ED-4DB2-BD59-A6C34878D82A}">
                    <a16:rowId xmlns:a16="http://schemas.microsoft.com/office/drawing/2014/main" val="1744960161"/>
                  </a:ext>
                </a:extLst>
              </a:tr>
              <a:tr h="906941">
                <a:tc>
                  <a:txBody>
                    <a:bodyPr/>
                    <a:lstStyle/>
                    <a:p>
                      <a:r>
                        <a:rPr lang="en-US" altLang="zh-TW" dirty="0" smtClean="0"/>
                        <a:t>n3</a:t>
                      </a:r>
                      <a:endParaRPr lang="zh-TW" altLang="en-US" dirty="0"/>
                    </a:p>
                  </a:txBody>
                  <a:tcPr/>
                </a:tc>
                <a:tc>
                  <a:txBody>
                    <a:bodyPr/>
                    <a:lstStyle/>
                    <a:p>
                      <a:r>
                        <a:rPr lang="en-US" altLang="zh-TW" dirty="0" smtClean="0"/>
                        <a:t>32.33</a:t>
                      </a:r>
                      <a:endParaRPr lang="zh-TW" altLang="en-US" dirty="0"/>
                    </a:p>
                  </a:txBody>
                  <a:tcPr/>
                </a:tc>
                <a:extLst>
                  <a:ext uri="{0D108BD9-81ED-4DB2-BD59-A6C34878D82A}">
                    <a16:rowId xmlns:a16="http://schemas.microsoft.com/office/drawing/2014/main" val="596342072"/>
                  </a:ext>
                </a:extLst>
              </a:tr>
              <a:tr h="906941">
                <a:tc>
                  <a:txBody>
                    <a:bodyPr/>
                    <a:lstStyle/>
                    <a:p>
                      <a:r>
                        <a:rPr lang="en-US" altLang="zh-TW" dirty="0" smtClean="0"/>
                        <a:t>n1</a:t>
                      </a:r>
                      <a:endParaRPr lang="zh-TW" altLang="en-US" dirty="0"/>
                    </a:p>
                  </a:txBody>
                  <a:tcPr/>
                </a:tc>
                <a:tc>
                  <a:txBody>
                    <a:bodyPr/>
                    <a:lstStyle/>
                    <a:p>
                      <a:r>
                        <a:rPr lang="en-US" altLang="zh-TW" dirty="0" smtClean="0"/>
                        <a:t>21.51</a:t>
                      </a:r>
                      <a:endParaRPr lang="zh-TW" altLang="en-US" dirty="0"/>
                    </a:p>
                  </a:txBody>
                  <a:tcPr/>
                </a:tc>
                <a:extLst>
                  <a:ext uri="{0D108BD9-81ED-4DB2-BD59-A6C34878D82A}">
                    <a16:rowId xmlns:a16="http://schemas.microsoft.com/office/drawing/2014/main" val="898144824"/>
                  </a:ext>
                </a:extLst>
              </a:tr>
              <a:tr h="906941">
                <a:tc>
                  <a:txBody>
                    <a:bodyPr/>
                    <a:lstStyle/>
                    <a:p>
                      <a:r>
                        <a:rPr lang="en-US" altLang="zh-TW" dirty="0" smtClean="0"/>
                        <a:t>n4</a:t>
                      </a:r>
                      <a:endParaRPr lang="zh-TW" altLang="en-US" dirty="0"/>
                    </a:p>
                  </a:txBody>
                  <a:tcPr/>
                </a:tc>
                <a:tc>
                  <a:txBody>
                    <a:bodyPr/>
                    <a:lstStyle/>
                    <a:p>
                      <a:r>
                        <a:rPr lang="en-US" altLang="zh-TW" dirty="0" smtClean="0"/>
                        <a:t>18.34</a:t>
                      </a:r>
                      <a:endParaRPr lang="zh-TW" altLang="en-US" dirty="0"/>
                    </a:p>
                  </a:txBody>
                  <a:tcPr/>
                </a:tc>
                <a:extLst>
                  <a:ext uri="{0D108BD9-81ED-4DB2-BD59-A6C34878D82A}">
                    <a16:rowId xmlns:a16="http://schemas.microsoft.com/office/drawing/2014/main" val="1743030040"/>
                  </a:ext>
                </a:extLst>
              </a:tr>
              <a:tr h="906941">
                <a:tc>
                  <a:txBody>
                    <a:bodyPr/>
                    <a:lstStyle/>
                    <a:p>
                      <a:r>
                        <a:rPr lang="en-US" altLang="zh-TW" dirty="0" smtClean="0"/>
                        <a:t>n2</a:t>
                      </a:r>
                      <a:endParaRPr lang="zh-TW" altLang="en-US" dirty="0"/>
                    </a:p>
                  </a:txBody>
                  <a:tcPr/>
                </a:tc>
                <a:tc>
                  <a:txBody>
                    <a:bodyPr/>
                    <a:lstStyle/>
                    <a:p>
                      <a:r>
                        <a:rPr lang="en-US" altLang="zh-TW" dirty="0" smtClean="0"/>
                        <a:t>10.5</a:t>
                      </a:r>
                      <a:endParaRPr lang="zh-TW" altLang="en-US" dirty="0"/>
                    </a:p>
                  </a:txBody>
                  <a:tcPr/>
                </a:tc>
                <a:extLst>
                  <a:ext uri="{0D108BD9-81ED-4DB2-BD59-A6C34878D82A}">
                    <a16:rowId xmlns:a16="http://schemas.microsoft.com/office/drawing/2014/main" val="805527542"/>
                  </a:ext>
                </a:extLst>
              </a:tr>
              <a:tr h="906941">
                <a:tc>
                  <a:txBody>
                    <a:bodyPr/>
                    <a:lstStyle/>
                    <a:p>
                      <a:r>
                        <a:rPr lang="en-US" altLang="zh-TW" dirty="0" smtClean="0"/>
                        <a:t>n5</a:t>
                      </a:r>
                      <a:endParaRPr lang="zh-TW" altLang="en-US" dirty="0"/>
                    </a:p>
                  </a:txBody>
                  <a:tcPr/>
                </a:tc>
                <a:tc>
                  <a:txBody>
                    <a:bodyPr/>
                    <a:lstStyle/>
                    <a:p>
                      <a:r>
                        <a:rPr lang="en-US" altLang="zh-TW" dirty="0" smtClean="0"/>
                        <a:t>2.67</a:t>
                      </a:r>
                      <a:endParaRPr lang="zh-TW" altLang="en-US" dirty="0"/>
                    </a:p>
                  </a:txBody>
                  <a:tcPr/>
                </a:tc>
                <a:extLst>
                  <a:ext uri="{0D108BD9-81ED-4DB2-BD59-A6C34878D82A}">
                    <a16:rowId xmlns:a16="http://schemas.microsoft.com/office/drawing/2014/main" val="3023951236"/>
                  </a:ext>
                </a:extLst>
              </a:tr>
            </a:tbl>
          </a:graphicData>
        </a:graphic>
      </p:graphicFrame>
    </p:spTree>
    <p:extLst>
      <p:ext uri="{BB962C8B-B14F-4D97-AF65-F5344CB8AC3E}">
        <p14:creationId xmlns:p14="http://schemas.microsoft.com/office/powerpoint/2010/main" val="1353072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9" name="表格 8"/>
              <p:cNvGraphicFramePr>
                <a:graphicFrameLocks noGrp="1"/>
              </p:cNvGraphicFramePr>
              <p:nvPr>
                <p:extLst>
                  <p:ext uri="{D42A27DB-BD31-4B8C-83A1-F6EECF244321}">
                    <p14:modId xmlns:p14="http://schemas.microsoft.com/office/powerpoint/2010/main" val="1703269035"/>
                  </p:ext>
                </p:extLst>
              </p:nvPr>
            </p:nvGraphicFramePr>
            <p:xfrm>
              <a:off x="109332" y="765312"/>
              <a:ext cx="8766311" cy="2324083"/>
            </p:xfrm>
            <a:graphic>
              <a:graphicData uri="http://schemas.openxmlformats.org/drawingml/2006/table">
                <a:tbl>
                  <a:tblPr firstRow="1" bandRow="1">
                    <a:tableStyleId>{5C22544A-7EE6-4342-B048-85BDC9FD1C3A}</a:tableStyleId>
                  </a:tblPr>
                  <a:tblGrid>
                    <a:gridCol w="376621">
                      <a:extLst>
                        <a:ext uri="{9D8B030D-6E8A-4147-A177-3AD203B41FA5}">
                          <a16:colId xmlns:a16="http://schemas.microsoft.com/office/drawing/2014/main" val="363824538"/>
                        </a:ext>
                      </a:extLst>
                    </a:gridCol>
                    <a:gridCol w="409007">
                      <a:extLst>
                        <a:ext uri="{9D8B030D-6E8A-4147-A177-3AD203B41FA5}">
                          <a16:colId xmlns:a16="http://schemas.microsoft.com/office/drawing/2014/main" val="1533809397"/>
                        </a:ext>
                      </a:extLst>
                    </a:gridCol>
                    <a:gridCol w="392811">
                      <a:extLst>
                        <a:ext uri="{9D8B030D-6E8A-4147-A177-3AD203B41FA5}">
                          <a16:colId xmlns:a16="http://schemas.microsoft.com/office/drawing/2014/main" val="864550389"/>
                        </a:ext>
                      </a:extLst>
                    </a:gridCol>
                    <a:gridCol w="392811">
                      <a:extLst>
                        <a:ext uri="{9D8B030D-6E8A-4147-A177-3AD203B41FA5}">
                          <a16:colId xmlns:a16="http://schemas.microsoft.com/office/drawing/2014/main" val="2489627712"/>
                        </a:ext>
                      </a:extLst>
                    </a:gridCol>
                    <a:gridCol w="392811">
                      <a:extLst>
                        <a:ext uri="{9D8B030D-6E8A-4147-A177-3AD203B41FA5}">
                          <a16:colId xmlns:a16="http://schemas.microsoft.com/office/drawing/2014/main" val="1598187920"/>
                        </a:ext>
                      </a:extLst>
                    </a:gridCol>
                    <a:gridCol w="392811">
                      <a:extLst>
                        <a:ext uri="{9D8B030D-6E8A-4147-A177-3AD203B41FA5}">
                          <a16:colId xmlns:a16="http://schemas.microsoft.com/office/drawing/2014/main" val="1900604499"/>
                        </a:ext>
                      </a:extLst>
                    </a:gridCol>
                    <a:gridCol w="392811">
                      <a:extLst>
                        <a:ext uri="{9D8B030D-6E8A-4147-A177-3AD203B41FA5}">
                          <a16:colId xmlns:a16="http://schemas.microsoft.com/office/drawing/2014/main" val="471084119"/>
                        </a:ext>
                      </a:extLst>
                    </a:gridCol>
                    <a:gridCol w="392811">
                      <a:extLst>
                        <a:ext uri="{9D8B030D-6E8A-4147-A177-3AD203B41FA5}">
                          <a16:colId xmlns:a16="http://schemas.microsoft.com/office/drawing/2014/main" val="3153522526"/>
                        </a:ext>
                      </a:extLst>
                    </a:gridCol>
                    <a:gridCol w="392811">
                      <a:extLst>
                        <a:ext uri="{9D8B030D-6E8A-4147-A177-3AD203B41FA5}">
                          <a16:colId xmlns:a16="http://schemas.microsoft.com/office/drawing/2014/main" val="3700175576"/>
                        </a:ext>
                      </a:extLst>
                    </a:gridCol>
                    <a:gridCol w="392811">
                      <a:extLst>
                        <a:ext uri="{9D8B030D-6E8A-4147-A177-3AD203B41FA5}">
                          <a16:colId xmlns:a16="http://schemas.microsoft.com/office/drawing/2014/main" val="1217584861"/>
                        </a:ext>
                      </a:extLst>
                    </a:gridCol>
                    <a:gridCol w="392811">
                      <a:extLst>
                        <a:ext uri="{9D8B030D-6E8A-4147-A177-3AD203B41FA5}">
                          <a16:colId xmlns:a16="http://schemas.microsoft.com/office/drawing/2014/main" val="2472348050"/>
                        </a:ext>
                      </a:extLst>
                    </a:gridCol>
                    <a:gridCol w="392811">
                      <a:extLst>
                        <a:ext uri="{9D8B030D-6E8A-4147-A177-3AD203B41FA5}">
                          <a16:colId xmlns:a16="http://schemas.microsoft.com/office/drawing/2014/main" val="2724974456"/>
                        </a:ext>
                      </a:extLst>
                    </a:gridCol>
                    <a:gridCol w="392811">
                      <a:extLst>
                        <a:ext uri="{9D8B030D-6E8A-4147-A177-3AD203B41FA5}">
                          <a16:colId xmlns:a16="http://schemas.microsoft.com/office/drawing/2014/main" val="610293106"/>
                        </a:ext>
                      </a:extLst>
                    </a:gridCol>
                    <a:gridCol w="392811">
                      <a:extLst>
                        <a:ext uri="{9D8B030D-6E8A-4147-A177-3AD203B41FA5}">
                          <a16:colId xmlns:a16="http://schemas.microsoft.com/office/drawing/2014/main" val="2437871604"/>
                        </a:ext>
                      </a:extLst>
                    </a:gridCol>
                    <a:gridCol w="392811">
                      <a:extLst>
                        <a:ext uri="{9D8B030D-6E8A-4147-A177-3AD203B41FA5}">
                          <a16:colId xmlns:a16="http://schemas.microsoft.com/office/drawing/2014/main" val="2433159749"/>
                        </a:ext>
                      </a:extLst>
                    </a:gridCol>
                    <a:gridCol w="521258">
                      <a:extLst>
                        <a:ext uri="{9D8B030D-6E8A-4147-A177-3AD203B41FA5}">
                          <a16:colId xmlns:a16="http://schemas.microsoft.com/office/drawing/2014/main" val="515619282"/>
                        </a:ext>
                      </a:extLst>
                    </a:gridCol>
                    <a:gridCol w="432057">
                      <a:extLst>
                        <a:ext uri="{9D8B030D-6E8A-4147-A177-3AD203B41FA5}">
                          <a16:colId xmlns:a16="http://schemas.microsoft.com/office/drawing/2014/main" val="818795684"/>
                        </a:ext>
                      </a:extLst>
                    </a:gridCol>
                    <a:gridCol w="357120">
                      <a:extLst>
                        <a:ext uri="{9D8B030D-6E8A-4147-A177-3AD203B41FA5}">
                          <a16:colId xmlns:a16="http://schemas.microsoft.com/office/drawing/2014/main" val="3499884170"/>
                        </a:ext>
                      </a:extLst>
                    </a:gridCol>
                    <a:gridCol w="361071">
                      <a:extLst>
                        <a:ext uri="{9D8B030D-6E8A-4147-A177-3AD203B41FA5}">
                          <a16:colId xmlns:a16="http://schemas.microsoft.com/office/drawing/2014/main" val="1410603613"/>
                        </a:ext>
                      </a:extLst>
                    </a:gridCol>
                    <a:gridCol w="477078">
                      <a:extLst>
                        <a:ext uri="{9D8B030D-6E8A-4147-A177-3AD203B41FA5}">
                          <a16:colId xmlns:a16="http://schemas.microsoft.com/office/drawing/2014/main" val="334794267"/>
                        </a:ext>
                      </a:extLst>
                    </a:gridCol>
                    <a:gridCol w="347870">
                      <a:extLst>
                        <a:ext uri="{9D8B030D-6E8A-4147-A177-3AD203B41FA5}">
                          <a16:colId xmlns:a16="http://schemas.microsoft.com/office/drawing/2014/main" val="169999403"/>
                        </a:ext>
                      </a:extLst>
                    </a:gridCol>
                    <a:gridCol w="377686">
                      <a:extLst>
                        <a:ext uri="{9D8B030D-6E8A-4147-A177-3AD203B41FA5}">
                          <a16:colId xmlns:a16="http://schemas.microsoft.com/office/drawing/2014/main" val="2272195481"/>
                        </a:ext>
                      </a:extLst>
                    </a:gridCol>
                  </a:tblGrid>
                  <a:tr h="565381">
                    <a:tc>
                      <a:txBody>
                        <a:bodyPr/>
                        <a:lstStyle/>
                        <a:p>
                          <a:pPr/>
                          <a14:m>
                            <m:oMathPara xmlns:m="http://schemas.openxmlformats.org/officeDocument/2006/math">
                              <m:oMathParaPr>
                                <m:jc m:val="centerGroup"/>
                              </m:oMathParaPr>
                              <m:oMath xmlns:m="http://schemas.openxmlformats.org/officeDocument/2006/math">
                                <m:sSub>
                                  <m:sSubPr>
                                    <m:ctrlPr>
                                      <a:rPr lang="en-US" altLang="zh-TW" sz="1800" i="1" smtClean="0">
                                        <a:solidFill>
                                          <a:schemeClr val="tx1"/>
                                        </a:solidFill>
                                        <a:latin typeface="Cambria Math" panose="02040503050406030204" pitchFamily="18" charset="0"/>
                                      </a:rPr>
                                    </m:ctrlPr>
                                  </m:sSubPr>
                                  <m:e>
                                    <m:r>
                                      <m:rPr>
                                        <m:sty m:val="p"/>
                                      </m:rPr>
                                      <a:rPr lang="en-US" altLang="zh-TW" sz="1800" i="1" smtClean="0">
                                        <a:solidFill>
                                          <a:schemeClr val="tx1"/>
                                        </a:solidFill>
                                        <a:latin typeface="Cambria Math" panose="02040503050406030204" pitchFamily="18" charset="0"/>
                                      </a:rPr>
                                      <m:t>P</m:t>
                                    </m:r>
                                  </m:e>
                                  <m:sub>
                                    <m:r>
                                      <a:rPr lang="en-US" altLang="zh-TW" sz="1800" b="0" i="1" smtClean="0">
                                        <a:solidFill>
                                          <a:schemeClr val="tx1"/>
                                        </a:solidFill>
                                        <a:latin typeface="Cambria Math" panose="02040503050406030204" pitchFamily="18" charset="0"/>
                                      </a:rPr>
                                      <m:t>1</m:t>
                                    </m:r>
                                  </m:sub>
                                </m:sSub>
                              </m:oMath>
                            </m:oMathPara>
                          </a14:m>
                          <a:endParaRPr lang="zh-TW" altLang="en-US" sz="1800" dirty="0"/>
                        </a:p>
                      </a:txBody>
                      <a:tcPr>
                        <a:solidFill>
                          <a:schemeClr val="tx2">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𝑛</m:t>
                                    </m:r>
                                  </m:e>
                                  <m:sub>
                                    <m:r>
                                      <a:rPr lang="en-US" altLang="zh-TW" b="0" i="1" smtClean="0">
                                        <a:solidFill>
                                          <a:schemeClr val="tx1"/>
                                        </a:solidFill>
                                        <a:latin typeface="Cambria Math" panose="02040503050406030204" pitchFamily="18" charset="0"/>
                                      </a:rPr>
                                      <m:t>1</m:t>
                                    </m:r>
                                  </m:sub>
                                </m:sSub>
                              </m:oMath>
                            </m:oMathPara>
                          </a14:m>
                          <a:endParaRPr lang="zh-TW" altLang="en-US" dirty="0"/>
                        </a:p>
                        <a:p>
                          <a:endParaRPr lang="zh-TW" altLang="en-US" sz="1800" dirty="0"/>
                        </a:p>
                      </a:txBody>
                      <a:tcPr>
                        <a:solidFill>
                          <a:srgbClr val="FFFF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𝑛</m:t>
                                    </m:r>
                                  </m:e>
                                  <m:sub>
                                    <m:r>
                                      <a:rPr lang="en-US" altLang="zh-TW" b="0" i="1" smtClean="0">
                                        <a:solidFill>
                                          <a:schemeClr val="tx1"/>
                                        </a:solidFill>
                                        <a:latin typeface="Cambria Math" panose="02040503050406030204" pitchFamily="18" charset="0"/>
                                      </a:rPr>
                                      <m:t>1</m:t>
                                    </m:r>
                                  </m:sub>
                                </m:sSub>
                              </m:oMath>
                            </m:oMathPara>
                          </a14:m>
                          <a:endParaRPr lang="zh-TW" altLang="en-US" dirty="0"/>
                        </a:p>
                        <a:p>
                          <a:endParaRPr lang="zh-TW" altLang="en-US" sz="1800" dirty="0"/>
                        </a:p>
                      </a:txBody>
                      <a:tcPr>
                        <a:solidFill>
                          <a:srgbClr val="FFFF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𝑛</m:t>
                                    </m:r>
                                  </m:e>
                                  <m:sub>
                                    <m:r>
                                      <a:rPr lang="en-US" altLang="zh-TW" b="0" i="1" smtClean="0">
                                        <a:solidFill>
                                          <a:schemeClr val="tx1"/>
                                        </a:solidFill>
                                        <a:latin typeface="Cambria Math" panose="02040503050406030204" pitchFamily="18" charset="0"/>
                                      </a:rPr>
                                      <m:t>2</m:t>
                                    </m:r>
                                  </m:sub>
                                </m:sSub>
                              </m:oMath>
                            </m:oMathPara>
                          </a14:m>
                          <a:endParaRPr lang="zh-TW" altLang="en-US" dirty="0"/>
                        </a:p>
                      </a:txBody>
                      <a:tcPr>
                        <a:solidFill>
                          <a:srgbClr val="00B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𝑛</m:t>
                                    </m:r>
                                  </m:e>
                                  <m:sub>
                                    <m:r>
                                      <a:rPr lang="en-US" altLang="zh-TW" b="0" i="1" smtClean="0">
                                        <a:solidFill>
                                          <a:schemeClr val="tx1"/>
                                        </a:solidFill>
                                        <a:latin typeface="Cambria Math" panose="02040503050406030204" pitchFamily="18" charset="0"/>
                                      </a:rPr>
                                      <m:t>2</m:t>
                                    </m:r>
                                  </m:sub>
                                </m:sSub>
                              </m:oMath>
                            </m:oMathPara>
                          </a14:m>
                          <a:endParaRPr lang="zh-TW"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dirty="0"/>
                        </a:p>
                      </a:txBody>
                      <a:tcPr>
                        <a:solidFill>
                          <a:srgbClr val="00B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𝑛</m:t>
                                    </m:r>
                                  </m:e>
                                  <m:sub>
                                    <m:r>
                                      <a:rPr lang="en-US" altLang="zh-TW" b="0" i="1" smtClean="0">
                                        <a:solidFill>
                                          <a:schemeClr val="tx1"/>
                                        </a:solidFill>
                                        <a:latin typeface="Cambria Math" panose="02040503050406030204" pitchFamily="18" charset="0"/>
                                      </a:rPr>
                                      <m:t>2</m:t>
                                    </m:r>
                                  </m:sub>
                                </m:sSub>
                              </m:oMath>
                            </m:oMathPara>
                          </a14:m>
                          <a:endParaRPr lang="zh-TW" altLang="en-US" dirty="0"/>
                        </a:p>
                        <a:p>
                          <a:endParaRPr lang="zh-TW" altLang="en-US" sz="1800" dirty="0"/>
                        </a:p>
                      </a:txBody>
                      <a:tcPr>
                        <a:solidFill>
                          <a:srgbClr val="00B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𝑛</m:t>
                                    </m:r>
                                  </m:e>
                                  <m:sub>
                                    <m:r>
                                      <a:rPr lang="en-US" altLang="zh-TW" b="0" i="1" smtClean="0">
                                        <a:solidFill>
                                          <a:schemeClr val="tx1"/>
                                        </a:solidFill>
                                        <a:latin typeface="Cambria Math" panose="02040503050406030204" pitchFamily="18" charset="0"/>
                                      </a:rPr>
                                      <m:t>2</m:t>
                                    </m:r>
                                  </m:sub>
                                </m:sSub>
                              </m:oMath>
                            </m:oMathPara>
                          </a14:m>
                          <a:endParaRPr lang="zh-TW" altLang="en-US" dirty="0"/>
                        </a:p>
                        <a:p>
                          <a:endParaRPr lang="zh-TW" altLang="en-US" sz="1800" dirty="0"/>
                        </a:p>
                      </a:txBody>
                      <a:tcPr>
                        <a:solidFill>
                          <a:srgbClr val="00B050"/>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extLst>
                      <a:ext uri="{0D108BD9-81ED-4DB2-BD59-A6C34878D82A}">
                        <a16:rowId xmlns:a16="http://schemas.microsoft.com/office/drawing/2014/main" val="150831106"/>
                      </a:ext>
                    </a:extLst>
                  </a:tr>
                  <a:tr h="5717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800" i="1" smtClean="0">
                                        <a:solidFill>
                                          <a:schemeClr val="tx1"/>
                                        </a:solidFill>
                                        <a:latin typeface="Cambria Math" panose="02040503050406030204" pitchFamily="18" charset="0"/>
                                      </a:rPr>
                                    </m:ctrlPr>
                                  </m:sSubPr>
                                  <m:e>
                                    <m:r>
                                      <m:rPr>
                                        <m:sty m:val="p"/>
                                      </m:rPr>
                                      <a:rPr lang="en-US" altLang="zh-TW" sz="1800" i="1" smtClean="0">
                                        <a:solidFill>
                                          <a:schemeClr val="tx1"/>
                                        </a:solidFill>
                                        <a:latin typeface="Cambria Math" panose="02040503050406030204" pitchFamily="18" charset="0"/>
                                      </a:rPr>
                                      <m:t>P</m:t>
                                    </m:r>
                                  </m:e>
                                  <m:sub>
                                    <m:r>
                                      <a:rPr lang="en-US" altLang="zh-TW" sz="1800" i="1" smtClean="0">
                                        <a:solidFill>
                                          <a:schemeClr val="tx1"/>
                                        </a:solidFill>
                                        <a:latin typeface="Cambria Math" panose="02040503050406030204" pitchFamily="18" charset="0"/>
                                      </a:rPr>
                                      <m:t>2</m:t>
                                    </m:r>
                                  </m:sub>
                                </m:sSub>
                              </m:oMath>
                            </m:oMathPara>
                          </a14:m>
                          <a:endParaRPr lang="zh-TW" altLang="en-US" sz="1800" dirty="0"/>
                        </a:p>
                      </a:txBody>
                      <a:tcPr>
                        <a:solidFill>
                          <a:schemeClr val="tx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800" i="1" smtClean="0">
                                        <a:solidFill>
                                          <a:schemeClr val="tx1"/>
                                        </a:solidFill>
                                        <a:latin typeface="Cambria Math" panose="02040503050406030204" pitchFamily="18" charset="0"/>
                                      </a:rPr>
                                    </m:ctrlPr>
                                  </m:sSubPr>
                                  <m:e>
                                    <m:r>
                                      <a:rPr lang="en-US" altLang="zh-TW" sz="1800" b="0" i="1" smtClean="0">
                                        <a:solidFill>
                                          <a:schemeClr val="tx1"/>
                                        </a:solidFill>
                                        <a:latin typeface="Cambria Math" panose="02040503050406030204" pitchFamily="18" charset="0"/>
                                      </a:rPr>
                                      <m:t>𝑛</m:t>
                                    </m:r>
                                  </m:e>
                                  <m:sub>
                                    <m:r>
                                      <a:rPr lang="en-US" altLang="zh-TW" sz="1800" i="1" smtClean="0">
                                        <a:solidFill>
                                          <a:schemeClr val="tx1"/>
                                        </a:solidFill>
                                        <a:latin typeface="Cambria Math" panose="02040503050406030204" pitchFamily="18" charset="0"/>
                                      </a:rPr>
                                      <m:t>3</m:t>
                                    </m:r>
                                  </m:sub>
                                </m:sSub>
                              </m:oMath>
                            </m:oMathPara>
                          </a14:m>
                          <a:endParaRPr lang="zh-TW" altLang="en-US" sz="1800" dirty="0"/>
                        </a:p>
                      </a:txBody>
                      <a:tcPr>
                        <a:solidFill>
                          <a:schemeClr val="accent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800" i="1" smtClean="0">
                                        <a:solidFill>
                                          <a:schemeClr val="tx1"/>
                                        </a:solidFill>
                                        <a:latin typeface="Cambria Math" panose="02040503050406030204" pitchFamily="18" charset="0"/>
                                      </a:rPr>
                                    </m:ctrlPr>
                                  </m:sSubPr>
                                  <m:e>
                                    <m:r>
                                      <a:rPr lang="en-US" altLang="zh-TW" sz="1800" b="0" i="1" smtClean="0">
                                        <a:solidFill>
                                          <a:schemeClr val="tx1"/>
                                        </a:solidFill>
                                        <a:latin typeface="Cambria Math" panose="02040503050406030204" pitchFamily="18" charset="0"/>
                                      </a:rPr>
                                      <m:t>𝑛</m:t>
                                    </m:r>
                                  </m:e>
                                  <m:sub>
                                    <m:r>
                                      <a:rPr lang="en-US" altLang="zh-TW" sz="1800" i="1" smtClean="0">
                                        <a:solidFill>
                                          <a:schemeClr val="tx1"/>
                                        </a:solidFill>
                                        <a:latin typeface="Cambria Math" panose="02040503050406030204" pitchFamily="18" charset="0"/>
                                      </a:rPr>
                                      <m:t>3</m:t>
                                    </m:r>
                                  </m:sub>
                                </m:sSub>
                              </m:oMath>
                            </m:oMathPara>
                          </a14:m>
                          <a:endParaRPr lang="zh-TW" altLang="en-US" sz="1800" dirty="0"/>
                        </a:p>
                      </a:txBody>
                      <a:tcPr>
                        <a:solidFill>
                          <a:schemeClr val="accent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800" i="1" smtClean="0">
                                        <a:solidFill>
                                          <a:schemeClr val="tx1"/>
                                        </a:solidFill>
                                        <a:latin typeface="Cambria Math" panose="02040503050406030204" pitchFamily="18" charset="0"/>
                                      </a:rPr>
                                    </m:ctrlPr>
                                  </m:sSubPr>
                                  <m:e>
                                    <m:r>
                                      <a:rPr lang="en-US" altLang="zh-TW" sz="1800" b="0" i="1" smtClean="0">
                                        <a:solidFill>
                                          <a:schemeClr val="tx1"/>
                                        </a:solidFill>
                                        <a:latin typeface="Cambria Math" panose="02040503050406030204" pitchFamily="18" charset="0"/>
                                      </a:rPr>
                                      <m:t>𝑛</m:t>
                                    </m:r>
                                  </m:e>
                                  <m:sub>
                                    <m:r>
                                      <a:rPr lang="en-US" altLang="zh-TW" sz="1800" i="1" smtClean="0">
                                        <a:solidFill>
                                          <a:schemeClr val="tx1"/>
                                        </a:solidFill>
                                        <a:latin typeface="Cambria Math" panose="02040503050406030204" pitchFamily="18" charset="0"/>
                                      </a:rPr>
                                      <m:t>3</m:t>
                                    </m:r>
                                  </m:sub>
                                </m:sSub>
                              </m:oMath>
                            </m:oMathPara>
                          </a14:m>
                          <a:endParaRPr lang="zh-TW" altLang="en-US" sz="1800" dirty="0"/>
                        </a:p>
                        <a:p>
                          <a:endParaRPr lang="zh-TW" altLang="en-US" sz="1800" dirty="0"/>
                        </a:p>
                      </a:txBody>
                      <a:tcPr>
                        <a:solidFill>
                          <a:schemeClr val="accent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800" i="1" smtClean="0">
                                        <a:solidFill>
                                          <a:schemeClr val="tx1"/>
                                        </a:solidFill>
                                        <a:latin typeface="Cambria Math" panose="02040503050406030204" pitchFamily="18" charset="0"/>
                                      </a:rPr>
                                    </m:ctrlPr>
                                  </m:sSubPr>
                                  <m:e>
                                    <m:r>
                                      <a:rPr lang="en-US" altLang="zh-TW" sz="1800" b="0" i="1" smtClean="0">
                                        <a:solidFill>
                                          <a:schemeClr val="tx1"/>
                                        </a:solidFill>
                                        <a:latin typeface="Cambria Math" panose="02040503050406030204" pitchFamily="18" charset="0"/>
                                      </a:rPr>
                                      <m:t>𝑛</m:t>
                                    </m:r>
                                  </m:e>
                                  <m:sub>
                                    <m:r>
                                      <a:rPr lang="en-US" altLang="zh-TW" sz="1800" i="1" smtClean="0">
                                        <a:solidFill>
                                          <a:schemeClr val="tx1"/>
                                        </a:solidFill>
                                        <a:latin typeface="Cambria Math" panose="02040503050406030204" pitchFamily="18" charset="0"/>
                                      </a:rPr>
                                      <m:t>3</m:t>
                                    </m:r>
                                  </m:sub>
                                </m:sSub>
                              </m:oMath>
                            </m:oMathPara>
                          </a14:m>
                          <a:endParaRPr lang="zh-TW" altLang="en-US" sz="1800" dirty="0"/>
                        </a:p>
                        <a:p>
                          <a:endParaRPr lang="zh-TW" altLang="en-US" sz="1800"/>
                        </a:p>
                      </a:txBody>
                      <a:tcPr>
                        <a:solidFill>
                          <a:schemeClr val="accent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800" i="1" smtClean="0">
                                        <a:solidFill>
                                          <a:schemeClr val="tx1"/>
                                        </a:solidFill>
                                        <a:latin typeface="Cambria Math" panose="02040503050406030204" pitchFamily="18" charset="0"/>
                                      </a:rPr>
                                    </m:ctrlPr>
                                  </m:sSubPr>
                                  <m:e>
                                    <m:r>
                                      <a:rPr lang="en-US" altLang="zh-TW" sz="1800" b="0" i="1" smtClean="0">
                                        <a:solidFill>
                                          <a:schemeClr val="tx1"/>
                                        </a:solidFill>
                                        <a:latin typeface="Cambria Math" panose="02040503050406030204" pitchFamily="18" charset="0"/>
                                      </a:rPr>
                                      <m:t>𝑛</m:t>
                                    </m:r>
                                  </m:e>
                                  <m:sub>
                                    <m:r>
                                      <a:rPr lang="en-US" altLang="zh-TW" sz="1800" i="1" smtClean="0">
                                        <a:solidFill>
                                          <a:schemeClr val="tx1"/>
                                        </a:solidFill>
                                        <a:latin typeface="Cambria Math" panose="02040503050406030204" pitchFamily="18" charset="0"/>
                                      </a:rPr>
                                      <m:t>3</m:t>
                                    </m:r>
                                  </m:sub>
                                </m:sSub>
                              </m:oMath>
                            </m:oMathPara>
                          </a14:m>
                          <a:endParaRPr lang="zh-TW" altLang="en-US" sz="1800" dirty="0"/>
                        </a:p>
                        <a:p>
                          <a:endParaRPr lang="zh-TW" altLang="en-US" sz="1800" dirty="0"/>
                        </a:p>
                      </a:txBody>
                      <a:tcPr>
                        <a:solidFill>
                          <a:schemeClr val="accent2">
                            <a:lumMod val="60000"/>
                            <a:lumOff val="4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800" i="1" smtClean="0">
                                        <a:solidFill>
                                          <a:schemeClr val="tx1"/>
                                        </a:solidFill>
                                        <a:latin typeface="Cambria Math" panose="02040503050406030204" pitchFamily="18" charset="0"/>
                                      </a:rPr>
                                    </m:ctrlPr>
                                  </m:sSubPr>
                                  <m:e>
                                    <m:r>
                                      <a:rPr lang="en-US" altLang="zh-TW" sz="1800" b="0" i="1" smtClean="0">
                                        <a:solidFill>
                                          <a:schemeClr val="tx1"/>
                                        </a:solidFill>
                                        <a:latin typeface="Cambria Math" panose="02040503050406030204" pitchFamily="18" charset="0"/>
                                      </a:rPr>
                                      <m:t>𝑛</m:t>
                                    </m:r>
                                  </m:e>
                                  <m:sub>
                                    <m:r>
                                      <a:rPr lang="en-US" altLang="zh-TW" sz="1800" b="0" i="1" smtClean="0">
                                        <a:solidFill>
                                          <a:schemeClr val="tx1"/>
                                        </a:solidFill>
                                        <a:latin typeface="Cambria Math" panose="02040503050406030204" pitchFamily="18" charset="0"/>
                                      </a:rPr>
                                      <m:t>5</m:t>
                                    </m:r>
                                  </m:sub>
                                </m:sSub>
                              </m:oMath>
                            </m:oMathPara>
                          </a14:m>
                          <a:endParaRPr lang="zh-TW" altLang="en-US" sz="1800" dirty="0"/>
                        </a:p>
                      </a:txBody>
                      <a:tcPr>
                        <a:solidFill>
                          <a:schemeClr val="accent5">
                            <a:lumMod val="60000"/>
                            <a:lumOff val="40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800" i="1" smtClean="0">
                                        <a:solidFill>
                                          <a:schemeClr val="tx1"/>
                                        </a:solidFill>
                                        <a:latin typeface="Cambria Math" panose="02040503050406030204" pitchFamily="18" charset="0"/>
                                      </a:rPr>
                                    </m:ctrlPr>
                                  </m:sSubPr>
                                  <m:e>
                                    <m:r>
                                      <a:rPr lang="en-US" altLang="zh-TW" sz="1800" b="0" i="1" smtClean="0">
                                        <a:solidFill>
                                          <a:schemeClr val="tx1"/>
                                        </a:solidFill>
                                        <a:latin typeface="Cambria Math" panose="02040503050406030204" pitchFamily="18" charset="0"/>
                                      </a:rPr>
                                      <m:t>𝑛</m:t>
                                    </m:r>
                                  </m:e>
                                  <m:sub>
                                    <m:r>
                                      <a:rPr lang="en-US" altLang="zh-TW" sz="1800" b="0" i="1" smtClean="0">
                                        <a:solidFill>
                                          <a:schemeClr val="tx1"/>
                                        </a:solidFill>
                                        <a:latin typeface="Cambria Math" panose="02040503050406030204" pitchFamily="18" charset="0"/>
                                      </a:rPr>
                                      <m:t>5</m:t>
                                    </m:r>
                                  </m:sub>
                                </m:sSub>
                              </m:oMath>
                            </m:oMathPara>
                          </a14:m>
                          <a:endParaRPr lang="zh-TW" altLang="en-US" sz="1800" dirty="0"/>
                        </a:p>
                      </a:txBody>
                      <a:tcPr>
                        <a:solidFill>
                          <a:schemeClr val="accent5">
                            <a:lumMod val="60000"/>
                            <a:lumOff val="40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800" i="1" smtClean="0">
                                        <a:solidFill>
                                          <a:schemeClr val="tx1"/>
                                        </a:solidFill>
                                        <a:latin typeface="Cambria Math" panose="02040503050406030204" pitchFamily="18" charset="0"/>
                                      </a:rPr>
                                    </m:ctrlPr>
                                  </m:sSubPr>
                                  <m:e>
                                    <m:r>
                                      <a:rPr lang="en-US" altLang="zh-TW" sz="1800" b="0" i="1" smtClean="0">
                                        <a:solidFill>
                                          <a:schemeClr val="tx1"/>
                                        </a:solidFill>
                                        <a:latin typeface="Cambria Math" panose="02040503050406030204" pitchFamily="18" charset="0"/>
                                      </a:rPr>
                                      <m:t>𝑛</m:t>
                                    </m:r>
                                  </m:e>
                                  <m:sub>
                                    <m:r>
                                      <a:rPr lang="en-US" altLang="zh-TW" sz="1800" b="0" i="1" smtClean="0">
                                        <a:solidFill>
                                          <a:schemeClr val="tx1"/>
                                        </a:solidFill>
                                        <a:latin typeface="Cambria Math" panose="02040503050406030204" pitchFamily="18" charset="0"/>
                                      </a:rPr>
                                      <m:t>5</m:t>
                                    </m:r>
                                  </m:sub>
                                </m:sSub>
                              </m:oMath>
                            </m:oMathPara>
                          </a14:m>
                          <a:endParaRPr lang="zh-TW" altLang="en-US" sz="1800" dirty="0"/>
                        </a:p>
                      </a:txBody>
                      <a:tcPr>
                        <a:solidFill>
                          <a:schemeClr val="accent5">
                            <a:lumMod val="60000"/>
                            <a:lumOff val="40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800" i="1" smtClean="0">
                                        <a:solidFill>
                                          <a:schemeClr val="tx1"/>
                                        </a:solidFill>
                                        <a:latin typeface="Cambria Math" panose="02040503050406030204" pitchFamily="18" charset="0"/>
                                      </a:rPr>
                                    </m:ctrlPr>
                                  </m:sSubPr>
                                  <m:e>
                                    <m:r>
                                      <a:rPr lang="en-US" altLang="zh-TW" sz="1800" b="0" i="1" smtClean="0">
                                        <a:solidFill>
                                          <a:schemeClr val="tx1"/>
                                        </a:solidFill>
                                        <a:latin typeface="Cambria Math" panose="02040503050406030204" pitchFamily="18" charset="0"/>
                                      </a:rPr>
                                      <m:t>𝑛</m:t>
                                    </m:r>
                                  </m:e>
                                  <m:sub>
                                    <m:r>
                                      <a:rPr lang="en-US" altLang="zh-TW" sz="1800" b="0" i="1" smtClean="0">
                                        <a:solidFill>
                                          <a:schemeClr val="tx1"/>
                                        </a:solidFill>
                                        <a:latin typeface="Cambria Math" panose="02040503050406030204" pitchFamily="18" charset="0"/>
                                      </a:rPr>
                                      <m:t>5</m:t>
                                    </m:r>
                                  </m:sub>
                                </m:sSub>
                              </m:oMath>
                            </m:oMathPara>
                          </a14:m>
                          <a:endParaRPr lang="zh-TW" altLang="en-US" sz="1800" dirty="0"/>
                        </a:p>
                      </a:txBody>
                      <a:tcPr>
                        <a:solidFill>
                          <a:schemeClr val="accent5">
                            <a:lumMod val="60000"/>
                            <a:lumOff val="40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800" i="1" smtClean="0">
                                        <a:solidFill>
                                          <a:schemeClr val="tx1"/>
                                        </a:solidFill>
                                        <a:latin typeface="Cambria Math" panose="02040503050406030204" pitchFamily="18" charset="0"/>
                                      </a:rPr>
                                    </m:ctrlPr>
                                  </m:sSubPr>
                                  <m:e>
                                    <m:r>
                                      <a:rPr lang="en-US" altLang="zh-TW" sz="1800" b="0" i="1" smtClean="0">
                                        <a:solidFill>
                                          <a:schemeClr val="tx1"/>
                                        </a:solidFill>
                                        <a:latin typeface="Cambria Math" panose="02040503050406030204" pitchFamily="18" charset="0"/>
                                      </a:rPr>
                                      <m:t>𝑛</m:t>
                                    </m:r>
                                  </m:e>
                                  <m:sub>
                                    <m:r>
                                      <a:rPr lang="en-US" altLang="zh-TW" sz="1800" b="0" i="1" smtClean="0">
                                        <a:solidFill>
                                          <a:schemeClr val="tx1"/>
                                        </a:solidFill>
                                        <a:latin typeface="Cambria Math" panose="02040503050406030204" pitchFamily="18" charset="0"/>
                                      </a:rPr>
                                      <m:t>5</m:t>
                                    </m:r>
                                  </m:sub>
                                </m:sSub>
                              </m:oMath>
                            </m:oMathPara>
                          </a14:m>
                          <a:endParaRPr lang="zh-TW" altLang="en-US" sz="1800" dirty="0"/>
                        </a:p>
                      </a:txBody>
                      <a:tcPr>
                        <a:solidFill>
                          <a:schemeClr val="accent5">
                            <a:lumMod val="60000"/>
                            <a:lumOff val="4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extLst>
                      <a:ext uri="{0D108BD9-81ED-4DB2-BD59-A6C34878D82A}">
                        <a16:rowId xmlns:a16="http://schemas.microsoft.com/office/drawing/2014/main" val="1142451592"/>
                      </a:ext>
                    </a:extLst>
                  </a:tr>
                  <a:tr h="56538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800" i="1" smtClean="0">
                                        <a:solidFill>
                                          <a:schemeClr val="tx1"/>
                                        </a:solidFill>
                                        <a:latin typeface="Cambria Math" panose="02040503050406030204" pitchFamily="18" charset="0"/>
                                      </a:rPr>
                                    </m:ctrlPr>
                                  </m:sSubPr>
                                  <m:e>
                                    <m:r>
                                      <m:rPr>
                                        <m:sty m:val="p"/>
                                      </m:rPr>
                                      <a:rPr lang="en-US" altLang="zh-TW" sz="1800" i="1" smtClean="0">
                                        <a:solidFill>
                                          <a:schemeClr val="tx1"/>
                                        </a:solidFill>
                                        <a:latin typeface="Cambria Math" panose="02040503050406030204" pitchFamily="18" charset="0"/>
                                      </a:rPr>
                                      <m:t>P</m:t>
                                    </m:r>
                                  </m:e>
                                  <m:sub>
                                    <m:r>
                                      <a:rPr lang="en-US" altLang="zh-TW" sz="1800" i="1" smtClean="0">
                                        <a:solidFill>
                                          <a:schemeClr val="tx1"/>
                                        </a:solidFill>
                                        <a:latin typeface="Cambria Math" panose="02040503050406030204" pitchFamily="18" charset="0"/>
                                      </a:rPr>
                                      <m:t>3</m:t>
                                    </m:r>
                                  </m:sub>
                                </m:sSub>
                              </m:oMath>
                            </m:oMathPara>
                          </a14:m>
                          <a:endParaRPr lang="zh-TW" altLang="en-US" sz="1800" dirty="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𝑛</m:t>
                                    </m:r>
                                  </m:e>
                                  <m:sub>
                                    <m:r>
                                      <a:rPr lang="en-US" altLang="zh-TW" b="0" i="1" smtClean="0">
                                        <a:solidFill>
                                          <a:schemeClr val="tx1"/>
                                        </a:solidFill>
                                        <a:latin typeface="Cambria Math" panose="02040503050406030204" pitchFamily="18" charset="0"/>
                                      </a:rPr>
                                      <m:t>4</m:t>
                                    </m:r>
                                  </m:sub>
                                </m:sSub>
                              </m:oMath>
                            </m:oMathPara>
                          </a14:m>
                          <a:endParaRPr lang="zh-TW" altLang="en-US" dirty="0"/>
                        </a:p>
                        <a:p>
                          <a:endParaRPr lang="zh-TW" altLang="en-US" sz="1800" dirty="0"/>
                        </a:p>
                      </a:txBody>
                      <a:tcPr>
                        <a:solidFill>
                          <a:srgbClr val="00B0F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𝑛</m:t>
                                    </m:r>
                                  </m:e>
                                  <m:sub>
                                    <m:r>
                                      <a:rPr lang="en-US" altLang="zh-TW" b="0" i="1" smtClean="0">
                                        <a:solidFill>
                                          <a:schemeClr val="tx1"/>
                                        </a:solidFill>
                                        <a:latin typeface="Cambria Math" panose="02040503050406030204" pitchFamily="18" charset="0"/>
                                      </a:rPr>
                                      <m:t>4</m:t>
                                    </m:r>
                                  </m:sub>
                                </m:sSub>
                              </m:oMath>
                            </m:oMathPara>
                          </a14:m>
                          <a:endParaRPr lang="zh-TW" altLang="en-US" dirty="0"/>
                        </a:p>
                        <a:p>
                          <a:endParaRPr lang="zh-TW" altLang="en-US" sz="1800" dirty="0"/>
                        </a:p>
                      </a:txBody>
                      <a:tcPr>
                        <a:solidFill>
                          <a:srgbClr val="00B0F0"/>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extLst>
                      <a:ext uri="{0D108BD9-81ED-4DB2-BD59-A6C34878D82A}">
                        <a16:rowId xmlns:a16="http://schemas.microsoft.com/office/drawing/2014/main" val="2858256709"/>
                      </a:ext>
                    </a:extLst>
                  </a:tr>
                  <a:tr h="403843">
                    <a:tc>
                      <a:txBody>
                        <a:bodyPr/>
                        <a:lstStyle/>
                        <a:p>
                          <a:endParaRPr lang="zh-TW" altLang="en-US" sz="1800" dirty="0"/>
                        </a:p>
                      </a:txBody>
                      <a:tcPr>
                        <a:solidFill>
                          <a:schemeClr val="tx2">
                            <a:lumMod val="40000"/>
                            <a:lumOff val="60000"/>
                          </a:schemeClr>
                        </a:solidFill>
                      </a:tcPr>
                    </a:tc>
                    <a:tc>
                      <a:txBody>
                        <a:bodyPr/>
                        <a:lstStyle/>
                        <a:p>
                          <a:r>
                            <a:rPr lang="en-US" altLang="zh-TW" sz="1200" dirty="0" smtClean="0"/>
                            <a:t>1</a:t>
                          </a:r>
                          <a:r>
                            <a:rPr lang="zh-TW" altLang="en-US" sz="1200" dirty="0" smtClean="0"/>
                            <a:t> </a:t>
                          </a:r>
                          <a:endParaRPr lang="zh-TW" altLang="en-US" sz="1200" dirty="0"/>
                        </a:p>
                      </a:txBody>
                      <a:tcPr>
                        <a:solidFill>
                          <a:schemeClr val="tx2">
                            <a:lumMod val="40000"/>
                            <a:lumOff val="60000"/>
                          </a:schemeClr>
                        </a:solidFill>
                      </a:tcPr>
                    </a:tc>
                    <a:tc>
                      <a:txBody>
                        <a:bodyPr/>
                        <a:lstStyle/>
                        <a:p>
                          <a:r>
                            <a:rPr lang="en-US" altLang="zh-TW" sz="1200" dirty="0" smtClean="0"/>
                            <a:t>2</a:t>
                          </a:r>
                          <a:r>
                            <a:rPr lang="zh-TW" altLang="en-US" sz="1200" dirty="0" smtClean="0"/>
                            <a:t> </a:t>
                          </a:r>
                          <a:endParaRPr lang="zh-TW" altLang="en-US" sz="1200" dirty="0"/>
                        </a:p>
                      </a:txBody>
                      <a:tcPr>
                        <a:solidFill>
                          <a:schemeClr val="tx2">
                            <a:lumMod val="40000"/>
                            <a:lumOff val="60000"/>
                          </a:schemeClr>
                        </a:solidFill>
                      </a:tcPr>
                    </a:tc>
                    <a:tc>
                      <a:txBody>
                        <a:bodyPr/>
                        <a:lstStyle/>
                        <a:p>
                          <a:r>
                            <a:rPr lang="en-US" altLang="zh-TW" sz="1200" dirty="0" smtClean="0"/>
                            <a:t>3</a:t>
                          </a:r>
                          <a:endParaRPr lang="zh-TW" altLang="en-US" sz="1200" dirty="0"/>
                        </a:p>
                      </a:txBody>
                      <a:tcPr>
                        <a:solidFill>
                          <a:schemeClr val="tx2">
                            <a:lumMod val="40000"/>
                            <a:lumOff val="60000"/>
                          </a:schemeClr>
                        </a:solidFill>
                      </a:tcPr>
                    </a:tc>
                    <a:tc>
                      <a:txBody>
                        <a:bodyPr/>
                        <a:lstStyle/>
                        <a:p>
                          <a:r>
                            <a:rPr lang="en-US" altLang="zh-TW" sz="1200" dirty="0" smtClean="0"/>
                            <a:t>4</a:t>
                          </a:r>
                          <a:endParaRPr lang="zh-TW" altLang="en-US" sz="1200" dirty="0"/>
                        </a:p>
                      </a:txBody>
                      <a:tcPr>
                        <a:solidFill>
                          <a:schemeClr val="tx2">
                            <a:lumMod val="40000"/>
                            <a:lumOff val="60000"/>
                          </a:schemeClr>
                        </a:solidFill>
                      </a:tcPr>
                    </a:tc>
                    <a:tc>
                      <a:txBody>
                        <a:bodyPr/>
                        <a:lstStyle/>
                        <a:p>
                          <a:r>
                            <a:rPr lang="en-US" altLang="zh-TW" sz="1200" dirty="0" smtClean="0"/>
                            <a:t>5</a:t>
                          </a:r>
                          <a:endParaRPr lang="zh-TW" altLang="en-US" sz="1200" dirty="0"/>
                        </a:p>
                      </a:txBody>
                      <a:tcPr>
                        <a:solidFill>
                          <a:schemeClr val="tx2">
                            <a:lumMod val="40000"/>
                            <a:lumOff val="60000"/>
                          </a:schemeClr>
                        </a:solidFill>
                      </a:tcPr>
                    </a:tc>
                    <a:tc>
                      <a:txBody>
                        <a:bodyPr/>
                        <a:lstStyle/>
                        <a:p>
                          <a:r>
                            <a:rPr lang="en-US" altLang="zh-TW" sz="1200" dirty="0" smtClean="0"/>
                            <a:t>6</a:t>
                          </a:r>
                          <a:endParaRPr lang="zh-TW" altLang="en-US" sz="1200" dirty="0"/>
                        </a:p>
                      </a:txBody>
                      <a:tcPr>
                        <a:solidFill>
                          <a:schemeClr val="tx2">
                            <a:lumMod val="40000"/>
                            <a:lumOff val="60000"/>
                          </a:schemeClr>
                        </a:solidFill>
                      </a:tcPr>
                    </a:tc>
                    <a:tc>
                      <a:txBody>
                        <a:bodyPr/>
                        <a:lstStyle/>
                        <a:p>
                          <a:r>
                            <a:rPr lang="en-US" altLang="zh-TW" sz="1200" dirty="0" smtClean="0"/>
                            <a:t>7</a:t>
                          </a:r>
                          <a:endParaRPr lang="zh-TW" altLang="en-US" sz="1200" dirty="0"/>
                        </a:p>
                      </a:txBody>
                      <a:tcPr>
                        <a:solidFill>
                          <a:schemeClr val="tx2">
                            <a:lumMod val="40000"/>
                            <a:lumOff val="60000"/>
                          </a:schemeClr>
                        </a:solidFill>
                      </a:tcPr>
                    </a:tc>
                    <a:tc>
                      <a:txBody>
                        <a:bodyPr/>
                        <a:lstStyle/>
                        <a:p>
                          <a:r>
                            <a:rPr lang="en-US" altLang="zh-TW" sz="1200" dirty="0" smtClean="0"/>
                            <a:t>8</a:t>
                          </a:r>
                          <a:endParaRPr lang="zh-TW" altLang="en-US" sz="1200" dirty="0"/>
                        </a:p>
                      </a:txBody>
                      <a:tcPr>
                        <a:solidFill>
                          <a:schemeClr val="tx2">
                            <a:lumMod val="40000"/>
                            <a:lumOff val="60000"/>
                          </a:schemeClr>
                        </a:solidFill>
                      </a:tcPr>
                    </a:tc>
                    <a:tc>
                      <a:txBody>
                        <a:bodyPr/>
                        <a:lstStyle/>
                        <a:p>
                          <a:r>
                            <a:rPr lang="en-US" altLang="zh-TW" sz="1200" dirty="0" smtClean="0"/>
                            <a:t>9</a:t>
                          </a:r>
                          <a:endParaRPr lang="zh-TW" altLang="en-US" sz="1200" dirty="0"/>
                        </a:p>
                      </a:txBody>
                      <a:tcPr>
                        <a:solidFill>
                          <a:schemeClr val="tx2">
                            <a:lumMod val="40000"/>
                            <a:lumOff val="60000"/>
                          </a:schemeClr>
                        </a:solidFill>
                      </a:tcPr>
                    </a:tc>
                    <a:tc>
                      <a:txBody>
                        <a:bodyPr/>
                        <a:lstStyle/>
                        <a:p>
                          <a:r>
                            <a:rPr lang="en-US" altLang="zh-TW" sz="1200" dirty="0" smtClean="0"/>
                            <a:t>10</a:t>
                          </a:r>
                          <a:endParaRPr lang="zh-TW" altLang="en-US" sz="1200" dirty="0"/>
                        </a:p>
                      </a:txBody>
                      <a:tcPr>
                        <a:solidFill>
                          <a:schemeClr val="tx2">
                            <a:lumMod val="40000"/>
                            <a:lumOff val="60000"/>
                          </a:schemeClr>
                        </a:solidFill>
                      </a:tcPr>
                    </a:tc>
                    <a:tc>
                      <a:txBody>
                        <a:bodyPr/>
                        <a:lstStyle/>
                        <a:p>
                          <a:r>
                            <a:rPr lang="en-US" altLang="zh-TW" sz="1200" dirty="0" smtClean="0"/>
                            <a:t>11</a:t>
                          </a:r>
                          <a:endParaRPr lang="zh-TW" altLang="en-US" sz="1200" dirty="0"/>
                        </a:p>
                      </a:txBody>
                      <a:tcPr>
                        <a:solidFill>
                          <a:schemeClr val="tx2">
                            <a:lumMod val="40000"/>
                            <a:lumOff val="60000"/>
                          </a:schemeClr>
                        </a:solidFill>
                      </a:tcPr>
                    </a:tc>
                    <a:tc>
                      <a:txBody>
                        <a:bodyPr/>
                        <a:lstStyle/>
                        <a:p>
                          <a:r>
                            <a:rPr lang="en-US" altLang="zh-TW" sz="1200" dirty="0" smtClean="0"/>
                            <a:t>12</a:t>
                          </a:r>
                          <a:endParaRPr lang="zh-TW" altLang="en-US" sz="1200" dirty="0"/>
                        </a:p>
                      </a:txBody>
                      <a:tcPr>
                        <a:solidFill>
                          <a:schemeClr val="tx2">
                            <a:lumMod val="40000"/>
                            <a:lumOff val="60000"/>
                          </a:schemeClr>
                        </a:solidFill>
                      </a:tcPr>
                    </a:tc>
                    <a:tc>
                      <a:txBody>
                        <a:bodyPr/>
                        <a:lstStyle/>
                        <a:p>
                          <a:r>
                            <a:rPr lang="en-US" altLang="zh-TW" sz="1200" dirty="0" smtClean="0"/>
                            <a:t>13</a:t>
                          </a:r>
                          <a:endParaRPr lang="zh-TW" altLang="en-US" sz="1200" dirty="0"/>
                        </a:p>
                      </a:txBody>
                      <a:tcPr>
                        <a:solidFill>
                          <a:schemeClr val="tx2">
                            <a:lumMod val="40000"/>
                            <a:lumOff val="60000"/>
                          </a:schemeClr>
                        </a:solidFill>
                      </a:tcPr>
                    </a:tc>
                    <a:tc>
                      <a:txBody>
                        <a:bodyPr/>
                        <a:lstStyle/>
                        <a:p>
                          <a:r>
                            <a:rPr lang="en-US" altLang="zh-TW" sz="1200" dirty="0" smtClean="0"/>
                            <a:t>14</a:t>
                          </a:r>
                          <a:endParaRPr lang="zh-TW" altLang="en-US" sz="1200" dirty="0"/>
                        </a:p>
                      </a:txBody>
                      <a:tcPr>
                        <a:solidFill>
                          <a:schemeClr val="tx2">
                            <a:lumMod val="40000"/>
                            <a:lumOff val="60000"/>
                          </a:schemeClr>
                        </a:solidFill>
                      </a:tcPr>
                    </a:tc>
                    <a:tc>
                      <a:txBody>
                        <a:bodyPr/>
                        <a:lstStyle/>
                        <a:p>
                          <a:r>
                            <a:rPr lang="en-US" altLang="zh-TW" sz="1200" dirty="0" smtClean="0"/>
                            <a:t>15.5</a:t>
                          </a:r>
                          <a:endParaRPr lang="zh-TW" altLang="en-US" sz="1200" dirty="0"/>
                        </a:p>
                      </a:txBody>
                      <a:tcPr>
                        <a:solidFill>
                          <a:schemeClr val="tx2">
                            <a:lumMod val="40000"/>
                            <a:lumOff val="60000"/>
                          </a:schemeClr>
                        </a:solidFill>
                      </a:tcPr>
                    </a:tc>
                    <a:tc>
                      <a:txBody>
                        <a:bodyPr/>
                        <a:lstStyle/>
                        <a:p>
                          <a:r>
                            <a:rPr lang="en-US" altLang="zh-TW" sz="1200" dirty="0" smtClean="0"/>
                            <a:t>15</a:t>
                          </a:r>
                          <a:endParaRPr lang="zh-TW" altLang="en-US" sz="1200" dirty="0"/>
                        </a:p>
                      </a:txBody>
                      <a:tcPr>
                        <a:solidFill>
                          <a:schemeClr val="tx2">
                            <a:lumMod val="40000"/>
                            <a:lumOff val="60000"/>
                          </a:schemeClr>
                        </a:solidFill>
                      </a:tcPr>
                    </a:tc>
                    <a:tc>
                      <a:txBody>
                        <a:bodyPr/>
                        <a:lstStyle/>
                        <a:p>
                          <a:r>
                            <a:rPr lang="en-US" altLang="zh-TW" sz="1200" dirty="0" smtClean="0"/>
                            <a:t>16</a:t>
                          </a:r>
                          <a:endParaRPr lang="zh-TW" altLang="en-US" sz="1200" dirty="0"/>
                        </a:p>
                      </a:txBody>
                      <a:tcPr>
                        <a:solidFill>
                          <a:schemeClr val="tx2">
                            <a:lumMod val="40000"/>
                            <a:lumOff val="60000"/>
                          </a:schemeClr>
                        </a:solidFill>
                      </a:tcPr>
                    </a:tc>
                    <a:tc>
                      <a:txBody>
                        <a:bodyPr/>
                        <a:lstStyle/>
                        <a:p>
                          <a:r>
                            <a:rPr lang="en-US" altLang="zh-TW" sz="1200" dirty="0" smtClean="0"/>
                            <a:t>17</a:t>
                          </a:r>
                          <a:endParaRPr lang="zh-TW" altLang="en-US" sz="1200" dirty="0"/>
                        </a:p>
                      </a:txBody>
                      <a:tcPr>
                        <a:solidFill>
                          <a:schemeClr val="tx2">
                            <a:lumMod val="40000"/>
                            <a:lumOff val="60000"/>
                          </a:schemeClr>
                        </a:solidFill>
                      </a:tcPr>
                    </a:tc>
                    <a:tc>
                      <a:txBody>
                        <a:bodyPr/>
                        <a:lstStyle/>
                        <a:p>
                          <a:r>
                            <a:rPr lang="en-US" altLang="zh-TW" sz="1200" dirty="0" smtClean="0"/>
                            <a:t>18.5</a:t>
                          </a:r>
                          <a:endParaRPr lang="zh-TW" altLang="en-US" sz="1200" dirty="0"/>
                        </a:p>
                      </a:txBody>
                      <a:tcPr>
                        <a:solidFill>
                          <a:schemeClr val="tx2">
                            <a:lumMod val="40000"/>
                            <a:lumOff val="60000"/>
                          </a:schemeClr>
                        </a:solidFill>
                      </a:tcPr>
                    </a:tc>
                    <a:tc>
                      <a:txBody>
                        <a:bodyPr/>
                        <a:lstStyle/>
                        <a:p>
                          <a:r>
                            <a:rPr lang="en-US" altLang="zh-TW" sz="1200" dirty="0" smtClean="0"/>
                            <a:t>18</a:t>
                          </a:r>
                          <a:endParaRPr lang="zh-TW" altLang="en-US" sz="1200" dirty="0"/>
                        </a:p>
                      </a:txBody>
                      <a:tcPr>
                        <a:solidFill>
                          <a:schemeClr val="tx2">
                            <a:lumMod val="40000"/>
                            <a:lumOff val="60000"/>
                          </a:schemeClr>
                        </a:solidFill>
                      </a:tcPr>
                    </a:tc>
                    <a:tc>
                      <a:txBody>
                        <a:bodyPr/>
                        <a:lstStyle/>
                        <a:p>
                          <a:r>
                            <a:rPr lang="en-US" altLang="zh-TW" sz="1200" dirty="0" smtClean="0"/>
                            <a:t>19</a:t>
                          </a:r>
                          <a:endParaRPr lang="zh-TW" altLang="en-US" sz="1200" dirty="0"/>
                        </a:p>
                      </a:txBody>
                      <a:tcPr>
                        <a:solidFill>
                          <a:schemeClr val="tx2">
                            <a:lumMod val="40000"/>
                            <a:lumOff val="60000"/>
                          </a:schemeClr>
                        </a:solidFill>
                      </a:tcPr>
                    </a:tc>
                    <a:extLst>
                      <a:ext uri="{0D108BD9-81ED-4DB2-BD59-A6C34878D82A}">
                        <a16:rowId xmlns:a16="http://schemas.microsoft.com/office/drawing/2014/main" val="1777185150"/>
                      </a:ext>
                    </a:extLst>
                  </a:tr>
                </a:tbl>
              </a:graphicData>
            </a:graphic>
          </p:graphicFrame>
        </mc:Choice>
        <mc:Fallback xmlns="">
          <p:graphicFrame>
            <p:nvGraphicFramePr>
              <p:cNvPr id="9" name="表格 8"/>
              <p:cNvGraphicFramePr>
                <a:graphicFrameLocks noGrp="1"/>
              </p:cNvGraphicFramePr>
              <p:nvPr>
                <p:extLst>
                  <p:ext uri="{D42A27DB-BD31-4B8C-83A1-F6EECF244321}">
                    <p14:modId xmlns:p14="http://schemas.microsoft.com/office/powerpoint/2010/main" val="1703269035"/>
                  </p:ext>
                </p:extLst>
              </p:nvPr>
            </p:nvGraphicFramePr>
            <p:xfrm>
              <a:off x="109332" y="765312"/>
              <a:ext cx="8766311" cy="2324083"/>
            </p:xfrm>
            <a:graphic>
              <a:graphicData uri="http://schemas.openxmlformats.org/drawingml/2006/table">
                <a:tbl>
                  <a:tblPr firstRow="1" bandRow="1">
                    <a:tableStyleId>{5C22544A-7EE6-4342-B048-85BDC9FD1C3A}</a:tableStyleId>
                  </a:tblPr>
                  <a:tblGrid>
                    <a:gridCol w="376621">
                      <a:extLst>
                        <a:ext uri="{9D8B030D-6E8A-4147-A177-3AD203B41FA5}">
                          <a16:colId xmlns:a16="http://schemas.microsoft.com/office/drawing/2014/main" val="363824538"/>
                        </a:ext>
                      </a:extLst>
                    </a:gridCol>
                    <a:gridCol w="409007">
                      <a:extLst>
                        <a:ext uri="{9D8B030D-6E8A-4147-A177-3AD203B41FA5}">
                          <a16:colId xmlns:a16="http://schemas.microsoft.com/office/drawing/2014/main" val="1533809397"/>
                        </a:ext>
                      </a:extLst>
                    </a:gridCol>
                    <a:gridCol w="392811">
                      <a:extLst>
                        <a:ext uri="{9D8B030D-6E8A-4147-A177-3AD203B41FA5}">
                          <a16:colId xmlns:a16="http://schemas.microsoft.com/office/drawing/2014/main" val="864550389"/>
                        </a:ext>
                      </a:extLst>
                    </a:gridCol>
                    <a:gridCol w="392811">
                      <a:extLst>
                        <a:ext uri="{9D8B030D-6E8A-4147-A177-3AD203B41FA5}">
                          <a16:colId xmlns:a16="http://schemas.microsoft.com/office/drawing/2014/main" val="2489627712"/>
                        </a:ext>
                      </a:extLst>
                    </a:gridCol>
                    <a:gridCol w="392811">
                      <a:extLst>
                        <a:ext uri="{9D8B030D-6E8A-4147-A177-3AD203B41FA5}">
                          <a16:colId xmlns:a16="http://schemas.microsoft.com/office/drawing/2014/main" val="1598187920"/>
                        </a:ext>
                      </a:extLst>
                    </a:gridCol>
                    <a:gridCol w="392811">
                      <a:extLst>
                        <a:ext uri="{9D8B030D-6E8A-4147-A177-3AD203B41FA5}">
                          <a16:colId xmlns:a16="http://schemas.microsoft.com/office/drawing/2014/main" val="1900604499"/>
                        </a:ext>
                      </a:extLst>
                    </a:gridCol>
                    <a:gridCol w="392811">
                      <a:extLst>
                        <a:ext uri="{9D8B030D-6E8A-4147-A177-3AD203B41FA5}">
                          <a16:colId xmlns:a16="http://schemas.microsoft.com/office/drawing/2014/main" val="471084119"/>
                        </a:ext>
                      </a:extLst>
                    </a:gridCol>
                    <a:gridCol w="392811">
                      <a:extLst>
                        <a:ext uri="{9D8B030D-6E8A-4147-A177-3AD203B41FA5}">
                          <a16:colId xmlns:a16="http://schemas.microsoft.com/office/drawing/2014/main" val="3153522526"/>
                        </a:ext>
                      </a:extLst>
                    </a:gridCol>
                    <a:gridCol w="392811">
                      <a:extLst>
                        <a:ext uri="{9D8B030D-6E8A-4147-A177-3AD203B41FA5}">
                          <a16:colId xmlns:a16="http://schemas.microsoft.com/office/drawing/2014/main" val="3700175576"/>
                        </a:ext>
                      </a:extLst>
                    </a:gridCol>
                    <a:gridCol w="392811">
                      <a:extLst>
                        <a:ext uri="{9D8B030D-6E8A-4147-A177-3AD203B41FA5}">
                          <a16:colId xmlns:a16="http://schemas.microsoft.com/office/drawing/2014/main" val="1217584861"/>
                        </a:ext>
                      </a:extLst>
                    </a:gridCol>
                    <a:gridCol w="392811">
                      <a:extLst>
                        <a:ext uri="{9D8B030D-6E8A-4147-A177-3AD203B41FA5}">
                          <a16:colId xmlns:a16="http://schemas.microsoft.com/office/drawing/2014/main" val="2472348050"/>
                        </a:ext>
                      </a:extLst>
                    </a:gridCol>
                    <a:gridCol w="392811">
                      <a:extLst>
                        <a:ext uri="{9D8B030D-6E8A-4147-A177-3AD203B41FA5}">
                          <a16:colId xmlns:a16="http://schemas.microsoft.com/office/drawing/2014/main" val="2724974456"/>
                        </a:ext>
                      </a:extLst>
                    </a:gridCol>
                    <a:gridCol w="392811">
                      <a:extLst>
                        <a:ext uri="{9D8B030D-6E8A-4147-A177-3AD203B41FA5}">
                          <a16:colId xmlns:a16="http://schemas.microsoft.com/office/drawing/2014/main" val="610293106"/>
                        </a:ext>
                      </a:extLst>
                    </a:gridCol>
                    <a:gridCol w="392811">
                      <a:extLst>
                        <a:ext uri="{9D8B030D-6E8A-4147-A177-3AD203B41FA5}">
                          <a16:colId xmlns:a16="http://schemas.microsoft.com/office/drawing/2014/main" val="2437871604"/>
                        </a:ext>
                      </a:extLst>
                    </a:gridCol>
                    <a:gridCol w="392811">
                      <a:extLst>
                        <a:ext uri="{9D8B030D-6E8A-4147-A177-3AD203B41FA5}">
                          <a16:colId xmlns:a16="http://schemas.microsoft.com/office/drawing/2014/main" val="2433159749"/>
                        </a:ext>
                      </a:extLst>
                    </a:gridCol>
                    <a:gridCol w="521258">
                      <a:extLst>
                        <a:ext uri="{9D8B030D-6E8A-4147-A177-3AD203B41FA5}">
                          <a16:colId xmlns:a16="http://schemas.microsoft.com/office/drawing/2014/main" val="515619282"/>
                        </a:ext>
                      </a:extLst>
                    </a:gridCol>
                    <a:gridCol w="432057">
                      <a:extLst>
                        <a:ext uri="{9D8B030D-6E8A-4147-A177-3AD203B41FA5}">
                          <a16:colId xmlns:a16="http://schemas.microsoft.com/office/drawing/2014/main" val="818795684"/>
                        </a:ext>
                      </a:extLst>
                    </a:gridCol>
                    <a:gridCol w="357120">
                      <a:extLst>
                        <a:ext uri="{9D8B030D-6E8A-4147-A177-3AD203B41FA5}">
                          <a16:colId xmlns:a16="http://schemas.microsoft.com/office/drawing/2014/main" val="3499884170"/>
                        </a:ext>
                      </a:extLst>
                    </a:gridCol>
                    <a:gridCol w="361071">
                      <a:extLst>
                        <a:ext uri="{9D8B030D-6E8A-4147-A177-3AD203B41FA5}">
                          <a16:colId xmlns:a16="http://schemas.microsoft.com/office/drawing/2014/main" val="1410603613"/>
                        </a:ext>
                      </a:extLst>
                    </a:gridCol>
                    <a:gridCol w="477078">
                      <a:extLst>
                        <a:ext uri="{9D8B030D-6E8A-4147-A177-3AD203B41FA5}">
                          <a16:colId xmlns:a16="http://schemas.microsoft.com/office/drawing/2014/main" val="334794267"/>
                        </a:ext>
                      </a:extLst>
                    </a:gridCol>
                    <a:gridCol w="347870">
                      <a:extLst>
                        <a:ext uri="{9D8B030D-6E8A-4147-A177-3AD203B41FA5}">
                          <a16:colId xmlns:a16="http://schemas.microsoft.com/office/drawing/2014/main" val="169999403"/>
                        </a:ext>
                      </a:extLst>
                    </a:gridCol>
                    <a:gridCol w="377686">
                      <a:extLst>
                        <a:ext uri="{9D8B030D-6E8A-4147-A177-3AD203B41FA5}">
                          <a16:colId xmlns:a16="http://schemas.microsoft.com/office/drawing/2014/main" val="2272195481"/>
                        </a:ext>
                      </a:extLst>
                    </a:gridCol>
                  </a:tblGrid>
                  <a:tr h="640080">
                    <a:tc>
                      <a:txBody>
                        <a:bodyPr/>
                        <a:lstStyle/>
                        <a:p>
                          <a:endParaRPr lang="zh-TW"/>
                        </a:p>
                      </a:txBody>
                      <a:tcPr>
                        <a:blipFill>
                          <a:blip r:embed="rId2"/>
                          <a:stretch>
                            <a:fillRect l="-1613" t="-952" r="-2229032" b="-265714"/>
                          </a:stretch>
                        </a:blipFill>
                      </a:tcPr>
                    </a:tc>
                    <a:tc>
                      <a:txBody>
                        <a:bodyPr/>
                        <a:lstStyle/>
                        <a:p>
                          <a:endParaRPr lang="zh-TW"/>
                        </a:p>
                      </a:txBody>
                      <a:tcPr>
                        <a:blipFill>
                          <a:blip r:embed="rId2"/>
                          <a:stretch>
                            <a:fillRect l="-94030" t="-952" r="-1962687" b="-265714"/>
                          </a:stretch>
                        </a:blipFill>
                      </a:tcPr>
                    </a:tc>
                    <a:tc>
                      <a:txBody>
                        <a:bodyPr/>
                        <a:lstStyle/>
                        <a:p>
                          <a:endParaRPr lang="zh-TW"/>
                        </a:p>
                      </a:txBody>
                      <a:tcPr>
                        <a:blipFill>
                          <a:blip r:embed="rId2"/>
                          <a:stretch>
                            <a:fillRect l="-203125" t="-952" r="-1954688" b="-265714"/>
                          </a:stretch>
                        </a:blipFill>
                      </a:tcPr>
                    </a:tc>
                    <a:tc>
                      <a:txBody>
                        <a:bodyPr/>
                        <a:lstStyle/>
                        <a:p>
                          <a:endParaRPr lang="zh-TW"/>
                        </a:p>
                      </a:txBody>
                      <a:tcPr>
                        <a:blipFill>
                          <a:blip r:embed="rId2"/>
                          <a:stretch>
                            <a:fillRect l="-298462" t="-952" r="-1824615" b="-265714"/>
                          </a:stretch>
                        </a:blipFill>
                      </a:tcPr>
                    </a:tc>
                    <a:tc>
                      <a:txBody>
                        <a:bodyPr/>
                        <a:lstStyle/>
                        <a:p>
                          <a:endParaRPr lang="zh-TW"/>
                        </a:p>
                      </a:txBody>
                      <a:tcPr>
                        <a:blipFill>
                          <a:blip r:embed="rId2"/>
                          <a:stretch>
                            <a:fillRect l="-404688" t="-952" r="-1753125" b="-265714"/>
                          </a:stretch>
                        </a:blipFill>
                      </a:tcPr>
                    </a:tc>
                    <a:tc>
                      <a:txBody>
                        <a:bodyPr/>
                        <a:lstStyle/>
                        <a:p>
                          <a:endParaRPr lang="zh-TW"/>
                        </a:p>
                      </a:txBody>
                      <a:tcPr>
                        <a:blipFill>
                          <a:blip r:embed="rId2"/>
                          <a:stretch>
                            <a:fillRect l="-496923" t="-952" r="-1626154" b="-265714"/>
                          </a:stretch>
                        </a:blipFill>
                      </a:tcPr>
                    </a:tc>
                    <a:tc>
                      <a:txBody>
                        <a:bodyPr/>
                        <a:lstStyle/>
                        <a:p>
                          <a:endParaRPr lang="zh-TW"/>
                        </a:p>
                      </a:txBody>
                      <a:tcPr>
                        <a:blipFill>
                          <a:blip r:embed="rId2"/>
                          <a:stretch>
                            <a:fillRect l="-606250" t="-952" r="-1551563" b="-265714"/>
                          </a:stretch>
                        </a:blip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extLst>
                      <a:ext uri="{0D108BD9-81ED-4DB2-BD59-A6C34878D82A}">
                        <a16:rowId xmlns:a16="http://schemas.microsoft.com/office/drawing/2014/main" val="150831106"/>
                      </a:ext>
                    </a:extLst>
                  </a:tr>
                  <a:tr h="640080">
                    <a:tc>
                      <a:txBody>
                        <a:bodyPr/>
                        <a:lstStyle/>
                        <a:p>
                          <a:endParaRPr lang="zh-TW"/>
                        </a:p>
                      </a:txBody>
                      <a:tcPr>
                        <a:blipFill>
                          <a:blip r:embed="rId2"/>
                          <a:stretch>
                            <a:fillRect l="-1613" t="-100952" r="-2229032" b="-165714"/>
                          </a:stretch>
                        </a:blipFill>
                      </a:tcPr>
                    </a:tc>
                    <a:tc>
                      <a:txBody>
                        <a:bodyPr/>
                        <a:lstStyle/>
                        <a:p>
                          <a:endParaRPr lang="zh-TW"/>
                        </a:p>
                      </a:txBody>
                      <a:tcPr>
                        <a:blipFill>
                          <a:blip r:embed="rId2"/>
                          <a:stretch>
                            <a:fillRect l="-94030" t="-100952" r="-1962687" b="-165714"/>
                          </a:stretch>
                        </a:blipFill>
                      </a:tcPr>
                    </a:tc>
                    <a:tc>
                      <a:txBody>
                        <a:bodyPr/>
                        <a:lstStyle/>
                        <a:p>
                          <a:endParaRPr lang="zh-TW"/>
                        </a:p>
                      </a:txBody>
                      <a:tcPr>
                        <a:blipFill>
                          <a:blip r:embed="rId2"/>
                          <a:stretch>
                            <a:fillRect l="-203125" t="-100952" r="-1954688" b="-165714"/>
                          </a:stretch>
                        </a:blipFill>
                      </a:tcPr>
                    </a:tc>
                    <a:tc>
                      <a:txBody>
                        <a:bodyPr/>
                        <a:lstStyle/>
                        <a:p>
                          <a:endParaRPr lang="zh-TW"/>
                        </a:p>
                      </a:txBody>
                      <a:tcPr>
                        <a:blipFill>
                          <a:blip r:embed="rId2"/>
                          <a:stretch>
                            <a:fillRect l="-298462" t="-100952" r="-1824615" b="-165714"/>
                          </a:stretch>
                        </a:blipFill>
                      </a:tcPr>
                    </a:tc>
                    <a:tc>
                      <a:txBody>
                        <a:bodyPr/>
                        <a:lstStyle/>
                        <a:p>
                          <a:endParaRPr lang="zh-TW"/>
                        </a:p>
                      </a:txBody>
                      <a:tcPr>
                        <a:blipFill>
                          <a:blip r:embed="rId2"/>
                          <a:stretch>
                            <a:fillRect l="-404688" t="-100952" r="-1753125" b="-165714"/>
                          </a:stretch>
                        </a:blipFill>
                      </a:tcPr>
                    </a:tc>
                    <a:tc>
                      <a:txBody>
                        <a:bodyPr/>
                        <a:lstStyle/>
                        <a:p>
                          <a:endParaRPr lang="zh-TW"/>
                        </a:p>
                      </a:txBody>
                      <a:tcPr>
                        <a:blipFill>
                          <a:blip r:embed="rId2"/>
                          <a:stretch>
                            <a:fillRect l="-496923" t="-100952" r="-1626154" b="-165714"/>
                          </a:stretch>
                        </a:blip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p>
                      </a:txBody>
                      <a:tcPr>
                        <a:blipFill>
                          <a:blip r:embed="rId2"/>
                          <a:stretch>
                            <a:fillRect l="-1125581" t="-100952" r="-454651" b="-165714"/>
                          </a:stretch>
                        </a:blipFill>
                      </a:tcPr>
                    </a:tc>
                    <a:tc>
                      <a:txBody>
                        <a:bodyPr/>
                        <a:lstStyle/>
                        <a:p>
                          <a:endParaRPr lang="zh-TW"/>
                        </a:p>
                      </a:txBody>
                      <a:tcPr>
                        <a:blipFill>
                          <a:blip r:embed="rId2"/>
                          <a:stretch>
                            <a:fillRect l="-1484507" t="-100952" r="-450704" b="-165714"/>
                          </a:stretch>
                        </a:blipFill>
                      </a:tcPr>
                    </a:tc>
                    <a:tc>
                      <a:txBody>
                        <a:bodyPr/>
                        <a:lstStyle/>
                        <a:p>
                          <a:endParaRPr lang="zh-TW"/>
                        </a:p>
                      </a:txBody>
                      <a:tcPr>
                        <a:blipFill>
                          <a:blip r:embed="rId2"/>
                          <a:stretch>
                            <a:fillRect l="-1939655" t="-100952" r="-451724" b="-165714"/>
                          </a:stretch>
                        </a:blipFill>
                      </a:tcPr>
                    </a:tc>
                    <a:tc>
                      <a:txBody>
                        <a:bodyPr/>
                        <a:lstStyle/>
                        <a:p>
                          <a:endParaRPr lang="zh-TW"/>
                        </a:p>
                      </a:txBody>
                      <a:tcPr>
                        <a:blipFill>
                          <a:blip r:embed="rId2"/>
                          <a:stretch>
                            <a:fillRect l="-1971667" t="-100952" r="-336667" b="-165714"/>
                          </a:stretch>
                        </a:blipFill>
                      </a:tcPr>
                    </a:tc>
                    <a:tc>
                      <a:txBody>
                        <a:bodyPr/>
                        <a:lstStyle/>
                        <a:p>
                          <a:endParaRPr lang="zh-TW"/>
                        </a:p>
                      </a:txBody>
                      <a:tcPr>
                        <a:blipFill>
                          <a:blip r:embed="rId2"/>
                          <a:stretch>
                            <a:fillRect l="-1593590" t="-100952" r="-158974" b="-165714"/>
                          </a:stretch>
                        </a:blipFill>
                      </a:tcPr>
                    </a:tc>
                    <a:tc>
                      <a:txBody>
                        <a:bodyPr/>
                        <a:lstStyle/>
                        <a:p>
                          <a:endParaRPr lang="zh-TW" altLang="en-US" sz="180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extLst>
                      <a:ext uri="{0D108BD9-81ED-4DB2-BD59-A6C34878D82A}">
                        <a16:rowId xmlns:a16="http://schemas.microsoft.com/office/drawing/2014/main" val="1142451592"/>
                      </a:ext>
                    </a:extLst>
                  </a:tr>
                  <a:tr h="640080">
                    <a:tc>
                      <a:txBody>
                        <a:bodyPr/>
                        <a:lstStyle/>
                        <a:p>
                          <a:endParaRPr lang="zh-TW"/>
                        </a:p>
                      </a:txBody>
                      <a:tcPr>
                        <a:blipFill>
                          <a:blip r:embed="rId2"/>
                          <a:stretch>
                            <a:fillRect l="-1613" t="-199057" r="-2229032" b="-64151"/>
                          </a:stretch>
                        </a:blipFill>
                      </a:tcPr>
                    </a:tc>
                    <a:tc>
                      <a:txBody>
                        <a:bodyPr/>
                        <a:lstStyle/>
                        <a:p>
                          <a:endParaRPr lang="zh-TW" altLang="en-US" sz="1800" dirty="0"/>
                        </a:p>
                      </a:txBody>
                      <a:tcPr>
                        <a:solidFill>
                          <a:schemeClr val="tx2">
                            <a:lumMod val="40000"/>
                            <a:lumOff val="60000"/>
                          </a:schemeClr>
                        </a:solidFill>
                      </a:tcPr>
                    </a:tc>
                    <a:tc>
                      <a:txBody>
                        <a:bodyPr/>
                        <a:lstStyle/>
                        <a:p>
                          <a:endParaRPr lang="zh-TW"/>
                        </a:p>
                      </a:txBody>
                      <a:tcPr>
                        <a:blipFill>
                          <a:blip r:embed="rId2"/>
                          <a:stretch>
                            <a:fillRect l="-203125" t="-199057" r="-1954688" b="-64151"/>
                          </a:stretch>
                        </a:blipFill>
                      </a:tcPr>
                    </a:tc>
                    <a:tc>
                      <a:txBody>
                        <a:bodyPr/>
                        <a:lstStyle/>
                        <a:p>
                          <a:endParaRPr lang="zh-TW"/>
                        </a:p>
                      </a:txBody>
                      <a:tcPr>
                        <a:blipFill>
                          <a:blip r:embed="rId2"/>
                          <a:stretch>
                            <a:fillRect l="-298462" t="-199057" r="-1824615" b="-64151"/>
                          </a:stretch>
                        </a:blip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dirty="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tc>
                      <a:txBody>
                        <a:bodyPr/>
                        <a:lstStyle/>
                        <a:p>
                          <a:endParaRPr lang="zh-TW" altLang="en-US" sz="1800"/>
                        </a:p>
                      </a:txBody>
                      <a:tcPr>
                        <a:solidFill>
                          <a:schemeClr val="tx2">
                            <a:lumMod val="40000"/>
                            <a:lumOff val="60000"/>
                          </a:schemeClr>
                        </a:solidFill>
                      </a:tcPr>
                    </a:tc>
                    <a:extLst>
                      <a:ext uri="{0D108BD9-81ED-4DB2-BD59-A6C34878D82A}">
                        <a16:rowId xmlns:a16="http://schemas.microsoft.com/office/drawing/2014/main" val="2858256709"/>
                      </a:ext>
                    </a:extLst>
                  </a:tr>
                  <a:tr h="403843">
                    <a:tc>
                      <a:txBody>
                        <a:bodyPr/>
                        <a:lstStyle/>
                        <a:p>
                          <a:endParaRPr lang="zh-TW" altLang="en-US" sz="1800" dirty="0"/>
                        </a:p>
                      </a:txBody>
                      <a:tcPr>
                        <a:solidFill>
                          <a:schemeClr val="tx2">
                            <a:lumMod val="40000"/>
                            <a:lumOff val="60000"/>
                          </a:schemeClr>
                        </a:solidFill>
                      </a:tcPr>
                    </a:tc>
                    <a:tc>
                      <a:txBody>
                        <a:bodyPr/>
                        <a:lstStyle/>
                        <a:p>
                          <a:r>
                            <a:rPr lang="en-US" altLang="zh-TW" sz="1200" dirty="0" smtClean="0"/>
                            <a:t>1</a:t>
                          </a:r>
                          <a:r>
                            <a:rPr lang="zh-TW" altLang="en-US" sz="1200" dirty="0" smtClean="0"/>
                            <a:t> </a:t>
                          </a:r>
                          <a:endParaRPr lang="zh-TW" altLang="en-US" sz="1200" dirty="0"/>
                        </a:p>
                      </a:txBody>
                      <a:tcPr>
                        <a:solidFill>
                          <a:schemeClr val="tx2">
                            <a:lumMod val="40000"/>
                            <a:lumOff val="60000"/>
                          </a:schemeClr>
                        </a:solidFill>
                      </a:tcPr>
                    </a:tc>
                    <a:tc>
                      <a:txBody>
                        <a:bodyPr/>
                        <a:lstStyle/>
                        <a:p>
                          <a:r>
                            <a:rPr lang="en-US" altLang="zh-TW" sz="1200" dirty="0" smtClean="0"/>
                            <a:t>2</a:t>
                          </a:r>
                          <a:r>
                            <a:rPr lang="zh-TW" altLang="en-US" sz="1200" dirty="0" smtClean="0"/>
                            <a:t> </a:t>
                          </a:r>
                          <a:endParaRPr lang="zh-TW" altLang="en-US" sz="1200" dirty="0"/>
                        </a:p>
                      </a:txBody>
                      <a:tcPr>
                        <a:solidFill>
                          <a:schemeClr val="tx2">
                            <a:lumMod val="40000"/>
                            <a:lumOff val="60000"/>
                          </a:schemeClr>
                        </a:solidFill>
                      </a:tcPr>
                    </a:tc>
                    <a:tc>
                      <a:txBody>
                        <a:bodyPr/>
                        <a:lstStyle/>
                        <a:p>
                          <a:r>
                            <a:rPr lang="en-US" altLang="zh-TW" sz="1200" dirty="0" smtClean="0"/>
                            <a:t>3</a:t>
                          </a:r>
                          <a:endParaRPr lang="zh-TW" altLang="en-US" sz="1200" dirty="0"/>
                        </a:p>
                      </a:txBody>
                      <a:tcPr>
                        <a:solidFill>
                          <a:schemeClr val="tx2">
                            <a:lumMod val="40000"/>
                            <a:lumOff val="60000"/>
                          </a:schemeClr>
                        </a:solidFill>
                      </a:tcPr>
                    </a:tc>
                    <a:tc>
                      <a:txBody>
                        <a:bodyPr/>
                        <a:lstStyle/>
                        <a:p>
                          <a:r>
                            <a:rPr lang="en-US" altLang="zh-TW" sz="1200" dirty="0" smtClean="0"/>
                            <a:t>4</a:t>
                          </a:r>
                          <a:endParaRPr lang="zh-TW" altLang="en-US" sz="1200" dirty="0"/>
                        </a:p>
                      </a:txBody>
                      <a:tcPr>
                        <a:solidFill>
                          <a:schemeClr val="tx2">
                            <a:lumMod val="40000"/>
                            <a:lumOff val="60000"/>
                          </a:schemeClr>
                        </a:solidFill>
                      </a:tcPr>
                    </a:tc>
                    <a:tc>
                      <a:txBody>
                        <a:bodyPr/>
                        <a:lstStyle/>
                        <a:p>
                          <a:r>
                            <a:rPr lang="en-US" altLang="zh-TW" sz="1200" dirty="0" smtClean="0"/>
                            <a:t>5</a:t>
                          </a:r>
                          <a:endParaRPr lang="zh-TW" altLang="en-US" sz="1200" dirty="0"/>
                        </a:p>
                      </a:txBody>
                      <a:tcPr>
                        <a:solidFill>
                          <a:schemeClr val="tx2">
                            <a:lumMod val="40000"/>
                            <a:lumOff val="60000"/>
                          </a:schemeClr>
                        </a:solidFill>
                      </a:tcPr>
                    </a:tc>
                    <a:tc>
                      <a:txBody>
                        <a:bodyPr/>
                        <a:lstStyle/>
                        <a:p>
                          <a:r>
                            <a:rPr lang="en-US" altLang="zh-TW" sz="1200" dirty="0" smtClean="0"/>
                            <a:t>6</a:t>
                          </a:r>
                          <a:endParaRPr lang="zh-TW" altLang="en-US" sz="1200" dirty="0"/>
                        </a:p>
                      </a:txBody>
                      <a:tcPr>
                        <a:solidFill>
                          <a:schemeClr val="tx2">
                            <a:lumMod val="40000"/>
                            <a:lumOff val="60000"/>
                          </a:schemeClr>
                        </a:solidFill>
                      </a:tcPr>
                    </a:tc>
                    <a:tc>
                      <a:txBody>
                        <a:bodyPr/>
                        <a:lstStyle/>
                        <a:p>
                          <a:r>
                            <a:rPr lang="en-US" altLang="zh-TW" sz="1200" dirty="0" smtClean="0"/>
                            <a:t>7</a:t>
                          </a:r>
                          <a:endParaRPr lang="zh-TW" altLang="en-US" sz="1200" dirty="0"/>
                        </a:p>
                      </a:txBody>
                      <a:tcPr>
                        <a:solidFill>
                          <a:schemeClr val="tx2">
                            <a:lumMod val="40000"/>
                            <a:lumOff val="60000"/>
                          </a:schemeClr>
                        </a:solidFill>
                      </a:tcPr>
                    </a:tc>
                    <a:tc>
                      <a:txBody>
                        <a:bodyPr/>
                        <a:lstStyle/>
                        <a:p>
                          <a:r>
                            <a:rPr lang="en-US" altLang="zh-TW" sz="1200" dirty="0" smtClean="0"/>
                            <a:t>8</a:t>
                          </a:r>
                          <a:endParaRPr lang="zh-TW" altLang="en-US" sz="1200" dirty="0"/>
                        </a:p>
                      </a:txBody>
                      <a:tcPr>
                        <a:solidFill>
                          <a:schemeClr val="tx2">
                            <a:lumMod val="40000"/>
                            <a:lumOff val="60000"/>
                          </a:schemeClr>
                        </a:solidFill>
                      </a:tcPr>
                    </a:tc>
                    <a:tc>
                      <a:txBody>
                        <a:bodyPr/>
                        <a:lstStyle/>
                        <a:p>
                          <a:r>
                            <a:rPr lang="en-US" altLang="zh-TW" sz="1200" dirty="0" smtClean="0"/>
                            <a:t>9</a:t>
                          </a:r>
                          <a:endParaRPr lang="zh-TW" altLang="en-US" sz="1200" dirty="0"/>
                        </a:p>
                      </a:txBody>
                      <a:tcPr>
                        <a:solidFill>
                          <a:schemeClr val="tx2">
                            <a:lumMod val="40000"/>
                            <a:lumOff val="60000"/>
                          </a:schemeClr>
                        </a:solidFill>
                      </a:tcPr>
                    </a:tc>
                    <a:tc>
                      <a:txBody>
                        <a:bodyPr/>
                        <a:lstStyle/>
                        <a:p>
                          <a:r>
                            <a:rPr lang="en-US" altLang="zh-TW" sz="1200" dirty="0" smtClean="0"/>
                            <a:t>10</a:t>
                          </a:r>
                          <a:endParaRPr lang="zh-TW" altLang="en-US" sz="1200" dirty="0"/>
                        </a:p>
                      </a:txBody>
                      <a:tcPr>
                        <a:solidFill>
                          <a:schemeClr val="tx2">
                            <a:lumMod val="40000"/>
                            <a:lumOff val="60000"/>
                          </a:schemeClr>
                        </a:solidFill>
                      </a:tcPr>
                    </a:tc>
                    <a:tc>
                      <a:txBody>
                        <a:bodyPr/>
                        <a:lstStyle/>
                        <a:p>
                          <a:r>
                            <a:rPr lang="en-US" altLang="zh-TW" sz="1200" dirty="0" smtClean="0"/>
                            <a:t>11</a:t>
                          </a:r>
                          <a:endParaRPr lang="zh-TW" altLang="en-US" sz="1200" dirty="0"/>
                        </a:p>
                      </a:txBody>
                      <a:tcPr>
                        <a:solidFill>
                          <a:schemeClr val="tx2">
                            <a:lumMod val="40000"/>
                            <a:lumOff val="60000"/>
                          </a:schemeClr>
                        </a:solidFill>
                      </a:tcPr>
                    </a:tc>
                    <a:tc>
                      <a:txBody>
                        <a:bodyPr/>
                        <a:lstStyle/>
                        <a:p>
                          <a:r>
                            <a:rPr lang="en-US" altLang="zh-TW" sz="1200" dirty="0" smtClean="0"/>
                            <a:t>12</a:t>
                          </a:r>
                          <a:endParaRPr lang="zh-TW" altLang="en-US" sz="1200" dirty="0"/>
                        </a:p>
                      </a:txBody>
                      <a:tcPr>
                        <a:solidFill>
                          <a:schemeClr val="tx2">
                            <a:lumMod val="40000"/>
                            <a:lumOff val="60000"/>
                          </a:schemeClr>
                        </a:solidFill>
                      </a:tcPr>
                    </a:tc>
                    <a:tc>
                      <a:txBody>
                        <a:bodyPr/>
                        <a:lstStyle/>
                        <a:p>
                          <a:r>
                            <a:rPr lang="en-US" altLang="zh-TW" sz="1200" dirty="0" smtClean="0"/>
                            <a:t>13</a:t>
                          </a:r>
                          <a:endParaRPr lang="zh-TW" altLang="en-US" sz="1200" dirty="0"/>
                        </a:p>
                      </a:txBody>
                      <a:tcPr>
                        <a:solidFill>
                          <a:schemeClr val="tx2">
                            <a:lumMod val="40000"/>
                            <a:lumOff val="60000"/>
                          </a:schemeClr>
                        </a:solidFill>
                      </a:tcPr>
                    </a:tc>
                    <a:tc>
                      <a:txBody>
                        <a:bodyPr/>
                        <a:lstStyle/>
                        <a:p>
                          <a:r>
                            <a:rPr lang="en-US" altLang="zh-TW" sz="1200" dirty="0" smtClean="0"/>
                            <a:t>14</a:t>
                          </a:r>
                          <a:endParaRPr lang="zh-TW" altLang="en-US" sz="1200" dirty="0"/>
                        </a:p>
                      </a:txBody>
                      <a:tcPr>
                        <a:solidFill>
                          <a:schemeClr val="tx2">
                            <a:lumMod val="40000"/>
                            <a:lumOff val="60000"/>
                          </a:schemeClr>
                        </a:solidFill>
                      </a:tcPr>
                    </a:tc>
                    <a:tc>
                      <a:txBody>
                        <a:bodyPr/>
                        <a:lstStyle/>
                        <a:p>
                          <a:r>
                            <a:rPr lang="en-US" altLang="zh-TW" sz="1200" dirty="0" smtClean="0"/>
                            <a:t>15.5</a:t>
                          </a:r>
                          <a:endParaRPr lang="zh-TW" altLang="en-US" sz="1200" dirty="0"/>
                        </a:p>
                      </a:txBody>
                      <a:tcPr>
                        <a:solidFill>
                          <a:schemeClr val="tx2">
                            <a:lumMod val="40000"/>
                            <a:lumOff val="60000"/>
                          </a:schemeClr>
                        </a:solidFill>
                      </a:tcPr>
                    </a:tc>
                    <a:tc>
                      <a:txBody>
                        <a:bodyPr/>
                        <a:lstStyle/>
                        <a:p>
                          <a:r>
                            <a:rPr lang="en-US" altLang="zh-TW" sz="1200" dirty="0" smtClean="0"/>
                            <a:t>15</a:t>
                          </a:r>
                          <a:endParaRPr lang="zh-TW" altLang="en-US" sz="1200" dirty="0"/>
                        </a:p>
                      </a:txBody>
                      <a:tcPr>
                        <a:solidFill>
                          <a:schemeClr val="tx2">
                            <a:lumMod val="40000"/>
                            <a:lumOff val="60000"/>
                          </a:schemeClr>
                        </a:solidFill>
                      </a:tcPr>
                    </a:tc>
                    <a:tc>
                      <a:txBody>
                        <a:bodyPr/>
                        <a:lstStyle/>
                        <a:p>
                          <a:r>
                            <a:rPr lang="en-US" altLang="zh-TW" sz="1200" dirty="0" smtClean="0"/>
                            <a:t>16</a:t>
                          </a:r>
                          <a:endParaRPr lang="zh-TW" altLang="en-US" sz="1200" dirty="0"/>
                        </a:p>
                      </a:txBody>
                      <a:tcPr>
                        <a:solidFill>
                          <a:schemeClr val="tx2">
                            <a:lumMod val="40000"/>
                            <a:lumOff val="60000"/>
                          </a:schemeClr>
                        </a:solidFill>
                      </a:tcPr>
                    </a:tc>
                    <a:tc>
                      <a:txBody>
                        <a:bodyPr/>
                        <a:lstStyle/>
                        <a:p>
                          <a:r>
                            <a:rPr lang="en-US" altLang="zh-TW" sz="1200" dirty="0" smtClean="0"/>
                            <a:t>17</a:t>
                          </a:r>
                          <a:endParaRPr lang="zh-TW" altLang="en-US" sz="1200" dirty="0"/>
                        </a:p>
                      </a:txBody>
                      <a:tcPr>
                        <a:solidFill>
                          <a:schemeClr val="tx2">
                            <a:lumMod val="40000"/>
                            <a:lumOff val="60000"/>
                          </a:schemeClr>
                        </a:solidFill>
                      </a:tcPr>
                    </a:tc>
                    <a:tc>
                      <a:txBody>
                        <a:bodyPr/>
                        <a:lstStyle/>
                        <a:p>
                          <a:r>
                            <a:rPr lang="en-US" altLang="zh-TW" sz="1200" dirty="0" smtClean="0"/>
                            <a:t>18.5</a:t>
                          </a:r>
                          <a:endParaRPr lang="zh-TW" altLang="en-US" sz="1200" dirty="0"/>
                        </a:p>
                      </a:txBody>
                      <a:tcPr>
                        <a:solidFill>
                          <a:schemeClr val="tx2">
                            <a:lumMod val="40000"/>
                            <a:lumOff val="60000"/>
                          </a:schemeClr>
                        </a:solidFill>
                      </a:tcPr>
                    </a:tc>
                    <a:tc>
                      <a:txBody>
                        <a:bodyPr/>
                        <a:lstStyle/>
                        <a:p>
                          <a:r>
                            <a:rPr lang="en-US" altLang="zh-TW" sz="1200" dirty="0" smtClean="0"/>
                            <a:t>18</a:t>
                          </a:r>
                          <a:endParaRPr lang="zh-TW" altLang="en-US" sz="1200" dirty="0"/>
                        </a:p>
                      </a:txBody>
                      <a:tcPr>
                        <a:solidFill>
                          <a:schemeClr val="tx2">
                            <a:lumMod val="40000"/>
                            <a:lumOff val="60000"/>
                          </a:schemeClr>
                        </a:solidFill>
                      </a:tcPr>
                    </a:tc>
                    <a:tc>
                      <a:txBody>
                        <a:bodyPr/>
                        <a:lstStyle/>
                        <a:p>
                          <a:r>
                            <a:rPr lang="en-US" altLang="zh-TW" sz="1200" dirty="0" smtClean="0"/>
                            <a:t>19</a:t>
                          </a:r>
                          <a:endParaRPr lang="zh-TW" altLang="en-US" sz="1200" dirty="0"/>
                        </a:p>
                      </a:txBody>
                      <a:tcPr>
                        <a:solidFill>
                          <a:schemeClr val="tx2">
                            <a:lumMod val="40000"/>
                            <a:lumOff val="60000"/>
                          </a:schemeClr>
                        </a:solidFill>
                      </a:tcPr>
                    </a:tc>
                    <a:extLst>
                      <a:ext uri="{0D108BD9-81ED-4DB2-BD59-A6C34878D82A}">
                        <a16:rowId xmlns:a16="http://schemas.microsoft.com/office/drawing/2014/main" val="1777185150"/>
                      </a:ext>
                    </a:extLst>
                  </a:tr>
                </a:tbl>
              </a:graphicData>
            </a:graphic>
          </p:graphicFrame>
        </mc:Fallback>
      </mc:AlternateContent>
    </p:spTree>
    <p:extLst>
      <p:ext uri="{BB962C8B-B14F-4D97-AF65-F5344CB8AC3E}">
        <p14:creationId xmlns:p14="http://schemas.microsoft.com/office/powerpoint/2010/main" val="172498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0719" y="776643"/>
            <a:ext cx="8296689" cy="3438706"/>
          </a:xfrm>
        </p:spPr>
      </p:pic>
      <mc:AlternateContent xmlns:mc="http://schemas.openxmlformats.org/markup-compatibility/2006" xmlns:a14="http://schemas.microsoft.com/office/drawing/2010/main">
        <mc:Choice Requires="a14">
          <p:sp>
            <p:nvSpPr>
              <p:cNvPr id="5" name="矩形 4"/>
              <p:cNvSpPr/>
              <p:nvPr/>
            </p:nvSpPr>
            <p:spPr>
              <a:xfrm>
                <a:off x="665922" y="4855121"/>
                <a:ext cx="8478078" cy="646331"/>
              </a:xfrm>
              <a:prstGeom prst="rect">
                <a:avLst/>
              </a:prstGeom>
            </p:spPr>
            <p:txBody>
              <a:bodyPr wrap="square">
                <a:spAutoFit/>
              </a:bodyPr>
              <a:lstStyle/>
              <a:p>
                <a:r>
                  <a:rPr lang="en-US" altLang="zh-TW" dirty="0" smtClean="0">
                    <a:latin typeface="Times New Roman" panose="02020603050405020304" pitchFamily="18" charset="0"/>
                    <a:cs typeface="Times New Roman" panose="02020603050405020304" pitchFamily="18" charset="0"/>
                  </a:rPr>
                  <a:t>HEFT</a:t>
                </a:r>
                <a14:m>
                  <m:oMath xmlns:m="http://schemas.openxmlformats.org/officeDocument/2006/math">
                    <m:r>
                      <a:rPr lang="en-US" altLang="zh-TW" dirty="0">
                        <a:latin typeface="Cambria Math" panose="02040503050406030204" pitchFamily="18" charset="0"/>
                        <a:cs typeface="Times New Roman" panose="02020603050405020304" pitchFamily="18" charset="0"/>
                      </a:rPr>
                      <m:t>   </m:t>
                    </m:r>
                    <m:r>
                      <a:rPr lang="en-US" altLang="zh-TW" i="1" dirty="0">
                        <a:latin typeface="Cambria Math" panose="02040503050406030204" pitchFamily="18" charset="0"/>
                        <a:cs typeface="Times New Roman" panose="02020603050405020304" pitchFamily="18" charset="0"/>
                      </a:rPr>
                      <m:t>𝑂</m:t>
                    </m:r>
                    <m:d>
                      <m:dPr>
                        <m:ctrlPr>
                          <a:rPr lang="en-US" altLang="zh-TW" i="1" dirty="0">
                            <a:latin typeface="Cambria Math" panose="02040503050406030204" pitchFamily="18" charset="0"/>
                            <a:cs typeface="Times New Roman" panose="02020603050405020304" pitchFamily="18" charset="0"/>
                          </a:rPr>
                        </m:ctrlPr>
                      </m:dPr>
                      <m:e>
                        <m:sSup>
                          <m:sSupPr>
                            <m:ctrlPr>
                              <a:rPr lang="en-US" altLang="zh-TW" i="1" dirty="0">
                                <a:latin typeface="Cambria Math" panose="02040503050406030204" pitchFamily="18" charset="0"/>
                                <a:cs typeface="Times New Roman" panose="02020603050405020304" pitchFamily="18" charset="0"/>
                              </a:rPr>
                            </m:ctrlPr>
                          </m:sSupPr>
                          <m:e>
                            <m:r>
                              <a:rPr lang="en-US" altLang="zh-TW" i="1" dirty="0">
                                <a:latin typeface="Cambria Math" panose="02040503050406030204" pitchFamily="18" charset="0"/>
                                <a:cs typeface="Times New Roman" panose="02020603050405020304" pitchFamily="18" charset="0"/>
                              </a:rPr>
                              <m:t>𝑛</m:t>
                            </m:r>
                          </m:e>
                          <m:sup>
                            <m:r>
                              <a:rPr lang="en-US" altLang="zh-TW" i="1" dirty="0">
                                <a:latin typeface="Cambria Math" panose="02040503050406030204" pitchFamily="18" charset="0"/>
                                <a:cs typeface="Times New Roman" panose="02020603050405020304" pitchFamily="18" charset="0"/>
                              </a:rPr>
                              <m:t>2</m:t>
                            </m:r>
                          </m:sup>
                        </m:sSup>
                        <m:r>
                          <a:rPr lang="en-US" altLang="zh-TW" i="1" dirty="0">
                            <a:latin typeface="Cambria Math" panose="02040503050406030204" pitchFamily="18" charset="0"/>
                            <a:cs typeface="Times New Roman" panose="02020603050405020304" pitchFamily="18" charset="0"/>
                          </a:rPr>
                          <m:t>∗</m:t>
                        </m:r>
                        <m:r>
                          <a:rPr lang="en-US" altLang="zh-TW" i="1" dirty="0">
                            <a:latin typeface="Cambria Math" panose="02040503050406030204" pitchFamily="18" charset="0"/>
                            <a:cs typeface="Times New Roman" panose="02020603050405020304" pitchFamily="18" charset="0"/>
                          </a:rPr>
                          <m:t>𝑝</m:t>
                        </m:r>
                      </m:e>
                    </m:d>
                  </m:oMath>
                </a14:m>
                <a:r>
                  <a:rPr lang="en-US" altLang="zh-TW" dirty="0" smtClean="0">
                    <a:latin typeface="Times New Roman" panose="02020603050405020304" pitchFamily="18" charset="0"/>
                    <a:cs typeface="Times New Roman" panose="02020603050405020304" pitchFamily="18" charset="0"/>
                  </a:rPr>
                  <a:t>      </a:t>
                </a:r>
              </a:p>
              <a:p>
                <a:r>
                  <a:rPr lang="en-US" altLang="zh-TW" dirty="0" smtClean="0">
                    <a:latin typeface="Times New Roman" panose="02020603050405020304" pitchFamily="18" charset="0"/>
                    <a:cs typeface="Times New Roman" panose="02020603050405020304" pitchFamily="18" charset="0"/>
                  </a:rPr>
                  <a:t>DBUS</a:t>
                </a:r>
                <a14:m>
                  <m:oMath xmlns:m="http://schemas.openxmlformats.org/officeDocument/2006/math">
                    <m:r>
                      <a:rPr lang="en-US" altLang="zh-TW" i="1" dirty="0">
                        <a:latin typeface="Cambria Math" panose="02040503050406030204" pitchFamily="18" charset="0"/>
                        <a:cs typeface="Times New Roman" panose="02020603050405020304" pitchFamily="18" charset="0"/>
                      </a:rPr>
                      <m:t>𝑂</m:t>
                    </m:r>
                    <m:d>
                      <m:dPr>
                        <m:ctrlPr>
                          <a:rPr lang="en-US" altLang="zh-TW" i="1" dirty="0">
                            <a:latin typeface="Cambria Math" panose="02040503050406030204" pitchFamily="18" charset="0"/>
                            <a:cs typeface="Times New Roman" panose="02020603050405020304" pitchFamily="18" charset="0"/>
                          </a:rPr>
                        </m:ctrlPr>
                      </m:dPr>
                      <m:e>
                        <m:sSup>
                          <m:sSupPr>
                            <m:ctrlPr>
                              <a:rPr lang="en-US" altLang="zh-TW" i="1" dirty="0">
                                <a:latin typeface="Cambria Math" panose="02040503050406030204" pitchFamily="18" charset="0"/>
                                <a:cs typeface="Times New Roman" panose="02020603050405020304" pitchFamily="18" charset="0"/>
                              </a:rPr>
                            </m:ctrlPr>
                          </m:sSupPr>
                          <m:e>
                            <m:r>
                              <a:rPr lang="en-US" altLang="zh-TW" i="1" dirty="0">
                                <a:latin typeface="Cambria Math" panose="02040503050406030204" pitchFamily="18" charset="0"/>
                                <a:cs typeface="Times New Roman" panose="02020603050405020304" pitchFamily="18" charset="0"/>
                              </a:rPr>
                              <m:t>𝑛</m:t>
                            </m:r>
                          </m:e>
                          <m:sup>
                            <m:r>
                              <a:rPr lang="en-US" altLang="zh-TW" i="1" dirty="0">
                                <a:latin typeface="Cambria Math" panose="02040503050406030204" pitchFamily="18" charset="0"/>
                                <a:cs typeface="Times New Roman" panose="02020603050405020304" pitchFamily="18" charset="0"/>
                              </a:rPr>
                              <m:t>2</m:t>
                            </m:r>
                          </m:sup>
                        </m:sSup>
                        <m:r>
                          <a:rPr lang="en-US" altLang="zh-TW" i="1" dirty="0">
                            <a:latin typeface="Cambria Math" panose="02040503050406030204" pitchFamily="18" charset="0"/>
                            <a:cs typeface="Times New Roman" panose="02020603050405020304" pitchFamily="18" charset="0"/>
                          </a:rPr>
                          <m:t>∗</m:t>
                        </m:r>
                        <m:sSup>
                          <m:sSupPr>
                            <m:ctrlPr>
                              <a:rPr lang="en-US" altLang="zh-TW" i="1" dirty="0">
                                <a:latin typeface="Cambria Math" panose="02040503050406030204" pitchFamily="18" charset="0"/>
                                <a:cs typeface="Times New Roman" panose="02020603050405020304" pitchFamily="18" charset="0"/>
                              </a:rPr>
                            </m:ctrlPr>
                          </m:sSupPr>
                          <m:e>
                            <m:r>
                              <a:rPr lang="en-US" altLang="zh-TW" b="0" i="1" dirty="0" smtClean="0">
                                <a:latin typeface="Cambria Math" panose="02040503050406030204" pitchFamily="18" charset="0"/>
                                <a:cs typeface="Times New Roman" panose="02020603050405020304" pitchFamily="18" charset="0"/>
                              </a:rPr>
                              <m:t>𝑝</m:t>
                            </m:r>
                          </m:e>
                          <m:sup>
                            <m:r>
                              <a:rPr lang="en-US" altLang="zh-TW" i="1" dirty="0">
                                <a:latin typeface="Cambria Math" panose="02040503050406030204" pitchFamily="18" charset="0"/>
                                <a:cs typeface="Times New Roman" panose="02020603050405020304" pitchFamily="18" charset="0"/>
                              </a:rPr>
                              <m:t>2</m:t>
                            </m:r>
                          </m:sup>
                        </m:sSup>
                      </m:e>
                    </m:d>
                  </m:oMath>
                </a14:m>
                <a:endParaRPr lang="en-US" altLang="zh-TW" dirty="0">
                  <a:latin typeface="Times New Roman" panose="02020603050405020304" pitchFamily="18" charset="0"/>
                  <a:cs typeface="Times New Roman" panose="02020603050405020304" pitchFamily="18"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665922" y="4855121"/>
                <a:ext cx="8478078" cy="646331"/>
              </a:xfrm>
              <a:prstGeom prst="rect">
                <a:avLst/>
              </a:prstGeom>
              <a:blipFill>
                <a:blip r:embed="rId3"/>
                <a:stretch>
                  <a:fillRect l="-575" t="-4717" b="-14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96846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244993" y="461639"/>
            <a:ext cx="8433339" cy="1699666"/>
          </a:xfrm>
        </p:spPr>
        <p:txBody>
          <a:bodyPr>
            <a:noAutofit/>
          </a:bodyPr>
          <a:lstStyle/>
          <a:p>
            <a:r>
              <a:rPr lang="en-US" altLang="zh-TW" sz="3600" dirty="0">
                <a:latin typeface="Times New Roman" panose="02020603050405020304" pitchFamily="18" charset="0"/>
                <a:cs typeface="Times New Roman" panose="02020603050405020304" pitchFamily="18" charset="0"/>
              </a:rPr>
              <a:t>Performance-effective and low-complexity task scheduling for heterogeneous computing</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44993" y="2819042"/>
            <a:ext cx="8536249" cy="927245"/>
          </a:xfrm>
        </p:spPr>
        <p:txBody>
          <a:bodyPr>
            <a:noAutofit/>
          </a:bodyPr>
          <a:lstStyle/>
          <a:p>
            <a:r>
              <a:rPr lang="da-DK" altLang="zh-TW" dirty="0">
                <a:latin typeface="Times New Roman" panose="02020603050405020304" pitchFamily="18" charset="0"/>
                <a:cs typeface="Times New Roman" panose="02020603050405020304" pitchFamily="18" charset="0"/>
              </a:rPr>
              <a:t>H. </a:t>
            </a:r>
            <a:r>
              <a:rPr lang="da-DK" altLang="zh-TW" dirty="0" smtClean="0">
                <a:latin typeface="Times New Roman" panose="02020603050405020304" pitchFamily="18" charset="0"/>
                <a:cs typeface="Times New Roman" panose="02020603050405020304" pitchFamily="18" charset="0"/>
              </a:rPr>
              <a:t>Topcuoglu, </a:t>
            </a:r>
            <a:r>
              <a:rPr lang="da-DK" altLang="zh-TW" dirty="0">
                <a:latin typeface="Times New Roman" panose="02020603050405020304" pitchFamily="18" charset="0"/>
                <a:cs typeface="Times New Roman" panose="02020603050405020304" pitchFamily="18" charset="0"/>
              </a:rPr>
              <a:t>S. </a:t>
            </a:r>
            <a:r>
              <a:rPr lang="da-DK" altLang="zh-TW" dirty="0" smtClean="0">
                <a:latin typeface="Times New Roman" panose="02020603050405020304" pitchFamily="18" charset="0"/>
                <a:cs typeface="Times New Roman" panose="02020603050405020304" pitchFamily="18" charset="0"/>
              </a:rPr>
              <a:t>Hariri, </a:t>
            </a:r>
            <a:r>
              <a:rPr lang="da-DK" altLang="zh-TW" dirty="0">
                <a:latin typeface="Times New Roman" panose="02020603050405020304" pitchFamily="18" charset="0"/>
                <a:cs typeface="Times New Roman" panose="02020603050405020304" pitchFamily="18" charset="0"/>
              </a:rPr>
              <a:t>Min-You </a:t>
            </a:r>
            <a:r>
              <a:rPr lang="da-DK" altLang="zh-TW" dirty="0" smtClean="0">
                <a:latin typeface="Times New Roman" panose="02020603050405020304" pitchFamily="18" charset="0"/>
                <a:cs typeface="Times New Roman" panose="02020603050405020304" pitchFamily="18" charset="0"/>
              </a:rPr>
              <a:t>Wu</a:t>
            </a:r>
            <a:endParaRPr lang="en-US" altLang="zh-TW"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192159" y="5487972"/>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smtClean="0">
                <a:latin typeface="Times New Roman" panose="02020603050405020304" pitchFamily="18" charset="0"/>
                <a:cs typeface="Times New Roman" panose="02020603050405020304" pitchFamily="18" charset="0"/>
              </a:rPr>
              <a:t> </a:t>
            </a:r>
            <a:r>
              <a:rPr lang="en-US" altLang="zh-TW" sz="1800" dirty="0" err="1" smtClean="0">
                <a:latin typeface="Times New Roman" panose="02020603050405020304" pitchFamily="18" charset="0"/>
                <a:cs typeface="Times New Roman" panose="02020603050405020304" pitchFamily="18" charset="0"/>
              </a:rPr>
              <a:t>Chih</a:t>
            </a:r>
            <a:r>
              <a:rPr lang="en-US" altLang="zh-TW" sz="1800" dirty="0" smtClean="0">
                <a:latin typeface="Times New Roman" panose="02020603050405020304" pitchFamily="18" charset="0"/>
                <a:cs typeface="Times New Roman" panose="02020603050405020304" pitchFamily="18" charset="0"/>
              </a:rPr>
              <a:t>-Kai Wu</a:t>
            </a:r>
          </a:p>
          <a:p>
            <a:pPr algn="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Date: Sept.29,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244993" y="3977196"/>
            <a:ext cx="8703699" cy="707886"/>
          </a:xfrm>
          <a:prstGeom prst="rect">
            <a:avLst/>
          </a:prstGeom>
        </p:spPr>
        <p:txBody>
          <a:bodyPr wrap="square">
            <a:spAutoFit/>
          </a:bodyPr>
          <a:lstStyle/>
          <a:p>
            <a:r>
              <a:rPr lang="en-US" altLang="zh-TW" sz="2000" dirty="0" smtClean="0">
                <a:latin typeface="Times New Roman" panose="02020603050405020304" pitchFamily="18" charset="0"/>
                <a:cs typeface="Times New Roman" panose="02020603050405020304" pitchFamily="18" charset="0"/>
              </a:rPr>
              <a:t>IEEE </a:t>
            </a:r>
            <a:r>
              <a:rPr lang="en-US" altLang="zh-TW" sz="2000" dirty="0">
                <a:latin typeface="Times New Roman" panose="02020603050405020304" pitchFamily="18" charset="0"/>
                <a:cs typeface="Times New Roman" panose="02020603050405020304" pitchFamily="18" charset="0"/>
              </a:rPr>
              <a:t>Transactions on Parallel and Distributed Systems, vol. 13, no. 3, pp. 260-274, March </a:t>
            </a:r>
            <a:r>
              <a:rPr lang="en-US" altLang="zh-TW" sz="2000" dirty="0" smtClean="0">
                <a:latin typeface="Times New Roman" panose="02020603050405020304" pitchFamily="18" charset="0"/>
                <a:cs typeface="Times New Roman" panose="02020603050405020304" pitchFamily="18" charset="0"/>
              </a:rPr>
              <a:t>2002</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0545990"/>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Abstract(1/3)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44067"/>
            <a:ext cx="9004993" cy="5944661"/>
          </a:xfrm>
        </p:spPr>
        <p:txBody>
          <a:bodyPr>
            <a:no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Efficient application scheduling is critical for achieving high performance in heterogeneous computing environments. The application scheduling problem has been shown to be NP-complete in general cases as well as in several restricted cases. Because of its key importance, this problem has been extensively studied and various algorithms have been proposed in the literature which are mainly for systems with homogeneous processors. Although there are a few algorithms in the literature for heterogeneous processors, they usually require significantly high scheduling costs and they may not deliver good quality schedules with lower costs. </a:t>
            </a:r>
            <a:endParaRPr lang="fr-FR"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44435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Abstract(2/3)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44067"/>
            <a:ext cx="9004993" cy="5944661"/>
          </a:xfrm>
        </p:spPr>
        <p:txBody>
          <a:bodyPr>
            <a:no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In this paper, we present two novel scheduling algorithms for a bounded number of heterogeneous processors with an objective to </a:t>
            </a:r>
            <a:r>
              <a:rPr lang="en-US" altLang="zh-TW" sz="2400" dirty="0" smtClean="0">
                <a:latin typeface="Times New Roman" panose="02020603050405020304" pitchFamily="18" charset="0"/>
                <a:cs typeface="Times New Roman" panose="02020603050405020304" pitchFamily="18" charset="0"/>
              </a:rPr>
              <a:t>simultaneously </a:t>
            </a:r>
            <a:r>
              <a:rPr lang="en-US" altLang="zh-TW" sz="2400" dirty="0">
                <a:latin typeface="Times New Roman" panose="02020603050405020304" pitchFamily="18" charset="0"/>
                <a:cs typeface="Times New Roman" panose="02020603050405020304" pitchFamily="18" charset="0"/>
              </a:rPr>
              <a:t>meet high performance and fast scheduling time, which are called the Heterogeneous Earliest-Finish-Time (HEFT) algorithm and the Critical-Path-on-a-Processor (CPOP) algorithm. The HEFT algorithm selects the task with the highest upward rank value at each step and assigns the selected task to the processor, which minimizes its earliest finish time with an insertion-based approach. On the other hand, the CPOP algorithm uses the summation of upward and downward rank values for prioritizing tasks. </a:t>
            </a:r>
          </a:p>
          <a:p>
            <a:pPr marL="0" indent="0">
              <a:lnSpc>
                <a:spcPct val="150000"/>
              </a:lnSpc>
              <a:buNone/>
            </a:pPr>
            <a:endParaRPr lang="fr-FR"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23191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Abstract(3/3)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764554"/>
            <a:ext cx="9004993" cy="5944661"/>
          </a:xfrm>
        </p:spPr>
        <p:txBody>
          <a:bodyPr>
            <a:no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Another difference is in the processor selection phase, which schedules the critical tasks onto the processor that minimizes the total execution time of the critical tasks. In order to provide a robust and unbiased comparison with the related work, a parametric graph generator was designed to generate weighted </a:t>
            </a:r>
            <a:r>
              <a:rPr lang="en-US" altLang="zh-TW" sz="2400" dirty="0" smtClean="0">
                <a:latin typeface="Times New Roman" panose="02020603050405020304" pitchFamily="18" charset="0"/>
                <a:cs typeface="Times New Roman" panose="02020603050405020304" pitchFamily="18" charset="0"/>
              </a:rPr>
              <a:t>DAGs with </a:t>
            </a:r>
            <a:r>
              <a:rPr lang="en-US" altLang="zh-TW" sz="2400" dirty="0">
                <a:latin typeface="Times New Roman" panose="02020603050405020304" pitchFamily="18" charset="0"/>
                <a:cs typeface="Times New Roman" panose="02020603050405020304" pitchFamily="18" charset="0"/>
              </a:rPr>
              <a:t>various characteristics. The comparison study, based on both randomly generated graphs and the graphs of some real applications, shows that our scheduling algorithms significantly surpass previous approaches in terms of both quality and cost of schedules, which are mainly presented with schedule length ratio, speedup, frequency of best results, and average scheduling time metrics.</a:t>
            </a:r>
          </a:p>
          <a:p>
            <a:pPr marL="0" indent="0">
              <a:lnSpc>
                <a:spcPct val="150000"/>
              </a:lnSpc>
              <a:buNone/>
            </a:pPr>
            <a:endParaRPr lang="fr-FR"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38529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rotWithShape="1">
          <a:blip r:embed="rId3">
            <a:extLst>
              <a:ext uri="{28A0092B-C50C-407E-A947-70E740481C1C}">
                <a14:useLocalDpi xmlns:a14="http://schemas.microsoft.com/office/drawing/2010/main" val="0"/>
              </a:ext>
            </a:extLst>
          </a:blip>
          <a:srcRect l="438" b="1075"/>
          <a:stretch/>
        </p:blipFill>
        <p:spPr>
          <a:xfrm>
            <a:off x="109328" y="190760"/>
            <a:ext cx="6768550" cy="3820968"/>
          </a:xfrm>
        </p:spPr>
      </p:pic>
      <p:pic>
        <p:nvPicPr>
          <p:cNvPr id="2" name="圖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3295" y="3697356"/>
            <a:ext cx="5151523" cy="3053568"/>
          </a:xfrm>
          <a:prstGeom prst="rect">
            <a:avLst/>
          </a:prstGeom>
        </p:spPr>
      </p:pic>
    </p:spTree>
    <p:extLst>
      <p:ext uri="{BB962C8B-B14F-4D97-AF65-F5344CB8AC3E}">
        <p14:creationId xmlns:p14="http://schemas.microsoft.com/office/powerpoint/2010/main" val="2465283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rotWithShape="1">
          <a:blip r:embed="rId2">
            <a:extLst>
              <a:ext uri="{28A0092B-C50C-407E-A947-70E740481C1C}">
                <a14:useLocalDpi xmlns:a14="http://schemas.microsoft.com/office/drawing/2010/main" val="0"/>
              </a:ext>
            </a:extLst>
          </a:blip>
          <a:srcRect l="2760" t="473"/>
          <a:stretch/>
        </p:blipFill>
        <p:spPr>
          <a:xfrm>
            <a:off x="4432853" y="238540"/>
            <a:ext cx="3496851" cy="6276354"/>
          </a:xfr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411" y="238540"/>
            <a:ext cx="1948747" cy="3399183"/>
          </a:xfrm>
          <a:prstGeom prst="rect">
            <a:avLst/>
          </a:prstGeom>
        </p:spPr>
      </p:pic>
    </p:spTree>
    <p:extLst>
      <p:ext uri="{BB962C8B-B14F-4D97-AF65-F5344CB8AC3E}">
        <p14:creationId xmlns:p14="http://schemas.microsoft.com/office/powerpoint/2010/main" val="4026784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817" y="278295"/>
            <a:ext cx="5151523" cy="3053568"/>
          </a:xfrm>
          <a:prstGeom prst="rect">
            <a:avLst/>
          </a:prstGeo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7340" y="278295"/>
            <a:ext cx="3353268" cy="5982535"/>
          </a:xfrm>
          <a:prstGeom prst="rect">
            <a:avLst/>
          </a:prstGeom>
        </p:spPr>
      </p:pic>
    </p:spTree>
    <p:extLst>
      <p:ext uri="{BB962C8B-B14F-4D97-AF65-F5344CB8AC3E}">
        <p14:creationId xmlns:p14="http://schemas.microsoft.com/office/powerpoint/2010/main" val="926400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9634" y="257252"/>
            <a:ext cx="7886700" cy="583367"/>
          </a:xfrm>
        </p:spPr>
        <p:txBody>
          <a:bodyPr>
            <a:normAutofit fontScale="90000"/>
          </a:bodyPr>
          <a:lstStyle/>
          <a:p>
            <a:r>
              <a:rPr lang="en-US" altLang="zh-TW" sz="3200" b="1" dirty="0">
                <a:latin typeface="Times New Roman" panose="02020603050405020304" pitchFamily="18" charset="0"/>
                <a:cs typeface="Times New Roman" panose="02020603050405020304" pitchFamily="18" charset="0"/>
              </a:rPr>
              <a:t> Random Graph Generator</a:t>
            </a:r>
            <a:br>
              <a:rPr lang="en-US" altLang="zh-TW" sz="3200" b="1" dirty="0">
                <a:latin typeface="Times New Roman" panose="02020603050405020304" pitchFamily="18" charset="0"/>
                <a:cs typeface="Times New Roman" panose="02020603050405020304" pitchFamily="18" charset="0"/>
              </a:rPr>
            </a:br>
            <a:endParaRPr lang="zh-TW" altLang="en-US"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548936"/>
                <a:ext cx="9004993" cy="6487969"/>
              </a:xfrm>
            </p:spPr>
            <p:txBody>
              <a:bodyPr>
                <a:noAutofit/>
              </a:bodyPr>
              <a:lstStyle/>
              <a:p>
                <a:pPr marL="0" indent="0">
                  <a:lnSpc>
                    <a:spcPct val="150000"/>
                  </a:lnSpc>
                  <a:buNone/>
                </a:pPr>
                <a:r>
                  <a:rPr lang="en-US" altLang="zh-TW" sz="2400" dirty="0" smtClean="0">
                    <a:latin typeface="Times New Roman" panose="02020603050405020304" pitchFamily="18" charset="0"/>
                    <a:cs typeface="Times New Roman" panose="02020603050405020304" pitchFamily="18" charset="0"/>
                  </a:rPr>
                  <a:t>1.Number of tasks in the graph</a:t>
                </a:r>
                <a:r>
                  <a:rPr lang="en-US" altLang="zh-TW" sz="2400" dirty="0">
                    <a:latin typeface="Times New Roman" panose="02020603050405020304" pitchFamily="18" charset="0"/>
                    <a:cs typeface="Times New Roman" panose="02020603050405020304" pitchFamily="18" charset="0"/>
                  </a:rPr>
                  <a:t> </a:t>
                </a:r>
                <a:r>
                  <a:rPr lang="en-US" altLang="zh-TW" sz="2400" dirty="0" smtClean="0">
                    <a:latin typeface="Times New Roman" panose="02020603050405020304" pitchFamily="18" charset="0"/>
                    <a:cs typeface="Times New Roman" panose="02020603050405020304" pitchFamily="18" charset="0"/>
                  </a:rPr>
                  <a:t>: v</a:t>
                </a:r>
              </a:p>
              <a:p>
                <a:pPr marL="0" indent="0">
                  <a:lnSpc>
                    <a:spcPct val="150000"/>
                  </a:lnSpc>
                  <a:buNone/>
                </a:pPr>
                <a:r>
                  <a:rPr lang="en-US" altLang="zh-TW" sz="2400" dirty="0" smtClean="0">
                    <a:latin typeface="Times New Roman" panose="02020603050405020304" pitchFamily="18" charset="0"/>
                    <a:cs typeface="Times New Roman" panose="02020603050405020304" pitchFamily="18" charset="0"/>
                  </a:rPr>
                  <a:t>2.Shape </a:t>
                </a:r>
                <a:r>
                  <a:rPr lang="en-US" altLang="zh-TW" sz="2400" dirty="0">
                    <a:latin typeface="Times New Roman" panose="02020603050405020304" pitchFamily="18" charset="0"/>
                    <a:cs typeface="Times New Roman" panose="02020603050405020304" pitchFamily="18" charset="0"/>
                  </a:rPr>
                  <a:t>parameter of the </a:t>
                </a:r>
                <a:r>
                  <a:rPr lang="en-US" altLang="zh-TW" sz="2400" dirty="0" smtClean="0">
                    <a:latin typeface="Times New Roman" panose="02020603050405020304" pitchFamily="18" charset="0"/>
                    <a:cs typeface="Times New Roman" panose="02020603050405020304" pitchFamily="18" charset="0"/>
                  </a:rPr>
                  <a:t>graph : α </a:t>
                </a:r>
                <a:r>
                  <a:rPr lang="en-US" altLang="zh-TW" sz="2400" dirty="0">
                    <a:latin typeface="Times New Roman" panose="02020603050405020304" pitchFamily="18" charset="0"/>
                    <a:cs typeface="Times New Roman" panose="02020603050405020304" pitchFamily="18" charset="0"/>
                  </a:rPr>
                  <a:t>, We assume that the height (depth) of a DAG is randomly generated from a uniform distribution with a mean value equal to </a:t>
                </a:r>
                <a14:m>
                  <m:oMath xmlns:m="http://schemas.openxmlformats.org/officeDocument/2006/math">
                    <m:f>
                      <m:fPr>
                        <m:ctrlPr>
                          <a:rPr lang="en-US" altLang="zh-TW" sz="2400" i="1" smtClean="0">
                            <a:latin typeface="Cambria Math" panose="02040503050406030204" pitchFamily="18" charset="0"/>
                            <a:cs typeface="Times New Roman" panose="02020603050405020304" pitchFamily="18" charset="0"/>
                          </a:rPr>
                        </m:ctrlPr>
                      </m:fPr>
                      <m:num>
                        <m:rad>
                          <m:radPr>
                            <m:degHide m:val="on"/>
                            <m:ctrlPr>
                              <a:rPr lang="en-US" altLang="zh-TW" sz="2400" i="1" smtClean="0">
                                <a:latin typeface="Cambria Math" panose="02040503050406030204" pitchFamily="18" charset="0"/>
                                <a:cs typeface="Times New Roman" panose="02020603050405020304" pitchFamily="18" charset="0"/>
                              </a:rPr>
                            </m:ctrlPr>
                          </m:radPr>
                          <m:deg/>
                          <m:e>
                            <m:r>
                              <a:rPr lang="en-US" altLang="zh-TW" sz="2400" b="0" i="1" smtClean="0">
                                <a:latin typeface="Cambria Math" panose="02040503050406030204" pitchFamily="18" charset="0"/>
                                <a:cs typeface="Times New Roman" panose="02020603050405020304" pitchFamily="18" charset="0"/>
                              </a:rPr>
                              <m:t>𝑣</m:t>
                            </m:r>
                          </m:e>
                        </m:rad>
                      </m:num>
                      <m:den>
                        <m:r>
                          <m:rPr>
                            <m:nor/>
                          </m:rPr>
                          <a:rPr lang="en-US" altLang="zh-TW" sz="2400" dirty="0">
                            <a:latin typeface="Times New Roman" panose="02020603050405020304" pitchFamily="18" charset="0"/>
                            <a:cs typeface="Times New Roman" panose="02020603050405020304" pitchFamily="18" charset="0"/>
                          </a:rPr>
                          <m:t>α</m:t>
                        </m:r>
                      </m:den>
                    </m:f>
                    <m:r>
                      <a:rPr lang="en-US" altLang="zh-TW" sz="2400" b="0" i="0" smtClean="0">
                        <a:latin typeface="Cambria Math" panose="02040503050406030204" pitchFamily="18" charset="0"/>
                        <a:cs typeface="Times New Roman" panose="02020603050405020304" pitchFamily="18" charset="0"/>
                      </a:rPr>
                      <m:t> </m:t>
                    </m:r>
                    <m:r>
                      <a:rPr lang="en-US" altLang="zh-TW" sz="2400" b="0" i="1" smtClean="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The width for each level is randomly selected from a uniform distribution with mean equal to</a:t>
                </a:r>
                <a:r>
                  <a:rPr lang="en-US" altLang="zh-TW" sz="2400" dirty="0">
                    <a:cs typeface="Times New Roman" panose="02020603050405020304" pitchFamily="18" charset="0"/>
                  </a:rPr>
                  <a:t> </a:t>
                </a:r>
                <a14:m>
                  <m:oMath xmlns:m="http://schemas.openxmlformats.org/officeDocument/2006/math">
                    <m:r>
                      <m:rPr>
                        <m:nor/>
                      </m:rPr>
                      <a:rPr lang="en-US" altLang="zh-TW" sz="2400" dirty="0">
                        <a:latin typeface="Times New Roman" panose="02020603050405020304" pitchFamily="18" charset="0"/>
                        <a:cs typeface="Times New Roman" panose="02020603050405020304" pitchFamily="18" charset="0"/>
                      </a:rPr>
                      <m:t>α</m:t>
                    </m:r>
                    <m:r>
                      <a:rPr lang="en-US" altLang="zh-TW" sz="2400" i="1" smtClean="0">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n-US" altLang="zh-TW" sz="2400" i="1">
                            <a:latin typeface="Cambria Math" panose="02040503050406030204" pitchFamily="18" charset="0"/>
                            <a:cs typeface="Times New Roman" panose="02020603050405020304" pitchFamily="18" charset="0"/>
                          </a:rPr>
                        </m:ctrlPr>
                      </m:radPr>
                      <m:deg/>
                      <m:e>
                        <m:r>
                          <a:rPr lang="en-US" altLang="zh-TW" sz="2400" i="1">
                            <a:latin typeface="Cambria Math" panose="02040503050406030204" pitchFamily="18" charset="0"/>
                            <a:cs typeface="Times New Roman" panose="02020603050405020304" pitchFamily="18" charset="0"/>
                          </a:rPr>
                          <m:t>𝑣</m:t>
                        </m:r>
                      </m:e>
                    </m:rad>
                  </m:oMath>
                </a14:m>
                <a:endParaRPr lang="en-US" altLang="zh-TW" sz="2400" dirty="0" smtClean="0">
                  <a:latin typeface="Times New Roman" panose="02020603050405020304" pitchFamily="18" charset="0"/>
                  <a:cs typeface="Times New Roman" panose="02020603050405020304" pitchFamily="18" charset="0"/>
                </a:endParaRPr>
              </a:p>
              <a:p>
                <a:pPr marL="0" indent="0">
                  <a:lnSpc>
                    <a:spcPct val="150000"/>
                  </a:lnSpc>
                  <a:buNone/>
                </a:pPr>
                <a:r>
                  <a:rPr lang="en-US" altLang="zh-TW" sz="2400" dirty="0">
                    <a:latin typeface="Times New Roman" panose="02020603050405020304" pitchFamily="18" charset="0"/>
                    <a:cs typeface="Times New Roman" panose="02020603050405020304" pitchFamily="18" charset="0"/>
                  </a:rPr>
                  <a:t>3. Out degree of a </a:t>
                </a:r>
                <a:r>
                  <a:rPr lang="en-US" altLang="zh-TW" sz="2400" dirty="0" smtClean="0">
                    <a:latin typeface="Times New Roman" panose="02020603050405020304" pitchFamily="18" charset="0"/>
                    <a:cs typeface="Times New Roman" panose="02020603050405020304" pitchFamily="18" charset="0"/>
                  </a:rPr>
                  <a:t>node</a:t>
                </a:r>
              </a:p>
              <a:p>
                <a:pPr marL="0" indent="0">
                  <a:lnSpc>
                    <a:spcPct val="150000"/>
                  </a:lnSpc>
                  <a:buNone/>
                </a:pPr>
                <a:r>
                  <a:rPr lang="en-US" altLang="zh-TW" sz="2400" dirty="0" smtClean="0">
                    <a:latin typeface="Times New Roman" panose="02020603050405020304" pitchFamily="18" charset="0"/>
                    <a:cs typeface="Times New Roman" panose="02020603050405020304" pitchFamily="18" charset="0"/>
                  </a:rPr>
                  <a:t>4.Communication </a:t>
                </a:r>
                <a:r>
                  <a:rPr lang="en-US" altLang="zh-TW" sz="2400" dirty="0">
                    <a:latin typeface="Times New Roman" panose="02020603050405020304" pitchFamily="18" charset="0"/>
                    <a:cs typeface="Times New Roman" panose="02020603050405020304" pitchFamily="18" charset="0"/>
                  </a:rPr>
                  <a:t>to computation </a:t>
                </a:r>
                <a:r>
                  <a:rPr lang="en-US" altLang="zh-TW" sz="2400" dirty="0" smtClean="0">
                    <a:latin typeface="Times New Roman" panose="02020603050405020304" pitchFamily="18" charset="0"/>
                    <a:cs typeface="Times New Roman" panose="02020603050405020304" pitchFamily="18" charset="0"/>
                  </a:rPr>
                  <a:t>ratio</a:t>
                </a:r>
              </a:p>
              <a:p>
                <a:pPr marL="0" indent="0">
                  <a:lnSpc>
                    <a:spcPct val="150000"/>
                  </a:lnSpc>
                  <a:buNone/>
                </a:pPr>
                <a:r>
                  <a:rPr lang="en-US" altLang="zh-TW" sz="2400" dirty="0">
                    <a:latin typeface="Times New Roman" panose="02020603050405020304" pitchFamily="18" charset="0"/>
                    <a:cs typeface="Times New Roman" panose="02020603050405020304" pitchFamily="18" charset="0"/>
                  </a:rPr>
                  <a:t>5. Range percentage of computation costs on </a:t>
                </a:r>
                <a:r>
                  <a:rPr lang="en-US" altLang="zh-TW" sz="2400" dirty="0" smtClean="0">
                    <a:latin typeface="Times New Roman" panose="02020603050405020304" pitchFamily="18" charset="0"/>
                    <a:cs typeface="Times New Roman" panose="02020603050405020304" pitchFamily="18" charset="0"/>
                  </a:rPr>
                  <a:t>processors : </a:t>
                </a:r>
                <a14:m>
                  <m:oMath xmlns:m="http://schemas.openxmlformats.org/officeDocument/2006/math">
                    <m:r>
                      <a:rPr lang="zh-TW" altLang="en-US" sz="2400" i="1" smtClean="0">
                        <a:latin typeface="Cambria Math" panose="02040503050406030204" pitchFamily="18" charset="0"/>
                        <a:cs typeface="Times New Roman" panose="02020603050405020304" pitchFamily="18" charset="0"/>
                      </a:rPr>
                      <m:t>𝛽</m:t>
                    </m:r>
                  </m:oMath>
                </a14:m>
                <a:endParaRPr lang="en-US" altLang="zh-TW" sz="2400" dirty="0" smtClean="0">
                  <a:latin typeface="Times New Roman" panose="02020603050405020304" pitchFamily="18" charset="0"/>
                  <a:cs typeface="Times New Roman" panose="02020603050405020304" pitchFamily="18" charset="0"/>
                </a:endParaRPr>
              </a:p>
              <a:p>
                <a:pPr marL="0" indent="0">
                  <a:lnSpc>
                    <a:spcPct val="150000"/>
                  </a:lnSpc>
                  <a:buNone/>
                </a:pPr>
                <a14:m>
                  <m:oMathPara xmlns:m="http://schemas.openxmlformats.org/officeDocument/2006/math">
                    <m:oMathParaPr>
                      <m:jc m:val="left"/>
                    </m:oMathParaPr>
                    <m:oMath xmlns:m="http://schemas.openxmlformats.org/officeDocument/2006/math">
                      <m:sSub>
                        <m:sSubPr>
                          <m:ctrlPr>
                            <a:rPr lang="en-US" altLang="zh-TW" sz="2000" i="1" dirty="0" smtClean="0">
                              <a:latin typeface="Cambria Math" panose="02040503050406030204" pitchFamily="18" charset="0"/>
                              <a:cs typeface="Times New Roman" panose="02020603050405020304" pitchFamily="18" charset="0"/>
                            </a:rPr>
                          </m:ctrlPr>
                        </m:sSubPr>
                        <m:e>
                          <m:r>
                            <a:rPr lang="en-US" altLang="zh-TW" sz="2000" b="0" i="1" dirty="0" smtClean="0">
                              <a:latin typeface="Cambria Math" panose="02040503050406030204" pitchFamily="18" charset="0"/>
                              <a:cs typeface="Times New Roman" panose="02020603050405020304" pitchFamily="18" charset="0"/>
                            </a:rPr>
                            <m:t>𝑤</m:t>
                          </m:r>
                        </m:e>
                        <m:sub>
                          <m:r>
                            <a:rPr lang="en-US" altLang="zh-TW" sz="2000" b="0" i="1" dirty="0" smtClean="0">
                              <a:latin typeface="Cambria Math" panose="02040503050406030204" pitchFamily="18" charset="0"/>
                              <a:cs typeface="Times New Roman" panose="02020603050405020304" pitchFamily="18" charset="0"/>
                            </a:rPr>
                            <m:t>𝑖</m:t>
                          </m:r>
                        </m:sub>
                      </m:sSub>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1−</m:t>
                          </m:r>
                          <m:f>
                            <m:fPr>
                              <m:ctrlPr>
                                <a:rPr lang="en-US" altLang="zh-TW" sz="2000" i="1">
                                  <a:latin typeface="Cambria Math" panose="02040503050406030204" pitchFamily="18" charset="0"/>
                                  <a:cs typeface="Times New Roman" panose="02020603050405020304" pitchFamily="18" charset="0"/>
                                </a:rPr>
                              </m:ctrlPr>
                            </m:fPr>
                            <m:num>
                              <m:r>
                                <a:rPr lang="zh-TW" altLang="en-US" sz="2000" i="1">
                                  <a:latin typeface="Cambria Math" panose="02040503050406030204" pitchFamily="18" charset="0"/>
                                  <a:cs typeface="Times New Roman" panose="02020603050405020304" pitchFamily="18" charset="0"/>
                                </a:rPr>
                                <m:t>𝛽</m:t>
                              </m:r>
                              <m:r>
                                <m:rPr>
                                  <m:nor/>
                                </m:rPr>
                                <a:rPr lang="en-US" altLang="zh-TW" sz="2000" dirty="0">
                                  <a:latin typeface="Times New Roman" panose="02020603050405020304" pitchFamily="18" charset="0"/>
                                  <a:cs typeface="Times New Roman" panose="02020603050405020304" pitchFamily="18" charset="0"/>
                                </a:rPr>
                                <m:t> </m:t>
                              </m:r>
                            </m:num>
                            <m:den>
                              <m:r>
                                <m:rPr>
                                  <m:nor/>
                                </m:rPr>
                                <a:rPr lang="en-US" altLang="zh-TW" sz="2000" b="0" i="0" smtClean="0">
                                  <a:latin typeface="Cambria Math" panose="02040503050406030204" pitchFamily="18" charset="0"/>
                                  <a:cs typeface="Times New Roman" panose="02020603050405020304" pitchFamily="18" charset="0"/>
                                </a:rPr>
                                <m:t>2</m:t>
                              </m:r>
                            </m:den>
                          </m:f>
                        </m:e>
                      </m:d>
                      <m:r>
                        <a:rPr lang="en-US" altLang="zh-TW" sz="2000" i="1" dirty="0">
                          <a:latin typeface="Cambria Math" panose="02040503050406030204" pitchFamily="18" charset="0"/>
                          <a:cs typeface="Times New Roman" panose="02020603050405020304" pitchFamily="18" charset="0"/>
                          <a:sym typeface="Symbol" panose="05050102010706020507" pitchFamily="18" charset="2"/>
                        </a:rPr>
                        <m:t></m:t>
                      </m:r>
                      <m:r>
                        <a:rPr lang="en-US" altLang="zh-TW" sz="2000" b="0" i="1" dirty="0" smtClean="0">
                          <a:latin typeface="Cambria Math" panose="02040503050406030204" pitchFamily="18" charset="0"/>
                          <a:cs typeface="Times New Roman" panose="02020603050405020304" pitchFamily="18" charset="0"/>
                          <a:sym typeface="Symbol" panose="05050102010706020507" pitchFamily="18" charset="2"/>
                        </a:rPr>
                        <m:t> </m:t>
                      </m:r>
                      <m:sSub>
                        <m:sSubPr>
                          <m:ctrlPr>
                            <a:rPr lang="en-US" altLang="zh-TW" sz="2000" i="1" dirty="0">
                              <a:latin typeface="Cambria Math" panose="02040503050406030204" pitchFamily="18" charset="0"/>
                              <a:cs typeface="Times New Roman" panose="02020603050405020304" pitchFamily="18" charset="0"/>
                            </a:rPr>
                          </m:ctrlPr>
                        </m:sSubPr>
                        <m:e>
                          <m:r>
                            <a:rPr lang="en-US" altLang="zh-TW" sz="2000" i="1" dirty="0">
                              <a:latin typeface="Cambria Math" panose="02040503050406030204" pitchFamily="18" charset="0"/>
                              <a:cs typeface="Times New Roman" panose="02020603050405020304" pitchFamily="18" charset="0"/>
                            </a:rPr>
                            <m:t>𝑤</m:t>
                          </m:r>
                        </m:e>
                        <m:sub>
                          <m:r>
                            <a:rPr lang="en-US" altLang="zh-TW" sz="2000" i="1" dirty="0">
                              <a:latin typeface="Cambria Math" panose="02040503050406030204" pitchFamily="18" charset="0"/>
                              <a:cs typeface="Times New Roman" panose="02020603050405020304" pitchFamily="18" charset="0"/>
                            </a:rPr>
                            <m:t>𝑖</m:t>
                          </m:r>
                        </m:sub>
                      </m:sSub>
                      <m:r>
                        <a:rPr lang="en-US" altLang="zh-TW" sz="2000" b="0" i="1" dirty="0" smtClean="0">
                          <a:latin typeface="Cambria Math" panose="02040503050406030204" pitchFamily="18" charset="0"/>
                          <a:cs typeface="Times New Roman" panose="02020603050405020304" pitchFamily="18" charset="0"/>
                        </a:rPr>
                        <m:t> </m:t>
                      </m:r>
                      <m:r>
                        <a:rPr lang="en-US" altLang="zh-TW" sz="2000" i="1" dirty="0" smtClean="0">
                          <a:latin typeface="Cambria Math" panose="02040503050406030204" pitchFamily="18" charset="0"/>
                          <a:cs typeface="Times New Roman" panose="02020603050405020304" pitchFamily="18" charset="0"/>
                          <a:sym typeface="Symbol" panose="05050102010706020507" pitchFamily="18" charset="2"/>
                        </a:rPr>
                        <m:t></m:t>
                      </m:r>
                      <m:sSub>
                        <m:sSubPr>
                          <m:ctrlPr>
                            <a:rPr lang="en-US" altLang="zh-TW" sz="2000" i="1" dirty="0">
                              <a:latin typeface="Cambria Math" panose="02040503050406030204" pitchFamily="18" charset="0"/>
                              <a:cs typeface="Times New Roman" panose="02020603050405020304" pitchFamily="18" charset="0"/>
                            </a:rPr>
                          </m:ctrlPr>
                        </m:sSubPr>
                        <m:e>
                          <m:r>
                            <a:rPr lang="en-US" altLang="zh-TW" sz="2000" i="1" dirty="0">
                              <a:latin typeface="Cambria Math" panose="02040503050406030204" pitchFamily="18" charset="0"/>
                              <a:cs typeface="Times New Roman" panose="02020603050405020304" pitchFamily="18" charset="0"/>
                            </a:rPr>
                            <m:t>𝑤</m:t>
                          </m:r>
                        </m:e>
                        <m:sub>
                          <m:r>
                            <a:rPr lang="en-US" altLang="zh-TW" sz="2000" i="1" dirty="0">
                              <a:latin typeface="Cambria Math" panose="02040503050406030204" pitchFamily="18" charset="0"/>
                              <a:cs typeface="Times New Roman" panose="02020603050405020304" pitchFamily="18" charset="0"/>
                            </a:rPr>
                            <m:t>𝑖</m:t>
                          </m:r>
                        </m:sub>
                      </m:sSub>
                      <m:r>
                        <a:rPr lang="en-US" altLang="zh-TW" sz="2000" i="1">
                          <a:latin typeface="Cambria Math" panose="02040503050406030204" pitchFamily="18" charset="0"/>
                          <a:ea typeface="Cambria Math" panose="02040503050406030204" pitchFamily="18" charset="0"/>
                          <a:cs typeface="Times New Roman" panose="02020603050405020304" pitchFamily="18" charset="0"/>
                        </a:rPr>
                        <m:t>×(1</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sz="2000" i="1">
                              <a:latin typeface="Cambria Math" panose="02040503050406030204" pitchFamily="18" charset="0"/>
                              <a:cs typeface="Times New Roman" panose="02020603050405020304" pitchFamily="18" charset="0"/>
                            </a:rPr>
                          </m:ctrlPr>
                        </m:fPr>
                        <m:num>
                          <m:r>
                            <a:rPr lang="zh-TW" altLang="en-US" sz="2000" i="1">
                              <a:latin typeface="Cambria Math" panose="02040503050406030204" pitchFamily="18" charset="0"/>
                              <a:cs typeface="Times New Roman" panose="02020603050405020304" pitchFamily="18" charset="0"/>
                            </a:rPr>
                            <m:t>𝛽</m:t>
                          </m:r>
                          <m:r>
                            <m:rPr>
                              <m:nor/>
                            </m:rPr>
                            <a:rPr lang="en-US" altLang="zh-TW" sz="2000" dirty="0">
                              <a:latin typeface="Times New Roman" panose="02020603050405020304" pitchFamily="18" charset="0"/>
                              <a:cs typeface="Times New Roman" panose="02020603050405020304" pitchFamily="18" charset="0"/>
                            </a:rPr>
                            <m:t> </m:t>
                          </m:r>
                        </m:num>
                        <m:den>
                          <m:r>
                            <m:rPr>
                              <m:nor/>
                            </m:rPr>
                            <a:rPr lang="en-US" altLang="zh-TW" sz="2000">
                              <a:latin typeface="Cambria Math" panose="02040503050406030204" pitchFamily="18" charset="0"/>
                              <a:cs typeface="Times New Roman" panose="02020603050405020304" pitchFamily="18" charset="0"/>
                            </a:rPr>
                            <m:t>2</m:t>
                          </m:r>
                        </m:den>
                      </m:f>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altLang="zh-TW" sz="2000" dirty="0">
                  <a:latin typeface="Times New Roman" panose="02020603050405020304" pitchFamily="18" charset="0"/>
                  <a:cs typeface="Times New Roman" panose="02020603050405020304" pitchFamily="18" charset="0"/>
                </a:endParaRPr>
              </a:p>
              <a:p>
                <a:pPr marL="0" indent="0">
                  <a:lnSpc>
                    <a:spcPct val="150000"/>
                  </a:lnSpc>
                  <a:buNone/>
                </a:pPr>
                <a:endParaRPr lang="en-US" altLang="zh-TW" sz="2400" dirty="0" smtClean="0">
                  <a:latin typeface="Times New Roman" panose="02020603050405020304" pitchFamily="18" charset="0"/>
                  <a:cs typeface="Times New Roman" panose="02020603050405020304" pitchFamily="18" charset="0"/>
                </a:endParaRPr>
              </a:p>
              <a:p>
                <a:pPr marL="0" indent="0">
                  <a:lnSpc>
                    <a:spcPct val="150000"/>
                  </a:lnSpc>
                  <a:buNone/>
                </a:pPr>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5E26DCC3-1991-4383-BF81-99FF895536EE}"/>
                  </a:ext>
                </a:extLst>
              </p:cNvPr>
              <p:cNvSpPr>
                <a:spLocks noGrp="1" noRot="1" noChangeAspect="1" noMove="1" noResize="1" noEditPoints="1" noAdjustHandles="1" noChangeArrowheads="1" noChangeShapeType="1" noTextEdit="1"/>
              </p:cNvSpPr>
              <p:nvPr>
                <p:ph idx="1"/>
              </p:nvPr>
            </p:nvSpPr>
            <p:spPr>
              <a:xfrm>
                <a:off x="139007" y="548936"/>
                <a:ext cx="9004993" cy="6487969"/>
              </a:xfrm>
              <a:blipFill>
                <a:blip r:embed="rId3"/>
                <a:stretch>
                  <a:fillRect l="-108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7293247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18356"/>
            <a:ext cx="6582143" cy="4788093"/>
          </a:xfrm>
        </p:spPr>
      </p:pic>
    </p:spTree>
    <p:extLst>
      <p:ext uri="{BB962C8B-B14F-4D97-AF65-F5344CB8AC3E}">
        <p14:creationId xmlns:p14="http://schemas.microsoft.com/office/powerpoint/2010/main" val="2375645109"/>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90446</TotalTime>
  <Words>659</Words>
  <Application>Microsoft Office PowerPoint</Application>
  <PresentationFormat>如螢幕大小 (4:3)</PresentationFormat>
  <Paragraphs>138</Paragraphs>
  <Slides>16</Slides>
  <Notes>8</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16</vt:i4>
      </vt:variant>
    </vt:vector>
  </HeadingPairs>
  <TitlesOfParts>
    <vt:vector size="25" baseType="lpstr">
      <vt:lpstr>新細明體</vt:lpstr>
      <vt:lpstr>標楷體</vt:lpstr>
      <vt:lpstr>Arial</vt:lpstr>
      <vt:lpstr>Calibri</vt:lpstr>
      <vt:lpstr>Calibri Light</vt:lpstr>
      <vt:lpstr>Cambria Math</vt:lpstr>
      <vt:lpstr>Symbol</vt:lpstr>
      <vt:lpstr>Times New Roman</vt:lpstr>
      <vt:lpstr>Office 佈景主題</vt:lpstr>
      <vt:lpstr>A task duplication based bottom-up scheduling algorithm for heterogeneous environments</vt:lpstr>
      <vt:lpstr>Abstract</vt:lpstr>
      <vt:lpstr>PowerPoint 簡報</vt:lpstr>
      <vt:lpstr>PowerPoint 簡報</vt:lpstr>
      <vt:lpstr>PowerPoint 簡報</vt:lpstr>
      <vt:lpstr>PowerPoint 簡報</vt:lpstr>
      <vt:lpstr>PowerPoint 簡報</vt:lpstr>
      <vt:lpstr>Performance-effective and low-complexity task scheduling for heterogeneous computing</vt:lpstr>
      <vt:lpstr>Abstract(1/3)</vt:lpstr>
      <vt:lpstr>Abstract(2/3)</vt:lpstr>
      <vt:lpstr>Abstract(3/3)</vt:lpstr>
      <vt:lpstr>PowerPoint 簡報</vt:lpstr>
      <vt:lpstr>PowerPoint 簡報</vt:lpstr>
      <vt:lpstr>PowerPoint 簡報</vt:lpstr>
      <vt:lpstr> Random Graph Generator </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智愷 吳</cp:lastModifiedBy>
  <cp:revision>844</cp:revision>
  <dcterms:created xsi:type="dcterms:W3CDTF">2017-09-25T08:45:50Z</dcterms:created>
  <dcterms:modified xsi:type="dcterms:W3CDTF">2020-09-29T09:51:45Z</dcterms:modified>
</cp:coreProperties>
</file>