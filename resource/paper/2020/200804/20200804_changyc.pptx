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79" r:id="rId5"/>
    <p:sldId id="259" r:id="rId6"/>
    <p:sldId id="284" r:id="rId7"/>
    <p:sldId id="260" r:id="rId8"/>
    <p:sldId id="280" r:id="rId9"/>
    <p:sldId id="281" r:id="rId10"/>
    <p:sldId id="282" r:id="rId11"/>
    <p:sldId id="283" r:id="rId12"/>
    <p:sldId id="261" r:id="rId13"/>
    <p:sldId id="262" r:id="rId14"/>
    <p:sldId id="263" r:id="rId15"/>
    <p:sldId id="285" r:id="rId16"/>
    <p:sldId id="286" r:id="rId17"/>
    <p:sldId id="264" r:id="rId18"/>
    <p:sldId id="287" r:id="rId19"/>
    <p:sldId id="288" r:id="rId20"/>
    <p:sldId id="289" r:id="rId21"/>
    <p:sldId id="266" r:id="rId22"/>
    <p:sldId id="270" r:id="rId23"/>
    <p:sldId id="271" r:id="rId24"/>
    <p:sldId id="272" r:id="rId25"/>
    <p:sldId id="265" r:id="rId26"/>
    <p:sldId id="273" r:id="rId27"/>
    <p:sldId id="293" r:id="rId28"/>
    <p:sldId id="290" r:id="rId29"/>
    <p:sldId id="291" r:id="rId30"/>
    <p:sldId id="292" r:id="rId31"/>
    <p:sldId id="275" r:id="rId32"/>
    <p:sldId id="276" r:id="rId33"/>
    <p:sldId id="277" r:id="rId34"/>
    <p:sldId id="278" r:id="rId3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6186186C-64BA-44FD-9B78-555D693B99E1}">
          <p14:sldIdLst>
            <p14:sldId id="256"/>
            <p14:sldId id="257"/>
            <p14:sldId id="258"/>
            <p14:sldId id="279"/>
            <p14:sldId id="259"/>
            <p14:sldId id="284"/>
            <p14:sldId id="260"/>
            <p14:sldId id="280"/>
            <p14:sldId id="281"/>
            <p14:sldId id="282"/>
            <p14:sldId id="283"/>
            <p14:sldId id="261"/>
            <p14:sldId id="262"/>
            <p14:sldId id="263"/>
            <p14:sldId id="285"/>
            <p14:sldId id="286"/>
            <p14:sldId id="264"/>
            <p14:sldId id="287"/>
            <p14:sldId id="288"/>
            <p14:sldId id="289"/>
            <p14:sldId id="266"/>
            <p14:sldId id="270"/>
            <p14:sldId id="271"/>
            <p14:sldId id="272"/>
            <p14:sldId id="265"/>
            <p14:sldId id="273"/>
            <p14:sldId id="293"/>
            <p14:sldId id="290"/>
            <p14:sldId id="291"/>
            <p14:sldId id="292"/>
            <p14:sldId id="275"/>
          </p14:sldIdLst>
        </p14:section>
        <p14:section name="備份使用，文字較多" id="{F21ADB2F-C463-44A9-95CA-02F8F538458F}">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81D9"/>
    <a:srgbClr val="934B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68" autoAdjust="0"/>
    <p:restoredTop sz="89882" autoAdjust="0"/>
  </p:normalViewPr>
  <p:slideViewPr>
    <p:cSldViewPr snapToGrid="0">
      <p:cViewPr varScale="1">
        <p:scale>
          <a:sx n="102" d="100"/>
          <a:sy n="102" d="100"/>
        </p:scale>
        <p:origin x="786" y="108"/>
      </p:cViewPr>
      <p:guideLst/>
    </p:cSldViewPr>
  </p:slideViewPr>
  <p:outlineViewPr>
    <p:cViewPr>
      <p:scale>
        <a:sx n="33" d="100"/>
        <a:sy n="33" d="100"/>
      </p:scale>
      <p:origin x="0" y="-954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4033D0-5A25-41C7-969A-EF5F7C649CD4}" type="datetimeFigureOut">
              <a:rPr lang="zh-TW" altLang="en-US" smtClean="0"/>
              <a:t>2020/8/4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C9F1D4-CE95-410B-B0BC-C775142743A3}" type="slidenum">
              <a:rPr lang="zh-TW" altLang="en-US" smtClean="0"/>
              <a:t>‹#›</a:t>
            </a:fld>
            <a:endParaRPr lang="zh-TW" altLang="en-US"/>
          </a:p>
        </p:txBody>
      </p:sp>
    </p:spTree>
    <p:extLst>
      <p:ext uri="{BB962C8B-B14F-4D97-AF65-F5344CB8AC3E}">
        <p14:creationId xmlns:p14="http://schemas.microsoft.com/office/powerpoint/2010/main" val="3933862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b="0" i="0" u="sng" dirty="0">
                <a:solidFill>
                  <a:srgbClr val="777777"/>
                </a:solidFill>
                <a:effectLst/>
                <a:latin typeface="Roboto"/>
              </a:rPr>
              <a:t>JK: </a:t>
            </a:r>
            <a:r>
              <a:rPr lang="zh-TW" altLang="en-US" sz="1800" b="0" i="0" u="none" strike="noStrike" baseline="0" dirty="0">
                <a:solidFill>
                  <a:srgbClr val="000000"/>
                </a:solidFill>
                <a:effectLst/>
                <a:latin typeface="BHHHL A+ Gulliver"/>
              </a:rPr>
              <a:t> </a:t>
            </a:r>
            <a:r>
              <a:rPr lang="en-US" altLang="zh-TW" sz="1800" b="0" i="0" u="none" strike="noStrike" baseline="0" dirty="0">
                <a:solidFill>
                  <a:srgbClr val="000000"/>
                </a:solidFill>
                <a:latin typeface="BHHIA C+ Gulliver"/>
              </a:rPr>
              <a:t>Department of Computer Science and Engineering, Institute of Computer Technology, Seoul National University, Seoul, </a:t>
            </a:r>
            <a:r>
              <a:rPr lang="en-US" altLang="zh-TW" sz="1800" b="0" i="0" u="none" strike="noStrike" baseline="0" dirty="0" err="1">
                <a:solidFill>
                  <a:srgbClr val="000000"/>
                </a:solidFill>
                <a:latin typeface="BHHIA C+ Gulliver"/>
              </a:rPr>
              <a:t>RepublicofKorea</a:t>
            </a:r>
            <a:endParaRPr lang="en-US" altLang="zh-TW" sz="1800" b="0" i="0" u="none" strike="noStrike" baseline="0" dirty="0">
              <a:solidFill>
                <a:srgbClr val="000000"/>
              </a:solidFill>
              <a:latin typeface="BHHIA C+ Gulliver"/>
            </a:endParaRPr>
          </a:p>
          <a:p>
            <a:pPr algn="l"/>
            <a:r>
              <a:rPr lang="en-US" altLang="zh-TW" sz="1800" b="0" i="0" u="none" strike="noStrike" baseline="0" dirty="0">
                <a:solidFill>
                  <a:srgbClr val="000000"/>
                </a:solidFill>
                <a:effectLst/>
                <a:latin typeface="BHHIA C+ Gulliver"/>
              </a:rPr>
              <a:t>PE:  s</a:t>
            </a:r>
            <a:r>
              <a:rPr lang="en-US" altLang="zh-TW" sz="1800" b="0" i="0" u="none" strike="noStrike" baseline="0" dirty="0">
                <a:solidFill>
                  <a:srgbClr val="000000"/>
                </a:solidFill>
                <a:latin typeface="BHHIA C+ Gulliver"/>
              </a:rPr>
              <a:t>chool of Information Technologies, University of Sydney, Australia</a:t>
            </a:r>
          </a:p>
          <a:p>
            <a:pPr algn="l"/>
            <a:r>
              <a:rPr lang="en-US" altLang="zh-TW" sz="1800" b="0" i="0" u="none" strike="noStrike" baseline="0" dirty="0">
                <a:solidFill>
                  <a:srgbClr val="000000"/>
                </a:solidFill>
                <a:latin typeface="BHHIA C+ Gulliver"/>
              </a:rPr>
              <a:t>RF: </a:t>
            </a:r>
            <a:endParaRPr lang="zh-TW" altLang="en-US" sz="1800" b="0" i="0" u="none" strike="noStrike" baseline="0" dirty="0">
              <a:solidFill>
                <a:srgbClr val="000000"/>
              </a:solidFill>
              <a:latin typeface="BHHHL A+ Gulliver"/>
            </a:endParaRPr>
          </a:p>
          <a:p>
            <a:r>
              <a:rPr lang="en-US" altLang="zh-TW" sz="1800" b="0" i="0" u="none" strike="noStrike" baseline="0" dirty="0">
                <a:solidFill>
                  <a:srgbClr val="000000"/>
                </a:solidFill>
                <a:latin typeface="BHHIA C+ Gulliver"/>
              </a:rPr>
              <a:t>SCS and IIPL, Fudan University, Shanghai, China</a:t>
            </a:r>
          </a:p>
          <a:p>
            <a:r>
              <a:rPr lang="en-US" altLang="zh-TW" sz="1800" b="0" i="0" u="none" strike="noStrike" baseline="0" dirty="0">
                <a:solidFill>
                  <a:srgbClr val="000000"/>
                </a:solidFill>
                <a:latin typeface="BHHIA C+ Gulliver"/>
              </a:rPr>
              <a:t>Department of Applied Information Technology, German University of Technology in Oman, Muscat, Oman</a:t>
            </a:r>
          </a:p>
          <a:p>
            <a:r>
              <a:rPr lang="en-US" altLang="zh-TW" sz="1800" b="0" i="0" u="none" strike="noStrike" baseline="0" dirty="0">
                <a:solidFill>
                  <a:srgbClr val="000000"/>
                </a:solidFill>
                <a:latin typeface="BHHIA C+ Gulliver"/>
              </a:rPr>
              <a:t>SHH:   PE</a:t>
            </a:r>
          </a:p>
          <a:p>
            <a:r>
              <a:rPr lang="en-US" altLang="zh-TW" sz="1800" b="0" i="0" u="none" strike="noStrike" baseline="0" dirty="0">
                <a:solidFill>
                  <a:srgbClr val="000000"/>
                </a:solidFill>
                <a:latin typeface="BHHIA C+ Gulliver"/>
              </a:rPr>
              <a:t>CSI: UK</a:t>
            </a:r>
            <a:r>
              <a:rPr lang="zh-TW" altLang="en-US" sz="1800" b="0" i="0" u="none" strike="noStrike" baseline="0" dirty="0">
                <a:solidFill>
                  <a:srgbClr val="000000"/>
                </a:solidFill>
                <a:latin typeface="BHHIA C+ Gulliver"/>
              </a:rPr>
              <a:t>，澳洲</a:t>
            </a:r>
            <a:endParaRPr lang="en-US" altLang="zh-TW" sz="1800" b="0" i="0" u="none" strike="noStrike" baseline="0" dirty="0">
              <a:solidFill>
                <a:srgbClr val="000000"/>
              </a:solidFill>
              <a:latin typeface="BHHIA C+ Gulliver"/>
            </a:endParaRPr>
          </a:p>
          <a:p>
            <a:r>
              <a:rPr lang="en-US" altLang="zh-TW" sz="1800" b="0" i="0" u="none" strike="noStrike" baseline="0" dirty="0">
                <a:solidFill>
                  <a:srgbClr val="000000"/>
                </a:solidFill>
                <a:latin typeface="BHHIA C+ Gulliver"/>
              </a:rPr>
              <a:t>KP: JK</a:t>
            </a:r>
          </a:p>
          <a:p>
            <a:r>
              <a:rPr lang="en-US" altLang="zh-TW" sz="1800" b="0" i="0" u="none" strike="noStrike" baseline="0" dirty="0">
                <a:solidFill>
                  <a:srgbClr val="000000"/>
                </a:solidFill>
                <a:latin typeface="BHHIA C+ Gulliver"/>
              </a:rPr>
              <a:t>SJP: Finland</a:t>
            </a:r>
          </a:p>
          <a:p>
            <a:r>
              <a:rPr lang="en-US" altLang="zh-TW" sz="1800" b="0" i="0" u="none" strike="noStrike" baseline="0" dirty="0">
                <a:solidFill>
                  <a:srgbClr val="000000"/>
                </a:solidFill>
                <a:latin typeface="BHHIA C+ Gulliver"/>
              </a:rPr>
              <a:t>TT: Japan</a:t>
            </a:r>
          </a:p>
          <a:p>
            <a:pPr algn="l"/>
            <a:endParaRPr lang="en-US" altLang="zh-TW" b="0" i="0" u="sng" dirty="0">
              <a:solidFill>
                <a:srgbClr val="777777"/>
              </a:solidFill>
              <a:effectLst/>
              <a:latin typeface="Roboto"/>
            </a:endParaRPr>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a:t>
            </a:fld>
            <a:endParaRPr lang="zh-TW" altLang="en-US"/>
          </a:p>
        </p:txBody>
      </p:sp>
    </p:spTree>
    <p:extLst>
      <p:ext uri="{BB962C8B-B14F-4D97-AF65-F5344CB8AC3E}">
        <p14:creationId xmlns:p14="http://schemas.microsoft.com/office/powerpoint/2010/main" val="1392474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2</a:t>
            </a:fld>
            <a:endParaRPr lang="zh-TW" altLang="en-US"/>
          </a:p>
        </p:txBody>
      </p:sp>
    </p:spTree>
    <p:extLst>
      <p:ext uri="{BB962C8B-B14F-4D97-AF65-F5344CB8AC3E}">
        <p14:creationId xmlns:p14="http://schemas.microsoft.com/office/powerpoint/2010/main" val="2373972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a:t>
            </a:fld>
            <a:endParaRPr lang="zh-TW" altLang="en-US"/>
          </a:p>
        </p:txBody>
      </p:sp>
    </p:spTree>
    <p:extLst>
      <p:ext uri="{BB962C8B-B14F-4D97-AF65-F5344CB8AC3E}">
        <p14:creationId xmlns:p14="http://schemas.microsoft.com/office/powerpoint/2010/main" val="2537008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4</a:t>
            </a:fld>
            <a:endParaRPr lang="zh-TW" altLang="en-US"/>
          </a:p>
        </p:txBody>
      </p:sp>
    </p:spTree>
    <p:extLst>
      <p:ext uri="{BB962C8B-B14F-4D97-AF65-F5344CB8AC3E}">
        <p14:creationId xmlns:p14="http://schemas.microsoft.com/office/powerpoint/2010/main" val="1036031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計算</a:t>
            </a:r>
            <a:r>
              <a:rPr lang="en-US" altLang="zh-TW" sz="12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1200" dirty="0">
                <a:latin typeface="Times New Roman" panose="02020603050405020304" pitchFamily="18" charset="0"/>
                <a:ea typeface="標楷體" panose="03000509000000000000" pitchFamily="65" charset="-120"/>
              </a:rPr>
              <a:t>q3] </a:t>
            </a:r>
            <a:r>
              <a:rPr lang="zh-TW" altLang="en-US" sz="1200" dirty="0">
                <a:latin typeface="Times New Roman" panose="02020603050405020304" pitchFamily="18" charset="0"/>
                <a:ea typeface="標楷體" panose="03000509000000000000" pitchFamily="65" charset="-120"/>
              </a:rPr>
              <a:t>的時候， 把 </a:t>
            </a:r>
            <a:r>
              <a:rPr lang="en-US" altLang="zh-TW" sz="1200" dirty="0">
                <a:latin typeface="Times New Roman" panose="02020603050405020304" pitchFamily="18" charset="0"/>
                <a:ea typeface="標楷體" panose="03000509000000000000" pitchFamily="65" charset="-120"/>
              </a:rPr>
              <a:t>23 , 35</a:t>
            </a:r>
            <a:r>
              <a:rPr lang="zh-TW" altLang="en-US" sz="1200" dirty="0">
                <a:latin typeface="Times New Roman" panose="02020603050405020304" pitchFamily="18" charset="0"/>
                <a:ea typeface="標楷體" panose="03000509000000000000" pitchFamily="65" charset="-120"/>
              </a:rPr>
              <a:t> 移除了</a:t>
            </a:r>
            <a:endParaRPr lang="en-US" altLang="zh-TW" sz="1200" dirty="0">
              <a:latin typeface="Times New Roman" panose="02020603050405020304" pitchFamily="18" charset="0"/>
              <a:ea typeface="標楷體" panose="03000509000000000000" pitchFamily="65" charset="-120"/>
            </a:endParaRPr>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33</a:t>
            </a:fld>
            <a:endParaRPr lang="zh-TW" altLang="en-US"/>
          </a:p>
        </p:txBody>
      </p:sp>
    </p:spTree>
    <p:extLst>
      <p:ext uri="{BB962C8B-B14F-4D97-AF65-F5344CB8AC3E}">
        <p14:creationId xmlns:p14="http://schemas.microsoft.com/office/powerpoint/2010/main" val="1593801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5D6350-B6ED-41FC-9D7E-7F401D1D3B8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10C62AA-5FAB-4981-A45A-1A8517CA60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450ED99-A302-4A55-B3DF-54415272259F}"/>
              </a:ext>
            </a:extLst>
          </p:cNvPr>
          <p:cNvSpPr>
            <a:spLocks noGrp="1"/>
          </p:cNvSpPr>
          <p:nvPr>
            <p:ph type="dt" sz="half" idx="10"/>
          </p:nvPr>
        </p:nvSpPr>
        <p:spPr/>
        <p:txBody>
          <a:bodyPr/>
          <a:lstStyle/>
          <a:p>
            <a:fld id="{B409E770-9C80-4ED4-983E-8A15F27ADAA7}" type="datetimeFigureOut">
              <a:rPr lang="zh-TW" altLang="en-US" smtClean="0"/>
              <a:t>2020/8/4</a:t>
            </a:fld>
            <a:endParaRPr lang="zh-TW" altLang="en-US"/>
          </a:p>
        </p:txBody>
      </p:sp>
      <p:sp>
        <p:nvSpPr>
          <p:cNvPr id="5" name="頁尾版面配置區 4">
            <a:extLst>
              <a:ext uri="{FF2B5EF4-FFF2-40B4-BE49-F238E27FC236}">
                <a16:creationId xmlns:a16="http://schemas.microsoft.com/office/drawing/2014/main" id="{9E377494-B569-42CD-88D2-0988ED58F5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7DF940-0364-4C9B-9D2E-F53DCBCFE38B}"/>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604640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292AC1-9699-4F08-B315-69E76AA049C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A8B8D7B-403B-4E87-82BF-F03CE7156135}"/>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F124561-057D-4469-9AB5-4C6597D38B9F}"/>
              </a:ext>
            </a:extLst>
          </p:cNvPr>
          <p:cNvSpPr>
            <a:spLocks noGrp="1"/>
          </p:cNvSpPr>
          <p:nvPr>
            <p:ph type="dt" sz="half" idx="10"/>
          </p:nvPr>
        </p:nvSpPr>
        <p:spPr/>
        <p:txBody>
          <a:bodyPr/>
          <a:lstStyle/>
          <a:p>
            <a:fld id="{B409E770-9C80-4ED4-983E-8A15F27ADAA7}" type="datetimeFigureOut">
              <a:rPr lang="zh-TW" altLang="en-US" smtClean="0"/>
              <a:t>2020/8/4</a:t>
            </a:fld>
            <a:endParaRPr lang="zh-TW" altLang="en-US"/>
          </a:p>
        </p:txBody>
      </p:sp>
      <p:sp>
        <p:nvSpPr>
          <p:cNvPr id="5" name="頁尾版面配置區 4">
            <a:extLst>
              <a:ext uri="{FF2B5EF4-FFF2-40B4-BE49-F238E27FC236}">
                <a16:creationId xmlns:a16="http://schemas.microsoft.com/office/drawing/2014/main" id="{C1CA6533-3974-4E64-AB88-349851F808A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11307E2-178E-4165-A305-28B315270CBA}"/>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4242834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4F4D4-9F65-4A3C-90CA-5E6012D4A6B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605989C-B6AE-485E-B909-2AACC4420A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7F143C1-A721-46A9-8DA4-CBAF6D76DA12}"/>
              </a:ext>
            </a:extLst>
          </p:cNvPr>
          <p:cNvSpPr>
            <a:spLocks noGrp="1"/>
          </p:cNvSpPr>
          <p:nvPr>
            <p:ph type="dt" sz="half" idx="10"/>
          </p:nvPr>
        </p:nvSpPr>
        <p:spPr/>
        <p:txBody>
          <a:bodyPr/>
          <a:lstStyle/>
          <a:p>
            <a:fld id="{B409E770-9C80-4ED4-983E-8A15F27ADAA7}" type="datetimeFigureOut">
              <a:rPr lang="zh-TW" altLang="en-US" smtClean="0"/>
              <a:t>2020/8/4</a:t>
            </a:fld>
            <a:endParaRPr lang="zh-TW" altLang="en-US"/>
          </a:p>
        </p:txBody>
      </p:sp>
      <p:sp>
        <p:nvSpPr>
          <p:cNvPr id="5" name="頁尾版面配置區 4">
            <a:extLst>
              <a:ext uri="{FF2B5EF4-FFF2-40B4-BE49-F238E27FC236}">
                <a16:creationId xmlns:a16="http://schemas.microsoft.com/office/drawing/2014/main" id="{58B4BB70-EBF3-4E15-B0D9-362EC6358D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82C94A2-8B8A-4F73-8AB7-9086E29781D9}"/>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836695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CF601E-8FD2-4C96-84ED-A1535992AB7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5658968-2AA4-47D9-8EE7-25EB5B574F3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CCB8EEDE-671F-4288-8102-60AF3949E29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7C4633D-0EA1-483A-BCAE-A2C11947C28E}"/>
              </a:ext>
            </a:extLst>
          </p:cNvPr>
          <p:cNvSpPr>
            <a:spLocks noGrp="1"/>
          </p:cNvSpPr>
          <p:nvPr>
            <p:ph type="dt" sz="half" idx="10"/>
          </p:nvPr>
        </p:nvSpPr>
        <p:spPr/>
        <p:txBody>
          <a:bodyPr/>
          <a:lstStyle/>
          <a:p>
            <a:fld id="{B409E770-9C80-4ED4-983E-8A15F27ADAA7}" type="datetimeFigureOut">
              <a:rPr lang="zh-TW" altLang="en-US" smtClean="0"/>
              <a:t>2020/8/4</a:t>
            </a:fld>
            <a:endParaRPr lang="zh-TW" altLang="en-US"/>
          </a:p>
        </p:txBody>
      </p:sp>
      <p:sp>
        <p:nvSpPr>
          <p:cNvPr id="6" name="頁尾版面配置區 5">
            <a:extLst>
              <a:ext uri="{FF2B5EF4-FFF2-40B4-BE49-F238E27FC236}">
                <a16:creationId xmlns:a16="http://schemas.microsoft.com/office/drawing/2014/main" id="{B89957CD-A76F-4E8A-A600-37A8E89B3AA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0CD5A3C-70C9-4468-805A-3216FAD54C92}"/>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769286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98B42B-89C1-47C8-B9DF-997A8833F11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3EC08FF-5F84-4CC0-B4E9-D623E4AC3E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A51DA6E-7A90-4DB0-9126-5CC8C4B0601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BA7D7BB7-2FC8-4BE2-A1A4-57D098F58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64E82F7-2C0E-4490-AD80-0749C7C5B1A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F137E754-7BA1-463B-94AE-949313510271}"/>
              </a:ext>
            </a:extLst>
          </p:cNvPr>
          <p:cNvSpPr>
            <a:spLocks noGrp="1"/>
          </p:cNvSpPr>
          <p:nvPr>
            <p:ph type="dt" sz="half" idx="10"/>
          </p:nvPr>
        </p:nvSpPr>
        <p:spPr/>
        <p:txBody>
          <a:bodyPr/>
          <a:lstStyle/>
          <a:p>
            <a:fld id="{B409E770-9C80-4ED4-983E-8A15F27ADAA7}" type="datetimeFigureOut">
              <a:rPr lang="zh-TW" altLang="en-US" smtClean="0"/>
              <a:t>2020/8/4</a:t>
            </a:fld>
            <a:endParaRPr lang="zh-TW" altLang="en-US"/>
          </a:p>
        </p:txBody>
      </p:sp>
      <p:sp>
        <p:nvSpPr>
          <p:cNvPr id="8" name="頁尾版面配置區 7">
            <a:extLst>
              <a:ext uri="{FF2B5EF4-FFF2-40B4-BE49-F238E27FC236}">
                <a16:creationId xmlns:a16="http://schemas.microsoft.com/office/drawing/2014/main" id="{8380C5EB-E691-4156-928C-26330C64B11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E1A806DF-D52B-4FB1-971E-F10E0C2DF23D}"/>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704638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C3BD06-DAE3-4E3E-B6B3-64819162963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7A04491-282C-4221-A3EF-28A94F786F36}"/>
              </a:ext>
            </a:extLst>
          </p:cNvPr>
          <p:cNvSpPr>
            <a:spLocks noGrp="1"/>
          </p:cNvSpPr>
          <p:nvPr>
            <p:ph type="dt" sz="half" idx="10"/>
          </p:nvPr>
        </p:nvSpPr>
        <p:spPr/>
        <p:txBody>
          <a:bodyPr/>
          <a:lstStyle/>
          <a:p>
            <a:fld id="{B409E770-9C80-4ED4-983E-8A15F27ADAA7}" type="datetimeFigureOut">
              <a:rPr lang="zh-TW" altLang="en-US" smtClean="0"/>
              <a:t>2020/8/4</a:t>
            </a:fld>
            <a:endParaRPr lang="zh-TW" altLang="en-US"/>
          </a:p>
        </p:txBody>
      </p:sp>
      <p:sp>
        <p:nvSpPr>
          <p:cNvPr id="4" name="頁尾版面配置區 3">
            <a:extLst>
              <a:ext uri="{FF2B5EF4-FFF2-40B4-BE49-F238E27FC236}">
                <a16:creationId xmlns:a16="http://schemas.microsoft.com/office/drawing/2014/main" id="{271379CA-0E38-42B7-BE99-6B584783AB9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4B7507D-DFF5-48B7-9C10-7C05EE3825B4}"/>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953725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B1D52D3-FF08-4F05-AE9A-D07E40E7AE69}"/>
              </a:ext>
            </a:extLst>
          </p:cNvPr>
          <p:cNvSpPr>
            <a:spLocks noGrp="1"/>
          </p:cNvSpPr>
          <p:nvPr>
            <p:ph type="dt" sz="half" idx="10"/>
          </p:nvPr>
        </p:nvSpPr>
        <p:spPr/>
        <p:txBody>
          <a:bodyPr/>
          <a:lstStyle/>
          <a:p>
            <a:fld id="{B409E770-9C80-4ED4-983E-8A15F27ADAA7}" type="datetimeFigureOut">
              <a:rPr lang="zh-TW" altLang="en-US" smtClean="0"/>
              <a:t>2020/8/4</a:t>
            </a:fld>
            <a:endParaRPr lang="zh-TW" altLang="en-US"/>
          </a:p>
        </p:txBody>
      </p:sp>
      <p:sp>
        <p:nvSpPr>
          <p:cNvPr id="3" name="頁尾版面配置區 2">
            <a:extLst>
              <a:ext uri="{FF2B5EF4-FFF2-40B4-BE49-F238E27FC236}">
                <a16:creationId xmlns:a16="http://schemas.microsoft.com/office/drawing/2014/main" id="{E2090C79-D9CF-4D2A-85D5-EBCD12C0C9A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2EFD9B8-B153-43FE-B1B0-FDFA19393B4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326377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17D1F5-4F45-434A-9699-03158D52967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64CFA46-9726-4680-8164-F1258B007A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88E2037-0EFD-4F48-A629-1F43D084A2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9FA2B0E-7569-4EE9-B847-3B3B3E00C7EE}"/>
              </a:ext>
            </a:extLst>
          </p:cNvPr>
          <p:cNvSpPr>
            <a:spLocks noGrp="1"/>
          </p:cNvSpPr>
          <p:nvPr>
            <p:ph type="dt" sz="half" idx="10"/>
          </p:nvPr>
        </p:nvSpPr>
        <p:spPr/>
        <p:txBody>
          <a:bodyPr/>
          <a:lstStyle/>
          <a:p>
            <a:fld id="{B409E770-9C80-4ED4-983E-8A15F27ADAA7}" type="datetimeFigureOut">
              <a:rPr lang="zh-TW" altLang="en-US" smtClean="0"/>
              <a:t>2020/8/4</a:t>
            </a:fld>
            <a:endParaRPr lang="zh-TW" altLang="en-US"/>
          </a:p>
        </p:txBody>
      </p:sp>
      <p:sp>
        <p:nvSpPr>
          <p:cNvPr id="6" name="頁尾版面配置區 5">
            <a:extLst>
              <a:ext uri="{FF2B5EF4-FFF2-40B4-BE49-F238E27FC236}">
                <a16:creationId xmlns:a16="http://schemas.microsoft.com/office/drawing/2014/main" id="{A2A74A09-DF0D-4516-9B6E-A1BA4FA5099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AE58F68-574D-4991-AB67-979AE7EC2E00}"/>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926713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4A608B-EB2D-43E3-806D-315F7F6C6E1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17BB9D9-6CF8-47E2-9613-CFC9E5CFB4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DAE305B-85A6-42D3-BDFE-E012EAD5A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333906F-B54E-487C-A495-4EE49A687E1E}"/>
              </a:ext>
            </a:extLst>
          </p:cNvPr>
          <p:cNvSpPr>
            <a:spLocks noGrp="1"/>
          </p:cNvSpPr>
          <p:nvPr>
            <p:ph type="dt" sz="half" idx="10"/>
          </p:nvPr>
        </p:nvSpPr>
        <p:spPr/>
        <p:txBody>
          <a:bodyPr/>
          <a:lstStyle/>
          <a:p>
            <a:fld id="{B409E770-9C80-4ED4-983E-8A15F27ADAA7}" type="datetimeFigureOut">
              <a:rPr lang="zh-TW" altLang="en-US" smtClean="0"/>
              <a:t>2020/8/4</a:t>
            </a:fld>
            <a:endParaRPr lang="zh-TW" altLang="en-US"/>
          </a:p>
        </p:txBody>
      </p:sp>
      <p:sp>
        <p:nvSpPr>
          <p:cNvPr id="6" name="頁尾版面配置區 5">
            <a:extLst>
              <a:ext uri="{FF2B5EF4-FFF2-40B4-BE49-F238E27FC236}">
                <a16:creationId xmlns:a16="http://schemas.microsoft.com/office/drawing/2014/main" id="{0AFDA8D6-DFC2-44AD-AB91-CCEF4579961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F7815D7-84B9-4D45-8E5A-58AFEF382EA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860817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763308-F782-4AC8-A223-E354635B38F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73B59CF-1B41-495A-93CF-6101A5CE7C02}"/>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9B80BB1-A83C-4652-BAC8-2B3F681B2890}"/>
              </a:ext>
            </a:extLst>
          </p:cNvPr>
          <p:cNvSpPr>
            <a:spLocks noGrp="1"/>
          </p:cNvSpPr>
          <p:nvPr>
            <p:ph type="dt" sz="half" idx="10"/>
          </p:nvPr>
        </p:nvSpPr>
        <p:spPr/>
        <p:txBody>
          <a:bodyPr/>
          <a:lstStyle/>
          <a:p>
            <a:fld id="{B409E770-9C80-4ED4-983E-8A15F27ADAA7}" type="datetimeFigureOut">
              <a:rPr lang="zh-TW" altLang="en-US" smtClean="0"/>
              <a:t>2020/8/4</a:t>
            </a:fld>
            <a:endParaRPr lang="zh-TW" altLang="en-US"/>
          </a:p>
        </p:txBody>
      </p:sp>
      <p:sp>
        <p:nvSpPr>
          <p:cNvPr id="5" name="頁尾版面配置區 4">
            <a:extLst>
              <a:ext uri="{FF2B5EF4-FFF2-40B4-BE49-F238E27FC236}">
                <a16:creationId xmlns:a16="http://schemas.microsoft.com/office/drawing/2014/main" id="{1707E1EE-E900-4925-B1A8-EE7DD6AF46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91F960C-8C3A-496F-B3A0-26297D927F1A}"/>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49013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0B6D235-6449-4393-9C71-2079D2809C5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D2B0F98-2672-4DE5-827E-1F7351B7F94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43C27C8-C683-4B57-A443-2B79354B9887}"/>
              </a:ext>
            </a:extLst>
          </p:cNvPr>
          <p:cNvSpPr>
            <a:spLocks noGrp="1"/>
          </p:cNvSpPr>
          <p:nvPr>
            <p:ph type="dt" sz="half" idx="10"/>
          </p:nvPr>
        </p:nvSpPr>
        <p:spPr/>
        <p:txBody>
          <a:bodyPr/>
          <a:lstStyle/>
          <a:p>
            <a:fld id="{B409E770-9C80-4ED4-983E-8A15F27ADAA7}" type="datetimeFigureOut">
              <a:rPr lang="zh-TW" altLang="en-US" smtClean="0"/>
              <a:t>2020/8/4</a:t>
            </a:fld>
            <a:endParaRPr lang="zh-TW" altLang="en-US"/>
          </a:p>
        </p:txBody>
      </p:sp>
      <p:sp>
        <p:nvSpPr>
          <p:cNvPr id="5" name="頁尾版面配置區 4">
            <a:extLst>
              <a:ext uri="{FF2B5EF4-FFF2-40B4-BE49-F238E27FC236}">
                <a16:creationId xmlns:a16="http://schemas.microsoft.com/office/drawing/2014/main" id="{8424A34C-43DD-4DF5-84E9-8562F9B9B40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F67B5B2-0E14-4C16-8BB2-353A2AA0BADE}"/>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430112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747F35C-0173-40E0-88F5-5C85ABA0CC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518B1AB-6AFD-4952-BDFB-11797FAB99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8BCFE33-872D-4C90-867C-8B41F7A90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9E770-9C80-4ED4-983E-8A15F27ADAA7}" type="datetimeFigureOut">
              <a:rPr lang="zh-TW" altLang="en-US" smtClean="0"/>
              <a:t>2020/8/4</a:t>
            </a:fld>
            <a:endParaRPr lang="zh-TW" altLang="en-US"/>
          </a:p>
        </p:txBody>
      </p:sp>
      <p:sp>
        <p:nvSpPr>
          <p:cNvPr id="5" name="頁尾版面配置區 4">
            <a:extLst>
              <a:ext uri="{FF2B5EF4-FFF2-40B4-BE49-F238E27FC236}">
                <a16:creationId xmlns:a16="http://schemas.microsoft.com/office/drawing/2014/main" id="{010F5102-CD48-4F14-B5B2-F49CC9C34F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3021C4BF-8ADC-4392-A585-48B57FAFAD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940820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684BF-5890-4FC5-B196-08274D50E2DE}"/>
              </a:ext>
            </a:extLst>
          </p:cNvPr>
          <p:cNvSpPr>
            <a:spLocks noGrp="1"/>
          </p:cNvSpPr>
          <p:nvPr>
            <p:ph type="ctrTitle"/>
          </p:nvPr>
        </p:nvSpPr>
        <p:spPr>
          <a:xfrm>
            <a:off x="1181493" y="1604685"/>
            <a:ext cx="9829014" cy="871815"/>
          </a:xfrm>
        </p:spPr>
        <p:txBody>
          <a:bodyPr>
            <a:normAutofit/>
          </a:bodyPr>
          <a:lstStyle/>
          <a:p>
            <a:r>
              <a:rPr lang="en-US" altLang="zh-TW" sz="4400" dirty="0">
                <a:latin typeface="Times New Roman" panose="02020603050405020304" pitchFamily="18" charset="0"/>
                <a:cs typeface="Times New Roman" panose="02020603050405020304" pitchFamily="18" charset="0"/>
              </a:rPr>
              <a:t>Order-preserving</a:t>
            </a:r>
            <a:r>
              <a:rPr lang="zh-TW" altLang="en-US" sz="4400" dirty="0">
                <a:latin typeface="Times New Roman" panose="02020603050405020304" pitchFamily="18" charset="0"/>
                <a:cs typeface="Times New Roman" panose="02020603050405020304" pitchFamily="18" charset="0"/>
              </a:rPr>
              <a:t> </a:t>
            </a:r>
            <a:r>
              <a:rPr lang="en-US" altLang="zh-TW" sz="4400" dirty="0">
                <a:latin typeface="Times New Roman" panose="02020603050405020304" pitchFamily="18" charset="0"/>
                <a:cs typeface="Times New Roman" panose="02020603050405020304" pitchFamily="18" charset="0"/>
              </a:rPr>
              <a:t>Matching</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5B088C0-E697-4363-A21A-D66DFFC167BB}"/>
              </a:ext>
            </a:extLst>
          </p:cNvPr>
          <p:cNvSpPr>
            <a:spLocks noGrp="1"/>
          </p:cNvSpPr>
          <p:nvPr>
            <p:ph type="subTitle" idx="1"/>
          </p:nvPr>
        </p:nvSpPr>
        <p:spPr>
          <a:xfrm>
            <a:off x="609600" y="3656415"/>
            <a:ext cx="11163299" cy="1655762"/>
          </a:xfrm>
        </p:spPr>
        <p:txBody>
          <a:bodyPr>
            <a:noAutofit/>
          </a:bodyPr>
          <a:lstStyle/>
          <a:p>
            <a:r>
              <a:rPr lang="de-DE" altLang="zh-TW" dirty="0">
                <a:latin typeface="Times New Roman" panose="02020603050405020304" pitchFamily="18" charset="0"/>
                <a:cs typeface="Times New Roman" panose="02020603050405020304" pitchFamily="18" charset="0"/>
              </a:rPr>
              <a:t>Jinil</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Kim,</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Peter</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Eades,</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Rudolf</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Fleischer,</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Seok-Hee</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Hong,</a:t>
            </a:r>
            <a:r>
              <a:rPr lang="zh-TW" altLang="en-US" dirty="0">
                <a:latin typeface="Times New Roman" panose="02020603050405020304" pitchFamily="18" charset="0"/>
                <a:cs typeface="Times New Roman" panose="02020603050405020304" pitchFamily="18" charset="0"/>
              </a:rPr>
              <a:t> </a:t>
            </a:r>
            <a:br>
              <a:rPr lang="en-US" altLang="zh-TW" dirty="0">
                <a:latin typeface="Times New Roman" panose="02020603050405020304" pitchFamily="18" charset="0"/>
                <a:cs typeface="Times New Roman" panose="02020603050405020304" pitchFamily="18" charset="0"/>
              </a:rPr>
            </a:br>
            <a:r>
              <a:rPr lang="de-DE" altLang="zh-TW" dirty="0">
                <a:latin typeface="Times New Roman" panose="02020603050405020304" pitchFamily="18" charset="0"/>
                <a:cs typeface="Times New Roman" panose="02020603050405020304" pitchFamily="18" charset="0"/>
              </a:rPr>
              <a:t>CostasS.Iliopoulos,</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Kunsoo</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Park,Simon</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J.</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Puglisi,</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Takeshi</a:t>
            </a:r>
            <a:r>
              <a:rPr lang="zh-TW" altLang="en-US" dirty="0">
                <a:latin typeface="Times New Roman" panose="02020603050405020304" pitchFamily="18" charset="0"/>
                <a:cs typeface="Times New Roman" panose="02020603050405020304" pitchFamily="18" charset="0"/>
              </a:rPr>
              <a:t> </a:t>
            </a:r>
            <a:r>
              <a:rPr lang="de-DE" altLang="zh-TW" dirty="0">
                <a:latin typeface="Times New Roman" panose="02020603050405020304" pitchFamily="18" charset="0"/>
                <a:cs typeface="Times New Roman" panose="02020603050405020304" pitchFamily="18" charset="0"/>
              </a:rPr>
              <a:t>Tokuyama</a:t>
            </a:r>
          </a:p>
          <a:p>
            <a:endParaRPr lang="de-DE"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Theoretical Computer Science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525(2014)</a:t>
            </a:r>
            <a:r>
              <a:rPr lang="zh-TW" altLang="en-US">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68–79</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EAEC4D25-9ABF-4EA3-BD8D-ACD84E94CF46}"/>
              </a:ext>
            </a:extLst>
          </p:cNvPr>
          <p:cNvSpPr txBox="1"/>
          <p:nvPr/>
        </p:nvSpPr>
        <p:spPr>
          <a:xfrm>
            <a:off x="8942664" y="5933983"/>
            <a:ext cx="3249336" cy="646331"/>
          </a:xfrm>
          <a:prstGeom prst="rect">
            <a:avLst/>
          </a:prstGeom>
          <a:noFill/>
        </p:spPr>
        <p:txBody>
          <a:bodyPr wrap="square" rtlCol="0">
            <a:spAutoFit/>
          </a:bodyPr>
          <a:lstStyle/>
          <a:p>
            <a:pPr algn="r"/>
            <a:r>
              <a:rPr lang="en-US" altLang="zh-TW" dirty="0">
                <a:latin typeface="Times New Roman" panose="02020603050405020304" pitchFamily="18" charset="0"/>
                <a:cs typeface="Times New Roman" panose="02020603050405020304" pitchFamily="18" charset="0"/>
              </a:rPr>
              <a:t>Presenter</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Yu-Cheng Chang</a:t>
            </a:r>
          </a:p>
          <a:p>
            <a:pPr algn="r"/>
            <a:r>
              <a:rPr lang="en-US" altLang="zh-TW" dirty="0">
                <a:latin typeface="Times New Roman" panose="02020603050405020304" pitchFamily="18" charset="0"/>
                <a:cs typeface="Times New Roman" panose="02020603050405020304" pitchFamily="18" charset="0"/>
              </a:rPr>
              <a:t>Date</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Aug. 4, 2020</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90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175771A-477F-4B4A-9278-972CA4C51B49}"/>
              </a:ext>
            </a:extLst>
          </p:cNvPr>
          <p:cNvSpPr>
            <a:spLocks noGrp="1"/>
          </p:cNvSpPr>
          <p:nvPr>
            <p:ph idx="1"/>
          </p:nvPr>
        </p:nvSpPr>
        <p:spPr/>
        <p:txBody>
          <a:bodyPr>
            <a:noAutofit/>
          </a:bodyPr>
          <a:lstStyle/>
          <a:p>
            <a:pPr marL="0" indent="0">
              <a:buNone/>
            </a:pPr>
            <a:r>
              <a:rPr lang="en-US" altLang="zh-TW" sz="2400" dirty="0">
                <a:latin typeface="Times New Roman" panose="02020603050405020304" pitchFamily="18" charset="0"/>
                <a:cs typeface="Times New Roman" panose="02020603050405020304" pitchFamily="18" charset="0"/>
              </a:rPr>
              <a:t>We introduce a new string matching problem called order-preserving matching on numeric strings, where a pattern matches a text if the text contains a substring of values whose relative orders coincide with those of the pattern. Order-preserving matching is applicable to many scenarios such as stock price analysis and musical melody matching in which the order relations should be matched instead of the strings themselves. Solving order-preserving matching is closely related to the representation of order relations of a numeric string. We define the prefix representation and the nearest neighbor representation of the pattern, both of which lead to efficient algorithms for order-preserving matching. We present efficient algorithms for single and multiple pattern cases. For the single pattern case, we give an O(</a:t>
            </a:r>
            <a:r>
              <a:rPr lang="en-US" altLang="zh-TW" sz="2400" i="1" dirty="0" err="1">
                <a:latin typeface="Times New Roman" panose="02020603050405020304" pitchFamily="18" charset="0"/>
                <a:cs typeface="Times New Roman" panose="02020603050405020304" pitchFamily="18" charset="0"/>
              </a:rPr>
              <a:t>n</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 time algorithm and optimize it further to obtain O(</a:t>
            </a:r>
            <a:r>
              <a:rPr lang="en-US" altLang="zh-TW" sz="2400" i="1" dirty="0">
                <a:latin typeface="Times New Roman" panose="02020603050405020304" pitchFamily="18" charset="0"/>
                <a:cs typeface="Times New Roman" panose="02020603050405020304" pitchFamily="18" charset="0"/>
              </a:rPr>
              <a:t>n</a:t>
            </a:r>
            <a:r>
              <a:rPr lang="zh-TW" altLang="en-US" sz="2400" i="1"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i="1" dirty="0" err="1">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 time. For the multiple pattern case, we give an O(</a:t>
            </a:r>
            <a:r>
              <a:rPr lang="en-US" altLang="zh-TW" sz="2400" i="1" dirty="0" err="1">
                <a:latin typeface="Times New Roman" panose="02020603050405020304" pitchFamily="18" charset="0"/>
                <a:cs typeface="Times New Roman" panose="02020603050405020304" pitchFamily="18" charset="0"/>
              </a:rPr>
              <a:t>n</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 time algorithm.</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580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6B834B-A741-4BE0-AD19-CF7DACCD28EB}"/>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Order-preserving</a:t>
            </a:r>
            <a:r>
              <a:rPr lang="zh-TW" altLang="en-US" sz="4400" dirty="0">
                <a:latin typeface="Times New Roman" panose="02020603050405020304" pitchFamily="18" charset="0"/>
                <a:cs typeface="Times New Roman" panose="02020603050405020304" pitchFamily="18" charset="0"/>
              </a:rPr>
              <a:t> </a:t>
            </a:r>
            <a:r>
              <a:rPr lang="en-US" altLang="zh-TW" sz="4400" dirty="0">
                <a:latin typeface="Times New Roman" panose="02020603050405020304" pitchFamily="18" charset="0"/>
                <a:cs typeface="Times New Roman" panose="02020603050405020304" pitchFamily="18" charset="0"/>
              </a:rPr>
              <a:t>Matching</a:t>
            </a:r>
            <a:endParaRPr lang="zh-TW" altLang="en-US" dirty="0"/>
          </a:p>
        </p:txBody>
      </p:sp>
      <p:pic>
        <p:nvPicPr>
          <p:cNvPr id="5" name="圖片 4">
            <a:extLst>
              <a:ext uri="{FF2B5EF4-FFF2-40B4-BE49-F238E27FC236}">
                <a16:creationId xmlns:a16="http://schemas.microsoft.com/office/drawing/2014/main" id="{A7AC0A78-DEB2-479C-96AD-A8723FFA35E8}"/>
              </a:ext>
            </a:extLst>
          </p:cNvPr>
          <p:cNvPicPr>
            <a:picLocks noChangeAspect="1"/>
          </p:cNvPicPr>
          <p:nvPr/>
        </p:nvPicPr>
        <p:blipFill>
          <a:blip r:embed="rId3"/>
          <a:stretch>
            <a:fillRect/>
          </a:stretch>
        </p:blipFill>
        <p:spPr>
          <a:xfrm>
            <a:off x="61070" y="1533162"/>
            <a:ext cx="12069859" cy="5201376"/>
          </a:xfrm>
          <a:prstGeom prst="rect">
            <a:avLst/>
          </a:prstGeom>
        </p:spPr>
      </p:pic>
      <p:sp>
        <p:nvSpPr>
          <p:cNvPr id="6" name="文字方塊 5">
            <a:extLst>
              <a:ext uri="{FF2B5EF4-FFF2-40B4-BE49-F238E27FC236}">
                <a16:creationId xmlns:a16="http://schemas.microsoft.com/office/drawing/2014/main" id="{1F608A5C-0F4B-4A2D-9058-7DEFDF49344E}"/>
              </a:ext>
            </a:extLst>
          </p:cNvPr>
          <p:cNvSpPr txBox="1"/>
          <p:nvPr/>
        </p:nvSpPr>
        <p:spPr>
          <a:xfrm>
            <a:off x="3705224" y="5629275"/>
            <a:ext cx="1304925" cy="369332"/>
          </a:xfrm>
          <a:prstGeom prst="rect">
            <a:avLst/>
          </a:prstGeom>
          <a:noFill/>
        </p:spPr>
        <p:txBody>
          <a:bodyPr wrap="square" rtlCol="0">
            <a:spAutoFit/>
          </a:bodyPr>
          <a:lstStyle/>
          <a:p>
            <a:r>
              <a:rPr lang="zh-TW" altLang="en-US" dirty="0">
                <a:solidFill>
                  <a:srgbClr val="FF0000"/>
                </a:solidFill>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Rank</a:t>
            </a:r>
            <a:r>
              <a:rPr lang="zh-TW" altLang="en-US" dirty="0">
                <a:solidFill>
                  <a:srgbClr val="FF0000"/>
                </a:solidFill>
                <a:latin typeface="Times New Roman" panose="02020603050405020304" pitchFamily="18" charset="0"/>
                <a:cs typeface="Times New Roman" panose="02020603050405020304" pitchFamily="18" charset="0"/>
              </a:rPr>
              <a:t> →</a:t>
            </a:r>
            <a:endParaRPr lang="en-US" altLang="zh-TW" dirty="0">
              <a:solidFill>
                <a:srgbClr val="FF0000"/>
              </a:solidFill>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3E6580E9-4334-4D64-903E-161C234C8A56}"/>
              </a:ext>
            </a:extLst>
          </p:cNvPr>
          <p:cNvSpPr txBox="1"/>
          <p:nvPr/>
        </p:nvSpPr>
        <p:spPr>
          <a:xfrm>
            <a:off x="3705224" y="5954526"/>
            <a:ext cx="3819526" cy="369332"/>
          </a:xfrm>
          <a:prstGeom prst="rect">
            <a:avLst/>
          </a:prstGeom>
          <a:noFill/>
        </p:spPr>
        <p:txBody>
          <a:bodyPr wrap="square" rtlCol="0">
            <a:spAutoFit/>
          </a:bodyPr>
          <a:lstStyle/>
          <a:p>
            <a:r>
              <a:rPr lang="zh-TW" altLang="en-US" dirty="0">
                <a:solidFill>
                  <a:srgbClr val="FF0000"/>
                </a:solidFill>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Prefix representation</a:t>
            </a:r>
          </a:p>
        </p:txBody>
      </p:sp>
      <p:sp>
        <p:nvSpPr>
          <p:cNvPr id="10" name="文字方塊 9">
            <a:extLst>
              <a:ext uri="{FF2B5EF4-FFF2-40B4-BE49-F238E27FC236}">
                <a16:creationId xmlns:a16="http://schemas.microsoft.com/office/drawing/2014/main" id="{4D6D19BB-FEEC-43AB-A59C-16F3564FE2FE}"/>
              </a:ext>
            </a:extLst>
          </p:cNvPr>
          <p:cNvSpPr txBox="1"/>
          <p:nvPr/>
        </p:nvSpPr>
        <p:spPr>
          <a:xfrm>
            <a:off x="3705224" y="6279776"/>
            <a:ext cx="3819526" cy="369332"/>
          </a:xfrm>
          <a:prstGeom prst="rect">
            <a:avLst/>
          </a:prstGeom>
          <a:noFill/>
        </p:spPr>
        <p:txBody>
          <a:bodyPr wrap="square" rtlCol="0">
            <a:spAutoFit/>
          </a:bodyPr>
          <a:lstStyle/>
          <a:p>
            <a:r>
              <a:rPr lang="zh-TW" altLang="en-US" dirty="0">
                <a:solidFill>
                  <a:srgbClr val="FF0000"/>
                </a:solidFill>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Failure function</a:t>
            </a:r>
          </a:p>
        </p:txBody>
      </p:sp>
    </p:spTree>
    <p:extLst>
      <p:ext uri="{BB962C8B-B14F-4D97-AF65-F5344CB8AC3E}">
        <p14:creationId xmlns:p14="http://schemas.microsoft.com/office/powerpoint/2010/main" val="422460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6B834B-A741-4BE0-AD19-CF7DACCD28EB}"/>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Data Structure</a:t>
            </a:r>
            <a:endParaRPr lang="zh-TW" altLang="en-US" dirty="0"/>
          </a:p>
        </p:txBody>
      </p:sp>
      <p:sp>
        <p:nvSpPr>
          <p:cNvPr id="7" name="內容版面配置區 7">
            <a:extLst>
              <a:ext uri="{FF2B5EF4-FFF2-40B4-BE49-F238E27FC236}">
                <a16:creationId xmlns:a16="http://schemas.microsoft.com/office/drawing/2014/main" id="{B8B1E429-59BE-4A5E-B8A3-D2A3B51876CF}"/>
              </a:ext>
            </a:extLst>
          </p:cNvPr>
          <p:cNvSpPr>
            <a:spLocks noGrp="1"/>
          </p:cNvSpPr>
          <p:nvPr>
            <p:ph idx="1"/>
          </p:nvPr>
        </p:nvSpPr>
        <p:spPr>
          <a:xfrm>
            <a:off x="838199" y="1933574"/>
            <a:ext cx="11029951" cy="3750789"/>
          </a:xfrm>
        </p:spPr>
        <p:txBody>
          <a:bodyPr>
            <a:normAutofit/>
          </a:bodyPr>
          <a:lstStyle/>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Order-statistic Tree</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red-black tree</a:t>
            </a: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插入、刪除、</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Rank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Prev</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Predecessor</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Next(Successor)</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都只要</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log</a:t>
            </a:r>
            <a:r>
              <a:rPr lang="en-US" altLang="zh-TW" sz="2400" i="1" dirty="0" err="1">
                <a:latin typeface="Times New Roman" panose="02020603050405020304" pitchFamily="18" charset="0"/>
                <a:ea typeface="標楷體" panose="03000509000000000000" pitchFamily="65" charset="-120"/>
                <a:cs typeface="Times New Roman" panose="02020603050405020304" pitchFamily="18" charset="0"/>
              </a:rPr>
              <a:t>n</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p>
          <a:p>
            <a:pPr marL="0" indent="0">
              <a:buNone/>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van </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Emde</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Boas tree</a:t>
            </a: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y-fast </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trie</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插入、刪除、</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Rank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Prev</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Predecessor</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Next(Successor)</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都只要</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loglog</a:t>
            </a:r>
            <a:r>
              <a:rPr lang="en-US" altLang="zh-TW" sz="2400" i="1" dirty="0" err="1">
                <a:latin typeface="Times New Roman" panose="02020603050405020304" pitchFamily="18" charset="0"/>
                <a:ea typeface="標楷體" panose="03000509000000000000" pitchFamily="65" charset="-120"/>
                <a:cs typeface="Times New Roman" panose="02020603050405020304" pitchFamily="18" charset="0"/>
              </a:rPr>
              <a:t>n</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p>
          <a:p>
            <a:pPr marL="0" indent="0">
              <a:buNone/>
            </a:pPr>
            <a:endParaRPr lang="zh-TW" altLang="en-US" sz="24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46251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Prefix representation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en-US" altLang="zh-TW" sz="4400"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8102195E-CE4D-44A3-9091-AF1E29609364}"/>
              </a:ext>
            </a:extLst>
          </p:cNvPr>
          <p:cNvGraphicFramePr>
            <a:graphicFrameLocks noGrp="1"/>
          </p:cNvGraphicFramePr>
          <p:nvPr>
            <p:extLst>
              <p:ext uri="{D42A27DB-BD31-4B8C-83A1-F6EECF244321}">
                <p14:modId xmlns:p14="http://schemas.microsoft.com/office/powerpoint/2010/main" val="1230649325"/>
              </p:ext>
            </p:extLst>
          </p:nvPr>
        </p:nvGraphicFramePr>
        <p:xfrm>
          <a:off x="838200" y="1924050"/>
          <a:ext cx="8127999" cy="13716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370840">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bl>
          </a:graphicData>
        </a:graphic>
      </p:graphicFrame>
      <p:sp>
        <p:nvSpPr>
          <p:cNvPr id="8" name="內容版面配置區 7">
            <a:extLst>
              <a:ext uri="{FF2B5EF4-FFF2-40B4-BE49-F238E27FC236}">
                <a16:creationId xmlns:a16="http://schemas.microsoft.com/office/drawing/2014/main" id="{B59FDB7B-62B5-4D6D-B736-5929EA35A734}"/>
              </a:ext>
            </a:extLst>
          </p:cNvPr>
          <p:cNvSpPr>
            <a:spLocks noGrp="1"/>
          </p:cNvSpPr>
          <p:nvPr>
            <p:ph idx="1"/>
          </p:nvPr>
        </p:nvSpPr>
        <p:spPr>
          <a:xfrm>
            <a:off x="838200" y="3771900"/>
            <a:ext cx="4448175" cy="2405062"/>
          </a:xfrm>
        </p:spPr>
        <p:txBody>
          <a:bodyPr/>
          <a:lstStyle/>
          <a:p>
            <a:pPr marL="0"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在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P[1…</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i</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中，</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i</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的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Rank</a:t>
            </a:r>
          </a:p>
          <a:p>
            <a:pPr marL="0" indent="0">
              <a:buNone/>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在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P[1…5] </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中，</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63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Rank</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為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4</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49318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err="1">
                <a:latin typeface="Times New Roman" panose="02020603050405020304" pitchFamily="18" charset="0"/>
                <a:cs typeface="Times New Roman" panose="02020603050405020304" pitchFamily="18" charset="0"/>
              </a:rPr>
              <a:t>n</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a:t>
            </a:r>
            <a:endParaRPr lang="zh-TW" altLang="en-US" dirty="0">
              <a:latin typeface="Times New Roman" panose="02020603050405020304" pitchFamily="18" charset="0"/>
              <a:cs typeface="Times New Roman" panose="02020603050405020304" pitchFamily="18" charset="0"/>
            </a:endParaRPr>
          </a:p>
        </p:txBody>
      </p:sp>
      <p:sp>
        <p:nvSpPr>
          <p:cNvPr id="6" name="內容版面配置區 7">
            <a:extLst>
              <a:ext uri="{FF2B5EF4-FFF2-40B4-BE49-F238E27FC236}">
                <a16:creationId xmlns:a16="http://schemas.microsoft.com/office/drawing/2014/main" id="{D8BDB5BB-1812-4E79-BD1D-AC49F4F7342E}"/>
              </a:ext>
            </a:extLst>
          </p:cNvPr>
          <p:cNvSpPr>
            <a:spLocks noGrp="1"/>
          </p:cNvSpPr>
          <p:nvPr>
            <p:ph idx="1"/>
          </p:nvPr>
        </p:nvSpPr>
        <p:spPr>
          <a:xfrm>
            <a:off x="838200" y="2018415"/>
            <a:ext cx="11029951" cy="4684043"/>
          </a:xfrm>
        </p:spPr>
        <p:txBody>
          <a:bodyPr>
            <a:normAutofit/>
          </a:bodyPr>
          <a:lstStyle/>
          <a:p>
            <a:pPr marL="0" indent="0">
              <a:buNone/>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將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KMP</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algorithm</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的概念應用於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Rank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上</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由於取值範圍不同，</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Rank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會改變，因此才需要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Order-statistic Tree</a:t>
            </a:r>
          </a:p>
        </p:txBody>
      </p:sp>
      <p:graphicFrame>
        <p:nvGraphicFramePr>
          <p:cNvPr id="5" name="表格 4">
            <a:extLst>
              <a:ext uri="{FF2B5EF4-FFF2-40B4-BE49-F238E27FC236}">
                <a16:creationId xmlns:a16="http://schemas.microsoft.com/office/drawing/2014/main" id="{AC9EDCC9-2E2B-4D04-945A-AD75671B3462}"/>
              </a:ext>
            </a:extLst>
          </p:cNvPr>
          <p:cNvGraphicFramePr>
            <a:graphicFrameLocks noGrp="1"/>
          </p:cNvGraphicFramePr>
          <p:nvPr>
            <p:extLst>
              <p:ext uri="{D42A27DB-BD31-4B8C-83A1-F6EECF244321}">
                <p14:modId xmlns:p14="http://schemas.microsoft.com/office/powerpoint/2010/main" val="3953429255"/>
              </p:ext>
            </p:extLst>
          </p:nvPr>
        </p:nvGraphicFramePr>
        <p:xfrm>
          <a:off x="0" y="2549283"/>
          <a:ext cx="12192004" cy="3072432"/>
        </p:xfrm>
        <a:graphic>
          <a:graphicData uri="http://schemas.openxmlformats.org/drawingml/2006/table">
            <a:tbl>
              <a:tblPr firstRow="1" bandRow="1">
                <a:tableStyleId>{5940675A-B579-460E-94D1-54222C63F5DA}</a:tableStyleId>
              </a:tblPr>
              <a:tblGrid>
                <a:gridCol w="1357460">
                  <a:extLst>
                    <a:ext uri="{9D8B030D-6E8A-4147-A177-3AD203B41FA5}">
                      <a16:colId xmlns:a16="http://schemas.microsoft.com/office/drawing/2014/main" val="4291638535"/>
                    </a:ext>
                  </a:extLst>
                </a:gridCol>
                <a:gridCol w="677159">
                  <a:extLst>
                    <a:ext uri="{9D8B030D-6E8A-4147-A177-3AD203B41FA5}">
                      <a16:colId xmlns:a16="http://schemas.microsoft.com/office/drawing/2014/main" val="3824300515"/>
                    </a:ext>
                  </a:extLst>
                </a:gridCol>
                <a:gridCol w="677159">
                  <a:extLst>
                    <a:ext uri="{9D8B030D-6E8A-4147-A177-3AD203B41FA5}">
                      <a16:colId xmlns:a16="http://schemas.microsoft.com/office/drawing/2014/main" val="2404535175"/>
                    </a:ext>
                  </a:extLst>
                </a:gridCol>
                <a:gridCol w="677159">
                  <a:extLst>
                    <a:ext uri="{9D8B030D-6E8A-4147-A177-3AD203B41FA5}">
                      <a16:colId xmlns:a16="http://schemas.microsoft.com/office/drawing/2014/main" val="60744880"/>
                    </a:ext>
                  </a:extLst>
                </a:gridCol>
                <a:gridCol w="677159">
                  <a:extLst>
                    <a:ext uri="{9D8B030D-6E8A-4147-A177-3AD203B41FA5}">
                      <a16:colId xmlns:a16="http://schemas.microsoft.com/office/drawing/2014/main" val="2703255336"/>
                    </a:ext>
                  </a:extLst>
                </a:gridCol>
                <a:gridCol w="677159">
                  <a:extLst>
                    <a:ext uri="{9D8B030D-6E8A-4147-A177-3AD203B41FA5}">
                      <a16:colId xmlns:a16="http://schemas.microsoft.com/office/drawing/2014/main" val="1561314487"/>
                    </a:ext>
                  </a:extLst>
                </a:gridCol>
                <a:gridCol w="677159">
                  <a:extLst>
                    <a:ext uri="{9D8B030D-6E8A-4147-A177-3AD203B41FA5}">
                      <a16:colId xmlns:a16="http://schemas.microsoft.com/office/drawing/2014/main" val="2954541021"/>
                    </a:ext>
                  </a:extLst>
                </a:gridCol>
                <a:gridCol w="677159">
                  <a:extLst>
                    <a:ext uri="{9D8B030D-6E8A-4147-A177-3AD203B41FA5}">
                      <a16:colId xmlns:a16="http://schemas.microsoft.com/office/drawing/2014/main" val="176422111"/>
                    </a:ext>
                  </a:extLst>
                </a:gridCol>
                <a:gridCol w="677159">
                  <a:extLst>
                    <a:ext uri="{9D8B030D-6E8A-4147-A177-3AD203B41FA5}">
                      <a16:colId xmlns:a16="http://schemas.microsoft.com/office/drawing/2014/main" val="2375433053"/>
                    </a:ext>
                  </a:extLst>
                </a:gridCol>
                <a:gridCol w="677159">
                  <a:extLst>
                    <a:ext uri="{9D8B030D-6E8A-4147-A177-3AD203B41FA5}">
                      <a16:colId xmlns:a16="http://schemas.microsoft.com/office/drawing/2014/main" val="21703544"/>
                    </a:ext>
                  </a:extLst>
                </a:gridCol>
                <a:gridCol w="677159">
                  <a:extLst>
                    <a:ext uri="{9D8B030D-6E8A-4147-A177-3AD203B41FA5}">
                      <a16:colId xmlns:a16="http://schemas.microsoft.com/office/drawing/2014/main" val="2703436561"/>
                    </a:ext>
                  </a:extLst>
                </a:gridCol>
                <a:gridCol w="677159">
                  <a:extLst>
                    <a:ext uri="{9D8B030D-6E8A-4147-A177-3AD203B41FA5}">
                      <a16:colId xmlns:a16="http://schemas.microsoft.com/office/drawing/2014/main" val="594466554"/>
                    </a:ext>
                  </a:extLst>
                </a:gridCol>
                <a:gridCol w="677159">
                  <a:extLst>
                    <a:ext uri="{9D8B030D-6E8A-4147-A177-3AD203B41FA5}">
                      <a16:colId xmlns:a16="http://schemas.microsoft.com/office/drawing/2014/main" val="1042420071"/>
                    </a:ext>
                  </a:extLst>
                </a:gridCol>
                <a:gridCol w="677159">
                  <a:extLst>
                    <a:ext uri="{9D8B030D-6E8A-4147-A177-3AD203B41FA5}">
                      <a16:colId xmlns:a16="http://schemas.microsoft.com/office/drawing/2014/main" val="3799772871"/>
                    </a:ext>
                  </a:extLst>
                </a:gridCol>
                <a:gridCol w="677159">
                  <a:extLst>
                    <a:ext uri="{9D8B030D-6E8A-4147-A177-3AD203B41FA5}">
                      <a16:colId xmlns:a16="http://schemas.microsoft.com/office/drawing/2014/main" val="4104602277"/>
                    </a:ext>
                  </a:extLst>
                </a:gridCol>
                <a:gridCol w="677159">
                  <a:extLst>
                    <a:ext uri="{9D8B030D-6E8A-4147-A177-3AD203B41FA5}">
                      <a16:colId xmlns:a16="http://schemas.microsoft.com/office/drawing/2014/main" val="2700230111"/>
                    </a:ext>
                  </a:extLst>
                </a:gridCol>
                <a:gridCol w="677159">
                  <a:extLst>
                    <a:ext uri="{9D8B030D-6E8A-4147-A177-3AD203B41FA5}">
                      <a16:colId xmlns:a16="http://schemas.microsoft.com/office/drawing/2014/main" val="2960202307"/>
                    </a:ext>
                  </a:extLst>
                </a:gridCol>
              </a:tblGrid>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err="1">
                          <a:solidFill>
                            <a:schemeClr val="tx1"/>
                          </a:solidFill>
                          <a:latin typeface="Times New Roman" panose="02020603050405020304" pitchFamily="18" charset="0"/>
                          <a:cs typeface="Times New Roman" panose="02020603050405020304" pitchFamily="18" charset="0"/>
                        </a:rPr>
                        <a:t>i</a:t>
                      </a:r>
                      <a:endParaRPr lang="zh-TW" altLang="en-US" sz="1800" dirty="0">
                        <a:solidFill>
                          <a:schemeClr val="tx1"/>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9</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16</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7985494"/>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solidFill>
                            <a:schemeClr val="tx1"/>
                          </a:solidFill>
                          <a:latin typeface="Times New Roman" panose="02020603050405020304" pitchFamily="18" charset="0"/>
                          <a:cs typeface="Times New Roman" panose="02020603050405020304" pitchFamily="18" charset="0"/>
                        </a:rPr>
                        <a:t>T</a:t>
                      </a:r>
                      <a:endParaRPr lang="zh-TW" altLang="en-US" sz="1800" dirty="0">
                        <a:solidFill>
                          <a:schemeClr val="tx1"/>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29</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36</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73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63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69</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79</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88</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62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3075357"/>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8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TW" sz="18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(T)</a:t>
                      </a:r>
                      <a:endParaRPr lang="zh-TW" altLang="en-US" sz="1800" dirty="0">
                        <a:solidFill>
                          <a:schemeClr val="tx1"/>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9</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16</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5536004"/>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8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TW" sz="18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(T[4…11])</a:t>
                      </a:r>
                      <a:endParaRPr lang="zh-TW" altLang="en-US" sz="1800" dirty="0">
                        <a:solidFill>
                          <a:schemeClr val="tx1"/>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6700689"/>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8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TW" sz="18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(P)</a:t>
                      </a:r>
                      <a:endParaRPr lang="zh-TW" altLang="en-US" sz="1800" dirty="0">
                        <a:solidFill>
                          <a:schemeClr val="tx1"/>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2842720"/>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solidFill>
                            <a:schemeClr val="tx1"/>
                          </a:solidFill>
                          <a:latin typeface="Times New Roman" panose="02020603050405020304" pitchFamily="18" charset="0"/>
                          <a:cs typeface="Times New Roman" panose="02020603050405020304" pitchFamily="18" charset="0"/>
                        </a:rPr>
                        <a:t>P</a:t>
                      </a:r>
                      <a:endParaRPr lang="zh-TW" altLang="en-US" sz="1800" dirty="0">
                        <a:solidFill>
                          <a:schemeClr val="tx1"/>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73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63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95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79</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4608596"/>
                  </a:ext>
                </a:extLst>
              </a:tr>
            </a:tbl>
          </a:graphicData>
        </a:graphic>
      </p:graphicFrame>
    </p:spTree>
    <p:extLst>
      <p:ext uri="{BB962C8B-B14F-4D97-AF65-F5344CB8AC3E}">
        <p14:creationId xmlns:p14="http://schemas.microsoft.com/office/powerpoint/2010/main" val="222465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8102195E-CE4D-44A3-9091-AF1E29609364}"/>
              </a:ext>
            </a:extLst>
          </p:cNvPr>
          <p:cNvGraphicFramePr>
            <a:graphicFrameLocks noGrp="1"/>
          </p:cNvGraphicFramePr>
          <p:nvPr>
            <p:extLst>
              <p:ext uri="{D42A27DB-BD31-4B8C-83A1-F6EECF244321}">
                <p14:modId xmlns:p14="http://schemas.microsoft.com/office/powerpoint/2010/main" val="737616352"/>
              </p:ext>
            </p:extLst>
          </p:nvPr>
        </p:nvGraphicFramePr>
        <p:xfrm>
          <a:off x="838200" y="1438275"/>
          <a:ext cx="8127999" cy="22860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136525">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9734322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255758"/>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bl>
          </a:graphicData>
        </a:graphic>
      </p:graphicFrame>
      <p:sp>
        <p:nvSpPr>
          <p:cNvPr id="3" name="文字方塊 2">
            <a:extLst>
              <a:ext uri="{FF2B5EF4-FFF2-40B4-BE49-F238E27FC236}">
                <a16:creationId xmlns:a16="http://schemas.microsoft.com/office/drawing/2014/main" id="{B2FD230F-5B17-4F6B-BA5A-666C2219B247}"/>
              </a:ext>
            </a:extLst>
          </p:cNvPr>
          <p:cNvSpPr txBox="1"/>
          <p:nvPr/>
        </p:nvSpPr>
        <p:spPr>
          <a:xfrm>
            <a:off x="838199" y="4340225"/>
            <a:ext cx="8909115" cy="1569660"/>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跟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 = 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的位置比較</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pPr marL="342900" indent="-342900">
              <a:buFont typeface="Symbol" panose="05050102010706020507" pitchFamily="18" charset="2"/>
              <a:buChar char="Þ"/>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比對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33 }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42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的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Prefix representation</a:t>
            </a:r>
          </a:p>
          <a:p>
            <a:pPr marL="342900" indent="-342900">
              <a:buFont typeface="Symbol" panose="05050102010706020507" pitchFamily="18" charset="2"/>
              <a:buChar char="Þ"/>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比對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1</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p>
          <a:p>
            <a:pPr marL="342900" indent="-342900">
              <a:buFont typeface="Symbol" panose="05050102010706020507" pitchFamily="18" charset="2"/>
              <a:buChar char="Þ"/>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[2]  =  (P)[1]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0</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2057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8102195E-CE4D-44A3-9091-AF1E29609364}"/>
              </a:ext>
            </a:extLst>
          </p:cNvPr>
          <p:cNvGraphicFramePr>
            <a:graphicFrameLocks noGrp="1"/>
          </p:cNvGraphicFramePr>
          <p:nvPr>
            <p:extLst>
              <p:ext uri="{D42A27DB-BD31-4B8C-83A1-F6EECF244321}">
                <p14:modId xmlns:p14="http://schemas.microsoft.com/office/powerpoint/2010/main" val="2754331560"/>
              </p:ext>
            </p:extLst>
          </p:nvPr>
        </p:nvGraphicFramePr>
        <p:xfrm>
          <a:off x="838200" y="1438275"/>
          <a:ext cx="8127999" cy="22860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136525">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9734322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255758"/>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bl>
          </a:graphicData>
        </a:graphic>
      </p:graphicFrame>
      <p:sp>
        <p:nvSpPr>
          <p:cNvPr id="3" name="文字方塊 2">
            <a:extLst>
              <a:ext uri="{FF2B5EF4-FFF2-40B4-BE49-F238E27FC236}">
                <a16:creationId xmlns:a16="http://schemas.microsoft.com/office/drawing/2014/main" id="{B2FD230F-5B17-4F6B-BA5A-666C2219B247}"/>
              </a:ext>
            </a:extLst>
          </p:cNvPr>
          <p:cNvSpPr txBox="1"/>
          <p:nvPr/>
        </p:nvSpPr>
        <p:spPr>
          <a:xfrm>
            <a:off x="838199" y="4340225"/>
            <a:ext cx="8956249" cy="1569660"/>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跟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2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的位置比較</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pPr marL="342900" indent="-342900">
              <a:buFont typeface="Symbol" panose="05050102010706020507" pitchFamily="18" charset="2"/>
              <a:buChar char="Þ"/>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比對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33 , 42 }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42 , 73}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Prefix representation</a:t>
            </a:r>
          </a:p>
          <a:p>
            <a:pPr marL="342900" indent="-342900">
              <a:buFont typeface="Symbol" panose="05050102010706020507" pitchFamily="18" charset="2"/>
              <a:buChar char="Þ"/>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比對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1 , </a:t>
            </a:r>
            <a:r>
              <a:rPr lang="en-US" altLang="zh-TW"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2</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p>
          <a:p>
            <a:pPr marL="342900" indent="-342900">
              <a:buFont typeface="Symbol" panose="05050102010706020507" pitchFamily="18" charset="2"/>
              <a:buChar char="Þ"/>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[3]  =  (P)[2] + 1  =  1 + 1  =  2</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9989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8102195E-CE4D-44A3-9091-AF1E29609364}"/>
              </a:ext>
            </a:extLst>
          </p:cNvPr>
          <p:cNvGraphicFramePr>
            <a:graphicFrameLocks noGrp="1"/>
          </p:cNvGraphicFramePr>
          <p:nvPr>
            <p:extLst>
              <p:ext uri="{D42A27DB-BD31-4B8C-83A1-F6EECF244321}">
                <p14:modId xmlns:p14="http://schemas.microsoft.com/office/powerpoint/2010/main" val="4128841878"/>
              </p:ext>
            </p:extLst>
          </p:nvPr>
        </p:nvGraphicFramePr>
        <p:xfrm>
          <a:off x="838200" y="1438275"/>
          <a:ext cx="8127999" cy="22860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136525">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9734322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255758"/>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bl>
          </a:graphicData>
        </a:graphic>
      </p:graphicFrame>
      <p:sp>
        <p:nvSpPr>
          <p:cNvPr id="3" name="文字方塊 2">
            <a:extLst>
              <a:ext uri="{FF2B5EF4-FFF2-40B4-BE49-F238E27FC236}">
                <a16:creationId xmlns:a16="http://schemas.microsoft.com/office/drawing/2014/main" id="{B2FD230F-5B17-4F6B-BA5A-666C2219B247}"/>
              </a:ext>
            </a:extLst>
          </p:cNvPr>
          <p:cNvSpPr txBox="1"/>
          <p:nvPr/>
        </p:nvSpPr>
        <p:spPr>
          <a:xfrm>
            <a:off x="838200" y="4340225"/>
            <a:ext cx="8202628" cy="1569660"/>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(P)[4]</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跟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的位置比較</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pPr marL="342900" indent="-342900">
              <a:buFont typeface="Symbol" panose="05050102010706020507" pitchFamily="18" charset="2"/>
              <a:buChar char="Þ"/>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比對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33 , 42 , 73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42 , 73 , 57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Prefix representation</a:t>
            </a:r>
          </a:p>
          <a:p>
            <a:pPr marL="342900" indent="-342900">
              <a:buFont typeface="Symbol" panose="05050102010706020507" pitchFamily="18" charset="2"/>
              <a:buChar char="Þ"/>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比對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1 , 2 , </a:t>
            </a:r>
            <a:r>
              <a:rPr lang="en-US" altLang="zh-TW"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3</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1 , 2 , </a:t>
            </a:r>
            <a:r>
              <a:rPr lang="en-US" altLang="zh-TW"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2</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p>
          <a:p>
            <a:pPr marL="342900" indent="-342900">
              <a:buFont typeface="Symbol" panose="05050102010706020507" pitchFamily="18" charset="2"/>
              <a:buChar char="Þ"/>
            </a:pP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回溯</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078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8102195E-CE4D-44A3-9091-AF1E29609364}"/>
              </a:ext>
            </a:extLst>
          </p:cNvPr>
          <p:cNvGraphicFramePr>
            <a:graphicFrameLocks noGrp="1"/>
          </p:cNvGraphicFramePr>
          <p:nvPr>
            <p:extLst>
              <p:ext uri="{D42A27DB-BD31-4B8C-83A1-F6EECF244321}">
                <p14:modId xmlns:p14="http://schemas.microsoft.com/office/powerpoint/2010/main" val="1193298288"/>
              </p:ext>
            </p:extLst>
          </p:nvPr>
        </p:nvGraphicFramePr>
        <p:xfrm>
          <a:off x="838200" y="1438275"/>
          <a:ext cx="8127999" cy="22860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136525">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9734322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255758"/>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bl>
          </a:graphicData>
        </a:graphic>
      </p:graphicFrame>
      <p:sp>
        <p:nvSpPr>
          <p:cNvPr id="3" name="文字方塊 2">
            <a:extLst>
              <a:ext uri="{FF2B5EF4-FFF2-40B4-BE49-F238E27FC236}">
                <a16:creationId xmlns:a16="http://schemas.microsoft.com/office/drawing/2014/main" id="{B2FD230F-5B17-4F6B-BA5A-666C2219B247}"/>
              </a:ext>
            </a:extLst>
          </p:cNvPr>
          <p:cNvSpPr txBox="1"/>
          <p:nvPr/>
        </p:nvSpPr>
        <p:spPr>
          <a:xfrm>
            <a:off x="838200" y="4340225"/>
            <a:ext cx="8202628" cy="1569660"/>
          </a:xfrm>
          <a:prstGeom prst="rect">
            <a:avLst/>
          </a:prstGeom>
          <a:noFill/>
        </p:spPr>
        <p:txBody>
          <a:bodyPr wrap="square" rtlCol="0">
            <a:spAutoFit/>
          </a:bodyPr>
          <a:lstStyle/>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跟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的位置比較</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pPr marL="342900" indent="-342900">
              <a:buFont typeface="Symbol" panose="05050102010706020507" pitchFamily="18" charset="2"/>
              <a:buChar char="Þ"/>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比對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33 , 42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73 , 57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Prefix representation</a:t>
            </a:r>
          </a:p>
          <a:p>
            <a:pPr marL="342900" indent="-342900">
              <a:buFont typeface="Symbol" panose="05050102010706020507" pitchFamily="18" charset="2"/>
              <a:buChar char="Þ"/>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比對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1 , </a:t>
            </a:r>
            <a:r>
              <a:rPr lang="en-US" altLang="zh-TW"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2</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1 , </a:t>
            </a:r>
            <a:r>
              <a:rPr lang="en-US" altLang="zh-TW"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1</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p>
          <a:p>
            <a:pPr marL="342900" indent="-342900">
              <a:buFont typeface="Symbol" panose="05050102010706020507" pitchFamily="18" charset="2"/>
              <a:buChar char="Þ"/>
            </a:pP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回溯</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7593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8102195E-CE4D-44A3-9091-AF1E29609364}"/>
              </a:ext>
            </a:extLst>
          </p:cNvPr>
          <p:cNvGraphicFramePr>
            <a:graphicFrameLocks noGrp="1"/>
          </p:cNvGraphicFramePr>
          <p:nvPr>
            <p:extLst>
              <p:ext uri="{D42A27DB-BD31-4B8C-83A1-F6EECF244321}">
                <p14:modId xmlns:p14="http://schemas.microsoft.com/office/powerpoint/2010/main" val="2034156497"/>
              </p:ext>
            </p:extLst>
          </p:nvPr>
        </p:nvGraphicFramePr>
        <p:xfrm>
          <a:off x="838200" y="1438275"/>
          <a:ext cx="8127999" cy="22860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136525">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9734322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255758"/>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bl>
          </a:graphicData>
        </a:graphic>
      </p:graphicFrame>
      <p:sp>
        <p:nvSpPr>
          <p:cNvPr id="3" name="文字方塊 2">
            <a:extLst>
              <a:ext uri="{FF2B5EF4-FFF2-40B4-BE49-F238E27FC236}">
                <a16:creationId xmlns:a16="http://schemas.microsoft.com/office/drawing/2014/main" id="{B2FD230F-5B17-4F6B-BA5A-666C2219B247}"/>
              </a:ext>
            </a:extLst>
          </p:cNvPr>
          <p:cNvSpPr txBox="1"/>
          <p:nvPr/>
        </p:nvSpPr>
        <p:spPr>
          <a:xfrm>
            <a:off x="838200" y="4340225"/>
            <a:ext cx="8202628" cy="1569660"/>
          </a:xfrm>
          <a:prstGeom prst="rect">
            <a:avLst/>
          </a:prstGeom>
          <a:noFill/>
        </p:spPr>
        <p:txBody>
          <a:bodyPr wrap="square" rtlCol="0">
            <a:spAutoFit/>
          </a:bodyPr>
          <a:lstStyle/>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跟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的位置比較</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pPr marL="342900" indent="-342900">
              <a:buFont typeface="Symbol" panose="05050102010706020507" pitchFamily="18" charset="2"/>
              <a:buChar char="Þ"/>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比對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33 }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57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Prefix representation</a:t>
            </a:r>
          </a:p>
          <a:p>
            <a:pPr marL="342900" indent="-342900">
              <a:buFont typeface="Symbol" panose="05050102010706020507" pitchFamily="18" charset="2"/>
              <a:buChar char="Þ"/>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比對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1</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p>
          <a:p>
            <a:pPr marL="342900" indent="-342900">
              <a:buFont typeface="Symbol" panose="05050102010706020507" pitchFamily="18" charset="2"/>
              <a:buChar char="Þ"/>
            </a:pP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[4]  =  (P)[1] + 1  =  0 + 1  =  1</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8229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err="1">
                <a:latin typeface="Times New Roman" panose="02020603050405020304" pitchFamily="18" charset="0"/>
                <a:cs typeface="Times New Roman" panose="02020603050405020304" pitchFamily="18" charset="0"/>
              </a:rPr>
              <a:t>n</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F7441172-9F6C-4B4F-A933-6EB356F265BD}"/>
              </a:ext>
            </a:extLst>
          </p:cNvPr>
          <p:cNvPicPr>
            <a:picLocks noChangeAspect="1"/>
          </p:cNvPicPr>
          <p:nvPr/>
        </p:nvPicPr>
        <p:blipFill>
          <a:blip r:embed="rId2"/>
          <a:stretch>
            <a:fillRect/>
          </a:stretch>
        </p:blipFill>
        <p:spPr>
          <a:xfrm>
            <a:off x="1957387" y="2519930"/>
            <a:ext cx="8277225" cy="4237928"/>
          </a:xfrm>
          <a:prstGeom prst="rect">
            <a:avLst/>
          </a:prstGeom>
        </p:spPr>
      </p:pic>
      <p:graphicFrame>
        <p:nvGraphicFramePr>
          <p:cNvPr id="10" name="表格 9">
            <a:extLst>
              <a:ext uri="{FF2B5EF4-FFF2-40B4-BE49-F238E27FC236}">
                <a16:creationId xmlns:a16="http://schemas.microsoft.com/office/drawing/2014/main" id="{E2166406-A798-48B9-A830-4238E650D3B3}"/>
              </a:ext>
            </a:extLst>
          </p:cNvPr>
          <p:cNvGraphicFramePr>
            <a:graphicFrameLocks noGrp="1"/>
          </p:cNvGraphicFramePr>
          <p:nvPr>
            <p:extLst>
              <p:ext uri="{D42A27DB-BD31-4B8C-83A1-F6EECF244321}">
                <p14:modId xmlns:p14="http://schemas.microsoft.com/office/powerpoint/2010/main" val="47370632"/>
              </p:ext>
            </p:extLst>
          </p:nvPr>
        </p:nvGraphicFramePr>
        <p:xfrm>
          <a:off x="2508069" y="1783330"/>
          <a:ext cx="7437120" cy="736600"/>
        </p:xfrm>
        <a:graphic>
          <a:graphicData uri="http://schemas.openxmlformats.org/drawingml/2006/table">
            <a:tbl>
              <a:tblPr firstRow="1" bandRow="1">
                <a:tableStyleId>{5940675A-B579-460E-94D1-54222C63F5DA}</a:tableStyleId>
              </a:tblPr>
              <a:tblGrid>
                <a:gridCol w="696816">
                  <a:extLst>
                    <a:ext uri="{9D8B030D-6E8A-4147-A177-3AD203B41FA5}">
                      <a16:colId xmlns:a16="http://schemas.microsoft.com/office/drawing/2014/main" val="1449721109"/>
                    </a:ext>
                  </a:extLst>
                </a:gridCol>
                <a:gridCol w="421269">
                  <a:extLst>
                    <a:ext uri="{9D8B030D-6E8A-4147-A177-3AD203B41FA5}">
                      <a16:colId xmlns:a16="http://schemas.microsoft.com/office/drawing/2014/main" val="3291788748"/>
                    </a:ext>
                  </a:extLst>
                </a:gridCol>
                <a:gridCol w="421269">
                  <a:extLst>
                    <a:ext uri="{9D8B030D-6E8A-4147-A177-3AD203B41FA5}">
                      <a16:colId xmlns:a16="http://schemas.microsoft.com/office/drawing/2014/main" val="2281291187"/>
                    </a:ext>
                  </a:extLst>
                </a:gridCol>
                <a:gridCol w="421269">
                  <a:extLst>
                    <a:ext uri="{9D8B030D-6E8A-4147-A177-3AD203B41FA5}">
                      <a16:colId xmlns:a16="http://schemas.microsoft.com/office/drawing/2014/main" val="2881433744"/>
                    </a:ext>
                  </a:extLst>
                </a:gridCol>
                <a:gridCol w="421269">
                  <a:extLst>
                    <a:ext uri="{9D8B030D-6E8A-4147-A177-3AD203B41FA5}">
                      <a16:colId xmlns:a16="http://schemas.microsoft.com/office/drawing/2014/main" val="189924064"/>
                    </a:ext>
                  </a:extLst>
                </a:gridCol>
                <a:gridCol w="421269">
                  <a:extLst>
                    <a:ext uri="{9D8B030D-6E8A-4147-A177-3AD203B41FA5}">
                      <a16:colId xmlns:a16="http://schemas.microsoft.com/office/drawing/2014/main" val="2147968798"/>
                    </a:ext>
                  </a:extLst>
                </a:gridCol>
                <a:gridCol w="421269">
                  <a:extLst>
                    <a:ext uri="{9D8B030D-6E8A-4147-A177-3AD203B41FA5}">
                      <a16:colId xmlns:a16="http://schemas.microsoft.com/office/drawing/2014/main" val="457230715"/>
                    </a:ext>
                  </a:extLst>
                </a:gridCol>
                <a:gridCol w="421269">
                  <a:extLst>
                    <a:ext uri="{9D8B030D-6E8A-4147-A177-3AD203B41FA5}">
                      <a16:colId xmlns:a16="http://schemas.microsoft.com/office/drawing/2014/main" val="359052208"/>
                    </a:ext>
                  </a:extLst>
                </a:gridCol>
                <a:gridCol w="421269">
                  <a:extLst>
                    <a:ext uri="{9D8B030D-6E8A-4147-A177-3AD203B41FA5}">
                      <a16:colId xmlns:a16="http://schemas.microsoft.com/office/drawing/2014/main" val="911549128"/>
                    </a:ext>
                  </a:extLst>
                </a:gridCol>
                <a:gridCol w="421269">
                  <a:extLst>
                    <a:ext uri="{9D8B030D-6E8A-4147-A177-3AD203B41FA5}">
                      <a16:colId xmlns:a16="http://schemas.microsoft.com/office/drawing/2014/main" val="3304170719"/>
                    </a:ext>
                  </a:extLst>
                </a:gridCol>
                <a:gridCol w="421269">
                  <a:extLst>
                    <a:ext uri="{9D8B030D-6E8A-4147-A177-3AD203B41FA5}">
                      <a16:colId xmlns:a16="http://schemas.microsoft.com/office/drawing/2014/main" val="2865326675"/>
                    </a:ext>
                  </a:extLst>
                </a:gridCol>
                <a:gridCol w="421269">
                  <a:extLst>
                    <a:ext uri="{9D8B030D-6E8A-4147-A177-3AD203B41FA5}">
                      <a16:colId xmlns:a16="http://schemas.microsoft.com/office/drawing/2014/main" val="3948265826"/>
                    </a:ext>
                  </a:extLst>
                </a:gridCol>
                <a:gridCol w="421269">
                  <a:extLst>
                    <a:ext uri="{9D8B030D-6E8A-4147-A177-3AD203B41FA5}">
                      <a16:colId xmlns:a16="http://schemas.microsoft.com/office/drawing/2014/main" val="1034377088"/>
                    </a:ext>
                  </a:extLst>
                </a:gridCol>
                <a:gridCol w="421269">
                  <a:extLst>
                    <a:ext uri="{9D8B030D-6E8A-4147-A177-3AD203B41FA5}">
                      <a16:colId xmlns:a16="http://schemas.microsoft.com/office/drawing/2014/main" val="2831523601"/>
                    </a:ext>
                  </a:extLst>
                </a:gridCol>
                <a:gridCol w="421269">
                  <a:extLst>
                    <a:ext uri="{9D8B030D-6E8A-4147-A177-3AD203B41FA5}">
                      <a16:colId xmlns:a16="http://schemas.microsoft.com/office/drawing/2014/main" val="1803175278"/>
                    </a:ext>
                  </a:extLst>
                </a:gridCol>
                <a:gridCol w="421269">
                  <a:extLst>
                    <a:ext uri="{9D8B030D-6E8A-4147-A177-3AD203B41FA5}">
                      <a16:colId xmlns:a16="http://schemas.microsoft.com/office/drawing/2014/main" val="2288574148"/>
                    </a:ext>
                  </a:extLst>
                </a:gridCol>
                <a:gridCol w="421269">
                  <a:extLst>
                    <a:ext uri="{9D8B030D-6E8A-4147-A177-3AD203B41FA5}">
                      <a16:colId xmlns:a16="http://schemas.microsoft.com/office/drawing/2014/main" val="3936382415"/>
                    </a:ext>
                  </a:extLst>
                </a:gridCol>
              </a:tblGrid>
              <a:tr h="334555">
                <a:tc>
                  <a:txBody>
                    <a:bodyPr/>
                    <a:lstStyle/>
                    <a:p>
                      <a:pPr algn="ctr"/>
                      <a:r>
                        <a:rPr lang="en-US" altLang="zh-TW" sz="1800" dirty="0" err="1">
                          <a:latin typeface="Times New Roman" panose="02020603050405020304" pitchFamily="18" charset="0"/>
                          <a:cs typeface="Times New Roman" panose="02020603050405020304" pitchFamily="18" charset="0"/>
                        </a:rPr>
                        <a:t>i</a:t>
                      </a:r>
                      <a:endParaRPr lang="en-US" altLang="zh-TW" sz="1800"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2</a:t>
                      </a: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009946"/>
                  </a:ext>
                </a:extLst>
              </a:tr>
              <a:tr h="370840">
                <a:tc>
                  <a:txBody>
                    <a:bodyPr/>
                    <a:lstStyle/>
                    <a:p>
                      <a:pPr algn="ctr"/>
                      <a:r>
                        <a:rPr lang="en-US" altLang="zh-TW" sz="18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1800"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lnR w="12700" cap="flat" cmpd="sng" algn="ctr">
                      <a:solidFill>
                        <a:schemeClr val="tx1"/>
                      </a:solidFill>
                      <a:prstDash val="solid"/>
                      <a:round/>
                      <a:headEnd type="none" w="med" len="med"/>
                      <a:tailEnd type="none" w="med" len="med"/>
                    </a:lnR>
                  </a:tcPr>
                </a:tc>
                <a:tc>
                  <a:txBody>
                    <a:bodyPr/>
                    <a:lstStyle/>
                    <a:p>
                      <a:pPr algn="ctr"/>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50503086"/>
                  </a:ext>
                </a:extLst>
              </a:tr>
            </a:tbl>
          </a:graphicData>
        </a:graphic>
      </p:graphicFrame>
    </p:spTree>
    <p:extLst>
      <p:ext uri="{BB962C8B-B14F-4D97-AF65-F5344CB8AC3E}">
        <p14:creationId xmlns:p14="http://schemas.microsoft.com/office/powerpoint/2010/main" val="1325249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err="1">
                <a:latin typeface="Times New Roman" panose="02020603050405020304" pitchFamily="18" charset="0"/>
                <a:cs typeface="Times New Roman" panose="02020603050405020304" pitchFamily="18" charset="0"/>
              </a:rPr>
              <a:t>n</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a:t>
            </a:r>
            <a:endParaRPr lang="zh-TW" altLang="en-US" dirty="0">
              <a:latin typeface="Times New Roman" panose="02020603050405020304" pitchFamily="18" charset="0"/>
              <a:cs typeface="Times New Roman" panose="02020603050405020304" pitchFamily="18" charset="0"/>
            </a:endParaRPr>
          </a:p>
        </p:txBody>
      </p:sp>
      <p:graphicFrame>
        <p:nvGraphicFramePr>
          <p:cNvPr id="3" name="表格 4">
            <a:extLst>
              <a:ext uri="{FF2B5EF4-FFF2-40B4-BE49-F238E27FC236}">
                <a16:creationId xmlns:a16="http://schemas.microsoft.com/office/drawing/2014/main" id="{F0F9A071-8D07-431C-A120-9DAF36FA83D4}"/>
              </a:ext>
            </a:extLst>
          </p:cNvPr>
          <p:cNvGraphicFramePr>
            <a:graphicFrameLocks noGrp="1"/>
          </p:cNvGraphicFramePr>
          <p:nvPr>
            <p:extLst>
              <p:ext uri="{D42A27DB-BD31-4B8C-83A1-F6EECF244321}">
                <p14:modId xmlns:p14="http://schemas.microsoft.com/office/powerpoint/2010/main" val="2729984102"/>
              </p:ext>
            </p:extLst>
          </p:nvPr>
        </p:nvGraphicFramePr>
        <p:xfrm>
          <a:off x="1013097" y="1827105"/>
          <a:ext cx="8128000" cy="2920073"/>
        </p:xfrm>
        <a:graphic>
          <a:graphicData uri="http://schemas.openxmlformats.org/drawingml/2006/table">
            <a:tbl>
              <a:tblPr firstRow="1" bandRow="1">
                <a:tableStyleId>{5940675A-B579-460E-94D1-54222C63F5DA}</a:tableStyleId>
              </a:tblPr>
              <a:tblGrid>
                <a:gridCol w="3288937">
                  <a:extLst>
                    <a:ext uri="{9D8B030D-6E8A-4147-A177-3AD203B41FA5}">
                      <a16:colId xmlns:a16="http://schemas.microsoft.com/office/drawing/2014/main" val="71482934"/>
                    </a:ext>
                  </a:extLst>
                </a:gridCol>
                <a:gridCol w="4839063">
                  <a:extLst>
                    <a:ext uri="{9D8B030D-6E8A-4147-A177-3AD203B41FA5}">
                      <a16:colId xmlns:a16="http://schemas.microsoft.com/office/drawing/2014/main" val="2499092229"/>
                    </a:ext>
                  </a:extLst>
                </a:gridCol>
              </a:tblGrid>
              <a:tr h="722492">
                <a:tc>
                  <a:txBody>
                    <a:bodyPr/>
                    <a:lstStyle/>
                    <a:p>
                      <a:r>
                        <a:rPr lang="en-US" altLang="zh-TW" sz="2400" dirty="0">
                          <a:latin typeface="Times New Roman" panose="02020603050405020304" pitchFamily="18" charset="0"/>
                          <a:cs typeface="Times New Roman" panose="02020603050405020304" pitchFamily="18" charset="0"/>
                        </a:rPr>
                        <a:t>Prefix representation</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err="1">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10402869"/>
                  </a:ext>
                </a:extLst>
              </a:tr>
              <a:tr h="732527">
                <a:tc>
                  <a:txBody>
                    <a:bodyPr/>
                    <a:lstStyle/>
                    <a:p>
                      <a:r>
                        <a:rPr lang="en-US" altLang="zh-TW" sz="2400" dirty="0">
                          <a:latin typeface="Times New Roman" panose="02020603050405020304" pitchFamily="18" charset="0"/>
                          <a:cs typeface="Times New Roman" panose="02020603050405020304" pitchFamily="18" charset="0"/>
                        </a:rPr>
                        <a:t>Failure function</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O(</a:t>
                      </a:r>
                      <a:r>
                        <a:rPr lang="en-US" altLang="zh-TW" sz="2400" i="1" dirty="0" err="1">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29524912"/>
                  </a:ext>
                </a:extLst>
              </a:tr>
              <a:tr h="732527">
                <a:tc>
                  <a:txBody>
                    <a:bodyPr/>
                    <a:lstStyle/>
                    <a:p>
                      <a:r>
                        <a:rPr lang="en-US" altLang="zh-TW" sz="2400" dirty="0">
                          <a:latin typeface="Times New Roman" panose="02020603050405020304" pitchFamily="18" charset="0"/>
                          <a:cs typeface="Times New Roman" panose="02020603050405020304" pitchFamily="18" charset="0"/>
                        </a:rPr>
                        <a:t>Text Search</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O(</a:t>
                      </a:r>
                      <a:r>
                        <a:rPr lang="en-US" altLang="zh-TW" sz="2400" i="1" dirty="0" err="1">
                          <a:latin typeface="Times New Roman" panose="02020603050405020304" pitchFamily="18" charset="0"/>
                          <a:cs typeface="Times New Roman" panose="02020603050405020304" pitchFamily="18" charset="0"/>
                        </a:rPr>
                        <a:t>n</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37502627"/>
                  </a:ext>
                </a:extLst>
              </a:tr>
              <a:tr h="732527">
                <a:tc gridSpan="2">
                  <a:txBody>
                    <a:bodyPr/>
                    <a:lstStyle/>
                    <a:p>
                      <a:r>
                        <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rPr>
                        <a:t>主要因為 </a:t>
                      </a:r>
                      <a:r>
                        <a:rPr lang="en-US" altLang="zh-TW" sz="2400" baseline="0" dirty="0">
                          <a:latin typeface="Times New Roman" panose="02020603050405020304" pitchFamily="18" charset="0"/>
                          <a:ea typeface="標楷體" panose="03000509000000000000" pitchFamily="65" charset="-120"/>
                          <a:cs typeface="Times New Roman" panose="02020603050405020304" pitchFamily="18" charset="0"/>
                        </a:rPr>
                        <a:t>Rank() </a:t>
                      </a:r>
                      <a:r>
                        <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rPr>
                        <a:t>需要 </a:t>
                      </a:r>
                      <a:r>
                        <a:rPr lang="en-US" altLang="zh-TW" sz="2400" baseline="0"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sz="2400" baseline="0" dirty="0" err="1">
                          <a:latin typeface="Times New Roman" panose="02020603050405020304" pitchFamily="18" charset="0"/>
                          <a:ea typeface="標楷體" panose="03000509000000000000" pitchFamily="65" charset="-120"/>
                          <a:cs typeface="Times New Roman" panose="02020603050405020304" pitchFamily="18" charset="0"/>
                        </a:rPr>
                        <a:t>log</a:t>
                      </a:r>
                      <a:r>
                        <a:rPr lang="en-US" altLang="zh-TW" sz="2400" i="1" baseline="0" dirty="0" err="1">
                          <a:latin typeface="Times New Roman" panose="02020603050405020304" pitchFamily="18" charset="0"/>
                          <a:ea typeface="標楷體" panose="03000509000000000000" pitchFamily="65" charset="-120"/>
                          <a:cs typeface="Times New Roman" panose="02020603050405020304" pitchFamily="18" charset="0"/>
                        </a:rPr>
                        <a:t>m</a:t>
                      </a:r>
                      <a:r>
                        <a:rPr lang="en-US" altLang="zh-TW" sz="2400" i="0" baseline="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rPr>
                        <a:t> 的時間</a:t>
                      </a:r>
                    </a:p>
                  </a:txBody>
                  <a:tcPr anchor="ct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12775786"/>
                  </a:ext>
                </a:extLst>
              </a:tr>
            </a:tbl>
          </a:graphicData>
        </a:graphic>
      </p:graphicFrame>
    </p:spTree>
    <p:extLst>
      <p:ext uri="{BB962C8B-B14F-4D97-AF65-F5344CB8AC3E}">
        <p14:creationId xmlns:p14="http://schemas.microsoft.com/office/powerpoint/2010/main" val="691399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FE1F72-4E29-4345-9A87-CB6A5C8361E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a:latin typeface="Times New Roman" panose="02020603050405020304" pitchFamily="18" charset="0"/>
                <a:cs typeface="Times New Roman" panose="02020603050405020304" pitchFamily="18" charset="0"/>
              </a:rPr>
              <a:t>n</a:t>
            </a:r>
            <a:r>
              <a:rPr lang="zh-TW" altLang="en-US" i="1"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a:t>
            </a:r>
            <a:r>
              <a:rPr lang="zh-TW" altLang="en-US" i="1" dirty="0">
                <a:latin typeface="Times New Roman" panose="02020603050405020304" pitchFamily="18" charset="0"/>
                <a:cs typeface="Times New Roman" panose="02020603050405020304" pitchFamily="18" charset="0"/>
              </a:rPr>
              <a:t> </a:t>
            </a:r>
            <a:r>
              <a:rPr lang="en-US" altLang="zh-TW" i="1" dirty="0" err="1">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a:t>
            </a:r>
            <a:endParaRPr lang="zh-TW" altLang="en-US" dirty="0"/>
          </a:p>
        </p:txBody>
      </p:sp>
      <p:sp>
        <p:nvSpPr>
          <p:cNvPr id="3" name="內容版面配置區 2">
            <a:extLst>
              <a:ext uri="{FF2B5EF4-FFF2-40B4-BE49-F238E27FC236}">
                <a16:creationId xmlns:a16="http://schemas.microsoft.com/office/drawing/2014/main" id="{4247EFEE-08B7-4C84-BC75-2A70F41C5396}"/>
              </a:ext>
            </a:extLst>
          </p:cNvPr>
          <p:cNvSpPr>
            <a:spLocks noGrp="1"/>
          </p:cNvSpPr>
          <p:nvPr>
            <p:ph idx="1"/>
          </p:nvPr>
        </p:nvSpPr>
        <p:spPr>
          <a:xfrm>
            <a:off x="838200" y="4728754"/>
            <a:ext cx="10515600" cy="1047614"/>
          </a:xfrm>
        </p:spPr>
        <p:txBody>
          <a:bodyPr/>
          <a:lstStyle/>
          <a:p>
            <a:pPr marL="0" indent="0">
              <a:buNone/>
            </a:pPr>
            <a:r>
              <a:rPr lang="en-US" altLang="zh-TW" dirty="0" err="1">
                <a:latin typeface="Times New Roman" panose="02020603050405020304" pitchFamily="18" charset="0"/>
                <a:cs typeface="Times New Roman" panose="02020603050405020304" pitchFamily="18" charset="0"/>
              </a:rPr>
              <a:t>V</a:t>
            </a:r>
            <a:r>
              <a:rPr lang="en-US" altLang="zh-TW" baseline="-25000" dirty="0" err="1">
                <a:latin typeface="Times New Roman" panose="02020603050405020304" pitchFamily="18" charset="0"/>
                <a:cs typeface="Times New Roman" panose="02020603050405020304" pitchFamily="18" charset="0"/>
              </a:rPr>
              <a:t>p</a:t>
            </a:r>
            <a:r>
              <a:rPr lang="en-US" altLang="zh-TW" dirty="0">
                <a:latin typeface="Times New Roman" panose="02020603050405020304" pitchFamily="18" charset="0"/>
                <a:cs typeface="Times New Roman" panose="02020603050405020304" pitchFamily="18" charset="0"/>
              </a:rPr>
              <a:t>(P)</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Predecessor ( </a:t>
            </a:r>
            <a:r>
              <a:rPr lang="zh-TW" altLang="en-US" dirty="0">
                <a:latin typeface="標楷體" panose="03000509000000000000" pitchFamily="65" charset="-120"/>
                <a:ea typeface="標楷體" panose="03000509000000000000" pitchFamily="65" charset="-120"/>
                <a:cs typeface="Times New Roman" panose="02020603050405020304" pitchFamily="18" charset="0"/>
              </a:rPr>
              <a:t>比自己小且最大的元素 </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err="1">
                <a:latin typeface="Times New Roman" panose="02020603050405020304" pitchFamily="18" charset="0"/>
                <a:cs typeface="Times New Roman" panose="02020603050405020304" pitchFamily="18" charset="0"/>
              </a:rPr>
              <a:t>V</a:t>
            </a:r>
            <a:r>
              <a:rPr lang="en-US" altLang="zh-TW" baseline="-25000" dirty="0" err="1">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(P)</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Successor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zh-TW" altLang="en-US" dirty="0">
                <a:latin typeface="標楷體" panose="03000509000000000000" pitchFamily="65" charset="-120"/>
                <a:ea typeface="標楷體" panose="03000509000000000000" pitchFamily="65" charset="-120"/>
                <a:cs typeface="Times New Roman" panose="02020603050405020304" pitchFamily="18" charset="0"/>
              </a:rPr>
              <a:t>比自己大且最小的元素 </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graphicFrame>
        <p:nvGraphicFramePr>
          <p:cNvPr id="7" name="表格 6">
            <a:extLst>
              <a:ext uri="{FF2B5EF4-FFF2-40B4-BE49-F238E27FC236}">
                <a16:creationId xmlns:a16="http://schemas.microsoft.com/office/drawing/2014/main" id="{065CEB42-3A96-4016-8AE6-03DEEBDB6706}"/>
              </a:ext>
            </a:extLst>
          </p:cNvPr>
          <p:cNvGraphicFramePr>
            <a:graphicFrameLocks noGrp="1"/>
          </p:cNvGraphicFramePr>
          <p:nvPr>
            <p:extLst>
              <p:ext uri="{D42A27DB-BD31-4B8C-83A1-F6EECF244321}">
                <p14:modId xmlns:p14="http://schemas.microsoft.com/office/powerpoint/2010/main" val="3138663254"/>
              </p:ext>
            </p:extLst>
          </p:nvPr>
        </p:nvGraphicFramePr>
        <p:xfrm>
          <a:off x="838200" y="1690688"/>
          <a:ext cx="8127999" cy="27432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255758"/>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r h="136525">
                <a:tc>
                  <a:txBody>
                    <a:bodyPr/>
                    <a:lstStyle/>
                    <a:p>
                      <a:pPr algn="ctr"/>
                      <a:r>
                        <a:rPr lang="en-US" altLang="zh-TW" sz="2400" dirty="0" err="1">
                          <a:latin typeface="Times New Roman" panose="02020603050405020304" pitchFamily="18" charset="0"/>
                          <a:cs typeface="Times New Roman" panose="02020603050405020304" pitchFamily="18" charset="0"/>
                        </a:rPr>
                        <a:t>V</a:t>
                      </a:r>
                      <a:r>
                        <a:rPr lang="en-US" altLang="zh-TW" sz="2400" baseline="-25000" dirty="0" err="1">
                          <a:latin typeface="Times New Roman" panose="02020603050405020304" pitchFamily="18" charset="0"/>
                          <a:cs typeface="Times New Roman" panose="02020603050405020304" pitchFamily="18" charset="0"/>
                        </a:rPr>
                        <a:t>p</a:t>
                      </a:r>
                      <a:r>
                        <a:rPr lang="en-US" altLang="zh-TW" sz="2400" dirty="0">
                          <a:latin typeface="Times New Roman" panose="02020603050405020304" pitchFamily="18" charset="0"/>
                          <a:cs typeface="Times New Roman" panose="02020603050405020304" pitchFamily="18" charset="0"/>
                        </a:rPr>
                        <a:t>(P)</a:t>
                      </a:r>
                    </a:p>
                  </a:txBody>
                  <a:tcP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a:t>
                      </a: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06595431"/>
                  </a:ext>
                </a:extLst>
              </a:tr>
              <a:tr h="136525">
                <a:tc>
                  <a:txBody>
                    <a:bodyPr/>
                    <a:lstStyle/>
                    <a:p>
                      <a:r>
                        <a:rPr lang="en-US" altLang="zh-TW" sz="2400" dirty="0" err="1">
                          <a:latin typeface="Times New Roman" panose="02020603050405020304" pitchFamily="18" charset="0"/>
                          <a:cs typeface="Times New Roman" panose="02020603050405020304" pitchFamily="18" charset="0"/>
                        </a:rPr>
                        <a:t>V</a:t>
                      </a:r>
                      <a:r>
                        <a:rPr lang="en-US" altLang="zh-TW" sz="2400" baseline="-25000" dirty="0" err="1">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(P)</a:t>
                      </a:r>
                      <a:endParaRPr lang="zh-TW" altLang="en-US" sz="2400" dirty="0"/>
                    </a:p>
                  </a:txBody>
                  <a:tcPr/>
                </a:tc>
                <a:tc>
                  <a:txBody>
                    <a:bodyPr/>
                    <a:lstStyle/>
                    <a:p>
                      <a:pPr algn="ctr"/>
                      <a:r>
                        <a:rPr lang="zh-TW" altLang="en-US" sz="2400" dirty="0">
                          <a:latin typeface="Times New Roman" panose="02020603050405020304" pitchFamily="18" charset="0"/>
                          <a:cs typeface="Times New Roman" panose="02020603050405020304" pitchFamily="18" charset="0"/>
                        </a:rPr>
                        <a:t>∞</a:t>
                      </a:r>
                      <a:endParaRPr lang="zh-TW" altLang="en-US" sz="2400" dirty="0"/>
                    </a:p>
                  </a:txBody>
                  <a:tcPr/>
                </a:tc>
                <a:tc>
                  <a:txBody>
                    <a:bodyPr/>
                    <a:lstStyle/>
                    <a:p>
                      <a:pPr algn="ctr"/>
                      <a:r>
                        <a:rPr lang="zh-TW" altLang="en-US" sz="2400" dirty="0">
                          <a:latin typeface="Times New Roman" panose="02020603050405020304" pitchFamily="18" charset="0"/>
                          <a:cs typeface="Times New Roman" panose="02020603050405020304" pitchFamily="18" charset="0"/>
                        </a:rPr>
                        <a:t>∞</a:t>
                      </a:r>
                      <a:endParaRPr lang="zh-TW" altLang="en-US" sz="2400" dirty="0"/>
                    </a:p>
                  </a:txBody>
                  <a:tcPr>
                    <a:noFill/>
                  </a:tcPr>
                </a:tc>
                <a:tc>
                  <a:txBody>
                    <a:bodyPr/>
                    <a:lstStyle/>
                    <a:p>
                      <a:pPr algn="ctr"/>
                      <a:r>
                        <a:rPr lang="zh-TW" altLang="en-US" sz="2400" dirty="0">
                          <a:latin typeface="Times New Roman" panose="02020603050405020304" pitchFamily="18" charset="0"/>
                          <a:cs typeface="Times New Roman" panose="02020603050405020304" pitchFamily="18" charset="0"/>
                        </a:rPr>
                        <a:t>∞</a:t>
                      </a:r>
                      <a:endParaRPr lang="zh-TW" altLang="en-US" sz="2400" dirty="0"/>
                    </a:p>
                  </a:txBody>
                  <a:tcPr/>
                </a:tc>
                <a:tc>
                  <a:txBody>
                    <a:bodyPr/>
                    <a:lstStyle/>
                    <a:p>
                      <a:pPr algn="ctr"/>
                      <a:r>
                        <a:rPr lang="en-US" altLang="zh-TW" sz="2400" dirty="0"/>
                        <a:t>3</a:t>
                      </a:r>
                      <a:endParaRPr lang="zh-TW" altLang="en-US" sz="2400" dirty="0"/>
                    </a:p>
                  </a:txBody>
                  <a:tcPr/>
                </a:tc>
                <a:tc>
                  <a:txBody>
                    <a:bodyPr/>
                    <a:lstStyle/>
                    <a:p>
                      <a:pPr algn="ctr"/>
                      <a:r>
                        <a:rPr lang="en-US" altLang="zh-TW" sz="2400" dirty="0"/>
                        <a:t>3</a:t>
                      </a:r>
                      <a:endParaRPr lang="zh-TW" altLang="en-US" sz="2400" dirty="0"/>
                    </a:p>
                  </a:txBody>
                  <a:tcPr>
                    <a:solidFill>
                      <a:srgbClr val="FFFF00"/>
                    </a:solidFill>
                  </a:tcPr>
                </a:tc>
                <a:tc>
                  <a:txBody>
                    <a:bodyPr/>
                    <a:lstStyle/>
                    <a:p>
                      <a:pPr algn="ctr"/>
                      <a:r>
                        <a:rPr lang="zh-TW" altLang="en-US" sz="2400" dirty="0">
                          <a:latin typeface="Times New Roman" panose="02020603050405020304" pitchFamily="18" charset="0"/>
                          <a:cs typeface="Times New Roman" panose="02020603050405020304" pitchFamily="18" charset="0"/>
                        </a:rPr>
                        <a:t>∞</a:t>
                      </a:r>
                      <a:endParaRPr lang="zh-TW" altLang="en-US" sz="2400" dirty="0"/>
                    </a:p>
                  </a:txBody>
                  <a:tcPr/>
                </a:tc>
                <a:tc>
                  <a:txBody>
                    <a:bodyPr/>
                    <a:lstStyle/>
                    <a:p>
                      <a:pPr algn="ctr"/>
                      <a:r>
                        <a:rPr lang="zh-TW" altLang="en-US" sz="2400" dirty="0">
                          <a:latin typeface="Times New Roman" panose="02020603050405020304" pitchFamily="18" charset="0"/>
                          <a:cs typeface="Times New Roman" panose="02020603050405020304" pitchFamily="18" charset="0"/>
                        </a:rPr>
                        <a:t>∞</a:t>
                      </a:r>
                      <a:endParaRPr lang="zh-TW" altLang="en-US" sz="2400" dirty="0"/>
                    </a:p>
                  </a:txBody>
                  <a:tcPr/>
                </a:tc>
                <a:tc>
                  <a:txBody>
                    <a:bodyPr/>
                    <a:lstStyle/>
                    <a:p>
                      <a:pPr algn="ctr"/>
                      <a:r>
                        <a:rPr lang="en-US" altLang="zh-TW" sz="2400" dirty="0"/>
                        <a:t>6</a:t>
                      </a:r>
                      <a:endParaRPr lang="zh-TW" altLang="en-US" sz="2400" dirty="0"/>
                    </a:p>
                  </a:txBody>
                  <a:tcPr/>
                </a:tc>
                <a:extLst>
                  <a:ext uri="{0D108BD9-81ED-4DB2-BD59-A6C34878D82A}">
                    <a16:rowId xmlns:a16="http://schemas.microsoft.com/office/drawing/2014/main" val="2088461183"/>
                  </a:ext>
                </a:extLst>
              </a:tr>
            </a:tbl>
          </a:graphicData>
        </a:graphic>
      </p:graphicFrame>
    </p:spTree>
    <p:extLst>
      <p:ext uri="{BB962C8B-B14F-4D97-AF65-F5344CB8AC3E}">
        <p14:creationId xmlns:p14="http://schemas.microsoft.com/office/powerpoint/2010/main" val="4194027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FE1F72-4E29-4345-9A87-CB6A5C8361E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a:latin typeface="Times New Roman" panose="02020603050405020304" pitchFamily="18" charset="0"/>
                <a:cs typeface="Times New Roman" panose="02020603050405020304" pitchFamily="18" charset="0"/>
              </a:rPr>
              <a:t>n</a:t>
            </a:r>
            <a:r>
              <a:rPr lang="zh-TW" altLang="en-US" i="1"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a:t>
            </a:r>
            <a:r>
              <a:rPr lang="zh-TW" altLang="en-US" i="1" dirty="0">
                <a:latin typeface="Times New Roman" panose="02020603050405020304" pitchFamily="18" charset="0"/>
                <a:cs typeface="Times New Roman" panose="02020603050405020304" pitchFamily="18" charset="0"/>
              </a:rPr>
              <a:t> </a:t>
            </a:r>
            <a:r>
              <a:rPr lang="en-US" altLang="zh-TW" i="1" dirty="0" err="1">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a:t>
            </a:r>
            <a:endParaRPr lang="zh-TW" altLang="en-US" dirty="0"/>
          </a:p>
        </p:txBody>
      </p:sp>
      <p:graphicFrame>
        <p:nvGraphicFramePr>
          <p:cNvPr id="10" name="表格 9">
            <a:extLst>
              <a:ext uri="{FF2B5EF4-FFF2-40B4-BE49-F238E27FC236}">
                <a16:creationId xmlns:a16="http://schemas.microsoft.com/office/drawing/2014/main" id="{3167CFEF-5A81-4016-B874-3D7EE3594CA7}"/>
              </a:ext>
            </a:extLst>
          </p:cNvPr>
          <p:cNvGraphicFramePr>
            <a:graphicFrameLocks noGrp="1"/>
          </p:cNvGraphicFramePr>
          <p:nvPr>
            <p:extLst>
              <p:ext uri="{D42A27DB-BD31-4B8C-83A1-F6EECF244321}">
                <p14:modId xmlns:p14="http://schemas.microsoft.com/office/powerpoint/2010/main" val="2060263876"/>
              </p:ext>
            </p:extLst>
          </p:nvPr>
        </p:nvGraphicFramePr>
        <p:xfrm>
          <a:off x="838200" y="1690688"/>
          <a:ext cx="10582282" cy="2890050"/>
        </p:xfrm>
        <a:graphic>
          <a:graphicData uri="http://schemas.openxmlformats.org/drawingml/2006/table">
            <a:tbl>
              <a:tblPr firstRow="1" bandRow="1">
                <a:tableStyleId>{5940675A-B579-460E-94D1-54222C63F5DA}</a:tableStyleId>
              </a:tblPr>
              <a:tblGrid>
                <a:gridCol w="942218">
                  <a:extLst>
                    <a:ext uri="{9D8B030D-6E8A-4147-A177-3AD203B41FA5}">
                      <a16:colId xmlns:a16="http://schemas.microsoft.com/office/drawing/2014/main" val="1449721109"/>
                    </a:ext>
                  </a:extLst>
                </a:gridCol>
                <a:gridCol w="648704">
                  <a:extLst>
                    <a:ext uri="{9D8B030D-6E8A-4147-A177-3AD203B41FA5}">
                      <a16:colId xmlns:a16="http://schemas.microsoft.com/office/drawing/2014/main" val="3291788748"/>
                    </a:ext>
                  </a:extLst>
                </a:gridCol>
                <a:gridCol w="599424">
                  <a:extLst>
                    <a:ext uri="{9D8B030D-6E8A-4147-A177-3AD203B41FA5}">
                      <a16:colId xmlns:a16="http://schemas.microsoft.com/office/drawing/2014/main" val="2281291187"/>
                    </a:ext>
                  </a:extLst>
                </a:gridCol>
                <a:gridCol w="599424">
                  <a:extLst>
                    <a:ext uri="{9D8B030D-6E8A-4147-A177-3AD203B41FA5}">
                      <a16:colId xmlns:a16="http://schemas.microsoft.com/office/drawing/2014/main" val="2881433744"/>
                    </a:ext>
                  </a:extLst>
                </a:gridCol>
                <a:gridCol w="599424">
                  <a:extLst>
                    <a:ext uri="{9D8B030D-6E8A-4147-A177-3AD203B41FA5}">
                      <a16:colId xmlns:a16="http://schemas.microsoft.com/office/drawing/2014/main" val="189924064"/>
                    </a:ext>
                  </a:extLst>
                </a:gridCol>
                <a:gridCol w="599424">
                  <a:extLst>
                    <a:ext uri="{9D8B030D-6E8A-4147-A177-3AD203B41FA5}">
                      <a16:colId xmlns:a16="http://schemas.microsoft.com/office/drawing/2014/main" val="2147968798"/>
                    </a:ext>
                  </a:extLst>
                </a:gridCol>
                <a:gridCol w="599424">
                  <a:extLst>
                    <a:ext uri="{9D8B030D-6E8A-4147-A177-3AD203B41FA5}">
                      <a16:colId xmlns:a16="http://schemas.microsoft.com/office/drawing/2014/main" val="457230715"/>
                    </a:ext>
                  </a:extLst>
                </a:gridCol>
                <a:gridCol w="599424">
                  <a:extLst>
                    <a:ext uri="{9D8B030D-6E8A-4147-A177-3AD203B41FA5}">
                      <a16:colId xmlns:a16="http://schemas.microsoft.com/office/drawing/2014/main" val="359052208"/>
                    </a:ext>
                  </a:extLst>
                </a:gridCol>
                <a:gridCol w="599424">
                  <a:extLst>
                    <a:ext uri="{9D8B030D-6E8A-4147-A177-3AD203B41FA5}">
                      <a16:colId xmlns:a16="http://schemas.microsoft.com/office/drawing/2014/main" val="911549128"/>
                    </a:ext>
                  </a:extLst>
                </a:gridCol>
                <a:gridCol w="599424">
                  <a:extLst>
                    <a:ext uri="{9D8B030D-6E8A-4147-A177-3AD203B41FA5}">
                      <a16:colId xmlns:a16="http://schemas.microsoft.com/office/drawing/2014/main" val="3304170719"/>
                    </a:ext>
                  </a:extLst>
                </a:gridCol>
                <a:gridCol w="599424">
                  <a:extLst>
                    <a:ext uri="{9D8B030D-6E8A-4147-A177-3AD203B41FA5}">
                      <a16:colId xmlns:a16="http://schemas.microsoft.com/office/drawing/2014/main" val="2865326675"/>
                    </a:ext>
                  </a:extLst>
                </a:gridCol>
                <a:gridCol w="599424">
                  <a:extLst>
                    <a:ext uri="{9D8B030D-6E8A-4147-A177-3AD203B41FA5}">
                      <a16:colId xmlns:a16="http://schemas.microsoft.com/office/drawing/2014/main" val="3948265826"/>
                    </a:ext>
                  </a:extLst>
                </a:gridCol>
                <a:gridCol w="599424">
                  <a:extLst>
                    <a:ext uri="{9D8B030D-6E8A-4147-A177-3AD203B41FA5}">
                      <a16:colId xmlns:a16="http://schemas.microsoft.com/office/drawing/2014/main" val="1034377088"/>
                    </a:ext>
                  </a:extLst>
                </a:gridCol>
                <a:gridCol w="599424">
                  <a:extLst>
                    <a:ext uri="{9D8B030D-6E8A-4147-A177-3AD203B41FA5}">
                      <a16:colId xmlns:a16="http://schemas.microsoft.com/office/drawing/2014/main" val="2831523601"/>
                    </a:ext>
                  </a:extLst>
                </a:gridCol>
                <a:gridCol w="599424">
                  <a:extLst>
                    <a:ext uri="{9D8B030D-6E8A-4147-A177-3AD203B41FA5}">
                      <a16:colId xmlns:a16="http://schemas.microsoft.com/office/drawing/2014/main" val="1803175278"/>
                    </a:ext>
                  </a:extLst>
                </a:gridCol>
                <a:gridCol w="599424">
                  <a:extLst>
                    <a:ext uri="{9D8B030D-6E8A-4147-A177-3AD203B41FA5}">
                      <a16:colId xmlns:a16="http://schemas.microsoft.com/office/drawing/2014/main" val="2288574148"/>
                    </a:ext>
                  </a:extLst>
                </a:gridCol>
                <a:gridCol w="599424">
                  <a:extLst>
                    <a:ext uri="{9D8B030D-6E8A-4147-A177-3AD203B41FA5}">
                      <a16:colId xmlns:a16="http://schemas.microsoft.com/office/drawing/2014/main" val="3936382415"/>
                    </a:ext>
                  </a:extLst>
                </a:gridCol>
              </a:tblGrid>
              <a:tr h="505057">
                <a:tc>
                  <a:txBody>
                    <a:bodyPr/>
                    <a:lstStyle/>
                    <a:p>
                      <a:pPr algn="ctr"/>
                      <a:r>
                        <a:rPr lang="en-US" altLang="zh-TW" sz="1800" dirty="0" err="1">
                          <a:latin typeface="Times New Roman" panose="02020603050405020304" pitchFamily="18" charset="0"/>
                          <a:cs typeface="Times New Roman" panose="02020603050405020304" pitchFamily="18" charset="0"/>
                        </a:rPr>
                        <a:t>i</a:t>
                      </a:r>
                      <a:endParaRPr lang="en-US" altLang="zh-TW"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009946"/>
                  </a:ext>
                </a:extLst>
              </a:tr>
              <a:tr h="512072">
                <a:tc>
                  <a:txBody>
                    <a:bodyPr/>
                    <a:lstStyle/>
                    <a:p>
                      <a:pPr algn="ct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(P)</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b="1"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0503086"/>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n</a:t>
                      </a: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9843195"/>
                  </a:ext>
                </a:extLst>
              </a:tr>
              <a:tr h="3367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0156712"/>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T</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29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36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85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88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44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518956"/>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0414935"/>
                  </a:ext>
                </a:extLst>
              </a:tr>
            </a:tbl>
          </a:graphicData>
        </a:graphic>
      </p:graphicFrame>
      <p:sp>
        <p:nvSpPr>
          <p:cNvPr id="11" name="文字方塊 10">
            <a:extLst>
              <a:ext uri="{FF2B5EF4-FFF2-40B4-BE49-F238E27FC236}">
                <a16:creationId xmlns:a16="http://schemas.microsoft.com/office/drawing/2014/main" id="{F855ADE1-7C2E-479B-B5FE-33B17F982C54}"/>
              </a:ext>
            </a:extLst>
          </p:cNvPr>
          <p:cNvSpPr txBox="1"/>
          <p:nvPr/>
        </p:nvSpPr>
        <p:spPr>
          <a:xfrm>
            <a:off x="1075638" y="4818192"/>
            <a:ext cx="6048375"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 &lt; 11 &lt; </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P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 &lt; 33 &lt; </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Rank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相同，往後繼續</a:t>
            </a:r>
          </a:p>
        </p:txBody>
      </p:sp>
    </p:spTree>
    <p:extLst>
      <p:ext uri="{BB962C8B-B14F-4D97-AF65-F5344CB8AC3E}">
        <p14:creationId xmlns:p14="http://schemas.microsoft.com/office/powerpoint/2010/main" val="2499689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FE1F72-4E29-4345-9A87-CB6A5C8361E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a:latin typeface="Times New Roman" panose="02020603050405020304" pitchFamily="18" charset="0"/>
                <a:cs typeface="Times New Roman" panose="02020603050405020304" pitchFamily="18" charset="0"/>
              </a:rPr>
              <a:t>n</a:t>
            </a:r>
            <a:r>
              <a:rPr lang="zh-TW" altLang="en-US" i="1"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a:t>
            </a:r>
            <a:r>
              <a:rPr lang="zh-TW" altLang="en-US" i="1" dirty="0">
                <a:latin typeface="Times New Roman" panose="02020603050405020304" pitchFamily="18" charset="0"/>
                <a:cs typeface="Times New Roman" panose="02020603050405020304" pitchFamily="18" charset="0"/>
              </a:rPr>
              <a:t> </a:t>
            </a:r>
            <a:r>
              <a:rPr lang="en-US" altLang="zh-TW" i="1" dirty="0" err="1">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a:t>
            </a:r>
            <a:endParaRPr lang="zh-TW" altLang="en-US" dirty="0"/>
          </a:p>
        </p:txBody>
      </p:sp>
      <p:graphicFrame>
        <p:nvGraphicFramePr>
          <p:cNvPr id="10" name="表格 9">
            <a:extLst>
              <a:ext uri="{FF2B5EF4-FFF2-40B4-BE49-F238E27FC236}">
                <a16:creationId xmlns:a16="http://schemas.microsoft.com/office/drawing/2014/main" id="{3167CFEF-5A81-4016-B874-3D7EE3594CA7}"/>
              </a:ext>
            </a:extLst>
          </p:cNvPr>
          <p:cNvGraphicFramePr>
            <a:graphicFrameLocks noGrp="1"/>
          </p:cNvGraphicFramePr>
          <p:nvPr>
            <p:extLst>
              <p:ext uri="{D42A27DB-BD31-4B8C-83A1-F6EECF244321}">
                <p14:modId xmlns:p14="http://schemas.microsoft.com/office/powerpoint/2010/main" val="1478747640"/>
              </p:ext>
            </p:extLst>
          </p:nvPr>
        </p:nvGraphicFramePr>
        <p:xfrm>
          <a:off x="838200" y="1690688"/>
          <a:ext cx="10582282" cy="2890050"/>
        </p:xfrm>
        <a:graphic>
          <a:graphicData uri="http://schemas.openxmlformats.org/drawingml/2006/table">
            <a:tbl>
              <a:tblPr firstRow="1" bandRow="1">
                <a:tableStyleId>{5940675A-B579-460E-94D1-54222C63F5DA}</a:tableStyleId>
              </a:tblPr>
              <a:tblGrid>
                <a:gridCol w="942218">
                  <a:extLst>
                    <a:ext uri="{9D8B030D-6E8A-4147-A177-3AD203B41FA5}">
                      <a16:colId xmlns:a16="http://schemas.microsoft.com/office/drawing/2014/main" val="1449721109"/>
                    </a:ext>
                  </a:extLst>
                </a:gridCol>
                <a:gridCol w="648704">
                  <a:extLst>
                    <a:ext uri="{9D8B030D-6E8A-4147-A177-3AD203B41FA5}">
                      <a16:colId xmlns:a16="http://schemas.microsoft.com/office/drawing/2014/main" val="3291788748"/>
                    </a:ext>
                  </a:extLst>
                </a:gridCol>
                <a:gridCol w="599424">
                  <a:extLst>
                    <a:ext uri="{9D8B030D-6E8A-4147-A177-3AD203B41FA5}">
                      <a16:colId xmlns:a16="http://schemas.microsoft.com/office/drawing/2014/main" val="2281291187"/>
                    </a:ext>
                  </a:extLst>
                </a:gridCol>
                <a:gridCol w="599424">
                  <a:extLst>
                    <a:ext uri="{9D8B030D-6E8A-4147-A177-3AD203B41FA5}">
                      <a16:colId xmlns:a16="http://schemas.microsoft.com/office/drawing/2014/main" val="2881433744"/>
                    </a:ext>
                  </a:extLst>
                </a:gridCol>
                <a:gridCol w="599424">
                  <a:extLst>
                    <a:ext uri="{9D8B030D-6E8A-4147-A177-3AD203B41FA5}">
                      <a16:colId xmlns:a16="http://schemas.microsoft.com/office/drawing/2014/main" val="189924064"/>
                    </a:ext>
                  </a:extLst>
                </a:gridCol>
                <a:gridCol w="599424">
                  <a:extLst>
                    <a:ext uri="{9D8B030D-6E8A-4147-A177-3AD203B41FA5}">
                      <a16:colId xmlns:a16="http://schemas.microsoft.com/office/drawing/2014/main" val="2147968798"/>
                    </a:ext>
                  </a:extLst>
                </a:gridCol>
                <a:gridCol w="599424">
                  <a:extLst>
                    <a:ext uri="{9D8B030D-6E8A-4147-A177-3AD203B41FA5}">
                      <a16:colId xmlns:a16="http://schemas.microsoft.com/office/drawing/2014/main" val="457230715"/>
                    </a:ext>
                  </a:extLst>
                </a:gridCol>
                <a:gridCol w="599424">
                  <a:extLst>
                    <a:ext uri="{9D8B030D-6E8A-4147-A177-3AD203B41FA5}">
                      <a16:colId xmlns:a16="http://schemas.microsoft.com/office/drawing/2014/main" val="359052208"/>
                    </a:ext>
                  </a:extLst>
                </a:gridCol>
                <a:gridCol w="599424">
                  <a:extLst>
                    <a:ext uri="{9D8B030D-6E8A-4147-A177-3AD203B41FA5}">
                      <a16:colId xmlns:a16="http://schemas.microsoft.com/office/drawing/2014/main" val="911549128"/>
                    </a:ext>
                  </a:extLst>
                </a:gridCol>
                <a:gridCol w="599424">
                  <a:extLst>
                    <a:ext uri="{9D8B030D-6E8A-4147-A177-3AD203B41FA5}">
                      <a16:colId xmlns:a16="http://schemas.microsoft.com/office/drawing/2014/main" val="3304170719"/>
                    </a:ext>
                  </a:extLst>
                </a:gridCol>
                <a:gridCol w="599424">
                  <a:extLst>
                    <a:ext uri="{9D8B030D-6E8A-4147-A177-3AD203B41FA5}">
                      <a16:colId xmlns:a16="http://schemas.microsoft.com/office/drawing/2014/main" val="2865326675"/>
                    </a:ext>
                  </a:extLst>
                </a:gridCol>
                <a:gridCol w="599424">
                  <a:extLst>
                    <a:ext uri="{9D8B030D-6E8A-4147-A177-3AD203B41FA5}">
                      <a16:colId xmlns:a16="http://schemas.microsoft.com/office/drawing/2014/main" val="3948265826"/>
                    </a:ext>
                  </a:extLst>
                </a:gridCol>
                <a:gridCol w="599424">
                  <a:extLst>
                    <a:ext uri="{9D8B030D-6E8A-4147-A177-3AD203B41FA5}">
                      <a16:colId xmlns:a16="http://schemas.microsoft.com/office/drawing/2014/main" val="1034377088"/>
                    </a:ext>
                  </a:extLst>
                </a:gridCol>
                <a:gridCol w="599424">
                  <a:extLst>
                    <a:ext uri="{9D8B030D-6E8A-4147-A177-3AD203B41FA5}">
                      <a16:colId xmlns:a16="http://schemas.microsoft.com/office/drawing/2014/main" val="2831523601"/>
                    </a:ext>
                  </a:extLst>
                </a:gridCol>
                <a:gridCol w="599424">
                  <a:extLst>
                    <a:ext uri="{9D8B030D-6E8A-4147-A177-3AD203B41FA5}">
                      <a16:colId xmlns:a16="http://schemas.microsoft.com/office/drawing/2014/main" val="1803175278"/>
                    </a:ext>
                  </a:extLst>
                </a:gridCol>
                <a:gridCol w="599424">
                  <a:extLst>
                    <a:ext uri="{9D8B030D-6E8A-4147-A177-3AD203B41FA5}">
                      <a16:colId xmlns:a16="http://schemas.microsoft.com/office/drawing/2014/main" val="2288574148"/>
                    </a:ext>
                  </a:extLst>
                </a:gridCol>
                <a:gridCol w="599424">
                  <a:extLst>
                    <a:ext uri="{9D8B030D-6E8A-4147-A177-3AD203B41FA5}">
                      <a16:colId xmlns:a16="http://schemas.microsoft.com/office/drawing/2014/main" val="3936382415"/>
                    </a:ext>
                  </a:extLst>
                </a:gridCol>
              </a:tblGrid>
              <a:tr h="505057">
                <a:tc>
                  <a:txBody>
                    <a:bodyPr/>
                    <a:lstStyle/>
                    <a:p>
                      <a:pPr algn="ctr"/>
                      <a:r>
                        <a:rPr lang="en-US" altLang="zh-TW" sz="1800" dirty="0" err="1">
                          <a:latin typeface="Times New Roman" panose="02020603050405020304" pitchFamily="18" charset="0"/>
                          <a:cs typeface="Times New Roman" panose="02020603050405020304" pitchFamily="18" charset="0"/>
                        </a:rPr>
                        <a:t>i</a:t>
                      </a:r>
                      <a:endParaRPr lang="en-US" altLang="zh-TW"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009946"/>
                  </a:ext>
                </a:extLst>
              </a:tr>
              <a:tr h="512072">
                <a:tc>
                  <a:txBody>
                    <a:bodyPr/>
                    <a:lstStyle/>
                    <a:p>
                      <a:pPr algn="ct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(P)</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b="1"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0503086"/>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n</a:t>
                      </a: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9843195"/>
                  </a:ext>
                </a:extLst>
              </a:tr>
              <a:tr h="3367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0156712"/>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T</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solidFill>
                            <a:schemeClr val="bg1"/>
                          </a:solidFill>
                          <a:latin typeface="Times New Roman" panose="02020603050405020304" pitchFamily="18" charset="0"/>
                          <a:cs typeface="Times New Roman" panose="02020603050405020304" pitchFamily="18" charset="0"/>
                        </a:rPr>
                        <a:t>11</a:t>
                      </a:r>
                      <a:endParaRPr lang="zh-TW" altLang="en-US" sz="2400"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29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36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85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88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44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518956"/>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solidFill>
                            <a:schemeClr val="bg1"/>
                          </a:solidFill>
                          <a:latin typeface="Times New Roman" panose="02020603050405020304" pitchFamily="18" charset="0"/>
                          <a:cs typeface="Times New Roman" panose="02020603050405020304" pitchFamily="18" charset="0"/>
                        </a:rPr>
                        <a:t>33</a:t>
                      </a:r>
                      <a:endParaRPr lang="zh-TW" altLang="en-US" sz="2400"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0414935"/>
                  </a:ext>
                </a:extLst>
              </a:tr>
            </a:tbl>
          </a:graphicData>
        </a:graphic>
      </p:graphicFrame>
      <p:sp>
        <p:nvSpPr>
          <p:cNvPr id="11" name="文字方塊 10">
            <a:extLst>
              <a:ext uri="{FF2B5EF4-FFF2-40B4-BE49-F238E27FC236}">
                <a16:creationId xmlns:a16="http://schemas.microsoft.com/office/drawing/2014/main" id="{F855ADE1-7C2E-479B-B5FE-33B17F982C54}"/>
              </a:ext>
            </a:extLst>
          </p:cNvPr>
          <p:cNvSpPr txBox="1"/>
          <p:nvPr/>
        </p:nvSpPr>
        <p:spPr>
          <a:xfrm>
            <a:off x="1594111" y="4837045"/>
            <a:ext cx="6048375"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11 &lt; 15 &lt; </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P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33 &lt; 42 &lt; </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Rank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相同，往後繼續</a:t>
            </a:r>
          </a:p>
        </p:txBody>
      </p:sp>
      <p:cxnSp>
        <p:nvCxnSpPr>
          <p:cNvPr id="5" name="直線單箭頭接點 4">
            <a:extLst>
              <a:ext uri="{FF2B5EF4-FFF2-40B4-BE49-F238E27FC236}">
                <a16:creationId xmlns:a16="http://schemas.microsoft.com/office/drawing/2014/main" id="{404E413D-49DF-45F8-AE8F-BC484D3D37AC}"/>
              </a:ext>
            </a:extLst>
          </p:cNvPr>
          <p:cNvCxnSpPr/>
          <p:nvPr/>
        </p:nvCxnSpPr>
        <p:spPr>
          <a:xfrm flipH="1">
            <a:off x="2165022" y="2492376"/>
            <a:ext cx="352425" cy="104775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8742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FE1F72-4E29-4345-9A87-CB6A5C8361E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a:latin typeface="Times New Roman" panose="02020603050405020304" pitchFamily="18" charset="0"/>
                <a:cs typeface="Times New Roman" panose="02020603050405020304" pitchFamily="18" charset="0"/>
              </a:rPr>
              <a:t>n</a:t>
            </a:r>
            <a:r>
              <a:rPr lang="zh-TW" altLang="en-US" i="1"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a:t>
            </a:r>
            <a:r>
              <a:rPr lang="zh-TW" altLang="en-US" i="1" dirty="0">
                <a:latin typeface="Times New Roman" panose="02020603050405020304" pitchFamily="18" charset="0"/>
                <a:cs typeface="Times New Roman" panose="02020603050405020304" pitchFamily="18" charset="0"/>
              </a:rPr>
              <a:t> </a:t>
            </a:r>
            <a:r>
              <a:rPr lang="en-US" altLang="zh-TW" i="1" dirty="0" err="1">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a:t>
            </a:r>
            <a:endParaRPr lang="zh-TW" altLang="en-US" dirty="0"/>
          </a:p>
        </p:txBody>
      </p:sp>
      <p:graphicFrame>
        <p:nvGraphicFramePr>
          <p:cNvPr id="10" name="表格 9">
            <a:extLst>
              <a:ext uri="{FF2B5EF4-FFF2-40B4-BE49-F238E27FC236}">
                <a16:creationId xmlns:a16="http://schemas.microsoft.com/office/drawing/2014/main" id="{3167CFEF-5A81-4016-B874-3D7EE3594CA7}"/>
              </a:ext>
            </a:extLst>
          </p:cNvPr>
          <p:cNvGraphicFramePr>
            <a:graphicFrameLocks noGrp="1"/>
          </p:cNvGraphicFramePr>
          <p:nvPr>
            <p:extLst>
              <p:ext uri="{D42A27DB-BD31-4B8C-83A1-F6EECF244321}">
                <p14:modId xmlns:p14="http://schemas.microsoft.com/office/powerpoint/2010/main" val="4249722770"/>
              </p:ext>
            </p:extLst>
          </p:nvPr>
        </p:nvGraphicFramePr>
        <p:xfrm>
          <a:off x="838200" y="1690688"/>
          <a:ext cx="10582282" cy="2890050"/>
        </p:xfrm>
        <a:graphic>
          <a:graphicData uri="http://schemas.openxmlformats.org/drawingml/2006/table">
            <a:tbl>
              <a:tblPr firstRow="1" bandRow="1">
                <a:tableStyleId>{5940675A-B579-460E-94D1-54222C63F5DA}</a:tableStyleId>
              </a:tblPr>
              <a:tblGrid>
                <a:gridCol w="942218">
                  <a:extLst>
                    <a:ext uri="{9D8B030D-6E8A-4147-A177-3AD203B41FA5}">
                      <a16:colId xmlns:a16="http://schemas.microsoft.com/office/drawing/2014/main" val="1449721109"/>
                    </a:ext>
                  </a:extLst>
                </a:gridCol>
                <a:gridCol w="648704">
                  <a:extLst>
                    <a:ext uri="{9D8B030D-6E8A-4147-A177-3AD203B41FA5}">
                      <a16:colId xmlns:a16="http://schemas.microsoft.com/office/drawing/2014/main" val="3291788748"/>
                    </a:ext>
                  </a:extLst>
                </a:gridCol>
                <a:gridCol w="599424">
                  <a:extLst>
                    <a:ext uri="{9D8B030D-6E8A-4147-A177-3AD203B41FA5}">
                      <a16:colId xmlns:a16="http://schemas.microsoft.com/office/drawing/2014/main" val="2281291187"/>
                    </a:ext>
                  </a:extLst>
                </a:gridCol>
                <a:gridCol w="599424">
                  <a:extLst>
                    <a:ext uri="{9D8B030D-6E8A-4147-A177-3AD203B41FA5}">
                      <a16:colId xmlns:a16="http://schemas.microsoft.com/office/drawing/2014/main" val="2881433744"/>
                    </a:ext>
                  </a:extLst>
                </a:gridCol>
                <a:gridCol w="599424">
                  <a:extLst>
                    <a:ext uri="{9D8B030D-6E8A-4147-A177-3AD203B41FA5}">
                      <a16:colId xmlns:a16="http://schemas.microsoft.com/office/drawing/2014/main" val="189924064"/>
                    </a:ext>
                  </a:extLst>
                </a:gridCol>
                <a:gridCol w="599424">
                  <a:extLst>
                    <a:ext uri="{9D8B030D-6E8A-4147-A177-3AD203B41FA5}">
                      <a16:colId xmlns:a16="http://schemas.microsoft.com/office/drawing/2014/main" val="2147968798"/>
                    </a:ext>
                  </a:extLst>
                </a:gridCol>
                <a:gridCol w="599424">
                  <a:extLst>
                    <a:ext uri="{9D8B030D-6E8A-4147-A177-3AD203B41FA5}">
                      <a16:colId xmlns:a16="http://schemas.microsoft.com/office/drawing/2014/main" val="457230715"/>
                    </a:ext>
                  </a:extLst>
                </a:gridCol>
                <a:gridCol w="599424">
                  <a:extLst>
                    <a:ext uri="{9D8B030D-6E8A-4147-A177-3AD203B41FA5}">
                      <a16:colId xmlns:a16="http://schemas.microsoft.com/office/drawing/2014/main" val="359052208"/>
                    </a:ext>
                  </a:extLst>
                </a:gridCol>
                <a:gridCol w="599424">
                  <a:extLst>
                    <a:ext uri="{9D8B030D-6E8A-4147-A177-3AD203B41FA5}">
                      <a16:colId xmlns:a16="http://schemas.microsoft.com/office/drawing/2014/main" val="911549128"/>
                    </a:ext>
                  </a:extLst>
                </a:gridCol>
                <a:gridCol w="599424">
                  <a:extLst>
                    <a:ext uri="{9D8B030D-6E8A-4147-A177-3AD203B41FA5}">
                      <a16:colId xmlns:a16="http://schemas.microsoft.com/office/drawing/2014/main" val="3304170719"/>
                    </a:ext>
                  </a:extLst>
                </a:gridCol>
                <a:gridCol w="599424">
                  <a:extLst>
                    <a:ext uri="{9D8B030D-6E8A-4147-A177-3AD203B41FA5}">
                      <a16:colId xmlns:a16="http://schemas.microsoft.com/office/drawing/2014/main" val="2865326675"/>
                    </a:ext>
                  </a:extLst>
                </a:gridCol>
                <a:gridCol w="599424">
                  <a:extLst>
                    <a:ext uri="{9D8B030D-6E8A-4147-A177-3AD203B41FA5}">
                      <a16:colId xmlns:a16="http://schemas.microsoft.com/office/drawing/2014/main" val="3948265826"/>
                    </a:ext>
                  </a:extLst>
                </a:gridCol>
                <a:gridCol w="599424">
                  <a:extLst>
                    <a:ext uri="{9D8B030D-6E8A-4147-A177-3AD203B41FA5}">
                      <a16:colId xmlns:a16="http://schemas.microsoft.com/office/drawing/2014/main" val="1034377088"/>
                    </a:ext>
                  </a:extLst>
                </a:gridCol>
                <a:gridCol w="599424">
                  <a:extLst>
                    <a:ext uri="{9D8B030D-6E8A-4147-A177-3AD203B41FA5}">
                      <a16:colId xmlns:a16="http://schemas.microsoft.com/office/drawing/2014/main" val="2831523601"/>
                    </a:ext>
                  </a:extLst>
                </a:gridCol>
                <a:gridCol w="599424">
                  <a:extLst>
                    <a:ext uri="{9D8B030D-6E8A-4147-A177-3AD203B41FA5}">
                      <a16:colId xmlns:a16="http://schemas.microsoft.com/office/drawing/2014/main" val="1803175278"/>
                    </a:ext>
                  </a:extLst>
                </a:gridCol>
                <a:gridCol w="599424">
                  <a:extLst>
                    <a:ext uri="{9D8B030D-6E8A-4147-A177-3AD203B41FA5}">
                      <a16:colId xmlns:a16="http://schemas.microsoft.com/office/drawing/2014/main" val="2288574148"/>
                    </a:ext>
                  </a:extLst>
                </a:gridCol>
                <a:gridCol w="599424">
                  <a:extLst>
                    <a:ext uri="{9D8B030D-6E8A-4147-A177-3AD203B41FA5}">
                      <a16:colId xmlns:a16="http://schemas.microsoft.com/office/drawing/2014/main" val="3936382415"/>
                    </a:ext>
                  </a:extLst>
                </a:gridCol>
              </a:tblGrid>
              <a:tr h="505057">
                <a:tc>
                  <a:txBody>
                    <a:bodyPr/>
                    <a:lstStyle/>
                    <a:p>
                      <a:pPr algn="ctr"/>
                      <a:r>
                        <a:rPr lang="en-US" altLang="zh-TW" sz="1800" dirty="0" err="1">
                          <a:latin typeface="Times New Roman" panose="02020603050405020304" pitchFamily="18" charset="0"/>
                          <a:cs typeface="Times New Roman" panose="02020603050405020304" pitchFamily="18" charset="0"/>
                        </a:rPr>
                        <a:t>i</a:t>
                      </a:r>
                      <a:endParaRPr lang="en-US" altLang="zh-TW"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009946"/>
                  </a:ext>
                </a:extLst>
              </a:tr>
              <a:tr h="512072">
                <a:tc>
                  <a:txBody>
                    <a:bodyPr/>
                    <a:lstStyle/>
                    <a:p>
                      <a:pPr algn="ct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(P)</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b="1"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0503086"/>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n</a:t>
                      </a: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9843195"/>
                  </a:ext>
                </a:extLst>
              </a:tr>
              <a:tr h="3367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0156712"/>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T</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21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24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29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85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88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44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518956"/>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0414935"/>
                  </a:ext>
                </a:extLst>
              </a:tr>
            </a:tbl>
          </a:graphicData>
        </a:graphic>
      </p:graphicFrame>
      <p:sp>
        <p:nvSpPr>
          <p:cNvPr id="11" name="文字方塊 10">
            <a:extLst>
              <a:ext uri="{FF2B5EF4-FFF2-40B4-BE49-F238E27FC236}">
                <a16:creationId xmlns:a16="http://schemas.microsoft.com/office/drawing/2014/main" id="{F855ADE1-7C2E-479B-B5FE-33B17F982C54}"/>
              </a:ext>
            </a:extLst>
          </p:cNvPr>
          <p:cNvSpPr txBox="1"/>
          <p:nvPr/>
        </p:nvSpPr>
        <p:spPr>
          <a:xfrm>
            <a:off x="4610689" y="4627300"/>
            <a:ext cx="6048375" cy="1569660"/>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 </a:t>
            </a:r>
            <a:r>
              <a:rPr lang="zh-TW" altLang="en-US" sz="2400" dirty="0">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50 &lt; 29 </a:t>
            </a:r>
            <a:r>
              <a:rPr lang="en-US" altLang="zh-TW" sz="2400" dirty="0">
                <a:latin typeface="Times New Roman" panose="02020603050405020304" pitchFamily="18" charset="0"/>
                <a:cs typeface="Times New Roman" panose="02020603050405020304" pitchFamily="18" charset="0"/>
              </a:rPr>
              <a:t>&lt; </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P </a:t>
            </a:r>
            <a:r>
              <a:rPr lang="zh-TW" altLang="en-US" sz="2400" dirty="0">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87 &lt; 95 </a:t>
            </a:r>
            <a:r>
              <a:rPr lang="en-US" altLang="zh-TW" sz="2400" dirty="0">
                <a:latin typeface="Times New Roman" panose="02020603050405020304" pitchFamily="18" charset="0"/>
                <a:cs typeface="Times New Roman" panose="02020603050405020304" pitchFamily="18" charset="0"/>
              </a:rPr>
              <a:t>&lt; </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Rank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不同，根據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Failure function</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移動</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(P)[6] = 3</a:t>
            </a:r>
            <a:endParaRPr lang="zh-TW" altLang="en-US" sz="24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3" name="直線單箭頭接點 12">
            <a:extLst>
              <a:ext uri="{FF2B5EF4-FFF2-40B4-BE49-F238E27FC236}">
                <a16:creationId xmlns:a16="http://schemas.microsoft.com/office/drawing/2014/main" id="{D407246B-E0D5-494F-8E65-875801354202}"/>
              </a:ext>
            </a:extLst>
          </p:cNvPr>
          <p:cNvCxnSpPr/>
          <p:nvPr/>
        </p:nvCxnSpPr>
        <p:spPr>
          <a:xfrm flipH="1">
            <a:off x="5181600" y="2466975"/>
            <a:ext cx="352425" cy="104775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 name="表格 3">
            <a:extLst>
              <a:ext uri="{FF2B5EF4-FFF2-40B4-BE49-F238E27FC236}">
                <a16:creationId xmlns:a16="http://schemas.microsoft.com/office/drawing/2014/main" id="{B4ABC877-D762-45B5-A629-D219BF74EA91}"/>
              </a:ext>
            </a:extLst>
          </p:cNvPr>
          <p:cNvGraphicFramePr>
            <a:graphicFrameLocks noGrp="1"/>
          </p:cNvGraphicFramePr>
          <p:nvPr>
            <p:extLst>
              <p:ext uri="{D42A27DB-BD31-4B8C-83A1-F6EECF244321}">
                <p14:modId xmlns:p14="http://schemas.microsoft.com/office/powerpoint/2010/main" val="284157244"/>
              </p:ext>
            </p:extLst>
          </p:nvPr>
        </p:nvGraphicFramePr>
        <p:xfrm>
          <a:off x="838200" y="6196960"/>
          <a:ext cx="5786890" cy="512072"/>
        </p:xfrm>
        <a:graphic>
          <a:graphicData uri="http://schemas.openxmlformats.org/drawingml/2006/table">
            <a:tbl>
              <a:tblPr firstRow="1" bandRow="1">
                <a:tableStyleId>{5940675A-B579-460E-94D1-54222C63F5DA}</a:tableStyleId>
              </a:tblPr>
              <a:tblGrid>
                <a:gridCol w="942218">
                  <a:extLst>
                    <a:ext uri="{9D8B030D-6E8A-4147-A177-3AD203B41FA5}">
                      <a16:colId xmlns:a16="http://schemas.microsoft.com/office/drawing/2014/main" val="2141286175"/>
                    </a:ext>
                  </a:extLst>
                </a:gridCol>
                <a:gridCol w="648704">
                  <a:extLst>
                    <a:ext uri="{9D8B030D-6E8A-4147-A177-3AD203B41FA5}">
                      <a16:colId xmlns:a16="http://schemas.microsoft.com/office/drawing/2014/main" val="3948161178"/>
                    </a:ext>
                  </a:extLst>
                </a:gridCol>
                <a:gridCol w="599424">
                  <a:extLst>
                    <a:ext uri="{9D8B030D-6E8A-4147-A177-3AD203B41FA5}">
                      <a16:colId xmlns:a16="http://schemas.microsoft.com/office/drawing/2014/main" val="3663824083"/>
                    </a:ext>
                  </a:extLst>
                </a:gridCol>
                <a:gridCol w="599424">
                  <a:extLst>
                    <a:ext uri="{9D8B030D-6E8A-4147-A177-3AD203B41FA5}">
                      <a16:colId xmlns:a16="http://schemas.microsoft.com/office/drawing/2014/main" val="285663231"/>
                    </a:ext>
                  </a:extLst>
                </a:gridCol>
                <a:gridCol w="599424">
                  <a:extLst>
                    <a:ext uri="{9D8B030D-6E8A-4147-A177-3AD203B41FA5}">
                      <a16:colId xmlns:a16="http://schemas.microsoft.com/office/drawing/2014/main" val="1558152882"/>
                    </a:ext>
                  </a:extLst>
                </a:gridCol>
                <a:gridCol w="599424">
                  <a:extLst>
                    <a:ext uri="{9D8B030D-6E8A-4147-A177-3AD203B41FA5}">
                      <a16:colId xmlns:a16="http://schemas.microsoft.com/office/drawing/2014/main" val="205798171"/>
                    </a:ext>
                  </a:extLst>
                </a:gridCol>
                <a:gridCol w="599424">
                  <a:extLst>
                    <a:ext uri="{9D8B030D-6E8A-4147-A177-3AD203B41FA5}">
                      <a16:colId xmlns:a16="http://schemas.microsoft.com/office/drawing/2014/main" val="3161138358"/>
                    </a:ext>
                  </a:extLst>
                </a:gridCol>
                <a:gridCol w="599424">
                  <a:extLst>
                    <a:ext uri="{9D8B030D-6E8A-4147-A177-3AD203B41FA5}">
                      <a16:colId xmlns:a16="http://schemas.microsoft.com/office/drawing/2014/main" val="4149732905"/>
                    </a:ext>
                  </a:extLst>
                </a:gridCol>
                <a:gridCol w="599424">
                  <a:extLst>
                    <a:ext uri="{9D8B030D-6E8A-4147-A177-3AD203B41FA5}">
                      <a16:colId xmlns:a16="http://schemas.microsoft.com/office/drawing/2014/main" val="3507144677"/>
                    </a:ext>
                  </a:extLst>
                </a:gridCol>
              </a:tblGrid>
              <a:tr h="512072">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098446"/>
                  </a:ext>
                </a:extLst>
              </a:tr>
            </a:tbl>
          </a:graphicData>
        </a:graphic>
      </p:graphicFrame>
    </p:spTree>
    <p:extLst>
      <p:ext uri="{BB962C8B-B14F-4D97-AF65-F5344CB8AC3E}">
        <p14:creationId xmlns:p14="http://schemas.microsoft.com/office/powerpoint/2010/main" val="644769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FE1F72-4E29-4345-9A87-CB6A5C8361E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a:latin typeface="Times New Roman" panose="02020603050405020304" pitchFamily="18" charset="0"/>
                <a:cs typeface="Times New Roman" panose="02020603050405020304" pitchFamily="18" charset="0"/>
              </a:rPr>
              <a:t>n</a:t>
            </a:r>
            <a:r>
              <a:rPr lang="zh-TW" altLang="en-US" i="1"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a:t>
            </a:r>
            <a:r>
              <a:rPr lang="zh-TW" altLang="en-US" i="1" dirty="0">
                <a:latin typeface="Times New Roman" panose="02020603050405020304" pitchFamily="18" charset="0"/>
                <a:cs typeface="Times New Roman" panose="02020603050405020304" pitchFamily="18" charset="0"/>
              </a:rPr>
              <a:t> </a:t>
            </a:r>
            <a:r>
              <a:rPr lang="en-US" altLang="zh-TW" i="1" dirty="0" err="1">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a:t>
            </a:r>
            <a:endParaRPr lang="zh-TW" altLang="en-US" dirty="0"/>
          </a:p>
        </p:txBody>
      </p:sp>
      <p:graphicFrame>
        <p:nvGraphicFramePr>
          <p:cNvPr id="10" name="表格 9">
            <a:extLst>
              <a:ext uri="{FF2B5EF4-FFF2-40B4-BE49-F238E27FC236}">
                <a16:creationId xmlns:a16="http://schemas.microsoft.com/office/drawing/2014/main" id="{3167CFEF-5A81-4016-B874-3D7EE3594CA7}"/>
              </a:ext>
            </a:extLst>
          </p:cNvPr>
          <p:cNvGraphicFramePr>
            <a:graphicFrameLocks noGrp="1"/>
          </p:cNvGraphicFramePr>
          <p:nvPr>
            <p:extLst>
              <p:ext uri="{D42A27DB-BD31-4B8C-83A1-F6EECF244321}">
                <p14:modId xmlns:p14="http://schemas.microsoft.com/office/powerpoint/2010/main" val="2952784679"/>
              </p:ext>
            </p:extLst>
          </p:nvPr>
        </p:nvGraphicFramePr>
        <p:xfrm>
          <a:off x="838200" y="1690688"/>
          <a:ext cx="10582282" cy="2890050"/>
        </p:xfrm>
        <a:graphic>
          <a:graphicData uri="http://schemas.openxmlformats.org/drawingml/2006/table">
            <a:tbl>
              <a:tblPr firstRow="1" bandRow="1">
                <a:tableStyleId>{5940675A-B579-460E-94D1-54222C63F5DA}</a:tableStyleId>
              </a:tblPr>
              <a:tblGrid>
                <a:gridCol w="942218">
                  <a:extLst>
                    <a:ext uri="{9D8B030D-6E8A-4147-A177-3AD203B41FA5}">
                      <a16:colId xmlns:a16="http://schemas.microsoft.com/office/drawing/2014/main" val="1449721109"/>
                    </a:ext>
                  </a:extLst>
                </a:gridCol>
                <a:gridCol w="648704">
                  <a:extLst>
                    <a:ext uri="{9D8B030D-6E8A-4147-A177-3AD203B41FA5}">
                      <a16:colId xmlns:a16="http://schemas.microsoft.com/office/drawing/2014/main" val="3291788748"/>
                    </a:ext>
                  </a:extLst>
                </a:gridCol>
                <a:gridCol w="599424">
                  <a:extLst>
                    <a:ext uri="{9D8B030D-6E8A-4147-A177-3AD203B41FA5}">
                      <a16:colId xmlns:a16="http://schemas.microsoft.com/office/drawing/2014/main" val="2281291187"/>
                    </a:ext>
                  </a:extLst>
                </a:gridCol>
                <a:gridCol w="599424">
                  <a:extLst>
                    <a:ext uri="{9D8B030D-6E8A-4147-A177-3AD203B41FA5}">
                      <a16:colId xmlns:a16="http://schemas.microsoft.com/office/drawing/2014/main" val="2881433744"/>
                    </a:ext>
                  </a:extLst>
                </a:gridCol>
                <a:gridCol w="599424">
                  <a:extLst>
                    <a:ext uri="{9D8B030D-6E8A-4147-A177-3AD203B41FA5}">
                      <a16:colId xmlns:a16="http://schemas.microsoft.com/office/drawing/2014/main" val="189924064"/>
                    </a:ext>
                  </a:extLst>
                </a:gridCol>
                <a:gridCol w="599424">
                  <a:extLst>
                    <a:ext uri="{9D8B030D-6E8A-4147-A177-3AD203B41FA5}">
                      <a16:colId xmlns:a16="http://schemas.microsoft.com/office/drawing/2014/main" val="2147968798"/>
                    </a:ext>
                  </a:extLst>
                </a:gridCol>
                <a:gridCol w="599424">
                  <a:extLst>
                    <a:ext uri="{9D8B030D-6E8A-4147-A177-3AD203B41FA5}">
                      <a16:colId xmlns:a16="http://schemas.microsoft.com/office/drawing/2014/main" val="457230715"/>
                    </a:ext>
                  </a:extLst>
                </a:gridCol>
                <a:gridCol w="599424">
                  <a:extLst>
                    <a:ext uri="{9D8B030D-6E8A-4147-A177-3AD203B41FA5}">
                      <a16:colId xmlns:a16="http://schemas.microsoft.com/office/drawing/2014/main" val="359052208"/>
                    </a:ext>
                  </a:extLst>
                </a:gridCol>
                <a:gridCol w="599424">
                  <a:extLst>
                    <a:ext uri="{9D8B030D-6E8A-4147-A177-3AD203B41FA5}">
                      <a16:colId xmlns:a16="http://schemas.microsoft.com/office/drawing/2014/main" val="911549128"/>
                    </a:ext>
                  </a:extLst>
                </a:gridCol>
                <a:gridCol w="599424">
                  <a:extLst>
                    <a:ext uri="{9D8B030D-6E8A-4147-A177-3AD203B41FA5}">
                      <a16:colId xmlns:a16="http://schemas.microsoft.com/office/drawing/2014/main" val="3304170719"/>
                    </a:ext>
                  </a:extLst>
                </a:gridCol>
                <a:gridCol w="599424">
                  <a:extLst>
                    <a:ext uri="{9D8B030D-6E8A-4147-A177-3AD203B41FA5}">
                      <a16:colId xmlns:a16="http://schemas.microsoft.com/office/drawing/2014/main" val="2865326675"/>
                    </a:ext>
                  </a:extLst>
                </a:gridCol>
                <a:gridCol w="599424">
                  <a:extLst>
                    <a:ext uri="{9D8B030D-6E8A-4147-A177-3AD203B41FA5}">
                      <a16:colId xmlns:a16="http://schemas.microsoft.com/office/drawing/2014/main" val="3948265826"/>
                    </a:ext>
                  </a:extLst>
                </a:gridCol>
                <a:gridCol w="599424">
                  <a:extLst>
                    <a:ext uri="{9D8B030D-6E8A-4147-A177-3AD203B41FA5}">
                      <a16:colId xmlns:a16="http://schemas.microsoft.com/office/drawing/2014/main" val="1034377088"/>
                    </a:ext>
                  </a:extLst>
                </a:gridCol>
                <a:gridCol w="599424">
                  <a:extLst>
                    <a:ext uri="{9D8B030D-6E8A-4147-A177-3AD203B41FA5}">
                      <a16:colId xmlns:a16="http://schemas.microsoft.com/office/drawing/2014/main" val="2831523601"/>
                    </a:ext>
                  </a:extLst>
                </a:gridCol>
                <a:gridCol w="599424">
                  <a:extLst>
                    <a:ext uri="{9D8B030D-6E8A-4147-A177-3AD203B41FA5}">
                      <a16:colId xmlns:a16="http://schemas.microsoft.com/office/drawing/2014/main" val="1803175278"/>
                    </a:ext>
                  </a:extLst>
                </a:gridCol>
                <a:gridCol w="599424">
                  <a:extLst>
                    <a:ext uri="{9D8B030D-6E8A-4147-A177-3AD203B41FA5}">
                      <a16:colId xmlns:a16="http://schemas.microsoft.com/office/drawing/2014/main" val="2288574148"/>
                    </a:ext>
                  </a:extLst>
                </a:gridCol>
                <a:gridCol w="599424">
                  <a:extLst>
                    <a:ext uri="{9D8B030D-6E8A-4147-A177-3AD203B41FA5}">
                      <a16:colId xmlns:a16="http://schemas.microsoft.com/office/drawing/2014/main" val="3936382415"/>
                    </a:ext>
                  </a:extLst>
                </a:gridCol>
              </a:tblGrid>
              <a:tr h="505057">
                <a:tc>
                  <a:txBody>
                    <a:bodyPr/>
                    <a:lstStyle/>
                    <a:p>
                      <a:pPr algn="ctr"/>
                      <a:r>
                        <a:rPr lang="en-US" altLang="zh-TW" sz="1800" dirty="0" err="1">
                          <a:latin typeface="Times New Roman" panose="02020603050405020304" pitchFamily="18" charset="0"/>
                          <a:cs typeface="Times New Roman" panose="02020603050405020304" pitchFamily="18" charset="0"/>
                        </a:rPr>
                        <a:t>i</a:t>
                      </a:r>
                      <a:endParaRPr lang="en-US" altLang="zh-TW"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009946"/>
                  </a:ext>
                </a:extLst>
              </a:tr>
              <a:tr h="512072">
                <a:tc>
                  <a:txBody>
                    <a:bodyPr/>
                    <a:lstStyle/>
                    <a:p>
                      <a:pPr algn="ct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(P)</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b="1"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0503086"/>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n</a:t>
                      </a: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9843195"/>
                  </a:ext>
                </a:extLst>
              </a:tr>
              <a:tr h="3367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0156712"/>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T</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24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29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36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85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88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44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518956"/>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0414935"/>
                  </a:ext>
                </a:extLst>
              </a:tr>
            </a:tbl>
          </a:graphicData>
        </a:graphic>
      </p:graphicFrame>
      <p:sp>
        <p:nvSpPr>
          <p:cNvPr id="11" name="文字方塊 10">
            <a:extLst>
              <a:ext uri="{FF2B5EF4-FFF2-40B4-BE49-F238E27FC236}">
                <a16:creationId xmlns:a16="http://schemas.microsoft.com/office/drawing/2014/main" id="{F855ADE1-7C2E-479B-B5FE-33B17F982C54}"/>
              </a:ext>
            </a:extLst>
          </p:cNvPr>
          <p:cNvSpPr txBox="1"/>
          <p:nvPr/>
        </p:nvSpPr>
        <p:spPr>
          <a:xfrm>
            <a:off x="2819597" y="4712141"/>
            <a:ext cx="6048375"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a:t>
            </a:r>
            <a:r>
              <a:rPr lang="en-US" altLang="zh-TW" sz="2400" dirty="0">
                <a:solidFill>
                  <a:srgbClr val="FF0000"/>
                </a:solidFill>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&lt; 21 &lt; </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P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 &lt; 33 &lt; </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Rank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相同，繼續移動</a:t>
            </a:r>
          </a:p>
        </p:txBody>
      </p:sp>
    </p:spTree>
    <p:extLst>
      <p:ext uri="{BB962C8B-B14F-4D97-AF65-F5344CB8AC3E}">
        <p14:creationId xmlns:p14="http://schemas.microsoft.com/office/powerpoint/2010/main" val="374647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FE1F72-4E29-4345-9A87-CB6A5C8361E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a:latin typeface="Times New Roman" panose="02020603050405020304" pitchFamily="18" charset="0"/>
                <a:cs typeface="Times New Roman" panose="02020603050405020304" pitchFamily="18" charset="0"/>
              </a:rPr>
              <a:t>n</a:t>
            </a:r>
            <a:r>
              <a:rPr lang="zh-TW" altLang="en-US" i="1"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a:t>
            </a:r>
            <a:r>
              <a:rPr lang="zh-TW" altLang="en-US" i="1" dirty="0">
                <a:latin typeface="Times New Roman" panose="02020603050405020304" pitchFamily="18" charset="0"/>
                <a:cs typeface="Times New Roman" panose="02020603050405020304" pitchFamily="18" charset="0"/>
              </a:rPr>
              <a:t> </a:t>
            </a:r>
            <a:r>
              <a:rPr lang="en-US" altLang="zh-TW" i="1" dirty="0" err="1">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a:t>
            </a:r>
            <a:endParaRPr lang="zh-TW" altLang="en-US" dirty="0"/>
          </a:p>
        </p:txBody>
      </p:sp>
      <p:graphicFrame>
        <p:nvGraphicFramePr>
          <p:cNvPr id="10" name="表格 9">
            <a:extLst>
              <a:ext uri="{FF2B5EF4-FFF2-40B4-BE49-F238E27FC236}">
                <a16:creationId xmlns:a16="http://schemas.microsoft.com/office/drawing/2014/main" id="{3167CFEF-5A81-4016-B874-3D7EE3594CA7}"/>
              </a:ext>
            </a:extLst>
          </p:cNvPr>
          <p:cNvGraphicFramePr>
            <a:graphicFrameLocks noGrp="1"/>
          </p:cNvGraphicFramePr>
          <p:nvPr>
            <p:extLst>
              <p:ext uri="{D42A27DB-BD31-4B8C-83A1-F6EECF244321}">
                <p14:modId xmlns:p14="http://schemas.microsoft.com/office/powerpoint/2010/main" val="4080931140"/>
              </p:ext>
            </p:extLst>
          </p:nvPr>
        </p:nvGraphicFramePr>
        <p:xfrm>
          <a:off x="838200" y="1690688"/>
          <a:ext cx="10582282" cy="2890050"/>
        </p:xfrm>
        <a:graphic>
          <a:graphicData uri="http://schemas.openxmlformats.org/drawingml/2006/table">
            <a:tbl>
              <a:tblPr firstRow="1" bandRow="1">
                <a:tableStyleId>{5940675A-B579-460E-94D1-54222C63F5DA}</a:tableStyleId>
              </a:tblPr>
              <a:tblGrid>
                <a:gridCol w="942218">
                  <a:extLst>
                    <a:ext uri="{9D8B030D-6E8A-4147-A177-3AD203B41FA5}">
                      <a16:colId xmlns:a16="http://schemas.microsoft.com/office/drawing/2014/main" val="1449721109"/>
                    </a:ext>
                  </a:extLst>
                </a:gridCol>
                <a:gridCol w="648704">
                  <a:extLst>
                    <a:ext uri="{9D8B030D-6E8A-4147-A177-3AD203B41FA5}">
                      <a16:colId xmlns:a16="http://schemas.microsoft.com/office/drawing/2014/main" val="3291788748"/>
                    </a:ext>
                  </a:extLst>
                </a:gridCol>
                <a:gridCol w="599424">
                  <a:extLst>
                    <a:ext uri="{9D8B030D-6E8A-4147-A177-3AD203B41FA5}">
                      <a16:colId xmlns:a16="http://schemas.microsoft.com/office/drawing/2014/main" val="2281291187"/>
                    </a:ext>
                  </a:extLst>
                </a:gridCol>
                <a:gridCol w="599424">
                  <a:extLst>
                    <a:ext uri="{9D8B030D-6E8A-4147-A177-3AD203B41FA5}">
                      <a16:colId xmlns:a16="http://schemas.microsoft.com/office/drawing/2014/main" val="2881433744"/>
                    </a:ext>
                  </a:extLst>
                </a:gridCol>
                <a:gridCol w="599424">
                  <a:extLst>
                    <a:ext uri="{9D8B030D-6E8A-4147-A177-3AD203B41FA5}">
                      <a16:colId xmlns:a16="http://schemas.microsoft.com/office/drawing/2014/main" val="189924064"/>
                    </a:ext>
                  </a:extLst>
                </a:gridCol>
                <a:gridCol w="599424">
                  <a:extLst>
                    <a:ext uri="{9D8B030D-6E8A-4147-A177-3AD203B41FA5}">
                      <a16:colId xmlns:a16="http://schemas.microsoft.com/office/drawing/2014/main" val="2147968798"/>
                    </a:ext>
                  </a:extLst>
                </a:gridCol>
                <a:gridCol w="599424">
                  <a:extLst>
                    <a:ext uri="{9D8B030D-6E8A-4147-A177-3AD203B41FA5}">
                      <a16:colId xmlns:a16="http://schemas.microsoft.com/office/drawing/2014/main" val="457230715"/>
                    </a:ext>
                  </a:extLst>
                </a:gridCol>
                <a:gridCol w="599424">
                  <a:extLst>
                    <a:ext uri="{9D8B030D-6E8A-4147-A177-3AD203B41FA5}">
                      <a16:colId xmlns:a16="http://schemas.microsoft.com/office/drawing/2014/main" val="359052208"/>
                    </a:ext>
                  </a:extLst>
                </a:gridCol>
                <a:gridCol w="599424">
                  <a:extLst>
                    <a:ext uri="{9D8B030D-6E8A-4147-A177-3AD203B41FA5}">
                      <a16:colId xmlns:a16="http://schemas.microsoft.com/office/drawing/2014/main" val="911549128"/>
                    </a:ext>
                  </a:extLst>
                </a:gridCol>
                <a:gridCol w="599424">
                  <a:extLst>
                    <a:ext uri="{9D8B030D-6E8A-4147-A177-3AD203B41FA5}">
                      <a16:colId xmlns:a16="http://schemas.microsoft.com/office/drawing/2014/main" val="3304170719"/>
                    </a:ext>
                  </a:extLst>
                </a:gridCol>
                <a:gridCol w="599424">
                  <a:extLst>
                    <a:ext uri="{9D8B030D-6E8A-4147-A177-3AD203B41FA5}">
                      <a16:colId xmlns:a16="http://schemas.microsoft.com/office/drawing/2014/main" val="2865326675"/>
                    </a:ext>
                  </a:extLst>
                </a:gridCol>
                <a:gridCol w="599424">
                  <a:extLst>
                    <a:ext uri="{9D8B030D-6E8A-4147-A177-3AD203B41FA5}">
                      <a16:colId xmlns:a16="http://schemas.microsoft.com/office/drawing/2014/main" val="3948265826"/>
                    </a:ext>
                  </a:extLst>
                </a:gridCol>
                <a:gridCol w="599424">
                  <a:extLst>
                    <a:ext uri="{9D8B030D-6E8A-4147-A177-3AD203B41FA5}">
                      <a16:colId xmlns:a16="http://schemas.microsoft.com/office/drawing/2014/main" val="1034377088"/>
                    </a:ext>
                  </a:extLst>
                </a:gridCol>
                <a:gridCol w="599424">
                  <a:extLst>
                    <a:ext uri="{9D8B030D-6E8A-4147-A177-3AD203B41FA5}">
                      <a16:colId xmlns:a16="http://schemas.microsoft.com/office/drawing/2014/main" val="2831523601"/>
                    </a:ext>
                  </a:extLst>
                </a:gridCol>
                <a:gridCol w="599424">
                  <a:extLst>
                    <a:ext uri="{9D8B030D-6E8A-4147-A177-3AD203B41FA5}">
                      <a16:colId xmlns:a16="http://schemas.microsoft.com/office/drawing/2014/main" val="1803175278"/>
                    </a:ext>
                  </a:extLst>
                </a:gridCol>
                <a:gridCol w="599424">
                  <a:extLst>
                    <a:ext uri="{9D8B030D-6E8A-4147-A177-3AD203B41FA5}">
                      <a16:colId xmlns:a16="http://schemas.microsoft.com/office/drawing/2014/main" val="2288574148"/>
                    </a:ext>
                  </a:extLst>
                </a:gridCol>
                <a:gridCol w="599424">
                  <a:extLst>
                    <a:ext uri="{9D8B030D-6E8A-4147-A177-3AD203B41FA5}">
                      <a16:colId xmlns:a16="http://schemas.microsoft.com/office/drawing/2014/main" val="3936382415"/>
                    </a:ext>
                  </a:extLst>
                </a:gridCol>
              </a:tblGrid>
              <a:tr h="505057">
                <a:tc>
                  <a:txBody>
                    <a:bodyPr/>
                    <a:lstStyle/>
                    <a:p>
                      <a:pPr algn="ctr"/>
                      <a:r>
                        <a:rPr lang="en-US" altLang="zh-TW" sz="1800" dirty="0" err="1">
                          <a:latin typeface="Times New Roman" panose="02020603050405020304" pitchFamily="18" charset="0"/>
                          <a:cs typeface="Times New Roman" panose="02020603050405020304" pitchFamily="18" charset="0"/>
                        </a:rPr>
                        <a:t>i</a:t>
                      </a:r>
                      <a:endParaRPr lang="en-US" altLang="zh-TW"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009946"/>
                  </a:ext>
                </a:extLst>
              </a:tr>
              <a:tr h="512072">
                <a:tc>
                  <a:txBody>
                    <a:bodyPr/>
                    <a:lstStyle/>
                    <a:p>
                      <a:pPr algn="ct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(P)</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b="1"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0503086"/>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n</a:t>
                      </a: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9843195"/>
                  </a:ext>
                </a:extLst>
              </a:tr>
              <a:tr h="3367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0156712"/>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T</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24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29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36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85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69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88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44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62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518956"/>
                  </a:ext>
                </a:extLst>
              </a:tr>
              <a:tr h="512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87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0414935"/>
                  </a:ext>
                </a:extLst>
              </a:tr>
            </a:tbl>
          </a:graphicData>
        </a:graphic>
      </p:graphicFrame>
      <p:sp>
        <p:nvSpPr>
          <p:cNvPr id="11" name="文字方塊 10">
            <a:extLst>
              <a:ext uri="{FF2B5EF4-FFF2-40B4-BE49-F238E27FC236}">
                <a16:creationId xmlns:a16="http://schemas.microsoft.com/office/drawing/2014/main" id="{F855ADE1-7C2E-479B-B5FE-33B17F982C54}"/>
              </a:ext>
            </a:extLst>
          </p:cNvPr>
          <p:cNvSpPr txBox="1"/>
          <p:nvPr/>
        </p:nvSpPr>
        <p:spPr>
          <a:xfrm>
            <a:off x="6703441" y="4705972"/>
            <a:ext cx="6048375"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50</a:t>
            </a:r>
            <a:r>
              <a:rPr lang="en-US" altLang="zh-TW" sz="2400" dirty="0">
                <a:solidFill>
                  <a:srgbClr val="FF0000"/>
                </a:solidFill>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&lt; 63 &lt; 73</a:t>
            </a:r>
          </a:p>
          <a:p>
            <a:r>
              <a:rPr lang="en-US" altLang="zh-TW" sz="2400" dirty="0">
                <a:latin typeface="Times New Roman" panose="02020603050405020304" pitchFamily="18" charset="0"/>
                <a:cs typeface="Times New Roman" panose="02020603050405020304" pitchFamily="18" charset="0"/>
              </a:rPr>
              <a:t>P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73 &lt; 79 &lt; 87</a:t>
            </a: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配對完畢，成功找到</a:t>
            </a:r>
          </a:p>
        </p:txBody>
      </p:sp>
      <p:cxnSp>
        <p:nvCxnSpPr>
          <p:cNvPr id="5" name="直線單箭頭接點 4">
            <a:extLst>
              <a:ext uri="{FF2B5EF4-FFF2-40B4-BE49-F238E27FC236}">
                <a16:creationId xmlns:a16="http://schemas.microsoft.com/office/drawing/2014/main" id="{631412F0-938B-43AC-9930-509610FFFFCE}"/>
              </a:ext>
            </a:extLst>
          </p:cNvPr>
          <p:cNvCxnSpPr>
            <a:cxnSpLocks/>
          </p:cNvCxnSpPr>
          <p:nvPr/>
        </p:nvCxnSpPr>
        <p:spPr>
          <a:xfrm flipH="1">
            <a:off x="5181601" y="2526384"/>
            <a:ext cx="914399" cy="98834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a:extLst>
              <a:ext uri="{FF2B5EF4-FFF2-40B4-BE49-F238E27FC236}">
                <a16:creationId xmlns:a16="http://schemas.microsoft.com/office/drawing/2014/main" id="{43AAD665-0FF8-4873-B000-AED51D624D88}"/>
              </a:ext>
            </a:extLst>
          </p:cNvPr>
          <p:cNvCxnSpPr>
            <a:cxnSpLocks/>
          </p:cNvCxnSpPr>
          <p:nvPr/>
        </p:nvCxnSpPr>
        <p:spPr>
          <a:xfrm>
            <a:off x="6481767" y="2905125"/>
            <a:ext cx="446934" cy="6096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642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8102195E-CE4D-44A3-9091-AF1E29609364}"/>
              </a:ext>
            </a:extLst>
          </p:cNvPr>
          <p:cNvGraphicFramePr>
            <a:graphicFrameLocks noGrp="1"/>
          </p:cNvGraphicFramePr>
          <p:nvPr>
            <p:extLst>
              <p:ext uri="{D42A27DB-BD31-4B8C-83A1-F6EECF244321}">
                <p14:modId xmlns:p14="http://schemas.microsoft.com/office/powerpoint/2010/main" val="2260399455"/>
              </p:ext>
            </p:extLst>
          </p:nvPr>
        </p:nvGraphicFramePr>
        <p:xfrm>
          <a:off x="838200" y="1438275"/>
          <a:ext cx="8127999" cy="32004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136525">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204791"/>
                  </a:ext>
                </a:extLst>
              </a:tr>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258885"/>
                  </a:ext>
                </a:extLst>
              </a:tr>
              <a:tr h="136525">
                <a:tc>
                  <a:txBody>
                    <a:bodyPr/>
                    <a:lstStyle/>
                    <a:p>
                      <a:pPr algn="ct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(P)</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b="1" dirty="0">
                          <a:latin typeface="Times New Roman" panose="02020603050405020304" pitchFamily="18" charset="0"/>
                          <a:cs typeface="Times New Roman" panose="02020603050405020304" pitchFamily="18" charset="0"/>
                        </a:rPr>
                        <a:t>∞</a:t>
                      </a:r>
                    </a:p>
                  </a:txBody>
                  <a:tcPr anchor="ctr">
                    <a:solidFill>
                      <a:srgbClr val="FFC000"/>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2255758"/>
                  </a:ext>
                </a:extLst>
              </a:tr>
              <a:tr h="13652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n</a:t>
                      </a: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solidFill>
                      <a:srgbClr val="FFC000"/>
                    </a:solid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54565184"/>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00B0F0"/>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bl>
          </a:graphicData>
        </a:graphic>
      </p:graphicFrame>
      <p:sp>
        <p:nvSpPr>
          <p:cNvPr id="3" name="文字方塊 2">
            <a:extLst>
              <a:ext uri="{FF2B5EF4-FFF2-40B4-BE49-F238E27FC236}">
                <a16:creationId xmlns:a16="http://schemas.microsoft.com/office/drawing/2014/main" id="{7C84C669-5FF0-4B06-B81F-42FFBDAB4F61}"/>
              </a:ext>
            </a:extLst>
          </p:cNvPr>
          <p:cNvSpPr txBox="1"/>
          <p:nvPr/>
        </p:nvSpPr>
        <p:spPr>
          <a:xfrm>
            <a:off x="838200" y="4638675"/>
            <a:ext cx="8569751" cy="1569660"/>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跟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的位置比較</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 &lt; 33 &lt; </a:t>
            </a:r>
            <a:r>
              <a:rPr lang="zh-TW" altLang="en-US" sz="2400" dirty="0">
                <a:latin typeface="Times New Roman" panose="02020603050405020304" pitchFamily="18" charset="0"/>
                <a:cs typeface="Times New Roman" panose="02020603050405020304" pitchFamily="18" charset="0"/>
              </a:rPr>
              <a:t>∞</a:t>
            </a:r>
          </a:p>
          <a:p>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 &lt; 42 &lt; </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(P)[2] = (P)[1] + 1 = 1</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711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8102195E-CE4D-44A3-9091-AF1E29609364}"/>
              </a:ext>
            </a:extLst>
          </p:cNvPr>
          <p:cNvGraphicFramePr>
            <a:graphicFrameLocks noGrp="1"/>
          </p:cNvGraphicFramePr>
          <p:nvPr>
            <p:extLst>
              <p:ext uri="{D42A27DB-BD31-4B8C-83A1-F6EECF244321}">
                <p14:modId xmlns:p14="http://schemas.microsoft.com/office/powerpoint/2010/main" val="263252500"/>
              </p:ext>
            </p:extLst>
          </p:nvPr>
        </p:nvGraphicFramePr>
        <p:xfrm>
          <a:off x="838200" y="1438275"/>
          <a:ext cx="8127999" cy="32004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136525">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204791"/>
                  </a:ext>
                </a:extLst>
              </a:tr>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0441355"/>
                  </a:ext>
                </a:extLst>
              </a:tr>
              <a:tr h="136525">
                <a:tc>
                  <a:txBody>
                    <a:bodyPr/>
                    <a:lstStyle/>
                    <a:p>
                      <a:pPr algn="ct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(P)</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b="1"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2255758"/>
                  </a:ext>
                </a:extLst>
              </a:tr>
              <a:tr h="13652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n</a:t>
                      </a: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solidFill>
                      <a:srgbClr val="FFC000"/>
                    </a:solid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54565184"/>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rgbClr val="00B0F0"/>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bl>
          </a:graphicData>
        </a:graphic>
      </p:graphicFrame>
      <p:sp>
        <p:nvSpPr>
          <p:cNvPr id="3" name="文字方塊 2">
            <a:extLst>
              <a:ext uri="{FF2B5EF4-FFF2-40B4-BE49-F238E27FC236}">
                <a16:creationId xmlns:a16="http://schemas.microsoft.com/office/drawing/2014/main" id="{7C84C669-5FF0-4B06-B81F-42FFBDAB4F61}"/>
              </a:ext>
            </a:extLst>
          </p:cNvPr>
          <p:cNvSpPr txBox="1"/>
          <p:nvPr/>
        </p:nvSpPr>
        <p:spPr>
          <a:xfrm>
            <a:off x="838200" y="4638675"/>
            <a:ext cx="8909115" cy="1569660"/>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跟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的位置比較</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33 &lt; 42 &lt; </a:t>
            </a:r>
            <a:r>
              <a:rPr lang="zh-TW" altLang="en-US" sz="2400" dirty="0">
                <a:latin typeface="Times New Roman" panose="02020603050405020304" pitchFamily="18" charset="0"/>
                <a:cs typeface="Times New Roman" panose="02020603050405020304" pitchFamily="18" charset="0"/>
              </a:rPr>
              <a:t>∞</a:t>
            </a:r>
          </a:p>
          <a:p>
            <a:r>
              <a:rPr lang="en-US" altLang="zh-TW" sz="2400" dirty="0">
                <a:latin typeface="Times New Roman" panose="02020603050405020304" pitchFamily="18" charset="0"/>
                <a:cs typeface="Times New Roman" panose="02020603050405020304" pitchFamily="18" charset="0"/>
              </a:rPr>
              <a:t>42 &lt; 73 &lt; </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(P)[3] = (P)[2] + 1 = 2</a:t>
            </a:r>
            <a:endParaRPr lang="zh-TW" altLang="en-US" sz="2400" dirty="0">
              <a:latin typeface="Times New Roman" panose="02020603050405020304" pitchFamily="18" charset="0"/>
              <a:cs typeface="Times New Roman" panose="02020603050405020304" pitchFamily="18" charset="0"/>
            </a:endParaRPr>
          </a:p>
        </p:txBody>
      </p:sp>
      <p:cxnSp>
        <p:nvCxnSpPr>
          <p:cNvPr id="8" name="直線單箭頭接點 7">
            <a:extLst>
              <a:ext uri="{FF2B5EF4-FFF2-40B4-BE49-F238E27FC236}">
                <a16:creationId xmlns:a16="http://schemas.microsoft.com/office/drawing/2014/main" id="{72A03CCC-4109-4412-BBF9-673EC58C5EA1}"/>
              </a:ext>
            </a:extLst>
          </p:cNvPr>
          <p:cNvCxnSpPr>
            <a:cxnSpLocks/>
          </p:cNvCxnSpPr>
          <p:nvPr/>
        </p:nvCxnSpPr>
        <p:spPr>
          <a:xfrm flipH="1" flipV="1">
            <a:off x="2292284" y="2329984"/>
            <a:ext cx="524562" cy="102595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42B61D29-BF29-4234-AEAA-604135B128DC}"/>
              </a:ext>
            </a:extLst>
          </p:cNvPr>
          <p:cNvCxnSpPr>
            <a:cxnSpLocks/>
          </p:cNvCxnSpPr>
          <p:nvPr/>
        </p:nvCxnSpPr>
        <p:spPr>
          <a:xfrm flipV="1">
            <a:off x="2809188" y="2663854"/>
            <a:ext cx="7658" cy="69208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870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8102195E-CE4D-44A3-9091-AF1E29609364}"/>
              </a:ext>
            </a:extLst>
          </p:cNvPr>
          <p:cNvGraphicFramePr>
            <a:graphicFrameLocks noGrp="1"/>
          </p:cNvGraphicFramePr>
          <p:nvPr>
            <p:extLst>
              <p:ext uri="{D42A27DB-BD31-4B8C-83A1-F6EECF244321}">
                <p14:modId xmlns:p14="http://schemas.microsoft.com/office/powerpoint/2010/main" val="2843481277"/>
              </p:ext>
            </p:extLst>
          </p:nvPr>
        </p:nvGraphicFramePr>
        <p:xfrm>
          <a:off x="838200" y="1438275"/>
          <a:ext cx="8127999" cy="32004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136525">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204791"/>
                  </a:ext>
                </a:extLst>
              </a:tr>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77689164"/>
                  </a:ext>
                </a:extLst>
              </a:tr>
              <a:tr h="136525">
                <a:tc>
                  <a:txBody>
                    <a:bodyPr/>
                    <a:lstStyle/>
                    <a:p>
                      <a:pPr algn="ct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(P)</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b="1"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2255758"/>
                  </a:ext>
                </a:extLst>
              </a:tr>
              <a:tr h="13652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n</a:t>
                      </a: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solidFill>
                      <a:srgbClr val="FFC0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54565184"/>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rgbClr val="00B0F0"/>
                    </a:solidFill>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bl>
          </a:graphicData>
        </a:graphic>
      </p:graphicFrame>
      <p:sp>
        <p:nvSpPr>
          <p:cNvPr id="4" name="文字方塊 3">
            <a:extLst>
              <a:ext uri="{FF2B5EF4-FFF2-40B4-BE49-F238E27FC236}">
                <a16:creationId xmlns:a16="http://schemas.microsoft.com/office/drawing/2014/main" id="{CCFE6665-215D-433F-94ED-585C14B5EF2D}"/>
              </a:ext>
            </a:extLst>
          </p:cNvPr>
          <p:cNvSpPr txBox="1"/>
          <p:nvPr/>
        </p:nvSpPr>
        <p:spPr>
          <a:xfrm>
            <a:off x="838200" y="4638675"/>
            <a:ext cx="8324655" cy="1569660"/>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(P)[4]</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跟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的位置比較</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42 &lt; 73 &lt; </a:t>
            </a:r>
            <a:r>
              <a:rPr lang="zh-TW" altLang="en-US" sz="2400" dirty="0">
                <a:latin typeface="Times New Roman" panose="02020603050405020304" pitchFamily="18" charset="0"/>
                <a:cs typeface="Times New Roman" panose="02020603050405020304" pitchFamily="18" charset="0"/>
              </a:rPr>
              <a:t>∞</a:t>
            </a:r>
          </a:p>
          <a:p>
            <a:r>
              <a:rPr lang="en-US" altLang="zh-TW" sz="2400" dirty="0">
                <a:latin typeface="Times New Roman" panose="02020603050405020304" pitchFamily="18" charset="0"/>
                <a:cs typeface="Times New Roman" panose="02020603050405020304" pitchFamily="18" charset="0"/>
              </a:rPr>
              <a:t>73 &lt; 57 &lt; </a:t>
            </a:r>
            <a:r>
              <a:rPr lang="zh-TW" altLang="en-US" sz="2400" dirty="0">
                <a:latin typeface="Times New Roman" panose="02020603050405020304" pitchFamily="18" charset="0"/>
                <a:cs typeface="Times New Roman" panose="02020603050405020304" pitchFamily="18" charset="0"/>
              </a:rPr>
              <a:t>∞ </a:t>
            </a:r>
            <a:endParaRPr lang="en-US" altLang="zh-TW" sz="2400" dirty="0">
              <a:latin typeface="Times New Roman" panose="02020603050405020304" pitchFamily="18" charset="0"/>
              <a:cs typeface="Times New Roman" panose="02020603050405020304" pitchFamily="18" charset="0"/>
            </a:endParaRPr>
          </a:p>
          <a:p>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不成立，根據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(P)[3]</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 回溯</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p:txBody>
      </p:sp>
      <p:cxnSp>
        <p:nvCxnSpPr>
          <p:cNvPr id="7" name="直線單箭頭接點 6">
            <a:extLst>
              <a:ext uri="{FF2B5EF4-FFF2-40B4-BE49-F238E27FC236}">
                <a16:creationId xmlns:a16="http://schemas.microsoft.com/office/drawing/2014/main" id="{8CB18CEE-CE0A-4C0E-9B5F-D89D18F960F9}"/>
              </a:ext>
            </a:extLst>
          </p:cNvPr>
          <p:cNvCxnSpPr>
            <a:cxnSpLocks/>
          </p:cNvCxnSpPr>
          <p:nvPr/>
        </p:nvCxnSpPr>
        <p:spPr>
          <a:xfrm flipH="1" flipV="1">
            <a:off x="3244391" y="2268341"/>
            <a:ext cx="524562" cy="11606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22ACBFBD-DEA8-4C17-98D4-56BC30F05D2E}"/>
              </a:ext>
            </a:extLst>
          </p:cNvPr>
          <p:cNvCxnSpPr>
            <a:cxnSpLocks/>
          </p:cNvCxnSpPr>
          <p:nvPr/>
        </p:nvCxnSpPr>
        <p:spPr>
          <a:xfrm flipV="1">
            <a:off x="3768953" y="2602211"/>
            <a:ext cx="0" cy="82678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6749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8102195E-CE4D-44A3-9091-AF1E29609364}"/>
              </a:ext>
            </a:extLst>
          </p:cNvPr>
          <p:cNvGraphicFramePr>
            <a:graphicFrameLocks noGrp="1"/>
          </p:cNvGraphicFramePr>
          <p:nvPr>
            <p:extLst>
              <p:ext uri="{D42A27DB-BD31-4B8C-83A1-F6EECF244321}">
                <p14:modId xmlns:p14="http://schemas.microsoft.com/office/powerpoint/2010/main" val="3853388224"/>
              </p:ext>
            </p:extLst>
          </p:nvPr>
        </p:nvGraphicFramePr>
        <p:xfrm>
          <a:off x="838200" y="1438275"/>
          <a:ext cx="8127999" cy="32004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136525">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solidFill>
                      <a:srgbClr val="FFC000"/>
                    </a:solid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204791"/>
                  </a:ext>
                </a:extLst>
              </a:tr>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17962648"/>
                  </a:ext>
                </a:extLst>
              </a:tr>
              <a:tr h="136525">
                <a:tc>
                  <a:txBody>
                    <a:bodyPr/>
                    <a:lstStyle/>
                    <a:p>
                      <a:pPr algn="ct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(P)</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b="1"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2255758"/>
                  </a:ext>
                </a:extLst>
              </a:tr>
              <a:tr h="13652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n</a:t>
                      </a: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solidFill>
                      <a:srgbClr val="FFC000"/>
                    </a:solid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54565184"/>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solidFill>
                      <a:srgbClr val="00B0F0"/>
                    </a:solidFill>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bl>
          </a:graphicData>
        </a:graphic>
      </p:graphicFrame>
      <p:sp>
        <p:nvSpPr>
          <p:cNvPr id="3" name="文字方塊 2">
            <a:extLst>
              <a:ext uri="{FF2B5EF4-FFF2-40B4-BE49-F238E27FC236}">
                <a16:creationId xmlns:a16="http://schemas.microsoft.com/office/drawing/2014/main" id="{7C84C669-5FF0-4B06-B81F-42FFBDAB4F61}"/>
              </a:ext>
            </a:extLst>
          </p:cNvPr>
          <p:cNvSpPr txBox="1"/>
          <p:nvPr/>
        </p:nvSpPr>
        <p:spPr>
          <a:xfrm>
            <a:off x="838200" y="4634895"/>
            <a:ext cx="7419975" cy="1569660"/>
          </a:xfrm>
          <a:prstGeom prst="rect">
            <a:avLst/>
          </a:prstGeom>
          <a:noFill/>
        </p:spPr>
        <p:txBody>
          <a:bodyPr wrap="square" rtlCol="0">
            <a:spAutoFit/>
          </a:bodyPr>
          <a:lstStyle/>
          <a:p>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回溯後，跟</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的位置比對</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33 &lt; 42 &lt; </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73 &lt; 57 &lt; </a:t>
            </a:r>
            <a:r>
              <a:rPr lang="zh-TW" altLang="en-US" sz="2400" dirty="0">
                <a:latin typeface="Times New Roman" panose="02020603050405020304" pitchFamily="18" charset="0"/>
                <a:cs typeface="Times New Roman" panose="02020603050405020304" pitchFamily="18" charset="0"/>
              </a:rPr>
              <a:t>∞ </a:t>
            </a:r>
            <a:endParaRPr lang="en-US" altLang="zh-TW" sz="2400" dirty="0">
              <a:latin typeface="Times New Roman" panose="02020603050405020304" pitchFamily="18" charset="0"/>
              <a:cs typeface="Times New Roman" panose="02020603050405020304" pitchFamily="18" charset="0"/>
            </a:endParaRPr>
          </a:p>
          <a:p>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不成立，根據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(P)[2]</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 回溯</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p:txBody>
      </p:sp>
      <p:cxnSp>
        <p:nvCxnSpPr>
          <p:cNvPr id="5" name="直線單箭頭接點 4">
            <a:extLst>
              <a:ext uri="{FF2B5EF4-FFF2-40B4-BE49-F238E27FC236}">
                <a16:creationId xmlns:a16="http://schemas.microsoft.com/office/drawing/2014/main" id="{82AF2CDC-2351-49FD-9F63-B0350819BC9A}"/>
              </a:ext>
            </a:extLst>
          </p:cNvPr>
          <p:cNvCxnSpPr>
            <a:cxnSpLocks/>
          </p:cNvCxnSpPr>
          <p:nvPr/>
        </p:nvCxnSpPr>
        <p:spPr>
          <a:xfrm flipH="1" flipV="1">
            <a:off x="2292284" y="2329984"/>
            <a:ext cx="524562" cy="122392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a:extLst>
              <a:ext uri="{FF2B5EF4-FFF2-40B4-BE49-F238E27FC236}">
                <a16:creationId xmlns:a16="http://schemas.microsoft.com/office/drawing/2014/main" id="{27CE5F4C-C38D-43E8-984E-2D624266D1AF}"/>
              </a:ext>
            </a:extLst>
          </p:cNvPr>
          <p:cNvCxnSpPr>
            <a:cxnSpLocks/>
          </p:cNvCxnSpPr>
          <p:nvPr/>
        </p:nvCxnSpPr>
        <p:spPr>
          <a:xfrm flipV="1">
            <a:off x="2816846" y="2677212"/>
            <a:ext cx="963302" cy="87669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5169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6">
            <a:extLst>
              <a:ext uri="{FF2B5EF4-FFF2-40B4-BE49-F238E27FC236}">
                <a16:creationId xmlns:a16="http://schemas.microsoft.com/office/drawing/2014/main" id="{8102195E-CE4D-44A3-9091-AF1E29609364}"/>
              </a:ext>
            </a:extLst>
          </p:cNvPr>
          <p:cNvGraphicFramePr>
            <a:graphicFrameLocks noGrp="1"/>
          </p:cNvGraphicFramePr>
          <p:nvPr>
            <p:extLst>
              <p:ext uri="{D42A27DB-BD31-4B8C-83A1-F6EECF244321}">
                <p14:modId xmlns:p14="http://schemas.microsoft.com/office/powerpoint/2010/main" val="2999741956"/>
              </p:ext>
            </p:extLst>
          </p:nvPr>
        </p:nvGraphicFramePr>
        <p:xfrm>
          <a:off x="838200" y="1438275"/>
          <a:ext cx="8127999" cy="3200400"/>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033093832"/>
                    </a:ext>
                  </a:extLst>
                </a:gridCol>
                <a:gridCol w="903111">
                  <a:extLst>
                    <a:ext uri="{9D8B030D-6E8A-4147-A177-3AD203B41FA5}">
                      <a16:colId xmlns:a16="http://schemas.microsoft.com/office/drawing/2014/main" val="3839441576"/>
                    </a:ext>
                  </a:extLst>
                </a:gridCol>
                <a:gridCol w="903111">
                  <a:extLst>
                    <a:ext uri="{9D8B030D-6E8A-4147-A177-3AD203B41FA5}">
                      <a16:colId xmlns:a16="http://schemas.microsoft.com/office/drawing/2014/main" val="3782365518"/>
                    </a:ext>
                  </a:extLst>
                </a:gridCol>
                <a:gridCol w="903111">
                  <a:extLst>
                    <a:ext uri="{9D8B030D-6E8A-4147-A177-3AD203B41FA5}">
                      <a16:colId xmlns:a16="http://schemas.microsoft.com/office/drawing/2014/main" val="4201553927"/>
                    </a:ext>
                  </a:extLst>
                </a:gridCol>
                <a:gridCol w="903111">
                  <a:extLst>
                    <a:ext uri="{9D8B030D-6E8A-4147-A177-3AD203B41FA5}">
                      <a16:colId xmlns:a16="http://schemas.microsoft.com/office/drawing/2014/main" val="4091727659"/>
                    </a:ext>
                  </a:extLst>
                </a:gridCol>
                <a:gridCol w="903111">
                  <a:extLst>
                    <a:ext uri="{9D8B030D-6E8A-4147-A177-3AD203B41FA5}">
                      <a16:colId xmlns:a16="http://schemas.microsoft.com/office/drawing/2014/main" val="1849553685"/>
                    </a:ext>
                  </a:extLst>
                </a:gridCol>
                <a:gridCol w="903111">
                  <a:extLst>
                    <a:ext uri="{9D8B030D-6E8A-4147-A177-3AD203B41FA5}">
                      <a16:colId xmlns:a16="http://schemas.microsoft.com/office/drawing/2014/main" val="3031312514"/>
                    </a:ext>
                  </a:extLst>
                </a:gridCol>
                <a:gridCol w="903111">
                  <a:extLst>
                    <a:ext uri="{9D8B030D-6E8A-4147-A177-3AD203B41FA5}">
                      <a16:colId xmlns:a16="http://schemas.microsoft.com/office/drawing/2014/main" val="652599881"/>
                    </a:ext>
                  </a:extLst>
                </a:gridCol>
                <a:gridCol w="903111">
                  <a:extLst>
                    <a:ext uri="{9D8B030D-6E8A-4147-A177-3AD203B41FA5}">
                      <a16:colId xmlns:a16="http://schemas.microsoft.com/office/drawing/2014/main" val="2499856343"/>
                    </a:ext>
                  </a:extLst>
                </a:gridCol>
              </a:tblGrid>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4818976"/>
                  </a:ext>
                </a:extLst>
              </a:tr>
              <a:tr h="136525">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5609765"/>
                  </a:ext>
                </a:extLst>
              </a:tr>
              <a:tr h="136525">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204791"/>
                  </a:ext>
                </a:extLst>
              </a:tr>
              <a:tr h="136525">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14800000"/>
                  </a:ext>
                </a:extLst>
              </a:tr>
              <a:tr h="136525">
                <a:tc>
                  <a:txBody>
                    <a:bodyPr/>
                    <a:lstStyle/>
                    <a:p>
                      <a:pPr algn="ct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(P)</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b="1" dirty="0">
                          <a:latin typeface="Times New Roman" panose="02020603050405020304" pitchFamily="18" charset="0"/>
                          <a:cs typeface="Times New Roman" panose="02020603050405020304" pitchFamily="18" charset="0"/>
                        </a:rPr>
                        <a:t>∞</a:t>
                      </a:r>
                    </a:p>
                  </a:txBody>
                  <a:tcPr anchor="ctr">
                    <a:solidFill>
                      <a:srgbClr val="FFC000"/>
                    </a:solid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2255758"/>
                  </a:ext>
                </a:extLst>
              </a:tr>
              <a:tr h="13652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err="1">
                          <a:latin typeface="Times New Roman" panose="02020603050405020304" pitchFamily="18" charset="0"/>
                          <a:cs typeface="Times New Roman" panose="02020603050405020304" pitchFamily="18" charset="0"/>
                        </a:rPr>
                        <a:t>V</a:t>
                      </a:r>
                      <a:r>
                        <a:rPr lang="en-US" altLang="zh-TW" sz="1800" baseline="-25000" dirty="0" err="1">
                          <a:latin typeface="Times New Roman" panose="02020603050405020304" pitchFamily="18" charset="0"/>
                          <a:cs typeface="Times New Roman" panose="02020603050405020304" pitchFamily="18" charset="0"/>
                        </a:rPr>
                        <a:t>n</a:t>
                      </a:r>
                      <a:r>
                        <a:rPr lang="en-US" altLang="zh-TW" sz="1800" dirty="0">
                          <a:latin typeface="Times New Roman" panose="02020603050405020304" pitchFamily="18" charset="0"/>
                          <a:cs typeface="Times New Roman" panose="02020603050405020304" pitchFamily="18" charset="0"/>
                        </a:rPr>
                        <a:t>(P)</a:t>
                      </a:r>
                      <a:endParaRPr lang="zh-TW"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solidFill>
                      <a:srgbClr val="FFC000"/>
                    </a:solid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54565184"/>
                  </a:ext>
                </a:extLst>
              </a:tr>
              <a:tr h="136525">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rgbClr val="00B0F0"/>
                    </a:solidFill>
                  </a:tcPr>
                </a:tc>
                <a:tc>
                  <a:txBody>
                    <a:bodyPr/>
                    <a:lstStyle/>
                    <a:p>
                      <a:pPr algn="ct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4837809"/>
                  </a:ext>
                </a:extLst>
              </a:tr>
            </a:tbl>
          </a:graphicData>
        </a:graphic>
      </p:graphicFrame>
      <p:sp>
        <p:nvSpPr>
          <p:cNvPr id="3" name="文字方塊 2">
            <a:extLst>
              <a:ext uri="{FF2B5EF4-FFF2-40B4-BE49-F238E27FC236}">
                <a16:creationId xmlns:a16="http://schemas.microsoft.com/office/drawing/2014/main" id="{7C84C669-5FF0-4B06-B81F-42FFBDAB4F61}"/>
              </a:ext>
            </a:extLst>
          </p:cNvPr>
          <p:cNvSpPr txBox="1"/>
          <p:nvPr/>
        </p:nvSpPr>
        <p:spPr>
          <a:xfrm>
            <a:off x="838200" y="4634895"/>
            <a:ext cx="7419975" cy="1569660"/>
          </a:xfrm>
          <a:prstGeom prst="rect">
            <a:avLst/>
          </a:prstGeom>
          <a:noFill/>
        </p:spPr>
        <p:txBody>
          <a:bodyPr wrap="square" rtlCol="0">
            <a:spAutoFit/>
          </a:bodyPr>
          <a:lstStyle/>
          <a:p>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回溯後，跟</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的位置比對</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&lt;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33</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&lt;</a:t>
            </a:r>
            <a:r>
              <a:rPr lang="zh-TW" altLang="en-US" sz="2400" dirty="0">
                <a:latin typeface="Times New Roman" panose="02020603050405020304" pitchFamily="18" charset="0"/>
                <a:cs typeface="Times New Roman" panose="02020603050405020304" pitchFamily="18" charset="0"/>
              </a:rPr>
              <a:t> ∞</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&lt;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57</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&lt;</a:t>
            </a:r>
            <a:r>
              <a:rPr lang="zh-TW" altLang="en-US" sz="2400" dirty="0">
                <a:latin typeface="Times New Roman" panose="02020603050405020304" pitchFamily="18" charset="0"/>
                <a:cs typeface="Times New Roman" panose="02020603050405020304" pitchFamily="18" charset="0"/>
              </a:rPr>
              <a:t> ∞ </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(P)[4]</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(P)[1] + 1 = 1</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844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a:latin typeface="Times New Roman" panose="02020603050405020304" pitchFamily="18" charset="0"/>
                <a:cs typeface="Times New Roman" panose="02020603050405020304" pitchFamily="18" charset="0"/>
              </a:rPr>
              <a:t>n + </a:t>
            </a:r>
            <a:r>
              <a:rPr lang="en-US" altLang="zh-TW" i="1" dirty="0" err="1">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a:t>
            </a:r>
            <a:endParaRPr lang="zh-TW" altLang="en-US" dirty="0">
              <a:latin typeface="Times New Roman" panose="02020603050405020304" pitchFamily="18" charset="0"/>
              <a:cs typeface="Times New Roman" panose="02020603050405020304" pitchFamily="18" charset="0"/>
            </a:endParaRPr>
          </a:p>
        </p:txBody>
      </p:sp>
      <p:graphicFrame>
        <p:nvGraphicFramePr>
          <p:cNvPr id="3" name="表格 4">
            <a:extLst>
              <a:ext uri="{FF2B5EF4-FFF2-40B4-BE49-F238E27FC236}">
                <a16:creationId xmlns:a16="http://schemas.microsoft.com/office/drawing/2014/main" id="{F0F9A071-8D07-431C-A120-9DAF36FA83D4}"/>
              </a:ext>
            </a:extLst>
          </p:cNvPr>
          <p:cNvGraphicFramePr>
            <a:graphicFrameLocks noGrp="1"/>
          </p:cNvGraphicFramePr>
          <p:nvPr>
            <p:extLst>
              <p:ext uri="{D42A27DB-BD31-4B8C-83A1-F6EECF244321}">
                <p14:modId xmlns:p14="http://schemas.microsoft.com/office/powerpoint/2010/main" val="1707124937"/>
              </p:ext>
            </p:extLst>
          </p:nvPr>
        </p:nvGraphicFramePr>
        <p:xfrm>
          <a:off x="1013097" y="1827105"/>
          <a:ext cx="8128000" cy="3376266"/>
        </p:xfrm>
        <a:graphic>
          <a:graphicData uri="http://schemas.openxmlformats.org/drawingml/2006/table">
            <a:tbl>
              <a:tblPr firstRow="1" bandRow="1">
                <a:tableStyleId>{5940675A-B579-460E-94D1-54222C63F5DA}</a:tableStyleId>
              </a:tblPr>
              <a:tblGrid>
                <a:gridCol w="4187553">
                  <a:extLst>
                    <a:ext uri="{9D8B030D-6E8A-4147-A177-3AD203B41FA5}">
                      <a16:colId xmlns:a16="http://schemas.microsoft.com/office/drawing/2014/main" val="71482934"/>
                    </a:ext>
                  </a:extLst>
                </a:gridCol>
                <a:gridCol w="3940447">
                  <a:extLst>
                    <a:ext uri="{9D8B030D-6E8A-4147-A177-3AD203B41FA5}">
                      <a16:colId xmlns:a16="http://schemas.microsoft.com/office/drawing/2014/main" val="2499092229"/>
                    </a:ext>
                  </a:extLst>
                </a:gridCol>
              </a:tblGrid>
              <a:tr h="722492">
                <a:tc>
                  <a:txBody>
                    <a:bodyPr/>
                    <a:lstStyle/>
                    <a:p>
                      <a:r>
                        <a:rPr lang="en-US" altLang="zh-TW" sz="2400" dirty="0">
                          <a:latin typeface="Times New Roman" panose="02020603050405020304" pitchFamily="18" charset="0"/>
                          <a:cs typeface="Times New Roman" panose="02020603050405020304" pitchFamily="18" charset="0"/>
                        </a:rPr>
                        <a:t>Nearest neighbor representation</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err="1">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10402869"/>
                  </a:ext>
                </a:extLst>
              </a:tr>
              <a:tr h="732527">
                <a:tc>
                  <a:txBody>
                    <a:bodyPr/>
                    <a:lstStyle/>
                    <a:p>
                      <a:r>
                        <a:rPr lang="en-US" altLang="zh-TW" sz="2400" dirty="0">
                          <a:latin typeface="Times New Roman" panose="02020603050405020304" pitchFamily="18" charset="0"/>
                          <a:cs typeface="Times New Roman" panose="02020603050405020304" pitchFamily="18" charset="0"/>
                        </a:rPr>
                        <a:t>Failure function</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29524912"/>
                  </a:ext>
                </a:extLst>
              </a:tr>
              <a:tr h="732527">
                <a:tc>
                  <a:txBody>
                    <a:bodyPr/>
                    <a:lstStyle/>
                    <a:p>
                      <a:r>
                        <a:rPr lang="en-US" altLang="zh-TW" sz="2400" dirty="0">
                          <a:latin typeface="Times New Roman" panose="02020603050405020304" pitchFamily="18" charset="0"/>
                          <a:cs typeface="Times New Roman" panose="02020603050405020304" pitchFamily="18" charset="0"/>
                        </a:rPr>
                        <a:t>Text Search</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37502627"/>
                  </a:ext>
                </a:extLst>
              </a:tr>
              <a:tr h="732527">
                <a:tc gridSpan="2">
                  <a:txBody>
                    <a:bodyPr/>
                    <a:lstStyle/>
                    <a:p>
                      <a:r>
                        <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rPr>
                        <a:t>加入了 </a:t>
                      </a:r>
                      <a:r>
                        <a:rPr lang="en-US" altLang="zh-TW" sz="2400" baseline="0" dirty="0">
                          <a:latin typeface="Times New Roman" panose="02020603050405020304" pitchFamily="18" charset="0"/>
                          <a:ea typeface="標楷體" panose="03000509000000000000" pitchFamily="65" charset="-120"/>
                          <a:cs typeface="Times New Roman" panose="02020603050405020304" pitchFamily="18" charset="0"/>
                        </a:rPr>
                        <a:t>Nearest neighbor representation</a:t>
                      </a:r>
                      <a:r>
                        <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rPr>
                        <a:t> 取代了 </a:t>
                      </a:r>
                      <a:r>
                        <a:rPr lang="en-US" altLang="zh-TW" sz="2400" baseline="0" dirty="0">
                          <a:latin typeface="Times New Roman" panose="02020603050405020304" pitchFamily="18" charset="0"/>
                          <a:ea typeface="標楷體" panose="03000509000000000000" pitchFamily="65" charset="-120"/>
                          <a:cs typeface="Times New Roman" panose="02020603050405020304" pitchFamily="18" charset="0"/>
                        </a:rPr>
                        <a:t>Rank()</a:t>
                      </a:r>
                      <a:r>
                        <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rPr>
                        <a:t> 的功能，使用 </a:t>
                      </a:r>
                      <a:r>
                        <a:rPr lang="en-US" altLang="zh-TW" sz="2400" baseline="0" dirty="0">
                          <a:latin typeface="Times New Roman" panose="02020603050405020304" pitchFamily="18" charset="0"/>
                          <a:ea typeface="標楷體" panose="03000509000000000000" pitchFamily="65" charset="-120"/>
                          <a:cs typeface="Times New Roman" panose="02020603050405020304" pitchFamily="18" charset="0"/>
                        </a:rPr>
                        <a:t>Nearest neighbor representation</a:t>
                      </a:r>
                      <a:r>
                        <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rPr>
                        <a:t> 時，都只要</a:t>
                      </a:r>
                      <a:r>
                        <a:rPr lang="en-US" altLang="zh-TW" sz="2400" baseline="0" dirty="0">
                          <a:latin typeface="Times New Roman" panose="02020603050405020304" pitchFamily="18" charset="0"/>
                          <a:ea typeface="標楷體" panose="03000509000000000000" pitchFamily="65" charset="-120"/>
                          <a:cs typeface="Times New Roman" panose="02020603050405020304" pitchFamily="18" charset="0"/>
                        </a:rPr>
                        <a:t>O(1)</a:t>
                      </a:r>
                    </a:p>
                    <a:p>
                      <a:r>
                        <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rPr>
                        <a:t>故搜尋時間只剩下 </a:t>
                      </a:r>
                      <a:r>
                        <a:rPr lang="en-US" altLang="zh-TW" sz="2400" baseline="0"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sz="2400" i="1" baseline="0" dirty="0">
                          <a:latin typeface="Times New Roman" panose="02020603050405020304" pitchFamily="18" charset="0"/>
                          <a:ea typeface="標楷體" panose="03000509000000000000" pitchFamily="65" charset="-120"/>
                          <a:cs typeface="Times New Roman" panose="02020603050405020304" pitchFamily="18" charset="0"/>
                        </a:rPr>
                        <a:t>n</a:t>
                      </a:r>
                      <a:r>
                        <a:rPr lang="en-US" altLang="zh-TW" sz="2400" baseline="0" dirty="0">
                          <a:latin typeface="Times New Roman" panose="02020603050405020304" pitchFamily="18" charset="0"/>
                          <a:ea typeface="標楷體" panose="03000509000000000000" pitchFamily="65" charset="-120"/>
                          <a:cs typeface="Times New Roman" panose="02020603050405020304" pitchFamily="18" charset="0"/>
                        </a:rPr>
                        <a:t>) * O(1)</a:t>
                      </a:r>
                      <a:endPar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12775786"/>
                  </a:ext>
                </a:extLst>
              </a:tr>
            </a:tbl>
          </a:graphicData>
        </a:graphic>
      </p:graphicFrame>
    </p:spTree>
    <p:extLst>
      <p:ext uri="{BB962C8B-B14F-4D97-AF65-F5344CB8AC3E}">
        <p14:creationId xmlns:p14="http://schemas.microsoft.com/office/powerpoint/2010/main" val="1917049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err="1">
                <a:latin typeface="Times New Roman" panose="02020603050405020304" pitchFamily="18" charset="0"/>
                <a:cs typeface="Times New Roman" panose="02020603050405020304" pitchFamily="18" charset="0"/>
              </a:rPr>
              <a:t>n</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 for multiple patterns</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ABF836B9-51B0-41CD-A61D-D74F70BAA2A0}"/>
              </a:ext>
            </a:extLst>
          </p:cNvPr>
          <p:cNvPicPr>
            <a:picLocks noChangeAspect="1"/>
          </p:cNvPicPr>
          <p:nvPr/>
        </p:nvPicPr>
        <p:blipFill>
          <a:blip r:embed="rId2"/>
          <a:stretch>
            <a:fillRect/>
          </a:stretch>
        </p:blipFill>
        <p:spPr>
          <a:xfrm>
            <a:off x="1006903" y="1879600"/>
            <a:ext cx="9301894" cy="4283075"/>
          </a:xfrm>
          <a:prstGeom prst="rect">
            <a:avLst/>
          </a:prstGeom>
        </p:spPr>
      </p:pic>
      <p:sp>
        <p:nvSpPr>
          <p:cNvPr id="7" name="文字方塊 6">
            <a:extLst>
              <a:ext uri="{FF2B5EF4-FFF2-40B4-BE49-F238E27FC236}">
                <a16:creationId xmlns:a16="http://schemas.microsoft.com/office/drawing/2014/main" id="{164F5185-D695-4507-83F4-AE68BDDA12E5}"/>
              </a:ext>
            </a:extLst>
          </p:cNvPr>
          <p:cNvSpPr txBox="1"/>
          <p:nvPr/>
        </p:nvSpPr>
        <p:spPr>
          <a:xfrm>
            <a:off x="9144000" y="1879600"/>
            <a:ext cx="3219450" cy="1200329"/>
          </a:xfrm>
          <a:prstGeom prst="rect">
            <a:avLst/>
          </a:prstGeom>
          <a:noFill/>
        </p:spPr>
        <p:txBody>
          <a:bodyPr wrap="square">
            <a:spAutoFit/>
          </a:bodyPr>
          <a:lstStyle/>
          <a:p>
            <a:r>
              <a:rPr lang="el-GR" altLang="zh-TW" sz="2400" b="0" i="0" u="none" strike="noStrike" baseline="0" dirty="0">
                <a:solidFill>
                  <a:srgbClr val="000000"/>
                </a:solidFill>
                <a:latin typeface="Times New Roman" panose="02020603050405020304" pitchFamily="18" charset="0"/>
                <a:cs typeface="Times New Roman" panose="02020603050405020304" pitchFamily="18" charset="0"/>
              </a:rPr>
              <a:t>μ(</a:t>
            </a:r>
            <a:r>
              <a:rPr lang="en-US" altLang="zh-TW" sz="2400" b="0" i="1" u="none" strike="noStrike" baseline="0" dirty="0">
                <a:solidFill>
                  <a:srgbClr val="000000"/>
                </a:solidFill>
                <a:latin typeface="Times New Roman" panose="02020603050405020304" pitchFamily="18" charset="0"/>
                <a:cs typeface="Times New Roman" panose="02020603050405020304" pitchFamily="18" charset="0"/>
              </a:rPr>
              <a:t>P</a:t>
            </a:r>
            <a:r>
              <a:rPr lang="en-US" altLang="zh-TW" sz="2400" b="0" i="0" u="none" strike="noStrike" baseline="-25000" dirty="0">
                <a:solidFill>
                  <a:srgbClr val="000000"/>
                </a:solidFill>
                <a:latin typeface="Times New Roman" panose="02020603050405020304" pitchFamily="18" charset="0"/>
                <a:cs typeface="Times New Roman" panose="02020603050405020304" pitchFamily="18" charset="0"/>
              </a:rPr>
              <a:t>1</a:t>
            </a:r>
            <a:r>
              <a:rPr lang="en-US" altLang="zh-TW" sz="2400" b="0" i="0" u="none" strike="noStrike" baseline="0" dirty="0">
                <a:solidFill>
                  <a:srgbClr val="000000"/>
                </a:solidFill>
                <a:latin typeface="Times New Roman" panose="02020603050405020304" pitchFamily="18" charset="0"/>
                <a:cs typeface="Times New Roman" panose="02020603050405020304" pitchFamily="18" charset="0"/>
              </a:rPr>
              <a:t>) = (1,2,1,4,4)</a:t>
            </a:r>
          </a:p>
          <a:p>
            <a:r>
              <a:rPr lang="el-GR" altLang="zh-TW" sz="2400" b="0" i="0" u="none" strike="noStrike" baseline="0" dirty="0">
                <a:solidFill>
                  <a:srgbClr val="000000"/>
                </a:solidFill>
                <a:latin typeface="Times New Roman" panose="02020603050405020304" pitchFamily="18" charset="0"/>
                <a:cs typeface="Times New Roman" panose="02020603050405020304" pitchFamily="18" charset="0"/>
              </a:rPr>
              <a:t>μ(</a:t>
            </a:r>
            <a:r>
              <a:rPr lang="en-US" altLang="zh-TW" sz="2400" b="0" i="1" u="none" strike="noStrike" baseline="0" dirty="0">
                <a:solidFill>
                  <a:srgbClr val="000000"/>
                </a:solidFill>
                <a:latin typeface="Times New Roman" panose="02020603050405020304" pitchFamily="18" charset="0"/>
                <a:cs typeface="Times New Roman" panose="02020603050405020304" pitchFamily="18" charset="0"/>
              </a:rPr>
              <a:t>P</a:t>
            </a:r>
            <a:r>
              <a:rPr lang="en-US" altLang="zh-TW" sz="2400" b="0" i="0" u="none" strike="noStrike" baseline="-25000" dirty="0">
                <a:solidFill>
                  <a:srgbClr val="000000"/>
                </a:solidFill>
                <a:latin typeface="Times New Roman" panose="02020603050405020304" pitchFamily="18" charset="0"/>
                <a:cs typeface="Times New Roman" panose="02020603050405020304" pitchFamily="18" charset="0"/>
              </a:rPr>
              <a:t>2</a:t>
            </a:r>
            <a:r>
              <a:rPr lang="en-US" altLang="zh-TW" sz="2400" b="0" i="0" u="none" strike="noStrike" baseline="0" dirty="0">
                <a:solidFill>
                  <a:srgbClr val="000000"/>
                </a:solidFill>
                <a:latin typeface="Times New Roman" panose="02020603050405020304" pitchFamily="18" charset="0"/>
                <a:cs typeface="Times New Roman" panose="02020603050405020304" pitchFamily="18" charset="0"/>
              </a:rPr>
              <a:t>) = (1,2,1,4,5,6)</a:t>
            </a:r>
          </a:p>
          <a:p>
            <a:r>
              <a:rPr lang="el-GR" altLang="zh-TW" sz="2400" b="0" i="0" u="none" strike="noStrike" baseline="0" dirty="0">
                <a:solidFill>
                  <a:srgbClr val="000000"/>
                </a:solidFill>
                <a:latin typeface="Times New Roman" panose="02020603050405020304" pitchFamily="18" charset="0"/>
                <a:cs typeface="Times New Roman" panose="02020603050405020304" pitchFamily="18" charset="0"/>
              </a:rPr>
              <a:t>μ(</a:t>
            </a:r>
            <a:r>
              <a:rPr lang="en-US" altLang="zh-TW" sz="2400" b="0" i="1" u="none" strike="noStrike" baseline="0" dirty="0">
                <a:solidFill>
                  <a:srgbClr val="000000"/>
                </a:solidFill>
                <a:latin typeface="Times New Roman" panose="02020603050405020304" pitchFamily="18" charset="0"/>
                <a:cs typeface="Times New Roman" panose="02020603050405020304" pitchFamily="18" charset="0"/>
              </a:rPr>
              <a:t>P</a:t>
            </a:r>
            <a:r>
              <a:rPr lang="en-US" altLang="zh-TW" sz="2400" b="0" i="0" u="none" strike="noStrike" baseline="-25000" dirty="0">
                <a:solidFill>
                  <a:srgbClr val="000000"/>
                </a:solidFill>
                <a:latin typeface="Times New Roman" panose="02020603050405020304" pitchFamily="18" charset="0"/>
                <a:cs typeface="Times New Roman" panose="02020603050405020304" pitchFamily="18" charset="0"/>
              </a:rPr>
              <a:t>3</a:t>
            </a:r>
            <a:r>
              <a:rPr lang="en-US" altLang="zh-TW" sz="2400" b="0" i="0" u="none" strike="noStrike" baseline="0" dirty="0">
                <a:solidFill>
                  <a:srgbClr val="000000"/>
                </a:solidFill>
                <a:latin typeface="Times New Roman" panose="02020603050405020304" pitchFamily="18" charset="0"/>
                <a:cs typeface="Times New Roman" panose="02020603050405020304" pitchFamily="18" charset="0"/>
              </a:rPr>
              <a:t>) = (1,2,3,4)</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0288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9A97DF8E-9960-46A3-B57A-2E33E3C5570B}"/>
              </a:ext>
            </a:extLst>
          </p:cNvPr>
          <p:cNvPicPr>
            <a:picLocks noChangeAspect="1"/>
          </p:cNvPicPr>
          <p:nvPr/>
        </p:nvPicPr>
        <p:blipFill>
          <a:blip r:embed="rId2"/>
          <a:stretch>
            <a:fillRect/>
          </a:stretch>
        </p:blipFill>
        <p:spPr>
          <a:xfrm>
            <a:off x="4744969" y="24296"/>
            <a:ext cx="7447031" cy="3429000"/>
          </a:xfrm>
          <a:prstGeom prst="rect">
            <a:avLst/>
          </a:prstGeom>
        </p:spPr>
      </p:pic>
      <p:cxnSp>
        <p:nvCxnSpPr>
          <p:cNvPr id="8" name="直線單箭頭接點 7">
            <a:extLst>
              <a:ext uri="{FF2B5EF4-FFF2-40B4-BE49-F238E27FC236}">
                <a16:creationId xmlns:a16="http://schemas.microsoft.com/office/drawing/2014/main" id="{9646E3DD-16F2-4243-A87C-E92A8FBAA3E0}"/>
              </a:ext>
            </a:extLst>
          </p:cNvPr>
          <p:cNvCxnSpPr>
            <a:cxnSpLocks/>
          </p:cNvCxnSpPr>
          <p:nvPr/>
        </p:nvCxnSpPr>
        <p:spPr>
          <a:xfrm flipH="1">
            <a:off x="7390614" y="275359"/>
            <a:ext cx="226245" cy="146343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表格 20">
            <a:extLst>
              <a:ext uri="{FF2B5EF4-FFF2-40B4-BE49-F238E27FC236}">
                <a16:creationId xmlns:a16="http://schemas.microsoft.com/office/drawing/2014/main" id="{DB466FA2-E179-48A1-B73F-D6548EC4C682}"/>
              </a:ext>
            </a:extLst>
          </p:cNvPr>
          <p:cNvGraphicFramePr>
            <a:graphicFrameLocks noGrp="1"/>
          </p:cNvGraphicFramePr>
          <p:nvPr>
            <p:extLst>
              <p:ext uri="{D42A27DB-BD31-4B8C-83A1-F6EECF244321}">
                <p14:modId xmlns:p14="http://schemas.microsoft.com/office/powerpoint/2010/main" val="3834221549"/>
              </p:ext>
            </p:extLst>
          </p:nvPr>
        </p:nvGraphicFramePr>
        <p:xfrm>
          <a:off x="586961" y="3855642"/>
          <a:ext cx="4158008" cy="914400"/>
        </p:xfrm>
        <a:graphic>
          <a:graphicData uri="http://schemas.openxmlformats.org/drawingml/2006/table">
            <a:tbl>
              <a:tblPr firstRow="1" bandRow="1">
                <a:tableStyleId>{5940675A-B579-460E-94D1-54222C63F5DA}</a:tableStyleId>
              </a:tblPr>
              <a:tblGrid>
                <a:gridCol w="1114093">
                  <a:extLst>
                    <a:ext uri="{9D8B030D-6E8A-4147-A177-3AD203B41FA5}">
                      <a16:colId xmlns:a16="http://schemas.microsoft.com/office/drawing/2014/main" val="2045651414"/>
                    </a:ext>
                  </a:extLst>
                </a:gridCol>
                <a:gridCol w="608783">
                  <a:extLst>
                    <a:ext uri="{9D8B030D-6E8A-4147-A177-3AD203B41FA5}">
                      <a16:colId xmlns:a16="http://schemas.microsoft.com/office/drawing/2014/main" val="368393942"/>
                    </a:ext>
                  </a:extLst>
                </a:gridCol>
                <a:gridCol w="608783">
                  <a:extLst>
                    <a:ext uri="{9D8B030D-6E8A-4147-A177-3AD203B41FA5}">
                      <a16:colId xmlns:a16="http://schemas.microsoft.com/office/drawing/2014/main" val="3816300444"/>
                    </a:ext>
                  </a:extLst>
                </a:gridCol>
                <a:gridCol w="608783">
                  <a:extLst>
                    <a:ext uri="{9D8B030D-6E8A-4147-A177-3AD203B41FA5}">
                      <a16:colId xmlns:a16="http://schemas.microsoft.com/office/drawing/2014/main" val="4137233334"/>
                    </a:ext>
                  </a:extLst>
                </a:gridCol>
                <a:gridCol w="608783">
                  <a:extLst>
                    <a:ext uri="{9D8B030D-6E8A-4147-A177-3AD203B41FA5}">
                      <a16:colId xmlns:a16="http://schemas.microsoft.com/office/drawing/2014/main" val="856223283"/>
                    </a:ext>
                  </a:extLst>
                </a:gridCol>
                <a:gridCol w="608783">
                  <a:extLst>
                    <a:ext uri="{9D8B030D-6E8A-4147-A177-3AD203B41FA5}">
                      <a16:colId xmlns:a16="http://schemas.microsoft.com/office/drawing/2014/main" val="3097740924"/>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5381776"/>
                  </a:ext>
                </a:extLst>
              </a:tr>
              <a:tr h="370840">
                <a:tc>
                  <a:txBody>
                    <a:bodyPr/>
                    <a:lstStyle/>
                    <a:p>
                      <a:pPr algn="ctr"/>
                      <a:r>
                        <a:rPr lang="en-US" altLang="zh-TW" sz="2400" baseline="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823969373"/>
                  </a:ext>
                </a:extLst>
              </a:tr>
            </a:tbl>
          </a:graphicData>
        </a:graphic>
      </p:graphicFrame>
      <p:sp>
        <p:nvSpPr>
          <p:cNvPr id="3" name="文字方塊 2">
            <a:extLst>
              <a:ext uri="{FF2B5EF4-FFF2-40B4-BE49-F238E27FC236}">
                <a16:creationId xmlns:a16="http://schemas.microsoft.com/office/drawing/2014/main" id="{F3FBACE8-B0EF-46E3-8BE9-4E8A18C238F1}"/>
              </a:ext>
            </a:extLst>
          </p:cNvPr>
          <p:cNvSpPr txBox="1"/>
          <p:nvPr/>
        </p:nvSpPr>
        <p:spPr>
          <a:xfrm>
            <a:off x="838200" y="1656944"/>
            <a:ext cx="10879318" cy="1569660"/>
          </a:xfrm>
          <a:prstGeom prst="rect">
            <a:avLst/>
          </a:prstGeom>
          <a:noFill/>
        </p:spPr>
        <p:txBody>
          <a:bodyPr wrap="square" rtlCol="0">
            <a:spAutoFit/>
          </a:bodyPr>
          <a:lstStyle/>
          <a:p>
            <a:r>
              <a:rPr lang="zh-TW" altLang="en-US" sz="2400" dirty="0">
                <a:latin typeface="Times New Roman" panose="02020603050405020304" pitchFamily="18" charset="0"/>
                <a:ea typeface="標楷體" panose="03000509000000000000" pitchFamily="65" charset="-120"/>
              </a:rPr>
              <a:t>計算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a:t>
            </a:r>
            <a:endParaRPr lang="en-US" altLang="zh-TW" sz="2400" dirty="0">
              <a:latin typeface="Times New Roman" panose="02020603050405020304" pitchFamily="18" charset="0"/>
              <a:ea typeface="標楷體" panose="03000509000000000000" pitchFamily="65" charset="-120"/>
            </a:endParaRPr>
          </a:p>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已知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q1] = q0</a:t>
            </a:r>
          </a:p>
          <a:p>
            <a:r>
              <a:rPr lang="zh-TW" altLang="en-US" sz="2400" dirty="0">
                <a:latin typeface="Times New Roman" panose="02020603050405020304" pitchFamily="18" charset="0"/>
                <a:ea typeface="標楷體" panose="03000509000000000000" pitchFamily="65" charset="-120"/>
              </a:rPr>
              <a:t>從 </a:t>
            </a:r>
            <a:r>
              <a:rPr lang="en-US" altLang="zh-TW" sz="2400" dirty="0">
                <a:latin typeface="Times New Roman" panose="02020603050405020304" pitchFamily="18" charset="0"/>
                <a:ea typeface="標楷體" panose="03000509000000000000" pitchFamily="65" charset="-120"/>
              </a:rPr>
              <a:t>q0</a:t>
            </a:r>
            <a:r>
              <a:rPr lang="zh-TW" altLang="en-US" sz="2400" dirty="0">
                <a:latin typeface="Times New Roman" panose="02020603050405020304" pitchFamily="18" charset="0"/>
                <a:ea typeface="標楷體" panose="03000509000000000000" pitchFamily="65" charset="-120"/>
              </a:rPr>
              <a:t> 延伸到 </a:t>
            </a:r>
            <a:r>
              <a:rPr lang="en-US" altLang="zh-TW" sz="2400" dirty="0">
                <a:latin typeface="Times New Roman" panose="02020603050405020304" pitchFamily="18" charset="0"/>
                <a:ea typeface="標楷體" panose="03000509000000000000" pitchFamily="65" charset="-120"/>
              </a:rPr>
              <a:t>q1</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=&gt; </a:t>
            </a:r>
            <a:r>
              <a:rPr lang="zh-TW" altLang="en-US" sz="2400" dirty="0">
                <a:latin typeface="Times New Roman" panose="02020603050405020304" pitchFamily="18" charset="0"/>
                <a:ea typeface="標楷體" panose="03000509000000000000" pitchFamily="65" charset="-120"/>
              </a:rPr>
              <a:t>成功到 </a:t>
            </a:r>
            <a:r>
              <a:rPr lang="en-US" altLang="zh-TW" sz="2400" dirty="0">
                <a:latin typeface="Times New Roman" panose="02020603050405020304" pitchFamily="18" charset="0"/>
                <a:ea typeface="標楷體" panose="03000509000000000000" pitchFamily="65" charset="-120"/>
              </a:rPr>
              <a:t>q1</a:t>
            </a:r>
          </a:p>
        </p:txBody>
      </p:sp>
    </p:spTree>
    <p:extLst>
      <p:ext uri="{BB962C8B-B14F-4D97-AF65-F5344CB8AC3E}">
        <p14:creationId xmlns:p14="http://schemas.microsoft.com/office/powerpoint/2010/main" val="2393553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9A97DF8E-9960-46A3-B57A-2E33E3C5570B}"/>
              </a:ext>
            </a:extLst>
          </p:cNvPr>
          <p:cNvPicPr>
            <a:picLocks noChangeAspect="1"/>
          </p:cNvPicPr>
          <p:nvPr/>
        </p:nvPicPr>
        <p:blipFill>
          <a:blip r:embed="rId2"/>
          <a:stretch>
            <a:fillRect/>
          </a:stretch>
        </p:blipFill>
        <p:spPr>
          <a:xfrm>
            <a:off x="4744969" y="24296"/>
            <a:ext cx="7447031" cy="3429000"/>
          </a:xfrm>
          <a:prstGeom prst="rect">
            <a:avLst/>
          </a:prstGeom>
        </p:spPr>
      </p:pic>
      <p:cxnSp>
        <p:nvCxnSpPr>
          <p:cNvPr id="8" name="直線單箭頭接點 7">
            <a:extLst>
              <a:ext uri="{FF2B5EF4-FFF2-40B4-BE49-F238E27FC236}">
                <a16:creationId xmlns:a16="http://schemas.microsoft.com/office/drawing/2014/main" id="{9646E3DD-16F2-4243-A87C-E92A8FBAA3E0}"/>
              </a:ext>
            </a:extLst>
          </p:cNvPr>
          <p:cNvCxnSpPr/>
          <p:nvPr/>
        </p:nvCxnSpPr>
        <p:spPr>
          <a:xfrm flipH="1">
            <a:off x="8468484" y="292231"/>
            <a:ext cx="100481" cy="7356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表格 20">
            <a:extLst>
              <a:ext uri="{FF2B5EF4-FFF2-40B4-BE49-F238E27FC236}">
                <a16:creationId xmlns:a16="http://schemas.microsoft.com/office/drawing/2014/main" id="{DB466FA2-E179-48A1-B73F-D6548EC4C682}"/>
              </a:ext>
            </a:extLst>
          </p:cNvPr>
          <p:cNvGraphicFramePr>
            <a:graphicFrameLocks noGrp="1"/>
          </p:cNvGraphicFramePr>
          <p:nvPr>
            <p:extLst>
              <p:ext uri="{D42A27DB-BD31-4B8C-83A1-F6EECF244321}">
                <p14:modId xmlns:p14="http://schemas.microsoft.com/office/powerpoint/2010/main" val="1089078874"/>
              </p:ext>
            </p:extLst>
          </p:nvPr>
        </p:nvGraphicFramePr>
        <p:xfrm>
          <a:off x="586961" y="4171544"/>
          <a:ext cx="4158008" cy="914400"/>
        </p:xfrm>
        <a:graphic>
          <a:graphicData uri="http://schemas.openxmlformats.org/drawingml/2006/table">
            <a:tbl>
              <a:tblPr firstRow="1" bandRow="1">
                <a:tableStyleId>{5940675A-B579-460E-94D1-54222C63F5DA}</a:tableStyleId>
              </a:tblPr>
              <a:tblGrid>
                <a:gridCol w="1114093">
                  <a:extLst>
                    <a:ext uri="{9D8B030D-6E8A-4147-A177-3AD203B41FA5}">
                      <a16:colId xmlns:a16="http://schemas.microsoft.com/office/drawing/2014/main" val="2045651414"/>
                    </a:ext>
                  </a:extLst>
                </a:gridCol>
                <a:gridCol w="608783">
                  <a:extLst>
                    <a:ext uri="{9D8B030D-6E8A-4147-A177-3AD203B41FA5}">
                      <a16:colId xmlns:a16="http://schemas.microsoft.com/office/drawing/2014/main" val="368393942"/>
                    </a:ext>
                  </a:extLst>
                </a:gridCol>
                <a:gridCol w="608783">
                  <a:extLst>
                    <a:ext uri="{9D8B030D-6E8A-4147-A177-3AD203B41FA5}">
                      <a16:colId xmlns:a16="http://schemas.microsoft.com/office/drawing/2014/main" val="3816300444"/>
                    </a:ext>
                  </a:extLst>
                </a:gridCol>
                <a:gridCol w="608783">
                  <a:extLst>
                    <a:ext uri="{9D8B030D-6E8A-4147-A177-3AD203B41FA5}">
                      <a16:colId xmlns:a16="http://schemas.microsoft.com/office/drawing/2014/main" val="4137233334"/>
                    </a:ext>
                  </a:extLst>
                </a:gridCol>
                <a:gridCol w="608783">
                  <a:extLst>
                    <a:ext uri="{9D8B030D-6E8A-4147-A177-3AD203B41FA5}">
                      <a16:colId xmlns:a16="http://schemas.microsoft.com/office/drawing/2014/main" val="856223283"/>
                    </a:ext>
                  </a:extLst>
                </a:gridCol>
                <a:gridCol w="608783">
                  <a:extLst>
                    <a:ext uri="{9D8B030D-6E8A-4147-A177-3AD203B41FA5}">
                      <a16:colId xmlns:a16="http://schemas.microsoft.com/office/drawing/2014/main" val="3097740924"/>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5381776"/>
                  </a:ext>
                </a:extLst>
              </a:tr>
              <a:tr h="370840">
                <a:tc>
                  <a:txBody>
                    <a:bodyPr/>
                    <a:lstStyle/>
                    <a:p>
                      <a:pPr algn="ctr"/>
                      <a:r>
                        <a:rPr lang="en-US" altLang="zh-TW" sz="2400" baseline="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823969373"/>
                  </a:ext>
                </a:extLst>
              </a:tr>
            </a:tbl>
          </a:graphicData>
        </a:graphic>
      </p:graphicFrame>
      <p:graphicFrame>
        <p:nvGraphicFramePr>
          <p:cNvPr id="23" name="表格 22">
            <a:extLst>
              <a:ext uri="{FF2B5EF4-FFF2-40B4-BE49-F238E27FC236}">
                <a16:creationId xmlns:a16="http://schemas.microsoft.com/office/drawing/2014/main" id="{934B66A3-F0E3-4994-9CA8-DAE7DFCE15FD}"/>
              </a:ext>
            </a:extLst>
          </p:cNvPr>
          <p:cNvGraphicFramePr>
            <a:graphicFrameLocks noGrp="1"/>
          </p:cNvGraphicFramePr>
          <p:nvPr>
            <p:extLst>
              <p:ext uri="{D42A27DB-BD31-4B8C-83A1-F6EECF244321}">
                <p14:modId xmlns:p14="http://schemas.microsoft.com/office/powerpoint/2010/main" val="1451961198"/>
              </p:ext>
            </p:extLst>
          </p:nvPr>
        </p:nvGraphicFramePr>
        <p:xfrm>
          <a:off x="586961" y="5304179"/>
          <a:ext cx="4158008" cy="914400"/>
        </p:xfrm>
        <a:graphic>
          <a:graphicData uri="http://schemas.openxmlformats.org/drawingml/2006/table">
            <a:tbl>
              <a:tblPr firstRow="1" bandRow="1">
                <a:tableStyleId>{5940675A-B579-460E-94D1-54222C63F5DA}</a:tableStyleId>
              </a:tblPr>
              <a:tblGrid>
                <a:gridCol w="1114093">
                  <a:extLst>
                    <a:ext uri="{9D8B030D-6E8A-4147-A177-3AD203B41FA5}">
                      <a16:colId xmlns:a16="http://schemas.microsoft.com/office/drawing/2014/main" val="2045651414"/>
                    </a:ext>
                  </a:extLst>
                </a:gridCol>
                <a:gridCol w="608783">
                  <a:extLst>
                    <a:ext uri="{9D8B030D-6E8A-4147-A177-3AD203B41FA5}">
                      <a16:colId xmlns:a16="http://schemas.microsoft.com/office/drawing/2014/main" val="368393942"/>
                    </a:ext>
                  </a:extLst>
                </a:gridCol>
                <a:gridCol w="608783">
                  <a:extLst>
                    <a:ext uri="{9D8B030D-6E8A-4147-A177-3AD203B41FA5}">
                      <a16:colId xmlns:a16="http://schemas.microsoft.com/office/drawing/2014/main" val="3816300444"/>
                    </a:ext>
                  </a:extLst>
                </a:gridCol>
                <a:gridCol w="608783">
                  <a:extLst>
                    <a:ext uri="{9D8B030D-6E8A-4147-A177-3AD203B41FA5}">
                      <a16:colId xmlns:a16="http://schemas.microsoft.com/office/drawing/2014/main" val="4137233334"/>
                    </a:ext>
                  </a:extLst>
                </a:gridCol>
                <a:gridCol w="608783">
                  <a:extLst>
                    <a:ext uri="{9D8B030D-6E8A-4147-A177-3AD203B41FA5}">
                      <a16:colId xmlns:a16="http://schemas.microsoft.com/office/drawing/2014/main" val="856223283"/>
                    </a:ext>
                  </a:extLst>
                </a:gridCol>
                <a:gridCol w="608783">
                  <a:extLst>
                    <a:ext uri="{9D8B030D-6E8A-4147-A177-3AD203B41FA5}">
                      <a16:colId xmlns:a16="http://schemas.microsoft.com/office/drawing/2014/main" val="3097740924"/>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538177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823969373"/>
                  </a:ext>
                </a:extLst>
              </a:tr>
            </a:tbl>
          </a:graphicData>
        </a:graphic>
      </p:graphicFrame>
      <p:sp>
        <p:nvSpPr>
          <p:cNvPr id="27" name="文字方塊 26">
            <a:extLst>
              <a:ext uri="{FF2B5EF4-FFF2-40B4-BE49-F238E27FC236}">
                <a16:creationId xmlns:a16="http://schemas.microsoft.com/office/drawing/2014/main" id="{7258FF50-33C4-4EAA-91C3-55FCD4130F13}"/>
              </a:ext>
            </a:extLst>
          </p:cNvPr>
          <p:cNvSpPr txBox="1"/>
          <p:nvPr/>
        </p:nvSpPr>
        <p:spPr>
          <a:xfrm>
            <a:off x="838200" y="1656944"/>
            <a:ext cx="10879318" cy="1938992"/>
          </a:xfrm>
          <a:prstGeom prst="rect">
            <a:avLst/>
          </a:prstGeom>
          <a:noFill/>
        </p:spPr>
        <p:txBody>
          <a:bodyPr wrap="square" rtlCol="0">
            <a:spAutoFit/>
          </a:bodyPr>
          <a:lstStyle/>
          <a:p>
            <a:r>
              <a:rPr lang="zh-TW" altLang="en-US" sz="2400" dirty="0">
                <a:latin typeface="Times New Roman" panose="02020603050405020304" pitchFamily="18" charset="0"/>
                <a:ea typeface="標楷體" panose="03000509000000000000" pitchFamily="65" charset="-120"/>
              </a:rPr>
              <a:t>計算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q3]</a:t>
            </a:r>
            <a:r>
              <a:rPr lang="zh-TW" altLang="en-US" sz="2400" dirty="0">
                <a:latin typeface="Times New Roman" panose="02020603050405020304" pitchFamily="18" charset="0"/>
                <a:ea typeface="標楷體" panose="03000509000000000000" pitchFamily="65" charset="-120"/>
              </a:rPr>
              <a:t>：</a:t>
            </a:r>
            <a:endParaRPr lang="en-US" altLang="zh-TW" sz="2400" dirty="0">
              <a:latin typeface="Times New Roman" panose="02020603050405020304" pitchFamily="18" charset="0"/>
              <a:ea typeface="標楷體" panose="03000509000000000000" pitchFamily="65" charset="-120"/>
            </a:endParaRPr>
          </a:p>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已知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q2] = q1</a:t>
            </a:r>
          </a:p>
          <a:p>
            <a:r>
              <a:rPr lang="zh-TW" altLang="en-US" sz="2400" dirty="0">
                <a:latin typeface="Times New Roman" panose="02020603050405020304" pitchFamily="18" charset="0"/>
                <a:ea typeface="標楷體" panose="03000509000000000000" pitchFamily="65" charset="-120"/>
              </a:rPr>
              <a:t>從 </a:t>
            </a:r>
            <a:r>
              <a:rPr lang="en-US" altLang="zh-TW" sz="2400" dirty="0">
                <a:latin typeface="Times New Roman" panose="02020603050405020304" pitchFamily="18" charset="0"/>
                <a:ea typeface="標楷體" panose="03000509000000000000" pitchFamily="65" charset="-120"/>
              </a:rPr>
              <a:t>q1</a:t>
            </a:r>
            <a:r>
              <a:rPr lang="zh-TW" altLang="en-US" sz="2400" dirty="0">
                <a:latin typeface="Times New Roman" panose="02020603050405020304" pitchFamily="18" charset="0"/>
                <a:ea typeface="標楷體" panose="03000509000000000000" pitchFamily="65" charset="-120"/>
              </a:rPr>
              <a:t> 延伸到 </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=&gt; </a:t>
            </a:r>
            <a:r>
              <a:rPr lang="zh-TW" altLang="en-US" sz="2400" dirty="0">
                <a:latin typeface="Times New Roman" panose="02020603050405020304" pitchFamily="18" charset="0"/>
                <a:ea typeface="標楷體" panose="03000509000000000000" pitchFamily="65" charset="-120"/>
              </a:rPr>
              <a:t>失敗，根據</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 回溯到 </a:t>
            </a:r>
            <a:r>
              <a:rPr lang="en-US" altLang="zh-TW" sz="2400" dirty="0">
                <a:latin typeface="Times New Roman" panose="02020603050405020304" pitchFamily="18" charset="0"/>
                <a:ea typeface="標楷體" panose="03000509000000000000" pitchFamily="65" charset="-120"/>
              </a:rPr>
              <a:t>q1</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r>
              <a:rPr lang="zh-TW" altLang="en-US" sz="2400" dirty="0">
                <a:latin typeface="Times New Roman" panose="02020603050405020304" pitchFamily="18" charset="0"/>
                <a:ea typeface="標楷體" panose="03000509000000000000" pitchFamily="65" charset="-120"/>
              </a:rPr>
              <a:t>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q1]</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q0</a:t>
            </a:r>
            <a:r>
              <a:rPr lang="zh-TW" altLang="en-US" sz="2400" dirty="0">
                <a:latin typeface="Times New Roman" panose="02020603050405020304" pitchFamily="18" charset="0"/>
                <a:ea typeface="標楷體" panose="03000509000000000000" pitchFamily="65" charset="-120"/>
              </a:rPr>
              <a:t>，延伸到 </a:t>
            </a:r>
            <a:r>
              <a:rPr lang="en-US" altLang="zh-TW" sz="2400" dirty="0">
                <a:latin typeface="Times New Roman" panose="02020603050405020304" pitchFamily="18" charset="0"/>
                <a:ea typeface="標楷體" panose="03000509000000000000" pitchFamily="65" charset="-120"/>
              </a:rPr>
              <a:t>q1 =&gt; </a:t>
            </a:r>
            <a:r>
              <a:rPr lang="zh-TW" altLang="en-US" sz="2400" dirty="0">
                <a:latin typeface="Times New Roman" panose="02020603050405020304" pitchFamily="18" charset="0"/>
                <a:ea typeface="標楷體" panose="03000509000000000000" pitchFamily="65" charset="-120"/>
              </a:rPr>
              <a:t>成功</a:t>
            </a:r>
            <a:endParaRPr lang="en-US" altLang="zh-TW" sz="2400" dirty="0">
              <a:latin typeface="Times New Roman" panose="02020603050405020304" pitchFamily="18" charset="0"/>
              <a:ea typeface="標楷體" panose="03000509000000000000" pitchFamily="65" charset="-120"/>
            </a:endParaRPr>
          </a:p>
        </p:txBody>
      </p:sp>
    </p:spTree>
    <p:extLst>
      <p:ext uri="{BB962C8B-B14F-4D97-AF65-F5344CB8AC3E}">
        <p14:creationId xmlns:p14="http://schemas.microsoft.com/office/powerpoint/2010/main" val="898372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9A97DF8E-9960-46A3-B57A-2E33E3C5570B}"/>
              </a:ext>
            </a:extLst>
          </p:cNvPr>
          <p:cNvPicPr>
            <a:picLocks noChangeAspect="1"/>
          </p:cNvPicPr>
          <p:nvPr/>
        </p:nvPicPr>
        <p:blipFill>
          <a:blip r:embed="rId2"/>
          <a:stretch>
            <a:fillRect/>
          </a:stretch>
        </p:blipFill>
        <p:spPr>
          <a:xfrm>
            <a:off x="4744969" y="24296"/>
            <a:ext cx="7447031" cy="3429000"/>
          </a:xfrm>
          <a:prstGeom prst="rect">
            <a:avLst/>
          </a:prstGeom>
        </p:spPr>
      </p:pic>
      <p:sp>
        <p:nvSpPr>
          <p:cNvPr id="7" name="文字方塊 6">
            <a:extLst>
              <a:ext uri="{FF2B5EF4-FFF2-40B4-BE49-F238E27FC236}">
                <a16:creationId xmlns:a16="http://schemas.microsoft.com/office/drawing/2014/main" id="{CB3D6AC7-30EB-45DC-8FBB-A2B11A9FC48E}"/>
              </a:ext>
            </a:extLst>
          </p:cNvPr>
          <p:cNvSpPr txBox="1"/>
          <p:nvPr/>
        </p:nvSpPr>
        <p:spPr>
          <a:xfrm>
            <a:off x="838200" y="1656944"/>
            <a:ext cx="10879318" cy="2677656"/>
          </a:xfrm>
          <a:prstGeom prst="rect">
            <a:avLst/>
          </a:prstGeom>
          <a:noFill/>
        </p:spPr>
        <p:txBody>
          <a:bodyPr wrap="square" rtlCol="0">
            <a:spAutoFit/>
          </a:bodyPr>
          <a:lstStyle/>
          <a:p>
            <a:r>
              <a:rPr lang="zh-TW" altLang="en-US" sz="2400" dirty="0">
                <a:latin typeface="Times New Roman" panose="02020603050405020304" pitchFamily="18" charset="0"/>
                <a:ea typeface="標楷體" panose="03000509000000000000" pitchFamily="65" charset="-120"/>
              </a:rPr>
              <a:t>計算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q7]</a:t>
            </a:r>
            <a:r>
              <a:rPr lang="zh-TW" altLang="en-US" sz="2400" dirty="0">
                <a:latin typeface="Times New Roman" panose="02020603050405020304" pitchFamily="18" charset="0"/>
                <a:ea typeface="標楷體" panose="03000509000000000000" pitchFamily="65" charset="-120"/>
              </a:rPr>
              <a:t>：</a:t>
            </a:r>
            <a:endParaRPr lang="en-US" altLang="zh-TW" sz="2400" dirty="0">
              <a:latin typeface="Times New Roman" panose="02020603050405020304" pitchFamily="18" charset="0"/>
              <a:ea typeface="標楷體" panose="03000509000000000000" pitchFamily="65" charset="-120"/>
            </a:endParaRPr>
          </a:p>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已知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q5] = q2</a:t>
            </a:r>
          </a:p>
          <a:p>
            <a:r>
              <a:rPr lang="zh-TW" altLang="en-US" sz="2400" dirty="0">
                <a:latin typeface="Times New Roman" panose="02020603050405020304" pitchFamily="18" charset="0"/>
                <a:ea typeface="標楷體" panose="03000509000000000000" pitchFamily="65" charset="-120"/>
              </a:rPr>
              <a:t>從 </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 延伸到 </a:t>
            </a:r>
            <a:r>
              <a:rPr lang="en-US" altLang="zh-TW" sz="2400" dirty="0">
                <a:latin typeface="Times New Roman" panose="02020603050405020304" pitchFamily="18" charset="0"/>
                <a:ea typeface="標楷體" panose="03000509000000000000" pitchFamily="65" charset="-120"/>
              </a:rPr>
              <a:t>q3</a:t>
            </a:r>
            <a:r>
              <a:rPr lang="zh-TW" altLang="en-US" sz="2400" dirty="0">
                <a:latin typeface="Times New Roman" panose="02020603050405020304" pitchFamily="18" charset="0"/>
                <a:ea typeface="標楷體" panose="03000509000000000000" pitchFamily="65" charset="-120"/>
              </a:rPr>
              <a:t>、</a:t>
            </a:r>
            <a:r>
              <a:rPr lang="en-US" altLang="zh-TW" sz="2400" dirty="0">
                <a:latin typeface="Times New Roman" panose="02020603050405020304" pitchFamily="18" charset="0"/>
                <a:ea typeface="標楷體" panose="03000509000000000000" pitchFamily="65" charset="-120"/>
              </a:rPr>
              <a:t>q4  </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=&gt; </a:t>
            </a:r>
            <a:r>
              <a:rPr lang="zh-TW" altLang="en-US" sz="2400" dirty="0">
                <a:latin typeface="Times New Roman" panose="02020603050405020304" pitchFamily="18" charset="0"/>
                <a:ea typeface="標楷體" panose="03000509000000000000" pitchFamily="65" charset="-120"/>
              </a:rPr>
              <a:t>失敗，回溯到 </a:t>
            </a:r>
            <a:r>
              <a:rPr lang="en-US" altLang="zh-TW" sz="2400" dirty="0">
                <a:latin typeface="Times New Roman" panose="02020603050405020304" pitchFamily="18" charset="0"/>
                <a:ea typeface="標楷體" panose="03000509000000000000" pitchFamily="65" charset="-120"/>
              </a:rPr>
              <a:t>q2</a:t>
            </a:r>
          </a:p>
          <a:p>
            <a:r>
              <a:rPr lang="zh-TW" altLang="en-US" sz="2400" dirty="0">
                <a:latin typeface="Times New Roman" panose="02020603050405020304" pitchFamily="18" charset="0"/>
                <a:ea typeface="標楷體" panose="03000509000000000000" pitchFamily="65" charset="-120"/>
              </a:rPr>
              <a:t>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q1</a:t>
            </a:r>
            <a:r>
              <a:rPr lang="zh-TW" altLang="en-US" sz="2400" dirty="0">
                <a:latin typeface="Times New Roman" panose="02020603050405020304" pitchFamily="18" charset="0"/>
                <a:ea typeface="標楷體" panose="03000509000000000000" pitchFamily="65" charset="-120"/>
              </a:rPr>
              <a:t>，延伸到 </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=&gt;</a:t>
            </a:r>
            <a:r>
              <a:rPr lang="zh-TW" altLang="en-US" sz="2400" dirty="0">
                <a:latin typeface="Times New Roman" panose="02020603050405020304" pitchFamily="18" charset="0"/>
                <a:ea typeface="標楷體" panose="03000509000000000000" pitchFamily="65" charset="-120"/>
              </a:rPr>
              <a:t> 失敗，回溯到 </a:t>
            </a:r>
            <a:r>
              <a:rPr lang="en-US" altLang="zh-TW" sz="2400" dirty="0">
                <a:latin typeface="Times New Roman" panose="02020603050405020304" pitchFamily="18" charset="0"/>
                <a:ea typeface="標楷體" panose="03000509000000000000" pitchFamily="65" charset="-120"/>
              </a:rPr>
              <a:t>q1</a:t>
            </a:r>
          </a:p>
          <a:p>
            <a:r>
              <a:rPr lang="zh-TW" altLang="en-US" sz="2400" dirty="0">
                <a:latin typeface="Times New Roman" panose="02020603050405020304" pitchFamily="18" charset="0"/>
                <a:ea typeface="標楷體" panose="03000509000000000000" pitchFamily="65" charset="-120"/>
              </a:rPr>
              <a:t>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q1] = q0</a:t>
            </a:r>
            <a:r>
              <a:rPr lang="zh-TW" altLang="en-US" sz="2400" dirty="0">
                <a:latin typeface="Times New Roman" panose="02020603050405020304" pitchFamily="18" charset="0"/>
                <a:ea typeface="標楷體" panose="03000509000000000000" pitchFamily="65" charset="-120"/>
              </a:rPr>
              <a:t>，延伸到 </a:t>
            </a:r>
            <a:r>
              <a:rPr lang="en-US" altLang="zh-TW" sz="2400" dirty="0">
                <a:latin typeface="Times New Roman" panose="02020603050405020304" pitchFamily="18" charset="0"/>
                <a:ea typeface="標楷體" panose="03000509000000000000" pitchFamily="65" charset="-120"/>
              </a:rPr>
              <a:t>q1 =&gt;</a:t>
            </a:r>
            <a:r>
              <a:rPr lang="zh-TW" altLang="en-US" sz="2400" dirty="0">
                <a:latin typeface="Times New Roman" panose="02020603050405020304" pitchFamily="18" charset="0"/>
                <a:ea typeface="標楷體" panose="03000509000000000000" pitchFamily="65" charset="-120"/>
              </a:rPr>
              <a:t> 成功</a:t>
            </a:r>
            <a:endParaRPr lang="en-US" altLang="zh-TW" sz="2400" dirty="0">
              <a:latin typeface="Times New Roman" panose="02020603050405020304" pitchFamily="18" charset="0"/>
              <a:ea typeface="標楷體" panose="03000509000000000000" pitchFamily="65" charset="-120"/>
            </a:endParaRPr>
          </a:p>
          <a:p>
            <a:endParaRPr lang="en-US" altLang="zh-TW" sz="2400" dirty="0">
              <a:latin typeface="Times New Roman" panose="02020603050405020304" pitchFamily="18" charset="0"/>
              <a:ea typeface="標楷體" panose="03000509000000000000" pitchFamily="65" charset="-120"/>
            </a:endParaRPr>
          </a:p>
        </p:txBody>
      </p:sp>
      <p:cxnSp>
        <p:nvCxnSpPr>
          <p:cNvPr id="8" name="直線單箭頭接點 7">
            <a:extLst>
              <a:ext uri="{FF2B5EF4-FFF2-40B4-BE49-F238E27FC236}">
                <a16:creationId xmlns:a16="http://schemas.microsoft.com/office/drawing/2014/main" id="{9646E3DD-16F2-4243-A87C-E92A8FBAA3E0}"/>
              </a:ext>
            </a:extLst>
          </p:cNvPr>
          <p:cNvCxnSpPr>
            <a:cxnSpLocks/>
          </p:cNvCxnSpPr>
          <p:nvPr/>
        </p:nvCxnSpPr>
        <p:spPr>
          <a:xfrm>
            <a:off x="8568966" y="292231"/>
            <a:ext cx="952106" cy="7356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表格 9">
            <a:extLst>
              <a:ext uri="{FF2B5EF4-FFF2-40B4-BE49-F238E27FC236}">
                <a16:creationId xmlns:a16="http://schemas.microsoft.com/office/drawing/2014/main" id="{DAF39788-6EC7-452C-808B-C006C9FF4B0C}"/>
              </a:ext>
            </a:extLst>
          </p:cNvPr>
          <p:cNvGraphicFramePr>
            <a:graphicFrameLocks noGrp="1"/>
          </p:cNvGraphicFramePr>
          <p:nvPr>
            <p:extLst>
              <p:ext uri="{D42A27DB-BD31-4B8C-83A1-F6EECF244321}">
                <p14:modId xmlns:p14="http://schemas.microsoft.com/office/powerpoint/2010/main" val="1778613632"/>
              </p:ext>
            </p:extLst>
          </p:nvPr>
        </p:nvGraphicFramePr>
        <p:xfrm>
          <a:off x="838200" y="4287915"/>
          <a:ext cx="4158008" cy="914400"/>
        </p:xfrm>
        <a:graphic>
          <a:graphicData uri="http://schemas.openxmlformats.org/drawingml/2006/table">
            <a:tbl>
              <a:tblPr firstRow="1" bandRow="1">
                <a:tableStyleId>{5940675A-B579-460E-94D1-54222C63F5DA}</a:tableStyleId>
              </a:tblPr>
              <a:tblGrid>
                <a:gridCol w="1114093">
                  <a:extLst>
                    <a:ext uri="{9D8B030D-6E8A-4147-A177-3AD203B41FA5}">
                      <a16:colId xmlns:a16="http://schemas.microsoft.com/office/drawing/2014/main" val="2045651414"/>
                    </a:ext>
                  </a:extLst>
                </a:gridCol>
                <a:gridCol w="608783">
                  <a:extLst>
                    <a:ext uri="{9D8B030D-6E8A-4147-A177-3AD203B41FA5}">
                      <a16:colId xmlns:a16="http://schemas.microsoft.com/office/drawing/2014/main" val="368393942"/>
                    </a:ext>
                  </a:extLst>
                </a:gridCol>
                <a:gridCol w="608783">
                  <a:extLst>
                    <a:ext uri="{9D8B030D-6E8A-4147-A177-3AD203B41FA5}">
                      <a16:colId xmlns:a16="http://schemas.microsoft.com/office/drawing/2014/main" val="3816300444"/>
                    </a:ext>
                  </a:extLst>
                </a:gridCol>
                <a:gridCol w="608783">
                  <a:extLst>
                    <a:ext uri="{9D8B030D-6E8A-4147-A177-3AD203B41FA5}">
                      <a16:colId xmlns:a16="http://schemas.microsoft.com/office/drawing/2014/main" val="4137233334"/>
                    </a:ext>
                  </a:extLst>
                </a:gridCol>
                <a:gridCol w="608783">
                  <a:extLst>
                    <a:ext uri="{9D8B030D-6E8A-4147-A177-3AD203B41FA5}">
                      <a16:colId xmlns:a16="http://schemas.microsoft.com/office/drawing/2014/main" val="856223283"/>
                    </a:ext>
                  </a:extLst>
                </a:gridCol>
                <a:gridCol w="608783">
                  <a:extLst>
                    <a:ext uri="{9D8B030D-6E8A-4147-A177-3AD203B41FA5}">
                      <a16:colId xmlns:a16="http://schemas.microsoft.com/office/drawing/2014/main" val="3097740924"/>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sz="2400" baseline="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5381776"/>
                  </a:ext>
                </a:extLst>
              </a:tr>
              <a:tr h="370840">
                <a:tc>
                  <a:txBody>
                    <a:bodyPr/>
                    <a:lstStyle/>
                    <a:p>
                      <a:pPr algn="ctr"/>
                      <a:r>
                        <a:rPr lang="en-US" altLang="zh-TW" sz="2400" baseline="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extLst>
                  <a:ext uri="{0D108BD9-81ED-4DB2-BD59-A6C34878D82A}">
                    <a16:rowId xmlns:a16="http://schemas.microsoft.com/office/drawing/2014/main" val="3823969373"/>
                  </a:ext>
                </a:extLst>
              </a:tr>
            </a:tbl>
          </a:graphicData>
        </a:graphic>
      </p:graphicFrame>
      <p:graphicFrame>
        <p:nvGraphicFramePr>
          <p:cNvPr id="15" name="表格 14">
            <a:extLst>
              <a:ext uri="{FF2B5EF4-FFF2-40B4-BE49-F238E27FC236}">
                <a16:creationId xmlns:a16="http://schemas.microsoft.com/office/drawing/2014/main" id="{E7041AA4-C7A5-4939-B2E0-D44239075297}"/>
              </a:ext>
            </a:extLst>
          </p:cNvPr>
          <p:cNvGraphicFramePr>
            <a:graphicFrameLocks noGrp="1"/>
          </p:cNvGraphicFramePr>
          <p:nvPr>
            <p:extLst>
              <p:ext uri="{D42A27DB-BD31-4B8C-83A1-F6EECF244321}">
                <p14:modId xmlns:p14="http://schemas.microsoft.com/office/powerpoint/2010/main" val="2294914181"/>
              </p:ext>
            </p:extLst>
          </p:nvPr>
        </p:nvGraphicFramePr>
        <p:xfrm>
          <a:off x="5954990" y="4292979"/>
          <a:ext cx="4158008" cy="914400"/>
        </p:xfrm>
        <a:graphic>
          <a:graphicData uri="http://schemas.openxmlformats.org/drawingml/2006/table">
            <a:tbl>
              <a:tblPr firstRow="1" bandRow="1">
                <a:tableStyleId>{5940675A-B579-460E-94D1-54222C63F5DA}</a:tableStyleId>
              </a:tblPr>
              <a:tblGrid>
                <a:gridCol w="1114093">
                  <a:extLst>
                    <a:ext uri="{9D8B030D-6E8A-4147-A177-3AD203B41FA5}">
                      <a16:colId xmlns:a16="http://schemas.microsoft.com/office/drawing/2014/main" val="2045651414"/>
                    </a:ext>
                  </a:extLst>
                </a:gridCol>
                <a:gridCol w="608783">
                  <a:extLst>
                    <a:ext uri="{9D8B030D-6E8A-4147-A177-3AD203B41FA5}">
                      <a16:colId xmlns:a16="http://schemas.microsoft.com/office/drawing/2014/main" val="368393942"/>
                    </a:ext>
                  </a:extLst>
                </a:gridCol>
                <a:gridCol w="608783">
                  <a:extLst>
                    <a:ext uri="{9D8B030D-6E8A-4147-A177-3AD203B41FA5}">
                      <a16:colId xmlns:a16="http://schemas.microsoft.com/office/drawing/2014/main" val="3816300444"/>
                    </a:ext>
                  </a:extLst>
                </a:gridCol>
                <a:gridCol w="608783">
                  <a:extLst>
                    <a:ext uri="{9D8B030D-6E8A-4147-A177-3AD203B41FA5}">
                      <a16:colId xmlns:a16="http://schemas.microsoft.com/office/drawing/2014/main" val="4137233334"/>
                    </a:ext>
                  </a:extLst>
                </a:gridCol>
                <a:gridCol w="608783">
                  <a:extLst>
                    <a:ext uri="{9D8B030D-6E8A-4147-A177-3AD203B41FA5}">
                      <a16:colId xmlns:a16="http://schemas.microsoft.com/office/drawing/2014/main" val="856223283"/>
                    </a:ext>
                  </a:extLst>
                </a:gridCol>
                <a:gridCol w="608783">
                  <a:extLst>
                    <a:ext uri="{9D8B030D-6E8A-4147-A177-3AD203B41FA5}">
                      <a16:colId xmlns:a16="http://schemas.microsoft.com/office/drawing/2014/main" val="3097740924"/>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5381776"/>
                  </a:ext>
                </a:extLst>
              </a:tr>
              <a:tr h="370840">
                <a:tc>
                  <a:txBody>
                    <a:bodyPr/>
                    <a:lstStyle/>
                    <a:p>
                      <a:pPr algn="ctr"/>
                      <a:r>
                        <a:rPr lang="en-US" altLang="zh-TW" sz="2400" baseline="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extLst>
                  <a:ext uri="{0D108BD9-81ED-4DB2-BD59-A6C34878D82A}">
                    <a16:rowId xmlns:a16="http://schemas.microsoft.com/office/drawing/2014/main" val="3823969373"/>
                  </a:ext>
                </a:extLst>
              </a:tr>
            </a:tbl>
          </a:graphicData>
        </a:graphic>
      </p:graphicFrame>
      <p:graphicFrame>
        <p:nvGraphicFramePr>
          <p:cNvPr id="5" name="表格 4">
            <a:extLst>
              <a:ext uri="{FF2B5EF4-FFF2-40B4-BE49-F238E27FC236}">
                <a16:creationId xmlns:a16="http://schemas.microsoft.com/office/drawing/2014/main" id="{1E26732A-C8AE-4C3C-8E07-BB29DEF4926F}"/>
              </a:ext>
            </a:extLst>
          </p:cNvPr>
          <p:cNvGraphicFramePr>
            <a:graphicFrameLocks noGrp="1"/>
          </p:cNvGraphicFramePr>
          <p:nvPr>
            <p:extLst>
              <p:ext uri="{D42A27DB-BD31-4B8C-83A1-F6EECF244321}">
                <p14:modId xmlns:p14="http://schemas.microsoft.com/office/powerpoint/2010/main" val="3962491654"/>
              </p:ext>
            </p:extLst>
          </p:nvPr>
        </p:nvGraphicFramePr>
        <p:xfrm>
          <a:off x="5954990" y="5651369"/>
          <a:ext cx="4158008" cy="914400"/>
        </p:xfrm>
        <a:graphic>
          <a:graphicData uri="http://schemas.openxmlformats.org/drawingml/2006/table">
            <a:tbl>
              <a:tblPr firstRow="1" bandRow="1">
                <a:tableStyleId>{5940675A-B579-460E-94D1-54222C63F5DA}</a:tableStyleId>
              </a:tblPr>
              <a:tblGrid>
                <a:gridCol w="1114093">
                  <a:extLst>
                    <a:ext uri="{9D8B030D-6E8A-4147-A177-3AD203B41FA5}">
                      <a16:colId xmlns:a16="http://schemas.microsoft.com/office/drawing/2014/main" val="2045651414"/>
                    </a:ext>
                  </a:extLst>
                </a:gridCol>
                <a:gridCol w="608783">
                  <a:extLst>
                    <a:ext uri="{9D8B030D-6E8A-4147-A177-3AD203B41FA5}">
                      <a16:colId xmlns:a16="http://schemas.microsoft.com/office/drawing/2014/main" val="368393942"/>
                    </a:ext>
                  </a:extLst>
                </a:gridCol>
                <a:gridCol w="608783">
                  <a:extLst>
                    <a:ext uri="{9D8B030D-6E8A-4147-A177-3AD203B41FA5}">
                      <a16:colId xmlns:a16="http://schemas.microsoft.com/office/drawing/2014/main" val="3816300444"/>
                    </a:ext>
                  </a:extLst>
                </a:gridCol>
                <a:gridCol w="608783">
                  <a:extLst>
                    <a:ext uri="{9D8B030D-6E8A-4147-A177-3AD203B41FA5}">
                      <a16:colId xmlns:a16="http://schemas.microsoft.com/office/drawing/2014/main" val="4137233334"/>
                    </a:ext>
                  </a:extLst>
                </a:gridCol>
                <a:gridCol w="608783">
                  <a:extLst>
                    <a:ext uri="{9D8B030D-6E8A-4147-A177-3AD203B41FA5}">
                      <a16:colId xmlns:a16="http://schemas.microsoft.com/office/drawing/2014/main" val="856223283"/>
                    </a:ext>
                  </a:extLst>
                </a:gridCol>
                <a:gridCol w="608783">
                  <a:extLst>
                    <a:ext uri="{9D8B030D-6E8A-4147-A177-3AD203B41FA5}">
                      <a16:colId xmlns:a16="http://schemas.microsoft.com/office/drawing/2014/main" val="3097740924"/>
                    </a:ext>
                  </a:extLst>
                </a:gridCol>
              </a:tblGrid>
              <a:tr h="262432">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5381776"/>
                  </a:ext>
                </a:extLst>
              </a:tr>
              <a:tr h="370840">
                <a:tc>
                  <a:txBody>
                    <a:bodyPr/>
                    <a:lstStyle/>
                    <a:p>
                      <a:pPr algn="ctr"/>
                      <a:r>
                        <a:rPr lang="en-US" altLang="zh-TW" sz="2400" baseline="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53</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extLst>
                  <a:ext uri="{0D108BD9-81ED-4DB2-BD59-A6C34878D82A}">
                    <a16:rowId xmlns:a16="http://schemas.microsoft.com/office/drawing/2014/main" val="3823969373"/>
                  </a:ext>
                </a:extLst>
              </a:tr>
            </a:tbl>
          </a:graphicData>
        </a:graphic>
      </p:graphicFrame>
      <p:graphicFrame>
        <p:nvGraphicFramePr>
          <p:cNvPr id="12" name="表格 11">
            <a:extLst>
              <a:ext uri="{FF2B5EF4-FFF2-40B4-BE49-F238E27FC236}">
                <a16:creationId xmlns:a16="http://schemas.microsoft.com/office/drawing/2014/main" id="{DFAB5230-4684-45A9-88E3-ECDB5D06BC6D}"/>
              </a:ext>
            </a:extLst>
          </p:cNvPr>
          <p:cNvGraphicFramePr>
            <a:graphicFrameLocks noGrp="1"/>
          </p:cNvGraphicFramePr>
          <p:nvPr>
            <p:extLst>
              <p:ext uri="{D42A27DB-BD31-4B8C-83A1-F6EECF244321}">
                <p14:modId xmlns:p14="http://schemas.microsoft.com/office/powerpoint/2010/main" val="1304824538"/>
              </p:ext>
            </p:extLst>
          </p:nvPr>
        </p:nvGraphicFramePr>
        <p:xfrm>
          <a:off x="838200" y="5651369"/>
          <a:ext cx="4158008" cy="914400"/>
        </p:xfrm>
        <a:graphic>
          <a:graphicData uri="http://schemas.openxmlformats.org/drawingml/2006/table">
            <a:tbl>
              <a:tblPr firstRow="1" bandRow="1">
                <a:tableStyleId>{5940675A-B579-460E-94D1-54222C63F5DA}</a:tableStyleId>
              </a:tblPr>
              <a:tblGrid>
                <a:gridCol w="1114093">
                  <a:extLst>
                    <a:ext uri="{9D8B030D-6E8A-4147-A177-3AD203B41FA5}">
                      <a16:colId xmlns:a16="http://schemas.microsoft.com/office/drawing/2014/main" val="2045651414"/>
                    </a:ext>
                  </a:extLst>
                </a:gridCol>
                <a:gridCol w="608783">
                  <a:extLst>
                    <a:ext uri="{9D8B030D-6E8A-4147-A177-3AD203B41FA5}">
                      <a16:colId xmlns:a16="http://schemas.microsoft.com/office/drawing/2014/main" val="368393942"/>
                    </a:ext>
                  </a:extLst>
                </a:gridCol>
                <a:gridCol w="608783">
                  <a:extLst>
                    <a:ext uri="{9D8B030D-6E8A-4147-A177-3AD203B41FA5}">
                      <a16:colId xmlns:a16="http://schemas.microsoft.com/office/drawing/2014/main" val="3816300444"/>
                    </a:ext>
                  </a:extLst>
                </a:gridCol>
                <a:gridCol w="608783">
                  <a:extLst>
                    <a:ext uri="{9D8B030D-6E8A-4147-A177-3AD203B41FA5}">
                      <a16:colId xmlns:a16="http://schemas.microsoft.com/office/drawing/2014/main" val="4137233334"/>
                    </a:ext>
                  </a:extLst>
                </a:gridCol>
                <a:gridCol w="608783">
                  <a:extLst>
                    <a:ext uri="{9D8B030D-6E8A-4147-A177-3AD203B41FA5}">
                      <a16:colId xmlns:a16="http://schemas.microsoft.com/office/drawing/2014/main" val="856223283"/>
                    </a:ext>
                  </a:extLst>
                </a:gridCol>
                <a:gridCol w="608783">
                  <a:extLst>
                    <a:ext uri="{9D8B030D-6E8A-4147-A177-3AD203B41FA5}">
                      <a16:colId xmlns:a16="http://schemas.microsoft.com/office/drawing/2014/main" val="3097740924"/>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sz="2400" baseline="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5381776"/>
                  </a:ext>
                </a:extLst>
              </a:tr>
              <a:tr h="370840">
                <a:tc>
                  <a:txBody>
                    <a:bodyPr/>
                    <a:lstStyle/>
                    <a:p>
                      <a:pPr algn="ctr"/>
                      <a:r>
                        <a:rPr lang="en-US" altLang="zh-TW" sz="2400" baseline="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15</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53</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47</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extLst>
                  <a:ext uri="{0D108BD9-81ED-4DB2-BD59-A6C34878D82A}">
                    <a16:rowId xmlns:a16="http://schemas.microsoft.com/office/drawing/2014/main" val="3823969373"/>
                  </a:ext>
                </a:extLst>
              </a:tr>
            </a:tbl>
          </a:graphicData>
        </a:graphic>
      </p:graphicFrame>
      <p:cxnSp>
        <p:nvCxnSpPr>
          <p:cNvPr id="18" name="接點: 肘形 17">
            <a:extLst>
              <a:ext uri="{FF2B5EF4-FFF2-40B4-BE49-F238E27FC236}">
                <a16:creationId xmlns:a16="http://schemas.microsoft.com/office/drawing/2014/main" id="{D7FC84FE-A4D3-4FF6-95D4-49BBAE52BA09}"/>
              </a:ext>
            </a:extLst>
          </p:cNvPr>
          <p:cNvCxnSpPr>
            <a:cxnSpLocks/>
            <a:endCxn id="22" idx="1"/>
          </p:cNvCxnSpPr>
          <p:nvPr/>
        </p:nvCxnSpPr>
        <p:spPr>
          <a:xfrm rot="5400000">
            <a:off x="-537469" y="4089422"/>
            <a:ext cx="2485916" cy="298615"/>
          </a:xfrm>
          <a:prstGeom prst="bentConnector4">
            <a:avLst>
              <a:gd name="adj1" fmla="val 229"/>
              <a:gd name="adj2" fmla="val 17655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左大括弧 21">
            <a:extLst>
              <a:ext uri="{FF2B5EF4-FFF2-40B4-BE49-F238E27FC236}">
                <a16:creationId xmlns:a16="http://schemas.microsoft.com/office/drawing/2014/main" id="{CA5A279F-AF5C-4FF2-9D46-046410AE0C3D}"/>
              </a:ext>
            </a:extLst>
          </p:cNvPr>
          <p:cNvSpPr/>
          <p:nvPr/>
        </p:nvSpPr>
        <p:spPr>
          <a:xfrm>
            <a:off x="556181" y="4590854"/>
            <a:ext cx="282019" cy="1781666"/>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26" name="直線單箭頭接點 25">
            <a:extLst>
              <a:ext uri="{FF2B5EF4-FFF2-40B4-BE49-F238E27FC236}">
                <a16:creationId xmlns:a16="http://schemas.microsoft.com/office/drawing/2014/main" id="{F8CC915E-4A73-444B-951E-43243B812B40}"/>
              </a:ext>
            </a:extLst>
          </p:cNvPr>
          <p:cNvCxnSpPr/>
          <p:nvPr/>
        </p:nvCxnSpPr>
        <p:spPr>
          <a:xfrm>
            <a:off x="6277859" y="3582186"/>
            <a:ext cx="0" cy="7524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C6A2AAAD-AF62-4BB2-B0F4-0DA7514C1176}"/>
              </a:ext>
            </a:extLst>
          </p:cNvPr>
          <p:cNvCxnSpPr>
            <a:cxnSpLocks/>
          </p:cNvCxnSpPr>
          <p:nvPr/>
        </p:nvCxnSpPr>
        <p:spPr>
          <a:xfrm>
            <a:off x="5279010" y="3756235"/>
            <a:ext cx="816990" cy="198468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7017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9A97DF8E-9960-46A3-B57A-2E33E3C5570B}"/>
              </a:ext>
            </a:extLst>
          </p:cNvPr>
          <p:cNvPicPr>
            <a:picLocks noChangeAspect="1"/>
          </p:cNvPicPr>
          <p:nvPr/>
        </p:nvPicPr>
        <p:blipFill>
          <a:blip r:embed="rId2"/>
          <a:stretch>
            <a:fillRect/>
          </a:stretch>
        </p:blipFill>
        <p:spPr>
          <a:xfrm>
            <a:off x="4744969" y="24296"/>
            <a:ext cx="7447031" cy="3429000"/>
          </a:xfrm>
          <a:prstGeom prst="rect">
            <a:avLst/>
          </a:prstGeom>
        </p:spPr>
      </p:pic>
      <p:cxnSp>
        <p:nvCxnSpPr>
          <p:cNvPr id="8" name="直線單箭頭接點 7">
            <a:extLst>
              <a:ext uri="{FF2B5EF4-FFF2-40B4-BE49-F238E27FC236}">
                <a16:creationId xmlns:a16="http://schemas.microsoft.com/office/drawing/2014/main" id="{9646E3DD-16F2-4243-A87C-E92A8FBAA3E0}"/>
              </a:ext>
            </a:extLst>
          </p:cNvPr>
          <p:cNvCxnSpPr>
            <a:cxnSpLocks/>
          </p:cNvCxnSpPr>
          <p:nvPr/>
        </p:nvCxnSpPr>
        <p:spPr>
          <a:xfrm>
            <a:off x="9274796" y="194997"/>
            <a:ext cx="1055802" cy="154379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表格 9">
            <a:extLst>
              <a:ext uri="{FF2B5EF4-FFF2-40B4-BE49-F238E27FC236}">
                <a16:creationId xmlns:a16="http://schemas.microsoft.com/office/drawing/2014/main" id="{DAF39788-6EC7-452C-808B-C006C9FF4B0C}"/>
              </a:ext>
            </a:extLst>
          </p:cNvPr>
          <p:cNvGraphicFramePr>
            <a:graphicFrameLocks noGrp="1"/>
          </p:cNvGraphicFramePr>
          <p:nvPr>
            <p:extLst>
              <p:ext uri="{D42A27DB-BD31-4B8C-83A1-F6EECF244321}">
                <p14:modId xmlns:p14="http://schemas.microsoft.com/office/powerpoint/2010/main" val="3049156930"/>
              </p:ext>
            </p:extLst>
          </p:nvPr>
        </p:nvGraphicFramePr>
        <p:xfrm>
          <a:off x="586963" y="4171544"/>
          <a:ext cx="4158006" cy="914400"/>
        </p:xfrm>
        <a:graphic>
          <a:graphicData uri="http://schemas.openxmlformats.org/drawingml/2006/table">
            <a:tbl>
              <a:tblPr firstRow="1" bandRow="1">
                <a:tableStyleId>{5940675A-B579-460E-94D1-54222C63F5DA}</a:tableStyleId>
              </a:tblPr>
              <a:tblGrid>
                <a:gridCol w="971808">
                  <a:extLst>
                    <a:ext uri="{9D8B030D-6E8A-4147-A177-3AD203B41FA5}">
                      <a16:colId xmlns:a16="http://schemas.microsoft.com/office/drawing/2014/main" val="2045651414"/>
                    </a:ext>
                  </a:extLst>
                </a:gridCol>
                <a:gridCol w="531033">
                  <a:extLst>
                    <a:ext uri="{9D8B030D-6E8A-4147-A177-3AD203B41FA5}">
                      <a16:colId xmlns:a16="http://schemas.microsoft.com/office/drawing/2014/main" val="368393942"/>
                    </a:ext>
                  </a:extLst>
                </a:gridCol>
                <a:gridCol w="531033">
                  <a:extLst>
                    <a:ext uri="{9D8B030D-6E8A-4147-A177-3AD203B41FA5}">
                      <a16:colId xmlns:a16="http://schemas.microsoft.com/office/drawing/2014/main" val="3816300444"/>
                    </a:ext>
                  </a:extLst>
                </a:gridCol>
                <a:gridCol w="531033">
                  <a:extLst>
                    <a:ext uri="{9D8B030D-6E8A-4147-A177-3AD203B41FA5}">
                      <a16:colId xmlns:a16="http://schemas.microsoft.com/office/drawing/2014/main" val="4137233334"/>
                    </a:ext>
                  </a:extLst>
                </a:gridCol>
                <a:gridCol w="531033">
                  <a:extLst>
                    <a:ext uri="{9D8B030D-6E8A-4147-A177-3AD203B41FA5}">
                      <a16:colId xmlns:a16="http://schemas.microsoft.com/office/drawing/2014/main" val="856223283"/>
                    </a:ext>
                  </a:extLst>
                </a:gridCol>
                <a:gridCol w="531033">
                  <a:extLst>
                    <a:ext uri="{9D8B030D-6E8A-4147-A177-3AD203B41FA5}">
                      <a16:colId xmlns:a16="http://schemas.microsoft.com/office/drawing/2014/main" val="3097740924"/>
                    </a:ext>
                  </a:extLst>
                </a:gridCol>
                <a:gridCol w="531033">
                  <a:extLst>
                    <a:ext uri="{9D8B030D-6E8A-4147-A177-3AD203B41FA5}">
                      <a16:colId xmlns:a16="http://schemas.microsoft.com/office/drawing/2014/main" val="1969797923"/>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4175381776"/>
                  </a:ext>
                </a:extLst>
              </a:tr>
              <a:tr h="370840">
                <a:tc>
                  <a:txBody>
                    <a:bodyPr/>
                    <a:lstStyle/>
                    <a:p>
                      <a:pPr algn="ctr"/>
                      <a:r>
                        <a:rPr lang="en-US" altLang="zh-TW" sz="2400" baseline="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2</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71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84</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94</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823969373"/>
                  </a:ext>
                </a:extLst>
              </a:tr>
            </a:tbl>
          </a:graphicData>
        </a:graphic>
      </p:graphicFrame>
      <p:sp>
        <p:nvSpPr>
          <p:cNvPr id="11" name="文字方塊 10">
            <a:extLst>
              <a:ext uri="{FF2B5EF4-FFF2-40B4-BE49-F238E27FC236}">
                <a16:creationId xmlns:a16="http://schemas.microsoft.com/office/drawing/2014/main" id="{BB883136-E44C-46AE-9399-15E1FB2E823A}"/>
              </a:ext>
            </a:extLst>
          </p:cNvPr>
          <p:cNvSpPr txBox="1"/>
          <p:nvPr/>
        </p:nvSpPr>
        <p:spPr>
          <a:xfrm>
            <a:off x="838200" y="1656944"/>
            <a:ext cx="10879318" cy="1569660"/>
          </a:xfrm>
          <a:prstGeom prst="rect">
            <a:avLst/>
          </a:prstGeom>
          <a:noFill/>
        </p:spPr>
        <p:txBody>
          <a:bodyPr wrap="square" rtlCol="0">
            <a:spAutoFit/>
          </a:bodyPr>
          <a:lstStyle/>
          <a:p>
            <a:r>
              <a:rPr lang="zh-TW" altLang="en-US" sz="2400" dirty="0">
                <a:latin typeface="Times New Roman" panose="02020603050405020304" pitchFamily="18" charset="0"/>
                <a:ea typeface="標楷體" panose="03000509000000000000" pitchFamily="65" charset="-120"/>
              </a:rPr>
              <a:t>計算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q8]</a:t>
            </a:r>
            <a:r>
              <a:rPr lang="zh-TW" altLang="en-US" sz="2400" dirty="0">
                <a:latin typeface="Times New Roman" panose="02020603050405020304" pitchFamily="18" charset="0"/>
                <a:ea typeface="標楷體" panose="03000509000000000000" pitchFamily="65" charset="-120"/>
              </a:rPr>
              <a:t>：</a:t>
            </a:r>
            <a:endParaRPr lang="en-US" altLang="zh-TW" sz="2400" dirty="0">
              <a:latin typeface="Times New Roman" panose="02020603050405020304" pitchFamily="18" charset="0"/>
              <a:ea typeface="標楷體" panose="03000509000000000000" pitchFamily="65" charset="-120"/>
            </a:endParaRPr>
          </a:p>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已知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q5] = q2</a:t>
            </a:r>
          </a:p>
          <a:p>
            <a:r>
              <a:rPr lang="zh-TW" altLang="en-US" sz="2400" dirty="0">
                <a:latin typeface="Times New Roman" panose="02020603050405020304" pitchFamily="18" charset="0"/>
                <a:ea typeface="標楷體" panose="03000509000000000000" pitchFamily="65" charset="-120"/>
              </a:rPr>
              <a:t>從 </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 延伸到 </a:t>
            </a:r>
            <a:r>
              <a:rPr lang="en-US" altLang="zh-TW" sz="2400" dirty="0">
                <a:latin typeface="Times New Roman" panose="02020603050405020304" pitchFamily="18" charset="0"/>
                <a:ea typeface="標楷體" panose="03000509000000000000" pitchFamily="65" charset="-120"/>
              </a:rPr>
              <a:t>q3</a:t>
            </a:r>
            <a:r>
              <a:rPr lang="zh-TW" altLang="en-US" sz="2400" dirty="0">
                <a:latin typeface="Times New Roman" panose="02020603050405020304" pitchFamily="18" charset="0"/>
                <a:ea typeface="標楷體" panose="03000509000000000000" pitchFamily="65" charset="-120"/>
              </a:rPr>
              <a:t>、</a:t>
            </a:r>
            <a:r>
              <a:rPr lang="en-US" altLang="zh-TW" sz="2400" dirty="0">
                <a:latin typeface="Times New Roman" panose="02020603050405020304" pitchFamily="18" charset="0"/>
                <a:ea typeface="標楷體" panose="03000509000000000000" pitchFamily="65" charset="-120"/>
              </a:rPr>
              <a:t>q4  </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=&gt; </a:t>
            </a:r>
            <a:r>
              <a:rPr lang="zh-TW" altLang="en-US" sz="2400" dirty="0">
                <a:latin typeface="Times New Roman" panose="02020603050405020304" pitchFamily="18" charset="0"/>
                <a:ea typeface="標楷體" panose="03000509000000000000" pitchFamily="65" charset="-120"/>
              </a:rPr>
              <a:t>成功到 </a:t>
            </a:r>
            <a:r>
              <a:rPr lang="en-US" altLang="zh-TW" sz="2400" dirty="0">
                <a:latin typeface="Times New Roman" panose="02020603050405020304" pitchFamily="18" charset="0"/>
                <a:ea typeface="標楷體" panose="03000509000000000000" pitchFamily="65" charset="-120"/>
              </a:rPr>
              <a:t>q4</a:t>
            </a:r>
          </a:p>
        </p:txBody>
      </p:sp>
      <p:graphicFrame>
        <p:nvGraphicFramePr>
          <p:cNvPr id="13" name="表格 12">
            <a:extLst>
              <a:ext uri="{FF2B5EF4-FFF2-40B4-BE49-F238E27FC236}">
                <a16:creationId xmlns:a16="http://schemas.microsoft.com/office/drawing/2014/main" id="{DF24B456-6154-403F-A842-0A46664ECC46}"/>
              </a:ext>
            </a:extLst>
          </p:cNvPr>
          <p:cNvGraphicFramePr>
            <a:graphicFrameLocks noGrp="1"/>
          </p:cNvGraphicFramePr>
          <p:nvPr>
            <p:extLst>
              <p:ext uri="{D42A27DB-BD31-4B8C-83A1-F6EECF244321}">
                <p14:modId xmlns:p14="http://schemas.microsoft.com/office/powerpoint/2010/main" val="518229675"/>
              </p:ext>
            </p:extLst>
          </p:nvPr>
        </p:nvGraphicFramePr>
        <p:xfrm>
          <a:off x="586963" y="5476952"/>
          <a:ext cx="4158006" cy="914400"/>
        </p:xfrm>
        <a:graphic>
          <a:graphicData uri="http://schemas.openxmlformats.org/drawingml/2006/table">
            <a:tbl>
              <a:tblPr firstRow="1" bandRow="1">
                <a:tableStyleId>{5940675A-B579-460E-94D1-54222C63F5DA}</a:tableStyleId>
              </a:tblPr>
              <a:tblGrid>
                <a:gridCol w="971808">
                  <a:extLst>
                    <a:ext uri="{9D8B030D-6E8A-4147-A177-3AD203B41FA5}">
                      <a16:colId xmlns:a16="http://schemas.microsoft.com/office/drawing/2014/main" val="2045651414"/>
                    </a:ext>
                  </a:extLst>
                </a:gridCol>
                <a:gridCol w="531033">
                  <a:extLst>
                    <a:ext uri="{9D8B030D-6E8A-4147-A177-3AD203B41FA5}">
                      <a16:colId xmlns:a16="http://schemas.microsoft.com/office/drawing/2014/main" val="368393942"/>
                    </a:ext>
                  </a:extLst>
                </a:gridCol>
                <a:gridCol w="531033">
                  <a:extLst>
                    <a:ext uri="{9D8B030D-6E8A-4147-A177-3AD203B41FA5}">
                      <a16:colId xmlns:a16="http://schemas.microsoft.com/office/drawing/2014/main" val="3816300444"/>
                    </a:ext>
                  </a:extLst>
                </a:gridCol>
                <a:gridCol w="531033">
                  <a:extLst>
                    <a:ext uri="{9D8B030D-6E8A-4147-A177-3AD203B41FA5}">
                      <a16:colId xmlns:a16="http://schemas.microsoft.com/office/drawing/2014/main" val="4137233334"/>
                    </a:ext>
                  </a:extLst>
                </a:gridCol>
                <a:gridCol w="531033">
                  <a:extLst>
                    <a:ext uri="{9D8B030D-6E8A-4147-A177-3AD203B41FA5}">
                      <a16:colId xmlns:a16="http://schemas.microsoft.com/office/drawing/2014/main" val="856223283"/>
                    </a:ext>
                  </a:extLst>
                </a:gridCol>
                <a:gridCol w="531033">
                  <a:extLst>
                    <a:ext uri="{9D8B030D-6E8A-4147-A177-3AD203B41FA5}">
                      <a16:colId xmlns:a16="http://schemas.microsoft.com/office/drawing/2014/main" val="3097740924"/>
                    </a:ext>
                  </a:extLst>
                </a:gridCol>
                <a:gridCol w="531033">
                  <a:extLst>
                    <a:ext uri="{9D8B030D-6E8A-4147-A177-3AD203B41FA5}">
                      <a16:colId xmlns:a16="http://schemas.microsoft.com/office/drawing/2014/main" val="1969797923"/>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solidFill>
                      <a:srgbClr val="92D05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4175381776"/>
                  </a:ext>
                </a:extLst>
              </a:tr>
              <a:tr h="370840">
                <a:tc>
                  <a:txBody>
                    <a:bodyPr/>
                    <a:lstStyle/>
                    <a:p>
                      <a:pPr algn="ctr"/>
                      <a:r>
                        <a:rPr lang="en-US" altLang="zh-TW" sz="2400" baseline="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2</a:t>
                      </a:r>
                      <a:endParaRPr lang="zh-TW" altLang="en-US" sz="2400" baseline="-25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71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no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57</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84</a:t>
                      </a:r>
                      <a:endParaRPr lang="zh-TW" altLang="en-US" sz="24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altLang="zh-TW" sz="2400" dirty="0">
                          <a:latin typeface="Times New Roman" panose="02020603050405020304" pitchFamily="18" charset="0"/>
                          <a:cs typeface="Times New Roman" panose="02020603050405020304" pitchFamily="18" charset="0"/>
                        </a:rPr>
                        <a:t>94</a:t>
                      </a:r>
                      <a:endParaRPr lang="zh-TW" altLang="en-US" sz="24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823969373"/>
                  </a:ext>
                </a:extLst>
              </a:tr>
            </a:tbl>
          </a:graphicData>
        </a:graphic>
      </p:graphicFrame>
    </p:spTree>
    <p:extLst>
      <p:ext uri="{BB962C8B-B14F-4D97-AF65-F5344CB8AC3E}">
        <p14:creationId xmlns:p14="http://schemas.microsoft.com/office/powerpoint/2010/main" val="3585089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a:t>
            </a:r>
            <a:r>
              <a:rPr lang="en-US" altLang="zh-TW" i="1" dirty="0" err="1">
                <a:latin typeface="Times New Roman" panose="02020603050405020304" pitchFamily="18" charset="0"/>
                <a:cs typeface="Times New Roman" panose="02020603050405020304" pitchFamily="18" charset="0"/>
              </a:rPr>
              <a:t>n</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algorithm for multiple patterns</a:t>
            </a:r>
            <a:endParaRPr lang="zh-TW" altLang="en-US" dirty="0">
              <a:latin typeface="Times New Roman" panose="02020603050405020304" pitchFamily="18" charset="0"/>
              <a:cs typeface="Times New Roman" panose="02020603050405020304" pitchFamily="18" charset="0"/>
            </a:endParaRPr>
          </a:p>
        </p:txBody>
      </p:sp>
      <p:graphicFrame>
        <p:nvGraphicFramePr>
          <p:cNvPr id="3" name="表格 4">
            <a:extLst>
              <a:ext uri="{FF2B5EF4-FFF2-40B4-BE49-F238E27FC236}">
                <a16:creationId xmlns:a16="http://schemas.microsoft.com/office/drawing/2014/main" id="{F0F9A071-8D07-431C-A120-9DAF36FA83D4}"/>
              </a:ext>
            </a:extLst>
          </p:cNvPr>
          <p:cNvGraphicFramePr>
            <a:graphicFrameLocks noGrp="1"/>
          </p:cNvGraphicFramePr>
          <p:nvPr/>
        </p:nvGraphicFramePr>
        <p:xfrm>
          <a:off x="1013097" y="1827105"/>
          <a:ext cx="8128000" cy="2920073"/>
        </p:xfrm>
        <a:graphic>
          <a:graphicData uri="http://schemas.openxmlformats.org/drawingml/2006/table">
            <a:tbl>
              <a:tblPr firstRow="1" bandRow="1">
                <a:tableStyleId>{5940675A-B579-460E-94D1-54222C63F5DA}</a:tableStyleId>
              </a:tblPr>
              <a:tblGrid>
                <a:gridCol w="3288937">
                  <a:extLst>
                    <a:ext uri="{9D8B030D-6E8A-4147-A177-3AD203B41FA5}">
                      <a16:colId xmlns:a16="http://schemas.microsoft.com/office/drawing/2014/main" val="71482934"/>
                    </a:ext>
                  </a:extLst>
                </a:gridCol>
                <a:gridCol w="4839063">
                  <a:extLst>
                    <a:ext uri="{9D8B030D-6E8A-4147-A177-3AD203B41FA5}">
                      <a16:colId xmlns:a16="http://schemas.microsoft.com/office/drawing/2014/main" val="2499092229"/>
                    </a:ext>
                  </a:extLst>
                </a:gridCol>
              </a:tblGrid>
              <a:tr h="722492">
                <a:tc>
                  <a:txBody>
                    <a:bodyPr/>
                    <a:lstStyle/>
                    <a:p>
                      <a:r>
                        <a:rPr lang="en-US" altLang="zh-TW" sz="2400" dirty="0">
                          <a:latin typeface="Times New Roman" panose="02020603050405020304" pitchFamily="18" charset="0"/>
                          <a:cs typeface="Times New Roman" panose="02020603050405020304" pitchFamily="18" charset="0"/>
                        </a:rPr>
                        <a:t>Prefix representation</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r>
                        <a:rPr lang="en-US" altLang="zh-TW" sz="2400" dirty="0">
                          <a:latin typeface="Times New Roman" panose="02020603050405020304" pitchFamily="18" charset="0"/>
                          <a:cs typeface="Times New Roman" panose="02020603050405020304" pitchFamily="18" charset="0"/>
                        </a:rPr>
                        <a:t>O(</a:t>
                      </a:r>
                      <a:r>
                        <a:rPr lang="en-US" altLang="zh-TW" sz="2400" i="1" dirty="0" err="1">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10402869"/>
                  </a:ext>
                </a:extLst>
              </a:tr>
              <a:tr h="732527">
                <a:tc>
                  <a:txBody>
                    <a:bodyPr/>
                    <a:lstStyle/>
                    <a:p>
                      <a:r>
                        <a:rPr lang="en-US" altLang="zh-TW" sz="2400" dirty="0">
                          <a:latin typeface="Times New Roman" panose="02020603050405020304" pitchFamily="18" charset="0"/>
                          <a:cs typeface="Times New Roman" panose="02020603050405020304" pitchFamily="18" charset="0"/>
                        </a:rPr>
                        <a:t>Failure function</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O(</a:t>
                      </a:r>
                      <a:r>
                        <a:rPr lang="en-US" altLang="zh-TW" sz="2400" i="1" dirty="0" err="1">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29524912"/>
                  </a:ext>
                </a:extLst>
              </a:tr>
              <a:tr h="732527">
                <a:tc>
                  <a:txBody>
                    <a:bodyPr/>
                    <a:lstStyle/>
                    <a:p>
                      <a:r>
                        <a:rPr lang="en-US" altLang="zh-TW" sz="2400" dirty="0">
                          <a:latin typeface="Times New Roman" panose="02020603050405020304" pitchFamily="18" charset="0"/>
                          <a:cs typeface="Times New Roman" panose="02020603050405020304" pitchFamily="18" charset="0"/>
                        </a:rPr>
                        <a:t>Text Search</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O(</a:t>
                      </a:r>
                      <a:r>
                        <a:rPr lang="en-US" altLang="zh-TW" sz="2400" i="1" dirty="0" err="1">
                          <a:latin typeface="Times New Roman" panose="02020603050405020304" pitchFamily="18" charset="0"/>
                          <a:cs typeface="Times New Roman" panose="02020603050405020304" pitchFamily="18" charset="0"/>
                        </a:rPr>
                        <a:t>n</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37502627"/>
                  </a:ext>
                </a:extLst>
              </a:tr>
              <a:tr h="732527">
                <a:tc gridSpan="2">
                  <a:txBody>
                    <a:bodyPr/>
                    <a:lstStyle/>
                    <a:p>
                      <a:r>
                        <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rPr>
                        <a:t>主要因為 </a:t>
                      </a:r>
                      <a:r>
                        <a:rPr lang="en-US" altLang="zh-TW" sz="2400" baseline="0" dirty="0">
                          <a:latin typeface="Times New Roman" panose="02020603050405020304" pitchFamily="18" charset="0"/>
                          <a:ea typeface="標楷體" panose="03000509000000000000" pitchFamily="65" charset="-120"/>
                          <a:cs typeface="Times New Roman" panose="02020603050405020304" pitchFamily="18" charset="0"/>
                        </a:rPr>
                        <a:t>Rank() </a:t>
                      </a:r>
                      <a:r>
                        <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rPr>
                        <a:t>需要 </a:t>
                      </a:r>
                      <a:r>
                        <a:rPr lang="en-US" altLang="zh-TW" sz="2400" baseline="0"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sz="2400" baseline="0" dirty="0" err="1">
                          <a:latin typeface="Times New Roman" panose="02020603050405020304" pitchFamily="18" charset="0"/>
                          <a:ea typeface="標楷體" panose="03000509000000000000" pitchFamily="65" charset="-120"/>
                          <a:cs typeface="Times New Roman" panose="02020603050405020304" pitchFamily="18" charset="0"/>
                        </a:rPr>
                        <a:t>log</a:t>
                      </a:r>
                      <a:r>
                        <a:rPr lang="en-US" altLang="zh-TW" sz="2400" i="1" baseline="0" dirty="0" err="1">
                          <a:latin typeface="Times New Roman" panose="02020603050405020304" pitchFamily="18" charset="0"/>
                          <a:ea typeface="標楷體" panose="03000509000000000000" pitchFamily="65" charset="-120"/>
                          <a:cs typeface="Times New Roman" panose="02020603050405020304" pitchFamily="18" charset="0"/>
                        </a:rPr>
                        <a:t>m</a:t>
                      </a:r>
                      <a:r>
                        <a:rPr lang="en-US" altLang="zh-TW" sz="2400" i="0" baseline="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baseline="0" dirty="0">
                          <a:latin typeface="Times New Roman" panose="02020603050405020304" pitchFamily="18" charset="0"/>
                          <a:ea typeface="標楷體" panose="03000509000000000000" pitchFamily="65" charset="-120"/>
                          <a:cs typeface="Times New Roman" panose="02020603050405020304" pitchFamily="18" charset="0"/>
                        </a:rPr>
                        <a:t> 的時間</a:t>
                      </a:r>
                    </a:p>
                  </a:txBody>
                  <a:tcPr anchor="ct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12775786"/>
                  </a:ext>
                </a:extLst>
              </a:tr>
            </a:tbl>
          </a:graphicData>
        </a:graphic>
      </p:graphicFrame>
    </p:spTree>
    <p:extLst>
      <p:ext uri="{BB962C8B-B14F-4D97-AF65-F5344CB8AC3E}">
        <p14:creationId xmlns:p14="http://schemas.microsoft.com/office/powerpoint/2010/main" val="35667002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9A97DF8E-9960-46A3-B57A-2E33E3C5570B}"/>
              </a:ext>
            </a:extLst>
          </p:cNvPr>
          <p:cNvPicPr>
            <a:picLocks noChangeAspect="1"/>
          </p:cNvPicPr>
          <p:nvPr/>
        </p:nvPicPr>
        <p:blipFill>
          <a:blip r:embed="rId2"/>
          <a:stretch>
            <a:fillRect/>
          </a:stretch>
        </p:blipFill>
        <p:spPr>
          <a:xfrm>
            <a:off x="4744969" y="203200"/>
            <a:ext cx="7447031" cy="3429000"/>
          </a:xfrm>
          <a:prstGeom prst="rect">
            <a:avLst/>
          </a:prstGeom>
        </p:spPr>
      </p:pic>
      <p:sp>
        <p:nvSpPr>
          <p:cNvPr id="7" name="文字方塊 6">
            <a:extLst>
              <a:ext uri="{FF2B5EF4-FFF2-40B4-BE49-F238E27FC236}">
                <a16:creationId xmlns:a16="http://schemas.microsoft.com/office/drawing/2014/main" id="{CB3D6AC7-30EB-45DC-8FBB-A2B11A9FC48E}"/>
              </a:ext>
            </a:extLst>
          </p:cNvPr>
          <p:cNvSpPr txBox="1"/>
          <p:nvPr/>
        </p:nvSpPr>
        <p:spPr>
          <a:xfrm>
            <a:off x="838200" y="2252087"/>
            <a:ext cx="10879318" cy="5262979"/>
          </a:xfrm>
          <a:prstGeom prst="rect">
            <a:avLst/>
          </a:prstGeom>
          <a:noFill/>
        </p:spPr>
        <p:txBody>
          <a:bodyPr wrap="square" rtlCol="0">
            <a:spAutoFit/>
          </a:bodyPr>
          <a:lstStyle/>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rPr>
              <a:t>計算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q3]</a:t>
            </a:r>
            <a:r>
              <a:rPr lang="zh-TW" altLang="en-US" sz="2400" dirty="0">
                <a:latin typeface="Times New Roman" panose="02020603050405020304" pitchFamily="18" charset="0"/>
                <a:ea typeface="標楷體" panose="03000509000000000000" pitchFamily="65" charset="-120"/>
              </a:rPr>
              <a:t>：</a:t>
            </a:r>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rPr>
              <a:t>將 </a:t>
            </a:r>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15 } </a:t>
            </a:r>
            <a:r>
              <a:rPr lang="zh-TW" altLang="en-US" sz="2400" dirty="0">
                <a:latin typeface="Times New Roman" panose="02020603050405020304" pitchFamily="18" charset="0"/>
                <a:ea typeface="標楷體" panose="03000509000000000000" pitchFamily="65" charset="-120"/>
              </a:rPr>
              <a:t>加入 </a:t>
            </a:r>
            <a:r>
              <a:rPr lang="en-US" altLang="zh-TW" sz="2400" dirty="0">
                <a:latin typeface="Times New Roman" panose="02020603050405020304" pitchFamily="18" charset="0"/>
                <a:ea typeface="標楷體" panose="03000509000000000000" pitchFamily="65" charset="-120"/>
              </a:rPr>
              <a:t>T[P</a:t>
            </a:r>
            <a:r>
              <a:rPr lang="en-US" altLang="zh-TW" sz="2400" baseline="-25000" dirty="0">
                <a:latin typeface="Times New Roman" panose="02020603050405020304" pitchFamily="18" charset="0"/>
                <a:ea typeface="標楷體" panose="03000509000000000000" pitchFamily="65" charset="-120"/>
              </a:rPr>
              <a:t>1</a:t>
            </a:r>
            <a:r>
              <a:rPr lang="en-US" altLang="zh-TW" sz="2400" dirty="0">
                <a:latin typeface="Times New Roman" panose="02020603050405020304" pitchFamily="18" charset="0"/>
                <a:ea typeface="標楷體" panose="03000509000000000000" pitchFamily="65" charset="-120"/>
              </a:rPr>
              <a:t>] = { 23 , 35 , 15 }</a:t>
            </a:r>
          </a:p>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從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 嘗試延伸  </a:t>
            </a:r>
            <a:r>
              <a:rPr lang="en-US" altLang="zh-TW" sz="2400" dirty="0">
                <a:latin typeface="Times New Roman" panose="02020603050405020304" pitchFamily="18" charset="0"/>
                <a:ea typeface="標楷體" panose="03000509000000000000" pitchFamily="65" charset="-120"/>
              </a:rPr>
              <a:t>=&gt; </a:t>
            </a:r>
            <a:r>
              <a:rPr lang="zh-TW" altLang="en-US" sz="2400" dirty="0">
                <a:latin typeface="Times New Roman" panose="02020603050405020304" pitchFamily="18" charset="0"/>
                <a:ea typeface="標楷體" panose="03000509000000000000" pitchFamily="65" charset="-120"/>
              </a:rPr>
              <a:t>從 </a:t>
            </a:r>
            <a:r>
              <a:rPr lang="en-US" altLang="zh-TW" sz="2400" dirty="0">
                <a:latin typeface="Times New Roman" panose="02020603050405020304" pitchFamily="18" charset="0"/>
                <a:ea typeface="標楷體" panose="03000509000000000000" pitchFamily="65" charset="-120"/>
              </a:rPr>
              <a:t>q1 </a:t>
            </a:r>
            <a:r>
              <a:rPr lang="zh-TW" altLang="en-US" sz="2400" dirty="0">
                <a:latin typeface="Times New Roman" panose="02020603050405020304" pitchFamily="18" charset="0"/>
                <a:ea typeface="標楷體" panose="03000509000000000000" pitchFamily="65" charset="-120"/>
              </a:rPr>
              <a:t>嘗試延伸</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q1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延伸到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失敗，根據</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q1]</a:t>
            </a:r>
            <a:r>
              <a:rPr lang="zh-TW" altLang="en-US" sz="2400" dirty="0">
                <a:latin typeface="Times New Roman" panose="02020603050405020304" pitchFamily="18" charset="0"/>
                <a:ea typeface="標楷體" panose="03000509000000000000" pitchFamily="65" charset="-120"/>
              </a:rPr>
              <a:t> 回溯</a:t>
            </a:r>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q0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延伸到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q1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成功，</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q3] =</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q1</a:t>
            </a:r>
          </a:p>
          <a:p>
            <a:endParaRPr lang="en-US" altLang="zh-TW" sz="2400" dirty="0">
              <a:latin typeface="Times New Roman" panose="02020603050405020304" pitchFamily="18" charset="0"/>
              <a:ea typeface="標楷體" panose="03000509000000000000" pitchFamily="65" charset="-120"/>
            </a:endParaRPr>
          </a:p>
          <a:p>
            <a:r>
              <a:rPr lang="en-US" altLang="zh-TW" sz="2400" dirty="0">
                <a:latin typeface="Times New Roman" panose="02020603050405020304" pitchFamily="18" charset="0"/>
                <a:ea typeface="標楷體" panose="03000509000000000000" pitchFamily="65" charset="-120"/>
              </a:rPr>
              <a:t>q1 </a:t>
            </a:r>
            <a:r>
              <a:rPr lang="zh-TW" altLang="en-US" sz="2400" dirty="0">
                <a:latin typeface="Times New Roman" panose="02020603050405020304" pitchFamily="18" charset="0"/>
                <a:ea typeface="標楷體" panose="03000509000000000000" pitchFamily="65" charset="-120"/>
              </a:rPr>
              <a:t>延伸到 </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：比對</a:t>
            </a:r>
            <a:r>
              <a:rPr lang="en-US" altLang="zh-TW" sz="2400" dirty="0">
                <a:latin typeface="Times New Roman" panose="02020603050405020304" pitchFamily="18" charset="0"/>
                <a:ea typeface="標楷體" panose="03000509000000000000" pitchFamily="65" charset="-120"/>
              </a:rPr>
              <a:t>{ 35 , 15 } Rank</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1 , </a:t>
            </a:r>
            <a:r>
              <a:rPr lang="en-US" altLang="zh-TW" sz="2400" dirty="0">
                <a:solidFill>
                  <a:srgbClr val="FF0000"/>
                </a:solidFill>
                <a:latin typeface="Times New Roman" panose="02020603050405020304" pitchFamily="18" charset="0"/>
                <a:ea typeface="標楷體" panose="03000509000000000000" pitchFamily="65" charset="-120"/>
              </a:rPr>
              <a:t>1</a:t>
            </a:r>
            <a:r>
              <a:rPr lang="en-US" altLang="zh-TW" sz="2400" dirty="0">
                <a:latin typeface="Times New Roman" panose="02020603050405020304" pitchFamily="18" charset="0"/>
                <a:ea typeface="標楷體" panose="03000509000000000000" pitchFamily="65" charset="-120"/>
              </a:rPr>
              <a:t> }</a:t>
            </a:r>
            <a:r>
              <a:rPr lang="zh-TW" altLang="en-US" sz="2400" dirty="0">
                <a:latin typeface="Times New Roman" panose="02020603050405020304" pitchFamily="18" charset="0"/>
                <a:ea typeface="標楷體" panose="03000509000000000000" pitchFamily="65" charset="-120"/>
              </a:rPr>
              <a:t> 是否與 </a:t>
            </a:r>
            <a:r>
              <a:rPr lang="en-US" altLang="zh-TW" sz="2400" dirty="0">
                <a:latin typeface="Times New Roman" panose="02020603050405020304" pitchFamily="18" charset="0"/>
                <a:ea typeface="標楷體" panose="03000509000000000000" pitchFamily="65" charset="-120"/>
              </a:rPr>
              <a:t>{ 23 , 35 } Rank { 1 , </a:t>
            </a:r>
            <a:r>
              <a:rPr lang="en-US" altLang="zh-TW" sz="2400" dirty="0">
                <a:solidFill>
                  <a:srgbClr val="FF0000"/>
                </a:solidFill>
                <a:latin typeface="Times New Roman" panose="02020603050405020304" pitchFamily="18" charset="0"/>
                <a:ea typeface="標楷體" panose="03000509000000000000" pitchFamily="65" charset="-120"/>
              </a:rPr>
              <a:t>2</a:t>
            </a:r>
            <a:r>
              <a:rPr lang="en-US" altLang="zh-TW" sz="2400" dirty="0">
                <a:latin typeface="Times New Roman" panose="02020603050405020304" pitchFamily="18" charset="0"/>
                <a:ea typeface="標楷體" panose="03000509000000000000" pitchFamily="65" charset="-120"/>
              </a:rPr>
              <a:t> } </a:t>
            </a:r>
            <a:r>
              <a:rPr lang="zh-TW" altLang="en-US" sz="2400" dirty="0">
                <a:latin typeface="Times New Roman" panose="02020603050405020304" pitchFamily="18" charset="0"/>
                <a:ea typeface="標楷體" panose="03000509000000000000" pitchFamily="65" charset="-120"/>
              </a:rPr>
              <a:t>相同</a:t>
            </a:r>
            <a:endParaRPr lang="en-US" altLang="zh-TW" sz="2400" dirty="0">
              <a:latin typeface="Times New Roman" panose="02020603050405020304" pitchFamily="18" charset="0"/>
              <a:ea typeface="標楷體" panose="03000509000000000000" pitchFamily="65" charset="-120"/>
            </a:endParaRPr>
          </a:p>
          <a:p>
            <a:r>
              <a:rPr lang="en-US" altLang="zh-TW" sz="2400" dirty="0">
                <a:latin typeface="Times New Roman" panose="02020603050405020304" pitchFamily="18" charset="0"/>
                <a:ea typeface="標楷體" panose="03000509000000000000" pitchFamily="65" charset="-120"/>
              </a:rPr>
              <a:t>q0 </a:t>
            </a:r>
            <a:r>
              <a:rPr lang="zh-TW" altLang="en-US" sz="2400" dirty="0">
                <a:latin typeface="Times New Roman" panose="02020603050405020304" pitchFamily="18" charset="0"/>
                <a:ea typeface="標楷體" panose="03000509000000000000" pitchFamily="65" charset="-120"/>
              </a:rPr>
              <a:t>延伸到 </a:t>
            </a:r>
            <a:r>
              <a:rPr lang="en-US" altLang="zh-TW" sz="2400" dirty="0">
                <a:latin typeface="Times New Roman" panose="02020603050405020304" pitchFamily="18" charset="0"/>
                <a:ea typeface="標楷體" panose="03000509000000000000" pitchFamily="65" charset="-120"/>
              </a:rPr>
              <a:t>q1</a:t>
            </a:r>
            <a:r>
              <a:rPr lang="zh-TW" altLang="en-US" sz="2400" dirty="0">
                <a:latin typeface="Times New Roman" panose="02020603050405020304" pitchFamily="18" charset="0"/>
                <a:ea typeface="標楷體" panose="03000509000000000000" pitchFamily="65" charset="-120"/>
              </a:rPr>
              <a:t>：比對</a:t>
            </a:r>
            <a:r>
              <a:rPr lang="en-US" altLang="zh-TW" sz="2400" dirty="0">
                <a:latin typeface="Times New Roman" panose="02020603050405020304" pitchFamily="18" charset="0"/>
                <a:ea typeface="標楷體" panose="03000509000000000000" pitchFamily="65" charset="-120"/>
              </a:rPr>
              <a:t>{ 15 } Rank</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 </a:t>
            </a:r>
            <a:r>
              <a:rPr lang="en-US" altLang="zh-TW" sz="2400" dirty="0">
                <a:solidFill>
                  <a:srgbClr val="FF0000"/>
                </a:solidFill>
                <a:latin typeface="Times New Roman" panose="02020603050405020304" pitchFamily="18" charset="0"/>
                <a:ea typeface="標楷體" panose="03000509000000000000" pitchFamily="65" charset="-120"/>
              </a:rPr>
              <a:t>1</a:t>
            </a:r>
            <a:r>
              <a:rPr lang="en-US" altLang="zh-TW" sz="2400" dirty="0">
                <a:latin typeface="Times New Roman" panose="02020603050405020304" pitchFamily="18" charset="0"/>
                <a:ea typeface="標楷體" panose="03000509000000000000" pitchFamily="65" charset="-120"/>
              </a:rPr>
              <a:t> }</a:t>
            </a:r>
            <a:r>
              <a:rPr lang="zh-TW" altLang="en-US" sz="2400" dirty="0">
                <a:latin typeface="Times New Roman" panose="02020603050405020304" pitchFamily="18" charset="0"/>
                <a:ea typeface="標楷體" panose="03000509000000000000" pitchFamily="65" charset="-120"/>
              </a:rPr>
              <a:t> 是否與 </a:t>
            </a:r>
            <a:r>
              <a:rPr lang="en-US" altLang="zh-TW" sz="2400" dirty="0">
                <a:latin typeface="Times New Roman" panose="02020603050405020304" pitchFamily="18" charset="0"/>
                <a:ea typeface="標楷體" panose="03000509000000000000" pitchFamily="65" charset="-120"/>
              </a:rPr>
              <a:t>{ 23 } Rank { </a:t>
            </a:r>
            <a:r>
              <a:rPr lang="en-US" altLang="zh-TW" sz="2400" dirty="0">
                <a:solidFill>
                  <a:srgbClr val="FF0000"/>
                </a:solidFill>
                <a:latin typeface="Times New Roman" panose="02020603050405020304" pitchFamily="18" charset="0"/>
                <a:ea typeface="標楷體" panose="03000509000000000000" pitchFamily="65" charset="-120"/>
              </a:rPr>
              <a:t>1</a:t>
            </a:r>
            <a:r>
              <a:rPr lang="en-US" altLang="zh-TW" sz="2400" dirty="0">
                <a:latin typeface="Times New Roman" panose="02020603050405020304" pitchFamily="18" charset="0"/>
                <a:ea typeface="標楷體" panose="03000509000000000000" pitchFamily="65" charset="-120"/>
              </a:rPr>
              <a:t> } </a:t>
            </a:r>
            <a:r>
              <a:rPr lang="zh-TW" altLang="en-US" sz="2400" dirty="0">
                <a:latin typeface="Times New Roman" panose="02020603050405020304" pitchFamily="18" charset="0"/>
                <a:ea typeface="標楷體" panose="03000509000000000000" pitchFamily="65" charset="-120"/>
              </a:rPr>
              <a:t>相同</a:t>
            </a:r>
            <a:endParaRPr lang="en-US" altLang="zh-TW" sz="2400" dirty="0">
              <a:latin typeface="Times New Roman" panose="02020603050405020304" pitchFamily="18" charset="0"/>
              <a:ea typeface="標楷體" panose="03000509000000000000" pitchFamily="65" charset="-120"/>
            </a:endParaRPr>
          </a:p>
          <a:p>
            <a:endParaRPr lang="en-US" altLang="zh-TW" sz="2400" dirty="0">
              <a:latin typeface="Times New Roman" panose="02020603050405020304" pitchFamily="18" charset="0"/>
              <a:ea typeface="標楷體" panose="03000509000000000000" pitchFamily="65" charset="-120"/>
            </a:endParaRPr>
          </a:p>
          <a:p>
            <a:r>
              <a:rPr lang="en-US" altLang="zh-TW" sz="2400" dirty="0">
                <a:latin typeface="Times New Roman" panose="02020603050405020304" pitchFamily="18" charset="0"/>
                <a:ea typeface="標楷體" panose="03000509000000000000" pitchFamily="65" charset="-120"/>
              </a:rPr>
              <a:t>T[P</a:t>
            </a:r>
            <a:r>
              <a:rPr lang="en-US" altLang="zh-TW" sz="2400" baseline="-25000" dirty="0">
                <a:latin typeface="Times New Roman" panose="02020603050405020304" pitchFamily="18" charset="0"/>
                <a:ea typeface="標楷體" panose="03000509000000000000" pitchFamily="65" charset="-120"/>
              </a:rPr>
              <a:t>1</a:t>
            </a:r>
            <a:r>
              <a:rPr lang="en-US" altLang="zh-TW" sz="2400" dirty="0">
                <a:latin typeface="Times New Roman" panose="02020603050405020304" pitchFamily="18" charset="0"/>
                <a:ea typeface="標楷體" panose="03000509000000000000" pitchFamily="65" charset="-120"/>
              </a:rPr>
              <a:t>] = { 15 }</a:t>
            </a:r>
          </a:p>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p:txBody>
      </p:sp>
      <p:sp>
        <p:nvSpPr>
          <p:cNvPr id="3" name="文字方塊 2">
            <a:extLst>
              <a:ext uri="{FF2B5EF4-FFF2-40B4-BE49-F238E27FC236}">
                <a16:creationId xmlns:a16="http://schemas.microsoft.com/office/drawing/2014/main" id="{D3F7B9AE-88B9-4331-B13D-8B05D4A5541A}"/>
              </a:ext>
            </a:extLst>
          </p:cNvPr>
          <p:cNvSpPr txBox="1"/>
          <p:nvPr/>
        </p:nvSpPr>
        <p:spPr>
          <a:xfrm>
            <a:off x="924684" y="1324271"/>
            <a:ext cx="3068569"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1</a:t>
            </a:r>
            <a:r>
              <a:rPr lang="en-US" altLang="zh-TW" sz="2400" dirty="0">
                <a:latin typeface="Times New Roman" panose="02020603050405020304" pitchFamily="18" charset="0"/>
                <a:cs typeface="Times New Roman" panose="02020603050405020304" pitchFamily="18" charset="0"/>
              </a:rPr>
              <a:t>] = { 23 , 35 }</a:t>
            </a:r>
          </a:p>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 = {}</a:t>
            </a:r>
          </a:p>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 =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8471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9A97DF8E-9960-46A3-B57A-2E33E3C5570B}"/>
              </a:ext>
            </a:extLst>
          </p:cNvPr>
          <p:cNvPicPr>
            <a:picLocks noChangeAspect="1"/>
          </p:cNvPicPr>
          <p:nvPr/>
        </p:nvPicPr>
        <p:blipFill>
          <a:blip r:embed="rId3"/>
          <a:stretch>
            <a:fillRect/>
          </a:stretch>
        </p:blipFill>
        <p:spPr>
          <a:xfrm>
            <a:off x="4744969" y="203200"/>
            <a:ext cx="7447031" cy="3429000"/>
          </a:xfrm>
          <a:prstGeom prst="rect">
            <a:avLst/>
          </a:prstGeom>
        </p:spPr>
      </p:pic>
      <p:sp>
        <p:nvSpPr>
          <p:cNvPr id="3" name="文字方塊 2">
            <a:extLst>
              <a:ext uri="{FF2B5EF4-FFF2-40B4-BE49-F238E27FC236}">
                <a16:creationId xmlns:a16="http://schemas.microsoft.com/office/drawing/2014/main" id="{AAF67870-DAD2-4643-8A78-5CCDE21A5D38}"/>
              </a:ext>
            </a:extLst>
          </p:cNvPr>
          <p:cNvSpPr txBox="1"/>
          <p:nvPr/>
        </p:nvSpPr>
        <p:spPr>
          <a:xfrm>
            <a:off x="924684" y="1324271"/>
            <a:ext cx="3590755"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1</a:t>
            </a:r>
            <a:r>
              <a:rPr lang="en-US" altLang="zh-TW" sz="2400" dirty="0">
                <a:latin typeface="Times New Roman" panose="02020603050405020304" pitchFamily="18" charset="0"/>
                <a:cs typeface="Times New Roman" panose="02020603050405020304" pitchFamily="18" charset="0"/>
              </a:rPr>
              <a:t>] = { 15 , 53 }</a:t>
            </a:r>
          </a:p>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 = {}</a:t>
            </a:r>
          </a:p>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 =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43</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51 , 62  , 73 }</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52D0012C-C2FD-45D2-8CD4-C8323747DA8A}"/>
              </a:ext>
            </a:extLst>
          </p:cNvPr>
          <p:cNvSpPr txBox="1"/>
          <p:nvPr/>
        </p:nvSpPr>
        <p:spPr>
          <a:xfrm>
            <a:off x="924683" y="5533729"/>
            <a:ext cx="3590755"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1</a:t>
            </a:r>
            <a:r>
              <a:rPr lang="en-US" altLang="zh-TW" sz="2400" dirty="0">
                <a:latin typeface="Times New Roman" panose="02020603050405020304" pitchFamily="18" charset="0"/>
                <a:cs typeface="Times New Roman" panose="02020603050405020304" pitchFamily="18" charset="0"/>
              </a:rPr>
              <a:t>] = { 47 }</a:t>
            </a:r>
          </a:p>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 = {}</a:t>
            </a:r>
          </a:p>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 =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43</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51 , 62  , 73 }</a:t>
            </a:r>
            <a:endParaRPr lang="zh-TW" altLang="en-US" sz="2400"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4A4E4C68-3819-42B1-9AA5-3BBE2C73082B}"/>
              </a:ext>
            </a:extLst>
          </p:cNvPr>
          <p:cNvSpPr txBox="1"/>
          <p:nvPr/>
        </p:nvSpPr>
        <p:spPr>
          <a:xfrm>
            <a:off x="838200" y="2252087"/>
            <a:ext cx="10879318" cy="3046988"/>
          </a:xfrm>
          <a:prstGeom prst="rect">
            <a:avLst/>
          </a:prstGeom>
          <a:noFill/>
        </p:spPr>
        <p:txBody>
          <a:bodyPr wrap="square" rtlCol="0">
            <a:spAutoFit/>
          </a:bodyPr>
          <a:lstStyle/>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rPr>
              <a:t>計算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q7]</a:t>
            </a:r>
            <a:r>
              <a:rPr lang="zh-TW" altLang="en-US" sz="2400" dirty="0">
                <a:latin typeface="Times New Roman" panose="02020603050405020304" pitchFamily="18" charset="0"/>
                <a:ea typeface="標楷體" panose="03000509000000000000" pitchFamily="65" charset="-120"/>
              </a:rPr>
              <a:t>：</a:t>
            </a:r>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rPr>
              <a:t>將 </a:t>
            </a:r>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47 } </a:t>
            </a:r>
            <a:r>
              <a:rPr lang="zh-TW" altLang="en-US" sz="2400" dirty="0">
                <a:latin typeface="Times New Roman" panose="02020603050405020304" pitchFamily="18" charset="0"/>
                <a:ea typeface="標楷體" panose="03000509000000000000" pitchFamily="65" charset="-120"/>
              </a:rPr>
              <a:t>加入 </a:t>
            </a:r>
            <a:r>
              <a:rPr lang="en-US" altLang="zh-TW" sz="2400" dirty="0">
                <a:latin typeface="Times New Roman" panose="02020603050405020304" pitchFamily="18" charset="0"/>
                <a:ea typeface="標楷體" panose="03000509000000000000" pitchFamily="65" charset="-120"/>
              </a:rPr>
              <a:t>T[P</a:t>
            </a:r>
            <a:r>
              <a:rPr lang="en-US" altLang="zh-TW" sz="2400" baseline="-25000" dirty="0">
                <a:latin typeface="Times New Roman" panose="02020603050405020304" pitchFamily="18" charset="0"/>
                <a:ea typeface="標楷體" panose="03000509000000000000" pitchFamily="65" charset="-120"/>
              </a:rPr>
              <a:t>1</a:t>
            </a:r>
            <a:r>
              <a:rPr lang="en-US" altLang="zh-TW" sz="2400" dirty="0">
                <a:latin typeface="Times New Roman" panose="02020603050405020304" pitchFamily="18" charset="0"/>
                <a:ea typeface="標楷體" panose="03000509000000000000" pitchFamily="65" charset="-120"/>
              </a:rPr>
              <a:t>] = { 15 , 53 , 47} </a:t>
            </a:r>
          </a:p>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從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q5]</a:t>
            </a:r>
            <a:r>
              <a:rPr lang="zh-TW" altLang="en-US" sz="2400" dirty="0">
                <a:latin typeface="Times New Roman" panose="02020603050405020304" pitchFamily="18" charset="0"/>
                <a:ea typeface="標楷體" panose="03000509000000000000" pitchFamily="65" charset="-120"/>
              </a:rPr>
              <a:t> 嘗試延伸 </a:t>
            </a:r>
            <a:r>
              <a:rPr lang="en-US" altLang="zh-TW" sz="2400" dirty="0">
                <a:latin typeface="Times New Roman" panose="02020603050405020304" pitchFamily="18" charset="0"/>
                <a:ea typeface="標楷體" panose="03000509000000000000" pitchFamily="65" charset="-120"/>
              </a:rPr>
              <a:t>=&gt;</a:t>
            </a:r>
            <a:r>
              <a:rPr lang="zh-TW" altLang="en-US" sz="2400" dirty="0">
                <a:latin typeface="Times New Roman" panose="02020603050405020304" pitchFamily="18" charset="0"/>
                <a:ea typeface="標楷體" panose="03000509000000000000" pitchFamily="65" charset="-120"/>
              </a:rPr>
              <a:t> 從 </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 嘗試延伸</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q2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延伸到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q4</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失敗，根據</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 回溯</a:t>
            </a:r>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q1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延伸到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失敗，根據</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q1]</a:t>
            </a:r>
            <a:r>
              <a:rPr lang="zh-TW" altLang="en-US" sz="2400" dirty="0">
                <a:latin typeface="Times New Roman" panose="02020603050405020304" pitchFamily="18" charset="0"/>
                <a:ea typeface="標楷體" panose="03000509000000000000" pitchFamily="65" charset="-120"/>
              </a:rPr>
              <a:t> 回溯</a:t>
            </a:r>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q0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延伸到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成功，</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q7] =</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q1</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457802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BFC1A-A07F-4C78-81A9-D9B63C110F7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Failure function</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9A97DF8E-9960-46A3-B57A-2E33E3C5570B}"/>
              </a:ext>
            </a:extLst>
          </p:cNvPr>
          <p:cNvPicPr>
            <a:picLocks noChangeAspect="1"/>
          </p:cNvPicPr>
          <p:nvPr/>
        </p:nvPicPr>
        <p:blipFill>
          <a:blip r:embed="rId2"/>
          <a:stretch>
            <a:fillRect/>
          </a:stretch>
        </p:blipFill>
        <p:spPr>
          <a:xfrm>
            <a:off x="4744969" y="203200"/>
            <a:ext cx="7447031" cy="3429000"/>
          </a:xfrm>
          <a:prstGeom prst="rect">
            <a:avLst/>
          </a:prstGeom>
        </p:spPr>
      </p:pic>
      <p:sp>
        <p:nvSpPr>
          <p:cNvPr id="7" name="文字方塊 6">
            <a:extLst>
              <a:ext uri="{FF2B5EF4-FFF2-40B4-BE49-F238E27FC236}">
                <a16:creationId xmlns:a16="http://schemas.microsoft.com/office/drawing/2014/main" id="{CB3D6AC7-30EB-45DC-8FBB-A2B11A9FC48E}"/>
              </a:ext>
            </a:extLst>
          </p:cNvPr>
          <p:cNvSpPr txBox="1"/>
          <p:nvPr/>
        </p:nvSpPr>
        <p:spPr>
          <a:xfrm>
            <a:off x="838199" y="2525464"/>
            <a:ext cx="10681356" cy="4154984"/>
          </a:xfrm>
          <a:prstGeom prst="rect">
            <a:avLst/>
          </a:prstGeom>
          <a:noFill/>
        </p:spPr>
        <p:txBody>
          <a:bodyPr wrap="square" rtlCol="0">
            <a:spAutoFit/>
          </a:bodyPr>
          <a:lstStyle/>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rPr>
              <a:t>計算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q8]</a:t>
            </a:r>
            <a:r>
              <a:rPr lang="zh-TW" altLang="en-US" sz="2400" dirty="0">
                <a:latin typeface="Times New Roman" panose="02020603050405020304" pitchFamily="18" charset="0"/>
                <a:ea typeface="標楷體" panose="03000509000000000000" pitchFamily="65" charset="-120"/>
              </a:rPr>
              <a:t>：</a:t>
            </a:r>
            <a:endParaRPr lang="en-US" altLang="zh-TW" sz="2400" dirty="0">
              <a:latin typeface="Times New Roman" panose="02020603050405020304" pitchFamily="18" charset="0"/>
              <a:ea typeface="標楷體" panose="03000509000000000000" pitchFamily="65" charset="-120"/>
            </a:endParaRPr>
          </a:p>
          <a:p>
            <a:endParaRPr lang="en-US" altLang="zh-TW" sz="2400" dirty="0">
              <a:latin typeface="Times New Roman" panose="02020603050405020304" pitchFamily="18" charset="0"/>
              <a:ea typeface="標楷體" panose="03000509000000000000" pitchFamily="65" charset="-120"/>
            </a:endParaRPr>
          </a:p>
          <a:p>
            <a:r>
              <a:rPr lang="zh-TW" altLang="en-US" sz="2400" dirty="0">
                <a:latin typeface="Times New Roman" panose="02020603050405020304" pitchFamily="18" charset="0"/>
                <a:ea typeface="標楷體" panose="03000509000000000000" pitchFamily="65" charset="-120"/>
              </a:rPr>
              <a:t>由於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q7]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sym typeface="Symbol" panose="05050102010706020507" pitchFamily="18" charset="2"/>
              </a:rPr>
              <a:t>是</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1</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TW" altLang="en-US" sz="2400" dirty="0">
                <a:latin typeface="標楷體" panose="03000509000000000000" pitchFamily="65" charset="-120"/>
                <a:ea typeface="標楷體" panose="03000509000000000000" pitchFamily="65" charset="-120"/>
                <a:cs typeface="Times New Roman" panose="02020603050405020304" pitchFamily="18" charset="0"/>
                <a:sym typeface="Symbol" panose="05050102010706020507" pitchFamily="18" charset="2"/>
              </a:rPr>
              <a:t>而 </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P[q8]</a:t>
            </a:r>
            <a:r>
              <a:rPr lang="zh-TW" altLang="en-US" sz="2400" dirty="0">
                <a:latin typeface="Times New Roman" panose="02020603050405020304" pitchFamily="18" charset="0"/>
                <a:cs typeface="Times New Roman" panose="02020603050405020304" pitchFamily="18" charset="0"/>
                <a:sym typeface="Symbol" panose="05050102010706020507" pitchFamily="18" charset="2"/>
              </a:rPr>
              <a:t>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sym typeface="Symbol" panose="05050102010706020507" pitchFamily="18" charset="2"/>
              </a:rPr>
              <a:t>是</a:t>
            </a: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r>
              <a:rPr lang="en-US" altLang="zh-TW" sz="2400" baseline="-25000" dirty="0">
                <a:latin typeface="Times New Roman" panose="02020603050405020304" pitchFamily="18" charset="0"/>
                <a:cs typeface="Times New Roman" panose="02020603050405020304" pitchFamily="18" charset="0"/>
                <a:sym typeface="Symbol" panose="05050102010706020507" pitchFamily="18" charset="2"/>
              </a:rPr>
              <a:t>2</a:t>
            </a: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T[P</a:t>
            </a:r>
            <a:r>
              <a:rPr lang="en-US" altLang="zh-TW" sz="2400" baseline="-250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1</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未包含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q8</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的元素，將</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P</a:t>
            </a:r>
            <a:r>
              <a:rPr lang="en-US" altLang="zh-TW" sz="2400" baseline="-250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的元素更新進</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T[P</a:t>
            </a:r>
            <a:r>
              <a:rPr lang="en-US" altLang="zh-TW" sz="2400" baseline="-250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2</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endParaRPr lang="en-US" altLang="zh-TW" sz="2400" baseline="-250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pPr marL="342900" indent="-342900">
              <a:buFont typeface="Symbol" panose="05050102010706020507" pitchFamily="18" charset="2"/>
              <a:buChar char="Þ"/>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T[P</a:t>
            </a:r>
            <a:r>
              <a:rPr lang="en-US" altLang="zh-TW" sz="2400" baseline="-250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2</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 { 66 , 71 , 57 , 79 , 84 }  </a:t>
            </a:r>
          </a:p>
          <a:p>
            <a:pPr marL="342900" indent="-342900">
              <a:buFont typeface="Symbol" panose="05050102010706020507" pitchFamily="18" charset="2"/>
              <a:buChar char="Þ"/>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從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rPr>
              <a:t>q5]</a:t>
            </a:r>
            <a:r>
              <a:rPr lang="zh-TW" altLang="en-US" sz="2400" dirty="0">
                <a:latin typeface="Times New Roman" panose="02020603050405020304" pitchFamily="18" charset="0"/>
                <a:ea typeface="標楷體" panose="03000509000000000000" pitchFamily="65" charset="-120"/>
              </a:rPr>
              <a:t> 嘗試延伸 </a:t>
            </a:r>
            <a:r>
              <a:rPr lang="en-US" altLang="zh-TW" sz="2400" dirty="0">
                <a:latin typeface="Times New Roman" panose="02020603050405020304" pitchFamily="18" charset="0"/>
                <a:ea typeface="標楷體" panose="03000509000000000000" pitchFamily="65" charset="-120"/>
              </a:rPr>
              <a:t>=&gt;</a:t>
            </a:r>
            <a:r>
              <a:rPr lang="zh-TW" altLang="en-US" sz="2400" dirty="0">
                <a:latin typeface="Times New Roman" panose="02020603050405020304" pitchFamily="18" charset="0"/>
                <a:ea typeface="標楷體" panose="03000509000000000000" pitchFamily="65" charset="-120"/>
              </a:rPr>
              <a:t> 從 </a:t>
            </a:r>
            <a:r>
              <a:rPr lang="en-US" altLang="zh-TW" sz="2400" dirty="0">
                <a:latin typeface="Times New Roman" panose="02020603050405020304" pitchFamily="18" charset="0"/>
                <a:ea typeface="標楷體" panose="03000509000000000000" pitchFamily="65" charset="-120"/>
              </a:rPr>
              <a:t>q2</a:t>
            </a:r>
            <a:r>
              <a:rPr lang="zh-TW" altLang="en-US" sz="2400" dirty="0">
                <a:latin typeface="Times New Roman" panose="02020603050405020304" pitchFamily="18" charset="0"/>
                <a:ea typeface="標楷體" panose="03000509000000000000" pitchFamily="65" charset="-120"/>
              </a:rPr>
              <a:t> 嘗試延伸</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嘗試從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q2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延伸到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q4</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=&gt;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成功，</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ea typeface="標楷體" panose="03000509000000000000" pitchFamily="65" charset="-120"/>
              </a:rPr>
              <a:t>q8] =</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q4</a:t>
            </a:r>
          </a:p>
          <a:p>
            <a:r>
              <a:rPr lang="en-US" altLang="zh-TW" sz="2400" dirty="0">
                <a:latin typeface="Times New Roman" panose="02020603050405020304" pitchFamily="18" charset="0"/>
                <a:ea typeface="標楷體" panose="03000509000000000000" pitchFamily="65" charset="-120"/>
              </a:rPr>
              <a:t>q2 </a:t>
            </a:r>
            <a:r>
              <a:rPr lang="zh-TW" altLang="en-US" sz="2400" dirty="0">
                <a:latin typeface="Times New Roman" panose="02020603050405020304" pitchFamily="18" charset="0"/>
                <a:ea typeface="標楷體" panose="03000509000000000000" pitchFamily="65" charset="-120"/>
              </a:rPr>
              <a:t>延伸到 </a:t>
            </a:r>
            <a:r>
              <a:rPr lang="en-US" altLang="zh-TW" sz="2400" dirty="0">
                <a:latin typeface="Times New Roman" panose="02020603050405020304" pitchFamily="18" charset="0"/>
                <a:ea typeface="標楷體" panose="03000509000000000000" pitchFamily="65" charset="-120"/>
              </a:rPr>
              <a:t>q3</a:t>
            </a:r>
            <a:r>
              <a:rPr lang="zh-TW" altLang="en-US" sz="2400" dirty="0">
                <a:latin typeface="Times New Roman" panose="02020603050405020304" pitchFamily="18" charset="0"/>
                <a:ea typeface="標楷體" panose="03000509000000000000" pitchFamily="65" charset="-120"/>
              </a:rPr>
              <a:t>：比對</a:t>
            </a:r>
            <a:r>
              <a:rPr lang="en-US" altLang="zh-TW" sz="2400" dirty="0">
                <a:latin typeface="Times New Roman" panose="02020603050405020304" pitchFamily="18" charset="0"/>
                <a:ea typeface="標楷體" panose="03000509000000000000" pitchFamily="65" charset="-120"/>
              </a:rPr>
              <a:t>{ 57 , 79 , 84 } Rank</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1 , 2 , </a:t>
            </a:r>
            <a:r>
              <a:rPr lang="en-US" altLang="zh-TW" sz="2400" dirty="0">
                <a:solidFill>
                  <a:srgbClr val="FF0000"/>
                </a:solidFill>
                <a:latin typeface="Times New Roman" panose="02020603050405020304" pitchFamily="18" charset="0"/>
                <a:ea typeface="標楷體" panose="03000509000000000000" pitchFamily="65" charset="-120"/>
              </a:rPr>
              <a:t>3</a:t>
            </a:r>
            <a:r>
              <a:rPr lang="en-US" altLang="zh-TW" sz="2400" dirty="0">
                <a:latin typeface="Times New Roman" panose="02020603050405020304" pitchFamily="18" charset="0"/>
                <a:ea typeface="標楷體" panose="03000509000000000000" pitchFamily="65" charset="-120"/>
              </a:rPr>
              <a:t> }</a:t>
            </a:r>
            <a:r>
              <a:rPr lang="zh-TW" altLang="en-US" sz="2400" dirty="0">
                <a:latin typeface="Times New Roman" panose="02020603050405020304" pitchFamily="18" charset="0"/>
                <a:ea typeface="標楷體" panose="03000509000000000000" pitchFamily="65" charset="-120"/>
              </a:rPr>
              <a:t> 是否與 </a:t>
            </a:r>
            <a:r>
              <a:rPr lang="en-US" altLang="zh-TW" sz="2400" dirty="0">
                <a:latin typeface="Times New Roman" panose="02020603050405020304" pitchFamily="18" charset="0"/>
                <a:ea typeface="標楷體" panose="03000509000000000000" pitchFamily="65" charset="-120"/>
              </a:rPr>
              <a:t>{ 1 , 2 , </a:t>
            </a:r>
            <a:r>
              <a:rPr lang="en-US" altLang="zh-TW" sz="2400" dirty="0">
                <a:solidFill>
                  <a:srgbClr val="FF0000"/>
                </a:solidFill>
                <a:latin typeface="Times New Roman" panose="02020603050405020304" pitchFamily="18" charset="0"/>
                <a:ea typeface="標楷體" panose="03000509000000000000" pitchFamily="65" charset="-120"/>
              </a:rPr>
              <a:t>1</a:t>
            </a:r>
            <a:r>
              <a:rPr lang="en-US" altLang="zh-TW" sz="2400" dirty="0">
                <a:latin typeface="Times New Roman" panose="02020603050405020304" pitchFamily="18" charset="0"/>
                <a:ea typeface="標楷體" panose="03000509000000000000" pitchFamily="65" charset="-120"/>
              </a:rPr>
              <a:t> } </a:t>
            </a:r>
            <a:r>
              <a:rPr lang="zh-TW" altLang="en-US" sz="2400" dirty="0">
                <a:latin typeface="Times New Roman" panose="02020603050405020304" pitchFamily="18" charset="0"/>
                <a:ea typeface="標楷體" panose="03000509000000000000" pitchFamily="65" charset="-120"/>
              </a:rPr>
              <a:t>相同</a:t>
            </a:r>
            <a:endParaRPr lang="en-US" altLang="zh-TW" sz="2400" dirty="0">
              <a:latin typeface="Times New Roman" panose="02020603050405020304" pitchFamily="18" charset="0"/>
              <a:ea typeface="標楷體" panose="03000509000000000000" pitchFamily="65" charset="-120"/>
            </a:endParaRPr>
          </a:p>
          <a:p>
            <a:r>
              <a:rPr lang="en-US" altLang="zh-TW" sz="2400" dirty="0">
                <a:latin typeface="Times New Roman" panose="02020603050405020304" pitchFamily="18" charset="0"/>
                <a:ea typeface="標楷體" panose="03000509000000000000" pitchFamily="65" charset="-120"/>
              </a:rPr>
              <a:t>q2 </a:t>
            </a:r>
            <a:r>
              <a:rPr lang="zh-TW" altLang="en-US" sz="2400" dirty="0">
                <a:latin typeface="Times New Roman" panose="02020603050405020304" pitchFamily="18" charset="0"/>
                <a:ea typeface="標楷體" panose="03000509000000000000" pitchFamily="65" charset="-120"/>
              </a:rPr>
              <a:t>延伸到 </a:t>
            </a:r>
            <a:r>
              <a:rPr lang="en-US" altLang="zh-TW" sz="2400" dirty="0">
                <a:latin typeface="Times New Roman" panose="02020603050405020304" pitchFamily="18" charset="0"/>
                <a:ea typeface="標楷體" panose="03000509000000000000" pitchFamily="65" charset="-120"/>
              </a:rPr>
              <a:t>q4</a:t>
            </a:r>
            <a:r>
              <a:rPr lang="zh-TW" altLang="en-US" sz="2400" dirty="0">
                <a:latin typeface="Times New Roman" panose="02020603050405020304" pitchFamily="18" charset="0"/>
                <a:ea typeface="標楷體" panose="03000509000000000000" pitchFamily="65" charset="-120"/>
              </a:rPr>
              <a:t>：比對</a:t>
            </a:r>
            <a:r>
              <a:rPr lang="en-US" altLang="zh-TW" sz="2400" dirty="0">
                <a:latin typeface="Times New Roman" panose="02020603050405020304" pitchFamily="18" charset="0"/>
                <a:ea typeface="標楷體" panose="03000509000000000000" pitchFamily="65" charset="-120"/>
              </a:rPr>
              <a:t>{ 57 , 79 , 84 } Rank</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 </a:t>
            </a:r>
            <a:r>
              <a:rPr lang="en-US" altLang="zh-TW" sz="2400" dirty="0">
                <a:latin typeface="Times New Roman" panose="02020603050405020304" pitchFamily="18" charset="0"/>
                <a:ea typeface="標楷體" panose="03000509000000000000" pitchFamily="65" charset="-120"/>
              </a:rPr>
              <a:t>1 , 2 , </a:t>
            </a:r>
            <a:r>
              <a:rPr lang="en-US" altLang="zh-TW" sz="2400" dirty="0">
                <a:solidFill>
                  <a:srgbClr val="FF0000"/>
                </a:solidFill>
                <a:latin typeface="Times New Roman" panose="02020603050405020304" pitchFamily="18" charset="0"/>
                <a:ea typeface="標楷體" panose="03000509000000000000" pitchFamily="65" charset="-120"/>
              </a:rPr>
              <a:t>3</a:t>
            </a:r>
            <a:r>
              <a:rPr lang="en-US" altLang="zh-TW" sz="2400" dirty="0">
                <a:latin typeface="Times New Roman" panose="02020603050405020304" pitchFamily="18" charset="0"/>
                <a:ea typeface="標楷體" panose="03000509000000000000" pitchFamily="65" charset="-120"/>
              </a:rPr>
              <a:t> }</a:t>
            </a:r>
            <a:r>
              <a:rPr lang="zh-TW" altLang="en-US" sz="2400" dirty="0">
                <a:latin typeface="Times New Roman" panose="02020603050405020304" pitchFamily="18" charset="0"/>
                <a:ea typeface="標楷體" panose="03000509000000000000" pitchFamily="65" charset="-120"/>
              </a:rPr>
              <a:t> 是否與 </a:t>
            </a:r>
            <a:r>
              <a:rPr lang="en-US" altLang="zh-TW" sz="2400" dirty="0">
                <a:latin typeface="Times New Roman" panose="02020603050405020304" pitchFamily="18" charset="0"/>
                <a:ea typeface="標楷體" panose="03000509000000000000" pitchFamily="65" charset="-120"/>
              </a:rPr>
              <a:t>{ 1 , 2 , </a:t>
            </a:r>
            <a:r>
              <a:rPr lang="en-US" altLang="zh-TW" sz="2400" dirty="0">
                <a:solidFill>
                  <a:srgbClr val="FF0000"/>
                </a:solidFill>
                <a:latin typeface="Times New Roman" panose="02020603050405020304" pitchFamily="18" charset="0"/>
                <a:ea typeface="標楷體" panose="03000509000000000000" pitchFamily="65" charset="-120"/>
              </a:rPr>
              <a:t>3</a:t>
            </a:r>
            <a:r>
              <a:rPr lang="en-US" altLang="zh-TW" sz="2400" dirty="0">
                <a:latin typeface="Times New Roman" panose="02020603050405020304" pitchFamily="18" charset="0"/>
                <a:ea typeface="標楷體" panose="03000509000000000000" pitchFamily="65" charset="-120"/>
              </a:rPr>
              <a:t> } </a:t>
            </a:r>
            <a:r>
              <a:rPr lang="zh-TW" altLang="en-US" sz="2400" dirty="0">
                <a:latin typeface="Times New Roman" panose="02020603050405020304" pitchFamily="18" charset="0"/>
                <a:ea typeface="標楷體" panose="03000509000000000000" pitchFamily="65" charset="-120"/>
              </a:rPr>
              <a:t>相同</a:t>
            </a:r>
            <a:endParaRPr lang="en-US" altLang="zh-TW" sz="2400" dirty="0">
              <a:latin typeface="Times New Roman" panose="02020603050405020304" pitchFamily="18" charset="0"/>
              <a:ea typeface="標楷體" panose="03000509000000000000" pitchFamily="65" charset="-120"/>
            </a:endParaRPr>
          </a:p>
        </p:txBody>
      </p:sp>
      <p:sp>
        <p:nvSpPr>
          <p:cNvPr id="3" name="文字方塊 2">
            <a:extLst>
              <a:ext uri="{FF2B5EF4-FFF2-40B4-BE49-F238E27FC236}">
                <a16:creationId xmlns:a16="http://schemas.microsoft.com/office/drawing/2014/main" id="{46C5A131-970D-4EAA-946A-0A403AD7BD2E}"/>
              </a:ext>
            </a:extLst>
          </p:cNvPr>
          <p:cNvSpPr txBox="1"/>
          <p:nvPr/>
        </p:nvSpPr>
        <p:spPr>
          <a:xfrm>
            <a:off x="924684" y="1324271"/>
            <a:ext cx="4222351"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1</a:t>
            </a:r>
            <a:r>
              <a:rPr lang="en-US" altLang="zh-TW" sz="2400" dirty="0">
                <a:latin typeface="Times New Roman" panose="02020603050405020304" pitchFamily="18" charset="0"/>
                <a:cs typeface="Times New Roman" panose="02020603050405020304" pitchFamily="18" charset="0"/>
              </a:rPr>
              <a:t>] = { 47 }</a:t>
            </a:r>
          </a:p>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 = {}</a:t>
            </a:r>
          </a:p>
          <a:p>
            <a:r>
              <a:rPr lang="en-US" altLang="zh-TW" sz="2400" dirty="0">
                <a:latin typeface="Times New Roman" panose="02020603050405020304" pitchFamily="18" charset="0"/>
                <a:cs typeface="Times New Roman" panose="02020603050405020304" pitchFamily="18" charset="0"/>
              </a:rPr>
              <a:t>T[P</a:t>
            </a:r>
            <a:r>
              <a:rPr lang="en-US" altLang="zh-TW" sz="2400" baseline="-25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 = { 43</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51 , 62  , 73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71112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2796</TotalTime>
  <Words>3244</Words>
  <Application>Microsoft Office PowerPoint</Application>
  <PresentationFormat>寬螢幕</PresentationFormat>
  <Paragraphs>1313</Paragraphs>
  <Slides>34</Slides>
  <Notes>5</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34</vt:i4>
      </vt:variant>
    </vt:vector>
  </HeadingPairs>
  <TitlesOfParts>
    <vt:vector size="44" baseType="lpstr">
      <vt:lpstr>BHHHL A+ Gulliver</vt:lpstr>
      <vt:lpstr>BHHIA C+ Gulliver</vt:lpstr>
      <vt:lpstr>Roboto</vt:lpstr>
      <vt:lpstr>標楷體</vt:lpstr>
      <vt:lpstr>Arial</vt:lpstr>
      <vt:lpstr>Calibri</vt:lpstr>
      <vt:lpstr>Calibri Light</vt:lpstr>
      <vt:lpstr>Symbol</vt:lpstr>
      <vt:lpstr>Times New Roman</vt:lpstr>
      <vt:lpstr>Office 佈景主題</vt:lpstr>
      <vt:lpstr>Order-preserving Matching</vt:lpstr>
      <vt:lpstr>Abstract</vt:lpstr>
      <vt:lpstr>Order-preserving Matching</vt:lpstr>
      <vt:lpstr>Data Structure</vt:lpstr>
      <vt:lpstr>Prefix representation ()</vt:lpstr>
      <vt:lpstr>O(nlogm) algorithm</vt:lpstr>
      <vt:lpstr>Failure function</vt:lpstr>
      <vt:lpstr>Failure function</vt:lpstr>
      <vt:lpstr>Failure function</vt:lpstr>
      <vt:lpstr>Failure function</vt:lpstr>
      <vt:lpstr>Failure function</vt:lpstr>
      <vt:lpstr>O(nlogm) algorithm</vt:lpstr>
      <vt:lpstr>O(nlogm) algorithm</vt:lpstr>
      <vt:lpstr>O(n + mlogm) algorithm</vt:lpstr>
      <vt:lpstr>O(n + mlogm) algorithm</vt:lpstr>
      <vt:lpstr>O(n + mlogm) algorithm</vt:lpstr>
      <vt:lpstr>O(n + mlogm) algorithm</vt:lpstr>
      <vt:lpstr>O(n + mlogm) algorithm</vt:lpstr>
      <vt:lpstr>O(n + mlogm) algorithm</vt:lpstr>
      <vt:lpstr>Failure function</vt:lpstr>
      <vt:lpstr>Failure function</vt:lpstr>
      <vt:lpstr>Failure function</vt:lpstr>
      <vt:lpstr>Failure function</vt:lpstr>
      <vt:lpstr>Failure function</vt:lpstr>
      <vt:lpstr>O(n + mlogm) algorithm</vt:lpstr>
      <vt:lpstr>O(nlogm) algorithm for multiple patterns</vt:lpstr>
      <vt:lpstr>Failure function</vt:lpstr>
      <vt:lpstr>Failure function</vt:lpstr>
      <vt:lpstr>Failure function</vt:lpstr>
      <vt:lpstr>Failure function</vt:lpstr>
      <vt:lpstr>O(nlogm) algorithm for multiple patterns</vt:lpstr>
      <vt:lpstr>Failure function</vt:lpstr>
      <vt:lpstr>Failure function</vt:lpstr>
      <vt:lpstr>Failure function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String Matching Algorithm Based on Logical Indexing</dc:title>
  <dc:creator>育誠 張</dc:creator>
  <cp:lastModifiedBy>育誠 張</cp:lastModifiedBy>
  <cp:revision>844</cp:revision>
  <dcterms:created xsi:type="dcterms:W3CDTF">2020-01-13T05:19:55Z</dcterms:created>
  <dcterms:modified xsi:type="dcterms:W3CDTF">2020-08-04T06:31:01Z</dcterms:modified>
</cp:coreProperties>
</file>